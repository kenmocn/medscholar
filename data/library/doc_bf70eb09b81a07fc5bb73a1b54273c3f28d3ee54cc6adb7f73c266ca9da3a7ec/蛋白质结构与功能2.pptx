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51" r:id="rId1"/>
  </p:sldMasterIdLst>
  <p:notesMasterIdLst>
    <p:notesMasterId r:id="rId121"/>
  </p:notesMasterIdLst>
  <p:handoutMasterIdLst>
    <p:handoutMasterId r:id="rId122"/>
  </p:handoutMasterIdLst>
  <p:sldIdLst>
    <p:sldId id="304" r:id="rId2"/>
    <p:sldId id="742" r:id="rId3"/>
    <p:sldId id="709" r:id="rId4"/>
    <p:sldId id="710" r:id="rId5"/>
    <p:sldId id="711" r:id="rId6"/>
    <p:sldId id="1055" r:id="rId7"/>
    <p:sldId id="714" r:id="rId8"/>
    <p:sldId id="305" r:id="rId9"/>
    <p:sldId id="743" r:id="rId10"/>
    <p:sldId id="306" r:id="rId11"/>
    <p:sldId id="1009" r:id="rId12"/>
    <p:sldId id="733" r:id="rId13"/>
    <p:sldId id="636" r:id="rId14"/>
    <p:sldId id="543" r:id="rId15"/>
    <p:sldId id="628" r:id="rId16"/>
    <p:sldId id="1016" r:id="rId17"/>
    <p:sldId id="566" r:id="rId18"/>
    <p:sldId id="1012" r:id="rId19"/>
    <p:sldId id="443" r:id="rId20"/>
    <p:sldId id="751" r:id="rId21"/>
    <p:sldId id="570" r:id="rId22"/>
    <p:sldId id="447" r:id="rId23"/>
    <p:sldId id="307" r:id="rId24"/>
    <p:sldId id="541" r:id="rId25"/>
    <p:sldId id="1014" r:id="rId26"/>
    <p:sldId id="1011" r:id="rId27"/>
    <p:sldId id="407" r:id="rId28"/>
    <p:sldId id="448" r:id="rId29"/>
    <p:sldId id="358" r:id="rId30"/>
    <p:sldId id="518" r:id="rId31"/>
    <p:sldId id="450" r:id="rId32"/>
    <p:sldId id="735" r:id="rId33"/>
    <p:sldId id="408" r:id="rId34"/>
    <p:sldId id="309" r:id="rId35"/>
    <p:sldId id="310" r:id="rId36"/>
    <p:sldId id="311" r:id="rId37"/>
    <p:sldId id="312" r:id="rId38"/>
    <p:sldId id="718" r:id="rId39"/>
    <p:sldId id="313" r:id="rId40"/>
    <p:sldId id="673" r:id="rId41"/>
    <p:sldId id="672" r:id="rId42"/>
    <p:sldId id="314" r:id="rId43"/>
    <p:sldId id="700" r:id="rId44"/>
    <p:sldId id="639" r:id="rId45"/>
    <p:sldId id="934" r:id="rId46"/>
    <p:sldId id="674" r:id="rId47"/>
    <p:sldId id="1015" r:id="rId48"/>
    <p:sldId id="701" r:id="rId49"/>
    <p:sldId id="744" r:id="rId50"/>
    <p:sldId id="935" r:id="rId51"/>
    <p:sldId id="367" r:id="rId52"/>
    <p:sldId id="316" r:id="rId53"/>
    <p:sldId id="458" r:id="rId54"/>
    <p:sldId id="317" r:id="rId55"/>
    <p:sldId id="754" r:id="rId56"/>
    <p:sldId id="1010" r:id="rId57"/>
    <p:sldId id="476" r:id="rId58"/>
    <p:sldId id="678" r:id="rId59"/>
    <p:sldId id="318" r:id="rId60"/>
    <p:sldId id="752" r:id="rId61"/>
    <p:sldId id="585" r:id="rId62"/>
    <p:sldId id="586" r:id="rId63"/>
    <p:sldId id="587" r:id="rId64"/>
    <p:sldId id="588" r:id="rId65"/>
    <p:sldId id="589" r:id="rId66"/>
    <p:sldId id="605" r:id="rId67"/>
    <p:sldId id="590" r:id="rId68"/>
    <p:sldId id="591" r:id="rId69"/>
    <p:sldId id="592" r:id="rId70"/>
    <p:sldId id="594" r:id="rId71"/>
    <p:sldId id="595" r:id="rId72"/>
    <p:sldId id="596" r:id="rId73"/>
    <p:sldId id="729" r:id="rId74"/>
    <p:sldId id="597" r:id="rId75"/>
    <p:sldId id="598" r:id="rId76"/>
    <p:sldId id="599" r:id="rId77"/>
    <p:sldId id="600" r:id="rId78"/>
    <p:sldId id="601" r:id="rId79"/>
    <p:sldId id="603" r:id="rId80"/>
    <p:sldId id="444" r:id="rId81"/>
    <p:sldId id="520" r:id="rId82"/>
    <p:sldId id="606" r:id="rId83"/>
    <p:sldId id="572" r:id="rId84"/>
    <p:sldId id="575" r:id="rId85"/>
    <p:sldId id="573" r:id="rId86"/>
    <p:sldId id="576" r:id="rId87"/>
    <p:sldId id="412" r:id="rId88"/>
    <p:sldId id="577" r:id="rId89"/>
    <p:sldId id="578" r:id="rId90"/>
    <p:sldId id="332" r:id="rId91"/>
    <p:sldId id="333" r:id="rId92"/>
    <p:sldId id="579" r:id="rId93"/>
    <p:sldId id="465" r:id="rId94"/>
    <p:sldId id="660" r:id="rId95"/>
    <p:sldId id="581" r:id="rId96"/>
    <p:sldId id="464" r:id="rId97"/>
    <p:sldId id="582" r:id="rId98"/>
    <p:sldId id="335" r:id="rId99"/>
    <p:sldId id="336" r:id="rId100"/>
    <p:sldId id="642" r:id="rId101"/>
    <p:sldId id="654" r:id="rId102"/>
    <p:sldId id="506" r:id="rId103"/>
    <p:sldId id="656" r:id="rId104"/>
    <p:sldId id="507" r:id="rId105"/>
    <p:sldId id="655" r:id="rId106"/>
    <p:sldId id="657" r:id="rId107"/>
    <p:sldId id="339" r:id="rId108"/>
    <p:sldId id="755" r:id="rId109"/>
    <p:sldId id="721" r:id="rId110"/>
    <p:sldId id="508" r:id="rId111"/>
    <p:sldId id="757" r:id="rId112"/>
    <p:sldId id="342" r:id="rId113"/>
    <p:sldId id="470" r:id="rId114"/>
    <p:sldId id="343" r:id="rId115"/>
    <p:sldId id="344" r:id="rId116"/>
    <p:sldId id="1053" r:id="rId117"/>
    <p:sldId id="746" r:id="rId118"/>
    <p:sldId id="747" r:id="rId119"/>
    <p:sldId id="366" r:id="rId120"/>
  </p:sldIdLst>
  <p:sldSz cx="12192000" cy="6858000"/>
  <p:notesSz cx="6858000" cy="9144000"/>
  <p:defaultTextStyle>
    <a:defPPr>
      <a:defRPr lang="zh-CN"/>
    </a:defPPr>
    <a:lvl1pPr algn="l" rtl="0" eaLnBrk="0" fontAlgn="base" hangingPunct="0">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218E2"/>
    <a:srgbClr val="EF1B8F"/>
    <a:srgbClr val="1C78CB"/>
    <a:srgbClr val="003399"/>
    <a:srgbClr val="0000CC"/>
    <a:srgbClr val="000066"/>
    <a:srgbClr val="FFFFCC"/>
    <a:srgbClr val="FFFF99"/>
    <a:srgbClr val="1D7A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3" autoAdjust="0"/>
    <p:restoredTop sz="73285" autoAdjust="0"/>
  </p:normalViewPr>
  <p:slideViewPr>
    <p:cSldViewPr>
      <p:cViewPr varScale="1">
        <p:scale>
          <a:sx n="72" d="100"/>
          <a:sy n="72" d="100"/>
        </p:scale>
        <p:origin x="736" y="56"/>
      </p:cViewPr>
      <p:guideLst>
        <p:guide orient="horz" pos="2160"/>
        <p:guide pos="3840"/>
      </p:guideLst>
    </p:cSldViewPr>
  </p:slideViewPr>
  <p:outlineViewPr>
    <p:cViewPr>
      <p:scale>
        <a:sx n="33" d="100"/>
        <a:sy n="33" d="100"/>
      </p:scale>
      <p:origin x="0" y="546"/>
    </p:cViewPr>
    <p:sldLst>
      <p:sld r:id="rId1" collapse="1"/>
      <p:sld r:id="rId2" collapse="1"/>
      <p:sld r:id="rId3" collapse="1"/>
    </p:sldLst>
  </p:outlineViewPr>
  <p:notesTextViewPr>
    <p:cViewPr>
      <p:scale>
        <a:sx n="120" d="100"/>
        <a:sy n="120" d="100"/>
      </p:scale>
      <p:origin x="0" y="0"/>
    </p:cViewPr>
  </p:notesTextViewPr>
  <p:sorterViewPr>
    <p:cViewPr varScale="1">
      <p:scale>
        <a:sx n="1" d="1"/>
        <a:sy n="1" d="1"/>
      </p:scale>
      <p:origin x="0" y="-9632"/>
    </p:cViewPr>
  </p:sorterViewPr>
  <p:notesViewPr>
    <p:cSldViewPr>
      <p:cViewPr varScale="1">
        <p:scale>
          <a:sx n="63" d="100"/>
          <a:sy n="63" d="100"/>
        </p:scale>
        <p:origin x="-2970"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commentAuthors" Target="commentAuthor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3" Type="http://schemas.openxmlformats.org/officeDocument/2006/relationships/slide" Target="slides/slide89.xml"/><Relationship Id="rId2" Type="http://schemas.openxmlformats.org/officeDocument/2006/relationships/slide" Target="slides/slide61.xml"/><Relationship Id="rId1"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0050" name="Rectangle 2">
            <a:extLst>
              <a:ext uri="{FF2B5EF4-FFF2-40B4-BE49-F238E27FC236}">
                <a16:creationId xmlns:a16="http://schemas.microsoft.com/office/drawing/2014/main" id="{7B171F4A-700E-4DB4-9A2C-276F3429CDF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770051" name="Rectangle 3">
            <a:extLst>
              <a:ext uri="{FF2B5EF4-FFF2-40B4-BE49-F238E27FC236}">
                <a16:creationId xmlns:a16="http://schemas.microsoft.com/office/drawing/2014/main" id="{85294811-B03E-4DE8-8F03-2B3940A06AB2}"/>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defRPr>
            </a:lvl1pPr>
          </a:lstStyle>
          <a:p>
            <a:pPr>
              <a:defRPr/>
            </a:pPr>
            <a:fld id="{2CD9B5A0-BE16-475C-A2E1-C2E97929FD5A}" type="datetime1">
              <a:rPr lang="zh-CN" altLang="en-US"/>
              <a:pPr>
                <a:defRPr/>
              </a:pPr>
              <a:t>2026/9/5</a:t>
            </a:fld>
            <a:endParaRPr lang="en-US" altLang="zh-CN"/>
          </a:p>
        </p:txBody>
      </p:sp>
      <p:sp>
        <p:nvSpPr>
          <p:cNvPr id="770052" name="Rectangle 4">
            <a:extLst>
              <a:ext uri="{FF2B5EF4-FFF2-40B4-BE49-F238E27FC236}">
                <a16:creationId xmlns:a16="http://schemas.microsoft.com/office/drawing/2014/main" id="{3C78EC99-6F1A-4B1F-85B9-B07C7FE60D54}"/>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770053" name="Rectangle 5">
            <a:extLst>
              <a:ext uri="{FF2B5EF4-FFF2-40B4-BE49-F238E27FC236}">
                <a16:creationId xmlns:a16="http://schemas.microsoft.com/office/drawing/2014/main" id="{C211B5EC-35BD-49A2-AB91-D182C2D6282F}"/>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AEB72744-8C00-4420-BCBA-CEDB4B50A8FF}"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64E77C95-E618-4A61-B010-7B74DD5DD6B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ahoma" pitchFamily="34" charset="0"/>
              </a:defRPr>
            </a:lvl1pPr>
          </a:lstStyle>
          <a:p>
            <a:pPr>
              <a:defRPr/>
            </a:pPr>
            <a:endParaRPr lang="en-US" altLang="zh-CN"/>
          </a:p>
        </p:txBody>
      </p:sp>
      <p:sp>
        <p:nvSpPr>
          <p:cNvPr id="116739" name="Rectangle 3">
            <a:extLst>
              <a:ext uri="{FF2B5EF4-FFF2-40B4-BE49-F238E27FC236}">
                <a16:creationId xmlns:a16="http://schemas.microsoft.com/office/drawing/2014/main" id="{71B84547-42F5-4388-8912-E17A48F77DCF}"/>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ahoma" pitchFamily="34" charset="0"/>
              </a:defRPr>
            </a:lvl1pPr>
          </a:lstStyle>
          <a:p>
            <a:pPr>
              <a:defRPr/>
            </a:pPr>
            <a:fld id="{40118AFC-F291-4DCE-93C6-D844E0A4D2D4}" type="datetime1">
              <a:rPr lang="zh-CN" altLang="en-US"/>
              <a:pPr>
                <a:defRPr/>
              </a:pPr>
              <a:t>2026/9/5</a:t>
            </a:fld>
            <a:endParaRPr lang="en-US" altLang="zh-CN"/>
          </a:p>
        </p:txBody>
      </p:sp>
      <p:sp>
        <p:nvSpPr>
          <p:cNvPr id="7172" name="Rectangle 4">
            <a:extLst>
              <a:ext uri="{FF2B5EF4-FFF2-40B4-BE49-F238E27FC236}">
                <a16:creationId xmlns:a16="http://schemas.microsoft.com/office/drawing/2014/main" id="{FA63B8EC-673A-4601-9DDE-72B9C4BA95D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41" name="Rectangle 5">
            <a:extLst>
              <a:ext uri="{FF2B5EF4-FFF2-40B4-BE49-F238E27FC236}">
                <a16:creationId xmlns:a16="http://schemas.microsoft.com/office/drawing/2014/main" id="{D7CC50D0-5D1E-472C-9A81-6A7D75B5772C}"/>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6742" name="Rectangle 6">
            <a:extLst>
              <a:ext uri="{FF2B5EF4-FFF2-40B4-BE49-F238E27FC236}">
                <a16:creationId xmlns:a16="http://schemas.microsoft.com/office/drawing/2014/main" id="{85AE92C8-D315-4A22-826C-51962DFB6597}"/>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ahoma" pitchFamily="34" charset="0"/>
              </a:defRPr>
            </a:lvl1pPr>
          </a:lstStyle>
          <a:p>
            <a:pPr>
              <a:defRPr/>
            </a:pPr>
            <a:endParaRPr lang="en-US" altLang="zh-CN"/>
          </a:p>
        </p:txBody>
      </p:sp>
      <p:sp>
        <p:nvSpPr>
          <p:cNvPr id="116743" name="Rectangle 7">
            <a:extLst>
              <a:ext uri="{FF2B5EF4-FFF2-40B4-BE49-F238E27FC236}">
                <a16:creationId xmlns:a16="http://schemas.microsoft.com/office/drawing/2014/main" id="{60410BA8-4DE1-4084-ADC8-42338711EA5D}"/>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ahoma" panose="020B0604030504040204" pitchFamily="34" charset="0"/>
              </a:defRPr>
            </a:lvl1pPr>
          </a:lstStyle>
          <a:p>
            <a:pPr>
              <a:defRPr/>
            </a:pPr>
            <a:fld id="{47AB3041-55A2-4BC5-A258-4AB550B9863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40277AC9-D5D7-4F4B-B69C-9EC4AFE7F867}"/>
              </a:ext>
            </a:extLst>
          </p:cNvPr>
          <p:cNvSpPr>
            <a:spLocks noGrp="1" noRot="1" noChangeAspect="1" noChangeArrowheads="1" noTextEdit="1"/>
          </p:cNvSpPr>
          <p:nvPr>
            <p:ph type="sldImg"/>
          </p:nvPr>
        </p:nvSpPr>
        <p:spPr>
          <a:xfrm>
            <a:off x="381000" y="685800"/>
            <a:ext cx="6096000" cy="3429000"/>
          </a:xfrm>
          <a:ln/>
        </p:spPr>
      </p:sp>
      <p:sp>
        <p:nvSpPr>
          <p:cNvPr id="10243" name="备注占位符 2">
            <a:extLst>
              <a:ext uri="{FF2B5EF4-FFF2-40B4-BE49-F238E27FC236}">
                <a16:creationId xmlns:a16="http://schemas.microsoft.com/office/drawing/2014/main" id="{19F8D93F-9CFA-4378-90A4-2F9E0C64863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244" name="日期占位符 3">
            <a:extLst>
              <a:ext uri="{FF2B5EF4-FFF2-40B4-BE49-F238E27FC236}">
                <a16:creationId xmlns:a16="http://schemas.microsoft.com/office/drawing/2014/main" id="{462941F5-4BA3-4E5B-A672-8FC1D4CD93CB}"/>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9F02E26-F3E1-4E5B-8AF5-0717ABB372B6}"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0245" name="灯片编号占位符 4">
            <a:extLst>
              <a:ext uri="{FF2B5EF4-FFF2-40B4-BE49-F238E27FC236}">
                <a16:creationId xmlns:a16="http://schemas.microsoft.com/office/drawing/2014/main" id="{1AD8819B-8F82-4FED-AF3E-CBB864F6952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2A115E5-F07E-44DF-9945-BC1B519C545B}" type="slidenum">
              <a:rPr lang="en-US" altLang="zh-CN" sz="1200" smtClean="0">
                <a:latin typeface="Tahoma" panose="020B0604030504040204" pitchFamily="34" charset="0"/>
              </a:rPr>
              <a:pPr/>
              <a:t>1</a:t>
            </a:fld>
            <a:endParaRPr lang="en-US" altLang="zh-CN" sz="1200">
              <a:latin typeface="Tahoma" panose="020B060403050404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D9180B63-90C3-4A5C-A215-1712CCC6EF86}"/>
              </a:ext>
            </a:extLst>
          </p:cNvPr>
          <p:cNvSpPr>
            <a:spLocks noGrp="1" noRot="1" noChangeAspect="1" noChangeArrowheads="1" noTextEdit="1"/>
          </p:cNvSpPr>
          <p:nvPr>
            <p:ph type="sldImg"/>
          </p:nvPr>
        </p:nvSpPr>
        <p:spPr>
          <a:xfrm>
            <a:off x="381000" y="685800"/>
            <a:ext cx="6096000" cy="3429000"/>
          </a:xfrm>
          <a:ln/>
        </p:spPr>
      </p:sp>
      <p:sp>
        <p:nvSpPr>
          <p:cNvPr id="12291" name="备注占位符 2">
            <a:extLst>
              <a:ext uri="{FF2B5EF4-FFF2-40B4-BE49-F238E27FC236}">
                <a16:creationId xmlns:a16="http://schemas.microsoft.com/office/drawing/2014/main" id="{A6F51CE6-E5A4-4346-B981-F8460E267B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The structure shown in two dimensions on a page is deceptively static. Proteins are dynamic molecules whose functions almost invariably depend on interactions with other molecules. </a:t>
            </a:r>
            <a:endParaRPr lang="zh-CN" altLang="en-US" dirty="0"/>
          </a:p>
        </p:txBody>
      </p:sp>
      <p:sp>
        <p:nvSpPr>
          <p:cNvPr id="12292" name="日期占位符 3">
            <a:extLst>
              <a:ext uri="{FF2B5EF4-FFF2-40B4-BE49-F238E27FC236}">
                <a16:creationId xmlns:a16="http://schemas.microsoft.com/office/drawing/2014/main" id="{2F62F215-DFC7-406A-ADC0-2969CAAB65F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52A80E4-C881-47BB-905D-9DA414990D6F}"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2293" name="灯片编号占位符 4">
            <a:extLst>
              <a:ext uri="{FF2B5EF4-FFF2-40B4-BE49-F238E27FC236}">
                <a16:creationId xmlns:a16="http://schemas.microsoft.com/office/drawing/2014/main" id="{4D72C83C-0330-42F0-B3D3-3A400BEDA1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43CA10A-7750-4A7E-8D3C-5349492629C3}" type="slidenum">
              <a:rPr lang="en-US" altLang="zh-CN" sz="1200" smtClean="0">
                <a:latin typeface="Tahoma" panose="020B0604030504040204" pitchFamily="34" charset="0"/>
              </a:rPr>
              <a:pPr/>
              <a:t>2</a:t>
            </a:fld>
            <a:endParaRPr lang="en-US" altLang="zh-CN" sz="1200">
              <a:latin typeface="Tahoma" panose="020B060403050404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1C70B7A0-74A1-4523-849D-687E2A24AAF3}"/>
              </a:ext>
            </a:extLst>
          </p:cNvPr>
          <p:cNvSpPr>
            <a:spLocks noGrp="1" noRot="1" noChangeAspect="1" noChangeArrowheads="1" noTextEdit="1"/>
          </p:cNvSpPr>
          <p:nvPr>
            <p:ph type="sldImg"/>
          </p:nvPr>
        </p:nvSpPr>
        <p:spPr>
          <a:xfrm>
            <a:off x="381000" y="685800"/>
            <a:ext cx="6096000" cy="3429000"/>
          </a:xfrm>
          <a:ln/>
        </p:spPr>
      </p:sp>
      <p:sp>
        <p:nvSpPr>
          <p:cNvPr id="14339" name="备注占位符 2">
            <a:extLst>
              <a:ext uri="{FF2B5EF4-FFF2-40B4-BE49-F238E27FC236}">
                <a16:creationId xmlns:a16="http://schemas.microsoft.com/office/drawing/2014/main" id="{710A0AEB-877A-4493-A310-B0BBC75150A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胰岛素受体的一个重要底物就是</a:t>
            </a:r>
            <a:r>
              <a:rPr lang="zh-CN" altLang="en-US" b="1" dirty="0"/>
              <a:t>胰岛素受体底物（</a:t>
            </a:r>
            <a:r>
              <a:rPr lang="en-US" altLang="zh-CN" b="1" dirty="0"/>
              <a:t>insulin receptor substrate</a:t>
            </a:r>
            <a:r>
              <a:rPr lang="zh-CN" altLang="en-US" b="1" dirty="0"/>
              <a:t>，</a:t>
            </a:r>
            <a:r>
              <a:rPr lang="en-US" altLang="zh-CN" b="1" dirty="0"/>
              <a:t>IRS</a:t>
            </a:r>
            <a:r>
              <a:rPr lang="zh-CN" altLang="en-US" b="1" dirty="0"/>
              <a:t>）</a:t>
            </a:r>
            <a:r>
              <a:rPr lang="zh-CN" altLang="en-US" dirty="0"/>
              <a:t>。 活化后的胰岛素受体可将</a:t>
            </a:r>
            <a:r>
              <a:rPr lang="en-US" altLang="zh-CN" dirty="0"/>
              <a:t>IRS </a:t>
            </a:r>
            <a:r>
              <a:rPr lang="zh-CN" altLang="en-US" dirty="0"/>
              <a:t>上具有重要作用的十几个酪氨酸残基磷酸化，磷酸化的</a:t>
            </a:r>
            <a:r>
              <a:rPr lang="en-US" altLang="zh-CN" dirty="0"/>
              <a:t>IRS </a:t>
            </a:r>
            <a:r>
              <a:rPr lang="zh-CN" altLang="en-US" dirty="0"/>
              <a:t>能够结合并激活下游效应物，将胰岛素信号向下游传递。</a:t>
            </a:r>
            <a:endParaRPr lang="en-US" altLang="zh-CN" dirty="0"/>
          </a:p>
          <a:p>
            <a:r>
              <a:rPr lang="zh-CN" altLang="en-US" dirty="0"/>
              <a:t>胰岛素通过与胰岛素受体结合，启动</a:t>
            </a:r>
            <a:r>
              <a:rPr lang="zh-CN" altLang="en-US" b="1" dirty="0"/>
              <a:t>胰岛素信号通路，</a:t>
            </a:r>
            <a:r>
              <a:rPr lang="zh-CN" altLang="en-US" dirty="0"/>
              <a:t>发挥促进体细胞对葡萄糖的吸收，增强糖原、脂肪、蛋白质合成等作用，从而使血糖稳定在一定范围内。</a:t>
            </a:r>
            <a:endParaRPr lang="en-US" altLang="zh-CN" dirty="0"/>
          </a:p>
          <a:p>
            <a:endParaRPr lang="en-US" altLang="zh-CN" dirty="0"/>
          </a:p>
          <a:p>
            <a:r>
              <a:rPr lang="en-US" altLang="zh-CN" b="1" dirty="0"/>
              <a:t>PDK-1</a:t>
            </a:r>
            <a:r>
              <a:rPr lang="zh-CN" altLang="en-US" dirty="0"/>
              <a:t>（</a:t>
            </a:r>
            <a:r>
              <a:rPr lang="en-US" altLang="zh-CN" dirty="0"/>
              <a:t>3-</a:t>
            </a:r>
            <a:r>
              <a:rPr lang="zh-CN" altLang="en-US" dirty="0"/>
              <a:t>磷酸肌醇依赖性蛋白激酶 </a:t>
            </a:r>
            <a:r>
              <a:rPr lang="en-US" altLang="zh-CN" dirty="0"/>
              <a:t>1</a:t>
            </a:r>
            <a:r>
              <a:rPr lang="zh-CN" altLang="en-US" dirty="0"/>
              <a:t>）是一种丝氨酸</a:t>
            </a:r>
            <a:r>
              <a:rPr lang="en-US" altLang="zh-CN" dirty="0"/>
              <a:t>/</a:t>
            </a:r>
            <a:r>
              <a:rPr lang="zh-CN" altLang="en-US" dirty="0"/>
              <a:t>苏氨酸蛋白激酶。 在胰岛素和生长因子信号传导中发挥关键作用。</a:t>
            </a:r>
            <a:endParaRPr lang="en-US" altLang="zh-CN" dirty="0"/>
          </a:p>
          <a:p>
            <a:r>
              <a:rPr lang="zh-CN" altLang="en-US" dirty="0"/>
              <a:t>磷脂酰肌醇</a:t>
            </a:r>
            <a:r>
              <a:rPr lang="en-US" altLang="zh-CN" dirty="0"/>
              <a:t>3-</a:t>
            </a:r>
            <a:r>
              <a:rPr lang="zh-CN" altLang="en-US" dirty="0"/>
              <a:t>激酶（</a:t>
            </a:r>
            <a:r>
              <a:rPr lang="en-US" altLang="zh-CN" b="1" dirty="0"/>
              <a:t>PI3K</a:t>
            </a:r>
            <a:r>
              <a:rPr lang="zh-CN" altLang="en-US" dirty="0"/>
              <a:t>）</a:t>
            </a:r>
            <a:endParaRPr lang="en-US" altLang="zh-CN" dirty="0"/>
          </a:p>
          <a:p>
            <a:r>
              <a:rPr kumimoji="1" lang="zh-CN" altLang="en-US" sz="1200" b="0" i="0" kern="1200" dirty="0">
                <a:solidFill>
                  <a:schemeClr val="tx1"/>
                </a:solidFill>
                <a:effectLst/>
                <a:latin typeface="Times New Roman" pitchFamily="18" charset="0"/>
                <a:ea typeface="宋体" pitchFamily="2" charset="-122"/>
                <a:cs typeface="+mn-cs"/>
              </a:rPr>
              <a:t>蛋白激酶</a:t>
            </a:r>
            <a:r>
              <a:rPr kumimoji="1" lang="en-US" altLang="zh-CN" sz="1200" b="0" i="0" kern="1200" dirty="0">
                <a:solidFill>
                  <a:schemeClr val="tx1"/>
                </a:solidFill>
                <a:effectLst/>
                <a:latin typeface="Times New Roman" pitchFamily="18" charset="0"/>
                <a:ea typeface="宋体" pitchFamily="2" charset="-122"/>
                <a:cs typeface="+mn-cs"/>
              </a:rPr>
              <a:t>B</a:t>
            </a:r>
            <a:r>
              <a:rPr kumimoji="1" lang="zh-CN" altLang="en-US" sz="1200" b="0" i="0" kern="1200" dirty="0">
                <a:solidFill>
                  <a:schemeClr val="tx1"/>
                </a:solidFill>
                <a:effectLst/>
                <a:latin typeface="Times New Roman" pitchFamily="18" charset="0"/>
                <a:ea typeface="宋体" pitchFamily="2" charset="-122"/>
                <a:cs typeface="+mn-cs"/>
              </a:rPr>
              <a:t>（</a:t>
            </a:r>
            <a:r>
              <a:rPr kumimoji="1" lang="en-US" altLang="zh-CN" sz="1200" b="1" i="0" kern="1200" dirty="0">
                <a:solidFill>
                  <a:schemeClr val="tx1"/>
                </a:solidFill>
                <a:effectLst/>
                <a:latin typeface="Times New Roman" pitchFamily="18" charset="0"/>
                <a:ea typeface="宋体" pitchFamily="2" charset="-122"/>
                <a:cs typeface="+mn-cs"/>
              </a:rPr>
              <a:t>Akt/</a:t>
            </a:r>
            <a:r>
              <a:rPr kumimoji="1" lang="en-US" altLang="zh-CN" sz="1200" b="0" i="0" kern="1200" dirty="0">
                <a:solidFill>
                  <a:schemeClr val="tx1"/>
                </a:solidFill>
                <a:effectLst/>
                <a:latin typeface="Times New Roman" pitchFamily="18" charset="0"/>
                <a:ea typeface="宋体" pitchFamily="2" charset="-122"/>
                <a:cs typeface="+mn-cs"/>
              </a:rPr>
              <a:t>PKB</a:t>
            </a:r>
            <a:r>
              <a:rPr kumimoji="1" lang="zh-CN" altLang="en-US" sz="1200" b="0" i="0" kern="1200" dirty="0">
                <a:solidFill>
                  <a:schemeClr val="tx1"/>
                </a:solidFill>
                <a:effectLst/>
                <a:latin typeface="Times New Roman" pitchFamily="18" charset="0"/>
                <a:ea typeface="宋体" pitchFamily="2" charset="-122"/>
                <a:cs typeface="+mn-cs"/>
              </a:rPr>
              <a:t>）是</a:t>
            </a:r>
            <a:r>
              <a:rPr kumimoji="1" lang="en-US" altLang="zh-CN" sz="1200" b="0" i="0" kern="1200" dirty="0">
                <a:solidFill>
                  <a:schemeClr val="tx1"/>
                </a:solidFill>
                <a:effectLst/>
                <a:latin typeface="Times New Roman" pitchFamily="18" charset="0"/>
                <a:ea typeface="宋体" pitchFamily="2" charset="-122"/>
                <a:cs typeface="+mn-cs"/>
              </a:rPr>
              <a:t>PI3K-Akt-mTOR</a:t>
            </a:r>
            <a:r>
              <a:rPr kumimoji="1" lang="zh-CN" altLang="en-US" sz="1200" b="0" i="0" kern="1200" dirty="0">
                <a:solidFill>
                  <a:schemeClr val="tx1"/>
                </a:solidFill>
                <a:effectLst/>
                <a:latin typeface="Times New Roman" pitchFamily="18" charset="0"/>
                <a:ea typeface="宋体" pitchFamily="2" charset="-122"/>
                <a:cs typeface="+mn-cs"/>
              </a:rPr>
              <a:t>信号通路的核心组分，具有</a:t>
            </a:r>
            <a:r>
              <a:rPr kumimoji="1" lang="en-US" altLang="zh-CN" sz="1200" b="0" i="0" kern="1200" dirty="0" err="1">
                <a:solidFill>
                  <a:schemeClr val="tx1"/>
                </a:solidFill>
                <a:effectLst/>
                <a:latin typeface="Times New Roman" pitchFamily="18" charset="0"/>
                <a:ea typeface="宋体" pitchFamily="2" charset="-122"/>
                <a:cs typeface="+mn-cs"/>
              </a:rPr>
              <a:t>Thr</a:t>
            </a:r>
            <a:r>
              <a:rPr kumimoji="1" lang="zh-CN" altLang="en-US" sz="1200" b="0" i="0" kern="1200" dirty="0">
                <a:solidFill>
                  <a:schemeClr val="tx1"/>
                </a:solidFill>
                <a:effectLst/>
                <a:latin typeface="Times New Roman" pitchFamily="18" charset="0"/>
                <a:ea typeface="宋体" pitchFamily="2" charset="-122"/>
                <a:cs typeface="+mn-cs"/>
              </a:rPr>
              <a:t>和</a:t>
            </a:r>
            <a:r>
              <a:rPr kumimoji="1" lang="en-US" altLang="zh-CN" sz="1200" b="0" i="0" kern="1200" dirty="0">
                <a:solidFill>
                  <a:schemeClr val="tx1"/>
                </a:solidFill>
                <a:effectLst/>
                <a:latin typeface="Times New Roman" pitchFamily="18" charset="0"/>
                <a:ea typeface="宋体" pitchFamily="2" charset="-122"/>
                <a:cs typeface="+mn-cs"/>
              </a:rPr>
              <a:t>Ser</a:t>
            </a:r>
            <a:r>
              <a:rPr kumimoji="1" lang="zh-CN" altLang="en-US" sz="1200" b="0" i="0" kern="1200" dirty="0">
                <a:solidFill>
                  <a:schemeClr val="tx1"/>
                </a:solidFill>
                <a:effectLst/>
                <a:latin typeface="Times New Roman" pitchFamily="18" charset="0"/>
                <a:ea typeface="宋体" pitchFamily="2" charset="-122"/>
                <a:cs typeface="+mn-cs"/>
              </a:rPr>
              <a:t>双磷酸化激活特征</a:t>
            </a:r>
            <a:r>
              <a:rPr kumimoji="1" lang="en-US" altLang="zh-CN" sz="1200" b="0" i="0" kern="1200" dirty="0">
                <a:solidFill>
                  <a:schemeClr val="tx1"/>
                </a:solidFill>
                <a:effectLst/>
                <a:latin typeface="Times New Roman" pitchFamily="18" charset="0"/>
                <a:ea typeface="宋体" pitchFamily="2" charset="-122"/>
                <a:cs typeface="+mn-cs"/>
              </a:rPr>
              <a:t>.</a:t>
            </a:r>
            <a:endParaRPr lang="en-US" altLang="zh-CN" dirty="0"/>
          </a:p>
          <a:p>
            <a:r>
              <a:rPr lang="en-US" altLang="zh-CN" b="1" dirty="0"/>
              <a:t>AS160 </a:t>
            </a:r>
            <a:r>
              <a:rPr lang="en-US" altLang="zh-CN" dirty="0"/>
              <a:t>(Akt substrate of 160 </a:t>
            </a:r>
            <a:r>
              <a:rPr lang="en-US" altLang="zh-CN" dirty="0" err="1"/>
              <a:t>kDa</a:t>
            </a:r>
            <a:r>
              <a:rPr lang="en-US" altLang="zh-CN" dirty="0"/>
              <a:t>), which was originally known as TBC1 domain family member 4 (TBC1D4), is a Rab GTPase-activating protein.</a:t>
            </a:r>
          </a:p>
          <a:p>
            <a:endParaRPr lang="en-US" altLang="zh-CN" dirty="0"/>
          </a:p>
          <a:p>
            <a:r>
              <a:rPr lang="en-US" altLang="zh-CN" dirty="0"/>
              <a:t>The mechanism of activation of the INSR protein kinase is similar to that described for PKA and PKC: a region of the cytoplasmic domain called the activation loop that usually occludes the active site moves out of the active site after being phosphorylated, opening the site for the binding of target proteins</a:t>
            </a:r>
            <a:r>
              <a:rPr lang="zh-CN" altLang="en-US" dirty="0"/>
              <a:t>。</a:t>
            </a:r>
            <a:endParaRPr lang="en-US" altLang="zh-CN" dirty="0"/>
          </a:p>
          <a:p>
            <a:endParaRPr lang="en-US" altLang="zh-CN" dirty="0"/>
          </a:p>
        </p:txBody>
      </p:sp>
      <p:sp>
        <p:nvSpPr>
          <p:cNvPr id="14340" name="日期占位符 3">
            <a:extLst>
              <a:ext uri="{FF2B5EF4-FFF2-40B4-BE49-F238E27FC236}">
                <a16:creationId xmlns:a16="http://schemas.microsoft.com/office/drawing/2014/main" id="{4D43815E-FDC8-4049-A39D-4F1DA832C12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39435C0-4C9F-416A-AA72-534C66374A17}"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4341" name="灯片编号占位符 4">
            <a:extLst>
              <a:ext uri="{FF2B5EF4-FFF2-40B4-BE49-F238E27FC236}">
                <a16:creationId xmlns:a16="http://schemas.microsoft.com/office/drawing/2014/main" id="{66216243-5243-4130-833A-7F9B6CB1E70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EA2123B-F07F-42F3-A245-873E85E0BE72}" type="slidenum">
              <a:rPr lang="en-US" altLang="zh-CN" sz="1200" smtClean="0">
                <a:latin typeface="Tahoma" panose="020B0604030504040204" pitchFamily="34" charset="0"/>
              </a:rPr>
              <a:pPr/>
              <a:t>3</a:t>
            </a:fld>
            <a:endParaRPr lang="en-US" altLang="zh-CN" sz="1200">
              <a:latin typeface="Tahoma" panose="020B060403050404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a:extLst>
              <a:ext uri="{FF2B5EF4-FFF2-40B4-BE49-F238E27FC236}">
                <a16:creationId xmlns:a16="http://schemas.microsoft.com/office/drawing/2014/main" id="{81A7187B-093D-4E1E-8BDE-FE0A9A879433}"/>
              </a:ext>
            </a:extLst>
          </p:cNvPr>
          <p:cNvSpPr>
            <a:spLocks noGrp="1" noRot="1" noChangeAspect="1" noChangeArrowheads="1" noTextEdit="1"/>
          </p:cNvSpPr>
          <p:nvPr>
            <p:ph type="sldImg"/>
          </p:nvPr>
        </p:nvSpPr>
        <p:spPr>
          <a:xfrm>
            <a:off x="381000" y="685800"/>
            <a:ext cx="6096000" cy="3429000"/>
          </a:xfrm>
          <a:ln/>
        </p:spPr>
      </p:sp>
      <p:sp>
        <p:nvSpPr>
          <p:cNvPr id="16387" name="备注占位符 2">
            <a:extLst>
              <a:ext uri="{FF2B5EF4-FFF2-40B4-BE49-F238E27FC236}">
                <a16:creationId xmlns:a16="http://schemas.microsoft.com/office/drawing/2014/main" id="{D38971F5-B0ED-4B7F-8F4B-10EC33EDDB4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不同</a:t>
            </a:r>
            <a:r>
              <a:rPr lang="en-US" altLang="zh-CN" dirty="0"/>
              <a:t>IgG</a:t>
            </a:r>
            <a:r>
              <a:rPr lang="zh-CN" altLang="en-US" dirty="0"/>
              <a:t>分子恒定区的序列和结构相同。   </a:t>
            </a:r>
            <a:endParaRPr lang="en-US" altLang="zh-CN" dirty="0"/>
          </a:p>
          <a:p>
            <a:r>
              <a:rPr lang="zh-CN" altLang="en-US" dirty="0"/>
              <a:t>这种</a:t>
            </a:r>
            <a:r>
              <a:rPr lang="en-US" altLang="zh-CN" dirty="0"/>
              <a:t>Y</a:t>
            </a:r>
            <a:r>
              <a:rPr lang="zh-CN" altLang="en-US" dirty="0"/>
              <a:t>形结构是单体（几条肽链共价相连，并不构成亚基），</a:t>
            </a:r>
            <a:r>
              <a:rPr lang="zh-CN" altLang="en-US" b="1" dirty="0"/>
              <a:t>教材中“</a:t>
            </a:r>
            <a:r>
              <a:rPr lang="en-US" altLang="zh-CN" b="1" dirty="0"/>
              <a:t>IgG</a:t>
            </a:r>
            <a:r>
              <a:rPr lang="zh-CN" altLang="en-US" b="1" dirty="0"/>
              <a:t>、</a:t>
            </a:r>
            <a:r>
              <a:rPr lang="en-US" altLang="zh-CN" b="1" dirty="0"/>
              <a:t>D</a:t>
            </a:r>
            <a:r>
              <a:rPr lang="zh-CN" altLang="en-US" b="1" dirty="0"/>
              <a:t>、</a:t>
            </a:r>
            <a:r>
              <a:rPr lang="en-US" altLang="zh-CN" b="1" dirty="0"/>
              <a:t>E</a:t>
            </a:r>
            <a:r>
              <a:rPr lang="zh-CN" altLang="en-US" b="1" dirty="0"/>
              <a:t>为四聚体”的说法有误</a:t>
            </a:r>
            <a:r>
              <a:rPr lang="zh-CN" altLang="en-US" dirty="0"/>
              <a:t>。</a:t>
            </a:r>
            <a:endParaRPr lang="en-US" altLang="zh-CN" dirty="0"/>
          </a:p>
          <a:p>
            <a:endParaRPr lang="en-US" altLang="zh-CN" dirty="0"/>
          </a:p>
          <a:p>
            <a:r>
              <a:rPr lang="zh-CN" altLang="en-US" dirty="0"/>
              <a:t>每条</a:t>
            </a:r>
            <a:r>
              <a:rPr lang="en-US" altLang="zh-CN" dirty="0"/>
              <a:t>L </a:t>
            </a:r>
            <a:r>
              <a:rPr lang="zh-CN" altLang="en-US" dirty="0"/>
              <a:t>链由可变区（</a:t>
            </a:r>
            <a:r>
              <a:rPr lang="en-US" altLang="zh-CN" dirty="0"/>
              <a:t>VL</a:t>
            </a:r>
            <a:r>
              <a:rPr lang="zh-CN" altLang="en-US" dirty="0"/>
              <a:t>）和恒定区（</a:t>
            </a:r>
            <a:r>
              <a:rPr lang="en-US" altLang="zh-CN" dirty="0"/>
              <a:t>CL</a:t>
            </a:r>
            <a:r>
              <a:rPr lang="zh-CN" altLang="en-US" dirty="0"/>
              <a:t>）组成。每条</a:t>
            </a:r>
            <a:r>
              <a:rPr lang="en-US" altLang="zh-CN" dirty="0"/>
              <a:t>H </a:t>
            </a:r>
            <a:r>
              <a:rPr lang="zh-CN" altLang="en-US" dirty="0"/>
              <a:t>链也可由可变区（</a:t>
            </a:r>
            <a:r>
              <a:rPr lang="en-US" altLang="zh-CN" dirty="0"/>
              <a:t>VH</a:t>
            </a:r>
            <a:r>
              <a:rPr lang="zh-CN" altLang="en-US" dirty="0"/>
              <a:t>）和恒定区（</a:t>
            </a:r>
            <a:r>
              <a:rPr lang="en-US" altLang="zh-CN" dirty="0"/>
              <a:t>CH</a:t>
            </a:r>
            <a:r>
              <a:rPr lang="zh-CN" altLang="en-US" dirty="0"/>
              <a:t>）组成，其中恒定区分为三个结构域（</a:t>
            </a:r>
            <a:r>
              <a:rPr lang="en-US" altLang="zh-CN" dirty="0"/>
              <a:t>CH 1 </a:t>
            </a:r>
            <a:r>
              <a:rPr lang="zh-CN" altLang="en-US" dirty="0"/>
              <a:t>、</a:t>
            </a:r>
            <a:r>
              <a:rPr lang="en-US" altLang="zh-CN" dirty="0"/>
              <a:t>CH 2 </a:t>
            </a:r>
            <a:r>
              <a:rPr lang="zh-CN" altLang="en-US" dirty="0"/>
              <a:t>、</a:t>
            </a:r>
            <a:r>
              <a:rPr lang="en-US" altLang="zh-CN" dirty="0"/>
              <a:t>CH 3 </a:t>
            </a:r>
            <a:r>
              <a:rPr lang="zh-CN" altLang="en-US" dirty="0"/>
              <a:t>），</a:t>
            </a:r>
            <a:r>
              <a:rPr lang="en-US" altLang="zh-CN" dirty="0"/>
              <a:t>CH2 </a:t>
            </a:r>
            <a:r>
              <a:rPr lang="zh-CN" altLang="en-US" dirty="0"/>
              <a:t>结构域含有补体结合部位</a:t>
            </a:r>
            <a:r>
              <a:rPr lang="en-US" altLang="zh-CN" dirty="0"/>
              <a:t>, CH3 </a:t>
            </a:r>
            <a:r>
              <a:rPr lang="zh-CN" altLang="en-US" dirty="0"/>
              <a:t>结构域含有与中性粒细胞和巨噬细胞受体接触的部位。由</a:t>
            </a:r>
            <a:r>
              <a:rPr lang="en-US" altLang="zh-CN" dirty="0"/>
              <a:t>L </a:t>
            </a:r>
            <a:r>
              <a:rPr lang="zh-CN" altLang="en-US" dirty="0"/>
              <a:t>链和</a:t>
            </a:r>
            <a:r>
              <a:rPr lang="en-US" altLang="zh-CN" dirty="0"/>
              <a:t>H </a:t>
            </a:r>
            <a:r>
              <a:rPr lang="zh-CN" altLang="en-US" dirty="0"/>
              <a:t>链可变区形成的高变区是抗原结合的部位。</a:t>
            </a:r>
            <a:endParaRPr lang="en-US" altLang="zh-CN" dirty="0"/>
          </a:p>
          <a:p>
            <a:r>
              <a:rPr lang="en-US" altLang="zh-CN" dirty="0"/>
              <a:t>L </a:t>
            </a:r>
            <a:r>
              <a:rPr lang="zh-CN" altLang="en-US" dirty="0"/>
              <a:t>链和</a:t>
            </a:r>
            <a:r>
              <a:rPr lang="en-US" altLang="zh-CN" dirty="0"/>
              <a:t>H </a:t>
            </a:r>
            <a:r>
              <a:rPr lang="zh-CN" altLang="en-US" dirty="0"/>
              <a:t>链之间由二硫键连接，</a:t>
            </a:r>
            <a:r>
              <a:rPr lang="en-US" altLang="zh-CN" dirty="0"/>
              <a:t>H </a:t>
            </a:r>
            <a:r>
              <a:rPr lang="zh-CN" altLang="en-US" dirty="0"/>
              <a:t>链之间也由二硫键连接。</a:t>
            </a:r>
            <a:endParaRPr lang="en-US" altLang="zh-CN" dirty="0"/>
          </a:p>
        </p:txBody>
      </p:sp>
      <p:sp>
        <p:nvSpPr>
          <p:cNvPr id="16388" name="日期占位符 3">
            <a:extLst>
              <a:ext uri="{FF2B5EF4-FFF2-40B4-BE49-F238E27FC236}">
                <a16:creationId xmlns:a16="http://schemas.microsoft.com/office/drawing/2014/main" id="{5CC42F8B-A6DB-4C33-BF07-3C421CC8AA9A}"/>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7D46D65-204D-450E-A67D-1F64A2B5A454}"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6389" name="灯片编号占位符 4">
            <a:extLst>
              <a:ext uri="{FF2B5EF4-FFF2-40B4-BE49-F238E27FC236}">
                <a16:creationId xmlns:a16="http://schemas.microsoft.com/office/drawing/2014/main" id="{C964194C-4288-48EF-9F04-C4D3E8944BF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3605BF8-BFDC-4AF8-B46D-17D2D4D7624A}" type="slidenum">
              <a:rPr lang="en-US" altLang="zh-CN" sz="1200" smtClean="0">
                <a:latin typeface="Tahoma" panose="020B0604030504040204" pitchFamily="34" charset="0"/>
              </a:rPr>
              <a:pPr/>
              <a:t>4</a:t>
            </a:fld>
            <a:endParaRPr lang="en-US" altLang="zh-CN" sz="1200">
              <a:latin typeface="Tahoma" panose="020B060403050404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D3596C76-DCE2-40C0-AAAE-FDDC8946AF3E}"/>
              </a:ext>
            </a:extLst>
          </p:cNvPr>
          <p:cNvSpPr>
            <a:spLocks noGrp="1" noRot="1" noChangeAspect="1" noChangeArrowheads="1" noTextEdit="1"/>
          </p:cNvSpPr>
          <p:nvPr>
            <p:ph type="sldImg"/>
          </p:nvPr>
        </p:nvSpPr>
        <p:spPr>
          <a:xfrm>
            <a:off x="381000" y="685800"/>
            <a:ext cx="6096000" cy="3429000"/>
          </a:xfrm>
          <a:ln/>
        </p:spPr>
      </p:sp>
      <p:sp>
        <p:nvSpPr>
          <p:cNvPr id="18435" name="备注占位符 2">
            <a:extLst>
              <a:ext uri="{FF2B5EF4-FFF2-40B4-BE49-F238E27FC236}">
                <a16:creationId xmlns:a16="http://schemas.microsoft.com/office/drawing/2014/main" id="{BEB98FCA-DACA-48D2-A4E1-A12C08B2C3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The constant domains have a characteristic structure known as the immunoglobulin fold, a well-conserved structural motif in the all-β class of proteins.</a:t>
            </a:r>
          </a:p>
          <a:p>
            <a:endParaRPr lang="en-US" altLang="zh-CN" dirty="0"/>
          </a:p>
          <a:p>
            <a:r>
              <a:rPr lang="en-US" altLang="zh-CN" dirty="0"/>
              <a:t>PDB ID 1IGT</a:t>
            </a:r>
          </a:p>
          <a:p>
            <a:endParaRPr lang="en-US" altLang="zh-CN" dirty="0"/>
          </a:p>
          <a:p>
            <a:endParaRPr lang="zh-CN" altLang="en-US" dirty="0"/>
          </a:p>
        </p:txBody>
      </p:sp>
      <p:sp>
        <p:nvSpPr>
          <p:cNvPr id="18436" name="日期占位符 3">
            <a:extLst>
              <a:ext uri="{FF2B5EF4-FFF2-40B4-BE49-F238E27FC236}">
                <a16:creationId xmlns:a16="http://schemas.microsoft.com/office/drawing/2014/main" id="{A98CBE8F-1CE2-4B6A-9E27-5981F1AA6F88}"/>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E3D7DE5-10A6-48B4-B3E8-B492D6D4503B}"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8437" name="灯片编号占位符 4">
            <a:extLst>
              <a:ext uri="{FF2B5EF4-FFF2-40B4-BE49-F238E27FC236}">
                <a16:creationId xmlns:a16="http://schemas.microsoft.com/office/drawing/2014/main" id="{54FBFEE9-7637-4F2F-9399-875449BC393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DFFFB14-1839-42B4-B0E5-032FBEF15A65}" type="slidenum">
              <a:rPr lang="en-US" altLang="zh-CN" sz="1200" smtClean="0">
                <a:latin typeface="Tahoma" panose="020B0604030504040204" pitchFamily="34" charset="0"/>
              </a:rPr>
              <a:pPr/>
              <a:t>5</a:t>
            </a:fld>
            <a:endParaRPr lang="en-US" altLang="zh-CN" sz="1200">
              <a:latin typeface="Tahoma" panose="020B060403050404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幻灯片图像占位符 1">
            <a:extLst>
              <a:ext uri="{FF2B5EF4-FFF2-40B4-BE49-F238E27FC236}">
                <a16:creationId xmlns:a16="http://schemas.microsoft.com/office/drawing/2014/main" id="{31F1E02C-C8BF-4E6D-90B8-688F3D1EE158}"/>
              </a:ext>
            </a:extLst>
          </p:cNvPr>
          <p:cNvSpPr>
            <a:spLocks noGrp="1" noRot="1" noChangeAspect="1" noChangeArrowheads="1" noTextEdit="1"/>
          </p:cNvSpPr>
          <p:nvPr>
            <p:ph type="sldImg"/>
          </p:nvPr>
        </p:nvSpPr>
        <p:spPr>
          <a:xfrm>
            <a:off x="381000" y="685800"/>
            <a:ext cx="6096000" cy="3429000"/>
          </a:xfrm>
          <a:ln/>
        </p:spPr>
      </p:sp>
      <p:sp>
        <p:nvSpPr>
          <p:cNvPr id="280579" name="备注占位符 2">
            <a:extLst>
              <a:ext uri="{FF2B5EF4-FFF2-40B4-BE49-F238E27FC236}">
                <a16:creationId xmlns:a16="http://schemas.microsoft.com/office/drawing/2014/main" id="{69FBB1D2-61D9-4E6E-B5F9-7E7F10534F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t>根据</a:t>
            </a:r>
            <a:r>
              <a:rPr lang="en-US" altLang="zh-CN" b="1" dirty="0"/>
              <a:t>H </a:t>
            </a:r>
            <a:r>
              <a:rPr lang="zh-CN" altLang="en-US" b="1" dirty="0"/>
              <a:t>链抗原性的差异可将其分为</a:t>
            </a:r>
            <a:r>
              <a:rPr lang="en-US" altLang="zh-CN" b="1" dirty="0"/>
              <a:t>5 </a:t>
            </a:r>
            <a:r>
              <a:rPr lang="zh-CN" altLang="en-US" b="1" dirty="0"/>
              <a:t>类</a:t>
            </a:r>
            <a:r>
              <a:rPr lang="zh-CN" altLang="en-US" dirty="0"/>
              <a:t>：</a:t>
            </a:r>
            <a:r>
              <a:rPr lang="en-US" altLang="zh-CN" dirty="0"/>
              <a:t>α </a:t>
            </a:r>
            <a:r>
              <a:rPr lang="zh-CN" altLang="en-US" dirty="0"/>
              <a:t>链、</a:t>
            </a:r>
            <a:r>
              <a:rPr lang="en-US" altLang="zh-CN" dirty="0"/>
              <a:t>γ </a:t>
            </a:r>
            <a:r>
              <a:rPr lang="zh-CN" altLang="en-US" dirty="0"/>
              <a:t>链、</a:t>
            </a:r>
            <a:r>
              <a:rPr lang="en-US" altLang="zh-CN" dirty="0"/>
              <a:t>δ </a:t>
            </a:r>
            <a:r>
              <a:rPr lang="zh-CN" altLang="en-US" dirty="0"/>
              <a:t>链、</a:t>
            </a:r>
            <a:r>
              <a:rPr lang="en-US" altLang="zh-CN" dirty="0"/>
              <a:t>ε </a:t>
            </a:r>
            <a:r>
              <a:rPr lang="zh-CN" altLang="en-US" dirty="0"/>
              <a:t>链和</a:t>
            </a:r>
            <a:r>
              <a:rPr lang="en-US" altLang="zh-CN" dirty="0"/>
              <a:t>μ </a:t>
            </a:r>
            <a:r>
              <a:rPr lang="zh-CN" altLang="en-US" dirty="0"/>
              <a:t>链， 这些</a:t>
            </a:r>
            <a:r>
              <a:rPr lang="en-US" altLang="zh-CN" dirty="0"/>
              <a:t>H </a:t>
            </a:r>
            <a:r>
              <a:rPr lang="zh-CN" altLang="en-US" dirty="0"/>
              <a:t>链与</a:t>
            </a:r>
            <a:r>
              <a:rPr lang="en-US" altLang="zh-CN" dirty="0"/>
              <a:t>L </a:t>
            </a:r>
            <a:r>
              <a:rPr lang="zh-CN" altLang="en-US" dirty="0"/>
              <a:t>链（</a:t>
            </a:r>
            <a:r>
              <a:rPr lang="en-US" altLang="zh-CN" dirty="0"/>
              <a:t>κ </a:t>
            </a:r>
            <a:r>
              <a:rPr lang="zh-CN" altLang="en-US" dirty="0"/>
              <a:t>或</a:t>
            </a:r>
            <a:r>
              <a:rPr lang="en-US" altLang="zh-CN" dirty="0"/>
              <a:t>λ </a:t>
            </a:r>
            <a:r>
              <a:rPr lang="zh-CN" altLang="en-US" dirty="0"/>
              <a:t>链）组成完整免疫球蛋白的分子，分别称之为免疫球蛋白</a:t>
            </a:r>
            <a:r>
              <a:rPr lang="en-US" altLang="zh-CN" dirty="0"/>
              <a:t>A</a:t>
            </a:r>
            <a:r>
              <a:rPr lang="zh-CN" altLang="en-US" dirty="0"/>
              <a:t>、免疫球蛋白</a:t>
            </a:r>
            <a:r>
              <a:rPr lang="en-US" altLang="zh-CN" dirty="0"/>
              <a:t>G</a:t>
            </a:r>
            <a:r>
              <a:rPr lang="zh-CN" altLang="en-US" dirty="0"/>
              <a:t>、免疫球蛋白</a:t>
            </a:r>
            <a:r>
              <a:rPr lang="en-US" altLang="zh-CN" dirty="0"/>
              <a:t>D</a:t>
            </a:r>
            <a:r>
              <a:rPr lang="zh-CN" altLang="en-US" dirty="0"/>
              <a:t>、免疫球蛋白</a:t>
            </a:r>
            <a:r>
              <a:rPr lang="en-US" altLang="zh-CN" dirty="0"/>
              <a:t>E</a:t>
            </a:r>
            <a:r>
              <a:rPr lang="zh-CN" altLang="en-US" dirty="0"/>
              <a:t>和免疫球蛋白</a:t>
            </a:r>
            <a:r>
              <a:rPr lang="en-US" altLang="zh-CN" dirty="0"/>
              <a:t>M</a:t>
            </a:r>
            <a:r>
              <a:rPr lang="zh-CN" altLang="en-US" dirty="0"/>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一个特异的免疫球蛋白通常只含有两条</a:t>
            </a:r>
            <a:r>
              <a:rPr lang="en-US" altLang="zh-CN" dirty="0"/>
              <a:t>κ </a:t>
            </a:r>
            <a:r>
              <a:rPr lang="zh-CN" altLang="en-US" dirty="0"/>
              <a:t>链或两条</a:t>
            </a:r>
            <a:r>
              <a:rPr lang="en-US" altLang="zh-CN" dirty="0"/>
              <a:t>λ </a:t>
            </a:r>
            <a:r>
              <a:rPr lang="zh-CN" altLang="en-US" dirty="0"/>
              <a:t>链，不存在</a:t>
            </a:r>
            <a:r>
              <a:rPr lang="en-US" altLang="zh-CN" dirty="0"/>
              <a:t>κ </a:t>
            </a:r>
            <a:r>
              <a:rPr lang="zh-CN" altLang="en-US" dirty="0"/>
              <a:t>和</a:t>
            </a:r>
            <a:r>
              <a:rPr lang="en-US" altLang="zh-CN" dirty="0"/>
              <a:t>λ </a:t>
            </a:r>
            <a:r>
              <a:rPr lang="zh-CN" altLang="en-US" dirty="0"/>
              <a:t>的混合型。  </a:t>
            </a:r>
            <a:r>
              <a:rPr lang="en-US" altLang="zh-CN" dirty="0"/>
              <a:t>IgG:  γ</a:t>
            </a:r>
            <a:r>
              <a:rPr lang="en-US" altLang="zh-CN" baseline="-25000" dirty="0"/>
              <a:t>2</a:t>
            </a:r>
            <a:r>
              <a:rPr lang="en-US" altLang="zh-CN" dirty="0"/>
              <a:t>κ</a:t>
            </a:r>
            <a:r>
              <a:rPr lang="en-US" altLang="zh-CN" baseline="-25000" dirty="0"/>
              <a:t>2</a:t>
            </a:r>
            <a:r>
              <a:rPr lang="en-US" altLang="zh-CN" dirty="0"/>
              <a:t> </a:t>
            </a:r>
            <a:r>
              <a:rPr lang="zh-CN" altLang="en-US" dirty="0"/>
              <a:t>或 </a:t>
            </a:r>
            <a:r>
              <a:rPr lang="en-US" altLang="zh-CN" dirty="0"/>
              <a:t>γ</a:t>
            </a:r>
            <a:r>
              <a:rPr lang="en-US" altLang="zh-CN" baseline="-25000" dirty="0"/>
              <a:t>2</a:t>
            </a:r>
            <a:r>
              <a:rPr lang="en-US" altLang="zh-CN" dirty="0"/>
              <a:t> λ</a:t>
            </a:r>
            <a:r>
              <a:rPr lang="en-US" altLang="zh-CN" baseline="-25000" dirty="0"/>
              <a:t>2 </a:t>
            </a:r>
            <a:endParaRPr lang="zh-CN" altLang="en-US" baseline="-25000" dirty="0"/>
          </a:p>
          <a:p>
            <a:endParaRPr lang="en-US" altLang="zh-CN" dirty="0"/>
          </a:p>
          <a:p>
            <a:endParaRPr lang="en-US" altLang="zh-CN" dirty="0"/>
          </a:p>
          <a:p>
            <a:endParaRPr lang="en-US" altLang="zh-CN" dirty="0"/>
          </a:p>
        </p:txBody>
      </p:sp>
      <p:sp>
        <p:nvSpPr>
          <p:cNvPr id="280580" name="日期占位符 3">
            <a:extLst>
              <a:ext uri="{FF2B5EF4-FFF2-40B4-BE49-F238E27FC236}">
                <a16:creationId xmlns:a16="http://schemas.microsoft.com/office/drawing/2014/main" id="{F1CC228B-227B-4593-8CDC-5D58EB4317F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091863A-0696-4708-BCDC-2E54BA620A41}"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80581" name="灯片编号占位符 4">
            <a:extLst>
              <a:ext uri="{FF2B5EF4-FFF2-40B4-BE49-F238E27FC236}">
                <a16:creationId xmlns:a16="http://schemas.microsoft.com/office/drawing/2014/main" id="{798910B3-4349-4C88-B87B-4235B2D8DE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BADEA88-06BB-4BB1-B642-7F950E74FEE9}" type="slidenum">
              <a:rPr lang="en-US" altLang="zh-CN" sz="1200" smtClean="0">
                <a:latin typeface="Tahoma" panose="020B0604030504040204" pitchFamily="34" charset="0"/>
              </a:rPr>
              <a:pPr/>
              <a:t>6</a:t>
            </a:fld>
            <a:endParaRPr lang="en-US" altLang="zh-CN" sz="1200">
              <a:latin typeface="Tahoma" panose="020B060403050404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CC007AA6-F158-46CE-8F7E-01A82FDF0AB5}"/>
              </a:ext>
            </a:extLst>
          </p:cNvPr>
          <p:cNvSpPr>
            <a:spLocks noGrp="1" noRot="1" noChangeAspect="1" noChangeArrowheads="1" noTextEdit="1"/>
          </p:cNvSpPr>
          <p:nvPr>
            <p:ph type="sldImg"/>
          </p:nvPr>
        </p:nvSpPr>
        <p:spPr>
          <a:xfrm>
            <a:off x="381000" y="685800"/>
            <a:ext cx="6096000" cy="3429000"/>
          </a:xfrm>
          <a:ln/>
        </p:spPr>
      </p:sp>
      <p:sp>
        <p:nvSpPr>
          <p:cNvPr id="20483" name="备注占位符 2">
            <a:extLst>
              <a:ext uri="{FF2B5EF4-FFF2-40B4-BE49-F238E27FC236}">
                <a16:creationId xmlns:a16="http://schemas.microsoft.com/office/drawing/2014/main" id="{2401C787-C70C-46F8-A379-FCD6B4CFCDD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dirty="0"/>
              <a:t>Induced fit </a:t>
            </a:r>
            <a:r>
              <a:rPr lang="en-US" altLang="zh-CN" dirty="0"/>
              <a:t>in the binding of an antigen to IgG. The molecule here, shown in surface contour, is </a:t>
            </a:r>
            <a:r>
              <a:rPr lang="en-US" altLang="zh-CN" b="1" dirty="0"/>
              <a:t>the Fab fragment of an IgG</a:t>
            </a:r>
            <a:r>
              <a:rPr lang="en-US" altLang="zh-CN" dirty="0"/>
              <a:t>. The antigen is a small peptide derived from HIV. </a:t>
            </a:r>
            <a:r>
              <a:rPr lang="en-US" altLang="zh-CN" b="1" dirty="0"/>
              <a:t>Two residues in the heavy chain (blue) and one in the light chain (red) </a:t>
            </a:r>
            <a:r>
              <a:rPr lang="en-US" altLang="zh-CN" dirty="0"/>
              <a:t>are colored to provide visual points of reference.</a:t>
            </a:r>
          </a:p>
          <a:p>
            <a:endParaRPr lang="en-US" altLang="zh-CN" dirty="0"/>
          </a:p>
          <a:p>
            <a:r>
              <a:rPr lang="en-US" altLang="zh-CN" dirty="0"/>
              <a:t>A typical antibody-antigen interaction is quite strong, characterized by</a:t>
            </a:r>
            <a:r>
              <a:rPr lang="en-US" altLang="zh-CN" i="1" dirty="0"/>
              <a:t> </a:t>
            </a:r>
            <a:r>
              <a:rPr lang="en-US" altLang="zh-CN" i="1" dirty="0" err="1"/>
              <a:t>K</a:t>
            </a:r>
            <a:r>
              <a:rPr lang="en-US" altLang="zh-CN" i="1" baseline="-25000" dirty="0" err="1"/>
              <a:t>d</a:t>
            </a:r>
            <a:r>
              <a:rPr lang="en-US" altLang="zh-CN" i="1" dirty="0"/>
              <a:t> </a:t>
            </a:r>
            <a:r>
              <a:rPr lang="en-US" altLang="zh-CN" dirty="0"/>
              <a:t>values as low as 10</a:t>
            </a:r>
            <a:r>
              <a:rPr lang="en-US" altLang="zh-CN" baseline="30000" dirty="0"/>
              <a:t>-10</a:t>
            </a:r>
            <a:r>
              <a:rPr lang="en-US" altLang="zh-CN" dirty="0"/>
              <a:t>M. (a lower </a:t>
            </a:r>
            <a:r>
              <a:rPr lang="en-US" altLang="zh-CN" i="1" dirty="0" err="1"/>
              <a:t>K</a:t>
            </a:r>
            <a:r>
              <a:rPr lang="en-US" altLang="zh-CN" dirty="0" err="1"/>
              <a:t>d</a:t>
            </a:r>
            <a:r>
              <a:rPr lang="en-US" altLang="zh-CN" dirty="0"/>
              <a:t> corresponds to a stronger binding interaction) </a:t>
            </a:r>
          </a:p>
          <a:p>
            <a:endParaRPr lang="en-US" altLang="zh-CN" dirty="0"/>
          </a:p>
          <a:p>
            <a:endParaRPr lang="zh-CN" altLang="en-US" dirty="0"/>
          </a:p>
        </p:txBody>
      </p:sp>
      <p:sp>
        <p:nvSpPr>
          <p:cNvPr id="20484" name="日期占位符 3">
            <a:extLst>
              <a:ext uri="{FF2B5EF4-FFF2-40B4-BE49-F238E27FC236}">
                <a16:creationId xmlns:a16="http://schemas.microsoft.com/office/drawing/2014/main" id="{D7786592-565B-4D69-96BE-987E5819874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2957FB5-E0D0-4B2C-AE19-0C97D25B5292}"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0485" name="灯片编号占位符 4">
            <a:extLst>
              <a:ext uri="{FF2B5EF4-FFF2-40B4-BE49-F238E27FC236}">
                <a16:creationId xmlns:a16="http://schemas.microsoft.com/office/drawing/2014/main" id="{DA60CB30-93FB-48DC-90FC-A0EC9D8597C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FFD9C92-A3E5-4FF1-BD87-09FDB844DE0E}" type="slidenum">
              <a:rPr lang="en-US" altLang="zh-CN" sz="1200" smtClean="0">
                <a:latin typeface="Tahoma" panose="020B0604030504040204" pitchFamily="34" charset="0"/>
              </a:rPr>
              <a:pPr/>
              <a:t>7</a:t>
            </a:fld>
            <a:endParaRPr lang="en-US" altLang="zh-CN" sz="1200">
              <a:latin typeface="Tahoma" panose="020B060403050404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E9750CF3-60BB-4DB2-9C4F-68366DBE66C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FEF9526-486E-4A98-AE6B-D0803FEFACB4}"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2531" name="Rectangle 7">
            <a:extLst>
              <a:ext uri="{FF2B5EF4-FFF2-40B4-BE49-F238E27FC236}">
                <a16:creationId xmlns:a16="http://schemas.microsoft.com/office/drawing/2014/main" id="{3C6E6272-2E0C-478B-8411-7E173BBFCA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D781CF8-D7F0-4931-B177-33DD3854E7AB}" type="slidenum">
              <a:rPr lang="en-US" altLang="zh-CN" sz="1200" smtClean="0">
                <a:latin typeface="Tahoma" panose="020B0604030504040204" pitchFamily="34" charset="0"/>
              </a:rPr>
              <a:pPr/>
              <a:t>8</a:t>
            </a:fld>
            <a:endParaRPr lang="en-US" altLang="zh-CN" sz="1200">
              <a:latin typeface="Tahoma" panose="020B0604030504040204" pitchFamily="34" charset="0"/>
            </a:endParaRPr>
          </a:p>
        </p:txBody>
      </p:sp>
      <p:sp>
        <p:nvSpPr>
          <p:cNvPr id="22532" name="Rectangle 2">
            <a:extLst>
              <a:ext uri="{FF2B5EF4-FFF2-40B4-BE49-F238E27FC236}">
                <a16:creationId xmlns:a16="http://schemas.microsoft.com/office/drawing/2014/main" id="{90C94E55-950D-4C71-89E1-2903DCBFCE25}"/>
              </a:ext>
            </a:extLst>
          </p:cNvPr>
          <p:cNvSpPr>
            <a:spLocks noGrp="1" noRot="1" noChangeAspect="1" noChangeArrowheads="1" noTextEdit="1"/>
          </p:cNvSpPr>
          <p:nvPr>
            <p:ph type="sldImg"/>
          </p:nvPr>
        </p:nvSpPr>
        <p:spPr>
          <a:xfrm>
            <a:off x="381000" y="685800"/>
            <a:ext cx="6096000" cy="3429000"/>
          </a:xfrm>
          <a:ln/>
        </p:spPr>
      </p:sp>
      <p:sp>
        <p:nvSpPr>
          <p:cNvPr id="35845" name="Rectangle 3">
            <a:extLst>
              <a:ext uri="{FF2B5EF4-FFF2-40B4-BE49-F238E27FC236}">
                <a16:creationId xmlns:a16="http://schemas.microsoft.com/office/drawing/2014/main" id="{838ECC03-82A1-48DB-9783-A00210444CF0}"/>
              </a:ext>
            </a:extLst>
          </p:cNvPr>
          <p:cNvSpPr>
            <a:spLocks noGrp="1" noChangeArrowheads="1"/>
          </p:cNvSpPr>
          <p:nvPr>
            <p:ph type="body" idx="1"/>
          </p:nvPr>
        </p:nvSpPr>
        <p:spPr>
          <a:ln/>
        </p:spPr>
        <p:txBody>
          <a:bodyPr/>
          <a:lstStyle/>
          <a:p>
            <a:pPr eaLnBrk="1" hangingPunct="1">
              <a:defRPr/>
            </a:pPr>
            <a:r>
              <a:rPr lang="zh-CN" altLang="en-US" dirty="0"/>
              <a:t>在生物体内，蛋白质多肽链一旦被合成后，即可根据一级结构的特点自然折叠和盘曲（大多需要分子伴侣的辅助），形成一定的空间构象</a:t>
            </a:r>
            <a:r>
              <a:rPr lang="en-US" altLang="zh-CN" dirty="0"/>
              <a:t>.</a:t>
            </a:r>
          </a:p>
          <a:p>
            <a:pPr eaLnBrk="1" hangingPunct="1">
              <a:defRPr/>
            </a:pPr>
            <a:endParaRPr lang="en-US" altLang="zh-CN" dirty="0">
              <a:latin typeface="宋体" panose="02010600030101010101" pitchFamily="2" charset="-122"/>
            </a:endParaRPr>
          </a:p>
          <a:p>
            <a:pPr eaLnBrk="1" hangingPunct="1">
              <a:defRPr/>
            </a:pPr>
            <a:r>
              <a:rPr lang="en-US" altLang="zh-CN" dirty="0">
                <a:latin typeface="宋体" panose="02010600030101010101" pitchFamily="2" charset="-122"/>
              </a:rPr>
              <a:t>How do proteins recognize and interpret the folding information?</a:t>
            </a:r>
          </a:p>
          <a:p>
            <a:pPr marL="171450" indent="-171450">
              <a:buFont typeface="Arial" panose="020B0604020202020204" pitchFamily="34" charset="0"/>
              <a:buChar char="•"/>
              <a:defRPr/>
            </a:pPr>
            <a:r>
              <a:rPr lang="en-US" altLang="zh-CN" dirty="0">
                <a:solidFill>
                  <a:srgbClr val="FFFFFF"/>
                </a:solidFill>
              </a:rPr>
              <a:t>Certain loci along the chain may act as nucleation points </a:t>
            </a:r>
          </a:p>
          <a:p>
            <a:pPr marL="171450" indent="-171450">
              <a:buFont typeface="Arial" panose="020B0604020202020204" pitchFamily="34" charset="0"/>
              <a:buChar char="•"/>
              <a:defRPr/>
            </a:pPr>
            <a:r>
              <a:rPr lang="en-US" altLang="zh-CN" dirty="0">
                <a:solidFill>
                  <a:srgbClr val="FFFFFF"/>
                </a:solidFill>
              </a:rPr>
              <a:t>Protein chain must avoid local energy minima </a:t>
            </a:r>
          </a:p>
          <a:p>
            <a:pPr marL="171450" indent="-171450">
              <a:buFont typeface="Arial" panose="020B0604020202020204" pitchFamily="34" charset="0"/>
              <a:buChar char="•"/>
              <a:defRPr/>
            </a:pPr>
            <a:r>
              <a:rPr lang="en-US" altLang="zh-CN" dirty="0">
                <a:solidFill>
                  <a:srgbClr val="FFFFFF"/>
                </a:solidFill>
              </a:rPr>
              <a:t>Chaperones may help</a:t>
            </a:r>
          </a:p>
          <a:p>
            <a:pPr eaLnBrk="1" hangingPunct="1">
              <a:defRPr/>
            </a:pPr>
            <a:endParaRPr lang="en-US" altLang="zh-CN" dirty="0">
              <a:latin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9D375609-7CEA-4D63-93A5-6AF7636F949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AECD793-FEB6-4686-BD0A-6AB05C3ECCA4}"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4579" name="Rectangle 7">
            <a:extLst>
              <a:ext uri="{FF2B5EF4-FFF2-40B4-BE49-F238E27FC236}">
                <a16:creationId xmlns:a16="http://schemas.microsoft.com/office/drawing/2014/main" id="{6A3DB11C-FE81-4733-BB97-97C57BE063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7B30707-6227-4DB3-AF7C-6B37836B82CE}" type="slidenum">
              <a:rPr lang="en-US" altLang="zh-CN" sz="1200" smtClean="0">
                <a:latin typeface="Tahoma" panose="020B0604030504040204" pitchFamily="34" charset="0"/>
              </a:rPr>
              <a:pPr/>
              <a:t>9</a:t>
            </a:fld>
            <a:endParaRPr lang="en-US" altLang="zh-CN" sz="1200">
              <a:latin typeface="Tahoma" panose="020B0604030504040204" pitchFamily="34" charset="0"/>
            </a:endParaRPr>
          </a:p>
        </p:txBody>
      </p:sp>
      <p:sp>
        <p:nvSpPr>
          <p:cNvPr id="24580" name="Rectangle 2">
            <a:extLst>
              <a:ext uri="{FF2B5EF4-FFF2-40B4-BE49-F238E27FC236}">
                <a16:creationId xmlns:a16="http://schemas.microsoft.com/office/drawing/2014/main" id="{2B0AD0B1-7E7D-4AAB-BBA3-9FDEBE5C33E3}"/>
              </a:ext>
            </a:extLst>
          </p:cNvPr>
          <p:cNvSpPr>
            <a:spLocks noGrp="1" noRot="1" noChangeAspect="1" noChangeArrowheads="1" noTextEdit="1"/>
          </p:cNvSpPr>
          <p:nvPr>
            <p:ph type="sldImg"/>
          </p:nvPr>
        </p:nvSpPr>
        <p:spPr>
          <a:xfrm>
            <a:off x="381000" y="685800"/>
            <a:ext cx="6096000" cy="3429000"/>
          </a:xfrm>
          <a:ln/>
        </p:spPr>
      </p:sp>
      <p:sp>
        <p:nvSpPr>
          <p:cNvPr id="24581" name="Rectangle 3">
            <a:extLst>
              <a:ext uri="{FF2B5EF4-FFF2-40B4-BE49-F238E27FC236}">
                <a16:creationId xmlns:a16="http://schemas.microsoft.com/office/drawing/2014/main" id="{BA170F6E-65BB-4140-B3F1-60EFADB5F8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latin typeface="宋体" panose="02010600030101010101" pitchFamily="2" charset="-122"/>
              </a:rPr>
              <a:t>White FH (1961). "Regeneration of native secondary and tertiary structures by air oxidation of reduced ribonuclease". J. Biol. Chem. 236: 1353–1360. PMID 13784818.</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F95FC682-50CC-4C27-A8DD-C6087BDC1B8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0EF96BA-1D4A-42DC-A446-0E7017DBBF52}"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6627" name="Rectangle 7">
            <a:extLst>
              <a:ext uri="{FF2B5EF4-FFF2-40B4-BE49-F238E27FC236}">
                <a16:creationId xmlns:a16="http://schemas.microsoft.com/office/drawing/2014/main" id="{28D83DE7-C131-4D44-8943-C44F2D2625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03A2DE9-C862-485B-91B8-9EAD07336F05}" type="slidenum">
              <a:rPr lang="en-US" altLang="zh-CN" sz="1200" smtClean="0">
                <a:latin typeface="Tahoma" panose="020B0604030504040204" pitchFamily="34" charset="0"/>
              </a:rPr>
              <a:pPr/>
              <a:t>10</a:t>
            </a:fld>
            <a:endParaRPr lang="en-US" altLang="zh-CN" sz="1200">
              <a:latin typeface="Tahoma" panose="020B0604030504040204" pitchFamily="34" charset="0"/>
            </a:endParaRPr>
          </a:p>
        </p:txBody>
      </p:sp>
      <p:sp>
        <p:nvSpPr>
          <p:cNvPr id="26628" name="Rectangle 2">
            <a:extLst>
              <a:ext uri="{FF2B5EF4-FFF2-40B4-BE49-F238E27FC236}">
                <a16:creationId xmlns:a16="http://schemas.microsoft.com/office/drawing/2014/main" id="{130DACF9-A02E-406B-9836-F452201C513F}"/>
              </a:ext>
            </a:extLst>
          </p:cNvPr>
          <p:cNvSpPr>
            <a:spLocks noGrp="1" noRot="1" noChangeAspect="1" noChangeArrowheads="1" noTextEdit="1"/>
          </p:cNvSpPr>
          <p:nvPr>
            <p:ph type="sldImg"/>
          </p:nvPr>
        </p:nvSpPr>
        <p:spPr>
          <a:xfrm>
            <a:off x="381000" y="685800"/>
            <a:ext cx="6096000" cy="3429000"/>
          </a:xfrm>
          <a:ln/>
        </p:spPr>
      </p:sp>
      <p:sp>
        <p:nvSpPr>
          <p:cNvPr id="26629" name="Rectangle 3">
            <a:extLst>
              <a:ext uri="{FF2B5EF4-FFF2-40B4-BE49-F238E27FC236}">
                <a16:creationId xmlns:a16="http://schemas.microsoft.com/office/drawing/2014/main" id="{90CDE193-C0F4-411D-AFFA-B2C21DDB0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Anfinsen</a:t>
            </a:r>
            <a:r>
              <a:rPr lang="zh-CN" altLang="en-US" dirty="0">
                <a:latin typeface="宋体" panose="02010600030101010101" pitchFamily="2" charset="-122"/>
              </a:rPr>
              <a:t>以蛋白质核糖核酸酶</a:t>
            </a:r>
            <a:r>
              <a:rPr lang="en-US" altLang="zh-CN" dirty="0">
                <a:latin typeface="宋体" panose="02010600030101010101" pitchFamily="2" charset="-122"/>
              </a:rPr>
              <a:t>A</a:t>
            </a:r>
            <a:r>
              <a:rPr lang="zh-CN" altLang="en-US" dirty="0">
                <a:latin typeface="宋体" panose="02010600030101010101" pitchFamily="2" charset="-122"/>
              </a:rPr>
              <a:t>为对象，研究</a:t>
            </a:r>
            <a:r>
              <a:rPr lang="zh-CN" altLang="en-US" b="1" dirty="0">
                <a:latin typeface="宋体" panose="02010600030101010101" pitchFamily="2" charset="-122"/>
              </a:rPr>
              <a:t>二硫键的还原和氧化问题</a:t>
            </a:r>
            <a:endParaRPr lang="en-US" altLang="zh-CN" b="1" dirty="0">
              <a:latin typeface="宋体" panose="02010600030101010101" pitchFamily="2" charset="-122"/>
            </a:endParaRPr>
          </a:p>
          <a:p>
            <a:pPr eaLnBrk="1" hangingPunct="1"/>
            <a:endParaRPr lang="en-US" altLang="zh-CN" b="1" dirty="0">
              <a:latin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D5008126-70FC-430C-B8ED-231BE2B83ECE}"/>
              </a:ext>
            </a:extLst>
          </p:cNvPr>
          <p:cNvSpPr>
            <a:spLocks noGrp="1" noRot="1" noChangeAspect="1" noChangeArrowheads="1" noTextEdit="1"/>
          </p:cNvSpPr>
          <p:nvPr>
            <p:ph type="sldImg"/>
          </p:nvPr>
        </p:nvSpPr>
        <p:spPr>
          <a:xfrm>
            <a:off x="381000" y="685800"/>
            <a:ext cx="6096000" cy="3429000"/>
          </a:xfrm>
          <a:ln/>
        </p:spPr>
      </p:sp>
      <p:sp>
        <p:nvSpPr>
          <p:cNvPr id="28675" name="备注占位符 2">
            <a:extLst>
              <a:ext uri="{FF2B5EF4-FFF2-40B4-BE49-F238E27FC236}">
                <a16:creationId xmlns:a16="http://schemas.microsoft.com/office/drawing/2014/main" id="{1D31133C-1D5E-4103-8E31-908D9131CB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dirty="0"/>
              <a:t>In the early 1960s, Christian Anfinsen and coworkers carried out</a:t>
            </a:r>
            <a:r>
              <a:rPr lang="en-US" altLang="zh-CN" dirty="0"/>
              <a:t> </a:t>
            </a:r>
            <a:r>
              <a:rPr lang="zh-CN" altLang="zh-CN" dirty="0"/>
              <a:t>a classic series of experiments, showing that </a:t>
            </a:r>
            <a:r>
              <a:rPr lang="zh-CN" altLang="zh-CN" b="1" dirty="0"/>
              <a:t>the amino acid sequence</a:t>
            </a:r>
            <a:r>
              <a:rPr lang="en-US" altLang="zh-CN" b="1" dirty="0"/>
              <a:t> </a:t>
            </a:r>
            <a:r>
              <a:rPr lang="zh-CN" altLang="zh-CN" b="1" dirty="0"/>
              <a:t>of a protein is sufficient to determine its correctly folded</a:t>
            </a:r>
            <a:r>
              <a:rPr lang="en-US" altLang="zh-CN" b="1" dirty="0"/>
              <a:t> </a:t>
            </a:r>
            <a:r>
              <a:rPr lang="zh-CN" altLang="zh-CN" b="1" dirty="0"/>
              <a:t>structure and that no external folding “machinery” is necessary.</a:t>
            </a:r>
            <a:r>
              <a:rPr lang="en-US" altLang="zh-CN" dirty="0"/>
              <a:t> </a:t>
            </a:r>
            <a:r>
              <a:rPr lang="zh-CN" altLang="zh-CN" dirty="0"/>
              <a:t>This conclusion is fundamental to our understanding of how</a:t>
            </a:r>
            <a:r>
              <a:rPr lang="en-US" altLang="zh-CN" dirty="0"/>
              <a:t> </a:t>
            </a:r>
            <a:r>
              <a:rPr lang="zh-CN" altLang="zh-CN" dirty="0"/>
              <a:t>the</a:t>
            </a:r>
            <a:r>
              <a:rPr lang="en-US" altLang="zh-CN" dirty="0"/>
              <a:t> </a:t>
            </a:r>
            <a:r>
              <a:rPr lang="zh-CN" altLang="zh-CN" dirty="0"/>
              <a:t>nucleotide sequence of a gene ultimately encodes the information</a:t>
            </a:r>
            <a:r>
              <a:rPr lang="en-US" altLang="zh-CN" dirty="0"/>
              <a:t> </a:t>
            </a:r>
            <a:r>
              <a:rPr lang="zh-CN" altLang="zh-CN" dirty="0"/>
              <a:t>needed to specify protein function.</a:t>
            </a:r>
            <a:endParaRPr lang="en-US" altLang="zh-CN" dirty="0"/>
          </a:p>
          <a:p>
            <a:endParaRPr lang="en-US" altLang="zh-CN" dirty="0"/>
          </a:p>
          <a:p>
            <a:r>
              <a:rPr lang="zh-CN" altLang="en-US" dirty="0"/>
              <a:t>实验结论被质疑样品污染，比如样品中可能污染</a:t>
            </a:r>
            <a:r>
              <a:rPr lang="en-US" altLang="zh-CN" dirty="0"/>
              <a:t>/</a:t>
            </a:r>
            <a:r>
              <a:rPr lang="zh-CN" altLang="en-US" dirty="0"/>
              <a:t>存在神秘的 </a:t>
            </a:r>
            <a:r>
              <a:rPr lang="en-US" altLang="zh-CN" dirty="0" err="1"/>
              <a:t>foldase</a:t>
            </a:r>
            <a:r>
              <a:rPr lang="zh-CN" altLang="en-US" dirty="0"/>
              <a:t>（折叠酶）</a:t>
            </a:r>
            <a:r>
              <a:rPr lang="en-US" altLang="zh-CN" dirty="0"/>
              <a:t> </a:t>
            </a:r>
            <a:r>
              <a:rPr lang="zh-CN" altLang="en-US" dirty="0"/>
              <a:t>，暂未被学界普遍接受。</a:t>
            </a:r>
            <a:endParaRPr lang="en-US" altLang="zh-CN" dirty="0"/>
          </a:p>
          <a:p>
            <a:r>
              <a:rPr lang="en-US" altLang="zh-CN" dirty="0"/>
              <a:t>5</a:t>
            </a:r>
            <a:r>
              <a:rPr lang="zh-CN" altLang="en-US" dirty="0"/>
              <a:t>年后 </a:t>
            </a:r>
            <a:r>
              <a:rPr lang="en-US" altLang="zh-CN" dirty="0"/>
              <a:t>Bruce Merrifield</a:t>
            </a:r>
            <a:r>
              <a:rPr lang="zh-CN" altLang="en-US" dirty="0"/>
              <a:t>（蛋白质固相合成发明者，因此获</a:t>
            </a:r>
            <a:r>
              <a:rPr lang="en-US" altLang="zh-CN" dirty="0"/>
              <a:t>1984</a:t>
            </a:r>
            <a:r>
              <a:rPr lang="zh-CN" altLang="en-US" dirty="0"/>
              <a:t>年诺奖）用化学方法人工合成</a:t>
            </a:r>
            <a:r>
              <a:rPr lang="en-US" altLang="zh-CN" dirty="0"/>
              <a:t>RNase A, </a:t>
            </a:r>
            <a:r>
              <a:rPr lang="zh-CN" altLang="en-US" dirty="0"/>
              <a:t>证实该蛋白可以完全自动折叠，并具有酶活性， 安芬森的发现才被学界普遍接受。 </a:t>
            </a:r>
          </a:p>
        </p:txBody>
      </p:sp>
      <p:sp>
        <p:nvSpPr>
          <p:cNvPr id="28676" name="日期占位符 3">
            <a:extLst>
              <a:ext uri="{FF2B5EF4-FFF2-40B4-BE49-F238E27FC236}">
                <a16:creationId xmlns:a16="http://schemas.microsoft.com/office/drawing/2014/main" id="{106300B9-F0AB-45EB-9371-1B4CE0F5B71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A981249-6739-4644-99C9-4744F6DC5802}"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8677" name="灯片编号占位符 4">
            <a:extLst>
              <a:ext uri="{FF2B5EF4-FFF2-40B4-BE49-F238E27FC236}">
                <a16:creationId xmlns:a16="http://schemas.microsoft.com/office/drawing/2014/main" id="{7AC752F8-ABD1-4E71-9031-2D66FA1CA7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D77780C-88B8-40DE-AD5D-39B0A4FF8729}" type="slidenum">
              <a:rPr lang="en-US" altLang="zh-CN" sz="1200" smtClean="0">
                <a:latin typeface="Tahoma" panose="020B0604030504040204" pitchFamily="34" charset="0"/>
              </a:rPr>
              <a:pPr/>
              <a:t>11</a:t>
            </a:fld>
            <a:endParaRPr lang="en-US" altLang="zh-CN" sz="1200">
              <a:latin typeface="Tahoma" panose="020B060403050404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60F9FB9A-2209-4FF7-A6BC-3C82C8D9FD03}"/>
              </a:ext>
            </a:extLst>
          </p:cNvPr>
          <p:cNvSpPr>
            <a:spLocks noGrp="1" noRot="1" noChangeAspect="1" noChangeArrowheads="1" noTextEdit="1"/>
          </p:cNvSpPr>
          <p:nvPr>
            <p:ph type="sldImg"/>
          </p:nvPr>
        </p:nvSpPr>
        <p:spPr>
          <a:xfrm>
            <a:off x="381000" y="685800"/>
            <a:ext cx="6096000" cy="3429000"/>
          </a:xfrm>
          <a:ln/>
        </p:spPr>
      </p:sp>
      <p:sp>
        <p:nvSpPr>
          <p:cNvPr id="30723" name="备注占位符 2">
            <a:extLst>
              <a:ext uri="{FF2B5EF4-FFF2-40B4-BE49-F238E27FC236}">
                <a16:creationId xmlns:a16="http://schemas.microsoft.com/office/drawing/2014/main" id="{E4261C4F-7C7A-4BA6-B041-50C1CE679C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Anfinsen  1916-1995</a:t>
            </a:r>
          </a:p>
          <a:p>
            <a:endParaRPr lang="en-US" altLang="zh-CN" dirty="0"/>
          </a:p>
          <a:p>
            <a:endParaRPr lang="zh-CN" altLang="en-US" dirty="0"/>
          </a:p>
        </p:txBody>
      </p:sp>
      <p:sp>
        <p:nvSpPr>
          <p:cNvPr id="30724" name="日期占位符 3">
            <a:extLst>
              <a:ext uri="{FF2B5EF4-FFF2-40B4-BE49-F238E27FC236}">
                <a16:creationId xmlns:a16="http://schemas.microsoft.com/office/drawing/2014/main" id="{4F7CB170-2107-4A6E-A587-B2819A055BB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85E612C-F70C-4455-A5EE-05A4958E2D9E}"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30725" name="灯片编号占位符 4">
            <a:extLst>
              <a:ext uri="{FF2B5EF4-FFF2-40B4-BE49-F238E27FC236}">
                <a16:creationId xmlns:a16="http://schemas.microsoft.com/office/drawing/2014/main" id="{C8C6EAC2-2B62-46CE-87CC-60AA34E720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90148B9-00E4-4A63-BD31-D37CED551C69}" type="slidenum">
              <a:rPr lang="en-US" altLang="zh-CN" sz="1200" smtClean="0">
                <a:latin typeface="Tahoma" panose="020B0604030504040204" pitchFamily="34" charset="0"/>
              </a:rPr>
              <a:pPr/>
              <a:t>12</a:t>
            </a:fld>
            <a:endParaRPr lang="en-US" altLang="zh-CN" sz="1200">
              <a:latin typeface="Tahoma" panose="020B060403050404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624971A0-0AF7-443C-BA18-8174830D60B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6D7514A-BFEF-4AB0-AF93-14FCFC102796}"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32771" name="Rectangle 7">
            <a:extLst>
              <a:ext uri="{FF2B5EF4-FFF2-40B4-BE49-F238E27FC236}">
                <a16:creationId xmlns:a16="http://schemas.microsoft.com/office/drawing/2014/main" id="{E74F893D-0075-4EEC-A6B5-30F569D20E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64D1EDB-3198-44D6-B1AA-CD6623E464F4}" type="slidenum">
              <a:rPr lang="en-US" altLang="zh-CN" sz="1200" smtClean="0">
                <a:latin typeface="Tahoma" panose="020B0604030504040204" pitchFamily="34" charset="0"/>
              </a:rPr>
              <a:pPr/>
              <a:t>13</a:t>
            </a:fld>
            <a:endParaRPr lang="en-US" altLang="zh-CN" sz="1200">
              <a:latin typeface="Tahoma" panose="020B0604030504040204" pitchFamily="34" charset="0"/>
            </a:endParaRPr>
          </a:p>
        </p:txBody>
      </p:sp>
      <p:sp>
        <p:nvSpPr>
          <p:cNvPr id="32772" name="Rectangle 2">
            <a:extLst>
              <a:ext uri="{FF2B5EF4-FFF2-40B4-BE49-F238E27FC236}">
                <a16:creationId xmlns:a16="http://schemas.microsoft.com/office/drawing/2014/main" id="{EF7494ED-B772-4E4D-BD6E-8CDF92A080CB}"/>
              </a:ext>
            </a:extLst>
          </p:cNvPr>
          <p:cNvSpPr>
            <a:spLocks noGrp="1" noRot="1" noChangeAspect="1" noChangeArrowheads="1" noTextEdit="1"/>
          </p:cNvSpPr>
          <p:nvPr>
            <p:ph type="sldImg"/>
          </p:nvPr>
        </p:nvSpPr>
        <p:spPr>
          <a:xfrm>
            <a:off x="381000" y="685800"/>
            <a:ext cx="6096000" cy="3429000"/>
          </a:xfrm>
          <a:ln/>
        </p:spPr>
      </p:sp>
      <p:sp>
        <p:nvSpPr>
          <p:cNvPr id="32773" name="Rectangle 3">
            <a:extLst>
              <a:ext uri="{FF2B5EF4-FFF2-40B4-BE49-F238E27FC236}">
                <a16:creationId xmlns:a16="http://schemas.microsoft.com/office/drawing/2014/main" id="{24481437-E6C2-441F-9BE7-BB115FC08B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次级键都是非共价键，易受环境中</a:t>
            </a:r>
            <a:r>
              <a:rPr lang="en-US" altLang="zh-CN" dirty="0"/>
              <a:t>pH</a:t>
            </a:r>
            <a:r>
              <a:rPr lang="zh-CN" altLang="en-US" dirty="0">
                <a:latin typeface="宋体" panose="02010600030101010101" pitchFamily="2" charset="-122"/>
              </a:rPr>
              <a:t>、温度、离子强度等的影响，有变动的可能性。</a:t>
            </a:r>
            <a:r>
              <a:rPr lang="zh-CN" altLang="en-US" dirty="0"/>
              <a:t> </a:t>
            </a:r>
            <a:endParaRPr lang="en-US" altLang="zh-CN" dirty="0"/>
          </a:p>
          <a:p>
            <a:pPr eaLnBrk="1" hangingPunct="1"/>
            <a:endParaRPr lang="en-US" altLang="zh-CN" dirty="0"/>
          </a:p>
          <a:p>
            <a:pPr eaLnBrk="1" hangingPunct="1"/>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45BD5EC4-EE56-42A2-980E-08C762CBA740}"/>
              </a:ext>
            </a:extLst>
          </p:cNvPr>
          <p:cNvSpPr>
            <a:spLocks noGrp="1" noRot="1" noChangeAspect="1" noChangeArrowheads="1" noTextEdit="1"/>
          </p:cNvSpPr>
          <p:nvPr>
            <p:ph type="sldImg"/>
          </p:nvPr>
        </p:nvSpPr>
        <p:spPr>
          <a:xfrm>
            <a:off x="381000" y="685800"/>
            <a:ext cx="6096000" cy="3429000"/>
          </a:xfrm>
          <a:ln/>
        </p:spPr>
      </p:sp>
      <p:sp>
        <p:nvSpPr>
          <p:cNvPr id="34819" name="备注占位符 2">
            <a:extLst>
              <a:ext uri="{FF2B5EF4-FFF2-40B4-BE49-F238E27FC236}">
                <a16:creationId xmlns:a16="http://schemas.microsoft.com/office/drawing/2014/main" id="{3BCFE66F-9AF1-4B3D-A8B6-23663F24C9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4820" name="日期占位符 3">
            <a:extLst>
              <a:ext uri="{FF2B5EF4-FFF2-40B4-BE49-F238E27FC236}">
                <a16:creationId xmlns:a16="http://schemas.microsoft.com/office/drawing/2014/main" id="{FC13720C-8A1D-4571-AC7C-13F9AD6283F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26B5B35-05CA-4CAD-84B8-E399C0921168}"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34821" name="灯片编号占位符 4">
            <a:extLst>
              <a:ext uri="{FF2B5EF4-FFF2-40B4-BE49-F238E27FC236}">
                <a16:creationId xmlns:a16="http://schemas.microsoft.com/office/drawing/2014/main" id="{A062058F-A0DE-463E-BD4E-B104D00688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414C921-2584-48F2-86A6-4888D809B00C}" type="slidenum">
              <a:rPr lang="en-US" altLang="zh-CN" sz="1200" smtClean="0">
                <a:latin typeface="Tahoma" panose="020B0604030504040204" pitchFamily="34" charset="0"/>
              </a:rPr>
              <a:pPr/>
              <a:t>14</a:t>
            </a:fld>
            <a:endParaRPr lang="en-US" altLang="zh-CN" sz="1200">
              <a:latin typeface="Tahoma" panose="020B060403050404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D31D7BEB-BAB7-4BF3-9E9D-67BED58F451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9A9221D-4CB6-4CA9-8CBA-28CE01E67ABF}"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36867" name="Rectangle 7">
            <a:extLst>
              <a:ext uri="{FF2B5EF4-FFF2-40B4-BE49-F238E27FC236}">
                <a16:creationId xmlns:a16="http://schemas.microsoft.com/office/drawing/2014/main" id="{C4235FF7-5743-4A66-96B3-A19255FA01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C74FDCA-BA74-49B1-9151-1F5489F7B62D}" type="slidenum">
              <a:rPr lang="en-US" altLang="zh-CN" sz="1200" smtClean="0">
                <a:latin typeface="Tahoma" panose="020B0604030504040204" pitchFamily="34" charset="0"/>
              </a:rPr>
              <a:pPr/>
              <a:t>15</a:t>
            </a:fld>
            <a:endParaRPr lang="en-US" altLang="zh-CN" sz="1200">
              <a:latin typeface="Tahoma" panose="020B0604030504040204" pitchFamily="34" charset="0"/>
            </a:endParaRPr>
          </a:p>
        </p:txBody>
      </p:sp>
      <p:sp>
        <p:nvSpPr>
          <p:cNvPr id="36868" name="Rectangle 2">
            <a:extLst>
              <a:ext uri="{FF2B5EF4-FFF2-40B4-BE49-F238E27FC236}">
                <a16:creationId xmlns:a16="http://schemas.microsoft.com/office/drawing/2014/main" id="{925D8B47-1508-44AF-9EEA-07E06965FBF5}"/>
              </a:ext>
            </a:extLst>
          </p:cNvPr>
          <p:cNvSpPr>
            <a:spLocks noGrp="1" noRot="1" noChangeAspect="1" noChangeArrowheads="1" noTextEdit="1"/>
          </p:cNvSpPr>
          <p:nvPr>
            <p:ph type="sldImg"/>
          </p:nvPr>
        </p:nvSpPr>
        <p:spPr>
          <a:xfrm>
            <a:off x="381000" y="685800"/>
            <a:ext cx="6096000" cy="3429000"/>
          </a:xfrm>
          <a:ln/>
        </p:spPr>
      </p:sp>
      <p:sp>
        <p:nvSpPr>
          <p:cNvPr id="36869" name="Rectangle 3">
            <a:extLst>
              <a:ext uri="{FF2B5EF4-FFF2-40B4-BE49-F238E27FC236}">
                <a16:creationId xmlns:a16="http://schemas.microsoft.com/office/drawing/2014/main" id="{20DC2521-0031-44D8-9810-C7A0A76F0F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三维结构是多肽链上的各个单键旋转自由度受到各种限制的总结果。</a:t>
            </a:r>
            <a:endParaRPr lang="en-US" altLang="zh-CN" dirty="0"/>
          </a:p>
          <a:p>
            <a:pPr eaLnBrk="1" hangingPunct="1"/>
            <a:r>
              <a:rPr lang="zh-CN" altLang="en-US" dirty="0"/>
              <a:t>这些限制包括肽键的硬度</a:t>
            </a:r>
            <a:r>
              <a:rPr lang="en-US" altLang="zh-CN" dirty="0"/>
              <a:t>, </a:t>
            </a:r>
            <a:r>
              <a:rPr lang="zh-CN" altLang="en-US" dirty="0"/>
              <a:t>即肽键的刚性平面性质</a:t>
            </a:r>
            <a:r>
              <a:rPr lang="en-US" altLang="zh-CN" dirty="0"/>
              <a:t>(C </a:t>
            </a:r>
            <a:r>
              <a:rPr lang="el-GR" altLang="zh-CN" dirty="0"/>
              <a:t>α</a:t>
            </a:r>
            <a:r>
              <a:rPr lang="en-US" altLang="zh-CN" dirty="0"/>
              <a:t>—C </a:t>
            </a:r>
            <a:r>
              <a:rPr lang="zh-CN" altLang="en-US" dirty="0"/>
              <a:t>和</a:t>
            </a:r>
            <a:r>
              <a:rPr lang="en-US" altLang="zh-CN" dirty="0"/>
              <a:t>C—N </a:t>
            </a:r>
            <a:r>
              <a:rPr lang="zh-CN" altLang="en-US" dirty="0"/>
              <a:t>键旋转的可允许角度）、肽链中疏水基和亲水基的数目和位置、带正电荷和负电荷的</a:t>
            </a:r>
            <a:r>
              <a:rPr lang="en-US" altLang="zh-CN" dirty="0"/>
              <a:t>R</a:t>
            </a:r>
            <a:r>
              <a:rPr lang="zh-CN" altLang="en-US" dirty="0"/>
              <a:t>基的数目和位置</a:t>
            </a:r>
            <a:r>
              <a:rPr lang="en-US" altLang="zh-CN" dirty="0"/>
              <a:t>, </a:t>
            </a:r>
            <a:r>
              <a:rPr lang="zh-CN" altLang="en-US" dirty="0"/>
              <a:t>以及溶剂和其他溶质等。在这些限制因素下通过</a:t>
            </a:r>
            <a:r>
              <a:rPr lang="en-US" altLang="zh-CN" dirty="0"/>
              <a:t>R </a:t>
            </a:r>
            <a:r>
              <a:rPr lang="zh-CN" altLang="en-US" dirty="0"/>
              <a:t>基团的彼此相互作用</a:t>
            </a:r>
            <a:r>
              <a:rPr lang="en-US" altLang="zh-CN" dirty="0"/>
              <a:t>, </a:t>
            </a:r>
            <a:r>
              <a:rPr lang="zh-CN" altLang="en-US" dirty="0"/>
              <a:t>以及</a:t>
            </a:r>
            <a:r>
              <a:rPr lang="en-US" altLang="zh-CN" dirty="0"/>
              <a:t>R </a:t>
            </a:r>
            <a:r>
              <a:rPr lang="zh-CN" altLang="en-US" dirty="0"/>
              <a:t>基团与溶剂及其他溶质相互作用，最后达到平衡，形成了在一定条件下热力学上最稳定的空间结构。 这样就实现了复杂生物大分子的</a:t>
            </a:r>
            <a:r>
              <a:rPr lang="zh-CN" altLang="en-US" b="1" dirty="0"/>
              <a:t>自装配</a:t>
            </a:r>
            <a:r>
              <a:rPr lang="en-US" altLang="zh-CN" b="1" dirty="0"/>
              <a:t>(self-assembly) </a:t>
            </a:r>
            <a:r>
              <a:rPr lang="zh-CN" altLang="en-US" b="1" dirty="0"/>
              <a:t>原则</a:t>
            </a:r>
            <a:r>
              <a:rPr lang="zh-CN" altLang="en-US" dirty="0"/>
              <a:t>。</a:t>
            </a:r>
          </a:p>
          <a:p>
            <a:pPr eaLnBrk="1" hangingPunct="1"/>
            <a:endParaRPr lang="en-US" altLang="zh-CN" dirty="0"/>
          </a:p>
          <a:p>
            <a:pPr eaLnBrk="1" hangingPunct="1"/>
            <a:endParaRPr lang="en-US"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fi-FI" altLang="zh-CN" dirty="0"/>
              <a:t>Ayaka Tomihari, Mako Kiyota, Akira Matsuura, Eisuke Itakura.     </a:t>
            </a:r>
            <a:r>
              <a:rPr lang="en-US" altLang="zh-CN" dirty="0"/>
              <a:t>Alpha 2-macroglobulin acts as a clearance factor in the lysosomal degradation of extracellular misfolded proteins.</a:t>
            </a:r>
            <a:r>
              <a:rPr lang="zh-CN" altLang="en-US" dirty="0"/>
              <a:t> </a:t>
            </a:r>
            <a:r>
              <a:rPr lang="en-US" altLang="zh-CN" dirty="0"/>
              <a:t>Scientific Reports.</a:t>
            </a:r>
            <a:r>
              <a:rPr lang="zh-CN" altLang="en-US" dirty="0"/>
              <a:t>  </a:t>
            </a:r>
            <a:r>
              <a:rPr lang="en-US" altLang="zh-CN" dirty="0"/>
              <a:t>2023 Mar 28;13(1):4680. </a:t>
            </a:r>
            <a:r>
              <a:rPr lang="en-US" altLang="zh-CN" dirty="0" err="1"/>
              <a:t>doi</a:t>
            </a:r>
            <a:r>
              <a:rPr lang="en-US" altLang="zh-CN" dirty="0"/>
              <a:t>: 10.1038/s41598-023-31104-x.</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
        <p:nvSpPr>
          <p:cNvPr id="4" name="日期占位符 3"/>
          <p:cNvSpPr>
            <a:spLocks noGrp="1"/>
          </p:cNvSpPr>
          <p:nvPr>
            <p:ph type="dt" idx="1"/>
          </p:nvPr>
        </p:nvSpPr>
        <p:spPr/>
        <p:txBody>
          <a:bodyPr/>
          <a:lstStyle/>
          <a:p>
            <a:pPr>
              <a:defRPr/>
            </a:pPr>
            <a:fld id="{40118AFC-F291-4DCE-93C6-D844E0A4D2D4}" type="datetime1">
              <a:rPr lang="zh-CN" altLang="en-US" smtClean="0"/>
              <a:pPr>
                <a:defRPr/>
              </a:pPr>
              <a:t>2026/9/5</a:t>
            </a:fld>
            <a:endParaRPr lang="en-US" altLang="zh-CN"/>
          </a:p>
        </p:txBody>
      </p:sp>
      <p:sp>
        <p:nvSpPr>
          <p:cNvPr id="5" name="灯片编号占位符 4"/>
          <p:cNvSpPr>
            <a:spLocks noGrp="1"/>
          </p:cNvSpPr>
          <p:nvPr>
            <p:ph type="sldNum" sz="quarter" idx="5"/>
          </p:nvPr>
        </p:nvSpPr>
        <p:spPr/>
        <p:txBody>
          <a:bodyPr/>
          <a:lstStyle/>
          <a:p>
            <a:pPr>
              <a:defRPr/>
            </a:pPr>
            <a:fld id="{47AB3041-55A2-4BC5-A258-4AB550B98638}" type="slidenum">
              <a:rPr lang="en-US" altLang="zh-CN" smtClean="0"/>
              <a:pPr>
                <a:defRPr/>
              </a:pPr>
              <a:t>16</a:t>
            </a:fld>
            <a:endParaRPr lang="en-US" altLang="zh-CN"/>
          </a:p>
        </p:txBody>
      </p:sp>
    </p:spTree>
    <p:extLst>
      <p:ext uri="{BB962C8B-B14F-4D97-AF65-F5344CB8AC3E}">
        <p14:creationId xmlns:p14="http://schemas.microsoft.com/office/powerpoint/2010/main" val="28621350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b="1" dirty="0"/>
              <a:t>同源蛋白</a:t>
            </a:r>
            <a:endParaRPr lang="en-US" altLang="zh-CN" b="1" dirty="0"/>
          </a:p>
          <a:p>
            <a:endParaRPr lang="en-US" altLang="zh-CN" dirty="0"/>
          </a:p>
          <a:p>
            <a:r>
              <a:rPr lang="zh-CN" altLang="en-US" dirty="0"/>
              <a:t>据估算，人类有</a:t>
            </a:r>
            <a:r>
              <a:rPr lang="en-US" altLang="zh-CN" dirty="0"/>
              <a:t>20%</a:t>
            </a:r>
            <a:r>
              <a:rPr lang="zh-CN" altLang="en-US" dirty="0"/>
              <a:t>～</a:t>
            </a:r>
            <a:r>
              <a:rPr lang="en-US" altLang="zh-CN" dirty="0"/>
              <a:t>30% </a:t>
            </a:r>
            <a:r>
              <a:rPr lang="zh-CN" altLang="en-US" dirty="0"/>
              <a:t>的蛋白质具有多态性（</a:t>
            </a:r>
            <a:r>
              <a:rPr lang="en-US" altLang="zh-CN" dirty="0"/>
              <a:t>polymorphism</a:t>
            </a:r>
            <a:r>
              <a:rPr lang="zh-CN" altLang="en-US" dirty="0"/>
              <a:t>），即在人类群体中的不同个体间，这些蛋白质存在着</a:t>
            </a:r>
          </a:p>
          <a:p>
            <a:r>
              <a:rPr lang="zh-CN" altLang="en-US" dirty="0"/>
              <a:t>氨基酸序列的多样性，但几乎不影响蛋白质的功能。</a:t>
            </a:r>
            <a:endParaRPr lang="en-US" altLang="zh-CN" dirty="0"/>
          </a:p>
        </p:txBody>
      </p:sp>
      <p:sp>
        <p:nvSpPr>
          <p:cNvPr id="4" name="日期占位符 3"/>
          <p:cNvSpPr>
            <a:spLocks noGrp="1"/>
          </p:cNvSpPr>
          <p:nvPr>
            <p:ph type="dt" idx="1"/>
          </p:nvPr>
        </p:nvSpPr>
        <p:spPr/>
        <p:txBody>
          <a:bodyPr/>
          <a:lstStyle/>
          <a:p>
            <a:pPr>
              <a:defRPr/>
            </a:pPr>
            <a:fld id="{40118AFC-F291-4DCE-93C6-D844E0A4D2D4}" type="datetime1">
              <a:rPr lang="zh-CN" altLang="en-US" smtClean="0"/>
              <a:pPr>
                <a:defRPr/>
              </a:pPr>
              <a:t>2026/9/5</a:t>
            </a:fld>
            <a:endParaRPr lang="en-US" altLang="zh-CN"/>
          </a:p>
        </p:txBody>
      </p:sp>
      <p:sp>
        <p:nvSpPr>
          <p:cNvPr id="5" name="灯片编号占位符 4"/>
          <p:cNvSpPr>
            <a:spLocks noGrp="1"/>
          </p:cNvSpPr>
          <p:nvPr>
            <p:ph type="sldNum" sz="quarter" idx="5"/>
          </p:nvPr>
        </p:nvSpPr>
        <p:spPr/>
        <p:txBody>
          <a:bodyPr/>
          <a:lstStyle/>
          <a:p>
            <a:pPr>
              <a:defRPr/>
            </a:pPr>
            <a:fld id="{47AB3041-55A2-4BC5-A258-4AB550B98638}" type="slidenum">
              <a:rPr lang="en-US" altLang="zh-CN" smtClean="0"/>
              <a:pPr>
                <a:defRPr/>
              </a:pPr>
              <a:t>17</a:t>
            </a:fld>
            <a:endParaRPr lang="en-US" altLang="zh-CN"/>
          </a:p>
        </p:txBody>
      </p:sp>
    </p:spTree>
    <p:extLst>
      <p:ext uri="{BB962C8B-B14F-4D97-AF65-F5344CB8AC3E}">
        <p14:creationId xmlns:p14="http://schemas.microsoft.com/office/powerpoint/2010/main" val="1181845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0" lang="zh-CN" altLang="en-US" sz="12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泛素的羧基末端羧基与靶蛋白中</a:t>
            </a:r>
            <a:r>
              <a:rPr kumimoji="0" lang="en-US" altLang="zh-CN" sz="12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Lys</a:t>
            </a:r>
            <a:r>
              <a:rPr kumimoji="0" lang="zh-CN" altLang="en-US" sz="12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的</a:t>
            </a:r>
            <a:r>
              <a:rPr kumimoji="0" lang="en-US" altLang="zh-CN" sz="12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ε-</a:t>
            </a:r>
            <a:r>
              <a:rPr kumimoji="0" lang="zh-CN" altLang="en-US" sz="12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氨基反应生成异肽键，可能约</a:t>
            </a:r>
            <a:r>
              <a:rPr kumimoji="0" lang="en-US" altLang="zh-CN" sz="12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20 </a:t>
            </a:r>
            <a:r>
              <a:rPr kumimoji="0" lang="zh-CN" altLang="en-US" sz="12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个泛素分子依次与靶蛋白质分子相连接，形成多泛素链，每一泛素的</a:t>
            </a:r>
            <a:r>
              <a:rPr kumimoji="0" lang="en-US" altLang="zh-CN" sz="12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Lys48 </a:t>
            </a:r>
            <a:r>
              <a:rPr kumimoji="0" lang="zh-CN" altLang="en-US" sz="12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都与下一个泛素的</a:t>
            </a:r>
            <a:r>
              <a:rPr kumimoji="0" lang="en-US" altLang="zh-CN" sz="12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 </a:t>
            </a:r>
            <a:r>
              <a:rPr kumimoji="0" lang="zh-CN" altLang="en-US" sz="12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端羧基相连，生成异肽键。</a:t>
            </a:r>
          </a:p>
          <a:p>
            <a:endParaRPr kumimoji="0" lang="zh-CN" altLang="en-US" sz="12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最新发现：不依赖于泛素的蛋白酶体内的蛋白降解途径：</a:t>
            </a:r>
            <a:r>
              <a:rPr lang="en-US" altLang="zh-CN" b="1" i="0" dirty="0">
                <a:solidFill>
                  <a:srgbClr val="1A1A1A"/>
                </a:solidFill>
                <a:effectLst/>
                <a:latin typeface="roboto" panose="02000000000000000000" pitchFamily="2" charset="0"/>
              </a:rPr>
              <a:t>The </a:t>
            </a:r>
            <a:r>
              <a:rPr lang="en-US" altLang="zh-CN" b="1" i="0" dirty="0" err="1">
                <a:solidFill>
                  <a:srgbClr val="1A1A1A"/>
                </a:solidFill>
                <a:effectLst/>
                <a:latin typeface="roboto" panose="02000000000000000000" pitchFamily="2" charset="0"/>
              </a:rPr>
              <a:t>midnolin</a:t>
            </a:r>
            <a:r>
              <a:rPr lang="en-US" altLang="zh-CN" b="1" i="0" dirty="0">
                <a:solidFill>
                  <a:srgbClr val="1A1A1A"/>
                </a:solidFill>
                <a:effectLst/>
                <a:latin typeface="roboto" panose="02000000000000000000" pitchFamily="2" charset="0"/>
              </a:rPr>
              <a:t>-proteasome pathway catches proteins for ubiquitination-independent degradation</a:t>
            </a:r>
            <a:r>
              <a:rPr lang="zh-CN" altLang="en-US" b="1" i="0" dirty="0">
                <a:solidFill>
                  <a:srgbClr val="1A1A1A"/>
                </a:solidFill>
                <a:effectLst/>
                <a:latin typeface="roboto" panose="02000000000000000000" pitchFamily="2" charset="0"/>
              </a:rPr>
              <a:t>．</a:t>
            </a:r>
            <a:r>
              <a:rPr lang="en-US" altLang="zh-CN" b="1" i="0" dirty="0">
                <a:solidFill>
                  <a:srgbClr val="1A1A1A"/>
                </a:solidFill>
                <a:effectLst/>
                <a:latin typeface="roboto" panose="02000000000000000000" pitchFamily="2" charset="0"/>
              </a:rPr>
              <a:t>SCIENCE</a:t>
            </a:r>
            <a:r>
              <a:rPr lang="zh-CN" altLang="en-US" b="1" i="0" dirty="0">
                <a:solidFill>
                  <a:srgbClr val="1A1A1A"/>
                </a:solidFill>
                <a:effectLst/>
                <a:latin typeface="roboto" panose="02000000000000000000" pitchFamily="2" charset="0"/>
              </a:rPr>
              <a:t>　</a:t>
            </a:r>
            <a:r>
              <a:rPr lang="en-US" altLang="zh-CN" b="1" i="0" dirty="0">
                <a:solidFill>
                  <a:srgbClr val="1A1A1A"/>
                </a:solidFill>
                <a:effectLst/>
                <a:latin typeface="roboto" panose="02000000000000000000" pitchFamily="2" charset="0"/>
              </a:rPr>
              <a:t>25 Aug 2023</a:t>
            </a:r>
            <a:r>
              <a:rPr lang="zh-CN" altLang="en-US" b="1" i="0" dirty="0">
                <a:solidFill>
                  <a:srgbClr val="1A1A1A"/>
                </a:solidFill>
                <a:effectLst/>
                <a:latin typeface="roboto" panose="02000000000000000000" pitchFamily="2" charset="0"/>
              </a:rPr>
              <a:t>　</a:t>
            </a:r>
            <a:r>
              <a:rPr lang="en-US" altLang="zh-CN" b="1" i="0" dirty="0">
                <a:solidFill>
                  <a:srgbClr val="1A1A1A"/>
                </a:solidFill>
                <a:effectLst/>
                <a:latin typeface="roboto" panose="02000000000000000000" pitchFamily="2" charset="0"/>
              </a:rPr>
              <a:t>Vol 381, Issue 6660</a:t>
            </a:r>
            <a:r>
              <a:rPr lang="zh-CN" altLang="en-US" b="1" i="0" dirty="0">
                <a:solidFill>
                  <a:srgbClr val="1A1A1A"/>
                </a:solidFill>
                <a:effectLst/>
                <a:latin typeface="roboto" panose="02000000000000000000" pitchFamily="2" charset="0"/>
              </a:rPr>
              <a:t>　</a:t>
            </a:r>
            <a:r>
              <a:rPr lang="en-US" altLang="zh-CN" b="1" i="0" dirty="0">
                <a:solidFill>
                  <a:srgbClr val="1A1A1A"/>
                </a:solidFill>
                <a:effectLst/>
                <a:latin typeface="roboto" panose="02000000000000000000" pitchFamily="2" charset="0"/>
              </a:rPr>
              <a:t>DOI: 10.1126/science.adh502</a:t>
            </a:r>
          </a:p>
          <a:p>
            <a:endParaRPr lang="en-US" altLang="zh-CN" dirty="0"/>
          </a:p>
        </p:txBody>
      </p:sp>
      <p:sp>
        <p:nvSpPr>
          <p:cNvPr id="4" name="日期占位符 3"/>
          <p:cNvSpPr>
            <a:spLocks noGrp="1"/>
          </p:cNvSpPr>
          <p:nvPr>
            <p:ph type="dt" idx="1"/>
          </p:nvPr>
        </p:nvSpPr>
        <p:spPr/>
        <p:txBody>
          <a:bodyPr/>
          <a:lstStyle/>
          <a:p>
            <a:pPr>
              <a:defRPr/>
            </a:pPr>
            <a:fld id="{40118AFC-F291-4DCE-93C6-D844E0A4D2D4}" type="datetime1">
              <a:rPr lang="zh-CN" altLang="en-US" smtClean="0"/>
              <a:pPr>
                <a:defRPr/>
              </a:pPr>
              <a:t>2026/9/5</a:t>
            </a:fld>
            <a:endParaRPr lang="en-US" altLang="zh-CN"/>
          </a:p>
        </p:txBody>
      </p:sp>
      <p:sp>
        <p:nvSpPr>
          <p:cNvPr id="5" name="灯片编号占位符 4"/>
          <p:cNvSpPr>
            <a:spLocks noGrp="1"/>
          </p:cNvSpPr>
          <p:nvPr>
            <p:ph type="sldNum" sz="quarter" idx="5"/>
          </p:nvPr>
        </p:nvSpPr>
        <p:spPr/>
        <p:txBody>
          <a:bodyPr/>
          <a:lstStyle/>
          <a:p>
            <a:pPr>
              <a:defRPr/>
            </a:pPr>
            <a:fld id="{47AB3041-55A2-4BC5-A258-4AB550B98638}" type="slidenum">
              <a:rPr lang="en-US" altLang="zh-CN" smtClean="0"/>
              <a:pPr>
                <a:defRPr/>
              </a:pPr>
              <a:t>18</a:t>
            </a:fld>
            <a:endParaRPr lang="en-US" altLang="zh-CN"/>
          </a:p>
        </p:txBody>
      </p:sp>
    </p:spTree>
    <p:extLst>
      <p:ext uri="{BB962C8B-B14F-4D97-AF65-F5344CB8AC3E}">
        <p14:creationId xmlns:p14="http://schemas.microsoft.com/office/powerpoint/2010/main" val="41886088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4645D4C6-6532-4D49-A2AB-4D39E27F4A0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8B88FDD-F323-4F03-BE21-50BCF1BF63FA}"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41987" name="Rectangle 7">
            <a:extLst>
              <a:ext uri="{FF2B5EF4-FFF2-40B4-BE49-F238E27FC236}">
                <a16:creationId xmlns:a16="http://schemas.microsoft.com/office/drawing/2014/main" id="{A85F3293-5848-4BEF-BDC0-A4FA62D478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516D673-BCF7-45B8-8D17-CA4148306F47}" type="slidenum">
              <a:rPr lang="en-US" altLang="zh-CN" sz="1200" smtClean="0">
                <a:latin typeface="Tahoma" panose="020B0604030504040204" pitchFamily="34" charset="0"/>
              </a:rPr>
              <a:pPr/>
              <a:t>19</a:t>
            </a:fld>
            <a:endParaRPr lang="en-US" altLang="zh-CN" sz="1200">
              <a:latin typeface="Tahoma" panose="020B0604030504040204" pitchFamily="34" charset="0"/>
            </a:endParaRPr>
          </a:p>
        </p:txBody>
      </p:sp>
      <p:sp>
        <p:nvSpPr>
          <p:cNvPr id="41988" name="Rectangle 2">
            <a:extLst>
              <a:ext uri="{FF2B5EF4-FFF2-40B4-BE49-F238E27FC236}">
                <a16:creationId xmlns:a16="http://schemas.microsoft.com/office/drawing/2014/main" id="{BD318C14-36D7-4E65-972A-25B2F01D35BC}"/>
              </a:ext>
            </a:extLst>
          </p:cNvPr>
          <p:cNvSpPr>
            <a:spLocks noGrp="1" noRot="1" noChangeAspect="1" noChangeArrowheads="1" noTextEdit="1"/>
          </p:cNvSpPr>
          <p:nvPr>
            <p:ph type="sldImg"/>
          </p:nvPr>
        </p:nvSpPr>
        <p:spPr>
          <a:xfrm>
            <a:off x="381000" y="685800"/>
            <a:ext cx="6096000" cy="3429000"/>
          </a:xfrm>
          <a:ln/>
        </p:spPr>
      </p:sp>
      <p:sp>
        <p:nvSpPr>
          <p:cNvPr id="41989" name="Rectangle 3">
            <a:extLst>
              <a:ext uri="{FF2B5EF4-FFF2-40B4-BE49-F238E27FC236}">
                <a16:creationId xmlns:a16="http://schemas.microsoft.com/office/drawing/2014/main" id="{55D456E2-5A94-4AFD-98E0-49B203869C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spcBef>
                <a:spcPct val="0"/>
              </a:spcBef>
            </a:pPr>
            <a:r>
              <a:rPr lang="zh-CN" altLang="en-US" dirty="0"/>
              <a:t>细胞色素</a:t>
            </a:r>
            <a:r>
              <a:rPr lang="en-US" altLang="zh-CN" dirty="0"/>
              <a:t>C</a:t>
            </a:r>
            <a:r>
              <a:rPr lang="zh-CN" altLang="en-US" dirty="0"/>
              <a:t>是一种比较古老的蛋白质，从酵母菌到人，各种生物都具有细胞色素</a:t>
            </a:r>
            <a:r>
              <a:rPr lang="en-US" altLang="zh-CN" dirty="0"/>
              <a:t>C</a:t>
            </a:r>
            <a:r>
              <a:rPr lang="zh-CN" altLang="en-US" dirty="0"/>
              <a:t>，这种蛋白质已进化了</a:t>
            </a:r>
            <a:r>
              <a:rPr lang="en-US" altLang="zh-CN" dirty="0"/>
              <a:t>15</a:t>
            </a:r>
            <a:r>
              <a:rPr lang="zh-CN" altLang="en-US" dirty="0"/>
              <a:t>亿年。</a:t>
            </a:r>
            <a:r>
              <a:rPr lang="en-US" altLang="zh-CN" dirty="0"/>
              <a:t>15</a:t>
            </a:r>
            <a:r>
              <a:rPr lang="zh-CN" altLang="en-US" dirty="0"/>
              <a:t>亿年前，动植物分家。</a:t>
            </a:r>
            <a:endParaRPr lang="en-US" altLang="zh-CN" dirty="0"/>
          </a:p>
          <a:p>
            <a:pPr eaLnBrk="1" hangingPunct="1"/>
            <a:endParaRPr lang="en-US" altLang="zh-CN" dirty="0"/>
          </a:p>
          <a:p>
            <a:pPr eaLnBrk="1" hangingPunct="1"/>
            <a:r>
              <a:rPr lang="zh-CN" altLang="en-US" dirty="0"/>
              <a:t>不同生物细胞色素</a:t>
            </a:r>
            <a:r>
              <a:rPr lang="en-US" altLang="zh-CN" dirty="0"/>
              <a:t>C</a:t>
            </a:r>
            <a:r>
              <a:rPr lang="zh-CN" altLang="en-US" dirty="0"/>
              <a:t>的氨基酸残基数不完全相同，如昆虫有</a:t>
            </a:r>
            <a:r>
              <a:rPr lang="en-US" altLang="zh-CN" dirty="0"/>
              <a:t>108</a:t>
            </a:r>
            <a:r>
              <a:rPr lang="zh-CN" altLang="en-US" dirty="0"/>
              <a:t>个氨基酸残基，植物有</a:t>
            </a:r>
            <a:r>
              <a:rPr lang="en-US" altLang="zh-CN" dirty="0"/>
              <a:t>112</a:t>
            </a:r>
            <a:r>
              <a:rPr lang="zh-CN" altLang="en-US" dirty="0"/>
              <a:t>个氨基酸残基  </a:t>
            </a:r>
            <a:br>
              <a:rPr lang="zh-CN" altLang="en-US" dirty="0"/>
            </a:br>
            <a:r>
              <a:rPr lang="zh-CN" altLang="en-US" dirty="0"/>
              <a:t>  </a:t>
            </a:r>
            <a:br>
              <a:rPr lang="zh-CN" altLang="en-US" dirty="0"/>
            </a:b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3BB2C6D9-9316-4E70-A088-48A9F80A3E72}"/>
              </a:ext>
            </a:extLst>
          </p:cNvPr>
          <p:cNvSpPr>
            <a:spLocks noGrp="1" noRot="1" noChangeAspect="1" noChangeArrowheads="1" noTextEdit="1"/>
          </p:cNvSpPr>
          <p:nvPr>
            <p:ph type="sldImg"/>
          </p:nvPr>
        </p:nvSpPr>
        <p:spPr>
          <a:xfrm>
            <a:off x="381000" y="685800"/>
            <a:ext cx="6096000" cy="3429000"/>
          </a:xfrm>
          <a:ln/>
        </p:spPr>
      </p:sp>
      <p:sp>
        <p:nvSpPr>
          <p:cNvPr id="44035" name="备注占位符 2">
            <a:extLst>
              <a:ext uri="{FF2B5EF4-FFF2-40B4-BE49-F238E27FC236}">
                <a16:creationId xmlns:a16="http://schemas.microsoft.com/office/drawing/2014/main" id="{2FDB26AE-0E68-4130-A1A3-F12FD5285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Figure 5.20  This phylogenetic tree depicts the evolutionary relationships among organisms as determined by the similarity of their cytochrome c amino acid sequences. </a:t>
            </a:r>
            <a:r>
              <a:rPr lang="en-US" altLang="zh-CN" b="1" dirty="0"/>
              <a:t>The numbers along the branches give the amino acid changes between a species and a hypothetical progenitor</a:t>
            </a:r>
            <a:r>
              <a:rPr lang="en-US" altLang="zh-CN" dirty="0"/>
              <a:t>. Note that extant species are located only at the tips of branches. </a:t>
            </a:r>
            <a:r>
              <a:rPr lang="en-US" altLang="zh-CN" b="1" dirty="0"/>
              <a:t>Below, the sequence of human cytochrome c is compared with an inferred ancestral sequence represented by the base of the tree. </a:t>
            </a:r>
            <a:r>
              <a:rPr lang="en-US" altLang="zh-CN" dirty="0"/>
              <a:t>Uncertainties are denoted by question marks. (Adapted from Creighton, T. E., </a:t>
            </a:r>
            <a:r>
              <a:rPr lang="en-US" altLang="zh-CN" b="1" dirty="0"/>
              <a:t>1983. </a:t>
            </a:r>
            <a:r>
              <a:rPr lang="en-US" altLang="zh-CN" dirty="0"/>
              <a:t>Proteins: Structure and Molecular Properties. San Francisco: W. H. Freeman.)</a:t>
            </a:r>
            <a:endParaRPr lang="zh-CN" altLang="en-US" dirty="0"/>
          </a:p>
        </p:txBody>
      </p:sp>
      <p:sp>
        <p:nvSpPr>
          <p:cNvPr id="44036" name="日期占位符 3">
            <a:extLst>
              <a:ext uri="{FF2B5EF4-FFF2-40B4-BE49-F238E27FC236}">
                <a16:creationId xmlns:a16="http://schemas.microsoft.com/office/drawing/2014/main" id="{17E6E3BE-6467-4EAE-A766-0DCCCF8CB92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2067B8A-15B6-466E-8176-826D1A6BCB06}"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44037" name="灯片编号占位符 4">
            <a:extLst>
              <a:ext uri="{FF2B5EF4-FFF2-40B4-BE49-F238E27FC236}">
                <a16:creationId xmlns:a16="http://schemas.microsoft.com/office/drawing/2014/main" id="{E89ABC05-FCD1-4A9D-98BD-1A9CFF6E9D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D3F7B05-D053-4A51-9B23-832ADA5D290C}" type="slidenum">
              <a:rPr lang="en-US" altLang="zh-CN" sz="1200" smtClean="0">
                <a:latin typeface="Tahoma" panose="020B0604030504040204" pitchFamily="34" charset="0"/>
              </a:rPr>
              <a:pPr/>
              <a:t>20</a:t>
            </a:fld>
            <a:endParaRPr lang="en-US" altLang="zh-CN" sz="1200">
              <a:latin typeface="Tahoma" panose="020B060403050404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EB5C0102-D973-4E6A-B1DF-3513FB342C1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DD7F4F8-471D-49A9-87EC-93731AE8C513}"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46083" name="Rectangle 7">
            <a:extLst>
              <a:ext uri="{FF2B5EF4-FFF2-40B4-BE49-F238E27FC236}">
                <a16:creationId xmlns:a16="http://schemas.microsoft.com/office/drawing/2014/main" id="{2F90A757-A788-4A7C-B625-32A46EA8A2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77D5D95-04F0-420B-9163-406EC640F4A0}" type="slidenum">
              <a:rPr lang="en-US" altLang="zh-CN" sz="1200" smtClean="0">
                <a:latin typeface="Tahoma" panose="020B0604030504040204" pitchFamily="34" charset="0"/>
              </a:rPr>
              <a:pPr/>
              <a:t>21</a:t>
            </a:fld>
            <a:endParaRPr lang="en-US" altLang="zh-CN" sz="1200">
              <a:latin typeface="Tahoma" panose="020B0604030504040204" pitchFamily="34" charset="0"/>
            </a:endParaRPr>
          </a:p>
        </p:txBody>
      </p:sp>
      <p:sp>
        <p:nvSpPr>
          <p:cNvPr id="46084" name="Rectangle 2">
            <a:extLst>
              <a:ext uri="{FF2B5EF4-FFF2-40B4-BE49-F238E27FC236}">
                <a16:creationId xmlns:a16="http://schemas.microsoft.com/office/drawing/2014/main" id="{9E52819C-CC30-4C28-87AF-36634F1B22B6}"/>
              </a:ext>
            </a:extLst>
          </p:cNvPr>
          <p:cNvSpPr>
            <a:spLocks noGrp="1" noRot="1" noChangeAspect="1" noChangeArrowheads="1" noTextEdit="1"/>
          </p:cNvSpPr>
          <p:nvPr>
            <p:ph type="sldImg"/>
          </p:nvPr>
        </p:nvSpPr>
        <p:spPr>
          <a:xfrm>
            <a:off x="381000" y="685800"/>
            <a:ext cx="6096000" cy="3429000"/>
          </a:xfrm>
          <a:ln/>
        </p:spPr>
      </p:sp>
      <p:sp>
        <p:nvSpPr>
          <p:cNvPr id="46085" name="Rectangle 3">
            <a:extLst>
              <a:ext uri="{FF2B5EF4-FFF2-40B4-BE49-F238E27FC236}">
                <a16:creationId xmlns:a16="http://schemas.microsoft.com/office/drawing/2014/main" id="{5DF1D964-2B61-4FA7-B64D-4EA1A05D73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spcBef>
                <a:spcPct val="0"/>
              </a:spcBef>
            </a:pPr>
            <a:r>
              <a:rPr lang="zh-CN" altLang="en-US" dirty="0"/>
              <a:t>氨基酸的差异不是随机的，由自然选择保留下来。比较一些广泛存在于生物界的蛋白质的一级结构，可以帮助了解物种进化间的关系。 </a:t>
            </a:r>
            <a:endParaRPr lang="en-US" altLang="zh-CN" dirty="0"/>
          </a:p>
          <a:p>
            <a:pPr eaLnBrk="1" hangingPunct="1">
              <a:lnSpc>
                <a:spcPct val="150000"/>
              </a:lnSpc>
              <a:spcBef>
                <a:spcPct val="0"/>
              </a:spcBef>
            </a:pPr>
            <a:endParaRPr lang="en-US"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a:extLst>
              <a:ext uri="{FF2B5EF4-FFF2-40B4-BE49-F238E27FC236}">
                <a16:creationId xmlns:a16="http://schemas.microsoft.com/office/drawing/2014/main" id="{0043101A-294F-4B5F-8D88-343FFC3AEC4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1BA6F47-2192-4595-AB27-28C46ADE2CEC}"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48131" name="Rectangle 7">
            <a:extLst>
              <a:ext uri="{FF2B5EF4-FFF2-40B4-BE49-F238E27FC236}">
                <a16:creationId xmlns:a16="http://schemas.microsoft.com/office/drawing/2014/main" id="{2BD8378F-F489-445A-8D19-D7C6E26065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CDE4BDC-E528-46BB-89AC-1552BD312DC5}" type="slidenum">
              <a:rPr lang="en-US" altLang="zh-CN" sz="1200" smtClean="0">
                <a:latin typeface="Tahoma" panose="020B0604030504040204" pitchFamily="34" charset="0"/>
              </a:rPr>
              <a:pPr/>
              <a:t>22</a:t>
            </a:fld>
            <a:endParaRPr lang="en-US" altLang="zh-CN" sz="1200">
              <a:latin typeface="Tahoma" panose="020B0604030504040204" pitchFamily="34" charset="0"/>
            </a:endParaRPr>
          </a:p>
        </p:txBody>
      </p:sp>
      <p:sp>
        <p:nvSpPr>
          <p:cNvPr id="48132" name="Rectangle 2">
            <a:extLst>
              <a:ext uri="{FF2B5EF4-FFF2-40B4-BE49-F238E27FC236}">
                <a16:creationId xmlns:a16="http://schemas.microsoft.com/office/drawing/2014/main" id="{94C80732-7804-4F2E-91ED-A487D54E2E84}"/>
              </a:ext>
            </a:extLst>
          </p:cNvPr>
          <p:cNvSpPr>
            <a:spLocks noGrp="1" noRot="1" noChangeAspect="1" noChangeArrowheads="1" noTextEdit="1"/>
          </p:cNvSpPr>
          <p:nvPr>
            <p:ph type="sldImg"/>
          </p:nvPr>
        </p:nvSpPr>
        <p:spPr>
          <a:xfrm>
            <a:off x="381000" y="685800"/>
            <a:ext cx="6096000" cy="3429000"/>
          </a:xfrm>
          <a:ln/>
        </p:spPr>
      </p:sp>
      <p:sp>
        <p:nvSpPr>
          <p:cNvPr id="48133" name="Rectangle 3">
            <a:extLst>
              <a:ext uri="{FF2B5EF4-FFF2-40B4-BE49-F238E27FC236}">
                <a16:creationId xmlns:a16="http://schemas.microsoft.com/office/drawing/2014/main" id="{7DF5E761-667C-4308-8F5B-31421EA494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5000"/>
              </a:lnSpc>
              <a:buFont typeface="Wingdings" panose="05000000000000000000" pitchFamily="2" charset="2"/>
              <a:buNone/>
            </a:pPr>
            <a:r>
              <a:rPr lang="zh-CN" altLang="en-US" dirty="0"/>
              <a:t>黑人中多见。</a:t>
            </a:r>
            <a:endParaRPr lang="en-US" altLang="zh-CN" dirty="0"/>
          </a:p>
          <a:p>
            <a:pPr eaLnBrk="1" hangingPunct="1">
              <a:lnSpc>
                <a:spcPct val="125000"/>
              </a:lnSpc>
              <a:buFont typeface="Wingdings" panose="05000000000000000000" pitchFamily="2" charset="2"/>
              <a:buNone/>
            </a:pPr>
            <a:endParaRPr lang="zh-CN" altLang="en-US" sz="900" dirty="0"/>
          </a:p>
          <a:p>
            <a:pPr eaLnBrk="1" hangingPunct="1">
              <a:lnSpc>
                <a:spcPct val="125000"/>
              </a:lnSpc>
              <a:buFont typeface="Wingdings" panose="05000000000000000000" pitchFamily="2" charset="2"/>
              <a:buNone/>
            </a:pPr>
            <a:r>
              <a:rPr lang="zh-CN" altLang="en-US" sz="900" dirty="0"/>
              <a:t>现在可以通过常规输血阻止这类疾病的发病，但迄今还没有能真正治愈的药物。 有多项基因治疗试验正进行。</a:t>
            </a:r>
            <a:endParaRPr lang="en-US" altLang="zh-CN" sz="900" dirty="0"/>
          </a:p>
          <a:p>
            <a:pPr eaLnBrk="1" hangingPunct="1">
              <a:lnSpc>
                <a:spcPct val="125000"/>
              </a:lnSpc>
              <a:buFont typeface="Wingdings" panose="05000000000000000000" pitchFamily="2" charset="2"/>
              <a:buNone/>
            </a:pPr>
            <a:br>
              <a:rPr lang="zh-CN" altLang="en-US" sz="900" dirty="0"/>
            </a:br>
            <a:r>
              <a:rPr lang="en-US" altLang="zh-CN" sz="1100" b="0" i="0" dirty="0">
                <a:effectLst/>
                <a:latin typeface="-apple-system-font"/>
              </a:rPr>
              <a:t>2020</a:t>
            </a:r>
            <a:r>
              <a:rPr lang="zh-CN" altLang="en-US" sz="1100" b="0" i="0" dirty="0">
                <a:effectLst/>
                <a:latin typeface="-apple-system-font"/>
              </a:rPr>
              <a:t>年</a:t>
            </a:r>
            <a:r>
              <a:rPr lang="en-US" altLang="zh-CN" sz="1100" b="0" i="0" dirty="0">
                <a:effectLst/>
                <a:latin typeface="-apple-system-font"/>
              </a:rPr>
              <a:t>12</a:t>
            </a:r>
            <a:r>
              <a:rPr lang="zh-CN" altLang="en-US" sz="1100" b="0" i="0" dirty="0">
                <a:effectLst/>
                <a:latin typeface="-apple-system-font"/>
              </a:rPr>
              <a:t>月</a:t>
            </a:r>
            <a:r>
              <a:rPr lang="en-US" altLang="zh-CN" sz="1100" b="0" i="0" dirty="0">
                <a:effectLst/>
                <a:latin typeface="-apple-system-font"/>
              </a:rPr>
              <a:t>5</a:t>
            </a:r>
            <a:r>
              <a:rPr lang="zh-CN" altLang="en-US" sz="1100" b="0" i="0" dirty="0">
                <a:effectLst/>
                <a:latin typeface="-apple-system-font"/>
              </a:rPr>
              <a:t>日，</a:t>
            </a:r>
            <a:r>
              <a:rPr lang="en-US" altLang="zh-CN" sz="1100" b="0" i="0" dirty="0">
                <a:effectLst/>
                <a:latin typeface="-apple-system-font"/>
              </a:rPr>
              <a:t>《</a:t>
            </a:r>
            <a:r>
              <a:rPr lang="zh-CN" altLang="en-US" sz="1100" b="1" i="0" dirty="0">
                <a:effectLst/>
                <a:latin typeface="-apple-system-font"/>
              </a:rPr>
              <a:t>新英格兰医学期刊</a:t>
            </a:r>
            <a:r>
              <a:rPr lang="en-US" altLang="zh-CN" sz="1100" b="0" i="0" dirty="0">
                <a:effectLst/>
                <a:latin typeface="-apple-system-font"/>
              </a:rPr>
              <a:t>》</a:t>
            </a:r>
            <a:r>
              <a:rPr lang="en-US" altLang="zh-CN" sz="1100" b="1" i="1" dirty="0">
                <a:effectLst/>
                <a:latin typeface="-apple-system-font"/>
              </a:rPr>
              <a:t>NEJM </a:t>
            </a:r>
            <a:r>
              <a:rPr lang="zh-CN" altLang="en-US" sz="1100" b="0" i="0" dirty="0">
                <a:effectLst/>
                <a:latin typeface="-apple-system-font"/>
              </a:rPr>
              <a:t>同期发表了两项关于</a:t>
            </a:r>
            <a:r>
              <a:rPr lang="en-US" altLang="zh-CN" sz="1100" b="1" i="0" dirty="0">
                <a:solidFill>
                  <a:srgbClr val="D92142"/>
                </a:solidFill>
                <a:effectLst/>
                <a:latin typeface="-apple-system-font"/>
              </a:rPr>
              <a:t>β-</a:t>
            </a:r>
            <a:r>
              <a:rPr lang="zh-CN" altLang="en-US" sz="1100" b="1" i="0" dirty="0">
                <a:solidFill>
                  <a:srgbClr val="D92142"/>
                </a:solidFill>
                <a:effectLst/>
                <a:latin typeface="-apple-system-font"/>
              </a:rPr>
              <a:t>地中海贫血症</a:t>
            </a:r>
            <a:r>
              <a:rPr lang="zh-CN" altLang="en-US" sz="1100" b="0" i="0" dirty="0">
                <a:effectLst/>
                <a:latin typeface="-apple-system-font"/>
              </a:rPr>
              <a:t>和</a:t>
            </a:r>
            <a:r>
              <a:rPr lang="zh-CN" altLang="en-US" sz="1100" b="1" i="0" dirty="0">
                <a:solidFill>
                  <a:srgbClr val="D92142"/>
                </a:solidFill>
                <a:effectLst/>
                <a:latin typeface="-apple-system-font"/>
              </a:rPr>
              <a:t>镰刀状细胞贫血症</a:t>
            </a:r>
            <a:r>
              <a:rPr lang="zh-CN" altLang="en-US" sz="1100" b="0" i="0" dirty="0">
                <a:effectLst/>
                <a:latin typeface="-apple-system-font"/>
              </a:rPr>
              <a:t>的</a:t>
            </a:r>
            <a:r>
              <a:rPr lang="zh-CN" altLang="en-US" sz="1100" b="1" i="0" dirty="0">
                <a:effectLst/>
                <a:latin typeface="-apple-system-font"/>
              </a:rPr>
              <a:t>基因治疗临床试验</a:t>
            </a:r>
            <a:r>
              <a:rPr lang="zh-CN" altLang="en-US" sz="1100" b="0" i="0" dirty="0">
                <a:effectLst/>
                <a:latin typeface="-apple-system-font"/>
              </a:rPr>
              <a:t>。</a:t>
            </a:r>
            <a:r>
              <a:rPr lang="zh-CN" altLang="en-US" sz="1600" b="1" dirty="0">
                <a:solidFill>
                  <a:srgbClr val="888888"/>
                </a:solidFill>
                <a:effectLst/>
              </a:rPr>
              <a:t>论文链接：</a:t>
            </a:r>
            <a:br>
              <a:rPr lang="zh-CN" altLang="en-US" sz="1600" dirty="0"/>
            </a:br>
            <a:r>
              <a:rPr lang="en-US" altLang="zh-CN" sz="1600" dirty="0">
                <a:solidFill>
                  <a:srgbClr val="888888"/>
                </a:solidFill>
                <a:effectLst/>
              </a:rPr>
              <a:t>https://www.nejm.org/doi/full/10.1056/NEJMoa2031054?query=featured_home</a:t>
            </a:r>
          </a:p>
          <a:p>
            <a:pPr eaLnBrk="1" hangingPunct="1">
              <a:lnSpc>
                <a:spcPct val="125000"/>
              </a:lnSpc>
              <a:buFont typeface="Wingdings" panose="05000000000000000000" pitchFamily="2" charset="2"/>
              <a:buNone/>
            </a:pPr>
            <a:r>
              <a:rPr lang="en-US" altLang="zh-CN" sz="1600" dirty="0">
                <a:solidFill>
                  <a:srgbClr val="888888"/>
                </a:solidFill>
                <a:effectLst/>
              </a:rPr>
              <a:t>https://www.nejm.org/doi/full/10.1056/NEJMoa2029392?query=featured_home</a:t>
            </a:r>
            <a:endParaRPr lang="zh-CN" altLang="en-US" sz="1100" b="0" i="0" dirty="0">
              <a:effectLst/>
              <a:latin typeface="-apple-system-font"/>
            </a:endParaRPr>
          </a:p>
          <a:p>
            <a:pPr algn="just"/>
            <a:r>
              <a:rPr lang="zh-CN" altLang="en-US" sz="1100" b="0" i="0" dirty="0">
                <a:effectLst/>
                <a:latin typeface="-apple-system-font"/>
              </a:rPr>
              <a:t>一项利用</a:t>
            </a:r>
            <a:r>
              <a:rPr lang="en-US" altLang="zh-CN" sz="1100" b="0" i="0" dirty="0">
                <a:solidFill>
                  <a:srgbClr val="D92142"/>
                </a:solidFill>
                <a:effectLst/>
                <a:latin typeface="-apple-system-font"/>
              </a:rPr>
              <a:t>CRISPR-Cas9</a:t>
            </a:r>
            <a:r>
              <a:rPr lang="zh-CN" altLang="en-US" sz="1100" b="0" i="0" dirty="0">
                <a:solidFill>
                  <a:srgbClr val="D92142"/>
                </a:solidFill>
                <a:effectLst/>
                <a:latin typeface="-apple-system-font"/>
              </a:rPr>
              <a:t>基因编辑</a:t>
            </a:r>
            <a:r>
              <a:rPr lang="zh-CN" altLang="en-US" sz="1100" b="0" i="0" dirty="0">
                <a:effectLst/>
                <a:latin typeface="-apple-system-font"/>
              </a:rPr>
              <a:t>技术治疗</a:t>
            </a:r>
            <a:r>
              <a:rPr lang="en-US" altLang="zh-CN" sz="1100" b="1" i="0" dirty="0">
                <a:solidFill>
                  <a:srgbClr val="D92142"/>
                </a:solidFill>
                <a:effectLst/>
                <a:latin typeface="-apple-system-font"/>
              </a:rPr>
              <a:t>β-</a:t>
            </a:r>
            <a:r>
              <a:rPr lang="zh-CN" altLang="en-US" sz="1100" b="1" i="0" dirty="0">
                <a:solidFill>
                  <a:srgbClr val="D92142"/>
                </a:solidFill>
                <a:effectLst/>
                <a:latin typeface="-apple-system-font"/>
              </a:rPr>
              <a:t>地中海贫血症</a:t>
            </a:r>
            <a:r>
              <a:rPr lang="zh-CN" altLang="en-US" sz="1100" b="0" i="0" dirty="0">
                <a:effectLst/>
                <a:latin typeface="-apple-system-font"/>
              </a:rPr>
              <a:t>和</a:t>
            </a:r>
            <a:r>
              <a:rPr lang="zh-CN" altLang="en-US" sz="1100" b="1" i="0" dirty="0">
                <a:solidFill>
                  <a:srgbClr val="D92142"/>
                </a:solidFill>
                <a:effectLst/>
                <a:latin typeface="-apple-system-font"/>
              </a:rPr>
              <a:t>镰刀状细胞贫血症。   </a:t>
            </a:r>
            <a:endParaRPr lang="en-US" altLang="zh-CN" sz="1100" b="1" i="0" dirty="0">
              <a:solidFill>
                <a:srgbClr val="D92142"/>
              </a:solidFill>
              <a:effectLst/>
              <a:latin typeface="-apple-system-font"/>
            </a:endParaRPr>
          </a:p>
          <a:p>
            <a:pPr lvl="0" algn="l"/>
            <a:r>
              <a:rPr lang="en-US" altLang="zh-CN" sz="1600" b="1" i="0" dirty="0">
                <a:effectLst/>
              </a:rPr>
              <a:t>BCL11A</a:t>
            </a:r>
            <a:r>
              <a:rPr lang="zh-CN" altLang="en-US" sz="1600" i="0" dirty="0">
                <a:effectLst/>
              </a:rPr>
              <a:t>是一种转录因子，可抑制红系细胞中的</a:t>
            </a:r>
            <a:r>
              <a:rPr lang="en-US" altLang="zh-CN" sz="1600" i="0" dirty="0">
                <a:effectLst/>
              </a:rPr>
              <a:t>γ-</a:t>
            </a:r>
            <a:r>
              <a:rPr lang="zh-CN" altLang="en-US" sz="1600" i="0" dirty="0">
                <a:effectLst/>
              </a:rPr>
              <a:t>珠蛋白和胎儿血红蛋白表达。因此，靶向抑制</a:t>
            </a:r>
            <a:r>
              <a:rPr lang="en-US" altLang="zh-CN" sz="1600" b="1" i="0" dirty="0">
                <a:effectLst/>
              </a:rPr>
              <a:t>BCL11A</a:t>
            </a:r>
            <a:r>
              <a:rPr lang="zh-CN" altLang="en-US" sz="1600" i="0" dirty="0">
                <a:effectLst/>
              </a:rPr>
              <a:t>在理论上可以重新激活</a:t>
            </a:r>
            <a:r>
              <a:rPr lang="en-US" altLang="zh-CN" sz="1600" i="0" dirty="0">
                <a:effectLst/>
              </a:rPr>
              <a:t>γ-</a:t>
            </a:r>
            <a:r>
              <a:rPr lang="zh-CN" altLang="en-US" sz="1600" i="0" dirty="0">
                <a:effectLst/>
              </a:rPr>
              <a:t>珠蛋白表达，从而治疗地中海贫血症和镰刀状细胞贫血症。</a:t>
            </a:r>
            <a:br>
              <a:rPr lang="zh-CN" altLang="en-US" sz="1600" i="0" dirty="0"/>
            </a:br>
            <a:r>
              <a:rPr lang="zh-CN" altLang="en-US" sz="1600" i="0" dirty="0">
                <a:effectLst/>
              </a:rPr>
              <a:t>研究团队从健康供体获得了</a:t>
            </a:r>
            <a:r>
              <a:rPr lang="en-US" altLang="zh-CN" sz="1600" i="0" dirty="0">
                <a:effectLst/>
              </a:rPr>
              <a:t>CD34 +</a:t>
            </a:r>
            <a:r>
              <a:rPr lang="zh-CN" altLang="en-US" sz="1600" i="0" dirty="0">
                <a:effectLst/>
              </a:rPr>
              <a:t>造血干细胞和祖细胞，然后通过电穿孔导入特异性靶向</a:t>
            </a:r>
            <a:r>
              <a:rPr lang="en-US" altLang="zh-CN" sz="1600" b="1" i="0" dirty="0">
                <a:effectLst/>
              </a:rPr>
              <a:t>BCL11A</a:t>
            </a:r>
            <a:r>
              <a:rPr lang="zh-CN" altLang="en-US" sz="1600" i="0" dirty="0">
                <a:effectLst/>
              </a:rPr>
              <a:t>增强子的</a:t>
            </a:r>
            <a:r>
              <a:rPr lang="en-US" altLang="zh-CN" sz="1600" i="0" dirty="0">
                <a:effectLst/>
              </a:rPr>
              <a:t>CRISPR-Cas9</a:t>
            </a:r>
            <a:r>
              <a:rPr lang="zh-CN" altLang="en-US" sz="1600" i="0" dirty="0">
                <a:effectLst/>
              </a:rPr>
              <a:t>基因编辑系统。检测结果表明该位点的等位基因约有</a:t>
            </a:r>
            <a:r>
              <a:rPr lang="en-US" altLang="zh-CN" sz="1600" i="0" dirty="0">
                <a:effectLst/>
              </a:rPr>
              <a:t>80</a:t>
            </a:r>
            <a:r>
              <a:rPr lang="zh-CN" altLang="en-US" sz="1600" i="0" dirty="0">
                <a:effectLst/>
              </a:rPr>
              <a:t>％被编辑，且没有脱靶编辑的迹象。</a:t>
            </a:r>
            <a:endParaRPr lang="en-US" altLang="zh-CN" sz="1600" i="0" dirty="0">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100" b="0" i="0" dirty="0">
                <a:solidFill>
                  <a:srgbClr val="D92142"/>
                </a:solidFill>
                <a:effectLst/>
                <a:latin typeface="-apple-system-font"/>
              </a:rPr>
              <a:t>另一项利用</a:t>
            </a:r>
            <a:r>
              <a:rPr lang="zh-CN" altLang="en-US" sz="1600" b="0" i="0" dirty="0">
                <a:effectLst/>
                <a:latin typeface="-apple-system-font"/>
              </a:rPr>
              <a:t>慢病毒载体递送的</a:t>
            </a:r>
            <a:r>
              <a:rPr lang="en-US" altLang="zh-CN" sz="1600" b="0" i="0" dirty="0">
                <a:effectLst/>
                <a:latin typeface="-apple-system-font"/>
              </a:rPr>
              <a:t>RNA</a:t>
            </a:r>
            <a:r>
              <a:rPr lang="zh-CN" altLang="en-US" sz="1600" b="0" i="0" dirty="0">
                <a:effectLst/>
                <a:latin typeface="-apple-system-font"/>
              </a:rPr>
              <a:t>沉默</a:t>
            </a:r>
            <a:r>
              <a:rPr lang="zh-CN" altLang="en-US" sz="1600" b="0" i="0" dirty="0">
                <a:solidFill>
                  <a:srgbClr val="888888"/>
                </a:solidFill>
                <a:effectLst/>
                <a:latin typeface="-apple-system-font"/>
              </a:rPr>
              <a:t>（</a:t>
            </a:r>
            <a:r>
              <a:rPr lang="en-US" altLang="zh-CN" sz="1600" b="0" i="0" dirty="0">
                <a:solidFill>
                  <a:srgbClr val="D92142"/>
                </a:solidFill>
                <a:effectLst/>
                <a:latin typeface="-apple-system-font"/>
              </a:rPr>
              <a:t>RNAi</a:t>
            </a:r>
            <a:r>
              <a:rPr lang="zh-CN" altLang="en-US" sz="1600" b="0" i="0" dirty="0">
                <a:solidFill>
                  <a:srgbClr val="888888"/>
                </a:solidFill>
                <a:effectLst/>
                <a:latin typeface="-apple-system-font"/>
              </a:rPr>
              <a:t>）</a:t>
            </a:r>
            <a:r>
              <a:rPr lang="zh-CN" altLang="en-US" sz="1600" b="0" i="0" dirty="0">
                <a:effectLst/>
                <a:latin typeface="-apple-system-font"/>
              </a:rPr>
              <a:t>技术治疗</a:t>
            </a:r>
            <a:r>
              <a:rPr lang="zh-CN" altLang="en-US" sz="1600" b="1" i="0" dirty="0">
                <a:solidFill>
                  <a:srgbClr val="D92142"/>
                </a:solidFill>
                <a:effectLst/>
                <a:latin typeface="-apple-system-font"/>
              </a:rPr>
              <a:t>镰刀状细胞贫血症</a:t>
            </a:r>
            <a:r>
              <a:rPr lang="zh-CN" altLang="en-US" sz="1600" b="0" i="0" dirty="0">
                <a:effectLst/>
                <a:latin typeface="-apple-system-font"/>
              </a:rPr>
              <a:t>。</a:t>
            </a:r>
            <a:endParaRPr lang="en-US" altLang="zh-CN" sz="1100" b="1" i="0" dirty="0">
              <a:solidFill>
                <a:srgbClr val="D92142"/>
              </a:solidFill>
              <a:effectLst/>
              <a:latin typeface="-apple-system-font"/>
            </a:endParaRPr>
          </a:p>
          <a:p>
            <a:pPr lvl="0" algn="l"/>
            <a:r>
              <a:rPr lang="zh-CN" altLang="en-US" sz="1600" b="0" i="0" dirty="0">
                <a:effectLst/>
                <a:latin typeface="-apple-system-font"/>
              </a:rPr>
              <a:t>该研究通过</a:t>
            </a:r>
            <a:r>
              <a:rPr lang="zh-CN" altLang="en-US" sz="1600" b="1" i="0" dirty="0">
                <a:effectLst/>
                <a:latin typeface="-apple-system-font"/>
              </a:rPr>
              <a:t>慢病毒</a:t>
            </a:r>
            <a:r>
              <a:rPr lang="zh-CN" altLang="en-US" sz="1600" b="0" i="0" dirty="0">
                <a:effectLst/>
                <a:latin typeface="-apple-system-font"/>
              </a:rPr>
              <a:t>介导的</a:t>
            </a:r>
            <a:r>
              <a:rPr lang="en-US" altLang="zh-CN" sz="1600" b="1" i="0" dirty="0">
                <a:effectLst/>
                <a:latin typeface="-apple-system-font"/>
              </a:rPr>
              <a:t>shRNA</a:t>
            </a:r>
            <a:r>
              <a:rPr lang="zh-CN" altLang="en-US" sz="1600" b="0" i="0" dirty="0">
                <a:effectLst/>
                <a:latin typeface="-apple-system-font"/>
              </a:rPr>
              <a:t>，在体外特异性靶向敲低</a:t>
            </a:r>
            <a:r>
              <a:rPr lang="en-US" altLang="zh-CN" sz="1600" b="0" i="0" dirty="0">
                <a:effectLst/>
                <a:latin typeface="-apple-system-font"/>
              </a:rPr>
              <a:t>CD34+</a:t>
            </a:r>
            <a:r>
              <a:rPr lang="zh-CN" altLang="en-US" sz="1600" b="0" i="0" dirty="0">
                <a:effectLst/>
                <a:latin typeface="-apple-system-font"/>
              </a:rPr>
              <a:t>细胞的</a:t>
            </a:r>
            <a:r>
              <a:rPr lang="en-US" altLang="zh-CN" sz="1600" b="1" i="1" dirty="0">
                <a:effectLst/>
                <a:latin typeface="-apple-system-font"/>
              </a:rPr>
              <a:t>BCL11A</a:t>
            </a:r>
            <a:r>
              <a:rPr lang="zh-CN" altLang="en-US" sz="1600" b="0" i="0" dirty="0">
                <a:effectLst/>
                <a:latin typeface="-apple-system-font"/>
              </a:rPr>
              <a:t>基因的</a:t>
            </a:r>
            <a:r>
              <a:rPr lang="en-US" altLang="zh-CN" sz="1600" b="0" i="0" dirty="0">
                <a:effectLst/>
                <a:latin typeface="-apple-system-font"/>
              </a:rPr>
              <a:t>mRNA</a:t>
            </a:r>
            <a:r>
              <a:rPr lang="zh-CN" altLang="en-US" sz="1600" b="0" i="0" dirty="0">
                <a:effectLst/>
                <a:latin typeface="-apple-system-font"/>
              </a:rPr>
              <a:t>，再回输到镰状细胞病患者体内</a:t>
            </a:r>
            <a:endParaRPr lang="zh-CN" altLang="en-US" sz="1100" b="0" i="0" dirty="0">
              <a:effectLst/>
              <a:latin typeface="-apple-system-font"/>
            </a:endParaRPr>
          </a:p>
          <a:p>
            <a:pPr eaLnBrk="1" hangingPunct="1">
              <a:lnSpc>
                <a:spcPct val="125000"/>
              </a:lnSpc>
              <a:buFont typeface="Wingdings" panose="05000000000000000000" pitchFamily="2" charset="2"/>
              <a:buNone/>
            </a:pPr>
            <a:r>
              <a:rPr lang="zh-CN" altLang="en-US" sz="900" dirty="0"/>
              <a:t>这两项研究可谓殊途同归，采用了不同的技术手段，均降低了 </a:t>
            </a:r>
            <a:r>
              <a:rPr lang="en-US" altLang="zh-CN" sz="900" dirty="0"/>
              <a:t>BCL11A </a:t>
            </a:r>
            <a:r>
              <a:rPr lang="zh-CN" altLang="en-US" sz="900" dirty="0"/>
              <a:t>基因的表达，从而重新激活了</a:t>
            </a:r>
            <a:r>
              <a:rPr lang="en-US" altLang="zh-CN" sz="900" dirty="0"/>
              <a:t>γ</a:t>
            </a:r>
            <a:r>
              <a:rPr lang="zh-CN" altLang="en-US" sz="900" dirty="0"/>
              <a:t>珠蛋白，最终提高胎儿血红蛋白（</a:t>
            </a:r>
            <a:r>
              <a:rPr lang="en-US" altLang="zh-CN" sz="900" dirty="0" err="1"/>
              <a:t>HbF</a:t>
            </a:r>
            <a:r>
              <a:rPr lang="zh-CN" altLang="en-US" sz="900" dirty="0"/>
              <a:t>）水平，摆脱输血依赖。</a:t>
            </a:r>
            <a:endParaRPr lang="en-US" altLang="zh-CN" sz="900" dirty="0"/>
          </a:p>
          <a:p>
            <a:pPr eaLnBrk="1" hangingPunct="1">
              <a:lnSpc>
                <a:spcPct val="125000"/>
              </a:lnSpc>
              <a:buFont typeface="Wingdings" panose="05000000000000000000" pitchFamily="2" charset="2"/>
              <a:buNone/>
            </a:pPr>
            <a:endParaRPr lang="en-US" altLang="zh-CN" sz="900" dirty="0"/>
          </a:p>
          <a:p>
            <a:pPr eaLnBrk="1" hangingPunct="1">
              <a:lnSpc>
                <a:spcPct val="125000"/>
              </a:lnSpc>
              <a:buFont typeface="Wingdings" panose="05000000000000000000" pitchFamily="2" charset="2"/>
              <a:buNone/>
            </a:pPr>
            <a:r>
              <a:rPr lang="en-US" altLang="zh-CN" sz="1100" b="0" i="0" dirty="0">
                <a:effectLst/>
                <a:latin typeface="-apple-system-font"/>
              </a:rPr>
              <a:t>2020</a:t>
            </a:r>
            <a:r>
              <a:rPr lang="zh-CN" altLang="en-US" sz="1100" b="0" i="0" dirty="0">
                <a:effectLst/>
                <a:latin typeface="-apple-system-font"/>
              </a:rPr>
              <a:t>年</a:t>
            </a:r>
            <a:r>
              <a:rPr lang="en-US" altLang="zh-CN" sz="1100" b="0" i="0" dirty="0">
                <a:effectLst/>
                <a:latin typeface="-apple-system-font"/>
              </a:rPr>
              <a:t>7</a:t>
            </a:r>
            <a:r>
              <a:rPr lang="zh-CN" altLang="en-US" sz="1100" b="0" i="0" dirty="0">
                <a:effectLst/>
                <a:latin typeface="-apple-system-font"/>
              </a:rPr>
              <a:t>月</a:t>
            </a:r>
            <a:r>
              <a:rPr lang="en-US" altLang="zh-CN" sz="1100" b="0" i="0" dirty="0">
                <a:effectLst/>
                <a:latin typeface="-apple-system-font"/>
              </a:rPr>
              <a:t>22</a:t>
            </a:r>
            <a:r>
              <a:rPr lang="zh-CN" altLang="en-US" sz="1100" b="0" i="0" dirty="0">
                <a:effectLst/>
                <a:latin typeface="-apple-system-font"/>
              </a:rPr>
              <a:t>日，</a:t>
            </a:r>
            <a:r>
              <a:rPr lang="zh-CN" altLang="en-US" sz="1100" b="1" i="0" dirty="0">
                <a:effectLst/>
                <a:latin typeface="-apple-system-font"/>
              </a:rPr>
              <a:t>上海邦耀生物科技有限公司</a:t>
            </a:r>
            <a:r>
              <a:rPr lang="zh-CN" altLang="en-US" sz="1100" b="0" i="0" dirty="0">
                <a:effectLst/>
                <a:latin typeface="-apple-system-font"/>
              </a:rPr>
              <a:t>宣布，邦耀生物与中南大学湘雅医院合作开展的“</a:t>
            </a:r>
            <a:r>
              <a:rPr lang="zh-CN" altLang="en-US" sz="1100" b="0" i="0" dirty="0">
                <a:solidFill>
                  <a:srgbClr val="D92142"/>
                </a:solidFill>
                <a:effectLst/>
                <a:latin typeface="-apple-system-font"/>
              </a:rPr>
              <a:t>经</a:t>
            </a:r>
            <a:r>
              <a:rPr lang="en-US" altLang="zh-CN" sz="1100" b="0" i="0" dirty="0">
                <a:solidFill>
                  <a:srgbClr val="D92142"/>
                </a:solidFill>
                <a:effectLst/>
                <a:latin typeface="-apple-system-font"/>
              </a:rPr>
              <a:t>γ</a:t>
            </a:r>
            <a:r>
              <a:rPr lang="zh-CN" altLang="en-US" sz="1100" b="0" i="0" dirty="0">
                <a:solidFill>
                  <a:srgbClr val="D92142"/>
                </a:solidFill>
                <a:effectLst/>
                <a:latin typeface="-apple-system-font"/>
              </a:rPr>
              <a:t>珠蛋白重激活的自体造血干细胞移植治疗重型</a:t>
            </a:r>
            <a:r>
              <a:rPr lang="en-US" altLang="zh-CN" sz="1100" b="0" i="0" dirty="0">
                <a:solidFill>
                  <a:srgbClr val="D92142"/>
                </a:solidFill>
                <a:effectLst/>
                <a:latin typeface="-apple-system-font"/>
              </a:rPr>
              <a:t>β</a:t>
            </a:r>
            <a:r>
              <a:rPr lang="zh-CN" altLang="en-US" sz="1100" b="0" i="0" dirty="0">
                <a:solidFill>
                  <a:srgbClr val="D92142"/>
                </a:solidFill>
                <a:effectLst/>
                <a:latin typeface="-apple-system-font"/>
              </a:rPr>
              <a:t>地中海贫血安全性及有效性的临床研究</a:t>
            </a:r>
            <a:r>
              <a:rPr lang="zh-CN" altLang="en-US" sz="1100" b="0" i="0" dirty="0">
                <a:effectLst/>
                <a:latin typeface="-apple-system-font"/>
              </a:rPr>
              <a:t>”的临床试验取得初步成效。这是亚洲首次通过基因编辑技术治疗地中海贫血，也是全世界首次通过</a:t>
            </a:r>
            <a:r>
              <a:rPr lang="en-US" altLang="zh-CN" sz="1100" b="0" i="0" dirty="0">
                <a:effectLst/>
                <a:latin typeface="-apple-system-font"/>
              </a:rPr>
              <a:t>CRISPR</a:t>
            </a:r>
            <a:r>
              <a:rPr lang="zh-CN" altLang="en-US" sz="1100" b="0" i="0" dirty="0">
                <a:effectLst/>
                <a:latin typeface="-apple-system-font"/>
              </a:rPr>
              <a:t>基因编辑技术治疗</a:t>
            </a:r>
            <a:r>
              <a:rPr lang="en-US" altLang="zh-CN" sz="1100" b="0" i="0" dirty="0">
                <a:effectLst/>
                <a:latin typeface="-apple-system-font"/>
              </a:rPr>
              <a:t>β0/β0</a:t>
            </a:r>
            <a:r>
              <a:rPr lang="zh-CN" altLang="en-US" sz="1100" b="0" i="0" dirty="0">
                <a:effectLst/>
                <a:latin typeface="-apple-system-font"/>
              </a:rPr>
              <a:t>型重度地中海贫血症的成功案例。</a:t>
            </a:r>
            <a:endParaRPr lang="en-US" altLang="zh-CN" sz="9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a:extLst>
              <a:ext uri="{FF2B5EF4-FFF2-40B4-BE49-F238E27FC236}">
                <a16:creationId xmlns:a16="http://schemas.microsoft.com/office/drawing/2014/main" id="{6CA88925-DC33-44CB-970A-190B5860860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DCC3E47-0C1C-49C6-8D00-1B3AECD35B5D}"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50179" name="Rectangle 7">
            <a:extLst>
              <a:ext uri="{FF2B5EF4-FFF2-40B4-BE49-F238E27FC236}">
                <a16:creationId xmlns:a16="http://schemas.microsoft.com/office/drawing/2014/main" id="{DF43D617-BCB9-4C27-8A4F-FF9332F20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9D91B15-C63D-49C5-B80C-13C1292FE555}" type="slidenum">
              <a:rPr lang="en-US" altLang="zh-CN" sz="1200" smtClean="0">
                <a:latin typeface="Tahoma" panose="020B0604030504040204" pitchFamily="34" charset="0"/>
              </a:rPr>
              <a:pPr/>
              <a:t>23</a:t>
            </a:fld>
            <a:endParaRPr lang="en-US" altLang="zh-CN" sz="1200">
              <a:latin typeface="Tahoma" panose="020B0604030504040204" pitchFamily="34" charset="0"/>
            </a:endParaRPr>
          </a:p>
        </p:txBody>
      </p:sp>
      <p:sp>
        <p:nvSpPr>
          <p:cNvPr id="50180" name="Rectangle 2">
            <a:extLst>
              <a:ext uri="{FF2B5EF4-FFF2-40B4-BE49-F238E27FC236}">
                <a16:creationId xmlns:a16="http://schemas.microsoft.com/office/drawing/2014/main" id="{5AE96761-CD50-4E24-AE24-05087FD37390}"/>
              </a:ext>
            </a:extLst>
          </p:cNvPr>
          <p:cNvSpPr>
            <a:spLocks noGrp="1" noRot="1" noChangeAspect="1" noChangeArrowheads="1" noTextEdit="1"/>
          </p:cNvSpPr>
          <p:nvPr>
            <p:ph type="sldImg"/>
          </p:nvPr>
        </p:nvSpPr>
        <p:spPr>
          <a:xfrm>
            <a:off x="381000" y="685800"/>
            <a:ext cx="6096000" cy="3429000"/>
          </a:xfrm>
          <a:ln/>
        </p:spPr>
      </p:sp>
      <p:sp>
        <p:nvSpPr>
          <p:cNvPr id="50181" name="Rectangle 3">
            <a:extLst>
              <a:ext uri="{FF2B5EF4-FFF2-40B4-BE49-F238E27FC236}">
                <a16:creationId xmlns:a16="http://schemas.microsoft.com/office/drawing/2014/main" id="{799FDB1C-1DE3-401C-828A-2F6DB59807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30000"/>
              </a:lnSpc>
              <a:spcBef>
                <a:spcPct val="50000"/>
              </a:spcBef>
            </a:pPr>
            <a:r>
              <a:rPr lang="zh-CN" altLang="en-US" dirty="0"/>
              <a:t>基因水平上，</a:t>
            </a:r>
            <a:r>
              <a:rPr lang="en-US" altLang="zh-CN" dirty="0"/>
              <a:t>β</a:t>
            </a:r>
            <a:r>
              <a:rPr lang="zh-CN" altLang="en-US" dirty="0"/>
              <a:t>链上</a:t>
            </a:r>
            <a:r>
              <a:rPr lang="en-US" altLang="zh-CN" dirty="0"/>
              <a:t>GAG </a:t>
            </a:r>
            <a:r>
              <a:rPr lang="zh-CN" altLang="en-US" dirty="0"/>
              <a:t>突变为</a:t>
            </a:r>
            <a:r>
              <a:rPr lang="en-US" altLang="zh-CN" dirty="0"/>
              <a:t>GTG </a:t>
            </a:r>
            <a:r>
              <a:rPr lang="zh-CN" altLang="en-US" dirty="0"/>
              <a:t>（密码子</a:t>
            </a:r>
            <a:r>
              <a:rPr lang="en-US" altLang="zh-CN" dirty="0"/>
              <a:t>GAG</a:t>
            </a:r>
            <a:r>
              <a:rPr lang="zh-CN" altLang="en-US" dirty="0"/>
              <a:t>→</a:t>
            </a:r>
            <a:r>
              <a:rPr lang="en-US" altLang="zh-CN" dirty="0"/>
              <a:t>GUG</a:t>
            </a:r>
            <a:r>
              <a:rPr lang="zh-CN" altLang="en-US" dirty="0"/>
              <a:t>） ，致肽链</a:t>
            </a:r>
            <a:r>
              <a:rPr lang="en-US" altLang="zh-CN" dirty="0"/>
              <a:t>N</a:t>
            </a:r>
            <a:r>
              <a:rPr lang="zh-CN" altLang="en-US" dirty="0"/>
              <a:t>端第</a:t>
            </a:r>
            <a:r>
              <a:rPr lang="en-US" altLang="zh-CN" dirty="0"/>
              <a:t>6</a:t>
            </a:r>
            <a:r>
              <a:rPr lang="zh-CN" altLang="en-US" dirty="0"/>
              <a:t>个氨基酸残基的突变</a:t>
            </a:r>
            <a:endParaRPr lang="en-US" altLang="zh-CN" dirty="0"/>
          </a:p>
          <a:p>
            <a:pPr eaLnBrk="1" hangingPunct="1">
              <a:lnSpc>
                <a:spcPct val="130000"/>
              </a:lnSpc>
              <a:spcBef>
                <a:spcPct val="50000"/>
              </a:spcBef>
            </a:pPr>
            <a:endParaRPr lang="en-US" altLang="zh-CN" dirty="0"/>
          </a:p>
          <a:p>
            <a:pPr eaLnBrk="1" hangingPunct="1"/>
            <a:endParaRPr lang="en-US" altLang="zh-CN" dirty="0">
              <a:latin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a:extLst>
              <a:ext uri="{FF2B5EF4-FFF2-40B4-BE49-F238E27FC236}">
                <a16:creationId xmlns:a16="http://schemas.microsoft.com/office/drawing/2014/main" id="{84D1B42A-11A8-4770-9900-A0AF856ADE8F}"/>
              </a:ext>
            </a:extLst>
          </p:cNvPr>
          <p:cNvSpPr>
            <a:spLocks noGrp="1" noRot="1" noChangeAspect="1" noChangeArrowheads="1" noTextEdit="1"/>
          </p:cNvSpPr>
          <p:nvPr>
            <p:ph type="sldImg"/>
          </p:nvPr>
        </p:nvSpPr>
        <p:spPr>
          <a:xfrm>
            <a:off x="381000" y="685800"/>
            <a:ext cx="6096000" cy="3429000"/>
          </a:xfrm>
          <a:ln/>
        </p:spPr>
      </p:sp>
      <p:sp>
        <p:nvSpPr>
          <p:cNvPr id="52227" name="备注占位符 2">
            <a:extLst>
              <a:ext uri="{FF2B5EF4-FFF2-40B4-BE49-F238E27FC236}">
                <a16:creationId xmlns:a16="http://schemas.microsoft.com/office/drawing/2014/main" id="{BA28532A-7603-4A00-9200-36AB459DD45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非极性基团在水溶液中有强烈地自动聚集、靠拢的倾向（疏水作用力）， 彼此好似粘性的胶水（所谓 </a:t>
            </a:r>
            <a:r>
              <a:rPr lang="en-US" altLang="zh-CN" dirty="0"/>
              <a:t>sticky hydrophobic patch</a:t>
            </a:r>
            <a:r>
              <a:rPr lang="zh-CN" altLang="en-US" dirty="0"/>
              <a:t>）。</a:t>
            </a:r>
            <a:endParaRPr lang="en-US" altLang="zh-CN" dirty="0"/>
          </a:p>
          <a:p>
            <a:endParaRPr lang="en-US" altLang="zh-CN" dirty="0"/>
          </a:p>
          <a:p>
            <a:r>
              <a:rPr lang="zh-CN" altLang="en-US" dirty="0"/>
              <a:t>通常是一种良性突变，在正常氧浓度条件下对血红蛋白的二级、三级或四级结构没有明显影响。然而，</a:t>
            </a:r>
            <a:r>
              <a:rPr lang="en-US" altLang="zh-CN" b="1" dirty="0"/>
              <a:t>the deoxy form of </a:t>
            </a:r>
            <a:r>
              <a:rPr lang="en-US" altLang="zh-CN" b="1" dirty="0" err="1"/>
              <a:t>haemoglobin</a:t>
            </a:r>
            <a:r>
              <a:rPr lang="en-US" altLang="zh-CN" b="1" dirty="0"/>
              <a:t> exposes a hydrophobic patch on the protein between the E and F helices </a:t>
            </a:r>
            <a:r>
              <a:rPr lang="en-US" altLang="zh-CN" dirty="0"/>
              <a:t>(</a:t>
            </a:r>
            <a:r>
              <a:rPr lang="en-US" altLang="zh-CN" dirty="0" err="1"/>
              <a:t>Phe</a:t>
            </a:r>
            <a:r>
              <a:rPr lang="en-US" altLang="zh-CN" dirty="0"/>
              <a:t> 85, Leu 88).</a:t>
            </a:r>
          </a:p>
        </p:txBody>
      </p:sp>
      <p:sp>
        <p:nvSpPr>
          <p:cNvPr id="52228" name="日期占位符 3">
            <a:extLst>
              <a:ext uri="{FF2B5EF4-FFF2-40B4-BE49-F238E27FC236}">
                <a16:creationId xmlns:a16="http://schemas.microsoft.com/office/drawing/2014/main" id="{C582DA34-E257-4BF7-8A4F-79CD492A43A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2BFEDD1-4FD6-4823-BC2F-DB5D3E63181D}"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52229" name="灯片编号占位符 4">
            <a:extLst>
              <a:ext uri="{FF2B5EF4-FFF2-40B4-BE49-F238E27FC236}">
                <a16:creationId xmlns:a16="http://schemas.microsoft.com/office/drawing/2014/main" id="{017AF6B3-4797-456B-9E0B-31AE140497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F0ABD2A-CB0F-4500-B18C-6CD4DE4F29A0}" type="slidenum">
              <a:rPr lang="en-US" altLang="zh-CN" sz="1200" smtClean="0">
                <a:latin typeface="Tahoma" panose="020B0604030504040204" pitchFamily="34" charset="0"/>
              </a:rPr>
              <a:pPr/>
              <a:t>24</a:t>
            </a:fld>
            <a:endParaRPr lang="en-US" altLang="zh-CN" sz="1200">
              <a:latin typeface="Tahoma" panose="020B060403050404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0A3113A5-ED9D-49D0-9EBF-D90EE7A847E0}"/>
              </a:ext>
            </a:extLst>
          </p:cNvPr>
          <p:cNvSpPr>
            <a:spLocks noGrp="1" noRot="1" noChangeAspect="1" noChangeArrowheads="1" noTextEdit="1"/>
          </p:cNvSpPr>
          <p:nvPr>
            <p:ph type="sldImg"/>
          </p:nvPr>
        </p:nvSpPr>
        <p:spPr>
          <a:xfrm>
            <a:off x="381000" y="685800"/>
            <a:ext cx="6096000" cy="3429000"/>
          </a:xfrm>
          <a:ln/>
        </p:spPr>
      </p:sp>
      <p:sp>
        <p:nvSpPr>
          <p:cNvPr id="58371" name="备注占位符 2">
            <a:extLst>
              <a:ext uri="{FF2B5EF4-FFF2-40B4-BE49-F238E27FC236}">
                <a16:creationId xmlns:a16="http://schemas.microsoft.com/office/drawing/2014/main" id="{E8930082-665F-4A8C-99C5-270809A104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a:p>
            <a:endParaRPr lang="zh-CN" altLang="en-US" dirty="0"/>
          </a:p>
          <a:p>
            <a:endParaRPr lang="zh-CN" altLang="en-US" dirty="0"/>
          </a:p>
        </p:txBody>
      </p:sp>
      <p:sp>
        <p:nvSpPr>
          <p:cNvPr id="58372" name="日期占位符 3">
            <a:extLst>
              <a:ext uri="{FF2B5EF4-FFF2-40B4-BE49-F238E27FC236}">
                <a16:creationId xmlns:a16="http://schemas.microsoft.com/office/drawing/2014/main" id="{217B4C1C-CA80-4597-978E-6FCFF0DEB3B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AF36C6E-3FF5-442C-820D-6A79C8202169}"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58373" name="灯片编号占位符 4">
            <a:extLst>
              <a:ext uri="{FF2B5EF4-FFF2-40B4-BE49-F238E27FC236}">
                <a16:creationId xmlns:a16="http://schemas.microsoft.com/office/drawing/2014/main" id="{26DB871D-9915-4FE6-B739-B64CEF8855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71F8ABF-1ED5-45D9-9319-A3AD3DF96ACC}" type="slidenum">
              <a:rPr lang="en-US" altLang="zh-CN" sz="1200" smtClean="0">
                <a:latin typeface="Tahoma" panose="020B0604030504040204" pitchFamily="34" charset="0"/>
              </a:rPr>
              <a:pPr/>
              <a:t>26</a:t>
            </a:fld>
            <a:endParaRPr lang="en-US" altLang="zh-CN" sz="1200">
              <a:latin typeface="Tahoma" panose="020B060403050404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a:extLst>
              <a:ext uri="{FF2B5EF4-FFF2-40B4-BE49-F238E27FC236}">
                <a16:creationId xmlns:a16="http://schemas.microsoft.com/office/drawing/2014/main" id="{BB21ED78-AB54-453C-BA64-5C0B39A973B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C20449B-0407-43B2-9704-94F5A94B4FEF}"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60419" name="Rectangle 7">
            <a:extLst>
              <a:ext uri="{FF2B5EF4-FFF2-40B4-BE49-F238E27FC236}">
                <a16:creationId xmlns:a16="http://schemas.microsoft.com/office/drawing/2014/main" id="{E16C1301-3EDF-4638-AE51-76BE3C7D3A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E5DAA27-36BA-4D3E-BD86-B5E7EFAFAADF}" type="slidenum">
              <a:rPr lang="en-US" altLang="zh-CN" sz="1200" smtClean="0">
                <a:latin typeface="Tahoma" panose="020B0604030504040204" pitchFamily="34" charset="0"/>
              </a:rPr>
              <a:pPr/>
              <a:t>27</a:t>
            </a:fld>
            <a:endParaRPr lang="en-US" altLang="zh-CN" sz="1200">
              <a:latin typeface="Tahoma" panose="020B0604030504040204" pitchFamily="34" charset="0"/>
            </a:endParaRPr>
          </a:p>
        </p:txBody>
      </p:sp>
      <p:sp>
        <p:nvSpPr>
          <p:cNvPr id="60420" name="Rectangle 2">
            <a:extLst>
              <a:ext uri="{FF2B5EF4-FFF2-40B4-BE49-F238E27FC236}">
                <a16:creationId xmlns:a16="http://schemas.microsoft.com/office/drawing/2014/main" id="{8CC6B1A4-3F69-4AEE-ADBE-5301B4B06DDF}"/>
              </a:ext>
            </a:extLst>
          </p:cNvPr>
          <p:cNvSpPr>
            <a:spLocks noGrp="1" noRot="1" noChangeAspect="1" noChangeArrowheads="1" noTextEdit="1"/>
          </p:cNvSpPr>
          <p:nvPr>
            <p:ph type="sldImg"/>
          </p:nvPr>
        </p:nvSpPr>
        <p:spPr>
          <a:xfrm>
            <a:off x="381000" y="685800"/>
            <a:ext cx="6096000" cy="3429000"/>
          </a:xfrm>
          <a:ln/>
        </p:spPr>
      </p:sp>
      <p:sp>
        <p:nvSpPr>
          <p:cNvPr id="60421" name="Rectangle 3">
            <a:extLst>
              <a:ext uri="{FF2B5EF4-FFF2-40B4-BE49-F238E27FC236}">
                <a16:creationId xmlns:a16="http://schemas.microsoft.com/office/drawing/2014/main" id="{5E322AD6-E1DD-42C0-B716-A28052F17F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latin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C955D33D-830F-44D9-8EAC-76782067A61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3365F88-8760-4DDE-B547-2F8DC4659D02}"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62467" name="Rectangle 7">
            <a:extLst>
              <a:ext uri="{FF2B5EF4-FFF2-40B4-BE49-F238E27FC236}">
                <a16:creationId xmlns:a16="http://schemas.microsoft.com/office/drawing/2014/main" id="{0AAD3A17-75D2-416C-A086-244B458D56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B5D471D-3232-469D-8140-0A16BD704AA7}" type="slidenum">
              <a:rPr lang="en-US" altLang="zh-CN" sz="1200" smtClean="0">
                <a:latin typeface="Tahoma" panose="020B0604030504040204" pitchFamily="34" charset="0"/>
              </a:rPr>
              <a:pPr/>
              <a:t>28</a:t>
            </a:fld>
            <a:endParaRPr lang="en-US" altLang="zh-CN" sz="1200">
              <a:latin typeface="Tahoma" panose="020B0604030504040204" pitchFamily="34" charset="0"/>
            </a:endParaRPr>
          </a:p>
        </p:txBody>
      </p:sp>
      <p:sp>
        <p:nvSpPr>
          <p:cNvPr id="62468" name="Rectangle 2">
            <a:extLst>
              <a:ext uri="{FF2B5EF4-FFF2-40B4-BE49-F238E27FC236}">
                <a16:creationId xmlns:a16="http://schemas.microsoft.com/office/drawing/2014/main" id="{D13DF602-3EB1-475C-8A13-48849883C4BD}"/>
              </a:ext>
            </a:extLst>
          </p:cNvPr>
          <p:cNvSpPr>
            <a:spLocks noGrp="1" noRot="1" noChangeAspect="1" noChangeArrowheads="1" noTextEdit="1"/>
          </p:cNvSpPr>
          <p:nvPr>
            <p:ph type="sldImg"/>
          </p:nvPr>
        </p:nvSpPr>
        <p:spPr>
          <a:xfrm>
            <a:off x="381000" y="685800"/>
            <a:ext cx="6096000" cy="3429000"/>
          </a:xfrm>
          <a:ln/>
        </p:spPr>
      </p:sp>
      <p:sp>
        <p:nvSpPr>
          <p:cNvPr id="62469" name="Rectangle 3">
            <a:extLst>
              <a:ext uri="{FF2B5EF4-FFF2-40B4-BE49-F238E27FC236}">
                <a16:creationId xmlns:a16="http://schemas.microsoft.com/office/drawing/2014/main" id="{E9C798EA-EB95-42E0-8A81-9BF5FF79BE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0000"/>
              </a:lnSpc>
              <a:buClr>
                <a:srgbClr val="006600"/>
              </a:buClr>
              <a:buFont typeface="Wingdings" panose="05000000000000000000" pitchFamily="2" charset="2"/>
              <a:buNone/>
            </a:pPr>
            <a:r>
              <a:rPr lang="zh-CN" altLang="en-US" dirty="0">
                <a:solidFill>
                  <a:schemeClr val="tx1"/>
                </a:solidFill>
              </a:rPr>
              <a:t>储氧和供氧</a:t>
            </a:r>
          </a:p>
          <a:p>
            <a:pPr eaLnBrk="1" hangingPunct="1">
              <a:lnSpc>
                <a:spcPct val="120000"/>
              </a:lnSpc>
              <a:buClr>
                <a:srgbClr val="006600"/>
              </a:buClr>
              <a:buFont typeface="Wingdings" panose="05000000000000000000" pitchFamily="2" charset="2"/>
              <a:buNone/>
            </a:pPr>
            <a:r>
              <a:rPr lang="zh-CN" altLang="en-US" dirty="0">
                <a:solidFill>
                  <a:schemeClr val="tx1"/>
                </a:solidFill>
              </a:rPr>
              <a:t>均为球状蛋白质</a:t>
            </a:r>
          </a:p>
          <a:p>
            <a:pPr eaLnBrk="1" hangingPunct="1">
              <a:lnSpc>
                <a:spcPct val="120000"/>
              </a:lnSpc>
              <a:buClr>
                <a:srgbClr val="006600"/>
              </a:buClr>
              <a:buFont typeface="Wingdings" panose="05000000000000000000" pitchFamily="2" charset="2"/>
              <a:buNone/>
            </a:pPr>
            <a:r>
              <a:rPr lang="zh-CN" altLang="en-US" dirty="0">
                <a:solidFill>
                  <a:schemeClr val="tx1"/>
                </a:solidFill>
              </a:rPr>
              <a:t>均含</a:t>
            </a:r>
            <a:r>
              <a:rPr lang="zh-CN" altLang="en-US" dirty="0">
                <a:solidFill>
                  <a:srgbClr val="0000CC"/>
                </a:solidFill>
              </a:rPr>
              <a:t>血红素辅基</a:t>
            </a:r>
          </a:p>
          <a:p>
            <a:pPr eaLnBrk="1" hangingPunct="1"/>
            <a:endParaRPr lang="en-US" altLang="zh-CN" dirty="0"/>
          </a:p>
          <a:p>
            <a:pPr eaLnBrk="1" hangingPunct="1"/>
            <a:endParaRPr lang="en-US"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a:extLst>
              <a:ext uri="{FF2B5EF4-FFF2-40B4-BE49-F238E27FC236}">
                <a16:creationId xmlns:a16="http://schemas.microsoft.com/office/drawing/2014/main" id="{E1727AD6-E296-402E-9458-D7982C4F4DF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DC17047-6258-4E91-8BAA-B423A62746DF}"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66563" name="Rectangle 7">
            <a:extLst>
              <a:ext uri="{FF2B5EF4-FFF2-40B4-BE49-F238E27FC236}">
                <a16:creationId xmlns:a16="http://schemas.microsoft.com/office/drawing/2014/main" id="{D7F5D3D7-2518-4F3D-BF88-4ACE3E082F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C1FE071-B1E0-4E5A-90B2-DCA57932D10D}" type="slidenum">
              <a:rPr lang="en-US" altLang="zh-CN" sz="1200" smtClean="0">
                <a:latin typeface="Tahoma" panose="020B0604030504040204" pitchFamily="34" charset="0"/>
              </a:rPr>
              <a:pPr/>
              <a:t>29</a:t>
            </a:fld>
            <a:endParaRPr lang="en-US" altLang="zh-CN" sz="1200">
              <a:latin typeface="Tahoma" panose="020B0604030504040204" pitchFamily="34" charset="0"/>
            </a:endParaRPr>
          </a:p>
        </p:txBody>
      </p:sp>
      <p:sp>
        <p:nvSpPr>
          <p:cNvPr id="66564" name="Rectangle 2">
            <a:extLst>
              <a:ext uri="{FF2B5EF4-FFF2-40B4-BE49-F238E27FC236}">
                <a16:creationId xmlns:a16="http://schemas.microsoft.com/office/drawing/2014/main" id="{008952D2-3BE8-44C9-9BEB-579F21A163A6}"/>
              </a:ext>
            </a:extLst>
          </p:cNvPr>
          <p:cNvSpPr>
            <a:spLocks noGrp="1" noRot="1" noChangeAspect="1" noChangeArrowheads="1" noTextEdit="1"/>
          </p:cNvSpPr>
          <p:nvPr>
            <p:ph type="sldImg"/>
          </p:nvPr>
        </p:nvSpPr>
        <p:spPr>
          <a:xfrm>
            <a:off x="381000" y="685800"/>
            <a:ext cx="6096000" cy="3429000"/>
          </a:xfrm>
          <a:ln/>
        </p:spPr>
      </p:sp>
      <p:sp>
        <p:nvSpPr>
          <p:cNvPr id="66565" name="Rectangle 3">
            <a:extLst>
              <a:ext uri="{FF2B5EF4-FFF2-40B4-BE49-F238E27FC236}">
                <a16:creationId xmlns:a16="http://schemas.microsoft.com/office/drawing/2014/main" id="{EB18D702-9B95-4E1F-BD7A-F2DD64CF19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血红素：铁卟啉化合物，由</a:t>
            </a:r>
            <a:r>
              <a:rPr lang="en-US" altLang="zh-CN" dirty="0"/>
              <a:t>4</a:t>
            </a:r>
            <a:r>
              <a:rPr lang="zh-CN" altLang="en-US" dirty="0"/>
              <a:t>个吡咯环通过</a:t>
            </a:r>
            <a:r>
              <a:rPr lang="en-US" altLang="zh-CN" dirty="0"/>
              <a:t>4</a:t>
            </a:r>
            <a:r>
              <a:rPr lang="zh-CN" altLang="en-US" dirty="0"/>
              <a:t>个甲炔基相连成为一个环形， </a:t>
            </a:r>
            <a:r>
              <a:rPr lang="en-US" altLang="zh-CN" dirty="0"/>
              <a:t>Fe</a:t>
            </a:r>
            <a:r>
              <a:rPr lang="en-US" altLang="zh-CN" baseline="30000" dirty="0"/>
              <a:t>2+</a:t>
            </a:r>
            <a:r>
              <a:rPr lang="zh-CN" altLang="en-US" dirty="0"/>
              <a:t>居于环中，有</a:t>
            </a:r>
            <a:r>
              <a:rPr lang="en-US" altLang="zh-CN" dirty="0"/>
              <a:t>6</a:t>
            </a:r>
            <a:r>
              <a:rPr lang="zh-CN" altLang="en-US" dirty="0"/>
              <a:t>个配位键，</a:t>
            </a:r>
            <a:r>
              <a:rPr lang="en-US" altLang="zh-CN" dirty="0"/>
              <a:t>4</a:t>
            </a:r>
            <a:r>
              <a:rPr lang="zh-CN" altLang="en-US" dirty="0"/>
              <a:t>个与吡咯环的</a:t>
            </a:r>
            <a:r>
              <a:rPr lang="en-US" altLang="zh-CN" dirty="0"/>
              <a:t>N</a:t>
            </a:r>
            <a:r>
              <a:rPr lang="zh-CN" altLang="en-US" dirty="0"/>
              <a:t>配位结合，</a:t>
            </a:r>
            <a:r>
              <a:rPr lang="en-US" altLang="zh-CN" dirty="0"/>
              <a:t>1</a:t>
            </a:r>
            <a:r>
              <a:rPr lang="zh-CN" altLang="en-US" dirty="0"/>
              <a:t>个和肌红蛋白或血红蛋白的组氨酸残基结合，</a:t>
            </a:r>
            <a:r>
              <a:rPr lang="en-US" altLang="zh-CN" dirty="0"/>
              <a:t>1</a:t>
            </a:r>
            <a:r>
              <a:rPr lang="zh-CN" altLang="en-US" dirty="0"/>
              <a:t>个与氧结合</a:t>
            </a:r>
          </a:p>
          <a:p>
            <a:pPr eaLnBrk="1" hangingPunct="1"/>
            <a:endParaRPr lang="en-US" altLang="zh-CN" dirty="0">
              <a:ea typeface="华文楷体" panose="02010600040101010101" pitchFamily="2" charset="-122"/>
            </a:endParaRPr>
          </a:p>
          <a:p>
            <a:pPr eaLnBrk="1" hangingPunct="1"/>
            <a:r>
              <a:rPr lang="en-US" altLang="zh-CN" dirty="0">
                <a:ea typeface="华文楷体" panose="02010600040101010101" pitchFamily="2" charset="-122"/>
              </a:rPr>
              <a:t>F8 His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a:extLst>
              <a:ext uri="{FF2B5EF4-FFF2-40B4-BE49-F238E27FC236}">
                <a16:creationId xmlns:a16="http://schemas.microsoft.com/office/drawing/2014/main" id="{01FD438A-F805-4867-A2DC-3DB4A824FD0A}"/>
              </a:ext>
            </a:extLst>
          </p:cNvPr>
          <p:cNvSpPr>
            <a:spLocks noGrp="1" noRot="1" noChangeAspect="1" noChangeArrowheads="1" noTextEdit="1"/>
          </p:cNvSpPr>
          <p:nvPr>
            <p:ph type="sldImg"/>
          </p:nvPr>
        </p:nvSpPr>
        <p:spPr>
          <a:xfrm>
            <a:off x="381000" y="685800"/>
            <a:ext cx="6096000" cy="3429000"/>
          </a:xfrm>
          <a:ln/>
        </p:spPr>
      </p:sp>
      <p:sp>
        <p:nvSpPr>
          <p:cNvPr id="68611" name="备注占位符 2">
            <a:extLst>
              <a:ext uri="{FF2B5EF4-FFF2-40B4-BE49-F238E27FC236}">
                <a16:creationId xmlns:a16="http://schemas.microsoft.com/office/drawing/2014/main" id="{BEA43FB4-8F4F-4B81-AD15-C918E8CC7FA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CO</a:t>
            </a:r>
            <a:r>
              <a:rPr lang="zh-CN" altLang="en-US" dirty="0"/>
              <a:t>和</a:t>
            </a:r>
            <a:r>
              <a:rPr lang="en-US" altLang="zh-CN" dirty="0"/>
              <a:t>NO</a:t>
            </a:r>
            <a:r>
              <a:rPr lang="zh-CN" altLang="en-US" dirty="0"/>
              <a:t>都能与血红素中的亚铁离子生成配位键，且比</a:t>
            </a:r>
            <a:r>
              <a:rPr lang="en-US" altLang="zh-CN" dirty="0"/>
              <a:t>O</a:t>
            </a:r>
            <a:r>
              <a:rPr lang="en-US" altLang="zh-CN" baseline="-25000" dirty="0"/>
              <a:t>2</a:t>
            </a:r>
            <a:r>
              <a:rPr lang="zh-CN" altLang="en-US" dirty="0"/>
              <a:t>与铁离子的亲合力更强，结合了</a:t>
            </a:r>
            <a:r>
              <a:rPr lang="en-US" altLang="zh-CN" dirty="0"/>
              <a:t>CO</a:t>
            </a:r>
            <a:r>
              <a:rPr lang="zh-CN" altLang="en-US" dirty="0"/>
              <a:t>的血红素不能再结合氧。 </a:t>
            </a:r>
          </a:p>
        </p:txBody>
      </p:sp>
      <p:sp>
        <p:nvSpPr>
          <p:cNvPr id="68612" name="日期占位符 3">
            <a:extLst>
              <a:ext uri="{FF2B5EF4-FFF2-40B4-BE49-F238E27FC236}">
                <a16:creationId xmlns:a16="http://schemas.microsoft.com/office/drawing/2014/main" id="{39892423-0833-4509-A255-E04D7D991358}"/>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D49FD03-6978-4F94-A1EC-010E217EF46F}"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68613" name="灯片编号占位符 4">
            <a:extLst>
              <a:ext uri="{FF2B5EF4-FFF2-40B4-BE49-F238E27FC236}">
                <a16:creationId xmlns:a16="http://schemas.microsoft.com/office/drawing/2014/main" id="{27B0C1D0-642E-44BE-A489-2539AB87F98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EACBBBC-29D0-4957-8936-989E946A5BFF}" type="slidenum">
              <a:rPr lang="en-US" altLang="zh-CN" sz="1200" smtClean="0">
                <a:latin typeface="Tahoma" panose="020B0604030504040204" pitchFamily="34" charset="0"/>
              </a:rPr>
              <a:pPr/>
              <a:t>30</a:t>
            </a:fld>
            <a:endParaRPr lang="en-US" altLang="zh-CN" sz="1200">
              <a:latin typeface="Tahoma" panose="020B060403050404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a:extLst>
              <a:ext uri="{FF2B5EF4-FFF2-40B4-BE49-F238E27FC236}">
                <a16:creationId xmlns:a16="http://schemas.microsoft.com/office/drawing/2014/main" id="{C2BEC7D9-7F8D-448C-9186-B820B162C97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67096E3-8DCB-4180-9C7A-289F7BB0294F}"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70659" name="Rectangle 7">
            <a:extLst>
              <a:ext uri="{FF2B5EF4-FFF2-40B4-BE49-F238E27FC236}">
                <a16:creationId xmlns:a16="http://schemas.microsoft.com/office/drawing/2014/main" id="{B0A585E5-502A-43D7-8D68-33F1D9CEA2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1440C3F-6681-4E2C-A361-C37D53F05E80}" type="slidenum">
              <a:rPr lang="en-US" altLang="zh-CN" sz="1200" smtClean="0">
                <a:latin typeface="Tahoma" panose="020B0604030504040204" pitchFamily="34" charset="0"/>
              </a:rPr>
              <a:pPr/>
              <a:t>31</a:t>
            </a:fld>
            <a:endParaRPr lang="en-US" altLang="zh-CN" sz="1200">
              <a:latin typeface="Tahoma" panose="020B0604030504040204" pitchFamily="34" charset="0"/>
            </a:endParaRPr>
          </a:p>
        </p:txBody>
      </p:sp>
      <p:sp>
        <p:nvSpPr>
          <p:cNvPr id="70660" name="Rectangle 2">
            <a:extLst>
              <a:ext uri="{FF2B5EF4-FFF2-40B4-BE49-F238E27FC236}">
                <a16:creationId xmlns:a16="http://schemas.microsoft.com/office/drawing/2014/main" id="{072C321A-3C89-4726-83F4-344D859B3868}"/>
              </a:ext>
            </a:extLst>
          </p:cNvPr>
          <p:cNvSpPr>
            <a:spLocks noGrp="1" noRot="1" noChangeAspect="1" noChangeArrowheads="1" noTextEdit="1"/>
          </p:cNvSpPr>
          <p:nvPr>
            <p:ph type="sldImg"/>
          </p:nvPr>
        </p:nvSpPr>
        <p:spPr>
          <a:xfrm>
            <a:off x="381000" y="685800"/>
            <a:ext cx="6096000" cy="3429000"/>
          </a:xfrm>
          <a:ln/>
        </p:spPr>
      </p:sp>
      <p:sp>
        <p:nvSpPr>
          <p:cNvPr id="70661" name="Rectangle 3">
            <a:extLst>
              <a:ext uri="{FF2B5EF4-FFF2-40B4-BE49-F238E27FC236}">
                <a16:creationId xmlns:a16="http://schemas.microsoft.com/office/drawing/2014/main" id="{2792FE27-856B-4698-9B66-4B12C0CE2F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0" lang="zh-CN" altLang="en-US" dirty="0"/>
              <a:t>共</a:t>
            </a:r>
            <a:r>
              <a:rPr kumimoji="0" lang="en-US" altLang="zh-CN" dirty="0"/>
              <a:t>574</a:t>
            </a:r>
            <a:r>
              <a:rPr kumimoji="0" lang="zh-CN" altLang="en-US" dirty="0"/>
              <a:t>个</a:t>
            </a:r>
            <a:r>
              <a:rPr kumimoji="0" lang="en-US" altLang="zh-CN" dirty="0"/>
              <a:t>aa</a:t>
            </a:r>
            <a:r>
              <a:rPr kumimoji="0" lang="zh-CN" altLang="en-US" dirty="0"/>
              <a:t>，</a:t>
            </a:r>
            <a:r>
              <a:rPr kumimoji="0" lang="en-US" altLang="zh-CN" dirty="0"/>
              <a:t>PDB ID 1HGA</a:t>
            </a:r>
          </a:p>
          <a:p>
            <a:endParaRPr lang="zh-CN" altLang="en-US" dirty="0"/>
          </a:p>
          <a:p>
            <a:r>
              <a:rPr lang="en-US" altLang="zh-CN" dirty="0"/>
              <a:t>the </a:t>
            </a:r>
            <a:r>
              <a:rPr lang="el-GR" altLang="zh-CN" dirty="0"/>
              <a:t>α</a:t>
            </a:r>
            <a:r>
              <a:rPr lang="en-US" altLang="zh-CN" dirty="0"/>
              <a:t> subunit lacks the short D helix.   </a:t>
            </a:r>
            <a:r>
              <a:rPr lang="el-GR" altLang="zh-CN" dirty="0"/>
              <a:t>α</a:t>
            </a:r>
            <a:r>
              <a:rPr lang="zh-CN" altLang="en-US" dirty="0"/>
              <a:t>亚基只有七个</a:t>
            </a:r>
            <a:r>
              <a:rPr lang="el-GR" altLang="zh-CN" dirty="0"/>
              <a:t>α</a:t>
            </a:r>
            <a:r>
              <a:rPr lang="zh-CN" altLang="en-US" dirty="0"/>
              <a:t>螺旋段 </a:t>
            </a:r>
            <a:endParaRPr lang="en-US" altLang="zh-CN" dirty="0"/>
          </a:p>
          <a:p>
            <a:endParaRPr lang="en-US" altLang="zh-CN" dirty="0"/>
          </a:p>
          <a:p>
            <a:r>
              <a:rPr lang="en-US" altLang="zh-CN" b="1" dirty="0"/>
              <a:t>The α1β1 interface (and its α2β2 counterpart) involves more than 30 residues</a:t>
            </a:r>
            <a:r>
              <a:rPr lang="en-US" altLang="zh-CN" dirty="0"/>
              <a:t>, and its interaction is sufficiently strong that although mild treatment of hemoglobin with urea tends to disassemble the tetramer into dimers, these dimers remain intact. </a:t>
            </a:r>
            <a:r>
              <a:rPr lang="en-US" altLang="zh-CN" b="1" dirty="0"/>
              <a:t>The α1β2 (and α2β1) interface involves 19 residues </a:t>
            </a:r>
            <a:r>
              <a:rPr lang="en-US" altLang="zh-CN" dirty="0"/>
              <a:t>. </a:t>
            </a:r>
            <a:r>
              <a:rPr lang="en-US" altLang="zh-CN" b="1" dirty="0"/>
              <a:t>Hydrophobic interactions predominate at all the interfaces</a:t>
            </a:r>
            <a:r>
              <a:rPr lang="en-US" altLang="zh-CN" dirty="0"/>
              <a:t>, but there are also many hydrogen bonds and a few ion pairs (or salt bridges). </a:t>
            </a:r>
          </a:p>
          <a:p>
            <a:endParaRPr kumimoji="0" lang="en-US" altLang="zh-CN" b="1"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a:extLst>
              <a:ext uri="{FF2B5EF4-FFF2-40B4-BE49-F238E27FC236}">
                <a16:creationId xmlns:a16="http://schemas.microsoft.com/office/drawing/2014/main" id="{552EA77D-D21C-4BDB-9028-6ACFB43F6090}"/>
              </a:ext>
            </a:extLst>
          </p:cNvPr>
          <p:cNvSpPr>
            <a:spLocks noGrp="1" noRot="1" noChangeAspect="1" noChangeArrowheads="1" noTextEdit="1"/>
          </p:cNvSpPr>
          <p:nvPr>
            <p:ph type="sldImg"/>
          </p:nvPr>
        </p:nvSpPr>
        <p:spPr>
          <a:xfrm>
            <a:off x="381000" y="685800"/>
            <a:ext cx="6096000" cy="3429000"/>
          </a:xfrm>
          <a:ln/>
        </p:spPr>
      </p:sp>
      <p:sp>
        <p:nvSpPr>
          <p:cNvPr id="72707" name="备注占位符 2">
            <a:extLst>
              <a:ext uri="{FF2B5EF4-FFF2-40B4-BE49-F238E27FC236}">
                <a16:creationId xmlns:a16="http://schemas.microsoft.com/office/drawing/2014/main" id="{6987B79D-C63E-4925-8600-7166BC46C8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还有</a:t>
            </a:r>
            <a:r>
              <a:rPr lang="en-US" altLang="zh-CN" dirty="0"/>
              <a:t>neuroglobin, cytoglobin</a:t>
            </a:r>
            <a:r>
              <a:rPr lang="zh-CN" altLang="en-US" dirty="0"/>
              <a:t>，与</a:t>
            </a:r>
            <a:r>
              <a:rPr lang="en-US" altLang="zh-CN" dirty="0"/>
              <a:t>myoglobin</a:t>
            </a:r>
            <a:r>
              <a:rPr lang="zh-CN" altLang="en-US" dirty="0"/>
              <a:t>类似，都是单体（</a:t>
            </a:r>
            <a:r>
              <a:rPr lang="en-US" altLang="zh-CN" dirty="0"/>
              <a:t>monomeric)</a:t>
            </a:r>
            <a:r>
              <a:rPr lang="zh-CN" altLang="en-US" dirty="0"/>
              <a:t> </a:t>
            </a:r>
          </a:p>
        </p:txBody>
      </p:sp>
      <p:sp>
        <p:nvSpPr>
          <p:cNvPr id="72708" name="日期占位符 3">
            <a:extLst>
              <a:ext uri="{FF2B5EF4-FFF2-40B4-BE49-F238E27FC236}">
                <a16:creationId xmlns:a16="http://schemas.microsoft.com/office/drawing/2014/main" id="{1126E3DA-34EF-40E5-BF51-89D2CC8250D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696C7AB-7E05-4A38-9AB7-3290492614D6}"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72709" name="灯片编号占位符 4">
            <a:extLst>
              <a:ext uri="{FF2B5EF4-FFF2-40B4-BE49-F238E27FC236}">
                <a16:creationId xmlns:a16="http://schemas.microsoft.com/office/drawing/2014/main" id="{F96B1AB9-C0A7-4099-ADA5-51272650A8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B0A73ED-AE8E-4CA5-9BE1-882955AD3B35}" type="slidenum">
              <a:rPr lang="en-US" altLang="zh-CN" sz="1200" smtClean="0">
                <a:latin typeface="Tahoma" panose="020B0604030504040204" pitchFamily="34" charset="0"/>
              </a:rPr>
              <a:pPr/>
              <a:t>32</a:t>
            </a:fld>
            <a:endParaRPr lang="en-US" altLang="zh-CN" sz="1200">
              <a:latin typeface="Tahoma" panose="020B060403050404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BBDEA81A-47C3-4DF7-B1C7-C9C941E7066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51DDB28-B475-460D-A8CD-D681CD3035F6}"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74755" name="Rectangle 7">
            <a:extLst>
              <a:ext uri="{FF2B5EF4-FFF2-40B4-BE49-F238E27FC236}">
                <a16:creationId xmlns:a16="http://schemas.microsoft.com/office/drawing/2014/main" id="{EBE3A05C-0A3B-465B-9B9C-4289126EF1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FBE69B2-CF86-48CA-85E1-EBFB7374F2F8}" type="slidenum">
              <a:rPr lang="en-US" altLang="zh-CN" sz="1200" smtClean="0">
                <a:latin typeface="Tahoma" panose="020B0604030504040204" pitchFamily="34" charset="0"/>
              </a:rPr>
              <a:pPr/>
              <a:t>33</a:t>
            </a:fld>
            <a:endParaRPr lang="en-US" altLang="zh-CN" sz="1200">
              <a:latin typeface="Tahoma" panose="020B0604030504040204" pitchFamily="34" charset="0"/>
            </a:endParaRPr>
          </a:p>
        </p:txBody>
      </p:sp>
      <p:sp>
        <p:nvSpPr>
          <p:cNvPr id="74756" name="Rectangle 2">
            <a:extLst>
              <a:ext uri="{FF2B5EF4-FFF2-40B4-BE49-F238E27FC236}">
                <a16:creationId xmlns:a16="http://schemas.microsoft.com/office/drawing/2014/main" id="{8DAD0570-E2AA-4917-BDC7-B19CC0D6F234}"/>
              </a:ext>
            </a:extLst>
          </p:cNvPr>
          <p:cNvSpPr>
            <a:spLocks noGrp="1" noRot="1" noChangeAspect="1" noChangeArrowheads="1" noTextEdit="1"/>
          </p:cNvSpPr>
          <p:nvPr>
            <p:ph type="sldImg"/>
          </p:nvPr>
        </p:nvSpPr>
        <p:spPr>
          <a:xfrm>
            <a:off x="381000" y="685800"/>
            <a:ext cx="6096000" cy="3429000"/>
          </a:xfrm>
          <a:ln/>
        </p:spPr>
      </p:sp>
      <p:sp>
        <p:nvSpPr>
          <p:cNvPr id="74757" name="Rectangle 3">
            <a:extLst>
              <a:ext uri="{FF2B5EF4-FFF2-40B4-BE49-F238E27FC236}">
                <a16:creationId xmlns:a16="http://schemas.microsoft.com/office/drawing/2014/main" id="{1EE6C117-B4B1-42C7-8C6F-9620086C2D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H9</a:t>
            </a:r>
            <a:r>
              <a:rPr lang="zh-CN" altLang="en-US" dirty="0"/>
              <a:t>： </a:t>
            </a:r>
            <a:r>
              <a:rPr lang="el-GR" altLang="zh-CN" dirty="0"/>
              <a:t>α</a:t>
            </a:r>
            <a:r>
              <a:rPr lang="zh-CN" altLang="en-US" dirty="0"/>
              <a:t>链</a:t>
            </a:r>
            <a:r>
              <a:rPr lang="en-US" altLang="zh-CN" dirty="0"/>
              <a:t>H</a:t>
            </a:r>
            <a:r>
              <a:rPr lang="zh-CN" altLang="en-US" dirty="0"/>
              <a:t>段的第</a:t>
            </a:r>
            <a:r>
              <a:rPr lang="en-US" altLang="zh-CN" dirty="0"/>
              <a:t>9</a:t>
            </a:r>
            <a:r>
              <a:rPr lang="zh-CN" altLang="en-US" dirty="0"/>
              <a:t>位氨基酸残基，为</a:t>
            </a:r>
            <a:r>
              <a:rPr lang="en-US" altLang="zh-CN" dirty="0"/>
              <a:t>Asp ; </a:t>
            </a:r>
          </a:p>
          <a:p>
            <a:pPr eaLnBrk="1" hangingPunct="1"/>
            <a:r>
              <a:rPr lang="en-US" altLang="zh-CN" dirty="0"/>
              <a:t>C5:    </a:t>
            </a:r>
            <a:r>
              <a:rPr lang="el-GR" altLang="zh-CN" dirty="0"/>
              <a:t>α</a:t>
            </a:r>
            <a:r>
              <a:rPr lang="zh-CN" altLang="en-US" dirty="0"/>
              <a:t>链</a:t>
            </a:r>
            <a:r>
              <a:rPr lang="en-US" altLang="zh-CN" dirty="0"/>
              <a:t>C</a:t>
            </a:r>
            <a:r>
              <a:rPr lang="zh-CN" altLang="en-US" dirty="0"/>
              <a:t>段的第</a:t>
            </a:r>
            <a:r>
              <a:rPr lang="en-US" altLang="zh-CN" dirty="0"/>
              <a:t>5</a:t>
            </a:r>
            <a:r>
              <a:rPr lang="zh-CN" altLang="en-US" dirty="0"/>
              <a:t>位氨基酸残基，为</a:t>
            </a:r>
            <a:r>
              <a:rPr lang="en-US" altLang="zh-CN" dirty="0"/>
              <a:t>Lys</a:t>
            </a:r>
            <a:r>
              <a:rPr lang="zh-CN" altLang="en-US" dirty="0"/>
              <a:t> </a:t>
            </a:r>
            <a:r>
              <a:rPr lang="en-US" altLang="zh-CN" dirty="0"/>
              <a:t>   </a:t>
            </a:r>
          </a:p>
          <a:p>
            <a:pPr eaLnBrk="1" hangingPunct="1"/>
            <a:r>
              <a:rPr lang="en-US" altLang="zh-CN" dirty="0"/>
              <a:t>FG1:  </a:t>
            </a:r>
            <a:r>
              <a:rPr lang="el-GR" altLang="zh-CN" dirty="0"/>
              <a:t>β</a:t>
            </a:r>
            <a:r>
              <a:rPr lang="zh-CN" altLang="en-US" dirty="0"/>
              <a:t>链</a:t>
            </a:r>
            <a:r>
              <a:rPr lang="en-US" altLang="zh-CN" dirty="0"/>
              <a:t>F</a:t>
            </a:r>
            <a:r>
              <a:rPr lang="zh-CN" altLang="en-US" dirty="0"/>
              <a:t>段与</a:t>
            </a:r>
            <a:r>
              <a:rPr lang="en-US" altLang="zh-CN" dirty="0"/>
              <a:t>G</a:t>
            </a:r>
            <a:r>
              <a:rPr lang="zh-CN" altLang="en-US" dirty="0"/>
              <a:t>段间隔区的第</a:t>
            </a:r>
            <a:r>
              <a:rPr lang="en-US" altLang="zh-CN" dirty="0"/>
              <a:t>1</a:t>
            </a:r>
            <a:r>
              <a:rPr lang="zh-CN" altLang="en-US" dirty="0"/>
              <a:t>位氨基酸残基</a:t>
            </a:r>
            <a:r>
              <a:rPr lang="en-US" altLang="zh-CN" dirty="0"/>
              <a:t>,</a:t>
            </a:r>
            <a:r>
              <a:rPr lang="zh-CN" altLang="en-US" dirty="0"/>
              <a:t>是</a:t>
            </a:r>
            <a:r>
              <a:rPr lang="en-US" altLang="zh-CN" dirty="0"/>
              <a:t>Asp;    </a:t>
            </a:r>
          </a:p>
          <a:p>
            <a:pPr eaLnBrk="1" hangingPunct="1"/>
            <a:r>
              <a:rPr lang="en-US" altLang="zh-CN" dirty="0"/>
              <a:t>HC3</a:t>
            </a:r>
            <a:r>
              <a:rPr lang="zh-CN" altLang="en-US" dirty="0"/>
              <a:t>： </a:t>
            </a:r>
            <a:r>
              <a:rPr lang="el-GR" altLang="zh-CN" dirty="0"/>
              <a:t>α</a:t>
            </a:r>
            <a:r>
              <a:rPr lang="zh-CN" altLang="en-US" dirty="0"/>
              <a:t>链或</a:t>
            </a:r>
            <a:r>
              <a:rPr lang="el-GR" altLang="zh-CN" dirty="0"/>
              <a:t>β</a:t>
            </a:r>
            <a:r>
              <a:rPr lang="zh-CN" altLang="en-US" dirty="0"/>
              <a:t>链羧基末端氨基酸，分别为</a:t>
            </a:r>
            <a:r>
              <a:rPr lang="en-US" altLang="zh-CN" dirty="0"/>
              <a:t>Arg</a:t>
            </a:r>
            <a:r>
              <a:rPr lang="zh-CN" altLang="en-US" dirty="0"/>
              <a:t>和</a:t>
            </a:r>
            <a:r>
              <a:rPr lang="en-US" altLang="zh-CN" dirty="0"/>
              <a:t>His.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AC730FD5-60DB-4D60-B795-A66FA6A565F3}"/>
              </a:ext>
            </a:extLst>
          </p:cNvPr>
          <p:cNvSpPr>
            <a:spLocks noGrp="1" noRot="1" noChangeAspect="1" noChangeArrowheads="1" noTextEdit="1"/>
          </p:cNvSpPr>
          <p:nvPr>
            <p:ph type="sldImg"/>
          </p:nvPr>
        </p:nvSpPr>
        <p:spPr>
          <a:xfrm>
            <a:off x="381000" y="685800"/>
            <a:ext cx="6096000" cy="3429000"/>
          </a:xfrm>
          <a:ln/>
        </p:spPr>
      </p:sp>
      <p:sp>
        <p:nvSpPr>
          <p:cNvPr id="76803" name="备注占位符 2">
            <a:extLst>
              <a:ext uri="{FF2B5EF4-FFF2-40B4-BE49-F238E27FC236}">
                <a16:creationId xmlns:a16="http://schemas.microsoft.com/office/drawing/2014/main" id="{B72576F8-F597-4472-B0DD-F002F41ED94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肺部动脉血氧饱和度约</a:t>
            </a:r>
            <a:r>
              <a:rPr lang="en-US" altLang="zh-CN" dirty="0"/>
              <a:t>96% </a:t>
            </a:r>
            <a:r>
              <a:rPr lang="zh-CN" altLang="en-US" dirty="0"/>
              <a:t>，而静脉血中氧饱和度约</a:t>
            </a:r>
            <a:r>
              <a:rPr lang="en-US" altLang="zh-CN" dirty="0"/>
              <a:t>64% </a:t>
            </a:r>
            <a:r>
              <a:rPr lang="zh-CN" altLang="en-US" dirty="0"/>
              <a:t>，因此，每</a:t>
            </a:r>
            <a:r>
              <a:rPr lang="en-US" altLang="zh-CN" dirty="0"/>
              <a:t>100</a:t>
            </a:r>
            <a:r>
              <a:rPr lang="zh-CN" altLang="en-US" dirty="0"/>
              <a:t>毫升血液循环一周送出所携氧的约三分之一给外周组织，也就是约</a:t>
            </a:r>
            <a:r>
              <a:rPr lang="en-US" altLang="zh-CN" dirty="0"/>
              <a:t>6.5 mL O</a:t>
            </a:r>
            <a:r>
              <a:rPr lang="en-US" altLang="zh-CN" baseline="-25000" dirty="0"/>
              <a:t>2</a:t>
            </a:r>
            <a:r>
              <a:rPr lang="en-US" altLang="zh-CN" dirty="0"/>
              <a:t> </a:t>
            </a:r>
            <a:r>
              <a:rPr lang="zh-CN" altLang="en-US" dirty="0"/>
              <a:t>（体温，一个大气压下）。</a:t>
            </a:r>
          </a:p>
          <a:p>
            <a:endParaRPr lang="zh-CN" altLang="en-US" dirty="0"/>
          </a:p>
        </p:txBody>
      </p:sp>
      <p:sp>
        <p:nvSpPr>
          <p:cNvPr id="76804" name="日期占位符 3">
            <a:extLst>
              <a:ext uri="{FF2B5EF4-FFF2-40B4-BE49-F238E27FC236}">
                <a16:creationId xmlns:a16="http://schemas.microsoft.com/office/drawing/2014/main" id="{AE7F5B8E-D691-4878-88E1-13BFE27B8297}"/>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7C90C44-8823-4C3F-9CAF-F549FEB3ACA0}"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76805" name="灯片编号占位符 4">
            <a:extLst>
              <a:ext uri="{FF2B5EF4-FFF2-40B4-BE49-F238E27FC236}">
                <a16:creationId xmlns:a16="http://schemas.microsoft.com/office/drawing/2014/main" id="{C6BCBB29-8B39-459A-9001-138C73AFA9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06A83F3-DC6C-48CD-9E32-E8D480F03593}" type="slidenum">
              <a:rPr lang="en-US" altLang="zh-CN" sz="1200" smtClean="0">
                <a:latin typeface="Tahoma" panose="020B0604030504040204" pitchFamily="34" charset="0"/>
              </a:rPr>
              <a:pPr/>
              <a:t>34</a:t>
            </a:fld>
            <a:endParaRPr lang="en-US" altLang="zh-CN" sz="1200">
              <a:latin typeface="Tahoma" panose="020B060403050404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a:extLst>
              <a:ext uri="{FF2B5EF4-FFF2-40B4-BE49-F238E27FC236}">
                <a16:creationId xmlns:a16="http://schemas.microsoft.com/office/drawing/2014/main" id="{2DAC2B1C-5108-4531-86D8-8C5D794F136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498182F-366D-4EE8-A765-9A6F9747C3C0}"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78851" name="Rectangle 7">
            <a:extLst>
              <a:ext uri="{FF2B5EF4-FFF2-40B4-BE49-F238E27FC236}">
                <a16:creationId xmlns:a16="http://schemas.microsoft.com/office/drawing/2014/main" id="{DAB2C581-3744-436E-A8C6-A4BFA16D2C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C33BCEE-EFBE-4B47-B10C-332FC8C01A1C}" type="slidenum">
              <a:rPr lang="en-US" altLang="zh-CN" sz="1200" smtClean="0">
                <a:latin typeface="Tahoma" panose="020B0604030504040204" pitchFamily="34" charset="0"/>
              </a:rPr>
              <a:pPr/>
              <a:t>35</a:t>
            </a:fld>
            <a:endParaRPr lang="en-US" altLang="zh-CN" sz="1200">
              <a:latin typeface="Tahoma" panose="020B0604030504040204" pitchFamily="34" charset="0"/>
            </a:endParaRPr>
          </a:p>
        </p:txBody>
      </p:sp>
      <p:sp>
        <p:nvSpPr>
          <p:cNvPr id="78852" name="Rectangle 2">
            <a:extLst>
              <a:ext uri="{FF2B5EF4-FFF2-40B4-BE49-F238E27FC236}">
                <a16:creationId xmlns:a16="http://schemas.microsoft.com/office/drawing/2014/main" id="{39E8134C-DDD6-46DD-B75E-B5F251294BDC}"/>
              </a:ext>
            </a:extLst>
          </p:cNvPr>
          <p:cNvSpPr>
            <a:spLocks noGrp="1" noRot="1" noChangeAspect="1" noChangeArrowheads="1" noTextEdit="1"/>
          </p:cNvSpPr>
          <p:nvPr>
            <p:ph type="sldImg"/>
          </p:nvPr>
        </p:nvSpPr>
        <p:spPr>
          <a:xfrm>
            <a:off x="381000" y="685800"/>
            <a:ext cx="6096000" cy="3429000"/>
          </a:xfrm>
          <a:ln/>
        </p:spPr>
      </p:sp>
      <p:sp>
        <p:nvSpPr>
          <p:cNvPr id="78853" name="Rectangle 3">
            <a:extLst>
              <a:ext uri="{FF2B5EF4-FFF2-40B4-BE49-F238E27FC236}">
                <a16:creationId xmlns:a16="http://schemas.microsoft.com/office/drawing/2014/main" id="{DFADB821-09F3-486F-B38C-EB43841D91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Hb</a:t>
            </a:r>
            <a:r>
              <a:rPr lang="zh-CN" altLang="en-US" dirty="0">
                <a:latin typeface="宋体" panose="02010600030101010101" pitchFamily="2" charset="-122"/>
              </a:rPr>
              <a:t>在体内的主要功能为运输氧气，</a:t>
            </a:r>
            <a:r>
              <a:rPr lang="en-US" altLang="zh-CN" dirty="0"/>
              <a:t>Hb</a:t>
            </a:r>
            <a:r>
              <a:rPr lang="zh-CN" altLang="en-US" dirty="0">
                <a:latin typeface="宋体" panose="02010600030101010101" pitchFamily="2" charset="-122"/>
              </a:rPr>
              <a:t>的别构效应，</a:t>
            </a:r>
            <a:r>
              <a:rPr lang="zh-CN" altLang="en-US" b="1" dirty="0">
                <a:latin typeface="宋体" panose="02010600030101010101" pitchFamily="2" charset="-122"/>
              </a:rPr>
              <a:t>极有利于它在肺部与</a:t>
            </a:r>
            <a:r>
              <a:rPr lang="en-US" altLang="zh-CN" b="1" dirty="0"/>
              <a:t>O2</a:t>
            </a:r>
            <a:r>
              <a:rPr lang="zh-CN" altLang="en-US" b="1" dirty="0">
                <a:latin typeface="宋体" panose="02010600030101010101" pitchFamily="2" charset="-122"/>
              </a:rPr>
              <a:t>结合及在周围组织释放</a:t>
            </a:r>
            <a:r>
              <a:rPr lang="en-US" altLang="zh-CN" b="1" dirty="0"/>
              <a:t>O2</a:t>
            </a:r>
            <a:r>
              <a:rPr lang="zh-CN" altLang="en-US" dirty="0">
                <a:latin typeface="宋体" panose="02010600030101010101" pitchFamily="2" charset="-122"/>
              </a:rPr>
              <a:t>。</a:t>
            </a:r>
            <a:r>
              <a:rPr lang="zh-CN" altLang="en-US" dirty="0"/>
              <a:t> </a:t>
            </a:r>
          </a:p>
          <a:p>
            <a:pPr eaLnBrk="1" hangingPunct="1"/>
            <a:endParaRPr lang="en-US" altLang="zh-CN" dirty="0"/>
          </a:p>
          <a:p>
            <a:pPr eaLnBrk="1" hangingPunct="1"/>
            <a:r>
              <a:rPr lang="zh-CN" altLang="en-US" b="1" dirty="0"/>
              <a:t>大气中氧分压为</a:t>
            </a:r>
            <a:r>
              <a:rPr lang="en-US" altLang="zh-CN" b="1" dirty="0"/>
              <a:t>160mmHg, </a:t>
            </a:r>
            <a:r>
              <a:rPr lang="zh-CN" altLang="en-US" b="1" dirty="0"/>
              <a:t>肺泡中氧分压为</a:t>
            </a:r>
            <a:r>
              <a:rPr lang="en-US" altLang="zh-CN" b="1" dirty="0"/>
              <a:t>102mmHg</a:t>
            </a:r>
            <a:r>
              <a:rPr lang="zh-CN" altLang="en-US" dirty="0"/>
              <a:t>， 动脉血氧分压为</a:t>
            </a:r>
            <a:r>
              <a:rPr lang="en-US" altLang="zh-CN" dirty="0"/>
              <a:t>13.3kPa(100mmHg</a:t>
            </a:r>
            <a:r>
              <a:rPr lang="zh-CN" altLang="en-US" dirty="0"/>
              <a:t>， 静脉血氧分压为</a:t>
            </a:r>
            <a:r>
              <a:rPr lang="en-US" altLang="zh-CN" dirty="0"/>
              <a:t>5.32kPa(40mmHg), </a:t>
            </a:r>
            <a:r>
              <a:rPr lang="zh-CN" altLang="en-US" dirty="0"/>
              <a:t>组织氧分压为</a:t>
            </a:r>
            <a:r>
              <a:rPr lang="en-US" altLang="zh-CN" dirty="0"/>
              <a:t>4kPa(30mmHg</a:t>
            </a:r>
            <a:r>
              <a:rPr lang="en-US" altLang="zh-CN" b="1" dirty="0"/>
              <a:t>),  </a:t>
            </a:r>
            <a:r>
              <a:rPr lang="zh-CN" altLang="en-US" b="1" dirty="0"/>
              <a:t>细胞内线粒体处的氧分压最低，不足</a:t>
            </a:r>
            <a:r>
              <a:rPr lang="en-US" altLang="zh-CN" b="1" dirty="0"/>
              <a:t>1kPa</a:t>
            </a:r>
            <a:r>
              <a:rPr lang="zh-CN" altLang="en-US" dirty="0"/>
              <a:t>。 </a:t>
            </a:r>
            <a:endParaRPr lang="en-US" altLang="zh-CN" dirty="0"/>
          </a:p>
          <a:p>
            <a:pPr eaLnBrk="1" hangingPunct="1"/>
            <a:r>
              <a:rPr lang="zh-CN" altLang="en-US" dirty="0"/>
              <a:t>这种氧分压差决定了氧弥散的方向和速度。 </a:t>
            </a:r>
          </a:p>
          <a:p>
            <a:pPr eaLnBrk="1" hangingPunct="1"/>
            <a:endParaRPr lang="en-US" altLang="zh-CN" dirty="0"/>
          </a:p>
          <a:p>
            <a:pPr eaLnBrk="1" hangingPunct="1"/>
            <a:r>
              <a:rPr lang="en-US" altLang="zh-CN" dirty="0"/>
              <a:t>P</a:t>
            </a:r>
            <a:r>
              <a:rPr lang="en-US" altLang="zh-CN" baseline="-25000" dirty="0"/>
              <a:t>50</a:t>
            </a:r>
            <a:r>
              <a:rPr lang="en-US" altLang="zh-CN" dirty="0"/>
              <a:t>:   </a:t>
            </a:r>
            <a:r>
              <a:rPr lang="zh-CN" altLang="en-US" dirty="0"/>
              <a:t>氧百分饱和度为</a:t>
            </a:r>
            <a:r>
              <a:rPr lang="en-US" altLang="zh-CN" dirty="0"/>
              <a:t>50%</a:t>
            </a:r>
            <a:r>
              <a:rPr lang="zh-CN" altLang="en-US" dirty="0"/>
              <a:t>时的氧分压 </a:t>
            </a:r>
            <a:endParaRPr lang="en-US" altLang="zh-CN" dirty="0"/>
          </a:p>
          <a:p>
            <a:pPr eaLnBrk="1" hangingPunct="1"/>
            <a:endParaRPr lang="en-US" altLang="zh-CN" dirty="0"/>
          </a:p>
          <a:p>
            <a:pPr eaLnBrk="1" hangingPunct="1"/>
            <a:r>
              <a:rPr lang="en-US" altLang="zh-CN" dirty="0"/>
              <a:t>Rectangular hyperbola  vs    Sigmoidal curve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a:extLst>
              <a:ext uri="{FF2B5EF4-FFF2-40B4-BE49-F238E27FC236}">
                <a16:creationId xmlns:a16="http://schemas.microsoft.com/office/drawing/2014/main" id="{BFF36B4F-5929-4A49-B163-EC416D657072}"/>
              </a:ext>
            </a:extLst>
          </p:cNvPr>
          <p:cNvSpPr>
            <a:spLocks noGrp="1" noRot="1" noChangeAspect="1" noChangeArrowheads="1" noTextEdit="1"/>
          </p:cNvSpPr>
          <p:nvPr>
            <p:ph type="sldImg"/>
          </p:nvPr>
        </p:nvSpPr>
        <p:spPr>
          <a:xfrm>
            <a:off x="381000" y="685800"/>
            <a:ext cx="6096000" cy="3429000"/>
          </a:xfrm>
          <a:ln/>
        </p:spPr>
      </p:sp>
      <p:sp>
        <p:nvSpPr>
          <p:cNvPr id="80899" name="备注占位符 2">
            <a:extLst>
              <a:ext uri="{FF2B5EF4-FFF2-40B4-BE49-F238E27FC236}">
                <a16:creationId xmlns:a16="http://schemas.microsoft.com/office/drawing/2014/main" id="{7976D22F-C308-4294-A191-7E5F080359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第一个</a:t>
            </a:r>
            <a:r>
              <a:rPr lang="en-US" altLang="zh-CN" dirty="0"/>
              <a:t>O</a:t>
            </a:r>
            <a:r>
              <a:rPr lang="en-US" altLang="zh-CN" baseline="-25000" dirty="0"/>
              <a:t>2</a:t>
            </a:r>
            <a:r>
              <a:rPr lang="zh-CN" altLang="en-US" dirty="0"/>
              <a:t>结合时，要打开的盐键不只是</a:t>
            </a:r>
            <a:r>
              <a:rPr lang="en-US" altLang="zh-CN" dirty="0"/>
              <a:t>4</a:t>
            </a:r>
            <a:r>
              <a:rPr lang="zh-CN" altLang="en-US" dirty="0"/>
              <a:t>个亚基间盐键的</a:t>
            </a:r>
            <a:r>
              <a:rPr lang="en-US" altLang="zh-CN" dirty="0"/>
              <a:t>1/4</a:t>
            </a:r>
            <a:r>
              <a:rPr lang="zh-CN" altLang="en-US" dirty="0"/>
              <a:t>，而是要多一些，打开盐键需要能量。因此，第一个</a:t>
            </a:r>
            <a:r>
              <a:rPr lang="en-US" altLang="zh-CN" dirty="0"/>
              <a:t>O</a:t>
            </a:r>
            <a:r>
              <a:rPr lang="en-US" altLang="zh-CN" baseline="-25000" dirty="0"/>
              <a:t>2</a:t>
            </a:r>
            <a:r>
              <a:rPr lang="zh-CN" altLang="en-US" dirty="0"/>
              <a:t>的结合需要的能量多于第</a:t>
            </a:r>
            <a:r>
              <a:rPr lang="en-US" altLang="zh-CN" dirty="0"/>
              <a:t>2</a:t>
            </a:r>
            <a:r>
              <a:rPr lang="zh-CN" altLang="en-US" dirty="0"/>
              <a:t>、第</a:t>
            </a:r>
            <a:r>
              <a:rPr lang="en-US" altLang="zh-CN" dirty="0"/>
              <a:t>3</a:t>
            </a:r>
            <a:r>
              <a:rPr lang="zh-CN" altLang="en-US" dirty="0"/>
              <a:t>个</a:t>
            </a:r>
            <a:r>
              <a:rPr lang="en-US" altLang="zh-CN" dirty="0"/>
              <a:t>O</a:t>
            </a:r>
            <a:r>
              <a:rPr lang="en-US" altLang="zh-CN" baseline="-25000" dirty="0"/>
              <a:t>2 , </a:t>
            </a:r>
            <a:r>
              <a:rPr lang="zh-CN" altLang="en-US" dirty="0"/>
              <a:t>结合到第</a:t>
            </a:r>
            <a:r>
              <a:rPr lang="en-US" altLang="zh-CN" dirty="0"/>
              <a:t>4</a:t>
            </a:r>
            <a:r>
              <a:rPr lang="zh-CN" altLang="en-US" dirty="0"/>
              <a:t>个</a:t>
            </a:r>
            <a:r>
              <a:rPr lang="en-US" altLang="zh-CN" dirty="0"/>
              <a:t>O</a:t>
            </a:r>
            <a:r>
              <a:rPr lang="en-US" altLang="zh-CN" baseline="-25000" dirty="0">
                <a:latin typeface="Cambria Math" panose="02040503050406030204" pitchFamily="18" charset="0"/>
              </a:rPr>
              <a:t>2</a:t>
            </a:r>
            <a:r>
              <a:rPr lang="zh-CN" altLang="en-US" dirty="0"/>
              <a:t>时，需能更少，结合</a:t>
            </a:r>
            <a:r>
              <a:rPr lang="en-US" altLang="zh-CN" dirty="0"/>
              <a:t>O</a:t>
            </a:r>
            <a:r>
              <a:rPr lang="en-US" altLang="zh-CN" baseline="-25000" dirty="0"/>
              <a:t>2</a:t>
            </a:r>
            <a:r>
              <a:rPr lang="zh-CN" altLang="en-US" dirty="0"/>
              <a:t>速度比第</a:t>
            </a:r>
            <a:r>
              <a:rPr lang="en-US" altLang="zh-CN" dirty="0"/>
              <a:t>1</a:t>
            </a:r>
            <a:r>
              <a:rPr lang="zh-CN" altLang="en-US" dirty="0"/>
              <a:t>个时高几百倍。 </a:t>
            </a:r>
          </a:p>
          <a:p>
            <a:r>
              <a:rPr lang="zh-CN" altLang="en-US" dirty="0"/>
              <a:t>此种一个亚基的别构作用，促进另一亚基变构的现象，称为亚基间的协同效应</a:t>
            </a:r>
            <a:r>
              <a:rPr lang="en-US" altLang="zh-CN" dirty="0"/>
              <a:t>(cooperativity)</a:t>
            </a:r>
            <a:r>
              <a:rPr lang="zh-CN" altLang="en-US" dirty="0"/>
              <a:t>，所以</a:t>
            </a:r>
            <a:r>
              <a:rPr lang="en-US" altLang="zh-CN" dirty="0"/>
              <a:t>Hb</a:t>
            </a:r>
            <a:r>
              <a:rPr lang="zh-CN" altLang="en-US" dirty="0"/>
              <a:t>氧解离曲线呈“</a:t>
            </a:r>
            <a:r>
              <a:rPr lang="en-US" altLang="zh-CN" dirty="0"/>
              <a:t>S”</a:t>
            </a:r>
            <a:r>
              <a:rPr lang="zh-CN" altLang="en-US" dirty="0"/>
              <a:t>型 </a:t>
            </a:r>
          </a:p>
          <a:p>
            <a:endParaRPr lang="en-US" altLang="zh-CN" dirty="0"/>
          </a:p>
          <a:p>
            <a:r>
              <a:rPr lang="zh-CN" altLang="en-US" dirty="0"/>
              <a:t>反之，当氧合血红蛋白的一个亚基发生解离时，也会使其余亚基更容易解离。这样，血液进入氧分压较低的组织中时，血红蛋白就会迅速将氧放出，起到高效运输氧气的作用。</a:t>
            </a:r>
          </a:p>
        </p:txBody>
      </p:sp>
      <p:sp>
        <p:nvSpPr>
          <p:cNvPr id="80900" name="日期占位符 3">
            <a:extLst>
              <a:ext uri="{FF2B5EF4-FFF2-40B4-BE49-F238E27FC236}">
                <a16:creationId xmlns:a16="http://schemas.microsoft.com/office/drawing/2014/main" id="{E7BF036B-4835-41AD-977F-AD144157D6C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AEEEB41-7749-4DD1-96AA-A635D78817B1}"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80901" name="灯片编号占位符 4">
            <a:extLst>
              <a:ext uri="{FF2B5EF4-FFF2-40B4-BE49-F238E27FC236}">
                <a16:creationId xmlns:a16="http://schemas.microsoft.com/office/drawing/2014/main" id="{34130609-BA2B-4619-AAEA-6D91F78EA12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7A48E69-30BA-46BF-BCA4-3F02944A4A94}" type="slidenum">
              <a:rPr lang="en-US" altLang="zh-CN" sz="1200" smtClean="0">
                <a:latin typeface="Tahoma" panose="020B0604030504040204" pitchFamily="34" charset="0"/>
              </a:rPr>
              <a:pPr/>
              <a:t>36</a:t>
            </a:fld>
            <a:endParaRPr lang="en-US" altLang="zh-CN" sz="1200">
              <a:latin typeface="Tahoma" panose="020B060403050404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A997F364-34CD-4D62-B336-94C14B92B00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9778F45-A137-4D21-870A-C94F67B44341}"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82947" name="Rectangle 7">
            <a:extLst>
              <a:ext uri="{FF2B5EF4-FFF2-40B4-BE49-F238E27FC236}">
                <a16:creationId xmlns:a16="http://schemas.microsoft.com/office/drawing/2014/main" id="{6DD84041-635E-4E46-9404-99D8C9F286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022DF34-4211-4967-9C89-6D5A6EFDAC34}" type="slidenum">
              <a:rPr lang="en-US" altLang="zh-CN" sz="1200" smtClean="0">
                <a:latin typeface="Tahoma" panose="020B0604030504040204" pitchFamily="34" charset="0"/>
              </a:rPr>
              <a:pPr/>
              <a:t>37</a:t>
            </a:fld>
            <a:endParaRPr lang="en-US" altLang="zh-CN" sz="1200">
              <a:latin typeface="Tahoma" panose="020B0604030504040204" pitchFamily="34" charset="0"/>
            </a:endParaRPr>
          </a:p>
        </p:txBody>
      </p:sp>
      <p:sp>
        <p:nvSpPr>
          <p:cNvPr id="82948" name="Rectangle 2">
            <a:extLst>
              <a:ext uri="{FF2B5EF4-FFF2-40B4-BE49-F238E27FC236}">
                <a16:creationId xmlns:a16="http://schemas.microsoft.com/office/drawing/2014/main" id="{8D35A3DC-4FFF-4EB3-BBFE-8CC70791333A}"/>
              </a:ext>
            </a:extLst>
          </p:cNvPr>
          <p:cNvSpPr>
            <a:spLocks noGrp="1" noRot="1" noChangeAspect="1" noChangeArrowheads="1" noTextEdit="1"/>
          </p:cNvSpPr>
          <p:nvPr>
            <p:ph type="sldImg"/>
          </p:nvPr>
        </p:nvSpPr>
        <p:spPr>
          <a:xfrm>
            <a:off x="381000" y="685800"/>
            <a:ext cx="6096000" cy="3429000"/>
          </a:xfrm>
          <a:ln/>
        </p:spPr>
      </p:sp>
      <p:sp>
        <p:nvSpPr>
          <p:cNvPr id="82949" name="Rectangle 3">
            <a:extLst>
              <a:ext uri="{FF2B5EF4-FFF2-40B4-BE49-F238E27FC236}">
                <a16:creationId xmlns:a16="http://schemas.microsoft.com/office/drawing/2014/main" id="{3356BEF2-CBA3-4E5C-A141-9DF13C1ED6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T</a:t>
            </a:r>
            <a:r>
              <a:rPr lang="zh-CN" altLang="en-US" dirty="0"/>
              <a:t>态时</a:t>
            </a:r>
            <a:r>
              <a:rPr lang="en-US" altLang="zh-CN" dirty="0"/>
              <a:t>Hb</a:t>
            </a:r>
            <a:r>
              <a:rPr lang="zh-CN" altLang="en-US" dirty="0"/>
              <a:t>与一分子</a:t>
            </a:r>
            <a:r>
              <a:rPr lang="en-US" altLang="zh-CN" dirty="0"/>
              <a:t>2</a:t>
            </a:r>
            <a:r>
              <a:rPr lang="zh-CN" altLang="en-US" dirty="0"/>
              <a:t>，</a:t>
            </a:r>
            <a:r>
              <a:rPr lang="en-US" altLang="zh-CN" dirty="0"/>
              <a:t>3</a:t>
            </a:r>
            <a:r>
              <a:rPr lang="zh-CN" altLang="en-US" dirty="0"/>
              <a:t>－</a:t>
            </a:r>
            <a:r>
              <a:rPr lang="en-US" altLang="zh-CN" dirty="0"/>
              <a:t>BPG</a:t>
            </a:r>
            <a:r>
              <a:rPr lang="zh-CN" altLang="en-US" dirty="0"/>
              <a:t>结合（</a:t>
            </a:r>
            <a:r>
              <a:rPr lang="en-US" altLang="zh-CN" dirty="0"/>
              <a:t>BPG</a:t>
            </a:r>
            <a:r>
              <a:rPr lang="zh-CN" altLang="en-US" dirty="0"/>
              <a:t>，位于两个</a:t>
            </a:r>
            <a:r>
              <a:rPr lang="el-GR" altLang="zh-CN" dirty="0"/>
              <a:t>β</a:t>
            </a:r>
            <a:r>
              <a:rPr lang="zh-CN" altLang="en-US" dirty="0"/>
              <a:t>亚基之间），有利于</a:t>
            </a:r>
            <a:r>
              <a:rPr lang="en-US" altLang="zh-CN" dirty="0"/>
              <a:t>T</a:t>
            </a:r>
            <a:r>
              <a:rPr lang="zh-CN" altLang="en-US" dirty="0"/>
              <a:t>态的稳定。 氧分子更易与</a:t>
            </a:r>
            <a:r>
              <a:rPr lang="en-US" altLang="zh-CN" dirty="0"/>
              <a:t>R</a:t>
            </a:r>
            <a:r>
              <a:rPr lang="zh-CN" altLang="en-US" dirty="0"/>
              <a:t>态的</a:t>
            </a:r>
            <a:r>
              <a:rPr lang="en-US" altLang="zh-CN" dirty="0"/>
              <a:t>Hb</a:t>
            </a:r>
            <a:r>
              <a:rPr lang="zh-CN" altLang="en-US" dirty="0"/>
              <a:t>结合，这种结合更利于</a:t>
            </a:r>
            <a:r>
              <a:rPr lang="en-US" altLang="zh-CN" dirty="0"/>
              <a:t>R</a:t>
            </a:r>
            <a:r>
              <a:rPr lang="zh-CN" altLang="en-US" dirty="0"/>
              <a:t>态的稳定，</a:t>
            </a:r>
            <a:r>
              <a:rPr lang="en-US" altLang="zh-CN" dirty="0"/>
              <a:t>R</a:t>
            </a:r>
            <a:r>
              <a:rPr lang="zh-CN" altLang="en-US" dirty="0"/>
              <a:t>态不含</a:t>
            </a:r>
            <a:r>
              <a:rPr lang="en-US" altLang="zh-CN" dirty="0"/>
              <a:t>BPG</a:t>
            </a:r>
            <a:endParaRPr lang="zh-CN" altLang="en-US" dirty="0"/>
          </a:p>
          <a:p>
            <a:endParaRPr lang="en-US"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54282A49-AD56-4C57-B373-B7D071EECDD1}"/>
              </a:ext>
            </a:extLst>
          </p:cNvPr>
          <p:cNvSpPr>
            <a:spLocks noGrp="1" noRot="1" noChangeAspect="1" noChangeArrowheads="1" noTextEdit="1"/>
          </p:cNvSpPr>
          <p:nvPr>
            <p:ph type="sldImg"/>
          </p:nvPr>
        </p:nvSpPr>
        <p:spPr>
          <a:xfrm>
            <a:off x="381000" y="685800"/>
            <a:ext cx="6096000" cy="3429000"/>
          </a:xfrm>
          <a:ln/>
        </p:spPr>
      </p:sp>
      <p:sp>
        <p:nvSpPr>
          <p:cNvPr id="84995" name="备注占位符 2">
            <a:extLst>
              <a:ext uri="{FF2B5EF4-FFF2-40B4-BE49-F238E27FC236}">
                <a16:creationId xmlns:a16="http://schemas.microsoft.com/office/drawing/2014/main" id="{D8D625D1-FDB3-469B-8212-8F469CFFAF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taut [</a:t>
            </a:r>
            <a:r>
              <a:rPr lang="en-US" altLang="zh-CN" dirty="0" err="1"/>
              <a:t>tɔːt</a:t>
            </a:r>
            <a:r>
              <a:rPr lang="en-US" altLang="zh-CN" dirty="0"/>
              <a:t>]</a:t>
            </a:r>
            <a:r>
              <a:rPr lang="zh-CN" altLang="en-US" dirty="0"/>
              <a:t>拉紧的；绷紧的；紧张的；</a:t>
            </a:r>
          </a:p>
        </p:txBody>
      </p:sp>
      <p:sp>
        <p:nvSpPr>
          <p:cNvPr id="84996" name="日期占位符 3">
            <a:extLst>
              <a:ext uri="{FF2B5EF4-FFF2-40B4-BE49-F238E27FC236}">
                <a16:creationId xmlns:a16="http://schemas.microsoft.com/office/drawing/2014/main" id="{7DA3B844-A5A0-41B4-B034-73070411A5C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6891D3D-7645-43FE-83CA-9D49E873EE35}"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84997" name="灯片编号占位符 4">
            <a:extLst>
              <a:ext uri="{FF2B5EF4-FFF2-40B4-BE49-F238E27FC236}">
                <a16:creationId xmlns:a16="http://schemas.microsoft.com/office/drawing/2014/main" id="{1E7D1FA7-E593-4FC2-B919-9143BBCE28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D614DB7-5B92-479C-84F7-2735AE63C891}" type="slidenum">
              <a:rPr lang="en-US" altLang="zh-CN" sz="1200" smtClean="0">
                <a:latin typeface="Tahoma" panose="020B0604030504040204" pitchFamily="34" charset="0"/>
              </a:rPr>
              <a:pPr/>
              <a:t>38</a:t>
            </a:fld>
            <a:endParaRPr lang="en-US" altLang="zh-CN" sz="1200">
              <a:latin typeface="Tahoma" panose="020B060403050404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a:extLst>
              <a:ext uri="{FF2B5EF4-FFF2-40B4-BE49-F238E27FC236}">
                <a16:creationId xmlns:a16="http://schemas.microsoft.com/office/drawing/2014/main" id="{507E273B-CEBB-48CA-8008-EE1E557007A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1404E5B-BE8F-48C3-B8B0-4EE3D541E6BD}"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87043" name="Rectangle 7">
            <a:extLst>
              <a:ext uri="{FF2B5EF4-FFF2-40B4-BE49-F238E27FC236}">
                <a16:creationId xmlns:a16="http://schemas.microsoft.com/office/drawing/2014/main" id="{4ED27C1F-FEEA-499C-81FA-71827DCF7D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E4ACF41-80BA-4E9D-8941-0177B808A029}" type="slidenum">
              <a:rPr lang="en-US" altLang="zh-CN" sz="1200" smtClean="0">
                <a:latin typeface="Tahoma" panose="020B0604030504040204" pitchFamily="34" charset="0"/>
              </a:rPr>
              <a:pPr/>
              <a:t>39</a:t>
            </a:fld>
            <a:endParaRPr lang="en-US" altLang="zh-CN" sz="1200">
              <a:latin typeface="Tahoma" panose="020B0604030504040204" pitchFamily="34" charset="0"/>
            </a:endParaRPr>
          </a:p>
        </p:txBody>
      </p:sp>
      <p:sp>
        <p:nvSpPr>
          <p:cNvPr id="87044" name="Rectangle 2">
            <a:extLst>
              <a:ext uri="{FF2B5EF4-FFF2-40B4-BE49-F238E27FC236}">
                <a16:creationId xmlns:a16="http://schemas.microsoft.com/office/drawing/2014/main" id="{3343F759-AF31-4892-A8C7-8C1FC99F510A}"/>
              </a:ext>
            </a:extLst>
          </p:cNvPr>
          <p:cNvSpPr>
            <a:spLocks noGrp="1" noRot="1" noChangeAspect="1" noChangeArrowheads="1" noTextEdit="1"/>
          </p:cNvSpPr>
          <p:nvPr>
            <p:ph type="sldImg"/>
          </p:nvPr>
        </p:nvSpPr>
        <p:spPr>
          <a:xfrm>
            <a:off x="381000" y="685800"/>
            <a:ext cx="6096000" cy="3429000"/>
          </a:xfrm>
          <a:ln/>
        </p:spPr>
      </p:sp>
      <p:sp>
        <p:nvSpPr>
          <p:cNvPr id="87045" name="Rectangle 3">
            <a:extLst>
              <a:ext uri="{FF2B5EF4-FFF2-40B4-BE49-F238E27FC236}">
                <a16:creationId xmlns:a16="http://schemas.microsoft.com/office/drawing/2014/main" id="{86684077-2EC0-4E05-B67F-A0C8F5184D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0000"/>
              </a:lnSpc>
            </a:pPr>
            <a:r>
              <a:rPr lang="zh-CN" altLang="en-US" dirty="0">
                <a:solidFill>
                  <a:srgbClr val="FFCC00"/>
                </a:solidFill>
                <a:latin typeface="华文新魏" panose="02010800040101010101" pitchFamily="2" charset="-122"/>
                <a:ea typeface="华文新魏" panose="02010800040101010101" pitchFamily="2" charset="-122"/>
              </a:rPr>
              <a:t>图中下面的铁原子如果画得比上面铁原子小更合理。  </a:t>
            </a:r>
            <a:endParaRPr lang="en-US" altLang="zh-CN" dirty="0">
              <a:solidFill>
                <a:srgbClr val="FFCC00"/>
              </a:solidFill>
              <a:latin typeface="华文新魏" panose="02010800040101010101" pitchFamily="2" charset="-122"/>
              <a:ea typeface="华文新魏" panose="02010800040101010101" pitchFamily="2" charset="-122"/>
            </a:endParaRPr>
          </a:p>
          <a:p>
            <a:pPr eaLnBrk="1" hangingPunct="1">
              <a:lnSpc>
                <a:spcPct val="120000"/>
              </a:lnSpc>
            </a:pPr>
            <a:endParaRPr lang="en-US" altLang="zh-CN" dirty="0">
              <a:solidFill>
                <a:srgbClr val="FFCC00"/>
              </a:solidFill>
              <a:latin typeface="华文新魏" panose="02010800040101010101" pitchFamily="2" charset="-122"/>
              <a:ea typeface="华文新魏" panose="02010800040101010101" pitchFamily="2" charset="-122"/>
            </a:endParaRPr>
          </a:p>
          <a:p>
            <a:pPr eaLnBrk="1" hangingPunct="1">
              <a:lnSpc>
                <a:spcPct val="120000"/>
              </a:lnSpc>
            </a:pPr>
            <a:r>
              <a:rPr lang="zh-CN" altLang="en-US" dirty="0">
                <a:solidFill>
                  <a:srgbClr val="FFCC00"/>
                </a:solidFill>
                <a:latin typeface="华文新魏" panose="02010800040101010101" pitchFamily="2" charset="-122"/>
                <a:ea typeface="华文新魏" panose="02010800040101010101" pitchFamily="2" charset="-122"/>
              </a:rPr>
              <a:t>与</a:t>
            </a:r>
            <a:r>
              <a:rPr lang="en-US" altLang="zh-CN" dirty="0">
                <a:solidFill>
                  <a:srgbClr val="FFCC00"/>
                </a:solidFill>
                <a:latin typeface="华文新魏" panose="02010800040101010101" pitchFamily="2" charset="-122"/>
                <a:ea typeface="华文新魏" panose="02010800040101010101" pitchFamily="2" charset="-122"/>
              </a:rPr>
              <a:t>O</a:t>
            </a:r>
            <a:r>
              <a:rPr lang="en-US" altLang="zh-CN" baseline="-25000" dirty="0">
                <a:solidFill>
                  <a:srgbClr val="FFCC00"/>
                </a:solidFill>
                <a:latin typeface="华文新魏" panose="02010800040101010101" pitchFamily="2" charset="-122"/>
                <a:ea typeface="华文新魏" panose="02010800040101010101" pitchFamily="2" charset="-122"/>
              </a:rPr>
              <a:t>2</a:t>
            </a:r>
            <a:r>
              <a:rPr lang="zh-CN" altLang="en-US" dirty="0">
                <a:solidFill>
                  <a:srgbClr val="FFCC00"/>
                </a:solidFill>
                <a:latin typeface="华文新魏" panose="02010800040101010101" pitchFamily="2" charset="-122"/>
                <a:ea typeface="华文新魏" panose="02010800040101010101" pitchFamily="2" charset="-122"/>
              </a:rPr>
              <a:t>结合前</a:t>
            </a:r>
            <a:r>
              <a:rPr lang="en-US" altLang="zh-CN" dirty="0">
                <a:solidFill>
                  <a:srgbClr val="FFCC00"/>
                </a:solidFill>
                <a:latin typeface="华文新魏" panose="02010800040101010101" pitchFamily="2" charset="-122"/>
                <a:ea typeface="华文新魏" panose="02010800040101010101" pitchFamily="2" charset="-122"/>
              </a:rPr>
              <a:t>Fe</a:t>
            </a:r>
            <a:r>
              <a:rPr lang="zh-CN" altLang="en-US" dirty="0">
                <a:solidFill>
                  <a:srgbClr val="FFCC00"/>
                </a:solidFill>
                <a:latin typeface="华文新魏" panose="02010800040101010101" pitchFamily="2" charset="-122"/>
                <a:ea typeface="华文新魏" panose="02010800040101010101" pitchFamily="2" charset="-122"/>
              </a:rPr>
              <a:t>在卟啉环平面外侧（突出</a:t>
            </a:r>
            <a:r>
              <a:rPr lang="en-US" altLang="zh-CN" dirty="0">
                <a:solidFill>
                  <a:srgbClr val="FFCC00"/>
                </a:solidFill>
                <a:latin typeface="华文新魏" panose="02010800040101010101" pitchFamily="2" charset="-122"/>
                <a:ea typeface="华文新魏" panose="02010800040101010101" pitchFamily="2" charset="-122"/>
              </a:rPr>
              <a:t>0.075nm</a:t>
            </a:r>
            <a:r>
              <a:rPr lang="zh-CN" altLang="en-US" dirty="0">
                <a:solidFill>
                  <a:srgbClr val="FFCC00"/>
                </a:solidFill>
                <a:latin typeface="华文新魏" panose="02010800040101010101" pitchFamily="2" charset="-122"/>
                <a:ea typeface="华文新魏" panose="02010800040101010101" pitchFamily="2" charset="-122"/>
              </a:rPr>
              <a:t>）</a:t>
            </a:r>
            <a:r>
              <a:rPr lang="en-US" altLang="zh-CN" dirty="0">
                <a:solidFill>
                  <a:srgbClr val="FFCC00"/>
                </a:solidFill>
                <a:latin typeface="华文新魏" panose="02010800040101010101" pitchFamily="2" charset="-122"/>
                <a:ea typeface="华文新魏" panose="02010800040101010101" pitchFamily="2" charset="-122"/>
              </a:rPr>
              <a:t>,</a:t>
            </a:r>
            <a:r>
              <a:rPr lang="zh-CN" altLang="en-US" dirty="0">
                <a:solidFill>
                  <a:srgbClr val="FFCC00"/>
                </a:solidFill>
                <a:latin typeface="华文新魏" panose="02010800040101010101" pitchFamily="2" charset="-122"/>
                <a:ea typeface="华文新魏" panose="02010800040101010101" pitchFamily="2" charset="-122"/>
              </a:rPr>
              <a:t>与氧结合后</a:t>
            </a:r>
            <a:r>
              <a:rPr lang="en-US" altLang="zh-CN" dirty="0">
                <a:solidFill>
                  <a:srgbClr val="FFCC00"/>
                </a:solidFill>
                <a:latin typeface="华文新魏" panose="02010800040101010101" pitchFamily="2" charset="-122"/>
                <a:ea typeface="华文新魏" panose="02010800040101010101" pitchFamily="2" charset="-122"/>
              </a:rPr>
              <a:t>Fe</a:t>
            </a:r>
            <a:r>
              <a:rPr lang="zh-CN" altLang="en-US" dirty="0">
                <a:solidFill>
                  <a:srgbClr val="FFCC00"/>
                </a:solidFill>
                <a:latin typeface="华文新魏" panose="02010800040101010101" pitchFamily="2" charset="-122"/>
                <a:ea typeface="华文新魏" panose="02010800040101010101" pitchFamily="2" charset="-122"/>
              </a:rPr>
              <a:t>的配位数由</a:t>
            </a:r>
            <a:r>
              <a:rPr lang="en-US" altLang="zh-CN" dirty="0">
                <a:solidFill>
                  <a:srgbClr val="FFCC00"/>
                </a:solidFill>
                <a:latin typeface="华文新魏" panose="02010800040101010101" pitchFamily="2" charset="-122"/>
                <a:ea typeface="华文新魏" panose="02010800040101010101" pitchFamily="2" charset="-122"/>
              </a:rPr>
              <a:t>5</a:t>
            </a:r>
            <a:r>
              <a:rPr lang="zh-CN" altLang="en-US" dirty="0">
                <a:solidFill>
                  <a:srgbClr val="FFCC00"/>
                </a:solidFill>
                <a:latin typeface="华文新魏" panose="02010800040101010101" pitchFamily="2" charset="-122"/>
                <a:ea typeface="华文新魏" panose="02010800040101010101" pitchFamily="2" charset="-122"/>
              </a:rPr>
              <a:t>变</a:t>
            </a:r>
            <a:r>
              <a:rPr lang="en-US" altLang="zh-CN" dirty="0">
                <a:solidFill>
                  <a:srgbClr val="FFCC00"/>
                </a:solidFill>
                <a:latin typeface="华文新魏" panose="02010800040101010101" pitchFamily="2" charset="-122"/>
                <a:ea typeface="华文新魏" panose="02010800040101010101" pitchFamily="2" charset="-122"/>
              </a:rPr>
              <a:t>6</a:t>
            </a:r>
            <a:r>
              <a:rPr lang="zh-CN" altLang="en-US" dirty="0">
                <a:solidFill>
                  <a:srgbClr val="FFCC00"/>
                </a:solidFill>
                <a:latin typeface="华文新魏" panose="02010800040101010101" pitchFamily="2" charset="-122"/>
                <a:ea typeface="华文新魏" panose="02010800040101010101" pitchFamily="2" charset="-122"/>
              </a:rPr>
              <a:t>，半径缩小，将</a:t>
            </a:r>
            <a:r>
              <a:rPr lang="en-US" altLang="zh-CN" dirty="0">
                <a:solidFill>
                  <a:srgbClr val="FFCC00"/>
                </a:solidFill>
                <a:latin typeface="华文新魏" panose="02010800040101010101" pitchFamily="2" charset="-122"/>
                <a:ea typeface="华文新魏" panose="02010800040101010101" pitchFamily="2" charset="-122"/>
              </a:rPr>
              <a:t>Fe</a:t>
            </a:r>
            <a:r>
              <a:rPr lang="zh-CN" altLang="en-US" dirty="0">
                <a:solidFill>
                  <a:srgbClr val="FFCC00"/>
                </a:solidFill>
                <a:latin typeface="华文新魏" panose="02010800040101010101" pitchFamily="2" charset="-122"/>
                <a:ea typeface="华文新魏" panose="02010800040101010101" pitchFamily="2" charset="-122"/>
              </a:rPr>
              <a:t>拉入卟啉平面。此变化通过近位</a:t>
            </a:r>
            <a:r>
              <a:rPr lang="en-US" altLang="zh-CN" dirty="0">
                <a:solidFill>
                  <a:srgbClr val="FFCC00"/>
                </a:solidFill>
                <a:latin typeface="华文新魏" panose="02010800040101010101" pitchFamily="2" charset="-122"/>
                <a:ea typeface="华文新魏" panose="02010800040101010101" pitchFamily="2" charset="-122"/>
              </a:rPr>
              <a:t>His</a:t>
            </a:r>
            <a:r>
              <a:rPr lang="zh-CN" altLang="en-US" dirty="0">
                <a:solidFill>
                  <a:srgbClr val="FFCC00"/>
                </a:solidFill>
                <a:latin typeface="华文新魏" panose="02010800040101010101" pitchFamily="2" charset="-122"/>
                <a:ea typeface="华文新魏" panose="02010800040101010101" pitchFamily="2" charset="-122"/>
              </a:rPr>
              <a:t>（</a:t>
            </a:r>
            <a:r>
              <a:rPr lang="en-US" altLang="zh-CN" dirty="0">
                <a:solidFill>
                  <a:srgbClr val="FFCC00"/>
                </a:solidFill>
                <a:latin typeface="华文新魏" panose="02010800040101010101" pitchFamily="2" charset="-122"/>
                <a:ea typeface="华文新魏" panose="02010800040101010101" pitchFamily="2" charset="-122"/>
              </a:rPr>
              <a:t>F8</a:t>
            </a:r>
            <a:r>
              <a:rPr lang="zh-CN" altLang="en-US" dirty="0">
                <a:solidFill>
                  <a:srgbClr val="FFCC00"/>
                </a:solidFill>
                <a:latin typeface="华文新魏" panose="02010800040101010101" pitchFamily="2" charset="-122"/>
                <a:ea typeface="华文新魏" panose="02010800040101010101" pitchFamily="2" charset="-122"/>
              </a:rPr>
              <a:t>）牵动了所在肽段进而影响</a:t>
            </a:r>
            <a:r>
              <a:rPr lang="en-US" altLang="zh-CN" dirty="0">
                <a:solidFill>
                  <a:srgbClr val="FFCC00"/>
                </a:solidFill>
                <a:latin typeface="华文新魏" panose="02010800040101010101" pitchFamily="2" charset="-122"/>
                <a:ea typeface="华文新魏" panose="02010800040101010101" pitchFamily="2" charset="-122"/>
              </a:rPr>
              <a:t>Hb</a:t>
            </a:r>
            <a:r>
              <a:rPr lang="zh-CN" altLang="en-US" dirty="0">
                <a:solidFill>
                  <a:srgbClr val="FFCC00"/>
                </a:solidFill>
                <a:latin typeface="华文新魏" panose="02010800040101010101" pitchFamily="2" charset="-122"/>
                <a:ea typeface="华文新魏" panose="02010800040101010101" pitchFamily="2" charset="-122"/>
              </a:rPr>
              <a:t>亚基间的次级键，使其它亚基结合氧的速度加快，亚基间的聚合变得疏松，整个分子处于松弛状态。</a:t>
            </a:r>
          </a:p>
          <a:p>
            <a:pPr eaLnBrk="1" hangingPunct="1"/>
            <a:endParaRPr lang="zh-CN" altLang="en-US" dirty="0">
              <a:latin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dirty="0"/>
          </a:p>
          <a:p>
            <a:r>
              <a:rPr lang="en-US" altLang="zh-CN" dirty="0"/>
              <a:t>F8 His(proximal His)</a:t>
            </a:r>
            <a:endParaRPr lang="zh-CN" altLang="en-US" dirty="0"/>
          </a:p>
        </p:txBody>
      </p:sp>
      <p:sp>
        <p:nvSpPr>
          <p:cNvPr id="4" name="日期占位符 3"/>
          <p:cNvSpPr>
            <a:spLocks noGrp="1"/>
          </p:cNvSpPr>
          <p:nvPr>
            <p:ph type="dt" idx="1"/>
          </p:nvPr>
        </p:nvSpPr>
        <p:spPr/>
        <p:txBody>
          <a:bodyPr/>
          <a:lstStyle/>
          <a:p>
            <a:pPr>
              <a:defRPr/>
            </a:pPr>
            <a:fld id="{40118AFC-F291-4DCE-93C6-D844E0A4D2D4}" type="datetime1">
              <a:rPr lang="zh-CN" altLang="en-US" smtClean="0"/>
              <a:pPr>
                <a:defRPr/>
              </a:pPr>
              <a:t>2026/9/5</a:t>
            </a:fld>
            <a:endParaRPr lang="en-US" altLang="zh-CN"/>
          </a:p>
        </p:txBody>
      </p:sp>
      <p:sp>
        <p:nvSpPr>
          <p:cNvPr id="5" name="灯片编号占位符 4"/>
          <p:cNvSpPr>
            <a:spLocks noGrp="1"/>
          </p:cNvSpPr>
          <p:nvPr>
            <p:ph type="sldNum" sz="quarter" idx="5"/>
          </p:nvPr>
        </p:nvSpPr>
        <p:spPr/>
        <p:txBody>
          <a:bodyPr/>
          <a:lstStyle/>
          <a:p>
            <a:pPr>
              <a:defRPr/>
            </a:pPr>
            <a:fld id="{47AB3041-55A2-4BC5-A258-4AB550B98638}" type="slidenum">
              <a:rPr lang="en-US" altLang="zh-CN" smtClean="0"/>
              <a:pPr>
                <a:defRPr/>
              </a:pPr>
              <a:t>40</a:t>
            </a:fld>
            <a:endParaRPr lang="en-US" altLang="zh-CN"/>
          </a:p>
        </p:txBody>
      </p:sp>
    </p:spTree>
    <p:extLst>
      <p:ext uri="{BB962C8B-B14F-4D97-AF65-F5344CB8AC3E}">
        <p14:creationId xmlns:p14="http://schemas.microsoft.com/office/powerpoint/2010/main" val="32873510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a:extLst>
              <a:ext uri="{FF2B5EF4-FFF2-40B4-BE49-F238E27FC236}">
                <a16:creationId xmlns:a16="http://schemas.microsoft.com/office/drawing/2014/main" id="{A03BA5FE-A2EA-441F-AD7F-5F5E118C745C}"/>
              </a:ext>
            </a:extLst>
          </p:cNvPr>
          <p:cNvSpPr>
            <a:spLocks noGrp="1" noRot="1" noChangeAspect="1" noChangeArrowheads="1" noTextEdit="1"/>
          </p:cNvSpPr>
          <p:nvPr>
            <p:ph type="sldImg"/>
          </p:nvPr>
        </p:nvSpPr>
        <p:spPr>
          <a:xfrm>
            <a:off x="381000" y="685800"/>
            <a:ext cx="6096000" cy="3429000"/>
          </a:xfrm>
          <a:ln/>
        </p:spPr>
      </p:sp>
      <p:sp>
        <p:nvSpPr>
          <p:cNvPr id="90115" name="备注占位符 2">
            <a:extLst>
              <a:ext uri="{FF2B5EF4-FFF2-40B4-BE49-F238E27FC236}">
                <a16:creationId xmlns:a16="http://schemas.microsoft.com/office/drawing/2014/main" id="{00E7BE6E-660F-41C1-B0B5-4BFA5CF5A1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协同效应涉及的构象变化是有限范围内的变化，非剧烈变化。 </a:t>
            </a:r>
          </a:p>
        </p:txBody>
      </p:sp>
      <p:sp>
        <p:nvSpPr>
          <p:cNvPr id="90116" name="日期占位符 3">
            <a:extLst>
              <a:ext uri="{FF2B5EF4-FFF2-40B4-BE49-F238E27FC236}">
                <a16:creationId xmlns:a16="http://schemas.microsoft.com/office/drawing/2014/main" id="{62964AE2-3759-42EC-972B-914805987DD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23F8FFB-ABA0-4132-8530-E53F066D08E5}"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90117" name="灯片编号占位符 4">
            <a:extLst>
              <a:ext uri="{FF2B5EF4-FFF2-40B4-BE49-F238E27FC236}">
                <a16:creationId xmlns:a16="http://schemas.microsoft.com/office/drawing/2014/main" id="{6606BBF6-78A1-4E3A-83EA-00330E304FF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5460AA2-3496-40A1-B283-65970443E12B}" type="slidenum">
              <a:rPr lang="en-US" altLang="zh-CN" sz="1200" smtClean="0">
                <a:latin typeface="Tahoma" panose="020B0604030504040204" pitchFamily="34" charset="0"/>
              </a:rPr>
              <a:pPr/>
              <a:t>41</a:t>
            </a:fld>
            <a:endParaRPr lang="en-US" altLang="zh-CN" sz="1200">
              <a:latin typeface="Tahoma" panose="020B060403050404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a:extLst>
              <a:ext uri="{FF2B5EF4-FFF2-40B4-BE49-F238E27FC236}">
                <a16:creationId xmlns:a16="http://schemas.microsoft.com/office/drawing/2014/main" id="{BFA6F0F1-3436-498E-8A99-2F00E35E2EC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78CE4B7-B4B2-45A0-9A13-7099CEF7FEAE}"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92163" name="Rectangle 7">
            <a:extLst>
              <a:ext uri="{FF2B5EF4-FFF2-40B4-BE49-F238E27FC236}">
                <a16:creationId xmlns:a16="http://schemas.microsoft.com/office/drawing/2014/main" id="{FEC0F4A9-766F-49D7-B951-253BBC8957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008F2BC-5AF6-4699-BB31-1143C480D0F6}" type="slidenum">
              <a:rPr lang="en-US" altLang="zh-CN" sz="1200" smtClean="0">
                <a:latin typeface="Tahoma" panose="020B0604030504040204" pitchFamily="34" charset="0"/>
              </a:rPr>
              <a:pPr/>
              <a:t>42</a:t>
            </a:fld>
            <a:endParaRPr lang="en-US" altLang="zh-CN" sz="1200">
              <a:latin typeface="Tahoma" panose="020B0604030504040204" pitchFamily="34" charset="0"/>
            </a:endParaRPr>
          </a:p>
        </p:txBody>
      </p:sp>
      <p:sp>
        <p:nvSpPr>
          <p:cNvPr id="92164" name="Rectangle 2">
            <a:extLst>
              <a:ext uri="{FF2B5EF4-FFF2-40B4-BE49-F238E27FC236}">
                <a16:creationId xmlns:a16="http://schemas.microsoft.com/office/drawing/2014/main" id="{0AA25C79-D016-4B6B-B738-26B2B2F91122}"/>
              </a:ext>
            </a:extLst>
          </p:cNvPr>
          <p:cNvSpPr>
            <a:spLocks noGrp="1" noRot="1" noChangeAspect="1" noChangeArrowheads="1" noTextEdit="1"/>
          </p:cNvSpPr>
          <p:nvPr>
            <p:ph type="sldImg"/>
          </p:nvPr>
        </p:nvSpPr>
        <p:spPr>
          <a:xfrm>
            <a:off x="381000" y="685800"/>
            <a:ext cx="6096000" cy="3429000"/>
          </a:xfrm>
          <a:ln/>
        </p:spPr>
      </p:sp>
      <p:sp>
        <p:nvSpPr>
          <p:cNvPr id="92165" name="Rectangle 3">
            <a:extLst>
              <a:ext uri="{FF2B5EF4-FFF2-40B4-BE49-F238E27FC236}">
                <a16:creationId xmlns:a16="http://schemas.microsoft.com/office/drawing/2014/main" id="{FE0B1742-4817-45D8-9726-05F0F7E25E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许多（若不是大多数）蛋白质分子都是变构的，它们具有两种或两种以上构象。与不同的配体结合呈现不同的稳定构象。</a:t>
            </a:r>
            <a:endParaRPr lang="en-US" altLang="zh-CN" dirty="0"/>
          </a:p>
          <a:p>
            <a:pPr eaLnBrk="1" hangingPunct="1"/>
            <a:endParaRPr lang="en-US"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a:extLst>
              <a:ext uri="{FF2B5EF4-FFF2-40B4-BE49-F238E27FC236}">
                <a16:creationId xmlns:a16="http://schemas.microsoft.com/office/drawing/2014/main" id="{050AFC03-4A8F-4174-B962-4D2995D38CB4}"/>
              </a:ext>
            </a:extLst>
          </p:cNvPr>
          <p:cNvSpPr>
            <a:spLocks noGrp="1" noRot="1" noChangeAspect="1" noChangeArrowheads="1" noTextEdit="1"/>
          </p:cNvSpPr>
          <p:nvPr>
            <p:ph type="sldImg"/>
          </p:nvPr>
        </p:nvSpPr>
        <p:spPr>
          <a:xfrm>
            <a:off x="381000" y="685800"/>
            <a:ext cx="6096000" cy="3429000"/>
          </a:xfrm>
          <a:ln/>
        </p:spPr>
      </p:sp>
      <p:sp>
        <p:nvSpPr>
          <p:cNvPr id="94211" name="备注占位符 2">
            <a:extLst>
              <a:ext uri="{FF2B5EF4-FFF2-40B4-BE49-F238E27FC236}">
                <a16:creationId xmlns:a16="http://schemas.microsoft.com/office/drawing/2014/main" id="{3EA78F67-3500-45B9-8152-91797A58D2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BPG</a:t>
            </a:r>
            <a:r>
              <a:rPr lang="zh-CN" altLang="en-US" dirty="0"/>
              <a:t>与</a:t>
            </a:r>
            <a:r>
              <a:rPr lang="el-GR" altLang="zh-CN" dirty="0"/>
              <a:t>β</a:t>
            </a:r>
            <a:r>
              <a:rPr lang="en-US" altLang="zh-CN" dirty="0"/>
              <a:t>Lys82</a:t>
            </a:r>
            <a:r>
              <a:rPr lang="zh-CN" altLang="en-US" dirty="0"/>
              <a:t>、</a:t>
            </a:r>
            <a:r>
              <a:rPr lang="el-GR" altLang="zh-CN" dirty="0"/>
              <a:t>β</a:t>
            </a:r>
            <a:r>
              <a:rPr lang="en-US" altLang="zh-CN" dirty="0"/>
              <a:t>His2</a:t>
            </a:r>
            <a:r>
              <a:rPr lang="zh-CN" altLang="en-US" dirty="0"/>
              <a:t>、</a:t>
            </a:r>
            <a:r>
              <a:rPr lang="el-GR" altLang="zh-CN" dirty="0"/>
              <a:t>β</a:t>
            </a:r>
            <a:r>
              <a:rPr lang="en-US" altLang="zh-CN" dirty="0"/>
              <a:t>His143</a:t>
            </a:r>
            <a:r>
              <a:rPr lang="zh-CN" altLang="en-US" dirty="0"/>
              <a:t> 等发生静电相互作用，并把两个</a:t>
            </a:r>
            <a:r>
              <a:rPr lang="el-GR" altLang="zh-CN" dirty="0"/>
              <a:t>β</a:t>
            </a:r>
            <a:r>
              <a:rPr lang="zh-CN" altLang="en-US" dirty="0"/>
              <a:t>亚基交朕在一起。  当血红蛋白被分离提纯后，仍有相当量的结合</a:t>
            </a:r>
            <a:r>
              <a:rPr lang="en-US" altLang="zh-CN" dirty="0"/>
              <a:t>BPG</a:t>
            </a:r>
            <a:r>
              <a:rPr lang="zh-CN" altLang="en-US" dirty="0"/>
              <a:t>，很难完全去除（因此，肺部动脉血氧百分饱和度只约</a:t>
            </a:r>
            <a:r>
              <a:rPr lang="en-US" altLang="zh-CN" dirty="0"/>
              <a:t>96%</a:t>
            </a:r>
            <a:r>
              <a:rPr lang="zh-CN" altLang="en-US" dirty="0"/>
              <a:t>，到不了</a:t>
            </a:r>
            <a:r>
              <a:rPr lang="en-US" altLang="zh-CN" dirty="0"/>
              <a:t>100%</a:t>
            </a:r>
            <a:r>
              <a:rPr lang="zh-CN" altLang="en-US" dirty="0"/>
              <a:t>）。</a:t>
            </a:r>
            <a:endParaRPr lang="en-US" altLang="zh-CN" dirty="0"/>
          </a:p>
          <a:p>
            <a:endParaRPr lang="en-US" altLang="zh-CN" dirty="0"/>
          </a:p>
          <a:p>
            <a:r>
              <a:rPr lang="en-US" altLang="zh-CN" dirty="0"/>
              <a:t>In the absence of BPG, hemoglobin is converted to the R state more easily.</a:t>
            </a:r>
          </a:p>
          <a:p>
            <a:endParaRPr lang="en-US" altLang="zh-CN" dirty="0"/>
          </a:p>
          <a:p>
            <a:r>
              <a:rPr lang="en-US" altLang="zh-CN" b="1" dirty="0"/>
              <a:t>BPG is present in relatively high concentrations in erythrocytes. </a:t>
            </a:r>
            <a:r>
              <a:rPr lang="en-US" altLang="zh-CN" dirty="0"/>
              <a:t>When hemoglobin is isolated, it contains substantial amounts of bound BPG, which can be difficult to remove completely. </a:t>
            </a:r>
            <a:endParaRPr lang="zh-CN" altLang="en-US" dirty="0"/>
          </a:p>
        </p:txBody>
      </p:sp>
      <p:sp>
        <p:nvSpPr>
          <p:cNvPr id="94212" name="日期占位符 3">
            <a:extLst>
              <a:ext uri="{FF2B5EF4-FFF2-40B4-BE49-F238E27FC236}">
                <a16:creationId xmlns:a16="http://schemas.microsoft.com/office/drawing/2014/main" id="{A53061D4-8497-4E35-8465-B0500EBECFB8}"/>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C0612C3-8BB6-4934-9895-BF9C25A9F05B}"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94213" name="灯片编号占位符 4">
            <a:extLst>
              <a:ext uri="{FF2B5EF4-FFF2-40B4-BE49-F238E27FC236}">
                <a16:creationId xmlns:a16="http://schemas.microsoft.com/office/drawing/2014/main" id="{677AD1C7-095B-4AE2-AB01-7C0D44E5FB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DBCEAF0-45E8-4CBC-B922-FB48EAC9509D}" type="slidenum">
              <a:rPr lang="en-US" altLang="zh-CN" sz="1200" smtClean="0">
                <a:latin typeface="Tahoma" panose="020B0604030504040204" pitchFamily="34" charset="0"/>
              </a:rPr>
              <a:pPr/>
              <a:t>43</a:t>
            </a:fld>
            <a:endParaRPr lang="en-US" altLang="zh-CN" sz="1200">
              <a:latin typeface="Tahoma" panose="020B060403050404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a:extLst>
              <a:ext uri="{FF2B5EF4-FFF2-40B4-BE49-F238E27FC236}">
                <a16:creationId xmlns:a16="http://schemas.microsoft.com/office/drawing/2014/main" id="{914F141C-120D-4EB5-98BA-E3E96CE4B576}"/>
              </a:ext>
            </a:extLst>
          </p:cNvPr>
          <p:cNvSpPr>
            <a:spLocks noGrp="1" noRot="1" noChangeAspect="1" noChangeArrowheads="1" noTextEdit="1"/>
          </p:cNvSpPr>
          <p:nvPr>
            <p:ph type="sldImg"/>
          </p:nvPr>
        </p:nvSpPr>
        <p:spPr>
          <a:xfrm>
            <a:off x="381000" y="685800"/>
            <a:ext cx="6096000" cy="3429000"/>
          </a:xfrm>
          <a:ln/>
        </p:spPr>
      </p:sp>
      <p:sp>
        <p:nvSpPr>
          <p:cNvPr id="98307" name="备注占位符 2">
            <a:extLst>
              <a:ext uri="{FF2B5EF4-FFF2-40B4-BE49-F238E27FC236}">
                <a16:creationId xmlns:a16="http://schemas.microsoft.com/office/drawing/2014/main" id="{A3D7F460-F3F7-43A0-A339-499D509A6DE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红细胞内，</a:t>
            </a:r>
            <a:r>
              <a:rPr lang="en-US" altLang="zh-CN" dirty="0"/>
              <a:t>BPG</a:t>
            </a:r>
            <a:r>
              <a:rPr lang="zh-CN" altLang="en-US" dirty="0"/>
              <a:t>约和血红蛋白等摩尔数。</a:t>
            </a:r>
            <a:endParaRPr lang="en-US" altLang="zh-CN" dirty="0"/>
          </a:p>
          <a:p>
            <a:r>
              <a:rPr lang="zh-CN" altLang="en-US" dirty="0"/>
              <a:t>在相对低的氧分压情况下，</a:t>
            </a:r>
            <a:r>
              <a:rPr lang="en-US" altLang="zh-CN" dirty="0"/>
              <a:t>BPG</a:t>
            </a:r>
            <a:r>
              <a:rPr lang="zh-CN" altLang="en-US" dirty="0"/>
              <a:t>保证了</a:t>
            </a:r>
            <a:r>
              <a:rPr lang="en-US" altLang="zh-CN" dirty="0"/>
              <a:t>Hb</a:t>
            </a:r>
            <a:r>
              <a:rPr lang="zh-CN" altLang="en-US" dirty="0"/>
              <a:t>仍能提供近</a:t>
            </a:r>
            <a:r>
              <a:rPr lang="en-US" altLang="zh-CN" dirty="0"/>
              <a:t>40%</a:t>
            </a:r>
            <a:r>
              <a:rPr lang="zh-CN" altLang="en-US" dirty="0"/>
              <a:t>的氧供外周组织细胞利用。 </a:t>
            </a:r>
            <a:endParaRPr lang="en-US" altLang="zh-CN" dirty="0"/>
          </a:p>
        </p:txBody>
      </p:sp>
      <p:sp>
        <p:nvSpPr>
          <p:cNvPr id="98308" name="日期占位符 3">
            <a:extLst>
              <a:ext uri="{FF2B5EF4-FFF2-40B4-BE49-F238E27FC236}">
                <a16:creationId xmlns:a16="http://schemas.microsoft.com/office/drawing/2014/main" id="{D43A4B46-280C-4FD6-A3D8-3FE6D5186C1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4B186FE-FCAD-4D37-ABC9-94234D733E00}"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98309" name="灯片编号占位符 4">
            <a:extLst>
              <a:ext uri="{FF2B5EF4-FFF2-40B4-BE49-F238E27FC236}">
                <a16:creationId xmlns:a16="http://schemas.microsoft.com/office/drawing/2014/main" id="{A0131399-D5A1-42CE-A43C-E645F570DFA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6BD0F8D-3714-4FC8-9711-2765DEFAF80E}" type="slidenum">
              <a:rPr lang="en-US" altLang="zh-CN" sz="1200" smtClean="0">
                <a:latin typeface="Tahoma" panose="020B0604030504040204" pitchFamily="34" charset="0"/>
              </a:rPr>
              <a:pPr/>
              <a:t>44</a:t>
            </a:fld>
            <a:endParaRPr lang="en-US" altLang="zh-CN" sz="1200">
              <a:latin typeface="Tahoma" panose="020B060403050404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a:extLst>
              <a:ext uri="{FF2B5EF4-FFF2-40B4-BE49-F238E27FC236}">
                <a16:creationId xmlns:a16="http://schemas.microsoft.com/office/drawing/2014/main" id="{385BD098-9FB8-4A0B-8A04-F1450C908072}"/>
              </a:ext>
            </a:extLst>
          </p:cNvPr>
          <p:cNvSpPr>
            <a:spLocks noGrp="1" noRot="1" noChangeAspect="1" noChangeArrowheads="1" noTextEdit="1"/>
          </p:cNvSpPr>
          <p:nvPr>
            <p:ph type="sldImg"/>
          </p:nvPr>
        </p:nvSpPr>
        <p:spPr>
          <a:xfrm>
            <a:off x="381000" y="685800"/>
            <a:ext cx="6096000" cy="3429000"/>
          </a:xfrm>
          <a:ln/>
        </p:spPr>
      </p:sp>
      <p:sp>
        <p:nvSpPr>
          <p:cNvPr id="100355" name="备注占位符 2">
            <a:extLst>
              <a:ext uri="{FF2B5EF4-FFF2-40B4-BE49-F238E27FC236}">
                <a16:creationId xmlns:a16="http://schemas.microsoft.com/office/drawing/2014/main" id="{08BBB909-5968-4A6E-93E1-510977C1D59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HbF</a:t>
            </a:r>
            <a:r>
              <a:rPr lang="en-US" altLang="zh-CN" dirty="0"/>
              <a:t>(α2γ2) is the major hemoglobin found in the fetus and newborn.   </a:t>
            </a:r>
          </a:p>
          <a:p>
            <a:endParaRPr lang="en-US" altLang="zh-CN" dirty="0"/>
          </a:p>
          <a:p>
            <a:endParaRPr lang="zh-CN" altLang="en-US" dirty="0"/>
          </a:p>
        </p:txBody>
      </p:sp>
      <p:sp>
        <p:nvSpPr>
          <p:cNvPr id="100356" name="日期占位符 3">
            <a:extLst>
              <a:ext uri="{FF2B5EF4-FFF2-40B4-BE49-F238E27FC236}">
                <a16:creationId xmlns:a16="http://schemas.microsoft.com/office/drawing/2014/main" id="{791DA0FC-DBC4-4420-8910-94DE4C95324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F15EF73-479F-4165-B036-B9028F3F2B14}"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00357" name="灯片编号占位符 4">
            <a:extLst>
              <a:ext uri="{FF2B5EF4-FFF2-40B4-BE49-F238E27FC236}">
                <a16:creationId xmlns:a16="http://schemas.microsoft.com/office/drawing/2014/main" id="{AA546772-E10A-40FF-871F-72004AB192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FE18B5F-4917-4694-AC82-9EA3786E1703}" type="slidenum">
              <a:rPr lang="en-US" altLang="zh-CN" sz="1200" smtClean="0">
                <a:latin typeface="Tahoma" panose="020B0604030504040204" pitchFamily="34" charset="0"/>
              </a:rPr>
              <a:pPr/>
              <a:t>45</a:t>
            </a:fld>
            <a:endParaRPr lang="en-US" altLang="zh-CN" sz="1200">
              <a:latin typeface="Tahoma" panose="020B060403050404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a:extLst>
              <a:ext uri="{FF2B5EF4-FFF2-40B4-BE49-F238E27FC236}">
                <a16:creationId xmlns:a16="http://schemas.microsoft.com/office/drawing/2014/main" id="{7D73F8D0-7D4E-4505-8655-4D9BC8E43296}"/>
              </a:ext>
            </a:extLst>
          </p:cNvPr>
          <p:cNvSpPr>
            <a:spLocks noGrp="1" noRot="1" noChangeAspect="1" noChangeArrowheads="1" noTextEdit="1"/>
          </p:cNvSpPr>
          <p:nvPr>
            <p:ph type="sldImg"/>
          </p:nvPr>
        </p:nvSpPr>
        <p:spPr>
          <a:xfrm>
            <a:off x="381000" y="685800"/>
            <a:ext cx="6096000" cy="3429000"/>
          </a:xfrm>
          <a:ln/>
        </p:spPr>
      </p:sp>
      <p:sp>
        <p:nvSpPr>
          <p:cNvPr id="102403" name="备注占位符 2">
            <a:extLst>
              <a:ext uri="{FF2B5EF4-FFF2-40B4-BE49-F238E27FC236}">
                <a16:creationId xmlns:a16="http://schemas.microsoft.com/office/drawing/2014/main" id="{416CCBBA-63DB-40A1-9D15-46D77195F1C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Mb</a:t>
            </a:r>
            <a:r>
              <a:rPr lang="zh-CN" altLang="en-US" dirty="0"/>
              <a:t>无此效应。  </a:t>
            </a:r>
            <a:endParaRPr lang="en-US" altLang="zh-CN" dirty="0"/>
          </a:p>
          <a:p>
            <a:endParaRPr lang="en-US" altLang="zh-CN" dirty="0"/>
          </a:p>
          <a:p>
            <a:r>
              <a:rPr lang="en-US" altLang="zh-CN" dirty="0"/>
              <a:t>Hemoglobin transports about 40% of the total H</a:t>
            </a:r>
            <a:r>
              <a:rPr lang="en-US" altLang="zh-CN" baseline="30000" dirty="0"/>
              <a:t>+</a:t>
            </a:r>
            <a:r>
              <a:rPr lang="en-US" altLang="zh-CN" dirty="0"/>
              <a:t> and 15% to 20% of the CO</a:t>
            </a:r>
            <a:r>
              <a:rPr lang="en-US" altLang="zh-CN" baseline="-25000" dirty="0"/>
              <a:t>2</a:t>
            </a:r>
            <a:r>
              <a:rPr lang="en-US" altLang="zh-CN" dirty="0"/>
              <a:t> formed in the tissues to the lungs and the kidneys. </a:t>
            </a:r>
          </a:p>
          <a:p>
            <a:endParaRPr lang="en-US" altLang="zh-CN" dirty="0"/>
          </a:p>
          <a:p>
            <a:r>
              <a:rPr lang="zh-CN" altLang="en-US" dirty="0"/>
              <a:t>克里斯丁</a:t>
            </a:r>
            <a:r>
              <a:rPr lang="en-US" altLang="zh-CN" dirty="0"/>
              <a:t>·</a:t>
            </a:r>
            <a:r>
              <a:rPr lang="zh-CN" altLang="en-US" dirty="0"/>
              <a:t>玻尔（</a:t>
            </a:r>
            <a:r>
              <a:rPr lang="en-US" altLang="zh-CN" dirty="0"/>
              <a:t>Christian Bohr</a:t>
            </a:r>
            <a:r>
              <a:rPr lang="zh-CN" altLang="en-US" dirty="0"/>
              <a:t>）是哥本哈根大学的生理学教授，于</a:t>
            </a:r>
            <a:r>
              <a:rPr lang="en-US" altLang="zh-CN" dirty="0"/>
              <a:t>1904</a:t>
            </a:r>
            <a:r>
              <a:rPr lang="zh-CN" altLang="en-US" dirty="0"/>
              <a:t>年发现玻尔效应。 他是著名物理学家尼尔斯</a:t>
            </a:r>
            <a:r>
              <a:rPr lang="en-US" altLang="zh-CN" dirty="0"/>
              <a:t>·</a:t>
            </a:r>
            <a:r>
              <a:rPr lang="zh-CN" altLang="en-US" dirty="0"/>
              <a:t>玻尔（</a:t>
            </a:r>
            <a:r>
              <a:rPr lang="en-US" altLang="zh-CN" dirty="0"/>
              <a:t>Niels Henrik David Bohr</a:t>
            </a:r>
            <a:r>
              <a:rPr lang="zh-CN" altLang="en-US" dirty="0"/>
              <a:t>，全名：尼尔斯</a:t>
            </a:r>
            <a:r>
              <a:rPr lang="en-US" altLang="zh-CN" dirty="0"/>
              <a:t>·</a:t>
            </a:r>
            <a:r>
              <a:rPr lang="zh-CN" altLang="en-US" dirty="0"/>
              <a:t>亨利克</a:t>
            </a:r>
            <a:r>
              <a:rPr lang="en-US" altLang="zh-CN" dirty="0"/>
              <a:t>·</a:t>
            </a:r>
            <a:r>
              <a:rPr lang="zh-CN" altLang="en-US" dirty="0"/>
              <a:t>戴维</a:t>
            </a:r>
            <a:r>
              <a:rPr lang="en-US" altLang="zh-CN" dirty="0"/>
              <a:t>·</a:t>
            </a:r>
            <a:r>
              <a:rPr lang="zh-CN" altLang="en-US" dirty="0"/>
              <a:t>玻尔，</a:t>
            </a:r>
            <a:r>
              <a:rPr lang="en-US" altLang="zh-CN" dirty="0"/>
              <a:t>1922</a:t>
            </a:r>
            <a:r>
              <a:rPr lang="zh-CN" altLang="en-US" dirty="0"/>
              <a:t>年获诺奖）的父亲。    </a:t>
            </a:r>
            <a:endParaRPr lang="en-US" altLang="zh-CN" dirty="0"/>
          </a:p>
          <a:p>
            <a:r>
              <a:rPr lang="zh-CN" altLang="en-US" dirty="0"/>
              <a:t>而尼尔斯</a:t>
            </a:r>
            <a:r>
              <a:rPr lang="en-US" altLang="zh-CN" dirty="0"/>
              <a:t>·</a:t>
            </a:r>
            <a:r>
              <a:rPr lang="zh-CN" altLang="en-US" dirty="0"/>
              <a:t>玻尔的儿子</a:t>
            </a:r>
            <a:r>
              <a:rPr lang="en-US" altLang="zh-CN" dirty="0"/>
              <a:t>Aage Niels Bohr</a:t>
            </a:r>
            <a:r>
              <a:rPr lang="zh-CN" altLang="en-US" dirty="0"/>
              <a:t>（奥格</a:t>
            </a:r>
            <a:r>
              <a:rPr lang="en-US" altLang="zh-CN" dirty="0"/>
              <a:t>·</a:t>
            </a:r>
            <a:r>
              <a:rPr lang="zh-CN" altLang="en-US" dirty="0"/>
              <a:t>尼尔斯</a:t>
            </a:r>
            <a:r>
              <a:rPr lang="en-US" altLang="zh-CN" dirty="0"/>
              <a:t>·</a:t>
            </a:r>
            <a:r>
              <a:rPr lang="zh-CN" altLang="en-US" dirty="0"/>
              <a:t>玻尔，</a:t>
            </a:r>
            <a:r>
              <a:rPr lang="en-US" altLang="zh-CN" dirty="0"/>
              <a:t>1922</a:t>
            </a:r>
            <a:r>
              <a:rPr lang="zh-CN" altLang="en-US" dirty="0"/>
              <a:t>年</a:t>
            </a:r>
            <a:r>
              <a:rPr lang="en-US" altLang="zh-CN" dirty="0"/>
              <a:t>6</a:t>
            </a:r>
            <a:r>
              <a:rPr lang="zh-CN" altLang="en-US" dirty="0"/>
              <a:t>月</a:t>
            </a:r>
            <a:r>
              <a:rPr lang="en-US" altLang="zh-CN" dirty="0"/>
              <a:t>19</a:t>
            </a:r>
            <a:r>
              <a:rPr lang="zh-CN" altLang="en-US" dirty="0"/>
              <a:t>日－</a:t>
            </a:r>
            <a:r>
              <a:rPr lang="en-US" altLang="zh-CN" dirty="0"/>
              <a:t>2009</a:t>
            </a:r>
            <a:r>
              <a:rPr lang="zh-CN" altLang="en-US" dirty="0"/>
              <a:t>年</a:t>
            </a:r>
            <a:r>
              <a:rPr lang="en-US" altLang="zh-CN" dirty="0"/>
              <a:t>9</a:t>
            </a:r>
            <a:r>
              <a:rPr lang="zh-CN" altLang="en-US" dirty="0"/>
              <a:t>月</a:t>
            </a:r>
            <a:r>
              <a:rPr lang="en-US" altLang="zh-CN" dirty="0"/>
              <a:t>8</a:t>
            </a:r>
            <a:r>
              <a:rPr lang="zh-CN" altLang="en-US" dirty="0"/>
              <a:t>日）也是位物理学家，获</a:t>
            </a:r>
            <a:r>
              <a:rPr lang="en-US" altLang="zh-CN" dirty="0"/>
              <a:t>1975</a:t>
            </a:r>
            <a:r>
              <a:rPr lang="zh-CN" altLang="en-US" dirty="0"/>
              <a:t>年诺贝尔物理学奖。</a:t>
            </a:r>
            <a:endParaRPr lang="en-US" altLang="zh-CN" dirty="0"/>
          </a:p>
          <a:p>
            <a:endParaRPr lang="en-US" altLang="zh-CN" dirty="0"/>
          </a:p>
          <a:p>
            <a:endParaRPr lang="en-US" altLang="zh-CN" dirty="0"/>
          </a:p>
          <a:p>
            <a:endParaRPr lang="en-US" altLang="zh-CN" dirty="0"/>
          </a:p>
        </p:txBody>
      </p:sp>
      <p:sp>
        <p:nvSpPr>
          <p:cNvPr id="102404" name="日期占位符 3">
            <a:extLst>
              <a:ext uri="{FF2B5EF4-FFF2-40B4-BE49-F238E27FC236}">
                <a16:creationId xmlns:a16="http://schemas.microsoft.com/office/drawing/2014/main" id="{7CA6BFD1-717B-4762-82A8-17988FF85D6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9C21F2B-78D3-4564-95C6-C103C48985C9}"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02405" name="灯片编号占位符 4">
            <a:extLst>
              <a:ext uri="{FF2B5EF4-FFF2-40B4-BE49-F238E27FC236}">
                <a16:creationId xmlns:a16="http://schemas.microsoft.com/office/drawing/2014/main" id="{30998636-4588-438D-B87C-D772BC4B31F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D5C9494-6F4C-49BE-8CBC-6A449921CF16}" type="slidenum">
              <a:rPr lang="en-US" altLang="zh-CN" sz="1200" smtClean="0">
                <a:latin typeface="Tahoma" panose="020B0604030504040204" pitchFamily="34" charset="0"/>
              </a:rPr>
              <a:pPr/>
              <a:t>46</a:t>
            </a:fld>
            <a:endParaRPr lang="en-US" altLang="zh-CN" sz="1200">
              <a:latin typeface="Tahoma" panose="020B060403050404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pPr>
              <a:defRPr/>
            </a:pPr>
            <a:fld id="{40118AFC-F291-4DCE-93C6-D844E0A4D2D4}" type="datetime1">
              <a:rPr lang="zh-CN" altLang="en-US" smtClean="0"/>
              <a:pPr>
                <a:defRPr/>
              </a:pPr>
              <a:t>2026/9/5</a:t>
            </a:fld>
            <a:endParaRPr lang="en-US" altLang="zh-CN"/>
          </a:p>
        </p:txBody>
      </p:sp>
      <p:sp>
        <p:nvSpPr>
          <p:cNvPr id="5" name="灯片编号占位符 4"/>
          <p:cNvSpPr>
            <a:spLocks noGrp="1"/>
          </p:cNvSpPr>
          <p:nvPr>
            <p:ph type="sldNum" sz="quarter" idx="5"/>
          </p:nvPr>
        </p:nvSpPr>
        <p:spPr/>
        <p:txBody>
          <a:bodyPr/>
          <a:lstStyle/>
          <a:p>
            <a:pPr>
              <a:defRPr/>
            </a:pPr>
            <a:fld id="{47AB3041-55A2-4BC5-A258-4AB550B98638}" type="slidenum">
              <a:rPr lang="en-US" altLang="zh-CN" smtClean="0"/>
              <a:pPr>
                <a:defRPr/>
              </a:pPr>
              <a:t>47</a:t>
            </a:fld>
            <a:endParaRPr lang="en-US" altLang="zh-CN"/>
          </a:p>
        </p:txBody>
      </p:sp>
    </p:spTree>
    <p:extLst>
      <p:ext uri="{BB962C8B-B14F-4D97-AF65-F5344CB8AC3E}">
        <p14:creationId xmlns:p14="http://schemas.microsoft.com/office/powerpoint/2010/main" val="14946502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a:extLst>
              <a:ext uri="{FF2B5EF4-FFF2-40B4-BE49-F238E27FC236}">
                <a16:creationId xmlns:a16="http://schemas.microsoft.com/office/drawing/2014/main" id="{E09096B1-AF02-4B1A-8B06-A6F99B2DBB56}"/>
              </a:ext>
            </a:extLst>
          </p:cNvPr>
          <p:cNvSpPr>
            <a:spLocks noGrp="1" noRot="1" noChangeAspect="1" noChangeArrowheads="1" noTextEdit="1"/>
          </p:cNvSpPr>
          <p:nvPr>
            <p:ph type="sldImg"/>
          </p:nvPr>
        </p:nvSpPr>
        <p:spPr>
          <a:xfrm>
            <a:off x="381000" y="685800"/>
            <a:ext cx="6096000" cy="3429000"/>
          </a:xfrm>
          <a:ln/>
        </p:spPr>
      </p:sp>
      <p:sp>
        <p:nvSpPr>
          <p:cNvPr id="104451" name="备注占位符 2">
            <a:extLst>
              <a:ext uri="{FF2B5EF4-FFF2-40B4-BE49-F238E27FC236}">
                <a16:creationId xmlns:a16="http://schemas.microsoft.com/office/drawing/2014/main" id="{102EB56E-1D10-4E5D-ADA8-B8A894FF77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血红蛋白的别构效应充分反映了它的生物学适应性，达到了结构与功能的高度统一。</a:t>
            </a:r>
          </a:p>
          <a:p>
            <a:r>
              <a:rPr lang="zh-CN" altLang="en-US" dirty="0"/>
              <a:t>血红蛋白的这些特点是脊椎动物能以优胜类群出现于地球上的重要因素之一。 </a:t>
            </a:r>
          </a:p>
          <a:p>
            <a:endParaRPr lang="en-US" altLang="zh-CN" dirty="0"/>
          </a:p>
        </p:txBody>
      </p:sp>
      <p:sp>
        <p:nvSpPr>
          <p:cNvPr id="104452" name="日期占位符 3">
            <a:extLst>
              <a:ext uri="{FF2B5EF4-FFF2-40B4-BE49-F238E27FC236}">
                <a16:creationId xmlns:a16="http://schemas.microsoft.com/office/drawing/2014/main" id="{1E701EF9-ACCF-4ED0-9E47-CF650E9A625D}"/>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EB46FF8-EC87-4627-BD4D-5261DA6EA0F3}"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04453" name="灯片编号占位符 4">
            <a:extLst>
              <a:ext uri="{FF2B5EF4-FFF2-40B4-BE49-F238E27FC236}">
                <a16:creationId xmlns:a16="http://schemas.microsoft.com/office/drawing/2014/main" id="{A88ADE56-55BF-45C4-B066-170F3C251DA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EC0A2B8-B68B-4E1C-9F50-65E2C4D8935B}" type="slidenum">
              <a:rPr lang="en-US" altLang="zh-CN" sz="1200" smtClean="0">
                <a:latin typeface="Tahoma" panose="020B0604030504040204" pitchFamily="34" charset="0"/>
              </a:rPr>
              <a:pPr/>
              <a:t>48</a:t>
            </a:fld>
            <a:endParaRPr lang="en-US" altLang="zh-CN" sz="1200">
              <a:latin typeface="Tahoma" panose="020B060403050404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a:extLst>
              <a:ext uri="{FF2B5EF4-FFF2-40B4-BE49-F238E27FC236}">
                <a16:creationId xmlns:a16="http://schemas.microsoft.com/office/drawing/2014/main" id="{5E2FB88F-AE91-458D-B1DE-BAE41951D1F5}"/>
              </a:ext>
            </a:extLst>
          </p:cNvPr>
          <p:cNvSpPr>
            <a:spLocks noGrp="1" noRot="1" noChangeAspect="1" noChangeArrowheads="1" noTextEdit="1"/>
          </p:cNvSpPr>
          <p:nvPr>
            <p:ph type="sldImg"/>
          </p:nvPr>
        </p:nvSpPr>
        <p:spPr>
          <a:xfrm>
            <a:off x="381000" y="685800"/>
            <a:ext cx="6096000" cy="3429000"/>
          </a:xfrm>
          <a:ln/>
        </p:spPr>
      </p:sp>
      <p:sp>
        <p:nvSpPr>
          <p:cNvPr id="106499" name="备注占位符 2">
            <a:extLst>
              <a:ext uri="{FF2B5EF4-FFF2-40B4-BE49-F238E27FC236}">
                <a16:creationId xmlns:a16="http://schemas.microsoft.com/office/drawing/2014/main" id="{B11FB283-02D9-455D-93C3-54F584DE3B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记住以上内容。</a:t>
            </a:r>
          </a:p>
        </p:txBody>
      </p:sp>
      <p:sp>
        <p:nvSpPr>
          <p:cNvPr id="106500" name="日期占位符 3">
            <a:extLst>
              <a:ext uri="{FF2B5EF4-FFF2-40B4-BE49-F238E27FC236}">
                <a16:creationId xmlns:a16="http://schemas.microsoft.com/office/drawing/2014/main" id="{92B6CC2F-40EF-43B7-9326-3774369EBD2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F4EDD32-D1A4-4D9C-B7C9-D5D430D2BF51}"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06501" name="灯片编号占位符 4">
            <a:extLst>
              <a:ext uri="{FF2B5EF4-FFF2-40B4-BE49-F238E27FC236}">
                <a16:creationId xmlns:a16="http://schemas.microsoft.com/office/drawing/2014/main" id="{6E1EB9CB-C225-4516-9D05-5D2656AA4E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3A24B35-C9A3-42A1-8A68-AD88B0E6EAAE}" type="slidenum">
              <a:rPr lang="en-US" altLang="zh-CN" sz="1200" smtClean="0">
                <a:latin typeface="Tahoma" panose="020B0604030504040204" pitchFamily="34" charset="0"/>
              </a:rPr>
              <a:pPr/>
              <a:t>49</a:t>
            </a:fld>
            <a:endParaRPr lang="en-US" altLang="zh-CN" sz="1200">
              <a:latin typeface="Tahoma" panose="020B060403050404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a:extLst>
              <a:ext uri="{FF2B5EF4-FFF2-40B4-BE49-F238E27FC236}">
                <a16:creationId xmlns:a16="http://schemas.microsoft.com/office/drawing/2014/main" id="{EDBFA4E5-9F46-4276-A979-4890207D2B7F}"/>
              </a:ext>
            </a:extLst>
          </p:cNvPr>
          <p:cNvSpPr>
            <a:spLocks noGrp="1" noRot="1" noChangeAspect="1" noChangeArrowheads="1" noTextEdit="1"/>
          </p:cNvSpPr>
          <p:nvPr>
            <p:ph type="sldImg"/>
          </p:nvPr>
        </p:nvSpPr>
        <p:spPr>
          <a:xfrm>
            <a:off x="381000" y="685800"/>
            <a:ext cx="6096000" cy="3429000"/>
          </a:xfrm>
          <a:ln/>
        </p:spPr>
      </p:sp>
      <p:sp>
        <p:nvSpPr>
          <p:cNvPr id="108547" name="备注占位符 2">
            <a:extLst>
              <a:ext uri="{FF2B5EF4-FFF2-40B4-BE49-F238E27FC236}">
                <a16:creationId xmlns:a16="http://schemas.microsoft.com/office/drawing/2014/main" id="{992058B6-164B-48C8-BFE9-627F519E43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8548" name="日期占位符 3">
            <a:extLst>
              <a:ext uri="{FF2B5EF4-FFF2-40B4-BE49-F238E27FC236}">
                <a16:creationId xmlns:a16="http://schemas.microsoft.com/office/drawing/2014/main" id="{32C6C58B-A277-4FBB-9861-3C6E7FC61BF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6C1B0A9-899B-44ED-9642-D74DBDCEBA3A}"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08549" name="灯片编号占位符 4">
            <a:extLst>
              <a:ext uri="{FF2B5EF4-FFF2-40B4-BE49-F238E27FC236}">
                <a16:creationId xmlns:a16="http://schemas.microsoft.com/office/drawing/2014/main" id="{D5C4DB82-8D73-46A1-8814-6635617D14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3032791-F243-42C8-AF39-324F8FEF7A82}" type="slidenum">
              <a:rPr lang="en-US" altLang="zh-CN" sz="1200" smtClean="0">
                <a:latin typeface="Tahoma" panose="020B0604030504040204" pitchFamily="34" charset="0"/>
              </a:rPr>
              <a:pPr/>
              <a:t>50</a:t>
            </a:fld>
            <a:endParaRPr lang="en-US" altLang="zh-CN" sz="1200">
              <a:latin typeface="Tahoma" panose="020B060403050404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3">
            <a:extLst>
              <a:ext uri="{FF2B5EF4-FFF2-40B4-BE49-F238E27FC236}">
                <a16:creationId xmlns:a16="http://schemas.microsoft.com/office/drawing/2014/main" id="{AE023FBD-F8ED-4D82-9267-2881BE73F5C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B243777-5C66-4295-827F-E67552AFAAC7}"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68963" name="Rectangle 7">
            <a:extLst>
              <a:ext uri="{FF2B5EF4-FFF2-40B4-BE49-F238E27FC236}">
                <a16:creationId xmlns:a16="http://schemas.microsoft.com/office/drawing/2014/main" id="{CF014EE7-B333-48D1-9764-62AFFFA314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86686E4-F373-457E-A1FC-477A47AB5504}" type="slidenum">
              <a:rPr lang="en-US" altLang="zh-CN" sz="1200" smtClean="0">
                <a:latin typeface="Tahoma" panose="020B0604030504040204" pitchFamily="34" charset="0"/>
              </a:rPr>
              <a:pPr/>
              <a:t>51</a:t>
            </a:fld>
            <a:endParaRPr lang="en-US" altLang="zh-CN" sz="1200">
              <a:latin typeface="Tahoma" panose="020B0604030504040204" pitchFamily="34" charset="0"/>
            </a:endParaRPr>
          </a:p>
        </p:txBody>
      </p:sp>
      <p:sp>
        <p:nvSpPr>
          <p:cNvPr id="168964" name="Rectangle 2">
            <a:extLst>
              <a:ext uri="{FF2B5EF4-FFF2-40B4-BE49-F238E27FC236}">
                <a16:creationId xmlns:a16="http://schemas.microsoft.com/office/drawing/2014/main" id="{32E95ABC-EFE8-466D-8883-1535E13D669A}"/>
              </a:ext>
            </a:extLst>
          </p:cNvPr>
          <p:cNvSpPr>
            <a:spLocks noGrp="1" noRot="1" noChangeAspect="1" noChangeArrowheads="1" noTextEdit="1"/>
          </p:cNvSpPr>
          <p:nvPr>
            <p:ph type="sldImg"/>
          </p:nvPr>
        </p:nvSpPr>
        <p:spPr>
          <a:xfrm>
            <a:off x="381000" y="685800"/>
            <a:ext cx="6096000" cy="3429000"/>
          </a:xfrm>
          <a:ln/>
        </p:spPr>
      </p:sp>
      <p:sp>
        <p:nvSpPr>
          <p:cNvPr id="168965" name="Rectangle 3">
            <a:extLst>
              <a:ext uri="{FF2B5EF4-FFF2-40B4-BE49-F238E27FC236}">
                <a16:creationId xmlns:a16="http://schemas.microsoft.com/office/drawing/2014/main" id="{C03ED56F-A85A-43EB-8BFB-BC79396F45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4. D   </a:t>
            </a:r>
          </a:p>
        </p:txBody>
      </p:sp>
    </p:spTree>
    <p:extLst>
      <p:ext uri="{BB962C8B-B14F-4D97-AF65-F5344CB8AC3E}">
        <p14:creationId xmlns:p14="http://schemas.microsoft.com/office/powerpoint/2010/main" val="2389547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a:extLst>
              <a:ext uri="{FF2B5EF4-FFF2-40B4-BE49-F238E27FC236}">
                <a16:creationId xmlns:a16="http://schemas.microsoft.com/office/drawing/2014/main" id="{1A74D92C-F9C3-4641-838C-19F614581421}"/>
              </a:ext>
            </a:extLst>
          </p:cNvPr>
          <p:cNvSpPr>
            <a:spLocks noGrp="1" noRot="1" noChangeAspect="1" noChangeArrowheads="1" noTextEdit="1"/>
          </p:cNvSpPr>
          <p:nvPr>
            <p:ph type="sldImg"/>
          </p:nvPr>
        </p:nvSpPr>
        <p:spPr>
          <a:xfrm>
            <a:off x="381000" y="685800"/>
            <a:ext cx="6096000" cy="3429000"/>
          </a:xfrm>
          <a:ln/>
        </p:spPr>
      </p:sp>
      <p:sp>
        <p:nvSpPr>
          <p:cNvPr id="110595" name="备注占位符 2">
            <a:extLst>
              <a:ext uri="{FF2B5EF4-FFF2-40B4-BE49-F238E27FC236}">
                <a16:creationId xmlns:a16="http://schemas.microsoft.com/office/drawing/2014/main" id="{C866AD3A-FDDF-4FF3-A56B-30D1926F020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因最初发现其对碘起反应，且与淀粉有相似之处而称为淀粉样蛋白。</a:t>
            </a:r>
            <a:endParaRPr lang="en-US" altLang="zh-CN" dirty="0"/>
          </a:p>
          <a:p>
            <a:endParaRPr lang="en-US" altLang="zh-CN" dirty="0"/>
          </a:p>
          <a:p>
            <a:r>
              <a:rPr lang="en-US" altLang="zh-CN" dirty="0"/>
              <a:t>There are about 30 different types of amyloidosis, each due to a specific protein misfolding.</a:t>
            </a:r>
          </a:p>
        </p:txBody>
      </p:sp>
      <p:sp>
        <p:nvSpPr>
          <p:cNvPr id="110596" name="日期占位符 3">
            <a:extLst>
              <a:ext uri="{FF2B5EF4-FFF2-40B4-BE49-F238E27FC236}">
                <a16:creationId xmlns:a16="http://schemas.microsoft.com/office/drawing/2014/main" id="{6CA09254-DD5F-4C45-86D9-BA3BE72F3156}"/>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A5EE21F-00B1-44CC-BFB3-35EA525B4C63}"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10597" name="灯片编号占位符 4">
            <a:extLst>
              <a:ext uri="{FF2B5EF4-FFF2-40B4-BE49-F238E27FC236}">
                <a16:creationId xmlns:a16="http://schemas.microsoft.com/office/drawing/2014/main" id="{EBC9BA8D-4114-470B-8656-0E4C25D78EC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134E059-31F5-434E-80D8-86A4CDBA2ABA}" type="slidenum">
              <a:rPr lang="en-US" altLang="zh-CN" sz="1200" smtClean="0">
                <a:latin typeface="Tahoma" panose="020B0604030504040204" pitchFamily="34" charset="0"/>
              </a:rPr>
              <a:pPr/>
              <a:t>52</a:t>
            </a:fld>
            <a:endParaRPr lang="en-US" altLang="zh-CN" sz="1200">
              <a:latin typeface="Tahoma" panose="020B060403050404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a:extLst>
              <a:ext uri="{FF2B5EF4-FFF2-40B4-BE49-F238E27FC236}">
                <a16:creationId xmlns:a16="http://schemas.microsoft.com/office/drawing/2014/main" id="{72551B9A-4E62-43EE-89D1-BAE9D022D571}"/>
              </a:ext>
            </a:extLst>
          </p:cNvPr>
          <p:cNvSpPr>
            <a:spLocks noGrp="1" noRot="1" noChangeAspect="1" noChangeArrowheads="1" noTextEdit="1"/>
          </p:cNvSpPr>
          <p:nvPr>
            <p:ph type="sldImg"/>
          </p:nvPr>
        </p:nvSpPr>
        <p:spPr>
          <a:xfrm>
            <a:off x="381000" y="685800"/>
            <a:ext cx="6096000" cy="3429000"/>
          </a:xfrm>
          <a:ln/>
        </p:spPr>
      </p:sp>
      <p:sp>
        <p:nvSpPr>
          <p:cNvPr id="112643" name="备注占位符 2">
            <a:extLst>
              <a:ext uri="{FF2B5EF4-FFF2-40B4-BE49-F238E27FC236}">
                <a16:creationId xmlns:a16="http://schemas.microsoft.com/office/drawing/2014/main" id="{8D6A021A-6BFE-4CE6-B336-880ECC97738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图： </a:t>
            </a:r>
            <a:r>
              <a:rPr lang="en-US" altLang="zh-CN" dirty="0"/>
              <a:t>Stained section of cerebral cortex from autopsy of a patient with </a:t>
            </a:r>
            <a:r>
              <a:rPr lang="en-US" altLang="zh-CN" b="1" dirty="0"/>
              <a:t>Creutzfeldt-Jakob disease</a:t>
            </a:r>
            <a:r>
              <a:rPr lang="zh-CN" altLang="en-US" b="1" dirty="0"/>
              <a:t>（</a:t>
            </a:r>
            <a:r>
              <a:rPr lang="en-US" altLang="zh-CN" b="1" dirty="0"/>
              <a:t>CJD</a:t>
            </a:r>
            <a:r>
              <a:rPr lang="zh-CN" altLang="en-US" b="1" dirty="0"/>
              <a:t>）</a:t>
            </a:r>
            <a:r>
              <a:rPr lang="en-US" altLang="zh-CN" b="1" dirty="0"/>
              <a:t> </a:t>
            </a:r>
            <a:r>
              <a:rPr lang="en-US" altLang="zh-CN" dirty="0"/>
              <a:t>shows spongiform (vacuolar) degeneration, the most characteristic </a:t>
            </a:r>
            <a:r>
              <a:rPr lang="en-US" altLang="zh-CN" dirty="0" err="1"/>
              <a:t>neurohistological</a:t>
            </a:r>
            <a:r>
              <a:rPr lang="en-US" altLang="zh-CN" dirty="0"/>
              <a:t> feature.</a:t>
            </a:r>
          </a:p>
          <a:p>
            <a:endParaRPr lang="en-US" altLang="zh-CN" dirty="0"/>
          </a:p>
          <a:p>
            <a:r>
              <a:rPr lang="zh-CN" altLang="en-US" dirty="0"/>
              <a:t>克雅氏病</a:t>
            </a:r>
            <a:r>
              <a:rPr lang="en-US" altLang="zh-CN" dirty="0"/>
              <a:t>(CJD)</a:t>
            </a:r>
            <a:r>
              <a:rPr lang="zh-CN" altLang="en-US" dirty="0"/>
              <a:t>（亚急性海绵状脑病）</a:t>
            </a:r>
          </a:p>
          <a:p>
            <a:r>
              <a:rPr lang="en-US" altLang="zh-CN" dirty="0"/>
              <a:t>TSE</a:t>
            </a:r>
            <a:r>
              <a:rPr lang="zh-CN" altLang="en-US" dirty="0"/>
              <a:t>： </a:t>
            </a:r>
            <a:r>
              <a:rPr lang="en-US" altLang="zh-CN" dirty="0"/>
              <a:t>transmissible spongiform encephalopathies </a:t>
            </a:r>
          </a:p>
          <a:p>
            <a:endParaRPr lang="en-US" altLang="zh-CN" dirty="0"/>
          </a:p>
          <a:p>
            <a:r>
              <a:rPr lang="zh-CN" altLang="en-US" b="0" dirty="0"/>
              <a:t>朊蛋白病患者通常在症状出现后数月至数年内死亡。</a:t>
            </a:r>
            <a:endParaRPr lang="en-US" altLang="zh-CN" b="0" dirty="0"/>
          </a:p>
          <a:p>
            <a:endParaRPr lang="en-US" altLang="zh-CN" b="0" dirty="0"/>
          </a:p>
          <a:p>
            <a:r>
              <a:rPr lang="zh-CN" altLang="en-US" dirty="0"/>
              <a:t>疯牛病</a:t>
            </a:r>
            <a:r>
              <a:rPr lang="en-US" altLang="zh-CN" dirty="0"/>
              <a:t>(</a:t>
            </a:r>
            <a:r>
              <a:rPr lang="zh-CN" altLang="en-US" dirty="0"/>
              <a:t>牛海绵状脑病</a:t>
            </a:r>
            <a:r>
              <a:rPr lang="en-US" altLang="zh-CN" dirty="0"/>
              <a:t>)</a:t>
            </a:r>
            <a:r>
              <a:rPr lang="zh-CN" altLang="en-US" dirty="0"/>
              <a:t>之所以如此命名，是因为牛变得明显烦躁不安。该病最初可能因牛食用患羊瘙痒病的羊残部而患病。</a:t>
            </a:r>
            <a:endParaRPr lang="en-US" altLang="zh-CN" dirty="0"/>
          </a:p>
          <a:p>
            <a:r>
              <a:rPr lang="zh-CN" altLang="en-US" dirty="0"/>
              <a:t>在英国，每年发生的新病例数量在</a:t>
            </a:r>
            <a:r>
              <a:rPr lang="en-US" altLang="zh-CN" dirty="0"/>
              <a:t>2000</a:t>
            </a:r>
            <a:r>
              <a:rPr lang="zh-CN" altLang="en-US" dirty="0"/>
              <a:t>年达到高峰</a:t>
            </a:r>
            <a:r>
              <a:rPr lang="en-US" altLang="zh-CN" dirty="0"/>
              <a:t>,</a:t>
            </a:r>
            <a:r>
              <a:rPr lang="zh-CN" altLang="en-US" dirty="0"/>
              <a:t>此后，病例数逐渐减少，至</a:t>
            </a:r>
            <a:r>
              <a:rPr lang="en-US" altLang="zh-CN" dirty="0"/>
              <a:t>2011</a:t>
            </a:r>
            <a:r>
              <a:rPr lang="zh-CN" altLang="en-US" dirty="0"/>
              <a:t>年只有</a:t>
            </a:r>
            <a:r>
              <a:rPr lang="en-US" altLang="zh-CN" dirty="0"/>
              <a:t>2</a:t>
            </a:r>
            <a:r>
              <a:rPr lang="zh-CN" altLang="en-US" dirty="0"/>
              <a:t>例。  几乎绝迹。</a:t>
            </a:r>
            <a:endParaRPr lang="en-US" altLang="zh-CN" dirty="0"/>
          </a:p>
          <a:p>
            <a:endParaRPr lang="en-US" altLang="zh-CN" dirty="0"/>
          </a:p>
          <a:p>
            <a:pPr eaLnBrk="1" hangingPunct="1"/>
            <a:r>
              <a:rPr lang="zh-CN" altLang="en-US" b="1" dirty="0"/>
              <a:t>散发性克雅氏病是最常见的人类朊蛋白病，占所有病例的</a:t>
            </a:r>
            <a:r>
              <a:rPr lang="en-US" altLang="zh-CN" b="1" dirty="0"/>
              <a:t>85-90</a:t>
            </a:r>
            <a:r>
              <a:rPr lang="zh-CN" altLang="en-US" b="1" dirty="0"/>
              <a:t>％。</a:t>
            </a:r>
            <a:endParaRPr lang="en-US" altLang="zh-CN" b="1" dirty="0"/>
          </a:p>
          <a:p>
            <a:pPr eaLnBrk="1" hangingPunct="1"/>
            <a:r>
              <a:rPr lang="zh-CN" altLang="en-US" dirty="0"/>
              <a:t>在散发性朊蛋白病中，第一个朊蛋白是如何形成的尚不清楚。但怀疑在细胞的过程（细胞代谢）中发生错误，并且这个错误导致</a:t>
            </a:r>
            <a:r>
              <a:rPr lang="en-US" altLang="zh-CN" dirty="0" err="1"/>
              <a:t>PrPC</a:t>
            </a:r>
            <a:r>
              <a:rPr lang="zh-CN" altLang="en-US" dirty="0"/>
              <a:t>自发地改变它的形状。</a:t>
            </a:r>
            <a:endParaRPr lang="en-US" altLang="zh-CN" b="1" dirty="0"/>
          </a:p>
          <a:p>
            <a:endParaRPr lang="en-US" altLang="zh-CN" b="1" dirty="0"/>
          </a:p>
          <a:p>
            <a:r>
              <a:rPr lang="zh-CN" altLang="en-US" b="1" dirty="0"/>
              <a:t>克雅氏病</a:t>
            </a:r>
            <a:r>
              <a:rPr lang="zh-CN" altLang="en-US" dirty="0"/>
              <a:t>病初多数表现为精神恍惚和记忆障碍，之后出现肌肉抽搐和平衡失调。大多数人在</a:t>
            </a:r>
            <a:r>
              <a:rPr lang="en-US" altLang="zh-CN" dirty="0"/>
              <a:t>4</a:t>
            </a:r>
            <a:r>
              <a:rPr lang="zh-CN" altLang="en-US" dirty="0"/>
              <a:t>个月到</a:t>
            </a:r>
            <a:r>
              <a:rPr lang="en-US" altLang="zh-CN" dirty="0"/>
              <a:t>2</a:t>
            </a:r>
            <a:r>
              <a:rPr lang="zh-CN" altLang="en-US" dirty="0"/>
              <a:t>年内死亡。</a:t>
            </a:r>
          </a:p>
          <a:p>
            <a:endParaRPr lang="en-US" altLang="zh-CN" dirty="0"/>
          </a:p>
          <a:p>
            <a:r>
              <a:rPr kumimoji="1" lang="zh-CN" altLang="en-US" sz="1200" b="1" i="0" kern="1200" dirty="0">
                <a:solidFill>
                  <a:schemeClr val="tx1"/>
                </a:solidFill>
                <a:effectLst/>
                <a:latin typeface="Times New Roman" pitchFamily="18" charset="0"/>
                <a:ea typeface="宋体" pitchFamily="2" charset="-122"/>
                <a:cs typeface="+mn-cs"/>
              </a:rPr>
              <a:t>库鲁病</a:t>
            </a:r>
            <a:r>
              <a:rPr kumimoji="1" lang="zh-CN" altLang="en-US" sz="1200" b="0" i="0" kern="1200" dirty="0">
                <a:solidFill>
                  <a:schemeClr val="tx1"/>
                </a:solidFill>
                <a:effectLst/>
                <a:latin typeface="Times New Roman" pitchFamily="18" charset="0"/>
                <a:ea typeface="宋体" pitchFamily="2" charset="-122"/>
                <a:cs typeface="+mn-cs"/>
              </a:rPr>
              <a:t>现已罕见，曾常见于巴布亚新几内亚高原土著，与葬礼的同类相食仪式有关。</a:t>
            </a:r>
            <a:endParaRPr kumimoji="1" lang="en-US" altLang="zh-CN" sz="1200" b="0" i="0" kern="1200" dirty="0">
              <a:solidFill>
                <a:schemeClr val="tx1"/>
              </a:solidFill>
              <a:effectLst/>
              <a:latin typeface="Times New Roman" pitchFamily="18" charset="0"/>
              <a:ea typeface="宋体" pitchFamily="2" charset="-122"/>
              <a:cs typeface="+mn-cs"/>
            </a:endParaRPr>
          </a:p>
          <a:p>
            <a:endParaRPr lang="zh-CN" altLang="en-US" dirty="0"/>
          </a:p>
        </p:txBody>
      </p:sp>
      <p:sp>
        <p:nvSpPr>
          <p:cNvPr id="112644" name="日期占位符 3">
            <a:extLst>
              <a:ext uri="{FF2B5EF4-FFF2-40B4-BE49-F238E27FC236}">
                <a16:creationId xmlns:a16="http://schemas.microsoft.com/office/drawing/2014/main" id="{80352AD9-3F7B-449F-8E94-2A5DF680232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4A349DF-69D7-4659-A6B6-524E1CCFB0A5}"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12645" name="灯片编号占位符 4">
            <a:extLst>
              <a:ext uri="{FF2B5EF4-FFF2-40B4-BE49-F238E27FC236}">
                <a16:creationId xmlns:a16="http://schemas.microsoft.com/office/drawing/2014/main" id="{60613C00-A1F3-4159-A8A1-91F0C17E21F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2136138-A99F-4CB7-ACCF-B4113D7085E2}" type="slidenum">
              <a:rPr lang="en-US" altLang="zh-CN" sz="1200" smtClean="0">
                <a:latin typeface="Tahoma" panose="020B0604030504040204" pitchFamily="34" charset="0"/>
              </a:rPr>
              <a:pPr/>
              <a:t>53</a:t>
            </a:fld>
            <a:endParaRPr lang="en-US" altLang="zh-CN" sz="1200">
              <a:latin typeface="Tahoma" panose="020B060403050404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3">
            <a:extLst>
              <a:ext uri="{FF2B5EF4-FFF2-40B4-BE49-F238E27FC236}">
                <a16:creationId xmlns:a16="http://schemas.microsoft.com/office/drawing/2014/main" id="{FD8A70E0-A2A7-4E84-8A9D-58264CC2CC9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8D529EE-35BB-4BFE-BD11-3AE56E2A360E}"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14691" name="Rectangle 7">
            <a:extLst>
              <a:ext uri="{FF2B5EF4-FFF2-40B4-BE49-F238E27FC236}">
                <a16:creationId xmlns:a16="http://schemas.microsoft.com/office/drawing/2014/main" id="{B0B82818-8194-4C39-9D10-55C2ACF4D3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C421C75-5FF8-419F-8803-F02EC539E086}" type="slidenum">
              <a:rPr lang="en-US" altLang="zh-CN" sz="1200" smtClean="0">
                <a:latin typeface="Tahoma" panose="020B0604030504040204" pitchFamily="34" charset="0"/>
              </a:rPr>
              <a:pPr/>
              <a:t>54</a:t>
            </a:fld>
            <a:endParaRPr lang="en-US" altLang="zh-CN" sz="1200">
              <a:latin typeface="Tahoma" panose="020B0604030504040204" pitchFamily="34" charset="0"/>
            </a:endParaRPr>
          </a:p>
        </p:txBody>
      </p:sp>
      <p:sp>
        <p:nvSpPr>
          <p:cNvPr id="114692" name="Rectangle 2">
            <a:extLst>
              <a:ext uri="{FF2B5EF4-FFF2-40B4-BE49-F238E27FC236}">
                <a16:creationId xmlns:a16="http://schemas.microsoft.com/office/drawing/2014/main" id="{80ECF63C-5676-4E92-9D1D-6DB005B57FD5}"/>
              </a:ext>
            </a:extLst>
          </p:cNvPr>
          <p:cNvSpPr>
            <a:spLocks noGrp="1" noRot="1" noChangeAspect="1" noChangeArrowheads="1" noTextEdit="1"/>
          </p:cNvSpPr>
          <p:nvPr>
            <p:ph type="sldImg"/>
          </p:nvPr>
        </p:nvSpPr>
        <p:spPr>
          <a:xfrm>
            <a:off x="381000" y="685800"/>
            <a:ext cx="6096000" cy="3429000"/>
          </a:xfrm>
          <a:ln/>
        </p:spPr>
      </p:sp>
      <p:sp>
        <p:nvSpPr>
          <p:cNvPr id="114693" name="Rectangle 3">
            <a:extLst>
              <a:ext uri="{FF2B5EF4-FFF2-40B4-BE49-F238E27FC236}">
                <a16:creationId xmlns:a16="http://schemas.microsoft.com/office/drawing/2014/main" id="{06CC26D5-AE20-4C2A-BF36-9944FC143E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latin typeface="宋体" panose="02010600030101010101" pitchFamily="2" charset="-122"/>
              </a:rPr>
              <a:t>prion.mp4</a:t>
            </a: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en-US" altLang="zh-CN" sz="1200" b="0" dirty="0" err="1">
                <a:solidFill>
                  <a:schemeClr val="tx1"/>
                </a:solidFill>
              </a:rPr>
              <a:t>sc</a:t>
            </a:r>
            <a:r>
              <a:rPr kumimoji="1" lang="zh-CN" altLang="en-US" sz="1200" b="0" dirty="0">
                <a:solidFill>
                  <a:schemeClr val="tx1"/>
                </a:solidFill>
              </a:rPr>
              <a:t>表示</a:t>
            </a:r>
            <a:r>
              <a:rPr kumimoji="1" lang="en-US" altLang="zh-CN" sz="1200" b="0" dirty="0">
                <a:solidFill>
                  <a:schemeClr val="tx1"/>
                </a:solidFill>
              </a:rPr>
              <a:t>scrapie</a:t>
            </a:r>
            <a:r>
              <a:rPr kumimoji="1" lang="zh-CN" altLang="en-US" sz="1200" b="0" dirty="0">
                <a:solidFill>
                  <a:schemeClr val="tx1"/>
                </a:solidFill>
              </a:rPr>
              <a:t>（羊瘙痒）</a:t>
            </a:r>
            <a:endParaRPr kumimoji="1" lang="en-US" altLang="zh-CN" sz="1200" b="0" dirty="0">
              <a:solidFill>
                <a:schemeClr val="tx1"/>
              </a:solidFill>
            </a:endParaRPr>
          </a:p>
          <a:p>
            <a:pPr eaLnBrk="1" hangingPunct="1"/>
            <a:endParaRPr lang="en-US" altLang="zh-CN" dirty="0">
              <a:latin typeface="宋体" panose="02010600030101010101" pitchFamily="2" charset="-122"/>
            </a:endParaRPr>
          </a:p>
          <a:p>
            <a:pPr eaLnBrk="1" hangingPunct="1"/>
            <a:r>
              <a:rPr lang="zh-CN" altLang="en-US" dirty="0"/>
              <a:t>传染： 食物，外科手术，角膜移植等。</a:t>
            </a:r>
            <a:endParaRPr lang="en-US" altLang="zh-CN" dirty="0"/>
          </a:p>
          <a:p>
            <a:pPr eaLnBrk="1" hangingPunct="1"/>
            <a:endParaRPr lang="en-US" altLang="zh-CN" dirty="0"/>
          </a:p>
          <a:p>
            <a:pPr eaLnBrk="1" hangingPunct="1"/>
            <a:r>
              <a:rPr lang="zh-CN" altLang="en-US" b="1" dirty="0"/>
              <a:t>羊瘙痒病</a:t>
            </a:r>
            <a:r>
              <a:rPr lang="zh-CN" altLang="en-US" dirty="0"/>
              <a:t>是指最先是在羊身上发现的朊蛋白病。羊瘙痒病之所以如此命名，是因为羊会刮伤树木、栅栏柱或其他结构，并撕掉它们的毛。</a:t>
            </a:r>
            <a:endParaRPr lang="en-US" altLang="zh-CN" dirty="0"/>
          </a:p>
          <a:p>
            <a:pPr eaLnBrk="1" hangingPunct="1"/>
            <a:endParaRPr lang="en-US" altLang="zh-CN" dirty="0"/>
          </a:p>
          <a:p>
            <a:pPr eaLnBrk="1" hangingPunct="1"/>
            <a:r>
              <a:rPr lang="zh-CN" altLang="en-US" b="1" dirty="0"/>
              <a:t>大部分朊病毒</a:t>
            </a:r>
            <a:r>
              <a:rPr lang="en-US" altLang="zh-CN" b="1" dirty="0"/>
              <a:t>Sc </a:t>
            </a:r>
            <a:r>
              <a:rPr lang="zh-CN" altLang="en-US" b="1" dirty="0"/>
              <a:t>不是水溶性的</a:t>
            </a:r>
            <a:r>
              <a:rPr lang="zh-CN" altLang="en-US" dirty="0"/>
              <a:t>，</a:t>
            </a:r>
            <a:r>
              <a:rPr lang="zh-CN" altLang="en-US" b="1" dirty="0"/>
              <a:t>且对蛋白酶的降解有很强的耐受能力</a:t>
            </a:r>
            <a:r>
              <a:rPr lang="zh-CN" altLang="en-US" dirty="0"/>
              <a:t>（与阿尔茨海默病的</a:t>
            </a:r>
            <a:r>
              <a:rPr lang="en-US" altLang="zh-CN" dirty="0"/>
              <a:t>beta-</a:t>
            </a:r>
            <a:r>
              <a:rPr lang="zh-CN" altLang="en-US" dirty="0"/>
              <a:t>淀粉样蛋白相似</a:t>
            </a:r>
            <a:r>
              <a:rPr lang="en-US" altLang="zh-CN" dirty="0"/>
              <a:t> </a:t>
            </a:r>
            <a:r>
              <a:rPr lang="zh-CN" altLang="en-US" dirty="0"/>
              <a:t>），导致其在细胞内缓慢但无法遏制的聚集及神经元死亡。伴随的病理改变包括胶质增生及特征性的空泡样（海绵样）改变，引起痴呆和其他神经功能缺损。 获得性朊病毒疾病的症状和体征在第一次接触朊病毒</a:t>
            </a:r>
            <a:r>
              <a:rPr lang="en-US" altLang="zh-CN" dirty="0" err="1"/>
              <a:t>Prp</a:t>
            </a:r>
            <a:r>
              <a:rPr lang="en-US" altLang="zh-CN" baseline="30000" dirty="0" err="1"/>
              <a:t>Sc</a:t>
            </a:r>
            <a:r>
              <a:rPr lang="zh-CN" altLang="en-US" dirty="0"/>
              <a:t>后的数月至数年内逐渐发展。</a:t>
            </a:r>
          </a:p>
          <a:p>
            <a:pPr eaLnBrk="1" hangingPunct="1"/>
            <a:endParaRPr lang="en-US" altLang="zh-CN" b="0" dirty="0"/>
          </a:p>
          <a:p>
            <a:pPr eaLnBrk="1" hangingPunct="1"/>
            <a:r>
              <a:rPr lang="zh-CN" altLang="en-US" b="1" dirty="0"/>
              <a:t>所有患有快速神经退行性疾病的患者都应考虑朊病毒疾病。</a:t>
            </a:r>
            <a:endParaRPr lang="en-US" altLang="zh-CN" b="1" dirty="0"/>
          </a:p>
          <a:p>
            <a:pPr marL="0" indent="0" eaLnBrk="1" hangingPunct="1">
              <a:buFont typeface="Arial" panose="020B0604020202020204" pitchFamily="34" charset="0"/>
              <a:buNone/>
            </a:pPr>
            <a:endParaRPr lang="en-US" altLang="zh-CN" dirty="0"/>
          </a:p>
          <a:p>
            <a:pPr marL="0" indent="0" eaLnBrk="1" hangingPunct="1">
              <a:buFont typeface="Arial" panose="020B0604020202020204" pitchFamily="34" charset="0"/>
              <a:buNone/>
            </a:pPr>
            <a:endParaRPr lang="en-US" altLang="zh-CN" dirty="0"/>
          </a:p>
          <a:p>
            <a:pPr marL="0" indent="0" eaLnBrk="1" hangingPunct="1">
              <a:buFont typeface="Arial" panose="020B0604020202020204" pitchFamily="34" charset="0"/>
              <a:buNone/>
            </a:pPr>
            <a:endParaRPr lang="en-US"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pPr>
              <a:defRPr/>
            </a:pPr>
            <a:fld id="{40118AFC-F291-4DCE-93C6-D844E0A4D2D4}" type="datetime1">
              <a:rPr lang="zh-CN" altLang="en-US" smtClean="0"/>
              <a:pPr>
                <a:defRPr/>
              </a:pPr>
              <a:t>2026/9/5</a:t>
            </a:fld>
            <a:endParaRPr lang="en-US" altLang="zh-CN"/>
          </a:p>
        </p:txBody>
      </p:sp>
      <p:sp>
        <p:nvSpPr>
          <p:cNvPr id="5" name="灯片编号占位符 4"/>
          <p:cNvSpPr>
            <a:spLocks noGrp="1"/>
          </p:cNvSpPr>
          <p:nvPr>
            <p:ph type="sldNum" sz="quarter" idx="5"/>
          </p:nvPr>
        </p:nvSpPr>
        <p:spPr/>
        <p:txBody>
          <a:bodyPr/>
          <a:lstStyle/>
          <a:p>
            <a:pPr>
              <a:defRPr/>
            </a:pPr>
            <a:fld id="{47AB3041-55A2-4BC5-A258-4AB550B98638}" type="slidenum">
              <a:rPr lang="en-US" altLang="zh-CN" smtClean="0"/>
              <a:pPr>
                <a:defRPr/>
              </a:pPr>
              <a:t>55</a:t>
            </a:fld>
            <a:endParaRPr lang="en-US" altLang="zh-CN"/>
          </a:p>
        </p:txBody>
      </p:sp>
    </p:spTree>
    <p:extLst>
      <p:ext uri="{BB962C8B-B14F-4D97-AF65-F5344CB8AC3E}">
        <p14:creationId xmlns:p14="http://schemas.microsoft.com/office/powerpoint/2010/main" val="1809647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pPr>
              <a:defRPr/>
            </a:pPr>
            <a:fld id="{40118AFC-F291-4DCE-93C6-D844E0A4D2D4}" type="datetime1">
              <a:rPr lang="zh-CN" altLang="en-US" smtClean="0"/>
              <a:pPr>
                <a:defRPr/>
              </a:pPr>
              <a:t>2026/9/5</a:t>
            </a:fld>
            <a:endParaRPr lang="en-US" altLang="zh-CN"/>
          </a:p>
        </p:txBody>
      </p:sp>
      <p:sp>
        <p:nvSpPr>
          <p:cNvPr id="5" name="灯片编号占位符 4"/>
          <p:cNvSpPr>
            <a:spLocks noGrp="1"/>
          </p:cNvSpPr>
          <p:nvPr>
            <p:ph type="sldNum" sz="quarter" idx="5"/>
          </p:nvPr>
        </p:nvSpPr>
        <p:spPr/>
        <p:txBody>
          <a:bodyPr/>
          <a:lstStyle/>
          <a:p>
            <a:pPr>
              <a:defRPr/>
            </a:pPr>
            <a:fld id="{47AB3041-55A2-4BC5-A258-4AB550B98638}" type="slidenum">
              <a:rPr lang="en-US" altLang="zh-CN" smtClean="0"/>
              <a:pPr>
                <a:defRPr/>
              </a:pPr>
              <a:t>56</a:t>
            </a:fld>
            <a:endParaRPr lang="en-US" altLang="zh-CN"/>
          </a:p>
        </p:txBody>
      </p:sp>
    </p:spTree>
    <p:extLst>
      <p:ext uri="{BB962C8B-B14F-4D97-AF65-F5344CB8AC3E}">
        <p14:creationId xmlns:p14="http://schemas.microsoft.com/office/powerpoint/2010/main" val="32712242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a:extLst>
              <a:ext uri="{FF2B5EF4-FFF2-40B4-BE49-F238E27FC236}">
                <a16:creationId xmlns:a16="http://schemas.microsoft.com/office/drawing/2014/main" id="{D643FDE3-90D7-4A1B-9856-DD6AE654E2DA}"/>
              </a:ext>
            </a:extLst>
          </p:cNvPr>
          <p:cNvSpPr>
            <a:spLocks noGrp="1" noRot="1" noChangeAspect="1" noChangeArrowheads="1" noTextEdit="1"/>
          </p:cNvSpPr>
          <p:nvPr>
            <p:ph type="sldImg"/>
          </p:nvPr>
        </p:nvSpPr>
        <p:spPr>
          <a:xfrm>
            <a:off x="381000" y="685800"/>
            <a:ext cx="6096000" cy="3429000"/>
          </a:xfrm>
          <a:ln/>
        </p:spPr>
      </p:sp>
      <p:sp>
        <p:nvSpPr>
          <p:cNvPr id="118787" name="备注占位符 2">
            <a:extLst>
              <a:ext uri="{FF2B5EF4-FFF2-40B4-BE49-F238E27FC236}">
                <a16:creationId xmlns:a16="http://schemas.microsoft.com/office/drawing/2014/main" id="{9EDDE824-9EB8-49CC-A405-5B040BCDFA8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18788" name="日期占位符 3">
            <a:extLst>
              <a:ext uri="{FF2B5EF4-FFF2-40B4-BE49-F238E27FC236}">
                <a16:creationId xmlns:a16="http://schemas.microsoft.com/office/drawing/2014/main" id="{B9623389-E60F-4213-848A-6AC4CBEA9792}"/>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15AC05F-E591-4263-8EF5-CEB5997BB968}"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18789" name="灯片编号占位符 4">
            <a:extLst>
              <a:ext uri="{FF2B5EF4-FFF2-40B4-BE49-F238E27FC236}">
                <a16:creationId xmlns:a16="http://schemas.microsoft.com/office/drawing/2014/main" id="{C88BEE04-6A79-4053-B5AD-B054EB6EEC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94ECC7C-34C6-438E-8389-EE11324E1B3E}" type="slidenum">
              <a:rPr lang="en-US" altLang="zh-CN" sz="1200" smtClean="0">
                <a:latin typeface="Tahoma" panose="020B0604030504040204" pitchFamily="34" charset="0"/>
              </a:rPr>
              <a:pPr/>
              <a:t>57</a:t>
            </a:fld>
            <a:endParaRPr lang="en-US" altLang="zh-CN" sz="1200">
              <a:latin typeface="Tahoma" panose="020B060403050404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a:extLst>
              <a:ext uri="{FF2B5EF4-FFF2-40B4-BE49-F238E27FC236}">
                <a16:creationId xmlns:a16="http://schemas.microsoft.com/office/drawing/2014/main" id="{0C659BEE-DDDB-4A91-B838-E9A3445979A1}"/>
              </a:ext>
            </a:extLst>
          </p:cNvPr>
          <p:cNvSpPr>
            <a:spLocks noGrp="1" noRot="1" noChangeAspect="1" noChangeArrowheads="1" noTextEdit="1"/>
          </p:cNvSpPr>
          <p:nvPr>
            <p:ph type="sldImg"/>
          </p:nvPr>
        </p:nvSpPr>
        <p:spPr>
          <a:xfrm>
            <a:off x="381000" y="685800"/>
            <a:ext cx="6096000" cy="3429000"/>
          </a:xfrm>
          <a:ln/>
        </p:spPr>
      </p:sp>
      <p:sp>
        <p:nvSpPr>
          <p:cNvPr id="121859" name="备注占位符 2">
            <a:extLst>
              <a:ext uri="{FF2B5EF4-FFF2-40B4-BE49-F238E27FC236}">
                <a16:creationId xmlns:a16="http://schemas.microsoft.com/office/drawing/2014/main" id="{43025337-56F4-4110-8E62-E8CB5940DDD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21860" name="日期占位符 3">
            <a:extLst>
              <a:ext uri="{FF2B5EF4-FFF2-40B4-BE49-F238E27FC236}">
                <a16:creationId xmlns:a16="http://schemas.microsoft.com/office/drawing/2014/main" id="{AF47EAFF-AE2B-4F82-A49F-B4FDCD287CD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5D7DA37-BC7F-4217-A7C1-7E8A1E6DB960}"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21861" name="灯片编号占位符 4">
            <a:extLst>
              <a:ext uri="{FF2B5EF4-FFF2-40B4-BE49-F238E27FC236}">
                <a16:creationId xmlns:a16="http://schemas.microsoft.com/office/drawing/2014/main" id="{9E324934-57B9-4067-A327-A6982AAD26F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DA04C33-D8FF-4FB7-82E1-D50A6743D61C}" type="slidenum">
              <a:rPr lang="en-US" altLang="zh-CN" sz="1200" smtClean="0">
                <a:latin typeface="Tahoma" panose="020B0604030504040204" pitchFamily="34" charset="0"/>
              </a:rPr>
              <a:pPr/>
              <a:t>59</a:t>
            </a:fld>
            <a:endParaRPr lang="en-US" altLang="zh-CN" sz="1200">
              <a:latin typeface="Tahoma" panose="020B060403050404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pPr>
              <a:defRPr/>
            </a:pPr>
            <a:fld id="{40118AFC-F291-4DCE-93C6-D844E0A4D2D4}" type="datetime1">
              <a:rPr lang="zh-CN" altLang="en-US" smtClean="0"/>
              <a:pPr>
                <a:defRPr/>
              </a:pPr>
              <a:t>2026/9/5</a:t>
            </a:fld>
            <a:endParaRPr lang="en-US" altLang="zh-CN"/>
          </a:p>
        </p:txBody>
      </p:sp>
      <p:sp>
        <p:nvSpPr>
          <p:cNvPr id="5" name="灯片编号占位符 4"/>
          <p:cNvSpPr>
            <a:spLocks noGrp="1"/>
          </p:cNvSpPr>
          <p:nvPr>
            <p:ph type="sldNum" sz="quarter" idx="5"/>
          </p:nvPr>
        </p:nvSpPr>
        <p:spPr/>
        <p:txBody>
          <a:bodyPr/>
          <a:lstStyle/>
          <a:p>
            <a:pPr>
              <a:defRPr/>
            </a:pPr>
            <a:fld id="{47AB3041-55A2-4BC5-A258-4AB550B98638}" type="slidenum">
              <a:rPr lang="en-US" altLang="zh-CN" smtClean="0"/>
              <a:pPr>
                <a:defRPr/>
              </a:pPr>
              <a:t>60</a:t>
            </a:fld>
            <a:endParaRPr lang="en-US" altLang="zh-CN"/>
          </a:p>
        </p:txBody>
      </p:sp>
    </p:spTree>
    <p:extLst>
      <p:ext uri="{BB962C8B-B14F-4D97-AF65-F5344CB8AC3E}">
        <p14:creationId xmlns:p14="http://schemas.microsoft.com/office/powerpoint/2010/main" val="13127746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a:extLst>
              <a:ext uri="{FF2B5EF4-FFF2-40B4-BE49-F238E27FC236}">
                <a16:creationId xmlns:a16="http://schemas.microsoft.com/office/drawing/2014/main" id="{29F824D6-BE55-4511-B3B4-CD8B688ECA5B}"/>
              </a:ext>
            </a:extLst>
          </p:cNvPr>
          <p:cNvSpPr>
            <a:spLocks noGrp="1" noRot="1" noChangeAspect="1" noChangeArrowheads="1" noTextEdit="1"/>
          </p:cNvSpPr>
          <p:nvPr>
            <p:ph type="sldImg"/>
          </p:nvPr>
        </p:nvSpPr>
        <p:spPr>
          <a:xfrm>
            <a:off x="381000" y="685800"/>
            <a:ext cx="6096000" cy="3429000"/>
          </a:xfrm>
          <a:ln/>
        </p:spPr>
      </p:sp>
      <p:sp>
        <p:nvSpPr>
          <p:cNvPr id="124931" name="备注占位符 2">
            <a:extLst>
              <a:ext uri="{FF2B5EF4-FFF2-40B4-BE49-F238E27FC236}">
                <a16:creationId xmlns:a16="http://schemas.microsoft.com/office/drawing/2014/main" id="{20887675-56B5-40AD-878B-588194FB5B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4932" name="日期占位符 3">
            <a:extLst>
              <a:ext uri="{FF2B5EF4-FFF2-40B4-BE49-F238E27FC236}">
                <a16:creationId xmlns:a16="http://schemas.microsoft.com/office/drawing/2014/main" id="{63739202-C5A3-4994-9B7A-5D826B5697E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A2FFA3E-6F20-4E8D-BB0B-F5E4DC390C87}"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24933" name="灯片编号占位符 4">
            <a:extLst>
              <a:ext uri="{FF2B5EF4-FFF2-40B4-BE49-F238E27FC236}">
                <a16:creationId xmlns:a16="http://schemas.microsoft.com/office/drawing/2014/main" id="{AFBD937D-99A0-4AA8-9F73-4F74044B07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0035FCC-F8A4-46F9-81F2-9DC0E0AF2C50}" type="slidenum">
              <a:rPr lang="en-US" altLang="zh-CN" sz="1200" smtClean="0">
                <a:latin typeface="Tahoma" panose="020B0604030504040204" pitchFamily="34" charset="0"/>
              </a:rPr>
              <a:pPr/>
              <a:t>61</a:t>
            </a:fld>
            <a:endParaRPr lang="en-US" altLang="zh-CN" sz="1200">
              <a:latin typeface="Tahoma" panose="020B060403050404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3">
            <a:extLst>
              <a:ext uri="{FF2B5EF4-FFF2-40B4-BE49-F238E27FC236}">
                <a16:creationId xmlns:a16="http://schemas.microsoft.com/office/drawing/2014/main" id="{60A825E5-2546-412B-AB5A-E2E85BB3844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CF58DAC-D269-412C-8320-1F4CDB21A8E3}"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26979" name="Rectangle 7">
            <a:extLst>
              <a:ext uri="{FF2B5EF4-FFF2-40B4-BE49-F238E27FC236}">
                <a16:creationId xmlns:a16="http://schemas.microsoft.com/office/drawing/2014/main" id="{09A63633-756C-4F15-8C2A-2F49423D3A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E12A24F-CAC1-4B26-AC32-6AC3D31DEE67}" type="slidenum">
              <a:rPr lang="en-US" altLang="zh-CN" sz="1200" smtClean="0">
                <a:latin typeface="Tahoma" panose="020B0604030504040204" pitchFamily="34" charset="0"/>
              </a:rPr>
              <a:pPr/>
              <a:t>62</a:t>
            </a:fld>
            <a:endParaRPr lang="en-US" altLang="zh-CN" sz="1200">
              <a:latin typeface="Tahoma" panose="020B0604030504040204" pitchFamily="34" charset="0"/>
            </a:endParaRPr>
          </a:p>
        </p:txBody>
      </p:sp>
      <p:sp>
        <p:nvSpPr>
          <p:cNvPr id="126980" name="Rectangle 2">
            <a:extLst>
              <a:ext uri="{FF2B5EF4-FFF2-40B4-BE49-F238E27FC236}">
                <a16:creationId xmlns:a16="http://schemas.microsoft.com/office/drawing/2014/main" id="{5C13A7D0-2899-495E-BB72-6106A16962B4}"/>
              </a:ext>
            </a:extLst>
          </p:cNvPr>
          <p:cNvSpPr>
            <a:spLocks noGrp="1" noRot="1" noChangeAspect="1" noChangeArrowheads="1" noTextEdit="1"/>
          </p:cNvSpPr>
          <p:nvPr>
            <p:ph type="sldImg"/>
          </p:nvPr>
        </p:nvSpPr>
        <p:spPr>
          <a:xfrm>
            <a:off x="381000" y="685800"/>
            <a:ext cx="6096000" cy="3429000"/>
          </a:xfrm>
          <a:ln/>
        </p:spPr>
      </p:sp>
      <p:sp>
        <p:nvSpPr>
          <p:cNvPr id="126981" name="Rectangle 3">
            <a:extLst>
              <a:ext uri="{FF2B5EF4-FFF2-40B4-BE49-F238E27FC236}">
                <a16:creationId xmlns:a16="http://schemas.microsoft.com/office/drawing/2014/main" id="{570BB5F8-7E3F-4BA4-B013-A64B28AD3C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a:extLst>
              <a:ext uri="{FF2B5EF4-FFF2-40B4-BE49-F238E27FC236}">
                <a16:creationId xmlns:a16="http://schemas.microsoft.com/office/drawing/2014/main" id="{8E990638-EDAF-49FD-B915-671EA49F702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5EA1D92-7679-45ED-9BD6-0E31AAC36FE2}"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29027" name="Rectangle 7">
            <a:extLst>
              <a:ext uri="{FF2B5EF4-FFF2-40B4-BE49-F238E27FC236}">
                <a16:creationId xmlns:a16="http://schemas.microsoft.com/office/drawing/2014/main" id="{D1A70DFE-ED4D-41B7-84AE-0F9AD26F84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75F018D-ECAF-4DD9-BCE8-8CF902066BCE}" type="slidenum">
              <a:rPr lang="en-US" altLang="zh-CN" sz="1200" smtClean="0">
                <a:latin typeface="Tahoma" panose="020B0604030504040204" pitchFamily="34" charset="0"/>
              </a:rPr>
              <a:pPr/>
              <a:t>63</a:t>
            </a:fld>
            <a:endParaRPr lang="en-US" altLang="zh-CN" sz="1200">
              <a:latin typeface="Tahoma" panose="020B0604030504040204" pitchFamily="34" charset="0"/>
            </a:endParaRPr>
          </a:p>
        </p:txBody>
      </p:sp>
      <p:sp>
        <p:nvSpPr>
          <p:cNvPr id="129028" name="Rectangle 2">
            <a:extLst>
              <a:ext uri="{FF2B5EF4-FFF2-40B4-BE49-F238E27FC236}">
                <a16:creationId xmlns:a16="http://schemas.microsoft.com/office/drawing/2014/main" id="{48DF3477-D411-41E9-BF8A-D2E93BAC446E}"/>
              </a:ext>
            </a:extLst>
          </p:cNvPr>
          <p:cNvSpPr>
            <a:spLocks noGrp="1" noRot="1" noChangeAspect="1" noChangeArrowheads="1" noTextEdit="1"/>
          </p:cNvSpPr>
          <p:nvPr>
            <p:ph type="sldImg"/>
          </p:nvPr>
        </p:nvSpPr>
        <p:spPr>
          <a:xfrm>
            <a:off x="381000" y="685800"/>
            <a:ext cx="6096000" cy="3429000"/>
          </a:xfrm>
          <a:ln/>
        </p:spPr>
      </p:sp>
      <p:sp>
        <p:nvSpPr>
          <p:cNvPr id="129029" name="Rectangle 3">
            <a:extLst>
              <a:ext uri="{FF2B5EF4-FFF2-40B4-BE49-F238E27FC236}">
                <a16:creationId xmlns:a16="http://schemas.microsoft.com/office/drawing/2014/main" id="{C7597DEA-211A-46BD-9414-9836F9CAFE2A}"/>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dirty="0"/>
              <a:t>少数蛋白质含碱性氨基酸较多，其等电点偏于碱性，被称为</a:t>
            </a:r>
            <a:r>
              <a:rPr lang="zh-CN" altLang="en-US" b="1" dirty="0"/>
              <a:t>碱性蛋白质</a:t>
            </a:r>
            <a:r>
              <a:rPr lang="zh-CN" altLang="en-US" b="0" dirty="0"/>
              <a:t>，如鱼精蛋白、组蛋白等。也有少量蛋白质含酸性氨基酸较多，其等电点偏于酸性，被称为</a:t>
            </a:r>
            <a:r>
              <a:rPr lang="zh-CN" altLang="en-US" b="1" dirty="0"/>
              <a:t>酸性蛋白质</a:t>
            </a:r>
            <a:r>
              <a:rPr lang="zh-CN" altLang="en-US" b="0" dirty="0"/>
              <a:t>，如胃蛋白酶和丝蛋白等。</a:t>
            </a:r>
            <a:endParaRPr lang="en-US" altLang="zh-CN" b="0"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a:extLst>
              <a:ext uri="{FF2B5EF4-FFF2-40B4-BE49-F238E27FC236}">
                <a16:creationId xmlns:a16="http://schemas.microsoft.com/office/drawing/2014/main" id="{254CA79C-451C-40B4-A6F2-1ED0B878FFF1}"/>
              </a:ext>
            </a:extLst>
          </p:cNvPr>
          <p:cNvSpPr>
            <a:spLocks noGrp="1" noRot="1" noChangeAspect="1" noChangeArrowheads="1" noTextEdit="1"/>
          </p:cNvSpPr>
          <p:nvPr>
            <p:ph type="sldImg"/>
          </p:nvPr>
        </p:nvSpPr>
        <p:spPr>
          <a:xfrm>
            <a:off x="381000" y="685800"/>
            <a:ext cx="6096000" cy="3429000"/>
          </a:xfrm>
          <a:ln/>
        </p:spPr>
      </p:sp>
      <p:sp>
        <p:nvSpPr>
          <p:cNvPr id="131075" name="备注占位符 2">
            <a:extLst>
              <a:ext uri="{FF2B5EF4-FFF2-40B4-BE49-F238E27FC236}">
                <a16:creationId xmlns:a16="http://schemas.microsoft.com/office/drawing/2014/main" id="{119C7EC0-5B64-4B68-9429-B3BC9B89F0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1076" name="日期占位符 3">
            <a:extLst>
              <a:ext uri="{FF2B5EF4-FFF2-40B4-BE49-F238E27FC236}">
                <a16:creationId xmlns:a16="http://schemas.microsoft.com/office/drawing/2014/main" id="{90ECB2C4-A589-4F67-9AEB-0183A0C6E93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BBACC6F-F556-471A-BC9A-7946FC6B204D}"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31077" name="灯片编号占位符 4">
            <a:extLst>
              <a:ext uri="{FF2B5EF4-FFF2-40B4-BE49-F238E27FC236}">
                <a16:creationId xmlns:a16="http://schemas.microsoft.com/office/drawing/2014/main" id="{9AD0A2D0-FC99-486C-863C-DAD91E3A710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537E25F-6761-444B-9905-7BD0117C816D}" type="slidenum">
              <a:rPr lang="en-US" altLang="zh-CN" sz="1200" smtClean="0">
                <a:latin typeface="Tahoma" panose="020B0604030504040204" pitchFamily="34" charset="0"/>
              </a:rPr>
              <a:pPr/>
              <a:t>64</a:t>
            </a:fld>
            <a:endParaRPr lang="en-US" altLang="zh-CN" sz="1200">
              <a:latin typeface="Tahoma" panose="020B060403050404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3">
            <a:extLst>
              <a:ext uri="{FF2B5EF4-FFF2-40B4-BE49-F238E27FC236}">
                <a16:creationId xmlns:a16="http://schemas.microsoft.com/office/drawing/2014/main" id="{2198D1A4-96CD-4EBF-BDD9-E2398AEEE61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FC32BE3-0AAD-4E46-80B0-72A703E52E4B}"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33123" name="Rectangle 7">
            <a:extLst>
              <a:ext uri="{FF2B5EF4-FFF2-40B4-BE49-F238E27FC236}">
                <a16:creationId xmlns:a16="http://schemas.microsoft.com/office/drawing/2014/main" id="{159A837E-E7CE-4A59-8DDB-E80EC869E7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2601765-8382-4405-B751-1F96285253A2}" type="slidenum">
              <a:rPr lang="en-US" altLang="zh-CN" sz="1200" smtClean="0">
                <a:latin typeface="Tahoma" panose="020B0604030504040204" pitchFamily="34" charset="0"/>
              </a:rPr>
              <a:pPr/>
              <a:t>65</a:t>
            </a:fld>
            <a:endParaRPr lang="en-US" altLang="zh-CN" sz="1200">
              <a:latin typeface="Tahoma" panose="020B0604030504040204" pitchFamily="34" charset="0"/>
            </a:endParaRPr>
          </a:p>
        </p:txBody>
      </p:sp>
      <p:sp>
        <p:nvSpPr>
          <p:cNvPr id="133124" name="Rectangle 2">
            <a:extLst>
              <a:ext uri="{FF2B5EF4-FFF2-40B4-BE49-F238E27FC236}">
                <a16:creationId xmlns:a16="http://schemas.microsoft.com/office/drawing/2014/main" id="{7FAE7741-3F2E-471D-945B-8106C78050F9}"/>
              </a:ext>
            </a:extLst>
          </p:cNvPr>
          <p:cNvSpPr>
            <a:spLocks noGrp="1" noRot="1" noChangeAspect="1" noChangeArrowheads="1" noTextEdit="1"/>
          </p:cNvSpPr>
          <p:nvPr>
            <p:ph type="sldImg"/>
          </p:nvPr>
        </p:nvSpPr>
        <p:spPr>
          <a:xfrm>
            <a:off x="381000" y="685800"/>
            <a:ext cx="6096000" cy="3429000"/>
          </a:xfrm>
          <a:ln/>
        </p:spPr>
      </p:sp>
      <p:sp>
        <p:nvSpPr>
          <p:cNvPr id="133125" name="Rectangle 3">
            <a:extLst>
              <a:ext uri="{FF2B5EF4-FFF2-40B4-BE49-F238E27FC236}">
                <a16:creationId xmlns:a16="http://schemas.microsoft.com/office/drawing/2014/main" id="{37D7AA49-A2C8-446F-92AB-24468A11B9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solidFill>
                  <a:srgbClr val="FF0000"/>
                </a:solidFill>
              </a:rPr>
              <a:t>本学期的生化实验会涉及到这三个反应</a:t>
            </a:r>
            <a:endParaRPr lang="en-US" altLang="zh-CN" dirty="0"/>
          </a:p>
          <a:p>
            <a:pPr eaLnBrk="1" hangingPunct="1"/>
            <a:endParaRPr lang="en-US" altLang="zh-CN" dirty="0"/>
          </a:p>
          <a:p>
            <a:pPr eaLnBrk="1" hangingPunct="1"/>
            <a:r>
              <a:rPr lang="zh-CN" altLang="en-US" dirty="0"/>
              <a:t>双缩脲反应</a:t>
            </a:r>
          </a:p>
          <a:p>
            <a:pPr eaLnBrk="1" hangingPunct="1"/>
            <a:r>
              <a:rPr lang="zh-CN" altLang="en-US" dirty="0"/>
              <a:t>在碱性溶液中</a:t>
            </a:r>
            <a:r>
              <a:rPr lang="en-US" altLang="zh-CN" dirty="0"/>
              <a:t>,</a:t>
            </a:r>
            <a:r>
              <a:rPr lang="zh-CN" altLang="en-US" dirty="0"/>
              <a:t>双缩脲</a:t>
            </a:r>
            <a:r>
              <a:rPr lang="en-US" altLang="zh-CN" dirty="0"/>
              <a:t>(H</a:t>
            </a:r>
            <a:r>
              <a:rPr lang="en-US" altLang="zh-CN" baseline="-25000" dirty="0"/>
              <a:t>2</a:t>
            </a:r>
            <a:r>
              <a:rPr lang="en-US" altLang="zh-CN" dirty="0"/>
              <a:t>NOC</a:t>
            </a:r>
            <a:r>
              <a:rPr lang="zh-CN" altLang="en-US" dirty="0"/>
              <a:t>－</a:t>
            </a:r>
            <a:r>
              <a:rPr lang="en-US" altLang="zh-CN" dirty="0"/>
              <a:t>NH</a:t>
            </a:r>
            <a:r>
              <a:rPr lang="zh-CN" altLang="en-US" dirty="0"/>
              <a:t>－</a:t>
            </a:r>
            <a:r>
              <a:rPr lang="en-US" altLang="zh-CN" dirty="0"/>
              <a:t>CONH</a:t>
            </a:r>
            <a:r>
              <a:rPr lang="en-US" altLang="zh-CN" baseline="-25000" dirty="0"/>
              <a:t>2</a:t>
            </a:r>
            <a:r>
              <a:rPr lang="en-US" altLang="zh-CN" dirty="0"/>
              <a:t>)</a:t>
            </a:r>
            <a:r>
              <a:rPr lang="zh-CN" altLang="en-US" dirty="0"/>
              <a:t>能与</a:t>
            </a:r>
            <a:r>
              <a:rPr lang="en-US" altLang="zh-CN" dirty="0"/>
              <a:t>Cu</a:t>
            </a:r>
            <a:r>
              <a:rPr lang="en-US" altLang="zh-CN" baseline="30000" dirty="0"/>
              <a:t>2+</a:t>
            </a:r>
            <a:r>
              <a:rPr lang="zh-CN" altLang="en-US" dirty="0"/>
              <a:t>作用</a:t>
            </a:r>
            <a:r>
              <a:rPr lang="en-US" altLang="zh-CN" dirty="0"/>
              <a:t>,</a:t>
            </a:r>
            <a:r>
              <a:rPr lang="zh-CN" altLang="en-US" dirty="0"/>
              <a:t>形成紫色或紫红色的络合物</a:t>
            </a:r>
            <a:r>
              <a:rPr lang="en-US" altLang="zh-CN" dirty="0"/>
              <a:t>,</a:t>
            </a:r>
            <a:r>
              <a:rPr lang="zh-CN" altLang="en-US" dirty="0"/>
              <a:t>这个反应叫做</a:t>
            </a:r>
            <a:r>
              <a:rPr lang="zh-CN" altLang="en-US" dirty="0">
                <a:solidFill>
                  <a:srgbClr val="D60093"/>
                </a:solidFill>
              </a:rPr>
              <a:t>双缩脲反应</a:t>
            </a:r>
            <a:r>
              <a:rPr lang="zh-CN" altLang="en-US" dirty="0"/>
              <a:t>。由于蛋白质分子中含有与双缩脲结构相似的多个肽键</a:t>
            </a:r>
            <a:r>
              <a:rPr lang="en-US" altLang="zh-CN" dirty="0"/>
              <a:t>, </a:t>
            </a:r>
            <a:r>
              <a:rPr lang="zh-CN" altLang="en-US" dirty="0"/>
              <a:t>因此有双缩脲反应。</a:t>
            </a:r>
          </a:p>
          <a:p>
            <a:pPr eaLnBrk="1" hangingPunct="1"/>
            <a:r>
              <a:rPr lang="zh-CN" altLang="en-US" b="1" dirty="0">
                <a:latin typeface="宋体" panose="02010600030101010101" pitchFamily="2" charset="-122"/>
              </a:rPr>
              <a:t>凡分子中含有两个以上－</a:t>
            </a:r>
            <a:r>
              <a:rPr lang="en-US" altLang="zh-CN" b="1" dirty="0">
                <a:latin typeface="宋体" panose="02010600030101010101" pitchFamily="2" charset="-122"/>
              </a:rPr>
              <a:t>CO</a:t>
            </a:r>
            <a:r>
              <a:rPr lang="zh-CN" altLang="en-US" b="1" dirty="0">
                <a:latin typeface="宋体" panose="02010600030101010101" pitchFamily="2" charset="-122"/>
              </a:rPr>
              <a:t>－</a:t>
            </a:r>
            <a:r>
              <a:rPr lang="en-US" altLang="zh-CN" b="1" dirty="0">
                <a:latin typeface="宋体" panose="02010600030101010101" pitchFamily="2" charset="-122"/>
              </a:rPr>
              <a:t>NH</a:t>
            </a:r>
            <a:r>
              <a:rPr lang="zh-CN" altLang="en-US" b="1" dirty="0">
                <a:latin typeface="宋体" panose="02010600030101010101" pitchFamily="2" charset="-122"/>
              </a:rPr>
              <a:t>－键的化合物都呈此反应</a:t>
            </a:r>
            <a:r>
              <a:rPr lang="zh-CN" altLang="en-US" dirty="0">
                <a:latin typeface="宋体" panose="02010600030101010101" pitchFamily="2" charset="-122"/>
              </a:rPr>
              <a:t>，氨基酸不出现此反应，故可检测蛋白质水解程度。</a:t>
            </a:r>
            <a:r>
              <a:rPr lang="zh-CN" altLang="en-US" dirty="0"/>
              <a:t> </a:t>
            </a:r>
          </a:p>
          <a:p>
            <a:pPr eaLnBrk="1" hangingPunct="1"/>
            <a:endParaRPr lang="en-US" altLang="zh-CN" sz="3200" b="1" dirty="0">
              <a:solidFill>
                <a:schemeClr val="tx2"/>
              </a:solidFill>
              <a:ea typeface="华文楷体" panose="0201060004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a:extLst>
              <a:ext uri="{FF2B5EF4-FFF2-40B4-BE49-F238E27FC236}">
                <a16:creationId xmlns:a16="http://schemas.microsoft.com/office/drawing/2014/main" id="{43422A51-DE31-43A5-ACC3-BA657225093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FEF0AA5-861F-470F-B68F-6BFF126482F8}"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35171" name="Rectangle 7">
            <a:extLst>
              <a:ext uri="{FF2B5EF4-FFF2-40B4-BE49-F238E27FC236}">
                <a16:creationId xmlns:a16="http://schemas.microsoft.com/office/drawing/2014/main" id="{C6CBBFB2-3F9E-41F3-9C72-262E6EF6E8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B736161-1E1B-4A02-A291-0AC03F5DA175}" type="slidenum">
              <a:rPr lang="en-US" altLang="zh-CN" sz="1200" smtClean="0">
                <a:latin typeface="Tahoma" panose="020B0604030504040204" pitchFamily="34" charset="0"/>
              </a:rPr>
              <a:pPr/>
              <a:t>66</a:t>
            </a:fld>
            <a:endParaRPr lang="en-US" altLang="zh-CN" sz="1200">
              <a:latin typeface="Tahoma" panose="020B0604030504040204" pitchFamily="34" charset="0"/>
            </a:endParaRPr>
          </a:p>
        </p:txBody>
      </p:sp>
      <p:sp>
        <p:nvSpPr>
          <p:cNvPr id="135172" name="Rectangle 2">
            <a:extLst>
              <a:ext uri="{FF2B5EF4-FFF2-40B4-BE49-F238E27FC236}">
                <a16:creationId xmlns:a16="http://schemas.microsoft.com/office/drawing/2014/main" id="{C1549724-D0CF-4AC3-9563-5D8EA57AC6A4}"/>
              </a:ext>
            </a:extLst>
          </p:cNvPr>
          <p:cNvSpPr>
            <a:spLocks noGrp="1" noRot="1" noChangeAspect="1" noChangeArrowheads="1" noTextEdit="1"/>
          </p:cNvSpPr>
          <p:nvPr>
            <p:ph type="sldImg"/>
          </p:nvPr>
        </p:nvSpPr>
        <p:spPr>
          <a:xfrm>
            <a:off x="381000" y="685800"/>
            <a:ext cx="6096000" cy="3429000"/>
          </a:xfrm>
          <a:ln/>
        </p:spPr>
      </p:sp>
      <p:sp>
        <p:nvSpPr>
          <p:cNvPr id="135173" name="Rectangle 3">
            <a:extLst>
              <a:ext uri="{FF2B5EF4-FFF2-40B4-BE49-F238E27FC236}">
                <a16:creationId xmlns:a16="http://schemas.microsoft.com/office/drawing/2014/main" id="{38D8BE1E-7E42-4D32-9D7F-CA7BA32EF8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迷你简雪君"/>
              </a:rPr>
              <a:t>双缩脲反应灵敏底较低，生成的络合物颜色浅，吸光度不易测出。</a:t>
            </a:r>
            <a:endParaRPr lang="en-US" altLang="zh-CN" dirty="0">
              <a:latin typeface="迷你简雪君"/>
            </a:endParaRPr>
          </a:p>
          <a:p>
            <a:pPr eaLnBrk="1" hangingPunct="1"/>
            <a:r>
              <a:rPr lang="zh-CN" altLang="en-US" dirty="0">
                <a:latin typeface="迷你简雪君"/>
              </a:rPr>
              <a:t> 由于形成络合物后，</a:t>
            </a:r>
            <a:r>
              <a:rPr lang="zh-CN" altLang="en-US" b="1" dirty="0">
                <a:latin typeface="迷你简雪君"/>
              </a:rPr>
              <a:t>蛋白质的肽链展开，使其中的酪氨酸等残基充分暴露</a:t>
            </a:r>
            <a:r>
              <a:rPr lang="zh-CN" altLang="en-US" dirty="0">
                <a:latin typeface="迷你简雪君"/>
              </a:rPr>
              <a:t>，而蛋白质中酪氨酸的酚基在碱性条件下与酚试剂（磷钨酸</a:t>
            </a:r>
            <a:r>
              <a:rPr lang="en-US" altLang="zh-CN" dirty="0">
                <a:latin typeface="迷你简雪君"/>
              </a:rPr>
              <a:t>-</a:t>
            </a:r>
            <a:r>
              <a:rPr lang="zh-CN" altLang="en-US" dirty="0">
                <a:latin typeface="迷你简雪君"/>
              </a:rPr>
              <a:t>磷钼酸化合物）反应，使高价的</a:t>
            </a:r>
            <a:r>
              <a:rPr lang="en-US" altLang="zh-CN" dirty="0">
                <a:latin typeface="迷你简雪君"/>
              </a:rPr>
              <a:t>Mo</a:t>
            </a:r>
            <a:r>
              <a:rPr lang="en-US" altLang="zh-CN" baseline="30000" dirty="0">
                <a:latin typeface="迷你简雪君"/>
              </a:rPr>
              <a:t>6+</a:t>
            </a:r>
            <a:r>
              <a:rPr lang="zh-CN" altLang="en-US" dirty="0">
                <a:latin typeface="迷你简雪君"/>
              </a:rPr>
              <a:t>和</a:t>
            </a:r>
            <a:r>
              <a:rPr lang="en-US" altLang="zh-CN" dirty="0">
                <a:latin typeface="迷你简雪君"/>
              </a:rPr>
              <a:t>W</a:t>
            </a:r>
            <a:r>
              <a:rPr lang="en-US" altLang="zh-CN" baseline="30000" dirty="0">
                <a:latin typeface="迷你简雪君"/>
              </a:rPr>
              <a:t>6+</a:t>
            </a:r>
            <a:r>
              <a:rPr lang="zh-CN" altLang="en-US" dirty="0">
                <a:latin typeface="迷你简雪君"/>
              </a:rPr>
              <a:t>还原生成低价的钼离子和钨离子，呈铜蓝及钨蓝的颜色，</a:t>
            </a:r>
            <a:r>
              <a:rPr lang="zh-CN" altLang="en-US" b="1" dirty="0">
                <a:latin typeface="迷你简雪君"/>
              </a:rPr>
              <a:t>蓝色的深浅与蛋白质含量成正比</a:t>
            </a:r>
            <a:r>
              <a:rPr lang="zh-CN" altLang="en-US" dirty="0">
                <a:latin typeface="迷你简雪君"/>
              </a:rPr>
              <a:t>。在一定范围内符合</a:t>
            </a:r>
            <a:r>
              <a:rPr lang="en-US" altLang="zh-CN" dirty="0">
                <a:latin typeface="迷你简雪君"/>
              </a:rPr>
              <a:t>L-B</a:t>
            </a:r>
            <a:r>
              <a:rPr lang="zh-CN" altLang="en-US" dirty="0">
                <a:latin typeface="迷你简雪君"/>
              </a:rPr>
              <a:t>定律（</a:t>
            </a:r>
            <a:r>
              <a:rPr lang="en-US" altLang="zh-CN" dirty="0">
                <a:latin typeface="迷你简雪君"/>
              </a:rPr>
              <a:t>20-300</a:t>
            </a:r>
            <a:r>
              <a:rPr lang="el-GR" altLang="zh-CN" dirty="0">
                <a:latin typeface="迷你简雪君"/>
                <a:cs typeface="Arial" panose="020B0604020202020204" pitchFamily="34" charset="0"/>
              </a:rPr>
              <a:t>μg</a:t>
            </a:r>
            <a:r>
              <a:rPr lang="en-US" altLang="zh-CN" dirty="0">
                <a:latin typeface="迷你简雪君"/>
                <a:cs typeface="Arial" panose="020B0604020202020204" pitchFamily="34" charset="0"/>
              </a:rPr>
              <a:t>/mL</a:t>
            </a:r>
            <a:r>
              <a:rPr lang="zh-CN" altLang="en-US" dirty="0">
                <a:latin typeface="迷你简雪君"/>
                <a:cs typeface="Arial" panose="020B0604020202020204" pitchFamily="34" charset="0"/>
              </a:rPr>
              <a:t>）</a:t>
            </a:r>
            <a:endParaRPr lang="zh-CN" altLang="el-GR" dirty="0">
              <a:latin typeface="迷你简雪君"/>
              <a:cs typeface="Arial" panose="020B0604020202020204" pitchFamily="34" charset="0"/>
            </a:endParaRPr>
          </a:p>
          <a:p>
            <a:pPr eaLnBrk="1" hangingPunct="1"/>
            <a:endParaRPr lang="zh-CN" altLang="en-US" dirty="0"/>
          </a:p>
          <a:p>
            <a:pPr eaLnBrk="1" hangingPunct="1"/>
            <a:r>
              <a:rPr lang="zh-CN" altLang="en-US" dirty="0">
                <a:latin typeface="迷你简雪君"/>
              </a:rPr>
              <a:t>蛋白质中酪氨酸含量不同，</a:t>
            </a:r>
            <a:r>
              <a:rPr lang="zh-CN" altLang="en-US" b="1" dirty="0">
                <a:latin typeface="迷你简雪君"/>
              </a:rPr>
              <a:t>生色强度不同</a:t>
            </a:r>
            <a:r>
              <a:rPr lang="zh-CN" altLang="en-US" dirty="0">
                <a:latin typeface="迷你简雪君"/>
              </a:rPr>
              <a:t>，所以使用同种蛋白质（同源</a:t>
            </a:r>
            <a:r>
              <a:rPr lang="en-US" altLang="zh-CN" dirty="0" err="1">
                <a:latin typeface="迷你简雪君"/>
              </a:rPr>
              <a:t>Pr</a:t>
            </a:r>
            <a:r>
              <a:rPr lang="en-US" altLang="zh-CN" dirty="0">
                <a:latin typeface="迷你简雪君"/>
              </a:rPr>
              <a:t>)</a:t>
            </a:r>
            <a:r>
              <a:rPr lang="zh-CN" altLang="en-US" dirty="0">
                <a:latin typeface="迷你简雪君"/>
              </a:rPr>
              <a:t>作标准，</a:t>
            </a:r>
            <a:r>
              <a:rPr lang="zh-CN" altLang="en-US" b="1" dirty="0">
                <a:latin typeface="迷你简雪君"/>
              </a:rPr>
              <a:t>灵敏度比双缩脲反应高</a:t>
            </a:r>
            <a:r>
              <a:rPr lang="en-US" altLang="zh-CN" b="1" dirty="0">
                <a:latin typeface="迷你简雪君"/>
              </a:rPr>
              <a:t>100</a:t>
            </a:r>
            <a:r>
              <a:rPr lang="zh-CN" altLang="en-US" b="1" dirty="0">
                <a:latin typeface="迷你简雪君"/>
              </a:rPr>
              <a:t>倍</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3">
            <a:extLst>
              <a:ext uri="{FF2B5EF4-FFF2-40B4-BE49-F238E27FC236}">
                <a16:creationId xmlns:a16="http://schemas.microsoft.com/office/drawing/2014/main" id="{6629A7E6-9328-4C5F-83A6-E50CA382FCF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91D6D33-3534-4A13-8723-FCDE2C579D63}"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37219" name="Rectangle 7">
            <a:extLst>
              <a:ext uri="{FF2B5EF4-FFF2-40B4-BE49-F238E27FC236}">
                <a16:creationId xmlns:a16="http://schemas.microsoft.com/office/drawing/2014/main" id="{C9D68760-E704-420A-B1E5-763FFEA99B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E89A7D8-D2CF-4E07-9E9B-9B3E4B19C142}" type="slidenum">
              <a:rPr lang="en-US" altLang="zh-CN" sz="1200" smtClean="0">
                <a:latin typeface="Tahoma" panose="020B0604030504040204" pitchFamily="34" charset="0"/>
              </a:rPr>
              <a:pPr/>
              <a:t>67</a:t>
            </a:fld>
            <a:endParaRPr lang="en-US" altLang="zh-CN" sz="1200">
              <a:latin typeface="Tahoma" panose="020B0604030504040204" pitchFamily="34" charset="0"/>
            </a:endParaRPr>
          </a:p>
        </p:txBody>
      </p:sp>
      <p:sp>
        <p:nvSpPr>
          <p:cNvPr id="137220" name="Rectangle 2">
            <a:extLst>
              <a:ext uri="{FF2B5EF4-FFF2-40B4-BE49-F238E27FC236}">
                <a16:creationId xmlns:a16="http://schemas.microsoft.com/office/drawing/2014/main" id="{B2FDE52F-2FB6-4EC5-BEBA-D9A796740514}"/>
              </a:ext>
            </a:extLst>
          </p:cNvPr>
          <p:cNvSpPr>
            <a:spLocks noGrp="1" noRot="1" noChangeAspect="1" noChangeArrowheads="1" noTextEdit="1"/>
          </p:cNvSpPr>
          <p:nvPr>
            <p:ph type="sldImg"/>
          </p:nvPr>
        </p:nvSpPr>
        <p:spPr>
          <a:xfrm>
            <a:off x="381000" y="685800"/>
            <a:ext cx="6096000" cy="3429000"/>
          </a:xfrm>
          <a:ln/>
        </p:spPr>
      </p:sp>
      <p:sp>
        <p:nvSpPr>
          <p:cNvPr id="137221" name="Rectangle 3">
            <a:extLst>
              <a:ext uri="{FF2B5EF4-FFF2-40B4-BE49-F238E27FC236}">
                <a16:creationId xmlns:a16="http://schemas.microsoft.com/office/drawing/2014/main" id="{4EA3A2C6-0D50-42F0-B784-68BA71E6A7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3">
            <a:extLst>
              <a:ext uri="{FF2B5EF4-FFF2-40B4-BE49-F238E27FC236}">
                <a16:creationId xmlns:a16="http://schemas.microsoft.com/office/drawing/2014/main" id="{33515E00-8CF7-4273-8DF4-A7EBC72C5D9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C5E2569-572E-4E95-BB18-5FD447CF7C1D}"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39267" name="Rectangle 7">
            <a:extLst>
              <a:ext uri="{FF2B5EF4-FFF2-40B4-BE49-F238E27FC236}">
                <a16:creationId xmlns:a16="http://schemas.microsoft.com/office/drawing/2014/main" id="{3D619D63-666B-4AA8-87F7-036ABC9A8D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DCBB9DC-6A66-4CD5-A917-18EABA154313}" type="slidenum">
              <a:rPr lang="en-US" altLang="zh-CN" sz="1200" smtClean="0">
                <a:latin typeface="Tahoma" panose="020B0604030504040204" pitchFamily="34" charset="0"/>
              </a:rPr>
              <a:pPr/>
              <a:t>68</a:t>
            </a:fld>
            <a:endParaRPr lang="en-US" altLang="zh-CN" sz="1200">
              <a:latin typeface="Tahoma" panose="020B0604030504040204" pitchFamily="34" charset="0"/>
            </a:endParaRPr>
          </a:p>
        </p:txBody>
      </p:sp>
      <p:sp>
        <p:nvSpPr>
          <p:cNvPr id="139268" name="Rectangle 2">
            <a:extLst>
              <a:ext uri="{FF2B5EF4-FFF2-40B4-BE49-F238E27FC236}">
                <a16:creationId xmlns:a16="http://schemas.microsoft.com/office/drawing/2014/main" id="{1A70F1A8-FC41-416A-89CB-F5231A58EEE6}"/>
              </a:ext>
            </a:extLst>
          </p:cNvPr>
          <p:cNvSpPr>
            <a:spLocks noGrp="1" noRot="1" noChangeAspect="1" noChangeArrowheads="1" noTextEdit="1"/>
          </p:cNvSpPr>
          <p:nvPr>
            <p:ph type="sldImg"/>
          </p:nvPr>
        </p:nvSpPr>
        <p:spPr>
          <a:xfrm>
            <a:off x="381000" y="685800"/>
            <a:ext cx="6096000" cy="3429000"/>
          </a:xfrm>
          <a:ln/>
        </p:spPr>
      </p:sp>
      <p:sp>
        <p:nvSpPr>
          <p:cNvPr id="139269" name="Rectangle 3">
            <a:extLst>
              <a:ext uri="{FF2B5EF4-FFF2-40B4-BE49-F238E27FC236}">
                <a16:creationId xmlns:a16="http://schemas.microsoft.com/office/drawing/2014/main" id="{226B15EF-DD06-4139-9607-2054204501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dirty="0">
                <a:latin typeface="宋体" panose="02010600030101010101" pitchFamily="2" charset="-122"/>
              </a:rPr>
              <a:t>蛋白质溶液</a:t>
            </a:r>
            <a:r>
              <a:rPr lang="zh-CN" altLang="en-US" b="1" dirty="0">
                <a:solidFill>
                  <a:srgbClr val="FFFF66"/>
                </a:solidFill>
                <a:latin typeface="宋体" panose="02010600030101010101" pitchFamily="2" charset="-122"/>
              </a:rPr>
              <a:t>具有亲水胶体的性质</a:t>
            </a:r>
            <a:r>
              <a:rPr lang="en-US" altLang="zh-CN" b="1" dirty="0">
                <a:latin typeface="宋体" panose="02010600030101010101" pitchFamily="2" charset="-122"/>
              </a:rPr>
              <a:t>(</a:t>
            </a:r>
            <a:r>
              <a:rPr lang="zh-CN" altLang="en-US" b="1" dirty="0">
                <a:latin typeface="宋体" panose="02010600030101010101" pitchFamily="2" charset="-122"/>
              </a:rPr>
              <a:t>如丁达尔现象、布郎运动等</a:t>
            </a:r>
            <a:r>
              <a:rPr lang="en-US" altLang="zh-CN" b="1" dirty="0">
                <a:latin typeface="宋体" panose="02010600030101010101" pitchFamily="2" charset="-122"/>
              </a:rPr>
              <a:t>)</a:t>
            </a:r>
            <a:endParaRPr lang="en-US" altLang="zh-CN" dirty="0">
              <a:solidFill>
                <a:srgbClr val="707070"/>
              </a:solidFill>
              <a:latin typeface="Tahoma" panose="020B0604030504040204" pitchFamily="34" charset="0"/>
            </a:endParaRPr>
          </a:p>
          <a:p>
            <a:pPr eaLnBrk="1" hangingPunct="1"/>
            <a:r>
              <a:rPr lang="zh-CN" altLang="en-US" dirty="0">
                <a:solidFill>
                  <a:srgbClr val="707070"/>
                </a:solidFill>
                <a:latin typeface="Tahoma" panose="020B0604030504040204" pitchFamily="34" charset="0"/>
              </a:rPr>
              <a:t>蛋白质溶液有许多高分子溶液的性质，如：扩散慢、易沉降、 粘度大、不能透过半透膜等。</a:t>
            </a:r>
            <a:endParaRPr lang="zh-CN" altLang="en-US" dirty="0"/>
          </a:p>
          <a:p>
            <a:pPr eaLnBrk="1" hangingPunct="1"/>
            <a:endParaRPr lang="en-US" altLang="zh-CN" b="1" dirty="0"/>
          </a:p>
          <a:p>
            <a:pPr eaLnBrk="1" hangingPunct="1"/>
            <a:r>
              <a:rPr lang="zh-CN" altLang="en-US" dirty="0"/>
              <a:t>在非等电点时，</a:t>
            </a:r>
            <a:r>
              <a:rPr lang="zh-CN" altLang="en-US" b="1" dirty="0"/>
              <a:t>相同蛋白质颗粒带有同性电荷</a:t>
            </a:r>
            <a:r>
              <a:rPr lang="zh-CN" altLang="en-US" dirty="0"/>
              <a:t>，使蛋白质颗粒之间相互排斥，保持一定距离，不致互相凝聚而沉淀。  </a:t>
            </a:r>
          </a:p>
          <a:p>
            <a:pPr eaLnBrk="1" hangingPunct="1"/>
            <a:endParaRPr lang="en-US" altLang="zh-CN" dirty="0"/>
          </a:p>
          <a:p>
            <a:pPr eaLnBrk="1" hangingPunct="1"/>
            <a:endParaRPr lang="en-US" altLang="zh-CN"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3">
            <a:extLst>
              <a:ext uri="{FF2B5EF4-FFF2-40B4-BE49-F238E27FC236}">
                <a16:creationId xmlns:a16="http://schemas.microsoft.com/office/drawing/2014/main" id="{C28FF2D3-F6DA-41E9-81A6-5DA833556B5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79D740B-BEE8-4F6D-9A20-F6B7891BAD47}"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41315" name="Rectangle 7">
            <a:extLst>
              <a:ext uri="{FF2B5EF4-FFF2-40B4-BE49-F238E27FC236}">
                <a16:creationId xmlns:a16="http://schemas.microsoft.com/office/drawing/2014/main" id="{16B477BA-1E88-4F34-86BA-2B0F5F3495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30A8427-5976-4C50-AC0E-6CF1F4EA4031}" type="slidenum">
              <a:rPr lang="en-US" altLang="zh-CN" sz="1200" smtClean="0">
                <a:latin typeface="Tahoma" panose="020B0604030504040204" pitchFamily="34" charset="0"/>
              </a:rPr>
              <a:pPr/>
              <a:t>69</a:t>
            </a:fld>
            <a:endParaRPr lang="en-US" altLang="zh-CN" sz="1200">
              <a:latin typeface="Tahoma" panose="020B0604030504040204" pitchFamily="34" charset="0"/>
            </a:endParaRPr>
          </a:p>
        </p:txBody>
      </p:sp>
      <p:sp>
        <p:nvSpPr>
          <p:cNvPr id="141316" name="Rectangle 2">
            <a:extLst>
              <a:ext uri="{FF2B5EF4-FFF2-40B4-BE49-F238E27FC236}">
                <a16:creationId xmlns:a16="http://schemas.microsoft.com/office/drawing/2014/main" id="{3245B49E-5E9E-49F9-BDEF-9795BDFB3EB6}"/>
              </a:ext>
            </a:extLst>
          </p:cNvPr>
          <p:cNvSpPr>
            <a:spLocks noGrp="1" noRot="1" noChangeAspect="1" noChangeArrowheads="1" noTextEdit="1"/>
          </p:cNvSpPr>
          <p:nvPr>
            <p:ph type="sldImg"/>
          </p:nvPr>
        </p:nvSpPr>
        <p:spPr>
          <a:xfrm>
            <a:off x="381000" y="685800"/>
            <a:ext cx="6096000" cy="3429000"/>
          </a:xfrm>
          <a:ln/>
        </p:spPr>
      </p:sp>
      <p:sp>
        <p:nvSpPr>
          <p:cNvPr id="141317" name="Rectangle 3">
            <a:extLst>
              <a:ext uri="{FF2B5EF4-FFF2-40B4-BE49-F238E27FC236}">
                <a16:creationId xmlns:a16="http://schemas.microsoft.com/office/drawing/2014/main" id="{BBEF10A8-73F6-4C02-9456-8D211AF09F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从图可以看出，如将蛋白质溶液</a:t>
            </a:r>
            <a:r>
              <a:rPr lang="en-US" altLang="zh-CN" dirty="0"/>
              <a:t>pH</a:t>
            </a:r>
            <a:r>
              <a:rPr lang="zh-CN" altLang="en-US" dirty="0">
                <a:latin typeface="宋体" panose="02010600030101010101" pitchFamily="2" charset="-122"/>
              </a:rPr>
              <a:t>调节到等电点，蛋白质分子净电荷为零，虽然分子间同性电荷相互排斥作用消失了，但是还有水化膜起保护作用，一般不致于发生凝聚作用。 如果这时再加入某种脱水剂，除去蛋白质分子的水化膜，则蛋白质分子就会互相凝聚而析出沉淀；反之，若先使蛋白质脱水，然后再调节</a:t>
            </a:r>
            <a:r>
              <a:rPr lang="en-US" altLang="zh-CN" dirty="0"/>
              <a:t>pH</a:t>
            </a:r>
            <a:r>
              <a:rPr lang="zh-CN" altLang="en-US" dirty="0">
                <a:latin typeface="宋体" panose="02010600030101010101" pitchFamily="2" charset="-122"/>
              </a:rPr>
              <a:t>到等电点，也同样可使蛋白质沉淀析出。</a:t>
            </a:r>
            <a:r>
              <a:rPr lang="zh-CN" altLang="en-US" dirty="0"/>
              <a:t> </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3">
            <a:extLst>
              <a:ext uri="{FF2B5EF4-FFF2-40B4-BE49-F238E27FC236}">
                <a16:creationId xmlns:a16="http://schemas.microsoft.com/office/drawing/2014/main" id="{1487C3D5-3958-4EA6-B4A7-B17208AA5C4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C65E77D-ECA2-4F0C-B1E0-81009CD9ECCC}"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43363" name="Rectangle 7">
            <a:extLst>
              <a:ext uri="{FF2B5EF4-FFF2-40B4-BE49-F238E27FC236}">
                <a16:creationId xmlns:a16="http://schemas.microsoft.com/office/drawing/2014/main" id="{18B200D9-D2DA-40D7-A510-8917ACB6DC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E9D99E1-A825-4C41-8E1B-98F5D4068CBE}" type="slidenum">
              <a:rPr lang="en-US" altLang="zh-CN" sz="1200" smtClean="0">
                <a:latin typeface="Tahoma" panose="020B0604030504040204" pitchFamily="34" charset="0"/>
              </a:rPr>
              <a:pPr/>
              <a:t>70</a:t>
            </a:fld>
            <a:endParaRPr lang="en-US" altLang="zh-CN" sz="1200">
              <a:latin typeface="Tahoma" panose="020B0604030504040204" pitchFamily="34" charset="0"/>
            </a:endParaRPr>
          </a:p>
        </p:txBody>
      </p:sp>
      <p:sp>
        <p:nvSpPr>
          <p:cNvPr id="143364" name="Rectangle 2">
            <a:extLst>
              <a:ext uri="{FF2B5EF4-FFF2-40B4-BE49-F238E27FC236}">
                <a16:creationId xmlns:a16="http://schemas.microsoft.com/office/drawing/2014/main" id="{8B174FA2-936F-450A-A66D-79DBA2FA1999}"/>
              </a:ext>
            </a:extLst>
          </p:cNvPr>
          <p:cNvSpPr>
            <a:spLocks noGrp="1" noRot="1" noChangeAspect="1" noChangeArrowheads="1" noTextEdit="1"/>
          </p:cNvSpPr>
          <p:nvPr>
            <p:ph type="sldImg"/>
          </p:nvPr>
        </p:nvSpPr>
        <p:spPr>
          <a:xfrm>
            <a:off x="381000" y="685800"/>
            <a:ext cx="6096000" cy="3429000"/>
          </a:xfrm>
          <a:ln/>
        </p:spPr>
      </p:sp>
      <p:sp>
        <p:nvSpPr>
          <p:cNvPr id="143365" name="Rectangle 3">
            <a:extLst>
              <a:ext uri="{FF2B5EF4-FFF2-40B4-BE49-F238E27FC236}">
                <a16:creationId xmlns:a16="http://schemas.microsoft.com/office/drawing/2014/main" id="{72C45B8C-2114-47AA-A2E1-BA2841669E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dirty="0"/>
              <a:t>这是</a:t>
            </a:r>
            <a:r>
              <a:rPr lang="en-US" altLang="zh-CN" b="1" dirty="0"/>
              <a:t>pr</a:t>
            </a:r>
            <a:r>
              <a:rPr lang="zh-CN" altLang="en-US" b="1" dirty="0"/>
              <a:t>区别于</a:t>
            </a:r>
            <a:r>
              <a:rPr lang="en-US" altLang="zh-CN" b="1" dirty="0"/>
              <a:t>aa</a:t>
            </a:r>
            <a:r>
              <a:rPr lang="zh-CN" altLang="en-US" b="1" dirty="0"/>
              <a:t>的特有性质。</a:t>
            </a:r>
            <a:r>
              <a:rPr lang="zh-CN" altLang="en-US" dirty="0"/>
              <a:t>    生物学活性丧失通常是蛋白质变性最受关注的效应。提取蛋白质要尽可能避免或减少生物活性的丧失。 </a:t>
            </a:r>
          </a:p>
          <a:p>
            <a:pPr eaLnBrk="1" hangingPunct="1"/>
            <a:endParaRPr lang="en-US" altLang="zh-CN" dirty="0"/>
          </a:p>
          <a:p>
            <a:r>
              <a:rPr kumimoji="1" lang="zh-CN" altLang="en-US" sz="1200" b="0" i="0" u="none" strike="noStrike" kern="1200" baseline="0" dirty="0">
                <a:solidFill>
                  <a:schemeClr val="tx1"/>
                </a:solidFill>
                <a:latin typeface="Times New Roman" pitchFamily="18" charset="0"/>
                <a:ea typeface="宋体" pitchFamily="2" charset="-122"/>
                <a:cs typeface="+mn-cs"/>
              </a:rPr>
              <a:t>变性导致的理化性质改变，比如溶解度降低、黏度增加、结晶能力消失、易被蛋白酶水解等</a:t>
            </a:r>
            <a:endParaRPr lang="en-US" altLang="zh-CN" dirty="0">
              <a:latin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3">
            <a:extLst>
              <a:ext uri="{FF2B5EF4-FFF2-40B4-BE49-F238E27FC236}">
                <a16:creationId xmlns:a16="http://schemas.microsoft.com/office/drawing/2014/main" id="{89B01F6D-28C1-464F-A789-BDE1DF2FB0E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85B66B3-28BB-4151-9F02-AB6575DBE99F}"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45411" name="Rectangle 7">
            <a:extLst>
              <a:ext uri="{FF2B5EF4-FFF2-40B4-BE49-F238E27FC236}">
                <a16:creationId xmlns:a16="http://schemas.microsoft.com/office/drawing/2014/main" id="{A74B46E6-5250-40E9-BA15-2AE2C0F749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1CA55D6-C675-45D0-AE28-98E3C4F6C367}" type="slidenum">
              <a:rPr lang="en-US" altLang="zh-CN" sz="1200" smtClean="0">
                <a:latin typeface="Tahoma" panose="020B0604030504040204" pitchFamily="34" charset="0"/>
              </a:rPr>
              <a:pPr/>
              <a:t>71</a:t>
            </a:fld>
            <a:endParaRPr lang="en-US" altLang="zh-CN" sz="1200">
              <a:latin typeface="Tahoma" panose="020B0604030504040204" pitchFamily="34" charset="0"/>
            </a:endParaRPr>
          </a:p>
        </p:txBody>
      </p:sp>
      <p:sp>
        <p:nvSpPr>
          <p:cNvPr id="145412" name="Rectangle 2">
            <a:extLst>
              <a:ext uri="{FF2B5EF4-FFF2-40B4-BE49-F238E27FC236}">
                <a16:creationId xmlns:a16="http://schemas.microsoft.com/office/drawing/2014/main" id="{9326517D-38F3-4B01-ADE2-643D75FAC059}"/>
              </a:ext>
            </a:extLst>
          </p:cNvPr>
          <p:cNvSpPr>
            <a:spLocks noGrp="1" noRot="1" noChangeAspect="1" noChangeArrowheads="1" noTextEdit="1"/>
          </p:cNvSpPr>
          <p:nvPr>
            <p:ph type="sldImg"/>
          </p:nvPr>
        </p:nvSpPr>
        <p:spPr>
          <a:xfrm>
            <a:off x="381000" y="685800"/>
            <a:ext cx="6096000" cy="3429000"/>
          </a:xfrm>
          <a:ln/>
        </p:spPr>
      </p:sp>
      <p:sp>
        <p:nvSpPr>
          <p:cNvPr id="145413" name="Rectangle 3">
            <a:extLst>
              <a:ext uri="{FF2B5EF4-FFF2-40B4-BE49-F238E27FC236}">
                <a16:creationId xmlns:a16="http://schemas.microsoft.com/office/drawing/2014/main" id="{0B018444-2015-4BE8-8FCB-B7C73402A4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0" lang="zh-CN" altLang="en-US" dirty="0"/>
              <a:t>我国早期著名生物化学家吴宪教授一生作出了多方面的贡献，其中最重要的无疑是他的关于蛋白质变性的理论，这一理论是吴宪教授基于他在国内实验室（北京协和医学院生物化学系）所做的大量工作而提出的。实验工作从</a:t>
            </a:r>
            <a:r>
              <a:rPr kumimoji="0" lang="en-US" altLang="zh-CN" dirty="0"/>
              <a:t>1924</a:t>
            </a:r>
            <a:r>
              <a:rPr kumimoji="0" lang="zh-CN" altLang="en-US" dirty="0"/>
              <a:t>年开始，经过多年的深入研究，直到</a:t>
            </a:r>
            <a:r>
              <a:rPr kumimoji="0" lang="en-US" altLang="zh-CN" dirty="0"/>
              <a:t>1931</a:t>
            </a:r>
            <a:r>
              <a:rPr kumimoji="0" lang="zh-CN" altLang="en-US" dirty="0"/>
              <a:t>年才正式发表了关于蛋白质变性理论的论文，这是他一系列研究的第十三篇论文，充分体现了吴宪教授治学态度的严谨性。</a:t>
            </a:r>
          </a:p>
          <a:p>
            <a:pPr eaLnBrk="1" hangingPunct="1"/>
            <a:r>
              <a:rPr kumimoji="0" lang="zh-CN" altLang="en-US" dirty="0"/>
              <a:t>由于这篇论文当时是在中国的刊物</a:t>
            </a:r>
            <a:r>
              <a:rPr kumimoji="0" lang="en-US" altLang="zh-CN" dirty="0"/>
              <a:t>《Chinese Journal of Physiology》</a:t>
            </a:r>
            <a:r>
              <a:rPr kumimoji="0" lang="zh-CN" altLang="en-US" dirty="0"/>
              <a:t>上发表的，尽管是用英文发表，但在国际上仍然没有引起应有的注意。在吴的论文发表五年之后，知名的</a:t>
            </a:r>
            <a:r>
              <a:rPr kumimoji="0" lang="en-US" altLang="zh-CN" dirty="0"/>
              <a:t>A. Mirsky</a:t>
            </a:r>
            <a:r>
              <a:rPr kumimoji="0" lang="zh-CN" altLang="en-US" dirty="0"/>
              <a:t>和</a:t>
            </a:r>
            <a:r>
              <a:rPr kumimoji="0" lang="en-US" altLang="zh-CN" dirty="0"/>
              <a:t>L. Pauling</a:t>
            </a:r>
            <a:r>
              <a:rPr kumimoji="0" lang="zh-CN" altLang="en-US" dirty="0"/>
              <a:t>（诺贝尔化学奖获得者）在美国科学院院报上发表了蛋白质变性理论的论文，该论文引起广泛的注意，并产生了极大的影响，但其观点实质上和吴宪教授五年前已经提出的观点十分类似。在基础研究上的国际竞争中，只有金牌的位置，蛋白质变性理论仍然是吴宪教授的首创。</a:t>
            </a:r>
            <a:endParaRPr kumimoji="0" lang="en-US" altLang="zh-CN" dirty="0"/>
          </a:p>
          <a:p>
            <a:pPr eaLnBrk="1" hangingPunct="1"/>
            <a:endParaRPr kumimoji="0" lang="en-US" altLang="zh-CN" dirty="0"/>
          </a:p>
          <a:p>
            <a:pPr eaLnBrk="1" hangingPunct="1"/>
            <a:r>
              <a:rPr kumimoji="0" lang="zh-CN" altLang="en-US" dirty="0"/>
              <a:t>联想到</a:t>
            </a:r>
            <a:r>
              <a:rPr kumimoji="0" lang="en-US" altLang="zh-CN" dirty="0"/>
              <a:t>60</a:t>
            </a:r>
            <a:r>
              <a:rPr kumimoji="0" lang="zh-CN" altLang="en-US" dirty="0"/>
              <a:t>年代我国生物化学界的又一重大成就，结晶牛胰岛素的人工全合成也完全是在我国自己的实验室完成，却也因为是在中国的刊物</a:t>
            </a:r>
            <a:r>
              <a:rPr kumimoji="0" lang="en-US" altLang="zh-CN" dirty="0"/>
              <a:t>《</a:t>
            </a:r>
            <a:r>
              <a:rPr kumimoji="0" lang="zh-CN" altLang="en-US" dirty="0"/>
              <a:t>中国科学</a:t>
            </a:r>
            <a:r>
              <a:rPr kumimoji="0" lang="en-US" altLang="zh-CN" dirty="0"/>
              <a:t>》</a:t>
            </a:r>
            <a:r>
              <a:rPr kumimoji="0" lang="zh-CN" altLang="en-US" dirty="0"/>
              <a:t>和</a:t>
            </a:r>
            <a:r>
              <a:rPr kumimoji="0" lang="en-US" altLang="zh-CN" dirty="0"/>
              <a:t>《</a:t>
            </a:r>
            <a:r>
              <a:rPr kumimoji="0" lang="zh-CN" altLang="en-US" dirty="0"/>
              <a:t>科学通报</a:t>
            </a:r>
            <a:r>
              <a:rPr kumimoji="0" lang="en-US" altLang="zh-CN" dirty="0"/>
              <a:t>》</a:t>
            </a:r>
            <a:r>
              <a:rPr kumimoji="0" lang="zh-CN" altLang="en-US" dirty="0"/>
              <a:t>上，尽管也是用英文发表的，却没有及时在国际上取得应有的公认。</a:t>
            </a:r>
          </a:p>
        </p:txBody>
      </p:sp>
    </p:spTree>
    <p:extLst>
      <p:ext uri="{BB962C8B-B14F-4D97-AF65-F5344CB8AC3E}">
        <p14:creationId xmlns:p14="http://schemas.microsoft.com/office/powerpoint/2010/main" val="77057461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3">
            <a:extLst>
              <a:ext uri="{FF2B5EF4-FFF2-40B4-BE49-F238E27FC236}">
                <a16:creationId xmlns:a16="http://schemas.microsoft.com/office/drawing/2014/main" id="{B446B0F2-2F48-454A-B877-F21D536836C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F18A01D-0931-43E3-AA6D-45F0B27D7DB8}"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47459" name="Rectangle 7">
            <a:extLst>
              <a:ext uri="{FF2B5EF4-FFF2-40B4-BE49-F238E27FC236}">
                <a16:creationId xmlns:a16="http://schemas.microsoft.com/office/drawing/2014/main" id="{2A7B5608-A4E0-4283-BCFF-A5A0E09A99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1602996-55F5-48DB-A067-D3515480D46D}" type="slidenum">
              <a:rPr lang="en-US" altLang="zh-CN" sz="1200" smtClean="0">
                <a:latin typeface="Tahoma" panose="020B0604030504040204" pitchFamily="34" charset="0"/>
              </a:rPr>
              <a:pPr/>
              <a:t>72</a:t>
            </a:fld>
            <a:endParaRPr lang="en-US" altLang="zh-CN" sz="1200">
              <a:latin typeface="Tahoma" panose="020B0604030504040204" pitchFamily="34" charset="0"/>
            </a:endParaRPr>
          </a:p>
        </p:txBody>
      </p:sp>
      <p:sp>
        <p:nvSpPr>
          <p:cNvPr id="147460" name="Rectangle 2">
            <a:extLst>
              <a:ext uri="{FF2B5EF4-FFF2-40B4-BE49-F238E27FC236}">
                <a16:creationId xmlns:a16="http://schemas.microsoft.com/office/drawing/2014/main" id="{200323D2-652A-4F3D-9BE9-3B7E21EA5D79}"/>
              </a:ext>
            </a:extLst>
          </p:cNvPr>
          <p:cNvSpPr>
            <a:spLocks noGrp="1" noRot="1" noChangeAspect="1" noChangeArrowheads="1" noTextEdit="1"/>
          </p:cNvSpPr>
          <p:nvPr>
            <p:ph type="sldImg"/>
          </p:nvPr>
        </p:nvSpPr>
        <p:spPr>
          <a:xfrm>
            <a:off x="381000" y="685800"/>
            <a:ext cx="6096000" cy="3429000"/>
          </a:xfrm>
          <a:ln/>
        </p:spPr>
      </p:sp>
      <p:sp>
        <p:nvSpPr>
          <p:cNvPr id="147461" name="Rectangle 3">
            <a:extLst>
              <a:ext uri="{FF2B5EF4-FFF2-40B4-BE49-F238E27FC236}">
                <a16:creationId xmlns:a16="http://schemas.microsoft.com/office/drawing/2014/main" id="{5D9A9D12-B73A-49EB-BCD5-2A0A8EC7A2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40000"/>
              </a:lnSpc>
              <a:spcBef>
                <a:spcPct val="50000"/>
              </a:spcBef>
              <a:buClr>
                <a:srgbClr val="A50021"/>
              </a:buClr>
              <a:buSzPct val="75000"/>
              <a:buFont typeface="Wingdings" panose="05000000000000000000" pitchFamily="2" charset="2"/>
              <a:buNone/>
            </a:pPr>
            <a:endParaRPr lang="en-US" altLang="zh-CN" sz="2800">
              <a:latin typeface="华文楷体" panose="02010600040101010101" pitchFamily="2" charset="-122"/>
              <a:ea typeface="华文楷体" panose="02010600040101010101" pitchFamily="2" charset="-122"/>
            </a:endParaRPr>
          </a:p>
          <a:p>
            <a:pPr eaLnBrk="1" hangingPunct="1">
              <a:lnSpc>
                <a:spcPct val="140000"/>
              </a:lnSpc>
              <a:spcBef>
                <a:spcPct val="50000"/>
              </a:spcBef>
              <a:buClr>
                <a:srgbClr val="A50021"/>
              </a:buClr>
              <a:buSzPct val="75000"/>
              <a:buFont typeface="Wingdings" panose="05000000000000000000" pitchFamily="2" charset="2"/>
              <a:buNone/>
            </a:pPr>
            <a:endParaRPr lang="zh-CN" altLang="en-US" sz="2800">
              <a:latin typeface="华文楷体" panose="02010600040101010101" pitchFamily="2" charset="-122"/>
              <a:ea typeface="华文楷体" panose="0201060004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3">
            <a:extLst>
              <a:ext uri="{FF2B5EF4-FFF2-40B4-BE49-F238E27FC236}">
                <a16:creationId xmlns:a16="http://schemas.microsoft.com/office/drawing/2014/main" id="{2DA31AD8-86B8-4C2A-ADBA-529945175CD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4EAF6CA-DB38-4819-9092-15F1E436F326}"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49507" name="Rectangle 7">
            <a:extLst>
              <a:ext uri="{FF2B5EF4-FFF2-40B4-BE49-F238E27FC236}">
                <a16:creationId xmlns:a16="http://schemas.microsoft.com/office/drawing/2014/main" id="{0C6E3918-D70D-4E12-9F6D-B808A3B708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702B024-29F2-4E87-90DF-B961B83F6652}" type="slidenum">
              <a:rPr lang="en-US" altLang="zh-CN" sz="1200" smtClean="0">
                <a:latin typeface="Tahoma" panose="020B0604030504040204" pitchFamily="34" charset="0"/>
              </a:rPr>
              <a:pPr/>
              <a:t>73</a:t>
            </a:fld>
            <a:endParaRPr lang="en-US" altLang="zh-CN" sz="1200">
              <a:latin typeface="Tahoma" panose="020B0604030504040204" pitchFamily="34" charset="0"/>
            </a:endParaRPr>
          </a:p>
        </p:txBody>
      </p:sp>
      <p:sp>
        <p:nvSpPr>
          <p:cNvPr id="149508" name="Rectangle 2">
            <a:extLst>
              <a:ext uri="{FF2B5EF4-FFF2-40B4-BE49-F238E27FC236}">
                <a16:creationId xmlns:a16="http://schemas.microsoft.com/office/drawing/2014/main" id="{8EFF5DB4-8D62-41D3-AB4C-2154D18FCAB4}"/>
              </a:ext>
            </a:extLst>
          </p:cNvPr>
          <p:cNvSpPr>
            <a:spLocks noGrp="1" noRot="1" noChangeAspect="1" noChangeArrowheads="1" noTextEdit="1"/>
          </p:cNvSpPr>
          <p:nvPr>
            <p:ph type="sldImg"/>
          </p:nvPr>
        </p:nvSpPr>
        <p:spPr>
          <a:xfrm>
            <a:off x="381000" y="685800"/>
            <a:ext cx="6096000" cy="3429000"/>
          </a:xfrm>
          <a:ln/>
        </p:spPr>
      </p:sp>
      <p:sp>
        <p:nvSpPr>
          <p:cNvPr id="149509" name="Rectangle 3">
            <a:extLst>
              <a:ext uri="{FF2B5EF4-FFF2-40B4-BE49-F238E27FC236}">
                <a16:creationId xmlns:a16="http://schemas.microsoft.com/office/drawing/2014/main" id="{1E199B4A-F107-45BF-BBB4-C10128146C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40000"/>
              </a:lnSpc>
              <a:spcBef>
                <a:spcPct val="50000"/>
              </a:spcBef>
              <a:buClr>
                <a:srgbClr val="A50021"/>
              </a:buClr>
              <a:buSzPct val="75000"/>
              <a:buFont typeface="Wingdings" panose="05000000000000000000" pitchFamily="2" charset="2"/>
              <a:buNone/>
            </a:pPr>
            <a:r>
              <a:rPr lang="zh-CN" altLang="en-US" sz="2800" dirty="0">
                <a:latin typeface="华文楷体" panose="02010600040101010101" pitchFamily="2" charset="-122"/>
                <a:ea typeface="华文楷体" panose="02010600040101010101" pitchFamily="2" charset="-122"/>
              </a:rPr>
              <a:t>破坏疏水作用力的试剂：有机溶剂、尿素、去污剂如</a:t>
            </a:r>
            <a:r>
              <a:rPr lang="en-US" altLang="zh-CN" sz="2800" dirty="0">
                <a:latin typeface="华文楷体" panose="02010600040101010101" pitchFamily="2" charset="-122"/>
                <a:ea typeface="华文楷体" panose="02010600040101010101" pitchFamily="2" charset="-122"/>
              </a:rPr>
              <a:t>SDS</a:t>
            </a:r>
          </a:p>
          <a:p>
            <a:pPr eaLnBrk="1" hangingPunct="1">
              <a:lnSpc>
                <a:spcPct val="140000"/>
              </a:lnSpc>
              <a:spcBef>
                <a:spcPct val="50000"/>
              </a:spcBef>
              <a:buClr>
                <a:srgbClr val="A50021"/>
              </a:buClr>
              <a:buSzPct val="75000"/>
              <a:buFont typeface="Wingdings" panose="05000000000000000000" pitchFamily="2" charset="2"/>
              <a:buNone/>
            </a:pPr>
            <a:r>
              <a:rPr lang="zh-CN" altLang="en-US" sz="2800" dirty="0">
                <a:latin typeface="华文楷体" panose="02010600040101010101" pitchFamily="2" charset="-122"/>
                <a:ea typeface="华文楷体" panose="02010600040101010101" pitchFamily="2" charset="-122"/>
              </a:rPr>
              <a:t>破坏离子键： 酸、碱</a:t>
            </a:r>
            <a:endParaRPr lang="en-US" altLang="zh-CN" sz="2800" dirty="0">
              <a:latin typeface="华文楷体" panose="02010600040101010101" pitchFamily="2" charset="-122"/>
              <a:ea typeface="华文楷体" panose="02010600040101010101" pitchFamily="2" charset="-122"/>
            </a:endParaRPr>
          </a:p>
          <a:p>
            <a:pPr eaLnBrk="1" hangingPunct="1">
              <a:lnSpc>
                <a:spcPct val="140000"/>
              </a:lnSpc>
              <a:spcBef>
                <a:spcPct val="50000"/>
              </a:spcBef>
              <a:buClr>
                <a:srgbClr val="A50021"/>
              </a:buClr>
              <a:buSzPct val="75000"/>
              <a:buFont typeface="Wingdings" panose="05000000000000000000" pitchFamily="2" charset="2"/>
              <a:buNone/>
            </a:pPr>
            <a:r>
              <a:rPr lang="zh-CN" altLang="en-US" sz="2800" dirty="0">
                <a:latin typeface="华文楷体" panose="02010600040101010101" pitchFamily="2" charset="-122"/>
                <a:ea typeface="华文楷体" panose="02010600040101010101" pitchFamily="2" charset="-122"/>
              </a:rPr>
              <a:t>破坏氢键的试剂：尿素，盐酸胍</a:t>
            </a: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酸、碱</a:t>
            </a:r>
          </a:p>
          <a:p>
            <a:pPr eaLnBrk="1" hangingPunct="1">
              <a:lnSpc>
                <a:spcPct val="140000"/>
              </a:lnSpc>
              <a:spcBef>
                <a:spcPct val="50000"/>
              </a:spcBef>
              <a:buClr>
                <a:srgbClr val="A50021"/>
              </a:buClr>
              <a:buSzPct val="75000"/>
              <a:buFont typeface="Wingdings" panose="05000000000000000000" pitchFamily="2" charset="2"/>
              <a:buNone/>
            </a:pPr>
            <a:r>
              <a:rPr lang="zh-CN" altLang="en-US" sz="2800" dirty="0">
                <a:latin typeface="华文楷体" panose="02010600040101010101" pitchFamily="2" charset="-122"/>
                <a:ea typeface="华文楷体" panose="02010600040101010101" pitchFamily="2" charset="-122"/>
              </a:rPr>
              <a:t>破坏（还原）二硫键的试剂：</a:t>
            </a:r>
            <a:r>
              <a:rPr lang="en-US" altLang="zh-CN" sz="2800" dirty="0">
                <a:latin typeface="华文楷体" panose="02010600040101010101" pitchFamily="2" charset="-122"/>
                <a:ea typeface="华文楷体" panose="02010600040101010101" pitchFamily="2" charset="-122"/>
              </a:rPr>
              <a:t>β-</a:t>
            </a:r>
            <a:r>
              <a:rPr lang="zh-CN" altLang="en-US" sz="2800" dirty="0">
                <a:latin typeface="华文楷体" panose="02010600040101010101" pitchFamily="2" charset="-122"/>
                <a:ea typeface="华文楷体" panose="02010600040101010101" pitchFamily="2" charset="-122"/>
              </a:rPr>
              <a:t>巯基乙醇，巯基乙酸、过甲酸、二硫苏糖醇，二硫赤藓糖醇</a:t>
            </a:r>
          </a:p>
          <a:p>
            <a:pPr eaLnBrk="1" hangingPunct="1">
              <a:lnSpc>
                <a:spcPct val="140000"/>
              </a:lnSpc>
              <a:spcBef>
                <a:spcPct val="50000"/>
              </a:spcBef>
              <a:buClr>
                <a:srgbClr val="A50021"/>
              </a:buClr>
              <a:buSzPct val="75000"/>
              <a:buFont typeface="Wingdings" panose="05000000000000000000" pitchFamily="2" charset="2"/>
              <a:buNone/>
            </a:pPr>
            <a:endParaRPr lang="en-US" altLang="zh-CN" sz="2800" dirty="0">
              <a:latin typeface="华文楷体" panose="02010600040101010101" pitchFamily="2" charset="-122"/>
              <a:ea typeface="华文楷体" panose="02010600040101010101" pitchFamily="2" charset="-122"/>
            </a:endParaRPr>
          </a:p>
          <a:p>
            <a:pPr eaLnBrk="1" hangingPunct="1">
              <a:lnSpc>
                <a:spcPct val="140000"/>
              </a:lnSpc>
              <a:spcBef>
                <a:spcPct val="50000"/>
              </a:spcBef>
              <a:buClr>
                <a:srgbClr val="A50021"/>
              </a:buClr>
              <a:buSzPct val="75000"/>
              <a:buFont typeface="Wingdings" panose="05000000000000000000" pitchFamily="2" charset="2"/>
              <a:buNone/>
            </a:pP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3">
            <a:extLst>
              <a:ext uri="{FF2B5EF4-FFF2-40B4-BE49-F238E27FC236}">
                <a16:creationId xmlns:a16="http://schemas.microsoft.com/office/drawing/2014/main" id="{5CC0C1CA-EBB4-41D0-9F11-542F71F8D79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2840880-5AF3-4124-BABE-EDCA434F36C7}"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51555" name="Rectangle 7">
            <a:extLst>
              <a:ext uri="{FF2B5EF4-FFF2-40B4-BE49-F238E27FC236}">
                <a16:creationId xmlns:a16="http://schemas.microsoft.com/office/drawing/2014/main" id="{4B2DAFBE-A979-490A-B294-D491C7A950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FF11E4A-2572-4405-92A5-82B65EE7B9AE}" type="slidenum">
              <a:rPr lang="en-US" altLang="zh-CN" sz="1200" smtClean="0">
                <a:latin typeface="Tahoma" panose="020B0604030504040204" pitchFamily="34" charset="0"/>
              </a:rPr>
              <a:pPr/>
              <a:t>74</a:t>
            </a:fld>
            <a:endParaRPr lang="en-US" altLang="zh-CN" sz="1200">
              <a:latin typeface="Tahoma" panose="020B0604030504040204" pitchFamily="34" charset="0"/>
            </a:endParaRPr>
          </a:p>
        </p:txBody>
      </p:sp>
      <p:sp>
        <p:nvSpPr>
          <p:cNvPr id="151556" name="Rectangle 2">
            <a:extLst>
              <a:ext uri="{FF2B5EF4-FFF2-40B4-BE49-F238E27FC236}">
                <a16:creationId xmlns:a16="http://schemas.microsoft.com/office/drawing/2014/main" id="{449A823B-8C56-404F-BE33-D8DF58B3DC3A}"/>
              </a:ext>
            </a:extLst>
          </p:cNvPr>
          <p:cNvSpPr>
            <a:spLocks noGrp="1" noRot="1" noChangeAspect="1" noChangeArrowheads="1" noTextEdit="1"/>
          </p:cNvSpPr>
          <p:nvPr>
            <p:ph type="sldImg"/>
          </p:nvPr>
        </p:nvSpPr>
        <p:spPr>
          <a:xfrm>
            <a:off x="381000" y="685800"/>
            <a:ext cx="6096000" cy="3429000"/>
          </a:xfrm>
          <a:ln/>
        </p:spPr>
      </p:sp>
      <p:sp>
        <p:nvSpPr>
          <p:cNvPr id="151557" name="Rectangle 3">
            <a:extLst>
              <a:ext uri="{FF2B5EF4-FFF2-40B4-BE49-F238E27FC236}">
                <a16:creationId xmlns:a16="http://schemas.microsoft.com/office/drawing/2014/main" id="{5B332DB2-3904-4867-8A0E-7834545303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易被蛋白水解酶水解（熟食易消化的道理） </a:t>
            </a:r>
            <a:endParaRPr lang="en-US" altLang="zh-CN" dirty="0"/>
          </a:p>
          <a:p>
            <a:pPr eaLnBrk="1" hangingPunct="1"/>
            <a:endParaRPr lang="en-US" altLang="zh-CN" dirty="0"/>
          </a:p>
          <a:p>
            <a:pPr eaLnBrk="1" hangingPunct="1"/>
            <a:r>
              <a:rPr lang="zh-CN" altLang="en-US" b="1" dirty="0"/>
              <a:t>不对称系数</a:t>
            </a:r>
            <a:r>
              <a:rPr lang="zh-CN" altLang="en-US" dirty="0"/>
              <a:t>越大</a:t>
            </a:r>
            <a:r>
              <a:rPr lang="en-US" altLang="zh-CN" dirty="0"/>
              <a:t>,</a:t>
            </a:r>
            <a:r>
              <a:rPr lang="zh-CN" altLang="en-US" dirty="0"/>
              <a:t>相应的</a:t>
            </a:r>
            <a:r>
              <a:rPr lang="en-US" altLang="zh-CN" dirty="0"/>
              <a:t>DNA</a:t>
            </a:r>
            <a:r>
              <a:rPr lang="zh-CN" altLang="en-US" dirty="0"/>
              <a:t>或蛋白质分子黏度就越大</a:t>
            </a:r>
            <a:r>
              <a:rPr lang="en-US" altLang="zh-CN" dirty="0"/>
              <a:t>.   </a:t>
            </a:r>
            <a:r>
              <a:rPr lang="zh-CN" altLang="en-US" dirty="0"/>
              <a:t>球状体分子的不对称系数可看为</a:t>
            </a:r>
            <a:r>
              <a:rPr lang="en-US" altLang="zh-CN" dirty="0"/>
              <a:t>1,</a:t>
            </a:r>
            <a:r>
              <a:rPr lang="zh-CN" altLang="en-US" dirty="0"/>
              <a:t>而像线状分子的不对称系数可看为无穷大</a:t>
            </a:r>
            <a:r>
              <a:rPr lang="en-US" altLang="zh-CN" dirty="0"/>
              <a:t>,1</a:t>
            </a:r>
            <a:r>
              <a:rPr lang="zh-CN" altLang="en-US" dirty="0"/>
              <a:t>到无穷大之间分子有个渐变</a:t>
            </a:r>
            <a:r>
              <a:rPr lang="en-US" altLang="zh-CN" dirty="0"/>
              <a:t>.   </a:t>
            </a:r>
          </a:p>
          <a:p>
            <a:pPr eaLnBrk="1" hangingPunct="1"/>
            <a:r>
              <a:rPr lang="zh-CN" altLang="en-US" dirty="0"/>
              <a:t>线性分子不对称系数最大</a:t>
            </a:r>
            <a:r>
              <a:rPr lang="en-US" altLang="zh-CN" dirty="0"/>
              <a:t>, </a:t>
            </a:r>
            <a:r>
              <a:rPr lang="zh-CN" altLang="en-US" dirty="0"/>
              <a:t>黏度最大</a:t>
            </a:r>
            <a:r>
              <a:rPr lang="en-US" altLang="zh-CN" dirty="0"/>
              <a:t>,</a:t>
            </a:r>
            <a:r>
              <a:rPr lang="zh-CN" altLang="en-US" dirty="0"/>
              <a:t>所以</a:t>
            </a:r>
            <a:r>
              <a:rPr lang="en-US" altLang="zh-CN" dirty="0"/>
              <a:t>DNA</a:t>
            </a:r>
            <a:r>
              <a:rPr lang="zh-CN" altLang="en-US" dirty="0"/>
              <a:t>、</a:t>
            </a:r>
            <a:r>
              <a:rPr lang="en-US" altLang="zh-CN" dirty="0"/>
              <a:t>RNA</a:t>
            </a:r>
            <a:r>
              <a:rPr lang="zh-CN" altLang="en-US" dirty="0"/>
              <a:t>这类分子黏度最大</a:t>
            </a:r>
            <a:r>
              <a:rPr lang="en-US" altLang="zh-CN" dirty="0"/>
              <a:t>,</a:t>
            </a:r>
            <a:r>
              <a:rPr lang="zh-CN" altLang="en-US" dirty="0"/>
              <a:t>当它们变性时</a:t>
            </a:r>
            <a:r>
              <a:rPr lang="en-US" altLang="zh-CN" dirty="0"/>
              <a:t>,</a:t>
            </a:r>
            <a:r>
              <a:rPr lang="zh-CN" altLang="en-US" dirty="0"/>
              <a:t>是向着非线性变化的</a:t>
            </a:r>
            <a:r>
              <a:rPr lang="en-US" altLang="zh-CN" dirty="0"/>
              <a:t>,</a:t>
            </a:r>
            <a:r>
              <a:rPr lang="zh-CN" altLang="en-US" dirty="0"/>
              <a:t>不对称系数就相应变小</a:t>
            </a:r>
            <a:r>
              <a:rPr lang="en-US" altLang="zh-CN" dirty="0"/>
              <a:t>,</a:t>
            </a:r>
            <a:r>
              <a:rPr lang="zh-CN" altLang="en-US" dirty="0"/>
              <a:t>黏度反而变小了；  而球状蛋白质分子可看为近似球形（当然也有线状的蛋白质分子</a:t>
            </a:r>
            <a:r>
              <a:rPr lang="en-US" altLang="zh-CN" dirty="0"/>
              <a:t>,</a:t>
            </a:r>
            <a:r>
              <a:rPr lang="zh-CN" altLang="en-US" dirty="0"/>
              <a:t>如纤维蛋白等。这里为了好理解）</a:t>
            </a:r>
            <a:r>
              <a:rPr lang="en-US" altLang="zh-CN" dirty="0"/>
              <a:t>,</a:t>
            </a:r>
            <a:r>
              <a:rPr lang="zh-CN" altLang="en-US" dirty="0"/>
              <a:t>它变性的时候是向着线性这个方向变化的</a:t>
            </a:r>
            <a:r>
              <a:rPr lang="en-US" altLang="zh-CN" dirty="0"/>
              <a:t>,</a:t>
            </a:r>
            <a:r>
              <a:rPr lang="zh-CN" altLang="en-US" dirty="0"/>
              <a:t>所以黏度反而增大。 </a:t>
            </a:r>
            <a:endParaRPr lang="en-US" altLang="zh-CN" dirty="0"/>
          </a:p>
          <a:p>
            <a:pPr eaLnBrk="1" hangingPunct="1"/>
            <a:endParaRPr lang="en-US" altLang="zh-CN" dirty="0"/>
          </a:p>
          <a:p>
            <a:pPr eaLnBrk="1" hangingPunct="1"/>
            <a:r>
              <a:rPr lang="zh-CN" altLang="en-US" dirty="0"/>
              <a:t>鸡蛋被煮熟时蛋白质肯定变性，粘度大到黏成固体了。</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3">
            <a:extLst>
              <a:ext uri="{FF2B5EF4-FFF2-40B4-BE49-F238E27FC236}">
                <a16:creationId xmlns:a16="http://schemas.microsoft.com/office/drawing/2014/main" id="{226F276D-81E1-4082-86CD-E17A64488E7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D7B213C-E90D-413A-82C2-CB58AEAD6268}"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53603" name="Rectangle 7">
            <a:extLst>
              <a:ext uri="{FF2B5EF4-FFF2-40B4-BE49-F238E27FC236}">
                <a16:creationId xmlns:a16="http://schemas.microsoft.com/office/drawing/2014/main" id="{82CFA0AC-CA8F-4EF2-B742-014C0D2FAE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7936D05-9B4B-4752-AD2C-7D0B1E99822B}" type="slidenum">
              <a:rPr lang="en-US" altLang="zh-CN" sz="1200" smtClean="0">
                <a:latin typeface="Tahoma" panose="020B0604030504040204" pitchFamily="34" charset="0"/>
              </a:rPr>
              <a:pPr/>
              <a:t>75</a:t>
            </a:fld>
            <a:endParaRPr lang="en-US" altLang="zh-CN" sz="1200">
              <a:latin typeface="Tahoma" panose="020B0604030504040204" pitchFamily="34" charset="0"/>
            </a:endParaRPr>
          </a:p>
        </p:txBody>
      </p:sp>
      <p:sp>
        <p:nvSpPr>
          <p:cNvPr id="153604" name="Rectangle 2">
            <a:extLst>
              <a:ext uri="{FF2B5EF4-FFF2-40B4-BE49-F238E27FC236}">
                <a16:creationId xmlns:a16="http://schemas.microsoft.com/office/drawing/2014/main" id="{CA630F07-748A-41A5-939E-645ACC96AD3D}"/>
              </a:ext>
            </a:extLst>
          </p:cNvPr>
          <p:cNvSpPr>
            <a:spLocks noGrp="1" noRot="1" noChangeAspect="1" noChangeArrowheads="1" noTextEdit="1"/>
          </p:cNvSpPr>
          <p:nvPr>
            <p:ph type="sldImg"/>
          </p:nvPr>
        </p:nvSpPr>
        <p:spPr>
          <a:xfrm>
            <a:off x="381000" y="685800"/>
            <a:ext cx="6096000" cy="3429000"/>
          </a:xfrm>
          <a:ln/>
        </p:spPr>
      </p:sp>
      <p:sp>
        <p:nvSpPr>
          <p:cNvPr id="153605" name="Rectangle 3">
            <a:extLst>
              <a:ext uri="{FF2B5EF4-FFF2-40B4-BE49-F238E27FC236}">
                <a16:creationId xmlns:a16="http://schemas.microsoft.com/office/drawing/2014/main" id="{FB904284-F2DE-4096-AECA-9FAF1D3160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临床上利用蛋白质能与重金属盐结合的这种性质，</a:t>
            </a:r>
            <a:r>
              <a:rPr lang="zh-CN" altLang="en-US" b="1" dirty="0">
                <a:latin typeface="宋体" panose="02010600030101010101" pitchFamily="2" charset="-122"/>
              </a:rPr>
              <a:t>抢救误服重金属盐中毒的病人，</a:t>
            </a:r>
            <a:r>
              <a:rPr lang="zh-CN" altLang="en-US" dirty="0">
                <a:latin typeface="宋体" panose="02010600030101010101" pitchFamily="2" charset="-122"/>
              </a:rPr>
              <a:t>给病人口服大量蛋白质，然后用催吐剂将结合的重金属盐呕吐出来解毒。</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a:extLst>
              <a:ext uri="{FF2B5EF4-FFF2-40B4-BE49-F238E27FC236}">
                <a16:creationId xmlns:a16="http://schemas.microsoft.com/office/drawing/2014/main" id="{0867709A-8B45-43B1-BAE1-64911C54EACA}"/>
              </a:ext>
            </a:extLst>
          </p:cNvPr>
          <p:cNvSpPr>
            <a:spLocks noGrp="1" noRot="1" noChangeAspect="1" noChangeArrowheads="1" noTextEdit="1"/>
          </p:cNvSpPr>
          <p:nvPr>
            <p:ph type="sldImg"/>
          </p:nvPr>
        </p:nvSpPr>
        <p:spPr>
          <a:xfrm>
            <a:off x="381000" y="685800"/>
            <a:ext cx="6096000" cy="3429000"/>
          </a:xfrm>
          <a:ln/>
        </p:spPr>
      </p:sp>
      <p:sp>
        <p:nvSpPr>
          <p:cNvPr id="155651" name="备注占位符 2">
            <a:extLst>
              <a:ext uri="{FF2B5EF4-FFF2-40B4-BE49-F238E27FC236}">
                <a16:creationId xmlns:a16="http://schemas.microsoft.com/office/drawing/2014/main" id="{218D81EA-09E2-4134-B838-E6D6CD42E2F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可逆变性中，蛋白质折叠与去折叠的可塑性可被广泛用于基因工程中表达蛋白的提取与提取后的复性。</a:t>
            </a:r>
          </a:p>
          <a:p>
            <a:endParaRPr lang="zh-CN" altLang="en-US" dirty="0"/>
          </a:p>
        </p:txBody>
      </p:sp>
      <p:sp>
        <p:nvSpPr>
          <p:cNvPr id="155652" name="日期占位符 3">
            <a:extLst>
              <a:ext uri="{FF2B5EF4-FFF2-40B4-BE49-F238E27FC236}">
                <a16:creationId xmlns:a16="http://schemas.microsoft.com/office/drawing/2014/main" id="{BF98519C-2ADE-4F11-A20B-331317003638}"/>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F073E12-FD06-40B1-9D63-B6C9830E01F2}"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55653" name="灯片编号占位符 4">
            <a:extLst>
              <a:ext uri="{FF2B5EF4-FFF2-40B4-BE49-F238E27FC236}">
                <a16:creationId xmlns:a16="http://schemas.microsoft.com/office/drawing/2014/main" id="{2DF6B827-54DD-407F-8526-2405E490DE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FA0C26E-F11F-40D7-92D8-F05B29805DF9}" type="slidenum">
              <a:rPr lang="en-US" altLang="zh-CN" sz="1200" smtClean="0">
                <a:latin typeface="Tahoma" panose="020B0604030504040204" pitchFamily="34" charset="0"/>
              </a:rPr>
              <a:pPr/>
              <a:t>76</a:t>
            </a:fld>
            <a:endParaRPr lang="en-US" altLang="zh-CN" sz="1200">
              <a:latin typeface="Tahoma" panose="020B060403050404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3">
            <a:extLst>
              <a:ext uri="{FF2B5EF4-FFF2-40B4-BE49-F238E27FC236}">
                <a16:creationId xmlns:a16="http://schemas.microsoft.com/office/drawing/2014/main" id="{D8858CF7-4FCF-4A88-94A8-0570A1DA8DE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2684B7B-D04A-479E-B5EC-FC916632EBB5}"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57699" name="Rectangle 7">
            <a:extLst>
              <a:ext uri="{FF2B5EF4-FFF2-40B4-BE49-F238E27FC236}">
                <a16:creationId xmlns:a16="http://schemas.microsoft.com/office/drawing/2014/main" id="{6D64CA61-49F5-4317-AB9B-B2D870880D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8FE4B20-6020-4B04-82FD-E74A80C3E499}" type="slidenum">
              <a:rPr lang="en-US" altLang="zh-CN" sz="1200" smtClean="0">
                <a:latin typeface="Tahoma" panose="020B0604030504040204" pitchFamily="34" charset="0"/>
              </a:rPr>
              <a:pPr/>
              <a:t>77</a:t>
            </a:fld>
            <a:endParaRPr lang="en-US" altLang="zh-CN" sz="1200">
              <a:latin typeface="Tahoma" panose="020B0604030504040204" pitchFamily="34" charset="0"/>
            </a:endParaRPr>
          </a:p>
        </p:txBody>
      </p:sp>
      <p:sp>
        <p:nvSpPr>
          <p:cNvPr id="157700" name="Rectangle 2">
            <a:extLst>
              <a:ext uri="{FF2B5EF4-FFF2-40B4-BE49-F238E27FC236}">
                <a16:creationId xmlns:a16="http://schemas.microsoft.com/office/drawing/2014/main" id="{E28F9DDB-6C12-4A6E-92D1-F4524EA41A32}"/>
              </a:ext>
            </a:extLst>
          </p:cNvPr>
          <p:cNvSpPr>
            <a:spLocks noGrp="1" noRot="1" noChangeAspect="1" noChangeArrowheads="1" noTextEdit="1"/>
          </p:cNvSpPr>
          <p:nvPr>
            <p:ph type="sldImg"/>
          </p:nvPr>
        </p:nvSpPr>
        <p:spPr>
          <a:xfrm>
            <a:off x="381000" y="685800"/>
            <a:ext cx="6096000" cy="3429000"/>
          </a:xfrm>
          <a:ln/>
        </p:spPr>
      </p:sp>
      <p:sp>
        <p:nvSpPr>
          <p:cNvPr id="157701" name="Rectangle 3">
            <a:extLst>
              <a:ext uri="{FF2B5EF4-FFF2-40B4-BE49-F238E27FC236}">
                <a16:creationId xmlns:a16="http://schemas.microsoft.com/office/drawing/2014/main" id="{EA90467A-2C79-44AD-8F2E-6F0F36B204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可与水混合的有机溶剂，如酒精、甲醇、丙酮等，对水的亲和力很大，能破坏蛋白质颗粒的水化膜，在等电点时使蛋白质沉淀。</a:t>
            </a:r>
            <a:r>
              <a:rPr lang="zh-CN" altLang="en-US" b="1" dirty="0"/>
              <a:t>在常温下，有机溶剂沉淀蛋白质往往引起变性</a:t>
            </a:r>
            <a:r>
              <a:rPr lang="zh-CN" altLang="en-US" dirty="0"/>
              <a:t>。例如酒精消毒灭菌就是如此，但若在低温条件下，则变性进行较缓慢，可用于分离制备各种血浆蛋白质。</a:t>
            </a:r>
          </a:p>
          <a:p>
            <a:pPr eaLnBrk="1" hangingPunct="1"/>
            <a:endParaRPr lang="zh-CN" altLang="en-US" dirty="0"/>
          </a:p>
          <a:p>
            <a:pPr eaLnBrk="1" hangingPunct="1"/>
            <a:endParaRPr lang="zh-CN" altLang="en-US" dirty="0"/>
          </a:p>
          <a:p>
            <a:pPr eaLnBrk="1" hangingPunct="1"/>
            <a:endParaRPr lang="zh-CN" altLang="en-US" dirty="0"/>
          </a:p>
          <a:p>
            <a:pPr eaLnBrk="1" hangingPunct="1"/>
            <a:endParaRPr lang="en-US" altLang="zh-CN"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3">
            <a:extLst>
              <a:ext uri="{FF2B5EF4-FFF2-40B4-BE49-F238E27FC236}">
                <a16:creationId xmlns:a16="http://schemas.microsoft.com/office/drawing/2014/main" id="{C6868CC2-AF96-4A20-9C53-000342008FF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3FE82FE-00DF-4917-A826-602ABB978C31}"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59747" name="Rectangle 7">
            <a:extLst>
              <a:ext uri="{FF2B5EF4-FFF2-40B4-BE49-F238E27FC236}">
                <a16:creationId xmlns:a16="http://schemas.microsoft.com/office/drawing/2014/main" id="{8DD5EA5F-DD3A-424C-8BD6-C586B9BD56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A941018-CA28-4CD6-BAE6-CA7063E60D51}" type="slidenum">
              <a:rPr lang="en-US" altLang="zh-CN" sz="1200" smtClean="0">
                <a:latin typeface="Tahoma" panose="020B0604030504040204" pitchFamily="34" charset="0"/>
              </a:rPr>
              <a:pPr/>
              <a:t>78</a:t>
            </a:fld>
            <a:endParaRPr lang="en-US" altLang="zh-CN" sz="1200">
              <a:latin typeface="Tahoma" panose="020B0604030504040204" pitchFamily="34" charset="0"/>
            </a:endParaRPr>
          </a:p>
        </p:txBody>
      </p:sp>
      <p:sp>
        <p:nvSpPr>
          <p:cNvPr id="159748" name="Rectangle 2">
            <a:extLst>
              <a:ext uri="{FF2B5EF4-FFF2-40B4-BE49-F238E27FC236}">
                <a16:creationId xmlns:a16="http://schemas.microsoft.com/office/drawing/2014/main" id="{5064B2BF-6820-46AC-BB6E-D27F29134C98}"/>
              </a:ext>
            </a:extLst>
          </p:cNvPr>
          <p:cNvSpPr>
            <a:spLocks noGrp="1" noRot="1" noChangeAspect="1" noChangeArrowheads="1" noTextEdit="1"/>
          </p:cNvSpPr>
          <p:nvPr>
            <p:ph type="sldImg"/>
          </p:nvPr>
        </p:nvSpPr>
        <p:spPr>
          <a:xfrm>
            <a:off x="381000" y="685800"/>
            <a:ext cx="6096000" cy="3429000"/>
          </a:xfrm>
          <a:ln/>
        </p:spPr>
      </p:sp>
      <p:sp>
        <p:nvSpPr>
          <p:cNvPr id="159749" name="Rectangle 3">
            <a:extLst>
              <a:ext uri="{FF2B5EF4-FFF2-40B4-BE49-F238E27FC236}">
                <a16:creationId xmlns:a16="http://schemas.microsoft.com/office/drawing/2014/main" id="{1A8BB139-07CF-495A-9EAE-3643E88D21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如鸡蛋煮熟后本来流动的蛋清变成了固体</a:t>
            </a:r>
          </a:p>
          <a:p>
            <a:pPr eaLnBrk="1" hangingPunct="1"/>
            <a:endParaRPr lang="en-US" altLang="zh-CN" dirty="0">
              <a:latin typeface="宋体" panose="02010600030101010101" pitchFamily="2" charset="-122"/>
            </a:endParaRPr>
          </a:p>
          <a:p>
            <a:pPr eaLnBrk="1" hangingPunct="1"/>
            <a:r>
              <a:rPr lang="zh-CN" altLang="en-US" dirty="0">
                <a:latin typeface="宋体" panose="02010600030101010101" pitchFamily="2" charset="-122"/>
              </a:rPr>
              <a:t>点卤用盐卤或石膏，</a:t>
            </a:r>
            <a:r>
              <a:rPr lang="zh-CN" altLang="en-US" b="1" dirty="0">
                <a:latin typeface="宋体" panose="02010600030101010101" pitchFamily="2" charset="-122"/>
              </a:rPr>
              <a:t>盐卤主要含氯化镁，石膏是硫酸钙</a:t>
            </a:r>
            <a:r>
              <a:rPr lang="zh-CN" altLang="en-US" dirty="0">
                <a:latin typeface="宋体" panose="02010600030101010101" pitchFamily="2" charset="-122"/>
              </a:rPr>
              <a:t>，它们能使分散的蛋白质团粒很快地聚集到一块儿（即胶体的聚沉），成了豆腐脑。再挤出水分，豆腐脑就变成了豆腐。</a:t>
            </a:r>
            <a:endParaRPr lang="en-US" altLang="zh-CN" dirty="0">
              <a:latin typeface="宋体" panose="02010600030101010101" pitchFamily="2" charset="-122"/>
            </a:endParaRPr>
          </a:p>
          <a:p>
            <a:pPr eaLnBrk="1" hangingPunct="1"/>
            <a:r>
              <a:rPr lang="zh-CN" altLang="en-US" dirty="0">
                <a:latin typeface="宋体" panose="02010600030101010101" pitchFamily="2" charset="-122"/>
              </a:rPr>
              <a:t>盐卤可以中和胶体微粒表面吸附的离子的电荷，使蛋白质分子凝聚起来得到豆腐。</a:t>
            </a:r>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r>
              <a:rPr lang="zh-CN" altLang="en-US" dirty="0">
                <a:latin typeface="宋体" panose="02010600030101010101" pitchFamily="2" charset="-122"/>
              </a:rPr>
              <a:t>其实点豆腐不一定非要盐卤，比如石膏、醋酸、柠檬酸等都有相同的作用，都可用来点豆腐。市场上销售一种盒装豆腐，洁白细腻，质量明显高于传统方法制做的豆腐，它的凝固剂采用了葡萄糖酸内酯。</a:t>
            </a:r>
            <a:endParaRPr lang="en-US" altLang="zh-CN" dirty="0">
              <a:latin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3">
            <a:extLst>
              <a:ext uri="{FF2B5EF4-FFF2-40B4-BE49-F238E27FC236}">
                <a16:creationId xmlns:a16="http://schemas.microsoft.com/office/drawing/2014/main" id="{D546C56C-FC45-4429-B5F2-719210C6968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94AFBE1-F7F3-4AB7-B33D-117369BDFDBA}"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61795" name="Rectangle 7">
            <a:extLst>
              <a:ext uri="{FF2B5EF4-FFF2-40B4-BE49-F238E27FC236}">
                <a16:creationId xmlns:a16="http://schemas.microsoft.com/office/drawing/2014/main" id="{108E95F8-915E-4D97-BA24-C2E94861D2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ED02A7B-2CF1-46DC-A423-B989AAB04C0E}" type="slidenum">
              <a:rPr lang="en-US" altLang="zh-CN" sz="1200" smtClean="0">
                <a:latin typeface="Tahoma" panose="020B0604030504040204" pitchFamily="34" charset="0"/>
              </a:rPr>
              <a:pPr/>
              <a:t>79</a:t>
            </a:fld>
            <a:endParaRPr lang="en-US" altLang="zh-CN" sz="1200">
              <a:latin typeface="Tahoma" panose="020B0604030504040204" pitchFamily="34" charset="0"/>
            </a:endParaRPr>
          </a:p>
        </p:txBody>
      </p:sp>
      <p:sp>
        <p:nvSpPr>
          <p:cNvPr id="161796" name="Rectangle 2">
            <a:extLst>
              <a:ext uri="{FF2B5EF4-FFF2-40B4-BE49-F238E27FC236}">
                <a16:creationId xmlns:a16="http://schemas.microsoft.com/office/drawing/2014/main" id="{5FB555A7-33C7-4629-93C8-B5FE3EF28F8A}"/>
              </a:ext>
            </a:extLst>
          </p:cNvPr>
          <p:cNvSpPr>
            <a:spLocks noGrp="1" noRot="1" noChangeAspect="1" noChangeArrowheads="1" noTextEdit="1"/>
          </p:cNvSpPr>
          <p:nvPr>
            <p:ph type="sldImg"/>
          </p:nvPr>
        </p:nvSpPr>
        <p:spPr>
          <a:xfrm>
            <a:off x="381000" y="685800"/>
            <a:ext cx="6096000" cy="3429000"/>
          </a:xfrm>
          <a:ln/>
        </p:spPr>
      </p:sp>
      <p:sp>
        <p:nvSpPr>
          <p:cNvPr id="161797" name="Rectangle 3">
            <a:extLst>
              <a:ext uri="{FF2B5EF4-FFF2-40B4-BE49-F238E27FC236}">
                <a16:creationId xmlns:a16="http://schemas.microsoft.com/office/drawing/2014/main" id="{0D5C4C92-2BD9-4212-A220-B9A0EA72A9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沉淀的蛋白质不一定变性，如盐析。</a:t>
            </a:r>
            <a:endParaRPr lang="en-US" altLang="zh-CN" dirty="0"/>
          </a:p>
          <a:p>
            <a:pPr eaLnBrk="1" hangingPunct="1"/>
            <a:endParaRPr lang="en-US" altLang="zh-CN" dirty="0"/>
          </a:p>
          <a:p>
            <a:pPr eaLnBrk="1" hangingPunct="1"/>
            <a:r>
              <a:rPr lang="zh-CN" altLang="en-US" dirty="0"/>
              <a:t>沉淀与变性是两种不同性质不同本质的现象。 </a:t>
            </a:r>
            <a:endParaRPr lang="en-US" altLang="zh-CN" dirty="0"/>
          </a:p>
          <a:p>
            <a:pPr eaLnBrk="1" hangingPunct="1"/>
            <a:endParaRPr lang="en-US" altLang="zh-CN" b="1" dirty="0">
              <a:latin typeface="宋体" panose="02010600030101010101" pitchFamily="2" charset="-122"/>
            </a:endParaRPr>
          </a:p>
          <a:p>
            <a:pPr eaLnBrk="1" hangingPunct="1"/>
            <a:endParaRPr lang="en-US" altLang="zh-CN"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3">
            <a:extLst>
              <a:ext uri="{FF2B5EF4-FFF2-40B4-BE49-F238E27FC236}">
                <a16:creationId xmlns:a16="http://schemas.microsoft.com/office/drawing/2014/main" id="{274F2BEA-053B-47D5-8D1F-7DCE041EE94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3C23104-112E-4DD1-9004-C23D9D62DE9D}"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71011" name="Rectangle 7">
            <a:extLst>
              <a:ext uri="{FF2B5EF4-FFF2-40B4-BE49-F238E27FC236}">
                <a16:creationId xmlns:a16="http://schemas.microsoft.com/office/drawing/2014/main" id="{59361658-1784-4D04-90F2-400427FB22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E71D682-72BD-4345-AE32-38FE0C786F30}" type="slidenum">
              <a:rPr lang="en-US" altLang="zh-CN" sz="1200" smtClean="0">
                <a:latin typeface="Tahoma" panose="020B0604030504040204" pitchFamily="34" charset="0"/>
              </a:rPr>
              <a:pPr/>
              <a:t>80</a:t>
            </a:fld>
            <a:endParaRPr lang="en-US" altLang="zh-CN" sz="1200">
              <a:latin typeface="Tahoma" panose="020B0604030504040204" pitchFamily="34" charset="0"/>
            </a:endParaRPr>
          </a:p>
        </p:txBody>
      </p:sp>
      <p:sp>
        <p:nvSpPr>
          <p:cNvPr id="171012" name="Rectangle 2">
            <a:extLst>
              <a:ext uri="{FF2B5EF4-FFF2-40B4-BE49-F238E27FC236}">
                <a16:creationId xmlns:a16="http://schemas.microsoft.com/office/drawing/2014/main" id="{137A60F5-F0EC-4156-B653-32EAF380C109}"/>
              </a:ext>
            </a:extLst>
          </p:cNvPr>
          <p:cNvSpPr>
            <a:spLocks noGrp="1" noRot="1" noChangeAspect="1" noChangeArrowheads="1" noTextEdit="1"/>
          </p:cNvSpPr>
          <p:nvPr>
            <p:ph type="sldImg"/>
          </p:nvPr>
        </p:nvSpPr>
        <p:spPr>
          <a:xfrm>
            <a:off x="381000" y="685800"/>
            <a:ext cx="6096000" cy="3429000"/>
          </a:xfrm>
          <a:ln/>
        </p:spPr>
      </p:sp>
      <p:sp>
        <p:nvSpPr>
          <p:cNvPr id="171013" name="Rectangle 3">
            <a:extLst>
              <a:ext uri="{FF2B5EF4-FFF2-40B4-BE49-F238E27FC236}">
                <a16:creationId xmlns:a16="http://schemas.microsoft.com/office/drawing/2014/main" id="{29C674B3-11DC-4060-88A8-A4E1B29020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None/>
            </a:pPr>
            <a:endParaRPr lang="zh-CN" altLang="zh-CN" dirty="0">
              <a:solidFill>
                <a:srgbClr val="000000"/>
              </a:solidFill>
              <a:latin typeface="华文新魏" panose="02010800040101010101" pitchFamily="2" charset="-122"/>
              <a:ea typeface="华文新魏" panose="0201080004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3">
            <a:extLst>
              <a:ext uri="{FF2B5EF4-FFF2-40B4-BE49-F238E27FC236}">
                <a16:creationId xmlns:a16="http://schemas.microsoft.com/office/drawing/2014/main" id="{E35DA24F-8E1D-4D0E-B661-BACFBB02346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D67DF45-BAA9-412F-B764-4BB877F13D3B}"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73059" name="Rectangle 7">
            <a:extLst>
              <a:ext uri="{FF2B5EF4-FFF2-40B4-BE49-F238E27FC236}">
                <a16:creationId xmlns:a16="http://schemas.microsoft.com/office/drawing/2014/main" id="{80F77D46-E29F-46F1-821A-E4BE548408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233D4F9-AD42-4A57-A190-E8AFFE6F599A}" type="slidenum">
              <a:rPr lang="en-US" altLang="zh-CN" sz="1200" smtClean="0">
                <a:latin typeface="Tahoma" panose="020B0604030504040204" pitchFamily="34" charset="0"/>
              </a:rPr>
              <a:pPr/>
              <a:t>81</a:t>
            </a:fld>
            <a:endParaRPr lang="en-US" altLang="zh-CN" sz="1200">
              <a:latin typeface="Tahoma" panose="020B0604030504040204" pitchFamily="34" charset="0"/>
            </a:endParaRPr>
          </a:p>
        </p:txBody>
      </p:sp>
      <p:sp>
        <p:nvSpPr>
          <p:cNvPr id="173060" name="Rectangle 2">
            <a:extLst>
              <a:ext uri="{FF2B5EF4-FFF2-40B4-BE49-F238E27FC236}">
                <a16:creationId xmlns:a16="http://schemas.microsoft.com/office/drawing/2014/main" id="{A7985573-5F37-4BB0-84DD-420C75856817}"/>
              </a:ext>
            </a:extLst>
          </p:cNvPr>
          <p:cNvSpPr>
            <a:spLocks noGrp="1" noRot="1" noChangeAspect="1" noChangeArrowheads="1" noTextEdit="1"/>
          </p:cNvSpPr>
          <p:nvPr>
            <p:ph type="sldImg"/>
          </p:nvPr>
        </p:nvSpPr>
        <p:spPr>
          <a:xfrm>
            <a:off x="381000" y="685800"/>
            <a:ext cx="6096000" cy="3429000"/>
          </a:xfrm>
          <a:ln/>
        </p:spPr>
      </p:sp>
      <p:sp>
        <p:nvSpPr>
          <p:cNvPr id="173061" name="Rectangle 3">
            <a:extLst>
              <a:ext uri="{FF2B5EF4-FFF2-40B4-BE49-F238E27FC236}">
                <a16:creationId xmlns:a16="http://schemas.microsoft.com/office/drawing/2014/main" id="{DF6F11D9-D9A9-4DC8-B8EA-CFB14081AA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kumimoji="0"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a:extLst>
              <a:ext uri="{FF2B5EF4-FFF2-40B4-BE49-F238E27FC236}">
                <a16:creationId xmlns:a16="http://schemas.microsoft.com/office/drawing/2014/main" id="{41E64E78-F6AB-41E3-887C-5CE064DF8CFE}"/>
              </a:ext>
            </a:extLst>
          </p:cNvPr>
          <p:cNvSpPr>
            <a:spLocks noGrp="1" noRot="1" noChangeAspect="1" noChangeArrowheads="1" noTextEdit="1"/>
          </p:cNvSpPr>
          <p:nvPr>
            <p:ph type="sldImg"/>
          </p:nvPr>
        </p:nvSpPr>
        <p:spPr>
          <a:xfrm>
            <a:off x="381000" y="685800"/>
            <a:ext cx="6096000" cy="3429000"/>
          </a:xfrm>
          <a:ln/>
        </p:spPr>
      </p:sp>
      <p:sp>
        <p:nvSpPr>
          <p:cNvPr id="176131" name="备注占位符 2">
            <a:extLst>
              <a:ext uri="{FF2B5EF4-FFF2-40B4-BE49-F238E27FC236}">
                <a16:creationId xmlns:a16="http://schemas.microsoft.com/office/drawing/2014/main" id="{4F98E2C7-9E02-4D9D-8F17-00DA6DDD25D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6132" name="日期占位符 3">
            <a:extLst>
              <a:ext uri="{FF2B5EF4-FFF2-40B4-BE49-F238E27FC236}">
                <a16:creationId xmlns:a16="http://schemas.microsoft.com/office/drawing/2014/main" id="{8ED7D024-F39B-45B8-B87A-81C7EF254211}"/>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294AFFB-B9E2-4A2B-A7CD-CE0696C71680}"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76133" name="灯片编号占位符 4">
            <a:extLst>
              <a:ext uri="{FF2B5EF4-FFF2-40B4-BE49-F238E27FC236}">
                <a16:creationId xmlns:a16="http://schemas.microsoft.com/office/drawing/2014/main" id="{15CDB9D5-DE99-4FAC-B966-1D32FB1A69F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0BE36A5-E732-489F-9E51-69845A35B506}" type="slidenum">
              <a:rPr lang="en-US" altLang="zh-CN" sz="1200" smtClean="0">
                <a:latin typeface="Tahoma" panose="020B0604030504040204" pitchFamily="34" charset="0"/>
              </a:rPr>
              <a:pPr/>
              <a:t>83</a:t>
            </a:fld>
            <a:endParaRPr lang="en-US" altLang="zh-CN" sz="1200">
              <a:latin typeface="Tahoma" panose="020B060403050404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3">
            <a:extLst>
              <a:ext uri="{FF2B5EF4-FFF2-40B4-BE49-F238E27FC236}">
                <a16:creationId xmlns:a16="http://schemas.microsoft.com/office/drawing/2014/main" id="{31EDB8D1-B4DE-426F-9398-AE7B0ED5079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DFA6391-FC6B-438D-A377-C186DE27A8C2}"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78179" name="Rectangle 7">
            <a:extLst>
              <a:ext uri="{FF2B5EF4-FFF2-40B4-BE49-F238E27FC236}">
                <a16:creationId xmlns:a16="http://schemas.microsoft.com/office/drawing/2014/main" id="{B91AD22A-00AD-443E-B572-0DCF826E6E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229E672-3A50-41D5-ABB5-1F9F25E237E0}" type="slidenum">
              <a:rPr lang="en-US" altLang="zh-CN" sz="1200" smtClean="0">
                <a:latin typeface="Tahoma" panose="020B0604030504040204" pitchFamily="34" charset="0"/>
              </a:rPr>
              <a:pPr/>
              <a:t>84</a:t>
            </a:fld>
            <a:endParaRPr lang="en-US" altLang="zh-CN" sz="1200">
              <a:latin typeface="Tahoma" panose="020B0604030504040204" pitchFamily="34" charset="0"/>
            </a:endParaRPr>
          </a:p>
        </p:txBody>
      </p:sp>
      <p:sp>
        <p:nvSpPr>
          <p:cNvPr id="178180" name="Rectangle 2">
            <a:extLst>
              <a:ext uri="{FF2B5EF4-FFF2-40B4-BE49-F238E27FC236}">
                <a16:creationId xmlns:a16="http://schemas.microsoft.com/office/drawing/2014/main" id="{A8246CBE-AB9C-4ED0-8377-434125DC1A6B}"/>
              </a:ext>
            </a:extLst>
          </p:cNvPr>
          <p:cNvSpPr>
            <a:spLocks noGrp="1" noRot="1" noChangeAspect="1" noChangeArrowheads="1" noTextEdit="1"/>
          </p:cNvSpPr>
          <p:nvPr>
            <p:ph type="sldImg"/>
          </p:nvPr>
        </p:nvSpPr>
        <p:spPr>
          <a:xfrm>
            <a:off x="381000" y="685800"/>
            <a:ext cx="6096000" cy="3429000"/>
          </a:xfrm>
          <a:ln/>
        </p:spPr>
      </p:sp>
      <p:sp>
        <p:nvSpPr>
          <p:cNvPr id="716803" name="Rectangle 3">
            <a:extLst>
              <a:ext uri="{FF2B5EF4-FFF2-40B4-BE49-F238E27FC236}">
                <a16:creationId xmlns:a16="http://schemas.microsoft.com/office/drawing/2014/main" id="{3F8BE81B-94C8-4A94-8142-37BEA3A3CF74}"/>
              </a:ext>
            </a:extLst>
          </p:cNvPr>
          <p:cNvSpPr>
            <a:spLocks noGrp="1" noChangeArrowheads="1"/>
          </p:cNvSpPr>
          <p:nvPr>
            <p:ph type="body" idx="1"/>
          </p:nvPr>
        </p:nvSpPr>
        <p:spPr/>
        <p:txBody>
          <a:bodyPr/>
          <a:lstStyle/>
          <a:p>
            <a:pPr eaLnBrk="1" hangingPunct="1">
              <a:defRPr/>
            </a:pPr>
            <a:endParaRPr lang="zh-CN" altLang="en-US" dirty="0">
              <a:solidFill>
                <a:srgbClr val="0000FF"/>
              </a:solidFill>
              <a:effectLst>
                <a:outerShdw blurRad="38100" dist="38100" dir="2700000" algn="tl">
                  <a:srgbClr val="C0C0C0"/>
                </a:outerShdw>
              </a:effectLst>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3">
            <a:extLst>
              <a:ext uri="{FF2B5EF4-FFF2-40B4-BE49-F238E27FC236}">
                <a16:creationId xmlns:a16="http://schemas.microsoft.com/office/drawing/2014/main" id="{7C298A58-18EA-4CC2-AFC1-9D2C4AB8834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D20FE06-E3D8-45CF-AAF6-E494EF31500A}"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80227" name="Rectangle 7">
            <a:extLst>
              <a:ext uri="{FF2B5EF4-FFF2-40B4-BE49-F238E27FC236}">
                <a16:creationId xmlns:a16="http://schemas.microsoft.com/office/drawing/2014/main" id="{4F9702AD-AA9C-448F-B864-E39D89D121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1EB22BA-93C5-4739-81E6-D747668ADC49}" type="slidenum">
              <a:rPr lang="en-US" altLang="zh-CN" sz="1200" smtClean="0">
                <a:latin typeface="Tahoma" panose="020B0604030504040204" pitchFamily="34" charset="0"/>
              </a:rPr>
              <a:pPr/>
              <a:t>85</a:t>
            </a:fld>
            <a:endParaRPr lang="en-US" altLang="zh-CN" sz="1200">
              <a:latin typeface="Tahoma" panose="020B0604030504040204" pitchFamily="34" charset="0"/>
            </a:endParaRPr>
          </a:p>
        </p:txBody>
      </p:sp>
      <p:sp>
        <p:nvSpPr>
          <p:cNvPr id="180228" name="Rectangle 2">
            <a:extLst>
              <a:ext uri="{FF2B5EF4-FFF2-40B4-BE49-F238E27FC236}">
                <a16:creationId xmlns:a16="http://schemas.microsoft.com/office/drawing/2014/main" id="{9379806A-98C0-425A-8C4B-BF15D6C75C63}"/>
              </a:ext>
            </a:extLst>
          </p:cNvPr>
          <p:cNvSpPr>
            <a:spLocks noGrp="1" noRot="1" noChangeAspect="1" noChangeArrowheads="1" noTextEdit="1"/>
          </p:cNvSpPr>
          <p:nvPr>
            <p:ph type="sldImg"/>
          </p:nvPr>
        </p:nvSpPr>
        <p:spPr>
          <a:xfrm>
            <a:off x="381000" y="685800"/>
            <a:ext cx="6096000" cy="3429000"/>
          </a:xfrm>
          <a:ln/>
        </p:spPr>
      </p:sp>
      <p:sp>
        <p:nvSpPr>
          <p:cNvPr id="180229" name="Rectangle 3">
            <a:extLst>
              <a:ext uri="{FF2B5EF4-FFF2-40B4-BE49-F238E27FC236}">
                <a16:creationId xmlns:a16="http://schemas.microsoft.com/office/drawing/2014/main" id="{C03958ED-598F-4BA9-AFEC-BCA3947320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zh-CN" altLang="en-US" sz="900" dirty="0"/>
              <a:t>马兜铃酸肾病。马兜铃酸造成的肾损伤无法恢复，对敏感患者只需极小剂量就可导致肾衰竭。 可致肾癌。 </a:t>
            </a:r>
          </a:p>
          <a:p>
            <a:pPr eaLnBrk="1" hangingPunct="1">
              <a:lnSpc>
                <a:spcPct val="80000"/>
              </a:lnSpc>
            </a:pPr>
            <a:r>
              <a:rPr lang="zh-CN" altLang="en-US" sz="900" dirty="0"/>
              <a:t>含马兜铃酸的龙胆泻肝丸制造了十万例以上肾衰竭。</a:t>
            </a:r>
          </a:p>
          <a:p>
            <a:pPr eaLnBrk="1" hangingPunct="1">
              <a:lnSpc>
                <a:spcPct val="80000"/>
              </a:lnSpc>
            </a:pPr>
            <a:endParaRPr lang="en-US" altLang="zh-CN" sz="900" dirty="0"/>
          </a:p>
          <a:p>
            <a:pPr eaLnBrk="1" hangingPunct="1">
              <a:lnSpc>
                <a:spcPct val="80000"/>
              </a:lnSpc>
            </a:pPr>
            <a:r>
              <a:rPr lang="zh-CN" altLang="en-US" sz="900" b="1" dirty="0"/>
              <a:t>上世纪</a:t>
            </a:r>
            <a:r>
              <a:rPr lang="en-US" altLang="zh-CN" sz="900" b="1" dirty="0"/>
              <a:t>90</a:t>
            </a:r>
            <a:r>
              <a:rPr lang="zh-CN" altLang="en-US" sz="900" b="1" dirty="0"/>
              <a:t>年代中后期明确其毒性</a:t>
            </a:r>
            <a:r>
              <a:rPr lang="zh-CN" altLang="en-US" sz="900" dirty="0"/>
              <a:t>。英国药物安全委员</a:t>
            </a:r>
            <a:r>
              <a:rPr lang="en-US" altLang="zh-CN" sz="900" dirty="0"/>
              <a:t>1999</a:t>
            </a:r>
            <a:r>
              <a:rPr lang="zh-CN" altLang="en-US" sz="900" dirty="0"/>
              <a:t>年宣布对含马兜酸铃的中草药实行无限期禁用。</a:t>
            </a:r>
            <a:br>
              <a:rPr lang="zh-CN" altLang="en-US" sz="900" dirty="0"/>
            </a:br>
            <a:r>
              <a:rPr lang="zh-CN" altLang="en-US" sz="900" dirty="0"/>
              <a:t>美国在</a:t>
            </a:r>
            <a:r>
              <a:rPr lang="en-US" altLang="zh-CN" sz="900" dirty="0"/>
              <a:t>2000</a:t>
            </a:r>
            <a:r>
              <a:rPr lang="zh-CN" altLang="en-US" sz="900" dirty="0"/>
              <a:t>年停止进口、制造和销售含有马兜铃酸的草药。</a:t>
            </a:r>
            <a:br>
              <a:rPr lang="zh-CN" altLang="en-US" sz="900" dirty="0"/>
            </a:br>
            <a:r>
              <a:rPr lang="en-US" altLang="zh-CN" sz="900" dirty="0"/>
              <a:t>2003</a:t>
            </a:r>
            <a:r>
              <a:rPr lang="zh-CN" altLang="en-US" sz="900" dirty="0"/>
              <a:t>年 台湾“卫生署”禁用含马兜铃酸中药材，包括广防己、关木通、青木香、天仙藤及马兜铃等。</a:t>
            </a:r>
            <a:br>
              <a:rPr lang="zh-CN" altLang="en-US" sz="900" dirty="0"/>
            </a:br>
            <a:r>
              <a:rPr lang="en-US" altLang="zh-CN" sz="900" dirty="0"/>
              <a:t>2003</a:t>
            </a:r>
            <a:r>
              <a:rPr lang="zh-CN" altLang="en-US" sz="900" dirty="0"/>
              <a:t>年，国家药监局要求所有中成药中的关木通替换成木通，同时取消关木通的药用标准。虽然只有一字之差，但关木通含有马兜铃酸，木通不含。马兜铃酸含量较高的广防己和青木香也在次年被逐出药典，凡是需要用到广防己和青木香的中成药都用不含马兜铃酸的防己和土木香代替。</a:t>
            </a:r>
            <a:endParaRPr lang="en-US" altLang="zh-CN" sz="900" dirty="0"/>
          </a:p>
          <a:p>
            <a:pPr eaLnBrk="1" hangingPunct="1">
              <a:lnSpc>
                <a:spcPct val="80000"/>
              </a:lnSpc>
            </a:pPr>
            <a:r>
              <a:rPr lang="en-US" altLang="zh-CN" sz="900" dirty="0"/>
              <a:t>2004</a:t>
            </a:r>
            <a:r>
              <a:rPr lang="zh-CN" altLang="en-US" sz="900" dirty="0"/>
              <a:t>年 中国国家食品药品监督管理局发布关于加强广防己等</a:t>
            </a:r>
            <a:r>
              <a:rPr lang="en-US" altLang="zh-CN" sz="900" dirty="0"/>
              <a:t>6</a:t>
            </a:r>
            <a:r>
              <a:rPr lang="zh-CN" altLang="en-US" sz="900" dirty="0"/>
              <a:t>种药材及其制剂监督管理的通知，并将含有马兜铃酸的药物列为处方药。</a:t>
            </a:r>
            <a:br>
              <a:rPr lang="zh-CN" altLang="en-US" sz="900" dirty="0"/>
            </a:br>
            <a:r>
              <a:rPr lang="en-US" altLang="zh-CN" sz="900" dirty="0"/>
              <a:t>2006</a:t>
            </a:r>
            <a:r>
              <a:rPr lang="zh-CN" altLang="en-US" sz="900" dirty="0"/>
              <a:t>年 </a:t>
            </a:r>
            <a:r>
              <a:rPr lang="en-US" altLang="zh-CN" sz="900" dirty="0"/>
              <a:t>《</a:t>
            </a:r>
            <a:r>
              <a:rPr lang="zh-CN" altLang="en-US" sz="900" dirty="0"/>
              <a:t>柳叶刀</a:t>
            </a:r>
            <a:r>
              <a:rPr lang="en-US" altLang="zh-CN" sz="900" dirty="0"/>
              <a:t>》</a:t>
            </a:r>
            <a:r>
              <a:rPr lang="zh-CN" altLang="en-US" sz="900" dirty="0"/>
              <a:t>杂志的调查显示，约有</a:t>
            </a:r>
            <a:r>
              <a:rPr lang="en-US" altLang="zh-CN" sz="900" dirty="0"/>
              <a:t>12%</a:t>
            </a:r>
            <a:r>
              <a:rPr lang="zh-CN" altLang="en-US" sz="900" dirty="0"/>
              <a:t>的台湾人受到慢性肾炎困扰。医疗数据还显示，每</a:t>
            </a:r>
            <a:r>
              <a:rPr lang="en-US" altLang="zh-CN" sz="900" dirty="0"/>
              <a:t>3</a:t>
            </a:r>
            <a:r>
              <a:rPr lang="zh-CN" altLang="en-US" sz="900" dirty="0"/>
              <a:t>个台湾人里，就有</a:t>
            </a:r>
            <a:r>
              <a:rPr lang="en-US" altLang="zh-CN" sz="900" dirty="0"/>
              <a:t>1</a:t>
            </a:r>
            <a:r>
              <a:rPr lang="zh-CN" altLang="en-US" sz="900" dirty="0"/>
              <a:t>个曾吃过含马兜铃酸的中药。</a:t>
            </a:r>
            <a:r>
              <a:rPr lang="en-US" altLang="zh-CN" sz="900" dirty="0"/>
              <a:t>2012</a:t>
            </a:r>
            <a:r>
              <a:rPr lang="zh-CN" altLang="en-US" sz="900" dirty="0"/>
              <a:t>年 台湾台大医院举办“马兜铃酸肾病变与泌尿道上皮癌国际研讨会”。与会学者称，十年内搜集到台湾</a:t>
            </a:r>
            <a:r>
              <a:rPr lang="en-US" altLang="zh-CN" sz="900" dirty="0"/>
              <a:t>46</a:t>
            </a:r>
            <a:r>
              <a:rPr lang="zh-CN" altLang="en-US" sz="900" dirty="0"/>
              <a:t>个病例，发现其中六成患者的肾脏有马兜铃酸的痕迹，</a:t>
            </a:r>
            <a:r>
              <a:rPr lang="en-US" altLang="zh-CN" sz="900" dirty="0"/>
              <a:t>1/3</a:t>
            </a:r>
            <a:r>
              <a:rPr lang="zh-CN" altLang="en-US" sz="900" dirty="0"/>
              <a:t>患者的肿瘤细胞找到马兜铃酸导致的抑癌基因突变。</a:t>
            </a:r>
            <a:br>
              <a:rPr lang="zh-CN" altLang="en-US" sz="900" dirty="0"/>
            </a:br>
            <a:endParaRPr lang="en-US" altLang="zh-CN" sz="900" dirty="0"/>
          </a:p>
          <a:p>
            <a:pPr eaLnBrk="1" hangingPunct="1">
              <a:lnSpc>
                <a:spcPct val="80000"/>
              </a:lnSpc>
            </a:pPr>
            <a:r>
              <a:rPr lang="zh-CN" altLang="en-US" sz="900" dirty="0"/>
              <a:t>不遵医嘱，自行配制中草药养生者，如果分不清哪些药材含马兜铃酸，有可能长期慢性中毒而不自知。 </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3">
            <a:extLst>
              <a:ext uri="{FF2B5EF4-FFF2-40B4-BE49-F238E27FC236}">
                <a16:creationId xmlns:a16="http://schemas.microsoft.com/office/drawing/2014/main" id="{E24E44F6-9D0C-4DC7-9446-0A4AFC13589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82162A4-EE5A-45DC-8256-729CAE8A179A}"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84323" name="Rectangle 7">
            <a:extLst>
              <a:ext uri="{FF2B5EF4-FFF2-40B4-BE49-F238E27FC236}">
                <a16:creationId xmlns:a16="http://schemas.microsoft.com/office/drawing/2014/main" id="{D4329A45-A336-4EAE-B7DD-4FD1552D2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616A729-6A89-4F74-9312-4481C4BD6247}" type="slidenum">
              <a:rPr lang="en-US" altLang="zh-CN" sz="1200" smtClean="0">
                <a:latin typeface="Tahoma" panose="020B0604030504040204" pitchFamily="34" charset="0"/>
              </a:rPr>
              <a:pPr/>
              <a:t>86</a:t>
            </a:fld>
            <a:endParaRPr lang="en-US" altLang="zh-CN" sz="1200">
              <a:latin typeface="Tahoma" panose="020B0604030504040204" pitchFamily="34" charset="0"/>
            </a:endParaRPr>
          </a:p>
        </p:txBody>
      </p:sp>
      <p:sp>
        <p:nvSpPr>
          <p:cNvPr id="184324" name="Rectangle 2">
            <a:extLst>
              <a:ext uri="{FF2B5EF4-FFF2-40B4-BE49-F238E27FC236}">
                <a16:creationId xmlns:a16="http://schemas.microsoft.com/office/drawing/2014/main" id="{1048A46D-4B2B-4D08-B335-2E6918E9ECC8}"/>
              </a:ext>
            </a:extLst>
          </p:cNvPr>
          <p:cNvSpPr>
            <a:spLocks noGrp="1" noRot="1" noChangeAspect="1" noChangeArrowheads="1" noTextEdit="1"/>
          </p:cNvSpPr>
          <p:nvPr>
            <p:ph type="sldImg"/>
          </p:nvPr>
        </p:nvSpPr>
        <p:spPr>
          <a:xfrm>
            <a:off x="381000" y="685800"/>
            <a:ext cx="6096000" cy="3429000"/>
          </a:xfrm>
          <a:ln/>
        </p:spPr>
      </p:sp>
      <p:sp>
        <p:nvSpPr>
          <p:cNvPr id="184325" name="Rectangle 3">
            <a:extLst>
              <a:ext uri="{FF2B5EF4-FFF2-40B4-BE49-F238E27FC236}">
                <a16:creationId xmlns:a16="http://schemas.microsoft.com/office/drawing/2014/main" id="{47F67708-D5B0-4CDB-917B-79603F409A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b="1"/>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3">
            <a:extLst>
              <a:ext uri="{FF2B5EF4-FFF2-40B4-BE49-F238E27FC236}">
                <a16:creationId xmlns:a16="http://schemas.microsoft.com/office/drawing/2014/main" id="{1E945591-74F4-4257-A10B-CD1A490D11B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740482A-65E0-476B-9FEC-F8FB2ED5DC10}"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86371" name="Rectangle 7">
            <a:extLst>
              <a:ext uri="{FF2B5EF4-FFF2-40B4-BE49-F238E27FC236}">
                <a16:creationId xmlns:a16="http://schemas.microsoft.com/office/drawing/2014/main" id="{74687B27-12C5-42B6-8AE6-9D28254ABF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0853664-C081-481C-ABEE-BDD7E2A8FD38}" type="slidenum">
              <a:rPr lang="en-US" altLang="zh-CN" sz="1200" smtClean="0">
                <a:latin typeface="Tahoma" panose="020B0604030504040204" pitchFamily="34" charset="0"/>
              </a:rPr>
              <a:pPr/>
              <a:t>87</a:t>
            </a:fld>
            <a:endParaRPr lang="en-US" altLang="zh-CN" sz="1200">
              <a:latin typeface="Tahoma" panose="020B0604030504040204" pitchFamily="34" charset="0"/>
            </a:endParaRPr>
          </a:p>
        </p:txBody>
      </p:sp>
      <p:sp>
        <p:nvSpPr>
          <p:cNvPr id="186372" name="Rectangle 2">
            <a:extLst>
              <a:ext uri="{FF2B5EF4-FFF2-40B4-BE49-F238E27FC236}">
                <a16:creationId xmlns:a16="http://schemas.microsoft.com/office/drawing/2014/main" id="{29CA57BD-E0FA-4095-B344-6CEAC62C4A7D}"/>
              </a:ext>
            </a:extLst>
          </p:cNvPr>
          <p:cNvSpPr>
            <a:spLocks noGrp="1" noRot="1" noChangeAspect="1" noChangeArrowheads="1" noTextEdit="1"/>
          </p:cNvSpPr>
          <p:nvPr>
            <p:ph type="sldImg"/>
          </p:nvPr>
        </p:nvSpPr>
        <p:spPr>
          <a:xfrm>
            <a:off x="381000" y="685800"/>
            <a:ext cx="6096000" cy="3429000"/>
          </a:xfrm>
          <a:ln/>
        </p:spPr>
      </p:sp>
      <p:sp>
        <p:nvSpPr>
          <p:cNvPr id="186373" name="Rectangle 3">
            <a:extLst>
              <a:ext uri="{FF2B5EF4-FFF2-40B4-BE49-F238E27FC236}">
                <a16:creationId xmlns:a16="http://schemas.microsoft.com/office/drawing/2014/main" id="{57C68876-9692-42FA-979F-E8183D8AC1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solidFill>
                <a:srgbClr val="000000"/>
              </a:solidFill>
              <a:latin typeface="宋体"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3">
            <a:extLst>
              <a:ext uri="{FF2B5EF4-FFF2-40B4-BE49-F238E27FC236}">
                <a16:creationId xmlns:a16="http://schemas.microsoft.com/office/drawing/2014/main" id="{CA960253-B1C5-4A6A-9AB4-BBCD0F47F9E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C98C073-B1EE-4C73-8CDF-FAA6102D4A26}"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88419" name="Rectangle 7">
            <a:extLst>
              <a:ext uri="{FF2B5EF4-FFF2-40B4-BE49-F238E27FC236}">
                <a16:creationId xmlns:a16="http://schemas.microsoft.com/office/drawing/2014/main" id="{9463AF59-FF35-44C4-B15E-32FF5338A6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FE88FCD-3F6D-4158-9882-3AAC0E187B44}" type="slidenum">
              <a:rPr lang="en-US" altLang="zh-CN" sz="1200" smtClean="0">
                <a:latin typeface="Tahoma" panose="020B0604030504040204" pitchFamily="34" charset="0"/>
              </a:rPr>
              <a:pPr/>
              <a:t>88</a:t>
            </a:fld>
            <a:endParaRPr lang="en-US" altLang="zh-CN" sz="1200">
              <a:latin typeface="Tahoma" panose="020B0604030504040204" pitchFamily="34" charset="0"/>
            </a:endParaRPr>
          </a:p>
        </p:txBody>
      </p:sp>
      <p:sp>
        <p:nvSpPr>
          <p:cNvPr id="188420" name="Rectangle 2">
            <a:extLst>
              <a:ext uri="{FF2B5EF4-FFF2-40B4-BE49-F238E27FC236}">
                <a16:creationId xmlns:a16="http://schemas.microsoft.com/office/drawing/2014/main" id="{C466BC3B-66CA-487B-9772-4299A5D3FCAD}"/>
              </a:ext>
            </a:extLst>
          </p:cNvPr>
          <p:cNvSpPr>
            <a:spLocks noGrp="1" noRot="1" noChangeAspect="1" noChangeArrowheads="1" noTextEdit="1"/>
          </p:cNvSpPr>
          <p:nvPr>
            <p:ph type="sldImg"/>
          </p:nvPr>
        </p:nvSpPr>
        <p:spPr>
          <a:xfrm>
            <a:off x="381000" y="685800"/>
            <a:ext cx="6096000" cy="3429000"/>
          </a:xfrm>
          <a:ln/>
        </p:spPr>
      </p:sp>
      <p:sp>
        <p:nvSpPr>
          <p:cNvPr id="188421" name="Rectangle 3">
            <a:extLst>
              <a:ext uri="{FF2B5EF4-FFF2-40B4-BE49-F238E27FC236}">
                <a16:creationId xmlns:a16="http://schemas.microsoft.com/office/drawing/2014/main" id="{9B32ADD1-1640-40B0-971F-CC6141F7DC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solidFill>
                <a:srgbClr val="000000"/>
              </a:solidFil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3">
            <a:extLst>
              <a:ext uri="{FF2B5EF4-FFF2-40B4-BE49-F238E27FC236}">
                <a16:creationId xmlns:a16="http://schemas.microsoft.com/office/drawing/2014/main" id="{EF49C726-35C1-4A83-B375-9D6318D64BD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4F1945C-DDD0-4E75-89AE-188453199DED}"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90467" name="Rectangle 7">
            <a:extLst>
              <a:ext uri="{FF2B5EF4-FFF2-40B4-BE49-F238E27FC236}">
                <a16:creationId xmlns:a16="http://schemas.microsoft.com/office/drawing/2014/main" id="{6DF70430-EC23-400E-9516-78A5618592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DC7B56D-224C-438D-B9AF-21A7C7514CF7}" type="slidenum">
              <a:rPr lang="en-US" altLang="zh-CN" sz="1200" smtClean="0">
                <a:latin typeface="Tahoma" panose="020B0604030504040204" pitchFamily="34" charset="0"/>
              </a:rPr>
              <a:pPr/>
              <a:t>89</a:t>
            </a:fld>
            <a:endParaRPr lang="en-US" altLang="zh-CN" sz="1200">
              <a:latin typeface="Tahoma" panose="020B0604030504040204" pitchFamily="34" charset="0"/>
            </a:endParaRPr>
          </a:p>
        </p:txBody>
      </p:sp>
      <p:sp>
        <p:nvSpPr>
          <p:cNvPr id="190468" name="Rectangle 2">
            <a:extLst>
              <a:ext uri="{FF2B5EF4-FFF2-40B4-BE49-F238E27FC236}">
                <a16:creationId xmlns:a16="http://schemas.microsoft.com/office/drawing/2014/main" id="{0B10FC4A-E164-416A-90F3-EEBF5EF1DB8F}"/>
              </a:ext>
            </a:extLst>
          </p:cNvPr>
          <p:cNvSpPr>
            <a:spLocks noGrp="1" noRot="1" noChangeAspect="1" noChangeArrowheads="1" noTextEdit="1"/>
          </p:cNvSpPr>
          <p:nvPr>
            <p:ph type="sldImg"/>
          </p:nvPr>
        </p:nvSpPr>
        <p:spPr>
          <a:xfrm>
            <a:off x="381000" y="685800"/>
            <a:ext cx="6096000" cy="3429000"/>
          </a:xfrm>
          <a:ln/>
        </p:spPr>
      </p:sp>
      <p:sp>
        <p:nvSpPr>
          <p:cNvPr id="190469" name="Rectangle 3">
            <a:extLst>
              <a:ext uri="{FF2B5EF4-FFF2-40B4-BE49-F238E27FC236}">
                <a16:creationId xmlns:a16="http://schemas.microsoft.com/office/drawing/2014/main" id="{8D751BAF-17A0-43EF-B1E9-A4D4C0CC72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3">
            <a:extLst>
              <a:ext uri="{FF2B5EF4-FFF2-40B4-BE49-F238E27FC236}">
                <a16:creationId xmlns:a16="http://schemas.microsoft.com/office/drawing/2014/main" id="{8320ED79-9C65-4F5B-A5AF-FC1FA4F8F8C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301B54B-7995-4675-AAF6-8E5F51AC3AC6}"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93539" name="Rectangle 7">
            <a:extLst>
              <a:ext uri="{FF2B5EF4-FFF2-40B4-BE49-F238E27FC236}">
                <a16:creationId xmlns:a16="http://schemas.microsoft.com/office/drawing/2014/main" id="{6B839DB9-D438-4BE9-A1D7-2E6C5D92D3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F4695E2-CE12-4E7C-8E96-BACFA1522B37}" type="slidenum">
              <a:rPr lang="en-US" altLang="zh-CN" sz="1200" smtClean="0">
                <a:latin typeface="Tahoma" panose="020B0604030504040204" pitchFamily="34" charset="0"/>
              </a:rPr>
              <a:pPr/>
              <a:t>91</a:t>
            </a:fld>
            <a:endParaRPr lang="en-US" altLang="zh-CN" sz="1200">
              <a:latin typeface="Tahoma" panose="020B0604030504040204" pitchFamily="34" charset="0"/>
            </a:endParaRPr>
          </a:p>
        </p:txBody>
      </p:sp>
      <p:sp>
        <p:nvSpPr>
          <p:cNvPr id="193540" name="Rectangle 2">
            <a:extLst>
              <a:ext uri="{FF2B5EF4-FFF2-40B4-BE49-F238E27FC236}">
                <a16:creationId xmlns:a16="http://schemas.microsoft.com/office/drawing/2014/main" id="{D9D9A76D-616D-4702-B8DE-291C138D02EC}"/>
              </a:ext>
            </a:extLst>
          </p:cNvPr>
          <p:cNvSpPr>
            <a:spLocks noGrp="1" noRot="1" noChangeAspect="1" noChangeArrowheads="1" noTextEdit="1"/>
          </p:cNvSpPr>
          <p:nvPr>
            <p:ph type="sldImg"/>
          </p:nvPr>
        </p:nvSpPr>
        <p:spPr>
          <a:xfrm>
            <a:off x="381000" y="685800"/>
            <a:ext cx="6096000" cy="3429000"/>
          </a:xfrm>
          <a:ln/>
        </p:spPr>
      </p:sp>
      <p:sp>
        <p:nvSpPr>
          <p:cNvPr id="193541" name="Rectangle 3">
            <a:extLst>
              <a:ext uri="{FF2B5EF4-FFF2-40B4-BE49-F238E27FC236}">
                <a16:creationId xmlns:a16="http://schemas.microsoft.com/office/drawing/2014/main" id="{F8F6E3FB-9D3E-49F9-915D-E3CB169E4E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3">
            <a:extLst>
              <a:ext uri="{FF2B5EF4-FFF2-40B4-BE49-F238E27FC236}">
                <a16:creationId xmlns:a16="http://schemas.microsoft.com/office/drawing/2014/main" id="{11E5E84F-8F2A-4AFF-B0B2-C81D828A4D7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CD46E89-9600-4503-9D09-21796A2EF31B}"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96611" name="Rectangle 7">
            <a:extLst>
              <a:ext uri="{FF2B5EF4-FFF2-40B4-BE49-F238E27FC236}">
                <a16:creationId xmlns:a16="http://schemas.microsoft.com/office/drawing/2014/main" id="{5754EFB9-4A04-46B6-9AA2-32E038C5E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1D94416-C120-43DA-9666-2AA83A6FD550}" type="slidenum">
              <a:rPr lang="en-US" altLang="zh-CN" sz="1200" smtClean="0">
                <a:latin typeface="Tahoma" panose="020B0604030504040204" pitchFamily="34" charset="0"/>
              </a:rPr>
              <a:pPr/>
              <a:t>93</a:t>
            </a:fld>
            <a:endParaRPr lang="en-US" altLang="zh-CN" sz="1200">
              <a:latin typeface="Tahoma" panose="020B0604030504040204" pitchFamily="34" charset="0"/>
            </a:endParaRPr>
          </a:p>
        </p:txBody>
      </p:sp>
      <p:sp>
        <p:nvSpPr>
          <p:cNvPr id="196612" name="Rectangle 2">
            <a:extLst>
              <a:ext uri="{FF2B5EF4-FFF2-40B4-BE49-F238E27FC236}">
                <a16:creationId xmlns:a16="http://schemas.microsoft.com/office/drawing/2014/main" id="{0689414F-0FBD-4047-9373-6F209CB7E24B}"/>
              </a:ext>
            </a:extLst>
          </p:cNvPr>
          <p:cNvSpPr>
            <a:spLocks noGrp="1" noRot="1" noChangeAspect="1" noChangeArrowheads="1" noTextEdit="1"/>
          </p:cNvSpPr>
          <p:nvPr>
            <p:ph type="sldImg"/>
          </p:nvPr>
        </p:nvSpPr>
        <p:spPr>
          <a:xfrm>
            <a:off x="381000" y="685800"/>
            <a:ext cx="6096000" cy="3429000"/>
          </a:xfrm>
          <a:ln/>
        </p:spPr>
      </p:sp>
      <p:sp>
        <p:nvSpPr>
          <p:cNvPr id="196613" name="Rectangle 3">
            <a:extLst>
              <a:ext uri="{FF2B5EF4-FFF2-40B4-BE49-F238E27FC236}">
                <a16:creationId xmlns:a16="http://schemas.microsoft.com/office/drawing/2014/main" id="{A21582EF-1D05-4FC2-B4E2-DAD9EF85D7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A protein will bind about 1.4 times its weight of SDS, </a:t>
            </a:r>
            <a:r>
              <a:rPr lang="en-US" altLang="zh-CN" b="1" dirty="0"/>
              <a:t>nearly one molecule of SDS for each amino acid residue.</a:t>
            </a:r>
          </a:p>
          <a:p>
            <a:pPr eaLnBrk="1" hangingPunct="1"/>
            <a:endParaRPr lang="en-US" altLang="en-US" dirty="0"/>
          </a:p>
          <a:p>
            <a:pPr eaLnBrk="1" hangingPunct="1"/>
            <a:r>
              <a:rPr lang="en-US" altLang="en-US" dirty="0"/>
              <a:t>most SDS-bound proteins assume a similar rodlike shape</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幻灯片图像占位符 1">
            <a:extLst>
              <a:ext uri="{FF2B5EF4-FFF2-40B4-BE49-F238E27FC236}">
                <a16:creationId xmlns:a16="http://schemas.microsoft.com/office/drawing/2014/main" id="{B157A25F-56C2-4F7E-9F70-2528A70483AF}"/>
              </a:ext>
            </a:extLst>
          </p:cNvPr>
          <p:cNvSpPr>
            <a:spLocks noGrp="1" noRot="1" noChangeAspect="1" noChangeArrowheads="1" noTextEdit="1"/>
          </p:cNvSpPr>
          <p:nvPr>
            <p:ph type="sldImg"/>
          </p:nvPr>
        </p:nvSpPr>
        <p:spPr>
          <a:xfrm>
            <a:off x="381000" y="685800"/>
            <a:ext cx="6096000" cy="3429000"/>
          </a:xfrm>
          <a:ln/>
        </p:spPr>
      </p:sp>
      <p:sp>
        <p:nvSpPr>
          <p:cNvPr id="199683" name="备注占位符 2">
            <a:extLst>
              <a:ext uri="{FF2B5EF4-FFF2-40B4-BE49-F238E27FC236}">
                <a16:creationId xmlns:a16="http://schemas.microsoft.com/office/drawing/2014/main" id="{D845DC4D-87E9-4B28-B6E8-67A4B159551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In similar fashion, a set of standard proteins with reproducible retention times on a size-exclusion column can be used to create a standard curve of retention time versus log Mr. The retention time of an unknown substance on the column can be compared with this standard curve to obtain an approximate Mr.</a:t>
            </a:r>
            <a:endParaRPr lang="zh-CN" altLang="en-US"/>
          </a:p>
        </p:txBody>
      </p:sp>
      <p:sp>
        <p:nvSpPr>
          <p:cNvPr id="199684" name="日期占位符 3">
            <a:extLst>
              <a:ext uri="{FF2B5EF4-FFF2-40B4-BE49-F238E27FC236}">
                <a16:creationId xmlns:a16="http://schemas.microsoft.com/office/drawing/2014/main" id="{A98FC404-2CAB-4C97-A8C1-963077A1D1A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E33E906-5F84-48D6-8548-E62CC888B233}"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99685" name="灯片编号占位符 4">
            <a:extLst>
              <a:ext uri="{FF2B5EF4-FFF2-40B4-BE49-F238E27FC236}">
                <a16:creationId xmlns:a16="http://schemas.microsoft.com/office/drawing/2014/main" id="{A05C32C2-AFD2-4437-8733-65CAA81F41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99EAFD8-0124-4842-BAC4-68A546B892C7}" type="slidenum">
              <a:rPr lang="en-US" altLang="zh-CN" sz="1200" smtClean="0">
                <a:latin typeface="Tahoma" panose="020B0604030504040204" pitchFamily="34" charset="0"/>
              </a:rPr>
              <a:pPr/>
              <a:t>94</a:t>
            </a:fld>
            <a:endParaRPr lang="en-US" altLang="zh-CN" sz="1200">
              <a:latin typeface="Tahoma" panose="020B0604030504040204"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3">
            <a:extLst>
              <a:ext uri="{FF2B5EF4-FFF2-40B4-BE49-F238E27FC236}">
                <a16:creationId xmlns:a16="http://schemas.microsoft.com/office/drawing/2014/main" id="{CF87515D-4DB5-4A1B-AF6D-C29505D8469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68C4B39-F3E7-451C-8131-F907BD2C0837}"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01731" name="Rectangle 7">
            <a:extLst>
              <a:ext uri="{FF2B5EF4-FFF2-40B4-BE49-F238E27FC236}">
                <a16:creationId xmlns:a16="http://schemas.microsoft.com/office/drawing/2014/main" id="{E4B22FB9-7703-4492-96A1-AAB9304D56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3948E68-0F39-472B-9221-1399C41CA9A1}" type="slidenum">
              <a:rPr lang="en-US" altLang="zh-CN" sz="1200" smtClean="0">
                <a:latin typeface="Tahoma" panose="020B0604030504040204" pitchFamily="34" charset="0"/>
              </a:rPr>
              <a:pPr/>
              <a:t>95</a:t>
            </a:fld>
            <a:endParaRPr lang="en-US" altLang="zh-CN" sz="1200">
              <a:latin typeface="Tahoma" panose="020B0604030504040204" pitchFamily="34" charset="0"/>
            </a:endParaRPr>
          </a:p>
        </p:txBody>
      </p:sp>
      <p:sp>
        <p:nvSpPr>
          <p:cNvPr id="201732" name="Rectangle 2">
            <a:extLst>
              <a:ext uri="{FF2B5EF4-FFF2-40B4-BE49-F238E27FC236}">
                <a16:creationId xmlns:a16="http://schemas.microsoft.com/office/drawing/2014/main" id="{52B8CB47-3D6E-46D3-A03F-BC51666F9C78}"/>
              </a:ext>
            </a:extLst>
          </p:cNvPr>
          <p:cNvSpPr>
            <a:spLocks noGrp="1" noRot="1" noChangeAspect="1" noChangeArrowheads="1" noTextEdit="1"/>
          </p:cNvSpPr>
          <p:nvPr>
            <p:ph type="sldImg"/>
          </p:nvPr>
        </p:nvSpPr>
        <p:spPr>
          <a:xfrm>
            <a:off x="381000" y="685800"/>
            <a:ext cx="6096000" cy="3429000"/>
          </a:xfrm>
          <a:ln/>
        </p:spPr>
      </p:sp>
      <p:sp>
        <p:nvSpPr>
          <p:cNvPr id="201733" name="Rectangle 3">
            <a:extLst>
              <a:ext uri="{FF2B5EF4-FFF2-40B4-BE49-F238E27FC236}">
                <a16:creationId xmlns:a16="http://schemas.microsoft.com/office/drawing/2014/main" id="{E177C062-59BA-4F64-8B73-46B9846901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dirty="0"/>
              <a:t>等电聚焦分辨率很高</a:t>
            </a:r>
            <a:r>
              <a:rPr lang="zh-CN" altLang="en-US" dirty="0"/>
              <a:t>，</a:t>
            </a:r>
            <a:r>
              <a:rPr lang="en-US" altLang="zh-CN" dirty="0" err="1"/>
              <a:t>pI</a:t>
            </a:r>
            <a:r>
              <a:rPr lang="zh-CN" altLang="en-US" dirty="0"/>
              <a:t>有</a:t>
            </a:r>
            <a:r>
              <a:rPr lang="en-US" altLang="zh-CN" dirty="0"/>
              <a:t>0.02pH</a:t>
            </a:r>
            <a:r>
              <a:rPr lang="zh-CN" altLang="en-US" dirty="0"/>
              <a:t>的差异就能分开。 </a:t>
            </a:r>
          </a:p>
          <a:p>
            <a:pPr eaLnBrk="1" hangingPunct="1"/>
            <a:endParaRPr lang="en-US" altLang="zh-CN" b="1"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3">
            <a:extLst>
              <a:ext uri="{FF2B5EF4-FFF2-40B4-BE49-F238E27FC236}">
                <a16:creationId xmlns:a16="http://schemas.microsoft.com/office/drawing/2014/main" id="{4052CDA0-037B-42DD-90DF-6DC133E3521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259520F-BEAC-4BC1-B3E1-64F7D8E6E763}"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03779" name="Rectangle 7">
            <a:extLst>
              <a:ext uri="{FF2B5EF4-FFF2-40B4-BE49-F238E27FC236}">
                <a16:creationId xmlns:a16="http://schemas.microsoft.com/office/drawing/2014/main" id="{665A6DAD-15D4-49A2-8FCC-EBB7E8B71D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F9A6B81-E6E5-4592-A0FA-55CEE6E228BD}" type="slidenum">
              <a:rPr lang="en-US" altLang="zh-CN" sz="1200" smtClean="0">
                <a:latin typeface="Tahoma" panose="020B0604030504040204" pitchFamily="34" charset="0"/>
              </a:rPr>
              <a:pPr/>
              <a:t>96</a:t>
            </a:fld>
            <a:endParaRPr lang="en-US" altLang="zh-CN" sz="1200">
              <a:latin typeface="Tahoma" panose="020B0604030504040204" pitchFamily="34" charset="0"/>
            </a:endParaRPr>
          </a:p>
        </p:txBody>
      </p:sp>
      <p:sp>
        <p:nvSpPr>
          <p:cNvPr id="203780" name="Rectangle 2">
            <a:extLst>
              <a:ext uri="{FF2B5EF4-FFF2-40B4-BE49-F238E27FC236}">
                <a16:creationId xmlns:a16="http://schemas.microsoft.com/office/drawing/2014/main" id="{62831E8F-42AC-41C0-9BF4-B5D473CD1D92}"/>
              </a:ext>
            </a:extLst>
          </p:cNvPr>
          <p:cNvSpPr>
            <a:spLocks noGrp="1" noRot="1" noChangeAspect="1" noChangeArrowheads="1" noTextEdit="1"/>
          </p:cNvSpPr>
          <p:nvPr>
            <p:ph type="sldImg"/>
          </p:nvPr>
        </p:nvSpPr>
        <p:spPr>
          <a:xfrm>
            <a:off x="381000" y="685800"/>
            <a:ext cx="6096000" cy="3429000"/>
          </a:xfrm>
          <a:ln/>
        </p:spPr>
      </p:sp>
      <p:sp>
        <p:nvSpPr>
          <p:cNvPr id="203781" name="Rectangle 3">
            <a:extLst>
              <a:ext uri="{FF2B5EF4-FFF2-40B4-BE49-F238E27FC236}">
                <a16:creationId xmlns:a16="http://schemas.microsoft.com/office/drawing/2014/main" id="{EBC27329-B712-4552-9618-C7443C1F88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3">
            <a:extLst>
              <a:ext uri="{FF2B5EF4-FFF2-40B4-BE49-F238E27FC236}">
                <a16:creationId xmlns:a16="http://schemas.microsoft.com/office/drawing/2014/main" id="{46201175-E6F1-48AC-B27F-5D47EE70B15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71A53D9-44E3-4599-9AC9-869800BFCDAC}"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09923" name="Rectangle 7">
            <a:extLst>
              <a:ext uri="{FF2B5EF4-FFF2-40B4-BE49-F238E27FC236}">
                <a16:creationId xmlns:a16="http://schemas.microsoft.com/office/drawing/2014/main" id="{ACAB6021-AC17-43EC-A8F4-37B29F4B0A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FAE6F92-989A-409C-861B-A64B7698EF30}" type="slidenum">
              <a:rPr lang="en-US" altLang="zh-CN" sz="1200" smtClean="0">
                <a:latin typeface="Tahoma" panose="020B0604030504040204" pitchFamily="34" charset="0"/>
              </a:rPr>
              <a:pPr/>
              <a:t>99</a:t>
            </a:fld>
            <a:endParaRPr lang="en-US" altLang="zh-CN" sz="1200">
              <a:latin typeface="Tahoma" panose="020B0604030504040204" pitchFamily="34" charset="0"/>
            </a:endParaRPr>
          </a:p>
        </p:txBody>
      </p:sp>
      <p:sp>
        <p:nvSpPr>
          <p:cNvPr id="209924" name="Rectangle 2">
            <a:extLst>
              <a:ext uri="{FF2B5EF4-FFF2-40B4-BE49-F238E27FC236}">
                <a16:creationId xmlns:a16="http://schemas.microsoft.com/office/drawing/2014/main" id="{60121BF3-4E21-4DBF-B54C-9E9E7A8B769D}"/>
              </a:ext>
            </a:extLst>
          </p:cNvPr>
          <p:cNvSpPr>
            <a:spLocks noGrp="1" noRot="1" noChangeAspect="1" noChangeArrowheads="1" noTextEdit="1"/>
          </p:cNvSpPr>
          <p:nvPr>
            <p:ph type="sldImg"/>
          </p:nvPr>
        </p:nvSpPr>
        <p:spPr>
          <a:xfrm>
            <a:off x="381000" y="685800"/>
            <a:ext cx="6096000" cy="3429000"/>
          </a:xfrm>
          <a:ln/>
        </p:spPr>
      </p:sp>
      <p:sp>
        <p:nvSpPr>
          <p:cNvPr id="209925" name="Rectangle 3">
            <a:extLst>
              <a:ext uri="{FF2B5EF4-FFF2-40B4-BE49-F238E27FC236}">
                <a16:creationId xmlns:a16="http://schemas.microsoft.com/office/drawing/2014/main" id="{2DAA4B89-6221-4B87-9E98-4BC56FD2D8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2800">
                <a:latin typeface="华文楷体" panose="02010600040101010101" pitchFamily="2" charset="-122"/>
                <a:ea typeface="华文楷体" panose="02010600040101010101" pitchFamily="2" charset="-122"/>
              </a:rPr>
              <a:t>还有吸附层析</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幻灯片图像占位符 1">
            <a:extLst>
              <a:ext uri="{FF2B5EF4-FFF2-40B4-BE49-F238E27FC236}">
                <a16:creationId xmlns:a16="http://schemas.microsoft.com/office/drawing/2014/main" id="{CF8ED2F7-F607-4B5F-92DB-3315BB1C8489}"/>
              </a:ext>
            </a:extLst>
          </p:cNvPr>
          <p:cNvSpPr>
            <a:spLocks noGrp="1" noRot="1" noChangeAspect="1" noChangeArrowheads="1" noTextEdit="1"/>
          </p:cNvSpPr>
          <p:nvPr>
            <p:ph type="sldImg"/>
          </p:nvPr>
        </p:nvSpPr>
        <p:spPr>
          <a:xfrm>
            <a:off x="381000" y="685800"/>
            <a:ext cx="6096000" cy="3429000"/>
          </a:xfrm>
          <a:ln/>
        </p:spPr>
      </p:sp>
      <p:sp>
        <p:nvSpPr>
          <p:cNvPr id="211971" name="备注占位符 2">
            <a:extLst>
              <a:ext uri="{FF2B5EF4-FFF2-40B4-BE49-F238E27FC236}">
                <a16:creationId xmlns:a16="http://schemas.microsoft.com/office/drawing/2014/main" id="{815DD0FC-A90C-483B-9A3C-8977BA549A8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1972" name="日期占位符 3">
            <a:extLst>
              <a:ext uri="{FF2B5EF4-FFF2-40B4-BE49-F238E27FC236}">
                <a16:creationId xmlns:a16="http://schemas.microsoft.com/office/drawing/2014/main" id="{29D4D253-F6EF-4BBE-AA5E-E3949B2C1B5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E4585DA-A5A1-4C46-9F68-6E16458170E2}"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11973" name="灯片编号占位符 4">
            <a:extLst>
              <a:ext uri="{FF2B5EF4-FFF2-40B4-BE49-F238E27FC236}">
                <a16:creationId xmlns:a16="http://schemas.microsoft.com/office/drawing/2014/main" id="{0ADD4A5A-9D52-4712-8F77-FAC022B826F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3EC8750-29BE-4FA8-9475-FCC01BA0C618}" type="slidenum">
              <a:rPr lang="en-US" altLang="zh-CN" sz="1200" smtClean="0">
                <a:latin typeface="Tahoma" panose="020B0604030504040204" pitchFamily="34" charset="0"/>
              </a:rPr>
              <a:pPr/>
              <a:t>100</a:t>
            </a:fld>
            <a:endParaRPr lang="en-US" altLang="zh-CN" sz="1200">
              <a:latin typeface="Tahoma" panose="020B0604030504040204"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幻灯片图像占位符 1">
            <a:extLst>
              <a:ext uri="{FF2B5EF4-FFF2-40B4-BE49-F238E27FC236}">
                <a16:creationId xmlns:a16="http://schemas.microsoft.com/office/drawing/2014/main" id="{3130EBB0-9FA7-409C-895A-71E55B35FED5}"/>
              </a:ext>
            </a:extLst>
          </p:cNvPr>
          <p:cNvSpPr>
            <a:spLocks noGrp="1" noRot="1" noChangeAspect="1" noChangeArrowheads="1" noTextEdit="1"/>
          </p:cNvSpPr>
          <p:nvPr>
            <p:ph type="sldImg"/>
          </p:nvPr>
        </p:nvSpPr>
        <p:spPr>
          <a:xfrm>
            <a:off x="381000" y="685800"/>
            <a:ext cx="6096000" cy="3429000"/>
          </a:xfrm>
          <a:ln/>
        </p:spPr>
      </p:sp>
      <p:sp>
        <p:nvSpPr>
          <p:cNvPr id="214019" name="备注占位符 2">
            <a:extLst>
              <a:ext uri="{FF2B5EF4-FFF2-40B4-BE49-F238E27FC236}">
                <a16:creationId xmlns:a16="http://schemas.microsoft.com/office/drawing/2014/main" id="{CF4057F6-AAC2-4A10-9FCA-7E83F7B732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14020" name="日期占位符 3">
            <a:extLst>
              <a:ext uri="{FF2B5EF4-FFF2-40B4-BE49-F238E27FC236}">
                <a16:creationId xmlns:a16="http://schemas.microsoft.com/office/drawing/2014/main" id="{C1DECFD8-E197-44F1-B7E4-FCF78ADD2B3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F9EEBA4-4177-4D8D-AA47-80CD6B56EBEE}"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14021" name="灯片编号占位符 4">
            <a:extLst>
              <a:ext uri="{FF2B5EF4-FFF2-40B4-BE49-F238E27FC236}">
                <a16:creationId xmlns:a16="http://schemas.microsoft.com/office/drawing/2014/main" id="{B579C96F-4B8A-46A2-A24A-C65DD21A5D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AFFD099-3D98-46F6-9EB5-EFC534E13B97}" type="slidenum">
              <a:rPr lang="en-US" altLang="zh-CN" sz="1200" smtClean="0">
                <a:latin typeface="Tahoma" panose="020B0604030504040204" pitchFamily="34" charset="0"/>
              </a:rPr>
              <a:pPr/>
              <a:t>101</a:t>
            </a:fld>
            <a:endParaRPr lang="en-US" altLang="zh-CN" sz="1200">
              <a:latin typeface="Tahoma" panose="020B0604030504040204" pitchFamily="34"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3">
            <a:extLst>
              <a:ext uri="{FF2B5EF4-FFF2-40B4-BE49-F238E27FC236}">
                <a16:creationId xmlns:a16="http://schemas.microsoft.com/office/drawing/2014/main" id="{7D9A8127-946C-4969-A5D2-837B60A39F7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3DD1989-30C5-4D90-9186-B8A471B617AC}"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16067" name="Rectangle 7">
            <a:extLst>
              <a:ext uri="{FF2B5EF4-FFF2-40B4-BE49-F238E27FC236}">
                <a16:creationId xmlns:a16="http://schemas.microsoft.com/office/drawing/2014/main" id="{B0ACBB4A-2DE2-4947-B5A0-CE8687F897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CD2833A-347C-4F73-96BF-1CD9DDBA6542}" type="slidenum">
              <a:rPr lang="en-US" altLang="zh-CN" sz="1200" smtClean="0">
                <a:latin typeface="Tahoma" panose="020B0604030504040204" pitchFamily="34" charset="0"/>
              </a:rPr>
              <a:pPr/>
              <a:t>102</a:t>
            </a:fld>
            <a:endParaRPr lang="en-US" altLang="zh-CN" sz="1200">
              <a:latin typeface="Tahoma" panose="020B0604030504040204" pitchFamily="34" charset="0"/>
            </a:endParaRPr>
          </a:p>
        </p:txBody>
      </p:sp>
      <p:sp>
        <p:nvSpPr>
          <p:cNvPr id="216068" name="Rectangle 2">
            <a:extLst>
              <a:ext uri="{FF2B5EF4-FFF2-40B4-BE49-F238E27FC236}">
                <a16:creationId xmlns:a16="http://schemas.microsoft.com/office/drawing/2014/main" id="{1DE9D979-58F6-40EC-B61C-5631C981D4AA}"/>
              </a:ext>
            </a:extLst>
          </p:cNvPr>
          <p:cNvSpPr>
            <a:spLocks noGrp="1" noRot="1" noChangeAspect="1" noChangeArrowheads="1" noTextEdit="1"/>
          </p:cNvSpPr>
          <p:nvPr>
            <p:ph type="sldImg"/>
          </p:nvPr>
        </p:nvSpPr>
        <p:spPr>
          <a:xfrm>
            <a:off x="381000" y="685800"/>
            <a:ext cx="6096000" cy="3429000"/>
          </a:xfrm>
          <a:ln/>
        </p:spPr>
      </p:sp>
      <p:sp>
        <p:nvSpPr>
          <p:cNvPr id="216069" name="Rectangle 3">
            <a:extLst>
              <a:ext uri="{FF2B5EF4-FFF2-40B4-BE49-F238E27FC236}">
                <a16:creationId xmlns:a16="http://schemas.microsoft.com/office/drawing/2014/main" id="{E2844B04-8B6A-4A75-98A8-F328068F63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zh-CN" altLang="en-US" sz="2000" dirty="0">
                <a:solidFill>
                  <a:srgbClr val="993366"/>
                </a:solidFill>
                <a:latin typeface="华文楷体" panose="02010600040101010101" pitchFamily="2" charset="-122"/>
                <a:ea typeface="华文楷体" panose="02010600040101010101" pitchFamily="2" charset="-122"/>
              </a:rPr>
              <a:t>上面为阴离子交换层析示意图：固定相是表面带正电荷的阴离子交换树脂；流动相为阴离子洗脱液</a:t>
            </a:r>
            <a:endParaRPr lang="en-US" altLang="zh-CN" sz="2000" dirty="0">
              <a:solidFill>
                <a:srgbClr val="993366"/>
              </a:solidFill>
              <a:latin typeface="华文楷体" panose="02010600040101010101" pitchFamily="2" charset="-122"/>
              <a:ea typeface="华文楷体" panose="02010600040101010101" pitchFamily="2" charset="-122"/>
            </a:endParaRPr>
          </a:p>
          <a:p>
            <a:pPr eaLnBrk="1" hangingPunct="1">
              <a:lnSpc>
                <a:spcPct val="90000"/>
              </a:lnSpc>
            </a:pPr>
            <a:endParaRPr lang="en-US" altLang="zh-CN" sz="2000" dirty="0">
              <a:solidFill>
                <a:srgbClr val="993366"/>
              </a:solidFill>
              <a:latin typeface="宋体" panose="02010600030101010101" pitchFamily="2" charset="-122"/>
            </a:endParaRPr>
          </a:p>
          <a:p>
            <a:pPr eaLnBrk="1" hangingPunct="1">
              <a:lnSpc>
                <a:spcPct val="90000"/>
              </a:lnSpc>
            </a:pPr>
            <a:r>
              <a:rPr lang="zh-CN" altLang="en-US" sz="2000" dirty="0">
                <a:solidFill>
                  <a:srgbClr val="993366"/>
                </a:solidFill>
                <a:latin typeface="宋体" panose="02010600030101010101" pitchFamily="2" charset="-122"/>
              </a:rPr>
              <a:t>在某一特定</a:t>
            </a:r>
            <a:r>
              <a:rPr lang="en-US" altLang="zh-CN" sz="2000" dirty="0">
                <a:solidFill>
                  <a:srgbClr val="993366"/>
                </a:solidFill>
                <a:latin typeface="华文楷体" panose="02010600040101010101" pitchFamily="2" charset="-122"/>
              </a:rPr>
              <a:t>pH</a:t>
            </a:r>
            <a:r>
              <a:rPr lang="zh-CN" altLang="en-US" sz="2000" dirty="0">
                <a:solidFill>
                  <a:srgbClr val="993366"/>
                </a:solidFill>
                <a:latin typeface="宋体" panose="02010600030101010101" pitchFamily="2" charset="-122"/>
              </a:rPr>
              <a:t>值时，混合蛋白质溶液中各种蛋白质所带电荷数目及性质不同，事先在层析柱中装上离子交换剂，使其所带电荷性质与蛋白质电荷性质相反，当蛋白质混合溶液流经层析柱时，即可被吸附于柱上，随后用与蛋白质带相同性质电荷的洗脱剂洗脱，蛋白质可被置换下来，由于各种蛋白质带电量不同，离子交换剂结合的紧密度不同，</a:t>
            </a:r>
            <a:r>
              <a:rPr lang="zh-CN" altLang="en-US" sz="2000" b="1" dirty="0">
                <a:solidFill>
                  <a:srgbClr val="993366"/>
                </a:solidFill>
                <a:latin typeface="宋体" panose="02010600030101010101" pitchFamily="2" charset="-122"/>
              </a:rPr>
              <a:t>带电量小的蛋白质先被洗脱下来，增加洗脱液离子强度，带电量多的也被洗脱下来，</a:t>
            </a:r>
            <a:r>
              <a:rPr lang="zh-CN" altLang="en-US" sz="2000" dirty="0">
                <a:solidFill>
                  <a:srgbClr val="993366"/>
                </a:solidFill>
                <a:latin typeface="宋体" panose="02010600030101010101" pitchFamily="2" charset="-122"/>
              </a:rPr>
              <a:t>可将蛋白质分离。</a:t>
            </a:r>
            <a:r>
              <a:rPr lang="zh-CN" altLang="en-US" sz="2000" dirty="0">
                <a:solidFill>
                  <a:srgbClr val="993366"/>
                </a:solidFill>
                <a:latin typeface="华文楷体" panose="02010600040101010101" pitchFamily="2" charset="-122"/>
                <a:ea typeface="华文楷体" panose="02010600040101010101" pitchFamily="2" charset="-122"/>
              </a:rPr>
              <a:t>  （如果混合液中有与固定相表面电荷性质相同的带电粒子，它们不可能吸附在层析柱中，会最先洗脱）</a:t>
            </a:r>
          </a:p>
          <a:p>
            <a:pPr eaLnBrk="1" hangingPunct="1">
              <a:lnSpc>
                <a:spcPct val="90000"/>
              </a:lnSpc>
            </a:pPr>
            <a:endParaRPr lang="en-US" altLang="zh-CN" sz="900"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pPr>
              <a:defRPr/>
            </a:pPr>
            <a:fld id="{40118AFC-F291-4DCE-93C6-D844E0A4D2D4}" type="datetime1">
              <a:rPr lang="zh-CN" altLang="en-US" smtClean="0"/>
              <a:pPr>
                <a:defRPr/>
              </a:pPr>
              <a:t>2026/9/5</a:t>
            </a:fld>
            <a:endParaRPr lang="en-US" altLang="zh-CN"/>
          </a:p>
        </p:txBody>
      </p:sp>
      <p:sp>
        <p:nvSpPr>
          <p:cNvPr id="5" name="灯片编号占位符 4"/>
          <p:cNvSpPr>
            <a:spLocks noGrp="1"/>
          </p:cNvSpPr>
          <p:nvPr>
            <p:ph type="sldNum" sz="quarter" idx="5"/>
          </p:nvPr>
        </p:nvSpPr>
        <p:spPr/>
        <p:txBody>
          <a:bodyPr/>
          <a:lstStyle/>
          <a:p>
            <a:pPr>
              <a:defRPr/>
            </a:pPr>
            <a:fld id="{47AB3041-55A2-4BC5-A258-4AB550B98638}" type="slidenum">
              <a:rPr lang="en-US" altLang="zh-CN" smtClean="0"/>
              <a:pPr>
                <a:defRPr/>
              </a:pPr>
              <a:t>103</a:t>
            </a:fld>
            <a:endParaRPr lang="en-US" altLang="zh-CN"/>
          </a:p>
        </p:txBody>
      </p:sp>
    </p:spTree>
    <p:extLst>
      <p:ext uri="{BB962C8B-B14F-4D97-AF65-F5344CB8AC3E}">
        <p14:creationId xmlns:p14="http://schemas.microsoft.com/office/powerpoint/2010/main" val="201879254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3">
            <a:extLst>
              <a:ext uri="{FF2B5EF4-FFF2-40B4-BE49-F238E27FC236}">
                <a16:creationId xmlns:a16="http://schemas.microsoft.com/office/drawing/2014/main" id="{D5339551-732E-47D3-AB8A-5231920D9EF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98FB12D-5583-40B8-BBC2-6A199D8CB403}"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19139" name="Rectangle 7">
            <a:extLst>
              <a:ext uri="{FF2B5EF4-FFF2-40B4-BE49-F238E27FC236}">
                <a16:creationId xmlns:a16="http://schemas.microsoft.com/office/drawing/2014/main" id="{C72FA225-E5D2-4441-8EDC-127B621A5E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75E1AF7-5B76-48A7-9D3B-EEAE3E50A77B}" type="slidenum">
              <a:rPr lang="en-US" altLang="zh-CN" sz="1200" smtClean="0">
                <a:latin typeface="Tahoma" panose="020B0604030504040204" pitchFamily="34" charset="0"/>
              </a:rPr>
              <a:pPr/>
              <a:t>104</a:t>
            </a:fld>
            <a:endParaRPr lang="en-US" altLang="zh-CN" sz="1200">
              <a:latin typeface="Tahoma" panose="020B0604030504040204" pitchFamily="34" charset="0"/>
            </a:endParaRPr>
          </a:p>
        </p:txBody>
      </p:sp>
      <p:sp>
        <p:nvSpPr>
          <p:cNvPr id="219140" name="Rectangle 2">
            <a:extLst>
              <a:ext uri="{FF2B5EF4-FFF2-40B4-BE49-F238E27FC236}">
                <a16:creationId xmlns:a16="http://schemas.microsoft.com/office/drawing/2014/main" id="{0BFC0BB4-C4FE-4809-ADC8-51CA3EAA4EE2}"/>
              </a:ext>
            </a:extLst>
          </p:cNvPr>
          <p:cNvSpPr>
            <a:spLocks noGrp="1" noRot="1" noChangeAspect="1" noChangeArrowheads="1" noTextEdit="1"/>
          </p:cNvSpPr>
          <p:nvPr>
            <p:ph type="sldImg"/>
          </p:nvPr>
        </p:nvSpPr>
        <p:spPr>
          <a:xfrm>
            <a:off x="381000" y="685800"/>
            <a:ext cx="6096000" cy="3429000"/>
          </a:xfrm>
          <a:ln/>
        </p:spPr>
      </p:sp>
      <p:sp>
        <p:nvSpPr>
          <p:cNvPr id="219141" name="Rectangle 3">
            <a:extLst>
              <a:ext uri="{FF2B5EF4-FFF2-40B4-BE49-F238E27FC236}">
                <a16:creationId xmlns:a16="http://schemas.microsoft.com/office/drawing/2014/main" id="{BDB03779-6188-4765-9A18-A4680724ED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zh-CN" altLang="en-US" dirty="0">
                <a:solidFill>
                  <a:srgbClr val="000000"/>
                </a:solidFill>
              </a:rPr>
              <a:t>凝胶过滤法分离蛋白质的原理是根据蛋白质分子量的大小。由于不同排阻范围的葡聚糖凝胶有一特定的蛋白质分子量范围，在此范围内，分子量的对数和洗脱体积之间成线性关系。因此，用几种已知分子量的蛋白质为标准，进行凝胶层析，以每种蛋白质的洗脱体积对它们的分子量的对数作图，绘制出标准洗脱曲线。未知蛋白质在同样的条件下进行凝胶层析，根据其所用的洗脱体积，从标准洗脱曲线上可求出此未知蛋白质对应的分子量。</a:t>
            </a:r>
          </a:p>
          <a:p>
            <a:pPr eaLnBrk="1" hangingPunct="1">
              <a:lnSpc>
                <a:spcPct val="90000"/>
              </a:lnSpc>
            </a:pPr>
            <a:r>
              <a:rPr lang="zh-CN" altLang="en-US" dirty="0">
                <a:solidFill>
                  <a:srgbClr val="000000"/>
                </a:solidFill>
                <a:latin typeface="宋体" panose="02010600030101010101" pitchFamily="2" charset="-122"/>
              </a:rPr>
              <a:t>分子筛：也叫凝胶过滤，是层析的一种。层析柱内填充带有网孔的凝胶颗粒。蛋白质溶液加于柱上，小分子蛋白进入孔内，大分子蛋白不能进入孔内而直接流出，小分子因在孔内被滞留而随后流出，从而蛋白质得以分离。</a:t>
            </a:r>
            <a:r>
              <a:rPr lang="zh-CN" altLang="en-US" dirty="0">
                <a:solidFill>
                  <a:srgbClr val="000000"/>
                </a:solidFill>
              </a:rPr>
              <a:t> </a:t>
            </a:r>
          </a:p>
          <a:p>
            <a:pPr eaLnBrk="1" hangingPunct="1">
              <a:lnSpc>
                <a:spcPct val="90000"/>
              </a:lnSpc>
            </a:pPr>
            <a:r>
              <a:rPr lang="zh-CN" altLang="en-US" sz="2800" b="1" dirty="0">
                <a:solidFill>
                  <a:srgbClr val="993366"/>
                </a:solidFill>
                <a:latin typeface="华文楷体" panose="02010600040101010101" pitchFamily="2" charset="-122"/>
                <a:ea typeface="华文楷体" panose="02010600040101010101" pitchFamily="2" charset="-122"/>
              </a:rPr>
              <a:t>分子筛：根据载体对不同大小、形状蛋白质分子的排阻能力不同而将各个组分分开的一种层析。</a:t>
            </a:r>
            <a:r>
              <a:rPr lang="zh-CN" altLang="en-US" sz="2800" b="1" dirty="0">
                <a:latin typeface="华文楷体" panose="02010600040101010101" pitchFamily="2" charset="-122"/>
                <a:ea typeface="华文楷体" panose="02010600040101010101" pitchFamily="2" charset="-122"/>
              </a:rPr>
              <a:t>应用：分离蛋白质、除盐</a:t>
            </a:r>
          </a:p>
          <a:p>
            <a:pPr eaLnBrk="1" hangingPunct="1">
              <a:lnSpc>
                <a:spcPct val="90000"/>
              </a:lnSpc>
            </a:pPr>
            <a:endParaRPr lang="zh-CN" altLang="en-US" dirty="0">
              <a:solidFill>
                <a:srgbClr val="000000"/>
              </a:solidFill>
            </a:endParaRPr>
          </a:p>
          <a:p>
            <a:pPr eaLnBrk="1" hangingPunct="1">
              <a:lnSpc>
                <a:spcPct val="90000"/>
              </a:lnSpc>
            </a:pPr>
            <a:endParaRPr lang="en-US" altLang="zh-CN"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幻灯片图像占位符 1">
            <a:extLst>
              <a:ext uri="{FF2B5EF4-FFF2-40B4-BE49-F238E27FC236}">
                <a16:creationId xmlns:a16="http://schemas.microsoft.com/office/drawing/2014/main" id="{CF4B5F4A-9709-4A6B-9EF2-319AF6891885}"/>
              </a:ext>
            </a:extLst>
          </p:cNvPr>
          <p:cNvSpPr>
            <a:spLocks noGrp="1" noRot="1" noChangeAspect="1" noChangeArrowheads="1" noTextEdit="1"/>
          </p:cNvSpPr>
          <p:nvPr>
            <p:ph type="sldImg"/>
          </p:nvPr>
        </p:nvSpPr>
        <p:spPr>
          <a:xfrm>
            <a:off x="381000" y="685800"/>
            <a:ext cx="6096000" cy="3429000"/>
          </a:xfrm>
          <a:ln/>
        </p:spPr>
      </p:sp>
      <p:sp>
        <p:nvSpPr>
          <p:cNvPr id="221187" name="备注占位符 2">
            <a:extLst>
              <a:ext uri="{FF2B5EF4-FFF2-40B4-BE49-F238E27FC236}">
                <a16:creationId xmlns:a16="http://schemas.microsoft.com/office/drawing/2014/main" id="{9FCEB314-FF3A-479E-9249-35D259D23C8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21188" name="日期占位符 3">
            <a:extLst>
              <a:ext uri="{FF2B5EF4-FFF2-40B4-BE49-F238E27FC236}">
                <a16:creationId xmlns:a16="http://schemas.microsoft.com/office/drawing/2014/main" id="{0EC316D9-B555-4590-90C9-E4EE8B1F8C6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55D0CAA-B404-43A8-9B49-7D0DBC021C3C}"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21189" name="灯片编号占位符 4">
            <a:extLst>
              <a:ext uri="{FF2B5EF4-FFF2-40B4-BE49-F238E27FC236}">
                <a16:creationId xmlns:a16="http://schemas.microsoft.com/office/drawing/2014/main" id="{7ACBDE9D-36D6-47AE-9E85-15A189BDBD8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5883E83-FD1F-4903-ABBB-1758B9D5575B}" type="slidenum">
              <a:rPr lang="en-US" altLang="zh-CN" sz="1200" smtClean="0">
                <a:latin typeface="Tahoma" panose="020B0604030504040204" pitchFamily="34" charset="0"/>
              </a:rPr>
              <a:pPr/>
              <a:t>105</a:t>
            </a:fld>
            <a:endParaRPr lang="en-US" altLang="zh-CN" sz="1200">
              <a:latin typeface="Tahoma" panose="020B0604030504040204" pitchFamily="34"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幻灯片图像占位符 1">
            <a:extLst>
              <a:ext uri="{FF2B5EF4-FFF2-40B4-BE49-F238E27FC236}">
                <a16:creationId xmlns:a16="http://schemas.microsoft.com/office/drawing/2014/main" id="{84EBE62D-6940-4B83-A4D5-B90B01567298}"/>
              </a:ext>
            </a:extLst>
          </p:cNvPr>
          <p:cNvSpPr>
            <a:spLocks noGrp="1" noRot="1" noChangeAspect="1" noChangeArrowheads="1" noTextEdit="1"/>
          </p:cNvSpPr>
          <p:nvPr>
            <p:ph type="sldImg"/>
          </p:nvPr>
        </p:nvSpPr>
        <p:spPr>
          <a:xfrm>
            <a:off x="381000" y="685800"/>
            <a:ext cx="6096000" cy="3429000"/>
          </a:xfrm>
          <a:ln/>
        </p:spPr>
      </p:sp>
      <p:sp>
        <p:nvSpPr>
          <p:cNvPr id="223235" name="备注占位符 2">
            <a:extLst>
              <a:ext uri="{FF2B5EF4-FFF2-40B4-BE49-F238E27FC236}">
                <a16:creationId xmlns:a16="http://schemas.microsoft.com/office/drawing/2014/main" id="{FD06E672-742E-43F9-B64D-C4FFAA7B1E5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采用高压输液系统，将具有不同极性的单一溶剂或不同比例的混合溶剂、缓冲液等流动相泵入装有固定相的色谱柱，在柱内各成分被分离后，进入检测器进行检测。 </a:t>
            </a:r>
            <a:r>
              <a:rPr lang="en-US" altLang="zh-CN" dirty="0"/>
              <a:t>HPLC</a:t>
            </a:r>
            <a:r>
              <a:rPr lang="zh-CN" altLang="en-US" dirty="0"/>
              <a:t>通常采用高压输液系统，大大加快移动相流动速度，并减少层析柱中分子扩散对分辨率的影响，大大加快物质纯化分离速度及提高分辨率。 </a:t>
            </a:r>
            <a:endParaRPr lang="en-US" altLang="zh-CN" dirty="0"/>
          </a:p>
          <a:p>
            <a:endParaRPr lang="en-US" altLang="zh-CN" dirty="0"/>
          </a:p>
          <a:p>
            <a:endParaRPr lang="zh-CN" altLang="en-US" dirty="0"/>
          </a:p>
        </p:txBody>
      </p:sp>
      <p:sp>
        <p:nvSpPr>
          <p:cNvPr id="223236" name="日期占位符 3">
            <a:extLst>
              <a:ext uri="{FF2B5EF4-FFF2-40B4-BE49-F238E27FC236}">
                <a16:creationId xmlns:a16="http://schemas.microsoft.com/office/drawing/2014/main" id="{AF5BB706-E07B-4C0B-BC69-F66903D918A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1FB1C22-48F2-498F-8434-B7BFE3722B75}"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23237" name="灯片编号占位符 4">
            <a:extLst>
              <a:ext uri="{FF2B5EF4-FFF2-40B4-BE49-F238E27FC236}">
                <a16:creationId xmlns:a16="http://schemas.microsoft.com/office/drawing/2014/main" id="{6E75D736-40B3-4101-A52B-42A3E828D4E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5AAC987-001E-4A7C-A67A-6565AD799E56}" type="slidenum">
              <a:rPr lang="en-US" altLang="zh-CN" sz="1200" smtClean="0">
                <a:latin typeface="Tahoma" panose="020B0604030504040204" pitchFamily="34" charset="0"/>
              </a:rPr>
              <a:pPr/>
              <a:t>106</a:t>
            </a:fld>
            <a:endParaRPr lang="en-US" altLang="zh-CN" sz="1200">
              <a:latin typeface="Tahoma" panose="020B0604030504040204" pitchFamily="34"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3">
            <a:extLst>
              <a:ext uri="{FF2B5EF4-FFF2-40B4-BE49-F238E27FC236}">
                <a16:creationId xmlns:a16="http://schemas.microsoft.com/office/drawing/2014/main" id="{9A4A3C6C-C399-4946-9638-25ACC51312F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168CD1B-37C1-4D91-A65D-7A231C854F15}"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25283" name="Rectangle 7">
            <a:extLst>
              <a:ext uri="{FF2B5EF4-FFF2-40B4-BE49-F238E27FC236}">
                <a16:creationId xmlns:a16="http://schemas.microsoft.com/office/drawing/2014/main" id="{387B545C-7A46-43E6-8B52-F9F4F01D25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B7109A7-B5E3-456D-82D2-2F5BA077A6EC}" type="slidenum">
              <a:rPr lang="en-US" altLang="zh-CN" sz="1200" smtClean="0">
                <a:latin typeface="Tahoma" panose="020B0604030504040204" pitchFamily="34" charset="0"/>
              </a:rPr>
              <a:pPr/>
              <a:t>107</a:t>
            </a:fld>
            <a:endParaRPr lang="en-US" altLang="zh-CN" sz="1200">
              <a:latin typeface="Tahoma" panose="020B0604030504040204" pitchFamily="34" charset="0"/>
            </a:endParaRPr>
          </a:p>
        </p:txBody>
      </p:sp>
      <p:sp>
        <p:nvSpPr>
          <p:cNvPr id="225284" name="Rectangle 2">
            <a:extLst>
              <a:ext uri="{FF2B5EF4-FFF2-40B4-BE49-F238E27FC236}">
                <a16:creationId xmlns:a16="http://schemas.microsoft.com/office/drawing/2014/main" id="{0D58B4E5-EF4E-4F3F-AE0B-F08E6B1E36F4}"/>
              </a:ext>
            </a:extLst>
          </p:cNvPr>
          <p:cNvSpPr>
            <a:spLocks noGrp="1" noRot="1" noChangeAspect="1" noChangeArrowheads="1" noTextEdit="1"/>
          </p:cNvSpPr>
          <p:nvPr>
            <p:ph type="sldImg"/>
          </p:nvPr>
        </p:nvSpPr>
        <p:spPr>
          <a:xfrm>
            <a:off x="381000" y="685800"/>
            <a:ext cx="6096000" cy="3429000"/>
          </a:xfrm>
          <a:ln/>
        </p:spPr>
      </p:sp>
      <p:sp>
        <p:nvSpPr>
          <p:cNvPr id="225285" name="Rectangle 3">
            <a:extLst>
              <a:ext uri="{FF2B5EF4-FFF2-40B4-BE49-F238E27FC236}">
                <a16:creationId xmlns:a16="http://schemas.microsoft.com/office/drawing/2014/main" id="{EFABC9B1-229C-4FFB-B3FA-F53533FE0F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蛋白质胶体溶液与氯化钠等真溶液不同之处在于：蛋白质在强大离心场中，在溶液中会逐渐沉降，各种蛋白质沉降所需离心力场不同，故可用超速离心法分离蛋白质及测定其分子量，</a:t>
            </a:r>
            <a:r>
              <a:rPr lang="zh-CN" altLang="en-US" b="1" dirty="0">
                <a:latin typeface="宋体" panose="02010600030101010101" pitchFamily="2" charset="-122"/>
              </a:rPr>
              <a:t>因其结果准确又不使蛋白质变性</a:t>
            </a:r>
            <a:r>
              <a:rPr lang="zh-CN" altLang="en-US" dirty="0">
                <a:latin typeface="宋体" panose="02010600030101010101" pitchFamily="2" charset="-122"/>
              </a:rPr>
              <a:t>，故是目前分离生物高分子常用的方法。</a:t>
            </a:r>
            <a:r>
              <a:rPr lang="zh-CN" altLang="en-US" dirty="0"/>
              <a:t> </a:t>
            </a:r>
          </a:p>
          <a:p>
            <a:pPr eaLnBrk="1" hangingPunct="1"/>
            <a:r>
              <a:rPr lang="zh-CN" altLang="en-US" b="1" dirty="0">
                <a:solidFill>
                  <a:srgbClr val="000000"/>
                </a:solidFill>
              </a:rPr>
              <a:t>沉降系数（</a:t>
            </a:r>
            <a:r>
              <a:rPr lang="en-US" altLang="zh-CN" b="1" dirty="0">
                <a:solidFill>
                  <a:srgbClr val="000000"/>
                </a:solidFill>
              </a:rPr>
              <a:t>S</a:t>
            </a:r>
            <a:r>
              <a:rPr lang="zh-CN" altLang="en-US" b="1" dirty="0">
                <a:solidFill>
                  <a:srgbClr val="000000"/>
                </a:solidFill>
              </a:rPr>
              <a:t>）是指单位离心场强度溶质的沉降速度</a:t>
            </a:r>
            <a:r>
              <a:rPr lang="zh-CN" altLang="en-US" dirty="0">
                <a:solidFill>
                  <a:srgbClr val="000000"/>
                </a:solidFill>
              </a:rPr>
              <a:t>。 </a:t>
            </a:r>
            <a:r>
              <a:rPr lang="en-US" altLang="zh-CN" dirty="0">
                <a:solidFill>
                  <a:srgbClr val="000000"/>
                </a:solidFill>
              </a:rPr>
              <a:t>S</a:t>
            </a:r>
            <a:r>
              <a:rPr lang="zh-CN" altLang="en-US" dirty="0">
                <a:solidFill>
                  <a:srgbClr val="000000"/>
                </a:solidFill>
              </a:rPr>
              <a:t>也常用于近似地描述生物大分子的大小。蛋白质溶液经高速离心分离时，由于比重关系，蛋白质分子趋于下沉，沉降速度与蛋白质颗粒大小成正比，应用光学方法观察离心过程中蛋白质颗粒的沉降行为，可判断出蛋白质的沉降速度。根据沉降速度可求出沉降系数，将</a:t>
            </a:r>
            <a:r>
              <a:rPr lang="en-US" altLang="zh-CN" dirty="0">
                <a:solidFill>
                  <a:srgbClr val="000000"/>
                </a:solidFill>
              </a:rPr>
              <a:t>S</a:t>
            </a:r>
            <a:r>
              <a:rPr lang="zh-CN" altLang="en-US" dirty="0">
                <a:solidFill>
                  <a:srgbClr val="000000"/>
                </a:solidFill>
              </a:rPr>
              <a:t>带入公式，即可计算出蛋白质的分子质量。</a:t>
            </a:r>
          </a:p>
          <a:p>
            <a:pPr eaLnBrk="1" hangingPunct="1"/>
            <a:r>
              <a:rPr lang="zh-CN" altLang="en-US" b="1" dirty="0"/>
              <a:t>用超速离心法测定蛋白质分子量，对分子形状的高度不对称的大多数纤维状蛋白质不适用。</a:t>
            </a:r>
            <a:endParaRPr lang="zh-CN" altLang="en-US" dirty="0">
              <a:solidFill>
                <a:srgbClr val="000000"/>
              </a:solidFill>
            </a:endParaRPr>
          </a:p>
          <a:p>
            <a:pPr eaLnBrk="1" hangingPunct="1"/>
            <a:endParaRPr lang="zh-CN" altLang="en-US" dirty="0"/>
          </a:p>
          <a:p>
            <a:pPr eaLnBrk="1" hangingPunct="1"/>
            <a:endParaRPr lang="en-US" altLang="zh-CN"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幻灯片图像占位符 1">
            <a:extLst>
              <a:ext uri="{FF2B5EF4-FFF2-40B4-BE49-F238E27FC236}">
                <a16:creationId xmlns:a16="http://schemas.microsoft.com/office/drawing/2014/main" id="{99C87F55-4A8B-403C-B868-462922070B8E}"/>
              </a:ext>
            </a:extLst>
          </p:cNvPr>
          <p:cNvSpPr>
            <a:spLocks noGrp="1" noRot="1" noChangeAspect="1" noChangeArrowheads="1" noTextEdit="1"/>
          </p:cNvSpPr>
          <p:nvPr>
            <p:ph type="sldImg"/>
          </p:nvPr>
        </p:nvSpPr>
        <p:spPr>
          <a:xfrm>
            <a:off x="381000" y="685800"/>
            <a:ext cx="6096000" cy="3429000"/>
          </a:xfrm>
          <a:ln/>
        </p:spPr>
      </p:sp>
      <p:sp>
        <p:nvSpPr>
          <p:cNvPr id="227331" name="备注占位符 2">
            <a:extLst>
              <a:ext uri="{FF2B5EF4-FFF2-40B4-BE49-F238E27FC236}">
                <a16:creationId xmlns:a16="http://schemas.microsoft.com/office/drawing/2014/main" id="{B3CCDE3C-D3F4-4757-9701-D1C6E75BED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Subcellular fractionation of tissue. A tissue such as liver is first mechanically homogenized to break cells and disperse their contents in an aqueous buffer. The sucrose medium has an osmotic pressure similar to that in organelles, thus balancing diffusion of water into and out of the organelles, which would swell and burst in a solution of lower osmolarity. The large and small particles in the suspension can be separated by centrifugation at different speeds. Larger particles sediment more rapidly than small particles, and soluble material does not sediment. By careful choice of the conditions of centrifugation, subcellular fractions can be separated for biochemical characterization.</a:t>
            </a:r>
          </a:p>
          <a:p>
            <a:endParaRPr lang="en-US" altLang="zh-CN"/>
          </a:p>
        </p:txBody>
      </p:sp>
      <p:sp>
        <p:nvSpPr>
          <p:cNvPr id="227332" name="日期占位符 3">
            <a:extLst>
              <a:ext uri="{FF2B5EF4-FFF2-40B4-BE49-F238E27FC236}">
                <a16:creationId xmlns:a16="http://schemas.microsoft.com/office/drawing/2014/main" id="{D077503A-5940-494A-A37A-2BD47A61E0B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6032EE8-4FF7-4524-9D7D-BAE2CDA9838A}"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27333" name="灯片编号占位符 4">
            <a:extLst>
              <a:ext uri="{FF2B5EF4-FFF2-40B4-BE49-F238E27FC236}">
                <a16:creationId xmlns:a16="http://schemas.microsoft.com/office/drawing/2014/main" id="{96B02FA2-6C26-42FA-8D87-C4B99CD345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ABD5D3D-7F4E-42DF-A59D-7FF183DA9ED6}" type="slidenum">
              <a:rPr lang="en-US" altLang="zh-CN" sz="1200" smtClean="0">
                <a:latin typeface="Tahoma" panose="020B0604030504040204" pitchFamily="34" charset="0"/>
              </a:rPr>
              <a:pPr/>
              <a:t>109</a:t>
            </a:fld>
            <a:endParaRPr lang="en-US" altLang="zh-CN" sz="1200">
              <a:latin typeface="Tahoma" panose="020B0604030504040204" pitchFamily="34" charset="0"/>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幻灯片图像占位符 1">
            <a:extLst>
              <a:ext uri="{FF2B5EF4-FFF2-40B4-BE49-F238E27FC236}">
                <a16:creationId xmlns:a16="http://schemas.microsoft.com/office/drawing/2014/main" id="{1A9CA029-7A5F-4C31-A00D-634E0DDC7695}"/>
              </a:ext>
            </a:extLst>
          </p:cNvPr>
          <p:cNvSpPr>
            <a:spLocks noGrp="1" noRot="1" noChangeAspect="1" noChangeArrowheads="1" noTextEdit="1"/>
          </p:cNvSpPr>
          <p:nvPr>
            <p:ph type="sldImg"/>
          </p:nvPr>
        </p:nvSpPr>
        <p:spPr>
          <a:xfrm>
            <a:off x="381000" y="685800"/>
            <a:ext cx="6096000" cy="3429000"/>
          </a:xfrm>
          <a:ln/>
        </p:spPr>
      </p:sp>
      <p:sp>
        <p:nvSpPr>
          <p:cNvPr id="231427" name="备注占位符 2">
            <a:extLst>
              <a:ext uri="{FF2B5EF4-FFF2-40B4-BE49-F238E27FC236}">
                <a16:creationId xmlns:a16="http://schemas.microsoft.com/office/drawing/2014/main" id="{FC727B09-0BBD-4CD6-9656-81E79D37A1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长时间超速离心，达到平衡时，离心管内从上到下会形成密度梯度，不同</a:t>
            </a:r>
            <a:r>
              <a:rPr lang="en-US" altLang="zh-CN" dirty="0"/>
              <a:t>RNA</a:t>
            </a:r>
            <a:r>
              <a:rPr lang="zh-CN" altLang="en-US" dirty="0"/>
              <a:t>分子停留在与其密度一致的位置。 </a:t>
            </a:r>
          </a:p>
        </p:txBody>
      </p:sp>
      <p:sp>
        <p:nvSpPr>
          <p:cNvPr id="231428" name="日期占位符 3">
            <a:extLst>
              <a:ext uri="{FF2B5EF4-FFF2-40B4-BE49-F238E27FC236}">
                <a16:creationId xmlns:a16="http://schemas.microsoft.com/office/drawing/2014/main" id="{74B9FF19-4E18-4556-BA4F-E044833549F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813A783-D825-4FBA-BC5C-05B62E0117DD}"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31429" name="灯片编号占位符 4">
            <a:extLst>
              <a:ext uri="{FF2B5EF4-FFF2-40B4-BE49-F238E27FC236}">
                <a16:creationId xmlns:a16="http://schemas.microsoft.com/office/drawing/2014/main" id="{D172BF94-F84A-4CB0-9125-C843890316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63CF7AC-E5EC-4CD0-9217-CD044A553AE7}" type="slidenum">
              <a:rPr lang="en-US" altLang="zh-CN" sz="1200" smtClean="0">
                <a:latin typeface="Tahoma" panose="020B0604030504040204" pitchFamily="34" charset="0"/>
              </a:rPr>
              <a:pPr/>
              <a:t>110</a:t>
            </a:fld>
            <a:endParaRPr lang="en-US" altLang="zh-CN" sz="1200">
              <a:latin typeface="Tahoma" panose="020B0604030504040204" pitchFamily="34" charset="0"/>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3">
            <a:extLst>
              <a:ext uri="{FF2B5EF4-FFF2-40B4-BE49-F238E27FC236}">
                <a16:creationId xmlns:a16="http://schemas.microsoft.com/office/drawing/2014/main" id="{275282DF-F3CE-4F80-8DEF-2DF9FD76631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258AB41-F72D-49A4-89D5-B29649BA97CE}"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34499" name="Rectangle 7">
            <a:extLst>
              <a:ext uri="{FF2B5EF4-FFF2-40B4-BE49-F238E27FC236}">
                <a16:creationId xmlns:a16="http://schemas.microsoft.com/office/drawing/2014/main" id="{03D1D655-7EA3-4902-B513-27EE3A4F8C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78E6CF7-93A1-4705-8631-667A0FE34FB3}" type="slidenum">
              <a:rPr lang="en-US" altLang="zh-CN" sz="1200" smtClean="0">
                <a:latin typeface="Tahoma" panose="020B0604030504040204" pitchFamily="34" charset="0"/>
              </a:rPr>
              <a:pPr/>
              <a:t>112</a:t>
            </a:fld>
            <a:endParaRPr lang="en-US" altLang="zh-CN" sz="1200">
              <a:latin typeface="Tahoma" panose="020B0604030504040204" pitchFamily="34" charset="0"/>
            </a:endParaRPr>
          </a:p>
        </p:txBody>
      </p:sp>
      <p:sp>
        <p:nvSpPr>
          <p:cNvPr id="234500" name="Rectangle 2">
            <a:extLst>
              <a:ext uri="{FF2B5EF4-FFF2-40B4-BE49-F238E27FC236}">
                <a16:creationId xmlns:a16="http://schemas.microsoft.com/office/drawing/2014/main" id="{D478E238-E154-40C8-B4C6-6236C20DE4C3}"/>
              </a:ext>
            </a:extLst>
          </p:cNvPr>
          <p:cNvSpPr>
            <a:spLocks noGrp="1" noRot="1" noChangeAspect="1" noChangeArrowheads="1" noTextEdit="1"/>
          </p:cNvSpPr>
          <p:nvPr>
            <p:ph type="sldImg"/>
          </p:nvPr>
        </p:nvSpPr>
        <p:spPr>
          <a:xfrm>
            <a:off x="381000" y="685800"/>
            <a:ext cx="6096000" cy="3429000"/>
          </a:xfrm>
          <a:ln/>
        </p:spPr>
      </p:sp>
      <p:sp>
        <p:nvSpPr>
          <p:cNvPr id="234501" name="Rectangle 3">
            <a:extLst>
              <a:ext uri="{FF2B5EF4-FFF2-40B4-BE49-F238E27FC236}">
                <a16:creationId xmlns:a16="http://schemas.microsoft.com/office/drawing/2014/main" id="{80C48E18-A5F9-4320-83AF-2C76175231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目前多数蛋白质的氨基酸序列都是通过此方法获知的。    参见教材第十八章 </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幻灯片图像占位符 1">
            <a:extLst>
              <a:ext uri="{FF2B5EF4-FFF2-40B4-BE49-F238E27FC236}">
                <a16:creationId xmlns:a16="http://schemas.microsoft.com/office/drawing/2014/main" id="{E25BA0DD-FF2B-40A7-9614-8D85088820F1}"/>
              </a:ext>
            </a:extLst>
          </p:cNvPr>
          <p:cNvSpPr>
            <a:spLocks noGrp="1" noRot="1" noChangeAspect="1" noChangeArrowheads="1" noTextEdit="1"/>
          </p:cNvSpPr>
          <p:nvPr>
            <p:ph type="sldImg"/>
          </p:nvPr>
        </p:nvSpPr>
        <p:spPr>
          <a:xfrm>
            <a:off x="381000" y="685800"/>
            <a:ext cx="6096000" cy="3429000"/>
          </a:xfrm>
          <a:ln/>
        </p:spPr>
      </p:sp>
      <p:sp>
        <p:nvSpPr>
          <p:cNvPr id="236547" name="备注占位符 2">
            <a:extLst>
              <a:ext uri="{FF2B5EF4-FFF2-40B4-BE49-F238E27FC236}">
                <a16:creationId xmlns:a16="http://schemas.microsoft.com/office/drawing/2014/main" id="{0E9C2F90-7CB9-48CC-8A34-4C5FDF1E1B7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适合于对未知蛋白一级结构的分析</a:t>
            </a:r>
            <a:endParaRPr lang="en-US" altLang="zh-CN" dirty="0"/>
          </a:p>
          <a:p>
            <a:r>
              <a:rPr lang="zh-CN" altLang="en-US" dirty="0"/>
              <a:t>质谱法可测极少量的蛋白样品，且比</a:t>
            </a:r>
            <a:r>
              <a:rPr lang="en-US" altLang="zh-CN" dirty="0"/>
              <a:t>Edman</a:t>
            </a:r>
            <a:r>
              <a:rPr lang="zh-CN" altLang="en-US" dirty="0"/>
              <a:t>降解法快得多</a:t>
            </a:r>
            <a:r>
              <a:rPr lang="en-US" altLang="zh-CN" dirty="0"/>
              <a:t>: New methods based on mass spectrometry permit the sequencing of short polypeptides (20 to 30 amino acid residues) in just a few minutes.</a:t>
            </a:r>
          </a:p>
          <a:p>
            <a:r>
              <a:rPr lang="en-US" altLang="zh-CN" b="1" dirty="0"/>
              <a:t> </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a:solidFill>
                  <a:schemeClr val="tx1">
                    <a:lumMod val="50000"/>
                  </a:schemeClr>
                </a:solidFill>
                <a:latin typeface="Times New Roman" panose="02020603050405020304" pitchFamily="18" charset="0"/>
                <a:ea typeface="黑体" panose="02010609060101010101" pitchFamily="49" charset="-122"/>
              </a:rPr>
              <a:t>水解法分析已纯化蛋白质的氨基酸残基组分</a:t>
            </a:r>
            <a:r>
              <a:rPr lang="en-US" altLang="zh-CN" sz="1200" b="0" dirty="0">
                <a:solidFill>
                  <a:schemeClr val="tx1">
                    <a:lumMod val="50000"/>
                  </a:schemeClr>
                </a:solidFill>
                <a:latin typeface="Times New Roman" panose="02020603050405020304" pitchFamily="18" charset="0"/>
                <a:ea typeface="黑体" panose="02010609060101010101" pitchFamily="49" charset="-122"/>
              </a:rPr>
              <a:t>:  </a:t>
            </a:r>
            <a:r>
              <a:rPr lang="zh-CN" altLang="en-US" sz="1200" b="0" dirty="0">
                <a:solidFill>
                  <a:schemeClr val="tx1">
                    <a:lumMod val="50000"/>
                  </a:schemeClr>
                </a:solidFill>
                <a:latin typeface="Times New Roman" panose="02020603050405020304" pitchFamily="18" charset="0"/>
                <a:ea typeface="黑体" panose="02010609060101010101" pitchFamily="49" charset="-122"/>
              </a:rPr>
              <a:t>   </a:t>
            </a:r>
            <a:r>
              <a:rPr lang="zh-CN" altLang="en-US" sz="1200" dirty="0">
                <a:latin typeface="Times New Roman" panose="02020603050405020304" pitchFamily="18" charset="0"/>
                <a:ea typeface="黑体" panose="02010609060101010101" pitchFamily="49" charset="-122"/>
              </a:rPr>
              <a:t>蛋白质经盐酸水解后成为个别氨基酸，用离子交换树脂将各种氨基酸分开，测定它们的含量，算出各氨基酸在蛋白质中的百分组成或个数。</a:t>
            </a:r>
          </a:p>
          <a:p>
            <a:endParaRPr lang="zh-CN" altLang="en-US" dirty="0"/>
          </a:p>
        </p:txBody>
      </p:sp>
      <p:sp>
        <p:nvSpPr>
          <p:cNvPr id="236548" name="日期占位符 3">
            <a:extLst>
              <a:ext uri="{FF2B5EF4-FFF2-40B4-BE49-F238E27FC236}">
                <a16:creationId xmlns:a16="http://schemas.microsoft.com/office/drawing/2014/main" id="{D882B4CE-80F0-446D-8FAA-CF50D11174BA}"/>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AB0333D-EC2D-480B-9E60-94A633B6B752}"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36549" name="灯片编号占位符 4">
            <a:extLst>
              <a:ext uri="{FF2B5EF4-FFF2-40B4-BE49-F238E27FC236}">
                <a16:creationId xmlns:a16="http://schemas.microsoft.com/office/drawing/2014/main" id="{3C8E4CC4-1D7A-43D0-AB03-A8A7474B6A6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0E23B65-B2D7-4FF0-AB72-022B2F80FC13}" type="slidenum">
              <a:rPr lang="en-US" altLang="zh-CN" sz="1200" smtClean="0">
                <a:latin typeface="Tahoma" panose="020B0604030504040204" pitchFamily="34" charset="0"/>
              </a:rPr>
              <a:pPr/>
              <a:t>113</a:t>
            </a:fld>
            <a:endParaRPr lang="en-US" altLang="zh-CN" sz="1200">
              <a:latin typeface="Tahoma" panose="020B0604030504040204" pitchFamily="34" charset="0"/>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a:extLst>
              <a:ext uri="{FF2B5EF4-FFF2-40B4-BE49-F238E27FC236}">
                <a16:creationId xmlns:a16="http://schemas.microsoft.com/office/drawing/2014/main" id="{96A42EF2-F2A6-456C-BE64-83E0141B7642}"/>
              </a:ext>
            </a:extLst>
          </p:cNvPr>
          <p:cNvSpPr>
            <a:spLocks noGrp="1" noRot="1" noChangeAspect="1" noChangeArrowheads="1" noTextEdit="1"/>
          </p:cNvSpPr>
          <p:nvPr>
            <p:ph type="sldImg"/>
          </p:nvPr>
        </p:nvSpPr>
        <p:spPr>
          <a:xfrm>
            <a:off x="381000" y="685800"/>
            <a:ext cx="6096000" cy="3429000"/>
          </a:xfrm>
          <a:ln/>
        </p:spPr>
      </p:sp>
      <p:sp>
        <p:nvSpPr>
          <p:cNvPr id="239619" name="备注占位符 2">
            <a:extLst>
              <a:ext uri="{FF2B5EF4-FFF2-40B4-BE49-F238E27FC236}">
                <a16:creationId xmlns:a16="http://schemas.microsoft.com/office/drawing/2014/main" id="{1F1961C4-49BB-4FEB-BCCD-ED23FE8BAE1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X</a:t>
            </a:r>
            <a:r>
              <a:rPr lang="zh-CN" altLang="en-US" dirty="0"/>
              <a:t>射线衍射法只能分析结晶的蛋白质，</a:t>
            </a:r>
            <a:r>
              <a:rPr lang="en-US" altLang="zh-CN" dirty="0"/>
              <a:t>NMR</a:t>
            </a:r>
            <a:r>
              <a:rPr lang="zh-CN" altLang="en-US" dirty="0"/>
              <a:t>则可分析溶液中的蛋白， 两种方法得出的蛋白质结构吻合度较好。 </a:t>
            </a:r>
            <a:r>
              <a:rPr lang="en-US" altLang="zh-CN" dirty="0"/>
              <a:t>NMR</a:t>
            </a:r>
            <a:r>
              <a:rPr lang="zh-CN" altLang="en-US" dirty="0"/>
              <a:t>适合分析较小的蛋白质或肽段，不适合较大的蛋白。 </a:t>
            </a:r>
            <a:endParaRPr lang="en-US" altLang="zh-CN" dirty="0"/>
          </a:p>
          <a:p>
            <a:endParaRPr lang="en-US" altLang="zh-CN" dirty="0"/>
          </a:p>
          <a:p>
            <a:r>
              <a:rPr lang="zh-CN" altLang="en-US" dirty="0"/>
              <a:t>目前蛋白质结构数据库中的蛋白结构信息主要来自</a:t>
            </a:r>
            <a:r>
              <a:rPr lang="en-US" altLang="zh-CN" dirty="0"/>
              <a:t>X</a:t>
            </a:r>
            <a:r>
              <a:rPr lang="zh-CN" altLang="en-US" dirty="0"/>
              <a:t>射线衍射分析法，来自</a:t>
            </a:r>
            <a:r>
              <a:rPr lang="en-US" altLang="zh-CN" dirty="0"/>
              <a:t>NMR</a:t>
            </a:r>
            <a:r>
              <a:rPr lang="zh-CN" altLang="en-US" dirty="0"/>
              <a:t>的较少，近十多年应用冷冻电镜技术解析出的蛋白质三维结构明显增加。</a:t>
            </a:r>
            <a:endParaRPr lang="en-US" altLang="zh-CN" dirty="0"/>
          </a:p>
          <a:p>
            <a:r>
              <a:rPr lang="en-US" altLang="zh-CN" dirty="0"/>
              <a:t>Since 2010, yearly cryo-EM structure deposits have outpaced X-ray crystallography.[22] Though X-ray crystallography has drastically more total deposits due to a decades-longer history, total deposits of the two methods are projected to eclipse around 2035.</a:t>
            </a:r>
            <a:endParaRPr lang="zh-CN" altLang="en-US" dirty="0"/>
          </a:p>
        </p:txBody>
      </p:sp>
      <p:sp>
        <p:nvSpPr>
          <p:cNvPr id="239620" name="日期占位符 3">
            <a:extLst>
              <a:ext uri="{FF2B5EF4-FFF2-40B4-BE49-F238E27FC236}">
                <a16:creationId xmlns:a16="http://schemas.microsoft.com/office/drawing/2014/main" id="{B212D04D-AA76-4EDA-828F-427A50AE9BA4}"/>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847B59C-009E-4D64-B44C-0F7E4B68E655}"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239621" name="灯片编号占位符 4">
            <a:extLst>
              <a:ext uri="{FF2B5EF4-FFF2-40B4-BE49-F238E27FC236}">
                <a16:creationId xmlns:a16="http://schemas.microsoft.com/office/drawing/2014/main" id="{AC0D8648-0C74-4C05-A827-2E7BEB283F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900B1E8-F8A6-4DD3-80E7-96B6EE323EB0}" type="slidenum">
              <a:rPr lang="en-US" altLang="zh-CN" sz="1200" smtClean="0">
                <a:latin typeface="Tahoma" panose="020B0604030504040204" pitchFamily="34" charset="0"/>
              </a:rPr>
              <a:pPr/>
              <a:t>115</a:t>
            </a:fld>
            <a:endParaRPr lang="en-US" altLang="zh-CN" sz="1200">
              <a:latin typeface="Tahoma" panose="020B0604030504040204" pitchFamily="34" charset="0"/>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On July 28, 2022, the team uploaded to the database the structures of around 200 million proteins from 1 million species, covering nearly every known protein on the planet. </a:t>
            </a:r>
            <a:r>
              <a:rPr lang="zh-CN" altLang="en-US" dirty="0"/>
              <a:t>几乎涵盖了所有基因组测序的生物体，这是一个巨大的里程碑！</a:t>
            </a:r>
          </a:p>
          <a:p>
            <a:r>
              <a:rPr lang="en-US" altLang="zh-CN" dirty="0"/>
              <a:t>"'The entire protein universe': AI predicts shape of nearly every known protein". Nature.2022,July,28. 608 (7921): 15–16.</a:t>
            </a:r>
          </a:p>
          <a:p>
            <a:endParaRPr lang="en-US" altLang="zh-CN" dirty="0"/>
          </a:p>
          <a:p>
            <a:r>
              <a:rPr lang="en-US" altLang="zh-CN" dirty="0"/>
              <a:t>AlphaFold2</a:t>
            </a:r>
            <a:r>
              <a:rPr lang="zh-CN" altLang="en-US" dirty="0"/>
              <a:t>利用</a:t>
            </a:r>
            <a:r>
              <a:rPr lang="en-US" altLang="zh-CN" dirty="0"/>
              <a:t>PDB</a:t>
            </a:r>
            <a:r>
              <a:rPr lang="zh-CN" altLang="en-US" dirty="0"/>
              <a:t>中已知的</a:t>
            </a:r>
            <a:r>
              <a:rPr lang="en-US" altLang="zh-CN" dirty="0"/>
              <a:t>17</a:t>
            </a:r>
            <a:r>
              <a:rPr lang="zh-CN" altLang="en-US" dirty="0"/>
              <a:t>万蛋白的序列和结构进行的训练</a:t>
            </a:r>
          </a:p>
          <a:p>
            <a:endParaRPr lang="en-US" altLang="zh-CN" dirty="0"/>
          </a:p>
          <a:p>
            <a:r>
              <a:rPr lang="zh-CN" altLang="en-US" dirty="0"/>
              <a:t>几乎所有已知蛋白质的</a:t>
            </a:r>
            <a:r>
              <a:rPr lang="en-US" altLang="zh-CN" dirty="0"/>
              <a:t>3D</a:t>
            </a:r>
            <a:r>
              <a:rPr lang="zh-CN" altLang="en-US" dirty="0"/>
              <a:t>结构就和用谷歌（</a:t>
            </a:r>
            <a:r>
              <a:rPr lang="en-US" altLang="zh-CN" dirty="0"/>
              <a:t>Google</a:t>
            </a:r>
            <a:r>
              <a:rPr lang="zh-CN" altLang="en-US" dirty="0"/>
              <a:t>）搜索一样简单了。</a:t>
            </a:r>
          </a:p>
          <a:p>
            <a:endParaRPr lang="en-US" altLang="zh-CN" dirty="0"/>
          </a:p>
          <a:p>
            <a:r>
              <a:rPr lang="zh-CN" altLang="en-US" dirty="0"/>
              <a:t>“这是人类基因组图谱之后最重要的数据集”</a:t>
            </a:r>
            <a:endParaRPr lang="en-US" altLang="zh-CN" dirty="0"/>
          </a:p>
          <a:p>
            <a:endParaRPr lang="en-US" altLang="zh-CN" dirty="0"/>
          </a:p>
          <a:p>
            <a:endParaRPr lang="en-US" altLang="zh-CN" dirty="0"/>
          </a:p>
        </p:txBody>
      </p:sp>
      <p:sp>
        <p:nvSpPr>
          <p:cNvPr id="4" name="日期占位符 3"/>
          <p:cNvSpPr>
            <a:spLocks noGrp="1"/>
          </p:cNvSpPr>
          <p:nvPr>
            <p:ph type="dt" idx="1"/>
          </p:nvPr>
        </p:nvSpPr>
        <p:spPr/>
        <p:txBody>
          <a:bodyPr/>
          <a:lstStyle/>
          <a:p>
            <a:pPr>
              <a:defRPr/>
            </a:pPr>
            <a:fld id="{EA205CC4-1CAE-4FA1-A962-1A34DB7C7879}" type="datetime1">
              <a:rPr lang="zh-CN" altLang="en-US" smtClean="0"/>
              <a:pPr>
                <a:defRPr/>
              </a:pPr>
              <a:t>2026/9/5</a:t>
            </a:fld>
            <a:endParaRPr lang="en-US" altLang="zh-CN" dirty="0"/>
          </a:p>
        </p:txBody>
      </p:sp>
      <p:sp>
        <p:nvSpPr>
          <p:cNvPr id="5" name="灯片编号占位符 4"/>
          <p:cNvSpPr>
            <a:spLocks noGrp="1"/>
          </p:cNvSpPr>
          <p:nvPr>
            <p:ph type="sldNum" sz="quarter" idx="5"/>
          </p:nvPr>
        </p:nvSpPr>
        <p:spPr/>
        <p:txBody>
          <a:bodyPr/>
          <a:lstStyle/>
          <a:p>
            <a:pPr>
              <a:defRPr/>
            </a:pPr>
            <a:fld id="{F17E7B64-D31F-49F9-A602-099D7B13B654}" type="slidenum">
              <a:rPr lang="en-US" altLang="zh-CN" smtClean="0"/>
              <a:pPr>
                <a:defRPr/>
              </a:pPr>
              <a:t>116</a:t>
            </a:fld>
            <a:endParaRPr lang="en-US" altLang="zh-CN" dirty="0"/>
          </a:p>
        </p:txBody>
      </p:sp>
    </p:spTree>
    <p:extLst>
      <p:ext uri="{BB962C8B-B14F-4D97-AF65-F5344CB8AC3E}">
        <p14:creationId xmlns:p14="http://schemas.microsoft.com/office/powerpoint/2010/main" val="143960021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a:extLst>
              <a:ext uri="{FF2B5EF4-FFF2-40B4-BE49-F238E27FC236}">
                <a16:creationId xmlns:a16="http://schemas.microsoft.com/office/drawing/2014/main" id="{CCFC43F9-8588-4FFC-AA3A-1B0D13854D00}"/>
              </a:ext>
            </a:extLst>
          </p:cNvPr>
          <p:cNvSpPr>
            <a:spLocks noGrp="1" noRot="1" noChangeAspect="1" noChangeArrowheads="1" noTextEdit="1"/>
          </p:cNvSpPr>
          <p:nvPr>
            <p:ph type="sldImg"/>
          </p:nvPr>
        </p:nvSpPr>
        <p:spPr>
          <a:xfrm>
            <a:off x="381000" y="685800"/>
            <a:ext cx="6096000" cy="3429000"/>
          </a:xfrm>
          <a:ln/>
        </p:spPr>
      </p:sp>
      <p:sp>
        <p:nvSpPr>
          <p:cNvPr id="163843" name="备注占位符 2">
            <a:extLst>
              <a:ext uri="{FF2B5EF4-FFF2-40B4-BE49-F238E27FC236}">
                <a16:creationId xmlns:a16="http://schemas.microsoft.com/office/drawing/2014/main" id="{34DBC710-7980-4BD6-B199-7D66A7CE7A8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所有概念，请同时记住其英文单词</a:t>
            </a:r>
          </a:p>
        </p:txBody>
      </p:sp>
      <p:sp>
        <p:nvSpPr>
          <p:cNvPr id="163844" name="日期占位符 3">
            <a:extLst>
              <a:ext uri="{FF2B5EF4-FFF2-40B4-BE49-F238E27FC236}">
                <a16:creationId xmlns:a16="http://schemas.microsoft.com/office/drawing/2014/main" id="{B54512F3-7E1C-4B6F-9E5D-05865B9466B1}"/>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4E2A4AD-4787-4EC8-9A7A-AE79ABCF730A}"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63845" name="灯片编号占位符 4">
            <a:extLst>
              <a:ext uri="{FF2B5EF4-FFF2-40B4-BE49-F238E27FC236}">
                <a16:creationId xmlns:a16="http://schemas.microsoft.com/office/drawing/2014/main" id="{6C76A6DA-7FB3-4963-814A-0F1AAC18AE6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638A604-DF09-40F6-9C17-7F6A8CA1A4A0}" type="slidenum">
              <a:rPr lang="en-US" altLang="zh-CN" sz="1200" smtClean="0">
                <a:latin typeface="Tahoma" panose="020B0604030504040204" pitchFamily="34" charset="0"/>
              </a:rPr>
              <a:pPr/>
              <a:t>117</a:t>
            </a:fld>
            <a:endParaRPr lang="en-US" altLang="zh-CN" sz="1200">
              <a:latin typeface="Tahoma" panose="020B0604030504040204" pitchFamily="34" charset="0"/>
            </a:endParaRPr>
          </a:p>
        </p:txBody>
      </p:sp>
    </p:spTree>
    <p:extLst>
      <p:ext uri="{BB962C8B-B14F-4D97-AF65-F5344CB8AC3E}">
        <p14:creationId xmlns:p14="http://schemas.microsoft.com/office/powerpoint/2010/main" val="322460537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72310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3">
            <a:extLst>
              <a:ext uri="{FF2B5EF4-FFF2-40B4-BE49-F238E27FC236}">
                <a16:creationId xmlns:a16="http://schemas.microsoft.com/office/drawing/2014/main" id="{72105CF0-B67C-4751-BBAF-602BFD1BDC6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4AE405D-A0FF-47D5-AE99-F670F24422B8}" type="datetime1">
              <a:rPr lang="zh-CN" altLang="en-US" sz="1200" smtClean="0">
                <a:latin typeface="Tahoma" panose="020B0604030504040204" pitchFamily="34" charset="0"/>
              </a:rPr>
              <a:pPr/>
              <a:t>2026/9/5</a:t>
            </a:fld>
            <a:endParaRPr lang="en-US" altLang="zh-CN" sz="1200">
              <a:latin typeface="Tahoma" panose="020B0604030504040204" pitchFamily="34" charset="0"/>
            </a:endParaRPr>
          </a:p>
        </p:txBody>
      </p:sp>
      <p:sp>
        <p:nvSpPr>
          <p:cNvPr id="166915" name="Rectangle 7">
            <a:extLst>
              <a:ext uri="{FF2B5EF4-FFF2-40B4-BE49-F238E27FC236}">
                <a16:creationId xmlns:a16="http://schemas.microsoft.com/office/drawing/2014/main" id="{AE91B054-9BFB-4458-82E5-689A8A0120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48B3B11-5A24-4FAC-BC4F-FE0B09AFE655}" type="slidenum">
              <a:rPr lang="en-US" altLang="zh-CN" sz="1200" smtClean="0">
                <a:latin typeface="Tahoma" panose="020B0604030504040204" pitchFamily="34" charset="0"/>
              </a:rPr>
              <a:pPr/>
              <a:t>119</a:t>
            </a:fld>
            <a:endParaRPr lang="en-US" altLang="zh-CN" sz="1200">
              <a:latin typeface="Tahoma" panose="020B0604030504040204" pitchFamily="34" charset="0"/>
            </a:endParaRPr>
          </a:p>
        </p:txBody>
      </p:sp>
      <p:sp>
        <p:nvSpPr>
          <p:cNvPr id="166916" name="Rectangle 2">
            <a:extLst>
              <a:ext uri="{FF2B5EF4-FFF2-40B4-BE49-F238E27FC236}">
                <a16:creationId xmlns:a16="http://schemas.microsoft.com/office/drawing/2014/main" id="{B85C765B-11BF-41FE-9B75-F9C40BF0BB6A}"/>
              </a:ext>
            </a:extLst>
          </p:cNvPr>
          <p:cNvSpPr>
            <a:spLocks noGrp="1" noRot="1" noChangeAspect="1" noChangeArrowheads="1" noTextEdit="1"/>
          </p:cNvSpPr>
          <p:nvPr>
            <p:ph type="sldImg"/>
          </p:nvPr>
        </p:nvSpPr>
        <p:spPr>
          <a:xfrm>
            <a:off x="381000" y="685800"/>
            <a:ext cx="6096000" cy="3429000"/>
          </a:xfrm>
          <a:ln/>
        </p:spPr>
      </p:sp>
      <p:sp>
        <p:nvSpPr>
          <p:cNvPr id="166917" name="Rectangle 3">
            <a:extLst>
              <a:ext uri="{FF2B5EF4-FFF2-40B4-BE49-F238E27FC236}">
                <a16:creationId xmlns:a16="http://schemas.microsoft.com/office/drawing/2014/main" id="{4AE2CCFE-1E5A-4879-99EA-18C567BC40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1.D   2.C   3.A,B,C,D</a:t>
            </a:r>
          </a:p>
        </p:txBody>
      </p:sp>
    </p:spTree>
    <p:extLst>
      <p:ext uri="{BB962C8B-B14F-4D97-AF65-F5344CB8AC3E}">
        <p14:creationId xmlns:p14="http://schemas.microsoft.com/office/powerpoint/2010/main" val="23902521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标题幻灯片">
    <p:bg bwMode="gray">
      <p:bgPr>
        <a:solidFill>
          <a:schemeClr val="bg1"/>
        </a:solidFill>
        <a:effectLst/>
      </p:bgPr>
    </p:bg>
    <p:spTree>
      <p:nvGrpSpPr>
        <p:cNvPr id="1" name=""/>
        <p:cNvGrpSpPr/>
        <p:nvPr/>
      </p:nvGrpSpPr>
      <p:grpSpPr>
        <a:xfrm>
          <a:off x="0" y="0"/>
          <a:ext cx="0" cy="0"/>
          <a:chOff x="0" y="0"/>
          <a:chExt cx="0" cy="0"/>
        </a:xfrm>
      </p:grpSpPr>
      <p:pic>
        <p:nvPicPr>
          <p:cNvPr id="4" name="图片 12">
            <a:extLst>
              <a:ext uri="{FF2B5EF4-FFF2-40B4-BE49-F238E27FC236}">
                <a16:creationId xmlns:a16="http://schemas.microsoft.com/office/drawing/2014/main" id="{8AA65584-FA53-4806-9E4E-89C48E4991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470" name="Rectangle 6"/>
          <p:cNvSpPr>
            <a:spLocks noGrp="1" noChangeArrowheads="1"/>
          </p:cNvSpPr>
          <p:nvPr>
            <p:ph type="ctrTitle"/>
          </p:nvPr>
        </p:nvSpPr>
        <p:spPr bwMode="gray">
          <a:xfrm>
            <a:off x="1155732" y="2960185"/>
            <a:ext cx="9688512" cy="838200"/>
          </a:xfrm>
          <a:ln>
            <a:noFill/>
          </a:ln>
        </p:spPr>
        <p:txBody>
          <a:bodyPr/>
          <a:lstStyle>
            <a:lvl1pPr algn="r">
              <a:defRPr sz="4400">
                <a:solidFill>
                  <a:srgbClr val="C00000"/>
                </a:solidFill>
              </a:defRPr>
            </a:lvl1pPr>
          </a:lstStyle>
          <a:p>
            <a:r>
              <a:rPr lang="zh-CN" altLang="en-US" dirty="0"/>
              <a:t>单击此处编辑母版标题样式</a:t>
            </a:r>
          </a:p>
        </p:txBody>
      </p:sp>
      <p:sp>
        <p:nvSpPr>
          <p:cNvPr id="318471" name="Rectangle 7"/>
          <p:cNvSpPr>
            <a:spLocks noGrp="1" noChangeArrowheads="1"/>
          </p:cNvSpPr>
          <p:nvPr>
            <p:ph type="subTitle" idx="1"/>
          </p:nvPr>
        </p:nvSpPr>
        <p:spPr bwMode="gray">
          <a:xfrm>
            <a:off x="2639616" y="4221088"/>
            <a:ext cx="7181851" cy="533400"/>
          </a:xfrm>
        </p:spPr>
        <p:txBody>
          <a:bodyPr/>
          <a:lstStyle>
            <a:lvl1pPr marL="0" indent="0" algn="ctr">
              <a:buFont typeface="Wingdings" pitchFamily="2" charset="2"/>
              <a:buNone/>
              <a:defRPr sz="1600" b="0">
                <a:solidFill>
                  <a:srgbClr val="C00000"/>
                </a:solidFill>
              </a:defRPr>
            </a:lvl1pPr>
          </a:lstStyle>
          <a:p>
            <a:r>
              <a:rPr lang="zh-CN" altLang="en-US" dirty="0"/>
              <a:t>单击此处编辑母版副标题样式</a:t>
            </a:r>
          </a:p>
        </p:txBody>
      </p:sp>
    </p:spTree>
    <p:extLst>
      <p:ext uri="{BB962C8B-B14F-4D97-AF65-F5344CB8AC3E}">
        <p14:creationId xmlns:p14="http://schemas.microsoft.com/office/powerpoint/2010/main" val="4112421775"/>
      </p:ext>
    </p:extLst>
  </p:cSld>
  <p:clrMapOvr>
    <a:masterClrMapping/>
  </p:clrMapOvr>
  <p:transition spd="slow">
    <p:circl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bwMode="gray">
      <p:bgPr>
        <a:solidFill>
          <a:schemeClr val="bg1"/>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7CCDD4-92DE-47F9-9E37-524693C187B1}"/>
              </a:ext>
            </a:extLst>
          </p:cNvPr>
          <p:cNvSpPr/>
          <p:nvPr userDrawn="1"/>
        </p:nvSpPr>
        <p:spPr bwMode="auto">
          <a:xfrm>
            <a:off x="1" y="0"/>
            <a:ext cx="12221633" cy="764704"/>
          </a:xfrm>
          <a:prstGeom prst="rect">
            <a:avLst/>
          </a:prstGeom>
          <a:blipFill dpi="0" rotWithShape="1">
            <a:blip r:embed="rId2"/>
            <a:srcRect/>
            <a:tile tx="-1790700" ty="3162300" sx="100000" sy="100000" flip="none" algn="tl"/>
          </a:bli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zh-CN" altLang="en-US" sz="1600"/>
          </a:p>
        </p:txBody>
      </p:sp>
    </p:spTree>
    <p:extLst>
      <p:ext uri="{BB962C8B-B14F-4D97-AF65-F5344CB8AC3E}">
        <p14:creationId xmlns:p14="http://schemas.microsoft.com/office/powerpoint/2010/main" val="1911376111"/>
      </p:ext>
    </p:extLst>
  </p:cSld>
  <p:clrMapOvr>
    <a:masterClrMapping/>
  </p:clrMapOvr>
  <p:transition spd="slow">
    <p:circl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39184" y="188641"/>
            <a:ext cx="9313200" cy="563563"/>
          </a:xfrm>
        </p:spPr>
        <p:txBody>
          <a:bodyPr/>
          <a:lstStyle>
            <a:lvl1pPr algn="ctr">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0"/>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766462562"/>
      </p:ext>
    </p:extLst>
  </p:cSld>
  <p:clrMapOvr>
    <a:masterClrMapping/>
  </p:clrMapOvr>
  <p:transition spd="slow">
    <p:circl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39184" y="188641"/>
            <a:ext cx="9313200" cy="563563"/>
          </a:xfrm>
        </p:spPr>
        <p:txBody>
          <a:bodyPr/>
          <a:lstStyle>
            <a:lvl1pPr algn="ctr">
              <a:defRPr/>
            </a:lvl1pPr>
          </a:lstStyle>
          <a:p>
            <a:r>
              <a:rPr lang="zh-CN" altLang="en-US" dirty="0"/>
              <a:t>单击此处编辑母版标题样式</a:t>
            </a:r>
          </a:p>
        </p:txBody>
      </p:sp>
    </p:spTree>
    <p:extLst>
      <p:ext uri="{BB962C8B-B14F-4D97-AF65-F5344CB8AC3E}">
        <p14:creationId xmlns:p14="http://schemas.microsoft.com/office/powerpoint/2010/main" val="2150142431"/>
      </p:ext>
    </p:extLst>
  </p:cSld>
  <p:clrMapOvr>
    <a:masterClrMapping/>
  </p:clrMapOvr>
  <p:transition spd="slow">
    <p:circl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98197" y="116633"/>
            <a:ext cx="10306315" cy="707281"/>
          </a:xfrm>
          <a:solidFill>
            <a:srgbClr val="1D7ACF"/>
          </a:solidFill>
        </p:spPr>
        <p:txBody>
          <a:bodyPr/>
          <a:lstStyle>
            <a:lvl1pPr algn="ctr">
              <a:defRPr/>
            </a:lvl1pPr>
          </a:lstStyle>
          <a:p>
            <a:r>
              <a:rPr lang="zh-CN" altLang="en-US" dirty="0"/>
              <a:t>单击此处编辑母版标题样式</a:t>
            </a:r>
          </a:p>
        </p:txBody>
      </p:sp>
    </p:spTree>
    <p:extLst>
      <p:ext uri="{BB962C8B-B14F-4D97-AF65-F5344CB8AC3E}">
        <p14:creationId xmlns:p14="http://schemas.microsoft.com/office/powerpoint/2010/main" val="3438136098"/>
      </p:ext>
    </p:extLst>
  </p:cSld>
  <p:clrMapOvr>
    <a:masterClrMapping/>
  </p:clrMapOvr>
  <p:transition spd="slow">
    <p:circl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86229" y="260351"/>
            <a:ext cx="11074400" cy="563563"/>
          </a:xfrm>
          <a:solidFill>
            <a:srgbClr val="1A6FBC"/>
          </a:solidFill>
        </p:spPr>
        <p:txBody>
          <a:bodyPr/>
          <a:lstStyle>
            <a:lvl1pPr algn="ctr">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0"/>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50531003"/>
      </p:ext>
    </p:extLst>
  </p:cSld>
  <p:clrMapOvr>
    <a:masterClrMapping/>
  </p:clrMapOvr>
  <p:transition spd="slow">
    <p:circl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746322329"/>
      </p:ext>
    </p:extLst>
  </p:cSld>
  <p:clrMapOvr>
    <a:masterClrMapping/>
  </p:clrMapOvr>
  <p:transition spd="slow">
    <p:circl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125539"/>
            <a:ext cx="5384800" cy="51895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125539"/>
            <a:ext cx="5384800" cy="51895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1484140"/>
      </p:ext>
    </p:extLst>
  </p:cSld>
  <p:clrMapOvr>
    <a:masterClrMapping/>
  </p:clrMapOvr>
  <p:transition spd="slow">
    <p:circl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08911885"/>
      </p:ext>
    </p:extLst>
  </p:cSld>
  <p:clrMapOvr>
    <a:masterClrMapping/>
  </p:clrMapOvr>
  <p:transition spd="slow">
    <p:circl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540232964"/>
      </p:ext>
    </p:extLst>
  </p:cSld>
  <p:clrMapOvr>
    <a:masterClrMapping/>
  </p:clrMapOvr>
  <p:transition spd="slow">
    <p:circl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sp>
        <p:nvSpPr>
          <p:cNvPr id="2" name="标题 1"/>
          <p:cNvSpPr>
            <a:spLocks noGrp="1"/>
          </p:cNvSpPr>
          <p:nvPr>
            <p:ph type="title"/>
          </p:nvPr>
        </p:nvSpPr>
        <p:spPr>
          <a:xfrm>
            <a:off x="686229" y="260350"/>
            <a:ext cx="11074400" cy="720378"/>
          </a:xfrm>
          <a:solidFill>
            <a:srgbClr val="1A6FBC"/>
          </a:solidFill>
        </p:spPr>
        <p:txBody>
          <a:bodyPr/>
          <a:lstStyle>
            <a:lvl1pPr algn="ctr">
              <a:defRPr/>
            </a:lvl1pPr>
          </a:lstStyle>
          <a:p>
            <a:r>
              <a:rPr lang="zh-CN" altLang="en-US" dirty="0"/>
              <a:t>单击此处编辑母版标题样式</a:t>
            </a:r>
          </a:p>
        </p:txBody>
      </p:sp>
    </p:spTree>
    <p:extLst>
      <p:ext uri="{BB962C8B-B14F-4D97-AF65-F5344CB8AC3E}">
        <p14:creationId xmlns:p14="http://schemas.microsoft.com/office/powerpoint/2010/main" val="471296872"/>
      </p:ext>
    </p:extLst>
  </p:cSld>
  <p:clrMapOvr>
    <a:masterClrMapping/>
  </p:clrMapOvr>
  <p:transition spd="slow">
    <p:circl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3064260"/>
      </p:ext>
    </p:extLst>
  </p:cSld>
  <p:clrMapOvr>
    <a:masterClrMapping/>
  </p:clrMapOvr>
  <p:transition spd="slow">
    <p:circl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094014008"/>
      </p:ext>
    </p:extLst>
  </p:cSld>
  <p:clrMapOvr>
    <a:masterClrMapping/>
  </p:clrMapOvr>
  <p:transition spd="slow">
    <p:circl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04649431"/>
      </p:ext>
    </p:extLst>
  </p:cSld>
  <p:clrMapOvr>
    <a:masterClrMapping/>
  </p:clrMapOvr>
  <p:transition spd="slow">
    <p:circl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620996"/>
      </p:ext>
    </p:extLst>
  </p:cSld>
  <p:clrMapOvr>
    <a:masterClrMapping/>
  </p:clrMapOvr>
  <p:transition spd="slow">
    <p:circl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48184" y="260351"/>
            <a:ext cx="2834216" cy="60547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39184" y="260351"/>
            <a:ext cx="8305800" cy="60547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78411474"/>
      </p:ext>
    </p:extLst>
  </p:cSld>
  <p:clrMapOvr>
    <a:masterClrMapping/>
  </p:clrMapOvr>
  <p:transition spd="slow">
    <p:circl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39184" y="260351"/>
            <a:ext cx="11074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125539"/>
            <a:ext cx="5384800" cy="51895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125539"/>
            <a:ext cx="5384800" cy="51895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98422475"/>
      </p:ext>
    </p:extLst>
  </p:cSld>
  <p:clrMapOvr>
    <a:masterClrMapping/>
  </p:clrMapOvr>
  <p:transition spd="slow">
    <p:circl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239184" y="260351"/>
            <a:ext cx="11343216" cy="6054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6581072"/>
      </p:ext>
    </p:extLst>
  </p:cSld>
  <p:clrMapOvr>
    <a:masterClrMapping/>
  </p:clrMapOvr>
  <p:transition spd="slow">
    <p:circl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39184" y="260351"/>
            <a:ext cx="11074400" cy="563563"/>
          </a:xfrm>
        </p:spPr>
        <p:txBody>
          <a:bodyPr/>
          <a:lstStyle/>
          <a:p>
            <a:r>
              <a:rPr lang="zh-CN" altLang="en-US"/>
              <a:t>单击此处编辑母版标题样式</a:t>
            </a:r>
          </a:p>
        </p:txBody>
      </p:sp>
      <p:sp>
        <p:nvSpPr>
          <p:cNvPr id="3" name="表格占位符 2"/>
          <p:cNvSpPr>
            <a:spLocks noGrp="1"/>
          </p:cNvSpPr>
          <p:nvPr>
            <p:ph type="tbl" idx="1"/>
          </p:nvPr>
        </p:nvSpPr>
        <p:spPr>
          <a:xfrm>
            <a:off x="609600" y="1125539"/>
            <a:ext cx="10972800" cy="5189537"/>
          </a:xfrm>
        </p:spPr>
        <p:txBody>
          <a:bodyPr/>
          <a:lstStyle/>
          <a:p>
            <a:pPr lvl="0"/>
            <a:endParaRPr lang="zh-CN" altLang="en-US" noProof="0"/>
          </a:p>
        </p:txBody>
      </p:sp>
    </p:spTree>
    <p:extLst>
      <p:ext uri="{BB962C8B-B14F-4D97-AF65-F5344CB8AC3E}">
        <p14:creationId xmlns:p14="http://schemas.microsoft.com/office/powerpoint/2010/main" val="2222369505"/>
      </p:ext>
    </p:extLst>
  </p:cSld>
  <p:clrMapOvr>
    <a:masterClrMapping/>
  </p:clrMapOvr>
  <p:transition spd="slow">
    <p:circl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39184" y="260351"/>
            <a:ext cx="11074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125539"/>
            <a:ext cx="5384800" cy="51895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125539"/>
            <a:ext cx="5384800" cy="2517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795713"/>
            <a:ext cx="5384800" cy="25193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52275019"/>
      </p:ext>
    </p:extLst>
  </p:cSld>
  <p:clrMapOvr>
    <a:masterClrMapping/>
  </p:clrMapOvr>
  <p:transition spd="slow">
    <p:circl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内容页">
    <p:spTree>
      <p:nvGrpSpPr>
        <p:cNvPr id="1" name=""/>
        <p:cNvGrpSpPr/>
        <p:nvPr/>
      </p:nvGrpSpPr>
      <p:grpSpPr>
        <a:xfrm>
          <a:off x="0" y="0"/>
          <a:ext cx="0" cy="0"/>
          <a:chOff x="0" y="0"/>
          <a:chExt cx="0" cy="0"/>
        </a:xfrm>
      </p:grpSpPr>
      <p:pic>
        <p:nvPicPr>
          <p:cNvPr id="19" name="图片 18"/>
          <p:cNvPicPr>
            <a:picLocks noChangeAspect="1"/>
          </p:cNvPicPr>
          <p:nvPr userDrawn="1"/>
        </p:nvPicPr>
        <p:blipFill rotWithShape="1">
          <a:blip r:embed="rId2"/>
          <a:srcRect/>
          <a:stretch>
            <a:fillRect/>
          </a:stretch>
        </p:blipFill>
        <p:spPr>
          <a:xfrm>
            <a:off x="0" y="0"/>
            <a:ext cx="12192000" cy="6858000"/>
          </a:xfrm>
          <a:prstGeom prst="rect">
            <a:avLst/>
          </a:prstGeom>
        </p:spPr>
      </p:pic>
      <p:sp>
        <p:nvSpPr>
          <p:cNvPr id="22" name="矩形 21"/>
          <p:cNvSpPr/>
          <p:nvPr userDrawn="1"/>
        </p:nvSpPr>
        <p:spPr>
          <a:xfrm>
            <a:off x="0" y="6324600"/>
            <a:ext cx="12192000" cy="53457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58" name="矩形 157"/>
          <p:cNvSpPr/>
          <p:nvPr userDrawn="1"/>
        </p:nvSpPr>
        <p:spPr>
          <a:xfrm>
            <a:off x="0" y="0"/>
            <a:ext cx="12192000" cy="534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0" name="Freeform 193"/>
          <p:cNvSpPr>
            <a:spLocks noEditPoints="1"/>
          </p:cNvSpPr>
          <p:nvPr userDrawn="1"/>
        </p:nvSpPr>
        <p:spPr bwMode="auto">
          <a:xfrm>
            <a:off x="159611" y="104773"/>
            <a:ext cx="331456" cy="325029"/>
          </a:xfrm>
          <a:custGeom>
            <a:avLst/>
            <a:gdLst>
              <a:gd name="T0" fmla="*/ 2147483647 w 2674"/>
              <a:gd name="T1" fmla="*/ 2147483647 h 2622"/>
              <a:gd name="T2" fmla="*/ 2147483647 w 2674"/>
              <a:gd name="T3" fmla="*/ 2147483647 h 2622"/>
              <a:gd name="T4" fmla="*/ 2147483647 w 2674"/>
              <a:gd name="T5" fmla="*/ 78829103 h 2622"/>
              <a:gd name="T6" fmla="*/ 2147483647 w 2674"/>
              <a:gd name="T7" fmla="*/ 1496648305 h 2622"/>
              <a:gd name="T8" fmla="*/ 2147483647 w 2674"/>
              <a:gd name="T9" fmla="*/ 2147483647 h 2622"/>
              <a:gd name="T10" fmla="*/ 2147483647 w 2674"/>
              <a:gd name="T11" fmla="*/ 2147483647 h 2622"/>
              <a:gd name="T12" fmla="*/ 2147483647 w 2674"/>
              <a:gd name="T13" fmla="*/ 2147483647 h 2622"/>
              <a:gd name="T14" fmla="*/ 2047666070 w 2674"/>
              <a:gd name="T15" fmla="*/ 2147483647 h 2622"/>
              <a:gd name="T16" fmla="*/ 0 w 2674"/>
              <a:gd name="T17" fmla="*/ 2147483647 h 2622"/>
              <a:gd name="T18" fmla="*/ 1968846178 w 2674"/>
              <a:gd name="T19" fmla="*/ 2147483647 h 2622"/>
              <a:gd name="T20" fmla="*/ 2147483647 w 2674"/>
              <a:gd name="T21" fmla="*/ 2147483647 h 2622"/>
              <a:gd name="T22" fmla="*/ 2147483647 w 2674"/>
              <a:gd name="T23" fmla="*/ 2147483647 h 2622"/>
              <a:gd name="T24" fmla="*/ 2147483647 w 2674"/>
              <a:gd name="T25" fmla="*/ 2147483647 h 2622"/>
              <a:gd name="T26" fmla="*/ 2147483647 w 2674"/>
              <a:gd name="T27" fmla="*/ 2147483647 h 2622"/>
              <a:gd name="T28" fmla="*/ 2147483647 w 2674"/>
              <a:gd name="T29" fmla="*/ 2147483647 h 2622"/>
              <a:gd name="T30" fmla="*/ 2147483647 w 2674"/>
              <a:gd name="T31" fmla="*/ 2147483647 h 2622"/>
              <a:gd name="T32" fmla="*/ 2147483647 w 2674"/>
              <a:gd name="T33" fmla="*/ 2147483647 h 2622"/>
              <a:gd name="T34" fmla="*/ 2147483647 w 2674"/>
              <a:gd name="T35" fmla="*/ 2147483647 h 2622"/>
              <a:gd name="T36" fmla="*/ 2147483647 w 2674"/>
              <a:gd name="T37" fmla="*/ 2147483647 h 2622"/>
              <a:gd name="T38" fmla="*/ 2147483647 w 2674"/>
              <a:gd name="T39" fmla="*/ 2147483647 h 2622"/>
              <a:gd name="T40" fmla="*/ 2147483647 w 2674"/>
              <a:gd name="T41" fmla="*/ 2147483647 h 2622"/>
              <a:gd name="T42" fmla="*/ 2147483647 w 2674"/>
              <a:gd name="T43" fmla="*/ 2147483647 h 2622"/>
              <a:gd name="T44" fmla="*/ 2147483647 w 2674"/>
              <a:gd name="T45" fmla="*/ 2147483647 h 2622"/>
              <a:gd name="T46" fmla="*/ 2147483647 w 2674"/>
              <a:gd name="T47" fmla="*/ 2147483647 h 2622"/>
              <a:gd name="T48" fmla="*/ 2147483647 w 2674"/>
              <a:gd name="T49" fmla="*/ 2147483647 h 2622"/>
              <a:gd name="T50" fmla="*/ 2147483647 w 2674"/>
              <a:gd name="T51" fmla="*/ 2147483647 h 2622"/>
              <a:gd name="T52" fmla="*/ 2147483647 w 2674"/>
              <a:gd name="T53" fmla="*/ 78829103 h 2622"/>
              <a:gd name="T54" fmla="*/ 2147483647 w 2674"/>
              <a:gd name="T55" fmla="*/ 1654122187 h 2622"/>
              <a:gd name="T56" fmla="*/ 2147483647 w 2674"/>
              <a:gd name="T57" fmla="*/ 2147483647 h 2622"/>
              <a:gd name="T58" fmla="*/ 2147483647 w 2674"/>
              <a:gd name="T59" fmla="*/ 2147483647 h 2622"/>
              <a:gd name="T60" fmla="*/ 2147483647 w 2674"/>
              <a:gd name="T61" fmla="*/ 2147483647 h 2622"/>
              <a:gd name="T62" fmla="*/ 2147483647 w 2674"/>
              <a:gd name="T63" fmla="*/ 2147483647 h 2622"/>
              <a:gd name="T64" fmla="*/ 2147483647 w 2674"/>
              <a:gd name="T65" fmla="*/ 2147483647 h 2622"/>
              <a:gd name="T66" fmla="*/ 2147483647 w 2674"/>
              <a:gd name="T67" fmla="*/ 2147483647 h 2622"/>
              <a:gd name="T68" fmla="*/ 2147483647 w 2674"/>
              <a:gd name="T69" fmla="*/ 2147483647 h 2622"/>
              <a:gd name="T70" fmla="*/ 2147483647 w 2674"/>
              <a:gd name="T71" fmla="*/ 2147483647 h 2622"/>
              <a:gd name="T72" fmla="*/ 2147483647 w 2674"/>
              <a:gd name="T73" fmla="*/ 2147483647 h 2622"/>
              <a:gd name="T74" fmla="*/ 2147483647 w 2674"/>
              <a:gd name="T75" fmla="*/ 2147483647 h 2622"/>
              <a:gd name="T76" fmla="*/ 2147483647 w 2674"/>
              <a:gd name="T77" fmla="*/ 2147483647 h 2622"/>
              <a:gd name="T78" fmla="*/ 2147483647 w 2674"/>
              <a:gd name="T79" fmla="*/ 2147483647 h 2622"/>
              <a:gd name="T80" fmla="*/ 2147483647 w 2674"/>
              <a:gd name="T81" fmla="*/ 2147483647 h 2622"/>
              <a:gd name="T82" fmla="*/ 2147483647 w 2674"/>
              <a:gd name="T83" fmla="*/ 2147483647 h 2622"/>
              <a:gd name="T84" fmla="*/ 2147483647 w 2674"/>
              <a:gd name="T85" fmla="*/ 2147483647 h 2622"/>
              <a:gd name="T86" fmla="*/ 2147483647 w 2674"/>
              <a:gd name="T87" fmla="*/ 2147483647 h 2622"/>
              <a:gd name="T88" fmla="*/ 2147483647 w 2674"/>
              <a:gd name="T89" fmla="*/ 2147483647 h 2622"/>
              <a:gd name="T90" fmla="*/ 2147483647 w 2674"/>
              <a:gd name="T91" fmla="*/ 2147483647 h 2622"/>
              <a:gd name="T92" fmla="*/ 2147483647 w 2674"/>
              <a:gd name="T93" fmla="*/ 2147483647 h 2622"/>
              <a:gd name="T94" fmla="*/ 2147483647 w 2674"/>
              <a:gd name="T95" fmla="*/ 2147483647 h 2622"/>
              <a:gd name="T96" fmla="*/ 2147483647 w 2674"/>
              <a:gd name="T97" fmla="*/ 2147483647 h 2622"/>
              <a:gd name="T98" fmla="*/ 2147483647 w 2674"/>
              <a:gd name="T99" fmla="*/ 2147483647 h 2622"/>
              <a:gd name="T100" fmla="*/ 2147483647 w 2674"/>
              <a:gd name="T101" fmla="*/ 2147483647 h 2622"/>
              <a:gd name="T102" fmla="*/ 2147483647 w 2674"/>
              <a:gd name="T103" fmla="*/ 2147483647 h 2622"/>
              <a:gd name="T104" fmla="*/ 2147483647 w 2674"/>
              <a:gd name="T105" fmla="*/ 2147483647 h 2622"/>
              <a:gd name="T106" fmla="*/ 2147483647 w 2674"/>
              <a:gd name="T107" fmla="*/ 2147483647 h 2622"/>
              <a:gd name="T108" fmla="*/ 2147483647 w 2674"/>
              <a:gd name="T109" fmla="*/ 2147483647 h 2622"/>
              <a:gd name="T110" fmla="*/ 2147483647 w 2674"/>
              <a:gd name="T111" fmla="*/ 2147483647 h 2622"/>
              <a:gd name="T112" fmla="*/ 2147483647 w 2674"/>
              <a:gd name="T113" fmla="*/ 2147483647 h 2622"/>
              <a:gd name="T114" fmla="*/ 2147483647 w 2674"/>
              <a:gd name="T115" fmla="*/ 2147483647 h 2622"/>
              <a:gd name="T116" fmla="*/ 2147483647 w 2674"/>
              <a:gd name="T117" fmla="*/ 2147483647 h 262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674" h="2622">
                <a:moveTo>
                  <a:pt x="1337" y="361"/>
                </a:moveTo>
                <a:lnTo>
                  <a:pt x="1337" y="361"/>
                </a:lnTo>
                <a:lnTo>
                  <a:pt x="1297" y="318"/>
                </a:lnTo>
                <a:lnTo>
                  <a:pt x="1258" y="279"/>
                </a:lnTo>
                <a:lnTo>
                  <a:pt x="1219" y="242"/>
                </a:lnTo>
                <a:lnTo>
                  <a:pt x="1180" y="209"/>
                </a:lnTo>
                <a:lnTo>
                  <a:pt x="1141" y="178"/>
                </a:lnTo>
                <a:lnTo>
                  <a:pt x="1103" y="149"/>
                </a:lnTo>
                <a:lnTo>
                  <a:pt x="1064" y="124"/>
                </a:lnTo>
                <a:lnTo>
                  <a:pt x="1026" y="100"/>
                </a:lnTo>
                <a:lnTo>
                  <a:pt x="989" y="79"/>
                </a:lnTo>
                <a:lnTo>
                  <a:pt x="951" y="61"/>
                </a:lnTo>
                <a:lnTo>
                  <a:pt x="913" y="46"/>
                </a:lnTo>
                <a:lnTo>
                  <a:pt x="877" y="32"/>
                </a:lnTo>
                <a:lnTo>
                  <a:pt x="840" y="21"/>
                </a:lnTo>
                <a:lnTo>
                  <a:pt x="805" y="13"/>
                </a:lnTo>
                <a:lnTo>
                  <a:pt x="769" y="6"/>
                </a:lnTo>
                <a:lnTo>
                  <a:pt x="734" y="1"/>
                </a:lnTo>
                <a:lnTo>
                  <a:pt x="699" y="0"/>
                </a:lnTo>
                <a:lnTo>
                  <a:pt x="665" y="0"/>
                </a:lnTo>
                <a:lnTo>
                  <a:pt x="631" y="1"/>
                </a:lnTo>
                <a:lnTo>
                  <a:pt x="598" y="6"/>
                </a:lnTo>
                <a:lnTo>
                  <a:pt x="566" y="11"/>
                </a:lnTo>
                <a:lnTo>
                  <a:pt x="534" y="19"/>
                </a:lnTo>
                <a:lnTo>
                  <a:pt x="503" y="29"/>
                </a:lnTo>
                <a:lnTo>
                  <a:pt x="473" y="40"/>
                </a:lnTo>
                <a:lnTo>
                  <a:pt x="444" y="53"/>
                </a:lnTo>
                <a:lnTo>
                  <a:pt x="414" y="67"/>
                </a:lnTo>
                <a:lnTo>
                  <a:pt x="385" y="83"/>
                </a:lnTo>
                <a:lnTo>
                  <a:pt x="359" y="101"/>
                </a:lnTo>
                <a:lnTo>
                  <a:pt x="332" y="120"/>
                </a:lnTo>
                <a:lnTo>
                  <a:pt x="306" y="140"/>
                </a:lnTo>
                <a:lnTo>
                  <a:pt x="281" y="163"/>
                </a:lnTo>
                <a:lnTo>
                  <a:pt x="257" y="186"/>
                </a:lnTo>
                <a:lnTo>
                  <a:pt x="234" y="210"/>
                </a:lnTo>
                <a:lnTo>
                  <a:pt x="211" y="236"/>
                </a:lnTo>
                <a:lnTo>
                  <a:pt x="190" y="263"/>
                </a:lnTo>
                <a:lnTo>
                  <a:pt x="170" y="291"/>
                </a:lnTo>
                <a:lnTo>
                  <a:pt x="150" y="320"/>
                </a:lnTo>
                <a:lnTo>
                  <a:pt x="132" y="350"/>
                </a:lnTo>
                <a:lnTo>
                  <a:pt x="115" y="381"/>
                </a:lnTo>
                <a:lnTo>
                  <a:pt x="99" y="413"/>
                </a:lnTo>
                <a:lnTo>
                  <a:pt x="83" y="445"/>
                </a:lnTo>
                <a:lnTo>
                  <a:pt x="70" y="478"/>
                </a:lnTo>
                <a:lnTo>
                  <a:pt x="57" y="513"/>
                </a:lnTo>
                <a:lnTo>
                  <a:pt x="46" y="546"/>
                </a:lnTo>
                <a:lnTo>
                  <a:pt x="36" y="583"/>
                </a:lnTo>
                <a:lnTo>
                  <a:pt x="26" y="619"/>
                </a:lnTo>
                <a:lnTo>
                  <a:pt x="19" y="655"/>
                </a:lnTo>
                <a:lnTo>
                  <a:pt x="13" y="691"/>
                </a:lnTo>
                <a:lnTo>
                  <a:pt x="7" y="728"/>
                </a:lnTo>
                <a:lnTo>
                  <a:pt x="4" y="766"/>
                </a:lnTo>
                <a:lnTo>
                  <a:pt x="1" y="804"/>
                </a:lnTo>
                <a:lnTo>
                  <a:pt x="0" y="842"/>
                </a:lnTo>
                <a:lnTo>
                  <a:pt x="1" y="880"/>
                </a:lnTo>
                <a:lnTo>
                  <a:pt x="3" y="919"/>
                </a:lnTo>
                <a:lnTo>
                  <a:pt x="6" y="956"/>
                </a:lnTo>
                <a:lnTo>
                  <a:pt x="11" y="995"/>
                </a:lnTo>
                <a:lnTo>
                  <a:pt x="18" y="1034"/>
                </a:lnTo>
                <a:lnTo>
                  <a:pt x="25" y="1072"/>
                </a:lnTo>
                <a:lnTo>
                  <a:pt x="35" y="1109"/>
                </a:lnTo>
                <a:lnTo>
                  <a:pt x="46" y="1148"/>
                </a:lnTo>
                <a:lnTo>
                  <a:pt x="58" y="1186"/>
                </a:lnTo>
                <a:lnTo>
                  <a:pt x="74" y="1223"/>
                </a:lnTo>
                <a:lnTo>
                  <a:pt x="90" y="1260"/>
                </a:lnTo>
                <a:lnTo>
                  <a:pt x="107" y="1297"/>
                </a:lnTo>
                <a:lnTo>
                  <a:pt x="139" y="1354"/>
                </a:lnTo>
                <a:lnTo>
                  <a:pt x="172" y="1411"/>
                </a:lnTo>
                <a:lnTo>
                  <a:pt x="209" y="1468"/>
                </a:lnTo>
                <a:lnTo>
                  <a:pt x="247" y="1525"/>
                </a:lnTo>
                <a:lnTo>
                  <a:pt x="288" y="1582"/>
                </a:lnTo>
                <a:lnTo>
                  <a:pt x="331" y="1639"/>
                </a:lnTo>
                <a:lnTo>
                  <a:pt x="374" y="1696"/>
                </a:lnTo>
                <a:lnTo>
                  <a:pt x="420" y="1752"/>
                </a:lnTo>
                <a:lnTo>
                  <a:pt x="467" y="1806"/>
                </a:lnTo>
                <a:lnTo>
                  <a:pt x="514" y="1860"/>
                </a:lnTo>
                <a:lnTo>
                  <a:pt x="563" y="1914"/>
                </a:lnTo>
                <a:lnTo>
                  <a:pt x="612" y="1966"/>
                </a:lnTo>
                <a:lnTo>
                  <a:pt x="662" y="2017"/>
                </a:lnTo>
                <a:lnTo>
                  <a:pt x="710" y="2067"/>
                </a:lnTo>
                <a:lnTo>
                  <a:pt x="808" y="2163"/>
                </a:lnTo>
                <a:lnTo>
                  <a:pt x="902" y="2252"/>
                </a:lnTo>
                <a:lnTo>
                  <a:pt x="993" y="2334"/>
                </a:lnTo>
                <a:lnTo>
                  <a:pt x="1077" y="2408"/>
                </a:lnTo>
                <a:lnTo>
                  <a:pt x="1153" y="2473"/>
                </a:lnTo>
                <a:lnTo>
                  <a:pt x="1218" y="2527"/>
                </a:lnTo>
                <a:lnTo>
                  <a:pt x="1272" y="2571"/>
                </a:lnTo>
                <a:lnTo>
                  <a:pt x="1336" y="2622"/>
                </a:lnTo>
                <a:lnTo>
                  <a:pt x="1337" y="2622"/>
                </a:lnTo>
                <a:lnTo>
                  <a:pt x="1401" y="2571"/>
                </a:lnTo>
                <a:lnTo>
                  <a:pt x="1456" y="2527"/>
                </a:lnTo>
                <a:lnTo>
                  <a:pt x="1521" y="2473"/>
                </a:lnTo>
                <a:lnTo>
                  <a:pt x="1597" y="2408"/>
                </a:lnTo>
                <a:lnTo>
                  <a:pt x="1681" y="2334"/>
                </a:lnTo>
                <a:lnTo>
                  <a:pt x="1771" y="2252"/>
                </a:lnTo>
                <a:lnTo>
                  <a:pt x="1866" y="2163"/>
                </a:lnTo>
                <a:lnTo>
                  <a:pt x="1963" y="2067"/>
                </a:lnTo>
                <a:lnTo>
                  <a:pt x="2013" y="2017"/>
                </a:lnTo>
                <a:lnTo>
                  <a:pt x="2062" y="1966"/>
                </a:lnTo>
                <a:lnTo>
                  <a:pt x="2110" y="1914"/>
                </a:lnTo>
                <a:lnTo>
                  <a:pt x="2159" y="1860"/>
                </a:lnTo>
                <a:lnTo>
                  <a:pt x="2206" y="1806"/>
                </a:lnTo>
                <a:lnTo>
                  <a:pt x="2254" y="1752"/>
                </a:lnTo>
                <a:lnTo>
                  <a:pt x="2300" y="1696"/>
                </a:lnTo>
                <a:lnTo>
                  <a:pt x="2344" y="1639"/>
                </a:lnTo>
                <a:lnTo>
                  <a:pt x="2386" y="1582"/>
                </a:lnTo>
                <a:lnTo>
                  <a:pt x="2427" y="1525"/>
                </a:lnTo>
                <a:lnTo>
                  <a:pt x="2465" y="1468"/>
                </a:lnTo>
                <a:lnTo>
                  <a:pt x="2501" y="1411"/>
                </a:lnTo>
                <a:lnTo>
                  <a:pt x="2536" y="1354"/>
                </a:lnTo>
                <a:lnTo>
                  <a:pt x="2566" y="1297"/>
                </a:lnTo>
                <a:lnTo>
                  <a:pt x="2585" y="1260"/>
                </a:lnTo>
                <a:lnTo>
                  <a:pt x="2600" y="1223"/>
                </a:lnTo>
                <a:lnTo>
                  <a:pt x="2615" y="1186"/>
                </a:lnTo>
                <a:lnTo>
                  <a:pt x="2628" y="1148"/>
                </a:lnTo>
                <a:lnTo>
                  <a:pt x="2639" y="1109"/>
                </a:lnTo>
                <a:lnTo>
                  <a:pt x="2649" y="1072"/>
                </a:lnTo>
                <a:lnTo>
                  <a:pt x="2657" y="1034"/>
                </a:lnTo>
                <a:lnTo>
                  <a:pt x="2662" y="995"/>
                </a:lnTo>
                <a:lnTo>
                  <a:pt x="2668" y="956"/>
                </a:lnTo>
                <a:lnTo>
                  <a:pt x="2671" y="919"/>
                </a:lnTo>
                <a:lnTo>
                  <a:pt x="2674" y="880"/>
                </a:lnTo>
                <a:lnTo>
                  <a:pt x="2674" y="842"/>
                </a:lnTo>
                <a:lnTo>
                  <a:pt x="2672" y="804"/>
                </a:lnTo>
                <a:lnTo>
                  <a:pt x="2671" y="766"/>
                </a:lnTo>
                <a:lnTo>
                  <a:pt x="2667" y="728"/>
                </a:lnTo>
                <a:lnTo>
                  <a:pt x="2661" y="691"/>
                </a:lnTo>
                <a:lnTo>
                  <a:pt x="2655" y="655"/>
                </a:lnTo>
                <a:lnTo>
                  <a:pt x="2647" y="619"/>
                </a:lnTo>
                <a:lnTo>
                  <a:pt x="2639" y="583"/>
                </a:lnTo>
                <a:lnTo>
                  <a:pt x="2628" y="546"/>
                </a:lnTo>
                <a:lnTo>
                  <a:pt x="2617" y="513"/>
                </a:lnTo>
                <a:lnTo>
                  <a:pt x="2604" y="478"/>
                </a:lnTo>
                <a:lnTo>
                  <a:pt x="2590" y="445"/>
                </a:lnTo>
                <a:lnTo>
                  <a:pt x="2575" y="413"/>
                </a:lnTo>
                <a:lnTo>
                  <a:pt x="2560" y="381"/>
                </a:lnTo>
                <a:lnTo>
                  <a:pt x="2541" y="350"/>
                </a:lnTo>
                <a:lnTo>
                  <a:pt x="2523" y="320"/>
                </a:lnTo>
                <a:lnTo>
                  <a:pt x="2504" y="291"/>
                </a:lnTo>
                <a:lnTo>
                  <a:pt x="2484" y="263"/>
                </a:lnTo>
                <a:lnTo>
                  <a:pt x="2462" y="236"/>
                </a:lnTo>
                <a:lnTo>
                  <a:pt x="2440" y="210"/>
                </a:lnTo>
                <a:lnTo>
                  <a:pt x="2418" y="186"/>
                </a:lnTo>
                <a:lnTo>
                  <a:pt x="2393" y="163"/>
                </a:lnTo>
                <a:lnTo>
                  <a:pt x="2368" y="140"/>
                </a:lnTo>
                <a:lnTo>
                  <a:pt x="2343" y="120"/>
                </a:lnTo>
                <a:lnTo>
                  <a:pt x="2316" y="101"/>
                </a:lnTo>
                <a:lnTo>
                  <a:pt x="2288" y="83"/>
                </a:lnTo>
                <a:lnTo>
                  <a:pt x="2261" y="67"/>
                </a:lnTo>
                <a:lnTo>
                  <a:pt x="2231" y="53"/>
                </a:lnTo>
                <a:lnTo>
                  <a:pt x="2201" y="40"/>
                </a:lnTo>
                <a:lnTo>
                  <a:pt x="2170" y="29"/>
                </a:lnTo>
                <a:lnTo>
                  <a:pt x="2140" y="19"/>
                </a:lnTo>
                <a:lnTo>
                  <a:pt x="2108" y="11"/>
                </a:lnTo>
                <a:lnTo>
                  <a:pt x="2076" y="6"/>
                </a:lnTo>
                <a:lnTo>
                  <a:pt x="2042" y="1"/>
                </a:lnTo>
                <a:lnTo>
                  <a:pt x="2009" y="0"/>
                </a:lnTo>
                <a:lnTo>
                  <a:pt x="1976" y="0"/>
                </a:lnTo>
                <a:lnTo>
                  <a:pt x="1941" y="1"/>
                </a:lnTo>
                <a:lnTo>
                  <a:pt x="1905" y="6"/>
                </a:lnTo>
                <a:lnTo>
                  <a:pt x="1870" y="13"/>
                </a:lnTo>
                <a:lnTo>
                  <a:pt x="1834" y="21"/>
                </a:lnTo>
                <a:lnTo>
                  <a:pt x="1798" y="32"/>
                </a:lnTo>
                <a:lnTo>
                  <a:pt x="1760" y="46"/>
                </a:lnTo>
                <a:lnTo>
                  <a:pt x="1723" y="61"/>
                </a:lnTo>
                <a:lnTo>
                  <a:pt x="1685" y="79"/>
                </a:lnTo>
                <a:lnTo>
                  <a:pt x="1648" y="100"/>
                </a:lnTo>
                <a:lnTo>
                  <a:pt x="1610" y="124"/>
                </a:lnTo>
                <a:lnTo>
                  <a:pt x="1571" y="149"/>
                </a:lnTo>
                <a:lnTo>
                  <a:pt x="1532" y="178"/>
                </a:lnTo>
                <a:lnTo>
                  <a:pt x="1495" y="209"/>
                </a:lnTo>
                <a:lnTo>
                  <a:pt x="1454" y="242"/>
                </a:lnTo>
                <a:lnTo>
                  <a:pt x="1415" y="279"/>
                </a:lnTo>
                <a:lnTo>
                  <a:pt x="1376" y="318"/>
                </a:lnTo>
                <a:lnTo>
                  <a:pt x="1337" y="361"/>
                </a:lnTo>
                <a:close/>
                <a:moveTo>
                  <a:pt x="2311" y="1349"/>
                </a:moveTo>
                <a:lnTo>
                  <a:pt x="2311" y="1349"/>
                </a:lnTo>
                <a:lnTo>
                  <a:pt x="2297" y="1349"/>
                </a:lnTo>
                <a:lnTo>
                  <a:pt x="2284" y="1347"/>
                </a:lnTo>
                <a:lnTo>
                  <a:pt x="2272" y="1344"/>
                </a:lnTo>
                <a:lnTo>
                  <a:pt x="2259" y="1342"/>
                </a:lnTo>
                <a:lnTo>
                  <a:pt x="2247" y="1337"/>
                </a:lnTo>
                <a:lnTo>
                  <a:pt x="2236" y="1332"/>
                </a:lnTo>
                <a:lnTo>
                  <a:pt x="2224" y="1326"/>
                </a:lnTo>
                <a:lnTo>
                  <a:pt x="2213" y="1319"/>
                </a:lnTo>
                <a:lnTo>
                  <a:pt x="2204" y="1312"/>
                </a:lnTo>
                <a:lnTo>
                  <a:pt x="2192" y="1304"/>
                </a:lnTo>
                <a:lnTo>
                  <a:pt x="2184" y="1296"/>
                </a:lnTo>
                <a:lnTo>
                  <a:pt x="2176" y="1286"/>
                </a:lnTo>
                <a:lnTo>
                  <a:pt x="2167" y="1276"/>
                </a:lnTo>
                <a:lnTo>
                  <a:pt x="2159" y="1265"/>
                </a:lnTo>
                <a:lnTo>
                  <a:pt x="2152" y="1254"/>
                </a:lnTo>
                <a:lnTo>
                  <a:pt x="2147" y="1243"/>
                </a:lnTo>
                <a:lnTo>
                  <a:pt x="1521" y="1243"/>
                </a:lnTo>
                <a:lnTo>
                  <a:pt x="1510" y="1241"/>
                </a:lnTo>
                <a:lnTo>
                  <a:pt x="1500" y="1239"/>
                </a:lnTo>
                <a:lnTo>
                  <a:pt x="1492" y="1235"/>
                </a:lnTo>
                <a:lnTo>
                  <a:pt x="1483" y="1229"/>
                </a:lnTo>
                <a:lnTo>
                  <a:pt x="1476" y="1222"/>
                </a:lnTo>
                <a:lnTo>
                  <a:pt x="1470" y="1215"/>
                </a:lnTo>
                <a:lnTo>
                  <a:pt x="1464" y="1205"/>
                </a:lnTo>
                <a:lnTo>
                  <a:pt x="1461" y="1196"/>
                </a:lnTo>
                <a:lnTo>
                  <a:pt x="1404" y="983"/>
                </a:lnTo>
                <a:lnTo>
                  <a:pt x="1221" y="1951"/>
                </a:lnTo>
                <a:lnTo>
                  <a:pt x="1218" y="1962"/>
                </a:lnTo>
                <a:lnTo>
                  <a:pt x="1214" y="1973"/>
                </a:lnTo>
                <a:lnTo>
                  <a:pt x="1207" y="1981"/>
                </a:lnTo>
                <a:lnTo>
                  <a:pt x="1200" y="1989"/>
                </a:lnTo>
                <a:lnTo>
                  <a:pt x="1190" y="1995"/>
                </a:lnTo>
                <a:lnTo>
                  <a:pt x="1180" y="1999"/>
                </a:lnTo>
                <a:lnTo>
                  <a:pt x="1171" y="2002"/>
                </a:lnTo>
                <a:lnTo>
                  <a:pt x="1160" y="2003"/>
                </a:lnTo>
                <a:lnTo>
                  <a:pt x="1148" y="2002"/>
                </a:lnTo>
                <a:lnTo>
                  <a:pt x="1139" y="1999"/>
                </a:lnTo>
                <a:lnTo>
                  <a:pt x="1129" y="1994"/>
                </a:lnTo>
                <a:lnTo>
                  <a:pt x="1121" y="1988"/>
                </a:lnTo>
                <a:lnTo>
                  <a:pt x="1114" y="1980"/>
                </a:lnTo>
                <a:lnTo>
                  <a:pt x="1107" y="1970"/>
                </a:lnTo>
                <a:lnTo>
                  <a:pt x="1103" y="1960"/>
                </a:lnTo>
                <a:lnTo>
                  <a:pt x="1100" y="1949"/>
                </a:lnTo>
                <a:lnTo>
                  <a:pt x="905" y="726"/>
                </a:lnTo>
                <a:lnTo>
                  <a:pt x="815" y="1158"/>
                </a:lnTo>
                <a:lnTo>
                  <a:pt x="812" y="1169"/>
                </a:lnTo>
                <a:lnTo>
                  <a:pt x="808" y="1179"/>
                </a:lnTo>
                <a:lnTo>
                  <a:pt x="801" y="1187"/>
                </a:lnTo>
                <a:lnTo>
                  <a:pt x="794" y="1196"/>
                </a:lnTo>
                <a:lnTo>
                  <a:pt x="786" y="1201"/>
                </a:lnTo>
                <a:lnTo>
                  <a:pt x="776" y="1205"/>
                </a:lnTo>
                <a:lnTo>
                  <a:pt x="766" y="1208"/>
                </a:lnTo>
                <a:lnTo>
                  <a:pt x="755" y="1210"/>
                </a:lnTo>
                <a:lnTo>
                  <a:pt x="349" y="1210"/>
                </a:lnTo>
                <a:lnTo>
                  <a:pt x="336" y="1208"/>
                </a:lnTo>
                <a:lnTo>
                  <a:pt x="324" y="1204"/>
                </a:lnTo>
                <a:lnTo>
                  <a:pt x="314" y="1198"/>
                </a:lnTo>
                <a:lnTo>
                  <a:pt x="304" y="1190"/>
                </a:lnTo>
                <a:lnTo>
                  <a:pt x="298" y="1180"/>
                </a:lnTo>
                <a:lnTo>
                  <a:pt x="292" y="1169"/>
                </a:lnTo>
                <a:lnTo>
                  <a:pt x="288" y="1157"/>
                </a:lnTo>
                <a:lnTo>
                  <a:pt x="286" y="1144"/>
                </a:lnTo>
                <a:lnTo>
                  <a:pt x="288" y="1130"/>
                </a:lnTo>
                <a:lnTo>
                  <a:pt x="292" y="1118"/>
                </a:lnTo>
                <a:lnTo>
                  <a:pt x="298" y="1107"/>
                </a:lnTo>
                <a:lnTo>
                  <a:pt x="304" y="1097"/>
                </a:lnTo>
                <a:lnTo>
                  <a:pt x="314" y="1090"/>
                </a:lnTo>
                <a:lnTo>
                  <a:pt x="324" y="1083"/>
                </a:lnTo>
                <a:lnTo>
                  <a:pt x="336" y="1080"/>
                </a:lnTo>
                <a:lnTo>
                  <a:pt x="349" y="1079"/>
                </a:lnTo>
                <a:lnTo>
                  <a:pt x="705" y="1079"/>
                </a:lnTo>
                <a:lnTo>
                  <a:pt x="852" y="368"/>
                </a:lnTo>
                <a:lnTo>
                  <a:pt x="855" y="357"/>
                </a:lnTo>
                <a:lnTo>
                  <a:pt x="861" y="348"/>
                </a:lnTo>
                <a:lnTo>
                  <a:pt x="868" y="338"/>
                </a:lnTo>
                <a:lnTo>
                  <a:pt x="874" y="331"/>
                </a:lnTo>
                <a:lnTo>
                  <a:pt x="883" y="324"/>
                </a:lnTo>
                <a:lnTo>
                  <a:pt x="893" y="320"/>
                </a:lnTo>
                <a:lnTo>
                  <a:pt x="904" y="317"/>
                </a:lnTo>
                <a:lnTo>
                  <a:pt x="913" y="317"/>
                </a:lnTo>
                <a:lnTo>
                  <a:pt x="925" y="318"/>
                </a:lnTo>
                <a:lnTo>
                  <a:pt x="936" y="321"/>
                </a:lnTo>
                <a:lnTo>
                  <a:pt x="944" y="327"/>
                </a:lnTo>
                <a:lnTo>
                  <a:pt x="952" y="332"/>
                </a:lnTo>
                <a:lnTo>
                  <a:pt x="961" y="341"/>
                </a:lnTo>
                <a:lnTo>
                  <a:pt x="966" y="350"/>
                </a:lnTo>
                <a:lnTo>
                  <a:pt x="970" y="360"/>
                </a:lnTo>
                <a:lnTo>
                  <a:pt x="973" y="371"/>
                </a:lnTo>
                <a:lnTo>
                  <a:pt x="1166" y="1578"/>
                </a:lnTo>
                <a:lnTo>
                  <a:pt x="1333" y="691"/>
                </a:lnTo>
                <a:lnTo>
                  <a:pt x="1336" y="681"/>
                </a:lnTo>
                <a:lnTo>
                  <a:pt x="1340" y="671"/>
                </a:lnTo>
                <a:lnTo>
                  <a:pt x="1346" y="662"/>
                </a:lnTo>
                <a:lnTo>
                  <a:pt x="1353" y="655"/>
                </a:lnTo>
                <a:lnTo>
                  <a:pt x="1361" y="648"/>
                </a:lnTo>
                <a:lnTo>
                  <a:pt x="1371" y="644"/>
                </a:lnTo>
                <a:lnTo>
                  <a:pt x="1381" y="641"/>
                </a:lnTo>
                <a:lnTo>
                  <a:pt x="1390" y="640"/>
                </a:lnTo>
                <a:lnTo>
                  <a:pt x="1401" y="640"/>
                </a:lnTo>
                <a:lnTo>
                  <a:pt x="1411" y="642"/>
                </a:lnTo>
                <a:lnTo>
                  <a:pt x="1421" y="646"/>
                </a:lnTo>
                <a:lnTo>
                  <a:pt x="1429" y="652"/>
                </a:lnTo>
                <a:lnTo>
                  <a:pt x="1438" y="659"/>
                </a:lnTo>
                <a:lnTo>
                  <a:pt x="1443" y="667"/>
                </a:lnTo>
                <a:lnTo>
                  <a:pt x="1449" y="676"/>
                </a:lnTo>
                <a:lnTo>
                  <a:pt x="1453" y="687"/>
                </a:lnTo>
                <a:lnTo>
                  <a:pt x="1567" y="1112"/>
                </a:lnTo>
                <a:lnTo>
                  <a:pt x="2129" y="1112"/>
                </a:lnTo>
                <a:lnTo>
                  <a:pt x="2133" y="1096"/>
                </a:lnTo>
                <a:lnTo>
                  <a:pt x="2138" y="1080"/>
                </a:lnTo>
                <a:lnTo>
                  <a:pt x="2144" y="1065"/>
                </a:lnTo>
                <a:lnTo>
                  <a:pt x="2152" y="1050"/>
                </a:lnTo>
                <a:lnTo>
                  <a:pt x="2161" y="1037"/>
                </a:lnTo>
                <a:lnTo>
                  <a:pt x="2170" y="1023"/>
                </a:lnTo>
                <a:lnTo>
                  <a:pt x="2181" y="1012"/>
                </a:lnTo>
                <a:lnTo>
                  <a:pt x="2192" y="1001"/>
                </a:lnTo>
                <a:lnTo>
                  <a:pt x="2205" y="991"/>
                </a:lnTo>
                <a:lnTo>
                  <a:pt x="2218" y="982"/>
                </a:lnTo>
                <a:lnTo>
                  <a:pt x="2231" y="975"/>
                </a:lnTo>
                <a:lnTo>
                  <a:pt x="2247" y="968"/>
                </a:lnTo>
                <a:lnTo>
                  <a:pt x="2262" y="963"/>
                </a:lnTo>
                <a:lnTo>
                  <a:pt x="2277" y="959"/>
                </a:lnTo>
                <a:lnTo>
                  <a:pt x="2294" y="956"/>
                </a:lnTo>
                <a:lnTo>
                  <a:pt x="2311" y="956"/>
                </a:lnTo>
                <a:lnTo>
                  <a:pt x="2329" y="956"/>
                </a:lnTo>
                <a:lnTo>
                  <a:pt x="2348" y="961"/>
                </a:lnTo>
                <a:lnTo>
                  <a:pt x="2365" y="965"/>
                </a:lnTo>
                <a:lnTo>
                  <a:pt x="2383" y="972"/>
                </a:lnTo>
                <a:lnTo>
                  <a:pt x="2398" y="980"/>
                </a:lnTo>
                <a:lnTo>
                  <a:pt x="2414" y="990"/>
                </a:lnTo>
                <a:lnTo>
                  <a:pt x="2429" y="1001"/>
                </a:lnTo>
                <a:lnTo>
                  <a:pt x="2441" y="1013"/>
                </a:lnTo>
                <a:lnTo>
                  <a:pt x="2454" y="1027"/>
                </a:lnTo>
                <a:lnTo>
                  <a:pt x="2465" y="1043"/>
                </a:lnTo>
                <a:lnTo>
                  <a:pt x="2473" y="1059"/>
                </a:lnTo>
                <a:lnTo>
                  <a:pt x="2482" y="1076"/>
                </a:lnTo>
                <a:lnTo>
                  <a:pt x="2487" y="1094"/>
                </a:lnTo>
                <a:lnTo>
                  <a:pt x="2493" y="1114"/>
                </a:lnTo>
                <a:lnTo>
                  <a:pt x="2496" y="1133"/>
                </a:lnTo>
                <a:lnTo>
                  <a:pt x="2496" y="1153"/>
                </a:lnTo>
                <a:lnTo>
                  <a:pt x="2496" y="1173"/>
                </a:lnTo>
                <a:lnTo>
                  <a:pt x="2493" y="1193"/>
                </a:lnTo>
                <a:lnTo>
                  <a:pt x="2487" y="1211"/>
                </a:lnTo>
                <a:lnTo>
                  <a:pt x="2482" y="1229"/>
                </a:lnTo>
                <a:lnTo>
                  <a:pt x="2473" y="1246"/>
                </a:lnTo>
                <a:lnTo>
                  <a:pt x="2464" y="1262"/>
                </a:lnTo>
                <a:lnTo>
                  <a:pt x="2454" y="1278"/>
                </a:lnTo>
                <a:lnTo>
                  <a:pt x="2441" y="1292"/>
                </a:lnTo>
                <a:lnTo>
                  <a:pt x="2429" y="1304"/>
                </a:lnTo>
                <a:lnTo>
                  <a:pt x="2414" y="1315"/>
                </a:lnTo>
                <a:lnTo>
                  <a:pt x="2398" y="1325"/>
                </a:lnTo>
                <a:lnTo>
                  <a:pt x="2383" y="1333"/>
                </a:lnTo>
                <a:lnTo>
                  <a:pt x="2365" y="1340"/>
                </a:lnTo>
                <a:lnTo>
                  <a:pt x="2348" y="1344"/>
                </a:lnTo>
                <a:lnTo>
                  <a:pt x="2329" y="1349"/>
                </a:lnTo>
                <a:lnTo>
                  <a:pt x="2311" y="1349"/>
                </a:lnTo>
                <a:close/>
              </a:path>
            </a:pathLst>
          </a:custGeom>
          <a:solidFill>
            <a:srgbClr val="00B0F0"/>
          </a:solidFill>
          <a:ln>
            <a:noFill/>
          </a:ln>
        </p:spPr>
        <p:txBody>
          <a:bodyPr/>
          <a:lstStyle/>
          <a:p>
            <a:pPr defTabSz="514350"/>
            <a:endParaRPr lang="zh-CN" altLang="en-US" sz="1013">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pic>
        <p:nvPicPr>
          <p:cNvPr id="7" name="图片 6"/>
          <p:cNvPicPr>
            <a:picLocks noChangeAspect="1"/>
          </p:cNvPicPr>
          <p:nvPr userDrawn="1"/>
        </p:nvPicPr>
        <p:blipFill>
          <a:blip r:embed="rId3"/>
          <a:stretch>
            <a:fillRect/>
          </a:stretch>
        </p:blipFill>
        <p:spPr>
          <a:xfrm>
            <a:off x="9686750" y="5393267"/>
            <a:ext cx="3243103" cy="2294466"/>
          </a:xfrm>
          <a:prstGeom prst="rect">
            <a:avLst/>
          </a:prstGeom>
        </p:spPr>
      </p:pic>
    </p:spTree>
    <p:extLst>
      <p:ext uri="{BB962C8B-B14F-4D97-AF65-F5344CB8AC3E}">
        <p14:creationId xmlns:p14="http://schemas.microsoft.com/office/powerpoint/2010/main" val="968187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42" name="Rectangle 2">
            <a:extLst>
              <a:ext uri="{FF2B5EF4-FFF2-40B4-BE49-F238E27FC236}">
                <a16:creationId xmlns:a16="http://schemas.microsoft.com/office/drawing/2014/main" id="{E0E0FBF2-17AC-4FFF-9661-A4E927EEFB61}"/>
              </a:ext>
            </a:extLst>
          </p:cNvPr>
          <p:cNvSpPr>
            <a:spLocks noChangeArrowheads="1"/>
          </p:cNvSpPr>
          <p:nvPr/>
        </p:nvSpPr>
        <p:spPr bwMode="gray">
          <a:xfrm>
            <a:off x="1" y="11113"/>
            <a:ext cx="12086167" cy="825500"/>
          </a:xfrm>
          <a:prstGeom prst="rect">
            <a:avLst/>
          </a:prstGeom>
          <a:gradFill rotWithShape="1">
            <a:gsLst>
              <a:gs pos="0">
                <a:schemeClr val="tx2"/>
              </a:gs>
              <a:gs pos="100000">
                <a:schemeClr val="tx2">
                  <a:gamma/>
                  <a:shade val="66667"/>
                  <a:invGamma/>
                </a:schemeClr>
              </a:gs>
            </a:gsLst>
            <a:lin ang="0" scaled="1"/>
          </a:gradFill>
          <a:ln w="9525">
            <a:noFill/>
            <a:miter lim="800000"/>
            <a:headEnd/>
            <a:tailEnd/>
          </a:ln>
          <a:effectLst/>
        </p:spPr>
        <p:txBody>
          <a:bodyPr wrap="none" anchor="ctr"/>
          <a:lstStyle/>
          <a:p>
            <a:pPr eaLnBrk="1" hangingPunct="1">
              <a:defRPr/>
            </a:pPr>
            <a:endParaRPr lang="zh-CN" altLang="en-US" sz="1600"/>
          </a:p>
        </p:txBody>
      </p:sp>
      <p:sp>
        <p:nvSpPr>
          <p:cNvPr id="1027" name="Rectangle 5">
            <a:extLst>
              <a:ext uri="{FF2B5EF4-FFF2-40B4-BE49-F238E27FC236}">
                <a16:creationId xmlns:a16="http://schemas.microsoft.com/office/drawing/2014/main" id="{18C636EF-53AD-462A-9B9E-69DE096322ED}"/>
              </a:ext>
            </a:extLst>
          </p:cNvPr>
          <p:cNvSpPr>
            <a:spLocks noGrp="1" noChangeArrowheads="1"/>
          </p:cNvSpPr>
          <p:nvPr>
            <p:ph type="title"/>
          </p:nvPr>
        </p:nvSpPr>
        <p:spPr bwMode="white">
          <a:xfrm>
            <a:off x="239184" y="260351"/>
            <a:ext cx="11074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17446" name="Rectangle 6">
            <a:extLst>
              <a:ext uri="{FF2B5EF4-FFF2-40B4-BE49-F238E27FC236}">
                <a16:creationId xmlns:a16="http://schemas.microsoft.com/office/drawing/2014/main" id="{99F51EF4-DAF0-49FF-9D4F-B988C972B325}"/>
              </a:ext>
            </a:extLst>
          </p:cNvPr>
          <p:cNvSpPr>
            <a:spLocks noChangeArrowheads="1"/>
          </p:cNvSpPr>
          <p:nvPr/>
        </p:nvSpPr>
        <p:spPr bwMode="gray">
          <a:xfrm>
            <a:off x="260352" y="881063"/>
            <a:ext cx="11931649" cy="100012"/>
          </a:xfrm>
          <a:prstGeom prst="rect">
            <a:avLst/>
          </a:prstGeom>
          <a:gradFill rotWithShape="1">
            <a:gsLst>
              <a:gs pos="0">
                <a:schemeClr val="bg2"/>
              </a:gs>
              <a:gs pos="100000">
                <a:schemeClr val="bg2">
                  <a:gamma/>
                  <a:tint val="0"/>
                  <a:invGamma/>
                </a:schemeClr>
              </a:gs>
            </a:gsLst>
            <a:lin ang="5400000" scaled="1"/>
          </a:gradFill>
          <a:ln w="9525">
            <a:noFill/>
            <a:miter lim="800000"/>
            <a:headEnd/>
            <a:tailEnd/>
          </a:ln>
          <a:effectLst/>
        </p:spPr>
        <p:txBody>
          <a:bodyPr wrap="none" anchor="ctr"/>
          <a:lstStyle/>
          <a:p>
            <a:pPr eaLnBrk="1" hangingPunct="1">
              <a:defRPr/>
            </a:pPr>
            <a:endParaRPr lang="zh-CN" altLang="en-US" sz="1600"/>
          </a:p>
        </p:txBody>
      </p:sp>
      <p:sp>
        <p:nvSpPr>
          <p:cNvPr id="1029" name="Rectangle 7">
            <a:extLst>
              <a:ext uri="{FF2B5EF4-FFF2-40B4-BE49-F238E27FC236}">
                <a16:creationId xmlns:a16="http://schemas.microsoft.com/office/drawing/2014/main" id="{EF9458EE-B8C1-4D4F-8173-A355729043FB}"/>
              </a:ext>
            </a:extLst>
          </p:cNvPr>
          <p:cNvSpPr>
            <a:spLocks noGrp="1" noChangeArrowheads="1"/>
          </p:cNvSpPr>
          <p:nvPr>
            <p:ph type="body" idx="1"/>
          </p:nvPr>
        </p:nvSpPr>
        <p:spPr bwMode="auto">
          <a:xfrm>
            <a:off x="609600" y="1125539"/>
            <a:ext cx="10972800" cy="518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1" name="Rectangle 8">
            <a:extLst>
              <a:ext uri="{FF2B5EF4-FFF2-40B4-BE49-F238E27FC236}">
                <a16:creationId xmlns:a16="http://schemas.microsoft.com/office/drawing/2014/main" id="{5831BDE1-48EB-40D0-BD86-AF9EE1006AE6}"/>
              </a:ext>
            </a:extLst>
          </p:cNvPr>
          <p:cNvSpPr>
            <a:spLocks noChangeArrowheads="1"/>
          </p:cNvSpPr>
          <p:nvPr/>
        </p:nvSpPr>
        <p:spPr bwMode="gray">
          <a:xfrm>
            <a:off x="9552517" y="33339"/>
            <a:ext cx="2563283" cy="803275"/>
          </a:xfrm>
          <a:prstGeom prst="rect">
            <a:avLst/>
          </a:prstGeom>
          <a:blipFill dpi="0" rotWithShape="1">
            <a:blip r:embed="rId23"/>
            <a:srcRect/>
            <a:stretch>
              <a:fillRect/>
            </a:stretch>
          </a:blipFill>
          <a:ln>
            <a:noFill/>
          </a:ln>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600"/>
          </a:p>
        </p:txBody>
      </p:sp>
      <p:grpSp>
        <p:nvGrpSpPr>
          <p:cNvPr id="2" name="Group 9">
            <a:extLst>
              <a:ext uri="{FF2B5EF4-FFF2-40B4-BE49-F238E27FC236}">
                <a16:creationId xmlns:a16="http://schemas.microsoft.com/office/drawing/2014/main" id="{EAE3F934-D141-43D9-A9B1-65B877124C56}"/>
              </a:ext>
            </a:extLst>
          </p:cNvPr>
          <p:cNvGrpSpPr>
            <a:grpSpLocks/>
          </p:cNvGrpSpPr>
          <p:nvPr/>
        </p:nvGrpSpPr>
        <p:grpSpPr bwMode="auto">
          <a:xfrm>
            <a:off x="-21166" y="0"/>
            <a:ext cx="12221633" cy="6859588"/>
            <a:chOff x="0" y="0"/>
            <a:chExt cx="5764" cy="4321"/>
          </a:xfrm>
        </p:grpSpPr>
        <p:sp>
          <p:nvSpPr>
            <p:cNvPr id="1033" name="AutoShape 10">
              <a:extLst>
                <a:ext uri="{FF2B5EF4-FFF2-40B4-BE49-F238E27FC236}">
                  <a16:creationId xmlns:a16="http://schemas.microsoft.com/office/drawing/2014/main" id="{C633EF8C-B975-40AB-B259-5B8C62882379}"/>
                </a:ext>
              </a:extLst>
            </p:cNvPr>
            <p:cNvSpPr>
              <a:spLocks noChangeArrowheads="1"/>
            </p:cNvSpPr>
            <p:nvPr/>
          </p:nvSpPr>
          <p:spPr bwMode="gray">
            <a:xfrm>
              <a:off x="27" y="24"/>
              <a:ext cx="5712" cy="4274"/>
            </a:xfrm>
            <a:prstGeom prst="roundRect">
              <a:avLst>
                <a:gd name="adj" fmla="val 6227"/>
              </a:avLst>
            </a:prstGeom>
            <a:noFill/>
            <a:ln w="76200">
              <a:solidFill>
                <a:schemeClr val="bg1"/>
              </a:solidFill>
              <a:round/>
              <a:headEnd/>
              <a:tailEnd/>
            </a:ln>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600"/>
            </a:p>
          </p:txBody>
        </p:sp>
        <p:sp>
          <p:nvSpPr>
            <p:cNvPr id="3" name="Freeform 11">
              <a:extLst>
                <a:ext uri="{FF2B5EF4-FFF2-40B4-BE49-F238E27FC236}">
                  <a16:creationId xmlns:a16="http://schemas.microsoft.com/office/drawing/2014/main" id="{C3211841-0CF1-472B-B177-B51DC8130E06}"/>
                </a:ext>
              </a:extLst>
            </p:cNvPr>
            <p:cNvSpPr>
              <a:spLocks/>
            </p:cNvSpPr>
            <p:nvPr/>
          </p:nvSpPr>
          <p:spPr bwMode="gray">
            <a:xfrm>
              <a:off x="0" y="0"/>
              <a:ext cx="288" cy="282"/>
            </a:xfrm>
            <a:custGeom>
              <a:avLst/>
              <a:gdLst>
                <a:gd name="T0" fmla="*/ 2 w 288"/>
                <a:gd name="T1" fmla="*/ 282 h 282"/>
                <a:gd name="T2" fmla="*/ 82 w 288"/>
                <a:gd name="T3" fmla="*/ 144 h 282"/>
                <a:gd name="T4" fmla="*/ 165 w 288"/>
                <a:gd name="T5" fmla="*/ 36 h 282"/>
                <a:gd name="T6" fmla="*/ 288 w 288"/>
                <a:gd name="T7" fmla="*/ 0 h 282"/>
                <a:gd name="T8" fmla="*/ 0 w 288"/>
                <a:gd name="T9" fmla="*/ 0 h 2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2">
                  <a:moveTo>
                    <a:pt x="2" y="282"/>
                  </a:moveTo>
                  <a:lnTo>
                    <a:pt x="82" y="144"/>
                  </a:lnTo>
                  <a:lnTo>
                    <a:pt x="165" y="36"/>
                  </a:lnTo>
                  <a:lnTo>
                    <a:pt x="288" y="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1034" name="Freeform 12">
              <a:extLst>
                <a:ext uri="{FF2B5EF4-FFF2-40B4-BE49-F238E27FC236}">
                  <a16:creationId xmlns:a16="http://schemas.microsoft.com/office/drawing/2014/main" id="{C0260DFC-CB39-45D8-A3A8-700ABD1C8AE8}"/>
                </a:ext>
              </a:extLst>
            </p:cNvPr>
            <p:cNvSpPr>
              <a:spLocks/>
            </p:cNvSpPr>
            <p:nvPr/>
          </p:nvSpPr>
          <p:spPr bwMode="gray">
            <a:xfrm>
              <a:off x="5" y="3985"/>
              <a:ext cx="244" cy="336"/>
            </a:xfrm>
            <a:custGeom>
              <a:avLst/>
              <a:gdLst>
                <a:gd name="T0" fmla="*/ 289 w 243"/>
                <a:gd name="T1" fmla="*/ 335 h 336"/>
                <a:gd name="T2" fmla="*/ 168 w 243"/>
                <a:gd name="T3" fmla="*/ 239 h 336"/>
                <a:gd name="T4" fmla="*/ 30 w 243"/>
                <a:gd name="T5" fmla="*/ 144 h 336"/>
                <a:gd name="T6" fmla="*/ 0 w 243"/>
                <a:gd name="T7" fmla="*/ 0 h 336"/>
                <a:gd name="T8" fmla="*/ 1 w 243"/>
                <a:gd name="T9" fmla="*/ 336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 h="336">
                  <a:moveTo>
                    <a:pt x="243" y="335"/>
                  </a:moveTo>
                  <a:lnTo>
                    <a:pt x="122" y="239"/>
                  </a:lnTo>
                  <a:lnTo>
                    <a:pt x="30" y="144"/>
                  </a:lnTo>
                  <a:lnTo>
                    <a:pt x="0" y="0"/>
                  </a:lnTo>
                  <a:lnTo>
                    <a:pt x="1" y="33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1035" name="Freeform 13">
              <a:extLst>
                <a:ext uri="{FF2B5EF4-FFF2-40B4-BE49-F238E27FC236}">
                  <a16:creationId xmlns:a16="http://schemas.microsoft.com/office/drawing/2014/main" id="{EFC56EE7-69C8-443E-B01A-6BC6031BD6ED}"/>
                </a:ext>
              </a:extLst>
            </p:cNvPr>
            <p:cNvSpPr>
              <a:spLocks/>
            </p:cNvSpPr>
            <p:nvPr/>
          </p:nvSpPr>
          <p:spPr bwMode="gray">
            <a:xfrm>
              <a:off x="5511" y="4029"/>
              <a:ext cx="253" cy="290"/>
            </a:xfrm>
            <a:custGeom>
              <a:avLst/>
              <a:gdLst>
                <a:gd name="T0" fmla="*/ 12369 w 232"/>
                <a:gd name="T1" fmla="*/ 0 h 290"/>
                <a:gd name="T2" fmla="*/ 8831 w 232"/>
                <a:gd name="T3" fmla="*/ 144 h 290"/>
                <a:gd name="T4" fmla="*/ 5336 w 232"/>
                <a:gd name="T5" fmla="*/ 253 h 290"/>
                <a:gd name="T6" fmla="*/ 0 w 232"/>
                <a:gd name="T7" fmla="*/ 290 h 290"/>
                <a:gd name="T8" fmla="*/ 12490 w 232"/>
                <a:gd name="T9" fmla="*/ 287 h 2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p:spPr>
          <p:txBody>
            <a:bodyPr/>
            <a:lstStyle/>
            <a:p>
              <a:endParaRPr lang="zh-CN" altLang="en-US" sz="1600"/>
            </a:p>
          </p:txBody>
        </p:sp>
        <p:sp>
          <p:nvSpPr>
            <p:cNvPr id="1036" name="Freeform 14">
              <a:extLst>
                <a:ext uri="{FF2B5EF4-FFF2-40B4-BE49-F238E27FC236}">
                  <a16:creationId xmlns:a16="http://schemas.microsoft.com/office/drawing/2014/main" id="{B96F6FD0-E37A-4509-BBAC-B520669F4EB3}"/>
                </a:ext>
              </a:extLst>
            </p:cNvPr>
            <p:cNvSpPr>
              <a:spLocks/>
            </p:cNvSpPr>
            <p:nvPr/>
          </p:nvSpPr>
          <p:spPr bwMode="gray">
            <a:xfrm>
              <a:off x="5472" y="0"/>
              <a:ext cx="288" cy="288"/>
            </a:xfrm>
            <a:custGeom>
              <a:avLst/>
              <a:gdLst>
                <a:gd name="T0" fmla="*/ 0 w 288"/>
                <a:gd name="T1" fmla="*/ 0 h 288"/>
                <a:gd name="T2" fmla="*/ 144 w 288"/>
                <a:gd name="T3" fmla="*/ 82 h 288"/>
                <a:gd name="T4" fmla="*/ 252 w 288"/>
                <a:gd name="T5" fmla="*/ 165 h 288"/>
                <a:gd name="T6" fmla="*/ 288 w 288"/>
                <a:gd name="T7" fmla="*/ 288 h 288"/>
                <a:gd name="T8" fmla="*/ 288 w 288"/>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8">
                  <a:moveTo>
                    <a:pt x="0" y="0"/>
                  </a:moveTo>
                  <a:lnTo>
                    <a:pt x="144" y="82"/>
                  </a:lnTo>
                  <a:lnTo>
                    <a:pt x="252" y="165"/>
                  </a:lnTo>
                  <a:lnTo>
                    <a:pt x="288" y="288"/>
                  </a:lnTo>
                  <a:lnTo>
                    <a:pt x="288"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grpSp>
    </p:spTree>
  </p:cSld>
  <p:clrMap bg1="lt1" tx1="dk1" bg2="lt2" tx2="dk2" accent1="accent1" accent2="accent2" accent3="accent3" accent4="accent4" accent5="accent5" accent6="accent6" hlink="hlink" folHlink="folHlink"/>
  <p:sldLayoutIdLst>
    <p:sldLayoutId id="2147484696" r:id="rId1"/>
    <p:sldLayoutId id="2147484697" r:id="rId2"/>
    <p:sldLayoutId id="2147484681" r:id="rId3"/>
    <p:sldLayoutId id="2147484682" r:id="rId4"/>
    <p:sldLayoutId id="2147484683" r:id="rId5"/>
    <p:sldLayoutId id="2147484698" r:id="rId6"/>
    <p:sldLayoutId id="2147484684" r:id="rId7"/>
    <p:sldLayoutId id="2147484685" r:id="rId8"/>
    <p:sldLayoutId id="2147484686" r:id="rId9"/>
    <p:sldLayoutId id="2147484687" r:id="rId10"/>
    <p:sldLayoutId id="2147484699" r:id="rId11"/>
    <p:sldLayoutId id="2147484700" r:id="rId12"/>
    <p:sldLayoutId id="2147484688" r:id="rId13"/>
    <p:sldLayoutId id="2147484689" r:id="rId14"/>
    <p:sldLayoutId id="2147484690" r:id="rId15"/>
    <p:sldLayoutId id="2147484691" r:id="rId16"/>
    <p:sldLayoutId id="2147484692" r:id="rId17"/>
    <p:sldLayoutId id="2147484693" r:id="rId18"/>
    <p:sldLayoutId id="2147484694" r:id="rId19"/>
    <p:sldLayoutId id="2147484695" r:id="rId20"/>
    <p:sldLayoutId id="2147484701" r:id="rId21"/>
  </p:sldLayoutIdLst>
  <p:transition spd="slow">
    <p:circle/>
  </p:transition>
  <p:txStyles>
    <p:title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黑体" pitchFamily="49" charset="-122"/>
          <a:ea typeface="黑体" pitchFamily="49" charset="-122"/>
        </a:defRPr>
      </a:lvl2pPr>
      <a:lvl3pPr algn="l" rtl="0" eaLnBrk="0" fontAlgn="base" hangingPunct="0">
        <a:spcBef>
          <a:spcPct val="0"/>
        </a:spcBef>
        <a:spcAft>
          <a:spcPct val="0"/>
        </a:spcAft>
        <a:defRPr sz="3600">
          <a:solidFill>
            <a:schemeClr val="bg1"/>
          </a:solidFill>
          <a:latin typeface="黑体" pitchFamily="49" charset="-122"/>
          <a:ea typeface="黑体" pitchFamily="49" charset="-122"/>
        </a:defRPr>
      </a:lvl3pPr>
      <a:lvl4pPr algn="l" rtl="0" eaLnBrk="0" fontAlgn="base" hangingPunct="0">
        <a:spcBef>
          <a:spcPct val="0"/>
        </a:spcBef>
        <a:spcAft>
          <a:spcPct val="0"/>
        </a:spcAft>
        <a:defRPr sz="3600">
          <a:solidFill>
            <a:schemeClr val="bg1"/>
          </a:solidFill>
          <a:latin typeface="黑体" pitchFamily="49" charset="-122"/>
          <a:ea typeface="黑体" pitchFamily="49" charset="-122"/>
        </a:defRPr>
      </a:lvl4pPr>
      <a:lvl5pPr algn="l" rtl="0" eaLnBrk="0" fontAlgn="base" hangingPunct="0">
        <a:spcBef>
          <a:spcPct val="0"/>
        </a:spcBef>
        <a:spcAft>
          <a:spcPct val="0"/>
        </a:spcAft>
        <a:defRPr sz="3600">
          <a:solidFill>
            <a:schemeClr val="bg1"/>
          </a:solidFill>
          <a:latin typeface="黑体" pitchFamily="49" charset="-122"/>
          <a:ea typeface="黑体" pitchFamily="49" charset="-122"/>
        </a:defRPr>
      </a:lvl5pPr>
      <a:lvl6pPr marL="457200" algn="l" rtl="0" fontAlgn="base">
        <a:spcBef>
          <a:spcPct val="0"/>
        </a:spcBef>
        <a:spcAft>
          <a:spcPct val="0"/>
        </a:spcAft>
        <a:defRPr sz="3600" b="1">
          <a:solidFill>
            <a:schemeClr val="bg1"/>
          </a:solidFill>
          <a:latin typeface="黑体" pitchFamily="49" charset="-122"/>
          <a:ea typeface="黑体" pitchFamily="49" charset="-122"/>
        </a:defRPr>
      </a:lvl6pPr>
      <a:lvl7pPr marL="914400" algn="l" rtl="0" fontAlgn="base">
        <a:spcBef>
          <a:spcPct val="0"/>
        </a:spcBef>
        <a:spcAft>
          <a:spcPct val="0"/>
        </a:spcAft>
        <a:defRPr sz="3600" b="1">
          <a:solidFill>
            <a:schemeClr val="bg1"/>
          </a:solidFill>
          <a:latin typeface="黑体" pitchFamily="49" charset="-122"/>
          <a:ea typeface="黑体" pitchFamily="49" charset="-122"/>
        </a:defRPr>
      </a:lvl7pPr>
      <a:lvl8pPr marL="1371600" algn="l" rtl="0" fontAlgn="base">
        <a:spcBef>
          <a:spcPct val="0"/>
        </a:spcBef>
        <a:spcAft>
          <a:spcPct val="0"/>
        </a:spcAft>
        <a:defRPr sz="3600" b="1">
          <a:solidFill>
            <a:schemeClr val="bg1"/>
          </a:solidFill>
          <a:latin typeface="黑体" pitchFamily="49" charset="-122"/>
          <a:ea typeface="黑体" pitchFamily="49" charset="-122"/>
        </a:defRPr>
      </a:lvl8pPr>
      <a:lvl9pPr marL="1828800" algn="l" rtl="0" fontAlgn="base">
        <a:spcBef>
          <a:spcPct val="0"/>
        </a:spcBef>
        <a:spcAft>
          <a:spcPct val="0"/>
        </a:spcAft>
        <a:defRPr sz="3600" b="1">
          <a:solidFill>
            <a:schemeClr val="bg1"/>
          </a:solidFill>
          <a:latin typeface="黑体" pitchFamily="49" charset="-122"/>
          <a:ea typeface="黑体"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a:solidFill>
            <a:srgbClr val="00004D"/>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rgbClr val="00004D"/>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rgbClr val="00004D"/>
          </a:solidFill>
          <a:latin typeface="+mn-lt"/>
          <a:ea typeface="+mn-ea"/>
        </a:defRPr>
      </a:lvl3pPr>
      <a:lvl4pPr marL="1600200" indent="-228600" algn="l" rtl="0" eaLnBrk="0" fontAlgn="base" hangingPunct="0">
        <a:spcBef>
          <a:spcPct val="20000"/>
        </a:spcBef>
        <a:spcAft>
          <a:spcPct val="0"/>
        </a:spcAft>
        <a:buChar char="–"/>
        <a:defRPr sz="2000">
          <a:solidFill>
            <a:srgbClr val="00004D"/>
          </a:solidFill>
          <a:latin typeface="+mn-lt"/>
          <a:ea typeface="+mn-ea"/>
        </a:defRPr>
      </a:lvl4pPr>
      <a:lvl5pPr marL="2057400" indent="-228600" algn="l" rtl="0" eaLnBrk="0" fontAlgn="base" hangingPunct="0">
        <a:spcBef>
          <a:spcPct val="20000"/>
        </a:spcBef>
        <a:spcAft>
          <a:spcPct val="0"/>
        </a:spcAft>
        <a:buChar char="»"/>
        <a:defRPr sz="2000">
          <a:solidFill>
            <a:srgbClr val="00004D"/>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15.png"/><Relationship Id="rId2" Type="http://schemas.openxmlformats.org/officeDocument/2006/relationships/slideLayout" Target="../slideLayouts/slideLayout10.xml"/><Relationship Id="rId1" Type="http://schemas.openxmlformats.org/officeDocument/2006/relationships/tags" Target="../tags/tag2.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oleObject" Target="../embeddings/oleObject2.bin"/><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10.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43.jpeg"/></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image" Target="../media/image46.gi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2.xml"/><Relationship Id="rId1" Type="http://schemas.openxmlformats.org/officeDocument/2006/relationships/slideLayout" Target="../slideLayouts/slideLayout20.xml"/><Relationship Id="rId4" Type="http://schemas.openxmlformats.org/officeDocument/2006/relationships/image" Target="../media/image54.png"/></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61.xml"/><Relationship Id="rId1" Type="http://schemas.openxmlformats.org/officeDocument/2006/relationships/slideLayout" Target="../slideLayouts/slideLayout12.xml"/><Relationship Id="rId4" Type="http://schemas.openxmlformats.org/officeDocument/2006/relationships/image" Target="../media/image57.w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66.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6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82.xml"/><Relationship Id="rId1" Type="http://schemas.openxmlformats.org/officeDocument/2006/relationships/slideLayout" Target="../slideLayouts/slideLayout3.xml"/><Relationship Id="rId4" Type="http://schemas.openxmlformats.org/officeDocument/2006/relationships/image" Target="../media/image64.jpeg"/></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83.xml"/><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8.xml"/><Relationship Id="rId1" Type="http://schemas.openxmlformats.org/officeDocument/2006/relationships/slideLayout" Target="../slideLayouts/slideLayout18.xml"/><Relationship Id="rId5" Type="http://schemas.openxmlformats.org/officeDocument/2006/relationships/image" Target="../media/image68.png"/><Relationship Id="rId4" Type="http://schemas.openxmlformats.org/officeDocument/2006/relationships/image" Target="../media/image67.png"/></Relationships>
</file>

<file path=ppt/slides/_rels/slide9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9.xml"/><Relationship Id="rId1" Type="http://schemas.openxmlformats.org/officeDocument/2006/relationships/slideLayout" Target="../slideLayouts/slideLayout10.xml"/><Relationship Id="rId4" Type="http://schemas.openxmlformats.org/officeDocument/2006/relationships/image" Target="../media/image70.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91.xml"/><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02.xml"/><Relationship Id="rId1" Type="http://schemas.openxmlformats.org/officeDocument/2006/relationships/slideLayout" Target="../slideLayouts/slideLayout10.xml"/></Relationships>
</file>

<file path=ppt/slides/_rels/slide11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0.xml"/></Relationships>
</file>

<file path=ppt/slides/_rels/slide11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6.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2A43256C-C967-4D22-8F08-F73CA5E71599}"/>
              </a:ext>
            </a:extLst>
          </p:cNvPr>
          <p:cNvSpPr>
            <a:spLocks noChangeArrowheads="1"/>
          </p:cNvSpPr>
          <p:nvPr/>
        </p:nvSpPr>
        <p:spPr bwMode="auto">
          <a:xfrm>
            <a:off x="1524000" y="1"/>
            <a:ext cx="6516688"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endParaRPr kumimoji="1" lang="zh-CN" altLang="en-US" sz="2000" b="1">
              <a:solidFill>
                <a:srgbClr val="FFFF00"/>
              </a:solidFill>
              <a:latin typeface="黑体" panose="02010609060101010101" pitchFamily="49" charset="-122"/>
            </a:endParaRPr>
          </a:p>
        </p:txBody>
      </p:sp>
      <p:sp>
        <p:nvSpPr>
          <p:cNvPr id="5" name="内容占位符 4">
            <a:extLst>
              <a:ext uri="{FF2B5EF4-FFF2-40B4-BE49-F238E27FC236}">
                <a16:creationId xmlns:a16="http://schemas.microsoft.com/office/drawing/2014/main" id="{AB777846-BBA1-4A45-994A-74F9C8CE1379}"/>
              </a:ext>
            </a:extLst>
          </p:cNvPr>
          <p:cNvSpPr>
            <a:spLocks noGrp="1"/>
          </p:cNvSpPr>
          <p:nvPr>
            <p:ph idx="4294967295"/>
          </p:nvPr>
        </p:nvSpPr>
        <p:spPr>
          <a:xfrm>
            <a:off x="1631950" y="1484314"/>
            <a:ext cx="8928100" cy="5189537"/>
          </a:xfrm>
        </p:spPr>
        <p:txBody>
          <a:bodyPr/>
          <a:lstStyle/>
          <a:p>
            <a:pPr marL="0" indent="0" algn="ctr">
              <a:buNone/>
              <a:defRPr/>
            </a:pPr>
            <a:r>
              <a:rPr lang="zh-CN" altLang="en-US" sz="3600" dirty="0">
                <a:solidFill>
                  <a:srgbClr val="FF0000"/>
                </a:solidFill>
              </a:rPr>
              <a:t>第三节 蛋白质结构与功能的关系</a:t>
            </a:r>
          </a:p>
          <a:p>
            <a:pPr marL="0" indent="0" algn="ctr">
              <a:buNone/>
              <a:defRPr/>
            </a:pPr>
            <a:r>
              <a:rPr lang="en-US" altLang="zh-CN" sz="3600" dirty="0">
                <a:solidFill>
                  <a:srgbClr val="FF0000"/>
                </a:solidFill>
              </a:rPr>
              <a:t>Protein Structure-Function Relationships</a:t>
            </a:r>
          </a:p>
          <a:p>
            <a:pPr marL="0" indent="0">
              <a:buNone/>
              <a:defRPr/>
            </a:pPr>
            <a:endParaRPr lang="en-US" altLang="zh-CN" dirty="0"/>
          </a:p>
          <a:p>
            <a:pPr marL="895350" indent="-457200">
              <a:lnSpc>
                <a:spcPct val="120000"/>
              </a:lnSpc>
              <a:defRPr/>
            </a:pPr>
            <a:r>
              <a:rPr lang="zh-CN" altLang="en-US" sz="3000" dirty="0"/>
              <a:t>蛋白质通过与其他生物分子相互作用执行功能</a:t>
            </a:r>
            <a:endParaRPr lang="en-US" altLang="zh-CN" sz="3000" dirty="0"/>
          </a:p>
          <a:p>
            <a:pPr marL="895350" indent="-457200">
              <a:lnSpc>
                <a:spcPct val="120000"/>
              </a:lnSpc>
              <a:defRPr/>
            </a:pPr>
            <a:r>
              <a:rPr lang="zh-CN" altLang="en-US" sz="3000" dirty="0"/>
              <a:t>蛋白质的一级结构是高级结构与功能的基础</a:t>
            </a:r>
            <a:endParaRPr lang="en-US" altLang="zh-CN" sz="3000" dirty="0"/>
          </a:p>
          <a:p>
            <a:pPr marL="895350" indent="-457200">
              <a:lnSpc>
                <a:spcPct val="120000"/>
              </a:lnSpc>
              <a:defRPr/>
            </a:pPr>
            <a:r>
              <a:rPr lang="zh-CN" altLang="en-US" sz="3000" dirty="0"/>
              <a:t>蛋白质的功能依赖特定空间结构</a:t>
            </a:r>
            <a:endParaRPr lang="en-US" altLang="zh-CN" sz="3000" dirty="0"/>
          </a:p>
          <a:p>
            <a:pPr marL="0" indent="0">
              <a:buNone/>
              <a:defRPr/>
            </a:pPr>
            <a:endParaRPr lang="zh-CN" altLang="en-US" dirty="0"/>
          </a:p>
        </p:txBody>
      </p:sp>
    </p:spTree>
  </p:cSld>
  <p:clrMapOvr>
    <a:masterClrMapping/>
  </p:clrMapOvr>
  <p:transition spd="slow">
    <p:circl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7EEA2AAE-3B88-4FC7-B28B-B3F1D7ACB4AB}"/>
              </a:ext>
            </a:extLst>
          </p:cNvPr>
          <p:cNvSpPr>
            <a:spLocks noGrp="1" noChangeArrowheads="1"/>
          </p:cNvSpPr>
          <p:nvPr>
            <p:ph type="title" idx="4294967295"/>
          </p:nvPr>
        </p:nvSpPr>
        <p:spPr>
          <a:xfrm>
            <a:off x="1703512" y="331812"/>
            <a:ext cx="9140825" cy="968375"/>
          </a:xfrm>
          <a:solidFill>
            <a:srgbClr val="1C78CB"/>
          </a:solidFill>
        </p:spPr>
        <p:txBody>
          <a:bodyPr/>
          <a:lstStyle/>
          <a:p>
            <a:r>
              <a:rPr lang="zh-CN" altLang="en-US" sz="3200" dirty="0"/>
              <a:t>一、蛋白质通过与其他生物分子相互作用执行功能</a:t>
            </a:r>
          </a:p>
        </p:txBody>
      </p:sp>
      <p:sp>
        <p:nvSpPr>
          <p:cNvPr id="11267" name="内容占位符 2">
            <a:extLst>
              <a:ext uri="{FF2B5EF4-FFF2-40B4-BE49-F238E27FC236}">
                <a16:creationId xmlns:a16="http://schemas.microsoft.com/office/drawing/2014/main" id="{F547593D-A846-4A30-AFB6-289DD827DA99}"/>
              </a:ext>
            </a:extLst>
          </p:cNvPr>
          <p:cNvSpPr>
            <a:spLocks noGrp="1" noChangeArrowheads="1"/>
          </p:cNvSpPr>
          <p:nvPr>
            <p:ph idx="4294967295"/>
          </p:nvPr>
        </p:nvSpPr>
        <p:spPr>
          <a:xfrm>
            <a:off x="1557400" y="1628800"/>
            <a:ext cx="9433048" cy="4391025"/>
          </a:xfrm>
        </p:spPr>
        <p:txBody>
          <a:bodyPr/>
          <a:lstStyle/>
          <a:p>
            <a:pPr marL="514350" indent="-514350">
              <a:lnSpc>
                <a:spcPct val="120000"/>
              </a:lnSpc>
              <a:buFont typeface="黑体" panose="02010609060101010101" pitchFamily="49" charset="-122"/>
              <a:buAutoNum type="arabicPeriod"/>
            </a:pPr>
            <a:r>
              <a:rPr lang="zh-CN" altLang="en-US" dirty="0"/>
              <a:t>蛋白质与小分子相互作用行使生物学功能</a:t>
            </a:r>
            <a:endParaRPr lang="en-US" altLang="zh-CN" dirty="0"/>
          </a:p>
          <a:p>
            <a:pPr lvl="1">
              <a:lnSpc>
                <a:spcPct val="120000"/>
              </a:lnSpc>
            </a:pPr>
            <a:r>
              <a:rPr lang="zh-CN" altLang="en-US" sz="2600" dirty="0"/>
              <a:t>如酶的催化作用、物质转运、信号传递等</a:t>
            </a:r>
            <a:endParaRPr lang="en-US" altLang="zh-CN" sz="2600" dirty="0"/>
          </a:p>
          <a:p>
            <a:pPr marL="514350" indent="-514350">
              <a:lnSpc>
                <a:spcPct val="120000"/>
              </a:lnSpc>
              <a:buFont typeface="黑体" panose="02010609060101010101" pitchFamily="49" charset="-122"/>
              <a:buAutoNum type="arabicPeriod"/>
            </a:pPr>
            <a:r>
              <a:rPr lang="zh-CN" altLang="en-US" dirty="0"/>
              <a:t>蛋白质与核酸相互作用</a:t>
            </a:r>
            <a:endParaRPr lang="en-US" altLang="zh-CN" dirty="0"/>
          </a:p>
          <a:p>
            <a:pPr lvl="1">
              <a:lnSpc>
                <a:spcPct val="120000"/>
              </a:lnSpc>
            </a:pPr>
            <a:r>
              <a:rPr lang="zh-CN" altLang="en-US" sz="2600" dirty="0"/>
              <a:t>如转录因子调节基因转录，多种</a:t>
            </a:r>
            <a:r>
              <a:rPr lang="en-US" altLang="zh-CN" sz="2600" dirty="0"/>
              <a:t>RNA-</a:t>
            </a:r>
            <a:r>
              <a:rPr lang="zh-CN" altLang="en-US" sz="2600" dirty="0"/>
              <a:t>蛋白复合物</a:t>
            </a:r>
            <a:endParaRPr lang="en-US" altLang="zh-CN" sz="2600" dirty="0"/>
          </a:p>
          <a:p>
            <a:pPr marL="514350" indent="-514350">
              <a:lnSpc>
                <a:spcPct val="120000"/>
              </a:lnSpc>
              <a:buFont typeface="黑体" panose="02010609060101010101" pitchFamily="49" charset="-122"/>
              <a:buAutoNum type="arabicPeriod"/>
            </a:pPr>
            <a:r>
              <a:rPr lang="zh-CN" altLang="en-US" dirty="0">
                <a:solidFill>
                  <a:srgbClr val="C00000"/>
                </a:solidFill>
              </a:rPr>
              <a:t>蛋白质相互作用是蛋白质执行功能的主要方式</a:t>
            </a:r>
            <a:endParaRPr lang="en-US" altLang="zh-CN" dirty="0">
              <a:solidFill>
                <a:srgbClr val="C00000"/>
              </a:solidFill>
            </a:endParaRPr>
          </a:p>
          <a:p>
            <a:pPr lvl="1">
              <a:lnSpc>
                <a:spcPct val="120000"/>
              </a:lnSpc>
            </a:pPr>
            <a:r>
              <a:rPr lang="zh-CN" altLang="en-US" sz="2600" dirty="0">
                <a:solidFill>
                  <a:schemeClr val="tx1">
                    <a:lumMod val="60000"/>
                    <a:lumOff val="40000"/>
                  </a:schemeClr>
                </a:solidFill>
              </a:rPr>
              <a:t>蛋白质</a:t>
            </a:r>
            <a:r>
              <a:rPr lang="en-US" altLang="zh-CN" sz="2600" dirty="0">
                <a:solidFill>
                  <a:schemeClr val="tx1">
                    <a:lumMod val="60000"/>
                    <a:lumOff val="40000"/>
                  </a:schemeClr>
                </a:solidFill>
              </a:rPr>
              <a:t>-</a:t>
            </a:r>
            <a:r>
              <a:rPr lang="zh-CN" altLang="en-US" sz="2600" dirty="0">
                <a:solidFill>
                  <a:schemeClr val="tx1">
                    <a:lumMod val="60000"/>
                    <a:lumOff val="40000"/>
                  </a:schemeClr>
                </a:solidFill>
              </a:rPr>
              <a:t>蛋白质相互作用</a:t>
            </a:r>
            <a:r>
              <a:rPr lang="zh-CN" altLang="en-US" sz="2600" dirty="0"/>
              <a:t>（</a:t>
            </a:r>
            <a:r>
              <a:rPr lang="en-US" altLang="zh-CN" sz="2600" dirty="0"/>
              <a:t>protein-protein interaction, </a:t>
            </a:r>
            <a:r>
              <a:rPr lang="en-US" altLang="zh-CN" sz="2600" dirty="0">
                <a:solidFill>
                  <a:schemeClr val="tx1">
                    <a:lumMod val="60000"/>
                    <a:lumOff val="40000"/>
                  </a:schemeClr>
                </a:solidFill>
              </a:rPr>
              <a:t>PPI</a:t>
            </a:r>
            <a:r>
              <a:rPr lang="en-US" altLang="zh-CN" sz="2600" dirty="0"/>
              <a:t>)</a:t>
            </a:r>
            <a:r>
              <a:rPr lang="zh-CN" altLang="en-US" sz="2600" dirty="0"/>
              <a:t>是指两个或两个以上的蛋白质分子通过</a:t>
            </a:r>
            <a:r>
              <a:rPr lang="zh-CN" altLang="en-US" sz="2600" dirty="0">
                <a:solidFill>
                  <a:schemeClr val="tx1">
                    <a:lumMod val="60000"/>
                    <a:lumOff val="40000"/>
                  </a:schemeClr>
                </a:solidFill>
              </a:rPr>
              <a:t>非共价键</a:t>
            </a:r>
            <a:r>
              <a:rPr lang="zh-CN" altLang="en-US" sz="2600" dirty="0">
                <a:solidFill>
                  <a:schemeClr val="tx1">
                    <a:lumMod val="50000"/>
                  </a:schemeClr>
                </a:solidFill>
              </a:rPr>
              <a:t>相互作用</a:t>
            </a:r>
            <a:r>
              <a:rPr lang="zh-CN" altLang="en-US" sz="2600" dirty="0"/>
              <a:t>并发挥功能的过程。</a:t>
            </a:r>
          </a:p>
          <a:p>
            <a:pPr lvl="1">
              <a:lnSpc>
                <a:spcPct val="120000"/>
              </a:lnSpc>
            </a:pPr>
            <a:endParaRPr lang="zh-CN" altLang="en-US" sz="2600" dirty="0"/>
          </a:p>
          <a:p>
            <a:pPr lvl="1">
              <a:lnSpc>
                <a:spcPct val="120000"/>
              </a:lnSpc>
            </a:pPr>
            <a:endParaRPr lang="zh-CN" altLang="en-US" sz="2600" dirty="0"/>
          </a:p>
        </p:txBody>
      </p:sp>
    </p:spTree>
  </p:cSld>
  <p:clrMapOvr>
    <a:masterClrMapping/>
  </p:clrMapOvr>
  <p:transition spd="slow">
    <p:circl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EA4CD6F1-9CE9-4A3B-BACB-CA07AE4C9506}"/>
              </a:ext>
            </a:extLst>
          </p:cNvPr>
          <p:cNvSpPr>
            <a:spLocks noGrp="1" noChangeArrowheads="1"/>
          </p:cNvSpPr>
          <p:nvPr>
            <p:ph type="title" idx="4294967295"/>
          </p:nvPr>
        </p:nvSpPr>
        <p:spPr>
          <a:xfrm>
            <a:off x="0" y="188913"/>
            <a:ext cx="6985000" cy="563562"/>
          </a:xfrm>
        </p:spPr>
        <p:txBody>
          <a:bodyPr/>
          <a:lstStyle/>
          <a:p>
            <a:r>
              <a:rPr lang="zh-CN" altLang="en-US" sz="4000"/>
              <a:t>蛋白质相互作用实例</a:t>
            </a:r>
          </a:p>
        </p:txBody>
      </p:sp>
      <p:sp>
        <p:nvSpPr>
          <p:cNvPr id="11267" name="内容占位符 2">
            <a:extLst>
              <a:ext uri="{FF2B5EF4-FFF2-40B4-BE49-F238E27FC236}">
                <a16:creationId xmlns:a16="http://schemas.microsoft.com/office/drawing/2014/main" id="{44345597-F8B3-44B9-A639-226F49376102}"/>
              </a:ext>
            </a:extLst>
          </p:cNvPr>
          <p:cNvSpPr>
            <a:spLocks noGrp="1"/>
          </p:cNvSpPr>
          <p:nvPr>
            <p:ph idx="4294967295"/>
          </p:nvPr>
        </p:nvSpPr>
        <p:spPr>
          <a:xfrm>
            <a:off x="2279576" y="150675"/>
            <a:ext cx="8362950" cy="830997"/>
          </a:xfrm>
        </p:spPr>
        <p:txBody>
          <a:bodyPr/>
          <a:lstStyle/>
          <a:p>
            <a:pPr marL="0" indent="0">
              <a:buNone/>
              <a:defRPr/>
            </a:pPr>
            <a:r>
              <a:rPr lang="zh-CN" altLang="en-US" sz="3600" dirty="0">
                <a:solidFill>
                  <a:schemeClr val="tx1">
                    <a:lumMod val="60000"/>
                    <a:lumOff val="40000"/>
                  </a:schemeClr>
                </a:solidFill>
              </a:rPr>
              <a:t>（一）胰岛素与胰岛素受体的相互作用</a:t>
            </a:r>
            <a:endParaRPr lang="en-US" altLang="zh-CN" sz="3600" dirty="0">
              <a:solidFill>
                <a:schemeClr val="tx1">
                  <a:lumMod val="60000"/>
                  <a:lumOff val="40000"/>
                </a:schemeClr>
              </a:solidFill>
            </a:endParaRPr>
          </a:p>
          <a:p>
            <a:pPr>
              <a:lnSpc>
                <a:spcPct val="130000"/>
              </a:lnSpc>
              <a:defRPr/>
            </a:pPr>
            <a:endParaRPr lang="en-US" altLang="zh-CN" sz="3600" dirty="0">
              <a:solidFill>
                <a:schemeClr val="tx1">
                  <a:lumMod val="60000"/>
                  <a:lumOff val="40000"/>
                </a:schemeClr>
              </a:solidFill>
            </a:endParaRPr>
          </a:p>
        </p:txBody>
      </p:sp>
      <p:pic>
        <p:nvPicPr>
          <p:cNvPr id="3" name="图片 2">
            <a:extLst>
              <a:ext uri="{FF2B5EF4-FFF2-40B4-BE49-F238E27FC236}">
                <a16:creationId xmlns:a16="http://schemas.microsoft.com/office/drawing/2014/main" id="{41915823-BC43-6B44-2AC4-98C63E059FE4}"/>
              </a:ext>
            </a:extLst>
          </p:cNvPr>
          <p:cNvPicPr>
            <a:picLocks noChangeAspect="1"/>
          </p:cNvPicPr>
          <p:nvPr/>
        </p:nvPicPr>
        <p:blipFill>
          <a:blip r:embed="rId3"/>
          <a:stretch>
            <a:fillRect/>
          </a:stretch>
        </p:blipFill>
        <p:spPr>
          <a:xfrm>
            <a:off x="191344" y="1019910"/>
            <a:ext cx="7956376" cy="4929271"/>
          </a:xfrm>
          <a:prstGeom prst="rect">
            <a:avLst/>
          </a:prstGeom>
        </p:spPr>
      </p:pic>
      <p:sp>
        <p:nvSpPr>
          <p:cNvPr id="4" name="文本框 3">
            <a:extLst>
              <a:ext uri="{FF2B5EF4-FFF2-40B4-BE49-F238E27FC236}">
                <a16:creationId xmlns:a16="http://schemas.microsoft.com/office/drawing/2014/main" id="{95E8D8A0-469B-CB7F-51D4-0D50D58D0035}"/>
              </a:ext>
            </a:extLst>
          </p:cNvPr>
          <p:cNvSpPr txBox="1"/>
          <p:nvPr/>
        </p:nvSpPr>
        <p:spPr>
          <a:xfrm>
            <a:off x="8303568" y="1258349"/>
            <a:ext cx="3888432" cy="4308359"/>
          </a:xfrm>
          <a:prstGeom prst="rect">
            <a:avLst/>
          </a:prstGeom>
          <a:noFill/>
          <a:ln>
            <a:solidFill>
              <a:schemeClr val="tx1">
                <a:lumMod val="40000"/>
                <a:lumOff val="60000"/>
              </a:schemeClr>
            </a:solidFill>
          </a:ln>
        </p:spPr>
        <p:txBody>
          <a:bodyPr wrap="square">
            <a:spAutoFit/>
          </a:bodyPr>
          <a:lstStyle/>
          <a:p>
            <a:pPr>
              <a:lnSpc>
                <a:spcPct val="120000"/>
              </a:lnSpc>
            </a:pPr>
            <a:r>
              <a:rPr lang="zh-CN" altLang="en-US" sz="2200" dirty="0">
                <a:solidFill>
                  <a:schemeClr val="tx1">
                    <a:lumMod val="60000"/>
                    <a:lumOff val="40000"/>
                  </a:schemeClr>
                </a:solidFill>
                <a:latin typeface="微软雅黑" panose="020B0503020204020204" pitchFamily="34" charset="-122"/>
                <a:ea typeface="微软雅黑" panose="020B0503020204020204" pitchFamily="34" charset="-122"/>
              </a:rPr>
              <a:t>胰岛素受体</a:t>
            </a:r>
            <a:r>
              <a:rPr lang="zh-CN" altLang="en-US" sz="2200" dirty="0">
                <a:solidFill>
                  <a:schemeClr val="tx1">
                    <a:lumMod val="50000"/>
                  </a:schemeClr>
                </a:solidFill>
                <a:latin typeface="微软雅黑" panose="020B0503020204020204" pitchFamily="34" charset="-122"/>
                <a:ea typeface="微软雅黑" panose="020B0503020204020204" pitchFamily="34" charset="-122"/>
              </a:rPr>
              <a:t>（</a:t>
            </a:r>
            <a:r>
              <a:rPr lang="en-US" altLang="zh-CN" sz="2200" dirty="0">
                <a:solidFill>
                  <a:schemeClr val="tx1">
                    <a:lumMod val="50000"/>
                  </a:schemeClr>
                </a:solidFill>
                <a:latin typeface="微软雅黑" panose="020B0503020204020204" pitchFamily="34" charset="-122"/>
                <a:ea typeface="微软雅黑" panose="020B0503020204020204" pitchFamily="34" charset="-122"/>
              </a:rPr>
              <a:t>insulin receptor, INSR)</a:t>
            </a:r>
            <a:r>
              <a:rPr lang="zh-CN" altLang="en-US" sz="2200" dirty="0">
                <a:solidFill>
                  <a:schemeClr val="tx1">
                    <a:lumMod val="50000"/>
                  </a:schemeClr>
                </a:solidFill>
                <a:latin typeface="微软雅黑" panose="020B0503020204020204" pitchFamily="34" charset="-122"/>
                <a:ea typeface="微软雅黑" panose="020B0503020204020204" pitchFamily="34" charset="-122"/>
              </a:rPr>
              <a:t>属于</a:t>
            </a:r>
            <a:r>
              <a:rPr lang="zh-CN" altLang="en-US" sz="2200" b="1" dirty="0">
                <a:solidFill>
                  <a:schemeClr val="tx1">
                    <a:lumMod val="60000"/>
                    <a:lumOff val="40000"/>
                  </a:schemeClr>
                </a:solidFill>
                <a:latin typeface="微软雅黑" panose="020B0503020204020204" pitchFamily="34" charset="-122"/>
                <a:ea typeface="微软雅黑" panose="020B0503020204020204" pitchFamily="34" charset="-122"/>
              </a:rPr>
              <a:t>受体酪氨酸激酶家族（</a:t>
            </a:r>
            <a:r>
              <a:rPr lang="en-US" altLang="zh-CN" sz="2200" b="1" dirty="0">
                <a:solidFill>
                  <a:schemeClr val="tx1">
                    <a:lumMod val="60000"/>
                    <a:lumOff val="40000"/>
                  </a:schemeClr>
                </a:solidFill>
                <a:latin typeface="微软雅黑" panose="020B0503020204020204" pitchFamily="34" charset="-122"/>
                <a:ea typeface="微软雅黑" panose="020B0503020204020204" pitchFamily="34" charset="-122"/>
              </a:rPr>
              <a:t>receptor tyrosine kinases</a:t>
            </a:r>
            <a:r>
              <a:rPr lang="zh-CN" altLang="en-US" sz="2200" b="1" dirty="0">
                <a:solidFill>
                  <a:schemeClr val="tx1">
                    <a:lumMod val="60000"/>
                    <a:lumOff val="40000"/>
                  </a:schemeClr>
                </a:solidFill>
                <a:latin typeface="微软雅黑" panose="020B0503020204020204" pitchFamily="34" charset="-122"/>
                <a:ea typeface="微软雅黑" panose="020B0503020204020204" pitchFamily="34" charset="-122"/>
              </a:rPr>
              <a:t>，</a:t>
            </a:r>
            <a:r>
              <a:rPr lang="en-US" altLang="zh-CN" sz="2200" b="1" dirty="0">
                <a:solidFill>
                  <a:schemeClr val="tx1">
                    <a:lumMod val="60000"/>
                    <a:lumOff val="40000"/>
                  </a:schemeClr>
                </a:solidFill>
                <a:latin typeface="微软雅黑" panose="020B0503020204020204" pitchFamily="34" charset="-122"/>
                <a:ea typeface="微软雅黑" panose="020B0503020204020204" pitchFamily="34" charset="-122"/>
              </a:rPr>
              <a:t>RTK</a:t>
            </a:r>
            <a:r>
              <a:rPr lang="zh-CN" altLang="en-US" sz="2200" b="1" dirty="0">
                <a:solidFill>
                  <a:schemeClr val="tx1">
                    <a:lumMod val="60000"/>
                    <a:lumOff val="40000"/>
                  </a:schemeClr>
                </a:solidFill>
                <a:latin typeface="微软雅黑" panose="020B0503020204020204" pitchFamily="34" charset="-122"/>
                <a:ea typeface="微软雅黑" panose="020B0503020204020204" pitchFamily="34" charset="-122"/>
              </a:rPr>
              <a:t>）</a:t>
            </a:r>
            <a:r>
              <a:rPr lang="zh-CN" altLang="en-US" sz="2200" dirty="0">
                <a:solidFill>
                  <a:schemeClr val="tx1">
                    <a:lumMod val="50000"/>
                  </a:schemeClr>
                </a:solidFill>
                <a:latin typeface="微软雅黑" panose="020B0503020204020204" pitchFamily="34" charset="-122"/>
                <a:ea typeface="微软雅黑" panose="020B0503020204020204" pitchFamily="34" charset="-122"/>
              </a:rPr>
              <a:t>成员，是一种糖蛋白。</a:t>
            </a:r>
            <a:endParaRPr lang="en-US" altLang="zh-CN" sz="2200" dirty="0">
              <a:solidFill>
                <a:schemeClr val="tx1">
                  <a:lumMod val="50000"/>
                </a:schemeClr>
              </a:solidFill>
              <a:latin typeface="微软雅黑" panose="020B0503020204020204" pitchFamily="34" charset="-122"/>
              <a:ea typeface="微软雅黑" panose="020B0503020204020204" pitchFamily="34" charset="-122"/>
            </a:endParaRPr>
          </a:p>
          <a:p>
            <a:pPr>
              <a:lnSpc>
                <a:spcPct val="120000"/>
              </a:lnSpc>
            </a:pPr>
            <a:r>
              <a:rPr lang="zh-CN" altLang="en-US" sz="2000" dirty="0">
                <a:solidFill>
                  <a:schemeClr val="tx1">
                    <a:lumMod val="50000"/>
                  </a:schemeClr>
                </a:solidFill>
                <a:latin typeface="微软雅黑" panose="020B0503020204020204" pitchFamily="34" charset="-122"/>
                <a:ea typeface="微软雅黑" panose="020B0503020204020204" pitchFamily="34" charset="-122"/>
              </a:rPr>
              <a:t>胰岛素受体由</a:t>
            </a:r>
            <a:r>
              <a:rPr lang="en-US" altLang="zh-CN" sz="2000" dirty="0">
                <a:solidFill>
                  <a:schemeClr val="tx1">
                    <a:lumMod val="50000"/>
                  </a:schemeClr>
                </a:solidFill>
                <a:latin typeface="微软雅黑" panose="020B0503020204020204" pitchFamily="34" charset="-122"/>
                <a:ea typeface="微软雅黑" panose="020B0503020204020204" pitchFamily="34" charset="-122"/>
              </a:rPr>
              <a:t>α</a:t>
            </a:r>
            <a:r>
              <a:rPr lang="zh-CN" altLang="en-US" sz="2000" dirty="0">
                <a:solidFill>
                  <a:schemeClr val="tx1">
                    <a:lumMod val="50000"/>
                  </a:schemeClr>
                </a:solidFill>
                <a:latin typeface="微软雅黑" panose="020B0503020204020204" pitchFamily="34" charset="-122"/>
                <a:ea typeface="微软雅黑" panose="020B0503020204020204" pitchFamily="34" charset="-122"/>
              </a:rPr>
              <a:t>、</a:t>
            </a:r>
            <a:r>
              <a:rPr lang="en-US" altLang="zh-CN" sz="2000" dirty="0">
                <a:solidFill>
                  <a:schemeClr val="tx1">
                    <a:lumMod val="50000"/>
                  </a:schemeClr>
                </a:solidFill>
                <a:latin typeface="微软雅黑" panose="020B0503020204020204" pitchFamily="34" charset="-122"/>
                <a:ea typeface="微软雅黑" panose="020B0503020204020204" pitchFamily="34" charset="-122"/>
              </a:rPr>
              <a:t>β </a:t>
            </a:r>
            <a:r>
              <a:rPr lang="zh-CN" altLang="en-US" sz="2000" dirty="0">
                <a:solidFill>
                  <a:schemeClr val="tx1">
                    <a:lumMod val="50000"/>
                  </a:schemeClr>
                </a:solidFill>
                <a:latin typeface="微软雅黑" panose="020B0503020204020204" pitchFamily="34" charset="-122"/>
                <a:ea typeface="微软雅黑" panose="020B0503020204020204" pitchFamily="34" charset="-122"/>
              </a:rPr>
              <a:t>各两个亚基组成。</a:t>
            </a:r>
            <a:r>
              <a:rPr lang="en-US" altLang="zh-CN" sz="2000" dirty="0">
                <a:solidFill>
                  <a:schemeClr val="tx1">
                    <a:lumMod val="50000"/>
                  </a:schemeClr>
                </a:solidFill>
                <a:latin typeface="微软雅黑" panose="020B0503020204020204" pitchFamily="34" charset="-122"/>
                <a:ea typeface="微软雅黑" panose="020B0503020204020204" pitchFamily="34" charset="-122"/>
              </a:rPr>
              <a:t> </a:t>
            </a:r>
            <a:r>
              <a:rPr lang="en-US" altLang="zh-CN" sz="2000" b="1" dirty="0">
                <a:solidFill>
                  <a:schemeClr val="tx1">
                    <a:lumMod val="50000"/>
                  </a:schemeClr>
                </a:solidFill>
                <a:latin typeface="微软雅黑" panose="020B0503020204020204" pitchFamily="34" charset="-122"/>
                <a:ea typeface="微软雅黑" panose="020B0503020204020204" pitchFamily="34" charset="-122"/>
              </a:rPr>
              <a:t>α </a:t>
            </a:r>
            <a:r>
              <a:rPr lang="zh-CN" altLang="en-US" sz="2000" b="1" dirty="0">
                <a:solidFill>
                  <a:schemeClr val="tx1">
                    <a:lumMod val="50000"/>
                  </a:schemeClr>
                </a:solidFill>
                <a:latin typeface="微软雅黑" panose="020B0503020204020204" pitchFamily="34" charset="-122"/>
                <a:ea typeface="微软雅黑" panose="020B0503020204020204" pitchFamily="34" charset="-122"/>
              </a:rPr>
              <a:t>亚基</a:t>
            </a:r>
            <a:r>
              <a:rPr lang="zh-CN" altLang="en-US" sz="2000" dirty="0">
                <a:solidFill>
                  <a:schemeClr val="tx1">
                    <a:lumMod val="50000"/>
                  </a:schemeClr>
                </a:solidFill>
                <a:latin typeface="微软雅黑" panose="020B0503020204020204" pitchFamily="34" charset="-122"/>
                <a:ea typeface="微软雅黑" panose="020B0503020204020204" pitchFamily="34" charset="-122"/>
              </a:rPr>
              <a:t>具有胰岛素结合位点。</a:t>
            </a:r>
            <a:r>
              <a:rPr lang="en-US" altLang="zh-CN" sz="2000" dirty="0">
                <a:solidFill>
                  <a:schemeClr val="tx1">
                    <a:lumMod val="50000"/>
                  </a:schemeClr>
                </a:solidFill>
                <a:latin typeface="微软雅黑" panose="020B0503020204020204" pitchFamily="34" charset="-122"/>
                <a:ea typeface="微软雅黑" panose="020B0503020204020204" pitchFamily="34" charset="-122"/>
              </a:rPr>
              <a:t>β </a:t>
            </a:r>
            <a:r>
              <a:rPr lang="zh-CN" altLang="en-US" sz="2000" dirty="0">
                <a:solidFill>
                  <a:schemeClr val="tx1">
                    <a:lumMod val="50000"/>
                  </a:schemeClr>
                </a:solidFill>
                <a:latin typeface="微软雅黑" panose="020B0503020204020204" pitchFamily="34" charset="-122"/>
                <a:ea typeface="微软雅黑" panose="020B0503020204020204" pitchFamily="34" charset="-122"/>
              </a:rPr>
              <a:t>亚基的胞内结构域</a:t>
            </a:r>
            <a:r>
              <a:rPr lang="zh-CN" altLang="en-US" sz="2000" b="1" dirty="0">
                <a:solidFill>
                  <a:schemeClr val="tx1">
                    <a:lumMod val="50000"/>
                  </a:schemeClr>
                </a:solidFill>
                <a:latin typeface="微软雅黑" panose="020B0503020204020204" pitchFamily="34" charset="-122"/>
                <a:ea typeface="微软雅黑" panose="020B0503020204020204" pitchFamily="34" charset="-122"/>
              </a:rPr>
              <a:t>具有蛋白质激酶活性</a:t>
            </a:r>
            <a:r>
              <a:rPr lang="zh-CN" altLang="en-US" sz="2000" dirty="0">
                <a:solidFill>
                  <a:schemeClr val="tx1">
                    <a:lumMod val="50000"/>
                  </a:schemeClr>
                </a:solidFill>
                <a:latin typeface="微软雅黑" panose="020B0503020204020204" pitchFamily="34" charset="-122"/>
                <a:ea typeface="微软雅黑" panose="020B0503020204020204" pitchFamily="34" charset="-122"/>
              </a:rPr>
              <a:t>，可将酪氨酸残基进行磷酸化修饰，是胰岛素引发细胞内效应的功能单位。</a:t>
            </a:r>
            <a:endParaRPr lang="en-US" altLang="zh-CN" sz="2000" dirty="0">
              <a:solidFill>
                <a:schemeClr val="tx1">
                  <a:lumMod val="50000"/>
                </a:schemeClr>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34213D9B-3EC4-CEA1-9C25-75490FF02860}"/>
              </a:ext>
            </a:extLst>
          </p:cNvPr>
          <p:cNvSpPr txBox="1"/>
          <p:nvPr/>
        </p:nvSpPr>
        <p:spPr>
          <a:xfrm>
            <a:off x="191344" y="5620186"/>
            <a:ext cx="2230317" cy="830997"/>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胰岛素受体底物（</a:t>
            </a:r>
            <a:r>
              <a:rPr lang="en-US" altLang="zh-CN" dirty="0">
                <a:latin typeface="微软雅黑" panose="020B0503020204020204" pitchFamily="34" charset="-122"/>
                <a:ea typeface="微软雅黑" panose="020B0503020204020204" pitchFamily="34" charset="-122"/>
              </a:rPr>
              <a:t>insulin receptor substrate</a:t>
            </a:r>
            <a:r>
              <a:rPr lang="zh-CN" altLang="en-US" dirty="0">
                <a:latin typeface="微软雅黑" panose="020B0503020204020204" pitchFamily="34" charset="-122"/>
                <a:ea typeface="微软雅黑" panose="020B0503020204020204" pitchFamily="34" charset="-122"/>
              </a:rPr>
              <a:t>，</a:t>
            </a:r>
            <a:r>
              <a:rPr lang="en-US" altLang="zh-CN" dirty="0">
                <a:solidFill>
                  <a:schemeClr val="tx1">
                    <a:lumMod val="60000"/>
                    <a:lumOff val="40000"/>
                  </a:schemeClr>
                </a:solidFill>
                <a:latin typeface="微软雅黑" panose="020B0503020204020204" pitchFamily="34" charset="-122"/>
                <a:ea typeface="微软雅黑" panose="020B0503020204020204" pitchFamily="34" charset="-122"/>
              </a:rPr>
              <a:t>IRS</a:t>
            </a:r>
            <a:r>
              <a:rPr lang="zh-CN" altLang="en-US" dirty="0">
                <a:latin typeface="微软雅黑" panose="020B0503020204020204" pitchFamily="34" charset="-122"/>
                <a:ea typeface="微软雅黑" panose="020B0503020204020204" pitchFamily="34" charset="-122"/>
              </a:rPr>
              <a:t>）</a:t>
            </a:r>
          </a:p>
        </p:txBody>
      </p:sp>
    </p:spTree>
  </p:cSld>
  <p:clrMapOvr>
    <a:masterClrMapping/>
  </p:clrMapOvr>
  <p:transition spd="slow">
    <p:circl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F6B1C158-BA85-4BA2-9093-98FC450B7F35}"/>
              </a:ext>
            </a:extLst>
          </p:cNvPr>
          <p:cNvSpPr>
            <a:spLocks noGrp="1" noChangeArrowheads="1"/>
          </p:cNvSpPr>
          <p:nvPr>
            <p:ph type="title" idx="4294967295"/>
          </p:nvPr>
        </p:nvSpPr>
        <p:spPr>
          <a:xfrm>
            <a:off x="2707255" y="228600"/>
            <a:ext cx="6985000" cy="563562"/>
          </a:xfrm>
        </p:spPr>
        <p:txBody>
          <a:bodyPr/>
          <a:lstStyle/>
          <a:p>
            <a:r>
              <a:rPr lang="zh-CN" altLang="en-US" dirty="0">
                <a:solidFill>
                  <a:schemeClr val="tx1">
                    <a:lumMod val="60000"/>
                    <a:lumOff val="40000"/>
                  </a:schemeClr>
                </a:solidFill>
              </a:rPr>
              <a:t>（二）抗原与抗体的特异性结合</a:t>
            </a:r>
          </a:p>
        </p:txBody>
      </p:sp>
      <p:sp>
        <p:nvSpPr>
          <p:cNvPr id="3" name="内容占位符 2">
            <a:extLst>
              <a:ext uri="{FF2B5EF4-FFF2-40B4-BE49-F238E27FC236}">
                <a16:creationId xmlns:a16="http://schemas.microsoft.com/office/drawing/2014/main" id="{E16B6960-9E65-443E-8F3D-3E19BB54F098}"/>
              </a:ext>
            </a:extLst>
          </p:cNvPr>
          <p:cNvSpPr>
            <a:spLocks noGrp="1"/>
          </p:cNvSpPr>
          <p:nvPr>
            <p:ph idx="4294967295"/>
          </p:nvPr>
        </p:nvSpPr>
        <p:spPr>
          <a:xfrm>
            <a:off x="6023992" y="1052513"/>
            <a:ext cx="5760640" cy="5576887"/>
          </a:xfrm>
        </p:spPr>
        <p:txBody>
          <a:bodyPr/>
          <a:lstStyle/>
          <a:p>
            <a:pPr>
              <a:defRPr/>
            </a:pPr>
            <a:r>
              <a:rPr lang="en-US" altLang="zh-CN" dirty="0">
                <a:solidFill>
                  <a:schemeClr val="tx1">
                    <a:lumMod val="60000"/>
                    <a:lumOff val="40000"/>
                  </a:schemeClr>
                </a:solidFill>
              </a:rPr>
              <a:t>Immunoglobulin G (IgG) </a:t>
            </a:r>
          </a:p>
          <a:p>
            <a:pPr lvl="1">
              <a:defRPr/>
            </a:pPr>
            <a:r>
              <a:rPr lang="en-US" altLang="zh-CN" sz="2600" dirty="0"/>
              <a:t>2</a:t>
            </a:r>
            <a:r>
              <a:rPr lang="zh-CN" altLang="en-US" sz="2600" dirty="0"/>
              <a:t>条重链（</a:t>
            </a:r>
            <a:r>
              <a:rPr lang="en-US" altLang="zh-CN" sz="2600" dirty="0"/>
              <a:t>H</a:t>
            </a:r>
            <a:r>
              <a:rPr lang="zh-CN" altLang="en-US" sz="2600" dirty="0"/>
              <a:t>）</a:t>
            </a:r>
            <a:r>
              <a:rPr lang="en-US" altLang="zh-CN" sz="2600" dirty="0"/>
              <a:t>+ 2</a:t>
            </a:r>
            <a:r>
              <a:rPr lang="zh-CN" altLang="en-US" sz="2600" dirty="0"/>
              <a:t>条轻链（</a:t>
            </a:r>
            <a:r>
              <a:rPr lang="en-US" altLang="zh-CN" sz="2600" dirty="0"/>
              <a:t>L</a:t>
            </a:r>
            <a:r>
              <a:rPr lang="zh-CN" altLang="en-US" sz="2600" dirty="0"/>
              <a:t>）</a:t>
            </a:r>
            <a:r>
              <a:rPr lang="en-US" altLang="zh-CN" sz="2600" dirty="0"/>
              <a:t>,  </a:t>
            </a:r>
            <a:r>
              <a:rPr lang="zh-CN" altLang="en-US" sz="2600" dirty="0"/>
              <a:t>呈</a:t>
            </a:r>
            <a:r>
              <a:rPr lang="en-US" altLang="zh-CN" sz="2600" dirty="0"/>
              <a:t>Y</a:t>
            </a:r>
            <a:r>
              <a:rPr lang="zh-CN" altLang="en-US" sz="2600" dirty="0"/>
              <a:t>型</a:t>
            </a:r>
            <a:endParaRPr lang="en-US" altLang="zh-CN" sz="2600" dirty="0"/>
          </a:p>
          <a:p>
            <a:pPr marL="457200" lvl="1" indent="0">
              <a:buNone/>
              <a:defRPr/>
            </a:pPr>
            <a:r>
              <a:rPr lang="en-US" altLang="zh-CN" sz="2400" dirty="0"/>
              <a:t>     </a:t>
            </a:r>
            <a:r>
              <a:rPr lang="zh-CN" altLang="en-US" sz="2400" dirty="0"/>
              <a:t>以二硫键和非共价键相连</a:t>
            </a:r>
            <a:endParaRPr lang="en-US" altLang="zh-CN" sz="2400" dirty="0"/>
          </a:p>
          <a:p>
            <a:pPr lvl="1">
              <a:defRPr/>
            </a:pPr>
            <a:r>
              <a:rPr lang="zh-CN" altLang="en-US" sz="2400" dirty="0"/>
              <a:t>木瓜蛋白酶处理可得一个</a:t>
            </a:r>
            <a:r>
              <a:rPr lang="en-US" altLang="zh-CN" sz="2400" dirty="0"/>
              <a:t>Fc</a:t>
            </a:r>
            <a:r>
              <a:rPr lang="zh-CN" altLang="en-US" sz="2400" dirty="0"/>
              <a:t>片段和两个</a:t>
            </a:r>
            <a:r>
              <a:rPr lang="en-US" altLang="zh-CN" sz="2400" dirty="0"/>
              <a:t>Fab</a:t>
            </a:r>
            <a:r>
              <a:rPr lang="zh-CN" altLang="en-US" sz="2400" dirty="0"/>
              <a:t>片段</a:t>
            </a:r>
            <a:endParaRPr lang="en-US" altLang="zh-CN" sz="2400" dirty="0"/>
          </a:p>
          <a:p>
            <a:pPr marL="809625" lvl="2" indent="0">
              <a:buNone/>
              <a:defRPr/>
            </a:pPr>
            <a:r>
              <a:rPr lang="en-US" altLang="zh-CN" dirty="0"/>
              <a:t>Fab:  </a:t>
            </a:r>
            <a:r>
              <a:rPr lang="en-US" altLang="zh-CN" dirty="0">
                <a:solidFill>
                  <a:srgbClr val="0000CC"/>
                </a:solidFill>
              </a:rPr>
              <a:t>a</a:t>
            </a:r>
            <a:r>
              <a:rPr lang="en-US" altLang="zh-CN" dirty="0"/>
              <a:t>ntigen-</a:t>
            </a:r>
            <a:r>
              <a:rPr lang="en-US" altLang="zh-CN" dirty="0">
                <a:solidFill>
                  <a:srgbClr val="0000CC"/>
                </a:solidFill>
              </a:rPr>
              <a:t>b</a:t>
            </a:r>
            <a:r>
              <a:rPr lang="en-US" altLang="zh-CN" dirty="0"/>
              <a:t>inding </a:t>
            </a:r>
            <a:r>
              <a:rPr lang="en-US" altLang="zh-CN" dirty="0">
                <a:solidFill>
                  <a:srgbClr val="0000CC"/>
                </a:solidFill>
              </a:rPr>
              <a:t>f</a:t>
            </a:r>
            <a:r>
              <a:rPr lang="en-US" altLang="zh-CN" dirty="0"/>
              <a:t>ragment</a:t>
            </a:r>
          </a:p>
          <a:p>
            <a:pPr marL="809625" lvl="2" indent="0">
              <a:buNone/>
              <a:defRPr/>
            </a:pPr>
            <a:endParaRPr lang="en-US" altLang="zh-CN" dirty="0"/>
          </a:p>
          <a:p>
            <a:pPr>
              <a:defRPr/>
            </a:pPr>
            <a:r>
              <a:rPr lang="zh-CN" altLang="en-US" sz="2600" dirty="0"/>
              <a:t>每条链含恒定区（</a:t>
            </a:r>
            <a:r>
              <a:rPr lang="en-US" altLang="zh-CN" sz="2600" dirty="0"/>
              <a:t>C</a:t>
            </a:r>
            <a:r>
              <a:rPr lang="zh-CN" altLang="en-US" sz="2600" dirty="0"/>
              <a:t>）和可变区（</a:t>
            </a:r>
            <a:r>
              <a:rPr lang="en-US" altLang="zh-CN" sz="2600" dirty="0"/>
              <a:t>V</a:t>
            </a:r>
            <a:r>
              <a:rPr lang="zh-CN" altLang="en-US" sz="2600" dirty="0"/>
              <a:t>）</a:t>
            </a:r>
            <a:endParaRPr lang="en-US" altLang="zh-CN" sz="2600" dirty="0"/>
          </a:p>
          <a:p>
            <a:pPr lvl="1">
              <a:defRPr/>
            </a:pPr>
            <a:r>
              <a:rPr lang="zh-CN" altLang="en-US" dirty="0"/>
              <a:t>重链与轻链的可变区共同构成抗原结合位点</a:t>
            </a:r>
            <a:endParaRPr lang="en-US" altLang="zh-CN" dirty="0"/>
          </a:p>
        </p:txBody>
      </p:sp>
      <p:pic>
        <p:nvPicPr>
          <p:cNvPr id="15364" name="图片 3">
            <a:extLst>
              <a:ext uri="{FF2B5EF4-FFF2-40B4-BE49-F238E27FC236}">
                <a16:creationId xmlns:a16="http://schemas.microsoft.com/office/drawing/2014/main" id="{E42C091B-429A-4A3C-AEAC-A8827ABA5AE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47850" y="1125538"/>
            <a:ext cx="3671888" cy="550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BB7044BD-EDD4-4F1A-9CDD-6E4FD5799532}"/>
              </a:ext>
            </a:extLst>
          </p:cNvPr>
          <p:cNvSpPr>
            <a:spLocks noGrp="1" noChangeArrowheads="1"/>
          </p:cNvSpPr>
          <p:nvPr>
            <p:ph type="title"/>
          </p:nvPr>
        </p:nvSpPr>
        <p:spPr>
          <a:xfrm>
            <a:off x="1847850" y="188913"/>
            <a:ext cx="6553200" cy="563562"/>
          </a:xfrm>
        </p:spPr>
        <p:txBody>
          <a:bodyPr/>
          <a:lstStyle/>
          <a:p>
            <a:r>
              <a:rPr lang="en-US" altLang="zh-CN"/>
              <a:t>IgG</a:t>
            </a:r>
            <a:r>
              <a:rPr lang="zh-CN" altLang="en-US"/>
              <a:t>的三维结构</a:t>
            </a:r>
          </a:p>
        </p:txBody>
      </p:sp>
      <p:pic>
        <p:nvPicPr>
          <p:cNvPr id="17411" name="图片 4">
            <a:extLst>
              <a:ext uri="{FF2B5EF4-FFF2-40B4-BE49-F238E27FC236}">
                <a16:creationId xmlns:a16="http://schemas.microsoft.com/office/drawing/2014/main" id="{0764809F-D8FD-461B-837A-E04FE9B33A6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67214" y="1268414"/>
            <a:ext cx="5972175"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内容占位符 2">
            <a:extLst>
              <a:ext uri="{FF2B5EF4-FFF2-40B4-BE49-F238E27FC236}">
                <a16:creationId xmlns:a16="http://schemas.microsoft.com/office/drawing/2014/main" id="{D8374EF4-1449-45B5-87AE-EE1DD10FC709}"/>
              </a:ext>
            </a:extLst>
          </p:cNvPr>
          <p:cNvSpPr>
            <a:spLocks noGrp="1" noChangeArrowheads="1"/>
          </p:cNvSpPr>
          <p:nvPr>
            <p:ph idx="1"/>
          </p:nvPr>
        </p:nvSpPr>
        <p:spPr>
          <a:xfrm>
            <a:off x="2208214" y="4005263"/>
            <a:ext cx="3095625" cy="2182812"/>
          </a:xfrm>
          <a:solidFill>
            <a:schemeClr val="bg1"/>
          </a:solidFill>
        </p:spPr>
        <p:txBody>
          <a:bodyPr/>
          <a:lstStyle/>
          <a:p>
            <a:pPr marL="0" indent="0">
              <a:buNone/>
            </a:pPr>
            <a:r>
              <a:rPr lang="zh-CN" altLang="en-US">
                <a:solidFill>
                  <a:srgbClr val="003399"/>
                </a:solidFill>
              </a:rPr>
              <a:t>全</a:t>
            </a:r>
            <a:r>
              <a:rPr lang="en-US" altLang="zh-CN">
                <a:solidFill>
                  <a:srgbClr val="003399"/>
                </a:solidFill>
              </a:rPr>
              <a:t>-β </a:t>
            </a:r>
            <a:r>
              <a:rPr lang="zh-CN" altLang="en-US">
                <a:solidFill>
                  <a:srgbClr val="003399"/>
                </a:solidFill>
              </a:rPr>
              <a:t>结构模式</a:t>
            </a:r>
            <a:endParaRPr lang="en-US" altLang="zh-CN">
              <a:solidFill>
                <a:srgbClr val="003399"/>
              </a:solidFill>
            </a:endParaRPr>
          </a:p>
          <a:p>
            <a:pPr marL="0" indent="0">
              <a:buNone/>
            </a:pPr>
            <a:endParaRPr lang="en-US" altLang="zh-CN">
              <a:solidFill>
                <a:srgbClr val="003399"/>
              </a:solidFill>
            </a:endParaRPr>
          </a:p>
          <a:p>
            <a:pPr marL="0" indent="0">
              <a:buNone/>
            </a:pPr>
            <a:r>
              <a:rPr lang="zh-CN" altLang="en-US">
                <a:solidFill>
                  <a:srgbClr val="003399"/>
                </a:solidFill>
              </a:rPr>
              <a:t>蓝色： 重链</a:t>
            </a:r>
            <a:r>
              <a:rPr lang="en-US" altLang="zh-CN">
                <a:solidFill>
                  <a:srgbClr val="003399"/>
                </a:solidFill>
              </a:rPr>
              <a:t>      </a:t>
            </a:r>
          </a:p>
          <a:p>
            <a:pPr marL="0" indent="0">
              <a:buNone/>
            </a:pPr>
            <a:r>
              <a:rPr lang="zh-CN" altLang="en-US">
                <a:solidFill>
                  <a:srgbClr val="C00000"/>
                </a:solidFill>
              </a:rPr>
              <a:t>红色： 轻链</a:t>
            </a:r>
          </a:p>
        </p:txBody>
      </p:sp>
    </p:spTree>
  </p:cSld>
  <p:clrMapOvr>
    <a:masterClrMapping/>
  </p:clrMapOvr>
  <p:transition spd="slow">
    <p:circl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9554" name="图片 1">
            <a:extLst>
              <a:ext uri="{FF2B5EF4-FFF2-40B4-BE49-F238E27FC236}">
                <a16:creationId xmlns:a16="http://schemas.microsoft.com/office/drawing/2014/main" id="{28AA29F4-3B23-467A-BC25-056C8F3EFC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92" b="9909"/>
          <a:stretch>
            <a:fillRect/>
          </a:stretch>
        </p:blipFill>
        <p:spPr bwMode="auto">
          <a:xfrm>
            <a:off x="2063751" y="115888"/>
            <a:ext cx="7993063" cy="659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FD340556-B7B8-402C-A0FA-54FA3677A300}"/>
              </a:ext>
            </a:extLst>
          </p:cNvPr>
          <p:cNvSpPr>
            <a:spLocks noGrp="1" noChangeArrowheads="1"/>
          </p:cNvSpPr>
          <p:nvPr>
            <p:ph type="title"/>
          </p:nvPr>
        </p:nvSpPr>
        <p:spPr>
          <a:xfrm>
            <a:off x="1703388" y="188913"/>
            <a:ext cx="6985000" cy="563562"/>
          </a:xfrm>
        </p:spPr>
        <p:txBody>
          <a:bodyPr/>
          <a:lstStyle/>
          <a:p>
            <a:r>
              <a:rPr lang="zh-CN" altLang="en-US"/>
              <a:t>抗体能与抗原紧密、特异地结合</a:t>
            </a:r>
          </a:p>
        </p:txBody>
      </p:sp>
      <p:sp>
        <p:nvSpPr>
          <p:cNvPr id="21507" name="内容占位符 2">
            <a:extLst>
              <a:ext uri="{FF2B5EF4-FFF2-40B4-BE49-F238E27FC236}">
                <a16:creationId xmlns:a16="http://schemas.microsoft.com/office/drawing/2014/main" id="{B1D12099-AACA-4862-9763-36258F8532D3}"/>
              </a:ext>
            </a:extLst>
          </p:cNvPr>
          <p:cNvSpPr>
            <a:spLocks noGrp="1" noChangeArrowheads="1"/>
          </p:cNvSpPr>
          <p:nvPr>
            <p:ph idx="1"/>
          </p:nvPr>
        </p:nvSpPr>
        <p:spPr>
          <a:xfrm>
            <a:off x="1240731" y="1177926"/>
            <a:ext cx="9793088" cy="2695575"/>
          </a:xfrm>
        </p:spPr>
        <p:txBody>
          <a:bodyPr/>
          <a:lstStyle/>
          <a:p>
            <a:pPr>
              <a:lnSpc>
                <a:spcPct val="120000"/>
              </a:lnSpc>
            </a:pPr>
            <a:r>
              <a:rPr lang="zh-CN" altLang="en-US" dirty="0"/>
              <a:t>抗原抗体结合的</a:t>
            </a:r>
            <a:r>
              <a:rPr lang="zh-CN" altLang="en-US" dirty="0">
                <a:solidFill>
                  <a:srgbClr val="0000CC"/>
                </a:solidFill>
              </a:rPr>
              <a:t>特异性取决于</a:t>
            </a:r>
            <a:r>
              <a:rPr lang="zh-CN" altLang="en-US" dirty="0"/>
              <a:t>抗原与抗体可变区内特异结合位点的</a:t>
            </a:r>
            <a:r>
              <a:rPr lang="zh-CN" altLang="en-US" dirty="0">
                <a:solidFill>
                  <a:srgbClr val="C00000"/>
                </a:solidFill>
              </a:rPr>
              <a:t>化学互补性</a:t>
            </a:r>
            <a:r>
              <a:rPr lang="zh-CN" altLang="en-US" dirty="0"/>
              <a:t>，即相关化学基团在</a:t>
            </a:r>
            <a:r>
              <a:rPr lang="zh-CN" altLang="en-US" dirty="0">
                <a:solidFill>
                  <a:schemeClr val="tx1">
                    <a:lumMod val="60000"/>
                    <a:lumOff val="40000"/>
                  </a:schemeClr>
                </a:solidFill>
              </a:rPr>
              <a:t>形状、电荷、非极性及生成氢键方面是否契合</a:t>
            </a:r>
            <a:r>
              <a:rPr lang="zh-CN" altLang="en-US" dirty="0"/>
              <a:t>。</a:t>
            </a:r>
            <a:endParaRPr lang="en-US" altLang="zh-CN" dirty="0"/>
          </a:p>
          <a:p>
            <a:pPr>
              <a:lnSpc>
                <a:spcPct val="120000"/>
              </a:lnSpc>
            </a:pPr>
            <a:r>
              <a:rPr lang="zh-CN" altLang="en-US" dirty="0"/>
              <a:t>抗体结合抗原时常有构象的变化，结合过程中存在</a:t>
            </a:r>
            <a:r>
              <a:rPr lang="zh-CN" altLang="en-US" dirty="0">
                <a:solidFill>
                  <a:srgbClr val="C00000"/>
                </a:solidFill>
              </a:rPr>
              <a:t>诱导契合（</a:t>
            </a:r>
            <a:r>
              <a:rPr lang="en-US" altLang="zh-CN" dirty="0">
                <a:solidFill>
                  <a:srgbClr val="C00000"/>
                </a:solidFill>
              </a:rPr>
              <a:t>induced fit)</a:t>
            </a:r>
            <a:r>
              <a:rPr lang="en-US" altLang="zh-CN" dirty="0"/>
              <a:t>.</a:t>
            </a:r>
            <a:endParaRPr lang="zh-CN" altLang="en-US" dirty="0"/>
          </a:p>
        </p:txBody>
      </p:sp>
      <p:pic>
        <p:nvPicPr>
          <p:cNvPr id="21508" name="图片 3">
            <a:extLst>
              <a:ext uri="{FF2B5EF4-FFF2-40B4-BE49-F238E27FC236}">
                <a16:creationId xmlns:a16="http://schemas.microsoft.com/office/drawing/2014/main" id="{E3932B24-AA60-4E6C-90E6-8888A6338A0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60550" y="3873501"/>
            <a:ext cx="855345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1507">
                                            <p:txEl>
                                              <p:pRg st="1" end="1"/>
                                            </p:txEl>
                                          </p:spTgt>
                                        </p:tgtEl>
                                        <p:attrNameLst>
                                          <p:attrName>style.visibility</p:attrName>
                                        </p:attrNameLst>
                                      </p:cBhvr>
                                      <p:to>
                                        <p:strVal val="visible"/>
                                      </p:to>
                                    </p:set>
                                    <p:animEffect transition="in" filter="fade">
                                      <p:cBhvr>
                                        <p:cTn id="7" dur="500"/>
                                        <p:tgtEl>
                                          <p:spTgt spid="2150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1508"/>
                                        </p:tgtEl>
                                        <p:attrNameLst>
                                          <p:attrName>style.visibility</p:attrName>
                                        </p:attrNameLst>
                                      </p:cBhvr>
                                      <p:to>
                                        <p:strVal val="visible"/>
                                      </p:to>
                                    </p:set>
                                    <p:animEffect transition="in" filter="fade">
                                      <p:cBhvr>
                                        <p:cTn id="10" dur="500"/>
                                        <p:tgtEl>
                                          <p:spTgt spid="21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ext Box 3">
            <a:extLst>
              <a:ext uri="{FF2B5EF4-FFF2-40B4-BE49-F238E27FC236}">
                <a16:creationId xmlns:a16="http://schemas.microsoft.com/office/drawing/2014/main" id="{C95E9E6A-6D12-408C-8A8A-CF89BEDA3D81}"/>
              </a:ext>
            </a:extLst>
          </p:cNvPr>
          <p:cNvSpPr txBox="1">
            <a:spLocks noChangeArrowheads="1"/>
          </p:cNvSpPr>
          <p:nvPr/>
        </p:nvSpPr>
        <p:spPr bwMode="auto">
          <a:xfrm>
            <a:off x="1775520" y="836712"/>
            <a:ext cx="9505056" cy="646331"/>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ts val="1200"/>
              </a:spcBef>
              <a:buClrTx/>
              <a:buFontTx/>
              <a:buNone/>
            </a:pPr>
            <a:r>
              <a:rPr kumimoji="1" lang="zh-CN" altLang="en-US" sz="3600" dirty="0">
                <a:solidFill>
                  <a:schemeClr val="bg1"/>
                </a:solidFill>
              </a:rPr>
              <a:t>二、蛋白质一级结构是高级结构与功能的基础</a:t>
            </a:r>
            <a:r>
              <a:rPr kumimoji="1" lang="zh-CN" altLang="en-US" sz="3600" dirty="0">
                <a:solidFill>
                  <a:schemeClr val="tx2"/>
                </a:solidFill>
              </a:rPr>
              <a:t>    </a:t>
            </a:r>
          </a:p>
        </p:txBody>
      </p:sp>
      <p:sp>
        <p:nvSpPr>
          <p:cNvPr id="21507" name="内容占位符 2">
            <a:extLst>
              <a:ext uri="{FF2B5EF4-FFF2-40B4-BE49-F238E27FC236}">
                <a16:creationId xmlns:a16="http://schemas.microsoft.com/office/drawing/2014/main" id="{DB2E5C0E-EA96-4E72-A289-56AA48992450}"/>
              </a:ext>
            </a:extLst>
          </p:cNvPr>
          <p:cNvSpPr>
            <a:spLocks noGrp="1" noChangeArrowheads="1"/>
          </p:cNvSpPr>
          <p:nvPr>
            <p:ph idx="1"/>
          </p:nvPr>
        </p:nvSpPr>
        <p:spPr>
          <a:xfrm>
            <a:off x="2999656" y="2060848"/>
            <a:ext cx="7358063" cy="3960440"/>
          </a:xfrm>
        </p:spPr>
        <p:txBody>
          <a:bodyPr/>
          <a:lstStyle/>
          <a:p>
            <a:pPr>
              <a:lnSpc>
                <a:spcPct val="150000"/>
              </a:lnSpc>
            </a:pPr>
            <a:r>
              <a:rPr lang="zh-CN" altLang="en-US" dirty="0">
                <a:solidFill>
                  <a:srgbClr val="C00000"/>
                </a:solidFill>
              </a:rPr>
              <a:t>掌握</a:t>
            </a:r>
            <a:r>
              <a:rPr lang="zh-CN" altLang="en-US" dirty="0"/>
              <a:t>： </a:t>
            </a:r>
            <a:endParaRPr lang="en-US" altLang="zh-CN" dirty="0"/>
          </a:p>
          <a:p>
            <a:pPr lvl="1">
              <a:lnSpc>
                <a:spcPct val="150000"/>
              </a:lnSpc>
            </a:pPr>
            <a:r>
              <a:rPr lang="zh-CN" altLang="en-US" dirty="0"/>
              <a:t>安芬森实验原理</a:t>
            </a:r>
            <a:endParaRPr lang="en-US" altLang="zh-CN" dirty="0"/>
          </a:p>
          <a:p>
            <a:pPr lvl="1">
              <a:lnSpc>
                <a:spcPct val="150000"/>
              </a:lnSpc>
            </a:pPr>
            <a:r>
              <a:rPr lang="zh-CN" altLang="en-US" dirty="0"/>
              <a:t>镰形红细胞贫血分子机制</a:t>
            </a:r>
            <a:endParaRPr lang="en-US" altLang="zh-CN" dirty="0"/>
          </a:p>
          <a:p>
            <a:pPr lvl="1">
              <a:lnSpc>
                <a:spcPct val="150000"/>
              </a:lnSpc>
            </a:pPr>
            <a:r>
              <a:rPr lang="zh-CN" altLang="en-US" dirty="0"/>
              <a:t>概念： 分子伴侣   </a:t>
            </a:r>
            <a:endParaRPr lang="en-US" altLang="zh-CN" dirty="0"/>
          </a:p>
          <a:p>
            <a:pPr>
              <a:lnSpc>
                <a:spcPct val="150000"/>
              </a:lnSpc>
            </a:pPr>
            <a:r>
              <a:rPr lang="zh-CN" altLang="en-US" dirty="0"/>
              <a:t>熟悉： 细胞色素</a:t>
            </a:r>
            <a:r>
              <a:rPr lang="en-US" altLang="zh-CN" dirty="0"/>
              <a:t>C</a:t>
            </a:r>
            <a:r>
              <a:rPr lang="zh-CN" altLang="en-US" dirty="0"/>
              <a:t>一级结构与进化的关系 </a:t>
            </a:r>
          </a:p>
        </p:txBody>
      </p:sp>
    </p:spTree>
  </p:cSld>
  <p:clrMapOvr>
    <a:masterClrMapping/>
  </p:clrMapOvr>
  <p:transition spd="slow">
    <p:circl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662" name="Picture 14" descr="5-6">
            <a:extLst>
              <a:ext uri="{FF2B5EF4-FFF2-40B4-BE49-F238E27FC236}">
                <a16:creationId xmlns:a16="http://schemas.microsoft.com/office/drawing/2014/main" id="{7CB3966F-1A27-4A02-A40F-3AA49F9720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2176" y="2006601"/>
            <a:ext cx="4824413" cy="361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Text Box 17">
            <a:extLst>
              <a:ext uri="{FF2B5EF4-FFF2-40B4-BE49-F238E27FC236}">
                <a16:creationId xmlns:a16="http://schemas.microsoft.com/office/drawing/2014/main" id="{606C3BB1-80EB-4F7F-9E1E-5F062F91CB70}"/>
              </a:ext>
            </a:extLst>
          </p:cNvPr>
          <p:cNvSpPr txBox="1">
            <a:spLocks noChangeArrowheads="1"/>
          </p:cNvSpPr>
          <p:nvPr/>
        </p:nvSpPr>
        <p:spPr bwMode="auto">
          <a:xfrm>
            <a:off x="2164496" y="1117928"/>
            <a:ext cx="85154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dirty="0">
                <a:solidFill>
                  <a:srgbClr val="0000CC"/>
                </a:solidFill>
                <a:latin typeface="Arial" panose="020B0604020202020204" pitchFamily="34" charset="0"/>
              </a:rPr>
              <a:t>举例：</a:t>
            </a:r>
            <a:r>
              <a:rPr lang="zh-CN" altLang="en-US" dirty="0">
                <a:solidFill>
                  <a:schemeClr val="tx1"/>
                </a:solidFill>
                <a:latin typeface="Arial" panose="020B0604020202020204" pitchFamily="34" charset="0"/>
              </a:rPr>
              <a:t>牛核糖核酸酶的变性复性实验</a:t>
            </a:r>
            <a:r>
              <a:rPr lang="en-US" altLang="zh-CN" dirty="0">
                <a:solidFill>
                  <a:schemeClr val="tx1"/>
                </a:solidFill>
                <a:latin typeface="Arial" panose="020B0604020202020204" pitchFamily="34" charset="0"/>
              </a:rPr>
              <a:t>(</a:t>
            </a:r>
            <a:r>
              <a:rPr lang="zh-CN" altLang="en-US" dirty="0"/>
              <a:t>安芬森实验</a:t>
            </a:r>
            <a:r>
              <a:rPr lang="en-US" altLang="zh-CN" dirty="0">
                <a:solidFill>
                  <a:schemeClr val="tx1"/>
                </a:solidFill>
                <a:latin typeface="Arial" panose="020B0604020202020204" pitchFamily="34" charset="0"/>
              </a:rPr>
              <a:t>)</a:t>
            </a:r>
            <a:endParaRPr lang="zh-CN" altLang="en-US" dirty="0">
              <a:solidFill>
                <a:schemeClr val="tx1"/>
              </a:solidFill>
              <a:latin typeface="Arial" panose="020B0604020202020204" pitchFamily="34" charset="0"/>
            </a:endParaRPr>
          </a:p>
        </p:txBody>
      </p:sp>
      <p:sp>
        <p:nvSpPr>
          <p:cNvPr id="283666" name="AutoShape 18">
            <a:extLst>
              <a:ext uri="{FF2B5EF4-FFF2-40B4-BE49-F238E27FC236}">
                <a16:creationId xmlns:a16="http://schemas.microsoft.com/office/drawing/2014/main" id="{FC9E1C5E-E924-4264-B16D-C7F9DEA1927E}"/>
              </a:ext>
            </a:extLst>
          </p:cNvPr>
          <p:cNvSpPr>
            <a:spLocks noChangeArrowheads="1"/>
          </p:cNvSpPr>
          <p:nvPr/>
        </p:nvSpPr>
        <p:spPr bwMode="auto">
          <a:xfrm>
            <a:off x="8472488" y="2420938"/>
            <a:ext cx="1511300" cy="647700"/>
          </a:xfrm>
          <a:prstGeom prst="wedgeRoundRectCallout">
            <a:avLst>
              <a:gd name="adj1" fmla="val -103681"/>
              <a:gd name="adj2" fmla="val 33981"/>
              <a:gd name="adj3" fmla="val 16667"/>
            </a:avLst>
          </a:prstGeom>
          <a:solidFill>
            <a:srgbClr val="800080"/>
          </a:solidFill>
          <a:ln w="12700" cap="sq">
            <a:solidFill>
              <a:srgbClr val="CC00CC"/>
            </a:solidFill>
            <a:miter lim="800000"/>
            <a:headEnd type="none" w="sm" len="sm"/>
            <a:tailEnd type="none" w="sm" len="sm"/>
          </a:ln>
        </p:spPr>
        <p:txBody>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0" algn="ctr" eaLnBrk="1" hangingPunct="1">
              <a:lnSpc>
                <a:spcPct val="110000"/>
              </a:lnSpc>
              <a:spcBef>
                <a:spcPct val="0"/>
              </a:spcBef>
              <a:buClrTx/>
              <a:buNone/>
            </a:pPr>
            <a:r>
              <a:rPr kumimoji="1" lang="zh-CN" altLang="en-US" sz="2400" b="1">
                <a:solidFill>
                  <a:srgbClr val="FFFFFF"/>
                </a:solidFill>
                <a:latin typeface="Arial" panose="020B0604020202020204" pitchFamily="34" charset="0"/>
                <a:ea typeface="宋体" panose="02010600030101010101" pitchFamily="2" charset="-122"/>
              </a:rPr>
              <a:t>二硫键</a:t>
            </a:r>
          </a:p>
        </p:txBody>
      </p:sp>
      <p:sp>
        <p:nvSpPr>
          <p:cNvPr id="23557" name="标题 1">
            <a:extLst>
              <a:ext uri="{FF2B5EF4-FFF2-40B4-BE49-F238E27FC236}">
                <a16:creationId xmlns:a16="http://schemas.microsoft.com/office/drawing/2014/main" id="{E8BC563E-E0AD-4060-B05A-142C58093E47}"/>
              </a:ext>
            </a:extLst>
          </p:cNvPr>
          <p:cNvSpPr>
            <a:spLocks noGrp="1" noChangeArrowheads="1"/>
          </p:cNvSpPr>
          <p:nvPr>
            <p:ph type="title"/>
          </p:nvPr>
        </p:nvSpPr>
        <p:spPr>
          <a:xfrm>
            <a:off x="1524001" y="188913"/>
            <a:ext cx="7129463" cy="563562"/>
          </a:xfrm>
        </p:spPr>
        <p:txBody>
          <a:bodyPr/>
          <a:lstStyle/>
          <a:p>
            <a:r>
              <a:rPr lang="zh-CN" altLang="en-US"/>
              <a:t>（一）一级结构是空间构象的基础    </a:t>
            </a:r>
          </a:p>
        </p:txBody>
      </p:sp>
      <p:sp>
        <p:nvSpPr>
          <p:cNvPr id="23558" name="矩形 2">
            <a:extLst>
              <a:ext uri="{FF2B5EF4-FFF2-40B4-BE49-F238E27FC236}">
                <a16:creationId xmlns:a16="http://schemas.microsoft.com/office/drawing/2014/main" id="{B86E078E-0E61-4D7D-9355-B4B4A35F38F8}"/>
              </a:ext>
            </a:extLst>
          </p:cNvPr>
          <p:cNvSpPr>
            <a:spLocks noChangeArrowheads="1"/>
          </p:cNvSpPr>
          <p:nvPr/>
        </p:nvSpPr>
        <p:spPr bwMode="auto">
          <a:xfrm>
            <a:off x="2419351" y="6057901"/>
            <a:ext cx="8005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1400">
                <a:solidFill>
                  <a:schemeClr val="tx1"/>
                </a:solidFill>
                <a:latin typeface="Arial" panose="020B0604020202020204" pitchFamily="34" charset="0"/>
                <a:ea typeface="宋体" panose="02010600030101010101" pitchFamily="2" charset="-122"/>
              </a:rPr>
              <a:t>Anfinsen CB, Haber E, Sela M, White FH Jr (1961). "The kinetics of formation of native ribonuclease during oxidation of the reduced polypeptide chain". PNAS. 47 (9): 1309–1314</a:t>
            </a:r>
            <a:endParaRPr lang="zh-CN" altLang="en-US" sz="1400">
              <a:solidFill>
                <a:schemeClr val="tx1"/>
              </a:solidFill>
              <a:latin typeface="Arial" panose="020B0604020202020204" pitchFamily="34" charset="0"/>
              <a:ea typeface="宋体" panose="02010600030101010101" pitchFamily="2" charset="-122"/>
            </a:endParaRPr>
          </a:p>
        </p:txBody>
      </p:sp>
    </p:spTree>
    <p:custDataLst>
      <p:tags r:id="rId1"/>
    </p:custData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withEffect">
                                  <p:stCondLst>
                                    <p:cond delay="0"/>
                                  </p:stCondLst>
                                  <p:childTnLst>
                                    <p:set>
                                      <p:cBhvr>
                                        <p:cTn id="6" dur="1" fill="hold">
                                          <p:stCondLst>
                                            <p:cond delay="0"/>
                                          </p:stCondLst>
                                        </p:cTn>
                                        <p:tgtEl>
                                          <p:spTgt spid="283662"/>
                                        </p:tgtEl>
                                        <p:attrNameLst>
                                          <p:attrName>style.visibility</p:attrName>
                                        </p:attrNameLst>
                                      </p:cBhvr>
                                      <p:to>
                                        <p:strVal val="visible"/>
                                      </p:to>
                                    </p:set>
                                    <p:animEffect transition="in" filter="box(in)">
                                      <p:cBhvr>
                                        <p:cTn id="7" dur="1000"/>
                                        <p:tgtEl>
                                          <p:spTgt spid="28366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83666"/>
                                        </p:tgtEl>
                                        <p:attrNameLst>
                                          <p:attrName>style.visibility</p:attrName>
                                        </p:attrNameLst>
                                      </p:cBhvr>
                                      <p:to>
                                        <p:strVal val="visible"/>
                                      </p:to>
                                    </p:set>
                                    <p:animEffect transition="in" filter="box(in)">
                                      <p:cBhvr>
                                        <p:cTn id="10" dur="1000"/>
                                        <p:tgtEl>
                                          <p:spTgt spid="283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6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2-17A">
            <a:extLst>
              <a:ext uri="{FF2B5EF4-FFF2-40B4-BE49-F238E27FC236}">
                <a16:creationId xmlns:a16="http://schemas.microsoft.com/office/drawing/2014/main" id="{4A7A29D6-89B0-40CA-8C1D-C706993987B6}"/>
              </a:ext>
            </a:extLst>
          </p:cNvPr>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4282982" y="1000448"/>
            <a:ext cx="3014662" cy="178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Text Box 3">
            <a:extLst>
              <a:ext uri="{FF2B5EF4-FFF2-40B4-BE49-F238E27FC236}">
                <a16:creationId xmlns:a16="http://schemas.microsoft.com/office/drawing/2014/main" id="{900C7DA6-9721-49EF-9E18-3D6B50E83A11}"/>
              </a:ext>
            </a:extLst>
          </p:cNvPr>
          <p:cNvSpPr txBox="1">
            <a:spLocks noChangeArrowheads="1"/>
          </p:cNvSpPr>
          <p:nvPr/>
        </p:nvSpPr>
        <p:spPr bwMode="auto">
          <a:xfrm>
            <a:off x="7297644" y="1082043"/>
            <a:ext cx="21875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dirty="0">
                <a:solidFill>
                  <a:schemeClr val="tx1">
                    <a:lumMod val="60000"/>
                    <a:lumOff val="40000"/>
                  </a:schemeClr>
                </a:solidFill>
              </a:rPr>
              <a:t> </a:t>
            </a:r>
            <a:r>
              <a:rPr kumimoji="1" lang="zh-CN" altLang="en-US" dirty="0">
                <a:solidFill>
                  <a:schemeClr val="tx1">
                    <a:lumMod val="60000"/>
                    <a:lumOff val="40000"/>
                  </a:schemeClr>
                </a:solidFill>
              </a:rPr>
              <a:t>天然状态，有催化活性</a:t>
            </a:r>
          </a:p>
        </p:txBody>
      </p:sp>
      <p:sp>
        <p:nvSpPr>
          <p:cNvPr id="53252" name="Text Box 4">
            <a:extLst>
              <a:ext uri="{FF2B5EF4-FFF2-40B4-BE49-F238E27FC236}">
                <a16:creationId xmlns:a16="http://schemas.microsoft.com/office/drawing/2014/main" id="{883EA0EF-F4E6-463C-9225-8C39983C743F}"/>
              </a:ext>
            </a:extLst>
          </p:cNvPr>
          <p:cNvSpPr txBox="1">
            <a:spLocks noChangeArrowheads="1"/>
          </p:cNvSpPr>
          <p:nvPr/>
        </p:nvSpPr>
        <p:spPr bwMode="auto">
          <a:xfrm>
            <a:off x="4497387" y="3152664"/>
            <a:ext cx="319722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dirty="0">
                <a:solidFill>
                  <a:srgbClr val="CC3300"/>
                </a:solidFill>
              </a:rPr>
              <a:t>     </a:t>
            </a:r>
            <a:r>
              <a:rPr kumimoji="1" lang="zh-CN" altLang="en-US" dirty="0">
                <a:solidFill>
                  <a:srgbClr val="CC3300"/>
                </a:solidFill>
              </a:rPr>
              <a:t>尿素、 </a:t>
            </a:r>
          </a:p>
          <a:p>
            <a:pPr eaLnBrk="1" hangingPunct="1">
              <a:spcBef>
                <a:spcPct val="0"/>
              </a:spcBef>
              <a:buClrTx/>
              <a:buFontTx/>
              <a:buNone/>
            </a:pPr>
            <a:r>
              <a:rPr lang="en-US" altLang="zh-CN" dirty="0">
                <a:solidFill>
                  <a:srgbClr val="CC3300"/>
                </a:solidFill>
              </a:rPr>
              <a:t>β-</a:t>
            </a:r>
            <a:r>
              <a:rPr kumimoji="1" lang="zh-CN" altLang="en-US" dirty="0">
                <a:solidFill>
                  <a:srgbClr val="CC3300"/>
                </a:solidFill>
              </a:rPr>
              <a:t>巯基乙醇</a:t>
            </a:r>
            <a:r>
              <a:rPr kumimoji="1" lang="zh-CN" altLang="en-US" sz="2000" dirty="0">
                <a:solidFill>
                  <a:srgbClr val="CC3300"/>
                </a:solidFill>
              </a:rPr>
              <a:t>（</a:t>
            </a:r>
            <a:r>
              <a:rPr kumimoji="1" lang="en-US" altLang="zh-CN" sz="2000" dirty="0">
                <a:solidFill>
                  <a:srgbClr val="CC3300"/>
                </a:solidFill>
              </a:rPr>
              <a:t>BME</a:t>
            </a:r>
            <a:r>
              <a:rPr kumimoji="1" lang="zh-CN" altLang="en-US" sz="2000" dirty="0">
                <a:solidFill>
                  <a:srgbClr val="CC3300"/>
                </a:solidFill>
              </a:rPr>
              <a:t>）</a:t>
            </a:r>
          </a:p>
        </p:txBody>
      </p:sp>
      <p:sp>
        <p:nvSpPr>
          <p:cNvPr id="53253" name="Line 5">
            <a:extLst>
              <a:ext uri="{FF2B5EF4-FFF2-40B4-BE49-F238E27FC236}">
                <a16:creationId xmlns:a16="http://schemas.microsoft.com/office/drawing/2014/main" id="{966E1B9A-C538-4DFF-B26A-14FD9E2DBDC6}"/>
              </a:ext>
            </a:extLst>
          </p:cNvPr>
          <p:cNvSpPr>
            <a:spLocks noChangeShapeType="1"/>
          </p:cNvSpPr>
          <p:nvPr/>
        </p:nvSpPr>
        <p:spPr bwMode="auto">
          <a:xfrm flipH="1">
            <a:off x="4236944" y="2835597"/>
            <a:ext cx="838200" cy="1371600"/>
          </a:xfrm>
          <a:prstGeom prst="line">
            <a:avLst/>
          </a:prstGeom>
          <a:noFill/>
          <a:ln w="38100" cap="sq">
            <a:solidFill>
              <a:srgbClr val="CC3300"/>
            </a:solidFill>
            <a:round/>
            <a:headEnd type="none" w="sm" len="sm"/>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254" name="Text Box 6">
            <a:extLst>
              <a:ext uri="{FF2B5EF4-FFF2-40B4-BE49-F238E27FC236}">
                <a16:creationId xmlns:a16="http://schemas.microsoft.com/office/drawing/2014/main" id="{B8F6FF53-1FEE-43E4-9CA7-8DB9CE472F93}"/>
              </a:ext>
            </a:extLst>
          </p:cNvPr>
          <p:cNvSpPr txBox="1">
            <a:spLocks noChangeArrowheads="1"/>
          </p:cNvSpPr>
          <p:nvPr/>
        </p:nvSpPr>
        <p:spPr bwMode="auto">
          <a:xfrm>
            <a:off x="1798544" y="2454597"/>
            <a:ext cx="2514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dirty="0">
                <a:solidFill>
                  <a:srgbClr val="3F7B45"/>
                </a:solidFill>
              </a:rPr>
              <a:t>  </a:t>
            </a:r>
            <a:r>
              <a:rPr kumimoji="1" lang="zh-CN" altLang="en-US" dirty="0">
                <a:solidFill>
                  <a:srgbClr val="006600"/>
                </a:solidFill>
              </a:rPr>
              <a:t>去除尿素、</a:t>
            </a:r>
          </a:p>
          <a:p>
            <a:pPr eaLnBrk="1" hangingPunct="1">
              <a:spcBef>
                <a:spcPct val="0"/>
              </a:spcBef>
              <a:buClrTx/>
              <a:buFontTx/>
              <a:buNone/>
            </a:pPr>
            <a:r>
              <a:rPr lang="en-US" altLang="zh-CN" dirty="0">
                <a:solidFill>
                  <a:srgbClr val="006600"/>
                </a:solidFill>
              </a:rPr>
              <a:t>β-</a:t>
            </a:r>
            <a:r>
              <a:rPr kumimoji="1" lang="zh-CN" altLang="en-US" dirty="0">
                <a:solidFill>
                  <a:srgbClr val="006600"/>
                </a:solidFill>
              </a:rPr>
              <a:t>巯基乙醇</a:t>
            </a:r>
          </a:p>
        </p:txBody>
      </p:sp>
      <p:pic>
        <p:nvPicPr>
          <p:cNvPr id="53255" name="Picture 7" descr="2-17B">
            <a:extLst>
              <a:ext uri="{FF2B5EF4-FFF2-40B4-BE49-F238E27FC236}">
                <a16:creationId xmlns:a16="http://schemas.microsoft.com/office/drawing/2014/main" id="{51CCCAC4-D70C-46E6-8049-8F42D66A7F58}"/>
              </a:ext>
            </a:extLst>
          </p:cNvPr>
          <p:cNvPicPr>
            <a:picLocks noChangeAspect="1" noChangeArrowheads="1"/>
          </p:cNvPicPr>
          <p:nvPr/>
        </p:nvPicPr>
        <p:blipFill>
          <a:blip r:embed="rId5">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188944" y="4250061"/>
            <a:ext cx="3094038" cy="234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6" name="Text Box 8">
            <a:extLst>
              <a:ext uri="{FF2B5EF4-FFF2-40B4-BE49-F238E27FC236}">
                <a16:creationId xmlns:a16="http://schemas.microsoft.com/office/drawing/2014/main" id="{136E9913-5DB4-405E-92AD-6F69E6115404}"/>
              </a:ext>
            </a:extLst>
          </p:cNvPr>
          <p:cNvSpPr txBox="1">
            <a:spLocks noChangeArrowheads="1"/>
          </p:cNvSpPr>
          <p:nvPr/>
        </p:nvSpPr>
        <p:spPr bwMode="auto">
          <a:xfrm>
            <a:off x="3635283" y="6170935"/>
            <a:ext cx="33988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dirty="0">
                <a:solidFill>
                  <a:schemeClr val="tx1">
                    <a:lumMod val="60000"/>
                    <a:lumOff val="40000"/>
                  </a:schemeClr>
                </a:solidFill>
              </a:rPr>
              <a:t>非折叠状态，无活性</a:t>
            </a:r>
          </a:p>
        </p:txBody>
      </p:sp>
      <p:sp>
        <p:nvSpPr>
          <p:cNvPr id="53257" name="Line 9">
            <a:extLst>
              <a:ext uri="{FF2B5EF4-FFF2-40B4-BE49-F238E27FC236}">
                <a16:creationId xmlns:a16="http://schemas.microsoft.com/office/drawing/2014/main" id="{BE09B498-0CEE-4373-9432-F7B91A2057AD}"/>
              </a:ext>
            </a:extLst>
          </p:cNvPr>
          <p:cNvSpPr>
            <a:spLocks noChangeShapeType="1"/>
          </p:cNvSpPr>
          <p:nvPr/>
        </p:nvSpPr>
        <p:spPr bwMode="auto">
          <a:xfrm flipH="1">
            <a:off x="3855944" y="2683197"/>
            <a:ext cx="838200" cy="1371600"/>
          </a:xfrm>
          <a:prstGeom prst="line">
            <a:avLst/>
          </a:prstGeom>
          <a:noFill/>
          <a:ln w="38100" cap="sq">
            <a:solidFill>
              <a:srgbClr val="006600"/>
            </a:solidFill>
            <a:round/>
            <a:headEnd type="arrow"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5610" name="标题 1">
            <a:extLst>
              <a:ext uri="{FF2B5EF4-FFF2-40B4-BE49-F238E27FC236}">
                <a16:creationId xmlns:a16="http://schemas.microsoft.com/office/drawing/2014/main" id="{D894CC93-3531-4173-9A9E-CFB61A7364C0}"/>
              </a:ext>
            </a:extLst>
          </p:cNvPr>
          <p:cNvSpPr>
            <a:spLocks noGrp="1" noChangeArrowheads="1"/>
          </p:cNvSpPr>
          <p:nvPr>
            <p:ph type="title"/>
          </p:nvPr>
        </p:nvSpPr>
        <p:spPr>
          <a:xfrm>
            <a:off x="1703388" y="188913"/>
            <a:ext cx="6985000" cy="563562"/>
          </a:xfrm>
        </p:spPr>
        <p:txBody>
          <a:bodyPr/>
          <a:lstStyle/>
          <a:p>
            <a:pPr algn="ctr"/>
            <a:r>
              <a:rPr lang="zh-CN" altLang="en-US"/>
              <a:t>核糖核酸酶</a:t>
            </a:r>
            <a:r>
              <a:rPr lang="en-US" altLang="zh-CN"/>
              <a:t>A</a:t>
            </a:r>
            <a:r>
              <a:rPr lang="zh-CN" altLang="en-US"/>
              <a:t>的变性复性实验</a:t>
            </a:r>
          </a:p>
        </p:txBody>
      </p:sp>
      <p:pic>
        <p:nvPicPr>
          <p:cNvPr id="11" name="图片 3">
            <a:extLst>
              <a:ext uri="{FF2B5EF4-FFF2-40B4-BE49-F238E27FC236}">
                <a16:creationId xmlns:a16="http://schemas.microsoft.com/office/drawing/2014/main" id="{44024932-135B-4EBC-A110-D59910AECE10}"/>
              </a:ext>
            </a:extLst>
          </p:cNvPr>
          <p:cNvPicPr>
            <a:picLocks noChangeAspect="1"/>
          </p:cNvPicPr>
          <p:nvPr/>
        </p:nvPicPr>
        <p:blipFill>
          <a:blip r:embed="rId6">
            <a:extLst>
              <a:ext uri="{28A0092B-C50C-407E-A947-70E740481C1C}">
                <a14:useLocalDpi xmlns:a14="http://schemas.microsoft.com/office/drawing/2010/main" val="0"/>
              </a:ext>
            </a:extLst>
          </a:blip>
          <a:srcRect r="60751"/>
          <a:stretch>
            <a:fillRect/>
          </a:stretch>
        </p:blipFill>
        <p:spPr bwMode="auto">
          <a:xfrm>
            <a:off x="9399623" y="1760065"/>
            <a:ext cx="2187575" cy="215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3866FE99-F839-4683-91D8-417FFCA74E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11553" y="4509120"/>
            <a:ext cx="1763713"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1D5D8F1F-A5AC-431B-8900-D4DA135C4052}"/>
              </a:ext>
            </a:extLst>
          </p:cNvPr>
          <p:cNvSpPr txBox="1">
            <a:spLocks noChangeArrowheads="1"/>
          </p:cNvSpPr>
          <p:nvPr/>
        </p:nvSpPr>
        <p:spPr bwMode="auto">
          <a:xfrm>
            <a:off x="9552384" y="5775957"/>
            <a:ext cx="21875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400" dirty="0">
                <a:solidFill>
                  <a:schemeClr val="tx1"/>
                </a:solidFill>
                <a:latin typeface="黑体" panose="02010609060101010101" pitchFamily="49" charset="-122"/>
              </a:rPr>
              <a:t>尿素主要破坏疏水键和氢键</a:t>
            </a:r>
            <a:endParaRPr lang="en-US" altLang="zh-CN" sz="2400" dirty="0">
              <a:solidFill>
                <a:schemeClr val="tx1"/>
              </a:solidFill>
              <a:latin typeface="黑体" panose="02010609060101010101" pitchFamily="49" charset="-122"/>
            </a:endParaRPr>
          </a:p>
        </p:txBody>
      </p:sp>
    </p:spTree>
    <p:custDataLst>
      <p:tags r:id="rId1"/>
    </p:custData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nodeType="afterGroup">
                            <p:stCondLst>
                              <p:cond delay="0"/>
                            </p:stCondLst>
                            <p:childTnLst>
                              <p:par>
                                <p:cTn id="14" presetID="18" presetClass="entr" presetSubtype="12" fill="hold" nodeType="afterEffect">
                                  <p:stCondLst>
                                    <p:cond delay="0"/>
                                  </p:stCondLst>
                                  <p:childTnLst>
                                    <p:set>
                                      <p:cBhvr>
                                        <p:cTn id="15" dur="1" fill="hold">
                                          <p:stCondLst>
                                            <p:cond delay="0"/>
                                          </p:stCondLst>
                                        </p:cTn>
                                        <p:tgtEl>
                                          <p:spTgt spid="53253"/>
                                        </p:tgtEl>
                                        <p:attrNameLst>
                                          <p:attrName>style.visibility</p:attrName>
                                        </p:attrNameLst>
                                      </p:cBhvr>
                                      <p:to>
                                        <p:strVal val="visible"/>
                                      </p:to>
                                    </p:set>
                                    <p:animEffect transition="in" filter="strips(downLeft)">
                                      <p:cBhvr>
                                        <p:cTn id="16" dur="500"/>
                                        <p:tgtEl>
                                          <p:spTgt spid="53253"/>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53255"/>
                                        </p:tgtEl>
                                        <p:attrNameLst>
                                          <p:attrName>style.visibility</p:attrName>
                                        </p:attrNameLst>
                                      </p:cBhvr>
                                      <p:to>
                                        <p:strVal val="visible"/>
                                      </p:to>
                                    </p:set>
                                    <p:animEffect transition="in" filter="wipe(left)">
                                      <p:cBhvr>
                                        <p:cTn id="20" dur="500"/>
                                        <p:tgtEl>
                                          <p:spTgt spid="53255"/>
                                        </p:tgtEl>
                                      </p:cBhvr>
                                    </p:animEffect>
                                  </p:childTnLst>
                                </p:cTn>
                              </p:par>
                            </p:childTnLst>
                          </p:cTn>
                        </p:par>
                        <p:par>
                          <p:cTn id="21" fill="hold" nodeType="afterGroup">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53256"/>
                                        </p:tgtEl>
                                        <p:attrNameLst>
                                          <p:attrName>style.visibility</p:attrName>
                                        </p:attrNameLst>
                                      </p:cBhvr>
                                      <p:to>
                                        <p:strVal val="visible"/>
                                      </p:to>
                                    </p:set>
                                    <p:animEffect transition="in" filter="wipe(left)">
                                      <p:cBhvr>
                                        <p:cTn id="24" dur="500"/>
                                        <p:tgtEl>
                                          <p:spTgt spid="5325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53254"/>
                                        </p:tgtEl>
                                        <p:attrNameLst>
                                          <p:attrName>style.visibility</p:attrName>
                                        </p:attrNameLst>
                                      </p:cBhvr>
                                      <p:to>
                                        <p:strVal val="visible"/>
                                      </p:to>
                                    </p:set>
                                    <p:anim calcmode="lin" valueType="num">
                                      <p:cBhvr additive="base">
                                        <p:cTn id="29" dur="500" fill="hold"/>
                                        <p:tgtEl>
                                          <p:spTgt spid="53254"/>
                                        </p:tgtEl>
                                        <p:attrNameLst>
                                          <p:attrName>ppt_x</p:attrName>
                                        </p:attrNameLst>
                                      </p:cBhvr>
                                      <p:tavLst>
                                        <p:tav tm="0">
                                          <p:val>
                                            <p:strVal val="0-#ppt_w/2"/>
                                          </p:val>
                                        </p:tav>
                                        <p:tav tm="100000">
                                          <p:val>
                                            <p:strVal val="#ppt_x"/>
                                          </p:val>
                                        </p:tav>
                                      </p:tavLst>
                                    </p:anim>
                                    <p:anim calcmode="lin" valueType="num">
                                      <p:cBhvr additive="base">
                                        <p:cTn id="30" dur="500" fill="hold"/>
                                        <p:tgtEl>
                                          <p:spTgt spid="53254"/>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500"/>
                            </p:stCondLst>
                            <p:childTnLst>
                              <p:par>
                                <p:cTn id="32" presetID="18" presetClass="entr" presetSubtype="3" fill="hold" nodeType="afterEffect">
                                  <p:stCondLst>
                                    <p:cond delay="0"/>
                                  </p:stCondLst>
                                  <p:childTnLst>
                                    <p:set>
                                      <p:cBhvr>
                                        <p:cTn id="33" dur="1" fill="hold">
                                          <p:stCondLst>
                                            <p:cond delay="0"/>
                                          </p:stCondLst>
                                        </p:cTn>
                                        <p:tgtEl>
                                          <p:spTgt spid="53257"/>
                                        </p:tgtEl>
                                        <p:attrNameLst>
                                          <p:attrName>style.visibility</p:attrName>
                                        </p:attrNameLst>
                                      </p:cBhvr>
                                      <p:to>
                                        <p:strVal val="visible"/>
                                      </p:to>
                                    </p:set>
                                    <p:animEffect transition="in" filter="strips(upRight)">
                                      <p:cBhvr>
                                        <p:cTn id="34" dur="500"/>
                                        <p:tgtEl>
                                          <p:spTgt spid="53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autoUpdateAnimBg="0"/>
      <p:bldP spid="53254" grpId="0" autoUpdateAnimBg="0"/>
      <p:bldP spid="53256" grpId="0" autoUpdateAnimBg="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图片 1">
            <a:extLst>
              <a:ext uri="{FF2B5EF4-FFF2-40B4-BE49-F238E27FC236}">
                <a16:creationId xmlns:a16="http://schemas.microsoft.com/office/drawing/2014/main" id="{B8FAE89D-F3EC-412D-AA6D-7AFD962915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950" y="284163"/>
            <a:ext cx="8756650" cy="399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文本框 1">
            <a:extLst>
              <a:ext uri="{FF2B5EF4-FFF2-40B4-BE49-F238E27FC236}">
                <a16:creationId xmlns:a16="http://schemas.microsoft.com/office/drawing/2014/main" id="{74559B75-A7B0-447C-A666-3F7A85804B2C}"/>
              </a:ext>
            </a:extLst>
          </p:cNvPr>
          <p:cNvSpPr txBox="1">
            <a:spLocks noChangeArrowheads="1"/>
          </p:cNvSpPr>
          <p:nvPr/>
        </p:nvSpPr>
        <p:spPr bwMode="auto">
          <a:xfrm>
            <a:off x="1739900" y="4248151"/>
            <a:ext cx="854075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nSpc>
                <a:spcPct val="150000"/>
              </a:lnSpc>
              <a:spcBef>
                <a:spcPct val="0"/>
              </a:spcBef>
              <a:buClrTx/>
              <a:buFont typeface="Wingdings" panose="05000000000000000000" pitchFamily="2" charset="2"/>
              <a:buChar char="u"/>
            </a:pPr>
            <a:r>
              <a:rPr lang="zh-CN" altLang="en-US" sz="2400">
                <a:solidFill>
                  <a:srgbClr val="000066"/>
                </a:solidFill>
                <a:latin typeface="微软雅黑" panose="020B0503020204020204" pitchFamily="34" charset="-122"/>
                <a:ea typeface="微软雅黑" panose="020B0503020204020204" pitchFamily="34" charset="-122"/>
              </a:rPr>
              <a:t>先去除</a:t>
            </a:r>
            <a:r>
              <a:rPr lang="en-US" altLang="zh-CN" sz="2400">
                <a:solidFill>
                  <a:srgbClr val="000066"/>
                </a:solidFill>
                <a:latin typeface="微软雅黑" panose="020B0503020204020204" pitchFamily="34" charset="-122"/>
                <a:ea typeface="微软雅黑" panose="020B0503020204020204" pitchFamily="34" charset="-122"/>
              </a:rPr>
              <a:t>BME</a:t>
            </a:r>
            <a:r>
              <a:rPr lang="zh-CN" altLang="en-US" sz="2400">
                <a:solidFill>
                  <a:srgbClr val="000066"/>
                </a:solidFill>
                <a:latin typeface="微软雅黑" panose="020B0503020204020204" pitchFamily="34" charset="-122"/>
                <a:ea typeface="微软雅黑" panose="020B0503020204020204" pitchFamily="34" charset="-122"/>
              </a:rPr>
              <a:t>，再去除尿素，蛋白不能复性，活性几乎为零</a:t>
            </a:r>
            <a:endParaRPr lang="en-US" altLang="zh-CN" sz="2400">
              <a:solidFill>
                <a:srgbClr val="000066"/>
              </a:solidFill>
              <a:latin typeface="微软雅黑" panose="020B0503020204020204" pitchFamily="34" charset="-122"/>
              <a:ea typeface="微软雅黑" panose="020B0503020204020204" pitchFamily="34" charset="-122"/>
            </a:endParaRPr>
          </a:p>
          <a:p>
            <a:pPr>
              <a:lnSpc>
                <a:spcPct val="150000"/>
              </a:lnSpc>
              <a:spcBef>
                <a:spcPct val="0"/>
              </a:spcBef>
              <a:buClrTx/>
              <a:buFont typeface="Wingdings" panose="05000000000000000000" pitchFamily="2" charset="2"/>
              <a:buChar char="u"/>
            </a:pPr>
            <a:r>
              <a:rPr lang="zh-CN" altLang="en-US" sz="2400">
                <a:solidFill>
                  <a:srgbClr val="000066"/>
                </a:solidFill>
                <a:latin typeface="微软雅黑" panose="020B0503020204020204" pitchFamily="34" charset="-122"/>
                <a:ea typeface="微软雅黑" panose="020B0503020204020204" pitchFamily="34" charset="-122"/>
              </a:rPr>
              <a:t>同时（透析）除去</a:t>
            </a:r>
            <a:r>
              <a:rPr lang="en-US" altLang="zh-CN" sz="2400">
                <a:solidFill>
                  <a:srgbClr val="000066"/>
                </a:solidFill>
                <a:latin typeface="微软雅黑" panose="020B0503020204020204" pitchFamily="34" charset="-122"/>
                <a:ea typeface="微软雅黑" panose="020B0503020204020204" pitchFamily="34" charset="-122"/>
              </a:rPr>
              <a:t>BME</a:t>
            </a:r>
            <a:r>
              <a:rPr lang="zh-CN" altLang="en-US" sz="2400">
                <a:solidFill>
                  <a:srgbClr val="000066"/>
                </a:solidFill>
                <a:latin typeface="微软雅黑" panose="020B0503020204020204" pitchFamily="34" charset="-122"/>
                <a:ea typeface="微软雅黑" panose="020B0503020204020204" pitchFamily="34" charset="-122"/>
              </a:rPr>
              <a:t>和尿素，完美复性！</a:t>
            </a:r>
          </a:p>
        </p:txBody>
      </p:sp>
      <p:sp>
        <p:nvSpPr>
          <p:cNvPr id="3" name="文本框 2">
            <a:extLst>
              <a:ext uri="{FF2B5EF4-FFF2-40B4-BE49-F238E27FC236}">
                <a16:creationId xmlns:a16="http://schemas.microsoft.com/office/drawing/2014/main" id="{4D8080EE-78CC-489B-B29C-19D7FD27F84E}"/>
              </a:ext>
            </a:extLst>
          </p:cNvPr>
          <p:cNvSpPr txBox="1">
            <a:spLocks noChangeArrowheads="1"/>
          </p:cNvSpPr>
          <p:nvPr/>
        </p:nvSpPr>
        <p:spPr bwMode="auto">
          <a:xfrm>
            <a:off x="2063750" y="5803901"/>
            <a:ext cx="8064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400" dirty="0">
                <a:solidFill>
                  <a:srgbClr val="0000CC"/>
                </a:solidFill>
                <a:latin typeface="微软雅黑" panose="020B0503020204020204" pitchFamily="34" charset="-122"/>
                <a:ea typeface="微软雅黑" panose="020B0503020204020204" pitchFamily="34" charset="-122"/>
              </a:rPr>
              <a:t>只有天然的非共价键生成时，半胱氨酸残基才能找到正确的“</a:t>
            </a:r>
            <a:r>
              <a:rPr lang="en-US" altLang="zh-CN" sz="2400" dirty="0">
                <a:solidFill>
                  <a:srgbClr val="0000CC"/>
                </a:solidFill>
                <a:latin typeface="微软雅黑" panose="020B0503020204020204" pitchFamily="34" charset="-122"/>
                <a:ea typeface="微软雅黑" panose="020B0503020204020204" pitchFamily="34" charset="-122"/>
              </a:rPr>
              <a:t>partner”, </a:t>
            </a:r>
            <a:r>
              <a:rPr lang="zh-CN" altLang="en-US" sz="2400" dirty="0">
                <a:solidFill>
                  <a:srgbClr val="0000CC"/>
                </a:solidFill>
                <a:latin typeface="微软雅黑" panose="020B0503020204020204" pitchFamily="34" charset="-122"/>
                <a:ea typeface="微软雅黑" panose="020B0503020204020204" pitchFamily="34" charset="-122"/>
              </a:rPr>
              <a:t>生成正确的二硫键。</a:t>
            </a:r>
          </a:p>
        </p:txBody>
      </p:sp>
      <p:sp>
        <p:nvSpPr>
          <p:cNvPr id="4" name="箭头: 下 3">
            <a:extLst>
              <a:ext uri="{FF2B5EF4-FFF2-40B4-BE49-F238E27FC236}">
                <a16:creationId xmlns:a16="http://schemas.microsoft.com/office/drawing/2014/main" id="{F79B44CC-8E71-4007-9CFF-50A3D6FC1489}"/>
              </a:ext>
            </a:extLst>
          </p:cNvPr>
          <p:cNvSpPr>
            <a:spLocks noChangeArrowheads="1"/>
          </p:cNvSpPr>
          <p:nvPr/>
        </p:nvSpPr>
        <p:spPr bwMode="auto">
          <a:xfrm>
            <a:off x="5664200" y="5322888"/>
            <a:ext cx="431800" cy="481012"/>
          </a:xfrm>
          <a:prstGeom prst="downArrow">
            <a:avLst>
              <a:gd name="adj1" fmla="val 50000"/>
              <a:gd name="adj2" fmla="val 50005"/>
            </a:avLst>
          </a:prstGeom>
          <a:solidFill>
            <a:schemeClr val="accent1"/>
          </a:solidFill>
          <a:ln w="9525" algn="ctr">
            <a:solidFill>
              <a:schemeClr val="tx1"/>
            </a:solidFill>
            <a:round/>
            <a:headEnd/>
            <a:tailEnd/>
          </a:ln>
        </p:spPr>
        <p:txBody>
          <a:bodyPr wrap="none"/>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7" name="文本框 6">
            <a:extLst>
              <a:ext uri="{FF2B5EF4-FFF2-40B4-BE49-F238E27FC236}">
                <a16:creationId xmlns:a16="http://schemas.microsoft.com/office/drawing/2014/main" id="{CE092E13-1833-4F95-B2D3-36BC549FD56B}"/>
              </a:ext>
            </a:extLst>
          </p:cNvPr>
          <p:cNvSpPr txBox="1"/>
          <p:nvPr/>
        </p:nvSpPr>
        <p:spPr>
          <a:xfrm>
            <a:off x="3719514" y="103189"/>
            <a:ext cx="5184775" cy="954087"/>
          </a:xfrm>
          <a:prstGeom prst="rect">
            <a:avLst/>
          </a:prstGeom>
          <a:solidFill>
            <a:schemeClr val="bg1"/>
          </a:solidFill>
          <a:ln>
            <a:solidFill>
              <a:schemeClr val="accent1">
                <a:lumMod val="60000"/>
                <a:lumOff val="40000"/>
              </a:schemeClr>
            </a:solidFill>
          </a:ln>
        </p:spPr>
        <p:txBody>
          <a:bodyPr>
            <a:spAutoFit/>
          </a:bodyPr>
          <a:lstStyle/>
          <a:p>
            <a:pPr>
              <a:defRPr/>
            </a:pPr>
            <a:r>
              <a:rPr lang="zh-CN" altLang="en-US" sz="2800" dirty="0">
                <a:solidFill>
                  <a:srgbClr val="FF0000"/>
                </a:solidFill>
                <a:latin typeface="微软雅黑" panose="020B0503020204020204" pitchFamily="34" charset="-122"/>
                <a:ea typeface="微软雅黑" panose="020B0503020204020204" pitchFamily="34" charset="-122"/>
              </a:rPr>
              <a:t>酶活性的恢复表明，肽链本身包含其正确折叠所需的全部信息。</a:t>
            </a:r>
          </a:p>
        </p:txBody>
      </p:sp>
      <p:sp>
        <p:nvSpPr>
          <p:cNvPr id="8" name="文本框 7">
            <a:extLst>
              <a:ext uri="{FF2B5EF4-FFF2-40B4-BE49-F238E27FC236}">
                <a16:creationId xmlns:a16="http://schemas.microsoft.com/office/drawing/2014/main" id="{3BBC04A9-9DE7-4AE7-B2AA-FCB51AA4809E}"/>
              </a:ext>
            </a:extLst>
          </p:cNvPr>
          <p:cNvSpPr txBox="1"/>
          <p:nvPr/>
        </p:nvSpPr>
        <p:spPr>
          <a:xfrm>
            <a:off x="2063750" y="3827463"/>
            <a:ext cx="1944216" cy="338554"/>
          </a:xfrm>
          <a:prstGeom prst="rect">
            <a:avLst/>
          </a:prstGeom>
          <a:noFill/>
        </p:spPr>
        <p:txBody>
          <a:bodyPr wrap="square">
            <a:spAutoFit/>
          </a:bodyPr>
          <a:lstStyle/>
          <a:p>
            <a:r>
              <a:rPr lang="en-US" altLang="zh-CN" dirty="0">
                <a:solidFill>
                  <a:schemeClr val="tx1">
                    <a:lumMod val="50000"/>
                  </a:schemeClr>
                </a:solidFill>
              </a:rPr>
              <a:t>BME: </a:t>
            </a:r>
            <a:r>
              <a:rPr lang="el-GR" altLang="zh-CN" dirty="0">
                <a:solidFill>
                  <a:schemeClr val="tx1">
                    <a:lumMod val="50000"/>
                  </a:schemeClr>
                </a:solidFill>
              </a:rPr>
              <a:t>β-</a:t>
            </a:r>
            <a:r>
              <a:rPr lang="zh-CN" altLang="en-US" dirty="0">
                <a:solidFill>
                  <a:schemeClr val="tx1">
                    <a:lumMod val="50000"/>
                  </a:schemeClr>
                </a:solidFill>
              </a:rPr>
              <a:t>巯基乙醇</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DFAF2C4-57BE-44FE-A076-729A5749D3D7}"/>
              </a:ext>
            </a:extLst>
          </p:cNvPr>
          <p:cNvSpPr>
            <a:spLocks noGrp="1"/>
          </p:cNvSpPr>
          <p:nvPr>
            <p:ph idx="4294967295"/>
          </p:nvPr>
        </p:nvSpPr>
        <p:spPr>
          <a:xfrm>
            <a:off x="839416" y="5351464"/>
            <a:ext cx="10657183" cy="1506537"/>
          </a:xfrm>
        </p:spPr>
        <p:txBody>
          <a:bodyPr/>
          <a:lstStyle/>
          <a:p>
            <a:pPr marL="0" indent="0" algn="ctr">
              <a:spcBef>
                <a:spcPts val="0"/>
              </a:spcBef>
              <a:buNone/>
              <a:defRPr/>
            </a:pPr>
            <a:r>
              <a:rPr lang="en-US" altLang="zh-CN" dirty="0"/>
              <a:t>"</a:t>
            </a:r>
            <a:r>
              <a:rPr lang="en-US" altLang="zh-CN" sz="2000" dirty="0"/>
              <a:t>for his work on ribonuclease, especially concerning the connection between the amino acid sequence and the biologically active conformation“</a:t>
            </a:r>
          </a:p>
          <a:p>
            <a:pPr marL="360363" indent="0" algn="ctr">
              <a:spcBef>
                <a:spcPts val="0"/>
              </a:spcBef>
              <a:buNone/>
              <a:defRPr/>
            </a:pPr>
            <a:r>
              <a:rPr lang="zh-CN" altLang="en-US" sz="2000" dirty="0"/>
              <a:t>“他在核糖核酸酶方面的工作，特别是在氨基酸序列与生物活性构象之间的联系方面”</a:t>
            </a:r>
          </a:p>
        </p:txBody>
      </p:sp>
      <p:pic>
        <p:nvPicPr>
          <p:cNvPr id="29699" name="图片 4">
            <a:extLst>
              <a:ext uri="{FF2B5EF4-FFF2-40B4-BE49-F238E27FC236}">
                <a16:creationId xmlns:a16="http://schemas.microsoft.com/office/drawing/2014/main" id="{A7E92F0B-5BE0-4813-B1FF-F3E7B30E2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8089" y="188913"/>
            <a:ext cx="7056437" cy="516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DD90F8B-1D4A-4918-80DF-693EBEE0D821}"/>
              </a:ext>
            </a:extLst>
          </p:cNvPr>
          <p:cNvSpPr>
            <a:spLocks noChangeArrowheads="1"/>
          </p:cNvSpPr>
          <p:nvPr/>
        </p:nvSpPr>
        <p:spPr bwMode="auto">
          <a:xfrm>
            <a:off x="1919288" y="1557339"/>
            <a:ext cx="9145264" cy="3722687"/>
          </a:xfrm>
          <a:prstGeom prst="rect">
            <a:avLst/>
          </a:prstGeom>
          <a:noFill/>
          <a:ln>
            <a:noFill/>
          </a:ln>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528638" indent="-528638" eaLnBrk="1" hangingPunct="1">
              <a:lnSpc>
                <a:spcPct val="125000"/>
              </a:lnSpc>
              <a:spcBef>
                <a:spcPts val="0"/>
              </a:spcBef>
              <a:buClr>
                <a:srgbClr val="A50021"/>
              </a:buClr>
              <a:buSzPct val="75000"/>
              <a:buFont typeface="+mj-lt"/>
              <a:buAutoNum type="arabicPeriod"/>
              <a:defRPr/>
            </a:pPr>
            <a:r>
              <a:rPr kumimoji="1" lang="zh-CN" altLang="en-US" sz="3200" b="0" dirty="0">
                <a:solidFill>
                  <a:schemeClr val="tx1"/>
                </a:solidFill>
              </a:rPr>
              <a:t>破坏非共价键的试剂：</a:t>
            </a:r>
            <a:endParaRPr kumimoji="1" lang="en-US" altLang="zh-CN" sz="3200" b="0" dirty="0">
              <a:solidFill>
                <a:schemeClr val="tx1"/>
              </a:solidFill>
            </a:endParaRPr>
          </a:p>
          <a:p>
            <a:pPr lvl="1" indent="0" eaLnBrk="1" hangingPunct="1">
              <a:lnSpc>
                <a:spcPct val="125000"/>
              </a:lnSpc>
              <a:spcBef>
                <a:spcPts val="0"/>
              </a:spcBef>
              <a:buClr>
                <a:srgbClr val="A50021"/>
              </a:buClr>
              <a:buSzPct val="75000"/>
              <a:buNone/>
              <a:defRPr/>
            </a:pPr>
            <a:r>
              <a:rPr kumimoji="1" lang="zh-CN" altLang="en-US" sz="3200" dirty="0">
                <a:solidFill>
                  <a:schemeClr val="tx1"/>
                </a:solidFill>
              </a:rPr>
              <a:t>尿素，盐酸胍</a:t>
            </a:r>
            <a:endParaRPr kumimoji="1" lang="en-US" altLang="zh-CN" sz="3200" dirty="0">
              <a:solidFill>
                <a:schemeClr val="tx1"/>
              </a:solidFill>
            </a:endParaRPr>
          </a:p>
          <a:p>
            <a:pPr lvl="1" indent="0" eaLnBrk="1" hangingPunct="1">
              <a:lnSpc>
                <a:spcPct val="125000"/>
              </a:lnSpc>
              <a:spcBef>
                <a:spcPts val="0"/>
              </a:spcBef>
              <a:buClr>
                <a:srgbClr val="A50021"/>
              </a:buClr>
              <a:buSzPct val="75000"/>
              <a:buNone/>
              <a:defRPr/>
            </a:pPr>
            <a:endParaRPr kumimoji="1" lang="zh-CN" altLang="en-US" sz="3200" dirty="0">
              <a:solidFill>
                <a:schemeClr val="tx1"/>
              </a:solidFill>
            </a:endParaRPr>
          </a:p>
          <a:p>
            <a:pPr marL="514350" indent="-514350" eaLnBrk="1" hangingPunct="1">
              <a:lnSpc>
                <a:spcPct val="125000"/>
              </a:lnSpc>
              <a:spcBef>
                <a:spcPts val="0"/>
              </a:spcBef>
              <a:buClr>
                <a:srgbClr val="A50021"/>
              </a:buClr>
              <a:buSzPct val="75000"/>
              <a:buFont typeface="+mj-lt"/>
              <a:buAutoNum type="arabicPeriod"/>
              <a:defRPr/>
            </a:pPr>
            <a:r>
              <a:rPr kumimoji="1" lang="zh-CN" altLang="en-US" sz="3200" b="0" dirty="0">
                <a:solidFill>
                  <a:schemeClr val="tx1"/>
                </a:solidFill>
              </a:rPr>
              <a:t>破坏（还原）二硫键的试剂：</a:t>
            </a:r>
            <a:endParaRPr kumimoji="1" lang="en-US" altLang="zh-CN" sz="3200" b="0" dirty="0">
              <a:solidFill>
                <a:schemeClr val="tx1"/>
              </a:solidFill>
            </a:endParaRPr>
          </a:p>
          <a:p>
            <a:pPr lvl="1" indent="0" eaLnBrk="1" hangingPunct="1">
              <a:lnSpc>
                <a:spcPct val="125000"/>
              </a:lnSpc>
              <a:spcBef>
                <a:spcPts val="0"/>
              </a:spcBef>
              <a:buClr>
                <a:srgbClr val="A50021"/>
              </a:buClr>
              <a:buSzPct val="75000"/>
              <a:buNone/>
              <a:defRPr/>
            </a:pPr>
            <a:r>
              <a:rPr kumimoji="1" lang="en-US" altLang="zh-CN" sz="3200" dirty="0">
                <a:solidFill>
                  <a:schemeClr val="tx1"/>
                </a:solidFill>
              </a:rPr>
              <a:t>β-</a:t>
            </a:r>
            <a:r>
              <a:rPr kumimoji="1" lang="zh-CN" altLang="en-US" sz="3200" dirty="0">
                <a:solidFill>
                  <a:schemeClr val="tx1"/>
                </a:solidFill>
              </a:rPr>
              <a:t>巯基乙醇，巯基乙酸、过甲酸、二硫苏糖醇、二硫赤藓糖醇</a:t>
            </a:r>
          </a:p>
        </p:txBody>
      </p:sp>
      <p:sp>
        <p:nvSpPr>
          <p:cNvPr id="31747" name="标题 1">
            <a:extLst>
              <a:ext uri="{FF2B5EF4-FFF2-40B4-BE49-F238E27FC236}">
                <a16:creationId xmlns:a16="http://schemas.microsoft.com/office/drawing/2014/main" id="{2829983D-7372-4373-BADE-16CAE9D16DA1}"/>
              </a:ext>
            </a:extLst>
          </p:cNvPr>
          <p:cNvSpPr>
            <a:spLocks noGrp="1" noChangeArrowheads="1"/>
          </p:cNvSpPr>
          <p:nvPr>
            <p:ph type="title"/>
          </p:nvPr>
        </p:nvSpPr>
        <p:spPr>
          <a:xfrm>
            <a:off x="1703388" y="188913"/>
            <a:ext cx="6985000" cy="563562"/>
          </a:xfrm>
        </p:spPr>
        <p:txBody>
          <a:bodyPr/>
          <a:lstStyle/>
          <a:p>
            <a:r>
              <a:rPr lang="zh-CN" altLang="en-US" sz="4000"/>
              <a:t>破坏蛋白质高级结构的试剂</a:t>
            </a:r>
          </a:p>
        </p:txBody>
      </p:sp>
    </p:spTree>
  </p:cSld>
  <p:clrMapOvr>
    <a:masterClrMapping/>
  </p:clrMapOvr>
  <p:transition spd="slow">
    <p:circl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A133CB9-B690-44A8-8214-7F1D33CCA9DE}"/>
              </a:ext>
            </a:extLst>
          </p:cNvPr>
          <p:cNvSpPr>
            <a:spLocks noGrp="1" noChangeArrowheads="1"/>
          </p:cNvSpPr>
          <p:nvPr>
            <p:ph type="title"/>
          </p:nvPr>
        </p:nvSpPr>
        <p:spPr>
          <a:xfrm>
            <a:off x="1703388" y="188913"/>
            <a:ext cx="6985000" cy="563562"/>
          </a:xfrm>
        </p:spPr>
        <p:txBody>
          <a:bodyPr/>
          <a:lstStyle/>
          <a:p>
            <a:pPr eaLnBrk="1" hangingPunct="1"/>
            <a:endParaRPr lang="zh-CN" altLang="zh-CN"/>
          </a:p>
        </p:txBody>
      </p:sp>
      <p:sp>
        <p:nvSpPr>
          <p:cNvPr id="33795" name="Rectangle 3">
            <a:extLst>
              <a:ext uri="{FF2B5EF4-FFF2-40B4-BE49-F238E27FC236}">
                <a16:creationId xmlns:a16="http://schemas.microsoft.com/office/drawing/2014/main" id="{93C1A243-A12C-471D-BA4E-320EE9AF6535}"/>
              </a:ext>
            </a:extLst>
          </p:cNvPr>
          <p:cNvSpPr>
            <a:spLocks noGrp="1" noChangeArrowheads="1"/>
          </p:cNvSpPr>
          <p:nvPr>
            <p:ph type="body" idx="1"/>
          </p:nvPr>
        </p:nvSpPr>
        <p:spPr>
          <a:xfrm>
            <a:off x="1703388" y="1388396"/>
            <a:ext cx="9145387" cy="1419225"/>
          </a:xfrm>
        </p:spPr>
        <p:txBody>
          <a:bodyPr/>
          <a:lstStyle/>
          <a:p>
            <a:pPr marL="0" eaLnBrk="1" hangingPunct="1">
              <a:lnSpc>
                <a:spcPct val="120000"/>
              </a:lnSpc>
              <a:spcBef>
                <a:spcPct val="0"/>
              </a:spcBef>
              <a:buNone/>
            </a:pPr>
            <a:r>
              <a:rPr lang="en-US" altLang="zh-CN" dirty="0">
                <a:solidFill>
                  <a:srgbClr val="FF0000"/>
                </a:solidFill>
              </a:rPr>
              <a:t>   </a:t>
            </a:r>
            <a:r>
              <a:rPr lang="zh-CN" altLang="en-US" dirty="0">
                <a:solidFill>
                  <a:srgbClr val="FF0000"/>
                </a:solidFill>
              </a:rPr>
              <a:t>一级结构</a:t>
            </a:r>
            <a:r>
              <a:rPr lang="zh-CN" altLang="en-US" dirty="0">
                <a:solidFill>
                  <a:schemeClr val="tx1"/>
                </a:solidFill>
              </a:rPr>
              <a:t>是蛋白质空间构象和特异生物学功能的基础，但</a:t>
            </a:r>
            <a:r>
              <a:rPr lang="zh-CN" altLang="en-US" dirty="0">
                <a:solidFill>
                  <a:srgbClr val="FF0000"/>
                </a:solidFill>
              </a:rPr>
              <a:t>不是决定蛋白质空间构象的唯一因素</a:t>
            </a:r>
            <a:r>
              <a:rPr lang="zh-CN" altLang="en-US" dirty="0">
                <a:solidFill>
                  <a:schemeClr val="tx1"/>
                </a:solidFill>
              </a:rPr>
              <a:t>。</a:t>
            </a:r>
            <a:endParaRPr lang="en-US" altLang="zh-CN" dirty="0">
              <a:solidFill>
                <a:schemeClr val="tx1"/>
              </a:solidFill>
            </a:endParaRPr>
          </a:p>
          <a:p>
            <a:pPr marL="0" eaLnBrk="1" hangingPunct="1">
              <a:lnSpc>
                <a:spcPct val="120000"/>
              </a:lnSpc>
              <a:spcBef>
                <a:spcPct val="0"/>
              </a:spcBef>
              <a:buNone/>
            </a:pPr>
            <a:endParaRPr lang="zh-CN" altLang="en-US" dirty="0">
              <a:solidFill>
                <a:schemeClr val="tx1"/>
              </a:solidFill>
            </a:endParaRPr>
          </a:p>
        </p:txBody>
      </p:sp>
      <p:sp>
        <p:nvSpPr>
          <p:cNvPr id="653316" name="Text Box 4">
            <a:extLst>
              <a:ext uri="{FF2B5EF4-FFF2-40B4-BE49-F238E27FC236}">
                <a16:creationId xmlns:a16="http://schemas.microsoft.com/office/drawing/2014/main" id="{912FBF68-8299-4C25-8DFD-DB3A4BBF424F}"/>
              </a:ext>
            </a:extLst>
          </p:cNvPr>
          <p:cNvSpPr txBox="1">
            <a:spLocks noChangeArrowheads="1"/>
          </p:cNvSpPr>
          <p:nvPr/>
        </p:nvSpPr>
        <p:spPr bwMode="auto">
          <a:xfrm>
            <a:off x="2116139" y="4652964"/>
            <a:ext cx="8372349" cy="954087"/>
          </a:xfrm>
          <a:prstGeom prst="rect">
            <a:avLst/>
          </a:prstGeom>
          <a:noFill/>
          <a:ln>
            <a:noFill/>
          </a:ln>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r>
              <a:rPr lang="zh-CN" altLang="en-US" dirty="0">
                <a:solidFill>
                  <a:schemeClr val="tx1">
                    <a:lumMod val="60000"/>
                    <a:lumOff val="40000"/>
                  </a:schemeClr>
                </a:solidFill>
                <a:latin typeface="Arial" panose="020B0604020202020204" pitchFamily="34" charset="0"/>
              </a:rPr>
              <a:t>分子伴侣（</a:t>
            </a:r>
            <a:r>
              <a:rPr lang="en-US" altLang="zh-CN" dirty="0">
                <a:solidFill>
                  <a:schemeClr val="tx1">
                    <a:lumMod val="60000"/>
                    <a:lumOff val="40000"/>
                  </a:schemeClr>
                </a:solidFill>
                <a:latin typeface="Arial" panose="020B0604020202020204" pitchFamily="34" charset="0"/>
              </a:rPr>
              <a:t>molecular chaperone)</a:t>
            </a:r>
            <a:r>
              <a:rPr lang="zh-CN" altLang="en-US" dirty="0">
                <a:solidFill>
                  <a:schemeClr val="tx1"/>
                </a:solidFill>
                <a:latin typeface="Arial" panose="020B0604020202020204" pitchFamily="34" charset="0"/>
              </a:rPr>
              <a:t>对许多蛋白质的折叠是必须的。</a:t>
            </a:r>
          </a:p>
        </p:txBody>
      </p:sp>
      <p:sp>
        <p:nvSpPr>
          <p:cNvPr id="2" name="文本框 1">
            <a:extLst>
              <a:ext uri="{FF2B5EF4-FFF2-40B4-BE49-F238E27FC236}">
                <a16:creationId xmlns:a16="http://schemas.microsoft.com/office/drawing/2014/main" id="{1DF3266C-18B0-4E84-9FF3-90B73A185E17}"/>
              </a:ext>
            </a:extLst>
          </p:cNvPr>
          <p:cNvSpPr txBox="1"/>
          <p:nvPr/>
        </p:nvSpPr>
        <p:spPr>
          <a:xfrm>
            <a:off x="2279650" y="2777331"/>
            <a:ext cx="7632700" cy="1303338"/>
          </a:xfrm>
          <a:prstGeom prst="rect">
            <a:avLst/>
          </a:prstGeom>
          <a:noFill/>
        </p:spPr>
        <p:txBody>
          <a:bodyPr>
            <a:spAutoFit/>
          </a:bodyPr>
          <a:lstStyle/>
          <a:p>
            <a:pPr>
              <a:lnSpc>
                <a:spcPct val="150000"/>
              </a:lnSpc>
              <a:defRPr/>
            </a:pPr>
            <a:r>
              <a:rPr lang="zh-CN" altLang="en-US" sz="2800" dirty="0">
                <a:latin typeface="+mn-lt"/>
                <a:ea typeface="+mn-ea"/>
              </a:rPr>
              <a:t>蛋白质正确折叠还需要合适的微环境，涉及 ： </a:t>
            </a:r>
            <a:r>
              <a:rPr lang="en-US" altLang="zh-CN" sz="2800" dirty="0">
                <a:solidFill>
                  <a:srgbClr val="0000CC"/>
                </a:solidFill>
                <a:latin typeface="+mn-lt"/>
                <a:ea typeface="+mn-ea"/>
              </a:rPr>
              <a:t>pH</a:t>
            </a:r>
            <a:r>
              <a:rPr lang="zh-CN" altLang="en-US" sz="2800" dirty="0">
                <a:solidFill>
                  <a:srgbClr val="0000CC"/>
                </a:solidFill>
                <a:latin typeface="+mn-lt"/>
                <a:ea typeface="+mn-ea"/>
              </a:rPr>
              <a:t>、温度</a:t>
            </a:r>
            <a:r>
              <a:rPr lang="zh-CN" altLang="en-US" sz="2800" dirty="0">
                <a:solidFill>
                  <a:srgbClr val="0000CC"/>
                </a:solidFill>
              </a:rPr>
              <a:t>、</a:t>
            </a:r>
            <a:r>
              <a:rPr lang="zh-CN" altLang="en-US" sz="2800" dirty="0">
                <a:solidFill>
                  <a:srgbClr val="0000CC"/>
                </a:solidFill>
                <a:latin typeface="+mn-lt"/>
                <a:ea typeface="+mn-ea"/>
              </a:rPr>
              <a:t>离子强度、特定金属离子浓度</a:t>
            </a:r>
            <a:r>
              <a:rPr lang="zh-CN" altLang="en-US" sz="2800" dirty="0">
                <a:latin typeface="+mn-lt"/>
                <a:ea typeface="+mn-ea"/>
              </a:rPr>
              <a:t>等</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3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3316"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3">
            <a:extLst>
              <a:ext uri="{FF2B5EF4-FFF2-40B4-BE49-F238E27FC236}">
                <a16:creationId xmlns:a16="http://schemas.microsoft.com/office/drawing/2014/main" id="{484E6F34-E5E7-4DD2-9522-63DDAF172DFC}"/>
              </a:ext>
            </a:extLst>
          </p:cNvPr>
          <p:cNvSpPr txBox="1">
            <a:spLocks noChangeArrowheads="1"/>
          </p:cNvSpPr>
          <p:nvPr/>
        </p:nvSpPr>
        <p:spPr bwMode="auto">
          <a:xfrm>
            <a:off x="2107084" y="1318616"/>
            <a:ext cx="8210550" cy="1149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indent="714375">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zh-CN" altLang="en-US" sz="3000" dirty="0">
                <a:solidFill>
                  <a:srgbClr val="C00000"/>
                </a:solidFill>
              </a:rPr>
              <a:t>分子伴侣</a:t>
            </a:r>
            <a:r>
              <a:rPr kumimoji="1" lang="en-US" altLang="zh-CN" sz="3000" dirty="0">
                <a:solidFill>
                  <a:srgbClr val="C00000"/>
                </a:solidFill>
              </a:rPr>
              <a:t>(molecular chaperone)</a:t>
            </a:r>
            <a:r>
              <a:rPr kumimoji="1" lang="zh-CN" altLang="en-US" sz="3000" dirty="0">
                <a:solidFill>
                  <a:schemeClr val="tx1"/>
                </a:solidFill>
              </a:rPr>
              <a:t>是一类</a:t>
            </a:r>
            <a:r>
              <a:rPr kumimoji="1" lang="zh-CN" altLang="en-US" sz="3000" dirty="0">
                <a:solidFill>
                  <a:schemeClr val="tx1"/>
                </a:solidFill>
                <a:latin typeface="Arial" panose="020B0604020202020204" pitchFamily="34" charset="0"/>
              </a:rPr>
              <a:t>能介导蛋白质进行正确折叠的蛋白质</a:t>
            </a:r>
            <a:r>
              <a:rPr kumimoji="1" lang="zh-CN" altLang="en-US" sz="3000" dirty="0">
                <a:solidFill>
                  <a:schemeClr val="tx1"/>
                </a:solidFill>
              </a:rPr>
              <a:t>。</a:t>
            </a:r>
          </a:p>
        </p:txBody>
      </p:sp>
      <p:sp>
        <p:nvSpPr>
          <p:cNvPr id="48132" name="Rectangle 4">
            <a:extLst>
              <a:ext uri="{FF2B5EF4-FFF2-40B4-BE49-F238E27FC236}">
                <a16:creationId xmlns:a16="http://schemas.microsoft.com/office/drawing/2014/main" id="{92D93F96-DF0A-41C1-BCB6-9C80AB984096}"/>
              </a:ext>
            </a:extLst>
          </p:cNvPr>
          <p:cNvSpPr>
            <a:spLocks noChangeArrowheads="1"/>
          </p:cNvSpPr>
          <p:nvPr/>
        </p:nvSpPr>
        <p:spPr bwMode="auto">
          <a:xfrm>
            <a:off x="1631504" y="3122416"/>
            <a:ext cx="8873678" cy="527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271463" indent="-271463">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10000"/>
              </a:lnSpc>
              <a:spcBef>
                <a:spcPct val="0"/>
              </a:spcBef>
              <a:buClrTx/>
              <a:buFontTx/>
              <a:buNone/>
            </a:pPr>
            <a:r>
              <a:rPr kumimoji="1" lang="en-US" altLang="zh-CN" dirty="0">
                <a:solidFill>
                  <a:schemeClr val="tx1"/>
                </a:solidFill>
              </a:rPr>
              <a:t>* </a:t>
            </a:r>
            <a:r>
              <a:rPr kumimoji="1" lang="zh-CN" altLang="en-US" dirty="0">
                <a:solidFill>
                  <a:schemeClr val="tx1"/>
                </a:solidFill>
              </a:rPr>
              <a:t>可逆地与未折叠肽段的疏水部分结合，防止错误折叠。 </a:t>
            </a:r>
          </a:p>
        </p:txBody>
      </p:sp>
      <p:sp>
        <p:nvSpPr>
          <p:cNvPr id="48133" name="Rectangle 5">
            <a:extLst>
              <a:ext uri="{FF2B5EF4-FFF2-40B4-BE49-F238E27FC236}">
                <a16:creationId xmlns:a16="http://schemas.microsoft.com/office/drawing/2014/main" id="{658F99B9-A114-4AD7-8936-5D8F7AB2D536}"/>
              </a:ext>
            </a:extLst>
          </p:cNvPr>
          <p:cNvSpPr>
            <a:spLocks noChangeArrowheads="1"/>
          </p:cNvSpPr>
          <p:nvPr/>
        </p:nvSpPr>
        <p:spPr bwMode="auto">
          <a:xfrm>
            <a:off x="1631504" y="3796027"/>
            <a:ext cx="7543800"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71463" indent="-271463">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en-US" altLang="zh-CN" dirty="0">
                <a:solidFill>
                  <a:schemeClr val="tx1"/>
                </a:solidFill>
              </a:rPr>
              <a:t>* </a:t>
            </a:r>
            <a:r>
              <a:rPr kumimoji="1" lang="zh-CN" altLang="en-US" dirty="0">
                <a:solidFill>
                  <a:schemeClr val="tx1"/>
                </a:solidFill>
              </a:rPr>
              <a:t>与错误聚集的肽段结合，诱导其正确折叠。 </a:t>
            </a:r>
          </a:p>
        </p:txBody>
      </p:sp>
      <p:sp>
        <p:nvSpPr>
          <p:cNvPr id="48134" name="Rectangle 6">
            <a:extLst>
              <a:ext uri="{FF2B5EF4-FFF2-40B4-BE49-F238E27FC236}">
                <a16:creationId xmlns:a16="http://schemas.microsoft.com/office/drawing/2014/main" id="{DE80BB92-176E-45BC-8E34-40D5911C3BA2}"/>
              </a:ext>
            </a:extLst>
          </p:cNvPr>
          <p:cNvSpPr>
            <a:spLocks noChangeArrowheads="1"/>
          </p:cNvSpPr>
          <p:nvPr/>
        </p:nvSpPr>
        <p:spPr bwMode="auto">
          <a:xfrm>
            <a:off x="1631504" y="4525287"/>
            <a:ext cx="9521750"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271463" indent="-271463">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en-US" altLang="zh-CN" dirty="0">
                <a:solidFill>
                  <a:schemeClr val="tx1"/>
                </a:solidFill>
              </a:rPr>
              <a:t>* </a:t>
            </a:r>
            <a:r>
              <a:rPr kumimoji="1" lang="zh-CN" altLang="en-US" dirty="0">
                <a:solidFill>
                  <a:schemeClr val="tx1"/>
                </a:solidFill>
              </a:rPr>
              <a:t>对蛋白质分子折叠过程中二硫键的正确形成起重要的作用。 </a:t>
            </a:r>
          </a:p>
        </p:txBody>
      </p:sp>
      <p:sp>
        <p:nvSpPr>
          <p:cNvPr id="35846" name="标题 1">
            <a:extLst>
              <a:ext uri="{FF2B5EF4-FFF2-40B4-BE49-F238E27FC236}">
                <a16:creationId xmlns:a16="http://schemas.microsoft.com/office/drawing/2014/main" id="{C01D3885-7930-4EC3-86DA-5A59DF52EEDA}"/>
              </a:ext>
            </a:extLst>
          </p:cNvPr>
          <p:cNvSpPr>
            <a:spLocks noGrp="1" noChangeArrowheads="1"/>
          </p:cNvSpPr>
          <p:nvPr>
            <p:ph type="title"/>
          </p:nvPr>
        </p:nvSpPr>
        <p:spPr>
          <a:xfrm>
            <a:off x="1703388" y="188913"/>
            <a:ext cx="6985000" cy="563562"/>
          </a:xfrm>
        </p:spPr>
        <p:txBody>
          <a:bodyPr/>
          <a:lstStyle/>
          <a:p>
            <a:endParaRPr lang="zh-CN" altLang="en-US"/>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2"/>
                                        </p:tgtEl>
                                        <p:attrNameLst>
                                          <p:attrName>style.visibility</p:attrName>
                                        </p:attrNameLst>
                                      </p:cBhvr>
                                      <p:to>
                                        <p:strVal val="visible"/>
                                      </p:to>
                                    </p:set>
                                    <p:anim calcmode="lin" valueType="num">
                                      <p:cBhvr additive="base">
                                        <p:cTn id="7" dur="500" fill="hold"/>
                                        <p:tgtEl>
                                          <p:spTgt spid="48132"/>
                                        </p:tgtEl>
                                        <p:attrNameLst>
                                          <p:attrName>ppt_x</p:attrName>
                                        </p:attrNameLst>
                                      </p:cBhvr>
                                      <p:tavLst>
                                        <p:tav tm="0">
                                          <p:val>
                                            <p:strVal val="#ppt_x"/>
                                          </p:val>
                                        </p:tav>
                                        <p:tav tm="100000">
                                          <p:val>
                                            <p:strVal val="#ppt_x"/>
                                          </p:val>
                                        </p:tav>
                                      </p:tavLst>
                                    </p:anim>
                                    <p:anim calcmode="lin" valueType="num">
                                      <p:cBhvr additive="base">
                                        <p:cTn id="8" dur="500" fill="hold"/>
                                        <p:tgtEl>
                                          <p:spTgt spid="48132"/>
                                        </p:tgtEl>
                                        <p:attrNameLst>
                                          <p:attrName>ppt_y</p:attrName>
                                        </p:attrNameLst>
                                      </p:cBhvr>
                                      <p:tavLst>
                                        <p:tav tm="0">
                                          <p:val>
                                            <p:strVal val="1+#ppt_h/2"/>
                                          </p:val>
                                        </p:tav>
                                        <p:tav tm="100000">
                                          <p:val>
                                            <p:strVal val="#ppt_y"/>
                                          </p:val>
                                        </p:tav>
                                      </p:tavLst>
                                    </p:anim>
                                  </p:childTnLst>
                                </p:cTn>
                              </p:par>
                              <p:par>
                                <p:cTn id="9" presetID="37" presetClass="entr" presetSubtype="0" fill="hold" grpId="0" nodeType="withEffect">
                                  <p:stCondLst>
                                    <p:cond delay="0"/>
                                  </p:stCondLst>
                                  <p:childTnLst>
                                    <p:set>
                                      <p:cBhvr>
                                        <p:cTn id="10" dur="1" fill="hold">
                                          <p:stCondLst>
                                            <p:cond delay="0"/>
                                          </p:stCondLst>
                                        </p:cTn>
                                        <p:tgtEl>
                                          <p:spTgt spid="48133"/>
                                        </p:tgtEl>
                                        <p:attrNameLst>
                                          <p:attrName>style.visibility</p:attrName>
                                        </p:attrNameLst>
                                      </p:cBhvr>
                                      <p:to>
                                        <p:strVal val="visible"/>
                                      </p:to>
                                    </p:set>
                                    <p:animEffect transition="in" filter="fade">
                                      <p:cBhvr>
                                        <p:cTn id="11" dur="500"/>
                                        <p:tgtEl>
                                          <p:spTgt spid="48133"/>
                                        </p:tgtEl>
                                      </p:cBhvr>
                                    </p:animEffect>
                                    <p:anim calcmode="lin" valueType="num">
                                      <p:cBhvr>
                                        <p:cTn id="12" dur="500" fill="hold"/>
                                        <p:tgtEl>
                                          <p:spTgt spid="48133"/>
                                        </p:tgtEl>
                                        <p:attrNameLst>
                                          <p:attrName>ppt_x</p:attrName>
                                        </p:attrNameLst>
                                      </p:cBhvr>
                                      <p:tavLst>
                                        <p:tav tm="0">
                                          <p:val>
                                            <p:strVal val="#ppt_x"/>
                                          </p:val>
                                        </p:tav>
                                        <p:tav tm="100000">
                                          <p:val>
                                            <p:strVal val="#ppt_x"/>
                                          </p:val>
                                        </p:tav>
                                      </p:tavLst>
                                    </p:anim>
                                    <p:anim calcmode="lin" valueType="num">
                                      <p:cBhvr>
                                        <p:cTn id="13" dur="450" decel="100000" fill="hold"/>
                                        <p:tgtEl>
                                          <p:spTgt spid="48133"/>
                                        </p:tgtEl>
                                        <p:attrNameLst>
                                          <p:attrName>ppt_y</p:attrName>
                                        </p:attrNameLst>
                                      </p:cBhvr>
                                      <p:tavLst>
                                        <p:tav tm="0">
                                          <p:val>
                                            <p:strVal val="#ppt_y+1"/>
                                          </p:val>
                                        </p:tav>
                                        <p:tav tm="100000">
                                          <p:val>
                                            <p:strVal val="#ppt_y-.03"/>
                                          </p:val>
                                        </p:tav>
                                      </p:tavLst>
                                    </p:anim>
                                    <p:anim calcmode="lin" valueType="num">
                                      <p:cBhvr>
                                        <p:cTn id="14" dur="50" accel="100000" fill="hold">
                                          <p:stCondLst>
                                            <p:cond delay="450"/>
                                          </p:stCondLst>
                                        </p:cTn>
                                        <p:tgtEl>
                                          <p:spTgt spid="48133"/>
                                        </p:tgtEl>
                                        <p:attrNameLst>
                                          <p:attrName>ppt_y</p:attrName>
                                        </p:attrNameLst>
                                      </p:cBhvr>
                                      <p:tavLst>
                                        <p:tav tm="0">
                                          <p:val>
                                            <p:strVal val="#ppt_y-.03"/>
                                          </p:val>
                                        </p:tav>
                                        <p:tav tm="100000">
                                          <p:val>
                                            <p:strVal val="#ppt_y"/>
                                          </p:val>
                                        </p:tav>
                                      </p:tavLst>
                                    </p:anim>
                                  </p:childTnLst>
                                </p:cTn>
                              </p:par>
                              <p:par>
                                <p:cTn id="15" presetID="12" presetClass="entr" presetSubtype="4" fill="hold" grpId="0" nodeType="withEffect">
                                  <p:stCondLst>
                                    <p:cond delay="0"/>
                                  </p:stCondLst>
                                  <p:childTnLst>
                                    <p:set>
                                      <p:cBhvr>
                                        <p:cTn id="16" dur="1" fill="hold">
                                          <p:stCondLst>
                                            <p:cond delay="0"/>
                                          </p:stCondLst>
                                        </p:cTn>
                                        <p:tgtEl>
                                          <p:spTgt spid="48134"/>
                                        </p:tgtEl>
                                        <p:attrNameLst>
                                          <p:attrName>style.visibility</p:attrName>
                                        </p:attrNameLst>
                                      </p:cBhvr>
                                      <p:to>
                                        <p:strVal val="visible"/>
                                      </p:to>
                                    </p:set>
                                    <p:animEffect transition="in" filter="slide(fromBottom)">
                                      <p:cBhvr>
                                        <p:cTn id="17" dur="500"/>
                                        <p:tgtEl>
                                          <p:spTgt spid="48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P spid="48133" grpId="0"/>
      <p:bldP spid="48134" grpId="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4BF48B-C792-2AC2-7B5A-C63F62D58E76}"/>
              </a:ext>
            </a:extLst>
          </p:cNvPr>
          <p:cNvSpPr>
            <a:spLocks noGrp="1"/>
          </p:cNvSpPr>
          <p:nvPr>
            <p:ph type="title" idx="4294967295"/>
          </p:nvPr>
        </p:nvSpPr>
        <p:spPr>
          <a:xfrm>
            <a:off x="1564436" y="548680"/>
            <a:ext cx="4475177" cy="563562"/>
          </a:xfrm>
        </p:spPr>
        <p:txBody>
          <a:bodyPr/>
          <a:lstStyle/>
          <a:p>
            <a:r>
              <a:rPr lang="zh-CN" altLang="en-US" dirty="0">
                <a:solidFill>
                  <a:srgbClr val="003399"/>
                </a:solidFill>
              </a:rPr>
              <a:t>细胞外也有分子伴侣</a:t>
            </a:r>
          </a:p>
        </p:txBody>
      </p:sp>
      <p:sp>
        <p:nvSpPr>
          <p:cNvPr id="3" name="内容占位符 2">
            <a:extLst>
              <a:ext uri="{FF2B5EF4-FFF2-40B4-BE49-F238E27FC236}">
                <a16:creationId xmlns:a16="http://schemas.microsoft.com/office/drawing/2014/main" id="{13D43C98-30F4-2761-51C4-335D50D74F92}"/>
              </a:ext>
            </a:extLst>
          </p:cNvPr>
          <p:cNvSpPr>
            <a:spLocks noGrp="1"/>
          </p:cNvSpPr>
          <p:nvPr>
            <p:ph idx="4294967295"/>
          </p:nvPr>
        </p:nvSpPr>
        <p:spPr>
          <a:xfrm>
            <a:off x="551384" y="2348881"/>
            <a:ext cx="5616624" cy="3528392"/>
          </a:xfrm>
        </p:spPr>
        <p:txBody>
          <a:bodyPr/>
          <a:lstStyle/>
          <a:p>
            <a:pPr>
              <a:lnSpc>
                <a:spcPct val="130000"/>
              </a:lnSpc>
            </a:pPr>
            <a:r>
              <a:rPr lang="zh-CN" altLang="en-US" dirty="0"/>
              <a:t>血液中含量丰富的</a:t>
            </a:r>
            <a:r>
              <a:rPr lang="zh-CN" altLang="en-US" dirty="0">
                <a:solidFill>
                  <a:srgbClr val="C00000"/>
                </a:solidFill>
                <a:sym typeface="Symbol" panose="05050102010706020507" pitchFamily="18" charset="2"/>
              </a:rPr>
              <a:t></a:t>
            </a:r>
            <a:r>
              <a:rPr lang="en-US" altLang="zh-CN" dirty="0">
                <a:solidFill>
                  <a:srgbClr val="C00000"/>
                </a:solidFill>
                <a:sym typeface="Symbol" panose="05050102010706020507" pitchFamily="18" charset="2"/>
              </a:rPr>
              <a:t>2-</a:t>
            </a:r>
            <a:r>
              <a:rPr lang="zh-CN" altLang="en-US" dirty="0">
                <a:solidFill>
                  <a:srgbClr val="C00000"/>
                </a:solidFill>
                <a:sym typeface="Symbol" panose="05050102010706020507" pitchFamily="18" charset="2"/>
              </a:rPr>
              <a:t>巨球蛋白</a:t>
            </a:r>
            <a:r>
              <a:rPr lang="zh-CN" altLang="en-US" dirty="0">
                <a:sym typeface="Symbol" panose="05050102010706020507" pitchFamily="18" charset="2"/>
              </a:rPr>
              <a:t>（</a:t>
            </a:r>
            <a:r>
              <a:rPr lang="en-US" altLang="zh-CN" dirty="0">
                <a:sym typeface="Symbol" panose="05050102010706020507" pitchFamily="18" charset="2"/>
              </a:rPr>
              <a:t>alpha 2-macroglobulin,</a:t>
            </a:r>
            <a:r>
              <a:rPr lang="en-US" altLang="zh-CN" dirty="0">
                <a:solidFill>
                  <a:srgbClr val="C00000"/>
                </a:solidFill>
                <a:sym typeface="Symbol" panose="05050102010706020507" pitchFamily="18" charset="2"/>
              </a:rPr>
              <a:t>2M</a:t>
            </a:r>
            <a:r>
              <a:rPr lang="zh-CN" altLang="en-US" dirty="0">
                <a:sym typeface="Symbol" panose="05050102010706020507" pitchFamily="18" charset="2"/>
              </a:rPr>
              <a:t>）被认为是一种细胞外分子伴侣</a:t>
            </a:r>
            <a:r>
              <a:rPr lang="en-US" altLang="zh-CN" dirty="0">
                <a:sym typeface="Symbol" panose="05050102010706020507" pitchFamily="18" charset="2"/>
              </a:rPr>
              <a:t>, </a:t>
            </a:r>
            <a:r>
              <a:rPr lang="zh-CN" altLang="en-US" dirty="0">
                <a:sym typeface="Symbol" panose="05050102010706020507" pitchFamily="18" charset="2"/>
              </a:rPr>
              <a:t> 能识别并结合有缺陷的蛋白质，有助于清除有缺陷的蛋白质。</a:t>
            </a:r>
            <a:endParaRPr lang="zh-CN" altLang="en-US" dirty="0"/>
          </a:p>
        </p:txBody>
      </p:sp>
      <p:pic>
        <p:nvPicPr>
          <p:cNvPr id="4" name="图片 3">
            <a:extLst>
              <a:ext uri="{FF2B5EF4-FFF2-40B4-BE49-F238E27FC236}">
                <a16:creationId xmlns:a16="http://schemas.microsoft.com/office/drawing/2014/main" id="{3E6A5F89-E1D0-A908-3664-05C426809240}"/>
              </a:ext>
            </a:extLst>
          </p:cNvPr>
          <p:cNvPicPr>
            <a:picLocks noChangeAspect="1"/>
          </p:cNvPicPr>
          <p:nvPr/>
        </p:nvPicPr>
        <p:blipFill>
          <a:blip r:embed="rId3"/>
          <a:stretch>
            <a:fillRect/>
          </a:stretch>
        </p:blipFill>
        <p:spPr>
          <a:xfrm>
            <a:off x="6528048" y="188640"/>
            <a:ext cx="4475177" cy="6480720"/>
          </a:xfrm>
          <a:prstGeom prst="rect">
            <a:avLst/>
          </a:prstGeom>
        </p:spPr>
      </p:pic>
      <p:sp>
        <p:nvSpPr>
          <p:cNvPr id="5" name="文本框 4">
            <a:extLst>
              <a:ext uri="{FF2B5EF4-FFF2-40B4-BE49-F238E27FC236}">
                <a16:creationId xmlns:a16="http://schemas.microsoft.com/office/drawing/2014/main" id="{B2A73BC2-CBA0-C881-8142-4CE1BD567B84}"/>
              </a:ext>
            </a:extLst>
          </p:cNvPr>
          <p:cNvSpPr txBox="1"/>
          <p:nvPr/>
        </p:nvSpPr>
        <p:spPr>
          <a:xfrm>
            <a:off x="1919536" y="6381328"/>
            <a:ext cx="1440160" cy="338554"/>
          </a:xfrm>
          <a:prstGeom prst="rect">
            <a:avLst/>
          </a:prstGeom>
          <a:noFill/>
        </p:spPr>
        <p:txBody>
          <a:bodyPr wrap="square" rtlCol="0">
            <a:spAutoFit/>
          </a:bodyPr>
          <a:lstStyle/>
          <a:p>
            <a:r>
              <a:rPr lang="zh-CN" altLang="en-US" dirty="0"/>
              <a:t>新进展</a:t>
            </a:r>
          </a:p>
        </p:txBody>
      </p:sp>
    </p:spTree>
    <p:extLst>
      <p:ext uri="{BB962C8B-B14F-4D97-AF65-F5344CB8AC3E}">
        <p14:creationId xmlns:p14="http://schemas.microsoft.com/office/powerpoint/2010/main" val="126468755"/>
      </p:ext>
    </p:extLst>
  </p:cSld>
  <p:clrMapOvr>
    <a:masterClrMapping/>
  </p:clrMapOvr>
  <p:transition spd="slow">
    <p:circl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a:extLst>
              <a:ext uri="{FF2B5EF4-FFF2-40B4-BE49-F238E27FC236}">
                <a16:creationId xmlns:a16="http://schemas.microsoft.com/office/drawing/2014/main" id="{8B5CC407-37BE-4D29-B229-910F39606D23}"/>
              </a:ext>
            </a:extLst>
          </p:cNvPr>
          <p:cNvSpPr>
            <a:spLocks noRot="1" noChangeArrowheads="1"/>
          </p:cNvSpPr>
          <p:nvPr/>
        </p:nvSpPr>
        <p:spPr bwMode="auto">
          <a:xfrm>
            <a:off x="1992313" y="6921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sz="3200">
                <a:solidFill>
                  <a:schemeClr val="bg1"/>
                </a:solidFill>
                <a:latin typeface="黑体" panose="02010609060101010101" pitchFamily="49" charset="-122"/>
              </a:rPr>
              <a:t>（一</a:t>
            </a:r>
            <a:r>
              <a:rPr lang="en-US" altLang="zh-CN" sz="3200">
                <a:solidFill>
                  <a:schemeClr val="bg1"/>
                </a:solidFill>
                <a:latin typeface="黑体" panose="02010609060101010101" pitchFamily="49" charset="-122"/>
              </a:rPr>
              <a:t>)</a:t>
            </a:r>
            <a:r>
              <a:rPr lang="zh-CN" altLang="en-US" sz="3200">
                <a:solidFill>
                  <a:schemeClr val="bg1"/>
                </a:solidFill>
                <a:latin typeface="黑体" panose="02010609060101010101" pitchFamily="49" charset="-122"/>
              </a:rPr>
              <a:t>一级结构与功能的关系</a:t>
            </a:r>
          </a:p>
        </p:txBody>
      </p:sp>
      <p:sp>
        <p:nvSpPr>
          <p:cNvPr id="5" name="标题 4">
            <a:extLst>
              <a:ext uri="{FF2B5EF4-FFF2-40B4-BE49-F238E27FC236}">
                <a16:creationId xmlns:a16="http://schemas.microsoft.com/office/drawing/2014/main" id="{33E6AA87-DDA0-4626-88A6-CDE901424158}"/>
              </a:ext>
            </a:extLst>
          </p:cNvPr>
          <p:cNvSpPr>
            <a:spLocks noGrp="1"/>
          </p:cNvSpPr>
          <p:nvPr>
            <p:ph type="title"/>
          </p:nvPr>
        </p:nvSpPr>
        <p:spPr>
          <a:xfrm>
            <a:off x="1868310" y="260648"/>
            <a:ext cx="8477607" cy="1296442"/>
          </a:xfrm>
        </p:spPr>
        <p:txBody>
          <a:bodyPr/>
          <a:lstStyle/>
          <a:p>
            <a:r>
              <a:rPr lang="zh-CN" altLang="en-US" dirty="0"/>
              <a:t>（二）一级结构相似的蛋白质具有相似的高级结构与功能</a:t>
            </a:r>
          </a:p>
        </p:txBody>
      </p:sp>
      <p:graphicFrame>
        <p:nvGraphicFramePr>
          <p:cNvPr id="19" name="Group 78">
            <a:extLst>
              <a:ext uri="{FF2B5EF4-FFF2-40B4-BE49-F238E27FC236}">
                <a16:creationId xmlns:a16="http://schemas.microsoft.com/office/drawing/2014/main" id="{A4DA9B9F-E32A-4E66-97A4-CFBA95520A7B}"/>
              </a:ext>
            </a:extLst>
          </p:cNvPr>
          <p:cNvGraphicFramePr>
            <a:graphicFrameLocks/>
          </p:cNvGraphicFramePr>
          <p:nvPr>
            <p:extLst>
              <p:ext uri="{D42A27DB-BD31-4B8C-83A1-F6EECF244321}">
                <p14:modId xmlns:p14="http://schemas.microsoft.com/office/powerpoint/2010/main" val="119757197"/>
              </p:ext>
            </p:extLst>
          </p:nvPr>
        </p:nvGraphicFramePr>
        <p:xfrm>
          <a:off x="1992314" y="1836817"/>
          <a:ext cx="8064127" cy="4663584"/>
        </p:xfrm>
        <a:graphic>
          <a:graphicData uri="http://schemas.openxmlformats.org/drawingml/2006/table">
            <a:tbl>
              <a:tblPr/>
              <a:tblGrid>
                <a:gridCol w="1612135">
                  <a:extLst>
                    <a:ext uri="{9D8B030D-6E8A-4147-A177-3AD203B41FA5}">
                      <a16:colId xmlns:a16="http://schemas.microsoft.com/office/drawing/2014/main" val="20000"/>
                    </a:ext>
                  </a:extLst>
                </a:gridCol>
                <a:gridCol w="1613860">
                  <a:extLst>
                    <a:ext uri="{9D8B030D-6E8A-4147-A177-3AD203B41FA5}">
                      <a16:colId xmlns:a16="http://schemas.microsoft.com/office/drawing/2014/main" val="20001"/>
                    </a:ext>
                  </a:extLst>
                </a:gridCol>
                <a:gridCol w="1612135">
                  <a:extLst>
                    <a:ext uri="{9D8B030D-6E8A-4147-A177-3AD203B41FA5}">
                      <a16:colId xmlns:a16="http://schemas.microsoft.com/office/drawing/2014/main" val="20002"/>
                    </a:ext>
                  </a:extLst>
                </a:gridCol>
                <a:gridCol w="1613862">
                  <a:extLst>
                    <a:ext uri="{9D8B030D-6E8A-4147-A177-3AD203B41FA5}">
                      <a16:colId xmlns:a16="http://schemas.microsoft.com/office/drawing/2014/main" val="20003"/>
                    </a:ext>
                  </a:extLst>
                </a:gridCol>
                <a:gridCol w="1612135">
                  <a:extLst>
                    <a:ext uri="{9D8B030D-6E8A-4147-A177-3AD203B41FA5}">
                      <a16:colId xmlns:a16="http://schemas.microsoft.com/office/drawing/2014/main" val="20004"/>
                    </a:ext>
                  </a:extLst>
                </a:gridCol>
              </a:tblGrid>
              <a:tr h="424847">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zh-CN" altLang="en-US" sz="2800" b="0" i="0" u="none" strike="noStrike" cap="none" normalizeH="0" baseline="0">
                          <a:ln>
                            <a:noFill/>
                          </a:ln>
                          <a:solidFill>
                            <a:srgbClr val="FF0000"/>
                          </a:solidFill>
                          <a:effectLst/>
                          <a:latin typeface="Times New Roman" pitchFamily="18" charset="0"/>
                          <a:ea typeface="黑体" pitchFamily="49" charset="-122"/>
                        </a:rPr>
                        <a:t>胰岛素</a:t>
                      </a:r>
                    </a:p>
                  </a:txBody>
                  <a:tcPr marL="91434" marR="91434" marT="45728" marB="45728" anchor="ctr" horzOverflow="overflow">
                    <a:lnL cap="flat">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0" i="0" u="none" strike="noStrike" cap="none" normalizeH="0" baseline="0" dirty="0">
                          <a:ln>
                            <a:noFill/>
                          </a:ln>
                          <a:solidFill>
                            <a:srgbClr val="FF0000"/>
                          </a:solidFill>
                          <a:effectLst/>
                          <a:latin typeface="Times New Roman" pitchFamily="18" charset="0"/>
                          <a:ea typeface="黑体" pitchFamily="49" charset="-122"/>
                        </a:rPr>
                        <a:t>氨基酸残基差异部分</a:t>
                      </a:r>
                      <a:endParaRPr kumimoji="0" lang="zh-CN" altLang="en-US" sz="2800" b="0" i="0" u="none" strike="noStrike" cap="none" normalizeH="0" baseline="0" dirty="0">
                        <a:ln>
                          <a:noFill/>
                        </a:ln>
                        <a:solidFill>
                          <a:srgbClr val="FF0000"/>
                        </a:solidFill>
                        <a:effectLst/>
                        <a:latin typeface="Times New Roman" pitchFamily="18" charset="0"/>
                        <a:ea typeface="黑体" pitchFamily="49" charset="-122"/>
                      </a:endParaRPr>
                    </a:p>
                  </a:txBody>
                  <a:tcPr marL="91434" marR="91434" marT="45728" marB="45728" anchor="ctr" horzOverflow="overflow">
                    <a:lnL>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24847">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a:ln>
                            <a:noFill/>
                          </a:ln>
                          <a:solidFill>
                            <a:srgbClr val="FF0000"/>
                          </a:solidFill>
                          <a:effectLst/>
                          <a:latin typeface="Arial" pitchFamily="34" charset="0"/>
                          <a:ea typeface="黑体" pitchFamily="49" charset="-122"/>
                        </a:rPr>
                        <a:t>A8</a:t>
                      </a: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a:ln>
                            <a:noFill/>
                          </a:ln>
                          <a:solidFill>
                            <a:srgbClr val="FF0000"/>
                          </a:solidFill>
                          <a:effectLst/>
                          <a:latin typeface="Arial" pitchFamily="34" charset="0"/>
                          <a:ea typeface="黑体" pitchFamily="49" charset="-122"/>
                        </a:rPr>
                        <a:t>A9</a:t>
                      </a: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a:ln>
                            <a:noFill/>
                          </a:ln>
                          <a:solidFill>
                            <a:srgbClr val="FF0000"/>
                          </a:solidFill>
                          <a:effectLst/>
                          <a:latin typeface="Arial" pitchFamily="34" charset="0"/>
                          <a:ea typeface="黑体" pitchFamily="49" charset="-122"/>
                        </a:rPr>
                        <a:t>A10</a:t>
                      </a: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800" b="0" i="0" u="none" strike="noStrike" cap="none" normalizeH="0" baseline="0">
                          <a:ln>
                            <a:noFill/>
                          </a:ln>
                          <a:solidFill>
                            <a:srgbClr val="FF0000"/>
                          </a:solidFill>
                          <a:effectLst/>
                          <a:latin typeface="Arial" pitchFamily="34" charset="0"/>
                          <a:ea typeface="黑体" pitchFamily="49" charset="-122"/>
                        </a:rPr>
                        <a:t>B3</a:t>
                      </a:r>
                      <a:r>
                        <a:rPr kumimoji="1" lang="en-US" altLang="zh-CN" sz="2800" b="0" i="0" u="none" strike="noStrike" cap="none" normalizeH="0" baseline="0">
                          <a:ln>
                            <a:noFill/>
                          </a:ln>
                          <a:solidFill>
                            <a:srgbClr val="FF0000"/>
                          </a:solidFill>
                          <a:effectLst/>
                          <a:latin typeface="Arial" pitchFamily="34" charset="0"/>
                          <a:ea typeface="黑体" pitchFamily="49" charset="-122"/>
                        </a:rPr>
                        <a:t>0</a:t>
                      </a:r>
                      <a:endParaRPr kumimoji="0" lang="en-US" altLang="zh-CN" sz="2800" b="0" i="0" u="none" strike="noStrike" cap="none" normalizeH="0" baseline="0">
                        <a:ln>
                          <a:noFill/>
                        </a:ln>
                        <a:solidFill>
                          <a:srgbClr val="FF0000"/>
                        </a:solidFill>
                        <a:effectLst/>
                        <a:latin typeface="Arial" pitchFamily="34" charset="0"/>
                        <a:ea typeface="黑体" pitchFamily="49" charset="-122"/>
                      </a:endParaRPr>
                    </a:p>
                  </a:txBody>
                  <a:tcPr marL="91434" marR="91434" marT="45728" marB="4572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484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zh-CN" altLang="en-US" sz="2800" b="0" i="0" u="none" strike="noStrike" cap="none" normalizeH="0" baseline="0" dirty="0">
                          <a:ln>
                            <a:noFill/>
                          </a:ln>
                          <a:solidFill>
                            <a:schemeClr val="tx1">
                              <a:lumMod val="75000"/>
                            </a:schemeClr>
                          </a:solidFill>
                          <a:effectLst/>
                          <a:latin typeface="Times New Roman" pitchFamily="18" charset="0"/>
                          <a:ea typeface="黑体" pitchFamily="49" charset="-122"/>
                        </a:rPr>
                        <a:t>人</a:t>
                      </a:r>
                    </a:p>
                  </a:txBody>
                  <a:tcPr marL="91434" marR="91434" marT="45728" marB="45728"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err="1">
                          <a:ln>
                            <a:noFill/>
                          </a:ln>
                          <a:solidFill>
                            <a:schemeClr val="tx1"/>
                          </a:solidFill>
                          <a:effectLst/>
                          <a:latin typeface="Arial" pitchFamily="34" charset="0"/>
                          <a:ea typeface="黑体" pitchFamily="49" charset="-122"/>
                        </a:rPr>
                        <a:t>Thr</a:t>
                      </a:r>
                      <a:endParaRPr kumimoji="1" lang="en-US" altLang="zh-CN" sz="2800" b="0" i="0" u="none" strike="noStrike" cap="none" normalizeH="0" baseline="0" dirty="0">
                        <a:ln>
                          <a:noFill/>
                        </a:ln>
                        <a:solidFill>
                          <a:schemeClr val="tx1"/>
                        </a:solidFill>
                        <a:effectLst/>
                        <a:latin typeface="Arial" pitchFamily="34" charset="0"/>
                        <a:ea typeface="黑体" pitchFamily="49" charset="-122"/>
                      </a:endParaRP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a:ln>
                            <a:noFill/>
                          </a:ln>
                          <a:solidFill>
                            <a:schemeClr val="tx1"/>
                          </a:solidFill>
                          <a:effectLst/>
                          <a:latin typeface="Arial" pitchFamily="34" charset="0"/>
                          <a:ea typeface="黑体" pitchFamily="49" charset="-122"/>
                        </a:rPr>
                        <a:t>Ser</a:t>
                      </a: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a:ln>
                            <a:noFill/>
                          </a:ln>
                          <a:solidFill>
                            <a:schemeClr val="tx1"/>
                          </a:solidFill>
                          <a:effectLst/>
                          <a:latin typeface="Arial" pitchFamily="34" charset="0"/>
                          <a:ea typeface="黑体" pitchFamily="49" charset="-122"/>
                        </a:rPr>
                        <a:t>Ile</a:t>
                      </a: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a:ln>
                            <a:noFill/>
                          </a:ln>
                          <a:solidFill>
                            <a:schemeClr val="tx1"/>
                          </a:solidFill>
                          <a:effectLst/>
                          <a:latin typeface="Arial" pitchFamily="34" charset="0"/>
                          <a:ea typeface="黑体" pitchFamily="49" charset="-122"/>
                        </a:rPr>
                        <a:t>Thr</a:t>
                      </a:r>
                      <a:endParaRPr kumimoji="0" lang="en-US" altLang="zh-CN" sz="2800" b="0" i="0" u="none" strike="noStrike" cap="none" normalizeH="0" baseline="0">
                        <a:ln>
                          <a:noFill/>
                        </a:ln>
                        <a:solidFill>
                          <a:schemeClr val="tx1"/>
                        </a:solidFill>
                        <a:effectLst/>
                        <a:latin typeface="Arial" pitchFamily="34" charset="0"/>
                        <a:ea typeface="黑体" pitchFamily="49" charset="-122"/>
                      </a:endParaRPr>
                    </a:p>
                  </a:txBody>
                  <a:tcPr marL="91434" marR="91434" marT="45728" marB="4572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484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0" i="0" u="none" strike="noStrike" cap="none" normalizeH="0" baseline="0" dirty="0">
                          <a:ln>
                            <a:noFill/>
                          </a:ln>
                          <a:solidFill>
                            <a:schemeClr val="tx1">
                              <a:lumMod val="75000"/>
                            </a:schemeClr>
                          </a:solidFill>
                          <a:effectLst/>
                          <a:latin typeface="Times New Roman" pitchFamily="18" charset="0"/>
                          <a:ea typeface="黑体" pitchFamily="49" charset="-122"/>
                        </a:rPr>
                        <a:t>猪</a:t>
                      </a:r>
                      <a:endParaRPr kumimoji="0" lang="zh-CN" altLang="en-US" sz="2800" b="0" i="0" u="none" strike="noStrike" cap="none" normalizeH="0" baseline="0" dirty="0">
                        <a:ln>
                          <a:noFill/>
                        </a:ln>
                        <a:solidFill>
                          <a:schemeClr val="tx1">
                            <a:lumMod val="75000"/>
                          </a:schemeClr>
                        </a:solidFill>
                        <a:effectLst/>
                        <a:latin typeface="Times New Roman" pitchFamily="18" charset="0"/>
                        <a:ea typeface="黑体" pitchFamily="49" charset="-122"/>
                      </a:endParaRPr>
                    </a:p>
                  </a:txBody>
                  <a:tcPr marL="91434" marR="91434" marT="45728" marB="45728"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1" lang="en-US" altLang="zh-CN" sz="2800" b="0" i="0" u="none" strike="noStrike" cap="none" normalizeH="0" baseline="0" dirty="0">
                        <a:ln>
                          <a:noFill/>
                        </a:ln>
                        <a:solidFill>
                          <a:schemeClr val="tx1"/>
                        </a:solidFill>
                        <a:effectLst/>
                        <a:latin typeface="Arial" pitchFamily="34" charset="0"/>
                        <a:ea typeface="黑体" pitchFamily="49" charset="-122"/>
                      </a:endParaRP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1" lang="en-US" altLang="zh-CN" sz="2800" b="0" i="0" u="none" strike="noStrike" cap="none" normalizeH="0" baseline="0" dirty="0">
                        <a:ln>
                          <a:noFill/>
                        </a:ln>
                        <a:solidFill>
                          <a:schemeClr val="tx1"/>
                        </a:solidFill>
                        <a:effectLst/>
                        <a:latin typeface="Arial" pitchFamily="34" charset="0"/>
                        <a:ea typeface="黑体" pitchFamily="49" charset="-122"/>
                      </a:endParaRP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1" lang="en-US" altLang="zh-CN" sz="2800" b="0" i="0" u="none" strike="noStrike" cap="none" normalizeH="0" baseline="0" dirty="0">
                        <a:ln>
                          <a:noFill/>
                        </a:ln>
                        <a:solidFill>
                          <a:schemeClr val="tx1"/>
                        </a:solidFill>
                        <a:effectLst/>
                        <a:latin typeface="Arial" pitchFamily="34" charset="0"/>
                        <a:ea typeface="黑体" pitchFamily="49" charset="-122"/>
                      </a:endParaRP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a:ln>
                            <a:noFill/>
                          </a:ln>
                          <a:solidFill>
                            <a:srgbClr val="C00000"/>
                          </a:solidFill>
                          <a:effectLst/>
                          <a:latin typeface="Arial" pitchFamily="34" charset="0"/>
                          <a:ea typeface="黑体" pitchFamily="49" charset="-122"/>
                        </a:rPr>
                        <a:t>Ala</a:t>
                      </a:r>
                    </a:p>
                  </a:txBody>
                  <a:tcPr marL="91434" marR="91434" marT="45728" marB="4572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484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800" b="0" i="0" u="none" strike="noStrike" cap="none" normalizeH="0" baseline="0" dirty="0">
                          <a:ln>
                            <a:noFill/>
                          </a:ln>
                          <a:solidFill>
                            <a:schemeClr val="tx1">
                              <a:lumMod val="75000"/>
                            </a:schemeClr>
                          </a:solidFill>
                          <a:effectLst/>
                          <a:latin typeface="Times New Roman" pitchFamily="18" charset="0"/>
                          <a:ea typeface="黑体" pitchFamily="49" charset="-122"/>
                        </a:rPr>
                        <a:t>狗</a:t>
                      </a:r>
                      <a:endParaRPr kumimoji="0" lang="zh-CN" altLang="en-US" sz="2800" b="0" i="0" u="none" strike="noStrike" cap="none" normalizeH="0" baseline="0" dirty="0">
                        <a:ln>
                          <a:noFill/>
                        </a:ln>
                        <a:solidFill>
                          <a:schemeClr val="tx1">
                            <a:lumMod val="75000"/>
                          </a:schemeClr>
                        </a:solidFill>
                        <a:effectLst/>
                        <a:latin typeface="Times New Roman" pitchFamily="18" charset="0"/>
                        <a:ea typeface="黑体" pitchFamily="49" charset="-122"/>
                      </a:endParaRPr>
                    </a:p>
                  </a:txBody>
                  <a:tcPr marL="91434" marR="91434" marT="45728" marB="45728"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ltLang="en-US" sz="2800" b="0" dirty="0"/>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ltLang="en-US" sz="2800" b="0" dirty="0"/>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ltLang="en-US" sz="2800" b="0" dirty="0"/>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a:ln>
                            <a:noFill/>
                          </a:ln>
                          <a:solidFill>
                            <a:srgbClr val="C00000"/>
                          </a:solidFill>
                          <a:effectLst/>
                          <a:latin typeface="Arial" pitchFamily="34" charset="0"/>
                          <a:ea typeface="黑体" pitchFamily="49" charset="-122"/>
                        </a:rPr>
                        <a:t>Ala</a:t>
                      </a:r>
                    </a:p>
                  </a:txBody>
                  <a:tcPr marL="91434" marR="91434" marT="45728" marB="4572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484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zh-CN" altLang="en-US" sz="2800" b="0" i="0" u="none" strike="noStrike" cap="none" normalizeH="0" baseline="0" dirty="0">
                          <a:ln>
                            <a:noFill/>
                          </a:ln>
                          <a:solidFill>
                            <a:schemeClr val="tx1">
                              <a:lumMod val="75000"/>
                            </a:schemeClr>
                          </a:solidFill>
                          <a:effectLst/>
                          <a:latin typeface="Times New Roman" pitchFamily="18" charset="0"/>
                          <a:ea typeface="黑体" pitchFamily="49" charset="-122"/>
                        </a:rPr>
                        <a:t>兔</a:t>
                      </a:r>
                    </a:p>
                  </a:txBody>
                  <a:tcPr marL="91434" marR="91434" marT="45728" marB="45728"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1" lang="en-US" altLang="zh-CN" sz="2800" b="0" i="0" u="none" strike="noStrike" cap="none" normalizeH="0" baseline="0" dirty="0">
                        <a:ln>
                          <a:noFill/>
                        </a:ln>
                        <a:solidFill>
                          <a:schemeClr val="tx1"/>
                        </a:solidFill>
                        <a:effectLst/>
                        <a:latin typeface="Arial" pitchFamily="34" charset="0"/>
                        <a:ea typeface="黑体" pitchFamily="49" charset="-122"/>
                      </a:endParaRP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1" lang="en-US" altLang="zh-CN" sz="2800" b="0" i="0" u="none" strike="noStrike" cap="none" normalizeH="0" baseline="0" dirty="0">
                        <a:ln>
                          <a:noFill/>
                        </a:ln>
                        <a:solidFill>
                          <a:srgbClr val="C00000"/>
                        </a:solidFill>
                        <a:effectLst/>
                        <a:latin typeface="Arial" pitchFamily="34" charset="0"/>
                        <a:ea typeface="黑体" pitchFamily="49" charset="-122"/>
                      </a:endParaRP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1" lang="en-US" altLang="zh-CN" sz="2800" b="0" i="0" u="none" strike="noStrike" cap="none" normalizeH="0" baseline="0" dirty="0">
                        <a:ln>
                          <a:noFill/>
                        </a:ln>
                        <a:solidFill>
                          <a:schemeClr val="tx1"/>
                        </a:solidFill>
                        <a:effectLst/>
                        <a:latin typeface="Arial" pitchFamily="34" charset="0"/>
                        <a:ea typeface="黑体" pitchFamily="49" charset="-122"/>
                      </a:endParaRP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err="1">
                          <a:ln>
                            <a:noFill/>
                          </a:ln>
                          <a:solidFill>
                            <a:srgbClr val="C00000"/>
                          </a:solidFill>
                          <a:effectLst/>
                          <a:latin typeface="Arial" pitchFamily="34" charset="0"/>
                          <a:ea typeface="黑体" pitchFamily="49" charset="-122"/>
                        </a:rPr>
                        <a:t>Ser</a:t>
                      </a:r>
                      <a:endParaRPr kumimoji="1" lang="en-US" altLang="zh-CN" sz="2800" b="0" i="0" u="none" strike="noStrike" cap="none" normalizeH="0" baseline="0" dirty="0">
                        <a:ln>
                          <a:noFill/>
                        </a:ln>
                        <a:solidFill>
                          <a:srgbClr val="C00000"/>
                        </a:solidFill>
                        <a:effectLst/>
                        <a:latin typeface="Arial" pitchFamily="34" charset="0"/>
                        <a:ea typeface="黑体" pitchFamily="49" charset="-122"/>
                      </a:endParaRPr>
                    </a:p>
                  </a:txBody>
                  <a:tcPr marL="91434" marR="91434" marT="45728" marB="4572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484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zh-CN" altLang="en-US" sz="2800" b="0" i="0" u="none" strike="noStrike" cap="none" normalizeH="0" baseline="0" dirty="0">
                          <a:ln>
                            <a:noFill/>
                          </a:ln>
                          <a:solidFill>
                            <a:schemeClr val="tx1">
                              <a:lumMod val="75000"/>
                            </a:schemeClr>
                          </a:solidFill>
                          <a:effectLst/>
                          <a:latin typeface="Times New Roman" pitchFamily="18" charset="0"/>
                          <a:ea typeface="黑体" pitchFamily="49" charset="-122"/>
                        </a:rPr>
                        <a:t>马</a:t>
                      </a:r>
                    </a:p>
                  </a:txBody>
                  <a:tcPr marL="91434" marR="91434" marT="45728" marB="45728"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1" lang="en-US" altLang="zh-CN" sz="2800" b="0" i="0" u="none" strike="noStrike" cap="none" normalizeH="0" baseline="0" dirty="0">
                        <a:ln>
                          <a:noFill/>
                        </a:ln>
                        <a:solidFill>
                          <a:srgbClr val="C00000"/>
                        </a:solidFill>
                        <a:effectLst/>
                        <a:latin typeface="Arial" pitchFamily="34" charset="0"/>
                        <a:ea typeface="黑体" pitchFamily="49" charset="-122"/>
                      </a:endParaRP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err="1">
                          <a:ln>
                            <a:noFill/>
                          </a:ln>
                          <a:solidFill>
                            <a:srgbClr val="C00000"/>
                          </a:solidFill>
                          <a:effectLst/>
                          <a:latin typeface="Arial" pitchFamily="34" charset="0"/>
                          <a:ea typeface="黑体" pitchFamily="49" charset="-122"/>
                        </a:rPr>
                        <a:t>Gly</a:t>
                      </a:r>
                      <a:endParaRPr kumimoji="1" lang="en-US" altLang="zh-CN" sz="2800" b="0" i="0" u="none" strike="noStrike" cap="none" normalizeH="0" baseline="0" dirty="0">
                        <a:ln>
                          <a:noFill/>
                        </a:ln>
                        <a:solidFill>
                          <a:srgbClr val="C00000"/>
                        </a:solidFill>
                        <a:effectLst/>
                        <a:latin typeface="Arial" pitchFamily="34" charset="0"/>
                        <a:ea typeface="黑体" pitchFamily="49" charset="-122"/>
                      </a:endParaRP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1" lang="en-US" altLang="zh-CN" sz="2800" b="0" i="0" u="none" strike="noStrike" cap="none" normalizeH="0" baseline="0" dirty="0">
                        <a:ln>
                          <a:noFill/>
                        </a:ln>
                        <a:solidFill>
                          <a:srgbClr val="C00000"/>
                        </a:solidFill>
                        <a:effectLst/>
                        <a:latin typeface="Arial" pitchFamily="34" charset="0"/>
                        <a:ea typeface="黑体" pitchFamily="49" charset="-122"/>
                      </a:endParaRP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a:ln>
                            <a:noFill/>
                          </a:ln>
                          <a:solidFill>
                            <a:srgbClr val="C00000"/>
                          </a:solidFill>
                          <a:effectLst/>
                          <a:latin typeface="Arial" pitchFamily="34" charset="0"/>
                          <a:ea typeface="黑体" pitchFamily="49" charset="-122"/>
                        </a:rPr>
                        <a:t>Ala</a:t>
                      </a:r>
                      <a:endParaRPr kumimoji="0" lang="en-US" altLang="zh-CN" sz="2800" b="0" i="0" u="none" strike="noStrike" cap="none" normalizeH="0" baseline="0" dirty="0">
                        <a:ln>
                          <a:noFill/>
                        </a:ln>
                        <a:solidFill>
                          <a:srgbClr val="C00000"/>
                        </a:solidFill>
                        <a:effectLst/>
                        <a:latin typeface="Arial" pitchFamily="34" charset="0"/>
                        <a:ea typeface="黑体" pitchFamily="49" charset="-122"/>
                      </a:endParaRPr>
                    </a:p>
                  </a:txBody>
                  <a:tcPr marL="91434" marR="91434" marT="45728" marB="4572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484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zh-CN" altLang="en-US" sz="2800" b="0" i="0" u="none" strike="noStrike" cap="none" normalizeH="0" baseline="0" dirty="0">
                          <a:ln>
                            <a:noFill/>
                          </a:ln>
                          <a:solidFill>
                            <a:schemeClr val="tx1">
                              <a:lumMod val="75000"/>
                            </a:schemeClr>
                          </a:solidFill>
                          <a:effectLst/>
                          <a:latin typeface="Times New Roman" pitchFamily="18" charset="0"/>
                          <a:ea typeface="黑体" pitchFamily="49" charset="-122"/>
                        </a:rPr>
                        <a:t>牛</a:t>
                      </a:r>
                    </a:p>
                  </a:txBody>
                  <a:tcPr marL="91434" marR="91434" marT="45728" marB="45728"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a:ln>
                            <a:noFill/>
                          </a:ln>
                          <a:solidFill>
                            <a:srgbClr val="C00000"/>
                          </a:solidFill>
                          <a:effectLst/>
                          <a:latin typeface="Arial" pitchFamily="34" charset="0"/>
                          <a:ea typeface="黑体" pitchFamily="49" charset="-122"/>
                        </a:rPr>
                        <a:t>Ala</a:t>
                      </a: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1" lang="en-US" altLang="zh-CN" sz="2800" b="0" i="0" u="none" strike="noStrike" cap="none" normalizeH="0" baseline="0" dirty="0">
                        <a:ln>
                          <a:noFill/>
                        </a:ln>
                        <a:solidFill>
                          <a:srgbClr val="C00000"/>
                        </a:solidFill>
                        <a:effectLst/>
                        <a:latin typeface="Arial" pitchFamily="34" charset="0"/>
                        <a:ea typeface="黑体" pitchFamily="49" charset="-122"/>
                      </a:endParaRP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a:ln>
                            <a:noFill/>
                          </a:ln>
                          <a:solidFill>
                            <a:srgbClr val="C00000"/>
                          </a:solidFill>
                          <a:effectLst/>
                          <a:latin typeface="Arial" pitchFamily="34" charset="0"/>
                          <a:ea typeface="黑体" pitchFamily="49" charset="-122"/>
                        </a:rPr>
                        <a:t>Val</a:t>
                      </a: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a:ln>
                            <a:noFill/>
                          </a:ln>
                          <a:solidFill>
                            <a:srgbClr val="C00000"/>
                          </a:solidFill>
                          <a:effectLst/>
                          <a:latin typeface="Arial" pitchFamily="34" charset="0"/>
                          <a:ea typeface="黑体" pitchFamily="49" charset="-122"/>
                        </a:rPr>
                        <a:t>Ala</a:t>
                      </a:r>
                      <a:endParaRPr kumimoji="0" lang="en-US" altLang="zh-CN" sz="2800" b="0" i="0" u="none" strike="noStrike" cap="none" normalizeH="0" baseline="0" dirty="0">
                        <a:ln>
                          <a:noFill/>
                        </a:ln>
                        <a:solidFill>
                          <a:srgbClr val="C00000"/>
                        </a:solidFill>
                        <a:effectLst/>
                        <a:latin typeface="Arial" pitchFamily="34" charset="0"/>
                        <a:ea typeface="黑体" pitchFamily="49" charset="-122"/>
                      </a:endParaRPr>
                    </a:p>
                  </a:txBody>
                  <a:tcPr marL="91434" marR="91434" marT="45728" marB="45728"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484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zh-CN" altLang="en-US" sz="2800" b="0" i="0" u="none" strike="noStrike" cap="none" normalizeH="0" baseline="0" dirty="0">
                          <a:ln>
                            <a:noFill/>
                          </a:ln>
                          <a:solidFill>
                            <a:schemeClr val="tx1">
                              <a:lumMod val="75000"/>
                            </a:schemeClr>
                          </a:solidFill>
                          <a:effectLst/>
                          <a:latin typeface="Times New Roman" pitchFamily="18" charset="0"/>
                          <a:ea typeface="黑体" pitchFamily="49" charset="-122"/>
                        </a:rPr>
                        <a:t>羊</a:t>
                      </a:r>
                    </a:p>
                  </a:txBody>
                  <a:tcPr marL="91434" marR="91434" marT="45728" marB="45728" anchor="ctr" horzOverflow="overflow">
                    <a:lnL cap="flat">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a:ln>
                            <a:noFill/>
                          </a:ln>
                          <a:solidFill>
                            <a:srgbClr val="C00000"/>
                          </a:solidFill>
                          <a:effectLst/>
                          <a:latin typeface="Arial" pitchFamily="34" charset="0"/>
                          <a:ea typeface="黑体" pitchFamily="49" charset="-122"/>
                        </a:rPr>
                        <a:t>Ala</a:t>
                      </a: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err="1">
                          <a:ln>
                            <a:noFill/>
                          </a:ln>
                          <a:solidFill>
                            <a:srgbClr val="C00000"/>
                          </a:solidFill>
                          <a:effectLst/>
                          <a:latin typeface="Arial" pitchFamily="34" charset="0"/>
                          <a:ea typeface="黑体" pitchFamily="49" charset="-122"/>
                        </a:rPr>
                        <a:t>Gly</a:t>
                      </a:r>
                      <a:endParaRPr kumimoji="1" lang="en-US" altLang="zh-CN" sz="2800" b="0" i="0" u="none" strike="noStrike" cap="none" normalizeH="0" baseline="0" dirty="0">
                        <a:ln>
                          <a:noFill/>
                        </a:ln>
                        <a:solidFill>
                          <a:srgbClr val="C00000"/>
                        </a:solidFill>
                        <a:effectLst/>
                        <a:latin typeface="Arial" pitchFamily="34" charset="0"/>
                        <a:ea typeface="黑体" pitchFamily="49" charset="-122"/>
                      </a:endParaRP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a:ln>
                            <a:noFill/>
                          </a:ln>
                          <a:solidFill>
                            <a:srgbClr val="C00000"/>
                          </a:solidFill>
                          <a:effectLst/>
                          <a:latin typeface="Arial" pitchFamily="34" charset="0"/>
                          <a:ea typeface="黑体" pitchFamily="49" charset="-122"/>
                        </a:rPr>
                        <a:t>Val</a:t>
                      </a:r>
                    </a:p>
                  </a:txBody>
                  <a:tcPr marL="91434" marR="91434" marT="45728" marB="45728" anchor="ct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1" lang="en-US" altLang="zh-CN" sz="2800" b="0" i="0" u="none" strike="noStrike" cap="none" normalizeH="0" baseline="0" dirty="0">
                          <a:ln>
                            <a:noFill/>
                          </a:ln>
                          <a:solidFill>
                            <a:srgbClr val="C00000"/>
                          </a:solidFill>
                          <a:effectLst/>
                          <a:latin typeface="Arial" pitchFamily="34" charset="0"/>
                          <a:ea typeface="黑体" pitchFamily="49" charset="-122"/>
                        </a:rPr>
                        <a:t>Ala</a:t>
                      </a:r>
                      <a:endParaRPr kumimoji="0" lang="en-US" altLang="zh-CN" sz="2800" b="0" i="0" u="none" strike="noStrike" cap="none" normalizeH="0" baseline="0" dirty="0">
                        <a:ln>
                          <a:noFill/>
                        </a:ln>
                        <a:solidFill>
                          <a:srgbClr val="C00000"/>
                        </a:solidFill>
                        <a:effectLst/>
                        <a:latin typeface="Arial" pitchFamily="34" charset="0"/>
                        <a:ea typeface="黑体" pitchFamily="49" charset="-122"/>
                      </a:endParaRPr>
                    </a:p>
                  </a:txBody>
                  <a:tcPr marL="91434" marR="91434" marT="45728" marB="45728" anchor="ctr" horzOverflow="overflow">
                    <a:lnL>
                      <a:noFill/>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spd="slow">
    <p:circle/>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1DE204C-327C-4408-A15E-BD17537AECA7}"/>
              </a:ext>
            </a:extLst>
          </p:cNvPr>
          <p:cNvSpPr>
            <a:spLocks noGrp="1"/>
          </p:cNvSpPr>
          <p:nvPr>
            <p:ph type="title"/>
          </p:nvPr>
        </p:nvSpPr>
        <p:spPr/>
        <p:txBody>
          <a:bodyPr/>
          <a:lstStyle/>
          <a:p>
            <a:r>
              <a:rPr lang="zh-CN" altLang="en-US" dirty="0"/>
              <a:t>泛素（</a:t>
            </a:r>
            <a:r>
              <a:rPr lang="en-US" altLang="zh-CN" dirty="0"/>
              <a:t>ubiquitin)</a:t>
            </a:r>
            <a:endParaRPr lang="zh-CN" altLang="en-US" dirty="0"/>
          </a:p>
        </p:txBody>
      </p:sp>
      <p:pic>
        <p:nvPicPr>
          <p:cNvPr id="2" name="内容占位符 1">
            <a:extLst>
              <a:ext uri="{FF2B5EF4-FFF2-40B4-BE49-F238E27FC236}">
                <a16:creationId xmlns:a16="http://schemas.microsoft.com/office/drawing/2014/main" id="{FB253CFF-9A9A-4408-8036-2D595E135A57}"/>
              </a:ext>
            </a:extLst>
          </p:cNvPr>
          <p:cNvPicPr>
            <a:picLocks noGrp="1" noChangeAspect="1"/>
          </p:cNvPicPr>
          <p:nvPr>
            <p:ph idx="1"/>
          </p:nvPr>
        </p:nvPicPr>
        <p:blipFill rotWithShape="1">
          <a:blip r:embed="rId3"/>
          <a:srcRect t="14803" b="15533"/>
          <a:stretch/>
        </p:blipFill>
        <p:spPr>
          <a:xfrm>
            <a:off x="7194713" y="3731742"/>
            <a:ext cx="3938197" cy="2435920"/>
          </a:xfrm>
          <a:prstGeom prst="rect">
            <a:avLst/>
          </a:prstGeom>
        </p:spPr>
      </p:pic>
      <p:sp>
        <p:nvSpPr>
          <p:cNvPr id="6" name="文本框 5">
            <a:extLst>
              <a:ext uri="{FF2B5EF4-FFF2-40B4-BE49-F238E27FC236}">
                <a16:creationId xmlns:a16="http://schemas.microsoft.com/office/drawing/2014/main" id="{46803B29-E851-4462-9F2D-B157A2CFF5AD}"/>
              </a:ext>
            </a:extLst>
          </p:cNvPr>
          <p:cNvSpPr txBox="1"/>
          <p:nvPr/>
        </p:nvSpPr>
        <p:spPr>
          <a:xfrm>
            <a:off x="839416" y="1124744"/>
            <a:ext cx="10441160" cy="2751522"/>
          </a:xfrm>
          <a:prstGeom prst="rect">
            <a:avLst/>
          </a:prstGeom>
          <a:noFill/>
        </p:spPr>
        <p:txBody>
          <a:bodyPr wrap="square">
            <a:spAutoFit/>
          </a:bodyPr>
          <a:lstStyle/>
          <a:p>
            <a:pPr marL="342900" indent="-342900">
              <a:lnSpc>
                <a:spcPct val="120000"/>
              </a:lnSpc>
              <a:buFont typeface="Arial" panose="020B0604020202020204" pitchFamily="34" charset="0"/>
              <a:buChar char="•"/>
            </a:pPr>
            <a:r>
              <a:rPr lang="zh-CN" altLang="en-US" sz="2800" b="1" dirty="0">
                <a:solidFill>
                  <a:srgbClr val="0000CC"/>
                </a:solidFill>
                <a:latin typeface="微软雅黑" panose="020B0503020204020204" pitchFamily="34" charset="-122"/>
                <a:ea typeface="微软雅黑" panose="020B0503020204020204" pitchFamily="34" charset="-122"/>
              </a:rPr>
              <a:t>泛素</a:t>
            </a:r>
            <a:r>
              <a:rPr lang="zh-CN" altLang="en-US" sz="2800" dirty="0">
                <a:latin typeface="微软雅黑" panose="020B0503020204020204" pitchFamily="34" charset="-122"/>
                <a:ea typeface="微软雅黑" panose="020B0503020204020204" pitchFamily="34" charset="-122"/>
              </a:rPr>
              <a:t>是一种存在于真核细胞的高度保守的小调节蛋白</a:t>
            </a:r>
            <a:r>
              <a:rPr lang="en-US" altLang="zh-CN"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只一条多肽链，共</a:t>
            </a:r>
            <a:r>
              <a:rPr lang="en-US" altLang="zh-CN" sz="2800" b="1" dirty="0">
                <a:latin typeface="微软雅黑" panose="020B0503020204020204" pitchFamily="34" charset="-122"/>
                <a:ea typeface="微软雅黑" panose="020B0503020204020204" pitchFamily="34" charset="-122"/>
              </a:rPr>
              <a:t>76</a:t>
            </a:r>
            <a:r>
              <a:rPr lang="zh-CN" altLang="en-US" sz="2800" b="1" dirty="0">
                <a:latin typeface="微软雅黑" panose="020B0503020204020204" pitchFamily="34" charset="-122"/>
                <a:ea typeface="微软雅黑" panose="020B0503020204020204" pitchFamily="34" charset="-122"/>
              </a:rPr>
              <a:t>个</a:t>
            </a:r>
            <a:r>
              <a:rPr lang="zh-CN" altLang="en-US" sz="2800" dirty="0">
                <a:latin typeface="微软雅黑" panose="020B0503020204020204" pitchFamily="34" charset="-122"/>
                <a:ea typeface="微软雅黑" panose="020B0503020204020204" pitchFamily="34" charset="-122"/>
              </a:rPr>
              <a:t>氨基酸残基。 </a:t>
            </a:r>
            <a:r>
              <a:rPr lang="zh-CN" altLang="en-US" sz="2400" dirty="0">
                <a:latin typeface="微软雅黑" panose="020B0503020204020204" pitchFamily="34" charset="-122"/>
                <a:ea typeface="微软雅黑" panose="020B0503020204020204" pitchFamily="34" charset="-122"/>
              </a:rPr>
              <a:t>酵母细胞的泛素与人的泛素只有</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个氨基酸残基的差异。</a:t>
            </a:r>
            <a:endParaRPr lang="en-US" altLang="zh-CN" sz="24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泛素可以</a:t>
            </a:r>
            <a:r>
              <a:rPr lang="zh-CN" altLang="en-US" sz="2400" dirty="0">
                <a:solidFill>
                  <a:schemeClr val="tx1">
                    <a:lumMod val="60000"/>
                    <a:lumOff val="40000"/>
                  </a:schemeClr>
                </a:solidFill>
                <a:latin typeface="微软雅黑" panose="020B0503020204020204" pitchFamily="34" charset="-122"/>
                <a:ea typeface="微软雅黑" panose="020B0503020204020204" pitchFamily="34" charset="-122"/>
              </a:rPr>
              <a:t>共价键</a:t>
            </a:r>
            <a:r>
              <a:rPr lang="zh-CN" altLang="en-US" sz="2400" dirty="0">
                <a:latin typeface="微软雅黑" panose="020B0503020204020204" pitchFamily="34" charset="-122"/>
                <a:ea typeface="微软雅黑" panose="020B0503020204020204" pitchFamily="34" charset="-122"/>
              </a:rPr>
              <a:t>结合在某些底物蛋白上，这种修饰过程称为</a:t>
            </a:r>
            <a:r>
              <a:rPr lang="zh-CN" altLang="en-US" sz="2400" dirty="0">
                <a:solidFill>
                  <a:srgbClr val="C00000"/>
                </a:solidFill>
                <a:latin typeface="微软雅黑" panose="020B0503020204020204" pitchFamily="34" charset="-122"/>
                <a:ea typeface="微软雅黑" panose="020B0503020204020204" pitchFamily="34" charset="-122"/>
              </a:rPr>
              <a:t>泛素化</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ubiquitylation, ubiquitination )</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D633CC81-E971-4A79-B685-07B835E12182}"/>
              </a:ext>
            </a:extLst>
          </p:cNvPr>
          <p:cNvSpPr txBox="1"/>
          <p:nvPr/>
        </p:nvSpPr>
        <p:spPr>
          <a:xfrm>
            <a:off x="839415" y="4005064"/>
            <a:ext cx="6355297" cy="1966051"/>
          </a:xfrm>
          <a:prstGeom prst="rect">
            <a:avLst/>
          </a:prstGeom>
          <a:noFill/>
        </p:spPr>
        <p:txBody>
          <a:bodyPr wrap="square">
            <a:spAutoFit/>
          </a:bodyPr>
          <a:lstStyle/>
          <a:p>
            <a:pPr marL="342900" indent="-3429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当底物蛋白以特定方式</a:t>
            </a:r>
            <a:r>
              <a:rPr lang="zh-CN" altLang="en-US" sz="2400" b="1" dirty="0">
                <a:latin typeface="微软雅黑" panose="020B0503020204020204" pitchFamily="34" charset="-122"/>
                <a:ea typeface="微软雅黑" panose="020B0503020204020204" pitchFamily="34" charset="-122"/>
              </a:rPr>
              <a:t>被打上多个泛素标签</a:t>
            </a:r>
            <a:r>
              <a:rPr lang="zh-CN" altLang="en-US" sz="2400" dirty="0">
                <a:latin typeface="微软雅黑" panose="020B0503020204020204" pitchFamily="34" charset="-122"/>
                <a:ea typeface="微软雅黑" panose="020B0503020204020204" pitchFamily="34" charset="-122"/>
              </a:rPr>
              <a:t>后，这种泛素化的蛋白质很快</a:t>
            </a:r>
            <a:r>
              <a:rPr lang="zh-CN" altLang="en-US" sz="2400" b="1" dirty="0">
                <a:latin typeface="微软雅黑" panose="020B0503020204020204" pitchFamily="34" charset="-122"/>
                <a:ea typeface="微软雅黑" panose="020B0503020204020204" pitchFamily="34" charset="-122"/>
              </a:rPr>
              <a:t>被蛋白酶体降解</a:t>
            </a:r>
            <a:r>
              <a:rPr lang="zh-CN" altLang="en-US" sz="2400" dirty="0">
                <a:latin typeface="微软雅黑" panose="020B0503020204020204" pitchFamily="34" charset="-122"/>
                <a:ea typeface="微软雅黑" panose="020B0503020204020204" pitchFamily="34" charset="-122"/>
              </a:rPr>
              <a:t>。泛素的这种结合又被称为 </a:t>
            </a:r>
            <a:r>
              <a:rPr lang="zh-CN" altLang="en-US" sz="2400" dirty="0">
                <a:solidFill>
                  <a:schemeClr val="tx1">
                    <a:lumMod val="60000"/>
                    <a:lumOff val="40000"/>
                  </a:schemeClr>
                </a:solidFill>
                <a:latin typeface="微软雅黑" panose="020B0503020204020204" pitchFamily="34" charset="-122"/>
                <a:ea typeface="微软雅黑" panose="020B0503020204020204" pitchFamily="34" charset="-122"/>
              </a:rPr>
              <a:t>“死亡分子之吻”（</a:t>
            </a:r>
            <a:r>
              <a:rPr lang="en-US" altLang="zh-CN" sz="2400" dirty="0">
                <a:solidFill>
                  <a:schemeClr val="tx1">
                    <a:lumMod val="60000"/>
                    <a:lumOff val="40000"/>
                  </a:schemeClr>
                </a:solidFill>
                <a:latin typeface="微软雅黑" panose="020B0503020204020204" pitchFamily="34" charset="-122"/>
                <a:ea typeface="微软雅黑" panose="020B0503020204020204" pitchFamily="34" charset="-122"/>
              </a:rPr>
              <a:t>molecular kiss of death</a:t>
            </a:r>
            <a:r>
              <a:rPr lang="zh-CN" altLang="en-US" sz="2400" dirty="0">
                <a:solidFill>
                  <a:schemeClr val="tx1">
                    <a:lumMod val="60000"/>
                    <a:lumOff val="40000"/>
                  </a:schemeClr>
                </a:solidFill>
                <a:latin typeface="微软雅黑" panose="020B0503020204020204" pitchFamily="34" charset="-122"/>
                <a:ea typeface="微软雅黑" panose="020B0503020204020204" pitchFamily="34" charset="-122"/>
              </a:rPr>
              <a:t>）。</a:t>
            </a:r>
            <a:endParaRPr lang="en-US" altLang="zh-CN" sz="2400" dirty="0">
              <a:solidFill>
                <a:schemeClr val="tx1">
                  <a:lumMod val="60000"/>
                  <a:lumOff val="4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4846364"/>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6">
            <a:extLst>
              <a:ext uri="{FF2B5EF4-FFF2-40B4-BE49-F238E27FC236}">
                <a16:creationId xmlns:a16="http://schemas.microsoft.com/office/drawing/2014/main" id="{075CD83F-FFE8-4AE4-8B12-E02BC8E907C4}"/>
              </a:ext>
            </a:extLst>
          </p:cNvPr>
          <p:cNvSpPr>
            <a:spLocks noChangeArrowheads="1"/>
          </p:cNvSpPr>
          <p:nvPr/>
        </p:nvSpPr>
        <p:spPr bwMode="auto">
          <a:xfrm>
            <a:off x="2207569" y="2445991"/>
            <a:ext cx="8568951" cy="3143105"/>
          </a:xfrm>
          <a:prstGeom prst="rect">
            <a:avLst/>
          </a:prstGeom>
          <a:noFill/>
          <a:ln>
            <a:noFill/>
          </a:ln>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70000"/>
              </a:lnSpc>
              <a:spcBef>
                <a:spcPct val="0"/>
              </a:spcBef>
              <a:buClr>
                <a:schemeClr val="tx2">
                  <a:lumMod val="75000"/>
                </a:schemeClr>
              </a:buClr>
              <a:buFont typeface="Wingdings" panose="05000000000000000000" pitchFamily="2" charset="2"/>
              <a:buChar char="u"/>
              <a:defRPr/>
            </a:pPr>
            <a:r>
              <a:rPr kumimoji="1" lang="zh-CN" altLang="en-US" sz="2400" b="0" dirty="0">
                <a:solidFill>
                  <a:schemeClr val="tx1"/>
                </a:solidFill>
              </a:rPr>
              <a:t>组成：一条肽链（人的</a:t>
            </a:r>
            <a:r>
              <a:rPr kumimoji="1" lang="en-US" altLang="zh-CN" sz="2400" b="0" dirty="0" err="1">
                <a:solidFill>
                  <a:schemeClr val="tx1"/>
                </a:solidFill>
              </a:rPr>
              <a:t>Cyt</a:t>
            </a:r>
            <a:r>
              <a:rPr kumimoji="1" lang="en-US" altLang="zh-CN" sz="2400" b="0" dirty="0">
                <a:solidFill>
                  <a:schemeClr val="tx1"/>
                </a:solidFill>
              </a:rPr>
              <a:t> C</a:t>
            </a:r>
            <a:r>
              <a:rPr kumimoji="1" lang="zh-CN" altLang="en-US" sz="2400" b="0" dirty="0">
                <a:solidFill>
                  <a:schemeClr val="tx1"/>
                </a:solidFill>
              </a:rPr>
              <a:t>含</a:t>
            </a:r>
            <a:r>
              <a:rPr kumimoji="1" lang="en-US" altLang="zh-CN" sz="2400" b="0" dirty="0">
                <a:solidFill>
                  <a:schemeClr val="tx1"/>
                </a:solidFill>
              </a:rPr>
              <a:t>104</a:t>
            </a:r>
            <a:r>
              <a:rPr kumimoji="1" lang="zh-CN" altLang="en-US" sz="2400" b="0" dirty="0">
                <a:solidFill>
                  <a:schemeClr val="tx1"/>
                </a:solidFill>
              </a:rPr>
              <a:t>个氨基酸残基）</a:t>
            </a:r>
            <a:r>
              <a:rPr kumimoji="1" lang="en-US" altLang="zh-CN" sz="2400" b="0" dirty="0">
                <a:solidFill>
                  <a:schemeClr val="tx1"/>
                </a:solidFill>
              </a:rPr>
              <a:t>+</a:t>
            </a:r>
            <a:r>
              <a:rPr kumimoji="1" lang="zh-CN" altLang="en-US" sz="2400" b="0" dirty="0">
                <a:solidFill>
                  <a:schemeClr val="tx1"/>
                </a:solidFill>
              </a:rPr>
              <a:t>铁卟啉</a:t>
            </a:r>
          </a:p>
          <a:p>
            <a:pPr eaLnBrk="1" hangingPunct="1">
              <a:lnSpc>
                <a:spcPct val="170000"/>
              </a:lnSpc>
              <a:spcBef>
                <a:spcPct val="0"/>
              </a:spcBef>
              <a:buClr>
                <a:schemeClr val="tx2">
                  <a:lumMod val="75000"/>
                </a:schemeClr>
              </a:buClr>
              <a:buFont typeface="Wingdings" panose="05000000000000000000" pitchFamily="2" charset="2"/>
              <a:buChar char="u"/>
              <a:defRPr/>
            </a:pPr>
            <a:r>
              <a:rPr kumimoji="1" lang="zh-CN" altLang="en-US" sz="2400" b="0" dirty="0">
                <a:solidFill>
                  <a:srgbClr val="FF0000"/>
                </a:solidFill>
              </a:rPr>
              <a:t>作用：传递电子</a:t>
            </a:r>
            <a:r>
              <a:rPr kumimoji="1" lang="zh-CN" altLang="en-US" sz="2400" b="0" dirty="0">
                <a:solidFill>
                  <a:schemeClr val="tx1"/>
                </a:solidFill>
              </a:rPr>
              <a:t>，</a:t>
            </a:r>
            <a:r>
              <a:rPr kumimoji="1" lang="zh-CN" altLang="en-US" sz="2400" b="0" dirty="0">
                <a:solidFill>
                  <a:srgbClr val="FF0000"/>
                </a:solidFill>
              </a:rPr>
              <a:t>即</a:t>
            </a:r>
            <a:r>
              <a:rPr kumimoji="1" lang="en-US" altLang="zh-CN" sz="2400" b="0" dirty="0">
                <a:solidFill>
                  <a:srgbClr val="FF0000"/>
                </a:solidFill>
              </a:rPr>
              <a:t>Fe</a:t>
            </a:r>
            <a:r>
              <a:rPr kumimoji="1" lang="en-US" altLang="zh-CN" sz="2400" b="0" baseline="30000" dirty="0">
                <a:solidFill>
                  <a:srgbClr val="FF0000"/>
                </a:solidFill>
              </a:rPr>
              <a:t>3+</a:t>
            </a:r>
            <a:r>
              <a:rPr kumimoji="1" lang="en-US" altLang="zh-CN" sz="2400" b="0" dirty="0">
                <a:solidFill>
                  <a:srgbClr val="FF0000"/>
                </a:solidFill>
              </a:rPr>
              <a:t> + e-------- Fe</a:t>
            </a:r>
            <a:r>
              <a:rPr kumimoji="1" lang="en-US" altLang="zh-CN" sz="2400" b="0" baseline="30000" dirty="0">
                <a:solidFill>
                  <a:srgbClr val="FF0000"/>
                </a:solidFill>
              </a:rPr>
              <a:t>2+</a:t>
            </a:r>
            <a:endParaRPr kumimoji="1" lang="en-US" altLang="zh-CN" sz="2400" b="0" dirty="0">
              <a:solidFill>
                <a:srgbClr val="FF0000"/>
              </a:solidFill>
            </a:endParaRPr>
          </a:p>
          <a:p>
            <a:pPr eaLnBrk="1" hangingPunct="1">
              <a:lnSpc>
                <a:spcPct val="170000"/>
              </a:lnSpc>
              <a:spcBef>
                <a:spcPct val="0"/>
              </a:spcBef>
              <a:buClr>
                <a:schemeClr val="tx2">
                  <a:lumMod val="75000"/>
                </a:schemeClr>
              </a:buClr>
              <a:buFont typeface="Wingdings" panose="05000000000000000000" pitchFamily="2" charset="2"/>
              <a:buChar char="u"/>
              <a:defRPr/>
            </a:pPr>
            <a:r>
              <a:rPr kumimoji="1" lang="zh-CN" altLang="en-US" sz="2400" b="0" dirty="0">
                <a:solidFill>
                  <a:schemeClr val="tx1"/>
                </a:solidFill>
              </a:rPr>
              <a:t>物种越接近，细胞色素</a:t>
            </a:r>
            <a:r>
              <a:rPr kumimoji="1" lang="en-US" altLang="zh-CN" sz="2400" b="0" dirty="0">
                <a:solidFill>
                  <a:schemeClr val="tx1"/>
                </a:solidFill>
              </a:rPr>
              <a:t>C</a:t>
            </a:r>
            <a:r>
              <a:rPr kumimoji="1" lang="zh-CN" altLang="en-US" sz="2400" b="0" dirty="0">
                <a:solidFill>
                  <a:schemeClr val="tx1"/>
                </a:solidFill>
              </a:rPr>
              <a:t>在一级结构上越相似。  </a:t>
            </a:r>
          </a:p>
          <a:p>
            <a:pPr marL="358775" indent="-358775" eaLnBrk="1" hangingPunct="1">
              <a:lnSpc>
                <a:spcPct val="170000"/>
              </a:lnSpc>
              <a:spcBef>
                <a:spcPct val="0"/>
              </a:spcBef>
              <a:buClr>
                <a:schemeClr val="tx2">
                  <a:lumMod val="75000"/>
                </a:schemeClr>
              </a:buClr>
              <a:buFont typeface="Wingdings" panose="05000000000000000000" pitchFamily="2" charset="2"/>
              <a:buChar char="u"/>
              <a:defRPr/>
            </a:pPr>
            <a:r>
              <a:rPr kumimoji="1" lang="zh-CN" altLang="en-US" sz="2400" b="0" dirty="0">
                <a:solidFill>
                  <a:schemeClr val="tx1"/>
                </a:solidFill>
              </a:rPr>
              <a:t>有</a:t>
            </a:r>
            <a:r>
              <a:rPr kumimoji="1" lang="zh-CN" altLang="en-US" sz="2400" b="0" dirty="0">
                <a:solidFill>
                  <a:schemeClr val="tx1">
                    <a:lumMod val="60000"/>
                    <a:lumOff val="40000"/>
                  </a:schemeClr>
                </a:solidFill>
              </a:rPr>
              <a:t>约</a:t>
            </a:r>
            <a:r>
              <a:rPr kumimoji="1" lang="en-US" altLang="zh-CN" sz="2400" b="0" dirty="0">
                <a:solidFill>
                  <a:schemeClr val="tx1">
                    <a:lumMod val="60000"/>
                    <a:lumOff val="40000"/>
                  </a:schemeClr>
                </a:solidFill>
              </a:rPr>
              <a:t>30</a:t>
            </a:r>
            <a:r>
              <a:rPr kumimoji="1" lang="zh-CN" altLang="en-US" sz="2400" b="0" dirty="0">
                <a:solidFill>
                  <a:schemeClr val="tx1">
                    <a:lumMod val="60000"/>
                    <a:lumOff val="40000"/>
                  </a:schemeClr>
                </a:solidFill>
              </a:rPr>
              <a:t>个不变氨基酸残基</a:t>
            </a:r>
            <a:r>
              <a:rPr kumimoji="1" lang="zh-CN" altLang="en-US" sz="2400" b="0" dirty="0">
                <a:solidFill>
                  <a:schemeClr val="tx1"/>
                </a:solidFill>
              </a:rPr>
              <a:t>，对维持细胞色素</a:t>
            </a:r>
            <a:r>
              <a:rPr kumimoji="1" lang="en-US" altLang="zh-CN" sz="2400" b="0" dirty="0">
                <a:solidFill>
                  <a:schemeClr val="tx1"/>
                </a:solidFill>
              </a:rPr>
              <a:t>C</a:t>
            </a:r>
            <a:r>
              <a:rPr kumimoji="1" lang="zh-CN" altLang="en-US" sz="2400" b="0" dirty="0">
                <a:solidFill>
                  <a:schemeClr val="tx1"/>
                </a:solidFill>
              </a:rPr>
              <a:t>的分子构象和传递电子的功能是必需的。  </a:t>
            </a:r>
          </a:p>
        </p:txBody>
      </p:sp>
      <p:sp>
        <p:nvSpPr>
          <p:cNvPr id="40964" name="标题 1">
            <a:extLst>
              <a:ext uri="{FF2B5EF4-FFF2-40B4-BE49-F238E27FC236}">
                <a16:creationId xmlns:a16="http://schemas.microsoft.com/office/drawing/2014/main" id="{7A7BF8DB-2ACD-43EA-87E1-647288B20B71}"/>
              </a:ext>
            </a:extLst>
          </p:cNvPr>
          <p:cNvSpPr>
            <a:spLocks noGrp="1" noChangeArrowheads="1"/>
          </p:cNvSpPr>
          <p:nvPr>
            <p:ph type="title"/>
          </p:nvPr>
        </p:nvSpPr>
        <p:spPr>
          <a:xfrm>
            <a:off x="1524000" y="399704"/>
            <a:ext cx="9144000" cy="817191"/>
          </a:xfrm>
        </p:spPr>
        <p:txBody>
          <a:bodyPr/>
          <a:lstStyle/>
          <a:p>
            <a:r>
              <a:rPr lang="zh-CN" altLang="en-US" sz="3200" dirty="0"/>
              <a:t>（三）某些蛋白质氨基酸序列可反映生物进化信息</a:t>
            </a:r>
          </a:p>
        </p:txBody>
      </p:sp>
      <p:sp>
        <p:nvSpPr>
          <p:cNvPr id="3" name="内容占位符 2">
            <a:extLst>
              <a:ext uri="{FF2B5EF4-FFF2-40B4-BE49-F238E27FC236}">
                <a16:creationId xmlns:a16="http://schemas.microsoft.com/office/drawing/2014/main" id="{3BD8B3BB-FFE0-4D60-B3AF-0771018CCA4D}"/>
              </a:ext>
            </a:extLst>
          </p:cNvPr>
          <p:cNvSpPr>
            <a:spLocks noGrp="1"/>
          </p:cNvSpPr>
          <p:nvPr>
            <p:ph idx="1"/>
          </p:nvPr>
        </p:nvSpPr>
        <p:spPr>
          <a:xfrm>
            <a:off x="1981200" y="1628801"/>
            <a:ext cx="8229600" cy="817190"/>
          </a:xfrm>
        </p:spPr>
        <p:txBody>
          <a:bodyPr/>
          <a:lstStyle/>
          <a:p>
            <a:r>
              <a:rPr lang="zh-CN" altLang="en-US" b="1" dirty="0">
                <a:solidFill>
                  <a:schemeClr val="tx1">
                    <a:lumMod val="60000"/>
                    <a:lumOff val="40000"/>
                  </a:schemeClr>
                </a:solidFill>
              </a:rPr>
              <a:t>细胞色素</a:t>
            </a:r>
            <a:r>
              <a:rPr lang="en-US" altLang="zh-CN" b="1" dirty="0">
                <a:solidFill>
                  <a:schemeClr val="tx1">
                    <a:lumMod val="60000"/>
                    <a:lumOff val="40000"/>
                  </a:schemeClr>
                </a:solidFill>
              </a:rPr>
              <a:t>C </a:t>
            </a:r>
            <a:r>
              <a:rPr lang="zh-CN" altLang="en-US" dirty="0"/>
              <a:t>：     呼吸链的组成成分</a:t>
            </a:r>
          </a:p>
        </p:txBody>
      </p:sp>
    </p:spTree>
  </p:cSld>
  <p:clrMapOvr>
    <a:masterClrMapping/>
  </p:clrMapOvr>
  <p:transition spd="slow">
    <p:circl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图片 1">
            <a:extLst>
              <a:ext uri="{FF2B5EF4-FFF2-40B4-BE49-F238E27FC236}">
                <a16:creationId xmlns:a16="http://schemas.microsoft.com/office/drawing/2014/main" id="{74AAC007-BC2F-46AD-8DC4-70A0B75DF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440" y="0"/>
            <a:ext cx="5761038" cy="477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1" name="图片 3">
            <a:extLst>
              <a:ext uri="{FF2B5EF4-FFF2-40B4-BE49-F238E27FC236}">
                <a16:creationId xmlns:a16="http://schemas.microsoft.com/office/drawing/2014/main" id="{2E933032-1A8A-4535-B276-1B8961B71E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5440" y="4783138"/>
            <a:ext cx="5903912"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2" name="图片 3">
            <a:extLst>
              <a:ext uri="{FF2B5EF4-FFF2-40B4-BE49-F238E27FC236}">
                <a16:creationId xmlns:a16="http://schemas.microsoft.com/office/drawing/2014/main" id="{8C227C63-FF71-4D3A-A009-71EF7978B681}"/>
              </a:ext>
            </a:extLst>
          </p:cNvPr>
          <p:cNvPicPr>
            <a:picLocks noChangeAspect="1"/>
          </p:cNvPicPr>
          <p:nvPr/>
        </p:nvPicPr>
        <p:blipFill>
          <a:blip r:embed="rId5">
            <a:extLst>
              <a:ext uri="{28A0092B-C50C-407E-A947-70E740481C1C}">
                <a14:useLocalDpi xmlns:a14="http://schemas.microsoft.com/office/drawing/2010/main" val="0"/>
              </a:ext>
            </a:extLst>
          </a:blip>
          <a:srcRect l="51692" t="13843" r="4311"/>
          <a:stretch>
            <a:fillRect/>
          </a:stretch>
        </p:blipFill>
        <p:spPr bwMode="auto">
          <a:xfrm>
            <a:off x="7587945" y="998082"/>
            <a:ext cx="3600400" cy="5494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0877BE42-AFE4-4D33-A53D-E8A64B5F2370}"/>
              </a:ext>
            </a:extLst>
          </p:cNvPr>
          <p:cNvSpPr txBox="1"/>
          <p:nvPr/>
        </p:nvSpPr>
        <p:spPr>
          <a:xfrm>
            <a:off x="7680176" y="365284"/>
            <a:ext cx="3541069" cy="461665"/>
          </a:xfrm>
          <a:prstGeom prst="rect">
            <a:avLst/>
          </a:prstGeom>
          <a:noFill/>
        </p:spPr>
        <p:txBody>
          <a:bodyPr wrap="square">
            <a:spAutoFit/>
          </a:bodyPr>
          <a:lstStyle/>
          <a:p>
            <a:pPr>
              <a:defRPr/>
            </a:pPr>
            <a:r>
              <a:rPr lang="zh-CN" altLang="en-US" sz="2400" dirty="0">
                <a:latin typeface="+mn-ea"/>
                <a:ea typeface="+mn-ea"/>
              </a:rPr>
              <a:t>细胞色素</a:t>
            </a:r>
            <a:r>
              <a:rPr lang="en-US" altLang="zh-CN" sz="2400" dirty="0">
                <a:latin typeface="+mn-ea"/>
                <a:ea typeface="+mn-ea"/>
              </a:rPr>
              <a:t>C</a:t>
            </a:r>
            <a:r>
              <a:rPr lang="zh-CN" altLang="en-US" sz="2400" dirty="0">
                <a:latin typeface="+mn-ea"/>
                <a:ea typeface="+mn-ea"/>
              </a:rPr>
              <a:t>一级结构差异</a:t>
            </a:r>
          </a:p>
        </p:txBody>
      </p:sp>
    </p:spTree>
  </p:cSld>
  <p:clrMapOvr>
    <a:masterClrMapping/>
  </p:clrMapOvr>
  <p:transition spd="slow">
    <p:circl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a:extLst>
              <a:ext uri="{FF2B5EF4-FFF2-40B4-BE49-F238E27FC236}">
                <a16:creationId xmlns:a16="http://schemas.microsoft.com/office/drawing/2014/main" id="{7365801D-07B5-4678-8DAD-D6A83B45CCA0}"/>
              </a:ext>
            </a:extLst>
          </p:cNvPr>
          <p:cNvSpPr>
            <a:spLocks noChangeArrowheads="1"/>
          </p:cNvSpPr>
          <p:nvPr/>
        </p:nvSpPr>
        <p:spPr bwMode="auto">
          <a:xfrm>
            <a:off x="1412998" y="2060848"/>
            <a:ext cx="3818905"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633413">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40000"/>
              </a:lnSpc>
              <a:spcBef>
                <a:spcPct val="30000"/>
              </a:spcBef>
              <a:buClrTx/>
              <a:buFontTx/>
              <a:buNone/>
            </a:pPr>
            <a:r>
              <a:rPr kumimoji="1" lang="zh-CN" altLang="en-US" dirty="0">
                <a:solidFill>
                  <a:schemeClr val="tx1"/>
                </a:solidFill>
              </a:rPr>
              <a:t>比较</a:t>
            </a:r>
            <a:r>
              <a:rPr kumimoji="1" lang="zh-CN" altLang="en-US" dirty="0">
                <a:solidFill>
                  <a:schemeClr val="tx1">
                    <a:lumMod val="60000"/>
                    <a:lumOff val="40000"/>
                  </a:schemeClr>
                </a:solidFill>
              </a:rPr>
              <a:t>同源蛋白质</a:t>
            </a:r>
            <a:r>
              <a:rPr kumimoji="1" lang="zh-CN" altLang="en-US" dirty="0">
                <a:solidFill>
                  <a:schemeClr val="tx1"/>
                </a:solidFill>
              </a:rPr>
              <a:t>的一级结构可以阐明生命进化</a:t>
            </a:r>
            <a:r>
              <a:rPr kumimoji="1" lang="en-US" altLang="zh-CN" dirty="0">
                <a:solidFill>
                  <a:schemeClr val="tx1"/>
                </a:solidFill>
              </a:rPr>
              <a:t>/</a:t>
            </a:r>
            <a:r>
              <a:rPr kumimoji="1" lang="zh-CN" altLang="en-US" dirty="0">
                <a:solidFill>
                  <a:schemeClr val="tx1"/>
                </a:solidFill>
              </a:rPr>
              <a:t>演化史，</a:t>
            </a:r>
            <a:r>
              <a:rPr kumimoji="1" lang="zh-CN" altLang="en-US" dirty="0">
                <a:solidFill>
                  <a:srgbClr val="FF0000"/>
                </a:solidFill>
              </a:rPr>
              <a:t>氨基酸序列的相似性越大，物种之间的进化关系越近。</a:t>
            </a:r>
            <a:endParaRPr kumimoji="1" lang="zh-CN" altLang="en-US" sz="3600" dirty="0">
              <a:solidFill>
                <a:srgbClr val="FF0000"/>
              </a:solidFill>
            </a:endParaRPr>
          </a:p>
        </p:txBody>
      </p:sp>
      <p:pic>
        <p:nvPicPr>
          <p:cNvPr id="701467" name="Picture 27" descr="01040115">
            <a:extLst>
              <a:ext uri="{FF2B5EF4-FFF2-40B4-BE49-F238E27FC236}">
                <a16:creationId xmlns:a16="http://schemas.microsoft.com/office/drawing/2014/main" id="{8940518E-332E-4481-9353-4D1C8FFEC0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221"/>
          <a:stretch>
            <a:fillRect/>
          </a:stretch>
        </p:blipFill>
        <p:spPr bwMode="auto">
          <a:xfrm>
            <a:off x="5879976" y="1196752"/>
            <a:ext cx="4899025"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标题 2">
            <a:extLst>
              <a:ext uri="{FF2B5EF4-FFF2-40B4-BE49-F238E27FC236}">
                <a16:creationId xmlns:a16="http://schemas.microsoft.com/office/drawing/2014/main" id="{523CEAC2-5E26-41A1-A386-F27DB25F925A}"/>
              </a:ext>
            </a:extLst>
          </p:cNvPr>
          <p:cNvSpPr>
            <a:spLocks noGrp="1" noChangeArrowheads="1"/>
          </p:cNvSpPr>
          <p:nvPr>
            <p:ph type="title"/>
          </p:nvPr>
        </p:nvSpPr>
        <p:spPr>
          <a:xfrm>
            <a:off x="1966913" y="188913"/>
            <a:ext cx="6792912" cy="563562"/>
          </a:xfrm>
        </p:spPr>
        <p:txBody>
          <a:bodyPr/>
          <a:lstStyle/>
          <a:p>
            <a:r>
              <a:rPr lang="zh-CN" altLang="en-US" sz="3200"/>
              <a:t>氨基酸序列提供重要的生物进化信息</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withEffect">
                                  <p:stCondLst>
                                    <p:cond delay="0"/>
                                  </p:stCondLst>
                                  <p:childTnLst>
                                    <p:set>
                                      <p:cBhvr>
                                        <p:cTn id="6" dur="1" fill="hold">
                                          <p:stCondLst>
                                            <p:cond delay="0"/>
                                          </p:stCondLst>
                                        </p:cTn>
                                        <p:tgtEl>
                                          <p:spTgt spid="701467"/>
                                        </p:tgtEl>
                                        <p:attrNameLst>
                                          <p:attrName>style.visibility</p:attrName>
                                        </p:attrNameLst>
                                      </p:cBhvr>
                                      <p:to>
                                        <p:strVal val="visible"/>
                                      </p:to>
                                    </p:set>
                                    <p:animEffect transition="in" filter="box(in)">
                                      <p:cBhvr>
                                        <p:cTn id="7" dur="500"/>
                                        <p:tgtEl>
                                          <p:spTgt spid="7014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01442"/>
                                        </p:tgtEl>
                                        <p:attrNameLst>
                                          <p:attrName>style.visibility</p:attrName>
                                        </p:attrNameLst>
                                      </p:cBhvr>
                                      <p:to>
                                        <p:strVal val="visible"/>
                                      </p:to>
                                    </p:set>
                                    <p:animEffect transition="in" filter="box(in)">
                                      <p:cBhvr>
                                        <p:cTn id="12" dur="500"/>
                                        <p:tgtEl>
                                          <p:spTgt spid="701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144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a:extLst>
              <a:ext uri="{FF2B5EF4-FFF2-40B4-BE49-F238E27FC236}">
                <a16:creationId xmlns:a16="http://schemas.microsoft.com/office/drawing/2014/main" id="{512ADDBC-FE5C-4CFD-8320-F9C8B03B696A}"/>
              </a:ext>
            </a:extLst>
          </p:cNvPr>
          <p:cNvSpPr>
            <a:spLocks noGrp="1" noChangeArrowheads="1"/>
          </p:cNvSpPr>
          <p:nvPr>
            <p:ph type="title"/>
          </p:nvPr>
        </p:nvSpPr>
        <p:spPr>
          <a:xfrm>
            <a:off x="1895376" y="261144"/>
            <a:ext cx="8401248" cy="563563"/>
          </a:xfrm>
        </p:spPr>
        <p:txBody>
          <a:bodyPr/>
          <a:lstStyle/>
          <a:p>
            <a:pPr algn="ctr" eaLnBrk="1" hangingPunct="1">
              <a:defRPr/>
            </a:pPr>
            <a:r>
              <a:rPr lang="zh-CN" altLang="en-US" sz="3200" dirty="0">
                <a:solidFill>
                  <a:srgbClr val="FFFFFF"/>
                </a:solidFill>
                <a:latin typeface="+mj-ea"/>
              </a:rPr>
              <a:t>（四）重要蛋白质氨基酸序列的改变引起疾病</a:t>
            </a:r>
          </a:p>
        </p:txBody>
      </p:sp>
      <p:sp>
        <p:nvSpPr>
          <p:cNvPr id="273416" name="Rectangle 19" descr="Rectangle: Click to edit Master text styles&#10;Second level&#10;Third level&#10;Fourth level&#10;Fifth level">
            <a:extLst>
              <a:ext uri="{FF2B5EF4-FFF2-40B4-BE49-F238E27FC236}">
                <a16:creationId xmlns:a16="http://schemas.microsoft.com/office/drawing/2014/main" id="{5B342D3C-3D9F-4CE8-BE4D-89B80BA9EECB}"/>
              </a:ext>
            </a:extLst>
          </p:cNvPr>
          <p:cNvSpPr>
            <a:spLocks noChangeArrowheads="1"/>
          </p:cNvSpPr>
          <p:nvPr/>
        </p:nvSpPr>
        <p:spPr bwMode="auto">
          <a:xfrm>
            <a:off x="5231904" y="1246640"/>
            <a:ext cx="6480720" cy="5289550"/>
          </a:xfrm>
          <a:prstGeom prst="rect">
            <a:avLst/>
          </a:prstGeom>
          <a:noFill/>
          <a:ln>
            <a:noFill/>
          </a:ln>
        </p:spPr>
        <p:txBody>
          <a:bodyPr/>
          <a:lstStyle>
            <a:lvl1pPr marL="342900" indent="-3429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defRPr/>
            </a:pPr>
            <a:r>
              <a:rPr lang="zh-CN" altLang="en-US" b="0" dirty="0">
                <a:solidFill>
                  <a:srgbClr val="FF0000"/>
                </a:solidFill>
                <a:latin typeface="微软雅黑" panose="020B0503020204020204" pitchFamily="34" charset="-122"/>
                <a:ea typeface="微软雅黑" panose="020B0503020204020204" pitchFamily="34" charset="-122"/>
              </a:rPr>
              <a:t>镰刀形贫血</a:t>
            </a:r>
            <a:r>
              <a:rPr kumimoji="1" lang="zh-CN" altLang="en-US" sz="2400" b="0" dirty="0">
                <a:solidFill>
                  <a:srgbClr val="FF0000"/>
                </a:solidFill>
                <a:latin typeface="微软雅黑" panose="020B0503020204020204" pitchFamily="34" charset="-122"/>
                <a:ea typeface="微软雅黑" panose="020B0503020204020204" pitchFamily="34" charset="-122"/>
              </a:rPr>
              <a:t>（</a:t>
            </a:r>
            <a:r>
              <a:rPr kumimoji="1" lang="en-US" altLang="zh-CN" sz="2400" b="0" dirty="0">
                <a:solidFill>
                  <a:srgbClr val="FF0000"/>
                </a:solidFill>
                <a:latin typeface="微软雅黑" panose="020B0503020204020204" pitchFamily="34" charset="-122"/>
                <a:ea typeface="微软雅黑" panose="020B0503020204020204" pitchFamily="34" charset="-122"/>
              </a:rPr>
              <a:t>s</a:t>
            </a:r>
            <a:r>
              <a:rPr lang="en-US" altLang="zh-CN" sz="2400" b="0" dirty="0">
                <a:solidFill>
                  <a:srgbClr val="FF0000"/>
                </a:solidFill>
                <a:latin typeface="微软雅黑" panose="020B0503020204020204" pitchFamily="34" charset="-122"/>
                <a:ea typeface="微软雅黑" panose="020B0503020204020204" pitchFamily="34" charset="-122"/>
              </a:rPr>
              <a:t>ickle-cell anemia</a:t>
            </a:r>
            <a:r>
              <a:rPr lang="zh-CN" altLang="en-US" sz="2400" b="0" dirty="0">
                <a:solidFill>
                  <a:srgbClr val="FF0000"/>
                </a:solidFill>
                <a:latin typeface="微软雅黑" panose="020B0503020204020204" pitchFamily="34" charset="-122"/>
                <a:ea typeface="微软雅黑" panose="020B0503020204020204" pitchFamily="34" charset="-122"/>
              </a:rPr>
              <a:t>，</a:t>
            </a:r>
            <a:r>
              <a:rPr lang="en-US" altLang="zh-CN" sz="2400" b="0" dirty="0">
                <a:solidFill>
                  <a:srgbClr val="FF0000"/>
                </a:solidFill>
                <a:latin typeface="微软雅黑" panose="020B0503020204020204" pitchFamily="34" charset="-122"/>
                <a:ea typeface="微软雅黑" panose="020B0503020204020204" pitchFamily="34" charset="-122"/>
              </a:rPr>
              <a:t>SCA</a:t>
            </a:r>
            <a:r>
              <a:rPr lang="zh-CN" altLang="en-US" sz="2400" b="0" dirty="0">
                <a:solidFill>
                  <a:srgbClr val="FF0000"/>
                </a:solidFill>
                <a:latin typeface="微软雅黑" panose="020B0503020204020204" pitchFamily="34" charset="-122"/>
                <a:ea typeface="微软雅黑" panose="020B0503020204020204" pitchFamily="34" charset="-122"/>
              </a:rPr>
              <a:t>）</a:t>
            </a:r>
            <a:endParaRPr lang="en-US" altLang="zh-CN" sz="2400" b="0" dirty="0">
              <a:solidFill>
                <a:srgbClr val="FF0000"/>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2000" b="0" dirty="0">
                <a:solidFill>
                  <a:schemeClr val="tx1">
                    <a:lumMod val="60000"/>
                    <a:lumOff val="40000"/>
                  </a:schemeClr>
                </a:solidFill>
                <a:latin typeface="微软雅黑" panose="020B0503020204020204" pitchFamily="34" charset="-122"/>
                <a:ea typeface="微软雅黑" panose="020B0503020204020204" pitchFamily="34" charset="-122"/>
              </a:rPr>
              <a:t>常染色体隐性遗传病</a:t>
            </a:r>
            <a:r>
              <a:rPr lang="zh-CN" altLang="en-US" sz="2000" b="0" dirty="0">
                <a:solidFill>
                  <a:schemeClr val="tx1"/>
                </a:solidFill>
                <a:latin typeface="微软雅黑" panose="020B0503020204020204" pitchFamily="34" charset="-122"/>
                <a:ea typeface="微软雅黑" panose="020B0503020204020204" pitchFamily="34" charset="-122"/>
              </a:rPr>
              <a:t>，黑人中多见。 纯合子患病， 杂合子可正常生活，但不能剧烈运动。</a:t>
            </a:r>
            <a:endParaRPr lang="en-US" altLang="zh-CN" sz="2000" b="0" dirty="0">
              <a:solidFill>
                <a:schemeClr val="tx1"/>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2000" b="0" dirty="0">
                <a:solidFill>
                  <a:srgbClr val="002060"/>
                </a:solidFill>
                <a:latin typeface="微软雅黑" panose="020B0503020204020204" pitchFamily="34" charset="-122"/>
                <a:ea typeface="微软雅黑" panose="020B0503020204020204" pitchFamily="34" charset="-122"/>
              </a:rPr>
              <a:t>症状</a:t>
            </a:r>
            <a:r>
              <a:rPr lang="zh-CN" altLang="en-US" sz="2000" b="0" dirty="0">
                <a:solidFill>
                  <a:schemeClr val="tx1"/>
                </a:solidFill>
                <a:latin typeface="微软雅黑" panose="020B0503020204020204" pitchFamily="34" charset="-122"/>
                <a:ea typeface="微软雅黑" panose="020B0503020204020204" pitchFamily="34" charset="-122"/>
              </a:rPr>
              <a:t>：</a:t>
            </a:r>
            <a:r>
              <a:rPr lang="zh-CN" altLang="en-US" sz="2000" b="0" dirty="0">
                <a:solidFill>
                  <a:srgbClr val="C00000"/>
                </a:solidFill>
                <a:latin typeface="微软雅黑" panose="020B0503020204020204" pitchFamily="34" charset="-122"/>
                <a:ea typeface="微软雅黑" panose="020B0503020204020204" pitchFamily="34" charset="-122"/>
              </a:rPr>
              <a:t>贫血</a:t>
            </a:r>
            <a:r>
              <a:rPr lang="zh-CN" altLang="en-US" sz="2000" b="0" dirty="0">
                <a:solidFill>
                  <a:schemeClr val="tx1"/>
                </a:solidFill>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衰弱、头晕、气短、心脏有杂音和脉搏增高等</a:t>
            </a:r>
            <a:endParaRPr lang="en-US" altLang="zh-CN" sz="2000" b="0" dirty="0">
              <a:latin typeface="微软雅黑" panose="020B0503020204020204" pitchFamily="34" charset="-122"/>
              <a:ea typeface="微软雅黑" panose="020B0503020204020204" pitchFamily="34" charset="-122"/>
            </a:endParaRPr>
          </a:p>
          <a:p>
            <a:pPr eaLnBrk="1" hangingPunct="1">
              <a:lnSpc>
                <a:spcPct val="120000"/>
              </a:lnSpc>
              <a:defRPr/>
            </a:pPr>
            <a:endParaRPr lang="en-US" altLang="zh-CN" sz="2400" b="0" dirty="0">
              <a:solidFill>
                <a:schemeClr val="tx1"/>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2400" b="0" dirty="0">
                <a:solidFill>
                  <a:srgbClr val="002060"/>
                </a:solidFill>
                <a:latin typeface="微软雅黑" panose="020B0503020204020204" pitchFamily="34" charset="-122"/>
                <a:ea typeface="微软雅黑" panose="020B0503020204020204" pitchFamily="34" charset="-122"/>
              </a:rPr>
              <a:t>病理机制：</a:t>
            </a:r>
            <a:endParaRPr lang="en-US" altLang="zh-CN" sz="2400" b="0" dirty="0">
              <a:solidFill>
                <a:srgbClr val="002060"/>
              </a:solidFill>
              <a:latin typeface="微软雅黑" panose="020B0503020204020204" pitchFamily="34" charset="-122"/>
              <a:ea typeface="微软雅黑" panose="020B0503020204020204" pitchFamily="34" charset="-122"/>
            </a:endParaRPr>
          </a:p>
          <a:p>
            <a:pPr marL="0" indent="0" eaLnBrk="1" hangingPunct="1">
              <a:lnSpc>
                <a:spcPct val="120000"/>
              </a:lnSpc>
              <a:buNone/>
              <a:defRPr/>
            </a:pPr>
            <a:r>
              <a:rPr lang="en-US" altLang="zh-CN" sz="2000" b="0" dirty="0">
                <a:solidFill>
                  <a:schemeClr val="tx1"/>
                </a:solidFill>
                <a:latin typeface="微软雅黑" panose="020B0503020204020204" pitchFamily="34" charset="-122"/>
                <a:ea typeface="微软雅黑" panose="020B0503020204020204" pitchFamily="34" charset="-122"/>
              </a:rPr>
              <a:t>1. </a:t>
            </a:r>
            <a:r>
              <a:rPr lang="zh-CN" altLang="en-US" sz="2000" b="0" dirty="0">
                <a:solidFill>
                  <a:schemeClr val="tx1"/>
                </a:solidFill>
                <a:latin typeface="微软雅黑" panose="020B0503020204020204" pitchFamily="34" charset="-122"/>
                <a:ea typeface="微软雅黑" panose="020B0503020204020204" pitchFamily="34" charset="-122"/>
              </a:rPr>
              <a:t>镰刀形红细胞寿命不足</a:t>
            </a:r>
            <a:r>
              <a:rPr lang="en-US" altLang="zh-CN" sz="2000" b="0" dirty="0">
                <a:solidFill>
                  <a:schemeClr val="tx1"/>
                </a:solidFill>
                <a:latin typeface="微软雅黑" panose="020B0503020204020204" pitchFamily="34" charset="-122"/>
                <a:ea typeface="微软雅黑" panose="020B0503020204020204" pitchFamily="34" charset="-122"/>
              </a:rPr>
              <a:t>30</a:t>
            </a:r>
            <a:r>
              <a:rPr lang="zh-CN" altLang="en-US" sz="2000" b="0" dirty="0">
                <a:solidFill>
                  <a:schemeClr val="tx1"/>
                </a:solidFill>
                <a:latin typeface="微软雅黑" panose="020B0503020204020204" pitchFamily="34" charset="-122"/>
                <a:ea typeface="微软雅黑" panose="020B0503020204020204" pitchFamily="34" charset="-122"/>
              </a:rPr>
              <a:t>天，患者体内的</a:t>
            </a:r>
            <a:r>
              <a:rPr lang="zh-CN" altLang="en-US" sz="2000" b="0" dirty="0">
                <a:solidFill>
                  <a:srgbClr val="C00000"/>
                </a:solidFill>
                <a:latin typeface="微软雅黑" panose="020B0503020204020204" pitchFamily="34" charset="-122"/>
                <a:ea typeface="微软雅黑" panose="020B0503020204020204" pitchFamily="34" charset="-122"/>
              </a:rPr>
              <a:t>红细胞数目远低于正常人</a:t>
            </a:r>
            <a:r>
              <a:rPr lang="zh-CN" altLang="en-US" sz="2000" b="0" dirty="0">
                <a:solidFill>
                  <a:schemeClr val="tx1"/>
                </a:solidFill>
                <a:latin typeface="微软雅黑" panose="020B0503020204020204" pitchFamily="34" charset="-122"/>
                <a:ea typeface="微软雅黑" panose="020B0503020204020204" pitchFamily="34" charset="-122"/>
              </a:rPr>
              <a:t>；易缺氧窒息。</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0" indent="0" eaLnBrk="1" hangingPunct="1">
              <a:lnSpc>
                <a:spcPct val="120000"/>
              </a:lnSpc>
              <a:buNone/>
              <a:defRPr/>
            </a:pPr>
            <a:r>
              <a:rPr lang="en-US" altLang="zh-CN" sz="2000" b="0" dirty="0">
                <a:solidFill>
                  <a:schemeClr val="tx1"/>
                </a:solidFill>
                <a:latin typeface="微软雅黑" panose="020B0503020204020204" pitchFamily="34" charset="-122"/>
                <a:ea typeface="微软雅黑" panose="020B0503020204020204" pitchFamily="34" charset="-122"/>
              </a:rPr>
              <a:t>2. </a:t>
            </a:r>
            <a:r>
              <a:rPr lang="zh-CN" altLang="en-US" sz="2000" b="0" dirty="0">
                <a:solidFill>
                  <a:srgbClr val="C00000"/>
                </a:solidFill>
                <a:latin typeface="微软雅黑" panose="020B0503020204020204" pitchFamily="34" charset="-122"/>
                <a:ea typeface="微软雅黑" panose="020B0503020204020204" pitchFamily="34" charset="-122"/>
              </a:rPr>
              <a:t>镰形红细胞易碎裂，易堵塞毛细血管</a:t>
            </a:r>
            <a:r>
              <a:rPr lang="zh-CN" altLang="en-US" sz="2000" b="0" dirty="0">
                <a:solidFill>
                  <a:schemeClr val="tx1"/>
                </a:solidFill>
                <a:latin typeface="微软雅黑" panose="020B0503020204020204" pitchFamily="34" charset="-122"/>
                <a:ea typeface="微软雅黑" panose="020B0503020204020204" pitchFamily="34" charset="-122"/>
              </a:rPr>
              <a:t>，造成局部组织缺血坏死，引起疼痛，也是致死的主要原因</a:t>
            </a:r>
            <a:r>
              <a:rPr lang="zh-CN" altLang="en-US" sz="2400" b="0" dirty="0">
                <a:solidFill>
                  <a:schemeClr val="tx1"/>
                </a:solidFill>
                <a:latin typeface="微软雅黑" panose="020B0503020204020204" pitchFamily="34" charset="-122"/>
                <a:ea typeface="微软雅黑" panose="020B0503020204020204" pitchFamily="34" charset="-122"/>
              </a:rPr>
              <a:t>。</a:t>
            </a:r>
          </a:p>
        </p:txBody>
      </p:sp>
      <p:pic>
        <p:nvPicPr>
          <p:cNvPr id="47108" name="图片 9">
            <a:extLst>
              <a:ext uri="{FF2B5EF4-FFF2-40B4-BE49-F238E27FC236}">
                <a16:creationId xmlns:a16="http://schemas.microsoft.com/office/drawing/2014/main" id="{39359AD8-8EC2-4676-9E71-0C8913EF54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432" y="1124744"/>
            <a:ext cx="3358973" cy="5374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5">
            <a:extLst>
              <a:ext uri="{FF2B5EF4-FFF2-40B4-BE49-F238E27FC236}">
                <a16:creationId xmlns:a16="http://schemas.microsoft.com/office/drawing/2014/main" id="{DAD28AA8-C867-432A-994C-DC9D9CD18BC2}"/>
              </a:ext>
            </a:extLst>
          </p:cNvPr>
          <p:cNvSpPr txBox="1">
            <a:spLocks noChangeArrowheads="1"/>
          </p:cNvSpPr>
          <p:nvPr/>
        </p:nvSpPr>
        <p:spPr bwMode="auto">
          <a:xfrm>
            <a:off x="3503614" y="1844676"/>
            <a:ext cx="745172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a:solidFill>
                  <a:schemeClr val="tx1"/>
                </a:solidFill>
              </a:rPr>
              <a:t>N-val-his-leu-thr-pro- </a:t>
            </a:r>
            <a:r>
              <a:rPr kumimoji="1" lang="en-US" altLang="zh-CN" sz="3200">
                <a:solidFill>
                  <a:srgbClr val="FF0000"/>
                </a:solidFill>
              </a:rPr>
              <a:t>glu </a:t>
            </a:r>
            <a:r>
              <a:rPr kumimoji="1" lang="en-US" altLang="zh-CN" sz="3200">
                <a:solidFill>
                  <a:srgbClr val="003399"/>
                </a:solidFill>
              </a:rPr>
              <a:t>-</a:t>
            </a:r>
            <a:r>
              <a:rPr kumimoji="1" lang="en-US" altLang="zh-CN" sz="3200">
                <a:solidFill>
                  <a:schemeClr val="tx1"/>
                </a:solidFill>
              </a:rPr>
              <a:t>glu · · · C(146)   </a:t>
            </a:r>
          </a:p>
        </p:txBody>
      </p:sp>
      <p:sp>
        <p:nvSpPr>
          <p:cNvPr id="48135" name="Text Box 6">
            <a:extLst>
              <a:ext uri="{FF2B5EF4-FFF2-40B4-BE49-F238E27FC236}">
                <a16:creationId xmlns:a16="http://schemas.microsoft.com/office/drawing/2014/main" id="{2BD4C657-D48F-4217-B444-BE5DC650D8EE}"/>
              </a:ext>
            </a:extLst>
          </p:cNvPr>
          <p:cNvSpPr txBox="1">
            <a:spLocks noChangeArrowheads="1"/>
          </p:cNvSpPr>
          <p:nvPr/>
        </p:nvSpPr>
        <p:spPr bwMode="auto">
          <a:xfrm>
            <a:off x="1558925" y="3059114"/>
            <a:ext cx="1714500" cy="585787"/>
          </a:xfrm>
          <a:prstGeom prst="rect">
            <a:avLst/>
          </a:prstGeom>
          <a:solidFill>
            <a:schemeClr val="accent2">
              <a:lumMod val="20000"/>
              <a:lumOff val="80000"/>
            </a:schemeClr>
          </a:solidFill>
          <a:ln w="38100">
            <a:noFill/>
            <a:miter lim="800000"/>
            <a:headEnd type="none" w="sm" len="sm"/>
            <a:tailEnd type="none" w="sm" len="sm"/>
          </a:ln>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r>
              <a:rPr kumimoji="1" lang="en-US" altLang="zh-CN" b="0" dirty="0" err="1">
                <a:solidFill>
                  <a:srgbClr val="C00000"/>
                </a:solidFill>
              </a:rPr>
              <a:t>HbS</a:t>
            </a:r>
            <a:r>
              <a:rPr kumimoji="1" lang="en-US" altLang="zh-CN" b="0" dirty="0">
                <a:solidFill>
                  <a:srgbClr val="C00000"/>
                </a:solidFill>
              </a:rPr>
              <a:t> </a:t>
            </a:r>
            <a:r>
              <a:rPr kumimoji="1" lang="en-US" altLang="zh-CN" b="0" dirty="0">
                <a:solidFill>
                  <a:schemeClr val="tx1"/>
                </a:solidFill>
              </a:rPr>
              <a:t> </a:t>
            </a:r>
            <a:r>
              <a:rPr lang="en-US" altLang="zh-CN" sz="3200" b="0" dirty="0">
                <a:solidFill>
                  <a:srgbClr val="C00000"/>
                </a:solidFill>
              </a:rPr>
              <a:t>β </a:t>
            </a:r>
            <a:r>
              <a:rPr kumimoji="1" lang="zh-CN" altLang="en-US" b="0" dirty="0">
                <a:solidFill>
                  <a:srgbClr val="C00000"/>
                </a:solidFill>
              </a:rPr>
              <a:t>链</a:t>
            </a:r>
          </a:p>
        </p:txBody>
      </p:sp>
      <p:sp>
        <p:nvSpPr>
          <p:cNvPr id="48136" name="Rectangle 7">
            <a:extLst>
              <a:ext uri="{FF2B5EF4-FFF2-40B4-BE49-F238E27FC236}">
                <a16:creationId xmlns:a16="http://schemas.microsoft.com/office/drawing/2014/main" id="{6C20AEA7-A644-432D-871D-389944816C60}"/>
              </a:ext>
            </a:extLst>
          </p:cNvPr>
          <p:cNvSpPr>
            <a:spLocks noChangeArrowheads="1"/>
          </p:cNvSpPr>
          <p:nvPr/>
        </p:nvSpPr>
        <p:spPr bwMode="auto">
          <a:xfrm>
            <a:off x="1558925" y="1900239"/>
            <a:ext cx="1714500" cy="587375"/>
          </a:xfrm>
          <a:prstGeom prst="rect">
            <a:avLst/>
          </a:prstGeom>
          <a:solidFill>
            <a:schemeClr val="accent2">
              <a:lumMod val="20000"/>
              <a:lumOff val="80000"/>
            </a:schemeClr>
          </a:solidFill>
          <a:ln w="12700">
            <a:noFill/>
            <a:miter lim="800000"/>
            <a:headEnd type="none" w="sm" len="sm"/>
            <a:tailEnd type="none" w="sm" len="sm"/>
          </a:ln>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r>
              <a:rPr kumimoji="1" lang="en-US" altLang="zh-CN" b="0" dirty="0" err="1">
                <a:solidFill>
                  <a:schemeClr val="tx1"/>
                </a:solidFill>
              </a:rPr>
              <a:t>HbA</a:t>
            </a:r>
            <a:r>
              <a:rPr kumimoji="1" lang="en-US" altLang="zh-CN" b="0" dirty="0">
                <a:solidFill>
                  <a:schemeClr val="tx1"/>
                </a:solidFill>
              </a:rPr>
              <a:t>  </a:t>
            </a:r>
            <a:r>
              <a:rPr lang="en-US" altLang="zh-CN" sz="3200" b="0" dirty="0">
                <a:solidFill>
                  <a:schemeClr val="tx1"/>
                </a:solidFill>
              </a:rPr>
              <a:t>β </a:t>
            </a:r>
            <a:r>
              <a:rPr kumimoji="1" lang="zh-CN" altLang="en-US" b="0" dirty="0">
                <a:solidFill>
                  <a:schemeClr val="tx1"/>
                </a:solidFill>
              </a:rPr>
              <a:t>链</a:t>
            </a:r>
          </a:p>
        </p:txBody>
      </p:sp>
      <p:sp>
        <p:nvSpPr>
          <p:cNvPr id="49157" name="Text Box 8">
            <a:extLst>
              <a:ext uri="{FF2B5EF4-FFF2-40B4-BE49-F238E27FC236}">
                <a16:creationId xmlns:a16="http://schemas.microsoft.com/office/drawing/2014/main" id="{E5E143F8-E654-430B-B367-54AC303BBBE3}"/>
              </a:ext>
            </a:extLst>
          </p:cNvPr>
          <p:cNvSpPr txBox="1">
            <a:spLocks noChangeArrowheads="1"/>
          </p:cNvSpPr>
          <p:nvPr/>
        </p:nvSpPr>
        <p:spPr bwMode="auto">
          <a:xfrm>
            <a:off x="3540125" y="3041651"/>
            <a:ext cx="74295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a:solidFill>
                  <a:schemeClr val="tx1"/>
                </a:solidFill>
              </a:rPr>
              <a:t>N-val-his-leu-thr-pro -</a:t>
            </a:r>
            <a:r>
              <a:rPr kumimoji="1" lang="en-US" altLang="zh-CN" sz="3200">
                <a:solidFill>
                  <a:srgbClr val="FF0000"/>
                </a:solidFill>
              </a:rPr>
              <a:t>val</a:t>
            </a:r>
            <a:r>
              <a:rPr kumimoji="1" lang="en-US" altLang="zh-CN" sz="3200">
                <a:solidFill>
                  <a:srgbClr val="FF5050"/>
                </a:solidFill>
              </a:rPr>
              <a:t> </a:t>
            </a:r>
            <a:r>
              <a:rPr kumimoji="1" lang="en-US" altLang="zh-CN" sz="3200">
                <a:solidFill>
                  <a:srgbClr val="003399"/>
                </a:solidFill>
              </a:rPr>
              <a:t>-</a:t>
            </a:r>
            <a:r>
              <a:rPr kumimoji="1" lang="en-US" altLang="zh-CN" sz="3200">
                <a:solidFill>
                  <a:schemeClr val="tx1"/>
                </a:solidFill>
              </a:rPr>
              <a:t>glu · · · C(146)   </a:t>
            </a:r>
          </a:p>
        </p:txBody>
      </p:sp>
      <p:sp>
        <p:nvSpPr>
          <p:cNvPr id="54281" name="Text Box 9">
            <a:extLst>
              <a:ext uri="{FF2B5EF4-FFF2-40B4-BE49-F238E27FC236}">
                <a16:creationId xmlns:a16="http://schemas.microsoft.com/office/drawing/2014/main" id="{0581EC37-78FA-4C93-90BD-CE843587CF8D}"/>
              </a:ext>
            </a:extLst>
          </p:cNvPr>
          <p:cNvSpPr txBox="1">
            <a:spLocks noChangeArrowheads="1"/>
          </p:cNvSpPr>
          <p:nvPr/>
        </p:nvSpPr>
        <p:spPr bwMode="auto">
          <a:xfrm>
            <a:off x="1271464" y="5157731"/>
            <a:ext cx="10297144" cy="1083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lIns="90000" tIns="46800" rIns="90000" bIns="46800">
            <a:spAutoFit/>
          </a:bodyPr>
          <a:lstStyle>
            <a:lvl1pPr indent="568325">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indent="0" eaLnBrk="1" hangingPunct="1">
              <a:lnSpc>
                <a:spcPct val="130000"/>
              </a:lnSpc>
              <a:spcBef>
                <a:spcPct val="0"/>
              </a:spcBef>
              <a:buClrTx/>
            </a:pPr>
            <a:r>
              <a:rPr kumimoji="1" lang="en-US" altLang="zh-CN" dirty="0">
                <a:solidFill>
                  <a:schemeClr val="tx1"/>
                </a:solidFill>
              </a:rPr>
              <a:t>  </a:t>
            </a:r>
            <a:r>
              <a:rPr kumimoji="1" lang="zh-CN" altLang="en-US" dirty="0">
                <a:solidFill>
                  <a:schemeClr val="tx1"/>
                </a:solidFill>
              </a:rPr>
              <a:t>这种由蛋白质分子发生变异所导致的疾病，称为</a:t>
            </a:r>
            <a:r>
              <a:rPr kumimoji="1" lang="zh-CN" altLang="en-US" dirty="0">
                <a:solidFill>
                  <a:srgbClr val="FF0000"/>
                </a:solidFill>
              </a:rPr>
              <a:t>“分子病”</a:t>
            </a:r>
            <a:r>
              <a:rPr kumimoji="1" lang="zh-CN" altLang="en-US" dirty="0">
                <a:solidFill>
                  <a:schemeClr val="tx1"/>
                </a:solidFill>
              </a:rPr>
              <a:t>。   </a:t>
            </a:r>
            <a:r>
              <a:rPr kumimoji="1" lang="zh-CN" altLang="en-US" sz="2400" dirty="0">
                <a:solidFill>
                  <a:schemeClr val="tx1"/>
                </a:solidFill>
              </a:rPr>
              <a:t>几乎所有遗传病都与蛋白质分子结构改变有关，都称之为分子病。 </a:t>
            </a:r>
          </a:p>
        </p:txBody>
      </p:sp>
      <p:sp>
        <p:nvSpPr>
          <p:cNvPr id="285700" name="AutoShape 4">
            <a:extLst>
              <a:ext uri="{FF2B5EF4-FFF2-40B4-BE49-F238E27FC236}">
                <a16:creationId xmlns:a16="http://schemas.microsoft.com/office/drawing/2014/main" id="{94187564-DA5E-4454-B0B3-41C01853F78F}"/>
              </a:ext>
            </a:extLst>
          </p:cNvPr>
          <p:cNvSpPr>
            <a:spLocks noChangeArrowheads="1"/>
          </p:cNvSpPr>
          <p:nvPr/>
        </p:nvSpPr>
        <p:spPr bwMode="auto">
          <a:xfrm>
            <a:off x="7391401" y="2598739"/>
            <a:ext cx="288925" cy="428625"/>
          </a:xfrm>
          <a:prstGeom prst="downArrow">
            <a:avLst>
              <a:gd name="adj1" fmla="val 50000"/>
              <a:gd name="adj2" fmla="val 34924"/>
            </a:avLst>
          </a:prstGeom>
          <a:solidFill>
            <a:schemeClr val="accent1"/>
          </a:solidFill>
          <a:ln w="9525">
            <a:solidFill>
              <a:schemeClr val="tx1"/>
            </a:solidFill>
            <a:miter lim="800000"/>
            <a:headEnd/>
            <a:tailEnd/>
          </a:ln>
        </p:spPr>
        <p:txBody>
          <a:bodyPr vert="eaVert"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3200">
              <a:solidFill>
                <a:schemeClr val="tx1"/>
              </a:solidFill>
              <a:latin typeface="Arial" panose="020B0604020202020204" pitchFamily="34" charset="0"/>
              <a:ea typeface="宋体" panose="02010600030101010101" pitchFamily="2" charset="-122"/>
            </a:endParaRPr>
          </a:p>
        </p:txBody>
      </p:sp>
      <p:sp>
        <p:nvSpPr>
          <p:cNvPr id="10" name="Rectangle 2">
            <a:extLst>
              <a:ext uri="{FF2B5EF4-FFF2-40B4-BE49-F238E27FC236}">
                <a16:creationId xmlns:a16="http://schemas.microsoft.com/office/drawing/2014/main" id="{572D82E4-CF4A-4063-A650-E0EC8C788A01}"/>
              </a:ext>
            </a:extLst>
          </p:cNvPr>
          <p:cNvSpPr txBox="1">
            <a:spLocks noChangeArrowheads="1"/>
          </p:cNvSpPr>
          <p:nvPr/>
        </p:nvSpPr>
        <p:spPr bwMode="white">
          <a:xfrm>
            <a:off x="1919288" y="71438"/>
            <a:ext cx="6769100" cy="836612"/>
          </a:xfrm>
          <a:prstGeom prst="rect">
            <a:avLst/>
          </a:prstGeom>
          <a:noFill/>
          <a:ln>
            <a:noFill/>
          </a:ln>
        </p:spPr>
        <p:txBody>
          <a:bodyPr anchor="ctr"/>
          <a:lstStyle>
            <a:lvl1pPr algn="l" rtl="0" eaLnBrk="0" fontAlgn="base" hangingPunct="0">
              <a:spcBef>
                <a:spcPct val="0"/>
              </a:spcBef>
              <a:spcAft>
                <a:spcPct val="0"/>
              </a:spcAft>
              <a:defRPr sz="3600" b="1">
                <a:solidFill>
                  <a:schemeClr val="bg1"/>
                </a:solidFill>
                <a:latin typeface="+mj-lt"/>
                <a:ea typeface="+mj-ea"/>
                <a:cs typeface="+mj-cs"/>
              </a:defRPr>
            </a:lvl1pPr>
            <a:lvl2pPr algn="l" rtl="0" eaLnBrk="0" fontAlgn="base" hangingPunct="0">
              <a:spcBef>
                <a:spcPct val="0"/>
              </a:spcBef>
              <a:spcAft>
                <a:spcPct val="0"/>
              </a:spcAft>
              <a:defRPr sz="3600" b="1">
                <a:solidFill>
                  <a:schemeClr val="bg1"/>
                </a:solidFill>
                <a:latin typeface="黑体" pitchFamily="49" charset="-122"/>
                <a:ea typeface="黑体" pitchFamily="49" charset="-122"/>
              </a:defRPr>
            </a:lvl2pPr>
            <a:lvl3pPr algn="l" rtl="0" eaLnBrk="0" fontAlgn="base" hangingPunct="0">
              <a:spcBef>
                <a:spcPct val="0"/>
              </a:spcBef>
              <a:spcAft>
                <a:spcPct val="0"/>
              </a:spcAft>
              <a:defRPr sz="3600" b="1">
                <a:solidFill>
                  <a:schemeClr val="bg1"/>
                </a:solidFill>
                <a:latin typeface="黑体" pitchFamily="49" charset="-122"/>
                <a:ea typeface="黑体" pitchFamily="49" charset="-122"/>
              </a:defRPr>
            </a:lvl3pPr>
            <a:lvl4pPr algn="l" rtl="0" eaLnBrk="0" fontAlgn="base" hangingPunct="0">
              <a:spcBef>
                <a:spcPct val="0"/>
              </a:spcBef>
              <a:spcAft>
                <a:spcPct val="0"/>
              </a:spcAft>
              <a:defRPr sz="3600" b="1">
                <a:solidFill>
                  <a:schemeClr val="bg1"/>
                </a:solidFill>
                <a:latin typeface="黑体" pitchFamily="49" charset="-122"/>
                <a:ea typeface="黑体" pitchFamily="49" charset="-122"/>
              </a:defRPr>
            </a:lvl4pPr>
            <a:lvl5pPr algn="l" rtl="0" eaLnBrk="0" fontAlgn="base" hangingPunct="0">
              <a:spcBef>
                <a:spcPct val="0"/>
              </a:spcBef>
              <a:spcAft>
                <a:spcPct val="0"/>
              </a:spcAft>
              <a:defRPr sz="3600" b="1">
                <a:solidFill>
                  <a:schemeClr val="bg1"/>
                </a:solidFill>
                <a:latin typeface="黑体" pitchFamily="49" charset="-122"/>
                <a:ea typeface="黑体" pitchFamily="49" charset="-122"/>
              </a:defRPr>
            </a:lvl5pPr>
            <a:lvl6pPr marL="457200" algn="l" rtl="0" fontAlgn="base">
              <a:spcBef>
                <a:spcPct val="0"/>
              </a:spcBef>
              <a:spcAft>
                <a:spcPct val="0"/>
              </a:spcAft>
              <a:defRPr sz="3600" b="1">
                <a:solidFill>
                  <a:schemeClr val="bg1"/>
                </a:solidFill>
                <a:latin typeface="黑体" pitchFamily="49" charset="-122"/>
                <a:ea typeface="黑体" pitchFamily="49" charset="-122"/>
              </a:defRPr>
            </a:lvl6pPr>
            <a:lvl7pPr marL="914400" algn="l" rtl="0" fontAlgn="base">
              <a:spcBef>
                <a:spcPct val="0"/>
              </a:spcBef>
              <a:spcAft>
                <a:spcPct val="0"/>
              </a:spcAft>
              <a:defRPr sz="3600" b="1">
                <a:solidFill>
                  <a:schemeClr val="bg1"/>
                </a:solidFill>
                <a:latin typeface="黑体" pitchFamily="49" charset="-122"/>
                <a:ea typeface="黑体" pitchFamily="49" charset="-122"/>
              </a:defRPr>
            </a:lvl7pPr>
            <a:lvl8pPr marL="1371600" algn="l" rtl="0" fontAlgn="base">
              <a:spcBef>
                <a:spcPct val="0"/>
              </a:spcBef>
              <a:spcAft>
                <a:spcPct val="0"/>
              </a:spcAft>
              <a:defRPr sz="3600" b="1">
                <a:solidFill>
                  <a:schemeClr val="bg1"/>
                </a:solidFill>
                <a:latin typeface="黑体" pitchFamily="49" charset="-122"/>
                <a:ea typeface="黑体" pitchFamily="49" charset="-122"/>
              </a:defRPr>
            </a:lvl8pPr>
            <a:lvl9pPr marL="1828800" algn="l" rtl="0" fontAlgn="base">
              <a:spcBef>
                <a:spcPct val="0"/>
              </a:spcBef>
              <a:spcAft>
                <a:spcPct val="0"/>
              </a:spcAft>
              <a:defRPr sz="3600" b="1">
                <a:solidFill>
                  <a:schemeClr val="bg1"/>
                </a:solidFill>
                <a:latin typeface="黑体" pitchFamily="49" charset="-122"/>
                <a:ea typeface="黑体" pitchFamily="49" charset="-122"/>
              </a:defRPr>
            </a:lvl9pPr>
          </a:lstStyle>
          <a:p>
            <a:pPr algn="ctr" eaLnBrk="1" hangingPunct="1">
              <a:defRPr/>
            </a:pPr>
            <a:r>
              <a:rPr lang="zh-CN" altLang="en-US" sz="4000" b="0" kern="0" dirty="0"/>
              <a:t>镰刀形贫血是一种分子病</a:t>
            </a:r>
            <a:endParaRPr lang="zh-CN" altLang="en-US" sz="4000" b="0" kern="0" dirty="0">
              <a:latin typeface="Times New Roman" panose="02020603050405020304" pitchFamily="18" charset="0"/>
            </a:endParaRPr>
          </a:p>
        </p:txBody>
      </p:sp>
      <p:sp>
        <p:nvSpPr>
          <p:cNvPr id="11" name="文本框 10">
            <a:extLst>
              <a:ext uri="{FF2B5EF4-FFF2-40B4-BE49-F238E27FC236}">
                <a16:creationId xmlns:a16="http://schemas.microsoft.com/office/drawing/2014/main" id="{FAC010A4-2B39-4E8F-9F0D-3A4AA3F1F03F}"/>
              </a:ext>
            </a:extLst>
          </p:cNvPr>
          <p:cNvSpPr txBox="1">
            <a:spLocks noChangeArrowheads="1"/>
          </p:cNvSpPr>
          <p:nvPr/>
        </p:nvSpPr>
        <p:spPr bwMode="auto">
          <a:xfrm>
            <a:off x="7029451" y="1195388"/>
            <a:ext cx="3317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400">
                <a:solidFill>
                  <a:srgbClr val="0000CC"/>
                </a:solidFill>
                <a:latin typeface="微软雅黑" panose="020B0503020204020204" pitchFamily="34" charset="-122"/>
                <a:ea typeface="微软雅黑" panose="020B0503020204020204" pitchFamily="34" charset="-122"/>
              </a:rPr>
              <a:t>密码子</a:t>
            </a:r>
            <a:r>
              <a:rPr lang="en-US" altLang="zh-CN" sz="2400">
                <a:solidFill>
                  <a:srgbClr val="0000CC"/>
                </a:solidFill>
                <a:latin typeface="微软雅黑" panose="020B0503020204020204" pitchFamily="34" charset="-122"/>
                <a:ea typeface="微软雅黑" panose="020B0503020204020204" pitchFamily="34" charset="-122"/>
              </a:rPr>
              <a:t>GAG</a:t>
            </a:r>
            <a:r>
              <a:rPr lang="zh-CN" altLang="en-US" sz="2400">
                <a:solidFill>
                  <a:srgbClr val="0000CC"/>
                </a:solidFill>
                <a:latin typeface="微软雅黑" panose="020B0503020204020204" pitchFamily="34" charset="-122"/>
                <a:ea typeface="微软雅黑" panose="020B0503020204020204" pitchFamily="34" charset="-122"/>
              </a:rPr>
              <a:t>→</a:t>
            </a:r>
            <a:r>
              <a:rPr lang="en-US" altLang="zh-CN" sz="2400">
                <a:solidFill>
                  <a:srgbClr val="0000CC"/>
                </a:solidFill>
                <a:latin typeface="微软雅黑" panose="020B0503020204020204" pitchFamily="34" charset="-122"/>
                <a:ea typeface="微软雅黑" panose="020B0503020204020204" pitchFamily="34" charset="-122"/>
              </a:rPr>
              <a:t>GUG</a:t>
            </a:r>
            <a:endParaRPr lang="zh-CN" altLang="en-US" sz="2400">
              <a:solidFill>
                <a:srgbClr val="0000CC"/>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14AAAAEC-5E01-D4C9-C827-F8F9A1E75841}"/>
              </a:ext>
            </a:extLst>
          </p:cNvPr>
          <p:cNvSpPr txBox="1"/>
          <p:nvPr/>
        </p:nvSpPr>
        <p:spPr>
          <a:xfrm>
            <a:off x="1487202" y="3944881"/>
            <a:ext cx="9217595" cy="1421928"/>
          </a:xfrm>
          <a:prstGeom prst="rect">
            <a:avLst/>
          </a:prstGeom>
          <a:noFill/>
        </p:spPr>
        <p:txBody>
          <a:bodyPr wrap="square">
            <a:spAutoFit/>
          </a:bodyPr>
          <a:lstStyle/>
          <a:p>
            <a:pPr marL="342900" indent="-342900" eaLnBrk="1" hangingPunct="1">
              <a:lnSpc>
                <a:spcPct val="130000"/>
              </a:lnSpc>
              <a:spcBef>
                <a:spcPct val="50000"/>
              </a:spcBef>
              <a:buFont typeface="Arial" panose="020B0604020202020204" pitchFamily="34" charset="0"/>
              <a:buChar char="•"/>
            </a:pPr>
            <a:r>
              <a:rPr lang="zh-CN" altLang="en-US" sz="2400" dirty="0">
                <a:solidFill>
                  <a:srgbClr val="000000"/>
                </a:solidFill>
                <a:latin typeface="微软雅黑" panose="020B0503020204020204" pitchFamily="34" charset="-122"/>
                <a:ea typeface="微软雅黑" panose="020B0503020204020204" pitchFamily="34" charset="-122"/>
              </a:rPr>
              <a:t>氧分压正常时，</a:t>
            </a:r>
            <a:r>
              <a:rPr lang="en-US" altLang="zh-CN" sz="2400" dirty="0" err="1">
                <a:solidFill>
                  <a:srgbClr val="000000"/>
                </a:solidFill>
                <a:latin typeface="微软雅黑" panose="020B0503020204020204" pitchFamily="34" charset="-122"/>
                <a:ea typeface="微软雅黑" panose="020B0503020204020204" pitchFamily="34" charset="-122"/>
              </a:rPr>
              <a:t>HbS</a:t>
            </a:r>
            <a:r>
              <a:rPr lang="zh-CN" altLang="en-US" sz="2400" dirty="0">
                <a:solidFill>
                  <a:srgbClr val="000000"/>
                </a:solidFill>
                <a:latin typeface="微软雅黑" panose="020B0503020204020204" pitchFamily="34" charset="-122"/>
                <a:ea typeface="微软雅黑" panose="020B0503020204020204" pitchFamily="34" charset="-122"/>
              </a:rPr>
              <a:t>与</a:t>
            </a:r>
            <a:r>
              <a:rPr lang="en-US" altLang="zh-CN" sz="2400" dirty="0">
                <a:solidFill>
                  <a:srgbClr val="000000"/>
                </a:solidFill>
                <a:latin typeface="微软雅黑" panose="020B0503020204020204" pitchFamily="34" charset="-122"/>
                <a:ea typeface="微软雅黑" panose="020B0503020204020204" pitchFamily="34" charset="-122"/>
              </a:rPr>
              <a:t>HbA</a:t>
            </a:r>
            <a:r>
              <a:rPr lang="zh-CN" altLang="en-US" sz="2400" dirty="0">
                <a:solidFill>
                  <a:srgbClr val="000000"/>
                </a:solidFill>
                <a:latin typeface="微软雅黑" panose="020B0503020204020204" pitchFamily="34" charset="-122"/>
                <a:ea typeface="微软雅黑" panose="020B0503020204020204" pitchFamily="34" charset="-122"/>
              </a:rPr>
              <a:t>在结合氧气的能力上并无区别，即突变对</a:t>
            </a:r>
            <a:r>
              <a:rPr lang="en-US" altLang="zh-CN" sz="2400" dirty="0">
                <a:solidFill>
                  <a:srgbClr val="000000"/>
                </a:solidFill>
                <a:latin typeface="微软雅黑" panose="020B0503020204020204" pitchFamily="34" charset="-122"/>
                <a:ea typeface="微软雅黑" panose="020B0503020204020204" pitchFamily="34" charset="-122"/>
              </a:rPr>
              <a:t>Hb</a:t>
            </a:r>
            <a:r>
              <a:rPr lang="zh-CN" altLang="en-US" sz="2400" dirty="0">
                <a:solidFill>
                  <a:srgbClr val="000000"/>
                </a:solidFill>
                <a:latin typeface="微软雅黑" panose="020B0503020204020204" pitchFamily="34" charset="-122"/>
                <a:ea typeface="微软雅黑" panose="020B0503020204020204" pitchFamily="34" charset="-122"/>
              </a:rPr>
              <a:t>的三维结构无明显影响，但</a:t>
            </a:r>
            <a:r>
              <a:rPr lang="zh-CN" altLang="en-US" sz="2400" dirty="0">
                <a:solidFill>
                  <a:schemeClr val="tx1">
                    <a:lumMod val="60000"/>
                    <a:lumOff val="40000"/>
                  </a:schemeClr>
                </a:solidFill>
                <a:latin typeface="微软雅黑" panose="020B0503020204020204" pitchFamily="34" charset="-122"/>
                <a:ea typeface="微软雅黑" panose="020B0503020204020204" pitchFamily="34" charset="-122"/>
              </a:rPr>
              <a:t>缺氧时影响大</a:t>
            </a:r>
            <a:r>
              <a:rPr lang="zh-CN" altLang="en-US" sz="2400" dirty="0">
                <a:solidFill>
                  <a:srgbClr val="000000"/>
                </a:solidFill>
                <a:latin typeface="微软雅黑" panose="020B0503020204020204" pitchFamily="34" charset="-122"/>
                <a:ea typeface="微软雅黑" panose="020B0503020204020204" pitchFamily="34" charset="-122"/>
              </a:rPr>
              <a:t>。</a:t>
            </a:r>
            <a:endParaRPr lang="en-US" altLang="zh-CN" sz="2400" dirty="0">
              <a:solidFill>
                <a:srgbClr val="000000"/>
              </a:solidFill>
              <a:latin typeface="微软雅黑" panose="020B0503020204020204" pitchFamily="34" charset="-122"/>
              <a:ea typeface="微软雅黑" panose="020B0503020204020204" pitchFamily="34" charset="-122"/>
            </a:endParaRPr>
          </a:p>
          <a:p>
            <a:pPr marL="342900" indent="-342900" eaLnBrk="1" hangingPunct="1">
              <a:buFont typeface="Arial" panose="020B0604020202020204" pitchFamily="34" charset="0"/>
              <a:buChar char="•"/>
            </a:pPr>
            <a:endParaRPr lang="en-US" altLang="zh-CN" sz="24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85700"/>
                                        </p:tgtEl>
                                        <p:attrNameLst>
                                          <p:attrName>style.visibility</p:attrName>
                                        </p:attrNameLst>
                                      </p:cBhvr>
                                      <p:to>
                                        <p:strVal val="visible"/>
                                      </p:to>
                                    </p:set>
                                    <p:animEffect transition="in" filter="wipe(up)">
                                      <p:cBhvr>
                                        <p:cTn id="7" dur="500"/>
                                        <p:tgtEl>
                                          <p:spTgt spid="28570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42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1" grpId="0"/>
      <p:bldP spid="285700" grpId="0" animBg="1"/>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6147" name="Rectangle 3">
            <a:extLst>
              <a:ext uri="{FF2B5EF4-FFF2-40B4-BE49-F238E27FC236}">
                <a16:creationId xmlns:a16="http://schemas.microsoft.com/office/drawing/2014/main" id="{390E80E3-79A9-4E4B-9AB3-5A65B2201870}"/>
              </a:ext>
            </a:extLst>
          </p:cNvPr>
          <p:cNvSpPr>
            <a:spLocks noGrp="1" noChangeArrowheads="1"/>
          </p:cNvSpPr>
          <p:nvPr>
            <p:ph type="body" sz="half" idx="4294967295"/>
          </p:nvPr>
        </p:nvSpPr>
        <p:spPr>
          <a:xfrm>
            <a:off x="314267" y="3191672"/>
            <a:ext cx="7115398" cy="3342228"/>
          </a:xfrm>
          <a:ln>
            <a:solidFill>
              <a:schemeClr val="tx1">
                <a:lumMod val="40000"/>
                <a:lumOff val="60000"/>
              </a:schemeClr>
            </a:solidFill>
          </a:ln>
        </p:spPr>
        <p:txBody>
          <a:bodyPr/>
          <a:lstStyle/>
          <a:p>
            <a:pPr eaLnBrk="1" hangingPunct="1">
              <a:lnSpc>
                <a:spcPct val="130000"/>
              </a:lnSpc>
              <a:spcBef>
                <a:spcPct val="50000"/>
              </a:spcBef>
            </a:pPr>
            <a:r>
              <a:rPr lang="zh-CN" altLang="en-US" sz="2600" dirty="0">
                <a:solidFill>
                  <a:schemeClr val="tx1"/>
                </a:solidFill>
              </a:rPr>
              <a:t>缺氧情况下，这个</a:t>
            </a:r>
            <a:r>
              <a:rPr lang="en-US" altLang="zh-CN" sz="2600" dirty="0">
                <a:solidFill>
                  <a:schemeClr val="tx1"/>
                </a:solidFill>
              </a:rPr>
              <a:t>Val</a:t>
            </a:r>
            <a:r>
              <a:rPr lang="zh-CN" altLang="en-US" sz="2600" dirty="0">
                <a:solidFill>
                  <a:schemeClr val="tx1"/>
                </a:solidFill>
              </a:rPr>
              <a:t>的疏水侧链正好与</a:t>
            </a:r>
            <a:r>
              <a:rPr lang="zh-CN" altLang="en-US" sz="2600" dirty="0">
                <a:solidFill>
                  <a:srgbClr val="C00000"/>
                </a:solidFill>
              </a:rPr>
              <a:t>另一血红蛋白分子</a:t>
            </a:r>
            <a:r>
              <a:rPr lang="en-US" altLang="zh-CN" sz="2600" dirty="0">
                <a:solidFill>
                  <a:schemeClr val="tx1"/>
                </a:solidFill>
              </a:rPr>
              <a:t>β</a:t>
            </a:r>
            <a:r>
              <a:rPr lang="zh-CN" altLang="en-US" sz="2600" dirty="0">
                <a:solidFill>
                  <a:schemeClr val="tx1"/>
                </a:solidFill>
              </a:rPr>
              <a:t>链</a:t>
            </a:r>
            <a:r>
              <a:rPr lang="en-US" altLang="zh-CN" sz="2600" dirty="0">
                <a:solidFill>
                  <a:schemeClr val="tx1"/>
                </a:solidFill>
              </a:rPr>
              <a:t>EF</a:t>
            </a:r>
            <a:r>
              <a:rPr lang="zh-CN" altLang="en-US" sz="2600" dirty="0">
                <a:solidFill>
                  <a:schemeClr val="tx1"/>
                </a:solidFill>
              </a:rPr>
              <a:t>段几个疏水氨基酸残基形成的疏水区相适应， </a:t>
            </a:r>
            <a:r>
              <a:rPr lang="zh-CN" altLang="en-US" sz="2600" dirty="0">
                <a:solidFill>
                  <a:srgbClr val="C00000"/>
                </a:solidFill>
              </a:rPr>
              <a:t>疏水作用力</a:t>
            </a:r>
            <a:r>
              <a:rPr lang="zh-CN" altLang="en-US" sz="2600" dirty="0">
                <a:solidFill>
                  <a:schemeClr val="tx1"/>
                </a:solidFill>
              </a:rPr>
              <a:t>使两条血红蛋白链互相</a:t>
            </a:r>
            <a:r>
              <a:rPr lang="zh-CN" altLang="en-US" sz="2600" dirty="0">
                <a:solidFill>
                  <a:schemeClr val="tx1">
                    <a:lumMod val="60000"/>
                    <a:lumOff val="40000"/>
                  </a:schemeClr>
                </a:solidFill>
              </a:rPr>
              <a:t>“锁”</a:t>
            </a:r>
            <a:r>
              <a:rPr lang="zh-CN" altLang="en-US" sz="2600" dirty="0">
                <a:solidFill>
                  <a:schemeClr val="tx1"/>
                </a:solidFill>
              </a:rPr>
              <a:t>在一起。 最终大量</a:t>
            </a:r>
            <a:r>
              <a:rPr lang="en-US" altLang="zh-CN" sz="2600" dirty="0" err="1">
                <a:solidFill>
                  <a:srgbClr val="C00000"/>
                </a:solidFill>
              </a:rPr>
              <a:t>HbS</a:t>
            </a:r>
            <a:r>
              <a:rPr lang="zh-CN" altLang="en-US" sz="2600" dirty="0">
                <a:solidFill>
                  <a:schemeClr val="tx1"/>
                </a:solidFill>
              </a:rPr>
              <a:t>彼此相连形成一个不溶的</a:t>
            </a:r>
            <a:r>
              <a:rPr lang="zh-CN" altLang="en-US" sz="2600" dirty="0">
                <a:solidFill>
                  <a:schemeClr val="tx1">
                    <a:lumMod val="60000"/>
                    <a:lumOff val="40000"/>
                  </a:schemeClr>
                </a:solidFill>
              </a:rPr>
              <a:t>长柱形螺旋纤维束</a:t>
            </a:r>
            <a:r>
              <a:rPr lang="zh-CN" altLang="en-US" sz="2600" dirty="0">
                <a:solidFill>
                  <a:schemeClr val="tx1"/>
                </a:solidFill>
              </a:rPr>
              <a:t>，使红细胞扭旋成镰刀形。</a:t>
            </a:r>
          </a:p>
        </p:txBody>
      </p:sp>
      <p:graphicFrame>
        <p:nvGraphicFramePr>
          <p:cNvPr id="51203" name="Object 4">
            <a:extLst>
              <a:ext uri="{FF2B5EF4-FFF2-40B4-BE49-F238E27FC236}">
                <a16:creationId xmlns:a16="http://schemas.microsoft.com/office/drawing/2014/main" id="{4BF83F16-1AAA-4651-AC64-D578379C29EB}"/>
              </a:ext>
            </a:extLst>
          </p:cNvPr>
          <p:cNvGraphicFramePr>
            <a:graphicFrameLocks noChangeAspect="1"/>
          </p:cNvGraphicFramePr>
          <p:nvPr>
            <p:extLst>
              <p:ext uri="{D42A27DB-BD31-4B8C-83A1-F6EECF244321}">
                <p14:modId xmlns:p14="http://schemas.microsoft.com/office/powerpoint/2010/main" val="1888830605"/>
              </p:ext>
            </p:extLst>
          </p:nvPr>
        </p:nvGraphicFramePr>
        <p:xfrm>
          <a:off x="4983560" y="1124745"/>
          <a:ext cx="2590800" cy="1414463"/>
        </p:xfrm>
        <a:graphic>
          <a:graphicData uri="http://schemas.openxmlformats.org/presentationml/2006/ole">
            <mc:AlternateContent xmlns:mc="http://schemas.openxmlformats.org/markup-compatibility/2006">
              <mc:Choice xmlns:v="urn:schemas-microsoft-com:vml" Requires="v">
                <p:oleObj name="BMP 图象" r:id="rId3" imgW="2333333" imgH="1305075" progId="Paint.Picture">
                  <p:embed/>
                </p:oleObj>
              </mc:Choice>
              <mc:Fallback>
                <p:oleObj name="BMP 图象" r:id="rId3" imgW="2333333" imgH="1305075" progId="Paint.Picture">
                  <p:embed/>
                  <p:pic>
                    <p:nvPicPr>
                      <p:cNvPr id="51203" name="Object 4">
                        <a:extLst>
                          <a:ext uri="{FF2B5EF4-FFF2-40B4-BE49-F238E27FC236}">
                            <a16:creationId xmlns:a16="http://schemas.microsoft.com/office/drawing/2014/main" id="{4BF83F16-1AAA-4651-AC64-D578379C29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3560" y="1124745"/>
                        <a:ext cx="2590800" cy="141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4" name="Object 5">
            <a:extLst>
              <a:ext uri="{FF2B5EF4-FFF2-40B4-BE49-F238E27FC236}">
                <a16:creationId xmlns:a16="http://schemas.microsoft.com/office/drawing/2014/main" id="{2DC2072A-4D7C-4ACF-AF21-9307993DD63C}"/>
              </a:ext>
            </a:extLst>
          </p:cNvPr>
          <p:cNvGraphicFramePr>
            <a:graphicFrameLocks noChangeAspect="1"/>
          </p:cNvGraphicFramePr>
          <p:nvPr>
            <p:extLst>
              <p:ext uri="{D42A27DB-BD31-4B8C-83A1-F6EECF244321}">
                <p14:modId xmlns:p14="http://schemas.microsoft.com/office/powerpoint/2010/main" val="2136218251"/>
              </p:ext>
            </p:extLst>
          </p:nvPr>
        </p:nvGraphicFramePr>
        <p:xfrm>
          <a:off x="563961" y="1124744"/>
          <a:ext cx="3419475" cy="1358900"/>
        </p:xfrm>
        <a:graphic>
          <a:graphicData uri="http://schemas.openxmlformats.org/presentationml/2006/ole">
            <mc:AlternateContent xmlns:mc="http://schemas.openxmlformats.org/markup-compatibility/2006">
              <mc:Choice xmlns:v="urn:schemas-microsoft-com:vml" Requires="v">
                <p:oleObj name="BMP 图象" r:id="rId5" imgW="3181622" imgH="1305075" progId="Paint.Picture">
                  <p:embed/>
                </p:oleObj>
              </mc:Choice>
              <mc:Fallback>
                <p:oleObj name="BMP 图象" r:id="rId5" imgW="3181622" imgH="1305075" progId="Paint.Picture">
                  <p:embed/>
                  <p:pic>
                    <p:nvPicPr>
                      <p:cNvPr id="51204" name="Object 5">
                        <a:extLst>
                          <a:ext uri="{FF2B5EF4-FFF2-40B4-BE49-F238E27FC236}">
                            <a16:creationId xmlns:a16="http://schemas.microsoft.com/office/drawing/2014/main" id="{2DC2072A-4D7C-4ACF-AF21-9307993DD6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961" y="1124744"/>
                        <a:ext cx="3419475"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46150" name="Rectangle 6">
            <a:extLst>
              <a:ext uri="{FF2B5EF4-FFF2-40B4-BE49-F238E27FC236}">
                <a16:creationId xmlns:a16="http://schemas.microsoft.com/office/drawing/2014/main" id="{21FAE563-B370-4A22-88F7-3BB5C965A328}"/>
              </a:ext>
            </a:extLst>
          </p:cNvPr>
          <p:cNvSpPr>
            <a:spLocks noChangeArrowheads="1"/>
          </p:cNvSpPr>
          <p:nvPr/>
        </p:nvSpPr>
        <p:spPr bwMode="auto">
          <a:xfrm>
            <a:off x="4831160" y="1124744"/>
            <a:ext cx="1295400" cy="1295400"/>
          </a:xfrm>
          <a:prstGeom prst="rect">
            <a:avLst/>
          </a:prstGeom>
          <a:noFill/>
          <a:ln w="57150">
            <a:solidFill>
              <a:srgbClr val="0000CC"/>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646151" name="Rectangle 7">
            <a:extLst>
              <a:ext uri="{FF2B5EF4-FFF2-40B4-BE49-F238E27FC236}">
                <a16:creationId xmlns:a16="http://schemas.microsoft.com/office/drawing/2014/main" id="{26888762-FD23-4BDC-82B0-D976487CEC2F}"/>
              </a:ext>
            </a:extLst>
          </p:cNvPr>
          <p:cNvSpPr>
            <a:spLocks noChangeArrowheads="1"/>
          </p:cNvSpPr>
          <p:nvPr/>
        </p:nvSpPr>
        <p:spPr bwMode="auto">
          <a:xfrm>
            <a:off x="335360" y="1124744"/>
            <a:ext cx="2286000" cy="1295400"/>
          </a:xfrm>
          <a:prstGeom prst="rect">
            <a:avLst/>
          </a:prstGeom>
          <a:noFill/>
          <a:ln w="57150">
            <a:solidFill>
              <a:srgbClr val="3333CC"/>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a:spcBef>
                <a:spcPct val="0"/>
              </a:spcBef>
              <a:buClrTx/>
              <a:buFontTx/>
              <a:buNone/>
            </a:pPr>
            <a:endParaRPr lang="zh-CN" altLang="zh-CN" sz="2400">
              <a:solidFill>
                <a:srgbClr val="FFFF00"/>
              </a:solidFill>
              <a:ea typeface="宋体" panose="02010600030101010101" pitchFamily="2" charset="-122"/>
            </a:endParaRPr>
          </a:p>
        </p:txBody>
      </p:sp>
      <p:sp>
        <p:nvSpPr>
          <p:cNvPr id="51207" name="AutoShape 8">
            <a:extLst>
              <a:ext uri="{FF2B5EF4-FFF2-40B4-BE49-F238E27FC236}">
                <a16:creationId xmlns:a16="http://schemas.microsoft.com/office/drawing/2014/main" id="{0479C1A0-45A8-41EA-A574-02338928E631}"/>
              </a:ext>
            </a:extLst>
          </p:cNvPr>
          <p:cNvSpPr>
            <a:spLocks noChangeArrowheads="1"/>
          </p:cNvSpPr>
          <p:nvPr/>
        </p:nvSpPr>
        <p:spPr bwMode="auto">
          <a:xfrm>
            <a:off x="4221560" y="1581944"/>
            <a:ext cx="381000" cy="304800"/>
          </a:xfrm>
          <a:prstGeom prst="rightArrow">
            <a:avLst>
              <a:gd name="adj1" fmla="val 50000"/>
              <a:gd name="adj2" fmla="val 31250"/>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646154" name="Rectangle 10">
            <a:extLst>
              <a:ext uri="{FF2B5EF4-FFF2-40B4-BE49-F238E27FC236}">
                <a16:creationId xmlns:a16="http://schemas.microsoft.com/office/drawing/2014/main" id="{ED17E506-D5C5-44CB-9A4F-807E9C372200}"/>
              </a:ext>
            </a:extLst>
          </p:cNvPr>
          <p:cNvSpPr>
            <a:spLocks noChangeArrowheads="1"/>
          </p:cNvSpPr>
          <p:nvPr/>
        </p:nvSpPr>
        <p:spPr bwMode="auto">
          <a:xfrm>
            <a:off x="605236" y="2539208"/>
            <a:ext cx="6662737"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90000"/>
              </a:lnSpc>
              <a:buFont typeface="Wingdings" panose="05000000000000000000" pitchFamily="2" charset="2"/>
              <a:buNone/>
            </a:pPr>
            <a:r>
              <a:rPr lang="en-US" altLang="zh-CN" sz="2400" b="1">
                <a:solidFill>
                  <a:srgbClr val="FF0000"/>
                </a:solidFill>
              </a:rPr>
              <a:t> </a:t>
            </a:r>
            <a:r>
              <a:rPr lang="zh-CN" altLang="en-US" sz="2400" b="1">
                <a:solidFill>
                  <a:srgbClr val="FF0000"/>
                </a:solidFill>
              </a:rPr>
              <a:t>谷</a:t>
            </a:r>
            <a:r>
              <a:rPr lang="en-US" altLang="zh-CN" sz="2400" b="1">
                <a:solidFill>
                  <a:srgbClr val="FF0000"/>
                </a:solidFill>
              </a:rPr>
              <a:t>A</a:t>
            </a:r>
            <a:r>
              <a:rPr lang="zh-CN" altLang="en-US" sz="2400" b="1">
                <a:solidFill>
                  <a:srgbClr val="FF0000"/>
                </a:solidFill>
              </a:rPr>
              <a:t>（极性）                                  缬</a:t>
            </a:r>
            <a:r>
              <a:rPr lang="en-US" altLang="zh-CN" sz="2400" b="1">
                <a:solidFill>
                  <a:srgbClr val="FF0000"/>
                </a:solidFill>
              </a:rPr>
              <a:t>A</a:t>
            </a:r>
            <a:r>
              <a:rPr lang="zh-CN" altLang="en-US" sz="2400" b="1">
                <a:solidFill>
                  <a:srgbClr val="FF0000"/>
                </a:solidFill>
              </a:rPr>
              <a:t>（非极性）</a:t>
            </a:r>
          </a:p>
        </p:txBody>
      </p:sp>
      <p:pic>
        <p:nvPicPr>
          <p:cNvPr id="53250" name="图片 1">
            <a:extLst>
              <a:ext uri="{FF2B5EF4-FFF2-40B4-BE49-F238E27FC236}">
                <a16:creationId xmlns:a16="http://schemas.microsoft.com/office/drawing/2014/main" id="{4B532124-696C-49BE-B473-B8FCFEB8F05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755040" y="42862"/>
            <a:ext cx="4321224" cy="677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46151"/>
                                        </p:tgtEl>
                                        <p:attrNameLst>
                                          <p:attrName>style.visibility</p:attrName>
                                        </p:attrNameLst>
                                      </p:cBhvr>
                                      <p:to>
                                        <p:strVal val="visible"/>
                                      </p:to>
                                    </p:set>
                                    <p:animEffect transition="in" filter="fade">
                                      <p:cBhvr>
                                        <p:cTn id="7" dur="500"/>
                                        <p:tgtEl>
                                          <p:spTgt spid="64615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46150"/>
                                        </p:tgtEl>
                                        <p:attrNameLst>
                                          <p:attrName>style.visibility</p:attrName>
                                        </p:attrNameLst>
                                      </p:cBhvr>
                                      <p:to>
                                        <p:strVal val="visible"/>
                                      </p:to>
                                    </p:set>
                                    <p:animEffect transition="in" filter="fade">
                                      <p:cBhvr>
                                        <p:cTn id="10" dur="500"/>
                                        <p:tgtEl>
                                          <p:spTgt spid="64615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46154"/>
                                        </p:tgtEl>
                                        <p:attrNameLst>
                                          <p:attrName>style.visibility</p:attrName>
                                        </p:attrNameLst>
                                      </p:cBhvr>
                                      <p:to>
                                        <p:strVal val="visible"/>
                                      </p:to>
                                    </p:set>
                                    <p:animEffect transition="in" filter="fade">
                                      <p:cBhvr>
                                        <p:cTn id="13" dur="500"/>
                                        <p:tgtEl>
                                          <p:spTgt spid="64615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46147">
                                            <p:txEl>
                                              <p:pRg st="0" end="0"/>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46147">
                                            <p:bg/>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3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147" grpId="0" uiExpand="1" build="p" animBg="1"/>
      <p:bldP spid="646150" grpId="0" animBg="1"/>
      <p:bldP spid="646151" grpId="0" animBg="1"/>
      <p:bldP spid="64615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A7D0B86-89E3-4CF3-9B2D-B012992F9B50}"/>
              </a:ext>
            </a:extLst>
          </p:cNvPr>
          <p:cNvPicPr>
            <a:picLocks noChangeAspect="1"/>
          </p:cNvPicPr>
          <p:nvPr/>
        </p:nvPicPr>
        <p:blipFill>
          <a:blip r:embed="rId2"/>
          <a:stretch>
            <a:fillRect/>
          </a:stretch>
        </p:blipFill>
        <p:spPr>
          <a:xfrm>
            <a:off x="1487488" y="389888"/>
            <a:ext cx="3900265" cy="2666848"/>
          </a:xfrm>
          <a:prstGeom prst="rect">
            <a:avLst/>
          </a:prstGeom>
        </p:spPr>
      </p:pic>
      <p:pic>
        <p:nvPicPr>
          <p:cNvPr id="3" name="图片 2">
            <a:extLst>
              <a:ext uri="{FF2B5EF4-FFF2-40B4-BE49-F238E27FC236}">
                <a16:creationId xmlns:a16="http://schemas.microsoft.com/office/drawing/2014/main" id="{8B1D7A0B-8F6D-4930-9B37-7A06BB8B451B}"/>
              </a:ext>
            </a:extLst>
          </p:cNvPr>
          <p:cNvPicPr>
            <a:picLocks noChangeAspect="1"/>
          </p:cNvPicPr>
          <p:nvPr/>
        </p:nvPicPr>
        <p:blipFill>
          <a:blip r:embed="rId3"/>
          <a:stretch>
            <a:fillRect/>
          </a:stretch>
        </p:blipFill>
        <p:spPr>
          <a:xfrm>
            <a:off x="6758213" y="391293"/>
            <a:ext cx="3900265" cy="2671091"/>
          </a:xfrm>
          <a:prstGeom prst="rect">
            <a:avLst/>
          </a:prstGeom>
        </p:spPr>
      </p:pic>
      <p:pic>
        <p:nvPicPr>
          <p:cNvPr id="4" name="图片 3">
            <a:extLst>
              <a:ext uri="{FF2B5EF4-FFF2-40B4-BE49-F238E27FC236}">
                <a16:creationId xmlns:a16="http://schemas.microsoft.com/office/drawing/2014/main" id="{E3D17148-EDB2-4F26-8495-1A9ADF303B2F}"/>
              </a:ext>
            </a:extLst>
          </p:cNvPr>
          <p:cNvPicPr>
            <a:picLocks noChangeAspect="1"/>
          </p:cNvPicPr>
          <p:nvPr/>
        </p:nvPicPr>
        <p:blipFill>
          <a:blip r:embed="rId4"/>
          <a:stretch>
            <a:fillRect/>
          </a:stretch>
        </p:blipFill>
        <p:spPr>
          <a:xfrm>
            <a:off x="1494342" y="4237363"/>
            <a:ext cx="3953587" cy="1833027"/>
          </a:xfrm>
          <a:prstGeom prst="rect">
            <a:avLst/>
          </a:prstGeom>
        </p:spPr>
      </p:pic>
      <p:sp>
        <p:nvSpPr>
          <p:cNvPr id="7" name="文本框 6">
            <a:extLst>
              <a:ext uri="{FF2B5EF4-FFF2-40B4-BE49-F238E27FC236}">
                <a16:creationId xmlns:a16="http://schemas.microsoft.com/office/drawing/2014/main" id="{96A6850A-C080-4721-B99A-A0FE3E198678}"/>
              </a:ext>
            </a:extLst>
          </p:cNvPr>
          <p:cNvSpPr txBox="1"/>
          <p:nvPr/>
        </p:nvSpPr>
        <p:spPr>
          <a:xfrm>
            <a:off x="1415480" y="3151420"/>
            <a:ext cx="4198227" cy="830997"/>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镰状细胞性状的分布，以粉红色和紫色显示。 </a:t>
            </a:r>
          </a:p>
        </p:txBody>
      </p:sp>
      <p:sp>
        <p:nvSpPr>
          <p:cNvPr id="9" name="文本框 8">
            <a:extLst>
              <a:ext uri="{FF2B5EF4-FFF2-40B4-BE49-F238E27FC236}">
                <a16:creationId xmlns:a16="http://schemas.microsoft.com/office/drawing/2014/main" id="{92CFAE23-11C9-4F55-8B35-1EB8D333B421}"/>
              </a:ext>
            </a:extLst>
          </p:cNvPr>
          <p:cNvSpPr txBox="1"/>
          <p:nvPr/>
        </p:nvSpPr>
        <p:spPr>
          <a:xfrm>
            <a:off x="6801803" y="3151420"/>
            <a:ext cx="3813084" cy="830997"/>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疟疾（</a:t>
            </a:r>
            <a:r>
              <a:rPr lang="en-US" altLang="zh-CN" sz="2400" dirty="0">
                <a:latin typeface="微软雅黑" panose="020B0503020204020204" pitchFamily="34" charset="-122"/>
                <a:ea typeface="微软雅黑" panose="020B0503020204020204" pitchFamily="34" charset="-122"/>
              </a:rPr>
              <a:t>malaria</a:t>
            </a:r>
            <a:r>
              <a:rPr lang="zh-CN" altLang="en-US" sz="2400" dirty="0">
                <a:latin typeface="微软雅黑" panose="020B0503020204020204" pitchFamily="34" charset="-122"/>
                <a:ea typeface="微软雅黑" panose="020B0503020204020204" pitchFamily="34" charset="-122"/>
              </a:rPr>
              <a:t>）的历史分布，以绿色显示。</a:t>
            </a:r>
          </a:p>
        </p:txBody>
      </p:sp>
      <p:sp>
        <p:nvSpPr>
          <p:cNvPr id="11" name="文本框 10">
            <a:extLst>
              <a:ext uri="{FF2B5EF4-FFF2-40B4-BE49-F238E27FC236}">
                <a16:creationId xmlns:a16="http://schemas.microsoft.com/office/drawing/2014/main" id="{73624941-D3FD-43D1-9C66-DCCA6BDB3FF0}"/>
              </a:ext>
            </a:extLst>
          </p:cNvPr>
          <p:cNvSpPr txBox="1"/>
          <p:nvPr/>
        </p:nvSpPr>
        <p:spPr>
          <a:xfrm>
            <a:off x="1751249" y="6094503"/>
            <a:ext cx="3071395" cy="461665"/>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疟疾的现代分布</a:t>
            </a:r>
          </a:p>
        </p:txBody>
      </p:sp>
      <p:sp>
        <p:nvSpPr>
          <p:cNvPr id="13" name="文本框 12">
            <a:extLst>
              <a:ext uri="{FF2B5EF4-FFF2-40B4-BE49-F238E27FC236}">
                <a16:creationId xmlns:a16="http://schemas.microsoft.com/office/drawing/2014/main" id="{D89BDC0F-0182-4360-8BC4-CE255BBF119C}"/>
              </a:ext>
            </a:extLst>
          </p:cNvPr>
          <p:cNvSpPr txBox="1"/>
          <p:nvPr/>
        </p:nvSpPr>
        <p:spPr>
          <a:xfrm>
            <a:off x="6096000" y="4247844"/>
            <a:ext cx="4822987" cy="2308324"/>
          </a:xfrm>
          <a:prstGeom prst="rect">
            <a:avLst/>
          </a:prstGeom>
          <a:noFill/>
        </p:spPr>
        <p:txBody>
          <a:bodyPr wrap="square">
            <a:spAutoFit/>
          </a:bodyPr>
          <a:lstStyle/>
          <a:p>
            <a:r>
              <a:rPr lang="zh-CN" altLang="en-US" sz="2800" dirty="0">
                <a:solidFill>
                  <a:srgbClr val="0000CC"/>
                </a:solidFill>
                <a:latin typeface="微软雅黑" panose="020B0503020204020204" pitchFamily="34" charset="-122"/>
                <a:ea typeface="微软雅黑" panose="020B0503020204020204" pitchFamily="34" charset="-122"/>
              </a:rPr>
              <a:t>镰形贫血对抵抗疟疾有优势</a:t>
            </a:r>
            <a:endParaRPr lang="en-US" altLang="zh-CN" sz="2800" dirty="0">
              <a:solidFill>
                <a:srgbClr val="0000CC"/>
              </a:solidFill>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疟原虫的生活周期中，有一段期间是在人的红细胞内，镰刀形红细胞不利于其有效增殖， 因此，在疟疾流行区，</a:t>
            </a:r>
            <a:r>
              <a:rPr lang="zh-CN" altLang="en-US" sz="2000" dirty="0">
                <a:solidFill>
                  <a:srgbClr val="FF0000"/>
                </a:solidFill>
                <a:latin typeface="微软雅黑" panose="020B0503020204020204" pitchFamily="34" charset="-122"/>
                <a:ea typeface="微软雅黑" panose="020B0503020204020204" pitchFamily="34" charset="-122"/>
              </a:rPr>
              <a:t>杂合子镰形贫血患者相对不易得疟疾</a:t>
            </a:r>
            <a:r>
              <a:rPr lang="zh-CN" altLang="en-US" sz="2000" dirty="0">
                <a:latin typeface="微软雅黑" panose="020B0503020204020204" pitchFamily="34" charset="-122"/>
                <a:ea typeface="微软雅黑" panose="020B0503020204020204" pitchFamily="34" charset="-122"/>
              </a:rPr>
              <a:t>，有更高的生存率，从而保留下镰形贫血的基因。 </a:t>
            </a:r>
          </a:p>
        </p:txBody>
      </p:sp>
    </p:spTree>
    <p:extLst>
      <p:ext uri="{BB962C8B-B14F-4D97-AF65-F5344CB8AC3E}">
        <p14:creationId xmlns:p14="http://schemas.microsoft.com/office/powerpoint/2010/main" val="2738083836"/>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99BF14F3-BBE3-499E-9938-626BAECEF11D}"/>
              </a:ext>
            </a:extLst>
          </p:cNvPr>
          <p:cNvSpPr>
            <a:spLocks noGrp="1" noChangeArrowheads="1"/>
          </p:cNvSpPr>
          <p:nvPr>
            <p:ph type="title"/>
          </p:nvPr>
        </p:nvSpPr>
        <p:spPr>
          <a:xfrm>
            <a:off x="2208213" y="115888"/>
            <a:ext cx="6985000" cy="563562"/>
          </a:xfrm>
        </p:spPr>
        <p:txBody>
          <a:bodyPr/>
          <a:lstStyle/>
          <a:p>
            <a:r>
              <a:rPr lang="zh-CN" altLang="en-US"/>
              <a:t>病例讨论</a:t>
            </a:r>
          </a:p>
        </p:txBody>
      </p:sp>
      <p:sp>
        <p:nvSpPr>
          <p:cNvPr id="3" name="内容占位符 2">
            <a:extLst>
              <a:ext uri="{FF2B5EF4-FFF2-40B4-BE49-F238E27FC236}">
                <a16:creationId xmlns:a16="http://schemas.microsoft.com/office/drawing/2014/main" id="{457562E3-6199-4C50-B483-2DE9F6C706E0}"/>
              </a:ext>
            </a:extLst>
          </p:cNvPr>
          <p:cNvSpPr>
            <a:spLocks noGrp="1"/>
          </p:cNvSpPr>
          <p:nvPr>
            <p:ph idx="1"/>
          </p:nvPr>
        </p:nvSpPr>
        <p:spPr>
          <a:xfrm>
            <a:off x="983432" y="1196752"/>
            <a:ext cx="10009112" cy="5189537"/>
          </a:xfrm>
        </p:spPr>
        <p:txBody>
          <a:bodyPr/>
          <a:lstStyle/>
          <a:p>
            <a:pPr>
              <a:defRPr/>
            </a:pPr>
            <a:r>
              <a:rPr lang="zh-CN" altLang="en-US" sz="2400" dirty="0">
                <a:solidFill>
                  <a:schemeClr val="tx1">
                    <a:lumMod val="60000"/>
                    <a:lumOff val="40000"/>
                  </a:schemeClr>
                </a:solidFill>
              </a:rPr>
              <a:t>一位</a:t>
            </a:r>
            <a:r>
              <a:rPr lang="en-US" altLang="zh-CN" sz="2400" dirty="0">
                <a:solidFill>
                  <a:schemeClr val="tx1">
                    <a:lumMod val="60000"/>
                    <a:lumOff val="40000"/>
                  </a:schemeClr>
                </a:solidFill>
              </a:rPr>
              <a:t>15</a:t>
            </a:r>
            <a:r>
              <a:rPr lang="zh-CN" altLang="en-US" sz="2400" dirty="0">
                <a:solidFill>
                  <a:schemeClr val="tx1">
                    <a:lumMod val="60000"/>
                    <a:lumOff val="40000"/>
                  </a:schemeClr>
                </a:solidFill>
              </a:rPr>
              <a:t>岁的美籍非洲妇女</a:t>
            </a:r>
            <a:r>
              <a:rPr lang="zh-CN" altLang="en-US" sz="2400" dirty="0">
                <a:solidFill>
                  <a:srgbClr val="000000"/>
                </a:solidFill>
              </a:rPr>
              <a:t>到急诊室就诊，主诉</a:t>
            </a:r>
            <a:r>
              <a:rPr lang="zh-CN" altLang="en-US" sz="2400" b="1" dirty="0">
                <a:solidFill>
                  <a:srgbClr val="003399"/>
                </a:solidFill>
              </a:rPr>
              <a:t>双侧大腿和臀部疼痛一天</a:t>
            </a:r>
            <a:r>
              <a:rPr lang="zh-CN" altLang="en-US" sz="2400" dirty="0">
                <a:solidFill>
                  <a:srgbClr val="000000"/>
                </a:solidFill>
              </a:rPr>
              <a:t>，并且不断加重，服用</a:t>
            </a:r>
            <a:r>
              <a:rPr lang="zh-CN" altLang="en-US" sz="2400" b="1" dirty="0">
                <a:solidFill>
                  <a:srgbClr val="003399"/>
                </a:solidFill>
              </a:rPr>
              <a:t>布洛芬不能解除其疼痛症状</a:t>
            </a:r>
            <a:r>
              <a:rPr lang="zh-CN" altLang="en-US" sz="2400" dirty="0">
                <a:solidFill>
                  <a:srgbClr val="000000"/>
                </a:solidFill>
              </a:rPr>
              <a:t>。患者否认最近有外伤和剧烈运动史。但他最近</a:t>
            </a:r>
            <a:r>
              <a:rPr lang="zh-CN" altLang="en-US" sz="2400" dirty="0">
                <a:solidFill>
                  <a:schemeClr val="tx1">
                    <a:lumMod val="60000"/>
                    <a:lumOff val="40000"/>
                  </a:schemeClr>
                </a:solidFill>
              </a:rPr>
              <a:t>感觉疲劳和小便时尿道经常有灼烧感</a:t>
            </a:r>
            <a:r>
              <a:rPr lang="zh-CN" altLang="en-US" sz="2400" dirty="0">
                <a:solidFill>
                  <a:srgbClr val="000000"/>
                </a:solidFill>
              </a:rPr>
              <a:t>。患者既往有症状，有时需要住院。检查发现，体温正常，没有急性疼痛。其家族其他成员没有类似的表现。患者</a:t>
            </a:r>
            <a:r>
              <a:rPr lang="zh-CN" altLang="en-US" sz="2400" dirty="0">
                <a:solidFill>
                  <a:schemeClr val="tx1">
                    <a:lumMod val="60000"/>
                    <a:lumOff val="40000"/>
                  </a:schemeClr>
                </a:solidFill>
              </a:rPr>
              <a:t>结膜和口腔稍微苍白，双侧大腿外观正常，但有非特异性的大腿前部疼痛，其他体征正常</a:t>
            </a:r>
            <a:r>
              <a:rPr lang="zh-CN" altLang="en-US" sz="2400" dirty="0">
                <a:solidFill>
                  <a:srgbClr val="000000"/>
                </a:solidFill>
              </a:rPr>
              <a:t>。患者的</a:t>
            </a:r>
            <a:r>
              <a:rPr lang="zh-CN" altLang="en-US" sz="2400" dirty="0">
                <a:solidFill>
                  <a:schemeClr val="tx1">
                    <a:lumMod val="60000"/>
                    <a:lumOff val="40000"/>
                  </a:schemeClr>
                </a:solidFill>
              </a:rPr>
              <a:t>白细胞计数升高，为</a:t>
            </a:r>
            <a:r>
              <a:rPr lang="en-US" altLang="zh-CN" sz="2400" dirty="0">
                <a:solidFill>
                  <a:schemeClr val="tx1">
                    <a:lumMod val="60000"/>
                    <a:lumOff val="40000"/>
                  </a:schemeClr>
                </a:solidFill>
              </a:rPr>
              <a:t>17,000/mm</a:t>
            </a:r>
            <a:r>
              <a:rPr lang="en-US" altLang="zh-CN" sz="2400" baseline="30000" dirty="0">
                <a:solidFill>
                  <a:schemeClr val="tx1">
                    <a:lumMod val="60000"/>
                    <a:lumOff val="40000"/>
                  </a:schemeClr>
                </a:solidFill>
              </a:rPr>
              <a:t>3</a:t>
            </a:r>
            <a:r>
              <a:rPr lang="zh-CN" altLang="en-US" sz="2400" dirty="0">
                <a:solidFill>
                  <a:srgbClr val="000000"/>
                </a:solidFill>
              </a:rPr>
              <a:t>，而其</a:t>
            </a:r>
            <a:r>
              <a:rPr lang="zh-CN" altLang="en-US" sz="2400" dirty="0">
                <a:solidFill>
                  <a:schemeClr val="tx1">
                    <a:lumMod val="60000"/>
                    <a:lumOff val="40000"/>
                  </a:schemeClr>
                </a:solidFill>
              </a:rPr>
              <a:t>血红蛋白含量低，为</a:t>
            </a:r>
            <a:r>
              <a:rPr lang="en-US" altLang="zh-CN" sz="2400" dirty="0">
                <a:solidFill>
                  <a:schemeClr val="tx1">
                    <a:lumMod val="60000"/>
                    <a:lumOff val="40000"/>
                  </a:schemeClr>
                </a:solidFill>
              </a:rPr>
              <a:t>71/L</a:t>
            </a:r>
            <a:r>
              <a:rPr lang="zh-CN" altLang="en-US" sz="2400" dirty="0">
                <a:solidFill>
                  <a:srgbClr val="000000"/>
                </a:solidFill>
              </a:rPr>
              <a:t>。</a:t>
            </a:r>
            <a:r>
              <a:rPr lang="zh-CN" altLang="en-US" sz="2400" dirty="0">
                <a:solidFill>
                  <a:schemeClr val="tx1">
                    <a:lumMod val="60000"/>
                    <a:lumOff val="40000"/>
                  </a:schemeClr>
                </a:solidFill>
              </a:rPr>
              <a:t>尿液分析显示有大量的白细胞</a:t>
            </a:r>
            <a:r>
              <a:rPr lang="zh-CN" altLang="en-US" sz="2400" dirty="0">
                <a:solidFill>
                  <a:srgbClr val="000000"/>
                </a:solidFill>
              </a:rPr>
              <a:t>。</a:t>
            </a:r>
            <a:endParaRPr lang="en-US" altLang="zh-CN" sz="2400" dirty="0">
              <a:solidFill>
                <a:srgbClr val="000000"/>
              </a:solidFill>
            </a:endParaRPr>
          </a:p>
          <a:p>
            <a:pPr>
              <a:defRPr/>
            </a:pPr>
            <a:endParaRPr lang="zh-CN" altLang="en-US" sz="2400" dirty="0">
              <a:solidFill>
                <a:srgbClr val="000000"/>
              </a:solidFill>
            </a:endParaRPr>
          </a:p>
          <a:p>
            <a:pPr>
              <a:defRPr/>
            </a:pPr>
            <a:r>
              <a:rPr lang="zh-CN" altLang="en-US" sz="2400" dirty="0">
                <a:solidFill>
                  <a:srgbClr val="000000"/>
                </a:solidFill>
              </a:rPr>
              <a:t>问题讨论：</a:t>
            </a:r>
          </a:p>
          <a:p>
            <a:pPr marL="363538" indent="0">
              <a:buNone/>
              <a:defRPr/>
            </a:pPr>
            <a:r>
              <a:rPr lang="en-US" altLang="zh-CN" sz="2400" dirty="0">
                <a:solidFill>
                  <a:srgbClr val="000000"/>
                </a:solidFill>
              </a:rPr>
              <a:t>1. </a:t>
            </a:r>
            <a:r>
              <a:rPr lang="zh-CN" altLang="en-US" sz="2400" dirty="0">
                <a:solidFill>
                  <a:srgbClr val="000000"/>
                </a:solidFill>
              </a:rPr>
              <a:t>病人有可能是何种疾病？</a:t>
            </a:r>
          </a:p>
          <a:p>
            <a:pPr marL="363538" indent="0">
              <a:buNone/>
              <a:defRPr/>
            </a:pPr>
            <a:r>
              <a:rPr lang="en-US" altLang="zh-CN" sz="2400" dirty="0">
                <a:solidFill>
                  <a:srgbClr val="000000"/>
                </a:solidFill>
              </a:rPr>
              <a:t>2. </a:t>
            </a:r>
            <a:r>
              <a:rPr lang="zh-CN" altLang="en-US" sz="2400" dirty="0">
                <a:solidFill>
                  <a:srgbClr val="000000"/>
                </a:solidFill>
              </a:rPr>
              <a:t>该病的发病机制是什么？</a:t>
            </a:r>
          </a:p>
          <a:p>
            <a:pPr>
              <a:defRPr/>
            </a:pPr>
            <a:endParaRPr lang="zh-CN" altLang="en-US" sz="2400" dirty="0">
              <a:solidFill>
                <a:srgbClr val="000000"/>
              </a:solidFill>
            </a:endParaRPr>
          </a:p>
        </p:txBody>
      </p:sp>
    </p:spTree>
  </p:cSld>
  <p:clrMapOvr>
    <a:masterClrMapping/>
  </p:clrMapOvr>
  <p:transition spd="slow">
    <p:circl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3C4B00FE-36D6-4352-93BF-F051474FED67}"/>
              </a:ext>
            </a:extLst>
          </p:cNvPr>
          <p:cNvSpPr>
            <a:spLocks noChangeArrowheads="1"/>
          </p:cNvSpPr>
          <p:nvPr/>
        </p:nvSpPr>
        <p:spPr bwMode="auto">
          <a:xfrm>
            <a:off x="1847850" y="195264"/>
            <a:ext cx="6985000"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200" b="1" dirty="0">
                <a:solidFill>
                  <a:schemeClr val="bg1"/>
                </a:solidFill>
              </a:rPr>
              <a:t>三、蛋白质的功能依赖特定空间结构</a:t>
            </a:r>
          </a:p>
        </p:txBody>
      </p:sp>
      <p:sp>
        <p:nvSpPr>
          <p:cNvPr id="54276" name="Rectangle 10">
            <a:extLst>
              <a:ext uri="{FF2B5EF4-FFF2-40B4-BE49-F238E27FC236}">
                <a16:creationId xmlns:a16="http://schemas.microsoft.com/office/drawing/2014/main" id="{7B57FC99-6981-40CF-B4D1-1AAF14A6FFFA}"/>
              </a:ext>
            </a:extLst>
          </p:cNvPr>
          <p:cNvSpPr>
            <a:spLocks noChangeArrowheads="1"/>
          </p:cNvSpPr>
          <p:nvPr/>
        </p:nvSpPr>
        <p:spPr bwMode="auto">
          <a:xfrm>
            <a:off x="3123879" y="1568922"/>
            <a:ext cx="6456363" cy="4524315"/>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457200" indent="-457200" eaLnBrk="1" hangingPunct="1">
              <a:spcBef>
                <a:spcPct val="0"/>
              </a:spcBef>
              <a:buClrTx/>
              <a:buFont typeface="Wingdings" panose="05000000000000000000" pitchFamily="2" charset="2"/>
              <a:buChar char="u"/>
              <a:defRPr/>
            </a:pPr>
            <a:r>
              <a:rPr lang="zh-CN" altLang="en-US" sz="3200" b="0" dirty="0">
                <a:solidFill>
                  <a:schemeClr val="tx1"/>
                </a:solidFill>
                <a:latin typeface="Arial" panose="020B0604020202020204" pitchFamily="34" charset="0"/>
              </a:rPr>
              <a:t>构象在，功能在</a:t>
            </a:r>
          </a:p>
          <a:p>
            <a:pPr eaLnBrk="1" hangingPunct="1">
              <a:spcBef>
                <a:spcPct val="0"/>
              </a:spcBef>
              <a:buClrTx/>
              <a:buFontTx/>
              <a:buNone/>
              <a:defRPr/>
            </a:pPr>
            <a:r>
              <a:rPr lang="zh-CN" altLang="en-US" sz="3200" b="0" dirty="0">
                <a:solidFill>
                  <a:srgbClr val="C00000"/>
                </a:solidFill>
                <a:latin typeface="Arial" panose="020B0604020202020204" pitchFamily="34" charset="0"/>
              </a:rPr>
              <a:t>    </a:t>
            </a:r>
            <a:r>
              <a:rPr lang="zh-CN" altLang="en-US" sz="3200" b="0" dirty="0">
                <a:solidFill>
                  <a:schemeClr val="tx1"/>
                </a:solidFill>
                <a:latin typeface="Arial" panose="020B0604020202020204" pitchFamily="34" charset="0"/>
              </a:rPr>
              <a:t>例：</a:t>
            </a:r>
            <a:r>
              <a:rPr lang="zh-CN" altLang="en-US" sz="3200" b="0" dirty="0">
                <a:solidFill>
                  <a:srgbClr val="C00000"/>
                </a:solidFill>
                <a:latin typeface="Arial" panose="020B0604020202020204" pitchFamily="34" charset="0"/>
              </a:rPr>
              <a:t>牛核糖核酸酶变性复性实验</a:t>
            </a:r>
          </a:p>
          <a:p>
            <a:pPr eaLnBrk="1" hangingPunct="1">
              <a:spcBef>
                <a:spcPct val="0"/>
              </a:spcBef>
              <a:buClrTx/>
              <a:buFontTx/>
              <a:buNone/>
              <a:defRPr/>
            </a:pPr>
            <a:endParaRPr kumimoji="1" lang="zh-CN" altLang="en-US" sz="3200" b="0" dirty="0">
              <a:solidFill>
                <a:srgbClr val="0000CC"/>
              </a:solidFill>
              <a:latin typeface="Arial" panose="020B0604020202020204" pitchFamily="34" charset="0"/>
            </a:endParaRPr>
          </a:p>
          <a:p>
            <a:pPr marL="457200" indent="-457200" eaLnBrk="1" hangingPunct="1">
              <a:spcBef>
                <a:spcPct val="0"/>
              </a:spcBef>
              <a:buClrTx/>
              <a:buFont typeface="Wingdings" panose="05000000000000000000" pitchFamily="2" charset="2"/>
              <a:buChar char="u"/>
              <a:defRPr/>
            </a:pPr>
            <a:r>
              <a:rPr kumimoji="1" lang="zh-CN" altLang="en-US" sz="3200" b="0" dirty="0">
                <a:solidFill>
                  <a:schemeClr val="tx1"/>
                </a:solidFill>
                <a:latin typeface="Arial" panose="020B0604020202020204" pitchFamily="34" charset="0"/>
              </a:rPr>
              <a:t>构象改变，功能变化</a:t>
            </a:r>
          </a:p>
          <a:p>
            <a:pPr eaLnBrk="1" hangingPunct="1">
              <a:spcBef>
                <a:spcPct val="0"/>
              </a:spcBef>
              <a:buClrTx/>
              <a:buFontTx/>
              <a:buNone/>
              <a:defRPr/>
            </a:pPr>
            <a:r>
              <a:rPr kumimoji="1" lang="zh-CN" altLang="en-US" sz="3200" b="0" dirty="0">
                <a:solidFill>
                  <a:schemeClr val="tx1"/>
                </a:solidFill>
                <a:latin typeface="Arial" panose="020B0604020202020204" pitchFamily="34" charset="0"/>
              </a:rPr>
              <a:t>    例：</a:t>
            </a:r>
            <a:r>
              <a:rPr kumimoji="1" lang="zh-CN" altLang="en-US" sz="3200" b="0" dirty="0">
                <a:solidFill>
                  <a:srgbClr val="C00000"/>
                </a:solidFill>
                <a:latin typeface="Arial" panose="020B0604020202020204" pitchFamily="34" charset="0"/>
              </a:rPr>
              <a:t>血红蛋白的别构效应</a:t>
            </a:r>
          </a:p>
          <a:p>
            <a:pPr eaLnBrk="1" hangingPunct="1">
              <a:spcBef>
                <a:spcPct val="0"/>
              </a:spcBef>
              <a:buClrTx/>
              <a:buFontTx/>
              <a:buNone/>
              <a:defRPr/>
            </a:pPr>
            <a:endParaRPr kumimoji="1" lang="zh-CN" altLang="en-US" sz="3200" b="0" dirty="0">
              <a:solidFill>
                <a:srgbClr val="0000CC"/>
              </a:solidFill>
              <a:latin typeface="Arial" panose="020B0604020202020204" pitchFamily="34" charset="0"/>
            </a:endParaRPr>
          </a:p>
          <a:p>
            <a:pPr marL="457200" indent="-457200" eaLnBrk="1" hangingPunct="1">
              <a:spcBef>
                <a:spcPct val="0"/>
              </a:spcBef>
              <a:buClrTx/>
              <a:buFont typeface="Wingdings" panose="05000000000000000000" pitchFamily="2" charset="2"/>
              <a:buChar char="u"/>
              <a:defRPr/>
            </a:pPr>
            <a:r>
              <a:rPr kumimoji="1" lang="zh-CN" altLang="en-US" sz="3200" b="0" dirty="0">
                <a:solidFill>
                  <a:schemeClr val="tx1"/>
                </a:solidFill>
                <a:latin typeface="Arial" panose="020B0604020202020204" pitchFamily="34" charset="0"/>
              </a:rPr>
              <a:t>构象改变可引起疾病</a:t>
            </a:r>
            <a:endParaRPr kumimoji="1" lang="en-US" altLang="zh-CN" sz="3200" b="0" dirty="0">
              <a:solidFill>
                <a:schemeClr val="tx1"/>
              </a:solidFill>
              <a:latin typeface="Arial" panose="020B0604020202020204" pitchFamily="34" charset="0"/>
            </a:endParaRPr>
          </a:p>
          <a:p>
            <a:pPr eaLnBrk="1" hangingPunct="1">
              <a:spcBef>
                <a:spcPct val="0"/>
              </a:spcBef>
              <a:buClrTx/>
              <a:buNone/>
              <a:defRPr/>
            </a:pPr>
            <a:r>
              <a:rPr kumimoji="1" lang="zh-CN" altLang="en-US" sz="3200" b="0" dirty="0">
                <a:solidFill>
                  <a:schemeClr val="tx1"/>
                </a:solidFill>
                <a:latin typeface="Arial" panose="020B0604020202020204" pitchFamily="34" charset="0"/>
              </a:rPr>
              <a:t>    例： </a:t>
            </a:r>
            <a:r>
              <a:rPr kumimoji="1" lang="zh-CN" altLang="en-US" sz="3200" b="0" dirty="0">
                <a:solidFill>
                  <a:srgbClr val="C00000"/>
                </a:solidFill>
                <a:latin typeface="Arial" panose="020B0604020202020204" pitchFamily="34" charset="0"/>
              </a:rPr>
              <a:t>朊病毒病</a:t>
            </a:r>
            <a:r>
              <a:rPr kumimoji="1" lang="zh-CN" altLang="en-US" sz="3200" b="0" dirty="0">
                <a:solidFill>
                  <a:schemeClr val="tx1"/>
                </a:solidFill>
                <a:latin typeface="Arial" panose="020B0604020202020204" pitchFamily="34" charset="0"/>
              </a:rPr>
              <a:t>、阿尔茨海默病</a:t>
            </a:r>
            <a:endParaRPr kumimoji="1" lang="zh-CN" altLang="en-US" sz="3200" b="0" dirty="0">
              <a:solidFill>
                <a:srgbClr val="000066"/>
              </a:solidFill>
              <a:latin typeface="Arial" panose="020B0604020202020204" pitchFamily="34" charset="0"/>
            </a:endParaRPr>
          </a:p>
          <a:p>
            <a:pPr eaLnBrk="1" hangingPunct="1">
              <a:spcBef>
                <a:spcPct val="0"/>
              </a:spcBef>
              <a:buClrTx/>
              <a:buFontTx/>
              <a:buNone/>
              <a:defRPr/>
            </a:pPr>
            <a:endParaRPr kumimoji="1" lang="en-US" altLang="zh-CN" sz="3200" b="0" dirty="0">
              <a:solidFill>
                <a:srgbClr val="0000CC"/>
              </a:solidFill>
              <a:latin typeface="Arial" panose="020B0604020202020204" pitchFamily="34" charset="0"/>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4276">
                                            <p:txEl>
                                              <p:pRg st="1" end="1"/>
                                            </p:txEl>
                                          </p:spTgt>
                                        </p:tgtEl>
                                        <p:attrNameLst>
                                          <p:attrName>style.visibility</p:attrName>
                                        </p:attrNameLst>
                                      </p:cBhvr>
                                      <p:to>
                                        <p:strVal val="visible"/>
                                      </p:to>
                                    </p:set>
                                    <p:animEffect transition="in" filter="fade">
                                      <p:cBhvr>
                                        <p:cTn id="7" dur="500"/>
                                        <p:tgtEl>
                                          <p:spTgt spid="5427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4276">
                                            <p:txEl>
                                              <p:pRg st="4" end="4"/>
                                            </p:txEl>
                                          </p:spTgt>
                                        </p:tgtEl>
                                        <p:attrNameLst>
                                          <p:attrName>style.visibility</p:attrName>
                                        </p:attrNameLst>
                                      </p:cBhvr>
                                      <p:to>
                                        <p:strVal val="visible"/>
                                      </p:to>
                                    </p:set>
                                    <p:animEffect transition="in" filter="fade">
                                      <p:cBhvr>
                                        <p:cTn id="12" dur="500"/>
                                        <p:tgtEl>
                                          <p:spTgt spid="5427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427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3">
            <a:extLst>
              <a:ext uri="{FF2B5EF4-FFF2-40B4-BE49-F238E27FC236}">
                <a16:creationId xmlns:a16="http://schemas.microsoft.com/office/drawing/2014/main" id="{509493DB-52FC-4654-A914-C44295A78D90}"/>
              </a:ext>
            </a:extLst>
          </p:cNvPr>
          <p:cNvSpPr txBox="1">
            <a:spLocks noChangeArrowheads="1"/>
          </p:cNvSpPr>
          <p:nvPr/>
        </p:nvSpPr>
        <p:spPr bwMode="auto">
          <a:xfrm>
            <a:off x="983432" y="1339142"/>
            <a:ext cx="84597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kumimoji="1" lang="zh-CN" altLang="en-US" sz="3200" dirty="0">
                <a:solidFill>
                  <a:srgbClr val="006600"/>
                </a:solidFill>
              </a:rPr>
              <a:t>（一）血红蛋白亚基与肌红蛋白的结构相似</a:t>
            </a:r>
            <a:r>
              <a:rPr kumimoji="1" lang="zh-CN" altLang="en-US" sz="3200" dirty="0">
                <a:solidFill>
                  <a:srgbClr val="993366"/>
                </a:solidFill>
              </a:rPr>
              <a:t>    </a:t>
            </a:r>
          </a:p>
        </p:txBody>
      </p:sp>
      <p:sp>
        <p:nvSpPr>
          <p:cNvPr id="61443" name="Rectangle 8">
            <a:extLst>
              <a:ext uri="{FF2B5EF4-FFF2-40B4-BE49-F238E27FC236}">
                <a16:creationId xmlns:a16="http://schemas.microsoft.com/office/drawing/2014/main" id="{AC88EBDB-24E8-4272-B449-8AA6DE76E55A}"/>
              </a:ext>
            </a:extLst>
          </p:cNvPr>
          <p:cNvSpPr>
            <a:spLocks noChangeArrowheads="1"/>
          </p:cNvSpPr>
          <p:nvPr/>
        </p:nvSpPr>
        <p:spPr bwMode="auto">
          <a:xfrm>
            <a:off x="5591944" y="2456755"/>
            <a:ext cx="6192688" cy="799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buClr>
                <a:srgbClr val="0000CC"/>
              </a:buClr>
            </a:pPr>
            <a:r>
              <a:rPr lang="en-US" altLang="zh-CN" sz="3200" dirty="0">
                <a:solidFill>
                  <a:schemeClr val="tx1"/>
                </a:solidFill>
              </a:rPr>
              <a:t> </a:t>
            </a:r>
            <a:r>
              <a:rPr lang="zh-CN" altLang="en-US" sz="3200" dirty="0">
                <a:solidFill>
                  <a:schemeClr val="tx1"/>
                </a:solidFill>
              </a:rPr>
              <a:t>肌红蛋白（</a:t>
            </a:r>
            <a:r>
              <a:rPr lang="en-US" altLang="zh-CN" sz="3200" dirty="0">
                <a:solidFill>
                  <a:srgbClr val="FF0000"/>
                </a:solidFill>
              </a:rPr>
              <a:t>Mb</a:t>
            </a:r>
            <a:r>
              <a:rPr lang="zh-CN" altLang="en-US" sz="3200" dirty="0">
                <a:solidFill>
                  <a:schemeClr val="tx1"/>
                </a:solidFill>
              </a:rPr>
              <a:t>－</a:t>
            </a:r>
            <a:r>
              <a:rPr lang="en-US" altLang="zh-CN" sz="3200" dirty="0">
                <a:solidFill>
                  <a:schemeClr val="tx1"/>
                </a:solidFill>
              </a:rPr>
              <a:t>Myoglobin</a:t>
            </a:r>
            <a:r>
              <a:rPr lang="zh-CN" altLang="en-US" sz="3200" dirty="0">
                <a:solidFill>
                  <a:schemeClr val="tx1"/>
                </a:solidFill>
              </a:rPr>
              <a:t>）</a:t>
            </a:r>
          </a:p>
        </p:txBody>
      </p:sp>
      <p:sp>
        <p:nvSpPr>
          <p:cNvPr id="61444" name="Rectangle 9">
            <a:extLst>
              <a:ext uri="{FF2B5EF4-FFF2-40B4-BE49-F238E27FC236}">
                <a16:creationId xmlns:a16="http://schemas.microsoft.com/office/drawing/2014/main" id="{BD23D2E1-9E9B-4969-998D-E4D112CE90A4}"/>
              </a:ext>
            </a:extLst>
          </p:cNvPr>
          <p:cNvSpPr>
            <a:spLocks noChangeArrowheads="1"/>
          </p:cNvSpPr>
          <p:nvPr/>
        </p:nvSpPr>
        <p:spPr bwMode="auto">
          <a:xfrm>
            <a:off x="1668463" y="3351466"/>
            <a:ext cx="30956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buClr>
                <a:srgbClr val="006600"/>
              </a:buClr>
              <a:buFont typeface="Wingdings" panose="05000000000000000000" pitchFamily="2" charset="2"/>
              <a:buChar char="u"/>
            </a:pPr>
            <a:endParaRPr lang="zh-CN" altLang="en-US" dirty="0">
              <a:solidFill>
                <a:srgbClr val="0000CC"/>
              </a:solidFill>
            </a:endParaRPr>
          </a:p>
        </p:txBody>
      </p:sp>
      <p:sp>
        <p:nvSpPr>
          <p:cNvPr id="61445" name="标题 1">
            <a:extLst>
              <a:ext uri="{FF2B5EF4-FFF2-40B4-BE49-F238E27FC236}">
                <a16:creationId xmlns:a16="http://schemas.microsoft.com/office/drawing/2014/main" id="{3BAE982C-9DAD-43CE-86A1-070FE7D2959C}"/>
              </a:ext>
            </a:extLst>
          </p:cNvPr>
          <p:cNvSpPr>
            <a:spLocks noGrp="1" noChangeArrowheads="1"/>
          </p:cNvSpPr>
          <p:nvPr>
            <p:ph type="title"/>
          </p:nvPr>
        </p:nvSpPr>
        <p:spPr>
          <a:xfrm>
            <a:off x="1668463" y="534500"/>
            <a:ext cx="8820150" cy="563563"/>
          </a:xfrm>
        </p:spPr>
        <p:txBody>
          <a:bodyPr/>
          <a:lstStyle/>
          <a:p>
            <a:r>
              <a:rPr lang="zh-CN" altLang="en-US"/>
              <a:t>不同构象的血红蛋白与氧的结合能力不同</a:t>
            </a:r>
          </a:p>
        </p:txBody>
      </p:sp>
      <p:sp>
        <p:nvSpPr>
          <p:cNvPr id="2" name="Rectangle 3">
            <a:extLst>
              <a:ext uri="{FF2B5EF4-FFF2-40B4-BE49-F238E27FC236}">
                <a16:creationId xmlns:a16="http://schemas.microsoft.com/office/drawing/2014/main" id="{514B321F-087F-95F8-D988-D31FFE707307}"/>
              </a:ext>
            </a:extLst>
          </p:cNvPr>
          <p:cNvSpPr txBox="1">
            <a:spLocks noChangeArrowheads="1"/>
          </p:cNvSpPr>
          <p:nvPr/>
        </p:nvSpPr>
        <p:spPr bwMode="auto">
          <a:xfrm>
            <a:off x="5807968" y="3357463"/>
            <a:ext cx="5435598"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0">
                <a:solidFill>
                  <a:srgbClr val="00004D"/>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rgbClr val="00004D"/>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rgbClr val="00004D"/>
                </a:solidFill>
                <a:latin typeface="+mn-lt"/>
                <a:ea typeface="+mn-ea"/>
              </a:defRPr>
            </a:lvl3pPr>
            <a:lvl4pPr marL="1600200" indent="-228600" algn="l" rtl="0" eaLnBrk="0" fontAlgn="base" hangingPunct="0">
              <a:spcBef>
                <a:spcPct val="20000"/>
              </a:spcBef>
              <a:spcAft>
                <a:spcPct val="0"/>
              </a:spcAft>
              <a:buChar char="–"/>
              <a:defRPr sz="2000">
                <a:solidFill>
                  <a:srgbClr val="00004D"/>
                </a:solidFill>
                <a:latin typeface="+mn-lt"/>
                <a:ea typeface="+mn-ea"/>
              </a:defRPr>
            </a:lvl4pPr>
            <a:lvl5pPr marL="2057400" indent="-228600" algn="l" rtl="0" eaLnBrk="0" fontAlgn="base" hangingPunct="0">
              <a:spcBef>
                <a:spcPct val="20000"/>
              </a:spcBef>
              <a:spcAft>
                <a:spcPct val="0"/>
              </a:spcAft>
              <a:buChar char="»"/>
              <a:defRPr sz="2000">
                <a:solidFill>
                  <a:srgbClr val="00004D"/>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lnSpc>
                <a:spcPct val="165000"/>
              </a:lnSpc>
              <a:buClr>
                <a:srgbClr val="006600"/>
              </a:buClr>
            </a:pPr>
            <a:r>
              <a:rPr lang="en-US" altLang="zh-CN" kern="0" dirty="0">
                <a:solidFill>
                  <a:schemeClr val="tx1"/>
                </a:solidFill>
              </a:rPr>
              <a:t>1</a:t>
            </a:r>
            <a:r>
              <a:rPr lang="zh-CN" altLang="en-US" kern="0" dirty="0">
                <a:solidFill>
                  <a:schemeClr val="tx1"/>
                </a:solidFill>
              </a:rPr>
              <a:t>条多肽链（</a:t>
            </a:r>
            <a:r>
              <a:rPr lang="en-US" altLang="zh-CN" kern="0" dirty="0">
                <a:solidFill>
                  <a:schemeClr val="tx1"/>
                </a:solidFill>
              </a:rPr>
              <a:t>153</a:t>
            </a:r>
            <a:r>
              <a:rPr lang="zh-CN" altLang="en-US" kern="0" dirty="0">
                <a:solidFill>
                  <a:schemeClr val="tx1"/>
                </a:solidFill>
              </a:rPr>
              <a:t>个</a:t>
            </a:r>
            <a:r>
              <a:rPr lang="en-US" altLang="zh-CN" kern="0" dirty="0">
                <a:solidFill>
                  <a:schemeClr val="tx1"/>
                </a:solidFill>
              </a:rPr>
              <a:t>aa</a:t>
            </a:r>
            <a:r>
              <a:rPr lang="zh-CN" altLang="en-US" kern="0" dirty="0">
                <a:solidFill>
                  <a:schemeClr val="tx1"/>
                </a:solidFill>
              </a:rPr>
              <a:t>残基）</a:t>
            </a:r>
          </a:p>
          <a:p>
            <a:pPr eaLnBrk="1" hangingPunct="1">
              <a:lnSpc>
                <a:spcPct val="165000"/>
              </a:lnSpc>
              <a:buClr>
                <a:srgbClr val="006600"/>
              </a:buClr>
            </a:pPr>
            <a:r>
              <a:rPr lang="zh-CN" altLang="en-US" kern="0" dirty="0">
                <a:solidFill>
                  <a:schemeClr val="tx1"/>
                </a:solidFill>
              </a:rPr>
              <a:t>多肽链分为</a:t>
            </a:r>
            <a:r>
              <a:rPr lang="en-US" altLang="zh-CN" kern="0" dirty="0">
                <a:solidFill>
                  <a:srgbClr val="C00000"/>
                </a:solidFill>
              </a:rPr>
              <a:t>8</a:t>
            </a:r>
            <a:r>
              <a:rPr lang="zh-CN" altLang="en-US" kern="0" dirty="0">
                <a:solidFill>
                  <a:srgbClr val="C00000"/>
                </a:solidFill>
              </a:rPr>
              <a:t>个</a:t>
            </a:r>
            <a:r>
              <a:rPr lang="el-GR" altLang="zh-CN" kern="0" dirty="0">
                <a:solidFill>
                  <a:srgbClr val="C00000"/>
                </a:solidFill>
              </a:rPr>
              <a:t>α</a:t>
            </a:r>
            <a:r>
              <a:rPr lang="en-US" altLang="zh-CN" kern="0" dirty="0">
                <a:solidFill>
                  <a:srgbClr val="C00000"/>
                </a:solidFill>
              </a:rPr>
              <a:t>-</a:t>
            </a:r>
            <a:r>
              <a:rPr lang="zh-CN" altLang="en-US" kern="0" dirty="0">
                <a:solidFill>
                  <a:srgbClr val="C00000"/>
                </a:solidFill>
              </a:rPr>
              <a:t>螺旋区</a:t>
            </a:r>
            <a:r>
              <a:rPr lang="zh-CN" altLang="en-US" kern="0" dirty="0">
                <a:solidFill>
                  <a:schemeClr val="tx1"/>
                </a:solidFill>
              </a:rPr>
              <a:t>：</a:t>
            </a:r>
            <a:r>
              <a:rPr lang="en-US" altLang="zh-CN" kern="0" dirty="0">
                <a:solidFill>
                  <a:schemeClr val="tx1"/>
                </a:solidFill>
              </a:rPr>
              <a:t>A~H</a:t>
            </a:r>
          </a:p>
          <a:p>
            <a:pPr eaLnBrk="1" hangingPunct="1">
              <a:lnSpc>
                <a:spcPct val="165000"/>
              </a:lnSpc>
              <a:buClr>
                <a:srgbClr val="006600"/>
              </a:buClr>
            </a:pPr>
            <a:r>
              <a:rPr lang="zh-CN" altLang="en-US" kern="0" dirty="0">
                <a:solidFill>
                  <a:schemeClr val="tx1"/>
                </a:solidFill>
              </a:rPr>
              <a:t>结构：呈</a:t>
            </a:r>
            <a:r>
              <a:rPr lang="zh-CN" altLang="en-US" kern="0" dirty="0">
                <a:solidFill>
                  <a:srgbClr val="C00000"/>
                </a:solidFill>
              </a:rPr>
              <a:t>紧密球形</a:t>
            </a:r>
            <a:r>
              <a:rPr lang="zh-CN" altLang="en-US" kern="0" dirty="0">
                <a:solidFill>
                  <a:schemeClr val="tx1"/>
                </a:solidFill>
              </a:rPr>
              <a:t>，水溶性好</a:t>
            </a:r>
          </a:p>
        </p:txBody>
      </p:sp>
      <p:pic>
        <p:nvPicPr>
          <p:cNvPr id="3" name="Picture 4" descr="MB">
            <a:extLst>
              <a:ext uri="{FF2B5EF4-FFF2-40B4-BE49-F238E27FC236}">
                <a16:creationId xmlns:a16="http://schemas.microsoft.com/office/drawing/2014/main" id="{2AA6BD60-2E81-574F-2549-EF3559A02F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7662" y="2393597"/>
            <a:ext cx="3398218" cy="3627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028">
            <a:extLst>
              <a:ext uri="{FF2B5EF4-FFF2-40B4-BE49-F238E27FC236}">
                <a16:creationId xmlns:a16="http://schemas.microsoft.com/office/drawing/2014/main" id="{688CC391-878B-45EA-82FE-07B6CA9A37D8}"/>
              </a:ext>
            </a:extLst>
          </p:cNvPr>
          <p:cNvSpPr>
            <a:spLocks noChangeArrowheads="1"/>
          </p:cNvSpPr>
          <p:nvPr/>
        </p:nvSpPr>
        <p:spPr bwMode="auto">
          <a:xfrm>
            <a:off x="4733925" y="2000250"/>
            <a:ext cx="9144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01" name="Rectangle 2053">
            <a:extLst>
              <a:ext uri="{FF2B5EF4-FFF2-40B4-BE49-F238E27FC236}">
                <a16:creationId xmlns:a16="http://schemas.microsoft.com/office/drawing/2014/main" id="{4AA4A7BB-CFBA-4E2F-913A-AA38AD90CA47}"/>
              </a:ext>
            </a:extLst>
          </p:cNvPr>
          <p:cNvSpPr>
            <a:spLocks noChangeArrowheads="1"/>
          </p:cNvSpPr>
          <p:nvPr/>
        </p:nvSpPr>
        <p:spPr bwMode="auto">
          <a:xfrm>
            <a:off x="1343472" y="1657251"/>
            <a:ext cx="4824413" cy="3629968"/>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30000"/>
              </a:spcBef>
              <a:buClrTx/>
              <a:buFontTx/>
              <a:buNone/>
              <a:defRPr/>
            </a:pPr>
            <a:r>
              <a:rPr kumimoji="1" lang="en-US" altLang="zh-CN" b="0" dirty="0">
                <a:solidFill>
                  <a:schemeClr val="tx1"/>
                </a:solidFill>
              </a:rPr>
              <a:t>  Fe </a:t>
            </a:r>
            <a:r>
              <a:rPr kumimoji="1" lang="en-US" altLang="zh-CN" b="0" baseline="30000" dirty="0">
                <a:solidFill>
                  <a:schemeClr val="tx1"/>
                </a:solidFill>
              </a:rPr>
              <a:t>2+</a:t>
            </a:r>
            <a:r>
              <a:rPr kumimoji="1" lang="zh-CN" altLang="en-US" b="0" dirty="0">
                <a:solidFill>
                  <a:schemeClr val="tx1"/>
                </a:solidFill>
              </a:rPr>
              <a:t>有</a:t>
            </a:r>
            <a:r>
              <a:rPr kumimoji="1" lang="zh-CN" altLang="en-US" b="0" dirty="0">
                <a:solidFill>
                  <a:srgbClr val="FF0000"/>
                </a:solidFill>
              </a:rPr>
              <a:t>六个</a:t>
            </a:r>
            <a:r>
              <a:rPr kumimoji="1" lang="zh-CN" altLang="en-US" b="0" dirty="0">
                <a:solidFill>
                  <a:schemeClr val="tx1"/>
                </a:solidFill>
              </a:rPr>
              <a:t>配位键：</a:t>
            </a:r>
          </a:p>
          <a:p>
            <a:pPr eaLnBrk="1" hangingPunct="1">
              <a:lnSpc>
                <a:spcPct val="150000"/>
              </a:lnSpc>
              <a:spcBef>
                <a:spcPct val="30000"/>
              </a:spcBef>
              <a:buClr>
                <a:srgbClr val="006600"/>
              </a:buClr>
              <a:buFont typeface="Wingdings" panose="05000000000000000000" pitchFamily="2" charset="2"/>
              <a:buChar char="u"/>
              <a:defRPr/>
            </a:pPr>
            <a:r>
              <a:rPr kumimoji="1" lang="en-US" altLang="zh-CN" b="0" dirty="0">
                <a:solidFill>
                  <a:schemeClr val="tx1"/>
                </a:solidFill>
              </a:rPr>
              <a:t>4</a:t>
            </a:r>
            <a:r>
              <a:rPr kumimoji="1" lang="zh-CN" altLang="en-US" b="0" dirty="0">
                <a:solidFill>
                  <a:schemeClr val="tx1"/>
                </a:solidFill>
              </a:rPr>
              <a:t>个与吡咯环上的</a:t>
            </a:r>
            <a:r>
              <a:rPr kumimoji="1" lang="en-US" altLang="zh-CN" b="0" dirty="0">
                <a:solidFill>
                  <a:schemeClr val="tx1"/>
                </a:solidFill>
              </a:rPr>
              <a:t>N</a:t>
            </a:r>
            <a:r>
              <a:rPr kumimoji="1" lang="zh-CN" altLang="en-US" b="0" dirty="0">
                <a:solidFill>
                  <a:schemeClr val="tx1"/>
                </a:solidFill>
              </a:rPr>
              <a:t>相连；</a:t>
            </a:r>
          </a:p>
          <a:p>
            <a:pPr marL="358775" indent="-358775" eaLnBrk="1" hangingPunct="1">
              <a:lnSpc>
                <a:spcPct val="150000"/>
              </a:lnSpc>
              <a:spcBef>
                <a:spcPct val="30000"/>
              </a:spcBef>
              <a:buClr>
                <a:srgbClr val="006600"/>
              </a:buClr>
              <a:buFont typeface="Wingdings" panose="05000000000000000000" pitchFamily="2" charset="2"/>
              <a:buChar char="u"/>
              <a:defRPr/>
            </a:pPr>
            <a:r>
              <a:rPr kumimoji="1" lang="en-US" altLang="zh-CN" b="0" dirty="0">
                <a:solidFill>
                  <a:schemeClr val="tx1"/>
                </a:solidFill>
              </a:rPr>
              <a:t>1</a:t>
            </a:r>
            <a:r>
              <a:rPr kumimoji="1" lang="zh-CN" altLang="en-US" b="0" dirty="0">
                <a:solidFill>
                  <a:schemeClr val="tx1"/>
                </a:solidFill>
              </a:rPr>
              <a:t>个与</a:t>
            </a:r>
            <a:r>
              <a:rPr kumimoji="1" lang="en-US" altLang="zh-CN" b="0" dirty="0">
                <a:solidFill>
                  <a:schemeClr val="tx1"/>
                </a:solidFill>
              </a:rPr>
              <a:t>F</a:t>
            </a:r>
            <a:r>
              <a:rPr kumimoji="1" lang="zh-CN" altLang="en-US" b="0" dirty="0">
                <a:solidFill>
                  <a:schemeClr val="tx1"/>
                </a:solidFill>
              </a:rPr>
              <a:t>螺旋段</a:t>
            </a:r>
            <a:r>
              <a:rPr kumimoji="1" lang="en-US" altLang="zh-CN" b="0" dirty="0">
                <a:solidFill>
                  <a:schemeClr val="tx1"/>
                </a:solidFill>
              </a:rPr>
              <a:t>His</a:t>
            </a:r>
            <a:r>
              <a:rPr kumimoji="1" lang="zh-CN" altLang="en-US" b="0" dirty="0">
                <a:solidFill>
                  <a:schemeClr val="tx1"/>
                </a:solidFill>
              </a:rPr>
              <a:t>的咪唑基相连；</a:t>
            </a:r>
          </a:p>
          <a:p>
            <a:pPr eaLnBrk="1" hangingPunct="1">
              <a:lnSpc>
                <a:spcPct val="150000"/>
              </a:lnSpc>
              <a:spcBef>
                <a:spcPct val="30000"/>
              </a:spcBef>
              <a:buClr>
                <a:srgbClr val="006600"/>
              </a:buClr>
              <a:buFont typeface="Wingdings" panose="05000000000000000000" pitchFamily="2" charset="2"/>
              <a:buChar char="u"/>
              <a:defRPr/>
            </a:pPr>
            <a:r>
              <a:rPr kumimoji="1" lang="en-US" altLang="zh-CN" b="0" dirty="0">
                <a:solidFill>
                  <a:srgbClr val="FF0000"/>
                </a:solidFill>
              </a:rPr>
              <a:t>1</a:t>
            </a:r>
            <a:r>
              <a:rPr kumimoji="1" lang="zh-CN" altLang="en-US" b="0" dirty="0">
                <a:solidFill>
                  <a:srgbClr val="FF0000"/>
                </a:solidFill>
              </a:rPr>
              <a:t>个与一分子</a:t>
            </a:r>
            <a:r>
              <a:rPr kumimoji="1" lang="en-US" altLang="zh-CN" b="0" dirty="0">
                <a:solidFill>
                  <a:srgbClr val="FF0000"/>
                </a:solidFill>
              </a:rPr>
              <a:t>O</a:t>
            </a:r>
            <a:r>
              <a:rPr kumimoji="1" lang="en-US" altLang="zh-CN" b="0" baseline="-25000" dirty="0">
                <a:solidFill>
                  <a:srgbClr val="FF0000"/>
                </a:solidFill>
              </a:rPr>
              <a:t>2</a:t>
            </a:r>
            <a:r>
              <a:rPr kumimoji="1" lang="zh-CN" altLang="en-US" b="0" dirty="0">
                <a:solidFill>
                  <a:srgbClr val="FF0000"/>
                </a:solidFill>
              </a:rPr>
              <a:t>结合</a:t>
            </a:r>
          </a:p>
        </p:txBody>
      </p:sp>
      <p:pic>
        <p:nvPicPr>
          <p:cNvPr id="65540" name="图片 1">
            <a:extLst>
              <a:ext uri="{FF2B5EF4-FFF2-40B4-BE49-F238E27FC236}">
                <a16:creationId xmlns:a16="http://schemas.microsoft.com/office/drawing/2014/main" id="{55628CBA-D410-4425-8BD1-DC51503D34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88088" y="1232694"/>
            <a:ext cx="3617912"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图片 2">
            <a:extLst>
              <a:ext uri="{FF2B5EF4-FFF2-40B4-BE49-F238E27FC236}">
                <a16:creationId xmlns:a16="http://schemas.microsoft.com/office/drawing/2014/main" id="{E2408407-FFEA-4B8F-9103-488A2F67DDF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11901" y="5256213"/>
            <a:ext cx="13684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2" name="椭圆 3">
            <a:extLst>
              <a:ext uri="{FF2B5EF4-FFF2-40B4-BE49-F238E27FC236}">
                <a16:creationId xmlns:a16="http://schemas.microsoft.com/office/drawing/2014/main" id="{A0E529A7-AEFC-4D3F-A314-43E1AA77DE15}"/>
              </a:ext>
            </a:extLst>
          </p:cNvPr>
          <p:cNvSpPr>
            <a:spLocks noChangeArrowheads="1"/>
          </p:cNvSpPr>
          <p:nvPr/>
        </p:nvSpPr>
        <p:spPr bwMode="auto">
          <a:xfrm>
            <a:off x="6311901" y="6092825"/>
            <a:ext cx="360363" cy="363538"/>
          </a:xfrm>
          <a:prstGeom prst="ellipse">
            <a:avLst/>
          </a:prstGeom>
          <a:solidFill>
            <a:srgbClr val="FFFFFF"/>
          </a:solidFill>
          <a:ln w="9525" algn="ctr">
            <a:solidFill>
              <a:schemeClr val="bg1"/>
            </a:solidFill>
            <a:round/>
            <a:headEnd/>
            <a:tailEnd/>
          </a:ln>
        </p:spPr>
        <p:txBody>
          <a:bodyPr wrap="none"/>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65543" name="标题 1">
            <a:extLst>
              <a:ext uri="{FF2B5EF4-FFF2-40B4-BE49-F238E27FC236}">
                <a16:creationId xmlns:a16="http://schemas.microsoft.com/office/drawing/2014/main" id="{7C894FA8-72E1-4A25-9EB6-009D67A6CF18}"/>
              </a:ext>
            </a:extLst>
          </p:cNvPr>
          <p:cNvSpPr>
            <a:spLocks noGrp="1" noChangeArrowheads="1"/>
          </p:cNvSpPr>
          <p:nvPr>
            <p:ph type="title"/>
          </p:nvPr>
        </p:nvSpPr>
        <p:spPr>
          <a:xfrm>
            <a:off x="2122488" y="157163"/>
            <a:ext cx="6337300" cy="565150"/>
          </a:xfrm>
        </p:spPr>
        <p:txBody>
          <a:bodyPr/>
          <a:lstStyle/>
          <a:p>
            <a:pPr algn="ctr"/>
            <a:r>
              <a:rPr lang="zh-CN" altLang="en-US" sz="4000"/>
              <a:t>血红素的结构</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3301"/>
                                        </p:tgtEl>
                                        <p:attrNameLst>
                                          <p:attrName>style.visibility</p:attrName>
                                        </p:attrNameLst>
                                      </p:cBhvr>
                                      <p:to>
                                        <p:strVal val="visible"/>
                                      </p:to>
                                    </p:set>
                                    <p:animEffect transition="in" filter="fade">
                                      <p:cBhvr>
                                        <p:cTn id="7" dur="500"/>
                                        <p:tgtEl>
                                          <p:spTgt spid="183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1" grpId="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0813DB7A-8330-40A7-965C-45EF8B7E3475}"/>
              </a:ext>
            </a:extLst>
          </p:cNvPr>
          <p:cNvSpPr>
            <a:spLocks noGrp="1" noChangeArrowheads="1"/>
          </p:cNvSpPr>
          <p:nvPr>
            <p:ph type="title"/>
          </p:nvPr>
        </p:nvSpPr>
        <p:spPr>
          <a:xfrm>
            <a:off x="1828800" y="188913"/>
            <a:ext cx="6788150" cy="609600"/>
          </a:xfrm>
        </p:spPr>
        <p:txBody>
          <a:bodyPr/>
          <a:lstStyle/>
          <a:p>
            <a:pPr eaLnBrk="1" hangingPunct="1"/>
            <a:r>
              <a:rPr lang="zh-CN" altLang="en-US">
                <a:latin typeface="Times New Roman" panose="02020603050405020304" pitchFamily="18" charset="0"/>
                <a:sym typeface="Symbol" panose="05050102010706020507" pitchFamily="18" charset="2"/>
              </a:rPr>
              <a:t>血红素辅基的结构及其氧合部位</a:t>
            </a:r>
          </a:p>
        </p:txBody>
      </p:sp>
      <p:pic>
        <p:nvPicPr>
          <p:cNvPr id="605188" name="Picture 4" descr="myoglobin1">
            <a:extLst>
              <a:ext uri="{FF2B5EF4-FFF2-40B4-BE49-F238E27FC236}">
                <a16:creationId xmlns:a16="http://schemas.microsoft.com/office/drawing/2014/main" id="{76732D56-74CD-4C70-AC07-5BA26F094B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151" y="1628800"/>
            <a:ext cx="5003596" cy="417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8" name="图片 2">
            <a:extLst>
              <a:ext uri="{FF2B5EF4-FFF2-40B4-BE49-F238E27FC236}">
                <a16:creationId xmlns:a16="http://schemas.microsoft.com/office/drawing/2014/main" id="{A8A3A7FA-632F-4AF2-AE4E-C1072E42DE2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72064" y="1858767"/>
            <a:ext cx="3312368" cy="3910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9634" name="图片 2">
            <a:extLst>
              <a:ext uri="{FF2B5EF4-FFF2-40B4-BE49-F238E27FC236}">
                <a16:creationId xmlns:a16="http://schemas.microsoft.com/office/drawing/2014/main" id="{9E364A77-25D1-4E7C-AF19-9AD13FFF017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76120" y="1700808"/>
            <a:ext cx="4634307" cy="4145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Rectangle 2">
            <a:extLst>
              <a:ext uri="{FF2B5EF4-FFF2-40B4-BE49-F238E27FC236}">
                <a16:creationId xmlns:a16="http://schemas.microsoft.com/office/drawing/2014/main" id="{7F067A9E-C9A4-473E-A098-26CE7EC63D92}"/>
              </a:ext>
            </a:extLst>
          </p:cNvPr>
          <p:cNvSpPr>
            <a:spLocks noGrp="1" noChangeArrowheads="1"/>
          </p:cNvSpPr>
          <p:nvPr>
            <p:ph type="title"/>
          </p:nvPr>
        </p:nvSpPr>
        <p:spPr>
          <a:xfrm>
            <a:off x="1584375" y="246855"/>
            <a:ext cx="6984899" cy="563563"/>
          </a:xfrm>
        </p:spPr>
        <p:txBody>
          <a:bodyPr/>
          <a:lstStyle/>
          <a:p>
            <a:pPr eaLnBrk="1" hangingPunct="1"/>
            <a:r>
              <a:rPr lang="en-US" altLang="zh-CN" sz="4000" dirty="0">
                <a:latin typeface="Times New Roman" panose="02020603050405020304" pitchFamily="18" charset="0"/>
              </a:rPr>
              <a:t>   </a:t>
            </a:r>
            <a:r>
              <a:rPr lang="zh-CN" altLang="en-US" sz="4000" dirty="0">
                <a:latin typeface="Times New Roman" panose="02020603050405020304" pitchFamily="18" charset="0"/>
              </a:rPr>
              <a:t>血红蛋白</a:t>
            </a:r>
            <a:r>
              <a:rPr lang="en-US" altLang="zh-CN" sz="4000" dirty="0">
                <a:latin typeface="Times New Roman" panose="02020603050405020304" pitchFamily="18" charset="0"/>
              </a:rPr>
              <a:t>(Hemoglobin, </a:t>
            </a:r>
            <a:r>
              <a:rPr lang="en-US" altLang="zh-CN" sz="4000" dirty="0">
                <a:solidFill>
                  <a:srgbClr val="FFFF00"/>
                </a:solidFill>
                <a:latin typeface="Times New Roman" panose="02020603050405020304" pitchFamily="18" charset="0"/>
              </a:rPr>
              <a:t>Hb</a:t>
            </a:r>
            <a:r>
              <a:rPr lang="en-US" altLang="zh-CN" sz="4000" dirty="0">
                <a:latin typeface="Times New Roman" panose="02020603050405020304" pitchFamily="18" charset="0"/>
              </a:rPr>
              <a:t>)</a:t>
            </a:r>
          </a:p>
        </p:txBody>
      </p:sp>
      <p:grpSp>
        <p:nvGrpSpPr>
          <p:cNvPr id="69636" name="Group 10">
            <a:extLst>
              <a:ext uri="{FF2B5EF4-FFF2-40B4-BE49-F238E27FC236}">
                <a16:creationId xmlns:a16="http://schemas.microsoft.com/office/drawing/2014/main" id="{69EF1516-7C61-4A49-B4A8-F6ED268036BF}"/>
              </a:ext>
            </a:extLst>
          </p:cNvPr>
          <p:cNvGrpSpPr>
            <a:grpSpLocks/>
          </p:cNvGrpSpPr>
          <p:nvPr/>
        </p:nvGrpSpPr>
        <p:grpSpPr bwMode="auto">
          <a:xfrm>
            <a:off x="695400" y="1412875"/>
            <a:ext cx="4143376" cy="1436688"/>
            <a:chOff x="-251" y="1298"/>
            <a:chExt cx="2610" cy="905"/>
          </a:xfrm>
        </p:grpSpPr>
        <p:sp>
          <p:nvSpPr>
            <p:cNvPr id="69639" name="AutoShape 4">
              <a:extLst>
                <a:ext uri="{FF2B5EF4-FFF2-40B4-BE49-F238E27FC236}">
                  <a16:creationId xmlns:a16="http://schemas.microsoft.com/office/drawing/2014/main" id="{C4641C6E-9B20-4B3D-B524-B45018209538}"/>
                </a:ext>
              </a:extLst>
            </p:cNvPr>
            <p:cNvSpPr>
              <a:spLocks/>
            </p:cNvSpPr>
            <p:nvPr/>
          </p:nvSpPr>
          <p:spPr bwMode="auto">
            <a:xfrm>
              <a:off x="862" y="1389"/>
              <a:ext cx="91" cy="660"/>
            </a:xfrm>
            <a:prstGeom prst="leftBrace">
              <a:avLst>
                <a:gd name="adj1" fmla="val 74710"/>
                <a:gd name="adj2"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69640" name="Text Box 5">
              <a:extLst>
                <a:ext uri="{FF2B5EF4-FFF2-40B4-BE49-F238E27FC236}">
                  <a16:creationId xmlns:a16="http://schemas.microsoft.com/office/drawing/2014/main" id="{5A5A66E7-9E1A-472D-84BB-1610DDAC7806}"/>
                </a:ext>
              </a:extLst>
            </p:cNvPr>
            <p:cNvSpPr txBox="1">
              <a:spLocks noChangeArrowheads="1"/>
            </p:cNvSpPr>
            <p:nvPr/>
          </p:nvSpPr>
          <p:spPr bwMode="auto">
            <a:xfrm>
              <a:off x="-251" y="1551"/>
              <a:ext cx="151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lang="en-US" altLang="zh-CN">
                  <a:solidFill>
                    <a:schemeClr val="tx1"/>
                  </a:solidFill>
                </a:rPr>
                <a:t>HbA</a:t>
              </a:r>
            </a:p>
          </p:txBody>
        </p:sp>
        <p:sp>
          <p:nvSpPr>
            <p:cNvPr id="69641" name="Text Box 6">
              <a:extLst>
                <a:ext uri="{FF2B5EF4-FFF2-40B4-BE49-F238E27FC236}">
                  <a16:creationId xmlns:a16="http://schemas.microsoft.com/office/drawing/2014/main" id="{7F3CA22F-5819-4853-9613-F6D3969764E2}"/>
                </a:ext>
              </a:extLst>
            </p:cNvPr>
            <p:cNvSpPr txBox="1">
              <a:spLocks noChangeArrowheads="1"/>
            </p:cNvSpPr>
            <p:nvPr/>
          </p:nvSpPr>
          <p:spPr bwMode="auto">
            <a:xfrm>
              <a:off x="953" y="1298"/>
              <a:ext cx="14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en-US" altLang="zh-CN">
                  <a:solidFill>
                    <a:schemeClr val="tx1"/>
                  </a:solidFill>
                </a:rPr>
                <a:t>4</a:t>
              </a:r>
              <a:r>
                <a:rPr lang="zh-CN" altLang="en-US">
                  <a:solidFill>
                    <a:schemeClr val="tx1"/>
                  </a:solidFill>
                </a:rPr>
                <a:t>条多肽链</a:t>
              </a:r>
              <a:endParaRPr lang="zh-CN" altLang="el-GR" sz="2400">
                <a:solidFill>
                  <a:schemeClr val="tx1"/>
                </a:solidFill>
                <a:cs typeface="Arial" panose="020B0604020202020204" pitchFamily="34" charset="0"/>
              </a:endParaRPr>
            </a:p>
          </p:txBody>
        </p:sp>
        <p:sp>
          <p:nvSpPr>
            <p:cNvPr id="69642" name="Text Box 7">
              <a:extLst>
                <a:ext uri="{FF2B5EF4-FFF2-40B4-BE49-F238E27FC236}">
                  <a16:creationId xmlns:a16="http://schemas.microsoft.com/office/drawing/2014/main" id="{87AA9750-71D1-4FD7-B4E7-3D4697C3E97D}"/>
                </a:ext>
              </a:extLst>
            </p:cNvPr>
            <p:cNvSpPr txBox="1">
              <a:spLocks noChangeArrowheads="1"/>
            </p:cNvSpPr>
            <p:nvPr/>
          </p:nvSpPr>
          <p:spPr bwMode="auto">
            <a:xfrm>
              <a:off x="953" y="1876"/>
              <a:ext cx="13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en-US" altLang="zh-CN">
                  <a:solidFill>
                    <a:srgbClr val="006600"/>
                  </a:solidFill>
                </a:rPr>
                <a:t>4</a:t>
              </a:r>
              <a:r>
                <a:rPr lang="zh-CN" altLang="en-US">
                  <a:solidFill>
                    <a:srgbClr val="006600"/>
                  </a:solidFill>
                </a:rPr>
                <a:t>分子血红素</a:t>
              </a:r>
            </a:p>
          </p:txBody>
        </p:sp>
      </p:grpSp>
      <p:sp>
        <p:nvSpPr>
          <p:cNvPr id="69637" name="Rectangle 11">
            <a:extLst>
              <a:ext uri="{FF2B5EF4-FFF2-40B4-BE49-F238E27FC236}">
                <a16:creationId xmlns:a16="http://schemas.microsoft.com/office/drawing/2014/main" id="{E75BDDA9-3A64-4FC5-9D38-1C4936F709E0}"/>
              </a:ext>
            </a:extLst>
          </p:cNvPr>
          <p:cNvSpPr>
            <a:spLocks noChangeArrowheads="1"/>
          </p:cNvSpPr>
          <p:nvPr/>
        </p:nvSpPr>
        <p:spPr bwMode="auto">
          <a:xfrm>
            <a:off x="4484763" y="1412876"/>
            <a:ext cx="1765300" cy="934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lang="en-US" altLang="zh-CN" sz="2400">
                <a:solidFill>
                  <a:schemeClr val="tx1"/>
                </a:solidFill>
                <a:latin typeface="Arial" panose="020B0604020202020204" pitchFamily="34" charset="0"/>
                <a:ea typeface="宋体" panose="02010600030101010101" pitchFamily="2" charset="-122"/>
              </a:rPr>
              <a:t>2</a:t>
            </a:r>
            <a:r>
              <a:rPr lang="el-GR" altLang="zh-CN" sz="2400">
                <a:solidFill>
                  <a:schemeClr val="tx1"/>
                </a:solidFill>
                <a:latin typeface="Arial" panose="020B0604020202020204" pitchFamily="34" charset="0"/>
                <a:ea typeface="宋体" panose="02010600030101010101" pitchFamily="2" charset="-122"/>
              </a:rPr>
              <a:t>α</a:t>
            </a:r>
            <a:r>
              <a:rPr lang="en-US" altLang="zh-CN" sz="2400">
                <a:solidFill>
                  <a:schemeClr val="tx1"/>
                </a:solidFill>
                <a:latin typeface="Arial" panose="020B0604020202020204" pitchFamily="34" charset="0"/>
                <a:ea typeface="宋体" panose="02010600030101010101" pitchFamily="2" charset="-122"/>
              </a:rPr>
              <a:t>:141×2</a:t>
            </a:r>
          </a:p>
          <a:p>
            <a:pPr eaLnBrk="1" hangingPunct="1">
              <a:lnSpc>
                <a:spcPct val="120000"/>
              </a:lnSpc>
              <a:spcBef>
                <a:spcPct val="0"/>
              </a:spcBef>
              <a:buClrTx/>
              <a:buFontTx/>
              <a:buNone/>
            </a:pPr>
            <a:r>
              <a:rPr lang="en-US" altLang="zh-CN" sz="2400">
                <a:solidFill>
                  <a:schemeClr val="tx1"/>
                </a:solidFill>
                <a:latin typeface="Arial" panose="020B0604020202020204" pitchFamily="34" charset="0"/>
                <a:ea typeface="宋体" panose="02010600030101010101" pitchFamily="2" charset="-122"/>
              </a:rPr>
              <a:t>2</a:t>
            </a:r>
            <a:r>
              <a:rPr lang="el-GR" altLang="zh-CN" sz="2400">
                <a:solidFill>
                  <a:schemeClr val="tx1"/>
                </a:solidFill>
                <a:latin typeface="Arial" panose="020B0604020202020204" pitchFamily="34" charset="0"/>
                <a:ea typeface="宋体" panose="02010600030101010101" pitchFamily="2" charset="-122"/>
              </a:rPr>
              <a:t>β</a:t>
            </a:r>
            <a:r>
              <a:rPr lang="en-US" altLang="zh-CN" sz="2400">
                <a:solidFill>
                  <a:schemeClr val="tx1"/>
                </a:solidFill>
                <a:latin typeface="Arial" panose="020B0604020202020204" pitchFamily="34" charset="0"/>
                <a:ea typeface="宋体" panose="02010600030101010101" pitchFamily="2" charset="-122"/>
              </a:rPr>
              <a:t>:146×2</a:t>
            </a:r>
          </a:p>
        </p:txBody>
      </p:sp>
      <p:sp>
        <p:nvSpPr>
          <p:cNvPr id="3" name="文本框 2">
            <a:extLst>
              <a:ext uri="{FF2B5EF4-FFF2-40B4-BE49-F238E27FC236}">
                <a16:creationId xmlns:a16="http://schemas.microsoft.com/office/drawing/2014/main" id="{77D2AF05-3059-48F4-B148-9C7BE6AC4075}"/>
              </a:ext>
            </a:extLst>
          </p:cNvPr>
          <p:cNvSpPr txBox="1">
            <a:spLocks noChangeArrowheads="1"/>
          </p:cNvSpPr>
          <p:nvPr/>
        </p:nvSpPr>
        <p:spPr bwMode="auto">
          <a:xfrm>
            <a:off x="753656" y="3094475"/>
            <a:ext cx="5990416" cy="2593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nSpc>
                <a:spcPct val="130000"/>
              </a:lnSpc>
              <a:spcBef>
                <a:spcPts val="600"/>
              </a:spcBef>
              <a:buClr>
                <a:srgbClr val="006600"/>
              </a:buClr>
              <a:buFont typeface="Wingdings" panose="05000000000000000000" pitchFamily="2" charset="2"/>
              <a:buChar char="u"/>
            </a:pPr>
            <a:r>
              <a:rPr lang="zh-CN" altLang="en-US" sz="2400" b="1" dirty="0">
                <a:solidFill>
                  <a:schemeClr val="tx1"/>
                </a:solidFill>
                <a:latin typeface="Arial" panose="020B0604020202020204" pitchFamily="34" charset="0"/>
                <a:ea typeface="宋体" panose="02010600030101010101" pitchFamily="2" charset="-122"/>
              </a:rPr>
              <a:t>每个亚基的三级结构高度类似肌红蛋白</a:t>
            </a:r>
            <a:endParaRPr lang="en-US" altLang="zh-CN" sz="2400" b="1" dirty="0">
              <a:solidFill>
                <a:schemeClr val="tx1"/>
              </a:solidFill>
              <a:latin typeface="Arial" panose="020B0604020202020204" pitchFamily="34" charset="0"/>
              <a:ea typeface="宋体" panose="02010600030101010101" pitchFamily="2" charset="-122"/>
            </a:endParaRPr>
          </a:p>
          <a:p>
            <a:pPr>
              <a:lnSpc>
                <a:spcPct val="130000"/>
              </a:lnSpc>
              <a:spcBef>
                <a:spcPts val="600"/>
              </a:spcBef>
              <a:buClr>
                <a:srgbClr val="006600"/>
              </a:buClr>
              <a:buFont typeface="Wingdings" panose="05000000000000000000" pitchFamily="2" charset="2"/>
              <a:buChar char="u"/>
            </a:pPr>
            <a:r>
              <a:rPr lang="zh-CN" altLang="en-US" sz="2400" b="1" dirty="0">
                <a:solidFill>
                  <a:schemeClr val="tx1"/>
                </a:solidFill>
                <a:latin typeface="Arial" panose="020B0604020202020204" pitchFamily="34" charset="0"/>
                <a:ea typeface="宋体" panose="02010600030101010101" pitchFamily="2" charset="-122"/>
              </a:rPr>
              <a:t>亚基之间通过大量</a:t>
            </a:r>
            <a:r>
              <a:rPr lang="zh-CN" altLang="en-US" sz="2400" b="1" dirty="0">
                <a:solidFill>
                  <a:srgbClr val="C00000"/>
                </a:solidFill>
                <a:latin typeface="Arial" panose="020B0604020202020204" pitchFamily="34" charset="0"/>
                <a:ea typeface="宋体" panose="02010600030101010101" pitchFamily="2" charset="-122"/>
              </a:rPr>
              <a:t>非共价键</a:t>
            </a:r>
            <a:r>
              <a:rPr lang="zh-CN" altLang="en-US" sz="2400" b="1" dirty="0">
                <a:solidFill>
                  <a:schemeClr val="tx1"/>
                </a:solidFill>
                <a:latin typeface="Arial" panose="020B0604020202020204" pitchFamily="34" charset="0"/>
                <a:ea typeface="宋体" panose="02010600030101010101" pitchFamily="2" charset="-122"/>
              </a:rPr>
              <a:t>（主要是疏水键）紧密结合。</a:t>
            </a:r>
            <a:endParaRPr lang="en-US" altLang="zh-CN" sz="2400" b="1" dirty="0">
              <a:solidFill>
                <a:schemeClr val="tx1"/>
              </a:solidFill>
              <a:latin typeface="Arial" panose="020B0604020202020204" pitchFamily="34" charset="0"/>
              <a:ea typeface="宋体" panose="02010600030101010101" pitchFamily="2" charset="-122"/>
            </a:endParaRPr>
          </a:p>
          <a:p>
            <a:pPr>
              <a:lnSpc>
                <a:spcPct val="130000"/>
              </a:lnSpc>
              <a:spcBef>
                <a:spcPts val="600"/>
              </a:spcBef>
              <a:buClr>
                <a:srgbClr val="006600"/>
              </a:buClr>
              <a:buFont typeface="Wingdings" panose="05000000000000000000" pitchFamily="2" charset="2"/>
              <a:buChar char="u"/>
            </a:pPr>
            <a:r>
              <a:rPr lang="en-US" altLang="zh-CN" sz="2400" b="1" dirty="0">
                <a:solidFill>
                  <a:schemeClr val="tx1"/>
                </a:solidFill>
                <a:latin typeface="Arial" panose="020B0604020202020204" pitchFamily="34" charset="0"/>
                <a:ea typeface="宋体" panose="02010600030101010101" pitchFamily="2" charset="-122"/>
              </a:rPr>
              <a:t>α</a:t>
            </a:r>
            <a:r>
              <a:rPr lang="zh-CN" altLang="en-US" sz="2400" b="1" dirty="0">
                <a:solidFill>
                  <a:schemeClr val="tx1"/>
                </a:solidFill>
                <a:latin typeface="Arial" panose="020B0604020202020204" pitchFamily="34" charset="0"/>
                <a:ea typeface="宋体" panose="02010600030101010101" pitchFamily="2" charset="-122"/>
              </a:rPr>
              <a:t>与</a:t>
            </a:r>
            <a:r>
              <a:rPr lang="en-US" altLang="zh-CN" sz="2400" b="1" dirty="0">
                <a:solidFill>
                  <a:schemeClr val="tx1"/>
                </a:solidFill>
                <a:latin typeface="Arial" panose="020B0604020202020204" pitchFamily="34" charset="0"/>
                <a:ea typeface="宋体" panose="02010600030101010101" pitchFamily="2" charset="-122"/>
              </a:rPr>
              <a:t>β</a:t>
            </a:r>
            <a:r>
              <a:rPr lang="zh-CN" altLang="en-US" sz="2400" b="1" dirty="0">
                <a:solidFill>
                  <a:schemeClr val="tx1"/>
                </a:solidFill>
                <a:latin typeface="Arial" panose="020B0604020202020204" pitchFamily="34" charset="0"/>
                <a:ea typeface="宋体" panose="02010600030101010101" pitchFamily="2" charset="-122"/>
              </a:rPr>
              <a:t>的结合更紧密，血红蛋白可以看成是</a:t>
            </a:r>
            <a:r>
              <a:rPr lang="zh-CN" altLang="en-US" sz="2400" b="1" dirty="0">
                <a:solidFill>
                  <a:srgbClr val="C00000"/>
                </a:solidFill>
                <a:latin typeface="Arial" panose="020B0604020202020204" pitchFamily="34" charset="0"/>
                <a:ea typeface="宋体" panose="02010600030101010101" pitchFamily="2" charset="-122"/>
              </a:rPr>
              <a:t>同二聚体</a:t>
            </a:r>
            <a:r>
              <a:rPr lang="zh-CN" altLang="en-US" sz="2400" b="1" dirty="0">
                <a:solidFill>
                  <a:schemeClr val="tx1"/>
                </a:solidFill>
                <a:latin typeface="Arial" panose="020B0604020202020204" pitchFamily="34" charset="0"/>
                <a:ea typeface="宋体" panose="02010600030101010101" pitchFamily="2" charset="-122"/>
              </a:rPr>
              <a:t>：</a:t>
            </a:r>
            <a:r>
              <a:rPr lang="en-US" altLang="zh-CN" sz="2400" b="1" dirty="0">
                <a:solidFill>
                  <a:schemeClr val="tx1"/>
                </a:solidFill>
                <a:latin typeface="Arial" panose="020B0604020202020204" pitchFamily="34" charset="0"/>
                <a:ea typeface="宋体" panose="02010600030101010101" pitchFamily="2" charset="-122"/>
              </a:rPr>
              <a:t>(αβ)</a:t>
            </a:r>
            <a:r>
              <a:rPr lang="en-US" altLang="zh-CN" sz="2400" b="1" baseline="-25000" dirty="0">
                <a:solidFill>
                  <a:schemeClr val="tx1"/>
                </a:solidFill>
                <a:latin typeface="Arial" panose="020B0604020202020204" pitchFamily="34" charset="0"/>
                <a:ea typeface="宋体" panose="02010600030101010101" pitchFamily="2" charset="-122"/>
              </a:rPr>
              <a:t>1</a:t>
            </a:r>
            <a:r>
              <a:rPr lang="en-US" altLang="zh-CN" sz="2400" b="1" dirty="0">
                <a:solidFill>
                  <a:schemeClr val="tx1"/>
                </a:solidFill>
                <a:latin typeface="Arial" panose="020B0604020202020204" pitchFamily="34" charset="0"/>
                <a:ea typeface="宋体" panose="02010600030101010101" pitchFamily="2" charset="-122"/>
              </a:rPr>
              <a:t> +</a:t>
            </a:r>
            <a:r>
              <a:rPr lang="zh-CN" altLang="en-US" sz="2400" b="1" dirty="0">
                <a:solidFill>
                  <a:schemeClr val="tx1"/>
                </a:solidFill>
                <a:latin typeface="Arial" panose="020B0604020202020204" pitchFamily="34" charset="0"/>
                <a:ea typeface="宋体" panose="02010600030101010101" pitchFamily="2" charset="-122"/>
              </a:rPr>
              <a:t> </a:t>
            </a:r>
            <a:r>
              <a:rPr lang="en-US" altLang="zh-CN" sz="2400" b="1" dirty="0">
                <a:solidFill>
                  <a:schemeClr val="tx1"/>
                </a:solidFill>
                <a:latin typeface="Arial" panose="020B0604020202020204" pitchFamily="34" charset="0"/>
                <a:ea typeface="宋体" panose="02010600030101010101" pitchFamily="2" charset="-122"/>
              </a:rPr>
              <a:t>(αβ)</a:t>
            </a:r>
            <a:r>
              <a:rPr lang="en-US" altLang="zh-CN" sz="2400" b="1" baseline="-25000" dirty="0">
                <a:solidFill>
                  <a:schemeClr val="tx1"/>
                </a:solidFill>
                <a:latin typeface="Arial" panose="020B0604020202020204" pitchFamily="34" charset="0"/>
                <a:ea typeface="宋体" panose="02010600030101010101" pitchFamily="2" charset="-122"/>
              </a:rPr>
              <a:t>2</a:t>
            </a:r>
            <a:endParaRPr lang="zh-CN" altLang="en-US" sz="2400" b="1" baseline="-25000"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1682" name="图片 1">
            <a:extLst>
              <a:ext uri="{FF2B5EF4-FFF2-40B4-BE49-F238E27FC236}">
                <a16:creationId xmlns:a16="http://schemas.microsoft.com/office/drawing/2014/main" id="{0012881E-B9ED-4E28-B562-71E023E908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472" t="958" r="2141" b="19856"/>
          <a:stretch>
            <a:fillRect/>
          </a:stretch>
        </p:blipFill>
        <p:spPr bwMode="auto">
          <a:xfrm>
            <a:off x="2495551" y="333376"/>
            <a:ext cx="7085013" cy="49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3" name="矩形 2">
            <a:extLst>
              <a:ext uri="{FF2B5EF4-FFF2-40B4-BE49-F238E27FC236}">
                <a16:creationId xmlns:a16="http://schemas.microsoft.com/office/drawing/2014/main" id="{E9FA5097-8296-49CA-BC02-C16FC5604C49}"/>
              </a:ext>
            </a:extLst>
          </p:cNvPr>
          <p:cNvSpPr>
            <a:spLocks noChangeArrowheads="1"/>
          </p:cNvSpPr>
          <p:nvPr/>
        </p:nvSpPr>
        <p:spPr bwMode="auto">
          <a:xfrm>
            <a:off x="2423593" y="5373217"/>
            <a:ext cx="77184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2400" dirty="0">
                <a:solidFill>
                  <a:schemeClr val="tx1"/>
                </a:solidFill>
                <a:latin typeface="Arial" panose="020B0604020202020204" pitchFamily="34" charset="0"/>
                <a:ea typeface="宋体" panose="02010600030101010101" pitchFamily="2" charset="-122"/>
              </a:rPr>
              <a:t>A comparison of the structure of myoglobin(PDB ID 1MBO) and the subunit of hemoglobin(PDB ID 1HGA) </a:t>
            </a:r>
            <a:endParaRPr lang="zh-CN" altLang="en-US" sz="2400"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spd="slow">
    <p:circl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4">
            <a:extLst>
              <a:ext uri="{FF2B5EF4-FFF2-40B4-BE49-F238E27FC236}">
                <a16:creationId xmlns:a16="http://schemas.microsoft.com/office/drawing/2014/main" id="{A85C4940-8355-4AB7-8F74-DB27630925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3" y="692151"/>
            <a:ext cx="802640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1" name="Rectangle 1029">
            <a:extLst>
              <a:ext uri="{FF2B5EF4-FFF2-40B4-BE49-F238E27FC236}">
                <a16:creationId xmlns:a16="http://schemas.microsoft.com/office/drawing/2014/main" id="{6CD3CECC-2305-4B5E-BBF6-D27035F67D23}"/>
              </a:ext>
            </a:extLst>
          </p:cNvPr>
          <p:cNvSpPr>
            <a:spLocks noChangeArrowheads="1"/>
          </p:cNvSpPr>
          <p:nvPr/>
        </p:nvSpPr>
        <p:spPr bwMode="auto">
          <a:xfrm>
            <a:off x="4038600" y="1905000"/>
            <a:ext cx="9144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73732" name="Rectangle 1030">
            <a:extLst>
              <a:ext uri="{FF2B5EF4-FFF2-40B4-BE49-F238E27FC236}">
                <a16:creationId xmlns:a16="http://schemas.microsoft.com/office/drawing/2014/main" id="{2037FDD6-E927-4BFD-8187-044294D61CEA}"/>
              </a:ext>
            </a:extLst>
          </p:cNvPr>
          <p:cNvSpPr>
            <a:spLocks noChangeArrowheads="1"/>
          </p:cNvSpPr>
          <p:nvPr/>
        </p:nvSpPr>
        <p:spPr bwMode="auto">
          <a:xfrm>
            <a:off x="3071813" y="5585346"/>
            <a:ext cx="5867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kumimoji="1" lang="zh-CN" altLang="en-US" sz="3200" dirty="0">
                <a:solidFill>
                  <a:schemeClr val="tx1"/>
                </a:solidFill>
                <a:latin typeface="黑体" panose="02010609060101010101" pitchFamily="49" charset="-122"/>
              </a:rPr>
              <a:t>血红蛋白亚基间盐键示意图</a:t>
            </a:r>
          </a:p>
        </p:txBody>
      </p:sp>
    </p:spTree>
  </p:cSld>
  <p:clrMapOvr>
    <a:masterClrMapping/>
  </p:clrMapOvr>
  <p:transition spd="slow">
    <p:circle/>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9E99584C-59E8-407F-BF02-C3E14890AD51}"/>
              </a:ext>
            </a:extLst>
          </p:cNvPr>
          <p:cNvSpPr>
            <a:spLocks noGrp="1" noChangeArrowheads="1"/>
          </p:cNvSpPr>
          <p:nvPr>
            <p:ph type="body" idx="1"/>
          </p:nvPr>
        </p:nvSpPr>
        <p:spPr>
          <a:xfrm>
            <a:off x="1667508" y="2060848"/>
            <a:ext cx="9109012" cy="3816424"/>
          </a:xfrm>
        </p:spPr>
        <p:txBody>
          <a:bodyPr/>
          <a:lstStyle/>
          <a:p>
            <a:pPr algn="just" eaLnBrk="1" hangingPunct="1">
              <a:lnSpc>
                <a:spcPct val="150000"/>
              </a:lnSpc>
              <a:spcBef>
                <a:spcPts val="1800"/>
              </a:spcBef>
              <a:defRPr/>
            </a:pPr>
            <a:r>
              <a:rPr lang="en-US" altLang="zh-CN" dirty="0">
                <a:solidFill>
                  <a:schemeClr val="tx1"/>
                </a:solidFill>
              </a:rPr>
              <a:t>  Hb</a:t>
            </a:r>
            <a:r>
              <a:rPr lang="zh-CN" altLang="en-US" dirty="0">
                <a:solidFill>
                  <a:schemeClr val="tx1"/>
                </a:solidFill>
              </a:rPr>
              <a:t>与</a:t>
            </a:r>
            <a:r>
              <a:rPr lang="en-US" altLang="zh-CN" dirty="0">
                <a:solidFill>
                  <a:schemeClr val="tx1"/>
                </a:solidFill>
              </a:rPr>
              <a:t>Mb</a:t>
            </a:r>
            <a:r>
              <a:rPr lang="zh-CN" altLang="en-US" dirty="0">
                <a:solidFill>
                  <a:schemeClr val="tx1"/>
                </a:solidFill>
              </a:rPr>
              <a:t>一样能可逆地与</a:t>
            </a:r>
            <a:r>
              <a:rPr lang="en-US" altLang="zh-CN" dirty="0">
                <a:solidFill>
                  <a:schemeClr val="tx1"/>
                </a:solidFill>
              </a:rPr>
              <a:t>O</a:t>
            </a:r>
            <a:r>
              <a:rPr lang="en-US" altLang="zh-CN" baseline="-25000" dirty="0">
                <a:solidFill>
                  <a:schemeClr val="tx1"/>
                </a:solidFill>
              </a:rPr>
              <a:t>2</a:t>
            </a:r>
            <a:r>
              <a:rPr lang="zh-CN" altLang="en-US" dirty="0">
                <a:solidFill>
                  <a:schemeClr val="tx1"/>
                </a:solidFill>
              </a:rPr>
              <a:t>结合， </a:t>
            </a:r>
            <a:r>
              <a:rPr lang="en-US" altLang="zh-CN" dirty="0">
                <a:solidFill>
                  <a:schemeClr val="tx1"/>
                </a:solidFill>
              </a:rPr>
              <a:t>Hb</a:t>
            </a:r>
            <a:r>
              <a:rPr lang="zh-CN" altLang="en-US" dirty="0">
                <a:solidFill>
                  <a:schemeClr val="tx1"/>
                </a:solidFill>
              </a:rPr>
              <a:t>与</a:t>
            </a:r>
            <a:r>
              <a:rPr lang="en-US" altLang="zh-CN" dirty="0">
                <a:solidFill>
                  <a:schemeClr val="tx1"/>
                </a:solidFill>
              </a:rPr>
              <a:t>O</a:t>
            </a:r>
            <a:r>
              <a:rPr lang="en-US" altLang="zh-CN" baseline="-25000" dirty="0">
                <a:solidFill>
                  <a:schemeClr val="tx1"/>
                </a:solidFill>
              </a:rPr>
              <a:t>2</a:t>
            </a:r>
            <a:r>
              <a:rPr lang="zh-CN" altLang="en-US" dirty="0">
                <a:solidFill>
                  <a:schemeClr val="tx1"/>
                </a:solidFill>
              </a:rPr>
              <a:t>结合后称为</a:t>
            </a:r>
            <a:r>
              <a:rPr lang="zh-CN" altLang="en-US" dirty="0">
                <a:solidFill>
                  <a:schemeClr val="tx1">
                    <a:lumMod val="60000"/>
                    <a:lumOff val="40000"/>
                  </a:schemeClr>
                </a:solidFill>
              </a:rPr>
              <a:t>氧合</a:t>
            </a:r>
            <a:r>
              <a:rPr lang="en-US" altLang="zh-CN" dirty="0">
                <a:solidFill>
                  <a:schemeClr val="tx1">
                    <a:lumMod val="60000"/>
                    <a:lumOff val="40000"/>
                  </a:schemeClr>
                </a:solidFill>
              </a:rPr>
              <a:t>Hb</a:t>
            </a:r>
            <a:r>
              <a:rPr lang="zh-CN" altLang="en-US" dirty="0">
                <a:solidFill>
                  <a:schemeClr val="tx1"/>
                </a:solidFill>
              </a:rPr>
              <a:t>。</a:t>
            </a:r>
            <a:endParaRPr lang="en-US" altLang="zh-CN" dirty="0">
              <a:solidFill>
                <a:schemeClr val="tx1"/>
              </a:solidFill>
            </a:endParaRPr>
          </a:p>
          <a:p>
            <a:pPr marL="1790700" indent="-1790700" algn="just" eaLnBrk="1" hangingPunct="1">
              <a:lnSpc>
                <a:spcPct val="130000"/>
              </a:lnSpc>
              <a:spcBef>
                <a:spcPts val="1800"/>
              </a:spcBef>
              <a:buNone/>
              <a:defRPr/>
            </a:pPr>
            <a:r>
              <a:rPr lang="zh-CN" altLang="en-US" dirty="0">
                <a:solidFill>
                  <a:srgbClr val="C00000"/>
                </a:solidFill>
              </a:rPr>
              <a:t>氧饱和度：</a:t>
            </a:r>
            <a:r>
              <a:rPr lang="zh-CN" altLang="en-US" dirty="0">
                <a:solidFill>
                  <a:srgbClr val="0000CC"/>
                </a:solidFill>
              </a:rPr>
              <a:t>氧合</a:t>
            </a:r>
            <a:r>
              <a:rPr lang="en-US" altLang="zh-CN" dirty="0">
                <a:solidFill>
                  <a:srgbClr val="0000CC"/>
                </a:solidFill>
              </a:rPr>
              <a:t>Hb</a:t>
            </a:r>
            <a:r>
              <a:rPr lang="zh-CN" altLang="en-US" dirty="0">
                <a:solidFill>
                  <a:srgbClr val="0000CC"/>
                </a:solidFill>
              </a:rPr>
              <a:t>占总</a:t>
            </a:r>
            <a:r>
              <a:rPr lang="en-US" altLang="zh-CN" dirty="0">
                <a:solidFill>
                  <a:srgbClr val="0000CC"/>
                </a:solidFill>
              </a:rPr>
              <a:t>Hb</a:t>
            </a:r>
            <a:r>
              <a:rPr lang="zh-CN" altLang="en-US" dirty="0">
                <a:solidFill>
                  <a:srgbClr val="0000CC"/>
                </a:solidFill>
              </a:rPr>
              <a:t>的百分数</a:t>
            </a:r>
            <a:r>
              <a:rPr lang="zh-CN" altLang="en-US" dirty="0">
                <a:solidFill>
                  <a:schemeClr val="tx1"/>
                </a:solidFill>
              </a:rPr>
              <a:t>，它反映</a:t>
            </a:r>
            <a:r>
              <a:rPr lang="en-US" altLang="zh-CN" dirty="0">
                <a:solidFill>
                  <a:schemeClr val="tx1"/>
                </a:solidFill>
              </a:rPr>
              <a:t>Hb</a:t>
            </a:r>
            <a:r>
              <a:rPr lang="zh-CN" altLang="en-US" dirty="0">
                <a:solidFill>
                  <a:schemeClr val="tx1"/>
                </a:solidFill>
              </a:rPr>
              <a:t>与</a:t>
            </a:r>
            <a:r>
              <a:rPr lang="en-US" altLang="zh-CN" dirty="0">
                <a:solidFill>
                  <a:schemeClr val="tx1"/>
                </a:solidFill>
              </a:rPr>
              <a:t>O</a:t>
            </a:r>
            <a:r>
              <a:rPr lang="en-US" altLang="zh-CN" baseline="-25000" dirty="0">
                <a:solidFill>
                  <a:schemeClr val="tx1"/>
                </a:solidFill>
              </a:rPr>
              <a:t>2</a:t>
            </a:r>
            <a:r>
              <a:rPr lang="zh-CN" altLang="en-US" dirty="0">
                <a:solidFill>
                  <a:schemeClr val="tx1"/>
                </a:solidFill>
              </a:rPr>
              <a:t>的结合程度，且随</a:t>
            </a:r>
            <a:r>
              <a:rPr lang="en-US" altLang="zh-CN" dirty="0">
                <a:solidFill>
                  <a:schemeClr val="tx1"/>
                </a:solidFill>
              </a:rPr>
              <a:t>O</a:t>
            </a:r>
            <a:r>
              <a:rPr lang="en-US" altLang="zh-CN" baseline="-25000" dirty="0">
                <a:solidFill>
                  <a:schemeClr val="tx1"/>
                </a:solidFill>
              </a:rPr>
              <a:t>2</a:t>
            </a:r>
            <a:r>
              <a:rPr lang="zh-CN" altLang="en-US" dirty="0">
                <a:solidFill>
                  <a:schemeClr val="tx1"/>
                </a:solidFill>
              </a:rPr>
              <a:t>浓度（氧分压）变化而改变。</a:t>
            </a:r>
            <a:endParaRPr lang="en-US" altLang="zh-CN" dirty="0">
              <a:solidFill>
                <a:schemeClr val="tx1"/>
              </a:solidFill>
            </a:endParaRPr>
          </a:p>
          <a:p>
            <a:pPr marL="1790700" indent="-1790700" algn="just" eaLnBrk="1" hangingPunct="1">
              <a:lnSpc>
                <a:spcPct val="150000"/>
              </a:lnSpc>
              <a:buNone/>
              <a:defRPr/>
            </a:pPr>
            <a:endParaRPr lang="zh-CN" altLang="en-US" dirty="0">
              <a:solidFill>
                <a:schemeClr val="tx1"/>
              </a:solidFill>
            </a:endParaRPr>
          </a:p>
        </p:txBody>
      </p:sp>
      <p:sp>
        <p:nvSpPr>
          <p:cNvPr id="75779" name="Text Box 3">
            <a:extLst>
              <a:ext uri="{FF2B5EF4-FFF2-40B4-BE49-F238E27FC236}">
                <a16:creationId xmlns:a16="http://schemas.microsoft.com/office/drawing/2014/main" id="{1C08CB4F-32AB-40D7-9814-DB61E08E7FA3}"/>
              </a:ext>
            </a:extLst>
          </p:cNvPr>
          <p:cNvSpPr>
            <a:spLocks noGrp="1" noChangeArrowheads="1"/>
          </p:cNvSpPr>
          <p:nvPr>
            <p:ph type="title"/>
          </p:nvPr>
        </p:nvSpPr>
        <p:spPr>
          <a:xfrm>
            <a:off x="1343026" y="1146176"/>
            <a:ext cx="9324975" cy="627063"/>
          </a:xfrm>
        </p:spPr>
        <p:txBody>
          <a:bodyPr/>
          <a:lstStyle/>
          <a:p>
            <a:pPr eaLnBrk="1" hangingPunct="1"/>
            <a:r>
              <a:rPr lang="zh-CN" altLang="en-US" sz="3200" dirty="0">
                <a:solidFill>
                  <a:srgbClr val="006600"/>
                </a:solidFill>
                <a:latin typeface="Times New Roman" panose="02020603050405020304" pitchFamily="18" charset="0"/>
              </a:rPr>
              <a:t>（二）血红蛋白与氧结合时会发生构象变化</a:t>
            </a:r>
            <a:r>
              <a:rPr lang="zh-CN" altLang="en-US" sz="3200" dirty="0">
                <a:solidFill>
                  <a:srgbClr val="993366"/>
                </a:solidFill>
                <a:latin typeface="Times New Roman" panose="02020603050405020304" pitchFamily="18" charset="0"/>
              </a:rPr>
              <a:t>    </a:t>
            </a:r>
          </a:p>
        </p:txBody>
      </p:sp>
    </p:spTree>
  </p:cSld>
  <p:clrMapOvr>
    <a:masterClrMapping/>
  </p:clrMapOvr>
  <p:transition spd="slow">
    <p:circl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a:extLst>
              <a:ext uri="{FF2B5EF4-FFF2-40B4-BE49-F238E27FC236}">
                <a16:creationId xmlns:a16="http://schemas.microsoft.com/office/drawing/2014/main" id="{3DE0C4E7-C927-4805-AF17-C61915C5EE8C}"/>
              </a:ext>
            </a:extLst>
          </p:cNvPr>
          <p:cNvSpPr>
            <a:spLocks noChangeArrowheads="1"/>
          </p:cNvSpPr>
          <p:nvPr/>
        </p:nvSpPr>
        <p:spPr bwMode="auto">
          <a:xfrm>
            <a:off x="2135560" y="5781638"/>
            <a:ext cx="81724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zh-CN" altLang="en-US" sz="3200" dirty="0">
                <a:solidFill>
                  <a:schemeClr val="tx1"/>
                </a:solidFill>
              </a:rPr>
              <a:t>肌红蛋白</a:t>
            </a:r>
            <a:r>
              <a:rPr kumimoji="1" lang="en-US" altLang="zh-CN" sz="3200" dirty="0">
                <a:solidFill>
                  <a:schemeClr val="tx1"/>
                </a:solidFill>
              </a:rPr>
              <a:t>(Mb)</a:t>
            </a:r>
            <a:r>
              <a:rPr kumimoji="1" lang="zh-CN" altLang="en-US" sz="3200" dirty="0">
                <a:solidFill>
                  <a:schemeClr val="tx1"/>
                </a:solidFill>
              </a:rPr>
              <a:t>和血红蛋白</a:t>
            </a:r>
            <a:r>
              <a:rPr kumimoji="1" lang="en-US" altLang="zh-CN" sz="3200" dirty="0">
                <a:solidFill>
                  <a:schemeClr val="tx1"/>
                </a:solidFill>
              </a:rPr>
              <a:t>(Hb)</a:t>
            </a:r>
            <a:r>
              <a:rPr kumimoji="1" lang="zh-CN" altLang="en-US" sz="3200" dirty="0">
                <a:solidFill>
                  <a:schemeClr val="tx1"/>
                </a:solidFill>
              </a:rPr>
              <a:t>的</a:t>
            </a:r>
            <a:r>
              <a:rPr kumimoji="1" lang="zh-CN" altLang="en-US" sz="3200" dirty="0">
                <a:solidFill>
                  <a:srgbClr val="C00000"/>
                </a:solidFill>
              </a:rPr>
              <a:t>氧解离曲线</a:t>
            </a:r>
          </a:p>
        </p:txBody>
      </p:sp>
      <p:sp>
        <p:nvSpPr>
          <p:cNvPr id="150530" name="AutoShape 2">
            <a:extLst>
              <a:ext uri="{FF2B5EF4-FFF2-40B4-BE49-F238E27FC236}">
                <a16:creationId xmlns:a16="http://schemas.microsoft.com/office/drawing/2014/main" id="{66EB2542-00B2-4F10-A4D9-0FFF0045B7BF}"/>
              </a:ext>
            </a:extLst>
          </p:cNvPr>
          <p:cNvSpPr>
            <a:spLocks noChangeArrowheads="1"/>
          </p:cNvSpPr>
          <p:nvPr/>
        </p:nvSpPr>
        <p:spPr bwMode="auto">
          <a:xfrm>
            <a:off x="4440112" y="249513"/>
            <a:ext cx="5256287" cy="838200"/>
          </a:xfrm>
          <a:prstGeom prst="wedgeEllipseCallout">
            <a:avLst>
              <a:gd name="adj1" fmla="val -62593"/>
              <a:gd name="adj2" fmla="val 92005"/>
            </a:avLst>
          </a:prstGeom>
          <a:solidFill>
            <a:schemeClr val="accent2">
              <a:lumMod val="20000"/>
              <a:lumOff val="80000"/>
            </a:schemeClr>
          </a:solidFill>
          <a:ln w="9525">
            <a:noFill/>
            <a:miter lim="800000"/>
            <a:headEnd/>
            <a:tailEnd/>
          </a:ln>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0" algn="ctr" eaLnBrk="1" hangingPunct="1">
              <a:spcBef>
                <a:spcPct val="0"/>
              </a:spcBef>
              <a:buClrTx/>
              <a:buNone/>
              <a:defRPr/>
            </a:pPr>
            <a:r>
              <a:rPr kumimoji="1" lang="en-US" altLang="zh-CN" b="0" dirty="0">
                <a:solidFill>
                  <a:srgbClr val="0000CC"/>
                </a:solidFill>
                <a:latin typeface="微软雅黑" panose="020B0503020204020204" pitchFamily="34" charset="-122"/>
                <a:ea typeface="微软雅黑" panose="020B0503020204020204" pitchFamily="34" charset="-122"/>
              </a:rPr>
              <a:t>Mb: </a:t>
            </a:r>
            <a:r>
              <a:rPr kumimoji="1" lang="zh-CN" altLang="en-US" b="0" dirty="0">
                <a:solidFill>
                  <a:srgbClr val="0000CC"/>
                </a:solidFill>
                <a:latin typeface="微软雅黑" panose="020B0503020204020204" pitchFamily="34" charset="-122"/>
                <a:ea typeface="微软雅黑" panose="020B0503020204020204" pitchFamily="34" charset="-122"/>
              </a:rPr>
              <a:t>直角</a:t>
            </a:r>
            <a:r>
              <a:rPr kumimoji="1" lang="en-US" altLang="zh-CN" b="0" dirty="0">
                <a:solidFill>
                  <a:srgbClr val="0000CC"/>
                </a:solidFill>
                <a:latin typeface="微软雅黑" panose="020B0503020204020204" pitchFamily="34" charset="-122"/>
                <a:ea typeface="微软雅黑" panose="020B0503020204020204" pitchFamily="34" charset="-122"/>
              </a:rPr>
              <a:t>/</a:t>
            </a:r>
            <a:r>
              <a:rPr kumimoji="1" lang="zh-CN" altLang="en-US" b="0" dirty="0">
                <a:solidFill>
                  <a:srgbClr val="0000CC"/>
                </a:solidFill>
                <a:latin typeface="微软雅黑" panose="020B0503020204020204" pitchFamily="34" charset="-122"/>
                <a:ea typeface="微软雅黑" panose="020B0503020204020204" pitchFamily="34" charset="-122"/>
              </a:rPr>
              <a:t>矩形双曲线</a:t>
            </a:r>
          </a:p>
        </p:txBody>
      </p:sp>
      <p:sp>
        <p:nvSpPr>
          <p:cNvPr id="150531" name="AutoShape 3">
            <a:extLst>
              <a:ext uri="{FF2B5EF4-FFF2-40B4-BE49-F238E27FC236}">
                <a16:creationId xmlns:a16="http://schemas.microsoft.com/office/drawing/2014/main" id="{9F25D29B-A59F-4CD6-AF7D-A16DA66ECE7F}"/>
              </a:ext>
            </a:extLst>
          </p:cNvPr>
          <p:cNvSpPr>
            <a:spLocks noChangeArrowheads="1"/>
          </p:cNvSpPr>
          <p:nvPr/>
        </p:nvSpPr>
        <p:spPr bwMode="auto">
          <a:xfrm>
            <a:off x="5560889" y="2022750"/>
            <a:ext cx="3757613" cy="865188"/>
          </a:xfrm>
          <a:prstGeom prst="wedgeEllipseCallout">
            <a:avLst>
              <a:gd name="adj1" fmla="val -111885"/>
              <a:gd name="adj2" fmla="val 47470"/>
            </a:avLst>
          </a:prstGeom>
          <a:solidFill>
            <a:schemeClr val="accent2">
              <a:lumMod val="20000"/>
              <a:lumOff val="80000"/>
            </a:schemeClr>
          </a:solidFill>
          <a:ln w="9525">
            <a:noFill/>
            <a:miter lim="800000"/>
            <a:headEnd/>
            <a:tailEnd/>
          </a:ln>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0" algn="ctr" eaLnBrk="1" hangingPunct="1">
              <a:spcBef>
                <a:spcPct val="0"/>
              </a:spcBef>
              <a:buClrTx/>
              <a:buNone/>
              <a:defRPr/>
            </a:pPr>
            <a:r>
              <a:rPr kumimoji="1" lang="en-US" altLang="zh-CN" sz="3200" b="0" dirty="0">
                <a:solidFill>
                  <a:srgbClr val="C00000"/>
                </a:solidFill>
                <a:latin typeface="微软雅黑" panose="020B0503020204020204" pitchFamily="34" charset="-122"/>
                <a:ea typeface="微软雅黑" panose="020B0503020204020204" pitchFamily="34" charset="-122"/>
              </a:rPr>
              <a:t>Hb: S</a:t>
            </a:r>
            <a:r>
              <a:rPr kumimoji="1" lang="zh-CN" altLang="en-US" sz="3200" b="0" dirty="0">
                <a:solidFill>
                  <a:srgbClr val="C00000"/>
                </a:solidFill>
                <a:latin typeface="微软雅黑" panose="020B0503020204020204" pitchFamily="34" charset="-122"/>
                <a:ea typeface="微软雅黑" panose="020B0503020204020204" pitchFamily="34" charset="-122"/>
              </a:rPr>
              <a:t>形曲线</a:t>
            </a:r>
          </a:p>
        </p:txBody>
      </p:sp>
      <p:sp>
        <p:nvSpPr>
          <p:cNvPr id="77829" name="矩形 3">
            <a:extLst>
              <a:ext uri="{FF2B5EF4-FFF2-40B4-BE49-F238E27FC236}">
                <a16:creationId xmlns:a16="http://schemas.microsoft.com/office/drawing/2014/main" id="{3FFD2474-E7FA-4E0A-A478-B5F186E3026D}"/>
              </a:ext>
            </a:extLst>
          </p:cNvPr>
          <p:cNvSpPr>
            <a:spLocks noChangeArrowheads="1"/>
          </p:cNvSpPr>
          <p:nvPr/>
        </p:nvSpPr>
        <p:spPr bwMode="auto">
          <a:xfrm>
            <a:off x="7900050" y="3320293"/>
            <a:ext cx="4028598" cy="137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nSpc>
                <a:spcPct val="120000"/>
              </a:lnSpc>
              <a:spcBef>
                <a:spcPct val="0"/>
              </a:spcBef>
              <a:buClrTx/>
              <a:buFontTx/>
              <a:buNone/>
            </a:pPr>
            <a:r>
              <a:rPr lang="zh-CN" altLang="en-US" sz="2400" b="1" dirty="0">
                <a:solidFill>
                  <a:schemeClr val="tx1"/>
                </a:solidFill>
                <a:latin typeface="Arial" panose="020B0604020202020204" pitchFamily="34" charset="0"/>
                <a:ea typeface="宋体" panose="02010600030101010101" pitchFamily="2" charset="-122"/>
              </a:rPr>
              <a:t>动脉血氧分压≈ </a:t>
            </a:r>
            <a:r>
              <a:rPr lang="en-US" altLang="zh-CN" sz="2400" b="1" dirty="0">
                <a:solidFill>
                  <a:schemeClr val="tx1"/>
                </a:solidFill>
                <a:latin typeface="Arial" panose="020B0604020202020204" pitchFamily="34" charset="0"/>
                <a:ea typeface="宋体" panose="02010600030101010101" pitchFamily="2" charset="-122"/>
              </a:rPr>
              <a:t>100mmHg</a:t>
            </a:r>
          </a:p>
          <a:p>
            <a:pPr>
              <a:lnSpc>
                <a:spcPct val="120000"/>
              </a:lnSpc>
              <a:spcBef>
                <a:spcPct val="0"/>
              </a:spcBef>
              <a:buClrTx/>
              <a:buFontTx/>
              <a:buNone/>
            </a:pPr>
            <a:r>
              <a:rPr lang="zh-CN" altLang="en-US" sz="2400" b="1" dirty="0">
                <a:solidFill>
                  <a:schemeClr val="tx1"/>
                </a:solidFill>
                <a:latin typeface="Arial" panose="020B0604020202020204" pitchFamily="34" charset="0"/>
                <a:ea typeface="宋体" panose="02010600030101010101" pitchFamily="2" charset="-122"/>
              </a:rPr>
              <a:t>静脉血氧分压≈ </a:t>
            </a:r>
            <a:r>
              <a:rPr lang="en-US" altLang="zh-CN" sz="2400" b="1" dirty="0">
                <a:solidFill>
                  <a:schemeClr val="tx1"/>
                </a:solidFill>
                <a:latin typeface="Arial" panose="020B0604020202020204" pitchFamily="34" charset="0"/>
                <a:ea typeface="宋体" panose="02010600030101010101" pitchFamily="2" charset="-122"/>
              </a:rPr>
              <a:t>40mmHg</a:t>
            </a:r>
          </a:p>
          <a:p>
            <a:pPr>
              <a:lnSpc>
                <a:spcPct val="120000"/>
              </a:lnSpc>
              <a:spcBef>
                <a:spcPct val="0"/>
              </a:spcBef>
              <a:buClrTx/>
              <a:buFontTx/>
              <a:buNone/>
            </a:pPr>
            <a:r>
              <a:rPr lang="zh-CN" altLang="en-US" sz="2400" b="1" dirty="0">
                <a:solidFill>
                  <a:srgbClr val="0000CC"/>
                </a:solidFill>
                <a:latin typeface="Arial" panose="020B0604020202020204" pitchFamily="34" charset="0"/>
                <a:ea typeface="宋体" panose="02010600030101010101" pitchFamily="2" charset="-122"/>
              </a:rPr>
              <a:t>组织氧分压 ≈ </a:t>
            </a:r>
            <a:r>
              <a:rPr lang="en-US" altLang="zh-CN" sz="2400" b="1" dirty="0">
                <a:solidFill>
                  <a:srgbClr val="0000CC"/>
                </a:solidFill>
                <a:latin typeface="Arial" panose="020B0604020202020204" pitchFamily="34" charset="0"/>
                <a:ea typeface="宋体" panose="02010600030101010101" pitchFamily="2" charset="-122"/>
              </a:rPr>
              <a:t>30mmHg</a:t>
            </a:r>
          </a:p>
        </p:txBody>
      </p:sp>
      <p:grpSp>
        <p:nvGrpSpPr>
          <p:cNvPr id="77830" name="组合 7">
            <a:extLst>
              <a:ext uri="{FF2B5EF4-FFF2-40B4-BE49-F238E27FC236}">
                <a16:creationId xmlns:a16="http://schemas.microsoft.com/office/drawing/2014/main" id="{61ACF8CB-C0FB-4E24-87F1-97DC091506FD}"/>
              </a:ext>
            </a:extLst>
          </p:cNvPr>
          <p:cNvGrpSpPr>
            <a:grpSpLocks/>
          </p:cNvGrpSpPr>
          <p:nvPr/>
        </p:nvGrpSpPr>
        <p:grpSpPr bwMode="auto">
          <a:xfrm>
            <a:off x="1095251" y="1087713"/>
            <a:ext cx="5789612" cy="4760912"/>
            <a:chOff x="611560" y="1052736"/>
            <a:chExt cx="5789050" cy="4761035"/>
          </a:xfrm>
        </p:grpSpPr>
        <p:sp>
          <p:nvSpPr>
            <p:cNvPr id="5" name="矩形 4">
              <a:extLst>
                <a:ext uri="{FF2B5EF4-FFF2-40B4-BE49-F238E27FC236}">
                  <a16:creationId xmlns:a16="http://schemas.microsoft.com/office/drawing/2014/main" id="{E1FD0C8D-59C8-4245-8152-34C0C37C6D88}"/>
                </a:ext>
              </a:extLst>
            </p:cNvPr>
            <p:cNvSpPr/>
            <p:nvPr/>
          </p:nvSpPr>
          <p:spPr bwMode="auto">
            <a:xfrm>
              <a:off x="2195736" y="1412776"/>
              <a:ext cx="878438" cy="3600400"/>
            </a:xfrm>
            <a:prstGeom prst="rect">
              <a:avLst/>
            </a:prstGeom>
            <a:solidFill>
              <a:schemeClr val="accent1">
                <a:lumMod val="20000"/>
                <a:lumOff val="80000"/>
              </a:schemeClr>
            </a:solidFill>
            <a:ln w="9525" cap="flat" cmpd="sng" algn="ctr">
              <a:noFill/>
              <a:prstDash val="solid"/>
              <a:round/>
              <a:headEnd type="none" w="med" len="med"/>
              <a:tailEnd type="none" w="med" len="med"/>
            </a:ln>
            <a:effectLst>
              <a:softEdge rad="63500"/>
            </a:effectLst>
          </p:spPr>
          <p:txBody>
            <a:bodyPr wrap="none"/>
            <a:lstStyle/>
            <a:p>
              <a:pPr eaLnBrk="1" hangingPunct="1">
                <a:defRPr/>
              </a:pPr>
              <a:endParaRPr lang="zh-CN" altLang="en-US"/>
            </a:p>
          </p:txBody>
        </p:sp>
        <p:pic>
          <p:nvPicPr>
            <p:cNvPr id="77834" name="Picture 2" descr="curve">
              <a:extLst>
                <a:ext uri="{FF2B5EF4-FFF2-40B4-BE49-F238E27FC236}">
                  <a16:creationId xmlns:a16="http://schemas.microsoft.com/office/drawing/2014/main" id="{808CAA51-EBBC-4444-86F0-C06D049460F2}"/>
                </a:ext>
              </a:extLst>
            </p:cNvPr>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b="15263"/>
            <a:stretch>
              <a:fillRect/>
            </a:stretch>
          </p:blipFill>
          <p:spPr bwMode="auto">
            <a:xfrm>
              <a:off x="611560" y="1052736"/>
              <a:ext cx="5789050" cy="4761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5" name="文本框 3">
              <a:extLst>
                <a:ext uri="{FF2B5EF4-FFF2-40B4-BE49-F238E27FC236}">
                  <a16:creationId xmlns:a16="http://schemas.microsoft.com/office/drawing/2014/main" id="{7BBC0336-1807-4E02-8CB3-56B329C356E8}"/>
                </a:ext>
              </a:extLst>
            </p:cNvPr>
            <p:cNvSpPr txBox="1">
              <a:spLocks noChangeArrowheads="1"/>
            </p:cNvSpPr>
            <p:nvPr/>
          </p:nvSpPr>
          <p:spPr bwMode="auto">
            <a:xfrm>
              <a:off x="1331640" y="4971521"/>
              <a:ext cx="102245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1800" b="1" dirty="0">
                  <a:solidFill>
                    <a:schemeClr val="tx1"/>
                  </a:solidFill>
                  <a:latin typeface="Arial" panose="020B0604020202020204" pitchFamily="34" charset="0"/>
                  <a:ea typeface="宋体" panose="02010600030101010101" pitchFamily="2" charset="-122"/>
                </a:rPr>
                <a:t>运动时的肌肉</a:t>
              </a:r>
            </a:p>
          </p:txBody>
        </p:sp>
        <p:cxnSp>
          <p:nvCxnSpPr>
            <p:cNvPr id="3" name="直接连接符 2">
              <a:extLst>
                <a:ext uri="{FF2B5EF4-FFF2-40B4-BE49-F238E27FC236}">
                  <a16:creationId xmlns:a16="http://schemas.microsoft.com/office/drawing/2014/main" id="{710C323C-A86E-4028-9052-03E798669C65}"/>
                </a:ext>
              </a:extLst>
            </p:cNvPr>
            <p:cNvCxnSpPr/>
            <p:nvPr/>
          </p:nvCxnSpPr>
          <p:spPr bwMode="auto">
            <a:xfrm>
              <a:off x="1908421" y="1413107"/>
              <a:ext cx="0" cy="3527516"/>
            </a:xfrm>
            <a:prstGeom prst="line">
              <a:avLst/>
            </a:prstGeom>
            <a:ln w="28575">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gr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0530"/>
                                        </p:tgtEl>
                                        <p:attrNameLst>
                                          <p:attrName>style.visibility</p:attrName>
                                        </p:attrNameLst>
                                      </p:cBhvr>
                                      <p:to>
                                        <p:strVal val="visible"/>
                                      </p:to>
                                    </p:set>
                                    <p:animEffect transition="in" filter="box(in)">
                                      <p:cBhvr>
                                        <p:cTn id="7" dur="500"/>
                                        <p:tgtEl>
                                          <p:spTgt spid="15053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50531"/>
                                        </p:tgtEl>
                                        <p:attrNameLst>
                                          <p:attrName>style.visibility</p:attrName>
                                        </p:attrNameLst>
                                      </p:cBhvr>
                                      <p:to>
                                        <p:strVal val="visible"/>
                                      </p:to>
                                    </p:set>
                                    <p:animEffect transition="in" filter="box(in)">
                                      <p:cBhvr>
                                        <p:cTn id="12" dur="500"/>
                                        <p:tgtEl>
                                          <p:spTgt spid="150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animBg="1"/>
      <p:bldP spid="150531"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9A45758F-F985-4C31-9952-F91BF9103AD2}"/>
              </a:ext>
            </a:extLst>
          </p:cNvPr>
          <p:cNvSpPr>
            <a:spLocks noGrp="1" noChangeArrowheads="1"/>
          </p:cNvSpPr>
          <p:nvPr>
            <p:ph type="title"/>
          </p:nvPr>
        </p:nvSpPr>
        <p:spPr>
          <a:xfrm>
            <a:off x="1703388" y="188913"/>
            <a:ext cx="6913562" cy="563562"/>
          </a:xfrm>
        </p:spPr>
        <p:txBody>
          <a:bodyPr/>
          <a:lstStyle/>
          <a:p>
            <a:pPr algn="ctr" eaLnBrk="1" hangingPunct="1">
              <a:defRPr/>
            </a:pPr>
            <a:r>
              <a:rPr lang="zh-CN" altLang="en-US" sz="4000" dirty="0">
                <a:solidFill>
                  <a:schemeClr val="accent3"/>
                </a:solidFill>
                <a:latin typeface="Times New Roman" panose="02020603050405020304" pitchFamily="18" charset="0"/>
              </a:rPr>
              <a:t>协同效应</a:t>
            </a:r>
            <a:r>
              <a:rPr lang="en-US" altLang="zh-CN" sz="4000" dirty="0">
                <a:solidFill>
                  <a:schemeClr val="accent3"/>
                </a:solidFill>
                <a:latin typeface="Times New Roman" panose="02020603050405020304" pitchFamily="18" charset="0"/>
              </a:rPr>
              <a:t>(cooperativity)   </a:t>
            </a:r>
          </a:p>
        </p:txBody>
      </p:sp>
      <p:sp>
        <p:nvSpPr>
          <p:cNvPr id="58371" name="Rectangle 3">
            <a:extLst>
              <a:ext uri="{FF2B5EF4-FFF2-40B4-BE49-F238E27FC236}">
                <a16:creationId xmlns:a16="http://schemas.microsoft.com/office/drawing/2014/main" id="{7D55F7BB-C33B-4731-9DCF-38791E9DC084}"/>
              </a:ext>
            </a:extLst>
          </p:cNvPr>
          <p:cNvSpPr>
            <a:spLocks noGrp="1" noChangeArrowheads="1"/>
          </p:cNvSpPr>
          <p:nvPr>
            <p:ph type="body" idx="4294967295"/>
          </p:nvPr>
        </p:nvSpPr>
        <p:spPr>
          <a:xfrm>
            <a:off x="1055440" y="1404937"/>
            <a:ext cx="10297144" cy="4048125"/>
          </a:xfrm>
        </p:spPr>
        <p:txBody>
          <a:bodyPr/>
          <a:lstStyle/>
          <a:p>
            <a:pPr eaLnBrk="1" hangingPunct="1">
              <a:lnSpc>
                <a:spcPct val="130000"/>
              </a:lnSpc>
            </a:pPr>
            <a:r>
              <a:rPr lang="zh-CN" altLang="en-US" dirty="0">
                <a:solidFill>
                  <a:schemeClr val="tx1"/>
                </a:solidFill>
              </a:rPr>
              <a:t>蛋白质的一个亚基与其配体结合后，能影响此蛋白质分子中另一个亚基与配体结合能力的现象，称为</a:t>
            </a:r>
            <a:r>
              <a:rPr lang="zh-CN" altLang="en-US" dirty="0">
                <a:solidFill>
                  <a:srgbClr val="C00000"/>
                </a:solidFill>
              </a:rPr>
              <a:t>协同效应。 </a:t>
            </a:r>
          </a:p>
          <a:p>
            <a:pPr marL="0" indent="723900" eaLnBrk="1" hangingPunct="1">
              <a:lnSpc>
                <a:spcPct val="130000"/>
              </a:lnSpc>
              <a:buNone/>
            </a:pPr>
            <a:r>
              <a:rPr lang="zh-CN" altLang="en-US" dirty="0">
                <a:solidFill>
                  <a:schemeClr val="tx1"/>
                </a:solidFill>
              </a:rPr>
              <a:t>如果是促进作用则称为</a:t>
            </a:r>
            <a:r>
              <a:rPr lang="zh-CN" altLang="en-US" dirty="0">
                <a:solidFill>
                  <a:srgbClr val="C00000"/>
                </a:solidFill>
              </a:rPr>
              <a:t>正协同效应</a:t>
            </a:r>
            <a:r>
              <a:rPr lang="zh-CN" altLang="en-US" sz="2400" dirty="0">
                <a:solidFill>
                  <a:srgbClr val="C00000"/>
                </a:solidFill>
              </a:rPr>
              <a:t> </a:t>
            </a:r>
            <a:r>
              <a:rPr lang="en-US" altLang="zh-CN" sz="2400" b="1" dirty="0">
                <a:solidFill>
                  <a:srgbClr val="C00000"/>
                </a:solidFill>
              </a:rPr>
              <a:t>(positive cooperativity)</a:t>
            </a:r>
          </a:p>
          <a:p>
            <a:pPr marL="0" indent="723900" eaLnBrk="1" hangingPunct="1">
              <a:lnSpc>
                <a:spcPct val="150000"/>
              </a:lnSpc>
              <a:buNone/>
            </a:pPr>
            <a:r>
              <a:rPr lang="zh-CN" altLang="en-US" dirty="0">
                <a:solidFill>
                  <a:schemeClr val="tx1"/>
                </a:solidFill>
              </a:rPr>
              <a:t>如果是抑制作用则称为</a:t>
            </a:r>
            <a:r>
              <a:rPr lang="zh-CN" altLang="en-US" dirty="0">
                <a:solidFill>
                  <a:srgbClr val="C00000"/>
                </a:solidFill>
              </a:rPr>
              <a:t>负协同效应</a:t>
            </a:r>
            <a:r>
              <a:rPr lang="zh-CN" altLang="en-US" u="sng" dirty="0">
                <a:solidFill>
                  <a:srgbClr val="C00000"/>
                </a:solidFill>
              </a:rPr>
              <a:t> </a:t>
            </a:r>
            <a:r>
              <a:rPr lang="en-US" altLang="zh-CN" sz="2400" b="1" dirty="0">
                <a:solidFill>
                  <a:srgbClr val="C00000"/>
                </a:solidFill>
              </a:rPr>
              <a:t>(negative cooperativity)</a:t>
            </a:r>
          </a:p>
          <a:p>
            <a:pPr eaLnBrk="1" hangingPunct="1">
              <a:lnSpc>
                <a:spcPct val="150000"/>
              </a:lnSpc>
            </a:pPr>
            <a:r>
              <a:rPr lang="en-US" altLang="zh-CN" sz="2400" dirty="0">
                <a:solidFill>
                  <a:srgbClr val="C00000"/>
                </a:solidFill>
              </a:rPr>
              <a:t> </a:t>
            </a:r>
            <a:r>
              <a:rPr lang="zh-CN" altLang="en-US" dirty="0">
                <a:solidFill>
                  <a:schemeClr val="tx1"/>
                </a:solidFill>
              </a:rPr>
              <a:t>血红蛋白与氧结合时存在正协同效应，所以</a:t>
            </a:r>
            <a:r>
              <a:rPr lang="en-US" altLang="zh-CN" dirty="0">
                <a:solidFill>
                  <a:schemeClr val="tx1"/>
                </a:solidFill>
              </a:rPr>
              <a:t>Hb</a:t>
            </a:r>
            <a:r>
              <a:rPr lang="zh-CN" altLang="en-US" dirty="0">
                <a:solidFill>
                  <a:schemeClr val="tx1"/>
                </a:solidFill>
              </a:rPr>
              <a:t>氧解离曲线呈“</a:t>
            </a:r>
            <a:r>
              <a:rPr lang="en-US" altLang="zh-CN" dirty="0">
                <a:solidFill>
                  <a:schemeClr val="tx1"/>
                </a:solidFill>
              </a:rPr>
              <a:t>S”</a:t>
            </a:r>
            <a:r>
              <a:rPr lang="zh-CN" altLang="en-US" dirty="0">
                <a:solidFill>
                  <a:schemeClr val="tx1"/>
                </a:solidFill>
              </a:rPr>
              <a:t>形。    </a:t>
            </a:r>
            <a:endParaRPr lang="en-US" altLang="zh-CN" sz="2400" dirty="0">
              <a:solidFill>
                <a:srgbClr val="C00000"/>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8371">
                                            <p:txEl>
                                              <p:pRg st="1" end="1"/>
                                            </p:txEl>
                                          </p:spTgt>
                                        </p:tgtEl>
                                        <p:attrNameLst>
                                          <p:attrName>style.visibility</p:attrName>
                                        </p:attrNameLst>
                                      </p:cBhvr>
                                      <p:to>
                                        <p:strVal val="visible"/>
                                      </p:to>
                                    </p:set>
                                    <p:anim calcmode="lin" valueType="num">
                                      <p:cBhvr>
                                        <p:cTn id="7" dur="500" fill="hold"/>
                                        <p:tgtEl>
                                          <p:spTgt spid="58371">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58371">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58371">
                                            <p:txEl>
                                              <p:pRg st="2" end="2"/>
                                            </p:txEl>
                                          </p:spTgt>
                                        </p:tgtEl>
                                        <p:attrNameLst>
                                          <p:attrName>style.visibility</p:attrName>
                                        </p:attrNameLst>
                                      </p:cBhvr>
                                      <p:to>
                                        <p:strVal val="visible"/>
                                      </p:to>
                                    </p:set>
                                    <p:anim calcmode="lin" valueType="num">
                                      <p:cBhvr>
                                        <p:cTn id="13" dur="500" fill="hold"/>
                                        <p:tgtEl>
                                          <p:spTgt spid="58371">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58371">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58371">
                                            <p:txEl>
                                              <p:pRg st="3" end="3"/>
                                            </p:txEl>
                                          </p:spTgt>
                                        </p:tgtEl>
                                        <p:attrNameLst>
                                          <p:attrName>style.visibility</p:attrName>
                                        </p:attrNameLst>
                                      </p:cBhvr>
                                      <p:to>
                                        <p:strVal val="visible"/>
                                      </p:to>
                                    </p:set>
                                    <p:anim calcmode="lin" valueType="num">
                                      <p:cBhvr>
                                        <p:cTn id="19" dur="500" fill="hold"/>
                                        <p:tgtEl>
                                          <p:spTgt spid="58371">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58371">
                                            <p:txEl>
                                              <p:pRg st="3" end="3"/>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uiExpand="1"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3" descr="01040130">
            <a:extLst>
              <a:ext uri="{FF2B5EF4-FFF2-40B4-BE49-F238E27FC236}">
                <a16:creationId xmlns:a16="http://schemas.microsoft.com/office/drawing/2014/main" id="{0D0BCA02-DE45-4322-B06E-C9AF4F0F05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451" y="981076"/>
            <a:ext cx="6697663"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3" name="Text Box 5">
            <a:extLst>
              <a:ext uri="{FF2B5EF4-FFF2-40B4-BE49-F238E27FC236}">
                <a16:creationId xmlns:a16="http://schemas.microsoft.com/office/drawing/2014/main" id="{9E62C0E7-5ABE-421C-8CF1-FA4501976AD3}"/>
              </a:ext>
            </a:extLst>
          </p:cNvPr>
          <p:cNvSpPr txBox="1">
            <a:spLocks noChangeArrowheads="1"/>
          </p:cNvSpPr>
          <p:nvPr/>
        </p:nvSpPr>
        <p:spPr bwMode="auto">
          <a:xfrm>
            <a:off x="2279650" y="5283201"/>
            <a:ext cx="3671888" cy="11695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b="1" dirty="0">
                <a:solidFill>
                  <a:srgbClr val="C00000"/>
                </a:solidFill>
              </a:rPr>
              <a:t>紧张态（</a:t>
            </a:r>
            <a:r>
              <a:rPr lang="en-US" altLang="zh-CN" b="1" dirty="0">
                <a:solidFill>
                  <a:srgbClr val="0000CC"/>
                </a:solidFill>
              </a:rPr>
              <a:t>t</a:t>
            </a:r>
            <a:r>
              <a:rPr lang="en-US" altLang="zh-CN" b="1" dirty="0">
                <a:solidFill>
                  <a:srgbClr val="C00000"/>
                </a:solidFill>
              </a:rPr>
              <a:t>ense state</a:t>
            </a:r>
            <a:r>
              <a:rPr lang="zh-CN" altLang="en-US" b="1" dirty="0">
                <a:solidFill>
                  <a:srgbClr val="C00000"/>
                </a:solidFill>
              </a:rPr>
              <a:t>）</a:t>
            </a:r>
          </a:p>
          <a:p>
            <a:pPr eaLnBrk="1" hangingPunct="1">
              <a:spcBef>
                <a:spcPct val="50000"/>
              </a:spcBef>
              <a:buClrTx/>
              <a:buFontTx/>
              <a:buNone/>
            </a:pPr>
            <a:r>
              <a:rPr lang="zh-CN" altLang="en-US" b="1" dirty="0">
                <a:solidFill>
                  <a:schemeClr val="tx1"/>
                </a:solidFill>
              </a:rPr>
              <a:t>非氧合</a:t>
            </a:r>
            <a:r>
              <a:rPr lang="en-US" altLang="zh-CN" b="1" dirty="0">
                <a:solidFill>
                  <a:schemeClr val="tx1"/>
                </a:solidFill>
              </a:rPr>
              <a:t>Hb</a:t>
            </a:r>
            <a:r>
              <a:rPr lang="zh-CN" altLang="en-US" b="1" dirty="0">
                <a:solidFill>
                  <a:schemeClr val="tx1"/>
                </a:solidFill>
              </a:rPr>
              <a:t>构象</a:t>
            </a:r>
          </a:p>
        </p:txBody>
      </p:sp>
      <p:sp>
        <p:nvSpPr>
          <p:cNvPr id="389126" name="Text Box 6">
            <a:extLst>
              <a:ext uri="{FF2B5EF4-FFF2-40B4-BE49-F238E27FC236}">
                <a16:creationId xmlns:a16="http://schemas.microsoft.com/office/drawing/2014/main" id="{14D958C7-9BE7-46A0-9D5B-EE7DEE521805}"/>
              </a:ext>
            </a:extLst>
          </p:cNvPr>
          <p:cNvSpPr txBox="1">
            <a:spLocks noChangeArrowheads="1"/>
          </p:cNvSpPr>
          <p:nvPr/>
        </p:nvSpPr>
        <p:spPr bwMode="auto">
          <a:xfrm>
            <a:off x="6605589" y="5243514"/>
            <a:ext cx="3811587" cy="1169551"/>
          </a:xfrm>
          <a:prstGeom prst="rect">
            <a:avLst/>
          </a:prstGeom>
          <a:noFill/>
          <a:ln w="9525">
            <a:solidFill>
              <a:srgbClr val="000000"/>
            </a:solidFill>
            <a:miter lim="800000"/>
            <a:headEnd/>
            <a:tailEnd/>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lang="zh-CN" altLang="en-US" dirty="0">
                <a:solidFill>
                  <a:srgbClr val="C00000"/>
                </a:solidFill>
              </a:rPr>
              <a:t>松弛态（</a:t>
            </a:r>
            <a:r>
              <a:rPr lang="en-US" altLang="zh-CN" dirty="0">
                <a:solidFill>
                  <a:srgbClr val="0000CC"/>
                </a:solidFill>
              </a:rPr>
              <a:t>r</a:t>
            </a:r>
            <a:r>
              <a:rPr lang="en-US" altLang="zh-CN" dirty="0">
                <a:solidFill>
                  <a:srgbClr val="C00000"/>
                </a:solidFill>
              </a:rPr>
              <a:t>elaxed state</a:t>
            </a:r>
            <a:r>
              <a:rPr lang="zh-CN" altLang="en-US" dirty="0">
                <a:solidFill>
                  <a:srgbClr val="C00000"/>
                </a:solidFill>
              </a:rPr>
              <a:t>）</a:t>
            </a:r>
          </a:p>
          <a:p>
            <a:pPr eaLnBrk="1" hangingPunct="1">
              <a:spcBef>
                <a:spcPct val="50000"/>
              </a:spcBef>
              <a:buClrTx/>
              <a:buFontTx/>
              <a:buNone/>
              <a:defRPr/>
            </a:pPr>
            <a:r>
              <a:rPr lang="zh-CN" altLang="en-US" dirty="0">
                <a:solidFill>
                  <a:schemeClr val="tx1"/>
                </a:solidFill>
                <a:latin typeface="+mn-ea"/>
                <a:ea typeface="+mn-ea"/>
              </a:rPr>
              <a:t>氧合</a:t>
            </a:r>
            <a:r>
              <a:rPr lang="en-US" altLang="zh-CN" dirty="0">
                <a:solidFill>
                  <a:schemeClr val="tx1"/>
                </a:solidFill>
                <a:latin typeface="+mn-ea"/>
                <a:ea typeface="+mn-ea"/>
              </a:rPr>
              <a:t>Hb</a:t>
            </a:r>
            <a:r>
              <a:rPr lang="zh-CN" altLang="en-US" dirty="0">
                <a:solidFill>
                  <a:schemeClr val="tx1"/>
                </a:solidFill>
                <a:latin typeface="+mn-ea"/>
                <a:ea typeface="+mn-ea"/>
              </a:rPr>
              <a:t>构象</a:t>
            </a:r>
          </a:p>
        </p:txBody>
      </p:sp>
      <p:sp>
        <p:nvSpPr>
          <p:cNvPr id="81925" name="标题 1">
            <a:extLst>
              <a:ext uri="{FF2B5EF4-FFF2-40B4-BE49-F238E27FC236}">
                <a16:creationId xmlns:a16="http://schemas.microsoft.com/office/drawing/2014/main" id="{B466E561-94E2-46F3-B588-910DD72D452C}"/>
              </a:ext>
            </a:extLst>
          </p:cNvPr>
          <p:cNvSpPr>
            <a:spLocks noGrp="1" noChangeArrowheads="1"/>
          </p:cNvSpPr>
          <p:nvPr>
            <p:ph type="title"/>
          </p:nvPr>
        </p:nvSpPr>
        <p:spPr>
          <a:xfrm>
            <a:off x="2038350" y="260351"/>
            <a:ext cx="8305800" cy="720725"/>
          </a:xfrm>
          <a:solidFill>
            <a:srgbClr val="1867AF"/>
          </a:solidFill>
        </p:spPr>
        <p:txBody>
          <a:bodyPr/>
          <a:lstStyle/>
          <a:p>
            <a:r>
              <a:rPr lang="zh-CN" altLang="en-US"/>
              <a:t>血红蛋白有两种稳定构象：</a:t>
            </a:r>
            <a:r>
              <a:rPr lang="en-US" altLang="zh-CN"/>
              <a:t>T</a:t>
            </a:r>
            <a:r>
              <a:rPr lang="zh-CN" altLang="en-US"/>
              <a:t>态和</a:t>
            </a:r>
            <a:r>
              <a:rPr lang="en-US" altLang="zh-CN"/>
              <a:t>R</a:t>
            </a:r>
            <a:r>
              <a:rPr lang="zh-CN" altLang="en-US"/>
              <a:t>态</a:t>
            </a:r>
          </a:p>
        </p:txBody>
      </p:sp>
    </p:spTree>
  </p:cSld>
  <p:clrMapOvr>
    <a:masterClrMapping/>
  </p:clrMapOvr>
  <p:transition spd="slow">
    <p:circle/>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3970" name="标题 1">
            <a:extLst>
              <a:ext uri="{FF2B5EF4-FFF2-40B4-BE49-F238E27FC236}">
                <a16:creationId xmlns:a16="http://schemas.microsoft.com/office/drawing/2014/main" id="{C49A63C1-1131-4E8F-8C08-8D083209AA3E}"/>
              </a:ext>
            </a:extLst>
          </p:cNvPr>
          <p:cNvSpPr>
            <a:spLocks noGrp="1" noChangeArrowheads="1"/>
          </p:cNvSpPr>
          <p:nvPr>
            <p:ph type="title"/>
          </p:nvPr>
        </p:nvSpPr>
        <p:spPr>
          <a:xfrm>
            <a:off x="1939131" y="482792"/>
            <a:ext cx="8305800" cy="563563"/>
          </a:xfrm>
        </p:spPr>
        <p:txBody>
          <a:bodyPr/>
          <a:lstStyle/>
          <a:p>
            <a:r>
              <a:rPr lang="zh-CN" altLang="en-US"/>
              <a:t>结合氧后，血红蛋白由</a:t>
            </a:r>
            <a:r>
              <a:rPr lang="en-US" altLang="zh-CN"/>
              <a:t>T</a:t>
            </a:r>
            <a:r>
              <a:rPr lang="zh-CN" altLang="en-US"/>
              <a:t>态向</a:t>
            </a:r>
            <a:r>
              <a:rPr lang="en-US" altLang="zh-CN"/>
              <a:t>R</a:t>
            </a:r>
            <a:r>
              <a:rPr lang="zh-CN" altLang="en-US"/>
              <a:t>态转变</a:t>
            </a:r>
          </a:p>
        </p:txBody>
      </p:sp>
      <p:pic>
        <p:nvPicPr>
          <p:cNvPr id="83971" name="图片 3">
            <a:extLst>
              <a:ext uri="{FF2B5EF4-FFF2-40B4-BE49-F238E27FC236}">
                <a16:creationId xmlns:a16="http://schemas.microsoft.com/office/drawing/2014/main" id="{6AEA53F0-9A68-4ED5-A3B1-AD19A93395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0662" y="1557338"/>
            <a:ext cx="9202738"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2" name="文本框 4">
            <a:extLst>
              <a:ext uri="{FF2B5EF4-FFF2-40B4-BE49-F238E27FC236}">
                <a16:creationId xmlns:a16="http://schemas.microsoft.com/office/drawing/2014/main" id="{464DEE73-0907-4FF3-8A7E-BCDF02408656}"/>
              </a:ext>
            </a:extLst>
          </p:cNvPr>
          <p:cNvSpPr txBox="1">
            <a:spLocks noChangeArrowheads="1"/>
          </p:cNvSpPr>
          <p:nvPr/>
        </p:nvSpPr>
        <p:spPr bwMode="auto">
          <a:xfrm>
            <a:off x="2783632" y="5623061"/>
            <a:ext cx="69122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dirty="0">
                <a:solidFill>
                  <a:srgbClr val="0000CC"/>
                </a:solidFill>
                <a:latin typeface="微软雅黑" panose="020B0503020204020204" pitchFamily="34" charset="-122"/>
                <a:ea typeface="微软雅黑" panose="020B0503020204020204" pitchFamily="34" charset="-122"/>
              </a:rPr>
              <a:t>两个</a:t>
            </a:r>
            <a:r>
              <a:rPr lang="el-GR" altLang="zh-CN" dirty="0">
                <a:solidFill>
                  <a:srgbClr val="0000CC"/>
                </a:solidFill>
                <a:latin typeface="微软雅黑" panose="020B0503020204020204" pitchFamily="34" charset="-122"/>
                <a:ea typeface="微软雅黑" panose="020B0503020204020204" pitchFamily="34" charset="-122"/>
              </a:rPr>
              <a:t>αβ</a:t>
            </a:r>
            <a:r>
              <a:rPr lang="en-US" altLang="zh-CN" dirty="0">
                <a:solidFill>
                  <a:srgbClr val="0000CC"/>
                </a:solidFill>
                <a:latin typeface="微软雅黑" panose="020B0503020204020204" pitchFamily="34" charset="-122"/>
                <a:ea typeface="微软雅黑" panose="020B0503020204020204" pitchFamily="34" charset="-122"/>
              </a:rPr>
              <a:t> </a:t>
            </a:r>
            <a:r>
              <a:rPr lang="zh-CN" altLang="en-US" dirty="0">
                <a:solidFill>
                  <a:srgbClr val="0000CC"/>
                </a:solidFill>
                <a:latin typeface="微软雅黑" panose="020B0503020204020204" pitchFamily="34" charset="-122"/>
                <a:ea typeface="微软雅黑" panose="020B0503020204020204" pitchFamily="34" charset="-122"/>
              </a:rPr>
              <a:t>二聚体之间部分盐键和氢键断裂</a:t>
            </a:r>
          </a:p>
        </p:txBody>
      </p:sp>
    </p:spTree>
  </p:cSld>
  <p:clrMapOvr>
    <a:masterClrMapping/>
  </p:clrMapOvr>
  <p:transition spd="slow">
    <p:circl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descr="2-25A">
            <a:extLst>
              <a:ext uri="{FF2B5EF4-FFF2-40B4-BE49-F238E27FC236}">
                <a16:creationId xmlns:a16="http://schemas.microsoft.com/office/drawing/2014/main" id="{E5501761-205D-4D84-A589-4684276ECB43}"/>
              </a:ext>
            </a:extLst>
          </p:cNvPr>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6187752" y="549275"/>
            <a:ext cx="4876800" cy="314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3">
            <a:extLst>
              <a:ext uri="{FF2B5EF4-FFF2-40B4-BE49-F238E27FC236}">
                <a16:creationId xmlns:a16="http://schemas.microsoft.com/office/drawing/2014/main" id="{97EAEE8A-9A99-4B5F-90A6-D7E6D500C267}"/>
              </a:ext>
            </a:extLst>
          </p:cNvPr>
          <p:cNvGrpSpPr>
            <a:grpSpLocks/>
          </p:cNvGrpSpPr>
          <p:nvPr/>
        </p:nvGrpSpPr>
        <p:grpSpPr bwMode="auto">
          <a:xfrm>
            <a:off x="8580115" y="3200400"/>
            <a:ext cx="1066800" cy="685800"/>
            <a:chOff x="2592" y="1680"/>
            <a:chExt cx="624" cy="432"/>
          </a:xfrm>
        </p:grpSpPr>
        <p:sp>
          <p:nvSpPr>
            <p:cNvPr id="86024" name="Text Box 4">
              <a:extLst>
                <a:ext uri="{FF2B5EF4-FFF2-40B4-BE49-F238E27FC236}">
                  <a16:creationId xmlns:a16="http://schemas.microsoft.com/office/drawing/2014/main" id="{E27F6BB8-0A04-4599-AFBC-1906C1FEBC3E}"/>
                </a:ext>
              </a:extLst>
            </p:cNvPr>
            <p:cNvSpPr txBox="1">
              <a:spLocks noChangeArrowheads="1"/>
            </p:cNvSpPr>
            <p:nvPr/>
          </p:nvSpPr>
          <p:spPr bwMode="auto">
            <a:xfrm>
              <a:off x="2688" y="1728"/>
              <a:ext cx="5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a:solidFill>
                    <a:schemeClr val="tx1"/>
                  </a:solidFill>
                  <a:latin typeface="Tahoma" panose="020B0604030504040204" pitchFamily="34" charset="0"/>
                  <a:ea typeface="隶书" panose="02010509060101010101" pitchFamily="49" charset="-122"/>
                </a:rPr>
                <a:t>O</a:t>
              </a:r>
              <a:r>
                <a:rPr kumimoji="1" lang="en-US" altLang="zh-CN" sz="3200" baseline="-25000">
                  <a:solidFill>
                    <a:schemeClr val="tx1"/>
                  </a:solidFill>
                  <a:latin typeface="Tahoma" panose="020B0604030504040204" pitchFamily="34" charset="0"/>
                  <a:ea typeface="隶书" panose="02010509060101010101" pitchFamily="49" charset="-122"/>
                </a:rPr>
                <a:t>2</a:t>
              </a:r>
            </a:p>
          </p:txBody>
        </p:sp>
        <p:sp>
          <p:nvSpPr>
            <p:cNvPr id="86025" name="Line 5">
              <a:extLst>
                <a:ext uri="{FF2B5EF4-FFF2-40B4-BE49-F238E27FC236}">
                  <a16:creationId xmlns:a16="http://schemas.microsoft.com/office/drawing/2014/main" id="{D6E95A76-6773-40AE-AB1C-8965052B514B}"/>
                </a:ext>
              </a:extLst>
            </p:cNvPr>
            <p:cNvSpPr>
              <a:spLocks noChangeShapeType="1"/>
            </p:cNvSpPr>
            <p:nvPr/>
          </p:nvSpPr>
          <p:spPr bwMode="auto">
            <a:xfrm>
              <a:off x="2592" y="1680"/>
              <a:ext cx="0" cy="432"/>
            </a:xfrm>
            <a:prstGeom prst="line">
              <a:avLst/>
            </a:prstGeom>
            <a:noFill/>
            <a:ln w="5715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pic>
        <p:nvPicPr>
          <p:cNvPr id="60422" name="Picture 6" descr="2-25B">
            <a:extLst>
              <a:ext uri="{FF2B5EF4-FFF2-40B4-BE49-F238E27FC236}">
                <a16:creationId xmlns:a16="http://schemas.microsoft.com/office/drawing/2014/main" id="{34CC29DF-CC19-4CF6-AB81-017B0F205181}"/>
              </a:ext>
            </a:extLst>
          </p:cNvPr>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6187752" y="3429000"/>
            <a:ext cx="48768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3" name="Text Box 7">
            <a:extLst>
              <a:ext uri="{FF2B5EF4-FFF2-40B4-BE49-F238E27FC236}">
                <a16:creationId xmlns:a16="http://schemas.microsoft.com/office/drawing/2014/main" id="{94EBFA78-6597-4E52-9ACB-3B5391BF0959}"/>
              </a:ext>
            </a:extLst>
          </p:cNvPr>
          <p:cNvSpPr txBox="1">
            <a:spLocks noChangeArrowheads="1"/>
          </p:cNvSpPr>
          <p:nvPr/>
        </p:nvSpPr>
        <p:spPr bwMode="auto">
          <a:xfrm>
            <a:off x="825618" y="1988840"/>
            <a:ext cx="4876800" cy="2272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indent="714375">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30000"/>
              </a:lnSpc>
              <a:spcBef>
                <a:spcPct val="0"/>
              </a:spcBef>
              <a:buClrTx/>
              <a:buFontTx/>
              <a:buNone/>
            </a:pPr>
            <a:r>
              <a:rPr kumimoji="1" lang="zh-CN" altLang="en-US" dirty="0">
                <a:solidFill>
                  <a:schemeClr val="tx1"/>
                </a:solidFill>
              </a:rPr>
              <a:t>血红素与氧结合后，</a:t>
            </a:r>
            <a:r>
              <a:rPr kumimoji="1" lang="zh-CN" altLang="en-US" dirty="0">
                <a:solidFill>
                  <a:srgbClr val="0000CC"/>
                </a:solidFill>
              </a:rPr>
              <a:t>铁原子半径变小</a:t>
            </a:r>
            <a:r>
              <a:rPr kumimoji="1" lang="zh-CN" altLang="en-US" dirty="0">
                <a:solidFill>
                  <a:schemeClr val="tx1"/>
                </a:solidFill>
              </a:rPr>
              <a:t>，就能进入卟啉环的小孔中，继而引起肽链位置的变动。</a:t>
            </a:r>
          </a:p>
        </p:txBody>
      </p:sp>
      <p:sp>
        <p:nvSpPr>
          <p:cNvPr id="9" name="标题 2">
            <a:extLst>
              <a:ext uri="{FF2B5EF4-FFF2-40B4-BE49-F238E27FC236}">
                <a16:creationId xmlns:a16="http://schemas.microsoft.com/office/drawing/2014/main" id="{53A9ACC8-308D-4D0A-8192-FF4569C73FB7}"/>
              </a:ext>
            </a:extLst>
          </p:cNvPr>
          <p:cNvSpPr txBox="1">
            <a:spLocks/>
          </p:cNvSpPr>
          <p:nvPr/>
        </p:nvSpPr>
        <p:spPr>
          <a:xfrm>
            <a:off x="1847850" y="769938"/>
            <a:ext cx="8305800" cy="565150"/>
          </a:xfrm>
          <a:prstGeom prst="rect">
            <a:avLst/>
          </a:prstGeom>
        </p:spPr>
        <p:txBody>
          <a:bodyPr/>
          <a:lstStyle>
            <a:lvl1pPr algn="l" rtl="0" eaLnBrk="0" fontAlgn="base" hangingPunct="0">
              <a:spcBef>
                <a:spcPct val="0"/>
              </a:spcBef>
              <a:spcAft>
                <a:spcPct val="0"/>
              </a:spcAft>
              <a:defRPr sz="3600" b="1">
                <a:solidFill>
                  <a:schemeClr val="bg1"/>
                </a:solidFill>
                <a:latin typeface="+mj-lt"/>
                <a:ea typeface="+mj-ea"/>
                <a:cs typeface="+mj-cs"/>
              </a:defRPr>
            </a:lvl1pPr>
            <a:lvl2pPr algn="l" rtl="0" eaLnBrk="0" fontAlgn="base" hangingPunct="0">
              <a:spcBef>
                <a:spcPct val="0"/>
              </a:spcBef>
              <a:spcAft>
                <a:spcPct val="0"/>
              </a:spcAft>
              <a:defRPr sz="3600" b="1">
                <a:solidFill>
                  <a:schemeClr val="bg1"/>
                </a:solidFill>
                <a:latin typeface="黑体" pitchFamily="49" charset="-122"/>
                <a:ea typeface="黑体" pitchFamily="49" charset="-122"/>
              </a:defRPr>
            </a:lvl2pPr>
            <a:lvl3pPr algn="l" rtl="0" eaLnBrk="0" fontAlgn="base" hangingPunct="0">
              <a:spcBef>
                <a:spcPct val="0"/>
              </a:spcBef>
              <a:spcAft>
                <a:spcPct val="0"/>
              </a:spcAft>
              <a:defRPr sz="3600" b="1">
                <a:solidFill>
                  <a:schemeClr val="bg1"/>
                </a:solidFill>
                <a:latin typeface="黑体" pitchFamily="49" charset="-122"/>
                <a:ea typeface="黑体" pitchFamily="49" charset="-122"/>
              </a:defRPr>
            </a:lvl3pPr>
            <a:lvl4pPr algn="l" rtl="0" eaLnBrk="0" fontAlgn="base" hangingPunct="0">
              <a:spcBef>
                <a:spcPct val="0"/>
              </a:spcBef>
              <a:spcAft>
                <a:spcPct val="0"/>
              </a:spcAft>
              <a:defRPr sz="3600" b="1">
                <a:solidFill>
                  <a:schemeClr val="bg1"/>
                </a:solidFill>
                <a:latin typeface="黑体" pitchFamily="49" charset="-122"/>
                <a:ea typeface="黑体" pitchFamily="49" charset="-122"/>
              </a:defRPr>
            </a:lvl4pPr>
            <a:lvl5pPr algn="l" rtl="0" eaLnBrk="0" fontAlgn="base" hangingPunct="0">
              <a:spcBef>
                <a:spcPct val="0"/>
              </a:spcBef>
              <a:spcAft>
                <a:spcPct val="0"/>
              </a:spcAft>
              <a:defRPr sz="3600" b="1">
                <a:solidFill>
                  <a:schemeClr val="bg1"/>
                </a:solidFill>
                <a:latin typeface="黑体" pitchFamily="49" charset="-122"/>
                <a:ea typeface="黑体" pitchFamily="49" charset="-122"/>
              </a:defRPr>
            </a:lvl5pPr>
            <a:lvl6pPr marL="457200" algn="l" rtl="0" fontAlgn="base">
              <a:spcBef>
                <a:spcPct val="0"/>
              </a:spcBef>
              <a:spcAft>
                <a:spcPct val="0"/>
              </a:spcAft>
              <a:defRPr sz="3600" b="1">
                <a:solidFill>
                  <a:schemeClr val="bg1"/>
                </a:solidFill>
                <a:latin typeface="黑体" pitchFamily="49" charset="-122"/>
                <a:ea typeface="黑体" pitchFamily="49" charset="-122"/>
              </a:defRPr>
            </a:lvl6pPr>
            <a:lvl7pPr marL="914400" algn="l" rtl="0" fontAlgn="base">
              <a:spcBef>
                <a:spcPct val="0"/>
              </a:spcBef>
              <a:spcAft>
                <a:spcPct val="0"/>
              </a:spcAft>
              <a:defRPr sz="3600" b="1">
                <a:solidFill>
                  <a:schemeClr val="bg1"/>
                </a:solidFill>
                <a:latin typeface="黑体" pitchFamily="49" charset="-122"/>
                <a:ea typeface="黑体" pitchFamily="49" charset="-122"/>
              </a:defRPr>
            </a:lvl7pPr>
            <a:lvl8pPr marL="1371600" algn="l" rtl="0" fontAlgn="base">
              <a:spcBef>
                <a:spcPct val="0"/>
              </a:spcBef>
              <a:spcAft>
                <a:spcPct val="0"/>
              </a:spcAft>
              <a:defRPr sz="3600" b="1">
                <a:solidFill>
                  <a:schemeClr val="bg1"/>
                </a:solidFill>
                <a:latin typeface="黑体" pitchFamily="49" charset="-122"/>
                <a:ea typeface="黑体" pitchFamily="49" charset="-122"/>
              </a:defRPr>
            </a:lvl8pPr>
            <a:lvl9pPr marL="1828800" algn="l" rtl="0" fontAlgn="base">
              <a:spcBef>
                <a:spcPct val="0"/>
              </a:spcBef>
              <a:spcAft>
                <a:spcPct val="0"/>
              </a:spcAft>
              <a:defRPr sz="3600" b="1">
                <a:solidFill>
                  <a:schemeClr val="bg1"/>
                </a:solidFill>
                <a:latin typeface="黑体" pitchFamily="49" charset="-122"/>
                <a:ea typeface="黑体" pitchFamily="49" charset="-122"/>
              </a:defRPr>
            </a:lvl9pPr>
          </a:lstStyle>
          <a:p>
            <a:pPr>
              <a:defRPr/>
            </a:pPr>
            <a:endParaRPr lang="zh-CN" altLang="en-US" sz="3200" kern="0" dirty="0">
              <a:solidFill>
                <a:srgbClr val="C00000"/>
              </a:solidFill>
            </a:endParaRPr>
          </a:p>
        </p:txBody>
      </p:sp>
      <p:sp>
        <p:nvSpPr>
          <p:cNvPr id="4" name="标题 3">
            <a:extLst>
              <a:ext uri="{FF2B5EF4-FFF2-40B4-BE49-F238E27FC236}">
                <a16:creationId xmlns:a16="http://schemas.microsoft.com/office/drawing/2014/main" id="{B1AB4FDD-526C-4543-858E-6B23D57A6F10}"/>
              </a:ext>
            </a:extLst>
          </p:cNvPr>
          <p:cNvSpPr>
            <a:spLocks noGrp="1"/>
          </p:cNvSpPr>
          <p:nvPr>
            <p:ph type="title"/>
          </p:nvPr>
        </p:nvSpPr>
        <p:spPr>
          <a:xfrm>
            <a:off x="2327276" y="188913"/>
            <a:ext cx="7656513" cy="563562"/>
          </a:xfrm>
        </p:spPr>
        <p:txBody>
          <a:bodyPr/>
          <a:lstStyle/>
          <a:p>
            <a:pPr>
              <a:defRPr/>
            </a:pPr>
            <a:r>
              <a:rPr lang="zh-CN" altLang="en-US" dirty="0">
                <a:solidFill>
                  <a:schemeClr val="accent3"/>
                </a:solidFill>
              </a:rPr>
              <a:t>血红蛋白与氧的结合引起构象变化</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nodeType="afterGroup">
                            <p:stCondLst>
                              <p:cond delay="500"/>
                            </p:stCondLst>
                            <p:childTnLst>
                              <p:par>
                                <p:cTn id="9" presetID="18" presetClass="entr" presetSubtype="12" fill="hold" nodeType="afterEffect">
                                  <p:stCondLst>
                                    <p:cond delay="0"/>
                                  </p:stCondLst>
                                  <p:childTnLst>
                                    <p:set>
                                      <p:cBhvr>
                                        <p:cTn id="10" dur="1" fill="hold">
                                          <p:stCondLst>
                                            <p:cond delay="0"/>
                                          </p:stCondLst>
                                        </p:cTn>
                                        <p:tgtEl>
                                          <p:spTgt spid="60422"/>
                                        </p:tgtEl>
                                        <p:attrNameLst>
                                          <p:attrName>style.visibility</p:attrName>
                                        </p:attrNameLst>
                                      </p:cBhvr>
                                      <p:to>
                                        <p:strVal val="visible"/>
                                      </p:to>
                                    </p:set>
                                    <p:animEffect transition="in" filter="strips(downLeft)">
                                      <p:cBhvr>
                                        <p:cTn id="11" dur="500"/>
                                        <p:tgtEl>
                                          <p:spTgt spid="60422"/>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0423"/>
                                        </p:tgtEl>
                                        <p:attrNameLst>
                                          <p:attrName>style.visibility</p:attrName>
                                        </p:attrNameLst>
                                      </p:cBhvr>
                                      <p:to>
                                        <p:strVal val="visible"/>
                                      </p:to>
                                    </p:set>
                                    <p:animEffect transition="in" filter="blinds(horizontal)">
                                      <p:cBhvr>
                                        <p:cTn id="16" dur="500"/>
                                        <p:tgtEl>
                                          <p:spTgt spid="60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3"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1">
            <a:extLst>
              <a:ext uri="{FF2B5EF4-FFF2-40B4-BE49-F238E27FC236}">
                <a16:creationId xmlns:a16="http://schemas.microsoft.com/office/drawing/2014/main" id="{3E9F05E6-B26C-4E12-8556-0140B41339C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07834" y="1556792"/>
            <a:ext cx="7614845" cy="414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标题 2">
            <a:extLst>
              <a:ext uri="{FF2B5EF4-FFF2-40B4-BE49-F238E27FC236}">
                <a16:creationId xmlns:a16="http://schemas.microsoft.com/office/drawing/2014/main" id="{BFB1B271-6C56-4800-8522-99B61990D4F5}"/>
              </a:ext>
            </a:extLst>
          </p:cNvPr>
          <p:cNvSpPr txBox="1">
            <a:spLocks/>
          </p:cNvSpPr>
          <p:nvPr/>
        </p:nvSpPr>
        <p:spPr bwMode="auto">
          <a:xfrm>
            <a:off x="2254250" y="260350"/>
            <a:ext cx="7658100" cy="647700"/>
          </a:xfrm>
          <a:prstGeom prst="rect">
            <a:avLst/>
          </a:prstGeom>
          <a:solidFill>
            <a:srgbClr val="1A6FB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a:spcBef>
                <a:spcPct val="0"/>
              </a:spcBef>
              <a:buClrTx/>
              <a:buFontTx/>
              <a:buNone/>
            </a:pPr>
            <a:r>
              <a:rPr lang="zh-CN" altLang="en-US" sz="3600">
                <a:solidFill>
                  <a:srgbClr val="FFFFFF"/>
                </a:solidFill>
                <a:latin typeface="黑体" panose="02010609060101010101" pitchFamily="49" charset="-122"/>
              </a:rPr>
              <a:t>血红蛋白与氧的结合引起构象变化</a:t>
            </a:r>
          </a:p>
        </p:txBody>
      </p:sp>
      <p:sp>
        <p:nvSpPr>
          <p:cNvPr id="3" name="文本框 2">
            <a:extLst>
              <a:ext uri="{FF2B5EF4-FFF2-40B4-BE49-F238E27FC236}">
                <a16:creationId xmlns:a16="http://schemas.microsoft.com/office/drawing/2014/main" id="{CFC523EE-4D22-EB89-2619-A59CD8C0A2A4}"/>
              </a:ext>
            </a:extLst>
          </p:cNvPr>
          <p:cNvSpPr txBox="1"/>
          <p:nvPr/>
        </p:nvSpPr>
        <p:spPr>
          <a:xfrm>
            <a:off x="3810000" y="5949280"/>
            <a:ext cx="4572000" cy="523220"/>
          </a:xfrm>
          <a:prstGeom prst="rect">
            <a:avLst/>
          </a:prstGeom>
          <a:noFill/>
        </p:spPr>
        <p:txBody>
          <a:bodyPr wrap="square">
            <a:spAutoFit/>
          </a:bodyPr>
          <a:lstStyle/>
          <a:p>
            <a:pPr algn="ctr"/>
            <a:r>
              <a:rPr lang="zh-CN" altLang="en-US" sz="2800" b="1" dirty="0">
                <a:solidFill>
                  <a:srgbClr val="C00000"/>
                </a:solidFill>
                <a:latin typeface="微软雅黑 Light" panose="020B0502040204020203" pitchFamily="34" charset="-122"/>
                <a:ea typeface="微软雅黑 Light" panose="020B0502040204020203" pitchFamily="34" charset="-122"/>
              </a:rPr>
              <a:t>牵一发而动全身</a:t>
            </a:r>
            <a:endParaRPr lang="en-US" altLang="zh-CN" sz="2800" b="1" dirty="0">
              <a:solidFill>
                <a:srgbClr val="C00000"/>
              </a:solidFill>
              <a:latin typeface="微软雅黑 Light" panose="020B0502040204020203" pitchFamily="34" charset="-122"/>
              <a:ea typeface="微软雅黑 Light" panose="020B0502040204020203" pitchFamily="34"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图片 1">
            <a:extLst>
              <a:ext uri="{FF2B5EF4-FFF2-40B4-BE49-F238E27FC236}">
                <a16:creationId xmlns:a16="http://schemas.microsoft.com/office/drawing/2014/main" id="{38E002A2-5DAE-4A00-AAE3-B72F16D6D4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16062" y="1196976"/>
            <a:ext cx="4391026"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2">
            <a:extLst>
              <a:ext uri="{FF2B5EF4-FFF2-40B4-BE49-F238E27FC236}">
                <a16:creationId xmlns:a16="http://schemas.microsoft.com/office/drawing/2014/main" id="{BC71AFB4-4120-4598-A668-4725E330A9D0}"/>
              </a:ext>
            </a:extLst>
          </p:cNvPr>
          <p:cNvSpPr txBox="1">
            <a:spLocks/>
          </p:cNvSpPr>
          <p:nvPr/>
        </p:nvSpPr>
        <p:spPr>
          <a:xfrm>
            <a:off x="1703389" y="188913"/>
            <a:ext cx="7056437" cy="563562"/>
          </a:xfrm>
          <a:prstGeom prst="rect">
            <a:avLst/>
          </a:prstGeom>
        </p:spPr>
        <p:txBody>
          <a:bodyPr/>
          <a:lstStyle>
            <a:lvl1pPr algn="l" rtl="0" eaLnBrk="0" fontAlgn="base" hangingPunct="0">
              <a:spcBef>
                <a:spcPct val="0"/>
              </a:spcBef>
              <a:spcAft>
                <a:spcPct val="0"/>
              </a:spcAft>
              <a:defRPr sz="3600" b="1">
                <a:solidFill>
                  <a:schemeClr val="bg1"/>
                </a:solidFill>
                <a:latin typeface="+mj-lt"/>
                <a:ea typeface="+mj-ea"/>
                <a:cs typeface="+mj-cs"/>
              </a:defRPr>
            </a:lvl1pPr>
            <a:lvl2pPr algn="l" rtl="0" eaLnBrk="0" fontAlgn="base" hangingPunct="0">
              <a:spcBef>
                <a:spcPct val="0"/>
              </a:spcBef>
              <a:spcAft>
                <a:spcPct val="0"/>
              </a:spcAft>
              <a:defRPr sz="3600" b="1">
                <a:solidFill>
                  <a:schemeClr val="bg1"/>
                </a:solidFill>
                <a:latin typeface="黑体" pitchFamily="49" charset="-122"/>
                <a:ea typeface="黑体" pitchFamily="49" charset="-122"/>
              </a:defRPr>
            </a:lvl2pPr>
            <a:lvl3pPr algn="l" rtl="0" eaLnBrk="0" fontAlgn="base" hangingPunct="0">
              <a:spcBef>
                <a:spcPct val="0"/>
              </a:spcBef>
              <a:spcAft>
                <a:spcPct val="0"/>
              </a:spcAft>
              <a:defRPr sz="3600" b="1">
                <a:solidFill>
                  <a:schemeClr val="bg1"/>
                </a:solidFill>
                <a:latin typeface="黑体" pitchFamily="49" charset="-122"/>
                <a:ea typeface="黑体" pitchFamily="49" charset="-122"/>
              </a:defRPr>
            </a:lvl3pPr>
            <a:lvl4pPr algn="l" rtl="0" eaLnBrk="0" fontAlgn="base" hangingPunct="0">
              <a:spcBef>
                <a:spcPct val="0"/>
              </a:spcBef>
              <a:spcAft>
                <a:spcPct val="0"/>
              </a:spcAft>
              <a:defRPr sz="3600" b="1">
                <a:solidFill>
                  <a:schemeClr val="bg1"/>
                </a:solidFill>
                <a:latin typeface="黑体" pitchFamily="49" charset="-122"/>
                <a:ea typeface="黑体" pitchFamily="49" charset="-122"/>
              </a:defRPr>
            </a:lvl4pPr>
            <a:lvl5pPr algn="l" rtl="0" eaLnBrk="0" fontAlgn="base" hangingPunct="0">
              <a:spcBef>
                <a:spcPct val="0"/>
              </a:spcBef>
              <a:spcAft>
                <a:spcPct val="0"/>
              </a:spcAft>
              <a:defRPr sz="3600" b="1">
                <a:solidFill>
                  <a:schemeClr val="bg1"/>
                </a:solidFill>
                <a:latin typeface="黑体" pitchFamily="49" charset="-122"/>
                <a:ea typeface="黑体" pitchFamily="49" charset="-122"/>
              </a:defRPr>
            </a:lvl5pPr>
            <a:lvl6pPr marL="457200" algn="l" rtl="0" fontAlgn="base">
              <a:spcBef>
                <a:spcPct val="0"/>
              </a:spcBef>
              <a:spcAft>
                <a:spcPct val="0"/>
              </a:spcAft>
              <a:defRPr sz="3600" b="1">
                <a:solidFill>
                  <a:schemeClr val="bg1"/>
                </a:solidFill>
                <a:latin typeface="黑体" pitchFamily="49" charset="-122"/>
                <a:ea typeface="黑体" pitchFamily="49" charset="-122"/>
              </a:defRPr>
            </a:lvl6pPr>
            <a:lvl7pPr marL="914400" algn="l" rtl="0" fontAlgn="base">
              <a:spcBef>
                <a:spcPct val="0"/>
              </a:spcBef>
              <a:spcAft>
                <a:spcPct val="0"/>
              </a:spcAft>
              <a:defRPr sz="3600" b="1">
                <a:solidFill>
                  <a:schemeClr val="bg1"/>
                </a:solidFill>
                <a:latin typeface="黑体" pitchFamily="49" charset="-122"/>
                <a:ea typeface="黑体" pitchFamily="49" charset="-122"/>
              </a:defRPr>
            </a:lvl7pPr>
            <a:lvl8pPr marL="1371600" algn="l" rtl="0" fontAlgn="base">
              <a:spcBef>
                <a:spcPct val="0"/>
              </a:spcBef>
              <a:spcAft>
                <a:spcPct val="0"/>
              </a:spcAft>
              <a:defRPr sz="3600" b="1">
                <a:solidFill>
                  <a:schemeClr val="bg1"/>
                </a:solidFill>
                <a:latin typeface="黑体" pitchFamily="49" charset="-122"/>
                <a:ea typeface="黑体" pitchFamily="49" charset="-122"/>
              </a:defRPr>
            </a:lvl8pPr>
            <a:lvl9pPr marL="1828800" algn="l" rtl="0" fontAlgn="base">
              <a:spcBef>
                <a:spcPct val="0"/>
              </a:spcBef>
              <a:spcAft>
                <a:spcPct val="0"/>
              </a:spcAft>
              <a:defRPr sz="3600" b="1">
                <a:solidFill>
                  <a:schemeClr val="bg1"/>
                </a:solidFill>
                <a:latin typeface="黑体" pitchFamily="49" charset="-122"/>
                <a:ea typeface="黑体" pitchFamily="49" charset="-122"/>
              </a:defRPr>
            </a:lvl9pPr>
          </a:lstStyle>
          <a:p>
            <a:pPr>
              <a:defRPr/>
            </a:pPr>
            <a:r>
              <a:rPr lang="zh-CN" altLang="en-US" b="0" kern="0" dirty="0"/>
              <a:t>血红蛋白与氧结合时发生构象变化</a:t>
            </a:r>
          </a:p>
        </p:txBody>
      </p:sp>
      <p:pic>
        <p:nvPicPr>
          <p:cNvPr id="89092" name="图片 3">
            <a:extLst>
              <a:ext uri="{FF2B5EF4-FFF2-40B4-BE49-F238E27FC236}">
                <a16:creationId xmlns:a16="http://schemas.microsoft.com/office/drawing/2014/main" id="{7D651628-0C3E-473E-8CFE-54D88CF4CC6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11901" y="1916113"/>
            <a:ext cx="4316413" cy="324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3B9F2EA1-FCD6-45AE-81AD-22CD807E905B}"/>
              </a:ext>
            </a:extLst>
          </p:cNvPr>
          <p:cNvSpPr>
            <a:spLocks noGrp="1" noChangeArrowheads="1"/>
          </p:cNvSpPr>
          <p:nvPr>
            <p:ph type="title"/>
          </p:nvPr>
        </p:nvSpPr>
        <p:spPr>
          <a:xfrm>
            <a:off x="1505552" y="1196752"/>
            <a:ext cx="6553200" cy="630237"/>
          </a:xfrm>
        </p:spPr>
        <p:txBody>
          <a:bodyPr/>
          <a:lstStyle/>
          <a:p>
            <a:pPr eaLnBrk="1" hangingPunct="1"/>
            <a:r>
              <a:rPr lang="zh-CN" altLang="en-US" dirty="0">
                <a:solidFill>
                  <a:srgbClr val="FF0000"/>
                </a:solidFill>
                <a:latin typeface="Times New Roman" panose="02020603050405020304" pitchFamily="18" charset="0"/>
              </a:rPr>
              <a:t>别构效应</a:t>
            </a:r>
            <a:r>
              <a:rPr lang="en-US" altLang="zh-CN" dirty="0">
                <a:solidFill>
                  <a:srgbClr val="FF0000"/>
                </a:solidFill>
                <a:latin typeface="Times New Roman" panose="02020603050405020304" pitchFamily="18" charset="0"/>
              </a:rPr>
              <a:t>(allosteric effect)</a:t>
            </a:r>
          </a:p>
        </p:txBody>
      </p:sp>
      <p:sp>
        <p:nvSpPr>
          <p:cNvPr id="61443" name="Rectangle 3">
            <a:extLst>
              <a:ext uri="{FF2B5EF4-FFF2-40B4-BE49-F238E27FC236}">
                <a16:creationId xmlns:a16="http://schemas.microsoft.com/office/drawing/2014/main" id="{0E30BE47-76ED-4EEA-B456-A60A0D228CAB}"/>
              </a:ext>
            </a:extLst>
          </p:cNvPr>
          <p:cNvSpPr>
            <a:spLocks noGrp="1" noChangeArrowheads="1"/>
          </p:cNvSpPr>
          <p:nvPr>
            <p:ph type="body" idx="1"/>
          </p:nvPr>
        </p:nvSpPr>
        <p:spPr>
          <a:xfrm>
            <a:off x="1199456" y="2276872"/>
            <a:ext cx="9793088" cy="2592685"/>
          </a:xfrm>
        </p:spPr>
        <p:txBody>
          <a:bodyPr/>
          <a:lstStyle/>
          <a:p>
            <a:pPr marL="0" indent="711200" algn="just" eaLnBrk="1" hangingPunct="1">
              <a:lnSpc>
                <a:spcPct val="140000"/>
              </a:lnSpc>
              <a:buNone/>
            </a:pPr>
            <a:r>
              <a:rPr lang="zh-CN" altLang="en-US" dirty="0">
                <a:solidFill>
                  <a:schemeClr val="tx1"/>
                </a:solidFill>
              </a:rPr>
              <a:t>在生物体内，当某种物质（</a:t>
            </a:r>
            <a:r>
              <a:rPr lang="zh-CN" altLang="en-US" dirty="0">
                <a:solidFill>
                  <a:srgbClr val="C00000"/>
                </a:solidFill>
              </a:rPr>
              <a:t>配体</a:t>
            </a:r>
            <a:r>
              <a:rPr lang="en-US" altLang="zh-CN" dirty="0">
                <a:solidFill>
                  <a:srgbClr val="C00000"/>
                </a:solidFill>
              </a:rPr>
              <a:t>/ligand</a:t>
            </a:r>
            <a:r>
              <a:rPr lang="zh-CN" altLang="en-US" dirty="0">
                <a:solidFill>
                  <a:schemeClr val="tx1"/>
                </a:solidFill>
              </a:rPr>
              <a:t>）特异地与蛋白质分子的某个部位结合，触发该蛋白质的</a:t>
            </a:r>
            <a:r>
              <a:rPr lang="zh-CN" altLang="en-US" dirty="0">
                <a:solidFill>
                  <a:srgbClr val="FF0000"/>
                </a:solidFill>
              </a:rPr>
              <a:t>构象发生一定变化</a:t>
            </a:r>
            <a:r>
              <a:rPr lang="zh-CN" altLang="en-US" dirty="0">
                <a:solidFill>
                  <a:schemeClr val="tx1"/>
                </a:solidFill>
              </a:rPr>
              <a:t>，从而导致其</a:t>
            </a:r>
            <a:r>
              <a:rPr lang="zh-CN" altLang="en-US" dirty="0">
                <a:solidFill>
                  <a:srgbClr val="FF0000"/>
                </a:solidFill>
              </a:rPr>
              <a:t>功能活性的变化</a:t>
            </a:r>
            <a:r>
              <a:rPr lang="zh-CN" altLang="en-US" dirty="0">
                <a:solidFill>
                  <a:schemeClr val="tx1"/>
                </a:solidFill>
              </a:rPr>
              <a:t>，这种现象称为蛋白质的</a:t>
            </a:r>
            <a:r>
              <a:rPr lang="zh-CN" altLang="en-US" dirty="0">
                <a:solidFill>
                  <a:srgbClr val="C00000"/>
                </a:solidFill>
              </a:rPr>
              <a:t>别构效应</a:t>
            </a:r>
            <a:r>
              <a:rPr lang="zh-CN" altLang="en-US" dirty="0">
                <a:solidFill>
                  <a:schemeClr val="tx1"/>
                </a:solidFill>
              </a:rPr>
              <a:t>，又称</a:t>
            </a:r>
            <a:r>
              <a:rPr lang="zh-CN" altLang="en-US" dirty="0">
                <a:solidFill>
                  <a:srgbClr val="C00000"/>
                </a:solidFill>
              </a:rPr>
              <a:t>变构效应</a:t>
            </a:r>
            <a:r>
              <a:rPr lang="zh-CN" altLang="en-US" dirty="0">
                <a:solidFill>
                  <a:schemeClr val="tx1"/>
                </a:solidFill>
              </a:rPr>
              <a:t>。</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Effect transition="in" filter="fade">
                                      <p:cBhvr>
                                        <p:cTn id="7" dur="500"/>
                                        <p:tgtEl>
                                          <p:spTgt spid="614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图片 2">
            <a:extLst>
              <a:ext uri="{FF2B5EF4-FFF2-40B4-BE49-F238E27FC236}">
                <a16:creationId xmlns:a16="http://schemas.microsoft.com/office/drawing/2014/main" id="{26949656-965E-4A5D-A0B4-9144EA4EC36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24501" y="1341438"/>
            <a:ext cx="5036742" cy="446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7" name="标题 3">
            <a:extLst>
              <a:ext uri="{FF2B5EF4-FFF2-40B4-BE49-F238E27FC236}">
                <a16:creationId xmlns:a16="http://schemas.microsoft.com/office/drawing/2014/main" id="{BE8241E9-D216-4F2F-83C8-3C968926A5B5}"/>
              </a:ext>
            </a:extLst>
          </p:cNvPr>
          <p:cNvSpPr>
            <a:spLocks noGrp="1" noChangeArrowheads="1"/>
          </p:cNvSpPr>
          <p:nvPr>
            <p:ph type="title"/>
          </p:nvPr>
        </p:nvSpPr>
        <p:spPr>
          <a:xfrm>
            <a:off x="1822450" y="115889"/>
            <a:ext cx="7729538" cy="708025"/>
          </a:xfrm>
        </p:spPr>
        <p:txBody>
          <a:bodyPr/>
          <a:lstStyle/>
          <a:p>
            <a:r>
              <a:rPr lang="en-US" altLang="zh-CN"/>
              <a:t>2</a:t>
            </a:r>
            <a:r>
              <a:rPr lang="zh-CN" altLang="en-US"/>
              <a:t>，</a:t>
            </a:r>
            <a:r>
              <a:rPr lang="en-US" altLang="zh-CN"/>
              <a:t>3-</a:t>
            </a:r>
            <a:r>
              <a:rPr lang="zh-CN" altLang="en-US"/>
              <a:t>二磷酸甘油酸与非氧合</a:t>
            </a:r>
            <a:r>
              <a:rPr lang="en-US" altLang="zh-CN"/>
              <a:t>Hb</a:t>
            </a:r>
            <a:r>
              <a:rPr lang="zh-CN" altLang="en-US"/>
              <a:t>结合</a:t>
            </a:r>
          </a:p>
        </p:txBody>
      </p:sp>
      <p:pic>
        <p:nvPicPr>
          <p:cNvPr id="93188" name="Picture 2">
            <a:extLst>
              <a:ext uri="{FF2B5EF4-FFF2-40B4-BE49-F238E27FC236}">
                <a16:creationId xmlns:a16="http://schemas.microsoft.com/office/drawing/2014/main" id="{5558D45C-C787-40BC-AA8B-7827279E3E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2043" y="1341438"/>
            <a:ext cx="310832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9" name="文本框 2">
            <a:extLst>
              <a:ext uri="{FF2B5EF4-FFF2-40B4-BE49-F238E27FC236}">
                <a16:creationId xmlns:a16="http://schemas.microsoft.com/office/drawing/2014/main" id="{CC076904-5A0F-45C6-9E1C-F6D6718FAC60}"/>
              </a:ext>
            </a:extLst>
          </p:cNvPr>
          <p:cNvSpPr txBox="1">
            <a:spLocks noChangeArrowheads="1"/>
          </p:cNvSpPr>
          <p:nvPr/>
        </p:nvSpPr>
        <p:spPr bwMode="auto">
          <a:xfrm>
            <a:off x="1827617" y="4905375"/>
            <a:ext cx="25209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b="1">
                <a:solidFill>
                  <a:schemeClr val="tx1"/>
                </a:solidFill>
                <a:latin typeface="Arial" panose="020B0604020202020204" pitchFamily="34" charset="0"/>
                <a:ea typeface="宋体" panose="02010600030101010101" pitchFamily="2" charset="-122"/>
              </a:rPr>
              <a:t>简称</a:t>
            </a:r>
            <a:r>
              <a:rPr lang="en-US" altLang="zh-CN" b="1">
                <a:solidFill>
                  <a:srgbClr val="C00000"/>
                </a:solidFill>
                <a:latin typeface="Arial" panose="020B0604020202020204" pitchFamily="34" charset="0"/>
                <a:ea typeface="宋体" panose="02010600030101010101" pitchFamily="2" charset="-122"/>
              </a:rPr>
              <a:t>BPG</a:t>
            </a:r>
            <a:endParaRPr lang="zh-CN" altLang="en-US" b="1">
              <a:solidFill>
                <a:srgbClr val="C00000"/>
              </a:solidFill>
              <a:latin typeface="Arial" panose="020B0604020202020204" pitchFamily="34" charset="0"/>
              <a:ea typeface="宋体" panose="02010600030101010101" pitchFamily="2" charset="-122"/>
            </a:endParaRPr>
          </a:p>
        </p:txBody>
      </p:sp>
      <p:sp>
        <p:nvSpPr>
          <p:cNvPr id="93190" name="矩形 6">
            <a:extLst>
              <a:ext uri="{FF2B5EF4-FFF2-40B4-BE49-F238E27FC236}">
                <a16:creationId xmlns:a16="http://schemas.microsoft.com/office/drawing/2014/main" id="{84591C3B-1B3B-4557-B796-6612B8BF03B6}"/>
              </a:ext>
            </a:extLst>
          </p:cNvPr>
          <p:cNvSpPr>
            <a:spLocks noChangeArrowheads="1"/>
          </p:cNvSpPr>
          <p:nvPr/>
        </p:nvSpPr>
        <p:spPr bwMode="auto">
          <a:xfrm>
            <a:off x="1271464" y="6091955"/>
            <a:ext cx="99004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2400" b="1" dirty="0">
                <a:solidFill>
                  <a:schemeClr val="tx1"/>
                </a:solidFill>
                <a:latin typeface="Arial" panose="020B0604020202020204" pitchFamily="34" charset="0"/>
                <a:ea typeface="宋体" panose="02010600030101010101" pitchFamily="2" charset="-122"/>
              </a:rPr>
              <a:t>T</a:t>
            </a:r>
            <a:r>
              <a:rPr lang="zh-CN" altLang="en-US" sz="2400" b="1" dirty="0">
                <a:solidFill>
                  <a:schemeClr val="tx1"/>
                </a:solidFill>
                <a:latin typeface="Arial" panose="020B0604020202020204" pitchFamily="34" charset="0"/>
                <a:ea typeface="宋体" panose="02010600030101010101" pitchFamily="2" charset="-122"/>
              </a:rPr>
              <a:t>态时，两个</a:t>
            </a:r>
            <a:r>
              <a:rPr lang="el-GR" altLang="zh-CN" sz="2400" b="1" dirty="0">
                <a:solidFill>
                  <a:schemeClr val="tx1"/>
                </a:solidFill>
                <a:latin typeface="Arial" panose="020B0604020202020204" pitchFamily="34" charset="0"/>
                <a:ea typeface="宋体" panose="02010600030101010101" pitchFamily="2" charset="-122"/>
              </a:rPr>
              <a:t>β</a:t>
            </a:r>
            <a:r>
              <a:rPr lang="zh-CN" altLang="en-US" sz="2400" b="1" dirty="0">
                <a:solidFill>
                  <a:schemeClr val="tx1"/>
                </a:solidFill>
                <a:latin typeface="Arial" panose="020B0604020202020204" pitchFamily="34" charset="0"/>
                <a:ea typeface="宋体" panose="02010600030101010101" pitchFamily="2" charset="-122"/>
              </a:rPr>
              <a:t>亚基间结合一个</a:t>
            </a:r>
            <a:r>
              <a:rPr lang="en-US" altLang="zh-CN" sz="2400" b="1" dirty="0">
                <a:solidFill>
                  <a:schemeClr val="tx1"/>
                </a:solidFill>
                <a:latin typeface="Arial" panose="020B0604020202020204" pitchFamily="34" charset="0"/>
                <a:ea typeface="宋体" panose="02010600030101010101" pitchFamily="2" charset="-122"/>
              </a:rPr>
              <a:t>BPG</a:t>
            </a:r>
            <a:r>
              <a:rPr lang="zh-CN" altLang="en-US" sz="2400" b="1" dirty="0">
                <a:solidFill>
                  <a:schemeClr val="tx1"/>
                </a:solidFill>
                <a:latin typeface="Arial" panose="020B0604020202020204" pitchFamily="34" charset="0"/>
                <a:ea typeface="宋体" panose="02010600030101010101" pitchFamily="2" charset="-122"/>
              </a:rPr>
              <a:t>分子。 </a:t>
            </a:r>
            <a:r>
              <a:rPr lang="en-US" altLang="zh-CN" sz="2400" b="1" dirty="0">
                <a:solidFill>
                  <a:schemeClr val="tx1"/>
                </a:solidFill>
                <a:latin typeface="Arial" panose="020B0604020202020204" pitchFamily="34" charset="0"/>
                <a:ea typeface="宋体" panose="02010600030101010101" pitchFamily="2" charset="-122"/>
              </a:rPr>
              <a:t>BPG</a:t>
            </a:r>
            <a:r>
              <a:rPr lang="zh-CN" altLang="en-US" sz="2400" b="1" dirty="0">
                <a:solidFill>
                  <a:schemeClr val="tx1"/>
                </a:solidFill>
                <a:latin typeface="Arial" panose="020B0604020202020204" pitchFamily="34" charset="0"/>
                <a:ea typeface="宋体" panose="02010600030101010101" pitchFamily="2" charset="-122"/>
              </a:rPr>
              <a:t>的结合有利</a:t>
            </a:r>
            <a:r>
              <a:rPr lang="en-US" altLang="zh-CN" sz="2400" b="1" dirty="0">
                <a:solidFill>
                  <a:schemeClr val="tx1"/>
                </a:solidFill>
                <a:latin typeface="Arial" panose="020B0604020202020204" pitchFamily="34" charset="0"/>
                <a:ea typeface="宋体" panose="02010600030101010101" pitchFamily="2" charset="-122"/>
              </a:rPr>
              <a:t>T</a:t>
            </a:r>
            <a:r>
              <a:rPr lang="zh-CN" altLang="en-US" sz="2400" b="1" dirty="0">
                <a:solidFill>
                  <a:schemeClr val="tx1"/>
                </a:solidFill>
                <a:latin typeface="Arial" panose="020B0604020202020204" pitchFamily="34" charset="0"/>
                <a:ea typeface="宋体" panose="02010600030101010101" pitchFamily="2" charset="-122"/>
              </a:rPr>
              <a:t>态的稳定。</a:t>
            </a:r>
          </a:p>
        </p:txBody>
      </p:sp>
    </p:spTree>
  </p:cSld>
  <p:clrMapOvr>
    <a:masterClrMapping/>
  </p:clrMapOvr>
  <p:transition spd="slow">
    <p:circl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a:extLst>
              <a:ext uri="{FF2B5EF4-FFF2-40B4-BE49-F238E27FC236}">
                <a16:creationId xmlns:a16="http://schemas.microsoft.com/office/drawing/2014/main" id="{86366314-EDFE-4D7A-8749-2BD813E0CB6B}"/>
              </a:ext>
            </a:extLst>
          </p:cNvPr>
          <p:cNvSpPr>
            <a:spLocks noGrp="1" noChangeArrowheads="1"/>
          </p:cNvSpPr>
          <p:nvPr>
            <p:ph type="title"/>
          </p:nvPr>
        </p:nvSpPr>
        <p:spPr>
          <a:xfrm>
            <a:off x="2306639" y="188913"/>
            <a:ext cx="6237287" cy="563562"/>
          </a:xfrm>
        </p:spPr>
        <p:txBody>
          <a:bodyPr/>
          <a:lstStyle/>
          <a:p>
            <a:r>
              <a:rPr lang="en-US" altLang="zh-CN" dirty="0"/>
              <a:t>BPG</a:t>
            </a:r>
            <a:r>
              <a:rPr lang="zh-CN" altLang="en-US" dirty="0"/>
              <a:t>调节</a:t>
            </a:r>
            <a:r>
              <a:rPr lang="en-US" altLang="zh-CN" dirty="0"/>
              <a:t>Hb</a:t>
            </a:r>
            <a:r>
              <a:rPr lang="zh-CN" altLang="en-US" dirty="0"/>
              <a:t>与氧的结合</a:t>
            </a:r>
          </a:p>
        </p:txBody>
      </p:sp>
      <p:sp>
        <p:nvSpPr>
          <p:cNvPr id="97283" name="内容占位符 3">
            <a:extLst>
              <a:ext uri="{FF2B5EF4-FFF2-40B4-BE49-F238E27FC236}">
                <a16:creationId xmlns:a16="http://schemas.microsoft.com/office/drawing/2014/main" id="{045494BB-9665-4C67-932F-8A132CFBBD56}"/>
              </a:ext>
            </a:extLst>
          </p:cNvPr>
          <p:cNvSpPr>
            <a:spLocks noGrp="1" noChangeArrowheads="1"/>
          </p:cNvSpPr>
          <p:nvPr>
            <p:ph idx="1"/>
          </p:nvPr>
        </p:nvSpPr>
        <p:spPr>
          <a:xfrm>
            <a:off x="6096000" y="1282916"/>
            <a:ext cx="5651727" cy="5140301"/>
          </a:xfrm>
        </p:spPr>
        <p:txBody>
          <a:bodyPr/>
          <a:lstStyle/>
          <a:p>
            <a:pPr>
              <a:lnSpc>
                <a:spcPct val="120000"/>
              </a:lnSpc>
              <a:spcBef>
                <a:spcPct val="0"/>
              </a:spcBef>
            </a:pPr>
            <a:r>
              <a:rPr lang="en-US" altLang="zh-CN" sz="2400" dirty="0"/>
              <a:t>BPG</a:t>
            </a:r>
            <a:r>
              <a:rPr lang="zh-CN" altLang="en-US" sz="2400" dirty="0"/>
              <a:t>在红细胞中的浓度相对较高（正常约</a:t>
            </a:r>
            <a:r>
              <a:rPr lang="en-US" altLang="zh-CN" sz="2400" dirty="0"/>
              <a:t>4.5mmol/L)</a:t>
            </a:r>
            <a:r>
              <a:rPr lang="zh-CN" altLang="en-US" sz="2400" dirty="0"/>
              <a:t>，它</a:t>
            </a:r>
            <a:r>
              <a:rPr lang="zh-CN" altLang="en-US" dirty="0">
                <a:solidFill>
                  <a:srgbClr val="C00000"/>
                </a:solidFill>
              </a:rPr>
              <a:t>降低</a:t>
            </a:r>
            <a:r>
              <a:rPr lang="en-US" altLang="zh-CN" dirty="0">
                <a:solidFill>
                  <a:srgbClr val="C00000"/>
                </a:solidFill>
              </a:rPr>
              <a:t>Hb</a:t>
            </a:r>
            <a:r>
              <a:rPr lang="zh-CN" altLang="en-US" dirty="0">
                <a:solidFill>
                  <a:srgbClr val="C00000"/>
                </a:solidFill>
              </a:rPr>
              <a:t>与氧的亲合力。</a:t>
            </a:r>
            <a:endParaRPr lang="en-US" altLang="zh-CN" dirty="0"/>
          </a:p>
          <a:p>
            <a:pPr>
              <a:lnSpc>
                <a:spcPct val="120000"/>
              </a:lnSpc>
              <a:spcBef>
                <a:spcPts val="1800"/>
              </a:spcBef>
            </a:pPr>
            <a:r>
              <a:rPr lang="zh-CN" altLang="en-US" sz="2400" dirty="0"/>
              <a:t>人从低海拔地区到高海拔地区能较快适应高海拔地区的较低的氧分压的原理</a:t>
            </a:r>
            <a:r>
              <a:rPr lang="en-US" altLang="zh-CN" sz="2400" dirty="0"/>
              <a:t>:  </a:t>
            </a:r>
            <a:r>
              <a:rPr lang="en-US" altLang="zh-CN" sz="2400" dirty="0">
                <a:solidFill>
                  <a:schemeClr val="tx1">
                    <a:lumMod val="60000"/>
                    <a:lumOff val="40000"/>
                  </a:schemeClr>
                </a:solidFill>
              </a:rPr>
              <a:t>BPG</a:t>
            </a:r>
            <a:r>
              <a:rPr lang="zh-CN" altLang="en-US" sz="2400" dirty="0">
                <a:solidFill>
                  <a:schemeClr val="tx1">
                    <a:lumMod val="60000"/>
                    <a:lumOff val="40000"/>
                  </a:schemeClr>
                </a:solidFill>
              </a:rPr>
              <a:t>促进</a:t>
            </a:r>
            <a:r>
              <a:rPr lang="en-US" altLang="zh-CN" sz="2400" dirty="0">
                <a:solidFill>
                  <a:schemeClr val="tx1">
                    <a:lumMod val="60000"/>
                    <a:lumOff val="40000"/>
                  </a:schemeClr>
                </a:solidFill>
              </a:rPr>
              <a:t>Hb</a:t>
            </a:r>
            <a:r>
              <a:rPr lang="zh-CN" altLang="en-US" sz="2400" dirty="0">
                <a:solidFill>
                  <a:schemeClr val="tx1">
                    <a:lumMod val="60000"/>
                    <a:lumOff val="40000"/>
                  </a:schemeClr>
                </a:solidFill>
              </a:rPr>
              <a:t>在外周组织中释放所携带的氧。</a:t>
            </a:r>
            <a:endParaRPr lang="en-US" altLang="zh-CN" sz="2400" dirty="0">
              <a:solidFill>
                <a:schemeClr val="tx1">
                  <a:lumMod val="60000"/>
                  <a:lumOff val="40000"/>
                </a:schemeClr>
              </a:solidFill>
            </a:endParaRPr>
          </a:p>
          <a:p>
            <a:pPr>
              <a:lnSpc>
                <a:spcPct val="120000"/>
              </a:lnSpc>
              <a:spcBef>
                <a:spcPts val="1800"/>
              </a:spcBef>
            </a:pPr>
            <a:r>
              <a:rPr lang="zh-CN" altLang="en-US" sz="2400" dirty="0">
                <a:solidFill>
                  <a:schemeClr val="tx1">
                    <a:lumMod val="60000"/>
                    <a:lumOff val="40000"/>
                  </a:schemeClr>
                </a:solidFill>
              </a:rPr>
              <a:t>慢性缺氧</a:t>
            </a:r>
            <a:r>
              <a:rPr lang="zh-CN" altLang="en-US" sz="2400" dirty="0"/>
              <a:t>（比如慢阻肺患者）或</a:t>
            </a:r>
            <a:r>
              <a:rPr lang="zh-CN" altLang="en-US" sz="2400" dirty="0">
                <a:solidFill>
                  <a:schemeClr val="tx1">
                    <a:lumMod val="60000"/>
                    <a:lumOff val="40000"/>
                  </a:schemeClr>
                </a:solidFill>
              </a:rPr>
              <a:t>贫血患者</a:t>
            </a:r>
            <a:r>
              <a:rPr lang="zh-CN" altLang="en-US" sz="2400" dirty="0"/>
              <a:t>往往体内</a:t>
            </a:r>
            <a:r>
              <a:rPr lang="en-US" altLang="zh-CN" sz="2400" dirty="0"/>
              <a:t>BPG</a:t>
            </a:r>
            <a:r>
              <a:rPr lang="zh-CN" altLang="en-US" sz="2400" dirty="0"/>
              <a:t>浓度升高，以满足组织对氧的需求。 </a:t>
            </a:r>
            <a:endParaRPr lang="en-US" altLang="zh-CN" sz="2400" dirty="0"/>
          </a:p>
          <a:p>
            <a:pPr>
              <a:lnSpc>
                <a:spcPct val="120000"/>
              </a:lnSpc>
              <a:spcBef>
                <a:spcPct val="0"/>
              </a:spcBef>
            </a:pPr>
            <a:endParaRPr lang="en-US" altLang="zh-CN" sz="2400" dirty="0"/>
          </a:p>
        </p:txBody>
      </p:sp>
      <p:pic>
        <p:nvPicPr>
          <p:cNvPr id="97284" name="图片 4">
            <a:extLst>
              <a:ext uri="{FF2B5EF4-FFF2-40B4-BE49-F238E27FC236}">
                <a16:creationId xmlns:a16="http://schemas.microsoft.com/office/drawing/2014/main" id="{4895015F-5437-4F2B-AF86-38ADED96B3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8289" y="1053511"/>
            <a:ext cx="4860925" cy="559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2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330" name="组合 3">
            <a:extLst>
              <a:ext uri="{FF2B5EF4-FFF2-40B4-BE49-F238E27FC236}">
                <a16:creationId xmlns:a16="http://schemas.microsoft.com/office/drawing/2014/main" id="{B67DC1CD-B212-44FF-AB08-1F2B264BF37B}"/>
              </a:ext>
            </a:extLst>
          </p:cNvPr>
          <p:cNvGrpSpPr>
            <a:grpSpLocks/>
          </p:cNvGrpSpPr>
          <p:nvPr/>
        </p:nvGrpSpPr>
        <p:grpSpPr bwMode="auto">
          <a:xfrm>
            <a:off x="4337001" y="620688"/>
            <a:ext cx="7715250" cy="5841454"/>
            <a:chOff x="1116070" y="549105"/>
            <a:chExt cx="7714115" cy="5841515"/>
          </a:xfrm>
        </p:grpSpPr>
        <p:pic>
          <p:nvPicPr>
            <p:cNvPr id="99331" name="图片 1">
              <a:extLst>
                <a:ext uri="{FF2B5EF4-FFF2-40B4-BE49-F238E27FC236}">
                  <a16:creationId xmlns:a16="http://schemas.microsoft.com/office/drawing/2014/main" id="{53F42C51-D7A9-4BDA-890F-E7EC66559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793"/>
            <a:stretch>
              <a:fillRect/>
            </a:stretch>
          </p:blipFill>
          <p:spPr bwMode="auto">
            <a:xfrm>
              <a:off x="1116070" y="549105"/>
              <a:ext cx="7714115" cy="576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2" name="文本框 1">
              <a:extLst>
                <a:ext uri="{FF2B5EF4-FFF2-40B4-BE49-F238E27FC236}">
                  <a16:creationId xmlns:a16="http://schemas.microsoft.com/office/drawing/2014/main" id="{2BA9DA0E-028C-419A-ACDC-54C04134488F}"/>
                </a:ext>
              </a:extLst>
            </p:cNvPr>
            <p:cNvSpPr txBox="1">
              <a:spLocks noChangeArrowheads="1"/>
            </p:cNvSpPr>
            <p:nvPr/>
          </p:nvSpPr>
          <p:spPr bwMode="auto">
            <a:xfrm>
              <a:off x="2411760" y="6021288"/>
              <a:ext cx="158417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r>
                <a:rPr lang="en-US" altLang="zh-CN" sz="1800"/>
                <a:t>pO</a:t>
              </a:r>
              <a:r>
                <a:rPr lang="en-US" altLang="zh-CN" sz="1800" baseline="-25000"/>
                <a:t>2</a:t>
              </a:r>
              <a:r>
                <a:rPr lang="en-US" altLang="zh-CN" sz="1800"/>
                <a:t>(mmHg)</a:t>
              </a:r>
              <a:endParaRPr lang="zh-CN" altLang="en-US" sz="1800"/>
            </a:p>
          </p:txBody>
        </p:sp>
      </p:grpSp>
      <p:sp>
        <p:nvSpPr>
          <p:cNvPr id="3" name="文本框 2">
            <a:extLst>
              <a:ext uri="{FF2B5EF4-FFF2-40B4-BE49-F238E27FC236}">
                <a16:creationId xmlns:a16="http://schemas.microsoft.com/office/drawing/2014/main" id="{5563457A-EA0A-920D-DC98-7F663A8C8926}"/>
              </a:ext>
            </a:extLst>
          </p:cNvPr>
          <p:cNvSpPr txBox="1"/>
          <p:nvPr/>
        </p:nvSpPr>
        <p:spPr>
          <a:xfrm>
            <a:off x="157449" y="1988840"/>
            <a:ext cx="3724003" cy="3393301"/>
          </a:xfrm>
          <a:prstGeom prst="rect">
            <a:avLst/>
          </a:prstGeom>
          <a:noFill/>
        </p:spPr>
        <p:txBody>
          <a:bodyPr wrap="square">
            <a:spAutoFit/>
          </a:bodyPr>
          <a:lstStyle/>
          <a:p>
            <a:pPr marL="457200" indent="-457200">
              <a:lnSpc>
                <a:spcPct val="130000"/>
              </a:lnSpc>
              <a:spcBef>
                <a:spcPts val="1800"/>
              </a:spcBef>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胎儿血红蛋白不结合</a:t>
            </a:r>
            <a:r>
              <a:rPr lang="en-US" altLang="zh-CN" sz="2600" dirty="0">
                <a:latin typeface="微软雅黑" panose="020B0503020204020204" pitchFamily="34" charset="-122"/>
                <a:ea typeface="微软雅黑" panose="020B0503020204020204" pitchFamily="34" charset="-122"/>
              </a:rPr>
              <a:t>BPG</a:t>
            </a:r>
            <a:r>
              <a:rPr lang="zh-CN" altLang="en-US" sz="2600" dirty="0">
                <a:latin typeface="微软雅黑" panose="020B0503020204020204" pitchFamily="34" charset="-122"/>
                <a:ea typeface="微软雅黑" panose="020B0503020204020204" pitchFamily="34" charset="-122"/>
              </a:rPr>
              <a:t>，与氧的亲和力更高。</a:t>
            </a:r>
            <a:endParaRPr lang="en-US" altLang="zh-CN" sz="2600" dirty="0">
              <a:latin typeface="微软雅黑" panose="020B0503020204020204" pitchFamily="34" charset="-122"/>
              <a:ea typeface="微软雅黑" panose="020B0503020204020204" pitchFamily="34" charset="-122"/>
            </a:endParaRPr>
          </a:p>
          <a:p>
            <a:pPr marL="457200" indent="-457200">
              <a:lnSpc>
                <a:spcPct val="130000"/>
              </a:lnSpc>
              <a:spcBef>
                <a:spcPts val="1800"/>
              </a:spcBef>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母体的</a:t>
            </a:r>
            <a:r>
              <a:rPr lang="en-US" altLang="zh-CN" sz="2600" dirty="0">
                <a:latin typeface="微软雅黑" panose="020B0503020204020204" pitchFamily="34" charset="-122"/>
                <a:ea typeface="微软雅黑" panose="020B0503020204020204" pitchFamily="34" charset="-122"/>
              </a:rPr>
              <a:t>BPG</a:t>
            </a:r>
            <a:r>
              <a:rPr lang="zh-CN" altLang="en-US" sz="2600" dirty="0">
                <a:latin typeface="微软雅黑" panose="020B0503020204020204" pitchFamily="34" charset="-122"/>
                <a:ea typeface="微软雅黑" panose="020B0503020204020204" pitchFamily="34" charset="-122"/>
              </a:rPr>
              <a:t>水平高于非孕期，有利于给胎儿输送氧。</a:t>
            </a:r>
            <a:endParaRPr lang="en-US" altLang="zh-CN" sz="2600" dirty="0">
              <a:latin typeface="微软雅黑" panose="020B0503020204020204" pitchFamily="34" charset="-122"/>
              <a:ea typeface="微软雅黑" panose="020B0503020204020204" pitchFamily="34" charset="-122"/>
            </a:endParaRPr>
          </a:p>
        </p:txBody>
      </p:sp>
    </p:spTree>
  </p:cSld>
  <p:clrMapOvr>
    <a:masterClrMapping/>
  </p:clrMapOvr>
  <p:transition spd="slow">
    <p:circl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a:extLst>
              <a:ext uri="{FF2B5EF4-FFF2-40B4-BE49-F238E27FC236}">
                <a16:creationId xmlns:a16="http://schemas.microsoft.com/office/drawing/2014/main" id="{90337438-2229-4E55-942E-2DC2F993DDAE}"/>
              </a:ext>
            </a:extLst>
          </p:cNvPr>
          <p:cNvSpPr>
            <a:spLocks noGrp="1" noChangeArrowheads="1"/>
          </p:cNvSpPr>
          <p:nvPr>
            <p:ph type="title"/>
          </p:nvPr>
        </p:nvSpPr>
        <p:spPr>
          <a:xfrm>
            <a:off x="2135189" y="188913"/>
            <a:ext cx="6624637" cy="563562"/>
          </a:xfrm>
        </p:spPr>
        <p:txBody>
          <a:bodyPr/>
          <a:lstStyle/>
          <a:p>
            <a:r>
              <a:rPr lang="zh-CN" altLang="en-US"/>
              <a:t>波尔效应（</a:t>
            </a:r>
            <a:r>
              <a:rPr lang="en-US" altLang="zh-CN"/>
              <a:t>Bohr effect)</a:t>
            </a:r>
            <a:endParaRPr lang="zh-CN" altLang="en-US"/>
          </a:p>
        </p:txBody>
      </p:sp>
      <p:sp>
        <p:nvSpPr>
          <p:cNvPr id="101379" name="内容占位符 2">
            <a:extLst>
              <a:ext uri="{FF2B5EF4-FFF2-40B4-BE49-F238E27FC236}">
                <a16:creationId xmlns:a16="http://schemas.microsoft.com/office/drawing/2014/main" id="{9B16967F-5948-4D08-BDD5-EB564C739794}"/>
              </a:ext>
            </a:extLst>
          </p:cNvPr>
          <p:cNvSpPr>
            <a:spLocks noGrp="1" noChangeArrowheads="1"/>
          </p:cNvSpPr>
          <p:nvPr>
            <p:ph idx="1"/>
          </p:nvPr>
        </p:nvSpPr>
        <p:spPr>
          <a:xfrm>
            <a:off x="695400" y="1700808"/>
            <a:ext cx="5184576" cy="4621759"/>
          </a:xfrm>
        </p:spPr>
        <p:txBody>
          <a:bodyPr/>
          <a:lstStyle/>
          <a:p>
            <a:pPr marL="0" indent="0" algn="just">
              <a:lnSpc>
                <a:spcPct val="120000"/>
              </a:lnSpc>
              <a:spcBef>
                <a:spcPct val="0"/>
              </a:spcBef>
            </a:pPr>
            <a:r>
              <a:rPr lang="zh-CN" altLang="en-US" dirty="0"/>
              <a:t>血液</a:t>
            </a:r>
            <a:r>
              <a:rPr lang="en-US" altLang="zh-CN" dirty="0">
                <a:solidFill>
                  <a:srgbClr val="0000CC"/>
                </a:solidFill>
              </a:rPr>
              <a:t>pH</a:t>
            </a:r>
            <a:r>
              <a:rPr lang="zh-CN" altLang="en-US" dirty="0">
                <a:solidFill>
                  <a:srgbClr val="0000CC"/>
                </a:solidFill>
              </a:rPr>
              <a:t>值↓或</a:t>
            </a:r>
            <a:r>
              <a:rPr lang="en-US" altLang="zh-CN" dirty="0">
                <a:solidFill>
                  <a:srgbClr val="0000CC"/>
                </a:solidFill>
              </a:rPr>
              <a:t>pCO</a:t>
            </a:r>
            <a:r>
              <a:rPr lang="en-US" altLang="zh-CN" baseline="-25000" dirty="0">
                <a:solidFill>
                  <a:srgbClr val="0000CC"/>
                </a:solidFill>
              </a:rPr>
              <a:t>2</a:t>
            </a:r>
            <a:r>
              <a:rPr lang="zh-CN" altLang="en-US" dirty="0">
                <a:solidFill>
                  <a:srgbClr val="0000CC"/>
                </a:solidFill>
              </a:rPr>
              <a:t>↑会促使</a:t>
            </a:r>
            <a:r>
              <a:rPr lang="en-US" altLang="zh-CN" dirty="0">
                <a:solidFill>
                  <a:srgbClr val="0000CC"/>
                </a:solidFill>
              </a:rPr>
              <a:t>Hb</a:t>
            </a:r>
            <a:r>
              <a:rPr lang="zh-CN" altLang="en-US" dirty="0">
                <a:solidFill>
                  <a:srgbClr val="0000CC"/>
                </a:solidFill>
              </a:rPr>
              <a:t>释放</a:t>
            </a:r>
            <a:r>
              <a:rPr lang="en-US" altLang="zh-CN" dirty="0">
                <a:solidFill>
                  <a:srgbClr val="0000CC"/>
                </a:solidFill>
              </a:rPr>
              <a:t>O</a:t>
            </a:r>
            <a:r>
              <a:rPr lang="en-US" altLang="zh-CN" baseline="-25000" dirty="0">
                <a:solidFill>
                  <a:srgbClr val="0000CC"/>
                </a:solidFill>
              </a:rPr>
              <a:t>2</a:t>
            </a:r>
            <a:r>
              <a:rPr lang="zh-CN" altLang="en-US" dirty="0"/>
              <a:t>，</a:t>
            </a:r>
            <a:r>
              <a:rPr lang="zh-CN" altLang="en-US" dirty="0">
                <a:solidFill>
                  <a:schemeClr val="tx1">
                    <a:lumMod val="60000"/>
                    <a:lumOff val="40000"/>
                  </a:schemeClr>
                </a:solidFill>
              </a:rPr>
              <a:t>氧解离曲线右移</a:t>
            </a:r>
            <a:r>
              <a:rPr lang="zh-CN" altLang="en-US" dirty="0"/>
              <a:t>，这种效应称为</a:t>
            </a:r>
            <a:r>
              <a:rPr lang="zh-CN" altLang="en-US" dirty="0">
                <a:solidFill>
                  <a:srgbClr val="FF0000"/>
                </a:solidFill>
              </a:rPr>
              <a:t>波尔效应</a:t>
            </a:r>
            <a:r>
              <a:rPr lang="zh-CN" altLang="en-US" dirty="0"/>
              <a:t>。 该效应有利于红细胞在外周组织释放氧。</a:t>
            </a:r>
            <a:endParaRPr lang="en-US" altLang="zh-CN" dirty="0"/>
          </a:p>
          <a:p>
            <a:pPr marL="0" indent="0" algn="just">
              <a:lnSpc>
                <a:spcPct val="120000"/>
              </a:lnSpc>
              <a:spcBef>
                <a:spcPct val="0"/>
              </a:spcBef>
            </a:pPr>
            <a:endParaRPr lang="en-US" altLang="zh-CN" dirty="0"/>
          </a:p>
          <a:p>
            <a:pPr marL="0" indent="0" algn="just">
              <a:lnSpc>
                <a:spcPct val="120000"/>
              </a:lnSpc>
              <a:spcBef>
                <a:spcPct val="0"/>
              </a:spcBef>
            </a:pPr>
            <a:r>
              <a:rPr lang="zh-CN" altLang="en-US" dirty="0"/>
              <a:t>反之，</a:t>
            </a:r>
            <a:r>
              <a:rPr lang="en-US" altLang="zh-CN" dirty="0"/>
              <a:t>pH</a:t>
            </a:r>
            <a:r>
              <a:rPr lang="zh-CN" altLang="en-US" dirty="0"/>
              <a:t>值↑或</a:t>
            </a:r>
            <a:r>
              <a:rPr lang="en-US" altLang="zh-CN" dirty="0"/>
              <a:t>pCO</a:t>
            </a:r>
            <a:r>
              <a:rPr lang="en-US" altLang="zh-CN" baseline="-25000" dirty="0">
                <a:solidFill>
                  <a:srgbClr val="0000CC"/>
                </a:solidFill>
              </a:rPr>
              <a:t>2</a:t>
            </a:r>
            <a:r>
              <a:rPr lang="zh-CN" altLang="en-US" dirty="0"/>
              <a:t>↓，</a:t>
            </a:r>
            <a:r>
              <a:rPr lang="en-US" altLang="zh-CN" dirty="0"/>
              <a:t>Hb</a:t>
            </a:r>
            <a:r>
              <a:rPr lang="zh-CN" altLang="en-US" dirty="0"/>
              <a:t>与</a:t>
            </a:r>
            <a:r>
              <a:rPr lang="en-US" altLang="zh-CN" dirty="0"/>
              <a:t>O</a:t>
            </a:r>
            <a:r>
              <a:rPr lang="en-US" altLang="zh-CN" baseline="-25000" dirty="0">
                <a:solidFill>
                  <a:srgbClr val="0000CC"/>
                </a:solidFill>
              </a:rPr>
              <a:t>2</a:t>
            </a:r>
            <a:r>
              <a:rPr lang="zh-CN" altLang="en-US" dirty="0"/>
              <a:t>的亲合力增加，有利于红细胞在肺部携带更多的氧。</a:t>
            </a:r>
            <a:endParaRPr lang="en-US" altLang="zh-CN" dirty="0"/>
          </a:p>
        </p:txBody>
      </p:sp>
      <p:pic>
        <p:nvPicPr>
          <p:cNvPr id="101380" name="图片 3">
            <a:extLst>
              <a:ext uri="{FF2B5EF4-FFF2-40B4-BE49-F238E27FC236}">
                <a16:creationId xmlns:a16="http://schemas.microsoft.com/office/drawing/2014/main" id="{F2CB6E26-AFEE-4AB7-92C1-7A7A7228D6E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72064" y="1547996"/>
            <a:ext cx="4609205" cy="4621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916ABB-C9EA-483E-B190-70A47D8E565C}"/>
              </a:ext>
            </a:extLst>
          </p:cNvPr>
          <p:cNvSpPr>
            <a:spLocks noGrp="1"/>
          </p:cNvSpPr>
          <p:nvPr>
            <p:ph type="title"/>
          </p:nvPr>
        </p:nvSpPr>
        <p:spPr/>
        <p:txBody>
          <a:bodyPr/>
          <a:lstStyle/>
          <a:p>
            <a:endParaRPr lang="zh-CN" altLang="en-US" dirty="0"/>
          </a:p>
        </p:txBody>
      </p:sp>
      <p:sp>
        <p:nvSpPr>
          <p:cNvPr id="6" name="文本框 5">
            <a:extLst>
              <a:ext uri="{FF2B5EF4-FFF2-40B4-BE49-F238E27FC236}">
                <a16:creationId xmlns:a16="http://schemas.microsoft.com/office/drawing/2014/main" id="{726B7655-2D35-4373-B82C-8605C37E31F2}"/>
              </a:ext>
            </a:extLst>
          </p:cNvPr>
          <p:cNvSpPr txBox="1"/>
          <p:nvPr/>
        </p:nvSpPr>
        <p:spPr>
          <a:xfrm>
            <a:off x="1991544" y="2276873"/>
            <a:ext cx="8208912" cy="194764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zh-CN" sz="2800" dirty="0">
                <a:solidFill>
                  <a:schemeClr val="tx1">
                    <a:lumMod val="60000"/>
                    <a:lumOff val="40000"/>
                  </a:schemeClr>
                </a:solidFill>
                <a:latin typeface="微软雅黑" panose="020B0503020204020204" pitchFamily="34" charset="-122"/>
                <a:ea typeface="微软雅黑" panose="020B0503020204020204" pitchFamily="34" charset="-122"/>
              </a:rPr>
              <a:t>2,3-BPG</a:t>
            </a:r>
            <a:r>
              <a:rPr lang="zh-CN" altLang="en-US" sz="2800" dirty="0">
                <a:solidFill>
                  <a:schemeClr val="tx1">
                    <a:lumMod val="60000"/>
                    <a:lumOff val="40000"/>
                  </a:schemeClr>
                </a:solidFill>
                <a:latin typeface="微软雅黑" panose="020B0503020204020204" pitchFamily="34" charset="-122"/>
                <a:ea typeface="微软雅黑" panose="020B0503020204020204" pitchFamily="34" charset="-122"/>
              </a:rPr>
              <a:t>、</a:t>
            </a:r>
            <a:r>
              <a:rPr lang="en-US" altLang="zh-CN" sz="2800" dirty="0">
                <a:solidFill>
                  <a:schemeClr val="tx1">
                    <a:lumMod val="60000"/>
                    <a:lumOff val="40000"/>
                  </a:schemeClr>
                </a:solidFill>
                <a:latin typeface="微软雅黑" panose="020B0503020204020204" pitchFamily="34" charset="-122"/>
                <a:ea typeface="微软雅黑" panose="020B0503020204020204" pitchFamily="34" charset="-122"/>
              </a:rPr>
              <a:t>H</a:t>
            </a:r>
            <a:r>
              <a:rPr lang="en-US" altLang="zh-CN" sz="2800" baseline="30000" dirty="0">
                <a:solidFill>
                  <a:schemeClr val="tx1">
                    <a:lumMod val="60000"/>
                    <a:lumOff val="40000"/>
                  </a:schemeClr>
                </a:solidFill>
                <a:latin typeface="微软雅黑" panose="020B0503020204020204" pitchFamily="34" charset="-122"/>
                <a:ea typeface="微软雅黑" panose="020B0503020204020204" pitchFamily="34" charset="-122"/>
              </a:rPr>
              <a:t>+</a:t>
            </a:r>
            <a:r>
              <a:rPr lang="zh-CN" altLang="en-US" sz="2800" dirty="0">
                <a:solidFill>
                  <a:schemeClr val="tx1">
                    <a:lumMod val="60000"/>
                    <a:lumOff val="40000"/>
                  </a:schemeClr>
                </a:solidFill>
                <a:latin typeface="微软雅黑" panose="020B0503020204020204" pitchFamily="34" charset="-122"/>
                <a:ea typeface="微软雅黑" panose="020B0503020204020204" pitchFamily="34" charset="-122"/>
              </a:rPr>
              <a:t>和</a:t>
            </a:r>
            <a:r>
              <a:rPr lang="en-US" altLang="zh-CN" sz="2800" dirty="0">
                <a:solidFill>
                  <a:schemeClr val="tx1">
                    <a:lumMod val="60000"/>
                    <a:lumOff val="40000"/>
                  </a:schemeClr>
                </a:solidFill>
                <a:latin typeface="微软雅黑" panose="020B0503020204020204" pitchFamily="34" charset="-122"/>
                <a:ea typeface="微软雅黑" panose="020B0503020204020204" pitchFamily="34" charset="-122"/>
              </a:rPr>
              <a:t>CO</a:t>
            </a:r>
            <a:r>
              <a:rPr lang="en-US" altLang="zh-CN" sz="2800" baseline="-25000" dirty="0">
                <a:solidFill>
                  <a:schemeClr val="tx1">
                    <a:lumMod val="60000"/>
                    <a:lumOff val="40000"/>
                  </a:schemeClr>
                </a:solidFill>
                <a:latin typeface="微软雅黑" panose="020B0503020204020204" pitchFamily="34" charset="-122"/>
                <a:ea typeface="微软雅黑" panose="020B0503020204020204" pitchFamily="34" charset="-122"/>
              </a:rPr>
              <a:t>2</a:t>
            </a:r>
            <a:r>
              <a:rPr lang="zh-CN" altLang="en-US" sz="2800" dirty="0">
                <a:solidFill>
                  <a:schemeClr val="tx1">
                    <a:lumMod val="60000"/>
                    <a:lumOff val="40000"/>
                  </a:schemeClr>
                </a:solidFill>
                <a:latin typeface="微软雅黑" panose="020B0503020204020204" pitchFamily="34" charset="-122"/>
                <a:ea typeface="微软雅黑" panose="020B0503020204020204" pitchFamily="34" charset="-122"/>
              </a:rPr>
              <a:t>都是</a:t>
            </a:r>
            <a:r>
              <a:rPr lang="en-US" altLang="zh-CN" sz="2800" dirty="0">
                <a:solidFill>
                  <a:schemeClr val="tx1">
                    <a:lumMod val="60000"/>
                    <a:lumOff val="40000"/>
                  </a:schemeClr>
                </a:solidFill>
                <a:latin typeface="微软雅黑" panose="020B0503020204020204" pitchFamily="34" charset="-122"/>
                <a:ea typeface="微软雅黑" panose="020B0503020204020204" pitchFamily="34" charset="-122"/>
              </a:rPr>
              <a:t>Hb</a:t>
            </a:r>
            <a:r>
              <a:rPr lang="zh-CN" altLang="en-US" sz="2800" dirty="0">
                <a:solidFill>
                  <a:schemeClr val="tx1">
                    <a:lumMod val="60000"/>
                    <a:lumOff val="40000"/>
                  </a:schemeClr>
                </a:solidFill>
                <a:latin typeface="微软雅黑" panose="020B0503020204020204" pitchFamily="34" charset="-122"/>
                <a:ea typeface="微软雅黑" panose="020B0503020204020204" pitchFamily="34" charset="-122"/>
              </a:rPr>
              <a:t>的别构效应剂</a:t>
            </a:r>
            <a:r>
              <a:rPr lang="zh-CN" altLang="en-US" sz="2800" dirty="0">
                <a:solidFill>
                  <a:srgbClr val="000066"/>
                </a:solidFill>
                <a:latin typeface="微软雅黑" panose="020B0503020204020204" pitchFamily="34" charset="-122"/>
                <a:ea typeface="微软雅黑" panose="020B0503020204020204" pitchFamily="34" charset="-122"/>
              </a:rPr>
              <a:t>， 它们与</a:t>
            </a:r>
            <a:r>
              <a:rPr lang="en-US" altLang="zh-CN" sz="2800" dirty="0">
                <a:solidFill>
                  <a:srgbClr val="000066"/>
                </a:solidFill>
                <a:latin typeface="微软雅黑" panose="020B0503020204020204" pitchFamily="34" charset="-122"/>
                <a:ea typeface="微软雅黑" panose="020B0503020204020204" pitchFamily="34" charset="-122"/>
              </a:rPr>
              <a:t>Hb</a:t>
            </a:r>
            <a:r>
              <a:rPr lang="zh-CN" altLang="en-US" sz="2800" dirty="0">
                <a:solidFill>
                  <a:srgbClr val="000066"/>
                </a:solidFill>
                <a:latin typeface="微软雅黑" panose="020B0503020204020204" pitchFamily="34" charset="-122"/>
                <a:ea typeface="微软雅黑" panose="020B0503020204020204" pitchFamily="34" charset="-122"/>
              </a:rPr>
              <a:t>结合，都有利于</a:t>
            </a:r>
            <a:r>
              <a:rPr lang="en-US" altLang="zh-CN" sz="2800" dirty="0">
                <a:solidFill>
                  <a:srgbClr val="000066"/>
                </a:solidFill>
                <a:latin typeface="微软雅黑" panose="020B0503020204020204" pitchFamily="34" charset="-122"/>
                <a:ea typeface="微软雅黑" panose="020B0503020204020204" pitchFamily="34" charset="-122"/>
              </a:rPr>
              <a:t>Hb</a:t>
            </a:r>
            <a:r>
              <a:rPr lang="zh-CN" altLang="en-US" sz="2800" dirty="0">
                <a:solidFill>
                  <a:srgbClr val="000066"/>
                </a:solidFill>
                <a:latin typeface="微软雅黑" panose="020B0503020204020204" pitchFamily="34" charset="-122"/>
                <a:ea typeface="微软雅黑" panose="020B0503020204020204" pitchFamily="34" charset="-122"/>
              </a:rPr>
              <a:t>从</a:t>
            </a:r>
            <a:r>
              <a:rPr lang="en-US" altLang="zh-CN" sz="2800" dirty="0">
                <a:solidFill>
                  <a:srgbClr val="000066"/>
                </a:solidFill>
                <a:latin typeface="微软雅黑" panose="020B0503020204020204" pitchFamily="34" charset="-122"/>
                <a:ea typeface="微软雅黑" panose="020B0503020204020204" pitchFamily="34" charset="-122"/>
              </a:rPr>
              <a:t>R</a:t>
            </a:r>
            <a:r>
              <a:rPr lang="zh-CN" altLang="en-US" sz="2800" dirty="0">
                <a:solidFill>
                  <a:srgbClr val="000066"/>
                </a:solidFill>
                <a:latin typeface="微软雅黑" panose="020B0503020204020204" pitchFamily="34" charset="-122"/>
                <a:ea typeface="微软雅黑" panose="020B0503020204020204" pitchFamily="34" charset="-122"/>
              </a:rPr>
              <a:t>态变为</a:t>
            </a:r>
            <a:r>
              <a:rPr lang="en-US" altLang="zh-CN" sz="2800" dirty="0">
                <a:solidFill>
                  <a:srgbClr val="000066"/>
                </a:solidFill>
                <a:latin typeface="微软雅黑" panose="020B0503020204020204" pitchFamily="34" charset="-122"/>
                <a:ea typeface="微软雅黑" panose="020B0503020204020204" pitchFamily="34" charset="-122"/>
              </a:rPr>
              <a:t>T</a:t>
            </a:r>
            <a:r>
              <a:rPr lang="zh-CN" altLang="en-US" sz="2800" dirty="0">
                <a:solidFill>
                  <a:srgbClr val="000066"/>
                </a:solidFill>
                <a:latin typeface="微软雅黑" panose="020B0503020204020204" pitchFamily="34" charset="-122"/>
                <a:ea typeface="微软雅黑" panose="020B0503020204020204" pitchFamily="34" charset="-122"/>
              </a:rPr>
              <a:t>态，从而有利于氧合</a:t>
            </a:r>
            <a:r>
              <a:rPr lang="en-US" altLang="zh-CN" sz="2800" dirty="0">
                <a:solidFill>
                  <a:srgbClr val="000066"/>
                </a:solidFill>
                <a:latin typeface="微软雅黑" panose="020B0503020204020204" pitchFamily="34" charset="-122"/>
                <a:ea typeface="微软雅黑" panose="020B0503020204020204" pitchFamily="34" charset="-122"/>
              </a:rPr>
              <a:t>Hb</a:t>
            </a:r>
            <a:r>
              <a:rPr lang="zh-CN" altLang="en-US" sz="2800" dirty="0">
                <a:solidFill>
                  <a:srgbClr val="000066"/>
                </a:solidFill>
                <a:latin typeface="微软雅黑" panose="020B0503020204020204" pitchFamily="34" charset="-122"/>
                <a:ea typeface="微软雅黑" panose="020B0503020204020204" pitchFamily="34" charset="-122"/>
              </a:rPr>
              <a:t>释放氧给组织细胞。   </a:t>
            </a:r>
          </a:p>
        </p:txBody>
      </p:sp>
    </p:spTree>
    <p:extLst>
      <p:ext uri="{BB962C8B-B14F-4D97-AF65-F5344CB8AC3E}">
        <p14:creationId xmlns:p14="http://schemas.microsoft.com/office/powerpoint/2010/main" val="3462446921"/>
      </p:ext>
    </p:extLst>
  </p:cSld>
  <p:clrMapOvr>
    <a:masterClrMapping/>
  </p:clrMapOvr>
  <p:transition spd="slow">
    <p:circle/>
  </p:transition>
</p:sld>
</file>

<file path=ppt/slides/slide4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03426" name="内容占位符 2">
            <a:extLst>
              <a:ext uri="{FF2B5EF4-FFF2-40B4-BE49-F238E27FC236}">
                <a16:creationId xmlns:a16="http://schemas.microsoft.com/office/drawing/2014/main" id="{109C512D-F5F6-4142-A052-13201A4C49DE}"/>
              </a:ext>
            </a:extLst>
          </p:cNvPr>
          <p:cNvSpPr>
            <a:spLocks noGrp="1" noChangeArrowheads="1"/>
          </p:cNvSpPr>
          <p:nvPr>
            <p:ph idx="1"/>
          </p:nvPr>
        </p:nvSpPr>
        <p:spPr>
          <a:xfrm>
            <a:off x="1631504" y="4660900"/>
            <a:ext cx="8928991" cy="1512888"/>
          </a:xfrm>
        </p:spPr>
        <p:txBody>
          <a:bodyPr/>
          <a:lstStyle/>
          <a:p>
            <a:pPr>
              <a:lnSpc>
                <a:spcPct val="120000"/>
              </a:lnSpc>
            </a:pPr>
            <a:r>
              <a:rPr lang="en-US" altLang="zh-CN" dirty="0">
                <a:solidFill>
                  <a:srgbClr val="C00000"/>
                </a:solidFill>
              </a:rPr>
              <a:t>S</a:t>
            </a:r>
            <a:r>
              <a:rPr lang="zh-CN" altLang="en-US" dirty="0">
                <a:solidFill>
                  <a:srgbClr val="C00000"/>
                </a:solidFill>
              </a:rPr>
              <a:t>形曲线的氧结合、</a:t>
            </a:r>
            <a:r>
              <a:rPr lang="en-US" altLang="zh-CN" dirty="0">
                <a:solidFill>
                  <a:srgbClr val="C00000"/>
                </a:solidFill>
              </a:rPr>
              <a:t>Bohr</a:t>
            </a:r>
            <a:r>
              <a:rPr lang="zh-CN" altLang="en-US" dirty="0">
                <a:solidFill>
                  <a:srgbClr val="C00000"/>
                </a:solidFill>
              </a:rPr>
              <a:t>效应</a:t>
            </a:r>
            <a:r>
              <a:rPr lang="zh-CN" altLang="en-US" dirty="0"/>
              <a:t>以及</a:t>
            </a:r>
            <a:r>
              <a:rPr lang="en-US" altLang="zh-CN" dirty="0">
                <a:solidFill>
                  <a:srgbClr val="C00000"/>
                </a:solidFill>
              </a:rPr>
              <a:t>BPG</a:t>
            </a:r>
            <a:r>
              <a:rPr lang="zh-CN" altLang="en-US" dirty="0">
                <a:solidFill>
                  <a:srgbClr val="C00000"/>
                </a:solidFill>
              </a:rPr>
              <a:t>效应物的调节</a:t>
            </a:r>
            <a:r>
              <a:rPr lang="zh-CN" altLang="en-US" dirty="0"/>
              <a:t>，使得</a:t>
            </a:r>
            <a:r>
              <a:rPr lang="en-US" altLang="zh-CN" dirty="0"/>
              <a:t>Hb</a:t>
            </a:r>
            <a:r>
              <a:rPr lang="zh-CN" altLang="en-US" dirty="0"/>
              <a:t>的输氧达到最高效率，能在较窄的氧分压范围完成输氧功能。</a:t>
            </a:r>
            <a:endParaRPr lang="en-US" altLang="zh-CN" dirty="0"/>
          </a:p>
        </p:txBody>
      </p:sp>
      <p:pic>
        <p:nvPicPr>
          <p:cNvPr id="103427" name="图片 1">
            <a:extLst>
              <a:ext uri="{FF2B5EF4-FFF2-40B4-BE49-F238E27FC236}">
                <a16:creationId xmlns:a16="http://schemas.microsoft.com/office/drawing/2014/main" id="{FC55B3E0-EC94-4574-A211-6DA663CCAA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6" y="238126"/>
            <a:ext cx="8232775" cy="414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a:extLst>
              <a:ext uri="{FF2B5EF4-FFF2-40B4-BE49-F238E27FC236}">
                <a16:creationId xmlns:a16="http://schemas.microsoft.com/office/drawing/2014/main" id="{F82B3F3C-CE06-4A00-BD07-02DC6C72543F}"/>
              </a:ext>
            </a:extLst>
          </p:cNvPr>
          <p:cNvSpPr>
            <a:spLocks noGrp="1" noChangeArrowheads="1"/>
          </p:cNvSpPr>
          <p:nvPr>
            <p:ph type="title"/>
          </p:nvPr>
        </p:nvSpPr>
        <p:spPr>
          <a:xfrm>
            <a:off x="1703388" y="188913"/>
            <a:ext cx="6985000" cy="563562"/>
          </a:xfrm>
        </p:spPr>
        <p:txBody>
          <a:bodyPr/>
          <a:lstStyle/>
          <a:p>
            <a:r>
              <a:rPr lang="en-US" altLang="zh-CN" dirty="0"/>
              <a:t>Hb</a:t>
            </a:r>
            <a:r>
              <a:rPr lang="zh-CN" altLang="en-US" dirty="0"/>
              <a:t>与氧结合效应要点</a:t>
            </a:r>
          </a:p>
        </p:txBody>
      </p:sp>
      <p:sp>
        <p:nvSpPr>
          <p:cNvPr id="3" name="内容占位符 2">
            <a:extLst>
              <a:ext uri="{FF2B5EF4-FFF2-40B4-BE49-F238E27FC236}">
                <a16:creationId xmlns:a16="http://schemas.microsoft.com/office/drawing/2014/main" id="{0A52F76D-EABD-4BDF-9B02-ABBC419385DF}"/>
              </a:ext>
            </a:extLst>
          </p:cNvPr>
          <p:cNvSpPr>
            <a:spLocks noGrp="1"/>
          </p:cNvSpPr>
          <p:nvPr>
            <p:ph idx="1"/>
          </p:nvPr>
        </p:nvSpPr>
        <p:spPr>
          <a:xfrm>
            <a:off x="983432" y="1196752"/>
            <a:ext cx="10225136" cy="5189537"/>
          </a:xfrm>
        </p:spPr>
        <p:txBody>
          <a:bodyPr/>
          <a:lstStyle/>
          <a:p>
            <a:pPr>
              <a:lnSpc>
                <a:spcPct val="120000"/>
              </a:lnSpc>
              <a:spcBef>
                <a:spcPts val="2400"/>
              </a:spcBef>
              <a:defRPr/>
            </a:pPr>
            <a:r>
              <a:rPr lang="zh-CN" altLang="en-US" sz="2600" dirty="0"/>
              <a:t>血红蛋白</a:t>
            </a:r>
            <a:r>
              <a:rPr lang="zh-CN" altLang="en-US" sz="2600" dirty="0">
                <a:solidFill>
                  <a:schemeClr val="tx1">
                    <a:lumMod val="60000"/>
                    <a:lumOff val="40000"/>
                  </a:schemeClr>
                </a:solidFill>
              </a:rPr>
              <a:t>（</a:t>
            </a:r>
            <a:r>
              <a:rPr lang="en-US" altLang="zh-CN" sz="2600" b="1" dirty="0">
                <a:solidFill>
                  <a:schemeClr val="tx1">
                    <a:lumMod val="60000"/>
                    <a:lumOff val="40000"/>
                  </a:schemeClr>
                </a:solidFill>
              </a:rPr>
              <a:t> α</a:t>
            </a:r>
            <a:r>
              <a:rPr lang="en-US" altLang="zh-CN" sz="2600" b="1" baseline="-25000" dirty="0">
                <a:solidFill>
                  <a:schemeClr val="tx1">
                    <a:lumMod val="60000"/>
                    <a:lumOff val="40000"/>
                  </a:schemeClr>
                </a:solidFill>
              </a:rPr>
              <a:t>2</a:t>
            </a:r>
            <a:r>
              <a:rPr lang="en-US" altLang="zh-CN" sz="2600" b="1" dirty="0">
                <a:solidFill>
                  <a:schemeClr val="tx1">
                    <a:lumMod val="60000"/>
                    <a:lumOff val="40000"/>
                  </a:schemeClr>
                </a:solidFill>
              </a:rPr>
              <a:t>β</a:t>
            </a:r>
            <a:r>
              <a:rPr lang="en-US" altLang="zh-CN" sz="2600" b="1" baseline="-25000" dirty="0">
                <a:solidFill>
                  <a:schemeClr val="tx1">
                    <a:lumMod val="60000"/>
                    <a:lumOff val="40000"/>
                  </a:schemeClr>
                </a:solidFill>
              </a:rPr>
              <a:t>2 </a:t>
            </a:r>
            <a:r>
              <a:rPr lang="zh-CN" altLang="en-US" sz="2600" dirty="0">
                <a:solidFill>
                  <a:schemeClr val="tx1">
                    <a:lumMod val="60000"/>
                    <a:lumOff val="40000"/>
                  </a:schemeClr>
                </a:solidFill>
              </a:rPr>
              <a:t>）</a:t>
            </a:r>
            <a:r>
              <a:rPr lang="zh-CN" altLang="en-US" sz="2600" dirty="0"/>
              <a:t>的每个亚基类似一个肌红蛋白分子，</a:t>
            </a:r>
            <a:r>
              <a:rPr lang="zh-CN" altLang="en-US" sz="2600" dirty="0">
                <a:solidFill>
                  <a:schemeClr val="tx1">
                    <a:lumMod val="60000"/>
                    <a:lumOff val="40000"/>
                  </a:schemeClr>
                </a:solidFill>
              </a:rPr>
              <a:t>每个亚基结合一个血红素</a:t>
            </a:r>
            <a:r>
              <a:rPr lang="zh-CN" altLang="en-US" sz="2600" dirty="0"/>
              <a:t>。</a:t>
            </a:r>
            <a:r>
              <a:rPr lang="zh-CN" altLang="en-US" sz="2600" dirty="0">
                <a:solidFill>
                  <a:schemeClr val="tx1">
                    <a:lumMod val="60000"/>
                    <a:lumOff val="40000"/>
                  </a:schemeClr>
                </a:solidFill>
              </a:rPr>
              <a:t>每个血红素结合一个氧分子，</a:t>
            </a:r>
            <a:r>
              <a:rPr lang="zh-CN" altLang="en-US" sz="2600" dirty="0"/>
              <a:t>血红素中的</a:t>
            </a:r>
            <a:r>
              <a:rPr lang="zh-CN" altLang="en-US" sz="2600" dirty="0">
                <a:solidFill>
                  <a:schemeClr val="tx1">
                    <a:lumMod val="60000"/>
                    <a:lumOff val="40000"/>
                  </a:schemeClr>
                </a:solidFill>
              </a:rPr>
              <a:t>亚铁离子</a:t>
            </a:r>
            <a:r>
              <a:rPr lang="zh-CN" altLang="en-US" sz="2600" dirty="0"/>
              <a:t>与氧分子形成第六个配位键。</a:t>
            </a:r>
            <a:endParaRPr lang="en-US" altLang="zh-CN" sz="2600" dirty="0"/>
          </a:p>
          <a:p>
            <a:pPr>
              <a:lnSpc>
                <a:spcPct val="120000"/>
              </a:lnSpc>
              <a:spcBef>
                <a:spcPts val="2400"/>
              </a:spcBef>
              <a:defRPr/>
            </a:pPr>
            <a:r>
              <a:rPr lang="en-US" altLang="zh-CN" sz="2600" dirty="0"/>
              <a:t>Hb</a:t>
            </a:r>
            <a:r>
              <a:rPr lang="zh-CN" altLang="en-US" sz="2600" dirty="0"/>
              <a:t>的</a:t>
            </a:r>
            <a:r>
              <a:rPr lang="zh-CN" altLang="en-US" sz="2600" dirty="0">
                <a:solidFill>
                  <a:srgbClr val="C00000"/>
                </a:solidFill>
              </a:rPr>
              <a:t>氧解离曲线为</a:t>
            </a:r>
            <a:r>
              <a:rPr lang="en-US" altLang="zh-CN" sz="2600" dirty="0">
                <a:solidFill>
                  <a:srgbClr val="C00000"/>
                </a:solidFill>
              </a:rPr>
              <a:t>S</a:t>
            </a:r>
            <a:r>
              <a:rPr lang="zh-CN" altLang="en-US" sz="2600" dirty="0">
                <a:solidFill>
                  <a:srgbClr val="C00000"/>
                </a:solidFill>
              </a:rPr>
              <a:t>形</a:t>
            </a:r>
            <a:r>
              <a:rPr lang="zh-CN" altLang="en-US" sz="2600" dirty="0"/>
              <a:t>，与氧结合时存在</a:t>
            </a:r>
            <a:r>
              <a:rPr lang="zh-CN" altLang="en-US" sz="2600" dirty="0">
                <a:solidFill>
                  <a:srgbClr val="C00000"/>
                </a:solidFill>
              </a:rPr>
              <a:t>正协同效应、别构效应</a:t>
            </a:r>
            <a:r>
              <a:rPr lang="zh-CN" altLang="en-US" sz="2600" dirty="0"/>
              <a:t>。这种效应使得血红蛋白能有效地给组织输送氧。</a:t>
            </a:r>
            <a:endParaRPr lang="en-US" altLang="zh-CN" sz="2600" dirty="0"/>
          </a:p>
          <a:p>
            <a:pPr>
              <a:lnSpc>
                <a:spcPct val="120000"/>
              </a:lnSpc>
              <a:spcBef>
                <a:spcPts val="2400"/>
              </a:spcBef>
              <a:defRPr/>
            </a:pPr>
            <a:r>
              <a:rPr lang="en-US" altLang="zh-CN" sz="2600" dirty="0"/>
              <a:t>Hb</a:t>
            </a:r>
            <a:r>
              <a:rPr lang="zh-CN" altLang="en-US" sz="2600" dirty="0"/>
              <a:t>存在</a:t>
            </a:r>
            <a:r>
              <a:rPr lang="en-US" altLang="zh-CN" sz="2600" dirty="0">
                <a:solidFill>
                  <a:srgbClr val="C00000"/>
                </a:solidFill>
              </a:rPr>
              <a:t>T</a:t>
            </a:r>
            <a:r>
              <a:rPr lang="zh-CN" altLang="en-US" sz="2600" dirty="0">
                <a:solidFill>
                  <a:srgbClr val="C00000"/>
                </a:solidFill>
              </a:rPr>
              <a:t>态</a:t>
            </a:r>
            <a:r>
              <a:rPr lang="zh-CN" altLang="en-US" sz="2600" dirty="0"/>
              <a:t>和</a:t>
            </a:r>
            <a:r>
              <a:rPr lang="en-US" altLang="zh-CN" sz="2600" dirty="0">
                <a:solidFill>
                  <a:srgbClr val="C00000"/>
                </a:solidFill>
              </a:rPr>
              <a:t>R</a:t>
            </a:r>
            <a:r>
              <a:rPr lang="zh-CN" altLang="en-US" sz="2600" dirty="0">
                <a:solidFill>
                  <a:srgbClr val="C00000"/>
                </a:solidFill>
              </a:rPr>
              <a:t>态</a:t>
            </a:r>
            <a:r>
              <a:rPr lang="zh-CN" altLang="en-US" sz="2600" dirty="0"/>
              <a:t>两种稳定构象，与</a:t>
            </a:r>
            <a:r>
              <a:rPr lang="en-US" altLang="zh-CN" sz="2600" dirty="0">
                <a:solidFill>
                  <a:schemeClr val="tx1">
                    <a:lumMod val="60000"/>
                    <a:lumOff val="40000"/>
                  </a:schemeClr>
                </a:solidFill>
              </a:rPr>
              <a:t>BPG</a:t>
            </a:r>
            <a:r>
              <a:rPr lang="zh-CN" altLang="en-US" sz="2600" dirty="0">
                <a:solidFill>
                  <a:schemeClr val="tx1">
                    <a:lumMod val="60000"/>
                    <a:lumOff val="40000"/>
                  </a:schemeClr>
                </a:solidFill>
              </a:rPr>
              <a:t>结合时为</a:t>
            </a:r>
            <a:r>
              <a:rPr lang="en-US" altLang="zh-CN" sz="2600" dirty="0">
                <a:solidFill>
                  <a:schemeClr val="tx1">
                    <a:lumMod val="60000"/>
                    <a:lumOff val="40000"/>
                  </a:schemeClr>
                </a:solidFill>
              </a:rPr>
              <a:t>T</a:t>
            </a:r>
            <a:r>
              <a:rPr lang="zh-CN" altLang="en-US" sz="2600" dirty="0">
                <a:solidFill>
                  <a:schemeClr val="tx1">
                    <a:lumMod val="60000"/>
                    <a:lumOff val="40000"/>
                  </a:schemeClr>
                </a:solidFill>
              </a:rPr>
              <a:t>态</a:t>
            </a:r>
            <a:r>
              <a:rPr lang="zh-CN" altLang="en-US" sz="2600" dirty="0"/>
              <a:t>，</a:t>
            </a:r>
            <a:r>
              <a:rPr lang="en-US" altLang="zh-CN" sz="2600" dirty="0"/>
              <a:t>T</a:t>
            </a:r>
            <a:r>
              <a:rPr lang="zh-CN" altLang="en-US" sz="2600" dirty="0"/>
              <a:t>态与氧的亲和力低；</a:t>
            </a:r>
            <a:r>
              <a:rPr lang="zh-CN" altLang="en-US" sz="2600" dirty="0">
                <a:solidFill>
                  <a:schemeClr val="tx1">
                    <a:lumMod val="60000"/>
                    <a:lumOff val="40000"/>
                  </a:schemeClr>
                </a:solidFill>
              </a:rPr>
              <a:t>与氧结合时为</a:t>
            </a:r>
            <a:r>
              <a:rPr lang="en-US" altLang="zh-CN" sz="2600" dirty="0">
                <a:solidFill>
                  <a:schemeClr val="tx1">
                    <a:lumMod val="60000"/>
                    <a:lumOff val="40000"/>
                  </a:schemeClr>
                </a:solidFill>
              </a:rPr>
              <a:t>R</a:t>
            </a:r>
            <a:r>
              <a:rPr lang="zh-CN" altLang="en-US" sz="2600" dirty="0">
                <a:solidFill>
                  <a:schemeClr val="tx1">
                    <a:lumMod val="60000"/>
                    <a:lumOff val="40000"/>
                  </a:schemeClr>
                </a:solidFill>
              </a:rPr>
              <a:t>态。</a:t>
            </a:r>
            <a:r>
              <a:rPr lang="en-US" altLang="zh-CN" sz="2600" dirty="0">
                <a:solidFill>
                  <a:srgbClr val="C00000"/>
                </a:solidFill>
              </a:rPr>
              <a:t>BPG</a:t>
            </a:r>
            <a:r>
              <a:rPr lang="zh-CN" altLang="en-US" sz="2600" dirty="0">
                <a:solidFill>
                  <a:srgbClr val="C00000"/>
                </a:solidFill>
              </a:rPr>
              <a:t>调节</a:t>
            </a:r>
            <a:r>
              <a:rPr lang="en-US" altLang="zh-CN" sz="2600" dirty="0">
                <a:solidFill>
                  <a:srgbClr val="C00000"/>
                </a:solidFill>
              </a:rPr>
              <a:t>Hb</a:t>
            </a:r>
            <a:r>
              <a:rPr lang="zh-CN" altLang="en-US" sz="2600" dirty="0">
                <a:solidFill>
                  <a:srgbClr val="C00000"/>
                </a:solidFill>
              </a:rPr>
              <a:t>与氧的结合</a:t>
            </a:r>
            <a:r>
              <a:rPr lang="zh-CN" altLang="en-US" sz="2600" dirty="0"/>
              <a:t>，促进氧合</a:t>
            </a:r>
            <a:r>
              <a:rPr lang="en-US" altLang="zh-CN" sz="2600" dirty="0"/>
              <a:t>Hb</a:t>
            </a:r>
            <a:r>
              <a:rPr lang="zh-CN" altLang="en-US" sz="2600" dirty="0"/>
              <a:t>释放氧。</a:t>
            </a:r>
            <a:endParaRPr lang="en-US" altLang="zh-CN" sz="2600" dirty="0"/>
          </a:p>
          <a:p>
            <a:pPr>
              <a:lnSpc>
                <a:spcPct val="120000"/>
              </a:lnSpc>
              <a:spcBef>
                <a:spcPts val="2400"/>
              </a:spcBef>
              <a:defRPr/>
            </a:pPr>
            <a:r>
              <a:rPr lang="zh-CN" altLang="en-US" sz="2600" dirty="0"/>
              <a:t>波尔效应</a:t>
            </a:r>
            <a:r>
              <a:rPr lang="en-US" altLang="zh-CN" sz="2600" dirty="0"/>
              <a:t>:   </a:t>
            </a:r>
            <a:r>
              <a:rPr lang="zh-CN" altLang="en-US" sz="2600" dirty="0"/>
              <a:t>血液</a:t>
            </a:r>
            <a:r>
              <a:rPr lang="en-US" altLang="zh-CN" sz="2600" dirty="0"/>
              <a:t>pH</a:t>
            </a:r>
            <a:r>
              <a:rPr lang="zh-CN" altLang="en-US" sz="2600" dirty="0"/>
              <a:t>值↓或</a:t>
            </a:r>
            <a:r>
              <a:rPr lang="en-US" altLang="zh-CN" sz="2600" dirty="0"/>
              <a:t>pCO2↑</a:t>
            </a:r>
            <a:r>
              <a:rPr lang="zh-CN" altLang="en-US" sz="2600" dirty="0"/>
              <a:t>促使</a:t>
            </a:r>
            <a:r>
              <a:rPr lang="en-US" altLang="zh-CN" sz="2600" dirty="0"/>
              <a:t>Hb</a:t>
            </a:r>
            <a:r>
              <a:rPr lang="zh-CN" altLang="en-US" sz="2600" dirty="0"/>
              <a:t>释放</a:t>
            </a:r>
            <a:r>
              <a:rPr lang="en-US" altLang="zh-CN" sz="2600" dirty="0"/>
              <a:t>O</a:t>
            </a:r>
            <a:r>
              <a:rPr lang="en-US" altLang="zh-CN" sz="2600" baseline="-25000" dirty="0"/>
              <a:t>2</a:t>
            </a:r>
            <a:r>
              <a:rPr lang="zh-CN" altLang="en-US" sz="2600" dirty="0"/>
              <a:t>，氧解离曲线右移。</a:t>
            </a:r>
          </a:p>
        </p:txBody>
      </p:sp>
    </p:spTree>
  </p:cSld>
  <p:clrMapOvr>
    <a:masterClrMapping/>
  </p:clrMapOvr>
  <p:transition spd="slow">
    <p:circl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a:extLst>
              <a:ext uri="{FF2B5EF4-FFF2-40B4-BE49-F238E27FC236}">
                <a16:creationId xmlns:a16="http://schemas.microsoft.com/office/drawing/2014/main" id="{7891ACEC-0888-49FD-8461-1FA44223F4D6}"/>
              </a:ext>
            </a:extLst>
          </p:cNvPr>
          <p:cNvSpPr>
            <a:spLocks noGrp="1" noChangeArrowheads="1"/>
          </p:cNvSpPr>
          <p:nvPr>
            <p:ph type="title"/>
          </p:nvPr>
        </p:nvSpPr>
        <p:spPr>
          <a:xfrm>
            <a:off x="1703388" y="188913"/>
            <a:ext cx="6985000" cy="563562"/>
          </a:xfrm>
        </p:spPr>
        <p:txBody>
          <a:bodyPr/>
          <a:lstStyle/>
          <a:p>
            <a:r>
              <a:rPr lang="en-US" altLang="zh-CN"/>
              <a:t>CO</a:t>
            </a:r>
            <a:r>
              <a:rPr lang="zh-CN" altLang="en-US"/>
              <a:t>与</a:t>
            </a:r>
            <a:r>
              <a:rPr lang="en-US" altLang="zh-CN"/>
              <a:t>Hb</a:t>
            </a:r>
            <a:r>
              <a:rPr lang="zh-CN" altLang="en-US"/>
              <a:t>的亲和力比氧高</a:t>
            </a:r>
            <a:r>
              <a:rPr lang="en-US" altLang="zh-CN"/>
              <a:t>200</a:t>
            </a:r>
            <a:r>
              <a:rPr lang="zh-CN" altLang="en-US"/>
              <a:t>多倍</a:t>
            </a:r>
          </a:p>
        </p:txBody>
      </p:sp>
      <p:sp>
        <p:nvSpPr>
          <p:cNvPr id="107523" name="内容占位符 2">
            <a:extLst>
              <a:ext uri="{FF2B5EF4-FFF2-40B4-BE49-F238E27FC236}">
                <a16:creationId xmlns:a16="http://schemas.microsoft.com/office/drawing/2014/main" id="{8DEC600C-9E42-45BA-85A9-D38FA3C0343E}"/>
              </a:ext>
            </a:extLst>
          </p:cNvPr>
          <p:cNvSpPr>
            <a:spLocks noGrp="1" noChangeArrowheads="1"/>
          </p:cNvSpPr>
          <p:nvPr>
            <p:ph idx="1"/>
          </p:nvPr>
        </p:nvSpPr>
        <p:spPr/>
        <p:txBody>
          <a:bodyPr/>
          <a:lstStyle/>
          <a:p>
            <a:pPr marL="446088" indent="-446088">
              <a:lnSpc>
                <a:spcPct val="120000"/>
              </a:lnSpc>
              <a:spcBef>
                <a:spcPts val="1800"/>
              </a:spcBef>
            </a:pPr>
            <a:r>
              <a:rPr lang="zh-CN" altLang="en-US" sz="2400" dirty="0"/>
              <a:t>一氧化碳血红蛋白：</a:t>
            </a:r>
            <a:r>
              <a:rPr lang="en-US" altLang="zh-CN" sz="2400" dirty="0" err="1">
                <a:solidFill>
                  <a:srgbClr val="0000CC"/>
                </a:solidFill>
              </a:rPr>
              <a:t>COHb</a:t>
            </a:r>
            <a:endParaRPr lang="en-US" altLang="zh-CN" sz="2400" dirty="0">
              <a:solidFill>
                <a:srgbClr val="0000CC"/>
              </a:solidFill>
            </a:endParaRPr>
          </a:p>
          <a:p>
            <a:pPr marL="446088" indent="-446088">
              <a:lnSpc>
                <a:spcPct val="120000"/>
              </a:lnSpc>
              <a:spcBef>
                <a:spcPts val="1800"/>
              </a:spcBef>
            </a:pPr>
            <a:r>
              <a:rPr lang="zh-CN" altLang="en-US" sz="2400" dirty="0">
                <a:solidFill>
                  <a:schemeClr val="tx1">
                    <a:lumMod val="60000"/>
                    <a:lumOff val="40000"/>
                  </a:schemeClr>
                </a:solidFill>
              </a:rPr>
              <a:t>健康成人约有</a:t>
            </a:r>
            <a:r>
              <a:rPr lang="en-US" altLang="zh-CN" sz="2400" dirty="0">
                <a:solidFill>
                  <a:srgbClr val="C00000"/>
                </a:solidFill>
              </a:rPr>
              <a:t>1%</a:t>
            </a:r>
            <a:r>
              <a:rPr lang="zh-CN" altLang="en-US" sz="2400" dirty="0">
                <a:solidFill>
                  <a:srgbClr val="C00000"/>
                </a:solidFill>
              </a:rPr>
              <a:t>的</a:t>
            </a:r>
            <a:r>
              <a:rPr lang="en-US" altLang="zh-CN" sz="2400" dirty="0" err="1">
                <a:solidFill>
                  <a:srgbClr val="C00000"/>
                </a:solidFill>
              </a:rPr>
              <a:t>COHb</a:t>
            </a:r>
            <a:r>
              <a:rPr lang="en-US" altLang="zh-CN" sz="2400" dirty="0">
                <a:solidFill>
                  <a:srgbClr val="C00000"/>
                </a:solidFill>
              </a:rPr>
              <a:t> </a:t>
            </a:r>
            <a:r>
              <a:rPr lang="en-US" altLang="zh-CN" sz="2400" dirty="0"/>
              <a:t>(</a:t>
            </a:r>
            <a:r>
              <a:rPr lang="zh-CN" altLang="en-US" sz="2400" dirty="0"/>
              <a:t>衰老红细胞中血红素的分解会产生</a:t>
            </a:r>
            <a:r>
              <a:rPr lang="en-US" altLang="zh-CN" sz="2400" dirty="0"/>
              <a:t>CO</a:t>
            </a:r>
            <a:r>
              <a:rPr lang="zh-CN" altLang="en-US" sz="2400" dirty="0"/>
              <a:t>）。</a:t>
            </a:r>
            <a:endParaRPr lang="en-US" altLang="zh-CN" sz="2400" dirty="0"/>
          </a:p>
          <a:p>
            <a:pPr marL="446088" indent="-446088">
              <a:lnSpc>
                <a:spcPct val="120000"/>
              </a:lnSpc>
              <a:spcBef>
                <a:spcPts val="1800"/>
              </a:spcBef>
            </a:pPr>
            <a:r>
              <a:rPr lang="zh-CN" altLang="en-US" sz="2400" dirty="0"/>
              <a:t>吸烟者体内的</a:t>
            </a:r>
            <a:r>
              <a:rPr lang="en-US" altLang="zh-CN" sz="2400" dirty="0" err="1"/>
              <a:t>COHb</a:t>
            </a:r>
            <a:r>
              <a:rPr lang="zh-CN" altLang="en-US" sz="2400" dirty="0"/>
              <a:t>：　</a:t>
            </a:r>
            <a:r>
              <a:rPr lang="en-US" altLang="zh-CN" sz="2400" dirty="0"/>
              <a:t>3%~8%</a:t>
            </a:r>
            <a:r>
              <a:rPr lang="zh-CN" altLang="en-US" sz="2400" dirty="0"/>
              <a:t>，甚至</a:t>
            </a:r>
            <a:r>
              <a:rPr lang="en-US" altLang="zh-CN" sz="2400" dirty="0"/>
              <a:t>15%</a:t>
            </a:r>
          </a:p>
          <a:p>
            <a:pPr marL="446088" indent="-446088">
              <a:lnSpc>
                <a:spcPct val="120000"/>
              </a:lnSpc>
              <a:spcBef>
                <a:spcPts val="1800"/>
              </a:spcBef>
            </a:pPr>
            <a:r>
              <a:rPr lang="zh-CN" altLang="en-US" sz="2400" dirty="0"/>
              <a:t>胎儿血红蛋白对</a:t>
            </a:r>
            <a:r>
              <a:rPr lang="en-US" altLang="zh-CN" sz="2400" dirty="0"/>
              <a:t>CO</a:t>
            </a:r>
            <a:r>
              <a:rPr lang="zh-CN" altLang="en-US" sz="2400" dirty="0"/>
              <a:t>亲和力更高，故更易受</a:t>
            </a:r>
            <a:r>
              <a:rPr lang="en-US" altLang="zh-CN" sz="2400" dirty="0"/>
              <a:t>CO</a:t>
            </a:r>
            <a:r>
              <a:rPr lang="zh-CN" altLang="en-US" sz="2400" dirty="0"/>
              <a:t>中毒影响。</a:t>
            </a:r>
            <a:endParaRPr lang="en-US" altLang="zh-CN" sz="2400" dirty="0"/>
          </a:p>
          <a:p>
            <a:pPr marL="446088" indent="-446088">
              <a:lnSpc>
                <a:spcPct val="120000"/>
              </a:lnSpc>
              <a:spcBef>
                <a:spcPts val="1800"/>
              </a:spcBef>
            </a:pPr>
            <a:r>
              <a:rPr lang="en-US" altLang="zh-CN" sz="2400" dirty="0"/>
              <a:t>CO</a:t>
            </a:r>
            <a:r>
              <a:rPr lang="zh-CN" altLang="en-US" sz="2400" dirty="0"/>
              <a:t>与血红蛋白结合会</a:t>
            </a:r>
            <a:r>
              <a:rPr lang="zh-CN" altLang="en-US" sz="2400" b="1" dirty="0">
                <a:solidFill>
                  <a:srgbClr val="0000CC"/>
                </a:solidFill>
              </a:rPr>
              <a:t>促进其它亚基与</a:t>
            </a:r>
            <a:r>
              <a:rPr lang="en-US" altLang="zh-CN" sz="2400" b="1" dirty="0">
                <a:solidFill>
                  <a:srgbClr val="0000CC"/>
                </a:solidFill>
              </a:rPr>
              <a:t>O</a:t>
            </a:r>
            <a:r>
              <a:rPr lang="en-US" altLang="zh-CN" sz="2400" b="1" baseline="-25000" dirty="0">
                <a:solidFill>
                  <a:srgbClr val="0000CC"/>
                </a:solidFill>
              </a:rPr>
              <a:t>2</a:t>
            </a:r>
            <a:r>
              <a:rPr lang="zh-CN" altLang="en-US" sz="2400" b="1" dirty="0">
                <a:solidFill>
                  <a:srgbClr val="0000CC"/>
                </a:solidFill>
              </a:rPr>
              <a:t>的结合</a:t>
            </a:r>
            <a:r>
              <a:rPr lang="en-US" altLang="zh-CN" sz="2400" dirty="0"/>
              <a:t>, </a:t>
            </a:r>
            <a:r>
              <a:rPr lang="zh-CN" altLang="en-US" sz="2400" b="1" dirty="0">
                <a:solidFill>
                  <a:srgbClr val="0000CC"/>
                </a:solidFill>
              </a:rPr>
              <a:t>但阻碍</a:t>
            </a:r>
            <a:r>
              <a:rPr lang="en-US" altLang="zh-CN" sz="2400" b="1" dirty="0">
                <a:solidFill>
                  <a:srgbClr val="0000CC"/>
                </a:solidFill>
              </a:rPr>
              <a:t>O</a:t>
            </a:r>
            <a:r>
              <a:rPr lang="en-US" altLang="zh-CN" sz="2400" b="1" baseline="-25000" dirty="0">
                <a:solidFill>
                  <a:srgbClr val="0000CC"/>
                </a:solidFill>
              </a:rPr>
              <a:t>2</a:t>
            </a:r>
            <a:r>
              <a:rPr lang="zh-CN" altLang="en-US" sz="2400" b="1" dirty="0">
                <a:solidFill>
                  <a:srgbClr val="0000CC"/>
                </a:solidFill>
              </a:rPr>
              <a:t>的释放</a:t>
            </a:r>
            <a:r>
              <a:rPr lang="zh-CN" altLang="en-US" sz="2400" dirty="0"/>
              <a:t>， 进一步加重组织缺氧。</a:t>
            </a:r>
            <a:endParaRPr lang="en-US" altLang="zh-CN" sz="2400" dirty="0"/>
          </a:p>
          <a:p>
            <a:pPr marL="446088" indent="-446088">
              <a:lnSpc>
                <a:spcPct val="120000"/>
              </a:lnSpc>
              <a:spcBef>
                <a:spcPts val="1800"/>
              </a:spcBef>
            </a:pPr>
            <a:r>
              <a:rPr lang="en-US" altLang="zh-CN" sz="2400" dirty="0"/>
              <a:t>CO</a:t>
            </a:r>
            <a:r>
              <a:rPr lang="zh-CN" altLang="en-US" sz="2400" dirty="0"/>
              <a:t>中毒： 有条件应尽可能吸</a:t>
            </a:r>
            <a:r>
              <a:rPr lang="zh-CN" altLang="en-US" sz="2400" dirty="0">
                <a:solidFill>
                  <a:srgbClr val="C00000"/>
                </a:solidFill>
              </a:rPr>
              <a:t>高压</a:t>
            </a:r>
            <a:r>
              <a:rPr lang="en-US" altLang="zh-CN" sz="2400" dirty="0">
                <a:solidFill>
                  <a:srgbClr val="C00000"/>
                </a:solidFill>
              </a:rPr>
              <a:t>(303kPa)</a:t>
            </a:r>
            <a:r>
              <a:rPr lang="zh-CN" altLang="en-US" sz="2400" dirty="0">
                <a:solidFill>
                  <a:srgbClr val="C00000"/>
                </a:solidFill>
              </a:rPr>
              <a:t>纯氧</a:t>
            </a:r>
            <a:r>
              <a:rPr lang="zh-CN" altLang="en-US" sz="2400" dirty="0"/>
              <a:t>，加速</a:t>
            </a:r>
            <a:r>
              <a:rPr lang="en-US" altLang="zh-CN" sz="2400" dirty="0"/>
              <a:t>O</a:t>
            </a:r>
            <a:r>
              <a:rPr lang="en-US" altLang="zh-CN" sz="2400" baseline="-25000" dirty="0"/>
              <a:t>2</a:t>
            </a:r>
            <a:r>
              <a:rPr lang="zh-CN" altLang="en-US" sz="2400" dirty="0"/>
              <a:t>置换</a:t>
            </a:r>
            <a:r>
              <a:rPr lang="en-US" altLang="zh-CN" sz="2400" dirty="0"/>
              <a:t>CO</a:t>
            </a:r>
            <a:r>
              <a:rPr lang="zh-CN" altLang="en-US" sz="2400" dirty="0"/>
              <a:t>。</a:t>
            </a:r>
          </a:p>
        </p:txBody>
      </p:sp>
    </p:spTree>
  </p:cSld>
  <p:clrMapOvr>
    <a:masterClrMapping/>
  </p:clrMapOvr>
  <p:transition spd="slow">
    <p:circl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7938" name="Text Box 2">
            <a:extLst>
              <a:ext uri="{FF2B5EF4-FFF2-40B4-BE49-F238E27FC236}">
                <a16:creationId xmlns:a16="http://schemas.microsoft.com/office/drawing/2014/main" id="{86E89179-7DBF-42B8-B04C-5DC3718FB669}"/>
              </a:ext>
            </a:extLst>
          </p:cNvPr>
          <p:cNvSpPr txBox="1">
            <a:spLocks noChangeArrowheads="1"/>
          </p:cNvSpPr>
          <p:nvPr/>
        </p:nvSpPr>
        <p:spPr bwMode="auto">
          <a:xfrm>
            <a:off x="1992313" y="549276"/>
            <a:ext cx="8532812" cy="397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endParaRPr lang="en-US" altLang="zh-CN" sz="2400" dirty="0">
              <a:solidFill>
                <a:schemeClr val="tx1"/>
              </a:solidFill>
            </a:endParaRPr>
          </a:p>
          <a:p>
            <a:pPr eaLnBrk="1" hangingPunct="1">
              <a:lnSpc>
                <a:spcPct val="135000"/>
              </a:lnSpc>
              <a:spcBef>
                <a:spcPct val="0"/>
              </a:spcBef>
              <a:buClrTx/>
              <a:buFontTx/>
              <a:buNone/>
            </a:pPr>
            <a:r>
              <a:rPr lang="zh-CN" altLang="en-US" sz="2400" dirty="0">
                <a:solidFill>
                  <a:schemeClr val="tx1"/>
                </a:solidFill>
              </a:rPr>
              <a:t>有关血红蛋白</a:t>
            </a:r>
            <a:r>
              <a:rPr lang="en-US" altLang="zh-CN" sz="2400" dirty="0">
                <a:solidFill>
                  <a:schemeClr val="tx1"/>
                </a:solidFill>
              </a:rPr>
              <a:t>(Hb)</a:t>
            </a:r>
            <a:r>
              <a:rPr lang="zh-CN" altLang="en-US" sz="2400" dirty="0">
                <a:solidFill>
                  <a:schemeClr val="tx1"/>
                </a:solidFill>
              </a:rPr>
              <a:t>和肌红蛋白</a:t>
            </a:r>
            <a:r>
              <a:rPr lang="en-US" altLang="zh-CN" sz="2400" dirty="0">
                <a:solidFill>
                  <a:schemeClr val="tx1"/>
                </a:solidFill>
              </a:rPr>
              <a:t>(Mb)</a:t>
            </a:r>
            <a:r>
              <a:rPr lang="zh-CN" altLang="en-US" sz="2400" dirty="0">
                <a:solidFill>
                  <a:schemeClr val="tx1"/>
                </a:solidFill>
              </a:rPr>
              <a:t>的叙述不正确的是</a:t>
            </a:r>
          </a:p>
          <a:p>
            <a:pPr eaLnBrk="1" hangingPunct="1">
              <a:lnSpc>
                <a:spcPct val="135000"/>
              </a:lnSpc>
              <a:spcBef>
                <a:spcPct val="0"/>
              </a:spcBef>
              <a:buClrTx/>
              <a:buFontTx/>
              <a:buNone/>
            </a:pPr>
            <a:r>
              <a:rPr lang="zh-CN" altLang="en-US" sz="2400" dirty="0">
                <a:solidFill>
                  <a:schemeClr val="tx1"/>
                </a:solidFill>
              </a:rPr>
              <a:t>     </a:t>
            </a:r>
            <a:r>
              <a:rPr lang="en-US" altLang="zh-CN" sz="2400" dirty="0">
                <a:solidFill>
                  <a:schemeClr val="tx1"/>
                </a:solidFill>
              </a:rPr>
              <a:t>A. </a:t>
            </a:r>
            <a:r>
              <a:rPr lang="zh-CN" altLang="en-US" sz="2400" dirty="0">
                <a:solidFill>
                  <a:schemeClr val="tx1"/>
                </a:solidFill>
              </a:rPr>
              <a:t>都可以和氧结合  </a:t>
            </a:r>
          </a:p>
          <a:p>
            <a:pPr eaLnBrk="1" hangingPunct="1">
              <a:lnSpc>
                <a:spcPct val="135000"/>
              </a:lnSpc>
              <a:spcBef>
                <a:spcPct val="0"/>
              </a:spcBef>
              <a:buClrTx/>
              <a:buFontTx/>
              <a:buNone/>
            </a:pPr>
            <a:r>
              <a:rPr lang="zh-CN" altLang="en-US" sz="2400" dirty="0">
                <a:solidFill>
                  <a:schemeClr val="tx1"/>
                </a:solidFill>
              </a:rPr>
              <a:t>     </a:t>
            </a:r>
            <a:r>
              <a:rPr lang="en-US" altLang="zh-CN" sz="2400" dirty="0">
                <a:solidFill>
                  <a:schemeClr val="tx1"/>
                </a:solidFill>
              </a:rPr>
              <a:t>B. Hb</a:t>
            </a:r>
            <a:r>
              <a:rPr lang="zh-CN" altLang="en-US" sz="2400" dirty="0">
                <a:solidFill>
                  <a:schemeClr val="tx1"/>
                </a:solidFill>
              </a:rPr>
              <a:t>和</a:t>
            </a:r>
            <a:r>
              <a:rPr lang="en-US" altLang="zh-CN" sz="2400" dirty="0">
                <a:solidFill>
                  <a:schemeClr val="tx1"/>
                </a:solidFill>
              </a:rPr>
              <a:t>Mb</a:t>
            </a:r>
            <a:r>
              <a:rPr lang="zh-CN" altLang="en-US" sz="2400" dirty="0">
                <a:solidFill>
                  <a:schemeClr val="tx1"/>
                </a:solidFill>
              </a:rPr>
              <a:t>都含铁  </a:t>
            </a:r>
          </a:p>
          <a:p>
            <a:pPr eaLnBrk="1" hangingPunct="1">
              <a:lnSpc>
                <a:spcPct val="135000"/>
              </a:lnSpc>
              <a:spcBef>
                <a:spcPct val="0"/>
              </a:spcBef>
              <a:buClrTx/>
              <a:buFontTx/>
              <a:buNone/>
            </a:pPr>
            <a:r>
              <a:rPr lang="zh-CN" altLang="en-US" sz="2400" dirty="0">
                <a:solidFill>
                  <a:schemeClr val="tx1"/>
                </a:solidFill>
              </a:rPr>
              <a:t>     </a:t>
            </a:r>
            <a:r>
              <a:rPr lang="en-US" altLang="zh-CN" sz="2400" dirty="0">
                <a:solidFill>
                  <a:schemeClr val="tx1"/>
                </a:solidFill>
              </a:rPr>
              <a:t>C. </a:t>
            </a:r>
            <a:r>
              <a:rPr lang="zh-CN" altLang="en-US" sz="2400" dirty="0">
                <a:solidFill>
                  <a:schemeClr val="tx1"/>
                </a:solidFill>
              </a:rPr>
              <a:t>都是含辅基的结合蛋白 </a:t>
            </a:r>
          </a:p>
          <a:p>
            <a:pPr eaLnBrk="1" hangingPunct="1">
              <a:lnSpc>
                <a:spcPct val="135000"/>
              </a:lnSpc>
              <a:spcBef>
                <a:spcPct val="0"/>
              </a:spcBef>
              <a:buClrTx/>
              <a:buFontTx/>
              <a:buNone/>
            </a:pPr>
            <a:r>
              <a:rPr lang="zh-CN" altLang="en-US" sz="2400" dirty="0">
                <a:solidFill>
                  <a:schemeClr val="tx1"/>
                </a:solidFill>
              </a:rPr>
              <a:t>     </a:t>
            </a:r>
            <a:r>
              <a:rPr lang="en-US" altLang="zh-CN" sz="2400" dirty="0">
                <a:solidFill>
                  <a:schemeClr val="tx1"/>
                </a:solidFill>
              </a:rPr>
              <a:t>D. </a:t>
            </a:r>
            <a:r>
              <a:rPr lang="zh-CN" altLang="en-US" sz="2400" dirty="0">
                <a:solidFill>
                  <a:schemeClr val="tx1"/>
                </a:solidFill>
              </a:rPr>
              <a:t>都具有四级结构形式</a:t>
            </a:r>
          </a:p>
          <a:p>
            <a:pPr eaLnBrk="1" hangingPunct="1">
              <a:lnSpc>
                <a:spcPct val="135000"/>
              </a:lnSpc>
              <a:spcBef>
                <a:spcPct val="0"/>
              </a:spcBef>
              <a:buClrTx/>
              <a:buFontTx/>
              <a:buNone/>
            </a:pPr>
            <a:r>
              <a:rPr lang="zh-CN" altLang="en-US" sz="2400" dirty="0">
                <a:solidFill>
                  <a:schemeClr val="tx1"/>
                </a:solidFill>
              </a:rPr>
              <a:t>     </a:t>
            </a:r>
            <a:r>
              <a:rPr lang="en-US" altLang="zh-CN" sz="2400" dirty="0">
                <a:solidFill>
                  <a:schemeClr val="tx1"/>
                </a:solidFill>
              </a:rPr>
              <a:t>E. </a:t>
            </a:r>
            <a:r>
              <a:rPr lang="zh-CN" altLang="en-US" sz="2400" dirty="0">
                <a:solidFill>
                  <a:schemeClr val="tx1"/>
                </a:solidFill>
              </a:rPr>
              <a:t>都属于色蛋白类</a:t>
            </a:r>
          </a:p>
          <a:p>
            <a:pPr eaLnBrk="1" hangingPunct="1">
              <a:lnSpc>
                <a:spcPct val="135000"/>
              </a:lnSpc>
              <a:spcBef>
                <a:spcPct val="0"/>
              </a:spcBef>
              <a:buClrTx/>
              <a:buFontTx/>
              <a:buNone/>
            </a:pPr>
            <a:endParaRPr kumimoji="1" lang="zh-CN" altLang="en-US" sz="2400" dirty="0">
              <a:solidFill>
                <a:schemeClr val="tx1"/>
              </a:solidFill>
            </a:endParaRPr>
          </a:p>
        </p:txBody>
      </p:sp>
    </p:spTree>
    <p:extLst>
      <p:ext uri="{BB962C8B-B14F-4D97-AF65-F5344CB8AC3E}">
        <p14:creationId xmlns:p14="http://schemas.microsoft.com/office/powerpoint/2010/main" val="3961651282"/>
      </p:ext>
    </p:extLst>
  </p:cSld>
  <p:clrMapOvr>
    <a:masterClrMapping/>
  </p:clrMapOvr>
  <p:transition spd="slow">
    <p:circl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a:extLst>
              <a:ext uri="{FF2B5EF4-FFF2-40B4-BE49-F238E27FC236}">
                <a16:creationId xmlns:a16="http://schemas.microsoft.com/office/drawing/2014/main" id="{C2FDD67F-A125-4AAB-BAAF-D756E98E784B}"/>
              </a:ext>
            </a:extLst>
          </p:cNvPr>
          <p:cNvSpPr>
            <a:spLocks noGrp="1" noChangeArrowheads="1"/>
          </p:cNvSpPr>
          <p:nvPr>
            <p:ph type="title"/>
          </p:nvPr>
        </p:nvSpPr>
        <p:spPr>
          <a:xfrm>
            <a:off x="1919536" y="188640"/>
            <a:ext cx="6985000" cy="563562"/>
          </a:xfrm>
        </p:spPr>
        <p:txBody>
          <a:bodyPr/>
          <a:lstStyle/>
          <a:p>
            <a:r>
              <a:rPr kumimoji="1" lang="zh-CN" altLang="en-US" sz="4000"/>
              <a:t>蛋白质构象变化可引起疾病</a:t>
            </a:r>
            <a:endParaRPr lang="zh-CN" altLang="en-US" sz="4000"/>
          </a:p>
        </p:txBody>
      </p:sp>
      <p:sp>
        <p:nvSpPr>
          <p:cNvPr id="2" name="内容占位符 1">
            <a:extLst>
              <a:ext uri="{FF2B5EF4-FFF2-40B4-BE49-F238E27FC236}">
                <a16:creationId xmlns:a16="http://schemas.microsoft.com/office/drawing/2014/main" id="{DBEFBD0F-166B-495A-BD88-F47F30F98503}"/>
              </a:ext>
            </a:extLst>
          </p:cNvPr>
          <p:cNvSpPr>
            <a:spLocks noGrp="1"/>
          </p:cNvSpPr>
          <p:nvPr>
            <p:ph idx="1"/>
          </p:nvPr>
        </p:nvSpPr>
        <p:spPr>
          <a:xfrm>
            <a:off x="1343472" y="1052736"/>
            <a:ext cx="9505056" cy="5472335"/>
          </a:xfrm>
        </p:spPr>
        <p:txBody>
          <a:bodyPr/>
          <a:lstStyle/>
          <a:p>
            <a:pPr eaLnBrk="1" hangingPunct="1">
              <a:lnSpc>
                <a:spcPct val="130000"/>
              </a:lnSpc>
              <a:spcBef>
                <a:spcPts val="1500"/>
              </a:spcBef>
              <a:buClrTx/>
              <a:defRPr/>
            </a:pPr>
            <a:r>
              <a:rPr kumimoji="1" lang="zh-CN" altLang="en-US" dirty="0">
                <a:solidFill>
                  <a:schemeClr val="tx1"/>
                </a:solidFill>
                <a:latin typeface="微软雅黑" panose="020B0503020204020204" pitchFamily="34" charset="-122"/>
                <a:ea typeface="微软雅黑" panose="020B0503020204020204" pitchFamily="34" charset="-122"/>
              </a:rPr>
              <a:t> 一级结构不变，单纯蛋白质构象变化导致的疾病统称为</a:t>
            </a:r>
            <a:r>
              <a:rPr kumimoji="1" lang="zh-CN" altLang="en-US" dirty="0">
                <a:solidFill>
                  <a:srgbClr val="C00000"/>
                </a:solidFill>
                <a:latin typeface="微软雅黑" panose="020B0503020204020204" pitchFamily="34" charset="-122"/>
                <a:ea typeface="微软雅黑" panose="020B0503020204020204" pitchFamily="34" charset="-122"/>
              </a:rPr>
              <a:t>蛋白质构象病</a:t>
            </a:r>
            <a:r>
              <a:rPr kumimoji="1" lang="zh-CN" altLang="en-US" dirty="0">
                <a:solidFill>
                  <a:schemeClr val="tx1"/>
                </a:solidFill>
                <a:latin typeface="微软雅黑" panose="020B0503020204020204" pitchFamily="34" charset="-122"/>
                <a:ea typeface="微软雅黑" panose="020B0503020204020204" pitchFamily="34" charset="-122"/>
              </a:rPr>
              <a:t>，通常源于蛋白质错误折叠，可分为两类：</a:t>
            </a:r>
            <a:endParaRPr kumimoji="1" lang="en-US" altLang="zh-CN" dirty="0">
              <a:solidFill>
                <a:schemeClr val="tx1"/>
              </a:solidFill>
              <a:latin typeface="微软雅黑" panose="020B0503020204020204" pitchFamily="34" charset="-122"/>
              <a:ea typeface="微软雅黑" panose="020B0503020204020204" pitchFamily="34" charset="-122"/>
            </a:endParaRPr>
          </a:p>
          <a:p>
            <a:pPr marL="514350" indent="-514350" eaLnBrk="1" hangingPunct="1">
              <a:lnSpc>
                <a:spcPct val="130000"/>
              </a:lnSpc>
              <a:spcBef>
                <a:spcPts val="1500"/>
              </a:spcBef>
              <a:buClrTx/>
              <a:buFont typeface="+mj-lt"/>
              <a:buAutoNum type="arabicPeriod"/>
              <a:defRPr/>
            </a:pPr>
            <a:r>
              <a:rPr kumimoji="1" lang="zh-CN" altLang="en-US" dirty="0">
                <a:solidFill>
                  <a:srgbClr val="C00000"/>
                </a:solidFill>
                <a:latin typeface="微软雅黑" panose="020B0503020204020204" pitchFamily="34" charset="-122"/>
                <a:ea typeface="微软雅黑" panose="020B0503020204020204" pitchFamily="34" charset="-122"/>
              </a:rPr>
              <a:t>淀粉样变性病</a:t>
            </a:r>
            <a:r>
              <a:rPr kumimoji="1" lang="en-US" altLang="zh-CN" dirty="0">
                <a:solidFill>
                  <a:srgbClr val="C00000"/>
                </a:solidFill>
                <a:latin typeface="微软雅黑" panose="020B0503020204020204" pitchFamily="34" charset="-122"/>
                <a:ea typeface="微软雅黑" panose="020B0503020204020204" pitchFamily="34" charset="-122"/>
              </a:rPr>
              <a:t>(amyloidosis)</a:t>
            </a:r>
            <a:r>
              <a:rPr kumimoji="1" lang="zh-CN" altLang="en-US" dirty="0">
                <a:solidFill>
                  <a:schemeClr val="tx1"/>
                </a:solidFill>
                <a:latin typeface="微软雅黑" panose="020B0503020204020204" pitchFamily="34" charset="-122"/>
                <a:ea typeface="微软雅黑" panose="020B0503020204020204" pitchFamily="34" charset="-122"/>
              </a:rPr>
              <a:t>    </a:t>
            </a:r>
            <a:r>
              <a:rPr kumimoji="1" lang="zh-CN" altLang="en-US" dirty="0">
                <a:solidFill>
                  <a:schemeClr val="tx1">
                    <a:lumMod val="60000"/>
                    <a:lumOff val="40000"/>
                  </a:schemeClr>
                </a:solidFill>
                <a:latin typeface="微软雅黑" panose="020B0503020204020204" pitchFamily="34" charset="-122"/>
                <a:ea typeface="微软雅黑" panose="020B0503020204020204" pitchFamily="34" charset="-122"/>
              </a:rPr>
              <a:t>无传染性</a:t>
            </a:r>
            <a:endParaRPr kumimoji="1" lang="en-US" altLang="zh-CN" dirty="0">
              <a:solidFill>
                <a:schemeClr val="tx1">
                  <a:lumMod val="60000"/>
                  <a:lumOff val="40000"/>
                </a:schemeClr>
              </a:solidFill>
              <a:latin typeface="微软雅黑" panose="020B0503020204020204" pitchFamily="34" charset="-122"/>
              <a:ea typeface="微软雅黑" panose="020B0503020204020204" pitchFamily="34" charset="-122"/>
            </a:endParaRPr>
          </a:p>
          <a:p>
            <a:pPr lvl="1" eaLnBrk="1" hangingPunct="1">
              <a:lnSpc>
                <a:spcPct val="120000"/>
              </a:lnSpc>
              <a:spcBef>
                <a:spcPts val="1200"/>
              </a:spcBef>
              <a:buClrTx/>
              <a:defRPr/>
            </a:pPr>
            <a:r>
              <a:rPr kumimoji="1" lang="zh-CN" altLang="en-US" sz="2400" dirty="0">
                <a:solidFill>
                  <a:schemeClr val="tx1"/>
                </a:solidFill>
                <a:latin typeface="微软雅黑" panose="020B0503020204020204" pitchFamily="34" charset="-122"/>
                <a:ea typeface="微软雅黑" panose="020B0503020204020204" pitchFamily="34" charset="-122"/>
              </a:rPr>
              <a:t>这类疾病中，错误折叠的蛋白质（</a:t>
            </a:r>
            <a:r>
              <a:rPr kumimoji="1" lang="zh-CN" altLang="en-US" sz="2400" dirty="0">
                <a:solidFill>
                  <a:schemeClr val="tx1">
                    <a:lumMod val="60000"/>
                    <a:lumOff val="40000"/>
                  </a:schemeClr>
                </a:solidFill>
                <a:latin typeface="微软雅黑" panose="020B0503020204020204" pitchFamily="34" charset="-122"/>
                <a:ea typeface="微软雅黑" panose="020B0503020204020204" pitchFamily="34" charset="-122"/>
              </a:rPr>
              <a:t>大多富含</a:t>
            </a:r>
            <a:r>
              <a:rPr kumimoji="1" lang="en-US" altLang="zh-CN" sz="2400" dirty="0">
                <a:solidFill>
                  <a:schemeClr val="tx1">
                    <a:lumMod val="60000"/>
                    <a:lumOff val="40000"/>
                  </a:schemeClr>
                </a:solidFill>
                <a:latin typeface="微软雅黑" panose="020B0503020204020204" pitchFamily="34" charset="-122"/>
                <a:ea typeface="微软雅黑" panose="020B0503020204020204" pitchFamily="34" charset="-122"/>
              </a:rPr>
              <a:t>β</a:t>
            </a:r>
            <a:r>
              <a:rPr kumimoji="1" lang="zh-CN" altLang="en-US" sz="2400" dirty="0">
                <a:solidFill>
                  <a:schemeClr val="tx1">
                    <a:lumMod val="60000"/>
                    <a:lumOff val="40000"/>
                  </a:schemeClr>
                </a:solidFill>
                <a:latin typeface="微软雅黑" panose="020B0503020204020204" pitchFamily="34" charset="-122"/>
                <a:ea typeface="微软雅黑" panose="020B0503020204020204" pitchFamily="34" charset="-122"/>
              </a:rPr>
              <a:t>折叠</a:t>
            </a:r>
            <a:r>
              <a:rPr kumimoji="1" lang="zh-CN" altLang="en-US" sz="2400" dirty="0">
                <a:solidFill>
                  <a:schemeClr val="tx1"/>
                </a:solidFill>
                <a:latin typeface="微软雅黑" panose="020B0503020204020204" pitchFamily="34" charset="-122"/>
                <a:ea typeface="微软雅黑" panose="020B0503020204020204" pitchFamily="34" charset="-122"/>
              </a:rPr>
              <a:t>）相互聚集，形成不溶性的、抗蛋白水解酶的</a:t>
            </a:r>
            <a:r>
              <a:rPr kumimoji="1" lang="zh-CN" altLang="en-US" sz="2400" dirty="0">
                <a:solidFill>
                  <a:srgbClr val="C00000"/>
                </a:solidFill>
                <a:latin typeface="微软雅黑" panose="020B0503020204020204" pitchFamily="34" charset="-122"/>
                <a:ea typeface="微软雅黑" panose="020B0503020204020204" pitchFamily="34" charset="-122"/>
              </a:rPr>
              <a:t>淀粉样纤维沉淀</a:t>
            </a:r>
            <a:r>
              <a:rPr kumimoji="1" lang="zh-CN" altLang="en-US" sz="2400" dirty="0">
                <a:solidFill>
                  <a:schemeClr val="tx1"/>
                </a:solidFill>
                <a:latin typeface="微软雅黑" panose="020B0503020204020204" pitchFamily="34" charset="-122"/>
                <a:ea typeface="微软雅黑" panose="020B0503020204020204" pitchFamily="34" charset="-122"/>
              </a:rPr>
              <a:t>（</a:t>
            </a:r>
            <a:r>
              <a:rPr kumimoji="1" lang="en-US" altLang="zh-CN" sz="2400" dirty="0">
                <a:solidFill>
                  <a:schemeClr val="tx1"/>
                </a:solidFill>
                <a:latin typeface="微软雅黑" panose="020B0503020204020204" pitchFamily="34" charset="-122"/>
                <a:ea typeface="微软雅黑" panose="020B0503020204020204" pitchFamily="34" charset="-122"/>
              </a:rPr>
              <a:t>amyloid fiber</a:t>
            </a:r>
            <a:r>
              <a:rPr kumimoji="1" lang="zh-CN" altLang="en-US" sz="2400" dirty="0">
                <a:solidFill>
                  <a:schemeClr val="tx1"/>
                </a:solidFill>
                <a:latin typeface="微软雅黑" panose="020B0503020204020204" pitchFamily="34" charset="-122"/>
                <a:ea typeface="微软雅黑" panose="020B0503020204020204" pitchFamily="34" charset="-122"/>
              </a:rPr>
              <a:t>），主要沉积在细胞外。 </a:t>
            </a:r>
            <a:endParaRPr kumimoji="1" lang="en-US" altLang="zh-CN" sz="2400" dirty="0">
              <a:solidFill>
                <a:schemeClr val="tx1"/>
              </a:solidFill>
              <a:latin typeface="微软雅黑" panose="020B0503020204020204" pitchFamily="34" charset="-122"/>
              <a:ea typeface="微软雅黑" panose="020B0503020204020204" pitchFamily="34" charset="-122"/>
            </a:endParaRPr>
          </a:p>
          <a:p>
            <a:pPr lvl="1" eaLnBrk="1" hangingPunct="1">
              <a:lnSpc>
                <a:spcPct val="120000"/>
              </a:lnSpc>
              <a:spcBef>
                <a:spcPts val="1200"/>
              </a:spcBef>
              <a:buClrTx/>
              <a:defRPr/>
            </a:pPr>
            <a:r>
              <a:rPr kumimoji="1" lang="zh-CN" altLang="en-US" sz="2400" dirty="0">
                <a:solidFill>
                  <a:schemeClr val="tx1"/>
                </a:solidFill>
                <a:latin typeface="微软雅黑" panose="020B0503020204020204" pitchFamily="34" charset="-122"/>
                <a:ea typeface="微软雅黑" panose="020B0503020204020204" pitchFamily="34" charset="-122"/>
              </a:rPr>
              <a:t>比如阿尔茨海默病（痴呆最常见的病因）、帕金森病、享廷顿舞蹈病、</a:t>
            </a:r>
            <a:r>
              <a:rPr kumimoji="1" lang="en-US" altLang="zh-CN" sz="2400" dirty="0">
                <a:solidFill>
                  <a:schemeClr val="tx1"/>
                </a:solidFill>
                <a:latin typeface="微软雅黑" panose="020B0503020204020204" pitchFamily="34" charset="-122"/>
                <a:ea typeface="微软雅黑" panose="020B0503020204020204" pitchFamily="34" charset="-122"/>
              </a:rPr>
              <a:t>2</a:t>
            </a:r>
            <a:r>
              <a:rPr kumimoji="1" lang="zh-CN" altLang="en-US" sz="2400" dirty="0">
                <a:solidFill>
                  <a:schemeClr val="tx1"/>
                </a:solidFill>
                <a:latin typeface="微软雅黑" panose="020B0503020204020204" pitchFamily="34" charset="-122"/>
                <a:ea typeface="微软雅黑" panose="020B0503020204020204" pitchFamily="34" charset="-122"/>
              </a:rPr>
              <a:t>型糖尿病等。  </a:t>
            </a:r>
            <a:endParaRPr kumimoji="1" lang="en-US" altLang="zh-CN" sz="2400" dirty="0">
              <a:solidFill>
                <a:schemeClr val="tx1"/>
              </a:solidFill>
              <a:latin typeface="微软雅黑" panose="020B0503020204020204" pitchFamily="34" charset="-122"/>
              <a:ea typeface="微软雅黑" panose="020B0503020204020204" pitchFamily="34" charset="-122"/>
            </a:endParaRPr>
          </a:p>
          <a:p>
            <a:pPr marL="514350" indent="-514350" eaLnBrk="1" hangingPunct="1">
              <a:lnSpc>
                <a:spcPct val="130000"/>
              </a:lnSpc>
              <a:spcBef>
                <a:spcPts val="1500"/>
              </a:spcBef>
              <a:buClrTx/>
              <a:buFont typeface="+mj-lt"/>
              <a:buAutoNum type="arabicPeriod"/>
              <a:defRPr/>
            </a:pPr>
            <a:r>
              <a:rPr kumimoji="1" lang="zh-CN" altLang="en-US" dirty="0">
                <a:solidFill>
                  <a:srgbClr val="C00000"/>
                </a:solidFill>
                <a:latin typeface="微软雅黑" panose="020B0503020204020204" pitchFamily="34" charset="-122"/>
                <a:ea typeface="微软雅黑" panose="020B0503020204020204" pitchFamily="34" charset="-122"/>
              </a:rPr>
              <a:t>海绵状脑病（朊病毒病）： </a:t>
            </a:r>
            <a:r>
              <a:rPr kumimoji="1" lang="zh-CN" altLang="en-US" dirty="0">
                <a:solidFill>
                  <a:schemeClr val="tx1">
                    <a:lumMod val="60000"/>
                    <a:lumOff val="40000"/>
                  </a:schemeClr>
                </a:solidFill>
                <a:latin typeface="微软雅黑" panose="020B0503020204020204" pitchFamily="34" charset="-122"/>
                <a:ea typeface="微软雅黑" panose="020B0503020204020204" pitchFamily="34" charset="-122"/>
              </a:rPr>
              <a:t>有传染性</a:t>
            </a:r>
          </a:p>
        </p:txBody>
      </p:sp>
    </p:spTree>
  </p:cSld>
  <p:clrMapOvr>
    <a:masterClrMapping/>
  </p:clrMapOvr>
  <p:transition spd="slow">
    <p:circl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a:extLst>
              <a:ext uri="{FF2B5EF4-FFF2-40B4-BE49-F238E27FC236}">
                <a16:creationId xmlns:a16="http://schemas.microsoft.com/office/drawing/2014/main" id="{0D858D7B-095F-4BFB-9912-D897C488844C}"/>
              </a:ext>
            </a:extLst>
          </p:cNvPr>
          <p:cNvSpPr>
            <a:spLocks noGrp="1" noChangeArrowheads="1"/>
          </p:cNvSpPr>
          <p:nvPr>
            <p:ph type="body" sz="half" idx="1"/>
          </p:nvPr>
        </p:nvSpPr>
        <p:spPr>
          <a:xfrm>
            <a:off x="695400" y="1412776"/>
            <a:ext cx="6984776" cy="4993441"/>
          </a:xfrm>
        </p:spPr>
        <p:txBody>
          <a:bodyPr/>
          <a:lstStyle/>
          <a:p>
            <a:pPr eaLnBrk="1" hangingPunct="1">
              <a:lnSpc>
                <a:spcPct val="120000"/>
              </a:lnSpc>
              <a:spcBef>
                <a:spcPts val="2400"/>
              </a:spcBef>
              <a:buClr>
                <a:srgbClr val="006600"/>
              </a:buClr>
              <a:defRPr/>
            </a:pPr>
            <a:r>
              <a:rPr lang="zh-CN" altLang="en-US" sz="2400" dirty="0">
                <a:solidFill>
                  <a:srgbClr val="C00000"/>
                </a:solidFill>
                <a:latin typeface="+mn-ea"/>
              </a:rPr>
              <a:t>海绵状脑病</a:t>
            </a:r>
            <a:r>
              <a:rPr lang="zh-CN" altLang="en-US" sz="2400" dirty="0">
                <a:solidFill>
                  <a:schemeClr val="tx1"/>
                </a:solidFill>
                <a:latin typeface="+mn-ea"/>
              </a:rPr>
              <a:t>（</a:t>
            </a:r>
            <a:r>
              <a:rPr lang="en-US" altLang="zh-CN" sz="2400" dirty="0">
                <a:solidFill>
                  <a:schemeClr val="tx1"/>
                </a:solidFill>
                <a:latin typeface="+mn-ea"/>
              </a:rPr>
              <a:t>TSE)/</a:t>
            </a:r>
            <a:r>
              <a:rPr lang="zh-CN" altLang="en-US" sz="2400" dirty="0">
                <a:solidFill>
                  <a:srgbClr val="C00000"/>
                </a:solidFill>
                <a:latin typeface="+mn-ea"/>
              </a:rPr>
              <a:t>朊病毒病</a:t>
            </a:r>
            <a:r>
              <a:rPr lang="en-US" altLang="zh-CN" sz="2400" dirty="0">
                <a:solidFill>
                  <a:srgbClr val="C00000"/>
                </a:solidFill>
                <a:latin typeface="+mn-ea"/>
              </a:rPr>
              <a:t>: </a:t>
            </a:r>
            <a:r>
              <a:rPr lang="zh-CN" altLang="en-US" sz="2400" dirty="0">
                <a:solidFill>
                  <a:schemeClr val="tx1"/>
                </a:solidFill>
                <a:latin typeface="+mn-ea"/>
              </a:rPr>
              <a:t> 一组由</a:t>
            </a:r>
            <a:r>
              <a:rPr lang="zh-CN" altLang="en-US" sz="2400" dirty="0">
                <a:solidFill>
                  <a:schemeClr val="tx1">
                    <a:lumMod val="60000"/>
                    <a:lumOff val="40000"/>
                  </a:schemeClr>
                </a:solidFill>
                <a:latin typeface="+mn-ea"/>
              </a:rPr>
              <a:t>变异朊蛋白</a:t>
            </a:r>
            <a:r>
              <a:rPr lang="en-US" altLang="zh-CN" sz="2400" dirty="0">
                <a:solidFill>
                  <a:schemeClr val="tx1">
                    <a:lumMod val="60000"/>
                    <a:lumOff val="40000"/>
                  </a:schemeClr>
                </a:solidFill>
                <a:latin typeface="+mn-ea"/>
              </a:rPr>
              <a:t>(</a:t>
            </a:r>
            <a:r>
              <a:rPr lang="en-US" altLang="zh-CN" sz="2400" dirty="0" err="1">
                <a:solidFill>
                  <a:schemeClr val="tx1">
                    <a:lumMod val="60000"/>
                    <a:lumOff val="40000"/>
                  </a:schemeClr>
                </a:solidFill>
                <a:latin typeface="+mn-ea"/>
              </a:rPr>
              <a:t>PrP</a:t>
            </a:r>
            <a:r>
              <a:rPr lang="en-US" altLang="zh-CN" sz="2400" baseline="30000" dirty="0" err="1">
                <a:solidFill>
                  <a:schemeClr val="tx1">
                    <a:lumMod val="60000"/>
                    <a:lumOff val="40000"/>
                  </a:schemeClr>
                </a:solidFill>
                <a:latin typeface="+mn-ea"/>
              </a:rPr>
              <a:t>sc</a:t>
            </a:r>
            <a:r>
              <a:rPr lang="en-US" altLang="zh-CN" sz="2400" dirty="0">
                <a:solidFill>
                  <a:schemeClr val="tx1"/>
                </a:solidFill>
                <a:latin typeface="+mn-ea"/>
              </a:rPr>
              <a:t>)</a:t>
            </a:r>
            <a:r>
              <a:rPr lang="zh-CN" altLang="en-US" sz="2400" dirty="0">
                <a:solidFill>
                  <a:schemeClr val="tx1"/>
                </a:solidFill>
                <a:latin typeface="+mn-ea"/>
              </a:rPr>
              <a:t>引起的</a:t>
            </a:r>
            <a:r>
              <a:rPr lang="zh-CN" altLang="en-US" sz="2400" dirty="0">
                <a:solidFill>
                  <a:schemeClr val="tx1">
                    <a:lumMod val="60000"/>
                    <a:lumOff val="40000"/>
                  </a:schemeClr>
                </a:solidFill>
                <a:latin typeface="+mn-ea"/>
              </a:rPr>
              <a:t>进行性大脑退化性疾病</a:t>
            </a:r>
            <a:r>
              <a:rPr lang="zh-CN" altLang="en-US" sz="2400" dirty="0">
                <a:solidFill>
                  <a:schemeClr val="tx1"/>
                </a:solidFill>
                <a:latin typeface="+mn-ea"/>
              </a:rPr>
              <a:t>。 致命性疾病，无有效治疗。 </a:t>
            </a:r>
            <a:r>
              <a:rPr lang="zh-CN" altLang="en-US" sz="2400" dirty="0">
                <a:solidFill>
                  <a:schemeClr val="tx1">
                    <a:lumMod val="60000"/>
                    <a:lumOff val="40000"/>
                  </a:schemeClr>
                </a:solidFill>
                <a:latin typeface="+mn-ea"/>
              </a:rPr>
              <a:t>具有传染性</a:t>
            </a:r>
            <a:r>
              <a:rPr lang="zh-CN" altLang="en-US" sz="2400" dirty="0">
                <a:solidFill>
                  <a:schemeClr val="tx1"/>
                </a:solidFill>
                <a:latin typeface="+mn-ea"/>
              </a:rPr>
              <a:t>。</a:t>
            </a:r>
            <a:endParaRPr lang="en-US" altLang="zh-CN" sz="2400" dirty="0">
              <a:solidFill>
                <a:schemeClr val="tx1"/>
              </a:solidFill>
              <a:latin typeface="+mn-ea"/>
            </a:endParaRPr>
          </a:p>
          <a:p>
            <a:pPr eaLnBrk="1" hangingPunct="1">
              <a:lnSpc>
                <a:spcPct val="120000"/>
              </a:lnSpc>
              <a:spcBef>
                <a:spcPts val="2400"/>
              </a:spcBef>
              <a:buClr>
                <a:srgbClr val="006600"/>
              </a:buClr>
              <a:defRPr/>
            </a:pPr>
            <a:r>
              <a:rPr lang="zh-CN" altLang="en-US" sz="2400" dirty="0">
                <a:solidFill>
                  <a:schemeClr val="tx1">
                    <a:lumMod val="60000"/>
                    <a:lumOff val="40000"/>
                  </a:schemeClr>
                </a:solidFill>
                <a:latin typeface="+mn-ea"/>
              </a:rPr>
              <a:t>克雅氏病（</a:t>
            </a:r>
            <a:r>
              <a:rPr lang="en-US" altLang="zh-CN" sz="2400" dirty="0">
                <a:solidFill>
                  <a:schemeClr val="tx1">
                    <a:lumMod val="60000"/>
                    <a:lumOff val="40000"/>
                  </a:schemeClr>
                </a:solidFill>
                <a:latin typeface="+mn-ea"/>
              </a:rPr>
              <a:t>CJD</a:t>
            </a:r>
            <a:r>
              <a:rPr lang="zh-CN" altLang="en-US" sz="2400" dirty="0">
                <a:solidFill>
                  <a:schemeClr val="tx1">
                    <a:lumMod val="60000"/>
                    <a:lumOff val="40000"/>
                  </a:schemeClr>
                </a:solidFill>
                <a:latin typeface="+mn-ea"/>
              </a:rPr>
              <a:t>）</a:t>
            </a:r>
            <a:r>
              <a:rPr lang="zh-CN" altLang="en-US" sz="2400" dirty="0">
                <a:solidFill>
                  <a:schemeClr val="tx1"/>
                </a:solidFill>
                <a:latin typeface="+mn-ea"/>
              </a:rPr>
              <a:t>是最常见的人类朊病毒病，极罕见，</a:t>
            </a:r>
            <a:r>
              <a:rPr lang="zh-CN" altLang="en-US" sz="2400" b="1" dirty="0">
                <a:solidFill>
                  <a:schemeClr val="tx1"/>
                </a:solidFill>
                <a:latin typeface="+mn-ea"/>
              </a:rPr>
              <a:t>散发</a:t>
            </a:r>
            <a:r>
              <a:rPr lang="zh-CN" altLang="en-US" sz="2400" dirty="0">
                <a:solidFill>
                  <a:schemeClr val="tx1"/>
                </a:solidFill>
                <a:latin typeface="+mn-ea"/>
              </a:rPr>
              <a:t>于世界各地。</a:t>
            </a:r>
            <a:endParaRPr lang="en-US" altLang="zh-CN" sz="2400" dirty="0">
              <a:solidFill>
                <a:schemeClr val="tx1"/>
              </a:solidFill>
              <a:latin typeface="+mn-ea"/>
            </a:endParaRPr>
          </a:p>
          <a:p>
            <a:pPr eaLnBrk="1" hangingPunct="1">
              <a:lnSpc>
                <a:spcPct val="120000"/>
              </a:lnSpc>
              <a:spcBef>
                <a:spcPts val="2400"/>
              </a:spcBef>
              <a:buClr>
                <a:srgbClr val="006600"/>
              </a:buClr>
              <a:defRPr/>
            </a:pPr>
            <a:r>
              <a:rPr lang="zh-CN" altLang="en-US" sz="2400" dirty="0">
                <a:solidFill>
                  <a:schemeClr val="tx1"/>
                </a:solidFill>
                <a:latin typeface="+mn-ea"/>
              </a:rPr>
              <a:t>朊病毒病也见于多种哺乳动物，比如</a:t>
            </a:r>
            <a:r>
              <a:rPr lang="zh-CN" altLang="en-US" sz="2400" dirty="0">
                <a:solidFill>
                  <a:schemeClr val="tx1">
                    <a:lumMod val="60000"/>
                    <a:lumOff val="40000"/>
                  </a:schemeClr>
                </a:solidFill>
                <a:latin typeface="+mn-ea"/>
              </a:rPr>
              <a:t>疯牛病</a:t>
            </a:r>
            <a:r>
              <a:rPr lang="en-US" altLang="zh-CN" sz="2400" dirty="0">
                <a:solidFill>
                  <a:schemeClr val="tx1">
                    <a:lumMod val="60000"/>
                    <a:lumOff val="40000"/>
                  </a:schemeClr>
                </a:solidFill>
                <a:latin typeface="+mn-ea"/>
              </a:rPr>
              <a:t>/</a:t>
            </a:r>
            <a:r>
              <a:rPr lang="zh-CN" altLang="en-US" sz="2400" dirty="0">
                <a:solidFill>
                  <a:schemeClr val="tx1">
                    <a:lumMod val="60000"/>
                    <a:lumOff val="40000"/>
                  </a:schemeClr>
                </a:solidFill>
                <a:latin typeface="+mn-ea"/>
              </a:rPr>
              <a:t>牛海绵状脑病</a:t>
            </a:r>
            <a:r>
              <a:rPr lang="zh-CN" altLang="en-US" sz="2400" dirty="0">
                <a:solidFill>
                  <a:schemeClr val="tx1"/>
                </a:solidFill>
                <a:latin typeface="+mn-ea"/>
              </a:rPr>
              <a:t>曾于上世纪</a:t>
            </a:r>
            <a:r>
              <a:rPr lang="en-US" altLang="zh-CN" sz="2400" dirty="0">
                <a:solidFill>
                  <a:schemeClr val="tx1"/>
                </a:solidFill>
                <a:latin typeface="+mn-ea"/>
              </a:rPr>
              <a:t>80</a:t>
            </a:r>
            <a:r>
              <a:rPr lang="zh-CN" altLang="en-US" sz="2400" dirty="0">
                <a:solidFill>
                  <a:schemeClr val="tx1"/>
                </a:solidFill>
                <a:latin typeface="+mn-ea"/>
              </a:rPr>
              <a:t>年代中后期在英国流行。迄今共</a:t>
            </a:r>
            <a:r>
              <a:rPr lang="en-US" altLang="zh-CN" sz="2400" dirty="0">
                <a:solidFill>
                  <a:schemeClr val="tx1"/>
                </a:solidFill>
                <a:latin typeface="+mn-ea"/>
              </a:rPr>
              <a:t>200</a:t>
            </a:r>
            <a:r>
              <a:rPr lang="zh-CN" altLang="en-US" sz="2400" dirty="0">
                <a:solidFill>
                  <a:schemeClr val="tx1"/>
                </a:solidFill>
                <a:latin typeface="+mn-ea"/>
              </a:rPr>
              <a:t>多人（大多在英国）因吃了疯牛病牛肉而患朊病毒病（又称人类疯牛病）。</a:t>
            </a:r>
            <a:endParaRPr lang="en-US" altLang="zh-CN" sz="2400" dirty="0">
              <a:solidFill>
                <a:schemeClr val="tx1"/>
              </a:solidFill>
              <a:latin typeface="+mn-ea"/>
            </a:endParaRPr>
          </a:p>
        </p:txBody>
      </p:sp>
      <p:pic>
        <p:nvPicPr>
          <p:cNvPr id="111619" name="Picture 4" descr="bse">
            <a:extLst>
              <a:ext uri="{FF2B5EF4-FFF2-40B4-BE49-F238E27FC236}">
                <a16:creationId xmlns:a16="http://schemas.microsoft.com/office/drawing/2014/main" id="{9B30C2A8-2304-41AC-ABE4-9638CF754618}"/>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8301384" y="4604504"/>
            <a:ext cx="2717800" cy="1668463"/>
          </a:xfrm>
        </p:spPr>
      </p:pic>
      <p:sp>
        <p:nvSpPr>
          <p:cNvPr id="111620" name="标题 5">
            <a:extLst>
              <a:ext uri="{FF2B5EF4-FFF2-40B4-BE49-F238E27FC236}">
                <a16:creationId xmlns:a16="http://schemas.microsoft.com/office/drawing/2014/main" id="{5555FDED-E62F-4DB8-8488-BB0E5EE1D1DF}"/>
              </a:ext>
            </a:extLst>
          </p:cNvPr>
          <p:cNvSpPr>
            <a:spLocks noGrp="1" noChangeArrowheads="1"/>
          </p:cNvSpPr>
          <p:nvPr>
            <p:ph type="title"/>
          </p:nvPr>
        </p:nvSpPr>
        <p:spPr>
          <a:xfrm>
            <a:off x="1200150" y="223838"/>
            <a:ext cx="8305800" cy="563562"/>
          </a:xfrm>
        </p:spPr>
        <p:txBody>
          <a:bodyPr/>
          <a:lstStyle/>
          <a:p>
            <a:pPr algn="ctr"/>
            <a:r>
              <a:rPr lang="zh-CN" altLang="en-US"/>
              <a:t>蛋白质错误折叠导致海绵状脑病</a:t>
            </a:r>
          </a:p>
        </p:txBody>
      </p:sp>
      <p:pic>
        <p:nvPicPr>
          <p:cNvPr id="111621" name="图片 1">
            <a:extLst>
              <a:ext uri="{FF2B5EF4-FFF2-40B4-BE49-F238E27FC236}">
                <a16:creationId xmlns:a16="http://schemas.microsoft.com/office/drawing/2014/main" id="{376DE80D-18CE-44B8-AFC3-59757561F65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688288" y="1340768"/>
            <a:ext cx="2232025"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DDAD0C06-1DF5-45EA-8243-400615952E6E}"/>
              </a:ext>
            </a:extLst>
          </p:cNvPr>
          <p:cNvSpPr>
            <a:spLocks noChangeArrowheads="1"/>
          </p:cNvSpPr>
          <p:nvPr/>
        </p:nvSpPr>
        <p:spPr bwMode="auto">
          <a:xfrm>
            <a:off x="657127" y="1392414"/>
            <a:ext cx="6103217" cy="4742646"/>
          </a:xfrm>
          <a:prstGeom prst="rect">
            <a:avLst/>
          </a:prstGeom>
          <a:noFill/>
          <a:ln>
            <a:noFill/>
          </a:ln>
        </p:spPr>
        <p:txBody>
          <a:bodyPr wrap="square" lIns="90000" tIns="46800" rIns="90000" bIns="46800">
            <a:spAutoFit/>
          </a:bodyPr>
          <a:lstStyle>
            <a:lvl1pPr indent="714375">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indent="0" eaLnBrk="1" hangingPunct="1">
              <a:lnSpc>
                <a:spcPct val="120000"/>
              </a:lnSpc>
              <a:spcBef>
                <a:spcPct val="0"/>
              </a:spcBef>
              <a:buClrTx/>
              <a:defRPr/>
            </a:pPr>
            <a:r>
              <a:rPr kumimoji="1" lang="zh-CN" altLang="en-US" sz="2600" b="0" dirty="0">
                <a:solidFill>
                  <a:schemeClr val="tx1"/>
                </a:solidFill>
              </a:rPr>
              <a:t> </a:t>
            </a:r>
            <a:r>
              <a:rPr kumimoji="1" lang="zh-CN" altLang="en-US" sz="2600" b="0" dirty="0">
                <a:solidFill>
                  <a:schemeClr val="tx1">
                    <a:lumMod val="60000"/>
                    <a:lumOff val="40000"/>
                  </a:schemeClr>
                </a:solidFill>
              </a:rPr>
              <a:t>朊蛋白</a:t>
            </a:r>
            <a:r>
              <a:rPr kumimoji="1" lang="zh-CN" altLang="en-US" sz="2600" b="0" dirty="0">
                <a:solidFill>
                  <a:schemeClr val="tx1"/>
                </a:solidFill>
              </a:rPr>
              <a:t>存在于身体所有细胞中，在脑中浓度很高。因此，大多数朊蛋白病主要或只影响神经系统。 </a:t>
            </a:r>
            <a:endParaRPr kumimoji="1" lang="en-US" altLang="zh-CN" sz="2600" b="0" dirty="0">
              <a:solidFill>
                <a:schemeClr val="tx1"/>
              </a:solidFill>
            </a:endParaRPr>
          </a:p>
          <a:p>
            <a:pPr indent="0" eaLnBrk="1" hangingPunct="1">
              <a:lnSpc>
                <a:spcPct val="120000"/>
              </a:lnSpc>
              <a:spcBef>
                <a:spcPct val="0"/>
              </a:spcBef>
              <a:buClrTx/>
              <a:defRPr/>
            </a:pPr>
            <a:endParaRPr kumimoji="1" lang="zh-CN" altLang="en-US" sz="2400" b="0" dirty="0">
              <a:solidFill>
                <a:schemeClr val="tx1"/>
              </a:solidFill>
            </a:endParaRPr>
          </a:p>
          <a:p>
            <a:pPr indent="0" eaLnBrk="1" hangingPunct="1">
              <a:lnSpc>
                <a:spcPct val="120000"/>
              </a:lnSpc>
              <a:spcBef>
                <a:spcPct val="0"/>
              </a:spcBef>
              <a:buClrTx/>
              <a:buNone/>
              <a:defRPr/>
            </a:pPr>
            <a:r>
              <a:rPr kumimoji="1" lang="en-US" altLang="zh-CN" b="0" dirty="0" err="1">
                <a:solidFill>
                  <a:srgbClr val="FF0000"/>
                </a:solidFill>
              </a:rPr>
              <a:t>PrP</a:t>
            </a:r>
            <a:r>
              <a:rPr kumimoji="1" lang="en-US" altLang="zh-CN" b="0" baseline="30000" dirty="0" err="1">
                <a:solidFill>
                  <a:srgbClr val="FF0000"/>
                </a:solidFill>
              </a:rPr>
              <a:t>c</a:t>
            </a:r>
            <a:r>
              <a:rPr kumimoji="1" lang="zh-CN" altLang="en-US" b="0" dirty="0">
                <a:solidFill>
                  <a:schemeClr val="tx1"/>
                </a:solidFill>
              </a:rPr>
              <a:t>（</a:t>
            </a:r>
            <a:r>
              <a:rPr kumimoji="1" lang="zh-CN" altLang="en-US" sz="2600" dirty="0">
                <a:solidFill>
                  <a:schemeClr val="tx1">
                    <a:lumMod val="60000"/>
                    <a:lumOff val="40000"/>
                  </a:schemeClr>
                </a:solidFill>
              </a:rPr>
              <a:t>细胞型朊蛋白）：</a:t>
            </a:r>
            <a:endParaRPr kumimoji="1" lang="en-US" altLang="zh-CN" sz="2600" dirty="0">
              <a:solidFill>
                <a:schemeClr val="tx1">
                  <a:lumMod val="60000"/>
                  <a:lumOff val="40000"/>
                </a:schemeClr>
              </a:solidFill>
            </a:endParaRPr>
          </a:p>
          <a:p>
            <a:pPr marL="457200" lvl="1" indent="0" eaLnBrk="1" hangingPunct="1">
              <a:lnSpc>
                <a:spcPct val="120000"/>
              </a:lnSpc>
              <a:spcBef>
                <a:spcPct val="0"/>
              </a:spcBef>
              <a:buClrTx/>
              <a:buNone/>
              <a:defRPr/>
            </a:pPr>
            <a:r>
              <a:rPr kumimoji="1" lang="zh-CN" altLang="en-US" sz="2400" dirty="0">
                <a:solidFill>
                  <a:schemeClr val="tx1"/>
                </a:solidFill>
              </a:rPr>
              <a:t>是正常蛋白，</a:t>
            </a:r>
            <a:r>
              <a:rPr kumimoji="1" lang="zh-CN" altLang="en-US" sz="2400" dirty="0">
                <a:solidFill>
                  <a:srgbClr val="C00000"/>
                </a:solidFill>
              </a:rPr>
              <a:t>富含</a:t>
            </a:r>
            <a:r>
              <a:rPr kumimoji="1" lang="en-US" altLang="zh-CN" sz="2400" dirty="0">
                <a:solidFill>
                  <a:srgbClr val="C00000"/>
                </a:solidFill>
              </a:rPr>
              <a:t>α-</a:t>
            </a:r>
            <a:r>
              <a:rPr kumimoji="1" lang="zh-CN" altLang="en-US" sz="2400" dirty="0">
                <a:solidFill>
                  <a:srgbClr val="C00000"/>
                </a:solidFill>
              </a:rPr>
              <a:t>螺旋</a:t>
            </a:r>
            <a:r>
              <a:rPr kumimoji="1" lang="zh-CN" altLang="en-US" sz="2400" dirty="0">
                <a:solidFill>
                  <a:schemeClr val="tx1"/>
                </a:solidFill>
              </a:rPr>
              <a:t>，水溶性，易被蛋白酶降解。</a:t>
            </a:r>
            <a:endParaRPr kumimoji="1" lang="en-US" altLang="zh-CN" sz="2400" dirty="0">
              <a:solidFill>
                <a:schemeClr val="tx1"/>
              </a:solidFill>
            </a:endParaRPr>
          </a:p>
          <a:p>
            <a:pPr indent="0" eaLnBrk="1" hangingPunct="1">
              <a:lnSpc>
                <a:spcPct val="120000"/>
              </a:lnSpc>
              <a:spcBef>
                <a:spcPct val="0"/>
              </a:spcBef>
              <a:buClrTx/>
              <a:buNone/>
              <a:defRPr/>
            </a:pPr>
            <a:r>
              <a:rPr kumimoji="1" lang="en-US" altLang="zh-CN" b="0" dirty="0" err="1">
                <a:solidFill>
                  <a:srgbClr val="FF0000"/>
                </a:solidFill>
              </a:rPr>
              <a:t>PrP</a:t>
            </a:r>
            <a:r>
              <a:rPr kumimoji="1" lang="en-US" altLang="zh-CN" b="0" baseline="30000" dirty="0" err="1">
                <a:solidFill>
                  <a:srgbClr val="FF0000"/>
                </a:solidFill>
              </a:rPr>
              <a:t>sc</a:t>
            </a:r>
            <a:r>
              <a:rPr kumimoji="1" lang="zh-CN" altLang="en-US" b="0" dirty="0">
                <a:solidFill>
                  <a:schemeClr val="tx1">
                    <a:lumMod val="60000"/>
                    <a:lumOff val="40000"/>
                  </a:schemeClr>
                </a:solidFill>
              </a:rPr>
              <a:t>（</a:t>
            </a:r>
            <a:r>
              <a:rPr kumimoji="1" lang="zh-CN" altLang="en-US" sz="2600" dirty="0">
                <a:solidFill>
                  <a:schemeClr val="tx1">
                    <a:lumMod val="60000"/>
                    <a:lumOff val="40000"/>
                  </a:schemeClr>
                </a:solidFill>
              </a:rPr>
              <a:t>羊瘙痒病朊蛋白</a:t>
            </a:r>
            <a:r>
              <a:rPr kumimoji="1" lang="zh-CN" altLang="en-US" sz="2600" b="0" dirty="0">
                <a:solidFill>
                  <a:schemeClr val="tx1">
                    <a:lumMod val="60000"/>
                    <a:lumOff val="40000"/>
                  </a:schemeClr>
                </a:solidFill>
              </a:rPr>
              <a:t>）：</a:t>
            </a:r>
            <a:endParaRPr kumimoji="1" lang="en-US" altLang="zh-CN" sz="2600" b="0" dirty="0">
              <a:solidFill>
                <a:schemeClr val="tx1">
                  <a:lumMod val="60000"/>
                  <a:lumOff val="40000"/>
                </a:schemeClr>
              </a:solidFill>
            </a:endParaRPr>
          </a:p>
          <a:p>
            <a:pPr marL="457200" lvl="1" indent="0" eaLnBrk="1" hangingPunct="1">
              <a:lnSpc>
                <a:spcPct val="120000"/>
              </a:lnSpc>
              <a:spcBef>
                <a:spcPct val="0"/>
              </a:spcBef>
              <a:buClrTx/>
              <a:buNone/>
              <a:defRPr/>
            </a:pPr>
            <a:r>
              <a:rPr kumimoji="1" lang="zh-CN" altLang="en-US" sz="2400" dirty="0">
                <a:solidFill>
                  <a:schemeClr val="tx1"/>
                </a:solidFill>
              </a:rPr>
              <a:t>变异的朊蛋白，又称</a:t>
            </a:r>
            <a:r>
              <a:rPr kumimoji="1" lang="zh-CN" altLang="en-US" sz="2400" dirty="0">
                <a:solidFill>
                  <a:schemeClr val="tx1">
                    <a:lumMod val="60000"/>
                    <a:lumOff val="40000"/>
                  </a:schemeClr>
                </a:solidFill>
              </a:rPr>
              <a:t>朊病毒，</a:t>
            </a:r>
            <a:r>
              <a:rPr kumimoji="1" lang="zh-CN" altLang="en-US" sz="2400" dirty="0">
                <a:solidFill>
                  <a:srgbClr val="C00000"/>
                </a:solidFill>
              </a:rPr>
              <a:t>富含</a:t>
            </a:r>
            <a:r>
              <a:rPr kumimoji="1" lang="en-US" altLang="zh-CN" sz="2400" dirty="0">
                <a:solidFill>
                  <a:srgbClr val="C00000"/>
                </a:solidFill>
              </a:rPr>
              <a:t>β-</a:t>
            </a:r>
            <a:r>
              <a:rPr kumimoji="1" lang="zh-CN" altLang="en-US" sz="2400" dirty="0">
                <a:solidFill>
                  <a:srgbClr val="C00000"/>
                </a:solidFill>
              </a:rPr>
              <a:t>折叠</a:t>
            </a:r>
            <a:r>
              <a:rPr kumimoji="1" lang="zh-CN" altLang="en-US" sz="2400" dirty="0">
                <a:solidFill>
                  <a:schemeClr val="tx1"/>
                </a:solidFill>
              </a:rPr>
              <a:t>，不溶于水，耐受蛋白酶，耐热。</a:t>
            </a:r>
            <a:endParaRPr kumimoji="1" lang="en-US" altLang="zh-CN" sz="2400" dirty="0">
              <a:solidFill>
                <a:schemeClr val="tx1"/>
              </a:solidFill>
            </a:endParaRPr>
          </a:p>
        </p:txBody>
      </p:sp>
      <p:sp>
        <p:nvSpPr>
          <p:cNvPr id="10" name="标题 5">
            <a:extLst>
              <a:ext uri="{FF2B5EF4-FFF2-40B4-BE49-F238E27FC236}">
                <a16:creationId xmlns:a16="http://schemas.microsoft.com/office/drawing/2014/main" id="{86584465-87E5-4BD8-B557-124D595AE235}"/>
              </a:ext>
            </a:extLst>
          </p:cNvPr>
          <p:cNvSpPr txBox="1">
            <a:spLocks/>
          </p:cNvSpPr>
          <p:nvPr/>
        </p:nvSpPr>
        <p:spPr>
          <a:xfrm>
            <a:off x="1703389" y="115888"/>
            <a:ext cx="6840537" cy="563562"/>
          </a:xfrm>
          <a:prstGeom prst="rect">
            <a:avLst/>
          </a:prstGeom>
        </p:spPr>
        <p:txBody>
          <a:bodyPr/>
          <a:lstStyle/>
          <a:p>
            <a:pPr algn="ctr">
              <a:defRPr/>
            </a:pPr>
            <a:r>
              <a:rPr lang="zh-CN" altLang="en-US" sz="4000" kern="0" dirty="0">
                <a:solidFill>
                  <a:schemeClr val="bg1"/>
                </a:solidFill>
                <a:latin typeface="+mj-lt"/>
                <a:ea typeface="+mj-ea"/>
                <a:cs typeface="+mj-cs"/>
              </a:rPr>
              <a:t>朊蛋白</a:t>
            </a:r>
            <a:r>
              <a:rPr lang="en-US" altLang="zh-CN" sz="4000" kern="0" dirty="0">
                <a:solidFill>
                  <a:schemeClr val="bg1"/>
                </a:solidFill>
                <a:latin typeface="+mn-lt"/>
                <a:ea typeface="+mj-ea"/>
                <a:cs typeface="+mj-cs"/>
              </a:rPr>
              <a:t>(prion protein, </a:t>
            </a:r>
            <a:r>
              <a:rPr lang="en-US" altLang="zh-CN" sz="4000" kern="0" dirty="0">
                <a:solidFill>
                  <a:schemeClr val="bg1"/>
                </a:solidFill>
                <a:latin typeface="+mj-lt"/>
                <a:ea typeface="+mj-ea"/>
                <a:cs typeface="+mj-cs"/>
              </a:rPr>
              <a:t>PrP)</a:t>
            </a:r>
            <a:endParaRPr lang="zh-CN" altLang="en-US" sz="4000" kern="0" dirty="0">
              <a:solidFill>
                <a:schemeClr val="bg1"/>
              </a:solidFill>
              <a:latin typeface="+mj-lt"/>
              <a:ea typeface="+mj-ea"/>
              <a:cs typeface="+mj-cs"/>
            </a:endParaRPr>
          </a:p>
        </p:txBody>
      </p:sp>
      <p:sp>
        <p:nvSpPr>
          <p:cNvPr id="113668" name="动作按钮: 影片 1">
            <a:hlinkClick r:id="" action="ppaction://noaction" highlightClick="1"/>
            <a:extLst>
              <a:ext uri="{FF2B5EF4-FFF2-40B4-BE49-F238E27FC236}">
                <a16:creationId xmlns:a16="http://schemas.microsoft.com/office/drawing/2014/main" id="{B822D908-633D-4E6D-90A8-738F09FFA1A8}"/>
              </a:ext>
            </a:extLst>
          </p:cNvPr>
          <p:cNvSpPr>
            <a:spLocks noChangeArrowheads="1"/>
          </p:cNvSpPr>
          <p:nvPr/>
        </p:nvSpPr>
        <p:spPr bwMode="auto">
          <a:xfrm>
            <a:off x="6744072" y="6453188"/>
            <a:ext cx="576262" cy="215900"/>
          </a:xfrm>
          <a:prstGeom prst="actionButtonMovie">
            <a:avLst/>
          </a:prstGeom>
          <a:solidFill>
            <a:schemeClr val="accent1"/>
          </a:solidFill>
          <a:ln w="9525" algn="ctr">
            <a:solidFill>
              <a:schemeClr val="tx1"/>
            </a:solidFill>
            <a:round/>
            <a:headEnd/>
            <a:tailEnd/>
          </a:ln>
        </p:spPr>
        <p:txBody>
          <a:bodyPr wrap="none"/>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pic>
        <p:nvPicPr>
          <p:cNvPr id="113669" name="图片 2">
            <a:extLst>
              <a:ext uri="{FF2B5EF4-FFF2-40B4-BE49-F238E27FC236}">
                <a16:creationId xmlns:a16="http://schemas.microsoft.com/office/drawing/2014/main" id="{9D4BB0CC-D5BB-4E27-9AC8-D6CE3BD6BFF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20334" y="1135949"/>
            <a:ext cx="4014787" cy="553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图片 2">
            <a:extLst>
              <a:ext uri="{FF2B5EF4-FFF2-40B4-BE49-F238E27FC236}">
                <a16:creationId xmlns:a16="http://schemas.microsoft.com/office/drawing/2014/main" id="{B60EA17A-605A-4C2F-8640-7C85FEC68A4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31504" y="548680"/>
            <a:ext cx="5616550" cy="5504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989AE95B-EE85-43A2-A255-5C28F0190E29}"/>
              </a:ext>
            </a:extLst>
          </p:cNvPr>
          <p:cNvSpPr txBox="1"/>
          <p:nvPr/>
        </p:nvSpPr>
        <p:spPr>
          <a:xfrm>
            <a:off x="5159896" y="2060848"/>
            <a:ext cx="6226359" cy="523220"/>
          </a:xfrm>
          <a:prstGeom prst="rect">
            <a:avLst/>
          </a:prstGeom>
          <a:noFill/>
        </p:spPr>
        <p:txBody>
          <a:bodyPr wrap="square">
            <a:spAutoFit/>
          </a:bodyPr>
          <a:lstStyle/>
          <a:p>
            <a:r>
              <a:rPr lang="zh-CN" altLang="en-US" sz="2800" dirty="0">
                <a:latin typeface="微软雅黑" panose="020B0503020204020204" pitchFamily="34" charset="-122"/>
                <a:ea typeface="微软雅黑" panose="020B0503020204020204" pitchFamily="34" charset="-122"/>
              </a:rPr>
              <a:t>斯坦利</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普鲁西纳  独享</a:t>
            </a:r>
            <a:r>
              <a:rPr lang="en-US" altLang="zh-CN" sz="2800" dirty="0">
                <a:latin typeface="微软雅黑" panose="020B0503020204020204" pitchFamily="34" charset="-122"/>
                <a:ea typeface="微软雅黑" panose="020B0503020204020204" pitchFamily="34" charset="-122"/>
              </a:rPr>
              <a:t>1997</a:t>
            </a:r>
            <a:r>
              <a:rPr lang="zh-CN" altLang="en-US" sz="2800" dirty="0">
                <a:latin typeface="微软雅黑" panose="020B0503020204020204" pitchFamily="34" charset="-122"/>
                <a:ea typeface="微软雅黑" panose="020B0503020204020204" pitchFamily="34" charset="-122"/>
              </a:rPr>
              <a:t>年诺奖</a:t>
            </a:r>
          </a:p>
        </p:txBody>
      </p:sp>
      <p:sp>
        <p:nvSpPr>
          <p:cNvPr id="6" name="文本框 5">
            <a:extLst>
              <a:ext uri="{FF2B5EF4-FFF2-40B4-BE49-F238E27FC236}">
                <a16:creationId xmlns:a16="http://schemas.microsoft.com/office/drawing/2014/main" id="{2CA1EE55-B7B7-47B7-B27D-85FC93617938}"/>
              </a:ext>
            </a:extLst>
          </p:cNvPr>
          <p:cNvSpPr txBox="1"/>
          <p:nvPr/>
        </p:nvSpPr>
        <p:spPr>
          <a:xfrm>
            <a:off x="5087888" y="2924944"/>
            <a:ext cx="6226359" cy="1599733"/>
          </a:xfrm>
          <a:prstGeom prst="rect">
            <a:avLst/>
          </a:prstGeom>
          <a:noFill/>
        </p:spPr>
        <p:txBody>
          <a:bodyPr wrap="square">
            <a:spAutoFit/>
          </a:bodyPr>
          <a:lstStyle/>
          <a:p>
            <a:pPr>
              <a:lnSpc>
                <a:spcPct val="120000"/>
              </a:lnSpc>
            </a:pPr>
            <a:r>
              <a:rPr lang="zh-CN" altLang="en-US" sz="2800" dirty="0">
                <a:latin typeface="微软雅黑" panose="020B0503020204020204" pitchFamily="34" charset="-122"/>
                <a:ea typeface="微软雅黑" panose="020B0503020204020204" pitchFamily="34" charset="-122"/>
              </a:rPr>
              <a:t>“</a:t>
            </a:r>
            <a:r>
              <a:rPr lang="en-US" altLang="zh-CN" sz="2800" dirty="0" err="1">
                <a:latin typeface="微软雅黑" panose="020B0503020204020204" pitchFamily="34" charset="-122"/>
                <a:ea typeface="微软雅黑" panose="020B0503020204020204" pitchFamily="34" charset="-122"/>
              </a:rPr>
              <a:t>Prusiner</a:t>
            </a:r>
            <a:r>
              <a:rPr lang="zh-CN" altLang="en-US" sz="2800" dirty="0">
                <a:latin typeface="微软雅黑" panose="020B0503020204020204" pitchFamily="34" charset="-122"/>
                <a:ea typeface="微软雅黑" panose="020B0503020204020204" pitchFamily="34" charset="-122"/>
              </a:rPr>
              <a:t>在已知的包括细菌、病毒、真菌和寄生虫在内的传染性因子名单上又加进了朊蛋白。”</a:t>
            </a:r>
          </a:p>
        </p:txBody>
      </p:sp>
    </p:spTree>
  </p:cSld>
  <p:clrMapOvr>
    <a:masterClrMapping/>
  </p:clrMapOvr>
  <p:transition spd="slow">
    <p:circle/>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6738" name="标题 1">
            <a:extLst>
              <a:ext uri="{FF2B5EF4-FFF2-40B4-BE49-F238E27FC236}">
                <a16:creationId xmlns:a16="http://schemas.microsoft.com/office/drawing/2014/main" id="{7E1FEBD8-1BBF-4B50-9090-84583C826620}"/>
              </a:ext>
            </a:extLst>
          </p:cNvPr>
          <p:cNvSpPr>
            <a:spLocks noGrp="1" noChangeArrowheads="1"/>
          </p:cNvSpPr>
          <p:nvPr>
            <p:ph type="title"/>
          </p:nvPr>
        </p:nvSpPr>
        <p:spPr>
          <a:xfrm>
            <a:off x="1703388" y="188913"/>
            <a:ext cx="6985000" cy="563562"/>
          </a:xfrm>
        </p:spPr>
        <p:txBody>
          <a:bodyPr/>
          <a:lstStyle/>
          <a:p>
            <a:r>
              <a:rPr lang="zh-CN" altLang="en-US" dirty="0">
                <a:latin typeface="微软雅黑" panose="020B0503020204020204" pitchFamily="34" charset="-122"/>
                <a:ea typeface="微软雅黑" panose="020B0503020204020204" pitchFamily="34" charset="-122"/>
              </a:rPr>
              <a:t>案 例 分 析</a:t>
            </a:r>
            <a:endParaRPr lang="zh-CN" altLang="en-US" dirty="0"/>
          </a:p>
        </p:txBody>
      </p:sp>
      <p:sp>
        <p:nvSpPr>
          <p:cNvPr id="3" name="内容占位符 2">
            <a:extLst>
              <a:ext uri="{FF2B5EF4-FFF2-40B4-BE49-F238E27FC236}">
                <a16:creationId xmlns:a16="http://schemas.microsoft.com/office/drawing/2014/main" id="{20833AB3-84BF-493D-B506-5276ED25F034}"/>
              </a:ext>
            </a:extLst>
          </p:cNvPr>
          <p:cNvSpPr>
            <a:spLocks noGrp="1"/>
          </p:cNvSpPr>
          <p:nvPr>
            <p:ph idx="1"/>
          </p:nvPr>
        </p:nvSpPr>
        <p:spPr>
          <a:xfrm>
            <a:off x="983432" y="1340768"/>
            <a:ext cx="10513168" cy="5040037"/>
          </a:xfrm>
        </p:spPr>
        <p:txBody>
          <a:bodyPr/>
          <a:lstStyle/>
          <a:p>
            <a:pPr>
              <a:lnSpc>
                <a:spcPct val="120000"/>
              </a:lnSpc>
              <a:defRPr/>
            </a:pPr>
            <a:r>
              <a:rPr lang="zh-CN" altLang="en-US" sz="2400" b="1" dirty="0">
                <a:latin typeface="微软雅黑" panose="020B0503020204020204" pitchFamily="34" charset="-122"/>
                <a:ea typeface="微软雅黑" panose="020B0503020204020204" pitchFamily="34" charset="-122"/>
              </a:rPr>
              <a:t>患者</a:t>
            </a:r>
            <a:r>
              <a:rPr lang="zh-CN" altLang="en-US" sz="2400" dirty="0">
                <a:latin typeface="微软雅黑" panose="020B0503020204020204" pitchFamily="34" charset="-122"/>
                <a:ea typeface="微软雅黑" panose="020B0503020204020204" pitchFamily="34" charset="-122"/>
              </a:rPr>
              <a:t>：男性</a:t>
            </a:r>
            <a:r>
              <a:rPr lang="en-US" altLang="zh-CN" sz="2400" dirty="0">
                <a:latin typeface="微软雅黑" panose="020B0503020204020204" pitchFamily="34" charset="-122"/>
                <a:ea typeface="微软雅黑" panose="020B0503020204020204" pitchFamily="34" charset="-122"/>
              </a:rPr>
              <a:t>42</a:t>
            </a:r>
            <a:r>
              <a:rPr lang="zh-CN" altLang="en-US" sz="2400" dirty="0">
                <a:latin typeface="微软雅黑" panose="020B0503020204020204" pitchFamily="34" charset="-122"/>
                <a:ea typeface="微软雅黑" panose="020B0503020204020204" pitchFamily="34" charset="-122"/>
              </a:rPr>
              <a:t>岁，进行性痴呆，间歇性肌痉挛。</a:t>
            </a:r>
          </a:p>
          <a:p>
            <a:pPr>
              <a:lnSpc>
                <a:spcPct val="120000"/>
              </a:lnSpc>
              <a:defRPr/>
            </a:pPr>
            <a:r>
              <a:rPr lang="zh-CN" altLang="en-US" sz="2400" b="1" dirty="0">
                <a:latin typeface="微软雅黑" panose="020B0503020204020204" pitchFamily="34" charset="-122"/>
                <a:ea typeface="微软雅黑" panose="020B0503020204020204" pitchFamily="34" charset="-122"/>
              </a:rPr>
              <a:t>体格检查</a:t>
            </a:r>
            <a:r>
              <a:rPr lang="zh-CN" altLang="en-US" sz="2400" dirty="0">
                <a:latin typeface="微软雅黑" panose="020B0503020204020204" pitchFamily="34" charset="-122"/>
                <a:ea typeface="微软雅黑" panose="020B0503020204020204" pitchFamily="34" charset="-122"/>
              </a:rPr>
              <a:t>：反应迟钝，言语少，理解力差，计算能力下降，腱反射亢进，水平眼震，闭目难立。入院观察：脑萎缩，用药后痉挛减轻但是痴呆症状无好转，且语言障碍加剧，一个月后出现昏迷，半个月后死亡。</a:t>
            </a:r>
          </a:p>
          <a:p>
            <a:pPr>
              <a:lnSpc>
                <a:spcPct val="120000"/>
              </a:lnSpc>
              <a:defRPr/>
            </a:pPr>
            <a:r>
              <a:rPr lang="zh-CN" altLang="en-US" sz="2400" b="1" dirty="0">
                <a:latin typeface="微软雅黑" panose="020B0503020204020204" pitchFamily="34" charset="-122"/>
                <a:ea typeface="微软雅黑" panose="020B0503020204020204" pitchFamily="34" charset="-122"/>
              </a:rPr>
              <a:t>尸检：</a:t>
            </a:r>
            <a:r>
              <a:rPr lang="zh-CN" altLang="en-US" sz="2400" dirty="0">
                <a:latin typeface="微软雅黑" panose="020B0503020204020204" pitchFamily="34" charset="-122"/>
                <a:ea typeface="微软雅黑" panose="020B0503020204020204" pitchFamily="34" charset="-122"/>
              </a:rPr>
              <a:t>脑组织切片观察发现空泡、淀粉样斑块，胶质细胞增生，神经细胞丢失，</a:t>
            </a:r>
            <a:r>
              <a:rPr lang="zh-CN" altLang="en-US" sz="2400" dirty="0">
                <a:solidFill>
                  <a:schemeClr val="tx1">
                    <a:lumMod val="60000"/>
                    <a:lumOff val="40000"/>
                  </a:schemeClr>
                </a:solidFill>
                <a:latin typeface="微软雅黑" panose="020B0503020204020204" pitchFamily="34" charset="-122"/>
                <a:ea typeface="微软雅黑" panose="020B0503020204020204" pitchFamily="34" charset="-122"/>
              </a:rPr>
              <a:t>免疫组化染色检查</a:t>
            </a:r>
            <a:r>
              <a:rPr lang="en-US" altLang="zh-CN" sz="2400" dirty="0" err="1">
                <a:solidFill>
                  <a:schemeClr val="tx1">
                    <a:lumMod val="60000"/>
                    <a:lumOff val="40000"/>
                  </a:schemeClr>
                </a:solidFill>
                <a:latin typeface="微软雅黑" panose="020B0503020204020204" pitchFamily="34" charset="-122"/>
                <a:ea typeface="微软雅黑" panose="020B0503020204020204" pitchFamily="34" charset="-122"/>
              </a:rPr>
              <a:t>PrP</a:t>
            </a:r>
            <a:r>
              <a:rPr lang="en-US" altLang="zh-CN" sz="2400" baseline="30000" dirty="0" err="1">
                <a:solidFill>
                  <a:schemeClr val="tx1">
                    <a:lumMod val="60000"/>
                    <a:lumOff val="40000"/>
                  </a:schemeClr>
                </a:solidFill>
                <a:latin typeface="微软雅黑" panose="020B0503020204020204" pitchFamily="34" charset="-122"/>
                <a:ea typeface="微软雅黑" panose="020B0503020204020204" pitchFamily="34" charset="-122"/>
              </a:rPr>
              <a:t>Sc</a:t>
            </a:r>
            <a:r>
              <a:rPr lang="zh-CN" altLang="en-US" sz="2400" dirty="0">
                <a:solidFill>
                  <a:schemeClr val="tx1">
                    <a:lumMod val="60000"/>
                    <a:lumOff val="40000"/>
                  </a:schemeClr>
                </a:solidFill>
                <a:latin typeface="微软雅黑" panose="020B0503020204020204" pitchFamily="34" charset="-122"/>
                <a:ea typeface="微软雅黑" panose="020B0503020204020204" pitchFamily="34" charset="-122"/>
              </a:rPr>
              <a:t>阳性</a:t>
            </a:r>
            <a:r>
              <a:rPr lang="zh-CN" altLang="en-US" sz="2400" dirty="0">
                <a:latin typeface="微软雅黑" panose="020B0503020204020204" pitchFamily="34" charset="-122"/>
                <a:ea typeface="微软雅黑" panose="020B0503020204020204" pitchFamily="34" charset="-122"/>
              </a:rPr>
              <a:t>。</a:t>
            </a:r>
          </a:p>
          <a:p>
            <a:pPr>
              <a:lnSpc>
                <a:spcPct val="120000"/>
              </a:lnSpc>
              <a:defRPr/>
            </a:pPr>
            <a:r>
              <a:rPr lang="zh-CN" altLang="en-US" sz="2400" dirty="0">
                <a:latin typeface="微软雅黑" panose="020B0503020204020204" pitchFamily="34" charset="-122"/>
                <a:ea typeface="微软雅黑" panose="020B0503020204020204" pitchFamily="34" charset="-122"/>
              </a:rPr>
              <a:t>分析结果：</a:t>
            </a:r>
            <a:r>
              <a:rPr lang="zh-CN" altLang="en-US" sz="2400" b="1" dirty="0">
                <a:latin typeface="微软雅黑" panose="020B0503020204020204" pitchFamily="34" charset="-122"/>
                <a:ea typeface="微软雅黑" panose="020B0503020204020204" pitchFamily="34" charset="-122"/>
              </a:rPr>
              <a:t>克</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雅病</a:t>
            </a:r>
          </a:p>
          <a:p>
            <a:pPr>
              <a:lnSpc>
                <a:spcPct val="120000"/>
              </a:lnSpc>
              <a:defRPr/>
            </a:pPr>
            <a:r>
              <a:rPr lang="zh-CN" altLang="en-US" sz="2400" dirty="0">
                <a:latin typeface="微软雅黑" panose="020B0503020204020204" pitchFamily="34" charset="-122"/>
                <a:ea typeface="微软雅黑" panose="020B0503020204020204" pitchFamily="34" charset="-122"/>
              </a:rPr>
              <a:t>问题讨论：</a:t>
            </a:r>
          </a:p>
          <a:p>
            <a:pPr marL="0" indent="0">
              <a:lnSpc>
                <a:spcPct val="120000"/>
              </a:lnSpc>
              <a:buNone/>
              <a:defRPr/>
            </a:pP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该病的病理原因是什么？</a:t>
            </a:r>
          </a:p>
          <a:p>
            <a:pPr marL="0" indent="0">
              <a:lnSpc>
                <a:spcPct val="120000"/>
              </a:lnSpc>
              <a:buNone/>
              <a:defRPr/>
            </a:pPr>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从生化角度如何解释克雅氏病的发病与蛋白质结构的关系？</a:t>
            </a:r>
          </a:p>
          <a:p>
            <a:pPr>
              <a:lnSpc>
                <a:spcPct val="120000"/>
              </a:lnSpc>
              <a:defRPr/>
            </a:pP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spd="slow">
    <p:circl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8FB64286-961B-4733-BB41-7431EEC21692}"/>
              </a:ext>
            </a:extLst>
          </p:cNvPr>
          <p:cNvSpPr>
            <a:spLocks noGrp="1" noChangeArrowheads="1"/>
          </p:cNvSpPr>
          <p:nvPr>
            <p:ph type="title"/>
          </p:nvPr>
        </p:nvSpPr>
        <p:spPr>
          <a:xfrm>
            <a:off x="1703388" y="188913"/>
            <a:ext cx="6913562" cy="563562"/>
          </a:xfrm>
        </p:spPr>
        <p:txBody>
          <a:bodyPr/>
          <a:lstStyle/>
          <a:p>
            <a:pPr eaLnBrk="1" hangingPunct="1"/>
            <a:r>
              <a:rPr lang="zh-CN" altLang="en-US" sz="3200" dirty="0"/>
              <a:t>蛋白质结构与功能的关系   小结</a:t>
            </a:r>
          </a:p>
        </p:txBody>
      </p:sp>
      <p:grpSp>
        <p:nvGrpSpPr>
          <p:cNvPr id="117763" name="Group 31">
            <a:extLst>
              <a:ext uri="{FF2B5EF4-FFF2-40B4-BE49-F238E27FC236}">
                <a16:creationId xmlns:a16="http://schemas.microsoft.com/office/drawing/2014/main" id="{C1B9C435-1E24-4B37-B5C7-9063C0944050}"/>
              </a:ext>
            </a:extLst>
          </p:cNvPr>
          <p:cNvGrpSpPr>
            <a:grpSpLocks/>
          </p:cNvGrpSpPr>
          <p:nvPr/>
        </p:nvGrpSpPr>
        <p:grpSpPr bwMode="auto">
          <a:xfrm>
            <a:off x="2424114" y="1989138"/>
            <a:ext cx="1150937" cy="1079500"/>
            <a:chOff x="567" y="1253"/>
            <a:chExt cx="725" cy="680"/>
          </a:xfrm>
        </p:grpSpPr>
        <p:sp>
          <p:nvSpPr>
            <p:cNvPr id="117773" name="AutoShape 16">
              <a:extLst>
                <a:ext uri="{FF2B5EF4-FFF2-40B4-BE49-F238E27FC236}">
                  <a16:creationId xmlns:a16="http://schemas.microsoft.com/office/drawing/2014/main" id="{E4B31999-217A-4A24-9B30-465413177A70}"/>
                </a:ext>
              </a:extLst>
            </p:cNvPr>
            <p:cNvSpPr>
              <a:spLocks noChangeArrowheads="1"/>
            </p:cNvSpPr>
            <p:nvPr/>
          </p:nvSpPr>
          <p:spPr bwMode="auto">
            <a:xfrm>
              <a:off x="1156" y="1253"/>
              <a:ext cx="136" cy="680"/>
            </a:xfrm>
            <a:prstGeom prst="downArrow">
              <a:avLst>
                <a:gd name="adj1" fmla="val 50000"/>
                <a:gd name="adj2" fmla="val 62500"/>
              </a:avLst>
            </a:prstGeom>
            <a:solidFill>
              <a:srgbClr val="0000CC"/>
            </a:solidFill>
            <a:ln w="9525">
              <a:solidFill>
                <a:srgbClr val="0000CC"/>
              </a:solidFill>
              <a:miter lim="800000"/>
              <a:headEnd/>
              <a:tailEnd/>
            </a:ln>
          </p:spPr>
          <p:txBody>
            <a:bodyPr vert="eaVert"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3200">
                <a:solidFill>
                  <a:schemeClr val="tx1"/>
                </a:solidFill>
                <a:latin typeface="Arial" panose="020B0604020202020204" pitchFamily="34" charset="0"/>
                <a:ea typeface="宋体" panose="02010600030101010101" pitchFamily="2" charset="-122"/>
              </a:endParaRPr>
            </a:p>
          </p:txBody>
        </p:sp>
        <p:sp>
          <p:nvSpPr>
            <p:cNvPr id="117774" name="Text Box 18">
              <a:extLst>
                <a:ext uri="{FF2B5EF4-FFF2-40B4-BE49-F238E27FC236}">
                  <a16:creationId xmlns:a16="http://schemas.microsoft.com/office/drawing/2014/main" id="{B7FB4AB2-1080-40EC-8621-165A7E1680A4}"/>
                </a:ext>
              </a:extLst>
            </p:cNvPr>
            <p:cNvSpPr txBox="1">
              <a:spLocks noChangeArrowheads="1"/>
            </p:cNvSpPr>
            <p:nvPr/>
          </p:nvSpPr>
          <p:spPr bwMode="auto">
            <a:xfrm>
              <a:off x="567" y="1253"/>
              <a:ext cx="590"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sz="3200">
                  <a:solidFill>
                    <a:srgbClr val="0000CC"/>
                  </a:solidFill>
                  <a:latin typeface="Arial" panose="020B0604020202020204" pitchFamily="34" charset="0"/>
                </a:rPr>
                <a:t>决定</a:t>
              </a:r>
            </a:p>
          </p:txBody>
        </p:sp>
      </p:grpSp>
      <p:sp>
        <p:nvSpPr>
          <p:cNvPr id="532503" name="AutoShape 23">
            <a:extLst>
              <a:ext uri="{FF2B5EF4-FFF2-40B4-BE49-F238E27FC236}">
                <a16:creationId xmlns:a16="http://schemas.microsoft.com/office/drawing/2014/main" id="{100A05F0-63E9-444A-9FFE-2505EEB73D4F}"/>
              </a:ext>
            </a:extLst>
          </p:cNvPr>
          <p:cNvSpPr>
            <a:spLocks noChangeArrowheads="1"/>
          </p:cNvSpPr>
          <p:nvPr/>
        </p:nvSpPr>
        <p:spPr bwMode="auto">
          <a:xfrm>
            <a:off x="5808663" y="5300664"/>
            <a:ext cx="4392612" cy="719137"/>
          </a:xfrm>
          <a:prstGeom prst="roundRect">
            <a:avLst>
              <a:gd name="adj" fmla="val 16667"/>
            </a:avLst>
          </a:prstGeom>
          <a:solidFill>
            <a:schemeClr val="accent6">
              <a:lumMod val="20000"/>
              <a:lumOff val="80000"/>
            </a:schemeClr>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0" algn="ctr" eaLnBrk="1" hangingPunct="1">
              <a:spcBef>
                <a:spcPct val="0"/>
              </a:spcBef>
              <a:buClrTx/>
              <a:buNone/>
              <a:defRPr/>
            </a:pPr>
            <a:r>
              <a:rPr lang="zh-CN" altLang="en-US" sz="3600" b="0">
                <a:solidFill>
                  <a:srgbClr val="C00000"/>
                </a:solidFill>
                <a:latin typeface="Arial" panose="020B0604020202020204" pitchFamily="34" charset="0"/>
                <a:ea typeface="宋体" panose="02010600030101010101" pitchFamily="2" charset="-122"/>
              </a:rPr>
              <a:t>结构是功能的基础</a:t>
            </a:r>
            <a:endParaRPr lang="zh-CN" altLang="en-US" sz="3600" b="0" dirty="0">
              <a:solidFill>
                <a:srgbClr val="C00000"/>
              </a:solidFill>
              <a:latin typeface="Arial" panose="020B0604020202020204" pitchFamily="34" charset="0"/>
              <a:ea typeface="宋体" panose="02010600030101010101" pitchFamily="2" charset="-122"/>
            </a:endParaRPr>
          </a:p>
        </p:txBody>
      </p:sp>
      <p:sp>
        <p:nvSpPr>
          <p:cNvPr id="532507" name="Text Box 27">
            <a:extLst>
              <a:ext uri="{FF2B5EF4-FFF2-40B4-BE49-F238E27FC236}">
                <a16:creationId xmlns:a16="http://schemas.microsoft.com/office/drawing/2014/main" id="{3A58ACFB-7859-41CA-8FD1-234FAC244E97}"/>
              </a:ext>
            </a:extLst>
          </p:cNvPr>
          <p:cNvSpPr txBox="1">
            <a:spLocks noChangeArrowheads="1"/>
          </p:cNvSpPr>
          <p:nvPr/>
        </p:nvSpPr>
        <p:spPr bwMode="auto">
          <a:xfrm>
            <a:off x="4367214" y="2276476"/>
            <a:ext cx="64087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a:solidFill>
                  <a:schemeClr val="tx1"/>
                </a:solidFill>
                <a:latin typeface="黑体" panose="02010609060101010101" pitchFamily="49" charset="-122"/>
              </a:rPr>
              <a:t>举例</a:t>
            </a:r>
            <a:r>
              <a:rPr lang="en-US" altLang="zh-CN">
                <a:solidFill>
                  <a:schemeClr val="tx1"/>
                </a:solidFill>
                <a:latin typeface="黑体" panose="02010609060101010101" pitchFamily="49" charset="-122"/>
              </a:rPr>
              <a:t>:</a:t>
            </a:r>
            <a:r>
              <a:rPr lang="zh-CN" altLang="en-US">
                <a:solidFill>
                  <a:schemeClr val="tx1"/>
                </a:solidFill>
                <a:latin typeface="黑体" panose="02010609060101010101" pitchFamily="49" charset="-122"/>
              </a:rPr>
              <a:t>牛核糖核酸酶的变性、复性实验</a:t>
            </a:r>
          </a:p>
        </p:txBody>
      </p:sp>
      <p:grpSp>
        <p:nvGrpSpPr>
          <p:cNvPr id="117766" name="Group 32">
            <a:extLst>
              <a:ext uri="{FF2B5EF4-FFF2-40B4-BE49-F238E27FC236}">
                <a16:creationId xmlns:a16="http://schemas.microsoft.com/office/drawing/2014/main" id="{0EA7D9C1-EB12-4665-851C-A308B478F0D9}"/>
              </a:ext>
            </a:extLst>
          </p:cNvPr>
          <p:cNvGrpSpPr>
            <a:grpSpLocks/>
          </p:cNvGrpSpPr>
          <p:nvPr/>
        </p:nvGrpSpPr>
        <p:grpSpPr bwMode="auto">
          <a:xfrm>
            <a:off x="2424114" y="4005264"/>
            <a:ext cx="1150937" cy="1222375"/>
            <a:chOff x="567" y="1253"/>
            <a:chExt cx="725" cy="770"/>
          </a:xfrm>
        </p:grpSpPr>
        <p:sp>
          <p:nvSpPr>
            <p:cNvPr id="117771" name="AutoShape 33">
              <a:extLst>
                <a:ext uri="{FF2B5EF4-FFF2-40B4-BE49-F238E27FC236}">
                  <a16:creationId xmlns:a16="http://schemas.microsoft.com/office/drawing/2014/main" id="{39A11937-C435-45F6-864B-5310CDB9A494}"/>
                </a:ext>
              </a:extLst>
            </p:cNvPr>
            <p:cNvSpPr>
              <a:spLocks noChangeArrowheads="1"/>
            </p:cNvSpPr>
            <p:nvPr/>
          </p:nvSpPr>
          <p:spPr bwMode="auto">
            <a:xfrm>
              <a:off x="1111" y="1253"/>
              <a:ext cx="181" cy="680"/>
            </a:xfrm>
            <a:prstGeom prst="downArrow">
              <a:avLst>
                <a:gd name="adj1" fmla="val 50000"/>
                <a:gd name="adj2" fmla="val 62493"/>
              </a:avLst>
            </a:prstGeom>
            <a:solidFill>
              <a:srgbClr val="0000CC"/>
            </a:solidFill>
            <a:ln w="9525">
              <a:solidFill>
                <a:srgbClr val="0000CC"/>
              </a:solidFill>
              <a:miter lim="800000"/>
              <a:headEnd/>
              <a:tailEnd/>
            </a:ln>
          </p:spPr>
          <p:txBody>
            <a:bodyPr vert="eaVert"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3200">
                <a:solidFill>
                  <a:schemeClr val="tx1"/>
                </a:solidFill>
                <a:latin typeface="Arial" panose="020B0604020202020204" pitchFamily="34" charset="0"/>
                <a:ea typeface="宋体" panose="02010600030101010101" pitchFamily="2" charset="-122"/>
              </a:endParaRPr>
            </a:p>
          </p:txBody>
        </p:sp>
        <p:sp>
          <p:nvSpPr>
            <p:cNvPr id="117772" name="Text Box 34">
              <a:extLst>
                <a:ext uri="{FF2B5EF4-FFF2-40B4-BE49-F238E27FC236}">
                  <a16:creationId xmlns:a16="http://schemas.microsoft.com/office/drawing/2014/main" id="{FA2B6F69-B341-42D3-B394-50260B3E15AE}"/>
                </a:ext>
              </a:extLst>
            </p:cNvPr>
            <p:cNvSpPr txBox="1">
              <a:spLocks noChangeArrowheads="1"/>
            </p:cNvSpPr>
            <p:nvPr/>
          </p:nvSpPr>
          <p:spPr bwMode="auto">
            <a:xfrm>
              <a:off x="567" y="1344"/>
              <a:ext cx="590"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sz="3200">
                  <a:solidFill>
                    <a:srgbClr val="0000CC"/>
                  </a:solidFill>
                  <a:latin typeface="Arial" panose="020B0604020202020204" pitchFamily="34" charset="0"/>
                </a:rPr>
                <a:t>决定</a:t>
              </a:r>
            </a:p>
          </p:txBody>
        </p:sp>
      </p:grpSp>
      <p:sp>
        <p:nvSpPr>
          <p:cNvPr id="532515" name="Text Box 35">
            <a:extLst>
              <a:ext uri="{FF2B5EF4-FFF2-40B4-BE49-F238E27FC236}">
                <a16:creationId xmlns:a16="http://schemas.microsoft.com/office/drawing/2014/main" id="{73ADC1BC-70D6-4D8B-BE47-182D23AF407D}"/>
              </a:ext>
            </a:extLst>
          </p:cNvPr>
          <p:cNvSpPr txBox="1">
            <a:spLocks noChangeArrowheads="1"/>
          </p:cNvSpPr>
          <p:nvPr/>
        </p:nvSpPr>
        <p:spPr bwMode="auto">
          <a:xfrm>
            <a:off x="5122864" y="4011614"/>
            <a:ext cx="4897437"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dirty="0">
                <a:solidFill>
                  <a:schemeClr val="tx1"/>
                </a:solidFill>
                <a:latin typeface="黑体" panose="02010609060101010101" pitchFamily="49" charset="-122"/>
              </a:rPr>
              <a:t>举例</a:t>
            </a:r>
            <a:r>
              <a:rPr lang="en-US" altLang="zh-CN" dirty="0">
                <a:solidFill>
                  <a:schemeClr val="tx1"/>
                </a:solidFill>
                <a:latin typeface="黑体" panose="02010609060101010101" pitchFamily="49" charset="-122"/>
              </a:rPr>
              <a:t>:</a:t>
            </a:r>
            <a:r>
              <a:rPr lang="zh-CN" altLang="en-US" dirty="0">
                <a:solidFill>
                  <a:schemeClr val="tx1"/>
                </a:solidFill>
                <a:latin typeface="黑体" panose="02010609060101010101" pitchFamily="49" charset="-122"/>
              </a:rPr>
              <a:t>血红蛋白的别构效应</a:t>
            </a:r>
            <a:endParaRPr lang="en-US" altLang="zh-CN" dirty="0">
              <a:solidFill>
                <a:schemeClr val="tx1"/>
              </a:solidFill>
              <a:latin typeface="黑体" panose="02010609060101010101" pitchFamily="49" charset="-122"/>
            </a:endParaRPr>
          </a:p>
          <a:p>
            <a:pPr eaLnBrk="1" hangingPunct="1">
              <a:spcBef>
                <a:spcPct val="50000"/>
              </a:spcBef>
              <a:buClrTx/>
              <a:buFontTx/>
              <a:buNone/>
            </a:pPr>
            <a:r>
              <a:rPr lang="zh-CN" altLang="en-US" dirty="0">
                <a:solidFill>
                  <a:schemeClr val="tx1"/>
                </a:solidFill>
                <a:latin typeface="黑体" panose="02010609060101010101" pitchFamily="49" charset="-122"/>
              </a:rPr>
              <a:t>     朊病毒病</a:t>
            </a:r>
          </a:p>
        </p:txBody>
      </p:sp>
      <p:sp>
        <p:nvSpPr>
          <p:cNvPr id="3" name="文本框 2">
            <a:extLst>
              <a:ext uri="{FF2B5EF4-FFF2-40B4-BE49-F238E27FC236}">
                <a16:creationId xmlns:a16="http://schemas.microsoft.com/office/drawing/2014/main" id="{2026557B-5C8D-4B19-BE70-9154F7D10D7F}"/>
              </a:ext>
            </a:extLst>
          </p:cNvPr>
          <p:cNvSpPr txBox="1"/>
          <p:nvPr/>
        </p:nvSpPr>
        <p:spPr>
          <a:xfrm>
            <a:off x="2135188" y="1119188"/>
            <a:ext cx="3168650" cy="584200"/>
          </a:xfrm>
          <a:prstGeom prst="rect">
            <a:avLst/>
          </a:prstGeom>
          <a:solidFill>
            <a:schemeClr val="accent6">
              <a:lumMod val="20000"/>
              <a:lumOff val="80000"/>
            </a:schemeClr>
          </a:solidFill>
        </p:spPr>
        <p:txBody>
          <a:bodyPr>
            <a:spAutoFit/>
          </a:bodyPr>
          <a:lstStyle/>
          <a:p>
            <a:pPr>
              <a:defRPr/>
            </a:pPr>
            <a:r>
              <a:rPr lang="zh-CN" altLang="en-US" sz="3200" dirty="0">
                <a:latin typeface="+mn-ea"/>
                <a:ea typeface="+mn-ea"/>
              </a:rPr>
              <a:t>蛋白质一级结构</a:t>
            </a:r>
          </a:p>
        </p:txBody>
      </p:sp>
      <p:sp>
        <p:nvSpPr>
          <p:cNvPr id="19" name="文本框 18">
            <a:extLst>
              <a:ext uri="{FF2B5EF4-FFF2-40B4-BE49-F238E27FC236}">
                <a16:creationId xmlns:a16="http://schemas.microsoft.com/office/drawing/2014/main" id="{D248E42E-1F2E-4820-BDEA-05E9FCC04C91}"/>
              </a:ext>
            </a:extLst>
          </p:cNvPr>
          <p:cNvSpPr txBox="1"/>
          <p:nvPr/>
        </p:nvSpPr>
        <p:spPr>
          <a:xfrm>
            <a:off x="2162176" y="3203575"/>
            <a:ext cx="3141663" cy="585788"/>
          </a:xfrm>
          <a:prstGeom prst="rect">
            <a:avLst/>
          </a:prstGeom>
          <a:solidFill>
            <a:schemeClr val="accent5">
              <a:lumMod val="40000"/>
              <a:lumOff val="60000"/>
            </a:schemeClr>
          </a:solidFill>
        </p:spPr>
        <p:txBody>
          <a:bodyPr>
            <a:spAutoFit/>
          </a:bodyPr>
          <a:lstStyle/>
          <a:p>
            <a:pPr>
              <a:defRPr/>
            </a:pPr>
            <a:r>
              <a:rPr lang="zh-CN" altLang="en-US" sz="3200" dirty="0">
                <a:latin typeface="+mn-ea"/>
                <a:ea typeface="+mn-ea"/>
              </a:rPr>
              <a:t>蛋白质空间结构</a:t>
            </a:r>
          </a:p>
        </p:txBody>
      </p:sp>
      <p:sp>
        <p:nvSpPr>
          <p:cNvPr id="20" name="文本框 19">
            <a:extLst>
              <a:ext uri="{FF2B5EF4-FFF2-40B4-BE49-F238E27FC236}">
                <a16:creationId xmlns:a16="http://schemas.microsoft.com/office/drawing/2014/main" id="{AAB54451-4DC1-439F-80BC-7D6713EC5AF3}"/>
              </a:ext>
            </a:extLst>
          </p:cNvPr>
          <p:cNvSpPr txBox="1"/>
          <p:nvPr/>
        </p:nvSpPr>
        <p:spPr>
          <a:xfrm>
            <a:off x="2206625" y="5292725"/>
            <a:ext cx="2376488" cy="584200"/>
          </a:xfrm>
          <a:prstGeom prst="rect">
            <a:avLst/>
          </a:prstGeom>
          <a:solidFill>
            <a:schemeClr val="tx2">
              <a:lumMod val="20000"/>
              <a:lumOff val="80000"/>
            </a:schemeClr>
          </a:solidFill>
        </p:spPr>
        <p:txBody>
          <a:bodyPr>
            <a:spAutoFit/>
          </a:bodyPr>
          <a:lstStyle/>
          <a:p>
            <a:pPr>
              <a:defRPr/>
            </a:pPr>
            <a:r>
              <a:rPr lang="zh-CN" altLang="en-US" sz="3200" dirty="0">
                <a:latin typeface="+mn-ea"/>
                <a:ea typeface="+mn-ea"/>
              </a:rPr>
              <a:t>蛋白质功能</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32507"/>
                                        </p:tgtEl>
                                        <p:attrNameLst>
                                          <p:attrName>style.visibility</p:attrName>
                                        </p:attrNameLst>
                                      </p:cBhvr>
                                      <p:to>
                                        <p:strVal val="visible"/>
                                      </p:to>
                                    </p:set>
                                    <p:animEffect transition="in" filter="fade">
                                      <p:cBhvr>
                                        <p:cTn id="7" dur="500"/>
                                        <p:tgtEl>
                                          <p:spTgt spid="532507"/>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32515"/>
                                        </p:tgtEl>
                                        <p:attrNameLst>
                                          <p:attrName>style.visibility</p:attrName>
                                        </p:attrNameLst>
                                      </p:cBhvr>
                                      <p:to>
                                        <p:strVal val="visible"/>
                                      </p:to>
                                    </p:set>
                                    <p:animEffect transition="in" filter="fade">
                                      <p:cBhvr>
                                        <p:cTn id="11" dur="500"/>
                                        <p:tgtEl>
                                          <p:spTgt spid="5325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32503"/>
                                        </p:tgtEl>
                                        <p:attrNameLst>
                                          <p:attrName>style.visibility</p:attrName>
                                        </p:attrNameLst>
                                      </p:cBhvr>
                                      <p:to>
                                        <p:strVal val="visible"/>
                                      </p:to>
                                    </p:set>
                                    <p:animEffect transition="in" filter="fade">
                                      <p:cBhvr>
                                        <p:cTn id="16" dur="500"/>
                                        <p:tgtEl>
                                          <p:spTgt spid="532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3" grpId="0" animBg="1"/>
      <p:bldP spid="532507" grpId="0"/>
      <p:bldP spid="53251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a:extLst>
              <a:ext uri="{FF2B5EF4-FFF2-40B4-BE49-F238E27FC236}">
                <a16:creationId xmlns:a16="http://schemas.microsoft.com/office/drawing/2014/main" id="{2D620333-B3A8-476F-A21A-E0DADA828A9A}"/>
              </a:ext>
            </a:extLst>
          </p:cNvPr>
          <p:cNvSpPr>
            <a:spLocks noGrp="1" noChangeArrowheads="1"/>
          </p:cNvSpPr>
          <p:nvPr>
            <p:ph type="title"/>
          </p:nvPr>
        </p:nvSpPr>
        <p:spPr>
          <a:xfrm>
            <a:off x="1703388" y="188913"/>
            <a:ext cx="8305800" cy="563562"/>
          </a:xfrm>
        </p:spPr>
        <p:txBody>
          <a:bodyPr/>
          <a:lstStyle/>
          <a:p>
            <a:r>
              <a:rPr lang="zh-CN" altLang="en-US"/>
              <a:t>课堂练习</a:t>
            </a:r>
          </a:p>
        </p:txBody>
      </p:sp>
      <p:sp>
        <p:nvSpPr>
          <p:cNvPr id="3" name="内容占位符 2">
            <a:extLst>
              <a:ext uri="{FF2B5EF4-FFF2-40B4-BE49-F238E27FC236}">
                <a16:creationId xmlns:a16="http://schemas.microsoft.com/office/drawing/2014/main" id="{214996E1-210E-46CD-86E4-1C6FFB269EB7}"/>
              </a:ext>
            </a:extLst>
          </p:cNvPr>
          <p:cNvSpPr>
            <a:spLocks noGrp="1"/>
          </p:cNvSpPr>
          <p:nvPr>
            <p:ph idx="1"/>
          </p:nvPr>
        </p:nvSpPr>
        <p:spPr>
          <a:xfrm>
            <a:off x="2423592" y="1124744"/>
            <a:ext cx="8654752" cy="5189537"/>
          </a:xfrm>
        </p:spPr>
        <p:txBody>
          <a:bodyPr/>
          <a:lstStyle/>
          <a:p>
            <a:pPr>
              <a:defRPr/>
            </a:pPr>
            <a:r>
              <a:rPr lang="zh-CN" altLang="en-US" sz="2400" dirty="0"/>
              <a:t>正常人的</a:t>
            </a:r>
            <a:r>
              <a:rPr lang="en-US" altLang="zh-CN" sz="2400" dirty="0" err="1"/>
              <a:t>HbA</a:t>
            </a:r>
            <a:r>
              <a:rPr lang="zh-CN" altLang="en-US" sz="2400" dirty="0"/>
              <a:t>和镰刀状细胞贫血病</a:t>
            </a:r>
            <a:r>
              <a:rPr lang="en-US" altLang="zh-CN" sz="2400" dirty="0" err="1"/>
              <a:t>HbS</a:t>
            </a:r>
            <a:r>
              <a:rPr lang="zh-CN" altLang="en-US" sz="2400" dirty="0"/>
              <a:t>的区别是</a:t>
            </a:r>
          </a:p>
          <a:p>
            <a:pPr marL="0" indent="0">
              <a:buNone/>
              <a:defRPr/>
            </a:pPr>
            <a:r>
              <a:rPr lang="en-US" altLang="zh-CN" sz="2400" dirty="0"/>
              <a:t>A.</a:t>
            </a:r>
            <a:r>
              <a:rPr lang="zh-CN" altLang="en-US" sz="2400" dirty="0"/>
              <a:t>每个亚基的一级结构不同</a:t>
            </a:r>
          </a:p>
          <a:p>
            <a:pPr marL="0" indent="0">
              <a:buNone/>
              <a:defRPr/>
            </a:pPr>
            <a:r>
              <a:rPr lang="en-US" altLang="zh-CN" sz="2400" dirty="0"/>
              <a:t>B.</a:t>
            </a:r>
            <a:r>
              <a:rPr lang="zh-CN" altLang="en-US" sz="2400" dirty="0"/>
              <a:t>亚基数不一样</a:t>
            </a:r>
            <a:endParaRPr lang="en-US" altLang="zh-CN" sz="2400" dirty="0"/>
          </a:p>
          <a:p>
            <a:pPr marL="0" indent="0">
              <a:buNone/>
              <a:defRPr/>
            </a:pPr>
            <a:r>
              <a:rPr lang="en-US" altLang="zh-CN" sz="2400" dirty="0"/>
              <a:t>C.β--</a:t>
            </a:r>
            <a:r>
              <a:rPr lang="zh-CN" altLang="en-US" sz="2400" dirty="0"/>
              <a:t>亚基</a:t>
            </a:r>
            <a:r>
              <a:rPr lang="en-US" altLang="zh-CN" sz="2400" dirty="0"/>
              <a:t>N</a:t>
            </a:r>
            <a:r>
              <a:rPr lang="zh-CN" altLang="en-US" sz="2400" dirty="0"/>
              <a:t>端第六位氨基酸不同</a:t>
            </a:r>
          </a:p>
          <a:p>
            <a:pPr marL="0" indent="0">
              <a:buNone/>
              <a:defRPr/>
            </a:pPr>
            <a:r>
              <a:rPr lang="en-US" altLang="zh-CN" sz="2400" dirty="0"/>
              <a:t>D.α--</a:t>
            </a:r>
            <a:r>
              <a:rPr lang="zh-CN" altLang="en-US" sz="2400" dirty="0"/>
              <a:t>亚基</a:t>
            </a:r>
            <a:r>
              <a:rPr lang="en-US" altLang="zh-CN" sz="2400" dirty="0"/>
              <a:t>N</a:t>
            </a:r>
            <a:r>
              <a:rPr lang="zh-CN" altLang="en-US" sz="2400" dirty="0"/>
              <a:t>端第六位氨基酸不一样</a:t>
            </a:r>
          </a:p>
          <a:p>
            <a:pPr marL="0" indent="0">
              <a:buNone/>
              <a:defRPr/>
            </a:pPr>
            <a:r>
              <a:rPr lang="en-US" altLang="zh-CN" sz="2400" dirty="0">
                <a:solidFill>
                  <a:srgbClr val="C00000"/>
                </a:solidFill>
              </a:rPr>
              <a:t>[</a:t>
            </a:r>
            <a:r>
              <a:rPr lang="zh-CN" altLang="en-US" sz="2400" dirty="0">
                <a:solidFill>
                  <a:srgbClr val="C00000"/>
                </a:solidFill>
              </a:rPr>
              <a:t>答案</a:t>
            </a:r>
            <a:r>
              <a:rPr lang="en-US" altLang="zh-CN" sz="2400" dirty="0">
                <a:solidFill>
                  <a:srgbClr val="C00000"/>
                </a:solidFill>
              </a:rPr>
              <a:t>]C             </a:t>
            </a:r>
            <a:r>
              <a:rPr lang="en-US" altLang="zh-CN" sz="2400" dirty="0" err="1">
                <a:solidFill>
                  <a:srgbClr val="C00000"/>
                </a:solidFill>
              </a:rPr>
              <a:t>Glu→Val</a:t>
            </a:r>
            <a:endParaRPr lang="en-US" altLang="zh-CN" sz="2400" dirty="0">
              <a:solidFill>
                <a:srgbClr val="C00000"/>
              </a:solidFill>
            </a:endParaRPr>
          </a:p>
          <a:p>
            <a:pPr>
              <a:defRPr/>
            </a:pPr>
            <a:r>
              <a:rPr lang="zh-CN" altLang="en-US" sz="2400" dirty="0"/>
              <a:t>决定蛋白质分子空间构象特征的主要因素是</a:t>
            </a:r>
          </a:p>
          <a:p>
            <a:pPr marL="0" indent="0">
              <a:buNone/>
              <a:defRPr/>
            </a:pPr>
            <a:r>
              <a:rPr lang="en-US" altLang="zh-CN" sz="2400" dirty="0"/>
              <a:t>A.</a:t>
            </a:r>
            <a:r>
              <a:rPr lang="zh-CN" altLang="en-US" sz="2400" dirty="0"/>
              <a:t>氨基酸的组成与排列顺序</a:t>
            </a:r>
          </a:p>
          <a:p>
            <a:pPr marL="0" indent="0">
              <a:buNone/>
              <a:defRPr/>
            </a:pPr>
            <a:r>
              <a:rPr lang="en-US" altLang="zh-CN" sz="2400" dirty="0"/>
              <a:t>B.</a:t>
            </a:r>
            <a:r>
              <a:rPr lang="zh-CN" altLang="en-US" sz="2400" dirty="0"/>
              <a:t>次级键的维系作用</a:t>
            </a:r>
          </a:p>
          <a:p>
            <a:pPr marL="0" indent="0">
              <a:buNone/>
              <a:defRPr/>
            </a:pPr>
            <a:r>
              <a:rPr lang="en-US" altLang="zh-CN" sz="2400" dirty="0"/>
              <a:t>C.</a:t>
            </a:r>
            <a:r>
              <a:rPr lang="zh-CN" altLang="en-US" sz="2400" dirty="0"/>
              <a:t>链间和链内二硫键</a:t>
            </a:r>
          </a:p>
          <a:p>
            <a:pPr marL="0" indent="0">
              <a:buNone/>
              <a:defRPr/>
            </a:pPr>
            <a:r>
              <a:rPr lang="en-US" altLang="zh-CN" sz="2400" dirty="0"/>
              <a:t>D.</a:t>
            </a:r>
            <a:r>
              <a:rPr lang="zh-CN" altLang="en-US" sz="2400" dirty="0"/>
              <a:t>温度、</a:t>
            </a:r>
            <a:r>
              <a:rPr lang="en-US" altLang="zh-CN" sz="2400" dirty="0"/>
              <a:t>pH</a:t>
            </a:r>
            <a:r>
              <a:rPr lang="zh-CN" altLang="en-US" sz="2400" dirty="0"/>
              <a:t>、离子强度等环境条件</a:t>
            </a:r>
          </a:p>
          <a:p>
            <a:pPr marL="0" indent="0">
              <a:buNone/>
              <a:defRPr/>
            </a:pPr>
            <a:r>
              <a:rPr lang="en-US" altLang="zh-CN" sz="2400" dirty="0">
                <a:solidFill>
                  <a:srgbClr val="C00000"/>
                </a:solidFill>
              </a:rPr>
              <a:t>[</a:t>
            </a:r>
            <a:r>
              <a:rPr lang="zh-CN" altLang="en-US" sz="2400" dirty="0">
                <a:solidFill>
                  <a:srgbClr val="C00000"/>
                </a:solidFill>
              </a:rPr>
              <a:t>答案</a:t>
            </a:r>
            <a:r>
              <a:rPr lang="en-US" altLang="zh-CN" sz="2400" dirty="0">
                <a:solidFill>
                  <a:srgbClr val="C00000"/>
                </a:solidFill>
              </a:rPr>
              <a:t>]A  </a:t>
            </a:r>
            <a:endParaRPr lang="zh-CN" altLang="en-US" sz="2400" dirty="0">
              <a:solidFill>
                <a:srgbClr val="C00000"/>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5CDC387-710F-44CB-B1E1-2EE06F0AA6CC}"/>
              </a:ext>
            </a:extLst>
          </p:cNvPr>
          <p:cNvSpPr>
            <a:spLocks noChangeArrowheads="1"/>
          </p:cNvSpPr>
          <p:nvPr/>
        </p:nvSpPr>
        <p:spPr bwMode="auto">
          <a:xfrm>
            <a:off x="1703389" y="260350"/>
            <a:ext cx="6192837"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lnSpc>
                <a:spcPct val="110000"/>
              </a:lnSpc>
              <a:spcBef>
                <a:spcPct val="0"/>
              </a:spcBef>
              <a:buClrTx/>
              <a:buFontTx/>
              <a:buNone/>
            </a:pPr>
            <a:endParaRPr kumimoji="1" lang="zh-CN" altLang="en-US" sz="2000" b="1">
              <a:solidFill>
                <a:srgbClr val="FFFF00"/>
              </a:solidFill>
              <a:latin typeface="黑体" panose="02010609060101010101" pitchFamily="49" charset="-122"/>
            </a:endParaRPr>
          </a:p>
        </p:txBody>
      </p:sp>
      <p:sp>
        <p:nvSpPr>
          <p:cNvPr id="120835" name="标题 3">
            <a:extLst>
              <a:ext uri="{FF2B5EF4-FFF2-40B4-BE49-F238E27FC236}">
                <a16:creationId xmlns:a16="http://schemas.microsoft.com/office/drawing/2014/main" id="{69E2F127-9185-4299-B190-19EC13DA5468}"/>
              </a:ext>
            </a:extLst>
          </p:cNvPr>
          <p:cNvSpPr>
            <a:spLocks noGrp="1" noChangeArrowheads="1"/>
          </p:cNvSpPr>
          <p:nvPr>
            <p:ph type="title" idx="4294967295"/>
          </p:nvPr>
        </p:nvSpPr>
        <p:spPr>
          <a:xfrm>
            <a:off x="1992313" y="950914"/>
            <a:ext cx="8393112" cy="1609725"/>
          </a:xfrm>
        </p:spPr>
        <p:txBody>
          <a:bodyPr/>
          <a:lstStyle/>
          <a:p>
            <a:pPr algn="ctr"/>
            <a:r>
              <a:rPr kumimoji="1" lang="zh-CN" altLang="en-US" sz="4000">
                <a:solidFill>
                  <a:srgbClr val="C00000"/>
                </a:solidFill>
              </a:rPr>
              <a:t>第四节  蛋白质的理化性质</a:t>
            </a:r>
            <a:br>
              <a:rPr kumimoji="1" lang="zh-CN" altLang="en-US">
                <a:solidFill>
                  <a:srgbClr val="C00000"/>
                </a:solidFill>
              </a:rPr>
            </a:br>
            <a:r>
              <a:rPr kumimoji="1" lang="en-US" altLang="zh-CN" sz="3200">
                <a:solidFill>
                  <a:srgbClr val="C00000"/>
                </a:solidFill>
                <a:latin typeface="Arial" panose="020B0604020202020204" pitchFamily="34" charset="0"/>
                <a:ea typeface="华文行楷" panose="02010800040101010101" pitchFamily="2" charset="-122"/>
              </a:rPr>
              <a:t>Physical and Chemical Characters of Protein</a:t>
            </a:r>
            <a:endParaRPr lang="zh-CN" altLang="en-US" sz="3200"/>
          </a:p>
        </p:txBody>
      </p:sp>
      <p:sp>
        <p:nvSpPr>
          <p:cNvPr id="3" name="内容占位符 2">
            <a:extLst>
              <a:ext uri="{FF2B5EF4-FFF2-40B4-BE49-F238E27FC236}">
                <a16:creationId xmlns:a16="http://schemas.microsoft.com/office/drawing/2014/main" id="{EFC97873-E13E-410B-90D7-92B512040FA0}"/>
              </a:ext>
            </a:extLst>
          </p:cNvPr>
          <p:cNvSpPr>
            <a:spLocks noGrp="1"/>
          </p:cNvSpPr>
          <p:nvPr>
            <p:ph idx="4294967295"/>
          </p:nvPr>
        </p:nvSpPr>
        <p:spPr>
          <a:xfrm>
            <a:off x="3817938" y="2419351"/>
            <a:ext cx="5194300" cy="3673475"/>
          </a:xfrm>
        </p:spPr>
        <p:txBody>
          <a:bodyPr/>
          <a:lstStyle/>
          <a:p>
            <a:pPr>
              <a:defRPr/>
            </a:pPr>
            <a:endParaRPr kumimoji="1" lang="en-US" altLang="zh-CN" dirty="0">
              <a:solidFill>
                <a:schemeClr val="bg1"/>
              </a:solidFill>
              <a:latin typeface="Arial" panose="020B0604020202020204" pitchFamily="34" charset="0"/>
              <a:ea typeface="华文行楷" panose="02010800040101010101" pitchFamily="2" charset="-122"/>
            </a:endParaRPr>
          </a:p>
          <a:p>
            <a:pPr>
              <a:defRPr/>
            </a:pPr>
            <a:r>
              <a:rPr kumimoji="1" lang="zh-CN" altLang="en-US" dirty="0">
                <a:solidFill>
                  <a:srgbClr val="000066"/>
                </a:solidFill>
                <a:latin typeface="+mn-ea"/>
              </a:rPr>
              <a:t>两性电离</a:t>
            </a:r>
            <a:endParaRPr kumimoji="1" lang="en-US" altLang="zh-CN" dirty="0">
              <a:solidFill>
                <a:srgbClr val="000066"/>
              </a:solidFill>
              <a:latin typeface="+mn-ea"/>
            </a:endParaRPr>
          </a:p>
          <a:p>
            <a:pPr>
              <a:defRPr/>
            </a:pPr>
            <a:r>
              <a:rPr kumimoji="1" lang="zh-CN" altLang="en-US" dirty="0">
                <a:solidFill>
                  <a:srgbClr val="000066"/>
                </a:solidFill>
                <a:latin typeface="+mn-ea"/>
              </a:rPr>
              <a:t>紫外吸收</a:t>
            </a:r>
            <a:endParaRPr kumimoji="1" lang="en-US" altLang="zh-CN" dirty="0">
              <a:solidFill>
                <a:srgbClr val="000066"/>
              </a:solidFill>
              <a:latin typeface="+mn-ea"/>
            </a:endParaRPr>
          </a:p>
          <a:p>
            <a:pPr>
              <a:defRPr/>
            </a:pPr>
            <a:r>
              <a:rPr kumimoji="1" lang="zh-CN" altLang="en-US" dirty="0">
                <a:solidFill>
                  <a:srgbClr val="000066"/>
                </a:solidFill>
                <a:latin typeface="+mn-ea"/>
              </a:rPr>
              <a:t>呈色反应</a:t>
            </a:r>
            <a:endParaRPr kumimoji="1" lang="en-US" altLang="zh-CN" dirty="0">
              <a:solidFill>
                <a:srgbClr val="000066"/>
              </a:solidFill>
              <a:latin typeface="+mn-ea"/>
            </a:endParaRPr>
          </a:p>
          <a:p>
            <a:pPr>
              <a:defRPr/>
            </a:pPr>
            <a:r>
              <a:rPr kumimoji="1" lang="zh-CN" altLang="en-US" dirty="0">
                <a:solidFill>
                  <a:srgbClr val="000066"/>
                </a:solidFill>
                <a:latin typeface="+mn-ea"/>
              </a:rPr>
              <a:t>胶体性质</a:t>
            </a:r>
            <a:endParaRPr kumimoji="1" lang="en-US" altLang="zh-CN" dirty="0">
              <a:solidFill>
                <a:srgbClr val="000066"/>
              </a:solidFill>
              <a:latin typeface="+mn-ea"/>
            </a:endParaRPr>
          </a:p>
          <a:p>
            <a:pPr>
              <a:defRPr/>
            </a:pPr>
            <a:r>
              <a:rPr kumimoji="1" lang="zh-CN" altLang="en-US" dirty="0">
                <a:solidFill>
                  <a:srgbClr val="C00000"/>
                </a:solidFill>
                <a:latin typeface="+mn-ea"/>
              </a:rPr>
              <a:t>变性、复性</a:t>
            </a:r>
            <a:r>
              <a:rPr kumimoji="1" lang="zh-CN" altLang="en-US" dirty="0">
                <a:solidFill>
                  <a:srgbClr val="000066"/>
                </a:solidFill>
                <a:latin typeface="+mn-ea"/>
              </a:rPr>
              <a:t>、沉淀、凝固现象</a:t>
            </a:r>
            <a:endParaRPr lang="zh-CN" altLang="en-US" dirty="0">
              <a:solidFill>
                <a:srgbClr val="000066"/>
              </a:solidFill>
              <a:latin typeface="+mn-ea"/>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grpId="0" nodeType="afterEffect" nodePh="1">
                                  <p:stCondLst>
                                    <p:cond delay="0"/>
                                  </p:stCondLst>
                                  <p:endCondLst>
                                    <p:cond evt="begin" delay="0">
                                      <p:tn val="5"/>
                                    </p:cond>
                                  </p:endCondLst>
                                  <p:childTnLst>
                                    <p:set>
                                      <p:cBhvr>
                                        <p:cTn id="6" dur="1" fill="hold">
                                          <p:stCondLst>
                                            <p:cond delay="0"/>
                                          </p:stCondLst>
                                        </p:cTn>
                                        <p:tgtEl>
                                          <p:spTgt spid="65538"/>
                                        </p:tgtEl>
                                        <p:attrNameLst>
                                          <p:attrName>style.visibility</p:attrName>
                                        </p:attrNameLst>
                                      </p:cBhvr>
                                      <p:to>
                                        <p:strVal val="visible"/>
                                      </p:to>
                                    </p:set>
                                    <p:animEffect transition="in" filter="strips(upRight)">
                                      <p:cBhvr>
                                        <p:cTn id="7" dur="500"/>
                                        <p:tgtEl>
                                          <p:spTgt spid="65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
            <a:extLst>
              <a:ext uri="{FF2B5EF4-FFF2-40B4-BE49-F238E27FC236}">
                <a16:creationId xmlns:a16="http://schemas.microsoft.com/office/drawing/2014/main" id="{9CF02B02-090A-43F4-9393-10BE3A5088D0}"/>
              </a:ext>
            </a:extLst>
          </p:cNvPr>
          <p:cNvSpPr>
            <a:spLocks noGrp="1" noChangeArrowheads="1"/>
          </p:cNvSpPr>
          <p:nvPr>
            <p:ph type="title"/>
          </p:nvPr>
        </p:nvSpPr>
        <p:spPr>
          <a:xfrm>
            <a:off x="1919536" y="189706"/>
            <a:ext cx="6985000" cy="563562"/>
          </a:xfrm>
        </p:spPr>
        <p:txBody>
          <a:bodyPr/>
          <a:lstStyle/>
          <a:p>
            <a:r>
              <a:rPr lang="zh-CN" altLang="en-US" dirty="0"/>
              <a:t>本节要求</a:t>
            </a:r>
          </a:p>
        </p:txBody>
      </p:sp>
      <p:sp>
        <p:nvSpPr>
          <p:cNvPr id="122883" name="内容占位符 2">
            <a:extLst>
              <a:ext uri="{FF2B5EF4-FFF2-40B4-BE49-F238E27FC236}">
                <a16:creationId xmlns:a16="http://schemas.microsoft.com/office/drawing/2014/main" id="{E741DE35-F16C-475A-A02A-F5A5D78715CA}"/>
              </a:ext>
            </a:extLst>
          </p:cNvPr>
          <p:cNvSpPr>
            <a:spLocks noGrp="1" noChangeArrowheads="1"/>
          </p:cNvSpPr>
          <p:nvPr>
            <p:ph idx="1"/>
          </p:nvPr>
        </p:nvSpPr>
        <p:spPr>
          <a:xfrm>
            <a:off x="2000706" y="1340768"/>
            <a:ext cx="9279870" cy="5189538"/>
          </a:xfrm>
        </p:spPr>
        <p:txBody>
          <a:bodyPr/>
          <a:lstStyle/>
          <a:p>
            <a:pPr>
              <a:spcBef>
                <a:spcPts val="1800"/>
              </a:spcBef>
            </a:pPr>
            <a:r>
              <a:rPr lang="zh-CN" altLang="en-US" dirty="0">
                <a:solidFill>
                  <a:srgbClr val="C00000"/>
                </a:solidFill>
              </a:rPr>
              <a:t>掌握</a:t>
            </a:r>
            <a:r>
              <a:rPr lang="zh-CN" altLang="en-US" dirty="0"/>
              <a:t>：</a:t>
            </a:r>
            <a:endParaRPr lang="en-US" altLang="zh-CN" dirty="0"/>
          </a:p>
          <a:p>
            <a:pPr lvl="1">
              <a:spcBef>
                <a:spcPts val="1800"/>
              </a:spcBef>
            </a:pPr>
            <a:r>
              <a:rPr lang="zh-CN" altLang="en-US" sz="2400" dirty="0"/>
              <a:t>蛋白质的等电点概念、紫外吸收的应用</a:t>
            </a:r>
            <a:endParaRPr lang="en-US" altLang="zh-CN" sz="2400" dirty="0"/>
          </a:p>
          <a:p>
            <a:pPr lvl="1">
              <a:spcBef>
                <a:spcPts val="1800"/>
              </a:spcBef>
            </a:pPr>
            <a:r>
              <a:rPr lang="zh-CN" altLang="en-US" sz="2400" dirty="0"/>
              <a:t>蛋白质稳定的因素、蛋白质沉淀的本质</a:t>
            </a:r>
            <a:endParaRPr lang="en-US" altLang="zh-CN" sz="2400" dirty="0"/>
          </a:p>
          <a:p>
            <a:pPr lvl="1">
              <a:spcBef>
                <a:spcPts val="1800"/>
              </a:spcBef>
            </a:pPr>
            <a:r>
              <a:rPr lang="zh-CN" altLang="en-US" sz="2400" dirty="0"/>
              <a:t>变性概念、变性本质、变性后的理化性质改变。</a:t>
            </a:r>
            <a:endParaRPr lang="en-US" altLang="zh-CN" sz="2400" dirty="0"/>
          </a:p>
          <a:p>
            <a:pPr lvl="1">
              <a:spcBef>
                <a:spcPts val="1800"/>
              </a:spcBef>
            </a:pPr>
            <a:r>
              <a:rPr lang="zh-CN" altLang="en-US" sz="2400" dirty="0"/>
              <a:t>变性、沉淀、凝固的关系</a:t>
            </a:r>
            <a:endParaRPr lang="en-US" altLang="zh-CN" sz="2400" dirty="0"/>
          </a:p>
          <a:p>
            <a:pPr>
              <a:spcBef>
                <a:spcPts val="1800"/>
              </a:spcBef>
            </a:pPr>
            <a:r>
              <a:rPr lang="zh-CN" altLang="en-US" dirty="0"/>
              <a:t>熟悉： </a:t>
            </a:r>
            <a:endParaRPr lang="en-US" altLang="zh-CN" dirty="0"/>
          </a:p>
          <a:p>
            <a:pPr lvl="1">
              <a:spcBef>
                <a:spcPts val="1800"/>
              </a:spcBef>
            </a:pPr>
            <a:r>
              <a:rPr lang="zh-CN" altLang="en-US" sz="2400" dirty="0"/>
              <a:t>蛋白质复性</a:t>
            </a:r>
            <a:endParaRPr lang="en-US" altLang="zh-CN" sz="2400" dirty="0"/>
          </a:p>
          <a:p>
            <a:pPr lvl="1">
              <a:spcBef>
                <a:spcPts val="1800"/>
              </a:spcBef>
            </a:pPr>
            <a:r>
              <a:rPr lang="zh-CN" altLang="en-US" sz="2400" dirty="0"/>
              <a:t>变性因素、变性的应用</a:t>
            </a:r>
            <a:endParaRPr lang="en-US" altLang="zh-CN" sz="2400" dirty="0"/>
          </a:p>
          <a:p>
            <a:pPr>
              <a:spcBef>
                <a:spcPts val="1800"/>
              </a:spcBef>
            </a:pPr>
            <a:endParaRPr lang="zh-CN" altLang="en-US" dirty="0"/>
          </a:p>
          <a:p>
            <a:pPr>
              <a:spcBef>
                <a:spcPts val="1800"/>
              </a:spcBef>
            </a:pPr>
            <a:endParaRPr lang="en-US" altLang="zh-CN" dirty="0"/>
          </a:p>
        </p:txBody>
      </p:sp>
    </p:spTree>
  </p:cSld>
  <p:clrMapOvr>
    <a:masterClrMapping/>
  </p:clrMapOvr>
  <p:transition spd="slow">
    <p:circl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2" name="Rectangle 2">
            <a:extLst>
              <a:ext uri="{FF2B5EF4-FFF2-40B4-BE49-F238E27FC236}">
                <a16:creationId xmlns:a16="http://schemas.microsoft.com/office/drawing/2014/main" id="{4ADCB5B7-B47A-44A6-A50F-8F6774FA0E47}"/>
              </a:ext>
            </a:extLst>
          </p:cNvPr>
          <p:cNvSpPr>
            <a:spLocks noGrp="1" noChangeArrowheads="1"/>
          </p:cNvSpPr>
          <p:nvPr>
            <p:ph type="body" idx="1"/>
          </p:nvPr>
        </p:nvSpPr>
        <p:spPr>
          <a:xfrm>
            <a:off x="3648075" y="1341438"/>
            <a:ext cx="4895850" cy="4895850"/>
          </a:xfrm>
        </p:spPr>
        <p:txBody>
          <a:bodyPr/>
          <a:lstStyle/>
          <a:p>
            <a:pPr eaLnBrk="1" hangingPunct="1">
              <a:lnSpc>
                <a:spcPct val="120000"/>
              </a:lnSpc>
              <a:buFont typeface="Wingdings" panose="05000000000000000000" pitchFamily="2" charset="2"/>
              <a:buChar char="§"/>
            </a:pPr>
            <a:r>
              <a:rPr lang="zh-CN" altLang="en-US" sz="3200">
                <a:solidFill>
                  <a:srgbClr val="FF0000"/>
                </a:solidFill>
              </a:rPr>
              <a:t>具有氨基酸类似的性质</a:t>
            </a:r>
          </a:p>
          <a:p>
            <a:pPr lvl="1" eaLnBrk="1" hangingPunct="1">
              <a:lnSpc>
                <a:spcPct val="120000"/>
              </a:lnSpc>
              <a:buSzPct val="75000"/>
              <a:buFont typeface="Wingdings" panose="05000000000000000000" pitchFamily="2" charset="2"/>
              <a:buChar char="Ø"/>
            </a:pPr>
            <a:r>
              <a:rPr lang="zh-CN" altLang="en-US" b="1"/>
              <a:t>  两性电离</a:t>
            </a:r>
          </a:p>
          <a:p>
            <a:pPr lvl="1" eaLnBrk="1" hangingPunct="1">
              <a:lnSpc>
                <a:spcPct val="120000"/>
              </a:lnSpc>
              <a:buSzPct val="75000"/>
              <a:buFont typeface="Wingdings" panose="05000000000000000000" pitchFamily="2" charset="2"/>
              <a:buChar char="Ø"/>
            </a:pPr>
            <a:r>
              <a:rPr lang="zh-CN" altLang="en-US" b="1"/>
              <a:t>  紫外吸收性质</a:t>
            </a:r>
          </a:p>
          <a:p>
            <a:pPr lvl="1" eaLnBrk="1" hangingPunct="1">
              <a:lnSpc>
                <a:spcPct val="120000"/>
              </a:lnSpc>
              <a:buSzPct val="75000"/>
              <a:buFont typeface="Wingdings" panose="05000000000000000000" pitchFamily="2" charset="2"/>
              <a:buChar char="Ø"/>
            </a:pPr>
            <a:r>
              <a:rPr lang="zh-CN" altLang="en-US" b="1"/>
              <a:t>  呈色反应</a:t>
            </a:r>
          </a:p>
          <a:p>
            <a:pPr eaLnBrk="1" hangingPunct="1">
              <a:lnSpc>
                <a:spcPct val="120000"/>
              </a:lnSpc>
              <a:buFont typeface="Wingdings" panose="05000000000000000000" pitchFamily="2" charset="2"/>
              <a:buChar char="§"/>
            </a:pPr>
            <a:r>
              <a:rPr lang="zh-CN" altLang="en-US" sz="3200">
                <a:solidFill>
                  <a:srgbClr val="FF0000"/>
                </a:solidFill>
              </a:rPr>
              <a:t>具有生物大分子特性</a:t>
            </a:r>
            <a:r>
              <a:rPr lang="zh-CN" altLang="en-US">
                <a:solidFill>
                  <a:srgbClr val="FFFF66"/>
                </a:solidFill>
              </a:rPr>
              <a:t> </a:t>
            </a:r>
          </a:p>
          <a:p>
            <a:pPr lvl="1" eaLnBrk="1" hangingPunct="1">
              <a:lnSpc>
                <a:spcPct val="120000"/>
              </a:lnSpc>
              <a:buSzPct val="75000"/>
              <a:buFont typeface="Wingdings" panose="05000000000000000000" pitchFamily="2" charset="2"/>
              <a:buChar char="Ø"/>
            </a:pPr>
            <a:r>
              <a:rPr lang="zh-CN" altLang="en-US" b="1"/>
              <a:t>  胶体性质</a:t>
            </a:r>
          </a:p>
          <a:p>
            <a:pPr lvl="1" eaLnBrk="1" hangingPunct="1">
              <a:lnSpc>
                <a:spcPct val="120000"/>
              </a:lnSpc>
              <a:buSzPct val="75000"/>
              <a:buFont typeface="Wingdings" panose="05000000000000000000" pitchFamily="2" charset="2"/>
              <a:buChar char="Ø"/>
            </a:pPr>
            <a:r>
              <a:rPr lang="zh-CN" altLang="en-US" b="1"/>
              <a:t>  变性、沉淀、凝固等</a:t>
            </a:r>
          </a:p>
        </p:txBody>
      </p:sp>
      <p:sp>
        <p:nvSpPr>
          <p:cNvPr id="123907" name="Rectangle 3">
            <a:extLst>
              <a:ext uri="{FF2B5EF4-FFF2-40B4-BE49-F238E27FC236}">
                <a16:creationId xmlns:a16="http://schemas.microsoft.com/office/drawing/2014/main" id="{8112DE7D-2A58-4263-B582-69C93F493D2C}"/>
              </a:ext>
            </a:extLst>
          </p:cNvPr>
          <p:cNvSpPr>
            <a:spLocks noChangeArrowheads="1"/>
          </p:cNvSpPr>
          <p:nvPr/>
        </p:nvSpPr>
        <p:spPr bwMode="auto">
          <a:xfrm>
            <a:off x="3792538" y="188913"/>
            <a:ext cx="5040312"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4000" b="1">
                <a:solidFill>
                  <a:schemeClr val="bg1"/>
                </a:solidFill>
              </a:rPr>
              <a:t>蛋白质的理化性质</a:t>
            </a:r>
            <a:r>
              <a:rPr kumimoji="1" lang="zh-CN" altLang="en-US" sz="3600" b="1">
                <a:solidFill>
                  <a:srgbClr val="660066"/>
                </a:solidFill>
              </a:rPr>
              <a:t>   </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32162">
                                            <p:txEl>
                                              <p:pRg st="0" end="0"/>
                                            </p:txEl>
                                          </p:spTgt>
                                        </p:tgtEl>
                                        <p:attrNameLst>
                                          <p:attrName>style.visibility</p:attrName>
                                        </p:attrNameLst>
                                      </p:cBhvr>
                                      <p:to>
                                        <p:strVal val="visible"/>
                                      </p:to>
                                    </p:set>
                                    <p:animEffect transition="in" filter="dissolve">
                                      <p:cBhvr>
                                        <p:cTn id="7" dur="500"/>
                                        <p:tgtEl>
                                          <p:spTgt spid="7321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32162">
                                            <p:txEl>
                                              <p:pRg st="4" end="4"/>
                                            </p:txEl>
                                          </p:spTgt>
                                        </p:tgtEl>
                                        <p:attrNameLst>
                                          <p:attrName>style.visibility</p:attrName>
                                        </p:attrNameLst>
                                      </p:cBhvr>
                                      <p:to>
                                        <p:strVal val="visible"/>
                                      </p:to>
                                    </p:set>
                                    <p:animEffect transition="in" filter="dissolve">
                                      <p:cBhvr>
                                        <p:cTn id="12" dur="500"/>
                                        <p:tgtEl>
                                          <p:spTgt spid="732162">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732162">
                                            <p:txEl>
                                              <p:pRg st="1" end="1"/>
                                            </p:txEl>
                                          </p:spTgt>
                                        </p:tgtEl>
                                        <p:attrNameLst>
                                          <p:attrName>style.visibility</p:attrName>
                                        </p:attrNameLst>
                                      </p:cBhvr>
                                      <p:to>
                                        <p:strVal val="visible"/>
                                      </p:to>
                                    </p:set>
                                    <p:animEffect transition="in" filter="wipe(down)">
                                      <p:cBhvr>
                                        <p:cTn id="17" dur="500"/>
                                        <p:tgtEl>
                                          <p:spTgt spid="732162">
                                            <p:txEl>
                                              <p:pRg st="1" end="1"/>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732162">
                                            <p:txEl>
                                              <p:pRg st="2" end="2"/>
                                            </p:txEl>
                                          </p:spTgt>
                                        </p:tgtEl>
                                        <p:attrNameLst>
                                          <p:attrName>style.visibility</p:attrName>
                                        </p:attrNameLst>
                                      </p:cBhvr>
                                      <p:to>
                                        <p:strVal val="visible"/>
                                      </p:to>
                                    </p:set>
                                    <p:animEffect transition="in" filter="wipe(down)">
                                      <p:cBhvr>
                                        <p:cTn id="20" dur="500"/>
                                        <p:tgtEl>
                                          <p:spTgt spid="732162">
                                            <p:txEl>
                                              <p:pRg st="2" end="2"/>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732162">
                                            <p:txEl>
                                              <p:pRg st="3" end="3"/>
                                            </p:txEl>
                                          </p:spTgt>
                                        </p:tgtEl>
                                        <p:attrNameLst>
                                          <p:attrName>style.visibility</p:attrName>
                                        </p:attrNameLst>
                                      </p:cBhvr>
                                      <p:to>
                                        <p:strVal val="visible"/>
                                      </p:to>
                                    </p:set>
                                    <p:animEffect transition="in" filter="wipe(down)">
                                      <p:cBhvr>
                                        <p:cTn id="23" dur="500"/>
                                        <p:tgtEl>
                                          <p:spTgt spid="732162">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732162">
                                            <p:txEl>
                                              <p:pRg st="5" end="5"/>
                                            </p:txEl>
                                          </p:spTgt>
                                        </p:tgtEl>
                                        <p:attrNameLst>
                                          <p:attrName>style.visibility</p:attrName>
                                        </p:attrNameLst>
                                      </p:cBhvr>
                                      <p:to>
                                        <p:strVal val="visible"/>
                                      </p:to>
                                    </p:set>
                                    <p:animEffect transition="in" filter="wipe(down)">
                                      <p:cBhvr>
                                        <p:cTn id="28" dur="500"/>
                                        <p:tgtEl>
                                          <p:spTgt spid="732162">
                                            <p:txEl>
                                              <p:pRg st="5" end="5"/>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732162">
                                            <p:txEl>
                                              <p:pRg st="6" end="6"/>
                                            </p:txEl>
                                          </p:spTgt>
                                        </p:tgtEl>
                                        <p:attrNameLst>
                                          <p:attrName>style.visibility</p:attrName>
                                        </p:attrNameLst>
                                      </p:cBhvr>
                                      <p:to>
                                        <p:strVal val="visible"/>
                                      </p:to>
                                    </p:set>
                                    <p:animEffect transition="in" filter="wipe(down)">
                                      <p:cBhvr>
                                        <p:cTn id="31" dur="500"/>
                                        <p:tgtEl>
                                          <p:spTgt spid="73216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3">
            <a:extLst>
              <a:ext uri="{FF2B5EF4-FFF2-40B4-BE49-F238E27FC236}">
                <a16:creationId xmlns:a16="http://schemas.microsoft.com/office/drawing/2014/main" id="{3E934DE0-CCE8-4F11-A154-105797C3E6AF}"/>
              </a:ext>
            </a:extLst>
          </p:cNvPr>
          <p:cNvSpPr>
            <a:spLocks noChangeArrowheads="1"/>
          </p:cNvSpPr>
          <p:nvPr/>
        </p:nvSpPr>
        <p:spPr bwMode="auto">
          <a:xfrm>
            <a:off x="2208213" y="1268413"/>
            <a:ext cx="7848600"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714375">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30000"/>
              </a:lnSpc>
              <a:spcBef>
                <a:spcPct val="0"/>
              </a:spcBef>
              <a:buClrTx/>
              <a:buFontTx/>
              <a:buNone/>
            </a:pPr>
            <a:r>
              <a:rPr kumimoji="1" lang="zh-CN" altLang="en-US" dirty="0">
                <a:solidFill>
                  <a:schemeClr val="tx1"/>
                </a:solidFill>
              </a:rPr>
              <a:t>蛋白质分子除两端的氨基和羧基可解离外，氨基酸残基侧链中某些基团，在一定的溶液</a:t>
            </a:r>
            <a:r>
              <a:rPr kumimoji="1" lang="en-US" altLang="zh-CN" dirty="0">
                <a:solidFill>
                  <a:schemeClr val="tx1"/>
                </a:solidFill>
              </a:rPr>
              <a:t>pH</a:t>
            </a:r>
            <a:r>
              <a:rPr kumimoji="1" lang="zh-CN" altLang="en-US" dirty="0">
                <a:solidFill>
                  <a:schemeClr val="tx1"/>
                </a:solidFill>
              </a:rPr>
              <a:t>条件下都可解离成带负电荷或正电荷的基团。 </a:t>
            </a:r>
          </a:p>
        </p:txBody>
      </p:sp>
      <p:sp>
        <p:nvSpPr>
          <p:cNvPr id="733188" name="Rectangle 4">
            <a:extLst>
              <a:ext uri="{FF2B5EF4-FFF2-40B4-BE49-F238E27FC236}">
                <a16:creationId xmlns:a16="http://schemas.microsoft.com/office/drawing/2014/main" id="{EEDA9ABD-DCD4-478E-B3A6-254EFA033ED4}"/>
              </a:ext>
            </a:extLst>
          </p:cNvPr>
          <p:cNvSpPr>
            <a:spLocks noChangeArrowheads="1"/>
          </p:cNvSpPr>
          <p:nvPr/>
        </p:nvSpPr>
        <p:spPr bwMode="auto">
          <a:xfrm>
            <a:off x="2135188" y="3500439"/>
            <a:ext cx="7848600" cy="21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714375">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spcBef>
                <a:spcPct val="0"/>
              </a:spcBef>
              <a:buClrTx/>
              <a:buFontTx/>
              <a:buNone/>
            </a:pPr>
            <a:r>
              <a:rPr kumimoji="1" lang="en-US" altLang="zh-CN">
                <a:solidFill>
                  <a:srgbClr val="006600"/>
                </a:solidFill>
              </a:rPr>
              <a:t>* </a:t>
            </a:r>
            <a:r>
              <a:rPr kumimoji="1" lang="zh-CN" altLang="en-US">
                <a:solidFill>
                  <a:srgbClr val="FF0000"/>
                </a:solidFill>
              </a:rPr>
              <a:t>蛋白质的等电点</a:t>
            </a:r>
            <a:r>
              <a:rPr kumimoji="1" lang="en-US" altLang="zh-CN">
                <a:solidFill>
                  <a:srgbClr val="FF0000"/>
                </a:solidFill>
              </a:rPr>
              <a:t>( isoelectric point, pI)</a:t>
            </a:r>
            <a:r>
              <a:rPr kumimoji="1" lang="en-US" altLang="zh-CN">
                <a:solidFill>
                  <a:srgbClr val="993366"/>
                </a:solidFill>
              </a:rPr>
              <a:t> </a:t>
            </a:r>
          </a:p>
          <a:p>
            <a:pPr algn="just" eaLnBrk="1" hangingPunct="1">
              <a:lnSpc>
                <a:spcPct val="130000"/>
              </a:lnSpc>
              <a:spcBef>
                <a:spcPct val="0"/>
              </a:spcBef>
              <a:buClrTx/>
              <a:buFontTx/>
              <a:buNone/>
            </a:pPr>
            <a:r>
              <a:rPr kumimoji="1" lang="zh-CN" altLang="en-US">
                <a:solidFill>
                  <a:schemeClr val="tx1"/>
                </a:solidFill>
              </a:rPr>
              <a:t>当蛋白质溶液处于某一</a:t>
            </a:r>
            <a:r>
              <a:rPr kumimoji="1" lang="en-US" altLang="zh-CN">
                <a:solidFill>
                  <a:schemeClr val="tx1"/>
                </a:solidFill>
              </a:rPr>
              <a:t>pH</a:t>
            </a:r>
            <a:r>
              <a:rPr kumimoji="1" lang="zh-CN" altLang="en-US">
                <a:solidFill>
                  <a:schemeClr val="tx1"/>
                </a:solidFill>
              </a:rPr>
              <a:t>时，蛋白质解离成正、负离子的趋势相等，即成为兼性离子，</a:t>
            </a:r>
            <a:r>
              <a:rPr kumimoji="1" lang="zh-CN" altLang="en-US">
                <a:solidFill>
                  <a:srgbClr val="FF0000"/>
                </a:solidFill>
              </a:rPr>
              <a:t>净电荷为零</a:t>
            </a:r>
            <a:r>
              <a:rPr kumimoji="1" lang="zh-CN" altLang="en-US">
                <a:solidFill>
                  <a:schemeClr val="tx1"/>
                </a:solidFill>
              </a:rPr>
              <a:t>，此时溶液的</a:t>
            </a:r>
            <a:r>
              <a:rPr kumimoji="1" lang="en-US" altLang="zh-CN">
                <a:solidFill>
                  <a:schemeClr val="tx1"/>
                </a:solidFill>
              </a:rPr>
              <a:t>pH</a:t>
            </a:r>
            <a:r>
              <a:rPr kumimoji="1" lang="zh-CN" altLang="en-US">
                <a:solidFill>
                  <a:schemeClr val="tx1"/>
                </a:solidFill>
              </a:rPr>
              <a:t>称为蛋白质的等电点。</a:t>
            </a:r>
          </a:p>
        </p:txBody>
      </p:sp>
      <p:sp>
        <p:nvSpPr>
          <p:cNvPr id="3" name="标题 2">
            <a:extLst>
              <a:ext uri="{FF2B5EF4-FFF2-40B4-BE49-F238E27FC236}">
                <a16:creationId xmlns:a16="http://schemas.microsoft.com/office/drawing/2014/main" id="{EC6D34B2-7FD3-4F9C-9F8D-C37786F1D64D}"/>
              </a:ext>
            </a:extLst>
          </p:cNvPr>
          <p:cNvSpPr>
            <a:spLocks noGrp="1"/>
          </p:cNvSpPr>
          <p:nvPr>
            <p:ph type="title"/>
          </p:nvPr>
        </p:nvSpPr>
        <p:spPr>
          <a:xfrm>
            <a:off x="1703388" y="188913"/>
            <a:ext cx="6913562" cy="563562"/>
          </a:xfrm>
        </p:spPr>
        <p:txBody>
          <a:bodyPr/>
          <a:lstStyle/>
          <a:p>
            <a:pPr>
              <a:defRPr/>
            </a:pPr>
            <a:r>
              <a:rPr kumimoji="1" lang="zh-CN" altLang="en-US" sz="4000" dirty="0">
                <a:solidFill>
                  <a:schemeClr val="accent3"/>
                </a:solidFill>
              </a:rPr>
              <a:t>（一）蛋白质的两性电离   </a:t>
            </a:r>
            <a:endParaRPr lang="zh-CN" altLang="en-US" sz="4000" dirty="0">
              <a:solidFill>
                <a:schemeClr val="accent3"/>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33188"/>
                                        </p:tgtEl>
                                        <p:attrNameLst>
                                          <p:attrName>style.visibility</p:attrName>
                                        </p:attrNameLst>
                                      </p:cBhvr>
                                      <p:to>
                                        <p:strVal val="visible"/>
                                      </p:to>
                                    </p:set>
                                    <p:animEffect transition="in" filter="dissolve">
                                      <p:cBhvr>
                                        <p:cTn id="7" dur="500"/>
                                        <p:tgtEl>
                                          <p:spTgt spid="733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318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8002" name="Object 2">
            <a:extLst>
              <a:ext uri="{FF2B5EF4-FFF2-40B4-BE49-F238E27FC236}">
                <a16:creationId xmlns:a16="http://schemas.microsoft.com/office/drawing/2014/main" id="{4CD93687-87C8-49C1-88B9-41B68C5476BF}"/>
              </a:ext>
            </a:extLst>
          </p:cNvPr>
          <p:cNvGraphicFramePr>
            <a:graphicFrameLocks noGrp="1" noChangeAspect="1"/>
          </p:cNvGraphicFramePr>
          <p:nvPr>
            <p:ph sz="half" idx="4294967295"/>
          </p:nvPr>
        </p:nvGraphicFramePr>
        <p:xfrm>
          <a:off x="1524000" y="981075"/>
          <a:ext cx="9144000" cy="2141538"/>
        </p:xfrm>
        <a:graphic>
          <a:graphicData uri="http://schemas.openxmlformats.org/presentationml/2006/ole">
            <mc:AlternateContent xmlns:mc="http://schemas.openxmlformats.org/markup-compatibility/2006">
              <mc:Choice xmlns:v="urn:schemas-microsoft-com:vml" Requires="v">
                <p:oleObj name="CS ChemDraw Drawing" r:id="rId3" imgW="3700780" imgH="828040" progId="ChemDraw.Document.5.0">
                  <p:embed/>
                </p:oleObj>
              </mc:Choice>
              <mc:Fallback>
                <p:oleObj name="CS ChemDraw Drawing" r:id="rId3" imgW="3700780" imgH="828040" progId="ChemDraw.Document.5.0">
                  <p:embed/>
                  <p:pic>
                    <p:nvPicPr>
                      <p:cNvPr id="128002" name="Object 2">
                        <a:extLst>
                          <a:ext uri="{FF2B5EF4-FFF2-40B4-BE49-F238E27FC236}">
                            <a16:creationId xmlns:a16="http://schemas.microsoft.com/office/drawing/2014/main" id="{4CD93687-87C8-49C1-88B9-41B68C5476BF}"/>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981075"/>
                        <a:ext cx="9144000" cy="214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5245" name="Rectangle 13">
            <a:extLst>
              <a:ext uri="{FF2B5EF4-FFF2-40B4-BE49-F238E27FC236}">
                <a16:creationId xmlns:a16="http://schemas.microsoft.com/office/drawing/2014/main" id="{BA14CA8D-D40E-48F7-93A8-086C2FB0B56B}"/>
              </a:ext>
            </a:extLst>
          </p:cNvPr>
          <p:cNvSpPr>
            <a:spLocks noGrp="1" noChangeArrowheads="1"/>
          </p:cNvSpPr>
          <p:nvPr>
            <p:ph type="body" sz="half" idx="4294967295"/>
          </p:nvPr>
        </p:nvSpPr>
        <p:spPr>
          <a:xfrm>
            <a:off x="3127375" y="4797425"/>
            <a:ext cx="6840538" cy="1366838"/>
          </a:xfrm>
        </p:spPr>
        <p:txBody>
          <a:bodyPr/>
          <a:lstStyle/>
          <a:p>
            <a:pPr eaLnBrk="1" hangingPunct="1">
              <a:lnSpc>
                <a:spcPct val="130000"/>
              </a:lnSpc>
              <a:spcBef>
                <a:spcPct val="0"/>
              </a:spcBef>
              <a:buFont typeface="Wingdings" panose="05000000000000000000" pitchFamily="2" charset="2"/>
              <a:buNone/>
            </a:pPr>
            <a:r>
              <a:rPr lang="zh-CN" altLang="en-US">
                <a:solidFill>
                  <a:schemeClr val="tx1"/>
                </a:solidFill>
              </a:rPr>
              <a:t>人体蛋白质，大多 </a:t>
            </a:r>
            <a:r>
              <a:rPr lang="en-US" altLang="zh-CN">
                <a:solidFill>
                  <a:srgbClr val="FF0000"/>
                </a:solidFill>
              </a:rPr>
              <a:t>pI ≈ 5.0</a:t>
            </a:r>
          </a:p>
          <a:p>
            <a:pPr eaLnBrk="1" hangingPunct="1">
              <a:lnSpc>
                <a:spcPct val="130000"/>
              </a:lnSpc>
              <a:spcBef>
                <a:spcPct val="0"/>
              </a:spcBef>
              <a:buFont typeface="Wingdings" panose="05000000000000000000" pitchFamily="2" charset="2"/>
              <a:buNone/>
            </a:pPr>
            <a:r>
              <a:rPr lang="zh-CN" altLang="en-US">
                <a:solidFill>
                  <a:schemeClr val="tx1"/>
                </a:solidFill>
              </a:rPr>
              <a:t>在人体体液</a:t>
            </a:r>
            <a:r>
              <a:rPr lang="en-US" altLang="zh-CN">
                <a:solidFill>
                  <a:schemeClr val="tx1"/>
                </a:solidFill>
              </a:rPr>
              <a:t>pH7.4</a:t>
            </a:r>
            <a:r>
              <a:rPr lang="zh-CN" altLang="en-US">
                <a:solidFill>
                  <a:schemeClr val="tx1"/>
                </a:solidFill>
              </a:rPr>
              <a:t>的环境下，大多</a:t>
            </a:r>
            <a:r>
              <a:rPr lang="zh-CN" altLang="en-US">
                <a:solidFill>
                  <a:srgbClr val="FF0000"/>
                </a:solidFill>
              </a:rPr>
              <a:t>带负电荷</a:t>
            </a:r>
          </a:p>
        </p:txBody>
      </p:sp>
      <p:sp>
        <p:nvSpPr>
          <p:cNvPr id="128004" name="Rectangle 3">
            <a:extLst>
              <a:ext uri="{FF2B5EF4-FFF2-40B4-BE49-F238E27FC236}">
                <a16:creationId xmlns:a16="http://schemas.microsoft.com/office/drawing/2014/main" id="{F385B534-349B-4351-845F-5BB34C3A5AAA}"/>
              </a:ext>
            </a:extLst>
          </p:cNvPr>
          <p:cNvSpPr>
            <a:spLocks noChangeArrowheads="1"/>
          </p:cNvSpPr>
          <p:nvPr/>
        </p:nvSpPr>
        <p:spPr bwMode="auto">
          <a:xfrm>
            <a:off x="1703389" y="2205039"/>
            <a:ext cx="8713787" cy="1152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735236" name="Text Box 4">
            <a:extLst>
              <a:ext uri="{FF2B5EF4-FFF2-40B4-BE49-F238E27FC236}">
                <a16:creationId xmlns:a16="http://schemas.microsoft.com/office/drawing/2014/main" id="{296E2F9A-D884-4A96-98DC-B3FA68FC60EC}"/>
              </a:ext>
            </a:extLst>
          </p:cNvPr>
          <p:cNvSpPr txBox="1">
            <a:spLocks noChangeArrowheads="1"/>
          </p:cNvSpPr>
          <p:nvPr/>
        </p:nvSpPr>
        <p:spPr bwMode="auto">
          <a:xfrm>
            <a:off x="5365751" y="2930525"/>
            <a:ext cx="13573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a:solidFill>
                  <a:schemeClr val="tx1"/>
                </a:solidFill>
                <a:latin typeface="Tahoma" panose="020B0604030504040204" pitchFamily="34" charset="0"/>
                <a:ea typeface="隶书" panose="02010509060101010101" pitchFamily="49" charset="-122"/>
              </a:rPr>
              <a:t>pH=</a:t>
            </a:r>
            <a:r>
              <a:rPr kumimoji="1" lang="en-US" altLang="zh-CN" sz="3200">
                <a:solidFill>
                  <a:srgbClr val="FF0000"/>
                </a:solidFill>
                <a:latin typeface="Tahoma" panose="020B0604030504040204" pitchFamily="34" charset="0"/>
                <a:ea typeface="隶书" panose="02010509060101010101" pitchFamily="49" charset="-122"/>
              </a:rPr>
              <a:t>pI</a:t>
            </a:r>
          </a:p>
        </p:txBody>
      </p:sp>
      <p:sp>
        <p:nvSpPr>
          <p:cNvPr id="735237" name="Text Box 5">
            <a:extLst>
              <a:ext uri="{FF2B5EF4-FFF2-40B4-BE49-F238E27FC236}">
                <a16:creationId xmlns:a16="http://schemas.microsoft.com/office/drawing/2014/main" id="{30A1A712-96B4-469A-9AA6-0FD204FAD5C6}"/>
              </a:ext>
            </a:extLst>
          </p:cNvPr>
          <p:cNvSpPr txBox="1">
            <a:spLocks noChangeArrowheads="1"/>
          </p:cNvSpPr>
          <p:nvPr/>
        </p:nvSpPr>
        <p:spPr bwMode="auto">
          <a:xfrm>
            <a:off x="8610601" y="2919414"/>
            <a:ext cx="13573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a:solidFill>
                  <a:schemeClr val="tx1"/>
                </a:solidFill>
                <a:latin typeface="Tahoma" panose="020B0604030504040204" pitchFamily="34" charset="0"/>
                <a:ea typeface="隶书" panose="02010509060101010101" pitchFamily="49" charset="-122"/>
              </a:rPr>
              <a:t>pH&gt;</a:t>
            </a:r>
            <a:r>
              <a:rPr kumimoji="1" lang="en-US" altLang="zh-CN" sz="3200">
                <a:solidFill>
                  <a:srgbClr val="FF0000"/>
                </a:solidFill>
                <a:latin typeface="Tahoma" panose="020B0604030504040204" pitchFamily="34" charset="0"/>
                <a:ea typeface="隶书" panose="02010509060101010101" pitchFamily="49" charset="-122"/>
              </a:rPr>
              <a:t>pI</a:t>
            </a:r>
          </a:p>
        </p:txBody>
      </p:sp>
      <p:sp>
        <p:nvSpPr>
          <p:cNvPr id="735238" name="Text Box 6">
            <a:extLst>
              <a:ext uri="{FF2B5EF4-FFF2-40B4-BE49-F238E27FC236}">
                <a16:creationId xmlns:a16="http://schemas.microsoft.com/office/drawing/2014/main" id="{FF2196ED-D19D-4B80-8101-ACB93D807207}"/>
              </a:ext>
            </a:extLst>
          </p:cNvPr>
          <p:cNvSpPr txBox="1">
            <a:spLocks noChangeArrowheads="1"/>
          </p:cNvSpPr>
          <p:nvPr/>
        </p:nvSpPr>
        <p:spPr bwMode="auto">
          <a:xfrm>
            <a:off x="2317751" y="2930525"/>
            <a:ext cx="13573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a:solidFill>
                  <a:schemeClr val="tx1"/>
                </a:solidFill>
                <a:latin typeface="Tahoma" panose="020B0604030504040204" pitchFamily="34" charset="0"/>
                <a:ea typeface="隶书" panose="02010509060101010101" pitchFamily="49" charset="-122"/>
              </a:rPr>
              <a:t>pH&lt;</a:t>
            </a:r>
            <a:r>
              <a:rPr kumimoji="1" lang="en-US" altLang="zh-CN" sz="3200">
                <a:solidFill>
                  <a:srgbClr val="FF0000"/>
                </a:solidFill>
                <a:latin typeface="Tahoma" panose="020B0604030504040204" pitchFamily="34" charset="0"/>
                <a:ea typeface="隶书" panose="02010509060101010101" pitchFamily="49" charset="-122"/>
              </a:rPr>
              <a:t>pI</a:t>
            </a:r>
          </a:p>
        </p:txBody>
      </p:sp>
      <p:sp>
        <p:nvSpPr>
          <p:cNvPr id="735239" name="Text Box 7">
            <a:extLst>
              <a:ext uri="{FF2B5EF4-FFF2-40B4-BE49-F238E27FC236}">
                <a16:creationId xmlns:a16="http://schemas.microsoft.com/office/drawing/2014/main" id="{7041C478-CFC5-41F2-AE4D-AE99A2F11EC0}"/>
              </a:ext>
            </a:extLst>
          </p:cNvPr>
          <p:cNvSpPr txBox="1">
            <a:spLocks noChangeArrowheads="1"/>
          </p:cNvSpPr>
          <p:nvPr/>
        </p:nvSpPr>
        <p:spPr bwMode="auto">
          <a:xfrm>
            <a:off x="4943475" y="3573463"/>
            <a:ext cx="220980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50000"/>
              </a:spcBef>
              <a:buClrTx/>
              <a:buFontTx/>
              <a:buNone/>
            </a:pPr>
            <a:r>
              <a:rPr kumimoji="1" lang="zh-CN" altLang="en-US">
                <a:solidFill>
                  <a:schemeClr val="tx1"/>
                </a:solidFill>
                <a:latin typeface="Arial" panose="020B0604020202020204" pitchFamily="34" charset="0"/>
              </a:rPr>
              <a:t>兼性离子</a:t>
            </a:r>
            <a:r>
              <a:rPr kumimoji="1" lang="zh-CN" altLang="en-US">
                <a:solidFill>
                  <a:schemeClr val="tx1"/>
                </a:solidFill>
                <a:latin typeface="Arial" panose="020B0604020202020204" pitchFamily="34" charset="0"/>
                <a:ea typeface="华文楷体" panose="02010600040101010101" pitchFamily="2" charset="-122"/>
              </a:rPr>
              <a:t> </a:t>
            </a:r>
          </a:p>
        </p:txBody>
      </p:sp>
      <p:sp>
        <p:nvSpPr>
          <p:cNvPr id="735240" name="AutoShape 8">
            <a:extLst>
              <a:ext uri="{FF2B5EF4-FFF2-40B4-BE49-F238E27FC236}">
                <a16:creationId xmlns:a16="http://schemas.microsoft.com/office/drawing/2014/main" id="{494265F3-FF2C-4B09-8271-B53CB6001F79}"/>
              </a:ext>
            </a:extLst>
          </p:cNvPr>
          <p:cNvSpPr>
            <a:spLocks noChangeArrowheads="1"/>
          </p:cNvSpPr>
          <p:nvPr/>
        </p:nvSpPr>
        <p:spPr bwMode="auto">
          <a:xfrm>
            <a:off x="3575051" y="1557339"/>
            <a:ext cx="1368425" cy="936625"/>
          </a:xfrm>
          <a:prstGeom prst="leftArrow">
            <a:avLst>
              <a:gd name="adj1" fmla="val 50000"/>
              <a:gd name="adj2" fmla="val 36525"/>
            </a:avLst>
          </a:prstGeom>
          <a:solidFill>
            <a:srgbClr val="00FFFF">
              <a:alpha val="38039"/>
            </a:srgbClr>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735241" name="Oval 9">
            <a:extLst>
              <a:ext uri="{FF2B5EF4-FFF2-40B4-BE49-F238E27FC236}">
                <a16:creationId xmlns:a16="http://schemas.microsoft.com/office/drawing/2014/main" id="{B24628F4-2E04-4EBE-8B06-BB8FD8B33B07}"/>
              </a:ext>
            </a:extLst>
          </p:cNvPr>
          <p:cNvSpPr>
            <a:spLocks noChangeArrowheads="1"/>
          </p:cNvSpPr>
          <p:nvPr/>
        </p:nvSpPr>
        <p:spPr bwMode="auto">
          <a:xfrm>
            <a:off x="5087938" y="908051"/>
            <a:ext cx="2089150" cy="1439863"/>
          </a:xfrm>
          <a:prstGeom prst="ellipse">
            <a:avLst/>
          </a:prstGeom>
          <a:solidFill>
            <a:srgbClr val="FF00FF">
              <a:alpha val="25882"/>
            </a:srgbClr>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735242" name="Oval 10">
            <a:extLst>
              <a:ext uri="{FF2B5EF4-FFF2-40B4-BE49-F238E27FC236}">
                <a16:creationId xmlns:a16="http://schemas.microsoft.com/office/drawing/2014/main" id="{D71209F6-4DB1-4CDB-9154-97AA88D5DA41}"/>
              </a:ext>
            </a:extLst>
          </p:cNvPr>
          <p:cNvSpPr>
            <a:spLocks noChangeArrowheads="1"/>
          </p:cNvSpPr>
          <p:nvPr/>
        </p:nvSpPr>
        <p:spPr bwMode="auto">
          <a:xfrm>
            <a:off x="1597025" y="908050"/>
            <a:ext cx="2051050" cy="1511300"/>
          </a:xfrm>
          <a:prstGeom prst="ellipse">
            <a:avLst/>
          </a:prstGeom>
          <a:solidFill>
            <a:srgbClr val="00FF00">
              <a:alpha val="25882"/>
            </a:srgbClr>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735243" name="AutoShape 11">
            <a:extLst>
              <a:ext uri="{FF2B5EF4-FFF2-40B4-BE49-F238E27FC236}">
                <a16:creationId xmlns:a16="http://schemas.microsoft.com/office/drawing/2014/main" id="{D77A9A7C-9424-4E97-B287-ED3D670D4ECA}"/>
              </a:ext>
            </a:extLst>
          </p:cNvPr>
          <p:cNvSpPr>
            <a:spLocks noChangeArrowheads="1"/>
          </p:cNvSpPr>
          <p:nvPr/>
        </p:nvSpPr>
        <p:spPr bwMode="auto">
          <a:xfrm>
            <a:off x="7319963" y="981075"/>
            <a:ext cx="1441450" cy="863600"/>
          </a:xfrm>
          <a:prstGeom prst="rightArrow">
            <a:avLst>
              <a:gd name="adj1" fmla="val 50000"/>
              <a:gd name="adj2" fmla="val 41728"/>
            </a:avLst>
          </a:prstGeom>
          <a:solidFill>
            <a:srgbClr val="FF0000">
              <a:alpha val="20000"/>
            </a:srgbClr>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735244" name="Oval 12">
            <a:extLst>
              <a:ext uri="{FF2B5EF4-FFF2-40B4-BE49-F238E27FC236}">
                <a16:creationId xmlns:a16="http://schemas.microsoft.com/office/drawing/2014/main" id="{1E207DF6-65A6-4156-97D5-76A49379F46F}"/>
              </a:ext>
            </a:extLst>
          </p:cNvPr>
          <p:cNvSpPr>
            <a:spLocks noChangeArrowheads="1"/>
          </p:cNvSpPr>
          <p:nvPr/>
        </p:nvSpPr>
        <p:spPr bwMode="auto">
          <a:xfrm>
            <a:off x="8796338" y="981075"/>
            <a:ext cx="1979612" cy="1512888"/>
          </a:xfrm>
          <a:prstGeom prst="ellipse">
            <a:avLst/>
          </a:prstGeom>
          <a:solidFill>
            <a:srgbClr val="FFFF00">
              <a:alpha val="25882"/>
            </a:srgbClr>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735236"/>
                                        </p:tgtEl>
                                        <p:attrNameLst>
                                          <p:attrName>style.visibility</p:attrName>
                                        </p:attrNameLst>
                                      </p:cBhvr>
                                      <p:to>
                                        <p:strVal val="visible"/>
                                      </p:to>
                                    </p:set>
                                    <p:anim calcmode="lin" valueType="num">
                                      <p:cBhvr>
                                        <p:cTn id="7" dur="1000" fill="hold"/>
                                        <p:tgtEl>
                                          <p:spTgt spid="735236"/>
                                        </p:tgtEl>
                                        <p:attrNameLst>
                                          <p:attrName>ppt_x</p:attrName>
                                        </p:attrNameLst>
                                      </p:cBhvr>
                                      <p:tavLst>
                                        <p:tav tm="0">
                                          <p:val>
                                            <p:strVal val="#ppt_x-.2"/>
                                          </p:val>
                                        </p:tav>
                                        <p:tav tm="100000">
                                          <p:val>
                                            <p:strVal val="#ppt_x"/>
                                          </p:val>
                                        </p:tav>
                                      </p:tavLst>
                                    </p:anim>
                                    <p:anim calcmode="lin" valueType="num">
                                      <p:cBhvr>
                                        <p:cTn id="8" dur="1000" fill="hold"/>
                                        <p:tgtEl>
                                          <p:spTgt spid="735236"/>
                                        </p:tgtEl>
                                        <p:attrNameLst>
                                          <p:attrName>ppt_y</p:attrName>
                                        </p:attrNameLst>
                                      </p:cBhvr>
                                      <p:tavLst>
                                        <p:tav tm="0">
                                          <p:val>
                                            <p:strVal val="#ppt_y"/>
                                          </p:val>
                                        </p:tav>
                                        <p:tav tm="100000">
                                          <p:val>
                                            <p:strVal val="#ppt_y"/>
                                          </p:val>
                                        </p:tav>
                                      </p:tavLst>
                                    </p:anim>
                                    <p:animEffect transition="in" filter="wipe(right)" prLst="gradientSize: 0.1">
                                      <p:cBhvr>
                                        <p:cTn id="9" dur="1000"/>
                                        <p:tgtEl>
                                          <p:spTgt spid="735236"/>
                                        </p:tgtEl>
                                      </p:cBhvr>
                                    </p:animEffect>
                                  </p:childTnLst>
                                </p:cTn>
                              </p:par>
                              <p:par>
                                <p:cTn id="10" presetID="21" presetClass="entr" presetSubtype="4" fill="hold" grpId="0" nodeType="withEffect">
                                  <p:stCondLst>
                                    <p:cond delay="0"/>
                                  </p:stCondLst>
                                  <p:childTnLst>
                                    <p:set>
                                      <p:cBhvr>
                                        <p:cTn id="11" dur="1" fill="hold">
                                          <p:stCondLst>
                                            <p:cond delay="0"/>
                                          </p:stCondLst>
                                        </p:cTn>
                                        <p:tgtEl>
                                          <p:spTgt spid="735241"/>
                                        </p:tgtEl>
                                        <p:attrNameLst>
                                          <p:attrName>style.visibility</p:attrName>
                                        </p:attrNameLst>
                                      </p:cBhvr>
                                      <p:to>
                                        <p:strVal val="visible"/>
                                      </p:to>
                                    </p:set>
                                    <p:animEffect transition="in" filter="wheel(4)">
                                      <p:cBhvr>
                                        <p:cTn id="12" dur="2000"/>
                                        <p:tgtEl>
                                          <p:spTgt spid="735241"/>
                                        </p:tgtEl>
                                      </p:cBhvr>
                                    </p:animEffect>
                                  </p:childTnLst>
                                </p:cTn>
                              </p:par>
                              <p:par>
                                <p:cTn id="13" presetID="29" presetClass="entr" presetSubtype="0" fill="hold" grpId="0" nodeType="withEffect">
                                  <p:stCondLst>
                                    <p:cond delay="0"/>
                                  </p:stCondLst>
                                  <p:childTnLst>
                                    <p:set>
                                      <p:cBhvr>
                                        <p:cTn id="14" dur="1" fill="hold">
                                          <p:stCondLst>
                                            <p:cond delay="0"/>
                                          </p:stCondLst>
                                        </p:cTn>
                                        <p:tgtEl>
                                          <p:spTgt spid="735239"/>
                                        </p:tgtEl>
                                        <p:attrNameLst>
                                          <p:attrName>style.visibility</p:attrName>
                                        </p:attrNameLst>
                                      </p:cBhvr>
                                      <p:to>
                                        <p:strVal val="visible"/>
                                      </p:to>
                                    </p:set>
                                    <p:anim calcmode="lin" valueType="num">
                                      <p:cBhvr>
                                        <p:cTn id="15" dur="1000" fill="hold"/>
                                        <p:tgtEl>
                                          <p:spTgt spid="735239"/>
                                        </p:tgtEl>
                                        <p:attrNameLst>
                                          <p:attrName>ppt_x</p:attrName>
                                        </p:attrNameLst>
                                      </p:cBhvr>
                                      <p:tavLst>
                                        <p:tav tm="0">
                                          <p:val>
                                            <p:strVal val="#ppt_x-.2"/>
                                          </p:val>
                                        </p:tav>
                                        <p:tav tm="100000">
                                          <p:val>
                                            <p:strVal val="#ppt_x"/>
                                          </p:val>
                                        </p:tav>
                                      </p:tavLst>
                                    </p:anim>
                                    <p:anim calcmode="lin" valueType="num">
                                      <p:cBhvr>
                                        <p:cTn id="16" dur="1000" fill="hold"/>
                                        <p:tgtEl>
                                          <p:spTgt spid="735239"/>
                                        </p:tgtEl>
                                        <p:attrNameLst>
                                          <p:attrName>ppt_y</p:attrName>
                                        </p:attrNameLst>
                                      </p:cBhvr>
                                      <p:tavLst>
                                        <p:tav tm="0">
                                          <p:val>
                                            <p:strVal val="#ppt_y"/>
                                          </p:val>
                                        </p:tav>
                                        <p:tav tm="100000">
                                          <p:val>
                                            <p:strVal val="#ppt_y"/>
                                          </p:val>
                                        </p:tav>
                                      </p:tavLst>
                                    </p:anim>
                                    <p:animEffect transition="in" filter="wipe(right)" prLst="gradientSize: 0.1">
                                      <p:cBhvr>
                                        <p:cTn id="17" dur="1000"/>
                                        <p:tgtEl>
                                          <p:spTgt spid="7352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9" presetClass="entr" presetSubtype="0" fill="hold" grpId="0" nodeType="clickEffect">
                                  <p:stCondLst>
                                    <p:cond delay="0"/>
                                  </p:stCondLst>
                                  <p:childTnLst>
                                    <p:set>
                                      <p:cBhvr>
                                        <p:cTn id="21" dur="1" fill="hold">
                                          <p:stCondLst>
                                            <p:cond delay="0"/>
                                          </p:stCondLst>
                                        </p:cTn>
                                        <p:tgtEl>
                                          <p:spTgt spid="735238"/>
                                        </p:tgtEl>
                                        <p:attrNameLst>
                                          <p:attrName>style.visibility</p:attrName>
                                        </p:attrNameLst>
                                      </p:cBhvr>
                                      <p:to>
                                        <p:strVal val="visible"/>
                                      </p:to>
                                    </p:set>
                                    <p:anim calcmode="lin" valueType="num">
                                      <p:cBhvr>
                                        <p:cTn id="22" dur="1000" fill="hold"/>
                                        <p:tgtEl>
                                          <p:spTgt spid="735238"/>
                                        </p:tgtEl>
                                        <p:attrNameLst>
                                          <p:attrName>ppt_x</p:attrName>
                                        </p:attrNameLst>
                                      </p:cBhvr>
                                      <p:tavLst>
                                        <p:tav tm="0">
                                          <p:val>
                                            <p:strVal val="#ppt_x-.2"/>
                                          </p:val>
                                        </p:tav>
                                        <p:tav tm="100000">
                                          <p:val>
                                            <p:strVal val="#ppt_x"/>
                                          </p:val>
                                        </p:tav>
                                      </p:tavLst>
                                    </p:anim>
                                    <p:anim calcmode="lin" valueType="num">
                                      <p:cBhvr>
                                        <p:cTn id="23" dur="1000" fill="hold"/>
                                        <p:tgtEl>
                                          <p:spTgt spid="735238"/>
                                        </p:tgtEl>
                                        <p:attrNameLst>
                                          <p:attrName>ppt_y</p:attrName>
                                        </p:attrNameLst>
                                      </p:cBhvr>
                                      <p:tavLst>
                                        <p:tav tm="0">
                                          <p:val>
                                            <p:strVal val="#ppt_y"/>
                                          </p:val>
                                        </p:tav>
                                        <p:tav tm="100000">
                                          <p:val>
                                            <p:strVal val="#ppt_y"/>
                                          </p:val>
                                        </p:tav>
                                      </p:tavLst>
                                    </p:anim>
                                    <p:animEffect transition="in" filter="wipe(right)" prLst="gradientSize: 0.1">
                                      <p:cBhvr>
                                        <p:cTn id="24" dur="1000"/>
                                        <p:tgtEl>
                                          <p:spTgt spid="735238"/>
                                        </p:tgtEl>
                                      </p:cBhvr>
                                    </p:animEffect>
                                  </p:childTnLst>
                                </p:cTn>
                              </p:par>
                              <p:par>
                                <p:cTn id="25" presetID="2" presetClass="entr" presetSubtype="2" fill="hold" grpId="0" nodeType="withEffect">
                                  <p:stCondLst>
                                    <p:cond delay="0"/>
                                  </p:stCondLst>
                                  <p:childTnLst>
                                    <p:set>
                                      <p:cBhvr>
                                        <p:cTn id="26" dur="1" fill="hold">
                                          <p:stCondLst>
                                            <p:cond delay="0"/>
                                          </p:stCondLst>
                                        </p:cTn>
                                        <p:tgtEl>
                                          <p:spTgt spid="735240"/>
                                        </p:tgtEl>
                                        <p:attrNameLst>
                                          <p:attrName>style.visibility</p:attrName>
                                        </p:attrNameLst>
                                      </p:cBhvr>
                                      <p:to>
                                        <p:strVal val="visible"/>
                                      </p:to>
                                    </p:set>
                                    <p:anim calcmode="lin" valueType="num">
                                      <p:cBhvr additive="base">
                                        <p:cTn id="27" dur="500" fill="hold"/>
                                        <p:tgtEl>
                                          <p:spTgt spid="735240"/>
                                        </p:tgtEl>
                                        <p:attrNameLst>
                                          <p:attrName>ppt_x</p:attrName>
                                        </p:attrNameLst>
                                      </p:cBhvr>
                                      <p:tavLst>
                                        <p:tav tm="0">
                                          <p:val>
                                            <p:strVal val="1+#ppt_w/2"/>
                                          </p:val>
                                        </p:tav>
                                        <p:tav tm="100000">
                                          <p:val>
                                            <p:strVal val="#ppt_x"/>
                                          </p:val>
                                        </p:tav>
                                      </p:tavLst>
                                    </p:anim>
                                    <p:anim calcmode="lin" valueType="num">
                                      <p:cBhvr additive="base">
                                        <p:cTn id="28" dur="500" fill="hold"/>
                                        <p:tgtEl>
                                          <p:spTgt spid="735240"/>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735240"/>
                                        </p:tgtEl>
                                        <p:attrNameLst>
                                          <p:attrName>style.visibility</p:attrName>
                                        </p:attrNameLst>
                                      </p:cBhvr>
                                      <p:to>
                                        <p:strVal val="hidden"/>
                                      </p:to>
                                    </p:set>
                                  </p:subTnLst>
                                </p:cTn>
                              </p:par>
                              <p:par>
                                <p:cTn id="29" presetID="21" presetClass="entr" presetSubtype="4" fill="hold" grpId="0" nodeType="withEffect">
                                  <p:stCondLst>
                                    <p:cond delay="0"/>
                                  </p:stCondLst>
                                  <p:childTnLst>
                                    <p:set>
                                      <p:cBhvr>
                                        <p:cTn id="30" dur="1" fill="hold">
                                          <p:stCondLst>
                                            <p:cond delay="0"/>
                                          </p:stCondLst>
                                        </p:cTn>
                                        <p:tgtEl>
                                          <p:spTgt spid="735242"/>
                                        </p:tgtEl>
                                        <p:attrNameLst>
                                          <p:attrName>style.visibility</p:attrName>
                                        </p:attrNameLst>
                                      </p:cBhvr>
                                      <p:to>
                                        <p:strVal val="visible"/>
                                      </p:to>
                                    </p:set>
                                    <p:animEffect transition="in" filter="wheel(4)">
                                      <p:cBhvr>
                                        <p:cTn id="31" dur="500"/>
                                        <p:tgtEl>
                                          <p:spTgt spid="735242"/>
                                        </p:tgtEl>
                                      </p:cBhvr>
                                    </p:animEffect>
                                  </p:childTnLst>
                                  <p:subTnLst>
                                    <p:set>
                                      <p:cBhvr override="childStyle">
                                        <p:cTn dur="1" fill="hold" display="0" masterRel="nextClick" afterEffect="1"/>
                                        <p:tgtEl>
                                          <p:spTgt spid="735242"/>
                                        </p:tgtEl>
                                        <p:attrNameLst>
                                          <p:attrName>style.visibility</p:attrName>
                                        </p:attrNameLst>
                                      </p:cBhvr>
                                      <p:to>
                                        <p:strVal val="hidden"/>
                                      </p:to>
                                    </p:set>
                                  </p:sub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735237"/>
                                        </p:tgtEl>
                                        <p:attrNameLst>
                                          <p:attrName>style.visibility</p:attrName>
                                        </p:attrNameLst>
                                      </p:cBhvr>
                                      <p:to>
                                        <p:strVal val="visible"/>
                                      </p:to>
                                    </p:set>
                                    <p:anim calcmode="lin" valueType="num">
                                      <p:cBhvr additive="base">
                                        <p:cTn id="36" dur="500" fill="hold"/>
                                        <p:tgtEl>
                                          <p:spTgt spid="735237"/>
                                        </p:tgtEl>
                                        <p:attrNameLst>
                                          <p:attrName>ppt_x</p:attrName>
                                        </p:attrNameLst>
                                      </p:cBhvr>
                                      <p:tavLst>
                                        <p:tav tm="0">
                                          <p:val>
                                            <p:strVal val="#ppt_x"/>
                                          </p:val>
                                        </p:tav>
                                        <p:tav tm="100000">
                                          <p:val>
                                            <p:strVal val="#ppt_x"/>
                                          </p:val>
                                        </p:tav>
                                      </p:tavLst>
                                    </p:anim>
                                    <p:anim calcmode="lin" valueType="num">
                                      <p:cBhvr additive="base">
                                        <p:cTn id="37" dur="500" fill="hold"/>
                                        <p:tgtEl>
                                          <p:spTgt spid="735237"/>
                                        </p:tgtEl>
                                        <p:attrNameLst>
                                          <p:attrName>ppt_y</p:attrName>
                                        </p:attrNameLst>
                                      </p:cBhvr>
                                      <p:tavLst>
                                        <p:tav tm="0">
                                          <p:val>
                                            <p:strVal val="1+#ppt_h/2"/>
                                          </p:val>
                                        </p:tav>
                                        <p:tav tm="100000">
                                          <p:val>
                                            <p:strVal val="#ppt_y"/>
                                          </p:val>
                                        </p:tav>
                                      </p:tavLst>
                                    </p:anim>
                                  </p:childTnLst>
                                </p:cTn>
                              </p:par>
                              <p:par>
                                <p:cTn id="38" presetID="21" presetClass="entr" presetSubtype="4" fill="hold" grpId="0" nodeType="withEffect">
                                  <p:stCondLst>
                                    <p:cond delay="0"/>
                                  </p:stCondLst>
                                  <p:childTnLst>
                                    <p:set>
                                      <p:cBhvr>
                                        <p:cTn id="39" dur="1" fill="hold">
                                          <p:stCondLst>
                                            <p:cond delay="0"/>
                                          </p:stCondLst>
                                        </p:cTn>
                                        <p:tgtEl>
                                          <p:spTgt spid="735244"/>
                                        </p:tgtEl>
                                        <p:attrNameLst>
                                          <p:attrName>style.visibility</p:attrName>
                                        </p:attrNameLst>
                                      </p:cBhvr>
                                      <p:to>
                                        <p:strVal val="visible"/>
                                      </p:to>
                                    </p:set>
                                    <p:animEffect transition="in" filter="wheel(4)">
                                      <p:cBhvr>
                                        <p:cTn id="40" dur="500"/>
                                        <p:tgtEl>
                                          <p:spTgt spid="735244"/>
                                        </p:tgtEl>
                                      </p:cBhvr>
                                    </p:animEffect>
                                  </p:childTnLst>
                                </p:cTn>
                              </p:par>
                              <p:par>
                                <p:cTn id="41" presetID="2" presetClass="entr" presetSubtype="8" fill="hold" grpId="0" nodeType="withEffect">
                                  <p:stCondLst>
                                    <p:cond delay="0"/>
                                  </p:stCondLst>
                                  <p:childTnLst>
                                    <p:set>
                                      <p:cBhvr>
                                        <p:cTn id="42" dur="1" fill="hold">
                                          <p:stCondLst>
                                            <p:cond delay="0"/>
                                          </p:stCondLst>
                                        </p:cTn>
                                        <p:tgtEl>
                                          <p:spTgt spid="735243"/>
                                        </p:tgtEl>
                                        <p:attrNameLst>
                                          <p:attrName>style.visibility</p:attrName>
                                        </p:attrNameLst>
                                      </p:cBhvr>
                                      <p:to>
                                        <p:strVal val="visible"/>
                                      </p:to>
                                    </p:set>
                                    <p:anim calcmode="lin" valueType="num">
                                      <p:cBhvr additive="base">
                                        <p:cTn id="43" dur="500" fill="hold"/>
                                        <p:tgtEl>
                                          <p:spTgt spid="735243"/>
                                        </p:tgtEl>
                                        <p:attrNameLst>
                                          <p:attrName>ppt_x</p:attrName>
                                        </p:attrNameLst>
                                      </p:cBhvr>
                                      <p:tavLst>
                                        <p:tav tm="0">
                                          <p:val>
                                            <p:strVal val="0-#ppt_w/2"/>
                                          </p:val>
                                        </p:tav>
                                        <p:tav tm="100000">
                                          <p:val>
                                            <p:strVal val="#ppt_x"/>
                                          </p:val>
                                        </p:tav>
                                      </p:tavLst>
                                    </p:anim>
                                    <p:anim calcmode="lin" valueType="num">
                                      <p:cBhvr additive="base">
                                        <p:cTn id="44" dur="500" fill="hold"/>
                                        <p:tgtEl>
                                          <p:spTgt spid="735243"/>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55" presetClass="entr" presetSubtype="0" fill="hold" grpId="0" nodeType="clickEffect">
                                  <p:stCondLst>
                                    <p:cond delay="0"/>
                                  </p:stCondLst>
                                  <p:childTnLst>
                                    <p:set>
                                      <p:cBhvr>
                                        <p:cTn id="48" dur="1" fill="hold">
                                          <p:stCondLst>
                                            <p:cond delay="0"/>
                                          </p:stCondLst>
                                        </p:cTn>
                                        <p:tgtEl>
                                          <p:spTgt spid="735245">
                                            <p:txEl>
                                              <p:pRg st="0" end="0"/>
                                            </p:txEl>
                                          </p:spTgt>
                                        </p:tgtEl>
                                        <p:attrNameLst>
                                          <p:attrName>style.visibility</p:attrName>
                                        </p:attrNameLst>
                                      </p:cBhvr>
                                      <p:to>
                                        <p:strVal val="visible"/>
                                      </p:to>
                                    </p:set>
                                    <p:anim calcmode="lin" valueType="num">
                                      <p:cBhvr>
                                        <p:cTn id="49" dur="1000" fill="hold"/>
                                        <p:tgtEl>
                                          <p:spTgt spid="735245">
                                            <p:txEl>
                                              <p:pRg st="0" end="0"/>
                                            </p:txEl>
                                          </p:spTgt>
                                        </p:tgtEl>
                                        <p:attrNameLst>
                                          <p:attrName>ppt_w</p:attrName>
                                        </p:attrNameLst>
                                      </p:cBhvr>
                                      <p:tavLst>
                                        <p:tav tm="0">
                                          <p:val>
                                            <p:strVal val="#ppt_w*0.70"/>
                                          </p:val>
                                        </p:tav>
                                        <p:tav tm="100000">
                                          <p:val>
                                            <p:strVal val="#ppt_w"/>
                                          </p:val>
                                        </p:tav>
                                      </p:tavLst>
                                    </p:anim>
                                    <p:anim calcmode="lin" valueType="num">
                                      <p:cBhvr>
                                        <p:cTn id="50" dur="1000" fill="hold"/>
                                        <p:tgtEl>
                                          <p:spTgt spid="735245">
                                            <p:txEl>
                                              <p:pRg st="0" end="0"/>
                                            </p:txEl>
                                          </p:spTgt>
                                        </p:tgtEl>
                                        <p:attrNameLst>
                                          <p:attrName>ppt_h</p:attrName>
                                        </p:attrNameLst>
                                      </p:cBhvr>
                                      <p:tavLst>
                                        <p:tav tm="0">
                                          <p:val>
                                            <p:strVal val="#ppt_h"/>
                                          </p:val>
                                        </p:tav>
                                        <p:tav tm="100000">
                                          <p:val>
                                            <p:strVal val="#ppt_h"/>
                                          </p:val>
                                        </p:tav>
                                      </p:tavLst>
                                    </p:anim>
                                    <p:animEffect transition="in" filter="fade">
                                      <p:cBhvr>
                                        <p:cTn id="51" dur="1000"/>
                                        <p:tgtEl>
                                          <p:spTgt spid="735245">
                                            <p:txEl>
                                              <p:pRg st="0" end="0"/>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5" presetClass="entr" presetSubtype="0" fill="hold" grpId="0" nodeType="clickEffect">
                                  <p:stCondLst>
                                    <p:cond delay="0"/>
                                  </p:stCondLst>
                                  <p:childTnLst>
                                    <p:set>
                                      <p:cBhvr>
                                        <p:cTn id="55" dur="1" fill="hold">
                                          <p:stCondLst>
                                            <p:cond delay="0"/>
                                          </p:stCondLst>
                                        </p:cTn>
                                        <p:tgtEl>
                                          <p:spTgt spid="735245">
                                            <p:txEl>
                                              <p:pRg st="1" end="1"/>
                                            </p:txEl>
                                          </p:spTgt>
                                        </p:tgtEl>
                                        <p:attrNameLst>
                                          <p:attrName>style.visibility</p:attrName>
                                        </p:attrNameLst>
                                      </p:cBhvr>
                                      <p:to>
                                        <p:strVal val="visible"/>
                                      </p:to>
                                    </p:set>
                                    <p:anim calcmode="lin" valueType="num">
                                      <p:cBhvr>
                                        <p:cTn id="56" dur="1000" fill="hold"/>
                                        <p:tgtEl>
                                          <p:spTgt spid="735245">
                                            <p:txEl>
                                              <p:pRg st="1" end="1"/>
                                            </p:txEl>
                                          </p:spTgt>
                                        </p:tgtEl>
                                        <p:attrNameLst>
                                          <p:attrName>ppt_w</p:attrName>
                                        </p:attrNameLst>
                                      </p:cBhvr>
                                      <p:tavLst>
                                        <p:tav tm="0">
                                          <p:val>
                                            <p:strVal val="#ppt_w*0.70"/>
                                          </p:val>
                                        </p:tav>
                                        <p:tav tm="100000">
                                          <p:val>
                                            <p:strVal val="#ppt_w"/>
                                          </p:val>
                                        </p:tav>
                                      </p:tavLst>
                                    </p:anim>
                                    <p:anim calcmode="lin" valueType="num">
                                      <p:cBhvr>
                                        <p:cTn id="57" dur="1000" fill="hold"/>
                                        <p:tgtEl>
                                          <p:spTgt spid="735245">
                                            <p:txEl>
                                              <p:pRg st="1" end="1"/>
                                            </p:txEl>
                                          </p:spTgt>
                                        </p:tgtEl>
                                        <p:attrNameLst>
                                          <p:attrName>ppt_h</p:attrName>
                                        </p:attrNameLst>
                                      </p:cBhvr>
                                      <p:tavLst>
                                        <p:tav tm="0">
                                          <p:val>
                                            <p:strVal val="#ppt_h"/>
                                          </p:val>
                                        </p:tav>
                                        <p:tav tm="100000">
                                          <p:val>
                                            <p:strVal val="#ppt_h"/>
                                          </p:val>
                                        </p:tav>
                                      </p:tavLst>
                                    </p:anim>
                                    <p:animEffect transition="in" filter="fade">
                                      <p:cBhvr>
                                        <p:cTn id="58" dur="1000"/>
                                        <p:tgtEl>
                                          <p:spTgt spid="73524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5245" grpId="0" build="p"/>
      <p:bldP spid="735236" grpId="0"/>
      <p:bldP spid="735237" grpId="0"/>
      <p:bldP spid="735238" grpId="0"/>
      <p:bldP spid="735239" grpId="0"/>
      <p:bldP spid="735240" grpId="0" animBg="1"/>
      <p:bldP spid="735241" grpId="0" animBg="1"/>
      <p:bldP spid="735242" grpId="0" animBg="1"/>
      <p:bldP spid="735243" grpId="0" animBg="1"/>
      <p:bldP spid="73524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3">
            <a:extLst>
              <a:ext uri="{FF2B5EF4-FFF2-40B4-BE49-F238E27FC236}">
                <a16:creationId xmlns:a16="http://schemas.microsoft.com/office/drawing/2014/main" id="{60333965-6EFC-45F3-8E1A-C5FF71E12D61}"/>
              </a:ext>
            </a:extLst>
          </p:cNvPr>
          <p:cNvSpPr>
            <a:spLocks noChangeArrowheads="1"/>
          </p:cNvSpPr>
          <p:nvPr/>
        </p:nvSpPr>
        <p:spPr bwMode="auto">
          <a:xfrm>
            <a:off x="2279650" y="1916114"/>
            <a:ext cx="7729538"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714375">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50000"/>
              </a:lnSpc>
              <a:spcBef>
                <a:spcPct val="0"/>
              </a:spcBef>
              <a:buClrTx/>
              <a:buFontTx/>
              <a:buNone/>
            </a:pPr>
            <a:r>
              <a:rPr kumimoji="1" lang="zh-CN" altLang="en-US" dirty="0">
                <a:solidFill>
                  <a:schemeClr val="tx1"/>
                </a:solidFill>
              </a:rPr>
              <a:t>由于蛋白质分子中含有共轭双键的</a:t>
            </a:r>
            <a:r>
              <a:rPr kumimoji="1" lang="zh-CN" altLang="en-US" dirty="0">
                <a:solidFill>
                  <a:schemeClr val="tx1">
                    <a:lumMod val="60000"/>
                    <a:lumOff val="40000"/>
                  </a:schemeClr>
                </a:solidFill>
              </a:rPr>
              <a:t>色氨酸</a:t>
            </a:r>
            <a:r>
              <a:rPr kumimoji="1" lang="zh-CN" altLang="en-US" dirty="0">
                <a:solidFill>
                  <a:schemeClr val="tx1"/>
                </a:solidFill>
              </a:rPr>
              <a:t>和</a:t>
            </a:r>
            <a:r>
              <a:rPr kumimoji="1" lang="zh-CN" altLang="en-US" dirty="0">
                <a:solidFill>
                  <a:schemeClr val="tx1">
                    <a:lumMod val="60000"/>
                    <a:lumOff val="40000"/>
                  </a:schemeClr>
                </a:solidFill>
              </a:rPr>
              <a:t>酪氨酸</a:t>
            </a:r>
            <a:r>
              <a:rPr kumimoji="1" lang="zh-CN" altLang="en-US" dirty="0">
                <a:solidFill>
                  <a:schemeClr val="tx1"/>
                </a:solidFill>
              </a:rPr>
              <a:t>，因此在</a:t>
            </a:r>
            <a:r>
              <a:rPr kumimoji="1" lang="en-US" altLang="zh-CN" dirty="0">
                <a:solidFill>
                  <a:srgbClr val="FF0000"/>
                </a:solidFill>
              </a:rPr>
              <a:t>280nm</a:t>
            </a:r>
            <a:r>
              <a:rPr kumimoji="1" lang="zh-CN" altLang="en-US" dirty="0">
                <a:solidFill>
                  <a:schemeClr val="tx1"/>
                </a:solidFill>
              </a:rPr>
              <a:t>波长处有特征性吸收峰。蛋白质的</a:t>
            </a:r>
            <a:r>
              <a:rPr kumimoji="1" lang="en-US" altLang="zh-CN" dirty="0">
                <a:solidFill>
                  <a:schemeClr val="tx1"/>
                </a:solidFill>
              </a:rPr>
              <a:t>OD</a:t>
            </a:r>
            <a:r>
              <a:rPr kumimoji="1" lang="en-US" altLang="zh-CN" baseline="-25000" dirty="0">
                <a:solidFill>
                  <a:schemeClr val="tx1"/>
                </a:solidFill>
              </a:rPr>
              <a:t>280</a:t>
            </a:r>
            <a:r>
              <a:rPr kumimoji="1" lang="zh-CN" altLang="en-US" dirty="0">
                <a:solidFill>
                  <a:schemeClr val="tx1"/>
                </a:solidFill>
              </a:rPr>
              <a:t>与其浓度呈正比关系，因此可作</a:t>
            </a:r>
            <a:r>
              <a:rPr kumimoji="1" lang="zh-CN" altLang="en-US" dirty="0">
                <a:solidFill>
                  <a:srgbClr val="FF0000"/>
                </a:solidFill>
              </a:rPr>
              <a:t>蛋白质定量测定</a:t>
            </a:r>
            <a:r>
              <a:rPr kumimoji="1" lang="zh-CN" altLang="en-US" dirty="0">
                <a:solidFill>
                  <a:schemeClr val="tx1"/>
                </a:solidFill>
              </a:rPr>
              <a:t>。</a:t>
            </a:r>
          </a:p>
        </p:txBody>
      </p:sp>
      <p:sp>
        <p:nvSpPr>
          <p:cNvPr id="2" name="标题 1">
            <a:extLst>
              <a:ext uri="{FF2B5EF4-FFF2-40B4-BE49-F238E27FC236}">
                <a16:creationId xmlns:a16="http://schemas.microsoft.com/office/drawing/2014/main" id="{254D2802-E651-4F70-9D07-B466B9446033}"/>
              </a:ext>
            </a:extLst>
          </p:cNvPr>
          <p:cNvSpPr>
            <a:spLocks noGrp="1"/>
          </p:cNvSpPr>
          <p:nvPr>
            <p:ph type="title"/>
          </p:nvPr>
        </p:nvSpPr>
        <p:spPr>
          <a:xfrm>
            <a:off x="1703388" y="188913"/>
            <a:ext cx="6985000" cy="563562"/>
          </a:xfrm>
        </p:spPr>
        <p:txBody>
          <a:bodyPr/>
          <a:lstStyle/>
          <a:p>
            <a:pPr>
              <a:defRPr/>
            </a:pPr>
            <a:r>
              <a:rPr kumimoji="1" lang="zh-CN" altLang="en-US" sz="4000" dirty="0">
                <a:solidFill>
                  <a:schemeClr val="accent3"/>
                </a:solidFill>
              </a:rPr>
              <a:t>（二）蛋白质的紫外吸收</a:t>
            </a:r>
            <a:endParaRPr lang="zh-CN" altLang="en-US" sz="4000" dirty="0">
              <a:solidFill>
                <a:schemeClr val="accent3"/>
              </a:solidFill>
            </a:endParaRPr>
          </a:p>
        </p:txBody>
      </p:sp>
    </p:spTree>
  </p:cSld>
  <p:clrMapOvr>
    <a:masterClrMapping/>
  </p:clrMapOvr>
  <p:transition spd="slow">
    <p:circl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3">
            <a:extLst>
              <a:ext uri="{FF2B5EF4-FFF2-40B4-BE49-F238E27FC236}">
                <a16:creationId xmlns:a16="http://schemas.microsoft.com/office/drawing/2014/main" id="{D2232625-04E6-4B95-A9C1-DC55ACB6E3BA}"/>
              </a:ext>
            </a:extLst>
          </p:cNvPr>
          <p:cNvSpPr>
            <a:spLocks noChangeArrowheads="1"/>
          </p:cNvSpPr>
          <p:nvPr/>
        </p:nvSpPr>
        <p:spPr bwMode="auto">
          <a:xfrm>
            <a:off x="2136775" y="1339850"/>
            <a:ext cx="7994650" cy="169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179388" indent="720725">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dirty="0">
                <a:solidFill>
                  <a:srgbClr val="FF0000"/>
                </a:solidFill>
              </a:rPr>
              <a:t>⒈</a:t>
            </a:r>
            <a:r>
              <a:rPr kumimoji="1" lang="zh-CN" altLang="en-US" sz="3200" dirty="0">
                <a:solidFill>
                  <a:srgbClr val="FF0000"/>
                </a:solidFill>
              </a:rPr>
              <a:t>茚三酮反应</a:t>
            </a:r>
            <a:r>
              <a:rPr kumimoji="1" lang="en-US" altLang="zh-CN" sz="3200" dirty="0">
                <a:solidFill>
                  <a:srgbClr val="FF0000"/>
                </a:solidFill>
              </a:rPr>
              <a:t>(ninhydrin reaction)</a:t>
            </a:r>
            <a:r>
              <a:rPr kumimoji="1" lang="en-US" altLang="zh-CN" sz="2400" dirty="0">
                <a:solidFill>
                  <a:srgbClr val="006600"/>
                </a:solidFill>
              </a:rPr>
              <a:t>  </a:t>
            </a:r>
          </a:p>
          <a:p>
            <a:pPr lvl="1" eaLnBrk="1" hangingPunct="1">
              <a:lnSpc>
                <a:spcPct val="130000"/>
              </a:lnSpc>
              <a:spcBef>
                <a:spcPct val="0"/>
              </a:spcBef>
              <a:buClrTx/>
              <a:buFontTx/>
              <a:buNone/>
            </a:pPr>
            <a:r>
              <a:rPr kumimoji="1" lang="zh-CN" altLang="en-US" dirty="0">
                <a:solidFill>
                  <a:schemeClr val="tx1"/>
                </a:solidFill>
              </a:rPr>
              <a:t>蛋白质经水解后产生的氨基酸也可发生茚三酮反应。 </a:t>
            </a:r>
          </a:p>
        </p:txBody>
      </p:sp>
      <p:sp>
        <p:nvSpPr>
          <p:cNvPr id="738308" name="Rectangle 4">
            <a:extLst>
              <a:ext uri="{FF2B5EF4-FFF2-40B4-BE49-F238E27FC236}">
                <a16:creationId xmlns:a16="http://schemas.microsoft.com/office/drawing/2014/main" id="{EE98AE63-25CB-41D9-8C6F-A0F6DB4059CD}"/>
              </a:ext>
            </a:extLst>
          </p:cNvPr>
          <p:cNvSpPr>
            <a:spLocks noChangeArrowheads="1"/>
          </p:cNvSpPr>
          <p:nvPr/>
        </p:nvSpPr>
        <p:spPr bwMode="auto">
          <a:xfrm>
            <a:off x="2138363" y="3429001"/>
            <a:ext cx="7993062"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179388" indent="720725">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dirty="0">
                <a:solidFill>
                  <a:srgbClr val="FF0000"/>
                </a:solidFill>
              </a:rPr>
              <a:t>⒉</a:t>
            </a:r>
            <a:r>
              <a:rPr kumimoji="1" lang="zh-CN" altLang="en-US" sz="3200" dirty="0">
                <a:solidFill>
                  <a:srgbClr val="FF0000"/>
                </a:solidFill>
              </a:rPr>
              <a:t>双缩脲反应</a:t>
            </a:r>
            <a:r>
              <a:rPr kumimoji="1" lang="en-US" altLang="zh-CN" sz="3200" dirty="0">
                <a:solidFill>
                  <a:srgbClr val="FF0000"/>
                </a:solidFill>
              </a:rPr>
              <a:t>(biuret reaction)</a:t>
            </a:r>
            <a:endParaRPr kumimoji="1" lang="en-US" altLang="zh-CN" sz="2400" dirty="0">
              <a:solidFill>
                <a:srgbClr val="FF0000"/>
              </a:solidFill>
            </a:endParaRPr>
          </a:p>
          <a:p>
            <a:pPr lvl="1" eaLnBrk="1" hangingPunct="1">
              <a:lnSpc>
                <a:spcPct val="130000"/>
              </a:lnSpc>
              <a:spcBef>
                <a:spcPct val="0"/>
              </a:spcBef>
              <a:buClrTx/>
              <a:buFontTx/>
              <a:buNone/>
            </a:pPr>
            <a:r>
              <a:rPr kumimoji="1" lang="zh-CN" altLang="en-US" dirty="0">
                <a:solidFill>
                  <a:schemeClr val="tx1"/>
                </a:solidFill>
              </a:rPr>
              <a:t>蛋白质和多肽分子中</a:t>
            </a:r>
            <a:r>
              <a:rPr kumimoji="1" lang="zh-CN" altLang="en-US" dirty="0">
                <a:solidFill>
                  <a:srgbClr val="FF0000"/>
                </a:solidFill>
              </a:rPr>
              <a:t>肽键</a:t>
            </a:r>
            <a:r>
              <a:rPr kumimoji="1" lang="zh-CN" altLang="en-US" dirty="0">
                <a:solidFill>
                  <a:schemeClr val="tx1"/>
                </a:solidFill>
              </a:rPr>
              <a:t>在稀碱溶液中与</a:t>
            </a:r>
            <a:r>
              <a:rPr kumimoji="1" lang="zh-CN" altLang="en-US" dirty="0">
                <a:solidFill>
                  <a:srgbClr val="C00000"/>
                </a:solidFill>
              </a:rPr>
              <a:t>硫酸铜共热</a:t>
            </a:r>
            <a:r>
              <a:rPr kumimoji="1" lang="zh-CN" altLang="en-US" dirty="0">
                <a:solidFill>
                  <a:schemeClr val="tx1"/>
                </a:solidFill>
              </a:rPr>
              <a:t>，</a:t>
            </a:r>
            <a:r>
              <a:rPr lang="zh-CN" altLang="en-US" dirty="0">
                <a:solidFill>
                  <a:schemeClr val="tx1"/>
                </a:solidFill>
              </a:rPr>
              <a:t>生成</a:t>
            </a:r>
            <a:r>
              <a:rPr lang="zh-CN" altLang="en-US" dirty="0">
                <a:solidFill>
                  <a:srgbClr val="F218E2"/>
                </a:solidFill>
              </a:rPr>
              <a:t>紫红色的蛋白质</a:t>
            </a:r>
            <a:r>
              <a:rPr lang="en-US" altLang="zh-CN" dirty="0">
                <a:solidFill>
                  <a:srgbClr val="F218E2"/>
                </a:solidFill>
              </a:rPr>
              <a:t>-Cu</a:t>
            </a:r>
            <a:r>
              <a:rPr lang="en-US" altLang="zh-CN" baseline="30000" dirty="0">
                <a:solidFill>
                  <a:srgbClr val="F218E2"/>
                </a:solidFill>
              </a:rPr>
              <a:t>2+</a:t>
            </a:r>
            <a:r>
              <a:rPr lang="zh-CN" altLang="en-US" dirty="0">
                <a:solidFill>
                  <a:srgbClr val="F218E2"/>
                </a:solidFill>
              </a:rPr>
              <a:t>复合物</a:t>
            </a:r>
            <a:r>
              <a:rPr kumimoji="1" lang="zh-CN" altLang="en-US" dirty="0">
                <a:solidFill>
                  <a:schemeClr val="tx1"/>
                </a:solidFill>
              </a:rPr>
              <a:t>，此反应称为双缩脲反应。</a:t>
            </a:r>
          </a:p>
        </p:txBody>
      </p:sp>
      <p:sp>
        <p:nvSpPr>
          <p:cNvPr id="2" name="标题 1">
            <a:extLst>
              <a:ext uri="{FF2B5EF4-FFF2-40B4-BE49-F238E27FC236}">
                <a16:creationId xmlns:a16="http://schemas.microsoft.com/office/drawing/2014/main" id="{A04ABEFE-7271-4175-89C7-B3FCDD5B0B6D}"/>
              </a:ext>
            </a:extLst>
          </p:cNvPr>
          <p:cNvSpPr>
            <a:spLocks noGrp="1"/>
          </p:cNvSpPr>
          <p:nvPr>
            <p:ph type="title"/>
          </p:nvPr>
        </p:nvSpPr>
        <p:spPr>
          <a:xfrm>
            <a:off x="1703388" y="188913"/>
            <a:ext cx="6913562" cy="563562"/>
          </a:xfrm>
        </p:spPr>
        <p:txBody>
          <a:bodyPr/>
          <a:lstStyle/>
          <a:p>
            <a:pPr>
              <a:defRPr/>
            </a:pPr>
            <a:r>
              <a:rPr kumimoji="1" lang="zh-CN" altLang="en-US" sz="4000" dirty="0">
                <a:solidFill>
                  <a:schemeClr val="accent3"/>
                </a:solidFill>
              </a:rPr>
              <a:t>（三）蛋白质的呈色反应</a:t>
            </a:r>
            <a:endParaRPr lang="zh-CN" altLang="en-US" sz="4000" dirty="0">
              <a:solidFill>
                <a:schemeClr val="accent3"/>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38308"/>
                                        </p:tgtEl>
                                        <p:attrNameLst>
                                          <p:attrName>style.visibility</p:attrName>
                                        </p:attrNameLst>
                                      </p:cBhvr>
                                      <p:to>
                                        <p:strVal val="visible"/>
                                      </p:to>
                                    </p:set>
                                    <p:animEffect transition="in" filter="dissolve">
                                      <p:cBhvr>
                                        <p:cTn id="7" dur="500"/>
                                        <p:tgtEl>
                                          <p:spTgt spid="738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30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2" name="Rectangle 4">
            <a:extLst>
              <a:ext uri="{FF2B5EF4-FFF2-40B4-BE49-F238E27FC236}">
                <a16:creationId xmlns:a16="http://schemas.microsoft.com/office/drawing/2014/main" id="{F4C79851-6FC6-4602-997C-927A8FF46637}"/>
              </a:ext>
            </a:extLst>
          </p:cNvPr>
          <p:cNvSpPr>
            <a:spLocks noChangeArrowheads="1"/>
          </p:cNvSpPr>
          <p:nvPr/>
        </p:nvSpPr>
        <p:spPr bwMode="auto">
          <a:xfrm>
            <a:off x="2135189" y="2106614"/>
            <a:ext cx="7966075" cy="293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40000"/>
              </a:lnSpc>
              <a:spcBef>
                <a:spcPct val="0"/>
              </a:spcBef>
              <a:buClrTx/>
              <a:buFontTx/>
              <a:buNone/>
            </a:pPr>
            <a:r>
              <a:rPr lang="en-US" altLang="zh-CN" dirty="0">
                <a:solidFill>
                  <a:schemeClr val="tx1"/>
                </a:solidFill>
              </a:rPr>
              <a:t>        </a:t>
            </a:r>
            <a:r>
              <a:rPr lang="zh-CN" altLang="en-US" dirty="0">
                <a:solidFill>
                  <a:schemeClr val="tx1"/>
                </a:solidFill>
              </a:rPr>
              <a:t>在双缩脲反应的基础上，生成的蛋白质</a:t>
            </a:r>
            <a:r>
              <a:rPr lang="en-US" altLang="zh-CN" dirty="0">
                <a:solidFill>
                  <a:schemeClr val="tx1"/>
                </a:solidFill>
              </a:rPr>
              <a:t>-Cu</a:t>
            </a:r>
            <a:r>
              <a:rPr lang="en-US" altLang="zh-CN" baseline="30000" dirty="0">
                <a:solidFill>
                  <a:schemeClr val="tx1"/>
                </a:solidFill>
              </a:rPr>
              <a:t>2+</a:t>
            </a:r>
            <a:r>
              <a:rPr lang="zh-CN" altLang="en-US" dirty="0">
                <a:solidFill>
                  <a:schemeClr val="tx1"/>
                </a:solidFill>
              </a:rPr>
              <a:t>复合物中所含的</a:t>
            </a:r>
            <a:r>
              <a:rPr lang="zh-CN" altLang="en-US" dirty="0">
                <a:solidFill>
                  <a:srgbClr val="C00000"/>
                </a:solidFill>
              </a:rPr>
              <a:t>酪氨酸酚基</a:t>
            </a:r>
            <a:r>
              <a:rPr lang="zh-CN" altLang="en-US" dirty="0">
                <a:solidFill>
                  <a:schemeClr val="tx1"/>
                </a:solidFill>
              </a:rPr>
              <a:t>与</a:t>
            </a:r>
            <a:r>
              <a:rPr lang="en-US" altLang="zh-CN" dirty="0">
                <a:solidFill>
                  <a:srgbClr val="C00000"/>
                </a:solidFill>
              </a:rPr>
              <a:t>Folin-</a:t>
            </a:r>
            <a:r>
              <a:rPr lang="zh-CN" altLang="en-US" dirty="0">
                <a:solidFill>
                  <a:srgbClr val="C00000"/>
                </a:solidFill>
              </a:rPr>
              <a:t>酚试剂</a:t>
            </a:r>
            <a:r>
              <a:rPr lang="en-US" altLang="zh-CN" dirty="0">
                <a:solidFill>
                  <a:schemeClr val="tx1"/>
                </a:solidFill>
              </a:rPr>
              <a:t>(</a:t>
            </a:r>
            <a:r>
              <a:rPr lang="zh-CN" altLang="en-US" dirty="0">
                <a:solidFill>
                  <a:schemeClr val="tx1"/>
                </a:solidFill>
              </a:rPr>
              <a:t>磷钼酸和磷钨酸化合物</a:t>
            </a:r>
            <a:r>
              <a:rPr lang="en-US" altLang="zh-CN" dirty="0">
                <a:solidFill>
                  <a:schemeClr val="tx1"/>
                </a:solidFill>
              </a:rPr>
              <a:t>)</a:t>
            </a:r>
            <a:r>
              <a:rPr lang="zh-CN" altLang="en-US" dirty="0">
                <a:solidFill>
                  <a:schemeClr val="tx1"/>
                </a:solidFill>
              </a:rPr>
              <a:t>反应，生产</a:t>
            </a:r>
            <a:r>
              <a:rPr lang="zh-CN" altLang="en-US" dirty="0">
                <a:solidFill>
                  <a:srgbClr val="C00000"/>
                </a:solidFill>
              </a:rPr>
              <a:t>蓝色的化合物</a:t>
            </a:r>
            <a:r>
              <a:rPr lang="en-US" altLang="zh-CN" dirty="0">
                <a:solidFill>
                  <a:schemeClr val="tx1"/>
                </a:solidFill>
              </a:rPr>
              <a:t>(</a:t>
            </a:r>
            <a:r>
              <a:rPr lang="zh-CN" altLang="en-US" dirty="0">
                <a:solidFill>
                  <a:schemeClr val="tx1"/>
                </a:solidFill>
              </a:rPr>
              <a:t>钼蓝和钨蓝的混合物</a:t>
            </a:r>
            <a:r>
              <a:rPr lang="en-US" altLang="zh-CN" dirty="0">
                <a:solidFill>
                  <a:schemeClr val="tx1"/>
                </a:solidFill>
              </a:rPr>
              <a:t>)</a:t>
            </a:r>
            <a:r>
              <a:rPr lang="zh-CN" altLang="en-US" dirty="0">
                <a:solidFill>
                  <a:schemeClr val="tx1"/>
                </a:solidFill>
              </a:rPr>
              <a:t>。 蓝色的深浅与蛋白质含量成正比</a:t>
            </a:r>
          </a:p>
          <a:p>
            <a:pPr eaLnBrk="1" hangingPunct="1">
              <a:spcBef>
                <a:spcPct val="0"/>
              </a:spcBef>
              <a:buClrTx/>
              <a:buFontTx/>
              <a:buNone/>
            </a:pPr>
            <a:endParaRPr lang="en-US" altLang="zh-CN" dirty="0">
              <a:solidFill>
                <a:schemeClr val="tx1"/>
              </a:solidFill>
            </a:endParaRPr>
          </a:p>
        </p:txBody>
      </p:sp>
      <p:sp>
        <p:nvSpPr>
          <p:cNvPr id="134148" name="Rectangle 5">
            <a:extLst>
              <a:ext uri="{FF2B5EF4-FFF2-40B4-BE49-F238E27FC236}">
                <a16:creationId xmlns:a16="http://schemas.microsoft.com/office/drawing/2014/main" id="{2215BB91-96ED-4EC0-849A-55D66EEF3758}"/>
              </a:ext>
            </a:extLst>
          </p:cNvPr>
          <p:cNvSpPr>
            <a:spLocks noChangeArrowheads="1"/>
          </p:cNvSpPr>
          <p:nvPr/>
        </p:nvSpPr>
        <p:spPr bwMode="auto">
          <a:xfrm>
            <a:off x="2135189" y="1125538"/>
            <a:ext cx="36147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a:solidFill>
                  <a:srgbClr val="FF0000"/>
                </a:solidFill>
              </a:rPr>
              <a:t>3. Folin </a:t>
            </a:r>
            <a:r>
              <a:rPr kumimoji="1" lang="zh-CN" altLang="en-US" sz="3200">
                <a:solidFill>
                  <a:srgbClr val="FF0000"/>
                </a:solidFill>
              </a:rPr>
              <a:t>酚试剂反应</a:t>
            </a:r>
            <a:endParaRPr lang="en-US" altLang="zh-CN" sz="3200">
              <a:solidFill>
                <a:srgbClr val="FF0000"/>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4932"/>
                                        </p:tgtEl>
                                        <p:attrNameLst>
                                          <p:attrName>style.visibility</p:attrName>
                                        </p:attrNameLst>
                                      </p:cBhvr>
                                      <p:to>
                                        <p:strVal val="visible"/>
                                      </p:to>
                                    </p:set>
                                    <p:animEffect transition="in" filter="dissolve">
                                      <p:cBhvr>
                                        <p:cTn id="7" dur="500"/>
                                        <p:tgtEl>
                                          <p:spTgt spid="764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32" grpId="0"/>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0354" name="Rectangle 2">
            <a:extLst>
              <a:ext uri="{FF2B5EF4-FFF2-40B4-BE49-F238E27FC236}">
                <a16:creationId xmlns:a16="http://schemas.microsoft.com/office/drawing/2014/main" id="{E628033E-5D19-430B-BF7E-5F0A46E805FB}"/>
              </a:ext>
            </a:extLst>
          </p:cNvPr>
          <p:cNvSpPr>
            <a:spLocks noGrp="1" noChangeArrowheads="1"/>
          </p:cNvSpPr>
          <p:nvPr>
            <p:ph type="body" idx="1"/>
          </p:nvPr>
        </p:nvSpPr>
        <p:spPr>
          <a:xfrm>
            <a:off x="1127448" y="1340768"/>
            <a:ext cx="9937104" cy="4751857"/>
          </a:xfrm>
          <a:solidFill>
            <a:schemeClr val="tx1"/>
          </a:solidFill>
        </p:spPr>
        <p:txBody>
          <a:bodyPr/>
          <a:lstStyle/>
          <a:p>
            <a:pPr eaLnBrk="1" hangingPunct="1">
              <a:lnSpc>
                <a:spcPct val="120000"/>
              </a:lnSpc>
              <a:buFont typeface="Wingdings" panose="05000000000000000000" pitchFamily="2" charset="2"/>
              <a:buNone/>
            </a:pPr>
            <a:r>
              <a:rPr lang="en-US" altLang="zh-CN" sz="2000" dirty="0"/>
              <a:t>  </a:t>
            </a:r>
            <a:r>
              <a:rPr lang="zh-CN" altLang="en-US" sz="2000" dirty="0">
                <a:solidFill>
                  <a:schemeClr val="bg1"/>
                </a:solidFill>
              </a:rPr>
              <a:t>反应                           试剂                       颜色              反应基团       反应的</a:t>
            </a:r>
            <a:r>
              <a:rPr lang="en-US" altLang="zh-CN" sz="2000" dirty="0" err="1">
                <a:solidFill>
                  <a:schemeClr val="bg1"/>
                </a:solidFill>
              </a:rPr>
              <a:t>Pr</a:t>
            </a:r>
            <a:r>
              <a:rPr lang="zh-CN" altLang="en-US" sz="2000" dirty="0">
                <a:solidFill>
                  <a:schemeClr val="bg1"/>
                </a:solidFill>
              </a:rPr>
              <a:t>及</a:t>
            </a:r>
            <a:r>
              <a:rPr lang="en-US" altLang="zh-CN" sz="2000" dirty="0">
                <a:solidFill>
                  <a:schemeClr val="bg1"/>
                </a:solidFill>
              </a:rPr>
              <a:t>AA</a:t>
            </a:r>
            <a:endParaRPr lang="en-US" altLang="zh-CN" sz="2000" u="sng" dirty="0">
              <a:solidFill>
                <a:schemeClr val="bg1"/>
              </a:solidFill>
            </a:endParaRPr>
          </a:p>
          <a:p>
            <a:pPr eaLnBrk="1" hangingPunct="1">
              <a:lnSpc>
                <a:spcPct val="160000"/>
              </a:lnSpc>
              <a:buFont typeface="Wingdings" panose="05000000000000000000" pitchFamily="2" charset="2"/>
              <a:buNone/>
            </a:pPr>
            <a:r>
              <a:rPr lang="zh-CN" altLang="en-US" sz="2000" u="sng" dirty="0">
                <a:solidFill>
                  <a:srgbClr val="00FF00"/>
                </a:solidFill>
              </a:rPr>
              <a:t>双缩脲反应</a:t>
            </a:r>
            <a:r>
              <a:rPr lang="zh-CN" altLang="en-US" sz="2000" u="sng" dirty="0"/>
              <a:t>         </a:t>
            </a:r>
            <a:r>
              <a:rPr lang="en-US" altLang="zh-CN" sz="2000" u="sng" dirty="0">
                <a:solidFill>
                  <a:srgbClr val="FFFF00"/>
                </a:solidFill>
              </a:rPr>
              <a:t>NaOH,</a:t>
            </a:r>
            <a:r>
              <a:rPr lang="zh-CN" altLang="en-US" sz="2000" u="sng" dirty="0">
                <a:solidFill>
                  <a:srgbClr val="FFFF00"/>
                </a:solidFill>
              </a:rPr>
              <a:t>稀</a:t>
            </a:r>
            <a:r>
              <a:rPr lang="en-US" altLang="zh-CN" sz="2000" u="sng" dirty="0">
                <a:solidFill>
                  <a:srgbClr val="FFFF00"/>
                </a:solidFill>
              </a:rPr>
              <a:t>CuSO</a:t>
            </a:r>
            <a:r>
              <a:rPr lang="en-US" altLang="zh-CN" sz="2000" u="sng" baseline="-25000" dirty="0">
                <a:solidFill>
                  <a:srgbClr val="FFFF00"/>
                </a:solidFill>
              </a:rPr>
              <a:t>4</a:t>
            </a:r>
            <a:r>
              <a:rPr lang="en-US" altLang="zh-CN" sz="2000" u="sng" baseline="-25000" dirty="0"/>
              <a:t>         </a:t>
            </a:r>
            <a:r>
              <a:rPr lang="en-US" altLang="zh-CN" sz="2000" u="sng" dirty="0"/>
              <a:t>    </a:t>
            </a:r>
            <a:r>
              <a:rPr lang="zh-CN" altLang="en-US" sz="2000" u="sng" dirty="0">
                <a:solidFill>
                  <a:srgbClr val="00FF00"/>
                </a:solidFill>
              </a:rPr>
              <a:t>紫或粉</a:t>
            </a:r>
            <a:r>
              <a:rPr lang="zh-CN" altLang="en-US" sz="2000" u="sng" dirty="0"/>
              <a:t>       </a:t>
            </a:r>
            <a:r>
              <a:rPr lang="en-US" altLang="zh-CN" sz="2000" u="sng" dirty="0">
                <a:solidFill>
                  <a:srgbClr val="FFFF00"/>
                </a:solidFill>
              </a:rPr>
              <a:t>2</a:t>
            </a:r>
            <a:r>
              <a:rPr lang="zh-CN" altLang="en-US" sz="2000" u="sng" dirty="0">
                <a:solidFill>
                  <a:srgbClr val="FFFF00"/>
                </a:solidFill>
              </a:rPr>
              <a:t>个以上肽键        所有蛋白质</a:t>
            </a:r>
          </a:p>
          <a:p>
            <a:pPr eaLnBrk="1" hangingPunct="1">
              <a:lnSpc>
                <a:spcPct val="160000"/>
              </a:lnSpc>
              <a:buFont typeface="Wingdings" panose="05000000000000000000" pitchFamily="2" charset="2"/>
              <a:buNone/>
            </a:pPr>
            <a:r>
              <a:rPr lang="en-US" altLang="zh-CN" sz="2000" dirty="0">
                <a:solidFill>
                  <a:srgbClr val="00FF00"/>
                </a:solidFill>
              </a:rPr>
              <a:t>Millon</a:t>
            </a:r>
            <a:r>
              <a:rPr lang="zh-CN" altLang="en-US" sz="2000" dirty="0">
                <a:solidFill>
                  <a:srgbClr val="00FF00"/>
                </a:solidFill>
              </a:rPr>
              <a:t>反应</a:t>
            </a:r>
            <a:r>
              <a:rPr lang="zh-CN" altLang="en-US" sz="2000" dirty="0"/>
              <a:t>       </a:t>
            </a:r>
            <a:r>
              <a:rPr lang="en-US" altLang="zh-CN" sz="2000" dirty="0">
                <a:solidFill>
                  <a:srgbClr val="FFFF00"/>
                </a:solidFill>
              </a:rPr>
              <a:t>Millon,</a:t>
            </a:r>
            <a:r>
              <a:rPr lang="zh-CN" altLang="en-US" sz="2000" dirty="0">
                <a:solidFill>
                  <a:srgbClr val="FFFF00"/>
                </a:solidFill>
              </a:rPr>
              <a:t>硝酸，亚硝酸</a:t>
            </a:r>
            <a:r>
              <a:rPr lang="zh-CN" altLang="en-US" sz="2000" dirty="0"/>
              <a:t>      </a:t>
            </a:r>
            <a:r>
              <a:rPr lang="zh-CN" altLang="en-US" sz="2000" dirty="0">
                <a:solidFill>
                  <a:srgbClr val="00FF00"/>
                </a:solidFill>
              </a:rPr>
              <a:t>红色                </a:t>
            </a:r>
            <a:r>
              <a:rPr lang="zh-CN" altLang="en-US" sz="2000" dirty="0">
                <a:solidFill>
                  <a:srgbClr val="FFFF00"/>
                </a:solidFill>
              </a:rPr>
              <a:t>酚基                     </a:t>
            </a:r>
            <a:r>
              <a:rPr lang="en-US" altLang="zh-CN" sz="2000" dirty="0">
                <a:solidFill>
                  <a:srgbClr val="FFFF00"/>
                </a:solidFill>
              </a:rPr>
              <a:t>Tyr</a:t>
            </a:r>
            <a:endParaRPr lang="en-US" altLang="zh-CN" sz="2000" dirty="0"/>
          </a:p>
          <a:p>
            <a:pPr eaLnBrk="1" hangingPunct="1">
              <a:lnSpc>
                <a:spcPct val="160000"/>
              </a:lnSpc>
              <a:buFont typeface="Wingdings" panose="05000000000000000000" pitchFamily="2" charset="2"/>
              <a:buNone/>
            </a:pPr>
            <a:r>
              <a:rPr lang="zh-CN" altLang="en-US" sz="2000" dirty="0">
                <a:solidFill>
                  <a:srgbClr val="00FF00"/>
                </a:solidFill>
              </a:rPr>
              <a:t>黄色反应  </a:t>
            </a:r>
            <a:r>
              <a:rPr lang="zh-CN" altLang="en-US" sz="2000" dirty="0"/>
              <a:t>          </a:t>
            </a:r>
            <a:r>
              <a:rPr lang="en-US" altLang="zh-CN" sz="2000" dirty="0">
                <a:solidFill>
                  <a:srgbClr val="FFFF00"/>
                </a:solidFill>
              </a:rPr>
              <a:t>HNO</a:t>
            </a:r>
            <a:r>
              <a:rPr lang="en-US" altLang="zh-CN" sz="2000" baseline="-25000" dirty="0">
                <a:solidFill>
                  <a:srgbClr val="FFFF00"/>
                </a:solidFill>
              </a:rPr>
              <a:t>3</a:t>
            </a:r>
            <a:r>
              <a:rPr lang="zh-CN" altLang="en-US" sz="2000" dirty="0">
                <a:solidFill>
                  <a:srgbClr val="FFFF00"/>
                </a:solidFill>
              </a:rPr>
              <a:t>及</a:t>
            </a:r>
            <a:r>
              <a:rPr lang="en-US" altLang="zh-CN" sz="2000" dirty="0">
                <a:solidFill>
                  <a:srgbClr val="FFFF00"/>
                </a:solidFill>
              </a:rPr>
              <a:t>NH</a:t>
            </a:r>
            <a:r>
              <a:rPr lang="en-US" altLang="zh-CN" sz="2000" baseline="-25000" dirty="0">
                <a:solidFill>
                  <a:srgbClr val="FFFF00"/>
                </a:solidFill>
              </a:rPr>
              <a:t>3</a:t>
            </a:r>
            <a:r>
              <a:rPr lang="en-US" altLang="zh-CN" sz="2000" baseline="-25000" dirty="0"/>
              <a:t>                       </a:t>
            </a:r>
            <a:r>
              <a:rPr lang="zh-CN" altLang="en-US" sz="2000" dirty="0">
                <a:solidFill>
                  <a:srgbClr val="00FF00"/>
                </a:solidFill>
              </a:rPr>
              <a:t>黄、橘黄</a:t>
            </a:r>
            <a:r>
              <a:rPr lang="zh-CN" altLang="en-US" sz="2000" dirty="0"/>
              <a:t>           </a:t>
            </a:r>
            <a:r>
              <a:rPr lang="zh-CN" altLang="en-US" sz="2000" dirty="0">
                <a:solidFill>
                  <a:srgbClr val="FFFF00"/>
                </a:solidFill>
              </a:rPr>
              <a:t>苯基                   </a:t>
            </a:r>
            <a:r>
              <a:rPr lang="en-US" altLang="zh-CN" sz="2000" dirty="0" err="1">
                <a:solidFill>
                  <a:srgbClr val="FFFF00"/>
                </a:solidFill>
              </a:rPr>
              <a:t>Phe,Tyr</a:t>
            </a:r>
            <a:endParaRPr lang="en-US" altLang="zh-CN" sz="2000" dirty="0">
              <a:solidFill>
                <a:srgbClr val="FFFF00"/>
              </a:solidFill>
            </a:endParaRPr>
          </a:p>
          <a:p>
            <a:pPr eaLnBrk="1" hangingPunct="1">
              <a:lnSpc>
                <a:spcPct val="160000"/>
              </a:lnSpc>
              <a:buFont typeface="Wingdings" panose="05000000000000000000" pitchFamily="2" charset="2"/>
              <a:buNone/>
            </a:pPr>
            <a:r>
              <a:rPr lang="zh-CN" altLang="en-US" sz="2000" dirty="0">
                <a:solidFill>
                  <a:srgbClr val="00FF00"/>
                </a:solidFill>
              </a:rPr>
              <a:t>乙醛酸反应        </a:t>
            </a:r>
            <a:r>
              <a:rPr lang="zh-CN" altLang="en-US" sz="2000" dirty="0">
                <a:solidFill>
                  <a:srgbClr val="FFFF00"/>
                </a:solidFill>
              </a:rPr>
              <a:t>乙醛酸</a:t>
            </a:r>
            <a:r>
              <a:rPr lang="en-US" altLang="zh-CN" sz="2000" dirty="0">
                <a:solidFill>
                  <a:srgbClr val="FFFF00"/>
                </a:solidFill>
              </a:rPr>
              <a:t>H</a:t>
            </a:r>
            <a:r>
              <a:rPr lang="en-US" altLang="zh-CN" sz="2000" baseline="-25000" dirty="0">
                <a:solidFill>
                  <a:srgbClr val="FFFF00"/>
                </a:solidFill>
              </a:rPr>
              <a:t>2</a:t>
            </a:r>
            <a:r>
              <a:rPr lang="en-US" altLang="zh-CN" sz="2000" dirty="0">
                <a:solidFill>
                  <a:srgbClr val="FFFF00"/>
                </a:solidFill>
              </a:rPr>
              <a:t>SO</a:t>
            </a:r>
            <a:r>
              <a:rPr lang="en-US" altLang="zh-CN" sz="2000" baseline="-25000" dirty="0">
                <a:solidFill>
                  <a:srgbClr val="FFFF00"/>
                </a:solidFill>
              </a:rPr>
              <a:t>4</a:t>
            </a:r>
            <a:r>
              <a:rPr lang="en-US" altLang="zh-CN" sz="2000" baseline="-25000" dirty="0">
                <a:solidFill>
                  <a:srgbClr val="00FF00"/>
                </a:solidFill>
              </a:rPr>
              <a:t> </a:t>
            </a:r>
            <a:r>
              <a:rPr lang="en-US" altLang="zh-CN" sz="2000" dirty="0">
                <a:solidFill>
                  <a:srgbClr val="00FF00"/>
                </a:solidFill>
              </a:rPr>
              <a:t>                </a:t>
            </a:r>
            <a:r>
              <a:rPr lang="zh-CN" altLang="en-US" sz="2000" dirty="0">
                <a:solidFill>
                  <a:srgbClr val="00FF00"/>
                </a:solidFill>
              </a:rPr>
              <a:t>紫红                </a:t>
            </a:r>
            <a:r>
              <a:rPr lang="zh-CN" altLang="en-US" sz="2000" dirty="0">
                <a:solidFill>
                  <a:srgbClr val="FFFF00"/>
                </a:solidFill>
              </a:rPr>
              <a:t>吲哚                      </a:t>
            </a:r>
            <a:r>
              <a:rPr lang="en-US" altLang="zh-CN" sz="2000" dirty="0" err="1">
                <a:solidFill>
                  <a:srgbClr val="FFFF00"/>
                </a:solidFill>
              </a:rPr>
              <a:t>Trp</a:t>
            </a:r>
            <a:endParaRPr lang="en-US" altLang="zh-CN" sz="2000" dirty="0">
              <a:solidFill>
                <a:srgbClr val="FFFF00"/>
              </a:solidFill>
            </a:endParaRPr>
          </a:p>
          <a:p>
            <a:pPr eaLnBrk="1" hangingPunct="1">
              <a:lnSpc>
                <a:spcPct val="160000"/>
              </a:lnSpc>
              <a:buFont typeface="Wingdings" panose="05000000000000000000" pitchFamily="2" charset="2"/>
              <a:buNone/>
            </a:pPr>
            <a:r>
              <a:rPr lang="zh-CN" altLang="en-US" sz="2000" dirty="0">
                <a:solidFill>
                  <a:srgbClr val="00FF00"/>
                </a:solidFill>
              </a:rPr>
              <a:t>坂口反应</a:t>
            </a:r>
            <a:r>
              <a:rPr lang="zh-CN" altLang="en-US" sz="2000" dirty="0"/>
              <a:t>          </a:t>
            </a:r>
            <a:r>
              <a:rPr lang="zh-CN" altLang="en-US" sz="2000" dirty="0">
                <a:solidFill>
                  <a:srgbClr val="FFFF00"/>
                </a:solidFill>
              </a:rPr>
              <a:t>次氯酸钠</a:t>
            </a:r>
            <a:r>
              <a:rPr lang="en-US" altLang="zh-CN" sz="2000" dirty="0">
                <a:solidFill>
                  <a:srgbClr val="FFFF00"/>
                </a:solidFill>
              </a:rPr>
              <a:t>,</a:t>
            </a:r>
            <a:r>
              <a:rPr lang="zh-CN" altLang="en-US" sz="2000" dirty="0">
                <a:solidFill>
                  <a:srgbClr val="FFFF00"/>
                </a:solidFill>
              </a:rPr>
              <a:t>萘酚                 </a:t>
            </a:r>
            <a:r>
              <a:rPr lang="zh-CN" altLang="en-US" sz="2000" dirty="0">
                <a:solidFill>
                  <a:srgbClr val="00FF00"/>
                </a:solidFill>
              </a:rPr>
              <a:t>红色</a:t>
            </a:r>
            <a:r>
              <a:rPr lang="zh-CN" altLang="en-US" sz="2000" dirty="0"/>
              <a:t>                </a:t>
            </a:r>
            <a:r>
              <a:rPr lang="zh-CN" altLang="en-US" sz="2000" dirty="0">
                <a:solidFill>
                  <a:srgbClr val="FFFF00"/>
                </a:solidFill>
              </a:rPr>
              <a:t>胍基                     </a:t>
            </a:r>
            <a:r>
              <a:rPr lang="en-US" altLang="zh-CN" sz="2000" dirty="0">
                <a:solidFill>
                  <a:srgbClr val="FFFF00"/>
                </a:solidFill>
              </a:rPr>
              <a:t>Arg</a:t>
            </a:r>
            <a:endParaRPr lang="en-US" altLang="zh-CN" sz="2000" dirty="0"/>
          </a:p>
          <a:p>
            <a:pPr eaLnBrk="1" hangingPunct="1">
              <a:lnSpc>
                <a:spcPct val="160000"/>
              </a:lnSpc>
              <a:buFont typeface="Wingdings" panose="05000000000000000000" pitchFamily="2" charset="2"/>
              <a:buNone/>
            </a:pPr>
            <a:r>
              <a:rPr lang="en-US" altLang="zh-CN" sz="2000" u="sng" dirty="0">
                <a:solidFill>
                  <a:srgbClr val="00FF00"/>
                </a:solidFill>
              </a:rPr>
              <a:t>Folin</a:t>
            </a:r>
            <a:r>
              <a:rPr lang="zh-CN" altLang="en-US" sz="2000" u="sng" dirty="0">
                <a:solidFill>
                  <a:srgbClr val="00FF00"/>
                </a:solidFill>
              </a:rPr>
              <a:t>酚试剂反应</a:t>
            </a:r>
            <a:r>
              <a:rPr lang="zh-CN" altLang="en-US" sz="2000" u="sng" dirty="0"/>
              <a:t>  </a:t>
            </a:r>
            <a:r>
              <a:rPr lang="en-US" altLang="zh-CN" sz="2000" u="sng" dirty="0">
                <a:solidFill>
                  <a:srgbClr val="FFFF00"/>
                </a:solidFill>
              </a:rPr>
              <a:t>CuSO</a:t>
            </a:r>
            <a:r>
              <a:rPr lang="en-US" altLang="zh-CN" sz="2000" u="sng" baseline="-25000" dirty="0">
                <a:solidFill>
                  <a:srgbClr val="FFFF00"/>
                </a:solidFill>
              </a:rPr>
              <a:t>4</a:t>
            </a:r>
            <a:r>
              <a:rPr lang="zh-CN" altLang="en-US" sz="2000" u="sng" dirty="0">
                <a:solidFill>
                  <a:srgbClr val="FFFF00"/>
                </a:solidFill>
              </a:rPr>
              <a:t>磷钨酸</a:t>
            </a:r>
            <a:r>
              <a:rPr lang="en-US" altLang="zh-CN" sz="2000" u="sng" dirty="0">
                <a:solidFill>
                  <a:srgbClr val="FFFF00"/>
                </a:solidFill>
              </a:rPr>
              <a:t>-</a:t>
            </a:r>
            <a:r>
              <a:rPr lang="zh-CN" altLang="en-US" sz="2000" u="sng" dirty="0">
                <a:solidFill>
                  <a:srgbClr val="FFFF00"/>
                </a:solidFill>
              </a:rPr>
              <a:t>钼酸</a:t>
            </a:r>
            <a:r>
              <a:rPr lang="zh-CN" altLang="en-US" sz="2000" u="sng" dirty="0"/>
              <a:t>    </a:t>
            </a:r>
            <a:r>
              <a:rPr lang="zh-CN" altLang="en-US" sz="2000" u="sng" dirty="0">
                <a:solidFill>
                  <a:srgbClr val="00FF00"/>
                </a:solidFill>
              </a:rPr>
              <a:t>兰色</a:t>
            </a:r>
            <a:r>
              <a:rPr lang="zh-CN" altLang="en-US" sz="2000" u="sng" dirty="0"/>
              <a:t>                </a:t>
            </a:r>
            <a:r>
              <a:rPr lang="zh-CN" altLang="en-US" sz="2000" u="sng" dirty="0">
                <a:solidFill>
                  <a:srgbClr val="FFFF00"/>
                </a:solidFill>
              </a:rPr>
              <a:t>酚基                     </a:t>
            </a:r>
            <a:r>
              <a:rPr lang="en-US" altLang="zh-CN" sz="2000" u="sng" dirty="0">
                <a:solidFill>
                  <a:srgbClr val="FFFF00"/>
                </a:solidFill>
              </a:rPr>
              <a:t>Ty</a:t>
            </a:r>
            <a:r>
              <a:rPr lang="en-US" altLang="zh-CN" sz="2000" dirty="0">
                <a:solidFill>
                  <a:srgbClr val="FFFF00"/>
                </a:solidFill>
              </a:rPr>
              <a:t>r           </a:t>
            </a:r>
          </a:p>
          <a:p>
            <a:pPr eaLnBrk="1" hangingPunct="1">
              <a:lnSpc>
                <a:spcPct val="160000"/>
              </a:lnSpc>
              <a:buFont typeface="Wingdings" panose="05000000000000000000" pitchFamily="2" charset="2"/>
              <a:buNone/>
            </a:pPr>
            <a:r>
              <a:rPr lang="zh-CN" altLang="en-US" sz="2000" u="sng" dirty="0">
                <a:solidFill>
                  <a:srgbClr val="00FF00"/>
                </a:solidFill>
              </a:rPr>
              <a:t>茚三酮反应 </a:t>
            </a:r>
            <a:r>
              <a:rPr lang="zh-CN" altLang="en-US" sz="2000" u="sng" dirty="0"/>
              <a:t>               </a:t>
            </a:r>
            <a:r>
              <a:rPr lang="zh-CN" altLang="en-US" sz="2000" u="sng" dirty="0">
                <a:solidFill>
                  <a:srgbClr val="FFFF00"/>
                </a:solidFill>
              </a:rPr>
              <a:t>茚三酮</a:t>
            </a:r>
            <a:r>
              <a:rPr lang="zh-CN" altLang="en-US" sz="2000" u="sng" dirty="0"/>
              <a:t>                 </a:t>
            </a:r>
            <a:r>
              <a:rPr lang="zh-CN" altLang="en-US" sz="2000" u="sng" dirty="0">
                <a:solidFill>
                  <a:srgbClr val="00FF00"/>
                </a:solidFill>
              </a:rPr>
              <a:t>紫兰色</a:t>
            </a:r>
            <a:r>
              <a:rPr lang="zh-CN" altLang="en-US" sz="2000" u="sng" dirty="0"/>
              <a:t>     </a:t>
            </a:r>
            <a:r>
              <a:rPr lang="zh-CN" altLang="en-US" sz="2000" u="sng" dirty="0">
                <a:solidFill>
                  <a:srgbClr val="FFFF00"/>
                </a:solidFill>
              </a:rPr>
              <a:t>游离氨、羧基  </a:t>
            </a:r>
            <a:r>
              <a:rPr lang="en-US" altLang="zh-CN" sz="2000" u="sng" dirty="0">
                <a:solidFill>
                  <a:srgbClr val="FFFF00"/>
                </a:solidFill>
              </a:rPr>
              <a:t>Pro</a:t>
            </a:r>
            <a:r>
              <a:rPr lang="zh-CN" altLang="en-US" sz="2000" u="sng" dirty="0">
                <a:solidFill>
                  <a:srgbClr val="FFFF00"/>
                </a:solidFill>
              </a:rPr>
              <a:t>和羟</a:t>
            </a:r>
            <a:r>
              <a:rPr lang="en-US" altLang="zh-CN" sz="2000" u="sng" dirty="0">
                <a:solidFill>
                  <a:srgbClr val="FFFF00"/>
                </a:solidFill>
              </a:rPr>
              <a:t>Pro</a:t>
            </a:r>
            <a:r>
              <a:rPr lang="zh-CN" altLang="en-US" sz="2000" u="sng" dirty="0">
                <a:solidFill>
                  <a:srgbClr val="FFFF00"/>
                </a:solidFill>
              </a:rPr>
              <a:t>呈黄色</a:t>
            </a:r>
          </a:p>
        </p:txBody>
      </p:sp>
      <p:sp>
        <p:nvSpPr>
          <p:cNvPr id="136195" name="Rectangle 3">
            <a:extLst>
              <a:ext uri="{FF2B5EF4-FFF2-40B4-BE49-F238E27FC236}">
                <a16:creationId xmlns:a16="http://schemas.microsoft.com/office/drawing/2014/main" id="{F01E5046-674E-474E-8A12-816425458A4D}"/>
              </a:ext>
            </a:extLst>
          </p:cNvPr>
          <p:cNvSpPr>
            <a:spLocks noChangeArrowheads="1"/>
          </p:cNvSpPr>
          <p:nvPr/>
        </p:nvSpPr>
        <p:spPr bwMode="auto">
          <a:xfrm>
            <a:off x="1685926" y="188913"/>
            <a:ext cx="67865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kumimoji="1" lang="zh-CN" altLang="en-US" sz="3600" b="1">
                <a:solidFill>
                  <a:schemeClr val="bg1"/>
                </a:solidFill>
                <a:latin typeface="Arial" panose="020B0604020202020204" pitchFamily="34" charset="0"/>
              </a:rPr>
              <a:t>（三）</a:t>
            </a:r>
            <a:r>
              <a:rPr lang="zh-CN" altLang="en-US" sz="3600" b="1">
                <a:solidFill>
                  <a:schemeClr val="bg1"/>
                </a:solidFill>
                <a:latin typeface="黑体" panose="02010609060101010101" pitchFamily="49" charset="-122"/>
              </a:rPr>
              <a:t>蛋白质的呈色反应</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40354">
                                            <p:bg/>
                                          </p:spTgt>
                                        </p:tgtEl>
                                        <p:attrNameLst>
                                          <p:attrName>style.visibility</p:attrName>
                                        </p:attrNameLst>
                                      </p:cBhvr>
                                      <p:to>
                                        <p:strVal val="visible"/>
                                      </p:to>
                                    </p:set>
                                    <p:animEffect transition="in" filter="box(in)">
                                      <p:cBhvr>
                                        <p:cTn id="7" dur="500"/>
                                        <p:tgtEl>
                                          <p:spTgt spid="740354">
                                            <p:bg/>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740354">
                                            <p:txEl>
                                              <p:pRg st="0" end="0"/>
                                            </p:txEl>
                                          </p:spTgt>
                                        </p:tgtEl>
                                        <p:attrNameLst>
                                          <p:attrName>style.visibility</p:attrName>
                                        </p:attrNameLst>
                                      </p:cBhvr>
                                      <p:to>
                                        <p:strVal val="visible"/>
                                      </p:to>
                                    </p:set>
                                    <p:animEffect transition="in" filter="box(in)">
                                      <p:cBhvr>
                                        <p:cTn id="10" dur="500"/>
                                        <p:tgtEl>
                                          <p:spTgt spid="740354">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740354">
                                            <p:txEl>
                                              <p:pRg st="1" end="1"/>
                                            </p:txEl>
                                          </p:spTgt>
                                        </p:tgtEl>
                                        <p:attrNameLst>
                                          <p:attrName>style.visibility</p:attrName>
                                        </p:attrNameLst>
                                      </p:cBhvr>
                                      <p:to>
                                        <p:strVal val="visible"/>
                                      </p:to>
                                    </p:set>
                                    <p:animEffect transition="in" filter="box(in)">
                                      <p:cBhvr>
                                        <p:cTn id="15" dur="500"/>
                                        <p:tgtEl>
                                          <p:spTgt spid="740354">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740354">
                                            <p:txEl>
                                              <p:pRg st="2" end="2"/>
                                            </p:txEl>
                                          </p:spTgt>
                                        </p:tgtEl>
                                        <p:attrNameLst>
                                          <p:attrName>style.visibility</p:attrName>
                                        </p:attrNameLst>
                                      </p:cBhvr>
                                      <p:to>
                                        <p:strVal val="visible"/>
                                      </p:to>
                                    </p:set>
                                    <p:animEffect transition="in" filter="box(in)">
                                      <p:cBhvr>
                                        <p:cTn id="20" dur="500"/>
                                        <p:tgtEl>
                                          <p:spTgt spid="740354">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740354">
                                            <p:txEl>
                                              <p:pRg st="3" end="3"/>
                                            </p:txEl>
                                          </p:spTgt>
                                        </p:tgtEl>
                                        <p:attrNameLst>
                                          <p:attrName>style.visibility</p:attrName>
                                        </p:attrNameLst>
                                      </p:cBhvr>
                                      <p:to>
                                        <p:strVal val="visible"/>
                                      </p:to>
                                    </p:set>
                                    <p:animEffect transition="in" filter="box(in)">
                                      <p:cBhvr>
                                        <p:cTn id="25" dur="500"/>
                                        <p:tgtEl>
                                          <p:spTgt spid="740354">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740354">
                                            <p:txEl>
                                              <p:pRg st="4" end="4"/>
                                            </p:txEl>
                                          </p:spTgt>
                                        </p:tgtEl>
                                        <p:attrNameLst>
                                          <p:attrName>style.visibility</p:attrName>
                                        </p:attrNameLst>
                                      </p:cBhvr>
                                      <p:to>
                                        <p:strVal val="visible"/>
                                      </p:to>
                                    </p:set>
                                    <p:animEffect transition="in" filter="box(in)">
                                      <p:cBhvr>
                                        <p:cTn id="30" dur="500"/>
                                        <p:tgtEl>
                                          <p:spTgt spid="740354">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740354">
                                            <p:txEl>
                                              <p:pRg st="5" end="5"/>
                                            </p:txEl>
                                          </p:spTgt>
                                        </p:tgtEl>
                                        <p:attrNameLst>
                                          <p:attrName>style.visibility</p:attrName>
                                        </p:attrNameLst>
                                      </p:cBhvr>
                                      <p:to>
                                        <p:strVal val="visible"/>
                                      </p:to>
                                    </p:set>
                                    <p:animEffect transition="in" filter="box(in)">
                                      <p:cBhvr>
                                        <p:cTn id="35" dur="500"/>
                                        <p:tgtEl>
                                          <p:spTgt spid="740354">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740354">
                                            <p:txEl>
                                              <p:pRg st="6" end="6"/>
                                            </p:txEl>
                                          </p:spTgt>
                                        </p:tgtEl>
                                        <p:attrNameLst>
                                          <p:attrName>style.visibility</p:attrName>
                                        </p:attrNameLst>
                                      </p:cBhvr>
                                      <p:to>
                                        <p:strVal val="visible"/>
                                      </p:to>
                                    </p:set>
                                    <p:animEffect transition="in" filter="box(in)">
                                      <p:cBhvr>
                                        <p:cTn id="40" dur="500"/>
                                        <p:tgtEl>
                                          <p:spTgt spid="740354">
                                            <p:txEl>
                                              <p:pRg st="6" end="6"/>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740354">
                                            <p:txEl>
                                              <p:pRg st="7" end="7"/>
                                            </p:txEl>
                                          </p:spTgt>
                                        </p:tgtEl>
                                        <p:attrNameLst>
                                          <p:attrName>style.visibility</p:attrName>
                                        </p:attrNameLst>
                                      </p:cBhvr>
                                      <p:to>
                                        <p:strVal val="visible"/>
                                      </p:to>
                                    </p:set>
                                    <p:animEffect transition="in" filter="box(in)">
                                      <p:cBhvr>
                                        <p:cTn id="45" dur="500"/>
                                        <p:tgtEl>
                                          <p:spTgt spid="74035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0354" grpId="0" build="p"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3">
            <a:extLst>
              <a:ext uri="{FF2B5EF4-FFF2-40B4-BE49-F238E27FC236}">
                <a16:creationId xmlns:a16="http://schemas.microsoft.com/office/drawing/2014/main" id="{997EE665-15A3-42EC-BBBB-675693D1AC64}"/>
              </a:ext>
            </a:extLst>
          </p:cNvPr>
          <p:cNvSpPr>
            <a:spLocks noChangeArrowheads="1"/>
          </p:cNvSpPr>
          <p:nvPr/>
        </p:nvSpPr>
        <p:spPr bwMode="auto">
          <a:xfrm>
            <a:off x="1055440" y="1557338"/>
            <a:ext cx="6107360"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714375">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60000"/>
              </a:lnSpc>
              <a:spcBef>
                <a:spcPct val="0"/>
              </a:spcBef>
              <a:buClrTx/>
              <a:buFontTx/>
              <a:buNone/>
            </a:pPr>
            <a:r>
              <a:rPr kumimoji="1" lang="zh-CN" altLang="en-US" dirty="0">
                <a:solidFill>
                  <a:schemeClr val="tx1"/>
                </a:solidFill>
              </a:rPr>
              <a:t>蛋白质分子的直径可达</a:t>
            </a:r>
            <a:r>
              <a:rPr kumimoji="1" lang="en-US" altLang="zh-CN" dirty="0">
                <a:solidFill>
                  <a:schemeClr val="tx1"/>
                </a:solidFill>
              </a:rPr>
              <a:t>1</a:t>
            </a:r>
            <a:r>
              <a:rPr kumimoji="1" lang="zh-CN" altLang="en-US" dirty="0">
                <a:solidFill>
                  <a:schemeClr val="tx1"/>
                </a:solidFill>
              </a:rPr>
              <a:t>～</a:t>
            </a:r>
            <a:r>
              <a:rPr kumimoji="1" lang="en-US" altLang="zh-CN" dirty="0">
                <a:solidFill>
                  <a:schemeClr val="tx1"/>
                </a:solidFill>
              </a:rPr>
              <a:t>100nm</a:t>
            </a:r>
            <a:r>
              <a:rPr kumimoji="1" lang="zh-CN" altLang="en-US" dirty="0">
                <a:solidFill>
                  <a:schemeClr val="tx1"/>
                </a:solidFill>
              </a:rPr>
              <a:t>，为胶粒范围之内。 </a:t>
            </a:r>
          </a:p>
        </p:txBody>
      </p:sp>
      <p:sp>
        <p:nvSpPr>
          <p:cNvPr id="741380" name="Rectangle 4">
            <a:extLst>
              <a:ext uri="{FF2B5EF4-FFF2-40B4-BE49-F238E27FC236}">
                <a16:creationId xmlns:a16="http://schemas.microsoft.com/office/drawing/2014/main" id="{BDE9809B-0196-4B34-974D-0301FFCDCF11}"/>
              </a:ext>
            </a:extLst>
          </p:cNvPr>
          <p:cNvSpPr>
            <a:spLocks noChangeArrowheads="1"/>
          </p:cNvSpPr>
          <p:nvPr/>
        </p:nvSpPr>
        <p:spPr bwMode="auto">
          <a:xfrm>
            <a:off x="1703388" y="3356992"/>
            <a:ext cx="4752975" cy="248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70000"/>
              </a:lnSpc>
              <a:spcBef>
                <a:spcPct val="0"/>
              </a:spcBef>
              <a:buClrTx/>
              <a:buFontTx/>
              <a:buChar char="•"/>
            </a:pPr>
            <a:r>
              <a:rPr kumimoji="1" lang="zh-CN" altLang="en-US" sz="3200" dirty="0">
                <a:solidFill>
                  <a:srgbClr val="0000CC"/>
                </a:solidFill>
              </a:rPr>
              <a:t>蛋白质胶体稳定的因素</a:t>
            </a:r>
            <a:r>
              <a:rPr kumimoji="1" lang="en-US" altLang="zh-CN" sz="3200" dirty="0">
                <a:solidFill>
                  <a:srgbClr val="0000CC"/>
                </a:solidFill>
              </a:rPr>
              <a:t>:  </a:t>
            </a:r>
          </a:p>
          <a:p>
            <a:pPr eaLnBrk="1" hangingPunct="1">
              <a:lnSpc>
                <a:spcPct val="170000"/>
              </a:lnSpc>
              <a:spcBef>
                <a:spcPct val="0"/>
              </a:spcBef>
              <a:buClrTx/>
              <a:buFontTx/>
              <a:buNone/>
            </a:pPr>
            <a:r>
              <a:rPr kumimoji="1" lang="en-US" altLang="zh-CN" sz="3200" dirty="0">
                <a:solidFill>
                  <a:srgbClr val="0000CC"/>
                </a:solidFill>
              </a:rPr>
              <a:t>          </a:t>
            </a:r>
            <a:r>
              <a:rPr kumimoji="1" lang="zh-CN" altLang="en-US" sz="3200" dirty="0">
                <a:solidFill>
                  <a:srgbClr val="FF0000"/>
                </a:solidFill>
              </a:rPr>
              <a:t>水化膜</a:t>
            </a:r>
          </a:p>
          <a:p>
            <a:pPr eaLnBrk="1" hangingPunct="1">
              <a:lnSpc>
                <a:spcPct val="170000"/>
              </a:lnSpc>
              <a:spcBef>
                <a:spcPct val="0"/>
              </a:spcBef>
              <a:buClrTx/>
              <a:buFontTx/>
              <a:buNone/>
            </a:pPr>
            <a:r>
              <a:rPr kumimoji="1" lang="zh-CN" altLang="en-US" sz="3200" dirty="0">
                <a:solidFill>
                  <a:srgbClr val="FF0000"/>
                </a:solidFill>
              </a:rPr>
              <a:t>          颗粒表面电荷</a:t>
            </a:r>
          </a:p>
        </p:txBody>
      </p:sp>
      <p:graphicFrame>
        <p:nvGraphicFramePr>
          <p:cNvPr id="138244" name="Object 5">
            <a:extLst>
              <a:ext uri="{FF2B5EF4-FFF2-40B4-BE49-F238E27FC236}">
                <a16:creationId xmlns:a16="http://schemas.microsoft.com/office/drawing/2014/main" id="{14DF67C7-AE5E-4C2F-91BD-DC9802E28A69}"/>
              </a:ext>
            </a:extLst>
          </p:cNvPr>
          <p:cNvGraphicFramePr>
            <a:graphicFrameLocks noChangeAspect="1"/>
          </p:cNvGraphicFramePr>
          <p:nvPr>
            <p:extLst>
              <p:ext uri="{D42A27DB-BD31-4B8C-83A1-F6EECF244321}">
                <p14:modId xmlns:p14="http://schemas.microsoft.com/office/powerpoint/2010/main" val="1389861228"/>
              </p:ext>
            </p:extLst>
          </p:nvPr>
        </p:nvGraphicFramePr>
        <p:xfrm>
          <a:off x="7720092" y="2156580"/>
          <a:ext cx="2757487" cy="3407087"/>
        </p:xfrm>
        <a:graphic>
          <a:graphicData uri="http://schemas.openxmlformats.org/presentationml/2006/ole">
            <mc:AlternateContent xmlns:mc="http://schemas.openxmlformats.org/markup-compatibility/2006">
              <mc:Choice xmlns:v="urn:schemas-microsoft-com:vml" Requires="v">
                <p:oleObj name="Photo Editor 照片" r:id="rId3" imgW="2019048" imgH="2495238" progId="MSPhotoEd.3">
                  <p:embed/>
                </p:oleObj>
              </mc:Choice>
              <mc:Fallback>
                <p:oleObj name="Photo Editor 照片" r:id="rId3" imgW="2019048" imgH="2495238" progId="MSPhotoEd.3">
                  <p:embed/>
                  <p:pic>
                    <p:nvPicPr>
                      <p:cNvPr id="138244" name="Object 5">
                        <a:extLst>
                          <a:ext uri="{FF2B5EF4-FFF2-40B4-BE49-F238E27FC236}">
                            <a16:creationId xmlns:a16="http://schemas.microsoft.com/office/drawing/2014/main" id="{14DF67C7-AE5E-4C2F-91BD-DC9802E28A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20092" y="2156580"/>
                        <a:ext cx="2757487" cy="3407087"/>
                      </a:xfrm>
                      <a:prstGeom prst="rect">
                        <a:avLst/>
                      </a:prstGeom>
                      <a:noFill/>
                      <a:ln>
                        <a:noFill/>
                      </a:ln>
                      <a:effectLst/>
                    </p:spPr>
                  </p:pic>
                </p:oleObj>
              </mc:Fallback>
            </mc:AlternateContent>
          </a:graphicData>
        </a:graphic>
      </p:graphicFrame>
      <p:sp>
        <p:nvSpPr>
          <p:cNvPr id="2" name="标题 1">
            <a:extLst>
              <a:ext uri="{FF2B5EF4-FFF2-40B4-BE49-F238E27FC236}">
                <a16:creationId xmlns:a16="http://schemas.microsoft.com/office/drawing/2014/main" id="{71678F22-2A34-4947-9188-94375AE55BF2}"/>
              </a:ext>
            </a:extLst>
          </p:cNvPr>
          <p:cNvSpPr>
            <a:spLocks noGrp="1"/>
          </p:cNvSpPr>
          <p:nvPr>
            <p:ph type="title"/>
          </p:nvPr>
        </p:nvSpPr>
        <p:spPr>
          <a:xfrm>
            <a:off x="1703388" y="188913"/>
            <a:ext cx="6913562" cy="563562"/>
          </a:xfrm>
        </p:spPr>
        <p:txBody>
          <a:bodyPr/>
          <a:lstStyle/>
          <a:p>
            <a:pPr>
              <a:defRPr/>
            </a:pPr>
            <a:r>
              <a:rPr kumimoji="1" lang="zh-CN" altLang="en-US" sz="4000" dirty="0">
                <a:solidFill>
                  <a:schemeClr val="accent3"/>
                </a:solidFill>
              </a:rPr>
              <a:t>（四）蛋白质的胶体性质    </a:t>
            </a:r>
            <a:endParaRPr lang="zh-CN" altLang="en-US" sz="4000" dirty="0">
              <a:solidFill>
                <a:schemeClr val="accent3"/>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41380"/>
                                        </p:tgtEl>
                                        <p:attrNameLst>
                                          <p:attrName>style.visibility</p:attrName>
                                        </p:attrNameLst>
                                      </p:cBhvr>
                                      <p:to>
                                        <p:strVal val="visible"/>
                                      </p:to>
                                    </p:set>
                                    <p:animEffect transition="in" filter="wipe(up)">
                                      <p:cBhvr>
                                        <p:cTn id="7" dur="500"/>
                                        <p:tgtEl>
                                          <p:spTgt spid="741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1380"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0290" name="Group 2">
            <a:extLst>
              <a:ext uri="{FF2B5EF4-FFF2-40B4-BE49-F238E27FC236}">
                <a16:creationId xmlns:a16="http://schemas.microsoft.com/office/drawing/2014/main" id="{74DC722E-C6CF-4B20-9C39-21781D2AB7F4}"/>
              </a:ext>
            </a:extLst>
          </p:cNvPr>
          <p:cNvGrpSpPr>
            <a:grpSpLocks/>
          </p:cNvGrpSpPr>
          <p:nvPr/>
        </p:nvGrpSpPr>
        <p:grpSpPr bwMode="auto">
          <a:xfrm>
            <a:off x="2566988" y="1052513"/>
            <a:ext cx="2233612" cy="1993900"/>
            <a:chOff x="672" y="677"/>
            <a:chExt cx="1407" cy="1256"/>
          </a:xfrm>
        </p:grpSpPr>
        <p:grpSp>
          <p:nvGrpSpPr>
            <p:cNvPr id="140373" name="Group 3">
              <a:extLst>
                <a:ext uri="{FF2B5EF4-FFF2-40B4-BE49-F238E27FC236}">
                  <a16:creationId xmlns:a16="http://schemas.microsoft.com/office/drawing/2014/main" id="{224139B1-471B-4AB9-B219-E30F0C62BA9D}"/>
                </a:ext>
              </a:extLst>
            </p:cNvPr>
            <p:cNvGrpSpPr>
              <a:grpSpLocks/>
            </p:cNvGrpSpPr>
            <p:nvPr/>
          </p:nvGrpSpPr>
          <p:grpSpPr bwMode="auto">
            <a:xfrm>
              <a:off x="864" y="677"/>
              <a:ext cx="960" cy="1012"/>
              <a:chOff x="1248" y="821"/>
              <a:chExt cx="960" cy="1012"/>
            </a:xfrm>
          </p:grpSpPr>
          <p:sp>
            <p:nvSpPr>
              <p:cNvPr id="140375" name="Oval 4" descr="花束">
                <a:extLst>
                  <a:ext uri="{FF2B5EF4-FFF2-40B4-BE49-F238E27FC236}">
                    <a16:creationId xmlns:a16="http://schemas.microsoft.com/office/drawing/2014/main" id="{26E89B47-913D-45B1-9637-2BA8DD5A8395}"/>
                  </a:ext>
                </a:extLst>
              </p:cNvPr>
              <p:cNvSpPr>
                <a:spLocks noChangeArrowheads="1"/>
              </p:cNvSpPr>
              <p:nvPr/>
            </p:nvSpPr>
            <p:spPr bwMode="auto">
              <a:xfrm>
                <a:off x="1440" y="1056"/>
                <a:ext cx="576" cy="576"/>
              </a:xfrm>
              <a:prstGeom prst="ellipse">
                <a:avLst/>
              </a:prstGeom>
              <a:blipFill dpi="0" rotWithShape="0">
                <a:blip r:embed="rId3"/>
                <a:srcRect/>
                <a:tile tx="0" ty="0" sx="100000" sy="100000" flip="none" algn="tl"/>
              </a:blipFill>
              <a:ln w="9525">
                <a:solidFill>
                  <a:schemeClr val="tx1"/>
                </a:solidFill>
                <a:round/>
                <a:headEnd type="none" w="sm" len="sm"/>
                <a:tailEnd type="none" w="sm" len="sm"/>
              </a:ln>
            </p:spPr>
            <p:txBody>
              <a:bodyPr wrap="none" lIns="90000" tIns="46800" rIns="90000" bIns="46800"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40376" name="Oval 5">
                <a:extLst>
                  <a:ext uri="{FF2B5EF4-FFF2-40B4-BE49-F238E27FC236}">
                    <a16:creationId xmlns:a16="http://schemas.microsoft.com/office/drawing/2014/main" id="{50C95D08-98C4-479A-9A3E-518FB2B9F402}"/>
                  </a:ext>
                </a:extLst>
              </p:cNvPr>
              <p:cNvSpPr>
                <a:spLocks noChangeArrowheads="1"/>
              </p:cNvSpPr>
              <p:nvPr/>
            </p:nvSpPr>
            <p:spPr bwMode="auto">
              <a:xfrm>
                <a:off x="1248" y="864"/>
                <a:ext cx="960" cy="960"/>
              </a:xfrm>
              <a:prstGeom prst="ellipse">
                <a:avLst/>
              </a:prstGeom>
              <a:noFill/>
              <a:ln w="952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40377" name="Text Box 6">
                <a:extLst>
                  <a:ext uri="{FF2B5EF4-FFF2-40B4-BE49-F238E27FC236}">
                    <a16:creationId xmlns:a16="http://schemas.microsoft.com/office/drawing/2014/main" id="{0F1DAD67-ED85-445E-8158-A37F0EAAB7E4}"/>
                  </a:ext>
                </a:extLst>
              </p:cNvPr>
              <p:cNvSpPr txBox="1">
                <a:spLocks noChangeArrowheads="1"/>
              </p:cNvSpPr>
              <p:nvPr/>
            </p:nvSpPr>
            <p:spPr bwMode="auto">
              <a:xfrm>
                <a:off x="1872" y="917"/>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78" name="Text Box 7">
                <a:extLst>
                  <a:ext uri="{FF2B5EF4-FFF2-40B4-BE49-F238E27FC236}">
                    <a16:creationId xmlns:a16="http://schemas.microsoft.com/office/drawing/2014/main" id="{1DB5FEAA-842D-40AC-B876-7272C3A5B3E2}"/>
                  </a:ext>
                </a:extLst>
              </p:cNvPr>
              <p:cNvSpPr txBox="1">
                <a:spLocks noChangeArrowheads="1"/>
              </p:cNvSpPr>
              <p:nvPr/>
            </p:nvSpPr>
            <p:spPr bwMode="auto">
              <a:xfrm>
                <a:off x="1248" y="1301"/>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79" name="Text Box 8">
                <a:extLst>
                  <a:ext uri="{FF2B5EF4-FFF2-40B4-BE49-F238E27FC236}">
                    <a16:creationId xmlns:a16="http://schemas.microsoft.com/office/drawing/2014/main" id="{C94E8FA2-8C69-46BD-B6F9-CF5DDEAC3805}"/>
                  </a:ext>
                </a:extLst>
              </p:cNvPr>
              <p:cNvSpPr txBox="1">
                <a:spLocks noChangeArrowheads="1"/>
              </p:cNvSpPr>
              <p:nvPr/>
            </p:nvSpPr>
            <p:spPr bwMode="auto">
              <a:xfrm>
                <a:off x="1296" y="1013"/>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80" name="Text Box 9">
                <a:extLst>
                  <a:ext uri="{FF2B5EF4-FFF2-40B4-BE49-F238E27FC236}">
                    <a16:creationId xmlns:a16="http://schemas.microsoft.com/office/drawing/2014/main" id="{D6275018-ED41-4215-8209-416F5F0F7042}"/>
                  </a:ext>
                </a:extLst>
              </p:cNvPr>
              <p:cNvSpPr txBox="1">
                <a:spLocks noChangeArrowheads="1"/>
              </p:cNvSpPr>
              <p:nvPr/>
            </p:nvSpPr>
            <p:spPr bwMode="auto">
              <a:xfrm>
                <a:off x="1488" y="1541"/>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81" name="Text Box 10">
                <a:extLst>
                  <a:ext uri="{FF2B5EF4-FFF2-40B4-BE49-F238E27FC236}">
                    <a16:creationId xmlns:a16="http://schemas.microsoft.com/office/drawing/2014/main" id="{6BD94161-A24C-4431-A8D2-65D2ED2B2FC3}"/>
                  </a:ext>
                </a:extLst>
              </p:cNvPr>
              <p:cNvSpPr txBox="1">
                <a:spLocks noChangeArrowheads="1"/>
              </p:cNvSpPr>
              <p:nvPr/>
            </p:nvSpPr>
            <p:spPr bwMode="auto">
              <a:xfrm>
                <a:off x="1584" y="821"/>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82" name="Text Box 11">
                <a:extLst>
                  <a:ext uri="{FF2B5EF4-FFF2-40B4-BE49-F238E27FC236}">
                    <a16:creationId xmlns:a16="http://schemas.microsoft.com/office/drawing/2014/main" id="{A75E9211-F0AF-44BD-A591-39A0762260EC}"/>
                  </a:ext>
                </a:extLst>
              </p:cNvPr>
              <p:cNvSpPr txBox="1">
                <a:spLocks noChangeArrowheads="1"/>
              </p:cNvSpPr>
              <p:nvPr/>
            </p:nvSpPr>
            <p:spPr bwMode="auto">
              <a:xfrm>
                <a:off x="1968" y="1301"/>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83" name="Text Box 12">
                <a:extLst>
                  <a:ext uri="{FF2B5EF4-FFF2-40B4-BE49-F238E27FC236}">
                    <a16:creationId xmlns:a16="http://schemas.microsoft.com/office/drawing/2014/main" id="{2C971108-FA99-42C0-BB9E-9124E511573B}"/>
                  </a:ext>
                </a:extLst>
              </p:cNvPr>
              <p:cNvSpPr txBox="1">
                <a:spLocks noChangeArrowheads="1"/>
              </p:cNvSpPr>
              <p:nvPr/>
            </p:nvSpPr>
            <p:spPr bwMode="auto">
              <a:xfrm>
                <a:off x="1776" y="1541"/>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grpSp>
        <p:sp>
          <p:nvSpPr>
            <p:cNvPr id="140374" name="Text Box 13">
              <a:extLst>
                <a:ext uri="{FF2B5EF4-FFF2-40B4-BE49-F238E27FC236}">
                  <a16:creationId xmlns:a16="http://schemas.microsoft.com/office/drawing/2014/main" id="{ADE462BB-B9F4-4B1E-9847-99F258213749}"/>
                </a:ext>
              </a:extLst>
            </p:cNvPr>
            <p:cNvSpPr txBox="1">
              <a:spLocks noChangeArrowheads="1"/>
            </p:cNvSpPr>
            <p:nvPr/>
          </p:nvSpPr>
          <p:spPr bwMode="auto">
            <a:xfrm>
              <a:off x="672" y="1680"/>
              <a:ext cx="1407"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chemeClr val="tx1"/>
                  </a:solidFill>
                </a:rPr>
                <a:t>带正电荷的蛋白质</a:t>
              </a:r>
            </a:p>
          </p:txBody>
        </p:sp>
      </p:grpSp>
      <p:grpSp>
        <p:nvGrpSpPr>
          <p:cNvPr id="140291" name="Group 14">
            <a:extLst>
              <a:ext uri="{FF2B5EF4-FFF2-40B4-BE49-F238E27FC236}">
                <a16:creationId xmlns:a16="http://schemas.microsoft.com/office/drawing/2014/main" id="{AB04A136-35A0-4334-B449-56D138062844}"/>
              </a:ext>
            </a:extLst>
          </p:cNvPr>
          <p:cNvGrpSpPr>
            <a:grpSpLocks/>
          </p:cNvGrpSpPr>
          <p:nvPr/>
        </p:nvGrpSpPr>
        <p:grpSpPr bwMode="auto">
          <a:xfrm>
            <a:off x="7772401" y="1143000"/>
            <a:ext cx="2233613" cy="1925638"/>
            <a:chOff x="3936" y="720"/>
            <a:chExt cx="1407" cy="1213"/>
          </a:xfrm>
        </p:grpSpPr>
        <p:grpSp>
          <p:nvGrpSpPr>
            <p:cNvPr id="140361" name="Group 15">
              <a:extLst>
                <a:ext uri="{FF2B5EF4-FFF2-40B4-BE49-F238E27FC236}">
                  <a16:creationId xmlns:a16="http://schemas.microsoft.com/office/drawing/2014/main" id="{52BF9430-E227-4ABA-B34A-CD6C6D72C057}"/>
                </a:ext>
              </a:extLst>
            </p:cNvPr>
            <p:cNvGrpSpPr>
              <a:grpSpLocks/>
            </p:cNvGrpSpPr>
            <p:nvPr/>
          </p:nvGrpSpPr>
          <p:grpSpPr bwMode="auto">
            <a:xfrm>
              <a:off x="4176" y="720"/>
              <a:ext cx="1028" cy="1012"/>
              <a:chOff x="4512" y="816"/>
              <a:chExt cx="1028" cy="1012"/>
            </a:xfrm>
          </p:grpSpPr>
          <p:sp>
            <p:nvSpPr>
              <p:cNvPr id="140363" name="Oval 16" descr="花束">
                <a:extLst>
                  <a:ext uri="{FF2B5EF4-FFF2-40B4-BE49-F238E27FC236}">
                    <a16:creationId xmlns:a16="http://schemas.microsoft.com/office/drawing/2014/main" id="{96A563CE-E59E-4248-B327-8D65940F2DFE}"/>
                  </a:ext>
                </a:extLst>
              </p:cNvPr>
              <p:cNvSpPr>
                <a:spLocks noChangeArrowheads="1"/>
              </p:cNvSpPr>
              <p:nvPr/>
            </p:nvSpPr>
            <p:spPr bwMode="auto">
              <a:xfrm>
                <a:off x="4704" y="1008"/>
                <a:ext cx="576" cy="576"/>
              </a:xfrm>
              <a:prstGeom prst="ellipse">
                <a:avLst/>
              </a:prstGeom>
              <a:blipFill dpi="0" rotWithShape="0">
                <a:blip r:embed="rId3"/>
                <a:srcRect/>
                <a:tile tx="0" ty="0" sx="100000" sy="100000" flip="none" algn="tl"/>
              </a:blipFill>
              <a:ln w="9525">
                <a:solidFill>
                  <a:schemeClr val="tx1"/>
                </a:solidFill>
                <a:round/>
                <a:headEnd type="none" w="sm" len="sm"/>
                <a:tailEnd type="none" w="sm" len="sm"/>
              </a:ln>
            </p:spPr>
            <p:txBody>
              <a:bodyPr wrap="none" lIns="90000" tIns="46800" rIns="90000" bIns="46800"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40364" name="Oval 17">
                <a:extLst>
                  <a:ext uri="{FF2B5EF4-FFF2-40B4-BE49-F238E27FC236}">
                    <a16:creationId xmlns:a16="http://schemas.microsoft.com/office/drawing/2014/main" id="{C8455CD4-6E20-47EC-8C2E-19DBED73EC91}"/>
                  </a:ext>
                </a:extLst>
              </p:cNvPr>
              <p:cNvSpPr>
                <a:spLocks noChangeArrowheads="1"/>
              </p:cNvSpPr>
              <p:nvPr/>
            </p:nvSpPr>
            <p:spPr bwMode="auto">
              <a:xfrm>
                <a:off x="4512" y="816"/>
                <a:ext cx="960" cy="960"/>
              </a:xfrm>
              <a:prstGeom prst="ellipse">
                <a:avLst/>
              </a:prstGeom>
              <a:noFill/>
              <a:ln w="952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40365" name="Text Box 18">
                <a:extLst>
                  <a:ext uri="{FF2B5EF4-FFF2-40B4-BE49-F238E27FC236}">
                    <a16:creationId xmlns:a16="http://schemas.microsoft.com/office/drawing/2014/main" id="{D734D079-1765-49E7-9C1A-471A505C725A}"/>
                  </a:ext>
                </a:extLst>
              </p:cNvPr>
              <p:cNvSpPr txBox="1">
                <a:spLocks noChangeArrowheads="1"/>
              </p:cNvSpPr>
              <p:nvPr/>
            </p:nvSpPr>
            <p:spPr bwMode="auto">
              <a:xfrm>
                <a:off x="4704" y="816"/>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66" name="Text Box 19">
                <a:extLst>
                  <a:ext uri="{FF2B5EF4-FFF2-40B4-BE49-F238E27FC236}">
                    <a16:creationId xmlns:a16="http://schemas.microsoft.com/office/drawing/2014/main" id="{3587C702-B04D-4035-8B65-6D9E0C3A3EB0}"/>
                  </a:ext>
                </a:extLst>
              </p:cNvPr>
              <p:cNvSpPr txBox="1">
                <a:spLocks noChangeArrowheads="1"/>
              </p:cNvSpPr>
              <p:nvPr/>
            </p:nvSpPr>
            <p:spPr bwMode="auto">
              <a:xfrm>
                <a:off x="5088" y="864"/>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67" name="Text Box 20">
                <a:extLst>
                  <a:ext uri="{FF2B5EF4-FFF2-40B4-BE49-F238E27FC236}">
                    <a16:creationId xmlns:a16="http://schemas.microsoft.com/office/drawing/2014/main" id="{36F7A344-898B-48B9-8FBB-83558BB1B404}"/>
                  </a:ext>
                </a:extLst>
              </p:cNvPr>
              <p:cNvSpPr txBox="1">
                <a:spLocks noChangeArrowheads="1"/>
              </p:cNvSpPr>
              <p:nvPr/>
            </p:nvSpPr>
            <p:spPr bwMode="auto">
              <a:xfrm>
                <a:off x="5232" y="1104"/>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68" name="Text Box 21">
                <a:extLst>
                  <a:ext uri="{FF2B5EF4-FFF2-40B4-BE49-F238E27FC236}">
                    <a16:creationId xmlns:a16="http://schemas.microsoft.com/office/drawing/2014/main" id="{CBD0B038-59D9-44A2-865F-E4D81FB8A4E5}"/>
                  </a:ext>
                </a:extLst>
              </p:cNvPr>
              <p:cNvSpPr txBox="1">
                <a:spLocks noChangeArrowheads="1"/>
              </p:cNvSpPr>
              <p:nvPr/>
            </p:nvSpPr>
            <p:spPr bwMode="auto">
              <a:xfrm>
                <a:off x="4704" y="1488"/>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69" name="Text Box 22">
                <a:extLst>
                  <a:ext uri="{FF2B5EF4-FFF2-40B4-BE49-F238E27FC236}">
                    <a16:creationId xmlns:a16="http://schemas.microsoft.com/office/drawing/2014/main" id="{3F279B78-0FC0-4DD9-A167-5B0B12657820}"/>
                  </a:ext>
                </a:extLst>
              </p:cNvPr>
              <p:cNvSpPr txBox="1">
                <a:spLocks noChangeArrowheads="1"/>
              </p:cNvSpPr>
              <p:nvPr/>
            </p:nvSpPr>
            <p:spPr bwMode="auto">
              <a:xfrm>
                <a:off x="4512" y="1344"/>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70" name="Text Box 23">
                <a:extLst>
                  <a:ext uri="{FF2B5EF4-FFF2-40B4-BE49-F238E27FC236}">
                    <a16:creationId xmlns:a16="http://schemas.microsoft.com/office/drawing/2014/main" id="{B61D7AFE-2CAF-4BE3-8237-D9D915273F16}"/>
                  </a:ext>
                </a:extLst>
              </p:cNvPr>
              <p:cNvSpPr txBox="1">
                <a:spLocks noChangeArrowheads="1"/>
              </p:cNvSpPr>
              <p:nvPr/>
            </p:nvSpPr>
            <p:spPr bwMode="auto">
              <a:xfrm>
                <a:off x="4896" y="1536"/>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71" name="Text Box 24">
                <a:extLst>
                  <a:ext uri="{FF2B5EF4-FFF2-40B4-BE49-F238E27FC236}">
                    <a16:creationId xmlns:a16="http://schemas.microsoft.com/office/drawing/2014/main" id="{B383B7E7-A131-4A99-AF06-D31C854BF7D5}"/>
                  </a:ext>
                </a:extLst>
              </p:cNvPr>
              <p:cNvSpPr txBox="1">
                <a:spLocks noChangeArrowheads="1"/>
              </p:cNvSpPr>
              <p:nvPr/>
            </p:nvSpPr>
            <p:spPr bwMode="auto">
              <a:xfrm>
                <a:off x="5136" y="1392"/>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72" name="Text Box 25">
                <a:extLst>
                  <a:ext uri="{FF2B5EF4-FFF2-40B4-BE49-F238E27FC236}">
                    <a16:creationId xmlns:a16="http://schemas.microsoft.com/office/drawing/2014/main" id="{78B351AE-9627-43BC-AB37-2A45CA88D32E}"/>
                  </a:ext>
                </a:extLst>
              </p:cNvPr>
              <p:cNvSpPr txBox="1">
                <a:spLocks noChangeArrowheads="1"/>
              </p:cNvSpPr>
              <p:nvPr/>
            </p:nvSpPr>
            <p:spPr bwMode="auto">
              <a:xfrm>
                <a:off x="4512" y="1008"/>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grpSp>
        <p:sp>
          <p:nvSpPr>
            <p:cNvPr id="140362" name="Text Box 26">
              <a:extLst>
                <a:ext uri="{FF2B5EF4-FFF2-40B4-BE49-F238E27FC236}">
                  <a16:creationId xmlns:a16="http://schemas.microsoft.com/office/drawing/2014/main" id="{A9D9FDBE-9A2E-48D9-B1F0-54FD52738DF4}"/>
                </a:ext>
              </a:extLst>
            </p:cNvPr>
            <p:cNvSpPr txBox="1">
              <a:spLocks noChangeArrowheads="1"/>
            </p:cNvSpPr>
            <p:nvPr/>
          </p:nvSpPr>
          <p:spPr bwMode="auto">
            <a:xfrm>
              <a:off x="3936" y="1680"/>
              <a:ext cx="1407"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chemeClr val="tx1"/>
                  </a:solidFill>
                </a:rPr>
                <a:t>带负电荷的蛋白质</a:t>
              </a:r>
            </a:p>
          </p:txBody>
        </p:sp>
      </p:grpSp>
      <p:grpSp>
        <p:nvGrpSpPr>
          <p:cNvPr id="140292" name="Group 27">
            <a:extLst>
              <a:ext uri="{FF2B5EF4-FFF2-40B4-BE49-F238E27FC236}">
                <a16:creationId xmlns:a16="http://schemas.microsoft.com/office/drawing/2014/main" id="{F319DB1D-E216-4AD2-A163-C8A78F7E5381}"/>
              </a:ext>
            </a:extLst>
          </p:cNvPr>
          <p:cNvGrpSpPr>
            <a:grpSpLocks/>
          </p:cNvGrpSpPr>
          <p:nvPr/>
        </p:nvGrpSpPr>
        <p:grpSpPr bwMode="auto">
          <a:xfrm>
            <a:off x="5105401" y="1143000"/>
            <a:ext cx="2233613" cy="1925638"/>
            <a:chOff x="2256" y="720"/>
            <a:chExt cx="1407" cy="1213"/>
          </a:xfrm>
        </p:grpSpPr>
        <p:grpSp>
          <p:nvGrpSpPr>
            <p:cNvPr id="140357" name="Group 28">
              <a:extLst>
                <a:ext uri="{FF2B5EF4-FFF2-40B4-BE49-F238E27FC236}">
                  <a16:creationId xmlns:a16="http://schemas.microsoft.com/office/drawing/2014/main" id="{A26CC6EC-8603-4890-AB59-09AD2553C217}"/>
                </a:ext>
              </a:extLst>
            </p:cNvPr>
            <p:cNvGrpSpPr>
              <a:grpSpLocks/>
            </p:cNvGrpSpPr>
            <p:nvPr/>
          </p:nvGrpSpPr>
          <p:grpSpPr bwMode="auto">
            <a:xfrm>
              <a:off x="2544" y="720"/>
              <a:ext cx="960" cy="960"/>
              <a:chOff x="2976" y="912"/>
              <a:chExt cx="960" cy="960"/>
            </a:xfrm>
          </p:grpSpPr>
          <p:sp>
            <p:nvSpPr>
              <p:cNvPr id="140359" name="Oval 29" descr="花束">
                <a:extLst>
                  <a:ext uri="{FF2B5EF4-FFF2-40B4-BE49-F238E27FC236}">
                    <a16:creationId xmlns:a16="http://schemas.microsoft.com/office/drawing/2014/main" id="{669E48B9-3C0E-4905-A497-07F99D5806E8}"/>
                  </a:ext>
                </a:extLst>
              </p:cNvPr>
              <p:cNvSpPr>
                <a:spLocks noChangeArrowheads="1"/>
              </p:cNvSpPr>
              <p:nvPr/>
            </p:nvSpPr>
            <p:spPr bwMode="auto">
              <a:xfrm>
                <a:off x="3168" y="1104"/>
                <a:ext cx="576" cy="576"/>
              </a:xfrm>
              <a:prstGeom prst="ellipse">
                <a:avLst/>
              </a:prstGeom>
              <a:blipFill dpi="0" rotWithShape="0">
                <a:blip r:embed="rId3"/>
                <a:srcRect/>
                <a:tile tx="0" ty="0" sx="100000" sy="100000" flip="none" algn="tl"/>
              </a:blipFill>
              <a:ln w="9525">
                <a:solidFill>
                  <a:schemeClr val="tx1"/>
                </a:solidFill>
                <a:round/>
                <a:headEnd type="none" w="sm" len="sm"/>
                <a:tailEnd type="none" w="sm" len="sm"/>
              </a:ln>
            </p:spPr>
            <p:txBody>
              <a:bodyPr wrap="none" lIns="90000" tIns="46800" rIns="90000" bIns="46800"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40360" name="Oval 30">
                <a:extLst>
                  <a:ext uri="{FF2B5EF4-FFF2-40B4-BE49-F238E27FC236}">
                    <a16:creationId xmlns:a16="http://schemas.microsoft.com/office/drawing/2014/main" id="{C8780A2F-AE63-4ADC-8405-46756066858C}"/>
                  </a:ext>
                </a:extLst>
              </p:cNvPr>
              <p:cNvSpPr>
                <a:spLocks noChangeArrowheads="1"/>
              </p:cNvSpPr>
              <p:nvPr/>
            </p:nvSpPr>
            <p:spPr bwMode="auto">
              <a:xfrm>
                <a:off x="2976" y="912"/>
                <a:ext cx="960" cy="960"/>
              </a:xfrm>
              <a:prstGeom prst="ellipse">
                <a:avLst/>
              </a:prstGeom>
              <a:noFill/>
              <a:ln w="952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grpSp>
        <p:sp>
          <p:nvSpPr>
            <p:cNvPr id="140358" name="Text Box 31">
              <a:extLst>
                <a:ext uri="{FF2B5EF4-FFF2-40B4-BE49-F238E27FC236}">
                  <a16:creationId xmlns:a16="http://schemas.microsoft.com/office/drawing/2014/main" id="{894B69FC-92A5-4565-862C-1722F5826F47}"/>
                </a:ext>
              </a:extLst>
            </p:cNvPr>
            <p:cNvSpPr txBox="1">
              <a:spLocks noChangeArrowheads="1"/>
            </p:cNvSpPr>
            <p:nvPr/>
          </p:nvSpPr>
          <p:spPr bwMode="auto">
            <a:xfrm>
              <a:off x="2256" y="1680"/>
              <a:ext cx="1407"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chemeClr val="tx1"/>
                  </a:solidFill>
                </a:rPr>
                <a:t>在等电点的蛋白质</a:t>
              </a:r>
            </a:p>
          </p:txBody>
        </p:sp>
      </p:grpSp>
      <p:sp>
        <p:nvSpPr>
          <p:cNvPr id="140293" name="AutoShape 32">
            <a:extLst>
              <a:ext uri="{FF2B5EF4-FFF2-40B4-BE49-F238E27FC236}">
                <a16:creationId xmlns:a16="http://schemas.microsoft.com/office/drawing/2014/main" id="{CA3A3D82-5EC0-4B95-B84E-8430DB40318D}"/>
              </a:ext>
            </a:extLst>
          </p:cNvPr>
          <p:cNvSpPr>
            <a:spLocks noChangeArrowheads="1"/>
          </p:cNvSpPr>
          <p:nvPr/>
        </p:nvSpPr>
        <p:spPr bwMode="auto">
          <a:xfrm>
            <a:off x="4267200" y="457200"/>
            <a:ext cx="1219200" cy="381000"/>
          </a:xfrm>
          <a:prstGeom prst="wedgeRoundRectCallout">
            <a:avLst>
              <a:gd name="adj1" fmla="val -81250"/>
              <a:gd name="adj2" fmla="val 182083"/>
              <a:gd name="adj3" fmla="val 16667"/>
            </a:avLst>
          </a:prstGeom>
          <a:solidFill>
            <a:srgbClr val="F7EFCD"/>
          </a:solidFill>
          <a:ln w="9525">
            <a:solidFill>
              <a:schemeClr val="hlink"/>
            </a:solidFill>
            <a:miter lim="800000"/>
            <a:headEnd type="none" w="sm" len="sm"/>
            <a:tailEnd type="none" w="sm" len="sm"/>
          </a:ln>
        </p:spPr>
        <p:txBody>
          <a:bodyPr lIns="90000" tIns="46800" rIns="90000" bIns="46800"/>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lnSpc>
                <a:spcPct val="80000"/>
              </a:lnSpc>
              <a:spcBef>
                <a:spcPct val="0"/>
              </a:spcBef>
              <a:buClrTx/>
              <a:buNone/>
              <a:defRPr/>
            </a:pPr>
            <a:r>
              <a:rPr kumimoji="1" lang="zh-CN" altLang="en-US" sz="2400">
                <a:solidFill>
                  <a:srgbClr val="000066"/>
                </a:solidFill>
                <a:latin typeface="Arial" panose="020B0604020202020204" pitchFamily="34" charset="0"/>
                <a:ea typeface="宋体" panose="02010600030101010101" pitchFamily="2" charset="-122"/>
              </a:rPr>
              <a:t>水化膜</a:t>
            </a:r>
          </a:p>
        </p:txBody>
      </p:sp>
      <p:grpSp>
        <p:nvGrpSpPr>
          <p:cNvPr id="140294" name="Group 33">
            <a:extLst>
              <a:ext uri="{FF2B5EF4-FFF2-40B4-BE49-F238E27FC236}">
                <a16:creationId xmlns:a16="http://schemas.microsoft.com/office/drawing/2014/main" id="{A588AF20-315F-478D-9095-D4E2789912F7}"/>
              </a:ext>
            </a:extLst>
          </p:cNvPr>
          <p:cNvGrpSpPr>
            <a:grpSpLocks/>
          </p:cNvGrpSpPr>
          <p:nvPr/>
        </p:nvGrpSpPr>
        <p:grpSpPr bwMode="auto">
          <a:xfrm>
            <a:off x="2514601" y="3733800"/>
            <a:ext cx="7643813" cy="2001838"/>
            <a:chOff x="624" y="2256"/>
            <a:chExt cx="4815" cy="1261"/>
          </a:xfrm>
        </p:grpSpPr>
        <p:grpSp>
          <p:nvGrpSpPr>
            <p:cNvPr id="140329" name="Group 34">
              <a:extLst>
                <a:ext uri="{FF2B5EF4-FFF2-40B4-BE49-F238E27FC236}">
                  <a16:creationId xmlns:a16="http://schemas.microsoft.com/office/drawing/2014/main" id="{9EEBC60C-2A0D-4604-B5BD-8120DC1DC823}"/>
                </a:ext>
              </a:extLst>
            </p:cNvPr>
            <p:cNvGrpSpPr>
              <a:grpSpLocks/>
            </p:cNvGrpSpPr>
            <p:nvPr/>
          </p:nvGrpSpPr>
          <p:grpSpPr bwMode="auto">
            <a:xfrm>
              <a:off x="624" y="2261"/>
              <a:ext cx="1407" cy="1256"/>
              <a:chOff x="624" y="2261"/>
              <a:chExt cx="1407" cy="1256"/>
            </a:xfrm>
          </p:grpSpPr>
          <p:grpSp>
            <p:nvGrpSpPr>
              <p:cNvPr id="140346" name="Group 35">
                <a:extLst>
                  <a:ext uri="{FF2B5EF4-FFF2-40B4-BE49-F238E27FC236}">
                    <a16:creationId xmlns:a16="http://schemas.microsoft.com/office/drawing/2014/main" id="{B165C89B-0F05-4908-94FD-FF8239F6BB4F}"/>
                  </a:ext>
                </a:extLst>
              </p:cNvPr>
              <p:cNvGrpSpPr>
                <a:grpSpLocks/>
              </p:cNvGrpSpPr>
              <p:nvPr/>
            </p:nvGrpSpPr>
            <p:grpSpPr bwMode="auto">
              <a:xfrm>
                <a:off x="816" y="2261"/>
                <a:ext cx="944" cy="1012"/>
                <a:chOff x="960" y="2213"/>
                <a:chExt cx="944" cy="1012"/>
              </a:xfrm>
            </p:grpSpPr>
            <p:sp>
              <p:nvSpPr>
                <p:cNvPr id="140348" name="Oval 36" descr="花束">
                  <a:extLst>
                    <a:ext uri="{FF2B5EF4-FFF2-40B4-BE49-F238E27FC236}">
                      <a16:creationId xmlns:a16="http://schemas.microsoft.com/office/drawing/2014/main" id="{D3B42F95-D5BF-462A-AAF9-926050324DB8}"/>
                    </a:ext>
                  </a:extLst>
                </p:cNvPr>
                <p:cNvSpPr>
                  <a:spLocks noChangeArrowheads="1"/>
                </p:cNvSpPr>
                <p:nvPr/>
              </p:nvSpPr>
              <p:spPr bwMode="auto">
                <a:xfrm>
                  <a:off x="1152" y="2448"/>
                  <a:ext cx="576" cy="576"/>
                </a:xfrm>
                <a:prstGeom prst="ellipse">
                  <a:avLst/>
                </a:prstGeom>
                <a:blipFill dpi="0" rotWithShape="0">
                  <a:blip r:embed="rId3"/>
                  <a:srcRect/>
                  <a:tile tx="0" ty="0" sx="100000" sy="100000" flip="none" algn="tl"/>
                </a:blipFill>
                <a:ln w="9525">
                  <a:solidFill>
                    <a:schemeClr val="tx1"/>
                  </a:solidFill>
                  <a:round/>
                  <a:headEnd type="none" w="sm" len="sm"/>
                  <a:tailEnd type="none" w="sm" len="sm"/>
                </a:ln>
              </p:spPr>
              <p:txBody>
                <a:bodyPr wrap="none" lIns="90000" tIns="46800" rIns="90000" bIns="46800"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40349" name="Text Box 37">
                  <a:extLst>
                    <a:ext uri="{FF2B5EF4-FFF2-40B4-BE49-F238E27FC236}">
                      <a16:creationId xmlns:a16="http://schemas.microsoft.com/office/drawing/2014/main" id="{01C3DCDE-7B59-4F5B-B8CB-54258FBA156B}"/>
                    </a:ext>
                  </a:extLst>
                </p:cNvPr>
                <p:cNvSpPr txBox="1">
                  <a:spLocks noChangeArrowheads="1"/>
                </p:cNvSpPr>
                <p:nvPr/>
              </p:nvSpPr>
              <p:spPr bwMode="auto">
                <a:xfrm>
                  <a:off x="1056" y="2309"/>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50" name="Text Box 38">
                  <a:extLst>
                    <a:ext uri="{FF2B5EF4-FFF2-40B4-BE49-F238E27FC236}">
                      <a16:creationId xmlns:a16="http://schemas.microsoft.com/office/drawing/2014/main" id="{4C2B8E1C-D37E-4CA1-8A96-42F6CD651E89}"/>
                    </a:ext>
                  </a:extLst>
                </p:cNvPr>
                <p:cNvSpPr txBox="1">
                  <a:spLocks noChangeArrowheads="1"/>
                </p:cNvSpPr>
                <p:nvPr/>
              </p:nvSpPr>
              <p:spPr bwMode="auto">
                <a:xfrm>
                  <a:off x="1296" y="2213"/>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51" name="Text Box 39">
                  <a:extLst>
                    <a:ext uri="{FF2B5EF4-FFF2-40B4-BE49-F238E27FC236}">
                      <a16:creationId xmlns:a16="http://schemas.microsoft.com/office/drawing/2014/main" id="{F5A921FB-4BD5-48F6-B90B-AB9053DA4C27}"/>
                    </a:ext>
                  </a:extLst>
                </p:cNvPr>
                <p:cNvSpPr txBox="1">
                  <a:spLocks noChangeArrowheads="1"/>
                </p:cNvSpPr>
                <p:nvPr/>
              </p:nvSpPr>
              <p:spPr bwMode="auto">
                <a:xfrm>
                  <a:off x="1008" y="2789"/>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52" name="Text Box 40">
                  <a:extLst>
                    <a:ext uri="{FF2B5EF4-FFF2-40B4-BE49-F238E27FC236}">
                      <a16:creationId xmlns:a16="http://schemas.microsoft.com/office/drawing/2014/main" id="{C70473FC-6947-45D5-98A8-2D23B6E6B656}"/>
                    </a:ext>
                  </a:extLst>
                </p:cNvPr>
                <p:cNvSpPr txBox="1">
                  <a:spLocks noChangeArrowheads="1"/>
                </p:cNvSpPr>
                <p:nvPr/>
              </p:nvSpPr>
              <p:spPr bwMode="auto">
                <a:xfrm>
                  <a:off x="1584" y="2309"/>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53" name="Text Box 41">
                  <a:extLst>
                    <a:ext uri="{FF2B5EF4-FFF2-40B4-BE49-F238E27FC236}">
                      <a16:creationId xmlns:a16="http://schemas.microsoft.com/office/drawing/2014/main" id="{C2C2A7DA-82FF-46B8-8337-3F5E4D588138}"/>
                    </a:ext>
                  </a:extLst>
                </p:cNvPr>
                <p:cNvSpPr txBox="1">
                  <a:spLocks noChangeArrowheads="1"/>
                </p:cNvSpPr>
                <p:nvPr/>
              </p:nvSpPr>
              <p:spPr bwMode="auto">
                <a:xfrm>
                  <a:off x="1440" y="2933"/>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54" name="Text Box 42">
                  <a:extLst>
                    <a:ext uri="{FF2B5EF4-FFF2-40B4-BE49-F238E27FC236}">
                      <a16:creationId xmlns:a16="http://schemas.microsoft.com/office/drawing/2014/main" id="{E8F0CFA8-21D7-44CA-889D-A67AF81493EC}"/>
                    </a:ext>
                  </a:extLst>
                </p:cNvPr>
                <p:cNvSpPr txBox="1">
                  <a:spLocks noChangeArrowheads="1"/>
                </p:cNvSpPr>
                <p:nvPr/>
              </p:nvSpPr>
              <p:spPr bwMode="auto">
                <a:xfrm>
                  <a:off x="1200" y="2933"/>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55" name="Text Box 43">
                  <a:extLst>
                    <a:ext uri="{FF2B5EF4-FFF2-40B4-BE49-F238E27FC236}">
                      <a16:creationId xmlns:a16="http://schemas.microsoft.com/office/drawing/2014/main" id="{9648F0C1-ADA5-49A6-9FF3-B1A1928995A7}"/>
                    </a:ext>
                  </a:extLst>
                </p:cNvPr>
                <p:cNvSpPr txBox="1">
                  <a:spLocks noChangeArrowheads="1"/>
                </p:cNvSpPr>
                <p:nvPr/>
              </p:nvSpPr>
              <p:spPr bwMode="auto">
                <a:xfrm>
                  <a:off x="960" y="2549"/>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sp>
              <p:nvSpPr>
                <p:cNvPr id="140356" name="Text Box 44">
                  <a:extLst>
                    <a:ext uri="{FF2B5EF4-FFF2-40B4-BE49-F238E27FC236}">
                      <a16:creationId xmlns:a16="http://schemas.microsoft.com/office/drawing/2014/main" id="{D92F03E2-3C5A-4E1B-8160-A35C91E29B70}"/>
                    </a:ext>
                  </a:extLst>
                </p:cNvPr>
                <p:cNvSpPr txBox="1">
                  <a:spLocks noChangeArrowheads="1"/>
                </p:cNvSpPr>
                <p:nvPr/>
              </p:nvSpPr>
              <p:spPr bwMode="auto">
                <a:xfrm>
                  <a:off x="1680" y="2597"/>
                  <a:ext cx="22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rPr>
                    <a:t>+</a:t>
                  </a:r>
                </a:p>
              </p:txBody>
            </p:sp>
          </p:grpSp>
          <p:sp>
            <p:nvSpPr>
              <p:cNvPr id="140347" name="Text Box 45">
                <a:extLst>
                  <a:ext uri="{FF2B5EF4-FFF2-40B4-BE49-F238E27FC236}">
                    <a16:creationId xmlns:a16="http://schemas.microsoft.com/office/drawing/2014/main" id="{9D823354-4B79-4255-8A79-3630790140BE}"/>
                  </a:ext>
                </a:extLst>
              </p:cNvPr>
              <p:cNvSpPr txBox="1">
                <a:spLocks noChangeArrowheads="1"/>
              </p:cNvSpPr>
              <p:nvPr/>
            </p:nvSpPr>
            <p:spPr bwMode="auto">
              <a:xfrm>
                <a:off x="624" y="3264"/>
                <a:ext cx="1407"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chemeClr val="tx1"/>
                    </a:solidFill>
                  </a:rPr>
                  <a:t>带正电荷的蛋白质</a:t>
                </a:r>
              </a:p>
            </p:txBody>
          </p:sp>
        </p:grpSp>
        <p:grpSp>
          <p:nvGrpSpPr>
            <p:cNvPr id="140330" name="Group 46">
              <a:extLst>
                <a:ext uri="{FF2B5EF4-FFF2-40B4-BE49-F238E27FC236}">
                  <a16:creationId xmlns:a16="http://schemas.microsoft.com/office/drawing/2014/main" id="{BEF8F074-1E50-41EA-AC94-DEA712237011}"/>
                </a:ext>
              </a:extLst>
            </p:cNvPr>
            <p:cNvGrpSpPr>
              <a:grpSpLocks/>
            </p:cNvGrpSpPr>
            <p:nvPr/>
          </p:nvGrpSpPr>
          <p:grpSpPr bwMode="auto">
            <a:xfrm>
              <a:off x="4032" y="2256"/>
              <a:ext cx="1407" cy="1261"/>
              <a:chOff x="3984" y="2256"/>
              <a:chExt cx="1407" cy="1261"/>
            </a:xfrm>
          </p:grpSpPr>
          <p:grpSp>
            <p:nvGrpSpPr>
              <p:cNvPr id="140334" name="Group 47">
                <a:extLst>
                  <a:ext uri="{FF2B5EF4-FFF2-40B4-BE49-F238E27FC236}">
                    <a16:creationId xmlns:a16="http://schemas.microsoft.com/office/drawing/2014/main" id="{130914B8-E721-4105-B835-9F8CF39215EF}"/>
                  </a:ext>
                </a:extLst>
              </p:cNvPr>
              <p:cNvGrpSpPr>
                <a:grpSpLocks/>
              </p:cNvGrpSpPr>
              <p:nvPr/>
            </p:nvGrpSpPr>
            <p:grpSpPr bwMode="auto">
              <a:xfrm>
                <a:off x="4080" y="2256"/>
                <a:ext cx="1076" cy="1012"/>
                <a:chOff x="4128" y="2256"/>
                <a:chExt cx="1076" cy="1012"/>
              </a:xfrm>
            </p:grpSpPr>
            <p:sp>
              <p:nvSpPr>
                <p:cNvPr id="140336" name="Text Box 48">
                  <a:extLst>
                    <a:ext uri="{FF2B5EF4-FFF2-40B4-BE49-F238E27FC236}">
                      <a16:creationId xmlns:a16="http://schemas.microsoft.com/office/drawing/2014/main" id="{77DC71EC-AC3E-4765-BAFF-35A652C678A9}"/>
                    </a:ext>
                  </a:extLst>
                </p:cNvPr>
                <p:cNvSpPr txBox="1">
                  <a:spLocks noChangeArrowheads="1"/>
                </p:cNvSpPr>
                <p:nvPr/>
              </p:nvSpPr>
              <p:spPr bwMode="auto">
                <a:xfrm>
                  <a:off x="4128" y="2592"/>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grpSp>
              <p:nvGrpSpPr>
                <p:cNvPr id="140337" name="Group 49">
                  <a:extLst>
                    <a:ext uri="{FF2B5EF4-FFF2-40B4-BE49-F238E27FC236}">
                      <a16:creationId xmlns:a16="http://schemas.microsoft.com/office/drawing/2014/main" id="{07E6B200-591C-42F1-8E7A-7D242B968E5F}"/>
                    </a:ext>
                  </a:extLst>
                </p:cNvPr>
                <p:cNvGrpSpPr>
                  <a:grpSpLocks/>
                </p:cNvGrpSpPr>
                <p:nvPr/>
              </p:nvGrpSpPr>
              <p:grpSpPr bwMode="auto">
                <a:xfrm>
                  <a:off x="4224" y="2256"/>
                  <a:ext cx="980" cy="1012"/>
                  <a:chOff x="4416" y="2208"/>
                  <a:chExt cx="980" cy="1012"/>
                </a:xfrm>
              </p:grpSpPr>
              <p:sp>
                <p:nvSpPr>
                  <p:cNvPr id="140338" name="Oval 50">
                    <a:extLst>
                      <a:ext uri="{FF2B5EF4-FFF2-40B4-BE49-F238E27FC236}">
                        <a16:creationId xmlns:a16="http://schemas.microsoft.com/office/drawing/2014/main" id="{AA7FA864-BA1F-462D-8B23-F6999D7F4CC2}"/>
                      </a:ext>
                    </a:extLst>
                  </p:cNvPr>
                  <p:cNvSpPr>
                    <a:spLocks noChangeArrowheads="1"/>
                  </p:cNvSpPr>
                  <p:nvPr/>
                </p:nvSpPr>
                <p:spPr bwMode="auto">
                  <a:xfrm>
                    <a:off x="4560" y="2448"/>
                    <a:ext cx="576" cy="576"/>
                  </a:xfrm>
                  <a:prstGeom prst="ellipse">
                    <a:avLst/>
                  </a:prstGeom>
                  <a:noFill/>
                  <a:ln w="952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40339" name="Text Box 51">
                    <a:extLst>
                      <a:ext uri="{FF2B5EF4-FFF2-40B4-BE49-F238E27FC236}">
                        <a16:creationId xmlns:a16="http://schemas.microsoft.com/office/drawing/2014/main" id="{7259D9B1-955B-477D-A285-1F6DCB287A2B}"/>
                      </a:ext>
                    </a:extLst>
                  </p:cNvPr>
                  <p:cNvSpPr txBox="1">
                    <a:spLocks noChangeArrowheads="1"/>
                  </p:cNvSpPr>
                  <p:nvPr/>
                </p:nvSpPr>
                <p:spPr bwMode="auto">
                  <a:xfrm>
                    <a:off x="4800" y="2208"/>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40" name="Text Box 52">
                    <a:extLst>
                      <a:ext uri="{FF2B5EF4-FFF2-40B4-BE49-F238E27FC236}">
                        <a16:creationId xmlns:a16="http://schemas.microsoft.com/office/drawing/2014/main" id="{969E5AAA-EE98-4FDD-A6D6-51AB47BCCB89}"/>
                      </a:ext>
                    </a:extLst>
                  </p:cNvPr>
                  <p:cNvSpPr txBox="1">
                    <a:spLocks noChangeArrowheads="1"/>
                  </p:cNvSpPr>
                  <p:nvPr/>
                </p:nvSpPr>
                <p:spPr bwMode="auto">
                  <a:xfrm>
                    <a:off x="4464" y="2304"/>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41" name="Text Box 53">
                    <a:extLst>
                      <a:ext uri="{FF2B5EF4-FFF2-40B4-BE49-F238E27FC236}">
                        <a16:creationId xmlns:a16="http://schemas.microsoft.com/office/drawing/2014/main" id="{C8C3265F-71C8-4323-949D-9E6F25E31A52}"/>
                      </a:ext>
                    </a:extLst>
                  </p:cNvPr>
                  <p:cNvSpPr txBox="1">
                    <a:spLocks noChangeArrowheads="1"/>
                  </p:cNvSpPr>
                  <p:nvPr/>
                </p:nvSpPr>
                <p:spPr bwMode="auto">
                  <a:xfrm>
                    <a:off x="4416" y="2832"/>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42" name="Text Box 54">
                    <a:extLst>
                      <a:ext uri="{FF2B5EF4-FFF2-40B4-BE49-F238E27FC236}">
                        <a16:creationId xmlns:a16="http://schemas.microsoft.com/office/drawing/2014/main" id="{B378A812-01C3-445F-B2A1-9E86A790B077}"/>
                      </a:ext>
                    </a:extLst>
                  </p:cNvPr>
                  <p:cNvSpPr txBox="1">
                    <a:spLocks noChangeArrowheads="1"/>
                  </p:cNvSpPr>
                  <p:nvPr/>
                </p:nvSpPr>
                <p:spPr bwMode="auto">
                  <a:xfrm>
                    <a:off x="5040" y="2448"/>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43" name="Text Box 55">
                    <a:extLst>
                      <a:ext uri="{FF2B5EF4-FFF2-40B4-BE49-F238E27FC236}">
                        <a16:creationId xmlns:a16="http://schemas.microsoft.com/office/drawing/2014/main" id="{4D79FCD7-F5DD-4AF1-92C6-4C6AFBF9C59F}"/>
                      </a:ext>
                    </a:extLst>
                  </p:cNvPr>
                  <p:cNvSpPr txBox="1">
                    <a:spLocks noChangeArrowheads="1"/>
                  </p:cNvSpPr>
                  <p:nvPr/>
                </p:nvSpPr>
                <p:spPr bwMode="auto">
                  <a:xfrm>
                    <a:off x="5088" y="2688"/>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44" name="Text Box 56">
                    <a:extLst>
                      <a:ext uri="{FF2B5EF4-FFF2-40B4-BE49-F238E27FC236}">
                        <a16:creationId xmlns:a16="http://schemas.microsoft.com/office/drawing/2014/main" id="{6D18CCE1-8166-45E2-B184-D2E5AC0B89FC}"/>
                      </a:ext>
                    </a:extLst>
                  </p:cNvPr>
                  <p:cNvSpPr txBox="1">
                    <a:spLocks noChangeArrowheads="1"/>
                  </p:cNvSpPr>
                  <p:nvPr/>
                </p:nvSpPr>
                <p:spPr bwMode="auto">
                  <a:xfrm>
                    <a:off x="4896" y="2928"/>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sp>
                <p:nvSpPr>
                  <p:cNvPr id="140345" name="Text Box 57">
                    <a:extLst>
                      <a:ext uri="{FF2B5EF4-FFF2-40B4-BE49-F238E27FC236}">
                        <a16:creationId xmlns:a16="http://schemas.microsoft.com/office/drawing/2014/main" id="{44E6B238-06E9-4C72-9AAA-3D460B619370}"/>
                      </a:ext>
                    </a:extLst>
                  </p:cNvPr>
                  <p:cNvSpPr txBox="1">
                    <a:spLocks noChangeArrowheads="1"/>
                  </p:cNvSpPr>
                  <p:nvPr/>
                </p:nvSpPr>
                <p:spPr bwMode="auto">
                  <a:xfrm>
                    <a:off x="4608" y="2928"/>
                    <a:ext cx="30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chemeClr val="tx1"/>
                        </a:solidFill>
                      </a:rPr>
                      <a:t>－</a:t>
                    </a:r>
                  </a:p>
                </p:txBody>
              </p:sp>
            </p:grpSp>
          </p:grpSp>
          <p:sp>
            <p:nvSpPr>
              <p:cNvPr id="140335" name="Text Box 58">
                <a:extLst>
                  <a:ext uri="{FF2B5EF4-FFF2-40B4-BE49-F238E27FC236}">
                    <a16:creationId xmlns:a16="http://schemas.microsoft.com/office/drawing/2014/main" id="{F4142F4B-ABC1-471C-AAFE-A0434F2673A0}"/>
                  </a:ext>
                </a:extLst>
              </p:cNvPr>
              <p:cNvSpPr txBox="1">
                <a:spLocks noChangeArrowheads="1"/>
              </p:cNvSpPr>
              <p:nvPr/>
            </p:nvSpPr>
            <p:spPr bwMode="auto">
              <a:xfrm>
                <a:off x="3984" y="3264"/>
                <a:ext cx="1407"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chemeClr val="tx1"/>
                    </a:solidFill>
                  </a:rPr>
                  <a:t>带负电荷的蛋白质</a:t>
                </a:r>
              </a:p>
            </p:txBody>
          </p:sp>
        </p:grpSp>
        <p:grpSp>
          <p:nvGrpSpPr>
            <p:cNvPr id="140331" name="Group 59">
              <a:extLst>
                <a:ext uri="{FF2B5EF4-FFF2-40B4-BE49-F238E27FC236}">
                  <a16:creationId xmlns:a16="http://schemas.microsoft.com/office/drawing/2014/main" id="{EDDADAAD-755D-47FA-AD91-7F629B784E54}"/>
                </a:ext>
              </a:extLst>
            </p:cNvPr>
            <p:cNvGrpSpPr>
              <a:grpSpLocks/>
            </p:cNvGrpSpPr>
            <p:nvPr/>
          </p:nvGrpSpPr>
          <p:grpSpPr bwMode="auto">
            <a:xfrm>
              <a:off x="2160" y="2544"/>
              <a:ext cx="1569" cy="973"/>
              <a:chOff x="2160" y="2544"/>
              <a:chExt cx="1569" cy="973"/>
            </a:xfrm>
          </p:grpSpPr>
          <p:sp>
            <p:nvSpPr>
              <p:cNvPr id="140332" name="Oval 60" descr="花束">
                <a:extLst>
                  <a:ext uri="{FF2B5EF4-FFF2-40B4-BE49-F238E27FC236}">
                    <a16:creationId xmlns:a16="http://schemas.microsoft.com/office/drawing/2014/main" id="{890021E4-3348-469E-AF3F-1BA339A3F7E5}"/>
                  </a:ext>
                </a:extLst>
              </p:cNvPr>
              <p:cNvSpPr>
                <a:spLocks noChangeArrowheads="1"/>
              </p:cNvSpPr>
              <p:nvPr/>
            </p:nvSpPr>
            <p:spPr bwMode="auto">
              <a:xfrm>
                <a:off x="2688" y="2544"/>
                <a:ext cx="576" cy="576"/>
              </a:xfrm>
              <a:prstGeom prst="ellipse">
                <a:avLst/>
              </a:prstGeom>
              <a:blipFill dpi="0" rotWithShape="0">
                <a:blip r:embed="rId3"/>
                <a:srcRect/>
                <a:tile tx="0" ty="0" sx="100000" sy="100000" flip="none" algn="tl"/>
              </a:blipFill>
              <a:ln w="9525">
                <a:solidFill>
                  <a:schemeClr val="tx1"/>
                </a:solidFill>
                <a:round/>
                <a:headEnd type="none" w="sm" len="sm"/>
                <a:tailEnd type="none" w="sm" len="sm"/>
              </a:ln>
            </p:spPr>
            <p:txBody>
              <a:bodyPr wrap="none" lIns="90000" tIns="46800" rIns="90000" bIns="46800"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40333" name="Text Box 61">
                <a:extLst>
                  <a:ext uri="{FF2B5EF4-FFF2-40B4-BE49-F238E27FC236}">
                    <a16:creationId xmlns:a16="http://schemas.microsoft.com/office/drawing/2014/main" id="{6669FE37-1E24-4DC5-B6C3-3B38B6D3362D}"/>
                  </a:ext>
                </a:extLst>
              </p:cNvPr>
              <p:cNvSpPr txBox="1">
                <a:spLocks noChangeArrowheads="1"/>
              </p:cNvSpPr>
              <p:nvPr/>
            </p:nvSpPr>
            <p:spPr bwMode="auto">
              <a:xfrm>
                <a:off x="2160" y="3264"/>
                <a:ext cx="1569"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chemeClr val="tx1"/>
                    </a:solidFill>
                  </a:rPr>
                  <a:t>不稳定的蛋白质颗粒</a:t>
                </a:r>
              </a:p>
            </p:txBody>
          </p:sp>
        </p:grpSp>
      </p:grpSp>
      <p:grpSp>
        <p:nvGrpSpPr>
          <p:cNvPr id="140295" name="Group 62">
            <a:extLst>
              <a:ext uri="{FF2B5EF4-FFF2-40B4-BE49-F238E27FC236}">
                <a16:creationId xmlns:a16="http://schemas.microsoft.com/office/drawing/2014/main" id="{90A00D00-8A98-4E5E-A827-9AD5DA69E6D1}"/>
              </a:ext>
            </a:extLst>
          </p:cNvPr>
          <p:cNvGrpSpPr>
            <a:grpSpLocks/>
          </p:cNvGrpSpPr>
          <p:nvPr/>
        </p:nvGrpSpPr>
        <p:grpSpPr bwMode="auto">
          <a:xfrm>
            <a:off x="4495800" y="4191001"/>
            <a:ext cx="3657600" cy="404813"/>
            <a:chOff x="1872" y="2544"/>
            <a:chExt cx="2304" cy="255"/>
          </a:xfrm>
        </p:grpSpPr>
        <p:grpSp>
          <p:nvGrpSpPr>
            <p:cNvPr id="140323" name="Group 63">
              <a:extLst>
                <a:ext uri="{FF2B5EF4-FFF2-40B4-BE49-F238E27FC236}">
                  <a16:creationId xmlns:a16="http://schemas.microsoft.com/office/drawing/2014/main" id="{E0790DE1-0B5F-499F-BD52-8C073D23E8E1}"/>
                </a:ext>
              </a:extLst>
            </p:cNvPr>
            <p:cNvGrpSpPr>
              <a:grpSpLocks/>
            </p:cNvGrpSpPr>
            <p:nvPr/>
          </p:nvGrpSpPr>
          <p:grpSpPr bwMode="auto">
            <a:xfrm>
              <a:off x="3408" y="2545"/>
              <a:ext cx="768" cy="254"/>
              <a:chOff x="3408" y="2544"/>
              <a:chExt cx="720" cy="264"/>
            </a:xfrm>
          </p:grpSpPr>
          <p:sp>
            <p:nvSpPr>
              <p:cNvPr id="140327" name="Line 64">
                <a:extLst>
                  <a:ext uri="{FF2B5EF4-FFF2-40B4-BE49-F238E27FC236}">
                    <a16:creationId xmlns:a16="http://schemas.microsoft.com/office/drawing/2014/main" id="{DECFF52D-E424-4DA1-B014-745CA7A89767}"/>
                  </a:ext>
                </a:extLst>
              </p:cNvPr>
              <p:cNvSpPr>
                <a:spLocks noChangeShapeType="1"/>
              </p:cNvSpPr>
              <p:nvPr/>
            </p:nvSpPr>
            <p:spPr bwMode="auto">
              <a:xfrm>
                <a:off x="3408" y="2784"/>
                <a:ext cx="720" cy="0"/>
              </a:xfrm>
              <a:prstGeom prst="line">
                <a:avLst/>
              </a:prstGeom>
              <a:noFill/>
              <a:ln w="38100">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lIns="90000" tIns="46800" rIns="90000" bIns="46800"/>
              <a:lstStyle/>
              <a:p>
                <a:endParaRPr lang="zh-CN" altLang="en-US"/>
              </a:p>
            </p:txBody>
          </p:sp>
          <p:sp>
            <p:nvSpPr>
              <p:cNvPr id="140328" name="Text Box 65">
                <a:extLst>
                  <a:ext uri="{FF2B5EF4-FFF2-40B4-BE49-F238E27FC236}">
                    <a16:creationId xmlns:a16="http://schemas.microsoft.com/office/drawing/2014/main" id="{7AF81634-421F-4466-9DAE-E6742370DE84}"/>
                  </a:ext>
                </a:extLst>
              </p:cNvPr>
              <p:cNvSpPr txBox="1">
                <a:spLocks noChangeArrowheads="1"/>
              </p:cNvSpPr>
              <p:nvPr/>
            </p:nvSpPr>
            <p:spPr bwMode="auto">
              <a:xfrm>
                <a:off x="3648" y="2544"/>
                <a:ext cx="259"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rgbClr val="006600"/>
                    </a:solidFill>
                  </a:rPr>
                  <a:t>酸</a:t>
                </a:r>
              </a:p>
            </p:txBody>
          </p:sp>
        </p:grpSp>
        <p:grpSp>
          <p:nvGrpSpPr>
            <p:cNvPr id="140324" name="Group 66">
              <a:extLst>
                <a:ext uri="{FF2B5EF4-FFF2-40B4-BE49-F238E27FC236}">
                  <a16:creationId xmlns:a16="http://schemas.microsoft.com/office/drawing/2014/main" id="{AD28CE8D-A381-4EAD-BD6A-727107C3A453}"/>
                </a:ext>
              </a:extLst>
            </p:cNvPr>
            <p:cNvGrpSpPr>
              <a:grpSpLocks/>
            </p:cNvGrpSpPr>
            <p:nvPr/>
          </p:nvGrpSpPr>
          <p:grpSpPr bwMode="auto">
            <a:xfrm>
              <a:off x="1872" y="2544"/>
              <a:ext cx="720" cy="253"/>
              <a:chOff x="1872" y="2544"/>
              <a:chExt cx="720" cy="253"/>
            </a:xfrm>
          </p:grpSpPr>
          <p:sp>
            <p:nvSpPr>
              <p:cNvPr id="140325" name="Line 67">
                <a:extLst>
                  <a:ext uri="{FF2B5EF4-FFF2-40B4-BE49-F238E27FC236}">
                    <a16:creationId xmlns:a16="http://schemas.microsoft.com/office/drawing/2014/main" id="{1F78037C-C6C4-4E68-BBFD-B811A3FF5AC4}"/>
                  </a:ext>
                </a:extLst>
              </p:cNvPr>
              <p:cNvSpPr>
                <a:spLocks noChangeShapeType="1"/>
              </p:cNvSpPr>
              <p:nvPr/>
            </p:nvSpPr>
            <p:spPr bwMode="auto">
              <a:xfrm>
                <a:off x="1872" y="2784"/>
                <a:ext cx="72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zh-CN" altLang="en-US"/>
              </a:p>
            </p:txBody>
          </p:sp>
          <p:sp>
            <p:nvSpPr>
              <p:cNvPr id="140326" name="Text Box 68">
                <a:extLst>
                  <a:ext uri="{FF2B5EF4-FFF2-40B4-BE49-F238E27FC236}">
                    <a16:creationId xmlns:a16="http://schemas.microsoft.com/office/drawing/2014/main" id="{B3390F00-D3DF-4992-A85E-24DB55EB9A89}"/>
                  </a:ext>
                </a:extLst>
              </p:cNvPr>
              <p:cNvSpPr txBox="1">
                <a:spLocks noChangeArrowheads="1"/>
              </p:cNvSpPr>
              <p:nvPr/>
            </p:nvSpPr>
            <p:spPr bwMode="auto">
              <a:xfrm>
                <a:off x="2064" y="2544"/>
                <a:ext cx="276"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rgbClr val="4A41C1"/>
                    </a:solidFill>
                  </a:rPr>
                  <a:t>碱</a:t>
                </a:r>
              </a:p>
            </p:txBody>
          </p:sp>
        </p:grpSp>
      </p:grpSp>
      <p:grpSp>
        <p:nvGrpSpPr>
          <p:cNvPr id="140296" name="Group 69">
            <a:extLst>
              <a:ext uri="{FF2B5EF4-FFF2-40B4-BE49-F238E27FC236}">
                <a16:creationId xmlns:a16="http://schemas.microsoft.com/office/drawing/2014/main" id="{A82E17B6-E2BC-4DB5-85B4-62458E30DA4D}"/>
              </a:ext>
            </a:extLst>
          </p:cNvPr>
          <p:cNvGrpSpPr>
            <a:grpSpLocks/>
          </p:cNvGrpSpPr>
          <p:nvPr/>
        </p:nvGrpSpPr>
        <p:grpSpPr bwMode="auto">
          <a:xfrm>
            <a:off x="4495800" y="1295400"/>
            <a:ext cx="3581400" cy="401638"/>
            <a:chOff x="1872" y="816"/>
            <a:chExt cx="2256" cy="253"/>
          </a:xfrm>
        </p:grpSpPr>
        <p:grpSp>
          <p:nvGrpSpPr>
            <p:cNvPr id="140317" name="Group 70">
              <a:extLst>
                <a:ext uri="{FF2B5EF4-FFF2-40B4-BE49-F238E27FC236}">
                  <a16:creationId xmlns:a16="http://schemas.microsoft.com/office/drawing/2014/main" id="{CBD9FA1D-E465-467C-92D9-EBE3750F8CC8}"/>
                </a:ext>
              </a:extLst>
            </p:cNvPr>
            <p:cNvGrpSpPr>
              <a:grpSpLocks/>
            </p:cNvGrpSpPr>
            <p:nvPr/>
          </p:nvGrpSpPr>
          <p:grpSpPr bwMode="auto">
            <a:xfrm>
              <a:off x="1872" y="816"/>
              <a:ext cx="576" cy="253"/>
              <a:chOff x="1872" y="816"/>
              <a:chExt cx="576" cy="253"/>
            </a:xfrm>
          </p:grpSpPr>
          <p:sp>
            <p:nvSpPr>
              <p:cNvPr id="140321" name="Line 71">
                <a:extLst>
                  <a:ext uri="{FF2B5EF4-FFF2-40B4-BE49-F238E27FC236}">
                    <a16:creationId xmlns:a16="http://schemas.microsoft.com/office/drawing/2014/main" id="{E465DB93-B382-4FF6-A7E7-DCF113FDD6AE}"/>
                  </a:ext>
                </a:extLst>
              </p:cNvPr>
              <p:cNvSpPr>
                <a:spLocks noChangeShapeType="1"/>
              </p:cNvSpPr>
              <p:nvPr/>
            </p:nvSpPr>
            <p:spPr bwMode="auto">
              <a:xfrm>
                <a:off x="1872" y="1056"/>
                <a:ext cx="576"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lIns="90000" tIns="46800" rIns="90000" bIns="46800"/>
              <a:lstStyle/>
              <a:p>
                <a:endParaRPr lang="zh-CN" altLang="en-US"/>
              </a:p>
            </p:txBody>
          </p:sp>
          <p:sp>
            <p:nvSpPr>
              <p:cNvPr id="140322" name="Text Box 72">
                <a:extLst>
                  <a:ext uri="{FF2B5EF4-FFF2-40B4-BE49-F238E27FC236}">
                    <a16:creationId xmlns:a16="http://schemas.microsoft.com/office/drawing/2014/main" id="{6AB1B3AF-DB79-4E11-A3FE-A3F40DFD120A}"/>
                  </a:ext>
                </a:extLst>
              </p:cNvPr>
              <p:cNvSpPr txBox="1">
                <a:spLocks noChangeArrowheads="1"/>
              </p:cNvSpPr>
              <p:nvPr/>
            </p:nvSpPr>
            <p:spPr bwMode="auto">
              <a:xfrm>
                <a:off x="2016" y="816"/>
                <a:ext cx="276"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rgbClr val="006600"/>
                    </a:solidFill>
                  </a:rPr>
                  <a:t>酸</a:t>
                </a:r>
              </a:p>
            </p:txBody>
          </p:sp>
        </p:grpSp>
        <p:grpSp>
          <p:nvGrpSpPr>
            <p:cNvPr id="140318" name="Group 73">
              <a:extLst>
                <a:ext uri="{FF2B5EF4-FFF2-40B4-BE49-F238E27FC236}">
                  <a16:creationId xmlns:a16="http://schemas.microsoft.com/office/drawing/2014/main" id="{EA49DD54-382A-431A-B90E-AB59D725459D}"/>
                </a:ext>
              </a:extLst>
            </p:cNvPr>
            <p:cNvGrpSpPr>
              <a:grpSpLocks/>
            </p:cNvGrpSpPr>
            <p:nvPr/>
          </p:nvGrpSpPr>
          <p:grpSpPr bwMode="auto">
            <a:xfrm>
              <a:off x="3552" y="816"/>
              <a:ext cx="576" cy="253"/>
              <a:chOff x="3552" y="816"/>
              <a:chExt cx="576" cy="253"/>
            </a:xfrm>
          </p:grpSpPr>
          <p:sp>
            <p:nvSpPr>
              <p:cNvPr id="140319" name="Line 74">
                <a:extLst>
                  <a:ext uri="{FF2B5EF4-FFF2-40B4-BE49-F238E27FC236}">
                    <a16:creationId xmlns:a16="http://schemas.microsoft.com/office/drawing/2014/main" id="{5A186139-658D-4A57-B34D-D1A358DEA741}"/>
                  </a:ext>
                </a:extLst>
              </p:cNvPr>
              <p:cNvSpPr>
                <a:spLocks noChangeShapeType="1"/>
              </p:cNvSpPr>
              <p:nvPr/>
            </p:nvSpPr>
            <p:spPr bwMode="auto">
              <a:xfrm>
                <a:off x="3552" y="1056"/>
                <a:ext cx="57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zh-CN" altLang="en-US"/>
              </a:p>
            </p:txBody>
          </p:sp>
          <p:sp>
            <p:nvSpPr>
              <p:cNvPr id="140320" name="Text Box 75">
                <a:extLst>
                  <a:ext uri="{FF2B5EF4-FFF2-40B4-BE49-F238E27FC236}">
                    <a16:creationId xmlns:a16="http://schemas.microsoft.com/office/drawing/2014/main" id="{A872FC7B-770B-4B92-8D43-689CC64761DF}"/>
                  </a:ext>
                </a:extLst>
              </p:cNvPr>
              <p:cNvSpPr txBox="1">
                <a:spLocks noChangeArrowheads="1"/>
              </p:cNvSpPr>
              <p:nvPr/>
            </p:nvSpPr>
            <p:spPr bwMode="auto">
              <a:xfrm>
                <a:off x="3696" y="816"/>
                <a:ext cx="276"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rgbClr val="4A41C1"/>
                    </a:solidFill>
                  </a:rPr>
                  <a:t>碱</a:t>
                </a:r>
              </a:p>
            </p:txBody>
          </p:sp>
        </p:grpSp>
      </p:grpSp>
      <p:grpSp>
        <p:nvGrpSpPr>
          <p:cNvPr id="140297" name="Group 76">
            <a:extLst>
              <a:ext uri="{FF2B5EF4-FFF2-40B4-BE49-F238E27FC236}">
                <a16:creationId xmlns:a16="http://schemas.microsoft.com/office/drawing/2014/main" id="{A95FA4F9-7E79-45AD-B2A1-26B90A0D7D98}"/>
              </a:ext>
            </a:extLst>
          </p:cNvPr>
          <p:cNvGrpSpPr>
            <a:grpSpLocks/>
          </p:cNvGrpSpPr>
          <p:nvPr/>
        </p:nvGrpSpPr>
        <p:grpSpPr bwMode="auto">
          <a:xfrm>
            <a:off x="4495800" y="1905000"/>
            <a:ext cx="3581400" cy="401638"/>
            <a:chOff x="1872" y="1200"/>
            <a:chExt cx="2256" cy="253"/>
          </a:xfrm>
        </p:grpSpPr>
        <p:grpSp>
          <p:nvGrpSpPr>
            <p:cNvPr id="140311" name="Group 77">
              <a:extLst>
                <a:ext uri="{FF2B5EF4-FFF2-40B4-BE49-F238E27FC236}">
                  <a16:creationId xmlns:a16="http://schemas.microsoft.com/office/drawing/2014/main" id="{EA31552B-85A6-430A-8D61-2201DFA37AE9}"/>
                </a:ext>
              </a:extLst>
            </p:cNvPr>
            <p:cNvGrpSpPr>
              <a:grpSpLocks/>
            </p:cNvGrpSpPr>
            <p:nvPr/>
          </p:nvGrpSpPr>
          <p:grpSpPr bwMode="auto">
            <a:xfrm>
              <a:off x="3552" y="1200"/>
              <a:ext cx="576" cy="253"/>
              <a:chOff x="3552" y="1200"/>
              <a:chExt cx="576" cy="253"/>
            </a:xfrm>
          </p:grpSpPr>
          <p:sp>
            <p:nvSpPr>
              <p:cNvPr id="140315" name="Line 78">
                <a:extLst>
                  <a:ext uri="{FF2B5EF4-FFF2-40B4-BE49-F238E27FC236}">
                    <a16:creationId xmlns:a16="http://schemas.microsoft.com/office/drawing/2014/main" id="{5278C6DE-D75D-475B-8FBB-71DC5E31E082}"/>
                  </a:ext>
                </a:extLst>
              </p:cNvPr>
              <p:cNvSpPr>
                <a:spLocks noChangeShapeType="1"/>
              </p:cNvSpPr>
              <p:nvPr/>
            </p:nvSpPr>
            <p:spPr bwMode="auto">
              <a:xfrm>
                <a:off x="3552" y="1248"/>
                <a:ext cx="576"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lIns="90000" tIns="46800" rIns="90000" bIns="46800"/>
              <a:lstStyle/>
              <a:p>
                <a:endParaRPr lang="zh-CN" altLang="en-US"/>
              </a:p>
            </p:txBody>
          </p:sp>
          <p:sp>
            <p:nvSpPr>
              <p:cNvPr id="140316" name="Text Box 79">
                <a:extLst>
                  <a:ext uri="{FF2B5EF4-FFF2-40B4-BE49-F238E27FC236}">
                    <a16:creationId xmlns:a16="http://schemas.microsoft.com/office/drawing/2014/main" id="{49267FD6-D5B8-43E3-9B76-8E70DDB8040D}"/>
                  </a:ext>
                </a:extLst>
              </p:cNvPr>
              <p:cNvSpPr txBox="1">
                <a:spLocks noChangeArrowheads="1"/>
              </p:cNvSpPr>
              <p:nvPr/>
            </p:nvSpPr>
            <p:spPr bwMode="auto">
              <a:xfrm>
                <a:off x="3696" y="1200"/>
                <a:ext cx="276"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rgbClr val="006600"/>
                    </a:solidFill>
                  </a:rPr>
                  <a:t>酸</a:t>
                </a:r>
              </a:p>
            </p:txBody>
          </p:sp>
        </p:grpSp>
        <p:grpSp>
          <p:nvGrpSpPr>
            <p:cNvPr id="140312" name="Group 80">
              <a:extLst>
                <a:ext uri="{FF2B5EF4-FFF2-40B4-BE49-F238E27FC236}">
                  <a16:creationId xmlns:a16="http://schemas.microsoft.com/office/drawing/2014/main" id="{3610E66D-438C-476C-B023-A466478224A7}"/>
                </a:ext>
              </a:extLst>
            </p:cNvPr>
            <p:cNvGrpSpPr>
              <a:grpSpLocks/>
            </p:cNvGrpSpPr>
            <p:nvPr/>
          </p:nvGrpSpPr>
          <p:grpSpPr bwMode="auto">
            <a:xfrm>
              <a:off x="1872" y="1200"/>
              <a:ext cx="576" cy="253"/>
              <a:chOff x="1872" y="1200"/>
              <a:chExt cx="576" cy="253"/>
            </a:xfrm>
          </p:grpSpPr>
          <p:sp>
            <p:nvSpPr>
              <p:cNvPr id="140313" name="Line 81">
                <a:extLst>
                  <a:ext uri="{FF2B5EF4-FFF2-40B4-BE49-F238E27FC236}">
                    <a16:creationId xmlns:a16="http://schemas.microsoft.com/office/drawing/2014/main" id="{D114FFEA-1081-46F1-AB5D-409C7D9455B2}"/>
                  </a:ext>
                </a:extLst>
              </p:cNvPr>
              <p:cNvSpPr>
                <a:spLocks noChangeShapeType="1"/>
              </p:cNvSpPr>
              <p:nvPr/>
            </p:nvSpPr>
            <p:spPr bwMode="auto">
              <a:xfrm>
                <a:off x="1872" y="1248"/>
                <a:ext cx="57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zh-CN" altLang="en-US"/>
              </a:p>
            </p:txBody>
          </p:sp>
          <p:sp>
            <p:nvSpPr>
              <p:cNvPr id="140314" name="Text Box 82">
                <a:extLst>
                  <a:ext uri="{FF2B5EF4-FFF2-40B4-BE49-F238E27FC236}">
                    <a16:creationId xmlns:a16="http://schemas.microsoft.com/office/drawing/2014/main" id="{5E3D801C-92F0-490F-A09F-E813718A27D3}"/>
                  </a:ext>
                </a:extLst>
              </p:cNvPr>
              <p:cNvSpPr txBox="1">
                <a:spLocks noChangeArrowheads="1"/>
              </p:cNvSpPr>
              <p:nvPr/>
            </p:nvSpPr>
            <p:spPr bwMode="auto">
              <a:xfrm>
                <a:off x="2016" y="1200"/>
                <a:ext cx="276"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rgbClr val="4A41C1"/>
                    </a:solidFill>
                  </a:rPr>
                  <a:t>碱</a:t>
                </a:r>
              </a:p>
            </p:txBody>
          </p:sp>
        </p:grpSp>
      </p:grpSp>
      <p:grpSp>
        <p:nvGrpSpPr>
          <p:cNvPr id="140298" name="Group 83">
            <a:extLst>
              <a:ext uri="{FF2B5EF4-FFF2-40B4-BE49-F238E27FC236}">
                <a16:creationId xmlns:a16="http://schemas.microsoft.com/office/drawing/2014/main" id="{CDE14127-4773-492E-B26D-F32D990B25C4}"/>
              </a:ext>
            </a:extLst>
          </p:cNvPr>
          <p:cNvGrpSpPr>
            <a:grpSpLocks/>
          </p:cNvGrpSpPr>
          <p:nvPr/>
        </p:nvGrpSpPr>
        <p:grpSpPr bwMode="auto">
          <a:xfrm>
            <a:off x="2286000" y="3200400"/>
            <a:ext cx="6477000" cy="685800"/>
            <a:chOff x="480" y="1920"/>
            <a:chExt cx="4080" cy="432"/>
          </a:xfrm>
        </p:grpSpPr>
        <p:grpSp>
          <p:nvGrpSpPr>
            <p:cNvPr id="140301" name="Group 84">
              <a:extLst>
                <a:ext uri="{FF2B5EF4-FFF2-40B4-BE49-F238E27FC236}">
                  <a16:creationId xmlns:a16="http://schemas.microsoft.com/office/drawing/2014/main" id="{C8D63E29-B2F6-459D-908A-2B9862DA8497}"/>
                </a:ext>
              </a:extLst>
            </p:cNvPr>
            <p:cNvGrpSpPr>
              <a:grpSpLocks/>
            </p:cNvGrpSpPr>
            <p:nvPr/>
          </p:nvGrpSpPr>
          <p:grpSpPr bwMode="auto">
            <a:xfrm>
              <a:off x="3744" y="1920"/>
              <a:ext cx="816" cy="432"/>
              <a:chOff x="3744" y="1920"/>
              <a:chExt cx="816" cy="432"/>
            </a:xfrm>
          </p:grpSpPr>
          <p:sp>
            <p:nvSpPr>
              <p:cNvPr id="140309" name="Line 85">
                <a:extLst>
                  <a:ext uri="{FF2B5EF4-FFF2-40B4-BE49-F238E27FC236}">
                    <a16:creationId xmlns:a16="http://schemas.microsoft.com/office/drawing/2014/main" id="{DFF4AB2C-CD0A-4048-A5B4-5BFE195D044F}"/>
                  </a:ext>
                </a:extLst>
              </p:cNvPr>
              <p:cNvSpPr>
                <a:spLocks noChangeShapeType="1"/>
              </p:cNvSpPr>
              <p:nvPr/>
            </p:nvSpPr>
            <p:spPr bwMode="auto">
              <a:xfrm>
                <a:off x="4560" y="1920"/>
                <a:ext cx="0" cy="43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zh-CN" altLang="en-US"/>
              </a:p>
            </p:txBody>
          </p:sp>
          <p:sp>
            <p:nvSpPr>
              <p:cNvPr id="140310" name="Text Box 86">
                <a:extLst>
                  <a:ext uri="{FF2B5EF4-FFF2-40B4-BE49-F238E27FC236}">
                    <a16:creationId xmlns:a16="http://schemas.microsoft.com/office/drawing/2014/main" id="{7BCF1A3C-9FBC-48C6-9B57-5660C04DC2A7}"/>
                  </a:ext>
                </a:extLst>
              </p:cNvPr>
              <p:cNvSpPr txBox="1">
                <a:spLocks noChangeArrowheads="1"/>
              </p:cNvSpPr>
              <p:nvPr/>
            </p:nvSpPr>
            <p:spPr bwMode="auto">
              <a:xfrm>
                <a:off x="3744" y="2016"/>
                <a:ext cx="761"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rgbClr val="0000CC"/>
                    </a:solidFill>
                  </a:rPr>
                  <a:t>脱水作用</a:t>
                </a:r>
              </a:p>
            </p:txBody>
          </p:sp>
        </p:grpSp>
        <p:grpSp>
          <p:nvGrpSpPr>
            <p:cNvPr id="140302" name="Group 87">
              <a:extLst>
                <a:ext uri="{FF2B5EF4-FFF2-40B4-BE49-F238E27FC236}">
                  <a16:creationId xmlns:a16="http://schemas.microsoft.com/office/drawing/2014/main" id="{7C63122E-45DF-4217-82AB-07A89DFF655E}"/>
                </a:ext>
              </a:extLst>
            </p:cNvPr>
            <p:cNvGrpSpPr>
              <a:grpSpLocks/>
            </p:cNvGrpSpPr>
            <p:nvPr/>
          </p:nvGrpSpPr>
          <p:grpSpPr bwMode="auto">
            <a:xfrm>
              <a:off x="480" y="1920"/>
              <a:ext cx="2496" cy="432"/>
              <a:chOff x="480" y="1920"/>
              <a:chExt cx="2496" cy="432"/>
            </a:xfrm>
          </p:grpSpPr>
          <p:grpSp>
            <p:nvGrpSpPr>
              <p:cNvPr id="140303" name="Group 88">
                <a:extLst>
                  <a:ext uri="{FF2B5EF4-FFF2-40B4-BE49-F238E27FC236}">
                    <a16:creationId xmlns:a16="http://schemas.microsoft.com/office/drawing/2014/main" id="{096E0DD5-12F9-4D45-8A4B-A7C2BC45C047}"/>
                  </a:ext>
                </a:extLst>
              </p:cNvPr>
              <p:cNvGrpSpPr>
                <a:grpSpLocks/>
              </p:cNvGrpSpPr>
              <p:nvPr/>
            </p:nvGrpSpPr>
            <p:grpSpPr bwMode="auto">
              <a:xfrm>
                <a:off x="2160" y="1920"/>
                <a:ext cx="816" cy="432"/>
                <a:chOff x="2160" y="1920"/>
                <a:chExt cx="816" cy="432"/>
              </a:xfrm>
            </p:grpSpPr>
            <p:sp>
              <p:nvSpPr>
                <p:cNvPr id="140307" name="Line 89">
                  <a:extLst>
                    <a:ext uri="{FF2B5EF4-FFF2-40B4-BE49-F238E27FC236}">
                      <a16:creationId xmlns:a16="http://schemas.microsoft.com/office/drawing/2014/main" id="{3154F7C7-B891-4ED1-804C-2A7221822751}"/>
                    </a:ext>
                  </a:extLst>
                </p:cNvPr>
                <p:cNvSpPr>
                  <a:spLocks noChangeShapeType="1"/>
                </p:cNvSpPr>
                <p:nvPr/>
              </p:nvSpPr>
              <p:spPr bwMode="auto">
                <a:xfrm>
                  <a:off x="2976" y="1920"/>
                  <a:ext cx="0" cy="43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zh-CN" altLang="en-US"/>
                </a:p>
              </p:txBody>
            </p:sp>
            <p:sp>
              <p:nvSpPr>
                <p:cNvPr id="140308" name="Text Box 90">
                  <a:extLst>
                    <a:ext uri="{FF2B5EF4-FFF2-40B4-BE49-F238E27FC236}">
                      <a16:creationId xmlns:a16="http://schemas.microsoft.com/office/drawing/2014/main" id="{CCDB5C06-FF77-4A2D-9689-54DA70996ED0}"/>
                    </a:ext>
                  </a:extLst>
                </p:cNvPr>
                <p:cNvSpPr txBox="1">
                  <a:spLocks noChangeArrowheads="1"/>
                </p:cNvSpPr>
                <p:nvPr/>
              </p:nvSpPr>
              <p:spPr bwMode="auto">
                <a:xfrm>
                  <a:off x="2160" y="2016"/>
                  <a:ext cx="761"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rgbClr val="0000CC"/>
                      </a:solidFill>
                    </a:rPr>
                    <a:t>脱水作用</a:t>
                  </a:r>
                </a:p>
              </p:txBody>
            </p:sp>
          </p:grpSp>
          <p:grpSp>
            <p:nvGrpSpPr>
              <p:cNvPr id="140304" name="Group 91">
                <a:extLst>
                  <a:ext uri="{FF2B5EF4-FFF2-40B4-BE49-F238E27FC236}">
                    <a16:creationId xmlns:a16="http://schemas.microsoft.com/office/drawing/2014/main" id="{234AC61E-9163-4296-83FA-289A38A8DECA}"/>
                  </a:ext>
                </a:extLst>
              </p:cNvPr>
              <p:cNvGrpSpPr>
                <a:grpSpLocks/>
              </p:cNvGrpSpPr>
              <p:nvPr/>
            </p:nvGrpSpPr>
            <p:grpSpPr bwMode="auto">
              <a:xfrm>
                <a:off x="480" y="1920"/>
                <a:ext cx="816" cy="384"/>
                <a:chOff x="480" y="1920"/>
                <a:chExt cx="816" cy="384"/>
              </a:xfrm>
            </p:grpSpPr>
            <p:sp>
              <p:nvSpPr>
                <p:cNvPr id="140305" name="Line 92">
                  <a:extLst>
                    <a:ext uri="{FF2B5EF4-FFF2-40B4-BE49-F238E27FC236}">
                      <a16:creationId xmlns:a16="http://schemas.microsoft.com/office/drawing/2014/main" id="{2AAF3967-235B-4B4C-A516-E79BBE086D3C}"/>
                    </a:ext>
                  </a:extLst>
                </p:cNvPr>
                <p:cNvSpPr>
                  <a:spLocks noChangeShapeType="1"/>
                </p:cNvSpPr>
                <p:nvPr/>
              </p:nvSpPr>
              <p:spPr bwMode="auto">
                <a:xfrm flipV="1">
                  <a:off x="1296" y="1920"/>
                  <a:ext cx="0" cy="384"/>
                </a:xfrm>
                <a:prstGeom prst="line">
                  <a:avLst/>
                </a:prstGeom>
                <a:noFill/>
                <a:ln w="38100">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lIns="90000" tIns="46800" rIns="90000" bIns="46800"/>
                <a:lstStyle/>
                <a:p>
                  <a:endParaRPr lang="zh-CN" altLang="en-US"/>
                </a:p>
              </p:txBody>
            </p:sp>
            <p:sp>
              <p:nvSpPr>
                <p:cNvPr id="140306" name="Text Box 93">
                  <a:extLst>
                    <a:ext uri="{FF2B5EF4-FFF2-40B4-BE49-F238E27FC236}">
                      <a16:creationId xmlns:a16="http://schemas.microsoft.com/office/drawing/2014/main" id="{96B0F645-FB04-483E-B8CA-24E6A6B63A86}"/>
                    </a:ext>
                  </a:extLst>
                </p:cNvPr>
                <p:cNvSpPr txBox="1">
                  <a:spLocks noChangeArrowheads="1"/>
                </p:cNvSpPr>
                <p:nvPr/>
              </p:nvSpPr>
              <p:spPr bwMode="auto">
                <a:xfrm>
                  <a:off x="480" y="2016"/>
                  <a:ext cx="761"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rgbClr val="0000CC"/>
                      </a:solidFill>
                    </a:rPr>
                    <a:t>脱水作用</a:t>
                  </a:r>
                </a:p>
              </p:txBody>
            </p:sp>
          </p:grpSp>
        </p:grpSp>
      </p:grpSp>
      <p:sp>
        <p:nvSpPr>
          <p:cNvPr id="140299" name="Text Box 94">
            <a:extLst>
              <a:ext uri="{FF2B5EF4-FFF2-40B4-BE49-F238E27FC236}">
                <a16:creationId xmlns:a16="http://schemas.microsoft.com/office/drawing/2014/main" id="{BBA2C1F0-0348-4DF1-8915-3D97937AB809}"/>
              </a:ext>
            </a:extLst>
          </p:cNvPr>
          <p:cNvSpPr txBox="1">
            <a:spLocks noChangeArrowheads="1"/>
          </p:cNvSpPr>
          <p:nvPr/>
        </p:nvSpPr>
        <p:spPr bwMode="auto">
          <a:xfrm>
            <a:off x="4008439" y="5876926"/>
            <a:ext cx="341312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a:solidFill>
                  <a:srgbClr val="FF0000"/>
                </a:solidFill>
              </a:rPr>
              <a:t>溶液中蛋白质的聚沉</a:t>
            </a:r>
            <a:endParaRPr kumimoji="1" lang="zh-CN" altLang="en-US">
              <a:solidFill>
                <a:srgbClr val="0000CC"/>
              </a:solidFill>
            </a:endParaRPr>
          </a:p>
        </p:txBody>
      </p:sp>
      <p:sp>
        <p:nvSpPr>
          <p:cNvPr id="743519" name="Rectangle 95">
            <a:extLst>
              <a:ext uri="{FF2B5EF4-FFF2-40B4-BE49-F238E27FC236}">
                <a16:creationId xmlns:a16="http://schemas.microsoft.com/office/drawing/2014/main" id="{C8060427-128D-49C2-8F44-CF8556A829AA}"/>
              </a:ext>
            </a:extLst>
          </p:cNvPr>
          <p:cNvSpPr>
            <a:spLocks noChangeArrowheads="1"/>
          </p:cNvSpPr>
          <p:nvPr/>
        </p:nvSpPr>
        <p:spPr bwMode="auto">
          <a:xfrm>
            <a:off x="7626350" y="5876926"/>
            <a:ext cx="304165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a:solidFill>
                  <a:srgbClr val="FF0000"/>
                </a:solidFill>
                <a:latin typeface="Arial" panose="020B0604020202020204" pitchFamily="34" charset="0"/>
              </a:rPr>
              <a:t>去水化膜，去电荷</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743519"/>
                                        </p:tgtEl>
                                        <p:attrNameLst>
                                          <p:attrName>style.visibility</p:attrName>
                                        </p:attrNameLst>
                                      </p:cBhvr>
                                      <p:to>
                                        <p:strVal val="visible"/>
                                      </p:to>
                                    </p:set>
                                    <p:anim calcmode="lin" valueType="num">
                                      <p:cBhvr>
                                        <p:cTn id="7" dur="1000" fill="hold"/>
                                        <p:tgtEl>
                                          <p:spTgt spid="743519"/>
                                        </p:tgtEl>
                                        <p:attrNameLst>
                                          <p:attrName>ppt_w</p:attrName>
                                        </p:attrNameLst>
                                      </p:cBhvr>
                                      <p:tavLst>
                                        <p:tav tm="0">
                                          <p:val>
                                            <p:fltVal val="0"/>
                                          </p:val>
                                        </p:tav>
                                        <p:tav tm="100000">
                                          <p:val>
                                            <p:strVal val="#ppt_w"/>
                                          </p:val>
                                        </p:tav>
                                      </p:tavLst>
                                    </p:anim>
                                    <p:anim calcmode="lin" valueType="num">
                                      <p:cBhvr>
                                        <p:cTn id="8" dur="1000" fill="hold"/>
                                        <p:tgtEl>
                                          <p:spTgt spid="743519"/>
                                        </p:tgtEl>
                                        <p:attrNameLst>
                                          <p:attrName>ppt_h</p:attrName>
                                        </p:attrNameLst>
                                      </p:cBhvr>
                                      <p:tavLst>
                                        <p:tav tm="0">
                                          <p:val>
                                            <p:fltVal val="0"/>
                                          </p:val>
                                        </p:tav>
                                        <p:tav tm="100000">
                                          <p:val>
                                            <p:strVal val="#ppt_h"/>
                                          </p:val>
                                        </p:tav>
                                      </p:tavLst>
                                    </p:anim>
                                    <p:anim calcmode="lin" valueType="num">
                                      <p:cBhvr>
                                        <p:cTn id="9" dur="1000" fill="hold"/>
                                        <p:tgtEl>
                                          <p:spTgt spid="74351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43519"/>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3519"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9" name="Rectangle 3">
            <a:extLst>
              <a:ext uri="{FF2B5EF4-FFF2-40B4-BE49-F238E27FC236}">
                <a16:creationId xmlns:a16="http://schemas.microsoft.com/office/drawing/2014/main" id="{049ABB6B-6029-448A-AFEB-8BEDE04CA58E}"/>
              </a:ext>
            </a:extLst>
          </p:cNvPr>
          <p:cNvSpPr>
            <a:spLocks noChangeArrowheads="1"/>
          </p:cNvSpPr>
          <p:nvPr/>
        </p:nvSpPr>
        <p:spPr bwMode="auto">
          <a:xfrm>
            <a:off x="2163762" y="1936751"/>
            <a:ext cx="7964685"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714375">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40000"/>
              </a:lnSpc>
              <a:spcBef>
                <a:spcPct val="0"/>
              </a:spcBef>
              <a:buClrTx/>
              <a:buFontTx/>
              <a:buNone/>
            </a:pPr>
            <a:r>
              <a:rPr kumimoji="1" lang="zh-CN" altLang="en-US" dirty="0">
                <a:solidFill>
                  <a:schemeClr val="tx1"/>
                </a:solidFill>
              </a:rPr>
              <a:t>在某些</a:t>
            </a:r>
            <a:r>
              <a:rPr kumimoji="1" lang="zh-CN" altLang="en-US" dirty="0">
                <a:solidFill>
                  <a:srgbClr val="0000CC"/>
                </a:solidFill>
              </a:rPr>
              <a:t>物理和化学因素作用</a:t>
            </a:r>
            <a:r>
              <a:rPr kumimoji="1" lang="zh-CN" altLang="en-US" dirty="0">
                <a:solidFill>
                  <a:schemeClr val="tx1"/>
                </a:solidFill>
              </a:rPr>
              <a:t>下，蛋白质特定的</a:t>
            </a:r>
            <a:r>
              <a:rPr kumimoji="1" lang="zh-CN" altLang="en-US" dirty="0">
                <a:solidFill>
                  <a:srgbClr val="0000CC"/>
                </a:solidFill>
              </a:rPr>
              <a:t>空间构象被破坏</a:t>
            </a:r>
            <a:r>
              <a:rPr kumimoji="1" lang="zh-CN" altLang="en-US" dirty="0">
                <a:solidFill>
                  <a:schemeClr val="tx1"/>
                </a:solidFill>
              </a:rPr>
              <a:t>，从而导致其</a:t>
            </a:r>
            <a:r>
              <a:rPr kumimoji="1" lang="zh-CN" altLang="en-US" dirty="0">
                <a:solidFill>
                  <a:srgbClr val="C00000"/>
                </a:solidFill>
              </a:rPr>
              <a:t>生物活性的丧失</a:t>
            </a:r>
            <a:r>
              <a:rPr kumimoji="1" lang="zh-CN" altLang="en-US" dirty="0">
                <a:solidFill>
                  <a:srgbClr val="0000CC"/>
                </a:solidFill>
              </a:rPr>
              <a:t>和理化性质改变</a:t>
            </a:r>
            <a:r>
              <a:rPr kumimoji="1" lang="zh-CN" altLang="en-US" dirty="0">
                <a:solidFill>
                  <a:schemeClr val="tx1"/>
                </a:solidFill>
              </a:rPr>
              <a:t>。</a:t>
            </a:r>
          </a:p>
        </p:txBody>
      </p:sp>
      <p:sp>
        <p:nvSpPr>
          <p:cNvPr id="746500" name="Rectangle 4">
            <a:extLst>
              <a:ext uri="{FF2B5EF4-FFF2-40B4-BE49-F238E27FC236}">
                <a16:creationId xmlns:a16="http://schemas.microsoft.com/office/drawing/2014/main" id="{80442974-9E45-4D36-AE20-FF4550216E6D}"/>
              </a:ext>
            </a:extLst>
          </p:cNvPr>
          <p:cNvSpPr>
            <a:spLocks noChangeArrowheads="1"/>
          </p:cNvSpPr>
          <p:nvPr/>
        </p:nvSpPr>
        <p:spPr bwMode="auto">
          <a:xfrm>
            <a:off x="2182814" y="1189039"/>
            <a:ext cx="59769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a:solidFill>
                  <a:schemeClr val="tx1"/>
                </a:solidFill>
              </a:rPr>
              <a:t>* </a:t>
            </a:r>
            <a:r>
              <a:rPr kumimoji="1" lang="zh-CN" altLang="en-US" sz="3200">
                <a:solidFill>
                  <a:srgbClr val="FF0000"/>
                </a:solidFill>
              </a:rPr>
              <a:t>蛋白质的变性</a:t>
            </a:r>
            <a:r>
              <a:rPr kumimoji="1" lang="en-US" altLang="zh-CN" sz="3200">
                <a:solidFill>
                  <a:srgbClr val="FF0000"/>
                </a:solidFill>
              </a:rPr>
              <a:t>(denaturation)</a:t>
            </a:r>
          </a:p>
        </p:txBody>
      </p:sp>
      <p:sp>
        <p:nvSpPr>
          <p:cNvPr id="2" name="标题 1">
            <a:extLst>
              <a:ext uri="{FF2B5EF4-FFF2-40B4-BE49-F238E27FC236}">
                <a16:creationId xmlns:a16="http://schemas.microsoft.com/office/drawing/2014/main" id="{6D29DF33-918E-49BC-A6ED-707D06FC1D1E}"/>
              </a:ext>
            </a:extLst>
          </p:cNvPr>
          <p:cNvSpPr>
            <a:spLocks noGrp="1"/>
          </p:cNvSpPr>
          <p:nvPr>
            <p:ph type="title"/>
          </p:nvPr>
        </p:nvSpPr>
        <p:spPr>
          <a:xfrm>
            <a:off x="1631950" y="188913"/>
            <a:ext cx="7200900" cy="563562"/>
          </a:xfrm>
        </p:spPr>
        <p:txBody>
          <a:bodyPr/>
          <a:lstStyle/>
          <a:p>
            <a:pPr>
              <a:defRPr/>
            </a:pPr>
            <a:r>
              <a:rPr kumimoji="1" lang="zh-CN" altLang="en-US" dirty="0">
                <a:solidFill>
                  <a:schemeClr val="accent3"/>
                </a:solidFill>
              </a:rPr>
              <a:t>（五）蛋白质的变性、沉淀和凝固</a:t>
            </a:r>
            <a:r>
              <a:rPr kumimoji="1" lang="zh-CN" altLang="en-US" sz="3200" dirty="0">
                <a:solidFill>
                  <a:schemeClr val="accent3"/>
                </a:solidFill>
              </a:rPr>
              <a:t>    </a:t>
            </a:r>
            <a:endParaRPr lang="zh-CN" altLang="en-US" dirty="0">
              <a:solidFill>
                <a:schemeClr val="accent3"/>
              </a:solidFill>
            </a:endParaRPr>
          </a:p>
        </p:txBody>
      </p:sp>
      <p:pic>
        <p:nvPicPr>
          <p:cNvPr id="142341" name="图片 2">
            <a:extLst>
              <a:ext uri="{FF2B5EF4-FFF2-40B4-BE49-F238E27FC236}">
                <a16:creationId xmlns:a16="http://schemas.microsoft.com/office/drawing/2014/main" id="{985512CE-9D54-4D36-B293-96CE4F1CD9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4838" y="3783014"/>
            <a:ext cx="3744912" cy="272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746500"/>
                                        </p:tgtEl>
                                        <p:attrNameLst>
                                          <p:attrName>style.visibility</p:attrName>
                                        </p:attrNameLst>
                                      </p:cBhvr>
                                      <p:to>
                                        <p:strVal val="visible"/>
                                      </p:to>
                                    </p:set>
                                    <p:animEffect transition="in" filter="strips(downLeft)">
                                      <p:cBhvr>
                                        <p:cTn id="7" dur="500"/>
                                        <p:tgtEl>
                                          <p:spTgt spid="746500"/>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746499"/>
                                        </p:tgtEl>
                                        <p:attrNameLst>
                                          <p:attrName>style.visibility</p:attrName>
                                        </p:attrNameLst>
                                      </p:cBhvr>
                                      <p:to>
                                        <p:strVal val="visible"/>
                                      </p:to>
                                    </p:set>
                                    <p:animEffect transition="in" filter="strips(downLeft)">
                                      <p:cBhvr>
                                        <p:cTn id="10" dur="500"/>
                                        <p:tgtEl>
                                          <p:spTgt spid="746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6499" grpId="0"/>
      <p:bldP spid="746500" grpId="0"/>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547F9B46-E590-4036-9FAE-32762505E5AB}"/>
              </a:ext>
            </a:extLst>
          </p:cNvPr>
          <p:cNvSpPr>
            <a:spLocks noGrp="1" noChangeArrowheads="1"/>
          </p:cNvSpPr>
          <p:nvPr>
            <p:ph type="body" idx="1"/>
          </p:nvPr>
        </p:nvSpPr>
        <p:spPr>
          <a:xfrm>
            <a:off x="5087888" y="1149874"/>
            <a:ext cx="6336704" cy="5032375"/>
          </a:xfrm>
          <a:solidFill>
            <a:schemeClr val="bg1"/>
          </a:solidFill>
        </p:spPr>
        <p:txBody>
          <a:bodyPr/>
          <a:lstStyle/>
          <a:p>
            <a:pPr eaLnBrk="1" hangingPunct="1">
              <a:lnSpc>
                <a:spcPct val="120000"/>
              </a:lnSpc>
              <a:buFont typeface="Wingdings" panose="05000000000000000000" pitchFamily="2" charset="2"/>
              <a:buNone/>
              <a:defRPr/>
            </a:pPr>
            <a:r>
              <a:rPr lang="zh-CN" altLang="en-US" sz="3200" dirty="0">
                <a:solidFill>
                  <a:schemeClr val="tx1"/>
                </a:solidFill>
              </a:rPr>
              <a:t>“</a:t>
            </a:r>
            <a:r>
              <a:rPr lang="zh-CN" altLang="en-US" sz="3200" dirty="0">
                <a:solidFill>
                  <a:schemeClr val="tx1"/>
                </a:solidFill>
                <a:latin typeface="黑体" panose="02010609060101010101" pitchFamily="49" charset="-122"/>
              </a:rPr>
              <a:t>天然蛋白质分子借助次级键连接而成一种紧密、有规则的空间结构，变性作用使次级键破坏从而使结构松散。</a:t>
            </a:r>
            <a:r>
              <a:rPr lang="zh-CN" altLang="en-US" sz="3200" dirty="0">
                <a:solidFill>
                  <a:schemeClr val="tx1"/>
                </a:solidFill>
              </a:rPr>
              <a:t>”</a:t>
            </a:r>
            <a:endParaRPr lang="zh-CN" altLang="en-US" sz="3200" dirty="0">
              <a:solidFill>
                <a:schemeClr val="tx1"/>
              </a:solidFill>
              <a:latin typeface="黑体" panose="02010609060101010101" pitchFamily="49" charset="-122"/>
            </a:endParaRPr>
          </a:p>
          <a:p>
            <a:pPr eaLnBrk="1" hangingPunct="1">
              <a:lnSpc>
                <a:spcPct val="120000"/>
              </a:lnSpc>
              <a:buFont typeface="Wingdings" panose="05000000000000000000" pitchFamily="2" charset="2"/>
              <a:buNone/>
              <a:defRPr/>
            </a:pPr>
            <a:r>
              <a:rPr lang="zh-CN" altLang="en-US" dirty="0">
                <a:solidFill>
                  <a:schemeClr val="tx1"/>
                </a:solidFill>
              </a:rPr>
              <a:t>    </a:t>
            </a:r>
            <a:endParaRPr lang="en-US" altLang="zh-CN" dirty="0">
              <a:solidFill>
                <a:schemeClr val="tx1"/>
              </a:solidFill>
            </a:endParaRPr>
          </a:p>
          <a:p>
            <a:pPr marL="268288" indent="0" eaLnBrk="1" hangingPunct="1">
              <a:lnSpc>
                <a:spcPct val="120000"/>
              </a:lnSpc>
              <a:spcBef>
                <a:spcPts val="0"/>
              </a:spcBef>
              <a:buNone/>
              <a:defRPr/>
            </a:pPr>
            <a:r>
              <a:rPr lang="zh-CN" altLang="en-US" dirty="0">
                <a:solidFill>
                  <a:schemeClr val="tx1"/>
                </a:solidFill>
              </a:rPr>
              <a:t>“</a:t>
            </a:r>
            <a:r>
              <a:rPr lang="en-US" altLang="zh-CN" dirty="0">
                <a:solidFill>
                  <a:schemeClr val="tx1"/>
                </a:solidFill>
              </a:rPr>
              <a:t>Studies on Denaturation of Proteins. </a:t>
            </a:r>
            <a:r>
              <a:rPr lang="en-US" altLang="zh-CN" dirty="0" err="1">
                <a:solidFill>
                  <a:schemeClr val="tx1"/>
                </a:solidFill>
              </a:rPr>
              <a:t>XⅢ</a:t>
            </a:r>
            <a:r>
              <a:rPr lang="zh-CN" altLang="en-US" dirty="0">
                <a:solidFill>
                  <a:schemeClr val="tx1"/>
                </a:solidFill>
              </a:rPr>
              <a:t>．</a:t>
            </a:r>
            <a:r>
              <a:rPr lang="en-US" altLang="zh-CN" dirty="0">
                <a:solidFill>
                  <a:schemeClr val="tx1"/>
                </a:solidFill>
              </a:rPr>
              <a:t>A Theory of Denaturation. </a:t>
            </a:r>
            <a:r>
              <a:rPr lang="en-US" altLang="zh-CN" dirty="0">
                <a:solidFill>
                  <a:srgbClr val="FF0000"/>
                </a:solidFill>
              </a:rPr>
              <a:t>Chinese journal of Physiology</a:t>
            </a:r>
            <a:r>
              <a:rPr lang="zh-CN" altLang="en-US" dirty="0">
                <a:solidFill>
                  <a:schemeClr val="tx1"/>
                </a:solidFill>
              </a:rPr>
              <a:t>，</a:t>
            </a:r>
            <a:r>
              <a:rPr lang="en-US" altLang="zh-CN" dirty="0">
                <a:solidFill>
                  <a:srgbClr val="FF0000"/>
                </a:solidFill>
              </a:rPr>
              <a:t>1931</a:t>
            </a:r>
            <a:r>
              <a:rPr lang="zh-CN" altLang="en-US" dirty="0">
                <a:solidFill>
                  <a:schemeClr val="tx1"/>
                </a:solidFill>
              </a:rPr>
              <a:t>，</a:t>
            </a:r>
            <a:r>
              <a:rPr lang="en-US" altLang="zh-CN" dirty="0">
                <a:solidFill>
                  <a:schemeClr val="tx1"/>
                </a:solidFill>
              </a:rPr>
              <a:t>5(4)</a:t>
            </a:r>
            <a:r>
              <a:rPr lang="zh-CN" altLang="en-US" dirty="0">
                <a:solidFill>
                  <a:schemeClr val="tx1"/>
                </a:solidFill>
              </a:rPr>
              <a:t>：</a:t>
            </a:r>
            <a:r>
              <a:rPr lang="en-US" altLang="zh-CN" dirty="0">
                <a:solidFill>
                  <a:schemeClr val="tx1"/>
                </a:solidFill>
              </a:rPr>
              <a:t>321</a:t>
            </a:r>
            <a:r>
              <a:rPr lang="zh-CN" altLang="en-US" dirty="0">
                <a:solidFill>
                  <a:schemeClr val="tx1"/>
                </a:solidFill>
              </a:rPr>
              <a:t>～</a:t>
            </a:r>
            <a:r>
              <a:rPr lang="en-US" altLang="zh-CN" dirty="0">
                <a:solidFill>
                  <a:schemeClr val="tx1"/>
                </a:solidFill>
              </a:rPr>
              <a:t>344”</a:t>
            </a:r>
            <a:r>
              <a:rPr lang="zh-CN" altLang="en-US" dirty="0">
                <a:solidFill>
                  <a:schemeClr val="tx1"/>
                </a:solidFill>
              </a:rPr>
              <a:t>。</a:t>
            </a:r>
          </a:p>
        </p:txBody>
      </p:sp>
      <p:pic>
        <p:nvPicPr>
          <p:cNvPr id="144387" name="Picture 4" descr="wuxian">
            <a:extLst>
              <a:ext uri="{FF2B5EF4-FFF2-40B4-BE49-F238E27FC236}">
                <a16:creationId xmlns:a16="http://schemas.microsoft.com/office/drawing/2014/main" id="{3E4A00D5-86CD-4A43-A22A-3E13C279EE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46559"/>
            <a:ext cx="2890838" cy="4430713"/>
          </a:xfrm>
          <a:prstGeom prst="rect">
            <a:avLst/>
          </a:prstGeom>
          <a:solidFill>
            <a:srgbClr val="0000CC"/>
          </a:solidFill>
          <a:ln>
            <a:noFill/>
          </a:ln>
          <a:extLst>
            <a:ext uri="{91240B29-F687-4F45-9708-019B960494DF}">
              <a14:hiddenLine xmlns:a14="http://schemas.microsoft.com/office/drawing/2010/main" w="57150">
                <a:solidFill>
                  <a:srgbClr val="000000"/>
                </a:solidFill>
                <a:miter lim="800000"/>
                <a:headEnd/>
                <a:tailEnd/>
              </a14:hiddenLine>
            </a:ext>
          </a:extLst>
        </p:spPr>
      </p:pic>
      <p:sp>
        <p:nvSpPr>
          <p:cNvPr id="144388" name="Text Box 5">
            <a:extLst>
              <a:ext uri="{FF2B5EF4-FFF2-40B4-BE49-F238E27FC236}">
                <a16:creationId xmlns:a16="http://schemas.microsoft.com/office/drawing/2014/main" id="{011EB16E-BF5F-42C4-ABE1-B4A7BBFA34A2}"/>
              </a:ext>
            </a:extLst>
          </p:cNvPr>
          <p:cNvSpPr txBox="1">
            <a:spLocks noChangeArrowheads="1"/>
          </p:cNvSpPr>
          <p:nvPr/>
        </p:nvSpPr>
        <p:spPr bwMode="auto">
          <a:xfrm>
            <a:off x="1524000" y="188913"/>
            <a:ext cx="73802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50000"/>
              </a:spcBef>
              <a:buClrTx/>
              <a:buFontTx/>
              <a:buNone/>
            </a:pPr>
            <a:r>
              <a:rPr lang="zh-CN" altLang="en-US" sz="3600" b="1" dirty="0">
                <a:solidFill>
                  <a:schemeClr val="bg1"/>
                </a:solidFill>
                <a:latin typeface="Arial" panose="020B0604020202020204" pitchFamily="34" charset="0"/>
              </a:rPr>
              <a:t>吴宪教授最早提出蛋白质变性理论</a:t>
            </a:r>
          </a:p>
        </p:txBody>
      </p:sp>
    </p:spTree>
    <p:extLst>
      <p:ext uri="{BB962C8B-B14F-4D97-AF65-F5344CB8AC3E}">
        <p14:creationId xmlns:p14="http://schemas.microsoft.com/office/powerpoint/2010/main" val="1260115465"/>
      </p:ext>
    </p:extLst>
  </p:cSld>
  <p:clrMapOvr>
    <a:masterClrMapping/>
  </p:clrMapOvr>
  <p:transition spd="slow">
    <p:circl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4">
            <a:extLst>
              <a:ext uri="{FF2B5EF4-FFF2-40B4-BE49-F238E27FC236}">
                <a16:creationId xmlns:a16="http://schemas.microsoft.com/office/drawing/2014/main" id="{46F63B6B-8BDD-4CA5-AA0D-DEA12A6E6BFB}"/>
              </a:ext>
            </a:extLst>
          </p:cNvPr>
          <p:cNvSpPr>
            <a:spLocks noChangeArrowheads="1"/>
          </p:cNvSpPr>
          <p:nvPr/>
        </p:nvSpPr>
        <p:spPr bwMode="auto">
          <a:xfrm>
            <a:off x="1593948" y="1841605"/>
            <a:ext cx="9433171" cy="1160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lIns="90000" tIns="46800" rIns="90000" bIns="4680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457200" indent="-457200" eaLnBrk="1" hangingPunct="1">
              <a:lnSpc>
                <a:spcPct val="130000"/>
              </a:lnSpc>
              <a:spcBef>
                <a:spcPct val="0"/>
              </a:spcBef>
              <a:buClrTx/>
            </a:pPr>
            <a:r>
              <a:rPr kumimoji="1" lang="zh-CN" altLang="en-US" dirty="0">
                <a:solidFill>
                  <a:srgbClr val="FF0000"/>
                </a:solidFill>
                <a:latin typeface="微软雅黑" panose="020B0503020204020204" pitchFamily="34" charset="-122"/>
                <a:ea typeface="微软雅黑" panose="020B0503020204020204" pitchFamily="34" charset="-122"/>
              </a:rPr>
              <a:t>失去蛋白质特定空间构象</a:t>
            </a:r>
            <a:r>
              <a:rPr kumimoji="1" lang="zh-CN" altLang="en-US" dirty="0">
                <a:solidFill>
                  <a:schemeClr val="tx1"/>
                </a:solidFill>
                <a:latin typeface="微软雅黑" panose="020B0503020204020204" pitchFamily="34" charset="-122"/>
                <a:ea typeface="微软雅黑" panose="020B0503020204020204" pitchFamily="34" charset="-122"/>
              </a:rPr>
              <a:t>（非共价键和二硫键断裂），</a:t>
            </a:r>
            <a:r>
              <a:rPr kumimoji="1" lang="zh-CN" altLang="en-US" dirty="0">
                <a:solidFill>
                  <a:srgbClr val="FF0000"/>
                </a:solidFill>
                <a:latin typeface="微软雅黑" panose="020B0503020204020204" pitchFamily="34" charset="-122"/>
                <a:ea typeface="微软雅黑" panose="020B0503020204020204" pitchFamily="34" charset="-122"/>
              </a:rPr>
              <a:t>一级结构不变</a:t>
            </a:r>
            <a:r>
              <a:rPr kumimoji="1" lang="zh-CN" altLang="en-US" dirty="0">
                <a:solidFill>
                  <a:schemeClr val="tx1"/>
                </a:solidFill>
                <a:latin typeface="微软雅黑" panose="020B0503020204020204" pitchFamily="34" charset="-122"/>
                <a:ea typeface="微软雅黑" panose="020B0503020204020204" pitchFamily="34" charset="-122"/>
              </a:rPr>
              <a:t>（肽键、分子组成、分子量不变）。</a:t>
            </a:r>
          </a:p>
        </p:txBody>
      </p:sp>
      <p:sp>
        <p:nvSpPr>
          <p:cNvPr id="146435" name="标题 2">
            <a:extLst>
              <a:ext uri="{FF2B5EF4-FFF2-40B4-BE49-F238E27FC236}">
                <a16:creationId xmlns:a16="http://schemas.microsoft.com/office/drawing/2014/main" id="{7C6E3F1A-4A24-4BC2-A908-D61573E47403}"/>
              </a:ext>
            </a:extLst>
          </p:cNvPr>
          <p:cNvSpPr>
            <a:spLocks noGrp="1" noChangeArrowheads="1"/>
          </p:cNvSpPr>
          <p:nvPr>
            <p:ph type="title"/>
          </p:nvPr>
        </p:nvSpPr>
        <p:spPr>
          <a:xfrm>
            <a:off x="1703388" y="188913"/>
            <a:ext cx="6985000" cy="563562"/>
          </a:xfrm>
        </p:spPr>
        <p:txBody>
          <a:bodyPr/>
          <a:lstStyle/>
          <a:p>
            <a:r>
              <a:rPr lang="zh-CN" altLang="en-US" sz="4000"/>
              <a:t>变性的本质</a:t>
            </a:r>
          </a:p>
        </p:txBody>
      </p:sp>
      <p:sp>
        <p:nvSpPr>
          <p:cNvPr id="146436" name="文本框 3">
            <a:extLst>
              <a:ext uri="{FF2B5EF4-FFF2-40B4-BE49-F238E27FC236}">
                <a16:creationId xmlns:a16="http://schemas.microsoft.com/office/drawing/2014/main" id="{5144D785-8265-4759-865F-069CEA8AEAC3}"/>
              </a:ext>
            </a:extLst>
          </p:cNvPr>
          <p:cNvSpPr txBox="1">
            <a:spLocks noChangeArrowheads="1"/>
          </p:cNvSpPr>
          <p:nvPr/>
        </p:nvSpPr>
        <p:spPr bwMode="auto">
          <a:xfrm>
            <a:off x="1586474" y="3884483"/>
            <a:ext cx="9721078" cy="112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457200" indent="-457200">
              <a:lnSpc>
                <a:spcPct val="125000"/>
              </a:lnSpc>
              <a:spcBef>
                <a:spcPct val="0"/>
              </a:spcBef>
              <a:buClrTx/>
            </a:pPr>
            <a:r>
              <a:rPr lang="zh-CN" altLang="en-US" dirty="0">
                <a:solidFill>
                  <a:schemeClr val="tx1"/>
                </a:solidFill>
                <a:latin typeface="微软雅黑" panose="020B0503020204020204" pitchFamily="34" charset="-122"/>
                <a:ea typeface="微软雅黑" panose="020B0503020204020204" pitchFamily="34" charset="-122"/>
              </a:rPr>
              <a:t>变性的蛋白质不一定完全失去原有折叠、成为完全无序的状态，</a:t>
            </a:r>
            <a:r>
              <a:rPr lang="zh-CN" altLang="en-US" dirty="0">
                <a:solidFill>
                  <a:srgbClr val="0000CC"/>
                </a:solidFill>
                <a:latin typeface="微软雅黑" panose="020B0503020204020204" pitchFamily="34" charset="-122"/>
                <a:ea typeface="微软雅黑" panose="020B0503020204020204" pitchFamily="34" charset="-122"/>
              </a:rPr>
              <a:t>大多数情况下，变性蛋白质处于部分折叠状态。</a:t>
            </a:r>
          </a:p>
        </p:txBody>
      </p:sp>
    </p:spTree>
  </p:cSld>
  <p:clrMapOvr>
    <a:masterClrMapping/>
  </p:clrMapOvr>
  <p:transition spd="slow">
    <p:circl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Text Box 2">
            <a:extLst>
              <a:ext uri="{FF2B5EF4-FFF2-40B4-BE49-F238E27FC236}">
                <a16:creationId xmlns:a16="http://schemas.microsoft.com/office/drawing/2014/main" id="{FEDCB7E0-C326-475B-BA7C-F3D0C22CBA04}"/>
              </a:ext>
            </a:extLst>
          </p:cNvPr>
          <p:cNvSpPr txBox="1">
            <a:spLocks noChangeArrowheads="1"/>
          </p:cNvSpPr>
          <p:nvPr/>
        </p:nvSpPr>
        <p:spPr bwMode="auto">
          <a:xfrm>
            <a:off x="1271464" y="2708920"/>
            <a:ext cx="10369152" cy="3150927"/>
          </a:xfrm>
          <a:prstGeom prst="rect">
            <a:avLst/>
          </a:prstGeom>
          <a:noFill/>
          <a:ln>
            <a:noFill/>
          </a:ln>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457200" indent="-457200" eaLnBrk="1" hangingPunct="1">
              <a:lnSpc>
                <a:spcPct val="120000"/>
              </a:lnSpc>
              <a:spcBef>
                <a:spcPct val="0"/>
              </a:spcBef>
              <a:buClrTx/>
              <a:defRPr/>
            </a:pPr>
            <a:r>
              <a:rPr kumimoji="1" lang="zh-CN" altLang="en-US" b="0" dirty="0">
                <a:solidFill>
                  <a:srgbClr val="0000CC"/>
                </a:solidFill>
                <a:latin typeface="微软雅黑" panose="020B0503020204020204" pitchFamily="34" charset="-122"/>
                <a:ea typeface="微软雅黑" panose="020B0503020204020204" pitchFamily="34" charset="-122"/>
              </a:rPr>
              <a:t>物理因素：</a:t>
            </a:r>
            <a:endParaRPr kumimoji="1" lang="en-US" altLang="zh-CN" b="0" dirty="0">
              <a:solidFill>
                <a:srgbClr val="0000CC"/>
              </a:solidFill>
              <a:latin typeface="微软雅黑" panose="020B0503020204020204" pitchFamily="34" charset="-122"/>
              <a:ea typeface="微软雅黑" panose="020B0503020204020204" pitchFamily="34" charset="-122"/>
            </a:endParaRPr>
          </a:p>
          <a:p>
            <a:pPr eaLnBrk="1" hangingPunct="1">
              <a:lnSpc>
                <a:spcPct val="120000"/>
              </a:lnSpc>
              <a:spcBef>
                <a:spcPct val="0"/>
              </a:spcBef>
              <a:buClrTx/>
              <a:buNone/>
              <a:defRPr/>
            </a:pPr>
            <a:r>
              <a:rPr kumimoji="1" lang="en-US" altLang="zh-CN" b="0" dirty="0">
                <a:solidFill>
                  <a:srgbClr val="0000CC"/>
                </a:solidFill>
                <a:latin typeface="微软雅黑" panose="020B0503020204020204" pitchFamily="34" charset="-122"/>
                <a:ea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rPr>
              <a:t>高温、高压、射线、超声波、脱水、搅拌、振荡等</a:t>
            </a:r>
            <a:endParaRPr lang="en-US" altLang="zh-CN" b="0" dirty="0">
              <a:latin typeface="微软雅黑" panose="020B0503020204020204" pitchFamily="34" charset="-122"/>
              <a:ea typeface="微软雅黑" panose="020B0503020204020204" pitchFamily="34" charset="-122"/>
            </a:endParaRPr>
          </a:p>
          <a:p>
            <a:pPr eaLnBrk="1" hangingPunct="1">
              <a:lnSpc>
                <a:spcPct val="120000"/>
              </a:lnSpc>
              <a:spcBef>
                <a:spcPct val="0"/>
              </a:spcBef>
              <a:buClrTx/>
              <a:buNone/>
              <a:defRPr/>
            </a:pPr>
            <a:endParaRPr lang="zh-CN" altLang="en-US" b="0" dirty="0">
              <a:latin typeface="微软雅黑" panose="020B0503020204020204" pitchFamily="34" charset="-122"/>
              <a:ea typeface="微软雅黑" panose="020B0503020204020204" pitchFamily="34" charset="-122"/>
            </a:endParaRPr>
          </a:p>
          <a:p>
            <a:pPr marL="457200" indent="-457200" eaLnBrk="1" hangingPunct="1">
              <a:lnSpc>
                <a:spcPct val="120000"/>
              </a:lnSpc>
              <a:spcBef>
                <a:spcPct val="0"/>
              </a:spcBef>
              <a:buClrTx/>
              <a:defRPr/>
            </a:pPr>
            <a:r>
              <a:rPr kumimoji="1" lang="zh-CN" altLang="en-US" b="0" dirty="0">
                <a:solidFill>
                  <a:srgbClr val="0000CC"/>
                </a:solidFill>
                <a:latin typeface="微软雅黑" panose="020B0503020204020204" pitchFamily="34" charset="-122"/>
                <a:ea typeface="微软雅黑" panose="020B0503020204020204" pitchFamily="34" charset="-122"/>
              </a:rPr>
              <a:t>化学因素：</a:t>
            </a:r>
            <a:endParaRPr kumimoji="1" lang="en-US" altLang="zh-CN" b="0" dirty="0">
              <a:solidFill>
                <a:srgbClr val="0000CC"/>
              </a:solidFill>
              <a:latin typeface="微软雅黑" panose="020B0503020204020204" pitchFamily="34" charset="-122"/>
              <a:ea typeface="微软雅黑" panose="020B0503020204020204" pitchFamily="34" charset="-122"/>
            </a:endParaRPr>
          </a:p>
          <a:p>
            <a:pPr marL="457200" lvl="1" indent="0" eaLnBrk="1" hangingPunct="1">
              <a:lnSpc>
                <a:spcPct val="120000"/>
              </a:lnSpc>
              <a:spcBef>
                <a:spcPct val="0"/>
              </a:spcBef>
              <a:buClrTx/>
              <a:buNone/>
              <a:defRPr/>
            </a:pPr>
            <a:r>
              <a:rPr lang="zh-CN" altLang="en-US" b="0" dirty="0">
                <a:latin typeface="微软雅黑" panose="020B0503020204020204" pitchFamily="34" charset="-122"/>
                <a:ea typeface="微软雅黑" panose="020B0503020204020204" pitchFamily="34" charset="-122"/>
              </a:rPr>
              <a:t>强酸、强碱、重金属盐、尿素、生物碱试剂、</a:t>
            </a:r>
            <a:r>
              <a:rPr lang="en-US" altLang="zh-CN" b="0" dirty="0">
                <a:latin typeface="微软雅黑" panose="020B0503020204020204" pitchFamily="34" charset="-122"/>
                <a:ea typeface="微软雅黑" panose="020B0503020204020204" pitchFamily="34" charset="-122"/>
              </a:rPr>
              <a:t>β-</a:t>
            </a:r>
            <a:r>
              <a:rPr lang="zh-CN" altLang="en-US" b="0" dirty="0">
                <a:latin typeface="微软雅黑" panose="020B0503020204020204" pitchFamily="34" charset="-122"/>
                <a:ea typeface="微软雅黑" panose="020B0503020204020204" pitchFamily="34" charset="-122"/>
              </a:rPr>
              <a:t>巯基乙醇、</a:t>
            </a:r>
            <a:r>
              <a:rPr lang="en-US" altLang="zh-CN" b="0" dirty="0">
                <a:latin typeface="微软雅黑" panose="020B0503020204020204" pitchFamily="34" charset="-122"/>
                <a:ea typeface="微软雅黑" panose="020B0503020204020204" pitchFamily="34" charset="-122"/>
              </a:rPr>
              <a:t>SDS</a:t>
            </a:r>
            <a:r>
              <a:rPr lang="zh-CN" altLang="en-US" b="0" dirty="0">
                <a:latin typeface="微软雅黑" panose="020B0503020204020204" pitchFamily="34" charset="-122"/>
                <a:ea typeface="微软雅黑" panose="020B0503020204020204" pitchFamily="34" charset="-122"/>
              </a:rPr>
              <a:t>等 </a:t>
            </a:r>
            <a:endParaRPr lang="en-US" altLang="zh-CN" b="0" dirty="0">
              <a:latin typeface="微软雅黑" panose="020B0503020204020204" pitchFamily="34" charset="-122"/>
              <a:ea typeface="微软雅黑" panose="020B0503020204020204" pitchFamily="34" charset="-122"/>
            </a:endParaRPr>
          </a:p>
        </p:txBody>
      </p:sp>
      <p:sp>
        <p:nvSpPr>
          <p:cNvPr id="148483" name="标题 1">
            <a:extLst>
              <a:ext uri="{FF2B5EF4-FFF2-40B4-BE49-F238E27FC236}">
                <a16:creationId xmlns:a16="http://schemas.microsoft.com/office/drawing/2014/main" id="{719573E2-999A-4568-AFA1-0B21C753DC25}"/>
              </a:ext>
            </a:extLst>
          </p:cNvPr>
          <p:cNvSpPr>
            <a:spLocks noGrp="1" noChangeArrowheads="1"/>
          </p:cNvSpPr>
          <p:nvPr>
            <p:ph type="title"/>
          </p:nvPr>
        </p:nvSpPr>
        <p:spPr>
          <a:xfrm>
            <a:off x="1703388" y="188913"/>
            <a:ext cx="6985000" cy="563562"/>
          </a:xfrm>
        </p:spPr>
        <p:txBody>
          <a:bodyPr/>
          <a:lstStyle/>
          <a:p>
            <a:r>
              <a:rPr lang="zh-CN" altLang="en-US" sz="4000"/>
              <a:t>变性因素</a:t>
            </a:r>
          </a:p>
        </p:txBody>
      </p:sp>
      <p:sp>
        <p:nvSpPr>
          <p:cNvPr id="148484" name="文本框 2">
            <a:extLst>
              <a:ext uri="{FF2B5EF4-FFF2-40B4-BE49-F238E27FC236}">
                <a16:creationId xmlns:a16="http://schemas.microsoft.com/office/drawing/2014/main" id="{097805CC-E91E-4EDD-B0A4-54E7D4A8E199}"/>
              </a:ext>
            </a:extLst>
          </p:cNvPr>
          <p:cNvSpPr txBox="1">
            <a:spLocks noChangeArrowheads="1"/>
          </p:cNvSpPr>
          <p:nvPr/>
        </p:nvSpPr>
        <p:spPr bwMode="auto">
          <a:xfrm>
            <a:off x="2603500" y="1556792"/>
            <a:ext cx="6985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3200" dirty="0">
                <a:solidFill>
                  <a:srgbClr val="0000CC"/>
                </a:solidFill>
                <a:latin typeface="微软雅黑" panose="020B0503020204020204" pitchFamily="34" charset="-122"/>
                <a:ea typeface="微软雅黑" panose="020B0503020204020204" pitchFamily="34" charset="-122"/>
              </a:rPr>
              <a:t>所有能破坏次级键及二硫键的因素</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50594">
                                            <p:txEl>
                                              <p:pRg st="0" end="0"/>
                                            </p:txEl>
                                          </p:spTgt>
                                        </p:tgtEl>
                                        <p:attrNameLst>
                                          <p:attrName>style.visibility</p:attrName>
                                        </p:attrNameLst>
                                      </p:cBhvr>
                                      <p:to>
                                        <p:strVal val="visible"/>
                                      </p:to>
                                    </p:set>
                                    <p:animEffect transition="in" filter="fade">
                                      <p:cBhvr>
                                        <p:cTn id="7" dur="500"/>
                                        <p:tgtEl>
                                          <p:spTgt spid="7505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50594">
                                            <p:txEl>
                                              <p:pRg st="1" end="1"/>
                                            </p:txEl>
                                          </p:spTgt>
                                        </p:tgtEl>
                                        <p:attrNameLst>
                                          <p:attrName>style.visibility</p:attrName>
                                        </p:attrNameLst>
                                      </p:cBhvr>
                                      <p:to>
                                        <p:strVal val="visible"/>
                                      </p:to>
                                    </p:set>
                                    <p:animEffect transition="in" filter="fade">
                                      <p:cBhvr>
                                        <p:cTn id="12" dur="500"/>
                                        <p:tgtEl>
                                          <p:spTgt spid="75059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750594">
                                            <p:txEl>
                                              <p:pRg st="3" end="3"/>
                                            </p:txEl>
                                          </p:spTgt>
                                        </p:tgtEl>
                                        <p:attrNameLst>
                                          <p:attrName>style.visibility</p:attrName>
                                        </p:attrNameLst>
                                      </p:cBhvr>
                                      <p:to>
                                        <p:strVal val="visible"/>
                                      </p:to>
                                    </p:set>
                                    <p:animEffect transition="in" filter="fade">
                                      <p:cBhvr>
                                        <p:cTn id="17" dur="500"/>
                                        <p:tgtEl>
                                          <p:spTgt spid="75059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50594">
                                            <p:txEl>
                                              <p:pRg st="4" end="4"/>
                                            </p:txEl>
                                          </p:spTgt>
                                        </p:tgtEl>
                                        <p:attrNameLst>
                                          <p:attrName>style.visibility</p:attrName>
                                        </p:attrNameLst>
                                      </p:cBhvr>
                                      <p:to>
                                        <p:strVal val="visible"/>
                                      </p:to>
                                    </p:set>
                                    <p:animEffect transition="in" filter="fade">
                                      <p:cBhvr>
                                        <p:cTn id="22" dur="500"/>
                                        <p:tgtEl>
                                          <p:spTgt spid="75059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5469F66A-7EA1-47C8-A93B-84AEA04ED5F0}"/>
              </a:ext>
            </a:extLst>
          </p:cNvPr>
          <p:cNvSpPr>
            <a:spLocks noChangeArrowheads="1"/>
          </p:cNvSpPr>
          <p:nvPr/>
        </p:nvSpPr>
        <p:spPr bwMode="auto">
          <a:xfrm>
            <a:off x="2362201" y="1624014"/>
            <a:ext cx="30400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200">
                <a:solidFill>
                  <a:srgbClr val="FF0000"/>
                </a:solidFill>
                <a:latin typeface="Tahoma" panose="020B0604030504040204" pitchFamily="34" charset="0"/>
              </a:rPr>
              <a:t>变性后的表现：</a:t>
            </a:r>
          </a:p>
        </p:txBody>
      </p:sp>
      <p:sp>
        <p:nvSpPr>
          <p:cNvPr id="150531" name="Text Box 3">
            <a:extLst>
              <a:ext uri="{FF2B5EF4-FFF2-40B4-BE49-F238E27FC236}">
                <a16:creationId xmlns:a16="http://schemas.microsoft.com/office/drawing/2014/main" id="{5398F168-62D0-4349-9A40-68D3792D35D6}"/>
              </a:ext>
            </a:extLst>
          </p:cNvPr>
          <p:cNvSpPr txBox="1">
            <a:spLocks noChangeArrowheads="1"/>
          </p:cNvSpPr>
          <p:nvPr/>
        </p:nvSpPr>
        <p:spPr bwMode="auto">
          <a:xfrm>
            <a:off x="2617788" y="2565401"/>
            <a:ext cx="3224212"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
                <a:schemeClr val="tx1"/>
              </a:buClr>
            </a:pPr>
            <a:r>
              <a:rPr kumimoji="1" lang="zh-CN" altLang="en-US" sz="3200" dirty="0">
                <a:solidFill>
                  <a:srgbClr val="FF0000"/>
                </a:solidFill>
                <a:latin typeface="Tahoma" panose="020B0604030504040204" pitchFamily="34" charset="0"/>
              </a:rPr>
              <a:t>生物活性丧失</a:t>
            </a:r>
          </a:p>
          <a:p>
            <a:pPr eaLnBrk="1" hangingPunct="1">
              <a:spcBef>
                <a:spcPct val="50000"/>
              </a:spcBef>
              <a:buClr>
                <a:srgbClr val="FF0066"/>
              </a:buClr>
            </a:pPr>
            <a:endParaRPr kumimoji="1" lang="zh-CN" altLang="en-US" sz="3200" dirty="0">
              <a:solidFill>
                <a:schemeClr val="tx2"/>
              </a:solidFill>
              <a:latin typeface="Tahoma" panose="020B0604030504040204" pitchFamily="34" charset="0"/>
            </a:endParaRPr>
          </a:p>
          <a:p>
            <a:pPr eaLnBrk="1" hangingPunct="1">
              <a:spcBef>
                <a:spcPct val="50000"/>
              </a:spcBef>
              <a:buClr>
                <a:schemeClr val="tx1"/>
              </a:buClr>
            </a:pPr>
            <a:r>
              <a:rPr kumimoji="1" lang="zh-CN" altLang="en-US" sz="3200" dirty="0">
                <a:solidFill>
                  <a:srgbClr val="FF0000"/>
                </a:solidFill>
                <a:latin typeface="Tahoma" panose="020B0604030504040204" pitchFamily="34" charset="0"/>
              </a:rPr>
              <a:t>理化性质改变</a:t>
            </a:r>
          </a:p>
        </p:txBody>
      </p:sp>
      <p:grpSp>
        <p:nvGrpSpPr>
          <p:cNvPr id="2" name="Group 4">
            <a:extLst>
              <a:ext uri="{FF2B5EF4-FFF2-40B4-BE49-F238E27FC236}">
                <a16:creationId xmlns:a16="http://schemas.microsoft.com/office/drawing/2014/main" id="{06DB29F7-55C7-4A60-B38C-250478A328E0}"/>
              </a:ext>
            </a:extLst>
          </p:cNvPr>
          <p:cNvGrpSpPr>
            <a:grpSpLocks/>
          </p:cNvGrpSpPr>
          <p:nvPr/>
        </p:nvGrpSpPr>
        <p:grpSpPr bwMode="auto">
          <a:xfrm>
            <a:off x="5943600" y="3124201"/>
            <a:ext cx="3657600" cy="2443163"/>
            <a:chOff x="2784" y="1968"/>
            <a:chExt cx="2304" cy="1539"/>
          </a:xfrm>
        </p:grpSpPr>
        <p:sp>
          <p:nvSpPr>
            <p:cNvPr id="150533" name="Text Box 5">
              <a:extLst>
                <a:ext uri="{FF2B5EF4-FFF2-40B4-BE49-F238E27FC236}">
                  <a16:creationId xmlns:a16="http://schemas.microsoft.com/office/drawing/2014/main" id="{F86960EE-E6B8-48D0-BDE0-74A02BF87818}"/>
                </a:ext>
              </a:extLst>
            </p:cNvPr>
            <p:cNvSpPr txBox="1">
              <a:spLocks noChangeArrowheads="1"/>
            </p:cNvSpPr>
            <p:nvPr/>
          </p:nvSpPr>
          <p:spPr bwMode="auto">
            <a:xfrm>
              <a:off x="3072" y="1968"/>
              <a:ext cx="2016" cy="1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zh-CN" altLang="en-US">
                  <a:solidFill>
                    <a:schemeClr val="tx1"/>
                  </a:solidFill>
                  <a:latin typeface="Tahoma" panose="020B0604030504040204" pitchFamily="34" charset="0"/>
                </a:rPr>
                <a:t>溶解度降低</a:t>
              </a:r>
            </a:p>
            <a:p>
              <a:pPr eaLnBrk="1" hangingPunct="1">
                <a:spcBef>
                  <a:spcPct val="50000"/>
                </a:spcBef>
                <a:buClrTx/>
                <a:buFontTx/>
                <a:buNone/>
              </a:pPr>
              <a:r>
                <a:rPr kumimoji="1" lang="zh-CN" altLang="en-US">
                  <a:solidFill>
                    <a:schemeClr val="tx1"/>
                  </a:solidFill>
                  <a:latin typeface="Tahoma" panose="020B0604030504040204" pitchFamily="34" charset="0"/>
                </a:rPr>
                <a:t>粘度</a:t>
              </a:r>
              <a:r>
                <a:rPr kumimoji="1" lang="zh-CN" altLang="en-US">
                  <a:solidFill>
                    <a:srgbClr val="C00000"/>
                  </a:solidFill>
                  <a:latin typeface="Tahoma" panose="020B0604030504040204" pitchFamily="34" charset="0"/>
                </a:rPr>
                <a:t>增加</a:t>
              </a:r>
            </a:p>
            <a:p>
              <a:pPr eaLnBrk="1" hangingPunct="1">
                <a:spcBef>
                  <a:spcPct val="50000"/>
                </a:spcBef>
                <a:buClrTx/>
                <a:buFontTx/>
                <a:buNone/>
              </a:pPr>
              <a:r>
                <a:rPr kumimoji="1" lang="zh-CN" altLang="en-US">
                  <a:solidFill>
                    <a:schemeClr val="tx1"/>
                  </a:solidFill>
                  <a:latin typeface="Tahoma" panose="020B0604030504040204" pitchFamily="34" charset="0"/>
                </a:rPr>
                <a:t>结晶能力消失</a:t>
              </a:r>
            </a:p>
            <a:p>
              <a:pPr eaLnBrk="1" hangingPunct="1">
                <a:spcBef>
                  <a:spcPct val="50000"/>
                </a:spcBef>
                <a:buClrTx/>
                <a:buFontTx/>
                <a:buNone/>
              </a:pPr>
              <a:r>
                <a:rPr kumimoji="1" lang="zh-CN" altLang="en-US">
                  <a:solidFill>
                    <a:schemeClr val="tx1"/>
                  </a:solidFill>
                  <a:latin typeface="Tahoma" panose="020B0604030504040204" pitchFamily="34" charset="0"/>
                </a:rPr>
                <a:t>易被蛋白酶水解</a:t>
              </a:r>
            </a:p>
          </p:txBody>
        </p:sp>
        <p:sp>
          <p:nvSpPr>
            <p:cNvPr id="150534" name="AutoShape 6">
              <a:extLst>
                <a:ext uri="{FF2B5EF4-FFF2-40B4-BE49-F238E27FC236}">
                  <a16:creationId xmlns:a16="http://schemas.microsoft.com/office/drawing/2014/main" id="{738B7B48-F0D3-408E-8D11-2A384F114974}"/>
                </a:ext>
              </a:extLst>
            </p:cNvPr>
            <p:cNvSpPr>
              <a:spLocks/>
            </p:cNvSpPr>
            <p:nvPr/>
          </p:nvSpPr>
          <p:spPr bwMode="auto">
            <a:xfrm>
              <a:off x="2784" y="2112"/>
              <a:ext cx="240" cy="1248"/>
            </a:xfrm>
            <a:prstGeom prst="leftBrace">
              <a:avLst>
                <a:gd name="adj1" fmla="val 4333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gr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Text Box 2">
            <a:extLst>
              <a:ext uri="{FF2B5EF4-FFF2-40B4-BE49-F238E27FC236}">
                <a16:creationId xmlns:a16="http://schemas.microsoft.com/office/drawing/2014/main" id="{7B5C78EF-5D2A-4FBC-839A-10120E0B382F}"/>
              </a:ext>
            </a:extLst>
          </p:cNvPr>
          <p:cNvSpPr txBox="1">
            <a:spLocks noChangeArrowheads="1"/>
          </p:cNvSpPr>
          <p:nvPr/>
        </p:nvSpPr>
        <p:spPr bwMode="auto">
          <a:xfrm>
            <a:off x="2584451" y="3141664"/>
            <a:ext cx="689451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174625" indent="-174625">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30000"/>
              </a:spcBef>
              <a:buClrTx/>
              <a:buFontTx/>
              <a:buNone/>
            </a:pPr>
            <a:r>
              <a:rPr lang="en-US" altLang="zh-CN" sz="3200">
                <a:solidFill>
                  <a:srgbClr val="000099"/>
                </a:solidFill>
              </a:rPr>
              <a:t>② </a:t>
            </a:r>
            <a:r>
              <a:rPr lang="zh-CN" altLang="en-US" sz="3200">
                <a:solidFill>
                  <a:srgbClr val="FF0000"/>
                </a:solidFill>
              </a:rPr>
              <a:t>防止变性</a:t>
            </a:r>
            <a:r>
              <a:rPr lang="zh-CN" altLang="en-US" sz="3200">
                <a:solidFill>
                  <a:srgbClr val="000099"/>
                </a:solidFill>
              </a:rPr>
              <a:t>：低温保存生物制品       </a:t>
            </a:r>
          </a:p>
        </p:txBody>
      </p:sp>
      <p:sp>
        <p:nvSpPr>
          <p:cNvPr id="152579" name="Text Box 3">
            <a:extLst>
              <a:ext uri="{FF2B5EF4-FFF2-40B4-BE49-F238E27FC236}">
                <a16:creationId xmlns:a16="http://schemas.microsoft.com/office/drawing/2014/main" id="{0CB52631-61A8-4C71-BE1D-9F9A29CE830E}"/>
              </a:ext>
            </a:extLst>
          </p:cNvPr>
          <p:cNvSpPr txBox="1">
            <a:spLocks noChangeArrowheads="1"/>
          </p:cNvSpPr>
          <p:nvPr/>
        </p:nvSpPr>
        <p:spPr bwMode="auto">
          <a:xfrm>
            <a:off x="1992314" y="1196975"/>
            <a:ext cx="813593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174625" indent="-174625">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30000"/>
              </a:spcBef>
              <a:buClrTx/>
              <a:buFontTx/>
              <a:buChar char="•"/>
            </a:pPr>
            <a:r>
              <a:rPr kumimoji="1" lang="en-US" altLang="zh-CN" sz="3200">
                <a:solidFill>
                  <a:srgbClr val="993366"/>
                </a:solidFill>
              </a:rPr>
              <a:t> </a:t>
            </a:r>
            <a:r>
              <a:rPr kumimoji="1" lang="zh-CN" altLang="en-US" sz="3200">
                <a:solidFill>
                  <a:srgbClr val="006600"/>
                </a:solidFill>
              </a:rPr>
              <a:t>应用举例</a:t>
            </a:r>
            <a:r>
              <a:rPr lang="zh-CN" altLang="en-US" sz="3200">
                <a:solidFill>
                  <a:srgbClr val="000099"/>
                </a:solidFill>
              </a:rPr>
              <a:t>       </a:t>
            </a:r>
          </a:p>
        </p:txBody>
      </p:sp>
      <p:sp>
        <p:nvSpPr>
          <p:cNvPr id="754692" name="Text Box 4">
            <a:extLst>
              <a:ext uri="{FF2B5EF4-FFF2-40B4-BE49-F238E27FC236}">
                <a16:creationId xmlns:a16="http://schemas.microsoft.com/office/drawing/2014/main" id="{973DCB65-78DE-4250-8E96-9FBD02A667C0}"/>
              </a:ext>
            </a:extLst>
          </p:cNvPr>
          <p:cNvSpPr txBox="1">
            <a:spLocks noChangeArrowheads="1"/>
          </p:cNvSpPr>
          <p:nvPr/>
        </p:nvSpPr>
        <p:spPr bwMode="auto">
          <a:xfrm>
            <a:off x="2590801" y="2205039"/>
            <a:ext cx="68167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174625" indent="-174625">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30000"/>
              </a:spcBef>
              <a:buClrTx/>
              <a:buFontTx/>
              <a:buNone/>
            </a:pPr>
            <a:r>
              <a:rPr lang="en-US" altLang="zh-CN" sz="3200">
                <a:solidFill>
                  <a:srgbClr val="000099"/>
                </a:solidFill>
              </a:rPr>
              <a:t>① </a:t>
            </a:r>
            <a:r>
              <a:rPr lang="zh-CN" altLang="en-US" sz="3200">
                <a:solidFill>
                  <a:srgbClr val="FF0000"/>
                </a:solidFill>
              </a:rPr>
              <a:t>利用变性</a:t>
            </a:r>
            <a:r>
              <a:rPr lang="zh-CN" altLang="en-US" sz="3200">
                <a:solidFill>
                  <a:srgbClr val="000099"/>
                </a:solidFill>
              </a:rPr>
              <a:t>：酒精消毒、高压灭菌</a:t>
            </a:r>
          </a:p>
        </p:txBody>
      </p:sp>
      <p:sp>
        <p:nvSpPr>
          <p:cNvPr id="754693" name="Text Box 5">
            <a:extLst>
              <a:ext uri="{FF2B5EF4-FFF2-40B4-BE49-F238E27FC236}">
                <a16:creationId xmlns:a16="http://schemas.microsoft.com/office/drawing/2014/main" id="{B669E7A5-1222-4A45-87EE-91290EEDB82C}"/>
              </a:ext>
            </a:extLst>
          </p:cNvPr>
          <p:cNvSpPr txBox="1">
            <a:spLocks noChangeArrowheads="1"/>
          </p:cNvSpPr>
          <p:nvPr/>
        </p:nvSpPr>
        <p:spPr bwMode="auto">
          <a:xfrm>
            <a:off x="2208213" y="4221164"/>
            <a:ext cx="78486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2954338" indent="-259080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1" eaLnBrk="1" hangingPunct="1">
              <a:lnSpc>
                <a:spcPct val="150000"/>
              </a:lnSpc>
              <a:spcBef>
                <a:spcPct val="30000"/>
              </a:spcBef>
              <a:buClrTx/>
              <a:buFontTx/>
              <a:buNone/>
            </a:pPr>
            <a:r>
              <a:rPr lang="en-US" altLang="zh-CN" sz="3200">
                <a:solidFill>
                  <a:srgbClr val="000099"/>
                </a:solidFill>
              </a:rPr>
              <a:t>③ </a:t>
            </a:r>
            <a:r>
              <a:rPr lang="zh-CN" altLang="en-US" sz="3200">
                <a:solidFill>
                  <a:srgbClr val="FF0000"/>
                </a:solidFill>
              </a:rPr>
              <a:t>取代变性</a:t>
            </a:r>
            <a:r>
              <a:rPr lang="zh-CN" altLang="en-US" sz="3200">
                <a:solidFill>
                  <a:srgbClr val="000099"/>
                </a:solidFill>
              </a:rPr>
              <a:t>：大量清蛋白抢救重金属盐中毒患者</a:t>
            </a:r>
            <a:endParaRPr lang="en-US" altLang="zh-CN" sz="3200">
              <a:solidFill>
                <a:srgbClr val="000099"/>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54692"/>
                                        </p:tgtEl>
                                        <p:attrNameLst>
                                          <p:attrName>style.visibility</p:attrName>
                                        </p:attrNameLst>
                                      </p:cBhvr>
                                      <p:to>
                                        <p:strVal val="visible"/>
                                      </p:to>
                                    </p:set>
                                    <p:animEffect transition="in" filter="fade">
                                      <p:cBhvr>
                                        <p:cTn id="7" dur="500"/>
                                        <p:tgtEl>
                                          <p:spTgt spid="7546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54690"/>
                                        </p:tgtEl>
                                        <p:attrNameLst>
                                          <p:attrName>style.visibility</p:attrName>
                                        </p:attrNameLst>
                                      </p:cBhvr>
                                      <p:to>
                                        <p:strVal val="visible"/>
                                      </p:to>
                                    </p:set>
                                    <p:animEffect transition="in" filter="fade">
                                      <p:cBhvr>
                                        <p:cTn id="12" dur="500"/>
                                        <p:tgtEl>
                                          <p:spTgt spid="7546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54693"/>
                                        </p:tgtEl>
                                        <p:attrNameLst>
                                          <p:attrName>style.visibility</p:attrName>
                                        </p:attrNameLst>
                                      </p:cBhvr>
                                      <p:to>
                                        <p:strVal val="visible"/>
                                      </p:to>
                                    </p:set>
                                    <p:animEffect transition="in" filter="fade">
                                      <p:cBhvr>
                                        <p:cTn id="17" dur="500"/>
                                        <p:tgtEl>
                                          <p:spTgt spid="754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4690" grpId="0" autoUpdateAnimBg="0"/>
      <p:bldP spid="754692" grpId="0" autoUpdateAnimBg="0"/>
      <p:bldP spid="75469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7" name="Rectangle 5">
            <a:extLst>
              <a:ext uri="{FF2B5EF4-FFF2-40B4-BE49-F238E27FC236}">
                <a16:creationId xmlns:a16="http://schemas.microsoft.com/office/drawing/2014/main" id="{FC99D5A6-1EE1-4203-910D-4A4ADDD37B9F}"/>
              </a:ext>
            </a:extLst>
          </p:cNvPr>
          <p:cNvSpPr>
            <a:spLocks noChangeArrowheads="1"/>
          </p:cNvSpPr>
          <p:nvPr/>
        </p:nvSpPr>
        <p:spPr bwMode="auto">
          <a:xfrm>
            <a:off x="1271464" y="1628775"/>
            <a:ext cx="9865096" cy="1867691"/>
          </a:xfrm>
          <a:prstGeom prst="rect">
            <a:avLst/>
          </a:prstGeom>
          <a:noFill/>
          <a:ln>
            <a:noFill/>
          </a:ln>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1604963" indent="-1604963" eaLnBrk="1" hangingPunct="1">
              <a:lnSpc>
                <a:spcPct val="140000"/>
              </a:lnSpc>
              <a:spcBef>
                <a:spcPct val="0"/>
              </a:spcBef>
              <a:buClrTx/>
              <a:buNone/>
              <a:defRPr/>
            </a:pPr>
            <a:r>
              <a:rPr lang="zh-CN" altLang="en-US" b="0" dirty="0">
                <a:solidFill>
                  <a:srgbClr val="FF0000"/>
                </a:solidFill>
              </a:rPr>
              <a:t>可逆变性：</a:t>
            </a:r>
            <a:r>
              <a:rPr lang="en-US" altLang="zh-CN" b="0" dirty="0" err="1">
                <a:solidFill>
                  <a:schemeClr val="tx1"/>
                </a:solidFill>
              </a:rPr>
              <a:t>Pr</a:t>
            </a:r>
            <a:r>
              <a:rPr lang="zh-CN" altLang="en-US" b="0" dirty="0">
                <a:solidFill>
                  <a:schemeClr val="tx1"/>
                </a:solidFill>
              </a:rPr>
              <a:t>变性后如将变性剂除去，该</a:t>
            </a:r>
            <a:r>
              <a:rPr lang="en-US" altLang="zh-CN" b="0" dirty="0" err="1">
                <a:solidFill>
                  <a:schemeClr val="tx1"/>
                </a:solidFill>
              </a:rPr>
              <a:t>Pr</a:t>
            </a:r>
            <a:r>
              <a:rPr lang="zh-CN" altLang="en-US" b="0" dirty="0">
                <a:solidFill>
                  <a:schemeClr val="tx1"/>
                </a:solidFill>
              </a:rPr>
              <a:t>分子的天然构象和生物学活性还</a:t>
            </a:r>
            <a:r>
              <a:rPr lang="zh-CN" altLang="en-US" b="0" dirty="0">
                <a:solidFill>
                  <a:srgbClr val="0000CC"/>
                </a:solidFill>
              </a:rPr>
              <a:t>能恢复（即复性，</a:t>
            </a:r>
            <a:r>
              <a:rPr lang="en-US" altLang="zh-CN" b="0" dirty="0">
                <a:solidFill>
                  <a:srgbClr val="0000CC"/>
                </a:solidFill>
                <a:latin typeface="Arial" panose="020B0604020202020204" pitchFamily="34" charset="0"/>
                <a:cs typeface="Arial" panose="020B0604020202020204" pitchFamily="34" charset="0"/>
              </a:rPr>
              <a:t>renaturation</a:t>
            </a:r>
            <a:r>
              <a:rPr lang="zh-CN" altLang="en-US" b="0" dirty="0">
                <a:solidFill>
                  <a:srgbClr val="0000CC"/>
                </a:solidFill>
                <a:latin typeface="Arial" panose="020B0604020202020204" pitchFamily="34" charset="0"/>
                <a:cs typeface="Arial" panose="020B0604020202020204" pitchFamily="34" charset="0"/>
              </a:rPr>
              <a:t>）</a:t>
            </a:r>
            <a:r>
              <a:rPr lang="zh-CN" altLang="en-US" b="0" dirty="0">
                <a:solidFill>
                  <a:srgbClr val="0000CC"/>
                </a:solidFill>
              </a:rPr>
              <a:t>。</a:t>
            </a:r>
            <a:endParaRPr lang="zh-CN" altLang="en-US" b="0" dirty="0">
              <a:solidFill>
                <a:schemeClr val="tx1"/>
              </a:solidFill>
            </a:endParaRPr>
          </a:p>
          <a:p>
            <a:pPr eaLnBrk="1" hangingPunct="1">
              <a:lnSpc>
                <a:spcPct val="150000"/>
              </a:lnSpc>
              <a:spcBef>
                <a:spcPct val="0"/>
              </a:spcBef>
              <a:buClrTx/>
              <a:buFontTx/>
              <a:buNone/>
              <a:defRPr/>
            </a:pPr>
            <a:endParaRPr lang="en-US" altLang="zh-CN" b="0" dirty="0">
              <a:solidFill>
                <a:schemeClr val="tx1"/>
              </a:solidFill>
            </a:endParaRPr>
          </a:p>
        </p:txBody>
      </p:sp>
      <p:sp>
        <p:nvSpPr>
          <p:cNvPr id="755718" name="Rectangle 6">
            <a:extLst>
              <a:ext uri="{FF2B5EF4-FFF2-40B4-BE49-F238E27FC236}">
                <a16:creationId xmlns:a16="http://schemas.microsoft.com/office/drawing/2014/main" id="{C5D9492E-F756-41EF-B5BA-BE826CAED1EF}"/>
              </a:ext>
            </a:extLst>
          </p:cNvPr>
          <p:cNvSpPr>
            <a:spLocks noChangeArrowheads="1"/>
          </p:cNvSpPr>
          <p:nvPr/>
        </p:nvSpPr>
        <p:spPr bwMode="auto">
          <a:xfrm>
            <a:off x="1271464" y="3496466"/>
            <a:ext cx="9361040" cy="1303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052638" indent="-2052638">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buClr>
                <a:schemeClr val="tx2"/>
              </a:buClr>
              <a:buFontTx/>
              <a:buNone/>
            </a:pPr>
            <a:r>
              <a:rPr lang="zh-CN" altLang="en-US" dirty="0">
                <a:solidFill>
                  <a:srgbClr val="FF0000"/>
                </a:solidFill>
              </a:rPr>
              <a:t>不可逆变性：</a:t>
            </a:r>
            <a:r>
              <a:rPr lang="zh-CN" altLang="en-US" dirty="0">
                <a:solidFill>
                  <a:schemeClr val="tx1"/>
                </a:solidFill>
              </a:rPr>
              <a:t>若变性条件强烈，作用时间长，构象变化大，理化性质</a:t>
            </a:r>
            <a:r>
              <a:rPr lang="zh-CN" altLang="en-US" dirty="0">
                <a:solidFill>
                  <a:srgbClr val="0000CC"/>
                </a:solidFill>
              </a:rPr>
              <a:t>难以恢复</a:t>
            </a:r>
            <a:r>
              <a:rPr lang="zh-CN" altLang="en-US" dirty="0">
                <a:solidFill>
                  <a:schemeClr val="tx1"/>
                </a:solidFill>
              </a:rPr>
              <a:t>。</a:t>
            </a:r>
          </a:p>
        </p:txBody>
      </p:sp>
      <p:sp>
        <p:nvSpPr>
          <p:cNvPr id="2" name="标题 1">
            <a:extLst>
              <a:ext uri="{FF2B5EF4-FFF2-40B4-BE49-F238E27FC236}">
                <a16:creationId xmlns:a16="http://schemas.microsoft.com/office/drawing/2014/main" id="{A79CA638-0867-4E68-B571-08057D27DD1F}"/>
              </a:ext>
            </a:extLst>
          </p:cNvPr>
          <p:cNvSpPr>
            <a:spLocks noGrp="1"/>
          </p:cNvSpPr>
          <p:nvPr>
            <p:ph type="title"/>
          </p:nvPr>
        </p:nvSpPr>
        <p:spPr>
          <a:xfrm>
            <a:off x="1533526" y="188913"/>
            <a:ext cx="7985125" cy="563562"/>
          </a:xfrm>
        </p:spPr>
        <p:txBody>
          <a:bodyPr/>
          <a:lstStyle/>
          <a:p>
            <a:pPr>
              <a:defRPr/>
            </a:pPr>
            <a:r>
              <a:rPr lang="zh-CN" altLang="en-US" sz="4000" dirty="0">
                <a:solidFill>
                  <a:schemeClr val="accent3"/>
                </a:solidFill>
              </a:rPr>
              <a:t>变性与复性</a:t>
            </a:r>
            <a:r>
              <a:rPr kumimoji="1" lang="en-US" altLang="zh-CN" sz="4000" dirty="0">
                <a:solidFill>
                  <a:schemeClr val="accent3"/>
                </a:solidFill>
              </a:rPr>
              <a:t>(renaturation) </a:t>
            </a:r>
            <a:endParaRPr lang="zh-CN" altLang="en-US" sz="4000" dirty="0">
              <a:solidFill>
                <a:schemeClr val="accent3"/>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55717"/>
                                        </p:tgtEl>
                                        <p:attrNameLst>
                                          <p:attrName>style.visibility</p:attrName>
                                        </p:attrNameLst>
                                      </p:cBhvr>
                                      <p:to>
                                        <p:strVal val="visible"/>
                                      </p:to>
                                    </p:set>
                                    <p:animEffect transition="in" filter="fade">
                                      <p:cBhvr>
                                        <p:cTn id="7" dur="500"/>
                                        <p:tgtEl>
                                          <p:spTgt spid="755717"/>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55718"/>
                                        </p:tgtEl>
                                        <p:attrNameLst>
                                          <p:attrName>style.visibility</p:attrName>
                                        </p:attrNameLst>
                                      </p:cBhvr>
                                      <p:to>
                                        <p:strVal val="visible"/>
                                      </p:to>
                                    </p:set>
                                    <p:animEffect transition="in" filter="fade">
                                      <p:cBhvr>
                                        <p:cTn id="11" dur="500"/>
                                        <p:tgtEl>
                                          <p:spTgt spid="755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5717" grpId="0"/>
      <p:bldP spid="75571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a:extLst>
              <a:ext uri="{FF2B5EF4-FFF2-40B4-BE49-F238E27FC236}">
                <a16:creationId xmlns:a16="http://schemas.microsoft.com/office/drawing/2014/main" id="{C6342CFF-B9AC-44DF-85C8-0DBF35D0CDD7}"/>
              </a:ext>
            </a:extLst>
          </p:cNvPr>
          <p:cNvSpPr>
            <a:spLocks noChangeArrowheads="1"/>
          </p:cNvSpPr>
          <p:nvPr/>
        </p:nvSpPr>
        <p:spPr bwMode="auto">
          <a:xfrm>
            <a:off x="803412" y="1412776"/>
            <a:ext cx="10585176" cy="431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714375">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30000"/>
              </a:lnSpc>
              <a:spcBef>
                <a:spcPts val="2400"/>
              </a:spcBef>
              <a:buClrTx/>
            </a:pPr>
            <a:r>
              <a:rPr kumimoji="1" lang="zh-CN" altLang="en-US" dirty="0">
                <a:solidFill>
                  <a:schemeClr val="tx1"/>
                </a:solidFill>
              </a:rPr>
              <a:t>在一定条件下，多个蛋白质分子相互聚集成团，从溶液中析出。</a:t>
            </a:r>
          </a:p>
          <a:p>
            <a:pPr algn="just" eaLnBrk="1" hangingPunct="1">
              <a:lnSpc>
                <a:spcPct val="130000"/>
              </a:lnSpc>
              <a:spcBef>
                <a:spcPts val="2400"/>
              </a:spcBef>
              <a:buClrTx/>
            </a:pPr>
            <a:r>
              <a:rPr kumimoji="1" lang="zh-CN" altLang="en-US" dirty="0">
                <a:solidFill>
                  <a:schemeClr val="tx1"/>
                </a:solidFill>
              </a:rPr>
              <a:t>凡是能消除蛋白质表面的</a:t>
            </a:r>
            <a:r>
              <a:rPr kumimoji="1" lang="zh-CN" altLang="en-US" dirty="0">
                <a:solidFill>
                  <a:srgbClr val="C00000"/>
                </a:solidFill>
              </a:rPr>
              <a:t>水化膜</a:t>
            </a:r>
            <a:r>
              <a:rPr kumimoji="1" lang="zh-CN" altLang="en-US" dirty="0">
                <a:solidFill>
                  <a:schemeClr val="tx1"/>
                </a:solidFill>
              </a:rPr>
              <a:t>并中和</a:t>
            </a:r>
            <a:r>
              <a:rPr kumimoji="1" lang="zh-CN" altLang="en-US" dirty="0">
                <a:solidFill>
                  <a:srgbClr val="C00000"/>
                </a:solidFill>
              </a:rPr>
              <a:t>电荷</a:t>
            </a:r>
            <a:r>
              <a:rPr kumimoji="1" lang="zh-CN" altLang="en-US" dirty="0">
                <a:solidFill>
                  <a:schemeClr val="tx1"/>
                </a:solidFill>
              </a:rPr>
              <a:t>的试剂均可以引起蛋白质的沉淀。</a:t>
            </a:r>
          </a:p>
          <a:p>
            <a:pPr algn="just" eaLnBrk="1" hangingPunct="1">
              <a:lnSpc>
                <a:spcPct val="130000"/>
              </a:lnSpc>
              <a:spcBef>
                <a:spcPts val="2400"/>
              </a:spcBef>
              <a:buClrTx/>
            </a:pPr>
            <a:r>
              <a:rPr kumimoji="1" lang="zh-CN" altLang="en-US" dirty="0">
                <a:solidFill>
                  <a:schemeClr val="tx1"/>
                </a:solidFill>
              </a:rPr>
              <a:t>常用蛋白沉淀剂：中性盐、有机溶剂、某些生物碱试剂、某些酸类及重金属盐类。</a:t>
            </a:r>
            <a:endParaRPr kumimoji="1" lang="zh-CN" altLang="en-US" dirty="0">
              <a:solidFill>
                <a:srgbClr val="993366"/>
              </a:solidFill>
            </a:endParaRPr>
          </a:p>
          <a:p>
            <a:pPr algn="just" eaLnBrk="1" hangingPunct="1">
              <a:lnSpc>
                <a:spcPct val="130000"/>
              </a:lnSpc>
              <a:spcBef>
                <a:spcPts val="2400"/>
              </a:spcBef>
              <a:buClrTx/>
            </a:pPr>
            <a:r>
              <a:rPr kumimoji="1" lang="zh-CN" altLang="en-US" dirty="0">
                <a:solidFill>
                  <a:schemeClr val="tx1">
                    <a:lumMod val="60000"/>
                    <a:lumOff val="40000"/>
                  </a:schemeClr>
                </a:solidFill>
              </a:rPr>
              <a:t>变性的蛋白质易于沉淀，有时蛋白质发生沉淀，但并不变性</a:t>
            </a:r>
            <a:r>
              <a:rPr kumimoji="1" lang="zh-CN" altLang="en-US" dirty="0">
                <a:solidFill>
                  <a:schemeClr val="tx1"/>
                </a:solidFill>
              </a:rPr>
              <a:t>。</a:t>
            </a:r>
          </a:p>
        </p:txBody>
      </p:sp>
      <p:sp>
        <p:nvSpPr>
          <p:cNvPr id="156675" name="标题 1">
            <a:extLst>
              <a:ext uri="{FF2B5EF4-FFF2-40B4-BE49-F238E27FC236}">
                <a16:creationId xmlns:a16="http://schemas.microsoft.com/office/drawing/2014/main" id="{C911E8EB-0B7D-40E7-9855-FFE6F8C72946}"/>
              </a:ext>
            </a:extLst>
          </p:cNvPr>
          <p:cNvSpPr>
            <a:spLocks noGrp="1" noChangeArrowheads="1"/>
          </p:cNvSpPr>
          <p:nvPr>
            <p:ph type="title"/>
          </p:nvPr>
        </p:nvSpPr>
        <p:spPr>
          <a:xfrm>
            <a:off x="1703388" y="188913"/>
            <a:ext cx="6985000" cy="563562"/>
          </a:xfrm>
        </p:spPr>
        <p:txBody>
          <a:bodyPr/>
          <a:lstStyle/>
          <a:p>
            <a:r>
              <a:rPr lang="zh-CN" altLang="en-US" sz="4000"/>
              <a:t>蛋白质沉淀（</a:t>
            </a:r>
            <a:r>
              <a:rPr lang="en-US" altLang="zh-CN"/>
              <a:t>precipitation</a:t>
            </a:r>
            <a:r>
              <a:rPr lang="zh-CN" altLang="en-US" sz="4000"/>
              <a:t>）</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56738">
                                            <p:txEl>
                                              <p:pRg st="1" end="1"/>
                                            </p:txEl>
                                          </p:spTgt>
                                        </p:tgtEl>
                                        <p:attrNameLst>
                                          <p:attrName>style.visibility</p:attrName>
                                        </p:attrNameLst>
                                      </p:cBhvr>
                                      <p:to>
                                        <p:strVal val="visible"/>
                                      </p:to>
                                    </p:set>
                                    <p:animEffect transition="in" filter="dissolve">
                                      <p:cBhvr>
                                        <p:cTn id="7" dur="500"/>
                                        <p:tgtEl>
                                          <p:spTgt spid="75673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56738">
                                            <p:txEl>
                                              <p:pRg st="2" end="2"/>
                                            </p:txEl>
                                          </p:spTgt>
                                        </p:tgtEl>
                                        <p:attrNameLst>
                                          <p:attrName>style.visibility</p:attrName>
                                        </p:attrNameLst>
                                      </p:cBhvr>
                                      <p:to>
                                        <p:strVal val="visible"/>
                                      </p:to>
                                    </p:set>
                                    <p:animEffect transition="in" filter="dissolve">
                                      <p:cBhvr>
                                        <p:cTn id="12" dur="500"/>
                                        <p:tgtEl>
                                          <p:spTgt spid="75673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56738">
                                            <p:txEl>
                                              <p:pRg st="3" end="3"/>
                                            </p:txEl>
                                          </p:spTgt>
                                        </p:tgtEl>
                                        <p:attrNameLst>
                                          <p:attrName>style.visibility</p:attrName>
                                        </p:attrNameLst>
                                      </p:cBhvr>
                                      <p:to>
                                        <p:strVal val="visible"/>
                                      </p:to>
                                    </p:set>
                                    <p:animEffect transition="in" filter="dissolve">
                                      <p:cBhvr>
                                        <p:cTn id="17" dur="500"/>
                                        <p:tgtEl>
                                          <p:spTgt spid="75673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8D885229-0849-4EDE-9DF9-5BE416302FE3}"/>
              </a:ext>
            </a:extLst>
          </p:cNvPr>
          <p:cNvSpPr>
            <a:spLocks noChangeArrowheads="1"/>
          </p:cNvSpPr>
          <p:nvPr/>
        </p:nvSpPr>
        <p:spPr bwMode="auto">
          <a:xfrm>
            <a:off x="1703388" y="1700214"/>
            <a:ext cx="8857107"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457200" indent="-457200" eaLnBrk="1" hangingPunct="1">
              <a:lnSpc>
                <a:spcPct val="120000"/>
              </a:lnSpc>
              <a:spcBef>
                <a:spcPct val="0"/>
              </a:spcBef>
              <a:buClrTx/>
            </a:pPr>
            <a:r>
              <a:rPr kumimoji="1" lang="zh-CN" altLang="en-US" dirty="0">
                <a:solidFill>
                  <a:schemeClr val="tx1"/>
                </a:solidFill>
              </a:rPr>
              <a:t>变性后的蛋白质可因溶解度降低而“析出”为絮状物，如果加入强酸或强碱，此絮状物会重新溶解。 如果加热，则絮状物变成比较坚固的凝块，不再溶于强酸和强碱中，此即</a:t>
            </a:r>
            <a:r>
              <a:rPr kumimoji="1" lang="zh-CN" altLang="en-US" dirty="0">
                <a:solidFill>
                  <a:srgbClr val="0000CC"/>
                </a:solidFill>
              </a:rPr>
              <a:t>蛋白质的凝固</a:t>
            </a:r>
            <a:r>
              <a:rPr kumimoji="1" lang="zh-CN" altLang="en-US" dirty="0">
                <a:solidFill>
                  <a:schemeClr val="tx1"/>
                </a:solidFill>
              </a:rPr>
              <a:t>。  </a:t>
            </a:r>
          </a:p>
        </p:txBody>
      </p:sp>
      <p:sp>
        <p:nvSpPr>
          <p:cNvPr id="758787" name="Rectangle 3">
            <a:extLst>
              <a:ext uri="{FF2B5EF4-FFF2-40B4-BE49-F238E27FC236}">
                <a16:creationId xmlns:a16="http://schemas.microsoft.com/office/drawing/2014/main" id="{87892A20-D52C-4437-82DC-AE26DE1C2B07}"/>
              </a:ext>
            </a:extLst>
          </p:cNvPr>
          <p:cNvSpPr>
            <a:spLocks noChangeArrowheads="1"/>
          </p:cNvSpPr>
          <p:nvPr/>
        </p:nvSpPr>
        <p:spPr bwMode="auto">
          <a:xfrm>
            <a:off x="1991544" y="4148415"/>
            <a:ext cx="7658100" cy="624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40000"/>
              </a:lnSpc>
              <a:spcBef>
                <a:spcPct val="0"/>
              </a:spcBef>
              <a:buClrTx/>
              <a:buFontTx/>
              <a:buNone/>
            </a:pPr>
            <a:r>
              <a:rPr kumimoji="1" lang="en-US" altLang="zh-CN" dirty="0">
                <a:solidFill>
                  <a:schemeClr val="tx1"/>
                </a:solidFill>
              </a:rPr>
              <a:t>   </a:t>
            </a:r>
            <a:r>
              <a:rPr kumimoji="1" lang="zh-CN" altLang="en-US" dirty="0">
                <a:solidFill>
                  <a:schemeClr val="tx1"/>
                </a:solidFill>
              </a:rPr>
              <a:t>蛋白质凝固属于</a:t>
            </a:r>
            <a:r>
              <a:rPr kumimoji="1" lang="zh-CN" altLang="en-US" dirty="0">
                <a:solidFill>
                  <a:srgbClr val="C00000"/>
                </a:solidFill>
              </a:rPr>
              <a:t>不可逆变性</a:t>
            </a:r>
            <a:r>
              <a:rPr kumimoji="1" lang="zh-CN" altLang="en-US" dirty="0">
                <a:solidFill>
                  <a:schemeClr val="tx1"/>
                </a:solidFill>
              </a:rPr>
              <a:t>，是一种</a:t>
            </a:r>
            <a:r>
              <a:rPr kumimoji="1" lang="zh-CN" altLang="en-US" dirty="0">
                <a:solidFill>
                  <a:srgbClr val="C00000"/>
                </a:solidFill>
              </a:rPr>
              <a:t>深度变性</a:t>
            </a:r>
            <a:r>
              <a:rPr kumimoji="1" lang="zh-CN" altLang="en-US" dirty="0">
                <a:solidFill>
                  <a:schemeClr val="tx1"/>
                </a:solidFill>
              </a:rPr>
              <a:t>。</a:t>
            </a:r>
          </a:p>
        </p:txBody>
      </p:sp>
      <p:sp>
        <p:nvSpPr>
          <p:cNvPr id="2" name="标题 1">
            <a:extLst>
              <a:ext uri="{FF2B5EF4-FFF2-40B4-BE49-F238E27FC236}">
                <a16:creationId xmlns:a16="http://schemas.microsoft.com/office/drawing/2014/main" id="{B1316FA2-4C23-4A89-A1B2-D58E2B5F2049}"/>
              </a:ext>
            </a:extLst>
          </p:cNvPr>
          <p:cNvSpPr>
            <a:spLocks noGrp="1"/>
          </p:cNvSpPr>
          <p:nvPr>
            <p:ph type="title"/>
          </p:nvPr>
        </p:nvSpPr>
        <p:spPr>
          <a:xfrm>
            <a:off x="1703389" y="188913"/>
            <a:ext cx="7056437" cy="563562"/>
          </a:xfrm>
        </p:spPr>
        <p:txBody>
          <a:bodyPr/>
          <a:lstStyle/>
          <a:p>
            <a:pPr>
              <a:defRPr/>
            </a:pPr>
            <a:r>
              <a:rPr kumimoji="1" lang="zh-CN" altLang="en-US" dirty="0">
                <a:solidFill>
                  <a:schemeClr val="accent3"/>
                </a:solidFill>
              </a:rPr>
              <a:t>蛋白质的凝固作用（</a:t>
            </a:r>
            <a:r>
              <a:rPr kumimoji="1" lang="en-US" altLang="zh-CN" dirty="0">
                <a:solidFill>
                  <a:schemeClr val="accent3"/>
                </a:solidFill>
              </a:rPr>
              <a:t>coagulation)</a:t>
            </a:r>
            <a:endParaRPr lang="zh-CN" altLang="en-US" dirty="0">
              <a:solidFill>
                <a:schemeClr val="accent3"/>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58787"/>
                                        </p:tgtEl>
                                        <p:attrNameLst>
                                          <p:attrName>style.visibility</p:attrName>
                                        </p:attrNameLst>
                                      </p:cBhvr>
                                      <p:to>
                                        <p:strVal val="visible"/>
                                      </p:to>
                                    </p:set>
                                    <p:animEffect transition="in" filter="dissolve">
                                      <p:cBhvr>
                                        <p:cTn id="7" dur="500"/>
                                        <p:tgtEl>
                                          <p:spTgt spid="758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78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2">
            <a:extLst>
              <a:ext uri="{FF2B5EF4-FFF2-40B4-BE49-F238E27FC236}">
                <a16:creationId xmlns:a16="http://schemas.microsoft.com/office/drawing/2014/main" id="{CEFEBC85-9849-4FF7-9A17-BBD2AFF1D8FD}"/>
              </a:ext>
            </a:extLst>
          </p:cNvPr>
          <p:cNvSpPr>
            <a:spLocks noGrp="1" noChangeArrowheads="1"/>
          </p:cNvSpPr>
          <p:nvPr>
            <p:ph type="body" idx="1"/>
          </p:nvPr>
        </p:nvSpPr>
        <p:spPr>
          <a:xfrm>
            <a:off x="2424114" y="1916113"/>
            <a:ext cx="7704137" cy="3168650"/>
          </a:xfrm>
        </p:spPr>
        <p:txBody>
          <a:bodyPr/>
          <a:lstStyle/>
          <a:p>
            <a:pPr eaLnBrk="1" hangingPunct="1">
              <a:lnSpc>
                <a:spcPct val="120000"/>
              </a:lnSpc>
              <a:buClr>
                <a:srgbClr val="006600"/>
              </a:buClr>
            </a:pPr>
            <a:r>
              <a:rPr lang="en-US" altLang="zh-CN" sz="3200">
                <a:solidFill>
                  <a:srgbClr val="000066"/>
                </a:solidFill>
              </a:rPr>
              <a:t>  </a:t>
            </a:r>
            <a:r>
              <a:rPr lang="zh-CN" altLang="en-US" sz="3200">
                <a:solidFill>
                  <a:srgbClr val="000066"/>
                </a:solidFill>
              </a:rPr>
              <a:t>变性蛋白质易于沉淀，但不一定沉淀                </a:t>
            </a:r>
          </a:p>
          <a:p>
            <a:pPr eaLnBrk="1" hangingPunct="1">
              <a:lnSpc>
                <a:spcPct val="120000"/>
              </a:lnSpc>
              <a:buClr>
                <a:srgbClr val="006600"/>
              </a:buClr>
            </a:pPr>
            <a:r>
              <a:rPr lang="zh-CN" altLang="en-US" sz="3200">
                <a:solidFill>
                  <a:srgbClr val="000066"/>
                </a:solidFill>
              </a:rPr>
              <a:t>  沉淀的蛋白质不一定变性</a:t>
            </a:r>
          </a:p>
          <a:p>
            <a:pPr eaLnBrk="1" hangingPunct="1">
              <a:lnSpc>
                <a:spcPct val="120000"/>
              </a:lnSpc>
              <a:buClr>
                <a:srgbClr val="006600"/>
              </a:buClr>
            </a:pPr>
            <a:r>
              <a:rPr lang="zh-CN" altLang="en-US" sz="3200">
                <a:solidFill>
                  <a:srgbClr val="000066"/>
                </a:solidFill>
              </a:rPr>
              <a:t>  变性</a:t>
            </a:r>
            <a:r>
              <a:rPr lang="en-US" altLang="zh-CN" sz="3200">
                <a:solidFill>
                  <a:srgbClr val="000066"/>
                </a:solidFill>
              </a:rPr>
              <a:t>/</a:t>
            </a:r>
            <a:r>
              <a:rPr lang="zh-CN" altLang="en-US" sz="3200">
                <a:solidFill>
                  <a:srgbClr val="000066"/>
                </a:solidFill>
              </a:rPr>
              <a:t>沉淀的蛋白质不一定凝固   </a:t>
            </a:r>
          </a:p>
          <a:p>
            <a:pPr eaLnBrk="1" hangingPunct="1">
              <a:lnSpc>
                <a:spcPct val="120000"/>
              </a:lnSpc>
              <a:buClr>
                <a:srgbClr val="006600"/>
              </a:buClr>
            </a:pPr>
            <a:r>
              <a:rPr lang="zh-CN" altLang="en-US" sz="3200">
                <a:solidFill>
                  <a:srgbClr val="000066"/>
                </a:solidFill>
              </a:rPr>
              <a:t>  凝固的蛋白质则一定变性、沉淀</a:t>
            </a:r>
          </a:p>
        </p:txBody>
      </p:sp>
      <p:sp>
        <p:nvSpPr>
          <p:cNvPr id="160771" name="Rectangle 3">
            <a:extLst>
              <a:ext uri="{FF2B5EF4-FFF2-40B4-BE49-F238E27FC236}">
                <a16:creationId xmlns:a16="http://schemas.microsoft.com/office/drawing/2014/main" id="{96841D56-D6A7-46DD-BB8A-14BC7A6460A4}"/>
              </a:ext>
            </a:extLst>
          </p:cNvPr>
          <p:cNvSpPr>
            <a:spLocks noChangeArrowheads="1"/>
          </p:cNvSpPr>
          <p:nvPr/>
        </p:nvSpPr>
        <p:spPr bwMode="auto">
          <a:xfrm>
            <a:off x="1774826" y="188913"/>
            <a:ext cx="74406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sz="3600" b="1">
                <a:solidFill>
                  <a:schemeClr val="bg1"/>
                </a:solidFill>
              </a:rPr>
              <a:t>蛋白质变性、沉淀、凝固的关系</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61858">
                                            <p:txEl>
                                              <p:pRg st="0" end="0"/>
                                            </p:txEl>
                                          </p:spTgt>
                                        </p:tgtEl>
                                        <p:attrNameLst>
                                          <p:attrName>style.visibility</p:attrName>
                                        </p:attrNameLst>
                                      </p:cBhvr>
                                      <p:to>
                                        <p:strVal val="visible"/>
                                      </p:to>
                                    </p:set>
                                    <p:animEffect transition="in" filter="box(in)">
                                      <p:cBhvr>
                                        <p:cTn id="7" dur="500"/>
                                        <p:tgtEl>
                                          <p:spTgt spid="761858">
                                            <p:txEl>
                                              <p:pRg st="0" end="0"/>
                                            </p:txEl>
                                          </p:spTgt>
                                        </p:tgtEl>
                                      </p:cBhvr>
                                    </p:animEffect>
                                  </p:childTnLst>
                                </p:cTn>
                              </p:par>
                            </p:childTnLst>
                          </p:cTn>
                        </p:par>
                        <p:par>
                          <p:cTn id="8" fill="hold" nodeType="afterGroup">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761858">
                                            <p:txEl>
                                              <p:pRg st="1" end="1"/>
                                            </p:txEl>
                                          </p:spTgt>
                                        </p:tgtEl>
                                        <p:attrNameLst>
                                          <p:attrName>style.visibility</p:attrName>
                                        </p:attrNameLst>
                                      </p:cBhvr>
                                      <p:to>
                                        <p:strVal val="visible"/>
                                      </p:to>
                                    </p:set>
                                    <p:animEffect transition="in" filter="box(in)">
                                      <p:cBhvr>
                                        <p:cTn id="11" dur="500"/>
                                        <p:tgtEl>
                                          <p:spTgt spid="761858">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761858">
                                            <p:txEl>
                                              <p:pRg st="2" end="2"/>
                                            </p:txEl>
                                          </p:spTgt>
                                        </p:tgtEl>
                                        <p:attrNameLst>
                                          <p:attrName>style.visibility</p:attrName>
                                        </p:attrNameLst>
                                      </p:cBhvr>
                                      <p:to>
                                        <p:strVal val="visible"/>
                                      </p:to>
                                    </p:set>
                                    <p:animEffect transition="in" filter="box(in)">
                                      <p:cBhvr>
                                        <p:cTn id="16" dur="500"/>
                                        <p:tgtEl>
                                          <p:spTgt spid="761858">
                                            <p:txEl>
                                              <p:pRg st="2" end="2"/>
                                            </p:txEl>
                                          </p:spTgt>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761858">
                                            <p:txEl>
                                              <p:pRg st="3" end="3"/>
                                            </p:txEl>
                                          </p:spTgt>
                                        </p:tgtEl>
                                        <p:attrNameLst>
                                          <p:attrName>style.visibility</p:attrName>
                                        </p:attrNameLst>
                                      </p:cBhvr>
                                      <p:to>
                                        <p:strVal val="visible"/>
                                      </p:to>
                                    </p:set>
                                    <p:animEffect transition="in" filter="box(in)">
                                      <p:cBhvr>
                                        <p:cTn id="19" dur="500"/>
                                        <p:tgtEl>
                                          <p:spTgt spid="7618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1858"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a:extLst>
              <a:ext uri="{FF2B5EF4-FFF2-40B4-BE49-F238E27FC236}">
                <a16:creationId xmlns:a16="http://schemas.microsoft.com/office/drawing/2014/main" id="{A9C7BE0B-246F-4E30-91C1-AE360E1B2E00}"/>
              </a:ext>
            </a:extLst>
          </p:cNvPr>
          <p:cNvSpPr>
            <a:spLocks noChangeArrowheads="1"/>
          </p:cNvSpPr>
          <p:nvPr/>
        </p:nvSpPr>
        <p:spPr bwMode="auto">
          <a:xfrm>
            <a:off x="2135189" y="333375"/>
            <a:ext cx="561657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lnSpc>
                <a:spcPct val="110000"/>
              </a:lnSpc>
              <a:spcBef>
                <a:spcPct val="0"/>
              </a:spcBef>
              <a:buClrTx/>
              <a:buFontTx/>
              <a:buNone/>
            </a:pPr>
            <a:endParaRPr kumimoji="1" lang="zh-CN" altLang="en-US" sz="2000" b="1">
              <a:solidFill>
                <a:srgbClr val="FFFF00"/>
              </a:solidFill>
              <a:latin typeface="黑体" panose="02010609060101010101" pitchFamily="49" charset="-122"/>
            </a:endParaRPr>
          </a:p>
        </p:txBody>
      </p:sp>
      <p:sp>
        <p:nvSpPr>
          <p:cNvPr id="169987" name="内容占位符 4">
            <a:extLst>
              <a:ext uri="{FF2B5EF4-FFF2-40B4-BE49-F238E27FC236}">
                <a16:creationId xmlns:a16="http://schemas.microsoft.com/office/drawing/2014/main" id="{A95BA9FE-1DD4-4DA1-9BCA-133178529B36}"/>
              </a:ext>
            </a:extLst>
          </p:cNvPr>
          <p:cNvSpPr>
            <a:spLocks noGrp="1" noChangeArrowheads="1"/>
          </p:cNvSpPr>
          <p:nvPr>
            <p:ph idx="4294967295"/>
          </p:nvPr>
        </p:nvSpPr>
        <p:spPr>
          <a:xfrm>
            <a:off x="3440113" y="2276873"/>
            <a:ext cx="5616575" cy="4103687"/>
          </a:xfrm>
        </p:spPr>
        <p:txBody>
          <a:bodyPr/>
          <a:lstStyle/>
          <a:p>
            <a:pPr marL="7938" indent="-7938">
              <a:lnSpc>
                <a:spcPct val="120000"/>
              </a:lnSpc>
              <a:spcBef>
                <a:spcPct val="0"/>
              </a:spcBef>
              <a:buFont typeface="Wingdings" panose="05000000000000000000" pitchFamily="2" charset="2"/>
              <a:buChar char="u"/>
              <a:tabLst>
                <a:tab pos="0" algn="l"/>
              </a:tabLst>
            </a:pPr>
            <a:r>
              <a:rPr lang="zh-CN" altLang="en-US" dirty="0"/>
              <a:t>熟悉： 蛋白质分离纯化方法</a:t>
            </a:r>
            <a:endParaRPr lang="en-US" altLang="zh-CN" dirty="0"/>
          </a:p>
          <a:p>
            <a:pPr marL="465138" lvl="4" indent="-7938">
              <a:lnSpc>
                <a:spcPct val="120000"/>
              </a:lnSpc>
              <a:spcBef>
                <a:spcPct val="0"/>
              </a:spcBef>
              <a:buClr>
                <a:srgbClr val="1D7ACF"/>
              </a:buClr>
              <a:buFont typeface="Wingdings" panose="05000000000000000000" pitchFamily="2" charset="2"/>
              <a:buChar char="u"/>
              <a:tabLst>
                <a:tab pos="0" algn="l"/>
              </a:tabLst>
            </a:pPr>
            <a:r>
              <a:rPr lang="zh-CN" altLang="en-US" sz="2400" dirty="0"/>
              <a:t>透析和超滤</a:t>
            </a:r>
            <a:endParaRPr lang="en-US" altLang="zh-CN" sz="2400" dirty="0"/>
          </a:p>
          <a:p>
            <a:pPr marL="465138" lvl="4" indent="-7938">
              <a:lnSpc>
                <a:spcPct val="120000"/>
              </a:lnSpc>
              <a:spcBef>
                <a:spcPct val="0"/>
              </a:spcBef>
              <a:buClr>
                <a:srgbClr val="1D7ACF"/>
              </a:buClr>
              <a:buFont typeface="Wingdings" panose="05000000000000000000" pitchFamily="2" charset="2"/>
              <a:buChar char="u"/>
              <a:tabLst>
                <a:tab pos="0" algn="l"/>
              </a:tabLst>
            </a:pPr>
            <a:r>
              <a:rPr lang="zh-CN" altLang="en-US" sz="2400" dirty="0"/>
              <a:t>沉淀法</a:t>
            </a:r>
            <a:endParaRPr lang="en-US" altLang="zh-CN" sz="2400" dirty="0"/>
          </a:p>
          <a:p>
            <a:pPr marL="465138" lvl="4" indent="-7938">
              <a:lnSpc>
                <a:spcPct val="120000"/>
              </a:lnSpc>
              <a:spcBef>
                <a:spcPct val="0"/>
              </a:spcBef>
              <a:buClr>
                <a:srgbClr val="0000CC"/>
              </a:buClr>
              <a:buFont typeface="Wingdings" panose="05000000000000000000" pitchFamily="2" charset="2"/>
              <a:buChar char="u"/>
              <a:tabLst>
                <a:tab pos="0" algn="l"/>
              </a:tabLst>
            </a:pPr>
            <a:r>
              <a:rPr lang="zh-CN" altLang="en-US" sz="2400" dirty="0">
                <a:solidFill>
                  <a:srgbClr val="0000CC"/>
                </a:solidFill>
              </a:rPr>
              <a:t>电泳技术</a:t>
            </a:r>
            <a:endParaRPr lang="en-US" altLang="zh-CN" sz="2400" dirty="0">
              <a:solidFill>
                <a:srgbClr val="0000CC"/>
              </a:solidFill>
            </a:endParaRPr>
          </a:p>
          <a:p>
            <a:pPr marL="465138" lvl="4" indent="-7938">
              <a:lnSpc>
                <a:spcPct val="120000"/>
              </a:lnSpc>
              <a:spcBef>
                <a:spcPct val="0"/>
              </a:spcBef>
              <a:buClr>
                <a:srgbClr val="0000CC"/>
              </a:buClr>
              <a:buFont typeface="Wingdings" panose="05000000000000000000" pitchFamily="2" charset="2"/>
              <a:buChar char="u"/>
              <a:tabLst>
                <a:tab pos="0" algn="l"/>
              </a:tabLst>
            </a:pPr>
            <a:r>
              <a:rPr lang="zh-CN" altLang="en-US" sz="2400" dirty="0">
                <a:solidFill>
                  <a:srgbClr val="0000CC"/>
                </a:solidFill>
              </a:rPr>
              <a:t>层析技术</a:t>
            </a:r>
            <a:endParaRPr lang="en-US" altLang="zh-CN" sz="2400" dirty="0">
              <a:solidFill>
                <a:srgbClr val="0000CC"/>
              </a:solidFill>
            </a:endParaRPr>
          </a:p>
          <a:p>
            <a:pPr marL="465138" lvl="4" indent="-7938">
              <a:lnSpc>
                <a:spcPct val="120000"/>
              </a:lnSpc>
              <a:spcBef>
                <a:spcPct val="0"/>
              </a:spcBef>
              <a:buClr>
                <a:srgbClr val="1D7ACF"/>
              </a:buClr>
              <a:buFont typeface="Wingdings" panose="05000000000000000000" pitchFamily="2" charset="2"/>
              <a:buChar char="u"/>
              <a:tabLst>
                <a:tab pos="0" algn="l"/>
              </a:tabLst>
            </a:pPr>
            <a:r>
              <a:rPr lang="zh-CN" altLang="en-US" sz="2400" dirty="0"/>
              <a:t>超速离心</a:t>
            </a:r>
            <a:endParaRPr lang="en-US" altLang="zh-CN" sz="2400" dirty="0"/>
          </a:p>
          <a:p>
            <a:pPr marL="7938" indent="-7938">
              <a:lnSpc>
                <a:spcPct val="120000"/>
              </a:lnSpc>
              <a:spcBef>
                <a:spcPct val="0"/>
              </a:spcBef>
              <a:buFont typeface="Wingdings" panose="05000000000000000000" pitchFamily="2" charset="2"/>
              <a:buChar char="u"/>
              <a:tabLst>
                <a:tab pos="0" algn="l"/>
              </a:tabLst>
            </a:pPr>
            <a:r>
              <a:rPr lang="zh-CN" altLang="en-US" dirty="0"/>
              <a:t>了解：</a:t>
            </a:r>
            <a:endParaRPr lang="en-US" altLang="zh-CN" dirty="0"/>
          </a:p>
          <a:p>
            <a:pPr marL="808038" lvl="2" indent="-7938">
              <a:lnSpc>
                <a:spcPct val="120000"/>
              </a:lnSpc>
              <a:spcBef>
                <a:spcPct val="0"/>
              </a:spcBef>
              <a:buFont typeface="Wingdings" panose="05000000000000000000" pitchFamily="2" charset="2"/>
              <a:buChar char="u"/>
              <a:tabLst>
                <a:tab pos="0" algn="l"/>
              </a:tabLst>
            </a:pPr>
            <a:r>
              <a:rPr lang="zh-CN" altLang="en-US" dirty="0"/>
              <a:t>蛋白质一级结构分析</a:t>
            </a:r>
            <a:endParaRPr lang="en-US" altLang="zh-CN" dirty="0"/>
          </a:p>
          <a:p>
            <a:pPr marL="808038" lvl="2" indent="-7938">
              <a:lnSpc>
                <a:spcPct val="120000"/>
              </a:lnSpc>
              <a:spcBef>
                <a:spcPct val="0"/>
              </a:spcBef>
              <a:buFont typeface="Wingdings" panose="05000000000000000000" pitchFamily="2" charset="2"/>
              <a:buChar char="u"/>
              <a:tabLst>
                <a:tab pos="0" algn="l"/>
              </a:tabLst>
            </a:pPr>
            <a:r>
              <a:rPr lang="zh-CN" altLang="en-US" dirty="0"/>
              <a:t>蛋白质空间结构测定</a:t>
            </a:r>
            <a:endParaRPr lang="en-US" altLang="zh-CN" dirty="0"/>
          </a:p>
        </p:txBody>
      </p:sp>
      <p:sp>
        <p:nvSpPr>
          <p:cNvPr id="9" name="内容占位符 4">
            <a:extLst>
              <a:ext uri="{FF2B5EF4-FFF2-40B4-BE49-F238E27FC236}">
                <a16:creationId xmlns:a16="http://schemas.microsoft.com/office/drawing/2014/main" id="{F889F3C2-D766-4CC2-B2BC-27798116A5CE}"/>
              </a:ext>
            </a:extLst>
          </p:cNvPr>
          <p:cNvSpPr txBox="1">
            <a:spLocks/>
          </p:cNvSpPr>
          <p:nvPr/>
        </p:nvSpPr>
        <p:spPr bwMode="auto">
          <a:xfrm>
            <a:off x="2133600" y="333376"/>
            <a:ext cx="8229600" cy="2087563"/>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0">
                <a:solidFill>
                  <a:srgbClr val="00004D"/>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rgbClr val="00004D"/>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rgbClr val="00004D"/>
                </a:solidFill>
                <a:latin typeface="+mn-lt"/>
                <a:ea typeface="+mn-ea"/>
              </a:defRPr>
            </a:lvl3pPr>
            <a:lvl4pPr marL="1600200" indent="-228600" algn="l" rtl="0" eaLnBrk="0" fontAlgn="base" hangingPunct="0">
              <a:spcBef>
                <a:spcPct val="20000"/>
              </a:spcBef>
              <a:spcAft>
                <a:spcPct val="0"/>
              </a:spcAft>
              <a:buChar char="–"/>
              <a:defRPr sz="2000">
                <a:solidFill>
                  <a:srgbClr val="00004D"/>
                </a:solidFill>
                <a:latin typeface="+mn-lt"/>
                <a:ea typeface="+mn-ea"/>
              </a:defRPr>
            </a:lvl4pPr>
            <a:lvl5pPr marL="2057400" indent="-228600" algn="l" rtl="0" eaLnBrk="0" fontAlgn="base" hangingPunct="0">
              <a:spcBef>
                <a:spcPct val="20000"/>
              </a:spcBef>
              <a:spcAft>
                <a:spcPct val="0"/>
              </a:spcAft>
              <a:buChar char="»"/>
              <a:defRPr sz="2000">
                <a:solidFill>
                  <a:srgbClr val="00004D"/>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lgn="ctr">
              <a:buNone/>
              <a:defRPr/>
            </a:pPr>
            <a:r>
              <a:rPr lang="zh-CN" altLang="en-US" sz="4000" kern="0" dirty="0">
                <a:solidFill>
                  <a:srgbClr val="C00000"/>
                </a:solidFill>
              </a:rPr>
              <a:t>第五节 </a:t>
            </a:r>
            <a:endParaRPr lang="en-US" altLang="zh-CN" sz="4000" kern="0" dirty="0">
              <a:solidFill>
                <a:srgbClr val="C00000"/>
              </a:solidFill>
            </a:endParaRPr>
          </a:p>
          <a:p>
            <a:pPr marL="0" indent="0" algn="ctr">
              <a:buNone/>
              <a:defRPr/>
            </a:pPr>
            <a:r>
              <a:rPr lang="zh-CN" altLang="en-US" sz="4000" kern="0" dirty="0">
                <a:solidFill>
                  <a:srgbClr val="C00000"/>
                </a:solidFill>
              </a:rPr>
              <a:t>蛋白质的分离纯化与结构分析</a:t>
            </a:r>
          </a:p>
          <a:p>
            <a:pPr marL="0" indent="0" algn="ctr">
              <a:spcBef>
                <a:spcPts val="0"/>
              </a:spcBef>
              <a:buNone/>
              <a:defRPr/>
            </a:pPr>
            <a:r>
              <a:rPr lang="en-US" altLang="zh-CN" sz="3200" kern="0" dirty="0">
                <a:solidFill>
                  <a:srgbClr val="C00000"/>
                </a:solidFill>
              </a:rPr>
              <a:t>Protein Purification and Structural Analysis</a:t>
            </a:r>
          </a:p>
          <a:p>
            <a:pPr marL="0" indent="0" algn="ctr">
              <a:spcBef>
                <a:spcPts val="0"/>
              </a:spcBef>
              <a:buNone/>
              <a:defRPr/>
            </a:pPr>
            <a:endParaRPr lang="en-US" altLang="zh-CN" kern="0" dirty="0"/>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grpId="0" nodeType="afterEffect" nodePh="1">
                                  <p:stCondLst>
                                    <p:cond delay="0"/>
                                  </p:stCondLst>
                                  <p:endCondLst>
                                    <p:cond evt="begin" delay="0">
                                      <p:tn val="5"/>
                                    </p:cond>
                                  </p:endCondLst>
                                  <p:childTnLst>
                                    <p:set>
                                      <p:cBhvr>
                                        <p:cTn id="6" dur="1" fill="hold">
                                          <p:stCondLst>
                                            <p:cond delay="0"/>
                                          </p:stCondLst>
                                        </p:cTn>
                                        <p:tgtEl>
                                          <p:spTgt spid="482306"/>
                                        </p:tgtEl>
                                        <p:attrNameLst>
                                          <p:attrName>style.visibility</p:attrName>
                                        </p:attrNameLst>
                                      </p:cBhvr>
                                      <p:to>
                                        <p:strVal val="visible"/>
                                      </p:to>
                                    </p:set>
                                    <p:animEffect transition="in" filter="strips(upRight)">
                                      <p:cBhvr>
                                        <p:cTn id="7" dur="500"/>
                                        <p:tgtEl>
                                          <p:spTgt spid="482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6"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0BD62652-29CF-4E09-8AA1-92B24F17EC23}"/>
              </a:ext>
            </a:extLst>
          </p:cNvPr>
          <p:cNvSpPr>
            <a:spLocks noGrp="1" noChangeArrowheads="1"/>
          </p:cNvSpPr>
          <p:nvPr>
            <p:ph type="title"/>
          </p:nvPr>
        </p:nvSpPr>
        <p:spPr>
          <a:xfrm>
            <a:off x="1524000" y="128589"/>
            <a:ext cx="7162800" cy="681037"/>
          </a:xfrm>
        </p:spPr>
        <p:txBody>
          <a:bodyPr/>
          <a:lstStyle/>
          <a:p>
            <a:pPr eaLnBrk="1" hangingPunct="1"/>
            <a:r>
              <a:rPr lang="zh-CN" altLang="en-US">
                <a:latin typeface="Times New Roman" panose="02020603050405020304" pitchFamily="18" charset="0"/>
              </a:rPr>
              <a:t>分离纯化蛋白质的一般程序</a:t>
            </a:r>
          </a:p>
        </p:txBody>
      </p:sp>
      <p:sp>
        <p:nvSpPr>
          <p:cNvPr id="172035" name="Rectangle 3">
            <a:extLst>
              <a:ext uri="{FF2B5EF4-FFF2-40B4-BE49-F238E27FC236}">
                <a16:creationId xmlns:a16="http://schemas.microsoft.com/office/drawing/2014/main" id="{D17B9AF3-9337-4C64-9833-352225BDBE69}"/>
              </a:ext>
            </a:extLst>
          </p:cNvPr>
          <p:cNvSpPr>
            <a:spLocks noGrp="1" noChangeArrowheads="1"/>
          </p:cNvSpPr>
          <p:nvPr>
            <p:ph type="body" idx="1"/>
          </p:nvPr>
        </p:nvSpPr>
        <p:spPr>
          <a:xfrm>
            <a:off x="4367214" y="1557339"/>
            <a:ext cx="4319587" cy="587375"/>
          </a:xfrm>
          <a:solidFill>
            <a:srgbClr val="FFFF99"/>
          </a:solidFill>
        </p:spPr>
        <p:txBody>
          <a:bodyPr/>
          <a:lstStyle/>
          <a:p>
            <a:pPr algn="ctr" eaLnBrk="1" hangingPunct="1">
              <a:buFont typeface="Wingdings" panose="05000000000000000000" pitchFamily="2" charset="2"/>
              <a:buNone/>
            </a:pPr>
            <a:r>
              <a:rPr lang="zh-CN" altLang="en-US">
                <a:solidFill>
                  <a:schemeClr val="tx1"/>
                </a:solidFill>
              </a:rPr>
              <a:t>材料的预处理及细胞破碎</a:t>
            </a:r>
          </a:p>
        </p:txBody>
      </p:sp>
      <p:sp>
        <p:nvSpPr>
          <p:cNvPr id="172036" name="Rectangle 4" descr="Rectangle: Click to edit Master text styles&#10;Second level&#10;Third level&#10;Fourth level&#10;Fifth level">
            <a:extLst>
              <a:ext uri="{FF2B5EF4-FFF2-40B4-BE49-F238E27FC236}">
                <a16:creationId xmlns:a16="http://schemas.microsoft.com/office/drawing/2014/main" id="{3C698CC8-8E99-4310-9A5B-952D384E7BDA}"/>
              </a:ext>
            </a:extLst>
          </p:cNvPr>
          <p:cNvSpPr>
            <a:spLocks noChangeArrowheads="1"/>
          </p:cNvSpPr>
          <p:nvPr/>
        </p:nvSpPr>
        <p:spPr bwMode="auto">
          <a:xfrm>
            <a:off x="4070351" y="3008313"/>
            <a:ext cx="5121275" cy="57626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buFont typeface="Wingdings" panose="05000000000000000000" pitchFamily="2" charset="2"/>
              <a:buNone/>
            </a:pPr>
            <a:r>
              <a:rPr lang="zh-CN" altLang="en-US" b="1">
                <a:solidFill>
                  <a:schemeClr val="tx1"/>
                </a:solidFill>
                <a:latin typeface="Arial" panose="020B0604020202020204" pitchFamily="34" charset="0"/>
              </a:rPr>
              <a:t>选择适当的缓冲液抽提蛋白质</a:t>
            </a:r>
          </a:p>
        </p:txBody>
      </p:sp>
      <p:sp>
        <p:nvSpPr>
          <p:cNvPr id="172037" name="Rectangle 5" descr="Rectangle: Click to edit Master text styles&#10;Second level&#10;Third level&#10;Fourth level&#10;Fifth level">
            <a:extLst>
              <a:ext uri="{FF2B5EF4-FFF2-40B4-BE49-F238E27FC236}">
                <a16:creationId xmlns:a16="http://schemas.microsoft.com/office/drawing/2014/main" id="{BDEB130B-BD42-4AAA-9887-7F383CE3E1F8}"/>
              </a:ext>
            </a:extLst>
          </p:cNvPr>
          <p:cNvSpPr>
            <a:spLocks noChangeArrowheads="1"/>
          </p:cNvSpPr>
          <p:nvPr/>
        </p:nvSpPr>
        <p:spPr bwMode="auto">
          <a:xfrm>
            <a:off x="4070351" y="4210051"/>
            <a:ext cx="4175125" cy="5873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buFont typeface="Wingdings" panose="05000000000000000000" pitchFamily="2" charset="2"/>
              <a:buNone/>
            </a:pPr>
            <a:r>
              <a:rPr lang="zh-CN" altLang="en-US" b="1">
                <a:solidFill>
                  <a:schemeClr val="tx1"/>
                </a:solidFill>
                <a:latin typeface="Arial" panose="020B0604020202020204" pitchFamily="34" charset="0"/>
              </a:rPr>
              <a:t>蛋白质粗制品的获得</a:t>
            </a:r>
          </a:p>
        </p:txBody>
      </p:sp>
      <p:sp>
        <p:nvSpPr>
          <p:cNvPr id="608262" name="Rectangle 6" descr="Rectangle: Click to edit Master text styles&#10;Second level&#10;Third level&#10;Fourth level&#10;Fifth level">
            <a:extLst>
              <a:ext uri="{FF2B5EF4-FFF2-40B4-BE49-F238E27FC236}">
                <a16:creationId xmlns:a16="http://schemas.microsoft.com/office/drawing/2014/main" id="{6D0FA4B2-572D-4074-8324-5E5384B6B01D}"/>
              </a:ext>
            </a:extLst>
          </p:cNvPr>
          <p:cNvSpPr>
            <a:spLocks noChangeArrowheads="1"/>
          </p:cNvSpPr>
          <p:nvPr/>
        </p:nvSpPr>
        <p:spPr bwMode="auto">
          <a:xfrm>
            <a:off x="3719514" y="5516564"/>
            <a:ext cx="4886325" cy="58737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buFont typeface="Wingdings" panose="05000000000000000000" pitchFamily="2" charset="2"/>
              <a:buNone/>
            </a:pPr>
            <a:r>
              <a:rPr lang="zh-CN" altLang="en-US" b="1">
                <a:solidFill>
                  <a:srgbClr val="FFFF00"/>
                </a:solidFill>
                <a:latin typeface="Arial" panose="020B0604020202020204" pitchFamily="34" charset="0"/>
              </a:rPr>
              <a:t>进一步分离纯化获得蛋白纯品</a:t>
            </a:r>
          </a:p>
        </p:txBody>
      </p:sp>
      <p:sp>
        <p:nvSpPr>
          <p:cNvPr id="172039" name="Line 7">
            <a:extLst>
              <a:ext uri="{FF2B5EF4-FFF2-40B4-BE49-F238E27FC236}">
                <a16:creationId xmlns:a16="http://schemas.microsoft.com/office/drawing/2014/main" id="{3E9805B2-C953-4AF5-B7A9-ECC35558DD92}"/>
              </a:ext>
            </a:extLst>
          </p:cNvPr>
          <p:cNvSpPr>
            <a:spLocks noChangeShapeType="1"/>
          </p:cNvSpPr>
          <p:nvPr/>
        </p:nvSpPr>
        <p:spPr bwMode="auto">
          <a:xfrm>
            <a:off x="6311900" y="2349501"/>
            <a:ext cx="0" cy="574675"/>
          </a:xfrm>
          <a:prstGeom prst="line">
            <a:avLst/>
          </a:prstGeom>
          <a:noFill/>
          <a:ln w="76200">
            <a:solidFill>
              <a:srgbClr val="990033"/>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2040" name="Line 8">
            <a:extLst>
              <a:ext uri="{FF2B5EF4-FFF2-40B4-BE49-F238E27FC236}">
                <a16:creationId xmlns:a16="http://schemas.microsoft.com/office/drawing/2014/main" id="{C777862B-5E21-47BF-9F64-52D31FCA90EC}"/>
              </a:ext>
            </a:extLst>
          </p:cNvPr>
          <p:cNvSpPr>
            <a:spLocks noChangeShapeType="1"/>
          </p:cNvSpPr>
          <p:nvPr/>
        </p:nvSpPr>
        <p:spPr bwMode="auto">
          <a:xfrm>
            <a:off x="6311900" y="3644901"/>
            <a:ext cx="0" cy="576263"/>
          </a:xfrm>
          <a:prstGeom prst="line">
            <a:avLst/>
          </a:prstGeom>
          <a:noFill/>
          <a:ln w="76200">
            <a:solidFill>
              <a:srgbClr val="990033"/>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08265" name="Line 9">
            <a:extLst>
              <a:ext uri="{FF2B5EF4-FFF2-40B4-BE49-F238E27FC236}">
                <a16:creationId xmlns:a16="http://schemas.microsoft.com/office/drawing/2014/main" id="{BDDB784E-A5D5-4460-A268-B4D8137EBC85}"/>
              </a:ext>
            </a:extLst>
          </p:cNvPr>
          <p:cNvSpPr>
            <a:spLocks noChangeShapeType="1"/>
          </p:cNvSpPr>
          <p:nvPr/>
        </p:nvSpPr>
        <p:spPr bwMode="auto">
          <a:xfrm>
            <a:off x="6311900" y="4868863"/>
            <a:ext cx="0" cy="576262"/>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72042" name="Group 12">
            <a:extLst>
              <a:ext uri="{FF2B5EF4-FFF2-40B4-BE49-F238E27FC236}">
                <a16:creationId xmlns:a16="http://schemas.microsoft.com/office/drawing/2014/main" id="{E2E5FDC0-24A4-4C99-A96B-F629D52B37C1}"/>
              </a:ext>
            </a:extLst>
          </p:cNvPr>
          <p:cNvGrpSpPr>
            <a:grpSpLocks/>
          </p:cNvGrpSpPr>
          <p:nvPr/>
        </p:nvGrpSpPr>
        <p:grpSpPr bwMode="auto">
          <a:xfrm>
            <a:off x="2279650" y="2060576"/>
            <a:ext cx="1079500" cy="2519363"/>
            <a:chOff x="476" y="1298"/>
            <a:chExt cx="680" cy="1587"/>
          </a:xfrm>
        </p:grpSpPr>
        <p:sp>
          <p:nvSpPr>
            <p:cNvPr id="172043" name="AutoShape 10">
              <a:extLst>
                <a:ext uri="{FF2B5EF4-FFF2-40B4-BE49-F238E27FC236}">
                  <a16:creationId xmlns:a16="http://schemas.microsoft.com/office/drawing/2014/main" id="{BE2826B5-C38C-4809-AD6E-9C8BB2FECC46}"/>
                </a:ext>
              </a:extLst>
            </p:cNvPr>
            <p:cNvSpPr>
              <a:spLocks/>
            </p:cNvSpPr>
            <p:nvPr/>
          </p:nvSpPr>
          <p:spPr bwMode="auto">
            <a:xfrm>
              <a:off x="884" y="1298"/>
              <a:ext cx="272" cy="1587"/>
            </a:xfrm>
            <a:prstGeom prst="leftBrace">
              <a:avLst>
                <a:gd name="adj1" fmla="val 48621"/>
                <a:gd name="adj2" fmla="val 50000"/>
              </a:avLst>
            </a:prstGeom>
            <a:noFill/>
            <a:ln w="57150">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72044" name="Text Box 11">
              <a:extLst>
                <a:ext uri="{FF2B5EF4-FFF2-40B4-BE49-F238E27FC236}">
                  <a16:creationId xmlns:a16="http://schemas.microsoft.com/office/drawing/2014/main" id="{F9B62A32-3350-44D7-9694-3965E1D7DC88}"/>
                </a:ext>
              </a:extLst>
            </p:cNvPr>
            <p:cNvSpPr txBox="1">
              <a:spLocks noChangeArrowheads="1"/>
            </p:cNvSpPr>
            <p:nvPr/>
          </p:nvSpPr>
          <p:spPr bwMode="auto">
            <a:xfrm>
              <a:off x="476" y="1797"/>
              <a:ext cx="363"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sz="3200" b="1">
                  <a:solidFill>
                    <a:srgbClr val="0000CC"/>
                  </a:solidFill>
                  <a:latin typeface="Arial" panose="020B0604020202020204" pitchFamily="34" charset="0"/>
                </a:rPr>
                <a:t>提取</a:t>
              </a:r>
            </a:p>
          </p:txBody>
        </p:sp>
      </p:gr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08265"/>
                                        </p:tgtEl>
                                        <p:attrNameLst>
                                          <p:attrName>style.visibility</p:attrName>
                                        </p:attrNameLst>
                                      </p:cBhvr>
                                      <p:to>
                                        <p:strVal val="visible"/>
                                      </p:to>
                                    </p:set>
                                    <p:animEffect transition="in" filter="wipe(up)">
                                      <p:cBhvr>
                                        <p:cTn id="7" dur="500"/>
                                        <p:tgtEl>
                                          <p:spTgt spid="608265"/>
                                        </p:tgtEl>
                                      </p:cBhvr>
                                    </p:animEffect>
                                  </p:childTnLst>
                                </p:cTn>
                              </p:par>
                              <p:par>
                                <p:cTn id="8" presetID="22" presetClass="entr" presetSubtype="1" fill="hold" nodeType="withEffect">
                                  <p:stCondLst>
                                    <p:cond delay="0"/>
                                  </p:stCondLst>
                                  <p:childTnLst>
                                    <p:set>
                                      <p:cBhvr>
                                        <p:cTn id="9" dur="1" fill="hold">
                                          <p:stCondLst>
                                            <p:cond delay="0"/>
                                          </p:stCondLst>
                                        </p:cTn>
                                        <p:tgtEl>
                                          <p:spTgt spid="608262"/>
                                        </p:tgtEl>
                                        <p:attrNameLst>
                                          <p:attrName>style.visibility</p:attrName>
                                        </p:attrNameLst>
                                      </p:cBhvr>
                                      <p:to>
                                        <p:strVal val="visible"/>
                                      </p:to>
                                    </p:set>
                                    <p:animEffect transition="in" filter="wipe(up)">
                                      <p:cBhvr>
                                        <p:cTn id="10" dur="500"/>
                                        <p:tgtEl>
                                          <p:spTgt spid="608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8" name="Rectangle 4">
            <a:extLst>
              <a:ext uri="{FF2B5EF4-FFF2-40B4-BE49-F238E27FC236}">
                <a16:creationId xmlns:a16="http://schemas.microsoft.com/office/drawing/2014/main" id="{0080968F-2611-4112-9791-EEF9E0890324}"/>
              </a:ext>
            </a:extLst>
          </p:cNvPr>
          <p:cNvSpPr>
            <a:spLocks noChangeArrowheads="1"/>
          </p:cNvSpPr>
          <p:nvPr/>
        </p:nvSpPr>
        <p:spPr bwMode="auto">
          <a:xfrm>
            <a:off x="3863976" y="2427289"/>
            <a:ext cx="3598863" cy="3138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50000"/>
              </a:spcBef>
              <a:buClr>
                <a:srgbClr val="FF0000"/>
              </a:buClr>
              <a:buSzPct val="75000"/>
              <a:buFont typeface="Wingdings" panose="05000000000000000000" pitchFamily="2" charset="2"/>
              <a:buChar char="n"/>
            </a:pPr>
            <a:r>
              <a:rPr kumimoji="1" lang="en-US" altLang="zh-CN" sz="3200">
                <a:solidFill>
                  <a:schemeClr val="tx1"/>
                </a:solidFill>
              </a:rPr>
              <a:t>        </a:t>
            </a:r>
            <a:r>
              <a:rPr kumimoji="1" lang="zh-CN" altLang="en-US" sz="3200">
                <a:solidFill>
                  <a:schemeClr val="tx1"/>
                </a:solidFill>
              </a:rPr>
              <a:t>溶解度</a:t>
            </a:r>
          </a:p>
          <a:p>
            <a:pPr eaLnBrk="1" hangingPunct="1">
              <a:lnSpc>
                <a:spcPct val="120000"/>
              </a:lnSpc>
              <a:spcBef>
                <a:spcPct val="50000"/>
              </a:spcBef>
              <a:buClr>
                <a:srgbClr val="FF0000"/>
              </a:buClr>
              <a:buSzPct val="75000"/>
              <a:buFont typeface="Wingdings" panose="05000000000000000000" pitchFamily="2" charset="2"/>
              <a:buChar char="n"/>
            </a:pPr>
            <a:r>
              <a:rPr kumimoji="1" lang="zh-CN" altLang="en-US" sz="3200">
                <a:solidFill>
                  <a:schemeClr val="tx1"/>
                </a:solidFill>
              </a:rPr>
              <a:t>        分子大小</a:t>
            </a:r>
          </a:p>
          <a:p>
            <a:pPr eaLnBrk="1" hangingPunct="1">
              <a:lnSpc>
                <a:spcPct val="120000"/>
              </a:lnSpc>
              <a:spcBef>
                <a:spcPct val="50000"/>
              </a:spcBef>
              <a:buClr>
                <a:srgbClr val="FF0000"/>
              </a:buClr>
              <a:buSzPct val="75000"/>
              <a:buFont typeface="Wingdings" panose="05000000000000000000" pitchFamily="2" charset="2"/>
              <a:buChar char="n"/>
            </a:pPr>
            <a:r>
              <a:rPr kumimoji="1" lang="zh-CN" altLang="en-US" sz="3200">
                <a:solidFill>
                  <a:schemeClr val="tx1"/>
                </a:solidFill>
              </a:rPr>
              <a:t>        电荷</a:t>
            </a:r>
          </a:p>
          <a:p>
            <a:pPr eaLnBrk="1" hangingPunct="1">
              <a:lnSpc>
                <a:spcPct val="120000"/>
              </a:lnSpc>
              <a:spcBef>
                <a:spcPct val="50000"/>
              </a:spcBef>
              <a:buClr>
                <a:srgbClr val="FF0000"/>
              </a:buClr>
              <a:buSzPct val="75000"/>
              <a:buFont typeface="Wingdings" panose="05000000000000000000" pitchFamily="2" charset="2"/>
              <a:buChar char="n"/>
            </a:pPr>
            <a:r>
              <a:rPr kumimoji="1" lang="zh-CN" altLang="en-US" sz="3200">
                <a:solidFill>
                  <a:schemeClr val="tx1"/>
                </a:solidFill>
              </a:rPr>
              <a:t>        吸附性质等</a:t>
            </a:r>
          </a:p>
        </p:txBody>
      </p:sp>
      <p:sp>
        <p:nvSpPr>
          <p:cNvPr id="769029" name="Text Box 5">
            <a:extLst>
              <a:ext uri="{FF2B5EF4-FFF2-40B4-BE49-F238E27FC236}">
                <a16:creationId xmlns:a16="http://schemas.microsoft.com/office/drawing/2014/main" id="{7A893932-A773-4307-8C65-0375B1900280}"/>
              </a:ext>
            </a:extLst>
          </p:cNvPr>
          <p:cNvSpPr txBox="1">
            <a:spLocks noChangeArrowheads="1"/>
          </p:cNvSpPr>
          <p:nvPr/>
        </p:nvSpPr>
        <p:spPr bwMode="auto">
          <a:xfrm>
            <a:off x="4224339" y="1419225"/>
            <a:ext cx="55451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en-US" altLang="zh-CN" sz="3200">
                <a:solidFill>
                  <a:srgbClr val="FF0000"/>
                </a:solidFill>
              </a:rPr>
              <a:t>———</a:t>
            </a:r>
            <a:r>
              <a:rPr lang="zh-CN" altLang="en-US" sz="3200">
                <a:solidFill>
                  <a:srgbClr val="FF0000"/>
                </a:solidFill>
              </a:rPr>
              <a:t>蛋白质理化性质的差异</a:t>
            </a:r>
          </a:p>
        </p:txBody>
      </p:sp>
      <p:sp>
        <p:nvSpPr>
          <p:cNvPr id="174084" name="标题 1">
            <a:extLst>
              <a:ext uri="{FF2B5EF4-FFF2-40B4-BE49-F238E27FC236}">
                <a16:creationId xmlns:a16="http://schemas.microsoft.com/office/drawing/2014/main" id="{9C2B5D03-B3C5-4C0A-AE4D-418DF83B4460}"/>
              </a:ext>
            </a:extLst>
          </p:cNvPr>
          <p:cNvSpPr>
            <a:spLocks noGrp="1" noChangeArrowheads="1"/>
          </p:cNvSpPr>
          <p:nvPr>
            <p:ph type="title"/>
          </p:nvPr>
        </p:nvSpPr>
        <p:spPr>
          <a:xfrm>
            <a:off x="1703389" y="188913"/>
            <a:ext cx="6840537" cy="563562"/>
          </a:xfrm>
        </p:spPr>
        <p:txBody>
          <a:bodyPr/>
          <a:lstStyle/>
          <a:p>
            <a:r>
              <a:rPr lang="zh-CN" altLang="en-US"/>
              <a:t>蛋白质的分离和纯化的依据</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9029"/>
                                        </p:tgtEl>
                                        <p:attrNameLst>
                                          <p:attrName>style.visibility</p:attrName>
                                        </p:attrNameLst>
                                      </p:cBhvr>
                                      <p:to>
                                        <p:strVal val="visible"/>
                                      </p:to>
                                    </p:set>
                                    <p:anim calcmode="lin" valueType="num">
                                      <p:cBhvr additive="base">
                                        <p:cTn id="7" dur="500" fill="hold"/>
                                        <p:tgtEl>
                                          <p:spTgt spid="769029"/>
                                        </p:tgtEl>
                                        <p:attrNameLst>
                                          <p:attrName>ppt_x</p:attrName>
                                        </p:attrNameLst>
                                      </p:cBhvr>
                                      <p:tavLst>
                                        <p:tav tm="0">
                                          <p:val>
                                            <p:strVal val="0-#ppt_w/2"/>
                                          </p:val>
                                        </p:tav>
                                        <p:tav tm="100000">
                                          <p:val>
                                            <p:strVal val="#ppt_x"/>
                                          </p:val>
                                        </p:tav>
                                      </p:tavLst>
                                    </p:anim>
                                    <p:anim calcmode="lin" valueType="num">
                                      <p:cBhvr additive="base">
                                        <p:cTn id="8" dur="500" fill="hold"/>
                                        <p:tgtEl>
                                          <p:spTgt spid="76902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69028"/>
                                        </p:tgtEl>
                                        <p:attrNameLst>
                                          <p:attrName>style.visibility</p:attrName>
                                        </p:attrNameLst>
                                      </p:cBhvr>
                                      <p:to>
                                        <p:strVal val="visible"/>
                                      </p:to>
                                    </p:set>
                                    <p:animEffect transition="in" filter="box(in)">
                                      <p:cBhvr>
                                        <p:cTn id="13" dur="500"/>
                                        <p:tgtEl>
                                          <p:spTgt spid="769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9028" grpId="0"/>
      <p:bldP spid="76902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5BA14379-7AC6-483F-B9EF-9B76F460F3DD}"/>
              </a:ext>
            </a:extLst>
          </p:cNvPr>
          <p:cNvSpPr>
            <a:spLocks noChangeArrowheads="1"/>
          </p:cNvSpPr>
          <p:nvPr/>
        </p:nvSpPr>
        <p:spPr bwMode="auto">
          <a:xfrm>
            <a:off x="3695700" y="823914"/>
            <a:ext cx="698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200">
                <a:solidFill>
                  <a:srgbClr val="FF0000"/>
                </a:solidFill>
                <a:ea typeface="宋体" panose="02010600030101010101" pitchFamily="2" charset="-122"/>
              </a:rPr>
              <a:t> </a:t>
            </a:r>
            <a:endParaRPr kumimoji="1" lang="en-US" altLang="zh-CN" sz="2400">
              <a:solidFill>
                <a:schemeClr val="tx1"/>
              </a:solidFill>
              <a:ea typeface="宋体" panose="02010600030101010101" pitchFamily="2" charset="-122"/>
            </a:endParaRPr>
          </a:p>
        </p:txBody>
      </p:sp>
      <p:sp>
        <p:nvSpPr>
          <p:cNvPr id="175107" name="标题 1">
            <a:extLst>
              <a:ext uri="{FF2B5EF4-FFF2-40B4-BE49-F238E27FC236}">
                <a16:creationId xmlns:a16="http://schemas.microsoft.com/office/drawing/2014/main" id="{7AA18BC5-78F2-42BB-9EE1-1C8E142FF681}"/>
              </a:ext>
            </a:extLst>
          </p:cNvPr>
          <p:cNvSpPr>
            <a:spLocks noGrp="1" noChangeArrowheads="1"/>
          </p:cNvSpPr>
          <p:nvPr>
            <p:ph type="title"/>
          </p:nvPr>
        </p:nvSpPr>
        <p:spPr>
          <a:xfrm>
            <a:off x="1703388" y="188913"/>
            <a:ext cx="6985000" cy="563562"/>
          </a:xfrm>
        </p:spPr>
        <p:txBody>
          <a:bodyPr/>
          <a:lstStyle/>
          <a:p>
            <a:r>
              <a:rPr lang="zh-CN" altLang="en-US" sz="4000"/>
              <a:t>常用蛋白质分离纯化方法</a:t>
            </a:r>
          </a:p>
        </p:txBody>
      </p:sp>
      <p:graphicFrame>
        <p:nvGraphicFramePr>
          <p:cNvPr id="710741" name="Group 85">
            <a:extLst>
              <a:ext uri="{FF2B5EF4-FFF2-40B4-BE49-F238E27FC236}">
                <a16:creationId xmlns:a16="http://schemas.microsoft.com/office/drawing/2014/main" id="{042979C1-2FC6-47C9-8EC0-7AC53F3F70EB}"/>
              </a:ext>
            </a:extLst>
          </p:cNvPr>
          <p:cNvGraphicFramePr>
            <a:graphicFrameLocks noGrp="1"/>
          </p:cNvGraphicFramePr>
          <p:nvPr>
            <p:ph idx="4294967295"/>
            <p:extLst>
              <p:ext uri="{D42A27DB-BD31-4B8C-83A1-F6EECF244321}">
                <p14:modId xmlns:p14="http://schemas.microsoft.com/office/powerpoint/2010/main" val="1141975604"/>
              </p:ext>
            </p:extLst>
          </p:nvPr>
        </p:nvGraphicFramePr>
        <p:xfrm>
          <a:off x="2351584" y="1154238"/>
          <a:ext cx="7127875" cy="5211816"/>
        </p:xfrm>
        <a:graphic>
          <a:graphicData uri="http://schemas.openxmlformats.org/drawingml/2006/table">
            <a:tbl>
              <a:tblPr/>
              <a:tblGrid>
                <a:gridCol w="2629703">
                  <a:extLst>
                    <a:ext uri="{9D8B030D-6E8A-4147-A177-3AD203B41FA5}">
                      <a16:colId xmlns:a16="http://schemas.microsoft.com/office/drawing/2014/main" val="20000"/>
                    </a:ext>
                  </a:extLst>
                </a:gridCol>
                <a:gridCol w="4498172">
                  <a:extLst>
                    <a:ext uri="{9D8B030D-6E8A-4147-A177-3AD203B41FA5}">
                      <a16:colId xmlns:a16="http://schemas.microsoft.com/office/drawing/2014/main" val="20001"/>
                    </a:ext>
                  </a:extLst>
                </a:gridCol>
              </a:tblGrid>
              <a:tr h="518131">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0" i="0" u="none" strike="noStrike" cap="none" normalizeH="0" baseline="0" dirty="0">
                          <a:ln>
                            <a:noFill/>
                          </a:ln>
                          <a:solidFill>
                            <a:schemeClr val="tx1"/>
                          </a:solidFill>
                          <a:effectLst/>
                          <a:latin typeface="Times New Roman" pitchFamily="18" charset="0"/>
                          <a:ea typeface="黑体" pitchFamily="49" charset="-122"/>
                        </a:rPr>
                        <a:t>理化性质</a:t>
                      </a:r>
                    </a:p>
                  </a:txBody>
                  <a:tcPr marL="91428" marR="91428" marT="45708" marB="45708" horzOverflow="overflow">
                    <a:lnL cap="flat">
                      <a:noFill/>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solidFill>
                  </a:tcPr>
                </a:tc>
                <a:tc>
                  <a:txBody>
                    <a:bodyPr/>
                    <a:lstStyle/>
                    <a:p>
                      <a:pPr marL="0" marR="0" lvl="0" indent="25200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0" i="0" u="none" strike="noStrike" cap="none" normalizeH="0" baseline="0" dirty="0">
                          <a:ln>
                            <a:noFill/>
                          </a:ln>
                          <a:solidFill>
                            <a:schemeClr val="tx1"/>
                          </a:solidFill>
                          <a:effectLst/>
                          <a:latin typeface="Times New Roman" pitchFamily="18" charset="0"/>
                          <a:ea typeface="黑体" pitchFamily="49" charset="-122"/>
                        </a:rPr>
                        <a:t>纯化方法</a:t>
                      </a:r>
                    </a:p>
                  </a:txBody>
                  <a:tcPr marL="91428" marR="91428" marT="45708" marB="45708" horzOverflow="overflow">
                    <a:lnL w="12700" cap="flat" cmpd="sng" algn="ctr">
                      <a:solidFill>
                        <a:schemeClr val="tx1"/>
                      </a:solidFill>
                      <a:prstDash val="solid"/>
                      <a:round/>
                      <a:headEnd type="none" w="sm" len="sm"/>
                      <a:tailEnd type="none" w="sm" len="sm"/>
                    </a:lnL>
                    <a:lnR cap="flat">
                      <a:noFill/>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solidFill>
                  </a:tcPr>
                </a:tc>
                <a:extLst>
                  <a:ext uri="{0D108BD9-81ED-4DB2-BD59-A6C34878D82A}">
                    <a16:rowId xmlns:a16="http://schemas.microsoft.com/office/drawing/2014/main" val="10000"/>
                  </a:ext>
                </a:extLst>
              </a:tr>
              <a:tr h="457171">
                <a:tc rowSpan="3">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0" i="0" u="none" strike="noStrike" cap="none" normalizeH="0" baseline="0" dirty="0">
                          <a:ln>
                            <a:noFill/>
                          </a:ln>
                          <a:solidFill>
                            <a:srgbClr val="0000CC"/>
                          </a:solidFill>
                          <a:effectLst/>
                          <a:latin typeface="Times New Roman" pitchFamily="18" charset="0"/>
                          <a:ea typeface="黑体" pitchFamily="49" charset="-122"/>
                        </a:rPr>
                        <a:t>分子质量</a:t>
                      </a:r>
                    </a:p>
                  </a:txBody>
                  <a:tcPr marL="91428" marR="91428" marT="45708" marB="45708" horzOverflow="overflow">
                    <a:lnL cap="flat">
                      <a:noFill/>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tc>
                  <a:txBody>
                    <a:bodyPr/>
                    <a:lstStyle/>
                    <a:p>
                      <a:pPr marL="0" marR="0" lvl="0" indent="25200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透析、超滤</a:t>
                      </a:r>
                    </a:p>
                  </a:txBody>
                  <a:tcPr marL="91428" marR="91428" marT="45708" marB="45708" horzOverflow="overflow">
                    <a:lnL w="12700" cap="flat" cmpd="sng" algn="ctr">
                      <a:solidFill>
                        <a:schemeClr val="tx1"/>
                      </a:solidFill>
                      <a:prstDash val="solid"/>
                      <a:round/>
                      <a:headEnd type="none" w="sm" len="sm"/>
                      <a:tailEnd type="none" w="sm" len="sm"/>
                    </a:lnL>
                    <a:lnR cap="flat">
                      <a:noFill/>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457171">
                <a:tc vMerge="1">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49" charset="-122"/>
                      </a:endParaRP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tc>
                  <a:txBody>
                    <a:bodyPr/>
                    <a:lstStyle/>
                    <a:p>
                      <a:pPr marL="0" marR="0" lvl="0" indent="25200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凝胶层析</a:t>
                      </a:r>
                    </a:p>
                  </a:txBody>
                  <a:tcPr marL="91428" marR="91428" marT="45708" marB="45708"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457171">
                <a:tc vMerge="1">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Times New Roman" pitchFamily="18" charset="0"/>
                        <a:ea typeface="黑体" pitchFamily="49" charset="-122"/>
                      </a:endParaRP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tc>
                  <a:txBody>
                    <a:bodyPr/>
                    <a:lstStyle/>
                    <a:p>
                      <a:pPr marL="0" marR="0" lvl="0" indent="25200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离心（差速</a:t>
                      </a:r>
                      <a:r>
                        <a:rPr kumimoji="0" lang="en-US" altLang="zh-CN" sz="2400" b="0" i="0" u="none" strike="noStrike" cap="none" normalizeH="0" baseline="0" dirty="0">
                          <a:ln>
                            <a:noFill/>
                          </a:ln>
                          <a:solidFill>
                            <a:schemeClr val="tx1"/>
                          </a:solidFill>
                          <a:effectLst/>
                          <a:latin typeface="Times New Roman" pitchFamily="18" charset="0"/>
                          <a:ea typeface="黑体" pitchFamily="49" charset="-122"/>
                        </a:rPr>
                        <a:t>/</a:t>
                      </a: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高速</a:t>
                      </a:r>
                      <a:r>
                        <a:rPr kumimoji="0" lang="en-US" altLang="zh-CN" sz="2400" b="0" i="0" u="none" strike="noStrike" cap="none" normalizeH="0" baseline="0" dirty="0">
                          <a:ln>
                            <a:noFill/>
                          </a:ln>
                          <a:solidFill>
                            <a:schemeClr val="tx1"/>
                          </a:solidFill>
                          <a:effectLst/>
                          <a:latin typeface="Times New Roman" pitchFamily="18" charset="0"/>
                          <a:ea typeface="黑体" pitchFamily="49" charset="-122"/>
                        </a:rPr>
                        <a:t>/</a:t>
                      </a: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超速离心）</a:t>
                      </a:r>
                    </a:p>
                  </a:txBody>
                  <a:tcPr marL="91428" marR="91428" marT="45708" marB="45708"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457171">
                <a:tc rowSpan="3">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0" i="0" u="none" strike="noStrike" cap="none" normalizeH="0" baseline="0" dirty="0">
                          <a:ln>
                            <a:noFill/>
                          </a:ln>
                          <a:solidFill>
                            <a:srgbClr val="0000CC"/>
                          </a:solidFill>
                          <a:effectLst/>
                          <a:latin typeface="Times New Roman" pitchFamily="18" charset="0"/>
                          <a:ea typeface="黑体" pitchFamily="49" charset="-122"/>
                        </a:rPr>
                        <a:t>溶解度</a:t>
                      </a:r>
                    </a:p>
                  </a:txBody>
                  <a:tcPr marL="91428" marR="91428" marT="45708" marB="45708"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25200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盐析</a:t>
                      </a:r>
                      <a:endParaRPr kumimoji="0" lang="en-US" altLang="zh-CN" sz="2400" b="0" i="0" u="none" strike="noStrike" cap="none" normalizeH="0" baseline="0" dirty="0">
                        <a:ln>
                          <a:noFill/>
                        </a:ln>
                        <a:solidFill>
                          <a:schemeClr val="tx1"/>
                        </a:solidFill>
                        <a:effectLst/>
                        <a:latin typeface="Times New Roman" pitchFamily="18" charset="0"/>
                        <a:ea typeface="黑体" pitchFamily="49" charset="-122"/>
                      </a:endParaRPr>
                    </a:p>
                  </a:txBody>
                  <a:tcPr marL="91428" marR="91428" marT="45708" marB="45708"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extLst>
                  <a:ext uri="{0D108BD9-81ED-4DB2-BD59-A6C34878D82A}">
                    <a16:rowId xmlns:a16="http://schemas.microsoft.com/office/drawing/2014/main" val="10004"/>
                  </a:ext>
                </a:extLst>
              </a:tr>
              <a:tr h="457171">
                <a:tc vMerge="1">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a:ln>
                          <a:noFill/>
                        </a:ln>
                        <a:solidFill>
                          <a:schemeClr val="tx1"/>
                        </a:solidFill>
                        <a:effectLst/>
                        <a:latin typeface="Times New Roman" pitchFamily="18" charset="0"/>
                        <a:ea typeface="黑体" pitchFamily="49" charset="-122"/>
                      </a:endParaRP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25200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有机溶剂沉淀法</a:t>
                      </a:r>
                    </a:p>
                  </a:txBody>
                  <a:tcPr marL="91428" marR="91428" marT="45708" marB="45708"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extLst>
                  <a:ext uri="{0D108BD9-81ED-4DB2-BD59-A6C34878D82A}">
                    <a16:rowId xmlns:a16="http://schemas.microsoft.com/office/drawing/2014/main" val="10005"/>
                  </a:ext>
                </a:extLst>
              </a:tr>
              <a:tr h="457171">
                <a:tc vMerge="1">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0" i="0" u="none" strike="noStrike" cap="none" normalizeH="0" baseline="0" dirty="0">
                        <a:ln>
                          <a:noFill/>
                        </a:ln>
                        <a:solidFill>
                          <a:schemeClr val="tx1"/>
                        </a:solidFill>
                        <a:effectLst/>
                        <a:latin typeface="Times New Roman" pitchFamily="18" charset="0"/>
                        <a:ea typeface="黑体" pitchFamily="49" charset="-122"/>
                      </a:endParaRP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25200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免疫沉淀法</a:t>
                      </a:r>
                    </a:p>
                  </a:txBody>
                  <a:tcPr marL="91428" marR="91428" marT="45708" marB="45708"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extLst>
                  <a:ext uri="{0D108BD9-81ED-4DB2-BD59-A6C34878D82A}">
                    <a16:rowId xmlns:a16="http://schemas.microsoft.com/office/drawing/2014/main" val="10006"/>
                  </a:ext>
                </a:extLst>
              </a:tr>
              <a:tr h="457171">
                <a:tc rowSpan="2">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0" i="0" u="none" strike="noStrike" cap="none" normalizeH="0" baseline="0" dirty="0">
                          <a:ln>
                            <a:noFill/>
                          </a:ln>
                          <a:solidFill>
                            <a:srgbClr val="0000CC"/>
                          </a:solidFill>
                          <a:effectLst/>
                          <a:latin typeface="Times New Roman" pitchFamily="18" charset="0"/>
                          <a:ea typeface="黑体" pitchFamily="49" charset="-122"/>
                        </a:rPr>
                        <a:t>电荷</a:t>
                      </a:r>
                    </a:p>
                  </a:txBody>
                  <a:tcPr marL="91428" marR="91428" marT="45708" marB="45708"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tc>
                  <a:txBody>
                    <a:bodyPr/>
                    <a:lstStyle/>
                    <a:p>
                      <a:pPr marL="0" marR="0" lvl="0" indent="25200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电泳</a:t>
                      </a:r>
                    </a:p>
                  </a:txBody>
                  <a:tcPr marL="91428" marR="91428" marT="45708" marB="45708"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457171">
                <a:tc vMerge="1">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2800" b="0" i="0" u="none" strike="noStrike" cap="none" normalizeH="0" baseline="0" dirty="0">
                        <a:ln>
                          <a:noFill/>
                        </a:ln>
                        <a:solidFill>
                          <a:srgbClr val="0000CC"/>
                        </a:solidFill>
                        <a:effectLst/>
                        <a:latin typeface="Times New Roman" pitchFamily="18" charset="0"/>
                        <a:ea typeface="黑体" pitchFamily="49" charset="-122"/>
                      </a:endParaRPr>
                    </a:p>
                  </a:txBody>
                  <a:tcP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tc>
                  <a:txBody>
                    <a:bodyPr/>
                    <a:lstStyle/>
                    <a:p>
                      <a:pPr marL="0" marR="0" lvl="0" indent="25200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离子交换层析</a:t>
                      </a:r>
                    </a:p>
                  </a:txBody>
                  <a:tcPr marL="91428" marR="91428" marT="45708" marB="45708"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518131">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0" i="0" u="none" strike="noStrike" cap="none" normalizeH="0" baseline="0" dirty="0">
                          <a:ln>
                            <a:noFill/>
                          </a:ln>
                          <a:solidFill>
                            <a:srgbClr val="0000CC"/>
                          </a:solidFill>
                          <a:effectLst/>
                          <a:latin typeface="Times New Roman" pitchFamily="18" charset="0"/>
                          <a:ea typeface="黑体" pitchFamily="49" charset="-122"/>
                        </a:rPr>
                        <a:t>特异结合性质</a:t>
                      </a:r>
                    </a:p>
                  </a:txBody>
                  <a:tcPr marL="91428" marR="91428" marT="45708" marB="45708"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tc>
                  <a:txBody>
                    <a:bodyPr/>
                    <a:lstStyle/>
                    <a:p>
                      <a:pPr marL="0" marR="0" lvl="0" indent="25200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亲和层析</a:t>
                      </a:r>
                    </a:p>
                  </a:txBody>
                  <a:tcPr marL="91428" marR="91428" marT="45708" marB="45708"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5">
                        <a:lumMod val="40000"/>
                        <a:lumOff val="60000"/>
                      </a:schemeClr>
                    </a:solidFill>
                  </a:tcPr>
                </a:tc>
                <a:extLst>
                  <a:ext uri="{0D108BD9-81ED-4DB2-BD59-A6C34878D82A}">
                    <a16:rowId xmlns:a16="http://schemas.microsoft.com/office/drawing/2014/main" val="10009"/>
                  </a:ext>
                </a:extLst>
              </a:tr>
              <a:tr h="518131">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0" i="0" u="none" strike="noStrike" cap="none" normalizeH="0" baseline="0" dirty="0">
                          <a:ln>
                            <a:noFill/>
                          </a:ln>
                          <a:solidFill>
                            <a:srgbClr val="0000CC"/>
                          </a:solidFill>
                          <a:effectLst/>
                          <a:latin typeface="Times New Roman" pitchFamily="18" charset="0"/>
                          <a:ea typeface="黑体" pitchFamily="49" charset="-122"/>
                        </a:rPr>
                        <a:t>吸附性</a:t>
                      </a:r>
                    </a:p>
                  </a:txBody>
                  <a:tcPr marL="91428" marR="91428" marT="45708" marB="45708"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tc>
                  <a:txBody>
                    <a:bodyPr/>
                    <a:lstStyle/>
                    <a:p>
                      <a:pPr marL="0" marR="0" lvl="0" indent="25200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chemeClr val="tx1"/>
                          </a:solidFill>
                          <a:effectLst/>
                          <a:latin typeface="Times New Roman" pitchFamily="18" charset="0"/>
                          <a:ea typeface="黑体" pitchFamily="49" charset="-122"/>
                        </a:rPr>
                        <a:t>吸附层析</a:t>
                      </a:r>
                    </a:p>
                  </a:txBody>
                  <a:tcPr marL="91428" marR="91428" marT="45708" marB="45708"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extLst>
                  <a:ext uri="{0D108BD9-81ED-4DB2-BD59-A6C34878D82A}">
                    <a16:rowId xmlns:a16="http://schemas.microsoft.com/office/drawing/2014/main" val="10010"/>
                  </a:ext>
                </a:extLst>
              </a:tr>
            </a:tbl>
          </a:graphicData>
        </a:graphic>
      </p:graphicFrame>
    </p:spTree>
  </p:cSld>
  <p:clrMapOvr>
    <a:masterClrMapping/>
  </p:clrMapOvr>
  <p:transition spd="slow">
    <p:circl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a:extLst>
              <a:ext uri="{FF2B5EF4-FFF2-40B4-BE49-F238E27FC236}">
                <a16:creationId xmlns:a16="http://schemas.microsoft.com/office/drawing/2014/main" id="{D5477802-329F-4364-805A-FB305813EAE0}"/>
              </a:ext>
            </a:extLst>
          </p:cNvPr>
          <p:cNvSpPr txBox="1">
            <a:spLocks noGrp="1" noChangeArrowheads="1"/>
          </p:cNvSpPr>
          <p:nvPr/>
        </p:nvSpPr>
        <p:spPr bwMode="auto">
          <a:xfrm>
            <a:off x="1774825" y="188913"/>
            <a:ext cx="6624638" cy="576262"/>
          </a:xfrm>
          <a:prstGeom prst="rect">
            <a:avLst/>
          </a:prstGeom>
          <a:noFill/>
          <a:ln>
            <a:noFill/>
          </a:ln>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defRPr/>
            </a:pPr>
            <a:r>
              <a:rPr kumimoji="1" lang="zh-CN" altLang="en-US" sz="4000" dirty="0">
                <a:solidFill>
                  <a:schemeClr val="accent3"/>
                </a:solidFill>
              </a:rPr>
              <a:t>一、透析及超滤法</a:t>
            </a:r>
          </a:p>
        </p:txBody>
      </p:sp>
      <p:sp>
        <p:nvSpPr>
          <p:cNvPr id="177155" name="Rectangle 3">
            <a:extLst>
              <a:ext uri="{FF2B5EF4-FFF2-40B4-BE49-F238E27FC236}">
                <a16:creationId xmlns:a16="http://schemas.microsoft.com/office/drawing/2014/main" id="{243BE290-AB53-40A1-941B-8574958DED5D}"/>
              </a:ext>
            </a:extLst>
          </p:cNvPr>
          <p:cNvSpPr>
            <a:spLocks noChangeArrowheads="1"/>
          </p:cNvSpPr>
          <p:nvPr/>
        </p:nvSpPr>
        <p:spPr bwMode="auto">
          <a:xfrm>
            <a:off x="1992313" y="1279526"/>
            <a:ext cx="7632700" cy="177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357188">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b="1">
                <a:solidFill>
                  <a:srgbClr val="0000CC"/>
                </a:solidFill>
              </a:rPr>
              <a:t>* </a:t>
            </a:r>
            <a:r>
              <a:rPr kumimoji="1" lang="zh-CN" altLang="en-US" sz="3200" b="1">
                <a:solidFill>
                  <a:srgbClr val="FF0000"/>
                </a:solidFill>
              </a:rPr>
              <a:t>透析</a:t>
            </a:r>
            <a:r>
              <a:rPr kumimoji="1" lang="en-US" altLang="zh-CN" sz="3200" b="1">
                <a:solidFill>
                  <a:srgbClr val="FF0000"/>
                </a:solidFill>
              </a:rPr>
              <a:t>(dialysis)</a:t>
            </a:r>
          </a:p>
          <a:p>
            <a:pPr lvl="1" eaLnBrk="1" hangingPunct="1">
              <a:lnSpc>
                <a:spcPct val="140000"/>
              </a:lnSpc>
              <a:spcBef>
                <a:spcPct val="0"/>
              </a:spcBef>
              <a:buClrTx/>
              <a:buFontTx/>
              <a:buNone/>
            </a:pPr>
            <a:r>
              <a:rPr kumimoji="1" lang="zh-CN" altLang="en-US" b="1">
                <a:solidFill>
                  <a:schemeClr val="tx1"/>
                </a:solidFill>
              </a:rPr>
              <a:t>利用透析袋把大分子蛋白质与小分子化合物分开的方法。</a:t>
            </a:r>
          </a:p>
        </p:txBody>
      </p:sp>
      <p:pic>
        <p:nvPicPr>
          <p:cNvPr id="177156" name="Picture 5" descr="411">
            <a:extLst>
              <a:ext uri="{FF2B5EF4-FFF2-40B4-BE49-F238E27FC236}">
                <a16:creationId xmlns:a16="http://schemas.microsoft.com/office/drawing/2014/main" id="{6BF5AFAF-282B-4000-9DEF-3DE9FDC95D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5638" y="3068639"/>
            <a:ext cx="403225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57" name="矩形 1">
            <a:extLst>
              <a:ext uri="{FF2B5EF4-FFF2-40B4-BE49-F238E27FC236}">
                <a16:creationId xmlns:a16="http://schemas.microsoft.com/office/drawing/2014/main" id="{F070D666-D8FD-469B-AF4A-9CA67B9B7447}"/>
              </a:ext>
            </a:extLst>
          </p:cNvPr>
          <p:cNvSpPr>
            <a:spLocks noChangeArrowheads="1"/>
          </p:cNvSpPr>
          <p:nvPr/>
        </p:nvSpPr>
        <p:spPr bwMode="auto">
          <a:xfrm>
            <a:off x="2390776" y="4079876"/>
            <a:ext cx="305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b="1">
                <a:solidFill>
                  <a:schemeClr val="tx1"/>
                </a:solidFill>
                <a:latin typeface="Arial" panose="020B0604020202020204" pitchFamily="34" charset="0"/>
                <a:ea typeface="宋体" panose="02010600030101010101" pitchFamily="2" charset="-122"/>
              </a:rPr>
              <a:t>应用：除盐、浓缩</a:t>
            </a:r>
          </a:p>
        </p:txBody>
      </p:sp>
    </p:spTree>
  </p:cSld>
  <p:clrMapOvr>
    <a:masterClrMapping/>
  </p:clrMapOvr>
  <p:transition spd="slow">
    <p:circle/>
  </p:transition>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219C655A-6F7D-4302-B379-C126530D1EC4}"/>
              </a:ext>
            </a:extLst>
          </p:cNvPr>
          <p:cNvSpPr>
            <a:spLocks noGrp="1" noChangeArrowheads="1"/>
          </p:cNvSpPr>
          <p:nvPr>
            <p:ph type="title"/>
          </p:nvPr>
        </p:nvSpPr>
        <p:spPr>
          <a:xfrm>
            <a:off x="1703388" y="188913"/>
            <a:ext cx="7345362" cy="563562"/>
          </a:xfrm>
        </p:spPr>
        <p:txBody>
          <a:bodyPr/>
          <a:lstStyle/>
          <a:p>
            <a:pPr eaLnBrk="1" hangingPunct="1"/>
            <a:r>
              <a:rPr lang="zh-CN" altLang="en-US"/>
              <a:t>血液透析（</a:t>
            </a:r>
            <a:r>
              <a:rPr lang="en-US" altLang="zh-CN"/>
              <a:t>Hemodialysis</a:t>
            </a:r>
            <a:r>
              <a:rPr lang="zh-CN" altLang="en-US"/>
              <a:t>）</a:t>
            </a:r>
            <a:endParaRPr lang="zh-CN" altLang="zh-CN"/>
          </a:p>
        </p:txBody>
      </p:sp>
      <p:pic>
        <p:nvPicPr>
          <p:cNvPr id="179203" name="Picture 13" descr="shen3">
            <a:extLst>
              <a:ext uri="{FF2B5EF4-FFF2-40B4-BE49-F238E27FC236}">
                <a16:creationId xmlns:a16="http://schemas.microsoft.com/office/drawing/2014/main" id="{D9837BF9-6D5E-444A-99A5-8B3718649F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072"/>
          <a:stretch>
            <a:fillRect/>
          </a:stretch>
        </p:blipFill>
        <p:spPr bwMode="auto">
          <a:xfrm>
            <a:off x="2279650" y="1412875"/>
            <a:ext cx="2763838"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695" name="Picture 15" descr="shen4">
            <a:extLst>
              <a:ext uri="{FF2B5EF4-FFF2-40B4-BE49-F238E27FC236}">
                <a16:creationId xmlns:a16="http://schemas.microsoft.com/office/drawing/2014/main" id="{A99283AD-6F23-41D5-B420-3262B0D081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9369"/>
          <a:stretch>
            <a:fillRect/>
          </a:stretch>
        </p:blipFill>
        <p:spPr bwMode="auto">
          <a:xfrm>
            <a:off x="5735639" y="1196976"/>
            <a:ext cx="4421187"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9205" name="Text Box 16">
            <a:extLst>
              <a:ext uri="{FF2B5EF4-FFF2-40B4-BE49-F238E27FC236}">
                <a16:creationId xmlns:a16="http://schemas.microsoft.com/office/drawing/2014/main" id="{B9052108-F817-4EF3-AA19-6E2DCB777BC3}"/>
              </a:ext>
            </a:extLst>
          </p:cNvPr>
          <p:cNvSpPr txBox="1">
            <a:spLocks noChangeArrowheads="1"/>
          </p:cNvSpPr>
          <p:nvPr/>
        </p:nvSpPr>
        <p:spPr bwMode="auto">
          <a:xfrm>
            <a:off x="2782888" y="5445126"/>
            <a:ext cx="1441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b="1">
                <a:solidFill>
                  <a:srgbClr val="FF0000"/>
                </a:solidFill>
                <a:latin typeface="Arial" panose="020B0604020202020204" pitchFamily="34" charset="0"/>
              </a:rPr>
              <a:t>人工肾</a:t>
            </a:r>
          </a:p>
        </p:txBody>
      </p:sp>
      <p:sp>
        <p:nvSpPr>
          <p:cNvPr id="711697" name="Text Box 17">
            <a:extLst>
              <a:ext uri="{FF2B5EF4-FFF2-40B4-BE49-F238E27FC236}">
                <a16:creationId xmlns:a16="http://schemas.microsoft.com/office/drawing/2014/main" id="{0C80152E-8D2C-4BA4-A5CE-3EB560DC225B}"/>
              </a:ext>
            </a:extLst>
          </p:cNvPr>
          <p:cNvSpPr txBox="1">
            <a:spLocks noChangeArrowheads="1"/>
          </p:cNvSpPr>
          <p:nvPr/>
        </p:nvSpPr>
        <p:spPr bwMode="auto">
          <a:xfrm>
            <a:off x="6888164" y="5445126"/>
            <a:ext cx="2592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50000"/>
              </a:spcBef>
              <a:buClrTx/>
              <a:buFontTx/>
              <a:buNone/>
            </a:pPr>
            <a:r>
              <a:rPr lang="zh-CN" altLang="en-US" b="1">
                <a:solidFill>
                  <a:srgbClr val="FF0000"/>
                </a:solidFill>
                <a:latin typeface="Arial" panose="020B0604020202020204" pitchFamily="34" charset="0"/>
              </a:rPr>
              <a:t>血液透析图</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11697"/>
                                        </p:tgtEl>
                                        <p:attrNameLst>
                                          <p:attrName>style.visibility</p:attrName>
                                        </p:attrNameLst>
                                      </p:cBhvr>
                                      <p:to>
                                        <p:strVal val="visible"/>
                                      </p:to>
                                    </p:set>
                                    <p:animEffect transition="in" filter="box(in)">
                                      <p:cBhvr>
                                        <p:cTn id="7" dur="500"/>
                                        <p:tgtEl>
                                          <p:spTgt spid="711697"/>
                                        </p:tgtEl>
                                      </p:cBhvr>
                                    </p:animEffect>
                                  </p:childTnLst>
                                </p:cTn>
                              </p:par>
                              <p:par>
                                <p:cTn id="8" presetID="4" presetClass="entr" presetSubtype="16" fill="hold" nodeType="withEffect">
                                  <p:stCondLst>
                                    <p:cond delay="0"/>
                                  </p:stCondLst>
                                  <p:childTnLst>
                                    <p:set>
                                      <p:cBhvr>
                                        <p:cTn id="9" dur="1" fill="hold">
                                          <p:stCondLst>
                                            <p:cond delay="0"/>
                                          </p:stCondLst>
                                        </p:cTn>
                                        <p:tgtEl>
                                          <p:spTgt spid="711695"/>
                                        </p:tgtEl>
                                        <p:attrNameLst>
                                          <p:attrName>style.visibility</p:attrName>
                                        </p:attrNameLst>
                                      </p:cBhvr>
                                      <p:to>
                                        <p:strVal val="visible"/>
                                      </p:to>
                                    </p:set>
                                    <p:animEffect transition="in" filter="box(in)">
                                      <p:cBhvr>
                                        <p:cTn id="10" dur="500"/>
                                        <p:tgtEl>
                                          <p:spTgt spid="711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9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Text Box 3">
            <a:extLst>
              <a:ext uri="{FF2B5EF4-FFF2-40B4-BE49-F238E27FC236}">
                <a16:creationId xmlns:a16="http://schemas.microsoft.com/office/drawing/2014/main" id="{DBD52E87-EAC5-4AF2-9CE0-3DC09D1B343F}"/>
              </a:ext>
            </a:extLst>
          </p:cNvPr>
          <p:cNvSpPr txBox="1">
            <a:spLocks noChangeArrowheads="1"/>
          </p:cNvSpPr>
          <p:nvPr/>
        </p:nvSpPr>
        <p:spPr bwMode="auto">
          <a:xfrm>
            <a:off x="2573339" y="188913"/>
            <a:ext cx="5189537" cy="627288"/>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10000"/>
              </a:lnSpc>
              <a:spcBef>
                <a:spcPct val="0"/>
              </a:spcBef>
              <a:buClrTx/>
              <a:buFontTx/>
              <a:buNone/>
              <a:defRPr/>
            </a:pPr>
            <a:r>
              <a:rPr kumimoji="1" lang="zh-CN" altLang="en-US" sz="3600" b="0" dirty="0">
                <a:solidFill>
                  <a:schemeClr val="bg1"/>
                </a:solidFill>
                <a:latin typeface="+mj-ea"/>
                <a:ea typeface="+mj-ea"/>
              </a:rPr>
              <a:t>超滤（</a:t>
            </a:r>
            <a:r>
              <a:rPr kumimoji="1" lang="en-US" altLang="zh-CN" sz="3600" b="0" dirty="0">
                <a:solidFill>
                  <a:schemeClr val="bg1"/>
                </a:solidFill>
                <a:latin typeface="+mj-ea"/>
                <a:ea typeface="+mj-ea"/>
              </a:rPr>
              <a:t>ultrafiltration</a:t>
            </a:r>
            <a:r>
              <a:rPr kumimoji="1" lang="zh-CN" altLang="en-US" sz="3600" b="0" dirty="0">
                <a:solidFill>
                  <a:schemeClr val="bg1"/>
                </a:solidFill>
                <a:latin typeface="+mj-ea"/>
                <a:ea typeface="+mj-ea"/>
              </a:rPr>
              <a:t>）</a:t>
            </a:r>
          </a:p>
        </p:txBody>
      </p:sp>
      <p:grpSp>
        <p:nvGrpSpPr>
          <p:cNvPr id="183299" name="组合 1">
            <a:extLst>
              <a:ext uri="{FF2B5EF4-FFF2-40B4-BE49-F238E27FC236}">
                <a16:creationId xmlns:a16="http://schemas.microsoft.com/office/drawing/2014/main" id="{85D92D98-2C73-4CA2-B7AF-DD3396EDAFD5}"/>
              </a:ext>
            </a:extLst>
          </p:cNvPr>
          <p:cNvGrpSpPr>
            <a:grpSpLocks/>
          </p:cNvGrpSpPr>
          <p:nvPr/>
        </p:nvGrpSpPr>
        <p:grpSpPr bwMode="auto">
          <a:xfrm>
            <a:off x="2165351" y="2779713"/>
            <a:ext cx="7815263" cy="3543300"/>
            <a:chOff x="640961" y="2779713"/>
            <a:chExt cx="7815021" cy="3543300"/>
          </a:xfrm>
        </p:grpSpPr>
        <p:graphicFrame>
          <p:nvGraphicFramePr>
            <p:cNvPr id="183301" name="Object 4">
              <a:extLst>
                <a:ext uri="{FF2B5EF4-FFF2-40B4-BE49-F238E27FC236}">
                  <a16:creationId xmlns:a16="http://schemas.microsoft.com/office/drawing/2014/main" id="{502EE099-60F0-4C78-B5D9-E12D1CEF795E}"/>
                </a:ext>
              </a:extLst>
            </p:cNvPr>
            <p:cNvGraphicFramePr>
              <a:graphicFrameLocks noChangeAspect="1"/>
            </p:cNvGraphicFramePr>
            <p:nvPr/>
          </p:nvGraphicFramePr>
          <p:xfrm>
            <a:off x="3234110" y="2779713"/>
            <a:ext cx="3295494" cy="3429000"/>
          </p:xfrm>
          <a:graphic>
            <a:graphicData uri="http://schemas.openxmlformats.org/presentationml/2006/ole">
              <mc:AlternateContent xmlns:mc="http://schemas.openxmlformats.org/markup-compatibility/2006">
                <mc:Choice xmlns:v="urn:schemas-microsoft-com:vml" Requires="v">
                  <p:oleObj name="位图图像" r:id="rId3" imgW="1886213" imgH="2010056" progId="Paint.Picture">
                    <p:embed/>
                  </p:oleObj>
                </mc:Choice>
                <mc:Fallback>
                  <p:oleObj name="位图图像" r:id="rId3" imgW="1886213" imgH="2010056" progId="Paint.Picture">
                    <p:embed/>
                    <p:pic>
                      <p:nvPicPr>
                        <p:cNvPr id="183301" name="Object 4">
                          <a:extLst>
                            <a:ext uri="{FF2B5EF4-FFF2-40B4-BE49-F238E27FC236}">
                              <a16:creationId xmlns:a16="http://schemas.microsoft.com/office/drawing/2014/main" id="{502EE099-60F0-4C78-B5D9-E12D1CEF79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4110" y="2779713"/>
                          <a:ext cx="3295494"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3302" name="Rectangle 5">
              <a:extLst>
                <a:ext uri="{FF2B5EF4-FFF2-40B4-BE49-F238E27FC236}">
                  <a16:creationId xmlns:a16="http://schemas.microsoft.com/office/drawing/2014/main" id="{6A0DD850-F3C9-4F6F-8BBB-9C2927D920D2}"/>
                </a:ext>
              </a:extLst>
            </p:cNvPr>
            <p:cNvSpPr>
              <a:spLocks noChangeArrowheads="1"/>
            </p:cNvSpPr>
            <p:nvPr/>
          </p:nvSpPr>
          <p:spPr bwMode="auto">
            <a:xfrm>
              <a:off x="3624302" y="5827713"/>
              <a:ext cx="1716844" cy="304800"/>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03" name="Text Box 6">
              <a:extLst>
                <a:ext uri="{FF2B5EF4-FFF2-40B4-BE49-F238E27FC236}">
                  <a16:creationId xmlns:a16="http://schemas.microsoft.com/office/drawing/2014/main" id="{EC3B3574-20DC-4441-9B3D-902CB94B5F2C}"/>
                </a:ext>
              </a:extLst>
            </p:cNvPr>
            <p:cNvSpPr txBox="1">
              <a:spLocks noChangeArrowheads="1"/>
            </p:cNvSpPr>
            <p:nvPr/>
          </p:nvSpPr>
          <p:spPr bwMode="auto">
            <a:xfrm>
              <a:off x="688109" y="5670551"/>
              <a:ext cx="172334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rgbClr val="FF0000"/>
                  </a:solidFill>
                </a:rPr>
                <a:t>磁力搅拌器</a:t>
              </a:r>
            </a:p>
          </p:txBody>
        </p:sp>
        <p:sp>
          <p:nvSpPr>
            <p:cNvPr id="183304" name="Line 7">
              <a:extLst>
                <a:ext uri="{FF2B5EF4-FFF2-40B4-BE49-F238E27FC236}">
                  <a16:creationId xmlns:a16="http://schemas.microsoft.com/office/drawing/2014/main" id="{7274EAD3-E716-48B2-8F35-A69AE8F91359}"/>
                </a:ext>
              </a:extLst>
            </p:cNvPr>
            <p:cNvSpPr>
              <a:spLocks noChangeShapeType="1"/>
            </p:cNvSpPr>
            <p:nvPr/>
          </p:nvSpPr>
          <p:spPr bwMode="auto">
            <a:xfrm>
              <a:off x="2435843" y="5980113"/>
              <a:ext cx="1266497" cy="0"/>
            </a:xfrm>
            <a:prstGeom prst="line">
              <a:avLst/>
            </a:prstGeom>
            <a:noFill/>
            <a:ln w="28575">
              <a:solidFill>
                <a:srgbClr val="CC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5" name="Text Box 8">
              <a:extLst>
                <a:ext uri="{FF2B5EF4-FFF2-40B4-BE49-F238E27FC236}">
                  <a16:creationId xmlns:a16="http://schemas.microsoft.com/office/drawing/2014/main" id="{BEAF1326-D58B-4A2D-BF8B-BDEC6DF57F48}"/>
                </a:ext>
              </a:extLst>
            </p:cNvPr>
            <p:cNvSpPr txBox="1">
              <a:spLocks noChangeArrowheads="1"/>
            </p:cNvSpPr>
            <p:nvPr/>
          </p:nvSpPr>
          <p:spPr bwMode="auto">
            <a:xfrm>
              <a:off x="640961" y="3930651"/>
              <a:ext cx="21639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400">
                  <a:solidFill>
                    <a:srgbClr val="FF0000"/>
                  </a:solidFill>
                </a:rPr>
                <a:t>待超滤的蛋白质溶液</a:t>
              </a:r>
            </a:p>
          </p:txBody>
        </p:sp>
        <p:sp>
          <p:nvSpPr>
            <p:cNvPr id="183306" name="Line 9">
              <a:extLst>
                <a:ext uri="{FF2B5EF4-FFF2-40B4-BE49-F238E27FC236}">
                  <a16:creationId xmlns:a16="http://schemas.microsoft.com/office/drawing/2014/main" id="{A1980B50-F432-4977-B47E-356B217A2A73}"/>
                </a:ext>
              </a:extLst>
            </p:cNvPr>
            <p:cNvSpPr>
              <a:spLocks noChangeShapeType="1"/>
            </p:cNvSpPr>
            <p:nvPr/>
          </p:nvSpPr>
          <p:spPr bwMode="auto">
            <a:xfrm>
              <a:off x="2843919" y="4379913"/>
              <a:ext cx="1014499" cy="0"/>
            </a:xfrm>
            <a:prstGeom prst="line">
              <a:avLst/>
            </a:prstGeom>
            <a:noFill/>
            <a:ln w="28575">
              <a:solidFill>
                <a:srgbClr val="CC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7" name="Oval 10">
              <a:extLst>
                <a:ext uri="{FF2B5EF4-FFF2-40B4-BE49-F238E27FC236}">
                  <a16:creationId xmlns:a16="http://schemas.microsoft.com/office/drawing/2014/main" id="{D56FDD0A-257E-4C72-B1B0-7C637D22A8C8}"/>
                </a:ext>
              </a:extLst>
            </p:cNvPr>
            <p:cNvSpPr>
              <a:spLocks noChangeArrowheads="1"/>
            </p:cNvSpPr>
            <p:nvPr/>
          </p:nvSpPr>
          <p:spPr bwMode="auto">
            <a:xfrm>
              <a:off x="4248609" y="4989513"/>
              <a:ext cx="156077" cy="1524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08" name="Oval 11">
              <a:extLst>
                <a:ext uri="{FF2B5EF4-FFF2-40B4-BE49-F238E27FC236}">
                  <a16:creationId xmlns:a16="http://schemas.microsoft.com/office/drawing/2014/main" id="{DEC565C8-6346-4466-92F6-EED30E7C0F54}"/>
                </a:ext>
              </a:extLst>
            </p:cNvPr>
            <p:cNvSpPr>
              <a:spLocks noChangeArrowheads="1"/>
            </p:cNvSpPr>
            <p:nvPr/>
          </p:nvSpPr>
          <p:spPr bwMode="auto">
            <a:xfrm>
              <a:off x="4326647" y="4760913"/>
              <a:ext cx="156077" cy="1524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09" name="Oval 12">
              <a:extLst>
                <a:ext uri="{FF2B5EF4-FFF2-40B4-BE49-F238E27FC236}">
                  <a16:creationId xmlns:a16="http://schemas.microsoft.com/office/drawing/2014/main" id="{4ACB298B-4ABA-4FC0-86D9-76B79ABB5781}"/>
                </a:ext>
              </a:extLst>
            </p:cNvPr>
            <p:cNvSpPr>
              <a:spLocks noChangeArrowheads="1"/>
            </p:cNvSpPr>
            <p:nvPr/>
          </p:nvSpPr>
          <p:spPr bwMode="auto">
            <a:xfrm>
              <a:off x="4872916" y="4532313"/>
              <a:ext cx="156077" cy="1524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10" name="Oval 13">
              <a:extLst>
                <a:ext uri="{FF2B5EF4-FFF2-40B4-BE49-F238E27FC236}">
                  <a16:creationId xmlns:a16="http://schemas.microsoft.com/office/drawing/2014/main" id="{BCF05CEF-FD86-4473-A437-5BA71FA4D679}"/>
                </a:ext>
              </a:extLst>
            </p:cNvPr>
            <p:cNvSpPr>
              <a:spLocks noChangeArrowheads="1"/>
            </p:cNvSpPr>
            <p:nvPr/>
          </p:nvSpPr>
          <p:spPr bwMode="auto">
            <a:xfrm>
              <a:off x="4170570" y="4608513"/>
              <a:ext cx="156077" cy="1524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11" name="Oval 14">
              <a:extLst>
                <a:ext uri="{FF2B5EF4-FFF2-40B4-BE49-F238E27FC236}">
                  <a16:creationId xmlns:a16="http://schemas.microsoft.com/office/drawing/2014/main" id="{7698593A-83F4-4F74-B174-25715E06BAC3}"/>
                </a:ext>
              </a:extLst>
            </p:cNvPr>
            <p:cNvSpPr>
              <a:spLocks noChangeArrowheads="1"/>
            </p:cNvSpPr>
            <p:nvPr/>
          </p:nvSpPr>
          <p:spPr bwMode="auto">
            <a:xfrm>
              <a:off x="4872916" y="4913313"/>
              <a:ext cx="156077" cy="1524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12" name="Oval 15">
              <a:extLst>
                <a:ext uri="{FF2B5EF4-FFF2-40B4-BE49-F238E27FC236}">
                  <a16:creationId xmlns:a16="http://schemas.microsoft.com/office/drawing/2014/main" id="{FEDC122C-FEF4-4B3F-A625-5D913136BC80}"/>
                </a:ext>
              </a:extLst>
            </p:cNvPr>
            <p:cNvSpPr>
              <a:spLocks noChangeArrowheads="1"/>
            </p:cNvSpPr>
            <p:nvPr/>
          </p:nvSpPr>
          <p:spPr bwMode="auto">
            <a:xfrm>
              <a:off x="3858417" y="4913313"/>
              <a:ext cx="156077" cy="1524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13" name="Oval 16">
              <a:extLst>
                <a:ext uri="{FF2B5EF4-FFF2-40B4-BE49-F238E27FC236}">
                  <a16:creationId xmlns:a16="http://schemas.microsoft.com/office/drawing/2014/main" id="{5B19CF9E-DFEB-462D-BEFB-E53BAD4BBB7F}"/>
                </a:ext>
              </a:extLst>
            </p:cNvPr>
            <p:cNvSpPr>
              <a:spLocks noChangeArrowheads="1"/>
            </p:cNvSpPr>
            <p:nvPr/>
          </p:nvSpPr>
          <p:spPr bwMode="auto">
            <a:xfrm>
              <a:off x="4638801" y="4760913"/>
              <a:ext cx="156077" cy="1524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14" name="Oval 17">
              <a:extLst>
                <a:ext uri="{FF2B5EF4-FFF2-40B4-BE49-F238E27FC236}">
                  <a16:creationId xmlns:a16="http://schemas.microsoft.com/office/drawing/2014/main" id="{97DF8A90-EE81-40EE-B514-AD487023CD95}"/>
                </a:ext>
              </a:extLst>
            </p:cNvPr>
            <p:cNvSpPr>
              <a:spLocks noChangeArrowheads="1"/>
            </p:cNvSpPr>
            <p:nvPr/>
          </p:nvSpPr>
          <p:spPr bwMode="auto">
            <a:xfrm>
              <a:off x="5809376" y="55991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15" name="Oval 18">
              <a:extLst>
                <a:ext uri="{FF2B5EF4-FFF2-40B4-BE49-F238E27FC236}">
                  <a16:creationId xmlns:a16="http://schemas.microsoft.com/office/drawing/2014/main" id="{5CA254F8-A21B-44EB-A235-01BE240B26C9}"/>
                </a:ext>
              </a:extLst>
            </p:cNvPr>
            <p:cNvSpPr>
              <a:spLocks noChangeArrowheads="1"/>
            </p:cNvSpPr>
            <p:nvPr/>
          </p:nvSpPr>
          <p:spPr bwMode="auto">
            <a:xfrm>
              <a:off x="6121529" y="56753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16" name="Oval 19">
              <a:extLst>
                <a:ext uri="{FF2B5EF4-FFF2-40B4-BE49-F238E27FC236}">
                  <a16:creationId xmlns:a16="http://schemas.microsoft.com/office/drawing/2014/main" id="{D872FBAD-0F4E-4458-8058-74059055D96B}"/>
                </a:ext>
              </a:extLst>
            </p:cNvPr>
            <p:cNvSpPr>
              <a:spLocks noChangeArrowheads="1"/>
            </p:cNvSpPr>
            <p:nvPr/>
          </p:nvSpPr>
          <p:spPr bwMode="auto">
            <a:xfrm>
              <a:off x="6160548" y="59039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17" name="Oval 20">
              <a:extLst>
                <a:ext uri="{FF2B5EF4-FFF2-40B4-BE49-F238E27FC236}">
                  <a16:creationId xmlns:a16="http://schemas.microsoft.com/office/drawing/2014/main" id="{0E6D122A-4F0A-4842-904E-4F52C388F06F}"/>
                </a:ext>
              </a:extLst>
            </p:cNvPr>
            <p:cNvSpPr>
              <a:spLocks noChangeArrowheads="1"/>
            </p:cNvSpPr>
            <p:nvPr/>
          </p:nvSpPr>
          <p:spPr bwMode="auto">
            <a:xfrm>
              <a:off x="4404685" y="46085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18" name="Oval 21">
              <a:extLst>
                <a:ext uri="{FF2B5EF4-FFF2-40B4-BE49-F238E27FC236}">
                  <a16:creationId xmlns:a16="http://schemas.microsoft.com/office/drawing/2014/main" id="{247DEF5D-9C57-43C5-981F-92E80FC028FE}"/>
                </a:ext>
              </a:extLst>
            </p:cNvPr>
            <p:cNvSpPr>
              <a:spLocks noChangeArrowheads="1"/>
            </p:cNvSpPr>
            <p:nvPr/>
          </p:nvSpPr>
          <p:spPr bwMode="auto">
            <a:xfrm>
              <a:off x="4716839" y="49895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19" name="Oval 22">
              <a:extLst>
                <a:ext uri="{FF2B5EF4-FFF2-40B4-BE49-F238E27FC236}">
                  <a16:creationId xmlns:a16="http://schemas.microsoft.com/office/drawing/2014/main" id="{B3EB9761-FD6C-4A76-8F8B-765ABEED7DA0}"/>
                </a:ext>
              </a:extLst>
            </p:cNvPr>
            <p:cNvSpPr>
              <a:spLocks noChangeArrowheads="1"/>
            </p:cNvSpPr>
            <p:nvPr/>
          </p:nvSpPr>
          <p:spPr bwMode="auto">
            <a:xfrm>
              <a:off x="5107031" y="49895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20" name="Oval 23">
              <a:extLst>
                <a:ext uri="{FF2B5EF4-FFF2-40B4-BE49-F238E27FC236}">
                  <a16:creationId xmlns:a16="http://schemas.microsoft.com/office/drawing/2014/main" id="{F3ABBDBC-2DED-43A4-9067-95970700B806}"/>
                </a:ext>
              </a:extLst>
            </p:cNvPr>
            <p:cNvSpPr>
              <a:spLocks noChangeArrowheads="1"/>
            </p:cNvSpPr>
            <p:nvPr/>
          </p:nvSpPr>
          <p:spPr bwMode="auto">
            <a:xfrm>
              <a:off x="4716839" y="43799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21" name="Oval 24">
              <a:extLst>
                <a:ext uri="{FF2B5EF4-FFF2-40B4-BE49-F238E27FC236}">
                  <a16:creationId xmlns:a16="http://schemas.microsoft.com/office/drawing/2014/main" id="{54A3D8C5-967E-4B2E-B839-E4DEDCBB2016}"/>
                </a:ext>
              </a:extLst>
            </p:cNvPr>
            <p:cNvSpPr>
              <a:spLocks noChangeArrowheads="1"/>
            </p:cNvSpPr>
            <p:nvPr/>
          </p:nvSpPr>
          <p:spPr bwMode="auto">
            <a:xfrm>
              <a:off x="5107031" y="48371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22" name="Oval 25">
              <a:extLst>
                <a:ext uri="{FF2B5EF4-FFF2-40B4-BE49-F238E27FC236}">
                  <a16:creationId xmlns:a16="http://schemas.microsoft.com/office/drawing/2014/main" id="{2903E7AD-407F-4B07-AB00-1A38DBE3D3AC}"/>
                </a:ext>
              </a:extLst>
            </p:cNvPr>
            <p:cNvSpPr>
              <a:spLocks noChangeArrowheads="1"/>
            </p:cNvSpPr>
            <p:nvPr/>
          </p:nvSpPr>
          <p:spPr bwMode="auto">
            <a:xfrm>
              <a:off x="4404685" y="53705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23" name="Oval 26">
              <a:extLst>
                <a:ext uri="{FF2B5EF4-FFF2-40B4-BE49-F238E27FC236}">
                  <a16:creationId xmlns:a16="http://schemas.microsoft.com/office/drawing/2014/main" id="{8AC834A1-064C-49EE-AC9E-7F1161DEDDA1}"/>
                </a:ext>
              </a:extLst>
            </p:cNvPr>
            <p:cNvSpPr>
              <a:spLocks noChangeArrowheads="1"/>
            </p:cNvSpPr>
            <p:nvPr/>
          </p:nvSpPr>
          <p:spPr bwMode="auto">
            <a:xfrm>
              <a:off x="4482724" y="542766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24" name="Oval 27">
              <a:extLst>
                <a:ext uri="{FF2B5EF4-FFF2-40B4-BE49-F238E27FC236}">
                  <a16:creationId xmlns:a16="http://schemas.microsoft.com/office/drawing/2014/main" id="{28D00AA1-9BA2-4C44-831E-E0259072CD7F}"/>
                </a:ext>
              </a:extLst>
            </p:cNvPr>
            <p:cNvSpPr>
              <a:spLocks noChangeArrowheads="1"/>
            </p:cNvSpPr>
            <p:nvPr/>
          </p:nvSpPr>
          <p:spPr bwMode="auto">
            <a:xfrm>
              <a:off x="4482724" y="558006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25" name="Oval 28">
              <a:extLst>
                <a:ext uri="{FF2B5EF4-FFF2-40B4-BE49-F238E27FC236}">
                  <a16:creationId xmlns:a16="http://schemas.microsoft.com/office/drawing/2014/main" id="{1DD76DEE-47A2-454B-9E50-23D9F0FF159D}"/>
                </a:ext>
              </a:extLst>
            </p:cNvPr>
            <p:cNvSpPr>
              <a:spLocks noChangeArrowheads="1"/>
            </p:cNvSpPr>
            <p:nvPr/>
          </p:nvSpPr>
          <p:spPr bwMode="auto">
            <a:xfrm>
              <a:off x="4697329" y="558006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26" name="Oval 29">
              <a:extLst>
                <a:ext uri="{FF2B5EF4-FFF2-40B4-BE49-F238E27FC236}">
                  <a16:creationId xmlns:a16="http://schemas.microsoft.com/office/drawing/2014/main" id="{D73620E4-A066-4DAA-8503-2424CF6B8171}"/>
                </a:ext>
              </a:extLst>
            </p:cNvPr>
            <p:cNvSpPr>
              <a:spLocks noChangeArrowheads="1"/>
            </p:cNvSpPr>
            <p:nvPr/>
          </p:nvSpPr>
          <p:spPr bwMode="auto">
            <a:xfrm>
              <a:off x="4970464" y="558006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27" name="Oval 30">
              <a:extLst>
                <a:ext uri="{FF2B5EF4-FFF2-40B4-BE49-F238E27FC236}">
                  <a16:creationId xmlns:a16="http://schemas.microsoft.com/office/drawing/2014/main" id="{8CFC7EFC-1C89-4492-874B-BE5AE586CFB1}"/>
                </a:ext>
              </a:extLst>
            </p:cNvPr>
            <p:cNvSpPr>
              <a:spLocks noChangeArrowheads="1"/>
            </p:cNvSpPr>
            <p:nvPr/>
          </p:nvSpPr>
          <p:spPr bwMode="auto">
            <a:xfrm>
              <a:off x="5341146" y="55991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28" name="Oval 31">
              <a:extLst>
                <a:ext uri="{FF2B5EF4-FFF2-40B4-BE49-F238E27FC236}">
                  <a16:creationId xmlns:a16="http://schemas.microsoft.com/office/drawing/2014/main" id="{0C79DAFB-4C86-40E0-B187-745D260C2CAC}"/>
                </a:ext>
              </a:extLst>
            </p:cNvPr>
            <p:cNvSpPr>
              <a:spLocks noChangeArrowheads="1"/>
            </p:cNvSpPr>
            <p:nvPr/>
          </p:nvSpPr>
          <p:spPr bwMode="auto">
            <a:xfrm>
              <a:off x="4404685" y="44561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29" name="Oval 32">
              <a:extLst>
                <a:ext uri="{FF2B5EF4-FFF2-40B4-BE49-F238E27FC236}">
                  <a16:creationId xmlns:a16="http://schemas.microsoft.com/office/drawing/2014/main" id="{1519A028-BBE9-42FE-AB50-B4930AD70945}"/>
                </a:ext>
              </a:extLst>
            </p:cNvPr>
            <p:cNvSpPr>
              <a:spLocks noChangeArrowheads="1"/>
            </p:cNvSpPr>
            <p:nvPr/>
          </p:nvSpPr>
          <p:spPr bwMode="auto">
            <a:xfrm>
              <a:off x="3936455" y="46085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30" name="Oval 33">
              <a:extLst>
                <a:ext uri="{FF2B5EF4-FFF2-40B4-BE49-F238E27FC236}">
                  <a16:creationId xmlns:a16="http://schemas.microsoft.com/office/drawing/2014/main" id="{2BBF25F5-340C-41C5-862D-25DFD4EE6A7E}"/>
                </a:ext>
              </a:extLst>
            </p:cNvPr>
            <p:cNvSpPr>
              <a:spLocks noChangeArrowheads="1"/>
            </p:cNvSpPr>
            <p:nvPr/>
          </p:nvSpPr>
          <p:spPr bwMode="auto">
            <a:xfrm>
              <a:off x="4170570" y="44561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31" name="Oval 34">
              <a:extLst>
                <a:ext uri="{FF2B5EF4-FFF2-40B4-BE49-F238E27FC236}">
                  <a16:creationId xmlns:a16="http://schemas.microsoft.com/office/drawing/2014/main" id="{CC8C8EAC-C467-439A-BEEC-184409F57B04}"/>
                </a:ext>
              </a:extLst>
            </p:cNvPr>
            <p:cNvSpPr>
              <a:spLocks noChangeArrowheads="1"/>
            </p:cNvSpPr>
            <p:nvPr/>
          </p:nvSpPr>
          <p:spPr bwMode="auto">
            <a:xfrm>
              <a:off x="4482724" y="49895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32" name="Oval 35">
              <a:extLst>
                <a:ext uri="{FF2B5EF4-FFF2-40B4-BE49-F238E27FC236}">
                  <a16:creationId xmlns:a16="http://schemas.microsoft.com/office/drawing/2014/main" id="{EB06607D-7656-4751-A8DC-4B88A46C8FDC}"/>
                </a:ext>
              </a:extLst>
            </p:cNvPr>
            <p:cNvSpPr>
              <a:spLocks noChangeArrowheads="1"/>
            </p:cNvSpPr>
            <p:nvPr/>
          </p:nvSpPr>
          <p:spPr bwMode="auto">
            <a:xfrm>
              <a:off x="4092532" y="50657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33" name="Oval 36">
              <a:extLst>
                <a:ext uri="{FF2B5EF4-FFF2-40B4-BE49-F238E27FC236}">
                  <a16:creationId xmlns:a16="http://schemas.microsoft.com/office/drawing/2014/main" id="{15FDE63F-D970-4024-BF5D-532917D1F521}"/>
                </a:ext>
              </a:extLst>
            </p:cNvPr>
            <p:cNvSpPr>
              <a:spLocks noChangeArrowheads="1"/>
            </p:cNvSpPr>
            <p:nvPr/>
          </p:nvSpPr>
          <p:spPr bwMode="auto">
            <a:xfrm>
              <a:off x="4014494" y="4837113"/>
              <a:ext cx="78038" cy="76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34" name="Line 37">
              <a:extLst>
                <a:ext uri="{FF2B5EF4-FFF2-40B4-BE49-F238E27FC236}">
                  <a16:creationId xmlns:a16="http://schemas.microsoft.com/office/drawing/2014/main" id="{BFF707FE-7395-4805-9230-07252A949439}"/>
                </a:ext>
              </a:extLst>
            </p:cNvPr>
            <p:cNvSpPr>
              <a:spLocks noChangeShapeType="1"/>
            </p:cNvSpPr>
            <p:nvPr/>
          </p:nvSpPr>
          <p:spPr bwMode="auto">
            <a:xfrm flipH="1">
              <a:off x="5887414" y="3027363"/>
              <a:ext cx="546268" cy="0"/>
            </a:xfrm>
            <a:prstGeom prst="line">
              <a:avLst/>
            </a:prstGeom>
            <a:noFill/>
            <a:ln w="28575">
              <a:solidFill>
                <a:srgbClr val="33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3335" name="Text Box 38">
              <a:extLst>
                <a:ext uri="{FF2B5EF4-FFF2-40B4-BE49-F238E27FC236}">
                  <a16:creationId xmlns:a16="http://schemas.microsoft.com/office/drawing/2014/main" id="{1AD9393E-839C-413E-88FC-B0E0C038096A}"/>
                </a:ext>
              </a:extLst>
            </p:cNvPr>
            <p:cNvSpPr txBox="1">
              <a:spLocks noChangeArrowheads="1"/>
            </p:cNvSpPr>
            <p:nvPr/>
          </p:nvSpPr>
          <p:spPr bwMode="auto">
            <a:xfrm>
              <a:off x="6475953" y="2820988"/>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a:solidFill>
                    <a:srgbClr val="0000CC"/>
                  </a:solidFill>
                </a:rPr>
                <a:t>加压的氮气</a:t>
              </a:r>
            </a:p>
          </p:txBody>
        </p:sp>
        <p:sp>
          <p:nvSpPr>
            <p:cNvPr id="183336" name="Line 39">
              <a:extLst>
                <a:ext uri="{FF2B5EF4-FFF2-40B4-BE49-F238E27FC236}">
                  <a16:creationId xmlns:a16="http://schemas.microsoft.com/office/drawing/2014/main" id="{1DD9852F-ABD2-4867-A659-8AD510CC1007}"/>
                </a:ext>
              </a:extLst>
            </p:cNvPr>
            <p:cNvSpPr>
              <a:spLocks noChangeShapeType="1"/>
            </p:cNvSpPr>
            <p:nvPr/>
          </p:nvSpPr>
          <p:spPr bwMode="auto">
            <a:xfrm>
              <a:off x="5068011" y="3236913"/>
              <a:ext cx="0" cy="609600"/>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3337" name="Line 40">
              <a:extLst>
                <a:ext uri="{FF2B5EF4-FFF2-40B4-BE49-F238E27FC236}">
                  <a16:creationId xmlns:a16="http://schemas.microsoft.com/office/drawing/2014/main" id="{DA296D68-DF99-4D7D-A3E5-E3D6163CB944}"/>
                </a:ext>
              </a:extLst>
            </p:cNvPr>
            <p:cNvSpPr>
              <a:spLocks noChangeShapeType="1"/>
            </p:cNvSpPr>
            <p:nvPr/>
          </p:nvSpPr>
          <p:spPr bwMode="auto">
            <a:xfrm>
              <a:off x="4404685" y="3846513"/>
              <a:ext cx="0" cy="304800"/>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3338" name="Line 41">
              <a:extLst>
                <a:ext uri="{FF2B5EF4-FFF2-40B4-BE49-F238E27FC236}">
                  <a16:creationId xmlns:a16="http://schemas.microsoft.com/office/drawing/2014/main" id="{CCD5C52A-5650-4BF5-AAB5-7728C409039B}"/>
                </a:ext>
              </a:extLst>
            </p:cNvPr>
            <p:cNvSpPr>
              <a:spLocks noChangeShapeType="1"/>
            </p:cNvSpPr>
            <p:nvPr/>
          </p:nvSpPr>
          <p:spPr bwMode="auto">
            <a:xfrm>
              <a:off x="4599781" y="3846513"/>
              <a:ext cx="0" cy="304800"/>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3339" name="Line 42">
              <a:extLst>
                <a:ext uri="{FF2B5EF4-FFF2-40B4-BE49-F238E27FC236}">
                  <a16:creationId xmlns:a16="http://schemas.microsoft.com/office/drawing/2014/main" id="{7A311DD2-A8AA-4AD4-9353-60F6C6DE0946}"/>
                </a:ext>
              </a:extLst>
            </p:cNvPr>
            <p:cNvSpPr>
              <a:spLocks noChangeShapeType="1"/>
            </p:cNvSpPr>
            <p:nvPr/>
          </p:nvSpPr>
          <p:spPr bwMode="auto">
            <a:xfrm>
              <a:off x="4814387" y="3846513"/>
              <a:ext cx="0" cy="304800"/>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3340" name="Line 43">
              <a:extLst>
                <a:ext uri="{FF2B5EF4-FFF2-40B4-BE49-F238E27FC236}">
                  <a16:creationId xmlns:a16="http://schemas.microsoft.com/office/drawing/2014/main" id="{0382F561-246B-4771-ADA4-BD74AE2CE2BB}"/>
                </a:ext>
              </a:extLst>
            </p:cNvPr>
            <p:cNvSpPr>
              <a:spLocks noChangeShapeType="1"/>
            </p:cNvSpPr>
            <p:nvPr/>
          </p:nvSpPr>
          <p:spPr bwMode="auto">
            <a:xfrm>
              <a:off x="5028992" y="3846513"/>
              <a:ext cx="0" cy="304800"/>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3341" name="Line 44">
              <a:extLst>
                <a:ext uri="{FF2B5EF4-FFF2-40B4-BE49-F238E27FC236}">
                  <a16:creationId xmlns:a16="http://schemas.microsoft.com/office/drawing/2014/main" id="{A0102335-FB2C-4D30-9C76-7161C70BCA6A}"/>
                </a:ext>
              </a:extLst>
            </p:cNvPr>
            <p:cNvSpPr>
              <a:spLocks noChangeShapeType="1"/>
            </p:cNvSpPr>
            <p:nvPr/>
          </p:nvSpPr>
          <p:spPr bwMode="auto">
            <a:xfrm>
              <a:off x="4229099" y="3846513"/>
              <a:ext cx="0" cy="304800"/>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3342" name="Line 45">
              <a:extLst>
                <a:ext uri="{FF2B5EF4-FFF2-40B4-BE49-F238E27FC236}">
                  <a16:creationId xmlns:a16="http://schemas.microsoft.com/office/drawing/2014/main" id="{1DDE6A66-7A91-40A3-8486-65779E64289D}"/>
                </a:ext>
              </a:extLst>
            </p:cNvPr>
            <p:cNvSpPr>
              <a:spLocks noChangeShapeType="1"/>
            </p:cNvSpPr>
            <p:nvPr/>
          </p:nvSpPr>
          <p:spPr bwMode="auto">
            <a:xfrm>
              <a:off x="4053513" y="3846513"/>
              <a:ext cx="0" cy="304800"/>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3343" name="Line 46">
              <a:extLst>
                <a:ext uri="{FF2B5EF4-FFF2-40B4-BE49-F238E27FC236}">
                  <a16:creationId xmlns:a16="http://schemas.microsoft.com/office/drawing/2014/main" id="{9DBADE0D-ED95-49B1-BCC0-577BF69388D3}"/>
                </a:ext>
              </a:extLst>
            </p:cNvPr>
            <p:cNvSpPr>
              <a:spLocks noChangeShapeType="1"/>
            </p:cNvSpPr>
            <p:nvPr/>
          </p:nvSpPr>
          <p:spPr bwMode="auto">
            <a:xfrm>
              <a:off x="3858417" y="3846513"/>
              <a:ext cx="0" cy="304800"/>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3344" name="Line 47">
              <a:extLst>
                <a:ext uri="{FF2B5EF4-FFF2-40B4-BE49-F238E27FC236}">
                  <a16:creationId xmlns:a16="http://schemas.microsoft.com/office/drawing/2014/main" id="{8D1D085A-C727-4022-A2E2-5F72C9438822}"/>
                </a:ext>
              </a:extLst>
            </p:cNvPr>
            <p:cNvSpPr>
              <a:spLocks noChangeShapeType="1"/>
            </p:cNvSpPr>
            <p:nvPr/>
          </p:nvSpPr>
          <p:spPr bwMode="auto">
            <a:xfrm>
              <a:off x="6199567" y="6018213"/>
              <a:ext cx="0" cy="304800"/>
            </a:xfrm>
            <a:prstGeom prst="line">
              <a:avLst/>
            </a:prstGeom>
            <a:noFill/>
            <a:ln w="9525">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3345" name="Line 48">
              <a:extLst>
                <a:ext uri="{FF2B5EF4-FFF2-40B4-BE49-F238E27FC236}">
                  <a16:creationId xmlns:a16="http://schemas.microsoft.com/office/drawing/2014/main" id="{B951B8AD-BD80-499D-B47F-DD9A09901301}"/>
                </a:ext>
              </a:extLst>
            </p:cNvPr>
            <p:cNvSpPr>
              <a:spLocks noChangeShapeType="1"/>
            </p:cNvSpPr>
            <p:nvPr/>
          </p:nvSpPr>
          <p:spPr bwMode="auto">
            <a:xfrm flipV="1">
              <a:off x="4950954" y="5008563"/>
              <a:ext cx="936460" cy="304800"/>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46" name="Line 49">
              <a:extLst>
                <a:ext uri="{FF2B5EF4-FFF2-40B4-BE49-F238E27FC236}">
                  <a16:creationId xmlns:a16="http://schemas.microsoft.com/office/drawing/2014/main" id="{2B88A437-576A-40BE-A4AF-E41993C5FADF}"/>
                </a:ext>
              </a:extLst>
            </p:cNvPr>
            <p:cNvSpPr>
              <a:spLocks noChangeShapeType="1"/>
            </p:cNvSpPr>
            <p:nvPr/>
          </p:nvSpPr>
          <p:spPr bwMode="auto">
            <a:xfrm>
              <a:off x="5887414" y="4989513"/>
              <a:ext cx="624307" cy="0"/>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47" name="Text Box 50">
              <a:extLst>
                <a:ext uri="{FF2B5EF4-FFF2-40B4-BE49-F238E27FC236}">
                  <a16:creationId xmlns:a16="http://schemas.microsoft.com/office/drawing/2014/main" id="{77F4394E-3522-4CF4-9482-9200D1BD3DBE}"/>
                </a:ext>
              </a:extLst>
            </p:cNvPr>
            <p:cNvSpPr txBox="1">
              <a:spLocks noChangeArrowheads="1"/>
            </p:cNvSpPr>
            <p:nvPr/>
          </p:nvSpPr>
          <p:spPr bwMode="auto">
            <a:xfrm>
              <a:off x="6651540" y="4783138"/>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a:solidFill>
                    <a:srgbClr val="0000CC"/>
                  </a:solidFill>
                </a:rPr>
                <a:t>超滤膜</a:t>
              </a:r>
            </a:p>
          </p:txBody>
        </p:sp>
        <p:sp>
          <p:nvSpPr>
            <p:cNvPr id="183348" name="Rectangle 51">
              <a:extLst>
                <a:ext uri="{FF2B5EF4-FFF2-40B4-BE49-F238E27FC236}">
                  <a16:creationId xmlns:a16="http://schemas.microsoft.com/office/drawing/2014/main" id="{0439806D-537F-463E-A45D-2D7831429E9A}"/>
                </a:ext>
              </a:extLst>
            </p:cNvPr>
            <p:cNvSpPr>
              <a:spLocks noChangeArrowheads="1"/>
            </p:cNvSpPr>
            <p:nvPr/>
          </p:nvSpPr>
          <p:spPr bwMode="auto">
            <a:xfrm>
              <a:off x="3936455" y="5294313"/>
              <a:ext cx="78038" cy="76200"/>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49" name="Rectangle 52">
              <a:extLst>
                <a:ext uri="{FF2B5EF4-FFF2-40B4-BE49-F238E27FC236}">
                  <a16:creationId xmlns:a16="http://schemas.microsoft.com/office/drawing/2014/main" id="{2A094A47-3851-47E2-80FE-495F36C9B9E9}"/>
                </a:ext>
              </a:extLst>
            </p:cNvPr>
            <p:cNvSpPr>
              <a:spLocks noChangeArrowheads="1"/>
            </p:cNvSpPr>
            <p:nvPr/>
          </p:nvSpPr>
          <p:spPr bwMode="auto">
            <a:xfrm>
              <a:off x="4131551" y="5294313"/>
              <a:ext cx="78038" cy="76200"/>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50" name="Rectangle 53">
              <a:extLst>
                <a:ext uri="{FF2B5EF4-FFF2-40B4-BE49-F238E27FC236}">
                  <a16:creationId xmlns:a16="http://schemas.microsoft.com/office/drawing/2014/main" id="{01AAE8B5-7AA8-4E26-9ED6-1BD1DF9D30D2}"/>
                </a:ext>
              </a:extLst>
            </p:cNvPr>
            <p:cNvSpPr>
              <a:spLocks noChangeArrowheads="1"/>
            </p:cNvSpPr>
            <p:nvPr/>
          </p:nvSpPr>
          <p:spPr bwMode="auto">
            <a:xfrm>
              <a:off x="4346157" y="5294313"/>
              <a:ext cx="78038" cy="76200"/>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51" name="Rectangle 54">
              <a:extLst>
                <a:ext uri="{FF2B5EF4-FFF2-40B4-BE49-F238E27FC236}">
                  <a16:creationId xmlns:a16="http://schemas.microsoft.com/office/drawing/2014/main" id="{861BCEDD-5343-4C22-A861-08CFE64053F7}"/>
                </a:ext>
              </a:extLst>
            </p:cNvPr>
            <p:cNvSpPr>
              <a:spLocks noChangeArrowheads="1"/>
            </p:cNvSpPr>
            <p:nvPr/>
          </p:nvSpPr>
          <p:spPr bwMode="auto">
            <a:xfrm>
              <a:off x="4560762" y="5294313"/>
              <a:ext cx="78038" cy="76200"/>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52" name="Rectangle 55">
              <a:extLst>
                <a:ext uri="{FF2B5EF4-FFF2-40B4-BE49-F238E27FC236}">
                  <a16:creationId xmlns:a16="http://schemas.microsoft.com/office/drawing/2014/main" id="{732378D9-A16C-458B-9E39-DEE69304E4F4}"/>
                </a:ext>
              </a:extLst>
            </p:cNvPr>
            <p:cNvSpPr>
              <a:spLocks noChangeArrowheads="1"/>
            </p:cNvSpPr>
            <p:nvPr/>
          </p:nvSpPr>
          <p:spPr bwMode="auto">
            <a:xfrm>
              <a:off x="4775368" y="5294313"/>
              <a:ext cx="78038" cy="76200"/>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53" name="Rectangle 56">
              <a:extLst>
                <a:ext uri="{FF2B5EF4-FFF2-40B4-BE49-F238E27FC236}">
                  <a16:creationId xmlns:a16="http://schemas.microsoft.com/office/drawing/2014/main" id="{99E981E4-DC78-4C2C-AA7B-61F8021A1446}"/>
                </a:ext>
              </a:extLst>
            </p:cNvPr>
            <p:cNvSpPr>
              <a:spLocks noChangeArrowheads="1"/>
            </p:cNvSpPr>
            <p:nvPr/>
          </p:nvSpPr>
          <p:spPr bwMode="auto">
            <a:xfrm>
              <a:off x="3780379" y="5294313"/>
              <a:ext cx="1404690" cy="76200"/>
            </a:xfrm>
            <a:prstGeom prst="rect">
              <a:avLst/>
            </a:prstGeom>
            <a:solidFill>
              <a:srgbClr val="FF00FF"/>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183354" name="Line 57">
              <a:extLst>
                <a:ext uri="{FF2B5EF4-FFF2-40B4-BE49-F238E27FC236}">
                  <a16:creationId xmlns:a16="http://schemas.microsoft.com/office/drawing/2014/main" id="{8A5EB51A-F8A0-4B5A-A82E-CD009D2179BF}"/>
                </a:ext>
              </a:extLst>
            </p:cNvPr>
            <p:cNvSpPr>
              <a:spLocks noChangeShapeType="1"/>
            </p:cNvSpPr>
            <p:nvPr/>
          </p:nvSpPr>
          <p:spPr bwMode="auto">
            <a:xfrm>
              <a:off x="3955965" y="5256213"/>
              <a:ext cx="0" cy="1524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55" name="Line 58">
              <a:extLst>
                <a:ext uri="{FF2B5EF4-FFF2-40B4-BE49-F238E27FC236}">
                  <a16:creationId xmlns:a16="http://schemas.microsoft.com/office/drawing/2014/main" id="{FC0FDB7A-5297-46D8-9772-4CEE8C7F038B}"/>
                </a:ext>
              </a:extLst>
            </p:cNvPr>
            <p:cNvSpPr>
              <a:spLocks noChangeShapeType="1"/>
            </p:cNvSpPr>
            <p:nvPr/>
          </p:nvSpPr>
          <p:spPr bwMode="auto">
            <a:xfrm>
              <a:off x="4112042" y="5256213"/>
              <a:ext cx="0" cy="1524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56" name="Line 59">
              <a:extLst>
                <a:ext uri="{FF2B5EF4-FFF2-40B4-BE49-F238E27FC236}">
                  <a16:creationId xmlns:a16="http://schemas.microsoft.com/office/drawing/2014/main" id="{02564937-C20D-48A7-92E2-0453CA19E9C3}"/>
                </a:ext>
              </a:extLst>
            </p:cNvPr>
            <p:cNvSpPr>
              <a:spLocks noChangeShapeType="1"/>
            </p:cNvSpPr>
            <p:nvPr/>
          </p:nvSpPr>
          <p:spPr bwMode="auto">
            <a:xfrm>
              <a:off x="4268118" y="5256213"/>
              <a:ext cx="0" cy="1524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57" name="Line 60">
              <a:extLst>
                <a:ext uri="{FF2B5EF4-FFF2-40B4-BE49-F238E27FC236}">
                  <a16:creationId xmlns:a16="http://schemas.microsoft.com/office/drawing/2014/main" id="{5B8A2517-6F45-408E-8AFB-FA0085844709}"/>
                </a:ext>
              </a:extLst>
            </p:cNvPr>
            <p:cNvSpPr>
              <a:spLocks noChangeShapeType="1"/>
            </p:cNvSpPr>
            <p:nvPr/>
          </p:nvSpPr>
          <p:spPr bwMode="auto">
            <a:xfrm>
              <a:off x="4424195" y="5256213"/>
              <a:ext cx="0" cy="1524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58" name="Line 61">
              <a:extLst>
                <a:ext uri="{FF2B5EF4-FFF2-40B4-BE49-F238E27FC236}">
                  <a16:creationId xmlns:a16="http://schemas.microsoft.com/office/drawing/2014/main" id="{5D66AA49-7584-4ADD-90F6-26992BCBA4B3}"/>
                </a:ext>
              </a:extLst>
            </p:cNvPr>
            <p:cNvSpPr>
              <a:spLocks noChangeShapeType="1"/>
            </p:cNvSpPr>
            <p:nvPr/>
          </p:nvSpPr>
          <p:spPr bwMode="auto">
            <a:xfrm>
              <a:off x="4580272" y="5256213"/>
              <a:ext cx="0" cy="1524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59" name="Line 62">
              <a:extLst>
                <a:ext uri="{FF2B5EF4-FFF2-40B4-BE49-F238E27FC236}">
                  <a16:creationId xmlns:a16="http://schemas.microsoft.com/office/drawing/2014/main" id="{F8B92A92-7FB5-489E-87CB-5BFAEAC196F1}"/>
                </a:ext>
              </a:extLst>
            </p:cNvPr>
            <p:cNvSpPr>
              <a:spLocks noChangeShapeType="1"/>
            </p:cNvSpPr>
            <p:nvPr/>
          </p:nvSpPr>
          <p:spPr bwMode="auto">
            <a:xfrm>
              <a:off x="4736348" y="5256213"/>
              <a:ext cx="0" cy="1524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60" name="Line 63">
              <a:extLst>
                <a:ext uri="{FF2B5EF4-FFF2-40B4-BE49-F238E27FC236}">
                  <a16:creationId xmlns:a16="http://schemas.microsoft.com/office/drawing/2014/main" id="{6D4F03F9-933C-4FA0-93B1-4EDFDDBD5AEB}"/>
                </a:ext>
              </a:extLst>
            </p:cNvPr>
            <p:cNvSpPr>
              <a:spLocks noChangeShapeType="1"/>
            </p:cNvSpPr>
            <p:nvPr/>
          </p:nvSpPr>
          <p:spPr bwMode="auto">
            <a:xfrm>
              <a:off x="4892425" y="5256213"/>
              <a:ext cx="0" cy="1524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61" name="Line 64">
              <a:extLst>
                <a:ext uri="{FF2B5EF4-FFF2-40B4-BE49-F238E27FC236}">
                  <a16:creationId xmlns:a16="http://schemas.microsoft.com/office/drawing/2014/main" id="{2FD0C7DF-0626-4D06-B50C-66038455CC7E}"/>
                </a:ext>
              </a:extLst>
            </p:cNvPr>
            <p:cNvSpPr>
              <a:spLocks noChangeShapeType="1"/>
            </p:cNvSpPr>
            <p:nvPr/>
          </p:nvSpPr>
          <p:spPr bwMode="auto">
            <a:xfrm>
              <a:off x="5048502" y="5256213"/>
              <a:ext cx="0" cy="1524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3300" name="Text Box 3">
            <a:extLst>
              <a:ext uri="{FF2B5EF4-FFF2-40B4-BE49-F238E27FC236}">
                <a16:creationId xmlns:a16="http://schemas.microsoft.com/office/drawing/2014/main" id="{89ACEB2F-574D-472D-B13A-101AECCEF991}"/>
              </a:ext>
            </a:extLst>
          </p:cNvPr>
          <p:cNvSpPr txBox="1">
            <a:spLocks noChangeArrowheads="1"/>
          </p:cNvSpPr>
          <p:nvPr/>
        </p:nvSpPr>
        <p:spPr bwMode="auto">
          <a:xfrm>
            <a:off x="2300289" y="1054101"/>
            <a:ext cx="82327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10000"/>
              </a:lnSpc>
              <a:spcBef>
                <a:spcPct val="0"/>
              </a:spcBef>
              <a:buClrTx/>
              <a:buFontTx/>
              <a:buNone/>
            </a:pPr>
            <a:r>
              <a:rPr kumimoji="1" lang="zh-CN" altLang="en-US" sz="2400">
                <a:solidFill>
                  <a:schemeClr val="tx1"/>
                </a:solidFill>
              </a:rPr>
              <a:t>在一定的压力下，使蛋白质溶液在通过一定孔径的</a:t>
            </a:r>
          </a:p>
          <a:p>
            <a:pPr eaLnBrk="1" hangingPunct="1">
              <a:lnSpc>
                <a:spcPct val="110000"/>
              </a:lnSpc>
              <a:spcBef>
                <a:spcPct val="0"/>
              </a:spcBef>
              <a:buClrTx/>
              <a:buFontTx/>
              <a:buNone/>
            </a:pPr>
            <a:r>
              <a:rPr kumimoji="1" lang="zh-CN" altLang="en-US" sz="2400">
                <a:solidFill>
                  <a:schemeClr val="tx1"/>
                </a:solidFill>
              </a:rPr>
              <a:t>超滤膜时，小分子量物质滤过，而大分子量的蛋白质被</a:t>
            </a:r>
          </a:p>
          <a:p>
            <a:pPr eaLnBrk="1" hangingPunct="1">
              <a:lnSpc>
                <a:spcPct val="110000"/>
              </a:lnSpc>
              <a:spcBef>
                <a:spcPct val="0"/>
              </a:spcBef>
              <a:buClrTx/>
              <a:buFontTx/>
              <a:buNone/>
            </a:pPr>
            <a:r>
              <a:rPr kumimoji="1" lang="zh-CN" altLang="en-US" sz="2400">
                <a:solidFill>
                  <a:schemeClr val="tx1"/>
                </a:solidFill>
              </a:rPr>
              <a:t>截留，从而达到分离纯化的目的。</a:t>
            </a:r>
          </a:p>
        </p:txBody>
      </p:sp>
    </p:spTree>
  </p:cSld>
  <p:clrMapOvr>
    <a:masterClrMapping/>
  </p:clrMapOvr>
  <p:transition spd="slow">
    <p:circl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3">
            <a:extLst>
              <a:ext uri="{FF2B5EF4-FFF2-40B4-BE49-F238E27FC236}">
                <a16:creationId xmlns:a16="http://schemas.microsoft.com/office/drawing/2014/main" id="{12EAA49C-5B84-4676-887A-23CA3A1A0E0F}"/>
              </a:ext>
            </a:extLst>
          </p:cNvPr>
          <p:cNvSpPr>
            <a:spLocks noChangeArrowheads="1"/>
          </p:cNvSpPr>
          <p:nvPr/>
        </p:nvSpPr>
        <p:spPr bwMode="auto">
          <a:xfrm>
            <a:off x="3575050" y="1916114"/>
            <a:ext cx="4681538"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
                <a:srgbClr val="FF0000"/>
              </a:buClr>
              <a:buFont typeface="Wingdings" panose="05000000000000000000" pitchFamily="2" charset="2"/>
              <a:buChar char="u"/>
            </a:pPr>
            <a:r>
              <a:rPr kumimoji="1" lang="en-US" altLang="zh-CN" sz="3200">
                <a:solidFill>
                  <a:schemeClr val="tx1"/>
                </a:solidFill>
              </a:rPr>
              <a:t>  </a:t>
            </a:r>
            <a:r>
              <a:rPr kumimoji="1" lang="zh-CN" altLang="en-US" sz="3200">
                <a:solidFill>
                  <a:schemeClr val="tx1"/>
                </a:solidFill>
              </a:rPr>
              <a:t>盐析法</a:t>
            </a:r>
          </a:p>
          <a:p>
            <a:pPr eaLnBrk="1" hangingPunct="1">
              <a:spcBef>
                <a:spcPct val="0"/>
              </a:spcBef>
              <a:buClr>
                <a:srgbClr val="FF0000"/>
              </a:buClr>
              <a:buFont typeface="Wingdings" panose="05000000000000000000" pitchFamily="2" charset="2"/>
              <a:buChar char="u"/>
            </a:pPr>
            <a:endParaRPr kumimoji="1" lang="zh-CN" altLang="en-US" sz="3200">
              <a:solidFill>
                <a:schemeClr val="tx1"/>
              </a:solidFill>
            </a:endParaRPr>
          </a:p>
          <a:p>
            <a:pPr eaLnBrk="1" hangingPunct="1">
              <a:spcBef>
                <a:spcPct val="0"/>
              </a:spcBef>
              <a:buClr>
                <a:srgbClr val="FF0000"/>
              </a:buClr>
              <a:buFont typeface="Wingdings" panose="05000000000000000000" pitchFamily="2" charset="2"/>
              <a:buChar char="u"/>
            </a:pPr>
            <a:r>
              <a:rPr kumimoji="1" lang="zh-CN" altLang="en-US" sz="3200">
                <a:solidFill>
                  <a:schemeClr val="tx1"/>
                </a:solidFill>
              </a:rPr>
              <a:t>  有机溶剂沉淀法</a:t>
            </a:r>
          </a:p>
          <a:p>
            <a:pPr eaLnBrk="1" hangingPunct="1">
              <a:spcBef>
                <a:spcPct val="0"/>
              </a:spcBef>
              <a:buClr>
                <a:srgbClr val="FF0000"/>
              </a:buClr>
              <a:buFont typeface="Wingdings" panose="05000000000000000000" pitchFamily="2" charset="2"/>
              <a:buChar char="u"/>
            </a:pPr>
            <a:endParaRPr kumimoji="1" lang="zh-CN" altLang="en-US" sz="3200">
              <a:solidFill>
                <a:schemeClr val="tx1"/>
              </a:solidFill>
            </a:endParaRPr>
          </a:p>
          <a:p>
            <a:pPr eaLnBrk="1" hangingPunct="1">
              <a:spcBef>
                <a:spcPct val="0"/>
              </a:spcBef>
              <a:buClr>
                <a:srgbClr val="FF0000"/>
              </a:buClr>
              <a:buFont typeface="Wingdings" panose="05000000000000000000" pitchFamily="2" charset="2"/>
              <a:buChar char="u"/>
            </a:pPr>
            <a:r>
              <a:rPr kumimoji="1" lang="zh-CN" altLang="en-US" sz="3200">
                <a:solidFill>
                  <a:schemeClr val="tx1"/>
                </a:solidFill>
              </a:rPr>
              <a:t>  免疫沉淀法</a:t>
            </a:r>
          </a:p>
          <a:p>
            <a:pPr eaLnBrk="1" hangingPunct="1">
              <a:spcBef>
                <a:spcPct val="0"/>
              </a:spcBef>
              <a:buClrTx/>
              <a:buFontTx/>
              <a:buNone/>
            </a:pPr>
            <a:endParaRPr kumimoji="1" lang="zh-CN" altLang="en-US" sz="3200">
              <a:solidFill>
                <a:schemeClr val="tx1"/>
              </a:solidFill>
            </a:endParaRPr>
          </a:p>
          <a:p>
            <a:pPr eaLnBrk="1" hangingPunct="1">
              <a:spcBef>
                <a:spcPct val="0"/>
              </a:spcBef>
              <a:buClrTx/>
              <a:buFontTx/>
              <a:buNone/>
            </a:pPr>
            <a:endParaRPr kumimoji="1" lang="en-US" altLang="zh-CN" sz="3200">
              <a:solidFill>
                <a:schemeClr val="tx1"/>
              </a:solidFill>
            </a:endParaRPr>
          </a:p>
        </p:txBody>
      </p:sp>
      <p:sp>
        <p:nvSpPr>
          <p:cNvPr id="156675" name="Text Box 7">
            <a:extLst>
              <a:ext uri="{FF2B5EF4-FFF2-40B4-BE49-F238E27FC236}">
                <a16:creationId xmlns:a16="http://schemas.microsoft.com/office/drawing/2014/main" id="{D304DB1D-69FA-41EE-BF4B-A49535935A81}"/>
              </a:ext>
            </a:extLst>
          </p:cNvPr>
          <p:cNvSpPr txBox="1">
            <a:spLocks noChangeArrowheads="1"/>
          </p:cNvSpPr>
          <p:nvPr/>
        </p:nvSpPr>
        <p:spPr bwMode="auto">
          <a:xfrm>
            <a:off x="1774826" y="57151"/>
            <a:ext cx="6911975" cy="708025"/>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defRPr/>
            </a:pPr>
            <a:r>
              <a:rPr kumimoji="1" lang="zh-CN" altLang="en-US" sz="4000" dirty="0">
                <a:solidFill>
                  <a:schemeClr val="accent3"/>
                </a:solidFill>
              </a:rPr>
              <a:t>二</a:t>
            </a:r>
            <a:r>
              <a:rPr kumimoji="1" lang="zh-CN" altLang="en-US" sz="4000" dirty="0">
                <a:solidFill>
                  <a:schemeClr val="accent3"/>
                </a:solidFill>
                <a:latin typeface="Arial" panose="020B0604020202020204" pitchFamily="34" charset="0"/>
                <a:ea typeface="宋体" panose="02010600030101010101" pitchFamily="2" charset="-122"/>
              </a:rPr>
              <a:t>、</a:t>
            </a:r>
            <a:r>
              <a:rPr kumimoji="1" lang="zh-CN" altLang="en-US" sz="4000" dirty="0">
                <a:solidFill>
                  <a:schemeClr val="accent3"/>
                </a:solidFill>
              </a:rPr>
              <a:t>沉淀</a:t>
            </a:r>
            <a:r>
              <a:rPr kumimoji="1" lang="zh-CN" altLang="en-US" sz="4000" dirty="0">
                <a:solidFill>
                  <a:schemeClr val="accent3"/>
                </a:solidFill>
                <a:ea typeface="宋体" panose="02010600030101010101" pitchFamily="2" charset="-122"/>
              </a:rPr>
              <a:t>（</a:t>
            </a:r>
            <a:r>
              <a:rPr kumimoji="1" lang="en-US" altLang="zh-CN" sz="4000" dirty="0">
                <a:solidFill>
                  <a:schemeClr val="accent3"/>
                </a:solidFill>
                <a:ea typeface="宋体" panose="02010600030101010101" pitchFamily="2" charset="-122"/>
              </a:rPr>
              <a:t>precipitation</a:t>
            </a:r>
            <a:r>
              <a:rPr kumimoji="1" lang="zh-CN" altLang="en-US" sz="4000" dirty="0">
                <a:solidFill>
                  <a:schemeClr val="accent3"/>
                </a:solidFill>
                <a:ea typeface="宋体" panose="02010600030101010101" pitchFamily="2" charset="-122"/>
              </a:rPr>
              <a:t>）</a:t>
            </a:r>
            <a:r>
              <a:rPr kumimoji="1" lang="zh-CN" altLang="en-US" sz="4000" dirty="0">
                <a:solidFill>
                  <a:schemeClr val="accent3"/>
                </a:solidFill>
              </a:rPr>
              <a:t> </a:t>
            </a:r>
          </a:p>
        </p:txBody>
      </p:sp>
    </p:spTree>
  </p:cSld>
  <p:clrMapOvr>
    <a:masterClrMapping/>
  </p:clrMapOvr>
  <p:transition spd="slow">
    <p:circl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9" name="Rectangle 3">
            <a:extLst>
              <a:ext uri="{FF2B5EF4-FFF2-40B4-BE49-F238E27FC236}">
                <a16:creationId xmlns:a16="http://schemas.microsoft.com/office/drawing/2014/main" id="{9F4F1F8B-F9D3-4EBC-B21B-85F28F519E89}"/>
              </a:ext>
            </a:extLst>
          </p:cNvPr>
          <p:cNvSpPr>
            <a:spLocks noChangeArrowheads="1"/>
          </p:cNvSpPr>
          <p:nvPr/>
        </p:nvSpPr>
        <p:spPr bwMode="auto">
          <a:xfrm>
            <a:off x="2063750" y="1700214"/>
            <a:ext cx="7920038"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20000"/>
              </a:lnSpc>
              <a:buFont typeface="Wingdings" panose="05000000000000000000" pitchFamily="2" charset="2"/>
              <a:buNone/>
            </a:pPr>
            <a:r>
              <a:rPr lang="zh-CN" altLang="en-US" dirty="0">
                <a:solidFill>
                  <a:srgbClr val="006600"/>
                </a:solidFill>
              </a:rPr>
              <a:t>定   义：</a:t>
            </a:r>
            <a:r>
              <a:rPr lang="zh-CN" altLang="en-US" dirty="0">
                <a:solidFill>
                  <a:schemeClr val="tx1"/>
                </a:solidFill>
              </a:rPr>
              <a:t>加入大量中性盐以破坏</a:t>
            </a:r>
            <a:r>
              <a:rPr lang="en-US" altLang="zh-CN" dirty="0" err="1">
                <a:solidFill>
                  <a:schemeClr val="tx1"/>
                </a:solidFill>
              </a:rPr>
              <a:t>Pr</a:t>
            </a:r>
            <a:r>
              <a:rPr lang="zh-CN" altLang="en-US" dirty="0">
                <a:solidFill>
                  <a:schemeClr val="tx1"/>
                </a:solidFill>
              </a:rPr>
              <a:t>的稳定因素并</a:t>
            </a:r>
          </a:p>
          <a:p>
            <a:pPr algn="just" eaLnBrk="1" hangingPunct="1">
              <a:lnSpc>
                <a:spcPct val="120000"/>
              </a:lnSpc>
              <a:buFont typeface="Wingdings" panose="05000000000000000000" pitchFamily="2" charset="2"/>
              <a:buNone/>
            </a:pPr>
            <a:r>
              <a:rPr lang="zh-CN" altLang="en-US" dirty="0">
                <a:solidFill>
                  <a:schemeClr val="tx1"/>
                </a:solidFill>
              </a:rPr>
              <a:t>                  使从溶液中沉淀析出的现象。</a:t>
            </a:r>
          </a:p>
          <a:p>
            <a:pPr algn="just" eaLnBrk="1" hangingPunct="1">
              <a:lnSpc>
                <a:spcPct val="120000"/>
              </a:lnSpc>
              <a:buFont typeface="Wingdings" panose="05000000000000000000" pitchFamily="2" charset="2"/>
              <a:buNone/>
            </a:pPr>
            <a:r>
              <a:rPr lang="zh-CN" altLang="en-US" dirty="0">
                <a:solidFill>
                  <a:srgbClr val="006600"/>
                </a:solidFill>
              </a:rPr>
              <a:t>原    理</a:t>
            </a:r>
            <a:r>
              <a:rPr lang="en-US" altLang="zh-CN" dirty="0">
                <a:solidFill>
                  <a:srgbClr val="006600"/>
                </a:solidFill>
              </a:rPr>
              <a:t>:</a:t>
            </a:r>
            <a:r>
              <a:rPr lang="en-US" altLang="zh-CN" dirty="0">
                <a:solidFill>
                  <a:schemeClr val="tx1"/>
                </a:solidFill>
              </a:rPr>
              <a:t>  </a:t>
            </a:r>
            <a:r>
              <a:rPr lang="zh-CN" altLang="en-US" dirty="0">
                <a:solidFill>
                  <a:schemeClr val="tx1"/>
                </a:solidFill>
              </a:rPr>
              <a:t>破坏</a:t>
            </a:r>
            <a:r>
              <a:rPr lang="en-US" altLang="zh-CN" dirty="0" err="1">
                <a:solidFill>
                  <a:schemeClr val="tx1"/>
                </a:solidFill>
              </a:rPr>
              <a:t>Pr</a:t>
            </a:r>
            <a:r>
              <a:rPr lang="zh-CN" altLang="en-US" dirty="0">
                <a:solidFill>
                  <a:schemeClr val="tx1"/>
                </a:solidFill>
              </a:rPr>
              <a:t>两个稳定因素：水化膜和电荷层</a:t>
            </a:r>
          </a:p>
          <a:p>
            <a:pPr algn="just" eaLnBrk="1" hangingPunct="1">
              <a:lnSpc>
                <a:spcPct val="120000"/>
              </a:lnSpc>
              <a:buFont typeface="Wingdings" panose="05000000000000000000" pitchFamily="2" charset="2"/>
              <a:buNone/>
            </a:pPr>
            <a:r>
              <a:rPr lang="zh-CN" altLang="en-US" dirty="0">
                <a:solidFill>
                  <a:srgbClr val="006600"/>
                </a:solidFill>
              </a:rPr>
              <a:t>中性盐：</a:t>
            </a:r>
            <a:r>
              <a:rPr lang="en-US" altLang="zh-CN" dirty="0">
                <a:solidFill>
                  <a:schemeClr val="tx1"/>
                </a:solidFill>
              </a:rPr>
              <a:t>(NH</a:t>
            </a:r>
            <a:r>
              <a:rPr lang="en-US" altLang="zh-CN" baseline="-25000" dirty="0">
                <a:solidFill>
                  <a:schemeClr val="tx1"/>
                </a:solidFill>
              </a:rPr>
              <a:t>4</a:t>
            </a:r>
            <a:r>
              <a:rPr lang="en-US" altLang="zh-CN" dirty="0">
                <a:solidFill>
                  <a:schemeClr val="tx1"/>
                </a:solidFill>
              </a:rPr>
              <a:t>)</a:t>
            </a:r>
            <a:r>
              <a:rPr lang="en-US" altLang="zh-CN" baseline="-25000" dirty="0">
                <a:solidFill>
                  <a:schemeClr val="tx1"/>
                </a:solidFill>
              </a:rPr>
              <a:t>2</a:t>
            </a:r>
            <a:r>
              <a:rPr lang="en-US" altLang="zh-CN" dirty="0">
                <a:solidFill>
                  <a:schemeClr val="tx1"/>
                </a:solidFill>
              </a:rPr>
              <a:t>SO</a:t>
            </a:r>
            <a:r>
              <a:rPr lang="en-US" altLang="zh-CN" baseline="-25000" dirty="0">
                <a:solidFill>
                  <a:schemeClr val="tx1"/>
                </a:solidFill>
              </a:rPr>
              <a:t>4</a:t>
            </a:r>
            <a:r>
              <a:rPr lang="zh-CN" altLang="en-US" dirty="0">
                <a:solidFill>
                  <a:schemeClr val="tx1"/>
                </a:solidFill>
              </a:rPr>
              <a:t>；</a:t>
            </a:r>
            <a:r>
              <a:rPr lang="en-US" altLang="zh-CN" dirty="0">
                <a:solidFill>
                  <a:schemeClr val="tx1"/>
                </a:solidFill>
              </a:rPr>
              <a:t>Na</a:t>
            </a:r>
            <a:r>
              <a:rPr lang="en-US" altLang="zh-CN" baseline="-25000" dirty="0">
                <a:solidFill>
                  <a:schemeClr val="tx1"/>
                </a:solidFill>
              </a:rPr>
              <a:t>2</a:t>
            </a:r>
            <a:r>
              <a:rPr lang="en-US" altLang="zh-CN" dirty="0">
                <a:solidFill>
                  <a:schemeClr val="tx1"/>
                </a:solidFill>
              </a:rPr>
              <a:t>SO</a:t>
            </a:r>
            <a:r>
              <a:rPr lang="en-US" altLang="zh-CN" baseline="-25000" dirty="0">
                <a:solidFill>
                  <a:schemeClr val="tx1"/>
                </a:solidFill>
              </a:rPr>
              <a:t>4</a:t>
            </a:r>
            <a:r>
              <a:rPr lang="zh-CN" altLang="en-US" dirty="0">
                <a:solidFill>
                  <a:schemeClr val="tx1"/>
                </a:solidFill>
              </a:rPr>
              <a:t>；</a:t>
            </a:r>
            <a:r>
              <a:rPr lang="en-US" altLang="zh-CN" dirty="0">
                <a:solidFill>
                  <a:schemeClr val="tx1"/>
                </a:solidFill>
              </a:rPr>
              <a:t>NaCl</a:t>
            </a:r>
            <a:r>
              <a:rPr lang="zh-CN" altLang="en-US" dirty="0">
                <a:solidFill>
                  <a:schemeClr val="tx1"/>
                </a:solidFill>
              </a:rPr>
              <a:t>等</a:t>
            </a:r>
          </a:p>
          <a:p>
            <a:pPr algn="just" eaLnBrk="1" hangingPunct="1">
              <a:lnSpc>
                <a:spcPct val="120000"/>
              </a:lnSpc>
              <a:buFont typeface="Wingdings" panose="05000000000000000000" pitchFamily="2" charset="2"/>
              <a:buNone/>
            </a:pPr>
            <a:r>
              <a:rPr lang="zh-CN" altLang="en-US" dirty="0">
                <a:solidFill>
                  <a:srgbClr val="006600"/>
                </a:solidFill>
              </a:rPr>
              <a:t>优    点：</a:t>
            </a:r>
            <a:r>
              <a:rPr lang="en-US" altLang="zh-CN" dirty="0" err="1">
                <a:solidFill>
                  <a:srgbClr val="FF0000"/>
                </a:solidFill>
              </a:rPr>
              <a:t>Pr</a:t>
            </a:r>
            <a:r>
              <a:rPr lang="zh-CN" altLang="en-US" dirty="0">
                <a:solidFill>
                  <a:srgbClr val="FF0000"/>
                </a:solidFill>
              </a:rPr>
              <a:t>不变性</a:t>
            </a:r>
            <a:r>
              <a:rPr lang="zh-CN" altLang="en-US" dirty="0">
                <a:solidFill>
                  <a:schemeClr val="tx1"/>
                </a:solidFill>
              </a:rPr>
              <a:t>，常用</a:t>
            </a:r>
          </a:p>
        </p:txBody>
      </p:sp>
      <p:sp>
        <p:nvSpPr>
          <p:cNvPr id="2" name="标题 1">
            <a:extLst>
              <a:ext uri="{FF2B5EF4-FFF2-40B4-BE49-F238E27FC236}">
                <a16:creationId xmlns:a16="http://schemas.microsoft.com/office/drawing/2014/main" id="{F2906C08-A9E7-4C6E-B20C-B0C4568F5999}"/>
              </a:ext>
            </a:extLst>
          </p:cNvPr>
          <p:cNvSpPr>
            <a:spLocks noGrp="1"/>
          </p:cNvSpPr>
          <p:nvPr>
            <p:ph type="title"/>
          </p:nvPr>
        </p:nvSpPr>
        <p:spPr>
          <a:xfrm>
            <a:off x="2392363" y="188913"/>
            <a:ext cx="6007100" cy="563562"/>
          </a:xfrm>
        </p:spPr>
        <p:txBody>
          <a:bodyPr/>
          <a:lstStyle/>
          <a:p>
            <a:pPr>
              <a:defRPr/>
            </a:pPr>
            <a:r>
              <a:rPr kumimoji="1" lang="zh-CN" altLang="en-US" sz="4000" dirty="0">
                <a:solidFill>
                  <a:schemeClr val="accent3"/>
                </a:solidFill>
              </a:rPr>
              <a:t>盐析法（</a:t>
            </a:r>
            <a:r>
              <a:rPr kumimoji="1" lang="en-US" altLang="zh-CN" sz="4000" dirty="0">
                <a:solidFill>
                  <a:schemeClr val="accent3"/>
                </a:solidFill>
              </a:rPr>
              <a:t>sorting out)</a:t>
            </a:r>
            <a:endParaRPr lang="zh-CN" altLang="en-US" sz="4000" dirty="0">
              <a:solidFill>
                <a:schemeClr val="accent3"/>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20899">
                                            <p:txEl>
                                              <p:pRg st="0" end="0"/>
                                            </p:txEl>
                                          </p:spTgt>
                                        </p:tgtEl>
                                        <p:attrNameLst>
                                          <p:attrName>style.visibility</p:attrName>
                                        </p:attrNameLst>
                                      </p:cBhvr>
                                      <p:to>
                                        <p:strVal val="visible"/>
                                      </p:to>
                                    </p:set>
                                    <p:animEffect transition="in" filter="box(in)">
                                      <p:cBhvr>
                                        <p:cTn id="7" dur="500"/>
                                        <p:tgtEl>
                                          <p:spTgt spid="720899">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720899">
                                            <p:txEl>
                                              <p:pRg st="1" end="1"/>
                                            </p:txEl>
                                          </p:spTgt>
                                        </p:tgtEl>
                                        <p:attrNameLst>
                                          <p:attrName>style.visibility</p:attrName>
                                        </p:attrNameLst>
                                      </p:cBhvr>
                                      <p:to>
                                        <p:strVal val="visible"/>
                                      </p:to>
                                    </p:set>
                                    <p:animEffect transition="in" filter="box(in)">
                                      <p:cBhvr>
                                        <p:cTn id="10" dur="500"/>
                                        <p:tgtEl>
                                          <p:spTgt spid="72089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720899">
                                            <p:txEl>
                                              <p:pRg st="2" end="2"/>
                                            </p:txEl>
                                          </p:spTgt>
                                        </p:tgtEl>
                                        <p:attrNameLst>
                                          <p:attrName>style.visibility</p:attrName>
                                        </p:attrNameLst>
                                      </p:cBhvr>
                                      <p:to>
                                        <p:strVal val="visible"/>
                                      </p:to>
                                    </p:set>
                                    <p:animEffect transition="in" filter="box(in)">
                                      <p:cBhvr>
                                        <p:cTn id="15" dur="500"/>
                                        <p:tgtEl>
                                          <p:spTgt spid="72089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720899">
                                            <p:txEl>
                                              <p:pRg st="3" end="3"/>
                                            </p:txEl>
                                          </p:spTgt>
                                        </p:tgtEl>
                                        <p:attrNameLst>
                                          <p:attrName>style.visibility</p:attrName>
                                        </p:attrNameLst>
                                      </p:cBhvr>
                                      <p:to>
                                        <p:strVal val="visible"/>
                                      </p:to>
                                    </p:set>
                                    <p:animEffect transition="in" filter="box(in)">
                                      <p:cBhvr>
                                        <p:cTn id="20" dur="500"/>
                                        <p:tgtEl>
                                          <p:spTgt spid="720899">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720899">
                                            <p:txEl>
                                              <p:pRg st="4" end="4"/>
                                            </p:txEl>
                                          </p:spTgt>
                                        </p:tgtEl>
                                        <p:attrNameLst>
                                          <p:attrName>style.visibility</p:attrName>
                                        </p:attrNameLst>
                                      </p:cBhvr>
                                      <p:to>
                                        <p:strVal val="visible"/>
                                      </p:to>
                                    </p:set>
                                    <p:animEffect transition="in" filter="box(in)">
                                      <p:cBhvr>
                                        <p:cTn id="25" dur="500"/>
                                        <p:tgtEl>
                                          <p:spTgt spid="7208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E6FEC1-7C93-4930-BD78-7FC8F95B195E}"/>
              </a:ext>
            </a:extLst>
          </p:cNvPr>
          <p:cNvSpPr>
            <a:spLocks noGrp="1"/>
          </p:cNvSpPr>
          <p:nvPr>
            <p:ph type="title"/>
          </p:nvPr>
        </p:nvSpPr>
        <p:spPr>
          <a:xfrm>
            <a:off x="1703388" y="188913"/>
            <a:ext cx="6985000" cy="563562"/>
          </a:xfrm>
        </p:spPr>
        <p:txBody>
          <a:bodyPr/>
          <a:lstStyle/>
          <a:p>
            <a:pPr>
              <a:defRPr/>
            </a:pPr>
            <a:r>
              <a:rPr lang="zh-CN" altLang="en-US" dirty="0">
                <a:solidFill>
                  <a:schemeClr val="accent3"/>
                </a:solidFill>
              </a:rPr>
              <a:t>有机溶剂沉淀法</a:t>
            </a:r>
          </a:p>
        </p:txBody>
      </p:sp>
      <p:sp>
        <p:nvSpPr>
          <p:cNvPr id="722946" name="Rectangle 2">
            <a:extLst>
              <a:ext uri="{FF2B5EF4-FFF2-40B4-BE49-F238E27FC236}">
                <a16:creationId xmlns:a16="http://schemas.microsoft.com/office/drawing/2014/main" id="{173CE2E3-B50B-4973-B64B-6D6EEADD6901}"/>
              </a:ext>
            </a:extLst>
          </p:cNvPr>
          <p:cNvSpPr>
            <a:spLocks noGrp="1" noChangeArrowheads="1"/>
          </p:cNvSpPr>
          <p:nvPr>
            <p:ph type="body" idx="4294967295"/>
          </p:nvPr>
        </p:nvSpPr>
        <p:spPr>
          <a:xfrm>
            <a:off x="1487488" y="1268412"/>
            <a:ext cx="9433172" cy="5400675"/>
          </a:xfrm>
        </p:spPr>
        <p:txBody>
          <a:bodyPr/>
          <a:lstStyle/>
          <a:p>
            <a:pPr algn="just" eaLnBrk="1" hangingPunct="1">
              <a:lnSpc>
                <a:spcPct val="110000"/>
              </a:lnSpc>
              <a:buFont typeface="Wingdings" panose="05000000000000000000" pitchFamily="2" charset="2"/>
              <a:buNone/>
              <a:defRPr/>
            </a:pPr>
            <a:r>
              <a:rPr lang="zh-CN" altLang="en-US" dirty="0">
                <a:solidFill>
                  <a:srgbClr val="006600"/>
                </a:solidFill>
              </a:rPr>
              <a:t>试剂： </a:t>
            </a:r>
            <a:r>
              <a:rPr lang="zh-CN" altLang="en-US" dirty="0">
                <a:solidFill>
                  <a:srgbClr val="FF0000"/>
                </a:solidFill>
              </a:rPr>
              <a:t>丙酮</a:t>
            </a:r>
            <a:r>
              <a:rPr lang="zh-CN" altLang="en-US" dirty="0">
                <a:solidFill>
                  <a:schemeClr val="tx1"/>
                </a:solidFill>
              </a:rPr>
              <a:t>、乙醇、甲醇等亲水溶剂</a:t>
            </a:r>
          </a:p>
          <a:p>
            <a:pPr algn="just" eaLnBrk="1" hangingPunct="1">
              <a:lnSpc>
                <a:spcPct val="110000"/>
              </a:lnSpc>
              <a:buFont typeface="Wingdings" panose="05000000000000000000" pitchFamily="2" charset="2"/>
              <a:buNone/>
              <a:defRPr/>
            </a:pPr>
            <a:r>
              <a:rPr lang="zh-CN" altLang="en-US" dirty="0">
                <a:solidFill>
                  <a:srgbClr val="006600"/>
                </a:solidFill>
              </a:rPr>
              <a:t>原理： </a:t>
            </a:r>
            <a:r>
              <a:rPr lang="zh-CN" altLang="en-US" dirty="0">
                <a:solidFill>
                  <a:schemeClr val="tx1"/>
                </a:solidFill>
              </a:rPr>
              <a:t>与</a:t>
            </a:r>
            <a:r>
              <a:rPr lang="en-US" altLang="zh-CN" dirty="0">
                <a:solidFill>
                  <a:schemeClr val="tx1"/>
                </a:solidFill>
              </a:rPr>
              <a:t>H</a:t>
            </a:r>
            <a:r>
              <a:rPr lang="en-US" altLang="zh-CN" baseline="-25000" dirty="0">
                <a:solidFill>
                  <a:schemeClr val="tx1"/>
                </a:solidFill>
              </a:rPr>
              <a:t>2</a:t>
            </a:r>
            <a:r>
              <a:rPr lang="en-US" altLang="zh-CN" dirty="0">
                <a:solidFill>
                  <a:schemeClr val="tx1"/>
                </a:solidFill>
              </a:rPr>
              <a:t>O</a:t>
            </a:r>
            <a:r>
              <a:rPr lang="zh-CN" altLang="en-US" dirty="0">
                <a:solidFill>
                  <a:schemeClr val="tx1"/>
                </a:solidFill>
              </a:rPr>
              <a:t>结合，破坏水化层</a:t>
            </a:r>
          </a:p>
          <a:p>
            <a:pPr marL="1077913" indent="-1077913" algn="just" eaLnBrk="1" hangingPunct="1">
              <a:lnSpc>
                <a:spcPct val="110000"/>
              </a:lnSpc>
              <a:buNone/>
              <a:defRPr/>
            </a:pPr>
            <a:r>
              <a:rPr lang="zh-CN" altLang="en-US" dirty="0">
                <a:solidFill>
                  <a:srgbClr val="006600"/>
                </a:solidFill>
              </a:rPr>
              <a:t>优点：</a:t>
            </a:r>
            <a:r>
              <a:rPr lang="zh-CN" altLang="en-US" dirty="0">
                <a:solidFill>
                  <a:schemeClr val="tx1"/>
                </a:solidFill>
              </a:rPr>
              <a:t>分辨率优于盐析法，能使某一</a:t>
            </a:r>
            <a:r>
              <a:rPr lang="en-US" altLang="zh-CN" dirty="0" err="1">
                <a:solidFill>
                  <a:schemeClr val="tx1"/>
                </a:solidFill>
              </a:rPr>
              <a:t>Pr</a:t>
            </a:r>
            <a:r>
              <a:rPr lang="zh-CN" altLang="en-US" dirty="0">
                <a:solidFill>
                  <a:schemeClr val="tx1"/>
                </a:solidFill>
              </a:rPr>
              <a:t>在狭小有机溶剂浓度范围内沉淀；  溶剂易挥发除去</a:t>
            </a:r>
          </a:p>
          <a:p>
            <a:pPr algn="just" eaLnBrk="1" hangingPunct="1">
              <a:lnSpc>
                <a:spcPct val="110000"/>
              </a:lnSpc>
              <a:buFont typeface="Wingdings" panose="05000000000000000000" pitchFamily="2" charset="2"/>
              <a:buNone/>
              <a:defRPr/>
            </a:pPr>
            <a:r>
              <a:rPr lang="zh-CN" altLang="en-US" dirty="0">
                <a:solidFill>
                  <a:srgbClr val="006600"/>
                </a:solidFill>
              </a:rPr>
              <a:t>缺点：</a:t>
            </a:r>
            <a:r>
              <a:rPr lang="zh-CN" altLang="en-US" dirty="0">
                <a:solidFill>
                  <a:schemeClr val="tx1"/>
                </a:solidFill>
              </a:rPr>
              <a:t>易使</a:t>
            </a:r>
            <a:r>
              <a:rPr lang="en-US" altLang="zh-CN" dirty="0" err="1">
                <a:solidFill>
                  <a:schemeClr val="tx1"/>
                </a:solidFill>
              </a:rPr>
              <a:t>Pr</a:t>
            </a:r>
            <a:r>
              <a:rPr lang="zh-CN" altLang="en-US" dirty="0">
                <a:solidFill>
                  <a:schemeClr val="tx1"/>
                </a:solidFill>
              </a:rPr>
              <a:t>变性</a:t>
            </a:r>
          </a:p>
          <a:p>
            <a:pPr marL="1077913" indent="-1077913" algn="just" eaLnBrk="1" hangingPunct="1">
              <a:lnSpc>
                <a:spcPct val="110000"/>
              </a:lnSpc>
              <a:buNone/>
              <a:defRPr/>
            </a:pPr>
            <a:r>
              <a:rPr lang="zh-CN" altLang="en-US" dirty="0">
                <a:solidFill>
                  <a:srgbClr val="006600"/>
                </a:solidFill>
              </a:rPr>
              <a:t>应用：</a:t>
            </a:r>
            <a:r>
              <a:rPr lang="en-US" altLang="zh-CN" dirty="0" err="1">
                <a:solidFill>
                  <a:schemeClr val="tx1"/>
                </a:solidFill>
              </a:rPr>
              <a:t>pI</a:t>
            </a:r>
            <a:r>
              <a:rPr lang="zh-CN" altLang="en-US" dirty="0">
                <a:solidFill>
                  <a:schemeClr val="tx1"/>
                </a:solidFill>
              </a:rPr>
              <a:t>沉淀</a:t>
            </a:r>
            <a:r>
              <a:rPr lang="en-US" altLang="zh-CN" dirty="0" err="1">
                <a:solidFill>
                  <a:schemeClr val="tx1"/>
                </a:solidFill>
              </a:rPr>
              <a:t>Pr</a:t>
            </a:r>
            <a:r>
              <a:rPr lang="zh-CN" altLang="en-US" dirty="0">
                <a:solidFill>
                  <a:schemeClr val="tx1"/>
                </a:solidFill>
              </a:rPr>
              <a:t>。调节溶液</a:t>
            </a:r>
            <a:r>
              <a:rPr lang="en-US" altLang="zh-CN" dirty="0">
                <a:solidFill>
                  <a:schemeClr val="tx1"/>
                </a:solidFill>
              </a:rPr>
              <a:t>pH</a:t>
            </a:r>
            <a:r>
              <a:rPr lang="zh-CN" altLang="en-US" dirty="0">
                <a:solidFill>
                  <a:schemeClr val="tx1"/>
                </a:solidFill>
              </a:rPr>
              <a:t>到某</a:t>
            </a:r>
            <a:r>
              <a:rPr lang="en-US" altLang="zh-CN" dirty="0" err="1">
                <a:solidFill>
                  <a:schemeClr val="tx1"/>
                </a:solidFill>
              </a:rPr>
              <a:t>Pr</a:t>
            </a:r>
            <a:r>
              <a:rPr lang="zh-CN" altLang="en-US" dirty="0">
                <a:solidFill>
                  <a:schemeClr val="tx1"/>
                </a:solidFill>
              </a:rPr>
              <a:t>的</a:t>
            </a:r>
            <a:r>
              <a:rPr lang="en-US" altLang="zh-CN" dirty="0" err="1">
                <a:solidFill>
                  <a:schemeClr val="tx1"/>
                </a:solidFill>
              </a:rPr>
              <a:t>pI</a:t>
            </a:r>
            <a:r>
              <a:rPr lang="zh-CN" altLang="en-US" dirty="0">
                <a:solidFill>
                  <a:schemeClr val="tx1"/>
                </a:solidFill>
              </a:rPr>
              <a:t>，加上丙酮破坏水化膜，</a:t>
            </a:r>
            <a:r>
              <a:rPr lang="en-US" altLang="zh-CN" dirty="0" err="1">
                <a:solidFill>
                  <a:schemeClr val="tx1"/>
                </a:solidFill>
              </a:rPr>
              <a:t>Pr</a:t>
            </a:r>
            <a:r>
              <a:rPr lang="zh-CN" altLang="en-US" dirty="0">
                <a:solidFill>
                  <a:schemeClr val="tx1"/>
                </a:solidFill>
              </a:rPr>
              <a:t>沉淀。</a:t>
            </a:r>
          </a:p>
          <a:p>
            <a:pPr algn="just" eaLnBrk="1" hangingPunct="1">
              <a:lnSpc>
                <a:spcPct val="110000"/>
              </a:lnSpc>
              <a:buFont typeface="Wingdings" panose="05000000000000000000" pitchFamily="2" charset="2"/>
              <a:buNone/>
              <a:defRPr/>
            </a:pPr>
            <a:r>
              <a:rPr lang="zh-CN" altLang="en-US" dirty="0">
                <a:solidFill>
                  <a:srgbClr val="006600"/>
                </a:solidFill>
              </a:rPr>
              <a:t>注意：</a:t>
            </a:r>
            <a:r>
              <a:rPr lang="zh-CN" altLang="en-US" dirty="0">
                <a:solidFill>
                  <a:schemeClr val="tx1"/>
                </a:solidFill>
              </a:rPr>
              <a:t>防止</a:t>
            </a:r>
            <a:r>
              <a:rPr lang="en-US" altLang="zh-CN" dirty="0" err="1">
                <a:solidFill>
                  <a:schemeClr val="tx1"/>
                </a:solidFill>
              </a:rPr>
              <a:t>Pr</a:t>
            </a:r>
            <a:r>
              <a:rPr lang="zh-CN" altLang="en-US" dirty="0">
                <a:solidFill>
                  <a:schemeClr val="tx1"/>
                </a:solidFill>
              </a:rPr>
              <a:t>在分离过程中发生变性：①</a:t>
            </a:r>
            <a:r>
              <a:rPr lang="en-US" altLang="zh-CN" dirty="0">
                <a:solidFill>
                  <a:schemeClr val="tx1">
                    <a:lumMod val="60000"/>
                    <a:lumOff val="40000"/>
                  </a:schemeClr>
                </a:solidFill>
              </a:rPr>
              <a:t>0</a:t>
            </a:r>
            <a:r>
              <a:rPr lang="zh-CN" altLang="en-US" dirty="0">
                <a:solidFill>
                  <a:schemeClr val="tx1">
                    <a:lumMod val="60000"/>
                    <a:lumOff val="40000"/>
                  </a:schemeClr>
                </a:solidFill>
              </a:rPr>
              <a:t>－</a:t>
            </a:r>
            <a:r>
              <a:rPr lang="en-US" altLang="zh-CN" dirty="0">
                <a:solidFill>
                  <a:schemeClr val="tx1">
                    <a:lumMod val="60000"/>
                    <a:lumOff val="40000"/>
                  </a:schemeClr>
                </a:solidFill>
              </a:rPr>
              <a:t>4 ℃</a:t>
            </a:r>
            <a:r>
              <a:rPr lang="zh-CN" altLang="en-US" dirty="0">
                <a:solidFill>
                  <a:schemeClr val="tx1">
                    <a:lumMod val="60000"/>
                    <a:lumOff val="40000"/>
                  </a:schemeClr>
                </a:solidFill>
              </a:rPr>
              <a:t>下进行</a:t>
            </a:r>
            <a:r>
              <a:rPr lang="zh-CN" altLang="en-US" dirty="0">
                <a:solidFill>
                  <a:schemeClr val="tx1"/>
                </a:solidFill>
              </a:rPr>
              <a:t>；②有机溶剂浓度不能太高，</a:t>
            </a:r>
            <a:r>
              <a:rPr lang="en-US" altLang="zh-CN" dirty="0" err="1">
                <a:solidFill>
                  <a:schemeClr val="tx1"/>
                </a:solidFill>
              </a:rPr>
              <a:t>Pr</a:t>
            </a:r>
            <a:r>
              <a:rPr lang="zh-CN" altLang="en-US" dirty="0">
                <a:solidFill>
                  <a:schemeClr val="tx1"/>
                </a:solidFill>
              </a:rPr>
              <a:t>沉淀后立即分离</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0" fill="hold">
                                          <p:stCondLst>
                                            <p:cond delay="0"/>
                                          </p:stCondLst>
                                        </p:cTn>
                                        <p:tgtEl>
                                          <p:spTgt spid="722946">
                                            <p:txEl>
                                              <p:pRg st="0" end="0"/>
                                            </p:txEl>
                                          </p:spTgt>
                                        </p:tgtEl>
                                        <p:attrNameLst>
                                          <p:attrName>style.visibility</p:attrName>
                                        </p:attrNameLst>
                                      </p:cBhvr>
                                      <p:to>
                                        <p:strVal val="visible"/>
                                      </p:to>
                                    </p:set>
                                    <p:animEffect transition="in" filter="fade">
                                      <p:cBhvr>
                                        <p:cTn id="7" dur="500"/>
                                        <p:tgtEl>
                                          <p:spTgt spid="722946">
                                            <p:txEl>
                                              <p:pRg st="0" end="0"/>
                                            </p:txEl>
                                          </p:spTgt>
                                        </p:tgtEl>
                                      </p:cBhvr>
                                    </p:animEffect>
                                    <p:anim calcmode="lin" valueType="num">
                                      <p:cBhvr>
                                        <p:cTn id="8" dur="500" fill="hold"/>
                                        <p:tgtEl>
                                          <p:spTgt spid="722946">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722946">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0" fill="hold">
                                          <p:stCondLst>
                                            <p:cond delay="0"/>
                                          </p:stCondLst>
                                        </p:cTn>
                                        <p:tgtEl>
                                          <p:spTgt spid="722946">
                                            <p:txEl>
                                              <p:pRg st="1" end="1"/>
                                            </p:txEl>
                                          </p:spTgt>
                                        </p:tgtEl>
                                        <p:attrNameLst>
                                          <p:attrName>style.visibility</p:attrName>
                                        </p:attrNameLst>
                                      </p:cBhvr>
                                      <p:to>
                                        <p:strVal val="visible"/>
                                      </p:to>
                                    </p:set>
                                    <p:animEffect transition="in" filter="fade">
                                      <p:cBhvr>
                                        <p:cTn id="14" dur="500"/>
                                        <p:tgtEl>
                                          <p:spTgt spid="722946">
                                            <p:txEl>
                                              <p:pRg st="1" end="1"/>
                                            </p:txEl>
                                          </p:spTgt>
                                        </p:tgtEl>
                                      </p:cBhvr>
                                    </p:animEffect>
                                    <p:anim calcmode="lin" valueType="num">
                                      <p:cBhvr>
                                        <p:cTn id="15" dur="500" fill="hold"/>
                                        <p:tgtEl>
                                          <p:spTgt spid="722946">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722946">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0" fill="hold">
                                          <p:stCondLst>
                                            <p:cond delay="0"/>
                                          </p:stCondLst>
                                        </p:cTn>
                                        <p:tgtEl>
                                          <p:spTgt spid="722946">
                                            <p:txEl>
                                              <p:pRg st="2" end="2"/>
                                            </p:txEl>
                                          </p:spTgt>
                                        </p:tgtEl>
                                        <p:attrNameLst>
                                          <p:attrName>style.visibility</p:attrName>
                                        </p:attrNameLst>
                                      </p:cBhvr>
                                      <p:to>
                                        <p:strVal val="visible"/>
                                      </p:to>
                                    </p:set>
                                    <p:animEffect transition="in" filter="fade">
                                      <p:cBhvr>
                                        <p:cTn id="21" dur="500"/>
                                        <p:tgtEl>
                                          <p:spTgt spid="722946">
                                            <p:txEl>
                                              <p:pRg st="2" end="2"/>
                                            </p:txEl>
                                          </p:spTgt>
                                        </p:tgtEl>
                                      </p:cBhvr>
                                    </p:animEffect>
                                    <p:anim calcmode="lin" valueType="num">
                                      <p:cBhvr>
                                        <p:cTn id="22" dur="500" fill="hold"/>
                                        <p:tgtEl>
                                          <p:spTgt spid="722946">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722946">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0" fill="hold">
                                          <p:stCondLst>
                                            <p:cond delay="0"/>
                                          </p:stCondLst>
                                        </p:cTn>
                                        <p:tgtEl>
                                          <p:spTgt spid="722946">
                                            <p:txEl>
                                              <p:pRg st="3" end="3"/>
                                            </p:txEl>
                                          </p:spTgt>
                                        </p:tgtEl>
                                        <p:attrNameLst>
                                          <p:attrName>style.visibility</p:attrName>
                                        </p:attrNameLst>
                                      </p:cBhvr>
                                      <p:to>
                                        <p:strVal val="visible"/>
                                      </p:to>
                                    </p:set>
                                    <p:animEffect transition="in" filter="fade">
                                      <p:cBhvr>
                                        <p:cTn id="28" dur="500"/>
                                        <p:tgtEl>
                                          <p:spTgt spid="722946">
                                            <p:txEl>
                                              <p:pRg st="3" end="3"/>
                                            </p:txEl>
                                          </p:spTgt>
                                        </p:tgtEl>
                                      </p:cBhvr>
                                    </p:animEffect>
                                    <p:anim calcmode="lin" valueType="num">
                                      <p:cBhvr>
                                        <p:cTn id="29" dur="500" fill="hold"/>
                                        <p:tgtEl>
                                          <p:spTgt spid="722946">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722946">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0" fill="hold">
                                          <p:stCondLst>
                                            <p:cond delay="0"/>
                                          </p:stCondLst>
                                        </p:cTn>
                                        <p:tgtEl>
                                          <p:spTgt spid="722946">
                                            <p:txEl>
                                              <p:pRg st="4" end="4"/>
                                            </p:txEl>
                                          </p:spTgt>
                                        </p:tgtEl>
                                        <p:attrNameLst>
                                          <p:attrName>style.visibility</p:attrName>
                                        </p:attrNameLst>
                                      </p:cBhvr>
                                      <p:to>
                                        <p:strVal val="visible"/>
                                      </p:to>
                                    </p:set>
                                    <p:animEffect transition="in" filter="fade">
                                      <p:cBhvr>
                                        <p:cTn id="35" dur="500"/>
                                        <p:tgtEl>
                                          <p:spTgt spid="722946">
                                            <p:txEl>
                                              <p:pRg st="4" end="4"/>
                                            </p:txEl>
                                          </p:spTgt>
                                        </p:tgtEl>
                                      </p:cBhvr>
                                    </p:animEffect>
                                    <p:anim calcmode="lin" valueType="num">
                                      <p:cBhvr>
                                        <p:cTn id="36" dur="500" fill="hold"/>
                                        <p:tgtEl>
                                          <p:spTgt spid="722946">
                                            <p:txEl>
                                              <p:pRg st="4" end="4"/>
                                            </p:txEl>
                                          </p:spTgt>
                                        </p:tgtEl>
                                        <p:attrNameLst>
                                          <p:attrName>ppt_x</p:attrName>
                                        </p:attrNameLst>
                                      </p:cBhvr>
                                      <p:tavLst>
                                        <p:tav tm="0">
                                          <p:val>
                                            <p:strVal val="#ppt_x"/>
                                          </p:val>
                                        </p:tav>
                                        <p:tav tm="100000">
                                          <p:val>
                                            <p:strVal val="#ppt_x"/>
                                          </p:val>
                                        </p:tav>
                                      </p:tavLst>
                                    </p:anim>
                                    <p:anim calcmode="lin" valueType="num">
                                      <p:cBhvr>
                                        <p:cTn id="37" dur="500" fill="hold"/>
                                        <p:tgtEl>
                                          <p:spTgt spid="722946">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0" fill="hold">
                                          <p:stCondLst>
                                            <p:cond delay="0"/>
                                          </p:stCondLst>
                                        </p:cTn>
                                        <p:tgtEl>
                                          <p:spTgt spid="722946">
                                            <p:txEl>
                                              <p:pRg st="5" end="5"/>
                                            </p:txEl>
                                          </p:spTgt>
                                        </p:tgtEl>
                                        <p:attrNameLst>
                                          <p:attrName>style.visibility</p:attrName>
                                        </p:attrNameLst>
                                      </p:cBhvr>
                                      <p:to>
                                        <p:strVal val="visible"/>
                                      </p:to>
                                    </p:set>
                                    <p:animEffect transition="in" filter="fade">
                                      <p:cBhvr>
                                        <p:cTn id="42" dur="500"/>
                                        <p:tgtEl>
                                          <p:spTgt spid="722946">
                                            <p:txEl>
                                              <p:pRg st="5" end="5"/>
                                            </p:txEl>
                                          </p:spTgt>
                                        </p:tgtEl>
                                      </p:cBhvr>
                                    </p:animEffect>
                                    <p:anim calcmode="lin" valueType="num">
                                      <p:cBhvr>
                                        <p:cTn id="43" dur="500" fill="hold"/>
                                        <p:tgtEl>
                                          <p:spTgt spid="722946">
                                            <p:txEl>
                                              <p:pRg st="5" end="5"/>
                                            </p:txEl>
                                          </p:spTgt>
                                        </p:tgtEl>
                                        <p:attrNameLst>
                                          <p:attrName>ppt_x</p:attrName>
                                        </p:attrNameLst>
                                      </p:cBhvr>
                                      <p:tavLst>
                                        <p:tav tm="0">
                                          <p:val>
                                            <p:strVal val="#ppt_x"/>
                                          </p:val>
                                        </p:tav>
                                        <p:tav tm="100000">
                                          <p:val>
                                            <p:strVal val="#ppt_x"/>
                                          </p:val>
                                        </p:tav>
                                      </p:tavLst>
                                    </p:anim>
                                    <p:anim calcmode="lin" valueType="num">
                                      <p:cBhvr>
                                        <p:cTn id="44" dur="500" fill="hold"/>
                                        <p:tgtEl>
                                          <p:spTgt spid="722946">
                                            <p:txEl>
                                              <p:pRg st="5" end="5"/>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946"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F7479BF2-CA90-4897-B9B4-271A84E4EC2E}"/>
              </a:ext>
            </a:extLst>
          </p:cNvPr>
          <p:cNvSpPr>
            <a:spLocks noChangeArrowheads="1"/>
          </p:cNvSpPr>
          <p:nvPr/>
        </p:nvSpPr>
        <p:spPr bwMode="auto">
          <a:xfrm>
            <a:off x="2207418" y="1844824"/>
            <a:ext cx="77771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71463" indent="-271463">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40000"/>
              </a:lnSpc>
              <a:spcBef>
                <a:spcPct val="0"/>
              </a:spcBef>
              <a:buClrTx/>
              <a:buFontTx/>
              <a:buNone/>
            </a:pPr>
            <a:r>
              <a:rPr kumimoji="1" lang="en-US" altLang="zh-CN" dirty="0">
                <a:solidFill>
                  <a:srgbClr val="006600"/>
                </a:solidFill>
              </a:rPr>
              <a:t>* </a:t>
            </a:r>
            <a:r>
              <a:rPr kumimoji="1" lang="zh-CN" altLang="en-US" dirty="0">
                <a:solidFill>
                  <a:srgbClr val="006600"/>
                </a:solidFill>
              </a:rPr>
              <a:t>免疫沉淀法：</a:t>
            </a:r>
            <a:r>
              <a:rPr kumimoji="1" lang="zh-CN" altLang="en-US" dirty="0">
                <a:solidFill>
                  <a:schemeClr val="tx1"/>
                </a:solidFill>
              </a:rPr>
              <a:t>将某一纯化蛋白质免疫动物可获得抗该蛋白的特异抗体。利用特异抗体识别相应的抗原蛋白，并形成抗原抗体复合物的性质，可从蛋白质混合溶液中分离获得抗原蛋白。 </a:t>
            </a:r>
          </a:p>
        </p:txBody>
      </p:sp>
      <p:sp>
        <p:nvSpPr>
          <p:cNvPr id="2" name="标题 1">
            <a:extLst>
              <a:ext uri="{FF2B5EF4-FFF2-40B4-BE49-F238E27FC236}">
                <a16:creationId xmlns:a16="http://schemas.microsoft.com/office/drawing/2014/main" id="{49566A18-DD44-4E32-9FFC-E395BCBCAE34}"/>
              </a:ext>
            </a:extLst>
          </p:cNvPr>
          <p:cNvSpPr>
            <a:spLocks noGrp="1"/>
          </p:cNvSpPr>
          <p:nvPr>
            <p:ph type="title"/>
          </p:nvPr>
        </p:nvSpPr>
        <p:spPr>
          <a:xfrm>
            <a:off x="1703389" y="188913"/>
            <a:ext cx="7850187" cy="563562"/>
          </a:xfrm>
        </p:spPr>
        <p:txBody>
          <a:bodyPr/>
          <a:lstStyle/>
          <a:p>
            <a:pPr>
              <a:defRPr/>
            </a:pPr>
            <a:r>
              <a:rPr kumimoji="1" lang="zh-CN" altLang="en-US" dirty="0">
                <a:solidFill>
                  <a:schemeClr val="accent3"/>
                </a:solidFill>
              </a:rPr>
              <a:t>免疫沉淀法</a:t>
            </a:r>
            <a:endParaRPr lang="zh-CN" altLang="en-US" dirty="0">
              <a:solidFill>
                <a:schemeClr val="accent3"/>
              </a:solidFill>
            </a:endParaRPr>
          </a:p>
        </p:txBody>
      </p:sp>
    </p:spTree>
  </p:cSld>
  <p:clrMapOvr>
    <a:masterClrMapping/>
  </p:clrMapOvr>
  <p:transition spd="slow">
    <p:circl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ECBEC77A-CBC4-4555-9AD0-5777AA480700}"/>
              </a:ext>
            </a:extLst>
          </p:cNvPr>
          <p:cNvSpPr>
            <a:spLocks noChangeArrowheads="1"/>
          </p:cNvSpPr>
          <p:nvPr/>
        </p:nvSpPr>
        <p:spPr bwMode="auto">
          <a:xfrm>
            <a:off x="1811524" y="1268760"/>
            <a:ext cx="8568952"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buFont typeface="Wingdings" panose="05000000000000000000" pitchFamily="2" charset="2"/>
              <a:buNone/>
            </a:pPr>
            <a:r>
              <a:rPr lang="en-US" altLang="zh-CN" dirty="0">
                <a:solidFill>
                  <a:srgbClr val="FF0000"/>
                </a:solidFill>
              </a:rPr>
              <a:t>    </a:t>
            </a:r>
            <a:r>
              <a:rPr lang="zh-CN" altLang="en-US" dirty="0">
                <a:solidFill>
                  <a:srgbClr val="FF0000"/>
                </a:solidFill>
              </a:rPr>
              <a:t>定义：</a:t>
            </a:r>
            <a:r>
              <a:rPr lang="zh-CN" altLang="en-US" dirty="0">
                <a:solidFill>
                  <a:schemeClr val="tx1"/>
                </a:solidFill>
              </a:rPr>
              <a:t>带电粒子在电场中向着与其电性相反的电极移动的现象。</a:t>
            </a:r>
            <a:endParaRPr lang="zh-CN" altLang="en-US" dirty="0">
              <a:solidFill>
                <a:srgbClr val="FF0000"/>
              </a:solidFill>
            </a:endParaRPr>
          </a:p>
        </p:txBody>
      </p:sp>
      <p:sp>
        <p:nvSpPr>
          <p:cNvPr id="2" name="Rectangle 3">
            <a:extLst>
              <a:ext uri="{FF2B5EF4-FFF2-40B4-BE49-F238E27FC236}">
                <a16:creationId xmlns:a16="http://schemas.microsoft.com/office/drawing/2014/main" id="{5116B053-A257-486E-A4FD-1D4F6508E155}"/>
              </a:ext>
            </a:extLst>
          </p:cNvPr>
          <p:cNvSpPr>
            <a:spLocks noChangeArrowheads="1"/>
          </p:cNvSpPr>
          <p:nvPr/>
        </p:nvSpPr>
        <p:spPr bwMode="auto">
          <a:xfrm>
            <a:off x="1811524" y="2781301"/>
            <a:ext cx="9253028" cy="331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40000"/>
              </a:lnSpc>
              <a:buClr>
                <a:srgbClr val="006600"/>
              </a:buClr>
              <a:buFont typeface="Wingdings" panose="05000000000000000000" pitchFamily="2" charset="2"/>
              <a:buChar char="u"/>
            </a:pPr>
            <a:r>
              <a:rPr lang="en-US" altLang="zh-CN" dirty="0">
                <a:solidFill>
                  <a:schemeClr val="tx1"/>
                </a:solidFill>
              </a:rPr>
              <a:t>    </a:t>
            </a:r>
            <a:r>
              <a:rPr lang="en-US" altLang="zh-CN" dirty="0" err="1">
                <a:solidFill>
                  <a:schemeClr val="tx1"/>
                </a:solidFill>
              </a:rPr>
              <a:t>Pr</a:t>
            </a:r>
            <a:r>
              <a:rPr lang="zh-CN" altLang="en-US" dirty="0">
                <a:solidFill>
                  <a:schemeClr val="tx1"/>
                </a:solidFill>
              </a:rPr>
              <a:t>分子在溶液中可带净负电荷或带净正电荷，故可在电场中发生移动。</a:t>
            </a:r>
          </a:p>
          <a:p>
            <a:pPr eaLnBrk="1" hangingPunct="1">
              <a:lnSpc>
                <a:spcPct val="150000"/>
              </a:lnSpc>
              <a:buClr>
                <a:srgbClr val="006600"/>
              </a:buClr>
              <a:buFont typeface="Wingdings" panose="05000000000000000000" pitchFamily="2" charset="2"/>
              <a:buChar char="u"/>
            </a:pPr>
            <a:r>
              <a:rPr lang="zh-CN" altLang="en-US" dirty="0">
                <a:solidFill>
                  <a:schemeClr val="tx1"/>
                </a:solidFill>
              </a:rPr>
              <a:t>    不同的蛋白质分子</a:t>
            </a:r>
            <a:r>
              <a:rPr lang="zh-CN" altLang="en-US" dirty="0">
                <a:solidFill>
                  <a:srgbClr val="FF0000"/>
                </a:solidFill>
              </a:rPr>
              <a:t>所带电荷量不同，且分子大小也不同，</a:t>
            </a:r>
            <a:r>
              <a:rPr lang="zh-CN" altLang="en-US" dirty="0">
                <a:solidFill>
                  <a:schemeClr val="tx1"/>
                </a:solidFill>
              </a:rPr>
              <a:t>故在电场中的泳动速度也不同，由此可彼此分离。</a:t>
            </a:r>
          </a:p>
        </p:txBody>
      </p:sp>
      <p:sp>
        <p:nvSpPr>
          <p:cNvPr id="3" name="标题 2">
            <a:extLst>
              <a:ext uri="{FF2B5EF4-FFF2-40B4-BE49-F238E27FC236}">
                <a16:creationId xmlns:a16="http://schemas.microsoft.com/office/drawing/2014/main" id="{E16AE457-125B-40AB-B3F2-271EB7B9F4D4}"/>
              </a:ext>
            </a:extLst>
          </p:cNvPr>
          <p:cNvSpPr>
            <a:spLocks noGrp="1"/>
          </p:cNvSpPr>
          <p:nvPr>
            <p:ph type="title"/>
          </p:nvPr>
        </p:nvSpPr>
        <p:spPr>
          <a:xfrm>
            <a:off x="1416050" y="188913"/>
            <a:ext cx="7704138" cy="563562"/>
          </a:xfrm>
        </p:spPr>
        <p:txBody>
          <a:bodyPr/>
          <a:lstStyle/>
          <a:p>
            <a:pPr>
              <a:defRPr/>
            </a:pPr>
            <a:r>
              <a:rPr kumimoji="1" lang="zh-CN" altLang="en-US" sz="4000" dirty="0">
                <a:solidFill>
                  <a:schemeClr val="accent3"/>
                </a:solidFill>
              </a:rPr>
              <a:t>三</a:t>
            </a:r>
            <a:r>
              <a:rPr kumimoji="1" lang="zh-CN" altLang="en-US" sz="4000" dirty="0">
                <a:solidFill>
                  <a:schemeClr val="accent3"/>
                </a:solidFill>
                <a:latin typeface="Arial" panose="020B0604020202020204" pitchFamily="34" charset="0"/>
                <a:ea typeface="宋体" panose="02010600030101010101" pitchFamily="2" charset="-122"/>
              </a:rPr>
              <a:t>、</a:t>
            </a:r>
            <a:r>
              <a:rPr kumimoji="1" lang="zh-CN" altLang="en-US" sz="4000" dirty="0">
                <a:solidFill>
                  <a:schemeClr val="accent3"/>
                </a:solidFill>
              </a:rPr>
              <a:t>电泳（</a:t>
            </a:r>
            <a:r>
              <a:rPr kumimoji="1" lang="en-US" altLang="zh-CN" sz="4000" dirty="0">
                <a:solidFill>
                  <a:schemeClr val="accent3"/>
                </a:solidFill>
                <a:ea typeface="宋体" panose="02010600030101010101" pitchFamily="2" charset="-122"/>
              </a:rPr>
              <a:t>electrophoresis</a:t>
            </a:r>
            <a:r>
              <a:rPr kumimoji="1" lang="zh-CN" altLang="en-US" sz="4000" dirty="0">
                <a:solidFill>
                  <a:schemeClr val="accent3"/>
                </a:solidFill>
              </a:rPr>
              <a:t>）</a:t>
            </a:r>
            <a:endParaRPr lang="zh-CN" altLang="en-US" sz="4000" dirty="0">
              <a:solidFill>
                <a:schemeClr val="accent3"/>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ox(in)">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Text Box 2">
            <a:extLst>
              <a:ext uri="{FF2B5EF4-FFF2-40B4-BE49-F238E27FC236}">
                <a16:creationId xmlns:a16="http://schemas.microsoft.com/office/drawing/2014/main" id="{2569F4AB-B807-4170-A668-D1CB2E9C6722}"/>
              </a:ext>
            </a:extLst>
          </p:cNvPr>
          <p:cNvSpPr txBox="1">
            <a:spLocks noChangeArrowheads="1"/>
          </p:cNvSpPr>
          <p:nvPr/>
        </p:nvSpPr>
        <p:spPr bwMode="auto">
          <a:xfrm>
            <a:off x="1703512" y="908720"/>
            <a:ext cx="9217024" cy="4737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7188" indent="-171450">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0"/>
              </a:spcBef>
              <a:buClrTx/>
              <a:buFontTx/>
              <a:buNone/>
            </a:pPr>
            <a:r>
              <a:rPr lang="zh-CN" altLang="en-US" sz="3600" dirty="0">
                <a:solidFill>
                  <a:schemeClr val="tx1"/>
                </a:solidFill>
              </a:rPr>
              <a:t>几种重要的蛋白质电泳技术：</a:t>
            </a:r>
          </a:p>
          <a:p>
            <a:pPr eaLnBrk="1" hangingPunct="1">
              <a:lnSpc>
                <a:spcPct val="220000"/>
              </a:lnSpc>
              <a:spcBef>
                <a:spcPct val="0"/>
              </a:spcBef>
              <a:buClrTx/>
              <a:buFontTx/>
              <a:buNone/>
            </a:pPr>
            <a:r>
              <a:rPr lang="zh-CN" altLang="en-US" dirty="0">
                <a:solidFill>
                  <a:srgbClr val="FF0000"/>
                </a:solidFill>
              </a:rPr>
              <a:t>*</a:t>
            </a:r>
            <a:r>
              <a:rPr lang="en-US" altLang="zh-CN" dirty="0">
                <a:solidFill>
                  <a:srgbClr val="FF0000"/>
                </a:solidFill>
              </a:rPr>
              <a:t>SDS-</a:t>
            </a:r>
            <a:r>
              <a:rPr lang="zh-CN" altLang="en-US" dirty="0">
                <a:solidFill>
                  <a:srgbClr val="FF0000"/>
                </a:solidFill>
              </a:rPr>
              <a:t>聚丙烯酰胺凝胶电泳（</a:t>
            </a:r>
            <a:r>
              <a:rPr lang="en-US" altLang="zh-CN" dirty="0">
                <a:solidFill>
                  <a:srgbClr val="FF0000"/>
                </a:solidFill>
              </a:rPr>
              <a:t>SDS-PAGE)</a:t>
            </a:r>
          </a:p>
          <a:p>
            <a:pPr eaLnBrk="1" hangingPunct="1">
              <a:lnSpc>
                <a:spcPct val="120000"/>
              </a:lnSpc>
              <a:spcBef>
                <a:spcPct val="0"/>
              </a:spcBef>
              <a:buClrTx/>
              <a:buFontTx/>
              <a:buNone/>
            </a:pPr>
            <a:r>
              <a:rPr lang="en-US" altLang="zh-CN" dirty="0">
                <a:solidFill>
                  <a:schemeClr val="tx1"/>
                </a:solidFill>
              </a:rPr>
              <a:t>         </a:t>
            </a:r>
            <a:r>
              <a:rPr lang="zh-CN" altLang="en-US" dirty="0">
                <a:solidFill>
                  <a:schemeClr val="tx1"/>
                </a:solidFill>
              </a:rPr>
              <a:t>常用于蛋白质分子量的测定。</a:t>
            </a:r>
          </a:p>
          <a:p>
            <a:pPr eaLnBrk="1" hangingPunct="1">
              <a:lnSpc>
                <a:spcPct val="150000"/>
              </a:lnSpc>
              <a:spcBef>
                <a:spcPct val="0"/>
              </a:spcBef>
              <a:buClrTx/>
              <a:buFontTx/>
              <a:buNone/>
            </a:pPr>
            <a:r>
              <a:rPr lang="zh-CN" altLang="en-US" dirty="0">
                <a:solidFill>
                  <a:srgbClr val="FF0000"/>
                </a:solidFill>
              </a:rPr>
              <a:t>*等电聚焦电泳</a:t>
            </a:r>
          </a:p>
          <a:p>
            <a:pPr eaLnBrk="1" hangingPunct="1">
              <a:lnSpc>
                <a:spcPct val="120000"/>
              </a:lnSpc>
              <a:spcBef>
                <a:spcPct val="0"/>
              </a:spcBef>
              <a:buClrTx/>
              <a:buFontTx/>
              <a:buNone/>
            </a:pPr>
            <a:r>
              <a:rPr lang="zh-CN" altLang="en-US" dirty="0">
                <a:solidFill>
                  <a:schemeClr val="tx1"/>
                </a:solidFill>
              </a:rPr>
              <a:t>         通过蛋白质等电点的差异而分离蛋白质的电泳方法。</a:t>
            </a:r>
          </a:p>
          <a:p>
            <a:pPr eaLnBrk="1" hangingPunct="1">
              <a:lnSpc>
                <a:spcPct val="150000"/>
              </a:lnSpc>
              <a:spcBef>
                <a:spcPct val="0"/>
              </a:spcBef>
              <a:buClrTx/>
              <a:buFontTx/>
              <a:buNone/>
            </a:pPr>
            <a:r>
              <a:rPr lang="zh-CN" altLang="en-US" dirty="0">
                <a:solidFill>
                  <a:srgbClr val="FF0000"/>
                </a:solidFill>
              </a:rPr>
              <a:t>*双向凝胶电泳</a:t>
            </a:r>
          </a:p>
          <a:p>
            <a:pPr eaLnBrk="1" hangingPunct="1">
              <a:lnSpc>
                <a:spcPct val="120000"/>
              </a:lnSpc>
              <a:spcBef>
                <a:spcPct val="0"/>
              </a:spcBef>
              <a:buClrTx/>
              <a:buFontTx/>
              <a:buNone/>
            </a:pPr>
            <a:r>
              <a:rPr lang="zh-CN" altLang="en-US" dirty="0">
                <a:solidFill>
                  <a:schemeClr val="tx1"/>
                </a:solidFill>
              </a:rPr>
              <a:t>       蛋白质组学研究的重要技术。</a:t>
            </a:r>
            <a:r>
              <a:rPr lang="zh-CN" altLang="en-US" sz="3200" dirty="0">
                <a:solidFill>
                  <a:schemeClr val="tx1"/>
                </a:solidFill>
                <a:ea typeface="楷体_GB2312" pitchFamily="49" charset="-122"/>
              </a:rPr>
              <a:t>  </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24994">
                                            <p:txEl>
                                              <p:pRg st="1" end="1"/>
                                            </p:txEl>
                                          </p:spTgt>
                                        </p:tgtEl>
                                        <p:attrNameLst>
                                          <p:attrName>style.visibility</p:attrName>
                                        </p:attrNameLst>
                                      </p:cBhvr>
                                      <p:to>
                                        <p:strVal val="visible"/>
                                      </p:to>
                                    </p:set>
                                    <p:animEffect transition="in" filter="wipe(up)">
                                      <p:cBhvr>
                                        <p:cTn id="7" dur="500"/>
                                        <p:tgtEl>
                                          <p:spTgt spid="724994">
                                            <p:txEl>
                                              <p:pRg st="1" end="1"/>
                                            </p:txEl>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24994">
                                            <p:txEl>
                                              <p:pRg st="2" end="2"/>
                                            </p:txEl>
                                          </p:spTgt>
                                        </p:tgtEl>
                                        <p:attrNameLst>
                                          <p:attrName>style.visibility</p:attrName>
                                        </p:attrNameLst>
                                      </p:cBhvr>
                                      <p:to>
                                        <p:strVal val="visible"/>
                                      </p:to>
                                    </p:set>
                                    <p:animEffect transition="in" filter="wipe(up)">
                                      <p:cBhvr>
                                        <p:cTn id="11" dur="500"/>
                                        <p:tgtEl>
                                          <p:spTgt spid="724994">
                                            <p:txEl>
                                              <p:pRg st="2" end="2"/>
                                            </p:txEl>
                                          </p:spTgt>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24994">
                                            <p:txEl>
                                              <p:pRg st="3" end="3"/>
                                            </p:txEl>
                                          </p:spTgt>
                                        </p:tgtEl>
                                        <p:attrNameLst>
                                          <p:attrName>style.visibility</p:attrName>
                                        </p:attrNameLst>
                                      </p:cBhvr>
                                      <p:to>
                                        <p:strVal val="visible"/>
                                      </p:to>
                                    </p:set>
                                    <p:animEffect transition="in" filter="wipe(up)">
                                      <p:cBhvr>
                                        <p:cTn id="15" dur="500"/>
                                        <p:tgtEl>
                                          <p:spTgt spid="724994">
                                            <p:txEl>
                                              <p:pRg st="3" end="3"/>
                                            </p:txEl>
                                          </p:spTgt>
                                        </p:tgtEl>
                                      </p:cBhvr>
                                    </p:animEffect>
                                  </p:childTnLst>
                                </p:cTn>
                              </p:par>
                            </p:childTnLst>
                          </p:cTn>
                        </p:par>
                        <p:par>
                          <p:cTn id="16" fill="hold" nodeType="afterGroup">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724994">
                                            <p:txEl>
                                              <p:pRg st="4" end="4"/>
                                            </p:txEl>
                                          </p:spTgt>
                                        </p:tgtEl>
                                        <p:attrNameLst>
                                          <p:attrName>style.visibility</p:attrName>
                                        </p:attrNameLst>
                                      </p:cBhvr>
                                      <p:to>
                                        <p:strVal val="visible"/>
                                      </p:to>
                                    </p:set>
                                    <p:animEffect transition="in" filter="wipe(up)">
                                      <p:cBhvr>
                                        <p:cTn id="19" dur="500"/>
                                        <p:tgtEl>
                                          <p:spTgt spid="724994">
                                            <p:txEl>
                                              <p:pRg st="4" end="4"/>
                                            </p:txEl>
                                          </p:spTgt>
                                        </p:tgtEl>
                                      </p:cBhvr>
                                    </p:animEffect>
                                  </p:childTnLst>
                                </p:cTn>
                              </p:par>
                            </p:childTnLst>
                          </p:cTn>
                        </p:par>
                        <p:par>
                          <p:cTn id="20" fill="hold" nodeType="afterGroup">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24994">
                                            <p:txEl>
                                              <p:pRg st="5" end="5"/>
                                            </p:txEl>
                                          </p:spTgt>
                                        </p:tgtEl>
                                        <p:attrNameLst>
                                          <p:attrName>style.visibility</p:attrName>
                                        </p:attrNameLst>
                                      </p:cBhvr>
                                      <p:to>
                                        <p:strVal val="visible"/>
                                      </p:to>
                                    </p:set>
                                    <p:animEffect transition="in" filter="wipe(up)">
                                      <p:cBhvr>
                                        <p:cTn id="23" dur="500"/>
                                        <p:tgtEl>
                                          <p:spTgt spid="724994">
                                            <p:txEl>
                                              <p:pRg st="5" end="5"/>
                                            </p:txEl>
                                          </p:spTgt>
                                        </p:tgtEl>
                                      </p:cBhvr>
                                    </p:animEffect>
                                  </p:childTnLst>
                                </p:cTn>
                              </p:par>
                            </p:childTnLst>
                          </p:cTn>
                        </p:par>
                        <p:par>
                          <p:cTn id="24" fill="hold" nodeType="afterGroup">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724994">
                                            <p:txEl>
                                              <p:pRg st="6" end="6"/>
                                            </p:txEl>
                                          </p:spTgt>
                                        </p:tgtEl>
                                        <p:attrNameLst>
                                          <p:attrName>style.visibility</p:attrName>
                                        </p:attrNameLst>
                                      </p:cBhvr>
                                      <p:to>
                                        <p:strVal val="visible"/>
                                      </p:to>
                                    </p:set>
                                    <p:animEffect transition="in" filter="wipe(up)">
                                      <p:cBhvr>
                                        <p:cTn id="27" dur="500"/>
                                        <p:tgtEl>
                                          <p:spTgt spid="72499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994" grpId="0" build="p" autoUpdateAnimBg="0" advAuto="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586" name="Picture 2">
            <a:extLst>
              <a:ext uri="{FF2B5EF4-FFF2-40B4-BE49-F238E27FC236}">
                <a16:creationId xmlns:a16="http://schemas.microsoft.com/office/drawing/2014/main" id="{49D8E84E-84BB-4082-AE3D-0B484B81A4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388" y="908050"/>
            <a:ext cx="48768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587" name="Text Box 4">
            <a:extLst>
              <a:ext uri="{FF2B5EF4-FFF2-40B4-BE49-F238E27FC236}">
                <a16:creationId xmlns:a16="http://schemas.microsoft.com/office/drawing/2014/main" id="{C6B314F5-DDCA-48E3-992C-6343CB76B582}"/>
              </a:ext>
            </a:extLst>
          </p:cNvPr>
          <p:cNvSpPr txBox="1">
            <a:spLocks noChangeArrowheads="1"/>
          </p:cNvSpPr>
          <p:nvPr/>
        </p:nvSpPr>
        <p:spPr bwMode="auto">
          <a:xfrm>
            <a:off x="4079875" y="188913"/>
            <a:ext cx="2749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en-US" altLang="zh-CN" sz="3600">
                <a:solidFill>
                  <a:schemeClr val="bg1"/>
                </a:solidFill>
                <a:latin typeface="Arial Black" panose="020B0A04020102020204" pitchFamily="34" charset="0"/>
                <a:ea typeface="宋体" panose="02010600030101010101" pitchFamily="2" charset="-122"/>
              </a:rPr>
              <a:t>SDS-PAGE</a:t>
            </a:r>
          </a:p>
        </p:txBody>
      </p:sp>
      <p:pic>
        <p:nvPicPr>
          <p:cNvPr id="514053" name="Picture 5">
            <a:extLst>
              <a:ext uri="{FF2B5EF4-FFF2-40B4-BE49-F238E27FC236}">
                <a16:creationId xmlns:a16="http://schemas.microsoft.com/office/drawing/2014/main" id="{A337B903-DF5B-420A-A554-21D8148679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8228" t="34639" r="38777" b="34610"/>
          <a:stretch>
            <a:fillRect/>
          </a:stretch>
        </p:blipFill>
        <p:spPr bwMode="auto">
          <a:xfrm>
            <a:off x="7175500" y="1125538"/>
            <a:ext cx="2662238"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4054" name="Picture 6">
            <a:extLst>
              <a:ext uri="{FF2B5EF4-FFF2-40B4-BE49-F238E27FC236}">
                <a16:creationId xmlns:a16="http://schemas.microsoft.com/office/drawing/2014/main" id="{9C63FA9A-E0BC-4026-A2FC-41CABF425B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2263" y="2349500"/>
            <a:ext cx="3784600" cy="217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14053"/>
                                        </p:tgtEl>
                                        <p:attrNameLst>
                                          <p:attrName>style.visibility</p:attrName>
                                        </p:attrNameLst>
                                      </p:cBhvr>
                                      <p:to>
                                        <p:strVal val="visible"/>
                                      </p:to>
                                    </p:set>
                                    <p:animEffect transition="in" filter="box(in)">
                                      <p:cBhvr>
                                        <p:cTn id="7" dur="500"/>
                                        <p:tgtEl>
                                          <p:spTgt spid="514053"/>
                                        </p:tgtEl>
                                      </p:cBhvr>
                                    </p:animEffect>
                                  </p:childTnLst>
                                </p:cTn>
                              </p:par>
                              <p:par>
                                <p:cTn id="8" presetID="4" presetClass="exit" presetSubtype="16" fill="hold" nodeType="withEffect">
                                  <p:stCondLst>
                                    <p:cond delay="0"/>
                                  </p:stCondLst>
                                  <p:childTnLst>
                                    <p:animEffect transition="out" filter="box(in)">
                                      <p:cBhvr>
                                        <p:cTn id="9" dur="500"/>
                                        <p:tgtEl>
                                          <p:spTgt spid="514054"/>
                                        </p:tgtEl>
                                      </p:cBhvr>
                                    </p:animEffect>
                                    <p:set>
                                      <p:cBhvr>
                                        <p:cTn id="10" dur="1" fill="hold">
                                          <p:stCondLst>
                                            <p:cond delay="499"/>
                                          </p:stCondLst>
                                        </p:cTn>
                                        <p:tgtEl>
                                          <p:spTgt spid="5140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标题 1">
            <a:extLst>
              <a:ext uri="{FF2B5EF4-FFF2-40B4-BE49-F238E27FC236}">
                <a16:creationId xmlns:a16="http://schemas.microsoft.com/office/drawing/2014/main" id="{5E896259-C877-4B82-9030-ACD3C24953C2}"/>
              </a:ext>
            </a:extLst>
          </p:cNvPr>
          <p:cNvSpPr>
            <a:spLocks noGrp="1" noChangeArrowheads="1"/>
          </p:cNvSpPr>
          <p:nvPr>
            <p:ph type="title"/>
          </p:nvPr>
        </p:nvSpPr>
        <p:spPr/>
        <p:txBody>
          <a:bodyPr/>
          <a:lstStyle/>
          <a:p>
            <a:r>
              <a:rPr lang="zh-CN" altLang="en-US" sz="3200"/>
              <a:t>分子量的对数值与迁移率呈线性关系</a:t>
            </a:r>
          </a:p>
        </p:txBody>
      </p:sp>
      <p:pic>
        <p:nvPicPr>
          <p:cNvPr id="198659" name="图片 2">
            <a:extLst>
              <a:ext uri="{FF2B5EF4-FFF2-40B4-BE49-F238E27FC236}">
                <a16:creationId xmlns:a16="http://schemas.microsoft.com/office/drawing/2014/main" id="{93CE93C2-2CE5-4DCE-8290-9B4C16377A2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72264" y="1268413"/>
            <a:ext cx="2840037" cy="354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660" name="图片 3">
            <a:extLst>
              <a:ext uri="{FF2B5EF4-FFF2-40B4-BE49-F238E27FC236}">
                <a16:creationId xmlns:a16="http://schemas.microsoft.com/office/drawing/2014/main" id="{B2C066DE-D383-436E-840E-F85E4DCE74A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03389" y="1052513"/>
            <a:ext cx="4537075" cy="516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8661" name="文本框 4">
            <a:extLst>
              <a:ext uri="{FF2B5EF4-FFF2-40B4-BE49-F238E27FC236}">
                <a16:creationId xmlns:a16="http://schemas.microsoft.com/office/drawing/2014/main" id="{CE173732-5DCE-42FD-A2DA-05AEF7D8D845}"/>
              </a:ext>
            </a:extLst>
          </p:cNvPr>
          <p:cNvSpPr txBox="1">
            <a:spLocks noChangeArrowheads="1"/>
          </p:cNvSpPr>
          <p:nvPr/>
        </p:nvSpPr>
        <p:spPr bwMode="auto">
          <a:xfrm>
            <a:off x="7319964" y="4768850"/>
            <a:ext cx="21923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b="1">
                <a:solidFill>
                  <a:schemeClr val="tx1"/>
                </a:solidFill>
                <a:latin typeface="Arial" panose="020B0604020202020204" pitchFamily="34" charset="0"/>
                <a:ea typeface="宋体" panose="02010600030101010101" pitchFamily="2" charset="-122"/>
              </a:rPr>
              <a:t>迁移率</a:t>
            </a:r>
          </a:p>
        </p:txBody>
      </p:sp>
    </p:spTree>
  </p:cSld>
  <p:clrMapOvr>
    <a:masterClrMapping/>
  </p:clrMapOvr>
  <p:transition spd="slow">
    <p:circl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ext Box 2">
            <a:extLst>
              <a:ext uri="{FF2B5EF4-FFF2-40B4-BE49-F238E27FC236}">
                <a16:creationId xmlns:a16="http://schemas.microsoft.com/office/drawing/2014/main" id="{3B5BBB26-6E23-4A67-9F79-6601291956C2}"/>
              </a:ext>
            </a:extLst>
          </p:cNvPr>
          <p:cNvSpPr txBox="1">
            <a:spLocks noChangeArrowheads="1"/>
          </p:cNvSpPr>
          <p:nvPr/>
        </p:nvSpPr>
        <p:spPr bwMode="auto">
          <a:xfrm>
            <a:off x="2063750" y="141288"/>
            <a:ext cx="6864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200" b="1">
                <a:solidFill>
                  <a:schemeClr val="bg1"/>
                </a:solidFill>
              </a:rPr>
              <a:t>等电聚焦（</a:t>
            </a:r>
            <a:r>
              <a:rPr kumimoji="1" lang="en-US" altLang="zh-CN" sz="3200" b="1">
                <a:solidFill>
                  <a:schemeClr val="bg1"/>
                </a:solidFill>
              </a:rPr>
              <a:t>isoelectric focusing, IEF</a:t>
            </a:r>
            <a:r>
              <a:rPr kumimoji="1" lang="zh-CN" altLang="en-US" sz="3200" b="1">
                <a:solidFill>
                  <a:schemeClr val="bg1"/>
                </a:solidFill>
              </a:rPr>
              <a:t>）</a:t>
            </a:r>
          </a:p>
        </p:txBody>
      </p:sp>
      <p:grpSp>
        <p:nvGrpSpPr>
          <p:cNvPr id="2" name="Group 4">
            <a:extLst>
              <a:ext uri="{FF2B5EF4-FFF2-40B4-BE49-F238E27FC236}">
                <a16:creationId xmlns:a16="http://schemas.microsoft.com/office/drawing/2014/main" id="{5B9179E8-08C3-44ED-994C-97ECDB4C8D10}"/>
              </a:ext>
            </a:extLst>
          </p:cNvPr>
          <p:cNvGrpSpPr>
            <a:grpSpLocks/>
          </p:cNvGrpSpPr>
          <p:nvPr/>
        </p:nvGrpSpPr>
        <p:grpSpPr bwMode="auto">
          <a:xfrm>
            <a:off x="2424114" y="1557339"/>
            <a:ext cx="6899275" cy="1341437"/>
            <a:chOff x="566" y="2193"/>
            <a:chExt cx="4346" cy="845"/>
          </a:xfrm>
        </p:grpSpPr>
        <p:sp>
          <p:nvSpPr>
            <p:cNvPr id="200722" name="Rectangle 5">
              <a:extLst>
                <a:ext uri="{FF2B5EF4-FFF2-40B4-BE49-F238E27FC236}">
                  <a16:creationId xmlns:a16="http://schemas.microsoft.com/office/drawing/2014/main" id="{88B5A375-C4B7-42EC-8C51-13D9FBC5A8C4}"/>
                </a:ext>
              </a:extLst>
            </p:cNvPr>
            <p:cNvSpPr>
              <a:spLocks noChangeArrowheads="1"/>
            </p:cNvSpPr>
            <p:nvPr/>
          </p:nvSpPr>
          <p:spPr bwMode="auto">
            <a:xfrm>
              <a:off x="1248" y="2544"/>
              <a:ext cx="2976" cy="432"/>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200723" name="Text Box 6">
              <a:extLst>
                <a:ext uri="{FF2B5EF4-FFF2-40B4-BE49-F238E27FC236}">
                  <a16:creationId xmlns:a16="http://schemas.microsoft.com/office/drawing/2014/main" id="{AD537753-ACD8-45D4-9896-12BF7A7DF7BC}"/>
                </a:ext>
              </a:extLst>
            </p:cNvPr>
            <p:cNvSpPr txBox="1">
              <a:spLocks noChangeArrowheads="1"/>
            </p:cNvSpPr>
            <p:nvPr/>
          </p:nvSpPr>
          <p:spPr bwMode="auto">
            <a:xfrm>
              <a:off x="566" y="2538"/>
              <a:ext cx="612" cy="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b="1">
                  <a:solidFill>
                    <a:srgbClr val="FF0000"/>
                  </a:solidFill>
                </a:rPr>
                <a:t>   </a:t>
              </a:r>
              <a:r>
                <a:rPr kumimoji="1" lang="en-US" altLang="zh-CN" b="1">
                  <a:solidFill>
                    <a:srgbClr val="FF0000"/>
                  </a:solidFill>
                </a:rPr>
                <a:t>+</a:t>
              </a:r>
            </a:p>
            <a:p>
              <a:pPr eaLnBrk="1" hangingPunct="1">
                <a:spcBef>
                  <a:spcPct val="0"/>
                </a:spcBef>
                <a:buClrTx/>
                <a:buFontTx/>
                <a:buNone/>
              </a:pPr>
              <a:r>
                <a:rPr kumimoji="1" lang="en-US" altLang="zh-CN" sz="1800" b="1">
                  <a:solidFill>
                    <a:srgbClr val="FF0000"/>
                  </a:solidFill>
                </a:rPr>
                <a:t>(H</a:t>
              </a:r>
              <a:r>
                <a:rPr kumimoji="1" lang="en-US" altLang="zh-CN" sz="1800" b="1" baseline="-25000">
                  <a:solidFill>
                    <a:srgbClr val="FF0000"/>
                  </a:solidFill>
                </a:rPr>
                <a:t>2</a:t>
              </a:r>
              <a:r>
                <a:rPr kumimoji="1" lang="en-US" altLang="zh-CN" sz="1800" b="1">
                  <a:solidFill>
                    <a:srgbClr val="FF0000"/>
                  </a:solidFill>
                </a:rPr>
                <a:t>SO</a:t>
              </a:r>
              <a:r>
                <a:rPr kumimoji="1" lang="en-US" altLang="zh-CN" sz="1800" b="1" baseline="-25000">
                  <a:solidFill>
                    <a:srgbClr val="FF0000"/>
                  </a:solidFill>
                </a:rPr>
                <a:t>4</a:t>
              </a:r>
              <a:r>
                <a:rPr kumimoji="1" lang="en-US" altLang="zh-CN" sz="1800" b="1">
                  <a:solidFill>
                    <a:srgbClr val="FF0000"/>
                  </a:solidFill>
                </a:rPr>
                <a:t>)</a:t>
              </a:r>
            </a:p>
          </p:txBody>
        </p:sp>
        <p:sp>
          <p:nvSpPr>
            <p:cNvPr id="200724" name="Text Box 7">
              <a:extLst>
                <a:ext uri="{FF2B5EF4-FFF2-40B4-BE49-F238E27FC236}">
                  <a16:creationId xmlns:a16="http://schemas.microsoft.com/office/drawing/2014/main" id="{1E3CB754-D9C6-40C8-8385-099E4D318CC9}"/>
                </a:ext>
              </a:extLst>
            </p:cNvPr>
            <p:cNvSpPr txBox="1">
              <a:spLocks noChangeArrowheads="1"/>
            </p:cNvSpPr>
            <p:nvPr/>
          </p:nvSpPr>
          <p:spPr bwMode="auto">
            <a:xfrm>
              <a:off x="4300" y="2570"/>
              <a:ext cx="612"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b="1">
                  <a:solidFill>
                    <a:schemeClr val="accent2"/>
                  </a:solidFill>
                </a:rPr>
                <a:t>   </a:t>
              </a:r>
              <a:endParaRPr kumimoji="1" lang="en-US" altLang="zh-CN" b="1">
                <a:solidFill>
                  <a:schemeClr val="accent2"/>
                </a:solidFill>
              </a:endParaRPr>
            </a:p>
            <a:p>
              <a:pPr eaLnBrk="1" hangingPunct="1">
                <a:spcBef>
                  <a:spcPct val="0"/>
                </a:spcBef>
                <a:buClrTx/>
                <a:buFontTx/>
                <a:buNone/>
              </a:pPr>
              <a:r>
                <a:rPr kumimoji="1" lang="en-US" altLang="zh-CN" sz="1800" b="1">
                  <a:solidFill>
                    <a:schemeClr val="tx1"/>
                  </a:solidFill>
                </a:rPr>
                <a:t>(NaOH)</a:t>
              </a:r>
            </a:p>
          </p:txBody>
        </p:sp>
        <p:sp>
          <p:nvSpPr>
            <p:cNvPr id="200725" name="Line 8">
              <a:extLst>
                <a:ext uri="{FF2B5EF4-FFF2-40B4-BE49-F238E27FC236}">
                  <a16:creationId xmlns:a16="http://schemas.microsoft.com/office/drawing/2014/main" id="{5FAD09A4-6EC5-4070-AC98-DF883C06F2E7}"/>
                </a:ext>
              </a:extLst>
            </p:cNvPr>
            <p:cNvSpPr>
              <a:spLocks noChangeShapeType="1"/>
            </p:cNvSpPr>
            <p:nvPr/>
          </p:nvSpPr>
          <p:spPr bwMode="auto">
            <a:xfrm>
              <a:off x="4512" y="2688"/>
              <a:ext cx="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26" name="Text Box 9">
              <a:extLst>
                <a:ext uri="{FF2B5EF4-FFF2-40B4-BE49-F238E27FC236}">
                  <a16:creationId xmlns:a16="http://schemas.microsoft.com/office/drawing/2014/main" id="{5AC90596-DEEC-4D44-94FC-F09B704B6408}"/>
                </a:ext>
              </a:extLst>
            </p:cNvPr>
            <p:cNvSpPr txBox="1">
              <a:spLocks noChangeArrowheads="1"/>
            </p:cNvSpPr>
            <p:nvPr/>
          </p:nvSpPr>
          <p:spPr bwMode="auto">
            <a:xfrm>
              <a:off x="1106" y="2217"/>
              <a:ext cx="4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000" b="1">
                  <a:solidFill>
                    <a:srgbClr val="FF0000"/>
                  </a:solidFill>
                </a:rPr>
                <a:t>pH3</a:t>
              </a:r>
            </a:p>
          </p:txBody>
        </p:sp>
        <p:sp>
          <p:nvSpPr>
            <p:cNvPr id="200727" name="Text Box 10">
              <a:extLst>
                <a:ext uri="{FF2B5EF4-FFF2-40B4-BE49-F238E27FC236}">
                  <a16:creationId xmlns:a16="http://schemas.microsoft.com/office/drawing/2014/main" id="{475B8D97-8BFD-4803-96D8-25603F3DEB28}"/>
                </a:ext>
              </a:extLst>
            </p:cNvPr>
            <p:cNvSpPr txBox="1">
              <a:spLocks noChangeArrowheads="1"/>
            </p:cNvSpPr>
            <p:nvPr/>
          </p:nvSpPr>
          <p:spPr bwMode="auto">
            <a:xfrm>
              <a:off x="3986" y="2193"/>
              <a:ext cx="4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000" b="1">
                  <a:solidFill>
                    <a:schemeClr val="tx1"/>
                  </a:solidFill>
                </a:rPr>
                <a:t>pH10</a:t>
              </a:r>
            </a:p>
          </p:txBody>
        </p:sp>
        <p:sp>
          <p:nvSpPr>
            <p:cNvPr id="200728" name="Rectangle 11">
              <a:extLst>
                <a:ext uri="{FF2B5EF4-FFF2-40B4-BE49-F238E27FC236}">
                  <a16:creationId xmlns:a16="http://schemas.microsoft.com/office/drawing/2014/main" id="{397294A3-ED55-4262-8497-A4037F31DE23}"/>
                </a:ext>
              </a:extLst>
            </p:cNvPr>
            <p:cNvSpPr>
              <a:spLocks noChangeArrowheads="1"/>
            </p:cNvSpPr>
            <p:nvPr/>
          </p:nvSpPr>
          <p:spPr bwMode="auto">
            <a:xfrm>
              <a:off x="2256" y="2592"/>
              <a:ext cx="144" cy="336"/>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200729" name="Line 12">
              <a:extLst>
                <a:ext uri="{FF2B5EF4-FFF2-40B4-BE49-F238E27FC236}">
                  <a16:creationId xmlns:a16="http://schemas.microsoft.com/office/drawing/2014/main" id="{5C9B2FFD-54C7-4B2E-B452-990ADD5A1096}"/>
                </a:ext>
              </a:extLst>
            </p:cNvPr>
            <p:cNvSpPr>
              <a:spLocks noChangeShapeType="1"/>
            </p:cNvSpPr>
            <p:nvPr/>
          </p:nvSpPr>
          <p:spPr bwMode="auto">
            <a:xfrm>
              <a:off x="2544" y="2736"/>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0730" name="Line 13">
              <a:extLst>
                <a:ext uri="{FF2B5EF4-FFF2-40B4-BE49-F238E27FC236}">
                  <a16:creationId xmlns:a16="http://schemas.microsoft.com/office/drawing/2014/main" id="{DE02231A-B349-4EBB-A49A-6B2F7D0F4339}"/>
                </a:ext>
              </a:extLst>
            </p:cNvPr>
            <p:cNvSpPr>
              <a:spLocks noChangeShapeType="1"/>
            </p:cNvSpPr>
            <p:nvPr/>
          </p:nvSpPr>
          <p:spPr bwMode="auto">
            <a:xfrm flipH="1">
              <a:off x="1824" y="2736"/>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0731" name="Line 14">
              <a:extLst>
                <a:ext uri="{FF2B5EF4-FFF2-40B4-BE49-F238E27FC236}">
                  <a16:creationId xmlns:a16="http://schemas.microsoft.com/office/drawing/2014/main" id="{EF5195FB-C0E1-4DD7-A2B6-489048A6252A}"/>
                </a:ext>
              </a:extLst>
            </p:cNvPr>
            <p:cNvSpPr>
              <a:spLocks noChangeShapeType="1"/>
            </p:cNvSpPr>
            <p:nvPr/>
          </p:nvSpPr>
          <p:spPr bwMode="auto">
            <a:xfrm>
              <a:off x="1488" y="2352"/>
              <a:ext cx="244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5">
            <a:extLst>
              <a:ext uri="{FF2B5EF4-FFF2-40B4-BE49-F238E27FC236}">
                <a16:creationId xmlns:a16="http://schemas.microsoft.com/office/drawing/2014/main" id="{E6D0C755-44A1-47AA-A989-D23D28C3E534}"/>
              </a:ext>
            </a:extLst>
          </p:cNvPr>
          <p:cNvGrpSpPr>
            <a:grpSpLocks/>
          </p:cNvGrpSpPr>
          <p:nvPr/>
        </p:nvGrpSpPr>
        <p:grpSpPr bwMode="auto">
          <a:xfrm>
            <a:off x="2490789" y="3716339"/>
            <a:ext cx="6918325" cy="1660525"/>
            <a:chOff x="566" y="3201"/>
            <a:chExt cx="4358" cy="1046"/>
          </a:xfrm>
        </p:grpSpPr>
        <p:sp>
          <p:nvSpPr>
            <p:cNvPr id="200709" name="Rectangle 16">
              <a:extLst>
                <a:ext uri="{FF2B5EF4-FFF2-40B4-BE49-F238E27FC236}">
                  <a16:creationId xmlns:a16="http://schemas.microsoft.com/office/drawing/2014/main" id="{84B762F0-0E9E-44DD-95B3-2ACE3E82E831}"/>
                </a:ext>
              </a:extLst>
            </p:cNvPr>
            <p:cNvSpPr>
              <a:spLocks noChangeArrowheads="1"/>
            </p:cNvSpPr>
            <p:nvPr/>
          </p:nvSpPr>
          <p:spPr bwMode="auto">
            <a:xfrm>
              <a:off x="1248" y="3516"/>
              <a:ext cx="2976" cy="432"/>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200710" name="Text Box 17">
              <a:extLst>
                <a:ext uri="{FF2B5EF4-FFF2-40B4-BE49-F238E27FC236}">
                  <a16:creationId xmlns:a16="http://schemas.microsoft.com/office/drawing/2014/main" id="{81B13BCD-8124-41AF-956B-C87F29F94A77}"/>
                </a:ext>
              </a:extLst>
            </p:cNvPr>
            <p:cNvSpPr txBox="1">
              <a:spLocks noChangeArrowheads="1"/>
            </p:cNvSpPr>
            <p:nvPr/>
          </p:nvSpPr>
          <p:spPr bwMode="auto">
            <a:xfrm>
              <a:off x="566" y="3412"/>
              <a:ext cx="612" cy="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b="1">
                  <a:solidFill>
                    <a:srgbClr val="FF0000"/>
                  </a:solidFill>
                </a:rPr>
                <a:t>   </a:t>
              </a:r>
              <a:r>
                <a:rPr kumimoji="1" lang="en-US" altLang="zh-CN" b="1">
                  <a:solidFill>
                    <a:srgbClr val="FF0000"/>
                  </a:solidFill>
                </a:rPr>
                <a:t>+</a:t>
              </a:r>
            </a:p>
            <a:p>
              <a:pPr eaLnBrk="1" hangingPunct="1">
                <a:spcBef>
                  <a:spcPct val="0"/>
                </a:spcBef>
                <a:buClrTx/>
                <a:buFontTx/>
                <a:buNone/>
              </a:pPr>
              <a:r>
                <a:rPr kumimoji="1" lang="en-US" altLang="zh-CN" sz="1800" b="1">
                  <a:solidFill>
                    <a:srgbClr val="FF0000"/>
                  </a:solidFill>
                </a:rPr>
                <a:t>(H</a:t>
              </a:r>
              <a:r>
                <a:rPr kumimoji="1" lang="en-US" altLang="zh-CN" sz="1800" b="1" baseline="-25000">
                  <a:solidFill>
                    <a:srgbClr val="FF0000"/>
                  </a:solidFill>
                </a:rPr>
                <a:t>2</a:t>
              </a:r>
              <a:r>
                <a:rPr kumimoji="1" lang="en-US" altLang="zh-CN" sz="1800" b="1">
                  <a:solidFill>
                    <a:srgbClr val="FF0000"/>
                  </a:solidFill>
                </a:rPr>
                <a:t>SO</a:t>
              </a:r>
              <a:r>
                <a:rPr kumimoji="1" lang="en-US" altLang="zh-CN" sz="1800" b="1" baseline="-25000">
                  <a:solidFill>
                    <a:srgbClr val="FF0000"/>
                  </a:solidFill>
                </a:rPr>
                <a:t>4</a:t>
              </a:r>
              <a:r>
                <a:rPr kumimoji="1" lang="en-US" altLang="zh-CN" sz="1800" b="1">
                  <a:solidFill>
                    <a:srgbClr val="FF0000"/>
                  </a:solidFill>
                </a:rPr>
                <a:t>)</a:t>
              </a:r>
            </a:p>
          </p:txBody>
        </p:sp>
        <p:sp>
          <p:nvSpPr>
            <p:cNvPr id="200711" name="Text Box 18">
              <a:extLst>
                <a:ext uri="{FF2B5EF4-FFF2-40B4-BE49-F238E27FC236}">
                  <a16:creationId xmlns:a16="http://schemas.microsoft.com/office/drawing/2014/main" id="{83E94745-68D3-490A-92BF-B6AA2478B0D9}"/>
                </a:ext>
              </a:extLst>
            </p:cNvPr>
            <p:cNvSpPr txBox="1">
              <a:spLocks noChangeArrowheads="1"/>
            </p:cNvSpPr>
            <p:nvPr/>
          </p:nvSpPr>
          <p:spPr bwMode="auto">
            <a:xfrm>
              <a:off x="4312" y="3518"/>
              <a:ext cx="612"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b="1">
                  <a:solidFill>
                    <a:schemeClr val="tx1"/>
                  </a:solidFill>
                </a:rPr>
                <a:t>   </a:t>
              </a:r>
              <a:endParaRPr kumimoji="1" lang="en-US" altLang="zh-CN" b="1">
                <a:solidFill>
                  <a:schemeClr val="tx1"/>
                </a:solidFill>
              </a:endParaRPr>
            </a:p>
            <a:p>
              <a:pPr eaLnBrk="1" hangingPunct="1">
                <a:spcBef>
                  <a:spcPct val="0"/>
                </a:spcBef>
                <a:buClrTx/>
                <a:buFontTx/>
                <a:buNone/>
              </a:pPr>
              <a:r>
                <a:rPr kumimoji="1" lang="en-US" altLang="zh-CN" sz="1800" b="1">
                  <a:solidFill>
                    <a:schemeClr val="tx1"/>
                  </a:solidFill>
                </a:rPr>
                <a:t>(NaOH)</a:t>
              </a:r>
            </a:p>
          </p:txBody>
        </p:sp>
        <p:sp>
          <p:nvSpPr>
            <p:cNvPr id="200712" name="Line 19">
              <a:extLst>
                <a:ext uri="{FF2B5EF4-FFF2-40B4-BE49-F238E27FC236}">
                  <a16:creationId xmlns:a16="http://schemas.microsoft.com/office/drawing/2014/main" id="{7A938F2C-6604-447F-94DE-20516C7382FC}"/>
                </a:ext>
              </a:extLst>
            </p:cNvPr>
            <p:cNvSpPr>
              <a:spLocks noChangeShapeType="1"/>
            </p:cNvSpPr>
            <p:nvPr/>
          </p:nvSpPr>
          <p:spPr bwMode="auto">
            <a:xfrm>
              <a:off x="4548" y="3612"/>
              <a:ext cx="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13" name="Rectangle 20">
              <a:extLst>
                <a:ext uri="{FF2B5EF4-FFF2-40B4-BE49-F238E27FC236}">
                  <a16:creationId xmlns:a16="http://schemas.microsoft.com/office/drawing/2014/main" id="{8BB33EFC-167D-4D73-8981-30D37C0ACA72}"/>
                </a:ext>
              </a:extLst>
            </p:cNvPr>
            <p:cNvSpPr>
              <a:spLocks noChangeArrowheads="1"/>
            </p:cNvSpPr>
            <p:nvPr/>
          </p:nvSpPr>
          <p:spPr bwMode="auto">
            <a:xfrm>
              <a:off x="1872" y="3552"/>
              <a:ext cx="48" cy="336"/>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200714" name="Rectangle 21">
              <a:extLst>
                <a:ext uri="{FF2B5EF4-FFF2-40B4-BE49-F238E27FC236}">
                  <a16:creationId xmlns:a16="http://schemas.microsoft.com/office/drawing/2014/main" id="{F4111C69-EB85-4D76-8ECC-3ABD8BF9B825}"/>
                </a:ext>
              </a:extLst>
            </p:cNvPr>
            <p:cNvSpPr>
              <a:spLocks noChangeArrowheads="1"/>
            </p:cNvSpPr>
            <p:nvPr/>
          </p:nvSpPr>
          <p:spPr bwMode="auto">
            <a:xfrm>
              <a:off x="2181" y="3552"/>
              <a:ext cx="48" cy="336"/>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200715" name="Line 22">
              <a:extLst>
                <a:ext uri="{FF2B5EF4-FFF2-40B4-BE49-F238E27FC236}">
                  <a16:creationId xmlns:a16="http://schemas.microsoft.com/office/drawing/2014/main" id="{3D2AA69C-24B6-4FF4-89AC-D755C1E4C8F1}"/>
                </a:ext>
              </a:extLst>
            </p:cNvPr>
            <p:cNvSpPr>
              <a:spLocks noChangeShapeType="1"/>
            </p:cNvSpPr>
            <p:nvPr/>
          </p:nvSpPr>
          <p:spPr bwMode="auto">
            <a:xfrm>
              <a:off x="2545" y="3552"/>
              <a:ext cx="0" cy="33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16" name="Line 23">
              <a:extLst>
                <a:ext uri="{FF2B5EF4-FFF2-40B4-BE49-F238E27FC236}">
                  <a16:creationId xmlns:a16="http://schemas.microsoft.com/office/drawing/2014/main" id="{32EDC14F-12ED-43D7-A5F8-CA8667786577}"/>
                </a:ext>
              </a:extLst>
            </p:cNvPr>
            <p:cNvSpPr>
              <a:spLocks noChangeShapeType="1"/>
            </p:cNvSpPr>
            <p:nvPr/>
          </p:nvSpPr>
          <p:spPr bwMode="auto">
            <a:xfrm>
              <a:off x="3400" y="3552"/>
              <a:ext cx="0" cy="336"/>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17" name="Line 24">
              <a:extLst>
                <a:ext uri="{FF2B5EF4-FFF2-40B4-BE49-F238E27FC236}">
                  <a16:creationId xmlns:a16="http://schemas.microsoft.com/office/drawing/2014/main" id="{2D67A409-2CF0-4BB1-AA97-09347779F001}"/>
                </a:ext>
              </a:extLst>
            </p:cNvPr>
            <p:cNvSpPr>
              <a:spLocks noChangeShapeType="1"/>
            </p:cNvSpPr>
            <p:nvPr/>
          </p:nvSpPr>
          <p:spPr bwMode="auto">
            <a:xfrm>
              <a:off x="3072" y="3552"/>
              <a:ext cx="0" cy="33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0718" name="Text Box 25">
              <a:extLst>
                <a:ext uri="{FF2B5EF4-FFF2-40B4-BE49-F238E27FC236}">
                  <a16:creationId xmlns:a16="http://schemas.microsoft.com/office/drawing/2014/main" id="{09B2B573-41D1-40AF-8D23-3AB43B8BF1F4}"/>
                </a:ext>
              </a:extLst>
            </p:cNvPr>
            <p:cNvSpPr txBox="1">
              <a:spLocks noChangeArrowheads="1"/>
            </p:cNvSpPr>
            <p:nvPr/>
          </p:nvSpPr>
          <p:spPr bwMode="auto">
            <a:xfrm>
              <a:off x="1247" y="3959"/>
              <a:ext cx="26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b="1">
                  <a:solidFill>
                    <a:schemeClr val="tx1"/>
                  </a:solidFill>
                </a:rPr>
                <a:t>pI      4.5  5.1  6.0      7.9  8.1       </a:t>
              </a:r>
            </a:p>
          </p:txBody>
        </p:sp>
        <p:sp>
          <p:nvSpPr>
            <p:cNvPr id="200719" name="Line 26">
              <a:extLst>
                <a:ext uri="{FF2B5EF4-FFF2-40B4-BE49-F238E27FC236}">
                  <a16:creationId xmlns:a16="http://schemas.microsoft.com/office/drawing/2014/main" id="{F2AC2F9C-A460-45A1-9A83-9F6B3DCCC99D}"/>
                </a:ext>
              </a:extLst>
            </p:cNvPr>
            <p:cNvSpPr>
              <a:spLocks noChangeShapeType="1"/>
            </p:cNvSpPr>
            <p:nvPr/>
          </p:nvSpPr>
          <p:spPr bwMode="auto">
            <a:xfrm>
              <a:off x="1476" y="3336"/>
              <a:ext cx="244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0720" name="Text Box 27">
              <a:extLst>
                <a:ext uri="{FF2B5EF4-FFF2-40B4-BE49-F238E27FC236}">
                  <a16:creationId xmlns:a16="http://schemas.microsoft.com/office/drawing/2014/main" id="{BAD13097-819B-40C2-86E6-06E1EB93C48F}"/>
                </a:ext>
              </a:extLst>
            </p:cNvPr>
            <p:cNvSpPr txBox="1">
              <a:spLocks noChangeArrowheads="1"/>
            </p:cNvSpPr>
            <p:nvPr/>
          </p:nvSpPr>
          <p:spPr bwMode="auto">
            <a:xfrm>
              <a:off x="1106" y="3201"/>
              <a:ext cx="4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000" b="1">
                  <a:solidFill>
                    <a:srgbClr val="FF0000"/>
                  </a:solidFill>
                </a:rPr>
                <a:t>pH3</a:t>
              </a:r>
            </a:p>
          </p:txBody>
        </p:sp>
        <p:sp>
          <p:nvSpPr>
            <p:cNvPr id="200721" name="Text Box 28">
              <a:extLst>
                <a:ext uri="{FF2B5EF4-FFF2-40B4-BE49-F238E27FC236}">
                  <a16:creationId xmlns:a16="http://schemas.microsoft.com/office/drawing/2014/main" id="{C8232418-3A78-45B5-9509-4FE3534D04E6}"/>
                </a:ext>
              </a:extLst>
            </p:cNvPr>
            <p:cNvSpPr txBox="1">
              <a:spLocks noChangeArrowheads="1"/>
            </p:cNvSpPr>
            <p:nvPr/>
          </p:nvSpPr>
          <p:spPr bwMode="auto">
            <a:xfrm>
              <a:off x="3986" y="3201"/>
              <a:ext cx="4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000" b="1">
                  <a:solidFill>
                    <a:schemeClr val="tx1"/>
                  </a:solidFill>
                </a:rPr>
                <a:t>pH10</a:t>
              </a:r>
            </a:p>
          </p:txBody>
        </p:sp>
      </p:gr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754" name="Picture 2">
            <a:extLst>
              <a:ext uri="{FF2B5EF4-FFF2-40B4-BE49-F238E27FC236}">
                <a16:creationId xmlns:a16="http://schemas.microsoft.com/office/drawing/2014/main" id="{86546EF5-1AFC-4A67-8955-7FB5E6550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6275" y="981075"/>
            <a:ext cx="47879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755" name="Rectangle 3">
            <a:extLst>
              <a:ext uri="{FF2B5EF4-FFF2-40B4-BE49-F238E27FC236}">
                <a16:creationId xmlns:a16="http://schemas.microsoft.com/office/drawing/2014/main" id="{996C4F04-A214-4479-8286-0F499125A7B6}"/>
              </a:ext>
            </a:extLst>
          </p:cNvPr>
          <p:cNvSpPr>
            <a:spLocks noChangeArrowheads="1"/>
          </p:cNvSpPr>
          <p:nvPr/>
        </p:nvSpPr>
        <p:spPr bwMode="auto">
          <a:xfrm>
            <a:off x="3905251" y="104776"/>
            <a:ext cx="32734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kumimoji="1" lang="zh-CN" altLang="en-US" sz="4000" b="1">
                <a:solidFill>
                  <a:schemeClr val="bg1"/>
                </a:solidFill>
              </a:rPr>
              <a:t>等电聚焦电泳</a:t>
            </a:r>
            <a:endParaRPr kumimoji="1" lang="en-US" altLang="zh-CN" sz="2000" b="1">
              <a:solidFill>
                <a:schemeClr val="bg1"/>
              </a:solidFill>
            </a:endParaRPr>
          </a:p>
        </p:txBody>
      </p:sp>
    </p:spTree>
  </p:cSld>
  <p:clrMapOvr>
    <a:masterClrMapping/>
  </p:clrMapOvr>
  <p:transition spd="slow">
    <p:circl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850" name="Picture 2">
            <a:extLst>
              <a:ext uri="{FF2B5EF4-FFF2-40B4-BE49-F238E27FC236}">
                <a16:creationId xmlns:a16="http://schemas.microsoft.com/office/drawing/2014/main" id="{8534174C-3561-4796-995D-908E8C669DD7}"/>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524000" y="908050"/>
            <a:ext cx="9144000" cy="5949950"/>
          </a:xfrm>
        </p:spPr>
      </p:pic>
      <p:sp>
        <p:nvSpPr>
          <p:cNvPr id="365571" name="Rectangle 3">
            <a:extLst>
              <a:ext uri="{FF2B5EF4-FFF2-40B4-BE49-F238E27FC236}">
                <a16:creationId xmlns:a16="http://schemas.microsoft.com/office/drawing/2014/main" id="{37982C73-2C70-4AC8-9A90-F5F8725BEC6A}"/>
              </a:ext>
            </a:extLst>
          </p:cNvPr>
          <p:cNvSpPr>
            <a:spLocks noGrp="1" noChangeArrowheads="1"/>
          </p:cNvSpPr>
          <p:nvPr>
            <p:ph type="title" idx="4294967295"/>
          </p:nvPr>
        </p:nvSpPr>
        <p:spPr>
          <a:xfrm>
            <a:off x="1720851" y="333376"/>
            <a:ext cx="8748713" cy="574675"/>
          </a:xfrm>
          <a:solidFill>
            <a:schemeClr val="tx2">
              <a:lumMod val="75000"/>
            </a:schemeClr>
          </a:solidFill>
        </p:spPr>
        <p:txBody>
          <a:bodyPr/>
          <a:lstStyle/>
          <a:p>
            <a:pPr algn="ctr" eaLnBrk="1" hangingPunct="1">
              <a:defRPr/>
            </a:pPr>
            <a:r>
              <a:rPr lang="zh-CN" altLang="en-US" sz="3200" dirty="0">
                <a:latin typeface="Times New Roman" panose="02020603050405020304" pitchFamily="18" charset="0"/>
              </a:rPr>
              <a:t>双向电泳</a:t>
            </a:r>
            <a:r>
              <a:rPr kumimoji="1" lang="zh-CN" altLang="en-US" sz="3200" dirty="0">
                <a:latin typeface="Times New Roman" panose="02020603050405020304" pitchFamily="18" charset="0"/>
              </a:rPr>
              <a:t>（</a:t>
            </a:r>
            <a:r>
              <a:rPr kumimoji="1" lang="en-US" altLang="zh-CN" sz="3200" dirty="0">
                <a:latin typeface="Times New Roman" panose="02020603050405020304" pitchFamily="18" charset="0"/>
              </a:rPr>
              <a:t>two dimensional electrophoresis</a:t>
            </a:r>
            <a:r>
              <a:rPr kumimoji="1" lang="zh-CN" altLang="en-US" sz="3200" dirty="0">
                <a:latin typeface="Times New Roman" panose="02020603050405020304" pitchFamily="18" charset="0"/>
              </a:rPr>
              <a:t>）</a:t>
            </a:r>
          </a:p>
        </p:txBody>
      </p:sp>
    </p:spTree>
  </p:cSld>
  <p:clrMapOvr>
    <a:masterClrMapping/>
  </p:clrMapOvr>
  <p:transition spd="slow">
    <p:circl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ext Box 2">
            <a:extLst>
              <a:ext uri="{FF2B5EF4-FFF2-40B4-BE49-F238E27FC236}">
                <a16:creationId xmlns:a16="http://schemas.microsoft.com/office/drawing/2014/main" id="{EC56A1C6-E776-4541-B9AC-73B4402B25B5}"/>
              </a:ext>
            </a:extLst>
          </p:cNvPr>
          <p:cNvSpPr txBox="1">
            <a:spLocks noChangeArrowheads="1"/>
          </p:cNvSpPr>
          <p:nvPr/>
        </p:nvSpPr>
        <p:spPr bwMode="auto">
          <a:xfrm>
            <a:off x="1992314" y="115889"/>
            <a:ext cx="7127875" cy="708025"/>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r>
              <a:rPr kumimoji="1" lang="zh-CN" altLang="en-US" sz="4000" dirty="0">
                <a:solidFill>
                  <a:schemeClr val="accent3"/>
                </a:solidFill>
              </a:rPr>
              <a:t>四 </a:t>
            </a:r>
            <a:r>
              <a:rPr kumimoji="1" lang="zh-CN" altLang="en-US" sz="4000" dirty="0">
                <a:solidFill>
                  <a:schemeClr val="accent3"/>
                </a:solidFill>
                <a:latin typeface="Arial" panose="020B0604020202020204" pitchFamily="34" charset="0"/>
                <a:ea typeface="宋体" panose="02010600030101010101" pitchFamily="2" charset="-122"/>
              </a:rPr>
              <a:t>、</a:t>
            </a:r>
            <a:r>
              <a:rPr kumimoji="1" lang="zh-CN" altLang="en-US" sz="4000" dirty="0">
                <a:solidFill>
                  <a:schemeClr val="accent3"/>
                </a:solidFill>
              </a:rPr>
              <a:t>层析</a:t>
            </a:r>
            <a:r>
              <a:rPr kumimoji="1" lang="en-US" altLang="zh-CN" sz="4000" dirty="0">
                <a:solidFill>
                  <a:schemeClr val="accent3"/>
                </a:solidFill>
              </a:rPr>
              <a:t>(chromatography)</a:t>
            </a:r>
            <a:endParaRPr kumimoji="1" lang="zh-CN" altLang="en-US" sz="4000" dirty="0">
              <a:solidFill>
                <a:schemeClr val="accent3"/>
              </a:solidFill>
            </a:endParaRPr>
          </a:p>
        </p:txBody>
      </p:sp>
      <p:sp>
        <p:nvSpPr>
          <p:cNvPr id="82947" name="Rectangle 3">
            <a:extLst>
              <a:ext uri="{FF2B5EF4-FFF2-40B4-BE49-F238E27FC236}">
                <a16:creationId xmlns:a16="http://schemas.microsoft.com/office/drawing/2014/main" id="{7829B2D1-5635-40BC-B2B8-2E8FB71A99CB}"/>
              </a:ext>
            </a:extLst>
          </p:cNvPr>
          <p:cNvSpPr>
            <a:spLocks noChangeArrowheads="1"/>
          </p:cNvSpPr>
          <p:nvPr/>
        </p:nvSpPr>
        <p:spPr bwMode="auto">
          <a:xfrm>
            <a:off x="1992313" y="1268413"/>
            <a:ext cx="8064500" cy="401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179388" indent="720725">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zh-CN" altLang="en-US" dirty="0">
                <a:solidFill>
                  <a:srgbClr val="006600"/>
                </a:solidFill>
              </a:rPr>
              <a:t>层析分离蛋白质的原理</a:t>
            </a:r>
          </a:p>
          <a:p>
            <a:pPr eaLnBrk="1" hangingPunct="1">
              <a:lnSpc>
                <a:spcPct val="90000"/>
              </a:lnSpc>
              <a:spcBef>
                <a:spcPct val="0"/>
              </a:spcBef>
              <a:buClrTx/>
              <a:buFontTx/>
              <a:buNone/>
            </a:pPr>
            <a:endParaRPr kumimoji="1" lang="zh-CN" altLang="en-US" dirty="0">
              <a:solidFill>
                <a:srgbClr val="336600"/>
              </a:solidFill>
            </a:endParaRPr>
          </a:p>
          <a:p>
            <a:pPr lvl="1" eaLnBrk="1" hangingPunct="1">
              <a:lnSpc>
                <a:spcPct val="140000"/>
              </a:lnSpc>
              <a:spcBef>
                <a:spcPct val="0"/>
              </a:spcBef>
              <a:buClrTx/>
              <a:buFontTx/>
              <a:buNone/>
            </a:pPr>
            <a:r>
              <a:rPr kumimoji="1" lang="zh-CN" altLang="en-US" dirty="0">
                <a:solidFill>
                  <a:schemeClr val="tx1"/>
                </a:solidFill>
              </a:rPr>
              <a:t>待分离蛋白质溶液（</a:t>
            </a:r>
            <a:r>
              <a:rPr kumimoji="1" lang="zh-CN" altLang="en-US" dirty="0">
                <a:solidFill>
                  <a:schemeClr val="tx1">
                    <a:lumMod val="60000"/>
                    <a:lumOff val="40000"/>
                  </a:schemeClr>
                </a:solidFill>
              </a:rPr>
              <a:t>流动相</a:t>
            </a:r>
            <a:r>
              <a:rPr kumimoji="1" lang="zh-CN" altLang="en-US" dirty="0">
                <a:solidFill>
                  <a:schemeClr val="tx1"/>
                </a:solidFill>
              </a:rPr>
              <a:t>）经过一个固态物质（</a:t>
            </a:r>
            <a:r>
              <a:rPr kumimoji="1" lang="zh-CN" altLang="en-US" dirty="0">
                <a:solidFill>
                  <a:schemeClr val="tx1">
                    <a:lumMod val="60000"/>
                    <a:lumOff val="40000"/>
                  </a:schemeClr>
                </a:solidFill>
              </a:rPr>
              <a:t>固定相</a:t>
            </a:r>
            <a:r>
              <a:rPr kumimoji="1" lang="zh-CN" altLang="en-US" dirty="0">
                <a:solidFill>
                  <a:schemeClr val="tx1"/>
                </a:solidFill>
              </a:rPr>
              <a:t>）时，根据溶液中待分离的蛋白质</a:t>
            </a:r>
            <a:r>
              <a:rPr kumimoji="1" lang="zh-CN" altLang="en-US" dirty="0">
                <a:solidFill>
                  <a:srgbClr val="FF0000"/>
                </a:solidFill>
              </a:rPr>
              <a:t>颗粒大小、电荷多少及亲和力</a:t>
            </a:r>
            <a:r>
              <a:rPr kumimoji="1" lang="zh-CN" altLang="en-US" dirty="0">
                <a:solidFill>
                  <a:schemeClr val="tx1"/>
                </a:solidFill>
              </a:rPr>
              <a:t>等，使待分离的蛋白质组分在两相中反复分配，并以不同速度流经固定相而达到分离蛋白质的目的。</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82947"/>
                                        </p:tgtEl>
                                        <p:attrNameLst>
                                          <p:attrName>style.visibility</p:attrName>
                                        </p:attrNameLst>
                                      </p:cBhvr>
                                      <p:to>
                                        <p:strVal val="visible"/>
                                      </p:to>
                                    </p:set>
                                    <p:animEffect transition="in" filter="strips(downLeft)">
                                      <p:cBhvr>
                                        <p:cTn id="7" dur="500"/>
                                        <p:tgtEl>
                                          <p:spTgt spid="82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a:extLst>
              <a:ext uri="{FF2B5EF4-FFF2-40B4-BE49-F238E27FC236}">
                <a16:creationId xmlns:a16="http://schemas.microsoft.com/office/drawing/2014/main" id="{8A36803F-236F-4197-B9B4-21A95AA52EB7}"/>
              </a:ext>
            </a:extLst>
          </p:cNvPr>
          <p:cNvSpPr>
            <a:spLocks noChangeArrowheads="1"/>
          </p:cNvSpPr>
          <p:nvPr/>
        </p:nvSpPr>
        <p:spPr bwMode="auto">
          <a:xfrm>
            <a:off x="1271464" y="1435505"/>
            <a:ext cx="9145015" cy="3986989"/>
          </a:xfrm>
          <a:prstGeom prst="rect">
            <a:avLst/>
          </a:prstGeom>
          <a:noFill/>
          <a:ln>
            <a:noFill/>
          </a:ln>
        </p:spPr>
        <p:txBody>
          <a:bodyPr wrap="square">
            <a:spAutoFit/>
          </a:bodyPr>
          <a:lstStyle>
            <a:lvl1pPr marL="271463" indent="-271463">
              <a:spcBef>
                <a:spcPct val="20000"/>
              </a:spcBef>
              <a:buClr>
                <a:schemeClr val="hlink"/>
              </a:buClr>
              <a:buFont typeface="Wingdings" panose="05000000000000000000" pitchFamily="2" charset="2"/>
              <a:buChar char="v"/>
              <a:defRPr sz="2800" b="1">
                <a:solidFill>
                  <a:schemeClr val="tx2"/>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黑体" panose="02010609060101010101" pitchFamily="49" charset="-122"/>
              </a:defRPr>
            </a:lvl9pPr>
          </a:lstStyle>
          <a:p>
            <a:pPr marL="468000" indent="-432000" algn="just" eaLnBrk="1" hangingPunct="1">
              <a:lnSpc>
                <a:spcPct val="110000"/>
              </a:lnSpc>
              <a:spcBef>
                <a:spcPts val="2400"/>
              </a:spcBef>
              <a:buClrTx/>
              <a:defRPr/>
            </a:pPr>
            <a:r>
              <a:rPr kumimoji="1" lang="zh-CN" altLang="en-US" b="0" dirty="0">
                <a:solidFill>
                  <a:srgbClr val="FF0000"/>
                </a:solidFill>
              </a:rPr>
              <a:t>离子交换层析：</a:t>
            </a:r>
            <a:r>
              <a:rPr kumimoji="1" lang="zh-CN" altLang="en-US" b="0" dirty="0">
                <a:solidFill>
                  <a:schemeClr val="tx1"/>
                </a:solidFill>
              </a:rPr>
              <a:t>利用各蛋白质的</a:t>
            </a:r>
            <a:r>
              <a:rPr kumimoji="1" lang="zh-CN" altLang="en-US" b="0" dirty="0">
                <a:solidFill>
                  <a:srgbClr val="0000CC"/>
                </a:solidFill>
              </a:rPr>
              <a:t>电荷量及性质</a:t>
            </a:r>
            <a:r>
              <a:rPr kumimoji="1" lang="zh-CN" altLang="en-US" b="0" dirty="0">
                <a:solidFill>
                  <a:schemeClr val="tx1"/>
                </a:solidFill>
              </a:rPr>
              <a:t>不同进行分离。</a:t>
            </a:r>
            <a:endParaRPr kumimoji="1" lang="en-US" altLang="zh-CN" b="0" dirty="0">
              <a:solidFill>
                <a:schemeClr val="tx1"/>
              </a:solidFill>
            </a:endParaRPr>
          </a:p>
          <a:p>
            <a:pPr marL="468000" indent="-432000" algn="just" eaLnBrk="1" hangingPunct="1">
              <a:lnSpc>
                <a:spcPct val="110000"/>
              </a:lnSpc>
              <a:spcBef>
                <a:spcPts val="2400"/>
              </a:spcBef>
              <a:buClrTx/>
              <a:defRPr/>
            </a:pPr>
            <a:r>
              <a:rPr kumimoji="1" lang="zh-CN" altLang="en-US" b="0" dirty="0">
                <a:solidFill>
                  <a:srgbClr val="FF0000"/>
                </a:solidFill>
              </a:rPr>
              <a:t>凝胶过滤</a:t>
            </a:r>
            <a:r>
              <a:rPr kumimoji="1" lang="en-US" altLang="zh-CN" b="0" dirty="0">
                <a:solidFill>
                  <a:srgbClr val="FF0000"/>
                </a:solidFill>
              </a:rPr>
              <a:t>(gel filtration)</a:t>
            </a:r>
            <a:r>
              <a:rPr kumimoji="1" lang="zh-CN" altLang="en-US" b="0" dirty="0">
                <a:solidFill>
                  <a:schemeClr val="tx1"/>
                </a:solidFill>
              </a:rPr>
              <a:t>又称</a:t>
            </a:r>
            <a:r>
              <a:rPr kumimoji="1" lang="zh-CN" altLang="en-US" b="0" dirty="0">
                <a:solidFill>
                  <a:srgbClr val="FF0000"/>
                </a:solidFill>
              </a:rPr>
              <a:t>分子筛层析</a:t>
            </a:r>
            <a:r>
              <a:rPr kumimoji="1" lang="zh-CN" altLang="en-US" b="0" dirty="0">
                <a:solidFill>
                  <a:schemeClr val="tx1"/>
                </a:solidFill>
              </a:rPr>
              <a:t>或</a:t>
            </a:r>
            <a:r>
              <a:rPr kumimoji="1" lang="zh-CN" altLang="en-US" b="0" dirty="0">
                <a:solidFill>
                  <a:srgbClr val="FF0000"/>
                </a:solidFill>
              </a:rPr>
              <a:t>分子排阻层析</a:t>
            </a:r>
            <a:r>
              <a:rPr kumimoji="1" lang="zh-CN" altLang="en-US" b="0" dirty="0">
                <a:solidFill>
                  <a:schemeClr val="accent4">
                    <a:lumMod val="90000"/>
                    <a:lumOff val="10000"/>
                  </a:schemeClr>
                </a:solidFill>
              </a:rPr>
              <a:t>（</a:t>
            </a:r>
            <a:r>
              <a:rPr lang="en-US" altLang="zh-CN" b="0" dirty="0">
                <a:solidFill>
                  <a:schemeClr val="accent4">
                    <a:lumMod val="90000"/>
                    <a:lumOff val="10000"/>
                  </a:schemeClr>
                </a:solidFill>
              </a:rPr>
              <a:t>Size-exclusion chromatography</a:t>
            </a:r>
            <a:r>
              <a:rPr lang="zh-CN" altLang="en-US" b="0" dirty="0">
                <a:solidFill>
                  <a:schemeClr val="accent4">
                    <a:lumMod val="90000"/>
                    <a:lumOff val="10000"/>
                  </a:schemeClr>
                </a:solidFill>
              </a:rPr>
              <a:t>）</a:t>
            </a:r>
            <a:r>
              <a:rPr kumimoji="1" lang="zh-CN" altLang="en-US" b="0" dirty="0">
                <a:solidFill>
                  <a:srgbClr val="006600"/>
                </a:solidFill>
              </a:rPr>
              <a:t>，</a:t>
            </a:r>
            <a:r>
              <a:rPr kumimoji="1" lang="zh-CN" altLang="en-US" b="0" dirty="0">
                <a:solidFill>
                  <a:schemeClr val="tx1"/>
                </a:solidFill>
              </a:rPr>
              <a:t>利用各蛋白质</a:t>
            </a:r>
            <a:r>
              <a:rPr kumimoji="1" lang="zh-CN" altLang="en-US" b="0" dirty="0">
                <a:solidFill>
                  <a:srgbClr val="0000CC"/>
                </a:solidFill>
              </a:rPr>
              <a:t>分子大小</a:t>
            </a:r>
            <a:r>
              <a:rPr kumimoji="1" lang="zh-CN" altLang="en-US" b="0" dirty="0">
                <a:solidFill>
                  <a:schemeClr val="tx1"/>
                </a:solidFill>
              </a:rPr>
              <a:t>不同分离。</a:t>
            </a:r>
            <a:endParaRPr kumimoji="1" lang="en-US" altLang="zh-CN" b="0" dirty="0">
              <a:solidFill>
                <a:schemeClr val="tx1"/>
              </a:solidFill>
            </a:endParaRPr>
          </a:p>
          <a:p>
            <a:pPr marL="468000" indent="-432000" algn="just" eaLnBrk="1" hangingPunct="1">
              <a:lnSpc>
                <a:spcPct val="110000"/>
              </a:lnSpc>
              <a:spcBef>
                <a:spcPts val="2400"/>
              </a:spcBef>
              <a:buClrTx/>
              <a:defRPr/>
            </a:pPr>
            <a:r>
              <a:rPr kumimoji="1" lang="zh-CN" altLang="en-US" b="0" dirty="0">
                <a:solidFill>
                  <a:srgbClr val="FF0000"/>
                </a:solidFill>
              </a:rPr>
              <a:t>亲合层析</a:t>
            </a:r>
            <a:r>
              <a:rPr kumimoji="1" lang="zh-CN" altLang="en-US" b="0" dirty="0">
                <a:solidFill>
                  <a:schemeClr val="accent4">
                    <a:lumMod val="90000"/>
                    <a:lumOff val="10000"/>
                  </a:schemeClr>
                </a:solidFill>
              </a:rPr>
              <a:t>（</a:t>
            </a:r>
            <a:r>
              <a:rPr kumimoji="1" lang="en-US" altLang="zh-CN" b="0" dirty="0">
                <a:solidFill>
                  <a:schemeClr val="accent4">
                    <a:lumMod val="90000"/>
                    <a:lumOff val="10000"/>
                  </a:schemeClr>
                </a:solidFill>
              </a:rPr>
              <a:t>Affinity chromatography</a:t>
            </a:r>
            <a:r>
              <a:rPr kumimoji="1" lang="zh-CN" altLang="en-US" b="0" dirty="0">
                <a:solidFill>
                  <a:schemeClr val="accent4">
                    <a:lumMod val="90000"/>
                    <a:lumOff val="10000"/>
                  </a:schemeClr>
                </a:solidFill>
              </a:rPr>
              <a:t>）</a:t>
            </a:r>
            <a:r>
              <a:rPr kumimoji="1" lang="zh-CN" altLang="en-US" b="0" dirty="0">
                <a:solidFill>
                  <a:schemeClr val="tx1"/>
                </a:solidFill>
              </a:rPr>
              <a:t>：利用特定蛋白质与相应配体的</a:t>
            </a:r>
            <a:r>
              <a:rPr kumimoji="1" lang="zh-CN" altLang="en-US" b="0" dirty="0">
                <a:solidFill>
                  <a:srgbClr val="0000CC"/>
                </a:solidFill>
              </a:rPr>
              <a:t>特异亲合性</a:t>
            </a:r>
            <a:r>
              <a:rPr kumimoji="1" lang="zh-CN" altLang="en-US" b="0" dirty="0">
                <a:solidFill>
                  <a:schemeClr val="tx1"/>
                </a:solidFill>
              </a:rPr>
              <a:t>而将之“抓获”并分离。 </a:t>
            </a:r>
          </a:p>
        </p:txBody>
      </p:sp>
      <p:sp>
        <p:nvSpPr>
          <p:cNvPr id="208899" name="标题 1">
            <a:extLst>
              <a:ext uri="{FF2B5EF4-FFF2-40B4-BE49-F238E27FC236}">
                <a16:creationId xmlns:a16="http://schemas.microsoft.com/office/drawing/2014/main" id="{723BF995-1C9B-415C-A44B-747C9B885829}"/>
              </a:ext>
            </a:extLst>
          </p:cNvPr>
          <p:cNvSpPr>
            <a:spLocks noGrp="1" noChangeArrowheads="1"/>
          </p:cNvSpPr>
          <p:nvPr>
            <p:ph type="title"/>
          </p:nvPr>
        </p:nvSpPr>
        <p:spPr>
          <a:xfrm>
            <a:off x="2130426" y="188913"/>
            <a:ext cx="6486525" cy="563562"/>
          </a:xfrm>
        </p:spPr>
        <p:txBody>
          <a:bodyPr/>
          <a:lstStyle/>
          <a:p>
            <a:r>
              <a:rPr kumimoji="1" lang="zh-CN" altLang="en-US"/>
              <a:t>蛋白质分离常用的层析方法</a:t>
            </a:r>
            <a:endParaRPr lang="zh-CN" altLang="en-US"/>
          </a:p>
        </p:txBody>
      </p:sp>
    </p:spTree>
  </p:cSld>
  <p:clrMapOvr>
    <a:masterClrMapping/>
  </p:clrMapOvr>
  <p:transition spd="slow">
    <p:circle/>
  </p:transition>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10946" name="图片 1">
            <a:extLst>
              <a:ext uri="{FF2B5EF4-FFF2-40B4-BE49-F238E27FC236}">
                <a16:creationId xmlns:a16="http://schemas.microsoft.com/office/drawing/2014/main" id="{6A9FC727-61BD-485E-BD66-8038B1DB4D4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8214" y="111125"/>
            <a:ext cx="7920037" cy="675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2994" name="图片 1">
            <a:extLst>
              <a:ext uri="{FF2B5EF4-FFF2-40B4-BE49-F238E27FC236}">
                <a16:creationId xmlns:a16="http://schemas.microsoft.com/office/drawing/2014/main" id="{C25C6936-2A91-4BD3-9300-DED792D6054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51984" y="-9841"/>
            <a:ext cx="5334000" cy="667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2995" name="标题 2">
            <a:extLst>
              <a:ext uri="{FF2B5EF4-FFF2-40B4-BE49-F238E27FC236}">
                <a16:creationId xmlns:a16="http://schemas.microsoft.com/office/drawing/2014/main" id="{C9E3708F-CE9D-46F2-8F1B-01239D1241FD}"/>
              </a:ext>
            </a:extLst>
          </p:cNvPr>
          <p:cNvSpPr>
            <a:spLocks noGrp="1" noChangeArrowheads="1"/>
          </p:cNvSpPr>
          <p:nvPr>
            <p:ph type="title" idx="4294967295"/>
          </p:nvPr>
        </p:nvSpPr>
        <p:spPr>
          <a:xfrm>
            <a:off x="767408" y="404664"/>
            <a:ext cx="4458642" cy="936104"/>
          </a:xfrm>
        </p:spPr>
        <p:txBody>
          <a:bodyPr/>
          <a:lstStyle/>
          <a:p>
            <a:r>
              <a:rPr lang="zh-CN" altLang="en-US" dirty="0">
                <a:solidFill>
                  <a:schemeClr val="tx1">
                    <a:lumMod val="60000"/>
                    <a:lumOff val="40000"/>
                  </a:schemeClr>
                </a:solidFill>
              </a:rPr>
              <a:t>阳离子交换层析</a:t>
            </a:r>
          </a:p>
        </p:txBody>
      </p:sp>
      <p:sp>
        <p:nvSpPr>
          <p:cNvPr id="4" name="文本框 3">
            <a:extLst>
              <a:ext uri="{FF2B5EF4-FFF2-40B4-BE49-F238E27FC236}">
                <a16:creationId xmlns:a16="http://schemas.microsoft.com/office/drawing/2014/main" id="{669C90AB-F2E9-E041-A087-7080190242C8}"/>
              </a:ext>
            </a:extLst>
          </p:cNvPr>
          <p:cNvSpPr txBox="1"/>
          <p:nvPr/>
        </p:nvSpPr>
        <p:spPr>
          <a:xfrm>
            <a:off x="211916" y="2276872"/>
            <a:ext cx="5034706" cy="279704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样品中的阴离子不被吸附，直接最先流出，而阳离子会被吸在固定相上，随后缓冲液中的阳离子与其交换，把样品中的阳离子洗脱下来。 </a:t>
            </a:r>
          </a:p>
        </p:txBody>
      </p:sp>
    </p:spTree>
  </p:cSld>
  <p:clrMapOvr>
    <a:masterClrMapping/>
  </p:clrMapOvr>
  <p:transition spd="slow">
    <p:circl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42" name="Picture 4" descr="离子交换层析">
            <a:extLst>
              <a:ext uri="{FF2B5EF4-FFF2-40B4-BE49-F238E27FC236}">
                <a16:creationId xmlns:a16="http://schemas.microsoft.com/office/drawing/2014/main" id="{CD5635B1-0688-4E87-9ACA-074593C0BC9A}"/>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08213" y="1268414"/>
            <a:ext cx="784860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43" name="Rectangle 5">
            <a:extLst>
              <a:ext uri="{FF2B5EF4-FFF2-40B4-BE49-F238E27FC236}">
                <a16:creationId xmlns:a16="http://schemas.microsoft.com/office/drawing/2014/main" id="{87C0D1D6-107F-4E87-A80C-C1644B37F05B}"/>
              </a:ext>
            </a:extLst>
          </p:cNvPr>
          <p:cNvSpPr>
            <a:spLocks noChangeArrowheads="1"/>
          </p:cNvSpPr>
          <p:nvPr/>
        </p:nvSpPr>
        <p:spPr bwMode="auto">
          <a:xfrm>
            <a:off x="3503613" y="115889"/>
            <a:ext cx="37753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4000" dirty="0">
                <a:solidFill>
                  <a:schemeClr val="bg1"/>
                </a:solidFill>
                <a:latin typeface="Arial" panose="020B0604020202020204" pitchFamily="34" charset="0"/>
              </a:rPr>
              <a:t>阴离子交换层析</a:t>
            </a:r>
          </a:p>
        </p:txBody>
      </p:sp>
    </p:spTree>
  </p:cSld>
  <p:clrMapOvr>
    <a:masterClrMapping/>
  </p:clrMapOvr>
  <p:transition spd="slow">
    <p:circl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标题 1">
            <a:extLst>
              <a:ext uri="{FF2B5EF4-FFF2-40B4-BE49-F238E27FC236}">
                <a16:creationId xmlns:a16="http://schemas.microsoft.com/office/drawing/2014/main" id="{7382D478-C30A-457A-B538-97787115ABC6}"/>
              </a:ext>
            </a:extLst>
          </p:cNvPr>
          <p:cNvSpPr>
            <a:spLocks noGrp="1" noChangeArrowheads="1"/>
          </p:cNvSpPr>
          <p:nvPr>
            <p:ph type="title"/>
          </p:nvPr>
        </p:nvSpPr>
        <p:spPr>
          <a:xfrm>
            <a:off x="1703388" y="188913"/>
            <a:ext cx="6985000" cy="563562"/>
          </a:xfrm>
        </p:spPr>
        <p:txBody>
          <a:bodyPr/>
          <a:lstStyle/>
          <a:p>
            <a:endParaRPr lang="zh-CN" altLang="en-US"/>
          </a:p>
        </p:txBody>
      </p:sp>
      <p:sp>
        <p:nvSpPr>
          <p:cNvPr id="217091" name="内容占位符 2">
            <a:extLst>
              <a:ext uri="{FF2B5EF4-FFF2-40B4-BE49-F238E27FC236}">
                <a16:creationId xmlns:a16="http://schemas.microsoft.com/office/drawing/2014/main" id="{9C849B07-313F-4A55-B47F-537B1772EA4E}"/>
              </a:ext>
            </a:extLst>
          </p:cNvPr>
          <p:cNvSpPr>
            <a:spLocks noGrp="1" noChangeArrowheads="1"/>
          </p:cNvSpPr>
          <p:nvPr>
            <p:ph idx="1"/>
          </p:nvPr>
        </p:nvSpPr>
        <p:spPr>
          <a:xfrm>
            <a:off x="1847850" y="1339850"/>
            <a:ext cx="8712200" cy="2374900"/>
          </a:xfrm>
        </p:spPr>
        <p:txBody>
          <a:bodyPr/>
          <a:lstStyle/>
          <a:p>
            <a:r>
              <a:rPr lang="zh-CN" altLang="en-US" sz="3200" dirty="0"/>
              <a:t>一种混合溶液中两种蛋白，蛋白</a:t>
            </a:r>
            <a:r>
              <a:rPr lang="en-US" altLang="zh-CN" sz="3200" dirty="0"/>
              <a:t>A</a:t>
            </a:r>
            <a:r>
              <a:rPr lang="zh-CN" altLang="en-US" sz="3200" dirty="0"/>
              <a:t>带负电荷， 蛋白</a:t>
            </a:r>
            <a:r>
              <a:rPr lang="en-US" altLang="zh-CN" sz="3200" dirty="0"/>
              <a:t>B</a:t>
            </a:r>
            <a:r>
              <a:rPr lang="zh-CN" altLang="en-US" sz="3200" dirty="0"/>
              <a:t>带正电荷，请问：</a:t>
            </a:r>
            <a:endParaRPr lang="en-US" altLang="zh-CN" sz="3200" dirty="0"/>
          </a:p>
          <a:p>
            <a:pPr marL="400050" lvl="1" indent="0">
              <a:buNone/>
            </a:pPr>
            <a:r>
              <a:rPr lang="en-US" altLang="zh-CN" dirty="0"/>
              <a:t>1. </a:t>
            </a:r>
            <a:r>
              <a:rPr lang="zh-CN" altLang="en-US" dirty="0"/>
              <a:t> 经过阳离子交换树脂，哪种蛋白先洗脱下来？</a:t>
            </a:r>
            <a:endParaRPr lang="en-US" altLang="zh-CN" dirty="0"/>
          </a:p>
          <a:p>
            <a:pPr marL="400050" lvl="1" indent="0">
              <a:buNone/>
            </a:pPr>
            <a:r>
              <a:rPr lang="en-US" altLang="zh-CN" dirty="0"/>
              <a:t>2.  </a:t>
            </a:r>
            <a:r>
              <a:rPr lang="zh-CN" altLang="en-US" dirty="0"/>
              <a:t>经过阴离子交换树脂，哪种蛋白先洗脱下来？ </a:t>
            </a:r>
          </a:p>
        </p:txBody>
      </p:sp>
      <p:sp>
        <p:nvSpPr>
          <p:cNvPr id="4" name="内容占位符 2">
            <a:extLst>
              <a:ext uri="{FF2B5EF4-FFF2-40B4-BE49-F238E27FC236}">
                <a16:creationId xmlns:a16="http://schemas.microsoft.com/office/drawing/2014/main" id="{97081C07-C4E3-412A-B78B-D68C268DCD72}"/>
              </a:ext>
            </a:extLst>
          </p:cNvPr>
          <p:cNvSpPr txBox="1">
            <a:spLocks/>
          </p:cNvSpPr>
          <p:nvPr/>
        </p:nvSpPr>
        <p:spPr bwMode="auto">
          <a:xfrm>
            <a:off x="2114550" y="4162426"/>
            <a:ext cx="8229600" cy="56197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defRPr/>
            </a:pPr>
            <a:r>
              <a:rPr lang="zh-CN" altLang="en-US" kern="0" dirty="0">
                <a:solidFill>
                  <a:schemeClr val="tx1">
                    <a:lumMod val="75000"/>
                  </a:schemeClr>
                </a:solidFill>
              </a:rPr>
              <a:t> 经过阳离子交换树脂，蛋白</a:t>
            </a:r>
            <a:r>
              <a:rPr lang="en-US" altLang="zh-CN" kern="0" dirty="0">
                <a:solidFill>
                  <a:schemeClr val="tx1">
                    <a:lumMod val="75000"/>
                  </a:schemeClr>
                </a:solidFill>
              </a:rPr>
              <a:t>A</a:t>
            </a:r>
            <a:r>
              <a:rPr lang="zh-CN" altLang="en-US" kern="0" dirty="0">
                <a:solidFill>
                  <a:schemeClr val="tx1">
                    <a:lumMod val="75000"/>
                  </a:schemeClr>
                </a:solidFill>
              </a:rPr>
              <a:t>先洗脱下来。</a:t>
            </a:r>
          </a:p>
        </p:txBody>
      </p:sp>
      <p:sp>
        <p:nvSpPr>
          <p:cNvPr id="5" name="内容占位符 2">
            <a:extLst>
              <a:ext uri="{FF2B5EF4-FFF2-40B4-BE49-F238E27FC236}">
                <a16:creationId xmlns:a16="http://schemas.microsoft.com/office/drawing/2014/main" id="{C2AF3556-7886-4D96-93C6-B00F433F08D0}"/>
              </a:ext>
            </a:extLst>
          </p:cNvPr>
          <p:cNvSpPr txBox="1">
            <a:spLocks/>
          </p:cNvSpPr>
          <p:nvPr/>
        </p:nvSpPr>
        <p:spPr bwMode="auto">
          <a:xfrm>
            <a:off x="2114550" y="4810126"/>
            <a:ext cx="8229600" cy="563563"/>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defRPr/>
            </a:pPr>
            <a:r>
              <a:rPr lang="zh-CN" altLang="en-US" kern="0" dirty="0">
                <a:solidFill>
                  <a:schemeClr val="tx1">
                    <a:lumMod val="75000"/>
                  </a:schemeClr>
                </a:solidFill>
              </a:rPr>
              <a:t> 经过阴离子交换树脂，蛋白</a:t>
            </a:r>
            <a:r>
              <a:rPr lang="en-US" altLang="zh-CN" kern="0" dirty="0">
                <a:solidFill>
                  <a:schemeClr val="tx1">
                    <a:lumMod val="75000"/>
                  </a:schemeClr>
                </a:solidFill>
              </a:rPr>
              <a:t>B</a:t>
            </a:r>
            <a:r>
              <a:rPr lang="zh-CN" altLang="en-US" kern="0" dirty="0">
                <a:solidFill>
                  <a:schemeClr val="tx1">
                    <a:lumMod val="75000"/>
                  </a:schemeClr>
                </a:solidFill>
              </a:rPr>
              <a:t>先洗脱下来。</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114" name="Picture 4" descr="凝胶层析">
            <a:extLst>
              <a:ext uri="{FF2B5EF4-FFF2-40B4-BE49-F238E27FC236}">
                <a16:creationId xmlns:a16="http://schemas.microsoft.com/office/drawing/2014/main" id="{20A34A3A-0294-43C0-B333-2931CAC10CC9}"/>
              </a:ext>
            </a:extLst>
          </p:cNvPr>
          <p:cNvPicPr>
            <a:picLocks noChangeAspect="1" noChangeArrowheads="1"/>
          </p:cNvPicPr>
          <p:nvPr/>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2616200" y="1052514"/>
            <a:ext cx="4319588"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115" name="Rectangle 5">
            <a:extLst>
              <a:ext uri="{FF2B5EF4-FFF2-40B4-BE49-F238E27FC236}">
                <a16:creationId xmlns:a16="http://schemas.microsoft.com/office/drawing/2014/main" id="{34864256-7962-4230-AB29-6655A5CF1779}"/>
              </a:ext>
            </a:extLst>
          </p:cNvPr>
          <p:cNvSpPr>
            <a:spLocks noChangeArrowheads="1"/>
          </p:cNvSpPr>
          <p:nvPr/>
        </p:nvSpPr>
        <p:spPr bwMode="auto">
          <a:xfrm>
            <a:off x="2135189" y="150813"/>
            <a:ext cx="52800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600" b="1">
                <a:solidFill>
                  <a:schemeClr val="bg1"/>
                </a:solidFill>
                <a:latin typeface="Arial" panose="020B0604020202020204" pitchFamily="34" charset="0"/>
              </a:rPr>
              <a:t>凝胶过滤（分子筛层析）</a:t>
            </a:r>
          </a:p>
        </p:txBody>
      </p:sp>
      <p:sp>
        <p:nvSpPr>
          <p:cNvPr id="586758" name="Text Box 6">
            <a:extLst>
              <a:ext uri="{FF2B5EF4-FFF2-40B4-BE49-F238E27FC236}">
                <a16:creationId xmlns:a16="http://schemas.microsoft.com/office/drawing/2014/main" id="{CC30EE5C-6A56-429F-A33E-16E908F9624A}"/>
              </a:ext>
            </a:extLst>
          </p:cNvPr>
          <p:cNvSpPr txBox="1">
            <a:spLocks noChangeArrowheads="1"/>
          </p:cNvSpPr>
          <p:nvPr/>
        </p:nvSpPr>
        <p:spPr bwMode="auto">
          <a:xfrm>
            <a:off x="6935789" y="2930525"/>
            <a:ext cx="3563937" cy="136781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30000"/>
              </a:lnSpc>
              <a:spcBef>
                <a:spcPct val="50000"/>
              </a:spcBef>
              <a:buClr>
                <a:srgbClr val="FF0000"/>
              </a:buClr>
              <a:buFont typeface="Wingdings" panose="05000000000000000000" pitchFamily="2" charset="2"/>
              <a:buChar char="Ø"/>
            </a:pPr>
            <a:r>
              <a:rPr lang="zh-CN" altLang="en-US" dirty="0">
                <a:solidFill>
                  <a:schemeClr val="tx1"/>
                </a:solidFill>
              </a:rPr>
              <a:t>大分子先洗脱下来</a:t>
            </a:r>
          </a:p>
          <a:p>
            <a:pPr eaLnBrk="1" hangingPunct="1">
              <a:lnSpc>
                <a:spcPct val="130000"/>
              </a:lnSpc>
              <a:spcBef>
                <a:spcPct val="50000"/>
              </a:spcBef>
              <a:buClr>
                <a:srgbClr val="FF0000"/>
              </a:buClr>
              <a:buFont typeface="Wingdings" panose="05000000000000000000" pitchFamily="2" charset="2"/>
              <a:buChar char="Ø"/>
            </a:pPr>
            <a:r>
              <a:rPr lang="zh-CN" altLang="en-US" dirty="0">
                <a:solidFill>
                  <a:schemeClr val="tx1"/>
                </a:solidFill>
              </a:rPr>
              <a:t>小分子后洗脱下来</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86758"/>
                                        </p:tgtEl>
                                        <p:attrNameLst>
                                          <p:attrName>style.visibility</p:attrName>
                                        </p:attrNameLst>
                                      </p:cBhvr>
                                      <p:to>
                                        <p:strVal val="visible"/>
                                      </p:to>
                                    </p:set>
                                    <p:animEffect transition="in" filter="box(in)">
                                      <p:cBhvr>
                                        <p:cTn id="7" dur="500"/>
                                        <p:tgtEl>
                                          <p:spTgt spid="586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58" grpId="0" animBg="1"/>
    </p:bld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20162" name="图片 1">
            <a:extLst>
              <a:ext uri="{FF2B5EF4-FFF2-40B4-BE49-F238E27FC236}">
                <a16:creationId xmlns:a16="http://schemas.microsoft.com/office/drawing/2014/main" id="{83009547-0E91-4531-9222-11D25068016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29025" y="1"/>
            <a:ext cx="6859588" cy="647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0163" name="文本框 2">
            <a:extLst>
              <a:ext uri="{FF2B5EF4-FFF2-40B4-BE49-F238E27FC236}">
                <a16:creationId xmlns:a16="http://schemas.microsoft.com/office/drawing/2014/main" id="{8E0E8DF5-65C8-44D1-A754-ADDFFD103E9C}"/>
              </a:ext>
            </a:extLst>
          </p:cNvPr>
          <p:cNvSpPr txBox="1">
            <a:spLocks noChangeArrowheads="1"/>
          </p:cNvSpPr>
          <p:nvPr/>
        </p:nvSpPr>
        <p:spPr bwMode="auto">
          <a:xfrm>
            <a:off x="1631950" y="4508501"/>
            <a:ext cx="3816350" cy="2124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3600" b="1">
                <a:solidFill>
                  <a:srgbClr val="C00000"/>
                </a:solidFill>
                <a:latin typeface="Arial" panose="020B0604020202020204" pitchFamily="34" charset="0"/>
                <a:ea typeface="宋体" panose="02010600030101010101" pitchFamily="2" charset="-122"/>
              </a:rPr>
              <a:t>     </a:t>
            </a:r>
            <a:endParaRPr lang="en-US" altLang="zh-CN" sz="3600" b="1">
              <a:solidFill>
                <a:srgbClr val="C00000"/>
              </a:solidFill>
              <a:latin typeface="Arial" panose="020B0604020202020204" pitchFamily="34" charset="0"/>
              <a:ea typeface="宋体" panose="02010600030101010101" pitchFamily="2" charset="-122"/>
            </a:endParaRPr>
          </a:p>
          <a:p>
            <a:pPr>
              <a:spcBef>
                <a:spcPct val="0"/>
              </a:spcBef>
              <a:buClrTx/>
              <a:buFontTx/>
              <a:buNone/>
            </a:pPr>
            <a:r>
              <a:rPr lang="en-US" altLang="zh-CN" sz="3600" b="1">
                <a:solidFill>
                  <a:srgbClr val="C00000"/>
                </a:solidFill>
                <a:latin typeface="Arial" panose="020B0604020202020204" pitchFamily="34" charset="0"/>
                <a:ea typeface="宋体" panose="02010600030101010101" pitchFamily="2" charset="-122"/>
              </a:rPr>
              <a:t>      </a:t>
            </a:r>
            <a:r>
              <a:rPr lang="zh-CN" altLang="en-US" sz="3600" b="1">
                <a:solidFill>
                  <a:srgbClr val="C00000"/>
                </a:solidFill>
                <a:latin typeface="Arial" panose="020B0604020202020204" pitchFamily="34" charset="0"/>
                <a:ea typeface="宋体" panose="02010600030101010101" pitchFamily="2" charset="-122"/>
              </a:rPr>
              <a:t>亲和层析</a:t>
            </a:r>
            <a:endParaRPr lang="en-US" altLang="zh-CN" sz="3600" b="1">
              <a:solidFill>
                <a:srgbClr val="C00000"/>
              </a:solidFill>
              <a:latin typeface="Arial" panose="020B0604020202020204" pitchFamily="34" charset="0"/>
              <a:ea typeface="宋体" panose="02010600030101010101" pitchFamily="2" charset="-122"/>
            </a:endParaRPr>
          </a:p>
          <a:p>
            <a:pPr>
              <a:spcBef>
                <a:spcPct val="0"/>
              </a:spcBef>
              <a:buClrTx/>
              <a:buFontTx/>
              <a:buNone/>
            </a:pPr>
            <a:r>
              <a:rPr lang="en-US" altLang="zh-CN" sz="2400" b="1">
                <a:solidFill>
                  <a:schemeClr val="tx1"/>
                </a:solidFill>
                <a:latin typeface="Arial" panose="020B0604020202020204" pitchFamily="34" charset="0"/>
                <a:ea typeface="宋体" panose="02010600030101010101" pitchFamily="2" charset="-122"/>
              </a:rPr>
              <a:t>Affinity chromatography</a:t>
            </a:r>
            <a:endParaRPr lang="en-US" altLang="zh-CN" sz="2400" b="1">
              <a:solidFill>
                <a:srgbClr val="C00000"/>
              </a:solidFill>
              <a:latin typeface="Arial" panose="020B0604020202020204" pitchFamily="34" charset="0"/>
              <a:ea typeface="宋体" panose="02010600030101010101" pitchFamily="2" charset="-122"/>
            </a:endParaRPr>
          </a:p>
          <a:p>
            <a:pPr>
              <a:spcBef>
                <a:spcPct val="0"/>
              </a:spcBef>
              <a:buClrTx/>
              <a:buFontTx/>
              <a:buNone/>
            </a:pPr>
            <a:endParaRPr lang="en-US" altLang="zh-CN" sz="3600" b="1">
              <a:solidFill>
                <a:srgbClr val="C00000"/>
              </a:solidFill>
              <a:latin typeface="Arial" panose="020B0604020202020204" pitchFamily="34" charset="0"/>
              <a:ea typeface="宋体" panose="02010600030101010101" pitchFamily="2" charset="-122"/>
            </a:endParaRPr>
          </a:p>
        </p:txBody>
      </p:sp>
    </p:spTree>
  </p:cSld>
  <p:clrMapOvr>
    <a:masterClrMapping/>
  </p:clrMapOvr>
  <p:transition spd="slow">
    <p:circl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标题 1">
            <a:extLst>
              <a:ext uri="{FF2B5EF4-FFF2-40B4-BE49-F238E27FC236}">
                <a16:creationId xmlns:a16="http://schemas.microsoft.com/office/drawing/2014/main" id="{5AF18981-0FAF-4591-9156-554637CDBD77}"/>
              </a:ext>
            </a:extLst>
          </p:cNvPr>
          <p:cNvSpPr>
            <a:spLocks noGrp="1" noChangeArrowheads="1"/>
          </p:cNvSpPr>
          <p:nvPr>
            <p:ph type="title"/>
          </p:nvPr>
        </p:nvSpPr>
        <p:spPr>
          <a:xfrm>
            <a:off x="1919289" y="115889"/>
            <a:ext cx="8701087" cy="708025"/>
          </a:xfrm>
          <a:solidFill>
            <a:srgbClr val="1D7ACF"/>
          </a:solidFill>
        </p:spPr>
        <p:txBody>
          <a:bodyPr/>
          <a:lstStyle/>
          <a:p>
            <a:r>
              <a:rPr lang="zh-CN" altLang="en-US"/>
              <a:t>高效液相色谱（</a:t>
            </a:r>
            <a:r>
              <a:rPr lang="en-US" altLang="zh-CN"/>
              <a:t>HPLC)</a:t>
            </a:r>
            <a:r>
              <a:rPr lang="zh-CN" altLang="en-US"/>
              <a:t>是层析技术的强化版</a:t>
            </a:r>
          </a:p>
        </p:txBody>
      </p:sp>
      <p:sp>
        <p:nvSpPr>
          <p:cNvPr id="195587" name="内容占位符 2">
            <a:extLst>
              <a:ext uri="{FF2B5EF4-FFF2-40B4-BE49-F238E27FC236}">
                <a16:creationId xmlns:a16="http://schemas.microsoft.com/office/drawing/2014/main" id="{4F4DFD45-4585-4125-868E-28C28ABBF037}"/>
              </a:ext>
            </a:extLst>
          </p:cNvPr>
          <p:cNvSpPr>
            <a:spLocks noGrp="1"/>
          </p:cNvSpPr>
          <p:nvPr>
            <p:ph idx="1"/>
          </p:nvPr>
        </p:nvSpPr>
        <p:spPr>
          <a:xfrm>
            <a:off x="443372" y="1124744"/>
            <a:ext cx="11305256" cy="5187950"/>
          </a:xfrm>
        </p:spPr>
        <p:txBody>
          <a:bodyPr/>
          <a:lstStyle/>
          <a:p>
            <a:pPr>
              <a:lnSpc>
                <a:spcPct val="120000"/>
              </a:lnSpc>
              <a:defRPr/>
            </a:pPr>
            <a:r>
              <a:rPr lang="en-US" altLang="zh-CN" dirty="0">
                <a:latin typeface="+mn-ea"/>
              </a:rPr>
              <a:t>HPLC</a:t>
            </a:r>
            <a:r>
              <a:rPr lang="zh-CN" altLang="en-US" dirty="0">
                <a:latin typeface="+mn-ea"/>
              </a:rPr>
              <a:t>（</a:t>
            </a:r>
            <a:r>
              <a:rPr lang="en-US" altLang="zh-CN" dirty="0">
                <a:latin typeface="+mn-ea"/>
              </a:rPr>
              <a:t>high-performance liquid chromatography</a:t>
            </a:r>
            <a:r>
              <a:rPr lang="zh-CN" altLang="en-US" dirty="0">
                <a:latin typeface="+mn-ea"/>
              </a:rPr>
              <a:t>）有“四高一广”特点： </a:t>
            </a:r>
            <a:endParaRPr lang="en-US" altLang="zh-CN" dirty="0">
              <a:latin typeface="+mn-ea"/>
            </a:endParaRPr>
          </a:p>
          <a:p>
            <a:pPr marL="914400" lvl="1" indent="-457200">
              <a:lnSpc>
                <a:spcPct val="120000"/>
              </a:lnSpc>
              <a:buFont typeface="黑体" panose="02010609060101010101" pitchFamily="49" charset="-122"/>
              <a:buAutoNum type="arabicPeriod"/>
              <a:defRPr/>
            </a:pPr>
            <a:r>
              <a:rPr lang="zh-CN" altLang="en-US" sz="2400" dirty="0">
                <a:solidFill>
                  <a:srgbClr val="0000CC"/>
                </a:solidFill>
                <a:latin typeface="+mn-ea"/>
              </a:rPr>
              <a:t>高压</a:t>
            </a:r>
            <a:r>
              <a:rPr lang="zh-CN" altLang="en-US" sz="2400" dirty="0">
                <a:latin typeface="+mn-ea"/>
              </a:rPr>
              <a:t>：流动相为液体，对载液加高压。</a:t>
            </a:r>
          </a:p>
          <a:p>
            <a:pPr marL="914400" lvl="1" indent="-457200">
              <a:lnSpc>
                <a:spcPct val="120000"/>
              </a:lnSpc>
              <a:buFont typeface="黑体" panose="02010609060101010101" pitchFamily="49" charset="-122"/>
              <a:buAutoNum type="arabicPeriod"/>
              <a:defRPr/>
            </a:pPr>
            <a:r>
              <a:rPr lang="zh-CN" altLang="en-US" sz="2400" dirty="0">
                <a:solidFill>
                  <a:srgbClr val="0000CC"/>
                </a:solidFill>
                <a:latin typeface="+mn-ea"/>
              </a:rPr>
              <a:t>高速</a:t>
            </a:r>
            <a:r>
              <a:rPr lang="zh-CN" altLang="en-US" sz="2400" dirty="0">
                <a:latin typeface="+mn-ea"/>
              </a:rPr>
              <a:t>：分析速度快、载液流速快，通常分析一个样品在</a:t>
            </a:r>
            <a:r>
              <a:rPr lang="en-US" altLang="zh-CN" sz="2400" dirty="0">
                <a:latin typeface="+mn-ea"/>
              </a:rPr>
              <a:t>15</a:t>
            </a:r>
            <a:r>
              <a:rPr lang="zh-CN" altLang="en-US" sz="2400" dirty="0">
                <a:latin typeface="+mn-ea"/>
              </a:rPr>
              <a:t>～</a:t>
            </a:r>
            <a:r>
              <a:rPr lang="en-US" altLang="zh-CN" sz="2400" dirty="0">
                <a:latin typeface="+mn-ea"/>
              </a:rPr>
              <a:t>30</a:t>
            </a:r>
            <a:r>
              <a:rPr lang="zh-CN" altLang="en-US" sz="2400" dirty="0">
                <a:latin typeface="+mn-ea"/>
              </a:rPr>
              <a:t>分钟，有的甚至</a:t>
            </a:r>
            <a:r>
              <a:rPr lang="en-US" altLang="zh-CN" sz="2400" dirty="0">
                <a:latin typeface="+mn-ea"/>
              </a:rPr>
              <a:t>5</a:t>
            </a:r>
            <a:r>
              <a:rPr lang="zh-CN" altLang="en-US" sz="2400" dirty="0">
                <a:latin typeface="+mn-ea"/>
              </a:rPr>
              <a:t>分钟内完成，一般小于</a:t>
            </a:r>
            <a:r>
              <a:rPr lang="en-US" altLang="zh-CN" sz="2400" dirty="0">
                <a:latin typeface="+mn-ea"/>
              </a:rPr>
              <a:t>1</a:t>
            </a:r>
            <a:r>
              <a:rPr lang="zh-CN" altLang="en-US" sz="2400" dirty="0">
                <a:latin typeface="+mn-ea"/>
              </a:rPr>
              <a:t>小时。</a:t>
            </a:r>
          </a:p>
          <a:p>
            <a:pPr marL="914400" lvl="1" indent="-457200">
              <a:lnSpc>
                <a:spcPct val="120000"/>
              </a:lnSpc>
              <a:buFont typeface="黑体" panose="02010609060101010101" pitchFamily="49" charset="-122"/>
              <a:buAutoNum type="arabicPeriod"/>
              <a:defRPr/>
            </a:pPr>
            <a:r>
              <a:rPr lang="zh-CN" altLang="en-US" sz="2400" dirty="0">
                <a:solidFill>
                  <a:srgbClr val="0000CC"/>
                </a:solidFill>
                <a:latin typeface="+mn-ea"/>
              </a:rPr>
              <a:t>高效</a:t>
            </a:r>
            <a:r>
              <a:rPr lang="zh-CN" altLang="en-US" sz="2400" dirty="0">
                <a:latin typeface="+mn-ea"/>
              </a:rPr>
              <a:t>：可选择固定相和流动相以达到最佳分离效果，比工业精馏塔和气相色谱的分离效能高出许多倍。</a:t>
            </a:r>
          </a:p>
          <a:p>
            <a:pPr marL="914400" lvl="1" indent="-457200">
              <a:lnSpc>
                <a:spcPct val="120000"/>
              </a:lnSpc>
              <a:buFont typeface="黑体" panose="02010609060101010101" pitchFamily="49" charset="-122"/>
              <a:buAutoNum type="arabicPeriod"/>
              <a:defRPr/>
            </a:pPr>
            <a:r>
              <a:rPr lang="zh-CN" altLang="en-US" sz="2400" dirty="0">
                <a:solidFill>
                  <a:srgbClr val="0000CC"/>
                </a:solidFill>
                <a:latin typeface="+mn-ea"/>
              </a:rPr>
              <a:t>高灵敏度</a:t>
            </a:r>
            <a:r>
              <a:rPr lang="zh-CN" altLang="en-US" sz="2400" dirty="0">
                <a:latin typeface="+mn-ea"/>
              </a:rPr>
              <a:t>：紫外检测器可达</a:t>
            </a:r>
            <a:r>
              <a:rPr lang="en-US" altLang="zh-CN" sz="2400" dirty="0">
                <a:latin typeface="+mn-ea"/>
              </a:rPr>
              <a:t>0.01ng</a:t>
            </a:r>
            <a:r>
              <a:rPr lang="zh-CN" altLang="en-US" sz="2400" dirty="0">
                <a:latin typeface="+mn-ea"/>
              </a:rPr>
              <a:t>，进样量在</a:t>
            </a:r>
            <a:r>
              <a:rPr lang="en-US" altLang="zh-CN" sz="2400" dirty="0" err="1">
                <a:latin typeface="+mn-ea"/>
              </a:rPr>
              <a:t>μL</a:t>
            </a:r>
            <a:r>
              <a:rPr lang="zh-CN" altLang="en-US" sz="2400" dirty="0">
                <a:latin typeface="+mn-ea"/>
              </a:rPr>
              <a:t>数量级。</a:t>
            </a:r>
          </a:p>
          <a:p>
            <a:pPr marL="914400" lvl="1" indent="-457200">
              <a:lnSpc>
                <a:spcPct val="120000"/>
              </a:lnSpc>
              <a:buFont typeface="黑体" panose="02010609060101010101" pitchFamily="49" charset="-122"/>
              <a:buAutoNum type="arabicPeriod"/>
              <a:defRPr/>
            </a:pPr>
            <a:r>
              <a:rPr lang="zh-CN" altLang="en-US" sz="2400" dirty="0">
                <a:solidFill>
                  <a:srgbClr val="0000CC"/>
                </a:solidFill>
                <a:latin typeface="+mn-ea"/>
              </a:rPr>
              <a:t>应用范围广</a:t>
            </a:r>
            <a:r>
              <a:rPr lang="zh-CN" altLang="en-US" sz="2400" dirty="0">
                <a:latin typeface="+mn-ea"/>
              </a:rPr>
              <a:t>：百分之七十以上的有机化合物可用高效液相色谱分析，特别是高沸点、大分子、强极性、热稳定性差化合物的分离分析，显示出优势。</a:t>
            </a:r>
          </a:p>
          <a:p>
            <a:pPr>
              <a:lnSpc>
                <a:spcPct val="120000"/>
              </a:lnSpc>
              <a:defRPr/>
            </a:pPr>
            <a:endParaRPr lang="zh-CN" altLang="en-US" sz="2400" dirty="0">
              <a:latin typeface="+mn-ea"/>
            </a:endParaRPr>
          </a:p>
        </p:txBody>
      </p:sp>
    </p:spTree>
  </p:cSld>
  <p:clrMapOvr>
    <a:masterClrMapping/>
  </p:clrMapOvr>
  <p:transition spd="slow">
    <p:circl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a:extLst>
              <a:ext uri="{FF2B5EF4-FFF2-40B4-BE49-F238E27FC236}">
                <a16:creationId xmlns:a16="http://schemas.microsoft.com/office/drawing/2014/main" id="{C8BD75BC-B601-4F53-95D3-3913D2471FE8}"/>
              </a:ext>
            </a:extLst>
          </p:cNvPr>
          <p:cNvSpPr>
            <a:spLocks noChangeArrowheads="1"/>
          </p:cNvSpPr>
          <p:nvPr/>
        </p:nvSpPr>
        <p:spPr bwMode="auto">
          <a:xfrm>
            <a:off x="1822450" y="1340768"/>
            <a:ext cx="8208962" cy="171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185738" indent="-185738">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30000"/>
              </a:lnSpc>
              <a:spcBef>
                <a:spcPct val="0"/>
              </a:spcBef>
              <a:buClrTx/>
              <a:buFontTx/>
              <a:buNone/>
            </a:pPr>
            <a:r>
              <a:rPr kumimoji="1" lang="en-US" altLang="zh-CN" dirty="0">
                <a:solidFill>
                  <a:schemeClr val="tx1"/>
                </a:solidFill>
              </a:rPr>
              <a:t>*</a:t>
            </a:r>
            <a:r>
              <a:rPr lang="zh-CN" altLang="en-US" dirty="0">
                <a:solidFill>
                  <a:schemeClr val="tx1"/>
                </a:solidFill>
                <a:latin typeface="Arial" panose="020B0604020202020204" pitchFamily="34" charset="0"/>
              </a:rPr>
              <a:t>利用机械的快速旋转所产生的离心力，根据蛋白质的分子量及形状进行分离。</a:t>
            </a:r>
          </a:p>
          <a:p>
            <a:pPr algn="just" eaLnBrk="1" hangingPunct="1">
              <a:lnSpc>
                <a:spcPct val="130000"/>
              </a:lnSpc>
              <a:spcBef>
                <a:spcPct val="0"/>
              </a:spcBef>
              <a:buClrTx/>
              <a:buFontTx/>
              <a:buNone/>
            </a:pPr>
            <a:endParaRPr kumimoji="1" lang="en-US" altLang="zh-CN" dirty="0">
              <a:solidFill>
                <a:schemeClr val="tx1"/>
              </a:solidFill>
            </a:endParaRPr>
          </a:p>
        </p:txBody>
      </p:sp>
      <p:sp>
        <p:nvSpPr>
          <p:cNvPr id="87044" name="Rectangle 4">
            <a:extLst>
              <a:ext uri="{FF2B5EF4-FFF2-40B4-BE49-F238E27FC236}">
                <a16:creationId xmlns:a16="http://schemas.microsoft.com/office/drawing/2014/main" id="{A3B58D6D-0884-45D0-AF0A-02971A09529D}"/>
              </a:ext>
            </a:extLst>
          </p:cNvPr>
          <p:cNvSpPr>
            <a:spLocks noChangeArrowheads="1"/>
          </p:cNvSpPr>
          <p:nvPr/>
        </p:nvSpPr>
        <p:spPr bwMode="auto">
          <a:xfrm>
            <a:off x="1678434" y="3431422"/>
            <a:ext cx="8753029" cy="2272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271463" indent="-271463">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30000"/>
              </a:lnSpc>
              <a:spcBef>
                <a:spcPct val="0"/>
              </a:spcBef>
              <a:buClrTx/>
              <a:buFontTx/>
              <a:buNone/>
            </a:pPr>
            <a:r>
              <a:rPr kumimoji="1" lang="en-US" altLang="zh-CN" dirty="0">
                <a:solidFill>
                  <a:schemeClr val="tx1"/>
                </a:solidFill>
              </a:rPr>
              <a:t>*</a:t>
            </a:r>
            <a:r>
              <a:rPr kumimoji="1" lang="zh-CN" altLang="en-US" dirty="0">
                <a:solidFill>
                  <a:schemeClr val="tx1"/>
                </a:solidFill>
              </a:rPr>
              <a:t>蛋白质在离心场中的行为用</a:t>
            </a:r>
            <a:r>
              <a:rPr kumimoji="1" lang="zh-CN" altLang="en-US" dirty="0">
                <a:solidFill>
                  <a:srgbClr val="FF0000"/>
                </a:solidFill>
              </a:rPr>
              <a:t>沉降系数</a:t>
            </a:r>
            <a:r>
              <a:rPr kumimoji="1" lang="en-US" altLang="zh-CN" dirty="0">
                <a:solidFill>
                  <a:srgbClr val="FF0000"/>
                </a:solidFill>
              </a:rPr>
              <a:t>(sedimentation coefficient, S)</a:t>
            </a:r>
            <a:r>
              <a:rPr kumimoji="1" lang="zh-CN" altLang="en-US" dirty="0">
                <a:solidFill>
                  <a:schemeClr val="tx1"/>
                </a:solidFill>
              </a:rPr>
              <a:t>表示。因为</a:t>
            </a:r>
            <a:r>
              <a:rPr kumimoji="1" lang="zh-CN" altLang="en-US" dirty="0">
                <a:solidFill>
                  <a:schemeClr val="tx1">
                    <a:lumMod val="60000"/>
                    <a:lumOff val="40000"/>
                  </a:schemeClr>
                </a:solidFill>
              </a:rPr>
              <a:t>沉降系数</a:t>
            </a:r>
            <a:r>
              <a:rPr kumimoji="1" lang="en-US" altLang="zh-CN" dirty="0">
                <a:solidFill>
                  <a:schemeClr val="tx1">
                    <a:lumMod val="60000"/>
                    <a:lumOff val="40000"/>
                  </a:schemeClr>
                </a:solidFill>
              </a:rPr>
              <a:t>S</a:t>
            </a:r>
            <a:r>
              <a:rPr kumimoji="1" lang="zh-CN" altLang="en-US" dirty="0">
                <a:solidFill>
                  <a:schemeClr val="tx1">
                    <a:lumMod val="60000"/>
                    <a:lumOff val="40000"/>
                  </a:schemeClr>
                </a:solidFill>
              </a:rPr>
              <a:t>大体上和分子量成正比关系（球状蛋白），</a:t>
            </a:r>
            <a:r>
              <a:rPr kumimoji="1" lang="zh-CN" altLang="en-US" dirty="0">
                <a:solidFill>
                  <a:schemeClr val="tx1"/>
                </a:solidFill>
              </a:rPr>
              <a:t>故应用超速离心法既可以用来分离纯化蛋白质也可以用作</a:t>
            </a:r>
            <a:r>
              <a:rPr kumimoji="1" lang="zh-CN" altLang="en-US" dirty="0">
                <a:solidFill>
                  <a:srgbClr val="FF0000"/>
                </a:solidFill>
              </a:rPr>
              <a:t>测定蛋白质的分子量</a:t>
            </a:r>
            <a:r>
              <a:rPr kumimoji="1" lang="zh-CN" altLang="en-US" dirty="0">
                <a:solidFill>
                  <a:schemeClr val="tx1"/>
                </a:solidFill>
              </a:rPr>
              <a:t>。</a:t>
            </a:r>
          </a:p>
        </p:txBody>
      </p:sp>
      <p:sp>
        <p:nvSpPr>
          <p:cNvPr id="224260" name="标题 1">
            <a:extLst>
              <a:ext uri="{FF2B5EF4-FFF2-40B4-BE49-F238E27FC236}">
                <a16:creationId xmlns:a16="http://schemas.microsoft.com/office/drawing/2014/main" id="{37BFEE8E-FFE2-4887-B20C-39810B61E998}"/>
              </a:ext>
            </a:extLst>
          </p:cNvPr>
          <p:cNvSpPr>
            <a:spLocks noGrp="1" noChangeArrowheads="1"/>
          </p:cNvSpPr>
          <p:nvPr>
            <p:ph type="title"/>
          </p:nvPr>
        </p:nvSpPr>
        <p:spPr>
          <a:xfrm>
            <a:off x="1822450" y="115889"/>
            <a:ext cx="7874000" cy="708025"/>
          </a:xfrm>
        </p:spPr>
        <p:txBody>
          <a:bodyPr/>
          <a:lstStyle/>
          <a:p>
            <a:r>
              <a:rPr lang="zh-CN" altLang="en-US"/>
              <a:t>五、超速离心</a:t>
            </a:r>
            <a:r>
              <a:rPr lang="en-US" altLang="zh-CN"/>
              <a:t>(ultracentrifugation)</a:t>
            </a:r>
            <a:endParaRPr lang="zh-CN" altLang="en-US"/>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043"/>
                                        </p:tgtEl>
                                        <p:attrNameLst>
                                          <p:attrName>style.visibility</p:attrName>
                                        </p:attrNameLst>
                                      </p:cBhvr>
                                      <p:to>
                                        <p:strVal val="visible"/>
                                      </p:to>
                                    </p:set>
                                    <p:animEffect transition="in" filter="wipe(left)">
                                      <p:cBhvr>
                                        <p:cTn id="7" dur="500"/>
                                        <p:tgtEl>
                                          <p:spTgt spid="870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87044"/>
                                        </p:tgtEl>
                                        <p:attrNameLst>
                                          <p:attrName>style.visibility</p:attrName>
                                        </p:attrNameLst>
                                      </p:cBhvr>
                                      <p:to>
                                        <p:strVal val="visible"/>
                                      </p:to>
                                    </p:set>
                                    <p:animEffect transition="in" filter="strips(downRight)">
                                      <p:cBhvr>
                                        <p:cTn id="12" dur="500"/>
                                        <p:tgtEl>
                                          <p:spTgt spid="87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autoUpdateAnimBg="0"/>
      <p:bldP spid="87044" grpId="0"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378" name="图片 3">
            <a:extLst>
              <a:ext uri="{FF2B5EF4-FFF2-40B4-BE49-F238E27FC236}">
                <a16:creationId xmlns:a16="http://schemas.microsoft.com/office/drawing/2014/main" id="{E8491E00-9439-4F1E-84DF-406660FFEFA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19289" y="881070"/>
            <a:ext cx="8713215" cy="5089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标题 1">
            <a:extLst>
              <a:ext uri="{FF2B5EF4-FFF2-40B4-BE49-F238E27FC236}">
                <a16:creationId xmlns:a16="http://schemas.microsoft.com/office/drawing/2014/main" id="{07AF61F8-CDB2-429E-8C11-67BA7A7FA58A}"/>
              </a:ext>
            </a:extLst>
          </p:cNvPr>
          <p:cNvSpPr>
            <a:spLocks noGrp="1" noChangeArrowheads="1"/>
          </p:cNvSpPr>
          <p:nvPr>
            <p:ph type="title" idx="4294967295"/>
          </p:nvPr>
        </p:nvSpPr>
        <p:spPr>
          <a:xfrm>
            <a:off x="6240016" y="476672"/>
            <a:ext cx="5148262" cy="823913"/>
          </a:xfrm>
          <a:solidFill>
            <a:srgbClr val="1867AF"/>
          </a:solidFill>
        </p:spPr>
        <p:txBody>
          <a:bodyPr/>
          <a:lstStyle/>
          <a:p>
            <a:r>
              <a:rPr lang="zh-CN" altLang="en-US" sz="3200" dirty="0"/>
              <a:t>差速离心分离不同细胞器</a:t>
            </a:r>
          </a:p>
        </p:txBody>
      </p:sp>
      <p:sp>
        <p:nvSpPr>
          <p:cNvPr id="3" name="内容占位符 2">
            <a:extLst>
              <a:ext uri="{FF2B5EF4-FFF2-40B4-BE49-F238E27FC236}">
                <a16:creationId xmlns:a16="http://schemas.microsoft.com/office/drawing/2014/main" id="{CD06B670-9D87-448F-902F-EA3080BC98BF}"/>
              </a:ext>
            </a:extLst>
          </p:cNvPr>
          <p:cNvSpPr>
            <a:spLocks noGrp="1"/>
          </p:cNvSpPr>
          <p:nvPr>
            <p:ph idx="4294967295"/>
          </p:nvPr>
        </p:nvSpPr>
        <p:spPr>
          <a:xfrm>
            <a:off x="6418757" y="1660055"/>
            <a:ext cx="4831297" cy="4679950"/>
          </a:xfrm>
        </p:spPr>
        <p:txBody>
          <a:bodyPr/>
          <a:lstStyle/>
          <a:p>
            <a:pPr>
              <a:lnSpc>
                <a:spcPct val="130000"/>
              </a:lnSpc>
              <a:spcBef>
                <a:spcPts val="1800"/>
              </a:spcBef>
              <a:defRPr/>
            </a:pPr>
            <a:r>
              <a:rPr lang="zh-CN" altLang="en-US" dirty="0">
                <a:solidFill>
                  <a:srgbClr val="C00000"/>
                </a:solidFill>
              </a:rPr>
              <a:t>应用：</a:t>
            </a:r>
            <a:endParaRPr lang="en-US" altLang="zh-CN" dirty="0">
              <a:solidFill>
                <a:srgbClr val="C00000"/>
              </a:solidFill>
            </a:endParaRPr>
          </a:p>
          <a:p>
            <a:pPr marL="0" indent="0">
              <a:lnSpc>
                <a:spcPct val="130000"/>
              </a:lnSpc>
              <a:spcBef>
                <a:spcPts val="1800"/>
              </a:spcBef>
              <a:buNone/>
              <a:defRPr/>
            </a:pPr>
            <a:r>
              <a:rPr lang="zh-CN" altLang="en-US" dirty="0"/>
              <a:t>获得相应细胞器，可从中进一步分离特定蛋白质，比如溶酶体中含多种水解酶，线粒体中含多种氧化酶。</a:t>
            </a:r>
            <a:endParaRPr lang="en-US" altLang="zh-CN" dirty="0"/>
          </a:p>
          <a:p>
            <a:pPr marL="0" indent="0">
              <a:lnSpc>
                <a:spcPct val="130000"/>
              </a:lnSpc>
              <a:spcBef>
                <a:spcPts val="1800"/>
              </a:spcBef>
              <a:buNone/>
              <a:defRPr/>
            </a:pPr>
            <a:r>
              <a:rPr lang="zh-CN" altLang="en-US" dirty="0">
                <a:solidFill>
                  <a:srgbClr val="0000CC"/>
                </a:solidFill>
              </a:rPr>
              <a:t>分离出特定细胞器常常是纯化特定酶的第一步</a:t>
            </a:r>
            <a:r>
              <a:rPr lang="zh-CN" altLang="en-US" dirty="0"/>
              <a:t>。</a:t>
            </a:r>
          </a:p>
        </p:txBody>
      </p:sp>
      <p:pic>
        <p:nvPicPr>
          <p:cNvPr id="226308" name="图片 3">
            <a:extLst>
              <a:ext uri="{FF2B5EF4-FFF2-40B4-BE49-F238E27FC236}">
                <a16:creationId xmlns:a16="http://schemas.microsoft.com/office/drawing/2014/main" id="{09758DAB-33FF-4ED6-BF41-567E8087F3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8925" y="-26988"/>
            <a:ext cx="3995738"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0402" name="Picture 4">
            <a:extLst>
              <a:ext uri="{FF2B5EF4-FFF2-40B4-BE49-F238E27FC236}">
                <a16:creationId xmlns:a16="http://schemas.microsoft.com/office/drawing/2014/main" id="{4ECFC754-5366-42AD-ADF0-87B51F6CAA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75"/>
          <a:stretch>
            <a:fillRect/>
          </a:stretch>
        </p:blipFill>
        <p:spPr bwMode="auto">
          <a:xfrm>
            <a:off x="1524000" y="1700213"/>
            <a:ext cx="91440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0403" name="标题 1">
            <a:extLst>
              <a:ext uri="{FF2B5EF4-FFF2-40B4-BE49-F238E27FC236}">
                <a16:creationId xmlns:a16="http://schemas.microsoft.com/office/drawing/2014/main" id="{58790519-3183-4CD9-B49B-0BDF4B750560}"/>
              </a:ext>
            </a:extLst>
          </p:cNvPr>
          <p:cNvSpPr>
            <a:spLocks noGrp="1" noChangeArrowheads="1"/>
          </p:cNvSpPr>
          <p:nvPr>
            <p:ph type="title"/>
          </p:nvPr>
        </p:nvSpPr>
        <p:spPr>
          <a:xfrm>
            <a:off x="1703388" y="188913"/>
            <a:ext cx="6553200" cy="563562"/>
          </a:xfrm>
        </p:spPr>
        <p:txBody>
          <a:bodyPr/>
          <a:lstStyle/>
          <a:p>
            <a:pPr algn="ctr"/>
            <a:r>
              <a:rPr lang="zh-CN" altLang="en-US" sz="4000"/>
              <a:t>细胞</a:t>
            </a:r>
            <a:r>
              <a:rPr lang="en-US" altLang="zh-CN" sz="4000"/>
              <a:t>rRNA</a:t>
            </a:r>
            <a:r>
              <a:rPr lang="zh-CN" altLang="en-US" sz="4000"/>
              <a:t>的分离</a:t>
            </a:r>
          </a:p>
        </p:txBody>
      </p:sp>
    </p:spTree>
  </p:cSld>
  <p:clrMapOvr>
    <a:masterClrMapping/>
  </p:clrMapOvr>
  <p:transition spd="slow">
    <p:circl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450" name="图片 1">
            <a:extLst>
              <a:ext uri="{FF2B5EF4-FFF2-40B4-BE49-F238E27FC236}">
                <a16:creationId xmlns:a16="http://schemas.microsoft.com/office/drawing/2014/main" id="{7CB22878-F6BF-4BA3-B2DA-03CCA92F45A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49500" y="333376"/>
            <a:ext cx="7418388" cy="611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26FBFA38-4FE6-4BDB-9C65-C45E25D8953C}"/>
              </a:ext>
            </a:extLst>
          </p:cNvPr>
          <p:cNvSpPr>
            <a:spLocks noChangeArrowheads="1"/>
          </p:cNvSpPr>
          <p:nvPr/>
        </p:nvSpPr>
        <p:spPr bwMode="auto">
          <a:xfrm>
            <a:off x="1919288" y="1173164"/>
            <a:ext cx="864076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200">
                <a:solidFill>
                  <a:srgbClr val="C00000"/>
                </a:solidFill>
              </a:rPr>
              <a:t> 方法</a:t>
            </a:r>
            <a:r>
              <a:rPr kumimoji="1" lang="en-US" altLang="zh-CN" sz="3200">
                <a:solidFill>
                  <a:srgbClr val="C00000"/>
                </a:solidFill>
              </a:rPr>
              <a:t>1.  </a:t>
            </a:r>
            <a:r>
              <a:rPr kumimoji="1" lang="zh-CN" altLang="en-US" sz="3200">
                <a:solidFill>
                  <a:srgbClr val="C00000"/>
                </a:solidFill>
              </a:rPr>
              <a:t>通过核酸来推演蛋白质中的氨基酸序列</a:t>
            </a:r>
          </a:p>
        </p:txBody>
      </p:sp>
      <p:sp>
        <p:nvSpPr>
          <p:cNvPr id="90115" name="Rectangle 3">
            <a:extLst>
              <a:ext uri="{FF2B5EF4-FFF2-40B4-BE49-F238E27FC236}">
                <a16:creationId xmlns:a16="http://schemas.microsoft.com/office/drawing/2014/main" id="{60B9F6E6-BF9A-4567-A4A9-9F0CE29807DB}"/>
              </a:ext>
            </a:extLst>
          </p:cNvPr>
          <p:cNvSpPr>
            <a:spLocks noChangeArrowheads="1"/>
          </p:cNvSpPr>
          <p:nvPr/>
        </p:nvSpPr>
        <p:spPr bwMode="auto">
          <a:xfrm>
            <a:off x="2782888" y="5646738"/>
            <a:ext cx="6985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a:solidFill>
                  <a:schemeClr val="tx1"/>
                </a:solidFill>
              </a:rPr>
              <a:t>按照三联密码的原则推演出氨基酸的序列</a:t>
            </a:r>
          </a:p>
        </p:txBody>
      </p:sp>
      <p:sp>
        <p:nvSpPr>
          <p:cNvPr id="90116" name="Rectangle 4">
            <a:extLst>
              <a:ext uri="{FF2B5EF4-FFF2-40B4-BE49-F238E27FC236}">
                <a16:creationId xmlns:a16="http://schemas.microsoft.com/office/drawing/2014/main" id="{A5F20709-509D-4025-895C-8681B18A2184}"/>
              </a:ext>
            </a:extLst>
          </p:cNvPr>
          <p:cNvSpPr>
            <a:spLocks noChangeArrowheads="1"/>
          </p:cNvSpPr>
          <p:nvPr/>
        </p:nvSpPr>
        <p:spPr bwMode="auto">
          <a:xfrm>
            <a:off x="4151313" y="1830388"/>
            <a:ext cx="48244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a:solidFill>
                  <a:schemeClr val="tx1"/>
                </a:solidFill>
              </a:rPr>
              <a:t>分离编码蛋白质的基因</a:t>
            </a:r>
          </a:p>
        </p:txBody>
      </p:sp>
      <p:sp>
        <p:nvSpPr>
          <p:cNvPr id="90117" name="Rectangle 5">
            <a:extLst>
              <a:ext uri="{FF2B5EF4-FFF2-40B4-BE49-F238E27FC236}">
                <a16:creationId xmlns:a16="http://schemas.microsoft.com/office/drawing/2014/main" id="{EA637EE6-2F65-49CB-AB0D-C299EE1E8471}"/>
              </a:ext>
            </a:extLst>
          </p:cNvPr>
          <p:cNvSpPr>
            <a:spLocks noChangeArrowheads="1"/>
          </p:cNvSpPr>
          <p:nvPr/>
        </p:nvSpPr>
        <p:spPr bwMode="auto">
          <a:xfrm>
            <a:off x="4583114" y="3054351"/>
            <a:ext cx="3889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a:solidFill>
                  <a:schemeClr val="tx1"/>
                </a:solidFill>
              </a:rPr>
              <a:t>测定</a:t>
            </a:r>
            <a:r>
              <a:rPr kumimoji="1" lang="en-US" altLang="zh-CN">
                <a:solidFill>
                  <a:schemeClr val="tx1"/>
                </a:solidFill>
              </a:rPr>
              <a:t>DNA</a:t>
            </a:r>
            <a:r>
              <a:rPr kumimoji="1" lang="zh-CN" altLang="en-US">
                <a:solidFill>
                  <a:schemeClr val="tx1"/>
                </a:solidFill>
              </a:rPr>
              <a:t>序列</a:t>
            </a:r>
          </a:p>
        </p:txBody>
      </p:sp>
      <p:sp>
        <p:nvSpPr>
          <p:cNvPr id="90118" name="Rectangle 6">
            <a:extLst>
              <a:ext uri="{FF2B5EF4-FFF2-40B4-BE49-F238E27FC236}">
                <a16:creationId xmlns:a16="http://schemas.microsoft.com/office/drawing/2014/main" id="{7A0C5D91-70F8-4E36-858E-74364343B625}"/>
              </a:ext>
            </a:extLst>
          </p:cNvPr>
          <p:cNvSpPr>
            <a:spLocks noChangeArrowheads="1"/>
          </p:cNvSpPr>
          <p:nvPr/>
        </p:nvSpPr>
        <p:spPr bwMode="auto">
          <a:xfrm>
            <a:off x="4224339" y="4351338"/>
            <a:ext cx="4319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a:solidFill>
                  <a:schemeClr val="tx1"/>
                </a:solidFill>
              </a:rPr>
              <a:t>排列出</a:t>
            </a:r>
            <a:r>
              <a:rPr kumimoji="1" lang="en-US" altLang="zh-CN">
                <a:solidFill>
                  <a:schemeClr val="tx1"/>
                </a:solidFill>
              </a:rPr>
              <a:t>mRNA</a:t>
            </a:r>
            <a:r>
              <a:rPr kumimoji="1" lang="zh-CN" altLang="en-US">
                <a:solidFill>
                  <a:schemeClr val="tx1"/>
                </a:solidFill>
              </a:rPr>
              <a:t>序列</a:t>
            </a:r>
          </a:p>
        </p:txBody>
      </p:sp>
      <p:sp>
        <p:nvSpPr>
          <p:cNvPr id="90119" name="AutoShape 7">
            <a:extLst>
              <a:ext uri="{FF2B5EF4-FFF2-40B4-BE49-F238E27FC236}">
                <a16:creationId xmlns:a16="http://schemas.microsoft.com/office/drawing/2014/main" id="{CBBB74BB-F0EB-4176-B136-AD4F5D7CC12D}"/>
              </a:ext>
            </a:extLst>
          </p:cNvPr>
          <p:cNvSpPr>
            <a:spLocks noChangeArrowheads="1"/>
          </p:cNvSpPr>
          <p:nvPr/>
        </p:nvSpPr>
        <p:spPr bwMode="auto">
          <a:xfrm>
            <a:off x="5735639" y="2406651"/>
            <a:ext cx="287337" cy="720725"/>
          </a:xfrm>
          <a:prstGeom prst="downArrow">
            <a:avLst>
              <a:gd name="adj1" fmla="val 50000"/>
              <a:gd name="adj2" fmla="val 62707"/>
            </a:avLst>
          </a:prstGeom>
          <a:solidFill>
            <a:schemeClr val="accent1"/>
          </a:solidFill>
          <a:ln w="9525">
            <a:solidFill>
              <a:schemeClr val="tx1"/>
            </a:solidFill>
            <a:miter lim="800000"/>
            <a:headEnd/>
            <a:tailEnd/>
          </a:ln>
        </p:spPr>
        <p:txBody>
          <a:bodyPr vert="eaVert"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90120" name="AutoShape 8">
            <a:extLst>
              <a:ext uri="{FF2B5EF4-FFF2-40B4-BE49-F238E27FC236}">
                <a16:creationId xmlns:a16="http://schemas.microsoft.com/office/drawing/2014/main" id="{7E6D4536-0804-41FD-B188-6E266E2009D9}"/>
              </a:ext>
            </a:extLst>
          </p:cNvPr>
          <p:cNvSpPr>
            <a:spLocks noChangeArrowheads="1"/>
          </p:cNvSpPr>
          <p:nvPr/>
        </p:nvSpPr>
        <p:spPr bwMode="auto">
          <a:xfrm>
            <a:off x="5735639" y="3630614"/>
            <a:ext cx="287337" cy="720725"/>
          </a:xfrm>
          <a:prstGeom prst="downArrow">
            <a:avLst>
              <a:gd name="adj1" fmla="val 50000"/>
              <a:gd name="adj2" fmla="val 62707"/>
            </a:avLst>
          </a:prstGeom>
          <a:solidFill>
            <a:schemeClr val="accent1"/>
          </a:solidFill>
          <a:ln w="9525">
            <a:solidFill>
              <a:schemeClr val="tx1"/>
            </a:solidFill>
            <a:miter lim="800000"/>
            <a:headEnd/>
            <a:tailEnd/>
          </a:ln>
        </p:spPr>
        <p:txBody>
          <a:bodyPr vert="eaVert"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90121" name="AutoShape 9">
            <a:extLst>
              <a:ext uri="{FF2B5EF4-FFF2-40B4-BE49-F238E27FC236}">
                <a16:creationId xmlns:a16="http://schemas.microsoft.com/office/drawing/2014/main" id="{E16356D3-020D-436A-B8C6-F93AB23D4C4F}"/>
              </a:ext>
            </a:extLst>
          </p:cNvPr>
          <p:cNvSpPr>
            <a:spLocks noChangeArrowheads="1"/>
          </p:cNvSpPr>
          <p:nvPr/>
        </p:nvSpPr>
        <p:spPr bwMode="auto">
          <a:xfrm>
            <a:off x="5735639" y="4927601"/>
            <a:ext cx="287337" cy="720725"/>
          </a:xfrm>
          <a:prstGeom prst="downArrow">
            <a:avLst>
              <a:gd name="adj1" fmla="val 50000"/>
              <a:gd name="adj2" fmla="val 62707"/>
            </a:avLst>
          </a:prstGeom>
          <a:solidFill>
            <a:schemeClr val="accent1"/>
          </a:solidFill>
          <a:ln w="9525">
            <a:solidFill>
              <a:schemeClr val="tx1"/>
            </a:solidFill>
            <a:miter lim="800000"/>
            <a:headEnd/>
            <a:tailEnd/>
          </a:ln>
        </p:spPr>
        <p:txBody>
          <a:bodyPr vert="eaVert" wrap="none" anchor="ct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a:solidFill>
                <a:schemeClr val="tx1"/>
              </a:solidFill>
              <a:latin typeface="Arial" panose="020B0604020202020204" pitchFamily="34" charset="0"/>
              <a:ea typeface="宋体" panose="02010600030101010101" pitchFamily="2" charset="-122"/>
            </a:endParaRPr>
          </a:p>
        </p:txBody>
      </p:sp>
      <p:sp>
        <p:nvSpPr>
          <p:cNvPr id="233482" name="标题 1">
            <a:extLst>
              <a:ext uri="{FF2B5EF4-FFF2-40B4-BE49-F238E27FC236}">
                <a16:creationId xmlns:a16="http://schemas.microsoft.com/office/drawing/2014/main" id="{3773FA2F-1DE4-4C91-AD41-8B23C647FBB6}"/>
              </a:ext>
            </a:extLst>
          </p:cNvPr>
          <p:cNvSpPr>
            <a:spLocks noGrp="1" noChangeArrowheads="1"/>
          </p:cNvSpPr>
          <p:nvPr>
            <p:ph type="title"/>
          </p:nvPr>
        </p:nvSpPr>
        <p:spPr>
          <a:xfrm>
            <a:off x="1919288" y="130176"/>
            <a:ext cx="8305800" cy="720725"/>
          </a:xfrm>
        </p:spPr>
        <p:txBody>
          <a:bodyPr/>
          <a:lstStyle/>
          <a:p>
            <a:r>
              <a:rPr lang="zh-CN" altLang="en-US"/>
              <a:t>六、多肽链中氨基酸序列分析</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0116"/>
                                        </p:tgtEl>
                                        <p:attrNameLst>
                                          <p:attrName>style.visibility</p:attrName>
                                        </p:attrNameLst>
                                      </p:cBhvr>
                                      <p:to>
                                        <p:strVal val="visible"/>
                                      </p:to>
                                    </p:set>
                                  </p:childTnLst>
                                </p:cTn>
                              </p:par>
                            </p:childTnLst>
                          </p:cTn>
                        </p:par>
                        <p:par>
                          <p:cTn id="7" fill="hold" nodeType="afterGroup">
                            <p:stCondLst>
                              <p:cond delay="500"/>
                            </p:stCondLst>
                            <p:childTnLst>
                              <p:par>
                                <p:cTn id="8" presetID="12" presetClass="entr" presetSubtype="1" fill="hold" grpId="0" nodeType="afterEffect">
                                  <p:stCondLst>
                                    <p:cond delay="0"/>
                                  </p:stCondLst>
                                  <p:childTnLst>
                                    <p:set>
                                      <p:cBhvr>
                                        <p:cTn id="9" dur="1" fill="hold">
                                          <p:stCondLst>
                                            <p:cond delay="0"/>
                                          </p:stCondLst>
                                        </p:cTn>
                                        <p:tgtEl>
                                          <p:spTgt spid="90119"/>
                                        </p:tgtEl>
                                        <p:attrNameLst>
                                          <p:attrName>style.visibility</p:attrName>
                                        </p:attrNameLst>
                                      </p:cBhvr>
                                      <p:to>
                                        <p:strVal val="visible"/>
                                      </p:to>
                                    </p:set>
                                    <p:animEffect transition="in" filter="slide(fromTop)">
                                      <p:cBhvr>
                                        <p:cTn id="10" dur="500"/>
                                        <p:tgtEl>
                                          <p:spTgt spid="90119"/>
                                        </p:tgtEl>
                                      </p:cBhvr>
                                    </p:animEffect>
                                  </p:childTnLst>
                                </p:cTn>
                              </p:par>
                            </p:childTnLst>
                          </p:cTn>
                        </p:par>
                        <p:par>
                          <p:cTn id="11" fill="hold" nodeType="afterGroup">
                            <p:stCondLst>
                              <p:cond delay="1000"/>
                            </p:stCondLst>
                            <p:childTnLst>
                              <p:par>
                                <p:cTn id="12" presetID="1" presetClass="entr" presetSubtype="0" fill="hold" grpId="0" nodeType="afterEffect">
                                  <p:stCondLst>
                                    <p:cond delay="0"/>
                                  </p:stCondLst>
                                  <p:iterate type="lt">
                                    <p:tmAbs val="75"/>
                                  </p:iterate>
                                  <p:childTnLst>
                                    <p:set>
                                      <p:cBhvr>
                                        <p:cTn id="13" dur="1" fill="hold">
                                          <p:stCondLst>
                                            <p:cond delay="74"/>
                                          </p:stCondLst>
                                        </p:cTn>
                                        <p:tgtEl>
                                          <p:spTgt spid="90117"/>
                                        </p:tgtEl>
                                        <p:attrNameLst>
                                          <p:attrName>style.visibility</p:attrName>
                                        </p:attrNameLst>
                                      </p:cBhvr>
                                      <p:to>
                                        <p:strVal val="visible"/>
                                      </p:to>
                                    </p:set>
                                  </p:childTnLst>
                                </p:cTn>
                              </p:par>
                            </p:childTnLst>
                          </p:cTn>
                        </p:par>
                        <p:par>
                          <p:cTn id="14" fill="hold" nodeType="afterGroup">
                            <p:stCondLst>
                              <p:cond delay="1525"/>
                            </p:stCondLst>
                            <p:childTnLst>
                              <p:par>
                                <p:cTn id="15" presetID="1" presetClass="entr" presetSubtype="0" fill="hold" grpId="0" nodeType="afterEffect">
                                  <p:stCondLst>
                                    <p:cond delay="0"/>
                                  </p:stCondLst>
                                  <p:childTnLst>
                                    <p:set>
                                      <p:cBhvr>
                                        <p:cTn id="16" dur="1" fill="hold">
                                          <p:stCondLst>
                                            <p:cond delay="499"/>
                                          </p:stCondLst>
                                        </p:cTn>
                                        <p:tgtEl>
                                          <p:spTgt spid="90120"/>
                                        </p:tgtEl>
                                        <p:attrNameLst>
                                          <p:attrName>style.visibility</p:attrName>
                                        </p:attrNameLst>
                                      </p:cBhvr>
                                      <p:to>
                                        <p:strVal val="visible"/>
                                      </p:to>
                                    </p:set>
                                  </p:childTnLst>
                                </p:cTn>
                              </p:par>
                            </p:childTnLst>
                          </p:cTn>
                        </p:par>
                        <p:par>
                          <p:cTn id="17" fill="hold" nodeType="afterGroup">
                            <p:stCondLst>
                              <p:cond delay="2025"/>
                            </p:stCondLst>
                            <p:childTnLst>
                              <p:par>
                                <p:cTn id="18" presetID="17" presetClass="entr" presetSubtype="1" fill="hold" grpId="0" nodeType="afterEffect">
                                  <p:stCondLst>
                                    <p:cond delay="0"/>
                                  </p:stCondLst>
                                  <p:childTnLst>
                                    <p:set>
                                      <p:cBhvr>
                                        <p:cTn id="19" dur="1" fill="hold">
                                          <p:stCondLst>
                                            <p:cond delay="0"/>
                                          </p:stCondLst>
                                        </p:cTn>
                                        <p:tgtEl>
                                          <p:spTgt spid="90118"/>
                                        </p:tgtEl>
                                        <p:attrNameLst>
                                          <p:attrName>style.visibility</p:attrName>
                                        </p:attrNameLst>
                                      </p:cBhvr>
                                      <p:to>
                                        <p:strVal val="visible"/>
                                      </p:to>
                                    </p:set>
                                    <p:anim calcmode="lin" valueType="num">
                                      <p:cBhvr>
                                        <p:cTn id="20" dur="500" fill="hold"/>
                                        <p:tgtEl>
                                          <p:spTgt spid="90118"/>
                                        </p:tgtEl>
                                        <p:attrNameLst>
                                          <p:attrName>ppt_x</p:attrName>
                                        </p:attrNameLst>
                                      </p:cBhvr>
                                      <p:tavLst>
                                        <p:tav tm="0">
                                          <p:val>
                                            <p:strVal val="#ppt_x"/>
                                          </p:val>
                                        </p:tav>
                                        <p:tav tm="100000">
                                          <p:val>
                                            <p:strVal val="#ppt_x"/>
                                          </p:val>
                                        </p:tav>
                                      </p:tavLst>
                                    </p:anim>
                                    <p:anim calcmode="lin" valueType="num">
                                      <p:cBhvr>
                                        <p:cTn id="21" dur="500" fill="hold"/>
                                        <p:tgtEl>
                                          <p:spTgt spid="90118"/>
                                        </p:tgtEl>
                                        <p:attrNameLst>
                                          <p:attrName>ppt_y</p:attrName>
                                        </p:attrNameLst>
                                      </p:cBhvr>
                                      <p:tavLst>
                                        <p:tav tm="0">
                                          <p:val>
                                            <p:strVal val="#ppt_y-#ppt_h/2"/>
                                          </p:val>
                                        </p:tav>
                                        <p:tav tm="100000">
                                          <p:val>
                                            <p:strVal val="#ppt_y"/>
                                          </p:val>
                                        </p:tav>
                                      </p:tavLst>
                                    </p:anim>
                                    <p:anim calcmode="lin" valueType="num">
                                      <p:cBhvr>
                                        <p:cTn id="22" dur="500" fill="hold"/>
                                        <p:tgtEl>
                                          <p:spTgt spid="90118"/>
                                        </p:tgtEl>
                                        <p:attrNameLst>
                                          <p:attrName>ppt_w</p:attrName>
                                        </p:attrNameLst>
                                      </p:cBhvr>
                                      <p:tavLst>
                                        <p:tav tm="0">
                                          <p:val>
                                            <p:strVal val="#ppt_w"/>
                                          </p:val>
                                        </p:tav>
                                        <p:tav tm="100000">
                                          <p:val>
                                            <p:strVal val="#ppt_w"/>
                                          </p:val>
                                        </p:tav>
                                      </p:tavLst>
                                    </p:anim>
                                    <p:anim calcmode="lin" valueType="num">
                                      <p:cBhvr>
                                        <p:cTn id="23" dur="500" fill="hold"/>
                                        <p:tgtEl>
                                          <p:spTgt spid="90118"/>
                                        </p:tgtEl>
                                        <p:attrNameLst>
                                          <p:attrName>ppt_h</p:attrName>
                                        </p:attrNameLst>
                                      </p:cBhvr>
                                      <p:tavLst>
                                        <p:tav tm="0">
                                          <p:val>
                                            <p:fltVal val="0"/>
                                          </p:val>
                                        </p:tav>
                                        <p:tav tm="100000">
                                          <p:val>
                                            <p:strVal val="#ppt_h"/>
                                          </p:val>
                                        </p:tav>
                                      </p:tavLst>
                                    </p:anim>
                                  </p:childTnLst>
                                </p:cTn>
                              </p:par>
                            </p:childTnLst>
                          </p:cTn>
                        </p:par>
                        <p:par>
                          <p:cTn id="24" fill="hold" nodeType="afterGroup">
                            <p:stCondLst>
                              <p:cond delay="2525"/>
                            </p:stCondLst>
                            <p:childTnLst>
                              <p:par>
                                <p:cTn id="25" presetID="3" presetClass="entr" presetSubtype="10" fill="hold" grpId="0" nodeType="afterEffect">
                                  <p:stCondLst>
                                    <p:cond delay="0"/>
                                  </p:stCondLst>
                                  <p:childTnLst>
                                    <p:set>
                                      <p:cBhvr>
                                        <p:cTn id="26" dur="1" fill="hold">
                                          <p:stCondLst>
                                            <p:cond delay="0"/>
                                          </p:stCondLst>
                                        </p:cTn>
                                        <p:tgtEl>
                                          <p:spTgt spid="90121"/>
                                        </p:tgtEl>
                                        <p:attrNameLst>
                                          <p:attrName>style.visibility</p:attrName>
                                        </p:attrNameLst>
                                      </p:cBhvr>
                                      <p:to>
                                        <p:strVal val="visible"/>
                                      </p:to>
                                    </p:set>
                                    <p:animEffect transition="in" filter="blinds(horizontal)">
                                      <p:cBhvr>
                                        <p:cTn id="27" dur="500"/>
                                        <p:tgtEl>
                                          <p:spTgt spid="90121"/>
                                        </p:tgtEl>
                                      </p:cBhvr>
                                    </p:animEffect>
                                  </p:childTnLst>
                                </p:cTn>
                              </p:par>
                            </p:childTnLst>
                          </p:cTn>
                        </p:par>
                        <p:par>
                          <p:cTn id="28" fill="hold" nodeType="afterGroup">
                            <p:stCondLst>
                              <p:cond delay="3025"/>
                            </p:stCondLst>
                            <p:childTnLst>
                              <p:par>
                                <p:cTn id="29" presetID="1" presetClass="entr" presetSubtype="0" fill="hold" grpId="0" nodeType="afterEffect">
                                  <p:stCondLst>
                                    <p:cond delay="0"/>
                                  </p:stCondLst>
                                  <p:iterate type="lt">
                                    <p:tmAbs val="75"/>
                                  </p:iterate>
                                  <p:childTnLst>
                                    <p:set>
                                      <p:cBhvr>
                                        <p:cTn id="30" dur="1" fill="hold">
                                          <p:stCondLst>
                                            <p:cond delay="74"/>
                                          </p:stCondLst>
                                        </p:cTn>
                                        <p:tgtEl>
                                          <p:spTgt spid="90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autoUpdateAnimBg="0"/>
      <p:bldP spid="90116" grpId="0" autoUpdateAnimBg="0"/>
      <p:bldP spid="90117" grpId="0" autoUpdateAnimBg="0"/>
      <p:bldP spid="90118" grpId="0" autoUpdateAnimBg="0"/>
      <p:bldP spid="90119" grpId="0" animBg="1"/>
      <p:bldP spid="90120" grpId="0" animBg="1"/>
      <p:bldP spid="90121"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22" name="Group 3">
            <a:extLst>
              <a:ext uri="{FF2B5EF4-FFF2-40B4-BE49-F238E27FC236}">
                <a16:creationId xmlns:a16="http://schemas.microsoft.com/office/drawing/2014/main" id="{E7832F01-60F6-4885-9EFF-D3AC42C6B247}"/>
              </a:ext>
            </a:extLst>
          </p:cNvPr>
          <p:cNvGrpSpPr>
            <a:grpSpLocks/>
          </p:cNvGrpSpPr>
          <p:nvPr/>
        </p:nvGrpSpPr>
        <p:grpSpPr bwMode="auto">
          <a:xfrm>
            <a:off x="2006601" y="2668589"/>
            <a:ext cx="8321675" cy="503237"/>
            <a:chOff x="326" y="1344"/>
            <a:chExt cx="5242" cy="317"/>
          </a:xfrm>
        </p:grpSpPr>
        <p:sp>
          <p:nvSpPr>
            <p:cNvPr id="208929" name="Rectangle 4">
              <a:extLst>
                <a:ext uri="{FF2B5EF4-FFF2-40B4-BE49-F238E27FC236}">
                  <a16:creationId xmlns:a16="http://schemas.microsoft.com/office/drawing/2014/main" id="{5676E1B3-8A07-4C79-BB83-62FBB7B31A1C}"/>
                </a:ext>
              </a:extLst>
            </p:cNvPr>
            <p:cNvSpPr>
              <a:spLocks noChangeArrowheads="1"/>
            </p:cNvSpPr>
            <p:nvPr/>
          </p:nvSpPr>
          <p:spPr bwMode="auto">
            <a:xfrm>
              <a:off x="768" y="1440"/>
              <a:ext cx="3984" cy="14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endParaRPr lang="zh-CN" altLang="en-US" sz="1600" b="0">
                <a:solidFill>
                  <a:schemeClr val="tx1"/>
                </a:solidFill>
                <a:latin typeface="+mn-ea"/>
                <a:ea typeface="+mn-ea"/>
              </a:endParaRPr>
            </a:p>
          </p:txBody>
        </p:sp>
        <p:sp>
          <p:nvSpPr>
            <p:cNvPr id="208930" name="Text Box 5">
              <a:extLst>
                <a:ext uri="{FF2B5EF4-FFF2-40B4-BE49-F238E27FC236}">
                  <a16:creationId xmlns:a16="http://schemas.microsoft.com/office/drawing/2014/main" id="{4D7381A2-21F9-4A9B-86F7-B1B83986B3DD}"/>
                </a:ext>
              </a:extLst>
            </p:cNvPr>
            <p:cNvSpPr txBox="1">
              <a:spLocks noChangeArrowheads="1"/>
            </p:cNvSpPr>
            <p:nvPr/>
          </p:nvSpPr>
          <p:spPr bwMode="auto">
            <a:xfrm>
              <a:off x="4752" y="1344"/>
              <a:ext cx="816" cy="288"/>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kumimoji="1" lang="en-US" altLang="zh-CN" sz="2400" b="0">
                  <a:solidFill>
                    <a:schemeClr val="tx1"/>
                  </a:solidFill>
                  <a:latin typeface="+mn-ea"/>
                  <a:ea typeface="+mn-ea"/>
                </a:rPr>
                <a:t>COOH</a:t>
              </a:r>
            </a:p>
          </p:txBody>
        </p:sp>
        <p:sp>
          <p:nvSpPr>
            <p:cNvPr id="208931" name="Text Box 6">
              <a:extLst>
                <a:ext uri="{FF2B5EF4-FFF2-40B4-BE49-F238E27FC236}">
                  <a16:creationId xmlns:a16="http://schemas.microsoft.com/office/drawing/2014/main" id="{31F83A63-316A-4D61-BA87-27CFD91A1CAA}"/>
                </a:ext>
              </a:extLst>
            </p:cNvPr>
            <p:cNvSpPr txBox="1">
              <a:spLocks noChangeArrowheads="1"/>
            </p:cNvSpPr>
            <p:nvPr/>
          </p:nvSpPr>
          <p:spPr bwMode="auto">
            <a:xfrm>
              <a:off x="326" y="1373"/>
              <a:ext cx="576" cy="288"/>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kumimoji="1" lang="en-US" altLang="zh-CN" sz="2400" b="0">
                  <a:solidFill>
                    <a:schemeClr val="tx1"/>
                  </a:solidFill>
                  <a:latin typeface="+mn-ea"/>
                  <a:ea typeface="+mn-ea"/>
                </a:rPr>
                <a:t>H2N</a:t>
              </a:r>
            </a:p>
          </p:txBody>
        </p:sp>
      </p:grpSp>
      <p:sp>
        <p:nvSpPr>
          <p:cNvPr id="208899" name="AutoShape 7">
            <a:extLst>
              <a:ext uri="{FF2B5EF4-FFF2-40B4-BE49-F238E27FC236}">
                <a16:creationId xmlns:a16="http://schemas.microsoft.com/office/drawing/2014/main" id="{E8B8B282-3DC6-4403-9F6B-B3804E3AEAAA}"/>
              </a:ext>
            </a:extLst>
          </p:cNvPr>
          <p:cNvSpPr>
            <a:spLocks noChangeArrowheads="1"/>
          </p:cNvSpPr>
          <p:nvPr/>
        </p:nvSpPr>
        <p:spPr bwMode="auto">
          <a:xfrm>
            <a:off x="5664200" y="2058988"/>
            <a:ext cx="228600" cy="685800"/>
          </a:xfrm>
          <a:prstGeom prst="downArrow">
            <a:avLst>
              <a:gd name="adj1" fmla="val 50000"/>
              <a:gd name="adj2" fmla="val 75000"/>
            </a:avLst>
          </a:prstGeom>
          <a:solidFill>
            <a:srgbClr val="FFFF00"/>
          </a:solidFill>
          <a:ln w="9525">
            <a:solidFill>
              <a:schemeClr val="tx1"/>
            </a:solidFill>
            <a:miter lim="800000"/>
            <a:headEnd/>
            <a:tailEnd/>
          </a:ln>
        </p:spPr>
        <p:txBody>
          <a:bodyPr vert="eaVert"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endParaRPr lang="zh-CN" altLang="en-US" sz="1600" b="0">
              <a:solidFill>
                <a:schemeClr val="tx1"/>
              </a:solidFill>
              <a:latin typeface="+mn-ea"/>
              <a:ea typeface="+mn-ea"/>
            </a:endParaRPr>
          </a:p>
        </p:txBody>
      </p:sp>
      <p:sp>
        <p:nvSpPr>
          <p:cNvPr id="208900" name="Rectangle 8">
            <a:extLst>
              <a:ext uri="{FF2B5EF4-FFF2-40B4-BE49-F238E27FC236}">
                <a16:creationId xmlns:a16="http://schemas.microsoft.com/office/drawing/2014/main" id="{50489E8A-2857-4C44-B104-60A51A243B4A}"/>
              </a:ext>
            </a:extLst>
          </p:cNvPr>
          <p:cNvSpPr>
            <a:spLocks noChangeArrowheads="1"/>
          </p:cNvSpPr>
          <p:nvPr/>
        </p:nvSpPr>
        <p:spPr bwMode="auto">
          <a:xfrm>
            <a:off x="2616200" y="1754188"/>
            <a:ext cx="6324600" cy="2286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endParaRPr lang="zh-CN" altLang="en-US" sz="1600" b="0">
              <a:solidFill>
                <a:schemeClr val="tx1"/>
              </a:solidFill>
              <a:latin typeface="+mn-ea"/>
              <a:ea typeface="+mn-ea"/>
            </a:endParaRPr>
          </a:p>
        </p:txBody>
      </p:sp>
      <p:sp>
        <p:nvSpPr>
          <p:cNvPr id="208901" name="Line 9">
            <a:extLst>
              <a:ext uri="{FF2B5EF4-FFF2-40B4-BE49-F238E27FC236}">
                <a16:creationId xmlns:a16="http://schemas.microsoft.com/office/drawing/2014/main" id="{A8E9A4C5-38E3-4D39-AF21-EE8D625281FC}"/>
              </a:ext>
            </a:extLst>
          </p:cNvPr>
          <p:cNvSpPr>
            <a:spLocks noChangeShapeType="1"/>
          </p:cNvSpPr>
          <p:nvPr/>
        </p:nvSpPr>
        <p:spPr bwMode="auto">
          <a:xfrm flipV="1">
            <a:off x="3530600" y="3125788"/>
            <a:ext cx="0" cy="457200"/>
          </a:xfrm>
          <a:prstGeom prst="line">
            <a:avLst/>
          </a:prstGeom>
          <a:noFill/>
          <a:ln w="9525">
            <a:solidFill>
              <a:schemeClr val="tx1"/>
            </a:solidFill>
            <a:round/>
            <a:headEnd/>
            <a:tailEnd type="triangle" w="med" len="med"/>
          </a:ln>
        </p:spPr>
        <p:txBody>
          <a:bodyPr wrap="none"/>
          <a:lstStyle/>
          <a:p>
            <a:pPr>
              <a:defRPr/>
            </a:pPr>
            <a:endParaRPr lang="zh-CN" altLang="en-US">
              <a:latin typeface="+mn-ea"/>
              <a:ea typeface="+mn-ea"/>
            </a:endParaRPr>
          </a:p>
        </p:txBody>
      </p:sp>
      <p:sp>
        <p:nvSpPr>
          <p:cNvPr id="208902" name="Line 10">
            <a:extLst>
              <a:ext uri="{FF2B5EF4-FFF2-40B4-BE49-F238E27FC236}">
                <a16:creationId xmlns:a16="http://schemas.microsoft.com/office/drawing/2014/main" id="{616EFA72-0D6B-4820-8B69-C9BDB45FD67F}"/>
              </a:ext>
            </a:extLst>
          </p:cNvPr>
          <p:cNvSpPr>
            <a:spLocks noChangeShapeType="1"/>
          </p:cNvSpPr>
          <p:nvPr/>
        </p:nvSpPr>
        <p:spPr bwMode="auto">
          <a:xfrm flipV="1">
            <a:off x="4826000" y="3125788"/>
            <a:ext cx="0" cy="457200"/>
          </a:xfrm>
          <a:prstGeom prst="line">
            <a:avLst/>
          </a:prstGeom>
          <a:noFill/>
          <a:ln w="9525">
            <a:solidFill>
              <a:schemeClr val="tx1"/>
            </a:solidFill>
            <a:round/>
            <a:headEnd/>
            <a:tailEnd type="triangle" w="med" len="med"/>
          </a:ln>
        </p:spPr>
        <p:txBody>
          <a:bodyPr wrap="none"/>
          <a:lstStyle/>
          <a:p>
            <a:pPr>
              <a:defRPr/>
            </a:pPr>
            <a:endParaRPr lang="zh-CN" altLang="en-US">
              <a:latin typeface="+mn-ea"/>
              <a:ea typeface="+mn-ea"/>
            </a:endParaRPr>
          </a:p>
        </p:txBody>
      </p:sp>
      <p:sp>
        <p:nvSpPr>
          <p:cNvPr id="208903" name="Line 11">
            <a:extLst>
              <a:ext uri="{FF2B5EF4-FFF2-40B4-BE49-F238E27FC236}">
                <a16:creationId xmlns:a16="http://schemas.microsoft.com/office/drawing/2014/main" id="{B637C408-D6F1-445F-8365-7F69A7C85EC9}"/>
              </a:ext>
            </a:extLst>
          </p:cNvPr>
          <p:cNvSpPr>
            <a:spLocks noChangeShapeType="1"/>
          </p:cNvSpPr>
          <p:nvPr/>
        </p:nvSpPr>
        <p:spPr bwMode="auto">
          <a:xfrm flipV="1">
            <a:off x="6654800" y="3125788"/>
            <a:ext cx="0" cy="457200"/>
          </a:xfrm>
          <a:prstGeom prst="line">
            <a:avLst/>
          </a:prstGeom>
          <a:noFill/>
          <a:ln w="9525">
            <a:solidFill>
              <a:schemeClr val="tx1"/>
            </a:solidFill>
            <a:round/>
            <a:headEnd/>
            <a:tailEnd type="triangle" w="med" len="med"/>
          </a:ln>
        </p:spPr>
        <p:txBody>
          <a:bodyPr wrap="none"/>
          <a:lstStyle/>
          <a:p>
            <a:pPr>
              <a:defRPr/>
            </a:pPr>
            <a:endParaRPr lang="zh-CN" altLang="en-US">
              <a:latin typeface="+mn-ea"/>
              <a:ea typeface="+mn-ea"/>
            </a:endParaRPr>
          </a:p>
        </p:txBody>
      </p:sp>
      <p:grpSp>
        <p:nvGrpSpPr>
          <p:cNvPr id="235528" name="Group 12">
            <a:extLst>
              <a:ext uri="{FF2B5EF4-FFF2-40B4-BE49-F238E27FC236}">
                <a16:creationId xmlns:a16="http://schemas.microsoft.com/office/drawing/2014/main" id="{0BED5876-2991-4BD2-99D6-26D730D3793A}"/>
              </a:ext>
            </a:extLst>
          </p:cNvPr>
          <p:cNvGrpSpPr>
            <a:grpSpLocks/>
          </p:cNvGrpSpPr>
          <p:nvPr/>
        </p:nvGrpSpPr>
        <p:grpSpPr bwMode="auto">
          <a:xfrm>
            <a:off x="2616201" y="3735388"/>
            <a:ext cx="968375" cy="474662"/>
            <a:chOff x="734" y="2699"/>
            <a:chExt cx="610" cy="299"/>
          </a:xfrm>
        </p:grpSpPr>
        <p:sp>
          <p:nvSpPr>
            <p:cNvPr id="208926" name="Rectangle 13">
              <a:extLst>
                <a:ext uri="{FF2B5EF4-FFF2-40B4-BE49-F238E27FC236}">
                  <a16:creationId xmlns:a16="http://schemas.microsoft.com/office/drawing/2014/main" id="{6B64D727-73EA-4F2A-AA22-F0CBD7BC8F22}"/>
                </a:ext>
              </a:extLst>
            </p:cNvPr>
            <p:cNvSpPr>
              <a:spLocks noChangeArrowheads="1"/>
            </p:cNvSpPr>
            <p:nvPr/>
          </p:nvSpPr>
          <p:spPr bwMode="auto">
            <a:xfrm>
              <a:off x="778" y="2784"/>
              <a:ext cx="518" cy="14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endParaRPr lang="zh-CN" altLang="en-US" sz="1600" b="0">
                <a:solidFill>
                  <a:schemeClr val="tx1"/>
                </a:solidFill>
                <a:latin typeface="+mn-ea"/>
                <a:ea typeface="+mn-ea"/>
              </a:endParaRPr>
            </a:p>
          </p:txBody>
        </p:sp>
        <p:sp>
          <p:nvSpPr>
            <p:cNvPr id="208927" name="Text Box 14">
              <a:extLst>
                <a:ext uri="{FF2B5EF4-FFF2-40B4-BE49-F238E27FC236}">
                  <a16:creationId xmlns:a16="http://schemas.microsoft.com/office/drawing/2014/main" id="{FAF03925-E158-4868-BAA4-7F148E35E6B7}"/>
                </a:ext>
              </a:extLst>
            </p:cNvPr>
            <p:cNvSpPr txBox="1">
              <a:spLocks noChangeArrowheads="1"/>
            </p:cNvSpPr>
            <p:nvPr/>
          </p:nvSpPr>
          <p:spPr bwMode="auto">
            <a:xfrm>
              <a:off x="1104" y="2710"/>
              <a:ext cx="240" cy="288"/>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kumimoji="1" lang="en-US" altLang="zh-CN" sz="2400" b="0">
                  <a:solidFill>
                    <a:schemeClr val="bg1"/>
                  </a:solidFill>
                  <a:latin typeface="+mn-ea"/>
                  <a:ea typeface="+mn-ea"/>
                </a:rPr>
                <a:t>C</a:t>
              </a:r>
            </a:p>
          </p:txBody>
        </p:sp>
        <p:sp>
          <p:nvSpPr>
            <p:cNvPr id="208928" name="Text Box 15">
              <a:extLst>
                <a:ext uri="{FF2B5EF4-FFF2-40B4-BE49-F238E27FC236}">
                  <a16:creationId xmlns:a16="http://schemas.microsoft.com/office/drawing/2014/main" id="{F96AAE16-03D2-4A1E-8A91-1C1B68BB15F6}"/>
                </a:ext>
              </a:extLst>
            </p:cNvPr>
            <p:cNvSpPr txBox="1">
              <a:spLocks noChangeArrowheads="1"/>
            </p:cNvSpPr>
            <p:nvPr/>
          </p:nvSpPr>
          <p:spPr bwMode="auto">
            <a:xfrm>
              <a:off x="734" y="2699"/>
              <a:ext cx="240" cy="288"/>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kumimoji="1" lang="en-US" altLang="zh-CN" sz="2400" b="0">
                  <a:solidFill>
                    <a:schemeClr val="bg1"/>
                  </a:solidFill>
                  <a:latin typeface="+mn-ea"/>
                  <a:ea typeface="+mn-ea"/>
                </a:rPr>
                <a:t>N</a:t>
              </a:r>
            </a:p>
          </p:txBody>
        </p:sp>
      </p:grpSp>
      <p:grpSp>
        <p:nvGrpSpPr>
          <p:cNvPr id="235529" name="Group 16">
            <a:extLst>
              <a:ext uri="{FF2B5EF4-FFF2-40B4-BE49-F238E27FC236}">
                <a16:creationId xmlns:a16="http://schemas.microsoft.com/office/drawing/2014/main" id="{8101A60A-8F8B-4264-8AB9-9A4C6C77D99B}"/>
              </a:ext>
            </a:extLst>
          </p:cNvPr>
          <p:cNvGrpSpPr>
            <a:grpSpLocks/>
          </p:cNvGrpSpPr>
          <p:nvPr/>
        </p:nvGrpSpPr>
        <p:grpSpPr bwMode="auto">
          <a:xfrm>
            <a:off x="3530600" y="4268788"/>
            <a:ext cx="1295400" cy="474662"/>
            <a:chOff x="734" y="2699"/>
            <a:chExt cx="610" cy="310"/>
          </a:xfrm>
        </p:grpSpPr>
        <p:sp>
          <p:nvSpPr>
            <p:cNvPr id="208923" name="Rectangle 17">
              <a:extLst>
                <a:ext uri="{FF2B5EF4-FFF2-40B4-BE49-F238E27FC236}">
                  <a16:creationId xmlns:a16="http://schemas.microsoft.com/office/drawing/2014/main" id="{C09AC994-7EBA-44D5-8282-E26986A222D3}"/>
                </a:ext>
              </a:extLst>
            </p:cNvPr>
            <p:cNvSpPr>
              <a:spLocks noChangeArrowheads="1"/>
            </p:cNvSpPr>
            <p:nvPr/>
          </p:nvSpPr>
          <p:spPr bwMode="auto">
            <a:xfrm>
              <a:off x="778" y="2784"/>
              <a:ext cx="518" cy="14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endParaRPr lang="zh-CN" altLang="en-US" sz="1600" b="0">
                <a:solidFill>
                  <a:schemeClr val="tx1"/>
                </a:solidFill>
                <a:latin typeface="+mn-ea"/>
                <a:ea typeface="+mn-ea"/>
              </a:endParaRPr>
            </a:p>
          </p:txBody>
        </p:sp>
        <p:sp>
          <p:nvSpPr>
            <p:cNvPr id="208924" name="Text Box 18">
              <a:extLst>
                <a:ext uri="{FF2B5EF4-FFF2-40B4-BE49-F238E27FC236}">
                  <a16:creationId xmlns:a16="http://schemas.microsoft.com/office/drawing/2014/main" id="{E5412EA4-B157-42F7-9326-3A36AFB9077C}"/>
                </a:ext>
              </a:extLst>
            </p:cNvPr>
            <p:cNvSpPr txBox="1">
              <a:spLocks noChangeArrowheads="1"/>
            </p:cNvSpPr>
            <p:nvPr/>
          </p:nvSpPr>
          <p:spPr bwMode="auto">
            <a:xfrm>
              <a:off x="1104" y="2710"/>
              <a:ext cx="240" cy="299"/>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kumimoji="1" lang="en-US" altLang="zh-CN" sz="2400" b="0">
                  <a:solidFill>
                    <a:schemeClr val="tx1"/>
                  </a:solidFill>
                  <a:latin typeface="+mn-ea"/>
                  <a:ea typeface="+mn-ea"/>
                </a:rPr>
                <a:t> </a:t>
              </a:r>
              <a:r>
                <a:rPr kumimoji="1" lang="en-US" altLang="zh-CN" sz="2400" b="0">
                  <a:solidFill>
                    <a:schemeClr val="bg1"/>
                  </a:solidFill>
                  <a:latin typeface="+mn-ea"/>
                  <a:ea typeface="+mn-ea"/>
                </a:rPr>
                <a:t>C</a:t>
              </a:r>
            </a:p>
          </p:txBody>
        </p:sp>
        <p:sp>
          <p:nvSpPr>
            <p:cNvPr id="208925" name="Text Box 19">
              <a:extLst>
                <a:ext uri="{FF2B5EF4-FFF2-40B4-BE49-F238E27FC236}">
                  <a16:creationId xmlns:a16="http://schemas.microsoft.com/office/drawing/2014/main" id="{6F6B759C-1F15-4CC9-AC5B-E3B1A34CA87C}"/>
                </a:ext>
              </a:extLst>
            </p:cNvPr>
            <p:cNvSpPr txBox="1">
              <a:spLocks noChangeArrowheads="1"/>
            </p:cNvSpPr>
            <p:nvPr/>
          </p:nvSpPr>
          <p:spPr bwMode="auto">
            <a:xfrm>
              <a:off x="734" y="2699"/>
              <a:ext cx="240" cy="299"/>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kumimoji="1" lang="en-US" altLang="zh-CN" sz="2400" b="0">
                  <a:solidFill>
                    <a:schemeClr val="bg1"/>
                  </a:solidFill>
                  <a:latin typeface="+mn-ea"/>
                  <a:ea typeface="+mn-ea"/>
                </a:rPr>
                <a:t>N</a:t>
              </a:r>
            </a:p>
          </p:txBody>
        </p:sp>
      </p:grpSp>
      <p:grpSp>
        <p:nvGrpSpPr>
          <p:cNvPr id="235530" name="Group 20">
            <a:extLst>
              <a:ext uri="{FF2B5EF4-FFF2-40B4-BE49-F238E27FC236}">
                <a16:creationId xmlns:a16="http://schemas.microsoft.com/office/drawing/2014/main" id="{7DFE50D5-58A9-42B1-9164-BB8CBE420460}"/>
              </a:ext>
            </a:extLst>
          </p:cNvPr>
          <p:cNvGrpSpPr>
            <a:grpSpLocks/>
          </p:cNvGrpSpPr>
          <p:nvPr/>
        </p:nvGrpSpPr>
        <p:grpSpPr bwMode="auto">
          <a:xfrm>
            <a:off x="4826000" y="4040188"/>
            <a:ext cx="1905000" cy="474662"/>
            <a:chOff x="734" y="2699"/>
            <a:chExt cx="610" cy="310"/>
          </a:xfrm>
        </p:grpSpPr>
        <p:sp>
          <p:nvSpPr>
            <p:cNvPr id="208920" name="Rectangle 21">
              <a:extLst>
                <a:ext uri="{FF2B5EF4-FFF2-40B4-BE49-F238E27FC236}">
                  <a16:creationId xmlns:a16="http://schemas.microsoft.com/office/drawing/2014/main" id="{CBAD5ED1-D0D2-4E28-9E3D-B53CF871175C}"/>
                </a:ext>
              </a:extLst>
            </p:cNvPr>
            <p:cNvSpPr>
              <a:spLocks noChangeArrowheads="1"/>
            </p:cNvSpPr>
            <p:nvPr/>
          </p:nvSpPr>
          <p:spPr bwMode="auto">
            <a:xfrm>
              <a:off x="778" y="2784"/>
              <a:ext cx="518" cy="14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endParaRPr lang="zh-CN" altLang="en-US" sz="1600" b="0">
                <a:solidFill>
                  <a:schemeClr val="tx1"/>
                </a:solidFill>
                <a:latin typeface="+mn-ea"/>
                <a:ea typeface="+mn-ea"/>
              </a:endParaRPr>
            </a:p>
          </p:txBody>
        </p:sp>
        <p:sp>
          <p:nvSpPr>
            <p:cNvPr id="208921" name="Text Box 22">
              <a:extLst>
                <a:ext uri="{FF2B5EF4-FFF2-40B4-BE49-F238E27FC236}">
                  <a16:creationId xmlns:a16="http://schemas.microsoft.com/office/drawing/2014/main" id="{F0B499A4-F69A-4017-B793-EFB657389FC8}"/>
                </a:ext>
              </a:extLst>
            </p:cNvPr>
            <p:cNvSpPr txBox="1">
              <a:spLocks noChangeArrowheads="1"/>
            </p:cNvSpPr>
            <p:nvPr/>
          </p:nvSpPr>
          <p:spPr bwMode="auto">
            <a:xfrm>
              <a:off x="1104" y="2710"/>
              <a:ext cx="240" cy="299"/>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kumimoji="1" lang="zh-CN" altLang="en-US" sz="2400" b="0">
                  <a:solidFill>
                    <a:schemeClr val="tx1"/>
                  </a:solidFill>
                  <a:latin typeface="+mn-ea"/>
                  <a:ea typeface="+mn-ea"/>
                </a:rPr>
                <a:t>　</a:t>
              </a:r>
              <a:r>
                <a:rPr kumimoji="1" lang="en-US" altLang="zh-CN" sz="2400" b="0">
                  <a:solidFill>
                    <a:schemeClr val="bg1"/>
                  </a:solidFill>
                  <a:latin typeface="+mn-ea"/>
                  <a:ea typeface="+mn-ea"/>
                </a:rPr>
                <a:t>C</a:t>
              </a:r>
            </a:p>
          </p:txBody>
        </p:sp>
        <p:sp>
          <p:nvSpPr>
            <p:cNvPr id="208922" name="Text Box 23">
              <a:extLst>
                <a:ext uri="{FF2B5EF4-FFF2-40B4-BE49-F238E27FC236}">
                  <a16:creationId xmlns:a16="http://schemas.microsoft.com/office/drawing/2014/main" id="{5987A774-B776-4F18-A642-2A4C31DEAA23}"/>
                </a:ext>
              </a:extLst>
            </p:cNvPr>
            <p:cNvSpPr txBox="1">
              <a:spLocks noChangeArrowheads="1"/>
            </p:cNvSpPr>
            <p:nvPr/>
          </p:nvSpPr>
          <p:spPr bwMode="auto">
            <a:xfrm>
              <a:off x="734" y="2699"/>
              <a:ext cx="240" cy="299"/>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kumimoji="1" lang="en-US" altLang="zh-CN" sz="2400" b="0">
                  <a:solidFill>
                    <a:schemeClr val="bg1"/>
                  </a:solidFill>
                  <a:latin typeface="+mn-ea"/>
                  <a:ea typeface="+mn-ea"/>
                </a:rPr>
                <a:t> N</a:t>
              </a:r>
            </a:p>
          </p:txBody>
        </p:sp>
      </p:grpSp>
      <p:grpSp>
        <p:nvGrpSpPr>
          <p:cNvPr id="235531" name="Group 24">
            <a:extLst>
              <a:ext uri="{FF2B5EF4-FFF2-40B4-BE49-F238E27FC236}">
                <a16:creationId xmlns:a16="http://schemas.microsoft.com/office/drawing/2014/main" id="{1B75EA67-031A-4B8D-814C-DB9BAE90F7D0}"/>
              </a:ext>
            </a:extLst>
          </p:cNvPr>
          <p:cNvGrpSpPr>
            <a:grpSpLocks/>
          </p:cNvGrpSpPr>
          <p:nvPr/>
        </p:nvGrpSpPr>
        <p:grpSpPr bwMode="auto">
          <a:xfrm>
            <a:off x="6807200" y="3735389"/>
            <a:ext cx="2286000" cy="473075"/>
            <a:chOff x="734" y="2699"/>
            <a:chExt cx="610" cy="333"/>
          </a:xfrm>
        </p:grpSpPr>
        <p:sp>
          <p:nvSpPr>
            <p:cNvPr id="208917" name="Rectangle 25">
              <a:extLst>
                <a:ext uri="{FF2B5EF4-FFF2-40B4-BE49-F238E27FC236}">
                  <a16:creationId xmlns:a16="http://schemas.microsoft.com/office/drawing/2014/main" id="{E2F52258-96C1-4229-AAE8-1EB78965E439}"/>
                </a:ext>
              </a:extLst>
            </p:cNvPr>
            <p:cNvSpPr>
              <a:spLocks noChangeArrowheads="1"/>
            </p:cNvSpPr>
            <p:nvPr/>
          </p:nvSpPr>
          <p:spPr bwMode="auto">
            <a:xfrm>
              <a:off x="778" y="2784"/>
              <a:ext cx="518" cy="14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endParaRPr lang="zh-CN" altLang="en-US" sz="1600" b="0">
                <a:solidFill>
                  <a:schemeClr val="tx1"/>
                </a:solidFill>
                <a:latin typeface="+mn-ea"/>
                <a:ea typeface="+mn-ea"/>
              </a:endParaRPr>
            </a:p>
          </p:txBody>
        </p:sp>
        <p:sp>
          <p:nvSpPr>
            <p:cNvPr id="208918" name="Text Box 26">
              <a:extLst>
                <a:ext uri="{FF2B5EF4-FFF2-40B4-BE49-F238E27FC236}">
                  <a16:creationId xmlns:a16="http://schemas.microsoft.com/office/drawing/2014/main" id="{269B51A3-B61F-4650-9DB4-37CBC6083239}"/>
                </a:ext>
              </a:extLst>
            </p:cNvPr>
            <p:cNvSpPr txBox="1">
              <a:spLocks noChangeArrowheads="1"/>
            </p:cNvSpPr>
            <p:nvPr/>
          </p:nvSpPr>
          <p:spPr bwMode="auto">
            <a:xfrm>
              <a:off x="1104" y="2710"/>
              <a:ext cx="240" cy="322"/>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kumimoji="1" lang="zh-CN" altLang="en-US" sz="2400" b="0">
                  <a:solidFill>
                    <a:schemeClr val="tx1"/>
                  </a:solidFill>
                  <a:latin typeface="+mn-ea"/>
                  <a:ea typeface="+mn-ea"/>
                </a:rPr>
                <a:t>　</a:t>
              </a:r>
              <a:r>
                <a:rPr kumimoji="1" lang="en-US" altLang="zh-CN" sz="2400" b="0">
                  <a:solidFill>
                    <a:schemeClr val="bg1"/>
                  </a:solidFill>
                  <a:latin typeface="+mn-ea"/>
                  <a:ea typeface="+mn-ea"/>
                </a:rPr>
                <a:t>C</a:t>
              </a:r>
            </a:p>
          </p:txBody>
        </p:sp>
        <p:sp>
          <p:nvSpPr>
            <p:cNvPr id="208919" name="Text Box 27">
              <a:extLst>
                <a:ext uri="{FF2B5EF4-FFF2-40B4-BE49-F238E27FC236}">
                  <a16:creationId xmlns:a16="http://schemas.microsoft.com/office/drawing/2014/main" id="{EDD7046A-57DB-430B-93C7-DE9E660D8AF2}"/>
                </a:ext>
              </a:extLst>
            </p:cNvPr>
            <p:cNvSpPr txBox="1">
              <a:spLocks noChangeArrowheads="1"/>
            </p:cNvSpPr>
            <p:nvPr/>
          </p:nvSpPr>
          <p:spPr bwMode="auto">
            <a:xfrm>
              <a:off x="734" y="2699"/>
              <a:ext cx="240" cy="322"/>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kumimoji="1" lang="en-US" altLang="zh-CN" sz="2400" b="0">
                  <a:solidFill>
                    <a:schemeClr val="tx1"/>
                  </a:solidFill>
                  <a:latin typeface="+mn-ea"/>
                  <a:ea typeface="+mn-ea"/>
                </a:rPr>
                <a:t> </a:t>
              </a:r>
              <a:r>
                <a:rPr kumimoji="1" lang="en-US" altLang="zh-CN" sz="2400" b="0">
                  <a:solidFill>
                    <a:schemeClr val="bg1"/>
                  </a:solidFill>
                  <a:latin typeface="+mn-ea"/>
                  <a:ea typeface="+mn-ea"/>
                </a:rPr>
                <a:t>N</a:t>
              </a:r>
            </a:p>
          </p:txBody>
        </p:sp>
      </p:grpSp>
      <p:sp>
        <p:nvSpPr>
          <p:cNvPr id="208908" name="AutoShape 28">
            <a:extLst>
              <a:ext uri="{FF2B5EF4-FFF2-40B4-BE49-F238E27FC236}">
                <a16:creationId xmlns:a16="http://schemas.microsoft.com/office/drawing/2014/main" id="{5B49326A-98BC-43A2-8407-CDAC20F95EC3}"/>
              </a:ext>
            </a:extLst>
          </p:cNvPr>
          <p:cNvSpPr>
            <a:spLocks noChangeArrowheads="1"/>
          </p:cNvSpPr>
          <p:nvPr/>
        </p:nvSpPr>
        <p:spPr bwMode="auto">
          <a:xfrm>
            <a:off x="5664200" y="3278188"/>
            <a:ext cx="228600" cy="685800"/>
          </a:xfrm>
          <a:prstGeom prst="downArrow">
            <a:avLst>
              <a:gd name="adj1" fmla="val 50000"/>
              <a:gd name="adj2" fmla="val 75000"/>
            </a:avLst>
          </a:prstGeom>
          <a:solidFill>
            <a:srgbClr val="FFFF00"/>
          </a:solidFill>
          <a:ln w="9525">
            <a:solidFill>
              <a:schemeClr val="tx1"/>
            </a:solidFill>
            <a:miter lim="800000"/>
            <a:headEnd/>
            <a:tailEnd/>
          </a:ln>
        </p:spPr>
        <p:txBody>
          <a:bodyPr vert="eaVert"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endParaRPr lang="zh-CN" altLang="en-US" sz="1600" b="0">
              <a:solidFill>
                <a:schemeClr val="tx1"/>
              </a:solidFill>
              <a:latin typeface="+mn-ea"/>
              <a:ea typeface="+mn-ea"/>
            </a:endParaRPr>
          </a:p>
        </p:txBody>
      </p:sp>
      <p:sp>
        <p:nvSpPr>
          <p:cNvPr id="208909" name="AutoShape 29">
            <a:extLst>
              <a:ext uri="{FF2B5EF4-FFF2-40B4-BE49-F238E27FC236}">
                <a16:creationId xmlns:a16="http://schemas.microsoft.com/office/drawing/2014/main" id="{CFE97434-374F-4C52-AE1D-C1516822F9F8}"/>
              </a:ext>
            </a:extLst>
          </p:cNvPr>
          <p:cNvSpPr>
            <a:spLocks noChangeArrowheads="1"/>
          </p:cNvSpPr>
          <p:nvPr/>
        </p:nvSpPr>
        <p:spPr bwMode="auto">
          <a:xfrm rot="5416058">
            <a:off x="6197600" y="2211388"/>
            <a:ext cx="533400" cy="3810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5781 h 21600"/>
              <a:gd name="T20" fmla="*/ 1783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2127"/>
                </a:lnTo>
                <a:lnTo>
                  <a:pt x="13027" y="2127"/>
                </a:lnTo>
                <a:lnTo>
                  <a:pt x="13027" y="15781"/>
                </a:lnTo>
                <a:lnTo>
                  <a:pt x="0" y="15781"/>
                </a:lnTo>
                <a:lnTo>
                  <a:pt x="0" y="21600"/>
                </a:lnTo>
                <a:lnTo>
                  <a:pt x="17830" y="21600"/>
                </a:lnTo>
                <a:lnTo>
                  <a:pt x="17830" y="2127"/>
                </a:lnTo>
                <a:lnTo>
                  <a:pt x="21600" y="2127"/>
                </a:lnTo>
                <a:lnTo>
                  <a:pt x="15429" y="0"/>
                </a:lnTo>
                <a:close/>
              </a:path>
            </a:pathLst>
          </a:custGeom>
          <a:solidFill>
            <a:srgbClr val="FFFF00"/>
          </a:solidFill>
          <a:ln w="9525">
            <a:solidFill>
              <a:schemeClr val="tx1"/>
            </a:solidFill>
            <a:miter lim="800000"/>
            <a:headEnd/>
            <a:tailEnd/>
          </a:ln>
        </p:spPr>
        <p:txBody>
          <a:bodyPr wrap="none" anchor="ctr"/>
          <a:lstStyle/>
          <a:p>
            <a:pPr>
              <a:defRPr/>
            </a:pPr>
            <a:endParaRPr lang="zh-CN" altLang="en-US">
              <a:latin typeface="+mn-ea"/>
              <a:ea typeface="+mn-ea"/>
            </a:endParaRPr>
          </a:p>
        </p:txBody>
      </p:sp>
      <p:sp>
        <p:nvSpPr>
          <p:cNvPr id="208910" name="Text Box 30">
            <a:extLst>
              <a:ext uri="{FF2B5EF4-FFF2-40B4-BE49-F238E27FC236}">
                <a16:creationId xmlns:a16="http://schemas.microsoft.com/office/drawing/2014/main" id="{0DF3E996-A7AF-4B78-920F-BCE32BAF97A0}"/>
              </a:ext>
            </a:extLst>
          </p:cNvPr>
          <p:cNvSpPr txBox="1">
            <a:spLocks noChangeArrowheads="1"/>
          </p:cNvSpPr>
          <p:nvPr/>
        </p:nvSpPr>
        <p:spPr bwMode="auto">
          <a:xfrm>
            <a:off x="6807200" y="2211389"/>
            <a:ext cx="2046288" cy="466725"/>
          </a:xfrm>
          <a:prstGeom prst="rect">
            <a:avLst/>
          </a:prstGeom>
          <a:noFill/>
          <a:ln w="9525">
            <a:solidFill>
              <a:schemeClr val="tx1"/>
            </a:solidFill>
            <a:miter lim="800000"/>
            <a:headEnd/>
            <a:tailEnd/>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kumimoji="1" lang="zh-CN" altLang="en-US" sz="2400" b="0">
                <a:solidFill>
                  <a:schemeClr val="tx1"/>
                </a:solidFill>
                <a:latin typeface="+mn-ea"/>
                <a:ea typeface="+mn-ea"/>
              </a:rPr>
              <a:t>分析残基组成</a:t>
            </a:r>
          </a:p>
        </p:txBody>
      </p:sp>
      <p:sp>
        <p:nvSpPr>
          <p:cNvPr id="208911" name="AutoShape 31">
            <a:extLst>
              <a:ext uri="{FF2B5EF4-FFF2-40B4-BE49-F238E27FC236}">
                <a16:creationId xmlns:a16="http://schemas.microsoft.com/office/drawing/2014/main" id="{541ED1D4-4451-44B3-804F-081D91F407E9}"/>
              </a:ext>
            </a:extLst>
          </p:cNvPr>
          <p:cNvSpPr>
            <a:spLocks noChangeArrowheads="1"/>
          </p:cNvSpPr>
          <p:nvPr/>
        </p:nvSpPr>
        <p:spPr bwMode="auto">
          <a:xfrm>
            <a:off x="5664200" y="4573588"/>
            <a:ext cx="228600" cy="685800"/>
          </a:xfrm>
          <a:prstGeom prst="downArrow">
            <a:avLst>
              <a:gd name="adj1" fmla="val 50000"/>
              <a:gd name="adj2" fmla="val 75000"/>
            </a:avLst>
          </a:prstGeom>
          <a:solidFill>
            <a:srgbClr val="FFFF00"/>
          </a:solidFill>
          <a:ln w="9525">
            <a:solidFill>
              <a:schemeClr val="tx1"/>
            </a:solidFill>
            <a:miter lim="800000"/>
            <a:headEnd/>
            <a:tailEnd/>
          </a:ln>
        </p:spPr>
        <p:txBody>
          <a:bodyPr vert="eaVert"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endParaRPr lang="zh-CN" altLang="en-US" sz="1600" b="0">
              <a:solidFill>
                <a:schemeClr val="tx1"/>
              </a:solidFill>
              <a:latin typeface="+mn-ea"/>
              <a:ea typeface="+mn-ea"/>
            </a:endParaRPr>
          </a:p>
        </p:txBody>
      </p:sp>
      <p:sp>
        <p:nvSpPr>
          <p:cNvPr id="208912" name="Text Box 32">
            <a:extLst>
              <a:ext uri="{FF2B5EF4-FFF2-40B4-BE49-F238E27FC236}">
                <a16:creationId xmlns:a16="http://schemas.microsoft.com/office/drawing/2014/main" id="{BA90C558-1DDD-4B90-A807-48A34BDBC703}"/>
              </a:ext>
            </a:extLst>
          </p:cNvPr>
          <p:cNvSpPr txBox="1">
            <a:spLocks noChangeArrowheads="1"/>
          </p:cNvSpPr>
          <p:nvPr/>
        </p:nvSpPr>
        <p:spPr bwMode="auto">
          <a:xfrm>
            <a:off x="3856039" y="5221288"/>
            <a:ext cx="2384425" cy="1016000"/>
          </a:xfrm>
          <a:prstGeom prst="rect">
            <a:avLst/>
          </a:prstGeom>
          <a:noFill/>
          <a:ln w="9525">
            <a:solidFill>
              <a:schemeClr val="tx1"/>
            </a:solidFill>
            <a:miter lim="800000"/>
            <a:headEnd/>
            <a:tailEnd/>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50000"/>
              </a:spcBef>
              <a:buClrTx/>
              <a:buFontTx/>
              <a:buNone/>
              <a:defRPr/>
            </a:pPr>
            <a:r>
              <a:rPr kumimoji="1" lang="en-US" altLang="zh-CN" sz="2400" b="0">
                <a:solidFill>
                  <a:srgbClr val="C00000"/>
                </a:solidFill>
                <a:latin typeface="+mn-ea"/>
                <a:ea typeface="+mn-ea"/>
              </a:rPr>
              <a:t>Edman</a:t>
            </a:r>
            <a:r>
              <a:rPr kumimoji="1" lang="zh-CN" altLang="en-US" sz="2400" b="0">
                <a:solidFill>
                  <a:srgbClr val="C00000"/>
                </a:solidFill>
                <a:latin typeface="+mn-ea"/>
                <a:ea typeface="+mn-ea"/>
              </a:rPr>
              <a:t>降解法</a:t>
            </a:r>
            <a:endParaRPr kumimoji="1" lang="en-US" altLang="zh-CN" sz="2400" b="0">
              <a:solidFill>
                <a:srgbClr val="C00000"/>
              </a:solidFill>
              <a:latin typeface="+mn-ea"/>
              <a:ea typeface="+mn-ea"/>
            </a:endParaRPr>
          </a:p>
          <a:p>
            <a:pPr algn="ctr" eaLnBrk="1" hangingPunct="1">
              <a:spcBef>
                <a:spcPct val="50000"/>
              </a:spcBef>
              <a:buClrTx/>
              <a:buFontTx/>
              <a:buNone/>
              <a:defRPr/>
            </a:pPr>
            <a:r>
              <a:rPr kumimoji="1" lang="zh-CN" altLang="en-US" sz="2400" b="0">
                <a:solidFill>
                  <a:srgbClr val="0000CC"/>
                </a:solidFill>
                <a:latin typeface="+mn-ea"/>
                <a:ea typeface="+mn-ea"/>
              </a:rPr>
              <a:t>或</a:t>
            </a:r>
            <a:r>
              <a:rPr kumimoji="1" lang="zh-CN" altLang="en-US" sz="2400" b="0">
                <a:solidFill>
                  <a:srgbClr val="C00000"/>
                </a:solidFill>
                <a:latin typeface="+mn-ea"/>
                <a:ea typeface="+mn-ea"/>
              </a:rPr>
              <a:t>质谱技术</a:t>
            </a:r>
          </a:p>
        </p:txBody>
      </p:sp>
      <p:sp>
        <p:nvSpPr>
          <p:cNvPr id="208913" name="AutoShape 33">
            <a:extLst>
              <a:ext uri="{FF2B5EF4-FFF2-40B4-BE49-F238E27FC236}">
                <a16:creationId xmlns:a16="http://schemas.microsoft.com/office/drawing/2014/main" id="{835948B9-E964-4ABA-8550-FB6F0049902D}"/>
              </a:ext>
            </a:extLst>
          </p:cNvPr>
          <p:cNvSpPr>
            <a:spLocks noChangeArrowheads="1"/>
          </p:cNvSpPr>
          <p:nvPr/>
        </p:nvSpPr>
        <p:spPr bwMode="auto">
          <a:xfrm>
            <a:off x="6350000" y="5487988"/>
            <a:ext cx="1371600" cy="228600"/>
          </a:xfrm>
          <a:prstGeom prst="rightArrow">
            <a:avLst>
              <a:gd name="adj1" fmla="val 50000"/>
              <a:gd name="adj2" fmla="val 150000"/>
            </a:avLst>
          </a:prstGeom>
          <a:solidFill>
            <a:srgbClr val="FFFF00"/>
          </a:solidFill>
          <a:ln w="9525">
            <a:solidFill>
              <a:schemeClr val="tx1"/>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endParaRPr lang="zh-CN" altLang="en-US" sz="1600" b="0">
              <a:solidFill>
                <a:schemeClr val="tx1"/>
              </a:solidFill>
              <a:latin typeface="+mn-ea"/>
              <a:ea typeface="+mn-ea"/>
            </a:endParaRPr>
          </a:p>
        </p:txBody>
      </p:sp>
      <p:sp>
        <p:nvSpPr>
          <p:cNvPr id="208914" name="Text Box 34">
            <a:extLst>
              <a:ext uri="{FF2B5EF4-FFF2-40B4-BE49-F238E27FC236}">
                <a16:creationId xmlns:a16="http://schemas.microsoft.com/office/drawing/2014/main" id="{BE2614EF-125F-42EB-A4A4-36F86D5BC270}"/>
              </a:ext>
            </a:extLst>
          </p:cNvPr>
          <p:cNvSpPr txBox="1">
            <a:spLocks noChangeArrowheads="1"/>
          </p:cNvSpPr>
          <p:nvPr/>
        </p:nvSpPr>
        <p:spPr bwMode="auto">
          <a:xfrm>
            <a:off x="7797800" y="5411789"/>
            <a:ext cx="2057400" cy="466725"/>
          </a:xfrm>
          <a:prstGeom prst="rect">
            <a:avLst/>
          </a:prstGeom>
          <a:noFill/>
          <a:ln w="9525">
            <a:solidFill>
              <a:schemeClr val="tx1"/>
            </a:solidFill>
            <a:miter lim="800000"/>
            <a:headEnd/>
            <a:tailEnd/>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kumimoji="1" lang="zh-CN" altLang="en-US" sz="2400" b="0">
                <a:solidFill>
                  <a:schemeClr val="tx1"/>
                </a:solidFill>
                <a:latin typeface="+mn-ea"/>
                <a:ea typeface="+mn-ea"/>
              </a:rPr>
              <a:t>排列组合计算</a:t>
            </a:r>
          </a:p>
        </p:txBody>
      </p:sp>
      <p:sp>
        <p:nvSpPr>
          <p:cNvPr id="235539" name="Rectangle 35">
            <a:extLst>
              <a:ext uri="{FF2B5EF4-FFF2-40B4-BE49-F238E27FC236}">
                <a16:creationId xmlns:a16="http://schemas.microsoft.com/office/drawing/2014/main" id="{D62934A2-A680-464C-8056-9C007C199141}"/>
              </a:ext>
            </a:extLst>
          </p:cNvPr>
          <p:cNvSpPr>
            <a:spLocks noChangeArrowheads="1"/>
          </p:cNvSpPr>
          <p:nvPr/>
        </p:nvSpPr>
        <p:spPr bwMode="auto">
          <a:xfrm>
            <a:off x="1811339" y="250825"/>
            <a:ext cx="65166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kumimoji="1" lang="zh-CN" altLang="en-US" sz="3200" b="1">
                <a:solidFill>
                  <a:srgbClr val="C00000"/>
                </a:solidFill>
              </a:rPr>
              <a:t>方法</a:t>
            </a:r>
            <a:r>
              <a:rPr kumimoji="1" lang="en-US" altLang="zh-CN" sz="3200" b="1">
                <a:solidFill>
                  <a:srgbClr val="C00000"/>
                </a:solidFill>
              </a:rPr>
              <a:t>2. Edman</a:t>
            </a:r>
            <a:r>
              <a:rPr kumimoji="1" lang="zh-CN" altLang="en-US" sz="3200" b="1">
                <a:solidFill>
                  <a:srgbClr val="C00000"/>
                </a:solidFill>
              </a:rPr>
              <a:t>降解法和</a:t>
            </a:r>
            <a:r>
              <a:rPr kumimoji="1" lang="en-US" altLang="zh-CN" sz="3200" b="1">
                <a:solidFill>
                  <a:srgbClr val="C00000"/>
                </a:solidFill>
              </a:rPr>
              <a:t>/</a:t>
            </a:r>
            <a:r>
              <a:rPr kumimoji="1" lang="zh-CN" altLang="en-US" sz="3200" b="1">
                <a:solidFill>
                  <a:srgbClr val="C00000"/>
                </a:solidFill>
              </a:rPr>
              <a:t>或质谱技术</a:t>
            </a:r>
          </a:p>
        </p:txBody>
      </p:sp>
      <p:sp>
        <p:nvSpPr>
          <p:cNvPr id="208916" name="文本框 1">
            <a:extLst>
              <a:ext uri="{FF2B5EF4-FFF2-40B4-BE49-F238E27FC236}">
                <a16:creationId xmlns:a16="http://schemas.microsoft.com/office/drawing/2014/main" id="{16C7005B-00F4-4AD5-BFBF-EACAE7008D85}"/>
              </a:ext>
            </a:extLst>
          </p:cNvPr>
          <p:cNvSpPr txBox="1">
            <a:spLocks noChangeArrowheads="1"/>
          </p:cNvSpPr>
          <p:nvPr/>
        </p:nvSpPr>
        <p:spPr bwMode="auto">
          <a:xfrm>
            <a:off x="2535239" y="1189039"/>
            <a:ext cx="5576887" cy="523875"/>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defRPr/>
            </a:pPr>
            <a:r>
              <a:rPr lang="zh-CN" altLang="en-US" b="0">
                <a:solidFill>
                  <a:schemeClr val="tx1"/>
                </a:solidFill>
                <a:latin typeface="+mn-ea"/>
                <a:ea typeface="+mn-ea"/>
              </a:rPr>
              <a:t>适于分析未知蛋白的一级结构</a:t>
            </a:r>
          </a:p>
        </p:txBody>
      </p:sp>
    </p:spTree>
  </p:cSld>
  <p:clrMapOvr>
    <a:masterClrMapping/>
  </p:clrMapOvr>
  <p:transition spd="slow">
    <p:circl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a:extLst>
              <a:ext uri="{FF2B5EF4-FFF2-40B4-BE49-F238E27FC236}">
                <a16:creationId xmlns:a16="http://schemas.microsoft.com/office/drawing/2014/main" id="{BDAB57E2-041A-4C9E-B921-23566CD06B04}"/>
              </a:ext>
            </a:extLst>
          </p:cNvPr>
          <p:cNvSpPr>
            <a:spLocks noChangeArrowheads="1"/>
          </p:cNvSpPr>
          <p:nvPr/>
        </p:nvSpPr>
        <p:spPr bwMode="auto">
          <a:xfrm>
            <a:off x="1955863" y="1694808"/>
            <a:ext cx="8280274" cy="346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179388" indent="720725">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20000"/>
              </a:lnSpc>
              <a:spcBef>
                <a:spcPct val="0"/>
              </a:spcBef>
              <a:buClrTx/>
              <a:buFontTx/>
              <a:buNone/>
            </a:pPr>
            <a:r>
              <a:rPr kumimoji="1" lang="en-US" altLang="zh-CN" dirty="0">
                <a:solidFill>
                  <a:srgbClr val="0000CC"/>
                </a:solidFill>
              </a:rPr>
              <a:t>* </a:t>
            </a:r>
            <a:r>
              <a:rPr kumimoji="1" lang="zh-CN" altLang="en-US" dirty="0">
                <a:solidFill>
                  <a:srgbClr val="0000CC"/>
                </a:solidFill>
              </a:rPr>
              <a:t>二级结构测定</a:t>
            </a:r>
          </a:p>
          <a:p>
            <a:pPr algn="just" eaLnBrk="1" hangingPunct="1">
              <a:lnSpc>
                <a:spcPct val="120000"/>
              </a:lnSpc>
              <a:spcBef>
                <a:spcPct val="0"/>
              </a:spcBef>
              <a:buClrTx/>
              <a:buFontTx/>
              <a:buNone/>
            </a:pPr>
            <a:endParaRPr kumimoji="1" lang="zh-CN" altLang="en-US" dirty="0">
              <a:solidFill>
                <a:srgbClr val="0000CC"/>
              </a:solidFill>
            </a:endParaRPr>
          </a:p>
          <a:p>
            <a:pPr lvl="1" algn="just" eaLnBrk="1" hangingPunct="1">
              <a:lnSpc>
                <a:spcPct val="140000"/>
              </a:lnSpc>
              <a:spcBef>
                <a:spcPct val="0"/>
              </a:spcBef>
              <a:buClrTx/>
              <a:buFontTx/>
              <a:buNone/>
            </a:pPr>
            <a:r>
              <a:rPr kumimoji="1" lang="zh-CN" altLang="en-US" dirty="0">
                <a:solidFill>
                  <a:schemeClr val="tx1"/>
                </a:solidFill>
              </a:rPr>
              <a:t>通常采用</a:t>
            </a:r>
            <a:r>
              <a:rPr kumimoji="1" lang="zh-CN" altLang="en-US" dirty="0">
                <a:solidFill>
                  <a:srgbClr val="006600"/>
                </a:solidFill>
              </a:rPr>
              <a:t>圆二色光谱</a:t>
            </a:r>
            <a:r>
              <a:rPr kumimoji="1" lang="en-US" altLang="zh-CN" dirty="0">
                <a:solidFill>
                  <a:srgbClr val="006600"/>
                </a:solidFill>
              </a:rPr>
              <a:t>(circular dichroism</a:t>
            </a:r>
            <a:r>
              <a:rPr kumimoji="1" lang="zh-CN" altLang="en-US" dirty="0">
                <a:solidFill>
                  <a:srgbClr val="006600"/>
                </a:solidFill>
              </a:rPr>
              <a:t>，</a:t>
            </a:r>
            <a:r>
              <a:rPr kumimoji="1" lang="en-US" altLang="zh-CN" dirty="0">
                <a:solidFill>
                  <a:srgbClr val="006600"/>
                </a:solidFill>
              </a:rPr>
              <a:t>CD)</a:t>
            </a:r>
            <a:r>
              <a:rPr kumimoji="1" lang="zh-CN" altLang="en-US" dirty="0">
                <a:solidFill>
                  <a:schemeClr val="tx1"/>
                </a:solidFill>
              </a:rPr>
              <a:t>测定溶液状态下的蛋白质二级结构含量。 </a:t>
            </a:r>
            <a:r>
              <a:rPr kumimoji="1" lang="zh-CN" altLang="en-US" dirty="0">
                <a:solidFill>
                  <a:schemeClr val="tx1"/>
                </a:solidFill>
                <a:sym typeface="Symbol" panose="05050102010706020507" pitchFamily="18" charset="2"/>
              </a:rPr>
              <a:t></a:t>
            </a:r>
            <a:r>
              <a:rPr kumimoji="1" lang="en-US" altLang="zh-CN" dirty="0">
                <a:solidFill>
                  <a:schemeClr val="tx1"/>
                </a:solidFill>
              </a:rPr>
              <a:t>-</a:t>
            </a:r>
            <a:r>
              <a:rPr kumimoji="1" lang="zh-CN" altLang="en-US" dirty="0">
                <a:solidFill>
                  <a:schemeClr val="tx1"/>
                </a:solidFill>
              </a:rPr>
              <a:t>螺旋的</a:t>
            </a:r>
            <a:r>
              <a:rPr kumimoji="1" lang="en-US" altLang="zh-CN" dirty="0">
                <a:solidFill>
                  <a:schemeClr val="tx1"/>
                </a:solidFill>
              </a:rPr>
              <a:t>CD</a:t>
            </a:r>
            <a:r>
              <a:rPr kumimoji="1" lang="zh-CN" altLang="en-US" dirty="0">
                <a:solidFill>
                  <a:schemeClr val="tx1"/>
                </a:solidFill>
              </a:rPr>
              <a:t>峰有</a:t>
            </a:r>
            <a:r>
              <a:rPr kumimoji="1" lang="en-US" altLang="zh-CN" dirty="0">
                <a:solidFill>
                  <a:schemeClr val="tx1"/>
                </a:solidFill>
              </a:rPr>
              <a:t>222nm</a:t>
            </a:r>
            <a:r>
              <a:rPr kumimoji="1" lang="zh-CN" altLang="en-US" dirty="0">
                <a:solidFill>
                  <a:schemeClr val="tx1"/>
                </a:solidFill>
              </a:rPr>
              <a:t>处的负峰、</a:t>
            </a:r>
            <a:r>
              <a:rPr kumimoji="1" lang="en-US" altLang="zh-CN" dirty="0">
                <a:solidFill>
                  <a:schemeClr val="tx1"/>
                </a:solidFill>
              </a:rPr>
              <a:t>208nm</a:t>
            </a:r>
            <a:r>
              <a:rPr kumimoji="1" lang="zh-CN" altLang="en-US" dirty="0">
                <a:solidFill>
                  <a:schemeClr val="tx1"/>
                </a:solidFill>
              </a:rPr>
              <a:t>处的负峰和</a:t>
            </a:r>
            <a:r>
              <a:rPr kumimoji="1" lang="en-US" altLang="zh-CN" dirty="0">
                <a:solidFill>
                  <a:schemeClr val="tx1"/>
                </a:solidFill>
              </a:rPr>
              <a:t>198 nm</a:t>
            </a:r>
            <a:r>
              <a:rPr kumimoji="1" lang="zh-CN" altLang="en-US" dirty="0">
                <a:solidFill>
                  <a:schemeClr val="tx1"/>
                </a:solidFill>
              </a:rPr>
              <a:t>处的正峰三个成分；而</a:t>
            </a:r>
            <a:r>
              <a:rPr kumimoji="1" lang="zh-CN" altLang="en-US" dirty="0">
                <a:solidFill>
                  <a:schemeClr val="tx1"/>
                </a:solidFill>
                <a:sym typeface="Symbol" panose="05050102010706020507" pitchFamily="18" charset="2"/>
              </a:rPr>
              <a:t></a:t>
            </a:r>
            <a:r>
              <a:rPr kumimoji="1" lang="en-US" altLang="zh-CN" dirty="0">
                <a:solidFill>
                  <a:schemeClr val="tx1"/>
                </a:solidFill>
              </a:rPr>
              <a:t>-</a:t>
            </a:r>
            <a:r>
              <a:rPr kumimoji="1" lang="zh-CN" altLang="en-US" dirty="0">
                <a:solidFill>
                  <a:schemeClr val="tx1"/>
                </a:solidFill>
              </a:rPr>
              <a:t>折叠的</a:t>
            </a:r>
            <a:r>
              <a:rPr kumimoji="1" lang="en-US" altLang="zh-CN" dirty="0">
                <a:solidFill>
                  <a:schemeClr val="tx1"/>
                </a:solidFill>
              </a:rPr>
              <a:t>CD</a:t>
            </a:r>
            <a:r>
              <a:rPr kumimoji="1" lang="zh-CN" altLang="en-US" dirty="0">
                <a:solidFill>
                  <a:schemeClr val="tx1"/>
                </a:solidFill>
              </a:rPr>
              <a:t>谱不太固定。 </a:t>
            </a:r>
          </a:p>
        </p:txBody>
      </p:sp>
      <p:sp>
        <p:nvSpPr>
          <p:cNvPr id="237571" name="标题 1">
            <a:extLst>
              <a:ext uri="{FF2B5EF4-FFF2-40B4-BE49-F238E27FC236}">
                <a16:creationId xmlns:a16="http://schemas.microsoft.com/office/drawing/2014/main" id="{D6D224B1-6C84-487D-A291-BF42A29BCF05}"/>
              </a:ext>
            </a:extLst>
          </p:cNvPr>
          <p:cNvSpPr>
            <a:spLocks noGrp="1" noChangeArrowheads="1"/>
          </p:cNvSpPr>
          <p:nvPr>
            <p:ph type="title"/>
          </p:nvPr>
        </p:nvSpPr>
        <p:spPr>
          <a:xfrm>
            <a:off x="1703388" y="188913"/>
            <a:ext cx="6985000" cy="563562"/>
          </a:xfrm>
        </p:spPr>
        <p:txBody>
          <a:bodyPr/>
          <a:lstStyle/>
          <a:p>
            <a:r>
              <a:rPr lang="zh-CN" altLang="en-US"/>
              <a:t>七、蛋白质空间结构测定</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8" fill="hold" grpId="0" nodeType="clickEffect">
                                  <p:stCondLst>
                                    <p:cond delay="0"/>
                                  </p:stCondLst>
                                  <p:childTnLst>
                                    <p:set>
                                      <p:cBhvr>
                                        <p:cTn id="6" dur="1" fill="hold">
                                          <p:stCondLst>
                                            <p:cond delay="0"/>
                                          </p:stCondLst>
                                        </p:cTn>
                                        <p:tgtEl>
                                          <p:spTgt spid="91139"/>
                                        </p:tgtEl>
                                        <p:attrNameLst>
                                          <p:attrName>style.visibility</p:attrName>
                                        </p:attrNameLst>
                                      </p:cBhvr>
                                      <p:to>
                                        <p:strVal val="visible"/>
                                      </p:to>
                                    </p:set>
                                    <p:animEffect transition="in" filter="wheel(8)">
                                      <p:cBhvr>
                                        <p:cTn id="7" dur="500"/>
                                        <p:tgtEl>
                                          <p:spTgt spid="91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C780FF70-4947-4416-BD04-B1C96284F5D7}"/>
              </a:ext>
            </a:extLst>
          </p:cNvPr>
          <p:cNvSpPr>
            <a:spLocks noChangeArrowheads="1"/>
          </p:cNvSpPr>
          <p:nvPr/>
        </p:nvSpPr>
        <p:spPr bwMode="auto">
          <a:xfrm>
            <a:off x="1919289" y="1731995"/>
            <a:ext cx="8637587" cy="2757422"/>
          </a:xfrm>
          <a:prstGeom prst="rect">
            <a:avLst/>
          </a:prstGeom>
          <a:noFill/>
          <a:ln>
            <a:noFill/>
          </a:ln>
        </p:spPr>
        <p:txBody>
          <a:bodyPr anchor="ct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179388" indent="720725">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457200" indent="-457200" algn="just" eaLnBrk="1" hangingPunct="1">
              <a:lnSpc>
                <a:spcPct val="160000"/>
              </a:lnSpc>
              <a:spcBef>
                <a:spcPct val="0"/>
              </a:spcBef>
              <a:buClrTx/>
              <a:buFont typeface="Wingdings" panose="05000000000000000000" pitchFamily="2" charset="2"/>
              <a:buChar char="Ø"/>
              <a:defRPr/>
            </a:pPr>
            <a:r>
              <a:rPr kumimoji="1" lang="zh-CN" altLang="en-US" b="0" dirty="0">
                <a:solidFill>
                  <a:srgbClr val="C00000"/>
                </a:solidFill>
              </a:rPr>
              <a:t>主要方法：</a:t>
            </a:r>
            <a:endParaRPr kumimoji="1" lang="en-US" altLang="zh-CN" b="0" dirty="0">
              <a:solidFill>
                <a:srgbClr val="C00000"/>
              </a:solidFill>
            </a:endParaRPr>
          </a:p>
          <a:p>
            <a:pPr marL="693738" lvl="1" indent="-514350" algn="just" eaLnBrk="1" hangingPunct="1">
              <a:lnSpc>
                <a:spcPct val="160000"/>
              </a:lnSpc>
              <a:spcBef>
                <a:spcPct val="0"/>
              </a:spcBef>
              <a:buClrTx/>
              <a:buFont typeface="+mj-lt"/>
              <a:buAutoNum type="arabicPeriod"/>
              <a:defRPr/>
            </a:pPr>
            <a:r>
              <a:rPr kumimoji="1" lang="en-US" altLang="zh-CN" dirty="0">
                <a:solidFill>
                  <a:schemeClr val="tx1"/>
                </a:solidFill>
              </a:rPr>
              <a:t>X</a:t>
            </a:r>
            <a:r>
              <a:rPr kumimoji="1" lang="zh-CN" altLang="en-US" dirty="0">
                <a:solidFill>
                  <a:schemeClr val="tx1"/>
                </a:solidFill>
              </a:rPr>
              <a:t>射线衍射法</a:t>
            </a:r>
            <a:r>
              <a:rPr kumimoji="1" lang="en-US" altLang="zh-CN" dirty="0">
                <a:solidFill>
                  <a:schemeClr val="tx1"/>
                </a:solidFill>
              </a:rPr>
              <a:t>(X-ray diffraction)</a:t>
            </a:r>
          </a:p>
          <a:p>
            <a:pPr marL="693738" lvl="1" indent="-514350" algn="just" eaLnBrk="1" hangingPunct="1">
              <a:lnSpc>
                <a:spcPct val="160000"/>
              </a:lnSpc>
              <a:spcBef>
                <a:spcPct val="0"/>
              </a:spcBef>
              <a:buClrTx/>
              <a:buFont typeface="+mj-lt"/>
              <a:buAutoNum type="arabicPeriod"/>
              <a:defRPr/>
            </a:pPr>
            <a:r>
              <a:rPr kumimoji="1" lang="zh-CN" altLang="en-US" dirty="0">
                <a:solidFill>
                  <a:schemeClr val="tx1"/>
                </a:solidFill>
              </a:rPr>
              <a:t>核磁共振技术</a:t>
            </a:r>
            <a:r>
              <a:rPr kumimoji="1" lang="en-US" altLang="zh-CN" dirty="0">
                <a:solidFill>
                  <a:schemeClr val="tx1"/>
                </a:solidFill>
              </a:rPr>
              <a:t>(nuclear magnetic resonance, NMR)</a:t>
            </a:r>
          </a:p>
          <a:p>
            <a:pPr marL="693738" lvl="1" indent="-514350" algn="just" eaLnBrk="1" hangingPunct="1">
              <a:lnSpc>
                <a:spcPct val="160000"/>
              </a:lnSpc>
              <a:spcBef>
                <a:spcPct val="0"/>
              </a:spcBef>
              <a:buClrTx/>
              <a:buFont typeface="+mj-lt"/>
              <a:buAutoNum type="arabicPeriod"/>
              <a:defRPr/>
            </a:pPr>
            <a:r>
              <a:rPr kumimoji="1" lang="zh-CN" altLang="en-US" dirty="0">
                <a:solidFill>
                  <a:schemeClr val="tx1"/>
                </a:solidFill>
              </a:rPr>
              <a:t>冷冻电镜技术</a:t>
            </a:r>
            <a:r>
              <a:rPr kumimoji="1" lang="en-US" altLang="zh-CN" dirty="0">
                <a:solidFill>
                  <a:schemeClr val="tx1"/>
                </a:solidFill>
              </a:rPr>
              <a:t>(cryo-electron microscopy, cryo-EM)</a:t>
            </a:r>
            <a:endParaRPr kumimoji="1" lang="zh-CN" altLang="en-US" dirty="0">
              <a:solidFill>
                <a:schemeClr val="tx1"/>
              </a:solidFill>
            </a:endParaRPr>
          </a:p>
        </p:txBody>
      </p:sp>
      <p:sp>
        <p:nvSpPr>
          <p:cNvPr id="238595" name="标题 1">
            <a:extLst>
              <a:ext uri="{FF2B5EF4-FFF2-40B4-BE49-F238E27FC236}">
                <a16:creationId xmlns:a16="http://schemas.microsoft.com/office/drawing/2014/main" id="{253D5C4F-F5D2-489A-B852-C3C166C6A5D7}"/>
              </a:ext>
            </a:extLst>
          </p:cNvPr>
          <p:cNvSpPr>
            <a:spLocks noGrp="1" noChangeArrowheads="1"/>
          </p:cNvSpPr>
          <p:nvPr>
            <p:ph type="title"/>
          </p:nvPr>
        </p:nvSpPr>
        <p:spPr>
          <a:xfrm>
            <a:off x="1703388" y="188913"/>
            <a:ext cx="6985000" cy="563562"/>
          </a:xfrm>
        </p:spPr>
        <p:txBody>
          <a:bodyPr/>
          <a:lstStyle/>
          <a:p>
            <a:pPr algn="ctr"/>
            <a:r>
              <a:rPr lang="zh-CN" altLang="en-US" sz="4000"/>
              <a:t>蛋白质三级结构测定方法</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2162"/>
                                        </p:tgtEl>
                                        <p:attrNameLst>
                                          <p:attrName>style.visibility</p:attrName>
                                        </p:attrNameLst>
                                      </p:cBhvr>
                                      <p:to>
                                        <p:strVal val="visible"/>
                                      </p:to>
                                    </p:set>
                                    <p:animEffect transition="in" filter="checkerboard(across)">
                                      <p:cBhvr>
                                        <p:cTn id="7" dur="500"/>
                                        <p:tgtEl>
                                          <p:spTgt spid="92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B2FA583-DEB7-2F47-99EB-092DC2F4A13E}"/>
              </a:ext>
            </a:extLst>
          </p:cNvPr>
          <p:cNvPicPr>
            <a:picLocks noChangeAspect="1"/>
          </p:cNvPicPr>
          <p:nvPr/>
        </p:nvPicPr>
        <p:blipFill>
          <a:blip r:embed="rId3"/>
          <a:stretch>
            <a:fillRect/>
          </a:stretch>
        </p:blipFill>
        <p:spPr>
          <a:xfrm>
            <a:off x="1866229" y="1305446"/>
            <a:ext cx="8424936" cy="5356429"/>
          </a:xfrm>
          <a:prstGeom prst="rect">
            <a:avLst/>
          </a:prstGeom>
        </p:spPr>
      </p:pic>
      <p:sp>
        <p:nvSpPr>
          <p:cNvPr id="5" name="文本框 4">
            <a:extLst>
              <a:ext uri="{FF2B5EF4-FFF2-40B4-BE49-F238E27FC236}">
                <a16:creationId xmlns:a16="http://schemas.microsoft.com/office/drawing/2014/main" id="{CBC22C69-7761-3400-B6B9-231FC9ECA455}"/>
              </a:ext>
            </a:extLst>
          </p:cNvPr>
          <p:cNvSpPr txBox="1"/>
          <p:nvPr/>
        </p:nvSpPr>
        <p:spPr>
          <a:xfrm>
            <a:off x="2927648" y="1052737"/>
            <a:ext cx="6336704" cy="584775"/>
          </a:xfrm>
          <a:prstGeom prst="rect">
            <a:avLst/>
          </a:prstGeom>
          <a:noFill/>
        </p:spPr>
        <p:txBody>
          <a:bodyPr wrap="square">
            <a:spAutoFit/>
          </a:bodyPr>
          <a:lstStyle/>
          <a:p>
            <a:r>
              <a:rPr lang="en-US" altLang="zh-CN" sz="3200" dirty="0">
                <a:solidFill>
                  <a:schemeClr val="bg1"/>
                </a:solidFill>
              </a:rPr>
              <a:t>https://alphafold.ebi.ac.uk/</a:t>
            </a:r>
            <a:endParaRPr lang="zh-CN" altLang="en-US" sz="3200" dirty="0">
              <a:solidFill>
                <a:schemeClr val="bg1"/>
              </a:solidFill>
            </a:endParaRPr>
          </a:p>
        </p:txBody>
      </p:sp>
      <p:sp>
        <p:nvSpPr>
          <p:cNvPr id="2" name="文本框 1">
            <a:extLst>
              <a:ext uri="{FF2B5EF4-FFF2-40B4-BE49-F238E27FC236}">
                <a16:creationId xmlns:a16="http://schemas.microsoft.com/office/drawing/2014/main" id="{BB7102CF-0D05-0002-12E2-95A72BFE10A4}"/>
              </a:ext>
            </a:extLst>
          </p:cNvPr>
          <p:cNvSpPr txBox="1"/>
          <p:nvPr/>
        </p:nvSpPr>
        <p:spPr>
          <a:xfrm>
            <a:off x="1883532" y="158640"/>
            <a:ext cx="8424936" cy="954107"/>
          </a:xfrm>
          <a:prstGeom prst="rect">
            <a:avLst/>
          </a:prstGeom>
          <a:noFill/>
        </p:spPr>
        <p:txBody>
          <a:bodyPr wrap="square" rtlCol="0">
            <a:spAutoFit/>
          </a:bodyPr>
          <a:lstStyle/>
          <a:p>
            <a:pPr algn="ctr"/>
            <a:r>
              <a:rPr lang="zh-CN" altLang="en-US" sz="2800" dirty="0">
                <a:latin typeface="+mn-ea"/>
                <a:ea typeface="+mn-ea"/>
              </a:rPr>
              <a:t>人工智能</a:t>
            </a:r>
            <a:r>
              <a:rPr lang="en-US" altLang="zh-CN" sz="2800" dirty="0">
                <a:latin typeface="+mn-ea"/>
                <a:ea typeface="+mn-ea"/>
              </a:rPr>
              <a:t>AlphaFold</a:t>
            </a:r>
            <a:r>
              <a:rPr lang="zh-CN" altLang="en-US" sz="2800" dirty="0">
                <a:latin typeface="+mn-ea"/>
                <a:ea typeface="+mn-ea"/>
              </a:rPr>
              <a:t>高效预测蛋白质三维结构</a:t>
            </a:r>
            <a:endParaRPr lang="en-US" altLang="zh-CN" sz="2800" dirty="0">
              <a:latin typeface="+mn-ea"/>
              <a:ea typeface="+mn-ea"/>
            </a:endParaRPr>
          </a:p>
          <a:p>
            <a:pPr algn="ctr"/>
            <a:r>
              <a:rPr lang="en-US" altLang="zh-CN" sz="2800" dirty="0">
                <a:latin typeface="+mn-ea"/>
                <a:ea typeface="+mn-ea"/>
              </a:rPr>
              <a:t>            ---21</a:t>
            </a:r>
            <a:r>
              <a:rPr lang="zh-CN" altLang="en-US" sz="2800" dirty="0">
                <a:latin typeface="+mn-ea"/>
                <a:ea typeface="+mn-ea"/>
              </a:rPr>
              <a:t>世纪最重大的科学进展之一</a:t>
            </a:r>
          </a:p>
        </p:txBody>
      </p:sp>
    </p:spTree>
    <p:extLst>
      <p:ext uri="{BB962C8B-B14F-4D97-AF65-F5344CB8AC3E}">
        <p14:creationId xmlns:p14="http://schemas.microsoft.com/office/powerpoint/2010/main" val="931995502"/>
      </p:ext>
    </p:extLst>
  </p:cSld>
  <p:clrMapOvr>
    <a:masterClrMapping/>
  </p:clrMapOvr>
  <p:transition spd="slow">
    <p:circl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a:extLst>
              <a:ext uri="{FF2B5EF4-FFF2-40B4-BE49-F238E27FC236}">
                <a16:creationId xmlns:a16="http://schemas.microsoft.com/office/drawing/2014/main" id="{89791324-80F8-48D8-8E71-9D89657ACB2F}"/>
              </a:ext>
            </a:extLst>
          </p:cNvPr>
          <p:cNvSpPr txBox="1">
            <a:spLocks noChangeArrowheads="1"/>
          </p:cNvSpPr>
          <p:nvPr/>
        </p:nvSpPr>
        <p:spPr bwMode="auto">
          <a:xfrm>
            <a:off x="1487488" y="1125538"/>
            <a:ext cx="9145015" cy="4965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30000"/>
              </a:lnSpc>
              <a:spcBef>
                <a:spcPct val="0"/>
              </a:spcBef>
              <a:buClrTx/>
              <a:buFontTx/>
              <a:buNone/>
            </a:pPr>
            <a:r>
              <a:rPr lang="en-US" altLang="zh-CN" sz="2000" dirty="0">
                <a:solidFill>
                  <a:srgbClr val="FF0000"/>
                </a:solidFill>
              </a:rPr>
              <a:t>1</a:t>
            </a:r>
            <a:r>
              <a:rPr lang="zh-CN" altLang="en-US" sz="2000" dirty="0">
                <a:solidFill>
                  <a:srgbClr val="FF0000"/>
                </a:solidFill>
              </a:rPr>
              <a:t>、重要概念：  </a:t>
            </a:r>
            <a:r>
              <a:rPr kumimoji="1" lang="zh-CN" altLang="en-US" sz="2000" dirty="0">
                <a:solidFill>
                  <a:schemeClr val="tx1"/>
                </a:solidFill>
                <a:latin typeface="黑体" panose="02010609060101010101" pitchFamily="49" charset="-122"/>
              </a:rPr>
              <a:t>别构效应   协同效应   等电点  蛋白质的变性  分子伴侣      </a:t>
            </a:r>
            <a:endParaRPr kumimoji="1" lang="en-US" altLang="zh-CN" sz="2000" dirty="0">
              <a:solidFill>
                <a:schemeClr val="tx1"/>
              </a:solidFill>
              <a:latin typeface="黑体" panose="02010609060101010101" pitchFamily="49" charset="-122"/>
            </a:endParaRPr>
          </a:p>
          <a:p>
            <a:pPr eaLnBrk="1" hangingPunct="1">
              <a:lnSpc>
                <a:spcPct val="130000"/>
              </a:lnSpc>
              <a:spcBef>
                <a:spcPct val="0"/>
              </a:spcBef>
              <a:buClrTx/>
              <a:buFontTx/>
              <a:buNone/>
            </a:pPr>
            <a:r>
              <a:rPr kumimoji="1" lang="zh-CN" altLang="en-US" sz="2000" dirty="0">
                <a:solidFill>
                  <a:schemeClr val="tx1"/>
                </a:solidFill>
                <a:latin typeface="黑体" panose="02010609060101010101" pitchFamily="49" charset="-122"/>
              </a:rPr>
              <a:t>              模体    结构域</a:t>
            </a:r>
            <a:r>
              <a:rPr kumimoji="1" lang="zh-CN" altLang="en-US" sz="2000" dirty="0">
                <a:solidFill>
                  <a:schemeClr val="tx1"/>
                </a:solidFill>
                <a:latin typeface="Arial" panose="020B0604020202020204" pitchFamily="34" charset="0"/>
                <a:ea typeface="宋体" panose="02010600030101010101" pitchFamily="2" charset="-122"/>
              </a:rPr>
              <a:t>      </a:t>
            </a:r>
            <a:r>
              <a:rPr kumimoji="1" lang="zh-CN" altLang="en-US" sz="2000" dirty="0">
                <a:solidFill>
                  <a:schemeClr val="tx1"/>
                </a:solidFill>
                <a:latin typeface="Arial" panose="020B0604020202020204" pitchFamily="34" charset="0"/>
              </a:rPr>
              <a:t>分子病     </a:t>
            </a:r>
            <a:endParaRPr lang="zh-CN" altLang="en-US" sz="2000" dirty="0">
              <a:solidFill>
                <a:srgbClr val="993300"/>
              </a:solidFill>
            </a:endParaRPr>
          </a:p>
          <a:p>
            <a:pPr eaLnBrk="1" hangingPunct="1">
              <a:lnSpc>
                <a:spcPct val="130000"/>
              </a:lnSpc>
              <a:spcBef>
                <a:spcPct val="0"/>
              </a:spcBef>
              <a:buClrTx/>
              <a:buFontTx/>
              <a:buNone/>
            </a:pPr>
            <a:r>
              <a:rPr lang="en-US" altLang="zh-CN" sz="2000" dirty="0">
                <a:solidFill>
                  <a:srgbClr val="FF0000"/>
                </a:solidFill>
              </a:rPr>
              <a:t>2</a:t>
            </a:r>
            <a:r>
              <a:rPr lang="zh-CN" altLang="en-US" sz="2000" dirty="0">
                <a:solidFill>
                  <a:srgbClr val="FF0000"/>
                </a:solidFill>
              </a:rPr>
              <a:t>、结构层次</a:t>
            </a:r>
          </a:p>
          <a:p>
            <a:pPr lvl="1" eaLnBrk="1" hangingPunct="1">
              <a:lnSpc>
                <a:spcPct val="130000"/>
              </a:lnSpc>
              <a:spcBef>
                <a:spcPct val="0"/>
              </a:spcBef>
              <a:buClr>
                <a:srgbClr val="006600"/>
              </a:buClr>
              <a:buFont typeface="Wingdings" panose="05000000000000000000" pitchFamily="2" charset="2"/>
              <a:buChar char="n"/>
            </a:pPr>
            <a:r>
              <a:rPr lang="zh-CN" altLang="en-US" sz="2000" dirty="0">
                <a:solidFill>
                  <a:schemeClr val="tx1"/>
                </a:solidFill>
              </a:rPr>
              <a:t>元素组成：</a:t>
            </a:r>
            <a:r>
              <a:rPr lang="en-US" altLang="zh-CN" sz="2000" dirty="0">
                <a:solidFill>
                  <a:schemeClr val="tx1"/>
                </a:solidFill>
              </a:rPr>
              <a:t>C</a:t>
            </a:r>
            <a:r>
              <a:rPr lang="zh-CN" altLang="en-US" sz="2000" dirty="0">
                <a:solidFill>
                  <a:schemeClr val="tx1"/>
                </a:solidFill>
              </a:rPr>
              <a:t>、</a:t>
            </a:r>
            <a:r>
              <a:rPr lang="en-US" altLang="zh-CN" sz="2000" dirty="0">
                <a:solidFill>
                  <a:schemeClr val="tx1"/>
                </a:solidFill>
              </a:rPr>
              <a:t>H</a:t>
            </a:r>
            <a:r>
              <a:rPr lang="zh-CN" altLang="en-US" sz="2000" dirty="0">
                <a:solidFill>
                  <a:schemeClr val="tx1"/>
                </a:solidFill>
              </a:rPr>
              <a:t>、</a:t>
            </a:r>
            <a:r>
              <a:rPr lang="en-US" altLang="zh-CN" sz="2000" dirty="0">
                <a:solidFill>
                  <a:schemeClr val="tx1"/>
                </a:solidFill>
              </a:rPr>
              <a:t>O</a:t>
            </a:r>
            <a:r>
              <a:rPr lang="zh-CN" altLang="en-US" sz="2000" dirty="0">
                <a:solidFill>
                  <a:schemeClr val="tx1"/>
                </a:solidFill>
              </a:rPr>
              <a:t>、</a:t>
            </a:r>
            <a:r>
              <a:rPr lang="en-US" altLang="zh-CN" sz="2000" dirty="0">
                <a:solidFill>
                  <a:schemeClr val="tx1"/>
                </a:solidFill>
              </a:rPr>
              <a:t>N</a:t>
            </a:r>
            <a:r>
              <a:rPr lang="zh-CN" altLang="en-US" sz="2000" dirty="0">
                <a:solidFill>
                  <a:schemeClr val="tx1"/>
                </a:solidFill>
              </a:rPr>
              <a:t>（</a:t>
            </a:r>
            <a:r>
              <a:rPr lang="en-US" altLang="zh-CN" sz="2000" dirty="0">
                <a:solidFill>
                  <a:schemeClr val="tx1"/>
                </a:solidFill>
              </a:rPr>
              <a:t>16%</a:t>
            </a:r>
            <a:r>
              <a:rPr lang="zh-CN" altLang="en-US" sz="2000" dirty="0">
                <a:solidFill>
                  <a:schemeClr val="tx1"/>
                </a:solidFill>
              </a:rPr>
              <a:t>）、</a:t>
            </a:r>
            <a:r>
              <a:rPr lang="en-US" altLang="zh-CN" sz="2000" dirty="0">
                <a:solidFill>
                  <a:schemeClr val="tx1"/>
                </a:solidFill>
              </a:rPr>
              <a:t>S</a:t>
            </a:r>
          </a:p>
          <a:p>
            <a:pPr lvl="1" eaLnBrk="1" hangingPunct="1">
              <a:lnSpc>
                <a:spcPct val="130000"/>
              </a:lnSpc>
              <a:spcBef>
                <a:spcPct val="0"/>
              </a:spcBef>
              <a:buClr>
                <a:srgbClr val="006600"/>
              </a:buClr>
              <a:buFont typeface="Wingdings" panose="05000000000000000000" pitchFamily="2" charset="2"/>
              <a:buChar char="n"/>
            </a:pPr>
            <a:r>
              <a:rPr lang="zh-CN" altLang="en-US" sz="2000" dirty="0">
                <a:solidFill>
                  <a:schemeClr val="tx1"/>
                </a:solidFill>
              </a:rPr>
              <a:t>结构单位：</a:t>
            </a:r>
            <a:r>
              <a:rPr lang="en-US" altLang="zh-CN" sz="2000" dirty="0">
                <a:solidFill>
                  <a:schemeClr val="tx1"/>
                </a:solidFill>
              </a:rPr>
              <a:t>20</a:t>
            </a:r>
            <a:r>
              <a:rPr lang="zh-CN" altLang="en-US" sz="2000" dirty="0">
                <a:solidFill>
                  <a:schemeClr val="tx1"/>
                </a:solidFill>
              </a:rPr>
              <a:t>种</a:t>
            </a:r>
            <a:r>
              <a:rPr lang="en-US" altLang="zh-CN" sz="2000" dirty="0">
                <a:solidFill>
                  <a:schemeClr val="tx1"/>
                </a:solidFill>
              </a:rPr>
              <a:t>L-α</a:t>
            </a:r>
            <a:r>
              <a:rPr lang="zh-CN" altLang="en-US" sz="2000" dirty="0">
                <a:solidFill>
                  <a:schemeClr val="tx1"/>
                </a:solidFill>
              </a:rPr>
              <a:t>氨基酸</a:t>
            </a:r>
          </a:p>
          <a:p>
            <a:pPr lvl="1" eaLnBrk="1" hangingPunct="1">
              <a:lnSpc>
                <a:spcPct val="130000"/>
              </a:lnSpc>
              <a:spcBef>
                <a:spcPct val="0"/>
              </a:spcBef>
              <a:buClr>
                <a:srgbClr val="006600"/>
              </a:buClr>
              <a:buFont typeface="Wingdings" panose="05000000000000000000" pitchFamily="2" charset="2"/>
              <a:buChar char="n"/>
            </a:pPr>
            <a:r>
              <a:rPr lang="zh-CN" altLang="en-US" sz="2000" dirty="0">
                <a:solidFill>
                  <a:schemeClr val="tx1"/>
                </a:solidFill>
              </a:rPr>
              <a:t>一级结构：肽键；多肽链</a:t>
            </a:r>
            <a:r>
              <a:rPr lang="en-US" altLang="zh-CN" sz="2000" dirty="0">
                <a:solidFill>
                  <a:schemeClr val="tx1"/>
                </a:solidFill>
              </a:rPr>
              <a:t>N</a:t>
            </a:r>
            <a:r>
              <a:rPr lang="zh-CN" altLang="en-US" sz="2000" dirty="0">
                <a:solidFill>
                  <a:schemeClr val="tx1"/>
                </a:solidFill>
              </a:rPr>
              <a:t>端</a:t>
            </a:r>
            <a:r>
              <a:rPr lang="zh-CN" altLang="en-US" sz="2000" dirty="0">
                <a:solidFill>
                  <a:schemeClr val="tx1"/>
                </a:solidFill>
                <a:sym typeface="Symbol" panose="05050102010706020507" pitchFamily="18" charset="2"/>
              </a:rPr>
              <a:t></a:t>
            </a:r>
            <a:r>
              <a:rPr lang="en-US" altLang="zh-CN" sz="2000" dirty="0">
                <a:solidFill>
                  <a:schemeClr val="tx1"/>
                </a:solidFill>
              </a:rPr>
              <a:t>C</a:t>
            </a:r>
            <a:r>
              <a:rPr lang="zh-CN" altLang="en-US" sz="2000" dirty="0">
                <a:solidFill>
                  <a:schemeClr val="tx1"/>
                </a:solidFill>
              </a:rPr>
              <a:t>端</a:t>
            </a:r>
          </a:p>
          <a:p>
            <a:pPr lvl="1" eaLnBrk="1" hangingPunct="1">
              <a:lnSpc>
                <a:spcPct val="130000"/>
              </a:lnSpc>
              <a:spcBef>
                <a:spcPct val="0"/>
              </a:spcBef>
              <a:buClr>
                <a:srgbClr val="006600"/>
              </a:buClr>
              <a:buFont typeface="Wingdings" panose="05000000000000000000" pitchFamily="2" charset="2"/>
              <a:buChar char="n"/>
            </a:pPr>
            <a:r>
              <a:rPr lang="zh-CN" altLang="en-US" sz="2000" dirty="0">
                <a:solidFill>
                  <a:schemeClr val="tx1"/>
                </a:solidFill>
              </a:rPr>
              <a:t>二级结构：稳定力（氢键）；类型（</a:t>
            </a:r>
            <a:r>
              <a:rPr lang="zh-CN" altLang="en-US" sz="2000" dirty="0">
                <a:solidFill>
                  <a:srgbClr val="C00000"/>
                </a:solidFill>
                <a:sym typeface="Symbol" panose="05050102010706020507" pitchFamily="18" charset="2"/>
              </a:rPr>
              <a:t></a:t>
            </a:r>
            <a:r>
              <a:rPr lang="zh-CN" altLang="en-US" sz="2000" dirty="0">
                <a:solidFill>
                  <a:srgbClr val="C00000"/>
                </a:solidFill>
              </a:rPr>
              <a:t>螺旋，</a:t>
            </a:r>
            <a:r>
              <a:rPr lang="zh-CN" altLang="en-US" sz="2000" dirty="0">
                <a:solidFill>
                  <a:srgbClr val="C00000"/>
                </a:solidFill>
                <a:sym typeface="Symbol" panose="05050102010706020507" pitchFamily="18" charset="2"/>
              </a:rPr>
              <a:t></a:t>
            </a:r>
            <a:r>
              <a:rPr lang="zh-CN" altLang="en-US" sz="2000" dirty="0">
                <a:solidFill>
                  <a:srgbClr val="C00000"/>
                </a:solidFill>
              </a:rPr>
              <a:t>折叠</a:t>
            </a:r>
            <a:r>
              <a:rPr lang="zh-CN" altLang="en-US" sz="2000" dirty="0">
                <a:solidFill>
                  <a:schemeClr val="tx1"/>
                </a:solidFill>
              </a:rPr>
              <a:t>，</a:t>
            </a:r>
            <a:r>
              <a:rPr lang="zh-CN" altLang="en-US" sz="2000" dirty="0">
                <a:solidFill>
                  <a:schemeClr val="tx1"/>
                </a:solidFill>
                <a:sym typeface="Symbol" panose="05050102010706020507" pitchFamily="18" charset="2"/>
              </a:rPr>
              <a:t></a:t>
            </a:r>
            <a:r>
              <a:rPr lang="zh-CN" altLang="en-US" sz="2000" dirty="0">
                <a:solidFill>
                  <a:schemeClr val="tx1"/>
                </a:solidFill>
              </a:rPr>
              <a:t>转角，</a:t>
            </a:r>
            <a:r>
              <a:rPr lang="el-GR" altLang="zh-CN" sz="2000" dirty="0">
                <a:solidFill>
                  <a:schemeClr val="tx1"/>
                </a:solidFill>
                <a:latin typeface="Meiryo" panose="020B0604030504040204" pitchFamily="34" charset="-128"/>
                <a:ea typeface="Meiryo" panose="020B0604030504040204" pitchFamily="34" charset="-128"/>
              </a:rPr>
              <a:t>Ω</a:t>
            </a:r>
            <a:r>
              <a:rPr lang="zh-CN" altLang="en-US" sz="2000" dirty="0">
                <a:solidFill>
                  <a:schemeClr val="tx1"/>
                </a:solidFill>
                <a:latin typeface="Meiryo" panose="020B0604030504040204" pitchFamily="34" charset="-128"/>
                <a:ea typeface="Meiryo" panose="020B0604030504040204" pitchFamily="34" charset="-128"/>
              </a:rPr>
              <a:t>环</a:t>
            </a:r>
            <a:r>
              <a:rPr lang="zh-CN" altLang="en-US" sz="2000" dirty="0">
                <a:solidFill>
                  <a:schemeClr val="tx1"/>
                </a:solidFill>
              </a:rPr>
              <a:t>）</a:t>
            </a:r>
          </a:p>
          <a:p>
            <a:pPr lvl="1" eaLnBrk="1" hangingPunct="1">
              <a:lnSpc>
                <a:spcPct val="130000"/>
              </a:lnSpc>
              <a:spcBef>
                <a:spcPct val="0"/>
              </a:spcBef>
              <a:buClr>
                <a:srgbClr val="006600"/>
              </a:buClr>
              <a:buFont typeface="Wingdings" panose="05000000000000000000" pitchFamily="2" charset="2"/>
              <a:buChar char="n"/>
            </a:pPr>
            <a:r>
              <a:rPr lang="zh-CN" altLang="en-US" sz="2000" dirty="0">
                <a:solidFill>
                  <a:schemeClr val="tx1"/>
                </a:solidFill>
              </a:rPr>
              <a:t>三级结构</a:t>
            </a:r>
          </a:p>
          <a:p>
            <a:pPr lvl="1" eaLnBrk="1" hangingPunct="1">
              <a:lnSpc>
                <a:spcPct val="130000"/>
              </a:lnSpc>
              <a:spcBef>
                <a:spcPct val="0"/>
              </a:spcBef>
              <a:buClr>
                <a:srgbClr val="006600"/>
              </a:buClr>
              <a:buFont typeface="Wingdings" panose="05000000000000000000" pitchFamily="2" charset="2"/>
              <a:buChar char="n"/>
            </a:pPr>
            <a:r>
              <a:rPr lang="zh-CN" altLang="en-US" sz="2000" dirty="0">
                <a:solidFill>
                  <a:schemeClr val="tx1"/>
                </a:solidFill>
              </a:rPr>
              <a:t>四级结构</a:t>
            </a:r>
          </a:p>
          <a:p>
            <a:pPr eaLnBrk="1" hangingPunct="1">
              <a:lnSpc>
                <a:spcPct val="130000"/>
              </a:lnSpc>
              <a:spcBef>
                <a:spcPct val="0"/>
              </a:spcBef>
              <a:buClr>
                <a:srgbClr val="FF0000"/>
              </a:buClr>
              <a:buFont typeface="Wingdings" panose="05000000000000000000" pitchFamily="2" charset="2"/>
              <a:buNone/>
            </a:pPr>
            <a:r>
              <a:rPr lang="en-US" altLang="zh-CN" sz="2000" dirty="0">
                <a:solidFill>
                  <a:srgbClr val="FF0000"/>
                </a:solidFill>
              </a:rPr>
              <a:t>3</a:t>
            </a:r>
            <a:r>
              <a:rPr lang="zh-CN" altLang="en-US" sz="2000" dirty="0">
                <a:solidFill>
                  <a:srgbClr val="FF0000"/>
                </a:solidFill>
              </a:rPr>
              <a:t>、结构与功能关系</a:t>
            </a:r>
            <a:r>
              <a:rPr lang="zh-CN" altLang="en-US" sz="2000" dirty="0">
                <a:solidFill>
                  <a:srgbClr val="0000CC"/>
                </a:solidFill>
              </a:rPr>
              <a:t>（举例）</a:t>
            </a:r>
          </a:p>
          <a:p>
            <a:pPr eaLnBrk="1" hangingPunct="1">
              <a:lnSpc>
                <a:spcPct val="130000"/>
              </a:lnSpc>
              <a:spcBef>
                <a:spcPct val="0"/>
              </a:spcBef>
              <a:buClr>
                <a:srgbClr val="FF0000"/>
              </a:buClr>
              <a:buFont typeface="Wingdings" panose="05000000000000000000" pitchFamily="2" charset="2"/>
              <a:buNone/>
            </a:pPr>
            <a:r>
              <a:rPr lang="en-US" altLang="zh-CN" sz="2000" dirty="0">
                <a:solidFill>
                  <a:srgbClr val="FF0000"/>
                </a:solidFill>
              </a:rPr>
              <a:t>4</a:t>
            </a:r>
            <a:r>
              <a:rPr lang="zh-CN" altLang="en-US" sz="2000" dirty="0">
                <a:solidFill>
                  <a:srgbClr val="FF0000"/>
                </a:solidFill>
              </a:rPr>
              <a:t>、重要性质：</a:t>
            </a:r>
            <a:r>
              <a:rPr lang="zh-CN" altLang="en-US" sz="2000" dirty="0">
                <a:solidFill>
                  <a:schemeClr val="tx1"/>
                </a:solidFill>
              </a:rPr>
              <a:t>等电点及带电状态判定；胶体性质；紫外吸收；变性</a:t>
            </a:r>
          </a:p>
          <a:p>
            <a:pPr eaLnBrk="1" hangingPunct="1">
              <a:lnSpc>
                <a:spcPct val="130000"/>
              </a:lnSpc>
              <a:spcBef>
                <a:spcPct val="0"/>
              </a:spcBef>
              <a:buClr>
                <a:srgbClr val="FF0000"/>
              </a:buClr>
              <a:buFont typeface="Wingdings" panose="05000000000000000000" pitchFamily="2" charset="2"/>
              <a:buNone/>
            </a:pPr>
            <a:r>
              <a:rPr lang="en-US" altLang="zh-CN" sz="2000" dirty="0">
                <a:solidFill>
                  <a:srgbClr val="FF0000"/>
                </a:solidFill>
              </a:rPr>
              <a:t>5</a:t>
            </a:r>
            <a:r>
              <a:rPr lang="zh-CN" altLang="en-US" sz="2000" dirty="0">
                <a:solidFill>
                  <a:srgbClr val="FF0000"/>
                </a:solidFill>
              </a:rPr>
              <a:t>、分离纯化：</a:t>
            </a:r>
            <a:r>
              <a:rPr lang="zh-CN" altLang="en-US" sz="2000" dirty="0">
                <a:solidFill>
                  <a:schemeClr val="tx1"/>
                </a:solidFill>
              </a:rPr>
              <a:t>透析；盐析；丙酮沉淀；电泳；离子交换层析；分子筛</a:t>
            </a:r>
          </a:p>
        </p:txBody>
      </p:sp>
      <p:sp>
        <p:nvSpPr>
          <p:cNvPr id="162819" name="Rectangle 4">
            <a:extLst>
              <a:ext uri="{FF2B5EF4-FFF2-40B4-BE49-F238E27FC236}">
                <a16:creationId xmlns:a16="http://schemas.microsoft.com/office/drawing/2014/main" id="{C67D59BF-DB87-475F-BC38-D483E203FBB1}"/>
              </a:ext>
            </a:extLst>
          </p:cNvPr>
          <p:cNvSpPr>
            <a:spLocks noChangeArrowheads="1"/>
          </p:cNvSpPr>
          <p:nvPr/>
        </p:nvSpPr>
        <p:spPr bwMode="auto">
          <a:xfrm>
            <a:off x="4079875" y="115889"/>
            <a:ext cx="22431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sz="4000" b="1">
                <a:solidFill>
                  <a:schemeClr val="bg1"/>
                </a:solidFill>
                <a:latin typeface="Arial" panose="020B0604020202020204" pitchFamily="34" charset="0"/>
              </a:rPr>
              <a:t>本章小结</a:t>
            </a:r>
          </a:p>
        </p:txBody>
      </p:sp>
    </p:spTree>
    <p:extLst>
      <p:ext uri="{BB962C8B-B14F-4D97-AF65-F5344CB8AC3E}">
        <p14:creationId xmlns:p14="http://schemas.microsoft.com/office/powerpoint/2010/main" val="1501871095"/>
      </p:ext>
    </p:extLst>
  </p:cSld>
  <p:clrMapOvr>
    <a:masterClrMapping/>
  </p:clrMapOvr>
  <p:transition spd="slow">
    <p:circl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3">
            <a:extLst>
              <a:ext uri="{FF2B5EF4-FFF2-40B4-BE49-F238E27FC236}">
                <a16:creationId xmlns:a16="http://schemas.microsoft.com/office/drawing/2014/main" id="{3E8CB456-5DD3-4C74-94EB-C4178BA40A98}"/>
              </a:ext>
            </a:extLst>
          </p:cNvPr>
          <p:cNvSpPr txBox="1">
            <a:spLocks noChangeArrowheads="1"/>
          </p:cNvSpPr>
          <p:nvPr/>
        </p:nvSpPr>
        <p:spPr bwMode="auto">
          <a:xfrm>
            <a:off x="1993900" y="1557338"/>
            <a:ext cx="8497888" cy="405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50000"/>
              </a:spcBef>
              <a:buClrTx/>
              <a:buFontTx/>
              <a:buNone/>
            </a:pPr>
            <a:r>
              <a:rPr kumimoji="1" lang="en-US" altLang="zh-CN">
                <a:solidFill>
                  <a:schemeClr val="tx1"/>
                </a:solidFill>
              </a:rPr>
              <a:t>1.</a:t>
            </a:r>
            <a:r>
              <a:rPr kumimoji="1" lang="zh-CN" altLang="en-US">
                <a:solidFill>
                  <a:schemeClr val="tx1"/>
                </a:solidFill>
              </a:rPr>
              <a:t>试述蛋白质</a:t>
            </a:r>
            <a:r>
              <a:rPr kumimoji="1" lang="zh-CN" altLang="en-US">
                <a:solidFill>
                  <a:schemeClr val="tx1"/>
                </a:solidFill>
                <a:sym typeface="Symbol" panose="05050102010706020507" pitchFamily="18" charset="2"/>
              </a:rPr>
              <a:t>螺旋、折叠的结构特点。</a:t>
            </a:r>
            <a:endParaRPr kumimoji="1" lang="zh-CN" altLang="en-US">
              <a:solidFill>
                <a:schemeClr val="tx1"/>
              </a:solidFill>
            </a:endParaRPr>
          </a:p>
          <a:p>
            <a:pPr eaLnBrk="1" hangingPunct="1">
              <a:lnSpc>
                <a:spcPct val="120000"/>
              </a:lnSpc>
              <a:spcBef>
                <a:spcPct val="50000"/>
              </a:spcBef>
              <a:buClrTx/>
              <a:buFontTx/>
              <a:buNone/>
            </a:pPr>
            <a:r>
              <a:rPr kumimoji="1" lang="en-US" altLang="zh-CN">
                <a:solidFill>
                  <a:schemeClr val="tx1"/>
                </a:solidFill>
              </a:rPr>
              <a:t>2.</a:t>
            </a:r>
            <a:r>
              <a:rPr kumimoji="1" lang="zh-CN" altLang="en-US">
                <a:solidFill>
                  <a:schemeClr val="tx1"/>
                </a:solidFill>
              </a:rPr>
              <a:t>什么是蛋白质的一级、二级、三级和四级结构，维持它们的化学键分别是什么？</a:t>
            </a:r>
          </a:p>
          <a:p>
            <a:pPr eaLnBrk="1" hangingPunct="1">
              <a:lnSpc>
                <a:spcPct val="120000"/>
              </a:lnSpc>
              <a:spcBef>
                <a:spcPct val="50000"/>
              </a:spcBef>
              <a:buClrTx/>
              <a:buFontTx/>
              <a:buNone/>
            </a:pPr>
            <a:r>
              <a:rPr kumimoji="1" lang="en-US" altLang="zh-CN">
                <a:solidFill>
                  <a:schemeClr val="tx1"/>
                </a:solidFill>
              </a:rPr>
              <a:t>3.</a:t>
            </a:r>
            <a:r>
              <a:rPr kumimoji="1" lang="zh-CN" altLang="en-US">
                <a:solidFill>
                  <a:schemeClr val="tx1"/>
                </a:solidFill>
              </a:rPr>
              <a:t>试举例说明蛋白质结构与功能的关系。</a:t>
            </a:r>
          </a:p>
          <a:p>
            <a:pPr eaLnBrk="1" hangingPunct="1">
              <a:lnSpc>
                <a:spcPct val="120000"/>
              </a:lnSpc>
              <a:spcBef>
                <a:spcPct val="50000"/>
              </a:spcBef>
              <a:buClrTx/>
              <a:buFontTx/>
              <a:buNone/>
            </a:pPr>
            <a:r>
              <a:rPr kumimoji="1" lang="en-US" altLang="zh-CN">
                <a:solidFill>
                  <a:schemeClr val="tx1"/>
                </a:solidFill>
              </a:rPr>
              <a:t>4.</a:t>
            </a:r>
            <a:r>
              <a:rPr kumimoji="1" lang="zh-CN" altLang="en-US">
                <a:solidFill>
                  <a:schemeClr val="tx1"/>
                </a:solidFill>
              </a:rPr>
              <a:t>简述蛋白质变性、沉淀和凝固的定义及彼此间关系。</a:t>
            </a:r>
          </a:p>
          <a:p>
            <a:pPr eaLnBrk="1" hangingPunct="1">
              <a:lnSpc>
                <a:spcPct val="120000"/>
              </a:lnSpc>
              <a:spcBef>
                <a:spcPct val="50000"/>
              </a:spcBef>
              <a:buClrTx/>
              <a:buFontTx/>
              <a:buNone/>
            </a:pPr>
            <a:r>
              <a:rPr kumimoji="1" lang="en-US" altLang="zh-CN">
                <a:solidFill>
                  <a:schemeClr val="tx1"/>
                </a:solidFill>
              </a:rPr>
              <a:t>5.</a:t>
            </a:r>
            <a:r>
              <a:rPr kumimoji="1" lang="zh-CN" altLang="en-US">
                <a:solidFill>
                  <a:schemeClr val="tx1"/>
                </a:solidFill>
              </a:rPr>
              <a:t>蛋白质定量测定的方法有哪些？</a:t>
            </a:r>
          </a:p>
        </p:txBody>
      </p:sp>
      <p:sp>
        <p:nvSpPr>
          <p:cNvPr id="164867" name="Text Box 4">
            <a:extLst>
              <a:ext uri="{FF2B5EF4-FFF2-40B4-BE49-F238E27FC236}">
                <a16:creationId xmlns:a16="http://schemas.microsoft.com/office/drawing/2014/main" id="{4E867D49-1AC2-4969-83C5-A2571F7D1CFA}"/>
              </a:ext>
            </a:extLst>
          </p:cNvPr>
          <p:cNvSpPr txBox="1">
            <a:spLocks noChangeArrowheads="1"/>
          </p:cNvSpPr>
          <p:nvPr/>
        </p:nvSpPr>
        <p:spPr bwMode="auto">
          <a:xfrm>
            <a:off x="1993900" y="620713"/>
            <a:ext cx="1600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zh-CN" altLang="en-US">
                <a:solidFill>
                  <a:srgbClr val="FF0000"/>
                </a:solidFill>
              </a:rPr>
              <a:t>问答题</a:t>
            </a:r>
          </a:p>
        </p:txBody>
      </p:sp>
    </p:spTree>
    <p:extLst>
      <p:ext uri="{BB962C8B-B14F-4D97-AF65-F5344CB8AC3E}">
        <p14:creationId xmlns:p14="http://schemas.microsoft.com/office/powerpoint/2010/main" val="1927233518"/>
      </p:ext>
    </p:extLst>
  </p:cSld>
  <p:clrMapOvr>
    <a:masterClrMapping/>
  </p:clrMapOvr>
  <p:transition spd="slow">
    <p:circl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1026">
            <a:extLst>
              <a:ext uri="{FF2B5EF4-FFF2-40B4-BE49-F238E27FC236}">
                <a16:creationId xmlns:a16="http://schemas.microsoft.com/office/drawing/2014/main" id="{5F2E30DE-192C-4EBC-9036-7179BB56BC45}"/>
              </a:ext>
            </a:extLst>
          </p:cNvPr>
          <p:cNvSpPr txBox="1">
            <a:spLocks noChangeArrowheads="1"/>
          </p:cNvSpPr>
          <p:nvPr/>
        </p:nvSpPr>
        <p:spPr bwMode="auto">
          <a:xfrm>
            <a:off x="1919288" y="908051"/>
            <a:ext cx="403225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en-US" altLang="zh-CN" sz="2000">
                <a:solidFill>
                  <a:schemeClr val="tx1"/>
                </a:solidFill>
              </a:rPr>
              <a:t>1 </a:t>
            </a:r>
            <a:r>
              <a:rPr kumimoji="1" lang="zh-CN" altLang="en-US" sz="2000">
                <a:solidFill>
                  <a:schemeClr val="tx1"/>
                </a:solidFill>
              </a:rPr>
              <a:t>天然蛋白质中不存在的氨基酸是</a:t>
            </a:r>
          </a:p>
          <a:p>
            <a:pPr eaLnBrk="1" hangingPunct="1">
              <a:spcBef>
                <a:spcPct val="50000"/>
              </a:spcBef>
              <a:buClrTx/>
              <a:buFontTx/>
              <a:buNone/>
            </a:pPr>
            <a:r>
              <a:rPr kumimoji="1" lang="zh-CN" altLang="en-US" sz="2000">
                <a:solidFill>
                  <a:schemeClr val="tx1"/>
                </a:solidFill>
              </a:rPr>
              <a:t>    </a:t>
            </a:r>
            <a:r>
              <a:rPr kumimoji="1" lang="en-US" altLang="zh-CN" sz="2000">
                <a:solidFill>
                  <a:schemeClr val="tx1"/>
                </a:solidFill>
              </a:rPr>
              <a:t>A </a:t>
            </a:r>
            <a:r>
              <a:rPr kumimoji="1" lang="zh-CN" altLang="en-US" sz="2000">
                <a:solidFill>
                  <a:schemeClr val="tx1"/>
                </a:solidFill>
              </a:rPr>
              <a:t>蛋氨酸</a:t>
            </a:r>
          </a:p>
          <a:p>
            <a:pPr eaLnBrk="1" hangingPunct="1">
              <a:spcBef>
                <a:spcPct val="50000"/>
              </a:spcBef>
              <a:buClrTx/>
              <a:buFontTx/>
              <a:buNone/>
            </a:pPr>
            <a:r>
              <a:rPr kumimoji="1" lang="zh-CN" altLang="en-US" sz="2000">
                <a:solidFill>
                  <a:schemeClr val="tx1"/>
                </a:solidFill>
              </a:rPr>
              <a:t>　</a:t>
            </a:r>
            <a:r>
              <a:rPr kumimoji="1" lang="en-US" altLang="zh-CN" sz="2000">
                <a:solidFill>
                  <a:schemeClr val="tx1"/>
                </a:solidFill>
              </a:rPr>
              <a:t>B </a:t>
            </a:r>
            <a:r>
              <a:rPr kumimoji="1" lang="zh-CN" altLang="en-US" sz="2000">
                <a:solidFill>
                  <a:schemeClr val="tx1"/>
                </a:solidFill>
              </a:rPr>
              <a:t>胱氨酸</a:t>
            </a:r>
          </a:p>
          <a:p>
            <a:pPr eaLnBrk="1" hangingPunct="1">
              <a:spcBef>
                <a:spcPct val="50000"/>
              </a:spcBef>
              <a:buClrTx/>
              <a:buFontTx/>
              <a:buNone/>
            </a:pPr>
            <a:r>
              <a:rPr kumimoji="1" lang="zh-CN" altLang="en-US" sz="2000">
                <a:solidFill>
                  <a:schemeClr val="tx1"/>
                </a:solidFill>
              </a:rPr>
              <a:t>　</a:t>
            </a:r>
            <a:r>
              <a:rPr kumimoji="1" lang="en-US" altLang="zh-CN" sz="2000">
                <a:solidFill>
                  <a:schemeClr val="tx1"/>
                </a:solidFill>
              </a:rPr>
              <a:t>C </a:t>
            </a:r>
            <a:r>
              <a:rPr kumimoji="1" lang="zh-CN" altLang="en-US" sz="2000">
                <a:solidFill>
                  <a:schemeClr val="tx1"/>
                </a:solidFill>
              </a:rPr>
              <a:t>羟脯氨酸</a:t>
            </a:r>
          </a:p>
          <a:p>
            <a:pPr eaLnBrk="1" hangingPunct="1">
              <a:spcBef>
                <a:spcPct val="50000"/>
              </a:spcBef>
              <a:buClrTx/>
              <a:buFontTx/>
              <a:buNone/>
            </a:pPr>
            <a:r>
              <a:rPr kumimoji="1" lang="zh-CN" altLang="en-US" sz="2000">
                <a:solidFill>
                  <a:schemeClr val="tx1"/>
                </a:solidFill>
              </a:rPr>
              <a:t>　</a:t>
            </a:r>
            <a:r>
              <a:rPr kumimoji="1" lang="en-US" altLang="zh-CN" sz="2000">
                <a:solidFill>
                  <a:schemeClr val="tx1"/>
                </a:solidFill>
              </a:rPr>
              <a:t>D </a:t>
            </a:r>
            <a:r>
              <a:rPr kumimoji="1" lang="zh-CN" altLang="en-US" sz="2000">
                <a:solidFill>
                  <a:schemeClr val="tx1"/>
                </a:solidFill>
              </a:rPr>
              <a:t>同型半胱氨酸</a:t>
            </a:r>
          </a:p>
          <a:p>
            <a:pPr eaLnBrk="1" hangingPunct="1">
              <a:spcBef>
                <a:spcPct val="50000"/>
              </a:spcBef>
              <a:buClrTx/>
              <a:buFontTx/>
              <a:buNone/>
            </a:pPr>
            <a:r>
              <a:rPr kumimoji="1" lang="zh-CN" altLang="en-US" sz="2000">
                <a:solidFill>
                  <a:schemeClr val="tx1"/>
                </a:solidFill>
              </a:rPr>
              <a:t>　</a:t>
            </a:r>
            <a:r>
              <a:rPr kumimoji="1" lang="en-US" altLang="zh-CN" sz="2000">
                <a:solidFill>
                  <a:schemeClr val="tx1"/>
                </a:solidFill>
              </a:rPr>
              <a:t>E </a:t>
            </a:r>
            <a:r>
              <a:rPr kumimoji="1" lang="zh-CN" altLang="en-US" sz="2000">
                <a:solidFill>
                  <a:schemeClr val="tx1"/>
                </a:solidFill>
              </a:rPr>
              <a:t>精氨酸</a:t>
            </a:r>
          </a:p>
          <a:p>
            <a:pPr eaLnBrk="1" hangingPunct="1">
              <a:spcBef>
                <a:spcPct val="50000"/>
              </a:spcBef>
              <a:buClrTx/>
              <a:buFontTx/>
              <a:buNone/>
            </a:pPr>
            <a:endParaRPr kumimoji="1" lang="en-US" altLang="zh-CN" sz="2000">
              <a:solidFill>
                <a:schemeClr val="tx1"/>
              </a:solidFill>
            </a:endParaRPr>
          </a:p>
        </p:txBody>
      </p:sp>
      <p:sp>
        <p:nvSpPr>
          <p:cNvPr id="165891" name="Text Box 1027">
            <a:extLst>
              <a:ext uri="{FF2B5EF4-FFF2-40B4-BE49-F238E27FC236}">
                <a16:creationId xmlns:a16="http://schemas.microsoft.com/office/drawing/2014/main" id="{CF511DEC-387C-4523-B8E0-C415959B86B3}"/>
              </a:ext>
            </a:extLst>
          </p:cNvPr>
          <p:cNvSpPr txBox="1">
            <a:spLocks noChangeArrowheads="1"/>
          </p:cNvSpPr>
          <p:nvPr/>
        </p:nvSpPr>
        <p:spPr bwMode="auto">
          <a:xfrm>
            <a:off x="6024564" y="908050"/>
            <a:ext cx="4643437" cy="270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en-US" altLang="zh-CN" sz="2000">
                <a:solidFill>
                  <a:schemeClr val="tx1"/>
                </a:solidFill>
              </a:rPr>
              <a:t>  2 </a:t>
            </a:r>
            <a:r>
              <a:rPr kumimoji="1" lang="zh-CN" altLang="en-US" sz="2000">
                <a:solidFill>
                  <a:schemeClr val="tx1"/>
                </a:solidFill>
              </a:rPr>
              <a:t>下列哪种氨基酸在肽链中形成拐角</a:t>
            </a:r>
          </a:p>
          <a:p>
            <a:pPr eaLnBrk="1" hangingPunct="1">
              <a:spcBef>
                <a:spcPct val="50000"/>
              </a:spcBef>
              <a:buClrTx/>
              <a:buFontTx/>
              <a:buNone/>
            </a:pPr>
            <a:r>
              <a:rPr kumimoji="1" lang="zh-CN" altLang="en-US" sz="2000">
                <a:solidFill>
                  <a:schemeClr val="tx1"/>
                </a:solidFill>
              </a:rPr>
              <a:t>　　</a:t>
            </a:r>
            <a:r>
              <a:rPr kumimoji="1" lang="en-US" altLang="zh-CN" sz="2000">
                <a:solidFill>
                  <a:schemeClr val="tx1"/>
                </a:solidFill>
              </a:rPr>
              <a:t>A </a:t>
            </a:r>
            <a:r>
              <a:rPr kumimoji="1" lang="zh-CN" altLang="en-US" sz="2000">
                <a:solidFill>
                  <a:schemeClr val="tx1"/>
                </a:solidFill>
              </a:rPr>
              <a:t>缬氨酸</a:t>
            </a:r>
          </a:p>
          <a:p>
            <a:pPr eaLnBrk="1" hangingPunct="1">
              <a:spcBef>
                <a:spcPct val="50000"/>
              </a:spcBef>
              <a:buClrTx/>
              <a:buFontTx/>
              <a:buNone/>
            </a:pPr>
            <a:r>
              <a:rPr kumimoji="1" lang="zh-CN" altLang="en-US" sz="2000">
                <a:solidFill>
                  <a:schemeClr val="tx1"/>
                </a:solidFill>
              </a:rPr>
              <a:t>　　</a:t>
            </a:r>
            <a:r>
              <a:rPr kumimoji="1" lang="en-US" altLang="zh-CN" sz="2000">
                <a:solidFill>
                  <a:schemeClr val="tx1"/>
                </a:solidFill>
              </a:rPr>
              <a:t>B </a:t>
            </a:r>
            <a:r>
              <a:rPr kumimoji="1" lang="zh-CN" altLang="en-US" sz="2000">
                <a:solidFill>
                  <a:schemeClr val="tx1"/>
                </a:solidFill>
              </a:rPr>
              <a:t>酪氨酸</a:t>
            </a:r>
          </a:p>
          <a:p>
            <a:pPr eaLnBrk="1" hangingPunct="1">
              <a:spcBef>
                <a:spcPct val="50000"/>
              </a:spcBef>
              <a:buClrTx/>
              <a:buFontTx/>
              <a:buNone/>
            </a:pPr>
            <a:r>
              <a:rPr kumimoji="1" lang="zh-CN" altLang="en-US" sz="2000">
                <a:solidFill>
                  <a:schemeClr val="tx1"/>
                </a:solidFill>
              </a:rPr>
              <a:t>　　</a:t>
            </a:r>
            <a:r>
              <a:rPr kumimoji="1" lang="en-US" altLang="zh-CN" sz="2000">
                <a:solidFill>
                  <a:schemeClr val="tx1"/>
                </a:solidFill>
              </a:rPr>
              <a:t>C </a:t>
            </a:r>
            <a:r>
              <a:rPr kumimoji="1" lang="zh-CN" altLang="en-US" sz="2000">
                <a:solidFill>
                  <a:schemeClr val="tx1"/>
                </a:solidFill>
              </a:rPr>
              <a:t>脯氨酸</a:t>
            </a:r>
          </a:p>
          <a:p>
            <a:pPr eaLnBrk="1" hangingPunct="1">
              <a:spcBef>
                <a:spcPct val="50000"/>
              </a:spcBef>
              <a:buClrTx/>
              <a:buFontTx/>
              <a:buNone/>
            </a:pPr>
            <a:r>
              <a:rPr kumimoji="1" lang="zh-CN" altLang="en-US" sz="2000">
                <a:solidFill>
                  <a:schemeClr val="tx1"/>
                </a:solidFill>
              </a:rPr>
              <a:t>　　</a:t>
            </a:r>
            <a:r>
              <a:rPr kumimoji="1" lang="en-US" altLang="zh-CN" sz="2000">
                <a:solidFill>
                  <a:schemeClr val="tx1"/>
                </a:solidFill>
              </a:rPr>
              <a:t>D </a:t>
            </a:r>
            <a:r>
              <a:rPr kumimoji="1" lang="zh-CN" altLang="en-US" sz="2000">
                <a:solidFill>
                  <a:schemeClr val="tx1"/>
                </a:solidFill>
              </a:rPr>
              <a:t>苏氨酸</a:t>
            </a:r>
          </a:p>
          <a:p>
            <a:pPr eaLnBrk="1" hangingPunct="1">
              <a:spcBef>
                <a:spcPct val="50000"/>
              </a:spcBef>
              <a:buClrTx/>
              <a:buFontTx/>
              <a:buNone/>
            </a:pPr>
            <a:r>
              <a:rPr kumimoji="1" lang="zh-CN" altLang="en-US" sz="2000">
                <a:solidFill>
                  <a:schemeClr val="tx1"/>
                </a:solidFill>
              </a:rPr>
              <a:t>　　</a:t>
            </a:r>
            <a:r>
              <a:rPr kumimoji="1" lang="en-US" altLang="zh-CN" sz="2000">
                <a:solidFill>
                  <a:schemeClr val="tx1"/>
                </a:solidFill>
              </a:rPr>
              <a:t>E </a:t>
            </a:r>
            <a:r>
              <a:rPr kumimoji="1" lang="zh-CN" altLang="en-US" sz="2000">
                <a:solidFill>
                  <a:schemeClr val="tx1"/>
                </a:solidFill>
              </a:rPr>
              <a:t>色氨酸</a:t>
            </a:r>
            <a:endParaRPr kumimoji="1" lang="zh-CN" altLang="en-US" sz="2400">
              <a:solidFill>
                <a:schemeClr val="tx1"/>
              </a:solidFill>
            </a:endParaRPr>
          </a:p>
        </p:txBody>
      </p:sp>
      <p:sp>
        <p:nvSpPr>
          <p:cNvPr id="165892" name="Rectangle 1029">
            <a:extLst>
              <a:ext uri="{FF2B5EF4-FFF2-40B4-BE49-F238E27FC236}">
                <a16:creationId xmlns:a16="http://schemas.microsoft.com/office/drawing/2014/main" id="{BFE4A034-4797-4086-B361-DEC2162A56E1}"/>
              </a:ext>
            </a:extLst>
          </p:cNvPr>
          <p:cNvSpPr>
            <a:spLocks noChangeArrowheads="1"/>
          </p:cNvSpPr>
          <p:nvPr/>
        </p:nvSpPr>
        <p:spPr bwMode="auto">
          <a:xfrm>
            <a:off x="1992313" y="3789364"/>
            <a:ext cx="76200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en-US" altLang="zh-CN" sz="2000">
                <a:solidFill>
                  <a:schemeClr val="tx1"/>
                </a:solidFill>
              </a:rPr>
              <a:t>3 </a:t>
            </a:r>
            <a:r>
              <a:rPr lang="zh-CN" altLang="en-US" sz="2000">
                <a:solidFill>
                  <a:schemeClr val="tx1"/>
                </a:solidFill>
              </a:rPr>
              <a:t>下列有关蛋白质</a:t>
            </a:r>
            <a:r>
              <a:rPr lang="en-US" altLang="zh-CN" sz="2000">
                <a:solidFill>
                  <a:schemeClr val="tx1"/>
                </a:solidFill>
              </a:rPr>
              <a:t>β</a:t>
            </a:r>
            <a:r>
              <a:rPr lang="zh-CN" altLang="en-US" sz="2000">
                <a:solidFill>
                  <a:schemeClr val="tx1"/>
                </a:solidFill>
              </a:rPr>
              <a:t>折叠结构的叙述正确的是</a:t>
            </a:r>
          </a:p>
          <a:p>
            <a:pPr eaLnBrk="1" hangingPunct="1">
              <a:spcBef>
                <a:spcPct val="50000"/>
              </a:spcBef>
              <a:buClrTx/>
              <a:buFontTx/>
              <a:buNone/>
            </a:pPr>
            <a:r>
              <a:rPr lang="zh-CN" altLang="en-US" sz="2000">
                <a:solidFill>
                  <a:schemeClr val="tx1"/>
                </a:solidFill>
              </a:rPr>
              <a:t>     </a:t>
            </a:r>
            <a:r>
              <a:rPr lang="en-US" altLang="zh-CN" sz="2000">
                <a:solidFill>
                  <a:schemeClr val="tx1"/>
                </a:solidFill>
              </a:rPr>
              <a:t>A.</a:t>
            </a:r>
            <a:r>
              <a:rPr lang="zh-CN" altLang="en-US" sz="2000">
                <a:solidFill>
                  <a:schemeClr val="tx1"/>
                </a:solidFill>
              </a:rPr>
              <a:t>主链骨架呈锯齿状</a:t>
            </a:r>
          </a:p>
          <a:p>
            <a:pPr eaLnBrk="1" hangingPunct="1">
              <a:spcBef>
                <a:spcPct val="50000"/>
              </a:spcBef>
              <a:buClrTx/>
              <a:buFontTx/>
              <a:buNone/>
            </a:pPr>
            <a:r>
              <a:rPr lang="zh-CN" altLang="en-US" sz="2000">
                <a:solidFill>
                  <a:schemeClr val="tx1"/>
                </a:solidFill>
              </a:rPr>
              <a:t>     </a:t>
            </a:r>
            <a:r>
              <a:rPr lang="en-US" altLang="zh-CN" sz="2000">
                <a:solidFill>
                  <a:schemeClr val="tx1"/>
                </a:solidFill>
              </a:rPr>
              <a:t>B.</a:t>
            </a:r>
            <a:r>
              <a:rPr lang="zh-CN" altLang="en-US" sz="2000">
                <a:solidFill>
                  <a:schemeClr val="tx1"/>
                </a:solidFill>
              </a:rPr>
              <a:t>两个相邻的肽平面呈折纸状</a:t>
            </a:r>
          </a:p>
          <a:p>
            <a:pPr eaLnBrk="1" hangingPunct="1">
              <a:spcBef>
                <a:spcPct val="50000"/>
              </a:spcBef>
              <a:buClrTx/>
              <a:buFontTx/>
              <a:buNone/>
            </a:pPr>
            <a:r>
              <a:rPr lang="zh-CN" altLang="en-US" sz="2000">
                <a:solidFill>
                  <a:schemeClr val="tx1"/>
                </a:solidFill>
              </a:rPr>
              <a:t>     </a:t>
            </a:r>
            <a:r>
              <a:rPr lang="en-US" altLang="zh-CN" sz="2000">
                <a:solidFill>
                  <a:schemeClr val="tx1"/>
                </a:solidFill>
              </a:rPr>
              <a:t>C.β</a:t>
            </a:r>
            <a:r>
              <a:rPr lang="zh-CN" altLang="en-US" sz="2000">
                <a:solidFill>
                  <a:schemeClr val="tx1"/>
                </a:solidFill>
              </a:rPr>
              <a:t>折叠结构是一种较伸展的肽链结构</a:t>
            </a:r>
          </a:p>
          <a:p>
            <a:pPr eaLnBrk="1" hangingPunct="1">
              <a:spcBef>
                <a:spcPct val="50000"/>
              </a:spcBef>
              <a:buClrTx/>
              <a:buFontTx/>
              <a:buNone/>
            </a:pPr>
            <a:r>
              <a:rPr lang="zh-CN" altLang="en-US" sz="2000">
                <a:solidFill>
                  <a:schemeClr val="tx1"/>
                </a:solidFill>
              </a:rPr>
              <a:t>     </a:t>
            </a:r>
            <a:r>
              <a:rPr lang="en-US" altLang="zh-CN" sz="2000">
                <a:solidFill>
                  <a:schemeClr val="tx1"/>
                </a:solidFill>
              </a:rPr>
              <a:t>D.</a:t>
            </a:r>
            <a:r>
              <a:rPr lang="zh-CN" altLang="en-US" sz="2000">
                <a:solidFill>
                  <a:schemeClr val="tx1"/>
                </a:solidFill>
              </a:rPr>
              <a:t>若干矩齿状肽链骨架平行或反平行排列，链间靠氢键维系</a:t>
            </a:r>
          </a:p>
        </p:txBody>
      </p:sp>
      <p:sp>
        <p:nvSpPr>
          <p:cNvPr id="165893" name="标题 1">
            <a:extLst>
              <a:ext uri="{FF2B5EF4-FFF2-40B4-BE49-F238E27FC236}">
                <a16:creationId xmlns:a16="http://schemas.microsoft.com/office/drawing/2014/main" id="{BE278049-59B2-43B3-800A-638D32CD371A}"/>
              </a:ext>
            </a:extLst>
          </p:cNvPr>
          <p:cNvSpPr>
            <a:spLocks noGrp="1" noChangeArrowheads="1"/>
          </p:cNvSpPr>
          <p:nvPr>
            <p:ph type="title"/>
          </p:nvPr>
        </p:nvSpPr>
        <p:spPr/>
        <p:txBody>
          <a:bodyPr/>
          <a:lstStyle/>
          <a:p>
            <a:pPr algn="ctr"/>
            <a:r>
              <a:rPr lang="zh-CN" altLang="en-US"/>
              <a:t>课堂练习 </a:t>
            </a:r>
          </a:p>
        </p:txBody>
      </p:sp>
    </p:spTree>
    <p:extLst>
      <p:ext uri="{BB962C8B-B14F-4D97-AF65-F5344CB8AC3E}">
        <p14:creationId xmlns:p14="http://schemas.microsoft.com/office/powerpoint/2010/main" val="1342465785"/>
      </p:ext>
    </p:extLst>
  </p:cSld>
  <p:clrMapOvr>
    <a:masterClrMapping/>
  </p:clrMapOvr>
  <p:transition spd="slow">
    <p:circle/>
  </p:transition>
</p:sld>
</file>

<file path=ppt/tags/tag1.xml><?xml version="1.0" encoding="utf-8"?>
<p:tagLst xmlns:a="http://schemas.openxmlformats.org/drawingml/2006/main" xmlns:r="http://schemas.openxmlformats.org/officeDocument/2006/relationships" xmlns:p="http://schemas.openxmlformats.org/presentationml/2006/main">
  <p:tag name="TIMING" val="|0.8"/>
</p:tagLst>
</file>

<file path=ppt/tags/tag2.xml><?xml version="1.0" encoding="utf-8"?>
<p:tagLst xmlns:a="http://schemas.openxmlformats.org/drawingml/2006/main" xmlns:r="http://schemas.openxmlformats.org/officeDocument/2006/relationships" xmlns:p="http://schemas.openxmlformats.org/presentationml/2006/main">
  <p:tag name="TIMING" val="|8.4|0.8"/>
</p:tagLst>
</file>

<file path=ppt/theme/theme1.xml><?xml version="1.0" encoding="utf-8"?>
<a:theme xmlns:a="http://schemas.openxmlformats.org/drawingml/2006/main" name="143TGp_happy_light_v2_e">
  <a:themeElements>
    <a:clrScheme name="143TGp_happy_light_v2_e 1">
      <a:dk1>
        <a:srgbClr val="000066"/>
      </a:dk1>
      <a:lt1>
        <a:srgbClr val="FFFFFF"/>
      </a:lt1>
      <a:dk2>
        <a:srgbClr val="1D7ACF"/>
      </a:dk2>
      <a:lt2>
        <a:srgbClr val="C0C0C0"/>
      </a:lt2>
      <a:accent1>
        <a:srgbClr val="189E8E"/>
      </a:accent1>
      <a:accent2>
        <a:srgbClr val="E0BB20"/>
      </a:accent2>
      <a:accent3>
        <a:srgbClr val="FFFFFF"/>
      </a:accent3>
      <a:accent4>
        <a:srgbClr val="000056"/>
      </a:accent4>
      <a:accent5>
        <a:srgbClr val="ABCCC6"/>
      </a:accent5>
      <a:accent6>
        <a:srgbClr val="CBA91C"/>
      </a:accent6>
      <a:hlink>
        <a:srgbClr val="5AA5DE"/>
      </a:hlink>
      <a:folHlink>
        <a:srgbClr val="9885A3"/>
      </a:folHlink>
    </a:clrScheme>
    <a:fontScheme name="143TGp_happy_light_v2_e">
      <a:majorFont>
        <a:latin typeface="黑体"/>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6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6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143TGp_happy_light_v2_e 1">
        <a:dk1>
          <a:srgbClr val="000066"/>
        </a:dk1>
        <a:lt1>
          <a:srgbClr val="FFFFFF"/>
        </a:lt1>
        <a:dk2>
          <a:srgbClr val="1D7ACF"/>
        </a:dk2>
        <a:lt2>
          <a:srgbClr val="C0C0C0"/>
        </a:lt2>
        <a:accent1>
          <a:srgbClr val="189E8E"/>
        </a:accent1>
        <a:accent2>
          <a:srgbClr val="E0BB20"/>
        </a:accent2>
        <a:accent3>
          <a:srgbClr val="FFFFFF"/>
        </a:accent3>
        <a:accent4>
          <a:srgbClr val="000056"/>
        </a:accent4>
        <a:accent5>
          <a:srgbClr val="ABCCC6"/>
        </a:accent5>
        <a:accent6>
          <a:srgbClr val="CBA91C"/>
        </a:accent6>
        <a:hlink>
          <a:srgbClr val="5AA5DE"/>
        </a:hlink>
        <a:folHlink>
          <a:srgbClr val="9885A3"/>
        </a:folHlink>
      </a:clrScheme>
      <a:clrMap bg1="lt1" tx1="dk1" bg2="lt2" tx2="dk2" accent1="accent1" accent2="accent2" accent3="accent3" accent4="accent4" accent5="accent5" accent6="accent6" hlink="hlink" folHlink="folHlink"/>
    </a:extraClrScheme>
    <a:extraClrScheme>
      <a:clrScheme name="143TGp_happy_light_v2_e 2">
        <a:dk1>
          <a:srgbClr val="000066"/>
        </a:dk1>
        <a:lt1>
          <a:srgbClr val="FFFFFF"/>
        </a:lt1>
        <a:dk2>
          <a:srgbClr val="238D3F"/>
        </a:dk2>
        <a:lt2>
          <a:srgbClr val="DDDDDD"/>
        </a:lt2>
        <a:accent1>
          <a:srgbClr val="808080"/>
        </a:accent1>
        <a:accent2>
          <a:srgbClr val="CC9900"/>
        </a:accent2>
        <a:accent3>
          <a:srgbClr val="FFFFFF"/>
        </a:accent3>
        <a:accent4>
          <a:srgbClr val="000056"/>
        </a:accent4>
        <a:accent5>
          <a:srgbClr val="C0C0C0"/>
        </a:accent5>
        <a:accent6>
          <a:srgbClr val="B98A00"/>
        </a:accent6>
        <a:hlink>
          <a:srgbClr val="D9C741"/>
        </a:hlink>
        <a:folHlink>
          <a:srgbClr val="336699"/>
        </a:folHlink>
      </a:clrScheme>
      <a:clrMap bg1="lt1" tx1="dk1" bg2="lt2" tx2="dk2" accent1="accent1" accent2="accent2" accent3="accent3" accent4="accent4" accent5="accent5" accent6="accent6" hlink="hlink" folHlink="folHlink"/>
    </a:extraClrScheme>
    <a:extraClrScheme>
      <a:clrScheme name="143TGp_happy_light_v2_e 3">
        <a:dk1>
          <a:srgbClr val="000066"/>
        </a:dk1>
        <a:lt1>
          <a:srgbClr val="FFFFFF"/>
        </a:lt1>
        <a:dk2>
          <a:srgbClr val="D75F1D"/>
        </a:dk2>
        <a:lt2>
          <a:srgbClr val="DDDDDD"/>
        </a:lt2>
        <a:accent1>
          <a:srgbClr val="3885A0"/>
        </a:accent1>
        <a:accent2>
          <a:srgbClr val="3399FF"/>
        </a:accent2>
        <a:accent3>
          <a:srgbClr val="FFFFFF"/>
        </a:accent3>
        <a:accent4>
          <a:srgbClr val="000056"/>
        </a:accent4>
        <a:accent5>
          <a:srgbClr val="AEC2CD"/>
        </a:accent5>
        <a:accent6>
          <a:srgbClr val="2D8AE7"/>
        </a:accent6>
        <a:hlink>
          <a:srgbClr val="4B67B7"/>
        </a:hlink>
        <a:folHlink>
          <a:srgbClr val="7B6A9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Themegallery1</Template>
  <TotalTime>0</TotalTime>
  <Words>13163</Words>
  <Application>Microsoft Office PowerPoint</Application>
  <PresentationFormat>宽屏</PresentationFormat>
  <Paragraphs>1131</Paragraphs>
  <Slides>119</Slides>
  <Notes>109</Notes>
  <HiddenSlides>15</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4</vt:i4>
      </vt:variant>
      <vt:variant>
        <vt:lpstr>幻灯片标题</vt:lpstr>
      </vt:variant>
      <vt:variant>
        <vt:i4>119</vt:i4>
      </vt:variant>
    </vt:vector>
  </HeadingPairs>
  <TitlesOfParts>
    <vt:vector size="142" baseType="lpstr">
      <vt:lpstr>-apple-system-font</vt:lpstr>
      <vt:lpstr>Meiryo</vt:lpstr>
      <vt:lpstr>黑体</vt:lpstr>
      <vt:lpstr>华文楷体</vt:lpstr>
      <vt:lpstr>华文新魏</vt:lpstr>
      <vt:lpstr>楷体_GB2312</vt:lpstr>
      <vt:lpstr>迷你简雪君</vt:lpstr>
      <vt:lpstr>宋体</vt:lpstr>
      <vt:lpstr>微软雅黑</vt:lpstr>
      <vt:lpstr>微软雅黑 Light</vt:lpstr>
      <vt:lpstr>Arial</vt:lpstr>
      <vt:lpstr>Arial Black</vt:lpstr>
      <vt:lpstr>Cambria Math</vt:lpstr>
      <vt:lpstr>roboto</vt:lpstr>
      <vt:lpstr>Symbol</vt:lpstr>
      <vt:lpstr>Tahoma</vt:lpstr>
      <vt:lpstr>Times New Roman</vt:lpstr>
      <vt:lpstr>Wingdings</vt:lpstr>
      <vt:lpstr>143TGp_happy_light_v2_e</vt:lpstr>
      <vt:lpstr>BMP 图象</vt:lpstr>
      <vt:lpstr>CS ChemDraw Drawing</vt:lpstr>
      <vt:lpstr>Photo Editor 照片</vt:lpstr>
      <vt:lpstr>位图图像</vt:lpstr>
      <vt:lpstr>PowerPoint 演示文稿</vt:lpstr>
      <vt:lpstr>一、蛋白质通过与其他生物分子相互作用执行功能</vt:lpstr>
      <vt:lpstr>蛋白质相互作用实例</vt:lpstr>
      <vt:lpstr>（二）抗原与抗体的特异性结合</vt:lpstr>
      <vt:lpstr>IgG的三维结构</vt:lpstr>
      <vt:lpstr>PowerPoint 演示文稿</vt:lpstr>
      <vt:lpstr>抗体能与抗原紧密、特异地结合</vt:lpstr>
      <vt:lpstr>PowerPoint 演示文稿</vt:lpstr>
      <vt:lpstr>（一）一级结构是空间构象的基础    </vt:lpstr>
      <vt:lpstr>核糖核酸酶A的变性复性实验</vt:lpstr>
      <vt:lpstr>PowerPoint 演示文稿</vt:lpstr>
      <vt:lpstr>PowerPoint 演示文稿</vt:lpstr>
      <vt:lpstr>破坏蛋白质高级结构的试剂</vt:lpstr>
      <vt:lpstr>PowerPoint 演示文稿</vt:lpstr>
      <vt:lpstr>PowerPoint 演示文稿</vt:lpstr>
      <vt:lpstr>细胞外也有分子伴侣</vt:lpstr>
      <vt:lpstr>（二）一级结构相似的蛋白质具有相似的高级结构与功能</vt:lpstr>
      <vt:lpstr>泛素（ubiquitin)</vt:lpstr>
      <vt:lpstr>（三）某些蛋白质氨基酸序列可反映生物进化信息</vt:lpstr>
      <vt:lpstr>PowerPoint 演示文稿</vt:lpstr>
      <vt:lpstr>氨基酸序列提供重要的生物进化信息</vt:lpstr>
      <vt:lpstr>（四）重要蛋白质氨基酸序列的改变引起疾病</vt:lpstr>
      <vt:lpstr>PowerPoint 演示文稿</vt:lpstr>
      <vt:lpstr>PowerPoint 演示文稿</vt:lpstr>
      <vt:lpstr>PowerPoint 演示文稿</vt:lpstr>
      <vt:lpstr>病例讨论</vt:lpstr>
      <vt:lpstr>PowerPoint 演示文稿</vt:lpstr>
      <vt:lpstr>不同构象的血红蛋白与氧的结合能力不同</vt:lpstr>
      <vt:lpstr>血红素的结构</vt:lpstr>
      <vt:lpstr>血红素辅基的结构及其氧合部位</vt:lpstr>
      <vt:lpstr>   血红蛋白(Hemoglobin, Hb)</vt:lpstr>
      <vt:lpstr>PowerPoint 演示文稿</vt:lpstr>
      <vt:lpstr>PowerPoint 演示文稿</vt:lpstr>
      <vt:lpstr>（二）血红蛋白与氧结合时会发生构象变化    </vt:lpstr>
      <vt:lpstr>PowerPoint 演示文稿</vt:lpstr>
      <vt:lpstr>协同效应(cooperativity)   </vt:lpstr>
      <vt:lpstr>血红蛋白有两种稳定构象：T态和R态</vt:lpstr>
      <vt:lpstr>结合氧后，血红蛋白由T态向R态转变</vt:lpstr>
      <vt:lpstr>血红蛋白与氧的结合引起构象变化</vt:lpstr>
      <vt:lpstr>PowerPoint 演示文稿</vt:lpstr>
      <vt:lpstr>PowerPoint 演示文稿</vt:lpstr>
      <vt:lpstr>别构效应(allosteric effect)</vt:lpstr>
      <vt:lpstr>2，3-二磷酸甘油酸与非氧合Hb结合</vt:lpstr>
      <vt:lpstr>BPG调节Hb与氧的结合</vt:lpstr>
      <vt:lpstr>PowerPoint 演示文稿</vt:lpstr>
      <vt:lpstr>波尔效应（Bohr effect)</vt:lpstr>
      <vt:lpstr>PowerPoint 演示文稿</vt:lpstr>
      <vt:lpstr>PowerPoint 演示文稿</vt:lpstr>
      <vt:lpstr>Hb与氧结合效应要点</vt:lpstr>
      <vt:lpstr>CO与Hb的亲和力比氧高200多倍</vt:lpstr>
      <vt:lpstr>PowerPoint 演示文稿</vt:lpstr>
      <vt:lpstr>蛋白质构象变化可引起疾病</vt:lpstr>
      <vt:lpstr>蛋白质错误折叠导致海绵状脑病</vt:lpstr>
      <vt:lpstr>PowerPoint 演示文稿</vt:lpstr>
      <vt:lpstr>PowerPoint 演示文稿</vt:lpstr>
      <vt:lpstr>案 例 分 析</vt:lpstr>
      <vt:lpstr>蛋白质结构与功能的关系   小结</vt:lpstr>
      <vt:lpstr>课堂练习</vt:lpstr>
      <vt:lpstr>第四节  蛋白质的理化性质 Physical and Chemical Characters of Protein</vt:lpstr>
      <vt:lpstr>本节要求</vt:lpstr>
      <vt:lpstr>PowerPoint 演示文稿</vt:lpstr>
      <vt:lpstr>（一）蛋白质的两性电离   </vt:lpstr>
      <vt:lpstr>PowerPoint 演示文稿</vt:lpstr>
      <vt:lpstr>（二）蛋白质的紫外吸收</vt:lpstr>
      <vt:lpstr>（三）蛋白质的呈色反应</vt:lpstr>
      <vt:lpstr>PowerPoint 演示文稿</vt:lpstr>
      <vt:lpstr>PowerPoint 演示文稿</vt:lpstr>
      <vt:lpstr>（四）蛋白质的胶体性质    </vt:lpstr>
      <vt:lpstr>PowerPoint 演示文稿</vt:lpstr>
      <vt:lpstr>（五）蛋白质的变性、沉淀和凝固    </vt:lpstr>
      <vt:lpstr>PowerPoint 演示文稿</vt:lpstr>
      <vt:lpstr>变性的本质</vt:lpstr>
      <vt:lpstr>变性因素</vt:lpstr>
      <vt:lpstr>PowerPoint 演示文稿</vt:lpstr>
      <vt:lpstr>PowerPoint 演示文稿</vt:lpstr>
      <vt:lpstr>变性与复性(renaturation) </vt:lpstr>
      <vt:lpstr>蛋白质沉淀（precipitation）</vt:lpstr>
      <vt:lpstr>蛋白质的凝固作用（coagulation)</vt:lpstr>
      <vt:lpstr>PowerPoint 演示文稿</vt:lpstr>
      <vt:lpstr>PowerPoint 演示文稿</vt:lpstr>
      <vt:lpstr>分离纯化蛋白质的一般程序</vt:lpstr>
      <vt:lpstr>蛋白质的分离和纯化的依据</vt:lpstr>
      <vt:lpstr>常用蛋白质分离纯化方法</vt:lpstr>
      <vt:lpstr>PowerPoint 演示文稿</vt:lpstr>
      <vt:lpstr>血液透析（Hemodialysis）</vt:lpstr>
      <vt:lpstr>PowerPoint 演示文稿</vt:lpstr>
      <vt:lpstr>PowerPoint 演示文稿</vt:lpstr>
      <vt:lpstr>盐析法（sorting out)</vt:lpstr>
      <vt:lpstr>有机溶剂沉淀法</vt:lpstr>
      <vt:lpstr>免疫沉淀法</vt:lpstr>
      <vt:lpstr>三、电泳（electrophoresis）</vt:lpstr>
      <vt:lpstr>PowerPoint 演示文稿</vt:lpstr>
      <vt:lpstr>PowerPoint 演示文稿</vt:lpstr>
      <vt:lpstr>分子量的对数值与迁移率呈线性关系</vt:lpstr>
      <vt:lpstr>PowerPoint 演示文稿</vt:lpstr>
      <vt:lpstr>PowerPoint 演示文稿</vt:lpstr>
      <vt:lpstr>双向电泳（two dimensional electrophoresis）</vt:lpstr>
      <vt:lpstr>PowerPoint 演示文稿</vt:lpstr>
      <vt:lpstr>蛋白质分离常用的层析方法</vt:lpstr>
      <vt:lpstr>PowerPoint 演示文稿</vt:lpstr>
      <vt:lpstr>阳离子交换层析</vt:lpstr>
      <vt:lpstr>PowerPoint 演示文稿</vt:lpstr>
      <vt:lpstr>PowerPoint 演示文稿</vt:lpstr>
      <vt:lpstr>PowerPoint 演示文稿</vt:lpstr>
      <vt:lpstr>PowerPoint 演示文稿</vt:lpstr>
      <vt:lpstr>高效液相色谱（HPLC)是层析技术的强化版</vt:lpstr>
      <vt:lpstr>五、超速离心(ultracentrifugation)</vt:lpstr>
      <vt:lpstr>PowerPoint 演示文稿</vt:lpstr>
      <vt:lpstr>差速离心分离不同细胞器</vt:lpstr>
      <vt:lpstr>细胞rRNA的分离</vt:lpstr>
      <vt:lpstr>PowerPoint 演示文稿</vt:lpstr>
      <vt:lpstr>六、多肽链中氨基酸序列分析</vt:lpstr>
      <vt:lpstr>PowerPoint 演示文稿</vt:lpstr>
      <vt:lpstr>七、蛋白质空间结构测定</vt:lpstr>
      <vt:lpstr>蛋白质三级结构测定方法</vt:lpstr>
      <vt:lpstr>PowerPoint 演示文稿</vt:lpstr>
      <vt:lpstr>PowerPoint 演示文稿</vt:lpstr>
      <vt:lpstr>PowerPoint 演示文稿</vt:lpstr>
      <vt:lpstr>课堂练习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蛋白质的结构与功能</dc:title>
  <dc:creator/>
  <cp:lastModifiedBy/>
  <cp:revision>159</cp:revision>
  <dcterms:created xsi:type="dcterms:W3CDTF">2003-10-24T04:29:03Z</dcterms:created>
  <dcterms:modified xsi:type="dcterms:W3CDTF">2026-09-05T08:05:09Z</dcterms:modified>
</cp:coreProperties>
</file>