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2" r:id="rId1"/>
    <p:sldMasterId id="2147483885" r:id="rId2"/>
    <p:sldMasterId id="2147483899" r:id="rId3"/>
    <p:sldMasterId id="2147484151" r:id="rId4"/>
  </p:sldMasterIdLst>
  <p:notesMasterIdLst>
    <p:notesMasterId r:id="rId85"/>
  </p:notesMasterIdLst>
  <p:sldIdLst>
    <p:sldId id="286" r:id="rId5"/>
    <p:sldId id="306" r:id="rId6"/>
    <p:sldId id="304" r:id="rId7"/>
    <p:sldId id="862" r:id="rId8"/>
    <p:sldId id="285" r:id="rId9"/>
    <p:sldId id="295" r:id="rId10"/>
    <p:sldId id="863" r:id="rId11"/>
    <p:sldId id="865" r:id="rId12"/>
    <p:sldId id="260" r:id="rId13"/>
    <p:sldId id="259" r:id="rId14"/>
    <p:sldId id="886" r:id="rId15"/>
    <p:sldId id="283" r:id="rId16"/>
    <p:sldId id="335" r:id="rId17"/>
    <p:sldId id="857" r:id="rId18"/>
    <p:sldId id="887" r:id="rId19"/>
    <p:sldId id="889" r:id="rId20"/>
    <p:sldId id="890" r:id="rId21"/>
    <p:sldId id="839" r:id="rId22"/>
    <p:sldId id="881" r:id="rId23"/>
    <p:sldId id="861" r:id="rId24"/>
    <p:sldId id="878" r:id="rId25"/>
    <p:sldId id="262" r:id="rId26"/>
    <p:sldId id="867" r:id="rId27"/>
    <p:sldId id="891" r:id="rId28"/>
    <p:sldId id="859" r:id="rId29"/>
    <p:sldId id="263" r:id="rId30"/>
    <p:sldId id="309" r:id="rId31"/>
    <p:sldId id="882" r:id="rId32"/>
    <p:sldId id="353" r:id="rId33"/>
    <p:sldId id="319" r:id="rId34"/>
    <p:sldId id="893" r:id="rId35"/>
    <p:sldId id="265" r:id="rId36"/>
    <p:sldId id="841" r:id="rId37"/>
    <p:sldId id="325" r:id="rId38"/>
    <p:sldId id="892" r:id="rId39"/>
    <p:sldId id="868" r:id="rId40"/>
    <p:sldId id="267" r:id="rId41"/>
    <p:sldId id="321" r:id="rId42"/>
    <p:sldId id="317" r:id="rId43"/>
    <p:sldId id="268" r:id="rId44"/>
    <p:sldId id="271" r:id="rId45"/>
    <p:sldId id="269" r:id="rId46"/>
    <p:sldId id="880" r:id="rId47"/>
    <p:sldId id="270" r:id="rId48"/>
    <p:sldId id="356" r:id="rId49"/>
    <p:sldId id="879" r:id="rId50"/>
    <p:sldId id="273" r:id="rId51"/>
    <p:sldId id="290" r:id="rId52"/>
    <p:sldId id="349" r:id="rId53"/>
    <p:sldId id="342" r:id="rId54"/>
    <p:sldId id="343" r:id="rId55"/>
    <p:sldId id="274" r:id="rId56"/>
    <p:sldId id="275" r:id="rId57"/>
    <p:sldId id="366" r:id="rId58"/>
    <p:sldId id="344" r:id="rId59"/>
    <p:sldId id="367" r:id="rId60"/>
    <p:sldId id="278" r:id="rId61"/>
    <p:sldId id="351" r:id="rId62"/>
    <p:sldId id="330" r:id="rId63"/>
    <p:sldId id="894" r:id="rId64"/>
    <p:sldId id="352" r:id="rId65"/>
    <p:sldId id="840" r:id="rId66"/>
    <p:sldId id="883" r:id="rId67"/>
    <p:sldId id="279" r:id="rId68"/>
    <p:sldId id="864" r:id="rId69"/>
    <p:sldId id="280" r:id="rId70"/>
    <p:sldId id="293" r:id="rId71"/>
    <p:sldId id="368" r:id="rId72"/>
    <p:sldId id="310" r:id="rId73"/>
    <p:sldId id="452" r:id="rId74"/>
    <p:sldId id="360" r:id="rId75"/>
    <p:sldId id="456" r:id="rId76"/>
    <p:sldId id="294" r:id="rId77"/>
    <p:sldId id="851" r:id="rId78"/>
    <p:sldId id="852" r:id="rId79"/>
    <p:sldId id="315" r:id="rId80"/>
    <p:sldId id="884" r:id="rId81"/>
    <p:sldId id="362" r:id="rId82"/>
    <p:sldId id="363" r:id="rId83"/>
    <p:sldId id="364" r:id="rId84"/>
  </p:sldIdLst>
  <p:sldSz cx="12192000" cy="6858000"/>
  <p:notesSz cx="6858000" cy="9144000"/>
  <p:defaultTextStyle>
    <a:defPPr>
      <a:defRPr lang="zh-CN"/>
    </a:defPPr>
    <a:lvl1pPr algn="l" rtl="0" eaLnBrk="0" fontAlgn="base" hangingPunct="0">
      <a:spcBef>
        <a:spcPct val="0"/>
      </a:spcBef>
      <a:spcAft>
        <a:spcPct val="0"/>
      </a:spcAft>
      <a:defRPr kumimoji="1" sz="3200" b="1" kern="1200">
        <a:solidFill>
          <a:schemeClr val="bg1"/>
        </a:solidFill>
        <a:latin typeface="Times New Roman" panose="02020603050405020304" pitchFamily="18" charset="0"/>
        <a:ea typeface="楷体_GB2312" pitchFamily="49" charset="-122"/>
        <a:cs typeface="+mn-cs"/>
      </a:defRPr>
    </a:lvl1pPr>
    <a:lvl2pPr marL="457200" algn="l" rtl="0" eaLnBrk="0" fontAlgn="base" hangingPunct="0">
      <a:spcBef>
        <a:spcPct val="0"/>
      </a:spcBef>
      <a:spcAft>
        <a:spcPct val="0"/>
      </a:spcAft>
      <a:defRPr kumimoji="1" sz="3200" b="1" kern="1200">
        <a:solidFill>
          <a:schemeClr val="bg1"/>
        </a:solidFill>
        <a:latin typeface="Times New Roman" panose="02020603050405020304" pitchFamily="18" charset="0"/>
        <a:ea typeface="楷体_GB2312" pitchFamily="49" charset="-122"/>
        <a:cs typeface="+mn-cs"/>
      </a:defRPr>
    </a:lvl2pPr>
    <a:lvl3pPr marL="914400" algn="l" rtl="0" eaLnBrk="0" fontAlgn="base" hangingPunct="0">
      <a:spcBef>
        <a:spcPct val="0"/>
      </a:spcBef>
      <a:spcAft>
        <a:spcPct val="0"/>
      </a:spcAft>
      <a:defRPr kumimoji="1" sz="3200" b="1" kern="1200">
        <a:solidFill>
          <a:schemeClr val="bg1"/>
        </a:solidFill>
        <a:latin typeface="Times New Roman" panose="02020603050405020304" pitchFamily="18" charset="0"/>
        <a:ea typeface="楷体_GB2312" pitchFamily="49" charset="-122"/>
        <a:cs typeface="+mn-cs"/>
      </a:defRPr>
    </a:lvl3pPr>
    <a:lvl4pPr marL="1371600" algn="l" rtl="0" eaLnBrk="0" fontAlgn="base" hangingPunct="0">
      <a:spcBef>
        <a:spcPct val="0"/>
      </a:spcBef>
      <a:spcAft>
        <a:spcPct val="0"/>
      </a:spcAft>
      <a:defRPr kumimoji="1" sz="3200" b="1" kern="1200">
        <a:solidFill>
          <a:schemeClr val="bg1"/>
        </a:solidFill>
        <a:latin typeface="Times New Roman" panose="02020603050405020304" pitchFamily="18" charset="0"/>
        <a:ea typeface="楷体_GB2312" pitchFamily="49" charset="-122"/>
        <a:cs typeface="+mn-cs"/>
      </a:defRPr>
    </a:lvl4pPr>
    <a:lvl5pPr marL="1828800" algn="l" rtl="0" eaLnBrk="0" fontAlgn="base" hangingPunct="0">
      <a:spcBef>
        <a:spcPct val="0"/>
      </a:spcBef>
      <a:spcAft>
        <a:spcPct val="0"/>
      </a:spcAft>
      <a:defRPr kumimoji="1" sz="3200" b="1" kern="1200">
        <a:solidFill>
          <a:schemeClr val="bg1"/>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3200" b="1" kern="1200">
        <a:solidFill>
          <a:schemeClr val="bg1"/>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3200" b="1" kern="1200">
        <a:solidFill>
          <a:schemeClr val="bg1"/>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3200" b="1" kern="1200">
        <a:solidFill>
          <a:schemeClr val="bg1"/>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3200" b="1" kern="1200">
        <a:solidFill>
          <a:schemeClr val="bg1"/>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149798"/>
    <a:srgbClr val="3333CC"/>
    <a:srgbClr val="FFFF00"/>
    <a:srgbClr val="FFFF99"/>
    <a:srgbClr val="66FF33"/>
    <a:srgbClr val="FF99FF"/>
    <a:srgbClr val="FF6600"/>
    <a:srgbClr val="FF0000"/>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45" autoAdjust="0"/>
    <p:restoredTop sz="82800" autoAdjust="0"/>
  </p:normalViewPr>
  <p:slideViewPr>
    <p:cSldViewPr>
      <p:cViewPr varScale="1">
        <p:scale>
          <a:sx n="79" d="100"/>
          <a:sy n="79" d="100"/>
        </p:scale>
        <p:origin x="60" y="116"/>
      </p:cViewPr>
      <p:guideLst>
        <p:guide orient="horz" pos="2160"/>
        <p:guide pos="384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125" d="100"/>
        <a:sy n="125" d="100"/>
      </p:scale>
      <p:origin x="0" y="-73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s>
</file>

<file path=ppt/_rels/viewProps.xml.rels><?xml version="1.0" encoding="UTF-8" standalone="yes"?>
<Relationships xmlns="http://schemas.openxmlformats.org/package/2006/relationships"><Relationship Id="rId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E014D97B-8711-4D71-925F-9A0F27829883}"/>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ea typeface="楷体_GB2312" pitchFamily="49" charset="-122"/>
                <a:cs typeface="+mn-cs"/>
              </a:defRPr>
            </a:lvl1pPr>
          </a:lstStyle>
          <a:p>
            <a:pPr>
              <a:defRPr/>
            </a:pPr>
            <a:endParaRPr lang="zh-CN" altLang="en-US"/>
          </a:p>
        </p:txBody>
      </p:sp>
      <p:sp>
        <p:nvSpPr>
          <p:cNvPr id="3" name="日期占位符 2">
            <a:extLst>
              <a:ext uri="{FF2B5EF4-FFF2-40B4-BE49-F238E27FC236}">
                <a16:creationId xmlns:a16="http://schemas.microsoft.com/office/drawing/2014/main" id="{4440F018-4676-41E9-9808-88839225599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ea typeface="楷体_GB2312" pitchFamily="49" charset="-122"/>
                <a:cs typeface="+mn-cs"/>
              </a:defRPr>
            </a:lvl1pPr>
          </a:lstStyle>
          <a:p>
            <a:pPr>
              <a:defRPr/>
            </a:pPr>
            <a:fld id="{6EACEB78-415B-4A02-BE33-D2D3C014012F}" type="datetimeFigureOut">
              <a:rPr lang="zh-CN" altLang="en-US"/>
              <a:pPr>
                <a:defRPr/>
              </a:pPr>
              <a:t>2026/9/22</a:t>
            </a:fld>
            <a:endParaRPr lang="zh-CN" altLang="en-US"/>
          </a:p>
        </p:txBody>
      </p:sp>
      <p:sp>
        <p:nvSpPr>
          <p:cNvPr id="4" name="幻灯片图像占位符 3">
            <a:extLst>
              <a:ext uri="{FF2B5EF4-FFF2-40B4-BE49-F238E27FC236}">
                <a16:creationId xmlns:a16="http://schemas.microsoft.com/office/drawing/2014/main" id="{EC84BDBF-9A7B-482C-AA46-1CB688EBCD28}"/>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93F7A02F-23DE-4047-8028-ED327BE7962A}"/>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5BFD459D-5D7B-43D9-A693-EE7470957D54}"/>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ea typeface="楷体_GB2312" pitchFamily="49" charset="-122"/>
                <a:cs typeface="+mn-cs"/>
              </a:defRPr>
            </a:lvl1pPr>
          </a:lstStyle>
          <a:p>
            <a:pPr>
              <a:defRPr/>
            </a:pPr>
            <a:endParaRPr lang="zh-CN" altLang="en-US"/>
          </a:p>
        </p:txBody>
      </p:sp>
      <p:sp>
        <p:nvSpPr>
          <p:cNvPr id="7" name="灯片编号占位符 6">
            <a:extLst>
              <a:ext uri="{FF2B5EF4-FFF2-40B4-BE49-F238E27FC236}">
                <a16:creationId xmlns:a16="http://schemas.microsoft.com/office/drawing/2014/main" id="{3593B0E7-7820-44D7-BF35-9895C5B40A98}"/>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2D76A890-7C90-4642-A290-690AA85DBCEA}"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en.wikipedia.org/wiki/Calcitriol"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a:extLst>
              <a:ext uri="{FF2B5EF4-FFF2-40B4-BE49-F238E27FC236}">
                <a16:creationId xmlns:a16="http://schemas.microsoft.com/office/drawing/2014/main" id="{925F8673-58A7-4066-94EC-4643D48B9CE1}"/>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备注占位符 2">
            <a:extLst>
              <a:ext uri="{FF2B5EF4-FFF2-40B4-BE49-F238E27FC236}">
                <a16:creationId xmlns:a16="http://schemas.microsoft.com/office/drawing/2014/main" id="{3C56AF24-384D-4EA7-A829-BD03EA12503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10244" name="灯片编号占位符 3">
            <a:extLst>
              <a:ext uri="{FF2B5EF4-FFF2-40B4-BE49-F238E27FC236}">
                <a16:creationId xmlns:a16="http://schemas.microsoft.com/office/drawing/2014/main" id="{215AAD41-4DAC-4532-B5C1-7E4D5A65E19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CA1899FF-96AE-4716-AF86-B9E11ADDC071}" type="slidenum">
              <a:rPr lang="zh-CN" altLang="en-US" smtClean="0">
                <a:solidFill>
                  <a:schemeClr val="bg1"/>
                </a:solidFill>
                <a:latin typeface="Times New Roman" panose="02020603050405020304" pitchFamily="18" charset="0"/>
                <a:ea typeface="楷体_GB2312" pitchFamily="49" charset="-122"/>
              </a:rPr>
              <a:pPr>
                <a:spcBef>
                  <a:spcPct val="0"/>
                </a:spcBef>
              </a:pPr>
              <a:t>1</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a:extLst>
              <a:ext uri="{FF2B5EF4-FFF2-40B4-BE49-F238E27FC236}">
                <a16:creationId xmlns:a16="http://schemas.microsoft.com/office/drawing/2014/main" id="{167B1901-956A-4CB0-B308-736CD42FD08C}"/>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a:extLst>
              <a:ext uri="{FF2B5EF4-FFF2-40B4-BE49-F238E27FC236}">
                <a16:creationId xmlns:a16="http://schemas.microsoft.com/office/drawing/2014/main" id="{AC7E721C-3A7A-468C-A003-00541C1ED49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t>Winter outbreaks of scurvy in Europe were gradually eliminated in the nineteenth century as the cultivation of the potato, introduced from South America, became widespread.</a:t>
            </a:r>
          </a:p>
          <a:p>
            <a:endParaRPr lang="en-US" altLang="zh-CN" dirty="0"/>
          </a:p>
          <a:p>
            <a:r>
              <a:rPr lang="zh-CN" altLang="en-US" dirty="0"/>
              <a:t>历史上有名的维生素缺乏症：</a:t>
            </a:r>
          </a:p>
          <a:p>
            <a:r>
              <a:rPr lang="en-US" altLang="zh-CN" dirty="0"/>
              <a:t>thiamine (B1</a:t>
            </a:r>
            <a:r>
              <a:rPr lang="zh-CN" altLang="en-US" dirty="0"/>
              <a:t>，缺乏致</a:t>
            </a:r>
            <a:r>
              <a:rPr lang="en-US" altLang="zh-CN" dirty="0"/>
              <a:t>beriberi </a:t>
            </a:r>
            <a:r>
              <a:rPr lang="zh-CN" altLang="en-US" dirty="0"/>
              <a:t>脚气病</a:t>
            </a:r>
            <a:r>
              <a:rPr lang="en-US" altLang="zh-CN" dirty="0"/>
              <a:t>)</a:t>
            </a:r>
          </a:p>
          <a:p>
            <a:r>
              <a:rPr lang="en-US" altLang="zh-CN" dirty="0"/>
              <a:t>niacin (</a:t>
            </a:r>
            <a:r>
              <a:rPr lang="zh-CN" altLang="en-US" dirty="0"/>
              <a:t>烟酸，</a:t>
            </a:r>
            <a:r>
              <a:rPr lang="en-US" altLang="zh-CN" dirty="0"/>
              <a:t>B3</a:t>
            </a:r>
            <a:r>
              <a:rPr lang="zh-CN" altLang="en-US" dirty="0"/>
              <a:t>，缺乏致</a:t>
            </a:r>
            <a:r>
              <a:rPr lang="en-US" altLang="zh-CN" dirty="0"/>
              <a:t>pellagra </a:t>
            </a:r>
            <a:r>
              <a:rPr lang="zh-CN" altLang="en-US" dirty="0"/>
              <a:t>糙皮病</a:t>
            </a:r>
            <a:r>
              <a:rPr lang="en-US" altLang="zh-CN" dirty="0"/>
              <a:t>),</a:t>
            </a:r>
          </a:p>
          <a:p>
            <a:r>
              <a:rPr lang="en-US" altLang="zh-CN" dirty="0"/>
              <a:t>vitamin C (</a:t>
            </a:r>
            <a:r>
              <a:rPr lang="zh-CN" altLang="en-US" dirty="0"/>
              <a:t>缺乏致 </a:t>
            </a:r>
            <a:r>
              <a:rPr lang="en-US" altLang="zh-CN" dirty="0"/>
              <a:t>scurvy </a:t>
            </a:r>
            <a:r>
              <a:rPr lang="zh-CN" altLang="en-US" dirty="0"/>
              <a:t>坏血症</a:t>
            </a:r>
            <a:r>
              <a:rPr lang="en-US" altLang="zh-CN" dirty="0"/>
              <a:t>), </a:t>
            </a:r>
          </a:p>
          <a:p>
            <a:r>
              <a:rPr lang="en-US" altLang="zh-CN" dirty="0"/>
              <a:t>vitamin D (</a:t>
            </a:r>
            <a:r>
              <a:rPr lang="zh-CN" altLang="en-US" dirty="0"/>
              <a:t>缺乏致 </a:t>
            </a:r>
            <a:r>
              <a:rPr lang="en-US" altLang="zh-CN" dirty="0"/>
              <a:t>rickets</a:t>
            </a:r>
            <a:r>
              <a:rPr lang="zh-CN" altLang="en-US" dirty="0"/>
              <a:t>软骨病，佝偻病</a:t>
            </a:r>
            <a:r>
              <a:rPr lang="en-US" altLang="zh-CN" dirty="0"/>
              <a:t>).</a:t>
            </a:r>
          </a:p>
          <a:p>
            <a:endParaRPr lang="zh-CN" altLang="en-US" dirty="0"/>
          </a:p>
        </p:txBody>
      </p:sp>
      <p:sp>
        <p:nvSpPr>
          <p:cNvPr id="12292" name="灯片编号占位符 3">
            <a:extLst>
              <a:ext uri="{FF2B5EF4-FFF2-40B4-BE49-F238E27FC236}">
                <a16:creationId xmlns:a16="http://schemas.microsoft.com/office/drawing/2014/main" id="{EDD88677-578A-4768-9768-709DDFA1A0C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AD5AACC6-A592-4808-8649-FBD29ED95BE4}" type="slidenum">
              <a:rPr lang="zh-CN" altLang="en-US" smtClean="0">
                <a:solidFill>
                  <a:schemeClr val="bg1"/>
                </a:solidFill>
                <a:latin typeface="Times New Roman" panose="02020603050405020304" pitchFamily="18" charset="0"/>
                <a:ea typeface="楷体_GB2312" pitchFamily="49" charset="-122"/>
              </a:rPr>
              <a:pPr>
                <a:spcBef>
                  <a:spcPct val="0"/>
                </a:spcBef>
              </a:pPr>
              <a:t>2</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a:extLst>
              <a:ext uri="{FF2B5EF4-FFF2-40B4-BE49-F238E27FC236}">
                <a16:creationId xmlns:a16="http://schemas.microsoft.com/office/drawing/2014/main" id="{AF788A11-F25C-4423-9A5D-3D2F3DAD7329}"/>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备注占位符 2">
            <a:extLst>
              <a:ext uri="{FF2B5EF4-FFF2-40B4-BE49-F238E27FC236}">
                <a16:creationId xmlns:a16="http://schemas.microsoft.com/office/drawing/2014/main" id="{A4E870DB-5AB4-46D0-8EC3-ADFE93538E0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zh-CN" dirty="0"/>
          </a:p>
        </p:txBody>
      </p:sp>
      <p:sp>
        <p:nvSpPr>
          <p:cNvPr id="26628" name="灯片编号占位符 3">
            <a:extLst>
              <a:ext uri="{FF2B5EF4-FFF2-40B4-BE49-F238E27FC236}">
                <a16:creationId xmlns:a16="http://schemas.microsoft.com/office/drawing/2014/main" id="{8B5175CC-804B-435F-9A12-8ACF33E9467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A19A7285-217F-4C9C-89F8-28B02F31A330}" type="slidenum">
              <a:rPr lang="zh-CN" altLang="en-US" smtClean="0">
                <a:solidFill>
                  <a:schemeClr val="bg1"/>
                </a:solidFill>
                <a:latin typeface="Times New Roman" panose="02020603050405020304" pitchFamily="18" charset="0"/>
                <a:ea typeface="楷体_GB2312" pitchFamily="49" charset="-122"/>
              </a:rPr>
              <a:pPr>
                <a:spcBef>
                  <a:spcPct val="0"/>
                </a:spcBef>
              </a:pPr>
              <a:t>3</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b="0" i="0" dirty="0">
                <a:solidFill>
                  <a:srgbClr val="202122"/>
                </a:solidFill>
                <a:effectLst/>
                <a:latin typeface="Arial" panose="020B0604020202020204" pitchFamily="34" charset="0"/>
              </a:rPr>
              <a:t>Some sources list fourteen vitamins, by including choline</a:t>
            </a:r>
            <a:r>
              <a:rPr lang="zh-CN" altLang="en-US" b="0" i="0" dirty="0">
                <a:solidFill>
                  <a:srgbClr val="202122"/>
                </a:solidFill>
                <a:effectLst/>
                <a:latin typeface="Arial" panose="020B0604020202020204" pitchFamily="34" charset="0"/>
              </a:rPr>
              <a:t>（胆碱）</a:t>
            </a:r>
            <a:r>
              <a:rPr lang="en-US" altLang="zh-CN" b="0" i="0" dirty="0">
                <a:solidFill>
                  <a:srgbClr val="202122"/>
                </a:solidFill>
                <a:effectLst/>
                <a:latin typeface="Arial" panose="020B0604020202020204" pitchFamily="34" charset="0"/>
              </a:rPr>
              <a:t>, but major health organizations list thirteen. </a:t>
            </a:r>
          </a:p>
          <a:p>
            <a:endParaRPr lang="en-US" altLang="zh-CN" b="0" i="0" dirty="0">
              <a:solidFill>
                <a:srgbClr val="202122"/>
              </a:solidFill>
              <a:effectLst/>
              <a:latin typeface="Arial" panose="020B0604020202020204" pitchFamily="34" charset="0"/>
            </a:endParaRPr>
          </a:p>
          <a:p>
            <a:r>
              <a:rPr lang="zh-CN" altLang="en-US" dirty="0"/>
              <a:t>在第一种维生素被发现之前，许多特定食物预防疾病的作用早已被古人发现</a:t>
            </a:r>
            <a:r>
              <a:rPr lang="en-US" altLang="zh-CN" dirty="0"/>
              <a:t>,</a:t>
            </a:r>
            <a:r>
              <a:rPr lang="zh-CN" altLang="en-US" dirty="0"/>
              <a:t>比如： 动物肝可以防治夜盲症</a:t>
            </a:r>
            <a:r>
              <a:rPr lang="en-US" altLang="zh-CN" dirty="0"/>
              <a:t>(</a:t>
            </a:r>
            <a:r>
              <a:rPr lang="zh-CN" altLang="en-US" dirty="0"/>
              <a:t>维生素</a:t>
            </a:r>
            <a:r>
              <a:rPr lang="en-US" altLang="zh-CN" dirty="0"/>
              <a:t>A); </a:t>
            </a:r>
            <a:r>
              <a:rPr lang="zh-CN" altLang="en-US" dirty="0"/>
              <a:t>用谷皮熬粥可以防治脚气病</a:t>
            </a:r>
            <a:r>
              <a:rPr lang="en-US" altLang="zh-CN" dirty="0"/>
              <a:t>(</a:t>
            </a:r>
            <a:r>
              <a:rPr lang="zh-CN" altLang="en-US" dirty="0"/>
              <a:t>维生素</a:t>
            </a:r>
            <a:r>
              <a:rPr lang="en-US" altLang="zh-CN" dirty="0"/>
              <a:t>B1)</a:t>
            </a:r>
          </a:p>
          <a:p>
            <a:endParaRPr lang="zh-CN" altLang="en-US" dirty="0"/>
          </a:p>
        </p:txBody>
      </p:sp>
      <p:sp>
        <p:nvSpPr>
          <p:cNvPr id="4" name="灯片编号占位符 3"/>
          <p:cNvSpPr>
            <a:spLocks noGrp="1"/>
          </p:cNvSpPr>
          <p:nvPr>
            <p:ph type="sldNum" sz="quarter" idx="5"/>
          </p:nvPr>
        </p:nvSpPr>
        <p:spPr/>
        <p:txBody>
          <a:bodyPr/>
          <a:lstStyle/>
          <a:p>
            <a:pPr>
              <a:defRPr/>
            </a:pPr>
            <a:fld id="{2D76A890-7C90-4642-A290-690AA85DBCEA}" type="slidenum">
              <a:rPr lang="zh-CN" altLang="en-US" smtClean="0"/>
              <a:pPr>
                <a:defRPr/>
              </a:pPr>
              <a:t>4</a:t>
            </a:fld>
            <a:endParaRPr lang="zh-CN" altLang="en-US"/>
          </a:p>
        </p:txBody>
      </p:sp>
    </p:spTree>
    <p:extLst>
      <p:ext uri="{BB962C8B-B14F-4D97-AF65-F5344CB8AC3E}">
        <p14:creationId xmlns:p14="http://schemas.microsoft.com/office/powerpoint/2010/main" val="3630030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58C9F5B6-CDA2-45AB-A573-876BA27284A7}"/>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备注占位符 2">
            <a:extLst>
              <a:ext uri="{FF2B5EF4-FFF2-40B4-BE49-F238E27FC236}">
                <a16:creationId xmlns:a16="http://schemas.microsoft.com/office/drawing/2014/main" id="{BEDA17F5-54D8-4E23-9AA8-322CEAE641F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那些在少数物种或特定条件下符合维生素的标准，而不具备维生素所有特征的其他一些因子称为</a:t>
            </a:r>
            <a:r>
              <a:rPr lang="zh-CN" altLang="en-US" b="1" dirty="0"/>
              <a:t>类维生素</a:t>
            </a:r>
            <a:r>
              <a:rPr lang="zh-CN" altLang="en-US" dirty="0"/>
              <a:t>，如胆碱、肉毒碱、肌醇、泛醌（辅酶</a:t>
            </a:r>
            <a:r>
              <a:rPr lang="en-US" altLang="zh-CN" dirty="0"/>
              <a:t>Q）、</a:t>
            </a:r>
            <a:r>
              <a:rPr lang="zh-CN" altLang="en-US" dirty="0"/>
              <a:t>黄酮类、​吡咯喹啉醌</a:t>
            </a:r>
            <a:r>
              <a:rPr lang="en-US" altLang="zh-CN" dirty="0"/>
              <a:t>(PQQ)</a:t>
            </a:r>
            <a:r>
              <a:rPr lang="zh-CN" altLang="en-US" dirty="0"/>
              <a:t>等。 </a:t>
            </a:r>
            <a:endParaRPr lang="en-US" altLang="zh-CN" b="1" dirty="0"/>
          </a:p>
        </p:txBody>
      </p:sp>
      <p:sp>
        <p:nvSpPr>
          <p:cNvPr id="28676" name="灯片编号占位符 3">
            <a:extLst>
              <a:ext uri="{FF2B5EF4-FFF2-40B4-BE49-F238E27FC236}">
                <a16:creationId xmlns:a16="http://schemas.microsoft.com/office/drawing/2014/main" id="{E2456C5F-EA07-43FF-B824-FE5BE62D7FF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DA1A623C-C237-480C-9D6C-C2BF2B9ECBC1}" type="slidenum">
              <a:rPr lang="zh-CN" altLang="en-US" smtClean="0">
                <a:solidFill>
                  <a:schemeClr val="bg1"/>
                </a:solidFill>
                <a:latin typeface="Times New Roman" panose="02020603050405020304" pitchFamily="18" charset="0"/>
                <a:ea typeface="楷体_GB2312" pitchFamily="49" charset="-122"/>
              </a:rPr>
              <a:pPr>
                <a:spcBef>
                  <a:spcPct val="0"/>
                </a:spcBef>
              </a:pPr>
              <a:t>5</a:t>
            </a:fld>
            <a:endParaRPr lang="en-US" altLang="zh-CN">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a:extLst>
              <a:ext uri="{FF2B5EF4-FFF2-40B4-BE49-F238E27FC236}">
                <a16:creationId xmlns:a16="http://schemas.microsoft.com/office/drawing/2014/main" id="{098ECDBB-101F-46E7-B0DB-90DB345AE816}"/>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备注占位符 2">
            <a:extLst>
              <a:ext uri="{FF2B5EF4-FFF2-40B4-BE49-F238E27FC236}">
                <a16:creationId xmlns:a16="http://schemas.microsoft.com/office/drawing/2014/main" id="{A05A61CC-3C67-4678-9513-2D17877590C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br>
              <a:rPr lang="zh-CN" altLang="en-US" dirty="0"/>
            </a:br>
            <a:endParaRPr lang="en-US" altLang="zh-CN" dirty="0"/>
          </a:p>
          <a:p>
            <a:endParaRPr lang="en-US" altLang="zh-CN" dirty="0">
              <a:solidFill>
                <a:srgbClr val="202122"/>
              </a:solidFill>
              <a:latin typeface="Arial" panose="020B0604020202020204" pitchFamily="34" charset="0"/>
            </a:endParaRPr>
          </a:p>
        </p:txBody>
      </p:sp>
      <p:sp>
        <p:nvSpPr>
          <p:cNvPr id="30724" name="灯片编号占位符 3">
            <a:extLst>
              <a:ext uri="{FF2B5EF4-FFF2-40B4-BE49-F238E27FC236}">
                <a16:creationId xmlns:a16="http://schemas.microsoft.com/office/drawing/2014/main" id="{B0DEB509-40B6-4E34-861D-57DA3A77E47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8E751A5C-810A-4CF3-87BD-D5368F7B0691}" type="slidenum">
              <a:rPr lang="zh-CN" altLang="en-US" smtClean="0">
                <a:solidFill>
                  <a:schemeClr val="bg1"/>
                </a:solidFill>
                <a:latin typeface="Times New Roman" panose="02020603050405020304" pitchFamily="18" charset="0"/>
                <a:ea typeface="楷体_GB2312" pitchFamily="49" charset="-122"/>
              </a:rPr>
              <a:pPr>
                <a:spcBef>
                  <a:spcPct val="0"/>
                </a:spcBef>
              </a:pPr>
              <a:t>6</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D76A890-7C90-4642-A290-690AA85DBCEA}" type="slidenum">
              <a:rPr lang="zh-CN" altLang="en-US" smtClean="0"/>
              <a:pPr>
                <a:defRPr/>
              </a:pPr>
              <a:t>7</a:t>
            </a:fld>
            <a:endParaRPr lang="zh-CN" altLang="en-US"/>
          </a:p>
        </p:txBody>
      </p:sp>
    </p:spTree>
    <p:extLst>
      <p:ext uri="{BB962C8B-B14F-4D97-AF65-F5344CB8AC3E}">
        <p14:creationId xmlns:p14="http://schemas.microsoft.com/office/powerpoint/2010/main" val="29068009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D76A890-7C90-4642-A290-690AA85DBCEA}" type="slidenum">
              <a:rPr lang="zh-CN" altLang="en-US" smtClean="0"/>
              <a:pPr>
                <a:defRPr/>
              </a:pPr>
              <a:t>8</a:t>
            </a:fld>
            <a:endParaRPr lang="zh-CN" altLang="en-US"/>
          </a:p>
        </p:txBody>
      </p:sp>
    </p:spTree>
    <p:extLst>
      <p:ext uri="{BB962C8B-B14F-4D97-AF65-F5344CB8AC3E}">
        <p14:creationId xmlns:p14="http://schemas.microsoft.com/office/powerpoint/2010/main" val="1467382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a:extLst>
              <a:ext uri="{FF2B5EF4-FFF2-40B4-BE49-F238E27FC236}">
                <a16:creationId xmlns:a16="http://schemas.microsoft.com/office/drawing/2014/main" id="{2960D476-4AD2-4E67-8A39-269D27783D8B}"/>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备注占位符 2">
            <a:extLst>
              <a:ext uri="{FF2B5EF4-FFF2-40B4-BE49-F238E27FC236}">
                <a16:creationId xmlns:a16="http://schemas.microsoft.com/office/drawing/2014/main" id="{BD8548D9-A870-4DDA-A2F0-92B848F2D66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32772" name="灯片编号占位符 3">
            <a:extLst>
              <a:ext uri="{FF2B5EF4-FFF2-40B4-BE49-F238E27FC236}">
                <a16:creationId xmlns:a16="http://schemas.microsoft.com/office/drawing/2014/main" id="{60E75E02-ABEC-4550-A46F-E908E6880F1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3F60F021-CF06-4530-B62D-24FA027395EF}" type="slidenum">
              <a:rPr lang="zh-CN" altLang="en-US" smtClean="0">
                <a:solidFill>
                  <a:schemeClr val="bg1"/>
                </a:solidFill>
                <a:latin typeface="Times New Roman" panose="02020603050405020304" pitchFamily="18" charset="0"/>
                <a:ea typeface="楷体_GB2312" pitchFamily="49" charset="-122"/>
              </a:rPr>
              <a:pPr>
                <a:spcBef>
                  <a:spcPct val="0"/>
                </a:spcBef>
              </a:pPr>
              <a:t>9</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D76A890-7C90-4642-A290-690AA85DBCEA}" type="slidenum">
              <a:rPr lang="zh-CN" altLang="en-US" smtClean="0"/>
              <a:pPr>
                <a:defRPr/>
              </a:pPr>
              <a:t>10</a:t>
            </a:fld>
            <a:endParaRPr lang="zh-CN" altLang="en-US"/>
          </a:p>
        </p:txBody>
      </p:sp>
    </p:spTree>
    <p:extLst>
      <p:ext uri="{BB962C8B-B14F-4D97-AF65-F5344CB8AC3E}">
        <p14:creationId xmlns:p14="http://schemas.microsoft.com/office/powerpoint/2010/main" val="6971330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D76A890-7C90-4642-A290-690AA85DBCEA}" type="slidenum">
              <a:rPr lang="zh-CN" altLang="en-US" smtClean="0"/>
              <a:pPr>
                <a:defRPr/>
              </a:pPr>
              <a:t>11</a:t>
            </a:fld>
            <a:endParaRPr lang="zh-CN" altLang="en-US"/>
          </a:p>
        </p:txBody>
      </p:sp>
    </p:spTree>
    <p:extLst>
      <p:ext uri="{BB962C8B-B14F-4D97-AF65-F5344CB8AC3E}">
        <p14:creationId xmlns:p14="http://schemas.microsoft.com/office/powerpoint/2010/main" val="38182088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556A3E75-83DE-4C4E-91D0-1FF15F9AA345}"/>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99A87B40-F6A0-4C78-9733-8DE49D2E23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pt-BR" altLang="zh-CN" dirty="0">
                <a:latin typeface="宋体" panose="02010600030101010101" pitchFamily="2" charset="-122"/>
              </a:rPr>
              <a:t> A2</a:t>
            </a:r>
            <a:r>
              <a:rPr lang="zh-CN" altLang="pt-BR" dirty="0">
                <a:latin typeface="宋体" panose="02010600030101010101" pitchFamily="2" charset="-122"/>
              </a:rPr>
              <a:t>活性只有</a:t>
            </a:r>
            <a:r>
              <a:rPr lang="pt-BR" altLang="zh-CN" dirty="0">
                <a:latin typeface="宋体" panose="02010600030101010101" pitchFamily="2" charset="-122"/>
              </a:rPr>
              <a:t>A1</a:t>
            </a:r>
            <a:r>
              <a:rPr lang="zh-CN" altLang="pt-BR" dirty="0">
                <a:latin typeface="宋体" panose="02010600030101010101" pitchFamily="2" charset="-122"/>
              </a:rPr>
              <a:t>的一半</a:t>
            </a:r>
            <a:endParaRPr lang="en-US" altLang="zh-CN" dirty="0">
              <a:latin typeface="宋体" panose="02010600030101010101" pitchFamily="2" charset="-122"/>
            </a:endParaRPr>
          </a:p>
          <a:p>
            <a:pPr eaLnBrk="1" hangingPunct="1"/>
            <a:r>
              <a:rPr lang="zh-CN" altLang="en-US" dirty="0">
                <a:latin typeface="宋体" panose="02010600030101010101" pitchFamily="2" charset="-122"/>
              </a:rPr>
              <a:t>维生素</a:t>
            </a:r>
            <a:r>
              <a:rPr lang="en-US" altLang="zh-CN" dirty="0">
                <a:latin typeface="Times New Roman" panose="02020603050405020304" pitchFamily="18" charset="0"/>
                <a:cs typeface="Times New Roman" panose="02020603050405020304" pitchFamily="18" charset="0"/>
              </a:rPr>
              <a:t>A</a:t>
            </a:r>
            <a:r>
              <a:rPr lang="zh-CN" altLang="en-US" dirty="0">
                <a:latin typeface="宋体" panose="02010600030101010101" pitchFamily="2" charset="-122"/>
              </a:rPr>
              <a:t>的侧链含有</a:t>
            </a:r>
            <a:r>
              <a:rPr lang="en-US" altLang="zh-CN" dirty="0">
                <a:latin typeface="Times New Roman" panose="02020603050405020304" pitchFamily="18" charset="0"/>
                <a:cs typeface="Times New Roman" panose="02020603050405020304" pitchFamily="18" charset="0"/>
              </a:rPr>
              <a:t>4</a:t>
            </a:r>
            <a:r>
              <a:rPr lang="zh-CN" altLang="en-US" dirty="0">
                <a:latin typeface="宋体" panose="02010600030101010101" pitchFamily="2" charset="-122"/>
              </a:rPr>
              <a:t>个双链，故可形成多种顺反异构体</a:t>
            </a:r>
            <a:r>
              <a:rPr lang="zh-CN" altLang="en-US" dirty="0"/>
              <a:t> 。</a:t>
            </a:r>
          </a:p>
          <a:p>
            <a:endParaRPr lang="en-US" altLang="zh-CN" dirty="0"/>
          </a:p>
          <a:p>
            <a:r>
              <a:rPr lang="zh-CN" altLang="en-US" dirty="0"/>
              <a:t>自然界大约有</a:t>
            </a:r>
            <a:r>
              <a:rPr lang="en-US" altLang="zh-CN" dirty="0"/>
              <a:t>100</a:t>
            </a:r>
            <a:r>
              <a:rPr lang="zh-CN" altLang="en-US" dirty="0"/>
              <a:t>种化学结构与</a:t>
            </a:r>
            <a:r>
              <a:rPr lang="en-US" altLang="zh-CN" dirty="0"/>
              <a:t>β</a:t>
            </a:r>
            <a:r>
              <a:rPr lang="zh-CN" altLang="en-US" dirty="0"/>
              <a:t>胡萝卜素相似的</a:t>
            </a:r>
            <a:r>
              <a:rPr lang="zh-CN" altLang="en-US" b="1" dirty="0"/>
              <a:t>类胡萝卜素</a:t>
            </a:r>
            <a:r>
              <a:rPr lang="en-US" altLang="zh-CN" b="1" dirty="0"/>
              <a:t>(carotenoids)</a:t>
            </a:r>
            <a:r>
              <a:rPr lang="zh-CN" altLang="en-US" dirty="0"/>
              <a:t>． 但</a:t>
            </a:r>
            <a:r>
              <a:rPr lang="zh-CN" altLang="en-US" b="1" dirty="0"/>
              <a:t>转化当量只有六分之一 </a:t>
            </a:r>
            <a:endParaRPr lang="en-US" altLang="zh-CN" b="1" dirty="0"/>
          </a:p>
          <a:p>
            <a:endParaRPr lang="en-US" altLang="zh-CN" dirty="0"/>
          </a:p>
        </p:txBody>
      </p:sp>
      <p:sp>
        <p:nvSpPr>
          <p:cNvPr id="35844" name="灯片编号占位符 3">
            <a:extLst>
              <a:ext uri="{FF2B5EF4-FFF2-40B4-BE49-F238E27FC236}">
                <a16:creationId xmlns:a16="http://schemas.microsoft.com/office/drawing/2014/main" id="{7CCC9969-E0C2-4742-B4E5-D243B4913C1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59158BE-292D-458D-93B1-7278542E0E89}" type="slidenum">
              <a:rPr lang="zh-CN" altLang="en-US" smtClean="0">
                <a:solidFill>
                  <a:schemeClr val="bg1"/>
                </a:solidFill>
                <a:latin typeface="Times New Roman" panose="02020603050405020304" pitchFamily="18" charset="0"/>
                <a:ea typeface="楷体_GB2312" pitchFamily="49" charset="-122"/>
              </a:rPr>
              <a:pPr>
                <a:spcBef>
                  <a:spcPct val="0"/>
                </a:spcBef>
              </a:pPr>
              <a:t>12</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a:extLst>
              <a:ext uri="{FF2B5EF4-FFF2-40B4-BE49-F238E27FC236}">
                <a16:creationId xmlns:a16="http://schemas.microsoft.com/office/drawing/2014/main" id="{8FFE59CA-B6DF-4E3E-B563-F456E8A80CAF}"/>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备注占位符 2">
            <a:extLst>
              <a:ext uri="{FF2B5EF4-FFF2-40B4-BE49-F238E27FC236}">
                <a16:creationId xmlns:a16="http://schemas.microsoft.com/office/drawing/2014/main" id="{6C5C4E63-E55E-497E-AE20-8E421E308FFD}"/>
              </a:ext>
            </a:extLst>
          </p:cNvPr>
          <p:cNvSpPr>
            <a:spLocks noGrp="1"/>
          </p:cNvSpPr>
          <p:nvPr>
            <p:ph type="body" idx="1"/>
          </p:nvPr>
        </p:nvSpPr>
        <p:spPr bwMode="auto"/>
        <p:txBody>
          <a:bodyPr wrap="square" numCol="1" anchor="t" anchorCtr="0" compatLnSpc="1">
            <a:prstTxWarp prst="textNoShape">
              <a:avLst/>
            </a:prstTxWarp>
            <a:normAutofit/>
          </a:bodyPr>
          <a:lstStyle/>
          <a:p>
            <a:pPr>
              <a:defRPr/>
            </a:pPr>
            <a:r>
              <a:rPr lang="en-US" altLang="zh-CN" dirty="0"/>
              <a:t>β-</a:t>
            </a:r>
            <a:r>
              <a:rPr lang="zh-CN" altLang="en-US" dirty="0"/>
              <a:t>胡萝卜素在肠道被肠粘膜</a:t>
            </a:r>
            <a:r>
              <a:rPr lang="en-US" altLang="zh-CN" dirty="0"/>
              <a:t>β-</a:t>
            </a:r>
            <a:r>
              <a:rPr lang="zh-CN" altLang="en-US" dirty="0"/>
              <a:t>胡萝卜素加氧酶氧化生成</a:t>
            </a:r>
            <a:r>
              <a:rPr lang="en-US" altLang="zh-CN" dirty="0"/>
              <a:t>2</a:t>
            </a:r>
            <a:r>
              <a:rPr lang="zh-CN" altLang="en-US" dirty="0"/>
              <a:t>分子的视黄醇。</a:t>
            </a:r>
            <a:r>
              <a:rPr lang="zh-CN" altLang="en-US" dirty="0">
                <a:solidFill>
                  <a:srgbClr val="FFFF00"/>
                </a:solidFill>
              </a:rPr>
              <a:t>小肠黏膜平均分解</a:t>
            </a:r>
            <a:r>
              <a:rPr lang="en-US" altLang="zh-CN" dirty="0">
                <a:solidFill>
                  <a:srgbClr val="FFFF00"/>
                </a:solidFill>
              </a:rPr>
              <a:t>6 </a:t>
            </a:r>
            <a:r>
              <a:rPr lang="zh-CN" altLang="en-US" dirty="0">
                <a:solidFill>
                  <a:srgbClr val="FFFF00"/>
                </a:solidFill>
              </a:rPr>
              <a:t>分子</a:t>
            </a:r>
            <a:r>
              <a:rPr lang="en-US" altLang="zh-CN" dirty="0">
                <a:solidFill>
                  <a:srgbClr val="FFFF00"/>
                </a:solidFill>
              </a:rPr>
              <a:t>β- </a:t>
            </a:r>
            <a:r>
              <a:rPr lang="zh-CN" altLang="en-US" dirty="0">
                <a:solidFill>
                  <a:srgbClr val="FFFF00"/>
                </a:solidFill>
              </a:rPr>
              <a:t>胡萝卜素才能吸收</a:t>
            </a:r>
            <a:r>
              <a:rPr lang="en-US" altLang="zh-CN" dirty="0">
                <a:solidFill>
                  <a:srgbClr val="FFFF00"/>
                </a:solidFill>
              </a:rPr>
              <a:t>1 </a:t>
            </a:r>
            <a:r>
              <a:rPr lang="zh-CN" altLang="en-US" dirty="0">
                <a:solidFill>
                  <a:srgbClr val="FFFF00"/>
                </a:solidFill>
              </a:rPr>
              <a:t>分子视黄醇，即</a:t>
            </a:r>
            <a:r>
              <a:rPr lang="en-US" altLang="zh-CN" dirty="0">
                <a:solidFill>
                  <a:srgbClr val="FFFF00"/>
                </a:solidFill>
              </a:rPr>
              <a:t>β- </a:t>
            </a:r>
            <a:r>
              <a:rPr lang="zh-CN" altLang="en-US" dirty="0">
                <a:solidFill>
                  <a:srgbClr val="FFFF00"/>
                </a:solidFill>
              </a:rPr>
              <a:t>胡萝卜素转化为维生素</a:t>
            </a:r>
            <a:r>
              <a:rPr lang="en-US" altLang="zh-CN" dirty="0">
                <a:solidFill>
                  <a:srgbClr val="FFFF00"/>
                </a:solidFill>
              </a:rPr>
              <a:t>A </a:t>
            </a:r>
            <a:r>
              <a:rPr lang="zh-CN" altLang="en-US" dirty="0">
                <a:solidFill>
                  <a:srgbClr val="FFFF00"/>
                </a:solidFill>
              </a:rPr>
              <a:t>的转化当量仅为</a:t>
            </a:r>
            <a:r>
              <a:rPr lang="en-US" altLang="zh-CN" dirty="0">
                <a:solidFill>
                  <a:srgbClr val="FFFF00"/>
                </a:solidFill>
              </a:rPr>
              <a:t>1/6</a:t>
            </a:r>
            <a:r>
              <a:rPr lang="zh-CN" altLang="en-US" dirty="0">
                <a:solidFill>
                  <a:srgbClr val="FFFF00"/>
                </a:solidFill>
              </a:rPr>
              <a:t>。</a:t>
            </a:r>
            <a:endParaRPr lang="en-US" altLang="zh-CN" dirty="0">
              <a:solidFill>
                <a:srgbClr val="FFFF00"/>
              </a:solidFill>
            </a:endParaRPr>
          </a:p>
          <a:p>
            <a:pPr>
              <a:defRPr/>
            </a:pPr>
            <a:endParaRPr lang="en-US" altLang="zh-CN" dirty="0"/>
          </a:p>
          <a:p>
            <a:pPr>
              <a:defRPr/>
            </a:pPr>
            <a:endParaRPr lang="en-US" altLang="zh-CN" dirty="0"/>
          </a:p>
        </p:txBody>
      </p:sp>
      <p:sp>
        <p:nvSpPr>
          <p:cNvPr id="41988" name="灯片编号占位符 3">
            <a:extLst>
              <a:ext uri="{FF2B5EF4-FFF2-40B4-BE49-F238E27FC236}">
                <a16:creationId xmlns:a16="http://schemas.microsoft.com/office/drawing/2014/main" id="{97EC56E3-6E70-4389-B804-E85029931B7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239F2598-46D7-4217-A550-570F1E71A27D}" type="slidenum">
              <a:rPr lang="zh-CN" altLang="en-US" smtClean="0">
                <a:solidFill>
                  <a:schemeClr val="bg1"/>
                </a:solidFill>
                <a:latin typeface="Times New Roman" panose="02020603050405020304" pitchFamily="18" charset="0"/>
                <a:ea typeface="楷体_GB2312" pitchFamily="49" charset="-122"/>
              </a:rPr>
              <a:pPr>
                <a:spcBef>
                  <a:spcPct val="0"/>
                </a:spcBef>
              </a:pPr>
              <a:t>13</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D7CD4F95-7CF6-42DB-8444-EEBC33D39820}"/>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3FD16DD1-F12F-422C-92D6-9DF0B826447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sz="1800" dirty="0">
              <a:latin typeface="Helvetica" panose="020B0604020202020204" pitchFamily="34" charset="0"/>
            </a:endParaRPr>
          </a:p>
        </p:txBody>
      </p:sp>
      <p:sp>
        <p:nvSpPr>
          <p:cNvPr id="37892" name="灯片编号占位符 3">
            <a:extLst>
              <a:ext uri="{FF2B5EF4-FFF2-40B4-BE49-F238E27FC236}">
                <a16:creationId xmlns:a16="http://schemas.microsoft.com/office/drawing/2014/main" id="{14A7C564-DCF8-4BDD-8D27-4C87ACC3397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bg1"/>
                </a:solidFill>
                <a:latin typeface="Times New Roman" panose="02020603050405020304" pitchFamily="18" charset="0"/>
                <a:ea typeface="楷体_GB2312" pitchFamily="49" charset="-122"/>
              </a:defRPr>
            </a:lvl1pPr>
            <a:lvl2pPr marL="742950" indent="-285750">
              <a:defRPr kumimoji="1" sz="3200" b="1">
                <a:solidFill>
                  <a:schemeClr val="bg1"/>
                </a:solidFill>
                <a:latin typeface="Times New Roman" panose="02020603050405020304" pitchFamily="18" charset="0"/>
                <a:ea typeface="楷体_GB2312" pitchFamily="49" charset="-122"/>
              </a:defRPr>
            </a:lvl2pPr>
            <a:lvl3pPr marL="1143000" indent="-228600">
              <a:defRPr kumimoji="1" sz="3200" b="1">
                <a:solidFill>
                  <a:schemeClr val="bg1"/>
                </a:solidFill>
                <a:latin typeface="Times New Roman" panose="02020603050405020304" pitchFamily="18" charset="0"/>
                <a:ea typeface="楷体_GB2312" pitchFamily="49" charset="-122"/>
              </a:defRPr>
            </a:lvl3pPr>
            <a:lvl4pPr marL="1600200" indent="-228600">
              <a:defRPr kumimoji="1" sz="3200" b="1">
                <a:solidFill>
                  <a:schemeClr val="bg1"/>
                </a:solidFill>
                <a:latin typeface="Times New Roman" panose="02020603050405020304" pitchFamily="18" charset="0"/>
                <a:ea typeface="楷体_GB2312" pitchFamily="49" charset="-122"/>
              </a:defRPr>
            </a:lvl4pPr>
            <a:lvl5pPr marL="2057400" indent="-228600">
              <a:defRPr kumimoji="1" sz="3200" b="1">
                <a:solidFill>
                  <a:schemeClr val="bg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9pPr>
          </a:lstStyle>
          <a:p>
            <a:fld id="{1B21C4F0-A779-43B7-9A1A-AAD0CA678392}" type="slidenum">
              <a:rPr lang="zh-CN" altLang="en-US" sz="1200" smtClean="0"/>
              <a:pPr/>
              <a:t>14</a:t>
            </a:fld>
            <a:endParaRPr lang="zh-CN" alt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视网膜内所有感光物质都由</a:t>
            </a:r>
            <a:r>
              <a:rPr lang="en-US" altLang="zh-CN" dirty="0"/>
              <a:t>11-</a:t>
            </a:r>
            <a:r>
              <a:rPr lang="zh-CN" altLang="en-US" dirty="0"/>
              <a:t>顺视黄醛与相应视蛋白生成，只是视紫红质的周转极快，对视黄醛的消耗最多，故维</a:t>
            </a:r>
            <a:r>
              <a:rPr lang="en-US" altLang="zh-CN" dirty="0"/>
              <a:t>A</a:t>
            </a:r>
            <a:r>
              <a:rPr lang="zh-CN" altLang="en-US" dirty="0"/>
              <a:t>缺乏时最敏感，最早的症状就是夜盲症。 </a:t>
            </a:r>
            <a:endParaRPr lang="en-US" altLang="zh-CN" dirty="0"/>
          </a:p>
        </p:txBody>
      </p:sp>
      <p:sp>
        <p:nvSpPr>
          <p:cNvPr id="4" name="灯片编号占位符 3"/>
          <p:cNvSpPr>
            <a:spLocks noGrp="1"/>
          </p:cNvSpPr>
          <p:nvPr>
            <p:ph type="sldNum" sz="quarter" idx="5"/>
          </p:nvPr>
        </p:nvSpPr>
        <p:spPr/>
        <p:txBody>
          <a:bodyPr/>
          <a:lstStyle/>
          <a:p>
            <a:pPr>
              <a:defRPr/>
            </a:pPr>
            <a:fld id="{2D76A890-7C90-4642-A290-690AA85DBCEA}" type="slidenum">
              <a:rPr lang="zh-CN" altLang="en-US" smtClean="0"/>
              <a:pPr>
                <a:defRPr/>
              </a:pPr>
              <a:t>15</a:t>
            </a:fld>
            <a:endParaRPr lang="zh-CN" altLang="en-US"/>
          </a:p>
        </p:txBody>
      </p:sp>
    </p:spTree>
    <p:extLst>
      <p:ext uri="{BB962C8B-B14F-4D97-AF65-F5344CB8AC3E}">
        <p14:creationId xmlns:p14="http://schemas.microsoft.com/office/powerpoint/2010/main" val="39263401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72D5F-D1CB-6C58-48E1-AAFDB4BA1E4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0A63C2-C5ED-1FB1-BA93-FFE4A32EE56F}"/>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544D6210-083E-58EB-E3E7-D29FCAC4C25D}"/>
              </a:ext>
            </a:extLst>
          </p:cNvPr>
          <p:cNvSpPr>
            <a:spLocks noGrp="1"/>
          </p:cNvSpPr>
          <p:nvPr>
            <p:ph type="body" idx="1"/>
          </p:nvPr>
        </p:nvSpPr>
        <p:spPr/>
        <p:txBody>
          <a:bodyPr/>
          <a:lstStyle/>
          <a:p>
            <a:r>
              <a:rPr lang="zh-CN" altLang="en-US" dirty="0"/>
              <a:t>视黄酸，又称维甲酸，有着广泛的生理学和药理学活性， </a:t>
            </a:r>
          </a:p>
          <a:p>
            <a:endParaRPr lang="en-US" altLang="zh-CN" dirty="0"/>
          </a:p>
        </p:txBody>
      </p:sp>
      <p:sp>
        <p:nvSpPr>
          <p:cNvPr id="4" name="灯片编号占位符 3">
            <a:extLst>
              <a:ext uri="{FF2B5EF4-FFF2-40B4-BE49-F238E27FC236}">
                <a16:creationId xmlns:a16="http://schemas.microsoft.com/office/drawing/2014/main" id="{7072C9E5-FE37-B774-A052-F9F0C98E16C7}"/>
              </a:ext>
            </a:extLst>
          </p:cNvPr>
          <p:cNvSpPr>
            <a:spLocks noGrp="1"/>
          </p:cNvSpPr>
          <p:nvPr>
            <p:ph type="sldNum" sz="quarter" idx="5"/>
          </p:nvPr>
        </p:nvSpPr>
        <p:spPr/>
        <p:txBody>
          <a:bodyPr/>
          <a:lstStyle/>
          <a:p>
            <a:pPr>
              <a:defRPr/>
            </a:pPr>
            <a:fld id="{2D76A890-7C90-4642-A290-690AA85DBCEA}" type="slidenum">
              <a:rPr lang="zh-CN" altLang="en-US" smtClean="0"/>
              <a:pPr>
                <a:defRPr/>
              </a:pPr>
              <a:t>16</a:t>
            </a:fld>
            <a:endParaRPr lang="zh-CN" altLang="en-US"/>
          </a:p>
        </p:txBody>
      </p:sp>
    </p:spTree>
    <p:extLst>
      <p:ext uri="{BB962C8B-B14F-4D97-AF65-F5344CB8AC3E}">
        <p14:creationId xmlns:p14="http://schemas.microsoft.com/office/powerpoint/2010/main" val="21302162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09C9C-17D4-BEAD-DA4B-E430492F08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DF2A51-EC6A-1F5C-F66A-1814DBF2422E}"/>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A8CF0343-2882-2D25-23C9-077564F5AFE3}"/>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dirty="0">
                <a:solidFill>
                  <a:schemeClr val="tx1"/>
                </a:solidFill>
                <a:latin typeface="微软雅黑" panose="020B0503020204020204" pitchFamily="34" charset="-122"/>
                <a:ea typeface="微软雅黑" panose="020B0503020204020204" pitchFamily="34" charset="-122"/>
              </a:rPr>
              <a:t>如果维生素</a:t>
            </a:r>
            <a:r>
              <a:rPr lang="en-US" altLang="zh-CN" sz="1200" b="0" dirty="0">
                <a:solidFill>
                  <a:schemeClr val="tx1"/>
                </a:solidFill>
                <a:latin typeface="微软雅黑" panose="020B0503020204020204" pitchFamily="34" charset="-122"/>
                <a:ea typeface="微软雅黑" panose="020B0503020204020204" pitchFamily="34" charset="-122"/>
              </a:rPr>
              <a:t>A </a:t>
            </a:r>
            <a:r>
              <a:rPr lang="zh-CN" altLang="en-US" sz="1200" b="0" dirty="0">
                <a:solidFill>
                  <a:schemeClr val="tx1"/>
                </a:solidFill>
                <a:latin typeface="微软雅黑" panose="020B0503020204020204" pitchFamily="34" charset="-122"/>
                <a:ea typeface="微软雅黑" panose="020B0503020204020204" pitchFamily="34" charset="-122"/>
              </a:rPr>
              <a:t>的摄入量超过</a:t>
            </a:r>
            <a:r>
              <a:rPr lang="en-US" altLang="zh-CN" sz="1200" b="0" dirty="0">
                <a:solidFill>
                  <a:schemeClr val="tx1"/>
                </a:solidFill>
                <a:latin typeface="微软雅黑" panose="020B0503020204020204" pitchFamily="34" charset="-122"/>
                <a:ea typeface="微软雅黑" panose="020B0503020204020204" pitchFamily="34" charset="-122"/>
              </a:rPr>
              <a:t>RBP </a:t>
            </a:r>
            <a:r>
              <a:rPr lang="zh-CN" altLang="en-US" sz="1200" b="0" dirty="0">
                <a:solidFill>
                  <a:schemeClr val="tx1"/>
                </a:solidFill>
                <a:latin typeface="微软雅黑" panose="020B0503020204020204" pitchFamily="34" charset="-122"/>
                <a:ea typeface="微软雅黑" panose="020B0503020204020204" pitchFamily="34" charset="-122"/>
              </a:rPr>
              <a:t>的结合能力，游离的维生素</a:t>
            </a:r>
            <a:r>
              <a:rPr lang="en-US" altLang="zh-CN" sz="1200" b="0" dirty="0">
                <a:solidFill>
                  <a:schemeClr val="tx1"/>
                </a:solidFill>
                <a:latin typeface="微软雅黑" panose="020B0503020204020204" pitchFamily="34" charset="-122"/>
                <a:ea typeface="微软雅黑" panose="020B0503020204020204" pitchFamily="34" charset="-122"/>
              </a:rPr>
              <a:t>A</a:t>
            </a:r>
            <a:r>
              <a:rPr lang="zh-CN" altLang="en-US" sz="1200" b="0" dirty="0">
                <a:solidFill>
                  <a:schemeClr val="tx1"/>
                </a:solidFill>
                <a:latin typeface="微软雅黑" panose="020B0503020204020204" pitchFamily="34" charset="-122"/>
                <a:ea typeface="微软雅黑" panose="020B0503020204020204" pitchFamily="34" charset="-122"/>
              </a:rPr>
              <a:t>可通过破坏细胞膜、核膜以及线粒体和内质网等细胞器造成组织损伤。</a:t>
            </a:r>
            <a:endParaRPr lang="en-US" altLang="zh-CN" sz="1200" b="0" dirty="0">
              <a:solidFill>
                <a:schemeClr val="tx1"/>
              </a:solidFill>
              <a:latin typeface="微软雅黑" panose="020B0503020204020204" pitchFamily="34" charset="-122"/>
              <a:ea typeface="微软雅黑" panose="020B0503020204020204" pitchFamily="34" charset="-122"/>
            </a:endParaRPr>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成年人因有一定储备，通常在膳食摄入不足一段时间后才出现典型症状，婴幼儿体的维生素</a:t>
            </a:r>
            <a:r>
              <a:rPr lang="en-US" altLang="zh-CN" dirty="0"/>
              <a:t>A</a:t>
            </a:r>
            <a:r>
              <a:rPr lang="zh-CN" altLang="en-US" dirty="0"/>
              <a:t>储备少，摄入不足后容易发生缺乏症状。 </a:t>
            </a:r>
            <a:endParaRPr lang="en-US" altLang="zh-CN" dirty="0"/>
          </a:p>
          <a:p>
            <a:endParaRPr lang="en-US" altLang="zh-CN" dirty="0"/>
          </a:p>
        </p:txBody>
      </p:sp>
      <p:sp>
        <p:nvSpPr>
          <p:cNvPr id="4" name="灯片编号占位符 3">
            <a:extLst>
              <a:ext uri="{FF2B5EF4-FFF2-40B4-BE49-F238E27FC236}">
                <a16:creationId xmlns:a16="http://schemas.microsoft.com/office/drawing/2014/main" id="{65ACFC67-E87E-7C55-D853-6D5C4E7BBEEB}"/>
              </a:ext>
            </a:extLst>
          </p:cNvPr>
          <p:cNvSpPr>
            <a:spLocks noGrp="1"/>
          </p:cNvSpPr>
          <p:nvPr>
            <p:ph type="sldNum" sz="quarter" idx="5"/>
          </p:nvPr>
        </p:nvSpPr>
        <p:spPr/>
        <p:txBody>
          <a:bodyPr/>
          <a:lstStyle/>
          <a:p>
            <a:pPr>
              <a:defRPr/>
            </a:pPr>
            <a:fld id="{2D76A890-7C90-4642-A290-690AA85DBCEA}" type="slidenum">
              <a:rPr lang="zh-CN" altLang="en-US" smtClean="0"/>
              <a:pPr>
                <a:defRPr/>
              </a:pPr>
              <a:t>17</a:t>
            </a:fld>
            <a:endParaRPr lang="zh-CN" altLang="en-US"/>
          </a:p>
        </p:txBody>
      </p:sp>
    </p:spTree>
    <p:extLst>
      <p:ext uri="{BB962C8B-B14F-4D97-AF65-F5344CB8AC3E}">
        <p14:creationId xmlns:p14="http://schemas.microsoft.com/office/powerpoint/2010/main" val="30092723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a:extLst>
              <a:ext uri="{FF2B5EF4-FFF2-40B4-BE49-F238E27FC236}">
                <a16:creationId xmlns:a16="http://schemas.microsoft.com/office/drawing/2014/main" id="{6F12217D-CD9F-42C1-A1D1-D334208C72BE}"/>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备注占位符 2">
            <a:extLst>
              <a:ext uri="{FF2B5EF4-FFF2-40B4-BE49-F238E27FC236}">
                <a16:creationId xmlns:a16="http://schemas.microsoft.com/office/drawing/2014/main" id="{17AEE4DF-EAA6-4782-A1C7-0856CFB2DCB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altLang="zh-CN" sz="1200" b="0" dirty="0">
              <a:solidFill>
                <a:schemeClr val="tx1"/>
              </a:solidFill>
              <a:latin typeface="微软雅黑" panose="020B0503020204020204" pitchFamily="34" charset="-122"/>
              <a:ea typeface="微软雅黑" panose="020B0503020204020204" pitchFamily="34" charset="-122"/>
            </a:endParaRPr>
          </a:p>
          <a:p>
            <a:r>
              <a:rPr lang="zh-CN" altLang="en-US" sz="1200" b="0" dirty="0">
                <a:solidFill>
                  <a:schemeClr val="tx1"/>
                </a:solidFill>
                <a:latin typeface="微软雅黑" panose="020B0503020204020204" pitchFamily="34" charset="-122"/>
                <a:ea typeface="微软雅黑" panose="020B0503020204020204" pitchFamily="34" charset="-122"/>
              </a:rPr>
              <a:t>胡萝卜素摄入过多致皮肤黄，但通常巩膜不黄染，区别于胆红素过多引起的黄疸</a:t>
            </a:r>
            <a:endParaRPr lang="en-US" altLang="zh-CN" sz="1200" b="0" dirty="0">
              <a:solidFill>
                <a:schemeClr val="tx1"/>
              </a:solidFill>
              <a:latin typeface="微软雅黑" panose="020B0503020204020204" pitchFamily="34" charset="-122"/>
              <a:ea typeface="微软雅黑" panose="020B0503020204020204" pitchFamily="34" charset="-122"/>
            </a:endParaRPr>
          </a:p>
          <a:p>
            <a:endParaRPr lang="en-US" altLang="zh-CN" sz="1200" b="0" dirty="0">
              <a:solidFill>
                <a:schemeClr val="tx1"/>
              </a:solidFill>
              <a:latin typeface="微软雅黑" panose="020B0503020204020204" pitchFamily="34" charset="-122"/>
              <a:ea typeface="微软雅黑" panose="020B0503020204020204" pitchFamily="34" charset="-122"/>
            </a:endParaRPr>
          </a:p>
          <a:p>
            <a:r>
              <a:rPr lang="zh-CN" altLang="zh-CN" sz="1800" dirty="0">
                <a:effectLst/>
                <a:ea typeface="Microsoft YaHei" panose="020B0503020204020204" pitchFamily="34" charset="-122"/>
              </a:rPr>
              <a:t>对于维生素A，</a:t>
            </a:r>
            <a:r>
              <a:rPr lang="zh-CN" altLang="zh-CN" sz="1800" b="1" dirty="0">
                <a:effectLst/>
                <a:ea typeface="Microsoft YaHei" panose="020B0503020204020204" pitchFamily="34" charset="-122"/>
              </a:rPr>
              <a:t>1微克视</a:t>
            </a:r>
            <a:r>
              <a:rPr lang="zh-CN" altLang="en-US" sz="1800" b="1" dirty="0">
                <a:effectLst/>
                <a:ea typeface="Microsoft YaHei" panose="020B0503020204020204" pitchFamily="34" charset="-122"/>
              </a:rPr>
              <a:t>黄</a:t>
            </a:r>
            <a:r>
              <a:rPr lang="zh-CN" altLang="zh-CN" sz="1800" b="1" dirty="0">
                <a:effectLst/>
                <a:ea typeface="Microsoft YaHei" panose="020B0503020204020204" pitchFamily="34" charset="-122"/>
              </a:rPr>
              <a:t>醇当量 ＝ 1微克视</a:t>
            </a:r>
            <a:r>
              <a:rPr lang="zh-CN" altLang="en-US" sz="1800" b="1" dirty="0">
                <a:effectLst/>
                <a:ea typeface="Microsoft YaHei" panose="020B0503020204020204" pitchFamily="34" charset="-122"/>
              </a:rPr>
              <a:t>黄</a:t>
            </a:r>
            <a:r>
              <a:rPr lang="zh-CN" altLang="zh-CN" sz="1800" b="1" dirty="0">
                <a:effectLst/>
                <a:ea typeface="Microsoft YaHei" panose="020B0503020204020204" pitchFamily="34" charset="-122"/>
              </a:rPr>
              <a:t>醇 ＝ </a:t>
            </a:r>
            <a:r>
              <a:rPr lang="en-US" altLang="zh-CN" sz="1800" b="1" dirty="0">
                <a:effectLst/>
                <a:ea typeface="Microsoft YaHei" panose="020B0503020204020204" pitchFamily="34" charset="-122"/>
              </a:rPr>
              <a:t>12</a:t>
            </a:r>
            <a:r>
              <a:rPr lang="zh-CN" altLang="zh-CN" sz="1800" b="1" dirty="0">
                <a:effectLst/>
                <a:ea typeface="Microsoft YaHei" panose="020B0503020204020204" pitchFamily="34" charset="-122"/>
              </a:rPr>
              <a:t>微克β-胡萝卜素 ＝ 3.33国际单位视</a:t>
            </a:r>
            <a:r>
              <a:rPr lang="zh-CN" altLang="en-US" sz="1800" b="1" dirty="0">
                <a:effectLst/>
                <a:ea typeface="Microsoft YaHei" panose="020B0503020204020204" pitchFamily="34" charset="-122"/>
              </a:rPr>
              <a:t>黄</a:t>
            </a:r>
            <a:r>
              <a:rPr lang="zh-CN" altLang="zh-CN" sz="1800" b="1" dirty="0">
                <a:effectLst/>
                <a:ea typeface="Microsoft YaHei" panose="020B0503020204020204" pitchFamily="34" charset="-122"/>
              </a:rPr>
              <a:t>醇 </a:t>
            </a:r>
            <a:r>
              <a:rPr lang="en-US" altLang="zh-CN" sz="1800" b="1" dirty="0">
                <a:effectLst/>
                <a:ea typeface="Microsoft YaHei" panose="020B0503020204020204" pitchFamily="34" charset="-122"/>
              </a:rPr>
              <a:t>     </a:t>
            </a:r>
            <a:r>
              <a:rPr lang="en-US" altLang="zh-CN" sz="1800" dirty="0">
                <a:effectLst/>
                <a:ea typeface="Microsoft YaHei" panose="020B0503020204020204" pitchFamily="34" charset="-122"/>
              </a:rPr>
              <a:t>, </a:t>
            </a:r>
            <a:r>
              <a:rPr lang="zh-CN" altLang="en-US" sz="1800" dirty="0">
                <a:effectLst/>
                <a:ea typeface="Microsoft YaHei" panose="020B0503020204020204" pitchFamily="34" charset="-122"/>
              </a:rPr>
              <a:t>即</a:t>
            </a:r>
            <a:r>
              <a:rPr lang="en-US" altLang="zh-CN" sz="1800" dirty="0">
                <a:effectLst/>
                <a:ea typeface="Microsoft YaHei" panose="020B0503020204020204" pitchFamily="34" charset="-122"/>
              </a:rPr>
              <a:t>1IU</a:t>
            </a:r>
            <a:r>
              <a:rPr lang="zh-CN" altLang="en-US" sz="1800" dirty="0">
                <a:effectLst/>
                <a:ea typeface="Microsoft YaHei" panose="020B0503020204020204" pitchFamily="34" charset="-122"/>
              </a:rPr>
              <a:t>相当于</a:t>
            </a:r>
            <a:r>
              <a:rPr lang="en-US" altLang="zh-CN" sz="1800" dirty="0">
                <a:effectLst/>
                <a:ea typeface="Microsoft YaHei" panose="020B0503020204020204" pitchFamily="34" charset="-122"/>
              </a:rPr>
              <a:t>0.33</a:t>
            </a:r>
            <a:r>
              <a:rPr lang="zh-CN" altLang="en-US" sz="1800" dirty="0">
                <a:effectLst/>
                <a:ea typeface="Microsoft YaHei" panose="020B0503020204020204" pitchFamily="34" charset="-122"/>
              </a:rPr>
              <a:t>克视黄醇 （增补剂中多用国际单位）</a:t>
            </a:r>
            <a:endParaRPr lang="en-US" altLang="zh-CN" sz="1800" dirty="0">
              <a:effectLst/>
              <a:ea typeface="Microsoft YaHei" panose="020B0503020204020204" pitchFamily="34" charset="-122"/>
            </a:endParaRPr>
          </a:p>
          <a:p>
            <a:endParaRPr lang="en-US" altLang="zh-CN" sz="1800" dirty="0">
              <a:effectLst/>
              <a:ea typeface="Microsoft YaHei" panose="020B0503020204020204" pitchFamily="34" charset="-122"/>
            </a:endParaRPr>
          </a:p>
          <a:p>
            <a:endParaRPr lang="en-US" altLang="zh-CN" dirty="0"/>
          </a:p>
          <a:p>
            <a:endParaRPr lang="en-US" altLang="zh-CN" dirty="0"/>
          </a:p>
        </p:txBody>
      </p:sp>
      <p:sp>
        <p:nvSpPr>
          <p:cNvPr id="58372" name="灯片编号占位符 3">
            <a:extLst>
              <a:ext uri="{FF2B5EF4-FFF2-40B4-BE49-F238E27FC236}">
                <a16:creationId xmlns:a16="http://schemas.microsoft.com/office/drawing/2014/main" id="{DD78D90F-CB0A-4BF1-93D1-88042A7DAAB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D47D6A1E-1F27-492C-903B-8AC353B16F7B}" type="slidenum">
              <a:rPr lang="zh-CN" altLang="en-US" smtClean="0">
                <a:solidFill>
                  <a:schemeClr val="bg1"/>
                </a:solidFill>
                <a:latin typeface="Times New Roman" panose="02020603050405020304" pitchFamily="18" charset="0"/>
                <a:ea typeface="楷体_GB2312" pitchFamily="49" charset="-122"/>
              </a:rPr>
              <a:pPr>
                <a:spcBef>
                  <a:spcPct val="0"/>
                </a:spcBef>
              </a:pPr>
              <a:t>18</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a:t>
            </a:r>
            <a:r>
              <a:rPr lang="en-US" altLang="zh-CN" dirty="0"/>
              <a:t>6</a:t>
            </a:r>
            <a:r>
              <a:rPr lang="zh-CN" altLang="en-US" dirty="0"/>
              <a:t>岁儿童边缘型缺乏为血清视黄醇含量</a:t>
            </a:r>
            <a:r>
              <a:rPr lang="en-US" altLang="zh-CN" dirty="0"/>
              <a:t>0.10</a:t>
            </a:r>
            <a:r>
              <a:rPr lang="zh-CN" altLang="en-US" dirty="0"/>
              <a:t>～＜</a:t>
            </a:r>
            <a:r>
              <a:rPr lang="en-US" altLang="zh-CN" dirty="0"/>
              <a:t>0.20 µg/mL</a:t>
            </a:r>
            <a:r>
              <a:rPr lang="zh-CN" altLang="en-US" dirty="0"/>
              <a:t>，缺乏为＜</a:t>
            </a:r>
            <a:r>
              <a:rPr lang="en-US" altLang="zh-CN" dirty="0"/>
              <a:t>0.10 µg/mL</a:t>
            </a:r>
            <a:r>
              <a:rPr lang="zh-CN" altLang="en-US" dirty="0"/>
              <a:t>，</a:t>
            </a:r>
            <a:endParaRPr lang="en-US" altLang="zh-CN" dirty="0"/>
          </a:p>
          <a:p>
            <a:r>
              <a:rPr lang="en-US" altLang="zh-CN" dirty="0"/>
              <a:t>&gt;6</a:t>
            </a:r>
            <a:r>
              <a:rPr lang="zh-CN" altLang="en-US" dirty="0"/>
              <a:t>岁儿童边缘型缺乏 </a:t>
            </a:r>
            <a:r>
              <a:rPr lang="en-US" altLang="zh-CN" dirty="0"/>
              <a:t>0.20</a:t>
            </a:r>
            <a:r>
              <a:rPr lang="zh-CN" altLang="en-US" dirty="0"/>
              <a:t>～＜</a:t>
            </a:r>
            <a:r>
              <a:rPr lang="en-US" altLang="zh-CN" dirty="0"/>
              <a:t>0.30 µg/mL</a:t>
            </a:r>
            <a:r>
              <a:rPr lang="zh-CN" altLang="en-US" dirty="0"/>
              <a:t>，缺乏为＜</a:t>
            </a:r>
            <a:r>
              <a:rPr lang="en-US" altLang="zh-CN" dirty="0"/>
              <a:t>0.20 µg/mL</a:t>
            </a:r>
            <a:r>
              <a:rPr lang="zh-CN" altLang="en-US" dirty="0"/>
              <a:t>。</a:t>
            </a:r>
          </a:p>
        </p:txBody>
      </p:sp>
      <p:sp>
        <p:nvSpPr>
          <p:cNvPr id="4" name="灯片编号占位符 3"/>
          <p:cNvSpPr>
            <a:spLocks noGrp="1"/>
          </p:cNvSpPr>
          <p:nvPr>
            <p:ph type="sldNum" sz="quarter" idx="5"/>
          </p:nvPr>
        </p:nvSpPr>
        <p:spPr/>
        <p:txBody>
          <a:bodyPr/>
          <a:lstStyle/>
          <a:p>
            <a:pPr>
              <a:defRPr/>
            </a:pPr>
            <a:fld id="{2D76A890-7C90-4642-A290-690AA85DBCEA}" type="slidenum">
              <a:rPr lang="zh-CN" altLang="en-US" smtClean="0"/>
              <a:pPr>
                <a:defRPr/>
              </a:pPr>
              <a:t>19</a:t>
            </a:fld>
            <a:endParaRPr lang="zh-CN" altLang="en-US"/>
          </a:p>
        </p:txBody>
      </p:sp>
    </p:spTree>
    <p:extLst>
      <p:ext uri="{BB962C8B-B14F-4D97-AF65-F5344CB8AC3E}">
        <p14:creationId xmlns:p14="http://schemas.microsoft.com/office/powerpoint/2010/main" val="33725786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a:extLst>
              <a:ext uri="{FF2B5EF4-FFF2-40B4-BE49-F238E27FC236}">
                <a16:creationId xmlns:a16="http://schemas.microsoft.com/office/drawing/2014/main" id="{3B823B98-EA09-42A3-A8B0-4182185F36D1}"/>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备注占位符 2">
            <a:extLst>
              <a:ext uri="{FF2B5EF4-FFF2-40B4-BE49-F238E27FC236}">
                <a16:creationId xmlns:a16="http://schemas.microsoft.com/office/drawing/2014/main" id="{76C2ACBC-7C0B-4F37-AFCF-F1083625983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b="0" i="0" dirty="0">
                <a:solidFill>
                  <a:srgbClr val="333333"/>
                </a:solidFill>
                <a:effectLst/>
                <a:latin typeface="Helvetica Neue"/>
              </a:rPr>
              <a:t>毕脱斑： 儿童维生素</a:t>
            </a:r>
            <a:r>
              <a:rPr lang="en-US" altLang="zh-CN" b="0" i="0" dirty="0">
                <a:solidFill>
                  <a:srgbClr val="333333"/>
                </a:solidFill>
                <a:effectLst/>
                <a:latin typeface="Helvetica Neue"/>
              </a:rPr>
              <a:t>A</a:t>
            </a:r>
            <a:r>
              <a:rPr lang="zh-CN" altLang="en-US" b="0" i="0" dirty="0">
                <a:solidFill>
                  <a:srgbClr val="333333"/>
                </a:solidFill>
                <a:effectLst/>
                <a:latin typeface="Helvetica Neue"/>
              </a:rPr>
              <a:t>缺乏的典型体征，患者贴近角膜两侧和结膜外侧因干燥而出现皱褶，角化上皮堆积，形成大小不等的形状似泡沫状的白斑。</a:t>
            </a:r>
            <a:endParaRPr lang="en-US" altLang="zh-CN" b="1" i="0" dirty="0">
              <a:solidFill>
                <a:srgbClr val="111111"/>
              </a:solidFill>
              <a:effectLst/>
              <a:latin typeface="Microsoft YaHei" panose="020B0503020204020204" pitchFamily="34" charset="-122"/>
              <a:ea typeface="Microsoft YaHei" panose="020B0503020204020204" pitchFamily="34" charset="-122"/>
            </a:endParaRPr>
          </a:p>
          <a:p>
            <a:r>
              <a:rPr lang="en-US" altLang="zh-CN" b="1" i="0" dirty="0" err="1">
                <a:solidFill>
                  <a:srgbClr val="111111"/>
                </a:solidFill>
                <a:effectLst/>
                <a:latin typeface="Microsoft YaHei" panose="020B0503020204020204" pitchFamily="34" charset="-122"/>
                <a:ea typeface="Microsoft YaHei" panose="020B0503020204020204" pitchFamily="34" charset="-122"/>
              </a:rPr>
              <a:t>Bitot's</a:t>
            </a:r>
            <a:r>
              <a:rPr lang="en-US" altLang="zh-CN" b="1" i="0" dirty="0">
                <a:solidFill>
                  <a:srgbClr val="111111"/>
                </a:solidFill>
                <a:effectLst/>
                <a:latin typeface="Microsoft YaHei" panose="020B0503020204020204" pitchFamily="34" charset="-122"/>
                <a:ea typeface="Microsoft YaHei" panose="020B0503020204020204" pitchFamily="34" charset="-122"/>
              </a:rPr>
              <a:t> spots</a:t>
            </a:r>
            <a:r>
              <a:rPr lang="en-US" altLang="zh-CN" b="0" i="0" dirty="0">
                <a:solidFill>
                  <a:srgbClr val="111111"/>
                </a:solidFill>
                <a:effectLst/>
                <a:latin typeface="Microsoft YaHei" panose="020B0503020204020204" pitchFamily="34" charset="-122"/>
                <a:ea typeface="Microsoft YaHei" panose="020B0503020204020204" pitchFamily="34" charset="-122"/>
              </a:rPr>
              <a:t> are an eye condition named by a Dr. </a:t>
            </a:r>
            <a:r>
              <a:rPr lang="en-US" altLang="zh-CN" b="0" i="0" dirty="0" err="1">
                <a:solidFill>
                  <a:srgbClr val="111111"/>
                </a:solidFill>
                <a:effectLst/>
                <a:latin typeface="Microsoft YaHei" panose="020B0503020204020204" pitchFamily="34" charset="-122"/>
                <a:ea typeface="Microsoft YaHei" panose="020B0503020204020204" pitchFamily="34" charset="-122"/>
              </a:rPr>
              <a:t>Bitot</a:t>
            </a:r>
            <a:r>
              <a:rPr lang="en-US" altLang="zh-CN" b="0" i="0" dirty="0">
                <a:solidFill>
                  <a:srgbClr val="111111"/>
                </a:solidFill>
                <a:effectLst/>
                <a:latin typeface="Microsoft YaHei" panose="020B0503020204020204" pitchFamily="34" charset="-122"/>
                <a:ea typeface="Microsoft YaHei" panose="020B0503020204020204" pitchFamily="34" charset="-122"/>
              </a:rPr>
              <a:t> in France in 1863. </a:t>
            </a:r>
            <a:r>
              <a:rPr lang="en-US" altLang="zh-CN" b="1" i="0" dirty="0">
                <a:solidFill>
                  <a:srgbClr val="111111"/>
                </a:solidFill>
                <a:effectLst/>
                <a:latin typeface="Microsoft YaHei" panose="020B0503020204020204" pitchFamily="34" charset="-122"/>
                <a:ea typeface="Microsoft YaHei" panose="020B0503020204020204" pitchFamily="34" charset="-122"/>
              </a:rPr>
              <a:t>Caused by vitamin A deficiency, </a:t>
            </a:r>
            <a:r>
              <a:rPr lang="en-US" altLang="zh-CN" b="0" i="0" dirty="0" err="1">
                <a:solidFill>
                  <a:srgbClr val="111111"/>
                </a:solidFill>
                <a:effectLst/>
                <a:latin typeface="Microsoft YaHei" panose="020B0503020204020204" pitchFamily="34" charset="-122"/>
                <a:ea typeface="Microsoft YaHei" panose="020B0503020204020204" pitchFamily="34" charset="-122"/>
              </a:rPr>
              <a:t>Bitot's</a:t>
            </a:r>
            <a:r>
              <a:rPr lang="en-US" altLang="zh-CN" b="0" i="0" dirty="0">
                <a:solidFill>
                  <a:srgbClr val="111111"/>
                </a:solidFill>
                <a:effectLst/>
                <a:latin typeface="Microsoft YaHei" panose="020B0503020204020204" pitchFamily="34" charset="-122"/>
                <a:ea typeface="Microsoft YaHei" panose="020B0503020204020204" pitchFamily="34" charset="-122"/>
              </a:rPr>
              <a:t> spots are tiny specks of keratin protein that flakes off the inside of the eyelid. A malfunction of the goblet cells leads of a deficiency of the protective mucus that carries away keratin and other debris and keeps the lenses clear.</a:t>
            </a:r>
          </a:p>
          <a:p>
            <a:endParaRPr lang="zh-CN" altLang="en-US" dirty="0"/>
          </a:p>
        </p:txBody>
      </p:sp>
      <p:sp>
        <p:nvSpPr>
          <p:cNvPr id="60420" name="灯片编号占位符 3">
            <a:extLst>
              <a:ext uri="{FF2B5EF4-FFF2-40B4-BE49-F238E27FC236}">
                <a16:creationId xmlns:a16="http://schemas.microsoft.com/office/drawing/2014/main" id="{03F53B1C-27C8-40B8-BFB6-69C4B18BFDB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bg1"/>
                </a:solidFill>
                <a:latin typeface="Times New Roman" panose="02020603050405020304" pitchFamily="18" charset="0"/>
                <a:ea typeface="楷体_GB2312" pitchFamily="49" charset="-122"/>
              </a:defRPr>
            </a:lvl1pPr>
            <a:lvl2pPr marL="742950" indent="-285750">
              <a:defRPr kumimoji="1" sz="3200" b="1">
                <a:solidFill>
                  <a:schemeClr val="bg1"/>
                </a:solidFill>
                <a:latin typeface="Times New Roman" panose="02020603050405020304" pitchFamily="18" charset="0"/>
                <a:ea typeface="楷体_GB2312" pitchFamily="49" charset="-122"/>
              </a:defRPr>
            </a:lvl2pPr>
            <a:lvl3pPr marL="1143000" indent="-228600">
              <a:defRPr kumimoji="1" sz="3200" b="1">
                <a:solidFill>
                  <a:schemeClr val="bg1"/>
                </a:solidFill>
                <a:latin typeface="Times New Roman" panose="02020603050405020304" pitchFamily="18" charset="0"/>
                <a:ea typeface="楷体_GB2312" pitchFamily="49" charset="-122"/>
              </a:defRPr>
            </a:lvl3pPr>
            <a:lvl4pPr marL="1600200" indent="-228600">
              <a:defRPr kumimoji="1" sz="3200" b="1">
                <a:solidFill>
                  <a:schemeClr val="bg1"/>
                </a:solidFill>
                <a:latin typeface="Times New Roman" panose="02020603050405020304" pitchFamily="18" charset="0"/>
                <a:ea typeface="楷体_GB2312" pitchFamily="49" charset="-122"/>
              </a:defRPr>
            </a:lvl4pPr>
            <a:lvl5pPr marL="2057400" indent="-228600">
              <a:defRPr kumimoji="1" sz="3200" b="1">
                <a:solidFill>
                  <a:schemeClr val="bg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9pPr>
          </a:lstStyle>
          <a:p>
            <a:fld id="{7ABEDE3A-6632-4B83-B0AB-0AC926EE91BA}" type="slidenum">
              <a:rPr lang="zh-CN" altLang="en-US" sz="1200" smtClean="0"/>
              <a:pPr/>
              <a:t>20</a:t>
            </a:fld>
            <a:endParaRPr lang="zh-CN" altLang="en-US"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一次大量摄入维生素</a:t>
            </a:r>
            <a:r>
              <a:rPr lang="en-US" altLang="zh-CN" dirty="0"/>
              <a:t>A</a:t>
            </a:r>
            <a:r>
              <a:rPr lang="zh-CN" altLang="en-US" dirty="0"/>
              <a:t>纯制剂，可发生急性中毒。有人报告一次给</a:t>
            </a:r>
            <a:r>
              <a:rPr lang="en-US" altLang="zh-CN" dirty="0"/>
              <a:t>30</a:t>
            </a:r>
            <a:r>
              <a:rPr lang="zh-CN" altLang="en-US" dirty="0"/>
              <a:t>万</a:t>
            </a:r>
            <a:r>
              <a:rPr lang="en-US" altLang="zh-CN" dirty="0"/>
              <a:t>IU</a:t>
            </a:r>
            <a:r>
              <a:rPr lang="zh-CN" altLang="en-US" dirty="0"/>
              <a:t>的维生素</a:t>
            </a:r>
            <a:r>
              <a:rPr lang="en-US" altLang="zh-CN" dirty="0"/>
              <a:t>A</a:t>
            </a:r>
            <a:r>
              <a:rPr lang="zh-CN" altLang="en-US" dirty="0"/>
              <a:t>可于数日内产生中毒症状；若长期摄入过量的维生素</a:t>
            </a:r>
            <a:r>
              <a:rPr lang="en-US" altLang="zh-CN" dirty="0"/>
              <a:t>A</a:t>
            </a:r>
            <a:r>
              <a:rPr lang="zh-CN" altLang="en-US" dirty="0"/>
              <a:t>，则可发生慢性中毒，每日服用</a:t>
            </a:r>
            <a:r>
              <a:rPr lang="en-US" altLang="zh-CN" dirty="0"/>
              <a:t>2</a:t>
            </a:r>
            <a:r>
              <a:rPr lang="zh-CN" altLang="en-US" dirty="0"/>
              <a:t>．</a:t>
            </a:r>
            <a:r>
              <a:rPr lang="en-US" altLang="zh-CN" dirty="0"/>
              <a:t>5</a:t>
            </a:r>
            <a:r>
              <a:rPr lang="zh-CN" altLang="en-US" dirty="0"/>
              <a:t>万～</a:t>
            </a:r>
            <a:r>
              <a:rPr lang="en-US" altLang="zh-CN" dirty="0"/>
              <a:t>5</a:t>
            </a:r>
            <a:r>
              <a:rPr lang="zh-CN" altLang="en-US" dirty="0"/>
              <a:t>．</a:t>
            </a:r>
            <a:r>
              <a:rPr lang="en-US" altLang="zh-CN" dirty="0"/>
              <a:t>0</a:t>
            </a:r>
            <a:r>
              <a:rPr lang="zh-CN" altLang="en-US" dirty="0"/>
              <a:t>万</a:t>
            </a:r>
            <a:r>
              <a:rPr lang="en-US" altLang="zh-CN" dirty="0"/>
              <a:t>IU</a:t>
            </a:r>
            <a:r>
              <a:rPr lang="zh-CN" altLang="en-US" dirty="0"/>
              <a:t>连续</a:t>
            </a:r>
            <a:r>
              <a:rPr lang="en-US" altLang="zh-CN" dirty="0"/>
              <a:t>3</a:t>
            </a:r>
            <a:r>
              <a:rPr lang="zh-CN" altLang="en-US" dirty="0"/>
              <a:t>个月能引起慢性中毒。</a:t>
            </a:r>
            <a:endParaRPr lang="en-US" altLang="zh-CN" dirty="0"/>
          </a:p>
          <a:p>
            <a:endParaRPr lang="zh-CN" altLang="en-US" dirty="0"/>
          </a:p>
          <a:p>
            <a:r>
              <a:rPr lang="zh-CN" altLang="en-US" dirty="0"/>
              <a:t>有人提出中毒与体质特异性有关，即维生素</a:t>
            </a:r>
            <a:r>
              <a:rPr lang="en-US" altLang="zh-CN" dirty="0"/>
              <a:t>A</a:t>
            </a:r>
            <a:r>
              <a:rPr lang="zh-CN" altLang="en-US" dirty="0"/>
              <a:t>的吸收、利用、排泄及肝内储存，存在个体差异。</a:t>
            </a:r>
          </a:p>
          <a:p>
            <a:r>
              <a:rPr lang="zh-CN" altLang="en-US" b="1" dirty="0"/>
              <a:t>由于个体差异及肝脏维生素</a:t>
            </a:r>
            <a:r>
              <a:rPr lang="en-US" altLang="zh-CN" b="1" dirty="0"/>
              <a:t>A</a:t>
            </a:r>
            <a:r>
              <a:rPr lang="zh-CN" altLang="en-US" b="1" dirty="0"/>
              <a:t>贮存量的不同，故引起维生素</a:t>
            </a:r>
            <a:r>
              <a:rPr lang="en-US" altLang="zh-CN" b="1" dirty="0"/>
              <a:t>A</a:t>
            </a:r>
            <a:r>
              <a:rPr lang="zh-CN" altLang="en-US" b="1" dirty="0"/>
              <a:t>中毒的剂量可有很大的差异，</a:t>
            </a:r>
            <a:r>
              <a:rPr lang="zh-CN" altLang="en-US" dirty="0"/>
              <a:t>有报道成人一次剂量超过</a:t>
            </a:r>
            <a:r>
              <a:rPr lang="en-US" altLang="zh-CN" dirty="0"/>
              <a:t>50</a:t>
            </a:r>
            <a:r>
              <a:rPr lang="zh-CN" altLang="en-US" dirty="0"/>
              <a:t>万</a:t>
            </a:r>
            <a:r>
              <a:rPr lang="en-US" altLang="zh-CN" dirty="0"/>
              <a:t>—100</a:t>
            </a:r>
            <a:r>
              <a:rPr lang="zh-CN" altLang="en-US" dirty="0"/>
              <a:t>万</a:t>
            </a:r>
            <a:r>
              <a:rPr lang="en-US" altLang="zh-CN" dirty="0"/>
              <a:t>IU</a:t>
            </a:r>
            <a:r>
              <a:rPr lang="zh-CN" altLang="en-US" dirty="0"/>
              <a:t>，儿童一次剂量超过</a:t>
            </a:r>
            <a:r>
              <a:rPr lang="en-US" altLang="zh-CN" dirty="0"/>
              <a:t>30</a:t>
            </a:r>
            <a:r>
              <a:rPr lang="zh-CN" altLang="en-US" dirty="0"/>
              <a:t>万</a:t>
            </a:r>
            <a:r>
              <a:rPr lang="en-US" altLang="zh-CN" dirty="0"/>
              <a:t>IU</a:t>
            </a:r>
            <a:r>
              <a:rPr lang="zh-CN" altLang="en-US" dirty="0"/>
              <a:t>即可发病，也有的小儿每日服</a:t>
            </a:r>
            <a:r>
              <a:rPr lang="en-US" altLang="zh-CN" dirty="0"/>
              <a:t>1</a:t>
            </a:r>
            <a:r>
              <a:rPr lang="zh-CN" altLang="en-US" dirty="0"/>
              <a:t>万</a:t>
            </a:r>
            <a:r>
              <a:rPr lang="en-US" altLang="zh-CN" dirty="0"/>
              <a:t>—2</a:t>
            </a:r>
            <a:r>
              <a:rPr lang="zh-CN" altLang="en-US" dirty="0"/>
              <a:t>万</a:t>
            </a:r>
            <a:r>
              <a:rPr lang="en-US" altLang="zh-CN" dirty="0"/>
              <a:t>IU</a:t>
            </a:r>
            <a:r>
              <a:rPr lang="zh-CN" altLang="en-US" dirty="0"/>
              <a:t>，连续几个月亦可出现症状。</a:t>
            </a:r>
          </a:p>
          <a:p>
            <a:endParaRPr lang="zh-CN" altLang="en-US" dirty="0"/>
          </a:p>
        </p:txBody>
      </p:sp>
      <p:sp>
        <p:nvSpPr>
          <p:cNvPr id="4" name="灯片编号占位符 3"/>
          <p:cNvSpPr>
            <a:spLocks noGrp="1"/>
          </p:cNvSpPr>
          <p:nvPr>
            <p:ph type="sldNum" sz="quarter" idx="5"/>
          </p:nvPr>
        </p:nvSpPr>
        <p:spPr/>
        <p:txBody>
          <a:bodyPr/>
          <a:lstStyle/>
          <a:p>
            <a:pPr>
              <a:defRPr/>
            </a:pPr>
            <a:fld id="{2D76A890-7C90-4642-A290-690AA85DBCEA}" type="slidenum">
              <a:rPr lang="zh-CN" altLang="en-US" smtClean="0"/>
              <a:pPr>
                <a:defRPr/>
              </a:pPr>
              <a:t>21</a:t>
            </a:fld>
            <a:endParaRPr lang="zh-CN" altLang="en-US"/>
          </a:p>
        </p:txBody>
      </p:sp>
    </p:spTree>
    <p:extLst>
      <p:ext uri="{BB962C8B-B14F-4D97-AF65-F5344CB8AC3E}">
        <p14:creationId xmlns:p14="http://schemas.microsoft.com/office/powerpoint/2010/main" val="10624986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B29C3CD6-3522-4F9E-A741-F9991BE6FF01}"/>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a:extLst>
              <a:ext uri="{FF2B5EF4-FFF2-40B4-BE49-F238E27FC236}">
                <a16:creationId xmlns:a16="http://schemas.microsoft.com/office/drawing/2014/main" id="{EC2BB151-AC9B-4397-B363-4F05E83F304C}"/>
              </a:ext>
            </a:extLst>
          </p:cNvPr>
          <p:cNvSpPr>
            <a:spLocks noGrp="1"/>
          </p:cNvSpPr>
          <p:nvPr>
            <p:ph type="body" idx="1"/>
          </p:nvPr>
        </p:nvSpPr>
        <p:spPr/>
        <p:txBody>
          <a:bodyPr/>
          <a:lstStyle/>
          <a:p>
            <a:pPr>
              <a:defRPr/>
            </a:pPr>
            <a:r>
              <a:rPr lang="en-US" altLang="zh-CN" dirty="0">
                <a:solidFill>
                  <a:srgbClr val="FFFF00"/>
                </a:solidFill>
                <a:effectLst>
                  <a:outerShdw blurRad="38100" dist="38100" dir="2700000" algn="tl">
                    <a:srgbClr val="000000"/>
                  </a:outerShdw>
                </a:effectLst>
              </a:rPr>
              <a:t>Calciferols</a:t>
            </a:r>
          </a:p>
          <a:p>
            <a:pPr>
              <a:defRPr/>
            </a:pPr>
            <a:endParaRPr lang="en-US" altLang="zh-CN" dirty="0">
              <a:solidFill>
                <a:srgbClr val="FFFF00"/>
              </a:solidFill>
              <a:effectLst>
                <a:outerShdw blurRad="38100" dist="38100" dir="2700000" algn="tl">
                  <a:srgbClr val="000000"/>
                </a:outerShdw>
              </a:effectLst>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solidFill>
                  <a:srgbClr val="FFFF00"/>
                </a:solidFill>
                <a:effectLst>
                  <a:outerShdw blurRad="38100" dist="38100" dir="2700000" algn="tl">
                    <a:srgbClr val="000000"/>
                  </a:outerShdw>
                </a:effectLst>
              </a:rPr>
              <a:t>7-</a:t>
            </a:r>
            <a:r>
              <a:rPr lang="zh-CN" altLang="en-US" dirty="0">
                <a:solidFill>
                  <a:srgbClr val="FFFF00"/>
                </a:solidFill>
                <a:effectLst>
                  <a:outerShdw blurRad="38100" dist="38100" dir="2700000" algn="tl">
                    <a:srgbClr val="000000"/>
                  </a:outerShdw>
                </a:effectLst>
              </a:rPr>
              <a:t>脱氢胆固醇 是</a:t>
            </a:r>
            <a:r>
              <a:rPr lang="en-US" altLang="zh-CN" dirty="0">
                <a:solidFill>
                  <a:srgbClr val="FFFF00"/>
                </a:solidFill>
                <a:effectLst>
                  <a:outerShdw blurRad="38100" dist="38100" dir="2700000" algn="tl">
                    <a:srgbClr val="000000"/>
                  </a:outerShdw>
                </a:effectLst>
              </a:rPr>
              <a:t>D3</a:t>
            </a:r>
            <a:r>
              <a:rPr lang="zh-CN" altLang="en-US" dirty="0">
                <a:solidFill>
                  <a:srgbClr val="FFFF00"/>
                </a:solidFill>
                <a:effectLst>
                  <a:outerShdw blurRad="38100" dist="38100" dir="2700000" algn="tl">
                    <a:srgbClr val="000000"/>
                  </a:outerShdw>
                </a:effectLst>
              </a:rPr>
              <a:t>原；皮肤中的</a:t>
            </a:r>
            <a:r>
              <a:rPr lang="en-US" altLang="zh-CN" dirty="0">
                <a:solidFill>
                  <a:srgbClr val="FFFF00"/>
                </a:solidFill>
                <a:effectLst>
                  <a:outerShdw blurRad="38100" dist="38100" dir="2700000" algn="tl">
                    <a:srgbClr val="000000"/>
                  </a:outerShdw>
                </a:effectLst>
              </a:rPr>
              <a:t>7-</a:t>
            </a:r>
            <a:r>
              <a:rPr lang="zh-CN" altLang="en-US" dirty="0">
                <a:solidFill>
                  <a:srgbClr val="FFFF00"/>
                </a:solidFill>
                <a:effectLst>
                  <a:outerShdw blurRad="38100" dist="38100" dir="2700000" algn="tl">
                    <a:srgbClr val="000000"/>
                  </a:outerShdw>
                </a:effectLst>
              </a:rPr>
              <a:t>脱氢胆固醇经光照变为</a:t>
            </a:r>
            <a:r>
              <a:rPr lang="en-US" altLang="zh-CN" dirty="0">
                <a:solidFill>
                  <a:srgbClr val="FFFF00"/>
                </a:solidFill>
                <a:effectLst>
                  <a:outerShdw blurRad="38100" dist="38100" dir="2700000" algn="tl">
                    <a:srgbClr val="000000"/>
                  </a:outerShdw>
                </a:effectLst>
              </a:rPr>
              <a:t>D3</a:t>
            </a:r>
            <a:r>
              <a:rPr lang="zh-CN" altLang="en-US" dirty="0">
                <a:solidFill>
                  <a:srgbClr val="FFFF00"/>
                </a:solidFill>
                <a:effectLst>
                  <a:outerShdw blurRad="38100" dist="38100" dir="2700000" algn="tl">
                    <a:srgbClr val="000000"/>
                  </a:outerShdw>
                </a:effectLst>
              </a:rPr>
              <a:t>，故</a:t>
            </a:r>
            <a:r>
              <a:rPr lang="zh-CN" altLang="en-US" dirty="0"/>
              <a:t>维生素</a:t>
            </a:r>
            <a:r>
              <a:rPr lang="en-US" altLang="zh-CN" dirty="0"/>
              <a:t>D</a:t>
            </a:r>
            <a:r>
              <a:rPr lang="zh-CN" altLang="en-US" dirty="0"/>
              <a:t>又称</a:t>
            </a:r>
            <a:r>
              <a:rPr lang="zh-CN" altLang="en-US" b="1" dirty="0"/>
              <a:t>阳光维生素。</a:t>
            </a:r>
            <a:endParaRPr lang="en-US" altLang="zh-CN" b="1" dirty="0"/>
          </a:p>
          <a:p>
            <a:pPr>
              <a:defRPr/>
            </a:pPr>
            <a:endParaRPr lang="en-US" altLang="zh-CN" dirty="0">
              <a:solidFill>
                <a:srgbClr val="CCFF33"/>
              </a:solidFill>
              <a:effectLst>
                <a:outerShdw blurRad="38100" dist="38100" dir="2700000" algn="tl">
                  <a:srgbClr val="000000"/>
                </a:outerShdw>
              </a:effectLst>
            </a:endParaRPr>
          </a:p>
          <a:p>
            <a:pPr>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a:defRPr/>
            </a:pPr>
            <a:endParaRPr lang="en-US" altLang="zh-CN" dirty="0"/>
          </a:p>
        </p:txBody>
      </p:sp>
      <p:sp>
        <p:nvSpPr>
          <p:cNvPr id="62468" name="灯片编号占位符 3">
            <a:extLst>
              <a:ext uri="{FF2B5EF4-FFF2-40B4-BE49-F238E27FC236}">
                <a16:creationId xmlns:a16="http://schemas.microsoft.com/office/drawing/2014/main" id="{1B92AEE0-6CC1-488A-96E5-277B5D54925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661A09A-0761-460E-8934-CB39FB4DF911}" type="slidenum">
              <a:rPr lang="zh-CN" altLang="en-US" smtClean="0">
                <a:solidFill>
                  <a:schemeClr val="bg1"/>
                </a:solidFill>
                <a:latin typeface="Times New Roman" panose="02020603050405020304" pitchFamily="18" charset="0"/>
                <a:ea typeface="楷体_GB2312" pitchFamily="49" charset="-122"/>
              </a:rPr>
              <a:pPr>
                <a:spcBef>
                  <a:spcPct val="0"/>
                </a:spcBef>
              </a:pPr>
              <a:t>22</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a:extLst>
              <a:ext uri="{FF2B5EF4-FFF2-40B4-BE49-F238E27FC236}">
                <a16:creationId xmlns:a16="http://schemas.microsoft.com/office/drawing/2014/main" id="{C109151C-9932-45A2-A438-E99AC90B77A5}"/>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备注占位符 2">
            <a:extLst>
              <a:ext uri="{FF2B5EF4-FFF2-40B4-BE49-F238E27FC236}">
                <a16:creationId xmlns:a16="http://schemas.microsoft.com/office/drawing/2014/main" id="{91025ADE-9A5F-4691-87CA-729B764FF79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altLang="zh-CN" b="0" dirty="0"/>
              <a:t>25-hydroxy cholecalciferol (25-OH-D3, </a:t>
            </a:r>
            <a:r>
              <a:rPr lang="en-US" altLang="zh-CN" b="1" dirty="0"/>
              <a:t>calcifediol/</a:t>
            </a:r>
            <a:r>
              <a:rPr lang="en-US" altLang="zh-CN" b="1" dirty="0" err="1"/>
              <a:t>calcidiol</a:t>
            </a:r>
            <a:r>
              <a:rPr lang="en-US" altLang="zh-CN" b="0" dirty="0"/>
              <a:t>), is the predominant form of vitamin D in the plasma and the major storage form of the vitamin.</a:t>
            </a:r>
            <a:endParaRPr lang="zh-CN" altLang="en-US" b="0" dirty="0"/>
          </a:p>
          <a:p>
            <a:endParaRPr lang="en-US" altLang="zh-CN" dirty="0"/>
          </a:p>
          <a:p>
            <a:r>
              <a:rPr lang="en-US" altLang="zh-CN" b="1" i="0" u="none" strike="noStrike" dirty="0">
                <a:solidFill>
                  <a:schemeClr val="tx1">
                    <a:lumMod val="95000"/>
                    <a:lumOff val="5000"/>
                  </a:schemeClr>
                </a:solidFill>
                <a:effectLst/>
                <a:latin typeface="Arial" panose="020B0604020202020204" pitchFamily="34" charset="0"/>
                <a:hlinkClick r:id="rId3" tooltip="Calcitriol">
                  <a:extLst>
                    <a:ext uri="{A12FA001-AC4F-418D-AE19-62706E023703}">
                      <ahyp:hlinkClr xmlns:ahyp="http://schemas.microsoft.com/office/drawing/2018/hyperlinkcolor" val="tx"/>
                    </a:ext>
                  </a:extLst>
                </a:hlinkClick>
              </a:rPr>
              <a:t>calcitriol</a:t>
            </a:r>
            <a:r>
              <a:rPr lang="en-US" altLang="zh-CN" b="1" i="0" dirty="0">
                <a:solidFill>
                  <a:srgbClr val="202122"/>
                </a:solidFill>
                <a:effectLst/>
                <a:latin typeface="Arial" panose="020B0604020202020204" pitchFamily="34" charset="0"/>
              </a:rPr>
              <a:t> </a:t>
            </a:r>
            <a:r>
              <a:rPr lang="en-US" altLang="zh-CN" b="0" i="0" dirty="0">
                <a:solidFill>
                  <a:srgbClr val="202122"/>
                </a:solidFill>
                <a:effectLst/>
                <a:latin typeface="Arial" panose="020B0604020202020204" pitchFamily="34" charset="0"/>
              </a:rPr>
              <a:t>(1,25-dihydroxycholecalciferol)  </a:t>
            </a:r>
            <a:r>
              <a:rPr lang="zh-CN" altLang="en-US" b="0" i="0" dirty="0">
                <a:solidFill>
                  <a:srgbClr val="000000"/>
                </a:solidFill>
                <a:effectLst/>
                <a:latin typeface="Roboto" panose="02000000000000000000" pitchFamily="2" charset="0"/>
              </a:rPr>
              <a:t>骨化三醇（</a:t>
            </a:r>
            <a:r>
              <a:rPr lang="en-US" altLang="zh-CN" b="0" i="0" dirty="0">
                <a:solidFill>
                  <a:srgbClr val="000000"/>
                </a:solidFill>
                <a:effectLst/>
                <a:latin typeface="Roboto" panose="02000000000000000000" pitchFamily="2" charset="0"/>
              </a:rPr>
              <a:t>1,25-</a:t>
            </a:r>
            <a:r>
              <a:rPr lang="zh-CN" altLang="en-US" b="0" i="0" dirty="0">
                <a:solidFill>
                  <a:srgbClr val="000000"/>
                </a:solidFill>
                <a:effectLst/>
                <a:latin typeface="Roboto" panose="02000000000000000000" pitchFamily="2" charset="0"/>
              </a:rPr>
              <a:t>二羟基胆钙化醇）</a:t>
            </a:r>
            <a:endParaRPr lang="en-US" altLang="zh-CN" b="0" i="0" dirty="0">
              <a:solidFill>
                <a:srgbClr val="000000"/>
              </a:solidFill>
              <a:effectLst/>
              <a:latin typeface="Roboto" panose="02000000000000000000" pitchFamily="2" charset="0"/>
            </a:endParaRPr>
          </a:p>
          <a:p>
            <a:endParaRPr lang="en-US" altLang="zh-CN" b="0" i="0" dirty="0">
              <a:solidFill>
                <a:srgbClr val="000000"/>
              </a:solidFill>
              <a:effectLst/>
              <a:latin typeface="Roboto" panose="02000000000000000000" pitchFamily="2" charset="0"/>
            </a:endParaRPr>
          </a:p>
          <a:p>
            <a:endParaRPr lang="en-US" altLang="zh-CN" b="0" i="0" dirty="0">
              <a:solidFill>
                <a:srgbClr val="000000"/>
              </a:solidFill>
              <a:effectLst/>
              <a:latin typeface="Roboto" panose="02000000000000000000" pitchFamily="2" charset="0"/>
            </a:endParaRPr>
          </a:p>
        </p:txBody>
      </p:sp>
      <p:sp>
        <p:nvSpPr>
          <p:cNvPr id="64516" name="灯片编号占位符 3">
            <a:extLst>
              <a:ext uri="{FF2B5EF4-FFF2-40B4-BE49-F238E27FC236}">
                <a16:creationId xmlns:a16="http://schemas.microsoft.com/office/drawing/2014/main" id="{07476296-D68F-4B31-ADD4-80A797F70B0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8774988C-14ED-4456-AA05-EA4B1AF7F253}" type="slidenum">
              <a:rPr lang="zh-CN" altLang="en-US" smtClean="0">
                <a:solidFill>
                  <a:schemeClr val="bg1"/>
                </a:solidFill>
                <a:latin typeface="Times New Roman" panose="02020603050405020304" pitchFamily="18" charset="0"/>
                <a:ea typeface="楷体_GB2312" pitchFamily="49" charset="-122"/>
              </a:rPr>
              <a:pPr>
                <a:spcBef>
                  <a:spcPct val="0"/>
                </a:spcBef>
              </a:pPr>
              <a:t>23</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7B2F7-731B-FA92-30BA-211737F80358}"/>
            </a:ext>
          </a:extLst>
        </p:cNvPr>
        <p:cNvGrpSpPr/>
        <p:nvPr/>
      </p:nvGrpSpPr>
      <p:grpSpPr>
        <a:xfrm>
          <a:off x="0" y="0"/>
          <a:ext cx="0" cy="0"/>
          <a:chOff x="0" y="0"/>
          <a:chExt cx="0" cy="0"/>
        </a:xfrm>
      </p:grpSpPr>
      <p:sp>
        <p:nvSpPr>
          <p:cNvPr id="74754" name="幻灯片图像占位符 1">
            <a:extLst>
              <a:ext uri="{FF2B5EF4-FFF2-40B4-BE49-F238E27FC236}">
                <a16:creationId xmlns:a16="http://schemas.microsoft.com/office/drawing/2014/main" id="{E558A926-B1EA-3A0D-D235-203DFD94A11A}"/>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备注占位符 2">
            <a:extLst>
              <a:ext uri="{FF2B5EF4-FFF2-40B4-BE49-F238E27FC236}">
                <a16:creationId xmlns:a16="http://schemas.microsoft.com/office/drawing/2014/main" id="{F5758064-F71E-1796-DBD7-B03DB85A6EC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74756" name="灯片编号占位符 3">
            <a:extLst>
              <a:ext uri="{FF2B5EF4-FFF2-40B4-BE49-F238E27FC236}">
                <a16:creationId xmlns:a16="http://schemas.microsoft.com/office/drawing/2014/main" id="{C2C50F71-6822-4F78-717B-3C9C26CFC49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bg1"/>
                </a:solidFill>
                <a:latin typeface="Times New Roman" panose="02020603050405020304" pitchFamily="18" charset="0"/>
                <a:ea typeface="楷体_GB2312" pitchFamily="49" charset="-122"/>
              </a:defRPr>
            </a:lvl1pPr>
            <a:lvl2pPr marL="742950" indent="-285750">
              <a:defRPr kumimoji="1" sz="3200" b="1">
                <a:solidFill>
                  <a:schemeClr val="bg1"/>
                </a:solidFill>
                <a:latin typeface="Times New Roman" panose="02020603050405020304" pitchFamily="18" charset="0"/>
                <a:ea typeface="楷体_GB2312" pitchFamily="49" charset="-122"/>
              </a:defRPr>
            </a:lvl2pPr>
            <a:lvl3pPr marL="1143000" indent="-228600">
              <a:defRPr kumimoji="1" sz="3200" b="1">
                <a:solidFill>
                  <a:schemeClr val="bg1"/>
                </a:solidFill>
                <a:latin typeface="Times New Roman" panose="02020603050405020304" pitchFamily="18" charset="0"/>
                <a:ea typeface="楷体_GB2312" pitchFamily="49" charset="-122"/>
              </a:defRPr>
            </a:lvl3pPr>
            <a:lvl4pPr marL="1600200" indent="-228600">
              <a:defRPr kumimoji="1" sz="3200" b="1">
                <a:solidFill>
                  <a:schemeClr val="bg1"/>
                </a:solidFill>
                <a:latin typeface="Times New Roman" panose="02020603050405020304" pitchFamily="18" charset="0"/>
                <a:ea typeface="楷体_GB2312" pitchFamily="49" charset="-122"/>
              </a:defRPr>
            </a:lvl4pPr>
            <a:lvl5pPr marL="2057400" indent="-228600">
              <a:defRPr kumimoji="1" sz="3200" b="1">
                <a:solidFill>
                  <a:schemeClr val="bg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9pPr>
          </a:lstStyle>
          <a:p>
            <a:fld id="{460BA7F9-E437-43EE-B5E9-3C24A3BC53B1}" type="slidenum">
              <a:rPr lang="zh-CN" altLang="en-US" sz="1200" smtClean="0"/>
              <a:pPr/>
              <a:t>24</a:t>
            </a:fld>
            <a:endParaRPr lang="zh-CN" altLang="en-US" sz="1200"/>
          </a:p>
        </p:txBody>
      </p:sp>
    </p:spTree>
    <p:extLst>
      <p:ext uri="{BB962C8B-B14F-4D97-AF65-F5344CB8AC3E}">
        <p14:creationId xmlns:p14="http://schemas.microsoft.com/office/powerpoint/2010/main" val="3447652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a:extLst>
              <a:ext uri="{FF2B5EF4-FFF2-40B4-BE49-F238E27FC236}">
                <a16:creationId xmlns:a16="http://schemas.microsoft.com/office/drawing/2014/main" id="{6CCB0F33-6118-4F69-A02A-903C709A78C7}"/>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备注占位符 2">
            <a:extLst>
              <a:ext uri="{FF2B5EF4-FFF2-40B4-BE49-F238E27FC236}">
                <a16:creationId xmlns:a16="http://schemas.microsoft.com/office/drawing/2014/main" id="{1A3AC268-6636-4950-AAF2-88D21C035C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altLang="zh-CN" b="1" dirty="0"/>
              <a:t>Calcitriol (1,25-dihydroxycholecalciferol)  circulates as a hormone in the blood</a:t>
            </a:r>
            <a:r>
              <a:rPr lang="en-US" altLang="zh-CN" dirty="0"/>
              <a:t>, having a major role regulating the concentration of calcium and phosphate, and promoting the healthy growth and remodeling of bone.  Calcitriol also has other effects, including some on cell growth, neuromuscular and immune functions, and reduction of inflammation.[2]</a:t>
            </a:r>
          </a:p>
          <a:p>
            <a:endParaRPr lang="en-US" altLang="zh-CN" dirty="0"/>
          </a:p>
          <a:p>
            <a:r>
              <a:rPr lang="en-US" altLang="zh-CN" b="1" dirty="0"/>
              <a:t>Calcitonin: </a:t>
            </a:r>
            <a:r>
              <a:rPr lang="zh-CN" altLang="en-US" b="1" dirty="0"/>
              <a:t>降钙素</a:t>
            </a:r>
            <a:endParaRPr lang="en-US" altLang="zh-CN" b="1" dirty="0"/>
          </a:p>
          <a:p>
            <a:endParaRPr lang="en-US" altLang="zh-CN" dirty="0"/>
          </a:p>
          <a:p>
            <a:r>
              <a:rPr lang="en-US" altLang="zh-CN" dirty="0"/>
              <a:t>Calcitriol</a:t>
            </a:r>
            <a:r>
              <a:rPr lang="zh-CN" altLang="en-US" dirty="0"/>
              <a:t>（</a:t>
            </a:r>
            <a:r>
              <a:rPr lang="en-US" altLang="zh-CN" dirty="0"/>
              <a:t>1,25-</a:t>
            </a:r>
            <a:r>
              <a:rPr lang="zh-CN" altLang="en-US" dirty="0"/>
              <a:t>二羟基胆钙化醇） </a:t>
            </a:r>
            <a:r>
              <a:rPr lang="en-US" altLang="zh-CN" dirty="0"/>
              <a:t>increases blood calcium levels ([Ca2+] ) by:</a:t>
            </a:r>
          </a:p>
          <a:p>
            <a:pPr marL="171450" indent="-171450">
              <a:buFont typeface="Arial" panose="020B0604020202020204" pitchFamily="34" charset="0"/>
              <a:buChar char="•"/>
            </a:pPr>
            <a:r>
              <a:rPr lang="en-US" altLang="zh-CN" b="1" dirty="0"/>
              <a:t>Promoting absorption of dietary calcium from the gastrointestinal tract</a:t>
            </a:r>
            <a:r>
              <a:rPr lang="en-US" altLang="zh-CN" dirty="0"/>
              <a:t>.</a:t>
            </a:r>
          </a:p>
          <a:p>
            <a:pPr marL="171450" indent="-171450">
              <a:buFont typeface="Arial" panose="020B0604020202020204" pitchFamily="34" charset="0"/>
              <a:buChar char="•"/>
            </a:pPr>
            <a:r>
              <a:rPr lang="en-US" altLang="zh-CN" dirty="0"/>
              <a:t>Increasing </a:t>
            </a:r>
            <a:r>
              <a:rPr lang="en-US" altLang="zh-CN" b="1" dirty="0"/>
              <a:t>renal tubular reabsorption of calcium</a:t>
            </a:r>
            <a:r>
              <a:rPr lang="en-US" altLang="zh-CN" dirty="0"/>
              <a:t>, thus reducing the loss of calcium in the urine.</a:t>
            </a:r>
          </a:p>
          <a:p>
            <a:pPr marL="171450" indent="-171450">
              <a:buFont typeface="Arial" panose="020B0604020202020204" pitchFamily="34" charset="0"/>
              <a:buChar char="•"/>
            </a:pPr>
            <a:r>
              <a:rPr lang="en-US" altLang="zh-CN" b="1" dirty="0"/>
              <a:t>Stimulating release of calcium from bone</a:t>
            </a:r>
            <a:r>
              <a:rPr lang="en-US" altLang="zh-CN" dirty="0"/>
              <a:t>. For this it acts on the specific type of bone cells referred to as </a:t>
            </a:r>
            <a:r>
              <a:rPr lang="en-US" altLang="zh-CN" b="1" dirty="0"/>
              <a:t>osteoblasts </a:t>
            </a:r>
            <a:r>
              <a:rPr lang="zh-CN" altLang="en-US" b="1" dirty="0"/>
              <a:t>成骨细胞</a:t>
            </a:r>
            <a:r>
              <a:rPr lang="en-US" altLang="zh-CN" dirty="0"/>
              <a:t>, causing them to release RANKL, which in turn activates osteoblasts.</a:t>
            </a:r>
          </a:p>
        </p:txBody>
      </p:sp>
      <p:sp>
        <p:nvSpPr>
          <p:cNvPr id="68612" name="灯片编号占位符 3">
            <a:extLst>
              <a:ext uri="{FF2B5EF4-FFF2-40B4-BE49-F238E27FC236}">
                <a16:creationId xmlns:a16="http://schemas.microsoft.com/office/drawing/2014/main" id="{C98235B5-7859-4C45-AB91-946D5EB90BB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bg1"/>
                </a:solidFill>
                <a:latin typeface="Times New Roman" panose="02020603050405020304" pitchFamily="18" charset="0"/>
                <a:ea typeface="楷体_GB2312" pitchFamily="49" charset="-122"/>
              </a:defRPr>
            </a:lvl1pPr>
            <a:lvl2pPr marL="742950" indent="-285750">
              <a:defRPr kumimoji="1" sz="3200" b="1">
                <a:solidFill>
                  <a:schemeClr val="bg1"/>
                </a:solidFill>
                <a:latin typeface="Times New Roman" panose="02020603050405020304" pitchFamily="18" charset="0"/>
                <a:ea typeface="楷体_GB2312" pitchFamily="49" charset="-122"/>
              </a:defRPr>
            </a:lvl2pPr>
            <a:lvl3pPr marL="1143000" indent="-228600">
              <a:defRPr kumimoji="1" sz="3200" b="1">
                <a:solidFill>
                  <a:schemeClr val="bg1"/>
                </a:solidFill>
                <a:latin typeface="Times New Roman" panose="02020603050405020304" pitchFamily="18" charset="0"/>
                <a:ea typeface="楷体_GB2312" pitchFamily="49" charset="-122"/>
              </a:defRPr>
            </a:lvl3pPr>
            <a:lvl4pPr marL="1600200" indent="-228600">
              <a:defRPr kumimoji="1" sz="3200" b="1">
                <a:solidFill>
                  <a:schemeClr val="bg1"/>
                </a:solidFill>
                <a:latin typeface="Times New Roman" panose="02020603050405020304" pitchFamily="18" charset="0"/>
                <a:ea typeface="楷体_GB2312" pitchFamily="49" charset="-122"/>
              </a:defRPr>
            </a:lvl4pPr>
            <a:lvl5pPr marL="2057400" indent="-228600">
              <a:defRPr kumimoji="1" sz="3200" b="1">
                <a:solidFill>
                  <a:schemeClr val="bg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9pPr>
          </a:lstStyle>
          <a:p>
            <a:fld id="{0B5B3412-4061-4923-8E2C-24AEDAA53BB0}" type="slidenum">
              <a:rPr lang="zh-CN" altLang="en-US" sz="1200" smtClean="0"/>
              <a:pPr/>
              <a:t>25</a:t>
            </a:fld>
            <a:endParaRPr lang="zh-CN" altLang="en-US"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a:extLst>
              <a:ext uri="{FF2B5EF4-FFF2-40B4-BE49-F238E27FC236}">
                <a16:creationId xmlns:a16="http://schemas.microsoft.com/office/drawing/2014/main" id="{02DA8C18-CBFE-4461-961B-45231AAC3AA6}"/>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备注占位符 2">
            <a:extLst>
              <a:ext uri="{FF2B5EF4-FFF2-40B4-BE49-F238E27FC236}">
                <a16:creationId xmlns:a16="http://schemas.microsoft.com/office/drawing/2014/main" id="{EC71533C-7CB5-4F78-8A09-C33A86B3CA0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70660" name="灯片编号占位符 3">
            <a:extLst>
              <a:ext uri="{FF2B5EF4-FFF2-40B4-BE49-F238E27FC236}">
                <a16:creationId xmlns:a16="http://schemas.microsoft.com/office/drawing/2014/main" id="{A6C673F0-C68C-4785-82FC-4C8A5A3A2E8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384CFEEB-65FD-4860-8D23-F5A160F1CAF8}" type="slidenum">
              <a:rPr lang="zh-CN" altLang="en-US" smtClean="0">
                <a:solidFill>
                  <a:schemeClr val="bg1"/>
                </a:solidFill>
                <a:latin typeface="Times New Roman" panose="02020603050405020304" pitchFamily="18" charset="0"/>
                <a:ea typeface="楷体_GB2312" pitchFamily="49" charset="-122"/>
              </a:rPr>
              <a:pPr>
                <a:spcBef>
                  <a:spcPct val="0"/>
                </a:spcBef>
              </a:pPr>
              <a:t>26</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a:extLst>
              <a:ext uri="{FF2B5EF4-FFF2-40B4-BE49-F238E27FC236}">
                <a16:creationId xmlns:a16="http://schemas.microsoft.com/office/drawing/2014/main" id="{AFBA42D3-E570-418B-B021-3DB52B7B446B}"/>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备注占位符 2">
            <a:extLst>
              <a:ext uri="{FF2B5EF4-FFF2-40B4-BE49-F238E27FC236}">
                <a16:creationId xmlns:a16="http://schemas.microsoft.com/office/drawing/2014/main" id="{68A87244-2B23-44D2-9CBF-CE5E8CF6EB1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dirty="0"/>
              <a:t>1</a:t>
            </a:r>
            <a:r>
              <a:rPr lang="el-GR" altLang="zh-CN" b="1" dirty="0"/>
              <a:t>μ</a:t>
            </a:r>
            <a:r>
              <a:rPr lang="en-US" altLang="zh-CN" b="1" dirty="0"/>
              <a:t>g≈40IU</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不同国家的推荐标准不完全相同，多为</a:t>
            </a:r>
            <a:r>
              <a:rPr lang="en-US" altLang="zh-CN" dirty="0"/>
              <a:t>400IU</a:t>
            </a:r>
            <a:r>
              <a:rPr lang="zh-CN" altLang="en-US" dirty="0"/>
              <a:t>或</a:t>
            </a:r>
            <a:r>
              <a:rPr lang="en-US" altLang="zh-CN" dirty="0"/>
              <a:t>600IU</a:t>
            </a:r>
            <a:r>
              <a:rPr lang="zh-CN" altLang="en-US" dirty="0"/>
              <a:t>。 幼儿与成人略有别。 </a:t>
            </a:r>
            <a:r>
              <a:rPr lang="en-US" altLang="zh-CN" dirty="0"/>
              <a:t>70</a:t>
            </a:r>
            <a:r>
              <a:rPr lang="zh-CN" altLang="en-US" dirty="0"/>
              <a:t>岁以上加倍。</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r>
              <a:rPr lang="zh-CN" altLang="en-US" dirty="0"/>
              <a:t>哪些人有维生素</a:t>
            </a:r>
            <a:r>
              <a:rPr lang="en-US" altLang="zh-CN" dirty="0"/>
              <a:t>D</a:t>
            </a:r>
            <a:r>
              <a:rPr lang="zh-CN" altLang="en-US" dirty="0"/>
              <a:t>缺乏的风险？</a:t>
            </a:r>
          </a:p>
          <a:p>
            <a:r>
              <a:rPr lang="zh-CN" altLang="en-US" dirty="0"/>
              <a:t>大多数人都有可能缺！</a:t>
            </a:r>
            <a:r>
              <a:rPr lang="zh-CN" altLang="en-US" b="1" dirty="0"/>
              <a:t>维生素 </a:t>
            </a:r>
            <a:r>
              <a:rPr lang="en-US" altLang="zh-CN" b="1" dirty="0"/>
              <a:t>D </a:t>
            </a:r>
            <a:r>
              <a:rPr lang="zh-CN" altLang="en-US" b="1" dirty="0"/>
              <a:t>的独特之处在于，与其他维生素不同，它主要不是从饮食中获得的。</a:t>
            </a:r>
          </a:p>
          <a:p>
            <a:endParaRPr lang="zh-CN" altLang="en-US" dirty="0"/>
          </a:p>
        </p:txBody>
      </p:sp>
      <p:sp>
        <p:nvSpPr>
          <p:cNvPr id="72708" name="灯片编号占位符 3">
            <a:extLst>
              <a:ext uri="{FF2B5EF4-FFF2-40B4-BE49-F238E27FC236}">
                <a16:creationId xmlns:a16="http://schemas.microsoft.com/office/drawing/2014/main" id="{A9D1D01C-5F94-47AE-9A7A-4A135219F03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E325AE3E-89A5-4426-8700-E29CEE1AA996}" type="slidenum">
              <a:rPr lang="zh-CN" altLang="en-US" smtClean="0">
                <a:solidFill>
                  <a:schemeClr val="bg1"/>
                </a:solidFill>
                <a:latin typeface="Times New Roman" panose="02020603050405020304" pitchFamily="18" charset="0"/>
                <a:ea typeface="楷体_GB2312" pitchFamily="49" charset="-122"/>
              </a:rPr>
              <a:pPr>
                <a:spcBef>
                  <a:spcPct val="0"/>
                </a:spcBef>
              </a:pPr>
              <a:t>27</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“据估计，全球起码超过 </a:t>
            </a:r>
            <a:r>
              <a:rPr lang="en-US" altLang="zh-CN" dirty="0"/>
              <a:t>30 </a:t>
            </a:r>
            <a:r>
              <a:rPr lang="zh-CN" altLang="en-US" dirty="0"/>
              <a:t>亿人缺乏维生素 </a:t>
            </a:r>
            <a:r>
              <a:rPr lang="en-US" altLang="zh-CN" dirty="0"/>
              <a:t>D</a:t>
            </a:r>
            <a:r>
              <a:rPr lang="zh-CN" altLang="en-US" dirty="0"/>
              <a:t>。</a:t>
            </a:r>
            <a:r>
              <a:rPr lang="zh-CN" altLang="en-US" b="1" dirty="0"/>
              <a:t>中国大城市人群</a:t>
            </a:r>
            <a:r>
              <a:rPr lang="en-US" altLang="zh-CN" b="1" dirty="0"/>
              <a:t>(20</a:t>
            </a:r>
            <a:r>
              <a:rPr lang="zh-CN" altLang="en-US" b="1" dirty="0"/>
              <a:t>岁以上</a:t>
            </a:r>
            <a:r>
              <a:rPr lang="en-US" altLang="zh-CN" b="1" dirty="0"/>
              <a:t>)</a:t>
            </a:r>
            <a:r>
              <a:rPr lang="zh-CN" altLang="en-US" b="1" dirty="0"/>
              <a:t>中，维生素</a:t>
            </a:r>
            <a:r>
              <a:rPr lang="en-US" altLang="zh-CN" b="1" dirty="0"/>
              <a:t>D</a:t>
            </a:r>
            <a:r>
              <a:rPr lang="zh-CN" altLang="en-US" b="1" dirty="0"/>
              <a:t>正常的人仅占</a:t>
            </a:r>
            <a:r>
              <a:rPr lang="en-US" altLang="zh-CN" b="1" dirty="0"/>
              <a:t>0.67%</a:t>
            </a:r>
            <a:r>
              <a:rPr lang="zh-CN" altLang="en-US" b="1" dirty="0"/>
              <a:t>，严重缺乏者达到</a:t>
            </a:r>
            <a:r>
              <a:rPr lang="en-US" altLang="zh-CN" b="1" dirty="0"/>
              <a:t>21%</a:t>
            </a:r>
            <a:r>
              <a:rPr lang="zh-CN" altLang="en-US" b="1" dirty="0"/>
              <a:t>。这个数字我个人感觉偏保守了一些</a:t>
            </a:r>
            <a:r>
              <a:rPr lang="zh-CN" altLang="en-US" dirty="0"/>
              <a:t>，除了摄入不足外，现代很多人</a:t>
            </a:r>
            <a:r>
              <a:rPr lang="en-US" altLang="zh-CN" dirty="0"/>
              <a:t>996</a:t>
            </a:r>
            <a:r>
              <a:rPr lang="zh-CN" altLang="en-US" dirty="0"/>
              <a:t>工作搬砖，根本晒不到多少太阳。大众审美也是以白为美，崇尚白富美和小鲜肉文化，导致大家都在拼命做防晒，美白，忽视了晒太阳的重要性，在紫外线下暴露不足。而维生素 Ｄ 缺乏症的症状常模糊不典型，例如浑身东痛西痛，肌肉无力，骨质疏松，容易发生骨折、韧带、软骨损伤等情况。同时，传统临床检验中缺乏对维生素</a:t>
            </a:r>
            <a:r>
              <a:rPr lang="en-US" altLang="zh-CN" dirty="0"/>
              <a:t>D</a:t>
            </a:r>
            <a:r>
              <a:rPr lang="zh-CN" altLang="en-US" dirty="0"/>
              <a:t>检验的成熟技术。并没有普遍开展。”</a:t>
            </a:r>
            <a:endParaRPr lang="en-US" altLang="zh-CN" dirty="0"/>
          </a:p>
          <a:p>
            <a:endParaRPr lang="en-US" altLang="zh-CN" dirty="0"/>
          </a:p>
          <a:p>
            <a:r>
              <a:rPr lang="zh-CN" altLang="en-US" dirty="0"/>
              <a:t>评价维生素</a:t>
            </a:r>
            <a:r>
              <a:rPr lang="en-US" altLang="zh-CN" dirty="0"/>
              <a:t>D</a:t>
            </a:r>
            <a:r>
              <a:rPr lang="zh-CN" altLang="en-US" dirty="0"/>
              <a:t>水平主要指标是血浆中</a:t>
            </a:r>
            <a:r>
              <a:rPr lang="en-US" altLang="zh-CN" dirty="0"/>
              <a:t>25-</a:t>
            </a:r>
            <a:r>
              <a:rPr lang="zh-CN" altLang="en-US" dirty="0"/>
              <a:t>羟</a:t>
            </a:r>
            <a:r>
              <a:rPr lang="en-US" altLang="zh-CN" dirty="0"/>
              <a:t>D</a:t>
            </a:r>
            <a:r>
              <a:rPr lang="en-US" altLang="zh-CN" baseline="-25000" dirty="0"/>
              <a:t>3</a:t>
            </a:r>
          </a:p>
        </p:txBody>
      </p:sp>
      <p:sp>
        <p:nvSpPr>
          <p:cNvPr id="4" name="灯片编号占位符 3"/>
          <p:cNvSpPr>
            <a:spLocks noGrp="1"/>
          </p:cNvSpPr>
          <p:nvPr>
            <p:ph type="sldNum" sz="quarter" idx="5"/>
          </p:nvPr>
        </p:nvSpPr>
        <p:spPr/>
        <p:txBody>
          <a:bodyPr/>
          <a:lstStyle/>
          <a:p>
            <a:pPr>
              <a:defRPr/>
            </a:pPr>
            <a:fld id="{2D76A890-7C90-4642-A290-690AA85DBCEA}" type="slidenum">
              <a:rPr lang="zh-CN" altLang="en-US" smtClean="0"/>
              <a:pPr>
                <a:defRPr/>
              </a:pPr>
              <a:t>28</a:t>
            </a:fld>
            <a:endParaRPr lang="zh-CN" altLang="en-US"/>
          </a:p>
        </p:txBody>
      </p:sp>
    </p:spTree>
    <p:extLst>
      <p:ext uri="{BB962C8B-B14F-4D97-AF65-F5344CB8AC3E}">
        <p14:creationId xmlns:p14="http://schemas.microsoft.com/office/powerpoint/2010/main" val="39601184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a:extLst>
              <a:ext uri="{FF2B5EF4-FFF2-40B4-BE49-F238E27FC236}">
                <a16:creationId xmlns:a16="http://schemas.microsoft.com/office/drawing/2014/main" id="{C3B000DC-2DEC-45DB-89EB-3A303CCE44E9}"/>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备注占位符 2">
            <a:extLst>
              <a:ext uri="{FF2B5EF4-FFF2-40B4-BE49-F238E27FC236}">
                <a16:creationId xmlns:a16="http://schemas.microsoft.com/office/drawing/2014/main" id="{341F3529-7CE9-4191-81DC-928D1DA314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74756" name="灯片编号占位符 3">
            <a:extLst>
              <a:ext uri="{FF2B5EF4-FFF2-40B4-BE49-F238E27FC236}">
                <a16:creationId xmlns:a16="http://schemas.microsoft.com/office/drawing/2014/main" id="{720DED1A-FE3A-4CFE-B9FC-760AE03C0D3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bg1"/>
                </a:solidFill>
                <a:latin typeface="Times New Roman" panose="02020603050405020304" pitchFamily="18" charset="0"/>
                <a:ea typeface="楷体_GB2312" pitchFamily="49" charset="-122"/>
              </a:defRPr>
            </a:lvl1pPr>
            <a:lvl2pPr marL="742950" indent="-285750">
              <a:defRPr kumimoji="1" sz="3200" b="1">
                <a:solidFill>
                  <a:schemeClr val="bg1"/>
                </a:solidFill>
                <a:latin typeface="Times New Roman" panose="02020603050405020304" pitchFamily="18" charset="0"/>
                <a:ea typeface="楷体_GB2312" pitchFamily="49" charset="-122"/>
              </a:defRPr>
            </a:lvl2pPr>
            <a:lvl3pPr marL="1143000" indent="-228600">
              <a:defRPr kumimoji="1" sz="3200" b="1">
                <a:solidFill>
                  <a:schemeClr val="bg1"/>
                </a:solidFill>
                <a:latin typeface="Times New Roman" panose="02020603050405020304" pitchFamily="18" charset="0"/>
                <a:ea typeface="楷体_GB2312" pitchFamily="49" charset="-122"/>
              </a:defRPr>
            </a:lvl3pPr>
            <a:lvl4pPr marL="1600200" indent="-228600">
              <a:defRPr kumimoji="1" sz="3200" b="1">
                <a:solidFill>
                  <a:schemeClr val="bg1"/>
                </a:solidFill>
                <a:latin typeface="Times New Roman" panose="02020603050405020304" pitchFamily="18" charset="0"/>
                <a:ea typeface="楷体_GB2312" pitchFamily="49" charset="-122"/>
              </a:defRPr>
            </a:lvl4pPr>
            <a:lvl5pPr marL="2057400" indent="-228600">
              <a:defRPr kumimoji="1" sz="3200" b="1">
                <a:solidFill>
                  <a:schemeClr val="bg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9pPr>
          </a:lstStyle>
          <a:p>
            <a:fld id="{460BA7F9-E437-43EE-B5E9-3C24A3BC53B1}" type="slidenum">
              <a:rPr lang="zh-CN" altLang="en-US" sz="1200" smtClean="0"/>
              <a:pPr/>
              <a:t>29</a:t>
            </a:fld>
            <a:endParaRPr lang="zh-CN" altLang="en-US"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a:extLst>
              <a:ext uri="{FF2B5EF4-FFF2-40B4-BE49-F238E27FC236}">
                <a16:creationId xmlns:a16="http://schemas.microsoft.com/office/drawing/2014/main" id="{34B68513-1934-46B4-A584-83D94F93AEFB}"/>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备注占位符 2">
            <a:extLst>
              <a:ext uri="{FF2B5EF4-FFF2-40B4-BE49-F238E27FC236}">
                <a16:creationId xmlns:a16="http://schemas.microsoft.com/office/drawing/2014/main" id="{983C06AD-6AB8-430B-BCEC-8FDEAB27915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solidFill>
                  <a:srgbClr val="FFFF00"/>
                </a:solidFill>
              </a:rPr>
              <a:t>严格说来，</a:t>
            </a:r>
            <a:r>
              <a:rPr lang="en-US" altLang="zh-CN" dirty="0">
                <a:solidFill>
                  <a:srgbClr val="FFFF00"/>
                </a:solidFill>
              </a:rPr>
              <a:t>VD</a:t>
            </a:r>
            <a:r>
              <a:rPr lang="zh-CN" altLang="en-US" dirty="0">
                <a:solidFill>
                  <a:srgbClr val="FFFF00"/>
                </a:solidFill>
              </a:rPr>
              <a:t>算不上是维生素，因为晒够太阳就不会缺。  </a:t>
            </a:r>
            <a:endParaRPr lang="en-US" altLang="zh-CN" dirty="0">
              <a:solidFill>
                <a:srgbClr val="FFFF00"/>
              </a:solidFill>
            </a:endParaRPr>
          </a:p>
          <a:p>
            <a:endParaRPr lang="en-US" altLang="zh-CN" dirty="0">
              <a:solidFill>
                <a:srgbClr val="FFFF00"/>
              </a:solidFill>
            </a:endParaRPr>
          </a:p>
          <a:p>
            <a:r>
              <a:rPr lang="zh-CN" altLang="en-US" dirty="0">
                <a:solidFill>
                  <a:srgbClr val="FFFF00"/>
                </a:solidFill>
              </a:rPr>
              <a:t>紫外线，是波长为</a:t>
            </a:r>
            <a:r>
              <a:rPr lang="en-US" altLang="zh-CN" dirty="0">
                <a:solidFill>
                  <a:srgbClr val="FFFF00"/>
                </a:solidFill>
              </a:rPr>
              <a:t>10-400</a:t>
            </a:r>
            <a:r>
              <a:rPr lang="zh-CN" altLang="en-US" dirty="0">
                <a:solidFill>
                  <a:srgbClr val="FFFF00"/>
                </a:solidFill>
              </a:rPr>
              <a:t>纳米的电磁辐射。 </a:t>
            </a:r>
          </a:p>
          <a:p>
            <a:r>
              <a:rPr lang="zh-CN" altLang="en-US" dirty="0">
                <a:solidFill>
                  <a:srgbClr val="FFFF00"/>
                </a:solidFill>
              </a:rPr>
              <a:t>紫外线</a:t>
            </a:r>
            <a:r>
              <a:rPr lang="en-US" altLang="zh-CN" dirty="0">
                <a:solidFill>
                  <a:srgbClr val="FFFF00"/>
                </a:solidFill>
              </a:rPr>
              <a:t>A: 315-400nm,   </a:t>
            </a:r>
          </a:p>
          <a:p>
            <a:r>
              <a:rPr lang="zh-CN" altLang="en-US" b="1" dirty="0">
                <a:solidFill>
                  <a:srgbClr val="FFFF00"/>
                </a:solidFill>
              </a:rPr>
              <a:t>紫外线</a:t>
            </a:r>
            <a:r>
              <a:rPr lang="en-US" altLang="zh-CN" b="1" dirty="0">
                <a:solidFill>
                  <a:srgbClr val="FFFF00"/>
                </a:solidFill>
              </a:rPr>
              <a:t>B</a:t>
            </a:r>
            <a:r>
              <a:rPr lang="zh-CN" altLang="en-US" b="1" dirty="0">
                <a:solidFill>
                  <a:srgbClr val="FFFF00"/>
                </a:solidFill>
              </a:rPr>
              <a:t>：  </a:t>
            </a:r>
            <a:r>
              <a:rPr lang="en-US" altLang="zh-CN" b="1" dirty="0">
                <a:solidFill>
                  <a:srgbClr val="FFFF00"/>
                </a:solidFill>
              </a:rPr>
              <a:t>280-315nm</a:t>
            </a:r>
          </a:p>
          <a:p>
            <a:r>
              <a:rPr lang="zh-CN" altLang="en-US" dirty="0">
                <a:solidFill>
                  <a:srgbClr val="FFFF00"/>
                </a:solidFill>
              </a:rPr>
              <a:t>紫外线</a:t>
            </a:r>
            <a:r>
              <a:rPr lang="en-US" altLang="zh-CN" dirty="0">
                <a:solidFill>
                  <a:srgbClr val="FFFF00"/>
                </a:solidFill>
              </a:rPr>
              <a:t>C:  100-280nm</a:t>
            </a:r>
            <a:br>
              <a:rPr lang="en-US" altLang="zh-CN" dirty="0">
                <a:solidFill>
                  <a:srgbClr val="FFFF00"/>
                </a:solidFill>
              </a:rPr>
            </a:br>
            <a:r>
              <a:rPr lang="zh-CN" altLang="en-US" dirty="0">
                <a:solidFill>
                  <a:srgbClr val="FFFF00"/>
                </a:solidFill>
              </a:rPr>
              <a:t>常见的钠钙玻璃，例如窗玻璃，通过 </a:t>
            </a:r>
            <a:r>
              <a:rPr lang="en-US" altLang="zh-CN" dirty="0">
                <a:solidFill>
                  <a:srgbClr val="FFFF00"/>
                </a:solidFill>
              </a:rPr>
              <a:t>350 nm </a:t>
            </a:r>
            <a:r>
              <a:rPr lang="zh-CN" altLang="en-US" dirty="0">
                <a:solidFill>
                  <a:srgbClr val="FFFF00"/>
                </a:solidFill>
              </a:rPr>
              <a:t>以上约 </a:t>
            </a:r>
            <a:r>
              <a:rPr lang="en-US" altLang="zh-CN" dirty="0">
                <a:solidFill>
                  <a:srgbClr val="FFFF00"/>
                </a:solidFill>
              </a:rPr>
              <a:t>90% </a:t>
            </a:r>
            <a:r>
              <a:rPr lang="zh-CN" altLang="en-US" dirty="0">
                <a:solidFill>
                  <a:srgbClr val="FFFF00"/>
                </a:solidFill>
              </a:rPr>
              <a:t>的光，但阻挡 </a:t>
            </a:r>
            <a:r>
              <a:rPr lang="en-US" altLang="zh-CN" dirty="0">
                <a:solidFill>
                  <a:srgbClr val="FFFF00"/>
                </a:solidFill>
              </a:rPr>
              <a:t>300 nm </a:t>
            </a:r>
            <a:r>
              <a:rPr lang="zh-CN" altLang="en-US" dirty="0">
                <a:solidFill>
                  <a:srgbClr val="FFFF00"/>
                </a:solidFill>
              </a:rPr>
              <a:t>以下 </a:t>
            </a:r>
            <a:r>
              <a:rPr lang="en-US" altLang="zh-CN" dirty="0">
                <a:solidFill>
                  <a:srgbClr val="FFFF00"/>
                </a:solidFill>
              </a:rPr>
              <a:t>90% </a:t>
            </a:r>
            <a:r>
              <a:rPr lang="zh-CN" altLang="en-US" dirty="0">
                <a:solidFill>
                  <a:srgbClr val="FFFF00"/>
                </a:solidFill>
              </a:rPr>
              <a:t>以上的光。</a:t>
            </a:r>
          </a:p>
          <a:p>
            <a:endParaRPr lang="en-US" altLang="zh-CN" dirty="0">
              <a:solidFill>
                <a:srgbClr val="FFFF00"/>
              </a:solidFill>
            </a:endParaRPr>
          </a:p>
          <a:p>
            <a:endParaRPr lang="en-US" altLang="zh-CN" dirty="0">
              <a:solidFill>
                <a:srgbClr val="FFFF00"/>
              </a:solidFill>
            </a:endParaRPr>
          </a:p>
        </p:txBody>
      </p:sp>
      <p:sp>
        <p:nvSpPr>
          <p:cNvPr id="76804" name="灯片编号占位符 3">
            <a:extLst>
              <a:ext uri="{FF2B5EF4-FFF2-40B4-BE49-F238E27FC236}">
                <a16:creationId xmlns:a16="http://schemas.microsoft.com/office/drawing/2014/main" id="{FFCCE15D-C6F3-4300-A4AB-B0CCD279426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2846684-FD78-4D69-9F0D-F1E2EAABFED4}" type="slidenum">
              <a:rPr lang="zh-CN" altLang="en-US" smtClean="0">
                <a:solidFill>
                  <a:schemeClr val="bg1"/>
                </a:solidFill>
                <a:latin typeface="Times New Roman" panose="02020603050405020304" pitchFamily="18" charset="0"/>
                <a:ea typeface="楷体_GB2312" pitchFamily="49" charset="-122"/>
              </a:rPr>
              <a:pPr>
                <a:spcBef>
                  <a:spcPct val="0"/>
                </a:spcBef>
              </a:pPr>
              <a:t>30</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EA193-1CDC-FEF2-23C2-CC393A831238}"/>
            </a:ext>
          </a:extLst>
        </p:cNvPr>
        <p:cNvGrpSpPr/>
        <p:nvPr/>
      </p:nvGrpSpPr>
      <p:grpSpPr>
        <a:xfrm>
          <a:off x="0" y="0"/>
          <a:ext cx="0" cy="0"/>
          <a:chOff x="0" y="0"/>
          <a:chExt cx="0" cy="0"/>
        </a:xfrm>
      </p:grpSpPr>
      <p:sp>
        <p:nvSpPr>
          <p:cNvPr id="76802" name="幻灯片图像占位符 1">
            <a:extLst>
              <a:ext uri="{FF2B5EF4-FFF2-40B4-BE49-F238E27FC236}">
                <a16:creationId xmlns:a16="http://schemas.microsoft.com/office/drawing/2014/main" id="{CB913F2D-C1B4-563F-2732-C77C8DF788D4}"/>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备注占位符 2">
            <a:extLst>
              <a:ext uri="{FF2B5EF4-FFF2-40B4-BE49-F238E27FC236}">
                <a16:creationId xmlns:a16="http://schemas.microsoft.com/office/drawing/2014/main" id="{EFA95659-E77C-C0BC-E92E-195A2AAC2E6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solidFill>
                  <a:srgbClr val="FFFF00"/>
                </a:solidFill>
              </a:rPr>
              <a:t>特殊人群（肥胖、吸收不良、孕期、老年人）：先查血，再根据医嘱调整剂量，可达</a:t>
            </a:r>
            <a:r>
              <a:rPr lang="en-US" altLang="zh-CN" dirty="0">
                <a:solidFill>
                  <a:srgbClr val="FFFF00"/>
                </a:solidFill>
              </a:rPr>
              <a:t>2 000–4 000 IU/</a:t>
            </a:r>
            <a:r>
              <a:rPr lang="zh-CN" altLang="en-US" dirty="0">
                <a:solidFill>
                  <a:srgbClr val="FFFF00"/>
                </a:solidFill>
              </a:rPr>
              <a:t>日。</a:t>
            </a:r>
            <a:endParaRPr lang="en-US" altLang="zh-CN" dirty="0">
              <a:solidFill>
                <a:srgbClr val="FFFF00"/>
              </a:solidFill>
            </a:endParaRPr>
          </a:p>
          <a:p>
            <a:endParaRPr lang="en-US" altLang="zh-CN" dirty="0">
              <a:solidFill>
                <a:srgbClr val="FFFF00"/>
              </a:solidFill>
            </a:endParaRPr>
          </a:p>
        </p:txBody>
      </p:sp>
      <p:sp>
        <p:nvSpPr>
          <p:cNvPr id="76804" name="灯片编号占位符 3">
            <a:extLst>
              <a:ext uri="{FF2B5EF4-FFF2-40B4-BE49-F238E27FC236}">
                <a16:creationId xmlns:a16="http://schemas.microsoft.com/office/drawing/2014/main" id="{1CFA6A94-0464-4603-B371-02E91FCF779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2846684-FD78-4D69-9F0D-F1E2EAABFED4}" type="slidenum">
              <a:rPr lang="zh-CN" altLang="en-US" smtClean="0">
                <a:solidFill>
                  <a:schemeClr val="bg1"/>
                </a:solidFill>
                <a:latin typeface="Times New Roman" panose="02020603050405020304" pitchFamily="18" charset="0"/>
                <a:ea typeface="楷体_GB2312" pitchFamily="49" charset="-122"/>
              </a:rPr>
              <a:pPr>
                <a:spcBef>
                  <a:spcPct val="0"/>
                </a:spcBef>
              </a:pPr>
              <a:t>31</a:t>
            </a:fld>
            <a:endParaRPr lang="zh-CN" altLang="en-US">
              <a:solidFill>
                <a:schemeClr val="bg1"/>
              </a:solidFill>
              <a:latin typeface="Times New Roman" panose="02020603050405020304" pitchFamily="18" charset="0"/>
              <a:ea typeface="楷体_GB2312" pitchFamily="49" charset="-122"/>
            </a:endParaRPr>
          </a:p>
        </p:txBody>
      </p:sp>
    </p:spTree>
    <p:extLst>
      <p:ext uri="{BB962C8B-B14F-4D97-AF65-F5344CB8AC3E}">
        <p14:creationId xmlns:p14="http://schemas.microsoft.com/office/powerpoint/2010/main" val="1384878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a:extLst>
              <a:ext uri="{FF2B5EF4-FFF2-40B4-BE49-F238E27FC236}">
                <a16:creationId xmlns:a16="http://schemas.microsoft.com/office/drawing/2014/main" id="{914E435E-864E-4B1C-AF85-95B231B0869F}"/>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备注占位符 2">
            <a:extLst>
              <a:ext uri="{FF2B5EF4-FFF2-40B4-BE49-F238E27FC236}">
                <a16:creationId xmlns:a16="http://schemas.microsoft.com/office/drawing/2014/main" id="{BAD44AB4-F356-4DD9-8FFC-411DEBD1C4E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维生素</a:t>
            </a:r>
            <a:r>
              <a:rPr lang="en-US" altLang="zh-CN" dirty="0"/>
              <a:t>E </a:t>
            </a:r>
            <a:r>
              <a:rPr lang="zh-CN" altLang="en-US" dirty="0"/>
              <a:t>能提高血红素合成的关键酶</a:t>
            </a:r>
            <a:r>
              <a:rPr lang="en-US" altLang="zh-CN" dirty="0"/>
              <a:t>δ- </a:t>
            </a:r>
            <a:r>
              <a:rPr lang="zh-CN" altLang="en-US" dirty="0"/>
              <a:t>氨基</a:t>
            </a:r>
            <a:r>
              <a:rPr lang="en-US" altLang="zh-CN" dirty="0"/>
              <a:t>-γ- </a:t>
            </a:r>
            <a:r>
              <a:rPr lang="zh-CN" altLang="en-US" dirty="0"/>
              <a:t>酮戊酸（</a:t>
            </a:r>
            <a:r>
              <a:rPr lang="en-US" altLang="zh-CN" b="1" dirty="0"/>
              <a:t>ALA</a:t>
            </a:r>
            <a:r>
              <a:rPr lang="zh-CN" altLang="en-US" b="1" dirty="0"/>
              <a:t>）合酶</a:t>
            </a:r>
            <a:r>
              <a:rPr lang="zh-CN" altLang="en-US" dirty="0"/>
              <a:t>和</a:t>
            </a:r>
            <a:r>
              <a:rPr lang="en-US" altLang="zh-CN" dirty="0"/>
              <a:t>ALA </a:t>
            </a:r>
            <a:r>
              <a:rPr lang="zh-CN" altLang="en-US" dirty="0"/>
              <a:t>脱水酶的活性，从而促进血红素的合成。</a:t>
            </a:r>
            <a:endParaRPr lang="en-US" altLang="zh-CN" dirty="0"/>
          </a:p>
        </p:txBody>
      </p:sp>
      <p:sp>
        <p:nvSpPr>
          <p:cNvPr id="78852" name="灯片编号占位符 3">
            <a:extLst>
              <a:ext uri="{FF2B5EF4-FFF2-40B4-BE49-F238E27FC236}">
                <a16:creationId xmlns:a16="http://schemas.microsoft.com/office/drawing/2014/main" id="{ED36B7C3-D270-4858-91D0-B75E479D8F2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90E36A56-78E9-4D81-AEB5-339FAFC6485E}" type="slidenum">
              <a:rPr lang="zh-CN" altLang="en-US" smtClean="0">
                <a:solidFill>
                  <a:schemeClr val="bg1"/>
                </a:solidFill>
                <a:latin typeface="Times New Roman" panose="02020603050405020304" pitchFamily="18" charset="0"/>
                <a:ea typeface="楷体_GB2312" pitchFamily="49" charset="-122"/>
              </a:rPr>
              <a:pPr>
                <a:spcBef>
                  <a:spcPct val="0"/>
                </a:spcBef>
              </a:pPr>
              <a:t>32</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a:extLst>
              <a:ext uri="{FF2B5EF4-FFF2-40B4-BE49-F238E27FC236}">
                <a16:creationId xmlns:a16="http://schemas.microsoft.com/office/drawing/2014/main" id="{62C1B4CE-D885-4B66-9FD6-58FD9987058B}"/>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备注占位符 2">
            <a:extLst>
              <a:ext uri="{FF2B5EF4-FFF2-40B4-BE49-F238E27FC236}">
                <a16:creationId xmlns:a16="http://schemas.microsoft.com/office/drawing/2014/main" id="{F9DC69F8-DEA2-4B16-9C7F-8EE56971369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细胞内多种抗氧化物质的抗氧化作用可相互关联。  </a:t>
            </a:r>
            <a:r>
              <a:rPr lang="en-US" altLang="zh-CN" dirty="0"/>
              <a:t>NADH/NADPH</a:t>
            </a:r>
            <a:r>
              <a:rPr lang="zh-CN" altLang="en-US" dirty="0"/>
              <a:t>可主要由糖代谢不断生成，而糖通常不会缺乏。 </a:t>
            </a:r>
          </a:p>
        </p:txBody>
      </p:sp>
      <p:sp>
        <p:nvSpPr>
          <p:cNvPr id="80900" name="灯片编号占位符 3">
            <a:extLst>
              <a:ext uri="{FF2B5EF4-FFF2-40B4-BE49-F238E27FC236}">
                <a16:creationId xmlns:a16="http://schemas.microsoft.com/office/drawing/2014/main" id="{817D447B-EE7D-441E-B55E-6F52B289CA8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bg1"/>
                </a:solidFill>
                <a:latin typeface="Times New Roman" panose="02020603050405020304" pitchFamily="18" charset="0"/>
                <a:ea typeface="楷体_GB2312" pitchFamily="49" charset="-122"/>
              </a:defRPr>
            </a:lvl1pPr>
            <a:lvl2pPr marL="742950" indent="-285750">
              <a:defRPr kumimoji="1" sz="3200" b="1">
                <a:solidFill>
                  <a:schemeClr val="bg1"/>
                </a:solidFill>
                <a:latin typeface="Times New Roman" panose="02020603050405020304" pitchFamily="18" charset="0"/>
                <a:ea typeface="楷体_GB2312" pitchFamily="49" charset="-122"/>
              </a:defRPr>
            </a:lvl2pPr>
            <a:lvl3pPr marL="1143000" indent="-228600">
              <a:defRPr kumimoji="1" sz="3200" b="1">
                <a:solidFill>
                  <a:schemeClr val="bg1"/>
                </a:solidFill>
                <a:latin typeface="Times New Roman" panose="02020603050405020304" pitchFamily="18" charset="0"/>
                <a:ea typeface="楷体_GB2312" pitchFamily="49" charset="-122"/>
              </a:defRPr>
            </a:lvl3pPr>
            <a:lvl4pPr marL="1600200" indent="-228600">
              <a:defRPr kumimoji="1" sz="3200" b="1">
                <a:solidFill>
                  <a:schemeClr val="bg1"/>
                </a:solidFill>
                <a:latin typeface="Times New Roman" panose="02020603050405020304" pitchFamily="18" charset="0"/>
                <a:ea typeface="楷体_GB2312" pitchFamily="49" charset="-122"/>
              </a:defRPr>
            </a:lvl4pPr>
            <a:lvl5pPr marL="2057400" indent="-228600">
              <a:defRPr kumimoji="1" sz="3200" b="1">
                <a:solidFill>
                  <a:schemeClr val="bg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9pPr>
          </a:lstStyle>
          <a:p>
            <a:fld id="{16DB12A4-8112-44C3-9F91-C8BD71F700CC}" type="slidenum">
              <a:rPr lang="zh-CN" altLang="en-US" sz="1200" smtClean="0"/>
              <a:pPr/>
              <a:t>33</a:t>
            </a:fld>
            <a:endParaRPr lang="zh-CN" altLang="en-US"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a:extLst>
              <a:ext uri="{FF2B5EF4-FFF2-40B4-BE49-F238E27FC236}">
                <a16:creationId xmlns:a16="http://schemas.microsoft.com/office/drawing/2014/main" id="{780E99AE-2F8F-4F46-BCF2-F2192B377A74}"/>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备注占位符 2">
            <a:extLst>
              <a:ext uri="{FF2B5EF4-FFF2-40B4-BE49-F238E27FC236}">
                <a16:creationId xmlns:a16="http://schemas.microsoft.com/office/drawing/2014/main" id="{7A833712-BD60-401A-AEA5-F4A97AF581A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zh-CN" altLang="en-US" dirty="0"/>
              <a:t>几乎所有植物种子都富含维生素</a:t>
            </a:r>
            <a:r>
              <a:rPr lang="en-US" altLang="zh-CN" dirty="0"/>
              <a:t>E</a:t>
            </a:r>
            <a:r>
              <a:rPr lang="zh-CN" altLang="en-US" dirty="0"/>
              <a:t>，特别是含油脂丰富的种子，如各种坚果和油籽类食物。 </a:t>
            </a:r>
            <a:endParaRPr lang="en-US" altLang="zh-CN" dirty="0"/>
          </a:p>
        </p:txBody>
      </p:sp>
      <p:sp>
        <p:nvSpPr>
          <p:cNvPr id="84996" name="灯片编号占位符 3">
            <a:extLst>
              <a:ext uri="{FF2B5EF4-FFF2-40B4-BE49-F238E27FC236}">
                <a16:creationId xmlns:a16="http://schemas.microsoft.com/office/drawing/2014/main" id="{4182EF40-1CA8-4F05-9959-C624C9CC956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AFAAC93-8BD1-448E-85C2-F6233D1FEC76}" type="slidenum">
              <a:rPr lang="zh-CN" altLang="en-US" smtClean="0">
                <a:solidFill>
                  <a:schemeClr val="bg1"/>
                </a:solidFill>
                <a:latin typeface="Times New Roman" panose="02020603050405020304" pitchFamily="18" charset="0"/>
                <a:ea typeface="楷体_GB2312" pitchFamily="49" charset="-122"/>
              </a:rPr>
              <a:pPr>
                <a:spcBef>
                  <a:spcPct val="0"/>
                </a:spcBef>
              </a:pPr>
              <a:t>34</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A7765-6238-F4CC-CD05-85BCD0DCBFF2}"/>
            </a:ext>
          </a:extLst>
        </p:cNvPr>
        <p:cNvGrpSpPr/>
        <p:nvPr/>
      </p:nvGrpSpPr>
      <p:grpSpPr>
        <a:xfrm>
          <a:off x="0" y="0"/>
          <a:ext cx="0" cy="0"/>
          <a:chOff x="0" y="0"/>
          <a:chExt cx="0" cy="0"/>
        </a:xfrm>
      </p:grpSpPr>
      <p:sp>
        <p:nvSpPr>
          <p:cNvPr id="84994" name="幻灯片图像占位符 1">
            <a:extLst>
              <a:ext uri="{FF2B5EF4-FFF2-40B4-BE49-F238E27FC236}">
                <a16:creationId xmlns:a16="http://schemas.microsoft.com/office/drawing/2014/main" id="{FBE003F3-0BA1-3F10-0AE6-8191F0A525C1}"/>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备注占位符 2">
            <a:extLst>
              <a:ext uri="{FF2B5EF4-FFF2-40B4-BE49-F238E27FC236}">
                <a16:creationId xmlns:a16="http://schemas.microsoft.com/office/drawing/2014/main" id="{A219EDB6-8435-876A-B234-ABB40CA2F6F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p>
        </p:txBody>
      </p:sp>
      <p:sp>
        <p:nvSpPr>
          <p:cNvPr id="84996" name="灯片编号占位符 3">
            <a:extLst>
              <a:ext uri="{FF2B5EF4-FFF2-40B4-BE49-F238E27FC236}">
                <a16:creationId xmlns:a16="http://schemas.microsoft.com/office/drawing/2014/main" id="{37702A6D-57E8-2FFC-0895-DD82E672227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AFAAC93-8BD1-448E-85C2-F6233D1FEC76}" type="slidenum">
              <a:rPr lang="zh-CN" altLang="en-US" smtClean="0">
                <a:solidFill>
                  <a:schemeClr val="bg1"/>
                </a:solidFill>
                <a:latin typeface="Times New Roman" panose="02020603050405020304" pitchFamily="18" charset="0"/>
                <a:ea typeface="楷体_GB2312" pitchFamily="49" charset="-122"/>
              </a:rPr>
              <a:pPr>
                <a:spcBef>
                  <a:spcPct val="0"/>
                </a:spcBef>
              </a:pPr>
              <a:t>35</a:t>
            </a:fld>
            <a:endParaRPr lang="zh-CN" altLang="en-US">
              <a:solidFill>
                <a:schemeClr val="bg1"/>
              </a:solidFill>
              <a:latin typeface="Times New Roman" panose="02020603050405020304" pitchFamily="18" charset="0"/>
              <a:ea typeface="楷体_GB2312" pitchFamily="49" charset="-122"/>
            </a:endParaRPr>
          </a:p>
        </p:txBody>
      </p:sp>
    </p:spTree>
    <p:extLst>
      <p:ext uri="{BB962C8B-B14F-4D97-AF65-F5344CB8AC3E}">
        <p14:creationId xmlns:p14="http://schemas.microsoft.com/office/powerpoint/2010/main" val="34699461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a:extLst>
              <a:ext uri="{FF2B5EF4-FFF2-40B4-BE49-F238E27FC236}">
                <a16:creationId xmlns:a16="http://schemas.microsoft.com/office/drawing/2014/main" id="{CE0D691C-4748-48D3-86A9-0D3F79AC5676}"/>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备注占位符 2">
            <a:extLst>
              <a:ext uri="{FF2B5EF4-FFF2-40B4-BE49-F238E27FC236}">
                <a16:creationId xmlns:a16="http://schemas.microsoft.com/office/drawing/2014/main" id="{C624F8A0-AB1D-49F8-A88E-5D29A628791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t>K3</a:t>
            </a:r>
            <a:r>
              <a:rPr lang="zh-CN" altLang="en-US" dirty="0"/>
              <a:t>、</a:t>
            </a:r>
            <a:r>
              <a:rPr lang="en-US" altLang="zh-CN" dirty="0"/>
              <a:t>K4</a:t>
            </a:r>
            <a:r>
              <a:rPr lang="zh-CN" altLang="en-US" dirty="0"/>
              <a:t>溶于水，可口服或注射。</a:t>
            </a:r>
            <a:endParaRPr lang="en-US" altLang="zh-CN" dirty="0"/>
          </a:p>
          <a:p>
            <a:endParaRPr lang="en-US" altLang="zh-CN" dirty="0"/>
          </a:p>
        </p:txBody>
      </p:sp>
      <p:sp>
        <p:nvSpPr>
          <p:cNvPr id="87044" name="灯片编号占位符 3">
            <a:extLst>
              <a:ext uri="{FF2B5EF4-FFF2-40B4-BE49-F238E27FC236}">
                <a16:creationId xmlns:a16="http://schemas.microsoft.com/office/drawing/2014/main" id="{81866ADA-6193-4823-B18D-3DFC029C176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EDC036D-61E5-45A0-992B-80C46FD02B36}" type="slidenum">
              <a:rPr lang="zh-CN" altLang="en-US" smtClean="0">
                <a:solidFill>
                  <a:schemeClr val="bg1"/>
                </a:solidFill>
                <a:latin typeface="Times New Roman" panose="02020603050405020304" pitchFamily="18" charset="0"/>
                <a:ea typeface="楷体_GB2312" pitchFamily="49" charset="-122"/>
              </a:rPr>
              <a:pPr>
                <a:spcBef>
                  <a:spcPct val="0"/>
                </a:spcBef>
              </a:pPr>
              <a:t>36</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7956521-D92F-4AA0-AC3F-28305B170321}"/>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备注占位符 2">
            <a:extLst>
              <a:ext uri="{FF2B5EF4-FFF2-40B4-BE49-F238E27FC236}">
                <a16:creationId xmlns:a16="http://schemas.microsoft.com/office/drawing/2014/main" id="{7E62712B-410D-4600-A53A-3781F58EBDDE}"/>
              </a:ext>
            </a:extLst>
          </p:cNvPr>
          <p:cNvSpPr>
            <a:spLocks noGrp="1"/>
          </p:cNvSpPr>
          <p:nvPr>
            <p:ph type="body" idx="1"/>
          </p:nvPr>
        </p:nvSpPr>
        <p:spPr bwMode="auto"/>
        <p:txBody>
          <a:bodyPr wrap="square" numCol="1" anchor="t" anchorCtr="0" compatLnSpc="1">
            <a:prstTxWarp prst="textNoShape">
              <a:avLst/>
            </a:prstTxWarp>
            <a:normAutofit/>
          </a:bodyPr>
          <a:lstStyle/>
          <a:p>
            <a:pPr>
              <a:defRPr/>
            </a:pPr>
            <a:r>
              <a:rPr lang="zh-CN" altLang="en-US" b="0" dirty="0"/>
              <a:t>华法林（</a:t>
            </a:r>
            <a:r>
              <a:rPr lang="en-US" altLang="zh-CN" b="0" dirty="0"/>
              <a:t>warfarin)</a:t>
            </a:r>
            <a:r>
              <a:rPr lang="zh-CN" altLang="en-US" b="0" dirty="0"/>
              <a:t>是临床常用口服抗凝药</a:t>
            </a:r>
            <a:endParaRPr lang="en-US" altLang="zh-CN" b="0" dirty="0"/>
          </a:p>
          <a:p>
            <a:pPr>
              <a:defRPr/>
            </a:pPr>
            <a:endParaRPr lang="en-US" altLang="zh-CN" b="0" dirty="0"/>
          </a:p>
          <a:p>
            <a:pPr>
              <a:defRPr/>
            </a:pPr>
            <a:r>
              <a:rPr lang="en-US" altLang="zh-CN" b="0" dirty="0"/>
              <a:t>Presence of two carboxylate groups causes chelation of Ca2+, resulting in change in tertiary structure of protein and its activation. </a:t>
            </a:r>
          </a:p>
          <a:p>
            <a:pPr>
              <a:defRPr/>
            </a:pPr>
            <a:r>
              <a:rPr lang="zh-CN" altLang="en-US" b="0" dirty="0"/>
              <a:t>成骨细胞中</a:t>
            </a:r>
            <a:r>
              <a:rPr lang="zh-CN" altLang="en-US" b="1" dirty="0"/>
              <a:t>骨钙素（</a:t>
            </a:r>
            <a:r>
              <a:rPr lang="en-US" altLang="zh-CN" b="1" dirty="0"/>
              <a:t>osteocalcin)</a:t>
            </a:r>
            <a:r>
              <a:rPr lang="zh-CN" altLang="en-US" b="1" dirty="0"/>
              <a:t>的正常活化需要</a:t>
            </a:r>
            <a:r>
              <a:rPr lang="el-GR" altLang="zh-CN" b="1" dirty="0"/>
              <a:t>γ</a:t>
            </a:r>
            <a:r>
              <a:rPr lang="en-US" altLang="zh-CN" b="1" dirty="0"/>
              <a:t>-</a:t>
            </a:r>
            <a:r>
              <a:rPr lang="zh-CN" altLang="en-US" b="1" dirty="0"/>
              <a:t>羧化</a:t>
            </a:r>
            <a:r>
              <a:rPr lang="zh-CN" altLang="en-US" b="0" dirty="0"/>
              <a:t>，当骨钙素合成不足时，不能与</a:t>
            </a:r>
            <a:r>
              <a:rPr lang="en-US" altLang="zh-CN" b="0" dirty="0"/>
              <a:t>Ca</a:t>
            </a:r>
            <a:r>
              <a:rPr lang="en-US" altLang="zh-CN" b="0" baseline="30000" dirty="0"/>
              <a:t>2+</a:t>
            </a:r>
            <a:r>
              <a:rPr lang="zh-CN" altLang="en-US" b="0" dirty="0"/>
              <a:t>发生结合，将其转化为羟基磷灰石结晶</a:t>
            </a:r>
            <a:r>
              <a:rPr lang="zh-CN" altLang="en-US" b="1" dirty="0"/>
              <a:t>。 摄入足够的维生素</a:t>
            </a:r>
            <a:r>
              <a:rPr lang="en-US" altLang="zh-CN" b="1" dirty="0"/>
              <a:t>K</a:t>
            </a:r>
            <a:r>
              <a:rPr lang="zh-CN" altLang="en-US" b="1" dirty="0"/>
              <a:t>有利于降低骨折风险</a:t>
            </a:r>
            <a:r>
              <a:rPr lang="zh-CN" altLang="en-US" b="0" dirty="0"/>
              <a:t>。 </a:t>
            </a:r>
          </a:p>
        </p:txBody>
      </p:sp>
      <p:sp>
        <p:nvSpPr>
          <p:cNvPr id="89092" name="灯片编号占位符 3">
            <a:extLst>
              <a:ext uri="{FF2B5EF4-FFF2-40B4-BE49-F238E27FC236}">
                <a16:creationId xmlns:a16="http://schemas.microsoft.com/office/drawing/2014/main" id="{095DB32B-E51B-48A3-9405-872D56050B1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BC0AD2AD-073F-4A5B-A8B1-7E7359DF585E}" type="slidenum">
              <a:rPr lang="zh-CN" altLang="en-US" smtClean="0">
                <a:solidFill>
                  <a:schemeClr val="bg1"/>
                </a:solidFill>
                <a:latin typeface="Times New Roman" panose="02020603050405020304" pitchFamily="18" charset="0"/>
                <a:ea typeface="楷体_GB2312" pitchFamily="49" charset="-122"/>
              </a:rPr>
              <a:pPr>
                <a:spcBef>
                  <a:spcPct val="0"/>
                </a:spcBef>
              </a:pPr>
              <a:t>37</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a:extLst>
              <a:ext uri="{FF2B5EF4-FFF2-40B4-BE49-F238E27FC236}">
                <a16:creationId xmlns:a16="http://schemas.microsoft.com/office/drawing/2014/main" id="{0BAF42D7-3E2B-4644-A881-1A4C64FB3EA2}"/>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备注占位符 2">
            <a:extLst>
              <a:ext uri="{FF2B5EF4-FFF2-40B4-BE49-F238E27FC236}">
                <a16:creationId xmlns:a16="http://schemas.microsoft.com/office/drawing/2014/main" id="{610C1AAA-5ABC-4184-BA46-247DB1B92F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b="1" dirty="0"/>
              <a:t>维生素</a:t>
            </a:r>
            <a:r>
              <a:rPr lang="en-US" altLang="zh-CN" b="1" dirty="0"/>
              <a:t>K</a:t>
            </a:r>
            <a:r>
              <a:rPr lang="zh-CN" altLang="en-US" b="1" dirty="0"/>
              <a:t>对烹调较不敏感</a:t>
            </a:r>
            <a:r>
              <a:rPr lang="zh-CN" altLang="en-US" dirty="0"/>
              <a:t>，用沸水焯蔬菜及短时间炒菜不会造成维生素</a:t>
            </a:r>
            <a:r>
              <a:rPr lang="en-US" altLang="zh-CN" dirty="0"/>
              <a:t>K</a:t>
            </a:r>
            <a:r>
              <a:rPr lang="zh-CN" altLang="en-US" dirty="0"/>
              <a:t>的显著损失，反而可改善吸收利用率。  </a:t>
            </a:r>
            <a:endParaRPr lang="en-US" altLang="zh-CN" dirty="0"/>
          </a:p>
          <a:p>
            <a:r>
              <a:rPr lang="zh-CN" altLang="en-US" b="1" dirty="0"/>
              <a:t>除了增补剂途径，最重要的维生素膳食来源就是绿叶蔬菜中的</a:t>
            </a:r>
            <a:r>
              <a:rPr lang="en-US" altLang="zh-CN" b="1" dirty="0"/>
              <a:t>K1</a:t>
            </a:r>
            <a:r>
              <a:rPr lang="zh-CN" altLang="en-US" dirty="0"/>
              <a:t>。 在叶类蔬菜中，似乎叶绿素的含量与维生素</a:t>
            </a:r>
            <a:r>
              <a:rPr lang="en-US" altLang="zh-CN" dirty="0"/>
              <a:t>K1</a:t>
            </a:r>
            <a:r>
              <a:rPr lang="zh-CN" altLang="en-US" dirty="0"/>
              <a:t>的含量呈正相关，也就是说</a:t>
            </a:r>
            <a:r>
              <a:rPr lang="zh-CN" altLang="en-US" b="1" dirty="0"/>
              <a:t>蔬菜颜色越绿，所含维生素</a:t>
            </a:r>
            <a:r>
              <a:rPr lang="en-US" altLang="zh-CN" b="1" dirty="0"/>
              <a:t>K1</a:t>
            </a:r>
            <a:r>
              <a:rPr lang="zh-CN" altLang="en-US" b="1" dirty="0"/>
              <a:t>越多</a:t>
            </a:r>
          </a:p>
        </p:txBody>
      </p:sp>
      <p:sp>
        <p:nvSpPr>
          <p:cNvPr id="92164" name="灯片编号占位符 3">
            <a:extLst>
              <a:ext uri="{FF2B5EF4-FFF2-40B4-BE49-F238E27FC236}">
                <a16:creationId xmlns:a16="http://schemas.microsoft.com/office/drawing/2014/main" id="{12D5BBC0-CB6E-483C-BCFF-88A85C31984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C8C30B76-824F-4B28-A684-06B4A3D03B23}" type="slidenum">
              <a:rPr lang="zh-CN" altLang="en-US" smtClean="0">
                <a:solidFill>
                  <a:schemeClr val="bg1"/>
                </a:solidFill>
                <a:latin typeface="Times New Roman" panose="02020603050405020304" pitchFamily="18" charset="0"/>
                <a:ea typeface="楷体_GB2312" pitchFamily="49" charset="-122"/>
              </a:rPr>
              <a:pPr>
                <a:spcBef>
                  <a:spcPct val="0"/>
                </a:spcBef>
              </a:pPr>
              <a:t>38</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D76A890-7C90-4642-A290-690AA85DBCEA}" type="slidenum">
              <a:rPr lang="zh-CN" altLang="en-US" smtClean="0"/>
              <a:pPr>
                <a:defRPr/>
              </a:pPr>
              <a:t>39</a:t>
            </a:fld>
            <a:endParaRPr lang="zh-CN" altLang="en-US"/>
          </a:p>
        </p:txBody>
      </p:sp>
    </p:spTree>
    <p:extLst>
      <p:ext uri="{BB962C8B-B14F-4D97-AF65-F5344CB8AC3E}">
        <p14:creationId xmlns:p14="http://schemas.microsoft.com/office/powerpoint/2010/main" val="30573293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a:extLst>
              <a:ext uri="{FF2B5EF4-FFF2-40B4-BE49-F238E27FC236}">
                <a16:creationId xmlns:a16="http://schemas.microsoft.com/office/drawing/2014/main" id="{BCC9CA2B-8058-4607-8778-95722089D846}"/>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备注占位符 2">
            <a:extLst>
              <a:ext uri="{FF2B5EF4-FFF2-40B4-BE49-F238E27FC236}">
                <a16:creationId xmlns:a16="http://schemas.microsoft.com/office/drawing/2014/main" id="{340508BA-D48F-4FF4-844A-C3B5C30B25A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zh-CN" b="0" dirty="0"/>
              <a:t>B</a:t>
            </a:r>
            <a:r>
              <a:rPr lang="en-US" altLang="zh-CN" b="0" baseline="-25000" dirty="0"/>
              <a:t>12</a:t>
            </a:r>
            <a:r>
              <a:rPr lang="zh-CN" altLang="en-US" b="0" dirty="0"/>
              <a:t>例外，储存于肝脏，且存量较大。 </a:t>
            </a:r>
            <a:endParaRPr lang="en-US" altLang="zh-CN" b="0" dirty="0"/>
          </a:p>
          <a:p>
            <a:pPr eaLnBrk="1" hangingPunct="1"/>
            <a:endParaRPr lang="en-US" altLang="zh-CN" dirty="0"/>
          </a:p>
          <a:p>
            <a:pPr eaLnBrk="1" hangingPunct="1"/>
            <a:endParaRPr lang="en-US" altLang="zh-CN" dirty="0"/>
          </a:p>
        </p:txBody>
      </p:sp>
      <p:sp>
        <p:nvSpPr>
          <p:cNvPr id="95236" name="灯片编号占位符 3">
            <a:extLst>
              <a:ext uri="{FF2B5EF4-FFF2-40B4-BE49-F238E27FC236}">
                <a16:creationId xmlns:a16="http://schemas.microsoft.com/office/drawing/2014/main" id="{B8979F91-7186-481E-897C-DF4E530C18F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0617154-FC81-414D-A971-4EEC6D583A25}" type="slidenum">
              <a:rPr lang="zh-CN" altLang="en-US" smtClean="0">
                <a:solidFill>
                  <a:schemeClr val="bg1"/>
                </a:solidFill>
                <a:latin typeface="Times New Roman" panose="02020603050405020304" pitchFamily="18" charset="0"/>
                <a:ea typeface="楷体_GB2312" pitchFamily="49" charset="-122"/>
              </a:rPr>
              <a:pPr>
                <a:spcBef>
                  <a:spcPct val="0"/>
                </a:spcBef>
              </a:pPr>
              <a:t>40</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a:extLst>
              <a:ext uri="{FF2B5EF4-FFF2-40B4-BE49-F238E27FC236}">
                <a16:creationId xmlns:a16="http://schemas.microsoft.com/office/drawing/2014/main" id="{A5FE1802-2E57-4729-8941-487842AD857E}"/>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备注占位符 2">
            <a:extLst>
              <a:ext uri="{FF2B5EF4-FFF2-40B4-BE49-F238E27FC236}">
                <a16:creationId xmlns:a16="http://schemas.microsoft.com/office/drawing/2014/main" id="{146DE2F5-15DF-49D3-A4E3-6976ADF13A1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更正：教材９７页错误，应为：“．．．形成负碳离子，后者可与</a:t>
            </a:r>
            <a:r>
              <a:rPr lang="zh-CN" altLang="en-US" dirty="0">
                <a:sym typeface="Symbol" panose="05050102010706020507" pitchFamily="18" charset="2"/>
              </a:rPr>
              <a:t></a:t>
            </a:r>
            <a:r>
              <a:rPr lang="en-US" altLang="zh-CN" dirty="0"/>
              <a:t>-</a:t>
            </a:r>
            <a:r>
              <a:rPr lang="zh-CN" altLang="en-US" dirty="0"/>
              <a:t>酮酸</a:t>
            </a:r>
            <a:r>
              <a:rPr lang="zh-CN" altLang="en-US" b="1" dirty="0"/>
              <a:t>羰基</a:t>
            </a:r>
            <a:r>
              <a:rPr lang="zh-CN" altLang="en-US" dirty="0"/>
              <a:t>结合，进而使</a:t>
            </a:r>
            <a:r>
              <a:rPr lang="zh-CN" altLang="en-US" dirty="0">
                <a:sym typeface="Symbol" panose="05050102010706020507" pitchFamily="18" charset="2"/>
              </a:rPr>
              <a:t></a:t>
            </a:r>
            <a:r>
              <a:rPr lang="en-US" altLang="zh-CN" dirty="0"/>
              <a:t>-</a:t>
            </a:r>
            <a:r>
              <a:rPr lang="zh-CN" altLang="en-US" dirty="0"/>
              <a:t>酮酸脱羧。”   ，不是与</a:t>
            </a:r>
            <a:r>
              <a:rPr lang="zh-CN" altLang="en-US" dirty="0">
                <a:sym typeface="Symbol" panose="05050102010706020507" pitchFamily="18" charset="2"/>
              </a:rPr>
              <a:t></a:t>
            </a:r>
            <a:r>
              <a:rPr lang="en-US" altLang="zh-CN" dirty="0"/>
              <a:t>-</a:t>
            </a:r>
            <a:r>
              <a:rPr lang="zh-CN" altLang="en-US" dirty="0"/>
              <a:t>酮酸</a:t>
            </a:r>
            <a:r>
              <a:rPr lang="zh-CN" altLang="en-US" b="1" dirty="0"/>
              <a:t>羧基</a:t>
            </a:r>
            <a:r>
              <a:rPr lang="zh-CN" altLang="en-US" dirty="0"/>
              <a:t>结合， 可参见教材第</a:t>
            </a:r>
            <a:r>
              <a:rPr lang="en-US" altLang="zh-CN" dirty="0"/>
              <a:t>113</a:t>
            </a:r>
            <a:r>
              <a:rPr lang="zh-CN" altLang="en-US" dirty="0"/>
              <a:t>页最后两行。 </a:t>
            </a:r>
            <a:endParaRPr lang="en-US" altLang="zh-CN" dirty="0"/>
          </a:p>
          <a:p>
            <a:endParaRPr lang="en-US" altLang="zh-CN" dirty="0"/>
          </a:p>
          <a:p>
            <a:r>
              <a:rPr lang="zh-CN" altLang="en-US" dirty="0"/>
              <a:t>维生素</a:t>
            </a:r>
            <a:r>
              <a:rPr lang="en-US" altLang="zh-CN" dirty="0"/>
              <a:t>B1</a:t>
            </a:r>
            <a:r>
              <a:rPr lang="zh-CN" altLang="en-US" dirty="0"/>
              <a:t>耐酸不耐碱， 较耐热。   加碱处理食材，煎炸等会损失</a:t>
            </a:r>
            <a:r>
              <a:rPr lang="en-US" altLang="zh-CN" dirty="0"/>
              <a:t>B1 </a:t>
            </a:r>
          </a:p>
          <a:p>
            <a:endParaRPr lang="zh-CN" altLang="en-US" dirty="0"/>
          </a:p>
        </p:txBody>
      </p:sp>
      <p:sp>
        <p:nvSpPr>
          <p:cNvPr id="97284" name="灯片编号占位符 3">
            <a:extLst>
              <a:ext uri="{FF2B5EF4-FFF2-40B4-BE49-F238E27FC236}">
                <a16:creationId xmlns:a16="http://schemas.microsoft.com/office/drawing/2014/main" id="{247D0FE4-C573-4A62-B940-766CB86A177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bg1"/>
                </a:solidFill>
                <a:latin typeface="Times New Roman" panose="02020603050405020304" pitchFamily="18" charset="0"/>
                <a:ea typeface="楷体_GB2312" pitchFamily="49" charset="-122"/>
              </a:defRPr>
            </a:lvl1pPr>
            <a:lvl2pPr marL="742950" indent="-285750">
              <a:defRPr kumimoji="1" sz="3200" b="1">
                <a:solidFill>
                  <a:schemeClr val="bg1"/>
                </a:solidFill>
                <a:latin typeface="Times New Roman" panose="02020603050405020304" pitchFamily="18" charset="0"/>
                <a:ea typeface="楷体_GB2312" pitchFamily="49" charset="-122"/>
              </a:defRPr>
            </a:lvl2pPr>
            <a:lvl3pPr marL="1143000" indent="-228600">
              <a:defRPr kumimoji="1" sz="3200" b="1">
                <a:solidFill>
                  <a:schemeClr val="bg1"/>
                </a:solidFill>
                <a:latin typeface="Times New Roman" panose="02020603050405020304" pitchFamily="18" charset="0"/>
                <a:ea typeface="楷体_GB2312" pitchFamily="49" charset="-122"/>
              </a:defRPr>
            </a:lvl3pPr>
            <a:lvl4pPr marL="1600200" indent="-228600">
              <a:defRPr kumimoji="1" sz="3200" b="1">
                <a:solidFill>
                  <a:schemeClr val="bg1"/>
                </a:solidFill>
                <a:latin typeface="Times New Roman" panose="02020603050405020304" pitchFamily="18" charset="0"/>
                <a:ea typeface="楷体_GB2312" pitchFamily="49" charset="-122"/>
              </a:defRPr>
            </a:lvl4pPr>
            <a:lvl5pPr marL="2057400" indent="-228600">
              <a:defRPr kumimoji="1" sz="3200" b="1">
                <a:solidFill>
                  <a:schemeClr val="bg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9pPr>
          </a:lstStyle>
          <a:p>
            <a:fld id="{06B21ED8-D44D-474E-8CC6-D2EAECB2ED18}" type="slidenum">
              <a:rPr lang="zh-CN" altLang="en-US" sz="1200" smtClean="0"/>
              <a:pPr/>
              <a:t>41</a:t>
            </a:fld>
            <a:endParaRPr lang="zh-CN" altLang="en-US"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a:extLst>
              <a:ext uri="{FF2B5EF4-FFF2-40B4-BE49-F238E27FC236}">
                <a16:creationId xmlns:a16="http://schemas.microsoft.com/office/drawing/2014/main" id="{0B76017E-2DFC-4EE2-99B6-5F712D233A4C}"/>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备注占位符 2">
            <a:extLst>
              <a:ext uri="{FF2B5EF4-FFF2-40B4-BE49-F238E27FC236}">
                <a16:creationId xmlns:a16="http://schemas.microsoft.com/office/drawing/2014/main" id="{EB8C44DF-69AD-4357-934B-1960910115C9}"/>
              </a:ext>
            </a:extLst>
          </p:cNvPr>
          <p:cNvSpPr>
            <a:spLocks noGrp="1"/>
          </p:cNvSpPr>
          <p:nvPr>
            <p:ph type="body" idx="1"/>
          </p:nvPr>
        </p:nvSpPr>
        <p:spPr bwMode="auto"/>
        <p:txBody>
          <a:bodyPr wrap="square" numCol="1" anchor="t" anchorCtr="0" compatLnSpc="1">
            <a:prstTxWarp prst="textNoShape">
              <a:avLst/>
            </a:prstTxWarp>
            <a:normAutofit/>
          </a:bodyPr>
          <a:lstStyle/>
          <a:p>
            <a:pPr>
              <a:defRPr/>
            </a:pPr>
            <a:r>
              <a:rPr lang="zh-CN" altLang="en-US" b="0" dirty="0"/>
              <a:t>脚气病的症状起先是</a:t>
            </a:r>
            <a:r>
              <a:rPr lang="zh-CN" altLang="en-US" b="1" dirty="0"/>
              <a:t>手脚发麻，</a:t>
            </a:r>
            <a:r>
              <a:rPr lang="zh-CN" altLang="en-US" b="0" dirty="0"/>
              <a:t>后来有刺痛，后来双脚无力走路歪歪扭扭。 脚气病发展到后来会引起心脏病死亡。     </a:t>
            </a:r>
            <a:endParaRPr lang="en-US" altLang="zh-CN" b="0" dirty="0"/>
          </a:p>
          <a:p>
            <a:pPr>
              <a:defRPr/>
            </a:pPr>
            <a:r>
              <a:rPr lang="zh-CN" altLang="en-US" b="0" dirty="0"/>
              <a:t>长期吃精致大米又肉食不足，会出现</a:t>
            </a:r>
            <a:r>
              <a:rPr lang="en-US" altLang="zh-CN" b="0" dirty="0"/>
              <a:t>B1</a:t>
            </a:r>
            <a:r>
              <a:rPr lang="zh-CN" altLang="en-US" b="0" dirty="0"/>
              <a:t>缺乏。 </a:t>
            </a:r>
            <a:endParaRPr lang="en-US" altLang="zh-CN" b="0" dirty="0"/>
          </a:p>
          <a:p>
            <a:pPr>
              <a:defRPr/>
            </a:pPr>
            <a:endParaRPr lang="en-US" altLang="zh-CN" dirty="0"/>
          </a:p>
          <a:p>
            <a:pPr>
              <a:defRPr/>
            </a:pPr>
            <a:r>
              <a:rPr lang="zh-CN" altLang="en-US" b="0" dirty="0"/>
              <a:t>古中医把脚气病引起的心脏病叫做“脚气冲心”</a:t>
            </a:r>
            <a:r>
              <a:rPr lang="zh-CN" altLang="en-US" b="1" dirty="0"/>
              <a:t>。</a:t>
            </a:r>
            <a:r>
              <a:rPr lang="zh-CN" altLang="en-US" dirty="0"/>
              <a:t>脚气，古时候就是指脚气病。</a:t>
            </a:r>
            <a:endParaRPr lang="en-US" altLang="zh-CN" dirty="0"/>
          </a:p>
          <a:p>
            <a:pPr>
              <a:defRPr/>
            </a:pPr>
            <a:endParaRPr lang="en-US" altLang="zh-CN" dirty="0"/>
          </a:p>
          <a:p>
            <a:pPr>
              <a:defRPr/>
            </a:pPr>
            <a:r>
              <a:rPr lang="zh-CN" altLang="en-US" dirty="0">
                <a:effectLst>
                  <a:outerShdw blurRad="38100" dist="38100" dir="2700000" algn="tl">
                    <a:srgbClr val="000000"/>
                  </a:outerShdw>
                </a:effectLst>
                <a:latin typeface="仿宋_GB2312" pitchFamily="49" charset="-122"/>
                <a:ea typeface="仿宋_GB2312" pitchFamily="49" charset="-122"/>
              </a:rPr>
              <a:t>不是现在一般说的脚气哦，现在说的脚气是脚底真菌感染</a:t>
            </a:r>
            <a:endParaRPr lang="en-US" altLang="zh-CN" dirty="0">
              <a:effectLst>
                <a:outerShdw blurRad="38100" dist="38100" dir="2700000" algn="tl">
                  <a:srgbClr val="000000"/>
                </a:outerShdw>
              </a:effectLst>
              <a:latin typeface="仿宋_GB2312" pitchFamily="49" charset="-122"/>
              <a:ea typeface="仿宋_GB2312" pitchFamily="49" charset="-122"/>
            </a:endParaRPr>
          </a:p>
          <a:p>
            <a:pPr>
              <a:defRPr/>
            </a:pPr>
            <a:endParaRPr lang="en-US" altLang="zh-CN" dirty="0"/>
          </a:p>
          <a:p>
            <a:r>
              <a:rPr lang="zh-CN" altLang="en-US" sz="1200" b="0" i="0" kern="1200" dirty="0">
                <a:solidFill>
                  <a:schemeClr val="tx1"/>
                </a:solidFill>
                <a:effectLst/>
                <a:latin typeface="+mn-lt"/>
                <a:ea typeface="+mn-ea"/>
                <a:cs typeface="+mn-cs"/>
              </a:rPr>
              <a:t>维生素</a:t>
            </a:r>
            <a:r>
              <a:rPr lang="en-US" altLang="zh-CN" sz="1200" b="0" i="0" kern="1200" dirty="0">
                <a:solidFill>
                  <a:schemeClr val="tx1"/>
                </a:solidFill>
                <a:effectLst/>
                <a:latin typeface="+mn-lt"/>
                <a:ea typeface="+mn-ea"/>
                <a:cs typeface="+mn-cs"/>
              </a:rPr>
              <a:t>B1</a:t>
            </a:r>
            <a:r>
              <a:rPr lang="zh-CN" altLang="en-US" sz="1200" b="0" i="0" kern="1200" dirty="0">
                <a:solidFill>
                  <a:schemeClr val="tx1"/>
                </a:solidFill>
                <a:effectLst/>
                <a:latin typeface="+mn-lt"/>
                <a:ea typeface="+mn-ea"/>
                <a:cs typeface="+mn-cs"/>
              </a:rPr>
              <a:t>抑制胆碱酯酶活性，以维持神经递质乙酰胆碱的有效浓度，完成神经冲动的正常传递。</a:t>
            </a:r>
            <a:r>
              <a:rPr lang="zh-CN" altLang="en-US" sz="1200" b="0" i="0" u="none" strike="noStrike" kern="1200" baseline="0" dirty="0">
                <a:solidFill>
                  <a:schemeClr val="tx1"/>
                </a:solidFill>
                <a:latin typeface="+mn-lt"/>
                <a:ea typeface="+mn-ea"/>
                <a:cs typeface="+mn-cs"/>
              </a:rPr>
              <a:t>维生素</a:t>
            </a:r>
            <a:r>
              <a:rPr lang="en-US" altLang="zh-CN" sz="1200" b="0" i="0" u="none" strike="noStrike" kern="1200" baseline="0" dirty="0">
                <a:solidFill>
                  <a:schemeClr val="tx1"/>
                </a:solidFill>
                <a:latin typeface="+mn-lt"/>
                <a:ea typeface="+mn-ea"/>
                <a:cs typeface="+mn-cs"/>
              </a:rPr>
              <a:t>B1 </a:t>
            </a:r>
            <a:r>
              <a:rPr lang="zh-CN" altLang="en-US" sz="1200" b="0" i="0" u="none" strike="noStrike" kern="1200" baseline="0" dirty="0">
                <a:solidFill>
                  <a:schemeClr val="tx1"/>
                </a:solidFill>
                <a:latin typeface="+mn-lt"/>
                <a:ea typeface="+mn-ea"/>
                <a:cs typeface="+mn-cs"/>
              </a:rPr>
              <a:t>缺乏可导致神经传导异常，主要表现为</a:t>
            </a:r>
            <a:r>
              <a:rPr lang="zh-CN" altLang="en-US" sz="1200" b="1" i="0" u="none" strike="noStrike" kern="1200" baseline="0" dirty="0">
                <a:solidFill>
                  <a:schemeClr val="tx1"/>
                </a:solidFill>
                <a:latin typeface="+mn-lt"/>
                <a:ea typeface="+mn-ea"/>
                <a:cs typeface="+mn-cs"/>
              </a:rPr>
              <a:t>消化液分泌减少、胃蠕动变慢、消化不良</a:t>
            </a:r>
            <a:r>
              <a:rPr lang="zh-CN" altLang="en-US" sz="1200" b="0" i="0" u="none" strike="noStrike" kern="1200" baseline="0" dirty="0">
                <a:solidFill>
                  <a:schemeClr val="tx1"/>
                </a:solidFill>
                <a:latin typeface="+mn-lt"/>
                <a:ea typeface="+mn-ea"/>
                <a:cs typeface="+mn-cs"/>
              </a:rPr>
              <a:t>等症状。</a:t>
            </a:r>
            <a:endParaRPr lang="en-US" altLang="zh-CN" dirty="0"/>
          </a:p>
        </p:txBody>
      </p:sp>
      <p:sp>
        <p:nvSpPr>
          <p:cNvPr id="100356" name="灯片编号占位符 3">
            <a:extLst>
              <a:ext uri="{FF2B5EF4-FFF2-40B4-BE49-F238E27FC236}">
                <a16:creationId xmlns:a16="http://schemas.microsoft.com/office/drawing/2014/main" id="{59B5E88E-DA53-4024-89C1-2EBDAFC0444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1E39EC2B-408B-48A1-9702-31B5E7AAC797}" type="slidenum">
              <a:rPr lang="zh-CN" altLang="en-US" smtClean="0">
                <a:solidFill>
                  <a:schemeClr val="bg1"/>
                </a:solidFill>
                <a:latin typeface="Times New Roman" panose="02020603050405020304" pitchFamily="18" charset="0"/>
                <a:ea typeface="楷体_GB2312" pitchFamily="49" charset="-122"/>
              </a:rPr>
              <a:pPr>
                <a:spcBef>
                  <a:spcPct val="0"/>
                </a:spcBef>
              </a:pPr>
              <a:t>42</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德昂族，是中国云南和缅甸交界地区的山地少数民族。 </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2D76A890-7C90-4642-A290-690AA85DBCEA}" type="slidenum">
              <a:rPr lang="zh-CN" altLang="en-US" smtClean="0"/>
              <a:pPr>
                <a:defRPr/>
              </a:pPr>
              <a:t>43</a:t>
            </a:fld>
            <a:endParaRPr lang="zh-CN" altLang="en-US"/>
          </a:p>
        </p:txBody>
      </p:sp>
    </p:spTree>
    <p:extLst>
      <p:ext uri="{BB962C8B-B14F-4D97-AF65-F5344CB8AC3E}">
        <p14:creationId xmlns:p14="http://schemas.microsoft.com/office/powerpoint/2010/main" val="15061363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a:extLst>
              <a:ext uri="{FF2B5EF4-FFF2-40B4-BE49-F238E27FC236}">
                <a16:creationId xmlns:a16="http://schemas.microsoft.com/office/drawing/2014/main" id="{9A392913-6369-4EA7-B817-16A674BEFC3E}"/>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1" name="备注占位符 2">
            <a:extLst>
              <a:ext uri="{FF2B5EF4-FFF2-40B4-BE49-F238E27FC236}">
                <a16:creationId xmlns:a16="http://schemas.microsoft.com/office/drawing/2014/main" id="{7903C9BD-F00F-4994-B374-659FA8A08DE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t>riboflavin</a:t>
            </a:r>
            <a:endParaRPr lang="zh-CN" altLang="en-US" dirty="0"/>
          </a:p>
        </p:txBody>
      </p:sp>
      <p:sp>
        <p:nvSpPr>
          <p:cNvPr id="104452" name="灯片编号占位符 3">
            <a:extLst>
              <a:ext uri="{FF2B5EF4-FFF2-40B4-BE49-F238E27FC236}">
                <a16:creationId xmlns:a16="http://schemas.microsoft.com/office/drawing/2014/main" id="{15C9802E-D7F9-446C-A0D2-89689554760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bg1"/>
                </a:solidFill>
                <a:latin typeface="Times New Roman" panose="02020603050405020304" pitchFamily="18" charset="0"/>
                <a:ea typeface="楷体_GB2312" pitchFamily="49" charset="-122"/>
              </a:defRPr>
            </a:lvl1pPr>
            <a:lvl2pPr marL="742950" indent="-285750">
              <a:defRPr kumimoji="1" sz="3200" b="1">
                <a:solidFill>
                  <a:schemeClr val="bg1"/>
                </a:solidFill>
                <a:latin typeface="Times New Roman" panose="02020603050405020304" pitchFamily="18" charset="0"/>
                <a:ea typeface="楷体_GB2312" pitchFamily="49" charset="-122"/>
              </a:defRPr>
            </a:lvl2pPr>
            <a:lvl3pPr marL="1143000" indent="-228600">
              <a:defRPr kumimoji="1" sz="3200" b="1">
                <a:solidFill>
                  <a:schemeClr val="bg1"/>
                </a:solidFill>
                <a:latin typeface="Times New Roman" panose="02020603050405020304" pitchFamily="18" charset="0"/>
                <a:ea typeface="楷体_GB2312" pitchFamily="49" charset="-122"/>
              </a:defRPr>
            </a:lvl3pPr>
            <a:lvl4pPr marL="1600200" indent="-228600">
              <a:defRPr kumimoji="1" sz="3200" b="1">
                <a:solidFill>
                  <a:schemeClr val="bg1"/>
                </a:solidFill>
                <a:latin typeface="Times New Roman" panose="02020603050405020304" pitchFamily="18" charset="0"/>
                <a:ea typeface="楷体_GB2312" pitchFamily="49" charset="-122"/>
              </a:defRPr>
            </a:lvl4pPr>
            <a:lvl5pPr marL="2057400" indent="-228600">
              <a:defRPr kumimoji="1" sz="3200" b="1">
                <a:solidFill>
                  <a:schemeClr val="bg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9pPr>
          </a:lstStyle>
          <a:p>
            <a:fld id="{A0618D29-91DC-4A01-8D92-D3B9226EEB42}" type="slidenum">
              <a:rPr lang="zh-CN" altLang="en-US" sz="1200" smtClean="0"/>
              <a:pPr/>
              <a:t>44</a:t>
            </a:fld>
            <a:endParaRPr lang="zh-CN" altLang="en-US"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a:extLst>
              <a:ext uri="{FF2B5EF4-FFF2-40B4-BE49-F238E27FC236}">
                <a16:creationId xmlns:a16="http://schemas.microsoft.com/office/drawing/2014/main" id="{9B50E677-C58E-4532-A5F0-A2F50D1A3177}"/>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备注占位符 2">
            <a:extLst>
              <a:ext uri="{FF2B5EF4-FFF2-40B4-BE49-F238E27FC236}">
                <a16:creationId xmlns:a16="http://schemas.microsoft.com/office/drawing/2014/main" id="{17446691-D59F-4B1B-9617-B38F55A93D5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b="0" dirty="0"/>
              <a:t>FMN </a:t>
            </a:r>
            <a:r>
              <a:rPr lang="zh-CN" altLang="en-US" b="0" dirty="0"/>
              <a:t>还参与维生</a:t>
            </a:r>
            <a:r>
              <a:rPr lang="en-US" altLang="zh-CN" b="0" dirty="0"/>
              <a:t>B6</a:t>
            </a:r>
            <a:r>
              <a:rPr lang="zh-CN" altLang="en-US" b="0" dirty="0"/>
              <a:t>转变为磷酸吡哆醛的反应，</a:t>
            </a:r>
            <a:r>
              <a:rPr lang="en-US" altLang="zh-CN" b="0" dirty="0"/>
              <a:t>FAD </a:t>
            </a:r>
            <a:r>
              <a:rPr lang="zh-CN" altLang="en-US" b="0" dirty="0"/>
              <a:t>参与色氨酸转变为烟酸的过程。</a:t>
            </a:r>
            <a:endParaRPr lang="en-US" altLang="zh-CN" b="0" dirty="0"/>
          </a:p>
          <a:p>
            <a:r>
              <a:rPr lang="en-US" altLang="zh-CN" dirty="0"/>
              <a:t>FAD</a:t>
            </a:r>
            <a:r>
              <a:rPr lang="zh-CN" altLang="en-US" dirty="0"/>
              <a:t>还可作为谷胱甘肽还原酶的辅酶，参与体内抗氧化防御系统，维持还原型谷胱甘肤的浓度； </a:t>
            </a:r>
            <a:r>
              <a:rPr lang="en-US" altLang="zh-CN" dirty="0"/>
              <a:t>FAD </a:t>
            </a:r>
            <a:r>
              <a:rPr lang="zh-CN" altLang="en-US" dirty="0"/>
              <a:t>与细胞色素</a:t>
            </a:r>
            <a:r>
              <a:rPr lang="en-US" altLang="zh-CN" dirty="0"/>
              <a:t>P450 </a:t>
            </a:r>
            <a:r>
              <a:rPr lang="zh-CN" altLang="en-US" dirty="0"/>
              <a:t>结合，参与药物代谢。</a:t>
            </a:r>
            <a:endParaRPr lang="en-US" altLang="zh-CN" dirty="0"/>
          </a:p>
          <a:p>
            <a:endParaRPr lang="en-US" altLang="zh-CN" dirty="0"/>
          </a:p>
          <a:p>
            <a:endParaRPr lang="zh-CN" altLang="en-US" dirty="0"/>
          </a:p>
          <a:p>
            <a:endParaRPr lang="zh-CN" altLang="en-US" dirty="0"/>
          </a:p>
        </p:txBody>
      </p:sp>
      <p:sp>
        <p:nvSpPr>
          <p:cNvPr id="112644" name="灯片编号占位符 3">
            <a:extLst>
              <a:ext uri="{FF2B5EF4-FFF2-40B4-BE49-F238E27FC236}">
                <a16:creationId xmlns:a16="http://schemas.microsoft.com/office/drawing/2014/main" id="{84407CD7-D3E1-4698-8BA6-6E4FC18403A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A43CEF84-AD8D-4534-BE0E-9E3F761253C5}" type="slidenum">
              <a:rPr lang="zh-CN" altLang="en-US" smtClean="0">
                <a:solidFill>
                  <a:schemeClr val="bg1"/>
                </a:solidFill>
                <a:latin typeface="Times New Roman" panose="02020603050405020304" pitchFamily="18" charset="0"/>
                <a:ea typeface="楷体_GB2312" pitchFamily="49" charset="-122"/>
              </a:rPr>
              <a:pPr>
                <a:spcBef>
                  <a:spcPct val="0"/>
                </a:spcBef>
              </a:pPr>
              <a:t>45</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a:extLst>
              <a:ext uri="{FF2B5EF4-FFF2-40B4-BE49-F238E27FC236}">
                <a16:creationId xmlns:a16="http://schemas.microsoft.com/office/drawing/2014/main" id="{8CD98570-8649-42CB-A19B-40D3570C53BD}"/>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5" name="备注占位符 2">
            <a:extLst>
              <a:ext uri="{FF2B5EF4-FFF2-40B4-BE49-F238E27FC236}">
                <a16:creationId xmlns:a16="http://schemas.microsoft.com/office/drawing/2014/main" id="{3608CDB9-296D-4E2D-9C13-7DFD3E1EF5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光疗法治新生儿黄疸会破坏核黄素 ，引起新生儿维生素</a:t>
            </a:r>
            <a:r>
              <a:rPr lang="en-US" altLang="zh-CN" dirty="0"/>
              <a:t>B2</a:t>
            </a:r>
            <a:r>
              <a:rPr lang="zh-CN" altLang="en-US" dirty="0"/>
              <a:t>缺乏症。</a:t>
            </a:r>
            <a:endParaRPr lang="en-US" altLang="zh-CN" dirty="0"/>
          </a:p>
        </p:txBody>
      </p:sp>
      <p:sp>
        <p:nvSpPr>
          <p:cNvPr id="110596" name="灯片编号占位符 3">
            <a:extLst>
              <a:ext uri="{FF2B5EF4-FFF2-40B4-BE49-F238E27FC236}">
                <a16:creationId xmlns:a16="http://schemas.microsoft.com/office/drawing/2014/main" id="{D9D6A97E-C474-4B16-96D1-7AEEB987EF3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D0AE9F51-FE7D-45B0-92F2-DFB886BA93FB}" type="slidenum">
              <a:rPr lang="zh-CN" altLang="en-US" smtClean="0">
                <a:solidFill>
                  <a:schemeClr val="bg1"/>
                </a:solidFill>
                <a:latin typeface="Times New Roman" panose="02020603050405020304" pitchFamily="18" charset="0"/>
                <a:ea typeface="楷体_GB2312" pitchFamily="49" charset="-122"/>
              </a:rPr>
              <a:pPr>
                <a:spcBef>
                  <a:spcPct val="0"/>
                </a:spcBef>
              </a:pPr>
              <a:t>46</a:t>
            </a:fld>
            <a:endParaRPr lang="zh-CN" altLang="en-US">
              <a:solidFill>
                <a:schemeClr val="bg1"/>
              </a:solidFill>
              <a:latin typeface="Times New Roman" panose="02020603050405020304" pitchFamily="18" charset="0"/>
              <a:ea typeface="楷体_GB2312" pitchFamily="49" charset="-122"/>
            </a:endParaRPr>
          </a:p>
        </p:txBody>
      </p:sp>
    </p:spTree>
    <p:extLst>
      <p:ext uri="{BB962C8B-B14F-4D97-AF65-F5344CB8AC3E}">
        <p14:creationId xmlns:p14="http://schemas.microsoft.com/office/powerpoint/2010/main" val="5524413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a:extLst>
              <a:ext uri="{FF2B5EF4-FFF2-40B4-BE49-F238E27FC236}">
                <a16:creationId xmlns:a16="http://schemas.microsoft.com/office/drawing/2014/main" id="{5A7ECFC5-C9B3-4C01-9117-8F005226CABE}"/>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1" name="备注占位符 2">
            <a:extLst>
              <a:ext uri="{FF2B5EF4-FFF2-40B4-BE49-F238E27FC236}">
                <a16:creationId xmlns:a16="http://schemas.microsoft.com/office/drawing/2014/main" id="{246F998C-11FB-4DE1-8AEA-5EE7FA8BE87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4692" name="灯片编号占位符 3">
            <a:extLst>
              <a:ext uri="{FF2B5EF4-FFF2-40B4-BE49-F238E27FC236}">
                <a16:creationId xmlns:a16="http://schemas.microsoft.com/office/drawing/2014/main" id="{0F2708FA-ABDD-44A1-BA72-53FCDB61C25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9D9DD0A-D437-4B9C-85FD-13303DBC8398}" type="slidenum">
              <a:rPr lang="zh-CN" altLang="en-US" smtClean="0">
                <a:solidFill>
                  <a:schemeClr val="bg1"/>
                </a:solidFill>
                <a:latin typeface="Times New Roman" panose="02020603050405020304" pitchFamily="18" charset="0"/>
                <a:ea typeface="楷体_GB2312" pitchFamily="49" charset="-122"/>
              </a:rPr>
              <a:pPr>
                <a:spcBef>
                  <a:spcPct val="0"/>
                </a:spcBef>
              </a:pPr>
              <a:t>47</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a:extLst>
              <a:ext uri="{FF2B5EF4-FFF2-40B4-BE49-F238E27FC236}">
                <a16:creationId xmlns:a16="http://schemas.microsoft.com/office/drawing/2014/main" id="{E2EB4103-048A-4949-B9BB-FF811A12DCD7}"/>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39" name="备注占位符 2">
            <a:extLst>
              <a:ext uri="{FF2B5EF4-FFF2-40B4-BE49-F238E27FC236}">
                <a16:creationId xmlns:a16="http://schemas.microsoft.com/office/drawing/2014/main" id="{6018FC2B-10D6-49BE-BAAF-B656673BC8D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br>
              <a:rPr lang="zh-CN" altLang="en-US" dirty="0">
                <a:latin typeface="宋体" panose="02010600030101010101" pitchFamily="2" charset="-122"/>
              </a:rPr>
            </a:br>
            <a:endParaRPr lang="zh-CN" altLang="en-US" dirty="0"/>
          </a:p>
        </p:txBody>
      </p:sp>
      <p:sp>
        <p:nvSpPr>
          <p:cNvPr id="116740" name="灯片编号占位符 3">
            <a:extLst>
              <a:ext uri="{FF2B5EF4-FFF2-40B4-BE49-F238E27FC236}">
                <a16:creationId xmlns:a16="http://schemas.microsoft.com/office/drawing/2014/main" id="{44A1E77A-AE9F-4B0E-8220-323A061A7A5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0BC3FAE7-5217-4F9C-AC75-B7DCCA4689F0}" type="slidenum">
              <a:rPr lang="zh-CN" altLang="en-US" smtClean="0">
                <a:solidFill>
                  <a:schemeClr val="bg1"/>
                </a:solidFill>
                <a:latin typeface="Times New Roman" panose="02020603050405020304" pitchFamily="18" charset="0"/>
                <a:ea typeface="楷体_GB2312" pitchFamily="49" charset="-122"/>
              </a:rPr>
              <a:pPr>
                <a:spcBef>
                  <a:spcPct val="0"/>
                </a:spcBef>
              </a:pPr>
              <a:t>48</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a:extLst>
              <a:ext uri="{FF2B5EF4-FFF2-40B4-BE49-F238E27FC236}">
                <a16:creationId xmlns:a16="http://schemas.microsoft.com/office/drawing/2014/main" id="{B9BB8B3E-4101-4DEB-8FAD-A11701DF4F2C}"/>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a:extLst>
              <a:ext uri="{FF2B5EF4-FFF2-40B4-BE49-F238E27FC236}">
                <a16:creationId xmlns:a16="http://schemas.microsoft.com/office/drawing/2014/main" id="{D088C9AA-E6A9-4457-A585-53ACFF12EC08}"/>
              </a:ext>
            </a:extLst>
          </p:cNvPr>
          <p:cNvSpPr>
            <a:spLocks noGrp="1"/>
          </p:cNvSpPr>
          <p:nvPr>
            <p:ph type="body" idx="1"/>
          </p:nvPr>
        </p:nvSpPr>
        <p:spPr/>
        <p:txBody>
          <a:bodyPr>
            <a:normAutofit/>
          </a:bodyPr>
          <a:lstStyle/>
          <a:p>
            <a:pPr>
              <a:defRPr/>
            </a:pPr>
            <a:r>
              <a:rPr kumimoji="1" lang="en-US" altLang="zh-CN" sz="2800" dirty="0">
                <a:latin typeface="Times New Roman" pitchFamily="18" charset="0"/>
                <a:ea typeface="华文楷体" pitchFamily="2" charset="-122"/>
              </a:rPr>
              <a:t>100</a:t>
            </a:r>
            <a:r>
              <a:rPr kumimoji="1" lang="zh-CN" altLang="en-US" sz="2800" dirty="0">
                <a:latin typeface="Times New Roman" pitchFamily="18" charset="0"/>
                <a:ea typeface="华文楷体" pitchFamily="2" charset="-122"/>
              </a:rPr>
              <a:t>多年前，</a:t>
            </a:r>
            <a:r>
              <a:rPr lang="zh-CN" altLang="en-US" sz="2800" dirty="0">
                <a:solidFill>
                  <a:srgbClr val="000000"/>
                </a:solidFill>
                <a:latin typeface="宋体" pitchFamily="2" charset="-122"/>
              </a:rPr>
              <a:t>癞（糙</a:t>
            </a:r>
            <a:r>
              <a:rPr lang="en-US" altLang="zh-CN" sz="2800" dirty="0">
                <a:solidFill>
                  <a:srgbClr val="000000"/>
                </a:solidFill>
                <a:latin typeface="Times New Roman" pitchFamily="18" charset="0"/>
                <a:cs typeface="Times New Roman" pitchFamily="18" charset="0"/>
              </a:rPr>
              <a:t>)</a:t>
            </a:r>
            <a:r>
              <a:rPr lang="zh-CN" altLang="en-US" sz="2800" dirty="0">
                <a:solidFill>
                  <a:srgbClr val="000000"/>
                </a:solidFill>
                <a:latin typeface="宋体" pitchFamily="2" charset="-122"/>
              </a:rPr>
              <a:t>皮病</a:t>
            </a:r>
            <a:r>
              <a:rPr lang="en-US" altLang="zh-CN" sz="2800" dirty="0">
                <a:solidFill>
                  <a:srgbClr val="000000"/>
                </a:solidFill>
                <a:latin typeface="Times New Roman" pitchFamily="18" charset="0"/>
                <a:cs typeface="Times New Roman" pitchFamily="18" charset="0"/>
              </a:rPr>
              <a:t>(pellagra)</a:t>
            </a:r>
            <a:r>
              <a:rPr kumimoji="1" lang="zh-CN" altLang="en-US" sz="2800" dirty="0">
                <a:latin typeface="Times New Roman" pitchFamily="18" charset="0"/>
                <a:ea typeface="华文楷体" pitchFamily="2" charset="-122"/>
              </a:rPr>
              <a:t>曾是玉米主食地区（比如美国南部）的常见病，很多人因此死亡。</a:t>
            </a:r>
            <a:endParaRPr kumimoji="1" lang="en-US" altLang="zh-CN" sz="2800" dirty="0">
              <a:latin typeface="Times New Roman" pitchFamily="18" charset="0"/>
              <a:ea typeface="华文楷体" pitchFamily="2" charset="-122"/>
            </a:endParaRPr>
          </a:p>
          <a:p>
            <a:pPr>
              <a:defRPr/>
            </a:pPr>
            <a:endParaRPr lang="en-US" altLang="zh-CN" dirty="0"/>
          </a:p>
          <a:p>
            <a:pPr>
              <a:defRPr/>
            </a:pPr>
            <a:r>
              <a:rPr lang="zh-CN" altLang="en-US" dirty="0"/>
              <a:t>烟酸可治疗家族性高胆固醇血症</a:t>
            </a:r>
            <a:endParaRPr lang="en-US" altLang="zh-CN" dirty="0"/>
          </a:p>
          <a:p>
            <a:pPr>
              <a:defRPr/>
            </a:pPr>
            <a:endParaRPr lang="en-US" altLang="zh-CN" dirty="0"/>
          </a:p>
        </p:txBody>
      </p:sp>
      <p:sp>
        <p:nvSpPr>
          <p:cNvPr id="118788" name="灯片编号占位符 3">
            <a:extLst>
              <a:ext uri="{FF2B5EF4-FFF2-40B4-BE49-F238E27FC236}">
                <a16:creationId xmlns:a16="http://schemas.microsoft.com/office/drawing/2014/main" id="{E63B4CCF-F621-43F3-9AC5-59FC92F9564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E8C67F51-0B59-4A71-B694-4F969BA64DB6}" type="slidenum">
              <a:rPr lang="zh-CN" altLang="en-US" smtClean="0">
                <a:solidFill>
                  <a:schemeClr val="bg1"/>
                </a:solidFill>
                <a:latin typeface="Times New Roman" panose="02020603050405020304" pitchFamily="18" charset="0"/>
                <a:ea typeface="楷体_GB2312" pitchFamily="49" charset="-122"/>
              </a:rPr>
              <a:pPr>
                <a:spcBef>
                  <a:spcPct val="0"/>
                </a:spcBef>
              </a:pPr>
              <a:t>49</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a:extLst>
              <a:ext uri="{FF2B5EF4-FFF2-40B4-BE49-F238E27FC236}">
                <a16:creationId xmlns:a16="http://schemas.microsoft.com/office/drawing/2014/main" id="{73E9C2CF-15EF-4CBD-AFE9-E5860BFD9F77}"/>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5" name="备注占位符 2">
            <a:extLst>
              <a:ext uri="{FF2B5EF4-FFF2-40B4-BE49-F238E27FC236}">
                <a16:creationId xmlns:a16="http://schemas.microsoft.com/office/drawing/2014/main" id="{5B3F77EC-2936-4967-9AD8-257C30ADE1F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20836" name="灯片编号占位符 3">
            <a:extLst>
              <a:ext uri="{FF2B5EF4-FFF2-40B4-BE49-F238E27FC236}">
                <a16:creationId xmlns:a16="http://schemas.microsoft.com/office/drawing/2014/main" id="{7BC8E725-82DC-4715-80F6-5A662FF27B1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DD908A3-3FAE-43AA-A5B0-73145ABC794E}" type="slidenum">
              <a:rPr lang="zh-CN" altLang="en-US" smtClean="0">
                <a:solidFill>
                  <a:schemeClr val="bg1"/>
                </a:solidFill>
                <a:latin typeface="Times New Roman" panose="02020603050405020304" pitchFamily="18" charset="0"/>
                <a:ea typeface="楷体_GB2312" pitchFamily="49" charset="-122"/>
              </a:rPr>
              <a:pPr>
                <a:spcBef>
                  <a:spcPct val="0"/>
                </a:spcBef>
              </a:pPr>
              <a:t>50</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a:extLst>
              <a:ext uri="{FF2B5EF4-FFF2-40B4-BE49-F238E27FC236}">
                <a16:creationId xmlns:a16="http://schemas.microsoft.com/office/drawing/2014/main" id="{150C761B-AE27-4928-918A-B5D214D71B41}"/>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a:extLst>
              <a:ext uri="{FF2B5EF4-FFF2-40B4-BE49-F238E27FC236}">
                <a16:creationId xmlns:a16="http://schemas.microsoft.com/office/drawing/2014/main" id="{78F49678-021D-4625-81DD-9B0D8E7CE4D3}"/>
              </a:ext>
            </a:extLst>
          </p:cNvPr>
          <p:cNvSpPr>
            <a:spLocks noGrp="1"/>
          </p:cNvSpPr>
          <p:nvPr>
            <p:ph type="body" idx="1"/>
          </p:nvPr>
        </p:nvSpPr>
        <p:spPr/>
        <p:txBody>
          <a:bodyPr/>
          <a:lstStyle/>
          <a:p>
            <a:pPr>
              <a:defRPr/>
            </a:pPr>
            <a:r>
              <a:rPr lang="zh-CN" altLang="en-US" dirty="0">
                <a:effectLst>
                  <a:outerShdw blurRad="38100" dist="38100" dir="2700000" algn="tl">
                    <a:srgbClr val="000000"/>
                  </a:outerShdw>
                </a:effectLst>
                <a:latin typeface="宋体" pitchFamily="2" charset="-122"/>
              </a:rPr>
              <a:t>缺乏往往与全面营养不良同时存在</a:t>
            </a:r>
          </a:p>
          <a:p>
            <a:pPr>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dirty="0">
                <a:latin typeface="微软雅黑" panose="020B0503020204020204" pitchFamily="34" charset="-122"/>
                <a:ea typeface="微软雅黑" panose="020B0503020204020204" pitchFamily="34" charset="-122"/>
              </a:rPr>
              <a:t>临床常用以组成“</a:t>
            </a:r>
            <a:r>
              <a:rPr lang="zh-CN" altLang="en-US" sz="1200" b="0" dirty="0">
                <a:solidFill>
                  <a:srgbClr val="0000CC"/>
                </a:solidFill>
                <a:latin typeface="微软雅黑" panose="020B0503020204020204" pitchFamily="34" charset="-122"/>
                <a:ea typeface="微软雅黑" panose="020B0503020204020204" pitchFamily="34" charset="-122"/>
              </a:rPr>
              <a:t>能量合剂”</a:t>
            </a:r>
            <a:r>
              <a:rPr lang="en-US" altLang="zh-CN" sz="1200" b="0" dirty="0">
                <a:solidFill>
                  <a:srgbClr val="0000CC"/>
                </a:solidFill>
                <a:latin typeface="微软雅黑" panose="020B0503020204020204" pitchFamily="34" charset="-122"/>
                <a:ea typeface="微软雅黑" panose="020B0503020204020204" pitchFamily="34" charset="-122"/>
              </a:rPr>
              <a:t>(CoA</a:t>
            </a:r>
            <a:r>
              <a:rPr lang="zh-CN" altLang="en-US" sz="1200" b="0" dirty="0">
                <a:solidFill>
                  <a:srgbClr val="0000CC"/>
                </a:solidFill>
                <a:latin typeface="微软雅黑" panose="020B0503020204020204" pitchFamily="34" charset="-122"/>
                <a:ea typeface="微软雅黑" panose="020B0503020204020204" pitchFamily="34" charset="-122"/>
              </a:rPr>
              <a:t>、</a:t>
            </a:r>
            <a:r>
              <a:rPr lang="en-US" altLang="zh-CN" sz="1200" b="0" dirty="0">
                <a:solidFill>
                  <a:srgbClr val="0000CC"/>
                </a:solidFill>
                <a:latin typeface="微软雅黑" panose="020B0503020204020204" pitchFamily="34" charset="-122"/>
                <a:ea typeface="微软雅黑" panose="020B0503020204020204" pitchFamily="34" charset="-122"/>
              </a:rPr>
              <a:t>ATP</a:t>
            </a:r>
            <a:r>
              <a:rPr lang="zh-CN" altLang="en-US" sz="1200" b="0" dirty="0">
                <a:solidFill>
                  <a:srgbClr val="0000CC"/>
                </a:solidFill>
                <a:latin typeface="微软雅黑" panose="020B0503020204020204" pitchFamily="34" charset="-122"/>
                <a:ea typeface="微软雅黑" panose="020B0503020204020204" pitchFamily="34" charset="-122"/>
              </a:rPr>
              <a:t>、胰岛素、葡萄糖和钾盐</a:t>
            </a:r>
            <a:r>
              <a:rPr lang="en-US" altLang="zh-CN" sz="1200" b="0" dirty="0">
                <a:solidFill>
                  <a:srgbClr val="0000CC"/>
                </a:solidFill>
                <a:latin typeface="微软雅黑" panose="020B0503020204020204" pitchFamily="34" charset="-122"/>
                <a:ea typeface="微软雅黑" panose="020B0503020204020204" pitchFamily="34" charset="-122"/>
              </a:rPr>
              <a:t>)</a:t>
            </a:r>
            <a:r>
              <a:rPr lang="zh-CN" altLang="en-US" sz="1200" b="0" dirty="0">
                <a:latin typeface="微软雅黑" panose="020B0503020204020204" pitchFamily="34" charset="-122"/>
                <a:ea typeface="微软雅黑" panose="020B0503020204020204" pitchFamily="34" charset="-122"/>
              </a:rPr>
              <a:t>。可提供能量，促进糖代谢和其它代谢过程，有利于肝功能恢复。</a:t>
            </a:r>
          </a:p>
          <a:p>
            <a:pPr>
              <a:defRPr/>
            </a:pPr>
            <a:endParaRPr lang="zh-CN" altLang="en-US" dirty="0"/>
          </a:p>
        </p:txBody>
      </p:sp>
      <p:sp>
        <p:nvSpPr>
          <p:cNvPr id="122884" name="灯片编号占位符 3">
            <a:extLst>
              <a:ext uri="{FF2B5EF4-FFF2-40B4-BE49-F238E27FC236}">
                <a16:creationId xmlns:a16="http://schemas.microsoft.com/office/drawing/2014/main" id="{A7FA4604-4D63-4895-8AC7-F6754F589C1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1D10B462-14EC-43AA-8463-B01F83FD802A}" type="slidenum">
              <a:rPr lang="zh-CN" altLang="en-US" smtClean="0">
                <a:solidFill>
                  <a:schemeClr val="bg1"/>
                </a:solidFill>
                <a:latin typeface="Times New Roman" panose="02020603050405020304" pitchFamily="18" charset="0"/>
                <a:ea typeface="楷体_GB2312" pitchFamily="49" charset="-122"/>
              </a:rPr>
              <a:pPr>
                <a:spcBef>
                  <a:spcPct val="0"/>
                </a:spcBef>
              </a:pPr>
              <a:t>51</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DB6F5474-E840-4E55-A0B7-ACD5D14F0B57}"/>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1" name="Rectangle 3">
            <a:extLst>
              <a:ext uri="{FF2B5EF4-FFF2-40B4-BE49-F238E27FC236}">
                <a16:creationId xmlns:a16="http://schemas.microsoft.com/office/drawing/2014/main" id="{CEB6ABFC-D652-4B88-9F56-55F8700B876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zh-CN" altLang="en-US" dirty="0"/>
              <a:t>体内约</a:t>
            </a:r>
            <a:r>
              <a:rPr lang="en-US" altLang="zh-CN" dirty="0"/>
              <a:t>80%</a:t>
            </a:r>
            <a:r>
              <a:rPr lang="zh-CN" altLang="en-US" dirty="0"/>
              <a:t>的</a:t>
            </a:r>
            <a:r>
              <a:rPr lang="en-US" altLang="zh-CN" dirty="0"/>
              <a:t>B6</a:t>
            </a:r>
            <a:r>
              <a:rPr lang="zh-CN" altLang="en-US" dirty="0"/>
              <a:t>以磷酸吡哆醛形式存在于肌组织中，并与糖原磷酸化酶相结合。</a:t>
            </a:r>
            <a:endParaRPr lang="en-US" altLang="zh-CN" dirty="0"/>
          </a:p>
          <a:p>
            <a:pPr eaLnBrk="1" hangingPunct="1"/>
            <a:endParaRPr lang="en-US" altLang="zh-CN" dirty="0"/>
          </a:p>
          <a:p>
            <a:pPr eaLnBrk="1" hangingPunct="1"/>
            <a:r>
              <a:rPr lang="zh-CN" altLang="en-US" dirty="0"/>
              <a:t>耐酸怕碱</a:t>
            </a:r>
            <a:r>
              <a:rPr lang="zh-CN" altLang="en-US" b="1" dirty="0"/>
              <a:t>怕光</a:t>
            </a:r>
            <a:r>
              <a:rPr lang="zh-CN" altLang="en-US" dirty="0"/>
              <a:t>怕热</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a:extLst>
              <a:ext uri="{FF2B5EF4-FFF2-40B4-BE49-F238E27FC236}">
                <a16:creationId xmlns:a16="http://schemas.microsoft.com/office/drawing/2014/main" id="{EB2F3750-5F48-445C-AD8D-D297BB8CEDD2}"/>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9" name="备注占位符 2">
            <a:extLst>
              <a:ext uri="{FF2B5EF4-FFF2-40B4-BE49-F238E27FC236}">
                <a16:creationId xmlns:a16="http://schemas.microsoft.com/office/drawing/2014/main" id="{328D75A0-420D-499C-8E0B-2D86DF9F4CD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latin typeface="微软雅黑" panose="020B0503020204020204" pitchFamily="34" charset="-122"/>
                <a:ea typeface="微软雅黑" panose="020B0503020204020204" pitchFamily="34" charset="-122"/>
              </a:rPr>
              <a:t>与乳腺、前列腺和子宫激素相关肿瘤的发生发展有关。 </a:t>
            </a: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latin typeface="微软雅黑" panose="020B0503020204020204" pitchFamily="34" charset="-122"/>
                <a:ea typeface="微软雅黑" panose="020B0503020204020204" pitchFamily="34" charset="-122"/>
              </a:rPr>
              <a:t>异烟肼可使其失去辅酶作用，故结核病人在服用异烟肼时，应补充维生素 </a:t>
            </a:r>
            <a:r>
              <a:rPr lang="en-US" altLang="zh-CN" sz="1200" dirty="0">
                <a:latin typeface="微软雅黑" panose="020B0503020204020204" pitchFamily="34" charset="-122"/>
                <a:ea typeface="微软雅黑" panose="020B0503020204020204" pitchFamily="34" charset="-122"/>
              </a:rPr>
              <a:t>B 6</a:t>
            </a:r>
          </a:p>
          <a:p>
            <a:endParaRPr lang="en-US" altLang="zh-CN" dirty="0"/>
          </a:p>
          <a:p>
            <a:r>
              <a:rPr lang="zh-CN" altLang="en-US" dirty="0"/>
              <a:t>已知</a:t>
            </a:r>
            <a:r>
              <a:rPr lang="en-US" altLang="zh-CN" dirty="0"/>
              <a:t>2/3 </a:t>
            </a:r>
            <a:r>
              <a:rPr lang="zh-CN" altLang="en-US" dirty="0"/>
              <a:t>以上的高同型半胱氨酸血症与维生</a:t>
            </a:r>
            <a:r>
              <a:rPr lang="en-US" altLang="zh-CN" dirty="0"/>
              <a:t>B6</a:t>
            </a:r>
            <a:r>
              <a:rPr lang="zh-CN" altLang="en-US" dirty="0"/>
              <a:t>、叶酸和维生素</a:t>
            </a:r>
            <a:r>
              <a:rPr lang="en-US" altLang="zh-CN" dirty="0"/>
              <a:t>B12</a:t>
            </a:r>
            <a:r>
              <a:rPr lang="zh-CN" altLang="en-US" dirty="0"/>
              <a:t>的缺乏有关。</a:t>
            </a:r>
          </a:p>
        </p:txBody>
      </p:sp>
      <p:sp>
        <p:nvSpPr>
          <p:cNvPr id="126980" name="灯片编号占位符 3">
            <a:extLst>
              <a:ext uri="{FF2B5EF4-FFF2-40B4-BE49-F238E27FC236}">
                <a16:creationId xmlns:a16="http://schemas.microsoft.com/office/drawing/2014/main" id="{8FE84462-9D87-4070-84A4-67215BA3EB9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30708C00-7FF7-4AAD-B316-F4A3AD258F5F}" type="slidenum">
              <a:rPr lang="zh-CN" altLang="en-US" smtClean="0">
                <a:solidFill>
                  <a:schemeClr val="bg1"/>
                </a:solidFill>
                <a:latin typeface="Times New Roman" panose="02020603050405020304" pitchFamily="18" charset="0"/>
                <a:ea typeface="楷体_GB2312" pitchFamily="49" charset="-122"/>
              </a:rPr>
              <a:pPr>
                <a:spcBef>
                  <a:spcPct val="0"/>
                </a:spcBef>
              </a:pPr>
              <a:t>53</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a:extLst>
              <a:ext uri="{FF2B5EF4-FFF2-40B4-BE49-F238E27FC236}">
                <a16:creationId xmlns:a16="http://schemas.microsoft.com/office/drawing/2014/main" id="{5DE3F20E-0A77-4D3A-9C35-7BDBE26BB15C}"/>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7" name="备注占位符 2">
            <a:extLst>
              <a:ext uri="{FF2B5EF4-FFF2-40B4-BE49-F238E27FC236}">
                <a16:creationId xmlns:a16="http://schemas.microsoft.com/office/drawing/2014/main" id="{0B37C1D5-BD20-459A-84ED-B29C5467E0D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从在代谢中的作用来看，</a:t>
            </a:r>
            <a:r>
              <a:rPr lang="en-US" altLang="zh-CN" dirty="0"/>
              <a:t>B2,B3</a:t>
            </a:r>
            <a:r>
              <a:rPr lang="zh-CN" altLang="en-US" dirty="0"/>
              <a:t>都参与生物氧化过程，而维生素</a:t>
            </a:r>
            <a:r>
              <a:rPr lang="en-US" altLang="zh-CN" dirty="0"/>
              <a:t>B6</a:t>
            </a:r>
            <a:r>
              <a:rPr lang="zh-CN" altLang="en-US" dirty="0"/>
              <a:t>则主要参与氨基酸的代谢。</a:t>
            </a:r>
          </a:p>
          <a:p>
            <a:endParaRPr lang="en-US" altLang="zh-CN" dirty="0"/>
          </a:p>
          <a:p>
            <a:r>
              <a:rPr lang="zh-CN" altLang="en-US" sz="1200" b="0" i="0" u="none" strike="noStrike" kern="1200" baseline="0" dirty="0">
                <a:solidFill>
                  <a:schemeClr val="tx1"/>
                </a:solidFill>
                <a:latin typeface="+mn-lt"/>
                <a:ea typeface="+mn-ea"/>
                <a:cs typeface="+mn-cs"/>
              </a:rPr>
              <a:t>抗结核药异烟肼能与磷酸吡哆醛的醛基结合使其失去活性，在服用异烟肼时，应补充维生素</a:t>
            </a:r>
            <a:r>
              <a:rPr lang="en-US" altLang="zh-CN" sz="1200" b="0" i="0" u="none" strike="noStrike" kern="1200" baseline="0" dirty="0">
                <a:solidFill>
                  <a:schemeClr val="tx1"/>
                </a:solidFill>
                <a:latin typeface="+mn-lt"/>
                <a:ea typeface="+mn-ea"/>
                <a:cs typeface="+mn-cs"/>
              </a:rPr>
              <a:t>B6</a:t>
            </a:r>
            <a:endParaRPr lang="zh-CN" altLang="en-US" dirty="0"/>
          </a:p>
        </p:txBody>
      </p:sp>
      <p:sp>
        <p:nvSpPr>
          <p:cNvPr id="129028" name="灯片编号占位符 3">
            <a:extLst>
              <a:ext uri="{FF2B5EF4-FFF2-40B4-BE49-F238E27FC236}">
                <a16:creationId xmlns:a16="http://schemas.microsoft.com/office/drawing/2014/main" id="{4A6361D4-26C4-4DAD-96AB-C3465F0FA65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bg1"/>
                </a:solidFill>
                <a:latin typeface="Times New Roman" panose="02020603050405020304" pitchFamily="18" charset="0"/>
                <a:ea typeface="楷体_GB2312" pitchFamily="49" charset="-122"/>
              </a:defRPr>
            </a:lvl1pPr>
            <a:lvl2pPr marL="742950" indent="-285750">
              <a:defRPr kumimoji="1" sz="3200" b="1">
                <a:solidFill>
                  <a:schemeClr val="bg1"/>
                </a:solidFill>
                <a:latin typeface="Times New Roman" panose="02020603050405020304" pitchFamily="18" charset="0"/>
                <a:ea typeface="楷体_GB2312" pitchFamily="49" charset="-122"/>
              </a:defRPr>
            </a:lvl2pPr>
            <a:lvl3pPr marL="1143000" indent="-228600">
              <a:defRPr kumimoji="1" sz="3200" b="1">
                <a:solidFill>
                  <a:schemeClr val="bg1"/>
                </a:solidFill>
                <a:latin typeface="Times New Roman" panose="02020603050405020304" pitchFamily="18" charset="0"/>
                <a:ea typeface="楷体_GB2312" pitchFamily="49" charset="-122"/>
              </a:defRPr>
            </a:lvl3pPr>
            <a:lvl4pPr marL="1600200" indent="-228600">
              <a:defRPr kumimoji="1" sz="3200" b="1">
                <a:solidFill>
                  <a:schemeClr val="bg1"/>
                </a:solidFill>
                <a:latin typeface="Times New Roman" panose="02020603050405020304" pitchFamily="18" charset="0"/>
                <a:ea typeface="楷体_GB2312" pitchFamily="49" charset="-122"/>
              </a:defRPr>
            </a:lvl4pPr>
            <a:lvl5pPr marL="2057400" indent="-228600">
              <a:defRPr kumimoji="1" sz="3200" b="1">
                <a:solidFill>
                  <a:schemeClr val="bg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9pPr>
          </a:lstStyle>
          <a:p>
            <a:fld id="{5BDFCC3F-CE05-4AB2-8099-7686D80AF8D4}" type="slidenum">
              <a:rPr lang="zh-CN" altLang="en-US" sz="1200" smtClean="0"/>
              <a:pPr/>
              <a:t>54</a:t>
            </a:fld>
            <a:endParaRPr lang="zh-CN" altLang="en-US" sz="120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a:extLst>
              <a:ext uri="{FF2B5EF4-FFF2-40B4-BE49-F238E27FC236}">
                <a16:creationId xmlns:a16="http://schemas.microsoft.com/office/drawing/2014/main" id="{C9B58B91-F3D2-4D51-AB03-F531808C88C1}"/>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099" name="备注占位符 2">
            <a:extLst>
              <a:ext uri="{FF2B5EF4-FFF2-40B4-BE49-F238E27FC236}">
                <a16:creationId xmlns:a16="http://schemas.microsoft.com/office/drawing/2014/main" id="{0D2B4386-0BF1-4CDE-9C96-987BC107CEE3}"/>
              </a:ext>
            </a:extLst>
          </p:cNvPr>
          <p:cNvSpPr>
            <a:spLocks noGrp="1"/>
          </p:cNvSpPr>
          <p:nvPr>
            <p:ph type="body" idx="1"/>
          </p:nvPr>
        </p:nvSpPr>
        <p:spPr bwMode="auto"/>
        <p:txBody>
          <a:bodyPr wrap="square" numCol="1" anchor="t" anchorCtr="0" compatLnSpc="1">
            <a:prstTxWarp prst="textNoShape">
              <a:avLst/>
            </a:prstTxWarp>
            <a:normAutofit fontScale="77500" lnSpcReduction="20000"/>
          </a:bodyPr>
          <a:lstStyle/>
          <a:p>
            <a:pPr>
              <a:defRPr/>
            </a:pPr>
            <a:r>
              <a:rPr kumimoji="1" lang="zh-CN" altLang="en-US" sz="3600" b="1" dirty="0">
                <a:solidFill>
                  <a:srgbClr val="FFCC66"/>
                </a:solidFill>
                <a:latin typeface="宋体" panose="02010600030101010101" pitchFamily="2" charset="-122"/>
              </a:rPr>
              <a:t>通常并不游离存在</a:t>
            </a:r>
            <a:r>
              <a:rPr kumimoji="1" lang="zh-CN" altLang="en-US" sz="3600" dirty="0">
                <a:solidFill>
                  <a:srgbClr val="FFCC66"/>
                </a:solidFill>
                <a:latin typeface="宋体" panose="02010600030101010101" pitchFamily="2" charset="-122"/>
              </a:rPr>
              <a:t>，总是与酶蛋白共价结合，这种结合形式又称为</a:t>
            </a:r>
            <a:r>
              <a:rPr kumimoji="1" lang="zh-CN" altLang="en-US" sz="3600" b="1" dirty="0">
                <a:solidFill>
                  <a:srgbClr val="FFCC66"/>
                </a:solidFill>
                <a:latin typeface="宋体" panose="02010600030101010101" pitchFamily="2" charset="-122"/>
              </a:rPr>
              <a:t>生物胞素。 </a:t>
            </a:r>
            <a:endParaRPr kumimoji="1" lang="en-US" altLang="zh-CN" sz="3600" b="1" dirty="0">
              <a:solidFill>
                <a:srgbClr val="FFCC66"/>
              </a:solidFill>
              <a:latin typeface="宋体" panose="02010600030101010101" pitchFamily="2"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36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3600" dirty="0"/>
              <a:t>由于生物素和亲和素的结合具有灵敏度高、特异性强、结合力强等优点，生物素标记技术是现代生物医学研究中的重要工具，应用广泛。</a:t>
            </a:r>
            <a:endParaRPr lang="en-US" altLang="zh-CN" sz="3600" dirty="0"/>
          </a:p>
          <a:p>
            <a:pPr>
              <a:defRPr/>
            </a:pPr>
            <a:endParaRPr kumimoji="1" lang="en-US" altLang="zh-CN" sz="3600" b="1" dirty="0">
              <a:solidFill>
                <a:srgbClr val="FFCC66"/>
              </a:solidFill>
              <a:latin typeface="宋体" panose="02010600030101010101" pitchFamily="2" charset="-122"/>
            </a:endParaRPr>
          </a:p>
          <a:p>
            <a:pPr>
              <a:defRPr/>
            </a:pPr>
            <a:r>
              <a:rPr lang="zh-CN" altLang="en-US" dirty="0"/>
              <a:t>对热较稳定，日常烹调处理条件下损失较小。强酸强碱和氧化剂才使其破坏。 </a:t>
            </a:r>
            <a:endParaRPr lang="en-US" altLang="zh-CN" dirty="0"/>
          </a:p>
          <a:p>
            <a:pPr>
              <a:defRPr/>
            </a:pPr>
            <a:endParaRPr lang="en-US" altLang="zh-CN" dirty="0"/>
          </a:p>
        </p:txBody>
      </p:sp>
      <p:sp>
        <p:nvSpPr>
          <p:cNvPr id="132100" name="灯片编号占位符 3">
            <a:extLst>
              <a:ext uri="{FF2B5EF4-FFF2-40B4-BE49-F238E27FC236}">
                <a16:creationId xmlns:a16="http://schemas.microsoft.com/office/drawing/2014/main" id="{70B319D3-5F5D-4530-AE82-901DFA4824A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78C04BC-58C8-403C-82FD-5AFA0B9157B4}" type="slidenum">
              <a:rPr lang="zh-CN" altLang="en-US" smtClean="0">
                <a:solidFill>
                  <a:schemeClr val="bg1"/>
                </a:solidFill>
                <a:latin typeface="Times New Roman" panose="02020603050405020304" pitchFamily="18" charset="0"/>
                <a:ea typeface="楷体_GB2312" pitchFamily="49" charset="-122"/>
              </a:rPr>
              <a:pPr>
                <a:spcBef>
                  <a:spcPct val="0"/>
                </a:spcBef>
              </a:pPr>
              <a:t>55</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a:extLst>
              <a:ext uri="{FF2B5EF4-FFF2-40B4-BE49-F238E27FC236}">
                <a16:creationId xmlns:a16="http://schemas.microsoft.com/office/drawing/2014/main" id="{B27663C7-B81B-402B-9FE3-5EB82AF21308}"/>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备注占位符 2">
            <a:extLst>
              <a:ext uri="{FF2B5EF4-FFF2-40B4-BE49-F238E27FC236}">
                <a16:creationId xmlns:a16="http://schemas.microsoft.com/office/drawing/2014/main" id="{DD49F529-D89B-434F-90F4-B84727A447F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长期使用抗生素可抑制肠道细菌生长，也可能造成生物素缺乏； 长期酗酒可能生物素缺乏。</a:t>
            </a:r>
          </a:p>
        </p:txBody>
      </p:sp>
      <p:sp>
        <p:nvSpPr>
          <p:cNvPr id="135172" name="灯片编号占位符 3">
            <a:extLst>
              <a:ext uri="{FF2B5EF4-FFF2-40B4-BE49-F238E27FC236}">
                <a16:creationId xmlns:a16="http://schemas.microsoft.com/office/drawing/2014/main" id="{066267B4-9B80-4E41-B927-39397E10570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bg1"/>
                </a:solidFill>
                <a:latin typeface="Times New Roman" panose="02020603050405020304" pitchFamily="18" charset="0"/>
                <a:ea typeface="楷体_GB2312" pitchFamily="49" charset="-122"/>
              </a:defRPr>
            </a:lvl1pPr>
            <a:lvl2pPr marL="742950" indent="-285750">
              <a:defRPr kumimoji="1" sz="3200" b="1">
                <a:solidFill>
                  <a:schemeClr val="bg1"/>
                </a:solidFill>
                <a:latin typeface="Times New Roman" panose="02020603050405020304" pitchFamily="18" charset="0"/>
                <a:ea typeface="楷体_GB2312" pitchFamily="49" charset="-122"/>
              </a:defRPr>
            </a:lvl2pPr>
            <a:lvl3pPr marL="1143000" indent="-228600">
              <a:defRPr kumimoji="1" sz="3200" b="1">
                <a:solidFill>
                  <a:schemeClr val="bg1"/>
                </a:solidFill>
                <a:latin typeface="Times New Roman" panose="02020603050405020304" pitchFamily="18" charset="0"/>
                <a:ea typeface="楷体_GB2312" pitchFamily="49" charset="-122"/>
              </a:defRPr>
            </a:lvl3pPr>
            <a:lvl4pPr marL="1600200" indent="-228600">
              <a:defRPr kumimoji="1" sz="3200" b="1">
                <a:solidFill>
                  <a:schemeClr val="bg1"/>
                </a:solidFill>
                <a:latin typeface="Times New Roman" panose="02020603050405020304" pitchFamily="18" charset="0"/>
                <a:ea typeface="楷体_GB2312" pitchFamily="49" charset="-122"/>
              </a:defRPr>
            </a:lvl4pPr>
            <a:lvl5pPr marL="2057400" indent="-228600">
              <a:defRPr kumimoji="1" sz="3200" b="1">
                <a:solidFill>
                  <a:schemeClr val="bg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9pPr>
          </a:lstStyle>
          <a:p>
            <a:fld id="{6C2E7F00-F963-4CA9-BE00-9FCB75780E32}" type="slidenum">
              <a:rPr lang="zh-CN" altLang="en-US" sz="1200" smtClean="0"/>
              <a:pPr/>
              <a:t>56</a:t>
            </a:fld>
            <a:endParaRPr lang="zh-CN" altLang="en-US" sz="120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a:extLst>
              <a:ext uri="{FF2B5EF4-FFF2-40B4-BE49-F238E27FC236}">
                <a16:creationId xmlns:a16="http://schemas.microsoft.com/office/drawing/2014/main" id="{6E1B59CD-0589-4874-A441-695C970BBDA4}"/>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8243" name="备注占位符 2">
            <a:extLst>
              <a:ext uri="{FF2B5EF4-FFF2-40B4-BE49-F238E27FC236}">
                <a16:creationId xmlns:a16="http://schemas.microsoft.com/office/drawing/2014/main" id="{D4FE9C2A-EC61-4F7D-8AF8-3206B304230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从蔬菜摄入的“多聚谷氨酸盐”形式的叶酸，必须经肠黏膜刷状缘分泌的一种“</a:t>
            </a:r>
            <a:r>
              <a:rPr lang="en-US" altLang="zh-CN" dirty="0"/>
              <a:t>γ-</a:t>
            </a:r>
            <a:r>
              <a:rPr lang="zh-CN" altLang="en-US" dirty="0"/>
              <a:t>谷氨酰胺羧肽酶”作用，转变为</a:t>
            </a:r>
            <a:r>
              <a:rPr lang="zh-CN" altLang="en-US" b="1" dirty="0"/>
              <a:t>单谷氨酸盐才能被吸收</a:t>
            </a:r>
            <a:r>
              <a:rPr lang="zh-CN" altLang="en-US" dirty="0"/>
              <a:t>。 如果肠道功能低下，或有肠道炎症，或者锌元素缺乏，就容易造成叶酸利用不良。</a:t>
            </a:r>
          </a:p>
          <a:p>
            <a:endParaRPr lang="en-US" altLang="zh-CN" dirty="0"/>
          </a:p>
        </p:txBody>
      </p:sp>
      <p:sp>
        <p:nvSpPr>
          <p:cNvPr id="138244" name="灯片编号占位符 3">
            <a:extLst>
              <a:ext uri="{FF2B5EF4-FFF2-40B4-BE49-F238E27FC236}">
                <a16:creationId xmlns:a16="http://schemas.microsoft.com/office/drawing/2014/main" id="{4C265F1B-E0E0-46E2-83F5-BA57E3D0C07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bg1"/>
                </a:solidFill>
                <a:latin typeface="Times New Roman" panose="02020603050405020304" pitchFamily="18" charset="0"/>
                <a:ea typeface="楷体_GB2312" pitchFamily="49" charset="-122"/>
              </a:defRPr>
            </a:lvl1pPr>
            <a:lvl2pPr marL="742950" indent="-285750">
              <a:defRPr kumimoji="1" sz="3200" b="1">
                <a:solidFill>
                  <a:schemeClr val="bg1"/>
                </a:solidFill>
                <a:latin typeface="Times New Roman" panose="02020603050405020304" pitchFamily="18" charset="0"/>
                <a:ea typeface="楷体_GB2312" pitchFamily="49" charset="-122"/>
              </a:defRPr>
            </a:lvl2pPr>
            <a:lvl3pPr marL="1143000" indent="-228600">
              <a:defRPr kumimoji="1" sz="3200" b="1">
                <a:solidFill>
                  <a:schemeClr val="bg1"/>
                </a:solidFill>
                <a:latin typeface="Times New Roman" panose="02020603050405020304" pitchFamily="18" charset="0"/>
                <a:ea typeface="楷体_GB2312" pitchFamily="49" charset="-122"/>
              </a:defRPr>
            </a:lvl3pPr>
            <a:lvl4pPr marL="1600200" indent="-228600">
              <a:defRPr kumimoji="1" sz="3200" b="1">
                <a:solidFill>
                  <a:schemeClr val="bg1"/>
                </a:solidFill>
                <a:latin typeface="Times New Roman" panose="02020603050405020304" pitchFamily="18" charset="0"/>
                <a:ea typeface="楷体_GB2312" pitchFamily="49" charset="-122"/>
              </a:defRPr>
            </a:lvl4pPr>
            <a:lvl5pPr marL="2057400" indent="-228600">
              <a:defRPr kumimoji="1" sz="3200" b="1">
                <a:solidFill>
                  <a:schemeClr val="bg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9pPr>
          </a:lstStyle>
          <a:p>
            <a:fld id="{14BD70A9-36D1-4DC2-8AAE-FB474A4DDCDE}" type="slidenum">
              <a:rPr lang="zh-CN" altLang="en-US" sz="1200" smtClean="0"/>
              <a:pPr/>
              <a:t>57</a:t>
            </a:fld>
            <a:endParaRPr lang="zh-CN" altLang="en-US" sz="120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a:extLst>
              <a:ext uri="{FF2B5EF4-FFF2-40B4-BE49-F238E27FC236}">
                <a16:creationId xmlns:a16="http://schemas.microsoft.com/office/drawing/2014/main" id="{47F5EE8E-2B9E-4636-90B2-70A0E9585AB5}"/>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2339" name="备注占位符 2">
            <a:extLst>
              <a:ext uri="{FF2B5EF4-FFF2-40B4-BE49-F238E27FC236}">
                <a16:creationId xmlns:a16="http://schemas.microsoft.com/office/drawing/2014/main" id="{55F97C53-2CB1-46C6-A6C5-5F63351EC5F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口服避孕药或抗惊厥药能干扰叶酸的吸收及代谢</a:t>
            </a:r>
            <a:endParaRPr lang="en-US" altLang="zh-CN" dirty="0"/>
          </a:p>
          <a:p>
            <a:endParaRPr lang="en-US" altLang="zh-CN" dirty="0"/>
          </a:p>
          <a:p>
            <a:r>
              <a:rPr lang="zh-CN" altLang="en-US" b="1" i="0" dirty="0">
                <a:solidFill>
                  <a:srgbClr val="3C4043"/>
                </a:solidFill>
                <a:effectLst/>
                <a:latin typeface="Roboto" panose="02000000000000000000" pitchFamily="2" charset="0"/>
              </a:rPr>
              <a:t>丙戊酸</a:t>
            </a:r>
            <a:r>
              <a:rPr lang="en-US" altLang="zh-CN" b="0" i="0" dirty="0">
                <a:solidFill>
                  <a:srgbClr val="3C4043"/>
                </a:solidFill>
                <a:effectLst/>
                <a:latin typeface="Roboto" panose="02000000000000000000" pitchFamily="2" charset="0"/>
              </a:rPr>
              <a:t>Valproic acid</a:t>
            </a:r>
            <a:r>
              <a:rPr lang="zh-CN" altLang="en-US" b="0" i="0" dirty="0">
                <a:solidFill>
                  <a:srgbClr val="3C4043"/>
                </a:solidFill>
                <a:effectLst/>
                <a:latin typeface="Roboto" panose="02000000000000000000" pitchFamily="2" charset="0"/>
              </a:rPr>
              <a:t>是最常用的癫痫治疗药物之一，也用于治疗某些心理疾病，例如双相情感障碍。 它也是</a:t>
            </a:r>
            <a:r>
              <a:rPr lang="zh-CN" altLang="en-US" b="1" i="0" dirty="0">
                <a:solidFill>
                  <a:srgbClr val="3C4043"/>
                </a:solidFill>
                <a:effectLst/>
                <a:latin typeface="Roboto" panose="02000000000000000000" pitchFamily="2" charset="0"/>
              </a:rPr>
              <a:t>一种叶酸抑制剂</a:t>
            </a:r>
            <a:r>
              <a:rPr lang="zh-CN" altLang="en-US" b="0" i="0" dirty="0">
                <a:solidFill>
                  <a:srgbClr val="3C4043"/>
                </a:solidFill>
                <a:effectLst/>
                <a:latin typeface="Roboto" panose="02000000000000000000" pitchFamily="2" charset="0"/>
              </a:rPr>
              <a:t>，因此已被证明会导致出生缺陷，包括神经管缺陷、 再加上儿童患有认知障碍和自闭症的风险增加。 有证据表明摄入叶酸具有保护作用。</a:t>
            </a:r>
            <a:endParaRPr lang="en-US" altLang="zh-CN" dirty="0"/>
          </a:p>
          <a:p>
            <a:endParaRPr lang="en-US" altLang="zh-CN" dirty="0"/>
          </a:p>
          <a:p>
            <a:r>
              <a:rPr lang="zh-CN" altLang="en-US" dirty="0"/>
              <a:t>早在</a:t>
            </a:r>
            <a:r>
              <a:rPr lang="en-US" altLang="zh-CN" dirty="0"/>
              <a:t>1941</a:t>
            </a:r>
            <a:r>
              <a:rPr lang="zh-CN" altLang="en-US" dirty="0"/>
              <a:t>年美国食品药物管理局（</a:t>
            </a:r>
            <a:r>
              <a:rPr lang="en-US" altLang="zh-CN" dirty="0"/>
              <a:t>FDA</a:t>
            </a:r>
            <a:r>
              <a:rPr lang="zh-CN" altLang="en-US" dirty="0"/>
              <a:t>）就根据当时国内患脚气病和贫血症者较多的情况，作出在小麦粉中添加维生素</a:t>
            </a:r>
            <a:r>
              <a:rPr lang="en-US" altLang="zh-CN" dirty="0"/>
              <a:t>B1</a:t>
            </a:r>
            <a:r>
              <a:rPr lang="zh-CN" altLang="en-US" dirty="0"/>
              <a:t>、维生素</a:t>
            </a:r>
            <a:r>
              <a:rPr lang="en-US" altLang="zh-CN" dirty="0"/>
              <a:t>B2</a:t>
            </a:r>
            <a:r>
              <a:rPr lang="zh-CN" altLang="en-US" dirty="0"/>
              <a:t>、烟酸、铁质等的规定。现在美国一般的小麦粉和面包粉都添加强化剂。  </a:t>
            </a:r>
            <a:r>
              <a:rPr lang="en-US" altLang="zh-CN" dirty="0"/>
              <a:t>1996</a:t>
            </a:r>
            <a:r>
              <a:rPr lang="zh-CN" altLang="en-US" dirty="0"/>
              <a:t>年起，根据</a:t>
            </a:r>
            <a:r>
              <a:rPr lang="en-US" altLang="zh-CN" dirty="0"/>
              <a:t>FDA</a:t>
            </a:r>
            <a:r>
              <a:rPr lang="zh-CN" altLang="en-US" dirty="0"/>
              <a:t>新规，美国的早餐麦片等食品中强制添加叶酸。 </a:t>
            </a:r>
          </a:p>
          <a:p>
            <a:endParaRPr lang="en-US" altLang="zh-CN" dirty="0"/>
          </a:p>
        </p:txBody>
      </p:sp>
      <p:sp>
        <p:nvSpPr>
          <p:cNvPr id="142340" name="灯片编号占位符 3">
            <a:extLst>
              <a:ext uri="{FF2B5EF4-FFF2-40B4-BE49-F238E27FC236}">
                <a16:creationId xmlns:a16="http://schemas.microsoft.com/office/drawing/2014/main" id="{03391743-14A5-4974-AE86-2DBDFBD9FC2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87999B7-390E-46C9-8C7A-689E91B9CD07}" type="slidenum">
              <a:rPr lang="zh-CN" altLang="en-US" smtClean="0">
                <a:solidFill>
                  <a:schemeClr val="bg1"/>
                </a:solidFill>
                <a:latin typeface="Times New Roman" panose="02020603050405020304" pitchFamily="18" charset="0"/>
                <a:ea typeface="楷体_GB2312" pitchFamily="49" charset="-122"/>
              </a:rPr>
              <a:pPr>
                <a:spcBef>
                  <a:spcPct val="0"/>
                </a:spcBef>
              </a:pPr>
              <a:t>58</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幻灯片图像占位符 1">
            <a:extLst>
              <a:ext uri="{FF2B5EF4-FFF2-40B4-BE49-F238E27FC236}">
                <a16:creationId xmlns:a16="http://schemas.microsoft.com/office/drawing/2014/main" id="{727BC633-AEA1-4077-BB36-1DAFCE60C37C}"/>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7" name="备注占位符 2">
            <a:extLst>
              <a:ext uri="{FF2B5EF4-FFF2-40B4-BE49-F238E27FC236}">
                <a16:creationId xmlns:a16="http://schemas.microsoft.com/office/drawing/2014/main" id="{A50CF7E6-E4BA-40A6-839F-91F4B60C72B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咕啉环类似卟啉环。</a:t>
            </a:r>
            <a:endParaRPr lang="en-US" altLang="zh-CN" dirty="0">
              <a:solidFill>
                <a:srgbClr val="222222"/>
              </a:solidFill>
              <a:latin typeface="Arial" panose="020B0604020202020204" pitchFamily="34" charset="0"/>
            </a:endParaRPr>
          </a:p>
          <a:p>
            <a:endParaRPr lang="en-US" altLang="zh-CN" dirty="0"/>
          </a:p>
          <a:p>
            <a:endParaRPr lang="zh-CN" altLang="en-US" dirty="0"/>
          </a:p>
        </p:txBody>
      </p:sp>
      <p:sp>
        <p:nvSpPr>
          <p:cNvPr id="144388" name="灯片编号占位符 3">
            <a:extLst>
              <a:ext uri="{FF2B5EF4-FFF2-40B4-BE49-F238E27FC236}">
                <a16:creationId xmlns:a16="http://schemas.microsoft.com/office/drawing/2014/main" id="{6F7947F8-968A-4730-8A56-9289CEBF678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04D9C98C-C875-4A59-9893-592A43BCC70D}" type="slidenum">
              <a:rPr lang="zh-CN" altLang="en-US" smtClean="0">
                <a:solidFill>
                  <a:schemeClr val="bg1"/>
                </a:solidFill>
                <a:latin typeface="Times New Roman" panose="02020603050405020304" pitchFamily="18" charset="0"/>
                <a:ea typeface="楷体_GB2312" pitchFamily="49" charset="-122"/>
              </a:rPr>
              <a:pPr>
                <a:spcBef>
                  <a:spcPct val="0"/>
                </a:spcBef>
              </a:pPr>
              <a:t>59</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r>
              <a:rPr lang="en-US" altLang="zh-CN" baseline="-25000" dirty="0"/>
              <a:t>12</a:t>
            </a:r>
            <a:r>
              <a:rPr lang="zh-CN" altLang="en-US" dirty="0"/>
              <a:t>主要随胆汁排出， </a:t>
            </a:r>
            <a:r>
              <a:rPr lang="en-US" altLang="zh-CN" dirty="0"/>
              <a:t>50%</a:t>
            </a:r>
            <a:r>
              <a:rPr lang="zh-CN" altLang="en-US" dirty="0"/>
              <a:t>左右经肠肝循环而重吸收，少部分随尿排出。 </a:t>
            </a:r>
          </a:p>
          <a:p>
            <a:endParaRPr lang="zh-CN" altLang="en-US" dirty="0"/>
          </a:p>
        </p:txBody>
      </p:sp>
      <p:sp>
        <p:nvSpPr>
          <p:cNvPr id="4" name="灯片编号占位符 3"/>
          <p:cNvSpPr>
            <a:spLocks noGrp="1"/>
          </p:cNvSpPr>
          <p:nvPr>
            <p:ph type="sldNum" sz="quarter" idx="5"/>
          </p:nvPr>
        </p:nvSpPr>
        <p:spPr/>
        <p:txBody>
          <a:bodyPr/>
          <a:lstStyle/>
          <a:p>
            <a:pPr>
              <a:defRPr/>
            </a:pPr>
            <a:fld id="{2D76A890-7C90-4642-A290-690AA85DBCEA}" type="slidenum">
              <a:rPr lang="zh-CN" altLang="en-US" smtClean="0"/>
              <a:pPr>
                <a:defRPr/>
              </a:pPr>
              <a:t>60</a:t>
            </a:fld>
            <a:endParaRPr lang="zh-CN" altLang="en-US"/>
          </a:p>
        </p:txBody>
      </p:sp>
    </p:spTree>
    <p:extLst>
      <p:ext uri="{BB962C8B-B14F-4D97-AF65-F5344CB8AC3E}">
        <p14:creationId xmlns:p14="http://schemas.microsoft.com/office/powerpoint/2010/main" val="39793121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幻灯片图像占位符 1">
            <a:extLst>
              <a:ext uri="{FF2B5EF4-FFF2-40B4-BE49-F238E27FC236}">
                <a16:creationId xmlns:a16="http://schemas.microsoft.com/office/drawing/2014/main" id="{DEE35709-8FA9-4C59-B041-1EB54F94045B}"/>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1555" name="备注占位符 2">
            <a:extLst>
              <a:ext uri="{FF2B5EF4-FFF2-40B4-BE49-F238E27FC236}">
                <a16:creationId xmlns:a16="http://schemas.microsoft.com/office/drawing/2014/main" id="{B15750CC-D4F8-4FFA-B6DA-250F76E0075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图中的甲硫氨酸循环代谢路径， 可参考氨基酸代谢这一章中的 含硫氨基酸代谢。 </a:t>
            </a:r>
            <a:endParaRPr lang="en-US" altLang="zh-CN" dirty="0"/>
          </a:p>
          <a:p>
            <a:endParaRPr lang="en-US" altLang="zh-CN" dirty="0"/>
          </a:p>
          <a:p>
            <a:r>
              <a:rPr lang="zh-CN" altLang="en-US" dirty="0"/>
              <a:t>同型半胱氨酸又称</a:t>
            </a:r>
            <a:r>
              <a:rPr lang="zh-CN" altLang="en-US" b="1" dirty="0"/>
              <a:t>高半胱氨酸</a:t>
            </a:r>
            <a:r>
              <a:rPr lang="zh-CN" altLang="en-US" dirty="0"/>
              <a:t>或者高同型半胱氨酸</a:t>
            </a:r>
            <a:endParaRPr lang="en-US" altLang="zh-CN" dirty="0"/>
          </a:p>
          <a:p>
            <a:r>
              <a:rPr lang="zh-CN" altLang="en-US" dirty="0"/>
              <a:t>高同型半胱氨酸血症：眼部异常、心血管病变、骨骼肌肉异常、轻度精神衰退及心理和精神障碍。</a:t>
            </a:r>
            <a:br>
              <a:rPr lang="zh-CN" altLang="en-US" dirty="0"/>
            </a:br>
            <a:endParaRPr lang="en-US" altLang="zh-CN" dirty="0">
              <a:solidFill>
                <a:srgbClr val="000000"/>
              </a:solidFill>
            </a:endParaRPr>
          </a:p>
        </p:txBody>
      </p:sp>
      <p:sp>
        <p:nvSpPr>
          <p:cNvPr id="151556" name="灯片编号占位符 3">
            <a:extLst>
              <a:ext uri="{FF2B5EF4-FFF2-40B4-BE49-F238E27FC236}">
                <a16:creationId xmlns:a16="http://schemas.microsoft.com/office/drawing/2014/main" id="{B704F9CD-CDF5-4A59-9613-2A0104B1BB5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bg1"/>
                </a:solidFill>
                <a:latin typeface="Times New Roman" panose="02020603050405020304" pitchFamily="18" charset="0"/>
                <a:ea typeface="楷体_GB2312" pitchFamily="49" charset="-122"/>
              </a:defRPr>
            </a:lvl1pPr>
            <a:lvl2pPr marL="742950" indent="-285750">
              <a:defRPr kumimoji="1" sz="3200" b="1">
                <a:solidFill>
                  <a:schemeClr val="bg1"/>
                </a:solidFill>
                <a:latin typeface="Times New Roman" panose="02020603050405020304" pitchFamily="18" charset="0"/>
                <a:ea typeface="楷体_GB2312" pitchFamily="49" charset="-122"/>
              </a:defRPr>
            </a:lvl2pPr>
            <a:lvl3pPr marL="1143000" indent="-228600">
              <a:defRPr kumimoji="1" sz="3200" b="1">
                <a:solidFill>
                  <a:schemeClr val="bg1"/>
                </a:solidFill>
                <a:latin typeface="Times New Roman" panose="02020603050405020304" pitchFamily="18" charset="0"/>
                <a:ea typeface="楷体_GB2312" pitchFamily="49" charset="-122"/>
              </a:defRPr>
            </a:lvl3pPr>
            <a:lvl4pPr marL="1600200" indent="-228600">
              <a:defRPr kumimoji="1" sz="3200" b="1">
                <a:solidFill>
                  <a:schemeClr val="bg1"/>
                </a:solidFill>
                <a:latin typeface="Times New Roman" panose="02020603050405020304" pitchFamily="18" charset="0"/>
                <a:ea typeface="楷体_GB2312" pitchFamily="49" charset="-122"/>
              </a:defRPr>
            </a:lvl4pPr>
            <a:lvl5pPr marL="2057400" indent="-228600">
              <a:defRPr kumimoji="1" sz="3200" b="1">
                <a:solidFill>
                  <a:schemeClr val="bg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9pPr>
          </a:lstStyle>
          <a:p>
            <a:fld id="{75C34CF6-9D56-4243-8CCD-89A2E27E2808}" type="slidenum">
              <a:rPr lang="zh-CN" altLang="en-US" sz="1200" smtClean="0"/>
              <a:pPr/>
              <a:t>61</a:t>
            </a:fld>
            <a:endParaRPr lang="zh-CN" altLang="en-US" sz="120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幻灯片图像占位符 1">
            <a:extLst>
              <a:ext uri="{FF2B5EF4-FFF2-40B4-BE49-F238E27FC236}">
                <a16:creationId xmlns:a16="http://schemas.microsoft.com/office/drawing/2014/main" id="{F1ECF91D-0145-4DB9-8589-C4A5053D8A5A}"/>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03" name="备注占位符 2">
            <a:extLst>
              <a:ext uri="{FF2B5EF4-FFF2-40B4-BE49-F238E27FC236}">
                <a16:creationId xmlns:a16="http://schemas.microsoft.com/office/drawing/2014/main" id="{FD4963FF-7C65-48E4-A121-50EE0B32C94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测血中的甲基丙二酸（</a:t>
            </a:r>
            <a:r>
              <a:rPr lang="en-US" altLang="zh-CN" dirty="0"/>
              <a:t>methylmalonic acid</a:t>
            </a:r>
            <a:r>
              <a:rPr lang="zh-CN" altLang="en-US" dirty="0"/>
              <a:t>）水平可以判断</a:t>
            </a:r>
            <a:r>
              <a:rPr lang="en-US" altLang="zh-CN" dirty="0"/>
              <a:t>B12</a:t>
            </a:r>
            <a:r>
              <a:rPr lang="zh-CN" altLang="en-US" dirty="0"/>
              <a:t>缺乏情况。</a:t>
            </a:r>
            <a:endParaRPr lang="en-US" altLang="zh-CN" dirty="0"/>
          </a:p>
          <a:p>
            <a:endParaRPr lang="en-US" altLang="zh-CN" dirty="0"/>
          </a:p>
          <a:p>
            <a:r>
              <a:rPr lang="zh-CN" altLang="en-US" dirty="0"/>
              <a:t>因基因突变致</a:t>
            </a:r>
            <a:r>
              <a:rPr lang="zh-CN" altLang="en-US" b="1" dirty="0"/>
              <a:t>甲基丙二酰辅酶</a:t>
            </a:r>
            <a:r>
              <a:rPr lang="en-US" altLang="zh-CN" b="1" dirty="0"/>
              <a:t>A</a:t>
            </a:r>
            <a:r>
              <a:rPr lang="zh-CN" altLang="en-US" b="1" dirty="0"/>
              <a:t>变位酶</a:t>
            </a:r>
            <a:r>
              <a:rPr lang="zh-CN" altLang="en-US" dirty="0"/>
              <a:t>不能正常降解异亮氨酸、蛋氨酸、苏氨酸和缬氨酸的患者，体内出现甲基丙二酸积累，症状类似于乙二醇中毒。</a:t>
            </a:r>
            <a:endParaRPr lang="en-US" altLang="zh-CN" dirty="0"/>
          </a:p>
          <a:p>
            <a:endParaRPr lang="en-US" altLang="zh-CN" dirty="0"/>
          </a:p>
          <a:p>
            <a:endParaRPr lang="zh-CN" altLang="en-US" dirty="0"/>
          </a:p>
        </p:txBody>
      </p:sp>
      <p:sp>
        <p:nvSpPr>
          <p:cNvPr id="153604" name="灯片编号占位符 3">
            <a:extLst>
              <a:ext uri="{FF2B5EF4-FFF2-40B4-BE49-F238E27FC236}">
                <a16:creationId xmlns:a16="http://schemas.microsoft.com/office/drawing/2014/main" id="{AB7FAA69-7F6C-4865-9392-24927FB7C88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bg1"/>
                </a:solidFill>
                <a:latin typeface="Times New Roman" panose="02020603050405020304" pitchFamily="18" charset="0"/>
                <a:ea typeface="楷体_GB2312" pitchFamily="49" charset="-122"/>
              </a:defRPr>
            </a:lvl1pPr>
            <a:lvl2pPr marL="742950" indent="-285750">
              <a:defRPr kumimoji="1" sz="3200" b="1">
                <a:solidFill>
                  <a:schemeClr val="bg1"/>
                </a:solidFill>
                <a:latin typeface="Times New Roman" panose="02020603050405020304" pitchFamily="18" charset="0"/>
                <a:ea typeface="楷体_GB2312" pitchFamily="49" charset="-122"/>
              </a:defRPr>
            </a:lvl2pPr>
            <a:lvl3pPr marL="1143000" indent="-228600">
              <a:defRPr kumimoji="1" sz="3200" b="1">
                <a:solidFill>
                  <a:schemeClr val="bg1"/>
                </a:solidFill>
                <a:latin typeface="Times New Roman" panose="02020603050405020304" pitchFamily="18" charset="0"/>
                <a:ea typeface="楷体_GB2312" pitchFamily="49" charset="-122"/>
              </a:defRPr>
            </a:lvl3pPr>
            <a:lvl4pPr marL="1600200" indent="-228600">
              <a:defRPr kumimoji="1" sz="3200" b="1">
                <a:solidFill>
                  <a:schemeClr val="bg1"/>
                </a:solidFill>
                <a:latin typeface="Times New Roman" panose="02020603050405020304" pitchFamily="18" charset="0"/>
                <a:ea typeface="楷体_GB2312" pitchFamily="49" charset="-122"/>
              </a:defRPr>
            </a:lvl4pPr>
            <a:lvl5pPr marL="2057400" indent="-228600">
              <a:defRPr kumimoji="1" sz="3200" b="1">
                <a:solidFill>
                  <a:schemeClr val="bg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9pPr>
          </a:lstStyle>
          <a:p>
            <a:fld id="{8B1A9C5E-9FBE-49CD-A855-8D33D4E5DFED}" type="slidenum">
              <a:rPr lang="zh-CN" altLang="en-US" sz="1200" smtClean="0"/>
              <a:pPr/>
              <a:t>62</a:t>
            </a:fld>
            <a:endParaRPr lang="zh-CN" altLang="en-US" sz="120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algn="l"/>
            <a:r>
              <a:rPr lang="en-US" altLang="zh-CN" sz="1800" b="0" i="0" u="none" strike="noStrike" baseline="0" dirty="0">
                <a:latin typeface="CenturyStd-Light"/>
              </a:rPr>
              <a:t>William Sly, chairman of the Department of Biochemistry and Molecular Biology at St. Louis University, and James Shoemaker, head of a metabolic screening lab at the university, got interested in her case when they heard about it from a television broadcast.</a:t>
            </a:r>
            <a:endParaRPr lang="en-US" altLang="zh-CN" dirty="0"/>
          </a:p>
          <a:p>
            <a:pPr algn="l"/>
            <a:r>
              <a:rPr lang="zh-CN" altLang="en-US" dirty="0"/>
              <a:t>见 第六版 </a:t>
            </a:r>
            <a:r>
              <a:rPr lang="en-US" altLang="zh-CN" dirty="0"/>
              <a:t>724</a:t>
            </a:r>
            <a:r>
              <a:rPr lang="zh-CN" altLang="en-US" dirty="0"/>
              <a:t>页</a:t>
            </a:r>
            <a:endParaRPr lang="en-US" altLang="zh-CN" dirty="0"/>
          </a:p>
          <a:p>
            <a:pPr algn="l"/>
            <a:r>
              <a:rPr lang="en-US" altLang="zh-CN" dirty="0"/>
              <a:t>By Michelle Hoffman (1991). Science 253, 931. Copyright 1991 by the American Association for the Advancement of Science.</a:t>
            </a:r>
            <a:endParaRPr lang="zh-CN" altLang="en-US" dirty="0"/>
          </a:p>
        </p:txBody>
      </p:sp>
      <p:sp>
        <p:nvSpPr>
          <p:cNvPr id="4" name="灯片编号占位符 3"/>
          <p:cNvSpPr>
            <a:spLocks noGrp="1"/>
          </p:cNvSpPr>
          <p:nvPr>
            <p:ph type="sldNum" sz="quarter" idx="5"/>
          </p:nvPr>
        </p:nvSpPr>
        <p:spPr/>
        <p:txBody>
          <a:bodyPr/>
          <a:lstStyle/>
          <a:p>
            <a:pPr>
              <a:defRPr/>
            </a:pPr>
            <a:fld id="{2D76A890-7C90-4642-A290-690AA85DBCEA}" type="slidenum">
              <a:rPr lang="zh-CN" altLang="en-US" smtClean="0"/>
              <a:pPr>
                <a:defRPr/>
              </a:pPr>
              <a:t>63</a:t>
            </a:fld>
            <a:endParaRPr lang="zh-CN" altLang="en-US"/>
          </a:p>
        </p:txBody>
      </p:sp>
    </p:spTree>
    <p:extLst>
      <p:ext uri="{BB962C8B-B14F-4D97-AF65-F5344CB8AC3E}">
        <p14:creationId xmlns:p14="http://schemas.microsoft.com/office/powerpoint/2010/main" val="13200705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427D73AB-8E4F-4FDC-A0DB-D7C7D28BEB6D}"/>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1" name="Rectangle 3">
            <a:extLst>
              <a:ext uri="{FF2B5EF4-FFF2-40B4-BE49-F238E27FC236}">
                <a16:creationId xmlns:a16="http://schemas.microsoft.com/office/drawing/2014/main" id="{931F8415-88AD-4340-B4FC-D93C0193B25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在整个机体能量供应不足、细胞分裂迟缓的情况下，那些更新最快的组织会首先受到影响，如粘膜组织、皮肤表层细胞、红细胞等； 那些对能量供应最敏感的组织也会首先受害，如神经组织。 这就能够解释为什么</a:t>
            </a:r>
            <a:r>
              <a:rPr lang="en-US" altLang="zh-CN" dirty="0"/>
              <a:t>B</a:t>
            </a:r>
            <a:r>
              <a:rPr lang="zh-CN" altLang="en-US" dirty="0"/>
              <a:t>族维生素缺乏时，表现出来的常常首先是皮肤、舌头、口腔、消化道、神经系统和血细胞方面的症状，而且伴随着全身疲乏无力感。  </a:t>
            </a:r>
          </a:p>
        </p:txBody>
      </p:sp>
      <p:sp>
        <p:nvSpPr>
          <p:cNvPr id="4" name="灯片编号占位符 3"/>
          <p:cNvSpPr>
            <a:spLocks noGrp="1"/>
          </p:cNvSpPr>
          <p:nvPr>
            <p:ph type="sldNum" sz="quarter" idx="5"/>
          </p:nvPr>
        </p:nvSpPr>
        <p:spPr/>
        <p:txBody>
          <a:bodyPr/>
          <a:lstStyle/>
          <a:p>
            <a:pPr>
              <a:defRPr/>
            </a:pPr>
            <a:fld id="{2D76A890-7C90-4642-A290-690AA85DBCEA}" type="slidenum">
              <a:rPr lang="zh-CN" altLang="en-US" smtClean="0"/>
              <a:pPr>
                <a:defRPr/>
              </a:pPr>
              <a:t>65</a:t>
            </a:fld>
            <a:endParaRPr lang="zh-CN" altLang="en-US"/>
          </a:p>
        </p:txBody>
      </p:sp>
    </p:spTree>
    <p:extLst>
      <p:ext uri="{BB962C8B-B14F-4D97-AF65-F5344CB8AC3E}">
        <p14:creationId xmlns:p14="http://schemas.microsoft.com/office/powerpoint/2010/main" val="56736429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幻灯片图像占位符 1">
            <a:extLst>
              <a:ext uri="{FF2B5EF4-FFF2-40B4-BE49-F238E27FC236}">
                <a16:creationId xmlns:a16="http://schemas.microsoft.com/office/drawing/2014/main" id="{4AD67902-876B-4140-A8FC-5D6138383A65}"/>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4867" name="备注占位符 2">
            <a:extLst>
              <a:ext uri="{FF2B5EF4-FFF2-40B4-BE49-F238E27FC236}">
                <a16:creationId xmlns:a16="http://schemas.microsoft.com/office/drawing/2014/main" id="{9CBC1DB5-A4D6-47C6-9937-2715BF109DE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b="1" dirty="0"/>
              <a:t>有些动物不能合成维生素</a:t>
            </a:r>
            <a:r>
              <a:rPr lang="en-US" altLang="zh-CN" b="1" dirty="0"/>
              <a:t>C</a:t>
            </a:r>
            <a:r>
              <a:rPr lang="zh-CN" altLang="en-US" b="1" dirty="0"/>
              <a:t>，包括部分灵长类动物，比如人。 </a:t>
            </a:r>
            <a:endParaRPr lang="en-US" altLang="zh-CN" b="1" dirty="0"/>
          </a:p>
          <a:p>
            <a:endParaRPr lang="en-US" altLang="zh-CN" dirty="0"/>
          </a:p>
          <a:p>
            <a:r>
              <a:rPr lang="en-US" altLang="zh-CN" dirty="0"/>
              <a:t>Most animals make large amounts of vitamin C, </a:t>
            </a:r>
            <a:r>
              <a:rPr lang="en-US" altLang="zh-CN" b="1" dirty="0"/>
              <a:t>converting</a:t>
            </a:r>
            <a:r>
              <a:rPr lang="zh-CN" altLang="en-US" b="1" dirty="0"/>
              <a:t>　</a:t>
            </a:r>
            <a:r>
              <a:rPr lang="en-US" altLang="zh-CN" b="1" dirty="0"/>
              <a:t>glucose to ascorbate in four enzymatic steps</a:t>
            </a:r>
            <a:r>
              <a:rPr lang="en-US" altLang="zh-CN" b="0" dirty="0"/>
              <a:t>.</a:t>
            </a:r>
            <a:r>
              <a:rPr lang="zh-CN" altLang="en-US" b="0" dirty="0"/>
              <a:t>　</a:t>
            </a:r>
            <a:r>
              <a:rPr lang="en-US" altLang="zh-CN" dirty="0"/>
              <a:t>But in the course of evolution, humans and some other</a:t>
            </a:r>
            <a:r>
              <a:rPr lang="zh-CN" altLang="en-US" dirty="0"/>
              <a:t>　</a:t>
            </a:r>
            <a:r>
              <a:rPr lang="en-US" altLang="zh-CN" dirty="0"/>
              <a:t>animals—gorillas, guinea pigs, and fruit bats—have </a:t>
            </a:r>
            <a:r>
              <a:rPr lang="en-US" altLang="zh-CN" b="1" dirty="0"/>
              <a:t>lost</a:t>
            </a:r>
            <a:r>
              <a:rPr lang="zh-CN" altLang="en-US" b="1" dirty="0"/>
              <a:t>　</a:t>
            </a:r>
            <a:r>
              <a:rPr lang="en-US" altLang="zh-CN" b="1" dirty="0"/>
              <a:t>the last enzyme in this pathway </a:t>
            </a:r>
            <a:r>
              <a:rPr lang="en-US" altLang="zh-CN" dirty="0"/>
              <a:t>and must obtain ascorbate</a:t>
            </a:r>
            <a:r>
              <a:rPr lang="zh-CN" altLang="en-US" dirty="0"/>
              <a:t>　</a:t>
            </a:r>
            <a:r>
              <a:rPr lang="en-US" altLang="zh-CN" dirty="0"/>
              <a:t>in their diet.</a:t>
            </a:r>
          </a:p>
          <a:p>
            <a:endParaRPr lang="en-US" altLang="zh-CN" dirty="0"/>
          </a:p>
        </p:txBody>
      </p:sp>
      <p:sp>
        <p:nvSpPr>
          <p:cNvPr id="164868" name="灯片编号占位符 3">
            <a:extLst>
              <a:ext uri="{FF2B5EF4-FFF2-40B4-BE49-F238E27FC236}">
                <a16:creationId xmlns:a16="http://schemas.microsoft.com/office/drawing/2014/main" id="{A5819468-B9BC-4C4D-9CA5-3F47A8407B4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40D8961-3AB5-4CBD-A06B-A3666323F75D}" type="slidenum">
              <a:rPr lang="zh-CN" altLang="en-US" smtClean="0">
                <a:solidFill>
                  <a:schemeClr val="bg1"/>
                </a:solidFill>
                <a:latin typeface="Times New Roman" panose="02020603050405020304" pitchFamily="18" charset="0"/>
                <a:ea typeface="楷体_GB2312" pitchFamily="49" charset="-122"/>
              </a:rPr>
              <a:pPr>
                <a:spcBef>
                  <a:spcPct val="0"/>
                </a:spcBef>
              </a:pPr>
              <a:t>66</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幻灯片图像占位符 1">
            <a:extLst>
              <a:ext uri="{FF2B5EF4-FFF2-40B4-BE49-F238E27FC236}">
                <a16:creationId xmlns:a16="http://schemas.microsoft.com/office/drawing/2014/main" id="{34D8FE3F-E84C-4E58-B03B-515C1E36A4DD}"/>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5955" name="备注占位符 2">
            <a:extLst>
              <a:ext uri="{FF2B5EF4-FFF2-40B4-BE49-F238E27FC236}">
                <a16:creationId xmlns:a16="http://schemas.microsoft.com/office/drawing/2014/main" id="{DDF35A54-EDD4-4780-8F0E-D6C4306CBFB7}"/>
              </a:ext>
            </a:extLst>
          </p:cNvPr>
          <p:cNvSpPr>
            <a:spLocks noGrp="1"/>
          </p:cNvSpPr>
          <p:nvPr>
            <p:ph type="body" idx="1"/>
          </p:nvPr>
        </p:nvSpPr>
        <p:spPr bwMode="auto"/>
        <p:txBody>
          <a:bodyPr wrap="square" numCol="1" anchor="t" anchorCtr="0" compatLnSpc="1">
            <a:prstTxWarp prst="textNoShape">
              <a:avLst/>
            </a:prstTxWarp>
            <a:normAutofit/>
          </a:bodyPr>
          <a:lstStyle/>
          <a:p>
            <a:pPr>
              <a:defRPr/>
            </a:pPr>
            <a:r>
              <a:rPr lang="zh-CN" altLang="en-US" b="0" dirty="0"/>
              <a:t>维生素</a:t>
            </a:r>
            <a:r>
              <a:rPr lang="en-US" altLang="zh-CN" b="0" dirty="0"/>
              <a:t>C</a:t>
            </a:r>
            <a:r>
              <a:rPr lang="zh-CN" altLang="en-US" b="0" dirty="0"/>
              <a:t>是作用很强的还原剂，  可以清除</a:t>
            </a:r>
            <a:r>
              <a:rPr lang="en-US" altLang="zh-CN" b="0" dirty="0"/>
              <a:t>O</a:t>
            </a:r>
            <a:r>
              <a:rPr lang="en-US" altLang="zh-CN" b="0" baseline="-25000" dirty="0"/>
              <a:t>2</a:t>
            </a:r>
            <a:r>
              <a:rPr lang="en-US" altLang="zh-CN" b="0" baseline="30000" dirty="0"/>
              <a:t> ·-</a:t>
            </a:r>
            <a:r>
              <a:rPr lang="zh-CN" altLang="en-US" b="0" dirty="0"/>
              <a:t>及和</a:t>
            </a:r>
            <a:r>
              <a:rPr lang="en-US" altLang="zh-CN" b="0" dirty="0"/>
              <a:t>OH·</a:t>
            </a:r>
            <a:r>
              <a:rPr lang="zh-CN" altLang="en-US" b="0" dirty="0"/>
              <a:t>等活性氧类物质。</a:t>
            </a:r>
            <a:endParaRPr lang="en-US" altLang="zh-CN" b="0" dirty="0"/>
          </a:p>
        </p:txBody>
      </p:sp>
      <p:sp>
        <p:nvSpPr>
          <p:cNvPr id="166916" name="灯片编号占位符 3">
            <a:extLst>
              <a:ext uri="{FF2B5EF4-FFF2-40B4-BE49-F238E27FC236}">
                <a16:creationId xmlns:a16="http://schemas.microsoft.com/office/drawing/2014/main" id="{EB1F701E-B20B-47C5-950B-2708F9EA7FC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F621431-BE72-42D8-A983-0C42C1031547}" type="slidenum">
              <a:rPr lang="zh-CN" altLang="en-US" smtClean="0">
                <a:solidFill>
                  <a:schemeClr val="bg1"/>
                </a:solidFill>
                <a:latin typeface="Times New Roman" panose="02020603050405020304" pitchFamily="18" charset="0"/>
                <a:ea typeface="楷体_GB2312" pitchFamily="49" charset="-122"/>
              </a:rPr>
              <a:pPr>
                <a:spcBef>
                  <a:spcPct val="0"/>
                </a:spcBef>
              </a:pPr>
              <a:t>67</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幻灯片图像占位符 1">
            <a:extLst>
              <a:ext uri="{FF2B5EF4-FFF2-40B4-BE49-F238E27FC236}">
                <a16:creationId xmlns:a16="http://schemas.microsoft.com/office/drawing/2014/main" id="{857D54EA-1DD9-4D2C-B586-92ED39D7008C}"/>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8963" name="备注占位符 2">
            <a:extLst>
              <a:ext uri="{FF2B5EF4-FFF2-40B4-BE49-F238E27FC236}">
                <a16:creationId xmlns:a16="http://schemas.microsoft.com/office/drawing/2014/main" id="{45FCDF71-B074-4985-9D3C-08C8C2A5EBF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谷类和干豆类不含维生素</a:t>
            </a:r>
            <a:r>
              <a:rPr lang="en-US" altLang="zh-CN" dirty="0"/>
              <a:t>C</a:t>
            </a:r>
            <a:r>
              <a:rPr lang="zh-CN" altLang="en-US" dirty="0"/>
              <a:t>，但种子发芽后，幼芽可以合成维生素</a:t>
            </a:r>
            <a:r>
              <a:rPr lang="en-US" altLang="zh-CN" dirty="0"/>
              <a:t>C</a:t>
            </a:r>
            <a:r>
              <a:rPr lang="zh-CN" altLang="en-US" dirty="0"/>
              <a:t>，故豆芽富含维生素</a:t>
            </a:r>
            <a:r>
              <a:rPr lang="en-US" altLang="zh-CN" dirty="0"/>
              <a:t>C</a:t>
            </a:r>
            <a:r>
              <a:rPr lang="zh-CN" altLang="en-US" dirty="0"/>
              <a:t>。</a:t>
            </a:r>
          </a:p>
          <a:p>
            <a:endParaRPr lang="en-US" altLang="zh-CN" dirty="0"/>
          </a:p>
          <a:p>
            <a:r>
              <a:rPr lang="zh-CN" altLang="en-US" dirty="0"/>
              <a:t>吸烟的人比不吸烟的人每天应多摄入</a:t>
            </a:r>
            <a:r>
              <a:rPr lang="en-US" altLang="zh-CN" dirty="0"/>
              <a:t>35</a:t>
            </a:r>
            <a:r>
              <a:rPr lang="zh-CN" altLang="en-US" dirty="0"/>
              <a:t>毫克维生素</a:t>
            </a:r>
            <a:r>
              <a:rPr lang="en-US" altLang="zh-CN" dirty="0"/>
              <a:t>C</a:t>
            </a:r>
            <a:r>
              <a:rPr lang="zh-CN" altLang="en-US" dirty="0"/>
              <a:t>才能满足需求。</a:t>
            </a:r>
          </a:p>
        </p:txBody>
      </p:sp>
      <p:sp>
        <p:nvSpPr>
          <p:cNvPr id="168964" name="灯片编号占位符 3">
            <a:extLst>
              <a:ext uri="{FF2B5EF4-FFF2-40B4-BE49-F238E27FC236}">
                <a16:creationId xmlns:a16="http://schemas.microsoft.com/office/drawing/2014/main" id="{4F8D03D3-2C0E-493E-B4C1-90C7F235411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bg1"/>
                </a:solidFill>
                <a:latin typeface="Times New Roman" panose="02020603050405020304" pitchFamily="18" charset="0"/>
                <a:ea typeface="楷体_GB2312" pitchFamily="49" charset="-122"/>
              </a:defRPr>
            </a:lvl1pPr>
            <a:lvl2pPr marL="742950" indent="-285750">
              <a:defRPr kumimoji="1" sz="3200" b="1">
                <a:solidFill>
                  <a:schemeClr val="bg1"/>
                </a:solidFill>
                <a:latin typeface="Times New Roman" panose="02020603050405020304" pitchFamily="18" charset="0"/>
                <a:ea typeface="楷体_GB2312" pitchFamily="49" charset="-122"/>
              </a:defRPr>
            </a:lvl2pPr>
            <a:lvl3pPr marL="1143000" indent="-228600">
              <a:defRPr kumimoji="1" sz="3200" b="1">
                <a:solidFill>
                  <a:schemeClr val="bg1"/>
                </a:solidFill>
                <a:latin typeface="Times New Roman" panose="02020603050405020304" pitchFamily="18" charset="0"/>
                <a:ea typeface="楷体_GB2312" pitchFamily="49" charset="-122"/>
              </a:defRPr>
            </a:lvl3pPr>
            <a:lvl4pPr marL="1600200" indent="-228600">
              <a:defRPr kumimoji="1" sz="3200" b="1">
                <a:solidFill>
                  <a:schemeClr val="bg1"/>
                </a:solidFill>
                <a:latin typeface="Times New Roman" panose="02020603050405020304" pitchFamily="18" charset="0"/>
                <a:ea typeface="楷体_GB2312" pitchFamily="49" charset="-122"/>
              </a:defRPr>
            </a:lvl4pPr>
            <a:lvl5pPr marL="2057400" indent="-228600">
              <a:defRPr kumimoji="1" sz="3200" b="1">
                <a:solidFill>
                  <a:schemeClr val="bg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9pPr>
          </a:lstStyle>
          <a:p>
            <a:fld id="{F40F1D67-171C-4780-8CC6-517075114644}" type="slidenum">
              <a:rPr lang="zh-CN" altLang="en-US" sz="1200" smtClean="0"/>
              <a:pPr/>
              <a:t>68</a:t>
            </a:fld>
            <a:endParaRPr lang="zh-CN" altLang="en-US" sz="120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幻灯片图像占位符 1">
            <a:extLst>
              <a:ext uri="{FF2B5EF4-FFF2-40B4-BE49-F238E27FC236}">
                <a16:creationId xmlns:a16="http://schemas.microsoft.com/office/drawing/2014/main" id="{FA571261-C7A1-4A4B-A66D-5CA727F5A72E}"/>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a:extLst>
              <a:ext uri="{FF2B5EF4-FFF2-40B4-BE49-F238E27FC236}">
                <a16:creationId xmlns:a16="http://schemas.microsoft.com/office/drawing/2014/main" id="{7F642082-85CF-4C34-BE5B-187E1BEA3375}"/>
              </a:ext>
            </a:extLst>
          </p:cNvPr>
          <p:cNvSpPr>
            <a:spLocks noGrp="1"/>
          </p:cNvSpPr>
          <p:nvPr>
            <p:ph type="body" idx="1"/>
          </p:nvPr>
        </p:nvSpPr>
        <p:spPr/>
        <p:txBody>
          <a:bodyPr>
            <a:normAutofit fontScale="85000" lnSpcReduction="10000"/>
          </a:bodyPr>
          <a:lstStyle/>
          <a:p>
            <a:pPr>
              <a:defRPr/>
            </a:pPr>
            <a:r>
              <a:rPr lang="zh-CN" altLang="en-US" b="0" dirty="0"/>
              <a:t>在</a:t>
            </a:r>
            <a:r>
              <a:rPr lang="en-US" altLang="zh-CN" b="0" dirty="0"/>
              <a:t>1933</a:t>
            </a:r>
            <a:r>
              <a:rPr lang="zh-CN" altLang="en-US" b="0" dirty="0"/>
              <a:t>年维生素</a:t>
            </a:r>
            <a:r>
              <a:rPr lang="en-US" b="0" dirty="0"/>
              <a:t>C</a:t>
            </a:r>
            <a:r>
              <a:rPr lang="zh-CN" altLang="en-US" b="0" dirty="0"/>
              <a:t>就被成功地人工合成了</a:t>
            </a:r>
            <a:r>
              <a:rPr lang="en-US" altLang="zh-CN" dirty="0"/>
              <a:t>,</a:t>
            </a:r>
            <a:r>
              <a:rPr lang="zh-CN" altLang="en-US" dirty="0"/>
              <a:t>而且成本极其低廉。维生素</a:t>
            </a:r>
            <a:r>
              <a:rPr lang="en-US" dirty="0"/>
              <a:t>C</a:t>
            </a:r>
            <a:r>
              <a:rPr lang="zh-CN" altLang="en-US" dirty="0"/>
              <a:t>因此成了使用最广的维生素</a:t>
            </a:r>
            <a:r>
              <a:rPr lang="en-US" altLang="zh-CN" dirty="0"/>
              <a:t>,</a:t>
            </a:r>
            <a:r>
              <a:rPr lang="zh-CN" altLang="en-US" b="1" dirty="0"/>
              <a:t>作为食品添加剂被广泛加到各种食品当中</a:t>
            </a:r>
            <a:r>
              <a:rPr lang="zh-CN" altLang="en-US" dirty="0"/>
              <a:t>。</a:t>
            </a:r>
            <a:endParaRPr lang="en-US" altLang="zh-CN" dirty="0"/>
          </a:p>
          <a:p>
            <a:pPr>
              <a:defRPr/>
            </a:pPr>
            <a:r>
              <a:rPr lang="zh-CN" altLang="en-US" dirty="0"/>
              <a:t>保健品商还想为维生素</a:t>
            </a:r>
            <a:r>
              <a:rPr lang="en-US" dirty="0"/>
              <a:t>C</a:t>
            </a:r>
            <a:r>
              <a:rPr lang="zh-CN" altLang="en-US" dirty="0"/>
              <a:t>找新的用途</a:t>
            </a:r>
            <a:r>
              <a:rPr lang="en-US" altLang="zh-CN" dirty="0"/>
              <a:t>,</a:t>
            </a:r>
            <a:r>
              <a:rPr lang="zh-CN" altLang="en-US" dirty="0"/>
              <a:t>比如宣称大剂量服用维生素</a:t>
            </a:r>
            <a:r>
              <a:rPr lang="en-US" dirty="0"/>
              <a:t>C</a:t>
            </a:r>
            <a:r>
              <a:rPr lang="zh-CN" altLang="en-US" dirty="0"/>
              <a:t>能够预防、治疗感冒乃至癌症。这个说法是诺贝尔化学奖获得者、美国著名化学家鲍林在几十年前</a:t>
            </a:r>
            <a:r>
              <a:rPr lang="zh-CN" altLang="en-US" b="1" dirty="0"/>
              <a:t>最早提出</a:t>
            </a:r>
            <a:r>
              <a:rPr lang="zh-CN" altLang="en-US" dirty="0"/>
              <a:t>的</a:t>
            </a:r>
            <a:r>
              <a:rPr lang="en-US" altLang="zh-CN" dirty="0"/>
              <a:t>,,</a:t>
            </a:r>
            <a:r>
              <a:rPr lang="zh-CN" altLang="en-US" dirty="0"/>
              <a:t>影响很深远</a:t>
            </a:r>
            <a:r>
              <a:rPr lang="en-US" altLang="zh-CN" b="1" dirty="0"/>
              <a:t>,</a:t>
            </a:r>
            <a:r>
              <a:rPr lang="zh-CN" altLang="en-US" b="1" dirty="0"/>
              <a:t>直到现在相信的人还不少。</a:t>
            </a:r>
            <a:r>
              <a:rPr lang="zh-CN" altLang="en-US" dirty="0"/>
              <a:t>国内有家药厂长期做“常服维</a:t>
            </a:r>
            <a:r>
              <a:rPr lang="en-US" dirty="0"/>
              <a:t>C</a:t>
            </a:r>
            <a:r>
              <a:rPr lang="zh-CN" altLang="en-US" dirty="0"/>
              <a:t>防感冒”的广告</a:t>
            </a:r>
            <a:r>
              <a:rPr lang="en-US" altLang="zh-CN" dirty="0"/>
              <a:t>,</a:t>
            </a:r>
            <a:r>
              <a:rPr lang="zh-CN" altLang="en-US" dirty="0"/>
              <a:t>有的感冒药添加了维生素</a:t>
            </a:r>
            <a:r>
              <a:rPr lang="en-US" dirty="0"/>
              <a:t>C,</a:t>
            </a:r>
            <a:r>
              <a:rPr lang="zh-CN" altLang="en-US" dirty="0"/>
              <a:t>例如“维</a:t>
            </a:r>
            <a:r>
              <a:rPr lang="en-US" dirty="0"/>
              <a:t>C</a:t>
            </a:r>
            <a:r>
              <a:rPr lang="zh-CN" altLang="en-US" dirty="0"/>
              <a:t>银翘片”。</a:t>
            </a:r>
            <a:endParaRPr lang="en-US" altLang="zh-CN" dirty="0"/>
          </a:p>
          <a:p>
            <a:pPr>
              <a:defRPr/>
            </a:pPr>
            <a:endParaRPr lang="en-US" altLang="zh-CN" dirty="0"/>
          </a:p>
          <a:p>
            <a:pPr>
              <a:defRPr/>
            </a:pPr>
            <a:r>
              <a:rPr lang="zh-CN" altLang="en-US" dirty="0"/>
              <a:t>对</a:t>
            </a:r>
            <a:r>
              <a:rPr lang="zh-CN" altLang="en-US" b="1" dirty="0"/>
              <a:t>服用大剂量</a:t>
            </a:r>
            <a:r>
              <a:rPr lang="en-US" altLang="zh-CN" b="1" dirty="0"/>
              <a:t>(</a:t>
            </a:r>
            <a:r>
              <a:rPr lang="zh-CN" altLang="en-US" b="1" dirty="0"/>
              <a:t>每天</a:t>
            </a:r>
            <a:r>
              <a:rPr lang="en-US" altLang="zh-CN" b="1" dirty="0"/>
              <a:t>200</a:t>
            </a:r>
            <a:r>
              <a:rPr lang="zh-CN" altLang="en-US" b="1" dirty="0"/>
              <a:t>毫克以上</a:t>
            </a:r>
            <a:r>
              <a:rPr lang="en-US" altLang="zh-CN" b="1" dirty="0"/>
              <a:t>)</a:t>
            </a:r>
            <a:r>
              <a:rPr lang="zh-CN" altLang="en-US" dirty="0"/>
              <a:t>维生素</a:t>
            </a:r>
            <a:r>
              <a:rPr lang="en-US" dirty="0"/>
              <a:t>C</a:t>
            </a:r>
            <a:r>
              <a:rPr lang="zh-CN" altLang="en-US" dirty="0"/>
              <a:t>能否预防和治疗普通感冒</a:t>
            </a:r>
            <a:r>
              <a:rPr lang="en-US" altLang="zh-CN" dirty="0"/>
              <a:t>,</a:t>
            </a:r>
            <a:r>
              <a:rPr lang="zh-CN" altLang="en-US" dirty="0"/>
              <a:t>有多项有安慰剂做对照的双盲临床试验</a:t>
            </a:r>
            <a:r>
              <a:rPr lang="en-US" altLang="zh-CN" dirty="0"/>
              <a:t>,</a:t>
            </a:r>
            <a:r>
              <a:rPr lang="zh-CN" altLang="en-US" dirty="0"/>
              <a:t>效果不佳。</a:t>
            </a:r>
            <a:endParaRPr lang="en-US" altLang="zh-CN" dirty="0"/>
          </a:p>
          <a:p>
            <a:pPr>
              <a:defRPr/>
            </a:pPr>
            <a:r>
              <a:rPr lang="zh-CN" altLang="en-US" dirty="0"/>
              <a:t>如果一直在服用维生素</a:t>
            </a:r>
            <a:r>
              <a:rPr lang="en-US" dirty="0"/>
              <a:t>C</a:t>
            </a:r>
            <a:r>
              <a:rPr lang="zh-CN" altLang="en-US" dirty="0"/>
              <a:t>制剂</a:t>
            </a:r>
            <a:r>
              <a:rPr lang="en-US" altLang="zh-CN" dirty="0"/>
              <a:t>,</a:t>
            </a:r>
            <a:r>
              <a:rPr lang="zh-CN" altLang="en-US" dirty="0"/>
              <a:t>那么感冒时病程会有所缩短</a:t>
            </a:r>
            <a:r>
              <a:rPr lang="en-US" altLang="zh-CN" dirty="0"/>
              <a:t>(</a:t>
            </a:r>
            <a:r>
              <a:rPr lang="zh-CN" altLang="en-US" dirty="0"/>
              <a:t>成人病程缩短</a:t>
            </a:r>
            <a:r>
              <a:rPr lang="en-US" altLang="zh-CN" dirty="0"/>
              <a:t>8%,</a:t>
            </a:r>
            <a:r>
              <a:rPr lang="zh-CN" altLang="en-US" dirty="0"/>
              <a:t>儿童缩短</a:t>
            </a:r>
            <a:r>
              <a:rPr lang="en-US" altLang="zh-CN" dirty="0"/>
              <a:t>13%),</a:t>
            </a:r>
            <a:r>
              <a:rPr lang="zh-CN" altLang="en-US" dirty="0"/>
              <a:t>症状也有所减轻</a:t>
            </a:r>
            <a:r>
              <a:rPr lang="en-US" altLang="zh-CN" dirty="0"/>
              <a:t>,</a:t>
            </a:r>
            <a:r>
              <a:rPr lang="zh-CN" altLang="en-US" dirty="0"/>
              <a:t>可能是因为维生素有抗组胺的作用。但是等感冒发作再服用维生素</a:t>
            </a:r>
            <a:r>
              <a:rPr lang="en-US" dirty="0"/>
              <a:t>C</a:t>
            </a:r>
            <a:r>
              <a:rPr lang="zh-CN" altLang="en-US" dirty="0"/>
              <a:t>就没有任何作用了。至于服用维生素</a:t>
            </a:r>
            <a:r>
              <a:rPr lang="en-US" dirty="0"/>
              <a:t>C</a:t>
            </a:r>
            <a:r>
              <a:rPr lang="zh-CN" altLang="en-US" dirty="0"/>
              <a:t>能否预防、治疗癌症</a:t>
            </a:r>
            <a:r>
              <a:rPr lang="en-US" altLang="zh-CN" dirty="0"/>
              <a:t>,</a:t>
            </a:r>
            <a:r>
              <a:rPr lang="zh-CN" altLang="en-US" dirty="0"/>
              <a:t>临床试验的结果都是否定的。</a:t>
            </a:r>
            <a:endParaRPr lang="en-US" altLang="zh-CN" dirty="0"/>
          </a:p>
          <a:p>
            <a:pPr>
              <a:defRPr/>
            </a:pPr>
            <a:endParaRPr lang="en-US" altLang="zh-CN" dirty="0"/>
          </a:p>
          <a:p>
            <a:pPr>
              <a:defRPr/>
            </a:pPr>
            <a:r>
              <a:rPr lang="zh-CN" altLang="en-US" dirty="0"/>
              <a:t>有人问，如果能通过补充维生素补充剂获得维生素，为何要强调饮食补充？关键在于蔬菜水果不止提供维生素，还有大量别的营养成分，比如纤维素。 </a:t>
            </a:r>
          </a:p>
          <a:p>
            <a:pPr>
              <a:defRPr/>
            </a:pPr>
            <a:endParaRPr lang="zh-CN" altLang="en-US" dirty="0"/>
          </a:p>
          <a:p>
            <a:pPr>
              <a:defRPr/>
            </a:pPr>
            <a:r>
              <a:rPr lang="zh-CN" altLang="en-US" dirty="0"/>
              <a:t>人体对维生素</a:t>
            </a:r>
            <a:r>
              <a:rPr lang="en-US" dirty="0"/>
              <a:t>C</a:t>
            </a:r>
            <a:r>
              <a:rPr lang="zh-CN" altLang="en-US" dirty="0"/>
              <a:t>的吸收有调节能力</a:t>
            </a:r>
            <a:r>
              <a:rPr lang="en-US" altLang="zh-CN" dirty="0"/>
              <a:t>, </a:t>
            </a:r>
            <a:r>
              <a:rPr lang="zh-CN" altLang="en-US" b="1" dirty="0"/>
              <a:t>每天服用</a:t>
            </a:r>
            <a:r>
              <a:rPr lang="en-US" altLang="zh-CN" b="1" dirty="0"/>
              <a:t>100</a:t>
            </a:r>
            <a:r>
              <a:rPr lang="zh-CN" altLang="en-US" b="1" dirty="0"/>
              <a:t>毫克以上在体内细胞中的浓度就基本达到饱和了</a:t>
            </a:r>
            <a:r>
              <a:rPr lang="en-US" altLang="zh-CN" b="1" dirty="0"/>
              <a:t>,  </a:t>
            </a:r>
            <a:r>
              <a:rPr lang="zh-CN" altLang="en-US" b="1" dirty="0"/>
              <a:t>每天服用</a:t>
            </a:r>
            <a:r>
              <a:rPr lang="en-US" altLang="zh-CN" b="1" dirty="0"/>
              <a:t>200</a:t>
            </a:r>
            <a:r>
              <a:rPr lang="zh-CN" altLang="en-US" b="1" dirty="0"/>
              <a:t>毫克以上几乎不会再增加体内维生素</a:t>
            </a:r>
            <a:r>
              <a:rPr lang="en-US" b="1" dirty="0"/>
              <a:t>C</a:t>
            </a:r>
            <a:r>
              <a:rPr lang="zh-CN" altLang="en-US" b="1" dirty="0"/>
              <a:t>含量。</a:t>
            </a:r>
            <a:endParaRPr lang="en-US" altLang="zh-CN" b="1" dirty="0"/>
          </a:p>
          <a:p>
            <a:pPr>
              <a:defRPr/>
            </a:pPr>
            <a:r>
              <a:rPr lang="zh-CN" altLang="en-US" b="1" dirty="0"/>
              <a:t>通常情况下</a:t>
            </a:r>
            <a:r>
              <a:rPr lang="en-US" altLang="zh-CN" b="1" dirty="0"/>
              <a:t>,</a:t>
            </a:r>
            <a:r>
              <a:rPr lang="zh-CN" altLang="en-US" b="1" dirty="0"/>
              <a:t>维生素</a:t>
            </a:r>
            <a:r>
              <a:rPr lang="en-US" b="1" dirty="0"/>
              <a:t>C</a:t>
            </a:r>
            <a:r>
              <a:rPr lang="zh-CN" altLang="en-US" b="1" dirty="0"/>
              <a:t>吃多了也不会有害处</a:t>
            </a:r>
            <a:r>
              <a:rPr lang="en-US" altLang="zh-CN" b="1" dirty="0"/>
              <a:t>,</a:t>
            </a:r>
            <a:r>
              <a:rPr lang="zh-CN" altLang="en-US" b="1" dirty="0"/>
              <a:t>多余的维生素</a:t>
            </a:r>
            <a:r>
              <a:rPr lang="en-US" b="1" dirty="0"/>
              <a:t>C</a:t>
            </a:r>
            <a:r>
              <a:rPr lang="zh-CN" altLang="en-US" b="1" dirty="0"/>
              <a:t>随尿液排出。  </a:t>
            </a:r>
            <a:r>
              <a:rPr lang="zh-CN" altLang="en-US" dirty="0"/>
              <a:t>但是提倡把维生素</a:t>
            </a:r>
            <a:r>
              <a:rPr lang="en-US" dirty="0"/>
              <a:t>C</a:t>
            </a:r>
            <a:r>
              <a:rPr lang="zh-CN" altLang="en-US" dirty="0"/>
              <a:t>当保健品吃的人</a:t>
            </a:r>
            <a:r>
              <a:rPr lang="en-US" altLang="zh-CN" dirty="0"/>
              <a:t>,</a:t>
            </a:r>
            <a:r>
              <a:rPr lang="zh-CN" altLang="en-US" dirty="0"/>
              <a:t>往往是要求超大剂量地吃</a:t>
            </a:r>
            <a:r>
              <a:rPr lang="en-US" altLang="zh-CN" dirty="0"/>
              <a:t>,</a:t>
            </a:r>
            <a:r>
              <a:rPr lang="zh-CN" altLang="en-US" dirty="0"/>
              <a:t>甚至一天吃几克。每天口服维生素</a:t>
            </a:r>
            <a:r>
              <a:rPr lang="en-US" dirty="0"/>
              <a:t>C</a:t>
            </a:r>
            <a:r>
              <a:rPr lang="zh-CN" altLang="en-US" dirty="0"/>
              <a:t>达</a:t>
            </a:r>
            <a:r>
              <a:rPr lang="en-US" altLang="zh-CN" dirty="0"/>
              <a:t>2</a:t>
            </a:r>
            <a:r>
              <a:rPr lang="zh-CN" altLang="en-US" dirty="0"/>
              <a:t>克以上</a:t>
            </a:r>
            <a:r>
              <a:rPr lang="en-US" altLang="zh-CN" dirty="0"/>
              <a:t>,</a:t>
            </a:r>
            <a:r>
              <a:rPr lang="zh-CN" altLang="en-US" dirty="0"/>
              <a:t>就有可能出现不良反应</a:t>
            </a:r>
            <a:r>
              <a:rPr lang="en-US" altLang="zh-CN" dirty="0"/>
              <a:t>, </a:t>
            </a:r>
            <a:r>
              <a:rPr lang="zh-CN" altLang="en-US" dirty="0"/>
              <a:t>因为大量的维生素</a:t>
            </a:r>
            <a:r>
              <a:rPr lang="en-US" dirty="0"/>
              <a:t>C</a:t>
            </a:r>
            <a:r>
              <a:rPr lang="zh-CN" altLang="en-US" dirty="0"/>
              <a:t>没法被吸收</a:t>
            </a:r>
            <a:r>
              <a:rPr lang="en-US" altLang="zh-CN" dirty="0"/>
              <a:t>,</a:t>
            </a:r>
            <a:r>
              <a:rPr lang="zh-CN" altLang="en-US" dirty="0"/>
              <a:t>会导致腹泻。而且</a:t>
            </a:r>
            <a:r>
              <a:rPr lang="en-US" altLang="zh-CN" dirty="0"/>
              <a:t>,</a:t>
            </a:r>
            <a:r>
              <a:rPr lang="zh-CN" altLang="en-US" dirty="0"/>
              <a:t>由于</a:t>
            </a:r>
            <a:r>
              <a:rPr lang="zh-CN" altLang="en-US" b="1" dirty="0"/>
              <a:t>维生素</a:t>
            </a:r>
            <a:r>
              <a:rPr lang="en-US" b="1" dirty="0"/>
              <a:t>C</a:t>
            </a:r>
            <a:r>
              <a:rPr lang="zh-CN" altLang="en-US" b="1" dirty="0"/>
              <a:t>能够增加尿液中草酸和尿酸的分泌</a:t>
            </a:r>
            <a:r>
              <a:rPr lang="en-US" altLang="zh-CN" b="1" dirty="0"/>
              <a:t>,</a:t>
            </a:r>
            <a:r>
              <a:rPr lang="zh-CN" altLang="en-US" b="1" dirty="0"/>
              <a:t>大剂量服用维生素</a:t>
            </a:r>
            <a:r>
              <a:rPr lang="en-US" b="1" dirty="0"/>
              <a:t>C</a:t>
            </a:r>
            <a:r>
              <a:rPr lang="zh-CN" altLang="en-US" b="1" dirty="0"/>
              <a:t>增加了患肾结石的风险</a:t>
            </a:r>
            <a:r>
              <a:rPr lang="zh-CN" altLang="en-US" dirty="0"/>
              <a:t>。</a:t>
            </a:r>
          </a:p>
          <a:p>
            <a:pPr>
              <a:defRPr/>
            </a:pPr>
            <a:endParaRPr lang="zh-CN" altLang="en-US" dirty="0"/>
          </a:p>
          <a:p>
            <a:pPr>
              <a:defRPr/>
            </a:pPr>
            <a:r>
              <a:rPr lang="zh-CN" altLang="en-US" dirty="0"/>
              <a:t>大剂量维生素</a:t>
            </a:r>
            <a:r>
              <a:rPr lang="en-US" altLang="zh-CN" dirty="0"/>
              <a:t>C</a:t>
            </a:r>
            <a:r>
              <a:rPr lang="zh-CN" altLang="en-US" dirty="0"/>
              <a:t>（正常每日推荐量的十倍以上）有利于应对应激状态，比如感染、烧伤、高温、重金属中毒等。但未患病时不建议多吃。</a:t>
            </a:r>
          </a:p>
          <a:p>
            <a:pPr>
              <a:defRPr/>
            </a:pPr>
            <a:endParaRPr lang="zh-CN" altLang="en-US" dirty="0"/>
          </a:p>
        </p:txBody>
      </p:sp>
      <p:sp>
        <p:nvSpPr>
          <p:cNvPr id="171012" name="灯片编号占位符 3">
            <a:extLst>
              <a:ext uri="{FF2B5EF4-FFF2-40B4-BE49-F238E27FC236}">
                <a16:creationId xmlns:a16="http://schemas.microsoft.com/office/drawing/2014/main" id="{6512E79E-F0FA-41AB-BB0A-A1D1CC9F008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EED4FD94-6E11-4033-99DF-AACC429D9D6F}" type="slidenum">
              <a:rPr lang="zh-CN" altLang="en-US" smtClean="0">
                <a:solidFill>
                  <a:schemeClr val="bg1"/>
                </a:solidFill>
                <a:latin typeface="Times New Roman" panose="02020603050405020304" pitchFamily="18" charset="0"/>
                <a:ea typeface="楷体_GB2312" pitchFamily="49" charset="-122"/>
              </a:rPr>
              <a:pPr>
                <a:spcBef>
                  <a:spcPct val="0"/>
                </a:spcBef>
              </a:pPr>
              <a:t>69</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幻灯片图像占位符 1">
            <a:extLst>
              <a:ext uri="{FF2B5EF4-FFF2-40B4-BE49-F238E27FC236}">
                <a16:creationId xmlns:a16="http://schemas.microsoft.com/office/drawing/2014/main" id="{321A7ECB-CA1A-410F-9643-4E044C6C0555}"/>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7" name="备注占位符 2">
            <a:extLst>
              <a:ext uri="{FF2B5EF4-FFF2-40B4-BE49-F238E27FC236}">
                <a16:creationId xmlns:a16="http://schemas.microsoft.com/office/drawing/2014/main" id="{E3E8BF6A-4D83-4C5E-A6A7-DC5753D439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上图源自： </a:t>
            </a:r>
            <a:r>
              <a:rPr lang="en-US" altLang="zh-CN" dirty="0"/>
              <a:t>2 </a:t>
            </a:r>
            <a:r>
              <a:rPr lang="zh-CN" altLang="en-US" dirty="0"/>
              <a:t>元的维生素 </a:t>
            </a:r>
            <a:r>
              <a:rPr lang="en-US" altLang="zh-CN" dirty="0"/>
              <a:t>C </a:t>
            </a:r>
            <a:r>
              <a:rPr lang="zh-CN" altLang="en-US" dirty="0"/>
              <a:t>和 </a:t>
            </a:r>
            <a:r>
              <a:rPr lang="en-US" altLang="zh-CN" dirty="0"/>
              <a:t>100 </a:t>
            </a:r>
            <a:r>
              <a:rPr lang="zh-CN" altLang="en-US" dirty="0"/>
              <a:t>元的维生素 </a:t>
            </a:r>
            <a:r>
              <a:rPr lang="en-US" altLang="zh-CN" dirty="0"/>
              <a:t>C </a:t>
            </a:r>
            <a:r>
              <a:rPr lang="zh-CN" altLang="en-US" dirty="0"/>
              <a:t>区别大吗？：  </a:t>
            </a:r>
            <a:r>
              <a:rPr lang="en-US" altLang="zh-CN" dirty="0"/>
              <a:t>https://www.zhihu.com/question/28261881/answer/512675136</a:t>
            </a:r>
            <a:endParaRPr lang="zh-CN" altLang="en-US" dirty="0"/>
          </a:p>
        </p:txBody>
      </p:sp>
      <p:sp>
        <p:nvSpPr>
          <p:cNvPr id="175108" name="灯片编号占位符 3">
            <a:extLst>
              <a:ext uri="{FF2B5EF4-FFF2-40B4-BE49-F238E27FC236}">
                <a16:creationId xmlns:a16="http://schemas.microsoft.com/office/drawing/2014/main" id="{CA77ED48-A6A1-4E44-8BF6-1FFAF1D56EB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bg1"/>
                </a:solidFill>
                <a:latin typeface="Times New Roman" panose="02020603050405020304" pitchFamily="18" charset="0"/>
                <a:ea typeface="楷体_GB2312" pitchFamily="49" charset="-122"/>
              </a:defRPr>
            </a:lvl1pPr>
            <a:lvl2pPr marL="742950" indent="-285750">
              <a:defRPr kumimoji="1" sz="3200" b="1">
                <a:solidFill>
                  <a:schemeClr val="bg1"/>
                </a:solidFill>
                <a:latin typeface="Times New Roman" panose="02020603050405020304" pitchFamily="18" charset="0"/>
                <a:ea typeface="楷体_GB2312" pitchFamily="49" charset="-122"/>
              </a:defRPr>
            </a:lvl2pPr>
            <a:lvl3pPr marL="1143000" indent="-228600">
              <a:defRPr kumimoji="1" sz="3200" b="1">
                <a:solidFill>
                  <a:schemeClr val="bg1"/>
                </a:solidFill>
                <a:latin typeface="Times New Roman" panose="02020603050405020304" pitchFamily="18" charset="0"/>
                <a:ea typeface="楷体_GB2312" pitchFamily="49" charset="-122"/>
              </a:defRPr>
            </a:lvl3pPr>
            <a:lvl4pPr marL="1600200" indent="-228600">
              <a:defRPr kumimoji="1" sz="3200" b="1">
                <a:solidFill>
                  <a:schemeClr val="bg1"/>
                </a:solidFill>
                <a:latin typeface="Times New Roman" panose="02020603050405020304" pitchFamily="18" charset="0"/>
                <a:ea typeface="楷体_GB2312" pitchFamily="49" charset="-122"/>
              </a:defRPr>
            </a:lvl4pPr>
            <a:lvl5pPr marL="2057400" indent="-228600">
              <a:defRPr kumimoji="1" sz="3200" b="1">
                <a:solidFill>
                  <a:schemeClr val="bg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9pPr>
          </a:lstStyle>
          <a:p>
            <a:fld id="{FEFAC1E9-98B0-47DA-AC09-8544E9B997E1}" type="slidenum">
              <a:rPr lang="zh-CN" altLang="en-US" sz="1200" smtClean="0"/>
              <a:pPr/>
              <a:t>70</a:t>
            </a:fld>
            <a:endParaRPr lang="zh-CN" altLang="en-US" sz="120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幻灯片图像占位符 1">
            <a:extLst>
              <a:ext uri="{FF2B5EF4-FFF2-40B4-BE49-F238E27FC236}">
                <a16:creationId xmlns:a16="http://schemas.microsoft.com/office/drawing/2014/main" id="{D82C90B9-CE27-4A25-A3AF-AB1E0CA96800}"/>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7155" name="备注占位符 2">
            <a:extLst>
              <a:ext uri="{FF2B5EF4-FFF2-40B4-BE49-F238E27FC236}">
                <a16:creationId xmlns:a16="http://schemas.microsoft.com/office/drawing/2014/main" id="{4B9D9D81-2A8F-4129-89CA-EC7519C89E3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肠道细菌可以产生多种维生素，尤其是维生素 </a:t>
            </a:r>
            <a:r>
              <a:rPr lang="en-US" altLang="zh-CN" dirty="0"/>
              <a:t>K</a:t>
            </a:r>
            <a:r>
              <a:rPr lang="zh-CN" altLang="en-US" dirty="0"/>
              <a:t>产生量很大，有些研究估计它可以满足人体每日维生素 </a:t>
            </a:r>
            <a:r>
              <a:rPr lang="en-US" altLang="zh-CN" dirty="0"/>
              <a:t>K </a:t>
            </a:r>
            <a:r>
              <a:rPr lang="zh-CN" altLang="en-US" dirty="0"/>
              <a:t>需求的一半。</a:t>
            </a:r>
          </a:p>
          <a:p>
            <a:endParaRPr lang="zh-CN" altLang="en-US" dirty="0"/>
          </a:p>
          <a:p>
            <a:r>
              <a:rPr lang="zh-CN" altLang="en-US" dirty="0"/>
              <a:t>除了维生素 </a:t>
            </a:r>
            <a:r>
              <a:rPr lang="en-US" altLang="zh-CN" dirty="0"/>
              <a:t>K</a:t>
            </a:r>
            <a:r>
              <a:rPr lang="zh-CN" altLang="en-US" dirty="0"/>
              <a:t>，肠道微生物群还产生多种 </a:t>
            </a:r>
            <a:r>
              <a:rPr lang="en-US" altLang="zh-CN" dirty="0"/>
              <a:t>B </a:t>
            </a:r>
            <a:r>
              <a:rPr lang="zh-CN" altLang="en-US" dirty="0"/>
              <a:t>族维生素。已知拟杆菌和双歧杆菌等细菌可以合成其中几种，包括生物素 （</a:t>
            </a:r>
            <a:r>
              <a:rPr lang="en-US" altLang="zh-CN" dirty="0"/>
              <a:t>B7</a:t>
            </a:r>
            <a:r>
              <a:rPr lang="zh-CN" altLang="en-US" dirty="0"/>
              <a:t>）、叶酸 （</a:t>
            </a:r>
            <a:r>
              <a:rPr lang="en-US" altLang="zh-CN" dirty="0"/>
              <a:t>B9</a:t>
            </a:r>
            <a:r>
              <a:rPr lang="zh-CN" altLang="en-US" dirty="0"/>
              <a:t>）、核黄素 （</a:t>
            </a:r>
            <a:r>
              <a:rPr lang="en-US" altLang="zh-CN" dirty="0"/>
              <a:t>B2</a:t>
            </a:r>
            <a:r>
              <a:rPr lang="zh-CN" altLang="en-US" dirty="0"/>
              <a:t>） 和硫胺素 （</a:t>
            </a:r>
            <a:r>
              <a:rPr lang="en-US" altLang="zh-CN" dirty="0"/>
              <a:t>B1</a:t>
            </a:r>
            <a:r>
              <a:rPr lang="zh-CN" altLang="en-US" dirty="0"/>
              <a:t>）</a:t>
            </a:r>
            <a:endParaRPr lang="en-US" altLang="zh-CN" dirty="0"/>
          </a:p>
          <a:p>
            <a:r>
              <a:rPr lang="zh-CN" altLang="en-US" b="1" dirty="0"/>
              <a:t>维生素 </a:t>
            </a:r>
            <a:r>
              <a:rPr lang="en-US" altLang="zh-CN" b="1" dirty="0"/>
              <a:t>B12 </a:t>
            </a:r>
            <a:r>
              <a:rPr lang="zh-CN" altLang="en-US" b="1" dirty="0"/>
              <a:t>在结肠中产生，而人体的吸收受体位于小肠上段。</a:t>
            </a:r>
            <a:r>
              <a:rPr lang="zh-CN" altLang="en-US" dirty="0"/>
              <a:t>这种空间不匹配意味着大多数细菌产生的 </a:t>
            </a:r>
            <a:r>
              <a:rPr lang="en-US" altLang="zh-CN" dirty="0"/>
              <a:t>B12 </a:t>
            </a:r>
            <a:r>
              <a:rPr lang="zh-CN" altLang="en-US" dirty="0"/>
              <a:t>被排出体外，使得</a:t>
            </a:r>
            <a:r>
              <a:rPr lang="zh-CN" altLang="en-US" b="1" dirty="0"/>
              <a:t>动物产品的膳食来源成为获取这种营养素的主要手段。</a:t>
            </a:r>
            <a:endParaRPr lang="en-US" altLang="zh-CN" b="1"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latin typeface="微软雅黑" panose="020B0503020204020204" pitchFamily="34" charset="-122"/>
                <a:ea typeface="微软雅黑" panose="020B0503020204020204" pitchFamily="34" charset="-122"/>
              </a:rPr>
              <a:t>肝脏所含</a:t>
            </a:r>
            <a:r>
              <a:rPr lang="en-US" altLang="zh-CN" sz="1200" dirty="0">
                <a:latin typeface="微软雅黑" panose="020B0503020204020204" pitchFamily="34" charset="-122"/>
                <a:ea typeface="微软雅黑" panose="020B0503020204020204" pitchFamily="34" charset="-122"/>
              </a:rPr>
              <a:t>B1</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B2</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B5</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B6</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B9</a:t>
            </a:r>
            <a:r>
              <a:rPr lang="zh-CN" altLang="en-US" sz="1200" dirty="0">
                <a:latin typeface="微软雅黑" panose="020B0503020204020204" pitchFamily="34" charset="-122"/>
                <a:ea typeface="微软雅黑" panose="020B0503020204020204" pitchFamily="34" charset="-122"/>
              </a:rPr>
              <a:t>含量也较高。</a:t>
            </a:r>
            <a:r>
              <a:rPr lang="zh-CN" altLang="en-US" dirty="0"/>
              <a:t>肝脏</a:t>
            </a:r>
            <a:r>
              <a:rPr lang="zh-CN" altLang="en-US" sz="1200" dirty="0">
                <a:latin typeface="微软雅黑" panose="020B0503020204020204" pitchFamily="34" charset="-122"/>
                <a:ea typeface="微软雅黑" panose="020B0503020204020204" pitchFamily="34" charset="-122"/>
              </a:rPr>
              <a:t>也含</a:t>
            </a:r>
            <a:r>
              <a:rPr lang="en-US" altLang="zh-CN" sz="1200" dirty="0">
                <a:latin typeface="微软雅黑" panose="020B0503020204020204" pitchFamily="34" charset="-122"/>
                <a:ea typeface="微软雅黑" panose="020B0503020204020204" pitchFamily="34" charset="-122"/>
              </a:rPr>
              <a:t>D</a:t>
            </a:r>
            <a:r>
              <a:rPr lang="zh-CN" altLang="en-US" sz="1200" baseline="-25000" dirty="0">
                <a:latin typeface="微软雅黑" panose="020B0503020204020204" pitchFamily="34" charset="-122"/>
                <a:ea typeface="微软雅黑" panose="020B0503020204020204" pitchFamily="34" charset="-122"/>
              </a:rPr>
              <a:t> 、 </a:t>
            </a:r>
            <a:r>
              <a:rPr lang="en-US" altLang="zh-CN" sz="1200" dirty="0">
                <a:latin typeface="微软雅黑" panose="020B0503020204020204" pitchFamily="34" charset="-122"/>
                <a:ea typeface="微软雅黑" panose="020B0503020204020204" pitchFamily="34" charset="-122"/>
              </a:rPr>
              <a:t>E</a:t>
            </a:r>
            <a:r>
              <a:rPr lang="zh-CN" altLang="en-US" sz="1200" baseline="-25000" dirty="0">
                <a:latin typeface="微软雅黑" panose="020B0503020204020204" pitchFamily="34" charset="-122"/>
                <a:ea typeface="微软雅黑" panose="020B0503020204020204" pitchFamily="34" charset="-122"/>
              </a:rPr>
              <a:t> 、 </a:t>
            </a:r>
            <a:r>
              <a:rPr lang="en-US" altLang="zh-CN" sz="1200" dirty="0">
                <a:latin typeface="微软雅黑" panose="020B0503020204020204" pitchFamily="34" charset="-122"/>
                <a:ea typeface="微软雅黑" panose="020B0503020204020204" pitchFamily="34" charset="-122"/>
              </a:rPr>
              <a:t>K</a:t>
            </a:r>
            <a:r>
              <a:rPr lang="zh-CN" altLang="en-US" sz="1200" dirty="0">
                <a:latin typeface="微软雅黑" panose="020B0503020204020204" pitchFamily="34" charset="-122"/>
                <a:ea typeface="微软雅黑" panose="020B0503020204020204" pitchFamily="34" charset="-122"/>
              </a:rPr>
              <a:t>，都不算多。</a:t>
            </a:r>
            <a:endParaRPr lang="en-US" altLang="zh-CN" sz="1200" dirty="0">
              <a:latin typeface="微软雅黑" panose="020B0503020204020204" pitchFamily="34" charset="-122"/>
              <a:ea typeface="微软雅黑" panose="020B0503020204020204" pitchFamily="34" charset="-122"/>
            </a:endParaRPr>
          </a:p>
          <a:p>
            <a:endParaRPr lang="en-US" altLang="zh-CN" dirty="0"/>
          </a:p>
        </p:txBody>
      </p:sp>
      <p:sp>
        <p:nvSpPr>
          <p:cNvPr id="177156" name="灯片编号占位符 3">
            <a:extLst>
              <a:ext uri="{FF2B5EF4-FFF2-40B4-BE49-F238E27FC236}">
                <a16:creationId xmlns:a16="http://schemas.microsoft.com/office/drawing/2014/main" id="{657146E3-8A6A-48F2-97D8-70139399D24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A2F36B1D-DA0F-4278-B99F-9FD1785F0972}" type="slidenum">
              <a:rPr lang="zh-CN" altLang="en-US" smtClean="0">
                <a:solidFill>
                  <a:schemeClr val="bg1"/>
                </a:solidFill>
                <a:latin typeface="Times New Roman" panose="02020603050405020304" pitchFamily="18" charset="0"/>
                <a:ea typeface="楷体_GB2312" pitchFamily="49" charset="-122"/>
              </a:rPr>
              <a:pPr>
                <a:spcBef>
                  <a:spcPct val="0"/>
                </a:spcBef>
              </a:pPr>
              <a:t>71</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幻灯片图像占位符 1">
            <a:extLst>
              <a:ext uri="{FF2B5EF4-FFF2-40B4-BE49-F238E27FC236}">
                <a16:creationId xmlns:a16="http://schemas.microsoft.com/office/drawing/2014/main" id="{6243E188-1EC2-4BBE-AE69-2E54D80C4661}"/>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7395" name="备注占位符 2">
            <a:extLst>
              <a:ext uri="{FF2B5EF4-FFF2-40B4-BE49-F238E27FC236}">
                <a16:creationId xmlns:a16="http://schemas.microsoft.com/office/drawing/2014/main" id="{0A85C39D-70B0-4BF6-827F-D8704A2859A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b="1" dirty="0"/>
              <a:t>Hypervitaminosis</a:t>
            </a:r>
            <a:r>
              <a:rPr lang="en-US" altLang="zh-CN" dirty="0"/>
              <a:t> refers to a condition of abnormally high storage levels of vitamins, which can lead to toxic symptoms</a:t>
            </a:r>
            <a:r>
              <a:rPr lang="zh-CN" altLang="en-US" dirty="0"/>
              <a:t>。　</a:t>
            </a:r>
          </a:p>
          <a:p>
            <a:endParaRPr lang="en-US" altLang="zh-CN" dirty="0"/>
          </a:p>
          <a:p>
            <a:endParaRPr lang="en-US" altLang="zh-CN" dirty="0"/>
          </a:p>
          <a:p>
            <a:endParaRPr lang="en-US" altLang="zh-CN" dirty="0"/>
          </a:p>
        </p:txBody>
      </p:sp>
      <p:sp>
        <p:nvSpPr>
          <p:cNvPr id="187396" name="灯片编号占位符 3">
            <a:extLst>
              <a:ext uri="{FF2B5EF4-FFF2-40B4-BE49-F238E27FC236}">
                <a16:creationId xmlns:a16="http://schemas.microsoft.com/office/drawing/2014/main" id="{A133D90C-6DAC-419B-A69A-77C10EFD22A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1CAB76E3-6DCD-4275-9994-EFDB5250408A}" type="slidenum">
              <a:rPr lang="zh-CN" altLang="en-US" smtClean="0">
                <a:solidFill>
                  <a:schemeClr val="bg1"/>
                </a:solidFill>
                <a:latin typeface="Times New Roman" panose="02020603050405020304" pitchFamily="18" charset="0"/>
                <a:ea typeface="楷体_GB2312" pitchFamily="49" charset="-122"/>
              </a:rPr>
              <a:pPr>
                <a:spcBef>
                  <a:spcPct val="0"/>
                </a:spcBef>
              </a:pPr>
              <a:t>73</a:t>
            </a:fld>
            <a:endParaRPr lang="zh-CN" altLang="en-US">
              <a:solidFill>
                <a:schemeClr val="bg1"/>
              </a:solidFill>
              <a:latin typeface="Times New Roman" panose="02020603050405020304" pitchFamily="18" charset="0"/>
              <a:ea typeface="楷体_GB2312" pitchFamily="49" charset="-122"/>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天然食物是</a:t>
            </a:r>
            <a:r>
              <a:rPr lang="en-US" altLang="zh-CN" dirty="0"/>
              <a:t>B</a:t>
            </a:r>
            <a:r>
              <a:rPr lang="zh-CN" altLang="en-US" dirty="0"/>
              <a:t>族维生素的最自然来源。 </a:t>
            </a:r>
            <a:endParaRPr lang="en-US" altLang="zh-CN" dirty="0"/>
          </a:p>
          <a:p>
            <a:r>
              <a:rPr lang="zh-CN" altLang="en-US" dirty="0"/>
              <a:t>大量食用精白米、精白面粉、糊精、纯淀粉、白糖、精炼油脂等制成食品，是膳食中缺乏</a:t>
            </a:r>
            <a:r>
              <a:rPr lang="en-US" altLang="zh-CN" dirty="0"/>
              <a:t>B</a:t>
            </a:r>
            <a:r>
              <a:rPr lang="zh-CN" altLang="en-US" dirty="0"/>
              <a:t>族维生素的重要原因。 </a:t>
            </a:r>
          </a:p>
          <a:p>
            <a:endParaRPr lang="zh-CN" altLang="en-US" dirty="0"/>
          </a:p>
        </p:txBody>
      </p:sp>
      <p:sp>
        <p:nvSpPr>
          <p:cNvPr id="4" name="灯片编号占位符 3"/>
          <p:cNvSpPr>
            <a:spLocks noGrp="1"/>
          </p:cNvSpPr>
          <p:nvPr>
            <p:ph type="sldNum" sz="quarter" idx="5"/>
          </p:nvPr>
        </p:nvSpPr>
        <p:spPr/>
        <p:txBody>
          <a:bodyPr/>
          <a:lstStyle/>
          <a:p>
            <a:pPr>
              <a:defRPr/>
            </a:pPr>
            <a:fld id="{2D76A890-7C90-4642-A290-690AA85DBCEA}" type="slidenum">
              <a:rPr lang="zh-CN" altLang="en-US" smtClean="0"/>
              <a:pPr>
                <a:defRPr/>
              </a:pPr>
              <a:t>74</a:t>
            </a:fld>
            <a:endParaRPr lang="zh-CN" altLang="en-US"/>
          </a:p>
        </p:txBody>
      </p:sp>
    </p:spTree>
    <p:extLst>
      <p:ext uri="{BB962C8B-B14F-4D97-AF65-F5344CB8AC3E}">
        <p14:creationId xmlns:p14="http://schemas.microsoft.com/office/powerpoint/2010/main" val="346496438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zh-CN" altLang="en-US" dirty="0"/>
              <a:t>检查自己和家人的日常饮食习惯，按照本章所学到的维生素的食物来源、缺乏表现及需求量的影响因素，分析自己和家人可能缺乏哪些维生素？ 应如何改进？   </a:t>
            </a:r>
          </a:p>
          <a:p>
            <a:pPr marL="171450" indent="-171450">
              <a:buFont typeface="Arial" panose="020B0604020202020204" pitchFamily="34" charset="0"/>
              <a:buChar char="•"/>
            </a:pPr>
            <a:r>
              <a:rPr lang="zh-CN" altLang="en-US" dirty="0"/>
              <a:t>找个比较大的药店，看看其中维生素增补剂有哪些品种，选几个品牌，看看其含量单位是什么？剂量是什么？ 销售人员如何宣传功效的？</a:t>
            </a:r>
          </a:p>
          <a:p>
            <a:pPr marL="171450" indent="-171450">
              <a:buFont typeface="Arial" panose="020B0604020202020204" pitchFamily="34" charset="0"/>
              <a:buChar char="•"/>
            </a:pPr>
            <a:r>
              <a:rPr lang="zh-CN" altLang="en-US" dirty="0"/>
              <a:t>去食品超市，看看哪些食品类别添加了维生素？ 添加量是多少？ 相应添加有多大意义？是否改变了这种产品的健康意义？</a:t>
            </a:r>
          </a:p>
          <a:p>
            <a:endParaRPr lang="zh-CN" altLang="en-US" dirty="0"/>
          </a:p>
        </p:txBody>
      </p:sp>
      <p:sp>
        <p:nvSpPr>
          <p:cNvPr id="4" name="灯片编号占位符 3"/>
          <p:cNvSpPr>
            <a:spLocks noGrp="1"/>
          </p:cNvSpPr>
          <p:nvPr>
            <p:ph type="sldNum" sz="quarter" idx="5"/>
          </p:nvPr>
        </p:nvSpPr>
        <p:spPr/>
        <p:txBody>
          <a:bodyPr/>
          <a:lstStyle/>
          <a:p>
            <a:pPr>
              <a:defRPr/>
            </a:pPr>
            <a:fld id="{2D76A890-7C90-4642-A290-690AA85DBCEA}" type="slidenum">
              <a:rPr lang="zh-CN" altLang="en-US" smtClean="0"/>
              <a:pPr>
                <a:defRPr/>
              </a:pPr>
              <a:t>75</a:t>
            </a:fld>
            <a:endParaRPr lang="zh-CN" altLang="en-US"/>
          </a:p>
        </p:txBody>
      </p:sp>
    </p:spTree>
    <p:extLst>
      <p:ext uri="{BB962C8B-B14F-4D97-AF65-F5344CB8AC3E}">
        <p14:creationId xmlns:p14="http://schemas.microsoft.com/office/powerpoint/2010/main" val="208872180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a:extLst>
              <a:ext uri="{FF2B5EF4-FFF2-40B4-BE49-F238E27FC236}">
                <a16:creationId xmlns:a16="http://schemas.microsoft.com/office/drawing/2014/main" id="{77DF3DA5-0EF6-43EC-8410-284E9106F487}"/>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9443" name="Rectangle 3">
            <a:extLst>
              <a:ext uri="{FF2B5EF4-FFF2-40B4-BE49-F238E27FC236}">
                <a16:creationId xmlns:a16="http://schemas.microsoft.com/office/drawing/2014/main" id="{BB1A28AB-6F8C-4FAA-97EE-C6AD0AB685B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80000"/>
              </a:lnSpc>
              <a:spcBef>
                <a:spcPct val="30000"/>
              </a:spcBef>
              <a:spcAft>
                <a:spcPct val="0"/>
              </a:spcAft>
              <a:buClrTx/>
              <a:buSzTx/>
              <a:buFontTx/>
              <a:buNone/>
              <a:tabLst/>
              <a:defRPr/>
            </a:pPr>
            <a:r>
              <a:rPr lang="zh-CN" altLang="en-US" sz="800" dirty="0"/>
              <a:t>各个地区、各个家庭乃至每个人的饮食习惯都各不相同，</a:t>
            </a:r>
          </a:p>
          <a:p>
            <a:pPr eaLnBrk="1" hangingPunct="1">
              <a:lnSpc>
                <a:spcPct val="80000"/>
              </a:lnSpc>
            </a:pPr>
            <a:endParaRPr lang="en-US" altLang="zh-CN" sz="800" dirty="0"/>
          </a:p>
          <a:p>
            <a:pPr marL="0" marR="0" lvl="0" indent="0" algn="l" defTabSz="914400" rtl="0" eaLnBrk="1" fontAlgn="base" latinLnBrk="0" hangingPunct="1">
              <a:lnSpc>
                <a:spcPct val="80000"/>
              </a:lnSpc>
              <a:spcBef>
                <a:spcPct val="30000"/>
              </a:spcBef>
              <a:spcAft>
                <a:spcPct val="0"/>
              </a:spcAft>
              <a:buClrTx/>
              <a:buSzTx/>
              <a:buFontTx/>
              <a:buNone/>
              <a:tabLst/>
              <a:defRPr/>
            </a:pPr>
            <a:r>
              <a:rPr lang="en-US" altLang="zh-CN" sz="800" dirty="0">
                <a:latin typeface="黑体" panose="02010609060101010101" pitchFamily="49" charset="-122"/>
                <a:ea typeface="黑体" panose="02010609060101010101" pitchFamily="49" charset="-122"/>
              </a:rPr>
              <a:t>2013</a:t>
            </a:r>
            <a:r>
              <a:rPr lang="zh-CN" altLang="en-US" sz="800" dirty="0">
                <a:latin typeface="黑体" panose="02010609060101010101" pitchFamily="49" charset="-122"/>
                <a:ea typeface="黑体" panose="02010609060101010101" pitchFamily="49" charset="-122"/>
              </a:rPr>
              <a:t>年</a:t>
            </a:r>
            <a:r>
              <a:rPr lang="en-US" altLang="zh-CN" sz="800" dirty="0">
                <a:latin typeface="黑体" panose="02010609060101010101" pitchFamily="49" charset="-122"/>
                <a:ea typeface="黑体" panose="02010609060101010101" pitchFamily="49" charset="-122"/>
              </a:rPr>
              <a:t>12</a:t>
            </a:r>
            <a:r>
              <a:rPr lang="zh-CN" altLang="en-US" sz="800" dirty="0">
                <a:latin typeface="黑体" panose="02010609060101010101" pitchFamily="49" charset="-122"/>
                <a:ea typeface="黑体" panose="02010609060101010101" pitchFamily="49" charset="-122"/>
              </a:rPr>
              <a:t>月</a:t>
            </a:r>
            <a:r>
              <a:rPr lang="en-US" altLang="zh-CN" sz="800" dirty="0">
                <a:latin typeface="黑体" panose="02010609060101010101" pitchFamily="49" charset="-122"/>
                <a:ea typeface="黑体" panose="02010609060101010101" pitchFamily="49" charset="-122"/>
              </a:rPr>
              <a:t>17</a:t>
            </a:r>
            <a:r>
              <a:rPr lang="zh-CN" altLang="en-US" sz="800" dirty="0">
                <a:latin typeface="黑体" panose="02010609060101010101" pitchFamily="49" charset="-122"/>
                <a:ea typeface="黑体" panose="02010609060101010101" pitchFamily="49" charset="-122"/>
              </a:rPr>
              <a:t>日，著名的</a:t>
            </a:r>
            <a:r>
              <a:rPr lang="en-US" altLang="zh-CN" sz="800" i="1" dirty="0">
                <a:latin typeface="黑体" panose="02010609060101010101" pitchFamily="49" charset="-122"/>
                <a:ea typeface="黑体" panose="02010609060101010101" pitchFamily="49" charset="-122"/>
              </a:rPr>
              <a:t>Annals </a:t>
            </a:r>
            <a:r>
              <a:rPr lang="zh-CN" altLang="en-US" sz="800" i="1" dirty="0">
                <a:latin typeface="黑体" panose="02010609060101010101" pitchFamily="49" charset="-122"/>
                <a:ea typeface="黑体" panose="02010609060101010101" pitchFamily="49" charset="-122"/>
              </a:rPr>
              <a:t>　</a:t>
            </a:r>
            <a:r>
              <a:rPr lang="en-US" altLang="zh-CN" sz="800" i="1" dirty="0">
                <a:latin typeface="黑体" panose="02010609060101010101" pitchFamily="49" charset="-122"/>
                <a:ea typeface="黑体" panose="02010609060101010101" pitchFamily="49" charset="-122"/>
              </a:rPr>
              <a:t>of </a:t>
            </a:r>
            <a:r>
              <a:rPr lang="zh-CN" altLang="en-US" sz="800" i="1" dirty="0">
                <a:latin typeface="黑体" panose="02010609060101010101" pitchFamily="49" charset="-122"/>
                <a:ea typeface="黑体" panose="02010609060101010101" pitchFamily="49" charset="-122"/>
              </a:rPr>
              <a:t>　</a:t>
            </a:r>
            <a:r>
              <a:rPr lang="en-US" altLang="zh-CN" sz="800" i="1" dirty="0">
                <a:latin typeface="黑体" panose="02010609060101010101" pitchFamily="49" charset="-122"/>
                <a:ea typeface="黑体" panose="02010609060101010101" pitchFamily="49" charset="-122"/>
              </a:rPr>
              <a:t>Internal Medicine </a:t>
            </a:r>
            <a:r>
              <a:rPr lang="zh-CN" altLang="en-US" sz="800" dirty="0">
                <a:latin typeface="黑体" panose="02010609060101010101" pitchFamily="49" charset="-122"/>
                <a:ea typeface="黑体" panose="02010609060101010101" pitchFamily="49" charset="-122"/>
              </a:rPr>
              <a:t>杂志</a:t>
            </a:r>
            <a:r>
              <a:rPr lang="zh-CN" altLang="en-US" sz="800" i="1" dirty="0">
                <a:latin typeface="黑体" panose="02010609060101010101" pitchFamily="49" charset="-122"/>
                <a:ea typeface="黑体" panose="02010609060101010101" pitchFamily="49" charset="-122"/>
              </a:rPr>
              <a:t>（</a:t>
            </a:r>
            <a:r>
              <a:rPr lang="en-US" altLang="zh-CN" sz="800" dirty="0">
                <a:latin typeface="黑体" panose="02010609060101010101" pitchFamily="49" charset="-122"/>
                <a:ea typeface="黑体" panose="02010609060101010101" pitchFamily="49" charset="-122"/>
              </a:rPr>
              <a:t>《</a:t>
            </a:r>
            <a:r>
              <a:rPr lang="zh-CN" altLang="en-US" sz="800" dirty="0">
                <a:latin typeface="黑体" panose="02010609060101010101" pitchFamily="49" charset="-122"/>
                <a:ea typeface="黑体" panose="02010609060101010101" pitchFamily="49" charset="-122"/>
              </a:rPr>
              <a:t>内科医学年鉴</a:t>
            </a:r>
            <a:r>
              <a:rPr lang="en-US" altLang="zh-CN" sz="800" dirty="0">
                <a:latin typeface="黑体" panose="02010609060101010101" pitchFamily="49" charset="-122"/>
                <a:ea typeface="黑体" panose="02010609060101010101" pitchFamily="49" charset="-122"/>
              </a:rPr>
              <a:t>》</a:t>
            </a:r>
            <a:r>
              <a:rPr lang="zh-CN" altLang="en-US" sz="800" dirty="0">
                <a:latin typeface="黑体" panose="02010609060101010101" pitchFamily="49" charset="-122"/>
                <a:ea typeface="黑体" panose="02010609060101010101" pitchFamily="49" charset="-122"/>
              </a:rPr>
              <a:t>）</a:t>
            </a:r>
            <a:r>
              <a:rPr lang="en-US" altLang="zh-CN" sz="800" i="1" dirty="0">
                <a:latin typeface="黑体" panose="02010609060101010101" pitchFamily="49" charset="-122"/>
                <a:ea typeface="黑体" panose="02010609060101010101" pitchFamily="49" charset="-122"/>
              </a:rPr>
              <a:t> </a:t>
            </a:r>
            <a:r>
              <a:rPr lang="zh-CN" altLang="en-US" sz="800" dirty="0">
                <a:latin typeface="黑体" panose="02010609060101010101" pitchFamily="49" charset="-122"/>
                <a:ea typeface="黑体" panose="02010609060101010101" pitchFamily="49" charset="-122"/>
              </a:rPr>
              <a:t>发表文章 </a:t>
            </a:r>
            <a:r>
              <a:rPr lang="en-US" altLang="zh-CN" sz="800" dirty="0">
                <a:latin typeface="黑体" panose="02010609060101010101" pitchFamily="49" charset="-122"/>
                <a:ea typeface="黑体" panose="02010609060101010101" pitchFamily="49" charset="-122"/>
              </a:rPr>
              <a:t>Enough Is Enough: Stop Wasting Money on Vitamin and Mineral Supplements。  </a:t>
            </a:r>
            <a:r>
              <a:rPr lang="zh-CN" altLang="en-US" sz="800" dirty="0">
                <a:solidFill>
                  <a:srgbClr val="0000CC"/>
                </a:solidFill>
                <a:latin typeface="黑体" panose="02010609060101010101" pitchFamily="49" charset="-122"/>
                <a:ea typeface="黑体" panose="02010609060101010101" pitchFamily="49" charset="-122"/>
              </a:rPr>
              <a:t>回顾了目前所有的关于维生素补充剂的大型双盲实验结果，并认为证据已经很充分</a:t>
            </a:r>
            <a:r>
              <a:rPr lang="zh-CN" altLang="en-US" sz="800" dirty="0">
                <a:latin typeface="黑体" panose="02010609060101010101" pitchFamily="49" charset="-122"/>
                <a:ea typeface="黑体" panose="02010609060101010101" pitchFamily="49" charset="-122"/>
              </a:rPr>
              <a:t>。绝大多数营养补充剂不能预防疾病或者延迟死亡，没有值得信服的医学证据支持普通人群服用维生素补充剂或者矿物质补充剂，尤其是复合维生素。普通人群应该避免服用，因为对他们来说服用的效果弊大于利。</a:t>
            </a:r>
            <a:endParaRPr lang="en-US" altLang="zh-CN" sz="800" dirty="0">
              <a:latin typeface="黑体" panose="02010609060101010101" pitchFamily="49" charset="-122"/>
              <a:ea typeface="黑体" panose="02010609060101010101" pitchFamily="49" charset="-122"/>
            </a:endParaRPr>
          </a:p>
          <a:p>
            <a:pPr eaLnBrk="1" hangingPunct="1">
              <a:lnSpc>
                <a:spcPct val="80000"/>
              </a:lnSpc>
            </a:pPr>
            <a:endParaRPr lang="en-US" altLang="zh-CN" sz="800"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b="1" dirty="0"/>
              <a:t>作为</a:t>
            </a:r>
            <a:r>
              <a:rPr lang="en-US" altLang="zh-CN" b="1" dirty="0"/>
              <a:t>OTC</a:t>
            </a:r>
            <a:r>
              <a:rPr lang="zh-CN" altLang="en-US" b="1" dirty="0"/>
              <a:t>的复合维生素比作为膳食补充剂的复合维生素便宜很多</a:t>
            </a:r>
            <a:r>
              <a:rPr lang="zh-CN" altLang="en-US" dirty="0"/>
              <a:t>，  比如江中牌复合维生素与</a:t>
            </a:r>
            <a:r>
              <a:rPr lang="en-US" altLang="zh-CN" dirty="0"/>
              <a:t>21</a:t>
            </a:r>
            <a:r>
              <a:rPr lang="zh-CN" altLang="en-US" dirty="0"/>
              <a:t>金维他复合维生素所含</a:t>
            </a:r>
            <a:r>
              <a:rPr lang="en-US" altLang="zh-CN" sz="1800" dirty="0" err="1">
                <a:solidFill>
                  <a:srgbClr val="595959"/>
                </a:solidFill>
                <a:effectLst/>
                <a:ea typeface="宋体" panose="02010600030101010101" pitchFamily="2" charset="-122"/>
              </a:rPr>
              <a:t>维生素及矿物质一模一样</a:t>
            </a:r>
            <a:r>
              <a:rPr lang="zh-CN" altLang="en-US" dirty="0"/>
              <a:t>，但价格差异较大。  而更多品牌的复合维生素又比</a:t>
            </a:r>
            <a:r>
              <a:rPr lang="en-US" altLang="zh-CN" dirty="0"/>
              <a:t>21</a:t>
            </a:r>
            <a:r>
              <a:rPr lang="zh-CN" altLang="en-US" dirty="0"/>
              <a:t>金维他贵得多（成分不完全相同，各种维生素的含量略有别） 。 </a:t>
            </a:r>
          </a:p>
        </p:txBody>
      </p:sp>
      <p:sp>
        <p:nvSpPr>
          <p:cNvPr id="4" name="灯片编号占位符 3"/>
          <p:cNvSpPr>
            <a:spLocks noGrp="1"/>
          </p:cNvSpPr>
          <p:nvPr>
            <p:ph type="sldNum" sz="quarter" idx="5"/>
          </p:nvPr>
        </p:nvSpPr>
        <p:spPr/>
        <p:txBody>
          <a:bodyPr/>
          <a:lstStyle/>
          <a:p>
            <a:pPr>
              <a:defRPr/>
            </a:pPr>
            <a:fld id="{2D76A890-7C90-4642-A290-690AA85DBCEA}" type="slidenum">
              <a:rPr lang="zh-CN" altLang="en-US" smtClean="0"/>
              <a:pPr>
                <a:defRPr/>
              </a:pPr>
              <a:t>77</a:t>
            </a:fld>
            <a:endParaRPr lang="zh-CN" altLang="en-US"/>
          </a:p>
        </p:txBody>
      </p:sp>
    </p:spTree>
    <p:extLst>
      <p:ext uri="{BB962C8B-B14F-4D97-AF65-F5344CB8AC3E}">
        <p14:creationId xmlns:p14="http://schemas.microsoft.com/office/powerpoint/2010/main" val="320958197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幻灯片图像占位符 1">
            <a:extLst>
              <a:ext uri="{FF2B5EF4-FFF2-40B4-BE49-F238E27FC236}">
                <a16:creationId xmlns:a16="http://schemas.microsoft.com/office/drawing/2014/main" id="{00C4329C-4E46-49F5-A453-3199BB76C9DA}"/>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7635" name="备注占位符 2">
            <a:extLst>
              <a:ext uri="{FF2B5EF4-FFF2-40B4-BE49-F238E27FC236}">
                <a16:creationId xmlns:a16="http://schemas.microsoft.com/office/drawing/2014/main" id="{9C9B94EF-871C-4A04-8D42-B99F0FB6BD7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97636" name="灯片编号占位符 3">
            <a:extLst>
              <a:ext uri="{FF2B5EF4-FFF2-40B4-BE49-F238E27FC236}">
                <a16:creationId xmlns:a16="http://schemas.microsoft.com/office/drawing/2014/main" id="{9670531E-7784-4DBB-B7D8-2D1A73025DD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bg1"/>
                </a:solidFill>
                <a:latin typeface="Times New Roman" panose="02020603050405020304" pitchFamily="18" charset="0"/>
                <a:ea typeface="楷体_GB2312" pitchFamily="49" charset="-122"/>
              </a:defRPr>
            </a:lvl1pPr>
            <a:lvl2pPr marL="742950" indent="-285750">
              <a:defRPr kumimoji="1" sz="3200" b="1">
                <a:solidFill>
                  <a:schemeClr val="bg1"/>
                </a:solidFill>
                <a:latin typeface="Times New Roman" panose="02020603050405020304" pitchFamily="18" charset="0"/>
                <a:ea typeface="楷体_GB2312" pitchFamily="49" charset="-122"/>
              </a:defRPr>
            </a:lvl2pPr>
            <a:lvl3pPr marL="1143000" indent="-228600">
              <a:defRPr kumimoji="1" sz="3200" b="1">
                <a:solidFill>
                  <a:schemeClr val="bg1"/>
                </a:solidFill>
                <a:latin typeface="Times New Roman" panose="02020603050405020304" pitchFamily="18" charset="0"/>
                <a:ea typeface="楷体_GB2312" pitchFamily="49" charset="-122"/>
              </a:defRPr>
            </a:lvl3pPr>
            <a:lvl4pPr marL="1600200" indent="-228600">
              <a:defRPr kumimoji="1" sz="3200" b="1">
                <a:solidFill>
                  <a:schemeClr val="bg1"/>
                </a:solidFill>
                <a:latin typeface="Times New Roman" panose="02020603050405020304" pitchFamily="18" charset="0"/>
                <a:ea typeface="楷体_GB2312" pitchFamily="49" charset="-122"/>
              </a:defRPr>
            </a:lvl4pPr>
            <a:lvl5pPr marL="2057400" indent="-228600">
              <a:defRPr kumimoji="1" sz="3200" b="1">
                <a:solidFill>
                  <a:schemeClr val="bg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9pPr>
          </a:lstStyle>
          <a:p>
            <a:fld id="{B7FF3B75-1D2C-42C1-996D-0E05D73B2A27}" type="slidenum">
              <a:rPr lang="zh-CN" altLang="en-US" sz="1200" smtClean="0"/>
              <a:pPr/>
              <a:t>78</a:t>
            </a:fld>
            <a:endParaRPr lang="zh-CN" altLang="en-US" sz="120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幻灯片图像占位符 1">
            <a:extLst>
              <a:ext uri="{FF2B5EF4-FFF2-40B4-BE49-F238E27FC236}">
                <a16:creationId xmlns:a16="http://schemas.microsoft.com/office/drawing/2014/main" id="{63B80D78-AF93-48D2-9F6B-B35E071056C8}"/>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9683" name="备注占位符 2">
            <a:extLst>
              <a:ext uri="{FF2B5EF4-FFF2-40B4-BE49-F238E27FC236}">
                <a16:creationId xmlns:a16="http://schemas.microsoft.com/office/drawing/2014/main" id="{4B61B121-1790-4C1B-9F4F-F159B28B674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99684" name="灯片编号占位符 3">
            <a:extLst>
              <a:ext uri="{FF2B5EF4-FFF2-40B4-BE49-F238E27FC236}">
                <a16:creationId xmlns:a16="http://schemas.microsoft.com/office/drawing/2014/main" id="{3A6DDEF0-6C55-46EE-86B0-1708ED4CDA7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bg1"/>
                </a:solidFill>
                <a:latin typeface="Times New Roman" panose="02020603050405020304" pitchFamily="18" charset="0"/>
                <a:ea typeface="楷体_GB2312" pitchFamily="49" charset="-122"/>
              </a:defRPr>
            </a:lvl1pPr>
            <a:lvl2pPr marL="742950" indent="-285750">
              <a:defRPr kumimoji="1" sz="3200" b="1">
                <a:solidFill>
                  <a:schemeClr val="bg1"/>
                </a:solidFill>
                <a:latin typeface="Times New Roman" panose="02020603050405020304" pitchFamily="18" charset="0"/>
                <a:ea typeface="楷体_GB2312" pitchFamily="49" charset="-122"/>
              </a:defRPr>
            </a:lvl2pPr>
            <a:lvl3pPr marL="1143000" indent="-228600">
              <a:defRPr kumimoji="1" sz="3200" b="1">
                <a:solidFill>
                  <a:schemeClr val="bg1"/>
                </a:solidFill>
                <a:latin typeface="Times New Roman" panose="02020603050405020304" pitchFamily="18" charset="0"/>
                <a:ea typeface="楷体_GB2312" pitchFamily="49" charset="-122"/>
              </a:defRPr>
            </a:lvl3pPr>
            <a:lvl4pPr marL="1600200" indent="-228600">
              <a:defRPr kumimoji="1" sz="3200" b="1">
                <a:solidFill>
                  <a:schemeClr val="bg1"/>
                </a:solidFill>
                <a:latin typeface="Times New Roman" panose="02020603050405020304" pitchFamily="18" charset="0"/>
                <a:ea typeface="楷体_GB2312" pitchFamily="49" charset="-122"/>
              </a:defRPr>
            </a:lvl4pPr>
            <a:lvl5pPr marL="2057400" indent="-228600">
              <a:defRPr kumimoji="1" sz="3200" b="1">
                <a:solidFill>
                  <a:schemeClr val="bg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3200" b="1">
                <a:solidFill>
                  <a:schemeClr val="bg1"/>
                </a:solidFill>
                <a:latin typeface="Times New Roman" panose="02020603050405020304" pitchFamily="18" charset="0"/>
                <a:ea typeface="楷体_GB2312" pitchFamily="49" charset="-122"/>
              </a:defRPr>
            </a:lvl9pPr>
          </a:lstStyle>
          <a:p>
            <a:fld id="{0962D0C4-5480-4B72-A3F2-DCCEE69DC5BE}" type="slidenum">
              <a:rPr lang="zh-CN" altLang="en-US" sz="1200" smtClean="0"/>
              <a:pPr/>
              <a:t>79</a:t>
            </a:fld>
            <a:endParaRPr lang="zh-CN" altLang="en-US" sz="120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D76A890-7C90-4642-A290-690AA85DBCEA}" type="slidenum">
              <a:rPr lang="zh-CN" altLang="en-US" smtClean="0"/>
              <a:pPr>
                <a:defRPr/>
              </a:pPr>
              <a:t>80</a:t>
            </a:fld>
            <a:endParaRPr lang="zh-CN" altLang="en-US"/>
          </a:p>
        </p:txBody>
      </p:sp>
    </p:spTree>
    <p:extLst>
      <p:ext uri="{BB962C8B-B14F-4D97-AF65-F5344CB8AC3E}">
        <p14:creationId xmlns:p14="http://schemas.microsoft.com/office/powerpoint/2010/main" val="41591761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0018037-3EE5-457F-8F0D-6D81A8152143}"/>
              </a:ext>
            </a:extLst>
          </p:cNvPr>
          <p:cNvSpPr>
            <a:spLocks noGrp="1"/>
          </p:cNvSpPr>
          <p:nvPr>
            <p:ph type="dt" sz="half" idx="10"/>
          </p:nvPr>
        </p:nvSpPr>
        <p:spPr/>
        <p:txBody>
          <a:bodyPr/>
          <a:lstStyle>
            <a:lvl1pPr>
              <a:defRPr/>
            </a:lvl1pPr>
          </a:lstStyle>
          <a:p>
            <a:pPr>
              <a:defRPr/>
            </a:pPr>
            <a:fld id="{4ADFD9FE-CE8C-4BA9-BEE9-DF92510AADF4}" type="datetimeFigureOut">
              <a:rPr lang="zh-CN" altLang="en-US"/>
              <a:pPr>
                <a:defRPr/>
              </a:pPr>
              <a:t>2026/9/22</a:t>
            </a:fld>
            <a:endParaRPr lang="zh-CN" altLang="en-US"/>
          </a:p>
        </p:txBody>
      </p:sp>
      <p:sp>
        <p:nvSpPr>
          <p:cNvPr id="5" name="页脚占位符 4">
            <a:extLst>
              <a:ext uri="{FF2B5EF4-FFF2-40B4-BE49-F238E27FC236}">
                <a16:creationId xmlns:a16="http://schemas.microsoft.com/office/drawing/2014/main" id="{9CA9B1D8-FF37-41F0-BBA6-80EBCD85E3E0}"/>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2937949C-B6A9-4FB9-8060-200907E100EB}"/>
              </a:ext>
            </a:extLst>
          </p:cNvPr>
          <p:cNvSpPr>
            <a:spLocks noGrp="1"/>
          </p:cNvSpPr>
          <p:nvPr>
            <p:ph type="sldNum" sz="quarter" idx="12"/>
          </p:nvPr>
        </p:nvSpPr>
        <p:spPr/>
        <p:txBody>
          <a:bodyPr/>
          <a:lstStyle>
            <a:lvl1pPr>
              <a:defRPr/>
            </a:lvl1pPr>
          </a:lstStyle>
          <a:p>
            <a:pPr>
              <a:defRPr/>
            </a:pPr>
            <a:fld id="{D82EE8C8-C9F3-4684-8CA2-AAAA25C0B05E}" type="slidenum">
              <a:rPr lang="zh-CN" altLang="en-US"/>
              <a:pPr>
                <a:defRPr/>
              </a:pPr>
              <a:t>‹#›</a:t>
            </a:fld>
            <a:endParaRPr lang="zh-CN" altLang="en-US"/>
          </a:p>
        </p:txBody>
      </p:sp>
    </p:spTree>
    <p:extLst>
      <p:ext uri="{BB962C8B-B14F-4D97-AF65-F5344CB8AC3E}">
        <p14:creationId xmlns:p14="http://schemas.microsoft.com/office/powerpoint/2010/main" val="186977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E4EC27F-0F42-4DF4-AD59-ECFBC48403F5}"/>
              </a:ext>
            </a:extLst>
          </p:cNvPr>
          <p:cNvSpPr>
            <a:spLocks noGrp="1"/>
          </p:cNvSpPr>
          <p:nvPr>
            <p:ph type="dt" sz="half" idx="10"/>
          </p:nvPr>
        </p:nvSpPr>
        <p:spPr/>
        <p:txBody>
          <a:bodyPr/>
          <a:lstStyle>
            <a:lvl1pPr>
              <a:defRPr/>
            </a:lvl1pPr>
          </a:lstStyle>
          <a:p>
            <a:pPr>
              <a:defRPr/>
            </a:pPr>
            <a:fld id="{460B1323-1D61-4FD6-8DA0-FBF48089CB1E}" type="datetimeFigureOut">
              <a:rPr lang="zh-CN" altLang="en-US"/>
              <a:pPr>
                <a:defRPr/>
              </a:pPr>
              <a:t>2026/9/22</a:t>
            </a:fld>
            <a:endParaRPr lang="zh-CN" altLang="en-US"/>
          </a:p>
        </p:txBody>
      </p:sp>
      <p:sp>
        <p:nvSpPr>
          <p:cNvPr id="5" name="页脚占位符 4">
            <a:extLst>
              <a:ext uri="{FF2B5EF4-FFF2-40B4-BE49-F238E27FC236}">
                <a16:creationId xmlns:a16="http://schemas.microsoft.com/office/drawing/2014/main" id="{6BE0001F-AFB7-47D7-BC9C-FBC921B54DF5}"/>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77B68F7-BEB8-44D2-84A0-144981C41D1E}"/>
              </a:ext>
            </a:extLst>
          </p:cNvPr>
          <p:cNvSpPr>
            <a:spLocks noGrp="1"/>
          </p:cNvSpPr>
          <p:nvPr>
            <p:ph type="sldNum" sz="quarter" idx="12"/>
          </p:nvPr>
        </p:nvSpPr>
        <p:spPr/>
        <p:txBody>
          <a:bodyPr/>
          <a:lstStyle>
            <a:lvl1pPr>
              <a:defRPr/>
            </a:lvl1pPr>
          </a:lstStyle>
          <a:p>
            <a:pPr>
              <a:defRPr/>
            </a:pPr>
            <a:fld id="{E83AB622-CF6B-42ED-8F59-D313148579AD}" type="slidenum">
              <a:rPr lang="zh-CN" altLang="en-US"/>
              <a:pPr>
                <a:defRPr/>
              </a:pPr>
              <a:t>‹#›</a:t>
            </a:fld>
            <a:endParaRPr lang="zh-CN" altLang="en-US"/>
          </a:p>
        </p:txBody>
      </p:sp>
    </p:spTree>
    <p:extLst>
      <p:ext uri="{BB962C8B-B14F-4D97-AF65-F5344CB8AC3E}">
        <p14:creationId xmlns:p14="http://schemas.microsoft.com/office/powerpoint/2010/main" val="1138033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11F49DC-98B2-42D2-A896-6385ADD46A25}"/>
              </a:ext>
            </a:extLst>
          </p:cNvPr>
          <p:cNvSpPr>
            <a:spLocks noGrp="1"/>
          </p:cNvSpPr>
          <p:nvPr>
            <p:ph type="dt" sz="half" idx="10"/>
          </p:nvPr>
        </p:nvSpPr>
        <p:spPr/>
        <p:txBody>
          <a:bodyPr/>
          <a:lstStyle>
            <a:lvl1pPr>
              <a:defRPr/>
            </a:lvl1pPr>
          </a:lstStyle>
          <a:p>
            <a:pPr>
              <a:defRPr/>
            </a:pPr>
            <a:fld id="{B1143522-AC1A-434B-AA7C-9EA4D2A34C9E}" type="datetimeFigureOut">
              <a:rPr lang="zh-CN" altLang="en-US"/>
              <a:pPr>
                <a:defRPr/>
              </a:pPr>
              <a:t>2026/9/22</a:t>
            </a:fld>
            <a:endParaRPr lang="zh-CN" altLang="en-US"/>
          </a:p>
        </p:txBody>
      </p:sp>
      <p:sp>
        <p:nvSpPr>
          <p:cNvPr id="5" name="页脚占位符 4">
            <a:extLst>
              <a:ext uri="{FF2B5EF4-FFF2-40B4-BE49-F238E27FC236}">
                <a16:creationId xmlns:a16="http://schemas.microsoft.com/office/drawing/2014/main" id="{370F3210-0F01-4EE0-B340-6D9005EEB9F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9A94D5B1-F71D-4DC6-8149-6E9EF3B74BB2}"/>
              </a:ext>
            </a:extLst>
          </p:cNvPr>
          <p:cNvSpPr>
            <a:spLocks noGrp="1"/>
          </p:cNvSpPr>
          <p:nvPr>
            <p:ph type="sldNum" sz="quarter" idx="12"/>
          </p:nvPr>
        </p:nvSpPr>
        <p:spPr/>
        <p:txBody>
          <a:bodyPr/>
          <a:lstStyle>
            <a:lvl1pPr>
              <a:defRPr/>
            </a:lvl1pPr>
          </a:lstStyle>
          <a:p>
            <a:pPr>
              <a:defRPr/>
            </a:pPr>
            <a:fld id="{939C940B-79FC-4F9F-974B-3F65CFFE6367}" type="slidenum">
              <a:rPr lang="zh-CN" altLang="en-US"/>
              <a:pPr>
                <a:defRPr/>
              </a:pPr>
              <a:t>‹#›</a:t>
            </a:fld>
            <a:endParaRPr lang="zh-CN" altLang="en-US"/>
          </a:p>
        </p:txBody>
      </p:sp>
    </p:spTree>
    <p:extLst>
      <p:ext uri="{BB962C8B-B14F-4D97-AF65-F5344CB8AC3E}">
        <p14:creationId xmlns:p14="http://schemas.microsoft.com/office/powerpoint/2010/main" val="2122028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5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97600" y="1825625"/>
            <a:ext cx="515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3">
            <a:extLst>
              <a:ext uri="{FF2B5EF4-FFF2-40B4-BE49-F238E27FC236}">
                <a16:creationId xmlns:a16="http://schemas.microsoft.com/office/drawing/2014/main" id="{169E5782-5CB1-4844-8B68-FAB4459335C0}"/>
              </a:ext>
            </a:extLst>
          </p:cNvPr>
          <p:cNvSpPr>
            <a:spLocks noGrp="1"/>
          </p:cNvSpPr>
          <p:nvPr>
            <p:ph type="dt" sz="half" idx="10"/>
          </p:nvPr>
        </p:nvSpPr>
        <p:spPr/>
        <p:txBody>
          <a:bodyPr/>
          <a:lstStyle>
            <a:lvl1pPr>
              <a:defRPr/>
            </a:lvl1pPr>
          </a:lstStyle>
          <a:p>
            <a:pPr>
              <a:defRPr/>
            </a:pPr>
            <a:fld id="{34AE34AE-497E-4D1E-BFB0-72B9FABA1BB8}" type="datetimeFigureOut">
              <a:rPr lang="zh-CN" altLang="en-US"/>
              <a:pPr>
                <a:defRPr/>
              </a:pPr>
              <a:t>2026/9/22</a:t>
            </a:fld>
            <a:endParaRPr lang="zh-CN" altLang="en-US"/>
          </a:p>
        </p:txBody>
      </p:sp>
      <p:sp>
        <p:nvSpPr>
          <p:cNvPr id="6" name="页脚占位符 4">
            <a:extLst>
              <a:ext uri="{FF2B5EF4-FFF2-40B4-BE49-F238E27FC236}">
                <a16:creationId xmlns:a16="http://schemas.microsoft.com/office/drawing/2014/main" id="{EC8608D6-FCD2-4392-A1E2-D3758FF5647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2966FE0-91F0-4E0B-B444-BE6961236089}"/>
              </a:ext>
            </a:extLst>
          </p:cNvPr>
          <p:cNvSpPr>
            <a:spLocks noGrp="1"/>
          </p:cNvSpPr>
          <p:nvPr>
            <p:ph type="sldNum" sz="quarter" idx="12"/>
          </p:nvPr>
        </p:nvSpPr>
        <p:spPr/>
        <p:txBody>
          <a:bodyPr/>
          <a:lstStyle>
            <a:lvl1pPr>
              <a:defRPr/>
            </a:lvl1pPr>
          </a:lstStyle>
          <a:p>
            <a:pPr>
              <a:defRPr/>
            </a:pPr>
            <a:fld id="{61842F75-B0CC-4BC7-BA00-BE6E92BC5AF8}" type="slidenum">
              <a:rPr lang="zh-CN" altLang="en-US"/>
              <a:pPr>
                <a:defRPr/>
              </a:pPr>
              <a:t>‹#›</a:t>
            </a:fld>
            <a:endParaRPr lang="zh-CN" altLang="en-US"/>
          </a:p>
        </p:txBody>
      </p:sp>
    </p:spTree>
    <p:extLst>
      <p:ext uri="{BB962C8B-B14F-4D97-AF65-F5344CB8AC3E}">
        <p14:creationId xmlns:p14="http://schemas.microsoft.com/office/powerpoint/2010/main" val="31487610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40318" y="2505075"/>
            <a:ext cx="5158316"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71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a:extLst>
              <a:ext uri="{FF2B5EF4-FFF2-40B4-BE49-F238E27FC236}">
                <a16:creationId xmlns:a16="http://schemas.microsoft.com/office/drawing/2014/main" id="{BA5C0817-B6A6-4C32-AB96-F3A477562588}"/>
              </a:ext>
            </a:extLst>
          </p:cNvPr>
          <p:cNvSpPr>
            <a:spLocks noGrp="1"/>
          </p:cNvSpPr>
          <p:nvPr>
            <p:ph type="dt" sz="half" idx="10"/>
          </p:nvPr>
        </p:nvSpPr>
        <p:spPr/>
        <p:txBody>
          <a:bodyPr/>
          <a:lstStyle>
            <a:lvl1pPr>
              <a:defRPr/>
            </a:lvl1pPr>
          </a:lstStyle>
          <a:p>
            <a:pPr>
              <a:defRPr/>
            </a:pPr>
            <a:fld id="{DC69E7CD-5FEC-4157-9488-AD12A2B5DCB2}" type="datetimeFigureOut">
              <a:rPr lang="zh-CN" altLang="en-US"/>
              <a:pPr>
                <a:defRPr/>
              </a:pPr>
              <a:t>2026/9/22</a:t>
            </a:fld>
            <a:endParaRPr lang="zh-CN" altLang="en-US"/>
          </a:p>
        </p:txBody>
      </p:sp>
      <p:sp>
        <p:nvSpPr>
          <p:cNvPr id="8" name="页脚占位符 4">
            <a:extLst>
              <a:ext uri="{FF2B5EF4-FFF2-40B4-BE49-F238E27FC236}">
                <a16:creationId xmlns:a16="http://schemas.microsoft.com/office/drawing/2014/main" id="{EE5A4F4C-5023-4620-9722-6D63B58EA0C5}"/>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36DDDAF6-1874-411A-B939-9BA80B312A39}"/>
              </a:ext>
            </a:extLst>
          </p:cNvPr>
          <p:cNvSpPr>
            <a:spLocks noGrp="1"/>
          </p:cNvSpPr>
          <p:nvPr>
            <p:ph type="sldNum" sz="quarter" idx="12"/>
          </p:nvPr>
        </p:nvSpPr>
        <p:spPr/>
        <p:txBody>
          <a:bodyPr/>
          <a:lstStyle>
            <a:lvl1pPr>
              <a:defRPr/>
            </a:lvl1pPr>
          </a:lstStyle>
          <a:p>
            <a:pPr>
              <a:defRPr/>
            </a:pPr>
            <a:fld id="{A2D42F27-200C-438F-9E58-5B09F1C6C340}" type="slidenum">
              <a:rPr lang="zh-CN" altLang="en-US"/>
              <a:pPr>
                <a:defRPr/>
              </a:pPr>
              <a:t>‹#›</a:t>
            </a:fld>
            <a:endParaRPr lang="zh-CN" altLang="en-US"/>
          </a:p>
        </p:txBody>
      </p:sp>
    </p:spTree>
    <p:extLst>
      <p:ext uri="{BB962C8B-B14F-4D97-AF65-F5344CB8AC3E}">
        <p14:creationId xmlns:p14="http://schemas.microsoft.com/office/powerpoint/2010/main" val="220592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5F4728FA-72F0-4268-A657-B277B331517A}"/>
              </a:ext>
            </a:extLst>
          </p:cNvPr>
          <p:cNvSpPr>
            <a:spLocks noGrp="1"/>
          </p:cNvSpPr>
          <p:nvPr>
            <p:ph type="dt" sz="half" idx="10"/>
          </p:nvPr>
        </p:nvSpPr>
        <p:spPr/>
        <p:txBody>
          <a:bodyPr/>
          <a:lstStyle>
            <a:lvl1pPr>
              <a:defRPr/>
            </a:lvl1pPr>
          </a:lstStyle>
          <a:p>
            <a:pPr>
              <a:defRPr/>
            </a:pPr>
            <a:fld id="{ADC4E17F-BF7A-413B-B8DE-EAD0ED05BF85}" type="datetimeFigureOut">
              <a:rPr lang="zh-CN" altLang="en-US"/>
              <a:pPr>
                <a:defRPr/>
              </a:pPr>
              <a:t>2026/9/22</a:t>
            </a:fld>
            <a:endParaRPr lang="zh-CN" altLang="en-US"/>
          </a:p>
        </p:txBody>
      </p:sp>
      <p:sp>
        <p:nvSpPr>
          <p:cNvPr id="4" name="页脚占位符 4">
            <a:extLst>
              <a:ext uri="{FF2B5EF4-FFF2-40B4-BE49-F238E27FC236}">
                <a16:creationId xmlns:a16="http://schemas.microsoft.com/office/drawing/2014/main" id="{3642D339-EAC9-4DED-957D-CC97CABB64DC}"/>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2DD353FA-7C57-47AE-8585-E6AD7DB6F412}"/>
              </a:ext>
            </a:extLst>
          </p:cNvPr>
          <p:cNvSpPr>
            <a:spLocks noGrp="1"/>
          </p:cNvSpPr>
          <p:nvPr>
            <p:ph type="sldNum" sz="quarter" idx="12"/>
          </p:nvPr>
        </p:nvSpPr>
        <p:spPr/>
        <p:txBody>
          <a:bodyPr/>
          <a:lstStyle>
            <a:lvl1pPr>
              <a:defRPr/>
            </a:lvl1pPr>
          </a:lstStyle>
          <a:p>
            <a:pPr>
              <a:defRPr/>
            </a:pPr>
            <a:fld id="{A14C5563-99CE-476F-AACF-E1215A0ECFB9}" type="slidenum">
              <a:rPr lang="zh-CN" altLang="en-US"/>
              <a:pPr>
                <a:defRPr/>
              </a:pPr>
              <a:t>‹#›</a:t>
            </a:fld>
            <a:endParaRPr lang="zh-CN" altLang="en-US"/>
          </a:p>
        </p:txBody>
      </p:sp>
    </p:spTree>
    <p:extLst>
      <p:ext uri="{BB962C8B-B14F-4D97-AF65-F5344CB8AC3E}">
        <p14:creationId xmlns:p14="http://schemas.microsoft.com/office/powerpoint/2010/main" val="3770156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CBFAAE3F-98E0-4DED-8586-060E4E30CA5F}"/>
              </a:ext>
            </a:extLst>
          </p:cNvPr>
          <p:cNvSpPr>
            <a:spLocks noGrp="1"/>
          </p:cNvSpPr>
          <p:nvPr>
            <p:ph type="dt" sz="half" idx="10"/>
          </p:nvPr>
        </p:nvSpPr>
        <p:spPr/>
        <p:txBody>
          <a:bodyPr/>
          <a:lstStyle>
            <a:lvl1pPr>
              <a:defRPr/>
            </a:lvl1pPr>
          </a:lstStyle>
          <a:p>
            <a:pPr>
              <a:defRPr/>
            </a:pPr>
            <a:fld id="{A13726BE-CD39-4A72-8697-84B3189E1193}" type="datetimeFigureOut">
              <a:rPr lang="zh-CN" altLang="en-US"/>
              <a:pPr>
                <a:defRPr/>
              </a:pPr>
              <a:t>2026/9/22</a:t>
            </a:fld>
            <a:endParaRPr lang="zh-CN" altLang="en-US"/>
          </a:p>
        </p:txBody>
      </p:sp>
      <p:sp>
        <p:nvSpPr>
          <p:cNvPr id="3" name="页脚占位符 4">
            <a:extLst>
              <a:ext uri="{FF2B5EF4-FFF2-40B4-BE49-F238E27FC236}">
                <a16:creationId xmlns:a16="http://schemas.microsoft.com/office/drawing/2014/main" id="{9C97C02D-0C8F-42CF-86C6-B7F4EC38C500}"/>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38E7547F-7456-4EA6-B250-AF26BDDAC93B}"/>
              </a:ext>
            </a:extLst>
          </p:cNvPr>
          <p:cNvSpPr>
            <a:spLocks noGrp="1"/>
          </p:cNvSpPr>
          <p:nvPr>
            <p:ph type="sldNum" sz="quarter" idx="12"/>
          </p:nvPr>
        </p:nvSpPr>
        <p:spPr/>
        <p:txBody>
          <a:bodyPr/>
          <a:lstStyle>
            <a:lvl1pPr>
              <a:defRPr/>
            </a:lvl1pPr>
          </a:lstStyle>
          <a:p>
            <a:pPr>
              <a:defRPr/>
            </a:pPr>
            <a:fld id="{A7B489BC-8E41-453F-854B-8C2F1B92C768}" type="slidenum">
              <a:rPr lang="zh-CN" altLang="en-US"/>
              <a:pPr>
                <a:defRPr/>
              </a:pPr>
              <a:t>‹#›</a:t>
            </a:fld>
            <a:endParaRPr lang="zh-CN" altLang="en-US"/>
          </a:p>
        </p:txBody>
      </p:sp>
    </p:spTree>
    <p:extLst>
      <p:ext uri="{BB962C8B-B14F-4D97-AF65-F5344CB8AC3E}">
        <p14:creationId xmlns:p14="http://schemas.microsoft.com/office/powerpoint/2010/main" val="1073708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33513DD0-0DF8-49FF-B2AF-AD2904276D67}"/>
              </a:ext>
            </a:extLst>
          </p:cNvPr>
          <p:cNvSpPr>
            <a:spLocks noGrp="1"/>
          </p:cNvSpPr>
          <p:nvPr>
            <p:ph type="dt" sz="half" idx="10"/>
          </p:nvPr>
        </p:nvSpPr>
        <p:spPr/>
        <p:txBody>
          <a:bodyPr/>
          <a:lstStyle>
            <a:lvl1pPr>
              <a:defRPr/>
            </a:lvl1pPr>
          </a:lstStyle>
          <a:p>
            <a:pPr>
              <a:defRPr/>
            </a:pPr>
            <a:fld id="{8BCC8A99-3C0F-4571-A1BC-057517AAD6A9}" type="datetimeFigureOut">
              <a:rPr lang="zh-CN" altLang="en-US"/>
              <a:pPr>
                <a:defRPr/>
              </a:pPr>
              <a:t>2026/9/22</a:t>
            </a:fld>
            <a:endParaRPr lang="zh-CN" altLang="en-US"/>
          </a:p>
        </p:txBody>
      </p:sp>
      <p:sp>
        <p:nvSpPr>
          <p:cNvPr id="6" name="页脚占位符 4">
            <a:extLst>
              <a:ext uri="{FF2B5EF4-FFF2-40B4-BE49-F238E27FC236}">
                <a16:creationId xmlns:a16="http://schemas.microsoft.com/office/drawing/2014/main" id="{B05303F0-EC68-497B-8966-602C0EE8BE97}"/>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CB8C0D05-AE07-4F23-9228-9A9D420B7131}"/>
              </a:ext>
            </a:extLst>
          </p:cNvPr>
          <p:cNvSpPr>
            <a:spLocks noGrp="1"/>
          </p:cNvSpPr>
          <p:nvPr>
            <p:ph type="sldNum" sz="quarter" idx="12"/>
          </p:nvPr>
        </p:nvSpPr>
        <p:spPr/>
        <p:txBody>
          <a:bodyPr/>
          <a:lstStyle>
            <a:lvl1pPr>
              <a:defRPr/>
            </a:lvl1pPr>
          </a:lstStyle>
          <a:p>
            <a:pPr>
              <a:defRPr/>
            </a:pPr>
            <a:fld id="{DD33CC05-7FF1-4691-98EE-6662FAAA2D96}" type="slidenum">
              <a:rPr lang="zh-CN" altLang="en-US"/>
              <a:pPr>
                <a:defRPr/>
              </a:pPr>
              <a:t>‹#›</a:t>
            </a:fld>
            <a:endParaRPr lang="zh-CN" altLang="en-US"/>
          </a:p>
        </p:txBody>
      </p:sp>
    </p:spTree>
    <p:extLst>
      <p:ext uri="{BB962C8B-B14F-4D97-AF65-F5344CB8AC3E}">
        <p14:creationId xmlns:p14="http://schemas.microsoft.com/office/powerpoint/2010/main" val="1588004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717" y="987426"/>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E579187C-7874-4127-9A78-650074B1806D}"/>
              </a:ext>
            </a:extLst>
          </p:cNvPr>
          <p:cNvSpPr>
            <a:spLocks noGrp="1"/>
          </p:cNvSpPr>
          <p:nvPr>
            <p:ph type="dt" sz="half" idx="10"/>
          </p:nvPr>
        </p:nvSpPr>
        <p:spPr/>
        <p:txBody>
          <a:bodyPr/>
          <a:lstStyle>
            <a:lvl1pPr>
              <a:defRPr/>
            </a:lvl1pPr>
          </a:lstStyle>
          <a:p>
            <a:pPr>
              <a:defRPr/>
            </a:pPr>
            <a:fld id="{3E5796F3-7CE5-4C2E-8EC2-422B0BE10A07}" type="datetimeFigureOut">
              <a:rPr lang="zh-CN" altLang="en-US"/>
              <a:pPr>
                <a:defRPr/>
              </a:pPr>
              <a:t>2026/9/22</a:t>
            </a:fld>
            <a:endParaRPr lang="zh-CN" altLang="en-US"/>
          </a:p>
        </p:txBody>
      </p:sp>
      <p:sp>
        <p:nvSpPr>
          <p:cNvPr id="6" name="页脚占位符 4">
            <a:extLst>
              <a:ext uri="{FF2B5EF4-FFF2-40B4-BE49-F238E27FC236}">
                <a16:creationId xmlns:a16="http://schemas.microsoft.com/office/drawing/2014/main" id="{2651F5A0-A987-48CC-B8FB-00C9C2E58EAD}"/>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32F1AB22-D19F-4DC3-B889-202746FEC873}"/>
              </a:ext>
            </a:extLst>
          </p:cNvPr>
          <p:cNvSpPr>
            <a:spLocks noGrp="1"/>
          </p:cNvSpPr>
          <p:nvPr>
            <p:ph type="sldNum" sz="quarter" idx="12"/>
          </p:nvPr>
        </p:nvSpPr>
        <p:spPr/>
        <p:txBody>
          <a:bodyPr/>
          <a:lstStyle>
            <a:lvl1pPr>
              <a:defRPr/>
            </a:lvl1pPr>
          </a:lstStyle>
          <a:p>
            <a:pPr>
              <a:defRPr/>
            </a:pPr>
            <a:fld id="{31C4A156-D19B-44BC-B36B-F7F7F71EBFFB}" type="slidenum">
              <a:rPr lang="zh-CN" altLang="en-US"/>
              <a:pPr>
                <a:defRPr/>
              </a:pPr>
              <a:t>‹#›</a:t>
            </a:fld>
            <a:endParaRPr lang="zh-CN" altLang="en-US"/>
          </a:p>
        </p:txBody>
      </p:sp>
    </p:spTree>
    <p:extLst>
      <p:ext uri="{BB962C8B-B14F-4D97-AF65-F5344CB8AC3E}">
        <p14:creationId xmlns:p14="http://schemas.microsoft.com/office/powerpoint/2010/main" val="1669670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FBA17A2-3792-45D0-81F7-0F6550010146}"/>
              </a:ext>
            </a:extLst>
          </p:cNvPr>
          <p:cNvSpPr>
            <a:spLocks noGrp="1"/>
          </p:cNvSpPr>
          <p:nvPr>
            <p:ph type="dt" sz="half" idx="10"/>
          </p:nvPr>
        </p:nvSpPr>
        <p:spPr/>
        <p:txBody>
          <a:bodyPr/>
          <a:lstStyle>
            <a:lvl1pPr>
              <a:defRPr/>
            </a:lvl1pPr>
          </a:lstStyle>
          <a:p>
            <a:pPr>
              <a:defRPr/>
            </a:pPr>
            <a:fld id="{2E99B7C0-C858-4FCF-8023-24A0C2F0FA3D}" type="datetimeFigureOut">
              <a:rPr lang="zh-CN" altLang="en-US"/>
              <a:pPr>
                <a:defRPr/>
              </a:pPr>
              <a:t>2026/9/22</a:t>
            </a:fld>
            <a:endParaRPr lang="zh-CN" altLang="en-US"/>
          </a:p>
        </p:txBody>
      </p:sp>
      <p:sp>
        <p:nvSpPr>
          <p:cNvPr id="5" name="页脚占位符 4">
            <a:extLst>
              <a:ext uri="{FF2B5EF4-FFF2-40B4-BE49-F238E27FC236}">
                <a16:creationId xmlns:a16="http://schemas.microsoft.com/office/drawing/2014/main" id="{CE34793C-C772-432A-BA34-24CB4DC9AB32}"/>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621477D-0EBE-402D-AE8D-452BFD5C5A64}"/>
              </a:ext>
            </a:extLst>
          </p:cNvPr>
          <p:cNvSpPr>
            <a:spLocks noGrp="1"/>
          </p:cNvSpPr>
          <p:nvPr>
            <p:ph type="sldNum" sz="quarter" idx="12"/>
          </p:nvPr>
        </p:nvSpPr>
        <p:spPr/>
        <p:txBody>
          <a:bodyPr/>
          <a:lstStyle>
            <a:lvl1pPr>
              <a:defRPr/>
            </a:lvl1pPr>
          </a:lstStyle>
          <a:p>
            <a:pPr>
              <a:defRPr/>
            </a:pPr>
            <a:fld id="{2EE5C591-A073-49FD-B902-FE74AA4B60F7}" type="slidenum">
              <a:rPr lang="zh-CN" altLang="en-US"/>
              <a:pPr>
                <a:defRPr/>
              </a:pPr>
              <a:t>‹#›</a:t>
            </a:fld>
            <a:endParaRPr lang="zh-CN" altLang="en-US"/>
          </a:p>
        </p:txBody>
      </p:sp>
    </p:spTree>
    <p:extLst>
      <p:ext uri="{BB962C8B-B14F-4D97-AF65-F5344CB8AC3E}">
        <p14:creationId xmlns:p14="http://schemas.microsoft.com/office/powerpoint/2010/main" val="3367370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6835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BF4E231-E33A-4FC1-B192-D0714B0655A0}"/>
              </a:ext>
            </a:extLst>
          </p:cNvPr>
          <p:cNvSpPr>
            <a:spLocks noGrp="1"/>
          </p:cNvSpPr>
          <p:nvPr>
            <p:ph type="dt" sz="half" idx="10"/>
          </p:nvPr>
        </p:nvSpPr>
        <p:spPr/>
        <p:txBody>
          <a:bodyPr/>
          <a:lstStyle>
            <a:lvl1pPr>
              <a:defRPr/>
            </a:lvl1pPr>
          </a:lstStyle>
          <a:p>
            <a:pPr>
              <a:defRPr/>
            </a:pPr>
            <a:fld id="{A7996BE8-BC69-4A7D-AEED-FBCBE7B034A7}" type="datetimeFigureOut">
              <a:rPr lang="zh-CN" altLang="en-US"/>
              <a:pPr>
                <a:defRPr/>
              </a:pPr>
              <a:t>2026/9/22</a:t>
            </a:fld>
            <a:endParaRPr lang="zh-CN" altLang="en-US"/>
          </a:p>
        </p:txBody>
      </p:sp>
      <p:sp>
        <p:nvSpPr>
          <p:cNvPr id="5" name="页脚占位符 4">
            <a:extLst>
              <a:ext uri="{FF2B5EF4-FFF2-40B4-BE49-F238E27FC236}">
                <a16:creationId xmlns:a16="http://schemas.microsoft.com/office/drawing/2014/main" id="{0F27B406-1130-4AC5-B87C-703FFCE0EFD8}"/>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77C415BF-CF42-4FA6-9E24-956D7D41A405}"/>
              </a:ext>
            </a:extLst>
          </p:cNvPr>
          <p:cNvSpPr>
            <a:spLocks noGrp="1"/>
          </p:cNvSpPr>
          <p:nvPr>
            <p:ph type="sldNum" sz="quarter" idx="12"/>
          </p:nvPr>
        </p:nvSpPr>
        <p:spPr/>
        <p:txBody>
          <a:bodyPr/>
          <a:lstStyle>
            <a:lvl1pPr>
              <a:defRPr/>
            </a:lvl1pPr>
          </a:lstStyle>
          <a:p>
            <a:pPr>
              <a:defRPr/>
            </a:pPr>
            <a:fld id="{D2A1824C-117B-4AAB-8BD1-D9C07D555414}" type="slidenum">
              <a:rPr lang="zh-CN" altLang="en-US"/>
              <a:pPr>
                <a:defRPr/>
              </a:pPr>
              <a:t>‹#›</a:t>
            </a:fld>
            <a:endParaRPr lang="zh-CN" altLang="en-US"/>
          </a:p>
        </p:txBody>
      </p:sp>
    </p:spTree>
    <p:extLst>
      <p:ext uri="{BB962C8B-B14F-4D97-AF65-F5344CB8AC3E}">
        <p14:creationId xmlns:p14="http://schemas.microsoft.com/office/powerpoint/2010/main" val="15849896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图片 8">
            <a:extLst>
              <a:ext uri="{FF2B5EF4-FFF2-40B4-BE49-F238E27FC236}">
                <a16:creationId xmlns:a16="http://schemas.microsoft.com/office/drawing/2014/main" id="{913ABA4F-3EA7-4C40-91DA-B443257A12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562476"/>
            <a:ext cx="12192000" cy="229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9">
            <a:extLst>
              <a:ext uri="{FF2B5EF4-FFF2-40B4-BE49-F238E27FC236}">
                <a16:creationId xmlns:a16="http://schemas.microsoft.com/office/drawing/2014/main" id="{4C78A92D-DAB9-4B38-BEE3-B6D5D24F49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463"/>
            <a:ext cx="5715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047173" y="1487055"/>
            <a:ext cx="10363200" cy="1760913"/>
          </a:xfrm>
        </p:spPr>
        <p:txBody>
          <a:bodyPr anchor="b"/>
          <a:lstStyle>
            <a:lvl1pPr algn="ctr">
              <a:defRPr sz="6000">
                <a:solidFill>
                  <a:srgbClr val="C00000"/>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610207" y="3610033"/>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6" name="Date Placeholder 3">
            <a:extLst>
              <a:ext uri="{FF2B5EF4-FFF2-40B4-BE49-F238E27FC236}">
                <a16:creationId xmlns:a16="http://schemas.microsoft.com/office/drawing/2014/main" id="{8D997ECD-4728-4DFE-A4F2-7BE7B1014003}"/>
              </a:ext>
            </a:extLst>
          </p:cNvPr>
          <p:cNvSpPr>
            <a:spLocks noGrp="1"/>
          </p:cNvSpPr>
          <p:nvPr>
            <p:ph type="dt" sz="half" idx="10"/>
          </p:nvPr>
        </p:nvSpPr>
        <p:spPr>
          <a:xfrm>
            <a:off x="152400" y="6475414"/>
            <a:ext cx="2743200" cy="365125"/>
          </a:xfrm>
        </p:spPr>
        <p:txBody>
          <a:bodyPr/>
          <a:lstStyle>
            <a:lvl1pPr>
              <a:defRPr/>
            </a:lvl1pPr>
          </a:lstStyle>
          <a:p>
            <a:pPr>
              <a:defRPr/>
            </a:pPr>
            <a:fld id="{1318EA45-807E-453C-BEDB-42E3B4DD0D8D}" type="datetimeFigureOut">
              <a:rPr lang="zh-CN" altLang="en-US"/>
              <a:pPr>
                <a:defRPr/>
              </a:pPr>
              <a:t>2026/9/22</a:t>
            </a:fld>
            <a:endParaRPr lang="zh-CN" altLang="en-US"/>
          </a:p>
        </p:txBody>
      </p:sp>
      <p:sp>
        <p:nvSpPr>
          <p:cNvPr id="7" name="Footer Placeholder 4">
            <a:extLst>
              <a:ext uri="{FF2B5EF4-FFF2-40B4-BE49-F238E27FC236}">
                <a16:creationId xmlns:a16="http://schemas.microsoft.com/office/drawing/2014/main" id="{64CEB0F0-3892-4AF4-B0B9-6DB1C0587991}"/>
              </a:ext>
            </a:extLst>
          </p:cNvPr>
          <p:cNvSpPr>
            <a:spLocks noGrp="1"/>
          </p:cNvSpPr>
          <p:nvPr>
            <p:ph type="ftr" sz="quarter" idx="11"/>
          </p:nvPr>
        </p:nvSpPr>
        <p:spPr/>
        <p:txBody>
          <a:bodyPr/>
          <a:lstStyle>
            <a:lvl1pPr>
              <a:defRPr/>
            </a:lvl1pPr>
          </a:lstStyle>
          <a:p>
            <a:pPr>
              <a:defRPr/>
            </a:pPr>
            <a:endParaRPr lang="zh-CN" altLang="en-US"/>
          </a:p>
        </p:txBody>
      </p:sp>
      <p:sp>
        <p:nvSpPr>
          <p:cNvPr id="8" name="Slide Number Placeholder 5">
            <a:extLst>
              <a:ext uri="{FF2B5EF4-FFF2-40B4-BE49-F238E27FC236}">
                <a16:creationId xmlns:a16="http://schemas.microsoft.com/office/drawing/2014/main" id="{59879660-BBF1-426B-B114-F18F429A0D43}"/>
              </a:ext>
            </a:extLst>
          </p:cNvPr>
          <p:cNvSpPr>
            <a:spLocks noGrp="1"/>
          </p:cNvSpPr>
          <p:nvPr>
            <p:ph type="sldNum" sz="quarter" idx="12"/>
          </p:nvPr>
        </p:nvSpPr>
        <p:spPr/>
        <p:txBody>
          <a:bodyPr/>
          <a:lstStyle>
            <a:lvl1pPr>
              <a:defRPr/>
            </a:lvl1pPr>
          </a:lstStyle>
          <a:p>
            <a:pPr>
              <a:defRPr/>
            </a:pPr>
            <a:fld id="{F6935B6E-05F8-462B-9040-9DD0F34B6362}" type="slidenum">
              <a:rPr lang="zh-CN" altLang="en-US"/>
              <a:pPr>
                <a:defRPr/>
              </a:pPr>
              <a:t>‹#›</a:t>
            </a:fld>
            <a:endParaRPr lang="zh-CN" altLang="en-US"/>
          </a:p>
        </p:txBody>
      </p:sp>
    </p:spTree>
    <p:extLst>
      <p:ext uri="{BB962C8B-B14F-4D97-AF65-F5344CB8AC3E}">
        <p14:creationId xmlns:p14="http://schemas.microsoft.com/office/powerpoint/2010/main" val="29734035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a:extLst>
              <a:ext uri="{FF2B5EF4-FFF2-40B4-BE49-F238E27FC236}">
                <a16:creationId xmlns:a16="http://schemas.microsoft.com/office/drawing/2014/main" id="{C89A136A-B01D-48B5-9A67-C83953818957}"/>
              </a:ext>
            </a:extLst>
          </p:cNvPr>
          <p:cNvSpPr>
            <a:spLocks noGrp="1"/>
          </p:cNvSpPr>
          <p:nvPr>
            <p:ph type="dt" sz="half" idx="10"/>
          </p:nvPr>
        </p:nvSpPr>
        <p:spPr/>
        <p:txBody>
          <a:bodyPr/>
          <a:lstStyle>
            <a:lvl1pPr>
              <a:defRPr/>
            </a:lvl1pPr>
          </a:lstStyle>
          <a:p>
            <a:pPr>
              <a:defRPr/>
            </a:pPr>
            <a:fld id="{42911D5E-54DB-439C-9250-85C4106AAB61}" type="datetimeFigureOut">
              <a:rPr lang="zh-CN" altLang="en-US"/>
              <a:pPr>
                <a:defRPr/>
              </a:pPr>
              <a:t>2026/9/22</a:t>
            </a:fld>
            <a:endParaRPr lang="zh-CN" altLang="en-US"/>
          </a:p>
        </p:txBody>
      </p:sp>
      <p:sp>
        <p:nvSpPr>
          <p:cNvPr id="5" name="Footer Placeholder 4">
            <a:extLst>
              <a:ext uri="{FF2B5EF4-FFF2-40B4-BE49-F238E27FC236}">
                <a16:creationId xmlns:a16="http://schemas.microsoft.com/office/drawing/2014/main" id="{396465E7-0AC3-430E-86C7-EEBADB8992CD}"/>
              </a:ext>
            </a:extLst>
          </p:cNvPr>
          <p:cNvSpPr>
            <a:spLocks noGrp="1"/>
          </p:cNvSpPr>
          <p:nvPr>
            <p:ph type="ftr" sz="quarter" idx="11"/>
          </p:nvPr>
        </p:nvSpPr>
        <p:spPr/>
        <p:txBody>
          <a:bodyPr/>
          <a:lstStyle>
            <a:lvl1pPr>
              <a:defRPr/>
            </a:lvl1pPr>
          </a:lstStyle>
          <a:p>
            <a:pPr>
              <a:defRPr/>
            </a:pPr>
            <a:endParaRPr lang="zh-CN" altLang="en-US"/>
          </a:p>
        </p:txBody>
      </p:sp>
      <p:sp>
        <p:nvSpPr>
          <p:cNvPr id="6" name="Slide Number Placeholder 5">
            <a:extLst>
              <a:ext uri="{FF2B5EF4-FFF2-40B4-BE49-F238E27FC236}">
                <a16:creationId xmlns:a16="http://schemas.microsoft.com/office/drawing/2014/main" id="{C099E9F9-3D39-4C33-B1C2-CD82A6DBBF05}"/>
              </a:ext>
            </a:extLst>
          </p:cNvPr>
          <p:cNvSpPr>
            <a:spLocks noGrp="1"/>
          </p:cNvSpPr>
          <p:nvPr>
            <p:ph type="sldNum" sz="quarter" idx="12"/>
          </p:nvPr>
        </p:nvSpPr>
        <p:spPr/>
        <p:txBody>
          <a:bodyPr/>
          <a:lstStyle>
            <a:lvl1pPr>
              <a:defRPr/>
            </a:lvl1pPr>
          </a:lstStyle>
          <a:p>
            <a:pPr>
              <a:defRPr/>
            </a:pPr>
            <a:fld id="{77B956C2-F084-453B-BD07-D0A2A74FB955}" type="slidenum">
              <a:rPr lang="zh-CN" altLang="en-US"/>
              <a:pPr>
                <a:defRPr/>
              </a:pPr>
              <a:t>‹#›</a:t>
            </a:fld>
            <a:endParaRPr lang="zh-CN" altLang="en-US"/>
          </a:p>
        </p:txBody>
      </p:sp>
    </p:spTree>
    <p:extLst>
      <p:ext uri="{BB962C8B-B14F-4D97-AF65-F5344CB8AC3E}">
        <p14:creationId xmlns:p14="http://schemas.microsoft.com/office/powerpoint/2010/main" val="38997031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a:extLst>
              <a:ext uri="{FF2B5EF4-FFF2-40B4-BE49-F238E27FC236}">
                <a16:creationId xmlns:a16="http://schemas.microsoft.com/office/drawing/2014/main" id="{BEBF59E8-8B50-4090-882C-B382E6AE5E54}"/>
              </a:ext>
            </a:extLst>
          </p:cNvPr>
          <p:cNvSpPr>
            <a:spLocks noGrp="1"/>
          </p:cNvSpPr>
          <p:nvPr>
            <p:ph type="dt" sz="half" idx="10"/>
          </p:nvPr>
        </p:nvSpPr>
        <p:spPr/>
        <p:txBody>
          <a:bodyPr/>
          <a:lstStyle>
            <a:lvl1pPr>
              <a:defRPr/>
            </a:lvl1pPr>
          </a:lstStyle>
          <a:p>
            <a:pPr>
              <a:defRPr/>
            </a:pPr>
            <a:fld id="{13D405BD-B087-4F7E-B328-CF8F26BE580F}" type="datetimeFigureOut">
              <a:rPr lang="zh-CN" altLang="en-US"/>
              <a:pPr>
                <a:defRPr/>
              </a:pPr>
              <a:t>2026/9/22</a:t>
            </a:fld>
            <a:endParaRPr lang="zh-CN" altLang="en-US"/>
          </a:p>
        </p:txBody>
      </p:sp>
      <p:sp>
        <p:nvSpPr>
          <p:cNvPr id="5" name="Footer Placeholder 4">
            <a:extLst>
              <a:ext uri="{FF2B5EF4-FFF2-40B4-BE49-F238E27FC236}">
                <a16:creationId xmlns:a16="http://schemas.microsoft.com/office/drawing/2014/main" id="{CF4E3328-C6E2-47F3-88F5-E5F01A3FF743}"/>
              </a:ext>
            </a:extLst>
          </p:cNvPr>
          <p:cNvSpPr>
            <a:spLocks noGrp="1"/>
          </p:cNvSpPr>
          <p:nvPr>
            <p:ph type="ftr" sz="quarter" idx="11"/>
          </p:nvPr>
        </p:nvSpPr>
        <p:spPr/>
        <p:txBody>
          <a:bodyPr/>
          <a:lstStyle>
            <a:lvl1pPr>
              <a:defRPr/>
            </a:lvl1pPr>
          </a:lstStyle>
          <a:p>
            <a:pPr>
              <a:defRPr/>
            </a:pPr>
            <a:endParaRPr lang="zh-CN" altLang="en-US"/>
          </a:p>
        </p:txBody>
      </p:sp>
      <p:sp>
        <p:nvSpPr>
          <p:cNvPr id="6" name="Slide Number Placeholder 5">
            <a:extLst>
              <a:ext uri="{FF2B5EF4-FFF2-40B4-BE49-F238E27FC236}">
                <a16:creationId xmlns:a16="http://schemas.microsoft.com/office/drawing/2014/main" id="{24A43E00-A89A-4AF1-8B1D-91E60359DAA9}"/>
              </a:ext>
            </a:extLst>
          </p:cNvPr>
          <p:cNvSpPr>
            <a:spLocks noGrp="1"/>
          </p:cNvSpPr>
          <p:nvPr>
            <p:ph type="sldNum" sz="quarter" idx="12"/>
          </p:nvPr>
        </p:nvSpPr>
        <p:spPr/>
        <p:txBody>
          <a:bodyPr/>
          <a:lstStyle>
            <a:lvl1pPr>
              <a:defRPr/>
            </a:lvl1pPr>
          </a:lstStyle>
          <a:p>
            <a:pPr>
              <a:defRPr/>
            </a:pPr>
            <a:fld id="{53A8B8D8-CF34-4523-B845-87954B1032D0}" type="slidenum">
              <a:rPr lang="zh-CN" altLang="en-US"/>
              <a:pPr>
                <a:defRPr/>
              </a:pPr>
              <a:t>‹#›</a:t>
            </a:fld>
            <a:endParaRPr lang="zh-CN" altLang="en-US"/>
          </a:p>
        </p:txBody>
      </p:sp>
    </p:spTree>
    <p:extLst>
      <p:ext uri="{BB962C8B-B14F-4D97-AF65-F5344CB8AC3E}">
        <p14:creationId xmlns:p14="http://schemas.microsoft.com/office/powerpoint/2010/main" val="15512658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3">
            <a:extLst>
              <a:ext uri="{FF2B5EF4-FFF2-40B4-BE49-F238E27FC236}">
                <a16:creationId xmlns:a16="http://schemas.microsoft.com/office/drawing/2014/main" id="{A9E5723C-BE1E-4511-B80C-243A5493DC01}"/>
              </a:ext>
            </a:extLst>
          </p:cNvPr>
          <p:cNvSpPr>
            <a:spLocks noGrp="1"/>
          </p:cNvSpPr>
          <p:nvPr>
            <p:ph type="dt" sz="half" idx="10"/>
          </p:nvPr>
        </p:nvSpPr>
        <p:spPr/>
        <p:txBody>
          <a:bodyPr/>
          <a:lstStyle>
            <a:lvl1pPr>
              <a:defRPr/>
            </a:lvl1pPr>
          </a:lstStyle>
          <a:p>
            <a:pPr>
              <a:defRPr/>
            </a:pPr>
            <a:fld id="{4105BA5D-29D0-4968-85CD-069E3D21AF74}" type="datetimeFigureOut">
              <a:rPr lang="zh-CN" altLang="en-US"/>
              <a:pPr>
                <a:defRPr/>
              </a:pPr>
              <a:t>2026/9/22</a:t>
            </a:fld>
            <a:endParaRPr lang="zh-CN" altLang="en-US"/>
          </a:p>
        </p:txBody>
      </p:sp>
      <p:sp>
        <p:nvSpPr>
          <p:cNvPr id="6" name="Footer Placeholder 4">
            <a:extLst>
              <a:ext uri="{FF2B5EF4-FFF2-40B4-BE49-F238E27FC236}">
                <a16:creationId xmlns:a16="http://schemas.microsoft.com/office/drawing/2014/main" id="{A7395804-F1B2-4877-BB73-85E3D7063318}"/>
              </a:ext>
            </a:extLst>
          </p:cNvPr>
          <p:cNvSpPr>
            <a:spLocks noGrp="1"/>
          </p:cNvSpPr>
          <p:nvPr>
            <p:ph type="ftr" sz="quarter" idx="11"/>
          </p:nvPr>
        </p:nvSpPr>
        <p:spPr/>
        <p:txBody>
          <a:bodyPr/>
          <a:lstStyle>
            <a:lvl1pPr>
              <a:defRPr/>
            </a:lvl1pPr>
          </a:lstStyle>
          <a:p>
            <a:pPr>
              <a:defRPr/>
            </a:pPr>
            <a:endParaRPr lang="zh-CN" altLang="en-US"/>
          </a:p>
        </p:txBody>
      </p:sp>
      <p:sp>
        <p:nvSpPr>
          <p:cNvPr id="7" name="Slide Number Placeholder 5">
            <a:extLst>
              <a:ext uri="{FF2B5EF4-FFF2-40B4-BE49-F238E27FC236}">
                <a16:creationId xmlns:a16="http://schemas.microsoft.com/office/drawing/2014/main" id="{D471F959-218E-42EB-A600-98D9675FC275}"/>
              </a:ext>
            </a:extLst>
          </p:cNvPr>
          <p:cNvSpPr>
            <a:spLocks noGrp="1"/>
          </p:cNvSpPr>
          <p:nvPr>
            <p:ph type="sldNum" sz="quarter" idx="12"/>
          </p:nvPr>
        </p:nvSpPr>
        <p:spPr/>
        <p:txBody>
          <a:bodyPr/>
          <a:lstStyle>
            <a:lvl1pPr>
              <a:defRPr/>
            </a:lvl1pPr>
          </a:lstStyle>
          <a:p>
            <a:pPr>
              <a:defRPr/>
            </a:pPr>
            <a:fld id="{B2219866-562A-4369-AE5A-DEC6E05AE202}" type="slidenum">
              <a:rPr lang="zh-CN" altLang="en-US"/>
              <a:pPr>
                <a:defRPr/>
              </a:pPr>
              <a:t>‹#›</a:t>
            </a:fld>
            <a:endParaRPr lang="zh-CN" altLang="en-US"/>
          </a:p>
        </p:txBody>
      </p:sp>
    </p:spTree>
    <p:extLst>
      <p:ext uri="{BB962C8B-B14F-4D97-AF65-F5344CB8AC3E}">
        <p14:creationId xmlns:p14="http://schemas.microsoft.com/office/powerpoint/2010/main" val="32354584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3">
            <a:extLst>
              <a:ext uri="{FF2B5EF4-FFF2-40B4-BE49-F238E27FC236}">
                <a16:creationId xmlns:a16="http://schemas.microsoft.com/office/drawing/2014/main" id="{02509C07-12FB-42FA-ADC1-7D4E2414EF19}"/>
              </a:ext>
            </a:extLst>
          </p:cNvPr>
          <p:cNvSpPr>
            <a:spLocks noGrp="1"/>
          </p:cNvSpPr>
          <p:nvPr>
            <p:ph type="dt" sz="half" idx="10"/>
          </p:nvPr>
        </p:nvSpPr>
        <p:spPr/>
        <p:txBody>
          <a:bodyPr/>
          <a:lstStyle>
            <a:lvl1pPr>
              <a:defRPr/>
            </a:lvl1pPr>
          </a:lstStyle>
          <a:p>
            <a:pPr>
              <a:defRPr/>
            </a:pPr>
            <a:fld id="{B5CBF2BA-34AB-49F6-9E7B-AF5059ACB14D}" type="datetimeFigureOut">
              <a:rPr lang="zh-CN" altLang="en-US"/>
              <a:pPr>
                <a:defRPr/>
              </a:pPr>
              <a:t>2026/9/22</a:t>
            </a:fld>
            <a:endParaRPr lang="zh-CN" altLang="en-US"/>
          </a:p>
        </p:txBody>
      </p:sp>
      <p:sp>
        <p:nvSpPr>
          <p:cNvPr id="8" name="Footer Placeholder 4">
            <a:extLst>
              <a:ext uri="{FF2B5EF4-FFF2-40B4-BE49-F238E27FC236}">
                <a16:creationId xmlns:a16="http://schemas.microsoft.com/office/drawing/2014/main" id="{B04B5D11-38E2-441D-895B-8E48DF56CDBB}"/>
              </a:ext>
            </a:extLst>
          </p:cNvPr>
          <p:cNvSpPr>
            <a:spLocks noGrp="1"/>
          </p:cNvSpPr>
          <p:nvPr>
            <p:ph type="ftr" sz="quarter" idx="11"/>
          </p:nvPr>
        </p:nvSpPr>
        <p:spPr/>
        <p:txBody>
          <a:bodyPr/>
          <a:lstStyle>
            <a:lvl1pPr>
              <a:defRPr/>
            </a:lvl1pPr>
          </a:lstStyle>
          <a:p>
            <a:pPr>
              <a:defRPr/>
            </a:pPr>
            <a:endParaRPr lang="zh-CN" altLang="en-US"/>
          </a:p>
        </p:txBody>
      </p:sp>
      <p:sp>
        <p:nvSpPr>
          <p:cNvPr id="9" name="Slide Number Placeholder 5">
            <a:extLst>
              <a:ext uri="{FF2B5EF4-FFF2-40B4-BE49-F238E27FC236}">
                <a16:creationId xmlns:a16="http://schemas.microsoft.com/office/drawing/2014/main" id="{77879576-B837-4A2B-B419-AC87406BEC18}"/>
              </a:ext>
            </a:extLst>
          </p:cNvPr>
          <p:cNvSpPr>
            <a:spLocks noGrp="1"/>
          </p:cNvSpPr>
          <p:nvPr>
            <p:ph type="sldNum" sz="quarter" idx="12"/>
          </p:nvPr>
        </p:nvSpPr>
        <p:spPr/>
        <p:txBody>
          <a:bodyPr/>
          <a:lstStyle>
            <a:lvl1pPr>
              <a:defRPr/>
            </a:lvl1pPr>
          </a:lstStyle>
          <a:p>
            <a:pPr>
              <a:defRPr/>
            </a:pPr>
            <a:fld id="{6AFE3ED5-D0B4-41A9-9A6A-082A72D762BA}" type="slidenum">
              <a:rPr lang="zh-CN" altLang="en-US"/>
              <a:pPr>
                <a:defRPr/>
              </a:pPr>
              <a:t>‹#›</a:t>
            </a:fld>
            <a:endParaRPr lang="zh-CN" altLang="en-US"/>
          </a:p>
        </p:txBody>
      </p:sp>
    </p:spTree>
    <p:extLst>
      <p:ext uri="{BB962C8B-B14F-4D97-AF65-F5344CB8AC3E}">
        <p14:creationId xmlns:p14="http://schemas.microsoft.com/office/powerpoint/2010/main" val="20100841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a:extLst>
              <a:ext uri="{FF2B5EF4-FFF2-40B4-BE49-F238E27FC236}">
                <a16:creationId xmlns:a16="http://schemas.microsoft.com/office/drawing/2014/main" id="{65A73C8A-9251-47DD-94A7-B03E093ADFBB}"/>
              </a:ext>
            </a:extLst>
          </p:cNvPr>
          <p:cNvSpPr>
            <a:spLocks noGrp="1"/>
          </p:cNvSpPr>
          <p:nvPr>
            <p:ph type="dt" sz="half" idx="10"/>
          </p:nvPr>
        </p:nvSpPr>
        <p:spPr/>
        <p:txBody>
          <a:bodyPr/>
          <a:lstStyle>
            <a:lvl1pPr>
              <a:defRPr/>
            </a:lvl1pPr>
          </a:lstStyle>
          <a:p>
            <a:pPr>
              <a:defRPr/>
            </a:pPr>
            <a:fld id="{C29831D2-3D01-4B06-A0E3-6C964218BB7E}" type="datetimeFigureOut">
              <a:rPr lang="zh-CN" altLang="en-US"/>
              <a:pPr>
                <a:defRPr/>
              </a:pPr>
              <a:t>2026/9/22</a:t>
            </a:fld>
            <a:endParaRPr lang="zh-CN" altLang="en-US"/>
          </a:p>
        </p:txBody>
      </p:sp>
      <p:sp>
        <p:nvSpPr>
          <p:cNvPr id="4" name="Footer Placeholder 4">
            <a:extLst>
              <a:ext uri="{FF2B5EF4-FFF2-40B4-BE49-F238E27FC236}">
                <a16:creationId xmlns:a16="http://schemas.microsoft.com/office/drawing/2014/main" id="{1D50C0E4-A8FC-4602-A0D3-5CC798EF77C9}"/>
              </a:ext>
            </a:extLst>
          </p:cNvPr>
          <p:cNvSpPr>
            <a:spLocks noGrp="1"/>
          </p:cNvSpPr>
          <p:nvPr>
            <p:ph type="ftr" sz="quarter" idx="11"/>
          </p:nvPr>
        </p:nvSpPr>
        <p:spPr/>
        <p:txBody>
          <a:bodyPr/>
          <a:lstStyle>
            <a:lvl1pPr>
              <a:defRPr/>
            </a:lvl1pPr>
          </a:lstStyle>
          <a:p>
            <a:pPr>
              <a:defRPr/>
            </a:pPr>
            <a:endParaRPr lang="zh-CN" altLang="en-US"/>
          </a:p>
        </p:txBody>
      </p:sp>
      <p:sp>
        <p:nvSpPr>
          <p:cNvPr id="5" name="Slide Number Placeholder 5">
            <a:extLst>
              <a:ext uri="{FF2B5EF4-FFF2-40B4-BE49-F238E27FC236}">
                <a16:creationId xmlns:a16="http://schemas.microsoft.com/office/drawing/2014/main" id="{10891FA4-2B94-4920-A655-786AAF69DEFA}"/>
              </a:ext>
            </a:extLst>
          </p:cNvPr>
          <p:cNvSpPr>
            <a:spLocks noGrp="1"/>
          </p:cNvSpPr>
          <p:nvPr>
            <p:ph type="sldNum" sz="quarter" idx="12"/>
          </p:nvPr>
        </p:nvSpPr>
        <p:spPr/>
        <p:txBody>
          <a:bodyPr/>
          <a:lstStyle>
            <a:lvl1pPr>
              <a:defRPr/>
            </a:lvl1pPr>
          </a:lstStyle>
          <a:p>
            <a:pPr>
              <a:defRPr/>
            </a:pPr>
            <a:fld id="{61273F42-5E76-4FB2-B80B-014A09768DD7}" type="slidenum">
              <a:rPr lang="zh-CN" altLang="en-US"/>
              <a:pPr>
                <a:defRPr/>
              </a:pPr>
              <a:t>‹#›</a:t>
            </a:fld>
            <a:endParaRPr lang="zh-CN" altLang="en-US"/>
          </a:p>
        </p:txBody>
      </p:sp>
    </p:spTree>
    <p:extLst>
      <p:ext uri="{BB962C8B-B14F-4D97-AF65-F5344CB8AC3E}">
        <p14:creationId xmlns:p14="http://schemas.microsoft.com/office/powerpoint/2010/main" val="18388686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F05DA504-DAB8-49C3-AB4B-35153326BDF6}"/>
              </a:ext>
            </a:extLst>
          </p:cNvPr>
          <p:cNvSpPr>
            <a:spLocks noGrp="1"/>
          </p:cNvSpPr>
          <p:nvPr>
            <p:ph type="dt" sz="half" idx="10"/>
          </p:nvPr>
        </p:nvSpPr>
        <p:spPr/>
        <p:txBody>
          <a:bodyPr/>
          <a:lstStyle>
            <a:lvl1pPr>
              <a:defRPr/>
            </a:lvl1pPr>
          </a:lstStyle>
          <a:p>
            <a:pPr>
              <a:defRPr/>
            </a:pPr>
            <a:fld id="{D896EF43-204D-42A9-A5C1-58F3A0A1938D}" type="datetimeFigureOut">
              <a:rPr lang="zh-CN" altLang="en-US"/>
              <a:pPr>
                <a:defRPr/>
              </a:pPr>
              <a:t>2026/9/22</a:t>
            </a:fld>
            <a:endParaRPr lang="zh-CN" altLang="en-US"/>
          </a:p>
        </p:txBody>
      </p:sp>
      <p:sp>
        <p:nvSpPr>
          <p:cNvPr id="3" name="Footer Placeholder 4">
            <a:extLst>
              <a:ext uri="{FF2B5EF4-FFF2-40B4-BE49-F238E27FC236}">
                <a16:creationId xmlns:a16="http://schemas.microsoft.com/office/drawing/2014/main" id="{191CEC22-60DD-4EE4-8C98-DB4AE5C365FE}"/>
              </a:ext>
            </a:extLst>
          </p:cNvPr>
          <p:cNvSpPr>
            <a:spLocks noGrp="1"/>
          </p:cNvSpPr>
          <p:nvPr>
            <p:ph type="ftr" sz="quarter" idx="11"/>
          </p:nvPr>
        </p:nvSpPr>
        <p:spPr/>
        <p:txBody>
          <a:bodyPr/>
          <a:lstStyle>
            <a:lvl1pPr>
              <a:defRPr/>
            </a:lvl1pPr>
          </a:lstStyle>
          <a:p>
            <a:pPr>
              <a:defRPr/>
            </a:pPr>
            <a:endParaRPr lang="zh-CN" altLang="en-US"/>
          </a:p>
        </p:txBody>
      </p:sp>
      <p:sp>
        <p:nvSpPr>
          <p:cNvPr id="4" name="Slide Number Placeholder 5">
            <a:extLst>
              <a:ext uri="{FF2B5EF4-FFF2-40B4-BE49-F238E27FC236}">
                <a16:creationId xmlns:a16="http://schemas.microsoft.com/office/drawing/2014/main" id="{B3C3F328-2B42-40FC-A72F-DF2481DB98FB}"/>
              </a:ext>
            </a:extLst>
          </p:cNvPr>
          <p:cNvSpPr>
            <a:spLocks noGrp="1"/>
          </p:cNvSpPr>
          <p:nvPr>
            <p:ph type="sldNum" sz="quarter" idx="12"/>
          </p:nvPr>
        </p:nvSpPr>
        <p:spPr/>
        <p:txBody>
          <a:bodyPr/>
          <a:lstStyle>
            <a:lvl1pPr>
              <a:defRPr/>
            </a:lvl1pPr>
          </a:lstStyle>
          <a:p>
            <a:pPr>
              <a:defRPr/>
            </a:pPr>
            <a:fld id="{5A7C8A96-5142-416A-AC6E-26C1951068E3}" type="slidenum">
              <a:rPr lang="zh-CN" altLang="en-US"/>
              <a:pPr>
                <a:defRPr/>
              </a:pPr>
              <a:t>‹#›</a:t>
            </a:fld>
            <a:endParaRPr lang="zh-CN" altLang="en-US"/>
          </a:p>
        </p:txBody>
      </p:sp>
    </p:spTree>
    <p:extLst>
      <p:ext uri="{BB962C8B-B14F-4D97-AF65-F5344CB8AC3E}">
        <p14:creationId xmlns:p14="http://schemas.microsoft.com/office/powerpoint/2010/main" val="21460516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D47C53-2F43-4B7F-BEDA-79B016B42EFF}"/>
              </a:ext>
            </a:extLst>
          </p:cNvPr>
          <p:cNvSpPr>
            <a:spLocks noGrp="1"/>
          </p:cNvSpPr>
          <p:nvPr>
            <p:ph type="dt" sz="half" idx="10"/>
          </p:nvPr>
        </p:nvSpPr>
        <p:spPr>
          <a:xfrm>
            <a:off x="838200" y="6356351"/>
            <a:ext cx="2743200" cy="365125"/>
          </a:xfrm>
        </p:spPr>
        <p:txBody>
          <a:bodyPr/>
          <a:lstStyle>
            <a:lvl1pPr>
              <a:defRPr/>
            </a:lvl1pPr>
          </a:lstStyle>
          <a:p>
            <a:pPr>
              <a:defRPr/>
            </a:pPr>
            <a:fld id="{22102CAE-70A9-4E2D-82F5-9A4DBCB36ACA}" type="datetimeFigureOut">
              <a:rPr lang="zh-CN" altLang="en-US"/>
              <a:pPr>
                <a:defRPr/>
              </a:pPr>
              <a:t>2026/9/22</a:t>
            </a:fld>
            <a:endParaRPr lang="zh-CN" altLang="en-US"/>
          </a:p>
        </p:txBody>
      </p:sp>
      <p:sp>
        <p:nvSpPr>
          <p:cNvPr id="3" name="Footer Placeholder 2">
            <a:extLst>
              <a:ext uri="{FF2B5EF4-FFF2-40B4-BE49-F238E27FC236}">
                <a16:creationId xmlns:a16="http://schemas.microsoft.com/office/drawing/2014/main" id="{45E74734-9673-4775-A00B-B883569F3696}"/>
              </a:ext>
            </a:extLst>
          </p:cNvPr>
          <p:cNvSpPr>
            <a:spLocks noGrp="1"/>
          </p:cNvSpPr>
          <p:nvPr>
            <p:ph type="ftr" sz="quarter" idx="11"/>
          </p:nvPr>
        </p:nvSpPr>
        <p:spPr/>
        <p:txBody>
          <a:bodyPr/>
          <a:lstStyle>
            <a:lvl1pPr>
              <a:defRPr/>
            </a:lvl1pPr>
          </a:lstStyle>
          <a:p>
            <a:pPr>
              <a:defRPr/>
            </a:pPr>
            <a:endParaRPr lang="zh-CN" altLang="en-US"/>
          </a:p>
        </p:txBody>
      </p:sp>
      <p:sp>
        <p:nvSpPr>
          <p:cNvPr id="4" name="Slide Number Placeholder 3">
            <a:extLst>
              <a:ext uri="{FF2B5EF4-FFF2-40B4-BE49-F238E27FC236}">
                <a16:creationId xmlns:a16="http://schemas.microsoft.com/office/drawing/2014/main" id="{11BD2591-A8D1-4B8E-8215-19DBF7042D48}"/>
              </a:ext>
            </a:extLst>
          </p:cNvPr>
          <p:cNvSpPr>
            <a:spLocks noGrp="1"/>
          </p:cNvSpPr>
          <p:nvPr>
            <p:ph type="sldNum" sz="quarter" idx="12"/>
          </p:nvPr>
        </p:nvSpPr>
        <p:spPr>
          <a:xfrm>
            <a:off x="8610600" y="6356351"/>
            <a:ext cx="2743200" cy="365125"/>
          </a:xfrm>
        </p:spPr>
        <p:txBody>
          <a:bodyPr/>
          <a:lstStyle>
            <a:lvl1pPr>
              <a:defRPr/>
            </a:lvl1pPr>
          </a:lstStyle>
          <a:p>
            <a:pPr>
              <a:defRPr/>
            </a:pPr>
            <a:fld id="{B7C934C9-0A2C-469F-8FB0-35C9E402F64E}" type="slidenum">
              <a:rPr lang="zh-CN" altLang="en-US"/>
              <a:pPr>
                <a:defRPr/>
              </a:pPr>
              <a:t>‹#›</a:t>
            </a:fld>
            <a:endParaRPr lang="zh-CN" altLang="en-US"/>
          </a:p>
        </p:txBody>
      </p:sp>
    </p:spTree>
    <p:extLst>
      <p:ext uri="{BB962C8B-B14F-4D97-AF65-F5344CB8AC3E}">
        <p14:creationId xmlns:p14="http://schemas.microsoft.com/office/powerpoint/2010/main" val="37945552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3">
            <a:extLst>
              <a:ext uri="{FF2B5EF4-FFF2-40B4-BE49-F238E27FC236}">
                <a16:creationId xmlns:a16="http://schemas.microsoft.com/office/drawing/2014/main" id="{D1DACB2C-2662-4AC4-A044-382B3C3055E9}"/>
              </a:ext>
            </a:extLst>
          </p:cNvPr>
          <p:cNvSpPr>
            <a:spLocks noGrp="1"/>
          </p:cNvSpPr>
          <p:nvPr>
            <p:ph type="dt" sz="half" idx="10"/>
          </p:nvPr>
        </p:nvSpPr>
        <p:spPr/>
        <p:txBody>
          <a:bodyPr/>
          <a:lstStyle>
            <a:lvl1pPr>
              <a:defRPr/>
            </a:lvl1pPr>
          </a:lstStyle>
          <a:p>
            <a:pPr>
              <a:defRPr/>
            </a:pPr>
            <a:fld id="{C126597E-1414-4E88-9219-F75B59BEA754}" type="datetimeFigureOut">
              <a:rPr lang="zh-CN" altLang="en-US"/>
              <a:pPr>
                <a:defRPr/>
              </a:pPr>
              <a:t>2026/9/22</a:t>
            </a:fld>
            <a:endParaRPr lang="zh-CN" altLang="en-US"/>
          </a:p>
        </p:txBody>
      </p:sp>
      <p:sp>
        <p:nvSpPr>
          <p:cNvPr id="6" name="Footer Placeholder 4">
            <a:extLst>
              <a:ext uri="{FF2B5EF4-FFF2-40B4-BE49-F238E27FC236}">
                <a16:creationId xmlns:a16="http://schemas.microsoft.com/office/drawing/2014/main" id="{ED393C85-13FA-409F-B480-0F93E9856310}"/>
              </a:ext>
            </a:extLst>
          </p:cNvPr>
          <p:cNvSpPr>
            <a:spLocks noGrp="1"/>
          </p:cNvSpPr>
          <p:nvPr>
            <p:ph type="ftr" sz="quarter" idx="11"/>
          </p:nvPr>
        </p:nvSpPr>
        <p:spPr/>
        <p:txBody>
          <a:bodyPr/>
          <a:lstStyle>
            <a:lvl1pPr>
              <a:defRPr/>
            </a:lvl1pPr>
          </a:lstStyle>
          <a:p>
            <a:pPr>
              <a:defRPr/>
            </a:pPr>
            <a:endParaRPr lang="zh-CN" altLang="en-US"/>
          </a:p>
        </p:txBody>
      </p:sp>
      <p:sp>
        <p:nvSpPr>
          <p:cNvPr id="7" name="Slide Number Placeholder 5">
            <a:extLst>
              <a:ext uri="{FF2B5EF4-FFF2-40B4-BE49-F238E27FC236}">
                <a16:creationId xmlns:a16="http://schemas.microsoft.com/office/drawing/2014/main" id="{BA9D8EB3-4FAF-4BEB-8C0C-4877EABDFC11}"/>
              </a:ext>
            </a:extLst>
          </p:cNvPr>
          <p:cNvSpPr>
            <a:spLocks noGrp="1"/>
          </p:cNvSpPr>
          <p:nvPr>
            <p:ph type="sldNum" sz="quarter" idx="12"/>
          </p:nvPr>
        </p:nvSpPr>
        <p:spPr/>
        <p:txBody>
          <a:bodyPr/>
          <a:lstStyle>
            <a:lvl1pPr>
              <a:defRPr/>
            </a:lvl1pPr>
          </a:lstStyle>
          <a:p>
            <a:pPr>
              <a:defRPr/>
            </a:pPr>
            <a:fld id="{82D7D640-6347-414B-AC88-190E527124FF}" type="slidenum">
              <a:rPr lang="zh-CN" altLang="en-US"/>
              <a:pPr>
                <a:defRPr/>
              </a:pPr>
              <a:t>‹#›</a:t>
            </a:fld>
            <a:endParaRPr lang="zh-CN" altLang="en-US"/>
          </a:p>
        </p:txBody>
      </p:sp>
    </p:spTree>
    <p:extLst>
      <p:ext uri="{BB962C8B-B14F-4D97-AF65-F5344CB8AC3E}">
        <p14:creationId xmlns:p14="http://schemas.microsoft.com/office/powerpoint/2010/main" val="36226790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7"/>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3">
            <a:extLst>
              <a:ext uri="{FF2B5EF4-FFF2-40B4-BE49-F238E27FC236}">
                <a16:creationId xmlns:a16="http://schemas.microsoft.com/office/drawing/2014/main" id="{6A41D10F-3EEC-4FA0-A0B2-C131FE36D089}"/>
              </a:ext>
            </a:extLst>
          </p:cNvPr>
          <p:cNvSpPr>
            <a:spLocks noGrp="1"/>
          </p:cNvSpPr>
          <p:nvPr>
            <p:ph type="dt" sz="half" idx="10"/>
          </p:nvPr>
        </p:nvSpPr>
        <p:spPr/>
        <p:txBody>
          <a:bodyPr/>
          <a:lstStyle>
            <a:lvl1pPr>
              <a:defRPr/>
            </a:lvl1pPr>
          </a:lstStyle>
          <a:p>
            <a:pPr>
              <a:defRPr/>
            </a:pPr>
            <a:fld id="{FBA63361-EB11-46D2-999F-E370D3ACFBD2}" type="datetimeFigureOut">
              <a:rPr lang="zh-CN" altLang="en-US"/>
              <a:pPr>
                <a:defRPr/>
              </a:pPr>
              <a:t>2026/9/22</a:t>
            </a:fld>
            <a:endParaRPr lang="zh-CN" altLang="en-US"/>
          </a:p>
        </p:txBody>
      </p:sp>
      <p:sp>
        <p:nvSpPr>
          <p:cNvPr id="6" name="Footer Placeholder 4">
            <a:extLst>
              <a:ext uri="{FF2B5EF4-FFF2-40B4-BE49-F238E27FC236}">
                <a16:creationId xmlns:a16="http://schemas.microsoft.com/office/drawing/2014/main" id="{9916E7DF-E41D-4591-BE66-4994520A39EE}"/>
              </a:ext>
            </a:extLst>
          </p:cNvPr>
          <p:cNvSpPr>
            <a:spLocks noGrp="1"/>
          </p:cNvSpPr>
          <p:nvPr>
            <p:ph type="ftr" sz="quarter" idx="11"/>
          </p:nvPr>
        </p:nvSpPr>
        <p:spPr/>
        <p:txBody>
          <a:bodyPr/>
          <a:lstStyle>
            <a:lvl1pPr>
              <a:defRPr/>
            </a:lvl1pPr>
          </a:lstStyle>
          <a:p>
            <a:pPr>
              <a:defRPr/>
            </a:pPr>
            <a:endParaRPr lang="zh-CN" altLang="en-US"/>
          </a:p>
        </p:txBody>
      </p:sp>
      <p:sp>
        <p:nvSpPr>
          <p:cNvPr id="7" name="Slide Number Placeholder 5">
            <a:extLst>
              <a:ext uri="{FF2B5EF4-FFF2-40B4-BE49-F238E27FC236}">
                <a16:creationId xmlns:a16="http://schemas.microsoft.com/office/drawing/2014/main" id="{350A7687-6CBF-42F3-B5C4-FEA1C0F9E0F1}"/>
              </a:ext>
            </a:extLst>
          </p:cNvPr>
          <p:cNvSpPr>
            <a:spLocks noGrp="1"/>
          </p:cNvSpPr>
          <p:nvPr>
            <p:ph type="sldNum" sz="quarter" idx="12"/>
          </p:nvPr>
        </p:nvSpPr>
        <p:spPr/>
        <p:txBody>
          <a:bodyPr/>
          <a:lstStyle>
            <a:lvl1pPr>
              <a:defRPr/>
            </a:lvl1pPr>
          </a:lstStyle>
          <a:p>
            <a:pPr>
              <a:defRPr/>
            </a:pPr>
            <a:fld id="{ED731ED6-E3E4-4486-B64D-79DF5844B14A}" type="slidenum">
              <a:rPr lang="zh-CN" altLang="en-US"/>
              <a:pPr>
                <a:defRPr/>
              </a:pPr>
              <a:t>‹#›</a:t>
            </a:fld>
            <a:endParaRPr lang="zh-CN" altLang="en-US"/>
          </a:p>
        </p:txBody>
      </p:sp>
    </p:spTree>
    <p:extLst>
      <p:ext uri="{BB962C8B-B14F-4D97-AF65-F5344CB8AC3E}">
        <p14:creationId xmlns:p14="http://schemas.microsoft.com/office/powerpoint/2010/main" val="11894890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a:extLst>
              <a:ext uri="{FF2B5EF4-FFF2-40B4-BE49-F238E27FC236}">
                <a16:creationId xmlns:a16="http://schemas.microsoft.com/office/drawing/2014/main" id="{5B418632-9A2C-4CCB-8D35-EE15787676C0}"/>
              </a:ext>
            </a:extLst>
          </p:cNvPr>
          <p:cNvSpPr>
            <a:spLocks noGrp="1"/>
          </p:cNvSpPr>
          <p:nvPr>
            <p:ph type="dt" sz="half" idx="10"/>
          </p:nvPr>
        </p:nvSpPr>
        <p:spPr/>
        <p:txBody>
          <a:bodyPr/>
          <a:lstStyle>
            <a:lvl1pPr>
              <a:defRPr/>
            </a:lvl1pPr>
          </a:lstStyle>
          <a:p>
            <a:pPr>
              <a:defRPr/>
            </a:pPr>
            <a:fld id="{D1C1DF65-DB5F-453D-9E56-5AC6E10F238B}" type="datetimeFigureOut">
              <a:rPr lang="zh-CN" altLang="en-US"/>
              <a:pPr>
                <a:defRPr/>
              </a:pPr>
              <a:t>2026/9/22</a:t>
            </a:fld>
            <a:endParaRPr lang="zh-CN" altLang="en-US"/>
          </a:p>
        </p:txBody>
      </p:sp>
      <p:sp>
        <p:nvSpPr>
          <p:cNvPr id="5" name="Footer Placeholder 4">
            <a:extLst>
              <a:ext uri="{FF2B5EF4-FFF2-40B4-BE49-F238E27FC236}">
                <a16:creationId xmlns:a16="http://schemas.microsoft.com/office/drawing/2014/main" id="{74A15363-9676-42CF-8FE5-8D83E89B6D89}"/>
              </a:ext>
            </a:extLst>
          </p:cNvPr>
          <p:cNvSpPr>
            <a:spLocks noGrp="1"/>
          </p:cNvSpPr>
          <p:nvPr>
            <p:ph type="ftr" sz="quarter" idx="11"/>
          </p:nvPr>
        </p:nvSpPr>
        <p:spPr/>
        <p:txBody>
          <a:bodyPr/>
          <a:lstStyle>
            <a:lvl1pPr>
              <a:defRPr/>
            </a:lvl1pPr>
          </a:lstStyle>
          <a:p>
            <a:pPr>
              <a:defRPr/>
            </a:pPr>
            <a:endParaRPr lang="zh-CN" altLang="en-US"/>
          </a:p>
        </p:txBody>
      </p:sp>
      <p:sp>
        <p:nvSpPr>
          <p:cNvPr id="6" name="Slide Number Placeholder 5">
            <a:extLst>
              <a:ext uri="{FF2B5EF4-FFF2-40B4-BE49-F238E27FC236}">
                <a16:creationId xmlns:a16="http://schemas.microsoft.com/office/drawing/2014/main" id="{CB33FB6D-D14F-46ED-824B-1C35F324F0B4}"/>
              </a:ext>
            </a:extLst>
          </p:cNvPr>
          <p:cNvSpPr>
            <a:spLocks noGrp="1"/>
          </p:cNvSpPr>
          <p:nvPr>
            <p:ph type="sldNum" sz="quarter" idx="12"/>
          </p:nvPr>
        </p:nvSpPr>
        <p:spPr/>
        <p:txBody>
          <a:bodyPr/>
          <a:lstStyle>
            <a:lvl1pPr>
              <a:defRPr/>
            </a:lvl1pPr>
          </a:lstStyle>
          <a:p>
            <a:pPr>
              <a:defRPr/>
            </a:pPr>
            <a:fld id="{15AF2787-795F-4A93-9ACD-5126A3EEAF59}" type="slidenum">
              <a:rPr lang="zh-CN" altLang="en-US"/>
              <a:pPr>
                <a:defRPr/>
              </a:pPr>
              <a:t>‹#›</a:t>
            </a:fld>
            <a:endParaRPr lang="zh-CN" altLang="en-US"/>
          </a:p>
        </p:txBody>
      </p:sp>
    </p:spTree>
    <p:extLst>
      <p:ext uri="{BB962C8B-B14F-4D97-AF65-F5344CB8AC3E}">
        <p14:creationId xmlns:p14="http://schemas.microsoft.com/office/powerpoint/2010/main" val="24071763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a:extLst>
              <a:ext uri="{FF2B5EF4-FFF2-40B4-BE49-F238E27FC236}">
                <a16:creationId xmlns:a16="http://schemas.microsoft.com/office/drawing/2014/main" id="{BDB69528-C84A-44EB-8A88-5B85A11E10CC}"/>
              </a:ext>
            </a:extLst>
          </p:cNvPr>
          <p:cNvSpPr>
            <a:spLocks noGrp="1"/>
          </p:cNvSpPr>
          <p:nvPr>
            <p:ph type="dt" sz="half" idx="10"/>
          </p:nvPr>
        </p:nvSpPr>
        <p:spPr/>
        <p:txBody>
          <a:bodyPr/>
          <a:lstStyle>
            <a:lvl1pPr>
              <a:defRPr/>
            </a:lvl1pPr>
          </a:lstStyle>
          <a:p>
            <a:pPr>
              <a:defRPr/>
            </a:pPr>
            <a:fld id="{6F5532C3-1D9A-4BBE-AB06-1E498E2363E7}" type="datetimeFigureOut">
              <a:rPr lang="zh-CN" altLang="en-US"/>
              <a:pPr>
                <a:defRPr/>
              </a:pPr>
              <a:t>2026/9/22</a:t>
            </a:fld>
            <a:endParaRPr lang="zh-CN" altLang="en-US"/>
          </a:p>
        </p:txBody>
      </p:sp>
      <p:sp>
        <p:nvSpPr>
          <p:cNvPr id="5" name="Footer Placeholder 4">
            <a:extLst>
              <a:ext uri="{FF2B5EF4-FFF2-40B4-BE49-F238E27FC236}">
                <a16:creationId xmlns:a16="http://schemas.microsoft.com/office/drawing/2014/main" id="{C6E5AED8-DD0A-4558-94DE-AA943C7ED83D}"/>
              </a:ext>
            </a:extLst>
          </p:cNvPr>
          <p:cNvSpPr>
            <a:spLocks noGrp="1"/>
          </p:cNvSpPr>
          <p:nvPr>
            <p:ph type="ftr" sz="quarter" idx="11"/>
          </p:nvPr>
        </p:nvSpPr>
        <p:spPr/>
        <p:txBody>
          <a:bodyPr/>
          <a:lstStyle>
            <a:lvl1pPr>
              <a:defRPr/>
            </a:lvl1pPr>
          </a:lstStyle>
          <a:p>
            <a:pPr>
              <a:defRPr/>
            </a:pPr>
            <a:endParaRPr lang="zh-CN" altLang="en-US"/>
          </a:p>
        </p:txBody>
      </p:sp>
      <p:sp>
        <p:nvSpPr>
          <p:cNvPr id="6" name="Slide Number Placeholder 5">
            <a:extLst>
              <a:ext uri="{FF2B5EF4-FFF2-40B4-BE49-F238E27FC236}">
                <a16:creationId xmlns:a16="http://schemas.microsoft.com/office/drawing/2014/main" id="{84D2C948-0BCF-4F54-94B6-86A2BB3E51E5}"/>
              </a:ext>
            </a:extLst>
          </p:cNvPr>
          <p:cNvSpPr>
            <a:spLocks noGrp="1"/>
          </p:cNvSpPr>
          <p:nvPr>
            <p:ph type="sldNum" sz="quarter" idx="12"/>
          </p:nvPr>
        </p:nvSpPr>
        <p:spPr/>
        <p:txBody>
          <a:bodyPr/>
          <a:lstStyle>
            <a:lvl1pPr>
              <a:defRPr/>
            </a:lvl1pPr>
          </a:lstStyle>
          <a:p>
            <a:pPr>
              <a:defRPr/>
            </a:pPr>
            <a:fld id="{D088BCAF-67AD-4B32-82F6-7145A2F5BA78}" type="slidenum">
              <a:rPr lang="zh-CN" altLang="en-US"/>
              <a:pPr>
                <a:defRPr/>
              </a:pPr>
              <a:t>‹#›</a:t>
            </a:fld>
            <a:endParaRPr lang="zh-CN" altLang="en-US"/>
          </a:p>
        </p:txBody>
      </p:sp>
    </p:spTree>
    <p:extLst>
      <p:ext uri="{BB962C8B-B14F-4D97-AF65-F5344CB8AC3E}">
        <p14:creationId xmlns:p14="http://schemas.microsoft.com/office/powerpoint/2010/main" val="9363981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p:spPr>
        <p:txBody>
          <a:bodyPr/>
          <a:lstStyle/>
          <a:p>
            <a:r>
              <a:rPr lang="zh-CN" altLang="en-US"/>
              <a:t>单击此处编辑母版标题样式</a:t>
            </a:r>
          </a:p>
        </p:txBody>
      </p:sp>
      <p:sp>
        <p:nvSpPr>
          <p:cNvPr id="3" name="表格占位符 2"/>
          <p:cNvSpPr>
            <a:spLocks noGrp="1"/>
          </p:cNvSpPr>
          <p:nvPr>
            <p:ph type="tbl" idx="1"/>
          </p:nvPr>
        </p:nvSpPr>
        <p:spPr>
          <a:xfrm>
            <a:off x="914400" y="1981200"/>
            <a:ext cx="10363200" cy="4114800"/>
          </a:xfrm>
        </p:spPr>
        <p:txBody>
          <a:bodyPr rtlCol="0">
            <a:normAutofit/>
          </a:bodyPr>
          <a:lstStyle/>
          <a:p>
            <a:pPr lvl="0"/>
            <a:endParaRPr lang="zh-CN" altLang="en-US" noProof="0"/>
          </a:p>
        </p:txBody>
      </p:sp>
      <p:sp>
        <p:nvSpPr>
          <p:cNvPr id="4" name="Rectangle 4">
            <a:extLst>
              <a:ext uri="{FF2B5EF4-FFF2-40B4-BE49-F238E27FC236}">
                <a16:creationId xmlns:a16="http://schemas.microsoft.com/office/drawing/2014/main" id="{2931E20D-C5CC-4430-ACF4-6D5B2596B9B1}"/>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17BB9CD4-2CAD-45A4-A8C7-7E74CAFBBEDC}"/>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E54A948-180F-4772-9C8F-548F52B0996C}"/>
              </a:ext>
            </a:extLst>
          </p:cNvPr>
          <p:cNvSpPr>
            <a:spLocks noGrp="1" noChangeArrowheads="1"/>
          </p:cNvSpPr>
          <p:nvPr>
            <p:ph type="sldNum" sz="quarter" idx="12"/>
          </p:nvPr>
        </p:nvSpPr>
        <p:spPr/>
        <p:txBody>
          <a:bodyPr/>
          <a:lstStyle>
            <a:lvl1pPr>
              <a:defRPr/>
            </a:lvl1pPr>
          </a:lstStyle>
          <a:p>
            <a:pPr>
              <a:defRPr/>
            </a:pPr>
            <a:fld id="{537FE21B-43DC-4D50-8E9B-051CB6011942}" type="slidenum">
              <a:rPr lang="en-US" altLang="zh-CN"/>
              <a:pPr>
                <a:defRPr/>
              </a:pPr>
              <a:t>‹#›</a:t>
            </a:fld>
            <a:endParaRPr lang="en-US" altLang="zh-CN"/>
          </a:p>
        </p:txBody>
      </p:sp>
    </p:spTree>
    <p:extLst>
      <p:ext uri="{BB962C8B-B14F-4D97-AF65-F5344CB8AC3E}">
        <p14:creationId xmlns:p14="http://schemas.microsoft.com/office/powerpoint/2010/main" val="1014521682"/>
      </p:ext>
    </p:extLst>
  </p:cSld>
  <p:clrMapOvr>
    <a:masterClrMapping/>
  </p:clrMapOvr>
  <p:transition>
    <p:strips dir="rd"/>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54FC598-EFA1-48BB-A7A2-7DDE1C46494D}"/>
              </a:ext>
            </a:extLst>
          </p:cNvPr>
          <p:cNvSpPr>
            <a:spLocks noGrp="1"/>
          </p:cNvSpPr>
          <p:nvPr>
            <p:ph type="dt" sz="half" idx="10"/>
          </p:nvPr>
        </p:nvSpPr>
        <p:spPr/>
        <p:txBody>
          <a:bodyPr/>
          <a:lstStyle>
            <a:lvl1pPr>
              <a:defRPr/>
            </a:lvl1pPr>
          </a:lstStyle>
          <a:p>
            <a:pPr>
              <a:defRPr/>
            </a:pPr>
            <a:fld id="{9845F056-B77F-4DD6-AAA1-CDBE8C3D3FE5}" type="datetime1">
              <a:rPr lang="zh-CN" altLang="en-US"/>
              <a:pPr>
                <a:defRPr/>
              </a:pPr>
              <a:t>2026/9/22</a:t>
            </a:fld>
            <a:endParaRPr lang="zh-CN" altLang="en-US"/>
          </a:p>
        </p:txBody>
      </p:sp>
      <p:sp>
        <p:nvSpPr>
          <p:cNvPr id="5" name="页脚占位符 4">
            <a:extLst>
              <a:ext uri="{FF2B5EF4-FFF2-40B4-BE49-F238E27FC236}">
                <a16:creationId xmlns:a16="http://schemas.microsoft.com/office/drawing/2014/main" id="{2E512027-E6ED-4471-8AF5-7AC7B078F2A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8101BEC-76EF-4DF5-8587-C8F6BBD9B315}"/>
              </a:ext>
            </a:extLst>
          </p:cNvPr>
          <p:cNvSpPr>
            <a:spLocks noGrp="1"/>
          </p:cNvSpPr>
          <p:nvPr>
            <p:ph type="sldNum" sz="quarter" idx="12"/>
          </p:nvPr>
        </p:nvSpPr>
        <p:spPr/>
        <p:txBody>
          <a:bodyPr/>
          <a:lstStyle>
            <a:lvl1pPr>
              <a:defRPr/>
            </a:lvl1pPr>
          </a:lstStyle>
          <a:p>
            <a:pPr>
              <a:defRPr/>
            </a:pPr>
            <a:fld id="{5325B9D3-3C3F-4E2A-B73C-14EFC17312F9}" type="slidenum">
              <a:rPr lang="zh-CN" altLang="en-US"/>
              <a:pPr>
                <a:defRPr/>
              </a:pPr>
              <a:t>‹#›</a:t>
            </a:fld>
            <a:endParaRPr lang="zh-CN" altLang="en-US"/>
          </a:p>
        </p:txBody>
      </p:sp>
    </p:spTree>
    <p:extLst>
      <p:ext uri="{BB962C8B-B14F-4D97-AF65-F5344CB8AC3E}">
        <p14:creationId xmlns:p14="http://schemas.microsoft.com/office/powerpoint/2010/main" val="32785393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4286584-9C1E-4B12-A9A0-EF88FDE0FE94}"/>
              </a:ext>
            </a:extLst>
          </p:cNvPr>
          <p:cNvSpPr>
            <a:spLocks noGrp="1"/>
          </p:cNvSpPr>
          <p:nvPr>
            <p:ph type="dt" sz="half" idx="10"/>
          </p:nvPr>
        </p:nvSpPr>
        <p:spPr/>
        <p:txBody>
          <a:bodyPr/>
          <a:lstStyle>
            <a:lvl1pPr>
              <a:defRPr/>
            </a:lvl1pPr>
          </a:lstStyle>
          <a:p>
            <a:pPr>
              <a:defRPr/>
            </a:pPr>
            <a:fld id="{9845F056-B77F-4DD6-AAA1-CDBE8C3D3FE5}" type="datetime1">
              <a:rPr lang="zh-CN" altLang="en-US"/>
              <a:pPr>
                <a:defRPr/>
              </a:pPr>
              <a:t>2026/9/22</a:t>
            </a:fld>
            <a:endParaRPr lang="zh-CN" altLang="en-US"/>
          </a:p>
        </p:txBody>
      </p:sp>
      <p:sp>
        <p:nvSpPr>
          <p:cNvPr id="5" name="页脚占位符 4">
            <a:extLst>
              <a:ext uri="{FF2B5EF4-FFF2-40B4-BE49-F238E27FC236}">
                <a16:creationId xmlns:a16="http://schemas.microsoft.com/office/drawing/2014/main" id="{E9ACC944-99FC-4647-AF1C-D45B61084D3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7DD0AA99-FE5B-4093-9CEC-68DFB68977EC}"/>
              </a:ext>
            </a:extLst>
          </p:cNvPr>
          <p:cNvSpPr>
            <a:spLocks noGrp="1"/>
          </p:cNvSpPr>
          <p:nvPr>
            <p:ph type="sldNum" sz="quarter" idx="12"/>
          </p:nvPr>
        </p:nvSpPr>
        <p:spPr/>
        <p:txBody>
          <a:bodyPr/>
          <a:lstStyle>
            <a:lvl1pPr>
              <a:defRPr/>
            </a:lvl1pPr>
          </a:lstStyle>
          <a:p>
            <a:pPr>
              <a:defRPr/>
            </a:pPr>
            <a:fld id="{12DB738B-35EB-49C1-8976-4F5A948CB9C0}" type="slidenum">
              <a:rPr lang="zh-CN" altLang="en-US"/>
              <a:pPr>
                <a:defRPr/>
              </a:pPr>
              <a:t>‹#›</a:t>
            </a:fld>
            <a:endParaRPr lang="zh-CN" altLang="en-US"/>
          </a:p>
        </p:txBody>
      </p:sp>
    </p:spTree>
    <p:extLst>
      <p:ext uri="{BB962C8B-B14F-4D97-AF65-F5344CB8AC3E}">
        <p14:creationId xmlns:p14="http://schemas.microsoft.com/office/powerpoint/2010/main" val="38044526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B738C38-FF6E-482B-B06E-7AF1C30B8716}"/>
              </a:ext>
            </a:extLst>
          </p:cNvPr>
          <p:cNvSpPr>
            <a:spLocks noGrp="1"/>
          </p:cNvSpPr>
          <p:nvPr>
            <p:ph type="dt" sz="half" idx="10"/>
          </p:nvPr>
        </p:nvSpPr>
        <p:spPr/>
        <p:txBody>
          <a:bodyPr/>
          <a:lstStyle>
            <a:lvl1pPr>
              <a:defRPr/>
            </a:lvl1pPr>
          </a:lstStyle>
          <a:p>
            <a:pPr>
              <a:defRPr/>
            </a:pPr>
            <a:fld id="{9845F056-B77F-4DD6-AAA1-CDBE8C3D3FE5}" type="datetime1">
              <a:rPr lang="zh-CN" altLang="en-US"/>
              <a:pPr>
                <a:defRPr/>
              </a:pPr>
              <a:t>2026/9/22</a:t>
            </a:fld>
            <a:endParaRPr lang="zh-CN" altLang="en-US"/>
          </a:p>
        </p:txBody>
      </p:sp>
      <p:sp>
        <p:nvSpPr>
          <p:cNvPr id="5" name="页脚占位符 4">
            <a:extLst>
              <a:ext uri="{FF2B5EF4-FFF2-40B4-BE49-F238E27FC236}">
                <a16:creationId xmlns:a16="http://schemas.microsoft.com/office/drawing/2014/main" id="{5EC8C878-17A9-4C21-9FB1-4169147ECE2E}"/>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7931B4AA-B1D3-468C-8472-D39970A69884}"/>
              </a:ext>
            </a:extLst>
          </p:cNvPr>
          <p:cNvSpPr>
            <a:spLocks noGrp="1"/>
          </p:cNvSpPr>
          <p:nvPr>
            <p:ph type="sldNum" sz="quarter" idx="12"/>
          </p:nvPr>
        </p:nvSpPr>
        <p:spPr/>
        <p:txBody>
          <a:bodyPr/>
          <a:lstStyle>
            <a:lvl1pPr>
              <a:defRPr/>
            </a:lvl1pPr>
          </a:lstStyle>
          <a:p>
            <a:pPr>
              <a:defRPr/>
            </a:pPr>
            <a:fld id="{526EC797-D11D-4A86-ADDA-ABEC92595C88}" type="slidenum">
              <a:rPr lang="zh-CN" altLang="en-US"/>
              <a:pPr>
                <a:defRPr/>
              </a:pPr>
              <a:t>‹#›</a:t>
            </a:fld>
            <a:endParaRPr lang="zh-CN" altLang="en-US"/>
          </a:p>
        </p:txBody>
      </p:sp>
    </p:spTree>
    <p:extLst>
      <p:ext uri="{BB962C8B-B14F-4D97-AF65-F5344CB8AC3E}">
        <p14:creationId xmlns:p14="http://schemas.microsoft.com/office/powerpoint/2010/main" val="35815535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5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97600" y="1825625"/>
            <a:ext cx="515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3">
            <a:extLst>
              <a:ext uri="{FF2B5EF4-FFF2-40B4-BE49-F238E27FC236}">
                <a16:creationId xmlns:a16="http://schemas.microsoft.com/office/drawing/2014/main" id="{557DB503-39C6-48FC-B511-244D38427B50}"/>
              </a:ext>
            </a:extLst>
          </p:cNvPr>
          <p:cNvSpPr>
            <a:spLocks noGrp="1"/>
          </p:cNvSpPr>
          <p:nvPr>
            <p:ph type="dt" sz="half" idx="10"/>
          </p:nvPr>
        </p:nvSpPr>
        <p:spPr/>
        <p:txBody>
          <a:bodyPr/>
          <a:lstStyle>
            <a:lvl1pPr>
              <a:defRPr/>
            </a:lvl1pPr>
          </a:lstStyle>
          <a:p>
            <a:pPr>
              <a:defRPr/>
            </a:pPr>
            <a:fld id="{9845F056-B77F-4DD6-AAA1-CDBE8C3D3FE5}" type="datetime1">
              <a:rPr lang="zh-CN" altLang="en-US"/>
              <a:pPr>
                <a:defRPr/>
              </a:pPr>
              <a:t>2026/9/22</a:t>
            </a:fld>
            <a:endParaRPr lang="zh-CN" altLang="en-US"/>
          </a:p>
        </p:txBody>
      </p:sp>
      <p:sp>
        <p:nvSpPr>
          <p:cNvPr id="6" name="页脚占位符 4">
            <a:extLst>
              <a:ext uri="{FF2B5EF4-FFF2-40B4-BE49-F238E27FC236}">
                <a16:creationId xmlns:a16="http://schemas.microsoft.com/office/drawing/2014/main" id="{7D71DEBB-8196-48F7-899D-31BBB370704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16A03834-2AEB-47CD-9046-610162DB5A59}"/>
              </a:ext>
            </a:extLst>
          </p:cNvPr>
          <p:cNvSpPr>
            <a:spLocks noGrp="1"/>
          </p:cNvSpPr>
          <p:nvPr>
            <p:ph type="sldNum" sz="quarter" idx="12"/>
          </p:nvPr>
        </p:nvSpPr>
        <p:spPr/>
        <p:txBody>
          <a:bodyPr/>
          <a:lstStyle>
            <a:lvl1pPr>
              <a:defRPr/>
            </a:lvl1pPr>
          </a:lstStyle>
          <a:p>
            <a:pPr>
              <a:defRPr/>
            </a:pPr>
            <a:fld id="{455BBF29-ED59-41C6-89F7-7C363F1B494F}" type="slidenum">
              <a:rPr lang="zh-CN" altLang="en-US"/>
              <a:pPr>
                <a:defRPr/>
              </a:pPr>
              <a:t>‹#›</a:t>
            </a:fld>
            <a:endParaRPr lang="zh-CN" altLang="en-US"/>
          </a:p>
        </p:txBody>
      </p:sp>
    </p:spTree>
    <p:extLst>
      <p:ext uri="{BB962C8B-B14F-4D97-AF65-F5344CB8AC3E}">
        <p14:creationId xmlns:p14="http://schemas.microsoft.com/office/powerpoint/2010/main" val="2355871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40318" y="2505075"/>
            <a:ext cx="5158316"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71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a:extLst>
              <a:ext uri="{FF2B5EF4-FFF2-40B4-BE49-F238E27FC236}">
                <a16:creationId xmlns:a16="http://schemas.microsoft.com/office/drawing/2014/main" id="{F02B2839-5854-4E12-BB7B-C3CC005BC8B9}"/>
              </a:ext>
            </a:extLst>
          </p:cNvPr>
          <p:cNvSpPr>
            <a:spLocks noGrp="1"/>
          </p:cNvSpPr>
          <p:nvPr>
            <p:ph type="dt" sz="half" idx="10"/>
          </p:nvPr>
        </p:nvSpPr>
        <p:spPr/>
        <p:txBody>
          <a:bodyPr/>
          <a:lstStyle>
            <a:lvl1pPr>
              <a:defRPr/>
            </a:lvl1pPr>
          </a:lstStyle>
          <a:p>
            <a:pPr>
              <a:defRPr/>
            </a:pPr>
            <a:fld id="{9845F056-B77F-4DD6-AAA1-CDBE8C3D3FE5}" type="datetime1">
              <a:rPr lang="zh-CN" altLang="en-US"/>
              <a:pPr>
                <a:defRPr/>
              </a:pPr>
              <a:t>2026/9/22</a:t>
            </a:fld>
            <a:endParaRPr lang="zh-CN" altLang="en-US"/>
          </a:p>
        </p:txBody>
      </p:sp>
      <p:sp>
        <p:nvSpPr>
          <p:cNvPr id="8" name="页脚占位符 4">
            <a:extLst>
              <a:ext uri="{FF2B5EF4-FFF2-40B4-BE49-F238E27FC236}">
                <a16:creationId xmlns:a16="http://schemas.microsoft.com/office/drawing/2014/main" id="{78B01505-CA5E-4D54-8E2B-C0875C864395}"/>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3CE527F1-F29F-4F24-9EAB-DDA8AAAC7210}"/>
              </a:ext>
            </a:extLst>
          </p:cNvPr>
          <p:cNvSpPr>
            <a:spLocks noGrp="1"/>
          </p:cNvSpPr>
          <p:nvPr>
            <p:ph type="sldNum" sz="quarter" idx="12"/>
          </p:nvPr>
        </p:nvSpPr>
        <p:spPr/>
        <p:txBody>
          <a:bodyPr/>
          <a:lstStyle>
            <a:lvl1pPr>
              <a:defRPr/>
            </a:lvl1pPr>
          </a:lstStyle>
          <a:p>
            <a:pPr>
              <a:defRPr/>
            </a:pPr>
            <a:fld id="{392D2831-F08A-4E90-919F-99C7A9A0B5C8}" type="slidenum">
              <a:rPr lang="zh-CN" altLang="en-US"/>
              <a:pPr>
                <a:defRPr/>
              </a:pPr>
              <a:t>‹#›</a:t>
            </a:fld>
            <a:endParaRPr lang="zh-CN" altLang="en-US"/>
          </a:p>
        </p:txBody>
      </p:sp>
    </p:spTree>
    <p:extLst>
      <p:ext uri="{BB962C8B-B14F-4D97-AF65-F5344CB8AC3E}">
        <p14:creationId xmlns:p14="http://schemas.microsoft.com/office/powerpoint/2010/main" val="7300562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3FC75137-E0D3-4FD6-8A0A-B469A7D363BD}"/>
              </a:ext>
            </a:extLst>
          </p:cNvPr>
          <p:cNvSpPr>
            <a:spLocks noGrp="1"/>
          </p:cNvSpPr>
          <p:nvPr>
            <p:ph type="dt" sz="half" idx="10"/>
          </p:nvPr>
        </p:nvSpPr>
        <p:spPr/>
        <p:txBody>
          <a:bodyPr/>
          <a:lstStyle>
            <a:lvl1pPr>
              <a:defRPr/>
            </a:lvl1pPr>
          </a:lstStyle>
          <a:p>
            <a:pPr>
              <a:defRPr/>
            </a:pPr>
            <a:fld id="{9845F056-B77F-4DD6-AAA1-CDBE8C3D3FE5}" type="datetime1">
              <a:rPr lang="zh-CN" altLang="en-US"/>
              <a:pPr>
                <a:defRPr/>
              </a:pPr>
              <a:t>2026/9/22</a:t>
            </a:fld>
            <a:endParaRPr lang="zh-CN" altLang="en-US"/>
          </a:p>
        </p:txBody>
      </p:sp>
      <p:sp>
        <p:nvSpPr>
          <p:cNvPr id="4" name="页脚占位符 4">
            <a:extLst>
              <a:ext uri="{FF2B5EF4-FFF2-40B4-BE49-F238E27FC236}">
                <a16:creationId xmlns:a16="http://schemas.microsoft.com/office/drawing/2014/main" id="{314CFFA3-EE52-4D8B-86CF-9D2A04B424E2}"/>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DAC28F73-BADC-4576-8F72-2EE02AC6BF10}"/>
              </a:ext>
            </a:extLst>
          </p:cNvPr>
          <p:cNvSpPr>
            <a:spLocks noGrp="1"/>
          </p:cNvSpPr>
          <p:nvPr>
            <p:ph type="sldNum" sz="quarter" idx="12"/>
          </p:nvPr>
        </p:nvSpPr>
        <p:spPr/>
        <p:txBody>
          <a:bodyPr/>
          <a:lstStyle>
            <a:lvl1pPr>
              <a:defRPr/>
            </a:lvl1pPr>
          </a:lstStyle>
          <a:p>
            <a:pPr>
              <a:defRPr/>
            </a:pPr>
            <a:fld id="{A23745E5-7F15-40A0-AD19-F5C797F1F787}" type="slidenum">
              <a:rPr lang="zh-CN" altLang="en-US"/>
              <a:pPr>
                <a:defRPr/>
              </a:pPr>
              <a:t>‹#›</a:t>
            </a:fld>
            <a:endParaRPr lang="zh-CN" altLang="en-US"/>
          </a:p>
        </p:txBody>
      </p:sp>
    </p:spTree>
    <p:extLst>
      <p:ext uri="{BB962C8B-B14F-4D97-AF65-F5344CB8AC3E}">
        <p14:creationId xmlns:p14="http://schemas.microsoft.com/office/powerpoint/2010/main" val="36710148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1F351F42-6C1B-45BF-9133-8AEBB9263CC9}"/>
              </a:ext>
            </a:extLst>
          </p:cNvPr>
          <p:cNvSpPr>
            <a:spLocks noGrp="1"/>
          </p:cNvSpPr>
          <p:nvPr>
            <p:ph type="dt" sz="half" idx="10"/>
          </p:nvPr>
        </p:nvSpPr>
        <p:spPr/>
        <p:txBody>
          <a:bodyPr/>
          <a:lstStyle>
            <a:lvl1pPr>
              <a:defRPr/>
            </a:lvl1pPr>
          </a:lstStyle>
          <a:p>
            <a:pPr>
              <a:defRPr/>
            </a:pPr>
            <a:fld id="{9845F056-B77F-4DD6-AAA1-CDBE8C3D3FE5}" type="datetime1">
              <a:rPr lang="zh-CN" altLang="en-US"/>
              <a:pPr>
                <a:defRPr/>
              </a:pPr>
              <a:t>2026/9/22</a:t>
            </a:fld>
            <a:endParaRPr lang="zh-CN" altLang="en-US"/>
          </a:p>
        </p:txBody>
      </p:sp>
      <p:sp>
        <p:nvSpPr>
          <p:cNvPr id="3" name="页脚占位符 4">
            <a:extLst>
              <a:ext uri="{FF2B5EF4-FFF2-40B4-BE49-F238E27FC236}">
                <a16:creationId xmlns:a16="http://schemas.microsoft.com/office/drawing/2014/main" id="{7EFBFB53-8CFD-4571-A535-4454D08343BE}"/>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5BA9EEA3-890C-4884-88A7-206047688C10}"/>
              </a:ext>
            </a:extLst>
          </p:cNvPr>
          <p:cNvSpPr>
            <a:spLocks noGrp="1"/>
          </p:cNvSpPr>
          <p:nvPr>
            <p:ph type="sldNum" sz="quarter" idx="12"/>
          </p:nvPr>
        </p:nvSpPr>
        <p:spPr/>
        <p:txBody>
          <a:bodyPr/>
          <a:lstStyle>
            <a:lvl1pPr>
              <a:defRPr/>
            </a:lvl1pPr>
          </a:lstStyle>
          <a:p>
            <a:pPr>
              <a:defRPr/>
            </a:pPr>
            <a:fld id="{CB4B478B-AB98-42CC-8A49-6C15226662A8}" type="slidenum">
              <a:rPr lang="zh-CN" altLang="en-US"/>
              <a:pPr>
                <a:defRPr/>
              </a:pPr>
              <a:t>‹#›</a:t>
            </a:fld>
            <a:endParaRPr lang="zh-CN" altLang="en-US"/>
          </a:p>
        </p:txBody>
      </p:sp>
    </p:spTree>
    <p:extLst>
      <p:ext uri="{BB962C8B-B14F-4D97-AF65-F5344CB8AC3E}">
        <p14:creationId xmlns:p14="http://schemas.microsoft.com/office/powerpoint/2010/main" val="16267448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875A9082-55CA-4EC0-AED5-D1961AF6984D}"/>
              </a:ext>
            </a:extLst>
          </p:cNvPr>
          <p:cNvSpPr>
            <a:spLocks noGrp="1"/>
          </p:cNvSpPr>
          <p:nvPr>
            <p:ph type="dt" sz="half" idx="10"/>
          </p:nvPr>
        </p:nvSpPr>
        <p:spPr/>
        <p:txBody>
          <a:bodyPr/>
          <a:lstStyle>
            <a:lvl1pPr>
              <a:defRPr/>
            </a:lvl1pPr>
          </a:lstStyle>
          <a:p>
            <a:pPr>
              <a:defRPr/>
            </a:pPr>
            <a:fld id="{9845F056-B77F-4DD6-AAA1-CDBE8C3D3FE5}" type="datetime1">
              <a:rPr lang="zh-CN" altLang="en-US"/>
              <a:pPr>
                <a:defRPr/>
              </a:pPr>
              <a:t>2026/9/22</a:t>
            </a:fld>
            <a:endParaRPr lang="zh-CN" altLang="en-US"/>
          </a:p>
        </p:txBody>
      </p:sp>
      <p:sp>
        <p:nvSpPr>
          <p:cNvPr id="6" name="页脚占位符 4">
            <a:extLst>
              <a:ext uri="{FF2B5EF4-FFF2-40B4-BE49-F238E27FC236}">
                <a16:creationId xmlns:a16="http://schemas.microsoft.com/office/drawing/2014/main" id="{2D55B5C5-2C51-4C32-84E8-964B2DA423A7}"/>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5F6812CD-50A6-430E-AAA4-E2AC0E8DFA82}"/>
              </a:ext>
            </a:extLst>
          </p:cNvPr>
          <p:cNvSpPr>
            <a:spLocks noGrp="1"/>
          </p:cNvSpPr>
          <p:nvPr>
            <p:ph type="sldNum" sz="quarter" idx="12"/>
          </p:nvPr>
        </p:nvSpPr>
        <p:spPr/>
        <p:txBody>
          <a:bodyPr/>
          <a:lstStyle>
            <a:lvl1pPr>
              <a:defRPr/>
            </a:lvl1pPr>
          </a:lstStyle>
          <a:p>
            <a:pPr>
              <a:defRPr/>
            </a:pPr>
            <a:fld id="{52351230-6040-4087-ACEA-E83B176689F7}" type="slidenum">
              <a:rPr lang="zh-CN" altLang="en-US"/>
              <a:pPr>
                <a:defRPr/>
              </a:pPr>
              <a:t>‹#›</a:t>
            </a:fld>
            <a:endParaRPr lang="zh-CN" altLang="en-US"/>
          </a:p>
        </p:txBody>
      </p:sp>
    </p:spTree>
    <p:extLst>
      <p:ext uri="{BB962C8B-B14F-4D97-AF65-F5344CB8AC3E}">
        <p14:creationId xmlns:p14="http://schemas.microsoft.com/office/powerpoint/2010/main" val="22278557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717" y="987426"/>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CCF6C2A5-4BDA-476A-BB12-F92F62F5AE2D}"/>
              </a:ext>
            </a:extLst>
          </p:cNvPr>
          <p:cNvSpPr>
            <a:spLocks noGrp="1"/>
          </p:cNvSpPr>
          <p:nvPr>
            <p:ph type="dt" sz="half" idx="10"/>
          </p:nvPr>
        </p:nvSpPr>
        <p:spPr/>
        <p:txBody>
          <a:bodyPr/>
          <a:lstStyle>
            <a:lvl1pPr>
              <a:defRPr/>
            </a:lvl1pPr>
          </a:lstStyle>
          <a:p>
            <a:pPr>
              <a:defRPr/>
            </a:pPr>
            <a:fld id="{9845F056-B77F-4DD6-AAA1-CDBE8C3D3FE5}" type="datetime1">
              <a:rPr lang="zh-CN" altLang="en-US"/>
              <a:pPr>
                <a:defRPr/>
              </a:pPr>
              <a:t>2026/9/22</a:t>
            </a:fld>
            <a:endParaRPr lang="zh-CN" altLang="en-US"/>
          </a:p>
        </p:txBody>
      </p:sp>
      <p:sp>
        <p:nvSpPr>
          <p:cNvPr id="6" name="页脚占位符 4">
            <a:extLst>
              <a:ext uri="{FF2B5EF4-FFF2-40B4-BE49-F238E27FC236}">
                <a16:creationId xmlns:a16="http://schemas.microsoft.com/office/drawing/2014/main" id="{EE391394-01D0-4B56-AE62-B3708967F3D9}"/>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82C1314B-DD1F-40AD-BE70-58968E18D4CA}"/>
              </a:ext>
            </a:extLst>
          </p:cNvPr>
          <p:cNvSpPr>
            <a:spLocks noGrp="1"/>
          </p:cNvSpPr>
          <p:nvPr>
            <p:ph type="sldNum" sz="quarter" idx="12"/>
          </p:nvPr>
        </p:nvSpPr>
        <p:spPr/>
        <p:txBody>
          <a:bodyPr/>
          <a:lstStyle>
            <a:lvl1pPr>
              <a:defRPr/>
            </a:lvl1pPr>
          </a:lstStyle>
          <a:p>
            <a:pPr>
              <a:defRPr/>
            </a:pPr>
            <a:fld id="{03A22359-73C9-425E-A29F-41EFCDC53CEA}" type="slidenum">
              <a:rPr lang="zh-CN" altLang="en-US"/>
              <a:pPr>
                <a:defRPr/>
              </a:pPr>
              <a:t>‹#›</a:t>
            </a:fld>
            <a:endParaRPr lang="zh-CN" altLang="en-US"/>
          </a:p>
        </p:txBody>
      </p:sp>
    </p:spTree>
    <p:extLst>
      <p:ext uri="{BB962C8B-B14F-4D97-AF65-F5344CB8AC3E}">
        <p14:creationId xmlns:p14="http://schemas.microsoft.com/office/powerpoint/2010/main" val="15684510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7C0188A-22EC-4ECA-8681-130DFF7749B0}"/>
              </a:ext>
            </a:extLst>
          </p:cNvPr>
          <p:cNvSpPr>
            <a:spLocks noGrp="1"/>
          </p:cNvSpPr>
          <p:nvPr>
            <p:ph type="dt" sz="half" idx="10"/>
          </p:nvPr>
        </p:nvSpPr>
        <p:spPr/>
        <p:txBody>
          <a:bodyPr/>
          <a:lstStyle>
            <a:lvl1pPr>
              <a:defRPr/>
            </a:lvl1pPr>
          </a:lstStyle>
          <a:p>
            <a:pPr>
              <a:defRPr/>
            </a:pPr>
            <a:fld id="{9845F056-B77F-4DD6-AAA1-CDBE8C3D3FE5}" type="datetime1">
              <a:rPr lang="zh-CN" altLang="en-US"/>
              <a:pPr>
                <a:defRPr/>
              </a:pPr>
              <a:t>2026/9/22</a:t>
            </a:fld>
            <a:endParaRPr lang="zh-CN" altLang="en-US"/>
          </a:p>
        </p:txBody>
      </p:sp>
      <p:sp>
        <p:nvSpPr>
          <p:cNvPr id="5" name="页脚占位符 4">
            <a:extLst>
              <a:ext uri="{FF2B5EF4-FFF2-40B4-BE49-F238E27FC236}">
                <a16:creationId xmlns:a16="http://schemas.microsoft.com/office/drawing/2014/main" id="{235D2544-50A0-4DAC-A78A-CCABABD94ECA}"/>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FB3F9A2-867A-4D1D-A8F9-56EA0FB19A74}"/>
              </a:ext>
            </a:extLst>
          </p:cNvPr>
          <p:cNvSpPr>
            <a:spLocks noGrp="1"/>
          </p:cNvSpPr>
          <p:nvPr>
            <p:ph type="sldNum" sz="quarter" idx="12"/>
          </p:nvPr>
        </p:nvSpPr>
        <p:spPr/>
        <p:txBody>
          <a:bodyPr/>
          <a:lstStyle>
            <a:lvl1pPr>
              <a:defRPr/>
            </a:lvl1pPr>
          </a:lstStyle>
          <a:p>
            <a:pPr>
              <a:defRPr/>
            </a:pPr>
            <a:fld id="{156B05AF-933E-4B0A-872A-21F41BC9E4D9}" type="slidenum">
              <a:rPr lang="zh-CN" altLang="en-US"/>
              <a:pPr>
                <a:defRPr/>
              </a:pPr>
              <a:t>‹#›</a:t>
            </a:fld>
            <a:endParaRPr lang="zh-CN" altLang="en-US"/>
          </a:p>
        </p:txBody>
      </p:sp>
    </p:spTree>
    <p:extLst>
      <p:ext uri="{BB962C8B-B14F-4D97-AF65-F5344CB8AC3E}">
        <p14:creationId xmlns:p14="http://schemas.microsoft.com/office/powerpoint/2010/main" val="256882172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6835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4EBFC75-648D-45B3-BFF6-2D8F8DE581D3}"/>
              </a:ext>
            </a:extLst>
          </p:cNvPr>
          <p:cNvSpPr>
            <a:spLocks noGrp="1"/>
          </p:cNvSpPr>
          <p:nvPr>
            <p:ph type="dt" sz="half" idx="10"/>
          </p:nvPr>
        </p:nvSpPr>
        <p:spPr/>
        <p:txBody>
          <a:bodyPr/>
          <a:lstStyle>
            <a:lvl1pPr>
              <a:defRPr/>
            </a:lvl1pPr>
          </a:lstStyle>
          <a:p>
            <a:pPr>
              <a:defRPr/>
            </a:pPr>
            <a:fld id="{9845F056-B77F-4DD6-AAA1-CDBE8C3D3FE5}" type="datetime1">
              <a:rPr lang="zh-CN" altLang="en-US"/>
              <a:pPr>
                <a:defRPr/>
              </a:pPr>
              <a:t>2026/9/22</a:t>
            </a:fld>
            <a:endParaRPr lang="zh-CN" altLang="en-US"/>
          </a:p>
        </p:txBody>
      </p:sp>
      <p:sp>
        <p:nvSpPr>
          <p:cNvPr id="5" name="页脚占位符 4">
            <a:extLst>
              <a:ext uri="{FF2B5EF4-FFF2-40B4-BE49-F238E27FC236}">
                <a16:creationId xmlns:a16="http://schemas.microsoft.com/office/drawing/2014/main" id="{C0C72B2D-CFA2-4D7C-AB50-A1885A7AF7FA}"/>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9BAC151A-5B0C-4B29-B759-FD0755E2C2F5}"/>
              </a:ext>
            </a:extLst>
          </p:cNvPr>
          <p:cNvSpPr>
            <a:spLocks noGrp="1"/>
          </p:cNvSpPr>
          <p:nvPr>
            <p:ph type="sldNum" sz="quarter" idx="12"/>
          </p:nvPr>
        </p:nvSpPr>
        <p:spPr/>
        <p:txBody>
          <a:bodyPr/>
          <a:lstStyle>
            <a:lvl1pPr>
              <a:defRPr/>
            </a:lvl1pPr>
          </a:lstStyle>
          <a:p>
            <a:pPr>
              <a:defRPr/>
            </a:pPr>
            <a:fld id="{3140992F-87C8-42EA-A141-CC03A49CEF15}" type="slidenum">
              <a:rPr lang="zh-CN" altLang="en-US"/>
              <a:pPr>
                <a:defRPr/>
              </a:pPr>
              <a:t>‹#›</a:t>
            </a:fld>
            <a:endParaRPr lang="zh-CN" altLang="en-US"/>
          </a:p>
        </p:txBody>
      </p:sp>
    </p:spTree>
    <p:extLst>
      <p:ext uri="{BB962C8B-B14F-4D97-AF65-F5344CB8AC3E}">
        <p14:creationId xmlns:p14="http://schemas.microsoft.com/office/powerpoint/2010/main" val="2483290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fld id="{4ADFD9FE-CE8C-4BA9-BEE9-DF92510AADF4}" type="datetimeFigureOut">
              <a:rPr lang="zh-CN" altLang="en-US" smtClean="0"/>
              <a:pPr>
                <a:defRPr/>
              </a:pPr>
              <a:t>2026/9/22</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D82EE8C8-C9F3-4684-8CA2-AAAA25C0B05E}" type="slidenum">
              <a:rPr lang="zh-CN" altLang="en-US" smtClean="0"/>
              <a:pPr>
                <a:defRPr/>
              </a:pPr>
              <a:t>‹#›</a:t>
            </a:fld>
            <a:endParaRPr lang="zh-CN" altLang="en-US"/>
          </a:p>
        </p:txBody>
      </p:sp>
    </p:spTree>
    <p:extLst>
      <p:ext uri="{BB962C8B-B14F-4D97-AF65-F5344CB8AC3E}">
        <p14:creationId xmlns:p14="http://schemas.microsoft.com/office/powerpoint/2010/main" val="11352360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460B1323-1D61-4FD6-8DA0-FBF48089CB1E}" type="datetimeFigureOut">
              <a:rPr lang="zh-CN" altLang="en-US" smtClean="0"/>
              <a:pPr>
                <a:defRPr/>
              </a:pPr>
              <a:t>2026/9/22</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E83AB622-CF6B-42ED-8F59-D313148579AD}" type="slidenum">
              <a:rPr lang="zh-CN" altLang="en-US" smtClean="0"/>
              <a:pPr>
                <a:defRPr/>
              </a:pPr>
              <a:t>‹#›</a:t>
            </a:fld>
            <a:endParaRPr lang="zh-CN" altLang="en-US"/>
          </a:p>
        </p:txBody>
      </p:sp>
    </p:spTree>
    <p:extLst>
      <p:ext uri="{BB962C8B-B14F-4D97-AF65-F5344CB8AC3E}">
        <p14:creationId xmlns:p14="http://schemas.microsoft.com/office/powerpoint/2010/main" val="63541732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fld id="{B1143522-AC1A-434B-AA7C-9EA4D2A34C9E}" type="datetimeFigureOut">
              <a:rPr lang="zh-CN" altLang="en-US" smtClean="0"/>
              <a:pPr>
                <a:defRPr/>
              </a:pPr>
              <a:t>2026/9/22</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939C940B-79FC-4F9F-974B-3F65CFFE6367}" type="slidenum">
              <a:rPr lang="zh-CN" altLang="en-US" smtClean="0"/>
              <a:pPr>
                <a:defRPr/>
              </a:pPr>
              <a:t>‹#›</a:t>
            </a:fld>
            <a:endParaRPr lang="zh-CN" altLang="en-US"/>
          </a:p>
        </p:txBody>
      </p:sp>
    </p:spTree>
    <p:extLst>
      <p:ext uri="{BB962C8B-B14F-4D97-AF65-F5344CB8AC3E}">
        <p14:creationId xmlns:p14="http://schemas.microsoft.com/office/powerpoint/2010/main" val="28617565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fld id="{34AE34AE-497E-4D1E-BFB0-72B9FABA1BB8}" type="datetimeFigureOut">
              <a:rPr lang="zh-CN" altLang="en-US" smtClean="0"/>
              <a:pPr>
                <a:defRPr/>
              </a:pPr>
              <a:t>2026/9/22</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61842F75-B0CC-4BC7-BA00-BE6E92BC5AF8}" type="slidenum">
              <a:rPr lang="zh-CN" altLang="en-US" smtClean="0"/>
              <a:pPr>
                <a:defRPr/>
              </a:pPr>
              <a:t>‹#›</a:t>
            </a:fld>
            <a:endParaRPr lang="zh-CN" altLang="en-US"/>
          </a:p>
        </p:txBody>
      </p:sp>
    </p:spTree>
    <p:extLst>
      <p:ext uri="{BB962C8B-B14F-4D97-AF65-F5344CB8AC3E}">
        <p14:creationId xmlns:p14="http://schemas.microsoft.com/office/powerpoint/2010/main" val="5346630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fld id="{DC69E7CD-5FEC-4157-9488-AD12A2B5DCB2}" type="datetimeFigureOut">
              <a:rPr lang="zh-CN" altLang="en-US" smtClean="0"/>
              <a:pPr>
                <a:defRPr/>
              </a:pPr>
              <a:t>2026/9/22</a:t>
            </a:fld>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pPr>
              <a:defRPr/>
            </a:pPr>
            <a:fld id="{A2D42F27-200C-438F-9E58-5B09F1C6C340}" type="slidenum">
              <a:rPr lang="zh-CN" altLang="en-US" smtClean="0"/>
              <a:pPr>
                <a:defRPr/>
              </a:pPr>
              <a:t>‹#›</a:t>
            </a:fld>
            <a:endParaRPr lang="zh-CN" altLang="en-US"/>
          </a:p>
        </p:txBody>
      </p:sp>
    </p:spTree>
    <p:extLst>
      <p:ext uri="{BB962C8B-B14F-4D97-AF65-F5344CB8AC3E}">
        <p14:creationId xmlns:p14="http://schemas.microsoft.com/office/powerpoint/2010/main" val="28104058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a:defRPr/>
            </a:pPr>
            <a:fld id="{ADC4E17F-BF7A-413B-B8DE-EAD0ED05BF85}" type="datetimeFigureOut">
              <a:rPr lang="zh-CN" altLang="en-US" smtClean="0"/>
              <a:pPr>
                <a:defRPr/>
              </a:pPr>
              <a:t>2026/9/22</a:t>
            </a:fld>
            <a:endParaRPr lang="zh-CN" altLang="en-US"/>
          </a:p>
        </p:txBody>
      </p:sp>
      <p:sp>
        <p:nvSpPr>
          <p:cNvPr id="4" name="Footer Placeholder 3"/>
          <p:cNvSpPr>
            <a:spLocks noGrp="1"/>
          </p:cNvSpPr>
          <p:nvPr>
            <p:ph type="ftr" sz="quarter" idx="11"/>
          </p:nvPr>
        </p:nvSpPr>
        <p:spPr/>
        <p:txBody>
          <a:bodyPr/>
          <a:lstStyle/>
          <a:p>
            <a:pPr>
              <a:defRPr/>
            </a:pPr>
            <a:endParaRPr lang="zh-CN" altLang="en-US"/>
          </a:p>
        </p:txBody>
      </p:sp>
      <p:sp>
        <p:nvSpPr>
          <p:cNvPr id="5" name="Slide Number Placeholder 4"/>
          <p:cNvSpPr>
            <a:spLocks noGrp="1"/>
          </p:cNvSpPr>
          <p:nvPr>
            <p:ph type="sldNum" sz="quarter" idx="12"/>
          </p:nvPr>
        </p:nvSpPr>
        <p:spPr/>
        <p:txBody>
          <a:bodyPr/>
          <a:lstStyle/>
          <a:p>
            <a:pPr>
              <a:defRPr/>
            </a:pPr>
            <a:fld id="{A14C5563-99CE-476F-AACF-E1215A0ECFB9}" type="slidenum">
              <a:rPr lang="zh-CN" altLang="en-US" smtClean="0"/>
              <a:pPr>
                <a:defRPr/>
              </a:pPr>
              <a:t>‹#›</a:t>
            </a:fld>
            <a:endParaRPr lang="zh-CN" altLang="en-US"/>
          </a:p>
        </p:txBody>
      </p:sp>
    </p:spTree>
    <p:extLst>
      <p:ext uri="{BB962C8B-B14F-4D97-AF65-F5344CB8AC3E}">
        <p14:creationId xmlns:p14="http://schemas.microsoft.com/office/powerpoint/2010/main" val="37702042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A13726BE-CD39-4A72-8697-84B3189E1193}" type="datetimeFigureOut">
              <a:rPr lang="zh-CN" altLang="en-US" smtClean="0"/>
              <a:pPr>
                <a:defRPr/>
              </a:pPr>
              <a:t>2026/9/22</a:t>
            </a:fld>
            <a:endParaRPr lang="zh-CN" altLang="en-US"/>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p:txBody>
          <a:bodyPr/>
          <a:lstStyle/>
          <a:p>
            <a:pPr>
              <a:defRPr/>
            </a:pPr>
            <a:fld id="{A7B489BC-8E41-453F-854B-8C2F1B92C768}" type="slidenum">
              <a:rPr lang="zh-CN" altLang="en-US" smtClean="0"/>
              <a:pPr>
                <a:defRPr/>
              </a:pPr>
              <a:t>‹#›</a:t>
            </a:fld>
            <a:endParaRPr lang="zh-CN" altLang="en-US"/>
          </a:p>
        </p:txBody>
      </p:sp>
    </p:spTree>
    <p:extLst>
      <p:ext uri="{BB962C8B-B14F-4D97-AF65-F5344CB8AC3E}">
        <p14:creationId xmlns:p14="http://schemas.microsoft.com/office/powerpoint/2010/main" val="20436140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8BCC8A99-3C0F-4571-A1BC-057517AAD6A9}" type="datetimeFigureOut">
              <a:rPr lang="zh-CN" altLang="en-US" smtClean="0"/>
              <a:pPr>
                <a:defRPr/>
              </a:pPr>
              <a:t>2026/9/22</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DD33CC05-7FF1-4691-98EE-6662FAAA2D96}" type="slidenum">
              <a:rPr lang="zh-CN" altLang="en-US" smtClean="0"/>
              <a:pPr>
                <a:defRPr/>
              </a:pPr>
              <a:t>‹#›</a:t>
            </a:fld>
            <a:endParaRPr lang="zh-CN" altLang="en-US"/>
          </a:p>
        </p:txBody>
      </p:sp>
    </p:spTree>
    <p:extLst>
      <p:ext uri="{BB962C8B-B14F-4D97-AF65-F5344CB8AC3E}">
        <p14:creationId xmlns:p14="http://schemas.microsoft.com/office/powerpoint/2010/main" val="396388928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3E5796F3-7CE5-4C2E-8EC2-422B0BE10A07}" type="datetimeFigureOut">
              <a:rPr lang="zh-CN" altLang="en-US" smtClean="0"/>
              <a:pPr>
                <a:defRPr/>
              </a:pPr>
              <a:t>2026/9/22</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31C4A156-D19B-44BC-B36B-F7F7F71EBFFB}" type="slidenum">
              <a:rPr lang="zh-CN" altLang="en-US" smtClean="0"/>
              <a:pPr>
                <a:defRPr/>
              </a:pPr>
              <a:t>‹#›</a:t>
            </a:fld>
            <a:endParaRPr lang="zh-CN" altLang="en-US"/>
          </a:p>
        </p:txBody>
      </p:sp>
    </p:spTree>
    <p:extLst>
      <p:ext uri="{BB962C8B-B14F-4D97-AF65-F5344CB8AC3E}">
        <p14:creationId xmlns:p14="http://schemas.microsoft.com/office/powerpoint/2010/main" val="24045309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2E99B7C0-C858-4FCF-8023-24A0C2F0FA3D}" type="datetimeFigureOut">
              <a:rPr lang="zh-CN" altLang="en-US" smtClean="0"/>
              <a:pPr>
                <a:defRPr/>
              </a:pPr>
              <a:t>2026/9/22</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2EE5C591-A073-49FD-B902-FE74AA4B60F7}" type="slidenum">
              <a:rPr lang="zh-CN" altLang="en-US" smtClean="0"/>
              <a:pPr>
                <a:defRPr/>
              </a:pPr>
              <a:t>‹#›</a:t>
            </a:fld>
            <a:endParaRPr lang="zh-CN" altLang="en-US"/>
          </a:p>
        </p:txBody>
      </p:sp>
    </p:spTree>
    <p:extLst>
      <p:ext uri="{BB962C8B-B14F-4D97-AF65-F5344CB8AC3E}">
        <p14:creationId xmlns:p14="http://schemas.microsoft.com/office/powerpoint/2010/main" val="300162112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A7996BE8-BC69-4A7D-AEED-FBCBE7B034A7}" type="datetimeFigureOut">
              <a:rPr lang="zh-CN" altLang="en-US" smtClean="0"/>
              <a:pPr>
                <a:defRPr/>
              </a:pPr>
              <a:t>2026/9/22</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D2A1824C-117B-4AAB-8BD1-D9C07D555414}" type="slidenum">
              <a:rPr lang="zh-CN" altLang="en-US" smtClean="0"/>
              <a:pPr>
                <a:defRPr/>
              </a:pPr>
              <a:t>‹#›</a:t>
            </a:fld>
            <a:endParaRPr lang="zh-CN" altLang="en-US"/>
          </a:p>
        </p:txBody>
      </p:sp>
    </p:spTree>
    <p:extLst>
      <p:ext uri="{BB962C8B-B14F-4D97-AF65-F5344CB8AC3E}">
        <p14:creationId xmlns:p14="http://schemas.microsoft.com/office/powerpoint/2010/main" val="2184871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2.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711D614F-AF6A-4C5D-B689-04AA4B4CD61E}"/>
              </a:ext>
            </a:extLst>
          </p:cNvPr>
          <p:cNvSpPr>
            <a:spLocks noGrp="1" noChangeArrowheads="1"/>
          </p:cNvSpPr>
          <p:nvPr>
            <p:ph type="title"/>
          </p:nvPr>
        </p:nvSpPr>
        <p:spPr bwMode="auto">
          <a:xfrm>
            <a:off x="838200" y="365126"/>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文本占位符 2">
            <a:extLst>
              <a:ext uri="{FF2B5EF4-FFF2-40B4-BE49-F238E27FC236}">
                <a16:creationId xmlns:a16="http://schemas.microsoft.com/office/drawing/2014/main" id="{E0BE4A6F-EB35-49DC-8D94-1EE50FE73742}"/>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FA1B310-1036-47CB-B182-01AFD96497F4}"/>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409F0C9-CEFB-484A-8941-D8CD2AEC8FC3}" type="datetimeFigureOut">
              <a:rPr lang="zh-CN" altLang="en-US"/>
              <a:pPr>
                <a:defRPr/>
              </a:pPr>
              <a:t>2026/9/22</a:t>
            </a:fld>
            <a:endParaRPr lang="zh-CN" altLang="en-US"/>
          </a:p>
        </p:txBody>
      </p:sp>
      <p:sp>
        <p:nvSpPr>
          <p:cNvPr id="5" name="页脚占位符 4">
            <a:extLst>
              <a:ext uri="{FF2B5EF4-FFF2-40B4-BE49-F238E27FC236}">
                <a16:creationId xmlns:a16="http://schemas.microsoft.com/office/drawing/2014/main" id="{2FF9895E-2974-42C1-A74C-1425253E794E}"/>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a:extLst>
              <a:ext uri="{FF2B5EF4-FFF2-40B4-BE49-F238E27FC236}">
                <a16:creationId xmlns:a16="http://schemas.microsoft.com/office/drawing/2014/main" id="{5D8ED30B-B901-4EA9-BA9A-F6D40B5F4040}"/>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60DF301-2889-443D-BD4C-60BD2CBE5B3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115" r:id="rId1"/>
    <p:sldLayoutId id="2147484116" r:id="rId2"/>
    <p:sldLayoutId id="2147484117" r:id="rId3"/>
    <p:sldLayoutId id="2147484118" r:id="rId4"/>
    <p:sldLayoutId id="2147484119" r:id="rId5"/>
    <p:sldLayoutId id="2147484120" r:id="rId6"/>
    <p:sldLayoutId id="2147484121" r:id="rId7"/>
    <p:sldLayoutId id="2147484122" r:id="rId8"/>
    <p:sldLayoutId id="2147484123" r:id="rId9"/>
    <p:sldLayoutId id="2147484124" r:id="rId10"/>
    <p:sldLayoutId id="2147484125" r:id="rId11"/>
  </p:sldLayoutIdLst>
  <p:txStyles>
    <p:titleStyle>
      <a:lvl1pPr algn="l" rtl="0" eaLnBrk="0" fontAlgn="base" hangingPunct="0">
        <a:lnSpc>
          <a:spcPct val="90000"/>
        </a:lnSpc>
        <a:spcBef>
          <a:spcPct val="0"/>
        </a:spcBef>
        <a:spcAft>
          <a:spcPct val="0"/>
        </a:spcAft>
        <a:defRPr sz="4400" kern="1200">
          <a:solidFill>
            <a:schemeClr val="tx1">
              <a:lumMod val="95000"/>
              <a:lumOff val="5000"/>
            </a:schemeClr>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lumMod val="95000"/>
              <a:lumOff val="5000"/>
            </a:schemeClr>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lumMod val="95000"/>
              <a:lumOff val="5000"/>
            </a:schemeClr>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lumMod val="95000"/>
              <a:lumOff val="5000"/>
            </a:schemeClr>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lumMod val="95000"/>
              <a:lumOff val="5000"/>
            </a:schemeClr>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lumMod val="95000"/>
              <a:lumOff val="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DA78C6-707D-4D97-9B25-C44A14D17D9A}"/>
              </a:ext>
            </a:extLst>
          </p:cNvPr>
          <p:cNvSpPr>
            <a:spLocks noGrp="1"/>
          </p:cNvSpPr>
          <p:nvPr>
            <p:ph type="title"/>
          </p:nvPr>
        </p:nvSpPr>
        <p:spPr>
          <a:xfrm>
            <a:off x="738717" y="358775"/>
            <a:ext cx="10515600" cy="889000"/>
          </a:xfrm>
          <a:prstGeom prst="rect">
            <a:avLst/>
          </a:prstGeom>
          <a:effectLst>
            <a:glow rad="228600">
              <a:schemeClr val="accent6">
                <a:satMod val="175000"/>
                <a:alpha val="40000"/>
              </a:schemeClr>
            </a:glow>
          </a:effectLst>
        </p:spPr>
        <p:txBody>
          <a:bodyPr vert="horz" lIns="91440" tIns="45720" rIns="91440" bIns="45720" rtlCol="0" anchor="ctr">
            <a:normAutofit/>
          </a:bodyPr>
          <a:lstStyle/>
          <a:p>
            <a:r>
              <a:rPr lang="zh-CN" altLang="en-US" dirty="0"/>
              <a:t>单击此处编辑母版标题样式</a:t>
            </a:r>
            <a:endParaRPr lang="en-US" dirty="0"/>
          </a:p>
        </p:txBody>
      </p:sp>
      <p:sp>
        <p:nvSpPr>
          <p:cNvPr id="2051" name="Text Placeholder 2">
            <a:extLst>
              <a:ext uri="{FF2B5EF4-FFF2-40B4-BE49-F238E27FC236}">
                <a16:creationId xmlns:a16="http://schemas.microsoft.com/office/drawing/2014/main" id="{8E4E98DE-51D0-42BE-9AC8-7BFA31B97528}"/>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sp>
        <p:nvSpPr>
          <p:cNvPr id="4" name="Date Placeholder 3">
            <a:extLst>
              <a:ext uri="{FF2B5EF4-FFF2-40B4-BE49-F238E27FC236}">
                <a16:creationId xmlns:a16="http://schemas.microsoft.com/office/drawing/2014/main" id="{21242F74-CA7C-4EC2-AE5D-A7B3CD75C0E8}"/>
              </a:ext>
            </a:extLst>
          </p:cNvPr>
          <p:cNvSpPr>
            <a:spLocks noGrp="1"/>
          </p:cNvSpPr>
          <p:nvPr>
            <p:ph type="dt" sz="half" idx="2"/>
          </p:nvPr>
        </p:nvSpPr>
        <p:spPr>
          <a:xfrm>
            <a:off x="99484" y="6503989"/>
            <a:ext cx="1377949"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pPr>
              <a:defRPr/>
            </a:pPr>
            <a:fld id="{4A62A577-703D-404B-A95A-4301703B8A30}" type="datetimeFigureOut">
              <a:rPr lang="zh-CN" altLang="en-US"/>
              <a:pPr>
                <a:defRPr/>
              </a:pPr>
              <a:t>2026/9/22</a:t>
            </a:fld>
            <a:endParaRPr lang="zh-CN" altLang="en-US"/>
          </a:p>
        </p:txBody>
      </p:sp>
      <p:sp>
        <p:nvSpPr>
          <p:cNvPr id="5" name="Footer Placeholder 4">
            <a:extLst>
              <a:ext uri="{FF2B5EF4-FFF2-40B4-BE49-F238E27FC236}">
                <a16:creationId xmlns:a16="http://schemas.microsoft.com/office/drawing/2014/main" id="{E1BF3953-6B9E-4AFE-9544-C701BCCEC527}"/>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pPr>
              <a:defRPr/>
            </a:pPr>
            <a:endParaRPr lang="zh-CN" altLang="en-US"/>
          </a:p>
        </p:txBody>
      </p:sp>
      <p:sp>
        <p:nvSpPr>
          <p:cNvPr id="6" name="Slide Number Placeholder 5">
            <a:extLst>
              <a:ext uri="{FF2B5EF4-FFF2-40B4-BE49-F238E27FC236}">
                <a16:creationId xmlns:a16="http://schemas.microsoft.com/office/drawing/2014/main" id="{37E8909E-7731-4702-B953-2B2803494B86}"/>
              </a:ext>
            </a:extLst>
          </p:cNvPr>
          <p:cNvSpPr>
            <a:spLocks noGrp="1"/>
          </p:cNvSpPr>
          <p:nvPr>
            <p:ph type="sldNum" sz="quarter" idx="4"/>
          </p:nvPr>
        </p:nvSpPr>
        <p:spPr>
          <a:xfrm>
            <a:off x="11133667" y="6492876"/>
            <a:ext cx="874184"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pPr>
              <a:defRPr/>
            </a:pPr>
            <a:fld id="{494E1F09-1EFF-4F4F-8EB4-F35F13C97406}" type="slidenum">
              <a:rPr lang="zh-CN" altLang="en-US"/>
              <a:pPr>
                <a:defRPr/>
              </a:pPr>
              <a:t>‹#›</a:t>
            </a:fld>
            <a:endParaRPr lang="zh-CN" altLang="en-US"/>
          </a:p>
        </p:txBody>
      </p:sp>
      <p:sp>
        <p:nvSpPr>
          <p:cNvPr id="13" name="矩形: 圆角 12">
            <a:extLst>
              <a:ext uri="{FF2B5EF4-FFF2-40B4-BE49-F238E27FC236}">
                <a16:creationId xmlns:a16="http://schemas.microsoft.com/office/drawing/2014/main" id="{4CEA3FDA-81FE-4232-A15B-9BED22BF7826}"/>
              </a:ext>
            </a:extLst>
          </p:cNvPr>
          <p:cNvSpPr/>
          <p:nvPr/>
        </p:nvSpPr>
        <p:spPr>
          <a:xfrm>
            <a:off x="495931" y="1247445"/>
            <a:ext cx="11413573" cy="79551"/>
          </a:xfrm>
          <a:prstGeom prst="roundRect">
            <a:avLst>
              <a:gd name="adj" fmla="val 50000"/>
            </a:avLst>
          </a:prstGeom>
          <a:gradFill>
            <a:gsLst>
              <a:gs pos="0">
                <a:schemeClr val="accent1">
                  <a:lumMod val="5000"/>
                  <a:lumOff val="95000"/>
                </a:schemeClr>
              </a:gs>
              <a:gs pos="0">
                <a:schemeClr val="bg1"/>
              </a:gs>
              <a:gs pos="53000">
                <a:srgbClr val="B6DBA0"/>
              </a:gs>
              <a:gs pos="100000">
                <a:schemeClr val="accent6">
                  <a:lumMod val="75000"/>
                </a:schemeClr>
              </a:gs>
            </a:gsLst>
            <a:lin ang="5400000" scaled="1"/>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3200"/>
          </a:p>
        </p:txBody>
      </p:sp>
      <p:pic>
        <p:nvPicPr>
          <p:cNvPr id="2058" name="图片 16">
            <a:extLst>
              <a:ext uri="{FF2B5EF4-FFF2-40B4-BE49-F238E27FC236}">
                <a16:creationId xmlns:a16="http://schemas.microsoft.com/office/drawing/2014/main" id="{B8E97640-2DA0-4F6D-B355-442027B93B06}"/>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556751" y="41275"/>
            <a:ext cx="259926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48" r:id="rId1"/>
    <p:sldLayoutId id="2147484126" r:id="rId2"/>
    <p:sldLayoutId id="2147484127" r:id="rId3"/>
    <p:sldLayoutId id="2147484128" r:id="rId4"/>
    <p:sldLayoutId id="2147484129" r:id="rId5"/>
    <p:sldLayoutId id="2147484130" r:id="rId6"/>
    <p:sldLayoutId id="2147484131" r:id="rId7"/>
    <p:sldLayoutId id="2147484149" r:id="rId8"/>
    <p:sldLayoutId id="2147484132" r:id="rId9"/>
    <p:sldLayoutId id="2147484133" r:id="rId10"/>
    <p:sldLayoutId id="2147484134" r:id="rId11"/>
    <p:sldLayoutId id="2147484135" r:id="rId12"/>
    <p:sldLayoutId id="2147484150" r:id="rId13"/>
  </p:sldLayoutIdLst>
  <p:txStyles>
    <p:titleStyle>
      <a:lvl1pPr algn="ctr" rtl="0" eaLnBrk="0" fontAlgn="base" hangingPunct="0">
        <a:lnSpc>
          <a:spcPct val="90000"/>
        </a:lnSpc>
        <a:spcBef>
          <a:spcPct val="0"/>
        </a:spcBef>
        <a:spcAft>
          <a:spcPct val="0"/>
        </a:spcAft>
        <a:defRPr sz="4400" kern="1200">
          <a:solidFill>
            <a:srgbClr val="385723"/>
          </a:solidFill>
          <a:latin typeface="微软雅黑" panose="020B0503020204020204" pitchFamily="34" charset="-122"/>
          <a:ea typeface="微软雅黑" panose="020B0503020204020204" pitchFamily="34" charset="-122"/>
          <a:cs typeface="+mj-cs"/>
        </a:defRPr>
      </a:lvl1pPr>
      <a:lvl2pPr algn="ctr" rtl="0" eaLnBrk="0" fontAlgn="base" hangingPunct="0">
        <a:lnSpc>
          <a:spcPct val="90000"/>
        </a:lnSpc>
        <a:spcBef>
          <a:spcPct val="0"/>
        </a:spcBef>
        <a:spcAft>
          <a:spcPct val="0"/>
        </a:spcAft>
        <a:defRPr sz="4400">
          <a:solidFill>
            <a:srgbClr val="385723"/>
          </a:solidFill>
          <a:latin typeface="微软雅黑" panose="020B0503020204020204" pitchFamily="34" charset="-122"/>
          <a:ea typeface="微软雅黑" panose="020B0503020204020204" pitchFamily="34" charset="-122"/>
        </a:defRPr>
      </a:lvl2pPr>
      <a:lvl3pPr algn="ctr" rtl="0" eaLnBrk="0" fontAlgn="base" hangingPunct="0">
        <a:lnSpc>
          <a:spcPct val="90000"/>
        </a:lnSpc>
        <a:spcBef>
          <a:spcPct val="0"/>
        </a:spcBef>
        <a:spcAft>
          <a:spcPct val="0"/>
        </a:spcAft>
        <a:defRPr sz="4400">
          <a:solidFill>
            <a:srgbClr val="385723"/>
          </a:solidFill>
          <a:latin typeface="微软雅黑" panose="020B0503020204020204" pitchFamily="34" charset="-122"/>
          <a:ea typeface="微软雅黑" panose="020B0503020204020204" pitchFamily="34" charset="-122"/>
        </a:defRPr>
      </a:lvl3pPr>
      <a:lvl4pPr algn="ctr" rtl="0" eaLnBrk="0" fontAlgn="base" hangingPunct="0">
        <a:lnSpc>
          <a:spcPct val="90000"/>
        </a:lnSpc>
        <a:spcBef>
          <a:spcPct val="0"/>
        </a:spcBef>
        <a:spcAft>
          <a:spcPct val="0"/>
        </a:spcAft>
        <a:defRPr sz="4400">
          <a:solidFill>
            <a:srgbClr val="385723"/>
          </a:solidFill>
          <a:latin typeface="微软雅黑" panose="020B0503020204020204" pitchFamily="34" charset="-122"/>
          <a:ea typeface="微软雅黑" panose="020B0503020204020204" pitchFamily="34" charset="-122"/>
        </a:defRPr>
      </a:lvl4pPr>
      <a:lvl5pPr algn="ctr" rtl="0" eaLnBrk="0" fontAlgn="base" hangingPunct="0">
        <a:lnSpc>
          <a:spcPct val="90000"/>
        </a:lnSpc>
        <a:spcBef>
          <a:spcPct val="0"/>
        </a:spcBef>
        <a:spcAft>
          <a:spcPct val="0"/>
        </a:spcAft>
        <a:defRPr sz="4400">
          <a:solidFill>
            <a:srgbClr val="385723"/>
          </a:solidFill>
          <a:latin typeface="微软雅黑" panose="020B0503020204020204" pitchFamily="34" charset="-122"/>
          <a:ea typeface="微软雅黑" panose="020B0503020204020204" pitchFamily="34" charset="-122"/>
        </a:defRPr>
      </a:lvl5pPr>
      <a:lvl6pPr marL="457200" algn="ctr" rtl="0" fontAlgn="base">
        <a:lnSpc>
          <a:spcPct val="90000"/>
        </a:lnSpc>
        <a:spcBef>
          <a:spcPct val="0"/>
        </a:spcBef>
        <a:spcAft>
          <a:spcPct val="0"/>
        </a:spcAft>
        <a:defRPr sz="4400">
          <a:solidFill>
            <a:srgbClr val="385723"/>
          </a:solidFill>
          <a:latin typeface="微软雅黑" panose="020B0503020204020204" pitchFamily="34" charset="-122"/>
          <a:ea typeface="微软雅黑" panose="020B0503020204020204" pitchFamily="34" charset="-122"/>
        </a:defRPr>
      </a:lvl6pPr>
      <a:lvl7pPr marL="914400" algn="ctr" rtl="0" fontAlgn="base">
        <a:lnSpc>
          <a:spcPct val="90000"/>
        </a:lnSpc>
        <a:spcBef>
          <a:spcPct val="0"/>
        </a:spcBef>
        <a:spcAft>
          <a:spcPct val="0"/>
        </a:spcAft>
        <a:defRPr sz="4400">
          <a:solidFill>
            <a:srgbClr val="385723"/>
          </a:solidFill>
          <a:latin typeface="微软雅黑" panose="020B0503020204020204" pitchFamily="34" charset="-122"/>
          <a:ea typeface="微软雅黑" panose="020B0503020204020204" pitchFamily="34" charset="-122"/>
        </a:defRPr>
      </a:lvl7pPr>
      <a:lvl8pPr marL="1371600" algn="ctr" rtl="0" fontAlgn="base">
        <a:lnSpc>
          <a:spcPct val="90000"/>
        </a:lnSpc>
        <a:spcBef>
          <a:spcPct val="0"/>
        </a:spcBef>
        <a:spcAft>
          <a:spcPct val="0"/>
        </a:spcAft>
        <a:defRPr sz="4400">
          <a:solidFill>
            <a:srgbClr val="385723"/>
          </a:solidFill>
          <a:latin typeface="微软雅黑" panose="020B0503020204020204" pitchFamily="34" charset="-122"/>
          <a:ea typeface="微软雅黑" panose="020B0503020204020204" pitchFamily="34" charset="-122"/>
        </a:defRPr>
      </a:lvl8pPr>
      <a:lvl9pPr marL="1828800" algn="ctr" rtl="0" fontAlgn="base">
        <a:lnSpc>
          <a:spcPct val="90000"/>
        </a:lnSpc>
        <a:spcBef>
          <a:spcPct val="0"/>
        </a:spcBef>
        <a:spcAft>
          <a:spcPct val="0"/>
        </a:spcAft>
        <a:defRPr sz="4400">
          <a:solidFill>
            <a:srgbClr val="385723"/>
          </a:solidFill>
          <a:latin typeface="微软雅黑" panose="020B0503020204020204" pitchFamily="34" charset="-122"/>
          <a:ea typeface="微软雅黑" panose="020B0503020204020204" pitchFamily="34" charset="-122"/>
        </a:defRPr>
      </a:lvl9pPr>
    </p:titleStyle>
    <p:bodyStyle>
      <a:lvl1pPr marL="457200" indent="-457200" algn="l" rtl="0" eaLnBrk="0" fontAlgn="base" hangingPunct="0">
        <a:lnSpc>
          <a:spcPct val="90000"/>
        </a:lnSpc>
        <a:spcBef>
          <a:spcPts val="1000"/>
        </a:spcBef>
        <a:spcAft>
          <a:spcPct val="0"/>
        </a:spcAft>
        <a:buBlip>
          <a:blip r:embed="rId16"/>
        </a:buBlip>
        <a:defRPr sz="2800" kern="1200">
          <a:solidFill>
            <a:schemeClr val="tx1"/>
          </a:solidFill>
          <a:latin typeface="微软雅黑" panose="020B0503020204020204" pitchFamily="34" charset="-122"/>
          <a:ea typeface="微软雅黑" panose="020B0503020204020204" pitchFamily="34" charset="-122"/>
          <a:cs typeface="+mn-cs"/>
        </a:defRPr>
      </a:lvl1pPr>
      <a:lvl2pPr marL="800100" indent="-342900" algn="l" rtl="0" eaLnBrk="0" fontAlgn="base" hangingPunct="0">
        <a:lnSpc>
          <a:spcPct val="90000"/>
        </a:lnSpc>
        <a:spcBef>
          <a:spcPts val="500"/>
        </a:spcBef>
        <a:spcAft>
          <a:spcPct val="0"/>
        </a:spcAft>
        <a:buBlip>
          <a:blip r:embed="rId16"/>
        </a:buBlip>
        <a:defRPr sz="2400" kern="1200">
          <a:solidFill>
            <a:schemeClr val="tx1"/>
          </a:solidFill>
          <a:latin typeface="微软雅黑" panose="020B0503020204020204" pitchFamily="34" charset="-122"/>
          <a:ea typeface="微软雅黑" panose="020B0503020204020204" pitchFamily="34" charset="-122"/>
          <a:cs typeface="+mn-cs"/>
        </a:defRPr>
      </a:lvl2pPr>
      <a:lvl3pPr marL="1257300" indent="-342900" algn="l" rtl="0" eaLnBrk="0" fontAlgn="base" hangingPunct="0">
        <a:lnSpc>
          <a:spcPct val="90000"/>
        </a:lnSpc>
        <a:spcBef>
          <a:spcPts val="500"/>
        </a:spcBef>
        <a:spcAft>
          <a:spcPct val="0"/>
        </a:spcAft>
        <a:buBlip>
          <a:blip r:embed="rId16"/>
        </a:buBlip>
        <a:defRPr sz="2000" kern="1200">
          <a:solidFill>
            <a:schemeClr val="tx1"/>
          </a:solidFill>
          <a:latin typeface="微软雅黑" panose="020B0503020204020204" pitchFamily="34" charset="-122"/>
          <a:ea typeface="微软雅黑" panose="020B0503020204020204" pitchFamily="34" charset="-122"/>
          <a:cs typeface="+mn-cs"/>
        </a:defRPr>
      </a:lvl3pPr>
      <a:lvl4pPr marL="1657350" indent="-285750" algn="l" rtl="0" eaLnBrk="0" fontAlgn="base" hangingPunct="0">
        <a:lnSpc>
          <a:spcPct val="90000"/>
        </a:lnSpc>
        <a:spcBef>
          <a:spcPts val="500"/>
        </a:spcBef>
        <a:spcAft>
          <a:spcPct val="0"/>
        </a:spcAft>
        <a:buBlip>
          <a:blip r:embed="rId16"/>
        </a:buBlip>
        <a:defRPr kern="1200">
          <a:solidFill>
            <a:schemeClr val="tx1"/>
          </a:solidFill>
          <a:latin typeface="微软雅黑" panose="020B0503020204020204" pitchFamily="34" charset="-122"/>
          <a:ea typeface="微软雅黑" panose="020B0503020204020204" pitchFamily="34" charset="-122"/>
          <a:cs typeface="+mn-cs"/>
        </a:defRPr>
      </a:lvl4pPr>
      <a:lvl5pPr marL="2114550" indent="-285750" algn="l" rtl="0" eaLnBrk="0" fontAlgn="base" hangingPunct="0">
        <a:lnSpc>
          <a:spcPct val="90000"/>
        </a:lnSpc>
        <a:spcBef>
          <a:spcPts val="500"/>
        </a:spcBef>
        <a:spcAft>
          <a:spcPct val="0"/>
        </a:spcAft>
        <a:buBlip>
          <a:blip r:embed="rId16"/>
        </a:buBlip>
        <a:defRPr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标题占位符 1">
            <a:extLst>
              <a:ext uri="{FF2B5EF4-FFF2-40B4-BE49-F238E27FC236}">
                <a16:creationId xmlns:a16="http://schemas.microsoft.com/office/drawing/2014/main" id="{0EE88FE8-BEF2-4C8A-A96E-6595AB6322B2}"/>
              </a:ext>
            </a:extLst>
          </p:cNvPr>
          <p:cNvSpPr>
            <a:spLocks noGrp="1" noChangeArrowheads="1"/>
          </p:cNvSpPr>
          <p:nvPr>
            <p:ph type="title"/>
          </p:nvPr>
        </p:nvSpPr>
        <p:spPr bwMode="auto">
          <a:xfrm>
            <a:off x="838200" y="365126"/>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5" name="文本占位符 2">
            <a:extLst>
              <a:ext uri="{FF2B5EF4-FFF2-40B4-BE49-F238E27FC236}">
                <a16:creationId xmlns:a16="http://schemas.microsoft.com/office/drawing/2014/main" id="{1C4D491D-33F6-4B81-AF5C-D905A63281CA}"/>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99486DB-1866-4D3A-8A45-ACCC8463DC32}"/>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9845F056-B77F-4DD6-AAA1-CDBE8C3D3FE5}" type="datetime1">
              <a:rPr lang="zh-CN" altLang="en-US"/>
              <a:pPr>
                <a:defRPr/>
              </a:pPr>
              <a:t>2026/9/22</a:t>
            </a:fld>
            <a:endParaRPr lang="zh-CN" altLang="en-US"/>
          </a:p>
        </p:txBody>
      </p:sp>
      <p:sp>
        <p:nvSpPr>
          <p:cNvPr id="5" name="页脚占位符 4">
            <a:extLst>
              <a:ext uri="{FF2B5EF4-FFF2-40B4-BE49-F238E27FC236}">
                <a16:creationId xmlns:a16="http://schemas.microsoft.com/office/drawing/2014/main" id="{59A1E4B6-5CC7-4FC0-AFE9-BCA2F46FB83E}"/>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a:extLst>
              <a:ext uri="{FF2B5EF4-FFF2-40B4-BE49-F238E27FC236}">
                <a16:creationId xmlns:a16="http://schemas.microsoft.com/office/drawing/2014/main" id="{0E59F48D-2D2F-4677-BFD8-D46A2FC03319}"/>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2613346E-DFDC-45F4-AC22-D1D2E6905BC6}"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136" r:id="rId1"/>
    <p:sldLayoutId id="2147484137" r:id="rId2"/>
    <p:sldLayoutId id="2147484138" r:id="rId3"/>
    <p:sldLayoutId id="2147484139" r:id="rId4"/>
    <p:sldLayoutId id="2147484140" r:id="rId5"/>
    <p:sldLayoutId id="2147484141" r:id="rId6"/>
    <p:sldLayoutId id="2147484142" r:id="rId7"/>
    <p:sldLayoutId id="2147484143" r:id="rId8"/>
    <p:sldLayoutId id="2147484144" r:id="rId9"/>
    <p:sldLayoutId id="2147484145" r:id="rId10"/>
    <p:sldLayoutId id="2147484146" r:id="rId11"/>
  </p:sldLayoutIdLst>
  <p:hf hdr="0" ftr="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409F0C9-CEFB-484A-8941-D8CD2AEC8FC3}" type="datetimeFigureOut">
              <a:rPr lang="zh-CN" altLang="en-US" smtClean="0"/>
              <a:pPr>
                <a:defRPr/>
              </a:pPr>
              <a:t>2026/9/22</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60DF301-2889-443D-BD4C-60BD2CBE5B31}" type="slidenum">
              <a:rPr lang="zh-CN" altLang="en-US" smtClean="0"/>
              <a:pPr>
                <a:defRPr/>
              </a:pPr>
              <a:t>‹#›</a:t>
            </a:fld>
            <a:endParaRPr lang="zh-CN" altLang="en-US"/>
          </a:p>
        </p:txBody>
      </p:sp>
    </p:spTree>
    <p:extLst>
      <p:ext uri="{BB962C8B-B14F-4D97-AF65-F5344CB8AC3E}">
        <p14:creationId xmlns:p14="http://schemas.microsoft.com/office/powerpoint/2010/main" val="2227874149"/>
      </p:ext>
    </p:extLst>
  </p:cSld>
  <p:clrMap bg1="lt1" tx1="dk1" bg2="lt2" tx2="dk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 id="2147484156" r:id="rId5"/>
    <p:sldLayoutId id="2147484157" r:id="rId6"/>
    <p:sldLayoutId id="2147484158" r:id="rId7"/>
    <p:sldLayoutId id="2147484159" r:id="rId8"/>
    <p:sldLayoutId id="2147484160" r:id="rId9"/>
    <p:sldLayoutId id="2147484161" r:id="rId10"/>
    <p:sldLayoutId id="214748416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2.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41.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42.xml"/><Relationship Id="rId5" Type="http://schemas.openxmlformats.org/officeDocument/2006/relationships/image" Target="../media/image11.jpeg"/><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2.xml"/><Relationship Id="rId6" Type="http://schemas.microsoft.com/office/2007/relationships/hdphoto" Target="../media/hdphoto2.wdp"/><Relationship Id="rId5" Type="http://schemas.openxmlformats.org/officeDocument/2006/relationships/image" Target="../media/image14.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4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42.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42.xml"/><Relationship Id="rId6" Type="http://schemas.microsoft.com/office/2007/relationships/hdphoto" Target="../media/hdphoto4.wdp"/><Relationship Id="rId5" Type="http://schemas.openxmlformats.org/officeDocument/2006/relationships/image" Target="../media/image21.png"/><Relationship Id="rId4" Type="http://schemas.microsoft.com/office/2007/relationships/hdphoto" Target="../media/hdphoto3.wdp"/></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4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4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4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4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6.xml"/><Relationship Id="rId1" Type="http://schemas.openxmlformats.org/officeDocument/2006/relationships/slideLayout" Target="../slideLayouts/slideLayout42.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42.xml"/><Relationship Id="rId4" Type="http://schemas.microsoft.com/office/2007/relationships/hdphoto" Target="../media/hdphoto5.wdp"/></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7.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42.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4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2.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4.xml"/><Relationship Id="rId1" Type="http://schemas.openxmlformats.org/officeDocument/2006/relationships/slideLayout" Target="../slideLayouts/slideLayout42.xml"/><Relationship Id="rId6" Type="http://schemas.openxmlformats.org/officeDocument/2006/relationships/image" Target="../media/image32.png"/><Relationship Id="rId5" Type="http://schemas.microsoft.com/office/2007/relationships/hdphoto" Target="../media/hdphoto6.wdp"/><Relationship Id="rId4" Type="http://schemas.openxmlformats.org/officeDocument/2006/relationships/image" Target="../media/image31.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2.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7.xml"/><Relationship Id="rId1" Type="http://schemas.openxmlformats.org/officeDocument/2006/relationships/slideLayout" Target="../slideLayouts/slideLayout42.xml"/><Relationship Id="rId4" Type="http://schemas.microsoft.com/office/2007/relationships/hdphoto" Target="../media/hdphoto7.wdp"/></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2.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9.xml"/><Relationship Id="rId1" Type="http://schemas.openxmlformats.org/officeDocument/2006/relationships/slideLayout" Target="../slideLayouts/slideLayout42.xml"/></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0.xml"/><Relationship Id="rId1" Type="http://schemas.openxmlformats.org/officeDocument/2006/relationships/slideLayout" Target="../slideLayouts/slideLayout4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2.xml"/></Relationships>
</file>

<file path=ppt/slides/_rels/slide5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2.xml"/><Relationship Id="rId1" Type="http://schemas.openxmlformats.org/officeDocument/2006/relationships/slideLayout" Target="../slideLayouts/slideLayout4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7.xml"/></Relationships>
</file>

<file path=ppt/slides/_rels/slide5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5.xml"/><Relationship Id="rId1" Type="http://schemas.openxmlformats.org/officeDocument/2006/relationships/slideLayout" Target="../slideLayouts/slideLayout4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7.xml"/></Relationships>
</file>

<file path=ppt/slides/_rels/slide5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7.xml"/><Relationship Id="rId1" Type="http://schemas.openxmlformats.org/officeDocument/2006/relationships/slideLayout" Target="../slideLayouts/slideLayout4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7.xml"/></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9.xml"/><Relationship Id="rId1" Type="http://schemas.openxmlformats.org/officeDocument/2006/relationships/slideLayout" Target="../slideLayouts/slideLayout42.xml"/></Relationships>
</file>

<file path=ppt/slides/_rels/slide6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0.xml"/><Relationship Id="rId1" Type="http://schemas.openxmlformats.org/officeDocument/2006/relationships/slideLayout" Target="../slideLayouts/slideLayout42.xml"/></Relationships>
</file>

<file path=ppt/slides/_rels/slide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1.xml"/><Relationship Id="rId1" Type="http://schemas.openxmlformats.org/officeDocument/2006/relationships/slideLayout" Target="../slideLayouts/slideLayout42.xml"/></Relationships>
</file>

<file path=ppt/slides/_rels/slide6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2.xml"/><Relationship Id="rId1" Type="http://schemas.openxmlformats.org/officeDocument/2006/relationships/slideLayout" Target="../slideLayouts/slideLayout3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7.xml"/></Relationships>
</file>

<file path=ppt/slides/_rels/slide6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4.xml"/><Relationship Id="rId1" Type="http://schemas.openxmlformats.org/officeDocument/2006/relationships/slideLayout" Target="../slideLayouts/slideLayout42.xml"/></Relationships>
</file>

<file path=ppt/slides/_rels/slide6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5.xml"/><Relationship Id="rId1" Type="http://schemas.openxmlformats.org/officeDocument/2006/relationships/slideLayout" Target="../slideLayouts/slideLayout42.xml"/></Relationships>
</file>

<file path=ppt/slides/_rels/slide6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6.xml"/><Relationship Id="rId1" Type="http://schemas.openxmlformats.org/officeDocument/2006/relationships/slideLayout" Target="../slideLayouts/slideLayout4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2.xml"/></Relationships>
</file>

<file path=ppt/slides/_rels/slide7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0.xml"/><Relationship Id="rId1" Type="http://schemas.openxmlformats.org/officeDocument/2006/relationships/slideLayout" Target="../slideLayouts/slideLayout4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7.xml"/></Relationships>
</file>

<file path=ppt/slides/_rels/slide7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7.xml"/></Relationships>
</file>

<file path=ppt/slides/_rels/slide7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6.xml"/><Relationship Id="rId1" Type="http://schemas.openxmlformats.org/officeDocument/2006/relationships/slideLayout" Target="../slideLayouts/slideLayout42.xml"/><Relationship Id="rId4" Type="http://schemas.openxmlformats.org/officeDocument/2006/relationships/image" Target="../media/image49.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3A7E3F1F-ED32-4024-96B7-5FB356E9DB0F}"/>
              </a:ext>
            </a:extLst>
          </p:cNvPr>
          <p:cNvSpPr>
            <a:spLocks noGrp="1" noChangeArrowheads="1"/>
          </p:cNvSpPr>
          <p:nvPr>
            <p:ph type="title" idx="4294967295"/>
          </p:nvPr>
        </p:nvSpPr>
        <p:spPr>
          <a:xfrm>
            <a:off x="2376487" y="548680"/>
            <a:ext cx="7439025" cy="838200"/>
          </a:xfrm>
        </p:spPr>
        <p:txBody>
          <a:bodyPr/>
          <a:lstStyle/>
          <a:p>
            <a:pPr algn="ctr" eaLnBrk="1" hangingPunct="1"/>
            <a:r>
              <a:rPr lang="zh-CN" altLang="en-US" dirty="0">
                <a:solidFill>
                  <a:srgbClr val="C00000"/>
                </a:solidFill>
                <a:latin typeface="楷体_GB2312" pitchFamily="49" charset="-122"/>
                <a:ea typeface="楷体_GB2312" pitchFamily="49" charset="-122"/>
              </a:rPr>
              <a:t>第六章  </a:t>
            </a:r>
            <a:r>
              <a:rPr lang="en-US" altLang="zh-CN" dirty="0">
                <a:solidFill>
                  <a:srgbClr val="C00000"/>
                </a:solidFill>
                <a:latin typeface="楷体_GB2312" pitchFamily="49" charset="-122"/>
                <a:ea typeface="楷体_GB2312" pitchFamily="49" charset="-122"/>
              </a:rPr>
              <a:t>  </a:t>
            </a:r>
            <a:r>
              <a:rPr lang="zh-CN" altLang="en-US" dirty="0">
                <a:solidFill>
                  <a:srgbClr val="C00000"/>
                </a:solidFill>
                <a:latin typeface="楷体_GB2312" pitchFamily="49" charset="-122"/>
                <a:ea typeface="楷体_GB2312" pitchFamily="49" charset="-122"/>
              </a:rPr>
              <a:t>维生素</a:t>
            </a:r>
          </a:p>
        </p:txBody>
      </p:sp>
      <p:sp>
        <p:nvSpPr>
          <p:cNvPr id="49155" name="Text Box 3">
            <a:extLst>
              <a:ext uri="{FF2B5EF4-FFF2-40B4-BE49-F238E27FC236}">
                <a16:creationId xmlns:a16="http://schemas.microsoft.com/office/drawing/2014/main" id="{A2EA724C-5164-4783-98BD-DF5D212B6F0B}"/>
              </a:ext>
            </a:extLst>
          </p:cNvPr>
          <p:cNvSpPr txBox="1">
            <a:spLocks noChangeArrowheads="1"/>
          </p:cNvSpPr>
          <p:nvPr/>
        </p:nvSpPr>
        <p:spPr bwMode="auto">
          <a:xfrm>
            <a:off x="2783632" y="1827399"/>
            <a:ext cx="7665640" cy="2554545"/>
          </a:xfrm>
          <a:prstGeom prst="rect">
            <a:avLst/>
          </a:prstGeom>
          <a:noFill/>
          <a:ln w="9525">
            <a:noFill/>
            <a:miter lim="800000"/>
            <a:headEnd/>
            <a:tailEnd/>
          </a:ln>
          <a:effectLst/>
        </p:spPr>
        <p:txBody>
          <a:bodyPr wrap="square">
            <a:spAutoFit/>
          </a:bodyPr>
          <a:lstStyle/>
          <a:p>
            <a:pPr marL="103188" indent="-103188" eaLnBrk="1" hangingPunct="1">
              <a:spcBef>
                <a:spcPct val="50000"/>
              </a:spcBef>
              <a:defRPr/>
            </a:pPr>
            <a:r>
              <a:rPr lang="zh-CN" altLang="en-US" sz="2800" dirty="0">
                <a:solidFill>
                  <a:srgbClr val="C00000"/>
                </a:solidFill>
                <a:latin typeface="微软雅黑 Light" panose="020B0502040204020203" pitchFamily="34" charset="-122"/>
                <a:ea typeface="微软雅黑 Light" panose="020B0502040204020203" pitchFamily="34" charset="-122"/>
              </a:rPr>
              <a:t>掌握：</a:t>
            </a:r>
            <a:endParaRPr lang="en-US" altLang="zh-CN" sz="2800" dirty="0">
              <a:solidFill>
                <a:srgbClr val="C00000"/>
              </a:solidFill>
              <a:latin typeface="微软雅黑 Light" panose="020B0502040204020203" pitchFamily="34" charset="-122"/>
              <a:ea typeface="微软雅黑 Light" panose="020B0502040204020203" pitchFamily="34" charset="-122"/>
            </a:endParaRPr>
          </a:p>
          <a:p>
            <a:pPr marL="457200" indent="-457200" eaLnBrk="1" hangingPunct="1">
              <a:spcBef>
                <a:spcPct val="50000"/>
              </a:spcBef>
              <a:buFont typeface="Arial" panose="020B0604020202020204" pitchFamily="34" charset="0"/>
              <a:buChar char="•"/>
              <a:defRPr/>
            </a:pPr>
            <a:r>
              <a:rPr lang="zh-CN" altLang="en-US" sz="2400" dirty="0">
                <a:solidFill>
                  <a:schemeClr val="tx1"/>
                </a:solidFill>
                <a:latin typeface="微软雅黑 Light" panose="020B0502040204020203" pitchFamily="34" charset="-122"/>
                <a:ea typeface="微软雅黑 Light" panose="020B0502040204020203" pitchFamily="34" charset="-122"/>
              </a:rPr>
              <a:t>维生素的</a:t>
            </a:r>
            <a:r>
              <a:rPr lang="zh-CN" altLang="en-US" sz="2400" dirty="0">
                <a:solidFill>
                  <a:srgbClr val="0000CC"/>
                </a:solidFill>
                <a:latin typeface="微软雅黑 Light" panose="020B0502040204020203" pitchFamily="34" charset="-122"/>
                <a:ea typeface="微软雅黑 Light" panose="020B0502040204020203" pitchFamily="34" charset="-122"/>
              </a:rPr>
              <a:t>概念</a:t>
            </a:r>
            <a:r>
              <a:rPr lang="zh-CN" altLang="en-US" sz="2400" dirty="0">
                <a:solidFill>
                  <a:schemeClr val="tx1"/>
                </a:solidFill>
                <a:latin typeface="微软雅黑 Light" panose="020B0502040204020203" pitchFamily="34" charset="-122"/>
                <a:ea typeface="微软雅黑 Light" panose="020B0502040204020203" pitchFamily="34" charset="-122"/>
              </a:rPr>
              <a:t>及</a:t>
            </a:r>
            <a:r>
              <a:rPr lang="zh-CN" altLang="en-US" sz="2400" dirty="0">
                <a:solidFill>
                  <a:srgbClr val="0000CC"/>
                </a:solidFill>
                <a:latin typeface="微软雅黑 Light" panose="020B0502040204020203" pitchFamily="34" charset="-122"/>
                <a:ea typeface="微软雅黑 Light" panose="020B0502040204020203" pitchFamily="34" charset="-122"/>
              </a:rPr>
              <a:t>分类</a:t>
            </a:r>
          </a:p>
          <a:p>
            <a:pPr marL="457200" indent="-457200" eaLnBrk="1" hangingPunct="1">
              <a:spcBef>
                <a:spcPct val="50000"/>
              </a:spcBef>
              <a:buFont typeface="Arial" panose="020B0604020202020204" pitchFamily="34" charset="0"/>
              <a:buChar char="•"/>
              <a:defRPr/>
            </a:pPr>
            <a:r>
              <a:rPr lang="zh-CN" altLang="en-US" sz="2400" dirty="0">
                <a:solidFill>
                  <a:schemeClr val="tx1"/>
                </a:solidFill>
                <a:latin typeface="微软雅黑 Light" panose="020B0502040204020203" pitchFamily="34" charset="-122"/>
                <a:ea typeface="微软雅黑 Light" panose="020B0502040204020203" pitchFamily="34" charset="-122"/>
              </a:rPr>
              <a:t>维生素在体内的</a:t>
            </a:r>
            <a:r>
              <a:rPr lang="zh-CN" altLang="en-US" sz="2400" dirty="0">
                <a:solidFill>
                  <a:srgbClr val="0000CC"/>
                </a:solidFill>
                <a:latin typeface="微软雅黑 Light" panose="020B0502040204020203" pitchFamily="34" charset="-122"/>
                <a:ea typeface="微软雅黑 Light" panose="020B0502040204020203" pitchFamily="34" charset="-122"/>
              </a:rPr>
              <a:t>活性形式</a:t>
            </a:r>
            <a:r>
              <a:rPr lang="zh-CN" altLang="en-US" sz="2400" dirty="0">
                <a:solidFill>
                  <a:schemeClr val="tx1"/>
                </a:solidFill>
                <a:latin typeface="微软雅黑 Light" panose="020B0502040204020203" pitchFamily="34" charset="-122"/>
                <a:ea typeface="微软雅黑 Light" panose="020B0502040204020203" pitchFamily="34" charset="-122"/>
              </a:rPr>
              <a:t>，尤其</a:t>
            </a:r>
            <a:r>
              <a:rPr lang="en-US" altLang="zh-CN" sz="2400" dirty="0">
                <a:solidFill>
                  <a:schemeClr val="tx1"/>
                </a:solidFill>
                <a:latin typeface="微软雅黑 Light" panose="020B0502040204020203" pitchFamily="34" charset="-122"/>
                <a:ea typeface="微软雅黑 Light" panose="020B0502040204020203" pitchFamily="34" charset="-122"/>
              </a:rPr>
              <a:t>B</a:t>
            </a:r>
            <a:r>
              <a:rPr lang="zh-CN" altLang="en-US" sz="2400" dirty="0">
                <a:solidFill>
                  <a:schemeClr val="tx1"/>
                </a:solidFill>
                <a:latin typeface="微软雅黑 Light" panose="020B0502040204020203" pitchFamily="34" charset="-122"/>
                <a:ea typeface="微软雅黑 Light" panose="020B0502040204020203" pitchFamily="34" charset="-122"/>
              </a:rPr>
              <a:t>族维生素参与构成辅酶或辅基的形式</a:t>
            </a:r>
            <a:endParaRPr lang="en-US" altLang="zh-CN" sz="2400" dirty="0">
              <a:solidFill>
                <a:schemeClr val="tx1"/>
              </a:solidFill>
              <a:latin typeface="微软雅黑 Light" panose="020B0502040204020203" pitchFamily="34" charset="-122"/>
              <a:ea typeface="微软雅黑 Light" panose="020B0502040204020203" pitchFamily="34" charset="-122"/>
            </a:endParaRPr>
          </a:p>
          <a:p>
            <a:pPr marL="457200" indent="-457200" eaLnBrk="1" hangingPunct="1">
              <a:spcBef>
                <a:spcPct val="50000"/>
              </a:spcBef>
              <a:buFont typeface="Arial" panose="020B0604020202020204" pitchFamily="34" charset="0"/>
              <a:buChar char="•"/>
              <a:defRPr/>
            </a:pPr>
            <a:r>
              <a:rPr lang="zh-CN" altLang="en-US" sz="2400" dirty="0">
                <a:solidFill>
                  <a:schemeClr val="tx1"/>
                </a:solidFill>
                <a:latin typeface="微软雅黑 Light" panose="020B0502040204020203" pitchFamily="34" charset="-122"/>
                <a:ea typeface="微软雅黑 Light" panose="020B0502040204020203" pitchFamily="34" charset="-122"/>
              </a:rPr>
              <a:t>典型的</a:t>
            </a:r>
            <a:r>
              <a:rPr lang="zh-CN" altLang="en-US" sz="2400" dirty="0">
                <a:solidFill>
                  <a:srgbClr val="0000CC"/>
                </a:solidFill>
                <a:latin typeface="微软雅黑 Light" panose="020B0502040204020203" pitchFamily="34" charset="-122"/>
                <a:ea typeface="微软雅黑 Light" panose="020B0502040204020203" pitchFamily="34" charset="-122"/>
              </a:rPr>
              <a:t>维生素缺乏疾病</a:t>
            </a:r>
          </a:p>
        </p:txBody>
      </p:sp>
      <p:sp>
        <p:nvSpPr>
          <p:cNvPr id="9220" name="文本框 1">
            <a:extLst>
              <a:ext uri="{FF2B5EF4-FFF2-40B4-BE49-F238E27FC236}">
                <a16:creationId xmlns:a16="http://schemas.microsoft.com/office/drawing/2014/main" id="{2773F22E-8336-4560-8C18-8DFF6D31923A}"/>
              </a:ext>
            </a:extLst>
          </p:cNvPr>
          <p:cNvSpPr txBox="1">
            <a:spLocks noChangeArrowheads="1"/>
          </p:cNvSpPr>
          <p:nvPr/>
        </p:nvSpPr>
        <p:spPr bwMode="auto">
          <a:xfrm>
            <a:off x="2276303" y="5877272"/>
            <a:ext cx="78327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a:lnSpc>
                <a:spcPct val="100000"/>
              </a:lnSpc>
              <a:spcBef>
                <a:spcPct val="0"/>
              </a:spcBef>
              <a:buFontTx/>
              <a:buNone/>
            </a:pPr>
            <a:r>
              <a:rPr lang="zh-CN" altLang="en-US" sz="2000" b="0" dirty="0">
                <a:latin typeface="Times New Roman" panose="02020603050405020304" pitchFamily="18" charset="0"/>
                <a:ea typeface="楷体_GB2312" pitchFamily="49" charset="-122"/>
              </a:rPr>
              <a:t>彭翼飞  </a:t>
            </a:r>
            <a:r>
              <a:rPr lang="en-US" altLang="zh-CN" sz="2000" b="0" dirty="0">
                <a:latin typeface="Times New Roman" panose="02020603050405020304" pitchFamily="18" charset="0"/>
                <a:ea typeface="楷体_GB2312" pitchFamily="49" charset="-122"/>
              </a:rPr>
              <a:t>yvettegz@163.com</a:t>
            </a:r>
          </a:p>
          <a:p>
            <a:pPr algn="ctr">
              <a:lnSpc>
                <a:spcPct val="100000"/>
              </a:lnSpc>
              <a:spcBef>
                <a:spcPct val="0"/>
              </a:spcBef>
              <a:buFontTx/>
              <a:buNone/>
            </a:pPr>
            <a:r>
              <a:rPr lang="zh-CN" altLang="en-US" sz="2000" b="0" dirty="0">
                <a:latin typeface="Times New Roman" panose="02020603050405020304" pitchFamily="18" charset="0"/>
                <a:ea typeface="楷体_GB2312" pitchFamily="49" charset="-122"/>
              </a:rPr>
              <a:t>南方医科大学基础医学院生物化学教研室</a:t>
            </a:r>
            <a:endParaRPr lang="en-US" altLang="zh-CN" sz="2000" b="0" dirty="0">
              <a:latin typeface="Times New Roman" panose="02020603050405020304" pitchFamily="18" charset="0"/>
              <a:ea typeface="楷体_GB2312" pitchFamily="49" charset="-122"/>
            </a:endParaRPr>
          </a:p>
        </p:txBody>
      </p:sp>
      <p:sp>
        <p:nvSpPr>
          <p:cNvPr id="9221" name="矩形 1">
            <a:extLst>
              <a:ext uri="{FF2B5EF4-FFF2-40B4-BE49-F238E27FC236}">
                <a16:creationId xmlns:a16="http://schemas.microsoft.com/office/drawing/2014/main" id="{0BD1D00F-8B48-4467-95E4-1E1A6BE051F8}"/>
              </a:ext>
            </a:extLst>
          </p:cNvPr>
          <p:cNvSpPr>
            <a:spLocks noChangeArrowheads="1"/>
          </p:cNvSpPr>
          <p:nvPr/>
        </p:nvSpPr>
        <p:spPr bwMode="auto">
          <a:xfrm>
            <a:off x="3038872" y="4705980"/>
            <a:ext cx="62658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dirty="0">
                <a:latin typeface="微软雅黑 Light" panose="020B0502040204020203" pitchFamily="34" charset="-122"/>
                <a:ea typeface="微软雅黑 Light" panose="020B0502040204020203" pitchFamily="34" charset="-122"/>
              </a:rPr>
              <a:t>了解</a:t>
            </a:r>
            <a:r>
              <a:rPr lang="zh-CN" altLang="en-US" b="0" dirty="0">
                <a:latin typeface="微软雅黑 Light" panose="020B0502040204020203" pitchFamily="34" charset="-122"/>
                <a:ea typeface="微软雅黑 Light" panose="020B0502040204020203" pitchFamily="34" charset="-122"/>
              </a:rPr>
              <a:t>： 维生素的来源及生理功能</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266" name="Picture 2" descr="jalor">
            <a:extLst>
              <a:ext uri="{FF2B5EF4-FFF2-40B4-BE49-F238E27FC236}">
                <a16:creationId xmlns:a16="http://schemas.microsoft.com/office/drawing/2014/main" id="{7201ED13-435D-4DCC-AD0C-1D61A84F91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987" b="3999"/>
          <a:stretch>
            <a:fillRect/>
          </a:stretch>
        </p:blipFill>
        <p:spPr bwMode="auto">
          <a:xfrm>
            <a:off x="1650983" y="404814"/>
            <a:ext cx="3203847" cy="3466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3" name="Picture 3" descr="lenmon">
            <a:extLst>
              <a:ext uri="{FF2B5EF4-FFF2-40B4-BE49-F238E27FC236}">
                <a16:creationId xmlns:a16="http://schemas.microsoft.com/office/drawing/2014/main" id="{F0D273F9-6B6A-4D44-9415-2DB614CFAE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0500" t="16000" r="20500" b="14000"/>
          <a:stretch>
            <a:fillRect/>
          </a:stretch>
        </p:blipFill>
        <p:spPr bwMode="auto">
          <a:xfrm>
            <a:off x="1645778" y="4293095"/>
            <a:ext cx="3210578" cy="2355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4" name="Text Box 4">
            <a:extLst>
              <a:ext uri="{FF2B5EF4-FFF2-40B4-BE49-F238E27FC236}">
                <a16:creationId xmlns:a16="http://schemas.microsoft.com/office/drawing/2014/main" id="{E84452DF-FD63-44A7-9DBA-1D6687111DC1}"/>
              </a:ext>
            </a:extLst>
          </p:cNvPr>
          <p:cNvSpPr txBox="1">
            <a:spLocks noChangeArrowheads="1"/>
          </p:cNvSpPr>
          <p:nvPr/>
        </p:nvSpPr>
        <p:spPr bwMode="auto">
          <a:xfrm>
            <a:off x="5159375" y="404814"/>
            <a:ext cx="5346700" cy="511175"/>
          </a:xfrm>
          <a:prstGeom prst="rect">
            <a:avLst/>
          </a:prstGeom>
          <a:noFill/>
          <a:ln w="9525">
            <a:noFill/>
            <a:miter lim="800000"/>
            <a:headEnd/>
            <a:tailEnd/>
          </a:ln>
          <a:effectLst/>
        </p:spPr>
        <p:txBody>
          <a:bodyPr>
            <a:spAutoFit/>
          </a:bodyPr>
          <a:lstStyle/>
          <a:p>
            <a:pPr eaLnBrk="1" hangingPunct="1">
              <a:lnSpc>
                <a:spcPct val="125000"/>
              </a:lnSpc>
              <a:spcBef>
                <a:spcPct val="50000"/>
              </a:spcBef>
              <a:defRPr/>
            </a:pPr>
            <a:r>
              <a:rPr lang="en-US" altLang="zh-CN" sz="2400" dirty="0">
                <a:solidFill>
                  <a:schemeClr val="accent2"/>
                </a:solidFill>
                <a:effectLst>
                  <a:outerShdw blurRad="38100" dist="38100" dir="2700000" algn="tl">
                    <a:srgbClr val="000000"/>
                  </a:outerShdw>
                </a:effectLst>
                <a:ea typeface="宋体" pitchFamily="2" charset="-122"/>
              </a:rPr>
              <a:t>        </a:t>
            </a:r>
            <a:endParaRPr lang="zh-CN" altLang="en-US" sz="2400" dirty="0">
              <a:solidFill>
                <a:srgbClr val="FFFF00"/>
              </a:solidFill>
              <a:effectLst>
                <a:outerShdw blurRad="38100" dist="38100" dir="2700000" algn="tl">
                  <a:srgbClr val="000000"/>
                </a:outerShdw>
              </a:effectLst>
              <a:ea typeface="宋体" pitchFamily="2" charset="-122"/>
            </a:endParaRPr>
          </a:p>
        </p:txBody>
      </p:sp>
      <p:sp>
        <p:nvSpPr>
          <p:cNvPr id="81926" name="Text Box 6">
            <a:extLst>
              <a:ext uri="{FF2B5EF4-FFF2-40B4-BE49-F238E27FC236}">
                <a16:creationId xmlns:a16="http://schemas.microsoft.com/office/drawing/2014/main" id="{5F0CC242-8838-4BEA-A319-E4BF171FAF38}"/>
              </a:ext>
            </a:extLst>
          </p:cNvPr>
          <p:cNvSpPr txBox="1">
            <a:spLocks noChangeArrowheads="1"/>
          </p:cNvSpPr>
          <p:nvPr/>
        </p:nvSpPr>
        <p:spPr bwMode="auto">
          <a:xfrm>
            <a:off x="5321300" y="2786063"/>
            <a:ext cx="5959276"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03188" indent="-103188">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lang="en-US" altLang="zh-CN" sz="2400" b="0" dirty="0">
                <a:latin typeface="微软雅黑 Light" panose="020B0502040204020203" pitchFamily="34" charset="-122"/>
                <a:ea typeface="微软雅黑 Light" panose="020B0502040204020203" pitchFamily="34" charset="-122"/>
              </a:rPr>
              <a:t>      1747</a:t>
            </a:r>
            <a:r>
              <a:rPr lang="zh-CN" altLang="en-US" sz="2400" b="0" dirty="0">
                <a:latin typeface="微软雅黑 Light" panose="020B0502040204020203" pitchFamily="34" charset="-122"/>
                <a:ea typeface="微软雅黑 Light" panose="020B0502040204020203" pitchFamily="34" charset="-122"/>
              </a:rPr>
              <a:t>年，英国人林德正式确认用</a:t>
            </a:r>
            <a:r>
              <a:rPr lang="zh-CN" altLang="en-US" sz="2400" b="0" dirty="0">
                <a:solidFill>
                  <a:srgbClr val="3333CC"/>
                </a:solidFill>
                <a:latin typeface="微软雅黑 Light" panose="020B0502040204020203" pitchFamily="34" charset="-122"/>
                <a:ea typeface="微软雅黑 Light" panose="020B0502040204020203" pitchFamily="34" charset="-122"/>
              </a:rPr>
              <a:t>橘子和柠檬可以治疗坏血病</a:t>
            </a:r>
            <a:r>
              <a:rPr lang="zh-CN" altLang="en-US" sz="2400" b="0" dirty="0">
                <a:latin typeface="微软雅黑 Light" panose="020B0502040204020203" pitchFamily="34" charset="-122"/>
                <a:ea typeface="微软雅黑 Light" panose="020B0502040204020203" pitchFamily="34" charset="-122"/>
              </a:rPr>
              <a:t>，但结论没受重视。　悲剧继续上演了１００多年。</a:t>
            </a:r>
            <a:endParaRPr lang="en-US" altLang="zh-CN" sz="2400" b="0" dirty="0">
              <a:latin typeface="微软雅黑 Light" panose="020B0502040204020203" pitchFamily="34" charset="-122"/>
              <a:ea typeface="微软雅黑 Light" panose="020B0502040204020203" pitchFamily="34" charset="-122"/>
            </a:endParaRPr>
          </a:p>
          <a:p>
            <a:pPr eaLnBrk="1" hangingPunct="1">
              <a:lnSpc>
                <a:spcPct val="100000"/>
              </a:lnSpc>
              <a:spcBef>
                <a:spcPct val="50000"/>
              </a:spcBef>
              <a:buFontTx/>
              <a:buNone/>
            </a:pPr>
            <a:endParaRPr lang="en-US" altLang="zh-CN" sz="2400" b="0" dirty="0">
              <a:latin typeface="微软雅黑 Light" panose="020B0502040204020203" pitchFamily="34" charset="-122"/>
              <a:ea typeface="微软雅黑 Light" panose="020B0502040204020203" pitchFamily="34" charset="-122"/>
            </a:endParaRPr>
          </a:p>
          <a:p>
            <a:pPr eaLnBrk="1" hangingPunct="1">
              <a:lnSpc>
                <a:spcPct val="100000"/>
              </a:lnSpc>
              <a:spcBef>
                <a:spcPct val="50000"/>
              </a:spcBef>
              <a:buFontTx/>
              <a:buNone/>
            </a:pPr>
            <a:r>
              <a:rPr lang="zh-CN" altLang="en-US" sz="2400" b="0" dirty="0">
                <a:latin typeface="微软雅黑 Light" panose="020B0502040204020203" pitchFamily="34" charset="-122"/>
                <a:ea typeface="微软雅黑 Light" panose="020B0502040204020203" pitchFamily="34" charset="-122"/>
              </a:rPr>
              <a:t>     </a:t>
            </a:r>
            <a:r>
              <a:rPr lang="en-US" altLang="zh-CN" sz="2400" b="0" dirty="0">
                <a:latin typeface="微软雅黑 Light" panose="020B0502040204020203" pitchFamily="34" charset="-122"/>
                <a:ea typeface="微软雅黑 Light" panose="020B0502040204020203" pitchFamily="34" charset="-122"/>
              </a:rPr>
              <a:t>1500</a:t>
            </a:r>
            <a:r>
              <a:rPr lang="zh-CN" altLang="en-US" sz="2400" b="0" dirty="0">
                <a:latin typeface="微软雅黑 Light" panose="020B0502040204020203" pitchFamily="34" charset="-122"/>
                <a:ea typeface="微软雅黑 Light" panose="020B0502040204020203" pitchFamily="34" charset="-122"/>
              </a:rPr>
              <a:t>年到</a:t>
            </a:r>
            <a:r>
              <a:rPr lang="en-US" altLang="zh-CN" sz="2400" b="0" dirty="0">
                <a:latin typeface="微软雅黑 Light" panose="020B0502040204020203" pitchFamily="34" charset="-122"/>
                <a:ea typeface="微软雅黑 Light" panose="020B0502040204020203" pitchFamily="34" charset="-122"/>
              </a:rPr>
              <a:t>1800</a:t>
            </a:r>
            <a:r>
              <a:rPr lang="zh-CN" altLang="en-US" sz="2400" b="0" dirty="0">
                <a:latin typeface="微软雅黑 Light" panose="020B0502040204020203" pitchFamily="34" charset="-122"/>
                <a:ea typeface="微软雅黑 Light" panose="020B0502040204020203" pitchFamily="34" charset="-122"/>
              </a:rPr>
              <a:t>年间</a:t>
            </a:r>
            <a:r>
              <a:rPr lang="en-US" altLang="zh-CN" sz="2400" b="0" dirty="0">
                <a:latin typeface="微软雅黑 Light" panose="020B0502040204020203" pitchFamily="34" charset="-122"/>
                <a:ea typeface="微软雅黑 Light" panose="020B0502040204020203" pitchFamily="34" charset="-122"/>
              </a:rPr>
              <a:t>,  </a:t>
            </a:r>
            <a:r>
              <a:rPr lang="zh-CN" altLang="en-US" sz="2400" b="0" dirty="0">
                <a:latin typeface="微软雅黑 Light" panose="020B0502040204020203" pitchFamily="34" charset="-122"/>
                <a:ea typeface="微软雅黑 Light" panose="020B0502040204020203" pitchFamily="34" charset="-122"/>
              </a:rPr>
              <a:t>大约有</a:t>
            </a:r>
            <a:r>
              <a:rPr lang="en-US" altLang="zh-CN" sz="2400" b="0" dirty="0">
                <a:latin typeface="微软雅黑 Light" panose="020B0502040204020203" pitchFamily="34" charset="-122"/>
                <a:ea typeface="微软雅黑 Light" panose="020B0502040204020203" pitchFamily="34" charset="-122"/>
              </a:rPr>
              <a:t>2</a:t>
            </a:r>
            <a:r>
              <a:rPr lang="zh-CN" altLang="en-US" sz="2400" b="0" dirty="0">
                <a:latin typeface="微软雅黑 Light" panose="020B0502040204020203" pitchFamily="34" charset="-122"/>
                <a:ea typeface="微软雅黑 Light" panose="020B0502040204020203" pitchFamily="34" charset="-122"/>
              </a:rPr>
              <a:t>百万名水手死于</a:t>
            </a:r>
            <a:r>
              <a:rPr lang="zh-CN" altLang="en-US" sz="2400" dirty="0">
                <a:solidFill>
                  <a:srgbClr val="0000CC"/>
                </a:solidFill>
                <a:latin typeface="微软雅黑 Light" panose="020B0502040204020203" pitchFamily="34" charset="-122"/>
                <a:ea typeface="微软雅黑 Light" panose="020B0502040204020203" pitchFamily="34" charset="-122"/>
              </a:rPr>
              <a:t>坏血病</a:t>
            </a:r>
            <a:r>
              <a:rPr lang="zh-CN" altLang="en-US" sz="2400" b="0" dirty="0">
                <a:latin typeface="微软雅黑 Light" panose="020B0502040204020203" pitchFamily="34" charset="-122"/>
                <a:ea typeface="微软雅黑 Light" panose="020B0502040204020203" pitchFamily="34" charset="-122"/>
              </a:rPr>
              <a:t>。</a:t>
            </a:r>
          </a:p>
        </p:txBody>
      </p:sp>
      <p:sp>
        <p:nvSpPr>
          <p:cNvPr id="11271" name="矩形 6">
            <a:extLst>
              <a:ext uri="{FF2B5EF4-FFF2-40B4-BE49-F238E27FC236}">
                <a16:creationId xmlns:a16="http://schemas.microsoft.com/office/drawing/2014/main" id="{C551353C-3194-4FC2-A518-8A8B2BCA79F8}"/>
              </a:ext>
            </a:extLst>
          </p:cNvPr>
          <p:cNvSpPr>
            <a:spLocks noChangeArrowheads="1"/>
          </p:cNvSpPr>
          <p:nvPr/>
        </p:nvSpPr>
        <p:spPr bwMode="auto">
          <a:xfrm>
            <a:off x="5321300" y="855247"/>
            <a:ext cx="581526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03188" indent="-103188">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lang="zh-CN" altLang="en-US" sz="2400" b="0" dirty="0">
                <a:latin typeface="微软雅黑 Light" panose="020B0502040204020203" pitchFamily="34" charset="-122"/>
                <a:ea typeface="微软雅黑 Light" panose="020B0502040204020203" pitchFamily="34" charset="-122"/>
              </a:rPr>
              <a:t>　　西方大航海时代</a:t>
            </a:r>
            <a:r>
              <a:rPr lang="en-US" altLang="zh-CN" sz="2400" b="0" dirty="0">
                <a:latin typeface="微软雅黑 Light" panose="020B0502040204020203" pitchFamily="34" charset="-122"/>
                <a:ea typeface="微软雅黑 Light" panose="020B0502040204020203" pitchFamily="34" charset="-122"/>
              </a:rPr>
              <a:t>,</a:t>
            </a:r>
            <a:r>
              <a:rPr lang="zh-CN" altLang="en-US" sz="2400" b="0" dirty="0">
                <a:latin typeface="微软雅黑 Light" panose="020B0502040204020203" pitchFamily="34" charset="-122"/>
                <a:ea typeface="微软雅黑 Light" panose="020B0502040204020203" pitchFamily="34" charset="-122"/>
              </a:rPr>
              <a:t>　水手们长年累月在海上颠簸</a:t>
            </a:r>
            <a:r>
              <a:rPr lang="en-US" altLang="zh-CN" sz="2400" b="0" dirty="0">
                <a:latin typeface="微软雅黑 Light" panose="020B0502040204020203" pitchFamily="34" charset="-122"/>
                <a:ea typeface="微软雅黑 Light" panose="020B0502040204020203" pitchFamily="34" charset="-122"/>
              </a:rPr>
              <a:t>,</a:t>
            </a:r>
            <a:r>
              <a:rPr lang="zh-CN" altLang="en-US" sz="2400" b="0" dirty="0">
                <a:latin typeface="微软雅黑 Light" panose="020B0502040204020203" pitchFamily="34" charset="-122"/>
                <a:ea typeface="微软雅黑 Light" panose="020B0502040204020203" pitchFamily="34" charset="-122"/>
              </a:rPr>
              <a:t> 很容易得坏血病</a:t>
            </a:r>
            <a:r>
              <a:rPr lang="en-US" altLang="zh-CN" sz="2400" b="0" dirty="0">
                <a:latin typeface="微软雅黑 Light" panose="020B0502040204020203" pitchFamily="34" charset="-122"/>
                <a:ea typeface="微软雅黑 Light" panose="020B0502040204020203" pitchFamily="34" charset="-122"/>
              </a:rPr>
              <a:t>:</a:t>
            </a:r>
            <a:r>
              <a:rPr lang="zh-CN" altLang="en-US" sz="2400" b="0" dirty="0">
                <a:latin typeface="微软雅黑 Light" panose="020B0502040204020203" pitchFamily="34" charset="-122"/>
                <a:ea typeface="微软雅黑 Light" panose="020B0502040204020203" pitchFamily="34" charset="-122"/>
              </a:rPr>
              <a:t>　齿龈肿胀、出血</a:t>
            </a:r>
            <a:r>
              <a:rPr lang="en-US" altLang="zh-CN" sz="2400" b="0" dirty="0">
                <a:latin typeface="微软雅黑 Light" panose="020B0502040204020203" pitchFamily="34" charset="-122"/>
                <a:ea typeface="微软雅黑 Light" panose="020B0502040204020203" pitchFamily="34" charset="-122"/>
              </a:rPr>
              <a:t>,</a:t>
            </a:r>
            <a:r>
              <a:rPr lang="zh-CN" altLang="en-US" sz="2400" b="0" dirty="0">
                <a:latin typeface="微软雅黑 Light" panose="020B0502040204020203" pitchFamily="34" charset="-122"/>
                <a:ea typeface="微软雅黑 Light" panose="020B0502040204020203" pitchFamily="34" charset="-122"/>
              </a:rPr>
              <a:t>皮下淤点</a:t>
            </a:r>
            <a:r>
              <a:rPr lang="en-US" altLang="zh-CN" sz="2400" b="0" dirty="0">
                <a:latin typeface="微软雅黑 Light" panose="020B0502040204020203" pitchFamily="34" charset="-122"/>
                <a:ea typeface="微软雅黑 Light" panose="020B0502040204020203" pitchFamily="34" charset="-122"/>
              </a:rPr>
              <a:t>,</a:t>
            </a:r>
            <a:r>
              <a:rPr lang="zh-CN" altLang="en-US" sz="2400" b="0" dirty="0">
                <a:latin typeface="微软雅黑 Light" panose="020B0502040204020203" pitchFamily="34" charset="-122"/>
                <a:ea typeface="微软雅黑 Light" panose="020B0502040204020203" pitchFamily="34" charset="-122"/>
              </a:rPr>
              <a:t>关节疼痛</a:t>
            </a:r>
            <a:r>
              <a:rPr lang="en-US" altLang="zh-CN" sz="2400" b="0" dirty="0">
                <a:latin typeface="微软雅黑 Light" panose="020B0502040204020203" pitchFamily="34" charset="-122"/>
                <a:ea typeface="微软雅黑 Light" panose="020B0502040204020203" pitchFamily="34" charset="-122"/>
              </a:rPr>
              <a:t>,</a:t>
            </a:r>
            <a:r>
              <a:rPr lang="zh-CN" altLang="en-US" sz="2400" b="0" dirty="0">
                <a:latin typeface="微软雅黑 Light" panose="020B0502040204020203" pitchFamily="34" charset="-122"/>
                <a:ea typeface="微软雅黑 Light" panose="020B0502040204020203" pitchFamily="34" charset="-122"/>
              </a:rPr>
              <a:t>伤口无法愈合</a:t>
            </a:r>
            <a:r>
              <a:rPr lang="en-US" altLang="zh-CN" sz="2400" b="0" dirty="0">
                <a:latin typeface="微软雅黑 Light" panose="020B0502040204020203" pitchFamily="34" charset="-122"/>
                <a:ea typeface="微软雅黑 Light" panose="020B0502040204020203" pitchFamily="34" charset="-122"/>
              </a:rPr>
              <a:t>,</a:t>
            </a:r>
            <a:r>
              <a:rPr lang="zh-CN" altLang="en-US" sz="2400" b="0" dirty="0">
                <a:latin typeface="微软雅黑 Light" panose="020B0502040204020203" pitchFamily="34" charset="-122"/>
                <a:ea typeface="微软雅黑 Light" panose="020B0502040204020203" pitchFamily="34" charset="-122"/>
              </a:rPr>
              <a:t>牙齿松动、脱落</a:t>
            </a:r>
            <a:r>
              <a:rPr lang="en-US" altLang="zh-CN" sz="2400" b="0" dirty="0">
                <a:latin typeface="微软雅黑 Light" panose="020B0502040204020203" pitchFamily="34" charset="-122"/>
                <a:ea typeface="微软雅黑 Light" panose="020B0502040204020203" pitchFamily="34" charset="-122"/>
              </a:rPr>
              <a:t>,</a:t>
            </a:r>
            <a:r>
              <a:rPr lang="zh-CN" altLang="en-US" sz="2400" b="0" dirty="0">
                <a:latin typeface="微软雅黑 Light" panose="020B0502040204020203" pitchFamily="34" charset="-122"/>
                <a:ea typeface="微软雅黑 Light" panose="020B0502040204020203" pitchFamily="34" charset="-122"/>
              </a:rPr>
              <a:t>最终导致死亡。</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1923"/>
                                        </p:tgtEl>
                                        <p:attrNameLst>
                                          <p:attrName>style.visibility</p:attrName>
                                        </p:attrNameLst>
                                      </p:cBhvr>
                                      <p:to>
                                        <p:strVal val="visible"/>
                                      </p:to>
                                    </p:set>
                                    <p:animEffect transition="in" filter="dissolve">
                                      <p:cBhvr>
                                        <p:cTn id="7" dur="500"/>
                                        <p:tgtEl>
                                          <p:spTgt spid="81923"/>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81926"/>
                                        </p:tgtEl>
                                        <p:attrNameLst>
                                          <p:attrName>style.visibility</p:attrName>
                                        </p:attrNameLst>
                                      </p:cBhvr>
                                      <p:to>
                                        <p:strVal val="visible"/>
                                      </p:to>
                                    </p:set>
                                    <p:animEffect transition="in" filter="blinds(horizontal)">
                                      <p:cBhvr>
                                        <p:cTn id="11" dur="500"/>
                                        <p:tgtEl>
                                          <p:spTgt spid="819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6"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72F193C2-94B6-4CE2-B0A8-8CC86D56F427}"/>
              </a:ext>
            </a:extLst>
          </p:cNvPr>
          <p:cNvSpPr>
            <a:spLocks noGrp="1" noChangeArrowheads="1"/>
          </p:cNvSpPr>
          <p:nvPr>
            <p:ph type="title"/>
          </p:nvPr>
        </p:nvSpPr>
        <p:spPr>
          <a:xfrm>
            <a:off x="3791743" y="344751"/>
            <a:ext cx="4608513" cy="936625"/>
          </a:xfrm>
        </p:spPr>
        <p:txBody>
          <a:bodyPr/>
          <a:lstStyle/>
          <a:p>
            <a:pPr algn="ctr" eaLnBrk="1" hangingPunct="1"/>
            <a:r>
              <a:rPr lang="zh-CN" altLang="en-US" sz="4000" b="1" dirty="0">
                <a:solidFill>
                  <a:srgbClr val="C00000"/>
                </a:solidFill>
              </a:rPr>
              <a:t>维生素名称由来</a:t>
            </a:r>
          </a:p>
        </p:txBody>
      </p:sp>
      <p:sp>
        <p:nvSpPr>
          <p:cNvPr id="25603" name="Rectangle 3">
            <a:extLst>
              <a:ext uri="{FF2B5EF4-FFF2-40B4-BE49-F238E27FC236}">
                <a16:creationId xmlns:a16="http://schemas.microsoft.com/office/drawing/2014/main" id="{84BE3DE4-0C7D-4A29-8579-5FCFB926092C}"/>
              </a:ext>
            </a:extLst>
          </p:cNvPr>
          <p:cNvSpPr>
            <a:spLocks noGrp="1" noChangeArrowheads="1"/>
          </p:cNvSpPr>
          <p:nvPr>
            <p:ph idx="1"/>
          </p:nvPr>
        </p:nvSpPr>
        <p:spPr>
          <a:xfrm>
            <a:off x="1343472" y="1700213"/>
            <a:ext cx="9937104" cy="3889027"/>
          </a:xfrm>
        </p:spPr>
        <p:txBody>
          <a:bodyPr/>
          <a:lstStyle/>
          <a:p>
            <a:pPr eaLnBrk="1" hangingPunct="1">
              <a:lnSpc>
                <a:spcPct val="125000"/>
              </a:lnSpc>
              <a:buClr>
                <a:srgbClr val="0000CC"/>
              </a:buClr>
            </a:pPr>
            <a:r>
              <a:rPr lang="en-US" altLang="zh-CN" dirty="0"/>
              <a:t>1912</a:t>
            </a:r>
            <a:r>
              <a:rPr lang="zh-CN" altLang="en-US" dirty="0"/>
              <a:t>年，波兰化学家卡西米尔</a:t>
            </a:r>
            <a:r>
              <a:rPr lang="en-US" altLang="zh-CN" dirty="0"/>
              <a:t>.</a:t>
            </a:r>
            <a:r>
              <a:rPr lang="zh-CN" altLang="en-US" dirty="0"/>
              <a:t>冯克</a:t>
            </a:r>
            <a:r>
              <a:rPr lang="en-US" altLang="zh-CN" dirty="0"/>
              <a:t>(Casimir Funk)</a:t>
            </a:r>
            <a:r>
              <a:rPr lang="zh-CN" altLang="en-US" dirty="0"/>
              <a:t>发现糙米中能够防治脚气病的物质（维生素</a:t>
            </a:r>
            <a:r>
              <a:rPr lang="en-US" altLang="zh-CN" dirty="0"/>
              <a:t>B</a:t>
            </a:r>
            <a:r>
              <a:rPr lang="en-US" altLang="zh-CN" baseline="-25000" dirty="0"/>
              <a:t>1</a:t>
            </a:r>
            <a:r>
              <a:rPr lang="zh-CN" altLang="en-US" dirty="0"/>
              <a:t>）是一种胺</a:t>
            </a:r>
            <a:r>
              <a:rPr lang="en-US" altLang="zh-CN" dirty="0"/>
              <a:t>, </a:t>
            </a:r>
            <a:r>
              <a:rPr lang="zh-CN" altLang="en-US" dirty="0"/>
              <a:t>他称之为</a:t>
            </a:r>
            <a:r>
              <a:rPr lang="en-US" altLang="zh-CN" dirty="0" err="1">
                <a:solidFill>
                  <a:srgbClr val="3333CC"/>
                </a:solidFill>
              </a:rPr>
              <a:t>vitamine</a:t>
            </a:r>
            <a:r>
              <a:rPr lang="zh-CN" altLang="en-US" dirty="0">
                <a:solidFill>
                  <a:srgbClr val="3333CC"/>
                </a:solidFill>
              </a:rPr>
              <a:t>（源于</a:t>
            </a:r>
            <a:r>
              <a:rPr lang="en-US" altLang="zh-CN" dirty="0">
                <a:solidFill>
                  <a:srgbClr val="3333CC"/>
                </a:solidFill>
              </a:rPr>
              <a:t>vital  amine). </a:t>
            </a:r>
            <a:r>
              <a:rPr lang="zh-CN" altLang="en-US" dirty="0">
                <a:solidFill>
                  <a:srgbClr val="3333CC"/>
                </a:solidFill>
              </a:rPr>
              <a:t> 这一叫法被广泛采用，仅仅将</a:t>
            </a:r>
            <a:r>
              <a:rPr lang="en-US" altLang="zh-CN" dirty="0">
                <a:solidFill>
                  <a:srgbClr val="3333CC"/>
                </a:solidFill>
              </a:rPr>
              <a:t>amine</a:t>
            </a:r>
            <a:r>
              <a:rPr lang="zh-CN" altLang="en-US" dirty="0">
                <a:solidFill>
                  <a:srgbClr val="3333CC"/>
                </a:solidFill>
              </a:rPr>
              <a:t>的最后一个“</a:t>
            </a:r>
            <a:r>
              <a:rPr lang="en-US" altLang="zh-CN" dirty="0">
                <a:solidFill>
                  <a:srgbClr val="3333CC"/>
                </a:solidFill>
              </a:rPr>
              <a:t>e”</a:t>
            </a:r>
            <a:r>
              <a:rPr lang="zh-CN" altLang="en-US" dirty="0">
                <a:solidFill>
                  <a:srgbClr val="3333CC"/>
                </a:solidFill>
              </a:rPr>
              <a:t>去掉，成为了“</a:t>
            </a:r>
            <a:r>
              <a:rPr lang="en-US" altLang="zh-CN" dirty="0">
                <a:solidFill>
                  <a:srgbClr val="3333CC"/>
                </a:solidFill>
              </a:rPr>
              <a:t>vitamin”</a:t>
            </a:r>
            <a:r>
              <a:rPr lang="zh-CN" altLang="en-US" dirty="0"/>
              <a:t>（音译“维他命”）。</a:t>
            </a:r>
            <a:endParaRPr lang="en-US" altLang="zh-CN" dirty="0"/>
          </a:p>
          <a:p>
            <a:pPr eaLnBrk="1" hangingPunct="1">
              <a:lnSpc>
                <a:spcPct val="125000"/>
              </a:lnSpc>
              <a:buClr>
                <a:srgbClr val="0000CC"/>
              </a:buClr>
            </a:pPr>
            <a:r>
              <a:rPr lang="zh-CN" altLang="en-US" b="1" dirty="0"/>
              <a:t>脂溶性维生素和</a:t>
            </a:r>
            <a:r>
              <a:rPr lang="en-US" altLang="zh-CN" b="1" dirty="0"/>
              <a:t>Vit C </a:t>
            </a:r>
            <a:r>
              <a:rPr lang="zh-CN" altLang="en-US" b="1" dirty="0"/>
              <a:t>并不含氮</a:t>
            </a:r>
            <a:r>
              <a:rPr lang="zh-CN" altLang="en-US" dirty="0"/>
              <a:t>，非胺类，但冯克的命名一直被沿用。</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3787D2-7CB3-4A71-9CC2-7CA3D8292BA1}"/>
              </a:ext>
            </a:extLst>
          </p:cNvPr>
          <p:cNvSpPr>
            <a:spLocks noGrp="1"/>
          </p:cNvSpPr>
          <p:nvPr>
            <p:ph type="title"/>
          </p:nvPr>
        </p:nvSpPr>
        <p:spPr>
          <a:xfrm>
            <a:off x="1923341" y="260649"/>
            <a:ext cx="8047806" cy="687611"/>
          </a:xfrm>
        </p:spPr>
        <p:txBody>
          <a:bodyPr/>
          <a:lstStyle/>
          <a:p>
            <a:pPr algn="ctr"/>
            <a:r>
              <a:rPr lang="zh-CN" altLang="en-US" sz="3200" b="1" dirty="0">
                <a:latin typeface="微软雅黑" panose="020B0503020204020204" pitchFamily="34" charset="-122"/>
                <a:ea typeface="微软雅黑" panose="020B0503020204020204" pitchFamily="34" charset="-122"/>
              </a:rPr>
              <a:t>各种维生素的发现年份及其主要来源</a:t>
            </a:r>
          </a:p>
        </p:txBody>
      </p:sp>
      <p:graphicFrame>
        <p:nvGraphicFramePr>
          <p:cNvPr id="4" name="内容占位符 3">
            <a:extLst>
              <a:ext uri="{FF2B5EF4-FFF2-40B4-BE49-F238E27FC236}">
                <a16:creationId xmlns:a16="http://schemas.microsoft.com/office/drawing/2014/main" id="{1FD294D9-A82F-475B-BD0C-5B707D5FFADF}"/>
              </a:ext>
            </a:extLst>
          </p:cNvPr>
          <p:cNvGraphicFramePr>
            <a:graphicFrameLocks noGrp="1"/>
          </p:cNvGraphicFramePr>
          <p:nvPr>
            <p:ph idx="1"/>
            <p:extLst>
              <p:ext uri="{D42A27DB-BD31-4B8C-83A1-F6EECF244321}">
                <p14:modId xmlns:p14="http://schemas.microsoft.com/office/powerpoint/2010/main" val="4220250197"/>
              </p:ext>
            </p:extLst>
          </p:nvPr>
        </p:nvGraphicFramePr>
        <p:xfrm>
          <a:off x="2084447" y="948573"/>
          <a:ext cx="7886700" cy="5487303"/>
        </p:xfrm>
        <a:graphic>
          <a:graphicData uri="http://schemas.openxmlformats.org/drawingml/2006/table">
            <a:tbl>
              <a:tblPr/>
              <a:tblGrid>
                <a:gridCol w="1622004">
                  <a:extLst>
                    <a:ext uri="{9D8B030D-6E8A-4147-A177-3AD203B41FA5}">
                      <a16:colId xmlns:a16="http://schemas.microsoft.com/office/drawing/2014/main" val="3639416455"/>
                    </a:ext>
                  </a:extLst>
                </a:gridCol>
                <a:gridCol w="3384376">
                  <a:extLst>
                    <a:ext uri="{9D8B030D-6E8A-4147-A177-3AD203B41FA5}">
                      <a16:colId xmlns:a16="http://schemas.microsoft.com/office/drawing/2014/main" val="3663910984"/>
                    </a:ext>
                  </a:extLst>
                </a:gridCol>
                <a:gridCol w="2880320">
                  <a:extLst>
                    <a:ext uri="{9D8B030D-6E8A-4147-A177-3AD203B41FA5}">
                      <a16:colId xmlns:a16="http://schemas.microsoft.com/office/drawing/2014/main" val="3377910781"/>
                    </a:ext>
                  </a:extLst>
                </a:gridCol>
              </a:tblGrid>
              <a:tr h="259105">
                <a:tc>
                  <a:txBody>
                    <a:bodyPr/>
                    <a:lstStyle/>
                    <a:p>
                      <a:pPr algn="ctr"/>
                      <a:r>
                        <a:rPr lang="en-US" sz="1600">
                          <a:effectLst/>
                        </a:rPr>
                        <a:t>Year of discovery</a:t>
                      </a:r>
                    </a:p>
                  </a:txBody>
                  <a:tcPr marL="58802" marR="85753"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EAECF0"/>
                    </a:solidFill>
                  </a:tcPr>
                </a:tc>
                <a:tc>
                  <a:txBody>
                    <a:bodyPr/>
                    <a:lstStyle/>
                    <a:p>
                      <a:pPr algn="ctr"/>
                      <a:r>
                        <a:rPr lang="en-US" sz="1600" dirty="0">
                          <a:effectLst/>
                        </a:rPr>
                        <a:t>Vitamin</a:t>
                      </a:r>
                    </a:p>
                  </a:txBody>
                  <a:tcPr marL="58802" marR="85753"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EAECF0"/>
                    </a:solidFill>
                  </a:tcPr>
                </a:tc>
                <a:tc>
                  <a:txBody>
                    <a:bodyPr/>
                    <a:lstStyle/>
                    <a:p>
                      <a:pPr algn="ctr"/>
                      <a:r>
                        <a:rPr lang="en-US" sz="1600">
                          <a:effectLst/>
                        </a:rPr>
                        <a:t>Food source</a:t>
                      </a:r>
                    </a:p>
                  </a:txBody>
                  <a:tcPr marL="58802" marR="85753"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EAECF0"/>
                    </a:solidFill>
                  </a:tcPr>
                </a:tc>
                <a:extLst>
                  <a:ext uri="{0D108BD9-81ED-4DB2-BD59-A6C34878D82A}">
                    <a16:rowId xmlns:a16="http://schemas.microsoft.com/office/drawing/2014/main" val="2244666219"/>
                  </a:ext>
                </a:extLst>
              </a:tr>
              <a:tr h="455169">
                <a:tc>
                  <a:txBody>
                    <a:bodyPr/>
                    <a:lstStyle/>
                    <a:p>
                      <a:r>
                        <a:rPr lang="en-US" altLang="zh-CN" sz="1600" dirty="0">
                          <a:solidFill>
                            <a:srgbClr val="C00000"/>
                          </a:solidFill>
                          <a:effectLst/>
                        </a:rPr>
                        <a:t>1948</a:t>
                      </a:r>
                      <a:endParaRPr lang="zh-CN" altLang="en-US" sz="1600" dirty="0">
                        <a:solidFill>
                          <a:srgbClr val="C00000"/>
                        </a:solidFill>
                        <a:effectLst/>
                      </a:endParaRP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u="none" strike="noStrike" dirty="0">
                          <a:solidFill>
                            <a:srgbClr val="C00000"/>
                          </a:solidFill>
                          <a:effectLst/>
                        </a:rPr>
                        <a:t>Vitamin B</a:t>
                      </a:r>
                      <a:r>
                        <a:rPr lang="en-US" sz="1600" u="none" strike="noStrike" baseline="-25000" dirty="0">
                          <a:solidFill>
                            <a:srgbClr val="C00000"/>
                          </a:solidFill>
                          <a:effectLst/>
                        </a:rPr>
                        <a:t>12</a:t>
                      </a:r>
                      <a:r>
                        <a:rPr lang="en-US" sz="1600" dirty="0">
                          <a:solidFill>
                            <a:srgbClr val="C00000"/>
                          </a:solidFill>
                          <a:effectLst/>
                        </a:rPr>
                        <a:t> (Cobalamins)</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dirty="0">
                          <a:solidFill>
                            <a:schemeClr val="tx1"/>
                          </a:solidFill>
                          <a:effectLst/>
                        </a:rPr>
                        <a:t>Meat, organs (</a:t>
                      </a:r>
                      <a:r>
                        <a:rPr lang="en-US" sz="1600" u="none" strike="noStrike" dirty="0">
                          <a:solidFill>
                            <a:schemeClr val="tx1"/>
                          </a:solidFill>
                          <a:effectLst/>
                        </a:rPr>
                        <a:t>Liver</a:t>
                      </a:r>
                      <a:r>
                        <a:rPr lang="en-US" sz="1600" dirty="0">
                          <a:solidFill>
                            <a:schemeClr val="tx1"/>
                          </a:solidFill>
                          <a:effectLst/>
                        </a:rPr>
                        <a:t>), Eggs</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856375191"/>
                  </a:ext>
                </a:extLst>
              </a:tr>
              <a:tr h="259105">
                <a:tc>
                  <a:txBody>
                    <a:bodyPr/>
                    <a:lstStyle/>
                    <a:p>
                      <a:r>
                        <a:rPr lang="en-US" altLang="zh-CN" sz="1600" dirty="0">
                          <a:effectLst/>
                        </a:rPr>
                        <a:t>1941</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a:effectLst/>
                        </a:rPr>
                        <a:t>Vitamin B</a:t>
                      </a:r>
                      <a:r>
                        <a:rPr lang="en-US" sz="1600" baseline="-25000">
                          <a:effectLst/>
                        </a:rPr>
                        <a:t>9</a:t>
                      </a:r>
                      <a:r>
                        <a:rPr lang="en-US" sz="1600">
                          <a:effectLst/>
                        </a:rPr>
                        <a:t> (Folic acid)</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a:solidFill>
                            <a:schemeClr val="tx1"/>
                          </a:solidFill>
                          <a:effectLst/>
                        </a:rPr>
                        <a:t>Leaf vegetables</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4150444455"/>
                  </a:ext>
                </a:extLst>
              </a:tr>
              <a:tr h="455169">
                <a:tc>
                  <a:txBody>
                    <a:bodyPr/>
                    <a:lstStyle/>
                    <a:p>
                      <a:r>
                        <a:rPr lang="en-US" altLang="zh-CN" sz="1600" dirty="0">
                          <a:effectLst/>
                        </a:rPr>
                        <a:t>1936</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dirty="0">
                          <a:solidFill>
                            <a:schemeClr val="tx1"/>
                          </a:solidFill>
                          <a:effectLst/>
                        </a:rPr>
                        <a:t>Vitamin B</a:t>
                      </a:r>
                      <a:r>
                        <a:rPr lang="en-US" sz="1600" baseline="-25000" dirty="0">
                          <a:solidFill>
                            <a:schemeClr val="tx1"/>
                          </a:solidFill>
                          <a:effectLst/>
                        </a:rPr>
                        <a:t>7</a:t>
                      </a:r>
                      <a:r>
                        <a:rPr lang="en-US" sz="1600" dirty="0">
                          <a:solidFill>
                            <a:schemeClr val="tx1"/>
                          </a:solidFill>
                          <a:effectLst/>
                        </a:rPr>
                        <a:t> (</a:t>
                      </a:r>
                      <a:r>
                        <a:rPr lang="en-US" sz="1600" u="none" strike="noStrike" dirty="0">
                          <a:solidFill>
                            <a:schemeClr val="tx1"/>
                          </a:solidFill>
                          <a:effectLst/>
                        </a:rPr>
                        <a:t>Biotin</a:t>
                      </a:r>
                      <a:r>
                        <a:rPr lang="en-US" sz="1600" dirty="0">
                          <a:solidFill>
                            <a:schemeClr val="tx1"/>
                          </a:solidFill>
                          <a:effectLst/>
                        </a:rPr>
                        <a:t>)</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dirty="0">
                          <a:solidFill>
                            <a:schemeClr val="tx1"/>
                          </a:solidFill>
                          <a:effectLst/>
                        </a:rPr>
                        <a:t>Meat, dairy products, Eggs</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4272464229"/>
                  </a:ext>
                </a:extLst>
              </a:tr>
              <a:tr h="259105">
                <a:tc>
                  <a:txBody>
                    <a:bodyPr/>
                    <a:lstStyle/>
                    <a:p>
                      <a:r>
                        <a:rPr lang="en-US" altLang="zh-CN" sz="1600" dirty="0">
                          <a:effectLst/>
                        </a:rPr>
                        <a:t>1936</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dirty="0">
                          <a:solidFill>
                            <a:schemeClr val="tx1"/>
                          </a:solidFill>
                          <a:effectLst/>
                        </a:rPr>
                        <a:t>Vitamin B</a:t>
                      </a:r>
                      <a:r>
                        <a:rPr lang="en-US" sz="1600" baseline="-25000" dirty="0">
                          <a:solidFill>
                            <a:schemeClr val="tx1"/>
                          </a:solidFill>
                          <a:effectLst/>
                        </a:rPr>
                        <a:t>3</a:t>
                      </a:r>
                      <a:r>
                        <a:rPr lang="en-US" sz="1600" dirty="0">
                          <a:solidFill>
                            <a:schemeClr val="tx1"/>
                          </a:solidFill>
                          <a:effectLst/>
                        </a:rPr>
                        <a:t> (Niacin)</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dirty="0">
                          <a:solidFill>
                            <a:schemeClr val="tx1"/>
                          </a:solidFill>
                          <a:effectLst/>
                        </a:rPr>
                        <a:t>Meat, </a:t>
                      </a:r>
                      <a:r>
                        <a:rPr lang="en-US" sz="1600" u="none" strike="noStrike" dirty="0">
                          <a:solidFill>
                            <a:schemeClr val="tx1"/>
                          </a:solidFill>
                          <a:effectLst/>
                        </a:rPr>
                        <a:t>grains</a:t>
                      </a:r>
                      <a:endParaRPr lang="en-US" sz="1600" dirty="0">
                        <a:solidFill>
                          <a:schemeClr val="tx1"/>
                        </a:solidFill>
                        <a:effectLst/>
                      </a:endParaRP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003476854"/>
                  </a:ext>
                </a:extLst>
              </a:tr>
              <a:tr h="259105">
                <a:tc>
                  <a:txBody>
                    <a:bodyPr/>
                    <a:lstStyle/>
                    <a:p>
                      <a:r>
                        <a:rPr lang="en-US" altLang="zh-CN" sz="1600" dirty="0">
                          <a:effectLst/>
                        </a:rPr>
                        <a:t>1934</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dirty="0">
                          <a:solidFill>
                            <a:schemeClr val="tx1"/>
                          </a:solidFill>
                          <a:effectLst/>
                        </a:rPr>
                        <a:t>Vitamin B</a:t>
                      </a:r>
                      <a:r>
                        <a:rPr lang="en-US" sz="1600" baseline="-25000" dirty="0">
                          <a:solidFill>
                            <a:schemeClr val="tx1"/>
                          </a:solidFill>
                          <a:effectLst/>
                        </a:rPr>
                        <a:t>6</a:t>
                      </a:r>
                      <a:r>
                        <a:rPr lang="en-US" sz="1600" dirty="0">
                          <a:solidFill>
                            <a:schemeClr val="tx1"/>
                          </a:solidFill>
                          <a:effectLst/>
                        </a:rPr>
                        <a:t> (Pyridoxine)</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a:solidFill>
                            <a:schemeClr val="tx1"/>
                          </a:solidFill>
                          <a:effectLst/>
                        </a:rPr>
                        <a:t>Meat, dairy products</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510176700"/>
                  </a:ext>
                </a:extLst>
              </a:tr>
              <a:tr h="455169">
                <a:tc>
                  <a:txBody>
                    <a:bodyPr/>
                    <a:lstStyle/>
                    <a:p>
                      <a:r>
                        <a:rPr lang="en-US" altLang="zh-CN" sz="1600" dirty="0">
                          <a:effectLst/>
                        </a:rPr>
                        <a:t>1931</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dirty="0">
                          <a:solidFill>
                            <a:schemeClr val="tx1"/>
                          </a:solidFill>
                          <a:effectLst/>
                        </a:rPr>
                        <a:t>Vitamin B</a:t>
                      </a:r>
                      <a:r>
                        <a:rPr lang="en-US" sz="1600" baseline="-25000" dirty="0">
                          <a:solidFill>
                            <a:schemeClr val="tx1"/>
                          </a:solidFill>
                          <a:effectLst/>
                        </a:rPr>
                        <a:t>5</a:t>
                      </a:r>
                      <a:r>
                        <a:rPr lang="en-US" sz="1600" dirty="0">
                          <a:solidFill>
                            <a:schemeClr val="tx1"/>
                          </a:solidFill>
                          <a:effectLst/>
                        </a:rPr>
                        <a:t> (Pantothenic acid)</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dirty="0">
                          <a:solidFill>
                            <a:schemeClr val="tx1"/>
                          </a:solidFill>
                          <a:effectLst/>
                        </a:rPr>
                        <a:t>Meat, </a:t>
                      </a:r>
                      <a:r>
                        <a:rPr lang="en-US" sz="1600" u="none" strike="noStrike" dirty="0">
                          <a:solidFill>
                            <a:schemeClr val="tx1"/>
                          </a:solidFill>
                          <a:effectLst/>
                        </a:rPr>
                        <a:t>whole grains</a:t>
                      </a:r>
                      <a:r>
                        <a:rPr lang="en-US" sz="1600" dirty="0">
                          <a:solidFill>
                            <a:schemeClr val="tx1"/>
                          </a:solidFill>
                          <a:effectLst/>
                        </a:rPr>
                        <a:t>,</a:t>
                      </a:r>
                      <a:br>
                        <a:rPr lang="en-US" sz="1600" dirty="0">
                          <a:solidFill>
                            <a:schemeClr val="tx1"/>
                          </a:solidFill>
                          <a:effectLst/>
                        </a:rPr>
                      </a:br>
                      <a:r>
                        <a:rPr lang="en-US" sz="1600" dirty="0">
                          <a:solidFill>
                            <a:schemeClr val="tx1"/>
                          </a:solidFill>
                          <a:effectLst/>
                        </a:rPr>
                        <a:t>in many foods</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614616309"/>
                  </a:ext>
                </a:extLst>
              </a:tr>
              <a:tr h="455169">
                <a:tc>
                  <a:txBody>
                    <a:bodyPr/>
                    <a:lstStyle/>
                    <a:p>
                      <a:r>
                        <a:rPr lang="en-US" altLang="zh-CN" sz="1600" dirty="0">
                          <a:effectLst/>
                        </a:rPr>
                        <a:t>1929</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dirty="0">
                          <a:solidFill>
                            <a:schemeClr val="tx1"/>
                          </a:solidFill>
                          <a:effectLst/>
                        </a:rPr>
                        <a:t>Vitamin K</a:t>
                      </a:r>
                      <a:r>
                        <a:rPr lang="en-US" sz="1600" baseline="-25000" dirty="0">
                          <a:solidFill>
                            <a:schemeClr val="tx1"/>
                          </a:solidFill>
                          <a:effectLst/>
                        </a:rPr>
                        <a:t>1</a:t>
                      </a:r>
                      <a:r>
                        <a:rPr lang="en-US" sz="1600" dirty="0">
                          <a:solidFill>
                            <a:schemeClr val="tx1"/>
                          </a:solidFill>
                          <a:effectLst/>
                        </a:rPr>
                        <a:t> (</a:t>
                      </a:r>
                      <a:r>
                        <a:rPr lang="en-US" sz="1600" u="none" strike="noStrike" dirty="0">
                          <a:solidFill>
                            <a:schemeClr val="tx1"/>
                          </a:solidFill>
                          <a:effectLst/>
                        </a:rPr>
                        <a:t>Phylloquinone</a:t>
                      </a:r>
                      <a:r>
                        <a:rPr lang="en-US" sz="1600" dirty="0">
                          <a:solidFill>
                            <a:schemeClr val="tx1"/>
                          </a:solidFill>
                          <a:effectLst/>
                        </a:rPr>
                        <a:t>)</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u="none" strike="noStrike" dirty="0">
                          <a:solidFill>
                            <a:schemeClr val="tx1"/>
                          </a:solidFill>
                          <a:effectLst/>
                        </a:rPr>
                        <a:t>Leaf vegetables</a:t>
                      </a:r>
                      <a:endParaRPr lang="en-US" sz="1600" dirty="0">
                        <a:solidFill>
                          <a:schemeClr val="tx1"/>
                        </a:solidFill>
                        <a:effectLst/>
                      </a:endParaRP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766789634"/>
                  </a:ext>
                </a:extLst>
              </a:tr>
              <a:tr h="455169">
                <a:tc>
                  <a:txBody>
                    <a:bodyPr/>
                    <a:lstStyle/>
                    <a:p>
                      <a:r>
                        <a:rPr lang="en-US" altLang="zh-CN" sz="1600" dirty="0">
                          <a:effectLst/>
                        </a:rPr>
                        <a:t>1922</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dirty="0">
                          <a:effectLst/>
                        </a:rPr>
                        <a:t>Vitamin E (Tocopherol)</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u="none" strike="noStrike" dirty="0">
                          <a:solidFill>
                            <a:schemeClr val="tx1"/>
                          </a:solidFill>
                          <a:effectLst/>
                        </a:rPr>
                        <a:t>Wheat germ oil</a:t>
                      </a:r>
                      <a:r>
                        <a:rPr lang="en-US" sz="1600" dirty="0">
                          <a:solidFill>
                            <a:schemeClr val="tx1"/>
                          </a:solidFill>
                          <a:effectLst/>
                        </a:rPr>
                        <a:t>,</a:t>
                      </a:r>
                      <a:br>
                        <a:rPr lang="en-US" sz="1600" dirty="0">
                          <a:solidFill>
                            <a:schemeClr val="tx1"/>
                          </a:solidFill>
                          <a:effectLst/>
                        </a:rPr>
                      </a:br>
                      <a:r>
                        <a:rPr lang="en-US" sz="1600" dirty="0">
                          <a:solidFill>
                            <a:schemeClr val="tx1"/>
                          </a:solidFill>
                          <a:effectLst/>
                        </a:rPr>
                        <a:t>unrefined vegetable oils</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119167812"/>
                  </a:ext>
                </a:extLst>
              </a:tr>
              <a:tr h="455169">
                <a:tc>
                  <a:txBody>
                    <a:bodyPr/>
                    <a:lstStyle/>
                    <a:p>
                      <a:r>
                        <a:rPr lang="en-US" altLang="zh-CN" sz="1600" dirty="0">
                          <a:effectLst/>
                        </a:rPr>
                        <a:t>1920</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a:effectLst/>
                        </a:rPr>
                        <a:t>Vitamin C (Ascorbic acid)</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u="none" strike="noStrike" dirty="0">
                          <a:solidFill>
                            <a:schemeClr val="tx1"/>
                          </a:solidFill>
                          <a:effectLst/>
                        </a:rPr>
                        <a:t>Citrus</a:t>
                      </a:r>
                      <a:r>
                        <a:rPr lang="en-US" sz="1600" dirty="0">
                          <a:solidFill>
                            <a:schemeClr val="tx1"/>
                          </a:solidFill>
                          <a:effectLst/>
                        </a:rPr>
                        <a:t>, most fresh foods</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726056893"/>
                  </a:ext>
                </a:extLst>
              </a:tr>
              <a:tr h="259105">
                <a:tc>
                  <a:txBody>
                    <a:bodyPr/>
                    <a:lstStyle/>
                    <a:p>
                      <a:r>
                        <a:rPr lang="en-US" altLang="zh-CN" sz="1600" dirty="0">
                          <a:effectLst/>
                        </a:rPr>
                        <a:t>1920</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dirty="0">
                          <a:effectLst/>
                        </a:rPr>
                        <a:t>Vitamin D (Calciferol)</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a:solidFill>
                            <a:schemeClr val="tx1"/>
                          </a:solidFill>
                          <a:effectLst/>
                        </a:rPr>
                        <a:t>Cod liver oil</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797036725"/>
                  </a:ext>
                </a:extLst>
              </a:tr>
              <a:tr h="455169">
                <a:tc>
                  <a:txBody>
                    <a:bodyPr/>
                    <a:lstStyle/>
                    <a:p>
                      <a:r>
                        <a:rPr lang="en-US" altLang="zh-CN" sz="1600" dirty="0">
                          <a:effectLst/>
                        </a:rPr>
                        <a:t>1920</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dirty="0">
                          <a:effectLst/>
                        </a:rPr>
                        <a:t>Vitamin B</a:t>
                      </a:r>
                      <a:r>
                        <a:rPr lang="en-US" sz="1600" baseline="-25000" dirty="0">
                          <a:effectLst/>
                        </a:rPr>
                        <a:t>2</a:t>
                      </a:r>
                      <a:r>
                        <a:rPr lang="en-US" sz="1600" dirty="0">
                          <a:effectLst/>
                        </a:rPr>
                        <a:t> (Riboflavin)</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u="none" strike="noStrike" dirty="0">
                          <a:solidFill>
                            <a:schemeClr val="tx1"/>
                          </a:solidFill>
                          <a:effectLst/>
                        </a:rPr>
                        <a:t>Meat</a:t>
                      </a:r>
                      <a:r>
                        <a:rPr lang="en-US" sz="1600" dirty="0">
                          <a:solidFill>
                            <a:schemeClr val="tx1"/>
                          </a:solidFill>
                          <a:effectLst/>
                        </a:rPr>
                        <a:t>, </a:t>
                      </a:r>
                      <a:r>
                        <a:rPr lang="en-US" sz="1600" u="none" strike="noStrike" dirty="0">
                          <a:solidFill>
                            <a:schemeClr val="tx1"/>
                          </a:solidFill>
                          <a:effectLst/>
                        </a:rPr>
                        <a:t>dairy products</a:t>
                      </a:r>
                      <a:r>
                        <a:rPr lang="en-US" sz="1600" dirty="0">
                          <a:solidFill>
                            <a:schemeClr val="tx1"/>
                          </a:solidFill>
                          <a:effectLst/>
                        </a:rPr>
                        <a:t>, </a:t>
                      </a:r>
                      <a:r>
                        <a:rPr lang="en-US" sz="1600" u="none" strike="noStrike" dirty="0">
                          <a:solidFill>
                            <a:schemeClr val="tx1"/>
                          </a:solidFill>
                          <a:effectLst/>
                        </a:rPr>
                        <a:t>eggs</a:t>
                      </a:r>
                      <a:endParaRPr lang="en-US" sz="1600" dirty="0">
                        <a:solidFill>
                          <a:schemeClr val="tx1"/>
                        </a:solidFill>
                        <a:effectLst/>
                      </a:endParaRP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761938478"/>
                  </a:ext>
                </a:extLst>
              </a:tr>
              <a:tr h="259105">
                <a:tc>
                  <a:txBody>
                    <a:bodyPr/>
                    <a:lstStyle/>
                    <a:p>
                      <a:r>
                        <a:rPr lang="en-US" altLang="zh-CN" sz="1600" dirty="0">
                          <a:effectLst/>
                        </a:rPr>
                        <a:t>1913</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a:effectLst/>
                        </a:rPr>
                        <a:t>Vitamin A (Retinol)</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u="none" strike="noStrike" dirty="0">
                          <a:solidFill>
                            <a:schemeClr val="tx1"/>
                          </a:solidFill>
                          <a:effectLst/>
                        </a:rPr>
                        <a:t>Cod liver oil</a:t>
                      </a:r>
                      <a:endParaRPr lang="en-US" sz="1600" dirty="0">
                        <a:solidFill>
                          <a:schemeClr val="tx1"/>
                        </a:solidFill>
                        <a:effectLst/>
                      </a:endParaRP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868336755"/>
                  </a:ext>
                </a:extLst>
              </a:tr>
              <a:tr h="248750">
                <a:tc>
                  <a:txBody>
                    <a:bodyPr/>
                    <a:lstStyle/>
                    <a:p>
                      <a:r>
                        <a:rPr lang="en-US" altLang="zh-CN" sz="1600" dirty="0">
                          <a:solidFill>
                            <a:srgbClr val="C00000"/>
                          </a:solidFill>
                          <a:effectLst/>
                        </a:rPr>
                        <a:t>1910</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dirty="0">
                          <a:solidFill>
                            <a:srgbClr val="C00000"/>
                          </a:solidFill>
                          <a:effectLst/>
                        </a:rPr>
                        <a:t>Vitamin B</a:t>
                      </a:r>
                      <a:r>
                        <a:rPr lang="en-US" sz="1600" baseline="-25000" dirty="0">
                          <a:solidFill>
                            <a:srgbClr val="C00000"/>
                          </a:solidFill>
                          <a:effectLst/>
                        </a:rPr>
                        <a:t>1</a:t>
                      </a:r>
                      <a:r>
                        <a:rPr lang="en-US" sz="1600" dirty="0">
                          <a:solidFill>
                            <a:srgbClr val="C00000"/>
                          </a:solidFill>
                          <a:effectLst/>
                        </a:rPr>
                        <a:t> (Thiamine)</a:t>
                      </a: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r>
                        <a:rPr lang="en-US" sz="1600" u="none" strike="noStrike" dirty="0">
                          <a:solidFill>
                            <a:schemeClr val="tx1"/>
                          </a:solidFill>
                          <a:effectLst/>
                        </a:rPr>
                        <a:t>Rice bran</a:t>
                      </a:r>
                      <a:endParaRPr lang="en-US" sz="1600" dirty="0">
                        <a:solidFill>
                          <a:schemeClr val="tx1"/>
                        </a:solidFill>
                        <a:effectLst/>
                      </a:endParaRPr>
                    </a:p>
                  </a:txBody>
                  <a:tcPr marL="58802" marR="58802" marT="29401" marB="29401"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224834248"/>
                  </a:ext>
                </a:extLst>
              </a:tr>
            </a:tbl>
          </a:graphicData>
        </a:graphic>
      </p:graphicFrame>
    </p:spTree>
    <p:extLst>
      <p:ext uri="{BB962C8B-B14F-4D97-AF65-F5344CB8AC3E}">
        <p14:creationId xmlns:p14="http://schemas.microsoft.com/office/powerpoint/2010/main" val="1923617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D7E1FAD3-A7A7-491A-B3F3-29ED0CD86D60}"/>
              </a:ext>
            </a:extLst>
          </p:cNvPr>
          <p:cNvSpPr>
            <a:spLocks noGrp="1" noChangeArrowheads="1"/>
          </p:cNvSpPr>
          <p:nvPr>
            <p:ph type="title" idx="4294967295"/>
          </p:nvPr>
        </p:nvSpPr>
        <p:spPr>
          <a:xfrm>
            <a:off x="2335213" y="313135"/>
            <a:ext cx="7772400" cy="814388"/>
          </a:xfrm>
        </p:spPr>
        <p:txBody>
          <a:bodyPr/>
          <a:lstStyle/>
          <a:p>
            <a:pPr algn="ctr" eaLnBrk="1" hangingPunct="1"/>
            <a:r>
              <a:rPr lang="zh-CN" altLang="en-US" sz="4000" dirty="0">
                <a:solidFill>
                  <a:srgbClr val="C00000"/>
                </a:solidFill>
                <a:latin typeface="楷体_GB2312" pitchFamily="49" charset="-122"/>
                <a:ea typeface="楷体_GB2312" pitchFamily="49" charset="-122"/>
              </a:rPr>
              <a:t>第一节 概述</a:t>
            </a:r>
          </a:p>
        </p:txBody>
      </p:sp>
      <p:sp>
        <p:nvSpPr>
          <p:cNvPr id="46083" name="Text Box 3">
            <a:extLst>
              <a:ext uri="{FF2B5EF4-FFF2-40B4-BE49-F238E27FC236}">
                <a16:creationId xmlns:a16="http://schemas.microsoft.com/office/drawing/2014/main" id="{354E4606-AC7C-4B17-B31F-1D09F1B88A67}"/>
              </a:ext>
            </a:extLst>
          </p:cNvPr>
          <p:cNvSpPr txBox="1">
            <a:spLocks noChangeArrowheads="1"/>
          </p:cNvSpPr>
          <p:nvPr/>
        </p:nvSpPr>
        <p:spPr bwMode="auto">
          <a:xfrm>
            <a:off x="2855914" y="3284538"/>
            <a:ext cx="6768479" cy="3182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03188" indent="-103188">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20000"/>
              </a:spcBef>
              <a:buClr>
                <a:srgbClr val="3333CC"/>
              </a:buClr>
              <a:buSzPct val="85000"/>
              <a:buFont typeface="Wingdings" panose="05000000000000000000" pitchFamily="2" charset="2"/>
              <a:buChar char="l"/>
            </a:pPr>
            <a:r>
              <a:rPr lang="en-US" altLang="zh-CN" b="0" dirty="0">
                <a:latin typeface="华文楷体" panose="02010600040101010101" pitchFamily="2" charset="-122"/>
                <a:ea typeface="华文楷体" panose="02010600040101010101" pitchFamily="2" charset="-122"/>
              </a:rPr>
              <a:t> </a:t>
            </a:r>
            <a:r>
              <a:rPr lang="zh-CN" altLang="en-US" sz="2400" b="0" dirty="0">
                <a:latin typeface="华文楷体" panose="02010600040101010101" pitchFamily="2" charset="-122"/>
                <a:ea typeface="华文楷体" panose="02010600040101010101" pitchFamily="2" charset="-122"/>
              </a:rPr>
              <a:t>不构成组织的原料</a:t>
            </a:r>
            <a:endParaRPr lang="en-US" altLang="zh-CN" sz="2400" b="0" dirty="0">
              <a:latin typeface="华文楷体" panose="02010600040101010101" pitchFamily="2" charset="-122"/>
              <a:ea typeface="华文楷体" panose="02010600040101010101" pitchFamily="2" charset="-122"/>
            </a:endParaRPr>
          </a:p>
          <a:p>
            <a:pPr eaLnBrk="1" hangingPunct="1">
              <a:lnSpc>
                <a:spcPct val="100000"/>
              </a:lnSpc>
              <a:spcBef>
                <a:spcPct val="20000"/>
              </a:spcBef>
              <a:buClr>
                <a:srgbClr val="3333CC"/>
              </a:buClr>
              <a:buSzPct val="85000"/>
              <a:buFont typeface="Wingdings" panose="05000000000000000000" pitchFamily="2" charset="2"/>
              <a:buChar char="l"/>
            </a:pPr>
            <a:r>
              <a:rPr lang="zh-CN" altLang="en-US" sz="2400" b="0" dirty="0">
                <a:latin typeface="华文楷体" panose="02010600040101010101" pitchFamily="2" charset="-122"/>
                <a:ea typeface="华文楷体" panose="02010600040101010101" pitchFamily="2" charset="-122"/>
              </a:rPr>
              <a:t> </a:t>
            </a:r>
            <a:r>
              <a:rPr lang="zh-CN" altLang="en-US" sz="2400" b="0" dirty="0">
                <a:solidFill>
                  <a:srgbClr val="0000CC"/>
                </a:solidFill>
                <a:latin typeface="华文楷体" panose="02010600040101010101" pitchFamily="2" charset="-122"/>
                <a:ea typeface="华文楷体" panose="02010600040101010101" pitchFamily="2" charset="-122"/>
              </a:rPr>
              <a:t>不能直接氧化供能</a:t>
            </a:r>
            <a:endParaRPr lang="en-US" altLang="zh-CN" sz="2400" b="0" dirty="0">
              <a:solidFill>
                <a:srgbClr val="0000CC"/>
              </a:solidFill>
              <a:latin typeface="华文楷体" panose="02010600040101010101" pitchFamily="2" charset="-122"/>
              <a:ea typeface="华文楷体" panose="02010600040101010101" pitchFamily="2" charset="-122"/>
            </a:endParaRPr>
          </a:p>
          <a:p>
            <a:pPr eaLnBrk="1" hangingPunct="1">
              <a:lnSpc>
                <a:spcPct val="100000"/>
              </a:lnSpc>
              <a:spcBef>
                <a:spcPct val="20000"/>
              </a:spcBef>
              <a:buClr>
                <a:srgbClr val="3333CC"/>
              </a:buClr>
              <a:buSzPct val="85000"/>
              <a:buFont typeface="Wingdings" panose="05000000000000000000" pitchFamily="2" charset="2"/>
              <a:buChar char="l"/>
            </a:pPr>
            <a:r>
              <a:rPr lang="zh-CN" altLang="en-US" sz="2400" b="0" dirty="0">
                <a:latin typeface="华文楷体" panose="02010600040101010101" pitchFamily="2" charset="-122"/>
                <a:ea typeface="华文楷体" panose="02010600040101010101" pitchFamily="2" charset="-122"/>
              </a:rPr>
              <a:t> 不能合成或合成很少</a:t>
            </a:r>
            <a:endParaRPr lang="en-US" altLang="zh-CN" sz="2400" b="0" dirty="0">
              <a:latin typeface="华文楷体" panose="02010600040101010101" pitchFamily="2" charset="-122"/>
              <a:ea typeface="华文楷体" panose="02010600040101010101" pitchFamily="2" charset="-122"/>
            </a:endParaRPr>
          </a:p>
          <a:p>
            <a:pPr eaLnBrk="1" hangingPunct="1">
              <a:lnSpc>
                <a:spcPct val="100000"/>
              </a:lnSpc>
              <a:spcBef>
                <a:spcPct val="20000"/>
              </a:spcBef>
              <a:buClr>
                <a:srgbClr val="3333CC"/>
              </a:buClr>
              <a:buSzPct val="85000"/>
              <a:buFont typeface="Wingdings" panose="05000000000000000000" pitchFamily="2" charset="2"/>
              <a:buChar char="l"/>
            </a:pPr>
            <a:r>
              <a:rPr lang="zh-CN" altLang="en-US" sz="2400" b="0" dirty="0">
                <a:latin typeface="华文楷体" panose="02010600040101010101" pitchFamily="2" charset="-122"/>
                <a:ea typeface="华文楷体" panose="02010600040101010101" pitchFamily="2" charset="-122"/>
              </a:rPr>
              <a:t> 缺乏会导致疾病</a:t>
            </a:r>
            <a:endParaRPr lang="en-US" altLang="zh-CN" sz="2400" b="0" dirty="0">
              <a:latin typeface="华文楷体" panose="02010600040101010101" pitchFamily="2" charset="-122"/>
              <a:ea typeface="华文楷体" panose="02010600040101010101" pitchFamily="2" charset="-122"/>
            </a:endParaRPr>
          </a:p>
          <a:p>
            <a:pPr eaLnBrk="1" hangingPunct="1">
              <a:lnSpc>
                <a:spcPct val="100000"/>
              </a:lnSpc>
              <a:spcBef>
                <a:spcPct val="20000"/>
              </a:spcBef>
              <a:buClr>
                <a:srgbClr val="3333CC"/>
              </a:buClr>
              <a:buSzPct val="85000"/>
              <a:buFont typeface="Wingdings" panose="05000000000000000000" pitchFamily="2" charset="2"/>
              <a:buChar char="l"/>
            </a:pPr>
            <a:r>
              <a:rPr lang="zh-CN" altLang="en-US" sz="2400" b="0" dirty="0">
                <a:latin typeface="华文楷体" panose="02010600040101010101" pitchFamily="2" charset="-122"/>
                <a:ea typeface="华文楷体" panose="02010600040101010101" pitchFamily="2" charset="-122"/>
              </a:rPr>
              <a:t> 大多摄入过多会致中毒</a:t>
            </a:r>
            <a:endParaRPr lang="en-US" altLang="zh-CN" sz="2400" b="0" dirty="0">
              <a:latin typeface="华文楷体" panose="02010600040101010101" pitchFamily="2" charset="-122"/>
              <a:ea typeface="华文楷体" panose="02010600040101010101" pitchFamily="2" charset="-122"/>
            </a:endParaRPr>
          </a:p>
          <a:p>
            <a:pPr eaLnBrk="1" hangingPunct="1">
              <a:lnSpc>
                <a:spcPct val="100000"/>
              </a:lnSpc>
              <a:spcBef>
                <a:spcPct val="20000"/>
              </a:spcBef>
              <a:buClr>
                <a:srgbClr val="3333CC"/>
              </a:buClr>
              <a:buSzPct val="85000"/>
              <a:buFont typeface="Wingdings" panose="05000000000000000000" pitchFamily="2" charset="2"/>
              <a:buChar char="l"/>
            </a:pPr>
            <a:r>
              <a:rPr lang="zh-CN" altLang="en-US" sz="2400" b="0" dirty="0">
                <a:latin typeface="华文楷体" panose="02010600040101010101" pitchFamily="2" charset="-122"/>
                <a:ea typeface="华文楷体" panose="02010600040101010101" pitchFamily="2" charset="-122"/>
              </a:rPr>
              <a:t> </a:t>
            </a:r>
            <a:r>
              <a:rPr lang="zh-CN" altLang="en-US" sz="2400" b="0" dirty="0">
                <a:solidFill>
                  <a:srgbClr val="0000CC"/>
                </a:solidFill>
                <a:latin typeface="华文楷体" panose="02010600040101010101" pitchFamily="2" charset="-122"/>
                <a:ea typeface="华文楷体" panose="02010600040101010101" pitchFamily="2" charset="-122"/>
              </a:rPr>
              <a:t>大多构成辅酶或辅基（</a:t>
            </a:r>
            <a:r>
              <a:rPr lang="en-US" altLang="zh-CN" sz="2400" b="0" dirty="0">
                <a:solidFill>
                  <a:srgbClr val="0000CC"/>
                </a:solidFill>
                <a:latin typeface="华文楷体" panose="02010600040101010101" pitchFamily="2" charset="-122"/>
                <a:ea typeface="华文楷体" panose="02010600040101010101" pitchFamily="2" charset="-122"/>
              </a:rPr>
              <a:t>A</a:t>
            </a:r>
            <a:r>
              <a:rPr lang="zh-CN" altLang="en-US" sz="2400" b="0" dirty="0">
                <a:solidFill>
                  <a:srgbClr val="0000CC"/>
                </a:solidFill>
                <a:latin typeface="华文楷体" panose="02010600040101010101" pitchFamily="2" charset="-122"/>
                <a:ea typeface="华文楷体" panose="02010600040101010101" pitchFamily="2" charset="-122"/>
              </a:rPr>
              <a:t>，</a:t>
            </a:r>
            <a:r>
              <a:rPr lang="en-US" altLang="zh-CN" sz="2400" b="0" dirty="0">
                <a:solidFill>
                  <a:srgbClr val="0000CC"/>
                </a:solidFill>
                <a:latin typeface="华文楷体" panose="02010600040101010101" pitchFamily="2" charset="-122"/>
                <a:ea typeface="华文楷体" panose="02010600040101010101" pitchFamily="2" charset="-122"/>
              </a:rPr>
              <a:t>D</a:t>
            </a:r>
            <a:r>
              <a:rPr lang="zh-CN" altLang="en-US" sz="2400" b="0" dirty="0">
                <a:solidFill>
                  <a:srgbClr val="0000CC"/>
                </a:solidFill>
                <a:latin typeface="华文楷体" panose="02010600040101010101" pitchFamily="2" charset="-122"/>
                <a:ea typeface="华文楷体" panose="02010600040101010101" pitchFamily="2" charset="-122"/>
              </a:rPr>
              <a:t>，</a:t>
            </a:r>
            <a:r>
              <a:rPr lang="en-US" altLang="zh-CN" sz="2400" b="0" dirty="0">
                <a:solidFill>
                  <a:srgbClr val="0000CC"/>
                </a:solidFill>
                <a:latin typeface="华文楷体" panose="02010600040101010101" pitchFamily="2" charset="-122"/>
                <a:ea typeface="华文楷体" panose="02010600040101010101" pitchFamily="2" charset="-122"/>
              </a:rPr>
              <a:t>E</a:t>
            </a:r>
            <a:r>
              <a:rPr lang="zh-CN" altLang="en-US" sz="2400" b="0" dirty="0">
                <a:solidFill>
                  <a:srgbClr val="0000CC"/>
                </a:solidFill>
                <a:latin typeface="华文楷体" panose="02010600040101010101" pitchFamily="2" charset="-122"/>
                <a:ea typeface="华文楷体" panose="02010600040101010101" pitchFamily="2" charset="-122"/>
              </a:rPr>
              <a:t>例外）</a:t>
            </a:r>
            <a:endParaRPr lang="zh-CN" altLang="en-US" sz="2400" b="0" dirty="0">
              <a:latin typeface="华文楷体" panose="02010600040101010101" pitchFamily="2" charset="-122"/>
              <a:ea typeface="华文楷体" panose="02010600040101010101" pitchFamily="2" charset="-122"/>
            </a:endParaRPr>
          </a:p>
          <a:p>
            <a:pPr eaLnBrk="1" hangingPunct="1">
              <a:lnSpc>
                <a:spcPct val="100000"/>
              </a:lnSpc>
              <a:spcBef>
                <a:spcPct val="20000"/>
              </a:spcBef>
              <a:buClr>
                <a:srgbClr val="3333CC"/>
              </a:buClr>
              <a:buSzPct val="85000"/>
              <a:buFont typeface="Wingdings" panose="05000000000000000000" pitchFamily="2" charset="2"/>
              <a:buChar char="l"/>
            </a:pPr>
            <a:r>
              <a:rPr lang="zh-CN" altLang="en-US" sz="2400" b="0" dirty="0">
                <a:latin typeface="华文楷体" panose="02010600040101010101" pitchFamily="2" charset="-122"/>
                <a:ea typeface="华文楷体" panose="02010600040101010101" pitchFamily="2" charset="-122"/>
              </a:rPr>
              <a:t> </a:t>
            </a:r>
            <a:r>
              <a:rPr lang="zh-CN" altLang="en-US" sz="2400" b="0" dirty="0">
                <a:solidFill>
                  <a:srgbClr val="0000CC"/>
                </a:solidFill>
                <a:latin typeface="华文楷体" panose="02010600040101010101" pitchFamily="2" charset="-122"/>
                <a:ea typeface="华文楷体" panose="02010600040101010101" pitchFamily="2" charset="-122"/>
              </a:rPr>
              <a:t>需求量很少</a:t>
            </a:r>
            <a:r>
              <a:rPr lang="zh-CN" altLang="en-US" sz="2400" b="0" dirty="0">
                <a:latin typeface="华文楷体" panose="02010600040101010101" pitchFamily="2" charset="-122"/>
                <a:ea typeface="华文楷体" panose="02010600040101010101" pitchFamily="2" charset="-122"/>
              </a:rPr>
              <a:t>（以 </a:t>
            </a:r>
            <a:r>
              <a:rPr lang="en-US" altLang="zh-CN" sz="2400" dirty="0">
                <a:solidFill>
                  <a:srgbClr val="C00000"/>
                </a:solidFill>
                <a:latin typeface="华文楷体" panose="02010600040101010101" pitchFamily="2" charset="-122"/>
                <a:ea typeface="华文楷体" panose="02010600040101010101" pitchFamily="2" charset="-122"/>
              </a:rPr>
              <a:t>mg</a:t>
            </a:r>
            <a:r>
              <a:rPr lang="zh-CN" altLang="en-US" sz="2400" dirty="0">
                <a:solidFill>
                  <a:srgbClr val="C00000"/>
                </a:solidFill>
                <a:latin typeface="华文楷体" panose="02010600040101010101" pitchFamily="2" charset="-122"/>
                <a:ea typeface="华文楷体" panose="02010600040101010101" pitchFamily="2" charset="-122"/>
              </a:rPr>
              <a:t>或</a:t>
            </a:r>
            <a:r>
              <a:rPr lang="el-GR" altLang="zh-CN" sz="2400" dirty="0">
                <a:solidFill>
                  <a:srgbClr val="C00000"/>
                </a:solidFill>
                <a:latin typeface="华文楷体" panose="02010600040101010101" pitchFamily="2" charset="-122"/>
                <a:ea typeface="华文楷体" panose="02010600040101010101" pitchFamily="2" charset="-122"/>
              </a:rPr>
              <a:t>μ</a:t>
            </a:r>
            <a:r>
              <a:rPr lang="en-US" altLang="zh-CN" sz="2400" dirty="0">
                <a:solidFill>
                  <a:srgbClr val="C00000"/>
                </a:solidFill>
                <a:latin typeface="华文楷体" panose="02010600040101010101" pitchFamily="2" charset="-122"/>
                <a:ea typeface="华文楷体" panose="02010600040101010101" pitchFamily="2" charset="-122"/>
              </a:rPr>
              <a:t>g/</a:t>
            </a:r>
            <a:r>
              <a:rPr lang="zh-CN" altLang="en-US" sz="2400" dirty="0">
                <a:solidFill>
                  <a:srgbClr val="C00000"/>
                </a:solidFill>
                <a:latin typeface="华文楷体" panose="02010600040101010101" pitchFamily="2" charset="-122"/>
                <a:ea typeface="华文楷体" panose="02010600040101010101" pitchFamily="2" charset="-122"/>
              </a:rPr>
              <a:t>日</a:t>
            </a:r>
            <a:r>
              <a:rPr lang="zh-CN" altLang="en-US" sz="2400" b="0" dirty="0">
                <a:latin typeface="华文楷体" panose="02010600040101010101" pitchFamily="2" charset="-122"/>
                <a:ea typeface="华文楷体" panose="02010600040101010101" pitchFamily="2" charset="-122"/>
              </a:rPr>
              <a:t>计）</a:t>
            </a:r>
          </a:p>
        </p:txBody>
      </p:sp>
      <p:grpSp>
        <p:nvGrpSpPr>
          <p:cNvPr id="27652" name="Group 6">
            <a:extLst>
              <a:ext uri="{FF2B5EF4-FFF2-40B4-BE49-F238E27FC236}">
                <a16:creationId xmlns:a16="http://schemas.microsoft.com/office/drawing/2014/main" id="{228D02A8-5382-46F8-B5AA-D87A0BCBF71D}"/>
              </a:ext>
            </a:extLst>
          </p:cNvPr>
          <p:cNvGrpSpPr>
            <a:grpSpLocks/>
          </p:cNvGrpSpPr>
          <p:nvPr/>
        </p:nvGrpSpPr>
        <p:grpSpPr bwMode="auto">
          <a:xfrm>
            <a:off x="2153444" y="1193007"/>
            <a:ext cx="8983694" cy="1960563"/>
            <a:chOff x="340" y="618"/>
            <a:chExt cx="4905" cy="1235"/>
          </a:xfrm>
        </p:grpSpPr>
        <p:sp>
          <p:nvSpPr>
            <p:cNvPr id="27653" name="Rectangle 4">
              <a:extLst>
                <a:ext uri="{FF2B5EF4-FFF2-40B4-BE49-F238E27FC236}">
                  <a16:creationId xmlns:a16="http://schemas.microsoft.com/office/drawing/2014/main" id="{CCEDE77D-02B0-4B97-A290-1CAC67392B1F}"/>
                </a:ext>
              </a:extLst>
            </p:cNvPr>
            <p:cNvSpPr>
              <a:spLocks noChangeArrowheads="1"/>
            </p:cNvSpPr>
            <p:nvPr/>
          </p:nvSpPr>
          <p:spPr bwMode="auto">
            <a:xfrm>
              <a:off x="340" y="981"/>
              <a:ext cx="4905" cy="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lang="en-US" altLang="zh-CN" b="0" dirty="0">
                  <a:latin typeface="Times New Roman" panose="02020603050405020304" pitchFamily="18" charset="0"/>
                  <a:ea typeface="楷体_GB2312" pitchFamily="49" charset="-122"/>
                </a:rPr>
                <a:t>       </a:t>
              </a:r>
              <a:r>
                <a:rPr lang="zh-CN" altLang="en-US" b="0" dirty="0">
                  <a:latin typeface="Times New Roman" panose="02020603050405020304" pitchFamily="18" charset="0"/>
                  <a:ea typeface="楷体_GB2312" pitchFamily="49" charset="-122"/>
                </a:rPr>
                <a:t>维生素</a:t>
              </a:r>
              <a:r>
                <a:rPr lang="zh-CN" altLang="en-US" b="0" dirty="0">
                  <a:latin typeface="黑体" panose="02010609060101010101" pitchFamily="49" charset="-122"/>
                  <a:ea typeface="黑体" panose="02010609060101010101" pitchFamily="49" charset="-122"/>
                  <a:cs typeface="楷体_GB2312" pitchFamily="49" charset="-122"/>
                </a:rPr>
                <a:t>是维持人体正常生理功能所必需的，需要量很小</a:t>
              </a:r>
              <a:r>
                <a:rPr lang="en-US" altLang="zh-CN" b="0" dirty="0">
                  <a:latin typeface="黑体" panose="02010609060101010101" pitchFamily="49" charset="-122"/>
                  <a:ea typeface="黑体" panose="02010609060101010101" pitchFamily="49" charset="-122"/>
                  <a:cs typeface="楷体_GB2312" pitchFamily="49" charset="-122"/>
                </a:rPr>
                <a:t>, </a:t>
              </a:r>
              <a:r>
                <a:rPr lang="zh-CN" altLang="en-US" b="0" dirty="0">
                  <a:latin typeface="黑体" panose="02010609060101010101" pitchFamily="49" charset="-122"/>
                  <a:ea typeface="黑体" panose="02010609060101010101" pitchFamily="49" charset="-122"/>
                  <a:cs typeface="楷体_GB2312" pitchFamily="49" charset="-122"/>
                </a:rPr>
                <a:t>机体不能合成或合成很少</a:t>
              </a:r>
              <a:r>
                <a:rPr lang="en-US" altLang="zh-CN" b="0" dirty="0">
                  <a:latin typeface="黑体" panose="02010609060101010101" pitchFamily="49" charset="-122"/>
                  <a:ea typeface="黑体" panose="02010609060101010101" pitchFamily="49" charset="-122"/>
                  <a:cs typeface="楷体_GB2312" pitchFamily="49" charset="-122"/>
                </a:rPr>
                <a:t>, </a:t>
              </a:r>
              <a:r>
                <a:rPr lang="zh-CN" altLang="en-US" b="0" dirty="0">
                  <a:latin typeface="黑体" panose="02010609060101010101" pitchFamily="49" charset="-122"/>
                  <a:ea typeface="黑体" panose="02010609060101010101" pitchFamily="49" charset="-122"/>
                  <a:cs typeface="楷体_GB2312" pitchFamily="49" charset="-122"/>
                </a:rPr>
                <a:t>需由食物供给的一类</a:t>
              </a:r>
              <a:r>
                <a:rPr lang="zh-CN" altLang="en-US" b="0" dirty="0">
                  <a:solidFill>
                    <a:srgbClr val="0000CC"/>
                  </a:solidFill>
                  <a:latin typeface="黑体" panose="02010609060101010101" pitchFamily="49" charset="-122"/>
                  <a:ea typeface="黑体" panose="02010609060101010101" pitchFamily="49" charset="-122"/>
                  <a:cs typeface="楷体_GB2312" pitchFamily="49" charset="-122"/>
                </a:rPr>
                <a:t>小分子有机化合物</a:t>
              </a:r>
              <a:r>
                <a:rPr lang="zh-CN" altLang="en-US" b="0" dirty="0">
                  <a:latin typeface="黑体" panose="02010609060101010101" pitchFamily="49" charset="-122"/>
                  <a:ea typeface="黑体" panose="02010609060101010101" pitchFamily="49" charset="-122"/>
                  <a:cs typeface="楷体_GB2312" pitchFamily="49" charset="-122"/>
                </a:rPr>
                <a:t>。</a:t>
              </a:r>
            </a:p>
          </p:txBody>
        </p:sp>
        <p:sp>
          <p:nvSpPr>
            <p:cNvPr id="27654" name="Rectangle 5">
              <a:extLst>
                <a:ext uri="{FF2B5EF4-FFF2-40B4-BE49-F238E27FC236}">
                  <a16:creationId xmlns:a16="http://schemas.microsoft.com/office/drawing/2014/main" id="{CF747B31-7AC7-4E8F-BFB2-69BC37EB04B8}"/>
                </a:ext>
              </a:extLst>
            </p:cNvPr>
            <p:cNvSpPr>
              <a:spLocks noChangeArrowheads="1"/>
            </p:cNvSpPr>
            <p:nvPr/>
          </p:nvSpPr>
          <p:spPr bwMode="auto">
            <a:xfrm>
              <a:off x="340" y="618"/>
              <a:ext cx="313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sz="3200" dirty="0">
                  <a:latin typeface="Times New Roman" panose="02020603050405020304" pitchFamily="18" charset="0"/>
                  <a:ea typeface="楷体_GB2312" pitchFamily="49" charset="-122"/>
                </a:rPr>
                <a:t>一、维生素的</a:t>
              </a:r>
              <a:r>
                <a:rPr lang="zh-CN" altLang="en-US" sz="3200" dirty="0">
                  <a:solidFill>
                    <a:srgbClr val="C00000"/>
                  </a:solidFill>
                  <a:latin typeface="Times New Roman" panose="02020603050405020304" pitchFamily="18" charset="0"/>
                  <a:ea typeface="楷体_GB2312" pitchFamily="49" charset="-122"/>
                </a:rPr>
                <a:t>概念</a:t>
              </a:r>
            </a:p>
          </p:txBody>
        </p:sp>
      </p:grpSp>
    </p:spTree>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6083"/>
                                        </p:tgtEl>
                                        <p:attrNameLst>
                                          <p:attrName>style.visibility</p:attrName>
                                        </p:attrNameLst>
                                      </p:cBhvr>
                                      <p:to>
                                        <p:strVal val="visible"/>
                                      </p:to>
                                    </p:set>
                                    <p:animEffect transition="in" filter="randombar(horizontal)">
                                      <p:cBhvr>
                                        <p:cTn id="7" dur="500"/>
                                        <p:tgtEl>
                                          <p:spTgt spid="46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616187AB-A32F-428F-B9AB-1C2CD2AE3219}"/>
              </a:ext>
            </a:extLst>
          </p:cNvPr>
          <p:cNvSpPr>
            <a:spLocks noGrp="1" noChangeArrowheads="1"/>
          </p:cNvSpPr>
          <p:nvPr>
            <p:ph type="title" idx="4294967295"/>
          </p:nvPr>
        </p:nvSpPr>
        <p:spPr>
          <a:xfrm>
            <a:off x="3143672" y="332656"/>
            <a:ext cx="7056438" cy="814388"/>
          </a:xfrm>
        </p:spPr>
        <p:txBody>
          <a:bodyPr/>
          <a:lstStyle/>
          <a:p>
            <a:pPr eaLnBrk="1" hangingPunct="1"/>
            <a:r>
              <a:rPr lang="zh-CN" altLang="en-US" sz="3600" b="1" dirty="0">
                <a:solidFill>
                  <a:srgbClr val="C00000"/>
                </a:solidFill>
                <a:latin typeface="楷体_GB2312" pitchFamily="49" charset="-122"/>
                <a:ea typeface="楷体_GB2312" pitchFamily="49" charset="-122"/>
              </a:rPr>
              <a:t>二、维生素的分类与命名</a:t>
            </a:r>
          </a:p>
        </p:txBody>
      </p:sp>
      <p:sp>
        <p:nvSpPr>
          <p:cNvPr id="65539" name="Text Box 3">
            <a:extLst>
              <a:ext uri="{FF2B5EF4-FFF2-40B4-BE49-F238E27FC236}">
                <a16:creationId xmlns:a16="http://schemas.microsoft.com/office/drawing/2014/main" id="{BC6C7F91-A803-4291-B3A5-3863CD1A9E6C}"/>
              </a:ext>
            </a:extLst>
          </p:cNvPr>
          <p:cNvSpPr txBox="1">
            <a:spLocks noChangeArrowheads="1"/>
          </p:cNvSpPr>
          <p:nvPr/>
        </p:nvSpPr>
        <p:spPr bwMode="auto">
          <a:xfrm>
            <a:off x="2286000" y="1447801"/>
            <a:ext cx="849052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03188" indent="-103188">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lang="zh-CN" altLang="en-US" b="0" dirty="0">
                <a:latin typeface="楷体_GB2312" pitchFamily="49" charset="-122"/>
                <a:ea typeface="楷体_GB2312" pitchFamily="49" charset="-122"/>
              </a:rPr>
              <a:t>    维生素的分类（按溶解性）</a:t>
            </a:r>
          </a:p>
          <a:p>
            <a:pPr eaLnBrk="1" hangingPunct="1">
              <a:lnSpc>
                <a:spcPct val="100000"/>
              </a:lnSpc>
              <a:spcBef>
                <a:spcPct val="50000"/>
              </a:spcBef>
              <a:buFontTx/>
              <a:buNone/>
            </a:pPr>
            <a:r>
              <a:rPr lang="zh-CN" altLang="en-US" b="0" dirty="0">
                <a:latin typeface="楷体_GB2312" pitchFamily="49" charset="-122"/>
                <a:ea typeface="楷体_GB2312" pitchFamily="49" charset="-122"/>
              </a:rPr>
              <a:t>（一）</a:t>
            </a:r>
            <a:r>
              <a:rPr lang="zh-CN" altLang="en-US" b="0" dirty="0">
                <a:solidFill>
                  <a:srgbClr val="0000CC"/>
                </a:solidFill>
                <a:latin typeface="楷体_GB2312" pitchFamily="49" charset="-122"/>
                <a:ea typeface="楷体_GB2312" pitchFamily="49" charset="-122"/>
              </a:rPr>
              <a:t>脂溶性维生素（</a:t>
            </a:r>
            <a:r>
              <a:rPr lang="en-US" altLang="zh-CN" b="0" dirty="0">
                <a:solidFill>
                  <a:srgbClr val="0000CC"/>
                </a:solidFill>
                <a:latin typeface="楷体_GB2312" pitchFamily="49" charset="-122"/>
                <a:ea typeface="楷体_GB2312" pitchFamily="49" charset="-122"/>
              </a:rPr>
              <a:t>4</a:t>
            </a:r>
            <a:r>
              <a:rPr lang="zh-CN" altLang="en-US" b="0" dirty="0">
                <a:solidFill>
                  <a:srgbClr val="0000CC"/>
                </a:solidFill>
                <a:latin typeface="楷体_GB2312" pitchFamily="49" charset="-122"/>
                <a:ea typeface="楷体_GB2312" pitchFamily="49" charset="-122"/>
              </a:rPr>
              <a:t>种）</a:t>
            </a:r>
          </a:p>
          <a:p>
            <a:pPr eaLnBrk="1" hangingPunct="1">
              <a:lnSpc>
                <a:spcPct val="100000"/>
              </a:lnSpc>
              <a:spcBef>
                <a:spcPct val="50000"/>
              </a:spcBef>
              <a:buFontTx/>
              <a:buNone/>
            </a:pPr>
            <a:r>
              <a:rPr lang="zh-CN" altLang="en-US" b="0" dirty="0">
                <a:latin typeface="楷体_GB2312" pitchFamily="49" charset="-122"/>
                <a:ea typeface="楷体_GB2312" pitchFamily="49" charset="-122"/>
              </a:rPr>
              <a:t>      </a:t>
            </a:r>
            <a:r>
              <a:rPr lang="zh-CN" altLang="en-US" b="0" dirty="0">
                <a:latin typeface="Times New Roman" panose="02020603050405020304" pitchFamily="18" charset="0"/>
                <a:ea typeface="楷体_GB2312" pitchFamily="49" charset="-122"/>
              </a:rPr>
              <a:t>维生素</a:t>
            </a:r>
            <a:r>
              <a:rPr lang="en-US" altLang="zh-CN" b="0" dirty="0">
                <a:latin typeface="Times New Roman" panose="02020603050405020304" pitchFamily="18" charset="0"/>
                <a:ea typeface="楷体_GB2312" pitchFamily="49" charset="-122"/>
              </a:rPr>
              <a:t>A</a:t>
            </a:r>
            <a:r>
              <a:rPr lang="zh-CN" altLang="en-US" b="0" dirty="0">
                <a:latin typeface="Times New Roman" panose="02020603050405020304" pitchFamily="18" charset="0"/>
                <a:ea typeface="楷体_GB2312" pitchFamily="49" charset="-122"/>
              </a:rPr>
              <a:t>、</a:t>
            </a:r>
            <a:r>
              <a:rPr lang="en-US" altLang="zh-CN" b="0" dirty="0">
                <a:latin typeface="Times New Roman" panose="02020603050405020304" pitchFamily="18" charset="0"/>
                <a:ea typeface="楷体_GB2312" pitchFamily="49" charset="-122"/>
              </a:rPr>
              <a:t>D</a:t>
            </a:r>
            <a:r>
              <a:rPr lang="zh-CN" altLang="en-US" b="0" dirty="0">
                <a:latin typeface="Times New Roman" panose="02020603050405020304" pitchFamily="18" charset="0"/>
                <a:ea typeface="楷体_GB2312" pitchFamily="49" charset="-122"/>
              </a:rPr>
              <a:t>、</a:t>
            </a:r>
            <a:r>
              <a:rPr lang="en-US" altLang="zh-CN" b="0" dirty="0">
                <a:latin typeface="Times New Roman" panose="02020603050405020304" pitchFamily="18" charset="0"/>
                <a:ea typeface="楷体_GB2312" pitchFamily="49" charset="-122"/>
              </a:rPr>
              <a:t>E</a:t>
            </a:r>
            <a:r>
              <a:rPr lang="zh-CN" altLang="en-US" b="0" dirty="0">
                <a:latin typeface="Times New Roman" panose="02020603050405020304" pitchFamily="18" charset="0"/>
                <a:ea typeface="楷体_GB2312" pitchFamily="49" charset="-122"/>
              </a:rPr>
              <a:t>、</a:t>
            </a:r>
            <a:r>
              <a:rPr lang="en-US" altLang="zh-CN" b="0" dirty="0">
                <a:latin typeface="Times New Roman" panose="02020603050405020304" pitchFamily="18" charset="0"/>
                <a:ea typeface="楷体_GB2312" pitchFamily="49" charset="-122"/>
              </a:rPr>
              <a:t>K      (</a:t>
            </a:r>
            <a:r>
              <a:rPr lang="zh-CN" altLang="en-US" sz="2400" b="0" dirty="0">
                <a:latin typeface="Times New Roman" panose="02020603050405020304" pitchFamily="18" charset="0"/>
                <a:ea typeface="楷体_GB2312" pitchFamily="49" charset="-122"/>
              </a:rPr>
              <a:t>记为 </a:t>
            </a:r>
            <a:r>
              <a:rPr lang="en-US" altLang="zh-CN" sz="2400" b="0" dirty="0">
                <a:solidFill>
                  <a:srgbClr val="3333CC"/>
                </a:solidFill>
                <a:latin typeface="Times New Roman" panose="02020603050405020304" pitchFamily="18" charset="0"/>
                <a:ea typeface="楷体_GB2312" pitchFamily="49" charset="-122"/>
              </a:rPr>
              <a:t>DAKE </a:t>
            </a:r>
            <a:r>
              <a:rPr lang="zh-CN" altLang="en-US" sz="2400" b="0" dirty="0">
                <a:solidFill>
                  <a:srgbClr val="3333CC"/>
                </a:solidFill>
                <a:latin typeface="Times New Roman" panose="02020603050405020304" pitchFamily="18" charset="0"/>
                <a:ea typeface="楷体_GB2312" pitchFamily="49" charset="-122"/>
              </a:rPr>
              <a:t>或 </a:t>
            </a:r>
            <a:r>
              <a:rPr lang="en-US" altLang="zh-CN" sz="2400" b="0" dirty="0">
                <a:solidFill>
                  <a:srgbClr val="3333CC"/>
                </a:solidFill>
                <a:latin typeface="Times New Roman" panose="02020603050405020304" pitchFamily="18" charset="0"/>
                <a:ea typeface="楷体_GB2312" pitchFamily="49" charset="-122"/>
              </a:rPr>
              <a:t>DEKA </a:t>
            </a:r>
            <a:r>
              <a:rPr lang="en-US" altLang="zh-CN" b="0" dirty="0">
                <a:latin typeface="Times New Roman" panose="02020603050405020304" pitchFamily="18" charset="0"/>
                <a:ea typeface="楷体_GB2312" pitchFamily="49" charset="-122"/>
              </a:rPr>
              <a:t>)</a:t>
            </a:r>
          </a:p>
          <a:p>
            <a:pPr eaLnBrk="1" hangingPunct="1">
              <a:lnSpc>
                <a:spcPct val="100000"/>
              </a:lnSpc>
              <a:spcBef>
                <a:spcPct val="50000"/>
              </a:spcBef>
              <a:buFontTx/>
              <a:buNone/>
            </a:pPr>
            <a:r>
              <a:rPr lang="zh-CN" altLang="en-US" b="0" dirty="0">
                <a:latin typeface="楷体_GB2312" pitchFamily="49" charset="-122"/>
                <a:ea typeface="楷体_GB2312" pitchFamily="49" charset="-122"/>
              </a:rPr>
              <a:t>（二）</a:t>
            </a:r>
            <a:r>
              <a:rPr lang="zh-CN" altLang="en-US" b="0" dirty="0">
                <a:solidFill>
                  <a:srgbClr val="0000CC"/>
                </a:solidFill>
                <a:latin typeface="楷体_GB2312" pitchFamily="49" charset="-122"/>
                <a:ea typeface="楷体_GB2312" pitchFamily="49" charset="-122"/>
              </a:rPr>
              <a:t>水溶性维生素（</a:t>
            </a:r>
            <a:r>
              <a:rPr lang="en-US" altLang="zh-CN" b="0" dirty="0">
                <a:solidFill>
                  <a:srgbClr val="0000CC"/>
                </a:solidFill>
                <a:latin typeface="楷体_GB2312" pitchFamily="49" charset="-122"/>
                <a:ea typeface="楷体_GB2312" pitchFamily="49" charset="-122"/>
              </a:rPr>
              <a:t>9</a:t>
            </a:r>
            <a:r>
              <a:rPr lang="zh-CN" altLang="en-US" b="0" dirty="0">
                <a:solidFill>
                  <a:srgbClr val="0000CC"/>
                </a:solidFill>
                <a:latin typeface="楷体_GB2312" pitchFamily="49" charset="-122"/>
                <a:ea typeface="楷体_GB2312" pitchFamily="49" charset="-122"/>
              </a:rPr>
              <a:t>种）</a:t>
            </a:r>
          </a:p>
          <a:p>
            <a:pPr eaLnBrk="1" hangingPunct="1">
              <a:lnSpc>
                <a:spcPct val="110000"/>
              </a:lnSpc>
              <a:spcBef>
                <a:spcPct val="50000"/>
              </a:spcBef>
              <a:buFontTx/>
              <a:buNone/>
            </a:pPr>
            <a:r>
              <a:rPr lang="zh-CN" altLang="en-US" b="0" dirty="0">
                <a:latin typeface="楷体_GB2312" pitchFamily="49" charset="-122"/>
                <a:ea typeface="楷体_GB2312" pitchFamily="49" charset="-122"/>
              </a:rPr>
              <a:t>      </a:t>
            </a:r>
            <a:r>
              <a:rPr lang="en-US" altLang="zh-CN" b="0" dirty="0">
                <a:latin typeface="楷体_GB2312" pitchFamily="49" charset="-122"/>
                <a:ea typeface="楷体_GB2312" pitchFamily="49" charset="-122"/>
              </a:rPr>
              <a:t>B</a:t>
            </a:r>
            <a:r>
              <a:rPr lang="zh-CN" altLang="en-US" b="0" dirty="0">
                <a:latin typeface="楷体_GB2312" pitchFamily="49" charset="-122"/>
                <a:ea typeface="楷体_GB2312" pitchFamily="49" charset="-122"/>
              </a:rPr>
              <a:t>族</a:t>
            </a:r>
            <a:r>
              <a:rPr lang="zh-CN" altLang="en-US" b="0" dirty="0">
                <a:latin typeface="Times New Roman" panose="02020603050405020304" pitchFamily="18" charset="0"/>
                <a:ea typeface="楷体_GB2312" pitchFamily="49" charset="-122"/>
              </a:rPr>
              <a:t>维生素（</a:t>
            </a:r>
            <a:r>
              <a:rPr lang="en-US" altLang="zh-CN" b="0" dirty="0">
                <a:latin typeface="Times New Roman" panose="02020603050405020304" pitchFamily="18" charset="0"/>
                <a:ea typeface="楷体_GB2312" pitchFamily="49" charset="-122"/>
              </a:rPr>
              <a:t>8</a:t>
            </a:r>
            <a:r>
              <a:rPr lang="zh-CN" altLang="en-US" b="0" dirty="0">
                <a:latin typeface="Times New Roman" panose="02020603050405020304" pitchFamily="18" charset="0"/>
                <a:ea typeface="楷体_GB2312" pitchFamily="49" charset="-122"/>
              </a:rPr>
              <a:t>种 ）：</a:t>
            </a:r>
            <a:endParaRPr lang="en-US" altLang="zh-CN" b="0" dirty="0">
              <a:latin typeface="Times New Roman" panose="02020603050405020304" pitchFamily="18" charset="0"/>
              <a:ea typeface="楷体_GB2312" pitchFamily="49" charset="-122"/>
            </a:endParaRPr>
          </a:p>
          <a:p>
            <a:pPr eaLnBrk="1" hangingPunct="1">
              <a:lnSpc>
                <a:spcPct val="110000"/>
              </a:lnSpc>
              <a:spcBef>
                <a:spcPct val="50000"/>
              </a:spcBef>
              <a:buFontTx/>
              <a:buNone/>
            </a:pPr>
            <a:r>
              <a:rPr lang="en-US" altLang="zh-CN" sz="2400" b="0" dirty="0">
                <a:latin typeface="Times New Roman" panose="02020603050405020304" pitchFamily="18" charset="0"/>
                <a:ea typeface="楷体_GB2312" pitchFamily="49" charset="-122"/>
              </a:rPr>
              <a:t>              B</a:t>
            </a:r>
            <a:r>
              <a:rPr lang="en-US" altLang="zh-CN" sz="2400" b="0" baseline="-25000" dirty="0">
                <a:latin typeface="Times New Roman" panose="02020603050405020304" pitchFamily="18" charset="0"/>
                <a:ea typeface="楷体_GB2312" pitchFamily="49" charset="-122"/>
              </a:rPr>
              <a:t>1</a:t>
            </a:r>
            <a:r>
              <a:rPr lang="zh-CN" altLang="en-US" sz="2400" b="0" dirty="0">
                <a:latin typeface="Times New Roman" panose="02020603050405020304" pitchFamily="18" charset="0"/>
                <a:ea typeface="楷体_GB2312" pitchFamily="49" charset="-122"/>
              </a:rPr>
              <a:t>、</a:t>
            </a:r>
            <a:r>
              <a:rPr lang="en-US" altLang="zh-CN" sz="2400" b="0" dirty="0">
                <a:latin typeface="Times New Roman" panose="02020603050405020304" pitchFamily="18" charset="0"/>
                <a:ea typeface="楷体_GB2312" pitchFamily="49" charset="-122"/>
              </a:rPr>
              <a:t>B</a:t>
            </a:r>
            <a:r>
              <a:rPr lang="en-US" altLang="zh-CN" sz="2400" b="0" baseline="-25000" dirty="0">
                <a:latin typeface="Times New Roman" panose="02020603050405020304" pitchFamily="18" charset="0"/>
                <a:ea typeface="楷体_GB2312" pitchFamily="49" charset="-122"/>
              </a:rPr>
              <a:t>2</a:t>
            </a:r>
            <a:r>
              <a:rPr lang="zh-CN" altLang="en-US" sz="2400" b="0" dirty="0">
                <a:latin typeface="Times New Roman" panose="02020603050405020304" pitchFamily="18" charset="0"/>
                <a:ea typeface="楷体_GB2312" pitchFamily="49" charset="-122"/>
              </a:rPr>
              <a:t>、 </a:t>
            </a:r>
            <a:r>
              <a:rPr lang="en-US" altLang="zh-CN" sz="2400" b="0" dirty="0">
                <a:latin typeface="Times New Roman" panose="02020603050405020304" pitchFamily="18" charset="0"/>
                <a:ea typeface="楷体_GB2312" pitchFamily="49" charset="-122"/>
              </a:rPr>
              <a:t>PP</a:t>
            </a:r>
            <a:r>
              <a:rPr lang="zh-CN" altLang="en-US" sz="2400" b="0" dirty="0">
                <a:latin typeface="Times New Roman" panose="02020603050405020304" pitchFamily="18" charset="0"/>
                <a:ea typeface="楷体_GB2312" pitchFamily="49" charset="-122"/>
              </a:rPr>
              <a:t>、泛酸、</a:t>
            </a:r>
            <a:r>
              <a:rPr lang="en-US" altLang="zh-CN" sz="2400" b="0" dirty="0">
                <a:latin typeface="Times New Roman" panose="02020603050405020304" pitchFamily="18" charset="0"/>
                <a:ea typeface="楷体_GB2312" pitchFamily="49" charset="-122"/>
              </a:rPr>
              <a:t>B</a:t>
            </a:r>
            <a:r>
              <a:rPr lang="en-US" altLang="zh-CN" sz="2400" b="0" baseline="-25000" dirty="0">
                <a:latin typeface="Times New Roman" panose="02020603050405020304" pitchFamily="18" charset="0"/>
                <a:ea typeface="楷体_GB2312" pitchFamily="49" charset="-122"/>
              </a:rPr>
              <a:t>6</a:t>
            </a:r>
            <a:r>
              <a:rPr lang="zh-CN" altLang="en-US" sz="2400" b="0" dirty="0">
                <a:latin typeface="Times New Roman" panose="02020603050405020304" pitchFamily="18" charset="0"/>
                <a:ea typeface="楷体_GB2312" pitchFamily="49" charset="-122"/>
              </a:rPr>
              <a:t>、生物素、叶酸、</a:t>
            </a:r>
            <a:r>
              <a:rPr lang="en-US" altLang="zh-CN" sz="2400" b="0" dirty="0">
                <a:latin typeface="Times New Roman" panose="02020603050405020304" pitchFamily="18" charset="0"/>
                <a:ea typeface="楷体_GB2312" pitchFamily="49" charset="-122"/>
              </a:rPr>
              <a:t>B</a:t>
            </a:r>
            <a:r>
              <a:rPr lang="en-US" altLang="zh-CN" sz="2400" b="0" baseline="-25000" dirty="0">
                <a:latin typeface="Times New Roman" panose="02020603050405020304" pitchFamily="18" charset="0"/>
                <a:ea typeface="楷体_GB2312" pitchFamily="49" charset="-122"/>
              </a:rPr>
              <a:t>12</a:t>
            </a:r>
            <a:r>
              <a:rPr lang="en-US" altLang="zh-CN" sz="2400" b="0" dirty="0">
                <a:latin typeface="Times New Roman" panose="02020603050405020304" pitchFamily="18" charset="0"/>
                <a:ea typeface="楷体_GB2312" pitchFamily="49" charset="-122"/>
              </a:rPr>
              <a:t> </a:t>
            </a:r>
            <a:r>
              <a:rPr lang="zh-CN" altLang="en-US" b="0" dirty="0">
                <a:latin typeface="Times New Roman" panose="02020603050405020304" pitchFamily="18" charset="0"/>
                <a:ea typeface="楷体_GB2312" pitchFamily="49" charset="-122"/>
              </a:rPr>
              <a:t>　　　          </a:t>
            </a:r>
            <a:endParaRPr lang="en-US" altLang="zh-CN" b="0" dirty="0">
              <a:latin typeface="Times New Roman" panose="02020603050405020304" pitchFamily="18" charset="0"/>
              <a:ea typeface="楷体_GB2312" pitchFamily="49" charset="-122"/>
            </a:endParaRPr>
          </a:p>
          <a:p>
            <a:pPr eaLnBrk="1" hangingPunct="1">
              <a:lnSpc>
                <a:spcPct val="110000"/>
              </a:lnSpc>
              <a:spcBef>
                <a:spcPct val="50000"/>
              </a:spcBef>
              <a:buFontTx/>
              <a:buNone/>
            </a:pPr>
            <a:r>
              <a:rPr lang="en-US" altLang="zh-CN" b="0" dirty="0">
                <a:latin typeface="Times New Roman" panose="02020603050405020304" pitchFamily="18" charset="0"/>
                <a:ea typeface="楷体_GB2312" pitchFamily="49" charset="-122"/>
              </a:rPr>
              <a:t>       </a:t>
            </a:r>
            <a:r>
              <a:rPr lang="zh-CN" altLang="en-US" b="0" dirty="0">
                <a:latin typeface="Times New Roman" panose="02020603050405020304" pitchFamily="18" charset="0"/>
                <a:ea typeface="楷体_GB2312" pitchFamily="49" charset="-122"/>
              </a:rPr>
              <a:t>维生素</a:t>
            </a:r>
            <a:r>
              <a:rPr lang="en-US" altLang="zh-CN" b="0" dirty="0">
                <a:latin typeface="Times New Roman" panose="02020603050405020304" pitchFamily="18" charset="0"/>
                <a:ea typeface="楷体_GB2312" pitchFamily="49" charset="-122"/>
              </a:rPr>
              <a:t>C</a:t>
            </a:r>
            <a:r>
              <a:rPr lang="zh-CN" altLang="en-US" b="0" dirty="0">
                <a:latin typeface="Times New Roman" panose="02020603050405020304" pitchFamily="18" charset="0"/>
                <a:ea typeface="楷体_GB2312" pitchFamily="49" charset="-122"/>
              </a:rPr>
              <a:t>　</a:t>
            </a:r>
            <a:endParaRPr lang="en-US" altLang="zh-CN" b="0" dirty="0">
              <a:latin typeface="Times New Roman" panose="02020603050405020304" pitchFamily="18" charset="0"/>
              <a:ea typeface="楷体_GB2312" pitchFamily="49" charset="-122"/>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2094221-70AD-4270-BA25-6B427E2871B8}"/>
              </a:ext>
            </a:extLst>
          </p:cNvPr>
          <p:cNvSpPr>
            <a:spLocks noGrp="1"/>
          </p:cNvSpPr>
          <p:nvPr>
            <p:ph idx="1"/>
          </p:nvPr>
        </p:nvSpPr>
        <p:spPr>
          <a:xfrm>
            <a:off x="2207568" y="548680"/>
            <a:ext cx="8208912" cy="5976664"/>
          </a:xfrm>
        </p:spPr>
        <p:txBody>
          <a:bodyPr/>
          <a:lstStyle/>
          <a:p>
            <a:r>
              <a:rPr lang="zh-CN" altLang="en-US" sz="2400" b="1" dirty="0"/>
              <a:t>脂溶性维生素记忆口诀：</a:t>
            </a:r>
            <a:endParaRPr lang="en-US" altLang="zh-CN" sz="2400" b="1" dirty="0"/>
          </a:p>
          <a:p>
            <a:pPr lvl="1"/>
            <a:r>
              <a:rPr lang="en-US" altLang="zh-CN" sz="2000" dirty="0"/>
              <a:t>A(VA)</a:t>
            </a:r>
            <a:r>
              <a:rPr lang="zh-CN" altLang="en-US" sz="2000" dirty="0"/>
              <a:t>缺视黄</a:t>
            </a:r>
            <a:r>
              <a:rPr lang="en-US" altLang="zh-CN" sz="2000" dirty="0"/>
              <a:t>(</a:t>
            </a:r>
            <a:r>
              <a:rPr lang="zh-CN" altLang="en-US" sz="2000" dirty="0"/>
              <a:t>视黄醇</a:t>
            </a:r>
            <a:r>
              <a:rPr lang="en-US" altLang="zh-CN" sz="2000" dirty="0"/>
              <a:t>)</a:t>
            </a:r>
            <a:r>
              <a:rPr lang="zh-CN" altLang="en-US" sz="2000" dirty="0"/>
              <a:t>得夜盲</a:t>
            </a:r>
            <a:r>
              <a:rPr lang="en-US" altLang="zh-CN" sz="2000" dirty="0"/>
              <a:t>(</a:t>
            </a:r>
            <a:r>
              <a:rPr lang="zh-CN" altLang="en-US" sz="2000" dirty="0"/>
              <a:t>夜盲症</a:t>
            </a:r>
            <a:r>
              <a:rPr lang="en-US" altLang="zh-CN" sz="2000" dirty="0"/>
              <a:t>)</a:t>
            </a:r>
          </a:p>
          <a:p>
            <a:pPr lvl="1"/>
            <a:r>
              <a:rPr lang="en-US" altLang="zh-CN" sz="2000" dirty="0"/>
              <a:t>D(VD)</a:t>
            </a:r>
            <a:r>
              <a:rPr lang="zh-CN" altLang="en-US" sz="2000" dirty="0"/>
              <a:t>缺钙化</a:t>
            </a:r>
            <a:r>
              <a:rPr lang="en-US" altLang="zh-CN" sz="2000" dirty="0"/>
              <a:t>(</a:t>
            </a:r>
            <a:r>
              <a:rPr lang="zh-CN" altLang="en-US" sz="2000" dirty="0"/>
              <a:t>钙化醇</a:t>
            </a:r>
            <a:r>
              <a:rPr lang="en-US" altLang="zh-CN" sz="2000" dirty="0"/>
              <a:t>)</a:t>
            </a:r>
            <a:r>
              <a:rPr lang="zh-CN" altLang="en-US" sz="2000" dirty="0"/>
              <a:t>得佝偻</a:t>
            </a:r>
            <a:r>
              <a:rPr lang="en-US" altLang="zh-CN" sz="2000" dirty="0"/>
              <a:t>(</a:t>
            </a:r>
            <a:r>
              <a:rPr lang="zh-CN" altLang="en-US" sz="2000" dirty="0"/>
              <a:t>佝偻病</a:t>
            </a:r>
            <a:r>
              <a:rPr lang="en-US" altLang="zh-CN" sz="2000" dirty="0"/>
              <a:t>)</a:t>
            </a:r>
          </a:p>
          <a:p>
            <a:pPr lvl="1"/>
            <a:r>
              <a:rPr lang="en-US" altLang="zh-CN" sz="2000" dirty="0"/>
              <a:t>E(VE)</a:t>
            </a:r>
            <a:r>
              <a:rPr lang="zh-CN" altLang="en-US" sz="2000" dirty="0"/>
              <a:t>缺生育</a:t>
            </a:r>
            <a:r>
              <a:rPr lang="en-US" altLang="zh-CN" sz="2000" dirty="0"/>
              <a:t>(ɑ-</a:t>
            </a:r>
            <a:r>
              <a:rPr lang="zh-CN" altLang="en-US" sz="2000" dirty="0"/>
              <a:t>生育酚</a:t>
            </a:r>
            <a:r>
              <a:rPr lang="en-US" altLang="zh-CN" sz="2000" dirty="0"/>
              <a:t>)</a:t>
            </a:r>
            <a:r>
              <a:rPr lang="zh-CN" altLang="en-US" sz="2000" dirty="0"/>
              <a:t>得贫血</a:t>
            </a:r>
            <a:r>
              <a:rPr lang="en-US" altLang="zh-CN" sz="2000" dirty="0"/>
              <a:t>(</a:t>
            </a:r>
            <a:r>
              <a:rPr lang="zh-CN" altLang="en-US" sz="2000" dirty="0"/>
              <a:t>溶血性贫血</a:t>
            </a:r>
            <a:r>
              <a:rPr lang="en-US" altLang="zh-CN" sz="2000" dirty="0"/>
              <a:t>)</a:t>
            </a:r>
          </a:p>
          <a:p>
            <a:pPr lvl="1"/>
            <a:r>
              <a:rPr lang="en-US" altLang="zh-CN" sz="2000" dirty="0"/>
              <a:t>K(VK)</a:t>
            </a:r>
            <a:r>
              <a:rPr lang="zh-CN" altLang="en-US" sz="2000" dirty="0"/>
              <a:t>缺凝血</a:t>
            </a:r>
            <a:r>
              <a:rPr lang="en-US" altLang="zh-CN" sz="2000" dirty="0"/>
              <a:t>(</a:t>
            </a:r>
            <a:r>
              <a:rPr lang="zh-CN" altLang="en-US" sz="2000" dirty="0"/>
              <a:t>凝血维生素</a:t>
            </a:r>
            <a:r>
              <a:rPr lang="en-US" altLang="zh-CN" sz="2000" dirty="0"/>
              <a:t>)</a:t>
            </a:r>
            <a:r>
              <a:rPr lang="zh-CN" altLang="en-US" sz="2000" dirty="0"/>
              <a:t>就出血</a:t>
            </a:r>
            <a:r>
              <a:rPr lang="en-US" altLang="zh-CN" sz="2000" dirty="0"/>
              <a:t>(</a:t>
            </a:r>
            <a:r>
              <a:rPr lang="zh-CN" altLang="en-US" sz="2000" dirty="0"/>
              <a:t>新生儿出血疾病</a:t>
            </a:r>
            <a:r>
              <a:rPr lang="en-US" altLang="zh-CN" sz="2000" dirty="0"/>
              <a:t>)</a:t>
            </a:r>
          </a:p>
          <a:p>
            <a:endParaRPr lang="en-US" altLang="zh-CN" sz="2400" dirty="0"/>
          </a:p>
          <a:p>
            <a:r>
              <a:rPr lang="zh-CN" altLang="en-US" sz="2400" b="1" dirty="0"/>
              <a:t>水溶性维生素记忆口诀：</a:t>
            </a:r>
            <a:endParaRPr lang="en-US" altLang="zh-CN" sz="2400" b="1" dirty="0"/>
          </a:p>
          <a:p>
            <a:r>
              <a:rPr lang="zh-CN" altLang="en-US" sz="2400" dirty="0"/>
              <a:t>一</a:t>
            </a:r>
            <a:r>
              <a:rPr lang="en-US" altLang="zh-CN" sz="2400" dirty="0"/>
              <a:t>(VB1)</a:t>
            </a:r>
            <a:r>
              <a:rPr lang="zh-CN" altLang="en-US" sz="2400" dirty="0"/>
              <a:t>硫</a:t>
            </a:r>
            <a:r>
              <a:rPr lang="en-US" altLang="zh-CN" sz="2400" dirty="0"/>
              <a:t>(</a:t>
            </a:r>
            <a:r>
              <a:rPr lang="zh-CN" altLang="en-US" sz="2400" dirty="0"/>
              <a:t>硫胺素</a:t>
            </a:r>
            <a:r>
              <a:rPr lang="en-US" altLang="zh-CN" sz="2400" dirty="0"/>
              <a:t>)</a:t>
            </a:r>
            <a:r>
              <a:rPr lang="zh-CN" altLang="en-US" sz="2400" dirty="0"/>
              <a:t>的脚气</a:t>
            </a:r>
            <a:r>
              <a:rPr lang="en-US" altLang="zh-CN" sz="2400" dirty="0"/>
              <a:t>(</a:t>
            </a:r>
            <a:r>
              <a:rPr lang="zh-CN" altLang="en-US" sz="2400" dirty="0"/>
              <a:t>脚气病</a:t>
            </a:r>
            <a:r>
              <a:rPr lang="en-US" altLang="zh-CN" sz="2400" dirty="0"/>
              <a:t>)</a:t>
            </a:r>
          </a:p>
          <a:p>
            <a:r>
              <a:rPr lang="zh-CN" altLang="en-US" sz="2400" dirty="0"/>
              <a:t>二</a:t>
            </a:r>
            <a:r>
              <a:rPr lang="en-US" altLang="zh-CN" sz="2400" dirty="0"/>
              <a:t>(VB2)</a:t>
            </a:r>
            <a:r>
              <a:rPr lang="zh-CN" altLang="en-US" sz="2400" dirty="0"/>
              <a:t>核</a:t>
            </a:r>
            <a:r>
              <a:rPr lang="en-US" altLang="zh-CN" sz="2400" dirty="0"/>
              <a:t>(</a:t>
            </a:r>
            <a:r>
              <a:rPr lang="zh-CN" altLang="en-US" sz="2400" dirty="0"/>
              <a:t>核黄素</a:t>
            </a:r>
            <a:r>
              <a:rPr lang="en-US" altLang="zh-CN" sz="2400" dirty="0"/>
              <a:t>)</a:t>
            </a:r>
            <a:r>
              <a:rPr lang="zh-CN" altLang="en-US" sz="2400" dirty="0"/>
              <a:t>的口炎</a:t>
            </a:r>
            <a:r>
              <a:rPr lang="en-US" altLang="zh-CN" sz="2400" dirty="0"/>
              <a:t>(</a:t>
            </a:r>
            <a:r>
              <a:rPr lang="zh-CN" altLang="en-US" sz="2400" dirty="0"/>
              <a:t>口角炎</a:t>
            </a:r>
            <a:r>
              <a:rPr lang="en-US" altLang="zh-CN" sz="2400" dirty="0"/>
              <a:t>)</a:t>
            </a:r>
          </a:p>
          <a:p>
            <a:r>
              <a:rPr lang="zh-CN" altLang="en-US" sz="2400" dirty="0"/>
              <a:t>三</a:t>
            </a:r>
            <a:r>
              <a:rPr lang="en-US" altLang="zh-CN" sz="2400" dirty="0"/>
              <a:t>(VB3)D(“3D”</a:t>
            </a:r>
            <a:r>
              <a:rPr lang="zh-CN" altLang="en-US" sz="2400" dirty="0"/>
              <a:t>症</a:t>
            </a:r>
            <a:r>
              <a:rPr lang="en-US" altLang="zh-CN" sz="2400" dirty="0"/>
              <a:t>)</a:t>
            </a:r>
            <a:r>
              <a:rPr lang="zh-CN" altLang="en-US" sz="2400" dirty="0"/>
              <a:t>的癞</a:t>
            </a:r>
            <a:r>
              <a:rPr lang="en-US" altLang="zh-CN" sz="2400" dirty="0"/>
              <a:t>(</a:t>
            </a:r>
            <a:r>
              <a:rPr lang="zh-CN" altLang="en-US" sz="2400" dirty="0"/>
              <a:t>癞皮病</a:t>
            </a:r>
            <a:r>
              <a:rPr lang="en-US" altLang="zh-CN" sz="2400" dirty="0"/>
              <a:t>)</a:t>
            </a:r>
            <a:r>
              <a:rPr lang="zh-CN" altLang="en-US" sz="2400" dirty="0"/>
              <a:t>烟</a:t>
            </a:r>
            <a:r>
              <a:rPr lang="en-US" altLang="zh-CN" sz="2400" dirty="0"/>
              <a:t>(</a:t>
            </a:r>
            <a:r>
              <a:rPr lang="zh-CN" altLang="en-US" sz="2400" dirty="0"/>
              <a:t>烟酸</a:t>
            </a:r>
            <a:r>
              <a:rPr lang="en-US" altLang="zh-CN" sz="2400" dirty="0"/>
              <a:t>)</a:t>
            </a:r>
          </a:p>
          <a:p>
            <a:r>
              <a:rPr lang="zh-CN" altLang="en-US" sz="2400" dirty="0"/>
              <a:t>牛</a:t>
            </a:r>
            <a:r>
              <a:rPr lang="en-US" altLang="zh-CN" sz="2400" dirty="0"/>
              <a:t>(VB6)</a:t>
            </a:r>
            <a:r>
              <a:rPr lang="zh-CN" altLang="en-US" sz="2400" dirty="0"/>
              <a:t>逼</a:t>
            </a:r>
            <a:r>
              <a:rPr lang="en-US" altLang="zh-CN" sz="2400" dirty="0"/>
              <a:t>(</a:t>
            </a:r>
            <a:r>
              <a:rPr lang="zh-CN" altLang="en-US" sz="2400" dirty="0"/>
              <a:t>吡哆类</a:t>
            </a:r>
            <a:r>
              <a:rPr lang="en-US" altLang="zh-CN" sz="2400" dirty="0"/>
              <a:t>)</a:t>
            </a:r>
            <a:r>
              <a:rPr lang="zh-CN" altLang="en-US" sz="2400" dirty="0"/>
              <a:t>的皮炎</a:t>
            </a:r>
            <a:r>
              <a:rPr lang="en-US" altLang="zh-CN" sz="2400" dirty="0"/>
              <a:t>(</a:t>
            </a:r>
            <a:r>
              <a:rPr lang="zh-CN" altLang="en-US" sz="2400" dirty="0"/>
              <a:t>脂溢性皮炎</a:t>
            </a:r>
            <a:r>
              <a:rPr lang="en-US" altLang="zh-CN" sz="2400" dirty="0"/>
              <a:t>)</a:t>
            </a:r>
          </a:p>
          <a:p>
            <a:r>
              <a:rPr lang="zh-CN" altLang="en-US" sz="2400" dirty="0"/>
              <a:t>夜里喝酒</a:t>
            </a:r>
            <a:r>
              <a:rPr lang="en-US" altLang="zh-CN" sz="2400" dirty="0"/>
              <a:t>(VB9)</a:t>
            </a:r>
            <a:r>
              <a:rPr lang="zh-CN" altLang="en-US" sz="2400" dirty="0"/>
              <a:t>巨贫</a:t>
            </a:r>
            <a:r>
              <a:rPr lang="en-US" altLang="zh-CN" sz="2400" dirty="0"/>
              <a:t>(</a:t>
            </a:r>
            <a:r>
              <a:rPr lang="zh-CN" altLang="en-US" sz="2400" dirty="0"/>
              <a:t>巨幼红细胞性贫血</a:t>
            </a:r>
            <a:r>
              <a:rPr lang="en-US" altLang="zh-CN" sz="2400" dirty="0"/>
              <a:t>)</a:t>
            </a:r>
            <a:r>
              <a:rPr lang="zh-CN" altLang="en-US" sz="2400" dirty="0"/>
              <a:t>神</a:t>
            </a:r>
            <a:r>
              <a:rPr lang="en-US" altLang="zh-CN" sz="2400" dirty="0"/>
              <a:t>(</a:t>
            </a:r>
            <a:r>
              <a:rPr lang="zh-CN" altLang="en-US" sz="2400" dirty="0"/>
              <a:t>胎儿神经管畸形</a:t>
            </a:r>
            <a:r>
              <a:rPr lang="en-US" altLang="zh-CN" sz="2400" dirty="0"/>
              <a:t>)</a:t>
            </a:r>
          </a:p>
          <a:p>
            <a:r>
              <a:rPr lang="zh-CN" altLang="en-US" sz="2400" dirty="0"/>
              <a:t>午夜</a:t>
            </a:r>
            <a:r>
              <a:rPr lang="en-US" altLang="zh-CN" sz="2400" dirty="0"/>
              <a:t>(VB12)</a:t>
            </a:r>
            <a:r>
              <a:rPr lang="zh-CN" altLang="en-US" sz="2400" dirty="0"/>
              <a:t>肚子咕咕</a:t>
            </a:r>
            <a:r>
              <a:rPr lang="en-US" altLang="zh-CN" sz="2400" dirty="0"/>
              <a:t>(</a:t>
            </a:r>
            <a:r>
              <a:rPr lang="zh-CN" altLang="en-US" sz="2400" dirty="0"/>
              <a:t>钴胺素</a:t>
            </a:r>
            <a:r>
              <a:rPr lang="en-US" altLang="zh-CN" sz="2400" dirty="0"/>
              <a:t>)</a:t>
            </a:r>
            <a:r>
              <a:rPr lang="zh-CN" altLang="en-US" sz="2400" dirty="0"/>
              <a:t>叫</a:t>
            </a:r>
            <a:r>
              <a:rPr lang="en-US" altLang="zh-CN" sz="2400" dirty="0"/>
              <a:t>(</a:t>
            </a:r>
            <a:r>
              <a:rPr lang="zh-CN" altLang="en-US" sz="2400" dirty="0"/>
              <a:t>巨幼红细胞性贫血</a:t>
            </a:r>
            <a:r>
              <a:rPr lang="en-US" altLang="zh-CN" sz="2400" dirty="0"/>
              <a:t>)</a:t>
            </a:r>
            <a:endParaRPr lang="zh-CN" altLang="en-US" sz="2400" dirty="0"/>
          </a:p>
        </p:txBody>
      </p:sp>
    </p:spTree>
    <p:extLst>
      <p:ext uri="{BB962C8B-B14F-4D97-AF65-F5344CB8AC3E}">
        <p14:creationId xmlns:p14="http://schemas.microsoft.com/office/powerpoint/2010/main" val="1874358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A955E9-DC60-4090-93B4-1825D56F937D}"/>
              </a:ext>
            </a:extLst>
          </p:cNvPr>
          <p:cNvSpPr>
            <a:spLocks noGrp="1"/>
          </p:cNvSpPr>
          <p:nvPr>
            <p:ph type="title"/>
          </p:nvPr>
        </p:nvSpPr>
        <p:spPr>
          <a:xfrm>
            <a:off x="2495600" y="266313"/>
            <a:ext cx="7886700" cy="1325563"/>
          </a:xfrm>
        </p:spPr>
        <p:txBody>
          <a:bodyPr/>
          <a:lstStyle/>
          <a:p>
            <a:r>
              <a:rPr lang="zh-CN" altLang="en-US" sz="3600" dirty="0">
                <a:solidFill>
                  <a:srgbClr val="0000CC"/>
                </a:solidFill>
                <a:latin typeface="微软雅黑" panose="020B0503020204020204" pitchFamily="34" charset="-122"/>
                <a:ea typeface="微软雅黑" panose="020B0503020204020204" pitchFamily="34" charset="-122"/>
              </a:rPr>
              <a:t>脂溶性维生素与水溶性维生素的比较</a:t>
            </a:r>
          </a:p>
        </p:txBody>
      </p:sp>
      <p:grpSp>
        <p:nvGrpSpPr>
          <p:cNvPr id="3" name="组合 2">
            <a:extLst>
              <a:ext uri="{FF2B5EF4-FFF2-40B4-BE49-F238E27FC236}">
                <a16:creationId xmlns:a16="http://schemas.microsoft.com/office/drawing/2014/main" id="{2A2B0AE6-24EE-A3C7-92C5-8961C8E5F62C}"/>
              </a:ext>
            </a:extLst>
          </p:cNvPr>
          <p:cNvGrpSpPr/>
          <p:nvPr/>
        </p:nvGrpSpPr>
        <p:grpSpPr>
          <a:xfrm>
            <a:off x="767408" y="1591876"/>
            <a:ext cx="10873208" cy="4639700"/>
            <a:chOff x="1524000" y="1988841"/>
            <a:chExt cx="9144000" cy="2955869"/>
          </a:xfrm>
        </p:grpSpPr>
        <p:pic>
          <p:nvPicPr>
            <p:cNvPr id="4" name="图片 3">
              <a:extLst>
                <a:ext uri="{FF2B5EF4-FFF2-40B4-BE49-F238E27FC236}">
                  <a16:creationId xmlns:a16="http://schemas.microsoft.com/office/drawing/2014/main" id="{A8914E74-51E9-4698-AE6C-3E8093326E71}"/>
                </a:ext>
              </a:extLst>
            </p:cNvPr>
            <p:cNvPicPr>
              <a:picLocks noChangeAspect="1"/>
            </p:cNvPicPr>
            <p:nvPr/>
          </p:nvPicPr>
          <p:blipFill>
            <a:blip r:embed="rId3"/>
            <a:stretch>
              <a:fillRect/>
            </a:stretch>
          </p:blipFill>
          <p:spPr>
            <a:xfrm>
              <a:off x="1524000" y="1988841"/>
              <a:ext cx="9144000" cy="2955869"/>
            </a:xfrm>
            <a:prstGeom prst="rect">
              <a:avLst/>
            </a:prstGeom>
          </p:spPr>
        </p:pic>
        <p:cxnSp>
          <p:nvCxnSpPr>
            <p:cNvPr id="5" name="直接连接符 4">
              <a:extLst>
                <a:ext uri="{FF2B5EF4-FFF2-40B4-BE49-F238E27FC236}">
                  <a16:creationId xmlns:a16="http://schemas.microsoft.com/office/drawing/2014/main" id="{94C86001-77AB-F121-53B6-F0EB90B6BD9F}"/>
                </a:ext>
              </a:extLst>
            </p:cNvPr>
            <p:cNvCxnSpPr/>
            <p:nvPr/>
          </p:nvCxnSpPr>
          <p:spPr>
            <a:xfrm>
              <a:off x="4007768" y="2996952"/>
              <a:ext cx="36004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8E682500-50D2-2C04-5196-579C2F5E9F45}"/>
                </a:ext>
              </a:extLst>
            </p:cNvPr>
            <p:cNvCxnSpPr/>
            <p:nvPr/>
          </p:nvCxnSpPr>
          <p:spPr>
            <a:xfrm>
              <a:off x="4007768" y="3356992"/>
              <a:ext cx="1656184"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B45EFC73-B93C-BF06-2C53-B67D488E3928}"/>
                </a:ext>
              </a:extLst>
            </p:cNvPr>
            <p:cNvCxnSpPr/>
            <p:nvPr/>
          </p:nvCxnSpPr>
          <p:spPr>
            <a:xfrm>
              <a:off x="4007768" y="3933056"/>
              <a:ext cx="1944216"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7945716-3B47-C328-D4CF-C8E90B4D17FA}"/>
                </a:ext>
              </a:extLst>
            </p:cNvPr>
            <p:cNvCxnSpPr/>
            <p:nvPr/>
          </p:nvCxnSpPr>
          <p:spPr>
            <a:xfrm>
              <a:off x="5663952" y="4293096"/>
              <a:ext cx="72008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3994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A82E700A-5C24-430F-8BA2-3DE929C401B9}"/>
              </a:ext>
            </a:extLst>
          </p:cNvPr>
          <p:cNvSpPr>
            <a:spLocks noGrp="1" noChangeArrowheads="1"/>
          </p:cNvSpPr>
          <p:nvPr>
            <p:ph type="title"/>
          </p:nvPr>
        </p:nvSpPr>
        <p:spPr>
          <a:xfrm>
            <a:off x="2152650" y="727076"/>
            <a:ext cx="7886700" cy="1325563"/>
          </a:xfrm>
        </p:spPr>
        <p:txBody>
          <a:bodyPr/>
          <a:lstStyle/>
          <a:p>
            <a:pPr eaLnBrk="1" hangingPunct="1"/>
            <a:r>
              <a:rPr lang="zh-CN" altLang="en-US" sz="3600" b="1">
                <a:ea typeface="楷体_GB2312" pitchFamily="49" charset="-122"/>
              </a:rPr>
              <a:t>三、维生素缺乏的原因</a:t>
            </a:r>
          </a:p>
        </p:txBody>
      </p:sp>
      <p:sp>
        <p:nvSpPr>
          <p:cNvPr id="31747" name="Rectangle 5">
            <a:extLst>
              <a:ext uri="{FF2B5EF4-FFF2-40B4-BE49-F238E27FC236}">
                <a16:creationId xmlns:a16="http://schemas.microsoft.com/office/drawing/2014/main" id="{6550176D-896A-44C7-8DD5-44343FA1A8FA}"/>
              </a:ext>
            </a:extLst>
          </p:cNvPr>
          <p:cNvSpPr>
            <a:spLocks noChangeArrowheads="1"/>
          </p:cNvSpPr>
          <p:nvPr/>
        </p:nvSpPr>
        <p:spPr bwMode="auto">
          <a:xfrm>
            <a:off x="2351584" y="2052639"/>
            <a:ext cx="8034338" cy="3558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lvl="1" eaLnBrk="1" hangingPunct="1">
              <a:lnSpc>
                <a:spcPct val="140000"/>
              </a:lnSpc>
              <a:spcBef>
                <a:spcPct val="0"/>
              </a:spcBef>
              <a:buClr>
                <a:srgbClr val="FF6600"/>
              </a:buClr>
              <a:buSzPct val="60000"/>
              <a:buFont typeface="Wingdings" panose="05000000000000000000" pitchFamily="2" charset="2"/>
              <a:buChar char="n"/>
            </a:pPr>
            <a:r>
              <a:rPr lang="en-US" altLang="zh-CN" sz="2800" b="0" dirty="0">
                <a:solidFill>
                  <a:srgbClr val="0000CC"/>
                </a:solidFill>
                <a:latin typeface="Times New Roman" panose="02020603050405020304" pitchFamily="18" charset="0"/>
                <a:ea typeface="楷体_GB2312" pitchFamily="49" charset="-122"/>
              </a:rPr>
              <a:t>  </a:t>
            </a:r>
            <a:r>
              <a:rPr lang="zh-CN" altLang="en-US" sz="2800" b="0" dirty="0">
                <a:solidFill>
                  <a:srgbClr val="0000CC"/>
                </a:solidFill>
                <a:latin typeface="Times New Roman" panose="02020603050405020304" pitchFamily="18" charset="0"/>
                <a:ea typeface="楷体_GB2312" pitchFamily="49" charset="-122"/>
              </a:rPr>
              <a:t>摄取不足</a:t>
            </a:r>
            <a:r>
              <a:rPr lang="zh-CN" altLang="en-US" sz="2800" b="0" dirty="0">
                <a:latin typeface="Times New Roman" panose="02020603050405020304" pitchFamily="18" charset="0"/>
                <a:ea typeface="楷体_GB2312" pitchFamily="49" charset="-122"/>
              </a:rPr>
              <a:t>：</a:t>
            </a:r>
            <a:endParaRPr lang="en-US" altLang="zh-CN" sz="2800" b="0" dirty="0">
              <a:latin typeface="Times New Roman" panose="02020603050405020304" pitchFamily="18" charset="0"/>
              <a:ea typeface="楷体_GB2312" pitchFamily="49" charset="-122"/>
            </a:endParaRPr>
          </a:p>
          <a:p>
            <a:pPr lvl="2" eaLnBrk="1" hangingPunct="1">
              <a:lnSpc>
                <a:spcPct val="140000"/>
              </a:lnSpc>
              <a:spcBef>
                <a:spcPct val="0"/>
              </a:spcBef>
              <a:buClr>
                <a:srgbClr val="FF6600"/>
              </a:buClr>
              <a:buSzPct val="60000"/>
              <a:buFontTx/>
              <a:buChar char="•"/>
            </a:pPr>
            <a:r>
              <a:rPr lang="zh-CN" altLang="en-US" sz="2400" b="0" dirty="0">
                <a:latin typeface="Times New Roman" panose="02020603050405020304" pitchFamily="18" charset="0"/>
                <a:ea typeface="楷体_GB2312" pitchFamily="49" charset="-122"/>
              </a:rPr>
              <a:t>偏食，膳食结构不合理、烹调方法不当等</a:t>
            </a:r>
          </a:p>
          <a:p>
            <a:pPr lvl="1" eaLnBrk="1" hangingPunct="1">
              <a:lnSpc>
                <a:spcPct val="140000"/>
              </a:lnSpc>
              <a:spcBef>
                <a:spcPct val="0"/>
              </a:spcBef>
              <a:buClr>
                <a:srgbClr val="FF6600"/>
              </a:buClr>
              <a:buSzPct val="60000"/>
              <a:buFont typeface="Wingdings" panose="05000000000000000000" pitchFamily="2" charset="2"/>
              <a:buChar char="n"/>
            </a:pPr>
            <a:r>
              <a:rPr lang="zh-CN" altLang="en-US" sz="2800" b="0" dirty="0">
                <a:latin typeface="Times New Roman" panose="02020603050405020304" pitchFamily="18" charset="0"/>
                <a:ea typeface="楷体_GB2312" pitchFamily="49" charset="-122"/>
              </a:rPr>
              <a:t>  </a:t>
            </a:r>
            <a:r>
              <a:rPr lang="zh-CN" altLang="en-US" sz="2800" b="0" dirty="0">
                <a:solidFill>
                  <a:srgbClr val="0000CC"/>
                </a:solidFill>
                <a:latin typeface="Times New Roman" panose="02020603050405020304" pitchFamily="18" charset="0"/>
                <a:ea typeface="楷体_GB2312" pitchFamily="49" charset="-122"/>
              </a:rPr>
              <a:t>吸收障碍</a:t>
            </a:r>
            <a:r>
              <a:rPr lang="zh-CN" altLang="en-US" sz="2800" b="0" dirty="0">
                <a:latin typeface="Times New Roman" panose="02020603050405020304" pitchFamily="18" charset="0"/>
                <a:ea typeface="楷体_GB2312" pitchFamily="49" charset="-122"/>
              </a:rPr>
              <a:t>：胃肠疾病和肝胆疾病、抽烟酗酒</a:t>
            </a:r>
          </a:p>
          <a:p>
            <a:pPr lvl="1" eaLnBrk="1" hangingPunct="1">
              <a:lnSpc>
                <a:spcPct val="140000"/>
              </a:lnSpc>
              <a:spcBef>
                <a:spcPct val="0"/>
              </a:spcBef>
              <a:buClr>
                <a:srgbClr val="FF6600"/>
              </a:buClr>
              <a:buSzPct val="60000"/>
              <a:buFont typeface="Wingdings" panose="05000000000000000000" pitchFamily="2" charset="2"/>
              <a:buChar char="n"/>
            </a:pPr>
            <a:r>
              <a:rPr lang="zh-CN" altLang="en-US" sz="2800" b="0" dirty="0">
                <a:latin typeface="Times New Roman" panose="02020603050405020304" pitchFamily="18" charset="0"/>
                <a:ea typeface="楷体_GB2312" pitchFamily="49" charset="-122"/>
              </a:rPr>
              <a:t>  </a:t>
            </a:r>
            <a:r>
              <a:rPr lang="zh-CN" altLang="en-US" sz="2800" b="0" dirty="0">
                <a:solidFill>
                  <a:srgbClr val="0000CC"/>
                </a:solidFill>
                <a:latin typeface="Times New Roman" panose="02020603050405020304" pitchFamily="18" charset="0"/>
                <a:ea typeface="楷体_GB2312" pitchFamily="49" charset="-122"/>
              </a:rPr>
              <a:t>需要量增加</a:t>
            </a:r>
            <a:r>
              <a:rPr lang="zh-CN" altLang="en-US" sz="2800" b="0" dirty="0">
                <a:latin typeface="Times New Roman" panose="02020603050405020304" pitchFamily="18" charset="0"/>
                <a:ea typeface="楷体_GB2312" pitchFamily="49" charset="-122"/>
              </a:rPr>
              <a:t>：儿童、妊娠及哺乳期妇女</a:t>
            </a:r>
          </a:p>
          <a:p>
            <a:pPr lvl="1" eaLnBrk="1" hangingPunct="1">
              <a:lnSpc>
                <a:spcPct val="140000"/>
              </a:lnSpc>
              <a:spcBef>
                <a:spcPct val="0"/>
              </a:spcBef>
              <a:buClr>
                <a:srgbClr val="FF6600"/>
              </a:buClr>
              <a:buSzPct val="60000"/>
              <a:buFont typeface="Wingdings" panose="05000000000000000000" pitchFamily="2" charset="2"/>
              <a:buChar char="n"/>
            </a:pPr>
            <a:r>
              <a:rPr lang="zh-CN" altLang="en-US" sz="2800" b="0" dirty="0">
                <a:latin typeface="Times New Roman" panose="02020603050405020304" pitchFamily="18" charset="0"/>
                <a:ea typeface="楷体_GB2312" pitchFamily="49" charset="-122"/>
              </a:rPr>
              <a:t>  </a:t>
            </a:r>
            <a:r>
              <a:rPr lang="zh-CN" altLang="en-US" sz="2800" b="0" dirty="0">
                <a:solidFill>
                  <a:srgbClr val="0000CC"/>
                </a:solidFill>
                <a:latin typeface="Times New Roman" panose="02020603050405020304" pitchFamily="18" charset="0"/>
                <a:ea typeface="楷体_GB2312" pitchFamily="49" charset="-122"/>
              </a:rPr>
              <a:t>长期服用某些药物</a:t>
            </a:r>
            <a:r>
              <a:rPr lang="zh-CN" altLang="en-US" sz="2800" b="0" dirty="0">
                <a:latin typeface="Times New Roman" panose="02020603050405020304" pitchFamily="18" charset="0"/>
                <a:ea typeface="楷体_GB2312" pitchFamily="49" charset="-122"/>
              </a:rPr>
              <a:t>：如异烟肼</a:t>
            </a:r>
            <a:endParaRPr lang="en-US" altLang="zh-CN" sz="2800" b="0" dirty="0">
              <a:latin typeface="Times New Roman" panose="02020603050405020304" pitchFamily="18" charset="0"/>
              <a:ea typeface="楷体_GB2312" pitchFamily="49" charset="-122"/>
            </a:endParaRPr>
          </a:p>
          <a:p>
            <a:pPr lvl="1" eaLnBrk="1" hangingPunct="1">
              <a:lnSpc>
                <a:spcPct val="140000"/>
              </a:lnSpc>
              <a:spcBef>
                <a:spcPct val="0"/>
              </a:spcBef>
              <a:buClr>
                <a:srgbClr val="FF6600"/>
              </a:buClr>
              <a:buSzPct val="60000"/>
              <a:buFont typeface="Wingdings" panose="05000000000000000000" pitchFamily="2" charset="2"/>
              <a:buChar char="n"/>
            </a:pPr>
            <a:r>
              <a:rPr lang="zh-CN" altLang="en-US" sz="2800" b="0" dirty="0">
                <a:latin typeface="Times New Roman" panose="02020603050405020304" pitchFamily="18" charset="0"/>
                <a:ea typeface="楷体_GB2312" pitchFamily="49" charset="-122"/>
              </a:rPr>
              <a:t>  </a:t>
            </a:r>
            <a:r>
              <a:rPr lang="zh-CN" altLang="en-US" sz="2800" b="0" dirty="0">
                <a:solidFill>
                  <a:srgbClr val="FF0000"/>
                </a:solidFill>
                <a:latin typeface="Times New Roman" panose="02020603050405020304" pitchFamily="18" charset="0"/>
                <a:ea typeface="楷体_GB2312" pitchFamily="49" charset="-122"/>
              </a:rPr>
              <a:t>晒太阳不足： 易缺维生素</a:t>
            </a:r>
            <a:r>
              <a:rPr lang="en-US" altLang="zh-CN" sz="2800" b="0" dirty="0">
                <a:solidFill>
                  <a:srgbClr val="FF0000"/>
                </a:solidFill>
                <a:latin typeface="Times New Roman" panose="02020603050405020304" pitchFamily="18" charset="0"/>
                <a:ea typeface="楷体_GB2312" pitchFamily="49" charset="-122"/>
              </a:rPr>
              <a:t>D</a:t>
            </a:r>
            <a:endParaRPr lang="zh-CN" altLang="en-US" sz="2800" b="0" dirty="0">
              <a:solidFill>
                <a:srgbClr val="FF0000"/>
              </a:solidFill>
              <a:latin typeface="Times New Roman" panose="02020603050405020304" pitchFamily="18" charset="0"/>
              <a:ea typeface="楷体_GB2312" pitchFamily="49" charset="-122"/>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E937F296-3813-4D97-A5D6-79A8D079DE3E}"/>
              </a:ext>
            </a:extLst>
          </p:cNvPr>
          <p:cNvSpPr>
            <a:spLocks noGrp="1" noChangeArrowheads="1"/>
          </p:cNvSpPr>
          <p:nvPr>
            <p:ph type="title" idx="4294967295"/>
          </p:nvPr>
        </p:nvSpPr>
        <p:spPr>
          <a:xfrm>
            <a:off x="3589338" y="569896"/>
            <a:ext cx="5791200" cy="781050"/>
          </a:xfrm>
        </p:spPr>
        <p:txBody>
          <a:bodyPr/>
          <a:lstStyle/>
          <a:p>
            <a:pPr eaLnBrk="1" hangingPunct="1"/>
            <a:r>
              <a:rPr lang="en-US" altLang="zh-CN" sz="3600" b="1" dirty="0">
                <a:solidFill>
                  <a:srgbClr val="C00000"/>
                </a:solidFill>
                <a:latin typeface="楷体_GB2312" pitchFamily="49" charset="-122"/>
                <a:ea typeface="楷体_GB2312" pitchFamily="49" charset="-122"/>
              </a:rPr>
              <a:t> </a:t>
            </a:r>
            <a:r>
              <a:rPr lang="zh-CN" altLang="en-US" sz="4000" b="1" dirty="0">
                <a:solidFill>
                  <a:srgbClr val="C00000"/>
                </a:solidFill>
                <a:latin typeface="楷体_GB2312" pitchFamily="49" charset="-122"/>
                <a:ea typeface="楷体_GB2312" pitchFamily="49" charset="-122"/>
              </a:rPr>
              <a:t>第二节 脂溶性维生素</a:t>
            </a:r>
          </a:p>
        </p:txBody>
      </p:sp>
      <p:sp>
        <p:nvSpPr>
          <p:cNvPr id="33795" name="Rectangle 10">
            <a:extLst>
              <a:ext uri="{FF2B5EF4-FFF2-40B4-BE49-F238E27FC236}">
                <a16:creationId xmlns:a16="http://schemas.microsoft.com/office/drawing/2014/main" id="{B418D04B-CD79-486E-9E21-C7FADFB073E8}"/>
              </a:ext>
            </a:extLst>
          </p:cNvPr>
          <p:cNvSpPr>
            <a:spLocks noChangeArrowheads="1"/>
          </p:cNvSpPr>
          <p:nvPr/>
        </p:nvSpPr>
        <p:spPr bwMode="auto">
          <a:xfrm>
            <a:off x="3967164" y="1776413"/>
            <a:ext cx="42576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sz="3600">
                <a:latin typeface="Times New Roman" panose="02020603050405020304" pitchFamily="18" charset="0"/>
                <a:ea typeface="楷体_GB2312" pitchFamily="49" charset="-122"/>
              </a:rPr>
              <a:t>维生素</a:t>
            </a:r>
            <a:r>
              <a:rPr lang="en-US" altLang="zh-CN" sz="3600">
                <a:latin typeface="Times New Roman" panose="02020603050405020304" pitchFamily="18" charset="0"/>
                <a:ea typeface="楷体_GB2312" pitchFamily="49" charset="-122"/>
              </a:rPr>
              <a:t>A</a:t>
            </a:r>
            <a:r>
              <a:rPr lang="zh-CN" altLang="en-US" sz="3600">
                <a:latin typeface="Times New Roman" panose="02020603050405020304" pitchFamily="18" charset="0"/>
                <a:ea typeface="楷体_GB2312" pitchFamily="49" charset="-122"/>
              </a:rPr>
              <a:t>、</a:t>
            </a:r>
            <a:r>
              <a:rPr lang="en-US" altLang="zh-CN" sz="3600">
                <a:latin typeface="Times New Roman" panose="02020603050405020304" pitchFamily="18" charset="0"/>
                <a:ea typeface="楷体_GB2312" pitchFamily="49" charset="-122"/>
              </a:rPr>
              <a:t>D</a:t>
            </a:r>
            <a:r>
              <a:rPr lang="zh-CN" altLang="en-US" sz="3600">
                <a:latin typeface="Times New Roman" panose="02020603050405020304" pitchFamily="18" charset="0"/>
                <a:ea typeface="楷体_GB2312" pitchFamily="49" charset="-122"/>
              </a:rPr>
              <a:t>、</a:t>
            </a:r>
            <a:r>
              <a:rPr lang="en-US" altLang="zh-CN" sz="3600">
                <a:latin typeface="Times New Roman" panose="02020603050405020304" pitchFamily="18" charset="0"/>
                <a:ea typeface="楷体_GB2312" pitchFamily="49" charset="-122"/>
              </a:rPr>
              <a:t>E</a:t>
            </a:r>
            <a:r>
              <a:rPr lang="zh-CN" altLang="en-US" sz="3600">
                <a:latin typeface="Times New Roman" panose="02020603050405020304" pitchFamily="18" charset="0"/>
                <a:ea typeface="楷体_GB2312" pitchFamily="49" charset="-122"/>
              </a:rPr>
              <a:t>、</a:t>
            </a:r>
            <a:r>
              <a:rPr lang="en-US" altLang="zh-CN" sz="3600">
                <a:latin typeface="Times New Roman" panose="02020603050405020304" pitchFamily="18" charset="0"/>
                <a:ea typeface="楷体_GB2312" pitchFamily="49" charset="-122"/>
              </a:rPr>
              <a:t>K</a:t>
            </a:r>
          </a:p>
        </p:txBody>
      </p:sp>
      <p:sp>
        <p:nvSpPr>
          <p:cNvPr id="13323" name="Rectangle 11">
            <a:extLst>
              <a:ext uri="{FF2B5EF4-FFF2-40B4-BE49-F238E27FC236}">
                <a16:creationId xmlns:a16="http://schemas.microsoft.com/office/drawing/2014/main" id="{9793ABC0-2683-4563-8ABB-9D8D42867DFA}"/>
              </a:ext>
            </a:extLst>
          </p:cNvPr>
          <p:cNvSpPr>
            <a:spLocks noChangeArrowheads="1"/>
          </p:cNvSpPr>
          <p:nvPr/>
        </p:nvSpPr>
        <p:spPr bwMode="auto">
          <a:xfrm>
            <a:off x="2255838" y="2857500"/>
            <a:ext cx="8458200" cy="330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990600" indent="-365125">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30000"/>
              </a:lnSpc>
              <a:spcBef>
                <a:spcPct val="20000"/>
              </a:spcBef>
              <a:buFontTx/>
              <a:buNone/>
            </a:pPr>
            <a:r>
              <a:rPr lang="en-US" altLang="zh-CN" sz="2400" b="0" dirty="0">
                <a:latin typeface="Times New Roman" panose="02020603050405020304" pitchFamily="18" charset="0"/>
                <a:ea typeface="楷体_GB2312" pitchFamily="49" charset="-122"/>
              </a:rPr>
              <a:t>        ﹡</a:t>
            </a:r>
            <a:r>
              <a:rPr lang="zh-CN" altLang="en-US" sz="2400" b="0" dirty="0">
                <a:latin typeface="Times New Roman" panose="02020603050405020304" pitchFamily="18" charset="0"/>
                <a:ea typeface="楷体_GB2312" pitchFamily="49" charset="-122"/>
              </a:rPr>
              <a:t>均为非极性疏水的</a:t>
            </a:r>
            <a:r>
              <a:rPr lang="zh-CN" altLang="en-US" sz="2400" b="0" dirty="0">
                <a:solidFill>
                  <a:srgbClr val="3333CC"/>
                </a:solidFill>
                <a:latin typeface="Times New Roman" panose="02020603050405020304" pitchFamily="18" charset="0"/>
                <a:ea typeface="楷体_GB2312" pitchFamily="49" charset="-122"/>
              </a:rPr>
              <a:t>异戊二烯衍生物</a:t>
            </a:r>
          </a:p>
          <a:p>
            <a:pPr lvl="1" eaLnBrk="1" hangingPunct="1">
              <a:lnSpc>
                <a:spcPct val="130000"/>
              </a:lnSpc>
              <a:spcBef>
                <a:spcPct val="20000"/>
              </a:spcBef>
              <a:buFontTx/>
              <a:buNone/>
            </a:pPr>
            <a:r>
              <a:rPr lang="en-US" altLang="zh-CN" b="0" dirty="0">
                <a:latin typeface="Times New Roman" panose="02020603050405020304" pitchFamily="18" charset="0"/>
                <a:ea typeface="楷体_GB2312" pitchFamily="49" charset="-122"/>
              </a:rPr>
              <a:t>﹡</a:t>
            </a:r>
            <a:r>
              <a:rPr lang="zh-CN" altLang="en-US" b="0" dirty="0">
                <a:latin typeface="Times New Roman" panose="02020603050405020304" pitchFamily="18" charset="0"/>
                <a:ea typeface="楷体_GB2312" pitchFamily="49" charset="-122"/>
              </a:rPr>
              <a:t>不溶于水，溶于脂类溶剂</a:t>
            </a:r>
          </a:p>
          <a:p>
            <a:pPr lvl="1" eaLnBrk="1" hangingPunct="1">
              <a:lnSpc>
                <a:spcPct val="130000"/>
              </a:lnSpc>
              <a:spcBef>
                <a:spcPct val="20000"/>
              </a:spcBef>
              <a:buFontTx/>
              <a:buNone/>
            </a:pPr>
            <a:r>
              <a:rPr lang="en-US" altLang="zh-CN" b="0" dirty="0">
                <a:latin typeface="Times New Roman" panose="02020603050405020304" pitchFamily="18" charset="0"/>
                <a:ea typeface="楷体_GB2312" pitchFamily="49" charset="-122"/>
              </a:rPr>
              <a:t>﹡</a:t>
            </a:r>
            <a:r>
              <a:rPr lang="zh-CN" altLang="en-US" b="0" dirty="0">
                <a:latin typeface="Times New Roman" panose="02020603050405020304" pitchFamily="18" charset="0"/>
                <a:ea typeface="楷体_GB2312" pitchFamily="49" charset="-122"/>
              </a:rPr>
              <a:t>在食物中与脂类共存，</a:t>
            </a:r>
            <a:r>
              <a:rPr lang="zh-CN" altLang="en-US" b="0" dirty="0">
                <a:solidFill>
                  <a:srgbClr val="3333CC"/>
                </a:solidFill>
                <a:latin typeface="Times New Roman" panose="02020603050405020304" pitchFamily="18" charset="0"/>
                <a:ea typeface="楷体_GB2312" pitchFamily="49" charset="-122"/>
              </a:rPr>
              <a:t>随脂类一同吸收</a:t>
            </a:r>
          </a:p>
          <a:p>
            <a:pPr lvl="1" eaLnBrk="1" hangingPunct="1">
              <a:lnSpc>
                <a:spcPct val="130000"/>
              </a:lnSpc>
              <a:spcBef>
                <a:spcPct val="20000"/>
              </a:spcBef>
              <a:buFontTx/>
              <a:buNone/>
            </a:pPr>
            <a:r>
              <a:rPr lang="en-US" altLang="zh-CN" b="0" dirty="0">
                <a:latin typeface="Times New Roman" panose="02020603050405020304" pitchFamily="18" charset="0"/>
                <a:ea typeface="楷体_GB2312" pitchFamily="49" charset="-122"/>
              </a:rPr>
              <a:t>﹡</a:t>
            </a:r>
            <a:r>
              <a:rPr lang="zh-CN" altLang="en-US" b="0" dirty="0">
                <a:latin typeface="Times New Roman" panose="02020603050405020304" pitchFamily="18" charset="0"/>
                <a:ea typeface="楷体_GB2312" pitchFamily="49" charset="-122"/>
              </a:rPr>
              <a:t>在血液与脂蛋白及某些特殊结合蛋白特异结合而运输</a:t>
            </a:r>
          </a:p>
          <a:p>
            <a:pPr lvl="1" eaLnBrk="1" hangingPunct="1">
              <a:lnSpc>
                <a:spcPct val="130000"/>
              </a:lnSpc>
              <a:spcBef>
                <a:spcPct val="20000"/>
              </a:spcBef>
              <a:buFontTx/>
              <a:buNone/>
            </a:pPr>
            <a:r>
              <a:rPr lang="en-US" altLang="zh-CN" b="0" dirty="0">
                <a:latin typeface="Times New Roman" panose="02020603050405020304" pitchFamily="18" charset="0"/>
                <a:ea typeface="楷体_GB2312" pitchFamily="49" charset="-122"/>
              </a:rPr>
              <a:t>﹡</a:t>
            </a:r>
            <a:r>
              <a:rPr lang="zh-CN" altLang="en-US" b="0" dirty="0">
                <a:solidFill>
                  <a:srgbClr val="C00000"/>
                </a:solidFill>
                <a:latin typeface="Times New Roman" panose="02020603050405020304" pitchFamily="18" charset="0"/>
                <a:ea typeface="楷体_GB2312" pitchFamily="49" charset="-122"/>
              </a:rPr>
              <a:t>可储存</a:t>
            </a:r>
            <a:r>
              <a:rPr lang="zh-CN" altLang="en-US" b="0" dirty="0">
                <a:latin typeface="Times New Roman" panose="02020603050405020304" pitchFamily="18" charset="0"/>
                <a:ea typeface="楷体_GB2312" pitchFamily="49" charset="-122"/>
              </a:rPr>
              <a:t>， 但过量储存导致中毒</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13323">
                                            <p:txEl>
                                              <p:pRg st="0" end="0"/>
                                            </p:txEl>
                                          </p:spTgt>
                                        </p:tgtEl>
                                        <p:attrNameLst>
                                          <p:attrName>style.visibility</p:attrName>
                                        </p:attrNameLst>
                                      </p:cBhvr>
                                      <p:to>
                                        <p:strVal val="visible"/>
                                      </p:to>
                                    </p:set>
                                    <p:animEffect transition="in" filter="slide(fromBottom)">
                                      <p:cBhvr>
                                        <p:cTn id="7" dur="500"/>
                                        <p:tgtEl>
                                          <p:spTgt spid="13323">
                                            <p:txEl>
                                              <p:pRg st="0" end="0"/>
                                            </p:txEl>
                                          </p:spTgt>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13323">
                                            <p:txEl>
                                              <p:pRg st="1" end="1"/>
                                            </p:txEl>
                                          </p:spTgt>
                                        </p:tgtEl>
                                        <p:attrNameLst>
                                          <p:attrName>style.visibility</p:attrName>
                                        </p:attrNameLst>
                                      </p:cBhvr>
                                      <p:to>
                                        <p:strVal val="visible"/>
                                      </p:to>
                                    </p:set>
                                    <p:animEffect transition="in" filter="slide(fromBottom)">
                                      <p:cBhvr>
                                        <p:cTn id="11" dur="500"/>
                                        <p:tgtEl>
                                          <p:spTgt spid="13323">
                                            <p:txEl>
                                              <p:pRg st="1" end="1"/>
                                            </p:txEl>
                                          </p:spTgt>
                                        </p:tgtEl>
                                      </p:cBhvr>
                                    </p:animEffect>
                                  </p:childTnLst>
                                </p:cTn>
                              </p:par>
                            </p:childTnLst>
                          </p:cTn>
                        </p:par>
                        <p:par>
                          <p:cTn id="12" fill="hold" nodeType="afterGroup">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13323">
                                            <p:txEl>
                                              <p:pRg st="2" end="2"/>
                                            </p:txEl>
                                          </p:spTgt>
                                        </p:tgtEl>
                                        <p:attrNameLst>
                                          <p:attrName>style.visibility</p:attrName>
                                        </p:attrNameLst>
                                      </p:cBhvr>
                                      <p:to>
                                        <p:strVal val="visible"/>
                                      </p:to>
                                    </p:set>
                                    <p:animEffect transition="in" filter="slide(fromBottom)">
                                      <p:cBhvr>
                                        <p:cTn id="15" dur="500"/>
                                        <p:tgtEl>
                                          <p:spTgt spid="13323">
                                            <p:txEl>
                                              <p:pRg st="2" end="2"/>
                                            </p:txEl>
                                          </p:spTgt>
                                        </p:tgtEl>
                                      </p:cBhvr>
                                    </p:animEffect>
                                  </p:childTnLst>
                                </p:cTn>
                              </p:par>
                            </p:childTnLst>
                          </p:cTn>
                        </p:par>
                        <p:par>
                          <p:cTn id="16" fill="hold" nodeType="afterGroup">
                            <p:stCondLst>
                              <p:cond delay="1500"/>
                            </p:stCondLst>
                            <p:childTnLst>
                              <p:par>
                                <p:cTn id="17" presetID="12" presetClass="entr" presetSubtype="4" fill="hold" grpId="0" nodeType="afterEffect">
                                  <p:stCondLst>
                                    <p:cond delay="0"/>
                                  </p:stCondLst>
                                  <p:childTnLst>
                                    <p:set>
                                      <p:cBhvr>
                                        <p:cTn id="18" dur="1" fill="hold">
                                          <p:stCondLst>
                                            <p:cond delay="0"/>
                                          </p:stCondLst>
                                        </p:cTn>
                                        <p:tgtEl>
                                          <p:spTgt spid="13323">
                                            <p:txEl>
                                              <p:pRg st="3" end="3"/>
                                            </p:txEl>
                                          </p:spTgt>
                                        </p:tgtEl>
                                        <p:attrNameLst>
                                          <p:attrName>style.visibility</p:attrName>
                                        </p:attrNameLst>
                                      </p:cBhvr>
                                      <p:to>
                                        <p:strVal val="visible"/>
                                      </p:to>
                                    </p:set>
                                    <p:animEffect transition="in" filter="slide(fromBottom)">
                                      <p:cBhvr>
                                        <p:cTn id="19" dur="500"/>
                                        <p:tgtEl>
                                          <p:spTgt spid="13323">
                                            <p:txEl>
                                              <p:pRg st="3" end="3"/>
                                            </p:txEl>
                                          </p:spTgt>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13323">
                                            <p:txEl>
                                              <p:pRg st="4" end="4"/>
                                            </p:txEl>
                                          </p:spTgt>
                                        </p:tgtEl>
                                        <p:attrNameLst>
                                          <p:attrName>style.visibility</p:attrName>
                                        </p:attrNameLst>
                                      </p:cBhvr>
                                      <p:to>
                                        <p:strVal val="visible"/>
                                      </p:to>
                                    </p:set>
                                    <p:animEffect transition="in" filter="slide(fromBottom)">
                                      <p:cBhvr>
                                        <p:cTn id="22" dur="500"/>
                                        <p:tgtEl>
                                          <p:spTgt spid="133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3" grpId="0" build="p" autoUpdateAnimBg="0" advAuto="0"/>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9337B5C-B7A1-AC0F-B3B5-EE43ABA2A099}"/>
              </a:ext>
            </a:extLst>
          </p:cNvPr>
          <p:cNvPicPr>
            <a:picLocks noChangeAspect="1"/>
          </p:cNvPicPr>
          <p:nvPr/>
        </p:nvPicPr>
        <p:blipFill>
          <a:blip r:embed="rId3"/>
          <a:stretch>
            <a:fillRect/>
          </a:stretch>
        </p:blipFill>
        <p:spPr>
          <a:xfrm>
            <a:off x="1186255" y="1268760"/>
            <a:ext cx="9819490" cy="4677423"/>
          </a:xfrm>
          <a:prstGeom prst="rect">
            <a:avLst/>
          </a:prstGeom>
        </p:spPr>
      </p:pic>
    </p:spTree>
    <p:extLst>
      <p:ext uri="{BB962C8B-B14F-4D97-AF65-F5344CB8AC3E}">
        <p14:creationId xmlns:p14="http://schemas.microsoft.com/office/powerpoint/2010/main" val="445831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3">
            <a:extLst>
              <a:ext uri="{FF2B5EF4-FFF2-40B4-BE49-F238E27FC236}">
                <a16:creationId xmlns:a16="http://schemas.microsoft.com/office/drawing/2014/main" id="{0AC667FE-907D-4207-A65C-229108453813}"/>
              </a:ext>
            </a:extLst>
          </p:cNvPr>
          <p:cNvSpPr txBox="1">
            <a:spLocks noChangeArrowheads="1"/>
          </p:cNvSpPr>
          <p:nvPr/>
        </p:nvSpPr>
        <p:spPr bwMode="auto">
          <a:xfrm>
            <a:off x="2286000" y="4038600"/>
            <a:ext cx="792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endParaRPr lang="zh-CN" altLang="zh-CN" sz="2400" b="0">
              <a:latin typeface="Times New Roman" panose="02020603050405020304" pitchFamily="18" charset="0"/>
              <a:ea typeface="楷体_GB2312" pitchFamily="49" charset="-122"/>
            </a:endParaRPr>
          </a:p>
        </p:txBody>
      </p:sp>
      <p:sp>
        <p:nvSpPr>
          <p:cNvPr id="41988" name="Rectangle 4">
            <a:extLst>
              <a:ext uri="{FF2B5EF4-FFF2-40B4-BE49-F238E27FC236}">
                <a16:creationId xmlns:a16="http://schemas.microsoft.com/office/drawing/2014/main" id="{B5531206-1325-4500-89F3-63AF9174F2AD}"/>
              </a:ext>
            </a:extLst>
          </p:cNvPr>
          <p:cNvSpPr>
            <a:spLocks noChangeArrowheads="1"/>
          </p:cNvSpPr>
          <p:nvPr/>
        </p:nvSpPr>
        <p:spPr bwMode="auto">
          <a:xfrm>
            <a:off x="1053307" y="2864452"/>
            <a:ext cx="9795221" cy="29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lang="zh-CN" altLang="en-US" dirty="0">
                <a:latin typeface="Times New Roman" panose="02020603050405020304" pitchFamily="18" charset="0"/>
                <a:ea typeface="楷体_GB2312" pitchFamily="49" charset="-122"/>
              </a:rPr>
              <a:t>  来源</a:t>
            </a:r>
          </a:p>
          <a:p>
            <a:pPr eaLnBrk="1" hangingPunct="1">
              <a:lnSpc>
                <a:spcPct val="100000"/>
              </a:lnSpc>
              <a:spcBef>
                <a:spcPts val="600"/>
              </a:spcBef>
              <a:buNone/>
            </a:pPr>
            <a:r>
              <a:rPr lang="en-US" altLang="zh-CN" sz="2400" b="0" dirty="0">
                <a:latin typeface="Times New Roman" panose="02020603050405020304" pitchFamily="18" charset="0"/>
                <a:ea typeface="楷体_GB2312" pitchFamily="49" charset="-122"/>
              </a:rPr>
              <a:t>  A</a:t>
            </a:r>
            <a:r>
              <a:rPr lang="en-US" altLang="zh-CN" sz="2400" b="0" baseline="-25000" dirty="0">
                <a:latin typeface="Times New Roman" panose="02020603050405020304" pitchFamily="18" charset="0"/>
                <a:ea typeface="楷体_GB2312" pitchFamily="49" charset="-122"/>
              </a:rPr>
              <a:t>1</a:t>
            </a:r>
            <a:r>
              <a:rPr lang="en-US" altLang="zh-CN" sz="2400" b="0" dirty="0">
                <a:latin typeface="Times New Roman" panose="02020603050405020304" pitchFamily="18" charset="0"/>
                <a:ea typeface="楷体_GB2312" pitchFamily="49" charset="-122"/>
              </a:rPr>
              <a:t>  </a:t>
            </a:r>
            <a:r>
              <a:rPr lang="zh-CN" altLang="en-US" sz="2400" b="0" dirty="0">
                <a:latin typeface="Times New Roman" panose="02020603050405020304" pitchFamily="18" charset="0"/>
                <a:ea typeface="楷体_GB2312" pitchFamily="49" charset="-122"/>
              </a:rPr>
              <a:t>： 哺乳动物与海水鱼类的</a:t>
            </a:r>
            <a:r>
              <a:rPr lang="zh-CN" altLang="en-US" sz="2400" dirty="0">
                <a:solidFill>
                  <a:srgbClr val="C00000"/>
                </a:solidFill>
                <a:latin typeface="Times New Roman" panose="02020603050405020304" pitchFamily="18" charset="0"/>
                <a:ea typeface="楷体_GB2312" pitchFamily="49" charset="-122"/>
              </a:rPr>
              <a:t>肝脏</a:t>
            </a:r>
          </a:p>
          <a:p>
            <a:pPr eaLnBrk="1" hangingPunct="1">
              <a:lnSpc>
                <a:spcPct val="120000"/>
              </a:lnSpc>
              <a:spcBef>
                <a:spcPts val="600"/>
              </a:spcBef>
              <a:buNone/>
            </a:pPr>
            <a:r>
              <a:rPr lang="en-US" altLang="zh-CN" sz="2400" b="0" dirty="0">
                <a:latin typeface="Times New Roman" panose="02020603050405020304" pitchFamily="18" charset="0"/>
                <a:ea typeface="楷体_GB2312" pitchFamily="49" charset="-122"/>
              </a:rPr>
              <a:t>  A</a:t>
            </a:r>
            <a:r>
              <a:rPr lang="en-US" altLang="zh-CN" sz="2400" b="0" baseline="-25000" dirty="0">
                <a:latin typeface="Times New Roman" panose="02020603050405020304" pitchFamily="18" charset="0"/>
                <a:ea typeface="楷体_GB2312" pitchFamily="49" charset="-122"/>
              </a:rPr>
              <a:t>2</a:t>
            </a:r>
            <a:r>
              <a:rPr lang="en-US" altLang="zh-CN" sz="2400" b="0" dirty="0">
                <a:latin typeface="Times New Roman" panose="02020603050405020304" pitchFamily="18" charset="0"/>
                <a:ea typeface="楷体_GB2312" pitchFamily="49" charset="-122"/>
              </a:rPr>
              <a:t>  </a:t>
            </a:r>
            <a:r>
              <a:rPr lang="zh-CN" altLang="en-US" sz="2400" b="0" dirty="0">
                <a:latin typeface="Times New Roman" panose="02020603050405020304" pitchFamily="18" charset="0"/>
                <a:ea typeface="楷体_GB2312" pitchFamily="49" charset="-122"/>
              </a:rPr>
              <a:t>： 淡水鱼的</a:t>
            </a:r>
            <a:r>
              <a:rPr lang="zh-CN" altLang="en-US" sz="2400" b="0" dirty="0">
                <a:solidFill>
                  <a:srgbClr val="C00000"/>
                </a:solidFill>
                <a:latin typeface="Times New Roman" panose="02020603050405020304" pitchFamily="18" charset="0"/>
                <a:ea typeface="楷体_GB2312" pitchFamily="49" charset="-122"/>
              </a:rPr>
              <a:t>肝脏</a:t>
            </a:r>
            <a:r>
              <a:rPr lang="zh-CN" altLang="en-US" sz="2400" b="0" dirty="0">
                <a:latin typeface="Times New Roman" panose="02020603050405020304" pitchFamily="18" charset="0"/>
                <a:ea typeface="楷体_GB2312" pitchFamily="49" charset="-122"/>
              </a:rPr>
              <a:t>。    </a:t>
            </a:r>
            <a:br>
              <a:rPr lang="zh-CN" altLang="en-US" dirty="0">
                <a:latin typeface="Times New Roman" panose="02020603050405020304" pitchFamily="18" charset="0"/>
                <a:ea typeface="楷体_GB2312" pitchFamily="49" charset="-122"/>
              </a:rPr>
            </a:br>
            <a:r>
              <a:rPr lang="zh-CN" altLang="en-US" dirty="0">
                <a:latin typeface="Times New Roman" panose="02020603050405020304" pitchFamily="18" charset="0"/>
                <a:ea typeface="楷体_GB2312" pitchFamily="49" charset="-122"/>
              </a:rPr>
              <a:t>    </a:t>
            </a:r>
            <a:br>
              <a:rPr lang="zh-CN" altLang="en-US" dirty="0">
                <a:latin typeface="Times New Roman" panose="02020603050405020304" pitchFamily="18" charset="0"/>
                <a:ea typeface="楷体_GB2312" pitchFamily="49" charset="-122"/>
              </a:rPr>
            </a:br>
            <a:r>
              <a:rPr lang="zh-CN" altLang="en-US" dirty="0">
                <a:latin typeface="Times New Roman" panose="02020603050405020304" pitchFamily="18" charset="0"/>
                <a:ea typeface="楷体_GB2312" pitchFamily="49" charset="-122"/>
              </a:rPr>
              <a:t>       </a:t>
            </a:r>
            <a:r>
              <a:rPr lang="zh-CN" altLang="en-US" sz="2400" b="0" dirty="0">
                <a:solidFill>
                  <a:srgbClr val="3333CC"/>
                </a:solidFill>
                <a:latin typeface="Times New Roman" panose="02020603050405020304" pitchFamily="18" charset="0"/>
                <a:ea typeface="楷体_GB2312" pitchFamily="49" charset="-122"/>
              </a:rPr>
              <a:t>植物不含</a:t>
            </a:r>
            <a:r>
              <a:rPr lang="en-US" altLang="zh-CN" sz="2400" b="0" dirty="0">
                <a:solidFill>
                  <a:srgbClr val="3333CC"/>
                </a:solidFill>
                <a:latin typeface="Times New Roman" panose="02020603050405020304" pitchFamily="18" charset="0"/>
                <a:ea typeface="楷体_GB2312" pitchFamily="49" charset="-122"/>
              </a:rPr>
              <a:t>Vit A </a:t>
            </a:r>
            <a:r>
              <a:rPr lang="zh-CN" altLang="en-US" sz="2400" b="0" dirty="0">
                <a:latin typeface="Times New Roman" panose="02020603050405020304" pitchFamily="18" charset="0"/>
                <a:ea typeface="楷体_GB2312" pitchFamily="49" charset="-122"/>
              </a:rPr>
              <a:t>，但黄绿色植物中存在的</a:t>
            </a:r>
            <a:r>
              <a:rPr lang="zh-CN" altLang="en-US" sz="2400" b="0" dirty="0">
                <a:solidFill>
                  <a:srgbClr val="C00000"/>
                </a:solidFill>
                <a:latin typeface="Times New Roman" panose="02020603050405020304" pitchFamily="18" charset="0"/>
                <a:ea typeface="楷体_GB2312" pitchFamily="49" charset="-122"/>
              </a:rPr>
              <a:t>胡萝卜素及类胡萝卜素</a:t>
            </a:r>
            <a:r>
              <a:rPr lang="zh-CN" altLang="en-US" sz="2400" b="0" dirty="0">
                <a:latin typeface="Times New Roman" panose="02020603050405020304" pitchFamily="18" charset="0"/>
                <a:ea typeface="楷体_GB2312" pitchFamily="49" charset="-122"/>
              </a:rPr>
              <a:t>等色素，在肝脏和小肠粘膜中可转变成</a:t>
            </a:r>
            <a:r>
              <a:rPr lang="en-US" altLang="zh-CN" sz="2400" b="0" dirty="0">
                <a:latin typeface="Times New Roman" panose="02020603050405020304" pitchFamily="18" charset="0"/>
                <a:ea typeface="楷体_GB2312" pitchFamily="49" charset="-122"/>
              </a:rPr>
              <a:t>Vit </a:t>
            </a:r>
            <a:r>
              <a:rPr lang="zh-CN" altLang="en-US" sz="2400" b="0" dirty="0">
                <a:latin typeface="Times New Roman" panose="02020603050405020304" pitchFamily="18" charset="0"/>
                <a:ea typeface="楷体_GB2312" pitchFamily="49" charset="-122"/>
              </a:rPr>
              <a:t> </a:t>
            </a:r>
            <a:r>
              <a:rPr lang="en-US" altLang="zh-CN" sz="2400" b="0" dirty="0">
                <a:latin typeface="Times New Roman" panose="02020603050405020304" pitchFamily="18" charset="0"/>
                <a:ea typeface="楷体_GB2312" pitchFamily="49" charset="-122"/>
              </a:rPr>
              <a:t>A</a:t>
            </a:r>
            <a:r>
              <a:rPr lang="zh-CN" altLang="en-US" sz="2400" b="0" dirty="0">
                <a:latin typeface="Times New Roman" panose="02020603050405020304" pitchFamily="18" charset="0"/>
                <a:ea typeface="楷体_GB2312" pitchFamily="49" charset="-122"/>
              </a:rPr>
              <a:t>，被称为</a:t>
            </a:r>
            <a:r>
              <a:rPr lang="zh-CN" altLang="en-US" sz="2400" b="0" dirty="0">
                <a:solidFill>
                  <a:srgbClr val="C00000"/>
                </a:solidFill>
                <a:latin typeface="Times New Roman" panose="02020603050405020304" pitchFamily="18" charset="0"/>
                <a:ea typeface="楷体_GB2312" pitchFamily="49" charset="-122"/>
              </a:rPr>
              <a:t>维生素</a:t>
            </a:r>
            <a:r>
              <a:rPr lang="en-US" altLang="zh-CN" sz="2400" b="0" dirty="0">
                <a:solidFill>
                  <a:srgbClr val="C00000"/>
                </a:solidFill>
                <a:latin typeface="Times New Roman" panose="02020603050405020304" pitchFamily="18" charset="0"/>
                <a:ea typeface="楷体_GB2312" pitchFamily="49" charset="-122"/>
              </a:rPr>
              <a:t>A</a:t>
            </a:r>
            <a:r>
              <a:rPr lang="zh-CN" altLang="en-US" sz="2400" b="0" dirty="0">
                <a:solidFill>
                  <a:srgbClr val="C00000"/>
                </a:solidFill>
                <a:latin typeface="Times New Roman" panose="02020603050405020304" pitchFamily="18" charset="0"/>
                <a:ea typeface="楷体_GB2312" pitchFamily="49" charset="-122"/>
              </a:rPr>
              <a:t>原</a:t>
            </a:r>
            <a:r>
              <a:rPr lang="zh-CN" altLang="en-US" sz="2400" b="0" dirty="0">
                <a:latin typeface="Times New Roman" panose="02020603050405020304" pitchFamily="18" charset="0"/>
                <a:ea typeface="楷体_GB2312" pitchFamily="49" charset="-122"/>
              </a:rPr>
              <a:t>。</a:t>
            </a:r>
          </a:p>
        </p:txBody>
      </p:sp>
      <p:sp>
        <p:nvSpPr>
          <p:cNvPr id="34820" name="Rectangle 5">
            <a:extLst>
              <a:ext uri="{FF2B5EF4-FFF2-40B4-BE49-F238E27FC236}">
                <a16:creationId xmlns:a16="http://schemas.microsoft.com/office/drawing/2014/main" id="{A9258F17-DC02-4CD3-BB00-DF0959B12E95}"/>
              </a:ext>
            </a:extLst>
          </p:cNvPr>
          <p:cNvSpPr>
            <a:spLocks noChangeArrowheads="1"/>
          </p:cNvSpPr>
          <p:nvPr/>
        </p:nvSpPr>
        <p:spPr bwMode="auto">
          <a:xfrm>
            <a:off x="1036638" y="404664"/>
            <a:ext cx="5734050" cy="26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20000"/>
              </a:lnSpc>
              <a:spcBef>
                <a:spcPct val="0"/>
              </a:spcBef>
              <a:buFontTx/>
              <a:buNone/>
            </a:pPr>
            <a:r>
              <a:rPr lang="en-US" altLang="zh-CN" sz="3200" dirty="0">
                <a:latin typeface="Times New Roman" panose="02020603050405020304" pitchFamily="18" charset="0"/>
                <a:ea typeface="楷体_GB2312" pitchFamily="49" charset="-122"/>
              </a:rPr>
              <a:t> </a:t>
            </a:r>
            <a:r>
              <a:rPr lang="zh-CN" altLang="en-US" sz="3200" dirty="0">
                <a:latin typeface="Times New Roman" panose="02020603050405020304" pitchFamily="18" charset="0"/>
                <a:ea typeface="楷体_GB2312" pitchFamily="49" charset="-122"/>
              </a:rPr>
              <a:t>一、维生素</a:t>
            </a:r>
            <a:r>
              <a:rPr lang="en-US" altLang="zh-CN" sz="3200" dirty="0">
                <a:latin typeface="Times New Roman" panose="02020603050405020304" pitchFamily="18" charset="0"/>
                <a:ea typeface="楷体_GB2312" pitchFamily="49" charset="-122"/>
              </a:rPr>
              <a:t>A   </a:t>
            </a:r>
            <a:r>
              <a:rPr lang="zh-CN" altLang="en-US" sz="2400" dirty="0">
                <a:latin typeface="Times New Roman" panose="02020603050405020304" pitchFamily="18" charset="0"/>
                <a:ea typeface="楷体_GB2312" pitchFamily="49" charset="-122"/>
              </a:rPr>
              <a:t>又称</a:t>
            </a:r>
            <a:r>
              <a:rPr lang="zh-CN" altLang="en-US" sz="2400" dirty="0">
                <a:solidFill>
                  <a:srgbClr val="0000CC"/>
                </a:solidFill>
                <a:latin typeface="Times New Roman" panose="02020603050405020304" pitchFamily="18" charset="0"/>
                <a:ea typeface="楷体_GB2312" pitchFamily="49" charset="-122"/>
              </a:rPr>
              <a:t>抗干眼病维生素</a:t>
            </a:r>
            <a:endParaRPr lang="en-US" altLang="zh-CN" sz="2400" dirty="0">
              <a:solidFill>
                <a:srgbClr val="0000CC"/>
              </a:solidFill>
              <a:latin typeface="Times New Roman" panose="02020603050405020304" pitchFamily="18" charset="0"/>
              <a:ea typeface="楷体_GB2312" pitchFamily="49" charset="-122"/>
            </a:endParaRPr>
          </a:p>
          <a:p>
            <a:pPr eaLnBrk="1" hangingPunct="1">
              <a:lnSpc>
                <a:spcPct val="120000"/>
              </a:lnSpc>
              <a:spcBef>
                <a:spcPct val="0"/>
              </a:spcBef>
              <a:buFontTx/>
              <a:buNone/>
            </a:pPr>
            <a:r>
              <a:rPr lang="en-US" altLang="zh-CN" sz="3600" dirty="0">
                <a:latin typeface="Times New Roman" panose="02020603050405020304" pitchFamily="18" charset="0"/>
                <a:ea typeface="楷体_GB2312" pitchFamily="49" charset="-122"/>
              </a:rPr>
              <a:t>     </a:t>
            </a:r>
            <a:r>
              <a:rPr lang="en-US" altLang="zh-CN" sz="2400" b="0" dirty="0">
                <a:latin typeface="Times New Roman" panose="02020603050405020304" pitchFamily="18" charset="0"/>
                <a:ea typeface="楷体_GB2312" pitchFamily="49" charset="-122"/>
              </a:rPr>
              <a:t>A1</a:t>
            </a:r>
            <a:r>
              <a:rPr lang="zh-CN" altLang="en-US" sz="2400" b="0" dirty="0">
                <a:latin typeface="Times New Roman" panose="02020603050405020304" pitchFamily="18" charset="0"/>
                <a:ea typeface="楷体_GB2312" pitchFamily="49" charset="-122"/>
              </a:rPr>
              <a:t>（</a:t>
            </a:r>
            <a:r>
              <a:rPr lang="zh-CN" altLang="en-US" sz="2400" b="0" dirty="0">
                <a:solidFill>
                  <a:srgbClr val="C00000"/>
                </a:solidFill>
                <a:latin typeface="Times New Roman" panose="02020603050405020304" pitchFamily="18" charset="0"/>
                <a:ea typeface="楷体_GB2312" pitchFamily="49" charset="-122"/>
              </a:rPr>
              <a:t>视黄醇</a:t>
            </a:r>
            <a:r>
              <a:rPr lang="zh-CN" altLang="en-US" sz="2400" b="0" dirty="0">
                <a:latin typeface="Times New Roman" panose="02020603050405020304" pitchFamily="18" charset="0"/>
                <a:ea typeface="楷体_GB2312" pitchFamily="49" charset="-122"/>
              </a:rPr>
              <a:t>），</a:t>
            </a:r>
            <a:r>
              <a:rPr lang="en-US" altLang="zh-CN" sz="2400" b="0" dirty="0">
                <a:latin typeface="Times New Roman" panose="02020603050405020304" pitchFamily="18" charset="0"/>
                <a:ea typeface="楷体_GB2312" pitchFamily="49" charset="-122"/>
              </a:rPr>
              <a:t> A2</a:t>
            </a:r>
            <a:r>
              <a:rPr lang="zh-CN" altLang="en-US" sz="2400" b="0" dirty="0">
                <a:latin typeface="Times New Roman" panose="02020603050405020304" pitchFamily="18" charset="0"/>
                <a:ea typeface="楷体_GB2312" pitchFamily="49" charset="-122"/>
              </a:rPr>
              <a:t>（</a:t>
            </a:r>
            <a:r>
              <a:rPr lang="en-US" altLang="zh-CN" sz="2400" b="0" dirty="0">
                <a:latin typeface="Times New Roman" panose="02020603050405020304" pitchFamily="18" charset="0"/>
                <a:ea typeface="楷体_GB2312" pitchFamily="49" charset="-122"/>
              </a:rPr>
              <a:t>3-</a:t>
            </a:r>
            <a:r>
              <a:rPr lang="zh-CN" altLang="en-US" sz="2400" b="0" dirty="0">
                <a:latin typeface="Times New Roman" panose="02020603050405020304" pitchFamily="18" charset="0"/>
                <a:ea typeface="楷体_GB2312" pitchFamily="49" charset="-122"/>
              </a:rPr>
              <a:t>脱氢视黄醇） </a:t>
            </a:r>
            <a:endParaRPr lang="en-US" altLang="zh-CN" sz="2400" b="0" dirty="0">
              <a:latin typeface="Times New Roman" panose="02020603050405020304" pitchFamily="18" charset="0"/>
              <a:ea typeface="楷体_GB2312" pitchFamily="49" charset="-122"/>
            </a:endParaRPr>
          </a:p>
          <a:p>
            <a:pPr eaLnBrk="1" hangingPunct="1">
              <a:lnSpc>
                <a:spcPct val="120000"/>
              </a:lnSpc>
              <a:spcBef>
                <a:spcPct val="0"/>
              </a:spcBef>
              <a:buFontTx/>
              <a:buNone/>
            </a:pPr>
            <a:endParaRPr lang="en-US" altLang="zh-CN" sz="2400" dirty="0">
              <a:latin typeface="Times New Roman" panose="02020603050405020304" pitchFamily="18" charset="0"/>
              <a:ea typeface="楷体_GB2312" pitchFamily="49" charset="-122"/>
            </a:endParaRPr>
          </a:p>
          <a:p>
            <a:pPr eaLnBrk="1" hangingPunct="1">
              <a:lnSpc>
                <a:spcPct val="120000"/>
              </a:lnSpc>
              <a:spcBef>
                <a:spcPct val="0"/>
              </a:spcBef>
              <a:buFontTx/>
              <a:buNone/>
            </a:pPr>
            <a:r>
              <a:rPr lang="zh-CN" altLang="en-US" sz="2400" b="0" dirty="0">
                <a:solidFill>
                  <a:srgbClr val="C00000"/>
                </a:solidFill>
                <a:latin typeface="宋体" panose="02010600030101010101" pitchFamily="2" charset="-122"/>
                <a:ea typeface="楷体_GB2312" pitchFamily="49" charset="-122"/>
              </a:rPr>
              <a:t>活性形式： 视黄醇、视黄醛、视黄酸</a:t>
            </a:r>
            <a:endParaRPr lang="en-US" altLang="zh-CN" sz="2400" b="0" dirty="0">
              <a:solidFill>
                <a:srgbClr val="C00000"/>
              </a:solidFill>
              <a:latin typeface="宋体" panose="02010600030101010101" pitchFamily="2" charset="-122"/>
              <a:ea typeface="楷体_GB2312" pitchFamily="49" charset="-122"/>
            </a:endParaRPr>
          </a:p>
          <a:p>
            <a:pPr eaLnBrk="1" hangingPunct="1">
              <a:lnSpc>
                <a:spcPct val="120000"/>
              </a:lnSpc>
              <a:spcBef>
                <a:spcPct val="0"/>
              </a:spcBef>
              <a:buFontTx/>
              <a:buNone/>
            </a:pPr>
            <a:endParaRPr lang="zh-CN" altLang="en-US" sz="2400" dirty="0">
              <a:latin typeface="Times New Roman" panose="02020603050405020304" pitchFamily="18" charset="0"/>
              <a:ea typeface="楷体_GB2312" pitchFamily="49" charset="-122"/>
            </a:endParaRPr>
          </a:p>
        </p:txBody>
      </p:sp>
      <p:pic>
        <p:nvPicPr>
          <p:cNvPr id="34821" name="Picture 2" descr="retinol">
            <a:extLst>
              <a:ext uri="{FF2B5EF4-FFF2-40B4-BE49-F238E27FC236}">
                <a16:creationId xmlns:a16="http://schemas.microsoft.com/office/drawing/2014/main" id="{C2FD13F1-B91E-4C1E-B908-E9487042D4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5376" y="581719"/>
            <a:ext cx="2716212"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2" name="Text Box 5">
            <a:extLst>
              <a:ext uri="{FF2B5EF4-FFF2-40B4-BE49-F238E27FC236}">
                <a16:creationId xmlns:a16="http://schemas.microsoft.com/office/drawing/2014/main" id="{81AB3588-5FB9-4727-B107-F634F85FC79C}"/>
              </a:ext>
            </a:extLst>
          </p:cNvPr>
          <p:cNvSpPr txBox="1">
            <a:spLocks noChangeArrowheads="1"/>
          </p:cNvSpPr>
          <p:nvPr/>
        </p:nvSpPr>
        <p:spPr bwMode="auto">
          <a:xfrm>
            <a:off x="9456514" y="1056382"/>
            <a:ext cx="128587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buClr>
                <a:schemeClr val="tx2"/>
              </a:buClr>
              <a:buSzPct val="75000"/>
              <a:buFont typeface="Wingdings" panose="05000000000000000000" pitchFamily="2" charset="2"/>
              <a:buNone/>
            </a:pPr>
            <a:r>
              <a:rPr lang="zh-CN" altLang="en-US" sz="2000">
                <a:latin typeface="Arial" panose="020B0604020202020204" pitchFamily="34" charset="0"/>
                <a:ea typeface="楷体_GB2312" pitchFamily="49" charset="-122"/>
              </a:rPr>
              <a:t>视黄醇</a:t>
            </a:r>
          </a:p>
        </p:txBody>
      </p:sp>
      <p:pic>
        <p:nvPicPr>
          <p:cNvPr id="34823" name="Picture 3" descr="cisretinal">
            <a:extLst>
              <a:ext uri="{FF2B5EF4-FFF2-40B4-BE49-F238E27FC236}">
                <a16:creationId xmlns:a16="http://schemas.microsoft.com/office/drawing/2014/main" id="{DB5466F6-62B8-4434-AFE3-013ABADBED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1588" y="1610418"/>
            <a:ext cx="2520950"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4" name="Text Box 6">
            <a:extLst>
              <a:ext uri="{FF2B5EF4-FFF2-40B4-BE49-F238E27FC236}">
                <a16:creationId xmlns:a16="http://schemas.microsoft.com/office/drawing/2014/main" id="{84EB7228-81DF-49F5-B179-8799F91390AC}"/>
              </a:ext>
            </a:extLst>
          </p:cNvPr>
          <p:cNvSpPr txBox="1">
            <a:spLocks noChangeArrowheads="1"/>
          </p:cNvSpPr>
          <p:nvPr/>
        </p:nvSpPr>
        <p:spPr bwMode="auto">
          <a:xfrm>
            <a:off x="8151588" y="2566094"/>
            <a:ext cx="1900238" cy="341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buClr>
                <a:schemeClr val="tx2"/>
              </a:buClr>
              <a:buSzPct val="75000"/>
              <a:buFont typeface="Wingdings" panose="05000000000000000000" pitchFamily="2" charset="2"/>
              <a:buNone/>
            </a:pPr>
            <a:r>
              <a:rPr lang="en-US" altLang="zh-CN" sz="1800">
                <a:latin typeface="Arial" panose="020B0604020202020204" pitchFamily="34" charset="0"/>
                <a:ea typeface="楷体_GB2312" pitchFamily="49" charset="-122"/>
              </a:rPr>
              <a:t>11</a:t>
            </a:r>
            <a:r>
              <a:rPr lang="zh-CN" altLang="en-US" sz="1800">
                <a:latin typeface="Arial" panose="020B0604020202020204" pitchFamily="34" charset="0"/>
                <a:ea typeface="楷体_GB2312" pitchFamily="49" charset="-122"/>
              </a:rPr>
              <a:t>－顺视黄醛</a:t>
            </a:r>
          </a:p>
        </p:txBody>
      </p:sp>
      <p:pic>
        <p:nvPicPr>
          <p:cNvPr id="34825" name="Picture 4" descr="alltransretinal">
            <a:extLst>
              <a:ext uri="{FF2B5EF4-FFF2-40B4-BE49-F238E27FC236}">
                <a16:creationId xmlns:a16="http://schemas.microsoft.com/office/drawing/2014/main" id="{BADB6BF9-E163-4741-8D79-D004316A55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5788" y="3199507"/>
            <a:ext cx="322580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6" name="Text Box 7">
            <a:extLst>
              <a:ext uri="{FF2B5EF4-FFF2-40B4-BE49-F238E27FC236}">
                <a16:creationId xmlns:a16="http://schemas.microsoft.com/office/drawing/2014/main" id="{1724B24D-EE87-4B38-9FDD-4A64D7C866B6}"/>
              </a:ext>
            </a:extLst>
          </p:cNvPr>
          <p:cNvSpPr txBox="1">
            <a:spLocks noChangeArrowheads="1"/>
          </p:cNvSpPr>
          <p:nvPr/>
        </p:nvSpPr>
        <p:spPr bwMode="auto">
          <a:xfrm>
            <a:off x="8891364" y="3717032"/>
            <a:ext cx="18002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buClr>
                <a:schemeClr val="tx2"/>
              </a:buClr>
              <a:buSzPct val="75000"/>
              <a:buFont typeface="Wingdings" panose="05000000000000000000" pitchFamily="2" charset="2"/>
              <a:buNone/>
            </a:pPr>
            <a:r>
              <a:rPr lang="zh-CN" altLang="en-US" sz="2000">
                <a:latin typeface="Arial" panose="020B0604020202020204" pitchFamily="34" charset="0"/>
                <a:ea typeface="楷体_GB2312" pitchFamily="49" charset="-122"/>
              </a:rPr>
              <a:t>全反－视黄醛</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1988">
                                            <p:txEl>
                                              <p:pRg st="0" end="0"/>
                                            </p:txEl>
                                          </p:spTgt>
                                        </p:tgtEl>
                                        <p:attrNameLst>
                                          <p:attrName>style.visibility</p:attrName>
                                        </p:attrNameLst>
                                      </p:cBhvr>
                                      <p:to>
                                        <p:strVal val="visible"/>
                                      </p:to>
                                    </p:set>
                                    <p:animEffect transition="in" filter="dissolve">
                                      <p:cBhvr>
                                        <p:cTn id="7" dur="500"/>
                                        <p:tgtEl>
                                          <p:spTgt spid="41988">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1988">
                                            <p:txEl>
                                              <p:pRg st="1" end="1"/>
                                            </p:txEl>
                                          </p:spTgt>
                                        </p:tgtEl>
                                        <p:attrNameLst>
                                          <p:attrName>style.visibility</p:attrName>
                                        </p:attrNameLst>
                                      </p:cBhvr>
                                      <p:to>
                                        <p:strVal val="visible"/>
                                      </p:to>
                                    </p:set>
                                    <p:animEffect transition="in" filter="dissolve">
                                      <p:cBhvr>
                                        <p:cTn id="10" dur="500"/>
                                        <p:tgtEl>
                                          <p:spTgt spid="41988">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1988">
                                            <p:txEl>
                                              <p:pRg st="2" end="2"/>
                                            </p:txEl>
                                          </p:spTgt>
                                        </p:tgtEl>
                                        <p:attrNameLst>
                                          <p:attrName>style.visibility</p:attrName>
                                        </p:attrNameLst>
                                      </p:cBhvr>
                                      <p:to>
                                        <p:strVal val="visible"/>
                                      </p:to>
                                    </p:set>
                                    <p:animEffect transition="in" filter="dissolve">
                                      <p:cBhvr>
                                        <p:cTn id="13" dur="500"/>
                                        <p:tgtEl>
                                          <p:spTgt spid="4198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0962" name="Picture 2">
            <a:extLst>
              <a:ext uri="{FF2B5EF4-FFF2-40B4-BE49-F238E27FC236}">
                <a16:creationId xmlns:a16="http://schemas.microsoft.com/office/drawing/2014/main" id="{F2814B7B-C238-4AC0-A151-95AEC1914C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8025" y="908050"/>
            <a:ext cx="8375650" cy="568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40963" name="标题 1">
            <a:extLst>
              <a:ext uri="{FF2B5EF4-FFF2-40B4-BE49-F238E27FC236}">
                <a16:creationId xmlns:a16="http://schemas.microsoft.com/office/drawing/2014/main" id="{82F54B42-36F0-4132-9F90-A582D2C3A5FB}"/>
              </a:ext>
            </a:extLst>
          </p:cNvPr>
          <p:cNvSpPr>
            <a:spLocks noGrp="1" noChangeArrowheads="1"/>
          </p:cNvSpPr>
          <p:nvPr>
            <p:ph type="title"/>
          </p:nvPr>
        </p:nvSpPr>
        <p:spPr>
          <a:xfrm>
            <a:off x="3287713" y="188914"/>
            <a:ext cx="6051550" cy="649287"/>
          </a:xfrm>
        </p:spPr>
        <p:txBody>
          <a:bodyPr/>
          <a:lstStyle/>
          <a:p>
            <a:pPr eaLnBrk="1" hangingPunct="1"/>
            <a:r>
              <a:rPr lang="el-GR" altLang="zh-CN" sz="3600" b="1" dirty="0">
                <a:solidFill>
                  <a:srgbClr val="3333CC"/>
                </a:solidFill>
                <a:latin typeface="微软雅黑" panose="020B0503020204020204" pitchFamily="34" charset="-122"/>
                <a:ea typeface="微软雅黑" panose="020B0503020204020204" pitchFamily="34" charset="-122"/>
              </a:rPr>
              <a:t>β</a:t>
            </a:r>
            <a:r>
              <a:rPr lang="en-US" altLang="zh-CN" sz="3600" b="1" dirty="0">
                <a:solidFill>
                  <a:srgbClr val="3333CC"/>
                </a:solidFill>
                <a:latin typeface="微软雅黑" panose="020B0503020204020204" pitchFamily="34" charset="-122"/>
                <a:ea typeface="微软雅黑" panose="020B0503020204020204" pitchFamily="34" charset="-122"/>
              </a:rPr>
              <a:t>-</a:t>
            </a:r>
            <a:r>
              <a:rPr lang="zh-CN" altLang="en-US" sz="3600" b="1" dirty="0">
                <a:solidFill>
                  <a:srgbClr val="3333CC"/>
                </a:solidFill>
                <a:latin typeface="微软雅黑" panose="020B0503020204020204" pitchFamily="34" charset="-122"/>
                <a:ea typeface="微软雅黑" panose="020B0503020204020204" pitchFamily="34" charset="-122"/>
              </a:rPr>
              <a:t>胡萝卜素转变为维生素</a:t>
            </a:r>
            <a:r>
              <a:rPr lang="en-US" altLang="zh-CN" sz="3600" b="1" dirty="0">
                <a:solidFill>
                  <a:srgbClr val="3333CC"/>
                </a:solidFill>
                <a:latin typeface="微软雅黑" panose="020B0503020204020204" pitchFamily="34" charset="-122"/>
                <a:ea typeface="微软雅黑" panose="020B0503020204020204" pitchFamily="34" charset="-122"/>
              </a:rPr>
              <a:t>A</a:t>
            </a:r>
            <a:endParaRPr lang="zh-CN" altLang="en-US" sz="3600" b="1" dirty="0">
              <a:solidFill>
                <a:srgbClr val="3333CC"/>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6866" name="图片 1">
            <a:extLst>
              <a:ext uri="{FF2B5EF4-FFF2-40B4-BE49-F238E27FC236}">
                <a16:creationId xmlns:a16="http://schemas.microsoft.com/office/drawing/2014/main" id="{1C92EA40-A414-4453-A18B-FA52D349B9CE}"/>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016199" y="354014"/>
            <a:ext cx="2663825" cy="614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7" name="图片 2">
            <a:extLst>
              <a:ext uri="{FF2B5EF4-FFF2-40B4-BE49-F238E27FC236}">
                <a16:creationId xmlns:a16="http://schemas.microsoft.com/office/drawing/2014/main" id="{BD901DB5-0699-4AA4-BC69-B7AAC341D06B}"/>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292798" y="-30163"/>
            <a:ext cx="5835650" cy="688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070B6B61-D24D-1D93-C929-263B0D82C68B}"/>
              </a:ext>
            </a:extLst>
          </p:cNvPr>
          <p:cNvSpPr txBox="1"/>
          <p:nvPr/>
        </p:nvSpPr>
        <p:spPr>
          <a:xfrm>
            <a:off x="2635870" y="1196753"/>
            <a:ext cx="1296144" cy="461665"/>
          </a:xfrm>
          <a:prstGeom prst="rect">
            <a:avLst/>
          </a:prstGeom>
          <a:noFill/>
        </p:spPr>
        <p:txBody>
          <a:bodyPr wrap="square" rtlCol="0">
            <a:spAutoFit/>
          </a:bodyPr>
          <a:lstStyle/>
          <a:p>
            <a:r>
              <a:rPr lang="zh-CN" altLang="en-US" sz="2400" b="0" dirty="0">
                <a:solidFill>
                  <a:srgbClr val="0000CC"/>
                </a:solidFill>
              </a:rPr>
              <a:t>视黄醇</a:t>
            </a:r>
          </a:p>
        </p:txBody>
      </p:sp>
      <p:sp>
        <p:nvSpPr>
          <p:cNvPr id="3" name="文本框 2">
            <a:extLst>
              <a:ext uri="{FF2B5EF4-FFF2-40B4-BE49-F238E27FC236}">
                <a16:creationId xmlns:a16="http://schemas.microsoft.com/office/drawing/2014/main" id="{BDD2F9C7-3D4A-BE92-FD4A-70E08AEFD985}"/>
              </a:ext>
            </a:extLst>
          </p:cNvPr>
          <p:cNvSpPr txBox="1"/>
          <p:nvPr/>
        </p:nvSpPr>
        <p:spPr>
          <a:xfrm>
            <a:off x="2635870" y="2529796"/>
            <a:ext cx="1296144" cy="461665"/>
          </a:xfrm>
          <a:prstGeom prst="rect">
            <a:avLst/>
          </a:prstGeom>
          <a:noFill/>
        </p:spPr>
        <p:txBody>
          <a:bodyPr wrap="square" rtlCol="0">
            <a:spAutoFit/>
          </a:bodyPr>
          <a:lstStyle/>
          <a:p>
            <a:r>
              <a:rPr lang="zh-CN" altLang="en-US" sz="2400" b="0" dirty="0">
                <a:solidFill>
                  <a:srgbClr val="0000CC"/>
                </a:solidFill>
              </a:rPr>
              <a:t>视黄醛</a:t>
            </a:r>
          </a:p>
        </p:txBody>
      </p:sp>
      <p:sp>
        <p:nvSpPr>
          <p:cNvPr id="4" name="文本框 3">
            <a:extLst>
              <a:ext uri="{FF2B5EF4-FFF2-40B4-BE49-F238E27FC236}">
                <a16:creationId xmlns:a16="http://schemas.microsoft.com/office/drawing/2014/main" id="{24947500-580F-93A9-4E6E-7543F6C8C29B}"/>
              </a:ext>
            </a:extLst>
          </p:cNvPr>
          <p:cNvSpPr txBox="1"/>
          <p:nvPr/>
        </p:nvSpPr>
        <p:spPr>
          <a:xfrm>
            <a:off x="2748503" y="4253469"/>
            <a:ext cx="1863040" cy="400110"/>
          </a:xfrm>
          <a:prstGeom prst="rect">
            <a:avLst/>
          </a:prstGeom>
          <a:noFill/>
        </p:spPr>
        <p:txBody>
          <a:bodyPr wrap="square" rtlCol="0">
            <a:spAutoFit/>
          </a:bodyPr>
          <a:lstStyle/>
          <a:p>
            <a:r>
              <a:rPr lang="zh-CN" altLang="en-US" sz="2000" b="0" dirty="0">
                <a:solidFill>
                  <a:srgbClr val="0000CC"/>
                </a:solidFill>
              </a:rPr>
              <a:t>全反</a:t>
            </a:r>
            <a:r>
              <a:rPr lang="en-US" altLang="zh-CN" sz="2000" b="0" dirty="0">
                <a:solidFill>
                  <a:srgbClr val="0000CC"/>
                </a:solidFill>
              </a:rPr>
              <a:t>-</a:t>
            </a:r>
            <a:r>
              <a:rPr lang="zh-CN" altLang="en-US" sz="2000" b="0" dirty="0">
                <a:solidFill>
                  <a:srgbClr val="0000CC"/>
                </a:solidFill>
              </a:rPr>
              <a:t>视黄酸</a:t>
            </a:r>
          </a:p>
        </p:txBody>
      </p:sp>
      <p:sp>
        <p:nvSpPr>
          <p:cNvPr id="5" name="文本框 4">
            <a:extLst>
              <a:ext uri="{FF2B5EF4-FFF2-40B4-BE49-F238E27FC236}">
                <a16:creationId xmlns:a16="http://schemas.microsoft.com/office/drawing/2014/main" id="{4748B4D5-2961-A03E-BA76-37DC57CBBAF7}"/>
              </a:ext>
            </a:extLst>
          </p:cNvPr>
          <p:cNvSpPr txBox="1"/>
          <p:nvPr/>
        </p:nvSpPr>
        <p:spPr>
          <a:xfrm>
            <a:off x="1375052" y="6352599"/>
            <a:ext cx="1990066" cy="461665"/>
          </a:xfrm>
          <a:prstGeom prst="rect">
            <a:avLst/>
          </a:prstGeom>
          <a:noFill/>
        </p:spPr>
        <p:txBody>
          <a:bodyPr wrap="square" rtlCol="0">
            <a:spAutoFit/>
          </a:bodyPr>
          <a:lstStyle/>
          <a:p>
            <a:r>
              <a:rPr lang="en-US" altLang="zh-CN" sz="2400" b="0" dirty="0">
                <a:solidFill>
                  <a:srgbClr val="C00000"/>
                </a:solidFill>
              </a:rPr>
              <a:t>11-</a:t>
            </a:r>
            <a:r>
              <a:rPr lang="zh-CN" altLang="en-US" sz="2400" b="0" dirty="0">
                <a:solidFill>
                  <a:srgbClr val="C00000"/>
                </a:solidFill>
              </a:rPr>
              <a:t>顺</a:t>
            </a:r>
            <a:r>
              <a:rPr lang="en-US" altLang="zh-CN" sz="2400" b="0" dirty="0">
                <a:solidFill>
                  <a:srgbClr val="C00000"/>
                </a:solidFill>
              </a:rPr>
              <a:t>-</a:t>
            </a:r>
            <a:r>
              <a:rPr lang="zh-CN" altLang="en-US" sz="2400" b="0" dirty="0">
                <a:solidFill>
                  <a:srgbClr val="C00000"/>
                </a:solidFill>
              </a:rPr>
              <a:t>视黄醛</a:t>
            </a:r>
          </a:p>
        </p:txBody>
      </p:sp>
      <p:sp>
        <p:nvSpPr>
          <p:cNvPr id="6" name="文本框 5">
            <a:extLst>
              <a:ext uri="{FF2B5EF4-FFF2-40B4-BE49-F238E27FC236}">
                <a16:creationId xmlns:a16="http://schemas.microsoft.com/office/drawing/2014/main" id="{2A277175-7900-1AC0-7083-7BC87CA55468}"/>
              </a:ext>
            </a:extLst>
          </p:cNvPr>
          <p:cNvSpPr txBox="1"/>
          <p:nvPr/>
        </p:nvSpPr>
        <p:spPr>
          <a:xfrm>
            <a:off x="6843226" y="6383375"/>
            <a:ext cx="3065453" cy="400110"/>
          </a:xfrm>
          <a:prstGeom prst="rect">
            <a:avLst/>
          </a:prstGeom>
          <a:solidFill>
            <a:schemeClr val="bg1"/>
          </a:solidFill>
        </p:spPr>
        <p:txBody>
          <a:bodyPr wrap="square" rtlCol="0">
            <a:spAutoFit/>
          </a:bodyPr>
          <a:lstStyle/>
          <a:p>
            <a:r>
              <a:rPr lang="en-US" altLang="zh-CN" sz="2000" b="0" dirty="0">
                <a:solidFill>
                  <a:srgbClr val="0000CC"/>
                </a:solidFill>
              </a:rPr>
              <a:t>RBP</a:t>
            </a:r>
            <a:r>
              <a:rPr lang="zh-CN" altLang="en-US" sz="2000" b="0" dirty="0">
                <a:solidFill>
                  <a:srgbClr val="0000CC"/>
                </a:solidFill>
              </a:rPr>
              <a:t>： 视黄醇结合蛋白</a:t>
            </a:r>
          </a:p>
        </p:txBody>
      </p:sp>
      <p:sp>
        <p:nvSpPr>
          <p:cNvPr id="7" name="矩形 6">
            <a:extLst>
              <a:ext uri="{FF2B5EF4-FFF2-40B4-BE49-F238E27FC236}">
                <a16:creationId xmlns:a16="http://schemas.microsoft.com/office/drawing/2014/main" id="{83B35057-DC73-A623-D871-186866F43ADA}"/>
              </a:ext>
            </a:extLst>
          </p:cNvPr>
          <p:cNvSpPr/>
          <p:nvPr/>
        </p:nvSpPr>
        <p:spPr>
          <a:xfrm>
            <a:off x="8252494" y="1484784"/>
            <a:ext cx="1080120" cy="115212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0000"/>
                </a:solidFill>
              </a:ln>
              <a:noFill/>
            </a:endParaRPr>
          </a:p>
        </p:txBody>
      </p:sp>
      <p:sp>
        <p:nvSpPr>
          <p:cNvPr id="8" name="矩形 7">
            <a:extLst>
              <a:ext uri="{FF2B5EF4-FFF2-40B4-BE49-F238E27FC236}">
                <a16:creationId xmlns:a16="http://schemas.microsoft.com/office/drawing/2014/main" id="{63AF44A3-F88D-8E6B-BEF4-DA72206E04DE}"/>
              </a:ext>
            </a:extLst>
          </p:cNvPr>
          <p:cNvSpPr/>
          <p:nvPr/>
        </p:nvSpPr>
        <p:spPr>
          <a:xfrm>
            <a:off x="4436070" y="4253470"/>
            <a:ext cx="1656184" cy="191183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DF50BE1-9F5A-B905-92CE-4CA0E032835D}"/>
              </a:ext>
            </a:extLst>
          </p:cNvPr>
          <p:cNvSpPr/>
          <p:nvPr/>
        </p:nvSpPr>
        <p:spPr>
          <a:xfrm>
            <a:off x="7244382" y="476672"/>
            <a:ext cx="792088" cy="2880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69686B2D-6749-61DA-41F2-8484CEAE5B30}"/>
              </a:ext>
            </a:extLst>
          </p:cNvPr>
          <p:cNvSpPr txBox="1"/>
          <p:nvPr/>
        </p:nvSpPr>
        <p:spPr>
          <a:xfrm>
            <a:off x="10628014" y="764704"/>
            <a:ext cx="720080" cy="5016758"/>
          </a:xfrm>
          <a:prstGeom prst="rect">
            <a:avLst/>
          </a:prstGeom>
          <a:noFill/>
        </p:spPr>
        <p:txBody>
          <a:bodyPr wrap="square">
            <a:spAutoFit/>
          </a:bodyPr>
          <a:lstStyle/>
          <a:p>
            <a:r>
              <a:rPr lang="zh-CN" altLang="en-US" sz="3200" dirty="0">
                <a:solidFill>
                  <a:schemeClr val="tx1">
                    <a:lumMod val="95000"/>
                    <a:lumOff val="5000"/>
                  </a:schemeClr>
                </a:solidFill>
                <a:latin typeface="Helvetica" panose="020B0604020202020204" pitchFamily="34" charset="0"/>
              </a:rPr>
              <a:t>维生素</a:t>
            </a:r>
            <a:r>
              <a:rPr lang="en-US" altLang="zh-CN" sz="3200" dirty="0">
                <a:solidFill>
                  <a:schemeClr val="tx1">
                    <a:lumMod val="95000"/>
                    <a:lumOff val="5000"/>
                  </a:schemeClr>
                </a:solidFill>
                <a:latin typeface="Helvetica" panose="020B0604020202020204" pitchFamily="34" charset="0"/>
              </a:rPr>
              <a:t>A</a:t>
            </a:r>
            <a:r>
              <a:rPr lang="zh-CN" altLang="en-US" sz="3200" dirty="0">
                <a:solidFill>
                  <a:schemeClr val="tx1">
                    <a:lumMod val="95000"/>
                    <a:lumOff val="5000"/>
                  </a:schemeClr>
                </a:solidFill>
                <a:latin typeface="Helvetica" panose="020B0604020202020204" pitchFamily="34" charset="0"/>
              </a:rPr>
              <a:t>在体内的代谢</a:t>
            </a:r>
            <a:endParaRPr lang="en-US" altLang="zh-CN" sz="3200" dirty="0">
              <a:solidFill>
                <a:schemeClr val="tx1">
                  <a:lumMod val="95000"/>
                  <a:lumOff val="5000"/>
                </a:schemeClr>
              </a:solidFill>
              <a:latin typeface="Helvetica"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8E4A2F9-0C58-E2B3-150A-0CEE267E7EC8}"/>
              </a:ext>
            </a:extLst>
          </p:cNvPr>
          <p:cNvPicPr>
            <a:picLocks noChangeAspect="1"/>
          </p:cNvPicPr>
          <p:nvPr/>
        </p:nvPicPr>
        <p:blipFill>
          <a:blip r:embed="rId3"/>
          <a:stretch>
            <a:fillRect/>
          </a:stretch>
        </p:blipFill>
        <p:spPr>
          <a:xfrm>
            <a:off x="5969663" y="1647572"/>
            <a:ext cx="5149219" cy="4816186"/>
          </a:xfrm>
          <a:prstGeom prst="rect">
            <a:avLst/>
          </a:prstGeom>
        </p:spPr>
      </p:pic>
      <p:sp>
        <p:nvSpPr>
          <p:cNvPr id="2" name="标题 1">
            <a:extLst>
              <a:ext uri="{FF2B5EF4-FFF2-40B4-BE49-F238E27FC236}">
                <a16:creationId xmlns:a16="http://schemas.microsoft.com/office/drawing/2014/main" id="{382E2130-E6D2-7058-FF20-009C35182A26}"/>
              </a:ext>
            </a:extLst>
          </p:cNvPr>
          <p:cNvSpPr>
            <a:spLocks noGrp="1"/>
          </p:cNvSpPr>
          <p:nvPr>
            <p:ph type="title" idx="4294967295"/>
          </p:nvPr>
        </p:nvSpPr>
        <p:spPr>
          <a:xfrm>
            <a:off x="2787060" y="394242"/>
            <a:ext cx="7886700" cy="889000"/>
          </a:xfrm>
        </p:spPr>
        <p:txBody>
          <a:bodyPr>
            <a:normAutofit/>
          </a:bodyPr>
          <a:lstStyle/>
          <a:p>
            <a:r>
              <a:rPr lang="zh-CN" altLang="en-US" sz="3200" dirty="0">
                <a:solidFill>
                  <a:srgbClr val="0000CC"/>
                </a:solidFill>
                <a:latin typeface="微软雅黑" panose="020B0503020204020204" pitchFamily="34" charset="-122"/>
                <a:ea typeface="微软雅黑" panose="020B0503020204020204" pitchFamily="34" charset="-122"/>
              </a:rPr>
              <a:t>维生素</a:t>
            </a:r>
            <a:r>
              <a:rPr lang="en-US" altLang="zh-CN" sz="3200" dirty="0">
                <a:solidFill>
                  <a:srgbClr val="0000CC"/>
                </a:solidFill>
                <a:latin typeface="微软雅黑" panose="020B0503020204020204" pitchFamily="34" charset="-122"/>
                <a:ea typeface="微软雅黑" panose="020B0503020204020204" pitchFamily="34" charset="-122"/>
              </a:rPr>
              <a:t>A </a:t>
            </a:r>
            <a:r>
              <a:rPr lang="zh-CN" altLang="en-US" sz="3200" dirty="0">
                <a:solidFill>
                  <a:srgbClr val="0000CC"/>
                </a:solidFill>
                <a:latin typeface="微软雅黑" panose="020B0503020204020204" pitchFamily="34" charset="-122"/>
                <a:ea typeface="微软雅黑" panose="020B0503020204020204" pitchFamily="34" charset="-122"/>
              </a:rPr>
              <a:t>不仅参与视循环还是抗氧化剂</a:t>
            </a:r>
          </a:p>
        </p:txBody>
      </p:sp>
      <p:sp>
        <p:nvSpPr>
          <p:cNvPr id="3" name="内容占位符 2">
            <a:extLst>
              <a:ext uri="{FF2B5EF4-FFF2-40B4-BE49-F238E27FC236}">
                <a16:creationId xmlns:a16="http://schemas.microsoft.com/office/drawing/2014/main" id="{CD0558A5-C3A3-3EC3-FF72-046B1A9C9C18}"/>
              </a:ext>
            </a:extLst>
          </p:cNvPr>
          <p:cNvSpPr>
            <a:spLocks noGrp="1"/>
          </p:cNvSpPr>
          <p:nvPr>
            <p:ph idx="4294967295"/>
          </p:nvPr>
        </p:nvSpPr>
        <p:spPr>
          <a:xfrm>
            <a:off x="1073118" y="2204864"/>
            <a:ext cx="4389293" cy="539750"/>
          </a:xfrm>
        </p:spPr>
        <p:txBody>
          <a:bodyPr/>
          <a:lstStyle/>
          <a:p>
            <a:pPr>
              <a:buAutoNum type="arabicPeriod"/>
            </a:pPr>
            <a:r>
              <a:rPr lang="zh-CN" altLang="en-US" dirty="0">
                <a:solidFill>
                  <a:srgbClr val="0000CC"/>
                </a:solidFill>
                <a:latin typeface="微软雅黑" panose="020B0503020204020204" pitchFamily="34" charset="-122"/>
                <a:ea typeface="微软雅黑" panose="020B0503020204020204" pitchFamily="34" charset="-122"/>
              </a:rPr>
              <a:t>视黄醛参与视觉传导 </a:t>
            </a:r>
            <a:endParaRPr lang="en-US" altLang="zh-CN" dirty="0">
              <a:solidFill>
                <a:srgbClr val="0000CC"/>
              </a:solidFill>
              <a:latin typeface="微软雅黑" panose="020B0503020204020204" pitchFamily="34" charset="-122"/>
              <a:ea typeface="微软雅黑" panose="020B0503020204020204" pitchFamily="34" charset="-122"/>
            </a:endParaRPr>
          </a:p>
        </p:txBody>
      </p:sp>
      <p:sp>
        <p:nvSpPr>
          <p:cNvPr id="6" name="椭圆 5">
            <a:extLst>
              <a:ext uri="{FF2B5EF4-FFF2-40B4-BE49-F238E27FC236}">
                <a16:creationId xmlns:a16="http://schemas.microsoft.com/office/drawing/2014/main" id="{74AF4C55-E546-8914-F980-C867B9CBA079}"/>
              </a:ext>
            </a:extLst>
          </p:cNvPr>
          <p:cNvSpPr/>
          <p:nvPr/>
        </p:nvSpPr>
        <p:spPr>
          <a:xfrm>
            <a:off x="9750730" y="2997087"/>
            <a:ext cx="1368152" cy="612068"/>
          </a:xfrm>
          <a:prstGeom prst="ellipse">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FE0AAB60-E8A9-6B99-4331-2C60F0F1769D}"/>
              </a:ext>
            </a:extLst>
          </p:cNvPr>
          <p:cNvSpPr/>
          <p:nvPr/>
        </p:nvSpPr>
        <p:spPr>
          <a:xfrm>
            <a:off x="9186447" y="4702423"/>
            <a:ext cx="1487313" cy="660121"/>
          </a:xfrm>
          <a:prstGeom prst="ellipse">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D157FEDC-34AB-6D2D-4C95-D26622198FA4}"/>
              </a:ext>
            </a:extLst>
          </p:cNvPr>
          <p:cNvSpPr txBox="1"/>
          <p:nvPr/>
        </p:nvSpPr>
        <p:spPr>
          <a:xfrm>
            <a:off x="983432" y="3212976"/>
            <a:ext cx="4478979" cy="2504660"/>
          </a:xfrm>
          <a:prstGeom prst="rect">
            <a:avLst/>
          </a:prstGeom>
          <a:noFill/>
        </p:spPr>
        <p:txBody>
          <a:bodyPr wrap="square">
            <a:spAutoFit/>
          </a:bodyPr>
          <a:lstStyle/>
          <a:p>
            <a:pPr marL="342900" indent="-342900">
              <a:lnSpc>
                <a:spcPct val="120000"/>
              </a:lnSpc>
              <a:spcBef>
                <a:spcPts val="1200"/>
              </a:spcBef>
              <a:buFont typeface="Arial" panose="020B0604020202020204" pitchFamily="34" charset="0"/>
              <a:buChar char="•"/>
            </a:pPr>
            <a:r>
              <a:rPr lang="zh-CN" altLang="en-US" sz="2200" b="0" dirty="0">
                <a:solidFill>
                  <a:schemeClr val="tx1"/>
                </a:solidFill>
                <a:latin typeface="微软雅黑" panose="020B0503020204020204" pitchFamily="34" charset="-122"/>
                <a:ea typeface="微软雅黑" panose="020B0503020204020204" pitchFamily="34" charset="-122"/>
              </a:rPr>
              <a:t>人视网膜的光受体细胞分为锥状细胞和杆状细胞。</a:t>
            </a:r>
            <a:endParaRPr lang="en-US" altLang="zh-CN" sz="2200" b="0" dirty="0">
              <a:solidFill>
                <a:schemeClr val="tx1"/>
              </a:solidFill>
              <a:latin typeface="微软雅黑" panose="020B0503020204020204" pitchFamily="34" charset="-122"/>
              <a:ea typeface="微软雅黑" panose="020B0503020204020204" pitchFamily="34" charset="-122"/>
            </a:endParaRPr>
          </a:p>
          <a:p>
            <a:pPr marL="342900" indent="-342900">
              <a:lnSpc>
                <a:spcPct val="120000"/>
              </a:lnSpc>
              <a:spcBef>
                <a:spcPts val="1200"/>
              </a:spcBef>
              <a:buFont typeface="Arial" panose="020B0604020202020204" pitchFamily="34" charset="0"/>
              <a:buChar char="•"/>
            </a:pPr>
            <a:r>
              <a:rPr lang="zh-CN" altLang="en-US" sz="2400" dirty="0">
                <a:solidFill>
                  <a:schemeClr val="tx1"/>
                </a:solidFill>
                <a:latin typeface="微软雅黑" panose="020B0503020204020204" pitchFamily="34" charset="-122"/>
                <a:ea typeface="微软雅黑" panose="020B0503020204020204" pitchFamily="34" charset="-122"/>
              </a:rPr>
              <a:t>锥状细胞</a:t>
            </a:r>
            <a:r>
              <a:rPr lang="zh-CN" altLang="en-US" sz="2400" b="0" dirty="0">
                <a:solidFill>
                  <a:schemeClr val="tx1"/>
                </a:solidFill>
                <a:latin typeface="微软雅黑" panose="020B0503020204020204" pitchFamily="34" charset="-122"/>
                <a:ea typeface="微软雅黑" panose="020B0503020204020204" pitchFamily="34" charset="-122"/>
              </a:rPr>
              <a:t>可感受亮光和产生色觉。</a:t>
            </a:r>
            <a:endParaRPr lang="en-US" altLang="zh-CN" sz="2400" b="0" dirty="0">
              <a:solidFill>
                <a:schemeClr val="tx1"/>
              </a:solidFill>
              <a:latin typeface="微软雅黑" panose="020B0503020204020204" pitchFamily="34" charset="-122"/>
              <a:ea typeface="微软雅黑" panose="020B0503020204020204" pitchFamily="34" charset="-122"/>
            </a:endParaRPr>
          </a:p>
          <a:p>
            <a:pPr marL="342900" indent="-342900">
              <a:lnSpc>
                <a:spcPct val="120000"/>
              </a:lnSpc>
              <a:spcBef>
                <a:spcPts val="1200"/>
              </a:spcBef>
              <a:buFont typeface="Arial" panose="020B0604020202020204" pitchFamily="34" charset="0"/>
              <a:buChar char="•"/>
            </a:pPr>
            <a:r>
              <a:rPr lang="zh-CN" altLang="en-US" sz="2400" dirty="0">
                <a:solidFill>
                  <a:srgbClr val="0000CC"/>
                </a:solidFill>
                <a:latin typeface="微软雅黑" panose="020B0503020204020204" pitchFamily="34" charset="-122"/>
                <a:ea typeface="微软雅黑" panose="020B0503020204020204" pitchFamily="34" charset="-122"/>
              </a:rPr>
              <a:t>杆状细胞</a:t>
            </a:r>
            <a:r>
              <a:rPr lang="zh-CN" altLang="en-US" sz="2400" b="0" dirty="0">
                <a:solidFill>
                  <a:srgbClr val="0000CC"/>
                </a:solidFill>
                <a:latin typeface="微软雅黑" panose="020B0503020204020204" pitchFamily="34" charset="-122"/>
                <a:ea typeface="微软雅黑" panose="020B0503020204020204" pitchFamily="34" charset="-122"/>
              </a:rPr>
              <a:t>感受弱光或暗光。</a:t>
            </a:r>
          </a:p>
        </p:txBody>
      </p:sp>
    </p:spTree>
    <p:extLst>
      <p:ext uri="{BB962C8B-B14F-4D97-AF65-F5344CB8AC3E}">
        <p14:creationId xmlns:p14="http://schemas.microsoft.com/office/powerpoint/2010/main" val="4078104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22EA1-A53A-111F-ECAF-C94C276F2EDB}"/>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6497C5D9-6C1E-7172-B84A-29F0783F15A0}"/>
              </a:ext>
            </a:extLst>
          </p:cNvPr>
          <p:cNvSpPr>
            <a:spLocks noGrp="1"/>
          </p:cNvSpPr>
          <p:nvPr>
            <p:ph idx="4294967295"/>
          </p:nvPr>
        </p:nvSpPr>
        <p:spPr>
          <a:xfrm>
            <a:off x="1703512" y="476374"/>
            <a:ext cx="7632700" cy="539750"/>
          </a:xfrm>
        </p:spPr>
        <p:txBody>
          <a:bodyPr/>
          <a:lstStyle/>
          <a:p>
            <a:pPr marL="0" indent="0">
              <a:buNone/>
            </a:pPr>
            <a:r>
              <a:rPr lang="en-US" altLang="zh-CN" dirty="0">
                <a:solidFill>
                  <a:srgbClr val="0000CC"/>
                </a:solidFill>
                <a:latin typeface="微软雅黑" panose="020B0503020204020204" pitchFamily="34" charset="-122"/>
                <a:ea typeface="微软雅黑" panose="020B0503020204020204" pitchFamily="34" charset="-122"/>
              </a:rPr>
              <a:t>2. </a:t>
            </a:r>
            <a:r>
              <a:rPr lang="zh-CN" altLang="en-US" dirty="0">
                <a:solidFill>
                  <a:srgbClr val="0000CC"/>
                </a:solidFill>
                <a:latin typeface="微软雅黑" panose="020B0503020204020204" pitchFamily="34" charset="-122"/>
                <a:ea typeface="微软雅黑" panose="020B0503020204020204" pitchFamily="34" charset="-122"/>
              </a:rPr>
              <a:t>视黄酸调控基因表达和细胞生长与分化</a:t>
            </a:r>
          </a:p>
        </p:txBody>
      </p:sp>
      <p:sp>
        <p:nvSpPr>
          <p:cNvPr id="9" name="文本框 8">
            <a:extLst>
              <a:ext uri="{FF2B5EF4-FFF2-40B4-BE49-F238E27FC236}">
                <a16:creationId xmlns:a16="http://schemas.microsoft.com/office/drawing/2014/main" id="{424EFB12-0BFB-38D5-A03A-D5E99A1806AC}"/>
              </a:ext>
            </a:extLst>
          </p:cNvPr>
          <p:cNvSpPr txBox="1"/>
          <p:nvPr/>
        </p:nvSpPr>
        <p:spPr>
          <a:xfrm>
            <a:off x="1703513" y="1016124"/>
            <a:ext cx="9217024" cy="2584810"/>
          </a:xfrm>
          <a:prstGeom prst="rect">
            <a:avLst/>
          </a:prstGeom>
          <a:noFill/>
        </p:spPr>
        <p:txBody>
          <a:bodyPr wrap="square">
            <a:spAutoFit/>
          </a:bodyPr>
          <a:lstStyle/>
          <a:p>
            <a:pPr marL="342900" indent="-342900">
              <a:lnSpc>
                <a:spcPct val="120000"/>
              </a:lnSpc>
              <a:spcBef>
                <a:spcPts val="1200"/>
              </a:spcBef>
              <a:buFont typeface="Arial" panose="020B0604020202020204" pitchFamily="34" charset="0"/>
              <a:buChar char="•"/>
            </a:pPr>
            <a:r>
              <a:rPr lang="zh-CN" altLang="en-US" sz="2000" dirty="0">
                <a:solidFill>
                  <a:srgbClr val="0000CC"/>
                </a:solidFill>
                <a:latin typeface="微软雅黑" panose="020B0503020204020204" pitchFamily="34" charset="-122"/>
                <a:ea typeface="微软雅黑" panose="020B0503020204020204" pitchFamily="34" charset="-122"/>
              </a:rPr>
              <a:t>全反式视黄酸（</a:t>
            </a:r>
            <a:r>
              <a:rPr lang="en-US" altLang="zh-CN" sz="2000" dirty="0">
                <a:solidFill>
                  <a:srgbClr val="0000CC"/>
                </a:solidFill>
                <a:latin typeface="微软雅黑" panose="020B0503020204020204" pitchFamily="34" charset="-122"/>
                <a:ea typeface="微软雅黑" panose="020B0503020204020204" pitchFamily="34" charset="-122"/>
              </a:rPr>
              <a:t>all-trans retinoic acid</a:t>
            </a:r>
            <a:r>
              <a:rPr lang="zh-CN" altLang="en-US" sz="2000" dirty="0">
                <a:solidFill>
                  <a:srgbClr val="0000CC"/>
                </a:solidFill>
                <a:latin typeface="微软雅黑" panose="020B0503020204020204" pitchFamily="34" charset="-122"/>
                <a:ea typeface="微软雅黑" panose="020B0503020204020204" pitchFamily="34" charset="-122"/>
              </a:rPr>
              <a:t>，</a:t>
            </a:r>
            <a:r>
              <a:rPr lang="en-US" altLang="zh-CN" sz="2000" dirty="0">
                <a:solidFill>
                  <a:srgbClr val="0000CC"/>
                </a:solidFill>
                <a:latin typeface="微软雅黑" panose="020B0503020204020204" pitchFamily="34" charset="-122"/>
                <a:ea typeface="微软雅黑" panose="020B0503020204020204" pitchFamily="34" charset="-122"/>
              </a:rPr>
              <a:t>ATRA</a:t>
            </a:r>
            <a:r>
              <a:rPr lang="zh-CN" altLang="en-US" sz="2000" b="0" dirty="0">
                <a:solidFill>
                  <a:schemeClr val="tx1"/>
                </a:solidFill>
                <a:latin typeface="微软雅黑" panose="020B0503020204020204" pitchFamily="34" charset="-122"/>
                <a:ea typeface="微软雅黑" panose="020B0503020204020204" pitchFamily="34" charset="-122"/>
              </a:rPr>
              <a:t>）和</a:t>
            </a:r>
            <a:r>
              <a:rPr lang="en-US" altLang="zh-CN" sz="2000" b="0" dirty="0">
                <a:solidFill>
                  <a:srgbClr val="0000CC"/>
                </a:solidFill>
                <a:latin typeface="微软雅黑" panose="020B0503020204020204" pitchFamily="34" charset="-122"/>
                <a:ea typeface="微软雅黑" panose="020B0503020204020204" pitchFamily="34" charset="-122"/>
              </a:rPr>
              <a:t>9- </a:t>
            </a:r>
            <a:r>
              <a:rPr lang="zh-CN" altLang="en-US" sz="2000" b="0" dirty="0">
                <a:solidFill>
                  <a:srgbClr val="0000CC"/>
                </a:solidFill>
                <a:latin typeface="微软雅黑" panose="020B0503020204020204" pitchFamily="34" charset="-122"/>
                <a:ea typeface="微软雅黑" panose="020B0503020204020204" pitchFamily="34" charset="-122"/>
              </a:rPr>
              <a:t>顺视黄酸</a:t>
            </a:r>
            <a:r>
              <a:rPr lang="zh-CN" altLang="en-US" sz="2000" b="0" dirty="0">
                <a:solidFill>
                  <a:schemeClr val="tx1"/>
                </a:solidFill>
                <a:latin typeface="微软雅黑" panose="020B0503020204020204" pitchFamily="34" charset="-122"/>
                <a:ea typeface="微软雅黑" panose="020B0503020204020204" pitchFamily="34" charset="-122"/>
              </a:rPr>
              <a:t>可与</a:t>
            </a:r>
            <a:r>
              <a:rPr lang="zh-CN" altLang="en-US" sz="2000" dirty="0">
                <a:solidFill>
                  <a:schemeClr val="tx1"/>
                </a:solidFill>
                <a:latin typeface="微软雅黑" panose="020B0503020204020204" pitchFamily="34" charset="-122"/>
                <a:ea typeface="微软雅黑" panose="020B0503020204020204" pitchFamily="34" charset="-122"/>
              </a:rPr>
              <a:t>细胞内核受体</a:t>
            </a:r>
            <a:r>
              <a:rPr lang="zh-CN" altLang="en-US" sz="2000" b="0" dirty="0">
                <a:solidFill>
                  <a:schemeClr val="tx1"/>
                </a:solidFill>
                <a:latin typeface="微软雅黑" panose="020B0503020204020204" pitchFamily="34" charset="-122"/>
                <a:ea typeface="微软雅黑" panose="020B0503020204020204" pitchFamily="34" charset="-122"/>
              </a:rPr>
              <a:t>结合，通过结合</a:t>
            </a:r>
            <a:r>
              <a:rPr lang="en-US" altLang="zh-CN" sz="2000" b="0" dirty="0">
                <a:solidFill>
                  <a:schemeClr val="tx1"/>
                </a:solidFill>
                <a:latin typeface="微软雅黑" panose="020B0503020204020204" pitchFamily="34" charset="-122"/>
                <a:ea typeface="微软雅黑" panose="020B0503020204020204" pitchFamily="34" charset="-122"/>
              </a:rPr>
              <a:t>DNA </a:t>
            </a:r>
            <a:r>
              <a:rPr lang="zh-CN" altLang="en-US" sz="2000" b="0" dirty="0">
                <a:solidFill>
                  <a:schemeClr val="tx1"/>
                </a:solidFill>
                <a:latin typeface="微软雅黑" panose="020B0503020204020204" pitchFamily="34" charset="-122"/>
                <a:ea typeface="微软雅黑" panose="020B0503020204020204" pitchFamily="34" charset="-122"/>
              </a:rPr>
              <a:t>反应元件，通过调节基因表达进而</a:t>
            </a:r>
            <a:r>
              <a:rPr lang="zh-CN" altLang="en-US" sz="2000" b="0" dirty="0">
                <a:solidFill>
                  <a:schemeClr val="tx1">
                    <a:lumMod val="95000"/>
                    <a:lumOff val="5000"/>
                  </a:schemeClr>
                </a:solidFill>
                <a:latin typeface="微软雅黑" panose="020B0503020204020204" pitchFamily="34" charset="-122"/>
                <a:ea typeface="微软雅黑" panose="020B0503020204020204" pitchFamily="34" charset="-122"/>
              </a:rPr>
              <a:t>调控细胞的生长、发育和分化</a:t>
            </a:r>
            <a:r>
              <a:rPr lang="zh-CN" altLang="en-US" sz="2000" b="0" dirty="0">
                <a:solidFill>
                  <a:schemeClr val="tx1"/>
                </a:solidFill>
                <a:latin typeface="微软雅黑" panose="020B0503020204020204" pitchFamily="34" charset="-122"/>
                <a:ea typeface="微软雅黑" panose="020B0503020204020204" pitchFamily="34" charset="-122"/>
              </a:rPr>
              <a:t>。</a:t>
            </a:r>
            <a:endParaRPr lang="en-US" altLang="zh-CN" sz="2000" b="0" dirty="0">
              <a:solidFill>
                <a:schemeClr val="tx1"/>
              </a:solidFill>
              <a:latin typeface="微软雅黑" panose="020B0503020204020204" pitchFamily="34" charset="-122"/>
              <a:ea typeface="微软雅黑" panose="020B0503020204020204" pitchFamily="34" charset="-122"/>
            </a:endParaRPr>
          </a:p>
          <a:p>
            <a:pPr marL="342900" indent="-342900">
              <a:lnSpc>
                <a:spcPct val="120000"/>
              </a:lnSpc>
              <a:spcBef>
                <a:spcPts val="1200"/>
              </a:spcBef>
              <a:buFont typeface="Arial" panose="020B0604020202020204" pitchFamily="34" charset="0"/>
              <a:buChar char="•"/>
            </a:pPr>
            <a:r>
              <a:rPr lang="en-US" altLang="zh-CN" sz="2000" b="0" dirty="0">
                <a:solidFill>
                  <a:srgbClr val="0000CC"/>
                </a:solidFill>
                <a:latin typeface="微软雅黑" panose="020B0503020204020204" pitchFamily="34" charset="-122"/>
                <a:ea typeface="微软雅黑" panose="020B0503020204020204" pitchFamily="34" charset="-122"/>
              </a:rPr>
              <a:t>ATRA </a:t>
            </a:r>
            <a:r>
              <a:rPr lang="zh-CN" altLang="en-US" sz="2000" b="0" dirty="0">
                <a:solidFill>
                  <a:schemeClr val="tx1"/>
                </a:solidFill>
                <a:latin typeface="微软雅黑" panose="020B0503020204020204" pitchFamily="34" charset="-122"/>
                <a:ea typeface="微软雅黑" panose="020B0503020204020204" pitchFamily="34" charset="-122"/>
              </a:rPr>
              <a:t>可参与</a:t>
            </a:r>
            <a:r>
              <a:rPr lang="zh-CN" altLang="en-US" sz="2000" dirty="0">
                <a:solidFill>
                  <a:srgbClr val="0000CC"/>
                </a:solidFill>
                <a:latin typeface="微软雅黑" panose="020B0503020204020204" pitchFamily="34" charset="-122"/>
                <a:ea typeface="微软雅黑" panose="020B0503020204020204" pitchFamily="34" charset="-122"/>
              </a:rPr>
              <a:t>上皮组织的正常角化</a:t>
            </a:r>
            <a:r>
              <a:rPr lang="zh-CN" altLang="en-US" sz="2000" b="0" dirty="0">
                <a:solidFill>
                  <a:schemeClr val="tx1"/>
                </a:solidFill>
                <a:latin typeface="微软雅黑" panose="020B0503020204020204" pitchFamily="34" charset="-122"/>
                <a:ea typeface="微软雅黑" panose="020B0503020204020204" pitchFamily="34" charset="-122"/>
              </a:rPr>
              <a:t>过程而用于</a:t>
            </a:r>
            <a:r>
              <a:rPr lang="zh-CN" altLang="en-US" sz="2000" b="0" dirty="0">
                <a:solidFill>
                  <a:srgbClr val="0000CC"/>
                </a:solidFill>
                <a:latin typeface="微软雅黑" panose="020B0503020204020204" pitchFamily="34" charset="-122"/>
                <a:ea typeface="微软雅黑" panose="020B0503020204020204" pitchFamily="34" charset="-122"/>
              </a:rPr>
              <a:t>银屑病的治疗</a:t>
            </a:r>
            <a:r>
              <a:rPr lang="zh-CN" altLang="en-US" sz="2000" b="0" dirty="0">
                <a:solidFill>
                  <a:schemeClr val="tx1"/>
                </a:solidFill>
                <a:latin typeface="微软雅黑" panose="020B0503020204020204" pitchFamily="34" charset="-122"/>
                <a:ea typeface="微软雅黑" panose="020B0503020204020204" pitchFamily="34" charset="-122"/>
              </a:rPr>
              <a:t>。</a:t>
            </a:r>
            <a:endParaRPr lang="en-US" altLang="zh-CN" sz="2000" b="0" dirty="0">
              <a:solidFill>
                <a:schemeClr val="tx1"/>
              </a:solidFill>
              <a:latin typeface="微软雅黑" panose="020B0503020204020204" pitchFamily="34" charset="-122"/>
              <a:ea typeface="微软雅黑" panose="020B0503020204020204" pitchFamily="34" charset="-122"/>
            </a:endParaRPr>
          </a:p>
          <a:p>
            <a:pPr marL="342900" indent="-342900">
              <a:lnSpc>
                <a:spcPct val="120000"/>
              </a:lnSpc>
              <a:spcBef>
                <a:spcPts val="1200"/>
              </a:spcBef>
              <a:buFont typeface="Arial" panose="020B0604020202020204" pitchFamily="34" charset="0"/>
              <a:buChar char="•"/>
            </a:pPr>
            <a:r>
              <a:rPr lang="zh-CN" altLang="en-US" sz="2000" b="0" dirty="0">
                <a:solidFill>
                  <a:schemeClr val="tx1"/>
                </a:solidFill>
                <a:latin typeface="微软雅黑" panose="020B0503020204020204" pitchFamily="34" charset="-122"/>
                <a:ea typeface="微软雅黑" panose="020B0503020204020204" pitchFamily="34" charset="-122"/>
              </a:rPr>
              <a:t>此外，维生素</a:t>
            </a:r>
            <a:r>
              <a:rPr lang="en-US" altLang="zh-CN" sz="2000" b="0" dirty="0">
                <a:solidFill>
                  <a:schemeClr val="tx1"/>
                </a:solidFill>
                <a:latin typeface="微软雅黑" panose="020B0503020204020204" pitchFamily="34" charset="-122"/>
                <a:ea typeface="微软雅黑" panose="020B0503020204020204" pitchFamily="34" charset="-122"/>
              </a:rPr>
              <a:t>A </a:t>
            </a:r>
            <a:r>
              <a:rPr lang="zh-CN" altLang="en-US" sz="2000" b="0" dirty="0">
                <a:solidFill>
                  <a:schemeClr val="tx1"/>
                </a:solidFill>
                <a:latin typeface="微软雅黑" panose="020B0503020204020204" pitchFamily="34" charset="-122"/>
                <a:ea typeface="微软雅黑" panose="020B0503020204020204" pitchFamily="34" charset="-122"/>
              </a:rPr>
              <a:t>及其衍生物</a:t>
            </a:r>
            <a:r>
              <a:rPr lang="en-US" altLang="zh-CN" sz="2000" b="0" dirty="0">
                <a:solidFill>
                  <a:schemeClr val="tx1"/>
                </a:solidFill>
                <a:latin typeface="微软雅黑" panose="020B0503020204020204" pitchFamily="34" charset="-122"/>
                <a:ea typeface="微软雅黑" panose="020B0503020204020204" pitchFamily="34" charset="-122"/>
              </a:rPr>
              <a:t>ATRA </a:t>
            </a:r>
            <a:r>
              <a:rPr lang="zh-CN" altLang="en-US" sz="2000" b="0" dirty="0">
                <a:solidFill>
                  <a:schemeClr val="tx1"/>
                </a:solidFill>
                <a:latin typeface="微软雅黑" panose="020B0503020204020204" pitchFamily="34" charset="-122"/>
                <a:ea typeface="微软雅黑" panose="020B0503020204020204" pitchFamily="34" charset="-122"/>
              </a:rPr>
              <a:t>具有诱导肿瘤细胞分化和凋亡、增加癌细胞对化疗药物敏感性的作用。</a:t>
            </a:r>
          </a:p>
        </p:txBody>
      </p:sp>
      <p:sp>
        <p:nvSpPr>
          <p:cNvPr id="8" name="文本框 7">
            <a:extLst>
              <a:ext uri="{FF2B5EF4-FFF2-40B4-BE49-F238E27FC236}">
                <a16:creationId xmlns:a16="http://schemas.microsoft.com/office/drawing/2014/main" id="{518FE62C-CD3C-1587-5067-C583906EE715}"/>
              </a:ext>
            </a:extLst>
          </p:cNvPr>
          <p:cNvSpPr txBox="1"/>
          <p:nvPr/>
        </p:nvSpPr>
        <p:spPr>
          <a:xfrm>
            <a:off x="1814661" y="3789041"/>
            <a:ext cx="8133989" cy="497957"/>
          </a:xfrm>
          <a:prstGeom prst="rect">
            <a:avLst/>
          </a:prstGeom>
          <a:noFill/>
        </p:spPr>
        <p:txBody>
          <a:bodyPr wrap="square">
            <a:spAutoFit/>
          </a:bodyPr>
          <a:lstStyle/>
          <a:p>
            <a:pPr>
              <a:lnSpc>
                <a:spcPct val="120000"/>
              </a:lnSpc>
              <a:spcBef>
                <a:spcPts val="1200"/>
              </a:spcBef>
            </a:pPr>
            <a:r>
              <a:rPr lang="en-US" altLang="zh-CN" sz="2400" b="0" dirty="0">
                <a:solidFill>
                  <a:srgbClr val="0000CC"/>
                </a:solidFill>
                <a:latin typeface="微软雅黑" panose="020B0503020204020204" pitchFamily="34" charset="-122"/>
                <a:ea typeface="微软雅黑" panose="020B0503020204020204" pitchFamily="34" charset="-122"/>
              </a:rPr>
              <a:t>3. </a:t>
            </a:r>
            <a:r>
              <a:rPr lang="zh-CN" altLang="en-US" sz="2400" b="0" dirty="0">
                <a:solidFill>
                  <a:srgbClr val="0000CC"/>
                </a:solidFill>
                <a:latin typeface="微软雅黑" panose="020B0503020204020204" pitchFamily="34" charset="-122"/>
                <a:ea typeface="微软雅黑" panose="020B0503020204020204" pitchFamily="34" charset="-122"/>
              </a:rPr>
              <a:t>维生素</a:t>
            </a:r>
            <a:r>
              <a:rPr lang="en-US" altLang="zh-CN" sz="2400" b="0" dirty="0">
                <a:solidFill>
                  <a:srgbClr val="0000CC"/>
                </a:solidFill>
                <a:latin typeface="微软雅黑" panose="020B0503020204020204" pitchFamily="34" charset="-122"/>
                <a:ea typeface="微软雅黑" panose="020B0503020204020204" pitchFamily="34" charset="-122"/>
              </a:rPr>
              <a:t>A </a:t>
            </a:r>
            <a:r>
              <a:rPr lang="zh-CN" altLang="en-US" sz="2400" b="0" dirty="0">
                <a:solidFill>
                  <a:srgbClr val="0000CC"/>
                </a:solidFill>
                <a:latin typeface="微软雅黑" panose="020B0503020204020204" pitchFamily="34" charset="-122"/>
                <a:ea typeface="微软雅黑" panose="020B0503020204020204" pitchFamily="34" charset="-122"/>
              </a:rPr>
              <a:t>是有效的抗氧化剂 </a:t>
            </a:r>
            <a:endParaRPr lang="en-US" altLang="zh-CN" sz="2400" b="0" dirty="0">
              <a:solidFill>
                <a:srgbClr val="0000CC"/>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138A968B-E7A8-ED19-214D-B9519DAF0649}"/>
              </a:ext>
            </a:extLst>
          </p:cNvPr>
          <p:cNvSpPr txBox="1"/>
          <p:nvPr/>
        </p:nvSpPr>
        <p:spPr>
          <a:xfrm>
            <a:off x="1919536" y="4416245"/>
            <a:ext cx="8891531" cy="1169038"/>
          </a:xfrm>
          <a:prstGeom prst="rect">
            <a:avLst/>
          </a:prstGeom>
          <a:noFill/>
        </p:spPr>
        <p:txBody>
          <a:bodyPr wrap="square">
            <a:spAutoFit/>
          </a:bodyPr>
          <a:lstStyle/>
          <a:p>
            <a:pPr marL="342900" indent="-342900">
              <a:lnSpc>
                <a:spcPct val="120000"/>
              </a:lnSpc>
              <a:spcBef>
                <a:spcPts val="1200"/>
              </a:spcBef>
              <a:buFont typeface="Arial" panose="020B0604020202020204" pitchFamily="34" charset="0"/>
              <a:buChar char="•"/>
            </a:pPr>
            <a:r>
              <a:rPr lang="zh-CN" altLang="en-US" sz="2000" b="0" dirty="0">
                <a:solidFill>
                  <a:schemeClr val="tx1"/>
                </a:solidFill>
                <a:latin typeface="微软雅黑" panose="020B0503020204020204" pitchFamily="34" charset="-122"/>
                <a:ea typeface="微软雅黑" panose="020B0503020204020204" pitchFamily="34" charset="-122"/>
              </a:rPr>
              <a:t>维生素</a:t>
            </a:r>
            <a:r>
              <a:rPr lang="en-US" altLang="zh-CN" sz="2000" b="0" dirty="0">
                <a:solidFill>
                  <a:schemeClr val="tx1"/>
                </a:solidFill>
                <a:latin typeface="微软雅黑" panose="020B0503020204020204" pitchFamily="34" charset="-122"/>
                <a:ea typeface="微软雅黑" panose="020B0503020204020204" pitchFamily="34" charset="-122"/>
              </a:rPr>
              <a:t>A </a:t>
            </a:r>
            <a:r>
              <a:rPr lang="zh-CN" altLang="en-US" sz="2000" b="0" dirty="0">
                <a:solidFill>
                  <a:schemeClr val="tx1"/>
                </a:solidFill>
                <a:latin typeface="微软雅黑" panose="020B0503020204020204" pitchFamily="34" charset="-122"/>
                <a:ea typeface="微软雅黑" panose="020B0503020204020204" pitchFamily="34" charset="-122"/>
              </a:rPr>
              <a:t>具有</a:t>
            </a:r>
            <a:r>
              <a:rPr lang="zh-CN" altLang="en-US" sz="2000" b="0" dirty="0">
                <a:solidFill>
                  <a:srgbClr val="0000CC"/>
                </a:solidFill>
                <a:latin typeface="微软雅黑" panose="020B0503020204020204" pitchFamily="34" charset="-122"/>
                <a:ea typeface="微软雅黑" panose="020B0503020204020204" pitchFamily="34" charset="-122"/>
              </a:rPr>
              <a:t>清除活性氧和防止脂质过氧化</a:t>
            </a:r>
            <a:r>
              <a:rPr lang="zh-CN" altLang="en-US" sz="2000" b="0" dirty="0">
                <a:solidFill>
                  <a:schemeClr val="tx1"/>
                </a:solidFill>
                <a:latin typeface="微软雅黑" panose="020B0503020204020204" pitchFamily="34" charset="-122"/>
                <a:ea typeface="微软雅黑" panose="020B0503020204020204" pitchFamily="34" charset="-122"/>
              </a:rPr>
              <a:t>的作用。维生素</a:t>
            </a:r>
            <a:r>
              <a:rPr lang="en-US" altLang="zh-CN" sz="2000" b="0" dirty="0">
                <a:solidFill>
                  <a:schemeClr val="tx1"/>
                </a:solidFill>
                <a:latin typeface="微软雅黑" panose="020B0503020204020204" pitchFamily="34" charset="-122"/>
                <a:ea typeface="微软雅黑" panose="020B0503020204020204" pitchFamily="34" charset="-122"/>
              </a:rPr>
              <a:t>A</a:t>
            </a:r>
            <a:r>
              <a:rPr lang="zh-CN" altLang="en-US" sz="2000" b="0" dirty="0">
                <a:solidFill>
                  <a:schemeClr val="tx1"/>
                </a:solidFill>
                <a:latin typeface="微软雅黑" panose="020B0503020204020204" pitchFamily="34" charset="-122"/>
                <a:ea typeface="微软雅黑" panose="020B0503020204020204" pitchFamily="34" charset="-122"/>
              </a:rPr>
              <a:t>主要通过调控硫氧还蛋白还原酶的基因表达及相关信号通路，影响</a:t>
            </a:r>
            <a:r>
              <a:rPr lang="en-US" altLang="zh-CN" sz="2000" b="0" dirty="0">
                <a:solidFill>
                  <a:schemeClr val="tx1"/>
                </a:solidFill>
                <a:latin typeface="微软雅黑" panose="020B0503020204020204" pitchFamily="34" charset="-122"/>
                <a:ea typeface="微软雅黑" panose="020B0503020204020204" pitchFamily="34" charset="-122"/>
              </a:rPr>
              <a:t>NO </a:t>
            </a:r>
            <a:r>
              <a:rPr lang="zh-CN" altLang="en-US" sz="2000" b="0" dirty="0">
                <a:solidFill>
                  <a:schemeClr val="tx1"/>
                </a:solidFill>
                <a:latin typeface="微软雅黑" panose="020B0503020204020204" pitchFamily="34" charset="-122"/>
                <a:ea typeface="微软雅黑" panose="020B0503020204020204" pitchFamily="34" charset="-122"/>
              </a:rPr>
              <a:t>的生成，从而发挥其抗氧化功能。 </a:t>
            </a:r>
          </a:p>
        </p:txBody>
      </p:sp>
    </p:spTree>
    <p:extLst>
      <p:ext uri="{BB962C8B-B14F-4D97-AF65-F5344CB8AC3E}">
        <p14:creationId xmlns:p14="http://schemas.microsoft.com/office/powerpoint/2010/main" val="2719448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8C2E5-C216-8029-B567-1F0B1D8DCBD5}"/>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C98D0877-28BA-DE48-2E25-FC1D77C6F15A}"/>
              </a:ext>
            </a:extLst>
          </p:cNvPr>
          <p:cNvSpPr>
            <a:spLocks noGrp="1"/>
          </p:cNvSpPr>
          <p:nvPr>
            <p:ph idx="4294967295"/>
          </p:nvPr>
        </p:nvSpPr>
        <p:spPr>
          <a:xfrm>
            <a:off x="2063552" y="620688"/>
            <a:ext cx="7632700" cy="539750"/>
          </a:xfrm>
        </p:spPr>
        <p:txBody>
          <a:bodyPr/>
          <a:lstStyle/>
          <a:p>
            <a:pPr marL="0" indent="0" algn="ctr">
              <a:buNone/>
            </a:pPr>
            <a:r>
              <a:rPr lang="zh-CN" altLang="en-US" sz="3200" dirty="0">
                <a:solidFill>
                  <a:srgbClr val="0000CC"/>
                </a:solidFill>
                <a:latin typeface="微软雅黑" panose="020B0503020204020204" pitchFamily="34" charset="-122"/>
                <a:ea typeface="微软雅黑" panose="020B0503020204020204" pitchFamily="34" charset="-122"/>
              </a:rPr>
              <a:t>维生素</a:t>
            </a:r>
            <a:r>
              <a:rPr lang="en-US" altLang="zh-CN" sz="3200" dirty="0">
                <a:solidFill>
                  <a:srgbClr val="0000CC"/>
                </a:solidFill>
                <a:latin typeface="微软雅黑" panose="020B0503020204020204" pitchFamily="34" charset="-122"/>
                <a:ea typeface="微软雅黑" panose="020B0503020204020204" pitchFamily="34" charset="-122"/>
              </a:rPr>
              <a:t>A </a:t>
            </a:r>
            <a:r>
              <a:rPr lang="zh-CN" altLang="en-US" sz="3200" dirty="0">
                <a:solidFill>
                  <a:srgbClr val="0000CC"/>
                </a:solidFill>
                <a:latin typeface="微软雅黑" panose="020B0503020204020204" pitchFamily="34" charset="-122"/>
                <a:ea typeface="微软雅黑" panose="020B0503020204020204" pitchFamily="34" charset="-122"/>
              </a:rPr>
              <a:t>缺乏症可致夜盲症和眼干燥症</a:t>
            </a:r>
          </a:p>
        </p:txBody>
      </p:sp>
      <p:sp>
        <p:nvSpPr>
          <p:cNvPr id="9" name="文本框 8">
            <a:extLst>
              <a:ext uri="{FF2B5EF4-FFF2-40B4-BE49-F238E27FC236}">
                <a16:creationId xmlns:a16="http://schemas.microsoft.com/office/drawing/2014/main" id="{97FAB0D8-498C-4F8C-0A1D-568E7ABD4235}"/>
              </a:ext>
            </a:extLst>
          </p:cNvPr>
          <p:cNvSpPr txBox="1"/>
          <p:nvPr/>
        </p:nvSpPr>
        <p:spPr>
          <a:xfrm>
            <a:off x="1343472" y="1484784"/>
            <a:ext cx="10009112" cy="4363759"/>
          </a:xfrm>
          <a:prstGeom prst="rect">
            <a:avLst/>
          </a:prstGeom>
          <a:noFill/>
        </p:spPr>
        <p:txBody>
          <a:bodyPr wrap="square">
            <a:spAutoFit/>
          </a:bodyPr>
          <a:lstStyle/>
          <a:p>
            <a:pPr marL="457200" indent="-457200">
              <a:lnSpc>
                <a:spcPct val="120000"/>
              </a:lnSpc>
              <a:spcBef>
                <a:spcPts val="1200"/>
              </a:spcBef>
              <a:buFont typeface="+mj-lt"/>
              <a:buAutoNum type="arabicPeriod"/>
            </a:pPr>
            <a:r>
              <a:rPr lang="zh-CN" altLang="en-US" sz="2400" b="0" dirty="0">
                <a:solidFill>
                  <a:schemeClr val="tx1"/>
                </a:solidFill>
                <a:latin typeface="微软雅黑" panose="020B0503020204020204" pitchFamily="34" charset="-122"/>
                <a:ea typeface="微软雅黑" panose="020B0503020204020204" pitchFamily="34" charset="-122"/>
              </a:rPr>
              <a:t>若</a:t>
            </a:r>
            <a:r>
              <a:rPr lang="en-US" altLang="zh-CN" sz="2400" b="0" dirty="0">
                <a:solidFill>
                  <a:srgbClr val="0000CC"/>
                </a:solidFill>
                <a:latin typeface="微软雅黑" panose="020B0503020204020204" pitchFamily="34" charset="-122"/>
                <a:ea typeface="微软雅黑" panose="020B0503020204020204" pitchFamily="34" charset="-122"/>
              </a:rPr>
              <a:t>11- </a:t>
            </a:r>
            <a:r>
              <a:rPr lang="zh-CN" altLang="en-US" sz="2400" b="0" dirty="0">
                <a:solidFill>
                  <a:srgbClr val="0000CC"/>
                </a:solidFill>
                <a:latin typeface="微软雅黑" panose="020B0503020204020204" pitchFamily="34" charset="-122"/>
                <a:ea typeface="微软雅黑" panose="020B0503020204020204" pitchFamily="34" charset="-122"/>
              </a:rPr>
              <a:t>顺视黄醛不足</a:t>
            </a:r>
            <a:r>
              <a:rPr lang="zh-CN" altLang="en-US" sz="2400" b="0" dirty="0">
                <a:solidFill>
                  <a:schemeClr val="tx1"/>
                </a:solidFill>
                <a:latin typeface="微软雅黑" panose="020B0503020204020204" pitchFamily="34" charset="-122"/>
                <a:ea typeface="微软雅黑" panose="020B0503020204020204" pitchFamily="34" charset="-122"/>
              </a:rPr>
              <a:t>，视紫红质合成减少，</a:t>
            </a:r>
            <a:r>
              <a:rPr lang="zh-CN" altLang="en-US" sz="2400" b="0" dirty="0">
                <a:solidFill>
                  <a:srgbClr val="0000CC"/>
                </a:solidFill>
                <a:latin typeface="微软雅黑" panose="020B0503020204020204" pitchFamily="34" charset="-122"/>
                <a:ea typeface="微软雅黑" panose="020B0503020204020204" pitchFamily="34" charset="-122"/>
              </a:rPr>
              <a:t>对弱光敏感性降低</a:t>
            </a:r>
            <a:r>
              <a:rPr lang="zh-CN" altLang="en-US" sz="2400" b="0" dirty="0">
                <a:solidFill>
                  <a:schemeClr val="tx1"/>
                </a:solidFill>
                <a:latin typeface="微软雅黑" panose="020B0503020204020204" pitchFamily="34" charset="-122"/>
                <a:ea typeface="微软雅黑" panose="020B0503020204020204" pitchFamily="34" charset="-122"/>
              </a:rPr>
              <a:t>，从明处到暗处看清物质所需的时间即</a:t>
            </a:r>
            <a:r>
              <a:rPr lang="zh-CN" altLang="en-US" sz="2400" b="0" dirty="0">
                <a:solidFill>
                  <a:srgbClr val="0000CC"/>
                </a:solidFill>
                <a:latin typeface="微软雅黑" panose="020B0503020204020204" pitchFamily="34" charset="-122"/>
                <a:ea typeface="微软雅黑" panose="020B0503020204020204" pitchFamily="34" charset="-122"/>
              </a:rPr>
              <a:t>暗适应时间延长</a:t>
            </a:r>
            <a:r>
              <a:rPr lang="zh-CN" altLang="en-US" sz="2400" b="0" dirty="0">
                <a:solidFill>
                  <a:schemeClr val="tx1"/>
                </a:solidFill>
                <a:latin typeface="微软雅黑" panose="020B0503020204020204" pitchFamily="34" charset="-122"/>
                <a:ea typeface="微软雅黑" panose="020B0503020204020204" pitchFamily="34" charset="-122"/>
              </a:rPr>
              <a:t>，严重时导致</a:t>
            </a:r>
            <a:r>
              <a:rPr lang="zh-CN" altLang="en-US" sz="2400" dirty="0">
                <a:solidFill>
                  <a:srgbClr val="C00000"/>
                </a:solidFill>
                <a:latin typeface="微软雅黑" panose="020B0503020204020204" pitchFamily="34" charset="-122"/>
                <a:ea typeface="微软雅黑" panose="020B0503020204020204" pitchFamily="34" charset="-122"/>
              </a:rPr>
              <a:t>夜盲症</a:t>
            </a:r>
            <a:r>
              <a:rPr lang="zh-CN" altLang="en-US" sz="2400" b="0" dirty="0">
                <a:solidFill>
                  <a:srgbClr val="0000CC"/>
                </a:solidFill>
                <a:latin typeface="微软雅黑" panose="020B0503020204020204" pitchFamily="34" charset="-122"/>
                <a:ea typeface="微软雅黑" panose="020B0503020204020204" pitchFamily="34" charset="-122"/>
              </a:rPr>
              <a:t>（</a:t>
            </a:r>
            <a:r>
              <a:rPr lang="en-US" altLang="zh-CN" sz="2400" b="0" dirty="0">
                <a:solidFill>
                  <a:srgbClr val="0000CC"/>
                </a:solidFill>
                <a:latin typeface="微软雅黑" panose="020B0503020204020204" pitchFamily="34" charset="-122"/>
                <a:ea typeface="微软雅黑" panose="020B0503020204020204" pitchFamily="34" charset="-122"/>
              </a:rPr>
              <a:t>nyctalopia</a:t>
            </a:r>
            <a:r>
              <a:rPr lang="zh-CN" altLang="en-US" sz="2400" b="0" dirty="0">
                <a:solidFill>
                  <a:srgbClr val="0000CC"/>
                </a:solidFill>
                <a:latin typeface="微软雅黑" panose="020B0503020204020204" pitchFamily="34" charset="-122"/>
                <a:ea typeface="微软雅黑" panose="020B0503020204020204" pitchFamily="34" charset="-122"/>
              </a:rPr>
              <a:t>）</a:t>
            </a:r>
            <a:r>
              <a:rPr lang="zh-CN" altLang="en-US" sz="2400" b="0" dirty="0">
                <a:solidFill>
                  <a:schemeClr val="tx1"/>
                </a:solidFill>
                <a:latin typeface="微软雅黑" panose="020B0503020204020204" pitchFamily="34" charset="-122"/>
                <a:ea typeface="微软雅黑" panose="020B0503020204020204" pitchFamily="34" charset="-122"/>
              </a:rPr>
              <a:t>。</a:t>
            </a:r>
            <a:endParaRPr lang="en-US" altLang="zh-CN" sz="2400" b="0" dirty="0">
              <a:solidFill>
                <a:schemeClr val="tx1"/>
              </a:solidFill>
              <a:latin typeface="微软雅黑" panose="020B0503020204020204" pitchFamily="34" charset="-122"/>
              <a:ea typeface="微软雅黑" panose="020B0503020204020204" pitchFamily="34" charset="-122"/>
            </a:endParaRPr>
          </a:p>
          <a:p>
            <a:pPr marL="457200" indent="-457200">
              <a:lnSpc>
                <a:spcPct val="120000"/>
              </a:lnSpc>
              <a:spcBef>
                <a:spcPts val="1200"/>
              </a:spcBef>
              <a:buFont typeface="+mj-lt"/>
              <a:buAutoNum type="arabicPeriod"/>
            </a:pPr>
            <a:r>
              <a:rPr lang="zh-CN" altLang="en-US" sz="2400" b="0" dirty="0">
                <a:solidFill>
                  <a:srgbClr val="0000CC"/>
                </a:solidFill>
                <a:latin typeface="微软雅黑" panose="020B0503020204020204" pitchFamily="34" charset="-122"/>
                <a:ea typeface="微软雅黑" panose="020B0503020204020204" pitchFamily="34" charset="-122"/>
              </a:rPr>
              <a:t>维生素</a:t>
            </a:r>
            <a:r>
              <a:rPr lang="en-US" altLang="zh-CN" sz="2400" b="0" dirty="0">
                <a:solidFill>
                  <a:srgbClr val="0000CC"/>
                </a:solidFill>
                <a:latin typeface="微软雅黑" panose="020B0503020204020204" pitchFamily="34" charset="-122"/>
                <a:ea typeface="微软雅黑" panose="020B0503020204020204" pitchFamily="34" charset="-122"/>
              </a:rPr>
              <a:t>A </a:t>
            </a:r>
            <a:r>
              <a:rPr lang="zh-CN" altLang="en-US" sz="2400" b="0" dirty="0">
                <a:solidFill>
                  <a:srgbClr val="0000CC"/>
                </a:solidFill>
                <a:latin typeface="微软雅黑" panose="020B0503020204020204" pitchFamily="34" charset="-122"/>
                <a:ea typeface="微软雅黑" panose="020B0503020204020204" pitchFamily="34" charset="-122"/>
              </a:rPr>
              <a:t>缺乏</a:t>
            </a:r>
            <a:r>
              <a:rPr lang="zh-CN" altLang="en-US" sz="2400" b="0" dirty="0">
                <a:solidFill>
                  <a:schemeClr val="tx1"/>
                </a:solidFill>
                <a:latin typeface="微软雅黑" panose="020B0503020204020204" pitchFamily="34" charset="-122"/>
                <a:ea typeface="微软雅黑" panose="020B0503020204020204" pitchFamily="34" charset="-122"/>
              </a:rPr>
              <a:t>可引起眼结膜黏液分泌细胞的丢失与角化，以及糖蛋白分泌的减少均可引起角膜干燥，出现</a:t>
            </a:r>
            <a:r>
              <a:rPr lang="zh-CN" altLang="en-US" sz="2400" dirty="0">
                <a:solidFill>
                  <a:srgbClr val="C00000"/>
                </a:solidFill>
                <a:latin typeface="微软雅黑" panose="020B0503020204020204" pitchFamily="34" charset="-122"/>
                <a:ea typeface="微软雅黑" panose="020B0503020204020204" pitchFamily="34" charset="-122"/>
              </a:rPr>
              <a:t>眼干燥症</a:t>
            </a:r>
            <a:r>
              <a:rPr lang="zh-CN" altLang="en-US" sz="2400" b="0" dirty="0">
                <a:solidFill>
                  <a:srgbClr val="0000CC"/>
                </a:solidFill>
                <a:latin typeface="微软雅黑" panose="020B0503020204020204" pitchFamily="34" charset="-122"/>
                <a:ea typeface="微软雅黑" panose="020B0503020204020204" pitchFamily="34" charset="-122"/>
              </a:rPr>
              <a:t>（</a:t>
            </a:r>
            <a:r>
              <a:rPr lang="en-US" altLang="zh-CN" sz="2400" b="0" dirty="0">
                <a:solidFill>
                  <a:srgbClr val="0000CC"/>
                </a:solidFill>
                <a:latin typeface="微软雅黑" panose="020B0503020204020204" pitchFamily="34" charset="-122"/>
                <a:ea typeface="微软雅黑" panose="020B0503020204020204" pitchFamily="34" charset="-122"/>
              </a:rPr>
              <a:t>xerophthalmia</a:t>
            </a:r>
            <a:r>
              <a:rPr lang="zh-CN" altLang="en-US" sz="2400" b="0" dirty="0">
                <a:solidFill>
                  <a:schemeClr val="tx1"/>
                </a:solidFill>
                <a:latin typeface="微软雅黑" panose="020B0503020204020204" pitchFamily="34" charset="-122"/>
                <a:ea typeface="微软雅黑" panose="020B0503020204020204" pitchFamily="34" charset="-122"/>
              </a:rPr>
              <a:t>）。</a:t>
            </a:r>
            <a:endParaRPr lang="en-US" altLang="zh-CN" sz="2400" b="0" dirty="0">
              <a:solidFill>
                <a:schemeClr val="tx1"/>
              </a:solidFill>
              <a:latin typeface="微软雅黑" panose="020B0503020204020204" pitchFamily="34" charset="-122"/>
              <a:ea typeface="微软雅黑" panose="020B0503020204020204" pitchFamily="34" charset="-122"/>
            </a:endParaRPr>
          </a:p>
          <a:p>
            <a:pPr>
              <a:lnSpc>
                <a:spcPct val="120000"/>
              </a:lnSpc>
              <a:spcBef>
                <a:spcPts val="1200"/>
              </a:spcBef>
            </a:pPr>
            <a:r>
              <a:rPr lang="zh-CN" altLang="en-US" sz="2400" b="0" dirty="0">
                <a:solidFill>
                  <a:schemeClr val="tx1"/>
                </a:solidFill>
                <a:latin typeface="微软雅黑" panose="020B0503020204020204" pitchFamily="34" charset="-122"/>
                <a:ea typeface="微软雅黑" panose="020B0503020204020204" pitchFamily="34" charset="-122"/>
              </a:rPr>
              <a:t>      我国严重维生素</a:t>
            </a:r>
            <a:r>
              <a:rPr lang="en-US" altLang="zh-CN" sz="2400" b="0" dirty="0">
                <a:solidFill>
                  <a:schemeClr val="tx1"/>
                </a:solidFill>
                <a:latin typeface="微软雅黑" panose="020B0503020204020204" pitchFamily="34" charset="-122"/>
                <a:ea typeface="微软雅黑" panose="020B0503020204020204" pitchFamily="34" charset="-122"/>
              </a:rPr>
              <a:t>A</a:t>
            </a:r>
            <a:r>
              <a:rPr lang="zh-CN" altLang="en-US" sz="2400" b="0" dirty="0">
                <a:solidFill>
                  <a:schemeClr val="tx1"/>
                </a:solidFill>
                <a:latin typeface="微软雅黑" panose="020B0503020204020204" pitchFamily="34" charset="-122"/>
                <a:ea typeface="微软雅黑" panose="020B0503020204020204" pitchFamily="34" charset="-122"/>
              </a:rPr>
              <a:t>缺乏少见，但轻度缺乏常见。</a:t>
            </a:r>
          </a:p>
          <a:p>
            <a:pPr marL="342900" indent="-342900">
              <a:lnSpc>
                <a:spcPct val="120000"/>
              </a:lnSpc>
              <a:spcBef>
                <a:spcPts val="1200"/>
              </a:spcBef>
              <a:buFont typeface="Arial" panose="020B0604020202020204" pitchFamily="34" charset="0"/>
              <a:buChar char="•"/>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长期过量摄入维生素</a:t>
            </a: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rPr>
              <a:t>A </a:t>
            </a: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可出现中毒</a:t>
            </a: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rPr>
              <a:t>，</a:t>
            </a:r>
            <a:r>
              <a:rPr lang="zh-CN" altLang="en-US" sz="2000" b="0" dirty="0">
                <a:solidFill>
                  <a:schemeClr val="tx1"/>
                </a:solidFill>
                <a:latin typeface="微软雅黑" panose="020B0503020204020204" pitchFamily="34" charset="-122"/>
                <a:ea typeface="微软雅黑" panose="020B0503020204020204" pitchFamily="34" charset="-122"/>
              </a:rPr>
              <a:t>其症状主要有头痛、恶心、共济失调等中枢神经系统表现；肝细胞损伤和高脂血症；长骨增厚、高钙血症等钙稳态失调表现以及皮肤干燥、脱屑和脱发等表现。</a:t>
            </a:r>
          </a:p>
        </p:txBody>
      </p:sp>
    </p:spTree>
    <p:extLst>
      <p:ext uri="{BB962C8B-B14F-4D97-AF65-F5344CB8AC3E}">
        <p14:creationId xmlns:p14="http://schemas.microsoft.com/office/powerpoint/2010/main" val="2464069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6" name="Text Box 8">
            <a:extLst>
              <a:ext uri="{FF2B5EF4-FFF2-40B4-BE49-F238E27FC236}">
                <a16:creationId xmlns:a16="http://schemas.microsoft.com/office/drawing/2014/main" id="{94549C16-064C-43BB-84CE-C4C2AC73DB91}"/>
              </a:ext>
            </a:extLst>
          </p:cNvPr>
          <p:cNvSpPr txBox="1">
            <a:spLocks noChangeArrowheads="1"/>
          </p:cNvSpPr>
          <p:nvPr/>
        </p:nvSpPr>
        <p:spPr bwMode="auto">
          <a:xfrm>
            <a:off x="1847528" y="692696"/>
            <a:ext cx="9505056" cy="5447004"/>
          </a:xfrm>
          <a:prstGeom prst="rect">
            <a:avLst/>
          </a:prstGeom>
          <a:noFill/>
          <a:ln w="9525">
            <a:noFill/>
            <a:miter lim="800000"/>
            <a:headEnd/>
            <a:tailEnd/>
          </a:ln>
          <a:effectLst/>
        </p:spPr>
        <p:txBody>
          <a:bodyPr wrap="square">
            <a:spAutoFit/>
          </a:bodyPr>
          <a:lstStyle/>
          <a:p>
            <a:pPr marL="342900" indent="-342900" eaLnBrk="1" hangingPunct="1">
              <a:lnSpc>
                <a:spcPct val="110000"/>
              </a:lnSpc>
              <a:spcBef>
                <a:spcPct val="50000"/>
              </a:spcBef>
              <a:buFont typeface="Arial" panose="020B0604020202020204" pitchFamily="34" charset="0"/>
              <a:buChar char="•"/>
              <a:defRPr/>
            </a:pPr>
            <a:r>
              <a:rPr lang="zh-CN" altLang="en-US" sz="2400" b="0" dirty="0">
                <a:solidFill>
                  <a:schemeClr val="tx1">
                    <a:lumMod val="95000"/>
                    <a:lumOff val="5000"/>
                  </a:schemeClr>
                </a:solidFill>
              </a:rPr>
              <a:t>中国成人</a:t>
            </a:r>
            <a:r>
              <a:rPr lang="zh-CN" altLang="en-US" sz="2400" b="0" dirty="0">
                <a:solidFill>
                  <a:srgbClr val="0000CC"/>
                </a:solidFill>
              </a:rPr>
              <a:t>男性膳食</a:t>
            </a:r>
            <a:r>
              <a:rPr lang="zh-CN" altLang="en-US" sz="2400" b="0" dirty="0">
                <a:solidFill>
                  <a:srgbClr val="3333CC"/>
                </a:solidFill>
              </a:rPr>
              <a:t>维生素</a:t>
            </a:r>
            <a:r>
              <a:rPr lang="en-US" altLang="zh-CN" sz="2400" b="0" dirty="0">
                <a:solidFill>
                  <a:srgbClr val="3333CC"/>
                </a:solidFill>
              </a:rPr>
              <a:t>A </a:t>
            </a:r>
            <a:r>
              <a:rPr lang="zh-CN" altLang="en-US" sz="2400" b="0" dirty="0">
                <a:solidFill>
                  <a:srgbClr val="3333CC"/>
                </a:solidFill>
              </a:rPr>
              <a:t>的推荐摄入量</a:t>
            </a:r>
            <a:r>
              <a:rPr lang="zh-CN" altLang="en-US" sz="2400" b="0" dirty="0">
                <a:solidFill>
                  <a:schemeClr val="tx1">
                    <a:lumMod val="95000"/>
                    <a:lumOff val="5000"/>
                  </a:schemeClr>
                </a:solidFill>
              </a:rPr>
              <a:t>（</a:t>
            </a:r>
            <a:r>
              <a:rPr lang="en-US" altLang="zh-CN" sz="2400" dirty="0">
                <a:solidFill>
                  <a:schemeClr val="tx1">
                    <a:lumMod val="95000"/>
                    <a:lumOff val="5000"/>
                  </a:schemeClr>
                </a:solidFill>
              </a:rPr>
              <a:t>recommended nutrient intake</a:t>
            </a:r>
            <a:r>
              <a:rPr lang="zh-CN" altLang="en-US" sz="2400" dirty="0">
                <a:solidFill>
                  <a:schemeClr val="tx1">
                    <a:lumMod val="95000"/>
                    <a:lumOff val="5000"/>
                  </a:schemeClr>
                </a:solidFill>
              </a:rPr>
              <a:t>，</a:t>
            </a:r>
            <a:r>
              <a:rPr lang="en-US" altLang="zh-CN" sz="2400" dirty="0">
                <a:solidFill>
                  <a:schemeClr val="tx1">
                    <a:lumMod val="95000"/>
                    <a:lumOff val="5000"/>
                  </a:schemeClr>
                </a:solidFill>
              </a:rPr>
              <a:t>RNI</a:t>
            </a:r>
            <a:r>
              <a:rPr lang="zh-CN" altLang="en-US" sz="2400" b="0" dirty="0">
                <a:solidFill>
                  <a:schemeClr val="tx1">
                    <a:lumMod val="95000"/>
                    <a:lumOff val="5000"/>
                  </a:schemeClr>
                </a:solidFill>
              </a:rPr>
              <a:t>）为</a:t>
            </a:r>
            <a:r>
              <a:rPr lang="en-US" altLang="zh-CN" sz="2400" b="0" dirty="0">
                <a:solidFill>
                  <a:srgbClr val="3333CC"/>
                </a:solidFill>
              </a:rPr>
              <a:t>770</a:t>
            </a:r>
            <a:r>
              <a:rPr lang="el-GR" altLang="zh-CN" sz="2400" b="0" dirty="0">
                <a:solidFill>
                  <a:srgbClr val="3333CC"/>
                </a:solidFill>
              </a:rPr>
              <a:t>μ</a:t>
            </a:r>
            <a:r>
              <a:rPr lang="en-US" altLang="zh-CN" sz="2400" b="0" dirty="0">
                <a:solidFill>
                  <a:srgbClr val="3333CC"/>
                </a:solidFill>
              </a:rPr>
              <a:t>g/d </a:t>
            </a:r>
            <a:r>
              <a:rPr lang="zh-CN" altLang="en-US" sz="2400" b="0" dirty="0">
                <a:solidFill>
                  <a:schemeClr val="tx1">
                    <a:lumMod val="95000"/>
                    <a:lumOff val="5000"/>
                  </a:schemeClr>
                </a:solidFill>
              </a:rPr>
              <a:t>的视黄醇活性当量（</a:t>
            </a:r>
            <a:r>
              <a:rPr lang="en-US" altLang="zh-CN" sz="2400" b="0" dirty="0">
                <a:solidFill>
                  <a:schemeClr val="tx1">
                    <a:lumMod val="95000"/>
                    <a:lumOff val="5000"/>
                  </a:schemeClr>
                </a:solidFill>
              </a:rPr>
              <a:t>retinol activity equivalent</a:t>
            </a:r>
            <a:r>
              <a:rPr lang="zh-CN" altLang="en-US" sz="2400" b="0" dirty="0">
                <a:solidFill>
                  <a:schemeClr val="tx1">
                    <a:lumMod val="95000"/>
                    <a:lumOff val="5000"/>
                  </a:schemeClr>
                </a:solidFill>
              </a:rPr>
              <a:t>，</a:t>
            </a:r>
            <a:r>
              <a:rPr lang="en-US" altLang="zh-CN" sz="2400" b="0" dirty="0">
                <a:solidFill>
                  <a:schemeClr val="tx1">
                    <a:lumMod val="95000"/>
                    <a:lumOff val="5000"/>
                  </a:schemeClr>
                </a:solidFill>
              </a:rPr>
              <a:t>RAE</a:t>
            </a:r>
            <a:r>
              <a:rPr lang="zh-CN" altLang="en-US" sz="2400" b="0" dirty="0">
                <a:solidFill>
                  <a:schemeClr val="tx1">
                    <a:lumMod val="95000"/>
                    <a:lumOff val="5000"/>
                  </a:schemeClr>
                </a:solidFill>
              </a:rPr>
              <a:t>）</a:t>
            </a:r>
            <a:r>
              <a:rPr lang="zh-CN" altLang="en-US" sz="2400" b="0" dirty="0">
                <a:solidFill>
                  <a:srgbClr val="3333CC"/>
                </a:solidFill>
              </a:rPr>
              <a:t>，成人女性为</a:t>
            </a:r>
            <a:r>
              <a:rPr lang="en-US" altLang="zh-CN" sz="2400" b="0" dirty="0">
                <a:solidFill>
                  <a:srgbClr val="3333CC"/>
                </a:solidFill>
              </a:rPr>
              <a:t>660</a:t>
            </a:r>
            <a:r>
              <a:rPr lang="el-GR" altLang="zh-CN" sz="2400" b="0" dirty="0">
                <a:solidFill>
                  <a:srgbClr val="3333CC"/>
                </a:solidFill>
              </a:rPr>
              <a:t>μ</a:t>
            </a:r>
            <a:r>
              <a:rPr lang="en-US" altLang="zh-CN" sz="2400" b="0" dirty="0">
                <a:solidFill>
                  <a:srgbClr val="3333CC"/>
                </a:solidFill>
              </a:rPr>
              <a:t>g/d</a:t>
            </a:r>
            <a:r>
              <a:rPr lang="zh-CN" altLang="en-US" sz="2400" b="0" dirty="0">
                <a:solidFill>
                  <a:srgbClr val="3333CC"/>
                </a:solidFill>
              </a:rPr>
              <a:t>。</a:t>
            </a:r>
            <a:endParaRPr lang="en-US" altLang="zh-CN" sz="2400" b="0" dirty="0">
              <a:solidFill>
                <a:srgbClr val="3333CC"/>
              </a:solidFill>
            </a:endParaRPr>
          </a:p>
          <a:p>
            <a:pPr eaLnBrk="1" hangingPunct="1">
              <a:lnSpc>
                <a:spcPct val="110000"/>
              </a:lnSpc>
              <a:spcBef>
                <a:spcPct val="50000"/>
              </a:spcBef>
              <a:defRPr/>
            </a:pPr>
            <a:r>
              <a:rPr lang="en-US" altLang="zh-CN" sz="2400" b="0" dirty="0">
                <a:solidFill>
                  <a:srgbClr val="3333CC"/>
                </a:solidFill>
              </a:rPr>
              <a:t>     </a:t>
            </a:r>
            <a:r>
              <a:rPr lang="zh-CN" altLang="en-US" sz="2400" b="0" dirty="0">
                <a:solidFill>
                  <a:srgbClr val="3333CC"/>
                </a:solidFill>
              </a:rPr>
              <a:t>成年人每日摄入上限为</a:t>
            </a:r>
            <a:r>
              <a:rPr lang="en-US" altLang="zh-CN" sz="2400" b="0" dirty="0">
                <a:solidFill>
                  <a:srgbClr val="3333CC"/>
                </a:solidFill>
              </a:rPr>
              <a:t>3000ug </a:t>
            </a:r>
            <a:r>
              <a:rPr lang="zh-CN" altLang="en-US" sz="2400" b="0" dirty="0">
                <a:solidFill>
                  <a:srgbClr val="3333CC"/>
                </a:solidFill>
              </a:rPr>
              <a:t>，即</a:t>
            </a:r>
            <a:r>
              <a:rPr lang="en-US" altLang="zh-CN" sz="2400" b="0" dirty="0">
                <a:solidFill>
                  <a:srgbClr val="3333CC"/>
                </a:solidFill>
              </a:rPr>
              <a:t>10000IU </a:t>
            </a:r>
          </a:p>
          <a:p>
            <a:pPr marL="342900" indent="-342900" eaLnBrk="1" hangingPunct="1">
              <a:spcBef>
                <a:spcPct val="50000"/>
              </a:spcBef>
              <a:buFont typeface="Arial" panose="020B0604020202020204" pitchFamily="34" charset="0"/>
              <a:buChar char="•"/>
              <a:defRPr/>
            </a:pPr>
            <a:r>
              <a:rPr lang="zh-CN" altLang="en-US" sz="2400" b="0" dirty="0">
                <a:solidFill>
                  <a:schemeClr val="tx1"/>
                </a:solidFill>
              </a:rPr>
              <a:t>一般摄入量超过需要量的 </a:t>
            </a:r>
            <a:r>
              <a:rPr lang="en-US" altLang="zh-CN" sz="2400" b="0" dirty="0">
                <a:solidFill>
                  <a:schemeClr val="tx1"/>
                </a:solidFill>
              </a:rPr>
              <a:t>5~10</a:t>
            </a:r>
            <a:r>
              <a:rPr lang="zh-CN" altLang="en-US" sz="2400" b="0" dirty="0">
                <a:solidFill>
                  <a:schemeClr val="tx1"/>
                </a:solidFill>
              </a:rPr>
              <a:t>倍会引起中毒。</a:t>
            </a:r>
            <a:endParaRPr lang="en-US" altLang="zh-CN" sz="2400" b="0" dirty="0">
              <a:solidFill>
                <a:schemeClr val="tx1"/>
              </a:solidFill>
            </a:endParaRPr>
          </a:p>
          <a:p>
            <a:pPr>
              <a:lnSpc>
                <a:spcPct val="120000"/>
              </a:lnSpc>
              <a:defRPr/>
            </a:pPr>
            <a:endParaRPr lang="en-US" altLang="zh-CN" sz="2400" b="0" dirty="0">
              <a:solidFill>
                <a:schemeClr val="tx1"/>
              </a:solidFill>
              <a:latin typeface="微软雅黑" panose="020B0503020204020204" pitchFamily="34" charset="-122"/>
              <a:ea typeface="微软雅黑" panose="020B0503020204020204" pitchFamily="34" charset="-122"/>
            </a:endParaRPr>
          </a:p>
          <a:p>
            <a:pPr marL="342900" indent="-342900">
              <a:lnSpc>
                <a:spcPct val="120000"/>
              </a:lnSpc>
              <a:buFont typeface="Arial" panose="020B0604020202020204" pitchFamily="34" charset="0"/>
              <a:buChar char="•"/>
              <a:defRPr/>
            </a:pPr>
            <a:r>
              <a:rPr lang="zh-CN" altLang="en-US" sz="2400" b="0" dirty="0">
                <a:solidFill>
                  <a:schemeClr val="tx1"/>
                </a:solidFill>
                <a:latin typeface="微软雅黑" panose="020B0503020204020204" pitchFamily="34" charset="-122"/>
                <a:ea typeface="微软雅黑" panose="020B0503020204020204" pitchFamily="34" charset="-122"/>
              </a:rPr>
              <a:t>各种</a:t>
            </a:r>
            <a:r>
              <a:rPr lang="zh-CN" altLang="en-US" sz="2400" b="0" dirty="0">
                <a:solidFill>
                  <a:srgbClr val="C00000"/>
                </a:solidFill>
                <a:latin typeface="微软雅黑" panose="020B0503020204020204" pitchFamily="34" charset="-122"/>
                <a:ea typeface="微软雅黑" panose="020B0503020204020204" pitchFamily="34" charset="-122"/>
              </a:rPr>
              <a:t>动物肝脏含丰富的维生素</a:t>
            </a:r>
            <a:r>
              <a:rPr lang="en-US" altLang="zh-CN" sz="2400" b="0" dirty="0">
                <a:solidFill>
                  <a:srgbClr val="C00000"/>
                </a:solidFill>
                <a:latin typeface="微软雅黑" panose="020B0503020204020204" pitchFamily="34" charset="-122"/>
                <a:ea typeface="微软雅黑" panose="020B0503020204020204" pitchFamily="34" charset="-122"/>
              </a:rPr>
              <a:t>A </a:t>
            </a:r>
          </a:p>
          <a:p>
            <a:pPr marL="800100" lvl="1" indent="-342900">
              <a:lnSpc>
                <a:spcPct val="120000"/>
              </a:lnSpc>
              <a:buFont typeface="Arial" panose="020B0604020202020204" pitchFamily="34" charset="0"/>
              <a:buChar char="•"/>
              <a:defRPr/>
            </a:pPr>
            <a:r>
              <a:rPr lang="zh-CN" altLang="en-US" sz="2000" b="0" dirty="0">
                <a:solidFill>
                  <a:schemeClr val="tx1">
                    <a:lumMod val="95000"/>
                    <a:lumOff val="5000"/>
                  </a:schemeClr>
                </a:solidFill>
                <a:latin typeface="微软雅黑" panose="020B0503020204020204" pitchFamily="34" charset="-122"/>
                <a:ea typeface="微软雅黑" panose="020B0503020204020204" pitchFamily="34" charset="-122"/>
              </a:rPr>
              <a:t>猪肝： </a:t>
            </a:r>
            <a:r>
              <a:rPr lang="en-US" altLang="zh-CN" sz="2000" b="0" dirty="0">
                <a:solidFill>
                  <a:schemeClr val="tx1">
                    <a:lumMod val="95000"/>
                    <a:lumOff val="5000"/>
                  </a:schemeClr>
                </a:solidFill>
                <a:latin typeface="微软雅黑" panose="020B0503020204020204" pitchFamily="34" charset="-122"/>
                <a:ea typeface="微软雅黑" panose="020B0503020204020204" pitchFamily="34" charset="-122"/>
              </a:rPr>
              <a:t>5mg/100g </a:t>
            </a:r>
          </a:p>
          <a:p>
            <a:pPr marL="342900" indent="-342900">
              <a:lnSpc>
                <a:spcPct val="120000"/>
              </a:lnSpc>
              <a:buFont typeface="Arial" panose="020B0604020202020204" pitchFamily="34" charset="0"/>
              <a:buChar char="•"/>
              <a:defRPr/>
            </a:pPr>
            <a:r>
              <a:rPr lang="zh-CN" altLang="en-US" sz="2400" b="0" dirty="0">
                <a:solidFill>
                  <a:schemeClr val="tx1"/>
                </a:solidFill>
                <a:latin typeface="微软雅黑" panose="020B0503020204020204" pitchFamily="34" charset="-122"/>
                <a:ea typeface="微软雅黑" panose="020B0503020204020204" pitchFamily="34" charset="-122"/>
              </a:rPr>
              <a:t>植物中的胡萝卜素及类胡萝卜素（维生素</a:t>
            </a:r>
            <a:r>
              <a:rPr lang="en-US" altLang="zh-CN" sz="2400" b="0" dirty="0">
                <a:solidFill>
                  <a:schemeClr val="tx1"/>
                </a:solidFill>
                <a:latin typeface="微软雅黑" panose="020B0503020204020204" pitchFamily="34" charset="-122"/>
                <a:ea typeface="微软雅黑" panose="020B0503020204020204" pitchFamily="34" charset="-122"/>
              </a:rPr>
              <a:t>A</a:t>
            </a:r>
            <a:r>
              <a:rPr lang="zh-CN" altLang="en-US" sz="2400" b="0" dirty="0">
                <a:solidFill>
                  <a:schemeClr val="tx1"/>
                </a:solidFill>
                <a:latin typeface="微软雅黑" panose="020B0503020204020204" pitchFamily="34" charset="-122"/>
                <a:ea typeface="微软雅黑" panose="020B0503020204020204" pitchFamily="34" charset="-122"/>
              </a:rPr>
              <a:t>原）可转化为维生素</a:t>
            </a:r>
            <a:r>
              <a:rPr lang="en-US" altLang="zh-CN" sz="2400" b="0" dirty="0">
                <a:solidFill>
                  <a:schemeClr val="tx1"/>
                </a:solidFill>
                <a:latin typeface="微软雅黑" panose="020B0503020204020204" pitchFamily="34" charset="-122"/>
                <a:ea typeface="微软雅黑" panose="020B0503020204020204" pitchFamily="34" charset="-122"/>
              </a:rPr>
              <a:t>A</a:t>
            </a:r>
            <a:r>
              <a:rPr lang="zh-CN" altLang="en-US" sz="2400" b="0" dirty="0">
                <a:solidFill>
                  <a:schemeClr val="tx1"/>
                </a:solidFill>
                <a:latin typeface="微软雅黑" panose="020B0503020204020204" pitchFamily="34" charset="-122"/>
                <a:ea typeface="微软雅黑" panose="020B0503020204020204" pitchFamily="34" charset="-122"/>
              </a:rPr>
              <a:t>，但转化效率低。</a:t>
            </a:r>
            <a:endParaRPr lang="en-US" altLang="zh-CN" sz="2400" b="0" dirty="0">
              <a:solidFill>
                <a:schemeClr val="tx1"/>
              </a:solidFill>
              <a:latin typeface="微软雅黑" panose="020B0503020204020204" pitchFamily="34" charset="-122"/>
              <a:ea typeface="微软雅黑" panose="020B0503020204020204" pitchFamily="34" charset="-122"/>
            </a:endParaRPr>
          </a:p>
          <a:p>
            <a:pPr marL="800100" lvl="1" indent="-342900">
              <a:lnSpc>
                <a:spcPct val="120000"/>
              </a:lnSpc>
              <a:buFont typeface="Arial" panose="020B0604020202020204" pitchFamily="34" charset="0"/>
              <a:buChar char="•"/>
              <a:defRPr/>
            </a:pPr>
            <a:r>
              <a:rPr lang="zh-CN" altLang="en-US" sz="2000" b="0" dirty="0">
                <a:solidFill>
                  <a:srgbClr val="0000CC"/>
                </a:solidFill>
                <a:latin typeface="微软雅黑" panose="020B0503020204020204" pitchFamily="34" charset="-122"/>
                <a:ea typeface="微软雅黑" panose="020B0503020204020204" pitchFamily="34" charset="-122"/>
              </a:rPr>
              <a:t>柑橘吃过多可因胡萝卜素摄入多而皮肤黄染，但无害</a:t>
            </a:r>
            <a:r>
              <a:rPr lang="zh-CN" altLang="en-US" sz="2400" b="0" dirty="0">
                <a:solidFill>
                  <a:schemeClr val="tx1"/>
                </a:solidFill>
                <a:latin typeface="微软雅黑" panose="020B0503020204020204" pitchFamily="34" charset="-122"/>
                <a:ea typeface="微软雅黑" panose="020B0503020204020204" pitchFamily="34" charset="-122"/>
              </a:rPr>
              <a:t>。 </a:t>
            </a:r>
            <a:endParaRPr lang="en-US" altLang="zh-CN" sz="2400" dirty="0">
              <a:solidFill>
                <a:schemeClr val="tx1"/>
              </a:solidFill>
              <a:latin typeface="微软雅黑" panose="020B0503020204020204" pitchFamily="34" charset="-122"/>
              <a:ea typeface="微软雅黑" panose="020B0503020204020204" pitchFamily="34" charset="-122"/>
            </a:endParaRPr>
          </a:p>
          <a:p>
            <a:pPr marL="342900" indent="-342900">
              <a:lnSpc>
                <a:spcPct val="120000"/>
              </a:lnSpc>
              <a:buFont typeface="Arial" panose="020B0604020202020204" pitchFamily="34" charset="0"/>
              <a:buChar char="•"/>
              <a:defRPr/>
            </a:pPr>
            <a:r>
              <a:rPr lang="zh-CN" altLang="en-US" sz="2400" b="0" dirty="0">
                <a:solidFill>
                  <a:schemeClr val="tx1"/>
                </a:solidFill>
                <a:latin typeface="微软雅黑" panose="020B0503020204020204" pitchFamily="34" charset="-122"/>
                <a:ea typeface="微软雅黑" panose="020B0503020204020204" pitchFamily="34" charset="-122"/>
              </a:rPr>
              <a:t>各种维生素</a:t>
            </a:r>
            <a:r>
              <a:rPr lang="en-US" altLang="zh-CN" sz="2400" b="0" dirty="0">
                <a:solidFill>
                  <a:schemeClr val="tx1"/>
                </a:solidFill>
                <a:latin typeface="微软雅黑" panose="020B0503020204020204" pitchFamily="34" charset="-122"/>
                <a:ea typeface="微软雅黑" panose="020B0503020204020204" pitchFamily="34" charset="-122"/>
              </a:rPr>
              <a:t>A</a:t>
            </a:r>
            <a:r>
              <a:rPr lang="zh-CN" altLang="en-US" sz="2400" b="0" dirty="0">
                <a:solidFill>
                  <a:schemeClr val="tx1"/>
                </a:solidFill>
                <a:latin typeface="微软雅黑" panose="020B0503020204020204" pitchFamily="34" charset="-122"/>
                <a:ea typeface="微软雅黑" panose="020B0503020204020204" pitchFamily="34" charset="-122"/>
              </a:rPr>
              <a:t>胶囊，滴剂，咀嚼片等。</a:t>
            </a:r>
            <a:endParaRPr lang="en-US" altLang="zh-CN" sz="2400" b="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97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3976">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397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3976">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397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8EBFE05-5168-997F-D34E-6018961D8850}"/>
              </a:ext>
            </a:extLst>
          </p:cNvPr>
          <p:cNvPicPr>
            <a:picLocks noChangeAspect="1"/>
          </p:cNvPicPr>
          <p:nvPr/>
        </p:nvPicPr>
        <p:blipFill>
          <a:blip r:embed="rId3"/>
          <a:stretch>
            <a:fillRect/>
          </a:stretch>
        </p:blipFill>
        <p:spPr>
          <a:xfrm>
            <a:off x="1541950" y="1268761"/>
            <a:ext cx="9144000" cy="3773297"/>
          </a:xfrm>
          <a:prstGeom prst="rect">
            <a:avLst/>
          </a:prstGeom>
        </p:spPr>
      </p:pic>
      <p:pic>
        <p:nvPicPr>
          <p:cNvPr id="7" name="图片 6">
            <a:extLst>
              <a:ext uri="{FF2B5EF4-FFF2-40B4-BE49-F238E27FC236}">
                <a16:creationId xmlns:a16="http://schemas.microsoft.com/office/drawing/2014/main" id="{FBF852CB-43B7-D436-3EAE-F2939C651E1A}"/>
              </a:ext>
            </a:extLst>
          </p:cNvPr>
          <p:cNvPicPr>
            <a:picLocks noChangeAspect="1"/>
          </p:cNvPicPr>
          <p:nvPr/>
        </p:nvPicPr>
        <p:blipFill>
          <a:blip r:embed="rId4"/>
          <a:stretch>
            <a:fillRect/>
          </a:stretch>
        </p:blipFill>
        <p:spPr>
          <a:xfrm>
            <a:off x="1524000" y="404665"/>
            <a:ext cx="9144000" cy="451985"/>
          </a:xfrm>
          <a:prstGeom prst="rect">
            <a:avLst/>
          </a:prstGeom>
        </p:spPr>
      </p:pic>
    </p:spTree>
    <p:extLst>
      <p:ext uri="{BB962C8B-B14F-4D97-AF65-F5344CB8AC3E}">
        <p14:creationId xmlns:p14="http://schemas.microsoft.com/office/powerpoint/2010/main" val="12033115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F7F386-2230-4687-AFF1-654BC7D773F4}"/>
              </a:ext>
            </a:extLst>
          </p:cNvPr>
          <p:cNvSpPr>
            <a:spLocks noGrp="1"/>
          </p:cNvSpPr>
          <p:nvPr>
            <p:ph type="title"/>
          </p:nvPr>
        </p:nvSpPr>
        <p:spPr>
          <a:xfrm>
            <a:off x="2152650" y="329359"/>
            <a:ext cx="7886700" cy="687387"/>
          </a:xfrm>
        </p:spPr>
        <p:txBody>
          <a:bodyPr rtlCol="0">
            <a:normAutofit fontScale="90000"/>
          </a:bodyPr>
          <a:lstStyle/>
          <a:p>
            <a:pPr algn="ctr" eaLnBrk="1" fontAlgn="auto" hangingPunct="1">
              <a:spcAft>
                <a:spcPts val="0"/>
              </a:spcAft>
              <a:defRPr/>
            </a:pPr>
            <a:r>
              <a:rPr lang="zh-CN" altLang="en-US" b="1" dirty="0">
                <a:latin typeface="微软雅黑" panose="020B0503020204020204" pitchFamily="34" charset="-122"/>
                <a:ea typeface="微软雅黑" panose="020B0503020204020204" pitchFamily="34" charset="-122"/>
              </a:rPr>
              <a:t>病例讨论</a:t>
            </a:r>
          </a:p>
        </p:txBody>
      </p:sp>
      <p:sp>
        <p:nvSpPr>
          <p:cNvPr id="3" name="内容占位符 2">
            <a:extLst>
              <a:ext uri="{FF2B5EF4-FFF2-40B4-BE49-F238E27FC236}">
                <a16:creationId xmlns:a16="http://schemas.microsoft.com/office/drawing/2014/main" id="{8C350DA5-DA82-4B1C-A631-41CEE5714BBB}"/>
              </a:ext>
            </a:extLst>
          </p:cNvPr>
          <p:cNvSpPr>
            <a:spLocks noGrp="1"/>
          </p:cNvSpPr>
          <p:nvPr>
            <p:ph idx="1"/>
          </p:nvPr>
        </p:nvSpPr>
        <p:spPr>
          <a:xfrm>
            <a:off x="695400" y="1131841"/>
            <a:ext cx="10585176" cy="5400823"/>
          </a:xfrm>
        </p:spPr>
        <p:txBody>
          <a:bodyPr rtlCol="0">
            <a:noAutofit/>
          </a:bodyPr>
          <a:lstStyle/>
          <a:p>
            <a:pPr eaLnBrk="1" fontAlgn="auto" hangingPunct="1">
              <a:lnSpc>
                <a:spcPct val="100000"/>
              </a:lnSpc>
              <a:spcAft>
                <a:spcPts val="0"/>
              </a:spcAft>
              <a:defRPr/>
            </a:pPr>
            <a:r>
              <a:rPr lang="zh-CN" altLang="en-US" sz="2400" dirty="0">
                <a:latin typeface="微软雅黑" panose="020B0503020204020204" pitchFamily="34" charset="-122"/>
                <a:ea typeface="微软雅黑" panose="020B0503020204020204" pitchFamily="34" charset="-122"/>
              </a:rPr>
              <a:t>患儿，女性，</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岁</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个月，因眼部不适数月，</a:t>
            </a:r>
            <a:r>
              <a:rPr lang="zh-CN" altLang="en-US" sz="2400" dirty="0">
                <a:solidFill>
                  <a:srgbClr val="3333CC"/>
                </a:solidFill>
                <a:latin typeface="微软雅黑" panose="020B0503020204020204" pitchFamily="34" charset="-122"/>
                <a:ea typeface="微软雅黑" panose="020B0503020204020204" pitchFamily="34" charset="-122"/>
              </a:rPr>
              <a:t>从亮处到暗处视物不清半月来就诊</a:t>
            </a:r>
            <a:r>
              <a:rPr lang="zh-CN" altLang="en-US" sz="2400" dirty="0">
                <a:latin typeface="微软雅黑" panose="020B0503020204020204" pitchFamily="34" charset="-122"/>
                <a:ea typeface="微软雅黑" panose="020B0503020204020204" pitchFamily="34" charset="-122"/>
              </a:rPr>
              <a:t>，患儿数月以来不明原因经常眨眼，并述眼痒，常用手搽，用过多种眼药水无效。近半月症状开始加重，并且出现</a:t>
            </a:r>
            <a:r>
              <a:rPr lang="zh-CN" altLang="en-US" sz="2400" dirty="0">
                <a:solidFill>
                  <a:srgbClr val="0000CC"/>
                </a:solidFill>
                <a:latin typeface="微软雅黑" panose="020B0503020204020204" pitchFamily="34" charset="-122"/>
                <a:ea typeface="微软雅黑" panose="020B0503020204020204" pitchFamily="34" charset="-122"/>
              </a:rPr>
              <a:t>从亮处到暗处时视物不清，常跌倒</a:t>
            </a:r>
            <a:r>
              <a:rPr lang="zh-CN" altLang="en-US" sz="2400" dirty="0">
                <a:latin typeface="微软雅黑" panose="020B0503020204020204" pitchFamily="34" charset="-122"/>
                <a:ea typeface="微软雅黑" panose="020B0503020204020204" pitchFamily="34" charset="-122"/>
              </a:rPr>
              <a:t>，有时怕光。该患儿系第一胎第一产，足月顺产。生后母乳喂养，</a:t>
            </a:r>
            <a:r>
              <a:rPr lang="en-US" altLang="zh-CN" sz="2400" dirty="0">
                <a:latin typeface="微软雅黑" panose="020B0503020204020204" pitchFamily="34" charset="-122"/>
                <a:ea typeface="微软雅黑" panose="020B0503020204020204" pitchFamily="34" charset="-122"/>
              </a:rPr>
              <a:t>6</a:t>
            </a:r>
            <a:r>
              <a:rPr lang="zh-CN" altLang="en-US" sz="2400" dirty="0">
                <a:latin typeface="微软雅黑" panose="020B0503020204020204" pitchFamily="34" charset="-122"/>
                <a:ea typeface="微软雅黑" panose="020B0503020204020204" pitchFamily="34" charset="-122"/>
              </a:rPr>
              <a:t>个月改为牛奶，稀饭，面条等喂养，</a:t>
            </a:r>
            <a:r>
              <a:rPr lang="zh-CN" altLang="en-US" sz="2400" dirty="0">
                <a:solidFill>
                  <a:srgbClr val="0000CC"/>
                </a:solidFill>
                <a:latin typeface="微软雅黑" panose="020B0503020204020204" pitchFamily="34" charset="-122"/>
                <a:ea typeface="微软雅黑" panose="020B0503020204020204" pitchFamily="34" charset="-122"/>
              </a:rPr>
              <a:t>未添加其他辅食</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岁以后以</a:t>
            </a:r>
            <a:r>
              <a:rPr lang="zh-CN" altLang="en-US" sz="2400" dirty="0">
                <a:solidFill>
                  <a:srgbClr val="3333CC"/>
                </a:solidFill>
                <a:latin typeface="微软雅黑" panose="020B0503020204020204" pitchFamily="34" charset="-122"/>
                <a:ea typeface="微软雅黑" panose="020B0503020204020204" pitchFamily="34" charset="-122"/>
              </a:rPr>
              <a:t>大米为主</a:t>
            </a:r>
            <a:r>
              <a:rPr lang="zh-CN" altLang="en-US" sz="2400" dirty="0">
                <a:latin typeface="微软雅黑" panose="020B0503020204020204" pitchFamily="34" charset="-122"/>
                <a:ea typeface="微软雅黑" panose="020B0503020204020204" pitchFamily="34" charset="-122"/>
              </a:rPr>
              <a:t>，</a:t>
            </a:r>
            <a:r>
              <a:rPr lang="zh-CN" altLang="en-US" sz="2400" dirty="0">
                <a:solidFill>
                  <a:srgbClr val="3333CC"/>
                </a:solidFill>
                <a:latin typeface="微软雅黑" panose="020B0503020204020204" pitchFamily="34" charset="-122"/>
                <a:ea typeface="微软雅黑" panose="020B0503020204020204" pitchFamily="34" charset="-122"/>
              </a:rPr>
              <a:t>吃菜少，</a:t>
            </a:r>
            <a:r>
              <a:rPr lang="zh-CN" altLang="en-US" sz="2400" dirty="0">
                <a:latin typeface="微软雅黑" panose="020B0503020204020204" pitchFamily="34" charset="-122"/>
                <a:ea typeface="微软雅黑" panose="020B0503020204020204" pitchFamily="34" charset="-122"/>
              </a:rPr>
              <a:t>尤其</a:t>
            </a:r>
            <a:r>
              <a:rPr lang="zh-CN" altLang="en-US" sz="2400" dirty="0">
                <a:solidFill>
                  <a:srgbClr val="3333CC"/>
                </a:solidFill>
                <a:latin typeface="微软雅黑" panose="020B0503020204020204" pitchFamily="34" charset="-122"/>
                <a:ea typeface="微软雅黑" panose="020B0503020204020204" pitchFamily="34" charset="-122"/>
              </a:rPr>
              <a:t>不喜荤食</a:t>
            </a:r>
            <a:r>
              <a:rPr lang="zh-CN" altLang="en-US" sz="2400" dirty="0">
                <a:latin typeface="微软雅黑" panose="020B0503020204020204" pitchFamily="34" charset="-122"/>
                <a:ea typeface="微软雅黑" panose="020B0503020204020204" pitchFamily="34" charset="-122"/>
              </a:rPr>
              <a:t>，经常患腹泻，感冒等。</a:t>
            </a:r>
          </a:p>
          <a:p>
            <a:pPr eaLnBrk="1" fontAlgn="auto" hangingPunct="1">
              <a:lnSpc>
                <a:spcPct val="100000"/>
              </a:lnSpc>
              <a:spcAft>
                <a:spcPts val="0"/>
              </a:spcAft>
              <a:defRPr/>
            </a:pPr>
            <a:r>
              <a:rPr lang="zh-CN" altLang="en-US" sz="2400" b="1" dirty="0">
                <a:latin typeface="微软雅黑" panose="020B0503020204020204" pitchFamily="34" charset="-122"/>
                <a:ea typeface="微软雅黑" panose="020B0503020204020204" pitchFamily="34" charset="-122"/>
              </a:rPr>
              <a:t>体格检查：</a:t>
            </a:r>
            <a:r>
              <a:rPr lang="zh-CN" altLang="en-US" sz="2400" dirty="0">
                <a:latin typeface="微软雅黑" panose="020B0503020204020204" pitchFamily="34" charset="-122"/>
                <a:ea typeface="微软雅黑" panose="020B0503020204020204" pitchFamily="34" charset="-122"/>
              </a:rPr>
              <a:t>体温</a:t>
            </a:r>
            <a:r>
              <a:rPr lang="en-US" altLang="zh-CN" sz="2400" dirty="0">
                <a:latin typeface="微软雅黑" panose="020B0503020204020204" pitchFamily="34" charset="-122"/>
                <a:ea typeface="微软雅黑" panose="020B0503020204020204" pitchFamily="34" charset="-122"/>
              </a:rPr>
              <a:t>36.5℃,</a:t>
            </a:r>
            <a:r>
              <a:rPr lang="zh-CN" altLang="en-US" sz="2400" dirty="0">
                <a:latin typeface="微软雅黑" panose="020B0503020204020204" pitchFamily="34" charset="-122"/>
                <a:ea typeface="微软雅黑" panose="020B0503020204020204" pitchFamily="34" charset="-122"/>
              </a:rPr>
              <a:t>呼吸</a:t>
            </a:r>
            <a:r>
              <a:rPr lang="en-US" altLang="zh-CN" sz="2400" dirty="0">
                <a:latin typeface="微软雅黑" panose="020B0503020204020204" pitchFamily="34" charset="-122"/>
                <a:ea typeface="微软雅黑" panose="020B0503020204020204" pitchFamily="34" charset="-122"/>
              </a:rPr>
              <a:t>25</a:t>
            </a:r>
            <a:r>
              <a:rPr lang="zh-CN" altLang="en-US" sz="2400" dirty="0">
                <a:latin typeface="微软雅黑" panose="020B0503020204020204" pitchFamily="34" charset="-122"/>
                <a:ea typeface="微软雅黑" panose="020B0503020204020204" pitchFamily="34" charset="-122"/>
              </a:rPr>
              <a:t>次</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分，脉搏</a:t>
            </a:r>
            <a:r>
              <a:rPr lang="en-US" altLang="zh-CN" sz="2400" dirty="0">
                <a:latin typeface="微软雅黑" panose="020B0503020204020204" pitchFamily="34" charset="-122"/>
                <a:ea typeface="微软雅黑" panose="020B0503020204020204" pitchFamily="34" charset="-122"/>
              </a:rPr>
              <a:t>103</a:t>
            </a:r>
            <a:r>
              <a:rPr lang="zh-CN" altLang="en-US" sz="2400" dirty="0">
                <a:latin typeface="微软雅黑" panose="020B0503020204020204" pitchFamily="34" charset="-122"/>
                <a:ea typeface="微软雅黑" panose="020B0503020204020204" pitchFamily="34" charset="-122"/>
              </a:rPr>
              <a:t>次</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分，血压未测，消瘦，体重</a:t>
            </a:r>
            <a:r>
              <a:rPr lang="en-US" altLang="zh-CN" sz="2400" dirty="0">
                <a:latin typeface="微软雅黑" panose="020B0503020204020204" pitchFamily="34" charset="-122"/>
                <a:ea typeface="微软雅黑" panose="020B0503020204020204" pitchFamily="34" charset="-122"/>
              </a:rPr>
              <a:t>14KG</a:t>
            </a:r>
            <a:r>
              <a:rPr lang="zh-CN" altLang="en-US" sz="2400" dirty="0">
                <a:latin typeface="微软雅黑" panose="020B0503020204020204" pitchFamily="34" charset="-122"/>
                <a:ea typeface="微软雅黑" panose="020B0503020204020204" pitchFamily="34" charset="-122"/>
              </a:rPr>
              <a:t>。</a:t>
            </a:r>
            <a:r>
              <a:rPr lang="zh-CN" altLang="en-US" sz="2400" dirty="0">
                <a:solidFill>
                  <a:srgbClr val="3333CC"/>
                </a:solidFill>
                <a:latin typeface="微软雅黑" panose="020B0503020204020204" pitchFamily="34" charset="-122"/>
                <a:ea typeface="微软雅黑" panose="020B0503020204020204" pitchFamily="34" charset="-122"/>
              </a:rPr>
              <a:t>全身皮肤干燥，双下肢有粗糙感</a:t>
            </a:r>
            <a:r>
              <a:rPr lang="zh-CN" altLang="en-US" sz="2400" dirty="0">
                <a:latin typeface="微软雅黑" panose="020B0503020204020204" pitchFamily="34" charset="-122"/>
                <a:ea typeface="微软雅黑" panose="020B0503020204020204" pitchFamily="34" charset="-122"/>
              </a:rPr>
              <a:t>。眼部检查：在球结膜处可见</a:t>
            </a:r>
            <a:r>
              <a:rPr lang="en-US" altLang="zh-CN" sz="2400" dirty="0" err="1">
                <a:latin typeface="微软雅黑" panose="020B0503020204020204" pitchFamily="34" charset="-122"/>
                <a:ea typeface="微软雅黑" panose="020B0503020204020204" pitchFamily="34" charset="-122"/>
              </a:rPr>
              <a:t>Bitots</a:t>
            </a:r>
            <a:r>
              <a:rPr lang="zh-CN" altLang="en-US" sz="2400" dirty="0">
                <a:latin typeface="微软雅黑" panose="020B0503020204020204" pitchFamily="34" charset="-122"/>
                <a:ea typeface="微软雅黑" panose="020B0503020204020204" pitchFamily="34" charset="-122"/>
              </a:rPr>
              <a:t>斑，</a:t>
            </a:r>
            <a:r>
              <a:rPr lang="zh-CN" altLang="en-US" sz="2400" dirty="0">
                <a:solidFill>
                  <a:srgbClr val="3333CC"/>
                </a:solidFill>
                <a:latin typeface="微软雅黑" panose="020B0503020204020204" pitchFamily="34" charset="-122"/>
                <a:ea typeface="微软雅黑" panose="020B0503020204020204" pitchFamily="34" charset="-122"/>
              </a:rPr>
              <a:t>角膜干燥</a:t>
            </a:r>
            <a:r>
              <a:rPr lang="zh-CN" altLang="en-US" sz="2400" dirty="0">
                <a:latin typeface="微软雅黑" panose="020B0503020204020204" pitchFamily="34" charset="-122"/>
                <a:ea typeface="微软雅黑" panose="020B0503020204020204" pitchFamily="34" charset="-122"/>
              </a:rPr>
              <a:t>，视力正常。</a:t>
            </a:r>
            <a:r>
              <a:rPr lang="zh-CN" altLang="en-US" sz="2400" dirty="0">
                <a:solidFill>
                  <a:srgbClr val="0000CC"/>
                </a:solidFill>
                <a:latin typeface="微软雅黑" panose="020B0503020204020204" pitchFamily="34" charset="-122"/>
                <a:ea typeface="微软雅黑" panose="020B0503020204020204" pitchFamily="34" charset="-122"/>
              </a:rPr>
              <a:t>暗适应检查：延长</a:t>
            </a:r>
            <a:r>
              <a:rPr lang="zh-CN" altLang="en-US" sz="2400" dirty="0">
                <a:latin typeface="微软雅黑" panose="020B0503020204020204" pitchFamily="34" charset="-122"/>
                <a:ea typeface="微软雅黑" panose="020B0503020204020204" pitchFamily="34" charset="-122"/>
              </a:rPr>
              <a:t>。</a:t>
            </a:r>
            <a:r>
              <a:rPr lang="zh-CN" altLang="en-US" sz="2400" dirty="0">
                <a:solidFill>
                  <a:srgbClr val="3333CC"/>
                </a:solidFill>
                <a:latin typeface="微软雅黑" panose="020B0503020204020204" pitchFamily="34" charset="-122"/>
                <a:ea typeface="微软雅黑" panose="020B0503020204020204" pitchFamily="34" charset="-122"/>
              </a:rPr>
              <a:t>指甲脆，易断</a:t>
            </a:r>
            <a:r>
              <a:rPr lang="zh-CN" altLang="en-US" sz="2400" dirty="0">
                <a:latin typeface="微软雅黑" panose="020B0503020204020204" pitchFamily="34" charset="-122"/>
                <a:ea typeface="微软雅黑" panose="020B0503020204020204" pitchFamily="34" charset="-122"/>
              </a:rPr>
              <a:t>。</a:t>
            </a:r>
          </a:p>
          <a:p>
            <a:pPr eaLnBrk="1" fontAlgn="auto" hangingPunct="1">
              <a:spcAft>
                <a:spcPts val="0"/>
              </a:spcAft>
              <a:defRPr/>
            </a:pPr>
            <a:r>
              <a:rPr lang="zh-CN" altLang="en-US" sz="2400" b="1" dirty="0">
                <a:latin typeface="微软雅黑" panose="020B0503020204020204" pitchFamily="34" charset="-122"/>
                <a:ea typeface="微软雅黑" panose="020B0503020204020204" pitchFamily="34" charset="-122"/>
              </a:rPr>
              <a:t>问题讨论：</a:t>
            </a:r>
          </a:p>
          <a:p>
            <a:pPr marL="0" indent="0" eaLnBrk="1" fontAlgn="auto" hangingPunct="1">
              <a:spcAft>
                <a:spcPts val="0"/>
              </a:spcAft>
              <a:buNone/>
              <a:defRPr/>
            </a:pPr>
            <a:r>
              <a:rPr lang="en-US" altLang="zh-CN" sz="2400" dirty="0">
                <a:latin typeface="微软雅黑" panose="020B0503020204020204" pitchFamily="34" charset="-122"/>
                <a:ea typeface="微软雅黑" panose="020B0503020204020204" pitchFamily="34" charset="-122"/>
              </a:rPr>
              <a:t>1. </a:t>
            </a:r>
            <a:r>
              <a:rPr lang="zh-CN" altLang="en-US" sz="2400" dirty="0">
                <a:latin typeface="微软雅黑" panose="020B0503020204020204" pitchFamily="34" charset="-122"/>
                <a:ea typeface="微软雅黑" panose="020B0503020204020204" pitchFamily="34" charset="-122"/>
              </a:rPr>
              <a:t>该患儿所得疾病诊断是什么？</a:t>
            </a:r>
          </a:p>
          <a:p>
            <a:pPr marL="0" indent="0" eaLnBrk="1" fontAlgn="auto" hangingPunct="1">
              <a:spcAft>
                <a:spcPts val="0"/>
              </a:spcAft>
              <a:buNone/>
              <a:defRPr/>
            </a:pPr>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夜盲症的发病机制？</a:t>
            </a:r>
          </a:p>
          <a:p>
            <a:pPr eaLnBrk="1" fontAlgn="auto" hangingPunct="1">
              <a:spcAft>
                <a:spcPts val="0"/>
              </a:spcAft>
              <a:defRPr/>
            </a:pP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DD3B64-4AAA-9242-7E22-E636EA7194A0}"/>
              </a:ext>
            </a:extLst>
          </p:cNvPr>
          <p:cNvSpPr>
            <a:spLocks noGrp="1"/>
          </p:cNvSpPr>
          <p:nvPr>
            <p:ph type="title"/>
          </p:nvPr>
        </p:nvSpPr>
        <p:spPr>
          <a:xfrm>
            <a:off x="2152650" y="404665"/>
            <a:ext cx="7886700" cy="1080120"/>
          </a:xfrm>
        </p:spPr>
        <p:txBody>
          <a:bodyPr/>
          <a:lstStyle/>
          <a:p>
            <a:pPr algn="ctr"/>
            <a:r>
              <a:rPr lang="zh-CN" altLang="en-US" sz="3200" dirty="0">
                <a:solidFill>
                  <a:srgbClr val="0000CC"/>
                </a:solidFill>
                <a:latin typeface="微软雅黑" panose="020B0503020204020204" pitchFamily="34" charset="-122"/>
                <a:ea typeface="微软雅黑" panose="020B0503020204020204" pitchFamily="34" charset="-122"/>
              </a:rPr>
              <a:t>摄入过多动物肝脏致维生素</a:t>
            </a:r>
            <a:r>
              <a:rPr lang="en-US" altLang="zh-CN" sz="3200" dirty="0">
                <a:solidFill>
                  <a:srgbClr val="0000CC"/>
                </a:solidFill>
                <a:latin typeface="微软雅黑" panose="020B0503020204020204" pitchFamily="34" charset="-122"/>
                <a:ea typeface="微软雅黑" panose="020B0503020204020204" pitchFamily="34" charset="-122"/>
              </a:rPr>
              <a:t>A</a:t>
            </a:r>
            <a:r>
              <a:rPr lang="zh-CN" altLang="en-US" sz="3200" dirty="0">
                <a:solidFill>
                  <a:srgbClr val="0000CC"/>
                </a:solidFill>
                <a:latin typeface="微软雅黑" panose="020B0503020204020204" pitchFamily="34" charset="-122"/>
                <a:ea typeface="微软雅黑" panose="020B0503020204020204" pitchFamily="34" charset="-122"/>
              </a:rPr>
              <a:t>中毒</a:t>
            </a:r>
          </a:p>
        </p:txBody>
      </p:sp>
      <p:sp>
        <p:nvSpPr>
          <p:cNvPr id="3" name="内容占位符 2">
            <a:extLst>
              <a:ext uri="{FF2B5EF4-FFF2-40B4-BE49-F238E27FC236}">
                <a16:creationId xmlns:a16="http://schemas.microsoft.com/office/drawing/2014/main" id="{480EB23D-8198-BDBE-0A27-C6F460BD16E7}"/>
              </a:ext>
            </a:extLst>
          </p:cNvPr>
          <p:cNvSpPr>
            <a:spLocks noGrp="1"/>
          </p:cNvSpPr>
          <p:nvPr>
            <p:ph idx="1"/>
          </p:nvPr>
        </p:nvSpPr>
        <p:spPr>
          <a:xfrm>
            <a:off x="1559496" y="1628800"/>
            <a:ext cx="9289032" cy="4351338"/>
          </a:xfrm>
        </p:spPr>
        <p:txBody>
          <a:bodyPr>
            <a:normAutofit/>
          </a:bodyPr>
          <a:lstStyle/>
          <a:p>
            <a:pPr>
              <a:lnSpc>
                <a:spcPct val="100000"/>
              </a:lnSpc>
            </a:pPr>
            <a:r>
              <a:rPr lang="en-US" altLang="zh-CN" dirty="0"/>
              <a:t>1597</a:t>
            </a:r>
            <a:r>
              <a:rPr lang="zh-CN" altLang="en-US" dirty="0"/>
              <a:t>，北极探险家</a:t>
            </a:r>
            <a:r>
              <a:rPr lang="en-US" altLang="zh-CN" dirty="0"/>
              <a:t>Gerrit </a:t>
            </a:r>
            <a:r>
              <a:rPr lang="en-US" altLang="zh-CN" dirty="0" err="1"/>
              <a:t>deVeer</a:t>
            </a:r>
            <a:r>
              <a:rPr lang="zh-CN" altLang="en-US" dirty="0"/>
              <a:t>和他的船员吃了大量的</a:t>
            </a:r>
            <a:r>
              <a:rPr lang="zh-CN" altLang="en-US" b="1" dirty="0"/>
              <a:t>北极熊的肝脏</a:t>
            </a:r>
            <a:r>
              <a:rPr lang="zh-CN" altLang="en-US" dirty="0"/>
              <a:t>，导致中毒，随后在停止吃这些食物后，全部恢复了健康。</a:t>
            </a:r>
            <a:endParaRPr lang="en-US" altLang="zh-CN" dirty="0"/>
          </a:p>
          <a:p>
            <a:pPr>
              <a:lnSpc>
                <a:spcPct val="100000"/>
              </a:lnSpc>
            </a:pPr>
            <a:endParaRPr lang="en-US" altLang="zh-CN" dirty="0"/>
          </a:p>
          <a:p>
            <a:pPr>
              <a:lnSpc>
                <a:spcPct val="100000"/>
              </a:lnSpc>
            </a:pPr>
            <a:r>
              <a:rPr lang="en-US" altLang="zh-CN" dirty="0"/>
              <a:t>2015</a:t>
            </a:r>
            <a:r>
              <a:rPr lang="zh-CN" altLang="en-US" dirty="0"/>
              <a:t>年，</a:t>
            </a:r>
            <a:r>
              <a:rPr lang="en-US" altLang="zh-CN" dirty="0"/>
              <a:t>1</a:t>
            </a:r>
            <a:r>
              <a:rPr lang="zh-CN" altLang="en-US" dirty="0"/>
              <a:t>名</a:t>
            </a:r>
            <a:r>
              <a:rPr lang="en-US" altLang="zh-CN" dirty="0"/>
              <a:t>27</a:t>
            </a:r>
            <a:r>
              <a:rPr lang="zh-CN" altLang="en-US" dirty="0"/>
              <a:t>岁的男子因为急性维</a:t>
            </a:r>
            <a:r>
              <a:rPr lang="en-US" altLang="zh-CN" dirty="0"/>
              <a:t>A</a:t>
            </a:r>
            <a:r>
              <a:rPr lang="zh-CN" altLang="en-US" dirty="0"/>
              <a:t>中毒入院，他前一天吃了</a:t>
            </a:r>
            <a:r>
              <a:rPr lang="en-US" altLang="zh-CN" b="1" dirty="0"/>
              <a:t>800</a:t>
            </a:r>
            <a:r>
              <a:rPr lang="zh-CN" altLang="en-US" b="1" dirty="0"/>
              <a:t>克烤鲈鱼肝</a:t>
            </a:r>
            <a:r>
              <a:rPr lang="zh-CN" altLang="en-US" dirty="0"/>
              <a:t>，</a:t>
            </a:r>
            <a:r>
              <a:rPr lang="en-US" altLang="zh-CN" dirty="0"/>
              <a:t>1</a:t>
            </a:r>
            <a:r>
              <a:rPr lang="zh-CN" altLang="en-US" dirty="0"/>
              <a:t>斤半的量。</a:t>
            </a:r>
            <a:endParaRPr lang="en-US" altLang="zh-CN" dirty="0"/>
          </a:p>
          <a:p>
            <a:pPr>
              <a:lnSpc>
                <a:spcPct val="100000"/>
              </a:lnSpc>
            </a:pPr>
            <a:r>
              <a:rPr lang="zh-CN" altLang="en-US" dirty="0"/>
              <a:t>成人</a:t>
            </a:r>
            <a:r>
              <a:rPr lang="en-US" altLang="zh-CN" dirty="0"/>
              <a:t>1-2</a:t>
            </a:r>
            <a:r>
              <a:rPr lang="zh-CN" altLang="en-US" dirty="0"/>
              <a:t>日内食入</a:t>
            </a:r>
            <a:r>
              <a:rPr lang="zh-CN" altLang="en-US" b="1" dirty="0"/>
              <a:t>一个完整狗肝</a:t>
            </a:r>
            <a:r>
              <a:rPr lang="zh-CN" altLang="en-US" dirty="0"/>
              <a:t>而致急性维生素</a:t>
            </a:r>
            <a:r>
              <a:rPr lang="en-US" altLang="zh-CN" dirty="0"/>
              <a:t>A</a:t>
            </a:r>
            <a:r>
              <a:rPr lang="zh-CN" altLang="en-US" dirty="0"/>
              <a:t>中毒。</a:t>
            </a:r>
            <a:endParaRPr lang="en-US" altLang="zh-CN" dirty="0"/>
          </a:p>
          <a:p>
            <a:pPr>
              <a:lnSpc>
                <a:spcPct val="100000"/>
              </a:lnSpc>
            </a:pPr>
            <a:r>
              <a:rPr lang="zh-CN" altLang="en-US" b="1" dirty="0"/>
              <a:t>小儿</a:t>
            </a:r>
            <a:r>
              <a:rPr lang="zh-CN" altLang="en-US" dirty="0"/>
              <a:t>每日摄入一些</a:t>
            </a:r>
            <a:r>
              <a:rPr lang="zh-CN" altLang="en-US" b="1" dirty="0"/>
              <a:t>鸡肝</a:t>
            </a:r>
            <a:r>
              <a:rPr lang="zh-CN" altLang="en-US" dirty="0"/>
              <a:t>连续数月引起维生素</a:t>
            </a:r>
            <a:r>
              <a:rPr lang="en-US" altLang="zh-CN" dirty="0"/>
              <a:t>A</a:t>
            </a:r>
            <a:r>
              <a:rPr lang="zh-CN" altLang="en-US" dirty="0"/>
              <a:t>慢性中毒。</a:t>
            </a:r>
          </a:p>
        </p:txBody>
      </p:sp>
    </p:spTree>
    <p:extLst>
      <p:ext uri="{BB962C8B-B14F-4D97-AF65-F5344CB8AC3E}">
        <p14:creationId xmlns:p14="http://schemas.microsoft.com/office/powerpoint/2010/main" val="23341876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F0641DD9-EAD6-44ED-B4DD-B160EC4BB8C3}"/>
              </a:ext>
            </a:extLst>
          </p:cNvPr>
          <p:cNvSpPr>
            <a:spLocks noGrp="1" noChangeArrowheads="1"/>
          </p:cNvSpPr>
          <p:nvPr>
            <p:ph type="title" idx="4294967295"/>
          </p:nvPr>
        </p:nvSpPr>
        <p:spPr>
          <a:xfrm>
            <a:off x="2567608" y="199236"/>
            <a:ext cx="8604250" cy="1008062"/>
          </a:xfrm>
        </p:spPr>
        <p:txBody>
          <a:bodyPr/>
          <a:lstStyle/>
          <a:p>
            <a:pPr eaLnBrk="1" hangingPunct="1"/>
            <a:r>
              <a:rPr lang="zh-CN" altLang="en-US" sz="3600" b="1" dirty="0">
                <a:solidFill>
                  <a:srgbClr val="C00000"/>
                </a:solidFill>
                <a:ea typeface="楷体_GB2312" pitchFamily="49" charset="-122"/>
              </a:rPr>
              <a:t>二、维生素 </a:t>
            </a:r>
            <a:r>
              <a:rPr lang="en-US" altLang="zh-CN" sz="3600" b="1" dirty="0">
                <a:solidFill>
                  <a:srgbClr val="C00000"/>
                </a:solidFill>
                <a:ea typeface="楷体_GB2312" pitchFamily="49" charset="-122"/>
              </a:rPr>
              <a:t>D</a:t>
            </a:r>
            <a:r>
              <a:rPr lang="zh-CN" altLang="en-US" sz="3200" b="1" dirty="0">
                <a:ea typeface="楷体_GB2312" pitchFamily="49" charset="-122"/>
              </a:rPr>
              <a:t>（</a:t>
            </a:r>
            <a:r>
              <a:rPr lang="en-US" altLang="zh-CN" sz="3200" b="1" dirty="0">
                <a:ea typeface="楷体_GB2312" pitchFamily="49" charset="-122"/>
              </a:rPr>
              <a:t>D1,</a:t>
            </a:r>
            <a:r>
              <a:rPr lang="zh-CN" altLang="en-US" sz="3200" b="1" dirty="0">
                <a:ea typeface="楷体_GB2312" pitchFamily="49" charset="-122"/>
              </a:rPr>
              <a:t> </a:t>
            </a:r>
            <a:r>
              <a:rPr lang="en-US" altLang="zh-CN" sz="3200" b="1" dirty="0">
                <a:solidFill>
                  <a:srgbClr val="C00000"/>
                </a:solidFill>
                <a:ea typeface="楷体_GB2312" pitchFamily="49" charset="-122"/>
              </a:rPr>
              <a:t>D</a:t>
            </a:r>
            <a:r>
              <a:rPr lang="en-US" altLang="zh-CN" sz="3200" b="1" baseline="-25000" dirty="0">
                <a:solidFill>
                  <a:srgbClr val="C00000"/>
                </a:solidFill>
                <a:ea typeface="楷体_GB2312" pitchFamily="49" charset="-122"/>
              </a:rPr>
              <a:t>2</a:t>
            </a:r>
            <a:r>
              <a:rPr lang="zh-CN" altLang="en-US" sz="3200" b="1" dirty="0">
                <a:solidFill>
                  <a:srgbClr val="C00000"/>
                </a:solidFill>
                <a:ea typeface="楷体_GB2312" pitchFamily="49" charset="-122"/>
              </a:rPr>
              <a:t>、</a:t>
            </a:r>
            <a:r>
              <a:rPr lang="en-US" altLang="zh-CN" sz="3200" b="1" dirty="0">
                <a:solidFill>
                  <a:srgbClr val="C00000"/>
                </a:solidFill>
                <a:ea typeface="楷体_GB2312" pitchFamily="49" charset="-122"/>
              </a:rPr>
              <a:t>D</a:t>
            </a:r>
            <a:r>
              <a:rPr lang="en-US" altLang="zh-CN" sz="3200" b="1" baseline="-25000" dirty="0">
                <a:solidFill>
                  <a:srgbClr val="C00000"/>
                </a:solidFill>
                <a:ea typeface="楷体_GB2312" pitchFamily="49" charset="-122"/>
              </a:rPr>
              <a:t>3</a:t>
            </a:r>
            <a:r>
              <a:rPr lang="zh-CN" altLang="en-US" sz="3200" b="1" dirty="0">
                <a:ea typeface="楷体_GB2312" pitchFamily="49" charset="-122"/>
              </a:rPr>
              <a:t>、</a:t>
            </a:r>
            <a:r>
              <a:rPr lang="en-US" altLang="zh-CN" sz="3200" b="1" dirty="0">
                <a:ea typeface="楷体_GB2312" pitchFamily="49" charset="-122"/>
              </a:rPr>
              <a:t>D</a:t>
            </a:r>
            <a:r>
              <a:rPr lang="en-US" altLang="zh-CN" sz="3200" b="1" baseline="-25000" dirty="0">
                <a:ea typeface="楷体_GB2312" pitchFamily="49" charset="-122"/>
              </a:rPr>
              <a:t>4</a:t>
            </a:r>
            <a:r>
              <a:rPr lang="zh-CN" altLang="en-US" sz="3200" b="1" dirty="0">
                <a:ea typeface="楷体_GB2312" pitchFamily="49" charset="-122"/>
              </a:rPr>
              <a:t>、</a:t>
            </a:r>
            <a:r>
              <a:rPr lang="en-US" altLang="zh-CN" sz="3200" b="1" dirty="0">
                <a:ea typeface="楷体_GB2312" pitchFamily="49" charset="-122"/>
              </a:rPr>
              <a:t>D</a:t>
            </a:r>
            <a:r>
              <a:rPr lang="en-US" altLang="zh-CN" sz="3200" b="1" baseline="-25000" dirty="0">
                <a:ea typeface="楷体_GB2312" pitchFamily="49" charset="-122"/>
              </a:rPr>
              <a:t>5</a:t>
            </a:r>
            <a:r>
              <a:rPr lang="zh-CN" altLang="en-US" sz="3200" b="1" dirty="0">
                <a:ea typeface="楷体_GB2312" pitchFamily="49" charset="-122"/>
              </a:rPr>
              <a:t>）</a:t>
            </a:r>
          </a:p>
        </p:txBody>
      </p:sp>
      <p:sp>
        <p:nvSpPr>
          <p:cNvPr id="61443" name="Text Box 6">
            <a:extLst>
              <a:ext uri="{FF2B5EF4-FFF2-40B4-BE49-F238E27FC236}">
                <a16:creationId xmlns:a16="http://schemas.microsoft.com/office/drawing/2014/main" id="{6BF46F89-4D66-471A-8A47-632C47372048}"/>
              </a:ext>
            </a:extLst>
          </p:cNvPr>
          <p:cNvSpPr txBox="1">
            <a:spLocks noChangeArrowheads="1"/>
          </p:cNvSpPr>
          <p:nvPr/>
        </p:nvSpPr>
        <p:spPr bwMode="auto">
          <a:xfrm>
            <a:off x="1851025" y="1329360"/>
            <a:ext cx="5943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lang="zh-CN" altLang="en-US" sz="2400" b="0" dirty="0">
                <a:latin typeface="Times New Roman" panose="02020603050405020304" pitchFamily="18" charset="0"/>
                <a:ea typeface="楷体_GB2312" pitchFamily="49" charset="-122"/>
              </a:rPr>
              <a:t>（一）化学：类固醇衍生物</a:t>
            </a:r>
          </a:p>
        </p:txBody>
      </p:sp>
      <p:sp>
        <p:nvSpPr>
          <p:cNvPr id="61444" name="Text Box 3">
            <a:extLst>
              <a:ext uri="{FF2B5EF4-FFF2-40B4-BE49-F238E27FC236}">
                <a16:creationId xmlns:a16="http://schemas.microsoft.com/office/drawing/2014/main" id="{5FB49488-602A-4831-9438-53E12911531D}"/>
              </a:ext>
            </a:extLst>
          </p:cNvPr>
          <p:cNvSpPr txBox="1">
            <a:spLocks noChangeArrowheads="1"/>
          </p:cNvSpPr>
          <p:nvPr/>
        </p:nvSpPr>
        <p:spPr bwMode="auto">
          <a:xfrm>
            <a:off x="1851025" y="3652838"/>
            <a:ext cx="792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endParaRPr lang="zh-CN" altLang="zh-CN" sz="2400" b="0">
              <a:latin typeface="Times New Roman" panose="02020603050405020304" pitchFamily="18" charset="0"/>
              <a:ea typeface="楷体_GB2312" pitchFamily="49" charset="-122"/>
            </a:endParaRPr>
          </a:p>
        </p:txBody>
      </p:sp>
      <p:sp>
        <p:nvSpPr>
          <p:cNvPr id="61445" name="Text Box 7">
            <a:extLst>
              <a:ext uri="{FF2B5EF4-FFF2-40B4-BE49-F238E27FC236}">
                <a16:creationId xmlns:a16="http://schemas.microsoft.com/office/drawing/2014/main" id="{651A5B65-863F-4D08-A614-08123DB266DB}"/>
              </a:ext>
            </a:extLst>
          </p:cNvPr>
          <p:cNvSpPr txBox="1">
            <a:spLocks noChangeArrowheads="1"/>
          </p:cNvSpPr>
          <p:nvPr/>
        </p:nvSpPr>
        <p:spPr bwMode="auto">
          <a:xfrm>
            <a:off x="1774825" y="2205038"/>
            <a:ext cx="822960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80000"/>
              </a:lnSpc>
              <a:spcBef>
                <a:spcPct val="50000"/>
              </a:spcBef>
              <a:buFontTx/>
              <a:buNone/>
            </a:pPr>
            <a:r>
              <a:rPr lang="zh-CN" altLang="en-US" dirty="0">
                <a:latin typeface="楷体_GB2312" pitchFamily="49" charset="-122"/>
                <a:ea typeface="楷体_GB2312" pitchFamily="49" charset="-122"/>
              </a:rPr>
              <a:t>（</a:t>
            </a:r>
            <a:r>
              <a:rPr lang="zh-CN" altLang="en-US" dirty="0">
                <a:latin typeface="Times New Roman" panose="02020603050405020304" pitchFamily="18" charset="0"/>
                <a:ea typeface="楷体_GB2312" pitchFamily="49" charset="-122"/>
              </a:rPr>
              <a:t>二）来源 （维生素 </a:t>
            </a:r>
            <a:r>
              <a:rPr lang="en-US" altLang="zh-CN" dirty="0">
                <a:latin typeface="Times New Roman" panose="02020603050405020304" pitchFamily="18" charset="0"/>
                <a:ea typeface="楷体_GB2312" pitchFamily="49" charset="-122"/>
              </a:rPr>
              <a:t>D</a:t>
            </a:r>
            <a:r>
              <a:rPr lang="zh-CN" altLang="en-US" dirty="0">
                <a:latin typeface="Times New Roman" panose="02020603050405020304" pitchFamily="18" charset="0"/>
                <a:ea typeface="楷体_GB2312" pitchFamily="49" charset="-122"/>
              </a:rPr>
              <a:t>原经紫外线照射） </a:t>
            </a:r>
          </a:p>
        </p:txBody>
      </p:sp>
      <p:sp>
        <p:nvSpPr>
          <p:cNvPr id="61446" name="Text Box 9">
            <a:extLst>
              <a:ext uri="{FF2B5EF4-FFF2-40B4-BE49-F238E27FC236}">
                <a16:creationId xmlns:a16="http://schemas.microsoft.com/office/drawing/2014/main" id="{79918B56-7EFA-46EB-903C-E3B930B643FD}"/>
              </a:ext>
            </a:extLst>
          </p:cNvPr>
          <p:cNvSpPr txBox="1">
            <a:spLocks noChangeArrowheads="1"/>
          </p:cNvSpPr>
          <p:nvPr/>
        </p:nvSpPr>
        <p:spPr bwMode="auto">
          <a:xfrm>
            <a:off x="3432176" y="3500439"/>
            <a:ext cx="7848400" cy="1538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80000"/>
              </a:lnSpc>
              <a:spcBef>
                <a:spcPct val="50000"/>
              </a:spcBef>
              <a:buFontTx/>
              <a:buNone/>
            </a:pPr>
            <a:r>
              <a:rPr lang="zh-CN" altLang="en-US" sz="2000" dirty="0">
                <a:latin typeface="Times New Roman" panose="02020603050405020304" pitchFamily="18" charset="0"/>
                <a:ea typeface="楷体_GB2312" pitchFamily="49" charset="-122"/>
              </a:rPr>
              <a:t>麦角固醇                                </a:t>
            </a:r>
            <a:r>
              <a:rPr lang="en-US" altLang="zh-CN" sz="2000" dirty="0">
                <a:solidFill>
                  <a:srgbClr val="3333CC"/>
                </a:solidFill>
                <a:latin typeface="Times New Roman" panose="02020603050405020304" pitchFamily="18" charset="0"/>
                <a:ea typeface="楷体_GB2312" pitchFamily="49" charset="-122"/>
              </a:rPr>
              <a:t>D</a:t>
            </a:r>
            <a:r>
              <a:rPr lang="en-US" altLang="zh-CN" sz="2000" baseline="-25000" dirty="0">
                <a:solidFill>
                  <a:srgbClr val="3333CC"/>
                </a:solidFill>
                <a:latin typeface="Times New Roman" panose="02020603050405020304" pitchFamily="18" charset="0"/>
                <a:ea typeface="楷体_GB2312" pitchFamily="49" charset="-122"/>
              </a:rPr>
              <a:t>2</a:t>
            </a:r>
            <a:r>
              <a:rPr lang="zh-CN" altLang="en-US" sz="2000" dirty="0">
                <a:solidFill>
                  <a:srgbClr val="3333CC"/>
                </a:solidFill>
                <a:latin typeface="Times New Roman" panose="02020603050405020304" pitchFamily="18" charset="0"/>
                <a:ea typeface="楷体_GB2312" pitchFamily="49" charset="-122"/>
              </a:rPr>
              <a:t>（麦角钙化醇）</a:t>
            </a:r>
            <a:endParaRPr lang="en-US" altLang="zh-CN" sz="2000" dirty="0">
              <a:solidFill>
                <a:srgbClr val="3333CC"/>
              </a:solidFill>
              <a:latin typeface="Times New Roman" panose="02020603050405020304" pitchFamily="18" charset="0"/>
              <a:ea typeface="楷体_GB2312" pitchFamily="49" charset="-122"/>
            </a:endParaRPr>
          </a:p>
          <a:p>
            <a:pPr eaLnBrk="1" hangingPunct="1">
              <a:lnSpc>
                <a:spcPct val="80000"/>
              </a:lnSpc>
              <a:spcBef>
                <a:spcPct val="50000"/>
              </a:spcBef>
              <a:buFontTx/>
              <a:buNone/>
            </a:pPr>
            <a:r>
              <a:rPr lang="en-US" altLang="zh-CN" sz="2000" dirty="0">
                <a:solidFill>
                  <a:srgbClr val="0000CC"/>
                </a:solidFill>
                <a:latin typeface="Times New Roman" panose="02020603050405020304" pitchFamily="18" charset="0"/>
                <a:ea typeface="楷体_GB2312" pitchFamily="49" charset="-122"/>
              </a:rPr>
              <a:t>7-</a:t>
            </a:r>
            <a:r>
              <a:rPr lang="zh-CN" altLang="en-US" sz="2000" dirty="0">
                <a:solidFill>
                  <a:srgbClr val="0000CC"/>
                </a:solidFill>
                <a:latin typeface="Times New Roman" panose="02020603050405020304" pitchFamily="18" charset="0"/>
                <a:ea typeface="楷体_GB2312" pitchFamily="49" charset="-122"/>
              </a:rPr>
              <a:t>脱氢胆固醇                         </a:t>
            </a:r>
            <a:r>
              <a:rPr lang="en-US" altLang="zh-CN" sz="2000" dirty="0">
                <a:solidFill>
                  <a:srgbClr val="C00000"/>
                </a:solidFill>
                <a:latin typeface="Times New Roman" panose="02020603050405020304" pitchFamily="18" charset="0"/>
                <a:ea typeface="楷体_GB2312" pitchFamily="49" charset="-122"/>
              </a:rPr>
              <a:t>D</a:t>
            </a:r>
            <a:r>
              <a:rPr lang="en-US" altLang="zh-CN" sz="2000" baseline="-25000" dirty="0">
                <a:solidFill>
                  <a:srgbClr val="C00000"/>
                </a:solidFill>
                <a:latin typeface="Times New Roman" panose="02020603050405020304" pitchFamily="18" charset="0"/>
                <a:ea typeface="楷体_GB2312" pitchFamily="49" charset="-122"/>
              </a:rPr>
              <a:t>3</a:t>
            </a:r>
            <a:r>
              <a:rPr lang="zh-CN" altLang="en-US" sz="2000" dirty="0">
                <a:solidFill>
                  <a:srgbClr val="C00000"/>
                </a:solidFill>
                <a:latin typeface="Times New Roman" panose="02020603050405020304" pitchFamily="18" charset="0"/>
                <a:ea typeface="楷体_GB2312" pitchFamily="49" charset="-122"/>
              </a:rPr>
              <a:t>（胆钙化醇，</a:t>
            </a:r>
            <a:r>
              <a:rPr lang="en-US" altLang="zh-CN" sz="2000" dirty="0">
                <a:effectLst>
                  <a:outerShdw blurRad="38100" dist="38100" dir="2700000" algn="tl">
                    <a:srgbClr val="000000"/>
                  </a:outerShdw>
                </a:effectLst>
              </a:rPr>
              <a:t> </a:t>
            </a:r>
            <a:r>
              <a:rPr lang="en-US" altLang="zh-CN" sz="2000" b="0" dirty="0"/>
              <a:t>Cholecalciferol</a:t>
            </a:r>
            <a:r>
              <a:rPr lang="en-US" altLang="zh-CN" sz="2000" dirty="0">
                <a:effectLst>
                  <a:outerShdw blurRad="38100" dist="38100" dir="2700000" algn="tl">
                    <a:srgbClr val="000000"/>
                  </a:outerShdw>
                </a:effectLst>
              </a:rPr>
              <a:t> </a:t>
            </a:r>
            <a:r>
              <a:rPr lang="zh-CN" altLang="en-US" sz="2000" dirty="0">
                <a:solidFill>
                  <a:srgbClr val="C00000"/>
                </a:solidFill>
                <a:latin typeface="Times New Roman" panose="02020603050405020304" pitchFamily="18" charset="0"/>
                <a:ea typeface="楷体_GB2312" pitchFamily="49" charset="-122"/>
              </a:rPr>
              <a:t>）</a:t>
            </a:r>
            <a:endParaRPr lang="en-US" altLang="zh-CN" sz="2000" dirty="0">
              <a:solidFill>
                <a:srgbClr val="C00000"/>
              </a:solidFill>
              <a:latin typeface="Times New Roman" panose="02020603050405020304" pitchFamily="18" charset="0"/>
              <a:ea typeface="楷体_GB2312" pitchFamily="49" charset="-122"/>
            </a:endParaRPr>
          </a:p>
          <a:p>
            <a:pPr eaLnBrk="1" hangingPunct="1">
              <a:lnSpc>
                <a:spcPct val="80000"/>
              </a:lnSpc>
              <a:spcBef>
                <a:spcPct val="50000"/>
              </a:spcBef>
              <a:buFontTx/>
              <a:buNone/>
            </a:pPr>
            <a:r>
              <a:rPr lang="en-US" altLang="zh-CN" sz="2000" dirty="0">
                <a:latin typeface="Times New Roman" panose="02020603050405020304" pitchFamily="18" charset="0"/>
                <a:ea typeface="楷体_GB2312" pitchFamily="49" charset="-122"/>
              </a:rPr>
              <a:t>22-</a:t>
            </a:r>
            <a:r>
              <a:rPr lang="zh-CN" altLang="en-US" sz="2000" dirty="0">
                <a:latin typeface="Times New Roman" panose="02020603050405020304" pitchFamily="18" charset="0"/>
                <a:ea typeface="楷体_GB2312" pitchFamily="49" charset="-122"/>
              </a:rPr>
              <a:t>双氢麦角固醇                   </a:t>
            </a:r>
            <a:r>
              <a:rPr lang="en-US" altLang="zh-CN" sz="2000" dirty="0">
                <a:latin typeface="Times New Roman" panose="02020603050405020304" pitchFamily="18" charset="0"/>
                <a:ea typeface="楷体_GB2312" pitchFamily="49" charset="-122"/>
              </a:rPr>
              <a:t>D</a:t>
            </a:r>
            <a:r>
              <a:rPr lang="en-US" altLang="zh-CN" sz="2000" baseline="-25000" dirty="0">
                <a:latin typeface="Times New Roman" panose="02020603050405020304" pitchFamily="18" charset="0"/>
                <a:ea typeface="楷体_GB2312" pitchFamily="49" charset="-122"/>
              </a:rPr>
              <a:t>4</a:t>
            </a:r>
            <a:endParaRPr lang="en-US" altLang="zh-CN" sz="2000" dirty="0">
              <a:latin typeface="Times New Roman" panose="02020603050405020304" pitchFamily="18" charset="0"/>
              <a:ea typeface="楷体_GB2312" pitchFamily="49" charset="-122"/>
            </a:endParaRPr>
          </a:p>
          <a:p>
            <a:pPr eaLnBrk="1" hangingPunct="1">
              <a:lnSpc>
                <a:spcPct val="80000"/>
              </a:lnSpc>
              <a:spcBef>
                <a:spcPct val="50000"/>
              </a:spcBef>
              <a:buFontTx/>
              <a:buNone/>
            </a:pPr>
            <a:r>
              <a:rPr lang="en-US" altLang="zh-CN" sz="2000" dirty="0">
                <a:latin typeface="Times New Roman" panose="02020603050405020304" pitchFamily="18" charset="0"/>
                <a:ea typeface="楷体_GB2312" pitchFamily="49" charset="-122"/>
              </a:rPr>
              <a:t>7-</a:t>
            </a:r>
            <a:r>
              <a:rPr lang="zh-CN" altLang="en-US" sz="2000" dirty="0">
                <a:latin typeface="Times New Roman" panose="02020603050405020304" pitchFamily="18" charset="0"/>
                <a:ea typeface="楷体_GB2312" pitchFamily="49" charset="-122"/>
              </a:rPr>
              <a:t>脱氢谷固醇                         </a:t>
            </a:r>
            <a:r>
              <a:rPr lang="en-US" altLang="zh-CN" sz="2000" dirty="0">
                <a:latin typeface="Times New Roman" panose="02020603050405020304" pitchFamily="18" charset="0"/>
                <a:ea typeface="楷体_GB2312" pitchFamily="49" charset="-122"/>
              </a:rPr>
              <a:t>D</a:t>
            </a:r>
            <a:r>
              <a:rPr lang="en-US" altLang="zh-CN" sz="2000" baseline="-25000" dirty="0">
                <a:latin typeface="Times New Roman" panose="02020603050405020304" pitchFamily="18" charset="0"/>
                <a:ea typeface="楷体_GB2312" pitchFamily="49" charset="-122"/>
              </a:rPr>
              <a:t>5</a:t>
            </a:r>
            <a:endParaRPr lang="en-US" altLang="zh-CN" sz="2000" dirty="0">
              <a:latin typeface="Times New Roman" panose="02020603050405020304" pitchFamily="18" charset="0"/>
              <a:ea typeface="楷体_GB2312" pitchFamily="49" charset="-122"/>
            </a:endParaRPr>
          </a:p>
        </p:txBody>
      </p:sp>
      <p:grpSp>
        <p:nvGrpSpPr>
          <p:cNvPr id="61447" name="Group 21">
            <a:extLst>
              <a:ext uri="{FF2B5EF4-FFF2-40B4-BE49-F238E27FC236}">
                <a16:creationId xmlns:a16="http://schemas.microsoft.com/office/drawing/2014/main" id="{9859E261-00A4-4BEA-AEC2-E563A119957A}"/>
              </a:ext>
            </a:extLst>
          </p:cNvPr>
          <p:cNvGrpSpPr>
            <a:grpSpLocks/>
          </p:cNvGrpSpPr>
          <p:nvPr/>
        </p:nvGrpSpPr>
        <p:grpSpPr bwMode="auto">
          <a:xfrm>
            <a:off x="5519739" y="3644901"/>
            <a:ext cx="585787" cy="1223963"/>
            <a:chOff x="1791" y="1933"/>
            <a:chExt cx="528" cy="771"/>
          </a:xfrm>
        </p:grpSpPr>
        <p:sp>
          <p:nvSpPr>
            <p:cNvPr id="61452" name="Line 10">
              <a:extLst>
                <a:ext uri="{FF2B5EF4-FFF2-40B4-BE49-F238E27FC236}">
                  <a16:creationId xmlns:a16="http://schemas.microsoft.com/office/drawing/2014/main" id="{E95A8BD7-6F00-4507-B473-2DE1165E8AE3}"/>
                </a:ext>
              </a:extLst>
            </p:cNvPr>
            <p:cNvSpPr>
              <a:spLocks noChangeShapeType="1"/>
            </p:cNvSpPr>
            <p:nvPr/>
          </p:nvSpPr>
          <p:spPr bwMode="auto">
            <a:xfrm>
              <a:off x="1791" y="1933"/>
              <a:ext cx="528" cy="0"/>
            </a:xfrm>
            <a:prstGeom prst="line">
              <a:avLst/>
            </a:prstGeom>
            <a:noFill/>
            <a:ln w="2857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53" name="Line 11">
              <a:extLst>
                <a:ext uri="{FF2B5EF4-FFF2-40B4-BE49-F238E27FC236}">
                  <a16:creationId xmlns:a16="http://schemas.microsoft.com/office/drawing/2014/main" id="{70C71A60-7A39-4C01-8DC0-D028364C973B}"/>
                </a:ext>
              </a:extLst>
            </p:cNvPr>
            <p:cNvSpPr>
              <a:spLocks noChangeShapeType="1"/>
            </p:cNvSpPr>
            <p:nvPr/>
          </p:nvSpPr>
          <p:spPr bwMode="auto">
            <a:xfrm>
              <a:off x="1791" y="2205"/>
              <a:ext cx="528" cy="0"/>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54" name="Line 12">
              <a:extLst>
                <a:ext uri="{FF2B5EF4-FFF2-40B4-BE49-F238E27FC236}">
                  <a16:creationId xmlns:a16="http://schemas.microsoft.com/office/drawing/2014/main" id="{9C600BBE-41E3-461F-B9C8-7448C117D476}"/>
                </a:ext>
              </a:extLst>
            </p:cNvPr>
            <p:cNvSpPr>
              <a:spLocks noChangeShapeType="1"/>
            </p:cNvSpPr>
            <p:nvPr/>
          </p:nvSpPr>
          <p:spPr bwMode="auto">
            <a:xfrm>
              <a:off x="1791" y="2432"/>
              <a:ext cx="528" cy="0"/>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55" name="Line 13">
              <a:extLst>
                <a:ext uri="{FF2B5EF4-FFF2-40B4-BE49-F238E27FC236}">
                  <a16:creationId xmlns:a16="http://schemas.microsoft.com/office/drawing/2014/main" id="{EB134114-F4E7-46B5-A75C-D2FF5D703146}"/>
                </a:ext>
              </a:extLst>
            </p:cNvPr>
            <p:cNvSpPr>
              <a:spLocks noChangeShapeType="1"/>
            </p:cNvSpPr>
            <p:nvPr/>
          </p:nvSpPr>
          <p:spPr bwMode="auto">
            <a:xfrm>
              <a:off x="1791" y="2704"/>
              <a:ext cx="528" cy="0"/>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20">
            <a:extLst>
              <a:ext uri="{FF2B5EF4-FFF2-40B4-BE49-F238E27FC236}">
                <a16:creationId xmlns:a16="http://schemas.microsoft.com/office/drawing/2014/main" id="{482CC383-AC61-4E30-916A-6E48978F3B7C}"/>
              </a:ext>
            </a:extLst>
          </p:cNvPr>
          <p:cNvGrpSpPr>
            <a:grpSpLocks/>
          </p:cNvGrpSpPr>
          <p:nvPr/>
        </p:nvGrpSpPr>
        <p:grpSpPr bwMode="auto">
          <a:xfrm>
            <a:off x="2208213" y="5589584"/>
            <a:ext cx="7261224" cy="584199"/>
            <a:chOff x="432" y="3430"/>
            <a:chExt cx="4574" cy="368"/>
          </a:xfrm>
        </p:grpSpPr>
        <p:sp>
          <p:nvSpPr>
            <p:cNvPr id="61450" name="Rectangle 14">
              <a:extLst>
                <a:ext uri="{FF2B5EF4-FFF2-40B4-BE49-F238E27FC236}">
                  <a16:creationId xmlns:a16="http://schemas.microsoft.com/office/drawing/2014/main" id="{174ECB3E-A363-466E-9DC9-7B1249C7E28F}"/>
                </a:ext>
              </a:extLst>
            </p:cNvPr>
            <p:cNvSpPr>
              <a:spLocks noChangeArrowheads="1"/>
            </p:cNvSpPr>
            <p:nvPr/>
          </p:nvSpPr>
          <p:spPr bwMode="auto">
            <a:xfrm>
              <a:off x="432" y="3459"/>
              <a:ext cx="26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lang="zh-CN" altLang="en-US" dirty="0">
                  <a:solidFill>
                    <a:srgbClr val="C00000"/>
                  </a:solidFill>
                  <a:latin typeface="Times New Roman" panose="02020603050405020304" pitchFamily="18" charset="0"/>
                  <a:ea typeface="楷体_GB2312" pitchFamily="49" charset="-122"/>
                </a:rPr>
                <a:t>维生素</a:t>
              </a:r>
              <a:r>
                <a:rPr lang="en-US" altLang="zh-CN" dirty="0">
                  <a:solidFill>
                    <a:srgbClr val="C00000"/>
                  </a:solidFill>
                  <a:latin typeface="Times New Roman" panose="02020603050405020304" pitchFamily="18" charset="0"/>
                  <a:ea typeface="楷体_GB2312" pitchFamily="49" charset="-122"/>
                </a:rPr>
                <a:t>D</a:t>
              </a:r>
              <a:r>
                <a:rPr lang="en-US" altLang="zh-CN" baseline="-25000" dirty="0">
                  <a:solidFill>
                    <a:srgbClr val="C00000"/>
                  </a:solidFill>
                  <a:latin typeface="Times New Roman" panose="02020603050405020304" pitchFamily="18" charset="0"/>
                  <a:ea typeface="楷体_GB2312" pitchFamily="49" charset="-122"/>
                </a:rPr>
                <a:t>3</a:t>
              </a:r>
              <a:r>
                <a:rPr lang="zh-CN" altLang="en-US" dirty="0">
                  <a:solidFill>
                    <a:srgbClr val="C00000"/>
                  </a:solidFill>
                  <a:latin typeface="Times New Roman" panose="02020603050405020304" pitchFamily="18" charset="0"/>
                  <a:ea typeface="楷体_GB2312" pitchFamily="49" charset="-122"/>
                </a:rPr>
                <a:t>的活化形式：</a:t>
              </a:r>
            </a:p>
          </p:txBody>
        </p:sp>
        <p:sp>
          <p:nvSpPr>
            <p:cNvPr id="61451" name="Rectangle 15">
              <a:extLst>
                <a:ext uri="{FF2B5EF4-FFF2-40B4-BE49-F238E27FC236}">
                  <a16:creationId xmlns:a16="http://schemas.microsoft.com/office/drawing/2014/main" id="{87D13C22-AE88-44D8-B0EF-D6EDDEA5B089}"/>
                </a:ext>
              </a:extLst>
            </p:cNvPr>
            <p:cNvSpPr>
              <a:spLocks noChangeArrowheads="1"/>
            </p:cNvSpPr>
            <p:nvPr/>
          </p:nvSpPr>
          <p:spPr bwMode="auto">
            <a:xfrm>
              <a:off x="2880" y="3430"/>
              <a:ext cx="212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lang="en-US" altLang="zh-CN" sz="3200" dirty="0">
                  <a:solidFill>
                    <a:srgbClr val="C00000"/>
                  </a:solidFill>
                  <a:latin typeface="Times New Roman" panose="02020603050405020304" pitchFamily="18" charset="0"/>
                  <a:ea typeface="楷体_GB2312" pitchFamily="49" charset="-122"/>
                </a:rPr>
                <a:t>1</a:t>
              </a:r>
              <a:r>
                <a:rPr lang="zh-CN" altLang="en-US" sz="3200" dirty="0">
                  <a:solidFill>
                    <a:srgbClr val="C00000"/>
                  </a:solidFill>
                  <a:latin typeface="Times New Roman" panose="02020603050405020304" pitchFamily="18" charset="0"/>
                  <a:ea typeface="楷体_GB2312" pitchFamily="49" charset="-122"/>
                </a:rPr>
                <a:t>，</a:t>
              </a:r>
              <a:r>
                <a:rPr lang="en-US" altLang="zh-CN" sz="3200" dirty="0">
                  <a:solidFill>
                    <a:srgbClr val="C00000"/>
                  </a:solidFill>
                  <a:latin typeface="Times New Roman" panose="02020603050405020304" pitchFamily="18" charset="0"/>
                  <a:ea typeface="楷体_GB2312" pitchFamily="49" charset="-122"/>
                </a:rPr>
                <a:t>25-</a:t>
              </a:r>
              <a:r>
                <a:rPr lang="zh-CN" altLang="en-US" sz="3200" dirty="0">
                  <a:solidFill>
                    <a:srgbClr val="C00000"/>
                  </a:solidFill>
                  <a:latin typeface="Times New Roman" panose="02020603050405020304" pitchFamily="18" charset="0"/>
                  <a:ea typeface="楷体_GB2312" pitchFamily="49" charset="-122"/>
                </a:rPr>
                <a:t>（</a:t>
              </a:r>
              <a:r>
                <a:rPr lang="en-US" altLang="zh-CN" sz="3200" dirty="0">
                  <a:solidFill>
                    <a:srgbClr val="C00000"/>
                  </a:solidFill>
                  <a:latin typeface="Times New Roman" panose="02020603050405020304" pitchFamily="18" charset="0"/>
                  <a:ea typeface="楷体_GB2312" pitchFamily="49" charset="-122"/>
                </a:rPr>
                <a:t>OH</a:t>
              </a:r>
              <a:r>
                <a:rPr lang="zh-CN" altLang="en-US" sz="3200" dirty="0">
                  <a:solidFill>
                    <a:srgbClr val="C00000"/>
                  </a:solidFill>
                  <a:latin typeface="Times New Roman" panose="02020603050405020304" pitchFamily="18" charset="0"/>
                  <a:ea typeface="楷体_GB2312" pitchFamily="49" charset="-122"/>
                </a:rPr>
                <a:t>）</a:t>
              </a:r>
              <a:r>
                <a:rPr lang="en-US" altLang="zh-CN" sz="3200" baseline="-25000" dirty="0">
                  <a:solidFill>
                    <a:srgbClr val="C00000"/>
                  </a:solidFill>
                  <a:latin typeface="Times New Roman" panose="02020603050405020304" pitchFamily="18" charset="0"/>
                  <a:ea typeface="楷体_GB2312" pitchFamily="49" charset="-122"/>
                </a:rPr>
                <a:t>2</a:t>
              </a:r>
              <a:r>
                <a:rPr lang="en-US" altLang="zh-CN" sz="3200" dirty="0">
                  <a:solidFill>
                    <a:srgbClr val="C00000"/>
                  </a:solidFill>
                  <a:latin typeface="Times New Roman" panose="02020603050405020304" pitchFamily="18" charset="0"/>
                  <a:ea typeface="楷体_GB2312" pitchFamily="49" charset="-122"/>
                </a:rPr>
                <a:t>D</a:t>
              </a:r>
              <a:r>
                <a:rPr lang="en-US" altLang="zh-CN" sz="3200" baseline="-25000" dirty="0">
                  <a:solidFill>
                    <a:srgbClr val="C00000"/>
                  </a:solidFill>
                  <a:latin typeface="Times New Roman" panose="02020603050405020304" pitchFamily="18" charset="0"/>
                  <a:ea typeface="楷体_GB2312" pitchFamily="49" charset="-122"/>
                </a:rPr>
                <a:t>3</a:t>
              </a:r>
            </a:p>
          </p:txBody>
        </p:sp>
      </p:grpSp>
      <p:sp>
        <p:nvSpPr>
          <p:cNvPr id="61449" name="Text Box 23">
            <a:extLst>
              <a:ext uri="{FF2B5EF4-FFF2-40B4-BE49-F238E27FC236}">
                <a16:creationId xmlns:a16="http://schemas.microsoft.com/office/drawing/2014/main" id="{B5381927-3F07-455D-BE55-A041773C8312}"/>
              </a:ext>
            </a:extLst>
          </p:cNvPr>
          <p:cNvSpPr txBox="1">
            <a:spLocks noChangeArrowheads="1"/>
          </p:cNvSpPr>
          <p:nvPr/>
        </p:nvSpPr>
        <p:spPr bwMode="auto">
          <a:xfrm>
            <a:off x="2351088" y="2781301"/>
            <a:ext cx="69135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lang="zh-CN" altLang="en-US" sz="2400" b="0" dirty="0">
                <a:latin typeface="Times New Roman" panose="02020603050405020304" pitchFamily="18" charset="0"/>
                <a:ea typeface="楷体_GB2312" pitchFamily="49" charset="-122"/>
              </a:rPr>
              <a:t>肝脏、乳制品、蛋黄、鱼肝油中含量相对较多</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文本框 1">
            <a:extLst>
              <a:ext uri="{FF2B5EF4-FFF2-40B4-BE49-F238E27FC236}">
                <a16:creationId xmlns:a16="http://schemas.microsoft.com/office/drawing/2014/main" id="{CC1B69F6-ADBF-46E9-9307-309B0830F6F5}"/>
              </a:ext>
            </a:extLst>
          </p:cNvPr>
          <p:cNvSpPr txBox="1">
            <a:spLocks noChangeArrowheads="1"/>
          </p:cNvSpPr>
          <p:nvPr/>
        </p:nvSpPr>
        <p:spPr bwMode="auto">
          <a:xfrm>
            <a:off x="1753894" y="293488"/>
            <a:ext cx="8684211" cy="1384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20000"/>
              </a:lnSpc>
              <a:spcBef>
                <a:spcPct val="0"/>
              </a:spcBef>
              <a:buFontTx/>
              <a:buNone/>
            </a:pPr>
            <a:r>
              <a:rPr lang="zh-CN" altLang="en-US" sz="2400" b="0" dirty="0">
                <a:latin typeface="Times New Roman" panose="02020603050405020304" pitchFamily="18" charset="0"/>
                <a:ea typeface="楷体_GB2312" pitchFamily="49" charset="-122"/>
              </a:rPr>
              <a:t>肝脏合成胆固醇  →   </a:t>
            </a:r>
            <a:r>
              <a:rPr lang="zh-CN" altLang="en-US" sz="2400" b="0" dirty="0">
                <a:solidFill>
                  <a:srgbClr val="3333CC"/>
                </a:solidFill>
                <a:latin typeface="Times New Roman" panose="02020603050405020304" pitchFamily="18" charset="0"/>
                <a:ea typeface="楷体_GB2312" pitchFamily="49" charset="-122"/>
              </a:rPr>
              <a:t>皮肤</a:t>
            </a:r>
            <a:r>
              <a:rPr lang="zh-CN" altLang="en-US" sz="2400" b="0" dirty="0">
                <a:latin typeface="Times New Roman" panose="02020603050405020304" pitchFamily="18" charset="0"/>
                <a:ea typeface="楷体_GB2312" pitchFamily="49" charset="-122"/>
              </a:rPr>
              <a:t>中氧化为</a:t>
            </a:r>
            <a:r>
              <a:rPr lang="en-US" altLang="zh-CN" sz="2400" b="0" dirty="0">
                <a:solidFill>
                  <a:srgbClr val="3333CC"/>
                </a:solidFill>
                <a:latin typeface="Times New Roman" panose="02020603050405020304" pitchFamily="18" charset="0"/>
                <a:ea typeface="楷体_GB2312" pitchFamily="49" charset="-122"/>
              </a:rPr>
              <a:t>7-</a:t>
            </a:r>
            <a:r>
              <a:rPr lang="zh-CN" altLang="en-US" sz="2400" b="0" dirty="0">
                <a:solidFill>
                  <a:srgbClr val="3333CC"/>
                </a:solidFill>
                <a:latin typeface="Times New Roman" panose="02020603050405020304" pitchFamily="18" charset="0"/>
                <a:ea typeface="楷体_GB2312" pitchFamily="49" charset="-122"/>
              </a:rPr>
              <a:t>脱氢胆固醇</a:t>
            </a:r>
            <a:r>
              <a:rPr lang="zh-CN" altLang="en-US" sz="2400" b="0" dirty="0">
                <a:latin typeface="Times New Roman" panose="02020603050405020304" pitchFamily="18" charset="0"/>
                <a:ea typeface="楷体_GB2312" pitchFamily="49" charset="-122"/>
              </a:rPr>
              <a:t>， </a:t>
            </a:r>
            <a:r>
              <a:rPr lang="zh-CN" altLang="en-US" sz="2400" b="0" dirty="0">
                <a:solidFill>
                  <a:srgbClr val="3333CC"/>
                </a:solidFill>
                <a:latin typeface="Times New Roman" panose="02020603050405020304" pitchFamily="18" charset="0"/>
                <a:ea typeface="楷体_GB2312" pitchFamily="49" charset="-122"/>
              </a:rPr>
              <a:t>紫外线</a:t>
            </a:r>
            <a:r>
              <a:rPr lang="zh-CN" altLang="en-US" sz="2400" b="0" dirty="0">
                <a:latin typeface="Times New Roman" panose="02020603050405020304" pitchFamily="18" charset="0"/>
                <a:ea typeface="楷体_GB2312" pitchFamily="49" charset="-122"/>
              </a:rPr>
              <a:t>下转变为</a:t>
            </a:r>
            <a:r>
              <a:rPr lang="en-US" altLang="zh-CN" sz="2400" b="0" dirty="0">
                <a:solidFill>
                  <a:srgbClr val="FF0000"/>
                </a:solidFill>
                <a:latin typeface="Times New Roman" panose="02020603050405020304" pitchFamily="18" charset="0"/>
                <a:ea typeface="楷体_GB2312" pitchFamily="49" charset="-122"/>
              </a:rPr>
              <a:t>D</a:t>
            </a:r>
            <a:r>
              <a:rPr lang="en-US" altLang="zh-CN" sz="2400" b="0" baseline="-25000" dirty="0">
                <a:solidFill>
                  <a:srgbClr val="FF0000"/>
                </a:solidFill>
                <a:latin typeface="Times New Roman" panose="02020603050405020304" pitchFamily="18" charset="0"/>
                <a:ea typeface="楷体_GB2312" pitchFamily="49" charset="-122"/>
              </a:rPr>
              <a:t>3</a:t>
            </a:r>
            <a:r>
              <a:rPr lang="en-US" altLang="zh-CN" sz="2400" b="0" dirty="0">
                <a:latin typeface="Times New Roman" panose="02020603050405020304" pitchFamily="18" charset="0"/>
                <a:ea typeface="楷体_GB2312" pitchFamily="49" charset="-122"/>
              </a:rPr>
              <a:t> → </a:t>
            </a:r>
            <a:r>
              <a:rPr lang="zh-CN" altLang="en-US" sz="2400" b="0" dirty="0">
                <a:latin typeface="Times New Roman" panose="02020603050405020304" pitchFamily="18" charset="0"/>
                <a:ea typeface="楷体_GB2312" pitchFamily="49" charset="-122"/>
              </a:rPr>
              <a:t>再进入肝脏，羟化为 </a:t>
            </a:r>
            <a:r>
              <a:rPr lang="en-US" altLang="zh-CN" sz="2400" b="0" dirty="0">
                <a:solidFill>
                  <a:srgbClr val="3333CC"/>
                </a:solidFill>
                <a:latin typeface="Times New Roman" panose="02020603050405020304" pitchFamily="18" charset="0"/>
                <a:ea typeface="楷体_GB2312" pitchFamily="49" charset="-122"/>
              </a:rPr>
              <a:t>25-</a:t>
            </a:r>
            <a:r>
              <a:rPr lang="zh-CN" altLang="en-US" sz="2400" b="0" dirty="0">
                <a:solidFill>
                  <a:srgbClr val="3333CC"/>
                </a:solidFill>
                <a:latin typeface="Times New Roman" panose="02020603050405020304" pitchFamily="18" charset="0"/>
                <a:ea typeface="楷体_GB2312" pitchFamily="49" charset="-122"/>
              </a:rPr>
              <a:t>羟</a:t>
            </a:r>
            <a:r>
              <a:rPr lang="en-US" altLang="zh-CN" sz="2400" b="0" dirty="0">
                <a:solidFill>
                  <a:srgbClr val="3333CC"/>
                </a:solidFill>
                <a:latin typeface="Times New Roman" panose="02020603050405020304" pitchFamily="18" charset="0"/>
                <a:ea typeface="楷体_GB2312" pitchFamily="49" charset="-122"/>
              </a:rPr>
              <a:t>D</a:t>
            </a:r>
            <a:r>
              <a:rPr lang="en-US" altLang="zh-CN" sz="2400" b="0" baseline="-25000" dirty="0">
                <a:solidFill>
                  <a:srgbClr val="3333CC"/>
                </a:solidFill>
                <a:latin typeface="Times New Roman" panose="02020603050405020304" pitchFamily="18" charset="0"/>
                <a:ea typeface="楷体_GB2312" pitchFamily="49" charset="-122"/>
              </a:rPr>
              <a:t>3</a:t>
            </a:r>
            <a:r>
              <a:rPr lang="zh-CN" altLang="en-US" sz="2400" b="0" dirty="0">
                <a:solidFill>
                  <a:srgbClr val="3333CC"/>
                </a:solidFill>
                <a:latin typeface="Times New Roman" panose="02020603050405020304" pitchFamily="18" charset="0"/>
                <a:ea typeface="楷体_GB2312" pitchFamily="49" charset="-122"/>
              </a:rPr>
              <a:t>（骨化二醇）</a:t>
            </a:r>
            <a:r>
              <a:rPr lang="en-US" altLang="zh-CN" sz="2400" b="0" dirty="0">
                <a:solidFill>
                  <a:srgbClr val="3333CC"/>
                </a:solidFill>
                <a:latin typeface="Times New Roman" panose="02020603050405020304" pitchFamily="18" charset="0"/>
                <a:ea typeface="楷体_GB2312" pitchFamily="49" charset="-122"/>
              </a:rPr>
              <a:t> </a:t>
            </a:r>
            <a:r>
              <a:rPr lang="en-US" altLang="zh-CN" sz="2400" b="0" dirty="0">
                <a:latin typeface="Times New Roman" panose="02020603050405020304" pitchFamily="18" charset="0"/>
                <a:ea typeface="楷体_GB2312" pitchFamily="49" charset="-122"/>
              </a:rPr>
              <a:t>→ </a:t>
            </a:r>
            <a:r>
              <a:rPr lang="zh-CN" altLang="en-US" sz="2400" b="0" dirty="0">
                <a:solidFill>
                  <a:srgbClr val="C00000"/>
                </a:solidFill>
                <a:latin typeface="Times New Roman" panose="02020603050405020304" pitchFamily="18" charset="0"/>
                <a:ea typeface="楷体_GB2312" pitchFamily="49" charset="-122"/>
              </a:rPr>
              <a:t>肾脏</a:t>
            </a:r>
            <a:r>
              <a:rPr lang="zh-CN" altLang="en-US" sz="2400" b="0" dirty="0">
                <a:latin typeface="Times New Roman" panose="02020603050405020304" pitchFamily="18" charset="0"/>
                <a:ea typeface="楷体_GB2312" pitchFamily="49" charset="-122"/>
              </a:rPr>
              <a:t>中继续羟化为</a:t>
            </a:r>
            <a:r>
              <a:rPr lang="en-US" altLang="zh-CN" sz="2400" b="0" dirty="0">
                <a:solidFill>
                  <a:srgbClr val="C00000"/>
                </a:solidFill>
                <a:latin typeface="Times New Roman" panose="02020603050405020304" pitchFamily="18" charset="0"/>
                <a:ea typeface="楷体_GB2312" pitchFamily="49" charset="-122"/>
              </a:rPr>
              <a:t>1</a:t>
            </a:r>
            <a:r>
              <a:rPr lang="zh-CN" altLang="en-US" sz="2400" b="0" dirty="0">
                <a:solidFill>
                  <a:srgbClr val="C00000"/>
                </a:solidFill>
                <a:latin typeface="Times New Roman" panose="02020603050405020304" pitchFamily="18" charset="0"/>
                <a:ea typeface="楷体_GB2312" pitchFamily="49" charset="-122"/>
              </a:rPr>
              <a:t>，</a:t>
            </a:r>
            <a:r>
              <a:rPr lang="en-US" altLang="zh-CN" sz="2400" b="0" dirty="0">
                <a:solidFill>
                  <a:srgbClr val="C00000"/>
                </a:solidFill>
                <a:latin typeface="Times New Roman" panose="02020603050405020304" pitchFamily="18" charset="0"/>
                <a:ea typeface="楷体_GB2312" pitchFamily="49" charset="-122"/>
              </a:rPr>
              <a:t>25</a:t>
            </a:r>
            <a:r>
              <a:rPr lang="zh-CN" altLang="en-US" sz="2400" b="0" dirty="0">
                <a:solidFill>
                  <a:srgbClr val="C00000"/>
                </a:solidFill>
                <a:latin typeface="Times New Roman" panose="02020603050405020304" pitchFamily="18" charset="0"/>
                <a:ea typeface="楷体_GB2312" pitchFamily="49" charset="-122"/>
              </a:rPr>
              <a:t>二羟</a:t>
            </a:r>
            <a:r>
              <a:rPr lang="en-US" altLang="zh-CN" sz="2400" b="0" dirty="0">
                <a:solidFill>
                  <a:srgbClr val="C00000"/>
                </a:solidFill>
                <a:latin typeface="Times New Roman" panose="02020603050405020304" pitchFamily="18" charset="0"/>
                <a:ea typeface="楷体_GB2312" pitchFamily="49" charset="-122"/>
              </a:rPr>
              <a:t>D</a:t>
            </a:r>
            <a:r>
              <a:rPr lang="en-US" altLang="zh-CN" sz="2400" b="0" baseline="-25000" dirty="0">
                <a:solidFill>
                  <a:srgbClr val="C00000"/>
                </a:solidFill>
                <a:latin typeface="Times New Roman" panose="02020603050405020304" pitchFamily="18" charset="0"/>
                <a:ea typeface="楷体_GB2312" pitchFamily="49" charset="-122"/>
              </a:rPr>
              <a:t>3</a:t>
            </a:r>
            <a:r>
              <a:rPr lang="zh-CN" altLang="en-US" sz="2400" b="0" dirty="0">
                <a:solidFill>
                  <a:srgbClr val="C00000"/>
                </a:solidFill>
                <a:latin typeface="Times New Roman" panose="02020603050405020304" pitchFamily="18" charset="0"/>
                <a:ea typeface="楷体_GB2312" pitchFamily="49" charset="-122"/>
              </a:rPr>
              <a:t>（体内活性形式）</a:t>
            </a:r>
            <a:r>
              <a:rPr lang="en-US" altLang="zh-CN" sz="2400" b="0" dirty="0">
                <a:solidFill>
                  <a:srgbClr val="C00000"/>
                </a:solidFill>
                <a:latin typeface="Times New Roman" panose="02020603050405020304" pitchFamily="18" charset="0"/>
                <a:ea typeface="楷体_GB2312" pitchFamily="49" charset="-122"/>
              </a:rPr>
              <a:t> </a:t>
            </a:r>
            <a:endParaRPr lang="zh-CN" altLang="en-US" sz="2400" b="0" dirty="0">
              <a:latin typeface="Times New Roman" panose="02020603050405020304" pitchFamily="18" charset="0"/>
              <a:ea typeface="楷体_GB2312" pitchFamily="49" charset="-122"/>
            </a:endParaRPr>
          </a:p>
        </p:txBody>
      </p:sp>
      <p:grpSp>
        <p:nvGrpSpPr>
          <p:cNvPr id="9" name="组合 8">
            <a:extLst>
              <a:ext uri="{FF2B5EF4-FFF2-40B4-BE49-F238E27FC236}">
                <a16:creationId xmlns:a16="http://schemas.microsoft.com/office/drawing/2014/main" id="{10D5A72F-8C88-4939-8649-13A8F7C39690}"/>
              </a:ext>
            </a:extLst>
          </p:cNvPr>
          <p:cNvGrpSpPr/>
          <p:nvPr/>
        </p:nvGrpSpPr>
        <p:grpSpPr>
          <a:xfrm>
            <a:off x="1377236" y="1669488"/>
            <a:ext cx="9376949" cy="3348372"/>
            <a:chOff x="107504" y="2435213"/>
            <a:chExt cx="6840760" cy="1987925"/>
          </a:xfrm>
        </p:grpSpPr>
        <p:pic>
          <p:nvPicPr>
            <p:cNvPr id="3" name="图片 2">
              <a:extLst>
                <a:ext uri="{FF2B5EF4-FFF2-40B4-BE49-F238E27FC236}">
                  <a16:creationId xmlns:a16="http://schemas.microsoft.com/office/drawing/2014/main" id="{49A6DD6F-F5B3-4490-A973-AE8696913B79}"/>
                </a:ext>
              </a:extLst>
            </p:cNvPr>
            <p:cNvPicPr>
              <a:picLocks noChangeAspect="1"/>
            </p:cNvPicPr>
            <p:nvPr/>
          </p:nvPicPr>
          <p:blipFill>
            <a:blip r:embed="rId3"/>
            <a:stretch>
              <a:fillRect/>
            </a:stretch>
          </p:blipFill>
          <p:spPr>
            <a:xfrm>
              <a:off x="107504" y="2435214"/>
              <a:ext cx="4723234" cy="1987572"/>
            </a:xfrm>
            <a:prstGeom prst="rect">
              <a:avLst/>
            </a:prstGeom>
          </p:spPr>
        </p:pic>
        <p:pic>
          <p:nvPicPr>
            <p:cNvPr id="8" name="图片 7">
              <a:extLst>
                <a:ext uri="{FF2B5EF4-FFF2-40B4-BE49-F238E27FC236}">
                  <a16:creationId xmlns:a16="http://schemas.microsoft.com/office/drawing/2014/main" id="{B1BD00BB-CBBC-4FBB-9F17-450F1A7F94F4}"/>
                </a:ext>
              </a:extLst>
            </p:cNvPr>
            <p:cNvPicPr>
              <a:picLocks noChangeAspect="1"/>
            </p:cNvPicPr>
            <p:nvPr/>
          </p:nvPicPr>
          <p:blipFill>
            <a:blip r:embed="rId4"/>
            <a:stretch>
              <a:fillRect/>
            </a:stretch>
          </p:blipFill>
          <p:spPr>
            <a:xfrm>
              <a:off x="4786139" y="2435213"/>
              <a:ext cx="2162125" cy="1987925"/>
            </a:xfrm>
            <a:prstGeom prst="rect">
              <a:avLst/>
            </a:prstGeom>
          </p:spPr>
        </p:pic>
      </p:grpSp>
      <p:sp>
        <p:nvSpPr>
          <p:cNvPr id="2" name="文本框 1">
            <a:extLst>
              <a:ext uri="{FF2B5EF4-FFF2-40B4-BE49-F238E27FC236}">
                <a16:creationId xmlns:a16="http://schemas.microsoft.com/office/drawing/2014/main" id="{0F24BDCF-29FA-A24D-6FA0-E2CE87A7FC46}"/>
              </a:ext>
            </a:extLst>
          </p:cNvPr>
          <p:cNvSpPr txBox="1"/>
          <p:nvPr/>
        </p:nvSpPr>
        <p:spPr>
          <a:xfrm>
            <a:off x="5092188" y="5032956"/>
            <a:ext cx="2083932" cy="461665"/>
          </a:xfrm>
          <a:prstGeom prst="rect">
            <a:avLst/>
          </a:prstGeom>
          <a:noFill/>
        </p:spPr>
        <p:txBody>
          <a:bodyPr wrap="square" rtlCol="0">
            <a:spAutoFit/>
          </a:bodyPr>
          <a:lstStyle/>
          <a:p>
            <a:r>
              <a:rPr lang="en-US" altLang="zh-CN" sz="2400" b="0" dirty="0">
                <a:solidFill>
                  <a:srgbClr val="C00000"/>
                </a:solidFill>
              </a:rPr>
              <a:t>D</a:t>
            </a:r>
            <a:r>
              <a:rPr lang="en-US" altLang="zh-CN" sz="2400" b="0" baseline="-25000" dirty="0">
                <a:solidFill>
                  <a:srgbClr val="C00000"/>
                </a:solidFill>
              </a:rPr>
              <a:t>3</a:t>
            </a:r>
            <a:r>
              <a:rPr lang="en-US" altLang="zh-CN" sz="2400" b="0" dirty="0">
                <a:solidFill>
                  <a:srgbClr val="C00000"/>
                </a:solidFill>
              </a:rPr>
              <a:t>(</a:t>
            </a:r>
            <a:r>
              <a:rPr lang="zh-CN" altLang="en-US" sz="2400" b="0" dirty="0">
                <a:solidFill>
                  <a:srgbClr val="C00000"/>
                </a:solidFill>
              </a:rPr>
              <a:t>胆钙化醇</a:t>
            </a:r>
            <a:r>
              <a:rPr lang="en-US" altLang="zh-CN" sz="2400" b="0" dirty="0">
                <a:solidFill>
                  <a:srgbClr val="C00000"/>
                </a:solidFill>
              </a:rPr>
              <a:t>)</a:t>
            </a:r>
            <a:r>
              <a:rPr lang="zh-CN" altLang="en-US" sz="2400" b="0" dirty="0">
                <a:solidFill>
                  <a:srgbClr val="C00000"/>
                </a:solidFill>
              </a:rPr>
              <a:t> </a:t>
            </a:r>
          </a:p>
        </p:txBody>
      </p:sp>
      <p:sp>
        <p:nvSpPr>
          <p:cNvPr id="4" name="文本框 3">
            <a:extLst>
              <a:ext uri="{FF2B5EF4-FFF2-40B4-BE49-F238E27FC236}">
                <a16:creationId xmlns:a16="http://schemas.microsoft.com/office/drawing/2014/main" id="{60F53D74-08A7-525E-B5BF-8C5E1B30AE92}"/>
              </a:ext>
            </a:extLst>
          </p:cNvPr>
          <p:cNvSpPr txBox="1"/>
          <p:nvPr/>
        </p:nvSpPr>
        <p:spPr>
          <a:xfrm>
            <a:off x="8112224" y="5032956"/>
            <a:ext cx="1728192" cy="461665"/>
          </a:xfrm>
          <a:prstGeom prst="rect">
            <a:avLst/>
          </a:prstGeom>
          <a:noFill/>
        </p:spPr>
        <p:txBody>
          <a:bodyPr wrap="square" rtlCol="0">
            <a:spAutoFit/>
          </a:bodyPr>
          <a:lstStyle/>
          <a:p>
            <a:r>
              <a:rPr lang="zh-CN" altLang="en-US" sz="2400" b="0" dirty="0">
                <a:solidFill>
                  <a:schemeClr val="tx1">
                    <a:lumMod val="95000"/>
                    <a:lumOff val="5000"/>
                  </a:schemeClr>
                </a:solidFill>
              </a:rPr>
              <a:t>骨化三醇 </a:t>
            </a:r>
          </a:p>
        </p:txBody>
      </p:sp>
      <p:sp>
        <p:nvSpPr>
          <p:cNvPr id="6" name="文本框 5">
            <a:extLst>
              <a:ext uri="{FF2B5EF4-FFF2-40B4-BE49-F238E27FC236}">
                <a16:creationId xmlns:a16="http://schemas.microsoft.com/office/drawing/2014/main" id="{ED856B8D-FF08-B133-0C73-D9A714541DC8}"/>
              </a:ext>
            </a:extLst>
          </p:cNvPr>
          <p:cNvSpPr txBox="1"/>
          <p:nvPr/>
        </p:nvSpPr>
        <p:spPr>
          <a:xfrm>
            <a:off x="1703512" y="5661248"/>
            <a:ext cx="9266697" cy="830997"/>
          </a:xfrm>
          <a:prstGeom prst="rect">
            <a:avLst/>
          </a:prstGeom>
          <a:noFill/>
        </p:spPr>
        <p:txBody>
          <a:bodyPr wrap="square">
            <a:spAutoFit/>
          </a:bodyPr>
          <a:lstStyle/>
          <a:p>
            <a:r>
              <a:rPr lang="en-US" altLang="zh-CN" sz="2400" b="0" dirty="0">
                <a:solidFill>
                  <a:schemeClr val="tx1">
                    <a:lumMod val="95000"/>
                    <a:lumOff val="5000"/>
                  </a:schemeClr>
                </a:solidFill>
              </a:rPr>
              <a:t>D</a:t>
            </a:r>
            <a:r>
              <a:rPr lang="en-US" altLang="zh-CN" sz="2400" b="0" baseline="-25000" dirty="0">
                <a:solidFill>
                  <a:schemeClr val="tx1">
                    <a:lumMod val="95000"/>
                    <a:lumOff val="5000"/>
                  </a:schemeClr>
                </a:solidFill>
              </a:rPr>
              <a:t>3</a:t>
            </a:r>
            <a:r>
              <a:rPr lang="zh-CN" altLang="en-US" sz="2400" b="0" dirty="0">
                <a:solidFill>
                  <a:schemeClr val="tx1">
                    <a:lumMod val="95000"/>
                    <a:lumOff val="5000"/>
                  </a:schemeClr>
                </a:solidFill>
              </a:rPr>
              <a:t>、</a:t>
            </a:r>
            <a:r>
              <a:rPr lang="en-US" altLang="zh-CN" sz="2400" b="0" dirty="0">
                <a:solidFill>
                  <a:schemeClr val="tx1">
                    <a:lumMod val="95000"/>
                    <a:lumOff val="5000"/>
                  </a:schemeClr>
                </a:solidFill>
              </a:rPr>
              <a:t>25-OH-D</a:t>
            </a:r>
            <a:r>
              <a:rPr lang="en-US" altLang="zh-CN" sz="2400" b="0" baseline="-25000" dirty="0">
                <a:solidFill>
                  <a:schemeClr val="tx1">
                    <a:lumMod val="95000"/>
                    <a:lumOff val="5000"/>
                  </a:schemeClr>
                </a:solidFill>
              </a:rPr>
              <a:t>3</a:t>
            </a:r>
            <a:r>
              <a:rPr lang="zh-CN" altLang="en-US" sz="2400" b="0" dirty="0">
                <a:solidFill>
                  <a:schemeClr val="tx1">
                    <a:lumMod val="95000"/>
                    <a:lumOff val="5000"/>
                  </a:schemeClr>
                </a:solidFill>
              </a:rPr>
              <a:t>和</a:t>
            </a:r>
            <a:r>
              <a:rPr lang="en-US" altLang="zh-CN" sz="2400" b="0" dirty="0">
                <a:solidFill>
                  <a:schemeClr val="tx1">
                    <a:lumMod val="95000"/>
                    <a:lumOff val="5000"/>
                  </a:schemeClr>
                </a:solidFill>
              </a:rPr>
              <a:t>1, 25 - (OH) D</a:t>
            </a:r>
            <a:r>
              <a:rPr lang="en-US" altLang="zh-CN" sz="2400" b="0" baseline="-25000" dirty="0">
                <a:solidFill>
                  <a:schemeClr val="tx1">
                    <a:lumMod val="95000"/>
                    <a:lumOff val="5000"/>
                  </a:schemeClr>
                </a:solidFill>
              </a:rPr>
              <a:t>3 </a:t>
            </a:r>
            <a:r>
              <a:rPr lang="zh-CN" altLang="en-US" sz="2400" b="0" dirty="0">
                <a:solidFill>
                  <a:schemeClr val="tx1">
                    <a:lumMod val="95000"/>
                    <a:lumOff val="5000"/>
                  </a:schemeClr>
                </a:solidFill>
              </a:rPr>
              <a:t>在血液中均与</a:t>
            </a:r>
            <a:r>
              <a:rPr lang="zh-CN" altLang="en-US" sz="2400" b="0" dirty="0">
                <a:solidFill>
                  <a:srgbClr val="0000CC"/>
                </a:solidFill>
              </a:rPr>
              <a:t>维生素</a:t>
            </a:r>
            <a:r>
              <a:rPr lang="en-US" altLang="zh-CN" sz="2400" b="0" dirty="0">
                <a:solidFill>
                  <a:srgbClr val="0000CC"/>
                </a:solidFill>
              </a:rPr>
              <a:t>D </a:t>
            </a:r>
            <a:r>
              <a:rPr lang="zh-CN" altLang="en-US" sz="2400" b="0" dirty="0">
                <a:solidFill>
                  <a:srgbClr val="0000CC"/>
                </a:solidFill>
              </a:rPr>
              <a:t>结合蛋白</a:t>
            </a:r>
            <a:r>
              <a:rPr lang="en-US" altLang="zh-CN" sz="2400" b="0" dirty="0">
                <a:solidFill>
                  <a:srgbClr val="0000CC"/>
                </a:solidFill>
              </a:rPr>
              <a:t>(vitamin D binding protein, DBP) </a:t>
            </a:r>
            <a:r>
              <a:rPr lang="zh-CN" altLang="en-US" sz="2400" b="0" dirty="0">
                <a:solidFill>
                  <a:schemeClr val="tx1">
                    <a:lumMod val="95000"/>
                    <a:lumOff val="5000"/>
                  </a:schemeClr>
                </a:solidFill>
              </a:rPr>
              <a:t>相结合而运输。</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7C2CC-55C6-CE82-3EE1-70491FF8622D}"/>
            </a:ext>
          </a:extLst>
        </p:cNvPr>
        <p:cNvGrpSpPr/>
        <p:nvPr/>
      </p:nvGrpSpPr>
      <p:grpSpPr>
        <a:xfrm>
          <a:off x="0" y="0"/>
          <a:ext cx="0" cy="0"/>
          <a:chOff x="0" y="0"/>
          <a:chExt cx="0" cy="0"/>
        </a:xfrm>
      </p:grpSpPr>
      <p:sp>
        <p:nvSpPr>
          <p:cNvPr id="73730" name="标题 1">
            <a:extLst>
              <a:ext uri="{FF2B5EF4-FFF2-40B4-BE49-F238E27FC236}">
                <a16:creationId xmlns:a16="http://schemas.microsoft.com/office/drawing/2014/main" id="{A6C4AB86-6208-1699-D2D1-9AF7D76EC566}"/>
              </a:ext>
            </a:extLst>
          </p:cNvPr>
          <p:cNvSpPr>
            <a:spLocks noGrp="1" noChangeArrowheads="1"/>
          </p:cNvSpPr>
          <p:nvPr>
            <p:ph type="title"/>
          </p:nvPr>
        </p:nvSpPr>
        <p:spPr>
          <a:xfrm>
            <a:off x="1919536" y="747646"/>
            <a:ext cx="8352928" cy="714375"/>
          </a:xfrm>
        </p:spPr>
        <p:txBody>
          <a:bodyPr/>
          <a:lstStyle/>
          <a:p>
            <a:pPr algn="ctr" eaLnBrk="1" hangingPunct="1"/>
            <a:r>
              <a:rPr lang="zh-CN" altLang="en-US" sz="3200" dirty="0">
                <a:solidFill>
                  <a:srgbClr val="C00000"/>
                </a:solidFill>
                <a:latin typeface="微软雅黑" panose="020B0503020204020204" pitchFamily="34" charset="-122"/>
                <a:ea typeface="微软雅黑" panose="020B0503020204020204" pitchFamily="34" charset="-122"/>
              </a:rPr>
              <a:t>维生素</a:t>
            </a:r>
            <a:r>
              <a:rPr lang="en-US" altLang="zh-CN" sz="3200" dirty="0">
                <a:solidFill>
                  <a:srgbClr val="C00000"/>
                </a:solidFill>
                <a:latin typeface="微软雅黑" panose="020B0503020204020204" pitchFamily="34" charset="-122"/>
                <a:ea typeface="微软雅黑" panose="020B0503020204020204" pitchFamily="34" charset="-122"/>
              </a:rPr>
              <a:t>D </a:t>
            </a:r>
            <a:r>
              <a:rPr lang="zh-CN" altLang="en-US" sz="3200" dirty="0">
                <a:solidFill>
                  <a:srgbClr val="C00000"/>
                </a:solidFill>
                <a:latin typeface="微软雅黑" panose="020B0503020204020204" pitchFamily="34" charset="-122"/>
                <a:ea typeface="微软雅黑" panose="020B0503020204020204" pitchFamily="34" charset="-122"/>
              </a:rPr>
              <a:t>不仅调节钙磷代谢还可影响细胞分化</a:t>
            </a:r>
          </a:p>
        </p:txBody>
      </p:sp>
      <p:sp>
        <p:nvSpPr>
          <p:cNvPr id="51203" name="内容占位符 2">
            <a:extLst>
              <a:ext uri="{FF2B5EF4-FFF2-40B4-BE49-F238E27FC236}">
                <a16:creationId xmlns:a16="http://schemas.microsoft.com/office/drawing/2014/main" id="{013DAE85-0274-14C2-6989-0871D85028CF}"/>
              </a:ext>
            </a:extLst>
          </p:cNvPr>
          <p:cNvSpPr>
            <a:spLocks noGrp="1" noChangeArrowheads="1"/>
          </p:cNvSpPr>
          <p:nvPr>
            <p:ph idx="1"/>
          </p:nvPr>
        </p:nvSpPr>
        <p:spPr>
          <a:xfrm>
            <a:off x="1343472" y="1844824"/>
            <a:ext cx="9505056" cy="4337539"/>
          </a:xfrm>
        </p:spPr>
        <p:txBody>
          <a:bodyPr rtlCol="0">
            <a:normAutofit/>
          </a:bodyPr>
          <a:lstStyle/>
          <a:p>
            <a:pPr marL="644525" indent="-514350" eaLnBrk="1" fontAlgn="auto" hangingPunct="1">
              <a:lnSpc>
                <a:spcPct val="120000"/>
              </a:lnSpc>
              <a:spcAft>
                <a:spcPts val="0"/>
              </a:spcAft>
              <a:buFont typeface="Wingdings" panose="05000000000000000000" pitchFamily="2" charset="2"/>
              <a:buChar char="u"/>
              <a:defRPr/>
            </a:pPr>
            <a:r>
              <a:rPr lang="en-US" altLang="zh-CN" dirty="0">
                <a:solidFill>
                  <a:srgbClr val="0000CC"/>
                </a:solidFill>
                <a:latin typeface="微软雅黑" panose="020B0503020204020204" pitchFamily="34" charset="-122"/>
                <a:ea typeface="微软雅黑" panose="020B0503020204020204" pitchFamily="34" charset="-122"/>
              </a:rPr>
              <a:t>1,25-(OH)</a:t>
            </a:r>
            <a:r>
              <a:rPr lang="en-US" altLang="zh-CN" baseline="-25000" dirty="0">
                <a:solidFill>
                  <a:srgbClr val="0000CC"/>
                </a:solidFill>
                <a:latin typeface="微软雅黑" panose="020B0503020204020204" pitchFamily="34" charset="-122"/>
                <a:ea typeface="微软雅黑" panose="020B0503020204020204" pitchFamily="34" charset="-122"/>
              </a:rPr>
              <a:t>2</a:t>
            </a:r>
            <a:r>
              <a:rPr lang="en-US" altLang="zh-CN" dirty="0">
                <a:solidFill>
                  <a:srgbClr val="0000CC"/>
                </a:solidFill>
                <a:latin typeface="微软雅黑" panose="020B0503020204020204" pitchFamily="34" charset="-122"/>
                <a:ea typeface="微软雅黑" panose="020B0503020204020204" pitchFamily="34" charset="-122"/>
              </a:rPr>
              <a:t>-D</a:t>
            </a:r>
            <a:r>
              <a:rPr lang="en-US" altLang="zh-CN" baseline="-25000" dirty="0">
                <a:solidFill>
                  <a:srgbClr val="0000CC"/>
                </a:solidFill>
                <a:latin typeface="微软雅黑" panose="020B0503020204020204" pitchFamily="34" charset="-122"/>
                <a:ea typeface="微软雅黑" panose="020B0503020204020204" pitchFamily="34" charset="-122"/>
              </a:rPr>
              <a:t>3</a:t>
            </a:r>
            <a:r>
              <a:rPr lang="en-US" altLang="zh-CN" dirty="0">
                <a:solidFill>
                  <a:srgbClr val="0000CC"/>
                </a:solidFill>
                <a:latin typeface="微软雅黑" panose="020B0503020204020204" pitchFamily="34" charset="-122"/>
                <a:ea typeface="微软雅黑" panose="020B0503020204020204" pitchFamily="34" charset="-122"/>
              </a:rPr>
              <a:t> </a:t>
            </a:r>
            <a:r>
              <a:rPr lang="zh-CN" altLang="en-US" dirty="0">
                <a:solidFill>
                  <a:srgbClr val="0000CC"/>
                </a:solidFill>
                <a:latin typeface="微软雅黑" panose="020B0503020204020204" pitchFamily="34" charset="-122"/>
                <a:ea typeface="微软雅黑" panose="020B0503020204020204" pitchFamily="34" charset="-122"/>
              </a:rPr>
              <a:t>促进小肠对钙、磷的吸收</a:t>
            </a:r>
            <a:r>
              <a:rPr lang="zh-CN" altLang="en-US"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从而维持血钙和血磷的正常水平，</a:t>
            </a:r>
            <a:r>
              <a:rPr lang="zh-CN" altLang="en-US" dirty="0">
                <a:solidFill>
                  <a:srgbClr val="0000CC"/>
                </a:solidFill>
                <a:latin typeface="微软雅黑" panose="020B0503020204020204" pitchFamily="34" charset="-122"/>
                <a:ea typeface="微软雅黑" panose="020B0503020204020204" pitchFamily="34" charset="-122"/>
              </a:rPr>
              <a:t>促进骨和牙的钙化。</a:t>
            </a:r>
          </a:p>
          <a:p>
            <a:pPr marL="644525" indent="-514350">
              <a:lnSpc>
                <a:spcPct val="120000"/>
              </a:lnSpc>
              <a:buFont typeface="Wingdings" panose="05000000000000000000" pitchFamily="2" charset="2"/>
              <a:buChar char="u"/>
              <a:defRPr/>
            </a:pPr>
            <a:r>
              <a:rPr lang="en-US" altLang="zh-CN" dirty="0">
                <a:solidFill>
                  <a:srgbClr val="0000CC"/>
                </a:solidFill>
                <a:latin typeface="微软雅黑" panose="020B0503020204020204" pitchFamily="34" charset="-122"/>
                <a:ea typeface="微软雅黑" panose="020B0503020204020204" pitchFamily="34" charset="-122"/>
              </a:rPr>
              <a:t>1,25-(OH)</a:t>
            </a:r>
            <a:r>
              <a:rPr lang="en-US" altLang="zh-CN" baseline="-25000" dirty="0">
                <a:solidFill>
                  <a:srgbClr val="0000CC"/>
                </a:solidFill>
                <a:latin typeface="微软雅黑" panose="020B0503020204020204" pitchFamily="34" charset="-122"/>
                <a:ea typeface="微软雅黑" panose="020B0503020204020204" pitchFamily="34" charset="-122"/>
              </a:rPr>
              <a:t>2</a:t>
            </a:r>
            <a:r>
              <a:rPr lang="en-US" altLang="zh-CN" dirty="0">
                <a:solidFill>
                  <a:srgbClr val="0000CC"/>
                </a:solidFill>
                <a:latin typeface="微软雅黑" panose="020B0503020204020204" pitchFamily="34" charset="-122"/>
                <a:ea typeface="微软雅黑" panose="020B0503020204020204" pitchFamily="34" charset="-122"/>
              </a:rPr>
              <a:t>-D</a:t>
            </a:r>
            <a:r>
              <a:rPr lang="en-US" altLang="zh-CN" baseline="-25000" dirty="0">
                <a:solidFill>
                  <a:srgbClr val="0000CC"/>
                </a:solidFill>
                <a:latin typeface="微软雅黑" panose="020B0503020204020204" pitchFamily="34" charset="-122"/>
                <a:ea typeface="微软雅黑" panose="020B0503020204020204" pitchFamily="34" charset="-122"/>
              </a:rPr>
              <a:t>3 </a:t>
            </a:r>
            <a:r>
              <a:rPr lang="zh-CN" altLang="en-US" dirty="0">
                <a:solidFill>
                  <a:srgbClr val="0000CC"/>
                </a:solidFill>
                <a:latin typeface="微软雅黑" panose="020B0503020204020204" pitchFamily="34" charset="-122"/>
                <a:ea typeface="微软雅黑" panose="020B0503020204020204" pitchFamily="34" charset="-122"/>
              </a:rPr>
              <a:t>影响细胞分化 </a:t>
            </a:r>
            <a:endParaRPr lang="en-US" altLang="zh-CN" dirty="0">
              <a:solidFill>
                <a:srgbClr val="0000CC"/>
              </a:solidFill>
              <a:latin typeface="微软雅黑" panose="020B0503020204020204" pitchFamily="34" charset="-122"/>
              <a:ea typeface="微软雅黑" panose="020B0503020204020204" pitchFamily="34" charset="-122"/>
            </a:endParaRPr>
          </a:p>
          <a:p>
            <a:pPr marL="930275" lvl="1" indent="-342900" eaLnBrk="1" fontAlgn="auto" hangingPunct="1">
              <a:lnSpc>
                <a:spcPct val="120000"/>
              </a:lnSpc>
              <a:spcAft>
                <a:spcPts val="0"/>
              </a:spcAft>
              <a:defRPr/>
            </a:pPr>
            <a:r>
              <a:rPr lang="zh-CN" altLang="en-US" dirty="0">
                <a:latin typeface="微软雅黑" panose="020B0503020204020204" pitchFamily="34" charset="-122"/>
                <a:ea typeface="微软雅黑" panose="020B0503020204020204" pitchFamily="34" charset="-122"/>
              </a:rPr>
              <a:t>皮肤、大肠、乳腺、心、脑、胰岛</a:t>
            </a:r>
            <a:r>
              <a:rPr lang="en-US" altLang="zh-CN" dirty="0">
                <a:latin typeface="微软雅黑" panose="020B0503020204020204" pitchFamily="34" charset="-122"/>
                <a:ea typeface="微软雅黑" panose="020B0503020204020204" pitchFamily="34" charset="-122"/>
              </a:rPr>
              <a:t>β </a:t>
            </a:r>
            <a:r>
              <a:rPr lang="zh-CN" altLang="en-US" dirty="0">
                <a:latin typeface="微软雅黑" panose="020B0503020204020204" pitchFamily="34" charset="-122"/>
                <a:ea typeface="微软雅黑" panose="020B0503020204020204" pitchFamily="34" charset="-122"/>
              </a:rPr>
              <a:t>细胞、</a:t>
            </a:r>
            <a:r>
              <a:rPr lang="en-US" altLang="zh-CN" dirty="0">
                <a:latin typeface="微软雅黑" panose="020B0503020204020204" pitchFamily="34" charset="-122"/>
                <a:ea typeface="微软雅黑" panose="020B0503020204020204" pitchFamily="34" charset="-122"/>
              </a:rPr>
              <a:t>T </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B </a:t>
            </a:r>
            <a:r>
              <a:rPr lang="zh-CN" altLang="en-US" dirty="0">
                <a:latin typeface="微软雅黑" panose="020B0503020204020204" pitchFamily="34" charset="-122"/>
                <a:ea typeface="微软雅黑" panose="020B0503020204020204" pitchFamily="34" charset="-122"/>
              </a:rPr>
              <a:t>淋巴细胞等均</a:t>
            </a:r>
            <a:r>
              <a:rPr lang="zh-CN" altLang="en-US" b="1" dirty="0">
                <a:solidFill>
                  <a:srgbClr val="0000CC"/>
                </a:solidFill>
                <a:latin typeface="微软雅黑" panose="020B0503020204020204" pitchFamily="34" charset="-122"/>
                <a:ea typeface="微软雅黑" panose="020B0503020204020204" pitchFamily="34" charset="-122"/>
              </a:rPr>
              <a:t>存在维生素</a:t>
            </a:r>
            <a:r>
              <a:rPr lang="en-US" altLang="zh-CN" b="1" dirty="0">
                <a:solidFill>
                  <a:srgbClr val="0000CC"/>
                </a:solidFill>
                <a:latin typeface="微软雅黑" panose="020B0503020204020204" pitchFamily="34" charset="-122"/>
                <a:ea typeface="微软雅黑" panose="020B0503020204020204" pitchFamily="34" charset="-122"/>
              </a:rPr>
              <a:t>D </a:t>
            </a:r>
            <a:r>
              <a:rPr lang="zh-CN" altLang="en-US" b="1" dirty="0">
                <a:solidFill>
                  <a:srgbClr val="0000CC"/>
                </a:solidFill>
                <a:latin typeface="微软雅黑" panose="020B0503020204020204" pitchFamily="34" charset="-122"/>
                <a:ea typeface="微软雅黑" panose="020B0503020204020204" pitchFamily="34" charset="-122"/>
              </a:rPr>
              <a:t>受体</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930275" lvl="1" indent="-342900" eaLnBrk="1" fontAlgn="auto" hangingPunct="1">
              <a:lnSpc>
                <a:spcPct val="120000"/>
              </a:lnSpc>
              <a:spcAft>
                <a:spcPts val="0"/>
              </a:spcAft>
              <a:defRPr/>
            </a:pPr>
            <a:r>
              <a:rPr lang="en-US" altLang="zh-CN" dirty="0">
                <a:latin typeface="微软雅黑" panose="020B0503020204020204" pitchFamily="34" charset="-122"/>
                <a:ea typeface="微软雅黑" panose="020B0503020204020204" pitchFamily="34" charset="-122"/>
              </a:rPr>
              <a:t>1,25-(OH)</a:t>
            </a:r>
            <a:r>
              <a:rPr lang="en-US" altLang="zh-CN" baseline="-25000" dirty="0">
                <a:latin typeface="微软雅黑" panose="020B0503020204020204" pitchFamily="34" charset="-122"/>
                <a:ea typeface="微软雅黑" panose="020B0503020204020204" pitchFamily="34" charset="-122"/>
              </a:rPr>
              <a:t>2</a:t>
            </a:r>
            <a:r>
              <a:rPr lang="en-US" altLang="zh-CN" dirty="0">
                <a:latin typeface="微软雅黑" panose="020B0503020204020204" pitchFamily="34" charset="-122"/>
                <a:ea typeface="微软雅黑" panose="020B0503020204020204" pitchFamily="34" charset="-122"/>
              </a:rPr>
              <a:t>-D</a:t>
            </a:r>
            <a:r>
              <a:rPr lang="en-US" altLang="zh-CN" baseline="-25000"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促进胰岛</a:t>
            </a:r>
            <a:r>
              <a:rPr lang="en-US" altLang="zh-CN" dirty="0">
                <a:latin typeface="微软雅黑" panose="020B0503020204020204" pitchFamily="34" charset="-122"/>
                <a:ea typeface="微软雅黑" panose="020B0503020204020204" pitchFamily="34" charset="-122"/>
              </a:rPr>
              <a:t>β </a:t>
            </a:r>
            <a:r>
              <a:rPr lang="zh-CN" altLang="en-US" dirty="0">
                <a:latin typeface="微软雅黑" panose="020B0503020204020204" pitchFamily="34" charset="-122"/>
                <a:ea typeface="微软雅黑" panose="020B0503020204020204" pitchFamily="34" charset="-122"/>
              </a:rPr>
              <a:t>细胞合成与分泌胰岛素</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对抗糖尿病</a:t>
            </a:r>
            <a:endParaRPr lang="en-US" altLang="zh-CN" dirty="0">
              <a:latin typeface="微软雅黑" panose="020B0503020204020204" pitchFamily="34" charset="-122"/>
              <a:ea typeface="微软雅黑" panose="020B0503020204020204" pitchFamily="34" charset="-122"/>
            </a:endParaRPr>
          </a:p>
          <a:p>
            <a:pPr marL="930275" lvl="1" indent="-342900" eaLnBrk="1" fontAlgn="auto" hangingPunct="1">
              <a:lnSpc>
                <a:spcPct val="120000"/>
              </a:lnSpc>
              <a:spcAft>
                <a:spcPts val="0"/>
              </a:spcAft>
              <a:defRPr/>
            </a:pPr>
            <a:r>
              <a:rPr lang="zh-CN" altLang="en-US" dirty="0">
                <a:latin typeface="微软雅黑" panose="020B0503020204020204" pitchFamily="34" charset="-122"/>
                <a:ea typeface="微软雅黑" panose="020B0503020204020204" pitchFamily="34" charset="-122"/>
              </a:rPr>
              <a:t>具有</a:t>
            </a:r>
            <a:r>
              <a:rPr lang="zh-CN" altLang="en-US" dirty="0">
                <a:solidFill>
                  <a:srgbClr val="0000CC"/>
                </a:solidFill>
                <a:latin typeface="微软雅黑" panose="020B0503020204020204" pitchFamily="34" charset="-122"/>
                <a:ea typeface="微软雅黑" panose="020B0503020204020204" pitchFamily="34" charset="-122"/>
              </a:rPr>
              <a:t>抑制某些肿瘤细胞增殖</a:t>
            </a:r>
            <a:r>
              <a:rPr lang="zh-CN" altLang="en-US" dirty="0">
                <a:latin typeface="微软雅黑" panose="020B0503020204020204" pitchFamily="34" charset="-122"/>
                <a:ea typeface="微软雅黑" panose="020B0503020204020204" pitchFamily="34" charset="-122"/>
              </a:rPr>
              <a:t>和促进分化的作用。低日照与大肠癌和乳腺癌的高发病率和死亡率有一定的相关性。</a:t>
            </a:r>
          </a:p>
        </p:txBody>
      </p:sp>
    </p:spTree>
    <p:extLst>
      <p:ext uri="{BB962C8B-B14F-4D97-AF65-F5344CB8AC3E}">
        <p14:creationId xmlns:p14="http://schemas.microsoft.com/office/powerpoint/2010/main" val="422077029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0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20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0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7586" name="图片 1">
            <a:extLst>
              <a:ext uri="{FF2B5EF4-FFF2-40B4-BE49-F238E27FC236}">
                <a16:creationId xmlns:a16="http://schemas.microsoft.com/office/drawing/2014/main" id="{FF8781BC-EB2B-41CB-ADD4-3673BBA3AF4B}"/>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1543809" y="133351"/>
            <a:ext cx="2663825" cy="641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7" name="图片 2">
            <a:extLst>
              <a:ext uri="{FF2B5EF4-FFF2-40B4-BE49-F238E27FC236}">
                <a16:creationId xmlns:a16="http://schemas.microsoft.com/office/drawing/2014/main" id="{2F09CE36-A210-4F4E-A0D2-BB3DAD380B85}"/>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750421" y="133350"/>
            <a:ext cx="5602287" cy="659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6CBA88A3-7721-8248-46AE-410C62A787F5}"/>
              </a:ext>
            </a:extLst>
          </p:cNvPr>
          <p:cNvSpPr txBox="1"/>
          <p:nvPr/>
        </p:nvSpPr>
        <p:spPr>
          <a:xfrm>
            <a:off x="2766097" y="1268760"/>
            <a:ext cx="1786632" cy="338554"/>
          </a:xfrm>
          <a:prstGeom prst="rect">
            <a:avLst/>
          </a:prstGeom>
          <a:noFill/>
        </p:spPr>
        <p:txBody>
          <a:bodyPr wrap="square">
            <a:spAutoFit/>
          </a:bodyPr>
          <a:lstStyle/>
          <a:p>
            <a:r>
              <a:rPr lang="zh-CN" altLang="en-US" sz="1600" b="0" dirty="0">
                <a:solidFill>
                  <a:schemeClr val="tx1">
                    <a:lumMod val="95000"/>
                    <a:lumOff val="5000"/>
                  </a:schemeClr>
                </a:solidFill>
              </a:rPr>
              <a:t>麦角钙化醇</a:t>
            </a:r>
            <a:r>
              <a:rPr lang="en-US" altLang="zh-CN" sz="1600" b="0" dirty="0">
                <a:solidFill>
                  <a:schemeClr val="tx1">
                    <a:lumMod val="95000"/>
                    <a:lumOff val="5000"/>
                  </a:schemeClr>
                </a:solidFill>
              </a:rPr>
              <a:t>,D2 </a:t>
            </a:r>
            <a:endParaRPr lang="zh-CN" altLang="en-US" sz="1600" b="0" dirty="0">
              <a:solidFill>
                <a:schemeClr val="tx1">
                  <a:lumMod val="95000"/>
                  <a:lumOff val="5000"/>
                </a:schemeClr>
              </a:solidFill>
            </a:endParaRPr>
          </a:p>
        </p:txBody>
      </p:sp>
      <p:sp>
        <p:nvSpPr>
          <p:cNvPr id="4" name="文本框 3">
            <a:extLst>
              <a:ext uri="{FF2B5EF4-FFF2-40B4-BE49-F238E27FC236}">
                <a16:creationId xmlns:a16="http://schemas.microsoft.com/office/drawing/2014/main" id="{055B3D47-71F4-65CF-112F-0895DDE95FBC}"/>
              </a:ext>
            </a:extLst>
          </p:cNvPr>
          <p:cNvSpPr txBox="1"/>
          <p:nvPr/>
        </p:nvSpPr>
        <p:spPr>
          <a:xfrm>
            <a:off x="2758416" y="3524671"/>
            <a:ext cx="1620540" cy="338554"/>
          </a:xfrm>
          <a:prstGeom prst="rect">
            <a:avLst/>
          </a:prstGeom>
          <a:noFill/>
        </p:spPr>
        <p:txBody>
          <a:bodyPr wrap="square">
            <a:spAutoFit/>
          </a:bodyPr>
          <a:lstStyle/>
          <a:p>
            <a:r>
              <a:rPr lang="zh-CN" altLang="en-US" sz="1600" b="0" dirty="0">
                <a:solidFill>
                  <a:schemeClr val="tx1">
                    <a:lumMod val="95000"/>
                    <a:lumOff val="5000"/>
                  </a:schemeClr>
                </a:solidFill>
              </a:rPr>
              <a:t>胆钙化醇</a:t>
            </a:r>
            <a:r>
              <a:rPr lang="en-US" altLang="zh-CN" sz="1600" b="0" dirty="0">
                <a:solidFill>
                  <a:schemeClr val="tx1">
                    <a:lumMod val="95000"/>
                    <a:lumOff val="5000"/>
                  </a:schemeClr>
                </a:solidFill>
              </a:rPr>
              <a:t>,D3 </a:t>
            </a:r>
            <a:endParaRPr lang="zh-CN" altLang="en-US" sz="1600" b="0" dirty="0">
              <a:solidFill>
                <a:schemeClr val="tx1">
                  <a:lumMod val="95000"/>
                  <a:lumOff val="5000"/>
                </a:schemeClr>
              </a:solidFill>
            </a:endParaRPr>
          </a:p>
        </p:txBody>
      </p:sp>
      <p:sp>
        <p:nvSpPr>
          <p:cNvPr id="6" name="文本框 5">
            <a:extLst>
              <a:ext uri="{FF2B5EF4-FFF2-40B4-BE49-F238E27FC236}">
                <a16:creationId xmlns:a16="http://schemas.microsoft.com/office/drawing/2014/main" id="{8E07126F-5DE2-895F-D0B0-809F7261BACF}"/>
              </a:ext>
            </a:extLst>
          </p:cNvPr>
          <p:cNvSpPr txBox="1"/>
          <p:nvPr/>
        </p:nvSpPr>
        <p:spPr>
          <a:xfrm>
            <a:off x="7866374" y="260648"/>
            <a:ext cx="2781819" cy="707886"/>
          </a:xfrm>
          <a:prstGeom prst="rect">
            <a:avLst/>
          </a:prstGeom>
          <a:solidFill>
            <a:schemeClr val="accent4">
              <a:lumMod val="20000"/>
              <a:lumOff val="80000"/>
            </a:schemeClr>
          </a:solidFill>
        </p:spPr>
        <p:txBody>
          <a:bodyPr wrap="square">
            <a:spAutoFit/>
          </a:bodyPr>
          <a:lstStyle/>
          <a:p>
            <a:r>
              <a:rPr lang="zh-CN" altLang="en-US" sz="2000" b="0" dirty="0">
                <a:solidFill>
                  <a:srgbClr val="0000CC"/>
                </a:solidFill>
              </a:rPr>
              <a:t>促进钙、磷的吸收； 促进新骨的形成、钙化</a:t>
            </a:r>
          </a:p>
        </p:txBody>
      </p:sp>
      <p:sp>
        <p:nvSpPr>
          <p:cNvPr id="8" name="文本框 7">
            <a:extLst>
              <a:ext uri="{FF2B5EF4-FFF2-40B4-BE49-F238E27FC236}">
                <a16:creationId xmlns:a16="http://schemas.microsoft.com/office/drawing/2014/main" id="{D52EE3F3-75FD-30D8-5748-8266A92F40D4}"/>
              </a:ext>
            </a:extLst>
          </p:cNvPr>
          <p:cNvSpPr txBox="1"/>
          <p:nvPr/>
        </p:nvSpPr>
        <p:spPr>
          <a:xfrm>
            <a:off x="5735960" y="3340005"/>
            <a:ext cx="1006492" cy="369332"/>
          </a:xfrm>
          <a:prstGeom prst="rect">
            <a:avLst/>
          </a:prstGeom>
          <a:noFill/>
        </p:spPr>
        <p:txBody>
          <a:bodyPr wrap="square">
            <a:spAutoFit/>
          </a:bodyPr>
          <a:lstStyle/>
          <a:p>
            <a:r>
              <a:rPr lang="zh-CN" altLang="en-US" sz="1800" b="0" dirty="0">
                <a:solidFill>
                  <a:schemeClr val="tx1"/>
                </a:solidFill>
              </a:rPr>
              <a:t>降钙素</a:t>
            </a: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5" name="Text Box 15">
            <a:extLst>
              <a:ext uri="{FF2B5EF4-FFF2-40B4-BE49-F238E27FC236}">
                <a16:creationId xmlns:a16="http://schemas.microsoft.com/office/drawing/2014/main" id="{423F4D93-7AE1-439F-85F1-EC48F9C596E3}"/>
              </a:ext>
            </a:extLst>
          </p:cNvPr>
          <p:cNvSpPr txBox="1">
            <a:spLocks noChangeArrowheads="1"/>
          </p:cNvSpPr>
          <p:nvPr/>
        </p:nvSpPr>
        <p:spPr bwMode="auto">
          <a:xfrm>
            <a:off x="2207568" y="318977"/>
            <a:ext cx="8856984" cy="1668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30000"/>
              </a:lnSpc>
              <a:spcBef>
                <a:spcPct val="50000"/>
              </a:spcBef>
              <a:buFontTx/>
              <a:buNone/>
            </a:pPr>
            <a:r>
              <a:rPr lang="zh-CN" altLang="en-US" b="0" dirty="0">
                <a:latin typeface="楷体_GB2312" pitchFamily="49" charset="-122"/>
                <a:ea typeface="楷体_GB2312" pitchFamily="49" charset="-122"/>
              </a:rPr>
              <a:t>维生素</a:t>
            </a:r>
            <a:r>
              <a:rPr lang="en-US" altLang="zh-CN" b="0" dirty="0">
                <a:latin typeface="楷体_GB2312" pitchFamily="49" charset="-122"/>
                <a:ea typeface="楷体_GB2312" pitchFamily="49" charset="-122"/>
              </a:rPr>
              <a:t>D</a:t>
            </a:r>
            <a:r>
              <a:rPr lang="zh-CN" altLang="en-US" b="0" dirty="0">
                <a:latin typeface="楷体_GB2312" pitchFamily="49" charset="-122"/>
                <a:ea typeface="楷体_GB2312" pitchFamily="49" charset="-122"/>
              </a:rPr>
              <a:t>缺乏症</a:t>
            </a:r>
            <a:r>
              <a:rPr lang="en-US" altLang="zh-CN" b="0" dirty="0">
                <a:latin typeface="楷体_GB2312" pitchFamily="49" charset="-122"/>
                <a:ea typeface="楷体_GB2312" pitchFamily="49" charset="-122"/>
              </a:rPr>
              <a:t>:</a:t>
            </a:r>
          </a:p>
          <a:p>
            <a:pPr eaLnBrk="1" hangingPunct="1">
              <a:lnSpc>
                <a:spcPct val="100000"/>
              </a:lnSpc>
              <a:spcBef>
                <a:spcPts val="600"/>
              </a:spcBef>
              <a:buNone/>
            </a:pPr>
            <a:r>
              <a:rPr lang="en-US" altLang="zh-CN" b="0" dirty="0">
                <a:latin typeface="楷体_GB2312" pitchFamily="49" charset="-122"/>
                <a:ea typeface="楷体_GB2312" pitchFamily="49" charset="-122"/>
              </a:rPr>
              <a:t>  </a:t>
            </a:r>
            <a:r>
              <a:rPr lang="zh-CN" altLang="en-US" b="0" dirty="0">
                <a:latin typeface="楷体_GB2312" pitchFamily="49" charset="-122"/>
                <a:ea typeface="楷体_GB2312" pitchFamily="49" charset="-122"/>
              </a:rPr>
              <a:t>儿童：</a:t>
            </a:r>
            <a:r>
              <a:rPr lang="zh-CN" altLang="en-US" b="0" dirty="0">
                <a:solidFill>
                  <a:srgbClr val="C00000"/>
                </a:solidFill>
                <a:latin typeface="楷体_GB2312" pitchFamily="49" charset="-122"/>
                <a:ea typeface="楷体_GB2312" pitchFamily="49" charset="-122"/>
              </a:rPr>
              <a:t>佝偻病 （</a:t>
            </a:r>
            <a:r>
              <a:rPr lang="en-US" altLang="zh-CN" b="0" dirty="0">
                <a:solidFill>
                  <a:srgbClr val="C00000"/>
                </a:solidFill>
                <a:latin typeface="楷体_GB2312" pitchFamily="49" charset="-122"/>
                <a:ea typeface="楷体_GB2312" pitchFamily="49" charset="-122"/>
              </a:rPr>
              <a:t>rachitis</a:t>
            </a:r>
            <a:r>
              <a:rPr lang="zh-CN" altLang="en-US" b="0" dirty="0">
                <a:solidFill>
                  <a:srgbClr val="C00000"/>
                </a:solidFill>
                <a:latin typeface="楷体_GB2312" pitchFamily="49" charset="-122"/>
                <a:ea typeface="楷体_GB2312" pitchFamily="49" charset="-122"/>
              </a:rPr>
              <a:t>）         </a:t>
            </a:r>
            <a:endParaRPr lang="en-US" altLang="zh-CN" b="0" dirty="0">
              <a:solidFill>
                <a:srgbClr val="C00000"/>
              </a:solidFill>
              <a:latin typeface="楷体_GB2312" pitchFamily="49" charset="-122"/>
              <a:ea typeface="楷体_GB2312" pitchFamily="49" charset="-122"/>
            </a:endParaRPr>
          </a:p>
          <a:p>
            <a:pPr eaLnBrk="1" hangingPunct="1">
              <a:lnSpc>
                <a:spcPct val="100000"/>
              </a:lnSpc>
              <a:spcBef>
                <a:spcPts val="600"/>
              </a:spcBef>
              <a:buNone/>
            </a:pPr>
            <a:r>
              <a:rPr lang="zh-CN" altLang="en-US" b="0" dirty="0">
                <a:latin typeface="楷体_GB2312" pitchFamily="49" charset="-122"/>
                <a:ea typeface="楷体_GB2312" pitchFamily="49" charset="-122"/>
              </a:rPr>
              <a:t>  成人：</a:t>
            </a:r>
            <a:r>
              <a:rPr lang="zh-CN" altLang="en-US" b="0" dirty="0">
                <a:solidFill>
                  <a:srgbClr val="C00000"/>
                </a:solidFill>
                <a:latin typeface="楷体_GB2312" pitchFamily="49" charset="-122"/>
                <a:ea typeface="楷体_GB2312" pitchFamily="49" charset="-122"/>
              </a:rPr>
              <a:t>软骨病</a:t>
            </a:r>
            <a:r>
              <a:rPr lang="zh-CN" altLang="en-US" sz="2400" b="0" dirty="0">
                <a:solidFill>
                  <a:srgbClr val="C00000"/>
                </a:solidFill>
                <a:latin typeface="楷体_GB2312" pitchFamily="49" charset="-122"/>
                <a:ea typeface="楷体_GB2312" pitchFamily="49" charset="-122"/>
              </a:rPr>
              <a:t>（</a:t>
            </a:r>
            <a:r>
              <a:rPr lang="en-US" altLang="zh-CN" sz="2400" b="0" dirty="0" err="1">
                <a:solidFill>
                  <a:srgbClr val="C00000"/>
                </a:solidFill>
                <a:latin typeface="楷体_GB2312" pitchFamily="49" charset="-122"/>
                <a:ea typeface="楷体_GB2312" pitchFamily="49" charset="-122"/>
              </a:rPr>
              <a:t>osteomalacia</a:t>
            </a:r>
            <a:r>
              <a:rPr lang="zh-CN" altLang="en-US" sz="2400" b="0" dirty="0">
                <a:solidFill>
                  <a:srgbClr val="C00000"/>
                </a:solidFill>
                <a:latin typeface="楷体_GB2312" pitchFamily="49" charset="-122"/>
                <a:ea typeface="楷体_GB2312" pitchFamily="49" charset="-122"/>
              </a:rPr>
              <a:t>）</a:t>
            </a:r>
            <a:r>
              <a:rPr lang="zh-CN" altLang="en-US" b="0" dirty="0">
                <a:solidFill>
                  <a:srgbClr val="C00000"/>
                </a:solidFill>
                <a:latin typeface="楷体_GB2312" pitchFamily="49" charset="-122"/>
                <a:ea typeface="楷体_GB2312" pitchFamily="49" charset="-122"/>
              </a:rPr>
              <a:t>，骨质疏松</a:t>
            </a:r>
            <a:r>
              <a:rPr lang="en-US" altLang="zh-CN" sz="2400" b="0" dirty="0">
                <a:solidFill>
                  <a:srgbClr val="C00000"/>
                </a:solidFill>
                <a:latin typeface="楷体_GB2312" pitchFamily="49" charset="-122"/>
                <a:ea typeface="楷体_GB2312" pitchFamily="49" charset="-122"/>
              </a:rPr>
              <a:t>(osteoporosis)</a:t>
            </a:r>
            <a:endParaRPr lang="zh-CN" altLang="en-US" sz="2400" b="0" dirty="0">
              <a:solidFill>
                <a:srgbClr val="C00000"/>
              </a:solidFill>
              <a:latin typeface="楷体_GB2312" pitchFamily="49" charset="-122"/>
              <a:ea typeface="楷体_GB2312" pitchFamily="49" charset="-122"/>
            </a:endParaRPr>
          </a:p>
        </p:txBody>
      </p:sp>
      <p:pic>
        <p:nvPicPr>
          <p:cNvPr id="69636" name="图片 5">
            <a:extLst>
              <a:ext uri="{FF2B5EF4-FFF2-40B4-BE49-F238E27FC236}">
                <a16:creationId xmlns:a16="http://schemas.microsoft.com/office/drawing/2014/main" id="{FC6559C6-7F49-442B-99D5-058DAF4448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229" t="4582"/>
          <a:stretch>
            <a:fillRect/>
          </a:stretch>
        </p:blipFill>
        <p:spPr bwMode="auto">
          <a:xfrm>
            <a:off x="2639617" y="2264125"/>
            <a:ext cx="6708775"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4">
            <a:extLst>
              <a:ext uri="{FF2B5EF4-FFF2-40B4-BE49-F238E27FC236}">
                <a16:creationId xmlns:a16="http://schemas.microsoft.com/office/drawing/2014/main" id="{C3D6A0CF-226F-4DEF-92AB-BFCDA0438D1C}"/>
              </a:ext>
            </a:extLst>
          </p:cNvPr>
          <p:cNvSpPr>
            <a:spLocks noChangeArrowheads="1"/>
          </p:cNvSpPr>
          <p:nvPr/>
        </p:nvSpPr>
        <p:spPr bwMode="auto">
          <a:xfrm>
            <a:off x="1487488" y="3757019"/>
            <a:ext cx="8001001"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20000"/>
              </a:spcBef>
              <a:buFontTx/>
              <a:buChar char="•"/>
            </a:pPr>
            <a:endParaRPr lang="zh-CN" altLang="en-US" sz="2400">
              <a:latin typeface="Times New Roman" panose="02020603050405020304" pitchFamily="18" charset="0"/>
              <a:ea typeface="楷体_GB2312" pitchFamily="49" charset="-122"/>
            </a:endParaRPr>
          </a:p>
        </p:txBody>
      </p:sp>
      <p:sp>
        <p:nvSpPr>
          <p:cNvPr id="84998" name="Text Box 6">
            <a:extLst>
              <a:ext uri="{FF2B5EF4-FFF2-40B4-BE49-F238E27FC236}">
                <a16:creationId xmlns:a16="http://schemas.microsoft.com/office/drawing/2014/main" id="{0CAE8A28-CD03-47F3-9A1A-72357D5D552C}"/>
              </a:ext>
            </a:extLst>
          </p:cNvPr>
          <p:cNvSpPr txBox="1">
            <a:spLocks noChangeArrowheads="1"/>
          </p:cNvSpPr>
          <p:nvPr/>
        </p:nvSpPr>
        <p:spPr bwMode="auto">
          <a:xfrm>
            <a:off x="1649644" y="3185431"/>
            <a:ext cx="3810672"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50000"/>
              </a:spcBef>
              <a:buFontTx/>
              <a:buNone/>
            </a:pPr>
            <a:r>
              <a:rPr lang="zh-CN" altLang="en-US" b="0" dirty="0">
                <a:solidFill>
                  <a:srgbClr val="3333CC"/>
                </a:solidFill>
                <a:latin typeface="微软雅黑" panose="020B0503020204020204" pitchFamily="34" charset="-122"/>
                <a:ea typeface="微软雅黑" panose="020B0503020204020204" pitchFamily="34" charset="-122"/>
              </a:rPr>
              <a:t>维生素</a:t>
            </a:r>
            <a:r>
              <a:rPr lang="en-US" altLang="zh-CN" b="0" dirty="0">
                <a:solidFill>
                  <a:srgbClr val="3333CC"/>
                </a:solidFill>
                <a:latin typeface="微软雅黑" panose="020B0503020204020204" pitchFamily="34" charset="-122"/>
                <a:ea typeface="微软雅黑" panose="020B0503020204020204" pitchFamily="34" charset="-122"/>
              </a:rPr>
              <a:t>D</a:t>
            </a:r>
            <a:r>
              <a:rPr lang="zh-CN" altLang="en-US" b="0" dirty="0">
                <a:solidFill>
                  <a:srgbClr val="3333CC"/>
                </a:solidFill>
                <a:latin typeface="微软雅黑" panose="020B0503020204020204" pitchFamily="34" charset="-122"/>
                <a:ea typeface="微软雅黑" panose="020B0503020204020204" pitchFamily="34" charset="-122"/>
              </a:rPr>
              <a:t>过量可中毒</a:t>
            </a:r>
          </a:p>
        </p:txBody>
      </p:sp>
      <p:sp>
        <p:nvSpPr>
          <p:cNvPr id="84999" name="Text Box 7">
            <a:extLst>
              <a:ext uri="{FF2B5EF4-FFF2-40B4-BE49-F238E27FC236}">
                <a16:creationId xmlns:a16="http://schemas.microsoft.com/office/drawing/2014/main" id="{1DEF3166-0910-4FA3-8236-44B54F93764E}"/>
              </a:ext>
            </a:extLst>
          </p:cNvPr>
          <p:cNvSpPr txBox="1">
            <a:spLocks noChangeArrowheads="1"/>
          </p:cNvSpPr>
          <p:nvPr/>
        </p:nvSpPr>
        <p:spPr bwMode="auto">
          <a:xfrm>
            <a:off x="1991544" y="3779402"/>
            <a:ext cx="8928992" cy="876522"/>
          </a:xfrm>
          <a:prstGeom prst="rect">
            <a:avLst/>
          </a:prstGeom>
          <a:noFill/>
          <a:ln>
            <a:noFill/>
          </a:ln>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buFontTx/>
              <a:buNone/>
              <a:defRPr/>
            </a:pPr>
            <a:r>
              <a:rPr lang="zh-CN" altLang="en-US" sz="2400" dirty="0">
                <a:solidFill>
                  <a:schemeClr val="tx1">
                    <a:lumMod val="95000"/>
                    <a:lumOff val="5000"/>
                  </a:schemeClr>
                </a:solidFill>
                <a:latin typeface="仿宋_GB2312" pitchFamily="49" charset="-122"/>
                <a:ea typeface="仿宋_GB2312" pitchFamily="49" charset="-122"/>
              </a:rPr>
              <a:t>轻度中毒表现</a:t>
            </a:r>
            <a:r>
              <a:rPr lang="zh-CN" altLang="en-US" sz="2400" b="0" dirty="0">
                <a:solidFill>
                  <a:schemeClr val="tx1">
                    <a:lumMod val="95000"/>
                    <a:lumOff val="5000"/>
                  </a:schemeClr>
                </a:solidFill>
                <a:latin typeface="仿宋_GB2312" pitchFamily="49" charset="-122"/>
                <a:ea typeface="仿宋_GB2312" pitchFamily="49" charset="-122"/>
              </a:rPr>
              <a:t>：食欲减退、过度口渴、恶心、呕吐、烦躁、便秘或便秘与腹泻交替出现。妊娠期和婴幼儿初期可引起体重下降。 </a:t>
            </a:r>
          </a:p>
        </p:txBody>
      </p:sp>
      <p:sp>
        <p:nvSpPr>
          <p:cNvPr id="85000" name="Text Box 8">
            <a:extLst>
              <a:ext uri="{FF2B5EF4-FFF2-40B4-BE49-F238E27FC236}">
                <a16:creationId xmlns:a16="http://schemas.microsoft.com/office/drawing/2014/main" id="{75BB4582-39DF-4D0A-BB4A-0F916A05FFC2}"/>
              </a:ext>
            </a:extLst>
          </p:cNvPr>
          <p:cNvSpPr txBox="1">
            <a:spLocks noChangeArrowheads="1"/>
          </p:cNvSpPr>
          <p:nvPr/>
        </p:nvSpPr>
        <p:spPr bwMode="auto">
          <a:xfrm>
            <a:off x="1969324" y="5118983"/>
            <a:ext cx="9023220" cy="470257"/>
          </a:xfrm>
          <a:prstGeom prst="rect">
            <a:avLst/>
          </a:prstGeom>
          <a:noFill/>
          <a:ln>
            <a:noFill/>
          </a:ln>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buFontTx/>
              <a:buNone/>
              <a:defRPr/>
            </a:pPr>
            <a:r>
              <a:rPr lang="zh-CN" altLang="en-US" sz="2400" dirty="0">
                <a:solidFill>
                  <a:schemeClr val="tx1">
                    <a:lumMod val="95000"/>
                    <a:lumOff val="5000"/>
                  </a:schemeClr>
                </a:solidFill>
                <a:latin typeface="仿宋_GB2312" pitchFamily="49" charset="-122"/>
                <a:ea typeface="仿宋_GB2312" pitchFamily="49" charset="-122"/>
              </a:rPr>
              <a:t>严重中毒表现</a:t>
            </a:r>
            <a:r>
              <a:rPr lang="zh-CN" altLang="en-US" sz="2400" b="0" dirty="0">
                <a:solidFill>
                  <a:schemeClr val="tx1">
                    <a:lumMod val="95000"/>
                    <a:lumOff val="5000"/>
                  </a:schemeClr>
                </a:solidFill>
                <a:latin typeface="仿宋_GB2312" pitchFamily="49" charset="-122"/>
                <a:ea typeface="仿宋_GB2312" pitchFamily="49" charset="-122"/>
              </a:rPr>
              <a:t>：除上述情况外，还发生智力发育不良和骨硬化。 </a:t>
            </a:r>
          </a:p>
        </p:txBody>
      </p:sp>
      <p:sp>
        <p:nvSpPr>
          <p:cNvPr id="71686" name="矩形 6">
            <a:extLst>
              <a:ext uri="{FF2B5EF4-FFF2-40B4-BE49-F238E27FC236}">
                <a16:creationId xmlns:a16="http://schemas.microsoft.com/office/drawing/2014/main" id="{D43B7DA6-1D3D-48C8-A110-549F19CE829F}"/>
              </a:ext>
            </a:extLst>
          </p:cNvPr>
          <p:cNvSpPr>
            <a:spLocks noChangeArrowheads="1"/>
          </p:cNvSpPr>
          <p:nvPr/>
        </p:nvSpPr>
        <p:spPr bwMode="auto">
          <a:xfrm>
            <a:off x="1199456" y="1546692"/>
            <a:ext cx="9577064" cy="1458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71500" indent="-5715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20000"/>
              </a:lnSpc>
              <a:spcBef>
                <a:spcPts val="0"/>
              </a:spcBef>
              <a:buFontTx/>
              <a:buChar char="•"/>
            </a:pPr>
            <a:r>
              <a:rPr lang="zh-CN" altLang="en-US" sz="2600" dirty="0">
                <a:latin typeface="Times New Roman" panose="02020603050405020304" pitchFamily="18" charset="0"/>
                <a:ea typeface="楷体_GB2312" pitchFamily="49" charset="-122"/>
              </a:rPr>
              <a:t>获得维生素</a:t>
            </a:r>
            <a:r>
              <a:rPr lang="en-US" altLang="zh-CN" sz="2600" dirty="0">
                <a:latin typeface="Times New Roman" panose="02020603050405020304" pitchFamily="18" charset="0"/>
                <a:ea typeface="楷体_GB2312" pitchFamily="49" charset="-122"/>
              </a:rPr>
              <a:t>D</a:t>
            </a:r>
            <a:r>
              <a:rPr lang="zh-CN" altLang="en-US" sz="2600" dirty="0">
                <a:latin typeface="Times New Roman" panose="02020603050405020304" pitchFamily="18" charset="0"/>
                <a:ea typeface="楷体_GB2312" pitchFamily="49" charset="-122"/>
              </a:rPr>
              <a:t>：　</a:t>
            </a:r>
            <a:r>
              <a:rPr lang="zh-CN" altLang="en-US" sz="2600" b="0" dirty="0">
                <a:solidFill>
                  <a:srgbClr val="C00000"/>
                </a:solidFill>
                <a:latin typeface="Times New Roman" panose="02020603050405020304" pitchFamily="18" charset="0"/>
                <a:ea typeface="楷体_GB2312" pitchFamily="49" charset="-122"/>
              </a:rPr>
              <a:t>晒太阳</a:t>
            </a:r>
            <a:r>
              <a:rPr lang="en-US" altLang="zh-CN" sz="2600" b="0" dirty="0">
                <a:solidFill>
                  <a:srgbClr val="C00000"/>
                </a:solidFill>
                <a:latin typeface="Times New Roman" panose="02020603050405020304" pitchFamily="18" charset="0"/>
                <a:ea typeface="楷体_GB2312" pitchFamily="49" charset="-122"/>
              </a:rPr>
              <a:t>, </a:t>
            </a:r>
            <a:r>
              <a:rPr lang="zh-CN" altLang="en-US" sz="2600" b="0" dirty="0">
                <a:latin typeface="Times New Roman" panose="02020603050405020304" pitchFamily="18" charset="0"/>
                <a:ea typeface="楷体_GB2312" pitchFamily="49" charset="-122"/>
              </a:rPr>
              <a:t>食物摄取（</a:t>
            </a:r>
            <a:r>
              <a:rPr lang="zh-CN" altLang="en-US" sz="2600" b="0" dirty="0">
                <a:solidFill>
                  <a:srgbClr val="C00000"/>
                </a:solidFill>
                <a:latin typeface="Times New Roman" panose="02020603050405020304" pitchFamily="18" charset="0"/>
                <a:ea typeface="楷体_GB2312" pitchFamily="49" charset="-122"/>
              </a:rPr>
              <a:t>总体上食物中维生素</a:t>
            </a:r>
            <a:r>
              <a:rPr lang="en-US" altLang="zh-CN" sz="2600" b="0" dirty="0">
                <a:solidFill>
                  <a:srgbClr val="C00000"/>
                </a:solidFill>
                <a:latin typeface="Times New Roman" panose="02020603050405020304" pitchFamily="18" charset="0"/>
                <a:ea typeface="楷体_GB2312" pitchFamily="49" charset="-122"/>
              </a:rPr>
              <a:t>D</a:t>
            </a:r>
            <a:r>
              <a:rPr lang="zh-CN" altLang="en-US" sz="2600" b="0" dirty="0">
                <a:solidFill>
                  <a:srgbClr val="C00000"/>
                </a:solidFill>
                <a:latin typeface="Times New Roman" panose="02020603050405020304" pitchFamily="18" charset="0"/>
                <a:ea typeface="楷体_GB2312" pitchFamily="49" charset="-122"/>
              </a:rPr>
              <a:t>含量不足</a:t>
            </a:r>
            <a:r>
              <a:rPr lang="zh-CN" altLang="en-US" sz="2600" b="0" dirty="0">
                <a:latin typeface="Times New Roman" panose="02020603050405020304" pitchFamily="18" charset="0"/>
                <a:ea typeface="楷体_GB2312" pitchFamily="49" charset="-122"/>
              </a:rPr>
              <a:t>）</a:t>
            </a:r>
            <a:r>
              <a:rPr lang="en-US" altLang="zh-CN" sz="2600" b="0" dirty="0">
                <a:latin typeface="Times New Roman" panose="02020603050405020304" pitchFamily="18" charset="0"/>
                <a:ea typeface="楷体_GB2312" pitchFamily="49" charset="-122"/>
              </a:rPr>
              <a:t>, </a:t>
            </a:r>
            <a:r>
              <a:rPr lang="zh-CN" altLang="en-US" sz="2600" b="0" dirty="0">
                <a:latin typeface="Times New Roman" panose="02020603050405020304" pitchFamily="18" charset="0"/>
                <a:ea typeface="楷体_GB2312" pitchFamily="49" charset="-122"/>
              </a:rPr>
              <a:t>维生素</a:t>
            </a:r>
            <a:r>
              <a:rPr lang="en-US" altLang="zh-CN" sz="2600" b="0" dirty="0">
                <a:latin typeface="Times New Roman" panose="02020603050405020304" pitchFamily="18" charset="0"/>
                <a:ea typeface="楷体_GB2312" pitchFamily="49" charset="-122"/>
              </a:rPr>
              <a:t>D</a:t>
            </a:r>
            <a:r>
              <a:rPr lang="zh-CN" altLang="en-US" sz="2600" b="0" dirty="0">
                <a:latin typeface="Times New Roman" panose="02020603050405020304" pitchFamily="18" charset="0"/>
                <a:ea typeface="楷体_GB2312" pitchFamily="49" charset="-122"/>
              </a:rPr>
              <a:t>胶囊等</a:t>
            </a:r>
          </a:p>
          <a:p>
            <a:pPr eaLnBrk="1" hangingPunct="1">
              <a:lnSpc>
                <a:spcPct val="120000"/>
              </a:lnSpc>
              <a:spcBef>
                <a:spcPts val="0"/>
              </a:spcBef>
              <a:buFontTx/>
              <a:buChar char="•"/>
            </a:pPr>
            <a:r>
              <a:rPr lang="zh-CN" altLang="en-US" sz="2400" dirty="0">
                <a:solidFill>
                  <a:srgbClr val="0000CC"/>
                </a:solidFill>
                <a:latin typeface="Times New Roman" panose="02020603050405020304" pitchFamily="18" charset="0"/>
                <a:ea typeface="楷体_GB2312" pitchFamily="49" charset="-122"/>
              </a:rPr>
              <a:t>储存在脂肪组织</a:t>
            </a:r>
            <a:r>
              <a:rPr lang="zh-CN" altLang="en-US" sz="2400" dirty="0">
                <a:latin typeface="Times New Roman" panose="02020603050405020304" pitchFamily="18" charset="0"/>
                <a:ea typeface="楷体_GB2312" pitchFamily="49" charset="-122"/>
              </a:rPr>
              <a:t>， </a:t>
            </a:r>
            <a:r>
              <a:rPr lang="zh-CN" altLang="en-US" sz="2400" b="0" dirty="0">
                <a:latin typeface="Times New Roman" panose="02020603050405020304" pitchFamily="18" charset="0"/>
                <a:ea typeface="楷体_GB2312" pitchFamily="49" charset="-122"/>
              </a:rPr>
              <a:t>其次是肝脏、大脑、肺、脾</a:t>
            </a:r>
          </a:p>
        </p:txBody>
      </p:sp>
      <p:sp>
        <p:nvSpPr>
          <p:cNvPr id="8" name="文本框 7">
            <a:extLst>
              <a:ext uri="{FF2B5EF4-FFF2-40B4-BE49-F238E27FC236}">
                <a16:creationId xmlns:a16="http://schemas.microsoft.com/office/drawing/2014/main" id="{61F286C5-BD3D-4424-A46A-3A589FF76B8C}"/>
              </a:ext>
            </a:extLst>
          </p:cNvPr>
          <p:cNvSpPr txBox="1"/>
          <p:nvPr/>
        </p:nvSpPr>
        <p:spPr>
          <a:xfrm>
            <a:off x="1991544" y="556764"/>
            <a:ext cx="9289032" cy="523220"/>
          </a:xfrm>
          <a:prstGeom prst="rect">
            <a:avLst/>
          </a:prstGeom>
          <a:noFill/>
        </p:spPr>
        <p:txBody>
          <a:bodyPr wrap="square">
            <a:spAutoFit/>
          </a:bodyPr>
          <a:lstStyle/>
          <a:p>
            <a:r>
              <a:rPr lang="zh-CN" altLang="en-US" sz="2800" dirty="0">
                <a:solidFill>
                  <a:srgbClr val="0000CC"/>
                </a:solidFill>
              </a:rPr>
              <a:t>中国居民膳食维生素</a:t>
            </a:r>
            <a:r>
              <a:rPr lang="en-US" altLang="zh-CN" sz="2800" dirty="0">
                <a:solidFill>
                  <a:srgbClr val="0000CC"/>
                </a:solidFill>
              </a:rPr>
              <a:t>D </a:t>
            </a:r>
            <a:r>
              <a:rPr lang="zh-CN" altLang="en-US" sz="2800" dirty="0">
                <a:solidFill>
                  <a:srgbClr val="0000CC"/>
                </a:solidFill>
              </a:rPr>
              <a:t>的</a:t>
            </a:r>
            <a:r>
              <a:rPr lang="en-US" altLang="zh-CN" sz="2800" dirty="0">
                <a:solidFill>
                  <a:srgbClr val="0000CC"/>
                </a:solidFill>
              </a:rPr>
              <a:t>RNI </a:t>
            </a:r>
            <a:r>
              <a:rPr lang="zh-CN" altLang="en-US" sz="2800" dirty="0">
                <a:solidFill>
                  <a:srgbClr val="0000CC"/>
                </a:solidFill>
              </a:rPr>
              <a:t>为</a:t>
            </a:r>
            <a:r>
              <a:rPr lang="en-US" altLang="zh-CN" sz="2800" dirty="0">
                <a:solidFill>
                  <a:srgbClr val="0000CC"/>
                </a:solidFill>
              </a:rPr>
              <a:t>10μg/d </a:t>
            </a:r>
            <a:r>
              <a:rPr lang="en-US" altLang="zh-CN" sz="2800" b="0" dirty="0">
                <a:solidFill>
                  <a:srgbClr val="0000CC"/>
                </a:solidFill>
              </a:rPr>
              <a:t>(</a:t>
            </a:r>
            <a:r>
              <a:rPr lang="zh-CN" altLang="en-US" sz="2800" b="0" dirty="0">
                <a:solidFill>
                  <a:srgbClr val="0000CC"/>
                </a:solidFill>
              </a:rPr>
              <a:t>相当于</a:t>
            </a:r>
            <a:r>
              <a:rPr lang="en-US" altLang="zh-CN" sz="2800" b="0" dirty="0">
                <a:solidFill>
                  <a:srgbClr val="0000CC"/>
                </a:solidFill>
              </a:rPr>
              <a:t>400IU</a:t>
            </a:r>
            <a:r>
              <a:rPr lang="zh-CN" altLang="en-US" sz="2800" b="0" dirty="0">
                <a:solidFill>
                  <a:srgbClr val="0000CC"/>
                </a:solidFill>
              </a:rPr>
              <a:t>）</a:t>
            </a:r>
            <a:endParaRPr lang="en-US" altLang="zh-CN" sz="2800" b="0" dirty="0">
              <a:solidFill>
                <a:srgbClr val="0000CC"/>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84998"/>
                                        </p:tgtEl>
                                        <p:attrNameLst>
                                          <p:attrName>style.visibility</p:attrName>
                                        </p:attrNameLst>
                                      </p:cBhvr>
                                      <p:to>
                                        <p:strVal val="visible"/>
                                      </p:to>
                                    </p:set>
                                    <p:anim calcmode="lin" valueType="num">
                                      <p:cBhvr>
                                        <p:cTn id="7" dur="500" fill="hold"/>
                                        <p:tgtEl>
                                          <p:spTgt spid="84998"/>
                                        </p:tgtEl>
                                        <p:attrNameLst>
                                          <p:attrName>ppt_w</p:attrName>
                                        </p:attrNameLst>
                                      </p:cBhvr>
                                      <p:tavLst>
                                        <p:tav tm="0">
                                          <p:val>
                                            <p:fltVal val="0"/>
                                          </p:val>
                                        </p:tav>
                                        <p:tav tm="100000">
                                          <p:val>
                                            <p:strVal val="#ppt_w"/>
                                          </p:val>
                                        </p:tav>
                                      </p:tavLst>
                                    </p:anim>
                                    <p:anim calcmode="lin" valueType="num">
                                      <p:cBhvr>
                                        <p:cTn id="8" dur="500" fill="hold"/>
                                        <p:tgtEl>
                                          <p:spTgt spid="84998"/>
                                        </p:tgtEl>
                                        <p:attrNameLst>
                                          <p:attrName>ppt_h</p:attrName>
                                        </p:attrNameLst>
                                      </p:cBhvr>
                                      <p:tavLst>
                                        <p:tav tm="0">
                                          <p:val>
                                            <p:strVal val="#ppt_h"/>
                                          </p:val>
                                        </p:tav>
                                        <p:tav tm="100000">
                                          <p:val>
                                            <p:strVal val="#ppt_h"/>
                                          </p:val>
                                        </p:tav>
                                      </p:tavLst>
                                    </p:anim>
                                  </p:childTnLst>
                                </p:cTn>
                              </p:par>
                              <p:par>
                                <p:cTn id="9" presetID="17" presetClass="entr" presetSubtype="10" fill="hold" grpId="0" nodeType="withEffect">
                                  <p:stCondLst>
                                    <p:cond delay="0"/>
                                  </p:stCondLst>
                                  <p:childTnLst>
                                    <p:set>
                                      <p:cBhvr>
                                        <p:cTn id="10" dur="1" fill="hold">
                                          <p:stCondLst>
                                            <p:cond delay="0"/>
                                          </p:stCondLst>
                                        </p:cTn>
                                        <p:tgtEl>
                                          <p:spTgt spid="84999"/>
                                        </p:tgtEl>
                                        <p:attrNameLst>
                                          <p:attrName>style.visibility</p:attrName>
                                        </p:attrNameLst>
                                      </p:cBhvr>
                                      <p:to>
                                        <p:strVal val="visible"/>
                                      </p:to>
                                    </p:set>
                                    <p:anim calcmode="lin" valueType="num">
                                      <p:cBhvr>
                                        <p:cTn id="11" dur="500" fill="hold"/>
                                        <p:tgtEl>
                                          <p:spTgt spid="84999"/>
                                        </p:tgtEl>
                                        <p:attrNameLst>
                                          <p:attrName>ppt_w</p:attrName>
                                        </p:attrNameLst>
                                      </p:cBhvr>
                                      <p:tavLst>
                                        <p:tav tm="0">
                                          <p:val>
                                            <p:fltVal val="0"/>
                                          </p:val>
                                        </p:tav>
                                        <p:tav tm="100000">
                                          <p:val>
                                            <p:strVal val="#ppt_w"/>
                                          </p:val>
                                        </p:tav>
                                      </p:tavLst>
                                    </p:anim>
                                    <p:anim calcmode="lin" valueType="num">
                                      <p:cBhvr>
                                        <p:cTn id="12" dur="500" fill="hold"/>
                                        <p:tgtEl>
                                          <p:spTgt spid="84999"/>
                                        </p:tgtEl>
                                        <p:attrNameLst>
                                          <p:attrName>ppt_h</p:attrName>
                                        </p:attrNameLst>
                                      </p:cBhvr>
                                      <p:tavLst>
                                        <p:tav tm="0">
                                          <p:val>
                                            <p:strVal val="#ppt_h"/>
                                          </p:val>
                                        </p:tav>
                                        <p:tav tm="100000">
                                          <p:val>
                                            <p:strVal val="#ppt_h"/>
                                          </p:val>
                                        </p:tav>
                                      </p:tavLst>
                                    </p:anim>
                                  </p:childTnLst>
                                </p:cTn>
                              </p:par>
                              <p:par>
                                <p:cTn id="13" presetID="17" presetClass="entr" presetSubtype="10" fill="hold" grpId="0" nodeType="withEffect">
                                  <p:stCondLst>
                                    <p:cond delay="0"/>
                                  </p:stCondLst>
                                  <p:childTnLst>
                                    <p:set>
                                      <p:cBhvr>
                                        <p:cTn id="14" dur="1" fill="hold">
                                          <p:stCondLst>
                                            <p:cond delay="0"/>
                                          </p:stCondLst>
                                        </p:cTn>
                                        <p:tgtEl>
                                          <p:spTgt spid="85000"/>
                                        </p:tgtEl>
                                        <p:attrNameLst>
                                          <p:attrName>style.visibility</p:attrName>
                                        </p:attrNameLst>
                                      </p:cBhvr>
                                      <p:to>
                                        <p:strVal val="visible"/>
                                      </p:to>
                                    </p:set>
                                    <p:anim calcmode="lin" valueType="num">
                                      <p:cBhvr>
                                        <p:cTn id="15" dur="500" fill="hold"/>
                                        <p:tgtEl>
                                          <p:spTgt spid="85000"/>
                                        </p:tgtEl>
                                        <p:attrNameLst>
                                          <p:attrName>ppt_w</p:attrName>
                                        </p:attrNameLst>
                                      </p:cBhvr>
                                      <p:tavLst>
                                        <p:tav tm="0">
                                          <p:val>
                                            <p:fltVal val="0"/>
                                          </p:val>
                                        </p:tav>
                                        <p:tav tm="100000">
                                          <p:val>
                                            <p:strVal val="#ppt_w"/>
                                          </p:val>
                                        </p:tav>
                                      </p:tavLst>
                                    </p:anim>
                                    <p:anim calcmode="lin" valueType="num">
                                      <p:cBhvr>
                                        <p:cTn id="16" dur="500" fill="hold"/>
                                        <p:tgtEl>
                                          <p:spTgt spid="8500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8" grpId="0" animBg="1" autoUpdateAnimBg="0"/>
      <p:bldP spid="84999" grpId="0"/>
      <p:bldP spid="8500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EF6C00D-5B3B-62D9-B926-8944D57EF6E9}"/>
              </a:ext>
            </a:extLst>
          </p:cNvPr>
          <p:cNvPicPr>
            <a:picLocks noChangeAspect="1"/>
          </p:cNvPicPr>
          <p:nvPr/>
        </p:nvPicPr>
        <p:blipFill>
          <a:blip r:embed="rId3"/>
          <a:stretch>
            <a:fillRect/>
          </a:stretch>
        </p:blipFill>
        <p:spPr>
          <a:xfrm>
            <a:off x="1530650" y="332657"/>
            <a:ext cx="9144000" cy="3545633"/>
          </a:xfrm>
          <a:prstGeom prst="rect">
            <a:avLst/>
          </a:prstGeom>
        </p:spPr>
      </p:pic>
      <p:sp>
        <p:nvSpPr>
          <p:cNvPr id="6" name="文本框 5">
            <a:extLst>
              <a:ext uri="{FF2B5EF4-FFF2-40B4-BE49-F238E27FC236}">
                <a16:creationId xmlns:a16="http://schemas.microsoft.com/office/drawing/2014/main" id="{CDFA6B93-78E3-5D85-4DC3-581923D43077}"/>
              </a:ext>
            </a:extLst>
          </p:cNvPr>
          <p:cNvSpPr txBox="1"/>
          <p:nvPr/>
        </p:nvSpPr>
        <p:spPr>
          <a:xfrm>
            <a:off x="1415480" y="4293096"/>
            <a:ext cx="9259170" cy="1827360"/>
          </a:xfrm>
          <a:prstGeom prst="rect">
            <a:avLst/>
          </a:prstGeom>
          <a:noFill/>
        </p:spPr>
        <p:txBody>
          <a:bodyPr wrap="square" rtlCol="0">
            <a:spAutoFit/>
          </a:bodyPr>
          <a:lstStyle/>
          <a:p>
            <a:pPr>
              <a:lnSpc>
                <a:spcPct val="120000"/>
              </a:lnSpc>
            </a:pPr>
            <a:r>
              <a:rPr lang="zh-CN" altLang="en-US" sz="2400" b="0" dirty="0">
                <a:solidFill>
                  <a:schemeClr val="tx1">
                    <a:lumMod val="95000"/>
                    <a:lumOff val="5000"/>
                  </a:schemeClr>
                </a:solidFill>
              </a:rPr>
              <a:t>维生素</a:t>
            </a:r>
            <a:r>
              <a:rPr lang="en-US" altLang="zh-CN" sz="2400" b="0" dirty="0">
                <a:solidFill>
                  <a:schemeClr val="tx1">
                    <a:lumMod val="95000"/>
                    <a:lumOff val="5000"/>
                  </a:schemeClr>
                </a:solidFill>
              </a:rPr>
              <a:t>D</a:t>
            </a:r>
            <a:r>
              <a:rPr lang="zh-CN" altLang="en-US" sz="2400" b="0" dirty="0">
                <a:solidFill>
                  <a:srgbClr val="0000CC"/>
                </a:solidFill>
              </a:rPr>
              <a:t>不再被认为是一种简单的维生素</a:t>
            </a:r>
            <a:r>
              <a:rPr lang="zh-CN" altLang="en-US" sz="2400" b="0" dirty="0">
                <a:solidFill>
                  <a:schemeClr val="tx1">
                    <a:lumMod val="95000"/>
                    <a:lumOff val="5000"/>
                  </a:schemeClr>
                </a:solidFill>
              </a:rPr>
              <a:t>，而是一种</a:t>
            </a:r>
            <a:r>
              <a:rPr lang="zh-CN" altLang="en-US" sz="2400" b="0" dirty="0">
                <a:solidFill>
                  <a:srgbClr val="0000CC"/>
                </a:solidFill>
              </a:rPr>
              <a:t>多功能的甾醇类激素</a:t>
            </a:r>
            <a:r>
              <a:rPr lang="zh-CN" altLang="en-US" sz="2400" b="0" dirty="0">
                <a:solidFill>
                  <a:schemeClr val="tx1">
                    <a:lumMod val="95000"/>
                    <a:lumOff val="5000"/>
                  </a:schemeClr>
                </a:solidFill>
              </a:rPr>
              <a:t>，</a:t>
            </a:r>
            <a:r>
              <a:rPr lang="zh-CN" altLang="en-US" sz="2400" b="0" dirty="0">
                <a:solidFill>
                  <a:srgbClr val="0000CC"/>
                </a:solidFill>
              </a:rPr>
              <a:t>控制着超过几百种的基因</a:t>
            </a:r>
            <a:r>
              <a:rPr lang="zh-CN" altLang="en-US" sz="2400" b="0" dirty="0">
                <a:solidFill>
                  <a:schemeClr val="tx1">
                    <a:lumMod val="95000"/>
                    <a:lumOff val="5000"/>
                  </a:schemeClr>
                </a:solidFill>
              </a:rPr>
              <a:t>，涉及人类全基因组的</a:t>
            </a:r>
            <a:r>
              <a:rPr lang="en-US" altLang="zh-CN" sz="2400" b="0" dirty="0">
                <a:solidFill>
                  <a:schemeClr val="tx1">
                    <a:lumMod val="95000"/>
                    <a:lumOff val="5000"/>
                  </a:schemeClr>
                </a:solidFill>
              </a:rPr>
              <a:t>3%</a:t>
            </a:r>
            <a:r>
              <a:rPr lang="zh-CN" altLang="en-US" sz="2400" b="0" dirty="0">
                <a:solidFill>
                  <a:schemeClr val="tx1">
                    <a:lumMod val="95000"/>
                    <a:lumOff val="5000"/>
                  </a:schemeClr>
                </a:solidFill>
              </a:rPr>
              <a:t>左右，对细胞水平和分子水平的生物学功能有着广泛的影响</a:t>
            </a:r>
            <a:r>
              <a:rPr lang="en-US" altLang="zh-CN" sz="2400" b="0" dirty="0">
                <a:solidFill>
                  <a:schemeClr val="tx1">
                    <a:lumMod val="95000"/>
                    <a:lumOff val="5000"/>
                  </a:schemeClr>
                </a:solidFill>
              </a:rPr>
              <a:t>, </a:t>
            </a:r>
            <a:r>
              <a:rPr lang="zh-CN" altLang="en-US" sz="2400" b="0" dirty="0">
                <a:solidFill>
                  <a:srgbClr val="0000CC"/>
                </a:solidFill>
              </a:rPr>
              <a:t>其作用也不再局限于骨骼健康和调节血钙平衡</a:t>
            </a:r>
            <a:r>
              <a:rPr lang="zh-CN" altLang="en-US" sz="2400" b="0" dirty="0">
                <a:solidFill>
                  <a:schemeClr val="tx1">
                    <a:lumMod val="95000"/>
                    <a:lumOff val="5000"/>
                  </a:schemeClr>
                </a:solidFill>
              </a:rPr>
              <a:t>。</a:t>
            </a:r>
          </a:p>
        </p:txBody>
      </p:sp>
    </p:spTree>
    <p:extLst>
      <p:ext uri="{BB962C8B-B14F-4D97-AF65-F5344CB8AC3E}">
        <p14:creationId xmlns:p14="http://schemas.microsoft.com/office/powerpoint/2010/main" val="2885717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a:extLst>
              <a:ext uri="{FF2B5EF4-FFF2-40B4-BE49-F238E27FC236}">
                <a16:creationId xmlns:a16="http://schemas.microsoft.com/office/drawing/2014/main" id="{84106569-21D6-499B-8B55-AF03D80CBFBB}"/>
              </a:ext>
            </a:extLst>
          </p:cNvPr>
          <p:cNvSpPr>
            <a:spLocks noGrp="1" noChangeArrowheads="1"/>
          </p:cNvSpPr>
          <p:nvPr>
            <p:ph type="title"/>
          </p:nvPr>
        </p:nvSpPr>
        <p:spPr>
          <a:xfrm>
            <a:off x="4583832" y="573453"/>
            <a:ext cx="3816424" cy="714375"/>
          </a:xfrm>
        </p:spPr>
        <p:txBody>
          <a:bodyPr/>
          <a:lstStyle/>
          <a:p>
            <a:pPr eaLnBrk="1" hangingPunct="1"/>
            <a:r>
              <a:rPr lang="zh-CN" altLang="en-US" sz="3600" b="1" dirty="0">
                <a:latin typeface="微软雅黑" panose="020B0503020204020204" pitchFamily="34" charset="-122"/>
                <a:ea typeface="微软雅黑" panose="020B0503020204020204" pitchFamily="34" charset="-122"/>
              </a:rPr>
              <a:t>光照多少合适 ？</a:t>
            </a:r>
          </a:p>
        </p:txBody>
      </p:sp>
      <p:sp>
        <p:nvSpPr>
          <p:cNvPr id="51203" name="内容占位符 2">
            <a:extLst>
              <a:ext uri="{FF2B5EF4-FFF2-40B4-BE49-F238E27FC236}">
                <a16:creationId xmlns:a16="http://schemas.microsoft.com/office/drawing/2014/main" id="{D7C63332-E16B-4108-BBE4-6A9FE8EB1997}"/>
              </a:ext>
            </a:extLst>
          </p:cNvPr>
          <p:cNvSpPr>
            <a:spLocks noGrp="1" noChangeArrowheads="1"/>
          </p:cNvSpPr>
          <p:nvPr>
            <p:ph idx="1"/>
          </p:nvPr>
        </p:nvSpPr>
        <p:spPr>
          <a:xfrm>
            <a:off x="1415480" y="1556792"/>
            <a:ext cx="9649071" cy="4031902"/>
          </a:xfrm>
        </p:spPr>
        <p:txBody>
          <a:bodyPr rtlCol="0">
            <a:normAutofit/>
          </a:bodyPr>
          <a:lstStyle/>
          <a:p>
            <a:pPr marL="358775" eaLnBrk="1" fontAlgn="auto" hangingPunct="1">
              <a:lnSpc>
                <a:spcPct val="120000"/>
              </a:lnSpc>
              <a:spcAft>
                <a:spcPts val="0"/>
              </a:spcAft>
              <a:defRPr/>
            </a:pPr>
            <a:r>
              <a:rPr lang="zh-CN" altLang="en-US" sz="2600" dirty="0">
                <a:latin typeface="微软雅黑" panose="020B0503020204020204" pitchFamily="34" charset="-122"/>
                <a:ea typeface="微软雅黑" panose="020B0503020204020204" pitchFamily="34" charset="-122"/>
              </a:rPr>
              <a:t>维生素</a:t>
            </a:r>
            <a:r>
              <a:rPr lang="en-US" altLang="zh-CN" sz="2600" dirty="0">
                <a:latin typeface="微软雅黑" panose="020B0503020204020204" pitchFamily="34" charset="-122"/>
                <a:ea typeface="微软雅黑" panose="020B0503020204020204" pitchFamily="34" charset="-122"/>
              </a:rPr>
              <a:t>D</a:t>
            </a:r>
            <a:r>
              <a:rPr lang="zh-CN" altLang="en-US" sz="2600" dirty="0">
                <a:latin typeface="微软雅黑" panose="020B0503020204020204" pitchFamily="34" charset="-122"/>
                <a:ea typeface="微软雅黑" panose="020B0503020204020204" pitchFamily="34" charset="-122"/>
              </a:rPr>
              <a:t>的转化量取决于阳光强度、肤色深浅以及年龄。 一般来说，</a:t>
            </a:r>
            <a:r>
              <a:rPr lang="zh-CN" altLang="en-US" sz="2600" dirty="0">
                <a:solidFill>
                  <a:srgbClr val="C00000"/>
                </a:solidFill>
                <a:latin typeface="微软雅黑" panose="020B0503020204020204" pitchFamily="34" charset="-122"/>
                <a:ea typeface="微软雅黑" panose="020B0503020204020204" pitchFamily="34" charset="-122"/>
              </a:rPr>
              <a:t>阳光越强、肤色越浅、越年轻，转化率越高</a:t>
            </a:r>
            <a:r>
              <a:rPr lang="zh-CN" altLang="en-US" sz="2600" dirty="0">
                <a:latin typeface="微软雅黑" panose="020B0503020204020204" pitchFamily="34" charset="-122"/>
                <a:ea typeface="微软雅黑" panose="020B0503020204020204" pitchFamily="34" charset="-122"/>
              </a:rPr>
              <a:t>，这是为什么</a:t>
            </a:r>
            <a:r>
              <a:rPr lang="zh-CN" altLang="en-US" sz="2600" dirty="0">
                <a:solidFill>
                  <a:srgbClr val="3333CC"/>
                </a:solidFill>
                <a:latin typeface="微软雅黑" panose="020B0503020204020204" pitchFamily="34" charset="-122"/>
                <a:ea typeface="微软雅黑" panose="020B0503020204020204" pitchFamily="34" charset="-122"/>
              </a:rPr>
              <a:t>老人、黑人和高纬度地区的居民需要补充维生素</a:t>
            </a:r>
            <a:r>
              <a:rPr lang="en-US" altLang="zh-CN" sz="2600" dirty="0">
                <a:solidFill>
                  <a:srgbClr val="3333CC"/>
                </a:solidFill>
                <a:latin typeface="微软雅黑" panose="020B0503020204020204" pitchFamily="34" charset="-122"/>
                <a:ea typeface="微软雅黑" panose="020B0503020204020204" pitchFamily="34" charset="-122"/>
              </a:rPr>
              <a:t>D</a:t>
            </a:r>
            <a:r>
              <a:rPr lang="zh-CN" altLang="en-US" sz="2600" dirty="0">
                <a:latin typeface="微软雅黑" panose="020B0503020204020204" pitchFamily="34" charset="-122"/>
                <a:ea typeface="微软雅黑" panose="020B0503020204020204" pitchFamily="34" charset="-122"/>
              </a:rPr>
              <a:t>的原因。</a:t>
            </a:r>
            <a:endParaRPr lang="en-US" altLang="zh-CN" sz="2600" dirty="0">
              <a:latin typeface="微软雅黑" panose="020B0503020204020204" pitchFamily="34" charset="-122"/>
              <a:ea typeface="微软雅黑" panose="020B0503020204020204" pitchFamily="34" charset="-122"/>
            </a:endParaRPr>
          </a:p>
          <a:p>
            <a:pPr marL="358775" eaLnBrk="1" fontAlgn="auto" hangingPunct="1">
              <a:lnSpc>
                <a:spcPct val="120000"/>
              </a:lnSpc>
              <a:spcAft>
                <a:spcPts val="0"/>
              </a:spcAft>
              <a:defRPr/>
            </a:pPr>
            <a:endParaRPr lang="en-US" altLang="zh-CN" sz="2600" dirty="0">
              <a:latin typeface="微软雅黑" panose="020B0503020204020204" pitchFamily="34" charset="-122"/>
              <a:ea typeface="微软雅黑" panose="020B0503020204020204" pitchFamily="34" charset="-122"/>
            </a:endParaRPr>
          </a:p>
          <a:p>
            <a:pPr marL="358775" eaLnBrk="1" fontAlgn="auto" hangingPunct="1">
              <a:lnSpc>
                <a:spcPct val="120000"/>
              </a:lnSpc>
              <a:spcAft>
                <a:spcPts val="0"/>
              </a:spcAft>
              <a:defRPr/>
            </a:pPr>
            <a:r>
              <a:rPr lang="zh-CN" altLang="en-US" sz="2600" dirty="0">
                <a:latin typeface="微软雅黑" panose="020B0503020204020204" pitchFamily="34" charset="-122"/>
                <a:ea typeface="微软雅黑" panose="020B0503020204020204" pitchFamily="34" charset="-122"/>
              </a:rPr>
              <a:t>一个浅色皮肤的人在热带的阳光下晒几个小时，可以产生高达</a:t>
            </a:r>
            <a:r>
              <a:rPr lang="en-US" altLang="zh-CN" sz="2600" dirty="0">
                <a:latin typeface="微软雅黑" panose="020B0503020204020204" pitchFamily="34" charset="-122"/>
                <a:ea typeface="微软雅黑" panose="020B0503020204020204" pitchFamily="34" charset="-122"/>
              </a:rPr>
              <a:t>20,000IU</a:t>
            </a:r>
            <a:r>
              <a:rPr lang="zh-CN" altLang="en-US" sz="2600" dirty="0">
                <a:latin typeface="微软雅黑" panose="020B0503020204020204" pitchFamily="34" charset="-122"/>
                <a:ea typeface="微软雅黑" panose="020B0503020204020204" pitchFamily="34" charset="-122"/>
              </a:rPr>
              <a:t>的维生素</a:t>
            </a:r>
            <a:r>
              <a:rPr lang="en-US" altLang="zh-CN" sz="2600" dirty="0">
                <a:latin typeface="微软雅黑" panose="020B0503020204020204" pitchFamily="34" charset="-122"/>
                <a:ea typeface="微软雅黑" panose="020B0503020204020204" pitchFamily="34" charset="-122"/>
              </a:rPr>
              <a:t>D</a:t>
            </a:r>
            <a:r>
              <a:rPr lang="zh-CN" altLang="en-US" sz="2600" dirty="0">
                <a:latin typeface="微软雅黑" panose="020B0503020204020204" pitchFamily="34" charset="-122"/>
                <a:ea typeface="微软雅黑" panose="020B0503020204020204" pitchFamily="34" charset="-122"/>
              </a:rPr>
              <a:t>（</a:t>
            </a:r>
            <a:r>
              <a:rPr lang="en-US" altLang="zh-CN" sz="2600" dirty="0">
                <a:solidFill>
                  <a:srgbClr val="C00000"/>
                </a:solidFill>
                <a:latin typeface="微软雅黑" panose="020B0503020204020204" pitchFamily="34" charset="-122"/>
                <a:ea typeface="微软雅黑" panose="020B0503020204020204" pitchFamily="34" charset="-122"/>
              </a:rPr>
              <a:t>1</a:t>
            </a:r>
            <a:r>
              <a:rPr lang="el-GR" altLang="zh-CN" sz="2600" dirty="0">
                <a:solidFill>
                  <a:srgbClr val="C00000"/>
                </a:solidFill>
                <a:latin typeface="微软雅黑" panose="020B0503020204020204" pitchFamily="34" charset="-122"/>
                <a:ea typeface="微软雅黑" panose="020B0503020204020204" pitchFamily="34" charset="-122"/>
              </a:rPr>
              <a:t>μ</a:t>
            </a:r>
            <a:r>
              <a:rPr lang="en-US" altLang="zh-CN" sz="2600" dirty="0">
                <a:solidFill>
                  <a:srgbClr val="C00000"/>
                </a:solidFill>
                <a:latin typeface="微软雅黑" panose="020B0503020204020204" pitchFamily="34" charset="-122"/>
                <a:ea typeface="微软雅黑" panose="020B0503020204020204" pitchFamily="34" charset="-122"/>
              </a:rPr>
              <a:t>g≈40IU</a:t>
            </a:r>
            <a:r>
              <a:rPr lang="zh-CN" altLang="en-US" sz="2600" dirty="0">
                <a:latin typeface="微软雅黑" panose="020B0503020204020204" pitchFamily="34" charset="-122"/>
                <a:ea typeface="微软雅黑" panose="020B0503020204020204" pitchFamily="34" charset="-122"/>
              </a:rPr>
              <a:t>），即约</a:t>
            </a:r>
            <a:r>
              <a:rPr lang="en-US" altLang="zh-CN" sz="2600" dirty="0">
                <a:latin typeface="微软雅黑" panose="020B0503020204020204" pitchFamily="34" charset="-122"/>
                <a:ea typeface="微软雅黑" panose="020B0503020204020204" pitchFamily="34" charset="-122"/>
              </a:rPr>
              <a:t>500</a:t>
            </a:r>
            <a:r>
              <a:rPr lang="el-GR" altLang="zh-CN" sz="2600" dirty="0">
                <a:latin typeface="微软雅黑" panose="020B0503020204020204" pitchFamily="34" charset="-122"/>
                <a:ea typeface="微软雅黑" panose="020B0503020204020204" pitchFamily="34" charset="-122"/>
              </a:rPr>
              <a:t> μ</a:t>
            </a:r>
            <a:r>
              <a:rPr lang="en-US" altLang="zh-CN" sz="2600" dirty="0">
                <a:latin typeface="微软雅黑" panose="020B0503020204020204" pitchFamily="34" charset="-122"/>
                <a:ea typeface="微软雅黑" panose="020B0503020204020204" pitchFamily="34" charset="-122"/>
              </a:rPr>
              <a:t>g, </a:t>
            </a:r>
            <a:r>
              <a:rPr lang="zh-CN" altLang="en-US" sz="2600" dirty="0">
                <a:latin typeface="微软雅黑" panose="020B0503020204020204" pitchFamily="34" charset="-122"/>
                <a:ea typeface="微软雅黑" panose="020B0503020204020204" pitchFamily="34" charset="-122"/>
              </a:rPr>
              <a:t>而</a:t>
            </a:r>
            <a:r>
              <a:rPr lang="zh-CN" altLang="en-US" sz="2600" dirty="0">
                <a:solidFill>
                  <a:srgbClr val="3333CC"/>
                </a:solidFill>
                <a:latin typeface="微软雅黑" panose="020B0503020204020204" pitchFamily="34" charset="-122"/>
                <a:ea typeface="微软雅黑" panose="020B0503020204020204" pitchFamily="34" charset="-122"/>
              </a:rPr>
              <a:t>世卫组织推荐的每日摄取量只</a:t>
            </a:r>
            <a:r>
              <a:rPr lang="en-US" altLang="zh-CN" sz="2600" dirty="0">
                <a:solidFill>
                  <a:srgbClr val="3333CC"/>
                </a:solidFill>
                <a:latin typeface="微软雅黑" panose="020B0503020204020204" pitchFamily="34" charset="-122"/>
                <a:ea typeface="微软雅黑" panose="020B0503020204020204" pitchFamily="34" charset="-122"/>
              </a:rPr>
              <a:t>400IU</a:t>
            </a:r>
            <a:r>
              <a:rPr lang="en-US" altLang="zh-CN" sz="2600" dirty="0">
                <a:latin typeface="微软雅黑" panose="020B0503020204020204" pitchFamily="34" charset="-122"/>
                <a:ea typeface="微软雅黑" panose="020B0503020204020204" pitchFamily="34" charset="-122"/>
              </a:rPr>
              <a:t> </a:t>
            </a:r>
            <a:r>
              <a:rPr lang="en-US" altLang="zh-CN" sz="2600" dirty="0">
                <a:solidFill>
                  <a:srgbClr val="0000CC"/>
                </a:solidFill>
                <a:latin typeface="微软雅黑" panose="020B0503020204020204" pitchFamily="34" charset="-122"/>
                <a:ea typeface="微软雅黑" panose="020B0503020204020204" pitchFamily="34" charset="-122"/>
              </a:rPr>
              <a:t>≈10</a:t>
            </a:r>
            <a:r>
              <a:rPr lang="el-GR" altLang="zh-CN" sz="2600" dirty="0">
                <a:solidFill>
                  <a:srgbClr val="0000CC"/>
                </a:solidFill>
                <a:latin typeface="微软雅黑" panose="020B0503020204020204" pitchFamily="34" charset="-122"/>
                <a:ea typeface="微软雅黑" panose="020B0503020204020204" pitchFamily="34" charset="-122"/>
              </a:rPr>
              <a:t>μ</a:t>
            </a:r>
            <a:r>
              <a:rPr lang="en-US" altLang="zh-CN" sz="2600" dirty="0">
                <a:solidFill>
                  <a:srgbClr val="0000CC"/>
                </a:solidFill>
                <a:latin typeface="微软雅黑" panose="020B0503020204020204" pitchFamily="34" charset="-122"/>
                <a:ea typeface="微软雅黑" panose="020B0503020204020204" pitchFamily="34" charset="-122"/>
              </a:rPr>
              <a:t>g</a:t>
            </a:r>
            <a:r>
              <a:rPr lang="zh-CN" altLang="en-US" sz="2600" dirty="0">
                <a:latin typeface="微软雅黑" panose="020B0503020204020204" pitchFamily="34" charset="-122"/>
                <a:ea typeface="微软雅黑" panose="020B0503020204020204" pitchFamily="34" charset="-122"/>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CEBFF0-9EE0-5A44-D875-CB0AF399028E}"/>
              </a:ext>
            </a:extLst>
          </p:cNvPr>
          <p:cNvSpPr>
            <a:spLocks noGrp="1" noChangeArrowheads="1"/>
          </p:cNvSpPr>
          <p:nvPr>
            <p:ph type="title"/>
          </p:nvPr>
        </p:nvSpPr>
        <p:spPr>
          <a:xfrm>
            <a:off x="4583832" y="620688"/>
            <a:ext cx="4176464" cy="714375"/>
          </a:xfrm>
        </p:spPr>
        <p:txBody>
          <a:bodyPr/>
          <a:lstStyle/>
          <a:p>
            <a:pPr eaLnBrk="1" hangingPunct="1"/>
            <a:r>
              <a:rPr lang="zh-CN" altLang="en-US" sz="3600" b="1" dirty="0">
                <a:latin typeface="微软雅黑" panose="020B0503020204020204" pitchFamily="34" charset="-122"/>
                <a:ea typeface="微软雅黑" panose="020B0503020204020204" pitchFamily="34" charset="-122"/>
              </a:rPr>
              <a:t>光照多少合适 ？</a:t>
            </a:r>
          </a:p>
        </p:txBody>
      </p:sp>
      <p:sp>
        <p:nvSpPr>
          <p:cNvPr id="71682" name="Rectangle 3">
            <a:extLst>
              <a:ext uri="{FF2B5EF4-FFF2-40B4-BE49-F238E27FC236}">
                <a16:creationId xmlns:a16="http://schemas.microsoft.com/office/drawing/2014/main" id="{21CD5591-C3C3-4575-9F86-BF5730B31B88}"/>
              </a:ext>
            </a:extLst>
          </p:cNvPr>
          <p:cNvSpPr>
            <a:spLocks noGrp="1" noChangeArrowheads="1"/>
          </p:cNvSpPr>
          <p:nvPr>
            <p:ph idx="1"/>
          </p:nvPr>
        </p:nvSpPr>
        <p:spPr>
          <a:xfrm>
            <a:off x="1271464" y="1844824"/>
            <a:ext cx="9865096" cy="4392488"/>
          </a:xfrm>
        </p:spPr>
        <p:txBody>
          <a:bodyPr rtlCol="0">
            <a:normAutofit/>
          </a:bodyPr>
          <a:lstStyle/>
          <a:p>
            <a:pPr eaLnBrk="1" fontAlgn="auto" hangingPunct="1">
              <a:lnSpc>
                <a:spcPct val="100000"/>
              </a:lnSpc>
              <a:spcAft>
                <a:spcPts val="0"/>
              </a:spcAft>
              <a:defRPr/>
            </a:pPr>
            <a:r>
              <a:rPr lang="zh-CN" altLang="en-US" sz="2600" dirty="0">
                <a:solidFill>
                  <a:srgbClr val="0000CC"/>
                </a:solidFill>
                <a:latin typeface="微软雅黑" panose="020B0503020204020204" pitchFamily="34" charset="-122"/>
                <a:ea typeface="微软雅黑" panose="020B0503020204020204" pitchFamily="34" charset="-122"/>
              </a:rPr>
              <a:t>夏季</a:t>
            </a:r>
            <a:r>
              <a:rPr lang="zh-CN" altLang="en-US" sz="2600" dirty="0">
                <a:latin typeface="微软雅黑" panose="020B0503020204020204" pitchFamily="34" charset="-122"/>
                <a:ea typeface="微软雅黑" panose="020B0503020204020204" pitchFamily="34" charset="-122"/>
              </a:rPr>
              <a:t>着短袖，每天上午</a:t>
            </a:r>
            <a:r>
              <a:rPr lang="en-US" altLang="zh-CN" sz="2600" dirty="0">
                <a:latin typeface="微软雅黑" panose="020B0503020204020204" pitchFamily="34" charset="-122"/>
                <a:ea typeface="微软雅黑" panose="020B0503020204020204" pitchFamily="34" charset="-122"/>
              </a:rPr>
              <a:t>10</a:t>
            </a:r>
            <a:r>
              <a:rPr lang="zh-CN" altLang="en-US" sz="2600" dirty="0">
                <a:latin typeface="微软雅黑" panose="020B0503020204020204" pitchFamily="34" charset="-122"/>
                <a:ea typeface="微软雅黑" panose="020B0503020204020204" pitchFamily="34" charset="-122"/>
              </a:rPr>
              <a:t>到下午</a:t>
            </a:r>
            <a:r>
              <a:rPr lang="en-US" altLang="zh-CN" sz="2600" dirty="0">
                <a:latin typeface="微软雅黑" panose="020B0503020204020204" pitchFamily="34" charset="-122"/>
                <a:ea typeface="微软雅黑" panose="020B0503020204020204" pitchFamily="34" charset="-122"/>
              </a:rPr>
              <a:t>3</a:t>
            </a:r>
            <a:r>
              <a:rPr lang="zh-CN" altLang="en-US" sz="2600" dirty="0">
                <a:latin typeface="微软雅黑" panose="020B0503020204020204" pitchFamily="34" charset="-122"/>
                <a:ea typeface="微软雅黑" panose="020B0503020204020204" pitchFamily="34" charset="-122"/>
              </a:rPr>
              <a:t>点左右的阳光晒</a:t>
            </a:r>
            <a:r>
              <a:rPr lang="en-US" altLang="zh-CN" sz="2600" dirty="0">
                <a:solidFill>
                  <a:srgbClr val="0000CC"/>
                </a:solidFill>
                <a:latin typeface="微软雅黑" panose="020B0503020204020204" pitchFamily="34" charset="-122"/>
                <a:ea typeface="微软雅黑" panose="020B0503020204020204" pitchFamily="34" charset="-122"/>
              </a:rPr>
              <a:t>15-20</a:t>
            </a:r>
            <a:r>
              <a:rPr lang="zh-CN" altLang="en-US" sz="2600" dirty="0">
                <a:solidFill>
                  <a:srgbClr val="0000CC"/>
                </a:solidFill>
                <a:latin typeface="微软雅黑" panose="020B0503020204020204" pitchFamily="34" charset="-122"/>
                <a:ea typeface="微软雅黑" panose="020B0503020204020204" pitchFamily="34" charset="-122"/>
              </a:rPr>
              <a:t>分钟足矣</a:t>
            </a:r>
            <a:r>
              <a:rPr lang="zh-CN" altLang="en-US" sz="2600" dirty="0">
                <a:latin typeface="微软雅黑" panose="020B0503020204020204" pitchFamily="34" charset="-122"/>
                <a:ea typeface="微软雅黑" panose="020B0503020204020204" pitchFamily="34" charset="-122"/>
              </a:rPr>
              <a:t>。</a:t>
            </a:r>
            <a:endParaRPr lang="en-US" altLang="zh-CN" sz="2600" dirty="0">
              <a:latin typeface="微软雅黑" panose="020B0503020204020204" pitchFamily="34" charset="-122"/>
              <a:ea typeface="微软雅黑" panose="020B0503020204020204" pitchFamily="34" charset="-122"/>
            </a:endParaRPr>
          </a:p>
          <a:p>
            <a:pPr eaLnBrk="1" fontAlgn="auto" hangingPunct="1">
              <a:lnSpc>
                <a:spcPct val="120000"/>
              </a:lnSpc>
              <a:spcAft>
                <a:spcPts val="0"/>
              </a:spcAft>
              <a:defRPr/>
            </a:pPr>
            <a:r>
              <a:rPr lang="zh-CN" altLang="en-US" sz="2600" dirty="0">
                <a:latin typeface="微软雅黑" panose="020B0503020204020204" pitchFamily="34" charset="-122"/>
                <a:ea typeface="微软雅黑" panose="020B0503020204020204" pitchFamily="34" charset="-122"/>
              </a:rPr>
              <a:t>玻璃后面不算，</a:t>
            </a:r>
            <a:r>
              <a:rPr lang="en-US" altLang="zh-CN" sz="2600" b="1" dirty="0">
                <a:latin typeface="微软雅黑" panose="020B0503020204020204" pitchFamily="34" charset="-122"/>
                <a:ea typeface="微软雅黑" panose="020B0503020204020204" pitchFamily="34" charset="-122"/>
              </a:rPr>
              <a:t>UVB(280-315nm</a:t>
            </a:r>
            <a:r>
              <a:rPr lang="zh-CN" altLang="en-US" sz="2600" b="1"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仅极少量穿过玻璃</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促进</a:t>
            </a:r>
            <a:r>
              <a:rPr lang="en-US" altLang="zh-CN" sz="2400" dirty="0" err="1">
                <a:latin typeface="微软雅黑" panose="020B0503020204020204" pitchFamily="34" charset="-122"/>
                <a:ea typeface="微软雅黑" panose="020B0503020204020204" pitchFamily="34" charset="-122"/>
              </a:rPr>
              <a:t>VitD</a:t>
            </a:r>
            <a:r>
              <a:rPr lang="zh-CN" altLang="en-US" sz="2400" dirty="0">
                <a:latin typeface="微软雅黑" panose="020B0503020204020204" pitchFamily="34" charset="-122"/>
                <a:ea typeface="微软雅黑" panose="020B0503020204020204" pitchFamily="34" charset="-122"/>
              </a:rPr>
              <a:t>合成的最佳紫外线波长在 </a:t>
            </a:r>
            <a:r>
              <a:rPr lang="en-US" altLang="zh-CN" sz="2400" dirty="0">
                <a:latin typeface="微软雅黑" panose="020B0503020204020204" pitchFamily="34" charset="-122"/>
                <a:ea typeface="微软雅黑" panose="020B0503020204020204" pitchFamily="34" charset="-122"/>
              </a:rPr>
              <a:t>270-300 nm </a:t>
            </a:r>
            <a:r>
              <a:rPr lang="zh-CN" altLang="en-US" sz="2400" dirty="0">
                <a:latin typeface="微软雅黑" panose="020B0503020204020204" pitchFamily="34" charset="-122"/>
                <a:ea typeface="微软雅黑" panose="020B0503020204020204" pitchFamily="34" charset="-122"/>
              </a:rPr>
              <a:t>之间）</a:t>
            </a:r>
            <a:r>
              <a:rPr lang="zh-CN" altLang="en-US" sz="2600" dirty="0">
                <a:latin typeface="微软雅黑" panose="020B0503020204020204" pitchFamily="34" charset="-122"/>
                <a:ea typeface="微软雅黑" panose="020B0503020204020204" pitchFamily="34" charset="-122"/>
              </a:rPr>
              <a:t>。</a:t>
            </a:r>
            <a:endParaRPr lang="en-US" altLang="zh-CN" sz="2600" dirty="0">
              <a:latin typeface="微软雅黑" panose="020B0503020204020204" pitchFamily="34" charset="-122"/>
              <a:ea typeface="微软雅黑" panose="020B0503020204020204" pitchFamily="34" charset="-122"/>
            </a:endParaRPr>
          </a:p>
          <a:p>
            <a:pPr eaLnBrk="1" fontAlgn="auto" hangingPunct="1">
              <a:spcAft>
                <a:spcPts val="0"/>
              </a:spcAft>
              <a:defRPr/>
            </a:pPr>
            <a:endParaRPr lang="en-US" altLang="zh-CN" sz="2600" dirty="0">
              <a:latin typeface="微软雅黑" panose="020B0503020204020204" pitchFamily="34" charset="-122"/>
              <a:ea typeface="微软雅黑" panose="020B0503020204020204" pitchFamily="34" charset="-122"/>
            </a:endParaRPr>
          </a:p>
          <a:p>
            <a:pPr algn="l">
              <a:lnSpc>
                <a:spcPct val="120000"/>
              </a:lnSpc>
            </a:pPr>
            <a:r>
              <a:rPr lang="zh-CN" altLang="en-US" sz="2600" dirty="0">
                <a:latin typeface="微软雅黑" panose="020B0503020204020204" pitchFamily="34" charset="-122"/>
                <a:ea typeface="微软雅黑" panose="020B0503020204020204" pitchFamily="34" charset="-122"/>
              </a:rPr>
              <a:t>防晒系数</a:t>
            </a:r>
            <a:r>
              <a:rPr lang="en-US" altLang="zh-CN" sz="2600" dirty="0">
                <a:latin typeface="微软雅黑" panose="020B0503020204020204" pitchFamily="34" charset="-122"/>
                <a:ea typeface="微软雅黑" panose="020B0503020204020204" pitchFamily="34" charset="-122"/>
              </a:rPr>
              <a:t>(SPF</a:t>
            </a:r>
            <a:r>
              <a:rPr lang="zh-CN" altLang="en-US" sz="2600" dirty="0">
                <a:latin typeface="微软雅黑" panose="020B0503020204020204" pitchFamily="34" charset="-122"/>
                <a:ea typeface="微软雅黑" panose="020B0503020204020204" pitchFamily="34" charset="-122"/>
              </a:rPr>
              <a:t>）为</a:t>
            </a:r>
            <a:r>
              <a:rPr lang="en-US" altLang="zh-CN" sz="2600" dirty="0">
                <a:latin typeface="微软雅黑" panose="020B0503020204020204" pitchFamily="34" charset="-122"/>
                <a:ea typeface="微软雅黑" panose="020B0503020204020204" pitchFamily="34" charset="-122"/>
              </a:rPr>
              <a:t>8</a:t>
            </a:r>
            <a:r>
              <a:rPr lang="zh-CN" altLang="en-US" sz="2600" dirty="0">
                <a:latin typeface="微软雅黑" panose="020B0503020204020204" pitchFamily="34" charset="-122"/>
                <a:ea typeface="微软雅黑" panose="020B0503020204020204" pitchFamily="34" charset="-122"/>
              </a:rPr>
              <a:t>的</a:t>
            </a:r>
            <a:r>
              <a:rPr lang="zh-CN" altLang="en-US" sz="2600" dirty="0">
                <a:solidFill>
                  <a:srgbClr val="0000CC"/>
                </a:solidFill>
                <a:latin typeface="微软雅黑" panose="020B0503020204020204" pitchFamily="34" charset="-122"/>
                <a:ea typeface="微软雅黑" panose="020B0503020204020204" pitchFamily="34" charset="-122"/>
              </a:rPr>
              <a:t>防晒霜</a:t>
            </a:r>
            <a:r>
              <a:rPr lang="zh-CN" altLang="en-US" sz="2600" dirty="0">
                <a:latin typeface="微软雅黑" panose="020B0503020204020204" pitchFamily="34" charset="-122"/>
                <a:ea typeface="微软雅黑" panose="020B0503020204020204" pitchFamily="34" charset="-122"/>
              </a:rPr>
              <a:t>会减少</a:t>
            </a:r>
            <a:r>
              <a:rPr lang="en-US" altLang="zh-CN" sz="2600" dirty="0">
                <a:latin typeface="微软雅黑" panose="020B0503020204020204" pitchFamily="34" charset="-122"/>
                <a:ea typeface="微软雅黑" panose="020B0503020204020204" pitchFamily="34" charset="-122"/>
              </a:rPr>
              <a:t>92.5%</a:t>
            </a:r>
            <a:r>
              <a:rPr lang="zh-CN" altLang="en-US" sz="2600" dirty="0">
                <a:latin typeface="微软雅黑" panose="020B0503020204020204" pitchFamily="34" charset="-122"/>
                <a:ea typeface="微软雅黑" panose="020B0503020204020204" pitchFamily="34" charset="-122"/>
              </a:rPr>
              <a:t>的维生素</a:t>
            </a:r>
            <a:r>
              <a:rPr lang="en-US" altLang="zh-CN" sz="2600" dirty="0">
                <a:latin typeface="微软雅黑" panose="020B0503020204020204" pitchFamily="34" charset="-122"/>
                <a:ea typeface="微软雅黑" panose="020B0503020204020204" pitchFamily="34" charset="-122"/>
              </a:rPr>
              <a:t>D</a:t>
            </a:r>
            <a:r>
              <a:rPr lang="en-US" altLang="zh-CN" sz="2600" baseline="-25000" dirty="0">
                <a:latin typeface="微软雅黑" panose="020B0503020204020204" pitchFamily="34" charset="-122"/>
                <a:ea typeface="微软雅黑" panose="020B0503020204020204" pitchFamily="34" charset="-122"/>
              </a:rPr>
              <a:t>3</a:t>
            </a:r>
            <a:r>
              <a:rPr lang="zh-CN" altLang="en-US" sz="2600" dirty="0">
                <a:latin typeface="微软雅黑" panose="020B0503020204020204" pitchFamily="34" charset="-122"/>
                <a:ea typeface="微软雅黑" panose="020B0503020204020204" pitchFamily="34" charset="-122"/>
              </a:rPr>
              <a:t>的合成， </a:t>
            </a:r>
            <a:r>
              <a:rPr lang="en-US" altLang="zh-CN" sz="2600" dirty="0">
                <a:latin typeface="微软雅黑" panose="020B0503020204020204" pitchFamily="34" charset="-122"/>
                <a:ea typeface="微软雅黑" panose="020B0503020204020204" pitchFamily="34" charset="-122"/>
              </a:rPr>
              <a:t>SPF15</a:t>
            </a:r>
            <a:r>
              <a:rPr lang="zh-CN" altLang="en-US" sz="2600" dirty="0">
                <a:latin typeface="微软雅黑" panose="020B0503020204020204" pitchFamily="34" charset="-122"/>
                <a:ea typeface="微软雅黑" panose="020B0503020204020204" pitchFamily="34" charset="-122"/>
              </a:rPr>
              <a:t>，则维生素</a:t>
            </a:r>
            <a:r>
              <a:rPr lang="en-US" altLang="zh-CN" sz="2600" dirty="0">
                <a:latin typeface="微软雅黑" panose="020B0503020204020204" pitchFamily="34" charset="-122"/>
                <a:ea typeface="微软雅黑" panose="020B0503020204020204" pitchFamily="34" charset="-122"/>
              </a:rPr>
              <a:t>D</a:t>
            </a:r>
            <a:r>
              <a:rPr lang="en-US" altLang="zh-CN" sz="2600" baseline="-25000" dirty="0">
                <a:latin typeface="微软雅黑" panose="020B0503020204020204" pitchFamily="34" charset="-122"/>
                <a:ea typeface="微软雅黑" panose="020B0503020204020204" pitchFamily="34" charset="-122"/>
              </a:rPr>
              <a:t>3</a:t>
            </a:r>
            <a:r>
              <a:rPr lang="zh-CN" altLang="en-US" sz="2600" dirty="0">
                <a:latin typeface="微软雅黑" panose="020B0503020204020204" pitchFamily="34" charset="-122"/>
                <a:ea typeface="微软雅黑" panose="020B0503020204020204" pitchFamily="34" charset="-122"/>
              </a:rPr>
              <a:t>的合成将减少</a:t>
            </a:r>
            <a:r>
              <a:rPr lang="en-US" altLang="zh-CN" sz="2600" dirty="0">
                <a:latin typeface="微软雅黑" panose="020B0503020204020204" pitchFamily="34" charset="-122"/>
                <a:ea typeface="微软雅黑" panose="020B0503020204020204" pitchFamily="34" charset="-122"/>
              </a:rPr>
              <a:t>99%</a:t>
            </a:r>
            <a:r>
              <a:rPr lang="zh-CN" altLang="en-US" sz="2600" dirty="0">
                <a:latin typeface="微软雅黑" panose="020B0503020204020204" pitchFamily="34" charset="-122"/>
                <a:ea typeface="微软雅黑" panose="020B0503020204020204" pitchFamily="34" charset="-122"/>
              </a:rPr>
              <a:t>。</a:t>
            </a:r>
            <a:endParaRPr lang="en-US" altLang="zh-CN" sz="2600" dirty="0">
              <a:latin typeface="微软雅黑" panose="020B0503020204020204" pitchFamily="34" charset="-122"/>
              <a:ea typeface="微软雅黑" panose="020B0503020204020204" pitchFamily="34" charset="-122"/>
            </a:endParaRPr>
          </a:p>
          <a:p>
            <a:pPr marL="0" indent="0" eaLnBrk="1" fontAlgn="auto" hangingPunct="1">
              <a:spcAft>
                <a:spcPts val="0"/>
              </a:spcAft>
              <a:buNone/>
              <a:defRPr/>
            </a:pPr>
            <a:endParaRPr lang="en-US" altLang="zh-CN" sz="2600" dirty="0">
              <a:latin typeface="微软雅黑" panose="020B0503020204020204" pitchFamily="34" charset="-122"/>
              <a:ea typeface="微软雅黑" panose="020B0503020204020204" pitchFamily="34" charset="-122"/>
            </a:endParaRPr>
          </a:p>
          <a:p>
            <a:pPr eaLnBrk="1" fontAlgn="auto" hangingPunct="1">
              <a:spcAft>
                <a:spcPts val="0"/>
              </a:spcAft>
              <a:defRPr/>
            </a:pPr>
            <a:r>
              <a:rPr lang="zh-CN" altLang="en-US" sz="2600" dirty="0">
                <a:latin typeface="微软雅黑" panose="020B0503020204020204" pitchFamily="34" charset="-122"/>
                <a:ea typeface="微软雅黑" panose="020B0503020204020204" pitchFamily="34" charset="-122"/>
              </a:rPr>
              <a:t>因皮肤癌的风险，不鼓励多晒太阳。</a:t>
            </a:r>
            <a:endParaRPr lang="en-US" altLang="zh-CN" sz="2600" dirty="0">
              <a:latin typeface="微软雅黑" panose="020B0503020204020204" pitchFamily="34" charset="-122"/>
              <a:ea typeface="微软雅黑" panose="020B0503020204020204" pitchFamily="34" charset="-122"/>
            </a:endParaRPr>
          </a:p>
          <a:p>
            <a:pPr eaLnBrk="1" fontAlgn="auto" hangingPunct="1">
              <a:spcAft>
                <a:spcPts val="0"/>
              </a:spcAft>
              <a:defRPr/>
            </a:pPr>
            <a:endParaRPr lang="zh-CN" altLang="en-US" sz="2600" dirty="0">
              <a:latin typeface="微软雅黑" panose="020B0503020204020204" pitchFamily="34" charset="-122"/>
              <a:ea typeface="微软雅黑" panose="020B0503020204020204" pitchFamily="34"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68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112EF-F03A-010C-F477-2926D0FCCE0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DA2ACA2-A7F3-B047-FAC5-E59875152F3F}"/>
              </a:ext>
            </a:extLst>
          </p:cNvPr>
          <p:cNvSpPr>
            <a:spLocks noGrp="1" noChangeArrowheads="1"/>
          </p:cNvSpPr>
          <p:nvPr>
            <p:ph type="title"/>
          </p:nvPr>
        </p:nvSpPr>
        <p:spPr>
          <a:xfrm>
            <a:off x="2315581" y="571862"/>
            <a:ext cx="7848871" cy="714375"/>
          </a:xfrm>
        </p:spPr>
        <p:txBody>
          <a:bodyPr/>
          <a:lstStyle/>
          <a:p>
            <a:pPr algn="ctr" eaLnBrk="1" hangingPunct="1"/>
            <a:r>
              <a:rPr lang="zh-CN" altLang="en-US" sz="3200" dirty="0">
                <a:solidFill>
                  <a:srgbClr val="0000CC"/>
                </a:solidFill>
                <a:latin typeface="微软雅黑" panose="020B0503020204020204" pitchFamily="34" charset="-122"/>
                <a:ea typeface="微软雅黑" panose="020B0503020204020204" pitchFamily="34" charset="-122"/>
              </a:rPr>
              <a:t>吃维生素</a:t>
            </a:r>
            <a:r>
              <a:rPr lang="en-US" altLang="zh-CN" sz="3200" dirty="0">
                <a:solidFill>
                  <a:srgbClr val="0000CC"/>
                </a:solidFill>
                <a:latin typeface="微软雅黑" panose="020B0503020204020204" pitchFamily="34" charset="-122"/>
                <a:ea typeface="微软雅黑" panose="020B0503020204020204" pitchFamily="34" charset="-122"/>
              </a:rPr>
              <a:t>D</a:t>
            </a:r>
            <a:r>
              <a:rPr lang="en-US" altLang="zh-CN" sz="3200" baseline="-25000" dirty="0">
                <a:solidFill>
                  <a:srgbClr val="0000CC"/>
                </a:solidFill>
                <a:latin typeface="微软雅黑" panose="020B0503020204020204" pitchFamily="34" charset="-122"/>
                <a:ea typeface="微软雅黑" panose="020B0503020204020204" pitchFamily="34" charset="-122"/>
              </a:rPr>
              <a:t>3</a:t>
            </a:r>
            <a:r>
              <a:rPr lang="zh-CN" altLang="en-US" sz="3200" dirty="0">
                <a:solidFill>
                  <a:srgbClr val="0000CC"/>
                </a:solidFill>
                <a:latin typeface="微软雅黑" panose="020B0503020204020204" pitchFamily="34" charset="-122"/>
                <a:ea typeface="微软雅黑" panose="020B0503020204020204" pitchFamily="34" charset="-122"/>
              </a:rPr>
              <a:t>胶囊可有效补充维生素</a:t>
            </a:r>
            <a:r>
              <a:rPr lang="en-US" altLang="zh-CN" sz="3200" dirty="0">
                <a:solidFill>
                  <a:srgbClr val="0000CC"/>
                </a:solidFill>
                <a:latin typeface="微软雅黑" panose="020B0503020204020204" pitchFamily="34" charset="-122"/>
                <a:ea typeface="微软雅黑" panose="020B0503020204020204" pitchFamily="34" charset="-122"/>
              </a:rPr>
              <a:t>D</a:t>
            </a:r>
            <a:endParaRPr lang="zh-CN" altLang="en-US" sz="3200" dirty="0">
              <a:solidFill>
                <a:srgbClr val="0000CC"/>
              </a:solidFill>
              <a:latin typeface="微软雅黑" panose="020B0503020204020204" pitchFamily="34" charset="-122"/>
              <a:ea typeface="微软雅黑" panose="020B0503020204020204" pitchFamily="34" charset="-122"/>
            </a:endParaRPr>
          </a:p>
        </p:txBody>
      </p:sp>
      <p:sp>
        <p:nvSpPr>
          <p:cNvPr id="71682" name="Rectangle 3">
            <a:extLst>
              <a:ext uri="{FF2B5EF4-FFF2-40B4-BE49-F238E27FC236}">
                <a16:creationId xmlns:a16="http://schemas.microsoft.com/office/drawing/2014/main" id="{5B231CFF-FB4F-7D98-6D24-6D1A16BD82C2}"/>
              </a:ext>
            </a:extLst>
          </p:cNvPr>
          <p:cNvSpPr>
            <a:spLocks noGrp="1" noChangeArrowheads="1"/>
          </p:cNvSpPr>
          <p:nvPr>
            <p:ph idx="1"/>
          </p:nvPr>
        </p:nvSpPr>
        <p:spPr>
          <a:xfrm>
            <a:off x="1271464" y="1628800"/>
            <a:ext cx="10081120" cy="3672408"/>
          </a:xfrm>
        </p:spPr>
        <p:txBody>
          <a:bodyPr rtlCol="0">
            <a:normAutofit lnSpcReduction="10000"/>
          </a:bodyPr>
          <a:lstStyle/>
          <a:p>
            <a:pPr>
              <a:lnSpc>
                <a:spcPct val="130000"/>
              </a:lnSpc>
              <a:spcBef>
                <a:spcPts val="600"/>
              </a:spcBef>
            </a:pPr>
            <a:r>
              <a:rPr lang="zh-CN" altLang="en-US" sz="2600" b="1" dirty="0">
                <a:latin typeface="微软雅黑" panose="020B0503020204020204" pitchFamily="34" charset="-122"/>
                <a:ea typeface="微软雅黑" panose="020B0503020204020204" pitchFamily="34" charset="-122"/>
              </a:rPr>
              <a:t>不晒太阳的人群</a:t>
            </a:r>
            <a:r>
              <a:rPr lang="zh-CN" altLang="en-US" sz="2600" dirty="0">
                <a:latin typeface="微软雅黑" panose="020B0503020204020204" pitchFamily="34" charset="-122"/>
                <a:ea typeface="微软雅黑" panose="020B0503020204020204" pitchFamily="34" charset="-122"/>
              </a:rPr>
              <a:t>（夜班、室内办公、冬季北方、严格防晒）：</a:t>
            </a:r>
            <a:br>
              <a:rPr lang="zh-CN" altLang="en-US" sz="2600" dirty="0">
                <a:latin typeface="微软雅黑" panose="020B0503020204020204" pitchFamily="34" charset="-122"/>
                <a:ea typeface="微软雅黑" panose="020B0503020204020204" pitchFamily="34" charset="-122"/>
              </a:rPr>
            </a:br>
            <a:r>
              <a:rPr lang="zh-CN" altLang="en-US" sz="2600" dirty="0">
                <a:solidFill>
                  <a:srgbClr val="0000CC"/>
                </a:solidFill>
                <a:latin typeface="微软雅黑" panose="020B0503020204020204" pitchFamily="34" charset="-122"/>
                <a:ea typeface="微软雅黑" panose="020B0503020204020204" pitchFamily="34" charset="-122"/>
              </a:rPr>
              <a:t>每天口服 </a:t>
            </a:r>
            <a:r>
              <a:rPr lang="en-US" altLang="zh-CN" sz="2600" b="1" dirty="0">
                <a:solidFill>
                  <a:srgbClr val="0000CC"/>
                </a:solidFill>
                <a:latin typeface="微软雅黑" panose="020B0503020204020204" pitchFamily="34" charset="-122"/>
                <a:ea typeface="微软雅黑" panose="020B0503020204020204" pitchFamily="34" charset="-122"/>
              </a:rPr>
              <a:t>800–2 000 IU </a:t>
            </a:r>
            <a:r>
              <a:rPr lang="zh-CN" altLang="en-US" sz="2600" b="1" dirty="0">
                <a:solidFill>
                  <a:srgbClr val="0000CC"/>
                </a:solidFill>
                <a:latin typeface="微软雅黑" panose="020B0503020204020204" pitchFamily="34" charset="-122"/>
                <a:ea typeface="微软雅黑" panose="020B0503020204020204" pitchFamily="34" charset="-122"/>
              </a:rPr>
              <a:t>维生素</a:t>
            </a:r>
            <a:r>
              <a:rPr lang="en-US" altLang="zh-CN" sz="2600" b="1" dirty="0">
                <a:solidFill>
                  <a:srgbClr val="0000CC"/>
                </a:solidFill>
                <a:latin typeface="微软雅黑" panose="020B0503020204020204" pitchFamily="34" charset="-122"/>
                <a:ea typeface="微软雅黑" panose="020B0503020204020204" pitchFamily="34" charset="-122"/>
              </a:rPr>
              <a:t>D</a:t>
            </a:r>
            <a:r>
              <a:rPr lang="en-US" altLang="zh-CN" sz="2600" b="1" baseline="-25000" dirty="0">
                <a:solidFill>
                  <a:srgbClr val="0000CC"/>
                </a:solidFill>
                <a:latin typeface="微软雅黑" panose="020B0503020204020204" pitchFamily="34" charset="-122"/>
                <a:ea typeface="微软雅黑" panose="020B0503020204020204" pitchFamily="34" charset="-122"/>
              </a:rPr>
              <a:t>3</a:t>
            </a:r>
            <a:r>
              <a:rPr lang="zh-CN" altLang="en-US" sz="2600" baseline="-25000" dirty="0">
                <a:solidFill>
                  <a:srgbClr val="0000CC"/>
                </a:solidFill>
                <a:latin typeface="微软雅黑" panose="020B0503020204020204" pitchFamily="34" charset="-122"/>
                <a:ea typeface="微软雅黑" panose="020B0503020204020204" pitchFamily="34" charset="-122"/>
              </a:rPr>
              <a:t> </a:t>
            </a:r>
            <a:r>
              <a:rPr lang="zh-CN" altLang="en-US" sz="2600" dirty="0">
                <a:latin typeface="微软雅黑" panose="020B0503020204020204" pitchFamily="34" charset="-122"/>
                <a:ea typeface="微软雅黑" panose="020B0503020204020204" pitchFamily="34" charset="-122"/>
              </a:rPr>
              <a:t>即可覆盖绝大多数人的需求。</a:t>
            </a:r>
          </a:p>
          <a:p>
            <a:pPr>
              <a:lnSpc>
                <a:spcPct val="130000"/>
              </a:lnSpc>
              <a:spcBef>
                <a:spcPts val="600"/>
              </a:spcBef>
            </a:pPr>
            <a:r>
              <a:rPr lang="zh-CN" altLang="en-US" sz="2600" b="1" dirty="0">
                <a:latin typeface="微软雅黑" panose="020B0503020204020204" pitchFamily="34" charset="-122"/>
                <a:ea typeface="微软雅黑" panose="020B0503020204020204" pitchFamily="34" charset="-122"/>
              </a:rPr>
              <a:t>特殊人群</a:t>
            </a:r>
            <a:r>
              <a:rPr lang="zh-CN" altLang="en-US" sz="2600" dirty="0">
                <a:latin typeface="微软雅黑" panose="020B0503020204020204" pitchFamily="34" charset="-122"/>
                <a:ea typeface="微软雅黑" panose="020B0503020204020204" pitchFamily="34" charset="-122"/>
              </a:rPr>
              <a:t>（肥胖、吸收不良、孕期、</a:t>
            </a:r>
            <a:r>
              <a:rPr lang="zh-CN" altLang="en-US" sz="2600" dirty="0">
                <a:solidFill>
                  <a:srgbClr val="0000CC"/>
                </a:solidFill>
                <a:latin typeface="微软雅黑" panose="020B0503020204020204" pitchFamily="34" charset="-122"/>
                <a:ea typeface="微软雅黑" panose="020B0503020204020204" pitchFamily="34" charset="-122"/>
              </a:rPr>
              <a:t>老年人</a:t>
            </a:r>
            <a:r>
              <a:rPr lang="zh-CN" altLang="en-US" sz="2600" dirty="0">
                <a:latin typeface="微软雅黑" panose="020B0503020204020204" pitchFamily="34" charset="-122"/>
                <a:ea typeface="微软雅黑" panose="020B0503020204020204" pitchFamily="34" charset="-122"/>
              </a:rPr>
              <a:t>）：</a:t>
            </a:r>
            <a:r>
              <a:rPr lang="zh-CN" altLang="en-US" sz="2600" dirty="0">
                <a:solidFill>
                  <a:srgbClr val="0000CC"/>
                </a:solidFill>
                <a:latin typeface="微软雅黑" panose="020B0503020204020204" pitchFamily="34" charset="-122"/>
                <a:ea typeface="微软雅黑" panose="020B0503020204020204" pitchFamily="34" charset="-122"/>
              </a:rPr>
              <a:t>可达</a:t>
            </a:r>
            <a:r>
              <a:rPr lang="en-US" altLang="zh-CN" sz="2600" dirty="0">
                <a:solidFill>
                  <a:srgbClr val="0000CC"/>
                </a:solidFill>
                <a:latin typeface="微软雅黑" panose="020B0503020204020204" pitchFamily="34" charset="-122"/>
                <a:ea typeface="微软雅黑" panose="020B0503020204020204" pitchFamily="34" charset="-122"/>
              </a:rPr>
              <a:t>2 000–4 000 IU/</a:t>
            </a:r>
            <a:r>
              <a:rPr lang="zh-CN" altLang="en-US" sz="2600" dirty="0">
                <a:solidFill>
                  <a:srgbClr val="0000CC"/>
                </a:solidFill>
                <a:latin typeface="微软雅黑" panose="020B0503020204020204" pitchFamily="34" charset="-122"/>
                <a:ea typeface="微软雅黑" panose="020B0503020204020204" pitchFamily="34" charset="-122"/>
              </a:rPr>
              <a:t>日。</a:t>
            </a:r>
            <a:endParaRPr lang="en-US" altLang="zh-CN" sz="2600" dirty="0">
              <a:solidFill>
                <a:srgbClr val="0000CC"/>
              </a:solidFill>
              <a:latin typeface="微软雅黑" panose="020B0503020204020204" pitchFamily="34" charset="-122"/>
              <a:ea typeface="微软雅黑" panose="020B0503020204020204" pitchFamily="34" charset="-122"/>
            </a:endParaRPr>
          </a:p>
          <a:p>
            <a:pPr>
              <a:lnSpc>
                <a:spcPct val="130000"/>
              </a:lnSpc>
              <a:spcBef>
                <a:spcPts val="600"/>
              </a:spcBef>
            </a:pPr>
            <a:endParaRPr lang="zh-CN" altLang="en-US" sz="2600" dirty="0">
              <a:solidFill>
                <a:srgbClr val="0000CC"/>
              </a:solidFill>
              <a:latin typeface="微软雅黑" panose="020B0503020204020204" pitchFamily="34" charset="-122"/>
              <a:ea typeface="微软雅黑" panose="020B0503020204020204" pitchFamily="34" charset="-122"/>
            </a:endParaRPr>
          </a:p>
          <a:p>
            <a:pPr eaLnBrk="1" fontAlgn="auto" hangingPunct="1">
              <a:lnSpc>
                <a:spcPct val="130000"/>
              </a:lnSpc>
              <a:spcBef>
                <a:spcPts val="600"/>
              </a:spcBef>
              <a:spcAft>
                <a:spcPts val="0"/>
              </a:spcAft>
              <a:defRPr/>
            </a:pPr>
            <a:r>
              <a:rPr lang="zh-CN" altLang="en-US" sz="2600" dirty="0">
                <a:solidFill>
                  <a:srgbClr val="0000CC"/>
                </a:solidFill>
                <a:latin typeface="微软雅黑" panose="020B0503020204020204" pitchFamily="34" charset="-122"/>
                <a:ea typeface="微软雅黑" panose="020B0503020204020204" pitchFamily="34" charset="-122"/>
              </a:rPr>
              <a:t>维生素</a:t>
            </a:r>
            <a:r>
              <a:rPr lang="en-US" altLang="zh-CN" sz="2600" dirty="0">
                <a:solidFill>
                  <a:srgbClr val="0000CC"/>
                </a:solidFill>
                <a:latin typeface="微软雅黑" panose="020B0503020204020204" pitchFamily="34" charset="-122"/>
                <a:ea typeface="微软雅黑" panose="020B0503020204020204" pitchFamily="34" charset="-122"/>
              </a:rPr>
              <a:t>D</a:t>
            </a:r>
            <a:r>
              <a:rPr lang="zh-CN" altLang="en-US" sz="2600" dirty="0">
                <a:solidFill>
                  <a:srgbClr val="0000CC"/>
                </a:solidFill>
                <a:latin typeface="微软雅黑" panose="020B0503020204020204" pitchFamily="34" charset="-122"/>
                <a:ea typeface="微软雅黑" panose="020B0503020204020204" pitchFamily="34" charset="-122"/>
              </a:rPr>
              <a:t>安全上限较高，</a:t>
            </a:r>
            <a:r>
              <a:rPr lang="zh-CN" altLang="en-US" sz="2600" dirty="0">
                <a:latin typeface="微软雅黑" panose="020B0503020204020204" pitchFamily="34" charset="-122"/>
                <a:ea typeface="微软雅黑" panose="020B0503020204020204" pitchFamily="34" charset="-122"/>
              </a:rPr>
              <a:t>有中老年人日服</a:t>
            </a:r>
            <a:r>
              <a:rPr lang="en-US" altLang="zh-CN" sz="2600" dirty="0">
                <a:latin typeface="微软雅黑" panose="020B0503020204020204" pitchFamily="34" charset="-122"/>
                <a:ea typeface="微软雅黑" panose="020B0503020204020204" pitchFamily="34" charset="-122"/>
              </a:rPr>
              <a:t>1</a:t>
            </a:r>
            <a:r>
              <a:rPr lang="zh-CN" altLang="en-US" sz="2600" dirty="0">
                <a:latin typeface="微软雅黑" panose="020B0503020204020204" pitchFamily="34" charset="-122"/>
                <a:ea typeface="微软雅黑" panose="020B0503020204020204" pitchFamily="34" charset="-122"/>
              </a:rPr>
              <a:t>万单位</a:t>
            </a:r>
            <a:r>
              <a:rPr lang="en-US" altLang="zh-CN" sz="2600" dirty="0">
                <a:latin typeface="微软雅黑" panose="020B0503020204020204" pitchFamily="34" charset="-122"/>
                <a:ea typeface="微软雅黑" panose="020B0503020204020204" pitchFamily="34" charset="-122"/>
              </a:rPr>
              <a:t>D</a:t>
            </a:r>
            <a:r>
              <a:rPr lang="en-US" altLang="zh-CN" sz="2600" baseline="-25000" dirty="0">
                <a:latin typeface="微软雅黑" panose="020B0503020204020204" pitchFamily="34" charset="-122"/>
                <a:ea typeface="微软雅黑" panose="020B0503020204020204" pitchFamily="34" charset="-122"/>
              </a:rPr>
              <a:t>3</a:t>
            </a:r>
            <a:r>
              <a:rPr lang="zh-CN" altLang="en-US" sz="2600" dirty="0">
                <a:latin typeface="微软雅黑" panose="020B0503020204020204" pitchFamily="34" charset="-122"/>
                <a:ea typeface="微软雅黑" panose="020B0503020204020204" pitchFamily="34" charset="-122"/>
              </a:rPr>
              <a:t>感觉良好； </a:t>
            </a:r>
            <a:r>
              <a:rPr lang="zh-CN" altLang="en-US" sz="2600" dirty="0">
                <a:solidFill>
                  <a:srgbClr val="C00000"/>
                </a:solidFill>
                <a:latin typeface="微软雅黑" panose="020B0503020204020204" pitchFamily="34" charset="-122"/>
                <a:ea typeface="微软雅黑" panose="020B0503020204020204" pitchFamily="34" charset="-122"/>
              </a:rPr>
              <a:t>普通人无妨常规补充，尤其中老年人</a:t>
            </a:r>
            <a:r>
              <a:rPr lang="zh-CN" altLang="en-US" sz="2600" dirty="0">
                <a:latin typeface="微软雅黑" panose="020B0503020204020204" pitchFamily="34" charset="-122"/>
                <a:ea typeface="微软雅黑" panose="020B0503020204020204" pitchFamily="34" charset="-122"/>
              </a:rPr>
              <a:t>可常规每日服用</a:t>
            </a:r>
            <a:r>
              <a:rPr lang="en-US" altLang="zh-CN" sz="2600" dirty="0">
                <a:latin typeface="微软雅黑" panose="020B0503020204020204" pitchFamily="34" charset="-122"/>
                <a:ea typeface="微软雅黑" panose="020B0503020204020204" pitchFamily="34" charset="-122"/>
              </a:rPr>
              <a:t>1000IU</a:t>
            </a:r>
            <a:r>
              <a:rPr lang="zh-CN" altLang="en-US" sz="2600" dirty="0">
                <a:latin typeface="微软雅黑" panose="020B0503020204020204" pitchFamily="34" charset="-122"/>
                <a:ea typeface="微软雅黑" panose="020B0503020204020204" pitchFamily="34" charset="-122"/>
              </a:rPr>
              <a:t>以上。 </a:t>
            </a:r>
          </a:p>
          <a:p>
            <a:pPr eaLnBrk="1" fontAlgn="auto" hangingPunct="1">
              <a:lnSpc>
                <a:spcPct val="130000"/>
              </a:lnSpc>
              <a:spcBef>
                <a:spcPts val="600"/>
              </a:spcBef>
              <a:spcAft>
                <a:spcPts val="0"/>
              </a:spcAft>
              <a:defRPr/>
            </a:pPr>
            <a:endParaRPr lang="en-US" altLang="zh-CN" sz="2600" dirty="0">
              <a:latin typeface="微软雅黑" panose="020B0503020204020204" pitchFamily="34" charset="-122"/>
              <a:ea typeface="微软雅黑" panose="020B0503020204020204" pitchFamily="34" charset="-122"/>
            </a:endParaRPr>
          </a:p>
          <a:p>
            <a:pPr eaLnBrk="1" fontAlgn="auto" hangingPunct="1">
              <a:lnSpc>
                <a:spcPct val="130000"/>
              </a:lnSpc>
              <a:spcBef>
                <a:spcPts val="600"/>
              </a:spcBef>
              <a:spcAft>
                <a:spcPts val="0"/>
              </a:spcAft>
              <a:defRPr/>
            </a:pPr>
            <a:endParaRPr lang="zh-CN" altLang="en-US" sz="2600"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33C8FC30-3DA6-C6C3-40D0-0277CF38A079}"/>
              </a:ext>
            </a:extLst>
          </p:cNvPr>
          <p:cNvSpPr txBox="1"/>
          <p:nvPr/>
        </p:nvSpPr>
        <p:spPr>
          <a:xfrm>
            <a:off x="2315581" y="5741407"/>
            <a:ext cx="4572000" cy="523220"/>
          </a:xfrm>
          <a:prstGeom prst="rect">
            <a:avLst/>
          </a:prstGeom>
          <a:noFill/>
        </p:spPr>
        <p:txBody>
          <a:bodyPr wrap="square">
            <a:spAutoFit/>
          </a:bodyPr>
          <a:lstStyle/>
          <a:p>
            <a:r>
              <a:rPr lang="zh-CN" altLang="en-US" sz="2800" b="0" dirty="0">
                <a:solidFill>
                  <a:srgbClr val="0000CC"/>
                </a:solidFill>
              </a:rPr>
              <a:t>随餐或餐后半小时服用</a:t>
            </a:r>
          </a:p>
        </p:txBody>
      </p:sp>
    </p:spTree>
    <p:extLst>
      <p:ext uri="{BB962C8B-B14F-4D97-AF65-F5344CB8AC3E}">
        <p14:creationId xmlns:p14="http://schemas.microsoft.com/office/powerpoint/2010/main" val="291198295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865F1F40-36FC-40BF-BFD5-64D84411525D}"/>
              </a:ext>
            </a:extLst>
          </p:cNvPr>
          <p:cNvSpPr>
            <a:spLocks noGrp="1" noChangeArrowheads="1"/>
          </p:cNvSpPr>
          <p:nvPr>
            <p:ph type="title" idx="4294967295"/>
          </p:nvPr>
        </p:nvSpPr>
        <p:spPr>
          <a:xfrm>
            <a:off x="4871864" y="0"/>
            <a:ext cx="6119813" cy="866775"/>
          </a:xfrm>
        </p:spPr>
        <p:txBody>
          <a:bodyPr/>
          <a:lstStyle/>
          <a:p>
            <a:pPr eaLnBrk="1" hangingPunct="1">
              <a:lnSpc>
                <a:spcPct val="85000"/>
              </a:lnSpc>
            </a:pPr>
            <a:r>
              <a:rPr lang="en-US" altLang="zh-CN" sz="3600" b="1" dirty="0">
                <a:solidFill>
                  <a:srgbClr val="C00000"/>
                </a:solidFill>
                <a:ea typeface="楷体_GB2312" pitchFamily="49" charset="-122"/>
              </a:rPr>
              <a:t> </a:t>
            </a:r>
            <a:r>
              <a:rPr lang="zh-CN" altLang="en-US" sz="3200" b="1" dirty="0">
                <a:solidFill>
                  <a:srgbClr val="C00000"/>
                </a:solidFill>
                <a:ea typeface="楷体_GB2312" pitchFamily="49" charset="-122"/>
              </a:rPr>
              <a:t>三、维生素 </a:t>
            </a:r>
            <a:r>
              <a:rPr lang="en-US" altLang="zh-CN" sz="3200" b="1" dirty="0">
                <a:solidFill>
                  <a:srgbClr val="C00000"/>
                </a:solidFill>
                <a:ea typeface="楷体_GB2312" pitchFamily="49" charset="-122"/>
              </a:rPr>
              <a:t>E</a:t>
            </a:r>
            <a:endParaRPr lang="zh-CN" altLang="en-US" sz="2400" b="1" dirty="0">
              <a:solidFill>
                <a:srgbClr val="C00000"/>
              </a:solidFill>
            </a:endParaRPr>
          </a:p>
        </p:txBody>
      </p:sp>
      <p:sp>
        <p:nvSpPr>
          <p:cNvPr id="20486" name="Text Box 6">
            <a:extLst>
              <a:ext uri="{FF2B5EF4-FFF2-40B4-BE49-F238E27FC236}">
                <a16:creationId xmlns:a16="http://schemas.microsoft.com/office/drawing/2014/main" id="{0132B7E3-7E0A-41AF-B105-0CD98781D0E0}"/>
              </a:ext>
            </a:extLst>
          </p:cNvPr>
          <p:cNvSpPr txBox="1">
            <a:spLocks noChangeArrowheads="1"/>
          </p:cNvSpPr>
          <p:nvPr/>
        </p:nvSpPr>
        <p:spPr bwMode="auto">
          <a:xfrm>
            <a:off x="1936751" y="1087439"/>
            <a:ext cx="8208911" cy="1323439"/>
          </a:xfrm>
          <a:prstGeom prst="rect">
            <a:avLst/>
          </a:prstGeom>
          <a:noFill/>
          <a:ln w="9525">
            <a:noFill/>
            <a:miter lim="800000"/>
            <a:headEnd/>
            <a:tailEnd/>
          </a:ln>
          <a:effectLst/>
        </p:spPr>
        <p:txBody>
          <a:bodyPr wrap="square">
            <a:spAutoFit/>
          </a:bodyPr>
          <a:lstStyle/>
          <a:p>
            <a:pPr eaLnBrk="1" hangingPunct="1">
              <a:spcBef>
                <a:spcPct val="50000"/>
              </a:spcBef>
              <a:defRPr/>
            </a:pPr>
            <a:r>
              <a:rPr kumimoji="0" lang="zh-CN" altLang="en-US" sz="2200" b="0" dirty="0">
                <a:solidFill>
                  <a:schemeClr val="tx1"/>
                </a:solidFill>
                <a:latin typeface="微软雅黑" panose="020B0503020204020204" pitchFamily="34" charset="-122"/>
                <a:ea typeface="微软雅黑" panose="020B0503020204020204" pitchFamily="34" charset="-122"/>
              </a:rPr>
              <a:t>包括</a:t>
            </a:r>
            <a:r>
              <a:rPr kumimoji="0" lang="zh-CN" altLang="en-US" sz="2200" b="0" dirty="0">
                <a:solidFill>
                  <a:srgbClr val="0000CC"/>
                </a:solidFill>
                <a:latin typeface="微软雅黑" panose="020B0503020204020204" pitchFamily="34" charset="-122"/>
                <a:ea typeface="微软雅黑" panose="020B0503020204020204" pitchFamily="34" charset="-122"/>
              </a:rPr>
              <a:t>生育酚（</a:t>
            </a:r>
            <a:r>
              <a:rPr kumimoji="0" lang="en-US" altLang="zh-CN" sz="2200" b="0" dirty="0">
                <a:solidFill>
                  <a:srgbClr val="0000CC"/>
                </a:solidFill>
                <a:latin typeface="微软雅黑" panose="020B0503020204020204" pitchFamily="34" charset="-122"/>
                <a:ea typeface="微软雅黑" panose="020B0503020204020204" pitchFamily="34" charset="-122"/>
              </a:rPr>
              <a:t>tocopherol</a:t>
            </a:r>
            <a:r>
              <a:rPr kumimoji="0" lang="zh-CN" altLang="en-US" sz="2200" b="0" dirty="0">
                <a:solidFill>
                  <a:schemeClr val="tx1"/>
                </a:solidFill>
                <a:latin typeface="微软雅黑" panose="020B0503020204020204" pitchFamily="34" charset="-122"/>
                <a:ea typeface="微软雅黑" panose="020B0503020204020204" pitchFamily="34" charset="-122"/>
              </a:rPr>
              <a:t>）和</a:t>
            </a:r>
            <a:r>
              <a:rPr kumimoji="0" lang="zh-CN" altLang="en-US" sz="2200" b="0" dirty="0">
                <a:solidFill>
                  <a:srgbClr val="0000CC"/>
                </a:solidFill>
                <a:latin typeface="微软雅黑" panose="020B0503020204020204" pitchFamily="34" charset="-122"/>
                <a:ea typeface="微软雅黑" panose="020B0503020204020204" pitchFamily="34" charset="-122"/>
              </a:rPr>
              <a:t>三烯生育酚（</a:t>
            </a:r>
            <a:r>
              <a:rPr kumimoji="0" lang="en-US" altLang="zh-CN" sz="2200" b="0" dirty="0">
                <a:solidFill>
                  <a:srgbClr val="0000CC"/>
                </a:solidFill>
                <a:latin typeface="微软雅黑" panose="020B0503020204020204" pitchFamily="34" charset="-122"/>
                <a:ea typeface="微软雅黑" panose="020B0503020204020204" pitchFamily="34" charset="-122"/>
              </a:rPr>
              <a:t>tocotrienol</a:t>
            </a:r>
            <a:r>
              <a:rPr kumimoji="0" lang="zh-CN" altLang="en-US" sz="2200" b="0" dirty="0">
                <a:solidFill>
                  <a:srgbClr val="0000CC"/>
                </a:solidFill>
                <a:latin typeface="微软雅黑" panose="020B0503020204020204" pitchFamily="34" charset="-122"/>
                <a:ea typeface="微软雅黑" panose="020B0503020204020204" pitchFamily="34" charset="-122"/>
              </a:rPr>
              <a:t>）</a:t>
            </a:r>
            <a:r>
              <a:rPr kumimoji="0" lang="zh-CN" altLang="en-US" sz="2200" b="0" dirty="0">
                <a:solidFill>
                  <a:schemeClr val="tx1"/>
                </a:solidFill>
                <a:latin typeface="微软雅黑" panose="020B0503020204020204" pitchFamily="34" charset="-122"/>
                <a:ea typeface="微软雅黑" panose="020B0503020204020204" pitchFamily="34" charset="-122"/>
              </a:rPr>
              <a:t>两类， 每类又分</a:t>
            </a:r>
            <a:r>
              <a:rPr kumimoji="0" lang="el-GR" altLang="zh-CN" sz="2200" b="0" dirty="0">
                <a:solidFill>
                  <a:schemeClr val="tx1"/>
                </a:solidFill>
                <a:latin typeface="微软雅黑" panose="020B0503020204020204" pitchFamily="34" charset="-122"/>
                <a:ea typeface="微软雅黑" panose="020B0503020204020204" pitchFamily="34" charset="-122"/>
              </a:rPr>
              <a:t>α</a:t>
            </a:r>
            <a:r>
              <a:rPr kumimoji="0" lang="zh-CN" altLang="el-GR" sz="2200" b="0" dirty="0">
                <a:solidFill>
                  <a:schemeClr val="tx1"/>
                </a:solidFill>
                <a:latin typeface="微软雅黑" panose="020B0503020204020204" pitchFamily="34" charset="-122"/>
                <a:ea typeface="微软雅黑" panose="020B0503020204020204" pitchFamily="34" charset="-122"/>
              </a:rPr>
              <a:t>、</a:t>
            </a:r>
            <a:r>
              <a:rPr kumimoji="0" lang="el-GR" altLang="zh-CN" sz="2200" b="0" dirty="0">
                <a:solidFill>
                  <a:schemeClr val="tx1"/>
                </a:solidFill>
                <a:latin typeface="微软雅黑" panose="020B0503020204020204" pitchFamily="34" charset="-122"/>
                <a:ea typeface="微软雅黑" panose="020B0503020204020204" pitchFamily="34" charset="-122"/>
              </a:rPr>
              <a:t>β</a:t>
            </a:r>
            <a:r>
              <a:rPr kumimoji="0" lang="zh-CN" altLang="el-GR" sz="2200" b="0" dirty="0">
                <a:solidFill>
                  <a:schemeClr val="tx1"/>
                </a:solidFill>
                <a:latin typeface="微软雅黑" panose="020B0503020204020204" pitchFamily="34" charset="-122"/>
                <a:ea typeface="微软雅黑" panose="020B0503020204020204" pitchFamily="34" charset="-122"/>
              </a:rPr>
              <a:t>、</a:t>
            </a:r>
            <a:r>
              <a:rPr kumimoji="0" lang="el-GR" altLang="zh-CN" sz="2200" b="0" dirty="0">
                <a:solidFill>
                  <a:schemeClr val="tx1"/>
                </a:solidFill>
                <a:latin typeface="微软雅黑" panose="020B0503020204020204" pitchFamily="34" charset="-122"/>
                <a:ea typeface="微软雅黑" panose="020B0503020204020204" pitchFamily="34" charset="-122"/>
              </a:rPr>
              <a:t>γ </a:t>
            </a:r>
            <a:r>
              <a:rPr kumimoji="0" lang="zh-CN" altLang="en-US" sz="2200" b="0" dirty="0">
                <a:solidFill>
                  <a:schemeClr val="tx1"/>
                </a:solidFill>
                <a:latin typeface="微软雅黑" panose="020B0503020204020204" pitchFamily="34" charset="-122"/>
                <a:ea typeface="微软雅黑" panose="020B0503020204020204" pitchFamily="34" charset="-122"/>
              </a:rPr>
              <a:t>和</a:t>
            </a:r>
            <a:r>
              <a:rPr kumimoji="0" lang="el-GR" altLang="zh-CN" sz="2200" b="0" dirty="0">
                <a:solidFill>
                  <a:schemeClr val="tx1"/>
                </a:solidFill>
                <a:latin typeface="微软雅黑" panose="020B0503020204020204" pitchFamily="34" charset="-122"/>
                <a:ea typeface="微软雅黑" panose="020B0503020204020204" pitchFamily="34" charset="-122"/>
              </a:rPr>
              <a:t>δ </a:t>
            </a:r>
            <a:r>
              <a:rPr kumimoji="0" lang="zh-CN" altLang="en-US" sz="2200" b="0" dirty="0">
                <a:solidFill>
                  <a:schemeClr val="tx1"/>
                </a:solidFill>
                <a:latin typeface="微软雅黑" panose="020B0503020204020204" pitchFamily="34" charset="-122"/>
                <a:ea typeface="微软雅黑" panose="020B0503020204020204" pitchFamily="34" charset="-122"/>
              </a:rPr>
              <a:t>四种</a:t>
            </a:r>
            <a:r>
              <a:rPr kumimoji="0" lang="zh-CN" altLang="en-US" sz="2200" b="0" dirty="0">
                <a:solidFill>
                  <a:schemeClr val="tx1"/>
                </a:solidFill>
                <a:latin typeface="微软雅黑" panose="020B0503020204020204" pitchFamily="34" charset="-122"/>
                <a:ea typeface="微软雅黑" panose="020B0503020204020204" pitchFamily="34" charset="-122"/>
                <a:sym typeface="Symbol" pitchFamily="18" charset="2"/>
              </a:rPr>
              <a:t>。</a:t>
            </a:r>
            <a:endParaRPr kumimoji="0" lang="en-US" altLang="zh-CN" sz="2200" b="0" dirty="0">
              <a:solidFill>
                <a:schemeClr val="tx1"/>
              </a:solidFill>
              <a:latin typeface="微软雅黑" panose="020B0503020204020204" pitchFamily="34" charset="-122"/>
              <a:ea typeface="微软雅黑" panose="020B0503020204020204" pitchFamily="34" charset="-122"/>
              <a:sym typeface="Symbol" pitchFamily="18" charset="2"/>
            </a:endParaRPr>
          </a:p>
          <a:p>
            <a:pPr eaLnBrk="1" hangingPunct="1">
              <a:spcBef>
                <a:spcPct val="50000"/>
              </a:spcBef>
              <a:defRPr/>
            </a:pPr>
            <a:r>
              <a:rPr lang="zh-CN" altLang="en-US" sz="2400" b="0" dirty="0">
                <a:solidFill>
                  <a:schemeClr val="tx1"/>
                </a:solidFill>
                <a:latin typeface="微软雅黑" panose="020B0503020204020204" pitchFamily="34" charset="-122"/>
                <a:ea typeface="微软雅黑" panose="020B0503020204020204" pitchFamily="34" charset="-122"/>
              </a:rPr>
              <a:t>含</a:t>
            </a:r>
            <a:r>
              <a:rPr lang="zh-CN" altLang="en-US" sz="2400" b="0" dirty="0">
                <a:solidFill>
                  <a:srgbClr val="0000CC"/>
                </a:solidFill>
                <a:latin typeface="微软雅黑" panose="020B0503020204020204" pitchFamily="34" charset="-122"/>
                <a:ea typeface="微软雅黑" panose="020B0503020204020204" pitchFamily="34" charset="-122"/>
              </a:rPr>
              <a:t>酚羟基</a:t>
            </a:r>
            <a:r>
              <a:rPr lang="zh-CN" altLang="en-US" sz="2400" b="0" dirty="0">
                <a:solidFill>
                  <a:schemeClr val="tx1"/>
                </a:solidFill>
                <a:latin typeface="微软雅黑" panose="020B0503020204020204" pitchFamily="34" charset="-122"/>
                <a:ea typeface="微软雅黑" panose="020B0503020204020204" pitchFamily="34" charset="-122"/>
              </a:rPr>
              <a:t>，</a:t>
            </a:r>
            <a:r>
              <a:rPr lang="zh-CN" altLang="en-US" sz="2400" b="0" dirty="0">
                <a:solidFill>
                  <a:srgbClr val="C00000"/>
                </a:solidFill>
                <a:latin typeface="微软雅黑" panose="020B0503020204020204" pitchFamily="34" charset="-122"/>
                <a:ea typeface="微软雅黑" panose="020B0503020204020204" pitchFamily="34" charset="-122"/>
              </a:rPr>
              <a:t>易被氧化</a:t>
            </a:r>
            <a:r>
              <a:rPr lang="zh-CN" altLang="en-US" sz="2400" b="0" dirty="0">
                <a:solidFill>
                  <a:schemeClr val="tx1"/>
                </a:solidFill>
                <a:latin typeface="微软雅黑" panose="020B0503020204020204" pitchFamily="34" charset="-122"/>
                <a:ea typeface="微软雅黑" panose="020B0503020204020204" pitchFamily="34" charset="-122"/>
              </a:rPr>
              <a:t>，能保护其他物质。 </a:t>
            </a:r>
            <a:endParaRPr lang="zh-CN" altLang="en-US" b="0" dirty="0">
              <a:solidFill>
                <a:schemeClr val="tx1"/>
              </a:solidFill>
              <a:latin typeface="微软雅黑" panose="020B0503020204020204" pitchFamily="34" charset="-122"/>
              <a:ea typeface="微软雅黑" panose="020B0503020204020204" pitchFamily="34" charset="-122"/>
            </a:endParaRPr>
          </a:p>
        </p:txBody>
      </p:sp>
      <p:pic>
        <p:nvPicPr>
          <p:cNvPr id="77830" name="图片 1">
            <a:extLst>
              <a:ext uri="{FF2B5EF4-FFF2-40B4-BE49-F238E27FC236}">
                <a16:creationId xmlns:a16="http://schemas.microsoft.com/office/drawing/2014/main" id="{D0E74360-4F53-474B-AD53-2EEA36D64EE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82750" y="2497138"/>
            <a:ext cx="8572500" cy="142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AF302FD9-9FC4-2E0A-BB41-DDB5F364B499}"/>
              </a:ext>
            </a:extLst>
          </p:cNvPr>
          <p:cNvSpPr txBox="1"/>
          <p:nvPr/>
        </p:nvSpPr>
        <p:spPr>
          <a:xfrm>
            <a:off x="1682750" y="3921925"/>
            <a:ext cx="9165778" cy="2713948"/>
          </a:xfrm>
          <a:prstGeom prst="rect">
            <a:avLst/>
          </a:prstGeom>
          <a:noFill/>
        </p:spPr>
        <p:txBody>
          <a:bodyPr wrap="square">
            <a:spAutoFit/>
          </a:bodyPr>
          <a:lstStyle/>
          <a:p>
            <a:pPr eaLnBrk="1" hangingPunct="1">
              <a:lnSpc>
                <a:spcPct val="120000"/>
              </a:lnSpc>
              <a:spcBef>
                <a:spcPts val="0"/>
              </a:spcBef>
              <a:defRPr/>
            </a:pPr>
            <a:r>
              <a:rPr lang="zh-CN" altLang="en-US" sz="2400" dirty="0">
                <a:solidFill>
                  <a:schemeClr val="tx1"/>
                </a:solidFill>
                <a:latin typeface="楷体_GB2312" pitchFamily="49" charset="-122"/>
              </a:rPr>
              <a:t>来源：   </a:t>
            </a:r>
            <a:r>
              <a:rPr lang="zh-CN" altLang="en-US" sz="2400" dirty="0">
                <a:solidFill>
                  <a:schemeClr val="tx1"/>
                </a:solidFill>
                <a:latin typeface="宋体" pitchFamily="2" charset="-122"/>
                <a:ea typeface="宋体" pitchFamily="2" charset="-122"/>
              </a:rPr>
              <a:t>蛋、植物油，豆类及蔬菜</a:t>
            </a:r>
            <a:br>
              <a:rPr lang="zh-CN" altLang="en-US" sz="2400" dirty="0">
                <a:solidFill>
                  <a:schemeClr val="tx1"/>
                </a:solidFill>
                <a:latin typeface="宋体" pitchFamily="2" charset="-122"/>
                <a:ea typeface="宋体" pitchFamily="2" charset="-122"/>
              </a:rPr>
            </a:br>
            <a:endParaRPr lang="en-US" altLang="zh-CN" sz="2400" dirty="0">
              <a:solidFill>
                <a:schemeClr val="tx1"/>
              </a:solidFill>
              <a:latin typeface="宋体" pitchFamily="2" charset="-122"/>
              <a:ea typeface="宋体" pitchFamily="2" charset="-122"/>
            </a:endParaRPr>
          </a:p>
          <a:p>
            <a:pPr eaLnBrk="1" hangingPunct="1">
              <a:lnSpc>
                <a:spcPct val="120000"/>
              </a:lnSpc>
              <a:spcBef>
                <a:spcPts val="0"/>
              </a:spcBef>
              <a:defRPr/>
            </a:pPr>
            <a:r>
              <a:rPr lang="zh-CN" altLang="en-US" sz="2400" dirty="0">
                <a:solidFill>
                  <a:srgbClr val="3333CC"/>
                </a:solidFill>
                <a:latin typeface="楷体_GB2312" pitchFamily="49" charset="-122"/>
              </a:rPr>
              <a:t>生理功能</a:t>
            </a:r>
            <a:r>
              <a:rPr lang="zh-CN" altLang="en-US" sz="2400" dirty="0">
                <a:solidFill>
                  <a:schemeClr val="tx1"/>
                </a:solidFill>
                <a:latin typeface="楷体_GB2312" pitchFamily="49" charset="-122"/>
              </a:rPr>
              <a:t>：</a:t>
            </a:r>
            <a:endParaRPr lang="en-US" altLang="zh-CN" sz="2400" dirty="0">
              <a:solidFill>
                <a:schemeClr val="tx1"/>
              </a:solidFill>
              <a:latin typeface="楷体_GB2312" pitchFamily="49" charset="-122"/>
            </a:endParaRPr>
          </a:p>
          <a:p>
            <a:pPr marL="457200" indent="-457200" eaLnBrk="1" hangingPunct="1">
              <a:lnSpc>
                <a:spcPct val="120000"/>
              </a:lnSpc>
              <a:spcBef>
                <a:spcPts val="0"/>
              </a:spcBef>
              <a:buFont typeface="+mj-lt"/>
              <a:buAutoNum type="arabicPeriod"/>
              <a:defRPr/>
            </a:pPr>
            <a:r>
              <a:rPr lang="zh-CN" altLang="en-US" sz="2400" dirty="0">
                <a:solidFill>
                  <a:srgbClr val="C00000"/>
                </a:solidFill>
                <a:latin typeface="微软雅黑" panose="020B0503020204020204" pitchFamily="34" charset="-122"/>
                <a:ea typeface="微软雅黑" panose="020B0503020204020204" pitchFamily="34" charset="-122"/>
              </a:rPr>
              <a:t>体内最重要的脂溶性抗氧化剂</a:t>
            </a:r>
            <a:r>
              <a:rPr lang="zh-CN" altLang="en-US" sz="2400" dirty="0">
                <a:solidFill>
                  <a:schemeClr val="tx1"/>
                </a:solidFill>
                <a:latin typeface="微软雅黑" panose="020B0503020204020204" pitchFamily="34" charset="-122"/>
                <a:ea typeface="微软雅黑" panose="020B0503020204020204" pitchFamily="34" charset="-122"/>
              </a:rPr>
              <a:t>，</a:t>
            </a:r>
            <a:r>
              <a:rPr lang="zh-CN" altLang="en-US" sz="2400" b="0" dirty="0">
                <a:solidFill>
                  <a:schemeClr val="tx1"/>
                </a:solidFill>
                <a:latin typeface="微软雅黑" panose="020B0503020204020204" pitchFamily="34" charset="-122"/>
                <a:ea typeface="微软雅黑" panose="020B0503020204020204" pitchFamily="34" charset="-122"/>
              </a:rPr>
              <a:t>保护不饱和脂肪酸、细胞膜。</a:t>
            </a:r>
            <a:endParaRPr lang="en-US" altLang="zh-CN" sz="2400" b="0" dirty="0">
              <a:solidFill>
                <a:schemeClr val="tx1"/>
              </a:solidFill>
              <a:latin typeface="微软雅黑" panose="020B0503020204020204" pitchFamily="34" charset="-122"/>
              <a:ea typeface="微软雅黑" panose="020B0503020204020204" pitchFamily="34" charset="-122"/>
            </a:endParaRPr>
          </a:p>
          <a:p>
            <a:pPr marL="457200" indent="-457200" eaLnBrk="1" hangingPunct="1">
              <a:lnSpc>
                <a:spcPct val="120000"/>
              </a:lnSpc>
              <a:spcBef>
                <a:spcPts val="0"/>
              </a:spcBef>
              <a:buFont typeface="+mj-lt"/>
              <a:buAutoNum type="arabicPeriod"/>
              <a:defRPr/>
            </a:pPr>
            <a:r>
              <a:rPr lang="zh-CN" altLang="en-US" sz="2400" b="0" dirty="0">
                <a:solidFill>
                  <a:schemeClr val="tx1"/>
                </a:solidFill>
                <a:latin typeface="微软雅黑" panose="020B0503020204020204" pitchFamily="34" charset="-122"/>
                <a:ea typeface="微软雅黑" panose="020B0503020204020204" pitchFamily="34" charset="-122"/>
              </a:rPr>
              <a:t>具有调节基因表达的作用</a:t>
            </a:r>
            <a:endParaRPr lang="en-US" altLang="zh-CN" sz="2400" b="0" dirty="0">
              <a:solidFill>
                <a:schemeClr val="tx1"/>
              </a:solidFill>
              <a:latin typeface="微软雅黑" panose="020B0503020204020204" pitchFamily="34" charset="-122"/>
              <a:ea typeface="微软雅黑" panose="020B0503020204020204" pitchFamily="34" charset="-122"/>
            </a:endParaRPr>
          </a:p>
          <a:p>
            <a:pPr marL="457200" indent="-457200" eaLnBrk="1" hangingPunct="1">
              <a:lnSpc>
                <a:spcPct val="120000"/>
              </a:lnSpc>
              <a:spcBef>
                <a:spcPts val="0"/>
              </a:spcBef>
              <a:buFont typeface="+mj-lt"/>
              <a:buAutoNum type="arabicPeriod"/>
              <a:defRPr/>
            </a:pPr>
            <a:r>
              <a:rPr lang="zh-CN" altLang="en-US" sz="2400" dirty="0">
                <a:solidFill>
                  <a:schemeClr val="tx1"/>
                </a:solidFill>
                <a:latin typeface="微软雅黑" panose="020B0503020204020204" pitchFamily="34" charset="-122"/>
                <a:ea typeface="微软雅黑" panose="020B0503020204020204" pitchFamily="34" charset="-122"/>
              </a:rPr>
              <a:t>促进红细胞生成</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2" descr="Ascorbate &#10;GSSG &#10;Glutathione &#10;GSH &#10;Vitamin C &#10;DHA &#10;Neutral &#10;lipids &#10;a-tocopheroxyl &#10;radical &#10;Vitamin E &#10;a-tocopherol Free &#10;radicals &#10;(lipids) ">
            <a:extLst>
              <a:ext uri="{FF2B5EF4-FFF2-40B4-BE49-F238E27FC236}">
                <a16:creationId xmlns:a16="http://schemas.microsoft.com/office/drawing/2014/main" id="{17780C2E-7C7F-4A4A-81D1-04F331340F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432" y="981074"/>
            <a:ext cx="9967631" cy="4752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03A5C6CD-D28B-9EB2-40A8-F4D133FBBA25}"/>
              </a:ext>
            </a:extLst>
          </p:cNvPr>
          <p:cNvSpPr txBox="1"/>
          <p:nvPr/>
        </p:nvSpPr>
        <p:spPr>
          <a:xfrm>
            <a:off x="1415480" y="6021288"/>
            <a:ext cx="9721080" cy="461665"/>
          </a:xfrm>
          <a:prstGeom prst="rect">
            <a:avLst/>
          </a:prstGeom>
          <a:noFill/>
        </p:spPr>
        <p:txBody>
          <a:bodyPr wrap="square">
            <a:spAutoFit/>
          </a:bodyPr>
          <a:lstStyle/>
          <a:p>
            <a:r>
              <a:rPr lang="en-US" altLang="zh-CN" sz="2400" b="0" dirty="0">
                <a:solidFill>
                  <a:schemeClr val="tx1">
                    <a:lumMod val="95000"/>
                    <a:lumOff val="5000"/>
                  </a:schemeClr>
                </a:solidFill>
              </a:rPr>
              <a:t>DHA: </a:t>
            </a:r>
            <a:r>
              <a:rPr lang="en-US" altLang="zh-CN" sz="2400" dirty="0">
                <a:solidFill>
                  <a:schemeClr val="tx1">
                    <a:lumMod val="95000"/>
                    <a:lumOff val="5000"/>
                  </a:schemeClr>
                </a:solidFill>
              </a:rPr>
              <a:t>d</a:t>
            </a:r>
            <a:r>
              <a:rPr lang="en-US" altLang="zh-CN" sz="2400" b="0" dirty="0">
                <a:solidFill>
                  <a:schemeClr val="tx1">
                    <a:lumMod val="95000"/>
                    <a:lumOff val="5000"/>
                  </a:schemeClr>
                </a:solidFill>
              </a:rPr>
              <a:t>e</a:t>
            </a:r>
            <a:r>
              <a:rPr lang="en-US" altLang="zh-CN" sz="2400" dirty="0">
                <a:solidFill>
                  <a:schemeClr val="tx1">
                    <a:lumMod val="95000"/>
                    <a:lumOff val="5000"/>
                  </a:schemeClr>
                </a:solidFill>
              </a:rPr>
              <a:t>h</a:t>
            </a:r>
            <a:r>
              <a:rPr lang="en-US" altLang="zh-CN" sz="2400" b="0" dirty="0">
                <a:solidFill>
                  <a:schemeClr val="tx1">
                    <a:lumMod val="95000"/>
                    <a:lumOff val="5000"/>
                  </a:schemeClr>
                </a:solidFill>
              </a:rPr>
              <a:t>ydroascorbic </a:t>
            </a:r>
            <a:r>
              <a:rPr lang="en-US" altLang="zh-CN" sz="2400" dirty="0">
                <a:solidFill>
                  <a:schemeClr val="tx1">
                    <a:lumMod val="95000"/>
                    <a:lumOff val="5000"/>
                  </a:schemeClr>
                </a:solidFill>
              </a:rPr>
              <a:t>a</a:t>
            </a:r>
            <a:r>
              <a:rPr lang="en-US" altLang="zh-CN" sz="2400" b="0" dirty="0">
                <a:solidFill>
                  <a:schemeClr val="tx1">
                    <a:lumMod val="95000"/>
                    <a:lumOff val="5000"/>
                  </a:schemeClr>
                </a:solidFill>
              </a:rPr>
              <a:t>cid </a:t>
            </a:r>
            <a:r>
              <a:rPr lang="zh-CN" altLang="en-US" sz="2400" b="0" dirty="0">
                <a:solidFill>
                  <a:schemeClr val="tx1">
                    <a:lumMod val="95000"/>
                    <a:lumOff val="5000"/>
                  </a:schemeClr>
                </a:solidFill>
              </a:rPr>
              <a:t>脱氢抗坏血酸 </a:t>
            </a:r>
          </a:p>
        </p:txBody>
      </p:sp>
      <p:sp>
        <p:nvSpPr>
          <p:cNvPr id="5" name="文本框 4">
            <a:extLst>
              <a:ext uri="{FF2B5EF4-FFF2-40B4-BE49-F238E27FC236}">
                <a16:creationId xmlns:a16="http://schemas.microsoft.com/office/drawing/2014/main" id="{83E4FF00-8B8D-1FBF-FD69-768959BE555C}"/>
              </a:ext>
            </a:extLst>
          </p:cNvPr>
          <p:cNvSpPr txBox="1"/>
          <p:nvPr/>
        </p:nvSpPr>
        <p:spPr>
          <a:xfrm>
            <a:off x="6110272" y="1124744"/>
            <a:ext cx="1605594" cy="461665"/>
          </a:xfrm>
          <a:prstGeom prst="rect">
            <a:avLst/>
          </a:prstGeom>
          <a:noFill/>
        </p:spPr>
        <p:txBody>
          <a:bodyPr wrap="square">
            <a:spAutoFit/>
          </a:bodyPr>
          <a:lstStyle/>
          <a:p>
            <a:r>
              <a:rPr lang="zh-CN" altLang="en-US" sz="2400" b="0" dirty="0"/>
              <a:t>抗坏血酸</a:t>
            </a: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内容占位符 2">
            <a:extLst>
              <a:ext uri="{FF2B5EF4-FFF2-40B4-BE49-F238E27FC236}">
                <a16:creationId xmlns:a16="http://schemas.microsoft.com/office/drawing/2014/main" id="{369F57D8-5111-4117-97B2-E7FE81DD1148}"/>
              </a:ext>
            </a:extLst>
          </p:cNvPr>
          <p:cNvSpPr>
            <a:spLocks noGrp="1" noChangeArrowheads="1"/>
          </p:cNvSpPr>
          <p:nvPr>
            <p:ph idx="1"/>
          </p:nvPr>
        </p:nvSpPr>
        <p:spPr>
          <a:xfrm>
            <a:off x="1631504" y="587514"/>
            <a:ext cx="9289032" cy="3489558"/>
          </a:xfrm>
        </p:spPr>
        <p:txBody>
          <a:bodyPr/>
          <a:lstStyle/>
          <a:p>
            <a:pPr marL="0" indent="0" algn="ctr" eaLnBrk="1" hangingPunct="1">
              <a:buNone/>
            </a:pPr>
            <a:r>
              <a:rPr lang="zh-CN" altLang="en-US" dirty="0">
                <a:solidFill>
                  <a:srgbClr val="0000CC"/>
                </a:solidFill>
                <a:latin typeface="微软雅黑" panose="020B0503020204020204" pitchFamily="34" charset="-122"/>
                <a:ea typeface="微软雅黑" panose="020B0503020204020204" pitchFamily="34" charset="-122"/>
              </a:rPr>
              <a:t>维生素</a:t>
            </a:r>
            <a:r>
              <a:rPr lang="en-US" altLang="zh-CN" dirty="0">
                <a:solidFill>
                  <a:srgbClr val="0000CC"/>
                </a:solidFill>
                <a:latin typeface="微软雅黑" panose="020B0503020204020204" pitchFamily="34" charset="-122"/>
                <a:ea typeface="微软雅黑" panose="020B0503020204020204" pitchFamily="34" charset="-122"/>
              </a:rPr>
              <a:t>E </a:t>
            </a:r>
            <a:r>
              <a:rPr lang="zh-CN" altLang="en-US" dirty="0">
                <a:solidFill>
                  <a:srgbClr val="0000CC"/>
                </a:solidFill>
                <a:latin typeface="微软雅黑" panose="020B0503020204020204" pitchFamily="34" charset="-122"/>
                <a:ea typeface="微软雅黑" panose="020B0503020204020204" pitchFamily="34" charset="-122"/>
              </a:rPr>
              <a:t>严重缺乏可致溶血性贫血</a:t>
            </a:r>
            <a:endParaRPr lang="en-US" altLang="zh-CN" dirty="0">
              <a:solidFill>
                <a:srgbClr val="0000CC"/>
              </a:solidFill>
              <a:latin typeface="微软雅黑" panose="020B0503020204020204" pitchFamily="34" charset="-122"/>
              <a:ea typeface="微软雅黑" panose="020B0503020204020204" pitchFamily="34" charset="-122"/>
            </a:endParaRPr>
          </a:p>
          <a:p>
            <a:pPr marL="0" indent="0" eaLnBrk="1" hangingPunct="1">
              <a:lnSpc>
                <a:spcPct val="110000"/>
              </a:lnSpc>
              <a:buNone/>
            </a:pPr>
            <a:endParaRPr lang="zh-CN" altLang="en-US" dirty="0">
              <a:solidFill>
                <a:srgbClr val="0000CC"/>
              </a:solidFill>
              <a:latin typeface="微软雅黑" panose="020B0503020204020204" pitchFamily="34" charset="-122"/>
              <a:ea typeface="微软雅黑" panose="020B0503020204020204" pitchFamily="34" charset="-122"/>
            </a:endParaRPr>
          </a:p>
          <a:p>
            <a:pPr eaLnBrk="1" hangingPunct="1">
              <a:lnSpc>
                <a:spcPct val="110000"/>
              </a:lnSpc>
            </a:pPr>
            <a:r>
              <a:rPr lang="zh-CN" altLang="en-US" sz="2400" dirty="0">
                <a:solidFill>
                  <a:srgbClr val="0000CC"/>
                </a:solidFill>
                <a:latin typeface="微软雅黑" panose="020B0503020204020204" pitchFamily="34" charset="-122"/>
                <a:ea typeface="微软雅黑" panose="020B0503020204020204" pitchFamily="34" charset="-122"/>
              </a:rPr>
              <a:t>维生素</a:t>
            </a:r>
            <a:r>
              <a:rPr lang="en-US" altLang="zh-CN" sz="2400" dirty="0">
                <a:solidFill>
                  <a:srgbClr val="0000CC"/>
                </a:solidFill>
                <a:latin typeface="微软雅黑" panose="020B0503020204020204" pitchFamily="34" charset="-122"/>
                <a:ea typeface="微软雅黑" panose="020B0503020204020204" pitchFamily="34" charset="-122"/>
              </a:rPr>
              <a:t>E </a:t>
            </a:r>
            <a:r>
              <a:rPr lang="zh-CN" altLang="en-US" sz="2400" dirty="0">
                <a:solidFill>
                  <a:srgbClr val="0000CC"/>
                </a:solidFill>
                <a:latin typeface="微软雅黑" panose="020B0503020204020204" pitchFamily="34" charset="-122"/>
                <a:ea typeface="微软雅黑" panose="020B0503020204020204" pitchFamily="34" charset="-122"/>
              </a:rPr>
              <a:t>一般不易缺乏。  主要见于早产儿，早产儿可因维生素</a:t>
            </a:r>
            <a:r>
              <a:rPr lang="en-US" altLang="zh-CN" sz="2400" dirty="0">
                <a:solidFill>
                  <a:srgbClr val="0000CC"/>
                </a:solidFill>
                <a:latin typeface="微软雅黑" panose="020B0503020204020204" pitchFamily="34" charset="-122"/>
                <a:ea typeface="微软雅黑" panose="020B0503020204020204" pitchFamily="34" charset="-122"/>
              </a:rPr>
              <a:t>E</a:t>
            </a:r>
            <a:r>
              <a:rPr lang="zh-CN" altLang="en-US" sz="2400" dirty="0">
                <a:solidFill>
                  <a:srgbClr val="0000CC"/>
                </a:solidFill>
                <a:latin typeface="微软雅黑" panose="020B0503020204020204" pitchFamily="34" charset="-122"/>
                <a:ea typeface="微软雅黑" panose="020B0503020204020204" pitchFamily="34" charset="-122"/>
              </a:rPr>
              <a:t>缺乏引起轻度溶血性贫血。</a:t>
            </a:r>
            <a:endParaRPr lang="en-US" altLang="zh-CN" sz="2400" dirty="0">
              <a:solidFill>
                <a:srgbClr val="0000CC"/>
              </a:solidFill>
              <a:latin typeface="微软雅黑" panose="020B0503020204020204" pitchFamily="34" charset="-122"/>
              <a:ea typeface="微软雅黑" panose="020B0503020204020204" pitchFamily="34" charset="-122"/>
            </a:endParaRPr>
          </a:p>
          <a:p>
            <a:pPr eaLnBrk="1" hangingPunct="1">
              <a:lnSpc>
                <a:spcPct val="110000"/>
              </a:lnSpc>
            </a:pPr>
            <a:r>
              <a:rPr lang="zh-CN" altLang="en-US" sz="2400" dirty="0">
                <a:latin typeface="微软雅黑" panose="020B0503020204020204" pitchFamily="34" charset="-122"/>
                <a:ea typeface="微软雅黑" panose="020B0503020204020204" pitchFamily="34" charset="-122"/>
              </a:rPr>
              <a:t>在严重脂质吸收障碍和肝严重损伤时可引起缺乏症，表现为红细胞数量减少、脆性增加等溶血性贫血症状。</a:t>
            </a:r>
            <a:endParaRPr lang="en-US" altLang="zh-CN" sz="2400" dirty="0">
              <a:latin typeface="微软雅黑" panose="020B0503020204020204" pitchFamily="34" charset="-122"/>
              <a:ea typeface="微软雅黑" panose="020B0503020204020204" pitchFamily="34" charset="-122"/>
            </a:endParaRPr>
          </a:p>
          <a:p>
            <a:pPr eaLnBrk="1" hangingPunct="1">
              <a:lnSpc>
                <a:spcPct val="110000"/>
              </a:lnSpc>
            </a:pPr>
            <a:r>
              <a:rPr lang="zh-CN" altLang="en-US" sz="2400" dirty="0">
                <a:latin typeface="微软雅黑" panose="020B0503020204020204" pitchFamily="34" charset="-122"/>
                <a:ea typeface="微软雅黑" panose="020B0503020204020204" pitchFamily="34" charset="-122"/>
              </a:rPr>
              <a:t>临床上</a:t>
            </a:r>
            <a:r>
              <a:rPr lang="zh-CN" altLang="en-US" sz="2400" dirty="0">
                <a:solidFill>
                  <a:srgbClr val="0000CC"/>
                </a:solidFill>
                <a:latin typeface="微软雅黑" panose="020B0503020204020204" pitchFamily="34" charset="-122"/>
                <a:ea typeface="微软雅黑" panose="020B0503020204020204" pitchFamily="34" charset="-122"/>
              </a:rPr>
              <a:t>常用维生素</a:t>
            </a:r>
            <a:r>
              <a:rPr lang="en-US" altLang="zh-CN" sz="2400" dirty="0">
                <a:solidFill>
                  <a:srgbClr val="0000CC"/>
                </a:solidFill>
                <a:latin typeface="微软雅黑" panose="020B0503020204020204" pitchFamily="34" charset="-122"/>
                <a:ea typeface="微软雅黑" panose="020B0503020204020204" pitchFamily="34" charset="-122"/>
              </a:rPr>
              <a:t>E </a:t>
            </a:r>
            <a:r>
              <a:rPr lang="zh-CN" altLang="en-US" sz="2400" dirty="0">
                <a:solidFill>
                  <a:srgbClr val="0000CC"/>
                </a:solidFill>
                <a:latin typeface="微软雅黑" panose="020B0503020204020204" pitchFamily="34" charset="-122"/>
                <a:ea typeface="微软雅黑" panose="020B0503020204020204" pitchFamily="34" charset="-122"/>
              </a:rPr>
              <a:t>治疗先兆流产及习惯性流产</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708FB0C8-FC76-4A79-AD75-264CE6F74F94}"/>
              </a:ext>
            </a:extLst>
          </p:cNvPr>
          <p:cNvSpPr>
            <a:spLocks noChangeArrowheads="1"/>
          </p:cNvSpPr>
          <p:nvPr/>
        </p:nvSpPr>
        <p:spPr bwMode="auto">
          <a:xfrm>
            <a:off x="1775520" y="5070157"/>
            <a:ext cx="813690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sz="2400" b="0" dirty="0">
                <a:latin typeface="Times New Roman" panose="02020603050405020304" pitchFamily="18" charset="0"/>
                <a:ea typeface="楷体_GB2312" pitchFamily="49" charset="-122"/>
              </a:rPr>
              <a:t>成人适宜摄入量： </a:t>
            </a:r>
            <a:r>
              <a:rPr lang="en-US" altLang="zh-CN" sz="2400" b="0" dirty="0">
                <a:latin typeface="Times New Roman" panose="02020603050405020304" pitchFamily="18" charset="0"/>
                <a:ea typeface="楷体_GB2312" pitchFamily="49" charset="-122"/>
              </a:rPr>
              <a:t>14mg  </a:t>
            </a:r>
            <a:r>
              <a:rPr lang="en-US" altLang="zh-CN" sz="2400" b="0" dirty="0">
                <a:latin typeface="Times New Roman" panose="02020603050405020304" pitchFamily="18" charset="0"/>
                <a:ea typeface="楷体_GB2312" pitchFamily="49" charset="-122"/>
                <a:sym typeface="Symbol" panose="05050102010706020507" pitchFamily="18" charset="2"/>
              </a:rPr>
              <a:t>-</a:t>
            </a:r>
            <a:r>
              <a:rPr lang="zh-CN" altLang="en-US" sz="2400" b="0" dirty="0">
                <a:latin typeface="Times New Roman" panose="02020603050405020304" pitchFamily="18" charset="0"/>
                <a:ea typeface="楷体_GB2312" pitchFamily="49" charset="-122"/>
                <a:sym typeface="Symbol" panose="05050102010706020507" pitchFamily="18" charset="2"/>
              </a:rPr>
              <a:t>生育酚当量</a:t>
            </a:r>
            <a:r>
              <a:rPr lang="en-US" altLang="zh-CN" sz="2400" b="0" dirty="0">
                <a:latin typeface="Times New Roman" panose="02020603050405020304" pitchFamily="18" charset="0"/>
                <a:ea typeface="楷体_GB2312" pitchFamily="49" charset="-122"/>
              </a:rPr>
              <a:t>/d</a:t>
            </a:r>
          </a:p>
          <a:p>
            <a:pPr eaLnBrk="1" hangingPunct="1">
              <a:lnSpc>
                <a:spcPct val="100000"/>
              </a:lnSpc>
              <a:spcBef>
                <a:spcPct val="0"/>
              </a:spcBef>
              <a:buFontTx/>
              <a:buNone/>
            </a:pPr>
            <a:endParaRPr lang="en-US" altLang="zh-CN" sz="2400" dirty="0">
              <a:latin typeface="Times New Roman" panose="02020603050405020304" pitchFamily="18" charset="0"/>
              <a:ea typeface="楷体_GB2312" pitchFamily="49" charset="-122"/>
            </a:endParaRPr>
          </a:p>
          <a:p>
            <a:pPr eaLnBrk="1" hangingPunct="1">
              <a:lnSpc>
                <a:spcPct val="100000"/>
              </a:lnSpc>
              <a:spcBef>
                <a:spcPct val="0"/>
              </a:spcBef>
              <a:buFontTx/>
              <a:buNone/>
            </a:pPr>
            <a:r>
              <a:rPr lang="zh-CN" altLang="en-US" sz="2400" dirty="0">
                <a:latin typeface="Times New Roman" panose="02020603050405020304" pitchFamily="18" charset="0"/>
                <a:ea typeface="楷体_GB2312" pitchFamily="49" charset="-122"/>
              </a:rPr>
              <a:t>服用上限：   </a:t>
            </a:r>
            <a:r>
              <a:rPr lang="en-US" altLang="zh-CN" sz="2400" dirty="0">
                <a:latin typeface="Times New Roman" panose="02020603050405020304" pitchFamily="18" charset="0"/>
                <a:ea typeface="楷体_GB2312" pitchFamily="49" charset="-122"/>
              </a:rPr>
              <a:t>700~1000 mg (1000~1,500 IU)/</a:t>
            </a:r>
            <a:r>
              <a:rPr lang="zh-CN" altLang="en-US" sz="2400" b="0" dirty="0">
                <a:latin typeface="Times New Roman" panose="02020603050405020304" pitchFamily="18" charset="0"/>
                <a:ea typeface="楷体_GB2312" pitchFamily="49" charset="-122"/>
              </a:rPr>
              <a:t>日</a:t>
            </a:r>
          </a:p>
        </p:txBody>
      </p:sp>
      <p:sp>
        <p:nvSpPr>
          <p:cNvPr id="3" name="文本框 2">
            <a:extLst>
              <a:ext uri="{FF2B5EF4-FFF2-40B4-BE49-F238E27FC236}">
                <a16:creationId xmlns:a16="http://schemas.microsoft.com/office/drawing/2014/main" id="{4B0FCBDE-C7EC-C082-6022-59C12F36E93E}"/>
              </a:ext>
            </a:extLst>
          </p:cNvPr>
          <p:cNvSpPr txBox="1"/>
          <p:nvPr/>
        </p:nvSpPr>
        <p:spPr>
          <a:xfrm>
            <a:off x="1775520" y="4509120"/>
            <a:ext cx="9289032" cy="461665"/>
          </a:xfrm>
          <a:prstGeom prst="rect">
            <a:avLst/>
          </a:prstGeom>
          <a:noFill/>
        </p:spPr>
        <p:txBody>
          <a:bodyPr wrap="square">
            <a:spAutoFit/>
          </a:bodyPr>
          <a:lstStyle/>
          <a:p>
            <a:r>
              <a:rPr lang="zh-CN" altLang="en-US" sz="2400" b="0" dirty="0">
                <a:solidFill>
                  <a:schemeClr val="tx1">
                    <a:lumMod val="95000"/>
                    <a:lumOff val="5000"/>
                  </a:schemeClr>
                </a:solidFill>
              </a:rPr>
              <a:t>植物油是维生素</a:t>
            </a:r>
            <a:r>
              <a:rPr lang="en-US" altLang="zh-CN" sz="2400" b="0" dirty="0">
                <a:solidFill>
                  <a:schemeClr val="tx1">
                    <a:lumMod val="95000"/>
                    <a:lumOff val="5000"/>
                  </a:schemeClr>
                </a:solidFill>
              </a:rPr>
              <a:t>E</a:t>
            </a:r>
            <a:r>
              <a:rPr lang="zh-CN" altLang="en-US" sz="2400" b="0" dirty="0">
                <a:solidFill>
                  <a:schemeClr val="tx1">
                    <a:lumMod val="95000"/>
                    <a:lumOff val="5000"/>
                  </a:schemeClr>
                </a:solidFill>
              </a:rPr>
              <a:t>重要来源，</a:t>
            </a:r>
            <a:r>
              <a:rPr lang="zh-CN" altLang="en-US" sz="2000" b="0" dirty="0">
                <a:solidFill>
                  <a:schemeClr val="tx1">
                    <a:lumMod val="95000"/>
                    <a:lumOff val="5000"/>
                  </a:schemeClr>
                </a:solidFill>
              </a:rPr>
              <a:t>但煎炸，爆炒等高温会严重破坏维生素</a:t>
            </a:r>
            <a:r>
              <a:rPr lang="en-US" altLang="zh-CN" sz="2000" b="0" dirty="0">
                <a:solidFill>
                  <a:schemeClr val="tx1">
                    <a:lumMod val="95000"/>
                    <a:lumOff val="5000"/>
                  </a:schemeClr>
                </a:solidFill>
              </a:rPr>
              <a:t>E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3" presetClass="entr" presetSubtype="1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blinds(horizontal)">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7A793DE-3D36-1F72-4892-881802EA0736}"/>
            </a:ext>
          </a:extLst>
        </p:cNvPr>
        <p:cNvGrpSpPr/>
        <p:nvPr/>
      </p:nvGrpSpPr>
      <p:grpSpPr>
        <a:xfrm>
          <a:off x="0" y="0"/>
          <a:ext cx="0" cy="0"/>
          <a:chOff x="0" y="0"/>
          <a:chExt cx="0" cy="0"/>
        </a:xfrm>
      </p:grpSpPr>
      <p:sp>
        <p:nvSpPr>
          <p:cNvPr id="83970" name="标题 1">
            <a:extLst>
              <a:ext uri="{FF2B5EF4-FFF2-40B4-BE49-F238E27FC236}">
                <a16:creationId xmlns:a16="http://schemas.microsoft.com/office/drawing/2014/main" id="{75E477A2-25DA-7FC6-153E-6C57E448B9E5}"/>
              </a:ext>
            </a:extLst>
          </p:cNvPr>
          <p:cNvSpPr>
            <a:spLocks noGrp="1" noChangeArrowheads="1"/>
          </p:cNvSpPr>
          <p:nvPr>
            <p:ph type="title"/>
          </p:nvPr>
        </p:nvSpPr>
        <p:spPr>
          <a:xfrm>
            <a:off x="2279576" y="908720"/>
            <a:ext cx="7772400" cy="1008112"/>
          </a:xfrm>
        </p:spPr>
        <p:txBody>
          <a:bodyPr/>
          <a:lstStyle/>
          <a:p>
            <a:pPr eaLnBrk="1" hangingPunct="1"/>
            <a:r>
              <a:rPr lang="zh-CN" altLang="en-US" sz="3200" b="1" dirty="0">
                <a:latin typeface="微软雅黑" panose="020B0503020204020204" pitchFamily="34" charset="-122"/>
                <a:ea typeface="微软雅黑" panose="020B0503020204020204" pitchFamily="34" charset="-122"/>
              </a:rPr>
              <a:t>某维生素</a:t>
            </a:r>
            <a:r>
              <a:rPr lang="en-US" altLang="zh-CN" sz="3200" b="1" dirty="0">
                <a:latin typeface="微软雅黑" panose="020B0503020204020204" pitchFamily="34" charset="-122"/>
                <a:ea typeface="微软雅黑" panose="020B0503020204020204" pitchFamily="34" charset="-122"/>
              </a:rPr>
              <a:t>E</a:t>
            </a:r>
            <a:r>
              <a:rPr lang="zh-CN" altLang="en-US" sz="3200" b="1" dirty="0">
                <a:latin typeface="微软雅黑" panose="020B0503020204020204" pitchFamily="34" charset="-122"/>
                <a:ea typeface="微软雅黑" panose="020B0503020204020204" pitchFamily="34" charset="-122"/>
              </a:rPr>
              <a:t>产品说明：</a:t>
            </a:r>
          </a:p>
        </p:txBody>
      </p:sp>
      <p:sp>
        <p:nvSpPr>
          <p:cNvPr id="83971" name="内容占位符 2">
            <a:extLst>
              <a:ext uri="{FF2B5EF4-FFF2-40B4-BE49-F238E27FC236}">
                <a16:creationId xmlns:a16="http://schemas.microsoft.com/office/drawing/2014/main" id="{4538478D-46E3-523D-56F4-8C5436C1536E}"/>
              </a:ext>
            </a:extLst>
          </p:cNvPr>
          <p:cNvSpPr>
            <a:spLocks noGrp="1" noChangeArrowheads="1"/>
          </p:cNvSpPr>
          <p:nvPr>
            <p:ph idx="1"/>
          </p:nvPr>
        </p:nvSpPr>
        <p:spPr>
          <a:xfrm>
            <a:off x="1934368" y="2168314"/>
            <a:ext cx="8986167" cy="1945308"/>
          </a:xfrm>
        </p:spPr>
        <p:txBody>
          <a:bodyPr/>
          <a:lstStyle/>
          <a:p>
            <a:pPr marL="0" indent="0" eaLnBrk="1" hangingPunct="1">
              <a:lnSpc>
                <a:spcPct val="110000"/>
              </a:lnSpc>
              <a:buNone/>
            </a:pPr>
            <a:r>
              <a:rPr lang="zh-CN" altLang="en-US" sz="2400" dirty="0">
                <a:latin typeface="微软雅黑" panose="020B0503020204020204" pitchFamily="34" charset="-122"/>
                <a:ea typeface="微软雅黑" panose="020B0503020204020204" pitchFamily="34" charset="-122"/>
              </a:rPr>
              <a:t>“本产品是以天然维生素</a:t>
            </a:r>
            <a:r>
              <a:rPr lang="en-US" altLang="zh-CN" sz="2400" dirty="0">
                <a:latin typeface="微软雅黑" panose="020B0503020204020204" pitchFamily="34" charset="-122"/>
                <a:ea typeface="微软雅黑" panose="020B0503020204020204" pitchFamily="34" charset="-122"/>
              </a:rPr>
              <a:t>E、</a:t>
            </a:r>
            <a:r>
              <a:rPr lang="zh-CN" altLang="en-US" sz="2400" dirty="0">
                <a:latin typeface="微软雅黑" panose="020B0503020204020204" pitchFamily="34" charset="-122"/>
                <a:ea typeface="微软雅黑" panose="020B0503020204020204" pitchFamily="34" charset="-122"/>
              </a:rPr>
              <a:t>红花籽油、紫苏油、明胶、甘油为主要原料制成的保健食品。经功能试验证明，具有美容</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祛黄褐斑</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、延缓衰老的保健功能。”</a:t>
            </a:r>
            <a:endParaRPr lang="en-US" altLang="zh-CN" sz="2400" dirty="0">
              <a:latin typeface="微软雅黑" panose="020B0503020204020204" pitchFamily="34" charset="-122"/>
              <a:ea typeface="微软雅黑" panose="020B0503020204020204" pitchFamily="34" charset="-122"/>
            </a:endParaRPr>
          </a:p>
          <a:p>
            <a:pPr eaLnBrk="1" hangingPunct="1"/>
            <a:r>
              <a:rPr lang="zh-CN" altLang="en-US" sz="2400" dirty="0">
                <a:latin typeface="微软雅黑" panose="020B0503020204020204" pitchFamily="34" charset="-122"/>
                <a:ea typeface="微软雅黑" panose="020B0503020204020204" pitchFamily="34" charset="-122"/>
              </a:rPr>
              <a:t>效果？？？？？？ </a:t>
            </a:r>
          </a:p>
        </p:txBody>
      </p:sp>
      <p:sp>
        <p:nvSpPr>
          <p:cNvPr id="3" name="文本框 2">
            <a:extLst>
              <a:ext uri="{FF2B5EF4-FFF2-40B4-BE49-F238E27FC236}">
                <a16:creationId xmlns:a16="http://schemas.microsoft.com/office/drawing/2014/main" id="{12F85334-F687-DABF-0107-253CF5435E6D}"/>
              </a:ext>
            </a:extLst>
          </p:cNvPr>
          <p:cNvSpPr txBox="1"/>
          <p:nvPr/>
        </p:nvSpPr>
        <p:spPr>
          <a:xfrm>
            <a:off x="2279576" y="4653136"/>
            <a:ext cx="7978055" cy="941796"/>
          </a:xfrm>
          <a:prstGeom prst="rect">
            <a:avLst/>
          </a:prstGeom>
          <a:noFill/>
        </p:spPr>
        <p:txBody>
          <a:bodyPr wrap="square">
            <a:spAutoFit/>
          </a:bodyPr>
          <a:lstStyle/>
          <a:p>
            <a:pPr eaLnBrk="1" hangingPunct="1">
              <a:spcBef>
                <a:spcPct val="30000"/>
              </a:spcBef>
              <a:defRPr/>
            </a:pPr>
            <a:r>
              <a:rPr kumimoji="0" lang="zh-CN" altLang="en-US" sz="2400" b="0" dirty="0">
                <a:solidFill>
                  <a:srgbClr val="0000CC"/>
                </a:solidFill>
                <a:latin typeface="微软雅黑" panose="020B0503020204020204" pitchFamily="34" charset="-122"/>
                <a:ea typeface="微软雅黑" panose="020B0503020204020204" pitchFamily="34" charset="-122"/>
              </a:rPr>
              <a:t>没有证据表明大量补充维生素</a:t>
            </a:r>
            <a:r>
              <a:rPr kumimoji="0" lang="en-US" altLang="zh-CN" sz="2400" b="0" dirty="0">
                <a:solidFill>
                  <a:srgbClr val="0000CC"/>
                </a:solidFill>
                <a:latin typeface="微软雅黑" panose="020B0503020204020204" pitchFamily="34" charset="-122"/>
                <a:ea typeface="微软雅黑" panose="020B0503020204020204" pitchFamily="34" charset="-122"/>
              </a:rPr>
              <a:t>E</a:t>
            </a:r>
            <a:r>
              <a:rPr kumimoji="0" lang="zh-CN" altLang="en-US" sz="2400" b="0" dirty="0">
                <a:solidFill>
                  <a:srgbClr val="0000CC"/>
                </a:solidFill>
                <a:latin typeface="微软雅黑" panose="020B0503020204020204" pitchFamily="34" charset="-122"/>
                <a:ea typeface="微软雅黑" panose="020B0503020204020204" pitchFamily="34" charset="-122"/>
              </a:rPr>
              <a:t>补剂能延缓衰老。</a:t>
            </a:r>
            <a:endParaRPr kumimoji="0" lang="en-US" altLang="zh-CN" sz="2400" b="0" dirty="0">
              <a:solidFill>
                <a:srgbClr val="0000CC"/>
              </a:solidFill>
              <a:latin typeface="微软雅黑" panose="020B0503020204020204" pitchFamily="34" charset="-122"/>
              <a:ea typeface="微软雅黑" panose="020B0503020204020204" pitchFamily="34" charset="-122"/>
            </a:endParaRPr>
          </a:p>
          <a:p>
            <a:pPr eaLnBrk="1" hangingPunct="1">
              <a:spcBef>
                <a:spcPct val="30000"/>
              </a:spcBef>
              <a:defRPr/>
            </a:pPr>
            <a:r>
              <a:rPr kumimoji="0" lang="zh-CN" altLang="en-US" sz="2400" b="0" dirty="0">
                <a:solidFill>
                  <a:srgbClr val="0000CC"/>
                </a:solidFill>
                <a:latin typeface="微软雅黑" panose="020B0503020204020204" pitchFamily="34" charset="-122"/>
                <a:ea typeface="微软雅黑" panose="020B0503020204020204" pitchFamily="34" charset="-122"/>
              </a:rPr>
              <a:t>服用大剂量维生素</a:t>
            </a:r>
            <a:r>
              <a:rPr kumimoji="0" lang="en-US" altLang="zh-CN" sz="2400" b="0" dirty="0">
                <a:solidFill>
                  <a:srgbClr val="0000CC"/>
                </a:solidFill>
                <a:latin typeface="微软雅黑" panose="020B0503020204020204" pitchFamily="34" charset="-122"/>
                <a:ea typeface="微软雅黑" panose="020B0503020204020204" pitchFamily="34" charset="-122"/>
              </a:rPr>
              <a:t>E</a:t>
            </a:r>
            <a:r>
              <a:rPr kumimoji="0" lang="zh-CN" altLang="en-US" sz="2400" b="0" dirty="0">
                <a:solidFill>
                  <a:srgbClr val="0000CC"/>
                </a:solidFill>
                <a:latin typeface="微软雅黑" panose="020B0503020204020204" pitchFamily="34" charset="-122"/>
                <a:ea typeface="微软雅黑" panose="020B0503020204020204" pitchFamily="34" charset="-122"/>
              </a:rPr>
              <a:t>补剂也不能有效降低心血管疾病风险。 </a:t>
            </a:r>
          </a:p>
        </p:txBody>
      </p:sp>
    </p:spTree>
    <p:extLst>
      <p:ext uri="{BB962C8B-B14F-4D97-AF65-F5344CB8AC3E}">
        <p14:creationId xmlns:p14="http://schemas.microsoft.com/office/powerpoint/2010/main" val="112611910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11" name="Text Box 7">
            <a:extLst>
              <a:ext uri="{FF2B5EF4-FFF2-40B4-BE49-F238E27FC236}">
                <a16:creationId xmlns:a16="http://schemas.microsoft.com/office/drawing/2014/main" id="{364E9361-D57F-4A52-89C9-275E2CCAE021}"/>
              </a:ext>
            </a:extLst>
          </p:cNvPr>
          <p:cNvSpPr txBox="1">
            <a:spLocks noChangeArrowheads="1"/>
          </p:cNvSpPr>
          <p:nvPr/>
        </p:nvSpPr>
        <p:spPr bwMode="auto">
          <a:xfrm>
            <a:off x="1952626" y="1214438"/>
            <a:ext cx="8429625" cy="5034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20000"/>
              </a:lnSpc>
              <a:spcBef>
                <a:spcPct val="50000"/>
              </a:spcBef>
              <a:buFontTx/>
              <a:buNone/>
            </a:pPr>
            <a:r>
              <a:rPr lang="en-US" altLang="zh-CN" sz="2600" b="0" dirty="0">
                <a:latin typeface="Times New Roman" panose="02020603050405020304" pitchFamily="18" charset="0"/>
                <a:ea typeface="楷体_GB2312" pitchFamily="49" charset="-122"/>
              </a:rPr>
              <a:t>K</a:t>
            </a:r>
            <a:r>
              <a:rPr lang="en-US" altLang="zh-CN" sz="2600" b="0" baseline="-25000" dirty="0">
                <a:latin typeface="Times New Roman" panose="02020603050405020304" pitchFamily="18" charset="0"/>
                <a:ea typeface="楷体_GB2312" pitchFamily="49" charset="-122"/>
              </a:rPr>
              <a:t>1</a:t>
            </a:r>
            <a:r>
              <a:rPr lang="zh-CN" altLang="en-US" sz="2600" b="0" dirty="0">
                <a:latin typeface="Times New Roman" panose="02020603050405020304" pitchFamily="18" charset="0"/>
                <a:ea typeface="楷体_GB2312" pitchFamily="49" charset="-122"/>
              </a:rPr>
              <a:t>、</a:t>
            </a:r>
            <a:r>
              <a:rPr lang="en-US" altLang="zh-CN" sz="2600" b="0" dirty="0">
                <a:latin typeface="Times New Roman" panose="02020603050405020304" pitchFamily="18" charset="0"/>
                <a:ea typeface="楷体_GB2312" pitchFamily="49" charset="-122"/>
              </a:rPr>
              <a:t>K</a:t>
            </a:r>
            <a:r>
              <a:rPr lang="en-US" altLang="zh-CN" sz="2600" b="0" baseline="-25000" dirty="0">
                <a:latin typeface="Times New Roman" panose="02020603050405020304" pitchFamily="18" charset="0"/>
                <a:ea typeface="楷体_GB2312" pitchFamily="49" charset="-122"/>
              </a:rPr>
              <a:t>2 </a:t>
            </a:r>
            <a:r>
              <a:rPr lang="zh-CN" altLang="en-US" sz="2600" b="0" dirty="0">
                <a:latin typeface="Times New Roman" panose="02020603050405020304" pitchFamily="18" charset="0"/>
                <a:ea typeface="楷体_GB2312" pitchFamily="49" charset="-122"/>
              </a:rPr>
              <a:t>（天然、脂溶）</a:t>
            </a:r>
            <a:r>
              <a:rPr lang="en-US" altLang="zh-CN" sz="2600" b="0" dirty="0">
                <a:latin typeface="Times New Roman" panose="02020603050405020304" pitchFamily="18" charset="0"/>
                <a:ea typeface="楷体_GB2312" pitchFamily="49" charset="-122"/>
              </a:rPr>
              <a:t>+ K</a:t>
            </a:r>
            <a:r>
              <a:rPr lang="en-US" altLang="zh-CN" sz="2600" b="0" baseline="-25000" dirty="0">
                <a:latin typeface="Times New Roman" panose="02020603050405020304" pitchFamily="18" charset="0"/>
                <a:ea typeface="楷体_GB2312" pitchFamily="49" charset="-122"/>
              </a:rPr>
              <a:t>3</a:t>
            </a:r>
            <a:r>
              <a:rPr lang="zh-CN" altLang="en-US" sz="2600" b="0" dirty="0">
                <a:latin typeface="Times New Roman" panose="02020603050405020304" pitchFamily="18" charset="0"/>
                <a:ea typeface="楷体_GB2312" pitchFamily="49" charset="-122"/>
              </a:rPr>
              <a:t>、</a:t>
            </a:r>
            <a:r>
              <a:rPr lang="en-US" altLang="zh-CN" sz="2600" b="0" dirty="0">
                <a:latin typeface="Times New Roman" panose="02020603050405020304" pitchFamily="18" charset="0"/>
                <a:ea typeface="楷体_GB2312" pitchFamily="49" charset="-122"/>
              </a:rPr>
              <a:t>K</a:t>
            </a:r>
            <a:r>
              <a:rPr lang="en-US" altLang="zh-CN" sz="2600" b="0" baseline="-25000" dirty="0">
                <a:latin typeface="Times New Roman" panose="02020603050405020304" pitchFamily="18" charset="0"/>
                <a:ea typeface="楷体_GB2312" pitchFamily="49" charset="-122"/>
              </a:rPr>
              <a:t>4</a:t>
            </a:r>
            <a:r>
              <a:rPr lang="zh-CN" altLang="en-US" sz="2600" b="0" dirty="0">
                <a:latin typeface="Times New Roman" panose="02020603050405020304" pitchFamily="18" charset="0"/>
                <a:ea typeface="楷体_GB2312" pitchFamily="49" charset="-122"/>
              </a:rPr>
              <a:t>（人工合成、水溶）</a:t>
            </a:r>
            <a:br>
              <a:rPr lang="en-US" altLang="zh-CN" b="0" baseline="-25000" dirty="0">
                <a:latin typeface="Times New Roman" panose="02020603050405020304" pitchFamily="18" charset="0"/>
                <a:ea typeface="楷体_GB2312" pitchFamily="49" charset="-122"/>
              </a:rPr>
            </a:br>
            <a:r>
              <a:rPr lang="zh-CN" altLang="en-US" b="0" dirty="0">
                <a:latin typeface="Times New Roman" panose="02020603050405020304" pitchFamily="18" charset="0"/>
                <a:ea typeface="楷体_GB2312" pitchFamily="49" charset="-122"/>
              </a:rPr>
              <a:t>（一）化学</a:t>
            </a:r>
            <a:r>
              <a:rPr lang="zh-CN" altLang="en-US" sz="3200" b="0" dirty="0">
                <a:latin typeface="Times New Roman" panose="02020603050405020304" pitchFamily="18" charset="0"/>
                <a:ea typeface="楷体_GB2312" pitchFamily="49" charset="-122"/>
              </a:rPr>
              <a:t>：</a:t>
            </a:r>
            <a:r>
              <a:rPr lang="en-US" altLang="zh-CN" b="0" dirty="0">
                <a:latin typeface="Times New Roman" panose="02020603050405020304" pitchFamily="18" charset="0"/>
                <a:ea typeface="楷体_GB2312" pitchFamily="49" charset="-122"/>
              </a:rPr>
              <a:t>2</a:t>
            </a:r>
            <a:r>
              <a:rPr lang="zh-CN" altLang="en-US" b="0" dirty="0">
                <a:latin typeface="Times New Roman" panose="02020603050405020304" pitchFamily="18" charset="0"/>
                <a:ea typeface="楷体_GB2312" pitchFamily="49" charset="-122"/>
              </a:rPr>
              <a:t>－甲基</a:t>
            </a:r>
            <a:r>
              <a:rPr lang="zh-CN" altLang="en-US" dirty="0">
                <a:latin typeface="Times New Roman" panose="02020603050405020304" pitchFamily="18" charset="0"/>
                <a:ea typeface="楷体_GB2312" pitchFamily="49" charset="-122"/>
              </a:rPr>
              <a:t>萘醌</a:t>
            </a:r>
            <a:r>
              <a:rPr lang="zh-CN" altLang="en-US" b="0" dirty="0">
                <a:latin typeface="Times New Roman" panose="02020603050405020304" pitchFamily="18" charset="0"/>
                <a:ea typeface="楷体_GB2312" pitchFamily="49" charset="-122"/>
              </a:rPr>
              <a:t>衍生物</a:t>
            </a:r>
            <a:endParaRPr lang="en-US" altLang="zh-CN" b="0" dirty="0">
              <a:latin typeface="Times New Roman" panose="02020603050405020304" pitchFamily="18" charset="0"/>
              <a:ea typeface="楷体_GB2312" pitchFamily="49" charset="-122"/>
            </a:endParaRPr>
          </a:p>
          <a:p>
            <a:pPr eaLnBrk="1" hangingPunct="1">
              <a:lnSpc>
                <a:spcPct val="100000"/>
              </a:lnSpc>
              <a:spcBef>
                <a:spcPct val="50000"/>
              </a:spcBef>
              <a:buFontTx/>
              <a:buNone/>
            </a:pPr>
            <a:endParaRPr lang="zh-CN" altLang="en-US" b="0" dirty="0">
              <a:latin typeface="Times New Roman" panose="02020603050405020304" pitchFamily="18" charset="0"/>
              <a:ea typeface="楷体_GB2312" pitchFamily="49" charset="-122"/>
            </a:endParaRPr>
          </a:p>
          <a:p>
            <a:pPr eaLnBrk="1" hangingPunct="1">
              <a:lnSpc>
                <a:spcPct val="105000"/>
              </a:lnSpc>
              <a:spcBef>
                <a:spcPct val="50000"/>
              </a:spcBef>
              <a:buFontTx/>
              <a:buNone/>
            </a:pPr>
            <a:br>
              <a:rPr lang="zh-CN" altLang="en-US" b="0" baseline="-25000" dirty="0">
                <a:latin typeface="Times New Roman" panose="02020603050405020304" pitchFamily="18" charset="0"/>
                <a:ea typeface="楷体_GB2312" pitchFamily="49" charset="-122"/>
              </a:rPr>
            </a:br>
            <a:endParaRPr lang="en-US" altLang="zh-CN" b="0" baseline="-25000" dirty="0">
              <a:latin typeface="Times New Roman" panose="02020603050405020304" pitchFamily="18" charset="0"/>
              <a:ea typeface="楷体_GB2312" pitchFamily="49" charset="-122"/>
            </a:endParaRPr>
          </a:p>
          <a:p>
            <a:pPr eaLnBrk="1" hangingPunct="1">
              <a:lnSpc>
                <a:spcPct val="105000"/>
              </a:lnSpc>
              <a:spcBef>
                <a:spcPct val="50000"/>
              </a:spcBef>
              <a:buFontTx/>
              <a:buNone/>
            </a:pPr>
            <a:endParaRPr lang="en-US" altLang="zh-CN" b="0" baseline="-25000" dirty="0">
              <a:latin typeface="Times New Roman" panose="02020603050405020304" pitchFamily="18" charset="0"/>
              <a:ea typeface="楷体_GB2312" pitchFamily="49" charset="-122"/>
            </a:endParaRPr>
          </a:p>
          <a:p>
            <a:pPr eaLnBrk="1" hangingPunct="1">
              <a:lnSpc>
                <a:spcPct val="120000"/>
              </a:lnSpc>
              <a:spcBef>
                <a:spcPts val="0"/>
              </a:spcBef>
              <a:buNone/>
            </a:pPr>
            <a:r>
              <a:rPr lang="zh-CN" altLang="en-US" b="0" dirty="0">
                <a:latin typeface="Times New Roman" panose="02020603050405020304" pitchFamily="18" charset="0"/>
                <a:ea typeface="楷体_GB2312" pitchFamily="49" charset="-122"/>
              </a:rPr>
              <a:t>（二）来源</a:t>
            </a:r>
            <a:br>
              <a:rPr lang="zh-CN" altLang="en-US" sz="2400" b="0" dirty="0">
                <a:latin typeface="Times New Roman" panose="02020603050405020304" pitchFamily="18" charset="0"/>
                <a:ea typeface="楷体_GB2312" pitchFamily="49" charset="-122"/>
              </a:rPr>
            </a:br>
            <a:r>
              <a:rPr lang="zh-CN" altLang="en-US" sz="2400" dirty="0">
                <a:latin typeface="Times New Roman" panose="02020603050405020304" pitchFamily="18" charset="0"/>
                <a:ea typeface="楷体_GB2312" pitchFamily="49" charset="-122"/>
              </a:rPr>
              <a:t>        </a:t>
            </a:r>
            <a:r>
              <a:rPr lang="en-US" altLang="zh-CN" sz="2400" dirty="0">
                <a:latin typeface="Times New Roman" panose="02020603050405020304" pitchFamily="18" charset="0"/>
                <a:ea typeface="楷体_GB2312" pitchFamily="49" charset="-122"/>
              </a:rPr>
              <a:t>K1</a:t>
            </a:r>
            <a:r>
              <a:rPr lang="zh-CN" altLang="en-US" sz="2400" dirty="0">
                <a:latin typeface="Times New Roman" panose="02020603050405020304" pitchFamily="18" charset="0"/>
                <a:ea typeface="楷体_GB2312" pitchFamily="49" charset="-122"/>
              </a:rPr>
              <a:t>（叶绿醌）</a:t>
            </a:r>
            <a:r>
              <a:rPr lang="zh-CN" altLang="en-US" sz="2400" b="0" dirty="0">
                <a:latin typeface="Times New Roman" panose="02020603050405020304" pitchFamily="18" charset="0"/>
                <a:ea typeface="楷体_GB2312" pitchFamily="49" charset="-122"/>
              </a:rPr>
              <a:t>存在于</a:t>
            </a:r>
            <a:r>
              <a:rPr lang="zh-CN" altLang="en-US" sz="2400" b="0" dirty="0">
                <a:solidFill>
                  <a:srgbClr val="3333CC"/>
                </a:solidFill>
                <a:latin typeface="Times New Roman" panose="02020603050405020304" pitchFamily="18" charset="0"/>
                <a:ea typeface="楷体_GB2312" pitchFamily="49" charset="-122"/>
              </a:rPr>
              <a:t>猪肝、蛋黄及多种绿色蔬菜</a:t>
            </a:r>
            <a:r>
              <a:rPr lang="zh-CN" altLang="en-US" sz="2400" b="0" dirty="0">
                <a:latin typeface="Times New Roman" panose="02020603050405020304" pitchFamily="18" charset="0"/>
                <a:ea typeface="楷体_GB2312" pitchFamily="49" charset="-122"/>
              </a:rPr>
              <a:t>中，</a:t>
            </a:r>
          </a:p>
          <a:p>
            <a:pPr eaLnBrk="1" hangingPunct="1">
              <a:lnSpc>
                <a:spcPct val="105000"/>
              </a:lnSpc>
              <a:spcBef>
                <a:spcPts val="0"/>
              </a:spcBef>
              <a:buNone/>
            </a:pPr>
            <a:r>
              <a:rPr lang="zh-CN" altLang="en-US" sz="2400" b="0" dirty="0">
                <a:latin typeface="Times New Roman" panose="02020603050405020304" pitchFamily="18" charset="0"/>
                <a:ea typeface="楷体_GB2312" pitchFamily="49" charset="-122"/>
              </a:rPr>
              <a:t>        </a:t>
            </a:r>
            <a:r>
              <a:rPr lang="en-US" altLang="zh-CN" sz="2400" b="0" dirty="0">
                <a:latin typeface="Times New Roman" panose="02020603050405020304" pitchFamily="18" charset="0"/>
                <a:ea typeface="楷体_GB2312" pitchFamily="49" charset="-122"/>
              </a:rPr>
              <a:t>K2</a:t>
            </a:r>
            <a:r>
              <a:rPr lang="zh-CN" altLang="en-US" sz="2400" b="0" dirty="0">
                <a:latin typeface="Times New Roman" panose="02020603050405020304" pitchFamily="18" charset="0"/>
                <a:ea typeface="楷体_GB2312" pitchFamily="49" charset="-122"/>
              </a:rPr>
              <a:t>为人和动物</a:t>
            </a:r>
            <a:r>
              <a:rPr lang="zh-CN" altLang="en-US" sz="2400" b="0" dirty="0">
                <a:solidFill>
                  <a:srgbClr val="3333CC"/>
                </a:solidFill>
                <a:latin typeface="Times New Roman" panose="02020603050405020304" pitchFamily="18" charset="0"/>
                <a:ea typeface="楷体_GB2312" pitchFamily="49" charset="-122"/>
              </a:rPr>
              <a:t>肠道细菌合成</a:t>
            </a:r>
            <a:endParaRPr lang="en-US" altLang="zh-CN" sz="2400" b="0" dirty="0">
              <a:solidFill>
                <a:srgbClr val="3333CC"/>
              </a:solidFill>
              <a:latin typeface="Times New Roman" panose="02020603050405020304" pitchFamily="18" charset="0"/>
              <a:ea typeface="楷体_GB2312" pitchFamily="49" charset="-122"/>
            </a:endParaRPr>
          </a:p>
          <a:p>
            <a:pPr eaLnBrk="1" hangingPunct="1">
              <a:lnSpc>
                <a:spcPct val="105000"/>
              </a:lnSpc>
              <a:spcBef>
                <a:spcPct val="50000"/>
              </a:spcBef>
              <a:buNone/>
            </a:pPr>
            <a:r>
              <a:rPr lang="zh-CN" altLang="en-US" dirty="0"/>
              <a:t>    </a:t>
            </a:r>
            <a:r>
              <a:rPr lang="zh-CN" altLang="en-US" dirty="0">
                <a:solidFill>
                  <a:srgbClr val="C00000"/>
                </a:solidFill>
              </a:rPr>
              <a:t>四种脂溶性维生素中唯一可作为辅酶的维生素</a:t>
            </a:r>
            <a:endParaRPr lang="zh-CN" altLang="en-US" b="0" dirty="0">
              <a:solidFill>
                <a:srgbClr val="C00000"/>
              </a:solidFill>
              <a:latin typeface="Times New Roman" panose="02020603050405020304" pitchFamily="18" charset="0"/>
              <a:ea typeface="楷体_GB2312" pitchFamily="49" charset="-122"/>
            </a:endParaRPr>
          </a:p>
        </p:txBody>
      </p:sp>
      <p:sp>
        <p:nvSpPr>
          <p:cNvPr id="86019" name="Rectangle 11">
            <a:extLst>
              <a:ext uri="{FF2B5EF4-FFF2-40B4-BE49-F238E27FC236}">
                <a16:creationId xmlns:a16="http://schemas.microsoft.com/office/drawing/2014/main" id="{D3230D14-8F4F-4F15-873D-9B846249FBF3}"/>
              </a:ext>
            </a:extLst>
          </p:cNvPr>
          <p:cNvSpPr>
            <a:spLocks noGrp="1" noChangeArrowheads="1"/>
          </p:cNvSpPr>
          <p:nvPr>
            <p:ph type="title" idx="4294967295"/>
          </p:nvPr>
        </p:nvSpPr>
        <p:spPr>
          <a:xfrm>
            <a:off x="3245129" y="100554"/>
            <a:ext cx="7105650" cy="1079500"/>
          </a:xfrm>
        </p:spPr>
        <p:txBody>
          <a:bodyPr/>
          <a:lstStyle/>
          <a:p>
            <a:pPr eaLnBrk="1" hangingPunct="1"/>
            <a:r>
              <a:rPr lang="zh-CN" altLang="en-US" sz="3600" b="1" dirty="0">
                <a:solidFill>
                  <a:srgbClr val="C00000"/>
                </a:solidFill>
                <a:ea typeface="楷体_GB2312" pitchFamily="49" charset="-122"/>
              </a:rPr>
              <a:t>四、维生素 </a:t>
            </a:r>
            <a:r>
              <a:rPr lang="en-US" altLang="zh-CN" sz="3600" b="1" dirty="0">
                <a:solidFill>
                  <a:srgbClr val="C00000"/>
                </a:solidFill>
                <a:ea typeface="楷体_GB2312" pitchFamily="49" charset="-122"/>
              </a:rPr>
              <a:t>K</a:t>
            </a:r>
            <a:r>
              <a:rPr lang="zh-CN" altLang="en-US" sz="3600" b="1" dirty="0">
                <a:solidFill>
                  <a:srgbClr val="C00000"/>
                </a:solidFill>
                <a:ea typeface="楷体_GB2312" pitchFamily="49" charset="-122"/>
              </a:rPr>
              <a:t>　　</a:t>
            </a:r>
            <a:r>
              <a:rPr lang="zh-CN" altLang="en-US" sz="2800" b="1" dirty="0">
                <a:solidFill>
                  <a:srgbClr val="C00000"/>
                </a:solidFill>
                <a:ea typeface="楷体_GB2312" pitchFamily="49" charset="-122"/>
              </a:rPr>
              <a:t>凝血维生素</a:t>
            </a:r>
          </a:p>
        </p:txBody>
      </p:sp>
      <p:pic>
        <p:nvPicPr>
          <p:cNvPr id="86020" name="Picture 2">
            <a:extLst>
              <a:ext uri="{FF2B5EF4-FFF2-40B4-BE49-F238E27FC236}">
                <a16:creationId xmlns:a16="http://schemas.microsoft.com/office/drawing/2014/main" id="{8B450B87-C227-4011-B427-CE77F7E3F841}"/>
              </a:ext>
            </a:extLst>
          </p:cNvPr>
          <p:cNvPicPr>
            <a:picLocks noChangeAspect="1" noChangeArrowheads="1"/>
          </p:cNvPicPr>
          <p:nvPr/>
        </p:nvPicPr>
        <p:blipFill>
          <a:blip r:embed="rId3">
            <a:lum bright="-10000" contrast="10000"/>
            <a:extLst>
              <a:ext uri="{28A0092B-C50C-407E-A947-70E740481C1C}">
                <a14:useLocalDpi xmlns:a14="http://schemas.microsoft.com/office/drawing/2010/main" val="0"/>
              </a:ext>
            </a:extLst>
          </a:blip>
          <a:srcRect/>
          <a:stretch>
            <a:fillRect/>
          </a:stretch>
        </p:blipFill>
        <p:spPr bwMode="auto">
          <a:xfrm>
            <a:off x="1631950" y="2544764"/>
            <a:ext cx="8928100" cy="166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6021" name="矩形 5">
            <a:extLst>
              <a:ext uri="{FF2B5EF4-FFF2-40B4-BE49-F238E27FC236}">
                <a16:creationId xmlns:a16="http://schemas.microsoft.com/office/drawing/2014/main" id="{7821914C-D1A6-44A1-9A11-4094B2656A9B}"/>
              </a:ext>
            </a:extLst>
          </p:cNvPr>
          <p:cNvSpPr>
            <a:spLocks noChangeArrowheads="1"/>
          </p:cNvSpPr>
          <p:nvPr/>
        </p:nvSpPr>
        <p:spPr bwMode="auto">
          <a:xfrm>
            <a:off x="7464426" y="2540001"/>
            <a:ext cx="18145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a:latin typeface="Times New Roman" panose="02020603050405020304" pitchFamily="18" charset="0"/>
                <a:ea typeface="楷体_GB2312" pitchFamily="49" charset="-122"/>
              </a:rPr>
              <a:t>维生素</a:t>
            </a:r>
            <a:r>
              <a:rPr lang="en-US" altLang="zh-CN" dirty="0">
                <a:latin typeface="Times New Roman" panose="02020603050405020304" pitchFamily="18" charset="0"/>
                <a:ea typeface="楷体_GB2312" pitchFamily="49" charset="-122"/>
              </a:rPr>
              <a:t>K1 </a:t>
            </a:r>
            <a:endParaRPr lang="zh-CN" altLang="en-US">
              <a:latin typeface="Times New Roman" panose="02020603050405020304" pitchFamily="18" charset="0"/>
              <a:ea typeface="楷体_GB2312"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21511">
                                            <p:txEl>
                                              <p:pRg st="4" end="4"/>
                                            </p:txEl>
                                          </p:spTgt>
                                        </p:tgtEl>
                                        <p:attrNameLst>
                                          <p:attrName>style.visibility</p:attrName>
                                        </p:attrNameLst>
                                      </p:cBhvr>
                                      <p:to>
                                        <p:strVal val="visible"/>
                                      </p:to>
                                    </p:set>
                                    <p:animEffect transition="in" filter="dissolve">
                                      <p:cBhvr>
                                        <p:cTn id="7" dur="500"/>
                                        <p:tgtEl>
                                          <p:spTgt spid="21511">
                                            <p:txEl>
                                              <p:pRg st="4" end="4"/>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1511">
                                            <p:txEl>
                                              <p:pRg st="5" end="5"/>
                                            </p:txEl>
                                          </p:spTgt>
                                        </p:tgtEl>
                                        <p:attrNameLst>
                                          <p:attrName>style.visibility</p:attrName>
                                        </p:attrNameLst>
                                      </p:cBhvr>
                                      <p:to>
                                        <p:strVal val="visible"/>
                                      </p:to>
                                    </p:set>
                                    <p:animEffect transition="in" filter="dissolve">
                                      <p:cBhvr>
                                        <p:cTn id="10" dur="500"/>
                                        <p:tgtEl>
                                          <p:spTgt spid="21511">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21511">
                                            <p:txEl>
                                              <p:pRg st="6" end="6"/>
                                            </p:txEl>
                                          </p:spTgt>
                                        </p:tgtEl>
                                        <p:attrNameLst>
                                          <p:attrName>style.visibility</p:attrName>
                                        </p:attrNameLst>
                                      </p:cBhvr>
                                      <p:to>
                                        <p:strVal val="visible"/>
                                      </p:to>
                                    </p:set>
                                    <p:animEffect transition="in" filter="dissolve">
                                      <p:cBhvr>
                                        <p:cTn id="15" dur="500"/>
                                        <p:tgtEl>
                                          <p:spTgt spid="215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1" grpId="0" uiExpand="1"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5">
            <a:extLst>
              <a:ext uri="{FF2B5EF4-FFF2-40B4-BE49-F238E27FC236}">
                <a16:creationId xmlns:a16="http://schemas.microsoft.com/office/drawing/2014/main" id="{782824E7-306C-47DA-B420-3E28BA52D369}"/>
              </a:ext>
            </a:extLst>
          </p:cNvPr>
          <p:cNvSpPr txBox="1">
            <a:spLocks noChangeArrowheads="1"/>
          </p:cNvSpPr>
          <p:nvPr/>
        </p:nvSpPr>
        <p:spPr bwMode="auto">
          <a:xfrm>
            <a:off x="911425" y="393274"/>
            <a:ext cx="5917556" cy="5700022"/>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FontTx/>
              <a:buNone/>
              <a:defRPr/>
            </a:pPr>
            <a:r>
              <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rPr>
              <a:t>（三）维生素</a:t>
            </a:r>
            <a:r>
              <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rPr>
              <a:t>K</a:t>
            </a:r>
            <a:r>
              <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rPr>
              <a:t>的生理功能</a:t>
            </a:r>
          </a:p>
          <a:p>
            <a:pPr marL="625475" indent="-625475" eaLnBrk="1" hangingPunct="1">
              <a:lnSpc>
                <a:spcPct val="120000"/>
              </a:lnSpc>
              <a:spcBef>
                <a:spcPct val="50000"/>
              </a:spcBef>
              <a:buNone/>
              <a:defRPr/>
            </a:pPr>
            <a:r>
              <a:rPr lang="zh-CN" altLang="en-US" sz="2800" b="0" dirty="0">
                <a:solidFill>
                  <a:srgbClr val="3333CC"/>
                </a:solidFill>
                <a:latin typeface="微软雅黑" panose="020B0503020204020204" pitchFamily="34" charset="-122"/>
                <a:ea typeface="微软雅黑" panose="020B0503020204020204" pitchFamily="34" charset="-122"/>
              </a:rPr>
              <a:t> </a:t>
            </a:r>
            <a:r>
              <a:rPr lang="en-US" altLang="zh-CN" sz="2800" b="0" dirty="0">
                <a:solidFill>
                  <a:srgbClr val="C00000"/>
                </a:solidFill>
                <a:latin typeface="微软雅黑" panose="020B0503020204020204" pitchFamily="34" charset="-122"/>
                <a:ea typeface="微软雅黑" panose="020B0503020204020204" pitchFamily="34" charset="-122"/>
              </a:rPr>
              <a:t>1</a:t>
            </a:r>
            <a:r>
              <a:rPr lang="zh-CN" altLang="en-US" sz="2800" b="0" dirty="0">
                <a:solidFill>
                  <a:srgbClr val="C00000"/>
                </a:solidFill>
                <a:latin typeface="微软雅黑" panose="020B0503020204020204" pitchFamily="34" charset="-122"/>
                <a:ea typeface="微软雅黑" panose="020B0503020204020204" pitchFamily="34" charset="-122"/>
              </a:rPr>
              <a:t>、促进凝血</a:t>
            </a:r>
            <a:br>
              <a:rPr lang="zh-CN" altLang="en-US" sz="2800" b="0" dirty="0">
                <a:latin typeface="微软雅黑" panose="020B0503020204020204" pitchFamily="34" charset="-122"/>
                <a:ea typeface="微软雅黑" panose="020B0503020204020204" pitchFamily="34" charset="-122"/>
              </a:rPr>
            </a:br>
            <a:r>
              <a:rPr lang="zh-CN" altLang="en-US" sz="2400" b="0" dirty="0">
                <a:latin typeface="微软雅黑" panose="020B0503020204020204" pitchFamily="34" charset="-122"/>
                <a:ea typeface="微软雅黑" panose="020B0503020204020204" pitchFamily="34" charset="-122"/>
              </a:rPr>
              <a:t>凝血因子</a:t>
            </a:r>
            <a:r>
              <a:rPr lang="en-US" altLang="zh-CN" sz="2400" b="0" dirty="0">
                <a:latin typeface="微软雅黑" panose="020B0503020204020204" pitchFamily="34" charset="-122"/>
                <a:ea typeface="微软雅黑" panose="020B0503020204020204" pitchFamily="34" charset="-122"/>
              </a:rPr>
              <a:t>Ⅱ</a:t>
            </a:r>
            <a:r>
              <a:rPr lang="zh-CN" altLang="en-US" sz="2400" b="0" dirty="0">
                <a:latin typeface="微软雅黑" panose="020B0503020204020204" pitchFamily="34" charset="-122"/>
                <a:ea typeface="微软雅黑" panose="020B0503020204020204" pitchFamily="34" charset="-122"/>
              </a:rPr>
              <a:t>（凝血酶原）、</a:t>
            </a:r>
            <a:r>
              <a:rPr lang="en-US" altLang="zh-CN" sz="2400" b="0" dirty="0">
                <a:latin typeface="微软雅黑" panose="020B0503020204020204" pitchFamily="34" charset="-122"/>
                <a:ea typeface="微软雅黑" panose="020B0503020204020204" pitchFamily="34" charset="-122"/>
              </a:rPr>
              <a:t>Ⅶ</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Ⅸ</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Ⅹ</a:t>
            </a:r>
            <a:r>
              <a:rPr lang="zh-CN" altLang="en-US" sz="2400" b="0" dirty="0">
                <a:latin typeface="微软雅黑" panose="020B0503020204020204" pitchFamily="34" charset="-122"/>
                <a:ea typeface="微软雅黑" panose="020B0503020204020204" pitchFamily="34" charset="-122"/>
              </a:rPr>
              <a:t>的激活</a:t>
            </a:r>
            <a:endParaRPr lang="en-US" altLang="zh-CN" sz="2400" b="0" dirty="0">
              <a:latin typeface="微软雅黑" panose="020B0503020204020204" pitchFamily="34" charset="-122"/>
              <a:ea typeface="微软雅黑" panose="020B0503020204020204" pitchFamily="34" charset="-122"/>
            </a:endParaRPr>
          </a:p>
          <a:p>
            <a:pPr marL="625475" indent="-625475" eaLnBrk="1" hangingPunct="1">
              <a:lnSpc>
                <a:spcPct val="120000"/>
              </a:lnSpc>
              <a:spcBef>
                <a:spcPct val="50000"/>
              </a:spcBef>
              <a:buNone/>
              <a:defRPr/>
            </a:pPr>
            <a:r>
              <a:rPr lang="en-US" altLang="zh-CN" sz="2400" b="0" dirty="0">
                <a:latin typeface="微软雅黑" panose="020B0503020204020204" pitchFamily="34" charset="-122"/>
                <a:ea typeface="微软雅黑" panose="020B0503020204020204" pitchFamily="34" charset="-122"/>
              </a:rPr>
              <a:t>    </a:t>
            </a:r>
            <a:r>
              <a:rPr lang="zh-CN" altLang="en-US" sz="2400" b="0" dirty="0">
                <a:latin typeface="微软雅黑" panose="020B0503020204020204" pitchFamily="34" charset="-122"/>
                <a:ea typeface="微软雅黑" panose="020B0503020204020204" pitchFamily="34" charset="-122"/>
              </a:rPr>
              <a:t>多种</a:t>
            </a:r>
            <a:r>
              <a:rPr lang="el-GR" altLang="zh-CN" sz="2400" dirty="0">
                <a:solidFill>
                  <a:srgbClr val="C00000"/>
                </a:solidFill>
                <a:ea typeface="微软雅黑" panose="020B0503020204020204" pitchFamily="34" charset="-122"/>
                <a:cs typeface="Times New Roman" panose="02020603050405020304" pitchFamily="18" charset="0"/>
              </a:rPr>
              <a:t>γ</a:t>
            </a:r>
            <a:r>
              <a:rPr lang="en-US" altLang="zh-CN" sz="2400" dirty="0">
                <a:solidFill>
                  <a:srgbClr val="C00000"/>
                </a:solidFill>
                <a:ea typeface="微软雅黑" panose="020B0503020204020204" pitchFamily="34" charset="-122"/>
                <a:cs typeface="Times New Roman" panose="02020603050405020304" pitchFamily="18" charset="0"/>
              </a:rPr>
              <a:t>-</a:t>
            </a:r>
            <a:r>
              <a:rPr lang="zh-CN" altLang="en-US" sz="2400" dirty="0">
                <a:solidFill>
                  <a:srgbClr val="C00000"/>
                </a:solidFill>
                <a:latin typeface="微软雅黑" panose="020B0503020204020204" pitchFamily="34" charset="-122"/>
                <a:ea typeface="微软雅黑" panose="020B0503020204020204" pitchFamily="34" charset="-122"/>
              </a:rPr>
              <a:t>谷氨酰羧化酶的辅酶</a:t>
            </a:r>
            <a:br>
              <a:rPr lang="zh-CN" altLang="en-US" sz="2800" b="0" dirty="0">
                <a:latin typeface="微软雅黑" panose="020B0503020204020204" pitchFamily="34" charset="-122"/>
                <a:ea typeface="微软雅黑" panose="020B0503020204020204" pitchFamily="34" charset="-122"/>
              </a:rPr>
            </a:br>
            <a:r>
              <a:rPr lang="zh-CN" altLang="en-US" sz="2400" b="0" dirty="0">
                <a:solidFill>
                  <a:srgbClr val="0000CC"/>
                </a:solidFill>
                <a:latin typeface="微软雅黑" panose="020B0503020204020204" pitchFamily="34" charset="-122"/>
                <a:ea typeface="微软雅黑" panose="020B0503020204020204" pitchFamily="34" charset="-122"/>
              </a:rPr>
              <a:t>缺乏</a:t>
            </a:r>
            <a:r>
              <a:rPr lang="en-US" altLang="zh-CN" sz="2400" b="0" dirty="0" err="1">
                <a:solidFill>
                  <a:srgbClr val="0000CC"/>
                </a:solidFill>
                <a:latin typeface="微软雅黑" panose="020B0503020204020204" pitchFamily="34" charset="-122"/>
                <a:ea typeface="微软雅黑" panose="020B0503020204020204" pitchFamily="34" charset="-122"/>
              </a:rPr>
              <a:t>VitK</a:t>
            </a:r>
            <a:r>
              <a:rPr lang="zh-CN" altLang="en-US" sz="2400" b="0" dirty="0">
                <a:solidFill>
                  <a:srgbClr val="0000CC"/>
                </a:solidFill>
                <a:latin typeface="微软雅黑" panose="020B0503020204020204" pitchFamily="34" charset="-122"/>
                <a:ea typeface="微软雅黑" panose="020B0503020204020204" pitchFamily="34" charset="-122"/>
              </a:rPr>
              <a:t> 致 凝血时间延长</a:t>
            </a:r>
            <a:endParaRPr lang="en-US" altLang="zh-CN" sz="2400" b="0" dirty="0">
              <a:solidFill>
                <a:srgbClr val="0000CC"/>
              </a:solidFill>
              <a:latin typeface="微软雅黑" panose="020B0503020204020204" pitchFamily="34" charset="-122"/>
              <a:ea typeface="微软雅黑" panose="020B0503020204020204" pitchFamily="34" charset="-122"/>
            </a:endParaRPr>
          </a:p>
          <a:p>
            <a:pPr marL="625475" indent="-625475" eaLnBrk="1" hangingPunct="1">
              <a:lnSpc>
                <a:spcPct val="120000"/>
              </a:lnSpc>
              <a:spcBef>
                <a:spcPct val="50000"/>
              </a:spcBef>
              <a:defRPr/>
            </a:pPr>
            <a:r>
              <a:rPr lang="zh-CN" altLang="en-US" sz="2200" b="0" dirty="0">
                <a:latin typeface="微软雅黑" panose="020B0503020204020204" pitchFamily="34" charset="-122"/>
                <a:ea typeface="微软雅黑" panose="020B0503020204020204" pitchFamily="34" charset="-122"/>
              </a:rPr>
              <a:t>鼻衄、牙龈渗血，皮下青紫，黑粪，月经过多，痔疮出血，创面与术后渗血等，偶可见颅内出血危及生命</a:t>
            </a:r>
            <a:endParaRPr lang="zh-CN" altLang="en-US" sz="2800" b="0" dirty="0">
              <a:latin typeface="微软雅黑" panose="020B0503020204020204" pitchFamily="34" charset="-122"/>
              <a:ea typeface="微软雅黑" panose="020B0503020204020204" pitchFamily="34" charset="-122"/>
            </a:endParaRPr>
          </a:p>
          <a:p>
            <a:pPr eaLnBrk="1" hangingPunct="1">
              <a:spcBef>
                <a:spcPts val="2400"/>
              </a:spcBef>
              <a:buNone/>
              <a:defRPr/>
            </a:pPr>
            <a:r>
              <a:rPr lang="en-US" altLang="zh-CN" sz="2800" b="0" dirty="0">
                <a:latin typeface="微软雅黑" panose="020B0503020204020204" pitchFamily="34" charset="-122"/>
                <a:ea typeface="微软雅黑" panose="020B0503020204020204" pitchFamily="34" charset="-122"/>
              </a:rPr>
              <a:t> 2</a:t>
            </a:r>
            <a:r>
              <a:rPr lang="zh-CN" altLang="en-US" sz="2800" b="0" dirty="0">
                <a:latin typeface="微软雅黑" panose="020B0503020204020204" pitchFamily="34" charset="-122"/>
                <a:ea typeface="微软雅黑" panose="020B0503020204020204" pitchFamily="34" charset="-122"/>
              </a:rPr>
              <a:t>、参与调节骨代谢</a:t>
            </a:r>
            <a:endParaRPr lang="en-US" altLang="zh-CN" sz="2800" b="0" dirty="0">
              <a:latin typeface="微软雅黑" panose="020B0503020204020204" pitchFamily="34" charset="-122"/>
              <a:ea typeface="微软雅黑" panose="020B0503020204020204" pitchFamily="34" charset="-122"/>
            </a:endParaRPr>
          </a:p>
          <a:p>
            <a:pPr eaLnBrk="1" hangingPunct="1">
              <a:spcBef>
                <a:spcPts val="1200"/>
              </a:spcBef>
              <a:buNone/>
              <a:defRPr/>
            </a:pPr>
            <a:r>
              <a:rPr lang="zh-CN" altLang="en-US" sz="2200" b="0" dirty="0">
                <a:latin typeface="微软雅黑" panose="020B0503020204020204" pitchFamily="34" charset="-122"/>
                <a:ea typeface="微软雅黑" panose="020B0503020204020204" pitchFamily="34" charset="-122"/>
              </a:rPr>
              <a:t>       摄入足够的维生素</a:t>
            </a:r>
            <a:r>
              <a:rPr lang="en-US" altLang="zh-CN" sz="2200" b="0" dirty="0">
                <a:latin typeface="微软雅黑" panose="020B0503020204020204" pitchFamily="34" charset="-122"/>
                <a:ea typeface="微软雅黑" panose="020B0503020204020204" pitchFamily="34" charset="-122"/>
              </a:rPr>
              <a:t>K</a:t>
            </a:r>
            <a:r>
              <a:rPr lang="zh-CN" altLang="en-US" sz="2200" b="0" dirty="0">
                <a:latin typeface="微软雅黑" panose="020B0503020204020204" pitchFamily="34" charset="-122"/>
                <a:ea typeface="微软雅黑" panose="020B0503020204020204" pitchFamily="34" charset="-122"/>
              </a:rPr>
              <a:t>有利于降低骨折风险。 </a:t>
            </a:r>
            <a:r>
              <a:rPr lang="en-US" altLang="zh-CN" sz="2200" b="0" dirty="0">
                <a:latin typeface="微软雅黑" panose="020B0503020204020204" pitchFamily="34" charset="-122"/>
                <a:ea typeface="微软雅黑" panose="020B0503020204020204" pitchFamily="34" charset="-122"/>
              </a:rPr>
              <a:t> </a:t>
            </a:r>
          </a:p>
        </p:txBody>
      </p:sp>
      <p:pic>
        <p:nvPicPr>
          <p:cNvPr id="88067" name="图片 1">
            <a:extLst>
              <a:ext uri="{FF2B5EF4-FFF2-40B4-BE49-F238E27FC236}">
                <a16:creationId xmlns:a16="http://schemas.microsoft.com/office/drawing/2014/main" id="{4E162DF8-1914-434E-BC10-33179D10BBC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6915382" y="270736"/>
            <a:ext cx="4365193" cy="6316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591F1F91-9E8B-5498-692B-29231044B652}"/>
              </a:ext>
            </a:extLst>
          </p:cNvPr>
          <p:cNvSpPr txBox="1"/>
          <p:nvPr/>
        </p:nvSpPr>
        <p:spPr>
          <a:xfrm>
            <a:off x="9653042" y="3933056"/>
            <a:ext cx="1008807" cy="400110"/>
          </a:xfrm>
          <a:prstGeom prst="rect">
            <a:avLst/>
          </a:prstGeom>
          <a:noFill/>
        </p:spPr>
        <p:txBody>
          <a:bodyPr wrap="square" rtlCol="0">
            <a:spAutoFit/>
          </a:bodyPr>
          <a:lstStyle/>
          <a:p>
            <a:r>
              <a:rPr lang="zh-CN" altLang="en-US" sz="2000" dirty="0">
                <a:solidFill>
                  <a:srgbClr val="0000CC"/>
                </a:solidFill>
              </a:rPr>
              <a:t>华法林</a:t>
            </a: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a:extLst>
              <a:ext uri="{FF2B5EF4-FFF2-40B4-BE49-F238E27FC236}">
                <a16:creationId xmlns:a16="http://schemas.microsoft.com/office/drawing/2014/main" id="{E0A429DF-7416-4C51-8CD5-70E81B5A6A7C}"/>
              </a:ext>
            </a:extLst>
          </p:cNvPr>
          <p:cNvSpPr>
            <a:spLocks noGrp="1" noChangeArrowheads="1"/>
          </p:cNvSpPr>
          <p:nvPr>
            <p:ph idx="1"/>
          </p:nvPr>
        </p:nvSpPr>
        <p:spPr>
          <a:xfrm>
            <a:off x="1559496" y="2420888"/>
            <a:ext cx="9289032" cy="2736304"/>
          </a:xfrm>
        </p:spPr>
        <p:txBody>
          <a:bodyPr>
            <a:normAutofit/>
          </a:bodyPr>
          <a:lstStyle/>
          <a:p>
            <a:pPr eaLnBrk="1" hangingPunct="1">
              <a:lnSpc>
                <a:spcPct val="120000"/>
              </a:lnSpc>
              <a:spcBef>
                <a:spcPct val="0"/>
              </a:spcBef>
            </a:pPr>
            <a:r>
              <a:rPr lang="zh-CN" altLang="en-US" dirty="0">
                <a:solidFill>
                  <a:srgbClr val="0000CC"/>
                </a:solidFill>
                <a:latin typeface="微软雅黑" panose="020B0503020204020204" pitchFamily="34" charset="-122"/>
                <a:ea typeface="微软雅黑" panose="020B0503020204020204" pitchFamily="34" charset="-122"/>
              </a:rPr>
              <a:t>新生儿</a:t>
            </a:r>
            <a:r>
              <a:rPr lang="zh-CN" altLang="en-US" dirty="0">
                <a:latin typeface="微软雅黑" panose="020B0503020204020204" pitchFamily="34" charset="-122"/>
                <a:ea typeface="微软雅黑" panose="020B0503020204020204" pitchFamily="34" charset="-122"/>
              </a:rPr>
              <a:t>最初几天甚至几周肠道菌群还未建立，不能产生足够的维生素</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，容易出血。有些国家</a:t>
            </a:r>
            <a:r>
              <a:rPr lang="zh-CN" altLang="en-US" dirty="0">
                <a:solidFill>
                  <a:srgbClr val="3333CC"/>
                </a:solidFill>
                <a:latin typeface="微软雅黑" panose="020B0503020204020204" pitchFamily="34" charset="-122"/>
                <a:ea typeface="微软雅黑" panose="020B0503020204020204" pitchFamily="34" charset="-122"/>
              </a:rPr>
              <a:t>常规给新生儿注射</a:t>
            </a:r>
            <a:r>
              <a:rPr lang="en-US" altLang="zh-CN" dirty="0" err="1">
                <a:solidFill>
                  <a:srgbClr val="3333CC"/>
                </a:solidFill>
                <a:latin typeface="微软雅黑" panose="020B0503020204020204" pitchFamily="34" charset="-122"/>
                <a:ea typeface="微软雅黑" panose="020B0503020204020204" pitchFamily="34" charset="-122"/>
              </a:rPr>
              <a:t>Vk</a:t>
            </a:r>
            <a:r>
              <a:rPr lang="zh-CN" altLang="en-US" dirty="0">
                <a:solidFill>
                  <a:srgbClr val="3333CC"/>
                </a:solidFill>
                <a:latin typeface="微软雅黑" panose="020B0503020204020204" pitchFamily="34" charset="-122"/>
                <a:ea typeface="微软雅黑" panose="020B0503020204020204" pitchFamily="34" charset="-122"/>
              </a:rPr>
              <a:t>（静脉注射</a:t>
            </a:r>
            <a:r>
              <a:rPr lang="en-US" altLang="zh-CN" dirty="0">
                <a:solidFill>
                  <a:srgbClr val="3333CC"/>
                </a:solidFill>
                <a:latin typeface="微软雅黑" panose="020B0503020204020204" pitchFamily="34" charset="-122"/>
                <a:ea typeface="微软雅黑" panose="020B0503020204020204" pitchFamily="34" charset="-122"/>
              </a:rPr>
              <a:t>1mg)</a:t>
            </a:r>
            <a:r>
              <a:rPr lang="zh-CN" altLang="en-US" dirty="0">
                <a:solidFill>
                  <a:srgbClr val="3333CC"/>
                </a:solidFill>
                <a:latin typeface="微软雅黑" panose="020B0503020204020204" pitchFamily="34" charset="-122"/>
                <a:ea typeface="微软雅黑" panose="020B0503020204020204" pitchFamily="34" charset="-122"/>
              </a:rPr>
              <a:t>，主要预防颅内出血、胃出血。</a:t>
            </a:r>
            <a:endParaRPr lang="en-US" altLang="zh-CN" dirty="0">
              <a:solidFill>
                <a:srgbClr val="3333CC"/>
              </a:solidFill>
              <a:latin typeface="微软雅黑" panose="020B0503020204020204" pitchFamily="34" charset="-122"/>
              <a:ea typeface="微软雅黑" panose="020B0503020204020204" pitchFamily="34" charset="-122"/>
            </a:endParaRPr>
          </a:p>
          <a:p>
            <a:pPr eaLnBrk="1" hangingPunct="1">
              <a:lnSpc>
                <a:spcPct val="120000"/>
              </a:lnSpc>
              <a:spcBef>
                <a:spcPct val="0"/>
              </a:spcBef>
            </a:pPr>
            <a:endParaRPr lang="en-US" altLang="zh-CN" dirty="0">
              <a:latin typeface="微软雅黑" panose="020B0503020204020204" pitchFamily="34" charset="-122"/>
              <a:ea typeface="微软雅黑" panose="020B0503020204020204" pitchFamily="34" charset="-122"/>
            </a:endParaRPr>
          </a:p>
          <a:p>
            <a:pPr eaLnBrk="1" hangingPunct="1">
              <a:lnSpc>
                <a:spcPct val="120000"/>
              </a:lnSpc>
              <a:spcBef>
                <a:spcPct val="0"/>
              </a:spcBef>
            </a:pPr>
            <a:r>
              <a:rPr lang="zh-CN" altLang="en-US" dirty="0">
                <a:latin typeface="微软雅黑" panose="020B0503020204020204" pitchFamily="34" charset="-122"/>
                <a:ea typeface="微软雅黑" panose="020B0503020204020204" pitchFamily="34" charset="-122"/>
              </a:rPr>
              <a:t>有些新生儿需要补充维生素</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，比如早产儿，低体重儿等。</a:t>
            </a:r>
            <a:endParaRPr lang="en-US" altLang="zh-CN" dirty="0">
              <a:latin typeface="微软雅黑" panose="020B0503020204020204" pitchFamily="34" charset="-122"/>
              <a:ea typeface="微软雅黑" panose="020B0503020204020204" pitchFamily="34" charset="-122"/>
            </a:endParaRPr>
          </a:p>
        </p:txBody>
      </p:sp>
      <p:sp>
        <p:nvSpPr>
          <p:cNvPr id="91139" name="文本框 1">
            <a:extLst>
              <a:ext uri="{FF2B5EF4-FFF2-40B4-BE49-F238E27FC236}">
                <a16:creationId xmlns:a16="http://schemas.microsoft.com/office/drawing/2014/main" id="{2404D9FD-E6CD-4BCF-9DED-4BB6716FBB04}"/>
              </a:ext>
            </a:extLst>
          </p:cNvPr>
          <p:cNvSpPr txBox="1">
            <a:spLocks noChangeArrowheads="1"/>
          </p:cNvSpPr>
          <p:nvPr/>
        </p:nvSpPr>
        <p:spPr bwMode="auto">
          <a:xfrm>
            <a:off x="2063750" y="549275"/>
            <a:ext cx="8358188" cy="1308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50000"/>
              </a:lnSpc>
              <a:spcBef>
                <a:spcPct val="0"/>
              </a:spcBef>
              <a:buFontTx/>
              <a:buNone/>
            </a:pPr>
            <a:r>
              <a:rPr lang="en-US" altLang="zh-CN" dirty="0">
                <a:solidFill>
                  <a:srgbClr val="0000CC"/>
                </a:solidFill>
                <a:latin typeface="Times New Roman" panose="02020603050405020304" pitchFamily="18" charset="0"/>
                <a:ea typeface="楷体_GB2312" pitchFamily="49" charset="-122"/>
              </a:rPr>
              <a:t>Vit K  </a:t>
            </a:r>
            <a:r>
              <a:rPr lang="zh-CN" altLang="en-US" dirty="0">
                <a:solidFill>
                  <a:srgbClr val="0000CC"/>
                </a:solidFill>
                <a:latin typeface="Times New Roman" panose="02020603050405020304" pitchFamily="18" charset="0"/>
                <a:ea typeface="楷体_GB2312" pitchFamily="49" charset="-122"/>
              </a:rPr>
              <a:t>成人每日需要量　</a:t>
            </a:r>
            <a:r>
              <a:rPr lang="en-US" altLang="zh-CN" dirty="0">
                <a:solidFill>
                  <a:srgbClr val="0000CC"/>
                </a:solidFill>
                <a:latin typeface="Times New Roman" panose="02020603050405020304" pitchFamily="18" charset="0"/>
                <a:ea typeface="楷体_GB2312" pitchFamily="49" charset="-122"/>
              </a:rPr>
              <a:t>60</a:t>
            </a:r>
            <a:r>
              <a:rPr lang="zh-CN" altLang="en-US" dirty="0">
                <a:solidFill>
                  <a:srgbClr val="0000CC"/>
                </a:solidFill>
                <a:latin typeface="Times New Roman" panose="02020603050405020304" pitchFamily="18" charset="0"/>
                <a:ea typeface="楷体_GB2312" pitchFamily="49" charset="-122"/>
              </a:rPr>
              <a:t>～</a:t>
            </a:r>
            <a:r>
              <a:rPr lang="en-US" altLang="zh-CN" dirty="0">
                <a:solidFill>
                  <a:srgbClr val="0000CC"/>
                </a:solidFill>
                <a:latin typeface="Times New Roman" panose="02020603050405020304" pitchFamily="18" charset="0"/>
                <a:ea typeface="楷体_GB2312" pitchFamily="49" charset="-122"/>
              </a:rPr>
              <a:t>80</a:t>
            </a:r>
            <a:r>
              <a:rPr lang="el-GR" altLang="zh-CN" dirty="0">
                <a:solidFill>
                  <a:srgbClr val="0000CC"/>
                </a:solidFill>
                <a:latin typeface="Times New Roman" panose="02020603050405020304" pitchFamily="18" charset="0"/>
                <a:ea typeface="楷体_GB2312" pitchFamily="49" charset="-122"/>
              </a:rPr>
              <a:t>μ</a:t>
            </a:r>
            <a:r>
              <a:rPr lang="en-US" altLang="zh-CN" dirty="0">
                <a:solidFill>
                  <a:srgbClr val="0000CC"/>
                </a:solidFill>
                <a:latin typeface="Times New Roman" panose="02020603050405020304" pitchFamily="18" charset="0"/>
                <a:ea typeface="楷体_GB2312" pitchFamily="49" charset="-122"/>
              </a:rPr>
              <a:t>g</a:t>
            </a:r>
          </a:p>
          <a:p>
            <a:pPr>
              <a:lnSpc>
                <a:spcPct val="150000"/>
              </a:lnSpc>
              <a:spcBef>
                <a:spcPct val="0"/>
              </a:spcBef>
              <a:buFontTx/>
              <a:buNone/>
            </a:pPr>
            <a:r>
              <a:rPr lang="zh-CN" altLang="en-US" b="0" dirty="0">
                <a:latin typeface="Times New Roman" panose="02020603050405020304" pitchFamily="18" charset="0"/>
                <a:ea typeface="楷体_GB2312" pitchFamily="49" charset="-122"/>
              </a:rPr>
              <a:t>广泛存在于动植物组织，且肠道可产生，</a:t>
            </a:r>
            <a:r>
              <a:rPr lang="zh-CN" altLang="en-US" dirty="0">
                <a:solidFill>
                  <a:srgbClr val="0000CC"/>
                </a:solidFill>
                <a:latin typeface="Times New Roman" panose="02020603050405020304" pitchFamily="18" charset="0"/>
                <a:ea typeface="楷体_GB2312" pitchFamily="49" charset="-122"/>
              </a:rPr>
              <a:t>一般不缺</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53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553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A9621792-B560-499A-B88F-2DD69C05DFEE}"/>
              </a:ext>
            </a:extLst>
          </p:cNvPr>
          <p:cNvSpPr>
            <a:spLocks noGrp="1" noChangeArrowheads="1"/>
          </p:cNvSpPr>
          <p:nvPr>
            <p:ph idx="1"/>
          </p:nvPr>
        </p:nvSpPr>
        <p:spPr>
          <a:xfrm>
            <a:off x="1631950" y="1557338"/>
            <a:ext cx="8928100" cy="4248150"/>
          </a:xfrm>
        </p:spPr>
        <p:txBody>
          <a:bodyPr/>
          <a:lstStyle/>
          <a:p>
            <a:pPr eaLnBrk="1" hangingPunct="1">
              <a:lnSpc>
                <a:spcPct val="170000"/>
              </a:lnSpc>
              <a:buFontTx/>
              <a:buNone/>
            </a:pPr>
            <a:r>
              <a:rPr lang="en-US" altLang="zh-CN" b="1" dirty="0"/>
              <a:t>Vit    </a:t>
            </a:r>
            <a:r>
              <a:rPr lang="zh-CN" altLang="en-US" b="1" dirty="0"/>
              <a:t>别名               生理功能                       缺乏症</a:t>
            </a:r>
          </a:p>
          <a:p>
            <a:pPr eaLnBrk="1" hangingPunct="1">
              <a:lnSpc>
                <a:spcPct val="120000"/>
              </a:lnSpc>
              <a:buFontTx/>
              <a:buNone/>
            </a:pPr>
            <a:r>
              <a:rPr lang="zh-CN" altLang="en-US" b="1" dirty="0"/>
              <a:t> </a:t>
            </a:r>
            <a:r>
              <a:rPr lang="en-US" altLang="zh-CN" dirty="0">
                <a:solidFill>
                  <a:srgbClr val="0000CC"/>
                </a:solidFill>
              </a:rPr>
              <a:t>A    </a:t>
            </a:r>
            <a:r>
              <a:rPr lang="zh-CN" altLang="en-US" dirty="0">
                <a:solidFill>
                  <a:srgbClr val="0000CC"/>
                </a:solidFill>
              </a:rPr>
              <a:t>视黄醇</a:t>
            </a:r>
            <a:r>
              <a:rPr lang="zh-CN" altLang="en-US" dirty="0"/>
              <a:t>         参与生成感光物质       夜盲症、干眼病</a:t>
            </a:r>
          </a:p>
          <a:p>
            <a:pPr eaLnBrk="1" hangingPunct="1">
              <a:lnSpc>
                <a:spcPct val="140000"/>
              </a:lnSpc>
              <a:buFontTx/>
              <a:buNone/>
            </a:pPr>
            <a:r>
              <a:rPr lang="zh-CN" altLang="en-US" dirty="0"/>
              <a:t> </a:t>
            </a:r>
            <a:r>
              <a:rPr lang="en-US" altLang="zh-CN" dirty="0">
                <a:solidFill>
                  <a:srgbClr val="0000CC"/>
                </a:solidFill>
              </a:rPr>
              <a:t>D    </a:t>
            </a:r>
            <a:r>
              <a:rPr lang="zh-CN" altLang="en-US" dirty="0">
                <a:solidFill>
                  <a:srgbClr val="0000CC"/>
                </a:solidFill>
              </a:rPr>
              <a:t>钙化醇         </a:t>
            </a:r>
            <a:r>
              <a:rPr lang="zh-CN" altLang="en-US" dirty="0"/>
              <a:t>促进钙磷吸收               佝偻病、软骨病</a:t>
            </a:r>
          </a:p>
          <a:p>
            <a:pPr eaLnBrk="1" hangingPunct="1">
              <a:lnSpc>
                <a:spcPct val="140000"/>
              </a:lnSpc>
              <a:buFontTx/>
              <a:buNone/>
            </a:pPr>
            <a:r>
              <a:rPr lang="zh-CN" altLang="en-US" dirty="0">
                <a:solidFill>
                  <a:srgbClr val="0000CC"/>
                </a:solidFill>
              </a:rPr>
              <a:t> </a:t>
            </a:r>
            <a:r>
              <a:rPr lang="en-US" altLang="zh-CN" dirty="0">
                <a:solidFill>
                  <a:srgbClr val="0000CC"/>
                </a:solidFill>
              </a:rPr>
              <a:t>E    </a:t>
            </a:r>
            <a:r>
              <a:rPr lang="zh-CN" altLang="en-US" dirty="0">
                <a:solidFill>
                  <a:srgbClr val="0000CC"/>
                </a:solidFill>
              </a:rPr>
              <a:t>生育酚          </a:t>
            </a:r>
            <a:r>
              <a:rPr lang="zh-CN" altLang="en-US" dirty="0">
                <a:solidFill>
                  <a:srgbClr val="3333CC"/>
                </a:solidFill>
              </a:rPr>
              <a:t>抗氧化，保护膜脂      </a:t>
            </a:r>
            <a:r>
              <a:rPr lang="zh-CN" altLang="en-US" dirty="0"/>
              <a:t>治疗习惯性流产</a:t>
            </a:r>
          </a:p>
          <a:p>
            <a:pPr eaLnBrk="1" hangingPunct="1">
              <a:lnSpc>
                <a:spcPct val="140000"/>
              </a:lnSpc>
              <a:buFontTx/>
              <a:buNone/>
            </a:pPr>
            <a:r>
              <a:rPr lang="zh-CN" altLang="en-US" dirty="0"/>
              <a:t> </a:t>
            </a:r>
            <a:r>
              <a:rPr lang="en-US" altLang="zh-CN" dirty="0">
                <a:solidFill>
                  <a:srgbClr val="0000CC"/>
                </a:solidFill>
              </a:rPr>
              <a:t>K    </a:t>
            </a:r>
            <a:r>
              <a:rPr lang="zh-CN" altLang="en-US" dirty="0">
                <a:solidFill>
                  <a:srgbClr val="0000CC"/>
                </a:solidFill>
              </a:rPr>
              <a:t>凝血</a:t>
            </a:r>
            <a:r>
              <a:rPr lang="en-US" altLang="zh-CN" dirty="0">
                <a:solidFill>
                  <a:srgbClr val="0000CC"/>
                </a:solidFill>
              </a:rPr>
              <a:t>Vit         </a:t>
            </a:r>
            <a:r>
              <a:rPr lang="zh-CN" altLang="en-US" dirty="0"/>
              <a:t>激活凝血因子               凝血时间延长 </a:t>
            </a:r>
          </a:p>
          <a:p>
            <a:pPr eaLnBrk="1" hangingPunct="1">
              <a:lnSpc>
                <a:spcPct val="140000"/>
              </a:lnSpc>
              <a:buFontTx/>
              <a:buNone/>
            </a:pPr>
            <a:endParaRPr lang="zh-CN" altLang="en-US" b="1" dirty="0"/>
          </a:p>
        </p:txBody>
      </p:sp>
      <p:sp>
        <p:nvSpPr>
          <p:cNvPr id="89091" name="Line 3">
            <a:extLst>
              <a:ext uri="{FF2B5EF4-FFF2-40B4-BE49-F238E27FC236}">
                <a16:creationId xmlns:a16="http://schemas.microsoft.com/office/drawing/2014/main" id="{9FA5D2C6-7B61-4B25-9945-82B1594BD71D}"/>
              </a:ext>
            </a:extLst>
          </p:cNvPr>
          <p:cNvSpPr>
            <a:spLocks noChangeShapeType="1"/>
          </p:cNvSpPr>
          <p:nvPr/>
        </p:nvSpPr>
        <p:spPr bwMode="auto">
          <a:xfrm>
            <a:off x="1631950" y="1663700"/>
            <a:ext cx="8928100" cy="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pPr>
              <a:defRPr/>
            </a:pPr>
            <a:endParaRPr lang="zh-CN" altLang="en-US"/>
          </a:p>
        </p:txBody>
      </p:sp>
      <p:sp>
        <p:nvSpPr>
          <p:cNvPr id="89092" name="Line 4">
            <a:extLst>
              <a:ext uri="{FF2B5EF4-FFF2-40B4-BE49-F238E27FC236}">
                <a16:creationId xmlns:a16="http://schemas.microsoft.com/office/drawing/2014/main" id="{E2374FAF-0535-4531-AE06-C8116E3EC7C7}"/>
              </a:ext>
            </a:extLst>
          </p:cNvPr>
          <p:cNvSpPr>
            <a:spLocks noChangeShapeType="1"/>
          </p:cNvSpPr>
          <p:nvPr/>
        </p:nvSpPr>
        <p:spPr bwMode="auto">
          <a:xfrm>
            <a:off x="1631950" y="2348880"/>
            <a:ext cx="8928100" cy="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pPr>
              <a:defRPr/>
            </a:pPr>
            <a:endParaRPr lang="zh-CN" altLang="en-US"/>
          </a:p>
        </p:txBody>
      </p:sp>
      <p:sp>
        <p:nvSpPr>
          <p:cNvPr id="89093" name="Line 5">
            <a:extLst>
              <a:ext uri="{FF2B5EF4-FFF2-40B4-BE49-F238E27FC236}">
                <a16:creationId xmlns:a16="http://schemas.microsoft.com/office/drawing/2014/main" id="{823C9492-46F8-40E9-A9A9-9BD9DC676A5F}"/>
              </a:ext>
            </a:extLst>
          </p:cNvPr>
          <p:cNvSpPr>
            <a:spLocks noChangeShapeType="1"/>
          </p:cNvSpPr>
          <p:nvPr/>
        </p:nvSpPr>
        <p:spPr bwMode="auto">
          <a:xfrm>
            <a:off x="1619918" y="5373216"/>
            <a:ext cx="8928100" cy="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pPr>
              <a:defRPr/>
            </a:pPr>
            <a:endParaRPr lang="zh-CN" altLang="en-US"/>
          </a:p>
        </p:txBody>
      </p:sp>
      <p:sp>
        <p:nvSpPr>
          <p:cNvPr id="93190" name="Rectangle 6">
            <a:extLst>
              <a:ext uri="{FF2B5EF4-FFF2-40B4-BE49-F238E27FC236}">
                <a16:creationId xmlns:a16="http://schemas.microsoft.com/office/drawing/2014/main" id="{0A84C8FA-907E-4FA3-A275-1C0545855C6F}"/>
              </a:ext>
            </a:extLst>
          </p:cNvPr>
          <p:cNvSpPr>
            <a:spLocks noChangeArrowheads="1"/>
          </p:cNvSpPr>
          <p:nvPr/>
        </p:nvSpPr>
        <p:spPr bwMode="auto">
          <a:xfrm>
            <a:off x="4306888" y="588963"/>
            <a:ext cx="3841750" cy="8239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20000"/>
              </a:spcBef>
              <a:buFontTx/>
              <a:buNone/>
            </a:pPr>
            <a:r>
              <a:rPr kumimoji="0" lang="zh-CN" altLang="en-US" sz="4800" b="0">
                <a:solidFill>
                  <a:srgbClr val="FF3300"/>
                </a:solidFill>
                <a:latin typeface="Arial" panose="020B0604020202020204" pitchFamily="34" charset="0"/>
                <a:ea typeface="隶书" panose="02010509060101010101" pitchFamily="49" charset="-122"/>
                <a:cs typeface="楷体_GB2312" pitchFamily="49" charset="-122"/>
              </a:rPr>
              <a:t>脂溶性</a:t>
            </a:r>
            <a:r>
              <a:rPr kumimoji="0" lang="en-US" altLang="en-US" sz="4800" b="0">
                <a:solidFill>
                  <a:srgbClr val="FF3300"/>
                </a:solidFill>
                <a:latin typeface="Arial" panose="020B0604020202020204" pitchFamily="34" charset="0"/>
                <a:ea typeface="隶书" panose="02010509060101010101" pitchFamily="49" charset="-122"/>
                <a:cs typeface="楷体_GB2312" pitchFamily="49" charset="-122"/>
              </a:rPr>
              <a:t>维生素</a:t>
            </a: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4">
            <a:extLst>
              <a:ext uri="{FF2B5EF4-FFF2-40B4-BE49-F238E27FC236}">
                <a16:creationId xmlns:a16="http://schemas.microsoft.com/office/drawing/2014/main" id="{13BEA91A-92CE-4374-BF1B-5F4ACADAA6ED}"/>
              </a:ext>
            </a:extLst>
          </p:cNvPr>
          <p:cNvSpPr txBox="1">
            <a:spLocks noChangeArrowheads="1"/>
          </p:cNvSpPr>
          <p:nvPr/>
        </p:nvSpPr>
        <p:spPr bwMode="auto">
          <a:xfrm>
            <a:off x="1981200" y="820739"/>
            <a:ext cx="754380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buFontTx/>
              <a:buNone/>
            </a:pPr>
            <a:endParaRPr lang="zh-CN" altLang="zh-CN" sz="3200" b="0">
              <a:latin typeface="Times New Roman" panose="02020603050405020304" pitchFamily="18" charset="0"/>
              <a:ea typeface="楷体_GB2312" pitchFamily="49" charset="-122"/>
            </a:endParaRPr>
          </a:p>
        </p:txBody>
      </p:sp>
      <p:sp>
        <p:nvSpPr>
          <p:cNvPr id="94211" name="Rectangle 8">
            <a:extLst>
              <a:ext uri="{FF2B5EF4-FFF2-40B4-BE49-F238E27FC236}">
                <a16:creationId xmlns:a16="http://schemas.microsoft.com/office/drawing/2014/main" id="{5985B135-F49F-4E7E-992E-AAA314A9B9CB}"/>
              </a:ext>
            </a:extLst>
          </p:cNvPr>
          <p:cNvSpPr>
            <a:spLocks noGrp="1" noChangeArrowheads="1"/>
          </p:cNvSpPr>
          <p:nvPr>
            <p:ph type="title" idx="4294967295"/>
          </p:nvPr>
        </p:nvSpPr>
        <p:spPr>
          <a:xfrm>
            <a:off x="2964656" y="305150"/>
            <a:ext cx="6262687" cy="739775"/>
          </a:xfrm>
        </p:spPr>
        <p:txBody>
          <a:bodyPr/>
          <a:lstStyle/>
          <a:p>
            <a:pPr algn="ctr" eaLnBrk="1" hangingPunct="1"/>
            <a:r>
              <a:rPr lang="zh-CN" altLang="en-US" sz="3600" dirty="0">
                <a:solidFill>
                  <a:srgbClr val="C00000"/>
                </a:solidFill>
                <a:ea typeface="楷体_GB2312" pitchFamily="49" charset="-122"/>
              </a:rPr>
              <a:t>第二节 水溶性维生素</a:t>
            </a:r>
          </a:p>
        </p:txBody>
      </p:sp>
      <p:sp>
        <p:nvSpPr>
          <p:cNvPr id="94212" name="Rectangle 10">
            <a:extLst>
              <a:ext uri="{FF2B5EF4-FFF2-40B4-BE49-F238E27FC236}">
                <a16:creationId xmlns:a16="http://schemas.microsoft.com/office/drawing/2014/main" id="{3BF95FBC-7200-4311-B4FE-72AE9E329CD6}"/>
              </a:ext>
            </a:extLst>
          </p:cNvPr>
          <p:cNvSpPr>
            <a:spLocks noChangeArrowheads="1"/>
          </p:cNvSpPr>
          <p:nvPr/>
        </p:nvSpPr>
        <p:spPr bwMode="auto">
          <a:xfrm>
            <a:off x="2589213" y="1485901"/>
            <a:ext cx="7302500" cy="136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800100" indent="-34290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70000"/>
              </a:lnSpc>
              <a:spcBef>
                <a:spcPct val="50000"/>
              </a:spcBef>
              <a:buClr>
                <a:srgbClr val="3333CC"/>
              </a:buClr>
              <a:buSzPct val="80000"/>
              <a:buFont typeface="Wingdings" panose="05000000000000000000" pitchFamily="2" charset="2"/>
              <a:buChar char="l"/>
            </a:pPr>
            <a:r>
              <a:rPr lang="en-US" altLang="zh-CN" b="0">
                <a:latin typeface="Times New Roman" panose="02020603050405020304" pitchFamily="18" charset="0"/>
                <a:ea typeface="楷体_GB2312" pitchFamily="49" charset="-122"/>
              </a:rPr>
              <a:t>B</a:t>
            </a:r>
            <a:r>
              <a:rPr lang="zh-CN" altLang="en-US" b="0">
                <a:latin typeface="Times New Roman" panose="02020603050405020304" pitchFamily="18" charset="0"/>
                <a:ea typeface="楷体_GB2312" pitchFamily="49" charset="-122"/>
              </a:rPr>
              <a:t>族维生素：</a:t>
            </a:r>
            <a:r>
              <a:rPr lang="en-US" altLang="zh-CN" b="0">
                <a:latin typeface="Times New Roman" panose="02020603050405020304" pitchFamily="18" charset="0"/>
                <a:ea typeface="楷体_GB2312" pitchFamily="49" charset="-122"/>
              </a:rPr>
              <a:t>  </a:t>
            </a:r>
          </a:p>
          <a:p>
            <a:pPr lvl="1" eaLnBrk="1" hangingPunct="1">
              <a:lnSpc>
                <a:spcPct val="70000"/>
              </a:lnSpc>
              <a:spcBef>
                <a:spcPct val="50000"/>
              </a:spcBef>
              <a:buClr>
                <a:srgbClr val="3333CC"/>
              </a:buClr>
              <a:buSzPct val="80000"/>
              <a:buFont typeface="Wingdings" panose="05000000000000000000" pitchFamily="2" charset="2"/>
              <a:buChar char="l"/>
            </a:pPr>
            <a:r>
              <a:rPr lang="en-US" altLang="zh-CN" b="0">
                <a:latin typeface="Times New Roman" panose="02020603050405020304" pitchFamily="18" charset="0"/>
                <a:ea typeface="楷体_GB2312" pitchFamily="49" charset="-122"/>
              </a:rPr>
              <a:t>B</a:t>
            </a:r>
            <a:r>
              <a:rPr lang="en-US" altLang="zh-CN" b="0" baseline="-25000">
                <a:latin typeface="Times New Roman" panose="02020603050405020304" pitchFamily="18" charset="0"/>
                <a:ea typeface="楷体_GB2312" pitchFamily="49" charset="-122"/>
              </a:rPr>
              <a:t>1</a:t>
            </a:r>
            <a:r>
              <a:rPr lang="zh-CN" altLang="en-US" b="0">
                <a:latin typeface="Times New Roman" panose="02020603050405020304" pitchFamily="18" charset="0"/>
                <a:ea typeface="楷体_GB2312" pitchFamily="49" charset="-122"/>
              </a:rPr>
              <a:t>、</a:t>
            </a:r>
            <a:r>
              <a:rPr lang="en-US" altLang="zh-CN" b="0">
                <a:latin typeface="Times New Roman" panose="02020603050405020304" pitchFamily="18" charset="0"/>
                <a:ea typeface="楷体_GB2312" pitchFamily="49" charset="-122"/>
              </a:rPr>
              <a:t>B</a:t>
            </a:r>
            <a:r>
              <a:rPr lang="en-US" altLang="zh-CN" b="0" baseline="-25000">
                <a:latin typeface="Times New Roman" panose="02020603050405020304" pitchFamily="18" charset="0"/>
                <a:ea typeface="楷体_GB2312" pitchFamily="49" charset="-122"/>
              </a:rPr>
              <a:t>2</a:t>
            </a:r>
            <a:r>
              <a:rPr lang="zh-CN" altLang="en-US" b="0">
                <a:latin typeface="Times New Roman" panose="02020603050405020304" pitchFamily="18" charset="0"/>
                <a:ea typeface="楷体_GB2312" pitchFamily="49" charset="-122"/>
              </a:rPr>
              <a:t>、</a:t>
            </a:r>
            <a:r>
              <a:rPr lang="en-US" altLang="zh-CN" b="0">
                <a:latin typeface="Times New Roman" panose="02020603050405020304" pitchFamily="18" charset="0"/>
                <a:ea typeface="楷体_GB2312" pitchFamily="49" charset="-122"/>
              </a:rPr>
              <a:t>PP</a:t>
            </a:r>
            <a:r>
              <a:rPr lang="zh-CN" altLang="en-US" b="0">
                <a:latin typeface="Times New Roman" panose="02020603050405020304" pitchFamily="18" charset="0"/>
                <a:ea typeface="楷体_GB2312" pitchFamily="49" charset="-122"/>
              </a:rPr>
              <a:t>、泛酸、</a:t>
            </a:r>
            <a:r>
              <a:rPr lang="en-US" altLang="zh-CN" b="0">
                <a:latin typeface="Times New Roman" panose="02020603050405020304" pitchFamily="18" charset="0"/>
                <a:ea typeface="楷体_GB2312" pitchFamily="49" charset="-122"/>
              </a:rPr>
              <a:t>B</a:t>
            </a:r>
            <a:r>
              <a:rPr lang="en-US" altLang="zh-CN" b="0" baseline="-25000">
                <a:latin typeface="Times New Roman" panose="02020603050405020304" pitchFamily="18" charset="0"/>
                <a:ea typeface="楷体_GB2312" pitchFamily="49" charset="-122"/>
              </a:rPr>
              <a:t>6</a:t>
            </a:r>
            <a:r>
              <a:rPr lang="zh-CN" altLang="en-US" b="0">
                <a:latin typeface="Times New Roman" panose="02020603050405020304" pitchFamily="18" charset="0"/>
                <a:ea typeface="楷体_GB2312" pitchFamily="49" charset="-122"/>
              </a:rPr>
              <a:t>、生物素、叶酸、 </a:t>
            </a:r>
            <a:r>
              <a:rPr lang="en-US" altLang="zh-CN" b="0">
                <a:latin typeface="Times New Roman" panose="02020603050405020304" pitchFamily="18" charset="0"/>
                <a:ea typeface="楷体_GB2312" pitchFamily="49" charset="-122"/>
              </a:rPr>
              <a:t>B</a:t>
            </a:r>
            <a:r>
              <a:rPr lang="en-US" altLang="zh-CN" b="0" baseline="-25000">
                <a:latin typeface="Times New Roman" panose="02020603050405020304" pitchFamily="18" charset="0"/>
                <a:ea typeface="楷体_GB2312" pitchFamily="49" charset="-122"/>
              </a:rPr>
              <a:t>12</a:t>
            </a:r>
            <a:r>
              <a:rPr lang="zh-CN" altLang="en-US" b="0">
                <a:latin typeface="Times New Roman" panose="02020603050405020304" pitchFamily="18" charset="0"/>
                <a:ea typeface="楷体_GB2312" pitchFamily="49" charset="-122"/>
              </a:rPr>
              <a:t> </a:t>
            </a:r>
          </a:p>
          <a:p>
            <a:pPr eaLnBrk="1" hangingPunct="1">
              <a:lnSpc>
                <a:spcPct val="70000"/>
              </a:lnSpc>
              <a:spcBef>
                <a:spcPct val="50000"/>
              </a:spcBef>
              <a:buClr>
                <a:srgbClr val="3333CC"/>
              </a:buClr>
              <a:buSzPct val="80000"/>
              <a:buFont typeface="Wingdings" panose="05000000000000000000" pitchFamily="2" charset="2"/>
              <a:buChar char="l"/>
            </a:pPr>
            <a:r>
              <a:rPr lang="zh-CN" altLang="en-US" b="0">
                <a:latin typeface="Times New Roman" panose="02020603050405020304" pitchFamily="18" charset="0"/>
                <a:ea typeface="楷体_GB2312" pitchFamily="49" charset="-122"/>
              </a:rPr>
              <a:t>维生素</a:t>
            </a:r>
            <a:r>
              <a:rPr lang="en-US" altLang="zh-CN" b="0">
                <a:latin typeface="Times New Roman" panose="02020603050405020304" pitchFamily="18" charset="0"/>
                <a:ea typeface="楷体_GB2312" pitchFamily="49" charset="-122"/>
              </a:rPr>
              <a:t>C </a:t>
            </a:r>
          </a:p>
        </p:txBody>
      </p:sp>
      <p:pic>
        <p:nvPicPr>
          <p:cNvPr id="94213" name="图片 2">
            <a:extLst>
              <a:ext uri="{FF2B5EF4-FFF2-40B4-BE49-F238E27FC236}">
                <a16:creationId xmlns:a16="http://schemas.microsoft.com/office/drawing/2014/main" id="{DEECEDDD-DCC5-421C-BDC9-1D07A8E657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5866" y="3140968"/>
            <a:ext cx="8194631" cy="318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连接符 2">
            <a:extLst>
              <a:ext uri="{FF2B5EF4-FFF2-40B4-BE49-F238E27FC236}">
                <a16:creationId xmlns:a16="http://schemas.microsoft.com/office/drawing/2014/main" id="{110A594F-E21D-4D99-97F6-00834C35E25A}"/>
              </a:ext>
            </a:extLst>
          </p:cNvPr>
          <p:cNvCxnSpPr/>
          <p:nvPr/>
        </p:nvCxnSpPr>
        <p:spPr>
          <a:xfrm>
            <a:off x="4223792" y="4365104"/>
            <a:ext cx="3384376"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8" name="Text Box 3">
            <a:extLst>
              <a:ext uri="{FF2B5EF4-FFF2-40B4-BE49-F238E27FC236}">
                <a16:creationId xmlns:a16="http://schemas.microsoft.com/office/drawing/2014/main" id="{8723E9C1-3FDD-4B98-95AE-9480EC05B195}"/>
              </a:ext>
            </a:extLst>
          </p:cNvPr>
          <p:cNvSpPr txBox="1">
            <a:spLocks noChangeArrowheads="1"/>
          </p:cNvSpPr>
          <p:nvPr/>
        </p:nvSpPr>
        <p:spPr bwMode="auto">
          <a:xfrm>
            <a:off x="1981200" y="533400"/>
            <a:ext cx="754380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buFontTx/>
              <a:buNone/>
            </a:pPr>
            <a:endParaRPr lang="zh-CN" altLang="zh-CN" sz="3200">
              <a:latin typeface="Times New Roman" panose="02020603050405020304" pitchFamily="18" charset="0"/>
              <a:ea typeface="楷体_GB2312" pitchFamily="49" charset="-122"/>
            </a:endParaRPr>
          </a:p>
        </p:txBody>
      </p:sp>
      <p:sp>
        <p:nvSpPr>
          <p:cNvPr id="96259" name="Text Box 4">
            <a:extLst>
              <a:ext uri="{FF2B5EF4-FFF2-40B4-BE49-F238E27FC236}">
                <a16:creationId xmlns:a16="http://schemas.microsoft.com/office/drawing/2014/main" id="{D0816E95-B43C-46D0-A7B6-9A244383E4A7}"/>
              </a:ext>
            </a:extLst>
          </p:cNvPr>
          <p:cNvSpPr txBox="1">
            <a:spLocks noChangeArrowheads="1"/>
          </p:cNvSpPr>
          <p:nvPr/>
        </p:nvSpPr>
        <p:spPr bwMode="auto">
          <a:xfrm>
            <a:off x="2063751" y="1196975"/>
            <a:ext cx="79216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buFontTx/>
              <a:buNone/>
            </a:pPr>
            <a:r>
              <a:rPr lang="zh-CN" altLang="en-US">
                <a:latin typeface="Times New Roman" panose="02020603050405020304" pitchFamily="18" charset="0"/>
                <a:ea typeface="楷体_GB2312" pitchFamily="49" charset="-122"/>
              </a:rPr>
              <a:t>（一）</a:t>
            </a:r>
            <a:r>
              <a:rPr lang="zh-CN" altLang="en-US" sz="2400" b="0">
                <a:latin typeface="Times New Roman" panose="02020603050405020304" pitchFamily="18" charset="0"/>
                <a:ea typeface="楷体_GB2312" pitchFamily="49" charset="-122"/>
              </a:rPr>
              <a:t>化学本质：噻唑环和嘧啶环组成的化合物</a:t>
            </a:r>
          </a:p>
        </p:txBody>
      </p:sp>
      <p:sp>
        <p:nvSpPr>
          <p:cNvPr id="96260" name="Rectangle 7">
            <a:extLst>
              <a:ext uri="{FF2B5EF4-FFF2-40B4-BE49-F238E27FC236}">
                <a16:creationId xmlns:a16="http://schemas.microsoft.com/office/drawing/2014/main" id="{061ECBC6-78C8-4890-A07D-6FDF82198BC8}"/>
              </a:ext>
            </a:extLst>
          </p:cNvPr>
          <p:cNvSpPr>
            <a:spLocks noGrp="1" noChangeArrowheads="1"/>
          </p:cNvSpPr>
          <p:nvPr>
            <p:ph type="title" idx="4294967295"/>
          </p:nvPr>
        </p:nvSpPr>
        <p:spPr>
          <a:xfrm>
            <a:off x="1959782" y="18309"/>
            <a:ext cx="7772400" cy="1143000"/>
          </a:xfrm>
        </p:spPr>
        <p:txBody>
          <a:bodyPr/>
          <a:lstStyle/>
          <a:p>
            <a:pPr eaLnBrk="1" hangingPunct="1"/>
            <a:r>
              <a:rPr lang="zh-CN" altLang="en-US" sz="3200" b="1" dirty="0">
                <a:solidFill>
                  <a:srgbClr val="C00000"/>
                </a:solidFill>
                <a:ea typeface="楷体_GB2312" pitchFamily="49" charset="-122"/>
              </a:rPr>
              <a:t>一、维生素 </a:t>
            </a:r>
            <a:r>
              <a:rPr lang="en-US" altLang="zh-CN" sz="3200" b="1" dirty="0">
                <a:solidFill>
                  <a:srgbClr val="C00000"/>
                </a:solidFill>
                <a:ea typeface="楷体_GB2312" pitchFamily="49" charset="-122"/>
              </a:rPr>
              <a:t>B</a:t>
            </a:r>
            <a:r>
              <a:rPr lang="en-US" altLang="zh-CN" sz="3200" b="1" baseline="-25000" dirty="0">
                <a:solidFill>
                  <a:srgbClr val="C00000"/>
                </a:solidFill>
                <a:ea typeface="楷体_GB2312" pitchFamily="49" charset="-122"/>
              </a:rPr>
              <a:t>1</a:t>
            </a:r>
            <a:r>
              <a:rPr lang="en-US" altLang="zh-CN" sz="3200" b="1" dirty="0">
                <a:solidFill>
                  <a:srgbClr val="C00000"/>
                </a:solidFill>
                <a:ea typeface="楷体_GB2312" pitchFamily="49" charset="-122"/>
              </a:rPr>
              <a:t>      </a:t>
            </a:r>
            <a:r>
              <a:rPr lang="zh-CN" altLang="en-US" sz="2400" dirty="0">
                <a:latin typeface="微软雅黑" panose="020B0503020204020204" pitchFamily="34" charset="-122"/>
                <a:ea typeface="微软雅黑" panose="020B0503020204020204" pitchFamily="34" charset="-122"/>
              </a:rPr>
              <a:t>别名：</a:t>
            </a:r>
            <a:r>
              <a:rPr lang="zh-CN" altLang="en-US" sz="2400" dirty="0">
                <a:solidFill>
                  <a:srgbClr val="C00000"/>
                </a:solidFill>
                <a:latin typeface="微软雅黑" panose="020B0503020204020204" pitchFamily="34" charset="-122"/>
                <a:ea typeface="微软雅黑" panose="020B0503020204020204" pitchFamily="34" charset="-122"/>
              </a:rPr>
              <a:t>硫胺素</a:t>
            </a:r>
            <a:r>
              <a:rPr lang="zh-CN" altLang="en-US" sz="2400" dirty="0">
                <a:latin typeface="微软雅黑" panose="020B0503020204020204" pitchFamily="34" charset="-122"/>
                <a:ea typeface="微软雅黑" panose="020B0503020204020204" pitchFamily="34" charset="-122"/>
              </a:rPr>
              <a:t>、</a:t>
            </a:r>
            <a:r>
              <a:rPr lang="zh-CN" altLang="en-US" sz="2400" dirty="0">
                <a:solidFill>
                  <a:srgbClr val="C00000"/>
                </a:solidFill>
                <a:latin typeface="微软雅黑" panose="020B0503020204020204" pitchFamily="34" charset="-122"/>
                <a:ea typeface="微软雅黑" panose="020B0503020204020204" pitchFamily="34" charset="-122"/>
              </a:rPr>
              <a:t>抗脚气病维生素</a:t>
            </a:r>
          </a:p>
        </p:txBody>
      </p:sp>
      <p:grpSp>
        <p:nvGrpSpPr>
          <p:cNvPr id="4" name="Group 162">
            <a:extLst>
              <a:ext uri="{FF2B5EF4-FFF2-40B4-BE49-F238E27FC236}">
                <a16:creationId xmlns:a16="http://schemas.microsoft.com/office/drawing/2014/main" id="{08085144-3242-4A85-A074-73CA1CA6C2BB}"/>
              </a:ext>
            </a:extLst>
          </p:cNvPr>
          <p:cNvGrpSpPr>
            <a:grpSpLocks/>
          </p:cNvGrpSpPr>
          <p:nvPr/>
        </p:nvGrpSpPr>
        <p:grpSpPr bwMode="auto">
          <a:xfrm>
            <a:off x="2495600" y="5229224"/>
            <a:ext cx="7921625" cy="1003300"/>
            <a:chOff x="816" y="3220"/>
            <a:chExt cx="4153" cy="632"/>
          </a:xfrm>
        </p:grpSpPr>
        <p:sp>
          <p:nvSpPr>
            <p:cNvPr id="96264" name="Rectangle 159">
              <a:extLst>
                <a:ext uri="{FF2B5EF4-FFF2-40B4-BE49-F238E27FC236}">
                  <a16:creationId xmlns:a16="http://schemas.microsoft.com/office/drawing/2014/main" id="{3F7727D1-5408-4428-AECB-D09E1A634B16}"/>
                </a:ext>
              </a:extLst>
            </p:cNvPr>
            <p:cNvSpPr>
              <a:spLocks noChangeArrowheads="1"/>
            </p:cNvSpPr>
            <p:nvPr/>
          </p:nvSpPr>
          <p:spPr bwMode="auto">
            <a:xfrm>
              <a:off x="816" y="3220"/>
              <a:ext cx="1905"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zh-CN" altLang="en-US" sz="2400" dirty="0">
                  <a:solidFill>
                    <a:srgbClr val="3333CC"/>
                  </a:solidFill>
                  <a:latin typeface="Times New Roman" panose="02020603050405020304" pitchFamily="18" charset="0"/>
                  <a:ea typeface="楷体_GB2312" pitchFamily="49" charset="-122"/>
                </a:rPr>
                <a:t>维生素</a:t>
              </a:r>
              <a:r>
                <a:rPr lang="en-US" altLang="zh-CN" sz="2400" dirty="0">
                  <a:solidFill>
                    <a:srgbClr val="3333CC"/>
                  </a:solidFill>
                  <a:latin typeface="Times New Roman" panose="02020603050405020304" pitchFamily="18" charset="0"/>
                  <a:ea typeface="楷体_GB2312" pitchFamily="49" charset="-122"/>
                </a:rPr>
                <a:t>B</a:t>
              </a:r>
              <a:r>
                <a:rPr lang="en-US" altLang="zh-CN" sz="2400" baseline="-25000" dirty="0">
                  <a:solidFill>
                    <a:srgbClr val="3333CC"/>
                  </a:solidFill>
                  <a:latin typeface="Times New Roman" panose="02020603050405020304" pitchFamily="18" charset="0"/>
                  <a:ea typeface="楷体_GB2312" pitchFamily="49" charset="-122"/>
                </a:rPr>
                <a:t>1</a:t>
              </a:r>
              <a:r>
                <a:rPr lang="zh-CN" altLang="en-US" sz="2400" dirty="0">
                  <a:solidFill>
                    <a:srgbClr val="3333CC"/>
                  </a:solidFill>
                  <a:latin typeface="Times New Roman" panose="02020603050405020304" pitchFamily="18" charset="0"/>
                  <a:ea typeface="楷体_GB2312" pitchFamily="49" charset="-122"/>
                </a:rPr>
                <a:t>食物来源：</a:t>
              </a:r>
            </a:p>
          </p:txBody>
        </p:sp>
        <p:sp>
          <p:nvSpPr>
            <p:cNvPr id="73737" name="Rectangle 160">
              <a:extLst>
                <a:ext uri="{FF2B5EF4-FFF2-40B4-BE49-F238E27FC236}">
                  <a16:creationId xmlns:a16="http://schemas.microsoft.com/office/drawing/2014/main" id="{EE20BA11-7F80-409D-B087-A4EFDD34B94F}"/>
                </a:ext>
              </a:extLst>
            </p:cNvPr>
            <p:cNvSpPr>
              <a:spLocks noChangeArrowheads="1"/>
            </p:cNvSpPr>
            <p:nvPr/>
          </p:nvSpPr>
          <p:spPr bwMode="auto">
            <a:xfrm>
              <a:off x="995" y="3522"/>
              <a:ext cx="3974" cy="330"/>
            </a:xfrm>
            <a:prstGeom prst="rect">
              <a:avLst/>
            </a:prstGeom>
            <a:noFill/>
            <a:ln>
              <a:noFill/>
            </a:ln>
          </p:spPr>
          <p:txBody>
            <a:bodyPr/>
            <a:lstStyle>
              <a:lvl1pPr marL="571500" indent="-5715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indent="0" eaLnBrk="1" hangingPunct="1">
                <a:buNone/>
                <a:defRPr/>
              </a:pPr>
              <a:r>
                <a:rPr lang="zh-CN" altLang="en-US" sz="2400" b="0" dirty="0">
                  <a:ea typeface="楷体_GB2312"/>
                  <a:cs typeface="楷体_GB2312"/>
                </a:rPr>
                <a:t>动物内脏、瘦肉、花生、豆类及</a:t>
              </a:r>
              <a:r>
                <a:rPr lang="zh-CN" altLang="en-US" sz="2400" b="0" dirty="0">
                  <a:solidFill>
                    <a:srgbClr val="0000CC"/>
                  </a:solidFill>
                  <a:ea typeface="楷体_GB2312"/>
                  <a:cs typeface="楷体_GB2312"/>
                </a:rPr>
                <a:t>种子外皮、胚芽</a:t>
              </a:r>
            </a:p>
          </p:txBody>
        </p:sp>
      </p:grpSp>
      <p:pic>
        <p:nvPicPr>
          <p:cNvPr id="96262" name="图片 4">
            <a:extLst>
              <a:ext uri="{FF2B5EF4-FFF2-40B4-BE49-F238E27FC236}">
                <a16:creationId xmlns:a16="http://schemas.microsoft.com/office/drawing/2014/main" id="{193DC494-D5B1-4738-96A5-B6DB18DF3CE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63900" y="2345401"/>
            <a:ext cx="5521325" cy="245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3" name="矩形 5">
            <a:extLst>
              <a:ext uri="{FF2B5EF4-FFF2-40B4-BE49-F238E27FC236}">
                <a16:creationId xmlns:a16="http://schemas.microsoft.com/office/drawing/2014/main" id="{5E4C42AC-55AB-47C7-AF41-A5B556625B3A}"/>
              </a:ext>
            </a:extLst>
          </p:cNvPr>
          <p:cNvSpPr>
            <a:spLocks noChangeArrowheads="1"/>
          </p:cNvSpPr>
          <p:nvPr/>
        </p:nvSpPr>
        <p:spPr bwMode="auto">
          <a:xfrm>
            <a:off x="3109913" y="1628776"/>
            <a:ext cx="58658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dirty="0">
                <a:latin typeface="Times New Roman" panose="02020603050405020304" pitchFamily="18" charset="0"/>
                <a:ea typeface="楷体_GB2312" pitchFamily="49" charset="-122"/>
              </a:rPr>
              <a:t>活性形式为</a:t>
            </a:r>
            <a:r>
              <a:rPr lang="zh-CN" altLang="en-US" dirty="0">
                <a:solidFill>
                  <a:srgbClr val="C00000"/>
                </a:solidFill>
                <a:latin typeface="Times New Roman" panose="02020603050405020304" pitchFamily="18" charset="0"/>
                <a:ea typeface="楷体_GB2312" pitchFamily="49" charset="-122"/>
              </a:rPr>
              <a:t>焦磷酸硫胺素 </a:t>
            </a:r>
            <a:r>
              <a:rPr lang="en-US" altLang="zh-CN" dirty="0">
                <a:solidFill>
                  <a:srgbClr val="C00000"/>
                </a:solidFill>
                <a:latin typeface="Times New Roman" panose="02020603050405020304" pitchFamily="18" charset="0"/>
                <a:ea typeface="楷体_GB2312" pitchFamily="49" charset="-122"/>
              </a:rPr>
              <a:t>(TPP)</a:t>
            </a: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4" name="Text Box 8">
            <a:extLst>
              <a:ext uri="{FF2B5EF4-FFF2-40B4-BE49-F238E27FC236}">
                <a16:creationId xmlns:a16="http://schemas.microsoft.com/office/drawing/2014/main" id="{8FE62BE8-14E5-4432-B9BD-3825888C103B}"/>
              </a:ext>
            </a:extLst>
          </p:cNvPr>
          <p:cNvSpPr txBox="1">
            <a:spLocks noChangeArrowheads="1"/>
          </p:cNvSpPr>
          <p:nvPr/>
        </p:nvSpPr>
        <p:spPr bwMode="auto">
          <a:xfrm>
            <a:off x="1991544" y="592810"/>
            <a:ext cx="8640762" cy="2305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buFontTx/>
              <a:buNone/>
            </a:pPr>
            <a:r>
              <a:rPr lang="zh-CN" altLang="en-US" sz="3200" dirty="0">
                <a:solidFill>
                  <a:srgbClr val="3333CC"/>
                </a:solidFill>
                <a:latin typeface="楷体_GB2312" pitchFamily="49" charset="-122"/>
                <a:ea typeface="楷体_GB2312" pitchFamily="49" charset="-122"/>
              </a:rPr>
              <a:t>（二）维生素 </a:t>
            </a:r>
            <a:r>
              <a:rPr lang="en-US" altLang="zh-CN" sz="3200" dirty="0">
                <a:solidFill>
                  <a:srgbClr val="3333CC"/>
                </a:solidFill>
                <a:latin typeface="Times New Roman" panose="02020603050405020304" pitchFamily="18" charset="0"/>
                <a:ea typeface="楷体_GB2312" pitchFamily="49" charset="-122"/>
              </a:rPr>
              <a:t>B</a:t>
            </a:r>
            <a:r>
              <a:rPr lang="en-US" altLang="zh-CN" sz="3200" baseline="-25000" dirty="0">
                <a:solidFill>
                  <a:srgbClr val="3333CC"/>
                </a:solidFill>
                <a:latin typeface="Times New Roman" panose="02020603050405020304" pitchFamily="18" charset="0"/>
                <a:ea typeface="楷体_GB2312" pitchFamily="49" charset="-122"/>
              </a:rPr>
              <a:t>1</a:t>
            </a:r>
            <a:r>
              <a:rPr lang="zh-CN" altLang="en-US" sz="3200" dirty="0">
                <a:solidFill>
                  <a:srgbClr val="3333CC"/>
                </a:solidFill>
                <a:latin typeface="Times New Roman" panose="02020603050405020304" pitchFamily="18" charset="0"/>
                <a:ea typeface="楷体_GB2312" pitchFamily="49" charset="-122"/>
              </a:rPr>
              <a:t>主要参与能量代谢</a:t>
            </a:r>
            <a:endParaRPr lang="en-US" altLang="zh-CN" sz="3200" dirty="0">
              <a:solidFill>
                <a:srgbClr val="3333CC"/>
              </a:solidFill>
              <a:latin typeface="Times New Roman" panose="02020603050405020304" pitchFamily="18" charset="0"/>
              <a:ea typeface="楷体_GB2312" pitchFamily="49" charset="-122"/>
            </a:endParaRPr>
          </a:p>
          <a:p>
            <a:pPr eaLnBrk="1" hangingPunct="1">
              <a:lnSpc>
                <a:spcPct val="110000"/>
              </a:lnSpc>
              <a:spcBef>
                <a:spcPct val="50000"/>
              </a:spcBef>
              <a:buFontTx/>
              <a:buNone/>
            </a:pPr>
            <a:r>
              <a:rPr lang="zh-CN" altLang="en-US" sz="2600" b="0" dirty="0">
                <a:latin typeface="楷体_GB2312" pitchFamily="49" charset="-122"/>
                <a:ea typeface="楷体_GB2312" pitchFamily="49" charset="-122"/>
              </a:rPr>
              <a:t>   </a:t>
            </a:r>
            <a:r>
              <a:rPr lang="en-US" altLang="zh-CN" sz="2600" b="0" dirty="0">
                <a:latin typeface="Times New Roman" panose="02020603050405020304" pitchFamily="18" charset="0"/>
                <a:ea typeface="楷体_GB2312" pitchFamily="49" charset="-122"/>
              </a:rPr>
              <a:t>1</a:t>
            </a:r>
            <a:r>
              <a:rPr lang="zh-CN" altLang="en-US" sz="2600" b="0" dirty="0">
                <a:latin typeface="Times New Roman" panose="02020603050405020304" pitchFamily="18" charset="0"/>
                <a:ea typeface="楷体_GB2312" pitchFamily="49" charset="-122"/>
              </a:rPr>
              <a:t>、</a:t>
            </a:r>
            <a:r>
              <a:rPr lang="en-US" altLang="zh-CN" sz="2600" b="0" dirty="0">
                <a:latin typeface="Times New Roman" panose="02020603050405020304" pitchFamily="18" charset="0"/>
                <a:ea typeface="楷体_GB2312" pitchFamily="49" charset="-122"/>
              </a:rPr>
              <a:t>TPP</a:t>
            </a:r>
            <a:r>
              <a:rPr lang="zh-CN" altLang="en-US" sz="2600" b="0" dirty="0">
                <a:latin typeface="Times New Roman" panose="02020603050405020304" pitchFamily="18" charset="0"/>
                <a:ea typeface="楷体_GB2312" pitchFamily="49" charset="-122"/>
              </a:rPr>
              <a:t>作为</a:t>
            </a:r>
            <a:r>
              <a:rPr lang="en-US" altLang="zh-CN" sz="2600" b="0" dirty="0">
                <a:solidFill>
                  <a:srgbClr val="C00000"/>
                </a:solidFill>
                <a:latin typeface="Times New Roman" panose="02020603050405020304" pitchFamily="18" charset="0"/>
                <a:ea typeface="楷体_GB2312" pitchFamily="49" charset="-122"/>
              </a:rPr>
              <a:t>α-</a:t>
            </a:r>
            <a:r>
              <a:rPr lang="zh-CN" altLang="en-US" sz="2600" b="0" dirty="0">
                <a:solidFill>
                  <a:srgbClr val="C00000"/>
                </a:solidFill>
                <a:latin typeface="Times New Roman" panose="02020603050405020304" pitchFamily="18" charset="0"/>
                <a:ea typeface="楷体_GB2312" pitchFamily="49" charset="-122"/>
              </a:rPr>
              <a:t>酮酸氧化脱羧酶</a:t>
            </a:r>
            <a:r>
              <a:rPr lang="zh-CN" altLang="en-US" sz="2600" b="0" dirty="0">
                <a:solidFill>
                  <a:schemeClr val="tx1">
                    <a:lumMod val="95000"/>
                    <a:lumOff val="5000"/>
                  </a:schemeClr>
                </a:solidFill>
                <a:latin typeface="Times New Roman" panose="02020603050405020304" pitchFamily="18" charset="0"/>
                <a:ea typeface="楷体_GB2312" pitchFamily="49" charset="-122"/>
              </a:rPr>
              <a:t>以及</a:t>
            </a:r>
            <a:r>
              <a:rPr lang="zh-CN" altLang="en-US" sz="2600" b="0" dirty="0">
                <a:solidFill>
                  <a:srgbClr val="C00000"/>
                </a:solidFill>
                <a:latin typeface="Times New Roman" panose="02020603050405020304" pitchFamily="18" charset="0"/>
                <a:ea typeface="楷体_GB2312" pitchFamily="49" charset="-122"/>
              </a:rPr>
              <a:t>转酮醇酶的辅酶</a:t>
            </a:r>
            <a:r>
              <a:rPr lang="zh-CN" altLang="en-US" sz="2600" b="0" dirty="0">
                <a:latin typeface="Times New Roman" panose="02020603050405020304" pitchFamily="18" charset="0"/>
                <a:ea typeface="楷体_GB2312" pitchFamily="49" charset="-122"/>
              </a:rPr>
              <a:t>。    </a:t>
            </a:r>
          </a:p>
          <a:p>
            <a:pPr eaLnBrk="1" hangingPunct="1">
              <a:lnSpc>
                <a:spcPct val="100000"/>
              </a:lnSpc>
              <a:spcBef>
                <a:spcPct val="50000"/>
              </a:spcBef>
              <a:buFontTx/>
              <a:buNone/>
            </a:pPr>
            <a:r>
              <a:rPr lang="zh-CN" altLang="en-US" sz="2600" b="0" dirty="0">
                <a:latin typeface="Times New Roman" panose="02020603050405020304" pitchFamily="18" charset="0"/>
                <a:ea typeface="楷体_GB2312" pitchFamily="49" charset="-122"/>
              </a:rPr>
              <a:t>    </a:t>
            </a:r>
            <a:r>
              <a:rPr lang="en-US" altLang="zh-CN" sz="2600" b="0" dirty="0">
                <a:latin typeface="Times New Roman" panose="02020603050405020304" pitchFamily="18" charset="0"/>
                <a:ea typeface="楷体_GB2312" pitchFamily="49" charset="-122"/>
              </a:rPr>
              <a:t>2</a:t>
            </a:r>
            <a:r>
              <a:rPr lang="zh-CN" altLang="en-US" sz="2600" b="0" dirty="0">
                <a:latin typeface="Times New Roman" panose="02020603050405020304" pitchFamily="18" charset="0"/>
                <a:ea typeface="楷体_GB2312" pitchFamily="49" charset="-122"/>
              </a:rPr>
              <a:t>、</a:t>
            </a:r>
            <a:r>
              <a:rPr lang="zh-CN" altLang="en-US" sz="2600" dirty="0">
                <a:latin typeface="Times New Roman" panose="02020603050405020304" pitchFamily="18" charset="0"/>
                <a:ea typeface="楷体_GB2312" pitchFamily="49" charset="-122"/>
              </a:rPr>
              <a:t>抑制胆碱酯酶的活性</a:t>
            </a:r>
            <a:br>
              <a:rPr lang="zh-CN" altLang="en-US" dirty="0">
                <a:latin typeface="Times New Roman" panose="02020603050405020304" pitchFamily="18" charset="0"/>
                <a:ea typeface="楷体_GB2312" pitchFamily="49" charset="-122"/>
              </a:rPr>
            </a:br>
            <a:endParaRPr lang="zh-CN" altLang="en-US" dirty="0">
              <a:latin typeface="楷体_GB2312" pitchFamily="49" charset="-122"/>
              <a:ea typeface="宋体" panose="02010600030101010101" pitchFamily="2" charset="-122"/>
            </a:endParaRPr>
          </a:p>
        </p:txBody>
      </p:sp>
      <p:sp>
        <p:nvSpPr>
          <p:cNvPr id="24587" name="Text Box 11">
            <a:extLst>
              <a:ext uri="{FF2B5EF4-FFF2-40B4-BE49-F238E27FC236}">
                <a16:creationId xmlns:a16="http://schemas.microsoft.com/office/drawing/2014/main" id="{77695BE0-C936-4C92-B0EB-05BBF9FA6C8D}"/>
              </a:ext>
            </a:extLst>
          </p:cNvPr>
          <p:cNvSpPr txBox="1">
            <a:spLocks noChangeArrowheads="1"/>
          </p:cNvSpPr>
          <p:nvPr/>
        </p:nvSpPr>
        <p:spPr bwMode="auto">
          <a:xfrm>
            <a:off x="2372815" y="2866795"/>
            <a:ext cx="571976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lang="zh-CN" altLang="en-US" b="0" dirty="0">
                <a:latin typeface="Times New Roman" panose="02020603050405020304" pitchFamily="18" charset="0"/>
                <a:ea typeface="楷体_GB2312" pitchFamily="49" charset="-122"/>
              </a:rPr>
              <a:t>成人每日需要量</a:t>
            </a:r>
            <a:r>
              <a:rPr lang="en-US" altLang="zh-CN" b="0" dirty="0">
                <a:latin typeface="Times New Roman" panose="02020603050405020304" pitchFamily="18" charset="0"/>
                <a:ea typeface="楷体_GB2312" pitchFamily="49" charset="-122"/>
              </a:rPr>
              <a:t>1.2</a:t>
            </a:r>
            <a:r>
              <a:rPr lang="zh-CN" altLang="en-US" b="0" dirty="0">
                <a:latin typeface="Times New Roman" panose="02020603050405020304" pitchFamily="18" charset="0"/>
                <a:ea typeface="楷体_GB2312" pitchFamily="49" charset="-122"/>
              </a:rPr>
              <a:t>～</a:t>
            </a:r>
            <a:r>
              <a:rPr lang="en-US" altLang="zh-CN" b="0" dirty="0">
                <a:latin typeface="Times New Roman" panose="02020603050405020304" pitchFamily="18" charset="0"/>
                <a:ea typeface="楷体_GB2312" pitchFamily="49" charset="-122"/>
              </a:rPr>
              <a:t>1.5mg</a:t>
            </a:r>
            <a:endParaRPr lang="zh-CN" altLang="en-US" b="0" dirty="0">
              <a:latin typeface="仿宋_GB2312" pitchFamily="49" charset="-122"/>
              <a:ea typeface="仿宋_GB2312" pitchFamily="49" charset="-122"/>
            </a:endParaRPr>
          </a:p>
        </p:txBody>
      </p:sp>
      <p:sp>
        <p:nvSpPr>
          <p:cNvPr id="24590" name="Text Box 14">
            <a:extLst>
              <a:ext uri="{FF2B5EF4-FFF2-40B4-BE49-F238E27FC236}">
                <a16:creationId xmlns:a16="http://schemas.microsoft.com/office/drawing/2014/main" id="{3D1D3D72-B51C-4B15-9656-7F3209F4C158}"/>
              </a:ext>
            </a:extLst>
          </p:cNvPr>
          <p:cNvSpPr txBox="1">
            <a:spLocks noChangeArrowheads="1"/>
          </p:cNvSpPr>
          <p:nvPr/>
        </p:nvSpPr>
        <p:spPr bwMode="auto">
          <a:xfrm>
            <a:off x="2351584" y="3645024"/>
            <a:ext cx="8856984" cy="2916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lang="en-US" altLang="zh-CN" b="0" dirty="0">
                <a:latin typeface="微软雅黑" panose="020B0503020204020204" pitchFamily="34" charset="-122"/>
                <a:ea typeface="微软雅黑" panose="020B0503020204020204" pitchFamily="34" charset="-122"/>
              </a:rPr>
              <a:t>B</a:t>
            </a:r>
            <a:r>
              <a:rPr lang="en-US" altLang="zh-CN" b="0" baseline="-2500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缺乏可致</a:t>
            </a:r>
            <a:r>
              <a:rPr lang="zh-CN" altLang="en-US" b="0" dirty="0">
                <a:solidFill>
                  <a:srgbClr val="C00000"/>
                </a:solidFill>
                <a:latin typeface="微软雅黑" panose="020B0503020204020204" pitchFamily="34" charset="-122"/>
                <a:ea typeface="微软雅黑" panose="020B0503020204020204" pitchFamily="34" charset="-122"/>
              </a:rPr>
              <a:t>脚气病</a:t>
            </a:r>
            <a:r>
              <a:rPr lang="en-US" altLang="zh-CN" b="0" dirty="0">
                <a:solidFill>
                  <a:srgbClr val="C00000"/>
                </a:solidFill>
                <a:latin typeface="微软雅黑" panose="020B0503020204020204" pitchFamily="34" charset="-122"/>
                <a:ea typeface="微软雅黑" panose="020B0503020204020204" pitchFamily="34" charset="-122"/>
              </a:rPr>
              <a:t>(beriberi)</a:t>
            </a:r>
            <a:r>
              <a:rPr lang="zh-CN" altLang="en-US" b="0" dirty="0">
                <a:latin typeface="微软雅黑" panose="020B0503020204020204" pitchFamily="34" charset="-122"/>
                <a:ea typeface="微软雅黑" panose="020B0503020204020204" pitchFamily="34" charset="-122"/>
              </a:rPr>
              <a:t>，有多种类型。</a:t>
            </a:r>
            <a:endParaRPr lang="en-US" altLang="zh-CN" b="0" dirty="0">
              <a:latin typeface="微软雅黑" panose="020B0503020204020204" pitchFamily="34" charset="-122"/>
              <a:ea typeface="微软雅黑" panose="020B0503020204020204" pitchFamily="34" charset="-122"/>
            </a:endParaRPr>
          </a:p>
          <a:p>
            <a:pPr eaLnBrk="1" hangingPunct="1">
              <a:lnSpc>
                <a:spcPct val="100000"/>
              </a:lnSpc>
              <a:spcBef>
                <a:spcPct val="50000"/>
              </a:spcBef>
              <a:buFontTx/>
              <a:buNone/>
            </a:pPr>
            <a:r>
              <a:rPr lang="en-US" altLang="zh-CN" sz="2000" b="0" dirty="0">
                <a:latin typeface="微软雅黑" panose="020B0503020204020204" pitchFamily="34" charset="-122"/>
                <a:ea typeface="微软雅黑" panose="020B0503020204020204" pitchFamily="34" charset="-122"/>
              </a:rPr>
              <a:t>B</a:t>
            </a:r>
            <a:r>
              <a:rPr lang="en-US" altLang="zh-CN" sz="2000" b="0" baseline="-25000" dirty="0">
                <a:latin typeface="微软雅黑" panose="020B0503020204020204" pitchFamily="34" charset="-122"/>
                <a:ea typeface="微软雅黑" panose="020B0503020204020204" pitchFamily="34" charset="-122"/>
              </a:rPr>
              <a:t>1 </a:t>
            </a:r>
            <a:r>
              <a:rPr lang="zh-CN" altLang="en-US" sz="2000" b="0" dirty="0">
                <a:latin typeface="微软雅黑" panose="020B0503020204020204" pitchFamily="34" charset="-122"/>
                <a:ea typeface="微软雅黑" panose="020B0503020204020204" pitchFamily="34" charset="-122"/>
              </a:rPr>
              <a:t>缺乏时，丙酮酸等氧化脱羧反应受阻，使</a:t>
            </a:r>
            <a:r>
              <a:rPr lang="zh-CN" altLang="en-US" sz="2000" dirty="0">
                <a:latin typeface="微软雅黑" panose="020B0503020204020204" pitchFamily="34" charset="-122"/>
                <a:ea typeface="微软雅黑" panose="020B0503020204020204" pitchFamily="34" charset="-122"/>
              </a:rPr>
              <a:t>神经组织供能不足</a:t>
            </a:r>
            <a:r>
              <a:rPr lang="zh-CN" altLang="en-US" sz="2000" b="0" dirty="0">
                <a:latin typeface="微软雅黑" panose="020B0503020204020204" pitchFamily="34" charset="-122"/>
                <a:ea typeface="微软雅黑" panose="020B0503020204020204" pitchFamily="34" charset="-122"/>
              </a:rPr>
              <a:t>以及神经细胞膜髓鞘磷脂合成受阻，导致</a:t>
            </a:r>
            <a:r>
              <a:rPr lang="zh-CN" altLang="en-US" sz="2000" dirty="0">
                <a:latin typeface="微软雅黑" panose="020B0503020204020204" pitchFamily="34" charset="-122"/>
                <a:ea typeface="微软雅黑" panose="020B0503020204020204" pitchFamily="34" charset="-122"/>
              </a:rPr>
              <a:t>慢性末梢神经炎</a:t>
            </a:r>
            <a:r>
              <a:rPr lang="zh-CN" altLang="en-US" sz="2000" b="0" dirty="0">
                <a:latin typeface="微软雅黑" panose="020B0503020204020204" pitchFamily="34" charset="-122"/>
                <a:ea typeface="微软雅黑" panose="020B0503020204020204" pitchFamily="34" charset="-122"/>
              </a:rPr>
              <a:t>和其他神经肌肉变性病变。 </a:t>
            </a:r>
            <a:endParaRPr lang="en-US" altLang="zh-CN" b="0" dirty="0">
              <a:latin typeface="微软雅黑" panose="020B0503020204020204" pitchFamily="34" charset="-122"/>
              <a:ea typeface="微软雅黑" panose="020B0503020204020204" pitchFamily="34" charset="-122"/>
            </a:endParaRPr>
          </a:p>
          <a:p>
            <a:pPr eaLnBrk="1" hangingPunct="1">
              <a:lnSpc>
                <a:spcPct val="100000"/>
              </a:lnSpc>
              <a:spcBef>
                <a:spcPct val="50000"/>
              </a:spcBef>
              <a:buFontTx/>
              <a:buNone/>
            </a:pPr>
            <a:r>
              <a:rPr lang="zh-CN" altLang="en-US" sz="2600" b="0" dirty="0">
                <a:latin typeface="微软雅黑" panose="020B0503020204020204" pitchFamily="34" charset="-122"/>
                <a:ea typeface="微软雅黑" panose="020B0503020204020204" pitchFamily="34" charset="-122"/>
              </a:rPr>
              <a:t>我国现已少见，边少穷地区偶有。</a:t>
            </a:r>
            <a:endParaRPr lang="en-US" altLang="zh-CN" sz="2600" b="0" dirty="0">
              <a:latin typeface="微软雅黑" panose="020B0503020204020204" pitchFamily="34" charset="-122"/>
              <a:ea typeface="微软雅黑" panose="020B0503020204020204" pitchFamily="34" charset="-122"/>
            </a:endParaRPr>
          </a:p>
          <a:p>
            <a:pPr>
              <a:lnSpc>
                <a:spcPct val="120000"/>
              </a:lnSpc>
              <a:buNone/>
            </a:pPr>
            <a:r>
              <a:rPr lang="zh-CN" altLang="en-US" sz="2400" b="0" dirty="0">
                <a:latin typeface="微软雅黑" panose="020B0503020204020204" pitchFamily="34" charset="-122"/>
                <a:ea typeface="微软雅黑" panose="020B0503020204020204" pitchFamily="34" charset="-122"/>
              </a:rPr>
              <a:t>以下情况可能</a:t>
            </a:r>
            <a:r>
              <a:rPr lang="en-US" altLang="zh-CN" sz="2400" b="0" dirty="0">
                <a:latin typeface="微软雅黑" panose="020B0503020204020204" pitchFamily="34" charset="-122"/>
                <a:ea typeface="微软雅黑" panose="020B0503020204020204" pitchFamily="34" charset="-122"/>
              </a:rPr>
              <a:t>B1</a:t>
            </a:r>
            <a:r>
              <a:rPr lang="zh-CN" altLang="en-US" sz="2400" b="0" dirty="0">
                <a:latin typeface="微软雅黑" panose="020B0503020204020204" pitchFamily="34" charset="-122"/>
                <a:ea typeface="微软雅黑" panose="020B0503020204020204" pitchFamily="34" charset="-122"/>
              </a:rPr>
              <a:t>缺乏：长期的酒精依赖、艾滋病、糖尿病、减肥手术、透析等。</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24584">
                                            <p:txEl>
                                              <p:pRg st="2" end="2"/>
                                            </p:txEl>
                                          </p:spTgt>
                                        </p:tgtEl>
                                        <p:attrNameLst>
                                          <p:attrName>style.visibility</p:attrName>
                                        </p:attrNameLst>
                                      </p:cBhvr>
                                      <p:to>
                                        <p:strVal val="visible"/>
                                      </p:to>
                                    </p:set>
                                    <p:animEffect transition="in" filter="dissolve">
                                      <p:cBhvr>
                                        <p:cTn id="7" dur="500"/>
                                        <p:tgtEl>
                                          <p:spTgt spid="24584">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4587"/>
                                        </p:tgtEl>
                                        <p:attrNameLst>
                                          <p:attrName>style.visibility</p:attrName>
                                        </p:attrNameLst>
                                      </p:cBhvr>
                                      <p:to>
                                        <p:strVal val="visible"/>
                                      </p:to>
                                    </p:set>
                                    <p:animEffect transition="in" filter="dissolve">
                                      <p:cBhvr>
                                        <p:cTn id="12" dur="500"/>
                                        <p:tgtEl>
                                          <p:spTgt spid="2458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590">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590">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590">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59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4" grpId="0" build="p" autoUpdateAnimBg="0"/>
      <p:bldP spid="24587"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F01A1EC-4931-1628-5804-0FF896AE82E2}"/>
              </a:ext>
            </a:extLst>
          </p:cNvPr>
          <p:cNvSpPr txBox="1"/>
          <p:nvPr/>
        </p:nvSpPr>
        <p:spPr>
          <a:xfrm>
            <a:off x="1919536" y="379066"/>
            <a:ext cx="8352928" cy="800219"/>
          </a:xfrm>
          <a:prstGeom prst="rect">
            <a:avLst/>
          </a:prstGeom>
          <a:noFill/>
        </p:spPr>
        <p:txBody>
          <a:bodyPr wrap="square">
            <a:spAutoFit/>
          </a:bodyPr>
          <a:lstStyle/>
          <a:p>
            <a:pPr algn="ctr"/>
            <a:r>
              <a:rPr lang="zh-CN" altLang="en-US" sz="2800" dirty="0">
                <a:solidFill>
                  <a:schemeClr val="tx1">
                    <a:lumMod val="95000"/>
                    <a:lumOff val="5000"/>
                  </a:schemeClr>
                </a:solidFill>
              </a:rPr>
              <a:t>德昂族婴儿维生素 </a:t>
            </a:r>
            <a:r>
              <a:rPr lang="en-US" altLang="zh-CN" sz="2800" dirty="0">
                <a:solidFill>
                  <a:schemeClr val="tx1">
                    <a:lumMod val="95000"/>
                    <a:lumOff val="5000"/>
                  </a:schemeClr>
                </a:solidFill>
              </a:rPr>
              <a:t>B1 </a:t>
            </a:r>
            <a:r>
              <a:rPr lang="zh-CN" altLang="en-US" sz="2800" dirty="0">
                <a:solidFill>
                  <a:schemeClr val="tx1">
                    <a:lumMod val="95000"/>
                    <a:lumOff val="5000"/>
                  </a:schemeClr>
                </a:solidFill>
              </a:rPr>
              <a:t>缺乏症 </a:t>
            </a:r>
            <a:r>
              <a:rPr lang="en-US" altLang="zh-CN" sz="2800" dirty="0">
                <a:solidFill>
                  <a:schemeClr val="tx1">
                    <a:lumMod val="95000"/>
                    <a:lumOff val="5000"/>
                  </a:schemeClr>
                </a:solidFill>
              </a:rPr>
              <a:t>49 </a:t>
            </a:r>
            <a:r>
              <a:rPr lang="zh-CN" altLang="en-US" sz="2800" dirty="0">
                <a:solidFill>
                  <a:schemeClr val="tx1">
                    <a:lumMod val="95000"/>
                    <a:lumOff val="5000"/>
                  </a:schemeClr>
                </a:solidFill>
              </a:rPr>
              <a:t>例诊治分析</a:t>
            </a:r>
            <a:endParaRPr lang="en-US" altLang="zh-CN" sz="2800" dirty="0">
              <a:solidFill>
                <a:schemeClr val="tx1">
                  <a:lumMod val="95000"/>
                  <a:lumOff val="5000"/>
                </a:schemeClr>
              </a:solidFill>
            </a:endParaRPr>
          </a:p>
          <a:p>
            <a:r>
              <a:rPr lang="zh-CN" altLang="en-US" sz="1800" dirty="0">
                <a:solidFill>
                  <a:schemeClr val="tx1">
                    <a:lumMod val="95000"/>
                    <a:lumOff val="5000"/>
                  </a:schemeClr>
                </a:solidFill>
              </a:rPr>
              <a:t>             临床合理用药 </a:t>
            </a:r>
            <a:r>
              <a:rPr lang="en-US" altLang="zh-CN" sz="1800" dirty="0">
                <a:solidFill>
                  <a:schemeClr val="tx1">
                    <a:lumMod val="95000"/>
                    <a:lumOff val="5000"/>
                  </a:schemeClr>
                </a:solidFill>
              </a:rPr>
              <a:t>2013 </a:t>
            </a:r>
            <a:r>
              <a:rPr lang="zh-CN" altLang="en-US" sz="1800" dirty="0">
                <a:solidFill>
                  <a:schemeClr val="tx1">
                    <a:lumMod val="95000"/>
                    <a:lumOff val="5000"/>
                  </a:schemeClr>
                </a:solidFill>
              </a:rPr>
              <a:t>年 </a:t>
            </a:r>
            <a:r>
              <a:rPr lang="en-US" altLang="zh-CN" sz="1800" dirty="0">
                <a:solidFill>
                  <a:schemeClr val="tx1">
                    <a:lumMod val="95000"/>
                    <a:lumOff val="5000"/>
                  </a:schemeClr>
                </a:solidFill>
              </a:rPr>
              <a:t>2 </a:t>
            </a:r>
            <a:r>
              <a:rPr lang="zh-CN" altLang="en-US" sz="1800" dirty="0">
                <a:solidFill>
                  <a:schemeClr val="tx1">
                    <a:lumMod val="95000"/>
                    <a:lumOff val="5000"/>
                  </a:schemeClr>
                </a:solidFill>
              </a:rPr>
              <a:t>月第 </a:t>
            </a:r>
            <a:r>
              <a:rPr lang="en-US" altLang="zh-CN" sz="1800" dirty="0">
                <a:solidFill>
                  <a:schemeClr val="tx1">
                    <a:lumMod val="95000"/>
                    <a:lumOff val="5000"/>
                  </a:schemeClr>
                </a:solidFill>
              </a:rPr>
              <a:t>6 </a:t>
            </a:r>
            <a:r>
              <a:rPr lang="zh-CN" altLang="en-US" sz="1800" dirty="0">
                <a:solidFill>
                  <a:schemeClr val="tx1">
                    <a:lumMod val="95000"/>
                    <a:lumOff val="5000"/>
                  </a:schemeClr>
                </a:solidFill>
              </a:rPr>
              <a:t>卷第 </a:t>
            </a:r>
            <a:r>
              <a:rPr lang="en-US" altLang="zh-CN" sz="1800" dirty="0">
                <a:solidFill>
                  <a:schemeClr val="tx1">
                    <a:lumMod val="95000"/>
                    <a:lumOff val="5000"/>
                  </a:schemeClr>
                </a:solidFill>
              </a:rPr>
              <a:t>2C </a:t>
            </a:r>
            <a:r>
              <a:rPr lang="zh-CN" altLang="en-US" sz="1800" dirty="0">
                <a:solidFill>
                  <a:schemeClr val="tx1">
                    <a:lumMod val="95000"/>
                    <a:lumOff val="5000"/>
                  </a:schemeClr>
                </a:solidFill>
              </a:rPr>
              <a:t>期</a:t>
            </a:r>
          </a:p>
        </p:txBody>
      </p:sp>
      <p:sp>
        <p:nvSpPr>
          <p:cNvPr id="7" name="文本框 6">
            <a:extLst>
              <a:ext uri="{FF2B5EF4-FFF2-40B4-BE49-F238E27FC236}">
                <a16:creationId xmlns:a16="http://schemas.microsoft.com/office/drawing/2014/main" id="{8A137A11-848D-EC1F-000B-778013036B31}"/>
              </a:ext>
            </a:extLst>
          </p:cNvPr>
          <p:cNvSpPr txBox="1"/>
          <p:nvPr/>
        </p:nvSpPr>
        <p:spPr>
          <a:xfrm>
            <a:off x="927049" y="3140968"/>
            <a:ext cx="10425535" cy="2901564"/>
          </a:xfrm>
          <a:prstGeom prst="rect">
            <a:avLst/>
          </a:prstGeom>
          <a:noFill/>
        </p:spPr>
        <p:txBody>
          <a:bodyPr wrap="square">
            <a:spAutoFit/>
          </a:bodyPr>
          <a:lstStyle/>
          <a:p>
            <a:pPr>
              <a:lnSpc>
                <a:spcPct val="120000"/>
              </a:lnSpc>
              <a:spcBef>
                <a:spcPts val="600"/>
              </a:spcBef>
            </a:pPr>
            <a:r>
              <a:rPr lang="en-US" altLang="zh-CN" sz="2200" b="0" dirty="0">
                <a:solidFill>
                  <a:schemeClr val="tx1">
                    <a:lumMod val="95000"/>
                    <a:lumOff val="5000"/>
                  </a:schemeClr>
                </a:solidFill>
              </a:rPr>
              <a:t>“</a:t>
            </a:r>
            <a:r>
              <a:rPr lang="zh-CN" altLang="en-US" sz="2200" b="0" dirty="0">
                <a:solidFill>
                  <a:schemeClr val="tx1">
                    <a:lumMod val="95000"/>
                    <a:lumOff val="5000"/>
                  </a:schemeClr>
                </a:solidFill>
              </a:rPr>
              <a:t>我州德昂族多居住在山区，经济较落后，缺乏对本病的认识。</a:t>
            </a:r>
            <a:r>
              <a:rPr lang="zh-CN" altLang="en-US" sz="2200" b="0" dirty="0">
                <a:solidFill>
                  <a:srgbClr val="0000CC"/>
                </a:solidFill>
              </a:rPr>
              <a:t>饮食习惯为煮饭之前长时间泡米，淘米时反复搓洗，蒸饭时弃米汤使维生素 </a:t>
            </a:r>
            <a:r>
              <a:rPr lang="en-US" altLang="zh-CN" sz="2200" b="0" dirty="0">
                <a:solidFill>
                  <a:srgbClr val="0000CC"/>
                </a:solidFill>
              </a:rPr>
              <a:t>B1 </a:t>
            </a:r>
            <a:r>
              <a:rPr lang="zh-CN" altLang="en-US" sz="2200" b="0" dirty="0">
                <a:solidFill>
                  <a:srgbClr val="0000CC"/>
                </a:solidFill>
              </a:rPr>
              <a:t>大量丢失。孕母、乳母饮食单一，缺乏营养，使维生素 </a:t>
            </a:r>
            <a:r>
              <a:rPr lang="en-US" altLang="zh-CN" sz="2200" b="0" dirty="0">
                <a:solidFill>
                  <a:srgbClr val="0000CC"/>
                </a:solidFill>
              </a:rPr>
              <a:t>B1 </a:t>
            </a:r>
            <a:r>
              <a:rPr lang="zh-CN" altLang="en-US" sz="2200" b="0" dirty="0">
                <a:solidFill>
                  <a:srgbClr val="0000CC"/>
                </a:solidFill>
              </a:rPr>
              <a:t>摄入较少。故孕母及乳母常发生维生素 </a:t>
            </a:r>
            <a:r>
              <a:rPr lang="en-US" altLang="zh-CN" sz="2200" b="0" dirty="0">
                <a:solidFill>
                  <a:srgbClr val="0000CC"/>
                </a:solidFill>
              </a:rPr>
              <a:t>B1</a:t>
            </a:r>
            <a:r>
              <a:rPr lang="zh-CN" altLang="en-US" sz="2200" b="0" dirty="0">
                <a:solidFill>
                  <a:srgbClr val="0000CC"/>
                </a:solidFill>
              </a:rPr>
              <a:t>缺乏症。</a:t>
            </a:r>
            <a:r>
              <a:rPr lang="en-US" altLang="zh-CN" sz="2200" b="0" dirty="0">
                <a:solidFill>
                  <a:schemeClr val="tx1">
                    <a:lumMod val="95000"/>
                    <a:lumOff val="5000"/>
                  </a:schemeClr>
                </a:solidFill>
              </a:rPr>
              <a:t>….</a:t>
            </a:r>
            <a:r>
              <a:rPr lang="zh-CN" altLang="en-US" sz="2200" b="0" dirty="0">
                <a:solidFill>
                  <a:schemeClr val="tx1">
                    <a:lumMod val="95000"/>
                    <a:lumOff val="5000"/>
                  </a:schemeClr>
                </a:solidFill>
              </a:rPr>
              <a:t> 我们的诊治体会为</a:t>
            </a:r>
            <a:r>
              <a:rPr lang="zh-CN" altLang="en-US" sz="2200" dirty="0">
                <a:solidFill>
                  <a:schemeClr val="tx1">
                    <a:lumMod val="95000"/>
                    <a:lumOff val="5000"/>
                  </a:schemeClr>
                </a:solidFill>
              </a:rPr>
              <a:t>孕母及乳母有维生素 </a:t>
            </a:r>
            <a:r>
              <a:rPr lang="en-US" altLang="zh-CN" sz="2200" dirty="0">
                <a:solidFill>
                  <a:schemeClr val="tx1">
                    <a:lumMod val="95000"/>
                    <a:lumOff val="5000"/>
                  </a:schemeClr>
                </a:solidFill>
              </a:rPr>
              <a:t>B1 </a:t>
            </a:r>
            <a:r>
              <a:rPr lang="zh-CN" altLang="en-US" sz="2200" dirty="0">
                <a:solidFill>
                  <a:schemeClr val="tx1">
                    <a:lumMod val="95000"/>
                    <a:lumOff val="5000"/>
                  </a:schemeClr>
                </a:solidFill>
              </a:rPr>
              <a:t>缺乏的饮食习惯</a:t>
            </a:r>
            <a:r>
              <a:rPr lang="zh-CN" altLang="en-US" sz="2200" b="0" dirty="0">
                <a:solidFill>
                  <a:schemeClr val="tx1">
                    <a:lumMod val="95000"/>
                    <a:lumOff val="5000"/>
                  </a:schemeClr>
                </a:solidFill>
              </a:rPr>
              <a:t>，有</a:t>
            </a:r>
            <a:r>
              <a:rPr lang="zh-CN" altLang="en-US" sz="2200" dirty="0">
                <a:solidFill>
                  <a:srgbClr val="C00000"/>
                </a:solidFill>
              </a:rPr>
              <a:t>双下肢麻木酸痛，蚁走感</a:t>
            </a:r>
            <a:r>
              <a:rPr lang="zh-CN" altLang="en-US" sz="2200" b="0" dirty="0">
                <a:solidFill>
                  <a:schemeClr val="tx1">
                    <a:lumMod val="95000"/>
                    <a:lumOff val="5000"/>
                  </a:schemeClr>
                </a:solidFill>
              </a:rPr>
              <a:t>，其哺乳的婴儿突然出现烦躁不安、哀嚎、全身青紫、皮肤花斑、声音嘶哑及抽搐等症状均应考虑本病，其中</a:t>
            </a:r>
            <a:r>
              <a:rPr lang="zh-CN" altLang="en-US" sz="2200" dirty="0">
                <a:solidFill>
                  <a:schemeClr val="tx1">
                    <a:lumMod val="95000"/>
                    <a:lumOff val="5000"/>
                  </a:schemeClr>
                </a:solidFill>
              </a:rPr>
              <a:t>哀嚎为特征性症状</a:t>
            </a:r>
            <a:r>
              <a:rPr lang="zh-CN" altLang="en-US" sz="2200" b="0" dirty="0">
                <a:solidFill>
                  <a:schemeClr val="tx1">
                    <a:lumMod val="95000"/>
                    <a:lumOff val="5000"/>
                  </a:schemeClr>
                </a:solidFill>
              </a:rPr>
              <a:t>。</a:t>
            </a:r>
            <a:r>
              <a:rPr lang="zh-CN" altLang="en-US" sz="2200" b="0" dirty="0">
                <a:solidFill>
                  <a:srgbClr val="0000CC"/>
                </a:solidFill>
              </a:rPr>
              <a:t>及时给予维生素</a:t>
            </a:r>
            <a:r>
              <a:rPr lang="en-US" altLang="zh-CN" sz="2200" b="0" dirty="0">
                <a:solidFill>
                  <a:srgbClr val="0000CC"/>
                </a:solidFill>
              </a:rPr>
              <a:t>B1 </a:t>
            </a:r>
            <a:r>
              <a:rPr lang="zh-CN" altLang="en-US" sz="2200" b="0" dirty="0">
                <a:solidFill>
                  <a:srgbClr val="0000CC"/>
                </a:solidFill>
              </a:rPr>
              <a:t>进行诊断性治疗，多能治愈。</a:t>
            </a:r>
            <a:r>
              <a:rPr lang="zh-CN" altLang="en-US" sz="2200" b="0" dirty="0">
                <a:solidFill>
                  <a:schemeClr val="tx1">
                    <a:lumMod val="95000"/>
                    <a:lumOff val="5000"/>
                  </a:schemeClr>
                </a:solidFill>
              </a:rPr>
              <a:t>” </a:t>
            </a:r>
          </a:p>
        </p:txBody>
      </p:sp>
      <p:sp>
        <p:nvSpPr>
          <p:cNvPr id="9" name="文本框 8">
            <a:extLst>
              <a:ext uri="{FF2B5EF4-FFF2-40B4-BE49-F238E27FC236}">
                <a16:creationId xmlns:a16="http://schemas.microsoft.com/office/drawing/2014/main" id="{D4C7E98C-6F69-97A3-E8DD-D198DB83A146}"/>
              </a:ext>
            </a:extLst>
          </p:cNvPr>
          <p:cNvSpPr txBox="1"/>
          <p:nvPr/>
        </p:nvSpPr>
        <p:spPr>
          <a:xfrm>
            <a:off x="927049" y="1436851"/>
            <a:ext cx="10729192" cy="1446550"/>
          </a:xfrm>
          <a:prstGeom prst="rect">
            <a:avLst/>
          </a:prstGeom>
          <a:noFill/>
        </p:spPr>
        <p:txBody>
          <a:bodyPr wrap="square">
            <a:spAutoFit/>
          </a:bodyPr>
          <a:lstStyle/>
          <a:p>
            <a:r>
              <a:rPr lang="zh-CN" altLang="en-US" sz="2200" b="0" dirty="0">
                <a:solidFill>
                  <a:schemeClr val="tx1">
                    <a:lumMod val="95000"/>
                    <a:lumOff val="5000"/>
                  </a:schemeClr>
                </a:solidFill>
              </a:rPr>
              <a:t>“</a:t>
            </a:r>
            <a:r>
              <a:rPr lang="en-US" altLang="zh-CN" sz="2200" dirty="0">
                <a:solidFill>
                  <a:schemeClr val="tx1">
                    <a:lumMod val="95000"/>
                    <a:lumOff val="5000"/>
                  </a:schemeClr>
                </a:solidFill>
              </a:rPr>
              <a:t>2005 </a:t>
            </a:r>
            <a:r>
              <a:rPr lang="zh-CN" altLang="en-US" sz="2200" dirty="0">
                <a:solidFill>
                  <a:schemeClr val="tx1">
                    <a:lumMod val="95000"/>
                    <a:lumOff val="5000"/>
                  </a:schemeClr>
                </a:solidFill>
              </a:rPr>
              <a:t>年 </a:t>
            </a:r>
            <a:r>
              <a:rPr lang="en-US" altLang="zh-CN" sz="2200" dirty="0">
                <a:solidFill>
                  <a:schemeClr val="tx1">
                    <a:lumMod val="95000"/>
                    <a:lumOff val="5000"/>
                  </a:schemeClr>
                </a:solidFill>
              </a:rPr>
              <a:t>10 </a:t>
            </a:r>
            <a:r>
              <a:rPr lang="zh-CN" altLang="en-US" sz="2200" dirty="0">
                <a:solidFill>
                  <a:schemeClr val="tx1">
                    <a:lumMod val="95000"/>
                    <a:lumOff val="5000"/>
                  </a:schemeClr>
                </a:solidFill>
              </a:rPr>
              <a:t>月</a:t>
            </a:r>
            <a:r>
              <a:rPr lang="en-US" altLang="zh-CN" sz="2200" dirty="0">
                <a:solidFill>
                  <a:schemeClr val="tx1">
                    <a:lumMod val="95000"/>
                    <a:lumOff val="5000"/>
                  </a:schemeClr>
                </a:solidFill>
              </a:rPr>
              <a:t>—2012 </a:t>
            </a:r>
            <a:r>
              <a:rPr lang="zh-CN" altLang="en-US" sz="2200" dirty="0">
                <a:solidFill>
                  <a:schemeClr val="tx1">
                    <a:lumMod val="95000"/>
                    <a:lumOff val="5000"/>
                  </a:schemeClr>
                </a:solidFill>
              </a:rPr>
              <a:t>年 </a:t>
            </a:r>
            <a:r>
              <a:rPr lang="en-US" altLang="zh-CN" sz="2200" dirty="0">
                <a:solidFill>
                  <a:schemeClr val="tx1">
                    <a:lumMod val="95000"/>
                    <a:lumOff val="5000"/>
                  </a:schemeClr>
                </a:solidFill>
              </a:rPr>
              <a:t>10 </a:t>
            </a:r>
            <a:r>
              <a:rPr lang="zh-CN" altLang="en-US" sz="2200" dirty="0">
                <a:solidFill>
                  <a:schemeClr val="tx1">
                    <a:lumMod val="95000"/>
                    <a:lumOff val="5000"/>
                  </a:schemeClr>
                </a:solidFill>
              </a:rPr>
              <a:t>月收住的 </a:t>
            </a:r>
            <a:r>
              <a:rPr lang="en-US" altLang="zh-CN" sz="2200" dirty="0">
                <a:solidFill>
                  <a:schemeClr val="tx1">
                    <a:lumMod val="95000"/>
                    <a:lumOff val="5000"/>
                  </a:schemeClr>
                </a:solidFill>
              </a:rPr>
              <a:t>49 </a:t>
            </a:r>
            <a:r>
              <a:rPr lang="zh-CN" altLang="en-US" sz="2200" dirty="0">
                <a:solidFill>
                  <a:schemeClr val="tx1">
                    <a:lumMod val="95000"/>
                    <a:lumOff val="5000"/>
                  </a:schemeClr>
                </a:solidFill>
              </a:rPr>
              <a:t>例患儿</a:t>
            </a:r>
            <a:r>
              <a:rPr lang="zh-CN" altLang="en-US" sz="2200" b="0" dirty="0">
                <a:solidFill>
                  <a:schemeClr val="tx1">
                    <a:lumMod val="95000"/>
                    <a:lumOff val="5000"/>
                  </a:schemeClr>
                </a:solidFill>
              </a:rPr>
              <a:t>。其中男 </a:t>
            </a:r>
            <a:r>
              <a:rPr lang="en-US" altLang="zh-CN" sz="2200" b="0" dirty="0">
                <a:solidFill>
                  <a:schemeClr val="tx1">
                    <a:lumMod val="95000"/>
                    <a:lumOff val="5000"/>
                  </a:schemeClr>
                </a:solidFill>
              </a:rPr>
              <a:t>30 </a:t>
            </a:r>
            <a:r>
              <a:rPr lang="zh-CN" altLang="en-US" sz="2200" b="0" dirty="0">
                <a:solidFill>
                  <a:schemeClr val="tx1">
                    <a:lumMod val="95000"/>
                    <a:lumOff val="5000"/>
                  </a:schemeClr>
                </a:solidFill>
              </a:rPr>
              <a:t>例，女 </a:t>
            </a:r>
            <a:r>
              <a:rPr lang="en-US" altLang="zh-CN" sz="2200" b="0" dirty="0">
                <a:solidFill>
                  <a:schemeClr val="tx1">
                    <a:lumMod val="95000"/>
                    <a:lumOff val="5000"/>
                  </a:schemeClr>
                </a:solidFill>
              </a:rPr>
              <a:t>19 </a:t>
            </a:r>
            <a:r>
              <a:rPr lang="zh-CN" altLang="en-US" sz="2200" b="0" dirty="0">
                <a:solidFill>
                  <a:schemeClr val="tx1">
                    <a:lumMod val="95000"/>
                    <a:lumOff val="5000"/>
                  </a:schemeClr>
                </a:solidFill>
              </a:rPr>
              <a:t>例。</a:t>
            </a:r>
            <a:r>
              <a:rPr lang="en-US" altLang="zh-CN" sz="2200" b="0" dirty="0">
                <a:solidFill>
                  <a:schemeClr val="tx1">
                    <a:lumMod val="95000"/>
                    <a:lumOff val="5000"/>
                  </a:schemeClr>
                </a:solidFill>
              </a:rPr>
              <a:t>1 </a:t>
            </a:r>
            <a:r>
              <a:rPr lang="zh-CN" altLang="en-US" sz="2200" b="0" dirty="0">
                <a:solidFill>
                  <a:schemeClr val="tx1">
                    <a:lumMod val="95000"/>
                    <a:lumOff val="5000"/>
                  </a:schemeClr>
                </a:solidFill>
              </a:rPr>
              <a:t>～ </a:t>
            </a:r>
            <a:r>
              <a:rPr lang="en-US" altLang="zh-CN" sz="2200" b="0" dirty="0">
                <a:solidFill>
                  <a:schemeClr val="tx1">
                    <a:lumMod val="95000"/>
                    <a:lumOff val="5000"/>
                  </a:schemeClr>
                </a:solidFill>
              </a:rPr>
              <a:t>3 </a:t>
            </a:r>
            <a:r>
              <a:rPr lang="zh-CN" altLang="en-US" sz="2200" b="0" dirty="0">
                <a:solidFill>
                  <a:schemeClr val="tx1">
                    <a:lumMod val="95000"/>
                    <a:lumOff val="5000"/>
                  </a:schemeClr>
                </a:solidFill>
              </a:rPr>
              <a:t>个月 </a:t>
            </a:r>
            <a:r>
              <a:rPr lang="en-US" altLang="zh-CN" sz="2200" b="0" dirty="0">
                <a:solidFill>
                  <a:schemeClr val="tx1">
                    <a:lumMod val="95000"/>
                    <a:lumOff val="5000"/>
                  </a:schemeClr>
                </a:solidFill>
              </a:rPr>
              <a:t>22 </a:t>
            </a:r>
            <a:r>
              <a:rPr lang="zh-CN" altLang="en-US" sz="2200" b="0" dirty="0">
                <a:solidFill>
                  <a:schemeClr val="tx1">
                    <a:lumMod val="95000"/>
                    <a:lumOff val="5000"/>
                  </a:schemeClr>
                </a:solidFill>
              </a:rPr>
              <a:t>例，</a:t>
            </a:r>
            <a:r>
              <a:rPr lang="en-US" altLang="zh-CN" sz="2200" b="0" dirty="0">
                <a:solidFill>
                  <a:schemeClr val="tx1">
                    <a:lumMod val="95000"/>
                    <a:lumOff val="5000"/>
                  </a:schemeClr>
                </a:solidFill>
              </a:rPr>
              <a:t>3 </a:t>
            </a:r>
            <a:r>
              <a:rPr lang="zh-CN" altLang="en-US" sz="2200" b="0" dirty="0">
                <a:solidFill>
                  <a:schemeClr val="tx1">
                    <a:lumMod val="95000"/>
                    <a:lumOff val="5000"/>
                  </a:schemeClr>
                </a:solidFill>
              </a:rPr>
              <a:t>～ </a:t>
            </a:r>
            <a:r>
              <a:rPr lang="en-US" altLang="zh-CN" sz="2200" b="0" dirty="0">
                <a:solidFill>
                  <a:schemeClr val="tx1">
                    <a:lumMod val="95000"/>
                    <a:lumOff val="5000"/>
                  </a:schemeClr>
                </a:solidFill>
              </a:rPr>
              <a:t>6</a:t>
            </a:r>
            <a:r>
              <a:rPr lang="zh-CN" altLang="en-US" sz="2200" b="0" dirty="0">
                <a:solidFill>
                  <a:schemeClr val="tx1">
                    <a:lumMod val="95000"/>
                    <a:lumOff val="5000"/>
                  </a:schemeClr>
                </a:solidFill>
              </a:rPr>
              <a:t>个月 </a:t>
            </a:r>
            <a:r>
              <a:rPr lang="en-US" altLang="zh-CN" sz="2200" b="0" dirty="0">
                <a:solidFill>
                  <a:schemeClr val="tx1">
                    <a:lumMod val="95000"/>
                    <a:lumOff val="5000"/>
                  </a:schemeClr>
                </a:solidFill>
              </a:rPr>
              <a:t>10 </a:t>
            </a:r>
            <a:r>
              <a:rPr lang="zh-CN" altLang="en-US" sz="2200" b="0" dirty="0">
                <a:solidFill>
                  <a:schemeClr val="tx1">
                    <a:lumMod val="95000"/>
                    <a:lumOff val="5000"/>
                  </a:schemeClr>
                </a:solidFill>
              </a:rPr>
              <a:t>例，</a:t>
            </a:r>
            <a:r>
              <a:rPr lang="en-US" altLang="zh-CN" sz="2200" b="0" dirty="0">
                <a:solidFill>
                  <a:schemeClr val="tx1">
                    <a:lumMod val="95000"/>
                    <a:lumOff val="5000"/>
                  </a:schemeClr>
                </a:solidFill>
              </a:rPr>
              <a:t>10 </a:t>
            </a:r>
            <a:r>
              <a:rPr lang="zh-CN" altLang="en-US" sz="2200" b="0" dirty="0">
                <a:solidFill>
                  <a:schemeClr val="tx1">
                    <a:lumMod val="95000"/>
                    <a:lumOff val="5000"/>
                  </a:schemeClr>
                </a:solidFill>
              </a:rPr>
              <a:t>～ </a:t>
            </a:r>
            <a:r>
              <a:rPr lang="en-US" altLang="zh-CN" sz="2200" b="0" dirty="0">
                <a:solidFill>
                  <a:schemeClr val="tx1">
                    <a:lumMod val="95000"/>
                    <a:lumOff val="5000"/>
                  </a:schemeClr>
                </a:solidFill>
              </a:rPr>
              <a:t>12 </a:t>
            </a:r>
            <a:r>
              <a:rPr lang="zh-CN" altLang="en-US" sz="2200" b="0" dirty="0">
                <a:solidFill>
                  <a:schemeClr val="tx1">
                    <a:lumMod val="95000"/>
                    <a:lumOff val="5000"/>
                  </a:schemeClr>
                </a:solidFill>
              </a:rPr>
              <a:t>个月 </a:t>
            </a:r>
            <a:r>
              <a:rPr lang="en-US" altLang="zh-CN" sz="2200" b="0" dirty="0">
                <a:solidFill>
                  <a:schemeClr val="tx1">
                    <a:lumMod val="95000"/>
                    <a:lumOff val="5000"/>
                  </a:schemeClr>
                </a:solidFill>
              </a:rPr>
              <a:t>17 </a:t>
            </a:r>
            <a:r>
              <a:rPr lang="zh-CN" altLang="en-US" sz="2200" b="0" dirty="0">
                <a:solidFill>
                  <a:schemeClr val="tx1">
                    <a:lumMod val="95000"/>
                    <a:lumOff val="5000"/>
                  </a:schemeClr>
                </a:solidFill>
              </a:rPr>
              <a:t>例。均为母乳喂养，均为农村人口。</a:t>
            </a:r>
          </a:p>
          <a:p>
            <a:r>
              <a:rPr lang="zh-CN" altLang="en-US" sz="2200" b="0" dirty="0">
                <a:solidFill>
                  <a:schemeClr val="tx1">
                    <a:lumMod val="95000"/>
                    <a:lumOff val="5000"/>
                  </a:schemeClr>
                </a:solidFill>
              </a:rPr>
              <a:t>临床表现 </a:t>
            </a:r>
            <a:r>
              <a:rPr lang="zh-CN" altLang="en-US" sz="2200" dirty="0">
                <a:solidFill>
                  <a:schemeClr val="tx1">
                    <a:lumMod val="95000"/>
                    <a:lumOff val="5000"/>
                  </a:schemeClr>
                </a:solidFill>
              </a:rPr>
              <a:t>轻型 </a:t>
            </a:r>
            <a:r>
              <a:rPr lang="en-US" altLang="zh-CN" sz="2200" dirty="0">
                <a:solidFill>
                  <a:schemeClr val="tx1">
                    <a:lumMod val="95000"/>
                    <a:lumOff val="5000"/>
                  </a:schemeClr>
                </a:solidFill>
              </a:rPr>
              <a:t>21 </a:t>
            </a:r>
            <a:r>
              <a:rPr lang="zh-CN" altLang="en-US" sz="2200" dirty="0">
                <a:solidFill>
                  <a:schemeClr val="tx1">
                    <a:lumMod val="95000"/>
                    <a:lumOff val="5000"/>
                  </a:schemeClr>
                </a:solidFill>
              </a:rPr>
              <a:t>例</a:t>
            </a:r>
            <a:r>
              <a:rPr lang="en-US" altLang="zh-CN" sz="2200" b="0" dirty="0">
                <a:solidFill>
                  <a:schemeClr val="tx1">
                    <a:lumMod val="95000"/>
                    <a:lumOff val="5000"/>
                  </a:schemeClr>
                </a:solidFill>
              </a:rPr>
              <a:t>……</a:t>
            </a:r>
            <a:r>
              <a:rPr lang="zh-CN" altLang="en-US" sz="2200" dirty="0">
                <a:solidFill>
                  <a:schemeClr val="tx1">
                    <a:lumMod val="95000"/>
                    <a:lumOff val="5000"/>
                  </a:schemeClr>
                </a:solidFill>
              </a:rPr>
              <a:t>脑型 </a:t>
            </a:r>
            <a:r>
              <a:rPr lang="en-US" altLang="zh-CN" sz="2200" dirty="0">
                <a:solidFill>
                  <a:schemeClr val="tx1">
                    <a:lumMod val="95000"/>
                    <a:lumOff val="5000"/>
                  </a:schemeClr>
                </a:solidFill>
              </a:rPr>
              <a:t>18 </a:t>
            </a:r>
            <a:r>
              <a:rPr lang="zh-CN" altLang="en-US" sz="2200" dirty="0">
                <a:solidFill>
                  <a:schemeClr val="tx1">
                    <a:lumMod val="95000"/>
                    <a:lumOff val="5000"/>
                  </a:schemeClr>
                </a:solidFill>
              </a:rPr>
              <a:t>例</a:t>
            </a:r>
            <a:r>
              <a:rPr lang="en-US" altLang="zh-CN" sz="2200" b="0" dirty="0">
                <a:solidFill>
                  <a:schemeClr val="tx1">
                    <a:lumMod val="95000"/>
                    <a:lumOff val="5000"/>
                  </a:schemeClr>
                </a:solidFill>
              </a:rPr>
              <a:t>……</a:t>
            </a:r>
            <a:r>
              <a:rPr lang="zh-CN" altLang="en-US" sz="2200" dirty="0">
                <a:solidFill>
                  <a:schemeClr val="tx1">
                    <a:lumMod val="95000"/>
                    <a:lumOff val="5000"/>
                  </a:schemeClr>
                </a:solidFill>
              </a:rPr>
              <a:t>心型 </a:t>
            </a:r>
            <a:r>
              <a:rPr lang="en-US" altLang="zh-CN" sz="2200" dirty="0">
                <a:solidFill>
                  <a:schemeClr val="tx1">
                    <a:lumMod val="95000"/>
                    <a:lumOff val="5000"/>
                  </a:schemeClr>
                </a:solidFill>
              </a:rPr>
              <a:t>10 </a:t>
            </a:r>
            <a:r>
              <a:rPr lang="zh-CN" altLang="en-US" sz="2200" dirty="0">
                <a:solidFill>
                  <a:schemeClr val="tx1">
                    <a:lumMod val="95000"/>
                    <a:lumOff val="5000"/>
                  </a:schemeClr>
                </a:solidFill>
              </a:rPr>
              <a:t>例</a:t>
            </a:r>
            <a:r>
              <a:rPr lang="zh-CN" altLang="en-US" sz="2200" b="0" dirty="0">
                <a:solidFill>
                  <a:schemeClr val="tx1">
                    <a:lumMod val="95000"/>
                    <a:lumOff val="5000"/>
                  </a:schemeClr>
                </a:solidFill>
              </a:rPr>
              <a:t>，起病急骤，病情迅速恶化，主要表现为烦躁不安、哀嚎、全身青紫、皮肤花斑、心率增快、心音低顿、肝脏增大。“</a:t>
            </a:r>
          </a:p>
        </p:txBody>
      </p:sp>
    </p:spTree>
    <p:extLst>
      <p:ext uri="{BB962C8B-B14F-4D97-AF65-F5344CB8AC3E}">
        <p14:creationId xmlns:p14="http://schemas.microsoft.com/office/powerpoint/2010/main" val="34826054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426" name="Text Box 3">
            <a:extLst>
              <a:ext uri="{FF2B5EF4-FFF2-40B4-BE49-F238E27FC236}">
                <a16:creationId xmlns:a16="http://schemas.microsoft.com/office/drawing/2014/main" id="{2F6E922F-7C0B-45D0-9E76-F6849FE0E657}"/>
              </a:ext>
            </a:extLst>
          </p:cNvPr>
          <p:cNvSpPr txBox="1">
            <a:spLocks noChangeArrowheads="1"/>
          </p:cNvSpPr>
          <p:nvPr/>
        </p:nvSpPr>
        <p:spPr bwMode="auto">
          <a:xfrm>
            <a:off x="2168525" y="533400"/>
            <a:ext cx="754380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buFontTx/>
              <a:buNone/>
            </a:pPr>
            <a:endParaRPr lang="zh-CN" altLang="zh-CN" sz="3200">
              <a:latin typeface="Times New Roman" panose="02020603050405020304" pitchFamily="18" charset="0"/>
              <a:ea typeface="楷体_GB2312" pitchFamily="49" charset="-122"/>
            </a:endParaRPr>
          </a:p>
        </p:txBody>
      </p:sp>
      <p:sp>
        <p:nvSpPr>
          <p:cNvPr id="103427" name="Rectangle 7">
            <a:extLst>
              <a:ext uri="{FF2B5EF4-FFF2-40B4-BE49-F238E27FC236}">
                <a16:creationId xmlns:a16="http://schemas.microsoft.com/office/drawing/2014/main" id="{726EA254-78D6-409E-98C9-206DD1C39F8C}"/>
              </a:ext>
            </a:extLst>
          </p:cNvPr>
          <p:cNvSpPr>
            <a:spLocks noGrp="1" noChangeArrowheads="1"/>
          </p:cNvSpPr>
          <p:nvPr>
            <p:ph type="title" idx="4294967295"/>
          </p:nvPr>
        </p:nvSpPr>
        <p:spPr>
          <a:xfrm>
            <a:off x="1869455" y="230750"/>
            <a:ext cx="6973888" cy="855662"/>
          </a:xfrm>
        </p:spPr>
        <p:txBody>
          <a:bodyPr/>
          <a:lstStyle/>
          <a:p>
            <a:pPr eaLnBrk="1" hangingPunct="1"/>
            <a:r>
              <a:rPr lang="zh-CN" altLang="en-US" sz="3600" b="1" dirty="0">
                <a:solidFill>
                  <a:srgbClr val="C00000"/>
                </a:solidFill>
                <a:ea typeface="楷体_GB2312" pitchFamily="49" charset="-122"/>
              </a:rPr>
              <a:t>二、维生素 </a:t>
            </a:r>
            <a:r>
              <a:rPr lang="en-US" altLang="zh-CN" sz="3600" b="1" dirty="0">
                <a:solidFill>
                  <a:srgbClr val="C00000"/>
                </a:solidFill>
                <a:ea typeface="楷体_GB2312" pitchFamily="49" charset="-122"/>
              </a:rPr>
              <a:t>B</a:t>
            </a:r>
            <a:r>
              <a:rPr lang="en-US" altLang="zh-CN" sz="3600" b="1" baseline="-25000" dirty="0">
                <a:solidFill>
                  <a:srgbClr val="C00000"/>
                </a:solidFill>
                <a:ea typeface="楷体_GB2312" pitchFamily="49" charset="-122"/>
              </a:rPr>
              <a:t>2       </a:t>
            </a:r>
            <a:r>
              <a:rPr lang="zh-CN" altLang="en-US" sz="3200" b="1" dirty="0">
                <a:ea typeface="楷体_GB2312" pitchFamily="49" charset="-122"/>
              </a:rPr>
              <a:t>别名：</a:t>
            </a:r>
            <a:r>
              <a:rPr lang="en-US" altLang="zh-CN" sz="3200" b="1" dirty="0">
                <a:ea typeface="楷体_GB2312" pitchFamily="49" charset="-122"/>
              </a:rPr>
              <a:t> </a:t>
            </a:r>
            <a:r>
              <a:rPr lang="zh-CN" altLang="en-US" sz="3200" b="1" dirty="0">
                <a:solidFill>
                  <a:srgbClr val="C00000"/>
                </a:solidFill>
                <a:ea typeface="楷体_GB2312" pitchFamily="49" charset="-122"/>
              </a:rPr>
              <a:t>核黄素</a:t>
            </a:r>
          </a:p>
        </p:txBody>
      </p:sp>
      <p:sp>
        <p:nvSpPr>
          <p:cNvPr id="103428" name="Text Box 8">
            <a:extLst>
              <a:ext uri="{FF2B5EF4-FFF2-40B4-BE49-F238E27FC236}">
                <a16:creationId xmlns:a16="http://schemas.microsoft.com/office/drawing/2014/main" id="{069B698C-D841-4EB4-9809-D2620EA65A42}"/>
              </a:ext>
            </a:extLst>
          </p:cNvPr>
          <p:cNvSpPr txBox="1">
            <a:spLocks noChangeArrowheads="1"/>
          </p:cNvSpPr>
          <p:nvPr/>
        </p:nvSpPr>
        <p:spPr bwMode="auto">
          <a:xfrm>
            <a:off x="2035175" y="1268413"/>
            <a:ext cx="838200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marL="457200" indent="-457200" eaLnBrk="1" hangingPunct="1">
              <a:lnSpc>
                <a:spcPct val="100000"/>
              </a:lnSpc>
              <a:spcBef>
                <a:spcPct val="50000"/>
              </a:spcBef>
            </a:pPr>
            <a:r>
              <a:rPr lang="zh-CN" altLang="en-US" dirty="0">
                <a:latin typeface="楷体_GB2312" pitchFamily="49" charset="-122"/>
                <a:ea typeface="楷体_GB2312" pitchFamily="49" charset="-122"/>
              </a:rPr>
              <a:t>化学本质：</a:t>
            </a:r>
            <a:br>
              <a:rPr lang="zh-CN" altLang="en-US" dirty="0">
                <a:latin typeface="楷体_GB2312" pitchFamily="49" charset="-122"/>
                <a:ea typeface="楷体_GB2312" pitchFamily="49" charset="-122"/>
              </a:rPr>
            </a:br>
            <a:r>
              <a:rPr lang="zh-CN" altLang="en-US" sz="2400" dirty="0">
                <a:latin typeface="宋体" panose="02010600030101010101" pitchFamily="2" charset="-122"/>
                <a:ea typeface="宋体" panose="02010600030101010101" pitchFamily="2" charset="-122"/>
              </a:rPr>
              <a:t>核醇与</a:t>
            </a:r>
            <a:r>
              <a:rPr lang="en-US" altLang="zh-CN" sz="2400" dirty="0">
                <a:latin typeface="宋体" panose="02010600030101010101" pitchFamily="2" charset="-122"/>
                <a:ea typeface="宋体" panose="02010600030101010101" pitchFamily="2" charset="-122"/>
              </a:rPr>
              <a:t>6</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7</a:t>
            </a:r>
            <a:r>
              <a:rPr lang="zh-CN" altLang="en-US" sz="2400" dirty="0">
                <a:latin typeface="宋体" panose="02010600030101010101" pitchFamily="2" charset="-122"/>
                <a:ea typeface="宋体" panose="02010600030101010101" pitchFamily="2" charset="-122"/>
              </a:rPr>
              <a:t>－二甲基异咯嗪的缩合物</a:t>
            </a:r>
          </a:p>
        </p:txBody>
      </p:sp>
      <p:pic>
        <p:nvPicPr>
          <p:cNvPr id="4" name="图片 3">
            <a:extLst>
              <a:ext uri="{FF2B5EF4-FFF2-40B4-BE49-F238E27FC236}">
                <a16:creationId xmlns:a16="http://schemas.microsoft.com/office/drawing/2014/main" id="{A14B0EB9-5DF0-0D03-E027-8D667648C7D4}"/>
              </a:ext>
            </a:extLst>
          </p:cNvPr>
          <p:cNvPicPr>
            <a:picLocks noChangeAspect="1"/>
          </p:cNvPicPr>
          <p:nvPr/>
        </p:nvPicPr>
        <p:blipFill>
          <a:blip r:embed="rId3"/>
          <a:stretch>
            <a:fillRect/>
          </a:stretch>
        </p:blipFill>
        <p:spPr>
          <a:xfrm>
            <a:off x="9418219" y="498509"/>
            <a:ext cx="1997911" cy="1834339"/>
          </a:xfrm>
          <a:prstGeom prst="rect">
            <a:avLst/>
          </a:prstGeom>
        </p:spPr>
      </p:pic>
      <p:pic>
        <p:nvPicPr>
          <p:cNvPr id="5" name="图片 4">
            <a:extLst>
              <a:ext uri="{FF2B5EF4-FFF2-40B4-BE49-F238E27FC236}">
                <a16:creationId xmlns:a16="http://schemas.microsoft.com/office/drawing/2014/main" id="{38CEEF7C-F0DE-D74A-EED1-57EB89F2357F}"/>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677831" y="2387386"/>
            <a:ext cx="8864352" cy="2444708"/>
          </a:xfrm>
          <a:prstGeom prst="rect">
            <a:avLst/>
          </a:prstGeom>
        </p:spPr>
      </p:pic>
      <p:sp>
        <p:nvSpPr>
          <p:cNvPr id="11" name="Rectangle 4">
            <a:extLst>
              <a:ext uri="{FF2B5EF4-FFF2-40B4-BE49-F238E27FC236}">
                <a16:creationId xmlns:a16="http://schemas.microsoft.com/office/drawing/2014/main" id="{36D5EDB5-1E0B-4382-E157-F8575EC9F2DF}"/>
              </a:ext>
            </a:extLst>
          </p:cNvPr>
          <p:cNvSpPr>
            <a:spLocks noChangeArrowheads="1"/>
          </p:cNvSpPr>
          <p:nvPr/>
        </p:nvSpPr>
        <p:spPr bwMode="auto">
          <a:xfrm>
            <a:off x="2187795" y="5153366"/>
            <a:ext cx="100171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dirty="0">
                <a:solidFill>
                  <a:srgbClr val="C00000"/>
                </a:solidFill>
                <a:latin typeface="Times New Roman" panose="02020603050405020304" pitchFamily="18" charset="0"/>
                <a:ea typeface="楷体_GB2312" pitchFamily="49" charset="-122"/>
              </a:rPr>
              <a:t>FMN</a:t>
            </a:r>
            <a:br>
              <a:rPr lang="en-US" altLang="zh-CN" dirty="0">
                <a:solidFill>
                  <a:srgbClr val="C00000"/>
                </a:solidFill>
                <a:latin typeface="Times New Roman" panose="02020603050405020304" pitchFamily="18" charset="0"/>
                <a:ea typeface="楷体_GB2312" pitchFamily="49" charset="-122"/>
              </a:rPr>
            </a:br>
            <a:r>
              <a:rPr lang="en-US" altLang="zh-CN" dirty="0">
                <a:solidFill>
                  <a:srgbClr val="C00000"/>
                </a:solidFill>
                <a:latin typeface="Times New Roman" panose="02020603050405020304" pitchFamily="18" charset="0"/>
                <a:ea typeface="楷体_GB2312" pitchFamily="49" charset="-122"/>
              </a:rPr>
              <a:t>FAD</a:t>
            </a:r>
          </a:p>
        </p:txBody>
      </p:sp>
      <p:pic>
        <p:nvPicPr>
          <p:cNvPr id="12" name="图片 1">
            <a:extLst>
              <a:ext uri="{FF2B5EF4-FFF2-40B4-BE49-F238E27FC236}">
                <a16:creationId xmlns:a16="http://schemas.microsoft.com/office/drawing/2014/main" id="{D3617570-B671-EB67-F05E-8BF81DA4DE4F}"/>
              </a:ext>
            </a:extLst>
          </p:cNvPr>
          <p:cNvPicPr>
            <a:picLocks noChangeAspect="1"/>
          </p:cNvPicPr>
          <p:nvPr/>
        </p:nvPicPr>
        <p:blipFill>
          <a:blip r:embed="rId6">
            <a:extLst>
              <a:ext uri="{28A0092B-C50C-407E-A947-70E740481C1C}">
                <a14:useLocalDpi xmlns:a14="http://schemas.microsoft.com/office/drawing/2010/main" val="0"/>
              </a:ext>
            </a:extLst>
          </a:blip>
          <a:srcRect t="3931" r="2226" b="4250"/>
          <a:stretch>
            <a:fillRect/>
          </a:stretch>
        </p:blipFill>
        <p:spPr bwMode="auto">
          <a:xfrm>
            <a:off x="3389093" y="4941169"/>
            <a:ext cx="6615113" cy="1817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A680C273-7BFE-46F3-88CD-B546503A96BF}"/>
              </a:ext>
            </a:extLst>
          </p:cNvPr>
          <p:cNvGraphicFramePr>
            <a:graphicFrameLocks noGrp="1"/>
          </p:cNvGraphicFramePr>
          <p:nvPr>
            <p:extLst>
              <p:ext uri="{D42A27DB-BD31-4B8C-83A1-F6EECF244321}">
                <p14:modId xmlns:p14="http://schemas.microsoft.com/office/powerpoint/2010/main" val="310021617"/>
              </p:ext>
            </p:extLst>
          </p:nvPr>
        </p:nvGraphicFramePr>
        <p:xfrm>
          <a:off x="2641848" y="1395659"/>
          <a:ext cx="6768752" cy="4781547"/>
        </p:xfrm>
        <a:graphic>
          <a:graphicData uri="http://schemas.openxmlformats.org/drawingml/2006/table">
            <a:tbl>
              <a:tblPr firstRow="1" bandRow="1">
                <a:tableStyleId>{74C1A8A3-306A-4EB7-A6B1-4F7E0EB9C5D6}</a:tableStyleId>
              </a:tblPr>
              <a:tblGrid>
                <a:gridCol w="4464496">
                  <a:extLst>
                    <a:ext uri="{9D8B030D-6E8A-4147-A177-3AD203B41FA5}">
                      <a16:colId xmlns:a16="http://schemas.microsoft.com/office/drawing/2014/main" val="20000"/>
                    </a:ext>
                  </a:extLst>
                </a:gridCol>
                <a:gridCol w="2088232">
                  <a:extLst>
                    <a:ext uri="{9D8B030D-6E8A-4147-A177-3AD203B41FA5}">
                      <a16:colId xmlns:a16="http://schemas.microsoft.com/office/drawing/2014/main" val="20001"/>
                    </a:ext>
                  </a:extLst>
                </a:gridCol>
                <a:gridCol w="216024">
                  <a:extLst>
                    <a:ext uri="{9D8B030D-6E8A-4147-A177-3AD203B41FA5}">
                      <a16:colId xmlns:a16="http://schemas.microsoft.com/office/drawing/2014/main" val="20002"/>
                    </a:ext>
                  </a:extLst>
                </a:gridCol>
              </a:tblGrid>
              <a:tr h="518256">
                <a:tc>
                  <a:txBody>
                    <a:bodyPr/>
                    <a:lstStyle/>
                    <a:p>
                      <a:r>
                        <a:rPr lang="zh-CN" altLang="en-US" sz="2800" b="0" dirty="0">
                          <a:solidFill>
                            <a:srgbClr val="0000CC"/>
                          </a:solidFill>
                        </a:rPr>
                        <a:t>酶</a:t>
                      </a:r>
                    </a:p>
                  </a:txBody>
                  <a:tcPr marL="91454" marR="91454" marT="45734" marB="45734">
                    <a:solidFill>
                      <a:schemeClr val="accent4">
                        <a:lumMod val="20000"/>
                        <a:lumOff val="80000"/>
                      </a:schemeClr>
                    </a:solidFill>
                  </a:tcPr>
                </a:tc>
                <a:tc gridSpan="2">
                  <a:txBody>
                    <a:bodyPr/>
                    <a:lstStyle/>
                    <a:p>
                      <a:r>
                        <a:rPr lang="zh-CN" altLang="en-US" sz="2800" b="0" dirty="0">
                          <a:solidFill>
                            <a:srgbClr val="0000CC"/>
                          </a:solidFill>
                        </a:rPr>
                        <a:t>黄素核苷酸</a:t>
                      </a:r>
                    </a:p>
                  </a:txBody>
                  <a:tcPr marL="91454" marR="91454" marT="45734" marB="45734">
                    <a:solidFill>
                      <a:schemeClr val="accent4">
                        <a:lumMod val="20000"/>
                        <a:lumOff val="80000"/>
                      </a:schemeClr>
                    </a:solidFill>
                  </a:tcPr>
                </a:tc>
                <a:tc hMerge="1">
                  <a:txBody>
                    <a:bodyPr/>
                    <a:lstStyle/>
                    <a:p>
                      <a:endParaRPr lang="zh-CN" altLang="en-US"/>
                    </a:p>
                  </a:txBody>
                  <a:tcPr/>
                </a:tc>
                <a:extLst>
                  <a:ext uri="{0D108BD9-81ED-4DB2-BD59-A6C34878D82A}">
                    <a16:rowId xmlns:a16="http://schemas.microsoft.com/office/drawing/2014/main" val="10000"/>
                  </a:ext>
                </a:extLst>
              </a:tr>
              <a:tr h="518256">
                <a:tc>
                  <a:txBody>
                    <a:bodyPr/>
                    <a:lstStyle/>
                    <a:p>
                      <a:r>
                        <a:rPr lang="zh-CN" altLang="en-US" sz="2800" b="1" dirty="0"/>
                        <a:t>脂酰</a:t>
                      </a:r>
                      <a:r>
                        <a:rPr lang="en-US" altLang="zh-CN" sz="2800" b="1" dirty="0"/>
                        <a:t>CoA</a:t>
                      </a:r>
                      <a:r>
                        <a:rPr lang="zh-CN" altLang="en-US" sz="2800" b="1" dirty="0"/>
                        <a:t>脱氢酶</a:t>
                      </a:r>
                    </a:p>
                  </a:txBody>
                  <a:tcPr marL="91454" marR="91454" marT="45734" marB="45734"/>
                </a:tc>
                <a:tc gridSpan="2">
                  <a:txBody>
                    <a:bodyPr/>
                    <a:lstStyle/>
                    <a:p>
                      <a:r>
                        <a:rPr lang="en-US" altLang="zh-CN" sz="2800" b="0" dirty="0"/>
                        <a:t>FAD</a:t>
                      </a:r>
                      <a:endParaRPr lang="zh-CN" altLang="en-US" sz="2800" b="0" dirty="0"/>
                    </a:p>
                  </a:txBody>
                  <a:tcPr marL="91454" marR="91454" marT="45734" marB="45734"/>
                </a:tc>
                <a:tc hMerge="1">
                  <a:txBody>
                    <a:bodyPr/>
                    <a:lstStyle/>
                    <a:p>
                      <a:endParaRPr lang="zh-CN" altLang="en-US"/>
                    </a:p>
                  </a:txBody>
                  <a:tcPr/>
                </a:tc>
                <a:extLst>
                  <a:ext uri="{0D108BD9-81ED-4DB2-BD59-A6C34878D82A}">
                    <a16:rowId xmlns:a16="http://schemas.microsoft.com/office/drawing/2014/main" val="10001"/>
                  </a:ext>
                </a:extLst>
              </a:tr>
              <a:tr h="5182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800" b="0" kern="1200" baseline="0" dirty="0">
                          <a:solidFill>
                            <a:schemeClr val="tx1"/>
                          </a:solidFill>
                          <a:effectLst/>
                        </a:rPr>
                        <a:t>二氢硫辛酰胺脱氢酶</a:t>
                      </a:r>
                      <a:endParaRPr lang="en-US" altLang="zh-CN" sz="2800" b="0" dirty="0"/>
                    </a:p>
                  </a:txBody>
                  <a:tcPr marL="91454" marR="91454" marT="45734" marB="45734"/>
                </a:tc>
                <a:tc gridSpan="2">
                  <a:txBody>
                    <a:bodyPr/>
                    <a:lstStyle/>
                    <a:p>
                      <a:r>
                        <a:rPr lang="en-US" altLang="zh-CN" sz="2800" b="0" dirty="0"/>
                        <a:t>FAD</a:t>
                      </a:r>
                      <a:endParaRPr lang="zh-CN" altLang="en-US" sz="2800" b="0" dirty="0"/>
                    </a:p>
                  </a:txBody>
                  <a:tcPr marL="91454" marR="91454" marT="45734" marB="45734"/>
                </a:tc>
                <a:tc hMerge="1">
                  <a:txBody>
                    <a:bodyPr/>
                    <a:lstStyle/>
                    <a:p>
                      <a:endParaRPr lang="zh-CN" altLang="en-US"/>
                    </a:p>
                  </a:txBody>
                  <a:tcPr/>
                </a:tc>
                <a:extLst>
                  <a:ext uri="{0D108BD9-81ED-4DB2-BD59-A6C34878D82A}">
                    <a16:rowId xmlns:a16="http://schemas.microsoft.com/office/drawing/2014/main" val="10002"/>
                  </a:ext>
                </a:extLst>
              </a:tr>
              <a:tr h="518256">
                <a:tc>
                  <a:txBody>
                    <a:bodyPr/>
                    <a:lstStyle/>
                    <a:p>
                      <a:r>
                        <a:rPr lang="zh-CN" altLang="en-US" sz="2800" b="1" dirty="0"/>
                        <a:t>琥珀酸脱氢酶</a:t>
                      </a:r>
                    </a:p>
                  </a:txBody>
                  <a:tcPr marL="91454" marR="91454" marT="45734" marB="45734"/>
                </a:tc>
                <a:tc gridSpan="2">
                  <a:txBody>
                    <a:bodyPr/>
                    <a:lstStyle/>
                    <a:p>
                      <a:r>
                        <a:rPr lang="en-US" altLang="zh-CN" sz="2800" b="0" dirty="0"/>
                        <a:t>FAD</a:t>
                      </a:r>
                      <a:endParaRPr lang="zh-CN" altLang="en-US" sz="2800" b="0" dirty="0"/>
                    </a:p>
                  </a:txBody>
                  <a:tcPr marL="91454" marR="91454" marT="45734" marB="45734"/>
                </a:tc>
                <a:tc hMerge="1">
                  <a:txBody>
                    <a:bodyPr/>
                    <a:lstStyle/>
                    <a:p>
                      <a:endParaRPr lang="zh-CN" altLang="en-US"/>
                    </a:p>
                  </a:txBody>
                  <a:tcPr/>
                </a:tc>
                <a:extLst>
                  <a:ext uri="{0D108BD9-81ED-4DB2-BD59-A6C34878D82A}">
                    <a16:rowId xmlns:a16="http://schemas.microsoft.com/office/drawing/2014/main" val="10003"/>
                  </a:ext>
                </a:extLst>
              </a:tr>
              <a:tr h="518256">
                <a:tc>
                  <a:txBody>
                    <a:bodyPr/>
                    <a:lstStyle/>
                    <a:p>
                      <a:r>
                        <a:rPr lang="zh-CN" altLang="en-US" sz="2800" b="0" dirty="0"/>
                        <a:t>磷酸甘油脱氢酶</a:t>
                      </a:r>
                    </a:p>
                  </a:txBody>
                  <a:tcPr marL="91454" marR="91454" marT="45734" marB="45734"/>
                </a:tc>
                <a:tc gridSpan="2">
                  <a:txBody>
                    <a:bodyPr/>
                    <a:lstStyle/>
                    <a:p>
                      <a:r>
                        <a:rPr lang="en-US" altLang="zh-CN" sz="2800" b="0" dirty="0"/>
                        <a:t>FAD</a:t>
                      </a:r>
                      <a:endParaRPr lang="zh-CN" altLang="en-US" sz="2800" b="0" dirty="0"/>
                    </a:p>
                  </a:txBody>
                  <a:tcPr marL="91454" marR="91454" marT="45734" marB="45734"/>
                </a:tc>
                <a:tc hMerge="1">
                  <a:txBody>
                    <a:bodyPr/>
                    <a:lstStyle/>
                    <a:p>
                      <a:endParaRPr lang="zh-CN" altLang="en-US"/>
                    </a:p>
                  </a:txBody>
                  <a:tcPr/>
                </a:tc>
                <a:extLst>
                  <a:ext uri="{0D108BD9-81ED-4DB2-BD59-A6C34878D82A}">
                    <a16:rowId xmlns:a16="http://schemas.microsoft.com/office/drawing/2014/main" val="10004"/>
                  </a:ext>
                </a:extLst>
              </a:tr>
              <a:tr h="518256">
                <a:tc>
                  <a:txBody>
                    <a:bodyPr/>
                    <a:lstStyle/>
                    <a:p>
                      <a:r>
                        <a:rPr lang="zh-CN" altLang="en-US" sz="2800" b="0" dirty="0"/>
                        <a:t>硫氧还蛋白脱氢酶</a:t>
                      </a:r>
                    </a:p>
                  </a:txBody>
                  <a:tcPr marL="91454" marR="91454" marT="45734" marB="45734"/>
                </a:tc>
                <a:tc gridSpan="2">
                  <a:txBody>
                    <a:bodyPr/>
                    <a:lstStyle/>
                    <a:p>
                      <a:r>
                        <a:rPr lang="en-US" altLang="zh-CN" sz="2800" b="0" dirty="0"/>
                        <a:t>FAD</a:t>
                      </a:r>
                      <a:endParaRPr lang="zh-CN" altLang="en-US" sz="2800" b="0" dirty="0"/>
                    </a:p>
                  </a:txBody>
                  <a:tcPr marL="91454" marR="91454" marT="45734" marB="45734"/>
                </a:tc>
                <a:tc hMerge="1">
                  <a:txBody>
                    <a:bodyPr/>
                    <a:lstStyle/>
                    <a:p>
                      <a:endParaRPr lang="zh-CN" altLang="en-US"/>
                    </a:p>
                  </a:txBody>
                  <a:tcPr/>
                </a:tc>
                <a:extLst>
                  <a:ext uri="{0D108BD9-81ED-4DB2-BD59-A6C34878D82A}">
                    <a16:rowId xmlns:a16="http://schemas.microsoft.com/office/drawing/2014/main" val="10005"/>
                  </a:ext>
                </a:extLst>
              </a:tr>
              <a:tr h="635499">
                <a:tc>
                  <a:txBody>
                    <a:bodyPr/>
                    <a:lstStyle/>
                    <a:p>
                      <a:r>
                        <a:rPr lang="zh-CN" altLang="en-US" sz="2800" b="0" dirty="0"/>
                        <a:t>黄嘌呤氧化酶</a:t>
                      </a:r>
                    </a:p>
                  </a:txBody>
                  <a:tcPr marL="91454" marR="91454" marT="45734" marB="45734"/>
                </a:tc>
                <a:tc>
                  <a:txBody>
                    <a:bodyPr/>
                    <a:lstStyle/>
                    <a:p>
                      <a:r>
                        <a:rPr lang="en-US" altLang="zh-CN" sz="2800" b="0" dirty="0"/>
                        <a:t>FAD</a:t>
                      </a:r>
                      <a:endParaRPr lang="zh-CN" altLang="en-US" sz="2800" b="0" dirty="0"/>
                    </a:p>
                  </a:txBody>
                  <a:tcPr marL="91454" marR="91454" marT="45734" marB="45734"/>
                </a:tc>
                <a:tc>
                  <a:txBody>
                    <a:bodyPr/>
                    <a:lstStyle/>
                    <a:p>
                      <a:endParaRPr lang="zh-CN" altLang="en-US" sz="2800" b="1" dirty="0"/>
                    </a:p>
                  </a:txBody>
                  <a:tcPr marL="91454" marR="91454" marT="45734" marB="45734"/>
                </a:tc>
                <a:extLst>
                  <a:ext uri="{0D108BD9-81ED-4DB2-BD59-A6C34878D82A}">
                    <a16:rowId xmlns:a16="http://schemas.microsoft.com/office/drawing/2014/main" val="10006"/>
                  </a:ext>
                </a:extLst>
              </a:tr>
              <a:tr h="518256">
                <a:tc>
                  <a:txBody>
                    <a:bodyPr/>
                    <a:lstStyle/>
                    <a:p>
                      <a:r>
                        <a:rPr lang="en-US" altLang="zh-CN" sz="2800" b="0" dirty="0"/>
                        <a:t>NADH</a:t>
                      </a:r>
                      <a:r>
                        <a:rPr lang="zh-CN" altLang="en-US" sz="2800" b="0" dirty="0"/>
                        <a:t>脱氢酶（复合体</a:t>
                      </a:r>
                      <a:r>
                        <a:rPr lang="en-US" altLang="zh-CN" sz="2800" b="0" dirty="0"/>
                        <a:t>I)</a:t>
                      </a:r>
                    </a:p>
                  </a:txBody>
                  <a:tcPr marL="91454" marR="91454" marT="45734" marB="45734"/>
                </a:tc>
                <a:tc gridSpan="2">
                  <a:txBody>
                    <a:bodyPr/>
                    <a:lstStyle/>
                    <a:p>
                      <a:r>
                        <a:rPr lang="en-US" altLang="zh-CN" sz="2800" b="0" dirty="0"/>
                        <a:t>FMN</a:t>
                      </a:r>
                      <a:endParaRPr lang="zh-CN" altLang="en-US" sz="2800" b="0" dirty="0"/>
                    </a:p>
                  </a:txBody>
                  <a:tcPr marL="91454" marR="91454" marT="45734" marB="45734"/>
                </a:tc>
                <a:tc hMerge="1">
                  <a:txBody>
                    <a:bodyPr/>
                    <a:lstStyle/>
                    <a:p>
                      <a:endParaRPr lang="zh-CN" altLang="en-US" sz="2800" b="1" dirty="0"/>
                    </a:p>
                  </a:txBody>
                  <a:tcPr marL="91451" marR="91451" marT="45727" marB="45727"/>
                </a:tc>
                <a:extLst>
                  <a:ext uri="{0D108BD9-81ED-4DB2-BD59-A6C34878D82A}">
                    <a16:rowId xmlns:a16="http://schemas.microsoft.com/office/drawing/2014/main" val="10007"/>
                  </a:ext>
                </a:extLst>
              </a:tr>
              <a:tr h="518256">
                <a:tc>
                  <a:txBody>
                    <a:bodyPr/>
                    <a:lstStyle/>
                    <a:p>
                      <a:r>
                        <a:rPr lang="zh-CN" altLang="en-US" sz="2800" b="0" dirty="0"/>
                        <a:t>葡糖酸氧化酶</a:t>
                      </a:r>
                      <a:endParaRPr lang="en-US" altLang="zh-CN" sz="2800" b="0" dirty="0"/>
                    </a:p>
                  </a:txBody>
                  <a:tcPr marL="91454" marR="91454" marT="45734" marB="45734"/>
                </a:tc>
                <a:tc gridSpan="2">
                  <a:txBody>
                    <a:bodyPr/>
                    <a:lstStyle/>
                    <a:p>
                      <a:r>
                        <a:rPr lang="en-US" altLang="zh-CN" sz="2800" b="0" dirty="0"/>
                        <a:t>FMN</a:t>
                      </a:r>
                      <a:endParaRPr lang="zh-CN" altLang="en-US" sz="2800" b="0" dirty="0"/>
                    </a:p>
                  </a:txBody>
                  <a:tcPr marL="91454" marR="91454" marT="45734" marB="45734"/>
                </a:tc>
                <a:tc hMerge="1">
                  <a:txBody>
                    <a:bodyPr/>
                    <a:lstStyle/>
                    <a:p>
                      <a:endParaRPr lang="zh-CN" altLang="en-US"/>
                    </a:p>
                  </a:txBody>
                  <a:tcPr/>
                </a:tc>
                <a:extLst>
                  <a:ext uri="{0D108BD9-81ED-4DB2-BD59-A6C34878D82A}">
                    <a16:rowId xmlns:a16="http://schemas.microsoft.com/office/drawing/2014/main" val="10008"/>
                  </a:ext>
                </a:extLst>
              </a:tr>
            </a:tbl>
          </a:graphicData>
        </a:graphic>
      </p:graphicFrame>
      <p:sp>
        <p:nvSpPr>
          <p:cNvPr id="111641" name="标题 2">
            <a:extLst>
              <a:ext uri="{FF2B5EF4-FFF2-40B4-BE49-F238E27FC236}">
                <a16:creationId xmlns:a16="http://schemas.microsoft.com/office/drawing/2014/main" id="{8832145C-670A-4C48-B116-4B9B914555F8}"/>
              </a:ext>
            </a:extLst>
          </p:cNvPr>
          <p:cNvSpPr>
            <a:spLocks noGrp="1" noChangeArrowheads="1"/>
          </p:cNvSpPr>
          <p:nvPr>
            <p:ph type="title"/>
          </p:nvPr>
        </p:nvSpPr>
        <p:spPr>
          <a:xfrm>
            <a:off x="2356048" y="404814"/>
            <a:ext cx="7772400" cy="1019175"/>
          </a:xfrm>
        </p:spPr>
        <p:txBody>
          <a:bodyPr/>
          <a:lstStyle/>
          <a:p>
            <a:pPr eaLnBrk="1" hangingPunct="1"/>
            <a:r>
              <a:rPr lang="zh-CN" altLang="en-US" sz="3600" dirty="0">
                <a:solidFill>
                  <a:srgbClr val="3333CC"/>
                </a:solidFill>
                <a:latin typeface="微软雅黑" panose="020B0503020204020204" pitchFamily="34" charset="-122"/>
                <a:ea typeface="微软雅黑" panose="020B0503020204020204" pitchFamily="34" charset="-122"/>
              </a:rPr>
              <a:t>某些酶（黄素蛋白）含有黄素核苷酸</a:t>
            </a: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3">
            <a:extLst>
              <a:ext uri="{FF2B5EF4-FFF2-40B4-BE49-F238E27FC236}">
                <a16:creationId xmlns:a16="http://schemas.microsoft.com/office/drawing/2014/main" id="{99551C9B-A057-4F92-B140-4302CA84066D}"/>
              </a:ext>
            </a:extLst>
          </p:cNvPr>
          <p:cNvSpPr txBox="1">
            <a:spLocks noChangeArrowheads="1"/>
          </p:cNvSpPr>
          <p:nvPr/>
        </p:nvSpPr>
        <p:spPr bwMode="auto">
          <a:xfrm>
            <a:off x="2598509" y="4653137"/>
            <a:ext cx="853805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lang="zh-CN" altLang="en-US" b="0" dirty="0">
                <a:latin typeface="微软雅黑" panose="020B0503020204020204" pitchFamily="34" charset="-122"/>
                <a:ea typeface="微软雅黑" panose="020B0503020204020204" pitchFamily="34" charset="-122"/>
              </a:rPr>
              <a:t>缺乏症：</a:t>
            </a:r>
            <a:br>
              <a:rPr lang="zh-CN" altLang="en-US" b="0" dirty="0">
                <a:latin typeface="微软雅黑" panose="020B0503020204020204" pitchFamily="34" charset="-122"/>
                <a:ea typeface="微软雅黑" panose="020B0503020204020204" pitchFamily="34" charset="-122"/>
              </a:rPr>
            </a:br>
            <a:r>
              <a:rPr lang="zh-CN" altLang="en-US" b="0" dirty="0">
                <a:solidFill>
                  <a:srgbClr val="C00000"/>
                </a:solidFill>
                <a:latin typeface="微软雅黑" panose="020B0503020204020204" pitchFamily="34" charset="-122"/>
                <a:ea typeface="微软雅黑" panose="020B0503020204020204" pitchFamily="34" charset="-122"/>
              </a:rPr>
              <a:t>舌炎、唇炎、口角炎、角膜炎、皮炎</a:t>
            </a:r>
            <a:r>
              <a:rPr lang="zh-CN" altLang="en-US" b="0" dirty="0">
                <a:latin typeface="微软雅黑" panose="020B0503020204020204" pitchFamily="34" charset="-122"/>
                <a:ea typeface="微软雅黑" panose="020B0503020204020204" pitchFamily="34" charset="-122"/>
              </a:rPr>
              <a:t>等，机理不明</a:t>
            </a:r>
          </a:p>
        </p:txBody>
      </p:sp>
      <p:sp>
        <p:nvSpPr>
          <p:cNvPr id="109573" name="矩形 1">
            <a:extLst>
              <a:ext uri="{FF2B5EF4-FFF2-40B4-BE49-F238E27FC236}">
                <a16:creationId xmlns:a16="http://schemas.microsoft.com/office/drawing/2014/main" id="{BF395C78-3CAF-4F7A-98E4-4F78313A7668}"/>
              </a:ext>
            </a:extLst>
          </p:cNvPr>
          <p:cNvSpPr>
            <a:spLocks noChangeArrowheads="1"/>
          </p:cNvSpPr>
          <p:nvPr/>
        </p:nvSpPr>
        <p:spPr bwMode="auto">
          <a:xfrm>
            <a:off x="2626443" y="3729844"/>
            <a:ext cx="60309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dirty="0">
                <a:solidFill>
                  <a:srgbClr val="0000CC"/>
                </a:solidFill>
                <a:latin typeface="Times New Roman" panose="02020603050405020304" pitchFamily="18" charset="0"/>
                <a:ea typeface="楷体_GB2312" pitchFamily="49" charset="-122"/>
              </a:rPr>
              <a:t>成人每日需要量</a:t>
            </a:r>
            <a:r>
              <a:rPr lang="en-US" altLang="zh-CN" dirty="0">
                <a:solidFill>
                  <a:srgbClr val="0000CC"/>
                </a:solidFill>
                <a:latin typeface="Times New Roman" panose="02020603050405020304" pitchFamily="18" charset="0"/>
                <a:ea typeface="楷体_GB2312" pitchFamily="49" charset="-122"/>
              </a:rPr>
              <a:t>1.2</a:t>
            </a:r>
            <a:r>
              <a:rPr lang="zh-CN" altLang="en-US" dirty="0">
                <a:solidFill>
                  <a:srgbClr val="0000CC"/>
                </a:solidFill>
                <a:latin typeface="Times New Roman" panose="02020603050405020304" pitchFamily="18" charset="0"/>
                <a:ea typeface="楷体_GB2312" pitchFamily="49" charset="-122"/>
              </a:rPr>
              <a:t>～</a:t>
            </a:r>
            <a:r>
              <a:rPr lang="en-US" altLang="zh-CN" dirty="0">
                <a:solidFill>
                  <a:srgbClr val="0000CC"/>
                </a:solidFill>
                <a:latin typeface="Times New Roman" panose="02020603050405020304" pitchFamily="18" charset="0"/>
                <a:ea typeface="楷体_GB2312" pitchFamily="49" charset="-122"/>
              </a:rPr>
              <a:t>1.5mg</a:t>
            </a:r>
          </a:p>
        </p:txBody>
      </p:sp>
      <p:sp>
        <p:nvSpPr>
          <p:cNvPr id="2" name="Rectangle 29">
            <a:extLst>
              <a:ext uri="{FF2B5EF4-FFF2-40B4-BE49-F238E27FC236}">
                <a16:creationId xmlns:a16="http://schemas.microsoft.com/office/drawing/2014/main" id="{CB5AE3E9-98B2-9FD5-E4FE-B6A77FFC45D5}"/>
              </a:ext>
            </a:extLst>
          </p:cNvPr>
          <p:cNvSpPr>
            <a:spLocks noChangeArrowheads="1"/>
          </p:cNvSpPr>
          <p:nvPr/>
        </p:nvSpPr>
        <p:spPr bwMode="auto">
          <a:xfrm>
            <a:off x="2351088" y="848511"/>
            <a:ext cx="5400600" cy="132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indent="-360000" eaLnBrk="1" hangingPunct="1">
              <a:lnSpc>
                <a:spcPct val="100000"/>
              </a:lnSpc>
              <a:spcBef>
                <a:spcPct val="20000"/>
              </a:spcBef>
              <a:buFontTx/>
              <a:buChar char="•"/>
            </a:pPr>
            <a:r>
              <a:rPr lang="zh-CN" altLang="en-US" sz="2400" b="0" dirty="0">
                <a:latin typeface="Times New Roman" panose="02020603050405020304" pitchFamily="18" charset="0"/>
                <a:ea typeface="楷体_GB2312" pitchFamily="49" charset="-122"/>
              </a:rPr>
              <a:t>动物性食品较植物性的高</a:t>
            </a:r>
          </a:p>
          <a:p>
            <a:pPr indent="-360000" eaLnBrk="1" hangingPunct="1">
              <a:lnSpc>
                <a:spcPct val="100000"/>
              </a:lnSpc>
              <a:spcBef>
                <a:spcPct val="20000"/>
              </a:spcBef>
              <a:buFontTx/>
              <a:buChar char="•"/>
            </a:pPr>
            <a:r>
              <a:rPr lang="zh-CN" altLang="en-US" sz="2400" b="0" dirty="0">
                <a:latin typeface="Times New Roman" panose="02020603050405020304" pitchFamily="18" charset="0"/>
                <a:ea typeface="楷体_GB2312" pitchFamily="49" charset="-122"/>
              </a:rPr>
              <a:t>肝脏、肾、心、乳及蛋类</a:t>
            </a:r>
          </a:p>
          <a:p>
            <a:pPr indent="-360000" eaLnBrk="1" hangingPunct="1">
              <a:lnSpc>
                <a:spcPct val="100000"/>
              </a:lnSpc>
              <a:spcBef>
                <a:spcPct val="20000"/>
              </a:spcBef>
              <a:buFontTx/>
              <a:buChar char="•"/>
            </a:pPr>
            <a:r>
              <a:rPr lang="zh-CN" altLang="en-US" sz="2400" b="0" dirty="0">
                <a:latin typeface="Times New Roman" panose="02020603050405020304" pitchFamily="18" charset="0"/>
                <a:ea typeface="楷体_GB2312" pitchFamily="49" charset="-122"/>
              </a:rPr>
              <a:t>大豆和各种绿叶蔬菜</a:t>
            </a:r>
          </a:p>
        </p:txBody>
      </p:sp>
      <p:sp>
        <p:nvSpPr>
          <p:cNvPr id="4" name="文本框 3">
            <a:extLst>
              <a:ext uri="{FF2B5EF4-FFF2-40B4-BE49-F238E27FC236}">
                <a16:creationId xmlns:a16="http://schemas.microsoft.com/office/drawing/2014/main" id="{86FA671A-403F-45CE-10CC-3DD2915B1358}"/>
              </a:ext>
            </a:extLst>
          </p:cNvPr>
          <p:cNvSpPr txBox="1"/>
          <p:nvPr/>
        </p:nvSpPr>
        <p:spPr>
          <a:xfrm>
            <a:off x="2616691" y="2748391"/>
            <a:ext cx="7524193" cy="523220"/>
          </a:xfrm>
          <a:prstGeom prst="rect">
            <a:avLst/>
          </a:prstGeom>
          <a:noFill/>
        </p:spPr>
        <p:txBody>
          <a:bodyPr wrap="square" rtlCol="0">
            <a:spAutoFit/>
          </a:bodyPr>
          <a:lstStyle/>
          <a:p>
            <a:r>
              <a:rPr lang="en-US" altLang="zh-CN" sz="2800" b="0" dirty="0">
                <a:solidFill>
                  <a:schemeClr val="tx1">
                    <a:lumMod val="95000"/>
                    <a:lumOff val="5000"/>
                  </a:schemeClr>
                </a:solidFill>
              </a:rPr>
              <a:t>B</a:t>
            </a:r>
            <a:r>
              <a:rPr lang="en-US" altLang="zh-CN" sz="2800" b="0" baseline="-25000" dirty="0">
                <a:solidFill>
                  <a:schemeClr val="tx1">
                    <a:lumMod val="95000"/>
                    <a:lumOff val="5000"/>
                  </a:schemeClr>
                </a:solidFill>
              </a:rPr>
              <a:t>2</a:t>
            </a:r>
            <a:r>
              <a:rPr lang="zh-CN" altLang="en-US" sz="2800" b="0" dirty="0">
                <a:solidFill>
                  <a:srgbClr val="0000CC"/>
                </a:solidFill>
              </a:rPr>
              <a:t>耐热</a:t>
            </a:r>
            <a:r>
              <a:rPr lang="zh-CN" altLang="en-US" sz="2800" b="0" dirty="0">
                <a:solidFill>
                  <a:schemeClr val="tx1">
                    <a:lumMod val="95000"/>
                    <a:lumOff val="5000"/>
                  </a:schemeClr>
                </a:solidFill>
              </a:rPr>
              <a:t>，</a:t>
            </a:r>
            <a:r>
              <a:rPr lang="zh-CN" altLang="en-US" sz="2800" b="0" dirty="0">
                <a:solidFill>
                  <a:srgbClr val="0000CC"/>
                </a:solidFill>
              </a:rPr>
              <a:t>喜酸恶碱怕紫外</a:t>
            </a:r>
            <a:r>
              <a:rPr lang="zh-CN" altLang="en-US" sz="2800" b="0" dirty="0">
                <a:solidFill>
                  <a:schemeClr val="tx1">
                    <a:lumMod val="95000"/>
                    <a:lumOff val="5000"/>
                  </a:schemeClr>
                </a:solidFill>
              </a:rPr>
              <a:t>，需</a:t>
            </a:r>
            <a:r>
              <a:rPr lang="zh-CN" altLang="en-US" sz="2800" b="0" dirty="0">
                <a:solidFill>
                  <a:srgbClr val="C00000"/>
                </a:solidFill>
              </a:rPr>
              <a:t>避光保存</a:t>
            </a:r>
          </a:p>
        </p:txBody>
      </p:sp>
    </p:spTree>
    <p:extLst>
      <p:ext uri="{BB962C8B-B14F-4D97-AF65-F5344CB8AC3E}">
        <p14:creationId xmlns:p14="http://schemas.microsoft.com/office/powerpoint/2010/main" val="333049033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dissolve">
                                      <p:cBhvr>
                                        <p:cTn id="7" dur="500"/>
                                        <p:tgtEl>
                                          <p:spTgt spid="276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5" name="Rectangle 3">
            <a:extLst>
              <a:ext uri="{FF2B5EF4-FFF2-40B4-BE49-F238E27FC236}">
                <a16:creationId xmlns:a16="http://schemas.microsoft.com/office/drawing/2014/main" id="{2B4351D3-0789-4601-9415-2E9BBA916763}"/>
              </a:ext>
            </a:extLst>
          </p:cNvPr>
          <p:cNvSpPr>
            <a:spLocks noGrp="1" noChangeArrowheads="1"/>
          </p:cNvSpPr>
          <p:nvPr>
            <p:ph type="title" idx="4294967295"/>
          </p:nvPr>
        </p:nvSpPr>
        <p:spPr>
          <a:xfrm>
            <a:off x="1415480" y="345675"/>
            <a:ext cx="9937104" cy="808037"/>
          </a:xfrm>
        </p:spPr>
        <p:txBody>
          <a:bodyPr rtlCol="0">
            <a:normAutofit fontScale="90000"/>
          </a:bodyPr>
          <a:lstStyle/>
          <a:p>
            <a:pPr eaLnBrk="1" fontAlgn="auto" hangingPunct="1">
              <a:lnSpc>
                <a:spcPct val="120000"/>
              </a:lnSpc>
              <a:spcAft>
                <a:spcPts val="0"/>
              </a:spcAft>
              <a:defRPr/>
            </a:pPr>
            <a:r>
              <a:rPr lang="zh-CN" altLang="en-US" sz="3600" b="1" dirty="0">
                <a:solidFill>
                  <a:srgbClr val="C00000"/>
                </a:solidFill>
                <a:ea typeface="楷体_GB2312" pitchFamily="49" charset="-122"/>
              </a:rPr>
              <a:t>三、维生素 </a:t>
            </a:r>
            <a:r>
              <a:rPr lang="en-US" altLang="zh-CN" sz="3600" b="1" dirty="0">
                <a:solidFill>
                  <a:srgbClr val="C00000"/>
                </a:solidFill>
                <a:latin typeface="+mn-ea"/>
                <a:ea typeface="+mn-ea"/>
              </a:rPr>
              <a:t>B</a:t>
            </a:r>
            <a:r>
              <a:rPr lang="zh-CN" altLang="en-US" sz="3600" b="1" baseline="-25000" dirty="0">
                <a:solidFill>
                  <a:srgbClr val="C00000"/>
                </a:solidFill>
                <a:latin typeface="+mn-ea"/>
                <a:ea typeface="+mn-ea"/>
              </a:rPr>
              <a:t>３ </a:t>
            </a:r>
            <a:r>
              <a:rPr lang="en-US" altLang="zh-CN" sz="3600" b="1" baseline="-25000" dirty="0">
                <a:solidFill>
                  <a:srgbClr val="C00000"/>
                </a:solidFill>
                <a:latin typeface="+mn-ea"/>
                <a:ea typeface="+mn-ea"/>
              </a:rPr>
              <a:t>,  </a:t>
            </a:r>
            <a:r>
              <a:rPr lang="zh-CN" altLang="en-US" sz="3600" b="1" dirty="0">
                <a:latin typeface="+mn-ea"/>
                <a:ea typeface="+mn-ea"/>
              </a:rPr>
              <a:t>别名</a:t>
            </a:r>
            <a:r>
              <a:rPr lang="zh-CN" altLang="en-US" sz="3600" b="1" dirty="0">
                <a:solidFill>
                  <a:srgbClr val="C00000"/>
                </a:solidFill>
                <a:latin typeface="+mn-ea"/>
                <a:ea typeface="+mn-ea"/>
              </a:rPr>
              <a:t>维生素</a:t>
            </a:r>
            <a:r>
              <a:rPr lang="en-US" altLang="zh-CN" sz="3600" b="1" dirty="0">
                <a:solidFill>
                  <a:srgbClr val="C00000"/>
                </a:solidFill>
                <a:latin typeface="+mn-ea"/>
                <a:ea typeface="+mn-ea"/>
              </a:rPr>
              <a:t>PP</a:t>
            </a:r>
            <a:br>
              <a:rPr lang="en-US" altLang="zh-CN" sz="3600" b="1" baseline="-25000" dirty="0">
                <a:solidFill>
                  <a:srgbClr val="C00000"/>
                </a:solidFill>
                <a:latin typeface="+mn-ea"/>
                <a:ea typeface="+mn-ea"/>
              </a:rPr>
            </a:br>
            <a:r>
              <a:rPr lang="en-US" altLang="zh-CN" sz="3600" b="1" baseline="-25000" dirty="0">
                <a:solidFill>
                  <a:srgbClr val="C00000"/>
                </a:solidFill>
                <a:latin typeface="+mn-ea"/>
                <a:ea typeface="+mn-ea"/>
              </a:rPr>
              <a:t>           </a:t>
            </a:r>
            <a:r>
              <a:rPr lang="zh-CN" altLang="en-US" sz="2700" b="1" dirty="0">
                <a:latin typeface="+mn-ea"/>
                <a:ea typeface="+mn-ea"/>
              </a:rPr>
              <a:t>包括</a:t>
            </a:r>
            <a:r>
              <a:rPr lang="zh-CN" altLang="en-US" sz="2700" b="1" dirty="0">
                <a:ea typeface="楷体_GB2312" pitchFamily="49" charset="-122"/>
              </a:rPr>
              <a:t>烟酸、烟酰胺</a:t>
            </a:r>
            <a:endParaRPr lang="en-US" altLang="zh-CN" sz="2700" b="1" dirty="0">
              <a:ea typeface="楷体_GB2312" pitchFamily="49" charset="-122"/>
            </a:endParaRPr>
          </a:p>
        </p:txBody>
      </p:sp>
      <p:sp>
        <p:nvSpPr>
          <p:cNvPr id="28676" name="Rectangle 4">
            <a:extLst>
              <a:ext uri="{FF2B5EF4-FFF2-40B4-BE49-F238E27FC236}">
                <a16:creationId xmlns:a16="http://schemas.microsoft.com/office/drawing/2014/main" id="{D76D30A8-BB2B-46DB-8039-6127E2C4B131}"/>
              </a:ext>
            </a:extLst>
          </p:cNvPr>
          <p:cNvSpPr>
            <a:spLocks noChangeArrowheads="1"/>
          </p:cNvSpPr>
          <p:nvPr/>
        </p:nvSpPr>
        <p:spPr bwMode="auto">
          <a:xfrm>
            <a:off x="1548747" y="1443167"/>
            <a:ext cx="6911975" cy="519112"/>
          </a:xfrm>
          <a:prstGeom prst="rect">
            <a:avLst/>
          </a:prstGeom>
          <a:noFill/>
          <a:ln w="9525">
            <a:noFill/>
            <a:miter lim="800000"/>
            <a:headEnd/>
            <a:tailEnd/>
          </a:ln>
          <a:effectLst/>
        </p:spPr>
        <p:txBody>
          <a:bodyPr>
            <a:spAutoFit/>
          </a:bodyPr>
          <a:lstStyle/>
          <a:p>
            <a:pPr eaLnBrk="1" hangingPunct="1">
              <a:defRPr/>
            </a:pPr>
            <a:r>
              <a:rPr lang="zh-CN" altLang="en-US" sz="2800" b="0" dirty="0">
                <a:solidFill>
                  <a:schemeClr val="tx1">
                    <a:lumMod val="95000"/>
                    <a:lumOff val="5000"/>
                  </a:schemeClr>
                </a:solidFill>
              </a:rPr>
              <a:t>（一）化学：吡啶的衍生物</a:t>
            </a:r>
          </a:p>
        </p:txBody>
      </p:sp>
      <p:grpSp>
        <p:nvGrpSpPr>
          <p:cNvPr id="3" name="Group 12">
            <a:extLst>
              <a:ext uri="{FF2B5EF4-FFF2-40B4-BE49-F238E27FC236}">
                <a16:creationId xmlns:a16="http://schemas.microsoft.com/office/drawing/2014/main" id="{8E99DCBD-8FF4-468E-AABF-D7BDF6C80E8E}"/>
              </a:ext>
            </a:extLst>
          </p:cNvPr>
          <p:cNvGrpSpPr>
            <a:grpSpLocks/>
          </p:cNvGrpSpPr>
          <p:nvPr/>
        </p:nvGrpSpPr>
        <p:grpSpPr bwMode="auto">
          <a:xfrm>
            <a:off x="1415480" y="5351232"/>
            <a:ext cx="5255940" cy="1272629"/>
            <a:chOff x="363" y="631"/>
            <a:chExt cx="3657" cy="1166"/>
          </a:xfrm>
        </p:grpSpPr>
        <p:sp>
          <p:nvSpPr>
            <p:cNvPr id="114694" name="Rectangle 13">
              <a:extLst>
                <a:ext uri="{FF2B5EF4-FFF2-40B4-BE49-F238E27FC236}">
                  <a16:creationId xmlns:a16="http://schemas.microsoft.com/office/drawing/2014/main" id="{D77FD5E9-DAAC-473C-884F-39D6930994CD}"/>
                </a:ext>
              </a:extLst>
            </p:cNvPr>
            <p:cNvSpPr>
              <a:spLocks noChangeArrowheads="1"/>
            </p:cNvSpPr>
            <p:nvPr/>
          </p:nvSpPr>
          <p:spPr bwMode="auto">
            <a:xfrm>
              <a:off x="492" y="631"/>
              <a:ext cx="2721" cy="426"/>
            </a:xfrm>
            <a:prstGeom prst="rect">
              <a:avLst/>
            </a:prstGeom>
            <a:noFill/>
            <a:ln>
              <a:noFill/>
            </a:ln>
          </p:spPr>
          <p:txBody>
            <a:bodyPr anchor="b"/>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defRPr/>
              </a:pPr>
              <a:r>
                <a:rPr lang="zh-CN" altLang="en-US" dirty="0">
                  <a:solidFill>
                    <a:schemeClr val="tx1">
                      <a:lumMod val="95000"/>
                      <a:lumOff val="5000"/>
                    </a:schemeClr>
                  </a:solidFill>
                  <a:latin typeface="Times New Roman" panose="02020603050405020304" pitchFamily="18" charset="0"/>
                  <a:ea typeface="楷体_GB2312" pitchFamily="49" charset="-122"/>
                </a:rPr>
                <a:t>（二）食物来源：</a:t>
              </a:r>
            </a:p>
          </p:txBody>
        </p:sp>
        <p:sp>
          <p:nvSpPr>
            <p:cNvPr id="114695" name="Rectangle 14">
              <a:extLst>
                <a:ext uri="{FF2B5EF4-FFF2-40B4-BE49-F238E27FC236}">
                  <a16:creationId xmlns:a16="http://schemas.microsoft.com/office/drawing/2014/main" id="{47AF53F5-322A-4CCF-8F65-2C407F4A8DA6}"/>
                </a:ext>
              </a:extLst>
            </p:cNvPr>
            <p:cNvSpPr>
              <a:spLocks noChangeArrowheads="1"/>
            </p:cNvSpPr>
            <p:nvPr/>
          </p:nvSpPr>
          <p:spPr bwMode="auto">
            <a:xfrm>
              <a:off x="363" y="1104"/>
              <a:ext cx="3657" cy="693"/>
            </a:xfrm>
            <a:prstGeom prst="rect">
              <a:avLst/>
            </a:prstGeom>
            <a:noFill/>
            <a:ln>
              <a:noFill/>
            </a:ln>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20000"/>
                </a:spcBef>
                <a:buFontTx/>
                <a:buChar char="•"/>
                <a:defRPr/>
              </a:pPr>
              <a:r>
                <a:rPr lang="zh-CN" altLang="en-US" sz="2400" b="0" dirty="0">
                  <a:solidFill>
                    <a:schemeClr val="tx1">
                      <a:lumMod val="95000"/>
                      <a:lumOff val="5000"/>
                    </a:schemeClr>
                  </a:solidFill>
                  <a:latin typeface="Times New Roman" panose="02020603050405020304" pitchFamily="18" charset="0"/>
                  <a:ea typeface="楷体_GB2312" pitchFamily="49" charset="-122"/>
                </a:rPr>
                <a:t>酵母、肉类、全谷及豆类</a:t>
              </a:r>
            </a:p>
            <a:p>
              <a:pPr eaLnBrk="1" hangingPunct="1">
                <a:lnSpc>
                  <a:spcPct val="100000"/>
                </a:lnSpc>
                <a:spcBef>
                  <a:spcPct val="20000"/>
                </a:spcBef>
                <a:buFontTx/>
                <a:buChar char="•"/>
                <a:defRPr/>
              </a:pPr>
              <a:r>
                <a:rPr lang="zh-CN" altLang="en-US" sz="2400" b="0" dirty="0">
                  <a:solidFill>
                    <a:schemeClr val="tx1">
                      <a:lumMod val="95000"/>
                      <a:lumOff val="5000"/>
                    </a:schemeClr>
                  </a:solidFill>
                  <a:latin typeface="Times New Roman" panose="02020603050405020304" pitchFamily="18" charset="0"/>
                  <a:ea typeface="楷体_GB2312" pitchFamily="49" charset="-122"/>
                </a:rPr>
                <a:t>奶类、各种绿叶蔬菜以及咖啡和茶</a:t>
              </a:r>
            </a:p>
          </p:txBody>
        </p:sp>
      </p:grpSp>
      <p:pic>
        <p:nvPicPr>
          <p:cNvPr id="113669" name="图片 3">
            <a:extLst>
              <a:ext uri="{FF2B5EF4-FFF2-40B4-BE49-F238E27FC236}">
                <a16:creationId xmlns:a16="http://schemas.microsoft.com/office/drawing/2014/main" id="{D9AE61A6-5FF3-4DCA-96C9-47E2331594C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t="2113"/>
          <a:stretch>
            <a:fillRect/>
          </a:stretch>
        </p:blipFill>
        <p:spPr bwMode="auto">
          <a:xfrm>
            <a:off x="1685765" y="2078018"/>
            <a:ext cx="8820471" cy="2985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70" name="文本框 1">
            <a:extLst>
              <a:ext uri="{FF2B5EF4-FFF2-40B4-BE49-F238E27FC236}">
                <a16:creationId xmlns:a16="http://schemas.microsoft.com/office/drawing/2014/main" id="{4CC14AFC-3ED2-4A39-9758-5B62E624A5AB}"/>
              </a:ext>
            </a:extLst>
          </p:cNvPr>
          <p:cNvSpPr txBox="1">
            <a:spLocks noChangeArrowheads="1"/>
          </p:cNvSpPr>
          <p:nvPr/>
        </p:nvSpPr>
        <p:spPr bwMode="auto">
          <a:xfrm>
            <a:off x="7824192" y="274775"/>
            <a:ext cx="43678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en-US" altLang="zh-CN" dirty="0">
                <a:solidFill>
                  <a:srgbClr val="FF0000"/>
                </a:solidFill>
                <a:latin typeface="Times New Roman" panose="02020603050405020304" pitchFamily="18" charset="0"/>
                <a:ea typeface="楷体_GB2312" pitchFamily="49" charset="-122"/>
              </a:rPr>
              <a:t>p</a:t>
            </a:r>
            <a:r>
              <a:rPr lang="en-US" altLang="zh-CN" dirty="0">
                <a:latin typeface="Times New Roman" panose="02020603050405020304" pitchFamily="18" charset="0"/>
                <a:ea typeface="楷体_GB2312" pitchFamily="49" charset="-122"/>
              </a:rPr>
              <a:t>revent </a:t>
            </a:r>
            <a:r>
              <a:rPr lang="en-US" altLang="zh-CN" dirty="0">
                <a:solidFill>
                  <a:srgbClr val="FF0000"/>
                </a:solidFill>
                <a:latin typeface="Times New Roman" panose="02020603050405020304" pitchFamily="18" charset="0"/>
                <a:ea typeface="楷体_GB2312" pitchFamily="49" charset="-122"/>
              </a:rPr>
              <a:t>p</a:t>
            </a:r>
            <a:r>
              <a:rPr lang="en-US" altLang="zh-CN" dirty="0">
                <a:latin typeface="Times New Roman" panose="02020603050405020304" pitchFamily="18" charset="0"/>
                <a:ea typeface="楷体_GB2312" pitchFamily="49" charset="-122"/>
              </a:rPr>
              <a:t>ellagra</a:t>
            </a:r>
            <a:r>
              <a:rPr lang="en-US" altLang="zh-CN" b="0" dirty="0">
                <a:latin typeface="Times New Roman" panose="02020603050405020304" pitchFamily="18" charset="0"/>
                <a:ea typeface="楷体_GB2312" pitchFamily="49" charset="-122"/>
              </a:rPr>
              <a:t>(</a:t>
            </a:r>
            <a:r>
              <a:rPr lang="zh-CN" altLang="en-US" b="0" dirty="0">
                <a:latin typeface="Times New Roman" panose="02020603050405020304" pitchFamily="18" charset="0"/>
                <a:ea typeface="楷体_GB2312" pitchFamily="49" charset="-122"/>
              </a:rPr>
              <a:t>糙皮病）</a:t>
            </a:r>
          </a:p>
        </p:txBody>
      </p:sp>
      <p:cxnSp>
        <p:nvCxnSpPr>
          <p:cNvPr id="5" name="直接箭头连接符 4">
            <a:extLst>
              <a:ext uri="{FF2B5EF4-FFF2-40B4-BE49-F238E27FC236}">
                <a16:creationId xmlns:a16="http://schemas.microsoft.com/office/drawing/2014/main" id="{941F0608-FB36-4F8F-8B72-15E480BA637A}"/>
              </a:ext>
            </a:extLst>
          </p:cNvPr>
          <p:cNvCxnSpPr>
            <a:cxnSpLocks/>
          </p:cNvCxnSpPr>
          <p:nvPr/>
        </p:nvCxnSpPr>
        <p:spPr>
          <a:xfrm flipH="1">
            <a:off x="7196550" y="518860"/>
            <a:ext cx="549547"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4" name="文本框 3">
            <a:extLst>
              <a:ext uri="{FF2B5EF4-FFF2-40B4-BE49-F238E27FC236}">
                <a16:creationId xmlns:a16="http://schemas.microsoft.com/office/drawing/2014/main" id="{9659C066-76E6-C795-D47C-AD451B6F8041}"/>
              </a:ext>
            </a:extLst>
          </p:cNvPr>
          <p:cNvSpPr txBox="1"/>
          <p:nvPr/>
        </p:nvSpPr>
        <p:spPr>
          <a:xfrm>
            <a:off x="6960096" y="5583710"/>
            <a:ext cx="4896544" cy="830997"/>
          </a:xfrm>
          <a:prstGeom prst="rect">
            <a:avLst/>
          </a:prstGeom>
          <a:noFill/>
        </p:spPr>
        <p:txBody>
          <a:bodyPr wrap="square">
            <a:spAutoFit/>
          </a:bodyPr>
          <a:lstStyle/>
          <a:p>
            <a:r>
              <a:rPr lang="zh-CN" altLang="en-US" sz="2400" b="0" dirty="0">
                <a:solidFill>
                  <a:schemeClr val="tx1">
                    <a:lumMod val="95000"/>
                    <a:lumOff val="5000"/>
                  </a:schemeClr>
                </a:solidFill>
              </a:rPr>
              <a:t>在酸、碱、光、氧或加热条件下不易被破坏，是</a:t>
            </a:r>
            <a:r>
              <a:rPr lang="zh-CN" altLang="en-US" sz="2400" b="0" dirty="0">
                <a:solidFill>
                  <a:srgbClr val="0000CC"/>
                </a:solidFill>
              </a:rPr>
              <a:t>维生素中最稳定的</a:t>
            </a:r>
            <a:r>
              <a:rPr lang="zh-CN" altLang="en-US" sz="2400" b="0" dirty="0">
                <a:solidFill>
                  <a:schemeClr val="tx1">
                    <a:lumMod val="95000"/>
                    <a:lumOff val="5000"/>
                  </a:schemeClr>
                </a:solidFill>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Text Box 2">
            <a:extLst>
              <a:ext uri="{FF2B5EF4-FFF2-40B4-BE49-F238E27FC236}">
                <a16:creationId xmlns:a16="http://schemas.microsoft.com/office/drawing/2014/main" id="{013C6AF0-D893-48C8-BAE0-FCA5A665D366}"/>
              </a:ext>
            </a:extLst>
          </p:cNvPr>
          <p:cNvSpPr txBox="1">
            <a:spLocks noChangeArrowheads="1"/>
          </p:cNvSpPr>
          <p:nvPr/>
        </p:nvSpPr>
        <p:spPr bwMode="auto">
          <a:xfrm>
            <a:off x="2387420" y="548681"/>
            <a:ext cx="6884565" cy="581025"/>
          </a:xfrm>
          <a:prstGeom prst="rect">
            <a:avLst/>
          </a:prstGeom>
          <a:noFill/>
          <a:ln w="9525">
            <a:noFill/>
            <a:miter lim="800000"/>
            <a:headEnd/>
            <a:tailEnd/>
          </a:ln>
          <a:effectLst/>
        </p:spPr>
        <p:txBody>
          <a:bodyPr wrap="square">
            <a:spAutoFit/>
          </a:bodyPr>
          <a:lstStyle/>
          <a:p>
            <a:pPr eaLnBrk="1" hangingPunct="1">
              <a:spcBef>
                <a:spcPct val="50000"/>
              </a:spcBef>
              <a:defRPr/>
            </a:pPr>
            <a:r>
              <a:rPr lang="zh-CN" altLang="en-US" dirty="0">
                <a:solidFill>
                  <a:srgbClr val="3333CC"/>
                </a:solidFill>
                <a:latin typeface="+mn-ea"/>
                <a:ea typeface="+mn-ea"/>
              </a:rPr>
              <a:t>（三）生理功能</a:t>
            </a:r>
          </a:p>
        </p:txBody>
      </p:sp>
      <p:sp>
        <p:nvSpPr>
          <p:cNvPr id="115715" name="Text Box 4">
            <a:extLst>
              <a:ext uri="{FF2B5EF4-FFF2-40B4-BE49-F238E27FC236}">
                <a16:creationId xmlns:a16="http://schemas.microsoft.com/office/drawing/2014/main" id="{6134CD11-D945-489A-8480-C72840C36411}"/>
              </a:ext>
            </a:extLst>
          </p:cNvPr>
          <p:cNvSpPr txBox="1">
            <a:spLocks noChangeArrowheads="1"/>
          </p:cNvSpPr>
          <p:nvPr/>
        </p:nvSpPr>
        <p:spPr bwMode="auto">
          <a:xfrm>
            <a:off x="2351584" y="1342232"/>
            <a:ext cx="7992888" cy="385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indent="-457200" eaLnBrk="1" hangingPunct="1">
              <a:lnSpc>
                <a:spcPct val="120000"/>
              </a:lnSpc>
              <a:spcBef>
                <a:spcPts val="0"/>
              </a:spcBef>
              <a:buNone/>
            </a:pPr>
            <a:r>
              <a:rPr lang="en-US" altLang="zh-CN" sz="3200" b="0" dirty="0">
                <a:solidFill>
                  <a:srgbClr val="C00000"/>
                </a:solidFill>
                <a:latin typeface="微软雅黑" panose="020B0503020204020204" pitchFamily="34" charset="-122"/>
                <a:ea typeface="微软雅黑" panose="020B0503020204020204" pitchFamily="34" charset="-122"/>
              </a:rPr>
              <a:t> </a:t>
            </a:r>
            <a:r>
              <a:rPr lang="en-US" altLang="zh-CN" b="0" dirty="0">
                <a:solidFill>
                  <a:srgbClr val="C00000"/>
                </a:solidFill>
                <a:latin typeface="微软雅黑" panose="020B0503020204020204" pitchFamily="34" charset="-122"/>
                <a:ea typeface="微软雅黑" panose="020B0503020204020204" pitchFamily="34" charset="-122"/>
              </a:rPr>
              <a:t>1. </a:t>
            </a:r>
            <a:r>
              <a:rPr lang="zh-CN" altLang="en-US" b="0" dirty="0">
                <a:solidFill>
                  <a:srgbClr val="C00000"/>
                </a:solidFill>
                <a:latin typeface="微软雅黑" panose="020B0503020204020204" pitchFamily="34" charset="-122"/>
                <a:ea typeface="微软雅黑" panose="020B0503020204020204" pitchFamily="34" charset="-122"/>
              </a:rPr>
              <a:t>作为脱氢酶的辅酶参与生物氧化</a:t>
            </a:r>
            <a:br>
              <a:rPr lang="zh-CN" altLang="en-US" b="0" dirty="0">
                <a:latin typeface="微软雅黑" panose="020B0503020204020204" pitchFamily="34" charset="-122"/>
                <a:ea typeface="微软雅黑" panose="020B0503020204020204" pitchFamily="34" charset="-122"/>
              </a:rPr>
            </a:br>
            <a:r>
              <a:rPr lang="zh-CN" altLang="en-US" b="0" dirty="0">
                <a:latin typeface="微软雅黑" panose="020B0503020204020204" pitchFamily="34" charset="-122"/>
                <a:ea typeface="微软雅黑" panose="020B0503020204020204" pitchFamily="34" charset="-122"/>
              </a:rPr>
              <a:t>    </a:t>
            </a:r>
            <a:r>
              <a:rPr lang="zh-CN" altLang="en-US" sz="2400" b="0" dirty="0">
                <a:latin typeface="微软雅黑" panose="020B0503020204020204" pitchFamily="34" charset="-122"/>
                <a:ea typeface="微软雅黑" panose="020B0503020204020204" pitchFamily="34" charset="-122"/>
              </a:rPr>
              <a:t>已知至少</a:t>
            </a:r>
            <a:r>
              <a:rPr lang="en-US" altLang="zh-CN" sz="2400" b="0" dirty="0">
                <a:latin typeface="微软雅黑" panose="020B0503020204020204" pitchFamily="34" charset="-122"/>
                <a:ea typeface="微软雅黑" panose="020B0503020204020204" pitchFamily="34" charset="-122"/>
              </a:rPr>
              <a:t>200</a:t>
            </a:r>
            <a:r>
              <a:rPr lang="zh-CN" altLang="en-US" sz="2400" b="0" dirty="0">
                <a:latin typeface="微软雅黑" panose="020B0503020204020204" pitchFamily="34" charset="-122"/>
                <a:ea typeface="微软雅黑" panose="020B0503020204020204" pitchFamily="34" charset="-122"/>
              </a:rPr>
              <a:t>多种酶以其为辅酶，起传递氢的作用。</a:t>
            </a:r>
            <a:endParaRPr lang="en-US" altLang="zh-CN" sz="2400" b="0" dirty="0">
              <a:latin typeface="微软雅黑" panose="020B0503020204020204" pitchFamily="34" charset="-122"/>
              <a:ea typeface="微软雅黑" panose="020B0503020204020204" pitchFamily="34" charset="-122"/>
            </a:endParaRPr>
          </a:p>
          <a:p>
            <a:pPr indent="-457200" eaLnBrk="1" hangingPunct="1">
              <a:lnSpc>
                <a:spcPct val="120000"/>
              </a:lnSpc>
              <a:spcBef>
                <a:spcPts val="0"/>
              </a:spcBef>
              <a:buNone/>
            </a:pPr>
            <a:br>
              <a:rPr lang="zh-CN" altLang="en-US" sz="2400" b="0" dirty="0">
                <a:latin typeface="微软雅黑" panose="020B0503020204020204" pitchFamily="34" charset="-122"/>
                <a:ea typeface="微软雅黑" panose="020B0503020204020204" pitchFamily="34" charset="-122"/>
              </a:rPr>
            </a:br>
            <a:r>
              <a:rPr lang="zh-CN" altLang="en-US" sz="2000" b="0" dirty="0">
                <a:latin typeface="微软雅黑" panose="020B0503020204020204" pitchFamily="34" charset="-122"/>
                <a:ea typeface="微软雅黑" panose="020B0503020204020204" pitchFamily="34" charset="-122"/>
              </a:rPr>
              <a:t> </a:t>
            </a:r>
            <a:r>
              <a:rPr lang="en-US" altLang="zh-CN" b="0" dirty="0">
                <a:latin typeface="微软雅黑" panose="020B0503020204020204" pitchFamily="34" charset="-122"/>
                <a:ea typeface="微软雅黑" panose="020B0503020204020204" pitchFamily="34" charset="-122"/>
              </a:rPr>
              <a:t>2. </a:t>
            </a:r>
            <a:r>
              <a:rPr lang="zh-CN" altLang="en-US" b="0" dirty="0">
                <a:latin typeface="微软雅黑" panose="020B0503020204020204" pitchFamily="34" charset="-122"/>
                <a:ea typeface="微软雅黑" panose="020B0503020204020204" pitchFamily="34" charset="-122"/>
              </a:rPr>
              <a:t>维持神经组织的健康</a:t>
            </a:r>
            <a:br>
              <a:rPr lang="zh-CN" altLang="en-US" b="0" dirty="0">
                <a:latin typeface="微软雅黑" panose="020B0503020204020204" pitchFamily="34" charset="-122"/>
                <a:ea typeface="微软雅黑" panose="020B0503020204020204" pitchFamily="34" charset="-122"/>
              </a:rPr>
            </a:br>
            <a:r>
              <a:rPr lang="zh-CN" altLang="en-US" b="0" dirty="0">
                <a:latin typeface="微软雅黑" panose="020B0503020204020204" pitchFamily="34" charset="-122"/>
                <a:ea typeface="微软雅黑" panose="020B0503020204020204" pitchFamily="34" charset="-122"/>
              </a:rPr>
              <a:t>    </a:t>
            </a:r>
            <a:r>
              <a:rPr lang="zh-CN" altLang="en-US" sz="2400" b="0" dirty="0">
                <a:latin typeface="微软雅黑" panose="020B0503020204020204" pitchFamily="34" charset="-122"/>
                <a:ea typeface="微软雅黑" panose="020B0503020204020204" pitchFamily="34" charset="-122"/>
              </a:rPr>
              <a:t>缺乏时表现出神经营养障碍，出现皮炎。</a:t>
            </a:r>
            <a:endParaRPr lang="en-US" altLang="zh-CN" sz="2400" b="0" dirty="0">
              <a:latin typeface="微软雅黑" panose="020B0503020204020204" pitchFamily="34" charset="-122"/>
              <a:ea typeface="微软雅黑" panose="020B0503020204020204" pitchFamily="34" charset="-122"/>
            </a:endParaRPr>
          </a:p>
          <a:p>
            <a:pPr indent="-457200" eaLnBrk="1" hangingPunct="1">
              <a:lnSpc>
                <a:spcPct val="120000"/>
              </a:lnSpc>
              <a:spcBef>
                <a:spcPts val="0"/>
              </a:spcBef>
              <a:buNone/>
            </a:pPr>
            <a:r>
              <a:rPr lang="zh-CN" altLang="en-US" sz="2400" b="0" dirty="0">
                <a:latin typeface="微软雅黑" panose="020B0503020204020204" pitchFamily="34" charset="-122"/>
                <a:ea typeface="微软雅黑" panose="020B0503020204020204" pitchFamily="34" charset="-122"/>
              </a:rPr>
              <a:t>     故又称</a:t>
            </a:r>
            <a:r>
              <a:rPr lang="zh-CN" altLang="en-US" b="0" dirty="0">
                <a:solidFill>
                  <a:srgbClr val="C00000"/>
                </a:solidFill>
                <a:latin typeface="微软雅黑" panose="020B0503020204020204" pitchFamily="34" charset="-122"/>
                <a:ea typeface="微软雅黑" panose="020B0503020204020204" pitchFamily="34" charset="-122"/>
              </a:rPr>
              <a:t>抗糙皮病</a:t>
            </a:r>
            <a:r>
              <a:rPr lang="en-US" altLang="zh-CN" b="0" dirty="0">
                <a:solidFill>
                  <a:srgbClr val="C00000"/>
                </a:solidFill>
                <a:latin typeface="微软雅黑" panose="020B0503020204020204" pitchFamily="34" charset="-122"/>
                <a:ea typeface="微软雅黑" panose="020B0503020204020204" pitchFamily="34" charset="-122"/>
              </a:rPr>
              <a:t>(pellagra)</a:t>
            </a:r>
            <a:r>
              <a:rPr lang="zh-CN" altLang="en-US" b="0" dirty="0">
                <a:solidFill>
                  <a:srgbClr val="C00000"/>
                </a:solidFill>
                <a:latin typeface="微软雅黑" panose="020B0503020204020204" pitchFamily="34" charset="-122"/>
                <a:ea typeface="微软雅黑" panose="020B0503020204020204" pitchFamily="34" charset="-122"/>
              </a:rPr>
              <a:t>维生素</a:t>
            </a:r>
            <a:endParaRPr lang="en-US" altLang="zh-CN" b="0" dirty="0">
              <a:solidFill>
                <a:srgbClr val="C00000"/>
              </a:solidFill>
              <a:latin typeface="微软雅黑" panose="020B0503020204020204" pitchFamily="34" charset="-122"/>
              <a:ea typeface="微软雅黑" panose="020B0503020204020204" pitchFamily="34" charset="-122"/>
            </a:endParaRPr>
          </a:p>
          <a:p>
            <a:pPr eaLnBrk="1" hangingPunct="1">
              <a:lnSpc>
                <a:spcPct val="110000"/>
              </a:lnSpc>
              <a:spcBef>
                <a:spcPct val="50000"/>
              </a:spcBef>
              <a:buFontTx/>
              <a:buNone/>
            </a:pPr>
            <a:r>
              <a:rPr lang="zh-CN" altLang="en-US" b="0" dirty="0">
                <a:latin typeface="微软雅黑" panose="020B0503020204020204" pitchFamily="34" charset="-122"/>
                <a:ea typeface="微软雅黑" panose="020B0503020204020204" pitchFamily="34" charset="-122"/>
              </a:rPr>
              <a:t> </a:t>
            </a:r>
            <a:r>
              <a:rPr lang="en-US" altLang="zh-CN" b="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扩张血管</a:t>
            </a: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CD8784B-EAF1-4191-81BE-9C5A86EB3382}"/>
              </a:ext>
            </a:extLst>
          </p:cNvPr>
          <p:cNvSpPr/>
          <p:nvPr/>
        </p:nvSpPr>
        <p:spPr>
          <a:xfrm>
            <a:off x="1343472" y="1340768"/>
            <a:ext cx="10243393" cy="4488729"/>
          </a:xfrm>
          <a:prstGeom prst="rect">
            <a:avLst/>
          </a:prstGeom>
        </p:spPr>
        <p:txBody>
          <a:bodyPr wrap="square">
            <a:spAutoFit/>
          </a:bodyPr>
          <a:lstStyle/>
          <a:p>
            <a:pPr eaLnBrk="1" hangingPunct="1">
              <a:defRPr/>
            </a:pPr>
            <a:r>
              <a:rPr lang="en-US" altLang="zh-CN" dirty="0">
                <a:solidFill>
                  <a:schemeClr val="tx1"/>
                </a:solidFill>
                <a:latin typeface="宋体" pitchFamily="2" charset="-122"/>
                <a:ea typeface="宋体" pitchFamily="2" charset="-122"/>
              </a:rPr>
              <a:t>B</a:t>
            </a:r>
            <a:r>
              <a:rPr lang="en-US" altLang="zh-CN" baseline="-25000" dirty="0">
                <a:solidFill>
                  <a:schemeClr val="tx1"/>
                </a:solidFill>
                <a:latin typeface="宋体" pitchFamily="2" charset="-122"/>
                <a:ea typeface="宋体" pitchFamily="2" charset="-122"/>
              </a:rPr>
              <a:t>3</a:t>
            </a:r>
            <a:r>
              <a:rPr lang="zh-CN" altLang="en-US" dirty="0">
                <a:solidFill>
                  <a:schemeClr val="tx1"/>
                </a:solidFill>
                <a:latin typeface="宋体" pitchFamily="2" charset="-122"/>
                <a:ea typeface="宋体" pitchFamily="2" charset="-122"/>
              </a:rPr>
              <a:t>缺乏引起</a:t>
            </a:r>
            <a:r>
              <a:rPr lang="zh-CN" altLang="en-US" dirty="0">
                <a:solidFill>
                  <a:srgbClr val="C00000"/>
                </a:solidFill>
                <a:latin typeface="宋体" pitchFamily="2" charset="-122"/>
                <a:ea typeface="宋体" pitchFamily="2" charset="-122"/>
              </a:rPr>
              <a:t>癞皮病</a:t>
            </a:r>
            <a:r>
              <a:rPr lang="zh-CN" altLang="en-US" sz="2800" dirty="0">
                <a:solidFill>
                  <a:srgbClr val="C00000"/>
                </a:solidFill>
                <a:latin typeface="宋体" pitchFamily="2" charset="-122"/>
                <a:ea typeface="宋体" pitchFamily="2" charset="-122"/>
              </a:rPr>
              <a:t>（糙皮病，</a:t>
            </a:r>
            <a:r>
              <a:rPr lang="en-US" altLang="zh-CN" sz="2800" dirty="0">
                <a:solidFill>
                  <a:srgbClr val="C00000"/>
                </a:solidFill>
                <a:latin typeface="宋体" pitchFamily="2" charset="-122"/>
                <a:ea typeface="宋体" pitchFamily="2" charset="-122"/>
              </a:rPr>
              <a:t>pellagra</a:t>
            </a:r>
            <a:r>
              <a:rPr lang="zh-CN" altLang="en-US" sz="2800" dirty="0">
                <a:solidFill>
                  <a:srgbClr val="C00000"/>
                </a:solidFill>
                <a:latin typeface="宋体" pitchFamily="2" charset="-122"/>
                <a:ea typeface="宋体" pitchFamily="2" charset="-122"/>
              </a:rPr>
              <a:t>）</a:t>
            </a:r>
            <a:endParaRPr lang="en-US" altLang="zh-CN" sz="2800" dirty="0">
              <a:solidFill>
                <a:srgbClr val="C00000"/>
              </a:solidFill>
              <a:latin typeface="宋体" pitchFamily="2" charset="-122"/>
              <a:ea typeface="宋体" pitchFamily="2" charset="-122"/>
            </a:endParaRPr>
          </a:p>
          <a:p>
            <a:pPr marL="1346200" indent="-1346200" eaLnBrk="1" hangingPunct="1">
              <a:defRPr/>
            </a:pPr>
            <a:r>
              <a:rPr lang="en-US" altLang="zh-CN" sz="2400" dirty="0">
                <a:solidFill>
                  <a:srgbClr val="C00000"/>
                </a:solidFill>
                <a:latin typeface="宋体" pitchFamily="2" charset="-122"/>
                <a:ea typeface="宋体" pitchFamily="2" charset="-122"/>
              </a:rPr>
              <a:t>3D</a:t>
            </a:r>
            <a:r>
              <a:rPr lang="zh-CN" altLang="en-US" sz="2400" dirty="0">
                <a:solidFill>
                  <a:srgbClr val="C00000"/>
                </a:solidFill>
                <a:latin typeface="宋体" pitchFamily="2" charset="-122"/>
                <a:ea typeface="宋体" pitchFamily="2" charset="-122"/>
              </a:rPr>
              <a:t>症状</a:t>
            </a:r>
            <a:r>
              <a:rPr lang="en-US" altLang="zh-CN" sz="2400" dirty="0">
                <a:solidFill>
                  <a:srgbClr val="C00000"/>
                </a:solidFill>
                <a:latin typeface="宋体" pitchFamily="2" charset="-122"/>
                <a:ea typeface="宋体" pitchFamily="2" charset="-122"/>
              </a:rPr>
              <a:t>:  </a:t>
            </a:r>
            <a:r>
              <a:rPr lang="en-US" altLang="zh-CN" sz="2400" dirty="0">
                <a:solidFill>
                  <a:schemeClr val="tx1"/>
                </a:solidFill>
                <a:latin typeface="宋体" pitchFamily="2" charset="-122"/>
                <a:ea typeface="宋体" pitchFamily="2" charset="-122"/>
              </a:rPr>
              <a:t>dermatitis(</a:t>
            </a:r>
            <a:r>
              <a:rPr lang="zh-CN" altLang="en-US" sz="2400" dirty="0">
                <a:solidFill>
                  <a:schemeClr val="tx1"/>
                </a:solidFill>
                <a:latin typeface="宋体" pitchFamily="2" charset="-122"/>
                <a:ea typeface="宋体" pitchFamily="2" charset="-122"/>
              </a:rPr>
              <a:t>皮肤炎）</a:t>
            </a:r>
            <a:r>
              <a:rPr lang="en-US" altLang="zh-CN" sz="2400" dirty="0">
                <a:solidFill>
                  <a:schemeClr val="tx1"/>
                </a:solidFill>
                <a:latin typeface="宋体" pitchFamily="2" charset="-122"/>
                <a:ea typeface="宋体" pitchFamily="2" charset="-122"/>
              </a:rPr>
              <a:t>, diarrhea</a:t>
            </a:r>
            <a:r>
              <a:rPr lang="zh-CN" altLang="en-US" sz="2400" dirty="0">
                <a:solidFill>
                  <a:schemeClr val="tx1"/>
                </a:solidFill>
                <a:latin typeface="宋体" pitchFamily="2" charset="-122"/>
                <a:ea typeface="宋体" pitchFamily="2" charset="-122"/>
              </a:rPr>
              <a:t>（腹泻）</a:t>
            </a:r>
            <a:r>
              <a:rPr lang="en-US" altLang="zh-CN" sz="2400" dirty="0">
                <a:solidFill>
                  <a:schemeClr val="tx1"/>
                </a:solidFill>
                <a:latin typeface="宋体" pitchFamily="2" charset="-122"/>
                <a:ea typeface="宋体" pitchFamily="2" charset="-122"/>
              </a:rPr>
              <a:t>, dementia</a:t>
            </a:r>
            <a:r>
              <a:rPr lang="zh-CN" altLang="en-US" sz="2400" dirty="0">
                <a:solidFill>
                  <a:schemeClr val="tx1"/>
                </a:solidFill>
                <a:latin typeface="宋体" pitchFamily="2" charset="-122"/>
                <a:ea typeface="宋体" pitchFamily="2" charset="-122"/>
              </a:rPr>
              <a:t>（痴呆） </a:t>
            </a:r>
            <a:endParaRPr lang="en-US" altLang="zh-CN" sz="2400" dirty="0">
              <a:solidFill>
                <a:schemeClr val="tx1"/>
              </a:solidFill>
              <a:latin typeface="宋体" pitchFamily="2" charset="-122"/>
              <a:ea typeface="宋体" pitchFamily="2" charset="-122"/>
            </a:endParaRPr>
          </a:p>
          <a:p>
            <a:pPr eaLnBrk="1" hangingPunct="1">
              <a:defRPr/>
            </a:pPr>
            <a:endParaRPr kumimoji="0" lang="en-US" altLang="zh-CN" dirty="0">
              <a:solidFill>
                <a:schemeClr val="tx1"/>
              </a:solidFill>
            </a:endParaRPr>
          </a:p>
          <a:p>
            <a:pPr eaLnBrk="1" hangingPunct="1">
              <a:defRPr/>
            </a:pPr>
            <a:r>
              <a:rPr kumimoji="0" lang="zh-CN" altLang="en-US" dirty="0">
                <a:solidFill>
                  <a:schemeClr val="tx1"/>
                </a:solidFill>
              </a:rPr>
              <a:t>维生素</a:t>
            </a:r>
            <a:r>
              <a:rPr kumimoji="0" lang="en-US" altLang="zh-CN" dirty="0">
                <a:solidFill>
                  <a:schemeClr val="tx1"/>
                </a:solidFill>
              </a:rPr>
              <a:t>PP</a:t>
            </a:r>
            <a:r>
              <a:rPr kumimoji="0" lang="zh-CN" altLang="en-US" dirty="0">
                <a:solidFill>
                  <a:schemeClr val="tx1"/>
                </a:solidFill>
              </a:rPr>
              <a:t>缺乏原因</a:t>
            </a:r>
            <a:r>
              <a:rPr lang="zh-CN" altLang="en-US" dirty="0">
                <a:solidFill>
                  <a:schemeClr val="tx1"/>
                </a:solidFill>
                <a:effectLst>
                  <a:outerShdw blurRad="38100" dist="38100" dir="2700000" algn="tl">
                    <a:srgbClr val="000000"/>
                  </a:outerShdw>
                </a:effectLst>
                <a:ea typeface="华文楷体" pitchFamily="2" charset="-122"/>
              </a:rPr>
              <a:t>：</a:t>
            </a:r>
            <a:endParaRPr lang="en-US" altLang="zh-CN" dirty="0">
              <a:solidFill>
                <a:schemeClr val="tx1"/>
              </a:solidFill>
              <a:effectLst>
                <a:outerShdw blurRad="38100" dist="38100" dir="2700000" algn="tl">
                  <a:srgbClr val="000000"/>
                </a:outerShdw>
              </a:effectLst>
              <a:ea typeface="华文楷体" pitchFamily="2" charset="-122"/>
            </a:endParaRPr>
          </a:p>
          <a:p>
            <a:pPr marL="514350" indent="-514350" eaLnBrk="1" hangingPunct="1">
              <a:lnSpc>
                <a:spcPct val="130000"/>
              </a:lnSpc>
              <a:buFont typeface="+mj-lt"/>
              <a:buAutoNum type="arabicPeriod"/>
              <a:defRPr/>
            </a:pPr>
            <a:r>
              <a:rPr kumimoji="0" lang="zh-CN" altLang="en-US" sz="2800" b="0" dirty="0">
                <a:solidFill>
                  <a:schemeClr val="tx1"/>
                </a:solidFill>
              </a:rPr>
              <a:t>偏食玉米（</a:t>
            </a:r>
            <a:r>
              <a:rPr lang="zh-CN" altLang="en-US" sz="2800" b="0" dirty="0">
                <a:solidFill>
                  <a:schemeClr val="tx1"/>
                </a:solidFill>
                <a:latin typeface="宋体" pitchFamily="2" charset="-122"/>
              </a:rPr>
              <a:t>所含结合型</a:t>
            </a:r>
            <a:r>
              <a:rPr lang="en-US" altLang="zh-CN" sz="2800" b="0" dirty="0">
                <a:solidFill>
                  <a:schemeClr val="tx1"/>
                </a:solidFill>
                <a:latin typeface="宋体" pitchFamily="2" charset="-122"/>
              </a:rPr>
              <a:t>PP</a:t>
            </a:r>
            <a:r>
              <a:rPr lang="zh-CN" altLang="en-US" sz="2800" b="0" dirty="0">
                <a:solidFill>
                  <a:schemeClr val="tx1"/>
                </a:solidFill>
                <a:latin typeface="宋体" pitchFamily="2" charset="-122"/>
              </a:rPr>
              <a:t>不易吸收，玉米中缺乏色氨酸</a:t>
            </a:r>
            <a:r>
              <a:rPr kumimoji="0" lang="zh-CN" altLang="en-US" sz="2800" b="0" dirty="0">
                <a:solidFill>
                  <a:schemeClr val="tx1"/>
                </a:solidFill>
              </a:rPr>
              <a:t>）</a:t>
            </a:r>
            <a:endParaRPr kumimoji="0" lang="en-US" altLang="zh-CN" sz="2800" b="0" dirty="0">
              <a:solidFill>
                <a:schemeClr val="tx1"/>
              </a:solidFill>
            </a:endParaRPr>
          </a:p>
          <a:p>
            <a:pPr lvl="1" eaLnBrk="1" hangingPunct="1">
              <a:lnSpc>
                <a:spcPct val="130000"/>
              </a:lnSpc>
              <a:defRPr/>
            </a:pPr>
            <a:r>
              <a:rPr kumimoji="0" lang="zh-CN" altLang="en-US" sz="2000" b="0" dirty="0">
                <a:solidFill>
                  <a:schemeClr val="tx1"/>
                </a:solidFill>
              </a:rPr>
              <a:t>色氨酸 → 维生素</a:t>
            </a:r>
            <a:r>
              <a:rPr kumimoji="0" lang="en-US" altLang="zh-CN" sz="2000" b="0" dirty="0">
                <a:solidFill>
                  <a:schemeClr val="tx1"/>
                </a:solidFill>
              </a:rPr>
              <a:t>PP   , </a:t>
            </a:r>
            <a:r>
              <a:rPr kumimoji="0" lang="zh-CN" altLang="en-US" sz="2000" b="0" dirty="0">
                <a:solidFill>
                  <a:schemeClr val="tx1"/>
                </a:solidFill>
              </a:rPr>
              <a:t>但人体合成量不足</a:t>
            </a:r>
            <a:r>
              <a:rPr kumimoji="0" lang="zh-CN" altLang="en-US" sz="2400" b="0" dirty="0">
                <a:solidFill>
                  <a:schemeClr val="tx1"/>
                </a:solidFill>
              </a:rPr>
              <a:t>。</a:t>
            </a:r>
            <a:endParaRPr kumimoji="0" lang="en-US" altLang="zh-CN" sz="2400" b="0" dirty="0">
              <a:solidFill>
                <a:schemeClr val="tx1"/>
              </a:solidFill>
            </a:endParaRPr>
          </a:p>
          <a:p>
            <a:pPr marL="514350" indent="-514350" eaLnBrk="1" hangingPunct="1">
              <a:lnSpc>
                <a:spcPct val="130000"/>
              </a:lnSpc>
              <a:buFont typeface="+mj-lt"/>
              <a:buAutoNum type="arabicPeriod"/>
              <a:defRPr/>
            </a:pPr>
            <a:r>
              <a:rPr kumimoji="0" lang="zh-CN" altLang="en-US" sz="2600" b="0" dirty="0">
                <a:solidFill>
                  <a:schemeClr val="tx1"/>
                </a:solidFill>
              </a:rPr>
              <a:t>严重营养缺乏</a:t>
            </a:r>
            <a:endParaRPr kumimoji="0" lang="en-US" altLang="zh-CN" sz="2600" b="0" dirty="0">
              <a:solidFill>
                <a:schemeClr val="tx1"/>
              </a:solidFill>
            </a:endParaRPr>
          </a:p>
          <a:p>
            <a:pPr marL="514350" indent="-514350" eaLnBrk="1" hangingPunct="1">
              <a:lnSpc>
                <a:spcPct val="130000"/>
              </a:lnSpc>
              <a:buFont typeface="+mj-lt"/>
              <a:buAutoNum type="arabicPeriod"/>
              <a:defRPr/>
            </a:pPr>
            <a:r>
              <a:rPr kumimoji="0" lang="zh-CN" altLang="en-US" sz="2600" b="0" dirty="0">
                <a:solidFill>
                  <a:srgbClr val="0000CC"/>
                </a:solidFill>
              </a:rPr>
              <a:t>长期酗酒</a:t>
            </a:r>
            <a:r>
              <a:rPr kumimoji="0" lang="zh-CN" altLang="en-US" sz="2600" b="0" dirty="0">
                <a:solidFill>
                  <a:schemeClr val="tx1"/>
                </a:solidFill>
              </a:rPr>
              <a:t>，影响烟酸的吸收</a:t>
            </a:r>
            <a:endParaRPr kumimoji="0" lang="en-US" altLang="zh-CN" sz="2600" b="0" dirty="0">
              <a:solidFill>
                <a:schemeClr val="tx1"/>
              </a:solidFill>
            </a:endParaRPr>
          </a:p>
          <a:p>
            <a:pPr marL="514350" indent="-514350" eaLnBrk="1" hangingPunct="1">
              <a:lnSpc>
                <a:spcPct val="130000"/>
              </a:lnSpc>
              <a:buFont typeface="+mj-lt"/>
              <a:buAutoNum type="arabicPeriod"/>
              <a:defRPr/>
            </a:pPr>
            <a:r>
              <a:rPr kumimoji="0" lang="zh-CN" altLang="en-US" sz="2600" b="0" dirty="0">
                <a:solidFill>
                  <a:schemeClr val="tx1"/>
                </a:solidFill>
              </a:rPr>
              <a:t>长期服用</a:t>
            </a:r>
            <a:r>
              <a:rPr kumimoji="0" lang="zh-CN" altLang="en-US" sz="2600" b="0" dirty="0">
                <a:solidFill>
                  <a:srgbClr val="0000CC"/>
                </a:solidFill>
              </a:rPr>
              <a:t>抗结核药异烟肼</a:t>
            </a:r>
            <a:endParaRPr kumimoji="0" lang="en-US" altLang="zh-CN" sz="2600" b="0" dirty="0">
              <a:solidFill>
                <a:schemeClr val="tx1"/>
              </a:solidFill>
            </a:endParaRPr>
          </a:p>
        </p:txBody>
      </p:sp>
      <p:sp>
        <p:nvSpPr>
          <p:cNvPr id="117763" name="矩形 2">
            <a:extLst>
              <a:ext uri="{FF2B5EF4-FFF2-40B4-BE49-F238E27FC236}">
                <a16:creationId xmlns:a16="http://schemas.microsoft.com/office/drawing/2014/main" id="{0EA00821-B109-409C-B0E2-8461350A1330}"/>
              </a:ext>
            </a:extLst>
          </p:cNvPr>
          <p:cNvSpPr>
            <a:spLocks noChangeArrowheads="1"/>
          </p:cNvSpPr>
          <p:nvPr/>
        </p:nvSpPr>
        <p:spPr bwMode="auto">
          <a:xfrm>
            <a:off x="2279650" y="449264"/>
            <a:ext cx="69850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dirty="0">
                <a:solidFill>
                  <a:srgbClr val="0000CC"/>
                </a:solidFill>
                <a:latin typeface="Times New Roman" panose="02020603050405020304" pitchFamily="18" charset="0"/>
                <a:ea typeface="楷体_GB2312" pitchFamily="49" charset="-122"/>
              </a:rPr>
              <a:t>成人正常需要量每日　</a:t>
            </a:r>
            <a:r>
              <a:rPr lang="en-US" altLang="zh-CN" dirty="0">
                <a:solidFill>
                  <a:srgbClr val="0000CC"/>
                </a:solidFill>
                <a:latin typeface="Times New Roman" panose="02020603050405020304" pitchFamily="18" charset="0"/>
                <a:ea typeface="楷体_GB2312" pitchFamily="49" charset="-122"/>
              </a:rPr>
              <a:t>12</a:t>
            </a:r>
            <a:r>
              <a:rPr lang="zh-CN" altLang="en-US" dirty="0">
                <a:solidFill>
                  <a:srgbClr val="0000CC"/>
                </a:solidFill>
                <a:latin typeface="Times New Roman" panose="02020603050405020304" pitchFamily="18" charset="0"/>
                <a:ea typeface="楷体_GB2312" pitchFamily="49" charset="-122"/>
              </a:rPr>
              <a:t>～</a:t>
            </a:r>
            <a:r>
              <a:rPr lang="en-US" altLang="zh-CN" dirty="0">
                <a:solidFill>
                  <a:srgbClr val="0000CC"/>
                </a:solidFill>
                <a:latin typeface="Times New Roman" panose="02020603050405020304" pitchFamily="18" charset="0"/>
                <a:ea typeface="楷体_GB2312" pitchFamily="49" charset="-122"/>
              </a:rPr>
              <a:t>15mg</a:t>
            </a:r>
          </a:p>
        </p:txBody>
      </p:sp>
      <p:pic>
        <p:nvPicPr>
          <p:cNvPr id="117764" name="图片 2">
            <a:extLst>
              <a:ext uri="{FF2B5EF4-FFF2-40B4-BE49-F238E27FC236}">
                <a16:creationId xmlns:a16="http://schemas.microsoft.com/office/drawing/2014/main" id="{F1099521-C61B-4FEA-BB9D-D6A9B75B99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4777" t="52800" r="16763" b="19633"/>
          <a:stretch>
            <a:fillRect/>
          </a:stretch>
        </p:blipFill>
        <p:spPr bwMode="auto">
          <a:xfrm>
            <a:off x="8760296" y="4005064"/>
            <a:ext cx="2322513" cy="195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810" name="Text Box 4">
            <a:extLst>
              <a:ext uri="{FF2B5EF4-FFF2-40B4-BE49-F238E27FC236}">
                <a16:creationId xmlns:a16="http://schemas.microsoft.com/office/drawing/2014/main" id="{F879D9CB-F99E-4E68-AB35-CFDA7E9E041C}"/>
              </a:ext>
            </a:extLst>
          </p:cNvPr>
          <p:cNvSpPr txBox="1">
            <a:spLocks noChangeArrowheads="1"/>
          </p:cNvSpPr>
          <p:nvPr/>
        </p:nvSpPr>
        <p:spPr bwMode="auto">
          <a:xfrm>
            <a:off x="2028032" y="1484784"/>
            <a:ext cx="8460456" cy="126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lang="zh-CN" altLang="en-US" dirty="0">
                <a:latin typeface="Times New Roman" panose="02020603050405020304" pitchFamily="18" charset="0"/>
                <a:ea typeface="楷体_GB2312" pitchFamily="49" charset="-122"/>
              </a:rPr>
              <a:t>（一）化学</a:t>
            </a:r>
            <a:br>
              <a:rPr lang="zh-CN" altLang="en-US" dirty="0">
                <a:latin typeface="Times New Roman" panose="02020603050405020304" pitchFamily="18" charset="0"/>
                <a:ea typeface="楷体_GB2312" pitchFamily="49" charset="-122"/>
              </a:rPr>
            </a:br>
            <a:r>
              <a:rPr lang="zh-CN" altLang="en-US" sz="2400" dirty="0">
                <a:latin typeface="Times New Roman" panose="02020603050405020304" pitchFamily="18" charset="0"/>
                <a:ea typeface="宋体" panose="02010600030101010101" pitchFamily="2" charset="-122"/>
              </a:rPr>
              <a:t>由</a:t>
            </a:r>
            <a:r>
              <a:rPr lang="en-US" altLang="zh-CN" sz="2400" dirty="0">
                <a:latin typeface="Times New Roman" panose="02020603050405020304" pitchFamily="18" charset="0"/>
                <a:ea typeface="宋体" panose="02010600030101010101" pitchFamily="2" charset="-122"/>
              </a:rPr>
              <a:t>β</a:t>
            </a:r>
            <a:r>
              <a:rPr lang="zh-CN" altLang="en-US" sz="2400" dirty="0">
                <a:latin typeface="Times New Roman" panose="02020603050405020304" pitchFamily="18" charset="0"/>
                <a:ea typeface="宋体" panose="02010600030101010101" pitchFamily="2" charset="-122"/>
              </a:rPr>
              <a:t>－丙氨酸与</a:t>
            </a:r>
            <a:r>
              <a:rPr lang="en-US" altLang="zh-CN" sz="2400" dirty="0">
                <a:latin typeface="Times New Roman" panose="02020603050405020304" pitchFamily="18" charset="0"/>
                <a:ea typeface="宋体" panose="02010600030101010101" pitchFamily="2" charset="-122"/>
              </a:rPr>
              <a:t>α</a:t>
            </a: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β</a:t>
            </a:r>
            <a:r>
              <a:rPr lang="zh-CN" altLang="en-US" sz="2400" dirty="0">
                <a:latin typeface="Times New Roman" panose="02020603050405020304" pitchFamily="18" charset="0"/>
                <a:ea typeface="宋体" panose="02010600030101010101" pitchFamily="2" charset="-122"/>
              </a:rPr>
              <a:t>－二羟－</a:t>
            </a:r>
            <a:r>
              <a:rPr lang="en-US" altLang="zh-CN" sz="2400" dirty="0">
                <a:latin typeface="Times New Roman" panose="02020603050405020304" pitchFamily="18" charset="0"/>
                <a:ea typeface="宋体" panose="02010600030101010101" pitchFamily="2" charset="-122"/>
              </a:rPr>
              <a:t>β</a:t>
            </a: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β</a:t>
            </a:r>
            <a:r>
              <a:rPr lang="zh-CN" altLang="en-US" sz="2400" dirty="0">
                <a:latin typeface="Times New Roman" panose="02020603050405020304" pitchFamily="18" charset="0"/>
                <a:ea typeface="宋体" panose="02010600030101010101" pitchFamily="2" charset="-122"/>
              </a:rPr>
              <a:t>二甲基丁酸以肽键缩和而成的一种酸性物质。</a:t>
            </a:r>
          </a:p>
        </p:txBody>
      </p:sp>
      <p:sp>
        <p:nvSpPr>
          <p:cNvPr id="120835" name="Rectangle 8">
            <a:extLst>
              <a:ext uri="{FF2B5EF4-FFF2-40B4-BE49-F238E27FC236}">
                <a16:creationId xmlns:a16="http://schemas.microsoft.com/office/drawing/2014/main" id="{725B59EE-7E6D-4DD4-9DA4-3CF9B8B9B19A}"/>
              </a:ext>
            </a:extLst>
          </p:cNvPr>
          <p:cNvSpPr>
            <a:spLocks noGrp="1" noChangeArrowheads="1"/>
          </p:cNvSpPr>
          <p:nvPr>
            <p:ph type="title" idx="4294967295"/>
          </p:nvPr>
        </p:nvSpPr>
        <p:spPr>
          <a:xfrm>
            <a:off x="2711624" y="476672"/>
            <a:ext cx="8035925" cy="750887"/>
          </a:xfrm>
        </p:spPr>
        <p:txBody>
          <a:bodyPr/>
          <a:lstStyle/>
          <a:p>
            <a:pPr eaLnBrk="1" hangingPunct="1">
              <a:defRPr/>
            </a:pPr>
            <a:r>
              <a:rPr lang="zh-CN" altLang="en-US" sz="3600" b="1" dirty="0">
                <a:solidFill>
                  <a:srgbClr val="C00000"/>
                </a:solidFill>
                <a:ea typeface="楷体_GB2312" pitchFamily="49" charset="-122"/>
              </a:rPr>
              <a:t>四、泛 酸</a:t>
            </a:r>
            <a:r>
              <a:rPr lang="en-US" altLang="zh-CN" sz="3600" b="1" dirty="0">
                <a:solidFill>
                  <a:srgbClr val="C00000"/>
                </a:solidFill>
                <a:ea typeface="楷体_GB2312" pitchFamily="49" charset="-122"/>
              </a:rPr>
              <a:t>             </a:t>
            </a:r>
            <a:r>
              <a:rPr lang="zh-CN" altLang="en-US" sz="3200" b="1" dirty="0">
                <a:ea typeface="楷体_GB2312" pitchFamily="49" charset="-122"/>
              </a:rPr>
              <a:t>别名：</a:t>
            </a:r>
            <a:r>
              <a:rPr lang="zh-CN" altLang="en-US" sz="3200" b="1" dirty="0">
                <a:solidFill>
                  <a:srgbClr val="C00000"/>
                </a:solidFill>
                <a:ea typeface="楷体_GB2312" pitchFamily="49" charset="-122"/>
              </a:rPr>
              <a:t>遍多酸， </a:t>
            </a:r>
            <a:r>
              <a:rPr lang="en-US" altLang="zh-CN" sz="3200" b="1" dirty="0">
                <a:solidFill>
                  <a:srgbClr val="C00000"/>
                </a:solidFill>
                <a:ea typeface="楷体_GB2312" pitchFamily="49" charset="-122"/>
              </a:rPr>
              <a:t>B</a:t>
            </a:r>
            <a:r>
              <a:rPr lang="en-US" altLang="zh-CN" sz="3200" b="1" baseline="-25000" dirty="0">
                <a:solidFill>
                  <a:srgbClr val="C00000"/>
                </a:solidFill>
                <a:ea typeface="楷体_GB2312" pitchFamily="49" charset="-122"/>
              </a:rPr>
              <a:t>5</a:t>
            </a:r>
            <a:endParaRPr lang="zh-CN" altLang="en-US" sz="3200" b="1" baseline="-25000" dirty="0">
              <a:solidFill>
                <a:srgbClr val="C00000"/>
              </a:solidFill>
              <a:ea typeface="楷体_GB2312" pitchFamily="49" charset="-122"/>
            </a:endParaRPr>
          </a:p>
        </p:txBody>
      </p:sp>
      <p:pic>
        <p:nvPicPr>
          <p:cNvPr id="119812" name="图片 1">
            <a:extLst>
              <a:ext uri="{FF2B5EF4-FFF2-40B4-BE49-F238E27FC236}">
                <a16:creationId xmlns:a16="http://schemas.microsoft.com/office/drawing/2014/main" id="{F99139AD-3886-49B1-AAF0-6C34EFCC291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28031" y="2910583"/>
            <a:ext cx="8035926" cy="3369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858" name="Rectangle 5">
            <a:extLst>
              <a:ext uri="{FF2B5EF4-FFF2-40B4-BE49-F238E27FC236}">
                <a16:creationId xmlns:a16="http://schemas.microsoft.com/office/drawing/2014/main" id="{BDD33D46-4DF8-49CE-A952-255971615E69}"/>
              </a:ext>
            </a:extLst>
          </p:cNvPr>
          <p:cNvSpPr>
            <a:spLocks noChangeArrowheads="1"/>
          </p:cNvSpPr>
          <p:nvPr/>
        </p:nvSpPr>
        <p:spPr bwMode="auto">
          <a:xfrm>
            <a:off x="1919536" y="406503"/>
            <a:ext cx="8077200" cy="124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buFontTx/>
              <a:buNone/>
            </a:pPr>
            <a:r>
              <a:rPr lang="zh-CN" altLang="en-US" sz="3600" dirty="0">
                <a:solidFill>
                  <a:srgbClr val="3333CC"/>
                </a:solidFill>
                <a:latin typeface="楷体_GB2312" pitchFamily="49" charset="-122"/>
                <a:ea typeface="楷体_GB2312" pitchFamily="49" charset="-122"/>
              </a:rPr>
              <a:t>（二）生理功能</a:t>
            </a:r>
            <a:br>
              <a:rPr lang="zh-CN" altLang="en-US" sz="3600" dirty="0">
                <a:latin typeface="楷体_GB2312" pitchFamily="49" charset="-122"/>
                <a:ea typeface="楷体_GB2312" pitchFamily="49" charset="-122"/>
              </a:rPr>
            </a:br>
            <a:r>
              <a:rPr lang="zh-CN" altLang="en-US" sz="3200" dirty="0">
                <a:latin typeface="楷体_GB2312" pitchFamily="49" charset="-122"/>
                <a:ea typeface="楷体_GB2312" pitchFamily="49" charset="-122"/>
              </a:rPr>
              <a:t>   </a:t>
            </a:r>
            <a:r>
              <a:rPr lang="zh-CN" altLang="en-US" dirty="0">
                <a:latin typeface="宋体" panose="02010600030101010101" pitchFamily="2" charset="-122"/>
                <a:ea typeface="宋体" panose="02010600030101010101" pitchFamily="2" charset="-122"/>
              </a:rPr>
              <a:t>构成</a:t>
            </a:r>
            <a:r>
              <a:rPr lang="zh-CN" altLang="en-US" dirty="0">
                <a:solidFill>
                  <a:srgbClr val="C00000"/>
                </a:solidFill>
                <a:latin typeface="宋体" panose="02010600030101010101" pitchFamily="2" charset="-122"/>
                <a:ea typeface="宋体" panose="02010600030101010101" pitchFamily="2" charset="-122"/>
              </a:rPr>
              <a:t>辅酶 </a:t>
            </a:r>
            <a:r>
              <a:rPr lang="en-US" altLang="zh-CN" dirty="0">
                <a:solidFill>
                  <a:srgbClr val="C00000"/>
                </a:solidFill>
                <a:latin typeface="宋体" panose="02010600030101010101" pitchFamily="2" charset="-122"/>
                <a:ea typeface="宋体" panose="02010600030101010101" pitchFamily="2" charset="-122"/>
              </a:rPr>
              <a:t>A</a:t>
            </a:r>
            <a:r>
              <a:rPr lang="zh-CN" altLang="en-US" dirty="0">
                <a:solidFill>
                  <a:srgbClr val="C00000"/>
                </a:solidFill>
                <a:latin typeface="宋体" panose="02010600030101010101" pitchFamily="2" charset="-122"/>
                <a:ea typeface="宋体" panose="02010600030101010101" pitchFamily="2" charset="-122"/>
              </a:rPr>
              <a:t>（</a:t>
            </a:r>
            <a:r>
              <a:rPr lang="en-US" altLang="zh-CN" dirty="0">
                <a:solidFill>
                  <a:srgbClr val="C00000"/>
                </a:solidFill>
                <a:latin typeface="宋体" panose="02010600030101010101" pitchFamily="2" charset="-122"/>
                <a:ea typeface="宋体" panose="02010600030101010101" pitchFamily="2" charset="-122"/>
              </a:rPr>
              <a:t>CoA</a:t>
            </a:r>
            <a:r>
              <a:rPr lang="zh-CN" altLang="en-US" dirty="0">
                <a:solidFill>
                  <a:srgbClr val="C00000"/>
                </a:solidFill>
                <a:latin typeface="宋体" panose="02010600030101010101" pitchFamily="2" charset="-122"/>
                <a:ea typeface="宋体" panose="02010600030101010101" pitchFamily="2" charset="-122"/>
              </a:rPr>
              <a:t>～</a:t>
            </a:r>
            <a:r>
              <a:rPr lang="en-US" altLang="zh-CN" dirty="0">
                <a:solidFill>
                  <a:srgbClr val="C00000"/>
                </a:solidFill>
                <a:latin typeface="宋体" panose="02010600030101010101" pitchFamily="2" charset="-122"/>
                <a:ea typeface="宋体" panose="02010600030101010101" pitchFamily="2" charset="-122"/>
              </a:rPr>
              <a:t>SH</a:t>
            </a:r>
            <a:r>
              <a:rPr lang="zh-CN" altLang="en-US" dirty="0">
                <a:solidFill>
                  <a:srgbClr val="C00000"/>
                </a:solidFill>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及</a:t>
            </a:r>
            <a:r>
              <a:rPr lang="zh-CN" altLang="en-US" dirty="0">
                <a:solidFill>
                  <a:srgbClr val="C00000"/>
                </a:solidFill>
                <a:latin typeface="宋体" panose="02010600030101010101" pitchFamily="2" charset="-122"/>
                <a:ea typeface="宋体" panose="02010600030101010101" pitchFamily="2" charset="-122"/>
              </a:rPr>
              <a:t>酰基载体蛋白（</a:t>
            </a:r>
            <a:r>
              <a:rPr lang="en-US" altLang="zh-CN" dirty="0">
                <a:solidFill>
                  <a:srgbClr val="C00000"/>
                </a:solidFill>
                <a:latin typeface="宋体" panose="02010600030101010101" pitchFamily="2" charset="-122"/>
                <a:ea typeface="宋体" panose="02010600030101010101" pitchFamily="2" charset="-122"/>
              </a:rPr>
              <a:t>ACP)</a:t>
            </a:r>
            <a:endParaRPr lang="zh-CN" altLang="en-US" dirty="0">
              <a:solidFill>
                <a:srgbClr val="C00000"/>
              </a:solidFill>
              <a:latin typeface="宋体" panose="02010600030101010101" pitchFamily="2" charset="-122"/>
              <a:ea typeface="宋体" panose="02010600030101010101" pitchFamily="2" charset="-122"/>
            </a:endParaRPr>
          </a:p>
        </p:txBody>
      </p:sp>
      <p:sp>
        <p:nvSpPr>
          <p:cNvPr id="121859" name="Text Box 6">
            <a:extLst>
              <a:ext uri="{FF2B5EF4-FFF2-40B4-BE49-F238E27FC236}">
                <a16:creationId xmlns:a16="http://schemas.microsoft.com/office/drawing/2014/main" id="{812E422A-322D-471B-87ED-4E73F13EF0FA}"/>
              </a:ext>
            </a:extLst>
          </p:cNvPr>
          <p:cNvSpPr txBox="1">
            <a:spLocks noChangeArrowheads="1"/>
          </p:cNvSpPr>
          <p:nvPr/>
        </p:nvSpPr>
        <p:spPr bwMode="auto">
          <a:xfrm>
            <a:off x="1775520" y="1772817"/>
            <a:ext cx="9289032" cy="149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20000"/>
              </a:lnSpc>
              <a:spcBef>
                <a:spcPct val="50000"/>
              </a:spcBef>
            </a:pPr>
            <a:r>
              <a:rPr lang="en-US" altLang="zh-CN" sz="2600" b="0" dirty="0">
                <a:latin typeface="微软雅黑" panose="020B0503020204020204" pitchFamily="34" charset="-122"/>
                <a:ea typeface="微软雅黑" panose="020B0503020204020204" pitchFamily="34" charset="-122"/>
              </a:rPr>
              <a:t>CoA </a:t>
            </a:r>
            <a:r>
              <a:rPr lang="zh-CN" altLang="en-US" sz="2600" b="0" dirty="0">
                <a:latin typeface="微软雅黑" panose="020B0503020204020204" pitchFamily="34" charset="-122"/>
                <a:ea typeface="微软雅黑" panose="020B0503020204020204" pitchFamily="34" charset="-122"/>
              </a:rPr>
              <a:t>和</a:t>
            </a:r>
            <a:r>
              <a:rPr lang="en-US" altLang="zh-CN" sz="2600" b="0" dirty="0">
                <a:latin typeface="微软雅黑" panose="020B0503020204020204" pitchFamily="34" charset="-122"/>
                <a:ea typeface="微软雅黑" panose="020B0503020204020204" pitchFamily="34" charset="-122"/>
              </a:rPr>
              <a:t>ACP </a:t>
            </a:r>
            <a:r>
              <a:rPr lang="zh-CN" altLang="en-US" sz="2600" b="0" dirty="0">
                <a:latin typeface="微软雅黑" panose="020B0503020204020204" pitchFamily="34" charset="-122"/>
                <a:ea typeface="微软雅黑" panose="020B0503020204020204" pitchFamily="34" charset="-122"/>
              </a:rPr>
              <a:t>是泛酸在</a:t>
            </a:r>
            <a:r>
              <a:rPr lang="zh-CN" altLang="en-US" sz="2600" b="0" dirty="0">
                <a:solidFill>
                  <a:srgbClr val="0000CC"/>
                </a:solidFill>
                <a:latin typeface="微软雅黑" panose="020B0503020204020204" pitchFamily="34" charset="-122"/>
                <a:ea typeface="微软雅黑" panose="020B0503020204020204" pitchFamily="34" charset="-122"/>
              </a:rPr>
              <a:t>体内的活性形式</a:t>
            </a:r>
            <a:r>
              <a:rPr lang="zh-CN" altLang="en-US" sz="2600" b="0" dirty="0">
                <a:latin typeface="微软雅黑" panose="020B0503020204020204" pitchFamily="34" charset="-122"/>
                <a:ea typeface="微软雅黑" panose="020B0503020204020204" pitchFamily="34" charset="-122"/>
              </a:rPr>
              <a:t>，二者作为</a:t>
            </a:r>
            <a:r>
              <a:rPr lang="zh-CN" altLang="en-US" sz="2600" b="0" dirty="0">
                <a:solidFill>
                  <a:srgbClr val="0000CC"/>
                </a:solidFill>
                <a:latin typeface="微软雅黑" panose="020B0503020204020204" pitchFamily="34" charset="-122"/>
                <a:ea typeface="微软雅黑" panose="020B0503020204020204" pitchFamily="34" charset="-122"/>
              </a:rPr>
              <a:t>酰基转移酶的辅因子</a:t>
            </a:r>
            <a:r>
              <a:rPr lang="zh-CN" altLang="en-US" sz="2600" b="0" dirty="0">
                <a:latin typeface="微软雅黑" panose="020B0503020204020204" pitchFamily="34" charset="-122"/>
                <a:ea typeface="微软雅黑" panose="020B0503020204020204" pitchFamily="34" charset="-122"/>
              </a:rPr>
              <a:t>，广泛参与糖、脂质、蛋白质代谢及肝的生物转化作用。  </a:t>
            </a:r>
          </a:p>
        </p:txBody>
      </p:sp>
      <p:sp>
        <p:nvSpPr>
          <p:cNvPr id="2" name="矩形 1">
            <a:extLst>
              <a:ext uri="{FF2B5EF4-FFF2-40B4-BE49-F238E27FC236}">
                <a16:creationId xmlns:a16="http://schemas.microsoft.com/office/drawing/2014/main" id="{58A2FD1B-C650-4C5B-9953-C8D17606E088}"/>
              </a:ext>
            </a:extLst>
          </p:cNvPr>
          <p:cNvSpPr>
            <a:spLocks noChangeArrowheads="1"/>
          </p:cNvSpPr>
          <p:nvPr/>
        </p:nvSpPr>
        <p:spPr bwMode="auto">
          <a:xfrm>
            <a:off x="2138355" y="4653136"/>
            <a:ext cx="8638165" cy="1491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20000"/>
              </a:lnSpc>
              <a:spcBef>
                <a:spcPct val="0"/>
              </a:spcBef>
              <a:buFontTx/>
              <a:buNone/>
            </a:pPr>
            <a:r>
              <a:rPr lang="zh-CN" altLang="en-US" sz="2600" b="0" dirty="0">
                <a:latin typeface="Times New Roman" panose="02020603050405020304" pitchFamily="18" charset="0"/>
                <a:ea typeface="楷体_GB2312" pitchFamily="49" charset="-122"/>
              </a:rPr>
              <a:t>泛酸在食物中广泛存在，也能由肠道细菌合成。</a:t>
            </a:r>
            <a:endParaRPr lang="en-US" altLang="zh-CN" sz="2600" b="0" dirty="0">
              <a:latin typeface="Times New Roman" panose="02020603050405020304" pitchFamily="18" charset="0"/>
              <a:ea typeface="楷体_GB2312" pitchFamily="49" charset="-122"/>
            </a:endParaRPr>
          </a:p>
          <a:p>
            <a:pPr>
              <a:lnSpc>
                <a:spcPct val="120000"/>
              </a:lnSpc>
              <a:spcBef>
                <a:spcPct val="0"/>
              </a:spcBef>
              <a:buFontTx/>
              <a:buNone/>
            </a:pPr>
            <a:r>
              <a:rPr lang="zh-CN" altLang="en-US" sz="2600" b="0" dirty="0">
                <a:latin typeface="Times New Roman" panose="02020603050405020304" pitchFamily="18" charset="0"/>
                <a:ea typeface="楷体_GB2312" pitchFamily="49" charset="-122"/>
              </a:rPr>
              <a:t>辅酶</a:t>
            </a:r>
            <a:r>
              <a:rPr lang="en-US" altLang="zh-CN" sz="2600" b="0" dirty="0">
                <a:latin typeface="Times New Roman" panose="02020603050405020304" pitchFamily="18" charset="0"/>
                <a:ea typeface="楷体_GB2312" pitchFamily="49" charset="-122"/>
              </a:rPr>
              <a:t>A</a:t>
            </a:r>
            <a:r>
              <a:rPr lang="zh-CN" altLang="en-US" sz="2600" b="0" dirty="0">
                <a:latin typeface="Times New Roman" panose="02020603050405020304" pitchFamily="18" charset="0"/>
                <a:ea typeface="楷体_GB2312" pitchFamily="49" charset="-122"/>
              </a:rPr>
              <a:t>在细胞中含量丰富，一般无需补充。</a:t>
            </a:r>
            <a:endParaRPr lang="en-US" altLang="zh-CN" sz="2600" b="0" dirty="0">
              <a:latin typeface="Times New Roman" panose="02020603050405020304" pitchFamily="18" charset="0"/>
              <a:ea typeface="楷体_GB2312" pitchFamily="49" charset="-122"/>
            </a:endParaRPr>
          </a:p>
          <a:p>
            <a:pPr>
              <a:lnSpc>
                <a:spcPct val="120000"/>
              </a:lnSpc>
              <a:spcBef>
                <a:spcPct val="0"/>
              </a:spcBef>
              <a:buFontTx/>
              <a:buNone/>
            </a:pPr>
            <a:r>
              <a:rPr lang="zh-CN" altLang="en-US" sz="2600" b="0" dirty="0">
                <a:solidFill>
                  <a:srgbClr val="0000CC"/>
                </a:solidFill>
                <a:latin typeface="Times New Roman" panose="02020603050405020304" pitchFamily="18" charset="0"/>
                <a:ea typeface="楷体_GB2312" pitchFamily="49" charset="-122"/>
              </a:rPr>
              <a:t>缺乏症少见</a:t>
            </a:r>
            <a:r>
              <a:rPr lang="zh-CN" altLang="en-US" sz="2600" b="0" dirty="0">
                <a:latin typeface="Times New Roman" panose="02020603050405020304" pitchFamily="18" charset="0"/>
                <a:ea typeface="楷体_GB2312" pitchFamily="49" charset="-122"/>
              </a:rPr>
              <a:t>。</a:t>
            </a:r>
          </a:p>
        </p:txBody>
      </p:sp>
      <p:sp>
        <p:nvSpPr>
          <p:cNvPr id="4" name="文本框 3">
            <a:extLst>
              <a:ext uri="{FF2B5EF4-FFF2-40B4-BE49-F238E27FC236}">
                <a16:creationId xmlns:a16="http://schemas.microsoft.com/office/drawing/2014/main" id="{7DAEE119-6659-E9F8-D7B1-F92B069B5B98}"/>
              </a:ext>
            </a:extLst>
          </p:cNvPr>
          <p:cNvSpPr txBox="1"/>
          <p:nvPr/>
        </p:nvSpPr>
        <p:spPr>
          <a:xfrm>
            <a:off x="2081446" y="3626653"/>
            <a:ext cx="7915290" cy="492443"/>
          </a:xfrm>
          <a:prstGeom prst="rect">
            <a:avLst/>
          </a:prstGeom>
          <a:noFill/>
        </p:spPr>
        <p:txBody>
          <a:bodyPr wrap="square">
            <a:spAutoFit/>
          </a:bodyPr>
          <a:lstStyle/>
          <a:p>
            <a:pPr>
              <a:defRPr/>
            </a:pPr>
            <a:r>
              <a:rPr lang="en-US" altLang="zh-CN" sz="2600" b="0" dirty="0">
                <a:solidFill>
                  <a:schemeClr val="tx1"/>
                </a:solidFill>
              </a:rPr>
              <a:t>15 </a:t>
            </a:r>
            <a:r>
              <a:rPr lang="zh-CN" altLang="en-US" sz="2600" b="0" dirty="0">
                <a:solidFill>
                  <a:schemeClr val="tx1"/>
                </a:solidFill>
              </a:rPr>
              <a:t>岁以上人群泛酸的适宜摄入量（</a:t>
            </a:r>
            <a:r>
              <a:rPr lang="en-US" altLang="zh-CN" sz="2600" b="0" dirty="0">
                <a:solidFill>
                  <a:schemeClr val="tx1"/>
                </a:solidFill>
              </a:rPr>
              <a:t>AI</a:t>
            </a:r>
            <a:r>
              <a:rPr lang="zh-CN" altLang="en-US" sz="2600" b="0" dirty="0">
                <a:solidFill>
                  <a:schemeClr val="tx1"/>
                </a:solidFill>
              </a:rPr>
              <a:t>）为</a:t>
            </a:r>
            <a:r>
              <a:rPr lang="en-US" altLang="zh-CN" sz="2600" b="0" dirty="0">
                <a:solidFill>
                  <a:schemeClr val="tx1"/>
                </a:solidFill>
              </a:rPr>
              <a:t>5.0mg/d</a:t>
            </a:r>
            <a:r>
              <a:rPr lang="zh-CN" altLang="en-US" sz="2600" b="0" dirty="0">
                <a:solidFill>
                  <a:schemeClr val="tx1"/>
                </a:solidFill>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906" name="Text Box 2">
            <a:extLst>
              <a:ext uri="{FF2B5EF4-FFF2-40B4-BE49-F238E27FC236}">
                <a16:creationId xmlns:a16="http://schemas.microsoft.com/office/drawing/2014/main" id="{429A4DB5-C080-4E01-8AE4-8D184056489C}"/>
              </a:ext>
            </a:extLst>
          </p:cNvPr>
          <p:cNvSpPr txBox="1">
            <a:spLocks noChangeArrowheads="1"/>
          </p:cNvSpPr>
          <p:nvPr/>
        </p:nvSpPr>
        <p:spPr bwMode="auto">
          <a:xfrm>
            <a:off x="3119902" y="1006302"/>
            <a:ext cx="432117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buFontTx/>
              <a:buNone/>
            </a:pPr>
            <a:r>
              <a:rPr lang="zh-CN" altLang="en-US" sz="2400" dirty="0">
                <a:latin typeface="Times New Roman" panose="02020603050405020304" pitchFamily="18" charset="0"/>
                <a:ea typeface="宋体" panose="02010600030101010101" pitchFamily="2" charset="-122"/>
              </a:rPr>
              <a:t>包括</a:t>
            </a:r>
            <a:r>
              <a:rPr lang="zh-CN" altLang="en-US" sz="2400" dirty="0">
                <a:solidFill>
                  <a:srgbClr val="3333CC"/>
                </a:solidFill>
                <a:latin typeface="Times New Roman" panose="02020603050405020304" pitchFamily="18" charset="0"/>
                <a:ea typeface="宋体" panose="02010600030101010101" pitchFamily="2" charset="-122"/>
              </a:rPr>
              <a:t>吡哆醇、吡哆醛、吡哆胺</a:t>
            </a:r>
          </a:p>
        </p:txBody>
      </p:sp>
      <p:sp>
        <p:nvSpPr>
          <p:cNvPr id="123907" name="Rectangle 4">
            <a:extLst>
              <a:ext uri="{FF2B5EF4-FFF2-40B4-BE49-F238E27FC236}">
                <a16:creationId xmlns:a16="http://schemas.microsoft.com/office/drawing/2014/main" id="{6BDBDF24-69C5-4EC0-9633-57AEF408D2D5}"/>
              </a:ext>
            </a:extLst>
          </p:cNvPr>
          <p:cNvSpPr>
            <a:spLocks noGrp="1" noChangeArrowheads="1"/>
          </p:cNvSpPr>
          <p:nvPr>
            <p:ph type="title" idx="4294967295"/>
          </p:nvPr>
        </p:nvSpPr>
        <p:spPr>
          <a:xfrm>
            <a:off x="2436496" y="221364"/>
            <a:ext cx="3965575" cy="833438"/>
          </a:xfrm>
        </p:spPr>
        <p:txBody>
          <a:bodyPr/>
          <a:lstStyle/>
          <a:p>
            <a:pPr eaLnBrk="1" hangingPunct="1"/>
            <a:r>
              <a:rPr lang="zh-CN" altLang="en-US" sz="3600" b="1" dirty="0">
                <a:solidFill>
                  <a:srgbClr val="C00000"/>
                </a:solidFill>
                <a:ea typeface="楷体_GB2312" pitchFamily="49" charset="-122"/>
              </a:rPr>
              <a:t>五、维生素 </a:t>
            </a:r>
            <a:r>
              <a:rPr lang="en-US" altLang="zh-CN" sz="3600" b="1" dirty="0">
                <a:solidFill>
                  <a:srgbClr val="C00000"/>
                </a:solidFill>
                <a:ea typeface="楷体_GB2312" pitchFamily="49" charset="-122"/>
              </a:rPr>
              <a:t>B</a:t>
            </a:r>
            <a:r>
              <a:rPr lang="en-US" altLang="zh-CN" sz="3600" b="1" baseline="-25000" dirty="0">
                <a:solidFill>
                  <a:srgbClr val="C00000"/>
                </a:solidFill>
                <a:ea typeface="楷体_GB2312" pitchFamily="49" charset="-122"/>
              </a:rPr>
              <a:t>6</a:t>
            </a:r>
          </a:p>
        </p:txBody>
      </p:sp>
      <p:grpSp>
        <p:nvGrpSpPr>
          <p:cNvPr id="123908" name="Group 7">
            <a:extLst>
              <a:ext uri="{FF2B5EF4-FFF2-40B4-BE49-F238E27FC236}">
                <a16:creationId xmlns:a16="http://schemas.microsoft.com/office/drawing/2014/main" id="{4C63611F-C54B-432C-A115-7F8C27CE6E7F}"/>
              </a:ext>
            </a:extLst>
          </p:cNvPr>
          <p:cNvGrpSpPr>
            <a:grpSpLocks/>
          </p:cNvGrpSpPr>
          <p:nvPr/>
        </p:nvGrpSpPr>
        <p:grpSpPr bwMode="auto">
          <a:xfrm>
            <a:off x="2423592" y="1643732"/>
            <a:ext cx="6844208" cy="2204799"/>
            <a:chOff x="464" y="1314"/>
            <a:chExt cx="4999" cy="1707"/>
          </a:xfrm>
        </p:grpSpPr>
        <p:pic>
          <p:nvPicPr>
            <p:cNvPr id="123912" name="Picture 5" descr="维生素24">
              <a:extLst>
                <a:ext uri="{FF2B5EF4-FFF2-40B4-BE49-F238E27FC236}">
                  <a16:creationId xmlns:a16="http://schemas.microsoft.com/office/drawing/2014/main" id="{867AF77F-4B93-4AB4-B37A-7D4D483BCC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386" t="8984" r="4633" b="56093"/>
            <a:stretch>
              <a:fillRect/>
            </a:stretch>
          </p:blipFill>
          <p:spPr bwMode="auto">
            <a:xfrm>
              <a:off x="939" y="1733"/>
              <a:ext cx="4524" cy="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13" name="Text Box 6">
              <a:extLst>
                <a:ext uri="{FF2B5EF4-FFF2-40B4-BE49-F238E27FC236}">
                  <a16:creationId xmlns:a16="http://schemas.microsoft.com/office/drawing/2014/main" id="{A41719F0-624E-44D4-BB6E-B8FF12C9F1D1}"/>
                </a:ext>
              </a:extLst>
            </p:cNvPr>
            <p:cNvSpPr txBox="1">
              <a:spLocks noChangeArrowheads="1"/>
            </p:cNvSpPr>
            <p:nvPr/>
          </p:nvSpPr>
          <p:spPr bwMode="auto">
            <a:xfrm>
              <a:off x="464" y="1314"/>
              <a:ext cx="3221"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buFontTx/>
                <a:buNone/>
              </a:pPr>
              <a:r>
                <a:rPr lang="zh-CN" altLang="en-US" dirty="0">
                  <a:latin typeface="Times New Roman" panose="02020603050405020304" pitchFamily="18" charset="0"/>
                  <a:ea typeface="楷体_GB2312" pitchFamily="49" charset="-122"/>
                </a:rPr>
                <a:t>（一）化学：吡啶衍生物</a:t>
              </a:r>
              <a:endParaRPr lang="zh-CN" altLang="en-US" b="0" dirty="0">
                <a:latin typeface="Times New Roman" panose="02020603050405020304" pitchFamily="18" charset="0"/>
                <a:ea typeface="楷体_GB2312" pitchFamily="49" charset="-122"/>
              </a:endParaRPr>
            </a:p>
          </p:txBody>
        </p:sp>
      </p:grpSp>
      <p:pic>
        <p:nvPicPr>
          <p:cNvPr id="2" name="Picture 3" descr="维生素24">
            <a:extLst>
              <a:ext uri="{FF2B5EF4-FFF2-40B4-BE49-F238E27FC236}">
                <a16:creationId xmlns:a16="http://schemas.microsoft.com/office/drawing/2014/main" id="{9DE18B53-339C-1D34-9A62-C7070B2991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754" t="49541" r="4633" b="14421"/>
          <a:stretch>
            <a:fillRect/>
          </a:stretch>
        </p:blipFill>
        <p:spPr bwMode="auto">
          <a:xfrm>
            <a:off x="3168825" y="4644863"/>
            <a:ext cx="5040313"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7">
            <a:extLst>
              <a:ext uri="{FF2B5EF4-FFF2-40B4-BE49-F238E27FC236}">
                <a16:creationId xmlns:a16="http://schemas.microsoft.com/office/drawing/2014/main" id="{5EDBDEBC-C1B0-C7F8-2371-83FBFF83B3AF}"/>
              </a:ext>
            </a:extLst>
          </p:cNvPr>
          <p:cNvSpPr txBox="1">
            <a:spLocks noChangeArrowheads="1"/>
          </p:cNvSpPr>
          <p:nvPr/>
        </p:nvSpPr>
        <p:spPr bwMode="auto">
          <a:xfrm>
            <a:off x="3058897" y="3985087"/>
            <a:ext cx="71278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b="0" dirty="0">
                <a:solidFill>
                  <a:srgbClr val="C00000"/>
                </a:solidFill>
                <a:latin typeface="微软雅黑" panose="020B0503020204020204" pitchFamily="34" charset="-122"/>
                <a:ea typeface="微软雅黑" panose="020B0503020204020204" pitchFamily="34" charset="-122"/>
              </a:rPr>
              <a:t>活性形式：磷酸吡哆醛、磷酸吡哆胺</a:t>
            </a:r>
          </a:p>
        </p:txBody>
      </p:sp>
      <p:sp>
        <p:nvSpPr>
          <p:cNvPr id="3" name="文本框 2">
            <a:extLst>
              <a:ext uri="{FF2B5EF4-FFF2-40B4-BE49-F238E27FC236}">
                <a16:creationId xmlns:a16="http://schemas.microsoft.com/office/drawing/2014/main" id="{B1320BA4-6286-5FDC-5853-28A337D6CF9C}"/>
              </a:ext>
            </a:extLst>
          </p:cNvPr>
          <p:cNvSpPr txBox="1"/>
          <p:nvPr/>
        </p:nvSpPr>
        <p:spPr>
          <a:xfrm>
            <a:off x="6622835" y="327670"/>
            <a:ext cx="3154287" cy="523220"/>
          </a:xfrm>
          <a:prstGeom prst="rect">
            <a:avLst/>
          </a:prstGeom>
          <a:noFill/>
        </p:spPr>
        <p:txBody>
          <a:bodyPr wrap="square" rtlCol="0">
            <a:spAutoFit/>
          </a:bodyPr>
          <a:lstStyle/>
          <a:p>
            <a:r>
              <a:rPr lang="zh-CN" altLang="en-US" sz="2800" b="0" dirty="0">
                <a:solidFill>
                  <a:srgbClr val="0000CC"/>
                </a:solidFill>
              </a:rPr>
              <a:t>抗皮炎维生素 </a:t>
            </a: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C45BEF37-8289-4574-8D88-183374DB3463}"/>
              </a:ext>
            </a:extLst>
          </p:cNvPr>
          <p:cNvSpPr>
            <a:spLocks noChangeArrowheads="1"/>
          </p:cNvSpPr>
          <p:nvPr/>
        </p:nvSpPr>
        <p:spPr bwMode="auto">
          <a:xfrm>
            <a:off x="1343472" y="476672"/>
            <a:ext cx="10081120" cy="5441490"/>
          </a:xfrm>
          <a:prstGeom prst="rect">
            <a:avLst/>
          </a:prstGeom>
          <a:noFill/>
          <a:ln w="9525">
            <a:noFill/>
            <a:miter lim="800000"/>
            <a:headEnd/>
            <a:tailEnd/>
          </a:ln>
          <a:effectLst/>
        </p:spPr>
        <p:txBody>
          <a:bodyPr wrap="square">
            <a:spAutoFit/>
          </a:bodyPr>
          <a:lstStyle/>
          <a:p>
            <a:pPr eaLnBrk="1" hangingPunct="1">
              <a:spcBef>
                <a:spcPct val="50000"/>
              </a:spcBef>
              <a:buClr>
                <a:srgbClr val="FFFF00"/>
              </a:buClr>
              <a:buSzPct val="80000"/>
              <a:buFont typeface="Wingdings" pitchFamily="2" charset="2"/>
              <a:buNone/>
              <a:defRPr/>
            </a:pPr>
            <a:r>
              <a:rPr lang="zh-CN" altLang="en-US" dirty="0">
                <a:solidFill>
                  <a:schemeClr val="tx1"/>
                </a:solidFill>
                <a:latin typeface="微软雅黑" panose="020B0503020204020204" pitchFamily="34" charset="-122"/>
                <a:ea typeface="微软雅黑" panose="020B0503020204020204" pitchFamily="34" charset="-122"/>
              </a:rPr>
              <a:t>（二）</a:t>
            </a:r>
            <a:r>
              <a:rPr lang="en-US" altLang="zh-CN" dirty="0">
                <a:solidFill>
                  <a:schemeClr val="tx1"/>
                </a:solidFill>
                <a:latin typeface="微软雅黑" panose="020B0503020204020204" pitchFamily="34" charset="-122"/>
                <a:ea typeface="微软雅黑" panose="020B0503020204020204" pitchFamily="34" charset="-122"/>
              </a:rPr>
              <a:t>B</a:t>
            </a:r>
            <a:r>
              <a:rPr lang="en-US" altLang="zh-CN" baseline="-25000" dirty="0">
                <a:solidFill>
                  <a:schemeClr val="tx1"/>
                </a:solidFill>
                <a:latin typeface="微软雅黑" panose="020B0503020204020204" pitchFamily="34" charset="-122"/>
                <a:ea typeface="微软雅黑" panose="020B0503020204020204" pitchFamily="34" charset="-122"/>
              </a:rPr>
              <a:t>6</a:t>
            </a:r>
            <a:r>
              <a:rPr lang="zh-CN" altLang="en-US" dirty="0">
                <a:solidFill>
                  <a:schemeClr val="tx1"/>
                </a:solidFill>
                <a:latin typeface="微软雅黑" panose="020B0503020204020204" pitchFamily="34" charset="-122"/>
                <a:ea typeface="微软雅黑" panose="020B0503020204020204" pitchFamily="34" charset="-122"/>
              </a:rPr>
              <a:t>的生理功能</a:t>
            </a:r>
          </a:p>
          <a:p>
            <a:pPr marL="457200" indent="-457200" eaLnBrk="1" hangingPunct="1">
              <a:lnSpc>
                <a:spcPct val="120000"/>
              </a:lnSpc>
              <a:spcBef>
                <a:spcPts val="600"/>
              </a:spcBef>
              <a:buClr>
                <a:srgbClr val="3333CC"/>
              </a:buClr>
              <a:buSzPct val="80000"/>
              <a:buFont typeface="+mj-lt"/>
              <a:buAutoNum type="arabicPeriod"/>
              <a:defRPr/>
            </a:pPr>
            <a:r>
              <a:rPr lang="zh-CN" altLang="en-US" sz="2400" b="0" dirty="0">
                <a:solidFill>
                  <a:srgbClr val="0000CC"/>
                </a:solidFill>
                <a:latin typeface="微软雅黑" panose="020B0503020204020204" pitchFamily="34" charset="-122"/>
                <a:ea typeface="微软雅黑" panose="020B0503020204020204" pitchFamily="34" charset="-122"/>
              </a:rPr>
              <a:t>磷酸吡哆醛是多种酶的辅因子</a:t>
            </a:r>
            <a:endParaRPr lang="en-US" altLang="zh-CN" sz="2400" b="0" dirty="0">
              <a:solidFill>
                <a:srgbClr val="0000CC"/>
              </a:solidFill>
              <a:latin typeface="微软雅黑" panose="020B0503020204020204" pitchFamily="34" charset="-122"/>
              <a:ea typeface="微软雅黑" panose="020B0503020204020204" pitchFamily="34" charset="-122"/>
            </a:endParaRPr>
          </a:p>
          <a:p>
            <a:pPr marL="800100" lvl="1" indent="-342900" eaLnBrk="1" hangingPunct="1">
              <a:lnSpc>
                <a:spcPct val="120000"/>
              </a:lnSpc>
              <a:spcBef>
                <a:spcPts val="600"/>
              </a:spcBef>
              <a:buClr>
                <a:srgbClr val="3333CC"/>
              </a:buClr>
              <a:buSzPct val="80000"/>
              <a:buFont typeface="Wingdings" panose="05000000000000000000" pitchFamily="2" charset="2"/>
              <a:buChar char="u"/>
              <a:defRPr/>
            </a:pPr>
            <a:r>
              <a:rPr lang="zh-CN" altLang="en-US" sz="2200" b="0" dirty="0">
                <a:solidFill>
                  <a:srgbClr val="C00000"/>
                </a:solidFill>
                <a:latin typeface="微软雅黑" panose="020B0503020204020204" pitchFamily="34" charset="-122"/>
                <a:ea typeface="微软雅黑" panose="020B0503020204020204" pitchFamily="34" charset="-122"/>
              </a:rPr>
              <a:t>转氨酶、氨基酸脱羧酶</a:t>
            </a:r>
            <a:r>
              <a:rPr lang="zh-CN" altLang="en-US" sz="2200" b="0" dirty="0">
                <a:solidFill>
                  <a:schemeClr val="tx1">
                    <a:lumMod val="95000"/>
                    <a:lumOff val="5000"/>
                  </a:schemeClr>
                </a:solidFill>
                <a:latin typeface="微软雅黑" panose="020B0503020204020204" pitchFamily="34" charset="-122"/>
                <a:ea typeface="微软雅黑" panose="020B0503020204020204" pitchFamily="34" charset="-122"/>
              </a:rPr>
              <a:t>等百余种酶的辅酶</a:t>
            </a:r>
            <a:endParaRPr lang="en-US" altLang="zh-CN" sz="2200" b="0" dirty="0">
              <a:solidFill>
                <a:schemeClr val="tx1">
                  <a:lumMod val="95000"/>
                  <a:lumOff val="5000"/>
                </a:schemeClr>
              </a:solidFill>
              <a:latin typeface="微软雅黑" panose="020B0503020204020204" pitchFamily="34" charset="-122"/>
              <a:ea typeface="微软雅黑" panose="020B0503020204020204" pitchFamily="34" charset="-122"/>
            </a:endParaRPr>
          </a:p>
          <a:p>
            <a:pPr lvl="2" eaLnBrk="1" hangingPunct="1">
              <a:lnSpc>
                <a:spcPct val="120000"/>
              </a:lnSpc>
              <a:spcBef>
                <a:spcPts val="600"/>
              </a:spcBef>
              <a:buClr>
                <a:srgbClr val="3333CC"/>
              </a:buClr>
              <a:buSzPct val="80000"/>
              <a:defRPr/>
            </a:pPr>
            <a:r>
              <a:rPr lang="zh-CN" altLang="en-US" sz="2200" b="0" dirty="0">
                <a:solidFill>
                  <a:srgbClr val="0000CC"/>
                </a:solidFill>
                <a:latin typeface="微软雅黑" panose="020B0503020204020204" pitchFamily="34" charset="-122"/>
                <a:ea typeface="微软雅黑" panose="020B0503020204020204" pitchFamily="34" charset="-122"/>
              </a:rPr>
              <a:t>常用于治疗小儿惊厥，妊娠呕吐，精神焦虑</a:t>
            </a:r>
            <a:endParaRPr lang="en-US" altLang="zh-CN" sz="2200" b="0" dirty="0">
              <a:solidFill>
                <a:srgbClr val="0000CC"/>
              </a:solidFill>
              <a:latin typeface="微软雅黑" panose="020B0503020204020204" pitchFamily="34" charset="-122"/>
              <a:ea typeface="微软雅黑" panose="020B0503020204020204" pitchFamily="34" charset="-122"/>
            </a:endParaRPr>
          </a:p>
          <a:p>
            <a:pPr marL="800100" lvl="1" indent="-342900" eaLnBrk="1" hangingPunct="1">
              <a:lnSpc>
                <a:spcPct val="120000"/>
              </a:lnSpc>
              <a:spcBef>
                <a:spcPts val="600"/>
              </a:spcBef>
              <a:buClr>
                <a:srgbClr val="3333CC"/>
              </a:buClr>
              <a:buSzPct val="80000"/>
              <a:buFont typeface="Wingdings" panose="05000000000000000000" pitchFamily="2" charset="2"/>
              <a:buChar char="u"/>
              <a:defRPr/>
            </a:pPr>
            <a:r>
              <a:rPr lang="en-US" altLang="zh-CN" sz="2200" b="0" dirty="0">
                <a:solidFill>
                  <a:srgbClr val="C00000"/>
                </a:solidFill>
                <a:latin typeface="微软雅黑" panose="020B0503020204020204" pitchFamily="34" charset="-122"/>
                <a:ea typeface="微软雅黑" panose="020B0503020204020204" pitchFamily="34" charset="-122"/>
              </a:rPr>
              <a:t>ALA</a:t>
            </a:r>
            <a:r>
              <a:rPr lang="zh-CN" altLang="en-US" sz="2200" b="0" dirty="0">
                <a:solidFill>
                  <a:srgbClr val="C00000"/>
                </a:solidFill>
                <a:latin typeface="微软雅黑" panose="020B0503020204020204" pitchFamily="34" charset="-122"/>
                <a:ea typeface="微软雅黑" panose="020B0503020204020204" pitchFamily="34" charset="-122"/>
              </a:rPr>
              <a:t>合酶</a:t>
            </a:r>
            <a:r>
              <a:rPr lang="zh-CN" altLang="en-US" sz="2200" b="0" dirty="0">
                <a:solidFill>
                  <a:srgbClr val="0000CC"/>
                </a:solidFill>
                <a:latin typeface="微软雅黑" panose="020B0503020204020204" pitchFamily="34" charset="-122"/>
                <a:ea typeface="微软雅黑" panose="020B0503020204020204" pitchFamily="34" charset="-122"/>
              </a:rPr>
              <a:t>的辅酶，</a:t>
            </a:r>
            <a:r>
              <a:rPr lang="zh-CN" altLang="en-US" sz="2200" b="0" dirty="0">
                <a:solidFill>
                  <a:schemeClr val="tx1">
                    <a:lumMod val="85000"/>
                    <a:lumOff val="15000"/>
                  </a:schemeClr>
                </a:solidFill>
                <a:latin typeface="微软雅黑" panose="020B0503020204020204" pitchFamily="34" charset="-122"/>
                <a:ea typeface="微软雅黑" panose="020B0503020204020204" pitchFamily="34" charset="-122"/>
              </a:rPr>
              <a:t>缺乏导致低血色素小细胞性贫血</a:t>
            </a:r>
            <a:endParaRPr lang="en-US" altLang="zh-CN" sz="2200" b="0" dirty="0">
              <a:solidFill>
                <a:schemeClr val="tx1">
                  <a:lumMod val="85000"/>
                  <a:lumOff val="15000"/>
                </a:schemeClr>
              </a:solidFill>
              <a:latin typeface="微软雅黑" panose="020B0503020204020204" pitchFamily="34" charset="-122"/>
              <a:ea typeface="微软雅黑" panose="020B0503020204020204" pitchFamily="34" charset="-122"/>
            </a:endParaRPr>
          </a:p>
          <a:p>
            <a:pPr marL="800100" lvl="1" indent="-342900" eaLnBrk="1" hangingPunct="1">
              <a:lnSpc>
                <a:spcPct val="120000"/>
              </a:lnSpc>
              <a:spcBef>
                <a:spcPts val="600"/>
              </a:spcBef>
              <a:buClr>
                <a:srgbClr val="3333CC"/>
              </a:buClr>
              <a:buSzPct val="80000"/>
              <a:buFont typeface="Wingdings" panose="05000000000000000000" pitchFamily="2" charset="2"/>
              <a:buChar char="u"/>
              <a:defRPr/>
            </a:pPr>
            <a:r>
              <a:rPr lang="zh-CN" altLang="en-US" sz="2200" b="0" dirty="0">
                <a:solidFill>
                  <a:schemeClr val="tx1"/>
                </a:solidFill>
                <a:latin typeface="微软雅黑" panose="020B0503020204020204" pitchFamily="34" charset="-122"/>
                <a:ea typeface="微软雅黑" panose="020B0503020204020204" pitchFamily="34" charset="-122"/>
              </a:rPr>
              <a:t>同型半胱氨酸分解过程中</a:t>
            </a:r>
            <a:r>
              <a:rPr lang="zh-CN" altLang="en-US" sz="2200" b="0" dirty="0">
                <a:solidFill>
                  <a:srgbClr val="0000CC"/>
                </a:solidFill>
                <a:latin typeface="微软雅黑" panose="020B0503020204020204" pitchFamily="34" charset="-122"/>
                <a:ea typeface="微软雅黑" panose="020B0503020204020204" pitchFamily="34" charset="-122"/>
              </a:rPr>
              <a:t>胱硫醚</a:t>
            </a:r>
            <a:r>
              <a:rPr lang="en-US" altLang="zh-CN" sz="2200" b="0" dirty="0">
                <a:solidFill>
                  <a:srgbClr val="0000CC"/>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200" b="0" dirty="0">
                <a:solidFill>
                  <a:srgbClr val="0000CC"/>
                </a:solidFill>
                <a:latin typeface="微软雅黑" panose="020B0503020204020204" pitchFamily="34" charset="-122"/>
                <a:ea typeface="微软雅黑" panose="020B0503020204020204" pitchFamily="34" charset="-122"/>
              </a:rPr>
              <a:t>合成酶</a:t>
            </a:r>
            <a:r>
              <a:rPr lang="zh-CN" altLang="en-US" sz="2200" b="0" dirty="0">
                <a:solidFill>
                  <a:schemeClr val="tx1">
                    <a:lumMod val="95000"/>
                    <a:lumOff val="5000"/>
                  </a:schemeClr>
                </a:solidFill>
                <a:latin typeface="微软雅黑" panose="020B0503020204020204" pitchFamily="34" charset="-122"/>
                <a:ea typeface="微软雅黑" panose="020B0503020204020204" pitchFamily="34" charset="-122"/>
              </a:rPr>
              <a:t>的辅酶</a:t>
            </a:r>
            <a:r>
              <a:rPr lang="zh-CN" altLang="en-US" sz="2200" b="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2200" b="0" dirty="0">
                <a:solidFill>
                  <a:srgbClr val="0000CC"/>
                </a:solidFill>
                <a:latin typeface="微软雅黑" panose="020B0503020204020204" pitchFamily="34" charset="-122"/>
                <a:ea typeface="微软雅黑" panose="020B0503020204020204" pitchFamily="34" charset="-122"/>
              </a:rPr>
              <a:t>缺乏引起高同型半胱氨酸血症</a:t>
            </a:r>
            <a:endParaRPr lang="en-US" altLang="zh-CN" sz="2200" b="0" dirty="0">
              <a:solidFill>
                <a:srgbClr val="0000CC"/>
              </a:solidFill>
              <a:latin typeface="微软雅黑" panose="020B0503020204020204" pitchFamily="34" charset="-122"/>
              <a:ea typeface="微软雅黑" panose="020B0503020204020204" pitchFamily="34" charset="-122"/>
            </a:endParaRPr>
          </a:p>
          <a:p>
            <a:pPr marL="800100" lvl="1" indent="-342900" eaLnBrk="1" hangingPunct="1">
              <a:lnSpc>
                <a:spcPct val="120000"/>
              </a:lnSpc>
              <a:spcBef>
                <a:spcPts val="600"/>
              </a:spcBef>
              <a:buClr>
                <a:srgbClr val="3333CC"/>
              </a:buClr>
              <a:buSzPct val="80000"/>
              <a:buFont typeface="Wingdings" panose="05000000000000000000" pitchFamily="2" charset="2"/>
              <a:buChar char="u"/>
              <a:defRPr/>
            </a:pPr>
            <a:r>
              <a:rPr lang="zh-CN" altLang="en-US" sz="2400" b="0" dirty="0">
                <a:solidFill>
                  <a:srgbClr val="C00000"/>
                </a:solidFill>
                <a:latin typeface="微软雅黑" panose="020B0503020204020204" pitchFamily="34" charset="-122"/>
                <a:ea typeface="微软雅黑" panose="020B0503020204020204" pitchFamily="34" charset="-122"/>
              </a:rPr>
              <a:t>糖原磷酸化酶</a:t>
            </a: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（糖原分解的关键酶）的辅因子</a:t>
            </a:r>
            <a:endParaRPr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endParaRPr>
          </a:p>
          <a:p>
            <a:pPr marL="457200" indent="-457200" eaLnBrk="1" hangingPunct="1">
              <a:spcBef>
                <a:spcPct val="50000"/>
              </a:spcBef>
              <a:buClr>
                <a:srgbClr val="3333CC"/>
              </a:buClr>
              <a:buSzPct val="80000"/>
              <a:buFont typeface="+mj-lt"/>
              <a:buAutoNum type="arabicPeriod" startAt="2"/>
              <a:defRPr/>
            </a:pPr>
            <a:r>
              <a:rPr lang="zh-CN" altLang="en-US" sz="2400" b="0" dirty="0">
                <a:solidFill>
                  <a:srgbClr val="0000CC"/>
                </a:solidFill>
                <a:latin typeface="微软雅黑" panose="020B0503020204020204" pitchFamily="34" charset="-122"/>
                <a:ea typeface="微软雅黑" panose="020B0503020204020204" pitchFamily="34" charset="-122"/>
              </a:rPr>
              <a:t>磷酸吡哆醛可终止类固醇激素的作用   </a:t>
            </a:r>
            <a:endParaRPr lang="en-US" altLang="zh-CN" sz="2400" b="0" dirty="0">
              <a:solidFill>
                <a:srgbClr val="0000CC"/>
              </a:solidFill>
              <a:latin typeface="微软雅黑" panose="020B0503020204020204" pitchFamily="34" charset="-122"/>
              <a:ea typeface="微软雅黑" panose="020B0503020204020204" pitchFamily="34" charset="-122"/>
            </a:endParaRPr>
          </a:p>
          <a:p>
            <a:pPr marL="432000" eaLnBrk="1" hangingPunct="1">
              <a:spcBef>
                <a:spcPct val="50000"/>
              </a:spcBef>
              <a:buClr>
                <a:srgbClr val="3333CC"/>
              </a:buClr>
              <a:buSzPct val="80000"/>
              <a:defRPr/>
            </a:pP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维生</a:t>
            </a:r>
            <a:r>
              <a:rPr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rPr>
              <a:t>B</a:t>
            </a:r>
            <a:r>
              <a:rPr lang="en-US" altLang="zh-CN" sz="2400" b="0" baseline="-25000" dirty="0">
                <a:solidFill>
                  <a:schemeClr val="tx1">
                    <a:lumMod val="95000"/>
                    <a:lumOff val="5000"/>
                  </a:schemeClr>
                </a:solidFill>
                <a:latin typeface="微软雅黑" panose="020B0503020204020204" pitchFamily="34" charset="-122"/>
                <a:ea typeface="微软雅黑" panose="020B0503020204020204" pitchFamily="34" charset="-122"/>
              </a:rPr>
              <a:t>6</a:t>
            </a: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缺乏时，可增加人体对雌激素、雄激素、皮质激素及维生素</a:t>
            </a:r>
            <a:r>
              <a:rPr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rPr>
              <a:t>D </a:t>
            </a: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作用的敏感性。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内容占位符 2">
            <a:extLst>
              <a:ext uri="{FF2B5EF4-FFF2-40B4-BE49-F238E27FC236}">
                <a16:creationId xmlns:a16="http://schemas.microsoft.com/office/drawing/2014/main" id="{32838855-AE19-4D02-B7F2-469A9263B406}"/>
              </a:ext>
            </a:extLst>
          </p:cNvPr>
          <p:cNvSpPr>
            <a:spLocks noGrp="1" noChangeArrowheads="1"/>
          </p:cNvSpPr>
          <p:nvPr>
            <p:ph idx="1"/>
          </p:nvPr>
        </p:nvSpPr>
        <p:spPr>
          <a:xfrm>
            <a:off x="2003400" y="4784918"/>
            <a:ext cx="9649072" cy="834719"/>
          </a:xfrm>
        </p:spPr>
        <p:txBody>
          <a:bodyPr/>
          <a:lstStyle/>
          <a:p>
            <a:pPr eaLnBrk="1" hangingPunct="1">
              <a:lnSpc>
                <a:spcPct val="150000"/>
              </a:lnSpc>
            </a:pPr>
            <a:r>
              <a:rPr lang="zh-CN" altLang="en-US" b="1" dirty="0">
                <a:solidFill>
                  <a:srgbClr val="3333CC"/>
                </a:solidFill>
                <a:latin typeface="黑体" panose="02010609060101010101" pitchFamily="49" charset="-122"/>
                <a:ea typeface="黑体" panose="02010609060101010101" pitchFamily="49" charset="-122"/>
              </a:rPr>
              <a:t>维生素</a:t>
            </a:r>
            <a:r>
              <a:rPr lang="en-US" altLang="zh-CN" b="1" dirty="0">
                <a:solidFill>
                  <a:srgbClr val="3333CC"/>
                </a:solidFill>
                <a:latin typeface="黑体" panose="02010609060101010101" pitchFamily="49" charset="-122"/>
                <a:ea typeface="黑体" panose="02010609060101010101" pitchFamily="49" charset="-122"/>
              </a:rPr>
              <a:t>B</a:t>
            </a:r>
            <a:r>
              <a:rPr lang="en-US" altLang="zh-CN" b="1" baseline="-25000" dirty="0">
                <a:solidFill>
                  <a:srgbClr val="3333CC"/>
                </a:solidFill>
                <a:latin typeface="黑体" panose="02010609060101010101" pitchFamily="49" charset="-122"/>
                <a:ea typeface="黑体" panose="02010609060101010101" pitchFamily="49" charset="-122"/>
              </a:rPr>
              <a:t>2</a:t>
            </a:r>
            <a:r>
              <a:rPr lang="zh-CN" altLang="en-US" b="1" dirty="0">
                <a:solidFill>
                  <a:srgbClr val="3333CC"/>
                </a:solidFill>
                <a:latin typeface="黑体" panose="02010609060101010101" pitchFamily="49" charset="-122"/>
                <a:ea typeface="黑体" panose="02010609060101010101" pitchFamily="49" charset="-122"/>
              </a:rPr>
              <a:t>、</a:t>
            </a:r>
            <a:r>
              <a:rPr lang="en-US" altLang="zh-CN" b="1" dirty="0">
                <a:solidFill>
                  <a:srgbClr val="3333CC"/>
                </a:solidFill>
                <a:latin typeface="黑体" panose="02010609060101010101" pitchFamily="49" charset="-122"/>
                <a:ea typeface="黑体" panose="02010609060101010101" pitchFamily="49" charset="-122"/>
              </a:rPr>
              <a:t>B</a:t>
            </a:r>
            <a:r>
              <a:rPr lang="en-US" altLang="zh-CN" b="1" baseline="-25000" dirty="0">
                <a:solidFill>
                  <a:srgbClr val="3333CC"/>
                </a:solidFill>
                <a:latin typeface="黑体" panose="02010609060101010101" pitchFamily="49" charset="-122"/>
                <a:ea typeface="黑体" panose="02010609060101010101" pitchFamily="49" charset="-122"/>
              </a:rPr>
              <a:t>3</a:t>
            </a:r>
            <a:r>
              <a:rPr lang="zh-CN" altLang="en-US" b="1" dirty="0">
                <a:solidFill>
                  <a:srgbClr val="3333CC"/>
                </a:solidFill>
                <a:latin typeface="黑体" panose="02010609060101010101" pitchFamily="49" charset="-122"/>
                <a:ea typeface="黑体" panose="02010609060101010101" pitchFamily="49" charset="-122"/>
              </a:rPr>
              <a:t>和</a:t>
            </a:r>
            <a:r>
              <a:rPr lang="en-US" altLang="zh-CN" b="1" dirty="0">
                <a:solidFill>
                  <a:srgbClr val="3333CC"/>
                </a:solidFill>
                <a:latin typeface="黑体" panose="02010609060101010101" pitchFamily="49" charset="-122"/>
                <a:ea typeface="黑体" panose="02010609060101010101" pitchFamily="49" charset="-122"/>
              </a:rPr>
              <a:t>B</a:t>
            </a:r>
            <a:r>
              <a:rPr lang="en-US" altLang="zh-CN" b="1" baseline="-25000" dirty="0">
                <a:solidFill>
                  <a:srgbClr val="3333CC"/>
                </a:solidFill>
                <a:latin typeface="黑体" panose="02010609060101010101" pitchFamily="49" charset="-122"/>
                <a:ea typeface="黑体" panose="02010609060101010101" pitchFamily="49" charset="-122"/>
              </a:rPr>
              <a:t>6</a:t>
            </a:r>
            <a:r>
              <a:rPr lang="zh-CN" altLang="en-US" b="1" dirty="0">
                <a:solidFill>
                  <a:srgbClr val="3333CC"/>
                </a:solidFill>
                <a:latin typeface="黑体" panose="02010609060101010101" pitchFamily="49" charset="-122"/>
                <a:ea typeface="黑体" panose="02010609060101010101" pitchFamily="49" charset="-122"/>
              </a:rPr>
              <a:t>常共同存在</a:t>
            </a:r>
            <a:r>
              <a:rPr lang="zh-CN" altLang="en-US" dirty="0">
                <a:latin typeface="黑体" panose="02010609060101010101" pitchFamily="49" charset="-122"/>
                <a:ea typeface="黑体" panose="02010609060101010101" pitchFamily="49" charset="-122"/>
              </a:rPr>
              <a:t>，</a:t>
            </a:r>
            <a:r>
              <a:rPr lang="zh-CN" altLang="en-US" dirty="0">
                <a:solidFill>
                  <a:srgbClr val="3333CC"/>
                </a:solidFill>
                <a:latin typeface="黑体" panose="02010609060101010101" pitchFamily="49" charset="-122"/>
                <a:ea typeface="黑体" panose="02010609060101010101" pitchFamily="49" charset="-122"/>
              </a:rPr>
              <a:t>缺乏时都表现为皮肤炎症</a:t>
            </a:r>
            <a:r>
              <a:rPr lang="zh-CN" altLang="en-US" dirty="0">
                <a:latin typeface="黑体" panose="02010609060101010101" pitchFamily="49" charset="-122"/>
                <a:ea typeface="黑体" panose="02010609060101010101" pitchFamily="49" charset="-122"/>
              </a:rPr>
              <a:t>。</a:t>
            </a:r>
          </a:p>
        </p:txBody>
      </p:sp>
      <p:grpSp>
        <p:nvGrpSpPr>
          <p:cNvPr id="2" name="Group 11">
            <a:extLst>
              <a:ext uri="{FF2B5EF4-FFF2-40B4-BE49-F238E27FC236}">
                <a16:creationId xmlns:a16="http://schemas.microsoft.com/office/drawing/2014/main" id="{316E3FE7-C104-12D2-A149-6493D92A99DC}"/>
              </a:ext>
            </a:extLst>
          </p:cNvPr>
          <p:cNvGrpSpPr>
            <a:grpSpLocks/>
          </p:cNvGrpSpPr>
          <p:nvPr/>
        </p:nvGrpSpPr>
        <p:grpSpPr bwMode="auto">
          <a:xfrm>
            <a:off x="2095500" y="482022"/>
            <a:ext cx="8001000" cy="1970088"/>
            <a:chOff x="459" y="3385"/>
            <a:chExt cx="5040" cy="1241"/>
          </a:xfrm>
        </p:grpSpPr>
        <p:sp>
          <p:nvSpPr>
            <p:cNvPr id="3" name="Rectangle 9">
              <a:extLst>
                <a:ext uri="{FF2B5EF4-FFF2-40B4-BE49-F238E27FC236}">
                  <a16:creationId xmlns:a16="http://schemas.microsoft.com/office/drawing/2014/main" id="{22BB7077-F594-1279-99E3-DDBBD6AF8626}"/>
                </a:ext>
              </a:extLst>
            </p:cNvPr>
            <p:cNvSpPr>
              <a:spLocks noChangeArrowheads="1"/>
            </p:cNvSpPr>
            <p:nvPr/>
          </p:nvSpPr>
          <p:spPr bwMode="auto">
            <a:xfrm>
              <a:off x="545" y="3385"/>
              <a:ext cx="488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dirty="0">
                  <a:latin typeface="Times New Roman" panose="02020603050405020304" pitchFamily="18" charset="0"/>
                  <a:ea typeface="楷体_GB2312" pitchFamily="49" charset="-122"/>
                </a:rPr>
                <a:t>B</a:t>
              </a:r>
              <a:r>
                <a:rPr lang="en-US" altLang="zh-CN" baseline="-25000" dirty="0">
                  <a:latin typeface="Times New Roman" panose="02020603050405020304" pitchFamily="18" charset="0"/>
                  <a:ea typeface="楷体_GB2312" pitchFamily="49" charset="-122"/>
                </a:rPr>
                <a:t>6</a:t>
              </a:r>
              <a:r>
                <a:rPr lang="zh-CN" altLang="en-US" dirty="0">
                  <a:latin typeface="Times New Roman" panose="02020603050405020304" pitchFamily="18" charset="0"/>
                  <a:ea typeface="楷体_GB2312" pitchFamily="49" charset="-122"/>
                </a:rPr>
                <a:t>推荐摄入量（</a:t>
              </a:r>
              <a:r>
                <a:rPr lang="en-US" altLang="zh-CN" dirty="0">
                  <a:latin typeface="Times New Roman" panose="02020603050405020304" pitchFamily="18" charset="0"/>
                  <a:ea typeface="楷体_GB2312" pitchFamily="49" charset="-122"/>
                </a:rPr>
                <a:t>RNI</a:t>
              </a:r>
              <a:r>
                <a:rPr lang="zh-CN" altLang="en-US" dirty="0">
                  <a:latin typeface="Times New Roman" panose="02020603050405020304" pitchFamily="18" charset="0"/>
                  <a:ea typeface="楷体_GB2312" pitchFamily="49" charset="-122"/>
                </a:rPr>
                <a:t>）为   </a:t>
              </a:r>
              <a:r>
                <a:rPr lang="en-US" altLang="zh-CN" dirty="0">
                  <a:latin typeface="Times New Roman" panose="02020603050405020304" pitchFamily="18" charset="0"/>
                  <a:ea typeface="楷体_GB2312" pitchFamily="49" charset="-122"/>
                </a:rPr>
                <a:t>1.4mg/d ~ 1.6mg/d</a:t>
              </a:r>
              <a:endParaRPr lang="zh-CN" altLang="en-US" dirty="0">
                <a:latin typeface="Times New Roman" panose="02020603050405020304" pitchFamily="18" charset="0"/>
                <a:ea typeface="楷体_GB2312" pitchFamily="49" charset="-122"/>
              </a:endParaRPr>
            </a:p>
          </p:txBody>
        </p:sp>
        <p:sp>
          <p:nvSpPr>
            <p:cNvPr id="4" name="Rectangle 10">
              <a:extLst>
                <a:ext uri="{FF2B5EF4-FFF2-40B4-BE49-F238E27FC236}">
                  <a16:creationId xmlns:a16="http://schemas.microsoft.com/office/drawing/2014/main" id="{0D4F9837-294D-1A84-B823-F86A8C832F25}"/>
                </a:ext>
              </a:extLst>
            </p:cNvPr>
            <p:cNvSpPr>
              <a:spLocks noChangeArrowheads="1"/>
            </p:cNvSpPr>
            <p:nvPr/>
          </p:nvSpPr>
          <p:spPr bwMode="auto">
            <a:xfrm>
              <a:off x="459" y="3991"/>
              <a:ext cx="5040" cy="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20000"/>
                </a:spcBef>
                <a:buFontTx/>
                <a:buChar char="•"/>
              </a:pPr>
              <a:r>
                <a:rPr lang="zh-CN" altLang="en-US" sz="2400" b="0" dirty="0">
                  <a:latin typeface="Times New Roman" panose="02020603050405020304" pitchFamily="18" charset="0"/>
                  <a:ea typeface="楷体_GB2312" pitchFamily="49" charset="-122"/>
                </a:rPr>
                <a:t>普遍存在动植物食物中；</a:t>
              </a:r>
            </a:p>
            <a:p>
              <a:pPr eaLnBrk="1" hangingPunct="1">
                <a:lnSpc>
                  <a:spcPct val="100000"/>
                </a:lnSpc>
                <a:spcBef>
                  <a:spcPct val="20000"/>
                </a:spcBef>
                <a:buFontTx/>
                <a:buChar char="•"/>
              </a:pPr>
              <a:r>
                <a:rPr lang="zh-CN" altLang="en-US" sz="2400" b="0" dirty="0">
                  <a:latin typeface="Times New Roman" panose="02020603050405020304" pitchFamily="18" charset="0"/>
                  <a:ea typeface="楷体_GB2312" pitchFamily="49" charset="-122"/>
                </a:rPr>
                <a:t>白肉、肝脏、豆类和蛋类、柠檬类水果、奶类</a:t>
              </a:r>
            </a:p>
          </p:txBody>
        </p:sp>
      </p:grpSp>
      <p:sp>
        <p:nvSpPr>
          <p:cNvPr id="6" name="文本框 5">
            <a:extLst>
              <a:ext uri="{FF2B5EF4-FFF2-40B4-BE49-F238E27FC236}">
                <a16:creationId xmlns:a16="http://schemas.microsoft.com/office/drawing/2014/main" id="{BE3ADE16-3152-F6B7-E9CC-E4A8C6E83959}"/>
              </a:ext>
            </a:extLst>
          </p:cNvPr>
          <p:cNvSpPr txBox="1"/>
          <p:nvPr/>
        </p:nvSpPr>
        <p:spPr>
          <a:xfrm>
            <a:off x="2032000" y="2725843"/>
            <a:ext cx="8888536" cy="461665"/>
          </a:xfrm>
          <a:prstGeom prst="rect">
            <a:avLst/>
          </a:prstGeom>
          <a:noFill/>
        </p:spPr>
        <p:txBody>
          <a:bodyPr wrap="square" rtlCol="0">
            <a:spAutoFit/>
          </a:bodyPr>
          <a:lstStyle/>
          <a:p>
            <a:r>
              <a:rPr lang="zh-CN" altLang="en-US" sz="2400" b="0" dirty="0">
                <a:solidFill>
                  <a:srgbClr val="0000CC"/>
                </a:solidFill>
              </a:rPr>
              <a:t>日摄入量超过 </a:t>
            </a:r>
            <a:r>
              <a:rPr lang="en-US" altLang="zh-CN" sz="2400" b="0" dirty="0">
                <a:solidFill>
                  <a:srgbClr val="0000CC"/>
                </a:solidFill>
              </a:rPr>
              <a:t>20mg </a:t>
            </a:r>
            <a:r>
              <a:rPr lang="zh-CN" altLang="en-US" sz="2400" b="0" dirty="0">
                <a:solidFill>
                  <a:srgbClr val="0000CC"/>
                </a:solidFill>
              </a:rPr>
              <a:t>可引起神经损伤</a:t>
            </a:r>
            <a:r>
              <a:rPr lang="zh-CN" altLang="en-US" sz="2400" b="0" dirty="0">
                <a:solidFill>
                  <a:schemeClr val="tx1"/>
                </a:solidFill>
              </a:rPr>
              <a:t>，表现为周围感觉神经病。</a:t>
            </a:r>
          </a:p>
        </p:txBody>
      </p:sp>
      <p:sp>
        <p:nvSpPr>
          <p:cNvPr id="5" name="矩形 4">
            <a:extLst>
              <a:ext uri="{FF2B5EF4-FFF2-40B4-BE49-F238E27FC236}">
                <a16:creationId xmlns:a16="http://schemas.microsoft.com/office/drawing/2014/main" id="{C969C654-64C7-F2E4-3BD7-AD71685C77D1}"/>
              </a:ext>
            </a:extLst>
          </p:cNvPr>
          <p:cNvSpPr>
            <a:spLocks noChangeArrowheads="1"/>
          </p:cNvSpPr>
          <p:nvPr/>
        </p:nvSpPr>
        <p:spPr bwMode="auto">
          <a:xfrm>
            <a:off x="2364924" y="4149080"/>
            <a:ext cx="7929562"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20000"/>
              </a:lnSpc>
              <a:spcBef>
                <a:spcPct val="0"/>
              </a:spcBef>
              <a:buFontTx/>
              <a:buNone/>
            </a:pPr>
            <a:r>
              <a:rPr lang="zh-CN" altLang="en-US" dirty="0">
                <a:latin typeface="微软雅黑" panose="020B0503020204020204" pitchFamily="34" charset="-122"/>
                <a:ea typeface="微软雅黑" panose="020B0503020204020204" pitchFamily="34" charset="-122"/>
              </a:rPr>
              <a:t>单纯的</a:t>
            </a:r>
            <a:r>
              <a:rPr lang="en-US" altLang="zh-CN" dirty="0">
                <a:latin typeface="微软雅黑" panose="020B0503020204020204" pitchFamily="34" charset="-122"/>
                <a:ea typeface="微软雅黑" panose="020B0503020204020204" pitchFamily="34" charset="-122"/>
              </a:rPr>
              <a:t>B</a:t>
            </a:r>
            <a:r>
              <a:rPr lang="en-US" altLang="zh-CN" baseline="-25000"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缺乏病很少发生</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800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2" grpId="0" build="p"/>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074" name="Text Box 2">
            <a:extLst>
              <a:ext uri="{FF2B5EF4-FFF2-40B4-BE49-F238E27FC236}">
                <a16:creationId xmlns:a16="http://schemas.microsoft.com/office/drawing/2014/main" id="{CFF16A0C-5110-4245-AABE-0851A569ABC2}"/>
              </a:ext>
            </a:extLst>
          </p:cNvPr>
          <p:cNvSpPr txBox="1">
            <a:spLocks noChangeArrowheads="1"/>
          </p:cNvSpPr>
          <p:nvPr/>
        </p:nvSpPr>
        <p:spPr bwMode="auto">
          <a:xfrm>
            <a:off x="1905000" y="304800"/>
            <a:ext cx="1828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endParaRPr lang="zh-CN" altLang="zh-CN" sz="3600">
              <a:latin typeface="Times New Roman" panose="02020603050405020304" pitchFamily="18" charset="0"/>
              <a:ea typeface="楷体_GB2312" pitchFamily="49" charset="-122"/>
            </a:endParaRPr>
          </a:p>
        </p:txBody>
      </p:sp>
      <p:sp>
        <p:nvSpPr>
          <p:cNvPr id="131075" name="Rectangle 9">
            <a:extLst>
              <a:ext uri="{FF2B5EF4-FFF2-40B4-BE49-F238E27FC236}">
                <a16:creationId xmlns:a16="http://schemas.microsoft.com/office/drawing/2014/main" id="{92ECB44F-FB69-4C0C-BA26-7632FAFB72F3}"/>
              </a:ext>
            </a:extLst>
          </p:cNvPr>
          <p:cNvSpPr>
            <a:spLocks noChangeArrowheads="1"/>
          </p:cNvSpPr>
          <p:nvPr/>
        </p:nvSpPr>
        <p:spPr bwMode="auto">
          <a:xfrm>
            <a:off x="2286000" y="5314950"/>
            <a:ext cx="7620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endParaRPr lang="zh-CN" altLang="en-US" sz="3200" b="0">
              <a:latin typeface="Times New Roman" panose="02020603050405020304" pitchFamily="18" charset="0"/>
              <a:ea typeface="楷体_GB2312" pitchFamily="49" charset="-122"/>
            </a:endParaRPr>
          </a:p>
        </p:txBody>
      </p:sp>
      <p:sp>
        <p:nvSpPr>
          <p:cNvPr id="131076" name="Rectangle 10">
            <a:extLst>
              <a:ext uri="{FF2B5EF4-FFF2-40B4-BE49-F238E27FC236}">
                <a16:creationId xmlns:a16="http://schemas.microsoft.com/office/drawing/2014/main" id="{804167AE-1B2D-4900-B823-E550A04AAD7D}"/>
              </a:ext>
            </a:extLst>
          </p:cNvPr>
          <p:cNvSpPr>
            <a:spLocks noGrp="1" noChangeArrowheads="1"/>
          </p:cNvSpPr>
          <p:nvPr>
            <p:ph type="title" idx="4294967295"/>
          </p:nvPr>
        </p:nvSpPr>
        <p:spPr>
          <a:xfrm>
            <a:off x="2826090" y="201852"/>
            <a:ext cx="8058150" cy="1143000"/>
          </a:xfrm>
        </p:spPr>
        <p:txBody>
          <a:bodyPr/>
          <a:lstStyle/>
          <a:p>
            <a:pPr eaLnBrk="1" hangingPunct="1"/>
            <a:r>
              <a:rPr lang="zh-CN" altLang="en-US" sz="3600" b="1" dirty="0">
                <a:solidFill>
                  <a:srgbClr val="C00000"/>
                </a:solidFill>
                <a:ea typeface="楷体_GB2312" pitchFamily="49" charset="-122"/>
              </a:rPr>
              <a:t>六、生物素              </a:t>
            </a:r>
            <a:r>
              <a:rPr lang="zh-CN" altLang="en-US" sz="3200" b="1" dirty="0">
                <a:solidFill>
                  <a:srgbClr val="C00000"/>
                </a:solidFill>
                <a:ea typeface="楷体_GB2312" pitchFamily="49" charset="-122"/>
              </a:rPr>
              <a:t>别名：维生素</a:t>
            </a:r>
            <a:r>
              <a:rPr lang="en-US" altLang="zh-CN" sz="3200" b="1" dirty="0">
                <a:solidFill>
                  <a:srgbClr val="C00000"/>
                </a:solidFill>
                <a:ea typeface="楷体_GB2312" pitchFamily="49" charset="-122"/>
              </a:rPr>
              <a:t>H, B</a:t>
            </a:r>
            <a:r>
              <a:rPr lang="en-US" altLang="zh-CN" sz="3200" b="1" baseline="-25000" dirty="0">
                <a:solidFill>
                  <a:srgbClr val="C00000"/>
                </a:solidFill>
                <a:ea typeface="楷体_GB2312" pitchFamily="49" charset="-122"/>
              </a:rPr>
              <a:t>7</a:t>
            </a:r>
          </a:p>
        </p:txBody>
      </p:sp>
      <p:sp>
        <p:nvSpPr>
          <p:cNvPr id="3" name="矩形 2">
            <a:extLst>
              <a:ext uri="{FF2B5EF4-FFF2-40B4-BE49-F238E27FC236}">
                <a16:creationId xmlns:a16="http://schemas.microsoft.com/office/drawing/2014/main" id="{38919D7B-A53D-4956-A876-69B349701545}"/>
              </a:ext>
            </a:extLst>
          </p:cNvPr>
          <p:cNvSpPr>
            <a:spLocks noChangeArrowheads="1"/>
          </p:cNvSpPr>
          <p:nvPr/>
        </p:nvSpPr>
        <p:spPr bwMode="auto">
          <a:xfrm>
            <a:off x="1774825" y="4451084"/>
            <a:ext cx="9361040" cy="1679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2400" b="0" dirty="0">
                <a:latin typeface="Times New Roman" panose="02020603050405020304" pitchFamily="18" charset="0"/>
                <a:ea typeface="楷体_GB2312" pitchFamily="49" charset="-122"/>
              </a:rPr>
              <a:t>来源广泛，肠道细菌也能合成。 </a:t>
            </a:r>
            <a:endParaRPr lang="en-US" altLang="zh-CN" sz="2400" b="0" dirty="0">
              <a:latin typeface="Times New Roman" panose="02020603050405020304" pitchFamily="18" charset="0"/>
              <a:ea typeface="楷体_GB2312" pitchFamily="49" charset="-122"/>
            </a:endParaRPr>
          </a:p>
          <a:p>
            <a:pPr>
              <a:lnSpc>
                <a:spcPct val="100000"/>
              </a:lnSpc>
              <a:spcBef>
                <a:spcPct val="0"/>
              </a:spcBef>
              <a:buFontTx/>
              <a:buNone/>
            </a:pPr>
            <a:endParaRPr lang="en-US" altLang="zh-CN" sz="2400" b="0" dirty="0">
              <a:latin typeface="Times New Roman" panose="02020603050405020304" pitchFamily="18" charset="0"/>
              <a:ea typeface="楷体_GB2312" pitchFamily="49" charset="-122"/>
            </a:endParaRPr>
          </a:p>
          <a:p>
            <a:pPr>
              <a:lnSpc>
                <a:spcPct val="120000"/>
              </a:lnSpc>
              <a:spcBef>
                <a:spcPct val="0"/>
              </a:spcBef>
              <a:buFontTx/>
              <a:buNone/>
            </a:pPr>
            <a:r>
              <a:rPr lang="zh-CN" altLang="en-US" sz="2400" b="0" dirty="0">
                <a:latin typeface="Times New Roman" panose="02020603050405020304" pitchFamily="18" charset="0"/>
                <a:ea typeface="楷体_GB2312" pitchFamily="49" charset="-122"/>
              </a:rPr>
              <a:t>新鲜鸡蛋中有一种叫</a:t>
            </a:r>
            <a:r>
              <a:rPr lang="zh-CN" altLang="en-US" sz="2400" b="0" dirty="0">
                <a:solidFill>
                  <a:srgbClr val="C00000"/>
                </a:solidFill>
                <a:latin typeface="Times New Roman" panose="02020603050405020304" pitchFamily="18" charset="0"/>
                <a:ea typeface="楷体_GB2312" pitchFamily="49" charset="-122"/>
              </a:rPr>
              <a:t>亲和素</a:t>
            </a:r>
            <a:r>
              <a:rPr lang="zh-CN" altLang="en-US" sz="2400" b="0" dirty="0">
                <a:latin typeface="Times New Roman" panose="02020603050405020304" pitchFamily="18" charset="0"/>
                <a:ea typeface="楷体_GB2312" pitchFamily="49" charset="-122"/>
              </a:rPr>
              <a:t>（</a:t>
            </a:r>
            <a:r>
              <a:rPr lang="en-US" altLang="zh-CN" sz="2400" b="0" dirty="0">
                <a:solidFill>
                  <a:srgbClr val="C00000"/>
                </a:solidFill>
                <a:latin typeface="Times New Roman" panose="02020603050405020304" pitchFamily="18" charset="0"/>
                <a:ea typeface="楷体_GB2312" pitchFamily="49" charset="-122"/>
              </a:rPr>
              <a:t>avidin</a:t>
            </a:r>
            <a:r>
              <a:rPr lang="en-US" altLang="zh-CN" sz="2400" b="0" dirty="0">
                <a:latin typeface="Times New Roman" panose="02020603050405020304" pitchFamily="18" charset="0"/>
                <a:ea typeface="楷体_GB2312" pitchFamily="49" charset="-122"/>
              </a:rPr>
              <a:t>)</a:t>
            </a:r>
            <a:r>
              <a:rPr lang="zh-CN" altLang="en-US" sz="2400" b="0" dirty="0">
                <a:latin typeface="Times New Roman" panose="02020603050405020304" pitchFamily="18" charset="0"/>
                <a:ea typeface="楷体_GB2312" pitchFamily="49" charset="-122"/>
              </a:rPr>
              <a:t>的</a:t>
            </a:r>
            <a:r>
              <a:rPr lang="zh-CN" altLang="en-US" sz="2400" dirty="0">
                <a:latin typeface="Times New Roman" panose="02020603050405020304" pitchFamily="18" charset="0"/>
                <a:ea typeface="楷体_GB2312" pitchFamily="49" charset="-122"/>
              </a:rPr>
              <a:t>抗生物素蛋白</a:t>
            </a:r>
            <a:r>
              <a:rPr lang="zh-CN" altLang="en-US" sz="2400" b="0" dirty="0">
                <a:latin typeface="Times New Roman" panose="02020603050405020304" pitchFamily="18" charset="0"/>
                <a:ea typeface="楷体_GB2312" pitchFamily="49" charset="-122"/>
              </a:rPr>
              <a:t>，</a:t>
            </a:r>
            <a:r>
              <a:rPr lang="zh-CN" altLang="en-US" sz="2400" b="0" dirty="0">
                <a:solidFill>
                  <a:srgbClr val="0000CC"/>
                </a:solidFill>
                <a:latin typeface="Times New Roman" panose="02020603050405020304" pitchFamily="18" charset="0"/>
                <a:ea typeface="楷体_GB2312" pitchFamily="49" charset="-122"/>
              </a:rPr>
              <a:t>与生物素有极高的亲合力</a:t>
            </a:r>
            <a:r>
              <a:rPr lang="zh-CN" altLang="en-US" sz="2400" b="0" dirty="0">
                <a:latin typeface="Times New Roman" panose="02020603050405020304" pitchFamily="18" charset="0"/>
                <a:ea typeface="楷体_GB2312" pitchFamily="49" charset="-122"/>
              </a:rPr>
              <a:t>，可影响其吸收，熟鸡蛋中这种抗生物素蛋白被破坏。　</a:t>
            </a:r>
          </a:p>
        </p:txBody>
      </p:sp>
      <p:cxnSp>
        <p:nvCxnSpPr>
          <p:cNvPr id="124935" name="直接箭头连接符 3">
            <a:extLst>
              <a:ext uri="{FF2B5EF4-FFF2-40B4-BE49-F238E27FC236}">
                <a16:creationId xmlns:a16="http://schemas.microsoft.com/office/drawing/2014/main" id="{6163DEC0-7912-413C-9D3C-8184A73B2327}"/>
              </a:ext>
            </a:extLst>
          </p:cNvPr>
          <p:cNvCxnSpPr>
            <a:cxnSpLocks/>
          </p:cNvCxnSpPr>
          <p:nvPr/>
        </p:nvCxnSpPr>
        <p:spPr bwMode="auto">
          <a:xfrm>
            <a:off x="2495550" y="2349500"/>
            <a:ext cx="477838" cy="0"/>
          </a:xfrm>
          <a:prstGeom prst="straightConnector1">
            <a:avLst/>
          </a:prstGeom>
          <a:ln>
            <a:headEnd/>
            <a:tailEnd type="triangle" w="med" len="med"/>
          </a:ln>
        </p:spPr>
        <p:style>
          <a:lnRef idx="1">
            <a:schemeClr val="dk1"/>
          </a:lnRef>
          <a:fillRef idx="0">
            <a:schemeClr val="dk1"/>
          </a:fillRef>
          <a:effectRef idx="0">
            <a:schemeClr val="dk1"/>
          </a:effectRef>
          <a:fontRef idx="minor">
            <a:schemeClr val="tx1"/>
          </a:fontRef>
        </p:style>
      </p:cxnSp>
      <p:pic>
        <p:nvPicPr>
          <p:cNvPr id="12" name="图片 11">
            <a:extLst>
              <a:ext uri="{FF2B5EF4-FFF2-40B4-BE49-F238E27FC236}">
                <a16:creationId xmlns:a16="http://schemas.microsoft.com/office/drawing/2014/main" id="{33300B04-5171-4F66-84DA-E7876FF34F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2439" y="1343025"/>
            <a:ext cx="6975475"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38106B51-EE27-4A04-A24B-173BE7CE4301}"/>
              </a:ext>
            </a:extLst>
          </p:cNvPr>
          <p:cNvSpPr txBox="1"/>
          <p:nvPr/>
        </p:nvSpPr>
        <p:spPr>
          <a:xfrm>
            <a:off x="1774825" y="2133601"/>
            <a:ext cx="884238" cy="460375"/>
          </a:xfrm>
          <a:prstGeom prst="rect">
            <a:avLst/>
          </a:prstGeom>
          <a:noFill/>
        </p:spPr>
        <p:txBody>
          <a:bodyPr>
            <a:spAutoFit/>
          </a:bodyPr>
          <a:lstStyle/>
          <a:p>
            <a:pPr>
              <a:defRPr/>
            </a:pPr>
            <a:r>
              <a:rPr lang="en-US" altLang="zh-CN" sz="2400" dirty="0">
                <a:solidFill>
                  <a:schemeClr val="tx1">
                    <a:lumMod val="95000"/>
                    <a:lumOff val="5000"/>
                  </a:schemeClr>
                </a:solidFill>
              </a:rPr>
              <a:t>CO2</a:t>
            </a:r>
            <a:endParaRPr lang="zh-CN" altLang="en-US" sz="2400" dirty="0">
              <a:solidFill>
                <a:schemeClr val="tx1">
                  <a:lumMod val="95000"/>
                  <a:lumOff val="5000"/>
                </a:schemeClr>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24935"/>
                                        </p:tgtEl>
                                        <p:attrNameLst>
                                          <p:attrName>style.visibility</p:attrName>
                                        </p:attrNameLst>
                                      </p:cBhvr>
                                      <p:to>
                                        <p:strVal val="visible"/>
                                      </p:to>
                                    </p:set>
                                    <p:anim calcmode="lin" valueType="num">
                                      <p:cBhvr additive="base">
                                        <p:cTn id="11" dur="500" fill="hold"/>
                                        <p:tgtEl>
                                          <p:spTgt spid="124935"/>
                                        </p:tgtEl>
                                        <p:attrNameLst>
                                          <p:attrName>ppt_x</p:attrName>
                                        </p:attrNameLst>
                                      </p:cBhvr>
                                      <p:tavLst>
                                        <p:tav tm="0">
                                          <p:val>
                                            <p:strVal val="0-#ppt_w/2"/>
                                          </p:val>
                                        </p:tav>
                                        <p:tav tm="100000">
                                          <p:val>
                                            <p:strVal val="#ppt_x"/>
                                          </p:val>
                                        </p:tav>
                                      </p:tavLst>
                                    </p:anim>
                                    <p:anim calcmode="lin" valueType="num">
                                      <p:cBhvr additive="base">
                                        <p:cTn id="12" dur="500" fill="hold"/>
                                        <p:tgtEl>
                                          <p:spTgt spid="12493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标题 1">
            <a:extLst>
              <a:ext uri="{FF2B5EF4-FFF2-40B4-BE49-F238E27FC236}">
                <a16:creationId xmlns:a16="http://schemas.microsoft.com/office/drawing/2014/main" id="{7EAC2086-06FE-4C69-9EEC-C49AAF5A32C7}"/>
              </a:ext>
            </a:extLst>
          </p:cNvPr>
          <p:cNvSpPr>
            <a:spLocks noGrp="1" noChangeArrowheads="1"/>
          </p:cNvSpPr>
          <p:nvPr>
            <p:ph type="title"/>
          </p:nvPr>
        </p:nvSpPr>
        <p:spPr>
          <a:xfrm>
            <a:off x="2207569" y="260648"/>
            <a:ext cx="5184775" cy="1143000"/>
          </a:xfrm>
        </p:spPr>
        <p:txBody>
          <a:bodyPr/>
          <a:lstStyle/>
          <a:p>
            <a:pPr eaLnBrk="1" hangingPunct="1"/>
            <a:r>
              <a:rPr lang="zh-CN" altLang="en-US" sz="3600" dirty="0">
                <a:solidFill>
                  <a:srgbClr val="3333CC"/>
                </a:solidFill>
                <a:latin typeface="黑体" panose="02010609060101010101" pitchFamily="49" charset="-122"/>
                <a:ea typeface="黑体" panose="02010609060101010101" pitchFamily="49" charset="-122"/>
              </a:rPr>
              <a:t>生物素的生理功能</a:t>
            </a:r>
          </a:p>
        </p:txBody>
      </p:sp>
      <p:sp>
        <p:nvSpPr>
          <p:cNvPr id="134147" name="内容占位符 2">
            <a:extLst>
              <a:ext uri="{FF2B5EF4-FFF2-40B4-BE49-F238E27FC236}">
                <a16:creationId xmlns:a16="http://schemas.microsoft.com/office/drawing/2014/main" id="{5C0A7774-0AB8-4842-8B8D-BAEB487A46D3}"/>
              </a:ext>
            </a:extLst>
          </p:cNvPr>
          <p:cNvSpPr>
            <a:spLocks noGrp="1" noChangeArrowheads="1"/>
          </p:cNvSpPr>
          <p:nvPr>
            <p:ph idx="1"/>
          </p:nvPr>
        </p:nvSpPr>
        <p:spPr>
          <a:xfrm>
            <a:off x="1631504" y="1280220"/>
            <a:ext cx="9865096" cy="2724844"/>
          </a:xfrm>
        </p:spPr>
        <p:txBody>
          <a:bodyPr/>
          <a:lstStyle/>
          <a:p>
            <a:pPr marL="514350" indent="-514350" eaLnBrk="1" hangingPunct="1">
              <a:lnSpc>
                <a:spcPct val="120000"/>
              </a:lnSpc>
              <a:buFont typeface="+mj-lt"/>
              <a:buAutoNum type="arabicPeriod"/>
            </a:pPr>
            <a:r>
              <a:rPr lang="zh-CN" altLang="en-US" dirty="0">
                <a:solidFill>
                  <a:srgbClr val="C00000"/>
                </a:solidFill>
                <a:latin typeface="黑体" panose="02010609060101010101" pitchFamily="49" charset="-122"/>
                <a:ea typeface="黑体" panose="02010609060101010101" pitchFamily="49" charset="-122"/>
              </a:rPr>
              <a:t>作为羧化酶辅酶</a:t>
            </a:r>
            <a:r>
              <a:rPr lang="zh-CN" altLang="en-US" sz="2400" dirty="0">
                <a:latin typeface="黑体" panose="02010609060101010101" pitchFamily="49" charset="-122"/>
                <a:ea typeface="黑体" panose="02010609060101010101" pitchFamily="49" charset="-122"/>
              </a:rPr>
              <a:t>（比如乙酰</a:t>
            </a:r>
            <a:r>
              <a:rPr lang="en-US" altLang="zh-CN" sz="2400" dirty="0">
                <a:latin typeface="黑体" panose="02010609060101010101" pitchFamily="49" charset="-122"/>
                <a:ea typeface="黑体" panose="02010609060101010101" pitchFamily="49" charset="-122"/>
              </a:rPr>
              <a:t>CoA</a:t>
            </a:r>
            <a:r>
              <a:rPr lang="zh-CN" altLang="en-US" sz="2400" dirty="0">
                <a:latin typeface="黑体" panose="02010609060101010101" pitchFamily="49" charset="-122"/>
                <a:ea typeface="黑体" panose="02010609060101010101" pitchFamily="49" charset="-122"/>
              </a:rPr>
              <a:t>羧化酶、丙酮酸羧化酶、丙酰</a:t>
            </a:r>
            <a:r>
              <a:rPr lang="en-US" altLang="zh-CN" sz="2400" dirty="0">
                <a:latin typeface="黑体" panose="02010609060101010101" pitchFamily="49" charset="-122"/>
                <a:ea typeface="黑体" panose="02010609060101010101" pitchFamily="49" charset="-122"/>
              </a:rPr>
              <a:t>CoA</a:t>
            </a:r>
            <a:r>
              <a:rPr lang="zh-CN" altLang="en-US" sz="2400" dirty="0">
                <a:latin typeface="黑体" panose="02010609060101010101" pitchFamily="49" charset="-122"/>
                <a:ea typeface="黑体" panose="02010609060101010101" pitchFamily="49" charset="-122"/>
              </a:rPr>
              <a:t>羧化酶），参与体内的羧化反应，</a:t>
            </a:r>
            <a:r>
              <a:rPr lang="zh-CN" altLang="en-US" dirty="0">
                <a:solidFill>
                  <a:srgbClr val="0000CC"/>
                </a:solidFill>
                <a:latin typeface="黑体" panose="02010609060101010101" pitchFamily="49" charset="-122"/>
                <a:ea typeface="黑体" panose="02010609060101010101" pitchFamily="49" charset="-122"/>
              </a:rPr>
              <a:t>固定 </a:t>
            </a:r>
            <a:r>
              <a:rPr lang="en-US" altLang="zh-CN" dirty="0">
                <a:solidFill>
                  <a:srgbClr val="0000CC"/>
                </a:solidFill>
                <a:latin typeface="黑体" panose="02010609060101010101" pitchFamily="49" charset="-122"/>
                <a:ea typeface="黑体" panose="02010609060101010101" pitchFamily="49" charset="-122"/>
              </a:rPr>
              <a:t>CO</a:t>
            </a:r>
            <a:r>
              <a:rPr lang="en-US" altLang="zh-CN" baseline="-25000" dirty="0">
                <a:solidFill>
                  <a:srgbClr val="0000CC"/>
                </a:solidFill>
                <a:latin typeface="黑体" panose="02010609060101010101" pitchFamily="49" charset="-122"/>
                <a:ea typeface="黑体" panose="02010609060101010101" pitchFamily="49" charset="-122"/>
              </a:rPr>
              <a:t>2</a:t>
            </a:r>
            <a:r>
              <a:rPr lang="en-US" altLang="zh-CN" dirty="0">
                <a:solidFill>
                  <a:srgbClr val="0000CC"/>
                </a:solidFill>
                <a:latin typeface="黑体" panose="02010609060101010101" pitchFamily="49" charset="-122"/>
                <a:ea typeface="黑体" panose="02010609060101010101" pitchFamily="49" charset="-122"/>
              </a:rPr>
              <a:t> </a:t>
            </a:r>
            <a:r>
              <a:rPr lang="zh-CN" altLang="en-US" dirty="0">
                <a:solidFill>
                  <a:srgbClr val="0000CC"/>
                </a:solidFill>
                <a:latin typeface="黑体" panose="02010609060101010101" pitchFamily="49" charset="-122"/>
                <a:ea typeface="黑体" panose="02010609060101010101" pitchFamily="49" charset="-122"/>
              </a:rPr>
              <a:t>形成羧基</a:t>
            </a:r>
            <a:r>
              <a:rPr lang="zh-CN" altLang="en-US" dirty="0">
                <a:latin typeface="黑体" panose="02010609060101010101" pitchFamily="49" charset="-122"/>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pPr marL="514350" indent="-514350" eaLnBrk="1" hangingPunct="1">
              <a:lnSpc>
                <a:spcPct val="120000"/>
              </a:lnSpc>
              <a:buFont typeface="+mj-lt"/>
              <a:buAutoNum type="arabicPeriod"/>
            </a:pPr>
            <a:r>
              <a:rPr lang="zh-CN" altLang="en-US" dirty="0">
                <a:latin typeface="黑体" panose="02010609060101010101" pitchFamily="49" charset="-122"/>
                <a:ea typeface="黑体" panose="02010609060101010101" pitchFamily="49" charset="-122"/>
              </a:rPr>
              <a:t>参与信号转导和基因表达</a:t>
            </a:r>
            <a:endParaRPr lang="en-US" altLang="zh-CN" dirty="0">
              <a:latin typeface="黑体" panose="02010609060101010101" pitchFamily="49" charset="-122"/>
              <a:ea typeface="黑体" panose="02010609060101010101" pitchFamily="49" charset="-122"/>
            </a:endParaRPr>
          </a:p>
          <a:p>
            <a:pPr lvl="1" eaLnBrk="1" hangingPunct="1">
              <a:lnSpc>
                <a:spcPct val="120000"/>
              </a:lnSpc>
            </a:pPr>
            <a:r>
              <a:rPr lang="zh-CN" altLang="en-US" dirty="0">
                <a:latin typeface="黑体" panose="02010609060101010101" pitchFamily="49" charset="-122"/>
                <a:ea typeface="黑体" panose="02010609060101010101" pitchFamily="49" charset="-122"/>
              </a:rPr>
              <a:t>可使</a:t>
            </a:r>
            <a:r>
              <a:rPr lang="zh-CN" altLang="en-US" b="1" dirty="0">
                <a:latin typeface="黑体" panose="02010609060101010101" pitchFamily="49" charset="-122"/>
                <a:ea typeface="黑体" panose="02010609060101010101" pitchFamily="49" charset="-122"/>
              </a:rPr>
              <a:t>组蛋白生物素化</a:t>
            </a:r>
            <a:r>
              <a:rPr lang="zh-CN" altLang="en-US" dirty="0">
                <a:latin typeface="黑体" panose="02010609060101010101" pitchFamily="49" charset="-122"/>
                <a:ea typeface="黑体" panose="02010609060101010101" pitchFamily="49" charset="-122"/>
              </a:rPr>
              <a:t>，从而影响细胞周期、转录和</a:t>
            </a:r>
            <a:r>
              <a:rPr lang="en-US" altLang="zh-CN" dirty="0">
                <a:latin typeface="黑体" panose="02010609060101010101" pitchFamily="49" charset="-122"/>
                <a:ea typeface="黑体" panose="02010609060101010101" pitchFamily="49" charset="-122"/>
              </a:rPr>
              <a:t>DNA</a:t>
            </a:r>
            <a:r>
              <a:rPr lang="zh-CN" altLang="en-US" dirty="0">
                <a:latin typeface="黑体" panose="02010609060101010101" pitchFamily="49" charset="-122"/>
                <a:ea typeface="黑体" panose="02010609060101010101" pitchFamily="49" charset="-122"/>
              </a:rPr>
              <a:t>损伤的修复。</a:t>
            </a:r>
            <a:endParaRPr lang="en-US" altLang="zh-CN" dirty="0">
              <a:latin typeface="黑体" panose="02010609060101010101" pitchFamily="49" charset="-122"/>
              <a:ea typeface="黑体" panose="02010609060101010101" pitchFamily="49" charset="-122"/>
            </a:endParaRPr>
          </a:p>
          <a:p>
            <a:pPr marL="0" indent="0" eaLnBrk="1" hangingPunct="1">
              <a:lnSpc>
                <a:spcPct val="120000"/>
              </a:lnSpc>
              <a:buNone/>
            </a:pPr>
            <a:endParaRPr lang="zh-CN" altLang="en-US"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B15FBB88-35EB-4442-B141-4FE51BF8213A}"/>
              </a:ext>
            </a:extLst>
          </p:cNvPr>
          <p:cNvSpPr txBox="1"/>
          <p:nvPr/>
        </p:nvSpPr>
        <p:spPr>
          <a:xfrm>
            <a:off x="2783633" y="4509120"/>
            <a:ext cx="4608711" cy="1384995"/>
          </a:xfrm>
          <a:prstGeom prst="rect">
            <a:avLst/>
          </a:prstGeom>
          <a:noFill/>
        </p:spPr>
        <p:txBody>
          <a:bodyPr wrap="square">
            <a:spAutoFit/>
          </a:bodyPr>
          <a:lstStyle/>
          <a:p>
            <a:r>
              <a:rPr lang="zh-CN" altLang="en-US" sz="2800" b="0" dirty="0">
                <a:solidFill>
                  <a:schemeClr val="tx1">
                    <a:lumMod val="95000"/>
                    <a:lumOff val="5000"/>
                  </a:schemeClr>
                </a:solidFill>
              </a:rPr>
              <a:t>适宜摄入量</a:t>
            </a:r>
            <a:r>
              <a:rPr lang="en-US" altLang="zh-CN" sz="2800" b="0" dirty="0">
                <a:solidFill>
                  <a:schemeClr val="tx1">
                    <a:lumMod val="95000"/>
                    <a:lumOff val="5000"/>
                  </a:schemeClr>
                </a:solidFill>
              </a:rPr>
              <a:t>(AI) </a:t>
            </a:r>
            <a:r>
              <a:rPr lang="zh-CN" altLang="en-US" sz="2800" b="0" dirty="0">
                <a:solidFill>
                  <a:schemeClr val="tx1">
                    <a:lumMod val="95000"/>
                    <a:lumOff val="5000"/>
                  </a:schemeClr>
                </a:solidFill>
              </a:rPr>
              <a:t>是</a:t>
            </a:r>
            <a:r>
              <a:rPr lang="en-US" altLang="zh-CN" sz="2800" b="0" dirty="0">
                <a:solidFill>
                  <a:schemeClr val="tx1">
                    <a:lumMod val="95000"/>
                    <a:lumOff val="5000"/>
                  </a:schemeClr>
                </a:solidFill>
              </a:rPr>
              <a:t>40μg/d </a:t>
            </a:r>
          </a:p>
          <a:p>
            <a:endParaRPr lang="en-US" altLang="zh-CN" sz="2800" b="0" dirty="0">
              <a:solidFill>
                <a:schemeClr val="tx1">
                  <a:lumMod val="95000"/>
                  <a:lumOff val="5000"/>
                </a:schemeClr>
              </a:solidFill>
            </a:endParaRPr>
          </a:p>
          <a:p>
            <a:r>
              <a:rPr lang="zh-CN" altLang="en-US" sz="2800" b="0" dirty="0">
                <a:solidFill>
                  <a:schemeClr val="tx1">
                    <a:lumMod val="95000"/>
                    <a:lumOff val="5000"/>
                  </a:schemeClr>
                </a:solidFill>
              </a:rPr>
              <a:t>缺乏症少见</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ext Box 3">
            <a:extLst>
              <a:ext uri="{FF2B5EF4-FFF2-40B4-BE49-F238E27FC236}">
                <a16:creationId xmlns:a16="http://schemas.microsoft.com/office/drawing/2014/main" id="{3D2BE32E-CDFC-4C96-8C84-D6420168D6C5}"/>
              </a:ext>
            </a:extLst>
          </p:cNvPr>
          <p:cNvSpPr txBox="1">
            <a:spLocks noChangeArrowheads="1"/>
          </p:cNvSpPr>
          <p:nvPr/>
        </p:nvSpPr>
        <p:spPr bwMode="auto">
          <a:xfrm>
            <a:off x="2362200" y="476672"/>
            <a:ext cx="3352800"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80000"/>
              </a:lnSpc>
              <a:spcBef>
                <a:spcPct val="50000"/>
              </a:spcBef>
              <a:buFontTx/>
              <a:buNone/>
            </a:pPr>
            <a:r>
              <a:rPr lang="zh-CN" altLang="en-US" sz="3600" dirty="0">
                <a:solidFill>
                  <a:srgbClr val="C00000"/>
                </a:solidFill>
                <a:latin typeface="Times New Roman" panose="02020603050405020304" pitchFamily="18" charset="0"/>
                <a:ea typeface="楷体_GB2312" pitchFamily="49" charset="-122"/>
              </a:rPr>
              <a:t>七、叶酸</a:t>
            </a:r>
            <a:r>
              <a:rPr lang="en-US" altLang="zh-CN" sz="3600" dirty="0">
                <a:solidFill>
                  <a:srgbClr val="C00000"/>
                </a:solidFill>
                <a:latin typeface="Times New Roman" panose="02020603050405020304" pitchFamily="18" charset="0"/>
                <a:ea typeface="楷体_GB2312" pitchFamily="49" charset="-122"/>
              </a:rPr>
              <a:t>(B</a:t>
            </a:r>
            <a:r>
              <a:rPr lang="en-US" altLang="zh-CN" sz="3600" baseline="-25000" dirty="0">
                <a:solidFill>
                  <a:srgbClr val="C00000"/>
                </a:solidFill>
                <a:latin typeface="Times New Roman" panose="02020603050405020304" pitchFamily="18" charset="0"/>
                <a:ea typeface="楷体_GB2312" pitchFamily="49" charset="-122"/>
              </a:rPr>
              <a:t>9</a:t>
            </a:r>
            <a:r>
              <a:rPr lang="en-US" altLang="zh-CN" sz="3600" dirty="0">
                <a:solidFill>
                  <a:srgbClr val="C00000"/>
                </a:solidFill>
                <a:latin typeface="Times New Roman" panose="02020603050405020304" pitchFamily="18" charset="0"/>
                <a:ea typeface="楷体_GB2312" pitchFamily="49" charset="-122"/>
              </a:rPr>
              <a:t>)</a:t>
            </a:r>
            <a:endParaRPr lang="zh-CN" altLang="en-US" sz="3600" b="0" dirty="0">
              <a:solidFill>
                <a:srgbClr val="C00000"/>
              </a:solidFill>
              <a:latin typeface="Times New Roman" panose="02020603050405020304" pitchFamily="18" charset="0"/>
              <a:ea typeface="楷体_GB2312" pitchFamily="49" charset="-122"/>
            </a:endParaRPr>
          </a:p>
        </p:txBody>
      </p:sp>
      <p:sp>
        <p:nvSpPr>
          <p:cNvPr id="137219" name="Rectangle 2">
            <a:extLst>
              <a:ext uri="{FF2B5EF4-FFF2-40B4-BE49-F238E27FC236}">
                <a16:creationId xmlns:a16="http://schemas.microsoft.com/office/drawing/2014/main" id="{2220802A-6971-4197-A569-DD899617AF3A}"/>
              </a:ext>
            </a:extLst>
          </p:cNvPr>
          <p:cNvSpPr>
            <a:spLocks noChangeArrowheads="1"/>
          </p:cNvSpPr>
          <p:nvPr/>
        </p:nvSpPr>
        <p:spPr bwMode="auto">
          <a:xfrm>
            <a:off x="2378634" y="1106949"/>
            <a:ext cx="7273304"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609600" indent="-6096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20000"/>
              </a:spcBef>
              <a:buClr>
                <a:schemeClr val="tx2"/>
              </a:buClr>
              <a:buSzPct val="75000"/>
              <a:buFont typeface="Wingdings" panose="05000000000000000000" pitchFamily="2" charset="2"/>
              <a:buNone/>
            </a:pPr>
            <a:r>
              <a:rPr lang="zh-CN" altLang="en-US" sz="2400" b="0" dirty="0">
                <a:solidFill>
                  <a:srgbClr val="C00000"/>
                </a:solidFill>
                <a:latin typeface="微软雅黑" panose="020B0503020204020204" pitchFamily="34" charset="-122"/>
                <a:ea typeface="微软雅黑" panose="020B0503020204020204" pitchFamily="34" charset="-122"/>
              </a:rPr>
              <a:t>  活性形式为</a:t>
            </a:r>
            <a:r>
              <a:rPr lang="zh-CN" altLang="en-US" sz="2400" dirty="0">
                <a:solidFill>
                  <a:srgbClr val="C00000"/>
                </a:solidFill>
                <a:latin typeface="微软雅黑" panose="020B0503020204020204" pitchFamily="34" charset="-122"/>
                <a:ea typeface="微软雅黑" panose="020B0503020204020204" pitchFamily="34" charset="-122"/>
              </a:rPr>
              <a:t>四氢叶酸</a:t>
            </a:r>
            <a:r>
              <a:rPr lang="en-US" altLang="zh-CN" sz="2400" dirty="0">
                <a:solidFill>
                  <a:srgbClr val="C00000"/>
                </a:solidFill>
                <a:latin typeface="微软雅黑" panose="020B0503020204020204" pitchFamily="34" charset="-122"/>
                <a:ea typeface="微软雅黑" panose="020B0503020204020204" pitchFamily="34" charset="-122"/>
              </a:rPr>
              <a:t>(FH</a:t>
            </a:r>
            <a:r>
              <a:rPr lang="en-US" altLang="zh-CN" sz="2400" baseline="-25000" dirty="0">
                <a:solidFill>
                  <a:srgbClr val="C00000"/>
                </a:solidFill>
                <a:latin typeface="微软雅黑" panose="020B0503020204020204" pitchFamily="34" charset="-122"/>
                <a:ea typeface="微软雅黑" panose="020B0503020204020204" pitchFamily="34" charset="-122"/>
              </a:rPr>
              <a:t>4</a:t>
            </a:r>
            <a:r>
              <a:rPr lang="en-US" altLang="zh-CN" sz="2400" dirty="0">
                <a:solidFill>
                  <a:srgbClr val="C00000"/>
                </a:solidFill>
                <a:latin typeface="微软雅黑" panose="020B0503020204020204" pitchFamily="34" charset="-122"/>
                <a:ea typeface="微软雅黑" panose="020B0503020204020204" pitchFamily="34" charset="-122"/>
              </a:rPr>
              <a:t>)</a:t>
            </a:r>
          </a:p>
        </p:txBody>
      </p:sp>
      <p:sp>
        <p:nvSpPr>
          <p:cNvPr id="43029" name="Rectangle 21">
            <a:extLst>
              <a:ext uri="{FF2B5EF4-FFF2-40B4-BE49-F238E27FC236}">
                <a16:creationId xmlns:a16="http://schemas.microsoft.com/office/drawing/2014/main" id="{C5E19D78-4C54-46FC-B6F6-BF2892DEA6DD}"/>
              </a:ext>
            </a:extLst>
          </p:cNvPr>
          <p:cNvSpPr>
            <a:spLocks noChangeArrowheads="1"/>
          </p:cNvSpPr>
          <p:nvPr/>
        </p:nvSpPr>
        <p:spPr bwMode="auto">
          <a:xfrm>
            <a:off x="2362201" y="4891005"/>
            <a:ext cx="7561263"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20000"/>
              </a:spcBef>
              <a:buFontTx/>
              <a:buNone/>
            </a:pPr>
            <a:r>
              <a:rPr lang="zh-CN" altLang="en-US" sz="2400" b="0" dirty="0">
                <a:latin typeface="Times New Roman" panose="02020603050405020304" pitchFamily="18" charset="0"/>
                <a:ea typeface="楷体_GB2312" pitchFamily="49" charset="-122"/>
              </a:rPr>
              <a:t>见于绿叶蔬菜、酵母、水果及动物肝脏、豆类、坚果等</a:t>
            </a:r>
          </a:p>
        </p:txBody>
      </p:sp>
      <p:sp>
        <p:nvSpPr>
          <p:cNvPr id="3" name="文本框 2">
            <a:extLst>
              <a:ext uri="{FF2B5EF4-FFF2-40B4-BE49-F238E27FC236}">
                <a16:creationId xmlns:a16="http://schemas.microsoft.com/office/drawing/2014/main" id="{74A0F8B2-9B0E-B135-EB6C-F13D8F65B68E}"/>
              </a:ext>
            </a:extLst>
          </p:cNvPr>
          <p:cNvSpPr txBox="1"/>
          <p:nvPr/>
        </p:nvSpPr>
        <p:spPr>
          <a:xfrm>
            <a:off x="5715000" y="465637"/>
            <a:ext cx="4635908" cy="523220"/>
          </a:xfrm>
          <a:prstGeom prst="rect">
            <a:avLst/>
          </a:prstGeom>
          <a:noFill/>
        </p:spPr>
        <p:txBody>
          <a:bodyPr wrap="square">
            <a:spAutoFit/>
          </a:bodyPr>
          <a:lstStyle/>
          <a:p>
            <a:r>
              <a:rPr lang="zh-CN" altLang="en-US" sz="2800" b="0" dirty="0">
                <a:solidFill>
                  <a:schemeClr val="tx1">
                    <a:lumMod val="95000"/>
                    <a:lumOff val="5000"/>
                  </a:schemeClr>
                </a:solidFill>
              </a:rPr>
              <a:t>又称</a:t>
            </a:r>
            <a:r>
              <a:rPr lang="zh-CN" altLang="en-US" sz="2800" b="0" dirty="0">
                <a:solidFill>
                  <a:srgbClr val="C00000"/>
                </a:solidFill>
              </a:rPr>
              <a:t>蝶酰谷氨酸</a:t>
            </a:r>
          </a:p>
        </p:txBody>
      </p:sp>
      <p:pic>
        <p:nvPicPr>
          <p:cNvPr id="4" name="图片 3">
            <a:extLst>
              <a:ext uri="{FF2B5EF4-FFF2-40B4-BE49-F238E27FC236}">
                <a16:creationId xmlns:a16="http://schemas.microsoft.com/office/drawing/2014/main" id="{58A5BCC9-28FB-ED6F-C501-DDBEBB9F4926}"/>
              </a:ext>
            </a:extLst>
          </p:cNvPr>
          <p:cNvPicPr>
            <a:picLocks noChangeAspect="1"/>
          </p:cNvPicPr>
          <p:nvPr/>
        </p:nvPicPr>
        <p:blipFill>
          <a:blip r:embed="rId3"/>
          <a:stretch>
            <a:fillRect/>
          </a:stretch>
        </p:blipFill>
        <p:spPr>
          <a:xfrm>
            <a:off x="2214260" y="1694941"/>
            <a:ext cx="7857143" cy="3114286"/>
          </a:xfrm>
          <a:prstGeom prst="rect">
            <a:avLst/>
          </a:prstGeom>
        </p:spPr>
      </p:pic>
      <p:sp>
        <p:nvSpPr>
          <p:cNvPr id="139276" name="矩形 1">
            <a:extLst>
              <a:ext uri="{FF2B5EF4-FFF2-40B4-BE49-F238E27FC236}">
                <a16:creationId xmlns:a16="http://schemas.microsoft.com/office/drawing/2014/main" id="{283AB36A-246B-4EA5-9F89-5DAA41189971}"/>
              </a:ext>
            </a:extLst>
          </p:cNvPr>
          <p:cNvSpPr>
            <a:spLocks noChangeArrowheads="1"/>
          </p:cNvSpPr>
          <p:nvPr/>
        </p:nvSpPr>
        <p:spPr bwMode="auto">
          <a:xfrm>
            <a:off x="2369372" y="5483185"/>
            <a:ext cx="4734740" cy="461665"/>
          </a:xfrm>
          <a:prstGeom prst="rect">
            <a:avLst/>
          </a:prstGeom>
          <a:noFill/>
          <a:ln>
            <a:noFill/>
          </a:ln>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ts val="600"/>
              </a:spcBef>
              <a:buNone/>
              <a:defRPr/>
            </a:pPr>
            <a:r>
              <a:rPr lang="zh-CN" altLang="en-US" sz="2400" b="0" dirty="0">
                <a:solidFill>
                  <a:schemeClr val="tx1">
                    <a:lumMod val="95000"/>
                    <a:lumOff val="5000"/>
                  </a:schemeClr>
                </a:solidFill>
                <a:latin typeface="Times New Roman" panose="02020603050405020304" pitchFamily="18" charset="0"/>
                <a:ea typeface="楷体_GB2312" pitchFamily="49" charset="-122"/>
              </a:rPr>
              <a:t>以蝶酰单谷氨酸形式被吸收</a:t>
            </a:r>
          </a:p>
        </p:txBody>
      </p:sp>
      <p:sp>
        <p:nvSpPr>
          <p:cNvPr id="6" name="文本框 5">
            <a:extLst>
              <a:ext uri="{FF2B5EF4-FFF2-40B4-BE49-F238E27FC236}">
                <a16:creationId xmlns:a16="http://schemas.microsoft.com/office/drawing/2014/main" id="{9CD15C5B-AF7E-0A62-1AF3-D37B30E1C8B8}"/>
              </a:ext>
            </a:extLst>
          </p:cNvPr>
          <p:cNvSpPr txBox="1"/>
          <p:nvPr/>
        </p:nvSpPr>
        <p:spPr>
          <a:xfrm>
            <a:off x="2214259" y="5960766"/>
            <a:ext cx="8634269" cy="581506"/>
          </a:xfrm>
          <a:prstGeom prst="rect">
            <a:avLst/>
          </a:prstGeom>
          <a:noFill/>
        </p:spPr>
        <p:txBody>
          <a:bodyPr wrap="square">
            <a:spAutoFit/>
          </a:bodyPr>
          <a:lstStyle/>
          <a:p>
            <a:pPr eaLnBrk="1" hangingPunct="1">
              <a:lnSpc>
                <a:spcPct val="125000"/>
              </a:lnSpc>
              <a:spcBef>
                <a:spcPct val="20000"/>
              </a:spcBef>
            </a:pPr>
            <a:r>
              <a:rPr lang="en-US" altLang="zh-CN" sz="2800" b="0" dirty="0">
                <a:solidFill>
                  <a:srgbClr val="C00000"/>
                </a:solidFill>
              </a:rPr>
              <a:t>FH</a:t>
            </a:r>
            <a:r>
              <a:rPr lang="en-US" altLang="zh-CN" sz="2800" b="0" baseline="-25000" dirty="0">
                <a:solidFill>
                  <a:srgbClr val="C00000"/>
                </a:solidFill>
              </a:rPr>
              <a:t>4</a:t>
            </a:r>
            <a:r>
              <a:rPr lang="zh-CN" altLang="en-US" sz="2800" b="0" dirty="0">
                <a:solidFill>
                  <a:srgbClr val="C00000"/>
                </a:solidFill>
              </a:rPr>
              <a:t>是一碳单位转移酶的辅酶</a:t>
            </a:r>
            <a:r>
              <a:rPr lang="zh-CN" altLang="en-US" sz="2800" b="0" dirty="0"/>
              <a:t>，</a:t>
            </a:r>
            <a:r>
              <a:rPr lang="zh-CN" altLang="en-US" sz="2800" b="0" dirty="0">
                <a:solidFill>
                  <a:srgbClr val="0000CC"/>
                </a:solidFill>
              </a:rPr>
              <a:t>参与核苷酸的合成。</a:t>
            </a: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内容占位符 2">
            <a:extLst>
              <a:ext uri="{FF2B5EF4-FFF2-40B4-BE49-F238E27FC236}">
                <a16:creationId xmlns:a16="http://schemas.microsoft.com/office/drawing/2014/main" id="{C03C7158-CC1D-47E9-A3DC-56D4ADD925EA}"/>
              </a:ext>
            </a:extLst>
          </p:cNvPr>
          <p:cNvSpPr>
            <a:spLocks noGrp="1" noChangeArrowheads="1"/>
          </p:cNvSpPr>
          <p:nvPr>
            <p:ph idx="1"/>
          </p:nvPr>
        </p:nvSpPr>
        <p:spPr>
          <a:xfrm>
            <a:off x="2135560" y="1484784"/>
            <a:ext cx="8928992" cy="1944216"/>
          </a:xfrm>
        </p:spPr>
        <p:txBody>
          <a:bodyPr>
            <a:noAutofit/>
          </a:bodyPr>
          <a:lstStyle/>
          <a:p>
            <a:pPr eaLnBrk="1" hangingPunct="1"/>
            <a:r>
              <a:rPr lang="zh-CN" altLang="en-US" sz="2400" b="1" dirty="0">
                <a:latin typeface="微软雅黑" panose="020B0503020204020204" pitchFamily="34" charset="-122"/>
                <a:ea typeface="微软雅黑" panose="020B0503020204020204" pitchFamily="34" charset="-122"/>
              </a:rPr>
              <a:t>叶酸缺乏症：</a:t>
            </a:r>
            <a:r>
              <a:rPr lang="zh-CN" altLang="en-US" sz="2400" dirty="0">
                <a:solidFill>
                  <a:srgbClr val="C00000"/>
                </a:solidFill>
                <a:latin typeface="微软雅黑" panose="020B0503020204020204" pitchFamily="34" charset="-122"/>
                <a:ea typeface="微软雅黑" panose="020B0503020204020204" pitchFamily="34" charset="-122"/>
              </a:rPr>
              <a:t>巨幼红细胞贫血、高同型半胱氨酸血症</a:t>
            </a:r>
            <a:endParaRPr lang="en-US" altLang="zh-CN" sz="2400" dirty="0">
              <a:solidFill>
                <a:srgbClr val="C00000"/>
              </a:solidFill>
              <a:latin typeface="微软雅黑" panose="020B0503020204020204" pitchFamily="34" charset="-122"/>
              <a:ea typeface="微软雅黑" panose="020B0503020204020204" pitchFamily="34" charset="-122"/>
            </a:endParaRPr>
          </a:p>
          <a:p>
            <a:pPr>
              <a:lnSpc>
                <a:spcPct val="100000"/>
              </a:lnSpc>
            </a:pPr>
            <a:r>
              <a:rPr lang="zh-CN" altLang="en-US" sz="2400" b="1" dirty="0">
                <a:latin typeface="微软雅黑" panose="020B0503020204020204" pitchFamily="34" charset="-122"/>
                <a:ea typeface="微软雅黑" panose="020B0503020204020204" pitchFamily="34" charset="-122"/>
              </a:rPr>
              <a:t>孕妇缺乏叶酸可致   </a:t>
            </a:r>
            <a:r>
              <a:rPr lang="zh-CN" altLang="en-US" sz="2400" dirty="0">
                <a:solidFill>
                  <a:srgbClr val="C00000"/>
                </a:solidFill>
                <a:latin typeface="微软雅黑" panose="020B0503020204020204" pitchFamily="34" charset="-122"/>
                <a:ea typeface="微软雅黑" panose="020B0503020204020204" pitchFamily="34" charset="-122"/>
              </a:rPr>
              <a:t>新生儿脊柱裂</a:t>
            </a:r>
            <a:r>
              <a:rPr lang="zh-CN" altLang="en-US" sz="2400" dirty="0">
                <a:latin typeface="微软雅黑" panose="020B0503020204020204" pitchFamily="34" charset="-122"/>
                <a:ea typeface="微软雅黑" panose="020B0503020204020204" pitchFamily="34" charset="-122"/>
              </a:rPr>
              <a:t>和</a:t>
            </a:r>
            <a:r>
              <a:rPr lang="zh-CN" altLang="en-US" sz="2400" dirty="0">
                <a:solidFill>
                  <a:srgbClr val="C00000"/>
                </a:solidFill>
                <a:latin typeface="微软雅黑" panose="020B0503020204020204" pitchFamily="34" charset="-122"/>
                <a:ea typeface="微软雅黑" panose="020B0503020204020204" pitchFamily="34" charset="-122"/>
              </a:rPr>
              <a:t>神经管缺陷</a:t>
            </a:r>
          </a:p>
          <a:p>
            <a:pPr eaLnBrk="1" hangingPunct="1">
              <a:lnSpc>
                <a:spcPct val="100000"/>
              </a:lnSpc>
            </a:pPr>
            <a:r>
              <a:rPr lang="zh-CN" altLang="en-US" sz="2400" dirty="0">
                <a:latin typeface="微软雅黑" panose="020B0503020204020204" pitchFamily="34" charset="-122"/>
                <a:ea typeface="微软雅黑" panose="020B0503020204020204" pitchFamily="34" charset="-122"/>
              </a:rPr>
              <a:t>叶酸缺乏也可引起</a:t>
            </a:r>
            <a:r>
              <a:rPr lang="en-US" altLang="zh-CN" sz="2400" dirty="0">
                <a:latin typeface="微软雅黑" panose="020B0503020204020204" pitchFamily="34" charset="-122"/>
                <a:ea typeface="微软雅黑" panose="020B0503020204020204" pitchFamily="34" charset="-122"/>
              </a:rPr>
              <a:t>DNA </a:t>
            </a:r>
            <a:r>
              <a:rPr lang="zh-CN" altLang="en-US" sz="2400" dirty="0">
                <a:latin typeface="微软雅黑" panose="020B0503020204020204" pitchFamily="34" charset="-122"/>
                <a:ea typeface="微软雅黑" panose="020B0503020204020204" pitchFamily="34" charset="-122"/>
              </a:rPr>
              <a:t>低甲基化，增加结肠癌、直肠癌等肿瘤的危险性。 </a:t>
            </a:r>
            <a:endParaRPr lang="en-US" altLang="zh-CN" sz="2400" dirty="0">
              <a:solidFill>
                <a:srgbClr val="C00000"/>
              </a:solidFill>
              <a:latin typeface="微软雅黑" panose="020B0503020204020204" pitchFamily="34" charset="-122"/>
              <a:ea typeface="微软雅黑" panose="020B0503020204020204" pitchFamily="34" charset="-122"/>
            </a:endParaRPr>
          </a:p>
          <a:p>
            <a:pPr eaLnBrk="1" hangingPunct="1"/>
            <a:endParaRPr lang="en-US" altLang="zh-CN" sz="2400" b="1" dirty="0">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446A765C-4575-48DF-A7E4-0A86352FEC2F}"/>
              </a:ext>
            </a:extLst>
          </p:cNvPr>
          <p:cNvSpPr>
            <a:spLocks noChangeArrowheads="1"/>
          </p:cNvSpPr>
          <p:nvPr/>
        </p:nvSpPr>
        <p:spPr bwMode="auto">
          <a:xfrm>
            <a:off x="2238374" y="3573017"/>
            <a:ext cx="7715250" cy="2488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20000"/>
              </a:lnSpc>
              <a:spcBef>
                <a:spcPct val="0"/>
              </a:spcBef>
              <a:buFontTx/>
              <a:buNone/>
            </a:pPr>
            <a:r>
              <a:rPr lang="zh-CN" altLang="en-US" b="0" dirty="0">
                <a:solidFill>
                  <a:srgbClr val="3333CC"/>
                </a:solidFill>
                <a:latin typeface="Times New Roman" panose="02020603050405020304" pitchFamily="18" charset="0"/>
                <a:ea typeface="楷体_GB2312" pitchFamily="49" charset="-122"/>
              </a:rPr>
              <a:t>预防叶酸缺乏</a:t>
            </a:r>
            <a:r>
              <a:rPr lang="zh-CN" altLang="en-US" b="0" dirty="0">
                <a:latin typeface="Times New Roman" panose="02020603050405020304" pitchFamily="18" charset="0"/>
                <a:ea typeface="楷体_GB2312" pitchFamily="49" charset="-122"/>
              </a:rPr>
              <a:t>：</a:t>
            </a:r>
            <a:r>
              <a:rPr lang="en-US" altLang="zh-CN" b="0" dirty="0">
                <a:latin typeface="Times New Roman" panose="02020603050405020304" pitchFamily="18" charset="0"/>
                <a:ea typeface="楷体_GB2312" pitchFamily="49" charset="-122"/>
              </a:rPr>
              <a:t>   </a:t>
            </a:r>
          </a:p>
          <a:p>
            <a:pPr lvl="1" indent="-457200" eaLnBrk="1" hangingPunct="1">
              <a:lnSpc>
                <a:spcPct val="120000"/>
              </a:lnSpc>
              <a:spcBef>
                <a:spcPct val="0"/>
              </a:spcBef>
            </a:pPr>
            <a:r>
              <a:rPr lang="zh-CN" altLang="en-US" sz="2600" b="0" dirty="0">
                <a:latin typeface="Times New Roman" panose="02020603050405020304" pitchFamily="18" charset="0"/>
                <a:ea typeface="楷体_GB2312" pitchFamily="49" charset="-122"/>
              </a:rPr>
              <a:t>多吃蔬菜、水果、坚果</a:t>
            </a:r>
            <a:endParaRPr lang="en-US" altLang="zh-CN" sz="2600" b="0" dirty="0">
              <a:latin typeface="Times New Roman" panose="02020603050405020304" pitchFamily="18" charset="0"/>
              <a:ea typeface="楷体_GB2312" pitchFamily="49" charset="-122"/>
            </a:endParaRPr>
          </a:p>
          <a:p>
            <a:pPr lvl="1" indent="-457200" eaLnBrk="1" hangingPunct="1">
              <a:lnSpc>
                <a:spcPct val="120000"/>
              </a:lnSpc>
              <a:spcBef>
                <a:spcPct val="0"/>
              </a:spcBef>
            </a:pPr>
            <a:r>
              <a:rPr lang="zh-CN" altLang="en-US" sz="2600" b="0" dirty="0">
                <a:latin typeface="Times New Roman" panose="02020603050405020304" pitchFamily="18" charset="0"/>
                <a:ea typeface="楷体_GB2312" pitchFamily="49" charset="-122"/>
              </a:rPr>
              <a:t>每日服用</a:t>
            </a:r>
            <a:r>
              <a:rPr lang="en-US" altLang="zh-CN" sz="2600" b="0" dirty="0">
                <a:latin typeface="Times New Roman" panose="02020603050405020304" pitchFamily="18" charset="0"/>
                <a:ea typeface="楷体_GB2312" pitchFamily="49" charset="-122"/>
              </a:rPr>
              <a:t>500μg </a:t>
            </a:r>
            <a:r>
              <a:rPr lang="zh-CN" altLang="en-US" sz="2600" b="0" dirty="0">
                <a:latin typeface="Times New Roman" panose="02020603050405020304" pitchFamily="18" charset="0"/>
                <a:ea typeface="楷体_GB2312" pitchFamily="49" charset="-122"/>
              </a:rPr>
              <a:t>叶酸有益于</a:t>
            </a:r>
            <a:r>
              <a:rPr lang="zh-CN" altLang="en-US" sz="2600" b="0" dirty="0">
                <a:solidFill>
                  <a:srgbClr val="0000CC"/>
                </a:solidFill>
                <a:latin typeface="Times New Roman" panose="02020603050405020304" pitchFamily="18" charset="0"/>
                <a:ea typeface="楷体_GB2312" pitchFamily="49" charset="-122"/>
              </a:rPr>
              <a:t>预防冠心病</a:t>
            </a:r>
            <a:r>
              <a:rPr lang="zh-CN" altLang="en-US" sz="2600" b="0" dirty="0">
                <a:latin typeface="Times New Roman" panose="02020603050405020304" pitchFamily="18" charset="0"/>
                <a:ea typeface="楷体_GB2312" pitchFamily="49" charset="-122"/>
              </a:rPr>
              <a:t>的发生</a:t>
            </a:r>
          </a:p>
          <a:p>
            <a:pPr lvl="1" indent="-457200" eaLnBrk="1" hangingPunct="1">
              <a:lnSpc>
                <a:spcPct val="120000"/>
              </a:lnSpc>
              <a:spcBef>
                <a:spcPct val="0"/>
              </a:spcBef>
            </a:pPr>
            <a:r>
              <a:rPr lang="zh-CN" altLang="en-US" sz="2600" b="0" dirty="0">
                <a:latin typeface="Times New Roman" panose="02020603050405020304" pitchFamily="18" charset="0"/>
                <a:ea typeface="楷体_GB2312" pitchFamily="49" charset="-122"/>
              </a:rPr>
              <a:t>怀孕前一个月开始补充叶酸直至孕三个月后</a:t>
            </a:r>
            <a:endParaRPr lang="en-US" altLang="zh-CN" sz="2600" b="0" dirty="0">
              <a:latin typeface="Times New Roman" panose="02020603050405020304" pitchFamily="18" charset="0"/>
              <a:ea typeface="楷体_GB2312" pitchFamily="49" charset="-122"/>
            </a:endParaRPr>
          </a:p>
          <a:p>
            <a:pPr lvl="1" indent="-457200" eaLnBrk="1" hangingPunct="1">
              <a:lnSpc>
                <a:spcPct val="120000"/>
              </a:lnSpc>
              <a:spcBef>
                <a:spcPct val="0"/>
              </a:spcBef>
            </a:pPr>
            <a:r>
              <a:rPr lang="zh-CN" altLang="en-US" sz="2600" b="0" dirty="0">
                <a:latin typeface="Times New Roman" panose="02020603050405020304" pitchFamily="18" charset="0"/>
                <a:ea typeface="楷体_GB2312" pitchFamily="49" charset="-122"/>
              </a:rPr>
              <a:t>长期口服避孕药或抗惊厥药应考虑补充叶酸</a:t>
            </a:r>
            <a:endParaRPr lang="en-US" altLang="zh-CN" sz="2600" b="0" dirty="0">
              <a:latin typeface="Times New Roman" panose="02020603050405020304" pitchFamily="18" charset="0"/>
              <a:ea typeface="楷体_GB2312" pitchFamily="49" charset="-122"/>
            </a:endParaRPr>
          </a:p>
        </p:txBody>
      </p:sp>
      <p:sp>
        <p:nvSpPr>
          <p:cNvPr id="3" name="文本框 2">
            <a:extLst>
              <a:ext uri="{FF2B5EF4-FFF2-40B4-BE49-F238E27FC236}">
                <a16:creationId xmlns:a16="http://schemas.microsoft.com/office/drawing/2014/main" id="{50767936-E62C-8C10-948B-C933478F5F12}"/>
              </a:ext>
            </a:extLst>
          </p:cNvPr>
          <p:cNvSpPr txBox="1"/>
          <p:nvPr/>
        </p:nvSpPr>
        <p:spPr>
          <a:xfrm>
            <a:off x="2327231" y="692697"/>
            <a:ext cx="7537539" cy="584775"/>
          </a:xfrm>
          <a:prstGeom prst="rect">
            <a:avLst/>
          </a:prstGeom>
          <a:noFill/>
        </p:spPr>
        <p:txBody>
          <a:bodyPr wrap="square">
            <a:spAutoFit/>
          </a:bodyPr>
          <a:lstStyle/>
          <a:p>
            <a:r>
              <a:rPr lang="zh-CN" altLang="en-US" b="0" dirty="0">
                <a:solidFill>
                  <a:schemeClr val="tx1"/>
                </a:solidFill>
                <a:latin typeface="微软雅黑" panose="020B0503020204020204" pitchFamily="34" charset="-122"/>
                <a:ea typeface="微软雅黑" panose="020B0503020204020204" pitchFamily="34" charset="-122"/>
              </a:rPr>
              <a:t>叶酸推荐量： </a:t>
            </a:r>
            <a:r>
              <a:rPr lang="en-US" altLang="zh-CN" b="0" dirty="0">
                <a:solidFill>
                  <a:schemeClr val="tx1"/>
                </a:solidFill>
                <a:latin typeface="微软雅黑" panose="020B0503020204020204" pitchFamily="34" charset="-122"/>
                <a:ea typeface="微软雅黑" panose="020B0503020204020204" pitchFamily="34" charset="-122"/>
              </a:rPr>
              <a:t>400</a:t>
            </a:r>
            <a:r>
              <a:rPr lang="el-GR" altLang="zh-CN" b="0" dirty="0">
                <a:solidFill>
                  <a:schemeClr val="tx1"/>
                </a:solidFill>
                <a:latin typeface="微软雅黑" panose="020B0503020204020204" pitchFamily="34" charset="-122"/>
                <a:ea typeface="微软雅黑" panose="020B0503020204020204" pitchFamily="34" charset="-122"/>
              </a:rPr>
              <a:t>μ</a:t>
            </a:r>
            <a:r>
              <a:rPr lang="en-US" altLang="zh-CN" b="0" dirty="0">
                <a:solidFill>
                  <a:schemeClr val="tx1"/>
                </a:solidFill>
                <a:latin typeface="微软雅黑" panose="020B0503020204020204" pitchFamily="34" charset="-122"/>
                <a:ea typeface="微软雅黑" panose="020B0503020204020204" pitchFamily="34" charset="-122"/>
              </a:rPr>
              <a:t>g/d</a:t>
            </a:r>
            <a:endParaRPr lang="zh-CN" altLang="en-US" b="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68FE9FA-2D51-4809-E522-9472039D58C5}"/>
              </a:ext>
            </a:extLst>
          </p:cNvPr>
          <p:cNvPicPr>
            <a:picLocks noChangeAspect="1"/>
          </p:cNvPicPr>
          <p:nvPr/>
        </p:nvPicPr>
        <p:blipFill>
          <a:blip r:embed="rId3"/>
          <a:stretch>
            <a:fillRect/>
          </a:stretch>
        </p:blipFill>
        <p:spPr>
          <a:xfrm>
            <a:off x="1855373" y="1587278"/>
            <a:ext cx="5440739" cy="4728496"/>
          </a:xfrm>
          <a:prstGeom prst="rect">
            <a:avLst/>
          </a:prstGeom>
        </p:spPr>
      </p:pic>
      <p:sp>
        <p:nvSpPr>
          <p:cNvPr id="3" name="Rectangle 9">
            <a:extLst>
              <a:ext uri="{FF2B5EF4-FFF2-40B4-BE49-F238E27FC236}">
                <a16:creationId xmlns:a16="http://schemas.microsoft.com/office/drawing/2014/main" id="{2A56044B-73F1-4121-82B1-87D30524544C}"/>
              </a:ext>
            </a:extLst>
          </p:cNvPr>
          <p:cNvSpPr txBox="1">
            <a:spLocks noChangeArrowheads="1"/>
          </p:cNvSpPr>
          <p:nvPr/>
        </p:nvSpPr>
        <p:spPr bwMode="auto">
          <a:xfrm>
            <a:off x="2209800" y="0"/>
            <a:ext cx="7772400" cy="1143000"/>
          </a:xfrm>
          <a:prstGeom prst="rect">
            <a:avLst/>
          </a:prstGeom>
          <a:noFill/>
          <a:ln w="9525">
            <a:noFill/>
            <a:miter lim="800000"/>
            <a:headEnd/>
            <a:tailEnd/>
          </a:ln>
        </p:spPr>
        <p:txBody>
          <a:bodyPr anchor="ctr"/>
          <a:lstStyle/>
          <a:p>
            <a:pPr eaLnBrk="1" hangingPunct="1">
              <a:defRPr/>
            </a:pPr>
            <a:r>
              <a:rPr lang="zh-CN" altLang="en-US" b="0" kern="0" dirty="0">
                <a:solidFill>
                  <a:srgbClr val="C00000"/>
                </a:solidFill>
                <a:latin typeface="楷体_GB2312" pitchFamily="49" charset="-122"/>
                <a:cs typeface="+mj-cs"/>
              </a:rPr>
              <a:t>八、维生素 </a:t>
            </a:r>
            <a:r>
              <a:rPr lang="en-US" altLang="zh-CN" sz="3600" b="0" kern="0" dirty="0">
                <a:solidFill>
                  <a:srgbClr val="C00000"/>
                </a:solidFill>
                <a:latin typeface="+mj-lt"/>
                <a:cs typeface="+mj-cs"/>
              </a:rPr>
              <a:t>B</a:t>
            </a:r>
            <a:r>
              <a:rPr lang="en-US" altLang="zh-CN" sz="3600" b="0" kern="0" baseline="-25000" dirty="0">
                <a:solidFill>
                  <a:srgbClr val="C00000"/>
                </a:solidFill>
                <a:latin typeface="+mj-lt"/>
                <a:cs typeface="+mj-cs"/>
              </a:rPr>
              <a:t>12                </a:t>
            </a:r>
            <a:r>
              <a:rPr lang="zh-CN" altLang="en-US" sz="2800" b="0" kern="0" dirty="0">
                <a:solidFill>
                  <a:srgbClr val="C00000"/>
                </a:solidFill>
                <a:latin typeface="+mj-lt"/>
                <a:cs typeface="+mj-cs"/>
              </a:rPr>
              <a:t>别名：钴胺素 </a:t>
            </a:r>
            <a:endParaRPr lang="en-US" altLang="zh-CN" sz="2800" b="0" kern="0" dirty="0">
              <a:solidFill>
                <a:schemeClr val="tx1"/>
              </a:solidFill>
              <a:latin typeface="+mj-lt"/>
              <a:cs typeface="+mj-cs"/>
            </a:endParaRPr>
          </a:p>
        </p:txBody>
      </p:sp>
      <p:sp>
        <p:nvSpPr>
          <p:cNvPr id="143364" name="Text Box 2">
            <a:extLst>
              <a:ext uri="{FF2B5EF4-FFF2-40B4-BE49-F238E27FC236}">
                <a16:creationId xmlns:a16="http://schemas.microsoft.com/office/drawing/2014/main" id="{D27D3034-2072-4970-AD83-A9CD8394B15E}"/>
              </a:ext>
            </a:extLst>
          </p:cNvPr>
          <p:cNvSpPr txBox="1">
            <a:spLocks noChangeArrowheads="1"/>
          </p:cNvSpPr>
          <p:nvPr/>
        </p:nvSpPr>
        <p:spPr bwMode="auto">
          <a:xfrm>
            <a:off x="2927648" y="1015206"/>
            <a:ext cx="746760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80000"/>
              </a:lnSpc>
              <a:spcBef>
                <a:spcPct val="50000"/>
              </a:spcBef>
              <a:buFontTx/>
              <a:buNone/>
            </a:pPr>
            <a:r>
              <a:rPr lang="zh-CN" altLang="en-US" b="0" dirty="0">
                <a:solidFill>
                  <a:srgbClr val="0000CC"/>
                </a:solidFill>
                <a:latin typeface="楷体_GB2312" pitchFamily="49" charset="-122"/>
                <a:ea typeface="楷体_GB2312" pitchFamily="49" charset="-122"/>
              </a:rPr>
              <a:t>唯一含金属元素的维生素</a:t>
            </a:r>
          </a:p>
        </p:txBody>
      </p:sp>
      <p:sp>
        <p:nvSpPr>
          <p:cNvPr id="120837" name="矩形 1">
            <a:extLst>
              <a:ext uri="{FF2B5EF4-FFF2-40B4-BE49-F238E27FC236}">
                <a16:creationId xmlns:a16="http://schemas.microsoft.com/office/drawing/2014/main" id="{003EC699-1D35-4781-A20E-F943A7EE8E1F}"/>
              </a:ext>
            </a:extLst>
          </p:cNvPr>
          <p:cNvSpPr>
            <a:spLocks noChangeArrowheads="1"/>
          </p:cNvSpPr>
          <p:nvPr/>
        </p:nvSpPr>
        <p:spPr bwMode="auto">
          <a:xfrm>
            <a:off x="6063046" y="1459748"/>
            <a:ext cx="5184577" cy="1711815"/>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40000"/>
              </a:lnSpc>
              <a:spcBef>
                <a:spcPct val="0"/>
              </a:spcBef>
              <a:buFontTx/>
              <a:buNone/>
              <a:defRPr/>
            </a:pPr>
            <a:r>
              <a:rPr lang="zh-CN" altLang="en-US" sz="2600" dirty="0">
                <a:ea typeface="楷体_GB2312" pitchFamily="49" charset="-122"/>
              </a:rPr>
              <a:t>两种辅酶形式：</a:t>
            </a:r>
            <a:endParaRPr lang="en-US" altLang="zh-CN" sz="2600" dirty="0">
              <a:ea typeface="楷体_GB2312" pitchFamily="49" charset="-122"/>
            </a:endParaRPr>
          </a:p>
          <a:p>
            <a:pPr marL="514350" indent="-514350">
              <a:lnSpc>
                <a:spcPct val="140000"/>
              </a:lnSpc>
              <a:spcBef>
                <a:spcPct val="0"/>
              </a:spcBef>
              <a:buFont typeface="+mj-lt"/>
              <a:buAutoNum type="arabicPeriod"/>
              <a:defRPr/>
            </a:pPr>
            <a:r>
              <a:rPr lang="en-US" altLang="zh-CN" sz="2600" b="0" dirty="0">
                <a:solidFill>
                  <a:srgbClr val="C00000"/>
                </a:solidFill>
                <a:ea typeface="楷体_GB2312" pitchFamily="49" charset="-122"/>
              </a:rPr>
              <a:t>5’-</a:t>
            </a:r>
            <a:r>
              <a:rPr lang="zh-CN" altLang="en-US" sz="2600" b="0" dirty="0">
                <a:solidFill>
                  <a:srgbClr val="C00000"/>
                </a:solidFill>
                <a:ea typeface="楷体_GB2312" pitchFamily="49" charset="-122"/>
              </a:rPr>
              <a:t>脱氧腺苷钴胺素（主要）</a:t>
            </a:r>
            <a:endParaRPr lang="en-US" altLang="zh-CN" sz="2600" b="0" dirty="0">
              <a:solidFill>
                <a:srgbClr val="C00000"/>
              </a:solidFill>
              <a:ea typeface="楷体_GB2312" pitchFamily="49" charset="-122"/>
            </a:endParaRPr>
          </a:p>
          <a:p>
            <a:pPr marL="514350" indent="-514350">
              <a:lnSpc>
                <a:spcPct val="140000"/>
              </a:lnSpc>
              <a:spcBef>
                <a:spcPct val="0"/>
              </a:spcBef>
              <a:buFont typeface="+mj-lt"/>
              <a:buAutoNum type="arabicPeriod"/>
              <a:defRPr/>
            </a:pPr>
            <a:r>
              <a:rPr lang="zh-CN" altLang="en-US" sz="2600" b="0" dirty="0">
                <a:solidFill>
                  <a:srgbClr val="C00000"/>
                </a:solidFill>
                <a:ea typeface="楷体_GB2312" pitchFamily="49" charset="-122"/>
              </a:rPr>
              <a:t>甲基钴胺素</a:t>
            </a:r>
          </a:p>
        </p:txBody>
      </p:sp>
      <p:sp>
        <p:nvSpPr>
          <p:cNvPr id="7" name="文本框 6">
            <a:extLst>
              <a:ext uri="{FF2B5EF4-FFF2-40B4-BE49-F238E27FC236}">
                <a16:creationId xmlns:a16="http://schemas.microsoft.com/office/drawing/2014/main" id="{A24A69DC-5683-54A2-B4B2-9BD9D157DFE3}"/>
              </a:ext>
            </a:extLst>
          </p:cNvPr>
          <p:cNvSpPr txBox="1"/>
          <p:nvPr/>
        </p:nvSpPr>
        <p:spPr>
          <a:xfrm>
            <a:off x="6096001" y="4927772"/>
            <a:ext cx="4691771" cy="940963"/>
          </a:xfrm>
          <a:prstGeom prst="rect">
            <a:avLst/>
          </a:prstGeom>
          <a:noFill/>
        </p:spPr>
        <p:txBody>
          <a:bodyPr wrap="square">
            <a:spAutoFit/>
          </a:bodyPr>
          <a:lstStyle/>
          <a:p>
            <a:pPr>
              <a:lnSpc>
                <a:spcPct val="120000"/>
              </a:lnSpc>
            </a:pPr>
            <a:r>
              <a:rPr lang="zh-CN" altLang="en-US" sz="2400" b="0" dirty="0">
                <a:solidFill>
                  <a:schemeClr val="tx1">
                    <a:lumMod val="95000"/>
                    <a:lumOff val="5000"/>
                  </a:schemeClr>
                </a:solidFill>
              </a:rPr>
              <a:t>只能在某些古菌和细菌中合成 。</a:t>
            </a:r>
            <a:endParaRPr lang="en-US" altLang="zh-CN" sz="2400" b="0" dirty="0">
              <a:solidFill>
                <a:schemeClr val="tx1">
                  <a:lumMod val="95000"/>
                  <a:lumOff val="5000"/>
                </a:schemeClr>
              </a:solidFill>
            </a:endParaRPr>
          </a:p>
          <a:p>
            <a:pPr>
              <a:lnSpc>
                <a:spcPct val="120000"/>
              </a:lnSpc>
            </a:pPr>
            <a:r>
              <a:rPr lang="zh-CN" altLang="en-US" sz="2400" b="0" dirty="0">
                <a:solidFill>
                  <a:schemeClr val="tx1">
                    <a:lumMod val="95000"/>
                    <a:lumOff val="5000"/>
                  </a:schemeClr>
                </a:solidFill>
              </a:rPr>
              <a:t>动物</a:t>
            </a:r>
            <a:r>
              <a:rPr lang="zh-CN" altLang="en-US" sz="2400" b="0" dirty="0">
                <a:solidFill>
                  <a:srgbClr val="0000CC"/>
                </a:solidFill>
              </a:rPr>
              <a:t>肝脏含量丰富</a:t>
            </a:r>
            <a:r>
              <a:rPr lang="zh-CN" altLang="en-US" sz="2400" b="0" dirty="0">
                <a:solidFill>
                  <a:schemeClr val="tx1">
                    <a:lumMod val="95000"/>
                    <a:lumOff val="5000"/>
                  </a:schemeClr>
                </a:solidFill>
              </a:rPr>
              <a:t>，</a:t>
            </a:r>
            <a:r>
              <a:rPr lang="zh-CN" altLang="en-US" sz="2400" b="0" dirty="0">
                <a:solidFill>
                  <a:srgbClr val="C00000"/>
                </a:solidFill>
              </a:rPr>
              <a:t>植物中无</a:t>
            </a:r>
            <a:r>
              <a:rPr lang="zh-CN" altLang="en-US" sz="2400" b="0" dirty="0">
                <a:solidFill>
                  <a:schemeClr val="tx1">
                    <a:lumMod val="95000"/>
                    <a:lumOff val="5000"/>
                  </a:schemeClr>
                </a:solidFill>
              </a:rPr>
              <a:t>。</a:t>
            </a:r>
          </a:p>
        </p:txBody>
      </p:sp>
      <p:sp>
        <p:nvSpPr>
          <p:cNvPr id="2" name="文本框 1">
            <a:extLst>
              <a:ext uri="{FF2B5EF4-FFF2-40B4-BE49-F238E27FC236}">
                <a16:creationId xmlns:a16="http://schemas.microsoft.com/office/drawing/2014/main" id="{1A062A1A-F65B-C88F-AADE-114353F34E42}"/>
              </a:ext>
            </a:extLst>
          </p:cNvPr>
          <p:cNvSpPr txBox="1"/>
          <p:nvPr/>
        </p:nvSpPr>
        <p:spPr>
          <a:xfrm>
            <a:off x="6023992" y="3429000"/>
            <a:ext cx="720080" cy="246221"/>
          </a:xfrm>
          <a:prstGeom prst="rect">
            <a:avLst/>
          </a:prstGeom>
          <a:noFill/>
        </p:spPr>
        <p:txBody>
          <a:bodyPr wrap="square" rtlCol="0">
            <a:spAutoFit/>
          </a:bodyPr>
          <a:lstStyle/>
          <a:p>
            <a:r>
              <a:rPr lang="zh-CN" altLang="en-US" sz="1000" b="0" dirty="0">
                <a:solidFill>
                  <a:schemeClr val="tx1">
                    <a:lumMod val="95000"/>
                    <a:lumOff val="5000"/>
                  </a:schemeClr>
                </a:solidFill>
              </a:rPr>
              <a:t>（药用）</a:t>
            </a:r>
          </a:p>
        </p:txBody>
      </p:sp>
      <p:sp>
        <p:nvSpPr>
          <p:cNvPr id="4" name="文本框 3">
            <a:extLst>
              <a:ext uri="{FF2B5EF4-FFF2-40B4-BE49-F238E27FC236}">
                <a16:creationId xmlns:a16="http://schemas.microsoft.com/office/drawing/2014/main" id="{9D16465C-CB7C-D335-DDD2-1C94C4ED781C}"/>
              </a:ext>
            </a:extLst>
          </p:cNvPr>
          <p:cNvSpPr txBox="1"/>
          <p:nvPr/>
        </p:nvSpPr>
        <p:spPr>
          <a:xfrm>
            <a:off x="6023992" y="3578309"/>
            <a:ext cx="720080" cy="246221"/>
          </a:xfrm>
          <a:prstGeom prst="rect">
            <a:avLst/>
          </a:prstGeom>
          <a:noFill/>
        </p:spPr>
        <p:txBody>
          <a:bodyPr wrap="square" rtlCol="0">
            <a:spAutoFit/>
          </a:bodyPr>
          <a:lstStyle/>
          <a:p>
            <a:r>
              <a:rPr lang="zh-CN" altLang="en-US" sz="1000" b="0" dirty="0">
                <a:solidFill>
                  <a:schemeClr val="tx1">
                    <a:lumMod val="95000"/>
                    <a:lumOff val="5000"/>
                  </a:schemeClr>
                </a:solidFill>
              </a:rPr>
              <a:t>（药用）</a:t>
            </a: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A61013D-35E5-A5D0-607C-EC1F51E844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2224" y="476672"/>
            <a:ext cx="3317875" cy="606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1">
            <a:extLst>
              <a:ext uri="{FF2B5EF4-FFF2-40B4-BE49-F238E27FC236}">
                <a16:creationId xmlns:a16="http://schemas.microsoft.com/office/drawing/2014/main" id="{823CEBB4-A78D-250F-9AA5-770CEA5E6434}"/>
              </a:ext>
            </a:extLst>
          </p:cNvPr>
          <p:cNvSpPr txBox="1">
            <a:spLocks noChangeArrowheads="1"/>
          </p:cNvSpPr>
          <p:nvPr/>
        </p:nvSpPr>
        <p:spPr>
          <a:xfrm>
            <a:off x="2567608" y="264143"/>
            <a:ext cx="4827588" cy="9937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kumimoji="0" lang="zh-CN" altLang="en-US" sz="4000" b="0" dirty="0">
                <a:solidFill>
                  <a:srgbClr val="0000CC"/>
                </a:solidFill>
                <a:latin typeface="微软雅黑" panose="020B0503020204020204" pitchFamily="34" charset="-122"/>
                <a:ea typeface="微软雅黑" panose="020B0503020204020204" pitchFamily="34" charset="-122"/>
              </a:rPr>
              <a:t>钴胺素吸收机制</a:t>
            </a:r>
          </a:p>
        </p:txBody>
      </p:sp>
      <p:sp>
        <p:nvSpPr>
          <p:cNvPr id="5" name="文本框 4">
            <a:extLst>
              <a:ext uri="{FF2B5EF4-FFF2-40B4-BE49-F238E27FC236}">
                <a16:creationId xmlns:a16="http://schemas.microsoft.com/office/drawing/2014/main" id="{87B98BDA-63F6-2386-4789-5766A7E60D0B}"/>
              </a:ext>
            </a:extLst>
          </p:cNvPr>
          <p:cNvSpPr txBox="1"/>
          <p:nvPr/>
        </p:nvSpPr>
        <p:spPr>
          <a:xfrm>
            <a:off x="761901" y="1257918"/>
            <a:ext cx="6771803" cy="5157630"/>
          </a:xfrm>
          <a:prstGeom prst="rect">
            <a:avLst/>
          </a:prstGeom>
          <a:noFill/>
        </p:spPr>
        <p:txBody>
          <a:bodyPr wrap="square">
            <a:spAutoFit/>
          </a:bodyPr>
          <a:lstStyle/>
          <a:p>
            <a:pPr>
              <a:lnSpc>
                <a:spcPct val="120000"/>
              </a:lnSpc>
              <a:defRPr/>
            </a:pPr>
            <a:r>
              <a:rPr lang="en-US" altLang="zh-CN" sz="2400" b="0" dirty="0">
                <a:solidFill>
                  <a:srgbClr val="C00000"/>
                </a:solidFill>
              </a:rPr>
              <a:t>B</a:t>
            </a:r>
            <a:r>
              <a:rPr lang="en-US" altLang="zh-CN" sz="2400" b="0" baseline="-25000" dirty="0">
                <a:solidFill>
                  <a:srgbClr val="C00000"/>
                </a:solidFill>
              </a:rPr>
              <a:t>12</a:t>
            </a:r>
            <a:r>
              <a:rPr lang="zh-CN" altLang="en-US" sz="2400" b="0" dirty="0">
                <a:solidFill>
                  <a:srgbClr val="C00000"/>
                </a:solidFill>
              </a:rPr>
              <a:t>的吸收需要内因子</a:t>
            </a:r>
            <a:r>
              <a:rPr lang="zh-CN" altLang="en-US" sz="2400" b="0" dirty="0">
                <a:solidFill>
                  <a:schemeClr val="tx1">
                    <a:lumMod val="95000"/>
                    <a:lumOff val="5000"/>
                  </a:schemeClr>
                </a:solidFill>
              </a:rPr>
              <a:t>（</a:t>
            </a:r>
            <a:r>
              <a:rPr lang="en-US" altLang="zh-CN" sz="2400" b="0" dirty="0">
                <a:solidFill>
                  <a:schemeClr val="tx1">
                    <a:lumMod val="95000"/>
                    <a:lumOff val="5000"/>
                  </a:schemeClr>
                </a:solidFill>
              </a:rPr>
              <a:t>intrinsic factor</a:t>
            </a:r>
            <a:r>
              <a:rPr lang="zh-CN" altLang="en-US" sz="2400" b="0" dirty="0">
                <a:solidFill>
                  <a:schemeClr val="tx1">
                    <a:lumMod val="95000"/>
                    <a:lumOff val="5000"/>
                  </a:schemeClr>
                </a:solidFill>
              </a:rPr>
              <a:t>，</a:t>
            </a:r>
            <a:r>
              <a:rPr lang="en-US" altLang="zh-CN" sz="2400" b="0" dirty="0">
                <a:solidFill>
                  <a:srgbClr val="C00000"/>
                </a:solidFill>
              </a:rPr>
              <a:t>IF</a:t>
            </a:r>
            <a:r>
              <a:rPr lang="zh-CN" altLang="en-US" sz="2400" b="0" dirty="0">
                <a:solidFill>
                  <a:schemeClr val="tx1">
                    <a:lumMod val="95000"/>
                    <a:lumOff val="5000"/>
                  </a:schemeClr>
                </a:solidFill>
              </a:rPr>
              <a:t>。胃腺壁细胞分泌的糖蛋白，</a:t>
            </a:r>
            <a:r>
              <a:rPr lang="en-US" altLang="zh-CN" sz="2400" b="0" dirty="0">
                <a:solidFill>
                  <a:schemeClr val="tx1">
                    <a:lumMod val="95000"/>
                    <a:lumOff val="5000"/>
                  </a:schemeClr>
                </a:solidFill>
              </a:rPr>
              <a:t> </a:t>
            </a:r>
            <a:r>
              <a:rPr lang="zh-CN" altLang="en-US" sz="2400" b="0" dirty="0">
                <a:solidFill>
                  <a:schemeClr val="tx1">
                    <a:lumMod val="95000"/>
                    <a:lumOff val="5000"/>
                  </a:schemeClr>
                </a:solidFill>
              </a:rPr>
              <a:t>称内因子是相对于维生素</a:t>
            </a:r>
            <a:r>
              <a:rPr lang="en-US" altLang="zh-CN" sz="2400" b="0" dirty="0">
                <a:solidFill>
                  <a:schemeClr val="tx1">
                    <a:lumMod val="95000"/>
                    <a:lumOff val="5000"/>
                  </a:schemeClr>
                </a:solidFill>
              </a:rPr>
              <a:t>B</a:t>
            </a:r>
            <a:r>
              <a:rPr lang="en-US" altLang="zh-CN" sz="2400" b="0" baseline="-25000" dirty="0">
                <a:solidFill>
                  <a:schemeClr val="tx1">
                    <a:lumMod val="95000"/>
                    <a:lumOff val="5000"/>
                  </a:schemeClr>
                </a:solidFill>
              </a:rPr>
              <a:t>12</a:t>
            </a:r>
            <a:r>
              <a:rPr lang="zh-CN" altLang="en-US" sz="2400" b="0" dirty="0">
                <a:solidFill>
                  <a:schemeClr val="tx1">
                    <a:lumMod val="95000"/>
                    <a:lumOff val="5000"/>
                  </a:schemeClr>
                </a:solidFill>
              </a:rPr>
              <a:t>这种外因子）</a:t>
            </a:r>
            <a:endParaRPr lang="en-US" altLang="zh-CN" sz="2400" b="0" dirty="0">
              <a:solidFill>
                <a:schemeClr val="tx1">
                  <a:lumMod val="95000"/>
                  <a:lumOff val="5000"/>
                </a:schemeClr>
              </a:solidFill>
            </a:endParaRPr>
          </a:p>
          <a:p>
            <a:pPr>
              <a:lnSpc>
                <a:spcPct val="120000"/>
              </a:lnSpc>
              <a:defRPr/>
            </a:pPr>
            <a:endParaRPr lang="en-US" altLang="zh-CN" sz="2400" b="0" dirty="0">
              <a:solidFill>
                <a:schemeClr val="tx1">
                  <a:lumMod val="95000"/>
                  <a:lumOff val="5000"/>
                </a:schemeClr>
              </a:solidFill>
            </a:endParaRPr>
          </a:p>
          <a:p>
            <a:pPr>
              <a:lnSpc>
                <a:spcPct val="120000"/>
              </a:lnSpc>
              <a:defRPr/>
            </a:pPr>
            <a:r>
              <a:rPr lang="zh-CN" altLang="en-US" sz="2000" b="0" dirty="0">
                <a:solidFill>
                  <a:schemeClr val="tx1">
                    <a:lumMod val="95000"/>
                    <a:lumOff val="5000"/>
                  </a:schemeClr>
                </a:solidFill>
              </a:rPr>
              <a:t>食物中的维生素</a:t>
            </a:r>
            <a:r>
              <a:rPr lang="en-US" altLang="zh-CN" sz="2000" b="0" dirty="0">
                <a:solidFill>
                  <a:schemeClr val="tx1">
                    <a:lumMod val="95000"/>
                    <a:lumOff val="5000"/>
                  </a:schemeClr>
                </a:solidFill>
              </a:rPr>
              <a:t>B</a:t>
            </a:r>
            <a:r>
              <a:rPr lang="en-US" altLang="zh-CN" sz="2000" b="0" baseline="-25000" dirty="0">
                <a:solidFill>
                  <a:schemeClr val="tx1">
                    <a:lumMod val="95000"/>
                    <a:lumOff val="5000"/>
                  </a:schemeClr>
                </a:solidFill>
              </a:rPr>
              <a:t>12</a:t>
            </a:r>
            <a:r>
              <a:rPr lang="en-US" altLang="zh-CN" sz="2000" b="0" dirty="0">
                <a:solidFill>
                  <a:schemeClr val="tx1">
                    <a:lumMod val="95000"/>
                    <a:lumOff val="5000"/>
                  </a:schemeClr>
                </a:solidFill>
              </a:rPr>
              <a:t> </a:t>
            </a:r>
            <a:r>
              <a:rPr lang="zh-CN" altLang="en-US" sz="2000" b="0" dirty="0">
                <a:solidFill>
                  <a:schemeClr val="tx1">
                    <a:lumMod val="95000"/>
                    <a:lumOff val="5000"/>
                  </a:schemeClr>
                </a:solidFill>
              </a:rPr>
              <a:t>与蛋白质结合而存在</a:t>
            </a:r>
            <a:endParaRPr lang="en-US" altLang="zh-CN" sz="2000" b="0" dirty="0">
              <a:solidFill>
                <a:schemeClr val="tx1">
                  <a:lumMod val="95000"/>
                  <a:lumOff val="5000"/>
                </a:schemeClr>
              </a:solidFill>
            </a:endParaRPr>
          </a:p>
          <a:p>
            <a:pPr>
              <a:lnSpc>
                <a:spcPct val="120000"/>
              </a:lnSpc>
              <a:defRPr/>
            </a:pPr>
            <a:r>
              <a:rPr lang="zh-CN" altLang="en-US" sz="2000" dirty="0">
                <a:solidFill>
                  <a:schemeClr val="tx1">
                    <a:lumMod val="95000"/>
                    <a:lumOff val="5000"/>
                  </a:schemeClr>
                </a:solidFill>
              </a:rPr>
              <a:t>胃部</a:t>
            </a:r>
            <a:r>
              <a:rPr lang="zh-CN" altLang="en-US" sz="2000" b="0" dirty="0">
                <a:solidFill>
                  <a:schemeClr val="tx1">
                    <a:lumMod val="95000"/>
                    <a:lumOff val="5000"/>
                  </a:schemeClr>
                </a:solidFill>
              </a:rPr>
              <a:t>：  维生素</a:t>
            </a:r>
            <a:r>
              <a:rPr lang="en-US" altLang="zh-CN" sz="2000" b="0" dirty="0">
                <a:solidFill>
                  <a:schemeClr val="tx1">
                    <a:lumMod val="95000"/>
                    <a:lumOff val="5000"/>
                  </a:schemeClr>
                </a:solidFill>
              </a:rPr>
              <a:t>B</a:t>
            </a:r>
            <a:r>
              <a:rPr lang="en-US" altLang="zh-CN" sz="2000" b="0" baseline="-25000" dirty="0">
                <a:solidFill>
                  <a:schemeClr val="tx1">
                    <a:lumMod val="95000"/>
                    <a:lumOff val="5000"/>
                  </a:schemeClr>
                </a:solidFill>
              </a:rPr>
              <a:t>12</a:t>
            </a:r>
            <a:r>
              <a:rPr lang="en-US" altLang="zh-CN" sz="2000" b="0" dirty="0">
                <a:solidFill>
                  <a:schemeClr val="tx1">
                    <a:lumMod val="95000"/>
                    <a:lumOff val="5000"/>
                  </a:schemeClr>
                </a:solidFill>
              </a:rPr>
              <a:t> </a:t>
            </a:r>
            <a:r>
              <a:rPr lang="zh-CN" altLang="en-US" sz="2000" b="0" dirty="0">
                <a:solidFill>
                  <a:schemeClr val="tx1">
                    <a:lumMod val="95000"/>
                    <a:lumOff val="5000"/>
                  </a:schemeClr>
                </a:solidFill>
              </a:rPr>
              <a:t>与来自唾液的亲钴蛋白质结合</a:t>
            </a:r>
          </a:p>
          <a:p>
            <a:pPr>
              <a:lnSpc>
                <a:spcPct val="120000"/>
              </a:lnSpc>
              <a:defRPr/>
            </a:pPr>
            <a:r>
              <a:rPr lang="zh-CN" altLang="en-US" sz="2000" dirty="0">
                <a:solidFill>
                  <a:schemeClr val="tx1">
                    <a:lumMod val="95000"/>
                    <a:lumOff val="5000"/>
                  </a:schemeClr>
                </a:solidFill>
              </a:rPr>
              <a:t>十二指肠：  </a:t>
            </a:r>
            <a:r>
              <a:rPr lang="en-US" altLang="zh-CN" sz="2000" b="0" dirty="0">
                <a:solidFill>
                  <a:srgbClr val="0000CC"/>
                </a:solidFill>
              </a:rPr>
              <a:t>B</a:t>
            </a:r>
            <a:r>
              <a:rPr lang="en-US" altLang="zh-CN" sz="2000" b="0" baseline="-25000" dirty="0">
                <a:solidFill>
                  <a:srgbClr val="0000CC"/>
                </a:solidFill>
              </a:rPr>
              <a:t>12</a:t>
            </a:r>
            <a:r>
              <a:rPr lang="en-US" altLang="zh-CN" sz="2000" b="0" dirty="0">
                <a:solidFill>
                  <a:srgbClr val="0000CC"/>
                </a:solidFill>
              </a:rPr>
              <a:t> </a:t>
            </a:r>
            <a:r>
              <a:rPr lang="zh-CN" altLang="en-US" sz="2000" b="0" dirty="0">
                <a:solidFill>
                  <a:srgbClr val="0000CC"/>
                </a:solidFill>
              </a:rPr>
              <a:t>与</a:t>
            </a:r>
            <a:r>
              <a:rPr lang="en-US" altLang="zh-CN" sz="2000" b="0" dirty="0">
                <a:solidFill>
                  <a:srgbClr val="0000CC"/>
                </a:solidFill>
              </a:rPr>
              <a:t>IF</a:t>
            </a:r>
            <a:r>
              <a:rPr lang="zh-CN" altLang="en-US" sz="2000" b="0" dirty="0">
                <a:solidFill>
                  <a:srgbClr val="0000CC"/>
                </a:solidFill>
              </a:rPr>
              <a:t> 紧密结合</a:t>
            </a:r>
            <a:r>
              <a:rPr lang="zh-CN" altLang="en-US" sz="2000" b="0" dirty="0">
                <a:solidFill>
                  <a:schemeClr val="tx1">
                    <a:lumMod val="95000"/>
                    <a:lumOff val="5000"/>
                  </a:schemeClr>
                </a:solidFill>
              </a:rPr>
              <a:t>生成</a:t>
            </a:r>
            <a:r>
              <a:rPr lang="en-US" altLang="zh-CN" sz="2000" b="0" dirty="0">
                <a:solidFill>
                  <a:schemeClr val="tx1">
                    <a:lumMod val="95000"/>
                    <a:lumOff val="5000"/>
                  </a:schemeClr>
                </a:solidFill>
              </a:rPr>
              <a:t>B</a:t>
            </a:r>
            <a:r>
              <a:rPr lang="en-US" altLang="zh-CN" sz="2000" b="0" baseline="-25000" dirty="0">
                <a:solidFill>
                  <a:schemeClr val="tx1">
                    <a:lumMod val="95000"/>
                    <a:lumOff val="5000"/>
                  </a:schemeClr>
                </a:solidFill>
              </a:rPr>
              <a:t>12</a:t>
            </a:r>
            <a:r>
              <a:rPr lang="en-US" altLang="zh-CN" sz="2000" b="0" dirty="0">
                <a:solidFill>
                  <a:schemeClr val="tx1">
                    <a:lumMod val="95000"/>
                    <a:lumOff val="5000"/>
                  </a:schemeClr>
                </a:solidFill>
              </a:rPr>
              <a:t>-IF </a:t>
            </a:r>
            <a:r>
              <a:rPr lang="zh-CN" altLang="en-US" sz="2000" b="0" dirty="0">
                <a:solidFill>
                  <a:schemeClr val="tx1">
                    <a:lumMod val="95000"/>
                    <a:lumOff val="5000"/>
                  </a:schemeClr>
                </a:solidFill>
              </a:rPr>
              <a:t>复合物</a:t>
            </a:r>
            <a:endParaRPr lang="en-US" altLang="zh-CN" sz="2000" b="0" dirty="0">
              <a:solidFill>
                <a:schemeClr val="tx1">
                  <a:lumMod val="95000"/>
                  <a:lumOff val="5000"/>
                </a:schemeClr>
              </a:solidFill>
            </a:endParaRPr>
          </a:p>
          <a:p>
            <a:pPr>
              <a:lnSpc>
                <a:spcPct val="120000"/>
              </a:lnSpc>
              <a:defRPr/>
            </a:pPr>
            <a:r>
              <a:rPr lang="zh-CN" altLang="en-US" sz="2000" dirty="0">
                <a:solidFill>
                  <a:schemeClr val="tx1">
                    <a:lumMod val="95000"/>
                    <a:lumOff val="5000"/>
                  </a:schemeClr>
                </a:solidFill>
              </a:rPr>
              <a:t>回肠</a:t>
            </a:r>
            <a:r>
              <a:rPr lang="zh-CN" altLang="en-US" sz="2000" b="0" dirty="0">
                <a:solidFill>
                  <a:schemeClr val="tx1">
                    <a:lumMod val="95000"/>
                    <a:lumOff val="5000"/>
                  </a:schemeClr>
                </a:solidFill>
              </a:rPr>
              <a:t>： </a:t>
            </a:r>
            <a:r>
              <a:rPr lang="en-US" altLang="zh-CN" sz="2000" b="0" dirty="0">
                <a:solidFill>
                  <a:srgbClr val="0000CC"/>
                </a:solidFill>
              </a:rPr>
              <a:t>B</a:t>
            </a:r>
            <a:r>
              <a:rPr lang="en-US" altLang="zh-CN" sz="2000" b="0" baseline="-25000" dirty="0">
                <a:solidFill>
                  <a:srgbClr val="0000CC"/>
                </a:solidFill>
              </a:rPr>
              <a:t>12</a:t>
            </a:r>
            <a:r>
              <a:rPr lang="en-US" altLang="zh-CN" sz="2000" b="0" dirty="0">
                <a:solidFill>
                  <a:srgbClr val="0000CC"/>
                </a:solidFill>
              </a:rPr>
              <a:t>-IF </a:t>
            </a:r>
            <a:r>
              <a:rPr lang="zh-CN" altLang="en-US" sz="2000" b="0" dirty="0">
                <a:solidFill>
                  <a:srgbClr val="0000CC"/>
                </a:solidFill>
              </a:rPr>
              <a:t>复合物</a:t>
            </a:r>
            <a:r>
              <a:rPr lang="zh-CN" altLang="en-US" sz="2000" b="0" dirty="0">
                <a:solidFill>
                  <a:schemeClr val="tx1">
                    <a:lumMod val="95000"/>
                    <a:lumOff val="5000"/>
                  </a:schemeClr>
                </a:solidFill>
              </a:rPr>
              <a:t>与肠粘膜细胞上的</a:t>
            </a:r>
            <a:r>
              <a:rPr lang="zh-CN" altLang="en-US" sz="2000" b="0" dirty="0">
                <a:solidFill>
                  <a:srgbClr val="0000CC"/>
                </a:solidFill>
              </a:rPr>
              <a:t>受体结合，胞吞</a:t>
            </a:r>
            <a:r>
              <a:rPr lang="zh-CN" altLang="en-US" sz="2000" b="0" dirty="0">
                <a:solidFill>
                  <a:schemeClr val="tx1">
                    <a:lumMod val="95000"/>
                    <a:lumOff val="5000"/>
                  </a:schemeClr>
                </a:solidFill>
              </a:rPr>
              <a:t>进入细胞后，</a:t>
            </a:r>
            <a:r>
              <a:rPr lang="en-US" altLang="zh-CN" sz="2000" b="0" dirty="0">
                <a:solidFill>
                  <a:schemeClr val="tx1">
                    <a:lumMod val="95000"/>
                    <a:lumOff val="5000"/>
                  </a:schemeClr>
                </a:solidFill>
              </a:rPr>
              <a:t>B</a:t>
            </a:r>
            <a:r>
              <a:rPr lang="en-US" altLang="zh-CN" sz="2000" b="0" baseline="-25000" dirty="0">
                <a:solidFill>
                  <a:schemeClr val="tx1">
                    <a:lumMod val="95000"/>
                    <a:lumOff val="5000"/>
                  </a:schemeClr>
                </a:solidFill>
              </a:rPr>
              <a:t>12 </a:t>
            </a:r>
            <a:r>
              <a:rPr lang="zh-CN" altLang="en-US" sz="2000" b="0" dirty="0">
                <a:solidFill>
                  <a:schemeClr val="tx1">
                    <a:lumMod val="95000"/>
                    <a:lumOff val="5000"/>
                  </a:schemeClr>
                </a:solidFill>
              </a:rPr>
              <a:t>与内因子分离，继续与转钴胺素</a:t>
            </a:r>
            <a:r>
              <a:rPr lang="en-US" altLang="zh-CN" sz="2000" b="0" dirty="0">
                <a:solidFill>
                  <a:schemeClr val="tx1">
                    <a:lumMod val="95000"/>
                    <a:lumOff val="5000"/>
                  </a:schemeClr>
                </a:solidFill>
              </a:rPr>
              <a:t>Ⅱ</a:t>
            </a:r>
            <a:r>
              <a:rPr lang="zh-CN" altLang="en-US" sz="2000" b="0" dirty="0">
                <a:solidFill>
                  <a:schemeClr val="tx1">
                    <a:lumMod val="95000"/>
                    <a:lumOff val="5000"/>
                  </a:schemeClr>
                </a:solidFill>
              </a:rPr>
              <a:t>结合。</a:t>
            </a:r>
            <a:endParaRPr lang="en-US" altLang="zh-CN" sz="2000" b="0" dirty="0">
              <a:solidFill>
                <a:schemeClr val="tx1">
                  <a:lumMod val="95000"/>
                  <a:lumOff val="5000"/>
                </a:schemeClr>
              </a:solidFill>
            </a:endParaRPr>
          </a:p>
          <a:p>
            <a:pPr>
              <a:lnSpc>
                <a:spcPct val="120000"/>
              </a:lnSpc>
              <a:defRPr/>
            </a:pPr>
            <a:r>
              <a:rPr lang="zh-CN" altLang="en-US" sz="2000" b="0" dirty="0">
                <a:solidFill>
                  <a:schemeClr val="tx1">
                    <a:lumMod val="95000"/>
                    <a:lumOff val="5000"/>
                  </a:schemeClr>
                </a:solidFill>
              </a:rPr>
              <a:t> </a:t>
            </a:r>
            <a:r>
              <a:rPr lang="en-US" altLang="zh-CN" sz="2000" dirty="0">
                <a:solidFill>
                  <a:schemeClr val="tx1">
                    <a:lumMod val="95000"/>
                    <a:lumOff val="5000"/>
                  </a:schemeClr>
                </a:solidFill>
              </a:rPr>
              <a:t>B</a:t>
            </a:r>
            <a:r>
              <a:rPr lang="en-US" altLang="zh-CN" sz="2000" baseline="-25000" dirty="0">
                <a:solidFill>
                  <a:schemeClr val="tx1">
                    <a:lumMod val="95000"/>
                    <a:lumOff val="5000"/>
                  </a:schemeClr>
                </a:solidFill>
              </a:rPr>
              <a:t>12</a:t>
            </a:r>
            <a:r>
              <a:rPr lang="en-US" altLang="zh-CN" sz="2000" dirty="0">
                <a:solidFill>
                  <a:schemeClr val="tx1">
                    <a:lumMod val="95000"/>
                    <a:lumOff val="5000"/>
                  </a:schemeClr>
                </a:solidFill>
              </a:rPr>
              <a:t>- </a:t>
            </a:r>
            <a:r>
              <a:rPr lang="zh-CN" altLang="en-US" sz="2000" dirty="0">
                <a:solidFill>
                  <a:schemeClr val="tx1">
                    <a:lumMod val="95000"/>
                    <a:lumOff val="5000"/>
                  </a:schemeClr>
                </a:solidFill>
              </a:rPr>
              <a:t>转钴胺素</a:t>
            </a:r>
            <a:r>
              <a:rPr lang="en-US" altLang="zh-CN" sz="2000" dirty="0">
                <a:solidFill>
                  <a:schemeClr val="tx1">
                    <a:lumMod val="95000"/>
                    <a:lumOff val="5000"/>
                  </a:schemeClr>
                </a:solidFill>
              </a:rPr>
              <a:t>Ⅱ</a:t>
            </a:r>
            <a:r>
              <a:rPr lang="zh-CN" altLang="en-US" sz="2000" dirty="0">
                <a:solidFill>
                  <a:schemeClr val="tx1">
                    <a:lumMod val="95000"/>
                    <a:lumOff val="5000"/>
                  </a:schemeClr>
                </a:solidFill>
              </a:rPr>
              <a:t>复合物进入血液</a:t>
            </a:r>
            <a:r>
              <a:rPr lang="zh-CN" altLang="en-US" sz="2000" b="0" dirty="0">
                <a:solidFill>
                  <a:schemeClr val="tx1">
                    <a:lumMod val="95000"/>
                    <a:lumOff val="5000"/>
                  </a:schemeClr>
                </a:solidFill>
              </a:rPr>
              <a:t>，可被其它组织细胞摄取。</a:t>
            </a:r>
            <a:endParaRPr lang="en-US" altLang="zh-CN" sz="2000" b="0" dirty="0">
              <a:solidFill>
                <a:schemeClr val="tx1">
                  <a:lumMod val="95000"/>
                  <a:lumOff val="5000"/>
                </a:schemeClr>
              </a:solidFill>
            </a:endParaRPr>
          </a:p>
          <a:p>
            <a:pPr>
              <a:lnSpc>
                <a:spcPct val="120000"/>
              </a:lnSpc>
              <a:defRPr/>
            </a:pPr>
            <a:endParaRPr lang="en-US" altLang="zh-CN" sz="2000" b="0" dirty="0">
              <a:solidFill>
                <a:schemeClr val="tx1">
                  <a:lumMod val="95000"/>
                  <a:lumOff val="5000"/>
                </a:schemeClr>
              </a:solidFill>
            </a:endParaRPr>
          </a:p>
          <a:p>
            <a:pPr>
              <a:lnSpc>
                <a:spcPct val="120000"/>
              </a:lnSpc>
              <a:defRPr/>
            </a:pPr>
            <a:r>
              <a:rPr lang="zh-CN" altLang="en-US" sz="2000" b="0" dirty="0">
                <a:solidFill>
                  <a:schemeClr val="tx1">
                    <a:lumMod val="95000"/>
                    <a:lumOff val="5000"/>
                  </a:schemeClr>
                </a:solidFill>
              </a:rPr>
              <a:t>肝内还有一种转钴胺素</a:t>
            </a:r>
            <a:r>
              <a:rPr lang="en-US" altLang="zh-CN" sz="2000" b="0" dirty="0">
                <a:solidFill>
                  <a:schemeClr val="tx1">
                    <a:lumMod val="95000"/>
                    <a:lumOff val="5000"/>
                  </a:schemeClr>
                </a:solidFill>
              </a:rPr>
              <a:t>Ⅰ</a:t>
            </a:r>
            <a:r>
              <a:rPr lang="zh-CN" altLang="en-US" sz="2000" b="0" dirty="0">
                <a:solidFill>
                  <a:schemeClr val="tx1">
                    <a:lumMod val="95000"/>
                    <a:lumOff val="5000"/>
                  </a:schemeClr>
                </a:solidFill>
              </a:rPr>
              <a:t>，可与</a:t>
            </a:r>
            <a:r>
              <a:rPr lang="en-US" altLang="zh-CN" sz="2000" b="0" dirty="0">
                <a:solidFill>
                  <a:schemeClr val="tx1">
                    <a:lumMod val="95000"/>
                    <a:lumOff val="5000"/>
                  </a:schemeClr>
                </a:solidFill>
              </a:rPr>
              <a:t>B</a:t>
            </a:r>
            <a:r>
              <a:rPr lang="en-US" altLang="zh-CN" sz="2000" b="0" baseline="-25000" dirty="0">
                <a:solidFill>
                  <a:schemeClr val="tx1">
                    <a:lumMod val="95000"/>
                    <a:lumOff val="5000"/>
                  </a:schemeClr>
                </a:solidFill>
              </a:rPr>
              <a:t>12</a:t>
            </a:r>
            <a:r>
              <a:rPr lang="en-US" altLang="zh-CN" sz="2000" b="0" dirty="0">
                <a:solidFill>
                  <a:schemeClr val="tx1">
                    <a:lumMod val="95000"/>
                    <a:lumOff val="5000"/>
                  </a:schemeClr>
                </a:solidFill>
              </a:rPr>
              <a:t> </a:t>
            </a:r>
            <a:r>
              <a:rPr lang="zh-CN" altLang="en-US" sz="2000" b="0" dirty="0">
                <a:solidFill>
                  <a:schemeClr val="tx1">
                    <a:lumMod val="95000"/>
                    <a:lumOff val="5000"/>
                  </a:schemeClr>
                </a:solidFill>
              </a:rPr>
              <a:t>结合而贮存于肝内（</a:t>
            </a:r>
            <a:r>
              <a:rPr lang="zh-CN" altLang="en-US" sz="2000" dirty="0">
                <a:solidFill>
                  <a:schemeClr val="tx1">
                    <a:lumMod val="95000"/>
                    <a:lumOff val="5000"/>
                  </a:schemeClr>
                </a:solidFill>
              </a:rPr>
              <a:t>健康人体肝脏可存三到五年所需的维生素</a:t>
            </a:r>
            <a:r>
              <a:rPr lang="en-US" altLang="zh-CN" sz="2000" dirty="0">
                <a:solidFill>
                  <a:schemeClr val="tx1">
                    <a:lumMod val="95000"/>
                    <a:lumOff val="5000"/>
                  </a:schemeClr>
                </a:solidFill>
              </a:rPr>
              <a:t>B</a:t>
            </a:r>
            <a:r>
              <a:rPr lang="en-US" altLang="zh-CN" sz="2000" baseline="-25000" dirty="0">
                <a:solidFill>
                  <a:schemeClr val="tx1">
                    <a:lumMod val="95000"/>
                    <a:lumOff val="5000"/>
                  </a:schemeClr>
                </a:solidFill>
              </a:rPr>
              <a:t>12</a:t>
            </a:r>
            <a:r>
              <a:rPr lang="zh-CN" altLang="en-US" sz="2000" b="0" dirty="0">
                <a:solidFill>
                  <a:schemeClr val="tx1">
                    <a:lumMod val="95000"/>
                    <a:lumOff val="5000"/>
                  </a:schemeClr>
                </a:solidFill>
              </a:rPr>
              <a:t>）。</a:t>
            </a:r>
            <a:endParaRPr lang="en-US" altLang="zh-CN" sz="2000" b="0" dirty="0">
              <a:solidFill>
                <a:schemeClr val="tx1">
                  <a:lumMod val="95000"/>
                  <a:lumOff val="5000"/>
                </a:schemeClr>
              </a:solidFill>
            </a:endParaRPr>
          </a:p>
        </p:txBody>
      </p:sp>
    </p:spTree>
    <p:extLst>
      <p:ext uri="{BB962C8B-B14F-4D97-AF65-F5344CB8AC3E}">
        <p14:creationId xmlns:p14="http://schemas.microsoft.com/office/powerpoint/2010/main" val="1370474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530" name="Picture 2">
            <a:extLst>
              <a:ext uri="{FF2B5EF4-FFF2-40B4-BE49-F238E27FC236}">
                <a16:creationId xmlns:a16="http://schemas.microsoft.com/office/drawing/2014/main" id="{F8A7FA39-1590-4192-B144-75573D64B904}"/>
              </a:ext>
            </a:extLst>
          </p:cNvPr>
          <p:cNvPicPr>
            <a:picLocks noChangeAspect="1" noChangeArrowheads="1"/>
          </p:cNvPicPr>
          <p:nvPr/>
        </p:nvPicPr>
        <p:blipFill>
          <a:blip r:embed="rId3">
            <a:lum bright="-10000" contrast="10000"/>
            <a:extLst>
              <a:ext uri="{28A0092B-C50C-407E-A947-70E740481C1C}">
                <a14:useLocalDpi xmlns:a14="http://schemas.microsoft.com/office/drawing/2010/main" val="0"/>
              </a:ext>
            </a:extLst>
          </a:blip>
          <a:srcRect/>
          <a:stretch>
            <a:fillRect/>
          </a:stretch>
        </p:blipFill>
        <p:spPr bwMode="auto">
          <a:xfrm>
            <a:off x="1809750" y="1500188"/>
            <a:ext cx="8643938" cy="500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50531" name="Rectangle 7">
            <a:extLst>
              <a:ext uri="{FF2B5EF4-FFF2-40B4-BE49-F238E27FC236}">
                <a16:creationId xmlns:a16="http://schemas.microsoft.com/office/drawing/2014/main" id="{1D8E4230-F0AC-4A34-B9B6-FC751BC95334}"/>
              </a:ext>
            </a:extLst>
          </p:cNvPr>
          <p:cNvSpPr>
            <a:spLocks noChangeArrowheads="1"/>
          </p:cNvSpPr>
          <p:nvPr/>
        </p:nvSpPr>
        <p:spPr bwMode="auto">
          <a:xfrm>
            <a:off x="1809750" y="357189"/>
            <a:ext cx="85725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lang="zh-CN" altLang="en-US" dirty="0">
                <a:solidFill>
                  <a:srgbClr val="3333CC"/>
                </a:solidFill>
                <a:latin typeface="微软雅黑" panose="020B0503020204020204" pitchFamily="34" charset="-122"/>
                <a:ea typeface="微软雅黑" panose="020B0503020204020204" pitchFamily="34" charset="-122"/>
              </a:rPr>
              <a:t>甲基钴胺素</a:t>
            </a:r>
            <a:r>
              <a:rPr lang="zh-CN" altLang="en-US" b="0" dirty="0">
                <a:latin typeface="Times New Roman" panose="02020603050405020304" pitchFamily="18" charset="0"/>
                <a:ea typeface="楷体_GB2312" pitchFamily="49" charset="-122"/>
              </a:rPr>
              <a:t>是</a:t>
            </a:r>
            <a:r>
              <a:rPr lang="zh-CN" altLang="en-US" dirty="0">
                <a:latin typeface="Times New Roman" panose="02020603050405020304" pitchFamily="18" charset="0"/>
                <a:ea typeface="楷体_GB2312" pitchFamily="49" charset="-122"/>
              </a:rPr>
              <a:t>甲硫氨酸合成酶</a:t>
            </a:r>
            <a:r>
              <a:rPr lang="zh-CN" altLang="en-US" sz="2400" b="0" dirty="0">
                <a:latin typeface="Times New Roman" panose="02020603050405020304" pitchFamily="18" charset="0"/>
                <a:ea typeface="楷体_GB2312" pitchFamily="49" charset="-122"/>
              </a:rPr>
              <a:t>（也称</a:t>
            </a:r>
            <a:r>
              <a:rPr lang="en-US" altLang="zh-CN" sz="2400" dirty="0">
                <a:latin typeface="Times New Roman" panose="02020603050405020304" pitchFamily="18" charset="0"/>
                <a:ea typeface="楷体_GB2312" pitchFamily="49" charset="-122"/>
              </a:rPr>
              <a:t>N</a:t>
            </a:r>
            <a:r>
              <a:rPr lang="en-US" altLang="zh-CN" sz="2400" baseline="-25000" dirty="0">
                <a:latin typeface="Times New Roman" panose="02020603050405020304" pitchFamily="18" charset="0"/>
                <a:ea typeface="楷体_GB2312" pitchFamily="49" charset="-122"/>
              </a:rPr>
              <a:t>5</a:t>
            </a:r>
            <a:r>
              <a:rPr lang="en-US" altLang="zh-CN" sz="2400" dirty="0">
                <a:latin typeface="Times New Roman" panose="02020603050405020304" pitchFamily="18" charset="0"/>
                <a:ea typeface="楷体_GB2312" pitchFamily="49" charset="-122"/>
              </a:rPr>
              <a:t>-</a:t>
            </a:r>
            <a:r>
              <a:rPr lang="zh-CN" altLang="en-US" sz="2400" dirty="0">
                <a:latin typeface="Times New Roman" panose="02020603050405020304" pitchFamily="18" charset="0"/>
                <a:ea typeface="楷体_GB2312" pitchFamily="49" charset="-122"/>
              </a:rPr>
              <a:t>甲基四氢叶酸转甲基酶</a:t>
            </a:r>
            <a:r>
              <a:rPr lang="zh-CN" altLang="en-US" sz="2400" b="0" dirty="0">
                <a:latin typeface="Times New Roman" panose="02020603050405020304" pitchFamily="18" charset="0"/>
                <a:ea typeface="楷体_GB2312" pitchFamily="49" charset="-122"/>
              </a:rPr>
              <a:t>）</a:t>
            </a:r>
            <a:r>
              <a:rPr lang="zh-CN" altLang="en-US" b="0" dirty="0">
                <a:latin typeface="Times New Roman" panose="02020603050405020304" pitchFamily="18" charset="0"/>
                <a:ea typeface="楷体_GB2312" pitchFamily="49" charset="-122"/>
              </a:rPr>
              <a:t>的辅酶，与叶酸联合</a:t>
            </a:r>
            <a:r>
              <a:rPr lang="zh-CN" altLang="en-US" b="0" dirty="0">
                <a:solidFill>
                  <a:srgbClr val="0000CC"/>
                </a:solidFill>
                <a:latin typeface="Times New Roman" panose="02020603050405020304" pitchFamily="18" charset="0"/>
                <a:ea typeface="楷体_GB2312" pitchFamily="49" charset="-122"/>
              </a:rPr>
              <a:t>参与甲基转移反应</a:t>
            </a:r>
            <a:r>
              <a:rPr lang="zh-CN" altLang="en-US" b="0" dirty="0">
                <a:latin typeface="Times New Roman" panose="02020603050405020304" pitchFamily="18" charset="0"/>
                <a:ea typeface="楷体_GB2312" pitchFamily="49" charset="-122"/>
              </a:rPr>
              <a:t>。 </a:t>
            </a:r>
            <a:endParaRPr lang="zh-CN" altLang="en-US" b="0" dirty="0">
              <a:latin typeface="Times New Roman" panose="02020603050405020304" pitchFamily="18" charset="0"/>
              <a:ea typeface="宋体" panose="02010600030101010101" pitchFamily="2" charset="-122"/>
            </a:endParaRPr>
          </a:p>
        </p:txBody>
      </p:sp>
      <p:sp>
        <p:nvSpPr>
          <p:cNvPr id="3" name="文本框 2">
            <a:extLst>
              <a:ext uri="{FF2B5EF4-FFF2-40B4-BE49-F238E27FC236}">
                <a16:creationId xmlns:a16="http://schemas.microsoft.com/office/drawing/2014/main" id="{E095A20B-A2CA-116A-31F2-9B525DB2EBA9}"/>
              </a:ext>
            </a:extLst>
          </p:cNvPr>
          <p:cNvSpPr txBox="1"/>
          <p:nvPr/>
        </p:nvSpPr>
        <p:spPr>
          <a:xfrm>
            <a:off x="3659021" y="4581128"/>
            <a:ext cx="2472698" cy="307777"/>
          </a:xfrm>
          <a:prstGeom prst="rect">
            <a:avLst/>
          </a:prstGeom>
          <a:noFill/>
        </p:spPr>
        <p:txBody>
          <a:bodyPr wrap="square">
            <a:spAutoFit/>
          </a:bodyPr>
          <a:lstStyle/>
          <a:p>
            <a:r>
              <a:rPr lang="zh-CN" altLang="en-US" sz="1400" b="0" dirty="0">
                <a:solidFill>
                  <a:srgbClr val="0000CC"/>
                </a:solidFill>
              </a:rPr>
              <a:t>甲硫氨酸合成酶</a:t>
            </a:r>
          </a:p>
        </p:txBody>
      </p:sp>
      <p:sp>
        <p:nvSpPr>
          <p:cNvPr id="4" name="文本框 3">
            <a:extLst>
              <a:ext uri="{FF2B5EF4-FFF2-40B4-BE49-F238E27FC236}">
                <a16:creationId xmlns:a16="http://schemas.microsoft.com/office/drawing/2014/main" id="{01A76595-5497-0516-9AD3-292E2E813BCE}"/>
              </a:ext>
            </a:extLst>
          </p:cNvPr>
          <p:cNvSpPr txBox="1"/>
          <p:nvPr/>
        </p:nvSpPr>
        <p:spPr>
          <a:xfrm>
            <a:off x="10128448" y="2777886"/>
            <a:ext cx="2304256" cy="646331"/>
          </a:xfrm>
          <a:prstGeom prst="rect">
            <a:avLst/>
          </a:prstGeom>
          <a:noFill/>
        </p:spPr>
        <p:txBody>
          <a:bodyPr wrap="square" rtlCol="0">
            <a:spAutoFit/>
          </a:bodyPr>
          <a:lstStyle/>
          <a:p>
            <a:r>
              <a:rPr lang="en-US" altLang="zh-CN" sz="1800" b="0" dirty="0">
                <a:solidFill>
                  <a:srgbClr val="0000CC"/>
                </a:solidFill>
              </a:rPr>
              <a:t>S-</a:t>
            </a:r>
            <a:r>
              <a:rPr lang="zh-CN" altLang="en-US" sz="1800" b="0" dirty="0">
                <a:solidFill>
                  <a:srgbClr val="0000CC"/>
                </a:solidFill>
              </a:rPr>
              <a:t>腺苷甲硫氨酸</a:t>
            </a:r>
            <a:endParaRPr lang="en-US" altLang="zh-CN" sz="1800" b="0" dirty="0">
              <a:solidFill>
                <a:srgbClr val="0000CC"/>
              </a:solidFill>
            </a:endParaRPr>
          </a:p>
          <a:p>
            <a:r>
              <a:rPr lang="zh-CN" altLang="en-US" sz="1800" b="0" dirty="0">
                <a:solidFill>
                  <a:srgbClr val="0000CC"/>
                </a:solidFill>
              </a:rPr>
              <a:t>（</a:t>
            </a:r>
            <a:r>
              <a:rPr lang="en-US" altLang="zh-CN" sz="1800" b="0" dirty="0">
                <a:solidFill>
                  <a:srgbClr val="0000CC"/>
                </a:solidFill>
              </a:rPr>
              <a:t>SAM</a:t>
            </a:r>
            <a:r>
              <a:rPr lang="zh-CN" altLang="en-US" sz="1800" b="0" dirty="0">
                <a:solidFill>
                  <a:srgbClr val="0000CC"/>
                </a:solidFill>
              </a:rPr>
              <a:t>）</a:t>
            </a:r>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CFE34C1-9AAE-4DC2-AA8F-19378D10A941}"/>
              </a:ext>
            </a:extLst>
          </p:cNvPr>
          <p:cNvSpPr>
            <a:spLocks noGrp="1"/>
          </p:cNvSpPr>
          <p:nvPr>
            <p:ph idx="1"/>
          </p:nvPr>
        </p:nvSpPr>
        <p:spPr>
          <a:xfrm>
            <a:off x="938554" y="764824"/>
            <a:ext cx="10314892" cy="2448153"/>
          </a:xfrm>
        </p:spPr>
        <p:txBody>
          <a:bodyPr rtlCol="0">
            <a:noAutofit/>
          </a:bodyPr>
          <a:lstStyle/>
          <a:p>
            <a:pPr eaLnBrk="1" fontAlgn="auto" hangingPunct="1">
              <a:lnSpc>
                <a:spcPct val="130000"/>
              </a:lnSpc>
              <a:spcBef>
                <a:spcPts val="0"/>
              </a:spcBef>
              <a:spcAft>
                <a:spcPts val="0"/>
              </a:spcAft>
              <a:buFont typeface="Wingdings" panose="05000000000000000000" pitchFamily="2" charset="2"/>
              <a:buChar char="Ø"/>
              <a:defRPr/>
            </a:pPr>
            <a:r>
              <a:rPr lang="en-US" altLang="zh-CN" sz="2600" b="1" dirty="0">
                <a:solidFill>
                  <a:srgbClr val="3333CC"/>
                </a:solidFill>
                <a:latin typeface="微软雅黑" panose="020B0503020204020204" pitchFamily="34" charset="-122"/>
                <a:ea typeface="微软雅黑" panose="020B0503020204020204" pitchFamily="34" charset="-122"/>
              </a:rPr>
              <a:t>5</a:t>
            </a:r>
            <a:r>
              <a:rPr lang="zh-CN" altLang="en-US" sz="2600" b="1" dirty="0">
                <a:solidFill>
                  <a:srgbClr val="3333CC"/>
                </a:solidFill>
                <a:latin typeface="微软雅黑" panose="020B0503020204020204" pitchFamily="34" charset="-122"/>
                <a:ea typeface="微软雅黑" panose="020B0503020204020204" pitchFamily="34" charset="-122"/>
              </a:rPr>
              <a:t>’</a:t>
            </a:r>
            <a:r>
              <a:rPr lang="en-US" altLang="zh-CN" sz="2600" b="1" dirty="0">
                <a:solidFill>
                  <a:srgbClr val="3333CC"/>
                </a:solidFill>
                <a:latin typeface="微软雅黑" panose="020B0503020204020204" pitchFamily="34" charset="-122"/>
                <a:ea typeface="微软雅黑" panose="020B0503020204020204" pitchFamily="34" charset="-122"/>
              </a:rPr>
              <a:t>-</a:t>
            </a:r>
            <a:r>
              <a:rPr lang="zh-CN" altLang="en-US" sz="2600" b="1" dirty="0">
                <a:solidFill>
                  <a:srgbClr val="3333CC"/>
                </a:solidFill>
                <a:latin typeface="微软雅黑" panose="020B0503020204020204" pitchFamily="34" charset="-122"/>
                <a:ea typeface="微软雅黑" panose="020B0503020204020204" pitchFamily="34" charset="-122"/>
              </a:rPr>
              <a:t>脱氧腺苷钴胺素</a:t>
            </a:r>
            <a:r>
              <a:rPr lang="zh-CN" altLang="en-US" sz="2600" dirty="0">
                <a:latin typeface="微软雅黑" panose="020B0503020204020204" pitchFamily="34" charset="-122"/>
                <a:ea typeface="微软雅黑" panose="020B0503020204020204" pitchFamily="34" charset="-122"/>
              </a:rPr>
              <a:t>是</a:t>
            </a:r>
            <a:r>
              <a:rPr lang="en-US" altLang="zh-CN" sz="2600" b="1" dirty="0">
                <a:latin typeface="微软雅黑" panose="020B0503020204020204" pitchFamily="34" charset="-122"/>
                <a:ea typeface="微软雅黑" panose="020B0503020204020204" pitchFamily="34" charset="-122"/>
              </a:rPr>
              <a:t>L-</a:t>
            </a:r>
            <a:r>
              <a:rPr lang="zh-CN" altLang="en-US" sz="2600" b="1" dirty="0">
                <a:latin typeface="微软雅黑" panose="020B0503020204020204" pitchFamily="34" charset="-122"/>
                <a:ea typeface="微软雅黑" panose="020B0503020204020204" pitchFamily="34" charset="-122"/>
              </a:rPr>
              <a:t>甲基丙二酰</a:t>
            </a:r>
            <a:r>
              <a:rPr lang="en-US" altLang="zh-CN" sz="2600" b="1" dirty="0">
                <a:latin typeface="微软雅黑" panose="020B0503020204020204" pitchFamily="34" charset="-122"/>
                <a:ea typeface="微软雅黑" panose="020B0503020204020204" pitchFamily="34" charset="-122"/>
              </a:rPr>
              <a:t>CoA</a:t>
            </a:r>
            <a:r>
              <a:rPr lang="zh-CN" altLang="en-US" sz="2600" b="1" dirty="0">
                <a:latin typeface="微软雅黑" panose="020B0503020204020204" pitchFamily="34" charset="-122"/>
                <a:ea typeface="微软雅黑" panose="020B0503020204020204" pitchFamily="34" charset="-122"/>
              </a:rPr>
              <a:t>变位酶</a:t>
            </a:r>
            <a:r>
              <a:rPr lang="zh-CN" altLang="en-US" sz="2600" dirty="0">
                <a:latin typeface="微软雅黑" panose="020B0503020204020204" pitchFamily="34" charset="-122"/>
                <a:ea typeface="微软雅黑" panose="020B0503020204020204" pitchFamily="34" charset="-122"/>
              </a:rPr>
              <a:t>的辅酶，催化琥珀酰</a:t>
            </a:r>
            <a:r>
              <a:rPr lang="en-US" altLang="zh-CN" sz="2600" dirty="0">
                <a:latin typeface="微软雅黑" panose="020B0503020204020204" pitchFamily="34" charset="-122"/>
                <a:ea typeface="微软雅黑" panose="020B0503020204020204" pitchFamily="34" charset="-122"/>
              </a:rPr>
              <a:t>CoA</a:t>
            </a:r>
            <a:r>
              <a:rPr lang="zh-CN" altLang="en-US" sz="2600" dirty="0">
                <a:latin typeface="微软雅黑" panose="020B0503020204020204" pitchFamily="34" charset="-122"/>
                <a:ea typeface="微软雅黑" panose="020B0503020204020204" pitchFamily="34" charset="-122"/>
              </a:rPr>
              <a:t>的生成。当维生素</a:t>
            </a:r>
            <a:r>
              <a:rPr lang="en-US" altLang="zh-CN" sz="2600" dirty="0">
                <a:latin typeface="微软雅黑" panose="020B0503020204020204" pitchFamily="34" charset="-122"/>
                <a:ea typeface="微软雅黑" panose="020B0503020204020204" pitchFamily="34" charset="-122"/>
              </a:rPr>
              <a:t>B</a:t>
            </a:r>
            <a:r>
              <a:rPr lang="en-US" altLang="zh-CN" sz="2600" baseline="-25000" dirty="0">
                <a:latin typeface="微软雅黑" panose="020B0503020204020204" pitchFamily="34" charset="-122"/>
                <a:ea typeface="微软雅黑" panose="020B0503020204020204" pitchFamily="34" charset="-122"/>
              </a:rPr>
              <a:t>12</a:t>
            </a:r>
            <a:r>
              <a:rPr lang="zh-CN" altLang="en-US" sz="2600" dirty="0">
                <a:latin typeface="微软雅黑" panose="020B0503020204020204" pitchFamily="34" charset="-122"/>
                <a:ea typeface="微软雅黑" panose="020B0503020204020204" pitchFamily="34" charset="-122"/>
              </a:rPr>
              <a:t>缺乏时，</a:t>
            </a:r>
            <a:r>
              <a:rPr lang="zh-CN" altLang="en-US" sz="2600" dirty="0">
                <a:solidFill>
                  <a:srgbClr val="3333CC"/>
                </a:solidFill>
                <a:latin typeface="微软雅黑" panose="020B0503020204020204" pitchFamily="34" charset="-122"/>
                <a:ea typeface="微软雅黑" panose="020B0503020204020204" pitchFamily="34" charset="-122"/>
              </a:rPr>
              <a:t>甲基丙二酰</a:t>
            </a:r>
            <a:r>
              <a:rPr lang="en-US" altLang="zh-CN" sz="2600" dirty="0">
                <a:solidFill>
                  <a:srgbClr val="3333CC"/>
                </a:solidFill>
                <a:latin typeface="微软雅黑" panose="020B0503020204020204" pitchFamily="34" charset="-122"/>
                <a:ea typeface="微软雅黑" panose="020B0503020204020204" pitchFamily="34" charset="-122"/>
              </a:rPr>
              <a:t>CoA</a:t>
            </a:r>
            <a:r>
              <a:rPr lang="zh-CN" altLang="en-US" sz="2600" dirty="0">
                <a:solidFill>
                  <a:srgbClr val="3333CC"/>
                </a:solidFill>
                <a:latin typeface="微软雅黑" panose="020B0503020204020204" pitchFamily="34" charset="-122"/>
                <a:ea typeface="微软雅黑" panose="020B0503020204020204" pitchFamily="34" charset="-122"/>
              </a:rPr>
              <a:t>大量堆积</a:t>
            </a:r>
            <a:r>
              <a:rPr lang="zh-CN" altLang="en-US" sz="2600" dirty="0">
                <a:latin typeface="微软雅黑" panose="020B0503020204020204" pitchFamily="34" charset="-122"/>
                <a:ea typeface="微软雅黑" panose="020B0503020204020204" pitchFamily="34" charset="-122"/>
              </a:rPr>
              <a:t>， 因其与丙二酰</a:t>
            </a:r>
            <a:r>
              <a:rPr lang="en-US" altLang="zh-CN" sz="2600" dirty="0">
                <a:latin typeface="微软雅黑" panose="020B0503020204020204" pitchFamily="34" charset="-122"/>
                <a:ea typeface="微软雅黑" panose="020B0503020204020204" pitchFamily="34" charset="-122"/>
              </a:rPr>
              <a:t>CoA</a:t>
            </a:r>
            <a:r>
              <a:rPr lang="zh-CN" altLang="en-US" sz="2600" dirty="0">
                <a:latin typeface="微软雅黑" panose="020B0503020204020204" pitchFamily="34" charset="-122"/>
                <a:ea typeface="微软雅黑" panose="020B0503020204020204" pitchFamily="34" charset="-122"/>
              </a:rPr>
              <a:t>（人体合成脂酸的直接原料）相似，从而</a:t>
            </a:r>
            <a:r>
              <a:rPr lang="zh-CN" altLang="en-US" sz="2600" dirty="0">
                <a:solidFill>
                  <a:srgbClr val="0000CC"/>
                </a:solidFill>
                <a:latin typeface="微软雅黑" panose="020B0503020204020204" pitchFamily="34" charset="-122"/>
                <a:ea typeface="微软雅黑" panose="020B0503020204020204" pitchFamily="34" charset="-122"/>
              </a:rPr>
              <a:t>影响脂肪酸的正常合成（影响神经髓鞘的合成），</a:t>
            </a:r>
            <a:r>
              <a:rPr lang="zh-CN" altLang="en-US" sz="2600" dirty="0">
                <a:latin typeface="微软雅黑" panose="020B0503020204020204" pitchFamily="34" charset="-122"/>
                <a:ea typeface="微软雅黑" panose="020B0503020204020204" pitchFamily="34" charset="-122"/>
              </a:rPr>
              <a:t>导致</a:t>
            </a:r>
            <a:r>
              <a:rPr lang="zh-CN" altLang="en-US" sz="2600" b="1" dirty="0">
                <a:latin typeface="微软雅黑" panose="020B0503020204020204" pitchFamily="34" charset="-122"/>
                <a:ea typeface="微软雅黑" panose="020B0503020204020204" pitchFamily="34" charset="-122"/>
              </a:rPr>
              <a:t>神经疾患</a:t>
            </a:r>
            <a:r>
              <a:rPr lang="zh-CN" altLang="en-US" sz="2600" dirty="0">
                <a:latin typeface="微软雅黑" panose="020B0503020204020204" pitchFamily="34" charset="-122"/>
                <a:ea typeface="微软雅黑" panose="020B0503020204020204" pitchFamily="34" charset="-122"/>
              </a:rPr>
              <a:t>。 </a:t>
            </a:r>
          </a:p>
        </p:txBody>
      </p:sp>
      <p:pic>
        <p:nvPicPr>
          <p:cNvPr id="2" name="图片 1">
            <a:extLst>
              <a:ext uri="{FF2B5EF4-FFF2-40B4-BE49-F238E27FC236}">
                <a16:creationId xmlns:a16="http://schemas.microsoft.com/office/drawing/2014/main" id="{6A394FD1-35C2-4FA7-8F61-C49135F4BDA5}"/>
              </a:ext>
            </a:extLst>
          </p:cNvPr>
          <p:cNvPicPr>
            <a:picLocks noChangeAspect="1"/>
          </p:cNvPicPr>
          <p:nvPr/>
        </p:nvPicPr>
        <p:blipFill>
          <a:blip r:embed="rId3"/>
          <a:stretch>
            <a:fillRect/>
          </a:stretch>
        </p:blipFill>
        <p:spPr>
          <a:xfrm>
            <a:off x="1334598" y="3212977"/>
            <a:ext cx="8964488" cy="3139165"/>
          </a:xfrm>
          <a:prstGeom prst="rect">
            <a:avLst/>
          </a:prstGeom>
        </p:spPr>
      </p:pic>
      <p:sp>
        <p:nvSpPr>
          <p:cNvPr id="6" name="对话气泡: 圆角矩形 5">
            <a:extLst>
              <a:ext uri="{FF2B5EF4-FFF2-40B4-BE49-F238E27FC236}">
                <a16:creationId xmlns:a16="http://schemas.microsoft.com/office/drawing/2014/main" id="{F478A54B-BF13-BEF2-076B-F58FE7B25675}"/>
              </a:ext>
            </a:extLst>
          </p:cNvPr>
          <p:cNvSpPr/>
          <p:nvPr/>
        </p:nvSpPr>
        <p:spPr>
          <a:xfrm>
            <a:off x="7743310" y="4782558"/>
            <a:ext cx="3618148" cy="1080120"/>
          </a:xfrm>
          <a:prstGeom prst="wedgeRoundRectCallout">
            <a:avLst>
              <a:gd name="adj1" fmla="val -63736"/>
              <a:gd name="adj2" fmla="val -139564"/>
              <a:gd name="adj3" fmla="val 16667"/>
            </a:avLst>
          </a:prstGeom>
          <a:noFill/>
          <a:ln>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0000CC"/>
                </a:solidFill>
              </a:rPr>
              <a:t>L-</a:t>
            </a:r>
            <a:r>
              <a:rPr lang="zh-CN" altLang="en-US" sz="2400" dirty="0">
                <a:solidFill>
                  <a:srgbClr val="0000CC"/>
                </a:solidFill>
              </a:rPr>
              <a:t>甲基丙二酰</a:t>
            </a:r>
            <a:r>
              <a:rPr lang="en-US" altLang="zh-CN" sz="2400" dirty="0">
                <a:solidFill>
                  <a:srgbClr val="0000CC"/>
                </a:solidFill>
              </a:rPr>
              <a:t>CoA</a:t>
            </a:r>
            <a:r>
              <a:rPr lang="zh-CN" altLang="en-US" sz="2400" dirty="0">
                <a:solidFill>
                  <a:srgbClr val="0000CC"/>
                </a:solidFill>
              </a:rPr>
              <a:t>变位酶</a:t>
            </a:r>
          </a:p>
        </p:txBody>
      </p:sp>
      <p:sp>
        <p:nvSpPr>
          <p:cNvPr id="8" name="文本框 7">
            <a:extLst>
              <a:ext uri="{FF2B5EF4-FFF2-40B4-BE49-F238E27FC236}">
                <a16:creationId xmlns:a16="http://schemas.microsoft.com/office/drawing/2014/main" id="{8494AD5F-71D5-216D-5F75-2BE543412832}"/>
              </a:ext>
            </a:extLst>
          </p:cNvPr>
          <p:cNvSpPr txBox="1"/>
          <p:nvPr/>
        </p:nvSpPr>
        <p:spPr>
          <a:xfrm>
            <a:off x="5223030" y="4382448"/>
            <a:ext cx="2376264" cy="400110"/>
          </a:xfrm>
          <a:prstGeom prst="rect">
            <a:avLst/>
          </a:prstGeom>
          <a:noFill/>
        </p:spPr>
        <p:txBody>
          <a:bodyPr wrap="square">
            <a:spAutoFit/>
          </a:bodyPr>
          <a:lstStyle/>
          <a:p>
            <a:r>
              <a:rPr lang="en-US" altLang="zh-CN" sz="2000" b="0" dirty="0">
                <a:solidFill>
                  <a:srgbClr val="0000CC"/>
                </a:solidFill>
              </a:rPr>
              <a:t>L-</a:t>
            </a:r>
            <a:r>
              <a:rPr lang="zh-CN" altLang="en-US" sz="2000" b="0" dirty="0">
                <a:solidFill>
                  <a:srgbClr val="0000CC"/>
                </a:solidFill>
              </a:rPr>
              <a:t>甲基丙二酰</a:t>
            </a:r>
            <a:r>
              <a:rPr lang="en-US" altLang="zh-CN" sz="2000" b="0" dirty="0">
                <a:solidFill>
                  <a:srgbClr val="0000CC"/>
                </a:solidFill>
              </a:rPr>
              <a:t>CoA</a:t>
            </a:r>
            <a:endParaRPr lang="zh-CN" altLang="en-US" sz="2000" b="0" dirty="0">
              <a:solidFill>
                <a:srgbClr val="0000CC"/>
              </a:solidFill>
            </a:endParaRPr>
          </a:p>
        </p:txBody>
      </p:sp>
      <p:sp>
        <p:nvSpPr>
          <p:cNvPr id="9" name="文本框 8">
            <a:extLst>
              <a:ext uri="{FF2B5EF4-FFF2-40B4-BE49-F238E27FC236}">
                <a16:creationId xmlns:a16="http://schemas.microsoft.com/office/drawing/2014/main" id="{0A59D7B5-4895-EEF9-AC1A-02099BB02786}"/>
              </a:ext>
            </a:extLst>
          </p:cNvPr>
          <p:cNvSpPr txBox="1"/>
          <p:nvPr/>
        </p:nvSpPr>
        <p:spPr>
          <a:xfrm>
            <a:off x="9552384" y="4182383"/>
            <a:ext cx="1872208" cy="400110"/>
          </a:xfrm>
          <a:prstGeom prst="rect">
            <a:avLst/>
          </a:prstGeom>
          <a:noFill/>
        </p:spPr>
        <p:txBody>
          <a:bodyPr wrap="square">
            <a:spAutoFit/>
          </a:bodyPr>
          <a:lstStyle/>
          <a:p>
            <a:r>
              <a:rPr lang="zh-CN" altLang="en-US" sz="2000" b="0" dirty="0">
                <a:solidFill>
                  <a:schemeClr val="tx1"/>
                </a:solidFill>
                <a:latin typeface="微软雅黑" panose="020B0503020204020204" pitchFamily="34" charset="-122"/>
                <a:ea typeface="微软雅黑" panose="020B0503020204020204" pitchFamily="34" charset="-122"/>
              </a:rPr>
              <a:t>琥珀酰</a:t>
            </a:r>
            <a:r>
              <a:rPr lang="en-US" altLang="zh-CN" sz="2000" b="0" dirty="0">
                <a:solidFill>
                  <a:schemeClr val="tx1"/>
                </a:solidFill>
                <a:latin typeface="微软雅黑" panose="020B0503020204020204" pitchFamily="34" charset="-122"/>
                <a:ea typeface="微软雅黑" panose="020B0503020204020204" pitchFamily="34" charset="-122"/>
              </a:rPr>
              <a:t>CoA </a:t>
            </a:r>
            <a:endParaRPr lang="zh-CN" altLang="en-US" sz="2000" b="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2408A9-B93E-FEDB-4E54-0B7809E41FC5}"/>
              </a:ext>
            </a:extLst>
          </p:cNvPr>
          <p:cNvSpPr>
            <a:spLocks noGrp="1"/>
          </p:cNvSpPr>
          <p:nvPr>
            <p:ph type="title"/>
          </p:nvPr>
        </p:nvSpPr>
        <p:spPr>
          <a:xfrm>
            <a:off x="2152650" y="365127"/>
            <a:ext cx="7886700" cy="589913"/>
          </a:xfrm>
        </p:spPr>
        <p:txBody>
          <a:bodyPr>
            <a:normAutofit fontScale="90000"/>
          </a:bodyPr>
          <a:lstStyle/>
          <a:p>
            <a:pPr algn="ctr"/>
            <a:r>
              <a:rPr lang="zh-CN" altLang="en-US" b="1" dirty="0"/>
              <a:t>科学发现破案</a:t>
            </a:r>
          </a:p>
        </p:txBody>
      </p:sp>
      <p:sp>
        <p:nvSpPr>
          <p:cNvPr id="3" name="内容占位符 2">
            <a:extLst>
              <a:ext uri="{FF2B5EF4-FFF2-40B4-BE49-F238E27FC236}">
                <a16:creationId xmlns:a16="http://schemas.microsoft.com/office/drawing/2014/main" id="{3E77FE95-03C5-4351-C2F7-747AAF6B44F9}"/>
              </a:ext>
            </a:extLst>
          </p:cNvPr>
          <p:cNvSpPr>
            <a:spLocks noGrp="1"/>
          </p:cNvSpPr>
          <p:nvPr>
            <p:ph idx="1"/>
          </p:nvPr>
        </p:nvSpPr>
        <p:spPr>
          <a:xfrm>
            <a:off x="1021976" y="1251992"/>
            <a:ext cx="10201836" cy="5321528"/>
          </a:xfrm>
        </p:spPr>
        <p:txBody>
          <a:bodyPr>
            <a:normAutofit fontScale="92500" lnSpcReduction="10000"/>
          </a:bodyPr>
          <a:lstStyle/>
          <a:p>
            <a:pPr>
              <a:lnSpc>
                <a:spcPct val="120000"/>
              </a:lnSpc>
            </a:pPr>
            <a:r>
              <a:rPr lang="zh-CN" altLang="en-US" dirty="0"/>
              <a:t>因</a:t>
            </a:r>
            <a:r>
              <a:rPr lang="zh-CN" altLang="en-US" dirty="0">
                <a:solidFill>
                  <a:srgbClr val="0000CC"/>
                </a:solidFill>
              </a:rPr>
              <a:t>基因突变致甲基丙二酰辅酶</a:t>
            </a:r>
            <a:r>
              <a:rPr lang="en-US" altLang="zh-CN" dirty="0">
                <a:solidFill>
                  <a:srgbClr val="0000CC"/>
                </a:solidFill>
              </a:rPr>
              <a:t>A</a:t>
            </a:r>
            <a:r>
              <a:rPr lang="zh-CN" altLang="en-US" dirty="0">
                <a:solidFill>
                  <a:srgbClr val="0000CC"/>
                </a:solidFill>
              </a:rPr>
              <a:t>变位酶</a:t>
            </a:r>
            <a:r>
              <a:rPr lang="zh-CN" altLang="en-US" dirty="0"/>
              <a:t>不能正常降解</a:t>
            </a:r>
            <a:r>
              <a:rPr lang="en-US" altLang="zh-CN" dirty="0"/>
              <a:t>Ile</a:t>
            </a:r>
            <a:r>
              <a:rPr lang="zh-CN" altLang="en-US" dirty="0"/>
              <a:t>、</a:t>
            </a:r>
            <a:r>
              <a:rPr lang="en-US" altLang="zh-CN" dirty="0"/>
              <a:t>Met</a:t>
            </a:r>
            <a:r>
              <a:rPr lang="zh-CN" altLang="en-US" dirty="0"/>
              <a:t>、</a:t>
            </a:r>
            <a:r>
              <a:rPr lang="en-US" altLang="zh-CN" dirty="0" err="1"/>
              <a:t>Thr</a:t>
            </a:r>
            <a:r>
              <a:rPr lang="zh-CN" altLang="en-US" dirty="0"/>
              <a:t>和</a:t>
            </a:r>
            <a:r>
              <a:rPr lang="en-US" altLang="zh-CN" dirty="0"/>
              <a:t>Val</a:t>
            </a:r>
            <a:r>
              <a:rPr lang="zh-CN" altLang="en-US" dirty="0"/>
              <a:t>的患者，体内出现</a:t>
            </a:r>
            <a:r>
              <a:rPr lang="zh-CN" altLang="en-US" dirty="0">
                <a:solidFill>
                  <a:srgbClr val="0000CC"/>
                </a:solidFill>
              </a:rPr>
              <a:t>甲基丙二酸积累</a:t>
            </a:r>
            <a:r>
              <a:rPr lang="zh-CN" altLang="en-US" dirty="0"/>
              <a:t>，</a:t>
            </a:r>
            <a:r>
              <a:rPr lang="zh-CN" altLang="en-US" dirty="0">
                <a:solidFill>
                  <a:srgbClr val="0000CC"/>
                </a:solidFill>
              </a:rPr>
              <a:t>其症状类似于乙二醇中毒</a:t>
            </a:r>
            <a:r>
              <a:rPr lang="zh-CN" altLang="en-US" dirty="0"/>
              <a:t>。</a:t>
            </a:r>
          </a:p>
          <a:p>
            <a:pPr algn="l">
              <a:lnSpc>
                <a:spcPct val="110000"/>
              </a:lnSpc>
            </a:pPr>
            <a:r>
              <a:rPr lang="en-US" altLang="zh-CN" sz="2400" b="1" dirty="0">
                <a:latin typeface="CenturyStd-Light"/>
              </a:rPr>
              <a:t>1989 </a:t>
            </a:r>
            <a:r>
              <a:rPr lang="zh-CN" altLang="en-US" sz="2400" b="1" dirty="0">
                <a:latin typeface="CenturyStd-Light"/>
              </a:rPr>
              <a:t>年</a:t>
            </a:r>
            <a:r>
              <a:rPr lang="zh-CN" altLang="en-US" sz="2400" dirty="0">
                <a:latin typeface="CenturyStd-Light"/>
              </a:rPr>
              <a:t>，美国女子</a:t>
            </a:r>
            <a:r>
              <a:rPr lang="en-US" altLang="zh-CN" sz="2400" dirty="0">
                <a:latin typeface="CenturyStd-Light"/>
              </a:rPr>
              <a:t>Patricia  Stallings </a:t>
            </a:r>
            <a:r>
              <a:rPr lang="zh-CN" altLang="en-US" sz="2400" dirty="0">
                <a:latin typeface="CenturyStd-Light"/>
              </a:rPr>
              <a:t>被控一级谋杀，被控用乙二醇（抗冻剂中的成分）害死了自己的儿子</a:t>
            </a:r>
            <a:r>
              <a:rPr lang="en-US" altLang="zh-CN" sz="2400" dirty="0">
                <a:latin typeface="CenturyStd-Light"/>
              </a:rPr>
              <a:t>Ryan</a:t>
            </a:r>
            <a:r>
              <a:rPr lang="zh-CN" altLang="en-US" sz="2400" dirty="0">
                <a:latin typeface="CenturyStd-Light"/>
              </a:rPr>
              <a:t>（婴儿）。狱中她发现自己怀孕了，于</a:t>
            </a:r>
            <a:r>
              <a:rPr lang="en-US" altLang="zh-CN" sz="2400" dirty="0">
                <a:latin typeface="CenturyStd-Light"/>
              </a:rPr>
              <a:t>1990</a:t>
            </a:r>
            <a:r>
              <a:rPr lang="zh-CN" altLang="en-US" sz="2400" dirty="0">
                <a:latin typeface="CenturyStd-Light"/>
              </a:rPr>
              <a:t>年</a:t>
            </a:r>
            <a:r>
              <a:rPr lang="en-US" altLang="zh-CN" sz="2400" dirty="0">
                <a:latin typeface="CenturyStd-Light"/>
              </a:rPr>
              <a:t>2</a:t>
            </a:r>
            <a:r>
              <a:rPr lang="zh-CN" altLang="en-US" sz="2400" dirty="0">
                <a:latin typeface="CenturyStd-Light"/>
              </a:rPr>
              <a:t>月又生下一名男婴， 孩子一出生就被送到寄养家庭抚养，两周后，婴儿出现了和他死去的哥哥类似的症状。 婴儿最终被确诊患上了罕见的代谢性疾病：  </a:t>
            </a:r>
            <a:r>
              <a:rPr lang="zh-CN" altLang="en-US" sz="2400" dirty="0">
                <a:solidFill>
                  <a:srgbClr val="0000CC"/>
                </a:solidFill>
                <a:latin typeface="CenturyStd-Light"/>
              </a:rPr>
              <a:t>甲基丙二酸血症（</a:t>
            </a:r>
            <a:r>
              <a:rPr lang="en-US" altLang="zh-CN" sz="2400" dirty="0">
                <a:solidFill>
                  <a:srgbClr val="0000CC"/>
                </a:solidFill>
                <a:latin typeface="CenturyStd-Light"/>
              </a:rPr>
              <a:t>methylmalonic acidemia</a:t>
            </a:r>
            <a:r>
              <a:rPr lang="zh-CN" altLang="en-US" sz="2400" dirty="0">
                <a:solidFill>
                  <a:srgbClr val="0000CC"/>
                </a:solidFill>
                <a:latin typeface="CenturyStd-Light"/>
              </a:rPr>
              <a:t>，</a:t>
            </a:r>
            <a:r>
              <a:rPr lang="en-US" altLang="zh-CN" sz="2400" dirty="0">
                <a:solidFill>
                  <a:srgbClr val="0000CC"/>
                </a:solidFill>
                <a:latin typeface="CenturyStd-Light"/>
              </a:rPr>
              <a:t>MMA</a:t>
            </a:r>
            <a:r>
              <a:rPr lang="zh-CN" altLang="en-US" sz="2400" dirty="0">
                <a:solidFill>
                  <a:srgbClr val="0000CC"/>
                </a:solidFill>
                <a:latin typeface="CenturyStd-Light"/>
              </a:rPr>
              <a:t>）</a:t>
            </a:r>
            <a:r>
              <a:rPr lang="zh-CN" altLang="en-US" sz="2400" dirty="0">
                <a:latin typeface="CenturyStd-Light"/>
              </a:rPr>
              <a:t>，一种氨基酸代谢遗传病，约</a:t>
            </a:r>
            <a:r>
              <a:rPr lang="en-US" altLang="zh-CN" sz="2400" dirty="0">
                <a:latin typeface="CenturyStd-Light"/>
              </a:rPr>
              <a:t>48,000</a:t>
            </a:r>
            <a:r>
              <a:rPr lang="zh-CN" altLang="en-US" sz="2400" dirty="0">
                <a:latin typeface="CenturyStd-Light"/>
              </a:rPr>
              <a:t>名新生儿会出现一例，</a:t>
            </a:r>
            <a:r>
              <a:rPr lang="zh-CN" altLang="en-US" sz="2400" dirty="0">
                <a:solidFill>
                  <a:srgbClr val="0000CC"/>
                </a:solidFill>
                <a:latin typeface="CenturyStd-Light"/>
              </a:rPr>
              <a:t>症状和乙二醇中毒几乎完全相同</a:t>
            </a:r>
            <a:r>
              <a:rPr lang="zh-CN" altLang="en-US" sz="2400" dirty="0">
                <a:latin typeface="CenturyStd-Light"/>
              </a:rPr>
              <a:t>。监狱中的 </a:t>
            </a:r>
            <a:r>
              <a:rPr lang="en-US" altLang="zh-CN" sz="2400" dirty="0">
                <a:latin typeface="CenturyStd-Light"/>
              </a:rPr>
              <a:t>Stallings </a:t>
            </a:r>
            <a:r>
              <a:rPr lang="zh-CN" altLang="en-US" sz="2400" dirty="0">
                <a:latin typeface="CenturyStd-Light"/>
              </a:rPr>
              <a:t>显然不可能给她的第二个孩子下毒，但法院无视新证据，</a:t>
            </a:r>
            <a:r>
              <a:rPr lang="en-US" altLang="zh-CN" sz="2400" dirty="0">
                <a:latin typeface="CenturyStd-Light"/>
              </a:rPr>
              <a:t>1991</a:t>
            </a:r>
            <a:r>
              <a:rPr lang="zh-CN" altLang="en-US" sz="2400" dirty="0">
                <a:latin typeface="CenturyStd-Light"/>
              </a:rPr>
              <a:t>年</a:t>
            </a:r>
            <a:r>
              <a:rPr lang="en-US" altLang="zh-CN" sz="2400" dirty="0">
                <a:latin typeface="CenturyStd-Light"/>
              </a:rPr>
              <a:t>1</a:t>
            </a:r>
            <a:r>
              <a:rPr lang="zh-CN" altLang="en-US" sz="2400" dirty="0">
                <a:latin typeface="CenturyStd-Light"/>
              </a:rPr>
              <a:t>月，</a:t>
            </a:r>
            <a:r>
              <a:rPr lang="en-US" altLang="zh-CN" sz="2400" dirty="0">
                <a:latin typeface="CenturyStd-Light"/>
              </a:rPr>
              <a:t> Patricia Stallings </a:t>
            </a:r>
            <a:r>
              <a:rPr lang="zh-CN" altLang="en-US" sz="2400" dirty="0">
                <a:latin typeface="CenturyStd-Light"/>
              </a:rPr>
              <a:t>仍然被判终生监禁。       幸而有生化教授注意到该案例的新闻报道，介入分析有关样本， 最终发现已死去的</a:t>
            </a:r>
            <a:r>
              <a:rPr lang="en-US" altLang="zh-CN" sz="2400" dirty="0">
                <a:latin typeface="CenturyStd-Light"/>
              </a:rPr>
              <a:t>Ryan</a:t>
            </a:r>
            <a:r>
              <a:rPr lang="zh-CN" altLang="en-US" sz="2400" dirty="0">
                <a:latin typeface="CenturyStd-Light"/>
              </a:rPr>
              <a:t>也是</a:t>
            </a:r>
            <a:r>
              <a:rPr lang="en-US" altLang="zh-CN" sz="2400" dirty="0">
                <a:latin typeface="CenturyStd-Light"/>
              </a:rPr>
              <a:t>MMA</a:t>
            </a:r>
            <a:r>
              <a:rPr lang="zh-CN" altLang="en-US" sz="2400" dirty="0">
                <a:latin typeface="CenturyStd-Light"/>
              </a:rPr>
              <a:t>患者。   </a:t>
            </a:r>
            <a:r>
              <a:rPr lang="en-US" altLang="zh-CN" sz="2400" dirty="0">
                <a:latin typeface="CenturyStd-Light"/>
              </a:rPr>
              <a:t>1991</a:t>
            </a:r>
            <a:r>
              <a:rPr lang="zh-CN" altLang="en-US" sz="2400" dirty="0">
                <a:latin typeface="CenturyStd-Light"/>
              </a:rPr>
              <a:t>年</a:t>
            </a:r>
            <a:r>
              <a:rPr lang="en-US" altLang="zh-CN" sz="2400" dirty="0">
                <a:latin typeface="CenturyStd-Light"/>
              </a:rPr>
              <a:t>9</a:t>
            </a:r>
            <a:r>
              <a:rPr lang="zh-CN" altLang="en-US" sz="2400" dirty="0">
                <a:latin typeface="CenturyStd-Light"/>
              </a:rPr>
              <a:t>月，针对 </a:t>
            </a:r>
            <a:r>
              <a:rPr lang="en-US" altLang="zh-CN" sz="2400" dirty="0">
                <a:latin typeface="CenturyStd-Light"/>
              </a:rPr>
              <a:t>Patricia Stallings </a:t>
            </a:r>
            <a:r>
              <a:rPr lang="zh-CN" altLang="en-US" sz="2400" dirty="0">
                <a:latin typeface="CenturyStd-Light"/>
              </a:rPr>
              <a:t>的所有指控被撤销。     之前的冤案是由于最初负责检测血样的两个实验室都不负责任地出具了完全不符合实际检测结果的报告，想当然认为检出的异常物质是乙二醇！ </a:t>
            </a:r>
            <a:endParaRPr lang="en-US" altLang="zh-CN" sz="2400" dirty="0">
              <a:latin typeface="CenturyStd-Light"/>
            </a:endParaRPr>
          </a:p>
        </p:txBody>
      </p:sp>
    </p:spTree>
    <p:extLst>
      <p:ext uri="{BB962C8B-B14F-4D97-AF65-F5344CB8AC3E}">
        <p14:creationId xmlns:p14="http://schemas.microsoft.com/office/powerpoint/2010/main" val="41844297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24" name="Rectangle 8">
            <a:extLst>
              <a:ext uri="{FF2B5EF4-FFF2-40B4-BE49-F238E27FC236}">
                <a16:creationId xmlns:a16="http://schemas.microsoft.com/office/drawing/2014/main" id="{C68A863C-843E-422B-BD3C-41D67E0687E7}"/>
              </a:ext>
            </a:extLst>
          </p:cNvPr>
          <p:cNvSpPr>
            <a:spLocks noChangeArrowheads="1"/>
          </p:cNvSpPr>
          <p:nvPr/>
        </p:nvSpPr>
        <p:spPr bwMode="auto">
          <a:xfrm>
            <a:off x="1601176" y="677888"/>
            <a:ext cx="5597509" cy="1599477"/>
          </a:xfrm>
          <a:prstGeom prst="rect">
            <a:avLst/>
          </a:prstGeom>
          <a:noFill/>
          <a:ln w="9525">
            <a:noFill/>
            <a:miter lim="800000"/>
            <a:headEnd/>
            <a:tailEnd/>
          </a:ln>
          <a:effectLst/>
        </p:spPr>
        <p:txBody>
          <a:bodyPr wrap="square">
            <a:spAutoFit/>
          </a:bodyPr>
          <a:lstStyle/>
          <a:p>
            <a:pPr eaLnBrk="1" hangingPunct="1">
              <a:lnSpc>
                <a:spcPct val="120000"/>
              </a:lnSpc>
              <a:spcBef>
                <a:spcPts val="0"/>
              </a:spcBef>
              <a:defRPr/>
            </a:pPr>
            <a:r>
              <a:rPr lang="en-US" altLang="zh-CN" sz="2800" dirty="0">
                <a:solidFill>
                  <a:schemeClr val="tx1"/>
                </a:solidFill>
              </a:rPr>
              <a:t>B</a:t>
            </a:r>
            <a:r>
              <a:rPr lang="en-US" altLang="zh-CN" sz="2800" baseline="-25000" dirty="0">
                <a:solidFill>
                  <a:schemeClr val="tx1"/>
                </a:solidFill>
              </a:rPr>
              <a:t>12</a:t>
            </a:r>
            <a:r>
              <a:rPr lang="zh-CN" altLang="en-US" sz="2800" dirty="0">
                <a:solidFill>
                  <a:schemeClr val="tx1"/>
                </a:solidFill>
              </a:rPr>
              <a:t>缺乏病：</a:t>
            </a:r>
            <a:endParaRPr lang="en-US" altLang="zh-CN" sz="2800" dirty="0">
              <a:solidFill>
                <a:schemeClr val="tx1"/>
              </a:solidFill>
            </a:endParaRPr>
          </a:p>
          <a:p>
            <a:pPr marL="514350" indent="-514350" eaLnBrk="1" hangingPunct="1">
              <a:lnSpc>
                <a:spcPct val="120000"/>
              </a:lnSpc>
              <a:spcBef>
                <a:spcPts val="0"/>
              </a:spcBef>
              <a:buFont typeface="+mj-lt"/>
              <a:buAutoNum type="arabicPeriod"/>
              <a:defRPr/>
            </a:pPr>
            <a:r>
              <a:rPr lang="zh-CN" altLang="en-US" sz="2800" b="0" dirty="0">
                <a:solidFill>
                  <a:srgbClr val="C00000"/>
                </a:solidFill>
              </a:rPr>
              <a:t>巨幼红细胞性贫血</a:t>
            </a:r>
            <a:r>
              <a:rPr lang="en-US" altLang="zh-CN" sz="2800" b="0" dirty="0">
                <a:solidFill>
                  <a:srgbClr val="C00000"/>
                </a:solidFill>
              </a:rPr>
              <a:t>/</a:t>
            </a:r>
            <a:r>
              <a:rPr lang="zh-CN" altLang="en-US" sz="2800" b="0" dirty="0">
                <a:solidFill>
                  <a:srgbClr val="C00000"/>
                </a:solidFill>
              </a:rPr>
              <a:t>恶性贫血</a:t>
            </a:r>
            <a:endParaRPr lang="en-US" altLang="zh-CN" sz="2800" b="0" dirty="0">
              <a:solidFill>
                <a:srgbClr val="C00000"/>
              </a:solidFill>
            </a:endParaRPr>
          </a:p>
          <a:p>
            <a:pPr marL="514350" indent="-514350" eaLnBrk="1" hangingPunct="1">
              <a:lnSpc>
                <a:spcPct val="120000"/>
              </a:lnSpc>
              <a:spcBef>
                <a:spcPts val="0"/>
              </a:spcBef>
              <a:buFont typeface="+mj-lt"/>
              <a:buAutoNum type="arabicPeriod"/>
              <a:defRPr/>
            </a:pPr>
            <a:r>
              <a:rPr lang="zh-CN" altLang="en-US" sz="2800" b="0" dirty="0">
                <a:solidFill>
                  <a:srgbClr val="C00000"/>
                </a:solidFill>
              </a:rPr>
              <a:t>高同型半胱氨酸血症</a:t>
            </a:r>
            <a:endParaRPr lang="en-US" altLang="zh-CN" sz="2800" b="0" dirty="0">
              <a:solidFill>
                <a:srgbClr val="C00000"/>
              </a:solidFill>
            </a:endParaRPr>
          </a:p>
        </p:txBody>
      </p:sp>
      <p:sp>
        <p:nvSpPr>
          <p:cNvPr id="14" name="Rectangle 8">
            <a:extLst>
              <a:ext uri="{FF2B5EF4-FFF2-40B4-BE49-F238E27FC236}">
                <a16:creationId xmlns:a16="http://schemas.microsoft.com/office/drawing/2014/main" id="{EE4B33B8-E1B0-4189-AE82-DE38D3FE788D}"/>
              </a:ext>
            </a:extLst>
          </p:cNvPr>
          <p:cNvSpPr>
            <a:spLocks noChangeArrowheads="1"/>
          </p:cNvSpPr>
          <p:nvPr/>
        </p:nvSpPr>
        <p:spPr bwMode="auto">
          <a:xfrm>
            <a:off x="1416314" y="2564904"/>
            <a:ext cx="5508475" cy="2717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50000"/>
              </a:lnSpc>
              <a:spcBef>
                <a:spcPts val="600"/>
              </a:spcBef>
              <a:buNone/>
            </a:pPr>
            <a:r>
              <a:rPr lang="zh-CN" altLang="en-US" sz="2400" b="0" dirty="0">
                <a:latin typeface="Times New Roman" panose="02020603050405020304" pitchFamily="18" charset="0"/>
                <a:ea typeface="楷体_GB2312" pitchFamily="49" charset="-122"/>
              </a:rPr>
              <a:t>平均需要量：</a:t>
            </a:r>
            <a:r>
              <a:rPr lang="en-US" altLang="zh-CN" sz="2400" b="0" dirty="0">
                <a:latin typeface="Times New Roman" panose="02020603050405020304" pitchFamily="18" charset="0"/>
                <a:ea typeface="楷体_GB2312" pitchFamily="49" charset="-122"/>
              </a:rPr>
              <a:t>2.4</a:t>
            </a:r>
            <a:r>
              <a:rPr lang="el-GR" altLang="zh-CN" sz="2400" b="0" dirty="0">
                <a:latin typeface="Times New Roman" panose="02020603050405020304" pitchFamily="18" charset="0"/>
                <a:ea typeface="楷体_GB2312" pitchFamily="49" charset="-122"/>
              </a:rPr>
              <a:t>μ</a:t>
            </a:r>
            <a:r>
              <a:rPr lang="en-US" altLang="zh-CN" sz="2400" b="0" dirty="0">
                <a:latin typeface="Times New Roman" panose="02020603050405020304" pitchFamily="18" charset="0"/>
                <a:ea typeface="楷体_GB2312" pitchFamily="49" charset="-122"/>
              </a:rPr>
              <a:t>g/d</a:t>
            </a:r>
          </a:p>
          <a:p>
            <a:pPr eaLnBrk="1" hangingPunct="1">
              <a:lnSpc>
                <a:spcPct val="120000"/>
              </a:lnSpc>
              <a:spcBef>
                <a:spcPts val="600"/>
              </a:spcBef>
              <a:buNone/>
            </a:pPr>
            <a:r>
              <a:rPr lang="zh-CN" altLang="en-US" sz="2400" b="0" dirty="0">
                <a:latin typeface="Times New Roman" panose="02020603050405020304" pitchFamily="18" charset="0"/>
                <a:ea typeface="楷体_GB2312" pitchFamily="49" charset="-122"/>
              </a:rPr>
              <a:t>来源为肉类，蛋，乳制品，大多烹调过程不会被破坏，</a:t>
            </a:r>
            <a:r>
              <a:rPr lang="en-US" altLang="zh-CN" sz="2400" b="0" dirty="0">
                <a:solidFill>
                  <a:srgbClr val="3333CC"/>
                </a:solidFill>
                <a:latin typeface="Times New Roman" panose="02020603050405020304" pitchFamily="18" charset="0"/>
                <a:ea typeface="楷体_GB2312" pitchFamily="49" charset="-122"/>
              </a:rPr>
              <a:t>250</a:t>
            </a:r>
            <a:r>
              <a:rPr lang="zh-CN" altLang="en-US" sz="2400" b="0" dirty="0">
                <a:solidFill>
                  <a:srgbClr val="3333CC"/>
                </a:solidFill>
                <a:latin typeface="Times New Roman" panose="02020603050405020304" pitchFamily="18" charset="0"/>
                <a:ea typeface="楷体_GB2312" pitchFamily="49" charset="-122"/>
              </a:rPr>
              <a:t>度以下不易分解</a:t>
            </a:r>
            <a:r>
              <a:rPr lang="zh-CN" altLang="en-US" sz="2400" b="0" dirty="0">
                <a:latin typeface="Times New Roman" panose="02020603050405020304" pitchFamily="18" charset="0"/>
                <a:ea typeface="楷体_GB2312" pitchFamily="49" charset="-122"/>
              </a:rPr>
              <a:t>。</a:t>
            </a:r>
            <a:endParaRPr lang="en-US" altLang="zh-CN" sz="2400" b="0" dirty="0">
              <a:latin typeface="Times New Roman" panose="02020603050405020304" pitchFamily="18" charset="0"/>
              <a:ea typeface="楷体_GB2312" pitchFamily="49" charset="-122"/>
            </a:endParaRPr>
          </a:p>
          <a:p>
            <a:pPr eaLnBrk="1" hangingPunct="1">
              <a:lnSpc>
                <a:spcPct val="100000"/>
              </a:lnSpc>
              <a:spcBef>
                <a:spcPts val="0"/>
              </a:spcBef>
              <a:buNone/>
            </a:pPr>
            <a:endParaRPr lang="en-US" altLang="zh-CN" sz="2400" dirty="0"/>
          </a:p>
          <a:p>
            <a:pPr eaLnBrk="1" hangingPunct="1">
              <a:lnSpc>
                <a:spcPct val="100000"/>
              </a:lnSpc>
              <a:spcBef>
                <a:spcPts val="0"/>
              </a:spcBef>
              <a:buNone/>
            </a:pPr>
            <a:r>
              <a:rPr lang="zh-CN" altLang="en-US" sz="2400" dirty="0"/>
              <a:t>严格的素食主义者（</a:t>
            </a:r>
            <a:r>
              <a:rPr lang="en-US" altLang="zh-CN" sz="2400" dirty="0"/>
              <a:t>vegan)</a:t>
            </a:r>
            <a:r>
              <a:rPr lang="zh-CN" altLang="en-US" sz="2400" dirty="0"/>
              <a:t>可能缺</a:t>
            </a:r>
            <a:r>
              <a:rPr lang="en-US" altLang="zh-CN" sz="2400" dirty="0"/>
              <a:t>B</a:t>
            </a:r>
            <a:r>
              <a:rPr lang="en-US" altLang="zh-CN" sz="2400" baseline="-25000" dirty="0"/>
              <a:t>12</a:t>
            </a:r>
            <a:r>
              <a:rPr lang="en-US" altLang="zh-CN" sz="2400" dirty="0"/>
              <a:t>, </a:t>
            </a:r>
            <a:r>
              <a:rPr lang="zh-CN" altLang="en-US" sz="2400" dirty="0"/>
              <a:t>建议补充</a:t>
            </a:r>
            <a:r>
              <a:rPr lang="en-US" altLang="zh-CN" sz="2400" dirty="0"/>
              <a:t>B</a:t>
            </a:r>
            <a:r>
              <a:rPr lang="en-US" altLang="zh-CN" sz="2400" baseline="-25000" dirty="0"/>
              <a:t>12</a:t>
            </a:r>
          </a:p>
        </p:txBody>
      </p:sp>
      <p:grpSp>
        <p:nvGrpSpPr>
          <p:cNvPr id="3" name="组合 2">
            <a:extLst>
              <a:ext uri="{FF2B5EF4-FFF2-40B4-BE49-F238E27FC236}">
                <a16:creationId xmlns:a16="http://schemas.microsoft.com/office/drawing/2014/main" id="{3C2C6691-5C92-975C-8201-DE7984E039CD}"/>
              </a:ext>
            </a:extLst>
          </p:cNvPr>
          <p:cNvGrpSpPr/>
          <p:nvPr/>
        </p:nvGrpSpPr>
        <p:grpSpPr>
          <a:xfrm>
            <a:off x="8112224" y="908720"/>
            <a:ext cx="3059832" cy="4881463"/>
            <a:chOff x="6264696" y="1139825"/>
            <a:chExt cx="2843808" cy="4371116"/>
          </a:xfrm>
        </p:grpSpPr>
        <p:pic>
          <p:nvPicPr>
            <p:cNvPr id="154628" name="图片 1">
              <a:extLst>
                <a:ext uri="{FF2B5EF4-FFF2-40B4-BE49-F238E27FC236}">
                  <a16:creationId xmlns:a16="http://schemas.microsoft.com/office/drawing/2014/main" id="{528D5C8E-4A75-4050-B68C-F805D072656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52" r="19394" b="15399"/>
            <a:stretch/>
          </p:blipFill>
          <p:spPr bwMode="auto">
            <a:xfrm>
              <a:off x="6264696" y="1139825"/>
              <a:ext cx="2303611" cy="3873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6C7ED57A-B312-D534-40D8-32CC2BFC8DD3}"/>
                </a:ext>
              </a:extLst>
            </p:cNvPr>
            <p:cNvSpPr txBox="1"/>
            <p:nvPr/>
          </p:nvSpPr>
          <p:spPr>
            <a:xfrm>
              <a:off x="6264696" y="5013176"/>
              <a:ext cx="2843808" cy="497765"/>
            </a:xfrm>
            <a:prstGeom prst="rect">
              <a:avLst/>
            </a:prstGeom>
            <a:noFill/>
          </p:spPr>
          <p:txBody>
            <a:bodyPr wrap="square" rtlCol="0">
              <a:spAutoFit/>
            </a:bodyPr>
            <a:lstStyle/>
            <a:p>
              <a:pPr eaLnBrk="1" hangingPunct="1">
                <a:lnSpc>
                  <a:spcPct val="120000"/>
                </a:lnSpc>
                <a:spcBef>
                  <a:spcPts val="0"/>
                </a:spcBef>
                <a:defRPr/>
              </a:pPr>
              <a:r>
                <a:rPr lang="zh-CN" altLang="en-US" sz="2400" b="0" dirty="0">
                  <a:solidFill>
                    <a:srgbClr val="149798"/>
                  </a:solidFill>
                </a:rPr>
                <a:t>巨幼红细胞性贫血</a:t>
              </a:r>
              <a:endParaRPr lang="en-US" altLang="zh-CN" sz="2400" b="0" dirty="0">
                <a:solidFill>
                  <a:srgbClr val="149798"/>
                </a:solidFill>
              </a:endParaRPr>
            </a:p>
          </p:txBody>
        </p:sp>
      </p:grpSp>
      <p:sp>
        <p:nvSpPr>
          <p:cNvPr id="7" name="文本框 6">
            <a:extLst>
              <a:ext uri="{FF2B5EF4-FFF2-40B4-BE49-F238E27FC236}">
                <a16:creationId xmlns:a16="http://schemas.microsoft.com/office/drawing/2014/main" id="{590BA080-DCE7-A1C5-A29A-DE88149831FE}"/>
              </a:ext>
            </a:extLst>
          </p:cNvPr>
          <p:cNvSpPr txBox="1"/>
          <p:nvPr/>
        </p:nvSpPr>
        <p:spPr>
          <a:xfrm>
            <a:off x="1199456" y="5718447"/>
            <a:ext cx="7560006" cy="461665"/>
          </a:xfrm>
          <a:prstGeom prst="rect">
            <a:avLst/>
          </a:prstGeom>
          <a:noFill/>
        </p:spPr>
        <p:txBody>
          <a:bodyPr wrap="square">
            <a:spAutoFit/>
          </a:bodyPr>
          <a:lstStyle/>
          <a:p>
            <a:pPr eaLnBrk="1" hangingPunct="1">
              <a:lnSpc>
                <a:spcPct val="100000"/>
              </a:lnSpc>
              <a:spcBef>
                <a:spcPts val="0"/>
              </a:spcBef>
              <a:buNone/>
            </a:pPr>
            <a:r>
              <a:rPr lang="zh-CN" altLang="en-US" sz="2400" b="0" dirty="0">
                <a:solidFill>
                  <a:srgbClr val="0000CC"/>
                </a:solidFill>
              </a:rPr>
              <a:t>对缺乏者补充</a:t>
            </a:r>
            <a:r>
              <a:rPr lang="en-US" altLang="zh-CN" sz="2400" b="0" dirty="0">
                <a:solidFill>
                  <a:srgbClr val="0000CC"/>
                </a:solidFill>
              </a:rPr>
              <a:t>B</a:t>
            </a:r>
            <a:r>
              <a:rPr lang="en-US" altLang="zh-CN" sz="2400" b="0" baseline="-25000" dirty="0">
                <a:solidFill>
                  <a:srgbClr val="0000CC"/>
                </a:solidFill>
              </a:rPr>
              <a:t>12</a:t>
            </a:r>
            <a:r>
              <a:rPr lang="zh-CN" altLang="en-US" sz="2400" b="0" dirty="0">
                <a:solidFill>
                  <a:srgbClr val="0000CC"/>
                </a:solidFill>
              </a:rPr>
              <a:t>：口服氰钴铵素或肌注羟钴铵素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C114C795-EE83-4F44-9405-31C42DE0A60D}"/>
              </a:ext>
            </a:extLst>
          </p:cNvPr>
          <p:cNvSpPr/>
          <p:nvPr/>
        </p:nvSpPr>
        <p:spPr>
          <a:xfrm>
            <a:off x="9054650" y="837450"/>
            <a:ext cx="1576838" cy="359303"/>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177DDF82-C8A9-05B4-DC3C-7E5C81CAE8CA}"/>
              </a:ext>
            </a:extLst>
          </p:cNvPr>
          <p:cNvPicPr>
            <a:picLocks noChangeAspect="1"/>
          </p:cNvPicPr>
          <p:nvPr/>
        </p:nvPicPr>
        <p:blipFill>
          <a:blip r:embed="rId3"/>
          <a:stretch>
            <a:fillRect/>
          </a:stretch>
        </p:blipFill>
        <p:spPr>
          <a:xfrm>
            <a:off x="1055440" y="364958"/>
            <a:ext cx="10261651" cy="6128084"/>
          </a:xfrm>
          <a:prstGeom prst="rect">
            <a:avLst/>
          </a:prstGeom>
        </p:spPr>
      </p:pic>
    </p:spTree>
    <p:extLst>
      <p:ext uri="{BB962C8B-B14F-4D97-AF65-F5344CB8AC3E}">
        <p14:creationId xmlns:p14="http://schemas.microsoft.com/office/powerpoint/2010/main" val="28206218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42" name="Text Box 2">
            <a:extLst>
              <a:ext uri="{FF2B5EF4-FFF2-40B4-BE49-F238E27FC236}">
                <a16:creationId xmlns:a16="http://schemas.microsoft.com/office/drawing/2014/main" id="{F7893A39-266F-491F-8CE3-AD91E7107197}"/>
              </a:ext>
            </a:extLst>
          </p:cNvPr>
          <p:cNvSpPr txBox="1">
            <a:spLocks noChangeArrowheads="1"/>
          </p:cNvSpPr>
          <p:nvPr/>
        </p:nvSpPr>
        <p:spPr bwMode="auto">
          <a:xfrm>
            <a:off x="7536160" y="359807"/>
            <a:ext cx="3505200"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buFontTx/>
              <a:buNone/>
            </a:pPr>
            <a:r>
              <a:rPr lang="zh-CN" altLang="en-US" dirty="0">
                <a:latin typeface="Times New Roman" panose="02020603050405020304" pitchFamily="18" charset="0"/>
                <a:ea typeface="楷体_GB2312" pitchFamily="49" charset="-122"/>
              </a:rPr>
              <a:t>别名：</a:t>
            </a:r>
            <a:r>
              <a:rPr lang="zh-CN" altLang="en-US" dirty="0">
                <a:solidFill>
                  <a:srgbClr val="C00000"/>
                </a:solidFill>
                <a:latin typeface="Times New Roman" panose="02020603050405020304" pitchFamily="18" charset="0"/>
                <a:ea typeface="楷体_GB2312" pitchFamily="49" charset="-122"/>
              </a:rPr>
              <a:t>抗坏血酸</a:t>
            </a:r>
          </a:p>
        </p:txBody>
      </p:sp>
      <p:sp>
        <p:nvSpPr>
          <p:cNvPr id="163843" name="Rectangle 7">
            <a:extLst>
              <a:ext uri="{FF2B5EF4-FFF2-40B4-BE49-F238E27FC236}">
                <a16:creationId xmlns:a16="http://schemas.microsoft.com/office/drawing/2014/main" id="{EBD3FE6A-8CEF-4B56-BF05-8876177B1F8E}"/>
              </a:ext>
            </a:extLst>
          </p:cNvPr>
          <p:cNvSpPr>
            <a:spLocks noGrp="1" noChangeArrowheads="1"/>
          </p:cNvSpPr>
          <p:nvPr>
            <p:ph type="title" idx="4294967295"/>
          </p:nvPr>
        </p:nvSpPr>
        <p:spPr>
          <a:xfrm>
            <a:off x="3575720" y="55801"/>
            <a:ext cx="3352800" cy="1143000"/>
          </a:xfrm>
        </p:spPr>
        <p:txBody>
          <a:bodyPr/>
          <a:lstStyle/>
          <a:p>
            <a:pPr eaLnBrk="1" hangingPunct="1"/>
            <a:r>
              <a:rPr lang="zh-CN" altLang="en-US" sz="3600" b="1" dirty="0">
                <a:solidFill>
                  <a:srgbClr val="C00000"/>
                </a:solidFill>
                <a:ea typeface="楷体_GB2312" pitchFamily="49" charset="-122"/>
              </a:rPr>
              <a:t>九、维生素 </a:t>
            </a:r>
            <a:r>
              <a:rPr lang="en-US" altLang="zh-CN" sz="3600" b="1" dirty="0">
                <a:solidFill>
                  <a:srgbClr val="C00000"/>
                </a:solidFill>
                <a:ea typeface="楷体_GB2312" pitchFamily="49" charset="-122"/>
              </a:rPr>
              <a:t>C</a:t>
            </a:r>
          </a:p>
        </p:txBody>
      </p:sp>
      <p:sp>
        <p:nvSpPr>
          <p:cNvPr id="163844" name="Text Box 3">
            <a:extLst>
              <a:ext uri="{FF2B5EF4-FFF2-40B4-BE49-F238E27FC236}">
                <a16:creationId xmlns:a16="http://schemas.microsoft.com/office/drawing/2014/main" id="{E053DC64-6777-4E47-8523-AC9E8AA42F0E}"/>
              </a:ext>
            </a:extLst>
          </p:cNvPr>
          <p:cNvSpPr txBox="1">
            <a:spLocks noChangeArrowheads="1"/>
          </p:cNvSpPr>
          <p:nvPr/>
        </p:nvSpPr>
        <p:spPr bwMode="auto">
          <a:xfrm>
            <a:off x="2208213" y="1196975"/>
            <a:ext cx="76200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buFontTx/>
              <a:buNone/>
            </a:pPr>
            <a:r>
              <a:rPr lang="zh-CN" altLang="en-US" sz="2400" b="0">
                <a:latin typeface="Times New Roman" panose="02020603050405020304" pitchFamily="18" charset="0"/>
                <a:ea typeface="楷体_GB2312" pitchFamily="49" charset="-122"/>
              </a:rPr>
              <a:t>（一）化学：不饱和酸性多羟基化合物</a:t>
            </a:r>
          </a:p>
        </p:txBody>
      </p:sp>
      <p:pic>
        <p:nvPicPr>
          <p:cNvPr id="5" name="图片 4">
            <a:extLst>
              <a:ext uri="{FF2B5EF4-FFF2-40B4-BE49-F238E27FC236}">
                <a16:creationId xmlns:a16="http://schemas.microsoft.com/office/drawing/2014/main" id="{5733C7C6-E927-9645-EAFC-440E61FE2CC4}"/>
              </a:ext>
            </a:extLst>
          </p:cNvPr>
          <p:cNvPicPr>
            <a:picLocks noChangeAspect="1"/>
          </p:cNvPicPr>
          <p:nvPr/>
        </p:nvPicPr>
        <p:blipFill>
          <a:blip r:embed="rId3"/>
          <a:stretch>
            <a:fillRect/>
          </a:stretch>
        </p:blipFill>
        <p:spPr>
          <a:xfrm>
            <a:off x="2208213" y="2047571"/>
            <a:ext cx="7464425" cy="2428187"/>
          </a:xfrm>
          <a:prstGeom prst="rect">
            <a:avLst/>
          </a:prstGeom>
        </p:spPr>
      </p:pic>
      <p:sp>
        <p:nvSpPr>
          <p:cNvPr id="3" name="文本框 2">
            <a:extLst>
              <a:ext uri="{FF2B5EF4-FFF2-40B4-BE49-F238E27FC236}">
                <a16:creationId xmlns:a16="http://schemas.microsoft.com/office/drawing/2014/main" id="{4C51EB68-C32B-BC2E-22E1-A0206C80EEAF}"/>
              </a:ext>
            </a:extLst>
          </p:cNvPr>
          <p:cNvSpPr txBox="1"/>
          <p:nvPr/>
        </p:nvSpPr>
        <p:spPr>
          <a:xfrm>
            <a:off x="2639617" y="5199361"/>
            <a:ext cx="7776865" cy="461665"/>
          </a:xfrm>
          <a:prstGeom prst="rect">
            <a:avLst/>
          </a:prstGeom>
          <a:noFill/>
        </p:spPr>
        <p:txBody>
          <a:bodyPr wrap="square">
            <a:spAutoFit/>
          </a:bodyPr>
          <a:lstStyle/>
          <a:p>
            <a:r>
              <a:rPr lang="zh-CN" altLang="en-US" sz="2400" b="0" dirty="0">
                <a:solidFill>
                  <a:srgbClr val="0000CC"/>
                </a:solidFill>
              </a:rPr>
              <a:t>还原型</a:t>
            </a:r>
            <a:r>
              <a:rPr lang="en-US" altLang="zh-CN" sz="2400" b="0" dirty="0">
                <a:solidFill>
                  <a:srgbClr val="0000CC"/>
                </a:solidFill>
              </a:rPr>
              <a:t>L- </a:t>
            </a:r>
            <a:r>
              <a:rPr lang="zh-CN" altLang="en-US" sz="2400" b="0" dirty="0">
                <a:solidFill>
                  <a:srgbClr val="0000CC"/>
                </a:solidFill>
              </a:rPr>
              <a:t>抗坏血酸</a:t>
            </a:r>
            <a:r>
              <a:rPr lang="zh-CN" altLang="en-US" sz="2400" b="0" dirty="0">
                <a:solidFill>
                  <a:schemeClr val="tx1">
                    <a:lumMod val="95000"/>
                    <a:lumOff val="5000"/>
                  </a:schemeClr>
                </a:solidFill>
              </a:rPr>
              <a:t>是细胞内与血液中的</a:t>
            </a:r>
            <a:r>
              <a:rPr lang="zh-CN" altLang="en-US" sz="2400" b="0" dirty="0">
                <a:solidFill>
                  <a:srgbClr val="0000CC"/>
                </a:solidFill>
              </a:rPr>
              <a:t>主要存在形式</a:t>
            </a:r>
          </a:p>
        </p:txBody>
      </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5890" name="Rectangle 5">
            <a:extLst>
              <a:ext uri="{FF2B5EF4-FFF2-40B4-BE49-F238E27FC236}">
                <a16:creationId xmlns:a16="http://schemas.microsoft.com/office/drawing/2014/main" id="{93A2E696-76B3-408C-9EF5-2AF7EBC4DD9C}"/>
              </a:ext>
            </a:extLst>
          </p:cNvPr>
          <p:cNvSpPr>
            <a:spLocks noChangeArrowheads="1"/>
          </p:cNvSpPr>
          <p:nvPr/>
        </p:nvSpPr>
        <p:spPr bwMode="auto">
          <a:xfrm>
            <a:off x="2566989" y="331788"/>
            <a:ext cx="499527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sz="3200" dirty="0">
                <a:solidFill>
                  <a:srgbClr val="3333CC"/>
                </a:solidFill>
                <a:latin typeface="Times New Roman" panose="02020603050405020304" pitchFamily="18" charset="0"/>
                <a:ea typeface="楷体_GB2312" pitchFamily="49" charset="-122"/>
              </a:rPr>
              <a:t>（二）维生素</a:t>
            </a:r>
            <a:r>
              <a:rPr lang="en-US" altLang="zh-CN" sz="3200" dirty="0">
                <a:solidFill>
                  <a:srgbClr val="3333CC"/>
                </a:solidFill>
                <a:latin typeface="Times New Roman" panose="02020603050405020304" pitchFamily="18" charset="0"/>
                <a:ea typeface="楷体_GB2312" pitchFamily="49" charset="-122"/>
              </a:rPr>
              <a:t>C</a:t>
            </a:r>
            <a:r>
              <a:rPr lang="zh-CN" altLang="en-US" sz="3200" dirty="0">
                <a:solidFill>
                  <a:srgbClr val="3333CC"/>
                </a:solidFill>
                <a:latin typeface="Times New Roman" panose="02020603050405020304" pitchFamily="18" charset="0"/>
                <a:ea typeface="楷体_GB2312" pitchFamily="49" charset="-122"/>
              </a:rPr>
              <a:t>的生理功能</a:t>
            </a:r>
            <a:endParaRPr lang="zh-CN" altLang="en-US" sz="3600" dirty="0">
              <a:solidFill>
                <a:srgbClr val="3333CC"/>
              </a:solidFill>
              <a:latin typeface="Times New Roman" panose="02020603050405020304" pitchFamily="18" charset="0"/>
              <a:ea typeface="楷体_GB2312" pitchFamily="49" charset="-122"/>
            </a:endParaRPr>
          </a:p>
        </p:txBody>
      </p:sp>
      <p:sp>
        <p:nvSpPr>
          <p:cNvPr id="165891" name="Rectangle 8">
            <a:extLst>
              <a:ext uri="{FF2B5EF4-FFF2-40B4-BE49-F238E27FC236}">
                <a16:creationId xmlns:a16="http://schemas.microsoft.com/office/drawing/2014/main" id="{433ECFAF-C0A3-43C4-A133-BDEF6DB6659E}"/>
              </a:ext>
            </a:extLst>
          </p:cNvPr>
          <p:cNvSpPr>
            <a:spLocks noChangeArrowheads="1"/>
          </p:cNvSpPr>
          <p:nvPr/>
        </p:nvSpPr>
        <p:spPr bwMode="auto">
          <a:xfrm>
            <a:off x="2351584" y="1052736"/>
            <a:ext cx="8208912" cy="56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20000"/>
              </a:spcBef>
              <a:buFontTx/>
              <a:buChar char="•"/>
            </a:pPr>
            <a:r>
              <a:rPr lang="zh-CN" altLang="en-US" b="0" dirty="0">
                <a:solidFill>
                  <a:srgbClr val="C00000"/>
                </a:solidFill>
                <a:latin typeface="Times New Roman" panose="02020603050405020304" pitchFamily="18" charset="0"/>
                <a:ea typeface="楷体_GB2312" pitchFamily="49" charset="-122"/>
              </a:rPr>
              <a:t>作为辅酶参与体内的羟化反应</a:t>
            </a:r>
          </a:p>
          <a:p>
            <a:pPr lvl="1" eaLnBrk="1" hangingPunct="1">
              <a:lnSpc>
                <a:spcPct val="110000"/>
              </a:lnSpc>
              <a:spcBef>
                <a:spcPct val="20000"/>
              </a:spcBef>
              <a:buClr>
                <a:schemeClr val="tx2"/>
              </a:buClr>
              <a:buFontTx/>
              <a:buChar char="–"/>
            </a:pPr>
            <a:r>
              <a:rPr lang="zh-CN" altLang="en-US" b="0" dirty="0">
                <a:latin typeface="Times New Roman" panose="02020603050405020304" pitchFamily="18" charset="0"/>
                <a:ea typeface="楷体_GB2312" pitchFamily="49" charset="-122"/>
              </a:rPr>
              <a:t>促进胶原蛋白的合成</a:t>
            </a:r>
          </a:p>
          <a:p>
            <a:pPr lvl="1" eaLnBrk="1" hangingPunct="1">
              <a:lnSpc>
                <a:spcPct val="110000"/>
              </a:lnSpc>
              <a:spcBef>
                <a:spcPct val="20000"/>
              </a:spcBef>
              <a:buClr>
                <a:schemeClr val="tx2"/>
              </a:buClr>
              <a:buFontTx/>
              <a:buChar char="–"/>
            </a:pPr>
            <a:r>
              <a:rPr lang="zh-CN" altLang="en-US" b="0" dirty="0">
                <a:latin typeface="Times New Roman" panose="02020603050405020304" pitchFamily="18" charset="0"/>
                <a:ea typeface="楷体_GB2312" pitchFamily="49" charset="-122"/>
              </a:rPr>
              <a:t>参与类固醇的羟化（</a:t>
            </a:r>
            <a:r>
              <a:rPr lang="zh-CN" altLang="en-US" sz="2000" b="0" dirty="0">
                <a:latin typeface="Times New Roman" panose="02020603050405020304" pitchFamily="18" charset="0"/>
                <a:ea typeface="楷体_GB2312" pitchFamily="49" charset="-122"/>
              </a:rPr>
              <a:t>胆汁酸合成关键酶</a:t>
            </a:r>
            <a:r>
              <a:rPr lang="en-US" altLang="zh-CN" sz="2000" b="0" dirty="0">
                <a:solidFill>
                  <a:srgbClr val="0000CC"/>
                </a:solidFill>
                <a:latin typeface="Times New Roman" panose="02020603050405020304" pitchFamily="18" charset="0"/>
                <a:ea typeface="楷体_GB2312" pitchFamily="49" charset="-122"/>
              </a:rPr>
              <a:t>7α-</a:t>
            </a:r>
            <a:r>
              <a:rPr lang="zh-CN" altLang="en-US" sz="2000" b="0" dirty="0">
                <a:solidFill>
                  <a:srgbClr val="0000CC"/>
                </a:solidFill>
                <a:latin typeface="Times New Roman" panose="02020603050405020304" pitchFamily="18" charset="0"/>
                <a:ea typeface="楷体_GB2312" pitchFamily="49" charset="-122"/>
              </a:rPr>
              <a:t>羟化酶</a:t>
            </a:r>
            <a:r>
              <a:rPr lang="zh-CN" altLang="en-US" sz="2000" b="0" dirty="0">
                <a:latin typeface="Times New Roman" panose="02020603050405020304" pitchFamily="18" charset="0"/>
                <a:ea typeface="楷体_GB2312" pitchFamily="49" charset="-122"/>
              </a:rPr>
              <a:t>的辅因子）</a:t>
            </a:r>
          </a:p>
          <a:p>
            <a:pPr lvl="1" eaLnBrk="1" hangingPunct="1">
              <a:lnSpc>
                <a:spcPct val="110000"/>
              </a:lnSpc>
              <a:spcBef>
                <a:spcPct val="20000"/>
              </a:spcBef>
              <a:buClr>
                <a:schemeClr val="tx2"/>
              </a:buClr>
              <a:buFontTx/>
              <a:buChar char="–"/>
            </a:pPr>
            <a:r>
              <a:rPr lang="zh-CN" altLang="en-US" b="0" dirty="0">
                <a:latin typeface="Times New Roman" panose="02020603050405020304" pitchFamily="18" charset="0"/>
                <a:ea typeface="楷体_GB2312" pitchFamily="49" charset="-122"/>
              </a:rPr>
              <a:t>参与芳香族氨基酸的代谢</a:t>
            </a:r>
            <a:endParaRPr lang="en-US" altLang="zh-CN" b="0" dirty="0">
              <a:latin typeface="Times New Roman" panose="02020603050405020304" pitchFamily="18" charset="0"/>
              <a:ea typeface="楷体_GB2312" pitchFamily="49" charset="-122"/>
            </a:endParaRPr>
          </a:p>
          <a:p>
            <a:pPr lvl="1" eaLnBrk="1" hangingPunct="1">
              <a:lnSpc>
                <a:spcPct val="110000"/>
              </a:lnSpc>
              <a:spcBef>
                <a:spcPct val="20000"/>
              </a:spcBef>
              <a:buClr>
                <a:schemeClr val="tx2"/>
              </a:buClr>
              <a:buFontTx/>
              <a:buChar char="–"/>
            </a:pPr>
            <a:r>
              <a:rPr lang="zh-CN" altLang="en-US" b="0" dirty="0">
                <a:latin typeface="Times New Roman" panose="02020603050405020304" pitchFamily="18" charset="0"/>
                <a:ea typeface="楷体_GB2312" pitchFamily="49" charset="-122"/>
              </a:rPr>
              <a:t>参与肉碱合成</a:t>
            </a:r>
          </a:p>
          <a:p>
            <a:pPr eaLnBrk="1" hangingPunct="1">
              <a:lnSpc>
                <a:spcPct val="110000"/>
              </a:lnSpc>
              <a:spcBef>
                <a:spcPct val="20000"/>
              </a:spcBef>
              <a:buFontTx/>
              <a:buChar char="•"/>
            </a:pPr>
            <a:r>
              <a:rPr lang="zh-CN" altLang="en-US" b="0" dirty="0">
                <a:solidFill>
                  <a:srgbClr val="3333CC"/>
                </a:solidFill>
                <a:latin typeface="Times New Roman" panose="02020603050405020304" pitchFamily="18" charset="0"/>
                <a:ea typeface="楷体_GB2312" pitchFamily="49" charset="-122"/>
              </a:rPr>
              <a:t>还原作用和抗氧化作用</a:t>
            </a:r>
          </a:p>
          <a:p>
            <a:pPr lvl="1" eaLnBrk="1" hangingPunct="1">
              <a:lnSpc>
                <a:spcPct val="110000"/>
              </a:lnSpc>
              <a:spcBef>
                <a:spcPct val="20000"/>
              </a:spcBef>
              <a:buClr>
                <a:schemeClr val="tx2"/>
              </a:buClr>
              <a:buFontTx/>
              <a:buChar char="–"/>
            </a:pPr>
            <a:r>
              <a:rPr lang="zh-CN" altLang="en-US" b="0" dirty="0">
                <a:solidFill>
                  <a:srgbClr val="3333CC"/>
                </a:solidFill>
                <a:latin typeface="Times New Roman" panose="02020603050405020304" pitchFamily="18" charset="0"/>
                <a:ea typeface="楷体_GB2312" pitchFamily="49" charset="-122"/>
              </a:rPr>
              <a:t>保护巯基</a:t>
            </a:r>
          </a:p>
          <a:p>
            <a:pPr lvl="1" eaLnBrk="1" hangingPunct="1">
              <a:lnSpc>
                <a:spcPct val="110000"/>
              </a:lnSpc>
              <a:spcBef>
                <a:spcPct val="20000"/>
              </a:spcBef>
              <a:buClr>
                <a:schemeClr val="tx2"/>
              </a:buClr>
              <a:buFontTx/>
              <a:buChar char="–"/>
            </a:pPr>
            <a:r>
              <a:rPr lang="zh-CN" altLang="en-US" b="0" dirty="0">
                <a:latin typeface="Times New Roman" panose="02020603050405020304" pitchFamily="18" charset="0"/>
                <a:ea typeface="楷体_GB2312" pitchFamily="49" charset="-122"/>
              </a:rPr>
              <a:t>促进造血功能：将</a:t>
            </a:r>
            <a:r>
              <a:rPr lang="en-US" altLang="zh-CN" b="0" dirty="0">
                <a:latin typeface="Times New Roman" panose="02020603050405020304" pitchFamily="18" charset="0"/>
                <a:ea typeface="楷体_GB2312" pitchFamily="49" charset="-122"/>
              </a:rPr>
              <a:t>Fe</a:t>
            </a:r>
            <a:r>
              <a:rPr lang="en-US" altLang="zh-CN" b="0" baseline="30000" dirty="0">
                <a:latin typeface="Times New Roman" panose="02020603050405020304" pitchFamily="18" charset="0"/>
                <a:ea typeface="楷体_GB2312" pitchFamily="49" charset="-122"/>
              </a:rPr>
              <a:t>3+</a:t>
            </a:r>
            <a:r>
              <a:rPr lang="zh-CN" altLang="en-US" b="0" dirty="0">
                <a:latin typeface="Times New Roman" panose="02020603050405020304" pitchFamily="18" charset="0"/>
                <a:ea typeface="楷体_GB2312" pitchFamily="49" charset="-122"/>
              </a:rPr>
              <a:t>还原为</a:t>
            </a:r>
            <a:r>
              <a:rPr lang="en-US" altLang="zh-CN" b="0" dirty="0">
                <a:latin typeface="Times New Roman" panose="02020603050405020304" pitchFamily="18" charset="0"/>
                <a:ea typeface="楷体_GB2312" pitchFamily="49" charset="-122"/>
              </a:rPr>
              <a:t>Fe</a:t>
            </a:r>
            <a:r>
              <a:rPr lang="en-US" altLang="zh-CN" b="0" baseline="30000" dirty="0">
                <a:latin typeface="Times New Roman" panose="02020603050405020304" pitchFamily="18" charset="0"/>
                <a:ea typeface="楷体_GB2312" pitchFamily="49" charset="-122"/>
              </a:rPr>
              <a:t>2+</a:t>
            </a:r>
            <a:r>
              <a:rPr lang="zh-CN" altLang="en-US" b="0" dirty="0">
                <a:latin typeface="Times New Roman" panose="02020603050405020304" pitchFamily="18" charset="0"/>
                <a:ea typeface="楷体_GB2312" pitchFamily="49" charset="-122"/>
              </a:rPr>
              <a:t>，有助于铁的吸收</a:t>
            </a:r>
          </a:p>
          <a:p>
            <a:pPr lvl="1" eaLnBrk="1" hangingPunct="1">
              <a:lnSpc>
                <a:spcPct val="110000"/>
              </a:lnSpc>
              <a:spcBef>
                <a:spcPct val="20000"/>
              </a:spcBef>
              <a:buClr>
                <a:schemeClr val="tx2"/>
              </a:buClr>
              <a:buFontTx/>
              <a:buChar char="–"/>
            </a:pPr>
            <a:r>
              <a:rPr lang="zh-CN" altLang="en-US" b="0" dirty="0">
                <a:latin typeface="Times New Roman" panose="02020603050405020304" pitchFamily="18" charset="0"/>
                <a:ea typeface="楷体_GB2312" pitchFamily="49" charset="-122"/>
              </a:rPr>
              <a:t>抗氧化剂，活性氧清除剂</a:t>
            </a:r>
            <a:endParaRPr lang="en-US" altLang="zh-CN" b="0" dirty="0">
              <a:latin typeface="Times New Roman" panose="02020603050405020304" pitchFamily="18" charset="0"/>
              <a:ea typeface="楷体_GB2312" pitchFamily="49" charset="-122"/>
            </a:endParaRPr>
          </a:p>
          <a:p>
            <a:pPr eaLnBrk="1" hangingPunct="1">
              <a:lnSpc>
                <a:spcPct val="110000"/>
              </a:lnSpc>
              <a:spcBef>
                <a:spcPct val="20000"/>
              </a:spcBef>
              <a:buClr>
                <a:schemeClr val="tx2"/>
              </a:buClr>
            </a:pPr>
            <a:r>
              <a:rPr lang="zh-CN" altLang="en-US" b="0" dirty="0">
                <a:latin typeface="Times New Roman" panose="02020603050405020304" pitchFamily="18" charset="0"/>
                <a:ea typeface="楷体_GB2312" pitchFamily="49" charset="-122"/>
              </a:rPr>
              <a:t>增强机体免疫力</a:t>
            </a:r>
            <a:endParaRPr lang="en-US" altLang="zh-CN" b="0" dirty="0">
              <a:latin typeface="Times New Roman" panose="02020603050405020304" pitchFamily="18" charset="0"/>
              <a:ea typeface="楷体_GB2312" pitchFamily="49" charset="-122"/>
            </a:endParaRPr>
          </a:p>
          <a:p>
            <a:pPr lvl="1" eaLnBrk="1" hangingPunct="1">
              <a:lnSpc>
                <a:spcPct val="110000"/>
              </a:lnSpc>
              <a:spcBef>
                <a:spcPct val="20000"/>
              </a:spcBef>
              <a:buClr>
                <a:schemeClr val="tx2"/>
              </a:buClr>
              <a:buFontTx/>
              <a:buChar char="–"/>
            </a:pPr>
            <a:r>
              <a:rPr lang="zh-CN" altLang="en-US" b="0" dirty="0">
                <a:latin typeface="Times New Roman" panose="02020603050405020304" pitchFamily="18" charset="0"/>
                <a:ea typeface="楷体_GB2312" pitchFamily="49" charset="-122"/>
              </a:rPr>
              <a:t>临床上用于心血管疾病、感染性疾病等的支持性治疗。</a:t>
            </a:r>
          </a:p>
        </p:txBody>
      </p: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50877AC-7941-4307-8744-D6C8A3506425}"/>
              </a:ext>
            </a:extLst>
          </p:cNvPr>
          <p:cNvSpPr>
            <a:spLocks noGrp="1"/>
          </p:cNvSpPr>
          <p:nvPr>
            <p:ph idx="1"/>
          </p:nvPr>
        </p:nvSpPr>
        <p:spPr>
          <a:xfrm>
            <a:off x="2135560" y="2564904"/>
            <a:ext cx="8062913" cy="4104456"/>
          </a:xfrm>
        </p:spPr>
        <p:txBody>
          <a:bodyPr rtlCol="0">
            <a:normAutofit/>
          </a:bodyPr>
          <a:lstStyle/>
          <a:p>
            <a:pPr eaLnBrk="1" fontAlgn="auto" hangingPunct="1">
              <a:spcAft>
                <a:spcPts val="0"/>
              </a:spcAft>
              <a:defRPr/>
            </a:pPr>
            <a:r>
              <a:rPr lang="zh-CN" altLang="en-US" dirty="0">
                <a:latin typeface="黑体" panose="02010609060101010101" pitchFamily="49" charset="-122"/>
                <a:ea typeface="黑体" panose="02010609060101010101" pitchFamily="49" charset="-122"/>
              </a:rPr>
              <a:t>多种</a:t>
            </a:r>
            <a:r>
              <a:rPr lang="zh-CN" altLang="en-US" dirty="0">
                <a:solidFill>
                  <a:srgbClr val="0000CC"/>
                </a:solidFill>
                <a:latin typeface="黑体" panose="02010609060101010101" pitchFamily="49" charset="-122"/>
                <a:ea typeface="黑体" panose="02010609060101010101" pitchFamily="49" charset="-122"/>
              </a:rPr>
              <a:t>新鲜</a:t>
            </a:r>
            <a:r>
              <a:rPr lang="zh-CN" altLang="en-US" dirty="0">
                <a:latin typeface="黑体" panose="02010609060101010101" pitchFamily="49" charset="-122"/>
                <a:ea typeface="黑体" panose="02010609060101010101" pitchFamily="49" charset="-122"/>
              </a:rPr>
              <a:t>水果、蔬菜富含维生素</a:t>
            </a:r>
            <a:r>
              <a:rPr lang="en-US" altLang="zh-CN" dirty="0">
                <a:latin typeface="黑体" panose="02010609060101010101" pitchFamily="49" charset="-122"/>
                <a:ea typeface="黑体" panose="02010609060101010101" pitchFamily="49" charset="-122"/>
              </a:rPr>
              <a:t>C,  </a:t>
            </a:r>
            <a:r>
              <a:rPr lang="zh-CN" altLang="en-US" dirty="0">
                <a:latin typeface="黑体" panose="02010609060101010101" pitchFamily="49" charset="-122"/>
                <a:ea typeface="黑体" panose="02010609060101010101" pitchFamily="49" charset="-122"/>
              </a:rPr>
              <a:t>肉类中少量。</a:t>
            </a:r>
            <a:endParaRPr lang="en-US" altLang="zh-CN" dirty="0">
              <a:latin typeface="黑体" panose="02010609060101010101" pitchFamily="49" charset="-122"/>
              <a:ea typeface="黑体" panose="02010609060101010101" pitchFamily="49" charset="-122"/>
            </a:endParaRPr>
          </a:p>
          <a:p>
            <a:pPr eaLnBrk="1" fontAlgn="auto" hangingPunct="1">
              <a:spcAft>
                <a:spcPts val="0"/>
              </a:spcAft>
              <a:defRPr/>
            </a:pPr>
            <a:r>
              <a:rPr lang="zh-CN" altLang="en-US" dirty="0">
                <a:solidFill>
                  <a:srgbClr val="0000CC"/>
                </a:solidFill>
                <a:latin typeface="黑体" panose="02010609060101010101" pitchFamily="49" charset="-122"/>
                <a:ea typeface="黑体" panose="02010609060101010101" pitchFamily="49" charset="-122"/>
              </a:rPr>
              <a:t>耐酸。 极易被氧化。加热、烹饪会被严重破坏</a:t>
            </a:r>
            <a:r>
              <a:rPr lang="zh-CN" altLang="en-US" dirty="0">
                <a:latin typeface="黑体" panose="02010609060101010101" pitchFamily="49" charset="-122"/>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pPr eaLnBrk="1" fontAlgn="auto" hangingPunct="1">
              <a:lnSpc>
                <a:spcPct val="130000"/>
              </a:lnSpc>
              <a:spcAft>
                <a:spcPts val="0"/>
              </a:spcAft>
              <a:defRPr/>
            </a:pPr>
            <a:endParaRPr lang="en-US" altLang="zh-CN" dirty="0">
              <a:latin typeface="黑体" panose="02010609060101010101" pitchFamily="49" charset="-122"/>
              <a:ea typeface="黑体" panose="02010609060101010101" pitchFamily="49" charset="-122"/>
            </a:endParaRPr>
          </a:p>
          <a:p>
            <a:pPr eaLnBrk="1" fontAlgn="auto" hangingPunct="1">
              <a:lnSpc>
                <a:spcPct val="130000"/>
              </a:lnSpc>
              <a:spcAft>
                <a:spcPts val="0"/>
              </a:spcAft>
              <a:defRPr/>
            </a:pPr>
            <a:r>
              <a:rPr lang="zh-CN" altLang="en-US" dirty="0">
                <a:solidFill>
                  <a:srgbClr val="0000CC"/>
                </a:solidFill>
                <a:latin typeface="黑体" panose="02010609060101010101" pitchFamily="49" charset="-122"/>
                <a:ea typeface="黑体" panose="02010609060101010101" pitchFamily="49" charset="-122"/>
              </a:rPr>
              <a:t>摄入推荐量</a:t>
            </a:r>
            <a:r>
              <a:rPr lang="zh-CN" altLang="en-US" dirty="0">
                <a:latin typeface="黑体" panose="02010609060101010101" pitchFamily="49" charset="-122"/>
                <a:ea typeface="黑体" panose="02010609060101010101" pitchFamily="49" charset="-122"/>
              </a:rPr>
              <a:t>： 成人</a:t>
            </a:r>
            <a:r>
              <a:rPr lang="zh-CN" altLang="en-US" dirty="0">
                <a:solidFill>
                  <a:srgbClr val="C00000"/>
                </a:solidFill>
                <a:latin typeface="黑体" panose="02010609060101010101" pitchFamily="49" charset="-122"/>
                <a:ea typeface="黑体" panose="02010609060101010101" pitchFamily="49" charset="-122"/>
              </a:rPr>
              <a:t>每天</a:t>
            </a:r>
            <a:r>
              <a:rPr lang="en-US" altLang="zh-CN" dirty="0">
                <a:solidFill>
                  <a:srgbClr val="C00000"/>
                </a:solidFill>
                <a:latin typeface="黑体" panose="02010609060101010101" pitchFamily="49" charset="-122"/>
                <a:ea typeface="黑体" panose="02010609060101010101" pitchFamily="49" charset="-122"/>
              </a:rPr>
              <a:t>100</a:t>
            </a:r>
            <a:r>
              <a:rPr lang="zh-CN" altLang="en-US" dirty="0">
                <a:solidFill>
                  <a:srgbClr val="C00000"/>
                </a:solidFill>
                <a:latin typeface="黑体" panose="02010609060101010101" pitchFamily="49" charset="-122"/>
                <a:ea typeface="黑体" panose="02010609060101010101" pitchFamily="49" charset="-122"/>
              </a:rPr>
              <a:t>毫克</a:t>
            </a:r>
            <a:endParaRPr lang="en-US" altLang="zh-CN" dirty="0">
              <a:solidFill>
                <a:srgbClr val="C00000"/>
              </a:solidFill>
              <a:latin typeface="黑体" panose="02010609060101010101" pitchFamily="49" charset="-122"/>
              <a:ea typeface="黑体" panose="02010609060101010101" pitchFamily="49" charset="-122"/>
            </a:endParaRPr>
          </a:p>
          <a:p>
            <a:pPr marL="0" indent="0" eaLnBrk="1" fontAlgn="auto" hangingPunct="1">
              <a:lnSpc>
                <a:spcPct val="130000"/>
              </a:lnSpc>
              <a:spcAft>
                <a:spcPts val="0"/>
              </a:spcAft>
              <a:buNone/>
              <a:defRPr/>
            </a:pPr>
            <a:r>
              <a:rPr lang="en-US" altLang="zh-CN" dirty="0">
                <a:latin typeface="黑体" panose="02010609060101010101" pitchFamily="49" charset="-122"/>
                <a:ea typeface="黑体" panose="02010609060101010101" pitchFamily="49" charset="-122"/>
              </a:rPr>
              <a:t>    </a:t>
            </a:r>
            <a:r>
              <a:rPr lang="zh-CN" altLang="en-US" dirty="0">
                <a:solidFill>
                  <a:srgbClr val="3333CC"/>
                </a:solidFill>
                <a:latin typeface="黑体" panose="02010609060101010101" pitchFamily="49" charset="-122"/>
                <a:ea typeface="黑体" panose="02010609060101010101" pitchFamily="49" charset="-122"/>
              </a:rPr>
              <a:t>大致相当于一、两个橙子里的含量</a:t>
            </a:r>
            <a:r>
              <a:rPr lang="zh-CN" altLang="en-US" dirty="0">
                <a:latin typeface="黑体" panose="02010609060101010101" pitchFamily="49" charset="-122"/>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pPr marL="0" indent="0" eaLnBrk="1" fontAlgn="auto" hangingPunct="1">
              <a:lnSpc>
                <a:spcPct val="130000"/>
              </a:lnSpc>
              <a:spcAft>
                <a:spcPts val="0"/>
              </a:spcAft>
              <a:buNone/>
              <a:defRPr/>
            </a:pPr>
            <a:r>
              <a:rPr lang="zh-CN" altLang="en-US" dirty="0">
                <a:latin typeface="黑体" panose="02010609060101010101" pitchFamily="49" charset="-122"/>
                <a:ea typeface="黑体" panose="02010609060101010101" pitchFamily="49" charset="-122"/>
              </a:rPr>
              <a:t>  摄入上限：  </a:t>
            </a:r>
            <a:r>
              <a:rPr lang="en-US" altLang="zh-CN" dirty="0">
                <a:latin typeface="黑体" panose="02010609060101010101" pitchFamily="49" charset="-122"/>
                <a:ea typeface="黑体" panose="02010609060101010101" pitchFamily="49" charset="-122"/>
              </a:rPr>
              <a:t>2000mg/</a:t>
            </a:r>
            <a:r>
              <a:rPr lang="zh-CN" altLang="en-US" dirty="0">
                <a:latin typeface="黑体" panose="02010609060101010101" pitchFamily="49" charset="-122"/>
                <a:ea typeface="黑体" panose="02010609060101010101" pitchFamily="49" charset="-122"/>
              </a:rPr>
              <a:t>日</a:t>
            </a:r>
          </a:p>
          <a:p>
            <a:pPr eaLnBrk="1" fontAlgn="auto" hangingPunct="1">
              <a:spcAft>
                <a:spcPts val="0"/>
              </a:spcAft>
              <a:defRPr/>
            </a:pPr>
            <a:endParaRPr lang="zh-CN" altLang="en-US" dirty="0">
              <a:latin typeface="黑体" panose="02010609060101010101" pitchFamily="49" charset="-122"/>
              <a:ea typeface="黑体" panose="02010609060101010101" pitchFamily="49" charset="-122"/>
            </a:endParaRPr>
          </a:p>
        </p:txBody>
      </p:sp>
      <p:sp>
        <p:nvSpPr>
          <p:cNvPr id="2" name="文本框 1">
            <a:extLst>
              <a:ext uri="{FF2B5EF4-FFF2-40B4-BE49-F238E27FC236}">
                <a16:creationId xmlns:a16="http://schemas.microsoft.com/office/drawing/2014/main" id="{28CAD482-CF2C-C16D-9435-E169DB89DF18}"/>
              </a:ext>
            </a:extLst>
          </p:cNvPr>
          <p:cNvSpPr txBox="1"/>
          <p:nvPr/>
        </p:nvSpPr>
        <p:spPr>
          <a:xfrm>
            <a:off x="2279577" y="515824"/>
            <a:ext cx="8062913" cy="1587294"/>
          </a:xfrm>
          <a:prstGeom prst="rect">
            <a:avLst/>
          </a:prstGeom>
          <a:noFill/>
        </p:spPr>
        <p:txBody>
          <a:bodyPr wrap="square" rtlCol="0">
            <a:spAutoFit/>
          </a:bodyPr>
          <a:lstStyle/>
          <a:p>
            <a:r>
              <a:rPr lang="zh-CN" altLang="en-US" dirty="0">
                <a:solidFill>
                  <a:srgbClr val="0000CC"/>
                </a:solidFill>
              </a:rPr>
              <a:t>维</a:t>
            </a:r>
            <a:r>
              <a:rPr lang="en-US" altLang="zh-CN" dirty="0">
                <a:solidFill>
                  <a:srgbClr val="0000CC"/>
                </a:solidFill>
              </a:rPr>
              <a:t>C</a:t>
            </a:r>
            <a:r>
              <a:rPr lang="zh-CN" altLang="en-US" dirty="0">
                <a:solidFill>
                  <a:srgbClr val="0000CC"/>
                </a:solidFill>
              </a:rPr>
              <a:t>缺乏： 坏血病（</a:t>
            </a:r>
            <a:r>
              <a:rPr lang="en-US" altLang="zh-CN" dirty="0">
                <a:solidFill>
                  <a:srgbClr val="0000CC"/>
                </a:solidFill>
              </a:rPr>
              <a:t>Scurvy)</a:t>
            </a:r>
            <a:endParaRPr lang="en-US" altLang="zh-CN" sz="2000" dirty="0">
              <a:solidFill>
                <a:schemeClr val="tx1">
                  <a:lumMod val="95000"/>
                  <a:lumOff val="5000"/>
                </a:schemeClr>
              </a:solidFill>
            </a:endParaRPr>
          </a:p>
          <a:p>
            <a:pPr marL="720000">
              <a:lnSpc>
                <a:spcPct val="120000"/>
              </a:lnSpc>
              <a:spcBef>
                <a:spcPts val="1200"/>
              </a:spcBef>
            </a:pPr>
            <a:r>
              <a:rPr lang="zh-CN" altLang="en-US" sz="2400" b="0" dirty="0">
                <a:solidFill>
                  <a:schemeClr val="tx1">
                    <a:lumMod val="95000"/>
                    <a:lumOff val="5000"/>
                  </a:schemeClr>
                </a:solidFill>
              </a:rPr>
              <a:t>以毛细血管易破裂、牙龈腐烂和松动、骨折以及创伤不易愈合等为主要症状。</a:t>
            </a:r>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4">
            <a:extLst>
              <a:ext uri="{FF2B5EF4-FFF2-40B4-BE49-F238E27FC236}">
                <a16:creationId xmlns:a16="http://schemas.microsoft.com/office/drawing/2014/main" id="{87B3866A-D481-4066-875E-F5DF9CFD886C}"/>
              </a:ext>
            </a:extLst>
          </p:cNvPr>
          <p:cNvSpPr>
            <a:spLocks noChangeArrowheads="1"/>
          </p:cNvSpPr>
          <p:nvPr/>
        </p:nvSpPr>
        <p:spPr bwMode="auto">
          <a:xfrm>
            <a:off x="2063750" y="549276"/>
            <a:ext cx="8001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zh-CN" altLang="en-US" sz="3600">
                <a:solidFill>
                  <a:srgbClr val="3333CC"/>
                </a:solidFill>
                <a:latin typeface="楷体_GB2312" pitchFamily="49" charset="-122"/>
                <a:ea typeface="楷体_GB2312" pitchFamily="49" charset="-122"/>
              </a:rPr>
              <a:t>水果维生素</a:t>
            </a:r>
            <a:r>
              <a:rPr lang="en-US" altLang="zh-CN" sz="3600">
                <a:solidFill>
                  <a:srgbClr val="3333CC"/>
                </a:solidFill>
                <a:latin typeface="楷体_GB2312" pitchFamily="49" charset="-122"/>
                <a:ea typeface="楷体_GB2312" pitchFamily="49" charset="-122"/>
              </a:rPr>
              <a:t>C</a:t>
            </a:r>
            <a:r>
              <a:rPr lang="zh-CN" altLang="en-US" sz="3600">
                <a:solidFill>
                  <a:srgbClr val="3333CC"/>
                </a:solidFill>
                <a:latin typeface="楷体_GB2312" pitchFamily="49" charset="-122"/>
                <a:ea typeface="楷体_GB2312" pitchFamily="49" charset="-122"/>
              </a:rPr>
              <a:t>的含量</a:t>
            </a:r>
          </a:p>
        </p:txBody>
      </p:sp>
      <p:sp>
        <p:nvSpPr>
          <p:cNvPr id="120835" name="Rectangle 5">
            <a:extLst>
              <a:ext uri="{FF2B5EF4-FFF2-40B4-BE49-F238E27FC236}">
                <a16:creationId xmlns:a16="http://schemas.microsoft.com/office/drawing/2014/main" id="{9E1231CB-9CBE-4E0D-9FA5-66692A7087B5}"/>
              </a:ext>
            </a:extLst>
          </p:cNvPr>
          <p:cNvSpPr>
            <a:spLocks noChangeArrowheads="1"/>
          </p:cNvSpPr>
          <p:nvPr/>
        </p:nvSpPr>
        <p:spPr bwMode="auto">
          <a:xfrm>
            <a:off x="1487488" y="1446311"/>
            <a:ext cx="9431056" cy="1838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25000"/>
              </a:lnSpc>
              <a:spcBef>
                <a:spcPct val="20000"/>
              </a:spcBef>
              <a:buFontTx/>
              <a:buChar char="•"/>
            </a:pPr>
            <a:r>
              <a:rPr lang="zh-CN" altLang="en-US" b="0" dirty="0">
                <a:solidFill>
                  <a:srgbClr val="3333CC"/>
                </a:solidFill>
                <a:latin typeface="微软雅黑" panose="020B0503020204020204" pitchFamily="34" charset="-122"/>
                <a:ea typeface="微软雅黑" panose="020B0503020204020204" pitchFamily="34" charset="-122"/>
              </a:rPr>
              <a:t>颜色深的水果通常维生素</a:t>
            </a:r>
            <a:r>
              <a:rPr lang="en-US" altLang="zh-CN" b="0" dirty="0">
                <a:solidFill>
                  <a:srgbClr val="3333CC"/>
                </a:solidFill>
                <a:latin typeface="微软雅黑" panose="020B0503020204020204" pitchFamily="34" charset="-122"/>
                <a:ea typeface="微软雅黑" panose="020B0503020204020204" pitchFamily="34" charset="-122"/>
              </a:rPr>
              <a:t>C</a:t>
            </a:r>
            <a:r>
              <a:rPr lang="zh-CN" altLang="en-US" b="0" dirty="0">
                <a:solidFill>
                  <a:srgbClr val="3333CC"/>
                </a:solidFill>
                <a:latin typeface="微软雅黑" panose="020B0503020204020204" pitchFamily="34" charset="-122"/>
                <a:ea typeface="微软雅黑" panose="020B0503020204020204" pitchFamily="34" charset="-122"/>
              </a:rPr>
              <a:t>的含量都比较高</a:t>
            </a:r>
            <a:r>
              <a:rPr lang="zh-CN" altLang="en-US" b="0" dirty="0">
                <a:latin typeface="微软雅黑" panose="020B0503020204020204" pitchFamily="34" charset="-122"/>
                <a:ea typeface="微软雅黑" panose="020B0503020204020204" pitchFamily="34" charset="-122"/>
              </a:rPr>
              <a:t>，颜色浅的水果的维生素</a:t>
            </a:r>
            <a:r>
              <a:rPr lang="en-US" altLang="zh-CN" b="0" dirty="0">
                <a:latin typeface="微软雅黑" panose="020B0503020204020204" pitchFamily="34" charset="-122"/>
                <a:ea typeface="微软雅黑" panose="020B0503020204020204" pitchFamily="34" charset="-122"/>
              </a:rPr>
              <a:t>C</a:t>
            </a:r>
            <a:r>
              <a:rPr lang="zh-CN" altLang="en-US" b="0" dirty="0">
                <a:latin typeface="微软雅黑" panose="020B0503020204020204" pitchFamily="34" charset="-122"/>
                <a:ea typeface="微软雅黑" panose="020B0503020204020204" pitchFamily="34" charset="-122"/>
              </a:rPr>
              <a:t>含量略低些。</a:t>
            </a:r>
          </a:p>
          <a:p>
            <a:pPr eaLnBrk="1" hangingPunct="1">
              <a:lnSpc>
                <a:spcPct val="125000"/>
              </a:lnSpc>
              <a:spcBef>
                <a:spcPct val="20000"/>
              </a:spcBef>
              <a:buFontTx/>
              <a:buChar char="•"/>
            </a:pPr>
            <a:r>
              <a:rPr lang="zh-CN" altLang="en-US" b="0" dirty="0">
                <a:latin typeface="微软雅黑" panose="020B0503020204020204" pitchFamily="34" charset="-122"/>
                <a:ea typeface="微软雅黑" panose="020B0503020204020204" pitchFamily="34" charset="-122"/>
              </a:rPr>
              <a:t>维生素</a:t>
            </a:r>
            <a:r>
              <a:rPr lang="en-US" altLang="zh-CN" b="0" dirty="0">
                <a:latin typeface="微软雅黑" panose="020B0503020204020204" pitchFamily="34" charset="-122"/>
                <a:ea typeface="微软雅黑" panose="020B0503020204020204" pitchFamily="34" charset="-122"/>
              </a:rPr>
              <a:t>C</a:t>
            </a:r>
            <a:r>
              <a:rPr lang="zh-CN" altLang="en-US" b="0" dirty="0">
                <a:latin typeface="微软雅黑" panose="020B0503020204020204" pitchFamily="34" charset="-122"/>
                <a:ea typeface="微软雅黑" panose="020B0503020204020204" pitchFamily="34" charset="-122"/>
              </a:rPr>
              <a:t>含量比较高的水果有</a:t>
            </a:r>
            <a:r>
              <a:rPr lang="zh-CN" altLang="en-US" b="0" dirty="0">
                <a:solidFill>
                  <a:srgbClr val="0000CC"/>
                </a:solidFill>
                <a:latin typeface="微软雅黑" panose="020B0503020204020204" pitchFamily="34" charset="-122"/>
                <a:ea typeface="微软雅黑" panose="020B0503020204020204" pitchFamily="34" charset="-122"/>
              </a:rPr>
              <a:t>鲜枣</a:t>
            </a:r>
            <a:r>
              <a:rPr lang="zh-CN" altLang="en-US" b="0" dirty="0">
                <a:solidFill>
                  <a:srgbClr val="3333CC"/>
                </a:solidFill>
                <a:latin typeface="微软雅黑" panose="020B0503020204020204" pitchFamily="34" charset="-122"/>
                <a:ea typeface="微软雅黑" panose="020B0503020204020204" pitchFamily="34" charset="-122"/>
              </a:rPr>
              <a:t>、酸枣、山楂、橘子、猕猴桃</a:t>
            </a:r>
            <a:r>
              <a:rPr lang="zh-CN" altLang="en-US" b="0" dirty="0">
                <a:latin typeface="微软雅黑" panose="020B0503020204020204" pitchFamily="34" charset="-122"/>
                <a:ea typeface="微软雅黑" panose="020B0503020204020204" pitchFamily="34" charset="-122"/>
              </a:rPr>
              <a:t>等。</a:t>
            </a:r>
            <a:endParaRPr lang="en-US" altLang="zh-CN" b="0"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AA699EF2-B3A9-55A1-9A7F-A92EF6623A48}"/>
              </a:ext>
            </a:extLst>
          </p:cNvPr>
          <p:cNvSpPr txBox="1"/>
          <p:nvPr/>
        </p:nvSpPr>
        <p:spPr>
          <a:xfrm>
            <a:off x="1415480" y="4005064"/>
            <a:ext cx="9577064" cy="2432333"/>
          </a:xfrm>
          <a:prstGeom prst="rect">
            <a:avLst/>
          </a:prstGeom>
          <a:noFill/>
        </p:spPr>
        <p:txBody>
          <a:bodyPr wrap="square">
            <a:spAutoFit/>
          </a:bodyPr>
          <a:lstStyle/>
          <a:p>
            <a:pPr marL="342900" indent="-342900" eaLnBrk="1" hangingPunct="1">
              <a:lnSpc>
                <a:spcPct val="125000"/>
              </a:lnSpc>
              <a:spcBef>
                <a:spcPct val="20000"/>
              </a:spcBef>
              <a:buFont typeface="Arial" panose="020B0604020202020204" pitchFamily="34" charset="0"/>
              <a:buChar char="•"/>
              <a:defRPr/>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著名化学家鲍林</a:t>
            </a: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a:t>
            </a:r>
            <a:r>
              <a:rPr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rPr>
              <a:t>Linus Pauling</a:t>
            </a: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a:t>
            </a:r>
            <a:r>
              <a:rPr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rPr>
              <a:t>1901-1994)</a:t>
            </a: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以一己之力很大程度上推动了维生素保健品行业的发展，尤其是</a:t>
            </a:r>
            <a:r>
              <a:rPr lang="zh-CN" altLang="en-US" sz="2400" b="0" dirty="0">
                <a:solidFill>
                  <a:srgbClr val="0000CC"/>
                </a:solidFill>
                <a:latin typeface="微软雅黑" panose="020B0503020204020204" pitchFamily="34" charset="-122"/>
                <a:ea typeface="微软雅黑" panose="020B0503020204020204" pitchFamily="34" charset="-122"/>
              </a:rPr>
              <a:t>维生素</a:t>
            </a:r>
            <a:r>
              <a:rPr lang="en-US" altLang="zh-CN" sz="2400" b="0" dirty="0">
                <a:solidFill>
                  <a:srgbClr val="0000CC"/>
                </a:solidFill>
                <a:latin typeface="微软雅黑" panose="020B0503020204020204" pitchFamily="34" charset="-122"/>
                <a:ea typeface="微软雅黑" panose="020B0503020204020204" pitchFamily="34" charset="-122"/>
              </a:rPr>
              <a:t>C</a:t>
            </a:r>
            <a:r>
              <a:rPr lang="zh-CN" altLang="en-US" sz="2400" b="0" dirty="0">
                <a:solidFill>
                  <a:srgbClr val="0000CC"/>
                </a:solidFill>
                <a:latin typeface="微软雅黑" panose="020B0503020204020204" pitchFamily="34" charset="-122"/>
                <a:ea typeface="微软雅黑" panose="020B0503020204020204" pitchFamily="34" charset="-122"/>
              </a:rPr>
              <a:t>成为使用最广的维生素。 </a:t>
            </a:r>
            <a:endParaRPr lang="en-US" altLang="zh-CN" sz="2400" b="0" dirty="0">
              <a:solidFill>
                <a:srgbClr val="0000CC"/>
              </a:solidFill>
              <a:latin typeface="微软雅黑" panose="020B0503020204020204" pitchFamily="34" charset="-122"/>
              <a:ea typeface="微软雅黑" panose="020B0503020204020204" pitchFamily="34" charset="-122"/>
            </a:endParaRPr>
          </a:p>
          <a:p>
            <a:pPr marL="342900" indent="-342900" eaLnBrk="1" hangingPunct="1">
              <a:lnSpc>
                <a:spcPct val="125000"/>
              </a:lnSpc>
              <a:spcBef>
                <a:spcPct val="20000"/>
              </a:spcBef>
              <a:buFont typeface="Arial" panose="020B0604020202020204" pitchFamily="34" charset="0"/>
              <a:buChar char="•"/>
              <a:defRPr/>
            </a:pP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鲍林主张每日服用</a:t>
            </a:r>
            <a:r>
              <a:rPr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rPr>
              <a:t>Vit C 1</a:t>
            </a: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克以上。 他关于维生素的观点未被科学证实，不为主流科学承认，却影响深远。</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4082" name="图片 1">
            <a:extLst>
              <a:ext uri="{FF2B5EF4-FFF2-40B4-BE49-F238E27FC236}">
                <a16:creationId xmlns:a16="http://schemas.microsoft.com/office/drawing/2014/main" id="{0EEE83CF-072F-4E96-8769-C041323C7D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2064" y="657225"/>
            <a:ext cx="7127875" cy="554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6130" name="Rectangle 2">
            <a:extLst>
              <a:ext uri="{FF2B5EF4-FFF2-40B4-BE49-F238E27FC236}">
                <a16:creationId xmlns:a16="http://schemas.microsoft.com/office/drawing/2014/main" id="{CB326F13-949C-4CBD-B0B5-930F497699A5}"/>
              </a:ext>
            </a:extLst>
          </p:cNvPr>
          <p:cNvSpPr>
            <a:spLocks noGrp="1" noChangeArrowheads="1"/>
          </p:cNvSpPr>
          <p:nvPr>
            <p:ph type="title"/>
          </p:nvPr>
        </p:nvSpPr>
        <p:spPr>
          <a:xfrm>
            <a:off x="3143250" y="404814"/>
            <a:ext cx="5976938" cy="981075"/>
          </a:xfrm>
        </p:spPr>
        <p:txBody>
          <a:bodyPr/>
          <a:lstStyle/>
          <a:p>
            <a:pPr algn="ctr" eaLnBrk="1" hangingPunct="1"/>
            <a:r>
              <a:rPr lang="zh-CN" altLang="zh-CN" b="1">
                <a:solidFill>
                  <a:srgbClr val="3333CC"/>
                </a:solidFill>
                <a:latin typeface="微软雅黑" panose="020B0503020204020204" pitchFamily="34" charset="-122"/>
                <a:ea typeface="微软雅黑" panose="020B0503020204020204" pitchFamily="34" charset="-122"/>
              </a:rPr>
              <a:t>维生素小结</a:t>
            </a:r>
            <a:endParaRPr lang="zh-CN" altLang="en-US" b="1">
              <a:solidFill>
                <a:srgbClr val="3333CC"/>
              </a:solidFill>
              <a:latin typeface="微软雅黑" panose="020B0503020204020204" pitchFamily="34" charset="-122"/>
              <a:ea typeface="微软雅黑" panose="020B0503020204020204" pitchFamily="34" charset="-122"/>
            </a:endParaRPr>
          </a:p>
        </p:txBody>
      </p:sp>
      <p:sp>
        <p:nvSpPr>
          <p:cNvPr id="290819" name="Rectangle 3">
            <a:extLst>
              <a:ext uri="{FF2B5EF4-FFF2-40B4-BE49-F238E27FC236}">
                <a16:creationId xmlns:a16="http://schemas.microsoft.com/office/drawing/2014/main" id="{34125BD7-9396-40D9-9C73-DC850F409E9C}"/>
              </a:ext>
            </a:extLst>
          </p:cNvPr>
          <p:cNvSpPr>
            <a:spLocks noGrp="1" noChangeArrowheads="1"/>
          </p:cNvSpPr>
          <p:nvPr>
            <p:ph idx="1"/>
          </p:nvPr>
        </p:nvSpPr>
        <p:spPr>
          <a:xfrm>
            <a:off x="2420208" y="3847595"/>
            <a:ext cx="6628121" cy="572011"/>
          </a:xfrm>
        </p:spPr>
        <p:txBody>
          <a:bodyPr>
            <a:noAutofit/>
          </a:bodyPr>
          <a:lstStyle/>
          <a:p>
            <a:pPr eaLnBrk="1" hangingPunct="1"/>
            <a:r>
              <a:rPr lang="zh-CN" altLang="en-US" sz="2400" dirty="0">
                <a:latin typeface="微软雅黑" panose="020B0503020204020204" pitchFamily="34" charset="-122"/>
                <a:ea typeface="微软雅黑" panose="020B0503020204020204" pitchFamily="34" charset="-122"/>
              </a:rPr>
              <a:t>  肝脏富含多种维生素，尤其</a:t>
            </a:r>
            <a:r>
              <a:rPr lang="en-US" altLang="zh-CN" sz="2400" dirty="0">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B</a:t>
            </a:r>
            <a:r>
              <a:rPr lang="en-US" altLang="zh-CN" sz="2400" baseline="-25000" dirty="0">
                <a:latin typeface="微软雅黑" panose="020B0503020204020204" pitchFamily="34" charset="-122"/>
                <a:ea typeface="微软雅黑" panose="020B0503020204020204" pitchFamily="34" charset="-122"/>
              </a:rPr>
              <a:t>12</a:t>
            </a:r>
          </a:p>
          <a:p>
            <a:pPr eaLnBrk="1" hangingPunct="1">
              <a:buFontTx/>
              <a:buNone/>
            </a:pPr>
            <a:r>
              <a:rPr lang="zh-CN" altLang="en-US" sz="2400" dirty="0">
                <a:latin typeface="微软雅黑" panose="020B0503020204020204" pitchFamily="34" charset="-122"/>
                <a:ea typeface="微软雅黑" panose="020B0503020204020204" pitchFamily="34" charset="-122"/>
              </a:rPr>
              <a:t>    </a:t>
            </a:r>
            <a:endParaRPr lang="en-US" altLang="zh-CN" sz="2400" dirty="0">
              <a:latin typeface="微软雅黑" panose="020B0503020204020204" pitchFamily="34" charset="-122"/>
              <a:ea typeface="微软雅黑" panose="020B0503020204020204" pitchFamily="34" charset="-122"/>
            </a:endParaRPr>
          </a:p>
        </p:txBody>
      </p:sp>
      <p:sp>
        <p:nvSpPr>
          <p:cNvPr id="290820" name="Text Box 4">
            <a:extLst>
              <a:ext uri="{FF2B5EF4-FFF2-40B4-BE49-F238E27FC236}">
                <a16:creationId xmlns:a16="http://schemas.microsoft.com/office/drawing/2014/main" id="{F5862B82-D0AE-4E8A-B79C-44322105F571}"/>
              </a:ext>
            </a:extLst>
          </p:cNvPr>
          <p:cNvSpPr txBox="1">
            <a:spLocks noChangeArrowheads="1"/>
          </p:cNvSpPr>
          <p:nvPr/>
        </p:nvSpPr>
        <p:spPr bwMode="auto">
          <a:xfrm>
            <a:off x="2424113" y="1863141"/>
            <a:ext cx="7704335" cy="861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marL="457200" indent="-457200" eaLnBrk="1" hangingPunct="1">
              <a:lnSpc>
                <a:spcPct val="100000"/>
              </a:lnSpc>
              <a:spcBef>
                <a:spcPct val="0"/>
              </a:spcBef>
            </a:pPr>
            <a:r>
              <a:rPr lang="zh-CN" altLang="en-US" b="0" dirty="0">
                <a:latin typeface="微软雅黑" panose="020B0503020204020204" pitchFamily="34" charset="-122"/>
                <a:ea typeface="微软雅黑" panose="020B0503020204020204" pitchFamily="34" charset="-122"/>
              </a:rPr>
              <a:t>肠道细菌可合成的：</a:t>
            </a:r>
            <a:r>
              <a:rPr lang="en-US" altLang="zh-CN" b="0" dirty="0">
                <a:solidFill>
                  <a:srgbClr val="0000CC"/>
                </a:solidFill>
                <a:latin typeface="微软雅黑" panose="020B0503020204020204" pitchFamily="34" charset="-122"/>
                <a:ea typeface="微软雅黑" panose="020B0503020204020204" pitchFamily="34" charset="-122"/>
              </a:rPr>
              <a:t>K</a:t>
            </a:r>
            <a:r>
              <a:rPr lang="zh-CN" altLang="en-US" b="0" dirty="0">
                <a:latin typeface="微软雅黑" panose="020B0503020204020204" pitchFamily="34" charset="-122"/>
                <a:ea typeface="微软雅黑" panose="020B0503020204020204" pitchFamily="34" charset="-122"/>
              </a:rPr>
              <a:t>、 所有</a:t>
            </a:r>
            <a:r>
              <a:rPr lang="en-US" altLang="zh-CN" b="0" dirty="0">
                <a:latin typeface="微软雅黑" panose="020B0503020204020204" pitchFamily="34" charset="-122"/>
                <a:ea typeface="微软雅黑" panose="020B0503020204020204" pitchFamily="34" charset="-122"/>
              </a:rPr>
              <a:t>B</a:t>
            </a:r>
            <a:r>
              <a:rPr lang="zh-CN" altLang="en-US" b="0" dirty="0">
                <a:latin typeface="微软雅黑" panose="020B0503020204020204" pitchFamily="34" charset="-122"/>
                <a:ea typeface="微软雅黑" panose="020B0503020204020204" pitchFamily="34" charset="-122"/>
              </a:rPr>
              <a:t>族维生素</a:t>
            </a:r>
          </a:p>
          <a:p>
            <a:pPr marL="360000" eaLnBrk="1" hangingPunct="1">
              <a:lnSpc>
                <a:spcPct val="120000"/>
              </a:lnSpc>
              <a:spcBef>
                <a:spcPct val="0"/>
              </a:spcBef>
              <a:buNone/>
            </a:pPr>
            <a:r>
              <a:rPr lang="zh-CN" altLang="en-US" sz="2000" b="0" dirty="0">
                <a:latin typeface="微软雅黑" panose="020B0503020204020204" pitchFamily="34" charset="-122"/>
                <a:ea typeface="微软雅黑" panose="020B0503020204020204" pitchFamily="34" charset="-122"/>
              </a:rPr>
              <a:t>不同细菌合成某种</a:t>
            </a:r>
            <a:r>
              <a:rPr lang="en-US" altLang="zh-CN" sz="2000" b="0" dirty="0">
                <a:latin typeface="微软雅黑" panose="020B0503020204020204" pitchFamily="34" charset="-122"/>
                <a:ea typeface="微软雅黑" panose="020B0503020204020204" pitchFamily="34" charset="-122"/>
              </a:rPr>
              <a:t>B</a:t>
            </a:r>
            <a:r>
              <a:rPr lang="zh-CN" altLang="en-US" sz="2000" b="0" dirty="0">
                <a:latin typeface="微软雅黑" panose="020B0503020204020204" pitchFamily="34" charset="-122"/>
                <a:ea typeface="微软雅黑" panose="020B0503020204020204" pitchFamily="34" charset="-122"/>
              </a:rPr>
              <a:t>族维生素的能力不同， 不同人肠道菌群有别</a:t>
            </a:r>
            <a:endParaRPr lang="en-US" altLang="zh-CN" sz="2000" b="0" dirty="0">
              <a:latin typeface="微软雅黑" panose="020B0503020204020204" pitchFamily="34" charset="-122"/>
              <a:ea typeface="微软雅黑" panose="020B0503020204020204" pitchFamily="34" charset="-122"/>
            </a:endParaRPr>
          </a:p>
        </p:txBody>
      </p:sp>
      <p:sp>
        <p:nvSpPr>
          <p:cNvPr id="290822" name="Text Box 6">
            <a:extLst>
              <a:ext uri="{FF2B5EF4-FFF2-40B4-BE49-F238E27FC236}">
                <a16:creationId xmlns:a16="http://schemas.microsoft.com/office/drawing/2014/main" id="{50223F39-FE83-4F0F-81DA-FEE14FF51308}"/>
              </a:ext>
            </a:extLst>
          </p:cNvPr>
          <p:cNvSpPr txBox="1">
            <a:spLocks noChangeArrowheads="1"/>
          </p:cNvSpPr>
          <p:nvPr/>
        </p:nvSpPr>
        <p:spPr bwMode="auto">
          <a:xfrm>
            <a:off x="2420207" y="2961552"/>
            <a:ext cx="55673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marL="457200" indent="-457200" eaLnBrk="1" hangingPunct="1">
              <a:lnSpc>
                <a:spcPct val="100000"/>
              </a:lnSpc>
              <a:spcBef>
                <a:spcPct val="0"/>
              </a:spcBef>
            </a:pPr>
            <a:r>
              <a:rPr lang="zh-CN" altLang="en-US" b="0" dirty="0">
                <a:latin typeface="微软雅黑" panose="020B0503020204020204" pitchFamily="34" charset="-122"/>
                <a:ea typeface="微软雅黑" panose="020B0503020204020204" pitchFamily="34" charset="-122"/>
              </a:rPr>
              <a:t>含金属的辅酶：</a:t>
            </a:r>
            <a:r>
              <a:rPr lang="en-US" altLang="zh-CN" b="0" dirty="0">
                <a:latin typeface="微软雅黑" panose="020B0503020204020204" pitchFamily="34" charset="-122"/>
                <a:ea typeface="微软雅黑" panose="020B0503020204020204" pitchFamily="34" charset="-122"/>
              </a:rPr>
              <a:t> B</a:t>
            </a:r>
            <a:r>
              <a:rPr lang="en-US" altLang="zh-CN" b="0" baseline="-25000" dirty="0">
                <a:latin typeface="微软雅黑" panose="020B0503020204020204" pitchFamily="34" charset="-122"/>
                <a:ea typeface="微软雅黑" panose="020B0503020204020204" pitchFamily="34" charset="-122"/>
              </a:rPr>
              <a:t>12</a:t>
            </a:r>
            <a:endParaRPr lang="zh-CN" altLang="en-US" b="0" dirty="0">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AC11D987-AF97-EDA7-71A7-54402DBDFE0B}"/>
              </a:ext>
            </a:extLst>
          </p:cNvPr>
          <p:cNvSpPr txBox="1"/>
          <p:nvPr/>
        </p:nvSpPr>
        <p:spPr>
          <a:xfrm>
            <a:off x="2420208" y="4808797"/>
            <a:ext cx="7514647" cy="492443"/>
          </a:xfrm>
          <a:prstGeom prst="rect">
            <a:avLst/>
          </a:prstGeom>
          <a:noFill/>
        </p:spPr>
        <p:txBody>
          <a:bodyPr wrap="square">
            <a:spAutoFit/>
          </a:bodyPr>
          <a:lstStyle/>
          <a:p>
            <a:pPr marL="457200" indent="-457200">
              <a:buFont typeface="Arial" panose="020B0604020202020204" pitchFamily="34" charset="0"/>
              <a:buChar char="•"/>
            </a:pPr>
            <a:r>
              <a:rPr lang="zh-CN" altLang="en-US" sz="2600" b="0" dirty="0">
                <a:solidFill>
                  <a:schemeClr val="tx1">
                    <a:lumMod val="95000"/>
                    <a:lumOff val="5000"/>
                  </a:schemeClr>
                </a:solidFill>
                <a:latin typeface="微软雅黑" panose="020B0503020204020204" pitchFamily="34" charset="-122"/>
                <a:ea typeface="微软雅黑" panose="020B0503020204020204" pitchFamily="34" charset="-122"/>
              </a:rPr>
              <a:t>直接作为辅酶的：  </a:t>
            </a:r>
            <a:r>
              <a:rPr lang="en-US" altLang="zh-CN" sz="2600" b="0" dirty="0">
                <a:solidFill>
                  <a:schemeClr val="tx1"/>
                </a:solidFill>
                <a:latin typeface="微软雅黑" panose="020B0503020204020204" pitchFamily="34" charset="-122"/>
                <a:ea typeface="微软雅黑" panose="020B0503020204020204" pitchFamily="34" charset="-122"/>
              </a:rPr>
              <a:t>K</a:t>
            </a:r>
            <a:r>
              <a:rPr lang="zh-CN" altLang="en-US" sz="2600" b="0" dirty="0">
                <a:solidFill>
                  <a:schemeClr val="tx1"/>
                </a:solidFill>
                <a:latin typeface="微软雅黑" panose="020B0503020204020204" pitchFamily="34" charset="-122"/>
                <a:ea typeface="微软雅黑" panose="020B0503020204020204" pitchFamily="34" charset="-122"/>
              </a:rPr>
              <a:t> 、生物素、</a:t>
            </a:r>
            <a:r>
              <a:rPr lang="en-US" altLang="zh-CN" sz="2600" b="0" dirty="0">
                <a:solidFill>
                  <a:schemeClr val="tx1"/>
                </a:solidFill>
                <a:latin typeface="微软雅黑" panose="020B0503020204020204" pitchFamily="34" charset="-122"/>
                <a:ea typeface="微软雅黑" panose="020B0503020204020204" pitchFamily="34" charset="-122"/>
              </a:rPr>
              <a:t>C</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0822"/>
                                        </p:tgtEl>
                                        <p:attrNameLst>
                                          <p:attrName>style.visibility</p:attrName>
                                        </p:attrNameLst>
                                      </p:cBhvr>
                                      <p:to>
                                        <p:strVal val="visible"/>
                                      </p:to>
                                    </p:set>
                                    <p:animEffect transition="in" filter="blinds(horizontal)">
                                      <p:cBhvr>
                                        <p:cTn id="7" dur="500"/>
                                        <p:tgtEl>
                                          <p:spTgt spid="2908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0819">
                                            <p:txEl>
                                              <p:pRg st="0" end="0"/>
                                            </p:txEl>
                                          </p:spTgt>
                                        </p:tgtEl>
                                        <p:attrNameLst>
                                          <p:attrName>style.visibility</p:attrName>
                                        </p:attrNameLst>
                                      </p:cBhvr>
                                      <p:to>
                                        <p:strVal val="visible"/>
                                      </p:to>
                                    </p:set>
                                    <p:animEffect transition="in" filter="blinds(horizontal)">
                                      <p:cBhvr>
                                        <p:cTn id="12" dur="500"/>
                                        <p:tgtEl>
                                          <p:spTgt spid="29081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90819">
                                            <p:txEl>
                                              <p:pRg st="1" end="1"/>
                                            </p:txEl>
                                          </p:spTgt>
                                        </p:tgtEl>
                                        <p:attrNameLst>
                                          <p:attrName>style.visibility</p:attrName>
                                        </p:attrNameLst>
                                      </p:cBhvr>
                                      <p:to>
                                        <p:strVal val="visible"/>
                                      </p:to>
                                    </p:set>
                                    <p:animEffect transition="in" filter="blinds(horizontal)">
                                      <p:cBhvr>
                                        <p:cTn id="17" dur="500"/>
                                        <p:tgtEl>
                                          <p:spTgt spid="29081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19" grpId="0" build="p" autoUpdateAnimBg="0"/>
      <p:bldP spid="290822" grpId="0" autoUpdateAnimBg="0"/>
      <p:bldP spid="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0226" name="图片 1">
            <a:extLst>
              <a:ext uri="{FF2B5EF4-FFF2-40B4-BE49-F238E27FC236}">
                <a16:creationId xmlns:a16="http://schemas.microsoft.com/office/drawing/2014/main" id="{B7B8F1FE-940D-4731-8DC0-FF5C08D42D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0513" y="908720"/>
            <a:ext cx="8915400" cy="551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227" name="文本框 2">
            <a:extLst>
              <a:ext uri="{FF2B5EF4-FFF2-40B4-BE49-F238E27FC236}">
                <a16:creationId xmlns:a16="http://schemas.microsoft.com/office/drawing/2014/main" id="{2291CF3B-2113-4910-8CC3-7C6CDBBFC0F0}"/>
              </a:ext>
            </a:extLst>
          </p:cNvPr>
          <p:cNvSpPr txBox="1">
            <a:spLocks noChangeArrowheads="1"/>
          </p:cNvSpPr>
          <p:nvPr/>
        </p:nvSpPr>
        <p:spPr bwMode="auto">
          <a:xfrm>
            <a:off x="9480550" y="4196433"/>
            <a:ext cx="1187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2000" b="0">
                <a:solidFill>
                  <a:srgbClr val="C00000"/>
                </a:solidFill>
                <a:latin typeface="Times New Roman" panose="02020603050405020304" pitchFamily="18" charset="0"/>
                <a:ea typeface="楷体_GB2312" pitchFamily="49" charset="-122"/>
              </a:rPr>
              <a:t>坏血病</a:t>
            </a:r>
          </a:p>
        </p:txBody>
      </p:sp>
      <p:sp>
        <p:nvSpPr>
          <p:cNvPr id="180228" name="文本框 3">
            <a:extLst>
              <a:ext uri="{FF2B5EF4-FFF2-40B4-BE49-F238E27FC236}">
                <a16:creationId xmlns:a16="http://schemas.microsoft.com/office/drawing/2014/main" id="{4FB54341-06B4-49F0-BCB1-A421B4FA133D}"/>
              </a:ext>
            </a:extLst>
          </p:cNvPr>
          <p:cNvSpPr txBox="1">
            <a:spLocks noChangeArrowheads="1"/>
          </p:cNvSpPr>
          <p:nvPr/>
        </p:nvSpPr>
        <p:spPr bwMode="auto">
          <a:xfrm>
            <a:off x="8232776" y="4656808"/>
            <a:ext cx="23399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2000" b="0">
                <a:solidFill>
                  <a:srgbClr val="C00000"/>
                </a:solidFill>
                <a:latin typeface="Times New Roman" panose="02020603050405020304" pitchFamily="18" charset="0"/>
                <a:ea typeface="楷体_GB2312" pitchFamily="49" charset="-122"/>
              </a:rPr>
              <a:t>佝偻病、软骨病</a:t>
            </a:r>
            <a:endParaRPr lang="en-US" altLang="zh-CN" sz="2000" b="0">
              <a:solidFill>
                <a:srgbClr val="C00000"/>
              </a:solidFill>
              <a:latin typeface="Times New Roman" panose="02020603050405020304" pitchFamily="18" charset="0"/>
              <a:ea typeface="楷体_GB2312" pitchFamily="49" charset="-122"/>
            </a:endParaRPr>
          </a:p>
          <a:p>
            <a:pPr>
              <a:lnSpc>
                <a:spcPct val="100000"/>
              </a:lnSpc>
              <a:spcBef>
                <a:spcPct val="0"/>
              </a:spcBef>
              <a:buFontTx/>
              <a:buNone/>
            </a:pPr>
            <a:endParaRPr lang="en-US" altLang="zh-CN" sz="2000" b="0">
              <a:solidFill>
                <a:srgbClr val="C00000"/>
              </a:solidFill>
              <a:latin typeface="Times New Roman" panose="02020603050405020304" pitchFamily="18" charset="0"/>
              <a:ea typeface="楷体_GB2312" pitchFamily="49" charset="-122"/>
            </a:endParaRPr>
          </a:p>
          <a:p>
            <a:pPr>
              <a:lnSpc>
                <a:spcPct val="100000"/>
              </a:lnSpc>
              <a:spcBef>
                <a:spcPct val="0"/>
              </a:spcBef>
              <a:buFontTx/>
              <a:buNone/>
            </a:pPr>
            <a:endParaRPr lang="zh-CN" altLang="en-US" sz="2000" b="0">
              <a:solidFill>
                <a:srgbClr val="C00000"/>
              </a:solidFill>
              <a:latin typeface="Times New Roman" panose="02020603050405020304" pitchFamily="18" charset="0"/>
              <a:ea typeface="楷体_GB2312" pitchFamily="49" charset="-122"/>
            </a:endParaRPr>
          </a:p>
        </p:txBody>
      </p:sp>
      <p:sp>
        <p:nvSpPr>
          <p:cNvPr id="180229" name="文本框 4">
            <a:extLst>
              <a:ext uri="{FF2B5EF4-FFF2-40B4-BE49-F238E27FC236}">
                <a16:creationId xmlns:a16="http://schemas.microsoft.com/office/drawing/2014/main" id="{F9F28959-C62D-451A-83B4-ED5853C5F273}"/>
              </a:ext>
            </a:extLst>
          </p:cNvPr>
          <p:cNvSpPr txBox="1">
            <a:spLocks noChangeArrowheads="1"/>
          </p:cNvSpPr>
          <p:nvPr/>
        </p:nvSpPr>
        <p:spPr bwMode="auto">
          <a:xfrm>
            <a:off x="8232776" y="5564858"/>
            <a:ext cx="23399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2000" b="0">
                <a:solidFill>
                  <a:srgbClr val="C00000"/>
                </a:solidFill>
                <a:latin typeface="Times New Roman" panose="02020603050405020304" pitchFamily="18" charset="0"/>
                <a:ea typeface="楷体_GB2312" pitchFamily="49" charset="-122"/>
              </a:rPr>
              <a:t>易出血</a:t>
            </a:r>
          </a:p>
        </p:txBody>
      </p:sp>
      <p:sp>
        <p:nvSpPr>
          <p:cNvPr id="180230" name="文本框 5">
            <a:extLst>
              <a:ext uri="{FF2B5EF4-FFF2-40B4-BE49-F238E27FC236}">
                <a16:creationId xmlns:a16="http://schemas.microsoft.com/office/drawing/2014/main" id="{9A90B6F7-4860-45E7-839A-CE5F58066496}"/>
              </a:ext>
            </a:extLst>
          </p:cNvPr>
          <p:cNvSpPr txBox="1">
            <a:spLocks noChangeArrowheads="1"/>
          </p:cNvSpPr>
          <p:nvPr/>
        </p:nvSpPr>
        <p:spPr bwMode="auto">
          <a:xfrm>
            <a:off x="8347076" y="1011908"/>
            <a:ext cx="23399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2000" b="0">
                <a:solidFill>
                  <a:srgbClr val="C00000"/>
                </a:solidFill>
                <a:latin typeface="Times New Roman" panose="02020603050405020304" pitchFamily="18" charset="0"/>
                <a:ea typeface="楷体_GB2312" pitchFamily="49" charset="-122"/>
              </a:rPr>
              <a:t>夜盲症、干眼症</a:t>
            </a:r>
          </a:p>
        </p:txBody>
      </p:sp>
      <p:sp>
        <p:nvSpPr>
          <p:cNvPr id="180231" name="文本框 6">
            <a:extLst>
              <a:ext uri="{FF2B5EF4-FFF2-40B4-BE49-F238E27FC236}">
                <a16:creationId xmlns:a16="http://schemas.microsoft.com/office/drawing/2014/main" id="{B4394DF6-6141-444A-A8D8-A086E86442D6}"/>
              </a:ext>
            </a:extLst>
          </p:cNvPr>
          <p:cNvSpPr txBox="1">
            <a:spLocks noChangeArrowheads="1"/>
          </p:cNvSpPr>
          <p:nvPr/>
        </p:nvSpPr>
        <p:spPr bwMode="auto">
          <a:xfrm>
            <a:off x="8479857" y="2577182"/>
            <a:ext cx="220719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2000" b="0" dirty="0">
                <a:solidFill>
                  <a:srgbClr val="C00000"/>
                </a:solidFill>
                <a:latin typeface="Times New Roman" panose="02020603050405020304" pitchFamily="18" charset="0"/>
                <a:ea typeface="楷体_GB2312" pitchFamily="49" charset="-122"/>
              </a:rPr>
              <a:t>糙皮病，</a:t>
            </a:r>
            <a:r>
              <a:rPr lang="en-US" altLang="zh-CN" sz="2000" b="0" dirty="0">
                <a:solidFill>
                  <a:srgbClr val="C00000"/>
                </a:solidFill>
                <a:latin typeface="Times New Roman" panose="02020603050405020304" pitchFamily="18" charset="0"/>
                <a:ea typeface="楷体_GB2312" pitchFamily="49" charset="-122"/>
              </a:rPr>
              <a:t>3D</a:t>
            </a:r>
            <a:r>
              <a:rPr lang="zh-CN" altLang="en-US" sz="2000" b="0" dirty="0">
                <a:solidFill>
                  <a:srgbClr val="C00000"/>
                </a:solidFill>
                <a:latin typeface="Times New Roman" panose="02020603050405020304" pitchFamily="18" charset="0"/>
                <a:ea typeface="楷体_GB2312" pitchFamily="49" charset="-122"/>
              </a:rPr>
              <a:t>症状</a:t>
            </a:r>
          </a:p>
        </p:txBody>
      </p:sp>
      <p:sp>
        <p:nvSpPr>
          <p:cNvPr id="180232" name="文本框 7">
            <a:extLst>
              <a:ext uri="{FF2B5EF4-FFF2-40B4-BE49-F238E27FC236}">
                <a16:creationId xmlns:a16="http://schemas.microsoft.com/office/drawing/2014/main" id="{C2613EA8-145B-40A5-B468-D10B81E73038}"/>
              </a:ext>
            </a:extLst>
          </p:cNvPr>
          <p:cNvSpPr txBox="1">
            <a:spLocks noChangeArrowheads="1"/>
          </p:cNvSpPr>
          <p:nvPr/>
        </p:nvSpPr>
        <p:spPr bwMode="auto">
          <a:xfrm>
            <a:off x="9126538" y="1794545"/>
            <a:ext cx="1217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2000" b="0">
                <a:solidFill>
                  <a:srgbClr val="C00000"/>
                </a:solidFill>
                <a:latin typeface="Times New Roman" panose="02020603050405020304" pitchFamily="18" charset="0"/>
                <a:ea typeface="楷体_GB2312" pitchFamily="49" charset="-122"/>
              </a:rPr>
              <a:t>脚气病</a:t>
            </a:r>
          </a:p>
        </p:txBody>
      </p:sp>
      <p:sp>
        <p:nvSpPr>
          <p:cNvPr id="180233" name="文本框 8">
            <a:extLst>
              <a:ext uri="{FF2B5EF4-FFF2-40B4-BE49-F238E27FC236}">
                <a16:creationId xmlns:a16="http://schemas.microsoft.com/office/drawing/2014/main" id="{D2D0F4E1-E5F7-4069-91AB-5D44A4367CD6}"/>
              </a:ext>
            </a:extLst>
          </p:cNvPr>
          <p:cNvSpPr txBox="1">
            <a:spLocks noChangeArrowheads="1"/>
          </p:cNvSpPr>
          <p:nvPr/>
        </p:nvSpPr>
        <p:spPr bwMode="auto">
          <a:xfrm>
            <a:off x="8904289" y="5983959"/>
            <a:ext cx="20161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1600" b="0">
                <a:solidFill>
                  <a:srgbClr val="C00000"/>
                </a:solidFill>
                <a:latin typeface="Times New Roman" panose="02020603050405020304" pitchFamily="18" charset="0"/>
                <a:ea typeface="楷体_GB2312" pitchFamily="49" charset="-122"/>
              </a:rPr>
              <a:t>巨幼红细胞贫血</a:t>
            </a:r>
          </a:p>
        </p:txBody>
      </p:sp>
      <p:sp>
        <p:nvSpPr>
          <p:cNvPr id="2" name="文本框 1">
            <a:extLst>
              <a:ext uri="{FF2B5EF4-FFF2-40B4-BE49-F238E27FC236}">
                <a16:creationId xmlns:a16="http://schemas.microsoft.com/office/drawing/2014/main" id="{70408D97-0629-CB1F-B726-59BBEC5A2A30}"/>
              </a:ext>
            </a:extLst>
          </p:cNvPr>
          <p:cNvSpPr txBox="1"/>
          <p:nvPr/>
        </p:nvSpPr>
        <p:spPr>
          <a:xfrm>
            <a:off x="3719736" y="269223"/>
            <a:ext cx="4968552" cy="584775"/>
          </a:xfrm>
          <a:prstGeom prst="rect">
            <a:avLst/>
          </a:prstGeom>
          <a:noFill/>
        </p:spPr>
        <p:txBody>
          <a:bodyPr wrap="square" rtlCol="0">
            <a:spAutoFit/>
          </a:bodyPr>
          <a:lstStyle/>
          <a:p>
            <a:pPr algn="ctr"/>
            <a:r>
              <a:rPr lang="zh-CN" altLang="en-US" b="0" dirty="0">
                <a:solidFill>
                  <a:srgbClr val="0000CC"/>
                </a:solidFill>
                <a:latin typeface="微软雅黑" panose="020B0503020204020204" pitchFamily="34" charset="-122"/>
                <a:ea typeface="微软雅黑" panose="020B0503020204020204" pitchFamily="34" charset="-122"/>
              </a:rPr>
              <a:t>维生素缺乏症状</a:t>
            </a: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9F207BDD-671F-4822-B1FC-27571E5EBA2C}"/>
              </a:ext>
            </a:extLst>
          </p:cNvPr>
          <p:cNvSpPr>
            <a:spLocks noGrp="1" noChangeArrowheads="1"/>
          </p:cNvSpPr>
          <p:nvPr>
            <p:ph type="title"/>
          </p:nvPr>
        </p:nvSpPr>
        <p:spPr>
          <a:xfrm>
            <a:off x="4595813" y="285750"/>
            <a:ext cx="3238500" cy="719138"/>
          </a:xfrm>
        </p:spPr>
        <p:txBody>
          <a:bodyPr/>
          <a:lstStyle/>
          <a:p>
            <a:pPr eaLnBrk="1" hangingPunct="1"/>
            <a:r>
              <a:rPr lang="zh-CN" altLang="en-US" sz="4000" b="1">
                <a:solidFill>
                  <a:srgbClr val="3333CC"/>
                </a:solidFill>
                <a:ea typeface="楷体_GB2312" pitchFamily="49" charset="-122"/>
              </a:rPr>
              <a:t>维生素中毒</a:t>
            </a:r>
          </a:p>
        </p:txBody>
      </p:sp>
      <p:sp>
        <p:nvSpPr>
          <p:cNvPr id="186371" name="Rectangle 4">
            <a:extLst>
              <a:ext uri="{FF2B5EF4-FFF2-40B4-BE49-F238E27FC236}">
                <a16:creationId xmlns:a16="http://schemas.microsoft.com/office/drawing/2014/main" id="{BC9705BC-FD1F-4221-A75C-78398CDA7C58}"/>
              </a:ext>
            </a:extLst>
          </p:cNvPr>
          <p:cNvSpPr>
            <a:spLocks noChangeArrowheads="1"/>
          </p:cNvSpPr>
          <p:nvPr/>
        </p:nvSpPr>
        <p:spPr bwMode="auto">
          <a:xfrm>
            <a:off x="2432051" y="1071563"/>
            <a:ext cx="75596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Clr>
                <a:srgbClr val="3333CC"/>
              </a:buClr>
              <a:buFont typeface="Wingdings" panose="05000000000000000000" pitchFamily="2" charset="2"/>
              <a:buChar char="l"/>
            </a:pPr>
            <a:r>
              <a:rPr lang="zh-CN" altLang="en-US" sz="2400" b="0">
                <a:latin typeface="Times New Roman" panose="02020603050405020304" pitchFamily="18" charset="0"/>
                <a:ea typeface="楷体_GB2312" pitchFamily="49" charset="-122"/>
              </a:rPr>
              <a:t> 维生素</a:t>
            </a:r>
            <a:r>
              <a:rPr lang="en-US" altLang="zh-CN" sz="2400" b="0">
                <a:latin typeface="Times New Roman" panose="02020603050405020304" pitchFamily="18" charset="0"/>
                <a:ea typeface="楷体_GB2312" pitchFamily="49" charset="-122"/>
              </a:rPr>
              <a:t>A:</a:t>
            </a:r>
            <a:br>
              <a:rPr lang="en-US" altLang="zh-CN" sz="2400" b="0">
                <a:latin typeface="Times New Roman" panose="02020603050405020304" pitchFamily="18" charset="0"/>
                <a:ea typeface="楷体_GB2312" pitchFamily="49" charset="-122"/>
              </a:rPr>
            </a:br>
            <a:r>
              <a:rPr lang="en-US" altLang="zh-CN" sz="2400" b="0">
                <a:latin typeface="Times New Roman" panose="02020603050405020304" pitchFamily="18" charset="0"/>
                <a:ea typeface="楷体_GB2312" pitchFamily="49" charset="-122"/>
              </a:rPr>
              <a:t>  </a:t>
            </a:r>
            <a:r>
              <a:rPr lang="zh-CN" altLang="en-US" sz="2400" b="0">
                <a:latin typeface="Times New Roman" panose="02020603050405020304" pitchFamily="18" charset="0"/>
                <a:ea typeface="楷体_GB2312" pitchFamily="49" charset="-122"/>
              </a:rPr>
              <a:t>长期日摄入</a:t>
            </a:r>
            <a:r>
              <a:rPr lang="en-US" altLang="zh-CN" sz="2400" b="0">
                <a:latin typeface="Times New Roman" panose="02020603050405020304" pitchFamily="18" charset="0"/>
                <a:ea typeface="楷体_GB2312" pitchFamily="49" charset="-122"/>
              </a:rPr>
              <a:t>50</a:t>
            </a:r>
            <a:r>
              <a:rPr lang="zh-CN" altLang="en-US" sz="2400" b="0">
                <a:latin typeface="Times New Roman" panose="02020603050405020304" pitchFamily="18" charset="0"/>
                <a:ea typeface="楷体_GB2312" pitchFamily="49" charset="-122"/>
              </a:rPr>
              <a:t>万单位，使生长停滞，肝脏受损。</a:t>
            </a:r>
          </a:p>
        </p:txBody>
      </p:sp>
      <p:sp>
        <p:nvSpPr>
          <p:cNvPr id="186372" name="Rectangle 5">
            <a:extLst>
              <a:ext uri="{FF2B5EF4-FFF2-40B4-BE49-F238E27FC236}">
                <a16:creationId xmlns:a16="http://schemas.microsoft.com/office/drawing/2014/main" id="{99C2EB2E-A6E1-4B89-B603-9FB7492328A8}"/>
              </a:ext>
            </a:extLst>
          </p:cNvPr>
          <p:cNvSpPr>
            <a:spLocks noChangeArrowheads="1"/>
          </p:cNvSpPr>
          <p:nvPr/>
        </p:nvSpPr>
        <p:spPr bwMode="auto">
          <a:xfrm>
            <a:off x="2452689" y="2214563"/>
            <a:ext cx="72739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Clr>
                <a:srgbClr val="3333CC"/>
              </a:buClr>
              <a:buSzPct val="110000"/>
              <a:buFont typeface="Wingdings" panose="05000000000000000000" pitchFamily="2" charset="2"/>
              <a:buChar char="l"/>
            </a:pPr>
            <a:r>
              <a:rPr lang="en-US" altLang="zh-CN" sz="2400" b="0" dirty="0">
                <a:latin typeface="Times New Roman" panose="02020603050405020304" pitchFamily="18" charset="0"/>
                <a:ea typeface="楷体_GB2312" pitchFamily="49" charset="-122"/>
              </a:rPr>
              <a:t> </a:t>
            </a:r>
            <a:r>
              <a:rPr lang="zh-CN" altLang="en-US" sz="2400" b="0" dirty="0">
                <a:latin typeface="Times New Roman" panose="02020603050405020304" pitchFamily="18" charset="0"/>
                <a:ea typeface="楷体_GB2312" pitchFamily="49" charset="-122"/>
              </a:rPr>
              <a:t>维生素 </a:t>
            </a:r>
            <a:r>
              <a:rPr lang="en-US" altLang="zh-CN" sz="2400" b="0" dirty="0">
                <a:latin typeface="Times New Roman" panose="02020603050405020304" pitchFamily="18" charset="0"/>
                <a:ea typeface="楷体_GB2312" pitchFamily="49" charset="-122"/>
              </a:rPr>
              <a:t>C</a:t>
            </a:r>
            <a:r>
              <a:rPr lang="zh-CN" altLang="en-US" sz="2400" b="0" dirty="0">
                <a:latin typeface="Times New Roman" panose="02020603050405020304" pitchFamily="18" charset="0"/>
                <a:ea typeface="楷体_GB2312" pitchFamily="49" charset="-122"/>
              </a:rPr>
              <a:t>：</a:t>
            </a:r>
            <a:br>
              <a:rPr lang="zh-CN" altLang="en-US" sz="2400" b="0" dirty="0">
                <a:latin typeface="Times New Roman" panose="02020603050405020304" pitchFamily="18" charset="0"/>
                <a:ea typeface="楷体_GB2312" pitchFamily="49" charset="-122"/>
              </a:rPr>
            </a:br>
            <a:r>
              <a:rPr lang="zh-CN" altLang="en-US" sz="2400" b="0" dirty="0">
                <a:latin typeface="Times New Roman" panose="02020603050405020304" pitchFamily="18" charset="0"/>
                <a:ea typeface="楷体_GB2312" pitchFamily="49" charset="-122"/>
              </a:rPr>
              <a:t>  过量摄入引起呕吐、荨麻疹、腹痛及尿结石。</a:t>
            </a:r>
          </a:p>
        </p:txBody>
      </p:sp>
      <p:sp>
        <p:nvSpPr>
          <p:cNvPr id="186373" name="Text Box 6">
            <a:extLst>
              <a:ext uri="{FF2B5EF4-FFF2-40B4-BE49-F238E27FC236}">
                <a16:creationId xmlns:a16="http://schemas.microsoft.com/office/drawing/2014/main" id="{D8F0ECB8-E893-471A-81E2-EB764E84B51E}"/>
              </a:ext>
            </a:extLst>
          </p:cNvPr>
          <p:cNvSpPr txBox="1">
            <a:spLocks noChangeArrowheads="1"/>
          </p:cNvSpPr>
          <p:nvPr/>
        </p:nvSpPr>
        <p:spPr bwMode="auto">
          <a:xfrm>
            <a:off x="2535238" y="3946525"/>
            <a:ext cx="79532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Clr>
                <a:srgbClr val="3333CC"/>
              </a:buClr>
              <a:buFont typeface="Wingdings" panose="05000000000000000000" pitchFamily="2" charset="2"/>
              <a:buChar char="l"/>
            </a:pPr>
            <a:r>
              <a:rPr lang="en-US" altLang="zh-CN" sz="2400" b="0" dirty="0">
                <a:latin typeface="Times New Roman" panose="02020603050405020304" pitchFamily="18" charset="0"/>
                <a:ea typeface="楷体_GB2312" pitchFamily="49" charset="-122"/>
              </a:rPr>
              <a:t> </a:t>
            </a:r>
            <a:r>
              <a:rPr lang="zh-CN" altLang="en-US" sz="2400" b="0" dirty="0">
                <a:latin typeface="Times New Roman" panose="02020603050405020304" pitchFamily="18" charset="0"/>
                <a:ea typeface="楷体_GB2312" pitchFamily="49" charset="-122"/>
              </a:rPr>
              <a:t>维生素 </a:t>
            </a:r>
            <a:r>
              <a:rPr lang="en-US" altLang="zh-CN" sz="2400" b="0" dirty="0">
                <a:latin typeface="Times New Roman" panose="02020603050405020304" pitchFamily="18" charset="0"/>
                <a:ea typeface="楷体_GB2312" pitchFamily="49" charset="-122"/>
              </a:rPr>
              <a:t>E:</a:t>
            </a:r>
            <a:br>
              <a:rPr lang="en-US" altLang="zh-CN" sz="2400" b="0" dirty="0">
                <a:latin typeface="Times New Roman" panose="02020603050405020304" pitchFamily="18" charset="0"/>
                <a:ea typeface="楷体_GB2312" pitchFamily="49" charset="-122"/>
              </a:rPr>
            </a:br>
            <a:r>
              <a:rPr lang="en-US" altLang="zh-CN" sz="2400" b="0" dirty="0">
                <a:latin typeface="Times New Roman" panose="02020603050405020304" pitchFamily="18" charset="0"/>
                <a:ea typeface="楷体_GB2312" pitchFamily="49" charset="-122"/>
              </a:rPr>
              <a:t> </a:t>
            </a:r>
            <a:r>
              <a:rPr lang="zh-CN" altLang="en-US" sz="2400" b="0" dirty="0">
                <a:latin typeface="Times New Roman" panose="02020603050405020304" pitchFamily="18" charset="0"/>
                <a:ea typeface="楷体_GB2312" pitchFamily="49" charset="-122"/>
              </a:rPr>
              <a:t>每天服用</a:t>
            </a:r>
            <a:r>
              <a:rPr lang="en-US" altLang="zh-CN" sz="2400" b="0" dirty="0">
                <a:latin typeface="Times New Roman" panose="02020603050405020304" pitchFamily="18" charset="0"/>
                <a:ea typeface="楷体_GB2312" pitchFamily="49" charset="-122"/>
              </a:rPr>
              <a:t>300-800</a:t>
            </a:r>
            <a:r>
              <a:rPr lang="zh-CN" altLang="en-US" sz="2400" b="0" dirty="0">
                <a:latin typeface="Times New Roman" panose="02020603050405020304" pitchFamily="18" charset="0"/>
                <a:ea typeface="楷体_GB2312" pitchFamily="49" charset="-122"/>
              </a:rPr>
              <a:t>毫克就有出现肌无力、疲倦、头痛和恶心等中毒症状的</a:t>
            </a:r>
            <a:r>
              <a:rPr lang="en-US" altLang="zh-CN" sz="2400" b="0" dirty="0">
                <a:latin typeface="Times New Roman" panose="02020603050405020304" pitchFamily="18" charset="0"/>
                <a:ea typeface="楷体_GB2312" pitchFamily="49" charset="-122"/>
              </a:rPr>
              <a:t>. </a:t>
            </a:r>
          </a:p>
        </p:txBody>
      </p:sp>
      <p:sp>
        <p:nvSpPr>
          <p:cNvPr id="6" name="矩形 5">
            <a:extLst>
              <a:ext uri="{FF2B5EF4-FFF2-40B4-BE49-F238E27FC236}">
                <a16:creationId xmlns:a16="http://schemas.microsoft.com/office/drawing/2014/main" id="{3E7FA7D9-1713-49D1-852C-996DBA494191}"/>
              </a:ext>
            </a:extLst>
          </p:cNvPr>
          <p:cNvSpPr>
            <a:spLocks noChangeArrowheads="1"/>
          </p:cNvSpPr>
          <p:nvPr/>
        </p:nvSpPr>
        <p:spPr bwMode="auto">
          <a:xfrm>
            <a:off x="2381250" y="5475289"/>
            <a:ext cx="8001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Clr>
                <a:srgbClr val="3333CC"/>
              </a:buClr>
              <a:buFont typeface="Wingdings" panose="05000000000000000000" pitchFamily="2" charset="2"/>
              <a:buChar char="l"/>
            </a:pPr>
            <a:r>
              <a:rPr lang="zh-CN" altLang="en-US" sz="2400" b="0" dirty="0">
                <a:solidFill>
                  <a:srgbClr val="0000CC"/>
                </a:solidFill>
                <a:latin typeface="Times New Roman" panose="02020603050405020304" pitchFamily="18" charset="0"/>
                <a:ea typeface="楷体_GB2312" pitchFamily="49" charset="-122"/>
              </a:rPr>
              <a:t>   除了</a:t>
            </a:r>
            <a:r>
              <a:rPr lang="en-US" altLang="zh-CN" sz="2400" b="0" dirty="0">
                <a:solidFill>
                  <a:srgbClr val="0000CC"/>
                </a:solidFill>
                <a:latin typeface="Times New Roman" panose="02020603050405020304" pitchFamily="18" charset="0"/>
                <a:ea typeface="楷体_GB2312" pitchFamily="49" charset="-122"/>
              </a:rPr>
              <a:t>B</a:t>
            </a:r>
            <a:r>
              <a:rPr lang="zh-CN" altLang="en-US" sz="2400" b="0" baseline="-25000" dirty="0">
                <a:solidFill>
                  <a:srgbClr val="0000CC"/>
                </a:solidFill>
                <a:latin typeface="Times New Roman" panose="02020603050405020304" pitchFamily="18" charset="0"/>
                <a:ea typeface="楷体_GB2312" pitchFamily="49" charset="-122"/>
              </a:rPr>
              <a:t>２</a:t>
            </a:r>
            <a:r>
              <a:rPr lang="zh-CN" altLang="en-US" sz="2400" b="0" dirty="0">
                <a:solidFill>
                  <a:srgbClr val="0000CC"/>
                </a:solidFill>
                <a:latin typeface="Times New Roman" panose="02020603050405020304" pitchFamily="18" charset="0"/>
                <a:ea typeface="楷体_GB2312" pitchFamily="49" charset="-122"/>
              </a:rPr>
              <a:t>、</a:t>
            </a:r>
            <a:r>
              <a:rPr lang="en-US" altLang="zh-CN" sz="2400" b="0" dirty="0">
                <a:solidFill>
                  <a:srgbClr val="0000CC"/>
                </a:solidFill>
                <a:latin typeface="Times New Roman" panose="02020603050405020304" pitchFamily="18" charset="0"/>
                <a:ea typeface="楷体_GB2312" pitchFamily="49" charset="-122"/>
              </a:rPr>
              <a:t>B</a:t>
            </a:r>
            <a:r>
              <a:rPr lang="zh-CN" altLang="en-US" sz="2400" b="0" baseline="-25000" dirty="0">
                <a:solidFill>
                  <a:srgbClr val="0000CC"/>
                </a:solidFill>
                <a:latin typeface="Times New Roman" panose="02020603050405020304" pitchFamily="18" charset="0"/>
                <a:ea typeface="楷体_GB2312" pitchFamily="49" charset="-122"/>
              </a:rPr>
              <a:t>７</a:t>
            </a:r>
            <a:r>
              <a:rPr lang="zh-CN" altLang="en-US" sz="2400" b="0" dirty="0">
                <a:solidFill>
                  <a:srgbClr val="0000CC"/>
                </a:solidFill>
                <a:latin typeface="Times New Roman" panose="02020603050405020304" pitchFamily="18" charset="0"/>
                <a:ea typeface="楷体_GB2312" pitchFamily="49" charset="-122"/>
              </a:rPr>
              <a:t>，过量服用各种维生素都已发现毒性作用</a:t>
            </a:r>
            <a:r>
              <a:rPr lang="zh-CN" altLang="en-US" sz="2400" b="0" dirty="0">
                <a:latin typeface="Times New Roman" panose="02020603050405020304" pitchFamily="18" charset="0"/>
                <a:ea typeface="楷体_GB2312" pitchFamily="49" charset="-122"/>
              </a:rPr>
              <a:t>。</a:t>
            </a:r>
            <a:endParaRPr lang="en-US" altLang="zh-CN" sz="2400" b="0" dirty="0">
              <a:latin typeface="Times New Roman" panose="02020603050405020304" pitchFamily="18" charset="0"/>
              <a:ea typeface="楷体_GB2312" pitchFamily="49" charset="-122"/>
            </a:endParaRPr>
          </a:p>
        </p:txBody>
      </p:sp>
      <p:sp>
        <p:nvSpPr>
          <p:cNvPr id="186375" name="Rectangle 5">
            <a:extLst>
              <a:ext uri="{FF2B5EF4-FFF2-40B4-BE49-F238E27FC236}">
                <a16:creationId xmlns:a16="http://schemas.microsoft.com/office/drawing/2014/main" id="{72DAD112-763F-4185-816E-699BBB035C70}"/>
              </a:ext>
            </a:extLst>
          </p:cNvPr>
          <p:cNvSpPr>
            <a:spLocks noChangeArrowheads="1"/>
          </p:cNvSpPr>
          <p:nvPr/>
        </p:nvSpPr>
        <p:spPr bwMode="auto">
          <a:xfrm>
            <a:off x="2536826" y="3286126"/>
            <a:ext cx="7273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Clr>
                <a:srgbClr val="3333CC"/>
              </a:buClr>
              <a:buSzPct val="110000"/>
              <a:buFont typeface="Wingdings" panose="05000000000000000000" pitchFamily="2" charset="2"/>
              <a:buChar char="l"/>
            </a:pPr>
            <a:r>
              <a:rPr lang="en-US" altLang="zh-CN" sz="2400" b="0" dirty="0">
                <a:latin typeface="Times New Roman" panose="02020603050405020304" pitchFamily="18" charset="0"/>
                <a:ea typeface="楷体_GB2312" pitchFamily="49" charset="-122"/>
              </a:rPr>
              <a:t> </a:t>
            </a:r>
            <a:r>
              <a:rPr lang="zh-CN" altLang="en-US" sz="2400" b="0" dirty="0">
                <a:latin typeface="Times New Roman" panose="02020603050405020304" pitchFamily="18" charset="0"/>
                <a:ea typeface="楷体_GB2312" pitchFamily="49" charset="-122"/>
              </a:rPr>
              <a:t>维生素</a:t>
            </a:r>
            <a:r>
              <a:rPr lang="en-US" altLang="zh-CN" sz="2400" b="0" dirty="0">
                <a:latin typeface="Times New Roman" panose="02020603050405020304" pitchFamily="18" charset="0"/>
                <a:ea typeface="楷体_GB2312" pitchFamily="49" charset="-122"/>
              </a:rPr>
              <a:t>D</a:t>
            </a:r>
            <a:endParaRPr lang="zh-CN" altLang="en-US" sz="2400" b="0" dirty="0">
              <a:latin typeface="Times New Roman" panose="02020603050405020304" pitchFamily="18" charset="0"/>
              <a:ea typeface="楷体_GB2312"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B19C48-C280-FC8D-7243-8E5ED42A66C7}"/>
              </a:ext>
            </a:extLst>
          </p:cNvPr>
          <p:cNvSpPr>
            <a:spLocks noGrp="1"/>
          </p:cNvSpPr>
          <p:nvPr>
            <p:ph type="title"/>
          </p:nvPr>
        </p:nvSpPr>
        <p:spPr>
          <a:xfrm>
            <a:off x="2152650" y="365126"/>
            <a:ext cx="7886700" cy="1047651"/>
          </a:xfrm>
        </p:spPr>
        <p:txBody>
          <a:bodyPr/>
          <a:lstStyle/>
          <a:p>
            <a:pPr algn="ctr"/>
            <a:r>
              <a:rPr lang="zh-CN" altLang="en-US" sz="3600" dirty="0">
                <a:solidFill>
                  <a:srgbClr val="0000CC"/>
                </a:solidFill>
                <a:latin typeface="微软雅黑" panose="020B0503020204020204" pitchFamily="34" charset="-122"/>
                <a:ea typeface="微软雅黑" panose="020B0503020204020204" pitchFamily="34" charset="-122"/>
              </a:rPr>
              <a:t>什么人需要补充维生素？</a:t>
            </a:r>
          </a:p>
        </p:txBody>
      </p:sp>
      <p:sp>
        <p:nvSpPr>
          <p:cNvPr id="3" name="内容占位符 2">
            <a:extLst>
              <a:ext uri="{FF2B5EF4-FFF2-40B4-BE49-F238E27FC236}">
                <a16:creationId xmlns:a16="http://schemas.microsoft.com/office/drawing/2014/main" id="{2CE0D9CE-5B93-08BD-4D05-88C23470F4AE}"/>
              </a:ext>
            </a:extLst>
          </p:cNvPr>
          <p:cNvSpPr>
            <a:spLocks noGrp="1"/>
          </p:cNvSpPr>
          <p:nvPr>
            <p:ph idx="1"/>
          </p:nvPr>
        </p:nvSpPr>
        <p:spPr>
          <a:xfrm>
            <a:off x="1595500" y="1556792"/>
            <a:ext cx="9001000" cy="4464496"/>
          </a:xfrm>
        </p:spPr>
        <p:txBody>
          <a:bodyPr/>
          <a:lstStyle/>
          <a:p>
            <a:pPr>
              <a:buFont typeface="Wingdings" panose="05000000000000000000" pitchFamily="2" charset="2"/>
              <a:buChar char="Ø"/>
            </a:pPr>
            <a:r>
              <a:rPr lang="zh-CN" altLang="en-US" sz="2600" dirty="0">
                <a:latin typeface="微软雅黑" panose="020B0503020204020204" pitchFamily="34" charset="-122"/>
                <a:ea typeface="微软雅黑" panose="020B0503020204020204" pitchFamily="34" charset="-122"/>
              </a:rPr>
              <a:t>健康成人，如有均衡饮食，无必要补充维生素。</a:t>
            </a:r>
            <a:endParaRPr lang="en-US" altLang="zh-CN" sz="2600" dirty="0">
              <a:latin typeface="微软雅黑" panose="020B0503020204020204" pitchFamily="34" charset="-122"/>
              <a:ea typeface="微软雅黑" panose="020B0503020204020204" pitchFamily="34" charset="-122"/>
            </a:endParaRPr>
          </a:p>
          <a:p>
            <a:pPr>
              <a:buFont typeface="Wingdings" panose="05000000000000000000" pitchFamily="2" charset="2"/>
              <a:buChar char="Ø"/>
            </a:pPr>
            <a:endParaRPr lang="en-US" altLang="zh-CN" sz="2600" dirty="0">
              <a:latin typeface="微软雅黑" panose="020B0503020204020204" pitchFamily="34" charset="-122"/>
              <a:ea typeface="微软雅黑" panose="020B0503020204020204" pitchFamily="34" charset="-122"/>
            </a:endParaRPr>
          </a:p>
          <a:p>
            <a:pPr>
              <a:lnSpc>
                <a:spcPct val="120000"/>
              </a:lnSpc>
              <a:buFont typeface="Wingdings" panose="05000000000000000000" pitchFamily="2" charset="2"/>
              <a:buChar char="Ø"/>
            </a:pPr>
            <a:r>
              <a:rPr lang="zh-CN" altLang="en-US" sz="2600" dirty="0">
                <a:solidFill>
                  <a:srgbClr val="0000CC"/>
                </a:solidFill>
                <a:latin typeface="微软雅黑" panose="020B0503020204020204" pitchFamily="34" charset="-122"/>
                <a:ea typeface="微软雅黑" panose="020B0503020204020204" pitchFamily="34" charset="-122"/>
              </a:rPr>
              <a:t>工作压力比较大</a:t>
            </a:r>
            <a:r>
              <a:rPr lang="zh-CN" altLang="en-US" sz="2600" dirty="0">
                <a:latin typeface="微软雅黑" panose="020B0503020204020204" pitchFamily="34" charset="-122"/>
                <a:ea typeface="微软雅黑" panose="020B0503020204020204" pitchFamily="34" charset="-122"/>
              </a:rPr>
              <a:t>的人群、经常上夜班的人或经常在高温、高热、寒冷等情况下工作的人，</a:t>
            </a:r>
            <a:r>
              <a:rPr lang="zh-CN" altLang="en-US" sz="2600" dirty="0">
                <a:solidFill>
                  <a:srgbClr val="0000CC"/>
                </a:solidFill>
                <a:latin typeface="微软雅黑" panose="020B0503020204020204" pitchFamily="34" charset="-122"/>
                <a:ea typeface="微软雅黑" panose="020B0503020204020204" pitchFamily="34" charset="-122"/>
              </a:rPr>
              <a:t>偏食</a:t>
            </a:r>
            <a:r>
              <a:rPr lang="zh-CN" altLang="en-US" sz="2600" dirty="0">
                <a:latin typeface="微软雅黑" panose="020B0503020204020204" pitchFamily="34" charset="-122"/>
                <a:ea typeface="微软雅黑" panose="020B0503020204020204" pitchFamily="34" charset="-122"/>
              </a:rPr>
              <a:t>的儿童、</a:t>
            </a:r>
            <a:r>
              <a:rPr lang="zh-CN" altLang="en-US" sz="2600" dirty="0">
                <a:solidFill>
                  <a:srgbClr val="0000CC"/>
                </a:solidFill>
                <a:latin typeface="微软雅黑" panose="020B0503020204020204" pitchFamily="34" charset="-122"/>
                <a:ea typeface="微软雅黑" panose="020B0503020204020204" pitchFamily="34" charset="-122"/>
              </a:rPr>
              <a:t>吃饭不规律</a:t>
            </a:r>
            <a:r>
              <a:rPr lang="zh-CN" altLang="en-US" sz="2600" dirty="0">
                <a:latin typeface="微软雅黑" panose="020B0503020204020204" pitchFamily="34" charset="-122"/>
                <a:ea typeface="微软雅黑" panose="020B0503020204020204" pitchFamily="34" charset="-122"/>
              </a:rPr>
              <a:t>的成年人、</a:t>
            </a:r>
            <a:r>
              <a:rPr lang="zh-CN" altLang="en-US" sz="2600" dirty="0">
                <a:solidFill>
                  <a:srgbClr val="0000CC"/>
                </a:solidFill>
                <a:latin typeface="微软雅黑" panose="020B0503020204020204" pitchFamily="34" charset="-122"/>
                <a:ea typeface="微软雅黑" panose="020B0503020204020204" pitchFamily="34" charset="-122"/>
              </a:rPr>
              <a:t>减肥者、素食者</a:t>
            </a:r>
            <a:r>
              <a:rPr lang="zh-CN" altLang="en-US" sz="2600" dirty="0">
                <a:latin typeface="微软雅黑" panose="020B0503020204020204" pitchFamily="34" charset="-122"/>
                <a:ea typeface="微软雅黑" panose="020B0503020204020204" pitchFamily="34" charset="-122"/>
              </a:rPr>
              <a:t>、营养需要大增的</a:t>
            </a:r>
            <a:r>
              <a:rPr lang="zh-CN" altLang="en-US" sz="2600" dirty="0">
                <a:solidFill>
                  <a:srgbClr val="0000CC"/>
                </a:solidFill>
                <a:latin typeface="微软雅黑" panose="020B0503020204020204" pitchFamily="34" charset="-122"/>
                <a:ea typeface="微软雅黑" panose="020B0503020204020204" pitchFamily="34" charset="-122"/>
              </a:rPr>
              <a:t>孕妇、病患</a:t>
            </a:r>
            <a:r>
              <a:rPr lang="zh-CN" altLang="en-US" sz="2600" dirty="0">
                <a:latin typeface="微软雅黑" panose="020B0503020204020204" pitchFamily="34" charset="-122"/>
                <a:ea typeface="微软雅黑" panose="020B0503020204020204" pitchFamily="34" charset="-122"/>
              </a:rPr>
              <a:t>等，适当补充维生素有益。 </a:t>
            </a:r>
            <a:endParaRPr lang="en-US" altLang="zh-CN" sz="2600" dirty="0">
              <a:latin typeface="微软雅黑" panose="020B0503020204020204" pitchFamily="34" charset="-122"/>
              <a:ea typeface="微软雅黑" panose="020B0503020204020204" pitchFamily="34" charset="-122"/>
            </a:endParaRPr>
          </a:p>
          <a:p>
            <a:pPr>
              <a:lnSpc>
                <a:spcPct val="120000"/>
              </a:lnSpc>
              <a:buFont typeface="Wingdings" panose="05000000000000000000" pitchFamily="2" charset="2"/>
              <a:buChar char="Ø"/>
            </a:pPr>
            <a:r>
              <a:rPr lang="zh-CN" altLang="en-US" sz="2600" dirty="0">
                <a:solidFill>
                  <a:srgbClr val="0000CC"/>
                </a:solidFill>
                <a:latin typeface="微软雅黑" panose="020B0503020204020204" pitchFamily="34" charset="-122"/>
                <a:ea typeface="微软雅黑" panose="020B0503020204020204" pitchFamily="34" charset="-122"/>
              </a:rPr>
              <a:t>晒太阳不足的人，尤其中老年人，建议常规补充</a:t>
            </a:r>
            <a:r>
              <a:rPr lang="en-US" altLang="zh-CN" sz="2600" dirty="0" err="1">
                <a:solidFill>
                  <a:srgbClr val="0000CC"/>
                </a:solidFill>
                <a:latin typeface="微软雅黑" panose="020B0503020204020204" pitchFamily="34" charset="-122"/>
                <a:ea typeface="微软雅黑" panose="020B0503020204020204" pitchFamily="34" charset="-122"/>
              </a:rPr>
              <a:t>VitD</a:t>
            </a:r>
            <a:r>
              <a:rPr lang="zh-CN" altLang="en-US" sz="2600" dirty="0">
                <a:solidFill>
                  <a:srgbClr val="0000CC"/>
                </a:solidFill>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普通人也可以常规补充</a:t>
            </a:r>
            <a:r>
              <a:rPr lang="zh-CN" altLang="en-US" sz="2200" dirty="0">
                <a:latin typeface="微软雅黑" panose="020B0503020204020204" pitchFamily="34" charset="-122"/>
                <a:ea typeface="微软雅黑" panose="020B0503020204020204" pitchFamily="34" charset="-122"/>
              </a:rPr>
              <a:t>（网上买欧美品牌的维</a:t>
            </a:r>
            <a:r>
              <a:rPr lang="en-US" altLang="zh-CN" sz="2200" dirty="0">
                <a:latin typeface="微软雅黑" panose="020B0503020204020204" pitchFamily="34" charset="-122"/>
                <a:ea typeface="微软雅黑" panose="020B0503020204020204" pitchFamily="34" charset="-122"/>
              </a:rPr>
              <a:t>D</a:t>
            </a:r>
            <a:r>
              <a:rPr lang="zh-CN" altLang="en-US" sz="2200" dirty="0">
                <a:latin typeface="微软雅黑" panose="020B0503020204020204" pitchFamily="34" charset="-122"/>
                <a:ea typeface="微软雅黑" panose="020B0503020204020204" pitchFamily="34" charset="-122"/>
              </a:rPr>
              <a:t>胶囊比国产的便宜）。</a:t>
            </a:r>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C964E5-FEF4-813C-720B-7D3ECB80D9AC}"/>
              </a:ext>
            </a:extLst>
          </p:cNvPr>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ctr"/>
            <a:r>
              <a:rPr lang="zh-CN" altLang="en-US" sz="3600" dirty="0">
                <a:solidFill>
                  <a:srgbClr val="0000CC"/>
                </a:solidFill>
                <a:latin typeface="微软雅黑" panose="020B0503020204020204" pitchFamily="34" charset="-122"/>
                <a:ea typeface="微软雅黑" panose="020B0503020204020204" pitchFamily="34" charset="-122"/>
              </a:rPr>
              <a:t>如何增加维生素摄入量？</a:t>
            </a:r>
          </a:p>
        </p:txBody>
      </p:sp>
      <p:sp>
        <p:nvSpPr>
          <p:cNvPr id="3" name="内容占位符 2">
            <a:extLst>
              <a:ext uri="{FF2B5EF4-FFF2-40B4-BE49-F238E27FC236}">
                <a16:creationId xmlns:a16="http://schemas.microsoft.com/office/drawing/2014/main" id="{AA5ECA47-C3F2-2C9B-68E5-5A097552FE12}"/>
              </a:ext>
            </a:extLst>
          </p:cNvPr>
          <p:cNvSpPr>
            <a:spLocks noGrp="1"/>
          </p:cNvSpPr>
          <p:nvPr>
            <p:ph idx="1"/>
          </p:nvPr>
        </p:nvSpPr>
        <p:spPr>
          <a:xfrm>
            <a:off x="2423592" y="1690688"/>
            <a:ext cx="7975798" cy="4536504"/>
          </a:xfrm>
        </p:spPr>
        <p:txBody>
          <a:bodyPr/>
          <a:lstStyle/>
          <a:p>
            <a:pPr>
              <a:lnSpc>
                <a:spcPct val="100000"/>
              </a:lnSpc>
            </a:pPr>
            <a:r>
              <a:rPr lang="zh-CN" altLang="en-US" dirty="0">
                <a:solidFill>
                  <a:srgbClr val="0000CC"/>
                </a:solidFill>
                <a:latin typeface="微软雅黑" panose="020B0503020204020204" pitchFamily="34" charset="-122"/>
                <a:ea typeface="微软雅黑" panose="020B0503020204020204" pitchFamily="34" charset="-122"/>
              </a:rPr>
              <a:t>天然食材多样化</a:t>
            </a:r>
            <a:endParaRPr lang="en-US" altLang="zh-CN" dirty="0">
              <a:solidFill>
                <a:srgbClr val="0000CC"/>
              </a:solidFill>
              <a:latin typeface="微软雅黑" panose="020B0503020204020204" pitchFamily="34" charset="-122"/>
              <a:ea typeface="微软雅黑" panose="020B0503020204020204" pitchFamily="34" charset="-122"/>
            </a:endParaRPr>
          </a:p>
          <a:p>
            <a:pPr>
              <a:lnSpc>
                <a:spcPct val="100000"/>
              </a:lnSpc>
            </a:pPr>
            <a:r>
              <a:rPr lang="zh-CN" altLang="en-US" dirty="0">
                <a:latin typeface="微软雅黑" panose="020B0503020204020204" pitchFamily="34" charset="-122"/>
                <a:ea typeface="微软雅黑" panose="020B0503020204020204" pitchFamily="34" charset="-122"/>
              </a:rPr>
              <a:t>少吃高温、滚油烹调的菜，多吃凉拌青菜</a:t>
            </a:r>
            <a:endParaRPr lang="en-US" altLang="zh-CN" dirty="0">
              <a:latin typeface="微软雅黑" panose="020B0503020204020204" pitchFamily="34" charset="-122"/>
              <a:ea typeface="微软雅黑" panose="020B0503020204020204" pitchFamily="34" charset="-122"/>
            </a:endParaRPr>
          </a:p>
          <a:p>
            <a:pPr>
              <a:lnSpc>
                <a:spcPct val="100000"/>
              </a:lnSpc>
            </a:pPr>
            <a:r>
              <a:rPr lang="zh-CN" altLang="en-US" dirty="0">
                <a:latin typeface="微软雅黑" panose="020B0503020204020204" pitchFamily="34" charset="-122"/>
                <a:ea typeface="微软雅黑" panose="020B0503020204020204" pitchFamily="34" charset="-122"/>
              </a:rPr>
              <a:t>不要将蔬菜长时间浸泡和搓洗</a:t>
            </a:r>
            <a:endParaRPr lang="en-US" altLang="zh-CN" dirty="0">
              <a:latin typeface="微软雅黑" panose="020B0503020204020204" pitchFamily="34" charset="-122"/>
              <a:ea typeface="微软雅黑" panose="020B0503020204020204" pitchFamily="34" charset="-122"/>
            </a:endParaRPr>
          </a:p>
          <a:p>
            <a:pPr>
              <a:lnSpc>
                <a:spcPct val="100000"/>
              </a:lnSpc>
            </a:pPr>
            <a:r>
              <a:rPr lang="zh-CN" altLang="en-US" dirty="0">
                <a:latin typeface="微软雅黑" panose="020B0503020204020204" pitchFamily="34" charset="-122"/>
                <a:ea typeface="微软雅黑" panose="020B0503020204020204" pitchFamily="34" charset="-122"/>
              </a:rPr>
              <a:t>蔬菜汤，弃掉可惜</a:t>
            </a:r>
            <a:endParaRPr lang="en-US" altLang="zh-CN" dirty="0">
              <a:latin typeface="微软雅黑" panose="020B0503020204020204" pitchFamily="34" charset="-122"/>
              <a:ea typeface="微软雅黑" panose="020B0503020204020204" pitchFamily="34" charset="-122"/>
            </a:endParaRPr>
          </a:p>
          <a:p>
            <a:pPr>
              <a:lnSpc>
                <a:spcPct val="100000"/>
              </a:lnSpc>
            </a:pPr>
            <a:r>
              <a:rPr lang="zh-CN" altLang="en-US" dirty="0">
                <a:latin typeface="微软雅黑" panose="020B0503020204020204" pitchFamily="34" charset="-122"/>
                <a:ea typeface="微软雅黑" panose="020B0503020204020204" pitchFamily="34" charset="-122"/>
              </a:rPr>
              <a:t>水果和蔬菜不应长时间放置</a:t>
            </a:r>
            <a:endParaRPr lang="en-US" altLang="zh-CN" dirty="0">
              <a:latin typeface="微软雅黑" panose="020B0503020204020204" pitchFamily="34" charset="-122"/>
              <a:ea typeface="微软雅黑" panose="020B0503020204020204" pitchFamily="34" charset="-122"/>
            </a:endParaRPr>
          </a:p>
          <a:p>
            <a:pPr>
              <a:lnSpc>
                <a:spcPct val="100000"/>
              </a:lnSpc>
            </a:pPr>
            <a:r>
              <a:rPr lang="zh-CN" altLang="en-US" dirty="0">
                <a:latin typeface="微软雅黑" panose="020B0503020204020204" pitchFamily="34" charset="-122"/>
                <a:ea typeface="微软雅黑" panose="020B0503020204020204" pitchFamily="34" charset="-122"/>
              </a:rPr>
              <a:t>胡萝卜炒熟后食用</a:t>
            </a:r>
            <a:endParaRPr lang="en-US" altLang="zh-CN" dirty="0">
              <a:latin typeface="微软雅黑" panose="020B0503020204020204" pitchFamily="34" charset="-122"/>
              <a:ea typeface="微软雅黑" panose="020B0503020204020204" pitchFamily="34" charset="-122"/>
            </a:endParaRPr>
          </a:p>
          <a:p>
            <a:pPr>
              <a:lnSpc>
                <a:spcPct val="100000"/>
              </a:lnSpc>
            </a:pPr>
            <a:r>
              <a:rPr lang="zh-CN" altLang="en-US" dirty="0">
                <a:latin typeface="微软雅黑" panose="020B0503020204020204" pitchFamily="34" charset="-122"/>
                <a:ea typeface="微软雅黑" panose="020B0503020204020204" pitchFamily="34" charset="-122"/>
              </a:rPr>
              <a:t>杂粮（比如全谷类，豆类、薯类）胜过精制米面</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7BE47342-B4B2-45C9-9C1B-6A8A605A2788}"/>
              </a:ext>
            </a:extLst>
          </p:cNvPr>
          <p:cNvSpPr>
            <a:spLocks noGrp="1" noChangeArrowheads="1"/>
          </p:cNvSpPr>
          <p:nvPr>
            <p:ph idx="1"/>
          </p:nvPr>
        </p:nvSpPr>
        <p:spPr>
          <a:xfrm>
            <a:off x="1991545" y="404664"/>
            <a:ext cx="8928992" cy="5833194"/>
          </a:xfrm>
        </p:spPr>
        <p:txBody>
          <a:bodyPr rtlCol="0">
            <a:normAutofit lnSpcReduction="10000"/>
          </a:bodyPr>
          <a:lstStyle/>
          <a:p>
            <a:pPr algn="ctr" eaLnBrk="1" fontAlgn="auto" hangingPunct="1">
              <a:lnSpc>
                <a:spcPct val="120000"/>
              </a:lnSpc>
              <a:spcAft>
                <a:spcPts val="0"/>
              </a:spcAft>
              <a:buNone/>
              <a:defRPr/>
            </a:pPr>
            <a:r>
              <a:rPr lang="zh-CN" altLang="en-US" sz="3600" dirty="0">
                <a:solidFill>
                  <a:srgbClr val="C00000"/>
                </a:solidFill>
                <a:latin typeface="黑体" panose="02010609060101010101" pitchFamily="49" charset="-122"/>
                <a:ea typeface="黑体" panose="02010609060101010101" pitchFamily="49" charset="-122"/>
              </a:rPr>
              <a:t>我们有必要吃复合维生素片吗</a:t>
            </a:r>
            <a:r>
              <a:rPr lang="en-US" altLang="zh-CN" sz="3600" dirty="0">
                <a:solidFill>
                  <a:srgbClr val="C00000"/>
                </a:solidFill>
                <a:latin typeface="黑体" panose="02010609060101010101" pitchFamily="49" charset="-122"/>
                <a:ea typeface="黑体" panose="02010609060101010101" pitchFamily="49" charset="-122"/>
              </a:rPr>
              <a:t>?</a:t>
            </a:r>
          </a:p>
          <a:p>
            <a:pPr algn="ctr" eaLnBrk="1" fontAlgn="auto" hangingPunct="1">
              <a:lnSpc>
                <a:spcPct val="120000"/>
              </a:lnSpc>
              <a:spcAft>
                <a:spcPts val="0"/>
              </a:spcAft>
              <a:buNone/>
              <a:defRPr/>
            </a:pPr>
            <a:endParaRPr lang="en-US" altLang="zh-CN" dirty="0">
              <a:latin typeface="黑体" panose="02010609060101010101" pitchFamily="49" charset="-122"/>
              <a:ea typeface="黑体" panose="02010609060101010101" pitchFamily="49" charset="-122"/>
            </a:endParaRPr>
          </a:p>
          <a:p>
            <a:pPr eaLnBrk="1" fontAlgn="auto" hangingPunct="1">
              <a:lnSpc>
                <a:spcPct val="120000"/>
              </a:lnSpc>
              <a:spcAft>
                <a:spcPts val="0"/>
              </a:spcAft>
              <a:defRPr/>
            </a:pPr>
            <a:r>
              <a:rPr lang="zh-CN" altLang="en-US" dirty="0">
                <a:latin typeface="黑体" panose="02010609060101010101" pitchFamily="49" charset="-122"/>
                <a:ea typeface="黑体" panose="02010609060101010101" pitchFamily="49" charset="-122"/>
              </a:rPr>
              <a:t>复合维生素片含有人体每天最低需求量的所有维生素、矿物质中的大部分或全部。</a:t>
            </a:r>
            <a:endParaRPr lang="en-US" altLang="zh-CN" dirty="0">
              <a:latin typeface="黑体" panose="02010609060101010101" pitchFamily="49" charset="-122"/>
              <a:ea typeface="黑体" panose="02010609060101010101" pitchFamily="49" charset="-122"/>
            </a:endParaRPr>
          </a:p>
          <a:p>
            <a:pPr eaLnBrk="1" fontAlgn="auto" hangingPunct="1">
              <a:lnSpc>
                <a:spcPct val="120000"/>
              </a:lnSpc>
              <a:spcAft>
                <a:spcPts val="0"/>
              </a:spcAft>
              <a:defRPr/>
            </a:pPr>
            <a:endParaRPr lang="en-US" altLang="zh-CN" dirty="0">
              <a:latin typeface="黑体" panose="02010609060101010101" pitchFamily="49" charset="-122"/>
              <a:ea typeface="黑体" panose="02010609060101010101" pitchFamily="49" charset="-122"/>
            </a:endParaRPr>
          </a:p>
          <a:p>
            <a:pPr eaLnBrk="1" fontAlgn="auto" hangingPunct="1">
              <a:lnSpc>
                <a:spcPct val="120000"/>
              </a:lnSpc>
              <a:spcAft>
                <a:spcPts val="0"/>
              </a:spcAft>
              <a:defRPr/>
            </a:pPr>
            <a:r>
              <a:rPr lang="zh-CN" altLang="en-US" dirty="0"/>
              <a:t>美国很多食品普遍强化了营养素，普通人再额外补充维生素的意义可疑。但</a:t>
            </a:r>
            <a:r>
              <a:rPr lang="zh-CN" altLang="en-US" b="1" dirty="0"/>
              <a:t>中国的食品，营养强化并不普遍，国人缺营养素的情况多见</a:t>
            </a:r>
            <a:r>
              <a:rPr lang="zh-CN" altLang="en-US" dirty="0"/>
              <a:t>。</a:t>
            </a:r>
            <a:endParaRPr lang="en-US" altLang="zh-CN" dirty="0"/>
          </a:p>
          <a:p>
            <a:pPr eaLnBrk="1" fontAlgn="auto" hangingPunct="1">
              <a:lnSpc>
                <a:spcPct val="120000"/>
              </a:lnSpc>
              <a:spcAft>
                <a:spcPts val="0"/>
              </a:spcAft>
              <a:defRPr/>
            </a:pPr>
            <a:endParaRPr lang="en-US" altLang="zh-CN" dirty="0">
              <a:latin typeface="黑体" panose="02010609060101010101" pitchFamily="49" charset="-122"/>
              <a:ea typeface="黑体" panose="02010609060101010101" pitchFamily="49" charset="-122"/>
            </a:endParaRPr>
          </a:p>
          <a:p>
            <a:pPr eaLnBrk="1" hangingPunct="1"/>
            <a:r>
              <a:rPr lang="zh-CN" altLang="en-US" dirty="0">
                <a:solidFill>
                  <a:srgbClr val="C00000"/>
                </a:solidFill>
                <a:latin typeface="黑体" panose="02010609060101010101" pitchFamily="49" charset="-122"/>
                <a:ea typeface="黑体" panose="02010609060101010101" pitchFamily="49" charset="-122"/>
              </a:rPr>
              <a:t>是否需要因人而异</a:t>
            </a:r>
          </a:p>
          <a:p>
            <a:pPr eaLnBrk="1" fontAlgn="auto" hangingPunct="1">
              <a:lnSpc>
                <a:spcPct val="120000"/>
              </a:lnSpc>
              <a:spcAft>
                <a:spcPts val="0"/>
              </a:spcAft>
              <a:defRPr/>
            </a:pPr>
            <a:endParaRPr lang="en-US" altLang="zh-CN" dirty="0">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400219B-1AF2-96E0-EEA9-B781BB2BAE0E}"/>
              </a:ext>
            </a:extLst>
          </p:cNvPr>
          <p:cNvPicPr>
            <a:picLocks noChangeAspect="1"/>
          </p:cNvPicPr>
          <p:nvPr/>
        </p:nvPicPr>
        <p:blipFill>
          <a:blip r:embed="rId3"/>
          <a:stretch>
            <a:fillRect/>
          </a:stretch>
        </p:blipFill>
        <p:spPr>
          <a:xfrm>
            <a:off x="1199456" y="332656"/>
            <a:ext cx="2076704" cy="2867025"/>
          </a:xfrm>
          <a:prstGeom prst="rect">
            <a:avLst/>
          </a:prstGeom>
        </p:spPr>
      </p:pic>
      <p:pic>
        <p:nvPicPr>
          <p:cNvPr id="4" name="图片 3">
            <a:extLst>
              <a:ext uri="{FF2B5EF4-FFF2-40B4-BE49-F238E27FC236}">
                <a16:creationId xmlns:a16="http://schemas.microsoft.com/office/drawing/2014/main" id="{E32E859B-1B76-7A07-1B80-35ACF85AC74F}"/>
              </a:ext>
            </a:extLst>
          </p:cNvPr>
          <p:cNvPicPr>
            <a:picLocks noChangeAspect="1"/>
          </p:cNvPicPr>
          <p:nvPr/>
        </p:nvPicPr>
        <p:blipFill>
          <a:blip r:embed="rId4"/>
          <a:stretch>
            <a:fillRect/>
          </a:stretch>
        </p:blipFill>
        <p:spPr>
          <a:xfrm>
            <a:off x="3179221" y="332655"/>
            <a:ext cx="1980675" cy="2857500"/>
          </a:xfrm>
          <a:prstGeom prst="rect">
            <a:avLst/>
          </a:prstGeom>
        </p:spPr>
      </p:pic>
      <p:sp>
        <p:nvSpPr>
          <p:cNvPr id="7" name="文本框 6">
            <a:extLst>
              <a:ext uri="{FF2B5EF4-FFF2-40B4-BE49-F238E27FC236}">
                <a16:creationId xmlns:a16="http://schemas.microsoft.com/office/drawing/2014/main" id="{C7746F6F-B791-CE35-8F37-FF5C97B1AB85}"/>
              </a:ext>
            </a:extLst>
          </p:cNvPr>
          <p:cNvSpPr txBox="1"/>
          <p:nvPr/>
        </p:nvSpPr>
        <p:spPr>
          <a:xfrm>
            <a:off x="5255925" y="1412776"/>
            <a:ext cx="5992883" cy="1485728"/>
          </a:xfrm>
          <a:prstGeom prst="rect">
            <a:avLst/>
          </a:prstGeom>
          <a:noFill/>
        </p:spPr>
        <p:txBody>
          <a:bodyPr wrap="square" rtlCol="0">
            <a:spAutoFit/>
          </a:bodyPr>
          <a:lstStyle/>
          <a:p>
            <a:pPr>
              <a:lnSpc>
                <a:spcPct val="130000"/>
              </a:lnSpc>
            </a:pPr>
            <a:r>
              <a:rPr lang="zh-CN" altLang="en-US" sz="2400" b="0" dirty="0">
                <a:solidFill>
                  <a:schemeClr val="tx1">
                    <a:lumMod val="95000"/>
                    <a:lumOff val="5000"/>
                  </a:schemeClr>
                </a:solidFill>
              </a:rPr>
              <a:t>药店或网上有售国内不同药厂生产的作为</a:t>
            </a:r>
            <a:r>
              <a:rPr lang="en-US" altLang="zh-CN" sz="2400" b="0" dirty="0">
                <a:solidFill>
                  <a:srgbClr val="0000CC"/>
                </a:solidFill>
              </a:rPr>
              <a:t>OTC</a:t>
            </a:r>
            <a:r>
              <a:rPr lang="zh-CN" altLang="en-US" sz="2400" b="0" dirty="0">
                <a:solidFill>
                  <a:srgbClr val="0000CC"/>
                </a:solidFill>
              </a:rPr>
              <a:t>的复合维生素</a:t>
            </a:r>
            <a:r>
              <a:rPr lang="en-US" altLang="zh-CN" sz="2400" b="0" dirty="0">
                <a:solidFill>
                  <a:srgbClr val="0000CC"/>
                </a:solidFill>
              </a:rPr>
              <a:t>B</a:t>
            </a:r>
            <a:r>
              <a:rPr lang="zh-CN" altLang="en-US" sz="2400" b="0" dirty="0">
                <a:solidFill>
                  <a:srgbClr val="0000CC"/>
                </a:solidFill>
              </a:rPr>
              <a:t>片</a:t>
            </a:r>
            <a:r>
              <a:rPr lang="zh-CN" altLang="en-US" sz="2400" b="0" dirty="0">
                <a:solidFill>
                  <a:schemeClr val="tx1">
                    <a:lumMod val="95000"/>
                    <a:lumOff val="5000"/>
                  </a:schemeClr>
                </a:solidFill>
              </a:rPr>
              <a:t>，一盒</a:t>
            </a:r>
            <a:r>
              <a:rPr lang="en-US" altLang="zh-CN" sz="2400" b="0" dirty="0">
                <a:solidFill>
                  <a:schemeClr val="tx1">
                    <a:lumMod val="95000"/>
                    <a:lumOff val="5000"/>
                  </a:schemeClr>
                </a:solidFill>
              </a:rPr>
              <a:t>100</a:t>
            </a:r>
            <a:r>
              <a:rPr lang="zh-CN" altLang="en-US" sz="2400" b="0" dirty="0">
                <a:solidFill>
                  <a:schemeClr val="tx1">
                    <a:lumMod val="95000"/>
                    <a:lumOff val="5000"/>
                  </a:schemeClr>
                </a:solidFill>
              </a:rPr>
              <a:t>片仅需</a:t>
            </a:r>
            <a:r>
              <a:rPr lang="en-US" altLang="zh-CN" sz="2400" b="0" dirty="0">
                <a:solidFill>
                  <a:schemeClr val="tx1">
                    <a:lumMod val="95000"/>
                    <a:lumOff val="5000"/>
                  </a:schemeClr>
                </a:solidFill>
              </a:rPr>
              <a:t>5</a:t>
            </a:r>
            <a:r>
              <a:rPr lang="zh-CN" altLang="en-US" sz="2400" b="0" dirty="0">
                <a:solidFill>
                  <a:schemeClr val="tx1">
                    <a:lumMod val="95000"/>
                    <a:lumOff val="5000"/>
                  </a:schemeClr>
                </a:solidFill>
              </a:rPr>
              <a:t>元左右。主要成分相同，如下： </a:t>
            </a:r>
          </a:p>
        </p:txBody>
      </p:sp>
      <p:sp>
        <p:nvSpPr>
          <p:cNvPr id="8" name="文本框 7">
            <a:extLst>
              <a:ext uri="{FF2B5EF4-FFF2-40B4-BE49-F238E27FC236}">
                <a16:creationId xmlns:a16="http://schemas.microsoft.com/office/drawing/2014/main" id="{88A426EF-2AA0-FEA4-F58F-415B7D0A4078}"/>
              </a:ext>
            </a:extLst>
          </p:cNvPr>
          <p:cNvSpPr txBox="1"/>
          <p:nvPr/>
        </p:nvSpPr>
        <p:spPr>
          <a:xfrm>
            <a:off x="1215954" y="3461657"/>
            <a:ext cx="10225136" cy="2445991"/>
          </a:xfrm>
          <a:prstGeom prst="rect">
            <a:avLst/>
          </a:prstGeom>
          <a:noFill/>
        </p:spPr>
        <p:txBody>
          <a:bodyPr wrap="square" rtlCol="0">
            <a:spAutoFit/>
          </a:bodyPr>
          <a:lstStyle/>
          <a:p>
            <a:pPr>
              <a:lnSpc>
                <a:spcPct val="130000"/>
              </a:lnSpc>
            </a:pPr>
            <a:r>
              <a:rPr lang="zh-CN" altLang="en-US" sz="2400" b="0" dirty="0">
                <a:solidFill>
                  <a:schemeClr val="tx1">
                    <a:lumMod val="95000"/>
                    <a:lumOff val="5000"/>
                  </a:schemeClr>
                </a:solidFill>
              </a:rPr>
              <a:t>每片含主要成分： </a:t>
            </a:r>
            <a:r>
              <a:rPr lang="en-US" altLang="zh-CN" sz="2400" b="0" dirty="0">
                <a:solidFill>
                  <a:srgbClr val="C00000"/>
                </a:solidFill>
              </a:rPr>
              <a:t>B</a:t>
            </a:r>
            <a:r>
              <a:rPr lang="en-US" altLang="zh-CN" sz="2400" b="0" baseline="-25000" dirty="0">
                <a:solidFill>
                  <a:srgbClr val="C00000"/>
                </a:solidFill>
              </a:rPr>
              <a:t>1</a:t>
            </a:r>
            <a:r>
              <a:rPr lang="en-US" altLang="zh-CN" sz="2400" b="0" dirty="0">
                <a:solidFill>
                  <a:schemeClr val="tx1">
                    <a:lumMod val="95000"/>
                    <a:lumOff val="5000"/>
                  </a:schemeClr>
                </a:solidFill>
              </a:rPr>
              <a:t> 3 </a:t>
            </a:r>
            <a:r>
              <a:rPr lang="zh-CN" altLang="en-US" sz="2400" b="0" dirty="0">
                <a:solidFill>
                  <a:schemeClr val="tx1">
                    <a:lumMod val="95000"/>
                    <a:lumOff val="5000"/>
                  </a:schemeClr>
                </a:solidFill>
              </a:rPr>
              <a:t>毫克， </a:t>
            </a:r>
            <a:r>
              <a:rPr lang="en-US" altLang="zh-CN" sz="2400" b="0" dirty="0">
                <a:solidFill>
                  <a:srgbClr val="C00000"/>
                </a:solidFill>
              </a:rPr>
              <a:t>B</a:t>
            </a:r>
            <a:r>
              <a:rPr lang="en-US" altLang="zh-CN" sz="2400" b="0" baseline="-25000" dirty="0">
                <a:solidFill>
                  <a:srgbClr val="C00000"/>
                </a:solidFill>
              </a:rPr>
              <a:t>2</a:t>
            </a:r>
            <a:r>
              <a:rPr lang="en-US" altLang="zh-CN" sz="2400" b="0" dirty="0">
                <a:solidFill>
                  <a:srgbClr val="C00000"/>
                </a:solidFill>
              </a:rPr>
              <a:t> </a:t>
            </a:r>
            <a:r>
              <a:rPr lang="en-US" altLang="zh-CN" sz="2400" b="0" dirty="0">
                <a:solidFill>
                  <a:schemeClr val="tx1">
                    <a:lumMod val="95000"/>
                    <a:lumOff val="5000"/>
                  </a:schemeClr>
                </a:solidFill>
              </a:rPr>
              <a:t>1.5</a:t>
            </a:r>
            <a:r>
              <a:rPr lang="zh-CN" altLang="en-US" sz="2400" b="0" dirty="0">
                <a:solidFill>
                  <a:schemeClr val="tx1">
                    <a:lumMod val="95000"/>
                    <a:lumOff val="5000"/>
                  </a:schemeClr>
                </a:solidFill>
              </a:rPr>
              <a:t>毫克，</a:t>
            </a:r>
            <a:r>
              <a:rPr lang="zh-CN" altLang="en-US" sz="2400" b="0" dirty="0">
                <a:solidFill>
                  <a:srgbClr val="C00000"/>
                </a:solidFill>
              </a:rPr>
              <a:t> </a:t>
            </a:r>
            <a:r>
              <a:rPr lang="en-US" altLang="zh-CN" sz="2400" b="0" dirty="0">
                <a:solidFill>
                  <a:srgbClr val="C00000"/>
                </a:solidFill>
              </a:rPr>
              <a:t>B</a:t>
            </a:r>
            <a:r>
              <a:rPr lang="en-US" altLang="zh-CN" sz="2400" b="0" baseline="-25000" dirty="0">
                <a:solidFill>
                  <a:srgbClr val="C00000"/>
                </a:solidFill>
              </a:rPr>
              <a:t>6</a:t>
            </a:r>
            <a:r>
              <a:rPr lang="en-US" altLang="zh-CN" sz="2400" b="0" dirty="0">
                <a:solidFill>
                  <a:srgbClr val="C00000"/>
                </a:solidFill>
              </a:rPr>
              <a:t> </a:t>
            </a:r>
            <a:r>
              <a:rPr lang="en-US" altLang="zh-CN" sz="2400" b="0" dirty="0">
                <a:solidFill>
                  <a:schemeClr val="tx1">
                    <a:lumMod val="95000"/>
                    <a:lumOff val="5000"/>
                  </a:schemeClr>
                </a:solidFill>
              </a:rPr>
              <a:t>0.2</a:t>
            </a:r>
            <a:r>
              <a:rPr lang="zh-CN" altLang="en-US" sz="2400" b="0" dirty="0">
                <a:solidFill>
                  <a:schemeClr val="tx1">
                    <a:lumMod val="95000"/>
                    <a:lumOff val="5000"/>
                  </a:schemeClr>
                </a:solidFill>
              </a:rPr>
              <a:t>毫克，烟酰胺（</a:t>
            </a:r>
            <a:r>
              <a:rPr lang="en-US" altLang="zh-CN" sz="2400" b="0" dirty="0">
                <a:solidFill>
                  <a:srgbClr val="C00000"/>
                </a:solidFill>
              </a:rPr>
              <a:t>B</a:t>
            </a:r>
            <a:r>
              <a:rPr lang="en-US" altLang="zh-CN" sz="2400" b="0" baseline="-25000" dirty="0">
                <a:solidFill>
                  <a:srgbClr val="C00000"/>
                </a:solidFill>
              </a:rPr>
              <a:t>3</a:t>
            </a:r>
            <a:r>
              <a:rPr lang="en-US" altLang="zh-CN" sz="2400" b="0" dirty="0">
                <a:solidFill>
                  <a:schemeClr val="tx1">
                    <a:lumMod val="95000"/>
                    <a:lumOff val="5000"/>
                  </a:schemeClr>
                </a:solidFill>
              </a:rPr>
              <a:t>)10</a:t>
            </a:r>
            <a:r>
              <a:rPr lang="zh-CN" altLang="en-US" sz="2400" b="0" dirty="0">
                <a:solidFill>
                  <a:schemeClr val="tx1">
                    <a:lumMod val="95000"/>
                    <a:lumOff val="5000"/>
                  </a:schemeClr>
                </a:solidFill>
              </a:rPr>
              <a:t>毫克， 泛酸钙</a:t>
            </a:r>
            <a:r>
              <a:rPr lang="en-US" altLang="zh-CN" sz="2400" b="0" dirty="0">
                <a:solidFill>
                  <a:schemeClr val="tx1">
                    <a:lumMod val="95000"/>
                    <a:lumOff val="5000"/>
                  </a:schemeClr>
                </a:solidFill>
              </a:rPr>
              <a:t>(</a:t>
            </a:r>
            <a:r>
              <a:rPr lang="en-US" altLang="zh-CN" sz="2400" b="0" dirty="0">
                <a:solidFill>
                  <a:srgbClr val="C00000"/>
                </a:solidFill>
              </a:rPr>
              <a:t>B</a:t>
            </a:r>
            <a:r>
              <a:rPr lang="en-US" altLang="zh-CN" sz="2400" b="0" baseline="-25000" dirty="0">
                <a:solidFill>
                  <a:srgbClr val="C00000"/>
                </a:solidFill>
              </a:rPr>
              <a:t>5</a:t>
            </a:r>
            <a:r>
              <a:rPr lang="en-US" altLang="zh-CN" sz="2400" b="0" dirty="0">
                <a:solidFill>
                  <a:srgbClr val="C00000"/>
                </a:solidFill>
              </a:rPr>
              <a:t>)</a:t>
            </a:r>
            <a:r>
              <a:rPr lang="en-US" altLang="zh-CN" sz="2400" b="0" dirty="0">
                <a:solidFill>
                  <a:schemeClr val="tx1">
                    <a:lumMod val="95000"/>
                    <a:lumOff val="5000"/>
                  </a:schemeClr>
                </a:solidFill>
              </a:rPr>
              <a:t>1</a:t>
            </a:r>
            <a:r>
              <a:rPr lang="zh-CN" altLang="en-US" sz="2400" b="0" dirty="0">
                <a:solidFill>
                  <a:schemeClr val="tx1">
                    <a:lumMod val="95000"/>
                    <a:lumOff val="5000"/>
                  </a:schemeClr>
                </a:solidFill>
              </a:rPr>
              <a:t>毫克。 （注</a:t>
            </a:r>
            <a:r>
              <a:rPr lang="en-US" altLang="zh-CN" sz="2400" b="0" dirty="0">
                <a:solidFill>
                  <a:schemeClr val="tx1">
                    <a:lumMod val="95000"/>
                    <a:lumOff val="5000"/>
                  </a:schemeClr>
                </a:solidFill>
              </a:rPr>
              <a:t>:  </a:t>
            </a:r>
            <a:r>
              <a:rPr lang="zh-CN" altLang="en-US" sz="2400" b="0" dirty="0">
                <a:solidFill>
                  <a:srgbClr val="0000CC"/>
                </a:solidFill>
              </a:rPr>
              <a:t>不含生物素（</a:t>
            </a:r>
            <a:r>
              <a:rPr lang="en-US" altLang="zh-CN" sz="2400" b="0" dirty="0">
                <a:solidFill>
                  <a:srgbClr val="0000CC"/>
                </a:solidFill>
              </a:rPr>
              <a:t>B</a:t>
            </a:r>
            <a:r>
              <a:rPr lang="en-US" altLang="zh-CN" sz="2400" b="0" baseline="-25000" dirty="0">
                <a:solidFill>
                  <a:srgbClr val="0000CC"/>
                </a:solidFill>
              </a:rPr>
              <a:t>7</a:t>
            </a:r>
            <a:r>
              <a:rPr lang="zh-CN" altLang="en-US" sz="2400" b="0" dirty="0">
                <a:solidFill>
                  <a:srgbClr val="0000CC"/>
                </a:solidFill>
              </a:rPr>
              <a:t>），叶酸（</a:t>
            </a:r>
            <a:r>
              <a:rPr lang="en-US" altLang="zh-CN" sz="2400" b="0" dirty="0">
                <a:solidFill>
                  <a:srgbClr val="0000CC"/>
                </a:solidFill>
              </a:rPr>
              <a:t>B</a:t>
            </a:r>
            <a:r>
              <a:rPr lang="en-US" altLang="zh-CN" sz="2400" b="0" baseline="-25000" dirty="0">
                <a:solidFill>
                  <a:srgbClr val="0000CC"/>
                </a:solidFill>
              </a:rPr>
              <a:t>9</a:t>
            </a:r>
            <a:r>
              <a:rPr lang="zh-CN" altLang="en-US" sz="2400" b="0" dirty="0">
                <a:solidFill>
                  <a:srgbClr val="0000CC"/>
                </a:solidFill>
              </a:rPr>
              <a:t>），</a:t>
            </a:r>
            <a:r>
              <a:rPr lang="en-US" altLang="zh-CN" sz="2400" b="0" dirty="0">
                <a:solidFill>
                  <a:srgbClr val="0000CC"/>
                </a:solidFill>
              </a:rPr>
              <a:t> B</a:t>
            </a:r>
            <a:r>
              <a:rPr lang="en-US" altLang="zh-CN" sz="2400" b="0" baseline="-25000" dirty="0">
                <a:solidFill>
                  <a:srgbClr val="0000CC"/>
                </a:solidFill>
              </a:rPr>
              <a:t>12</a:t>
            </a:r>
            <a:r>
              <a:rPr lang="en-US" altLang="zh-CN" sz="2400" b="0" dirty="0">
                <a:solidFill>
                  <a:schemeClr val="tx1">
                    <a:lumMod val="95000"/>
                    <a:lumOff val="5000"/>
                  </a:schemeClr>
                </a:solidFill>
              </a:rPr>
              <a:t>)</a:t>
            </a:r>
          </a:p>
          <a:p>
            <a:pPr>
              <a:lnSpc>
                <a:spcPct val="130000"/>
              </a:lnSpc>
            </a:pPr>
            <a:endParaRPr lang="en-US" altLang="zh-CN" sz="2400" b="0" dirty="0">
              <a:solidFill>
                <a:schemeClr val="tx1">
                  <a:lumMod val="95000"/>
                  <a:lumOff val="5000"/>
                </a:schemeClr>
              </a:solidFill>
            </a:endParaRPr>
          </a:p>
          <a:p>
            <a:pPr>
              <a:lnSpc>
                <a:spcPct val="130000"/>
              </a:lnSpc>
            </a:pPr>
            <a:r>
              <a:rPr lang="zh-CN" altLang="en-US" sz="2400" b="0" dirty="0">
                <a:solidFill>
                  <a:schemeClr val="tx1">
                    <a:lumMod val="95000"/>
                    <a:lumOff val="5000"/>
                  </a:schemeClr>
                </a:solidFill>
              </a:rPr>
              <a:t>市售其它相对贵得多的复合维生素通常含有全部</a:t>
            </a:r>
            <a:r>
              <a:rPr lang="en-US" altLang="zh-CN" sz="2400" b="0" dirty="0">
                <a:solidFill>
                  <a:schemeClr val="tx1">
                    <a:lumMod val="95000"/>
                    <a:lumOff val="5000"/>
                  </a:schemeClr>
                </a:solidFill>
              </a:rPr>
              <a:t>13</a:t>
            </a:r>
            <a:r>
              <a:rPr lang="zh-CN" altLang="en-US" sz="2400" b="0" dirty="0">
                <a:solidFill>
                  <a:schemeClr val="tx1">
                    <a:lumMod val="95000"/>
                    <a:lumOff val="5000"/>
                  </a:schemeClr>
                </a:solidFill>
              </a:rPr>
              <a:t>种维生素以及部分微量元素。</a:t>
            </a:r>
          </a:p>
        </p:txBody>
      </p:sp>
    </p:spTree>
    <p:extLst>
      <p:ext uri="{BB962C8B-B14F-4D97-AF65-F5344CB8AC3E}">
        <p14:creationId xmlns:p14="http://schemas.microsoft.com/office/powerpoint/2010/main" val="370908293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5558C11-F064-4192-8111-BF06E37F4C24}"/>
              </a:ext>
            </a:extLst>
          </p:cNvPr>
          <p:cNvSpPr>
            <a:spLocks noGrp="1"/>
          </p:cNvSpPr>
          <p:nvPr>
            <p:ph idx="1"/>
          </p:nvPr>
        </p:nvSpPr>
        <p:spPr>
          <a:xfrm>
            <a:off x="2135188" y="193676"/>
            <a:ext cx="7772400" cy="6259513"/>
          </a:xfrm>
        </p:spPr>
        <p:txBody>
          <a:bodyPr rtlCol="0">
            <a:normAutofit/>
          </a:bodyPr>
          <a:lstStyle/>
          <a:p>
            <a:pPr eaLnBrk="1" fontAlgn="auto" hangingPunct="1">
              <a:lnSpc>
                <a:spcPct val="110000"/>
              </a:lnSpc>
              <a:spcBef>
                <a:spcPts val="0"/>
              </a:spcBef>
              <a:spcAft>
                <a:spcPts val="0"/>
              </a:spcAft>
              <a:defRPr/>
            </a:pPr>
            <a:r>
              <a:rPr lang="zh-CN" altLang="en-US" sz="2400" b="1" dirty="0">
                <a:latin typeface="微软雅黑" panose="020B0503020204020204" pitchFamily="34" charset="-122"/>
                <a:ea typeface="微软雅黑" panose="020B0503020204020204" pitchFamily="34" charset="-122"/>
              </a:rPr>
              <a:t>具有维生素</a:t>
            </a:r>
            <a:r>
              <a:rPr lang="en-US" altLang="zh-CN" sz="2400" b="1" dirty="0">
                <a:latin typeface="微软雅黑" panose="020B0503020204020204" pitchFamily="34" charset="-122"/>
                <a:ea typeface="微软雅黑" panose="020B0503020204020204" pitchFamily="34" charset="-122"/>
              </a:rPr>
              <a:t>A</a:t>
            </a:r>
            <a:r>
              <a:rPr lang="zh-CN" altLang="en-US" sz="2400" b="1" dirty="0">
                <a:latin typeface="微软雅黑" panose="020B0503020204020204" pitchFamily="34" charset="-122"/>
                <a:ea typeface="微软雅黑" panose="020B0503020204020204" pitchFamily="34" charset="-122"/>
              </a:rPr>
              <a:t>活性的物质包括：</a:t>
            </a:r>
          </a:p>
          <a:p>
            <a:pPr marL="0" indent="0" eaLnBrk="1" fontAlgn="auto" hangingPunct="1">
              <a:lnSpc>
                <a:spcPct val="110000"/>
              </a:lnSpc>
              <a:spcBef>
                <a:spcPts val="0"/>
              </a:spcBef>
              <a:spcAft>
                <a:spcPts val="0"/>
              </a:spcAft>
              <a:buNone/>
              <a:defRPr/>
            </a:pPr>
            <a:r>
              <a:rPr lang="en-US" altLang="zh-CN" sz="2400" dirty="0">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视黄醛                </a:t>
            </a:r>
            <a:r>
              <a:rPr lang="en-US" altLang="zh-CN" sz="2400"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视黄醇               </a:t>
            </a:r>
            <a:r>
              <a:rPr lang="en-US" altLang="zh-CN" sz="2400" dirty="0">
                <a:latin typeface="微软雅黑" panose="020B0503020204020204" pitchFamily="34" charset="-122"/>
                <a:ea typeface="微软雅黑" panose="020B0503020204020204" pitchFamily="34" charset="-122"/>
              </a:rPr>
              <a:t>C.</a:t>
            </a:r>
            <a:r>
              <a:rPr lang="zh-CN" altLang="en-US" sz="2400" dirty="0">
                <a:latin typeface="微软雅黑" panose="020B0503020204020204" pitchFamily="34" charset="-122"/>
                <a:ea typeface="微软雅黑" panose="020B0503020204020204" pitchFamily="34" charset="-122"/>
              </a:rPr>
              <a:t>视黄酸      </a:t>
            </a:r>
          </a:p>
          <a:p>
            <a:pPr marL="0" indent="0" eaLnBrk="1" fontAlgn="auto" hangingPunct="1">
              <a:lnSpc>
                <a:spcPct val="110000"/>
              </a:lnSpc>
              <a:spcBef>
                <a:spcPts val="0"/>
              </a:spcBef>
              <a:spcAft>
                <a:spcPts val="0"/>
              </a:spcAft>
              <a:buNone/>
              <a:defRPr/>
            </a:pPr>
            <a:r>
              <a:rPr lang="en-US" altLang="zh-CN" sz="2400" dirty="0">
                <a:latin typeface="微软雅黑" panose="020B0503020204020204" pitchFamily="34" charset="-122"/>
                <a:ea typeface="微软雅黑" panose="020B0503020204020204" pitchFamily="34" charset="-122"/>
              </a:rPr>
              <a:t>D.</a:t>
            </a:r>
            <a:r>
              <a:rPr lang="zh-CN" altLang="en-US" sz="2400" dirty="0">
                <a:latin typeface="微软雅黑" panose="020B0503020204020204" pitchFamily="34" charset="-122"/>
                <a:ea typeface="微软雅黑" panose="020B0503020204020204" pitchFamily="34" charset="-122"/>
              </a:rPr>
              <a:t>类胡萝卜素         </a:t>
            </a:r>
            <a:r>
              <a:rPr lang="en-US" altLang="zh-CN" sz="2400" dirty="0">
                <a:latin typeface="微软雅黑" panose="020B0503020204020204" pitchFamily="34" charset="-122"/>
                <a:ea typeface="微软雅黑" panose="020B0503020204020204" pitchFamily="34" charset="-122"/>
              </a:rPr>
              <a:t>E.</a:t>
            </a:r>
            <a:r>
              <a:rPr lang="zh-CN" altLang="en-US" sz="2400" dirty="0">
                <a:latin typeface="微软雅黑" panose="020B0503020204020204" pitchFamily="34" charset="-122"/>
                <a:ea typeface="微软雅黑" panose="020B0503020204020204" pitchFamily="34" charset="-122"/>
              </a:rPr>
              <a:t>玉米黄素</a:t>
            </a:r>
          </a:p>
          <a:p>
            <a:pPr marL="0" indent="0" eaLnBrk="1" fontAlgn="auto" hangingPunct="1">
              <a:lnSpc>
                <a:spcPct val="110000"/>
              </a:lnSpc>
              <a:spcBef>
                <a:spcPts val="0"/>
              </a:spcBef>
              <a:spcAft>
                <a:spcPts val="0"/>
              </a:spcAft>
              <a:buNone/>
              <a:defRPr/>
            </a:pPr>
            <a:endParaRPr lang="en-US" altLang="zh-CN" sz="2400" dirty="0">
              <a:latin typeface="微软雅黑" panose="020B0503020204020204" pitchFamily="34" charset="-122"/>
              <a:ea typeface="微软雅黑" panose="020B0503020204020204" pitchFamily="34" charset="-122"/>
            </a:endParaRPr>
          </a:p>
          <a:p>
            <a:pPr eaLnBrk="1" fontAlgn="auto" hangingPunct="1">
              <a:lnSpc>
                <a:spcPct val="110000"/>
              </a:lnSpc>
              <a:spcBef>
                <a:spcPts val="0"/>
              </a:spcBef>
              <a:spcAft>
                <a:spcPts val="0"/>
              </a:spcAft>
              <a:defRPr/>
            </a:pPr>
            <a:r>
              <a:rPr lang="zh-CN" altLang="en-US" sz="2400" b="1" dirty="0">
                <a:latin typeface="微软雅黑" panose="020B0503020204020204" pitchFamily="34" charset="-122"/>
                <a:ea typeface="微软雅黑" panose="020B0503020204020204" pitchFamily="34" charset="-122"/>
              </a:rPr>
              <a:t>体内可由色氨酸少量生成的维生素是</a:t>
            </a:r>
          </a:p>
          <a:p>
            <a:pPr marL="0" indent="0" eaLnBrk="1" fontAlgn="auto" hangingPunct="1">
              <a:lnSpc>
                <a:spcPct val="110000"/>
              </a:lnSpc>
              <a:spcBef>
                <a:spcPts val="0"/>
              </a:spcBef>
              <a:spcAft>
                <a:spcPts val="0"/>
              </a:spcAft>
              <a:buNone/>
              <a:defRPr/>
            </a:pPr>
            <a:r>
              <a:rPr lang="en-US" altLang="zh-CN" sz="2400" dirty="0">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维生素</a:t>
            </a:r>
            <a:r>
              <a:rPr lang="en-US" altLang="zh-CN" sz="2400" dirty="0">
                <a:latin typeface="微软雅黑" panose="020B0503020204020204" pitchFamily="34" charset="-122"/>
                <a:ea typeface="微软雅黑" panose="020B0503020204020204" pitchFamily="34" charset="-122"/>
              </a:rPr>
              <a:t>K          B.</a:t>
            </a:r>
            <a:r>
              <a:rPr lang="zh-CN" altLang="en-US" sz="2400" dirty="0">
                <a:latin typeface="微软雅黑" panose="020B0503020204020204" pitchFamily="34" charset="-122"/>
                <a:ea typeface="微软雅黑" panose="020B0503020204020204" pitchFamily="34" charset="-122"/>
              </a:rPr>
              <a:t>维生素</a:t>
            </a:r>
            <a:r>
              <a:rPr lang="en-US" altLang="zh-CN" sz="2400" dirty="0">
                <a:latin typeface="微软雅黑" panose="020B0503020204020204" pitchFamily="34" charset="-122"/>
                <a:ea typeface="微软雅黑" panose="020B0503020204020204" pitchFamily="34" charset="-122"/>
              </a:rPr>
              <a:t>PP          C.</a:t>
            </a:r>
            <a:r>
              <a:rPr lang="zh-CN" altLang="en-US" sz="2400" dirty="0">
                <a:latin typeface="微软雅黑" panose="020B0503020204020204" pitchFamily="34" charset="-122"/>
                <a:ea typeface="微软雅黑" panose="020B0503020204020204" pitchFamily="34" charset="-122"/>
              </a:rPr>
              <a:t>维生素</a:t>
            </a:r>
            <a:r>
              <a:rPr lang="en-US" altLang="zh-CN" sz="2400" dirty="0">
                <a:latin typeface="微软雅黑" panose="020B0503020204020204" pitchFamily="34" charset="-122"/>
                <a:ea typeface="微软雅黑" panose="020B0503020204020204" pitchFamily="34" charset="-122"/>
              </a:rPr>
              <a:t>D </a:t>
            </a:r>
          </a:p>
          <a:p>
            <a:pPr marL="0" indent="0" eaLnBrk="1" fontAlgn="auto" hangingPunct="1">
              <a:lnSpc>
                <a:spcPct val="110000"/>
              </a:lnSpc>
              <a:spcBef>
                <a:spcPts val="0"/>
              </a:spcBef>
              <a:spcAft>
                <a:spcPts val="0"/>
              </a:spcAft>
              <a:buNone/>
              <a:defRPr/>
            </a:pPr>
            <a:r>
              <a:rPr lang="en-US" altLang="zh-CN" sz="2400" dirty="0">
                <a:latin typeface="微软雅黑" panose="020B0503020204020204" pitchFamily="34" charset="-122"/>
                <a:ea typeface="微软雅黑" panose="020B0503020204020204" pitchFamily="34" charset="-122"/>
              </a:rPr>
              <a:t>D.</a:t>
            </a:r>
            <a:r>
              <a:rPr lang="zh-CN" altLang="en-US" sz="2400" dirty="0">
                <a:latin typeface="微软雅黑" panose="020B0503020204020204" pitchFamily="34" charset="-122"/>
                <a:ea typeface="微软雅黑" panose="020B0503020204020204" pitchFamily="34" charset="-122"/>
              </a:rPr>
              <a:t>维生素</a:t>
            </a:r>
            <a:r>
              <a:rPr lang="en-US" altLang="zh-CN" sz="2400" dirty="0">
                <a:latin typeface="微软雅黑" panose="020B0503020204020204" pitchFamily="34" charset="-122"/>
                <a:ea typeface="微软雅黑" panose="020B0503020204020204" pitchFamily="34" charset="-122"/>
              </a:rPr>
              <a:t>E           </a:t>
            </a:r>
            <a:r>
              <a:rPr lang="en-US" altLang="zh-CN" sz="2400" dirty="0" err="1">
                <a:latin typeface="微软雅黑" panose="020B0503020204020204" pitchFamily="34" charset="-122"/>
                <a:ea typeface="微软雅黑" panose="020B0503020204020204" pitchFamily="34" charset="-122"/>
              </a:rPr>
              <a:t>E</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维生素</a:t>
            </a:r>
            <a:r>
              <a:rPr lang="en-US" altLang="zh-CN" sz="2400" dirty="0">
                <a:latin typeface="微软雅黑" panose="020B0503020204020204" pitchFamily="34" charset="-122"/>
                <a:ea typeface="微软雅黑" panose="020B0503020204020204" pitchFamily="34" charset="-122"/>
              </a:rPr>
              <a:t>B1</a:t>
            </a:r>
          </a:p>
          <a:p>
            <a:pPr eaLnBrk="1" fontAlgn="auto" hangingPunct="1">
              <a:lnSpc>
                <a:spcPct val="110000"/>
              </a:lnSpc>
              <a:spcBef>
                <a:spcPts val="0"/>
              </a:spcBef>
              <a:spcAft>
                <a:spcPts val="0"/>
              </a:spcAft>
              <a:defRPr/>
            </a:pPr>
            <a:endParaRPr lang="en-US" altLang="zh-CN" sz="2400" b="1" dirty="0">
              <a:latin typeface="微软雅黑" panose="020B0503020204020204" pitchFamily="34" charset="-122"/>
              <a:ea typeface="微软雅黑" panose="020B0503020204020204" pitchFamily="34" charset="-122"/>
            </a:endParaRPr>
          </a:p>
          <a:p>
            <a:pPr eaLnBrk="1" fontAlgn="auto" hangingPunct="1">
              <a:lnSpc>
                <a:spcPct val="110000"/>
              </a:lnSpc>
              <a:spcBef>
                <a:spcPts val="0"/>
              </a:spcBef>
              <a:spcAft>
                <a:spcPts val="0"/>
              </a:spcAft>
              <a:defRPr/>
            </a:pPr>
            <a:r>
              <a:rPr lang="zh-CN" altLang="en-US" sz="2400" b="1" dirty="0">
                <a:latin typeface="微软雅黑" panose="020B0503020204020204" pitchFamily="34" charset="-122"/>
                <a:ea typeface="微软雅黑" panose="020B0503020204020204" pitchFamily="34" charset="-122"/>
              </a:rPr>
              <a:t>下列哪些辅酶含腺嘌呤</a:t>
            </a:r>
          </a:p>
          <a:p>
            <a:pPr marL="0" indent="0" eaLnBrk="1" fontAlgn="auto" hangingPunct="1">
              <a:lnSpc>
                <a:spcPct val="110000"/>
              </a:lnSpc>
              <a:spcBef>
                <a:spcPts val="0"/>
              </a:spcBef>
              <a:spcAft>
                <a:spcPts val="0"/>
              </a:spcAft>
              <a:buNone/>
              <a:defRPr/>
            </a:pPr>
            <a:r>
              <a:rPr lang="en-US" altLang="zh-CN" sz="2400" dirty="0">
                <a:latin typeface="微软雅黑" panose="020B0503020204020204" pitchFamily="34" charset="-122"/>
                <a:ea typeface="微软雅黑" panose="020B0503020204020204" pitchFamily="34" charset="-122"/>
              </a:rPr>
              <a:t>A.NAD                B.FAD             C.</a:t>
            </a:r>
            <a:r>
              <a:rPr lang="zh-CN" altLang="en-US" sz="2400" dirty="0">
                <a:latin typeface="微软雅黑" panose="020B0503020204020204" pitchFamily="34" charset="-122"/>
                <a:ea typeface="微软雅黑" panose="020B0503020204020204" pitchFamily="34" charset="-122"/>
              </a:rPr>
              <a:t>辅酶</a:t>
            </a:r>
            <a:r>
              <a:rPr lang="en-US" altLang="zh-CN" sz="2400" dirty="0">
                <a:latin typeface="微软雅黑" panose="020B0503020204020204" pitchFamily="34" charset="-122"/>
                <a:ea typeface="微软雅黑" panose="020B0503020204020204" pitchFamily="34" charset="-122"/>
              </a:rPr>
              <a:t>A</a:t>
            </a:r>
          </a:p>
          <a:p>
            <a:pPr marL="0" indent="0" eaLnBrk="1" fontAlgn="auto" hangingPunct="1">
              <a:lnSpc>
                <a:spcPct val="110000"/>
              </a:lnSpc>
              <a:spcBef>
                <a:spcPts val="0"/>
              </a:spcBef>
              <a:spcAft>
                <a:spcPts val="0"/>
              </a:spcAft>
              <a:buNone/>
              <a:defRPr/>
            </a:pPr>
            <a:r>
              <a:rPr lang="en-US" altLang="zh-CN" sz="2400" dirty="0">
                <a:latin typeface="微软雅黑" panose="020B0503020204020204" pitchFamily="34" charset="-122"/>
                <a:ea typeface="微软雅黑" panose="020B0503020204020204" pitchFamily="34" charset="-122"/>
              </a:rPr>
              <a:t>D.FMN               E. NADP</a:t>
            </a:r>
          </a:p>
          <a:p>
            <a:pPr eaLnBrk="1" fontAlgn="auto" hangingPunct="1">
              <a:lnSpc>
                <a:spcPct val="110000"/>
              </a:lnSpc>
              <a:spcBef>
                <a:spcPts val="0"/>
              </a:spcBef>
              <a:spcAft>
                <a:spcPts val="0"/>
              </a:spcAft>
              <a:defRPr/>
            </a:pPr>
            <a:endParaRPr lang="en-US" altLang="zh-CN" sz="2400" dirty="0">
              <a:latin typeface="微软雅黑" panose="020B0503020204020204" pitchFamily="34" charset="-122"/>
              <a:ea typeface="微软雅黑" panose="020B0503020204020204" pitchFamily="34" charset="-122"/>
            </a:endParaRPr>
          </a:p>
          <a:p>
            <a:pPr eaLnBrk="1" fontAlgn="auto" hangingPunct="1">
              <a:lnSpc>
                <a:spcPct val="110000"/>
              </a:lnSpc>
              <a:spcBef>
                <a:spcPts val="0"/>
              </a:spcBef>
              <a:spcAft>
                <a:spcPts val="0"/>
              </a:spcAft>
              <a:defRPr/>
            </a:pPr>
            <a:r>
              <a:rPr lang="zh-CN" altLang="en-US" sz="2400" b="1" dirty="0">
                <a:latin typeface="微软雅黑" panose="020B0503020204020204" pitchFamily="34" charset="-122"/>
                <a:ea typeface="微软雅黑" panose="020B0503020204020204" pitchFamily="34" charset="-122"/>
              </a:rPr>
              <a:t>临床上常用辅助治疗婴儿惊厥和妊娠呕吐的维生素是</a:t>
            </a:r>
          </a:p>
          <a:p>
            <a:pPr marL="0" indent="0" eaLnBrk="1" fontAlgn="auto" hangingPunct="1">
              <a:lnSpc>
                <a:spcPct val="110000"/>
              </a:lnSpc>
              <a:spcBef>
                <a:spcPts val="0"/>
              </a:spcBef>
              <a:spcAft>
                <a:spcPts val="0"/>
              </a:spcAft>
              <a:buNone/>
              <a:defRPr/>
            </a:pPr>
            <a:r>
              <a:rPr lang="en-US" altLang="zh-CN" sz="2400" dirty="0">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维生素</a:t>
            </a:r>
            <a:r>
              <a:rPr lang="en-US" altLang="zh-CN" sz="2400" dirty="0">
                <a:latin typeface="微软雅黑" panose="020B0503020204020204" pitchFamily="34" charset="-122"/>
                <a:ea typeface="微软雅黑" panose="020B0503020204020204" pitchFamily="34" charset="-122"/>
              </a:rPr>
              <a:t>B12             B.</a:t>
            </a:r>
            <a:r>
              <a:rPr lang="zh-CN" altLang="en-US" sz="2400" dirty="0">
                <a:latin typeface="微软雅黑" panose="020B0503020204020204" pitchFamily="34" charset="-122"/>
                <a:ea typeface="微软雅黑" panose="020B0503020204020204" pitchFamily="34" charset="-122"/>
              </a:rPr>
              <a:t>维生素</a:t>
            </a:r>
            <a:r>
              <a:rPr lang="en-US" altLang="zh-CN" sz="2400" dirty="0">
                <a:latin typeface="微软雅黑" panose="020B0503020204020204" pitchFamily="34" charset="-122"/>
                <a:ea typeface="微软雅黑" panose="020B0503020204020204" pitchFamily="34" charset="-122"/>
              </a:rPr>
              <a:t>B2              C.</a:t>
            </a:r>
            <a:r>
              <a:rPr lang="zh-CN" altLang="en-US" sz="2400" dirty="0">
                <a:latin typeface="微软雅黑" panose="020B0503020204020204" pitchFamily="34" charset="-122"/>
                <a:ea typeface="微软雅黑" panose="020B0503020204020204" pitchFamily="34" charset="-122"/>
              </a:rPr>
              <a:t>维生素</a:t>
            </a:r>
            <a:r>
              <a:rPr lang="en-US" altLang="zh-CN" sz="2400" dirty="0">
                <a:latin typeface="微软雅黑" panose="020B0503020204020204" pitchFamily="34" charset="-122"/>
                <a:ea typeface="微软雅黑" panose="020B0503020204020204" pitchFamily="34" charset="-122"/>
              </a:rPr>
              <a:t>B6 </a:t>
            </a:r>
          </a:p>
          <a:p>
            <a:pPr marL="0" indent="0" eaLnBrk="1" fontAlgn="auto" hangingPunct="1">
              <a:lnSpc>
                <a:spcPct val="110000"/>
              </a:lnSpc>
              <a:spcBef>
                <a:spcPts val="0"/>
              </a:spcBef>
              <a:spcAft>
                <a:spcPts val="0"/>
              </a:spcAft>
              <a:buNone/>
              <a:defRPr/>
            </a:pPr>
            <a:r>
              <a:rPr lang="en-US" altLang="zh-CN" sz="2400" dirty="0">
                <a:latin typeface="微软雅黑" panose="020B0503020204020204" pitchFamily="34" charset="-122"/>
                <a:ea typeface="微软雅黑" panose="020B0503020204020204" pitchFamily="34" charset="-122"/>
              </a:rPr>
              <a:t>D.</a:t>
            </a:r>
            <a:r>
              <a:rPr lang="zh-CN" altLang="en-US" sz="2400" dirty="0">
                <a:latin typeface="微软雅黑" panose="020B0503020204020204" pitchFamily="34" charset="-122"/>
                <a:ea typeface="微软雅黑" panose="020B0503020204020204" pitchFamily="34" charset="-122"/>
              </a:rPr>
              <a:t>维生素</a:t>
            </a:r>
            <a:r>
              <a:rPr lang="en-US" altLang="zh-CN" sz="2400" dirty="0">
                <a:latin typeface="微软雅黑" panose="020B0503020204020204" pitchFamily="34" charset="-122"/>
                <a:ea typeface="微软雅黑" panose="020B0503020204020204" pitchFamily="34" charset="-122"/>
              </a:rPr>
              <a:t>D                 E.</a:t>
            </a:r>
            <a:r>
              <a:rPr lang="zh-CN" altLang="en-US" sz="2400" dirty="0">
                <a:latin typeface="微软雅黑" panose="020B0503020204020204" pitchFamily="34" charset="-122"/>
                <a:ea typeface="微软雅黑" panose="020B0503020204020204" pitchFamily="34" charset="-122"/>
              </a:rPr>
              <a:t>维生素</a:t>
            </a:r>
            <a:r>
              <a:rPr lang="en-US" altLang="zh-CN" sz="2400" dirty="0">
                <a:latin typeface="微软雅黑" panose="020B0503020204020204" pitchFamily="34" charset="-122"/>
                <a:ea typeface="微软雅黑" panose="020B0503020204020204" pitchFamily="34" charset="-122"/>
              </a:rPr>
              <a:t>E</a:t>
            </a:r>
          </a:p>
        </p:txBody>
      </p:sp>
      <p:sp>
        <p:nvSpPr>
          <p:cNvPr id="4" name="文本框 3">
            <a:extLst>
              <a:ext uri="{FF2B5EF4-FFF2-40B4-BE49-F238E27FC236}">
                <a16:creationId xmlns:a16="http://schemas.microsoft.com/office/drawing/2014/main" id="{B6B35E6C-3DA2-4B2D-93DB-0D753FC0BD97}"/>
              </a:ext>
            </a:extLst>
          </p:cNvPr>
          <p:cNvSpPr txBox="1">
            <a:spLocks noChangeArrowheads="1"/>
          </p:cNvSpPr>
          <p:nvPr/>
        </p:nvSpPr>
        <p:spPr bwMode="auto">
          <a:xfrm>
            <a:off x="8689976" y="252413"/>
            <a:ext cx="15843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en-US" altLang="zh-CN" sz="3200" b="0">
                <a:solidFill>
                  <a:srgbClr val="C00000"/>
                </a:solidFill>
                <a:latin typeface="微软雅黑" panose="020B0503020204020204" pitchFamily="34" charset="-122"/>
                <a:ea typeface="微软雅黑" panose="020B0503020204020204" pitchFamily="34" charset="-122"/>
              </a:rPr>
              <a:t>ABC</a:t>
            </a:r>
            <a:endParaRPr lang="zh-CN" altLang="en-US" sz="3200" b="0">
              <a:solidFill>
                <a:srgbClr val="C00000"/>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E10E0046-0C7A-4D0F-AA75-7BDE0E3F1C92}"/>
              </a:ext>
            </a:extLst>
          </p:cNvPr>
          <p:cNvSpPr txBox="1">
            <a:spLocks noChangeArrowheads="1"/>
          </p:cNvSpPr>
          <p:nvPr/>
        </p:nvSpPr>
        <p:spPr bwMode="auto">
          <a:xfrm>
            <a:off x="8983664" y="1768475"/>
            <a:ext cx="936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en-US" altLang="zh-CN" sz="3200" b="0">
                <a:solidFill>
                  <a:srgbClr val="C00000"/>
                </a:solidFill>
                <a:latin typeface="微软雅黑" panose="020B0503020204020204" pitchFamily="34" charset="-122"/>
                <a:ea typeface="微软雅黑" panose="020B0503020204020204" pitchFamily="34" charset="-122"/>
              </a:rPr>
              <a:t>B</a:t>
            </a:r>
            <a:endParaRPr lang="zh-CN" altLang="en-US" sz="3200" b="0">
              <a:solidFill>
                <a:srgbClr val="C0000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0AAB9539-D052-4A53-851B-146EA7C428A9}"/>
              </a:ext>
            </a:extLst>
          </p:cNvPr>
          <p:cNvSpPr txBox="1">
            <a:spLocks noChangeArrowheads="1"/>
          </p:cNvSpPr>
          <p:nvPr/>
        </p:nvSpPr>
        <p:spPr bwMode="auto">
          <a:xfrm>
            <a:off x="8445500" y="3284539"/>
            <a:ext cx="21971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en-US" altLang="zh-CN" sz="3200" b="0">
                <a:solidFill>
                  <a:srgbClr val="C00000"/>
                </a:solidFill>
                <a:latin typeface="微软雅黑" panose="020B0503020204020204" pitchFamily="34" charset="-122"/>
                <a:ea typeface="微软雅黑" panose="020B0503020204020204" pitchFamily="34" charset="-122"/>
              </a:rPr>
              <a:t>ABCE</a:t>
            </a:r>
            <a:endParaRPr lang="zh-CN" altLang="en-US" sz="3200" b="0">
              <a:solidFill>
                <a:srgbClr val="C00000"/>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4B541B62-1B5F-4C91-889E-05E9E9788DBB}"/>
              </a:ext>
            </a:extLst>
          </p:cNvPr>
          <p:cNvSpPr txBox="1">
            <a:spLocks noChangeArrowheads="1"/>
          </p:cNvSpPr>
          <p:nvPr/>
        </p:nvSpPr>
        <p:spPr bwMode="auto">
          <a:xfrm>
            <a:off x="9906001" y="5013325"/>
            <a:ext cx="936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en-US" altLang="zh-CN" sz="3200" b="0">
                <a:solidFill>
                  <a:srgbClr val="C00000"/>
                </a:solidFill>
                <a:latin typeface="微软雅黑" panose="020B0503020204020204" pitchFamily="34" charset="-122"/>
                <a:ea typeface="微软雅黑" panose="020B0503020204020204" pitchFamily="34" charset="-122"/>
              </a:rPr>
              <a:t>C</a:t>
            </a:r>
            <a:endParaRPr lang="zh-CN" altLang="en-US" sz="3200" b="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矩形 1">
            <a:extLst>
              <a:ext uri="{FF2B5EF4-FFF2-40B4-BE49-F238E27FC236}">
                <a16:creationId xmlns:a16="http://schemas.microsoft.com/office/drawing/2014/main" id="{5B722A7E-D767-4F80-B452-9C9A4A6443E3}"/>
              </a:ext>
            </a:extLst>
          </p:cNvPr>
          <p:cNvSpPr>
            <a:spLocks noChangeArrowheads="1"/>
          </p:cNvSpPr>
          <p:nvPr/>
        </p:nvSpPr>
        <p:spPr bwMode="auto">
          <a:xfrm>
            <a:off x="1649414" y="430213"/>
            <a:ext cx="8893175"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2400">
                <a:latin typeface="微软雅黑" panose="020B0503020204020204" pitchFamily="34" charset="-122"/>
                <a:ea typeface="微软雅黑" panose="020B0503020204020204" pitchFamily="34" charset="-122"/>
                <a:cs typeface="楷体_GB2312" pitchFamily="49" charset="-122"/>
              </a:rPr>
              <a:t>在丙酮酸氧化脱羧反应中，需要下述哪些物质</a:t>
            </a:r>
            <a:r>
              <a:rPr lang="zh-CN" altLang="en-US" sz="2400" b="0">
                <a:latin typeface="微软雅黑" panose="020B0503020204020204" pitchFamily="34" charset="-122"/>
                <a:ea typeface="微软雅黑" panose="020B0503020204020204" pitchFamily="34" charset="-122"/>
                <a:cs typeface="楷体_GB2312" pitchFamily="49" charset="-122"/>
              </a:rPr>
              <a:t>：</a:t>
            </a:r>
          </a:p>
          <a:p>
            <a:pPr>
              <a:lnSpc>
                <a:spcPct val="100000"/>
              </a:lnSpc>
              <a:spcBef>
                <a:spcPct val="0"/>
              </a:spcBef>
              <a:buFontTx/>
              <a:buNone/>
            </a:pPr>
            <a:r>
              <a:rPr lang="en-US" altLang="zh-CN" sz="2400" b="0">
                <a:latin typeface="微软雅黑" panose="020B0503020204020204" pitchFamily="34" charset="-122"/>
                <a:ea typeface="微软雅黑" panose="020B0503020204020204" pitchFamily="34" charset="-122"/>
                <a:cs typeface="楷体_GB2312" pitchFamily="49" charset="-122"/>
              </a:rPr>
              <a:t>A.</a:t>
            </a:r>
            <a:r>
              <a:rPr lang="zh-CN" altLang="en-US" sz="2400" b="0">
                <a:latin typeface="微软雅黑" panose="020B0503020204020204" pitchFamily="34" charset="-122"/>
                <a:ea typeface="微软雅黑" panose="020B0503020204020204" pitchFamily="34" charset="-122"/>
                <a:cs typeface="楷体_GB2312" pitchFamily="49" charset="-122"/>
              </a:rPr>
              <a:t>维生素</a:t>
            </a:r>
            <a:r>
              <a:rPr lang="en-US" altLang="zh-CN" sz="2400" b="0">
                <a:latin typeface="微软雅黑" panose="020B0503020204020204" pitchFamily="34" charset="-122"/>
                <a:ea typeface="微软雅黑" panose="020B0503020204020204" pitchFamily="34" charset="-122"/>
                <a:cs typeface="楷体_GB2312" pitchFamily="49" charset="-122"/>
              </a:rPr>
              <a:t>B1       B.</a:t>
            </a:r>
            <a:r>
              <a:rPr lang="zh-CN" altLang="en-US" sz="2400" b="0">
                <a:latin typeface="微软雅黑" panose="020B0503020204020204" pitchFamily="34" charset="-122"/>
                <a:ea typeface="微软雅黑" panose="020B0503020204020204" pitchFamily="34" charset="-122"/>
                <a:cs typeface="楷体_GB2312" pitchFamily="49" charset="-122"/>
              </a:rPr>
              <a:t>维生素</a:t>
            </a:r>
            <a:r>
              <a:rPr lang="en-US" altLang="zh-CN" sz="2400" b="0">
                <a:latin typeface="微软雅黑" panose="020B0503020204020204" pitchFamily="34" charset="-122"/>
                <a:ea typeface="微软雅黑" panose="020B0503020204020204" pitchFamily="34" charset="-122"/>
                <a:cs typeface="楷体_GB2312" pitchFamily="49" charset="-122"/>
              </a:rPr>
              <a:t>B2       C.</a:t>
            </a:r>
            <a:r>
              <a:rPr lang="zh-CN" altLang="en-US" sz="2400" b="0">
                <a:latin typeface="微软雅黑" panose="020B0503020204020204" pitchFamily="34" charset="-122"/>
                <a:ea typeface="微软雅黑" panose="020B0503020204020204" pitchFamily="34" charset="-122"/>
                <a:cs typeface="楷体_GB2312" pitchFamily="49" charset="-122"/>
              </a:rPr>
              <a:t>维生素</a:t>
            </a:r>
            <a:r>
              <a:rPr lang="en-US" altLang="zh-CN" sz="2400" b="0">
                <a:latin typeface="微软雅黑" panose="020B0503020204020204" pitchFamily="34" charset="-122"/>
                <a:ea typeface="微软雅黑" panose="020B0503020204020204" pitchFamily="34" charset="-122"/>
                <a:cs typeface="楷体_GB2312" pitchFamily="49" charset="-122"/>
              </a:rPr>
              <a:t>PP   </a:t>
            </a:r>
          </a:p>
          <a:p>
            <a:pPr>
              <a:lnSpc>
                <a:spcPct val="100000"/>
              </a:lnSpc>
              <a:spcBef>
                <a:spcPct val="0"/>
              </a:spcBef>
              <a:buFontTx/>
              <a:buNone/>
            </a:pPr>
            <a:r>
              <a:rPr lang="en-US" altLang="zh-CN" sz="2400" b="0">
                <a:latin typeface="微软雅黑" panose="020B0503020204020204" pitchFamily="34" charset="-122"/>
                <a:ea typeface="微软雅黑" panose="020B0503020204020204" pitchFamily="34" charset="-122"/>
                <a:cs typeface="楷体_GB2312" pitchFamily="49" charset="-122"/>
              </a:rPr>
              <a:t>D.</a:t>
            </a:r>
            <a:r>
              <a:rPr lang="zh-CN" altLang="en-US" sz="2400" b="0">
                <a:latin typeface="微软雅黑" panose="020B0503020204020204" pitchFamily="34" charset="-122"/>
                <a:ea typeface="微软雅黑" panose="020B0503020204020204" pitchFamily="34" charset="-122"/>
                <a:cs typeface="楷体_GB2312" pitchFamily="49" charset="-122"/>
              </a:rPr>
              <a:t>硫辛酸           </a:t>
            </a:r>
            <a:r>
              <a:rPr lang="en-US" altLang="zh-CN" sz="2400" b="0">
                <a:latin typeface="微软雅黑" panose="020B0503020204020204" pitchFamily="34" charset="-122"/>
                <a:ea typeface="微软雅黑" panose="020B0503020204020204" pitchFamily="34" charset="-122"/>
                <a:cs typeface="楷体_GB2312" pitchFamily="49" charset="-122"/>
              </a:rPr>
              <a:t>E.</a:t>
            </a:r>
            <a:r>
              <a:rPr lang="zh-CN" altLang="en-US" sz="2400" b="0">
                <a:latin typeface="微软雅黑" panose="020B0503020204020204" pitchFamily="34" charset="-122"/>
                <a:ea typeface="微软雅黑" panose="020B0503020204020204" pitchFamily="34" charset="-122"/>
                <a:cs typeface="楷体_GB2312" pitchFamily="49" charset="-122"/>
              </a:rPr>
              <a:t>生物素</a:t>
            </a:r>
            <a:endParaRPr lang="en-US" altLang="zh-CN" sz="2400" b="0">
              <a:latin typeface="微软雅黑" panose="020B0503020204020204" pitchFamily="34" charset="-122"/>
              <a:ea typeface="微软雅黑" panose="020B0503020204020204" pitchFamily="34" charset="-122"/>
              <a:cs typeface="楷体_GB2312" pitchFamily="49" charset="-122"/>
            </a:endParaRPr>
          </a:p>
          <a:p>
            <a:pPr>
              <a:lnSpc>
                <a:spcPct val="100000"/>
              </a:lnSpc>
              <a:spcBef>
                <a:spcPct val="0"/>
              </a:spcBef>
              <a:buFontTx/>
              <a:buNone/>
            </a:pPr>
            <a:endParaRPr lang="en-US" altLang="zh-CN" sz="2400" b="0">
              <a:latin typeface="微软雅黑" panose="020B0503020204020204" pitchFamily="34" charset="-122"/>
              <a:ea typeface="微软雅黑" panose="020B0503020204020204" pitchFamily="34" charset="-122"/>
              <a:cs typeface="楷体_GB2312" pitchFamily="49" charset="-122"/>
            </a:endParaRPr>
          </a:p>
          <a:p>
            <a:pPr>
              <a:lnSpc>
                <a:spcPct val="100000"/>
              </a:lnSpc>
              <a:spcBef>
                <a:spcPct val="0"/>
              </a:spcBef>
              <a:buFontTx/>
              <a:buNone/>
            </a:pPr>
            <a:r>
              <a:rPr lang="en-US" altLang="zh-CN" sz="2400" b="0">
                <a:latin typeface="微软雅黑" panose="020B0503020204020204" pitchFamily="34" charset="-122"/>
                <a:ea typeface="微软雅黑" panose="020B0503020204020204" pitchFamily="34" charset="-122"/>
                <a:cs typeface="楷体_GB2312" pitchFamily="49" charset="-122"/>
              </a:rPr>
              <a:t>A.</a:t>
            </a:r>
            <a:r>
              <a:rPr lang="zh-CN" altLang="en-US" sz="2400" b="0">
                <a:latin typeface="微软雅黑" panose="020B0503020204020204" pitchFamily="34" charset="-122"/>
                <a:ea typeface="微软雅黑" panose="020B0503020204020204" pitchFamily="34" charset="-122"/>
                <a:cs typeface="楷体_GB2312" pitchFamily="49" charset="-122"/>
              </a:rPr>
              <a:t>夜盲症   </a:t>
            </a:r>
            <a:r>
              <a:rPr lang="en-US" altLang="zh-CN" sz="2400" b="0">
                <a:latin typeface="微软雅黑" panose="020B0503020204020204" pitchFamily="34" charset="-122"/>
                <a:ea typeface="微软雅黑" panose="020B0503020204020204" pitchFamily="34" charset="-122"/>
                <a:cs typeface="楷体_GB2312" pitchFamily="49" charset="-122"/>
              </a:rPr>
              <a:t>B.</a:t>
            </a:r>
            <a:r>
              <a:rPr lang="zh-CN" altLang="en-US" sz="2400" b="0">
                <a:latin typeface="微软雅黑" panose="020B0503020204020204" pitchFamily="34" charset="-122"/>
                <a:ea typeface="微软雅黑" panose="020B0503020204020204" pitchFamily="34" charset="-122"/>
                <a:cs typeface="楷体_GB2312" pitchFamily="49" charset="-122"/>
              </a:rPr>
              <a:t>坏血病   </a:t>
            </a:r>
            <a:r>
              <a:rPr lang="en-US" altLang="zh-CN" sz="2400" b="0">
                <a:latin typeface="微软雅黑" panose="020B0503020204020204" pitchFamily="34" charset="-122"/>
                <a:ea typeface="微软雅黑" panose="020B0503020204020204" pitchFamily="34" charset="-122"/>
                <a:cs typeface="楷体_GB2312" pitchFamily="49" charset="-122"/>
              </a:rPr>
              <a:t>C.</a:t>
            </a:r>
            <a:r>
              <a:rPr lang="zh-CN" altLang="en-US" sz="2400" b="0">
                <a:latin typeface="微软雅黑" panose="020B0503020204020204" pitchFamily="34" charset="-122"/>
                <a:ea typeface="微软雅黑" panose="020B0503020204020204" pitchFamily="34" charset="-122"/>
                <a:cs typeface="楷体_GB2312" pitchFamily="49" charset="-122"/>
              </a:rPr>
              <a:t>脚气病   </a:t>
            </a:r>
            <a:r>
              <a:rPr lang="en-US" altLang="zh-CN" sz="2400" b="0">
                <a:latin typeface="微软雅黑" panose="020B0503020204020204" pitchFamily="34" charset="-122"/>
                <a:ea typeface="微软雅黑" panose="020B0503020204020204" pitchFamily="34" charset="-122"/>
                <a:cs typeface="楷体_GB2312" pitchFamily="49" charset="-122"/>
              </a:rPr>
              <a:t>D.</a:t>
            </a:r>
            <a:r>
              <a:rPr lang="zh-CN" altLang="en-US" sz="2400" b="0">
                <a:latin typeface="微软雅黑" panose="020B0503020204020204" pitchFamily="34" charset="-122"/>
                <a:ea typeface="微软雅黑" panose="020B0503020204020204" pitchFamily="34" charset="-122"/>
                <a:cs typeface="楷体_GB2312" pitchFamily="49" charset="-122"/>
              </a:rPr>
              <a:t>恶性贫血   </a:t>
            </a:r>
            <a:r>
              <a:rPr lang="en-US" altLang="zh-CN" sz="2400" b="0">
                <a:latin typeface="微软雅黑" panose="020B0503020204020204" pitchFamily="34" charset="-122"/>
                <a:ea typeface="微软雅黑" panose="020B0503020204020204" pitchFamily="34" charset="-122"/>
                <a:cs typeface="楷体_GB2312" pitchFamily="49" charset="-122"/>
              </a:rPr>
              <a:t>E.</a:t>
            </a:r>
            <a:r>
              <a:rPr lang="zh-CN" altLang="en-US" sz="2400" b="0">
                <a:latin typeface="微软雅黑" panose="020B0503020204020204" pitchFamily="34" charset="-122"/>
                <a:ea typeface="微软雅黑" panose="020B0503020204020204" pitchFamily="34" charset="-122"/>
                <a:cs typeface="楷体_GB2312" pitchFamily="49" charset="-122"/>
              </a:rPr>
              <a:t>佝偻病</a:t>
            </a:r>
          </a:p>
          <a:p>
            <a:pPr>
              <a:lnSpc>
                <a:spcPct val="100000"/>
              </a:lnSpc>
              <a:spcBef>
                <a:spcPct val="0"/>
              </a:spcBef>
              <a:buFontTx/>
              <a:buNone/>
            </a:pPr>
            <a:r>
              <a:rPr lang="zh-CN" altLang="en-US" sz="2400" b="0">
                <a:latin typeface="微软雅黑" panose="020B0503020204020204" pitchFamily="34" charset="-122"/>
                <a:ea typeface="微软雅黑" panose="020B0503020204020204" pitchFamily="34" charset="-122"/>
                <a:cs typeface="楷体_GB2312" pitchFamily="49" charset="-122"/>
              </a:rPr>
              <a:t>① 缺乏维生素</a:t>
            </a:r>
            <a:r>
              <a:rPr lang="en-US" altLang="zh-CN" sz="2400" b="0">
                <a:latin typeface="微软雅黑" panose="020B0503020204020204" pitchFamily="34" charset="-122"/>
                <a:ea typeface="微软雅黑" panose="020B0503020204020204" pitchFamily="34" charset="-122"/>
                <a:cs typeface="楷体_GB2312" pitchFamily="49" charset="-122"/>
              </a:rPr>
              <a:t>A</a:t>
            </a:r>
            <a:r>
              <a:rPr lang="zh-CN" altLang="en-US" sz="2400" b="0">
                <a:latin typeface="微软雅黑" panose="020B0503020204020204" pitchFamily="34" charset="-122"/>
                <a:ea typeface="微软雅黑" panose="020B0503020204020204" pitchFamily="34" charset="-122"/>
                <a:cs typeface="楷体_GB2312" pitchFamily="49" charset="-122"/>
              </a:rPr>
              <a:t>会引起 ？</a:t>
            </a:r>
          </a:p>
          <a:p>
            <a:pPr>
              <a:lnSpc>
                <a:spcPct val="100000"/>
              </a:lnSpc>
              <a:spcBef>
                <a:spcPct val="0"/>
              </a:spcBef>
              <a:buFontTx/>
              <a:buNone/>
            </a:pPr>
            <a:r>
              <a:rPr lang="zh-CN" altLang="en-US" sz="2400" b="0">
                <a:latin typeface="微软雅黑" panose="020B0503020204020204" pitchFamily="34" charset="-122"/>
                <a:ea typeface="微软雅黑" panose="020B0503020204020204" pitchFamily="34" charset="-122"/>
                <a:cs typeface="楷体_GB2312" pitchFamily="49" charset="-122"/>
              </a:rPr>
              <a:t>② 缺乏维生素</a:t>
            </a:r>
            <a:r>
              <a:rPr lang="en-US" altLang="zh-CN" sz="2400" b="0">
                <a:latin typeface="微软雅黑" panose="020B0503020204020204" pitchFamily="34" charset="-122"/>
                <a:ea typeface="微软雅黑" panose="020B0503020204020204" pitchFamily="34" charset="-122"/>
                <a:cs typeface="楷体_GB2312" pitchFamily="49" charset="-122"/>
              </a:rPr>
              <a:t>B12</a:t>
            </a:r>
            <a:r>
              <a:rPr lang="zh-CN" altLang="en-US" sz="2400" b="0">
                <a:latin typeface="微软雅黑" panose="020B0503020204020204" pitchFamily="34" charset="-122"/>
                <a:ea typeface="微软雅黑" panose="020B0503020204020204" pitchFamily="34" charset="-122"/>
                <a:cs typeface="楷体_GB2312" pitchFamily="49" charset="-122"/>
              </a:rPr>
              <a:t>会引起？</a:t>
            </a:r>
          </a:p>
          <a:p>
            <a:pPr>
              <a:lnSpc>
                <a:spcPct val="100000"/>
              </a:lnSpc>
              <a:spcBef>
                <a:spcPct val="0"/>
              </a:spcBef>
              <a:buFontTx/>
              <a:buNone/>
            </a:pPr>
            <a:r>
              <a:rPr lang="zh-CN" altLang="en-US" sz="2400" b="0">
                <a:latin typeface="微软雅黑" panose="020B0503020204020204" pitchFamily="34" charset="-122"/>
                <a:ea typeface="微软雅黑" panose="020B0503020204020204" pitchFamily="34" charset="-122"/>
                <a:cs typeface="楷体_GB2312" pitchFamily="49" charset="-122"/>
              </a:rPr>
              <a:t>③ 缺乏维生素</a:t>
            </a:r>
            <a:r>
              <a:rPr lang="en-US" altLang="zh-CN" sz="2400" b="0">
                <a:latin typeface="微软雅黑" panose="020B0503020204020204" pitchFamily="34" charset="-122"/>
                <a:ea typeface="微软雅黑" panose="020B0503020204020204" pitchFamily="34" charset="-122"/>
                <a:cs typeface="楷体_GB2312" pitchFamily="49" charset="-122"/>
              </a:rPr>
              <a:t>D</a:t>
            </a:r>
            <a:r>
              <a:rPr lang="zh-CN" altLang="en-US" sz="2400" b="0">
                <a:latin typeface="微软雅黑" panose="020B0503020204020204" pitchFamily="34" charset="-122"/>
                <a:ea typeface="微软雅黑" panose="020B0503020204020204" pitchFamily="34" charset="-122"/>
                <a:cs typeface="楷体_GB2312" pitchFamily="49" charset="-122"/>
              </a:rPr>
              <a:t>会引起？ </a:t>
            </a:r>
          </a:p>
          <a:p>
            <a:pPr>
              <a:lnSpc>
                <a:spcPct val="100000"/>
              </a:lnSpc>
              <a:spcBef>
                <a:spcPct val="0"/>
              </a:spcBef>
              <a:buFontTx/>
              <a:buNone/>
            </a:pPr>
            <a:r>
              <a:rPr lang="zh-CN" altLang="en-US" sz="2400" b="0">
                <a:latin typeface="微软雅黑" panose="020B0503020204020204" pitchFamily="34" charset="-122"/>
                <a:ea typeface="微软雅黑" panose="020B0503020204020204" pitchFamily="34" charset="-122"/>
                <a:cs typeface="楷体_GB2312" pitchFamily="49" charset="-122"/>
              </a:rPr>
              <a:t>④ 缺乏维生素</a:t>
            </a:r>
            <a:r>
              <a:rPr lang="en-US" altLang="zh-CN" sz="2400" b="0">
                <a:latin typeface="微软雅黑" panose="020B0503020204020204" pitchFamily="34" charset="-122"/>
                <a:ea typeface="微软雅黑" panose="020B0503020204020204" pitchFamily="34" charset="-122"/>
                <a:cs typeface="楷体_GB2312" pitchFamily="49" charset="-122"/>
              </a:rPr>
              <a:t>B1</a:t>
            </a:r>
            <a:r>
              <a:rPr lang="zh-CN" altLang="en-US" sz="2400" b="0">
                <a:latin typeface="微软雅黑" panose="020B0503020204020204" pitchFamily="34" charset="-122"/>
                <a:ea typeface="微软雅黑" panose="020B0503020204020204" pitchFamily="34" charset="-122"/>
                <a:cs typeface="楷体_GB2312" pitchFamily="49" charset="-122"/>
              </a:rPr>
              <a:t>会引起？</a:t>
            </a:r>
          </a:p>
          <a:p>
            <a:pPr>
              <a:lnSpc>
                <a:spcPct val="100000"/>
              </a:lnSpc>
              <a:spcBef>
                <a:spcPct val="0"/>
              </a:spcBef>
              <a:buFontTx/>
              <a:buNone/>
            </a:pPr>
            <a:r>
              <a:rPr lang="zh-CN" altLang="en-US" sz="2400" b="0">
                <a:latin typeface="微软雅黑" panose="020B0503020204020204" pitchFamily="34" charset="-122"/>
                <a:ea typeface="微软雅黑" panose="020B0503020204020204" pitchFamily="34" charset="-122"/>
                <a:cs typeface="楷体_GB2312" pitchFamily="49" charset="-122"/>
              </a:rPr>
              <a:t>⑤ 缺乏维生素</a:t>
            </a:r>
            <a:r>
              <a:rPr lang="en-US" altLang="zh-CN" sz="2400" b="0">
                <a:latin typeface="微软雅黑" panose="020B0503020204020204" pitchFamily="34" charset="-122"/>
                <a:ea typeface="微软雅黑" panose="020B0503020204020204" pitchFamily="34" charset="-122"/>
                <a:cs typeface="楷体_GB2312" pitchFamily="49" charset="-122"/>
              </a:rPr>
              <a:t>C</a:t>
            </a:r>
            <a:r>
              <a:rPr lang="zh-CN" altLang="en-US" sz="2400" b="0">
                <a:latin typeface="微软雅黑" panose="020B0503020204020204" pitchFamily="34" charset="-122"/>
                <a:ea typeface="微软雅黑" panose="020B0503020204020204" pitchFamily="34" charset="-122"/>
                <a:cs typeface="楷体_GB2312" pitchFamily="49" charset="-122"/>
              </a:rPr>
              <a:t>会引起？</a:t>
            </a:r>
          </a:p>
          <a:p>
            <a:pPr>
              <a:lnSpc>
                <a:spcPct val="100000"/>
              </a:lnSpc>
              <a:spcBef>
                <a:spcPct val="0"/>
              </a:spcBef>
              <a:buFontTx/>
              <a:buNone/>
            </a:pPr>
            <a:endParaRPr lang="en-US" altLang="zh-CN" sz="2400" b="0">
              <a:latin typeface="微软雅黑" panose="020B0503020204020204" pitchFamily="34" charset="-122"/>
              <a:ea typeface="微软雅黑" panose="020B0503020204020204" pitchFamily="34" charset="-122"/>
              <a:cs typeface="楷体_GB2312" pitchFamily="49" charset="-122"/>
            </a:endParaRPr>
          </a:p>
          <a:p>
            <a:pPr>
              <a:lnSpc>
                <a:spcPct val="100000"/>
              </a:lnSpc>
              <a:spcBef>
                <a:spcPct val="0"/>
              </a:spcBef>
              <a:buFontTx/>
              <a:buNone/>
            </a:pPr>
            <a:r>
              <a:rPr lang="zh-CN" altLang="en-US" sz="2400">
                <a:latin typeface="微软雅黑" panose="020B0503020204020204" pitchFamily="34" charset="-122"/>
                <a:ea typeface="微软雅黑" panose="020B0503020204020204" pitchFamily="34" charset="-122"/>
                <a:cs typeface="楷体_GB2312" pitchFamily="49" charset="-122"/>
              </a:rPr>
              <a:t>哪种维生素的吸收需要内因子？</a:t>
            </a:r>
            <a:endParaRPr lang="en-US" altLang="zh-CN" sz="2400">
              <a:latin typeface="微软雅黑" panose="020B0503020204020204" pitchFamily="34" charset="-122"/>
              <a:ea typeface="微软雅黑" panose="020B0503020204020204" pitchFamily="34" charset="-122"/>
              <a:cs typeface="楷体_GB2312" pitchFamily="49" charset="-122"/>
            </a:endParaRPr>
          </a:p>
          <a:p>
            <a:pPr>
              <a:lnSpc>
                <a:spcPct val="100000"/>
              </a:lnSpc>
              <a:spcBef>
                <a:spcPct val="0"/>
              </a:spcBef>
              <a:buFontTx/>
              <a:buNone/>
            </a:pPr>
            <a:r>
              <a:rPr lang="en-US" altLang="zh-CN" sz="2400" b="0">
                <a:latin typeface="微软雅黑" panose="020B0503020204020204" pitchFamily="34" charset="-122"/>
                <a:ea typeface="微软雅黑" panose="020B0503020204020204" pitchFamily="34" charset="-122"/>
                <a:cs typeface="楷体_GB2312" pitchFamily="49" charset="-122"/>
              </a:rPr>
              <a:t>A.</a:t>
            </a:r>
            <a:r>
              <a:rPr lang="zh-CN" altLang="en-US" sz="2400" b="0">
                <a:latin typeface="微软雅黑" panose="020B0503020204020204" pitchFamily="34" charset="-122"/>
                <a:ea typeface="微软雅黑" panose="020B0503020204020204" pitchFamily="34" charset="-122"/>
                <a:cs typeface="楷体_GB2312" pitchFamily="49" charset="-122"/>
              </a:rPr>
              <a:t>维生素</a:t>
            </a:r>
            <a:r>
              <a:rPr lang="en-US" altLang="zh-CN" sz="2400" b="0">
                <a:latin typeface="微软雅黑" panose="020B0503020204020204" pitchFamily="34" charset="-122"/>
                <a:ea typeface="微软雅黑" panose="020B0503020204020204" pitchFamily="34" charset="-122"/>
                <a:cs typeface="楷体_GB2312" pitchFamily="49" charset="-122"/>
              </a:rPr>
              <a:t>B1       B.</a:t>
            </a:r>
            <a:r>
              <a:rPr lang="zh-CN" altLang="en-US" sz="2400" b="0">
                <a:latin typeface="微软雅黑" panose="020B0503020204020204" pitchFamily="34" charset="-122"/>
                <a:ea typeface="微软雅黑" panose="020B0503020204020204" pitchFamily="34" charset="-122"/>
                <a:cs typeface="楷体_GB2312" pitchFamily="49" charset="-122"/>
              </a:rPr>
              <a:t>维生素</a:t>
            </a:r>
            <a:r>
              <a:rPr lang="en-US" altLang="zh-CN" sz="2400" b="0">
                <a:latin typeface="微软雅黑" panose="020B0503020204020204" pitchFamily="34" charset="-122"/>
                <a:ea typeface="微软雅黑" panose="020B0503020204020204" pitchFamily="34" charset="-122"/>
                <a:cs typeface="楷体_GB2312" pitchFamily="49" charset="-122"/>
              </a:rPr>
              <a:t>B2        C.</a:t>
            </a:r>
            <a:r>
              <a:rPr lang="zh-CN" altLang="en-US" sz="2400" b="0">
                <a:latin typeface="微软雅黑" panose="020B0503020204020204" pitchFamily="34" charset="-122"/>
                <a:ea typeface="微软雅黑" panose="020B0503020204020204" pitchFamily="34" charset="-122"/>
                <a:cs typeface="楷体_GB2312" pitchFamily="49" charset="-122"/>
              </a:rPr>
              <a:t>维生素</a:t>
            </a:r>
            <a:r>
              <a:rPr lang="en-US" altLang="zh-CN" sz="2400" b="0">
                <a:latin typeface="微软雅黑" panose="020B0503020204020204" pitchFamily="34" charset="-122"/>
                <a:ea typeface="微软雅黑" panose="020B0503020204020204" pitchFamily="34" charset="-122"/>
                <a:cs typeface="楷体_GB2312" pitchFamily="49" charset="-122"/>
              </a:rPr>
              <a:t>PP   </a:t>
            </a:r>
          </a:p>
          <a:p>
            <a:pPr>
              <a:lnSpc>
                <a:spcPct val="100000"/>
              </a:lnSpc>
              <a:spcBef>
                <a:spcPct val="0"/>
              </a:spcBef>
              <a:buFontTx/>
              <a:buNone/>
            </a:pPr>
            <a:r>
              <a:rPr lang="en-US" altLang="zh-CN" sz="2400" b="0">
                <a:latin typeface="微软雅黑" panose="020B0503020204020204" pitchFamily="34" charset="-122"/>
                <a:ea typeface="微软雅黑" panose="020B0503020204020204" pitchFamily="34" charset="-122"/>
                <a:cs typeface="楷体_GB2312" pitchFamily="49" charset="-122"/>
              </a:rPr>
              <a:t>D.</a:t>
            </a:r>
            <a:r>
              <a:rPr lang="zh-CN" altLang="en-US" sz="2400" b="0">
                <a:latin typeface="微软雅黑" panose="020B0503020204020204" pitchFamily="34" charset="-122"/>
                <a:ea typeface="微软雅黑" panose="020B0503020204020204" pitchFamily="34" charset="-122"/>
                <a:cs typeface="楷体_GB2312" pitchFamily="49" charset="-122"/>
              </a:rPr>
              <a:t>维生素</a:t>
            </a:r>
            <a:r>
              <a:rPr lang="en-US" altLang="zh-CN" sz="2400" b="0">
                <a:latin typeface="微软雅黑" panose="020B0503020204020204" pitchFamily="34" charset="-122"/>
                <a:ea typeface="微软雅黑" panose="020B0503020204020204" pitchFamily="34" charset="-122"/>
                <a:cs typeface="楷体_GB2312" pitchFamily="49" charset="-122"/>
              </a:rPr>
              <a:t>B12      E.</a:t>
            </a:r>
            <a:r>
              <a:rPr lang="zh-CN" altLang="en-US" sz="2400" b="0">
                <a:latin typeface="微软雅黑" panose="020B0503020204020204" pitchFamily="34" charset="-122"/>
                <a:ea typeface="微软雅黑" panose="020B0503020204020204" pitchFamily="34" charset="-122"/>
                <a:cs typeface="楷体_GB2312" pitchFamily="49" charset="-122"/>
              </a:rPr>
              <a:t>生物素</a:t>
            </a:r>
          </a:p>
          <a:p>
            <a:pPr>
              <a:lnSpc>
                <a:spcPct val="100000"/>
              </a:lnSpc>
              <a:spcBef>
                <a:spcPct val="0"/>
              </a:spcBef>
              <a:buFontTx/>
              <a:buNone/>
            </a:pPr>
            <a:endParaRPr lang="zh-CN" altLang="en-US" sz="2400" b="0">
              <a:latin typeface="微软雅黑" panose="020B0503020204020204" pitchFamily="34" charset="-122"/>
              <a:ea typeface="微软雅黑" panose="020B0503020204020204" pitchFamily="34" charset="-122"/>
              <a:cs typeface="楷体_GB2312" pitchFamily="49" charset="-122"/>
            </a:endParaRPr>
          </a:p>
        </p:txBody>
      </p:sp>
      <p:sp>
        <p:nvSpPr>
          <p:cNvPr id="3" name="文本框 2">
            <a:extLst>
              <a:ext uri="{FF2B5EF4-FFF2-40B4-BE49-F238E27FC236}">
                <a16:creationId xmlns:a16="http://schemas.microsoft.com/office/drawing/2014/main" id="{B5207514-9472-40D7-9ED0-37CE861D1ED6}"/>
              </a:ext>
            </a:extLst>
          </p:cNvPr>
          <p:cNvSpPr txBox="1">
            <a:spLocks noChangeArrowheads="1"/>
          </p:cNvSpPr>
          <p:nvPr/>
        </p:nvSpPr>
        <p:spPr bwMode="auto">
          <a:xfrm>
            <a:off x="9048750" y="549275"/>
            <a:ext cx="1403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en-US" altLang="zh-CN" sz="3200" b="0">
                <a:solidFill>
                  <a:srgbClr val="C00000"/>
                </a:solidFill>
                <a:latin typeface="微软雅黑" panose="020B0503020204020204" pitchFamily="34" charset="-122"/>
                <a:ea typeface="微软雅黑" panose="020B0503020204020204" pitchFamily="34" charset="-122"/>
              </a:rPr>
              <a:t>ABCD</a:t>
            </a:r>
            <a:endParaRPr lang="zh-CN" altLang="en-US" sz="3200" b="0">
              <a:solidFill>
                <a:srgbClr val="C0000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372A112B-195E-4D8B-9FB3-57849845C897}"/>
              </a:ext>
            </a:extLst>
          </p:cNvPr>
          <p:cNvSpPr txBox="1">
            <a:spLocks noChangeArrowheads="1"/>
          </p:cNvSpPr>
          <p:nvPr/>
        </p:nvSpPr>
        <p:spPr bwMode="auto">
          <a:xfrm>
            <a:off x="6167439" y="2724150"/>
            <a:ext cx="47529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en-US" altLang="zh-CN" b="0">
                <a:solidFill>
                  <a:srgbClr val="C00000"/>
                </a:solidFill>
                <a:latin typeface="微软雅黑" panose="020B0503020204020204" pitchFamily="34" charset="-122"/>
                <a:ea typeface="微软雅黑" panose="020B0503020204020204" pitchFamily="34" charset="-122"/>
              </a:rPr>
              <a:t>①A  ②D  ③E  ④C  ⑤ B</a:t>
            </a:r>
          </a:p>
        </p:txBody>
      </p:sp>
      <p:sp>
        <p:nvSpPr>
          <p:cNvPr id="6" name="文本框 5">
            <a:extLst>
              <a:ext uri="{FF2B5EF4-FFF2-40B4-BE49-F238E27FC236}">
                <a16:creationId xmlns:a16="http://schemas.microsoft.com/office/drawing/2014/main" id="{3583BE68-8F7F-4305-BEC1-7A77430F5A64}"/>
              </a:ext>
            </a:extLst>
          </p:cNvPr>
          <p:cNvSpPr txBox="1">
            <a:spLocks noChangeArrowheads="1"/>
          </p:cNvSpPr>
          <p:nvPr/>
        </p:nvSpPr>
        <p:spPr bwMode="auto">
          <a:xfrm>
            <a:off x="9148763" y="4545013"/>
            <a:ext cx="1403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en-US" altLang="zh-CN" sz="3200" b="0">
                <a:solidFill>
                  <a:srgbClr val="C00000"/>
                </a:solidFill>
                <a:latin typeface="微软雅黑" panose="020B0503020204020204" pitchFamily="34" charset="-122"/>
                <a:ea typeface="微软雅黑" panose="020B0503020204020204" pitchFamily="34" charset="-122"/>
              </a:rPr>
              <a:t>D</a:t>
            </a:r>
            <a:endParaRPr lang="zh-CN" altLang="en-US" sz="3200" b="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矩形 1">
            <a:extLst>
              <a:ext uri="{FF2B5EF4-FFF2-40B4-BE49-F238E27FC236}">
                <a16:creationId xmlns:a16="http://schemas.microsoft.com/office/drawing/2014/main" id="{59DABFD1-25AF-4C68-A43D-58440196D054}"/>
              </a:ext>
            </a:extLst>
          </p:cNvPr>
          <p:cNvSpPr>
            <a:spLocks noChangeArrowheads="1"/>
          </p:cNvSpPr>
          <p:nvPr/>
        </p:nvSpPr>
        <p:spPr bwMode="auto">
          <a:xfrm>
            <a:off x="2135189" y="531814"/>
            <a:ext cx="8353425" cy="579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20000"/>
              </a:lnSpc>
              <a:spcBef>
                <a:spcPct val="0"/>
              </a:spcBef>
              <a:buFontTx/>
              <a:buNone/>
            </a:pPr>
            <a:r>
              <a:rPr lang="en-US" altLang="zh-CN" sz="2400" b="0" dirty="0">
                <a:latin typeface="微软雅黑" panose="020B0503020204020204" pitchFamily="34" charset="-122"/>
                <a:ea typeface="微软雅黑" panose="020B0503020204020204" pitchFamily="34" charset="-122"/>
                <a:cs typeface="楷体_GB2312" pitchFamily="49" charset="-122"/>
              </a:rPr>
              <a:t>A.</a:t>
            </a:r>
            <a:r>
              <a:rPr lang="zh-CN" altLang="en-US" sz="2400" b="0" dirty="0">
                <a:latin typeface="微软雅黑" panose="020B0503020204020204" pitchFamily="34" charset="-122"/>
                <a:ea typeface="微软雅黑" panose="020B0503020204020204" pitchFamily="34" charset="-122"/>
                <a:cs typeface="楷体_GB2312" pitchFamily="49" charset="-122"/>
              </a:rPr>
              <a:t>转移酰基      </a:t>
            </a:r>
            <a:r>
              <a:rPr lang="en-US" altLang="zh-CN" sz="2400" b="0" dirty="0">
                <a:latin typeface="微软雅黑" panose="020B0503020204020204" pitchFamily="34" charset="-122"/>
                <a:ea typeface="微软雅黑" panose="020B0503020204020204" pitchFamily="34" charset="-122"/>
                <a:cs typeface="楷体_GB2312" pitchFamily="49" charset="-122"/>
              </a:rPr>
              <a:t>B.</a:t>
            </a:r>
            <a:r>
              <a:rPr lang="zh-CN" altLang="en-US" sz="2400" b="0" dirty="0">
                <a:latin typeface="微软雅黑" panose="020B0503020204020204" pitchFamily="34" charset="-122"/>
                <a:ea typeface="微软雅黑" panose="020B0503020204020204" pitchFamily="34" charset="-122"/>
                <a:cs typeface="楷体_GB2312" pitchFamily="49" charset="-122"/>
              </a:rPr>
              <a:t>转移氨基      </a:t>
            </a:r>
            <a:r>
              <a:rPr lang="en-US" altLang="zh-CN" sz="2400" b="0" dirty="0">
                <a:latin typeface="微软雅黑" panose="020B0503020204020204" pitchFamily="34" charset="-122"/>
                <a:ea typeface="微软雅黑" panose="020B0503020204020204" pitchFamily="34" charset="-122"/>
                <a:cs typeface="楷体_GB2312" pitchFamily="49" charset="-122"/>
              </a:rPr>
              <a:t>C.</a:t>
            </a:r>
            <a:r>
              <a:rPr lang="zh-CN" altLang="en-US" sz="2400" b="0" dirty="0">
                <a:latin typeface="微软雅黑" panose="020B0503020204020204" pitchFamily="34" charset="-122"/>
                <a:ea typeface="微软雅黑" panose="020B0503020204020204" pitchFamily="34" charset="-122"/>
                <a:cs typeface="楷体_GB2312" pitchFamily="49" charset="-122"/>
              </a:rPr>
              <a:t>转移一碳单位  </a:t>
            </a:r>
            <a:endParaRPr lang="en-US" altLang="zh-CN" sz="2400" b="0" dirty="0">
              <a:latin typeface="微软雅黑" panose="020B0503020204020204" pitchFamily="34" charset="-122"/>
              <a:ea typeface="微软雅黑" panose="020B0503020204020204" pitchFamily="34" charset="-122"/>
              <a:cs typeface="楷体_GB2312" pitchFamily="49" charset="-122"/>
            </a:endParaRPr>
          </a:p>
          <a:p>
            <a:pPr>
              <a:lnSpc>
                <a:spcPct val="120000"/>
              </a:lnSpc>
              <a:spcBef>
                <a:spcPct val="0"/>
              </a:spcBef>
              <a:buFontTx/>
              <a:buNone/>
            </a:pPr>
            <a:r>
              <a:rPr lang="en-US" altLang="zh-CN" sz="2400" b="0" dirty="0">
                <a:latin typeface="微软雅黑" panose="020B0503020204020204" pitchFamily="34" charset="-122"/>
                <a:ea typeface="微软雅黑" panose="020B0503020204020204" pitchFamily="34" charset="-122"/>
                <a:cs typeface="楷体_GB2312" pitchFamily="49" charset="-122"/>
              </a:rPr>
              <a:t>D.</a:t>
            </a:r>
            <a:r>
              <a:rPr lang="zh-CN" altLang="en-US" sz="2400" b="0" dirty="0">
                <a:latin typeface="微软雅黑" panose="020B0503020204020204" pitchFamily="34" charset="-122"/>
                <a:ea typeface="微软雅黑" panose="020B0503020204020204" pitchFamily="34" charset="-122"/>
                <a:cs typeface="楷体_GB2312" pitchFamily="49" charset="-122"/>
              </a:rPr>
              <a:t>转移氢原子  </a:t>
            </a:r>
            <a:r>
              <a:rPr lang="en-US" altLang="zh-CN" sz="2400" b="0" dirty="0">
                <a:latin typeface="微软雅黑" panose="020B0503020204020204" pitchFamily="34" charset="-122"/>
                <a:ea typeface="微软雅黑" panose="020B0503020204020204" pitchFamily="34" charset="-122"/>
                <a:cs typeface="楷体_GB2312" pitchFamily="49" charset="-122"/>
              </a:rPr>
              <a:t>  E.</a:t>
            </a:r>
            <a:r>
              <a:rPr lang="zh-CN" altLang="en-US" sz="2400" b="0" dirty="0">
                <a:latin typeface="微软雅黑" panose="020B0503020204020204" pitchFamily="34" charset="-122"/>
                <a:ea typeface="微软雅黑" panose="020B0503020204020204" pitchFamily="34" charset="-122"/>
                <a:cs typeface="楷体_GB2312" pitchFamily="49" charset="-122"/>
              </a:rPr>
              <a:t>转移</a:t>
            </a:r>
            <a:r>
              <a:rPr lang="en-US" altLang="zh-CN" sz="2400" b="0" dirty="0">
                <a:latin typeface="微软雅黑" panose="020B0503020204020204" pitchFamily="34" charset="-122"/>
                <a:ea typeface="微软雅黑" panose="020B0503020204020204" pitchFamily="34" charset="-122"/>
                <a:cs typeface="楷体_GB2312" pitchFamily="49" charset="-122"/>
              </a:rPr>
              <a:t>CO2</a:t>
            </a:r>
          </a:p>
          <a:p>
            <a:pPr>
              <a:lnSpc>
                <a:spcPct val="120000"/>
              </a:lnSpc>
              <a:spcBef>
                <a:spcPct val="0"/>
              </a:spcBef>
              <a:buFontTx/>
              <a:buNone/>
            </a:pPr>
            <a:r>
              <a:rPr lang="en-US" altLang="zh-CN" sz="2400" b="0" dirty="0">
                <a:latin typeface="微软雅黑" panose="020B0503020204020204" pitchFamily="34" charset="-122"/>
                <a:ea typeface="微软雅黑" panose="020B0503020204020204" pitchFamily="34" charset="-122"/>
                <a:cs typeface="楷体_GB2312" pitchFamily="49" charset="-122"/>
              </a:rPr>
              <a:t>① </a:t>
            </a:r>
            <a:r>
              <a:rPr lang="en-US" altLang="zh-CN" sz="2400" b="0" dirty="0" err="1">
                <a:latin typeface="微软雅黑" panose="020B0503020204020204" pitchFamily="34" charset="-122"/>
                <a:ea typeface="微软雅黑" panose="020B0503020204020204" pitchFamily="34" charset="-122"/>
                <a:cs typeface="楷体_GB2312" pitchFamily="49" charset="-122"/>
              </a:rPr>
              <a:t>CoASH</a:t>
            </a:r>
            <a:r>
              <a:rPr lang="zh-CN" altLang="en-US" sz="2400" b="0" dirty="0">
                <a:latin typeface="微软雅黑" panose="020B0503020204020204" pitchFamily="34" charset="-122"/>
                <a:ea typeface="微软雅黑" panose="020B0503020204020204" pitchFamily="34" charset="-122"/>
                <a:cs typeface="楷体_GB2312" pitchFamily="49" charset="-122"/>
              </a:rPr>
              <a:t>的作用是：</a:t>
            </a:r>
          </a:p>
          <a:p>
            <a:pPr>
              <a:lnSpc>
                <a:spcPct val="120000"/>
              </a:lnSpc>
              <a:spcBef>
                <a:spcPct val="0"/>
              </a:spcBef>
              <a:buFontTx/>
              <a:buNone/>
            </a:pPr>
            <a:r>
              <a:rPr lang="zh-CN" altLang="en-US" sz="2400" b="0" dirty="0">
                <a:latin typeface="微软雅黑" panose="020B0503020204020204" pitchFamily="34" charset="-122"/>
                <a:ea typeface="微软雅黑" panose="020B0503020204020204" pitchFamily="34" charset="-122"/>
                <a:cs typeface="楷体_GB2312" pitchFamily="49" charset="-122"/>
              </a:rPr>
              <a:t>② 磷酸吡哆醛的作用是：</a:t>
            </a:r>
          </a:p>
          <a:p>
            <a:pPr>
              <a:lnSpc>
                <a:spcPct val="120000"/>
              </a:lnSpc>
              <a:spcBef>
                <a:spcPct val="0"/>
              </a:spcBef>
              <a:buFontTx/>
              <a:buNone/>
            </a:pPr>
            <a:r>
              <a:rPr lang="zh-CN" altLang="en-US" sz="2400" b="0" dirty="0">
                <a:latin typeface="微软雅黑" panose="020B0503020204020204" pitchFamily="34" charset="-122"/>
                <a:ea typeface="微软雅黑" panose="020B0503020204020204" pitchFamily="34" charset="-122"/>
                <a:cs typeface="楷体_GB2312" pitchFamily="49" charset="-122"/>
              </a:rPr>
              <a:t>③ 生物素的作用是：                   </a:t>
            </a:r>
          </a:p>
          <a:p>
            <a:pPr>
              <a:lnSpc>
                <a:spcPct val="120000"/>
              </a:lnSpc>
              <a:spcBef>
                <a:spcPct val="0"/>
              </a:spcBef>
              <a:buFontTx/>
              <a:buNone/>
            </a:pPr>
            <a:r>
              <a:rPr lang="zh-CN" altLang="en-US" sz="2400" b="0" dirty="0">
                <a:latin typeface="微软雅黑" panose="020B0503020204020204" pitchFamily="34" charset="-122"/>
                <a:ea typeface="微软雅黑" panose="020B0503020204020204" pitchFamily="34" charset="-122"/>
                <a:cs typeface="楷体_GB2312" pitchFamily="49" charset="-122"/>
              </a:rPr>
              <a:t>④ </a:t>
            </a:r>
            <a:r>
              <a:rPr lang="en-US" altLang="zh-CN" sz="2400" b="0" dirty="0">
                <a:latin typeface="微软雅黑" panose="020B0503020204020204" pitchFamily="34" charset="-122"/>
                <a:ea typeface="微软雅黑" panose="020B0503020204020204" pitchFamily="34" charset="-122"/>
                <a:cs typeface="楷体_GB2312" pitchFamily="49" charset="-122"/>
              </a:rPr>
              <a:t>FH4</a:t>
            </a:r>
            <a:r>
              <a:rPr lang="zh-CN" altLang="en-US" sz="2400" b="0" dirty="0">
                <a:latin typeface="微软雅黑" panose="020B0503020204020204" pitchFamily="34" charset="-122"/>
                <a:ea typeface="微软雅黑" panose="020B0503020204020204" pitchFamily="34" charset="-122"/>
                <a:cs typeface="楷体_GB2312" pitchFamily="49" charset="-122"/>
              </a:rPr>
              <a:t>的作用是：         </a:t>
            </a:r>
          </a:p>
          <a:p>
            <a:pPr>
              <a:lnSpc>
                <a:spcPct val="120000"/>
              </a:lnSpc>
              <a:spcBef>
                <a:spcPct val="0"/>
              </a:spcBef>
              <a:buFontTx/>
              <a:buNone/>
            </a:pPr>
            <a:r>
              <a:rPr lang="zh-CN" altLang="en-US" sz="2400" b="0" dirty="0">
                <a:latin typeface="微软雅黑" panose="020B0503020204020204" pitchFamily="34" charset="-122"/>
                <a:ea typeface="微软雅黑" panose="020B0503020204020204" pitchFamily="34" charset="-122"/>
                <a:cs typeface="楷体_GB2312" pitchFamily="49" charset="-122"/>
              </a:rPr>
              <a:t>⑤ </a:t>
            </a:r>
            <a:r>
              <a:rPr lang="en-US" altLang="zh-CN" sz="2400" b="0" dirty="0">
                <a:latin typeface="微软雅黑" panose="020B0503020204020204" pitchFamily="34" charset="-122"/>
                <a:ea typeface="微软雅黑" panose="020B0503020204020204" pitchFamily="34" charset="-122"/>
                <a:cs typeface="楷体_GB2312" pitchFamily="49" charset="-122"/>
              </a:rPr>
              <a:t>NAD</a:t>
            </a:r>
            <a:r>
              <a:rPr lang="en-US" altLang="zh-CN" sz="2400" b="0" baseline="30000" dirty="0">
                <a:latin typeface="微软雅黑" panose="020B0503020204020204" pitchFamily="34" charset="-122"/>
                <a:ea typeface="微软雅黑" panose="020B0503020204020204" pitchFamily="34" charset="-122"/>
                <a:cs typeface="楷体_GB2312" pitchFamily="49" charset="-122"/>
              </a:rPr>
              <a:t>+</a:t>
            </a:r>
            <a:r>
              <a:rPr lang="zh-CN" altLang="en-US" sz="2400" b="0" dirty="0">
                <a:latin typeface="微软雅黑" panose="020B0503020204020204" pitchFamily="34" charset="-122"/>
                <a:ea typeface="微软雅黑" panose="020B0503020204020204" pitchFamily="34" charset="-122"/>
                <a:cs typeface="楷体_GB2312" pitchFamily="49" charset="-122"/>
              </a:rPr>
              <a:t>的作用是：</a:t>
            </a:r>
            <a:endParaRPr lang="en-US" altLang="zh-CN" sz="2400" b="0" dirty="0">
              <a:latin typeface="微软雅黑" panose="020B0503020204020204" pitchFamily="34" charset="-122"/>
              <a:ea typeface="微软雅黑" panose="020B0503020204020204" pitchFamily="34" charset="-122"/>
              <a:cs typeface="楷体_GB2312" pitchFamily="49" charset="-122"/>
            </a:endParaRPr>
          </a:p>
          <a:p>
            <a:pPr>
              <a:lnSpc>
                <a:spcPct val="120000"/>
              </a:lnSpc>
              <a:spcBef>
                <a:spcPct val="0"/>
              </a:spcBef>
              <a:buFontTx/>
              <a:buNone/>
            </a:pPr>
            <a:endParaRPr lang="en-US" altLang="zh-CN" sz="2400" b="0" dirty="0">
              <a:latin typeface="微软雅黑" panose="020B0503020204020204" pitchFamily="34" charset="-122"/>
              <a:ea typeface="微软雅黑" panose="020B0503020204020204" pitchFamily="34" charset="-122"/>
              <a:cs typeface="楷体_GB2312" pitchFamily="49" charset="-122"/>
            </a:endParaRPr>
          </a:p>
          <a:p>
            <a:pPr>
              <a:lnSpc>
                <a:spcPct val="120000"/>
              </a:lnSpc>
              <a:spcBef>
                <a:spcPct val="0"/>
              </a:spcBef>
              <a:buFontTx/>
              <a:buNone/>
            </a:pPr>
            <a:r>
              <a:rPr lang="zh-CN" altLang="en-US" sz="2400" dirty="0">
                <a:latin typeface="微软雅黑" panose="020B0503020204020204" pitchFamily="34" charset="-122"/>
                <a:ea typeface="微软雅黑" panose="020B0503020204020204" pitchFamily="34" charset="-122"/>
                <a:cs typeface="楷体_GB2312" pitchFamily="49" charset="-122"/>
              </a:rPr>
              <a:t>维生素</a:t>
            </a:r>
            <a:r>
              <a:rPr lang="en-US" altLang="zh-CN" sz="2400" dirty="0">
                <a:latin typeface="微软雅黑" panose="020B0503020204020204" pitchFamily="34" charset="-122"/>
                <a:ea typeface="微软雅黑" panose="020B0503020204020204" pitchFamily="34" charset="-122"/>
                <a:cs typeface="楷体_GB2312" pitchFamily="49" charset="-122"/>
              </a:rPr>
              <a:t>A</a:t>
            </a:r>
            <a:r>
              <a:rPr lang="zh-CN" altLang="en-US" sz="2400" dirty="0">
                <a:latin typeface="微软雅黑" panose="020B0503020204020204" pitchFamily="34" charset="-122"/>
                <a:ea typeface="微软雅黑" panose="020B0503020204020204" pitchFamily="34" charset="-122"/>
                <a:cs typeface="楷体_GB2312" pitchFamily="49" charset="-122"/>
              </a:rPr>
              <a:t>参与视紫红质的形式是</a:t>
            </a:r>
          </a:p>
          <a:p>
            <a:pPr>
              <a:lnSpc>
                <a:spcPct val="120000"/>
              </a:lnSpc>
              <a:spcBef>
                <a:spcPct val="0"/>
              </a:spcBef>
              <a:buFontTx/>
              <a:buNone/>
            </a:pPr>
            <a:r>
              <a:rPr lang="en-US" altLang="zh-CN" sz="2400" b="0" dirty="0">
                <a:latin typeface="微软雅黑" panose="020B0503020204020204" pitchFamily="34" charset="-122"/>
                <a:ea typeface="微软雅黑" panose="020B0503020204020204" pitchFamily="34" charset="-122"/>
                <a:cs typeface="楷体_GB2312" pitchFamily="49" charset="-122"/>
              </a:rPr>
              <a:t>A.</a:t>
            </a:r>
            <a:r>
              <a:rPr lang="zh-CN" altLang="en-US" sz="2400" b="0" dirty="0">
                <a:latin typeface="微软雅黑" panose="020B0503020204020204" pitchFamily="34" charset="-122"/>
                <a:ea typeface="微软雅黑" panose="020B0503020204020204" pitchFamily="34" charset="-122"/>
                <a:cs typeface="楷体_GB2312" pitchFamily="49" charset="-122"/>
              </a:rPr>
              <a:t>全反视黄醇           </a:t>
            </a:r>
            <a:r>
              <a:rPr lang="en-US" altLang="zh-CN" sz="2400" b="0" dirty="0">
                <a:latin typeface="微软雅黑" panose="020B0503020204020204" pitchFamily="34" charset="-122"/>
                <a:ea typeface="微软雅黑" panose="020B0503020204020204" pitchFamily="34" charset="-122"/>
                <a:cs typeface="楷体_GB2312" pitchFamily="49" charset="-122"/>
              </a:rPr>
              <a:t>B.11-</a:t>
            </a:r>
            <a:r>
              <a:rPr lang="zh-CN" altLang="en-US" sz="2400" b="0" dirty="0">
                <a:latin typeface="微软雅黑" panose="020B0503020204020204" pitchFamily="34" charset="-122"/>
                <a:ea typeface="微软雅黑" panose="020B0503020204020204" pitchFamily="34" charset="-122"/>
                <a:cs typeface="楷体_GB2312" pitchFamily="49" charset="-122"/>
              </a:rPr>
              <a:t>顺视黄醇             </a:t>
            </a:r>
            <a:endParaRPr lang="en-US" altLang="zh-CN" sz="2400" b="0" dirty="0">
              <a:latin typeface="微软雅黑" panose="020B0503020204020204" pitchFamily="34" charset="-122"/>
              <a:ea typeface="微软雅黑" panose="020B0503020204020204" pitchFamily="34" charset="-122"/>
              <a:cs typeface="楷体_GB2312" pitchFamily="49" charset="-122"/>
            </a:endParaRPr>
          </a:p>
          <a:p>
            <a:pPr>
              <a:lnSpc>
                <a:spcPct val="120000"/>
              </a:lnSpc>
              <a:spcBef>
                <a:spcPct val="0"/>
              </a:spcBef>
              <a:buFontTx/>
              <a:buNone/>
            </a:pPr>
            <a:r>
              <a:rPr lang="en-US" altLang="zh-CN" sz="2400" b="0" dirty="0">
                <a:latin typeface="微软雅黑" panose="020B0503020204020204" pitchFamily="34" charset="-122"/>
                <a:ea typeface="微软雅黑" panose="020B0503020204020204" pitchFamily="34" charset="-122"/>
                <a:cs typeface="楷体_GB2312" pitchFamily="49" charset="-122"/>
              </a:rPr>
              <a:t>C.</a:t>
            </a:r>
            <a:r>
              <a:rPr lang="zh-CN" altLang="en-US" sz="2400" b="0" dirty="0">
                <a:latin typeface="微软雅黑" panose="020B0503020204020204" pitchFamily="34" charset="-122"/>
                <a:ea typeface="微软雅黑" panose="020B0503020204020204" pitchFamily="34" charset="-122"/>
                <a:cs typeface="楷体_GB2312" pitchFamily="49" charset="-122"/>
              </a:rPr>
              <a:t>全反视黄醛           </a:t>
            </a:r>
            <a:r>
              <a:rPr lang="en-US" altLang="zh-CN" sz="2400" b="0" dirty="0">
                <a:latin typeface="微软雅黑" panose="020B0503020204020204" pitchFamily="34" charset="-122"/>
                <a:ea typeface="微软雅黑" panose="020B0503020204020204" pitchFamily="34" charset="-122"/>
                <a:cs typeface="楷体_GB2312" pitchFamily="49" charset="-122"/>
              </a:rPr>
              <a:t>D.11-</a:t>
            </a:r>
            <a:r>
              <a:rPr lang="zh-CN" altLang="en-US" sz="2400" b="0" dirty="0">
                <a:latin typeface="微软雅黑" panose="020B0503020204020204" pitchFamily="34" charset="-122"/>
                <a:ea typeface="微软雅黑" panose="020B0503020204020204" pitchFamily="34" charset="-122"/>
                <a:cs typeface="楷体_GB2312" pitchFamily="49" charset="-122"/>
              </a:rPr>
              <a:t>顺视黄醛           </a:t>
            </a:r>
            <a:endParaRPr lang="en-US" altLang="zh-CN" sz="2400" b="0" dirty="0">
              <a:latin typeface="微软雅黑" panose="020B0503020204020204" pitchFamily="34" charset="-122"/>
              <a:ea typeface="微软雅黑" panose="020B0503020204020204" pitchFamily="34" charset="-122"/>
              <a:cs typeface="楷体_GB2312" pitchFamily="49" charset="-122"/>
            </a:endParaRPr>
          </a:p>
          <a:p>
            <a:pPr>
              <a:lnSpc>
                <a:spcPct val="120000"/>
              </a:lnSpc>
              <a:spcBef>
                <a:spcPct val="0"/>
              </a:spcBef>
              <a:buFontTx/>
              <a:buNone/>
            </a:pPr>
            <a:r>
              <a:rPr lang="en-US" altLang="zh-CN" sz="2400" b="0" dirty="0">
                <a:latin typeface="微软雅黑" panose="020B0503020204020204" pitchFamily="34" charset="-122"/>
                <a:ea typeface="微软雅黑" panose="020B0503020204020204" pitchFamily="34" charset="-122"/>
                <a:cs typeface="楷体_GB2312" pitchFamily="49" charset="-122"/>
              </a:rPr>
              <a:t>E.9-</a:t>
            </a:r>
            <a:r>
              <a:rPr lang="zh-CN" altLang="en-US" sz="2400" b="0" dirty="0">
                <a:latin typeface="微软雅黑" panose="020B0503020204020204" pitchFamily="34" charset="-122"/>
                <a:ea typeface="微软雅黑" panose="020B0503020204020204" pitchFamily="34" charset="-122"/>
                <a:cs typeface="楷体_GB2312" pitchFamily="49" charset="-122"/>
              </a:rPr>
              <a:t>顺视黄醛</a:t>
            </a:r>
          </a:p>
          <a:p>
            <a:pPr>
              <a:lnSpc>
                <a:spcPct val="120000"/>
              </a:lnSpc>
              <a:spcBef>
                <a:spcPct val="0"/>
              </a:spcBef>
              <a:buFontTx/>
              <a:buNone/>
            </a:pPr>
            <a:endParaRPr lang="en-US" altLang="zh-CN" sz="2400" b="0" dirty="0">
              <a:latin typeface="微软雅黑" panose="020B0503020204020204" pitchFamily="34" charset="-122"/>
              <a:ea typeface="微软雅黑" panose="020B0503020204020204" pitchFamily="34" charset="-122"/>
              <a:cs typeface="楷体_GB2312" pitchFamily="49" charset="-122"/>
            </a:endParaRPr>
          </a:p>
        </p:txBody>
      </p:sp>
      <p:sp>
        <p:nvSpPr>
          <p:cNvPr id="4" name="文本框 3">
            <a:extLst>
              <a:ext uri="{FF2B5EF4-FFF2-40B4-BE49-F238E27FC236}">
                <a16:creationId xmlns:a16="http://schemas.microsoft.com/office/drawing/2014/main" id="{9D176279-751A-4E66-A832-FC61509B59D1}"/>
              </a:ext>
            </a:extLst>
          </p:cNvPr>
          <p:cNvSpPr txBox="1">
            <a:spLocks noChangeArrowheads="1"/>
          </p:cNvSpPr>
          <p:nvPr/>
        </p:nvSpPr>
        <p:spPr bwMode="auto">
          <a:xfrm>
            <a:off x="8294689" y="3856038"/>
            <a:ext cx="14049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en-US" altLang="zh-CN" sz="3200" b="0">
                <a:solidFill>
                  <a:srgbClr val="C00000"/>
                </a:solidFill>
                <a:latin typeface="微软雅黑" panose="020B0503020204020204" pitchFamily="34" charset="-122"/>
                <a:ea typeface="微软雅黑" panose="020B0503020204020204" pitchFamily="34" charset="-122"/>
                <a:cs typeface="楷体_GB2312" pitchFamily="49" charset="-122"/>
              </a:rPr>
              <a:t>D</a:t>
            </a:r>
            <a:endParaRPr lang="zh-CN" altLang="en-US" sz="3200" b="0">
              <a:solidFill>
                <a:srgbClr val="C00000"/>
              </a:solidFill>
              <a:latin typeface="微软雅黑" panose="020B0503020204020204" pitchFamily="34" charset="-122"/>
              <a:ea typeface="微软雅黑" panose="020B0503020204020204" pitchFamily="34" charset="-122"/>
              <a:cs typeface="楷体_GB2312" pitchFamily="49" charset="-122"/>
            </a:endParaRPr>
          </a:p>
        </p:txBody>
      </p:sp>
      <p:sp>
        <p:nvSpPr>
          <p:cNvPr id="5" name="文本框 4">
            <a:extLst>
              <a:ext uri="{FF2B5EF4-FFF2-40B4-BE49-F238E27FC236}">
                <a16:creationId xmlns:a16="http://schemas.microsoft.com/office/drawing/2014/main" id="{4F7DD02D-9459-4878-80FF-E5E2991B9950}"/>
              </a:ext>
            </a:extLst>
          </p:cNvPr>
          <p:cNvSpPr txBox="1">
            <a:spLocks noChangeArrowheads="1"/>
          </p:cNvSpPr>
          <p:nvPr/>
        </p:nvSpPr>
        <p:spPr bwMode="auto">
          <a:xfrm>
            <a:off x="6527800" y="1412875"/>
            <a:ext cx="14049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en-US" altLang="zh-CN" sz="3200" b="0">
                <a:solidFill>
                  <a:srgbClr val="C00000"/>
                </a:solidFill>
                <a:latin typeface="微软雅黑" panose="020B0503020204020204" pitchFamily="34" charset="-122"/>
                <a:ea typeface="微软雅黑" panose="020B0503020204020204" pitchFamily="34" charset="-122"/>
                <a:cs typeface="楷体_GB2312" pitchFamily="49" charset="-122"/>
              </a:rPr>
              <a:t>A</a:t>
            </a:r>
            <a:endParaRPr lang="zh-CN" altLang="en-US" sz="3200" b="0">
              <a:solidFill>
                <a:srgbClr val="C00000"/>
              </a:solidFill>
              <a:latin typeface="微软雅黑" panose="020B0503020204020204" pitchFamily="34" charset="-122"/>
              <a:ea typeface="微软雅黑" panose="020B0503020204020204" pitchFamily="34" charset="-122"/>
              <a:cs typeface="楷体_GB2312" pitchFamily="49" charset="-122"/>
            </a:endParaRPr>
          </a:p>
        </p:txBody>
      </p:sp>
      <p:sp>
        <p:nvSpPr>
          <p:cNvPr id="6" name="文本框 5">
            <a:extLst>
              <a:ext uri="{FF2B5EF4-FFF2-40B4-BE49-F238E27FC236}">
                <a16:creationId xmlns:a16="http://schemas.microsoft.com/office/drawing/2014/main" id="{068DD33D-DA50-4754-8C02-D1DCF10FBA1A}"/>
              </a:ext>
            </a:extLst>
          </p:cNvPr>
          <p:cNvSpPr txBox="1">
            <a:spLocks noChangeArrowheads="1"/>
          </p:cNvSpPr>
          <p:nvPr/>
        </p:nvSpPr>
        <p:spPr bwMode="auto">
          <a:xfrm>
            <a:off x="6680200" y="1836738"/>
            <a:ext cx="14049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en-US" altLang="zh-CN" sz="3200" b="0">
                <a:solidFill>
                  <a:srgbClr val="C00000"/>
                </a:solidFill>
                <a:latin typeface="微软雅黑" panose="020B0503020204020204" pitchFamily="34" charset="-122"/>
                <a:ea typeface="微软雅黑" panose="020B0503020204020204" pitchFamily="34" charset="-122"/>
                <a:cs typeface="楷体_GB2312" pitchFamily="49" charset="-122"/>
              </a:rPr>
              <a:t>B</a:t>
            </a:r>
            <a:endParaRPr lang="zh-CN" altLang="en-US" sz="3200" b="0">
              <a:solidFill>
                <a:srgbClr val="C00000"/>
              </a:solidFill>
              <a:latin typeface="微软雅黑" panose="020B0503020204020204" pitchFamily="34" charset="-122"/>
              <a:ea typeface="微软雅黑" panose="020B0503020204020204" pitchFamily="34" charset="-122"/>
              <a:cs typeface="楷体_GB2312" pitchFamily="49" charset="-122"/>
            </a:endParaRPr>
          </a:p>
        </p:txBody>
      </p:sp>
      <p:sp>
        <p:nvSpPr>
          <p:cNvPr id="7" name="文本框 6">
            <a:extLst>
              <a:ext uri="{FF2B5EF4-FFF2-40B4-BE49-F238E27FC236}">
                <a16:creationId xmlns:a16="http://schemas.microsoft.com/office/drawing/2014/main" id="{E16EF325-7EEC-4D06-8079-5948FC0C5E61}"/>
              </a:ext>
            </a:extLst>
          </p:cNvPr>
          <p:cNvSpPr txBox="1">
            <a:spLocks noChangeArrowheads="1"/>
          </p:cNvSpPr>
          <p:nvPr/>
        </p:nvSpPr>
        <p:spPr bwMode="auto">
          <a:xfrm>
            <a:off x="6680200" y="2268538"/>
            <a:ext cx="14049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en-US" altLang="zh-CN" sz="3200" b="0">
                <a:solidFill>
                  <a:srgbClr val="C00000"/>
                </a:solidFill>
                <a:latin typeface="微软雅黑" panose="020B0503020204020204" pitchFamily="34" charset="-122"/>
                <a:ea typeface="微软雅黑" panose="020B0503020204020204" pitchFamily="34" charset="-122"/>
                <a:cs typeface="楷体_GB2312" pitchFamily="49" charset="-122"/>
              </a:rPr>
              <a:t>E</a:t>
            </a:r>
            <a:endParaRPr lang="zh-CN" altLang="en-US" sz="3200" b="0">
              <a:solidFill>
                <a:srgbClr val="C00000"/>
              </a:solidFill>
              <a:latin typeface="微软雅黑" panose="020B0503020204020204" pitchFamily="34" charset="-122"/>
              <a:ea typeface="微软雅黑" panose="020B0503020204020204" pitchFamily="34" charset="-122"/>
              <a:cs typeface="楷体_GB2312" pitchFamily="49" charset="-122"/>
            </a:endParaRPr>
          </a:p>
        </p:txBody>
      </p:sp>
      <p:sp>
        <p:nvSpPr>
          <p:cNvPr id="8" name="文本框 7">
            <a:extLst>
              <a:ext uri="{FF2B5EF4-FFF2-40B4-BE49-F238E27FC236}">
                <a16:creationId xmlns:a16="http://schemas.microsoft.com/office/drawing/2014/main" id="{293BBAE5-DCE1-4C9E-B8D4-05F0DEBA533E}"/>
              </a:ext>
            </a:extLst>
          </p:cNvPr>
          <p:cNvSpPr txBox="1">
            <a:spLocks noChangeArrowheads="1"/>
          </p:cNvSpPr>
          <p:nvPr/>
        </p:nvSpPr>
        <p:spPr bwMode="auto">
          <a:xfrm>
            <a:off x="6648450" y="2741613"/>
            <a:ext cx="14049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en-US" altLang="zh-CN" sz="3200" b="0">
                <a:solidFill>
                  <a:srgbClr val="C00000"/>
                </a:solidFill>
                <a:latin typeface="微软雅黑" panose="020B0503020204020204" pitchFamily="34" charset="-122"/>
                <a:ea typeface="微软雅黑" panose="020B0503020204020204" pitchFamily="34" charset="-122"/>
                <a:cs typeface="楷体_GB2312" pitchFamily="49" charset="-122"/>
              </a:rPr>
              <a:t>C</a:t>
            </a:r>
            <a:endParaRPr lang="zh-CN" altLang="en-US" sz="3200" b="0">
              <a:solidFill>
                <a:srgbClr val="C00000"/>
              </a:solidFill>
              <a:latin typeface="微软雅黑" panose="020B0503020204020204" pitchFamily="34" charset="-122"/>
              <a:ea typeface="微软雅黑" panose="020B0503020204020204" pitchFamily="34" charset="-122"/>
              <a:cs typeface="楷体_GB2312" pitchFamily="49" charset="-122"/>
            </a:endParaRPr>
          </a:p>
        </p:txBody>
      </p:sp>
      <p:sp>
        <p:nvSpPr>
          <p:cNvPr id="9" name="文本框 8">
            <a:extLst>
              <a:ext uri="{FF2B5EF4-FFF2-40B4-BE49-F238E27FC236}">
                <a16:creationId xmlns:a16="http://schemas.microsoft.com/office/drawing/2014/main" id="{D879EE6C-A308-42F2-B7B6-6F4F0DB892AE}"/>
              </a:ext>
            </a:extLst>
          </p:cNvPr>
          <p:cNvSpPr txBox="1">
            <a:spLocks noChangeArrowheads="1"/>
          </p:cNvSpPr>
          <p:nvPr/>
        </p:nvSpPr>
        <p:spPr bwMode="auto">
          <a:xfrm>
            <a:off x="6680200" y="3132138"/>
            <a:ext cx="14049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en-US" altLang="zh-CN" sz="3200" b="0">
                <a:solidFill>
                  <a:srgbClr val="C00000"/>
                </a:solidFill>
                <a:latin typeface="微软雅黑" panose="020B0503020204020204" pitchFamily="34" charset="-122"/>
                <a:ea typeface="微软雅黑" panose="020B0503020204020204" pitchFamily="34" charset="-122"/>
                <a:cs typeface="楷体_GB2312" pitchFamily="49" charset="-122"/>
              </a:rPr>
              <a:t>D</a:t>
            </a:r>
            <a:endParaRPr lang="zh-CN" altLang="en-US" sz="3200" b="0">
              <a:solidFill>
                <a:srgbClr val="C00000"/>
              </a:solidFill>
              <a:latin typeface="微软雅黑" panose="020B0503020204020204" pitchFamily="34" charset="-122"/>
              <a:ea typeface="微软雅黑" panose="020B0503020204020204" pitchFamily="34" charset="-122"/>
              <a:cs typeface="楷体_GB2312"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主题1">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1210CD9F-B25D-4C0D-B1AB-0F42E14F20A6}" vid="{12F38152-8668-4BD9-842C-4B40FA4F08CE}"/>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36143</TotalTime>
  <Words>10442</Words>
  <Application>Microsoft Office PowerPoint</Application>
  <PresentationFormat>宽屏</PresentationFormat>
  <Paragraphs>808</Paragraphs>
  <Slides>80</Slides>
  <Notes>79</Notes>
  <HiddenSlides>19</HiddenSlides>
  <MMClips>0</MMClips>
  <ScaleCrop>false</ScaleCrop>
  <HeadingPairs>
    <vt:vector size="6" baseType="variant">
      <vt:variant>
        <vt:lpstr>已用的字体</vt:lpstr>
      </vt:variant>
      <vt:variant>
        <vt:i4>20</vt:i4>
      </vt:variant>
      <vt:variant>
        <vt:lpstr>主题</vt:lpstr>
      </vt:variant>
      <vt:variant>
        <vt:i4>4</vt:i4>
      </vt:variant>
      <vt:variant>
        <vt:lpstr>幻灯片标题</vt:lpstr>
      </vt:variant>
      <vt:variant>
        <vt:i4>80</vt:i4>
      </vt:variant>
    </vt:vector>
  </HeadingPairs>
  <TitlesOfParts>
    <vt:vector size="104" baseType="lpstr">
      <vt:lpstr>CenturyStd-Light</vt:lpstr>
      <vt:lpstr>Helvetica Neue</vt:lpstr>
      <vt:lpstr>等线</vt:lpstr>
      <vt:lpstr>等线 Light</vt:lpstr>
      <vt:lpstr>仿宋_GB2312</vt:lpstr>
      <vt:lpstr>黑体</vt:lpstr>
      <vt:lpstr>华文楷体</vt:lpstr>
      <vt:lpstr>楷体_GB2312</vt:lpstr>
      <vt:lpstr>宋体</vt:lpstr>
      <vt:lpstr>微软雅黑</vt:lpstr>
      <vt:lpstr>微软雅黑</vt:lpstr>
      <vt:lpstr>微软雅黑 Light</vt:lpstr>
      <vt:lpstr>Arial</vt:lpstr>
      <vt:lpstr>Calibri</vt:lpstr>
      <vt:lpstr>Calibri Light</vt:lpstr>
      <vt:lpstr>Helvetica</vt:lpstr>
      <vt:lpstr>Roboto</vt:lpstr>
      <vt:lpstr>Symbol</vt:lpstr>
      <vt:lpstr>Times New Roman</vt:lpstr>
      <vt:lpstr>Wingdings</vt:lpstr>
      <vt:lpstr>自定义设计方案</vt:lpstr>
      <vt:lpstr>主题1</vt:lpstr>
      <vt:lpstr>1_自定义设计方案</vt:lpstr>
      <vt:lpstr>Office 主题​​</vt:lpstr>
      <vt:lpstr>第六章    维生素</vt:lpstr>
      <vt:lpstr>PowerPoint 演示文稿</vt:lpstr>
      <vt:lpstr>维生素名称由来</vt:lpstr>
      <vt:lpstr>各种维生素的发现年份及其主要来源</vt:lpstr>
      <vt:lpstr>第一节 概述</vt:lpstr>
      <vt:lpstr>二、维生素的分类与命名</vt:lpstr>
      <vt:lpstr>PowerPoint 演示文稿</vt:lpstr>
      <vt:lpstr>脂溶性维生素与水溶性维生素的比较</vt:lpstr>
      <vt:lpstr>三、维生素缺乏的原因</vt:lpstr>
      <vt:lpstr> 第二节 脂溶性维生素</vt:lpstr>
      <vt:lpstr>PowerPoint 演示文稿</vt:lpstr>
      <vt:lpstr>PowerPoint 演示文稿</vt:lpstr>
      <vt:lpstr>β-胡萝卜素转变为维生素A</vt:lpstr>
      <vt:lpstr>PowerPoint 演示文稿</vt:lpstr>
      <vt:lpstr>维生素A 不仅参与视循环还是抗氧化剂</vt:lpstr>
      <vt:lpstr>PowerPoint 演示文稿</vt:lpstr>
      <vt:lpstr>PowerPoint 演示文稿</vt:lpstr>
      <vt:lpstr>PowerPoint 演示文稿</vt:lpstr>
      <vt:lpstr>PowerPoint 演示文稿</vt:lpstr>
      <vt:lpstr>病例讨论</vt:lpstr>
      <vt:lpstr>摄入过多动物肝脏致维生素A中毒</vt:lpstr>
      <vt:lpstr>二、维生素 D（D1, D2、D3、D4、D5）</vt:lpstr>
      <vt:lpstr>PowerPoint 演示文稿</vt:lpstr>
      <vt:lpstr>维生素D 不仅调节钙磷代谢还可影响细胞分化</vt:lpstr>
      <vt:lpstr>PowerPoint 演示文稿</vt:lpstr>
      <vt:lpstr>PowerPoint 演示文稿</vt:lpstr>
      <vt:lpstr>PowerPoint 演示文稿</vt:lpstr>
      <vt:lpstr>PowerPoint 演示文稿</vt:lpstr>
      <vt:lpstr>光照多少合适 ？</vt:lpstr>
      <vt:lpstr>光照多少合适 ？</vt:lpstr>
      <vt:lpstr>吃维生素D3胶囊可有效补充维生素D</vt:lpstr>
      <vt:lpstr> 三、维生素 E</vt:lpstr>
      <vt:lpstr>PowerPoint 演示文稿</vt:lpstr>
      <vt:lpstr>PowerPoint 演示文稿</vt:lpstr>
      <vt:lpstr>某维生素E产品说明：</vt:lpstr>
      <vt:lpstr>四、维生素 K　　凝血维生素</vt:lpstr>
      <vt:lpstr>PowerPoint 演示文稿</vt:lpstr>
      <vt:lpstr>PowerPoint 演示文稿</vt:lpstr>
      <vt:lpstr>PowerPoint 演示文稿</vt:lpstr>
      <vt:lpstr>第二节 水溶性维生素</vt:lpstr>
      <vt:lpstr>一、维生素 B1      别名：硫胺素、抗脚气病维生素</vt:lpstr>
      <vt:lpstr>PowerPoint 演示文稿</vt:lpstr>
      <vt:lpstr>PowerPoint 演示文稿</vt:lpstr>
      <vt:lpstr>二、维生素 B2       别名： 核黄素</vt:lpstr>
      <vt:lpstr>某些酶（黄素蛋白）含有黄素核苷酸</vt:lpstr>
      <vt:lpstr>PowerPoint 演示文稿</vt:lpstr>
      <vt:lpstr>三、维生素 B３ ,  别名维生素PP            包括烟酸、烟酰胺</vt:lpstr>
      <vt:lpstr>PowerPoint 演示文稿</vt:lpstr>
      <vt:lpstr>PowerPoint 演示文稿</vt:lpstr>
      <vt:lpstr>四、泛 酸             别名：遍多酸， B5</vt:lpstr>
      <vt:lpstr>PowerPoint 演示文稿</vt:lpstr>
      <vt:lpstr>五、维生素 B6</vt:lpstr>
      <vt:lpstr>PowerPoint 演示文稿</vt:lpstr>
      <vt:lpstr>PowerPoint 演示文稿</vt:lpstr>
      <vt:lpstr>六、生物素              别名：维生素H, B7</vt:lpstr>
      <vt:lpstr>生物素的生理功能</vt:lpstr>
      <vt:lpstr>PowerPoint 演示文稿</vt:lpstr>
      <vt:lpstr>PowerPoint 演示文稿</vt:lpstr>
      <vt:lpstr>PowerPoint 演示文稿</vt:lpstr>
      <vt:lpstr>PowerPoint 演示文稿</vt:lpstr>
      <vt:lpstr>PowerPoint 演示文稿</vt:lpstr>
      <vt:lpstr>PowerPoint 演示文稿</vt:lpstr>
      <vt:lpstr>科学发现破案</vt:lpstr>
      <vt:lpstr>PowerPoint 演示文稿</vt:lpstr>
      <vt:lpstr>PowerPoint 演示文稿</vt:lpstr>
      <vt:lpstr>九、维生素 C</vt:lpstr>
      <vt:lpstr>PowerPoint 演示文稿</vt:lpstr>
      <vt:lpstr>PowerPoint 演示文稿</vt:lpstr>
      <vt:lpstr>PowerPoint 演示文稿</vt:lpstr>
      <vt:lpstr>PowerPoint 演示文稿</vt:lpstr>
      <vt:lpstr>维生素小结</vt:lpstr>
      <vt:lpstr>PowerPoint 演示文稿</vt:lpstr>
      <vt:lpstr>维生素中毒</vt:lpstr>
      <vt:lpstr>什么人需要补充维生素？</vt:lpstr>
      <vt:lpstr>如何增加维生素摄入量？</vt:lpstr>
      <vt:lpstr>PowerPoint 演示文稿</vt:lpstr>
      <vt:lpstr>PowerPoint 演示文稿</vt:lpstr>
      <vt:lpstr>PowerPoint 演示文稿</vt:lpstr>
      <vt:lpstr>PowerPoint 演示文稿</vt:lpstr>
      <vt:lpstr>PowerPoint 演示文稿</vt:lpstr>
    </vt:vector>
  </TitlesOfParts>
  <Company>MIT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  维生素</dc:title>
  <dc:creator>HHP</dc:creator>
  <cp:lastModifiedBy>yifei peng</cp:lastModifiedBy>
  <cp:revision>729</cp:revision>
  <dcterms:created xsi:type="dcterms:W3CDTF">2003-02-25T00:46:43Z</dcterms:created>
  <dcterms:modified xsi:type="dcterms:W3CDTF">2026-09-22T11:05:56Z</dcterms:modified>
</cp:coreProperties>
</file>