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52" r:id="rId1"/>
  </p:sldMasterIdLst>
  <p:notesMasterIdLst>
    <p:notesMasterId r:id="rId140"/>
  </p:notesMasterIdLst>
  <p:handoutMasterIdLst>
    <p:handoutMasterId r:id="rId141"/>
  </p:handoutMasterIdLst>
  <p:sldIdLst>
    <p:sldId id="729" r:id="rId2"/>
    <p:sldId id="750" r:id="rId3"/>
    <p:sldId id="433" r:id="rId4"/>
    <p:sldId id="314" r:id="rId5"/>
    <p:sldId id="435" r:id="rId6"/>
    <p:sldId id="317" r:id="rId7"/>
    <p:sldId id="318" r:id="rId8"/>
    <p:sldId id="854" r:id="rId9"/>
    <p:sldId id="320" r:id="rId10"/>
    <p:sldId id="319" r:id="rId11"/>
    <p:sldId id="855" r:id="rId12"/>
    <p:sldId id="593" r:id="rId13"/>
    <p:sldId id="388" r:id="rId14"/>
    <p:sldId id="860" r:id="rId15"/>
    <p:sldId id="825" r:id="rId16"/>
    <p:sldId id="500" r:id="rId17"/>
    <p:sldId id="817" r:id="rId18"/>
    <p:sldId id="795" r:id="rId19"/>
    <p:sldId id="754" r:id="rId20"/>
    <p:sldId id="625" r:id="rId21"/>
    <p:sldId id="626" r:id="rId22"/>
    <p:sldId id="627" r:id="rId23"/>
    <p:sldId id="834" r:id="rId24"/>
    <p:sldId id="748" r:id="rId25"/>
    <p:sldId id="751" r:id="rId26"/>
    <p:sldId id="835" r:id="rId27"/>
    <p:sldId id="326" r:id="rId28"/>
    <p:sldId id="556" r:id="rId29"/>
    <p:sldId id="591" r:id="rId30"/>
    <p:sldId id="328" r:id="rId31"/>
    <p:sldId id="330" r:id="rId32"/>
    <p:sldId id="558" r:id="rId33"/>
    <p:sldId id="629" r:id="rId34"/>
    <p:sldId id="559" r:id="rId35"/>
    <p:sldId id="434" r:id="rId36"/>
    <p:sldId id="502" r:id="rId37"/>
    <p:sldId id="579" r:id="rId38"/>
    <p:sldId id="517" r:id="rId39"/>
    <p:sldId id="723" r:id="rId40"/>
    <p:sldId id="604" r:id="rId41"/>
    <p:sldId id="624" r:id="rId42"/>
    <p:sldId id="647" r:id="rId43"/>
    <p:sldId id="602" r:id="rId44"/>
    <p:sldId id="518" r:id="rId45"/>
    <p:sldId id="519" r:id="rId46"/>
    <p:sldId id="853" r:id="rId47"/>
    <p:sldId id="648" r:id="rId48"/>
    <p:sldId id="730" r:id="rId49"/>
    <p:sldId id="375" r:id="rId50"/>
    <p:sldId id="564" r:id="rId51"/>
    <p:sldId id="858" r:id="rId52"/>
    <p:sldId id="856" r:id="rId53"/>
    <p:sldId id="538" r:id="rId54"/>
    <p:sldId id="530" r:id="rId55"/>
    <p:sldId id="566" r:id="rId56"/>
    <p:sldId id="606" r:id="rId57"/>
    <p:sldId id="605" r:id="rId58"/>
    <p:sldId id="862" r:id="rId59"/>
    <p:sldId id="336" r:id="rId60"/>
    <p:sldId id="815" r:id="rId61"/>
    <p:sldId id="337" r:id="rId62"/>
    <p:sldId id="568" r:id="rId63"/>
    <p:sldId id="798" r:id="rId64"/>
    <p:sldId id="799" r:id="rId65"/>
    <p:sldId id="697" r:id="rId66"/>
    <p:sldId id="863" r:id="rId67"/>
    <p:sldId id="341" r:id="rId68"/>
    <p:sldId id="580" r:id="rId69"/>
    <p:sldId id="901" r:id="rId70"/>
    <p:sldId id="902" r:id="rId71"/>
    <p:sldId id="904" r:id="rId72"/>
    <p:sldId id="668" r:id="rId73"/>
    <p:sldId id="652" r:id="rId74"/>
    <p:sldId id="665" r:id="rId75"/>
    <p:sldId id="666" r:id="rId76"/>
    <p:sldId id="342" r:id="rId77"/>
    <p:sldId id="733" r:id="rId78"/>
    <p:sldId id="796" r:id="rId79"/>
    <p:sldId id="503" r:id="rId80"/>
    <p:sldId id="793" r:id="rId81"/>
    <p:sldId id="575" r:id="rId82"/>
    <p:sldId id="505" r:id="rId83"/>
    <p:sldId id="345" r:id="rId84"/>
    <p:sldId id="737" r:id="rId85"/>
    <p:sldId id="734" r:id="rId86"/>
    <p:sldId id="735" r:id="rId87"/>
    <p:sldId id="736" r:id="rId88"/>
    <p:sldId id="528" r:id="rId89"/>
    <p:sldId id="743" r:id="rId90"/>
    <p:sldId id="744" r:id="rId91"/>
    <p:sldId id="349" r:id="rId92"/>
    <p:sldId id="584" r:id="rId93"/>
    <p:sldId id="583" r:id="rId94"/>
    <p:sldId id="351" r:id="rId95"/>
    <p:sldId id="469" r:id="rId96"/>
    <p:sldId id="471" r:id="rId97"/>
    <p:sldId id="548" r:id="rId98"/>
    <p:sldId id="354" r:id="rId99"/>
    <p:sldId id="353" r:id="rId100"/>
    <p:sldId id="590" r:id="rId101"/>
    <p:sldId id="726" r:id="rId102"/>
    <p:sldId id="727" r:id="rId103"/>
    <p:sldId id="594" r:id="rId104"/>
    <p:sldId id="728" r:id="rId105"/>
    <p:sldId id="739" r:id="rId106"/>
    <p:sldId id="742" r:id="rId107"/>
    <p:sldId id="705" r:id="rId108"/>
    <p:sldId id="715" r:id="rId109"/>
    <p:sldId id="832" r:id="rId110"/>
    <p:sldId id="859" r:id="rId111"/>
    <p:sldId id="714" r:id="rId112"/>
    <p:sldId id="905" r:id="rId113"/>
    <p:sldId id="710" r:id="rId114"/>
    <p:sldId id="903" r:id="rId115"/>
    <p:sldId id="740" r:id="rId116"/>
    <p:sldId id="741" r:id="rId117"/>
    <p:sldId id="507" r:id="rId118"/>
    <p:sldId id="421" r:id="rId119"/>
    <p:sldId id="656" r:id="rId120"/>
    <p:sldId id="508" r:id="rId121"/>
    <p:sldId id="509" r:id="rId122"/>
    <p:sldId id="572" r:id="rId123"/>
    <p:sldId id="361" r:id="rId124"/>
    <p:sldId id="512" r:id="rId125"/>
    <p:sldId id="411" r:id="rId126"/>
    <p:sldId id="613" r:id="rId127"/>
    <p:sldId id="513" r:id="rId128"/>
    <p:sldId id="533" r:id="rId129"/>
    <p:sldId id="423" r:id="rId130"/>
    <p:sldId id="479" r:id="rId131"/>
    <p:sldId id="587" r:id="rId132"/>
    <p:sldId id="833" r:id="rId133"/>
    <p:sldId id="429" r:id="rId134"/>
    <p:sldId id="617" r:id="rId135"/>
    <p:sldId id="459" r:id="rId136"/>
    <p:sldId id="454" r:id="rId137"/>
    <p:sldId id="455" r:id="rId138"/>
    <p:sldId id="495" r:id="rId139"/>
  </p:sldIdLst>
  <p:sldSz cx="12192000" cy="6858000"/>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0000CC"/>
    <a:srgbClr val="FFFFFF"/>
    <a:srgbClr val="111111"/>
    <a:srgbClr val="003300"/>
    <a:srgbClr val="0000FF"/>
    <a:srgbClr val="000000"/>
    <a:srgbClr val="215D34"/>
    <a:srgbClr val="FEFEFE"/>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212" autoAdjust="0"/>
    <p:restoredTop sz="60384" autoAdjust="0"/>
  </p:normalViewPr>
  <p:slideViewPr>
    <p:cSldViewPr>
      <p:cViewPr varScale="1">
        <p:scale>
          <a:sx n="59" d="100"/>
          <a:sy n="59" d="100"/>
        </p:scale>
        <p:origin x="368" y="60"/>
      </p:cViewPr>
      <p:guideLst>
        <p:guide orient="horz" pos="2160"/>
        <p:guide pos="384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varScale="1">
      <p:scale>
        <a:sx n="1" d="1"/>
        <a:sy n="1" d="1"/>
      </p:scale>
      <p:origin x="0" y="-52660"/>
    </p:cViewPr>
  </p:sorterViewPr>
  <p:notesViewPr>
    <p:cSldViewPr>
      <p:cViewPr varScale="1">
        <p:scale>
          <a:sx n="67" d="100"/>
          <a:sy n="67" d="100"/>
        </p:scale>
        <p:origin x="-288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notesMaster" Target="notesMasters/notesMaster1.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theme" Target="theme/theme1.xml"/></Relationships>
</file>

<file path=ppt/_rels/viewProps.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slide" Target="slides/slide4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990FF4-AFEA-498B-8856-9920694D51BF}"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FAACBEF1-A162-462C-AC21-B283F233B823}">
      <dgm:prSet phldrT="[文本]" custT="1"/>
      <dgm:spPr/>
      <dgm:t>
        <a:bodyPr/>
        <a:lstStyle/>
        <a:p>
          <a:r>
            <a:rPr lang="en-US" altLang="zh-CN" sz="3200" b="1" dirty="0"/>
            <a:t>RNA</a:t>
          </a:r>
          <a:endParaRPr lang="zh-CN" altLang="en-US" sz="3200" b="1" dirty="0"/>
        </a:p>
      </dgm:t>
    </dgm:pt>
    <dgm:pt modelId="{DC176816-A52A-4C27-89A1-C5FE3FC2870C}" type="parTrans" cxnId="{6CCD07A2-CAEB-4B6D-9871-DE64131389B3}">
      <dgm:prSet/>
      <dgm:spPr/>
      <dgm:t>
        <a:bodyPr/>
        <a:lstStyle/>
        <a:p>
          <a:endParaRPr lang="zh-CN" altLang="en-US" sz="2800" b="1"/>
        </a:p>
      </dgm:t>
    </dgm:pt>
    <dgm:pt modelId="{695801A9-B6DB-44FA-83B9-521198AB729B}" type="sibTrans" cxnId="{6CCD07A2-CAEB-4B6D-9871-DE64131389B3}">
      <dgm:prSet/>
      <dgm:spPr/>
      <dgm:t>
        <a:bodyPr/>
        <a:lstStyle/>
        <a:p>
          <a:endParaRPr lang="zh-CN" altLang="en-US" sz="2800" b="1"/>
        </a:p>
      </dgm:t>
    </dgm:pt>
    <dgm:pt modelId="{7AB65C94-4700-4DE7-B850-5AC7E7AE0F1D}">
      <dgm:prSet phldrT="[文本]" custT="1"/>
      <dgm:spPr/>
      <dgm:t>
        <a:bodyPr/>
        <a:lstStyle/>
        <a:p>
          <a:r>
            <a:rPr lang="zh-CN" altLang="en-US" sz="2800" b="1" dirty="0"/>
            <a:t>编码</a:t>
          </a:r>
          <a:r>
            <a:rPr lang="en-US" altLang="zh-CN" sz="2800" b="1" dirty="0"/>
            <a:t>RNA</a:t>
          </a:r>
          <a:endParaRPr lang="zh-CN" altLang="en-US" sz="2800" b="1" dirty="0"/>
        </a:p>
      </dgm:t>
    </dgm:pt>
    <dgm:pt modelId="{77CCC371-9104-4AB6-A289-6C369F68B4EC}" type="parTrans" cxnId="{EF9A57B2-1487-4153-8D51-73F257EDFBFC}">
      <dgm:prSet/>
      <dgm:spPr/>
      <dgm:t>
        <a:bodyPr/>
        <a:lstStyle/>
        <a:p>
          <a:endParaRPr lang="zh-CN" altLang="en-US" sz="2800" b="1"/>
        </a:p>
      </dgm:t>
    </dgm:pt>
    <dgm:pt modelId="{514D7E67-2625-4025-9ACC-70F43FE84376}" type="sibTrans" cxnId="{EF9A57B2-1487-4153-8D51-73F257EDFBFC}">
      <dgm:prSet/>
      <dgm:spPr/>
      <dgm:t>
        <a:bodyPr/>
        <a:lstStyle/>
        <a:p>
          <a:endParaRPr lang="zh-CN" altLang="en-US" sz="2800" b="1"/>
        </a:p>
      </dgm:t>
    </dgm:pt>
    <dgm:pt modelId="{A92D11C6-6F91-4ADB-B188-5112527D8B21}">
      <dgm:prSet phldrT="[文本]" custT="1"/>
      <dgm:spPr/>
      <dgm:t>
        <a:bodyPr/>
        <a:lstStyle/>
        <a:p>
          <a:r>
            <a:rPr lang="en-US" altLang="zh-CN" sz="2800" b="1" dirty="0">
              <a:solidFill>
                <a:srgbClr val="C00000"/>
              </a:solidFill>
            </a:rPr>
            <a:t>mRNA </a:t>
          </a:r>
          <a:endParaRPr lang="zh-CN" altLang="en-US" sz="2800" b="1" dirty="0">
            <a:solidFill>
              <a:srgbClr val="C00000"/>
            </a:solidFill>
          </a:endParaRPr>
        </a:p>
      </dgm:t>
    </dgm:pt>
    <dgm:pt modelId="{E228E5AF-89FE-4113-9D3C-0B48066B4BAA}" type="parTrans" cxnId="{97B5C451-CA32-4884-BF2F-DF31DE7F4A2E}">
      <dgm:prSet/>
      <dgm:spPr/>
      <dgm:t>
        <a:bodyPr/>
        <a:lstStyle/>
        <a:p>
          <a:endParaRPr lang="zh-CN" altLang="en-US" sz="2800" b="1"/>
        </a:p>
      </dgm:t>
    </dgm:pt>
    <dgm:pt modelId="{B53BD2D2-60C6-4C41-921A-C9429B696715}" type="sibTrans" cxnId="{97B5C451-CA32-4884-BF2F-DF31DE7F4A2E}">
      <dgm:prSet/>
      <dgm:spPr/>
      <dgm:t>
        <a:bodyPr/>
        <a:lstStyle/>
        <a:p>
          <a:endParaRPr lang="zh-CN" altLang="en-US" sz="2800" b="1"/>
        </a:p>
      </dgm:t>
    </dgm:pt>
    <dgm:pt modelId="{58BAB1C7-A088-4630-A851-EDB90A9DB65B}">
      <dgm:prSet phldrT="[文本]" custT="1"/>
      <dgm:spPr/>
      <dgm:t>
        <a:bodyPr/>
        <a:lstStyle/>
        <a:p>
          <a:r>
            <a:rPr lang="zh-CN" altLang="en-US" sz="2800" b="1" dirty="0"/>
            <a:t>非编码</a:t>
          </a:r>
          <a:r>
            <a:rPr lang="en-US" altLang="zh-CN" sz="2800" b="1" dirty="0"/>
            <a:t>RNA</a:t>
          </a:r>
          <a:endParaRPr lang="zh-CN" altLang="en-US" sz="2800" b="1" dirty="0"/>
        </a:p>
      </dgm:t>
    </dgm:pt>
    <dgm:pt modelId="{8431E720-6E1D-45F9-8981-90D6A6B554C0}" type="parTrans" cxnId="{512DD5FD-53AE-4CF5-91A4-A87AC52CEA31}">
      <dgm:prSet/>
      <dgm:spPr/>
      <dgm:t>
        <a:bodyPr/>
        <a:lstStyle/>
        <a:p>
          <a:endParaRPr lang="zh-CN" altLang="en-US" sz="2800" b="1"/>
        </a:p>
      </dgm:t>
    </dgm:pt>
    <dgm:pt modelId="{77BBF220-E62F-4F0B-A48B-10F3186AE558}" type="sibTrans" cxnId="{512DD5FD-53AE-4CF5-91A4-A87AC52CEA31}">
      <dgm:prSet/>
      <dgm:spPr/>
      <dgm:t>
        <a:bodyPr/>
        <a:lstStyle/>
        <a:p>
          <a:endParaRPr lang="zh-CN" altLang="en-US" sz="2800" b="1"/>
        </a:p>
      </dgm:t>
    </dgm:pt>
    <dgm:pt modelId="{D51E5551-7050-44E3-ADB4-07DC95CA329F}">
      <dgm:prSet phldrT="[文本]" custT="1"/>
      <dgm:spPr/>
      <dgm:t>
        <a:bodyPr/>
        <a:lstStyle/>
        <a:p>
          <a:pPr marL="0">
            <a:lnSpc>
              <a:spcPct val="90000"/>
            </a:lnSpc>
            <a:spcAft>
              <a:spcPts val="0"/>
            </a:spcAft>
          </a:pPr>
          <a:r>
            <a:rPr lang="zh-CN" altLang="en-US" sz="2400" b="1" dirty="0"/>
            <a:t>组成性非编码</a:t>
          </a:r>
          <a:r>
            <a:rPr lang="en-US" altLang="zh-CN" sz="2400" b="1" dirty="0"/>
            <a:t>RNA</a:t>
          </a:r>
        </a:p>
        <a:p>
          <a:pPr marL="0">
            <a:lnSpc>
              <a:spcPct val="90000"/>
            </a:lnSpc>
            <a:spcAft>
              <a:spcPts val="0"/>
            </a:spcAft>
          </a:pPr>
          <a:r>
            <a:rPr lang="en-US" altLang="zh-CN" sz="2800" b="1" dirty="0" err="1">
              <a:solidFill>
                <a:srgbClr val="C00000"/>
              </a:solidFill>
            </a:rPr>
            <a:t>tRNA</a:t>
          </a:r>
          <a:endParaRPr lang="en-US" altLang="zh-CN" sz="2800" b="1" dirty="0">
            <a:solidFill>
              <a:srgbClr val="C00000"/>
            </a:solidFill>
          </a:endParaRPr>
        </a:p>
        <a:p>
          <a:pPr marL="0">
            <a:lnSpc>
              <a:spcPct val="90000"/>
            </a:lnSpc>
            <a:spcAft>
              <a:spcPts val="0"/>
            </a:spcAft>
          </a:pPr>
          <a:r>
            <a:rPr lang="en-US" altLang="zh-CN" sz="2800" b="1" dirty="0" err="1">
              <a:solidFill>
                <a:srgbClr val="C00000"/>
              </a:solidFill>
            </a:rPr>
            <a:t>rRNA</a:t>
          </a:r>
          <a:endParaRPr lang="en-US" altLang="zh-CN" sz="2800" b="1" dirty="0">
            <a:solidFill>
              <a:srgbClr val="C00000"/>
            </a:solidFill>
          </a:endParaRPr>
        </a:p>
        <a:p>
          <a:pPr marL="0">
            <a:lnSpc>
              <a:spcPct val="90000"/>
            </a:lnSpc>
            <a:spcAft>
              <a:spcPts val="0"/>
            </a:spcAft>
          </a:pPr>
          <a:r>
            <a:rPr lang="en-US" altLang="zh-CN" sz="2800" b="1" dirty="0"/>
            <a:t>snRNA</a:t>
          </a:r>
        </a:p>
        <a:p>
          <a:pPr marL="0">
            <a:lnSpc>
              <a:spcPct val="90000"/>
            </a:lnSpc>
            <a:spcAft>
              <a:spcPts val="0"/>
            </a:spcAft>
          </a:pPr>
          <a:r>
            <a:rPr lang="en-US" altLang="zh-CN" sz="2800" b="1" dirty="0" err="1"/>
            <a:t>snoRNA</a:t>
          </a:r>
          <a:endParaRPr lang="en-US" altLang="zh-CN" sz="2800" b="1" dirty="0"/>
        </a:p>
        <a:p>
          <a:pPr marL="0">
            <a:lnSpc>
              <a:spcPct val="90000"/>
            </a:lnSpc>
            <a:spcAft>
              <a:spcPts val="0"/>
            </a:spcAft>
          </a:pPr>
          <a:r>
            <a:rPr lang="en-US" altLang="zh-CN" sz="2800" b="1" dirty="0" err="1"/>
            <a:t>scRNA</a:t>
          </a:r>
          <a:endParaRPr lang="zh-CN" altLang="en-US" sz="2800" b="1" dirty="0"/>
        </a:p>
      </dgm:t>
    </dgm:pt>
    <dgm:pt modelId="{6D215BA3-AAA5-4EAD-A61D-F6D7FF71508A}" type="parTrans" cxnId="{987CEC2A-3CC5-4336-A383-508A227443CC}">
      <dgm:prSet/>
      <dgm:spPr/>
      <dgm:t>
        <a:bodyPr/>
        <a:lstStyle/>
        <a:p>
          <a:endParaRPr lang="zh-CN" altLang="en-US" sz="2800" b="1"/>
        </a:p>
      </dgm:t>
    </dgm:pt>
    <dgm:pt modelId="{05986249-0C79-4338-BD69-54E1F1252E21}" type="sibTrans" cxnId="{987CEC2A-3CC5-4336-A383-508A227443CC}">
      <dgm:prSet/>
      <dgm:spPr/>
      <dgm:t>
        <a:bodyPr/>
        <a:lstStyle/>
        <a:p>
          <a:endParaRPr lang="zh-CN" altLang="en-US" sz="2800" b="1"/>
        </a:p>
      </dgm:t>
    </dgm:pt>
    <dgm:pt modelId="{7C984282-C4A5-4400-822A-07400FB6E42E}">
      <dgm:prSet custT="1"/>
      <dgm:spPr/>
      <dgm:t>
        <a:bodyPr/>
        <a:lstStyle/>
        <a:p>
          <a:pPr>
            <a:lnSpc>
              <a:spcPct val="95000"/>
            </a:lnSpc>
            <a:spcAft>
              <a:spcPts val="0"/>
            </a:spcAft>
          </a:pPr>
          <a:endParaRPr lang="en-US" altLang="zh-CN" sz="2800" b="1" dirty="0"/>
        </a:p>
        <a:p>
          <a:pPr>
            <a:lnSpc>
              <a:spcPct val="95000"/>
            </a:lnSpc>
            <a:spcAft>
              <a:spcPts val="0"/>
            </a:spcAft>
          </a:pPr>
          <a:endParaRPr lang="en-US" altLang="zh-CN" sz="2800" b="1" dirty="0"/>
        </a:p>
        <a:p>
          <a:pPr>
            <a:lnSpc>
              <a:spcPct val="95000"/>
            </a:lnSpc>
            <a:spcAft>
              <a:spcPts val="0"/>
            </a:spcAft>
          </a:pPr>
          <a:r>
            <a:rPr lang="zh-CN" altLang="en-US" sz="2400" b="1" dirty="0"/>
            <a:t>调控性非编码</a:t>
          </a:r>
          <a:r>
            <a:rPr lang="en-US" altLang="zh-CN" sz="2400" b="1" dirty="0"/>
            <a:t>RNA</a:t>
          </a:r>
        </a:p>
        <a:p>
          <a:pPr>
            <a:lnSpc>
              <a:spcPct val="95000"/>
            </a:lnSpc>
            <a:spcAft>
              <a:spcPts val="0"/>
            </a:spcAft>
          </a:pPr>
          <a:r>
            <a:rPr lang="en-US" altLang="zh-CN" sz="2800" b="1" dirty="0" err="1"/>
            <a:t>lncRNA</a:t>
          </a:r>
          <a:endParaRPr lang="en-US" altLang="zh-CN" sz="2800" b="1" dirty="0"/>
        </a:p>
        <a:p>
          <a:pPr>
            <a:lnSpc>
              <a:spcPct val="95000"/>
            </a:lnSpc>
            <a:spcAft>
              <a:spcPts val="0"/>
            </a:spcAft>
          </a:pPr>
          <a:r>
            <a:rPr lang="en-US" altLang="zh-CN" sz="2800" b="1" dirty="0">
              <a:solidFill>
                <a:srgbClr val="C00000"/>
              </a:solidFill>
            </a:rPr>
            <a:t>miRNA</a:t>
          </a:r>
        </a:p>
        <a:p>
          <a:pPr>
            <a:lnSpc>
              <a:spcPct val="95000"/>
            </a:lnSpc>
            <a:spcAft>
              <a:spcPts val="0"/>
            </a:spcAft>
          </a:pPr>
          <a:r>
            <a:rPr lang="en-US" altLang="zh-CN" sz="2800" b="1" dirty="0">
              <a:solidFill>
                <a:srgbClr val="C00000"/>
              </a:solidFill>
            </a:rPr>
            <a:t>siRNA</a:t>
          </a:r>
        </a:p>
        <a:p>
          <a:pPr>
            <a:lnSpc>
              <a:spcPct val="95000"/>
            </a:lnSpc>
            <a:spcAft>
              <a:spcPts val="0"/>
            </a:spcAft>
          </a:pPr>
          <a:r>
            <a:rPr lang="en-US" altLang="zh-CN" sz="2800" b="1" dirty="0" err="1"/>
            <a:t>piRNA</a:t>
          </a:r>
          <a:endParaRPr lang="en-US" altLang="zh-CN" sz="2800" b="1" dirty="0"/>
        </a:p>
        <a:p>
          <a:pPr>
            <a:lnSpc>
              <a:spcPct val="95000"/>
            </a:lnSpc>
            <a:spcAft>
              <a:spcPts val="0"/>
            </a:spcAft>
          </a:pPr>
          <a:endParaRPr lang="en-US" altLang="zh-CN" sz="2800" b="1" dirty="0"/>
        </a:p>
        <a:p>
          <a:pPr>
            <a:lnSpc>
              <a:spcPct val="95000"/>
            </a:lnSpc>
            <a:spcAft>
              <a:spcPts val="0"/>
            </a:spcAft>
          </a:pPr>
          <a:endParaRPr lang="zh-CN" altLang="en-US" sz="2800" b="1" dirty="0"/>
        </a:p>
      </dgm:t>
    </dgm:pt>
    <dgm:pt modelId="{4F4CC17E-32BE-468A-BC91-793433BB1E34}" type="parTrans" cxnId="{36FAC94B-D542-4817-B782-71D823D37F57}">
      <dgm:prSet/>
      <dgm:spPr/>
      <dgm:t>
        <a:bodyPr/>
        <a:lstStyle/>
        <a:p>
          <a:endParaRPr lang="zh-CN" altLang="en-US" sz="2800" b="1"/>
        </a:p>
      </dgm:t>
    </dgm:pt>
    <dgm:pt modelId="{631D2A45-3743-4A73-A577-6B892BFBCE6A}" type="sibTrans" cxnId="{36FAC94B-D542-4817-B782-71D823D37F57}">
      <dgm:prSet/>
      <dgm:spPr/>
      <dgm:t>
        <a:bodyPr/>
        <a:lstStyle/>
        <a:p>
          <a:endParaRPr lang="zh-CN" altLang="en-US" sz="2800" b="1"/>
        </a:p>
      </dgm:t>
    </dgm:pt>
    <dgm:pt modelId="{28B6F9A9-A496-4F10-9A5A-23A30EED6720}" type="pres">
      <dgm:prSet presAssocID="{46990FF4-AFEA-498B-8856-9920694D51BF}" presName="hierChild1" presStyleCnt="0">
        <dgm:presLayoutVars>
          <dgm:chPref val="1"/>
          <dgm:dir/>
          <dgm:animOne val="branch"/>
          <dgm:animLvl val="lvl"/>
          <dgm:resizeHandles/>
        </dgm:presLayoutVars>
      </dgm:prSet>
      <dgm:spPr/>
    </dgm:pt>
    <dgm:pt modelId="{25338AFB-8366-455F-BCEA-49A299D3E3FF}" type="pres">
      <dgm:prSet presAssocID="{FAACBEF1-A162-462C-AC21-B283F233B823}" presName="hierRoot1" presStyleCnt="0"/>
      <dgm:spPr/>
    </dgm:pt>
    <dgm:pt modelId="{80B3F1F1-1470-4341-B1C2-5F180B88331B}" type="pres">
      <dgm:prSet presAssocID="{FAACBEF1-A162-462C-AC21-B283F233B823}" presName="composite" presStyleCnt="0"/>
      <dgm:spPr/>
    </dgm:pt>
    <dgm:pt modelId="{B8C30F6C-14EB-49C6-A1D3-294E12024804}" type="pres">
      <dgm:prSet presAssocID="{FAACBEF1-A162-462C-AC21-B283F233B823}" presName="background" presStyleLbl="node0" presStyleIdx="0" presStyleCnt="1"/>
      <dgm:spPr/>
    </dgm:pt>
    <dgm:pt modelId="{F3C9A44A-6FE9-4AED-8F12-4534CE7AF85A}" type="pres">
      <dgm:prSet presAssocID="{FAACBEF1-A162-462C-AC21-B283F233B823}" presName="text" presStyleLbl="fgAcc0" presStyleIdx="0" presStyleCnt="1" custScaleX="181258" custScaleY="55726" custLinFactNeighborX="27723" custLinFactNeighborY="-13194">
        <dgm:presLayoutVars>
          <dgm:chPref val="3"/>
        </dgm:presLayoutVars>
      </dgm:prSet>
      <dgm:spPr/>
    </dgm:pt>
    <dgm:pt modelId="{B522F5EF-3B85-4BB9-A355-E23AA5AFCD0C}" type="pres">
      <dgm:prSet presAssocID="{FAACBEF1-A162-462C-AC21-B283F233B823}" presName="hierChild2" presStyleCnt="0"/>
      <dgm:spPr/>
    </dgm:pt>
    <dgm:pt modelId="{689D5A3B-A1C0-4F44-9D0E-A32CE6FBD1C6}" type="pres">
      <dgm:prSet presAssocID="{77CCC371-9104-4AB6-A289-6C369F68B4EC}" presName="Name10" presStyleLbl="parChTrans1D2" presStyleIdx="0" presStyleCnt="2"/>
      <dgm:spPr/>
    </dgm:pt>
    <dgm:pt modelId="{2BF5D1A3-5AC5-4102-9320-809AEB8F3E0A}" type="pres">
      <dgm:prSet presAssocID="{7AB65C94-4700-4DE7-B850-5AC7E7AE0F1D}" presName="hierRoot2" presStyleCnt="0"/>
      <dgm:spPr/>
    </dgm:pt>
    <dgm:pt modelId="{CF8FFFA4-3E16-474D-A4C6-B34349C5F587}" type="pres">
      <dgm:prSet presAssocID="{7AB65C94-4700-4DE7-B850-5AC7E7AE0F1D}" presName="composite2" presStyleCnt="0"/>
      <dgm:spPr/>
    </dgm:pt>
    <dgm:pt modelId="{CC9ECB4A-0324-4E69-BC3A-141FFADF7E46}" type="pres">
      <dgm:prSet presAssocID="{7AB65C94-4700-4DE7-B850-5AC7E7AE0F1D}" presName="background2" presStyleLbl="node2" presStyleIdx="0" presStyleCnt="2"/>
      <dgm:spPr/>
    </dgm:pt>
    <dgm:pt modelId="{533B112D-DE10-4682-9265-3C49B14D9367}" type="pres">
      <dgm:prSet presAssocID="{7AB65C94-4700-4DE7-B850-5AC7E7AE0F1D}" presName="text2" presStyleLbl="fgAcc2" presStyleIdx="0" presStyleCnt="2" custScaleX="140745" custScaleY="64810" custLinFactNeighborX="-54042">
        <dgm:presLayoutVars>
          <dgm:chPref val="3"/>
        </dgm:presLayoutVars>
      </dgm:prSet>
      <dgm:spPr/>
    </dgm:pt>
    <dgm:pt modelId="{E052B216-BC7E-4F3F-AEA7-EE105D6293A8}" type="pres">
      <dgm:prSet presAssocID="{7AB65C94-4700-4DE7-B850-5AC7E7AE0F1D}" presName="hierChild3" presStyleCnt="0"/>
      <dgm:spPr/>
    </dgm:pt>
    <dgm:pt modelId="{C1F01F16-F3FC-4965-8ED4-3D8E5A51982D}" type="pres">
      <dgm:prSet presAssocID="{E228E5AF-89FE-4113-9D3C-0B48066B4BAA}" presName="Name17" presStyleLbl="parChTrans1D3" presStyleIdx="0" presStyleCnt="3"/>
      <dgm:spPr/>
    </dgm:pt>
    <dgm:pt modelId="{0AE6A883-CF11-41D1-AC7F-D587BE26E8A3}" type="pres">
      <dgm:prSet presAssocID="{A92D11C6-6F91-4ADB-B188-5112527D8B21}" presName="hierRoot3" presStyleCnt="0"/>
      <dgm:spPr/>
    </dgm:pt>
    <dgm:pt modelId="{813B15FC-E697-4701-9A85-042DDE005C24}" type="pres">
      <dgm:prSet presAssocID="{A92D11C6-6F91-4ADB-B188-5112527D8B21}" presName="composite3" presStyleCnt="0"/>
      <dgm:spPr/>
    </dgm:pt>
    <dgm:pt modelId="{A0970414-8CA3-424D-810C-8F7B5C721A68}" type="pres">
      <dgm:prSet presAssocID="{A92D11C6-6F91-4ADB-B188-5112527D8B21}" presName="background3" presStyleLbl="node3" presStyleIdx="0" presStyleCnt="3"/>
      <dgm:spPr/>
    </dgm:pt>
    <dgm:pt modelId="{865E6C74-40A0-43FF-9278-7C9C1D381033}" type="pres">
      <dgm:prSet presAssocID="{A92D11C6-6F91-4ADB-B188-5112527D8B21}" presName="text3" presStyleLbl="fgAcc3" presStyleIdx="0" presStyleCnt="3" custScaleX="122746">
        <dgm:presLayoutVars>
          <dgm:chPref val="3"/>
        </dgm:presLayoutVars>
      </dgm:prSet>
      <dgm:spPr/>
    </dgm:pt>
    <dgm:pt modelId="{471C6925-40AB-48AA-BC30-9CB5E27E2C42}" type="pres">
      <dgm:prSet presAssocID="{A92D11C6-6F91-4ADB-B188-5112527D8B21}" presName="hierChild4" presStyleCnt="0"/>
      <dgm:spPr/>
    </dgm:pt>
    <dgm:pt modelId="{A369046B-D3F2-4059-8537-65B016390D75}" type="pres">
      <dgm:prSet presAssocID="{8431E720-6E1D-45F9-8981-90D6A6B554C0}" presName="Name10" presStyleLbl="parChTrans1D2" presStyleIdx="1" presStyleCnt="2"/>
      <dgm:spPr/>
    </dgm:pt>
    <dgm:pt modelId="{65182100-2996-4979-B48C-DE4B240E0DBC}" type="pres">
      <dgm:prSet presAssocID="{58BAB1C7-A088-4630-A851-EDB90A9DB65B}" presName="hierRoot2" presStyleCnt="0"/>
      <dgm:spPr/>
    </dgm:pt>
    <dgm:pt modelId="{895EC59E-96FA-4BFB-9554-02634BA4A428}" type="pres">
      <dgm:prSet presAssocID="{58BAB1C7-A088-4630-A851-EDB90A9DB65B}" presName="composite2" presStyleCnt="0"/>
      <dgm:spPr/>
    </dgm:pt>
    <dgm:pt modelId="{3750BDC3-5705-49ED-98A0-636C818E9733}" type="pres">
      <dgm:prSet presAssocID="{58BAB1C7-A088-4630-A851-EDB90A9DB65B}" presName="background2" presStyleLbl="node2" presStyleIdx="1" presStyleCnt="2"/>
      <dgm:spPr/>
    </dgm:pt>
    <dgm:pt modelId="{85B41F1C-6E05-46F4-82A6-8EACBC57BE9C}" type="pres">
      <dgm:prSet presAssocID="{58BAB1C7-A088-4630-A851-EDB90A9DB65B}" presName="text2" presStyleLbl="fgAcc2" presStyleIdx="1" presStyleCnt="2" custScaleX="156969" custScaleY="57103">
        <dgm:presLayoutVars>
          <dgm:chPref val="3"/>
        </dgm:presLayoutVars>
      </dgm:prSet>
      <dgm:spPr/>
    </dgm:pt>
    <dgm:pt modelId="{8FCE2EEB-12D4-4F4D-941F-3FF3A3B23EB6}" type="pres">
      <dgm:prSet presAssocID="{58BAB1C7-A088-4630-A851-EDB90A9DB65B}" presName="hierChild3" presStyleCnt="0"/>
      <dgm:spPr/>
    </dgm:pt>
    <dgm:pt modelId="{F6F893C6-C964-4BF3-870A-41964FD5C26F}" type="pres">
      <dgm:prSet presAssocID="{6D215BA3-AAA5-4EAD-A61D-F6D7FF71508A}" presName="Name17" presStyleLbl="parChTrans1D3" presStyleIdx="1" presStyleCnt="3"/>
      <dgm:spPr/>
    </dgm:pt>
    <dgm:pt modelId="{B9B651F7-D1B6-4FF3-8B5A-F53A8284262D}" type="pres">
      <dgm:prSet presAssocID="{D51E5551-7050-44E3-ADB4-07DC95CA329F}" presName="hierRoot3" presStyleCnt="0"/>
      <dgm:spPr/>
    </dgm:pt>
    <dgm:pt modelId="{610EAC10-889B-4E3B-9E06-18BCA1004A33}" type="pres">
      <dgm:prSet presAssocID="{D51E5551-7050-44E3-ADB4-07DC95CA329F}" presName="composite3" presStyleCnt="0"/>
      <dgm:spPr/>
    </dgm:pt>
    <dgm:pt modelId="{2AD7AF49-3119-4922-B7F0-000CAC73F87F}" type="pres">
      <dgm:prSet presAssocID="{D51E5551-7050-44E3-ADB4-07DC95CA329F}" presName="background3" presStyleLbl="node3" presStyleIdx="1" presStyleCnt="3"/>
      <dgm:spPr/>
    </dgm:pt>
    <dgm:pt modelId="{80FCC79B-8F59-4646-8ED7-3BECF9CE17DB}" type="pres">
      <dgm:prSet presAssocID="{D51E5551-7050-44E3-ADB4-07DC95CA329F}" presName="text3" presStyleLbl="fgAcc3" presStyleIdx="1" presStyleCnt="3" custScaleX="209053" custScaleY="309777">
        <dgm:presLayoutVars>
          <dgm:chPref val="3"/>
        </dgm:presLayoutVars>
      </dgm:prSet>
      <dgm:spPr/>
    </dgm:pt>
    <dgm:pt modelId="{BE65151D-56A2-4135-8981-1197A7A88B2A}" type="pres">
      <dgm:prSet presAssocID="{D51E5551-7050-44E3-ADB4-07DC95CA329F}" presName="hierChild4" presStyleCnt="0"/>
      <dgm:spPr/>
    </dgm:pt>
    <dgm:pt modelId="{4A7C58B5-0AE6-4B02-9265-A95891BA812B}" type="pres">
      <dgm:prSet presAssocID="{4F4CC17E-32BE-468A-BC91-793433BB1E34}" presName="Name17" presStyleLbl="parChTrans1D3" presStyleIdx="2" presStyleCnt="3"/>
      <dgm:spPr/>
    </dgm:pt>
    <dgm:pt modelId="{76A5B328-B2AE-4BFE-BA9A-B63506B53E0D}" type="pres">
      <dgm:prSet presAssocID="{7C984282-C4A5-4400-822A-07400FB6E42E}" presName="hierRoot3" presStyleCnt="0"/>
      <dgm:spPr/>
    </dgm:pt>
    <dgm:pt modelId="{4EF4AE75-09C3-4EEB-9BFD-A33106C105ED}" type="pres">
      <dgm:prSet presAssocID="{7C984282-C4A5-4400-822A-07400FB6E42E}" presName="composite3" presStyleCnt="0"/>
      <dgm:spPr/>
    </dgm:pt>
    <dgm:pt modelId="{5F769490-2B32-4C21-B078-DB1AC14EF5CB}" type="pres">
      <dgm:prSet presAssocID="{7C984282-C4A5-4400-822A-07400FB6E42E}" presName="background3" presStyleLbl="node3" presStyleIdx="2" presStyleCnt="3"/>
      <dgm:spPr/>
    </dgm:pt>
    <dgm:pt modelId="{D7C3EF70-F7E3-444E-9723-F3C98AF9D0A7}" type="pres">
      <dgm:prSet presAssocID="{7C984282-C4A5-4400-822A-07400FB6E42E}" presName="text3" presStyleLbl="fgAcc3" presStyleIdx="2" presStyleCnt="3" custScaleX="228985" custScaleY="309777" custLinFactNeighborX="-4876" custLinFactNeighborY="548">
        <dgm:presLayoutVars>
          <dgm:chPref val="3"/>
        </dgm:presLayoutVars>
      </dgm:prSet>
      <dgm:spPr/>
    </dgm:pt>
    <dgm:pt modelId="{F58B4C0D-336B-4420-BCCB-FBDFBA6865AD}" type="pres">
      <dgm:prSet presAssocID="{7C984282-C4A5-4400-822A-07400FB6E42E}" presName="hierChild4" presStyleCnt="0"/>
      <dgm:spPr/>
    </dgm:pt>
  </dgm:ptLst>
  <dgm:cxnLst>
    <dgm:cxn modelId="{987CEC2A-3CC5-4336-A383-508A227443CC}" srcId="{58BAB1C7-A088-4630-A851-EDB90A9DB65B}" destId="{D51E5551-7050-44E3-ADB4-07DC95CA329F}" srcOrd="0" destOrd="0" parTransId="{6D215BA3-AAA5-4EAD-A61D-F6D7FF71508A}" sibTransId="{05986249-0C79-4338-BD69-54E1F1252E21}"/>
    <dgm:cxn modelId="{E9BB6A32-A0A2-4B9B-B447-75B634349CB7}" type="presOf" srcId="{46990FF4-AFEA-498B-8856-9920694D51BF}" destId="{28B6F9A9-A496-4F10-9A5A-23A30EED6720}" srcOrd="0" destOrd="0" presId="urn:microsoft.com/office/officeart/2005/8/layout/hierarchy1"/>
    <dgm:cxn modelId="{89317D35-BDCF-43F6-A7DE-B891AFB8010D}" type="presOf" srcId="{D51E5551-7050-44E3-ADB4-07DC95CA329F}" destId="{80FCC79B-8F59-4646-8ED7-3BECF9CE17DB}" srcOrd="0" destOrd="0" presId="urn:microsoft.com/office/officeart/2005/8/layout/hierarchy1"/>
    <dgm:cxn modelId="{79C0823C-E3C1-44D9-9F03-BF0AE8E43552}" type="presOf" srcId="{A92D11C6-6F91-4ADB-B188-5112527D8B21}" destId="{865E6C74-40A0-43FF-9278-7C9C1D381033}" srcOrd="0" destOrd="0" presId="urn:microsoft.com/office/officeart/2005/8/layout/hierarchy1"/>
    <dgm:cxn modelId="{C52BBE44-DE37-4FE2-BFEE-B14B23A879AB}" type="presOf" srcId="{E228E5AF-89FE-4113-9D3C-0B48066B4BAA}" destId="{C1F01F16-F3FC-4965-8ED4-3D8E5A51982D}" srcOrd="0" destOrd="0" presId="urn:microsoft.com/office/officeart/2005/8/layout/hierarchy1"/>
    <dgm:cxn modelId="{4D45AB66-3C44-45C2-86F3-FE0677E85271}" type="presOf" srcId="{FAACBEF1-A162-462C-AC21-B283F233B823}" destId="{F3C9A44A-6FE9-4AED-8F12-4534CE7AF85A}" srcOrd="0" destOrd="0" presId="urn:microsoft.com/office/officeart/2005/8/layout/hierarchy1"/>
    <dgm:cxn modelId="{36FAC94B-D542-4817-B782-71D823D37F57}" srcId="{58BAB1C7-A088-4630-A851-EDB90A9DB65B}" destId="{7C984282-C4A5-4400-822A-07400FB6E42E}" srcOrd="1" destOrd="0" parTransId="{4F4CC17E-32BE-468A-BC91-793433BB1E34}" sibTransId="{631D2A45-3743-4A73-A577-6B892BFBCE6A}"/>
    <dgm:cxn modelId="{97B5C451-CA32-4884-BF2F-DF31DE7F4A2E}" srcId="{7AB65C94-4700-4DE7-B850-5AC7E7AE0F1D}" destId="{A92D11C6-6F91-4ADB-B188-5112527D8B21}" srcOrd="0" destOrd="0" parTransId="{E228E5AF-89FE-4113-9D3C-0B48066B4BAA}" sibTransId="{B53BD2D2-60C6-4C41-921A-C9429B696715}"/>
    <dgm:cxn modelId="{57E8CC7A-350A-4E5D-9445-FB20B7EDE6A6}" type="presOf" srcId="{58BAB1C7-A088-4630-A851-EDB90A9DB65B}" destId="{85B41F1C-6E05-46F4-82A6-8EACBC57BE9C}" srcOrd="0" destOrd="0" presId="urn:microsoft.com/office/officeart/2005/8/layout/hierarchy1"/>
    <dgm:cxn modelId="{44B286A0-7946-4020-B488-526DDE156E29}" type="presOf" srcId="{4F4CC17E-32BE-468A-BC91-793433BB1E34}" destId="{4A7C58B5-0AE6-4B02-9265-A95891BA812B}" srcOrd="0" destOrd="0" presId="urn:microsoft.com/office/officeart/2005/8/layout/hierarchy1"/>
    <dgm:cxn modelId="{6CCD07A2-CAEB-4B6D-9871-DE64131389B3}" srcId="{46990FF4-AFEA-498B-8856-9920694D51BF}" destId="{FAACBEF1-A162-462C-AC21-B283F233B823}" srcOrd="0" destOrd="0" parTransId="{DC176816-A52A-4C27-89A1-C5FE3FC2870C}" sibTransId="{695801A9-B6DB-44FA-83B9-521198AB729B}"/>
    <dgm:cxn modelId="{EF9A57B2-1487-4153-8D51-73F257EDFBFC}" srcId="{FAACBEF1-A162-462C-AC21-B283F233B823}" destId="{7AB65C94-4700-4DE7-B850-5AC7E7AE0F1D}" srcOrd="0" destOrd="0" parTransId="{77CCC371-9104-4AB6-A289-6C369F68B4EC}" sibTransId="{514D7E67-2625-4025-9ACC-70F43FE84376}"/>
    <dgm:cxn modelId="{BE7E92B9-54EF-4612-931A-A0A2BABEA279}" type="presOf" srcId="{7C984282-C4A5-4400-822A-07400FB6E42E}" destId="{D7C3EF70-F7E3-444E-9723-F3C98AF9D0A7}" srcOrd="0" destOrd="0" presId="urn:microsoft.com/office/officeart/2005/8/layout/hierarchy1"/>
    <dgm:cxn modelId="{CAC70CC1-9986-4E1D-A05D-908A79F19843}" type="presOf" srcId="{8431E720-6E1D-45F9-8981-90D6A6B554C0}" destId="{A369046B-D3F2-4059-8537-65B016390D75}" srcOrd="0" destOrd="0" presId="urn:microsoft.com/office/officeart/2005/8/layout/hierarchy1"/>
    <dgm:cxn modelId="{6C92B1DF-B9EF-4E81-9123-E57EC8C02EC5}" type="presOf" srcId="{77CCC371-9104-4AB6-A289-6C369F68B4EC}" destId="{689D5A3B-A1C0-4F44-9D0E-A32CE6FBD1C6}" srcOrd="0" destOrd="0" presId="urn:microsoft.com/office/officeart/2005/8/layout/hierarchy1"/>
    <dgm:cxn modelId="{7B52B4E6-7664-4A08-83B1-251C89CF26E2}" type="presOf" srcId="{7AB65C94-4700-4DE7-B850-5AC7E7AE0F1D}" destId="{533B112D-DE10-4682-9265-3C49B14D9367}" srcOrd="0" destOrd="0" presId="urn:microsoft.com/office/officeart/2005/8/layout/hierarchy1"/>
    <dgm:cxn modelId="{E39351EB-573C-4F81-A7AB-EF1EE21EA414}" type="presOf" srcId="{6D215BA3-AAA5-4EAD-A61D-F6D7FF71508A}" destId="{F6F893C6-C964-4BF3-870A-41964FD5C26F}" srcOrd="0" destOrd="0" presId="urn:microsoft.com/office/officeart/2005/8/layout/hierarchy1"/>
    <dgm:cxn modelId="{512DD5FD-53AE-4CF5-91A4-A87AC52CEA31}" srcId="{FAACBEF1-A162-462C-AC21-B283F233B823}" destId="{58BAB1C7-A088-4630-A851-EDB90A9DB65B}" srcOrd="1" destOrd="0" parTransId="{8431E720-6E1D-45F9-8981-90D6A6B554C0}" sibTransId="{77BBF220-E62F-4F0B-A48B-10F3186AE558}"/>
    <dgm:cxn modelId="{495CEBA3-ECAF-48A9-800F-E43D7D6AAFE7}" type="presParOf" srcId="{28B6F9A9-A496-4F10-9A5A-23A30EED6720}" destId="{25338AFB-8366-455F-BCEA-49A299D3E3FF}" srcOrd="0" destOrd="0" presId="urn:microsoft.com/office/officeart/2005/8/layout/hierarchy1"/>
    <dgm:cxn modelId="{16A3C893-08D4-49CA-A441-D8F8008F5F60}" type="presParOf" srcId="{25338AFB-8366-455F-BCEA-49A299D3E3FF}" destId="{80B3F1F1-1470-4341-B1C2-5F180B88331B}" srcOrd="0" destOrd="0" presId="urn:microsoft.com/office/officeart/2005/8/layout/hierarchy1"/>
    <dgm:cxn modelId="{ADE2A590-6662-47B0-A617-6DAA72E320BF}" type="presParOf" srcId="{80B3F1F1-1470-4341-B1C2-5F180B88331B}" destId="{B8C30F6C-14EB-49C6-A1D3-294E12024804}" srcOrd="0" destOrd="0" presId="urn:microsoft.com/office/officeart/2005/8/layout/hierarchy1"/>
    <dgm:cxn modelId="{17747A80-0EB9-487F-8DA4-A043FB37B267}" type="presParOf" srcId="{80B3F1F1-1470-4341-B1C2-5F180B88331B}" destId="{F3C9A44A-6FE9-4AED-8F12-4534CE7AF85A}" srcOrd="1" destOrd="0" presId="urn:microsoft.com/office/officeart/2005/8/layout/hierarchy1"/>
    <dgm:cxn modelId="{BB5B12EC-7BA7-43DD-B1D0-7E922EF46F4E}" type="presParOf" srcId="{25338AFB-8366-455F-BCEA-49A299D3E3FF}" destId="{B522F5EF-3B85-4BB9-A355-E23AA5AFCD0C}" srcOrd="1" destOrd="0" presId="urn:microsoft.com/office/officeart/2005/8/layout/hierarchy1"/>
    <dgm:cxn modelId="{4D236946-2D5A-47D8-B1D6-06249A702E2C}" type="presParOf" srcId="{B522F5EF-3B85-4BB9-A355-E23AA5AFCD0C}" destId="{689D5A3B-A1C0-4F44-9D0E-A32CE6FBD1C6}" srcOrd="0" destOrd="0" presId="urn:microsoft.com/office/officeart/2005/8/layout/hierarchy1"/>
    <dgm:cxn modelId="{EBF8EEE6-A05F-4791-ADF5-B02AEB5DC4C5}" type="presParOf" srcId="{B522F5EF-3B85-4BB9-A355-E23AA5AFCD0C}" destId="{2BF5D1A3-5AC5-4102-9320-809AEB8F3E0A}" srcOrd="1" destOrd="0" presId="urn:microsoft.com/office/officeart/2005/8/layout/hierarchy1"/>
    <dgm:cxn modelId="{8A82BB89-0CFA-4126-AFF3-978F4CF5623E}" type="presParOf" srcId="{2BF5D1A3-5AC5-4102-9320-809AEB8F3E0A}" destId="{CF8FFFA4-3E16-474D-A4C6-B34349C5F587}" srcOrd="0" destOrd="0" presId="urn:microsoft.com/office/officeart/2005/8/layout/hierarchy1"/>
    <dgm:cxn modelId="{3B2F00CF-A0E1-4671-BB1B-103DEF4A7B85}" type="presParOf" srcId="{CF8FFFA4-3E16-474D-A4C6-B34349C5F587}" destId="{CC9ECB4A-0324-4E69-BC3A-141FFADF7E46}" srcOrd="0" destOrd="0" presId="urn:microsoft.com/office/officeart/2005/8/layout/hierarchy1"/>
    <dgm:cxn modelId="{3D06B04E-DFA5-4C26-B312-67009E39B08C}" type="presParOf" srcId="{CF8FFFA4-3E16-474D-A4C6-B34349C5F587}" destId="{533B112D-DE10-4682-9265-3C49B14D9367}" srcOrd="1" destOrd="0" presId="urn:microsoft.com/office/officeart/2005/8/layout/hierarchy1"/>
    <dgm:cxn modelId="{E5CF002F-84CF-41FE-9155-51AD0DF91F1F}" type="presParOf" srcId="{2BF5D1A3-5AC5-4102-9320-809AEB8F3E0A}" destId="{E052B216-BC7E-4F3F-AEA7-EE105D6293A8}" srcOrd="1" destOrd="0" presId="urn:microsoft.com/office/officeart/2005/8/layout/hierarchy1"/>
    <dgm:cxn modelId="{BAB790C2-06CC-4538-97F1-264386386D8D}" type="presParOf" srcId="{E052B216-BC7E-4F3F-AEA7-EE105D6293A8}" destId="{C1F01F16-F3FC-4965-8ED4-3D8E5A51982D}" srcOrd="0" destOrd="0" presId="urn:microsoft.com/office/officeart/2005/8/layout/hierarchy1"/>
    <dgm:cxn modelId="{EAC453B2-29BA-45BF-8B07-DF9411AE3534}" type="presParOf" srcId="{E052B216-BC7E-4F3F-AEA7-EE105D6293A8}" destId="{0AE6A883-CF11-41D1-AC7F-D587BE26E8A3}" srcOrd="1" destOrd="0" presId="urn:microsoft.com/office/officeart/2005/8/layout/hierarchy1"/>
    <dgm:cxn modelId="{70A7E67E-1494-4FF9-AAB7-56CBD0DE3D6D}" type="presParOf" srcId="{0AE6A883-CF11-41D1-AC7F-D587BE26E8A3}" destId="{813B15FC-E697-4701-9A85-042DDE005C24}" srcOrd="0" destOrd="0" presId="urn:microsoft.com/office/officeart/2005/8/layout/hierarchy1"/>
    <dgm:cxn modelId="{50D38E5C-3A5B-45EC-A449-6D939AEAD081}" type="presParOf" srcId="{813B15FC-E697-4701-9A85-042DDE005C24}" destId="{A0970414-8CA3-424D-810C-8F7B5C721A68}" srcOrd="0" destOrd="0" presId="urn:microsoft.com/office/officeart/2005/8/layout/hierarchy1"/>
    <dgm:cxn modelId="{B9EE948D-A8A6-4BCB-9DEA-B0A34C191550}" type="presParOf" srcId="{813B15FC-E697-4701-9A85-042DDE005C24}" destId="{865E6C74-40A0-43FF-9278-7C9C1D381033}" srcOrd="1" destOrd="0" presId="urn:microsoft.com/office/officeart/2005/8/layout/hierarchy1"/>
    <dgm:cxn modelId="{6055ED82-3C80-4E3B-909B-C907C9455C7E}" type="presParOf" srcId="{0AE6A883-CF11-41D1-AC7F-D587BE26E8A3}" destId="{471C6925-40AB-48AA-BC30-9CB5E27E2C42}" srcOrd="1" destOrd="0" presId="urn:microsoft.com/office/officeart/2005/8/layout/hierarchy1"/>
    <dgm:cxn modelId="{833EF0B1-541E-436B-844A-6E7FF4C9F3DD}" type="presParOf" srcId="{B522F5EF-3B85-4BB9-A355-E23AA5AFCD0C}" destId="{A369046B-D3F2-4059-8537-65B016390D75}" srcOrd="2" destOrd="0" presId="urn:microsoft.com/office/officeart/2005/8/layout/hierarchy1"/>
    <dgm:cxn modelId="{55F3BC32-0007-46CA-B98C-0B831C77A11B}" type="presParOf" srcId="{B522F5EF-3B85-4BB9-A355-E23AA5AFCD0C}" destId="{65182100-2996-4979-B48C-DE4B240E0DBC}" srcOrd="3" destOrd="0" presId="urn:microsoft.com/office/officeart/2005/8/layout/hierarchy1"/>
    <dgm:cxn modelId="{F34309C6-E683-4138-8F49-41A8BCF744A3}" type="presParOf" srcId="{65182100-2996-4979-B48C-DE4B240E0DBC}" destId="{895EC59E-96FA-4BFB-9554-02634BA4A428}" srcOrd="0" destOrd="0" presId="urn:microsoft.com/office/officeart/2005/8/layout/hierarchy1"/>
    <dgm:cxn modelId="{8E024661-4742-4769-8636-B661BA2B4E42}" type="presParOf" srcId="{895EC59E-96FA-4BFB-9554-02634BA4A428}" destId="{3750BDC3-5705-49ED-98A0-636C818E9733}" srcOrd="0" destOrd="0" presId="urn:microsoft.com/office/officeart/2005/8/layout/hierarchy1"/>
    <dgm:cxn modelId="{D930B4ED-E9EF-446D-8864-20EAB9A56CC4}" type="presParOf" srcId="{895EC59E-96FA-4BFB-9554-02634BA4A428}" destId="{85B41F1C-6E05-46F4-82A6-8EACBC57BE9C}" srcOrd="1" destOrd="0" presId="urn:microsoft.com/office/officeart/2005/8/layout/hierarchy1"/>
    <dgm:cxn modelId="{ED1162AE-5332-4AA7-9B7C-A0636A491659}" type="presParOf" srcId="{65182100-2996-4979-B48C-DE4B240E0DBC}" destId="{8FCE2EEB-12D4-4F4D-941F-3FF3A3B23EB6}" srcOrd="1" destOrd="0" presId="urn:microsoft.com/office/officeart/2005/8/layout/hierarchy1"/>
    <dgm:cxn modelId="{E3DE6DF3-AE36-4ACA-A762-C40E7A83CB5F}" type="presParOf" srcId="{8FCE2EEB-12D4-4F4D-941F-3FF3A3B23EB6}" destId="{F6F893C6-C964-4BF3-870A-41964FD5C26F}" srcOrd="0" destOrd="0" presId="urn:microsoft.com/office/officeart/2005/8/layout/hierarchy1"/>
    <dgm:cxn modelId="{44A483ED-DCAB-4242-AC6C-ECEFE89C9365}" type="presParOf" srcId="{8FCE2EEB-12D4-4F4D-941F-3FF3A3B23EB6}" destId="{B9B651F7-D1B6-4FF3-8B5A-F53A8284262D}" srcOrd="1" destOrd="0" presId="urn:microsoft.com/office/officeart/2005/8/layout/hierarchy1"/>
    <dgm:cxn modelId="{6F77A067-FB26-431B-84AA-A184F5A6CDB5}" type="presParOf" srcId="{B9B651F7-D1B6-4FF3-8B5A-F53A8284262D}" destId="{610EAC10-889B-4E3B-9E06-18BCA1004A33}" srcOrd="0" destOrd="0" presId="urn:microsoft.com/office/officeart/2005/8/layout/hierarchy1"/>
    <dgm:cxn modelId="{69D05E1D-FB24-4003-8FCB-8320AE81C563}" type="presParOf" srcId="{610EAC10-889B-4E3B-9E06-18BCA1004A33}" destId="{2AD7AF49-3119-4922-B7F0-000CAC73F87F}" srcOrd="0" destOrd="0" presId="urn:microsoft.com/office/officeart/2005/8/layout/hierarchy1"/>
    <dgm:cxn modelId="{1618A82B-418C-4A96-A2EF-9B6D5A812C3A}" type="presParOf" srcId="{610EAC10-889B-4E3B-9E06-18BCA1004A33}" destId="{80FCC79B-8F59-4646-8ED7-3BECF9CE17DB}" srcOrd="1" destOrd="0" presId="urn:microsoft.com/office/officeart/2005/8/layout/hierarchy1"/>
    <dgm:cxn modelId="{01794582-22E2-4514-B83E-F2A6B322BCF6}" type="presParOf" srcId="{B9B651F7-D1B6-4FF3-8B5A-F53A8284262D}" destId="{BE65151D-56A2-4135-8981-1197A7A88B2A}" srcOrd="1" destOrd="0" presId="urn:microsoft.com/office/officeart/2005/8/layout/hierarchy1"/>
    <dgm:cxn modelId="{8337D330-661D-40CE-B4F2-C93B2AC83FCA}" type="presParOf" srcId="{8FCE2EEB-12D4-4F4D-941F-3FF3A3B23EB6}" destId="{4A7C58B5-0AE6-4B02-9265-A95891BA812B}" srcOrd="2" destOrd="0" presId="urn:microsoft.com/office/officeart/2005/8/layout/hierarchy1"/>
    <dgm:cxn modelId="{C2A51CB4-F876-419E-813C-6F8E7318D07A}" type="presParOf" srcId="{8FCE2EEB-12D4-4F4D-941F-3FF3A3B23EB6}" destId="{76A5B328-B2AE-4BFE-BA9A-B63506B53E0D}" srcOrd="3" destOrd="0" presId="urn:microsoft.com/office/officeart/2005/8/layout/hierarchy1"/>
    <dgm:cxn modelId="{A7421D7B-DE82-41EC-A157-7C0E281BC61C}" type="presParOf" srcId="{76A5B328-B2AE-4BFE-BA9A-B63506B53E0D}" destId="{4EF4AE75-09C3-4EEB-9BFD-A33106C105ED}" srcOrd="0" destOrd="0" presId="urn:microsoft.com/office/officeart/2005/8/layout/hierarchy1"/>
    <dgm:cxn modelId="{DD67DC23-B44D-404A-A300-0A891B1661F5}" type="presParOf" srcId="{4EF4AE75-09C3-4EEB-9BFD-A33106C105ED}" destId="{5F769490-2B32-4C21-B078-DB1AC14EF5CB}" srcOrd="0" destOrd="0" presId="urn:microsoft.com/office/officeart/2005/8/layout/hierarchy1"/>
    <dgm:cxn modelId="{F12BF62C-BF9C-46CA-BA2E-E72FE4C211F9}" type="presParOf" srcId="{4EF4AE75-09C3-4EEB-9BFD-A33106C105ED}" destId="{D7C3EF70-F7E3-444E-9723-F3C98AF9D0A7}" srcOrd="1" destOrd="0" presId="urn:microsoft.com/office/officeart/2005/8/layout/hierarchy1"/>
    <dgm:cxn modelId="{2AEC764D-1C6D-46D1-8762-6EBDA54B9070}" type="presParOf" srcId="{76A5B328-B2AE-4BFE-BA9A-B63506B53E0D}" destId="{F58B4C0D-336B-4420-BCCB-FBDFBA6865AD}" srcOrd="1" destOrd="0" presId="urn:microsoft.com/office/officeart/2005/8/layout/hierarchy1"/>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7C58B5-0AE6-4B02-9265-A95891BA812B}">
      <dsp:nvSpPr>
        <dsp:cNvPr id="0" name=""/>
        <dsp:cNvSpPr/>
      </dsp:nvSpPr>
      <dsp:spPr>
        <a:xfrm>
          <a:off x="5085316" y="1731314"/>
          <a:ext cx="1465159" cy="389318"/>
        </a:xfrm>
        <a:custGeom>
          <a:avLst/>
          <a:gdLst/>
          <a:ahLst/>
          <a:cxnLst/>
          <a:rect l="0" t="0" r="0" b="0"/>
          <a:pathLst>
            <a:path>
              <a:moveTo>
                <a:pt x="0" y="0"/>
              </a:moveTo>
              <a:lnTo>
                <a:pt x="0" y="266775"/>
              </a:lnTo>
              <a:lnTo>
                <a:pt x="1465159" y="266775"/>
              </a:lnTo>
              <a:lnTo>
                <a:pt x="1465159" y="38931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6F893C6-C964-4BF3-870A-41964FD5C26F}">
      <dsp:nvSpPr>
        <dsp:cNvPr id="0" name=""/>
        <dsp:cNvSpPr/>
      </dsp:nvSpPr>
      <dsp:spPr>
        <a:xfrm>
          <a:off x="3423826" y="1731314"/>
          <a:ext cx="1661489" cy="384715"/>
        </a:xfrm>
        <a:custGeom>
          <a:avLst/>
          <a:gdLst/>
          <a:ahLst/>
          <a:cxnLst/>
          <a:rect l="0" t="0" r="0" b="0"/>
          <a:pathLst>
            <a:path>
              <a:moveTo>
                <a:pt x="1661489" y="0"/>
              </a:moveTo>
              <a:lnTo>
                <a:pt x="1661489" y="262172"/>
              </a:lnTo>
              <a:lnTo>
                <a:pt x="0" y="262172"/>
              </a:lnTo>
              <a:lnTo>
                <a:pt x="0" y="38471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69046B-D3F2-4059-8537-65B016390D75}">
      <dsp:nvSpPr>
        <dsp:cNvPr id="0" name=""/>
        <dsp:cNvSpPr/>
      </dsp:nvSpPr>
      <dsp:spPr>
        <a:xfrm>
          <a:off x="3430704" y="756118"/>
          <a:ext cx="1654611" cy="495542"/>
        </a:xfrm>
        <a:custGeom>
          <a:avLst/>
          <a:gdLst/>
          <a:ahLst/>
          <a:cxnLst/>
          <a:rect l="0" t="0" r="0" b="0"/>
          <a:pathLst>
            <a:path>
              <a:moveTo>
                <a:pt x="0" y="0"/>
              </a:moveTo>
              <a:lnTo>
                <a:pt x="0" y="372999"/>
              </a:lnTo>
              <a:lnTo>
                <a:pt x="1654611" y="372999"/>
              </a:lnTo>
              <a:lnTo>
                <a:pt x="1654611" y="49554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F01F16-F3FC-4965-8ED4-3D8E5A51982D}">
      <dsp:nvSpPr>
        <dsp:cNvPr id="0" name=""/>
        <dsp:cNvSpPr/>
      </dsp:nvSpPr>
      <dsp:spPr>
        <a:xfrm>
          <a:off x="783912" y="1796052"/>
          <a:ext cx="151432" cy="384715"/>
        </a:xfrm>
        <a:custGeom>
          <a:avLst/>
          <a:gdLst/>
          <a:ahLst/>
          <a:cxnLst/>
          <a:rect l="0" t="0" r="0" b="0"/>
          <a:pathLst>
            <a:path>
              <a:moveTo>
                <a:pt x="0" y="0"/>
              </a:moveTo>
              <a:lnTo>
                <a:pt x="0" y="262172"/>
              </a:lnTo>
              <a:lnTo>
                <a:pt x="151432" y="262172"/>
              </a:lnTo>
              <a:lnTo>
                <a:pt x="151432" y="38471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89D5A3B-A1C0-4F44-9D0E-A32CE6FBD1C6}">
      <dsp:nvSpPr>
        <dsp:cNvPr id="0" name=""/>
        <dsp:cNvSpPr/>
      </dsp:nvSpPr>
      <dsp:spPr>
        <a:xfrm>
          <a:off x="783912" y="756118"/>
          <a:ext cx="2646792" cy="495542"/>
        </a:xfrm>
        <a:custGeom>
          <a:avLst/>
          <a:gdLst/>
          <a:ahLst/>
          <a:cxnLst/>
          <a:rect l="0" t="0" r="0" b="0"/>
          <a:pathLst>
            <a:path>
              <a:moveTo>
                <a:pt x="2646792" y="0"/>
              </a:moveTo>
              <a:lnTo>
                <a:pt x="2646792" y="372999"/>
              </a:lnTo>
              <a:lnTo>
                <a:pt x="0" y="372999"/>
              </a:lnTo>
              <a:lnTo>
                <a:pt x="0" y="49554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C30F6C-14EB-49C6-A1D3-294E12024804}">
      <dsp:nvSpPr>
        <dsp:cNvPr id="0" name=""/>
        <dsp:cNvSpPr/>
      </dsp:nvSpPr>
      <dsp:spPr>
        <a:xfrm>
          <a:off x="2231860" y="288030"/>
          <a:ext cx="2397688" cy="46808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C9A44A-6FE9-4AED-8F12-4534CE7AF85A}">
      <dsp:nvSpPr>
        <dsp:cNvPr id="0" name=""/>
        <dsp:cNvSpPr/>
      </dsp:nvSpPr>
      <dsp:spPr>
        <a:xfrm>
          <a:off x="2378838" y="427659"/>
          <a:ext cx="2397688" cy="46808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altLang="zh-CN" sz="3200" b="1" kern="1200" dirty="0"/>
            <a:t>RNA</a:t>
          </a:r>
          <a:endParaRPr lang="zh-CN" altLang="en-US" sz="3200" b="1" kern="1200" dirty="0"/>
        </a:p>
      </dsp:txBody>
      <dsp:txXfrm>
        <a:off x="2392548" y="441369"/>
        <a:ext cx="2370268" cy="440667"/>
      </dsp:txXfrm>
    </dsp:sp>
    <dsp:sp modelId="{CC9ECB4A-0324-4E69-BC3A-141FFADF7E46}">
      <dsp:nvSpPr>
        <dsp:cNvPr id="0" name=""/>
        <dsp:cNvSpPr/>
      </dsp:nvSpPr>
      <dsp:spPr>
        <a:xfrm>
          <a:off x="-146978" y="1251660"/>
          <a:ext cx="1861780" cy="544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3B112D-DE10-4682-9265-3C49B14D9367}">
      <dsp:nvSpPr>
        <dsp:cNvPr id="0" name=""/>
        <dsp:cNvSpPr/>
      </dsp:nvSpPr>
      <dsp:spPr>
        <a:xfrm>
          <a:off x="0" y="1391289"/>
          <a:ext cx="1861780" cy="54439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t>编码</a:t>
          </a:r>
          <a:r>
            <a:rPr lang="en-US" altLang="zh-CN" sz="2800" b="1" kern="1200" dirty="0"/>
            <a:t>RNA</a:t>
          </a:r>
          <a:endParaRPr lang="zh-CN" altLang="en-US" sz="2800" b="1" kern="1200" dirty="0"/>
        </a:p>
      </dsp:txBody>
      <dsp:txXfrm>
        <a:off x="15945" y="1407234"/>
        <a:ext cx="1829890" cy="512501"/>
      </dsp:txXfrm>
    </dsp:sp>
    <dsp:sp modelId="{A0970414-8CA3-424D-810C-8F7B5C721A68}">
      <dsp:nvSpPr>
        <dsp:cNvPr id="0" name=""/>
        <dsp:cNvSpPr/>
      </dsp:nvSpPr>
      <dsp:spPr>
        <a:xfrm>
          <a:off x="123500" y="2180767"/>
          <a:ext cx="1623689" cy="8399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5E6C74-40A0-43FF-9278-7C9C1D381033}">
      <dsp:nvSpPr>
        <dsp:cNvPr id="0" name=""/>
        <dsp:cNvSpPr/>
      </dsp:nvSpPr>
      <dsp:spPr>
        <a:xfrm>
          <a:off x="270478" y="2320396"/>
          <a:ext cx="1623689" cy="83998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altLang="zh-CN" sz="2800" b="1" kern="1200" dirty="0">
              <a:solidFill>
                <a:srgbClr val="C00000"/>
              </a:solidFill>
            </a:rPr>
            <a:t>mRNA </a:t>
          </a:r>
          <a:endParaRPr lang="zh-CN" altLang="en-US" sz="2800" b="1" kern="1200" dirty="0">
            <a:solidFill>
              <a:srgbClr val="C00000"/>
            </a:solidFill>
          </a:endParaRPr>
        </a:p>
      </dsp:txBody>
      <dsp:txXfrm>
        <a:off x="295080" y="2344998"/>
        <a:ext cx="1574485" cy="790776"/>
      </dsp:txXfrm>
    </dsp:sp>
    <dsp:sp modelId="{3750BDC3-5705-49ED-98A0-636C818E9733}">
      <dsp:nvSpPr>
        <dsp:cNvPr id="0" name=""/>
        <dsp:cNvSpPr/>
      </dsp:nvSpPr>
      <dsp:spPr>
        <a:xfrm>
          <a:off x="4047120" y="1251660"/>
          <a:ext cx="2076392" cy="47965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B41F1C-6E05-46F4-82A6-8EACBC57BE9C}">
      <dsp:nvSpPr>
        <dsp:cNvPr id="0" name=""/>
        <dsp:cNvSpPr/>
      </dsp:nvSpPr>
      <dsp:spPr>
        <a:xfrm>
          <a:off x="4194098" y="1391289"/>
          <a:ext cx="2076392" cy="47965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t>非编码</a:t>
          </a:r>
          <a:r>
            <a:rPr lang="en-US" altLang="zh-CN" sz="2800" b="1" kern="1200" dirty="0"/>
            <a:t>RNA</a:t>
          </a:r>
          <a:endParaRPr lang="zh-CN" altLang="en-US" sz="2800" b="1" kern="1200" dirty="0"/>
        </a:p>
      </dsp:txBody>
      <dsp:txXfrm>
        <a:off x="4208147" y="1405338"/>
        <a:ext cx="2048294" cy="451556"/>
      </dsp:txXfrm>
    </dsp:sp>
    <dsp:sp modelId="{2AD7AF49-3119-4922-B7F0-000CAC73F87F}">
      <dsp:nvSpPr>
        <dsp:cNvPr id="0" name=""/>
        <dsp:cNvSpPr/>
      </dsp:nvSpPr>
      <dsp:spPr>
        <a:xfrm>
          <a:off x="2041145" y="2116030"/>
          <a:ext cx="2765361" cy="260206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FCC79B-8F59-4646-8ED7-3BECF9CE17DB}">
      <dsp:nvSpPr>
        <dsp:cNvPr id="0" name=""/>
        <dsp:cNvSpPr/>
      </dsp:nvSpPr>
      <dsp:spPr>
        <a:xfrm>
          <a:off x="2188124" y="2255659"/>
          <a:ext cx="2765361" cy="260206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ts val="0"/>
            </a:spcAft>
            <a:buNone/>
          </a:pPr>
          <a:r>
            <a:rPr lang="zh-CN" altLang="en-US" sz="2400" b="1" kern="1200" dirty="0"/>
            <a:t>组成性非编码</a:t>
          </a:r>
          <a:r>
            <a:rPr lang="en-US" altLang="zh-CN" sz="2400" b="1" kern="1200" dirty="0"/>
            <a:t>RNA</a:t>
          </a:r>
        </a:p>
        <a:p>
          <a:pPr marL="0" lvl="0" indent="0" algn="ctr" defTabSz="1066800">
            <a:lnSpc>
              <a:spcPct val="90000"/>
            </a:lnSpc>
            <a:spcBef>
              <a:spcPct val="0"/>
            </a:spcBef>
            <a:spcAft>
              <a:spcPts val="0"/>
            </a:spcAft>
            <a:buNone/>
          </a:pPr>
          <a:r>
            <a:rPr lang="en-US" altLang="zh-CN" sz="2800" b="1" kern="1200" dirty="0" err="1">
              <a:solidFill>
                <a:srgbClr val="C00000"/>
              </a:solidFill>
            </a:rPr>
            <a:t>tRNA</a:t>
          </a:r>
          <a:endParaRPr lang="en-US" altLang="zh-CN" sz="2800" b="1" kern="1200" dirty="0">
            <a:solidFill>
              <a:srgbClr val="C00000"/>
            </a:solidFill>
          </a:endParaRPr>
        </a:p>
        <a:p>
          <a:pPr marL="0" lvl="0" indent="0" algn="ctr" defTabSz="1066800">
            <a:lnSpc>
              <a:spcPct val="90000"/>
            </a:lnSpc>
            <a:spcBef>
              <a:spcPct val="0"/>
            </a:spcBef>
            <a:spcAft>
              <a:spcPts val="0"/>
            </a:spcAft>
            <a:buNone/>
          </a:pPr>
          <a:r>
            <a:rPr lang="en-US" altLang="zh-CN" sz="2800" b="1" kern="1200" dirty="0" err="1">
              <a:solidFill>
                <a:srgbClr val="C00000"/>
              </a:solidFill>
            </a:rPr>
            <a:t>rRNA</a:t>
          </a:r>
          <a:endParaRPr lang="en-US" altLang="zh-CN" sz="2800" b="1" kern="1200" dirty="0">
            <a:solidFill>
              <a:srgbClr val="C00000"/>
            </a:solidFill>
          </a:endParaRPr>
        </a:p>
        <a:p>
          <a:pPr marL="0" lvl="0" indent="0" algn="ctr" defTabSz="1066800">
            <a:lnSpc>
              <a:spcPct val="90000"/>
            </a:lnSpc>
            <a:spcBef>
              <a:spcPct val="0"/>
            </a:spcBef>
            <a:spcAft>
              <a:spcPts val="0"/>
            </a:spcAft>
            <a:buNone/>
          </a:pPr>
          <a:r>
            <a:rPr lang="en-US" altLang="zh-CN" sz="2800" b="1" kern="1200" dirty="0"/>
            <a:t>snRNA</a:t>
          </a:r>
        </a:p>
        <a:p>
          <a:pPr marL="0" lvl="0" indent="0" algn="ctr" defTabSz="1066800">
            <a:lnSpc>
              <a:spcPct val="90000"/>
            </a:lnSpc>
            <a:spcBef>
              <a:spcPct val="0"/>
            </a:spcBef>
            <a:spcAft>
              <a:spcPts val="0"/>
            </a:spcAft>
            <a:buNone/>
          </a:pPr>
          <a:r>
            <a:rPr lang="en-US" altLang="zh-CN" sz="2800" b="1" kern="1200" dirty="0" err="1"/>
            <a:t>snoRNA</a:t>
          </a:r>
          <a:endParaRPr lang="en-US" altLang="zh-CN" sz="2800" b="1" kern="1200" dirty="0"/>
        </a:p>
        <a:p>
          <a:pPr marL="0" lvl="0" indent="0" algn="ctr" defTabSz="1066800">
            <a:lnSpc>
              <a:spcPct val="90000"/>
            </a:lnSpc>
            <a:spcBef>
              <a:spcPct val="0"/>
            </a:spcBef>
            <a:spcAft>
              <a:spcPts val="0"/>
            </a:spcAft>
            <a:buNone/>
          </a:pPr>
          <a:r>
            <a:rPr lang="en-US" altLang="zh-CN" sz="2800" b="1" kern="1200" dirty="0" err="1"/>
            <a:t>scRNA</a:t>
          </a:r>
          <a:endParaRPr lang="zh-CN" altLang="en-US" sz="2800" b="1" kern="1200" dirty="0"/>
        </a:p>
      </dsp:txBody>
      <dsp:txXfrm>
        <a:off x="2264336" y="2331871"/>
        <a:ext cx="2612937" cy="2449642"/>
      </dsp:txXfrm>
    </dsp:sp>
    <dsp:sp modelId="{5F769490-2B32-4C21-B078-DB1AC14EF5CB}">
      <dsp:nvSpPr>
        <dsp:cNvPr id="0" name=""/>
        <dsp:cNvSpPr/>
      </dsp:nvSpPr>
      <dsp:spPr>
        <a:xfrm>
          <a:off x="5035964" y="2120633"/>
          <a:ext cx="3029023" cy="260206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C3EF70-F7E3-444E-9723-F3C98AF9D0A7}">
      <dsp:nvSpPr>
        <dsp:cNvPr id="0" name=""/>
        <dsp:cNvSpPr/>
      </dsp:nvSpPr>
      <dsp:spPr>
        <a:xfrm>
          <a:off x="5182942" y="2260262"/>
          <a:ext cx="3029023" cy="260206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5000"/>
            </a:lnSpc>
            <a:spcBef>
              <a:spcPct val="0"/>
            </a:spcBef>
            <a:spcAft>
              <a:spcPts val="0"/>
            </a:spcAft>
            <a:buNone/>
          </a:pPr>
          <a:endParaRPr lang="en-US" altLang="zh-CN" sz="2800" b="1" kern="1200" dirty="0"/>
        </a:p>
        <a:p>
          <a:pPr marL="0" lvl="0" indent="0" algn="ctr" defTabSz="1244600">
            <a:lnSpc>
              <a:spcPct val="95000"/>
            </a:lnSpc>
            <a:spcBef>
              <a:spcPct val="0"/>
            </a:spcBef>
            <a:spcAft>
              <a:spcPts val="0"/>
            </a:spcAft>
            <a:buNone/>
          </a:pPr>
          <a:endParaRPr lang="en-US" altLang="zh-CN" sz="2800" b="1" kern="1200" dirty="0"/>
        </a:p>
        <a:p>
          <a:pPr marL="0" lvl="0" indent="0" algn="ctr" defTabSz="1244600">
            <a:lnSpc>
              <a:spcPct val="95000"/>
            </a:lnSpc>
            <a:spcBef>
              <a:spcPct val="0"/>
            </a:spcBef>
            <a:spcAft>
              <a:spcPts val="0"/>
            </a:spcAft>
            <a:buNone/>
          </a:pPr>
          <a:r>
            <a:rPr lang="zh-CN" altLang="en-US" sz="2400" b="1" kern="1200" dirty="0"/>
            <a:t>调控性非编码</a:t>
          </a:r>
          <a:r>
            <a:rPr lang="en-US" altLang="zh-CN" sz="2400" b="1" kern="1200" dirty="0"/>
            <a:t>RNA</a:t>
          </a:r>
        </a:p>
        <a:p>
          <a:pPr marL="0" lvl="0" indent="0" algn="ctr" defTabSz="1244600">
            <a:lnSpc>
              <a:spcPct val="95000"/>
            </a:lnSpc>
            <a:spcBef>
              <a:spcPct val="0"/>
            </a:spcBef>
            <a:spcAft>
              <a:spcPts val="0"/>
            </a:spcAft>
            <a:buNone/>
          </a:pPr>
          <a:r>
            <a:rPr lang="en-US" altLang="zh-CN" sz="2800" b="1" kern="1200" dirty="0" err="1"/>
            <a:t>lncRNA</a:t>
          </a:r>
          <a:endParaRPr lang="en-US" altLang="zh-CN" sz="2800" b="1" kern="1200" dirty="0"/>
        </a:p>
        <a:p>
          <a:pPr marL="0" lvl="0" indent="0" algn="ctr" defTabSz="1244600">
            <a:lnSpc>
              <a:spcPct val="95000"/>
            </a:lnSpc>
            <a:spcBef>
              <a:spcPct val="0"/>
            </a:spcBef>
            <a:spcAft>
              <a:spcPts val="0"/>
            </a:spcAft>
            <a:buNone/>
          </a:pPr>
          <a:r>
            <a:rPr lang="en-US" altLang="zh-CN" sz="2800" b="1" kern="1200" dirty="0">
              <a:solidFill>
                <a:srgbClr val="C00000"/>
              </a:solidFill>
            </a:rPr>
            <a:t>miRNA</a:t>
          </a:r>
        </a:p>
        <a:p>
          <a:pPr marL="0" lvl="0" indent="0" algn="ctr" defTabSz="1244600">
            <a:lnSpc>
              <a:spcPct val="95000"/>
            </a:lnSpc>
            <a:spcBef>
              <a:spcPct val="0"/>
            </a:spcBef>
            <a:spcAft>
              <a:spcPts val="0"/>
            </a:spcAft>
            <a:buNone/>
          </a:pPr>
          <a:r>
            <a:rPr lang="en-US" altLang="zh-CN" sz="2800" b="1" kern="1200" dirty="0">
              <a:solidFill>
                <a:srgbClr val="C00000"/>
              </a:solidFill>
            </a:rPr>
            <a:t>siRNA</a:t>
          </a:r>
        </a:p>
        <a:p>
          <a:pPr marL="0" lvl="0" indent="0" algn="ctr" defTabSz="1244600">
            <a:lnSpc>
              <a:spcPct val="95000"/>
            </a:lnSpc>
            <a:spcBef>
              <a:spcPct val="0"/>
            </a:spcBef>
            <a:spcAft>
              <a:spcPts val="0"/>
            </a:spcAft>
            <a:buNone/>
          </a:pPr>
          <a:r>
            <a:rPr lang="en-US" altLang="zh-CN" sz="2800" b="1" kern="1200" dirty="0" err="1"/>
            <a:t>piRNA</a:t>
          </a:r>
          <a:endParaRPr lang="en-US" altLang="zh-CN" sz="2800" b="1" kern="1200" dirty="0"/>
        </a:p>
        <a:p>
          <a:pPr marL="0" lvl="0" indent="0" algn="ctr" defTabSz="1244600">
            <a:lnSpc>
              <a:spcPct val="95000"/>
            </a:lnSpc>
            <a:spcBef>
              <a:spcPct val="0"/>
            </a:spcBef>
            <a:spcAft>
              <a:spcPts val="0"/>
            </a:spcAft>
            <a:buNone/>
          </a:pPr>
          <a:endParaRPr lang="en-US" altLang="zh-CN" sz="2800" b="1" kern="1200" dirty="0"/>
        </a:p>
        <a:p>
          <a:pPr marL="0" lvl="0" indent="0" algn="ctr" defTabSz="1244600">
            <a:lnSpc>
              <a:spcPct val="95000"/>
            </a:lnSpc>
            <a:spcBef>
              <a:spcPct val="0"/>
            </a:spcBef>
            <a:spcAft>
              <a:spcPts val="0"/>
            </a:spcAft>
            <a:buNone/>
          </a:pPr>
          <a:endParaRPr lang="zh-CN" altLang="en-US" sz="2800" b="1" kern="1200" dirty="0"/>
        </a:p>
      </dsp:txBody>
      <dsp:txXfrm>
        <a:off x="5259154" y="2336474"/>
        <a:ext cx="2876599" cy="244964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ACFBAF5-444C-471C-8E7C-1145C691FB62}"/>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a:extLst>
              <a:ext uri="{FF2B5EF4-FFF2-40B4-BE49-F238E27FC236}">
                <a16:creationId xmlns:a16="http://schemas.microsoft.com/office/drawing/2014/main" id="{31269E9C-E99F-46E8-9FE4-3F3B055C48BE}"/>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6C3D3565-73E2-4A61-86B3-CA0D2B75BDEE}" type="datetime1">
              <a:rPr lang="zh-CN" altLang="en-US"/>
              <a:pPr>
                <a:defRPr/>
              </a:pPr>
              <a:t>2026/9/10</a:t>
            </a:fld>
            <a:endParaRPr lang="zh-CN" altLang="en-US"/>
          </a:p>
        </p:txBody>
      </p:sp>
      <p:sp>
        <p:nvSpPr>
          <p:cNvPr id="4" name="页脚占位符 3">
            <a:extLst>
              <a:ext uri="{FF2B5EF4-FFF2-40B4-BE49-F238E27FC236}">
                <a16:creationId xmlns:a16="http://schemas.microsoft.com/office/drawing/2014/main" id="{E9CE1702-F595-4995-ADB3-FCCC09D4E690}"/>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5" name="灯片编号占位符 4">
            <a:extLst>
              <a:ext uri="{FF2B5EF4-FFF2-40B4-BE49-F238E27FC236}">
                <a16:creationId xmlns:a16="http://schemas.microsoft.com/office/drawing/2014/main" id="{C777B0AB-509B-473A-9B01-EC29544BE341}"/>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F89490E-5680-4545-BF93-1AD599F21499}"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1026">
            <a:extLst>
              <a:ext uri="{FF2B5EF4-FFF2-40B4-BE49-F238E27FC236}">
                <a16:creationId xmlns:a16="http://schemas.microsoft.com/office/drawing/2014/main" id="{0698AC84-41C9-4334-95F4-289846769F0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4099" name="Rectangle 1027">
            <a:extLst>
              <a:ext uri="{FF2B5EF4-FFF2-40B4-BE49-F238E27FC236}">
                <a16:creationId xmlns:a16="http://schemas.microsoft.com/office/drawing/2014/main" id="{0F624B48-7E28-4490-A287-334A5D738E29}"/>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56894DB8-2334-482B-9448-A2DB6DBB84B8}" type="datetime1">
              <a:rPr lang="zh-CN" altLang="en-US"/>
              <a:pPr>
                <a:defRPr/>
              </a:pPr>
              <a:t>2026/9/10</a:t>
            </a:fld>
            <a:endParaRPr lang="en-US" altLang="zh-CN"/>
          </a:p>
        </p:txBody>
      </p:sp>
      <p:sp>
        <p:nvSpPr>
          <p:cNvPr id="16388" name="Rectangle 1028">
            <a:extLst>
              <a:ext uri="{FF2B5EF4-FFF2-40B4-BE49-F238E27FC236}">
                <a16:creationId xmlns:a16="http://schemas.microsoft.com/office/drawing/2014/main" id="{02AF8B24-C027-455B-92D9-DAA87D5FD79D}"/>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1029">
            <a:extLst>
              <a:ext uri="{FF2B5EF4-FFF2-40B4-BE49-F238E27FC236}">
                <a16:creationId xmlns:a16="http://schemas.microsoft.com/office/drawing/2014/main" id="{3D8C1795-1863-48FD-8BEA-984CD59D288D}"/>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1030">
            <a:extLst>
              <a:ext uri="{FF2B5EF4-FFF2-40B4-BE49-F238E27FC236}">
                <a16:creationId xmlns:a16="http://schemas.microsoft.com/office/drawing/2014/main" id="{744F5938-79F6-46A8-B516-326C34D69489}"/>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4103" name="Rectangle 1031">
            <a:extLst>
              <a:ext uri="{FF2B5EF4-FFF2-40B4-BE49-F238E27FC236}">
                <a16:creationId xmlns:a16="http://schemas.microsoft.com/office/drawing/2014/main" id="{F107EC33-4854-43DA-9218-DC0F00C62C09}"/>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A48E35A-2A6D-4F07-ADC0-EF8313D1153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F852C8BF-2EF3-4807-8A68-8D90066FC9BD}"/>
              </a:ext>
            </a:extLst>
          </p:cNvPr>
          <p:cNvSpPr>
            <a:spLocks noGrp="1" noRot="1" noChangeAspect="1" noChangeArrowheads="1" noTextEdit="1"/>
          </p:cNvSpPr>
          <p:nvPr>
            <p:ph type="sldImg"/>
          </p:nvPr>
        </p:nvSpPr>
        <p:spPr>
          <a:xfrm>
            <a:off x="381000" y="685800"/>
            <a:ext cx="6096000" cy="3429000"/>
          </a:xfrm>
          <a:ln/>
        </p:spPr>
      </p:sp>
      <p:sp>
        <p:nvSpPr>
          <p:cNvPr id="19459" name="备注占位符 2">
            <a:extLst>
              <a:ext uri="{FF2B5EF4-FFF2-40B4-BE49-F238E27FC236}">
                <a16:creationId xmlns:a16="http://schemas.microsoft.com/office/drawing/2014/main" id="{A8750F63-CBF8-4AB4-896A-63A6210B79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1868</a:t>
            </a:r>
            <a:r>
              <a:rPr lang="zh-CN" altLang="en-US" dirty="0"/>
              <a:t>年发现核酸，当时称核素（</a:t>
            </a:r>
            <a:r>
              <a:rPr lang="en-US" altLang="zh-CN" dirty="0" err="1"/>
              <a:t>nuclein</a:t>
            </a:r>
            <a:r>
              <a:rPr lang="en-US" altLang="zh-CN" dirty="0"/>
              <a:t>), </a:t>
            </a:r>
            <a:r>
              <a:rPr lang="zh-CN" altLang="en-US" dirty="0"/>
              <a:t>于</a:t>
            </a:r>
            <a:r>
              <a:rPr lang="en-US" altLang="zh-CN" dirty="0"/>
              <a:t>1889</a:t>
            </a:r>
            <a:r>
              <a:rPr lang="zh-CN" altLang="en-US" dirty="0"/>
              <a:t>年被定名为核酸。  </a:t>
            </a:r>
            <a:r>
              <a:rPr lang="en-US" altLang="zh-CN" dirty="0"/>
              <a:t>19</a:t>
            </a:r>
            <a:r>
              <a:rPr lang="zh-CN" altLang="en-US" dirty="0"/>
              <a:t>世纪末人类才发现有两类核酸。</a:t>
            </a:r>
          </a:p>
          <a:p>
            <a:endParaRPr lang="zh-CN" altLang="en-US" dirty="0"/>
          </a:p>
        </p:txBody>
      </p:sp>
      <p:sp>
        <p:nvSpPr>
          <p:cNvPr id="19460" name="灯片编号占位符 3">
            <a:extLst>
              <a:ext uri="{FF2B5EF4-FFF2-40B4-BE49-F238E27FC236}">
                <a16:creationId xmlns:a16="http://schemas.microsoft.com/office/drawing/2014/main" id="{7978A54C-C6CF-4982-A874-A704A5185B7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0DEDA91-8875-4BB0-A388-5E15B64B3F07}" type="slidenum">
              <a:rPr lang="en-US" altLang="zh-CN" sz="1200" smtClean="0"/>
              <a:pPr/>
              <a:t>1</a:t>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BBCED0E6-6F25-4B7C-B93D-7A08918B6A9C}"/>
              </a:ext>
            </a:extLst>
          </p:cNvPr>
          <p:cNvSpPr>
            <a:spLocks noGrp="1" noRot="1" noChangeAspect="1" noChangeArrowheads="1" noTextEdit="1"/>
          </p:cNvSpPr>
          <p:nvPr>
            <p:ph type="sldImg"/>
          </p:nvPr>
        </p:nvSpPr>
        <p:spPr>
          <a:xfrm>
            <a:off x="381000" y="685800"/>
            <a:ext cx="6096000" cy="3429000"/>
          </a:xfrm>
          <a:ln/>
        </p:spPr>
      </p:sp>
      <p:sp>
        <p:nvSpPr>
          <p:cNvPr id="21507" name="备注占位符 2">
            <a:extLst>
              <a:ext uri="{FF2B5EF4-FFF2-40B4-BE49-F238E27FC236}">
                <a16:creationId xmlns:a16="http://schemas.microsoft.com/office/drawing/2014/main" id="{74C2C260-C5C9-4104-B9FB-19A275256FA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21508" name="灯片编号占位符 3">
            <a:extLst>
              <a:ext uri="{FF2B5EF4-FFF2-40B4-BE49-F238E27FC236}">
                <a16:creationId xmlns:a16="http://schemas.microsoft.com/office/drawing/2014/main" id="{037A5C89-A99F-4424-94B2-72A8BAE7BD1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A267874-BC5A-40CC-8FA4-768E97355B51}" type="slidenum">
              <a:rPr lang="en-US" altLang="zh-CN" sz="1200" smtClean="0"/>
              <a:pPr/>
              <a:t>2</a:t>
            </a:fld>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a:extLst>
              <a:ext uri="{FF2B5EF4-FFF2-40B4-BE49-F238E27FC236}">
                <a16:creationId xmlns:a16="http://schemas.microsoft.com/office/drawing/2014/main" id="{E9D3B8C4-F210-4895-9589-47F869E1C79B}"/>
              </a:ext>
            </a:extLst>
          </p:cNvPr>
          <p:cNvSpPr>
            <a:spLocks noGrp="1" noRot="1" noChangeAspect="1" noChangeArrowheads="1" noTextEdit="1"/>
          </p:cNvSpPr>
          <p:nvPr>
            <p:ph type="sldImg"/>
          </p:nvPr>
        </p:nvSpPr>
        <p:spPr>
          <a:xfrm>
            <a:off x="381000" y="685800"/>
            <a:ext cx="6096000" cy="3429000"/>
          </a:xfrm>
          <a:ln/>
        </p:spPr>
      </p:sp>
      <p:sp>
        <p:nvSpPr>
          <p:cNvPr id="33795" name="备注占位符 2">
            <a:extLst>
              <a:ext uri="{FF2B5EF4-FFF2-40B4-BE49-F238E27FC236}">
                <a16:creationId xmlns:a16="http://schemas.microsoft.com/office/drawing/2014/main" id="{8B7EF49C-158E-4888-B76B-7E558F17C02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3796" name="灯片编号占位符 3">
            <a:extLst>
              <a:ext uri="{FF2B5EF4-FFF2-40B4-BE49-F238E27FC236}">
                <a16:creationId xmlns:a16="http://schemas.microsoft.com/office/drawing/2014/main" id="{533F90E0-CBAD-407B-9BD1-9EC746014F7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3D93CB3-779E-446E-94E0-6B194E3C2FA5}" type="slidenum">
              <a:rPr lang="en-US" altLang="zh-CN" sz="1200" smtClean="0"/>
              <a:pPr/>
              <a:t>3</a:t>
            </a:fld>
            <a:endParaRPr lang="en-US" altLang="zh-CN" sz="1200"/>
          </a:p>
        </p:txBody>
      </p:sp>
    </p:spTree>
    <p:extLst>
      <p:ext uri="{BB962C8B-B14F-4D97-AF65-F5344CB8AC3E}">
        <p14:creationId xmlns:p14="http://schemas.microsoft.com/office/powerpoint/2010/main" val="1221622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31">
            <a:extLst>
              <a:ext uri="{FF2B5EF4-FFF2-40B4-BE49-F238E27FC236}">
                <a16:creationId xmlns:a16="http://schemas.microsoft.com/office/drawing/2014/main" id="{731AB9BF-2602-4B7C-B666-D6551D7B69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80E134F-DC99-4B5F-ACFA-58D1F7BA4016}" type="slidenum">
              <a:rPr lang="en-US" altLang="zh-CN" smtClean="0"/>
              <a:pPr>
                <a:spcBef>
                  <a:spcPct val="0"/>
                </a:spcBef>
              </a:pPr>
              <a:t>4</a:t>
            </a:fld>
            <a:endParaRPr lang="en-US" altLang="zh-CN"/>
          </a:p>
        </p:txBody>
      </p:sp>
      <p:sp>
        <p:nvSpPr>
          <p:cNvPr id="23555" name="Rectangle 2050">
            <a:extLst>
              <a:ext uri="{FF2B5EF4-FFF2-40B4-BE49-F238E27FC236}">
                <a16:creationId xmlns:a16="http://schemas.microsoft.com/office/drawing/2014/main" id="{BB8C3E3B-C2BC-4B71-9F77-B6D61B05D8D5}"/>
              </a:ext>
            </a:extLst>
          </p:cNvPr>
          <p:cNvSpPr>
            <a:spLocks noGrp="1" noRot="1" noChangeAspect="1" noChangeArrowheads="1" noTextEdit="1"/>
          </p:cNvSpPr>
          <p:nvPr>
            <p:ph type="sldImg"/>
          </p:nvPr>
        </p:nvSpPr>
        <p:spPr>
          <a:xfrm>
            <a:off x="381000" y="685800"/>
            <a:ext cx="6096000" cy="3429000"/>
          </a:xfrm>
          <a:ln/>
        </p:spPr>
      </p:sp>
      <p:sp>
        <p:nvSpPr>
          <p:cNvPr id="23556" name="Rectangle 2051">
            <a:extLst>
              <a:ext uri="{FF2B5EF4-FFF2-40B4-BE49-F238E27FC236}">
                <a16:creationId xmlns:a16="http://schemas.microsoft.com/office/drawing/2014/main" id="{A0537215-3980-4522-B989-62BA0F24F6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zh-CN" altLang="en-US" dirty="0"/>
              <a:t>指挥制造蛋白质的核酸才是生命的真正幕后操纵者！</a:t>
            </a:r>
          </a:p>
          <a:p>
            <a:pPr marL="228600" indent="-228600" eaLnBrk="1" hangingPunct="1"/>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31">
            <a:extLst>
              <a:ext uri="{FF2B5EF4-FFF2-40B4-BE49-F238E27FC236}">
                <a16:creationId xmlns:a16="http://schemas.microsoft.com/office/drawing/2014/main" id="{DCFB2FE7-D008-4885-B161-B0693441EB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6AF7C14-57E7-442F-BB75-C8CA6DE5A521}" type="slidenum">
              <a:rPr lang="en-US" altLang="zh-CN" smtClean="0"/>
              <a:pPr>
                <a:spcBef>
                  <a:spcPct val="0"/>
                </a:spcBef>
              </a:pPr>
              <a:t>5</a:t>
            </a:fld>
            <a:endParaRPr lang="en-US" altLang="zh-CN"/>
          </a:p>
        </p:txBody>
      </p:sp>
      <p:sp>
        <p:nvSpPr>
          <p:cNvPr id="31747" name="Rectangle 2">
            <a:extLst>
              <a:ext uri="{FF2B5EF4-FFF2-40B4-BE49-F238E27FC236}">
                <a16:creationId xmlns:a16="http://schemas.microsoft.com/office/drawing/2014/main" id="{7D8F3383-256A-4A39-9204-2DF879546B61}"/>
              </a:ext>
            </a:extLst>
          </p:cNvPr>
          <p:cNvSpPr>
            <a:spLocks noGrp="1" noRot="1" noChangeAspect="1" noChangeArrowheads="1" noTextEdit="1"/>
          </p:cNvSpPr>
          <p:nvPr>
            <p:ph type="sldImg"/>
          </p:nvPr>
        </p:nvSpPr>
        <p:spPr>
          <a:xfrm>
            <a:off x="381000" y="685800"/>
            <a:ext cx="6096000" cy="3429000"/>
          </a:xfrm>
          <a:ln/>
        </p:spPr>
      </p:sp>
      <p:sp>
        <p:nvSpPr>
          <p:cNvPr id="31748" name="Rectangle 3">
            <a:extLst>
              <a:ext uri="{FF2B5EF4-FFF2-40B4-BE49-F238E27FC236}">
                <a16:creationId xmlns:a16="http://schemas.microsoft.com/office/drawing/2014/main" id="{B548C9BA-005E-4788-B805-E30CFEFBA7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spcBef>
                <a:spcPct val="0"/>
              </a:spcBef>
            </a:pPr>
            <a:r>
              <a:rPr lang="en-US" altLang="zh-CN" dirty="0"/>
              <a:t>Mitochondrial DNA (</a:t>
            </a:r>
            <a:r>
              <a:rPr lang="en-US" altLang="zh-CN" dirty="0" err="1"/>
              <a:t>mtDNA</a:t>
            </a:r>
            <a:r>
              <a:rPr lang="en-US" altLang="zh-CN" dirty="0"/>
              <a:t>)</a:t>
            </a:r>
            <a:r>
              <a:rPr lang="zh-CN" altLang="en-US" dirty="0"/>
              <a:t>：</a:t>
            </a:r>
            <a:r>
              <a:rPr lang="en-US" altLang="zh-CN" dirty="0"/>
              <a:t> </a:t>
            </a:r>
            <a:r>
              <a:rPr lang="zh-CN" altLang="en-US" dirty="0"/>
              <a:t>线粒体</a:t>
            </a:r>
            <a:r>
              <a:rPr lang="en-US" altLang="zh-CN" dirty="0"/>
              <a:t>DNA</a:t>
            </a:r>
            <a:endParaRPr kumimoji="1" lang="en-US" altLang="zh-CN" dirty="0"/>
          </a:p>
          <a:p>
            <a:pPr eaLnBrk="1" hangingPunct="1">
              <a:lnSpc>
                <a:spcPct val="110000"/>
              </a:lnSpc>
              <a:spcBef>
                <a:spcPct val="0"/>
              </a:spcBef>
            </a:pPr>
            <a:endParaRPr kumimoji="1" lang="en-US" altLang="zh-CN" dirty="0"/>
          </a:p>
          <a:p>
            <a:pPr eaLnBrk="1" hangingPunct="1">
              <a:lnSpc>
                <a:spcPct val="110000"/>
              </a:lnSpc>
              <a:spcBef>
                <a:spcPct val="0"/>
              </a:spcBef>
            </a:pPr>
            <a:r>
              <a:rPr kumimoji="1" lang="en-US" altLang="zh-CN" dirty="0"/>
              <a:t>RNA</a:t>
            </a:r>
            <a:r>
              <a:rPr kumimoji="1" lang="zh-CN" altLang="en-US" dirty="0"/>
              <a:t>主要参与蛋白质的生物合成，另有：参与基因表达的调控、催化作用、遗传信息的加工、</a:t>
            </a:r>
            <a:r>
              <a:rPr kumimoji="1" lang="en-US" altLang="zh-CN" dirty="0"/>
              <a:t>RNA</a:t>
            </a:r>
            <a:r>
              <a:rPr kumimoji="1" lang="zh-CN" altLang="en-US" dirty="0"/>
              <a:t>病毒遗传信息的载体。</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97A63353-5E74-4FE4-8668-560AF385EAE0}"/>
              </a:ext>
            </a:extLst>
          </p:cNvPr>
          <p:cNvSpPr>
            <a:spLocks noGrp="1" noRot="1" noChangeAspect="1" noChangeArrowheads="1" noTextEdit="1"/>
          </p:cNvSpPr>
          <p:nvPr>
            <p:ph type="sldImg"/>
          </p:nvPr>
        </p:nvSpPr>
        <p:spPr>
          <a:xfrm>
            <a:off x="381000" y="685800"/>
            <a:ext cx="6096000" cy="3429000"/>
          </a:xfrm>
          <a:ln/>
        </p:spPr>
      </p:sp>
      <p:sp>
        <p:nvSpPr>
          <p:cNvPr id="35843" name="备注占位符 2">
            <a:extLst>
              <a:ext uri="{FF2B5EF4-FFF2-40B4-BE49-F238E27FC236}">
                <a16:creationId xmlns:a16="http://schemas.microsoft.com/office/drawing/2014/main" id="{E6908A3E-06B4-425B-8248-325F8F39603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dirty="0"/>
              <a:t>本节重点： </a:t>
            </a:r>
            <a:r>
              <a:rPr lang="zh-CN" altLang="en-US" dirty="0"/>
              <a:t>核酸的化学组成，尤其碱基组成，核苷酸连接方式，核酸一级结构定义及书写</a:t>
            </a:r>
          </a:p>
        </p:txBody>
      </p:sp>
      <p:sp>
        <p:nvSpPr>
          <p:cNvPr id="35844" name="灯片编号占位符 3">
            <a:extLst>
              <a:ext uri="{FF2B5EF4-FFF2-40B4-BE49-F238E27FC236}">
                <a16:creationId xmlns:a16="http://schemas.microsoft.com/office/drawing/2014/main" id="{C235CF63-67DE-4643-B052-AA67E00B0D0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1D0AFF8-98EC-44E5-89D7-EDD766A257A6}" type="slidenum">
              <a:rPr lang="en-US" altLang="zh-CN" sz="1200" smtClean="0"/>
              <a:pPr/>
              <a:t>6</a:t>
            </a:fld>
            <a:endParaRPr lang="en-US" altLang="zh-CN"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31">
            <a:extLst>
              <a:ext uri="{FF2B5EF4-FFF2-40B4-BE49-F238E27FC236}">
                <a16:creationId xmlns:a16="http://schemas.microsoft.com/office/drawing/2014/main" id="{67786AD0-1C93-4F77-A51B-6F987E853F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A9BF04B-DB7A-4CF6-A02C-DB0AF985C0E0}" type="slidenum">
              <a:rPr lang="en-US" altLang="zh-CN" smtClean="0"/>
              <a:pPr>
                <a:spcBef>
                  <a:spcPct val="0"/>
                </a:spcBef>
              </a:pPr>
              <a:t>7</a:t>
            </a:fld>
            <a:endParaRPr lang="en-US" altLang="zh-CN"/>
          </a:p>
        </p:txBody>
      </p:sp>
      <p:sp>
        <p:nvSpPr>
          <p:cNvPr id="37891" name="Rectangle 2">
            <a:extLst>
              <a:ext uri="{FF2B5EF4-FFF2-40B4-BE49-F238E27FC236}">
                <a16:creationId xmlns:a16="http://schemas.microsoft.com/office/drawing/2014/main" id="{7DE4EC05-0497-455B-A329-B3D44FA05734}"/>
              </a:ext>
            </a:extLst>
          </p:cNvPr>
          <p:cNvSpPr>
            <a:spLocks noGrp="1" noRot="1" noChangeAspect="1" noChangeArrowheads="1" noTextEdit="1"/>
          </p:cNvSpPr>
          <p:nvPr>
            <p:ph type="sldImg"/>
          </p:nvPr>
        </p:nvSpPr>
        <p:spPr>
          <a:xfrm>
            <a:off x="381000" y="685800"/>
            <a:ext cx="6096000" cy="3429000"/>
          </a:xfrm>
          <a:ln/>
        </p:spPr>
      </p:sp>
      <p:sp>
        <p:nvSpPr>
          <p:cNvPr id="37892" name="Rectangle 3">
            <a:extLst>
              <a:ext uri="{FF2B5EF4-FFF2-40B4-BE49-F238E27FC236}">
                <a16:creationId xmlns:a16="http://schemas.microsoft.com/office/drawing/2014/main" id="{6C751D59-6E29-4A66-9A34-9B3713AC5D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严格来说，</a:t>
            </a:r>
            <a:r>
              <a:rPr lang="en-US" altLang="zh-CN" dirty="0"/>
              <a:t>DNA</a:t>
            </a:r>
            <a:r>
              <a:rPr lang="zh-CN" altLang="en-US" dirty="0"/>
              <a:t>的基本组成单位是脱氧核苷酸，但在讲述时，为了简洁表达，很多时候就简单地说：核酸的基本组成单位是核苷酸</a:t>
            </a:r>
            <a:endParaRPr lang="en-US" altLang="zh-CN" dirty="0"/>
          </a:p>
          <a:p>
            <a:pPr eaLnBrk="1" hangingPunct="1"/>
            <a:endParaRPr lang="en-US" altLang="zh-CN" dirty="0"/>
          </a:p>
          <a:p>
            <a:pPr eaLnBrk="1" hangingPunct="1"/>
            <a:r>
              <a:rPr lang="zh-CN" altLang="en-US" dirty="0"/>
              <a:t>目前实验室核酸定量多用荧光染料法、紫外分光光度法、荧光定量</a:t>
            </a:r>
            <a:r>
              <a:rPr lang="en-US" altLang="zh-CN" dirty="0"/>
              <a:t>PCR</a:t>
            </a:r>
            <a:r>
              <a:rPr lang="zh-CN" altLang="en-US" dirty="0"/>
              <a:t>法等。 </a:t>
            </a:r>
            <a:endParaRPr lang="en-US" altLang="zh-CN" dirty="0"/>
          </a:p>
          <a:p>
            <a:pPr eaLnBrk="1" hangingPunct="1"/>
            <a:endParaRPr lang="en-US" altLang="zh-CN" dirty="0"/>
          </a:p>
          <a:p>
            <a:pPr eaLnBrk="1" hangingPunct="1"/>
            <a:endParaRPr lang="en-US" altLang="zh-CN" dirty="0"/>
          </a:p>
          <a:p>
            <a:pPr eaLnBrk="1" hangingPunct="1"/>
            <a:endParaRPr lang="zh-CN" altLang="en-US" dirty="0"/>
          </a:p>
          <a:p>
            <a:pPr eaLnBrk="1" hangingPunct="1"/>
            <a:endParaRPr lang="en-US" altLang="zh-CN" b="1"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DNA </a:t>
            </a:r>
            <a:r>
              <a:rPr lang="zh-CN" altLang="en-US" dirty="0"/>
              <a:t>的基本组成单位是脱氧核糖核苷酸（</a:t>
            </a:r>
            <a:r>
              <a:rPr lang="en-US" altLang="zh-CN" dirty="0"/>
              <a:t>deoxyribonucleotide</a:t>
            </a:r>
            <a:r>
              <a:rPr lang="zh-CN" altLang="en-US" dirty="0"/>
              <a:t>），而</a:t>
            </a:r>
            <a:r>
              <a:rPr lang="en-US" altLang="zh-CN" dirty="0"/>
              <a:t>RNA </a:t>
            </a:r>
            <a:r>
              <a:rPr lang="zh-CN" altLang="en-US" dirty="0"/>
              <a:t>的基本组成单位是核糖核苷酸（</a:t>
            </a:r>
            <a:r>
              <a:rPr lang="en-US" altLang="zh-CN" dirty="0"/>
              <a:t>ribonucleotide</a:t>
            </a:r>
            <a:r>
              <a:rPr lang="zh-CN" altLang="en-US" dirty="0"/>
              <a:t>）。</a:t>
            </a:r>
          </a:p>
        </p:txBody>
      </p:sp>
      <p:sp>
        <p:nvSpPr>
          <p:cNvPr id="4" name="灯片编号占位符 3"/>
          <p:cNvSpPr>
            <a:spLocks noGrp="1"/>
          </p:cNvSpPr>
          <p:nvPr>
            <p:ph type="sldNum" sz="quarter" idx="5"/>
          </p:nvPr>
        </p:nvSpPr>
        <p:spPr/>
        <p:txBody>
          <a:bodyPr/>
          <a:lstStyle/>
          <a:p>
            <a:pPr>
              <a:defRPr/>
            </a:pPr>
            <a:fld id="{2A48E35A-2A6D-4F07-ADC0-EF8313D11530}" type="slidenum">
              <a:rPr lang="en-US" altLang="zh-CN" smtClean="0"/>
              <a:pPr>
                <a:defRPr/>
              </a:pPr>
              <a:t>8</a:t>
            </a:fld>
            <a:endParaRPr lang="en-US" altLang="zh-CN"/>
          </a:p>
        </p:txBody>
      </p:sp>
    </p:spTree>
    <p:extLst>
      <p:ext uri="{BB962C8B-B14F-4D97-AF65-F5344CB8AC3E}">
        <p14:creationId xmlns:p14="http://schemas.microsoft.com/office/powerpoint/2010/main" val="917394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a:extLst>
              <a:ext uri="{FF2B5EF4-FFF2-40B4-BE49-F238E27FC236}">
                <a16:creationId xmlns:a16="http://schemas.microsoft.com/office/drawing/2014/main" id="{B94D3660-B3C8-47FE-8658-8AF47522DC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8EEF773-CD09-40A2-B00A-1A48D5A9561E}" type="slidenum">
              <a:rPr lang="en-US" altLang="zh-CN" smtClean="0"/>
              <a:pPr>
                <a:spcBef>
                  <a:spcPct val="0"/>
                </a:spcBef>
              </a:pPr>
              <a:t>9</a:t>
            </a:fld>
            <a:endParaRPr lang="en-US" altLang="zh-CN"/>
          </a:p>
        </p:txBody>
      </p:sp>
      <p:sp>
        <p:nvSpPr>
          <p:cNvPr id="44035" name="Rectangle 2">
            <a:extLst>
              <a:ext uri="{FF2B5EF4-FFF2-40B4-BE49-F238E27FC236}">
                <a16:creationId xmlns:a16="http://schemas.microsoft.com/office/drawing/2014/main" id="{81B2DCDB-867A-4901-ADD6-D66C32533CAF}"/>
              </a:ext>
            </a:extLst>
          </p:cNvPr>
          <p:cNvSpPr>
            <a:spLocks noGrp="1" noRot="1" noChangeAspect="1" noChangeArrowheads="1" noTextEdit="1"/>
          </p:cNvSpPr>
          <p:nvPr>
            <p:ph type="sldImg"/>
          </p:nvPr>
        </p:nvSpPr>
        <p:spPr>
          <a:xfrm>
            <a:off x="381000" y="685800"/>
            <a:ext cx="6096000" cy="3429000"/>
          </a:xfrm>
          <a:ln/>
        </p:spPr>
      </p:sp>
      <p:sp>
        <p:nvSpPr>
          <p:cNvPr id="44036" name="Rectangle 3">
            <a:extLst>
              <a:ext uri="{FF2B5EF4-FFF2-40B4-BE49-F238E27FC236}">
                <a16:creationId xmlns:a16="http://schemas.microsoft.com/office/drawing/2014/main" id="{6139DF2F-2C78-4C69-AABA-D440A54F9D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不要求记结构式。不过，记住结构有助于理解碱基间的互变， 比如</a:t>
            </a:r>
            <a:r>
              <a:rPr lang="en-US" altLang="zh-CN" dirty="0"/>
              <a:t>C</a:t>
            </a:r>
            <a:r>
              <a:rPr lang="zh-CN" altLang="en-US" dirty="0"/>
              <a:t>脱氨变</a:t>
            </a:r>
            <a:r>
              <a:rPr lang="en-US" altLang="zh-CN" dirty="0"/>
              <a:t>U,   </a:t>
            </a:r>
            <a:r>
              <a:rPr lang="zh-CN" altLang="en-US" dirty="0"/>
              <a:t>比如</a:t>
            </a:r>
            <a:r>
              <a:rPr lang="en-US" altLang="zh-CN" dirty="0"/>
              <a:t>U</a:t>
            </a:r>
            <a:r>
              <a:rPr lang="zh-CN" altLang="en-US" dirty="0"/>
              <a:t>甲基化变</a:t>
            </a:r>
            <a:r>
              <a:rPr lang="en-US" altLang="zh-CN" dirty="0"/>
              <a:t>T</a:t>
            </a:r>
            <a:r>
              <a:rPr lang="zh-CN" altLang="en-US" dirty="0"/>
              <a:t>，再比如</a:t>
            </a:r>
            <a:r>
              <a:rPr lang="en-US" altLang="zh-CN" dirty="0"/>
              <a:t>A</a:t>
            </a:r>
            <a:r>
              <a:rPr lang="zh-CN" altLang="en-US" dirty="0"/>
              <a:t>脱氨变稀有碱基</a:t>
            </a:r>
            <a:r>
              <a:rPr lang="en-US" altLang="zh-CN" dirty="0"/>
              <a:t>I</a:t>
            </a:r>
            <a:r>
              <a:rPr lang="zh-CN" altLang="en-US" dirty="0"/>
              <a:t>（次黄嘌呤）， 这些与点突变有关。  </a:t>
            </a:r>
            <a:endParaRPr lang="en-US" altLang="zh-CN" dirty="0"/>
          </a:p>
          <a:p>
            <a:pPr eaLnBrk="1" hangingPunct="1"/>
            <a:endParaRPr lang="en-US" altLang="zh-CN" dirty="0"/>
          </a:p>
          <a:p>
            <a:pPr eaLnBrk="1" hangingPunct="1"/>
            <a:r>
              <a:rPr lang="en-US" altLang="zh-CN" dirty="0"/>
              <a:t>Electron delocalization among atoms in the ring gives most of the bonds partial double-bond character. One result is </a:t>
            </a:r>
            <a:r>
              <a:rPr lang="en-US" altLang="zh-CN" b="1" dirty="0"/>
              <a:t>that pyrimidines are planar molecules and purines are very nearly planar, with a slight pucker.</a:t>
            </a:r>
          </a:p>
          <a:p>
            <a:pPr eaLnBrk="1" hangingPunct="1"/>
            <a:endParaRPr lang="en-US" altLang="zh-CN" dirty="0"/>
          </a:p>
          <a:p>
            <a:pPr eaLnBrk="1" hangingPunct="1"/>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31">
            <a:extLst>
              <a:ext uri="{FF2B5EF4-FFF2-40B4-BE49-F238E27FC236}">
                <a16:creationId xmlns:a16="http://schemas.microsoft.com/office/drawing/2014/main" id="{B03AEC66-C5E9-4AF1-981B-1A352E8746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BDBF292-DC8C-4CEE-B9E9-A8E55F65CC36}" type="slidenum">
              <a:rPr lang="en-US" altLang="zh-CN" smtClean="0"/>
              <a:pPr>
                <a:spcBef>
                  <a:spcPct val="0"/>
                </a:spcBef>
              </a:pPr>
              <a:t>10</a:t>
            </a:fld>
            <a:endParaRPr lang="en-US" altLang="zh-CN"/>
          </a:p>
        </p:txBody>
      </p:sp>
      <p:sp>
        <p:nvSpPr>
          <p:cNvPr id="46083" name="Rectangle 2">
            <a:extLst>
              <a:ext uri="{FF2B5EF4-FFF2-40B4-BE49-F238E27FC236}">
                <a16:creationId xmlns:a16="http://schemas.microsoft.com/office/drawing/2014/main" id="{1D40A9F7-4CEE-4C75-BA7C-C2DF47D21822}"/>
              </a:ext>
            </a:extLst>
          </p:cNvPr>
          <p:cNvSpPr>
            <a:spLocks noGrp="1" noRot="1" noChangeAspect="1" noChangeArrowheads="1" noTextEdit="1"/>
          </p:cNvSpPr>
          <p:nvPr>
            <p:ph type="sldImg"/>
          </p:nvPr>
        </p:nvSpPr>
        <p:spPr>
          <a:xfrm>
            <a:off x="381000" y="685800"/>
            <a:ext cx="6096000" cy="3429000"/>
          </a:xfrm>
          <a:ln/>
        </p:spPr>
      </p:sp>
      <p:sp>
        <p:nvSpPr>
          <p:cNvPr id="46084" name="Rectangle 3">
            <a:extLst>
              <a:ext uri="{FF2B5EF4-FFF2-40B4-BE49-F238E27FC236}">
                <a16:creationId xmlns:a16="http://schemas.microsoft.com/office/drawing/2014/main" id="{F3A653D3-C968-44DE-894A-857812F05D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表示碱基和糖环上各原子次序时，</a:t>
            </a:r>
            <a:r>
              <a:rPr lang="zh-CN" altLang="en-US" b="1" dirty="0">
                <a:latin typeface="宋体" panose="02010600030101010101" pitchFamily="2" charset="-122"/>
              </a:rPr>
              <a:t>在碱基杂环上标以顺序</a:t>
            </a:r>
            <a:r>
              <a:rPr lang="en-US" altLang="zh-CN" b="1" dirty="0"/>
              <a:t>1</a:t>
            </a:r>
            <a:r>
              <a:rPr lang="zh-CN" altLang="en-US" b="1" dirty="0">
                <a:latin typeface="宋体" panose="02010600030101010101" pitchFamily="2" charset="-122"/>
              </a:rPr>
              <a:t>，</a:t>
            </a:r>
            <a:r>
              <a:rPr lang="en-US" altLang="zh-CN" b="1" dirty="0"/>
              <a:t>2</a:t>
            </a:r>
            <a:r>
              <a:rPr lang="zh-CN" altLang="en-US" b="1" dirty="0">
                <a:latin typeface="宋体" panose="02010600030101010101" pitchFamily="2" charset="-122"/>
              </a:rPr>
              <a:t>，</a:t>
            </a:r>
            <a:r>
              <a:rPr lang="en-US" altLang="zh-CN" b="1" dirty="0"/>
              <a:t>3</a:t>
            </a:r>
            <a:r>
              <a:rPr lang="en-US" altLang="zh-CN" b="1" dirty="0">
                <a:latin typeface="Arial" panose="020B0604020202020204" pitchFamily="34" charset="0"/>
              </a:rPr>
              <a:t>…</a:t>
            </a:r>
            <a:r>
              <a:rPr lang="zh-CN" altLang="en-US" b="1" dirty="0">
                <a:latin typeface="宋体" panose="02010600030101010101" pitchFamily="2" charset="-122"/>
              </a:rPr>
              <a:t>；在糖环上标以</a:t>
            </a:r>
            <a:r>
              <a:rPr lang="en-US" altLang="zh-CN" b="1" dirty="0"/>
              <a:t>l′</a:t>
            </a:r>
            <a:r>
              <a:rPr lang="zh-CN" altLang="en-US" b="1" dirty="0">
                <a:latin typeface="宋体" panose="02010600030101010101" pitchFamily="2" charset="-122"/>
              </a:rPr>
              <a:t>，</a:t>
            </a:r>
            <a:r>
              <a:rPr lang="en-US" altLang="zh-CN" b="1" dirty="0"/>
              <a:t>2′</a:t>
            </a:r>
            <a:r>
              <a:rPr lang="zh-CN" altLang="en-US" b="1" dirty="0">
                <a:latin typeface="宋体" panose="02010600030101010101" pitchFamily="2" charset="-122"/>
              </a:rPr>
              <a:t>，</a:t>
            </a:r>
            <a:r>
              <a:rPr lang="en-US" altLang="zh-CN" b="1" dirty="0"/>
              <a:t>3′</a:t>
            </a:r>
            <a:r>
              <a:rPr lang="en-US" altLang="zh-CN" b="1" dirty="0">
                <a:latin typeface="Arial" panose="020B0604020202020204" pitchFamily="34" charset="0"/>
              </a:rPr>
              <a:t>…</a:t>
            </a:r>
            <a:r>
              <a:rPr lang="en-US" altLang="zh-CN" b="1" dirty="0"/>
              <a:t> </a:t>
            </a:r>
            <a:r>
              <a:rPr lang="zh-CN" altLang="en-US" b="1" dirty="0">
                <a:latin typeface="宋体" panose="02010600030101010101" pitchFamily="2" charset="-122"/>
              </a:rPr>
              <a:t>以作区别。</a:t>
            </a:r>
            <a:r>
              <a:rPr lang="zh-CN" altLang="en-US" b="1" dirty="0"/>
              <a:t> </a:t>
            </a:r>
          </a:p>
          <a:p>
            <a:pPr eaLnBrk="1" hangingPunct="1"/>
            <a:endParaRPr lang="en-US" altLang="zh-CN" dirty="0"/>
          </a:p>
          <a:p>
            <a:pPr eaLnBrk="1" hangingPunct="1"/>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核酸的甲基化很常见</a:t>
            </a:r>
            <a:r>
              <a:rPr lang="en-US" altLang="zh-CN" dirty="0"/>
              <a:t>, DNA</a:t>
            </a:r>
            <a:r>
              <a:rPr lang="zh-CN" altLang="en-US" dirty="0"/>
              <a:t>中主要是甲基化，而</a:t>
            </a:r>
            <a:r>
              <a:rPr lang="en-US" altLang="zh-CN" dirty="0"/>
              <a:t>RNA</a:t>
            </a:r>
            <a:r>
              <a:rPr lang="zh-CN" altLang="en-US" dirty="0"/>
              <a:t>中还有很多其它类型修饰。 </a:t>
            </a:r>
            <a:endParaRPr lang="en-US" altLang="zh-CN" dirty="0"/>
          </a:p>
          <a:p>
            <a:endParaRPr lang="en-US" altLang="zh-CN" dirty="0"/>
          </a:p>
          <a:p>
            <a:r>
              <a:rPr lang="zh-CN" altLang="en-US" dirty="0"/>
              <a:t>腺嘌呤脱氨就变为次黄嘌呤（</a:t>
            </a:r>
            <a:r>
              <a:rPr lang="en-US" altLang="zh-CN" dirty="0"/>
              <a:t>hypoxanthine</a:t>
            </a:r>
            <a:r>
              <a:rPr lang="zh-CN" altLang="en-US" dirty="0"/>
              <a:t>）        </a:t>
            </a:r>
            <a:r>
              <a:rPr lang="en-US" altLang="zh-CN" dirty="0"/>
              <a:t>inosine</a:t>
            </a:r>
            <a:r>
              <a:rPr lang="zh-CN" altLang="en-US" dirty="0"/>
              <a:t>： 次黄嘌呤核苷  </a:t>
            </a:r>
            <a:r>
              <a:rPr lang="en-US" altLang="zh-CN" dirty="0"/>
              <a:t>, tRNA</a:t>
            </a:r>
            <a:r>
              <a:rPr lang="zh-CN" altLang="en-US" dirty="0"/>
              <a:t>上的反密码子里不少见</a:t>
            </a:r>
          </a:p>
          <a:p>
            <a:endParaRPr lang="zh-CN" altLang="en-US" dirty="0"/>
          </a:p>
          <a:p>
            <a:r>
              <a:rPr lang="en-US" altLang="zh-CN" dirty="0"/>
              <a:t>This is just a small sampling of the 96 modified nucleosides known to occur in different RNA species, with 81 different types known in tRNAs and 30 observed to date in rRNAs. A complete listing of these modified bases can be found in the </a:t>
            </a:r>
            <a:r>
              <a:rPr lang="en-US" altLang="zh-CN" dirty="0" err="1"/>
              <a:t>Modomics</a:t>
            </a:r>
            <a:r>
              <a:rPr lang="en-US" altLang="zh-CN" dirty="0"/>
              <a:t> database of RNA modification pathways(http://modomics.genesilico.pl).</a:t>
            </a:r>
          </a:p>
          <a:p>
            <a:endParaRPr lang="zh-CN" altLang="en-US" dirty="0"/>
          </a:p>
        </p:txBody>
      </p:sp>
      <p:sp>
        <p:nvSpPr>
          <p:cNvPr id="4" name="灯片编号占位符 3"/>
          <p:cNvSpPr>
            <a:spLocks noGrp="1"/>
          </p:cNvSpPr>
          <p:nvPr>
            <p:ph type="sldNum" sz="quarter" idx="5"/>
          </p:nvPr>
        </p:nvSpPr>
        <p:spPr/>
        <p:txBody>
          <a:bodyPr/>
          <a:lstStyle/>
          <a:p>
            <a:pPr>
              <a:defRPr/>
            </a:pPr>
            <a:fld id="{2A48E35A-2A6D-4F07-ADC0-EF8313D11530}" type="slidenum">
              <a:rPr lang="en-US" altLang="zh-CN" smtClean="0"/>
              <a:pPr>
                <a:defRPr/>
              </a:pPr>
              <a:t>11</a:t>
            </a:fld>
            <a:endParaRPr lang="en-US" altLang="zh-CN"/>
          </a:p>
        </p:txBody>
      </p:sp>
    </p:spTree>
    <p:extLst>
      <p:ext uri="{BB962C8B-B14F-4D97-AF65-F5344CB8AC3E}">
        <p14:creationId xmlns:p14="http://schemas.microsoft.com/office/powerpoint/2010/main" val="4003437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a:extLst>
              <a:ext uri="{FF2B5EF4-FFF2-40B4-BE49-F238E27FC236}">
                <a16:creationId xmlns:a16="http://schemas.microsoft.com/office/drawing/2014/main" id="{A22F8539-461C-67FE-3359-78E0A57B5B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7B163A8-F60E-434E-B150-F8BE5A126993}" type="slidenum">
              <a:rPr lang="en-US" altLang="zh-CN" smtClean="0"/>
              <a:pPr>
                <a:spcBef>
                  <a:spcPct val="0"/>
                </a:spcBef>
              </a:pPr>
              <a:t>12</a:t>
            </a:fld>
            <a:endParaRPr lang="en-US" altLang="zh-CN"/>
          </a:p>
        </p:txBody>
      </p:sp>
      <p:sp>
        <p:nvSpPr>
          <p:cNvPr id="41987" name="Rectangle 2">
            <a:extLst>
              <a:ext uri="{FF2B5EF4-FFF2-40B4-BE49-F238E27FC236}">
                <a16:creationId xmlns:a16="http://schemas.microsoft.com/office/drawing/2014/main" id="{24B36C29-22E6-43C7-0E81-8D05F4A6C705}"/>
              </a:ext>
            </a:extLst>
          </p:cNvPr>
          <p:cNvSpPr>
            <a:spLocks noGrp="1" noRot="1" noChangeAspect="1" noChangeArrowheads="1" noTextEdit="1"/>
          </p:cNvSpPr>
          <p:nvPr>
            <p:ph type="sldImg"/>
          </p:nvPr>
        </p:nvSpPr>
        <p:spPr>
          <a:xfrm>
            <a:off x="381000" y="685800"/>
            <a:ext cx="6096000" cy="3429000"/>
          </a:xfrm>
          <a:ln/>
        </p:spPr>
      </p:sp>
      <p:sp>
        <p:nvSpPr>
          <p:cNvPr id="41988" name="Rectangle 3">
            <a:extLst>
              <a:ext uri="{FF2B5EF4-FFF2-40B4-BE49-F238E27FC236}">
                <a16:creationId xmlns:a16="http://schemas.microsoft.com/office/drawing/2014/main" id="{671B10A1-ABD5-407F-894A-9D12DE3120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五种碱基中的酮基和氨基，均位于碱基环中氮原子的邻位，可以发生酮式一烯醇式或氨基、亚氨基之间的结构互变。这种互变异构在基因的突变和生物的进化中具有重要作用。</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31">
            <a:extLst>
              <a:ext uri="{FF2B5EF4-FFF2-40B4-BE49-F238E27FC236}">
                <a16:creationId xmlns:a16="http://schemas.microsoft.com/office/drawing/2014/main" id="{C1D7529A-F54F-4867-952E-C99EB78272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B1286A4-00DF-4080-8E0A-499D7B463428}" type="slidenum">
              <a:rPr lang="en-US" altLang="zh-CN" smtClean="0"/>
              <a:pPr>
                <a:spcBef>
                  <a:spcPct val="0"/>
                </a:spcBef>
              </a:pPr>
              <a:t>13</a:t>
            </a:fld>
            <a:endParaRPr lang="en-US" altLang="zh-CN"/>
          </a:p>
        </p:txBody>
      </p:sp>
      <p:sp>
        <p:nvSpPr>
          <p:cNvPr id="58371" name="Rectangle 2">
            <a:extLst>
              <a:ext uri="{FF2B5EF4-FFF2-40B4-BE49-F238E27FC236}">
                <a16:creationId xmlns:a16="http://schemas.microsoft.com/office/drawing/2014/main" id="{4C205CB8-392D-4A78-AF00-DDE20C4A6A12}"/>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8372" name="Rectangle 3">
            <a:extLst>
              <a:ext uri="{FF2B5EF4-FFF2-40B4-BE49-F238E27FC236}">
                <a16:creationId xmlns:a16="http://schemas.microsoft.com/office/drawing/2014/main" id="{22854CCC-0C2D-4C34-AC21-0924F963ED66}"/>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kumimoji="1" lang="zh-CN" altLang="en-US" sz="2400" dirty="0">
                <a:latin typeface="华文楷体" panose="02010600040101010101" pitchFamily="2" charset="-122"/>
                <a:ea typeface="华文楷体" panose="02010600040101010101" pitchFamily="2" charset="-122"/>
              </a:rPr>
              <a:t>均为呋喃型环状结构。</a:t>
            </a:r>
            <a:endParaRPr kumimoji="1" lang="en-US" altLang="zh-CN" sz="2400" dirty="0">
              <a:latin typeface="华文楷体" panose="02010600040101010101" pitchFamily="2" charset="-122"/>
              <a:ea typeface="华文楷体" panose="02010600040101010101" pitchFamily="2" charset="-122"/>
            </a:endParaRPr>
          </a:p>
          <a:p>
            <a:pPr eaLnBrk="1" hangingPunct="1"/>
            <a:endParaRPr kumimoji="1" lang="zh-CN" altLang="en-US" sz="2400" dirty="0">
              <a:latin typeface="华文楷体" panose="02010600040101010101" pitchFamily="2" charset="-122"/>
              <a:ea typeface="华文楷体" panose="02010600040101010101" pitchFamily="2" charset="-122"/>
            </a:endParaRPr>
          </a:p>
          <a:p>
            <a:pPr eaLnBrk="1" hangingPunct="1"/>
            <a:r>
              <a:rPr lang="zh-CN" altLang="en-US" dirty="0">
                <a:latin typeface="宋体" panose="02010600030101010101" pitchFamily="2" charset="-122"/>
              </a:rPr>
              <a:t>构成</a:t>
            </a:r>
            <a:r>
              <a:rPr lang="en-US" altLang="zh-CN" dirty="0"/>
              <a:t>DNA</a:t>
            </a:r>
            <a:r>
              <a:rPr lang="zh-CN" altLang="en-US" dirty="0">
                <a:latin typeface="宋体" panose="02010600030101010101" pitchFamily="2" charset="-122"/>
              </a:rPr>
              <a:t>的核苷酸的戊糖是</a:t>
            </a:r>
            <a:r>
              <a:rPr lang="en-US" altLang="zh-CN" dirty="0"/>
              <a:t>β-D</a:t>
            </a:r>
            <a:r>
              <a:rPr lang="zh-CN" altLang="en-US" dirty="0">
                <a:latin typeface="宋体" panose="02010600030101010101" pitchFamily="2" charset="-122"/>
              </a:rPr>
              <a:t>－</a:t>
            </a:r>
            <a:r>
              <a:rPr lang="en-US" altLang="zh-CN" dirty="0"/>
              <a:t>2-</a:t>
            </a:r>
            <a:r>
              <a:rPr lang="zh-CN" altLang="en-US" dirty="0">
                <a:latin typeface="宋体" panose="02010600030101010101" pitchFamily="2" charset="-122"/>
              </a:rPr>
              <a:t>脱氧核糖，而构成</a:t>
            </a:r>
            <a:r>
              <a:rPr lang="en-US" altLang="zh-CN" dirty="0"/>
              <a:t>RNA</a:t>
            </a:r>
            <a:r>
              <a:rPr lang="zh-CN" altLang="en-US" dirty="0">
                <a:latin typeface="宋体" panose="02010600030101010101" pitchFamily="2" charset="-122"/>
              </a:rPr>
              <a:t>的核苷酸的戊糖为</a:t>
            </a:r>
            <a:r>
              <a:rPr lang="en-US" altLang="zh-CN" dirty="0"/>
              <a:t>β-D</a:t>
            </a:r>
            <a:r>
              <a:rPr lang="en-US" altLang="zh-CN" dirty="0">
                <a:latin typeface="Arial" panose="020B0604020202020204" pitchFamily="34" charset="0"/>
              </a:rPr>
              <a:t>—</a:t>
            </a:r>
            <a:r>
              <a:rPr lang="zh-CN" altLang="en-US" dirty="0">
                <a:latin typeface="宋体" panose="02010600030101010101" pitchFamily="2" charset="-122"/>
              </a:rPr>
              <a:t>核糖。</a:t>
            </a:r>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6652C2D7-8948-D5C5-E83D-8686B844C9C6}"/>
              </a:ext>
            </a:extLst>
          </p:cNvPr>
          <p:cNvSpPr>
            <a:spLocks noGrp="1" noRot="1" noChangeAspect="1" noChangeArrowheads="1" noTextEdit="1"/>
          </p:cNvSpPr>
          <p:nvPr>
            <p:ph type="sldImg"/>
          </p:nvPr>
        </p:nvSpPr>
        <p:spPr>
          <a:xfrm>
            <a:off x="381000" y="685800"/>
            <a:ext cx="6096000" cy="3429000"/>
          </a:xfrm>
          <a:ln/>
        </p:spPr>
      </p:sp>
      <p:sp>
        <p:nvSpPr>
          <p:cNvPr id="39939" name="备注占位符 2">
            <a:extLst>
              <a:ext uri="{FF2B5EF4-FFF2-40B4-BE49-F238E27FC236}">
                <a16:creationId xmlns:a16="http://schemas.microsoft.com/office/drawing/2014/main" id="{A6B1CC42-C37A-DBCD-DF3C-C83D8D2975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solidFill>
                  <a:srgbClr val="00CCFF"/>
                </a:solidFill>
              </a:rPr>
              <a:t>RNA</a:t>
            </a:r>
            <a:r>
              <a:rPr lang="zh-CN" altLang="en-US" dirty="0">
                <a:solidFill>
                  <a:srgbClr val="00CCFF"/>
                </a:solidFill>
              </a:rPr>
              <a:t>没</a:t>
            </a:r>
            <a:r>
              <a:rPr lang="en-US" altLang="zh-CN" dirty="0">
                <a:solidFill>
                  <a:srgbClr val="00CCFF"/>
                </a:solidFill>
              </a:rPr>
              <a:t>DNA</a:t>
            </a:r>
            <a:r>
              <a:rPr lang="zh-CN" altLang="en-US" dirty="0">
                <a:solidFill>
                  <a:srgbClr val="00CCFF"/>
                </a:solidFill>
              </a:rPr>
              <a:t>稳定，容易降解，除了单链之故，更重要是有</a:t>
            </a:r>
            <a:r>
              <a:rPr lang="en-US" altLang="zh-CN" dirty="0">
                <a:solidFill>
                  <a:srgbClr val="00CCFF"/>
                </a:solidFill>
              </a:rPr>
              <a:t>2’-OH</a:t>
            </a:r>
            <a:r>
              <a:rPr lang="zh-CN" altLang="en-US" dirty="0">
                <a:solidFill>
                  <a:schemeClr val="tx1">
                    <a:lumMod val="60000"/>
                    <a:lumOff val="40000"/>
                  </a:schemeClr>
                </a:solidFill>
                <a:latin typeface="Times New Roman" panose="02020603050405020304" pitchFamily="18" charset="0"/>
                <a:ea typeface="宋体" panose="02010600030101010101" pitchFamily="2" charset="-122"/>
              </a:rPr>
              <a:t>（有亲核攻击性）</a:t>
            </a:r>
          </a:p>
          <a:p>
            <a:pPr>
              <a:defRPr/>
            </a:pPr>
            <a:endParaRPr lang="en-US" altLang="zh-CN" i="1" dirty="0">
              <a:solidFill>
                <a:srgbClr val="00CCFF"/>
              </a:solidFill>
            </a:endParaRPr>
          </a:p>
          <a:p>
            <a:pPr>
              <a:defRPr/>
            </a:pPr>
            <a:r>
              <a:rPr lang="en-US" altLang="zh-CN" i="1" dirty="0">
                <a:solidFill>
                  <a:srgbClr val="00CCFF"/>
                </a:solidFill>
              </a:rPr>
              <a:t>Why is DNA 2'-deoxy and RNA is not?</a:t>
            </a:r>
            <a:r>
              <a:rPr lang="en-US" altLang="zh-CN" dirty="0">
                <a:solidFill>
                  <a:srgbClr val="FFFFFF"/>
                </a:solidFill>
              </a:rPr>
              <a:t> </a:t>
            </a:r>
          </a:p>
          <a:p>
            <a:pPr marL="171450" indent="-171450">
              <a:buFont typeface="Arial" panose="020B0604020202020204" pitchFamily="34" charset="0"/>
              <a:buChar char="•"/>
              <a:defRPr/>
            </a:pPr>
            <a:r>
              <a:rPr lang="en-US" altLang="zh-CN" dirty="0">
                <a:solidFill>
                  <a:srgbClr val="FFFFFF"/>
                </a:solidFill>
              </a:rPr>
              <a:t>Vicinal -OH groups (2' and 3') in RNA make it more susceptible to hydrolysis </a:t>
            </a:r>
          </a:p>
          <a:p>
            <a:pPr marL="171450" indent="-171450">
              <a:buFont typeface="Arial" panose="020B0604020202020204" pitchFamily="34" charset="0"/>
              <a:buChar char="•"/>
              <a:defRPr/>
            </a:pPr>
            <a:r>
              <a:rPr lang="en-US" altLang="zh-CN" dirty="0">
                <a:solidFill>
                  <a:srgbClr val="FFFFFF"/>
                </a:solidFill>
              </a:rPr>
              <a:t>DNA, lacking 2'-OH is more stable </a:t>
            </a:r>
          </a:p>
          <a:p>
            <a:pPr marL="171450" indent="-171450">
              <a:buFont typeface="Arial" panose="020B0604020202020204" pitchFamily="34" charset="0"/>
              <a:buChar char="•"/>
              <a:defRPr/>
            </a:pPr>
            <a:r>
              <a:rPr lang="en-US" altLang="zh-CN" dirty="0">
                <a:solidFill>
                  <a:srgbClr val="FFFFFF"/>
                </a:solidFill>
              </a:rPr>
              <a:t>This makes sense - </a:t>
            </a:r>
            <a:r>
              <a:rPr lang="en-US" altLang="zh-CN" dirty="0">
                <a:solidFill>
                  <a:srgbClr val="FF3399"/>
                </a:solidFill>
              </a:rPr>
              <a:t>the genetic material must be more stable</a:t>
            </a:r>
            <a:r>
              <a:rPr lang="en-US" altLang="zh-CN" dirty="0">
                <a:solidFill>
                  <a:srgbClr val="FFFFFF"/>
                </a:solidFill>
              </a:rPr>
              <a:t> </a:t>
            </a:r>
          </a:p>
          <a:p>
            <a:pPr marL="171450" indent="-171450">
              <a:buFont typeface="Arial" panose="020B0604020202020204" pitchFamily="34" charset="0"/>
              <a:buChar char="•"/>
              <a:defRPr/>
            </a:pPr>
            <a:r>
              <a:rPr lang="en-US" altLang="zh-CN" dirty="0">
                <a:solidFill>
                  <a:srgbClr val="FFFFFF"/>
                </a:solidFill>
              </a:rPr>
              <a:t>RNA is designed to be used and then broken down </a:t>
            </a:r>
          </a:p>
          <a:p>
            <a:endParaRPr lang="zh-CN" altLang="en-US" dirty="0"/>
          </a:p>
        </p:txBody>
      </p:sp>
      <p:sp>
        <p:nvSpPr>
          <p:cNvPr id="39940" name="灯片编号占位符 3">
            <a:extLst>
              <a:ext uri="{FF2B5EF4-FFF2-40B4-BE49-F238E27FC236}">
                <a16:creationId xmlns:a16="http://schemas.microsoft.com/office/drawing/2014/main" id="{11B57715-1599-EC28-68DC-082F923BD6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1AFECFA-90E7-4581-8DE3-DA3858036074}" type="slidenum">
              <a:rPr lang="en-US" altLang="zh-CN" sz="1200" smtClean="0"/>
              <a:pPr/>
              <a:t>14</a:t>
            </a:fld>
            <a:endParaRPr lang="en-US" altLang="zh-CN"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025FB575-3413-4FF9-9865-7B968E99B81C}"/>
              </a:ext>
            </a:extLst>
          </p:cNvPr>
          <p:cNvSpPr>
            <a:spLocks noGrp="1" noRot="1" noChangeAspect="1" noChangeArrowheads="1" noTextEdit="1"/>
          </p:cNvSpPr>
          <p:nvPr>
            <p:ph type="sldImg"/>
          </p:nvPr>
        </p:nvSpPr>
        <p:spPr>
          <a:xfrm>
            <a:off x="381000" y="685800"/>
            <a:ext cx="6096000" cy="3429000"/>
          </a:xfrm>
          <a:ln/>
        </p:spPr>
      </p:sp>
      <p:sp>
        <p:nvSpPr>
          <p:cNvPr id="62467" name="备注占位符 2">
            <a:extLst>
              <a:ext uri="{FF2B5EF4-FFF2-40B4-BE49-F238E27FC236}">
                <a16:creationId xmlns:a16="http://schemas.microsoft.com/office/drawing/2014/main" id="{24C004E3-C886-4740-80AC-4AC06C0685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cDNA</a:t>
            </a:r>
            <a:r>
              <a:rPr lang="zh-CN" altLang="en-US" dirty="0"/>
              <a:t>是基因工程技术中最常用的靶基因</a:t>
            </a:r>
          </a:p>
        </p:txBody>
      </p:sp>
      <p:sp>
        <p:nvSpPr>
          <p:cNvPr id="62468" name="灯片编号占位符 3">
            <a:extLst>
              <a:ext uri="{FF2B5EF4-FFF2-40B4-BE49-F238E27FC236}">
                <a16:creationId xmlns:a16="http://schemas.microsoft.com/office/drawing/2014/main" id="{4C8C1E34-E332-4603-A245-2080D1FDA4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0AD23FE-62D4-40EB-AFB7-CA0AE4D312CD}" type="slidenum">
              <a:rPr lang="en-US" altLang="zh-CN" sz="1200" smtClean="0"/>
              <a:pPr/>
              <a:t>15</a:t>
            </a:fld>
            <a:endParaRPr lang="en-US" altLang="zh-CN"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a:extLst>
              <a:ext uri="{FF2B5EF4-FFF2-40B4-BE49-F238E27FC236}">
                <a16:creationId xmlns:a16="http://schemas.microsoft.com/office/drawing/2014/main" id="{D30C687C-FF89-4DCD-BA9B-B5CFBD1BA561}"/>
              </a:ext>
            </a:extLst>
          </p:cNvPr>
          <p:cNvSpPr>
            <a:spLocks noGrp="1" noRot="1" noChangeAspect="1" noChangeArrowheads="1" noTextEdit="1"/>
          </p:cNvSpPr>
          <p:nvPr>
            <p:ph type="sldImg"/>
          </p:nvPr>
        </p:nvSpPr>
        <p:spPr>
          <a:xfrm>
            <a:off x="381000" y="685800"/>
            <a:ext cx="6096000" cy="3429000"/>
          </a:xfrm>
          <a:ln/>
        </p:spPr>
      </p:sp>
      <p:sp>
        <p:nvSpPr>
          <p:cNvPr id="64515" name="备注占位符 2">
            <a:extLst>
              <a:ext uri="{FF2B5EF4-FFF2-40B4-BE49-F238E27FC236}">
                <a16:creationId xmlns:a16="http://schemas.microsoft.com/office/drawing/2014/main" id="{A8F98993-BB10-4EF6-B7A4-A4E4A746FD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DNA</a:t>
            </a:r>
            <a:r>
              <a:rPr lang="zh-CN" altLang="en-US" dirty="0"/>
              <a:t>中含</a:t>
            </a:r>
            <a:r>
              <a:rPr lang="en-US" altLang="zh-CN" dirty="0"/>
              <a:t>T</a:t>
            </a:r>
            <a:r>
              <a:rPr lang="zh-CN" altLang="en-US" dirty="0"/>
              <a:t>而不含</a:t>
            </a:r>
            <a:r>
              <a:rPr lang="en-US" altLang="zh-CN" dirty="0"/>
              <a:t>U</a:t>
            </a:r>
            <a:r>
              <a:rPr lang="zh-CN" altLang="en-US" dirty="0"/>
              <a:t>，可保证遗传物质的稳定性，　原因是．．．．</a:t>
            </a:r>
          </a:p>
        </p:txBody>
      </p:sp>
      <p:sp>
        <p:nvSpPr>
          <p:cNvPr id="64516" name="灯片编号占位符 3">
            <a:extLst>
              <a:ext uri="{FF2B5EF4-FFF2-40B4-BE49-F238E27FC236}">
                <a16:creationId xmlns:a16="http://schemas.microsoft.com/office/drawing/2014/main" id="{EBC2215F-6B70-4FAB-AB15-A3BBA5B707C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73E21E0-EA22-4F60-A94B-BA56D4525A8A}" type="slidenum">
              <a:rPr lang="en-US" altLang="zh-CN" sz="1200" smtClean="0"/>
              <a:pPr/>
              <a:t>16</a:t>
            </a:fld>
            <a:endParaRPr lang="en-US" altLang="zh-CN"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a:extLst>
              <a:ext uri="{FF2B5EF4-FFF2-40B4-BE49-F238E27FC236}">
                <a16:creationId xmlns:a16="http://schemas.microsoft.com/office/drawing/2014/main" id="{C79712C8-5388-43B2-BA8C-F8233E26BA91}"/>
              </a:ext>
            </a:extLst>
          </p:cNvPr>
          <p:cNvSpPr>
            <a:spLocks noGrp="1" noRot="1" noChangeAspect="1" noChangeArrowheads="1" noTextEdit="1"/>
          </p:cNvSpPr>
          <p:nvPr>
            <p:ph type="sldImg"/>
          </p:nvPr>
        </p:nvSpPr>
        <p:spPr>
          <a:xfrm>
            <a:off x="381000" y="685800"/>
            <a:ext cx="6096000" cy="3429000"/>
          </a:xfrm>
          <a:ln/>
        </p:spPr>
      </p:sp>
      <p:sp>
        <p:nvSpPr>
          <p:cNvPr id="76803" name="备注占位符 2">
            <a:extLst>
              <a:ext uri="{FF2B5EF4-FFF2-40B4-BE49-F238E27FC236}">
                <a16:creationId xmlns:a16="http://schemas.microsoft.com/office/drawing/2014/main" id="{EABBA528-9700-4137-B460-3EC44B4DAF89}"/>
              </a:ext>
            </a:extLst>
          </p:cNvPr>
          <p:cNvSpPr>
            <a:spLocks noGrp="1" noChangeArrowheads="1"/>
          </p:cNvSpPr>
          <p:nvPr>
            <p:ph type="body" idx="1"/>
          </p:nvPr>
        </p:nvSpPr>
        <p:spPr>
          <a:ln/>
        </p:spPr>
        <p:txBody>
          <a:bodyPr/>
          <a:lstStyle/>
          <a:p>
            <a:pPr>
              <a:defRPr/>
            </a:pPr>
            <a:r>
              <a:rPr lang="zh-CN" altLang="en-US" dirty="0"/>
              <a:t>了解</a:t>
            </a:r>
            <a:endParaRPr lang="en-US" altLang="zh-CN" dirty="0"/>
          </a:p>
          <a:p>
            <a:pPr>
              <a:defRPr/>
            </a:pPr>
            <a:r>
              <a:rPr lang="en-US" altLang="zh-CN" dirty="0"/>
              <a:t>Why does DNA contain thymine? </a:t>
            </a:r>
          </a:p>
          <a:p>
            <a:pPr marL="171450" indent="-171450">
              <a:buFont typeface="Arial" panose="020B0604020202020204" pitchFamily="34" charset="0"/>
              <a:buChar char="•"/>
              <a:defRPr/>
            </a:pPr>
            <a:r>
              <a:rPr lang="en-US" altLang="zh-CN" dirty="0"/>
              <a:t>Cytosine spontaneously deaminates to form uracil </a:t>
            </a:r>
          </a:p>
          <a:p>
            <a:pPr marL="171450" indent="-171450">
              <a:buFont typeface="Arial" panose="020B0604020202020204" pitchFamily="34" charset="0"/>
              <a:buChar char="•"/>
              <a:defRPr/>
            </a:pPr>
            <a:r>
              <a:rPr lang="en-US" altLang="zh-CN" dirty="0"/>
              <a:t>Repair enzymes recognize these "mutations" and replace these Us with Cs </a:t>
            </a:r>
          </a:p>
          <a:p>
            <a:pPr marL="171450" indent="-171450">
              <a:buFont typeface="Arial" panose="020B0604020202020204" pitchFamily="34" charset="0"/>
              <a:buChar char="•"/>
              <a:defRPr/>
            </a:pPr>
            <a:r>
              <a:rPr lang="en-US" altLang="zh-CN" dirty="0"/>
              <a:t>But how would the repair enzymes distinguish natural U from mutant U? </a:t>
            </a:r>
          </a:p>
          <a:p>
            <a:pPr marL="171450" indent="-171450">
              <a:buFont typeface="Arial" panose="020B0604020202020204" pitchFamily="34" charset="0"/>
              <a:buChar char="•"/>
              <a:defRPr/>
            </a:pPr>
            <a:r>
              <a:rPr lang="en-US" altLang="zh-CN" dirty="0"/>
              <a:t>Nature solves this dilemma by using thymine (5-methyl-U) in place of uracil </a:t>
            </a:r>
          </a:p>
          <a:p>
            <a:pPr>
              <a:defRPr/>
            </a:pPr>
            <a:endParaRPr lang="zh-CN" altLang="en-US" dirty="0"/>
          </a:p>
        </p:txBody>
      </p:sp>
      <p:sp>
        <p:nvSpPr>
          <p:cNvPr id="66564" name="灯片编号占位符 3">
            <a:extLst>
              <a:ext uri="{FF2B5EF4-FFF2-40B4-BE49-F238E27FC236}">
                <a16:creationId xmlns:a16="http://schemas.microsoft.com/office/drawing/2014/main" id="{6E4D72B7-97A7-4D7B-837D-7E5C37C083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F54E32A-F320-4196-B48E-A70EC7E887C2}" type="slidenum">
              <a:rPr lang="en-US" altLang="zh-CN" sz="1200" smtClean="0"/>
              <a:pPr/>
              <a:t>17</a:t>
            </a:fld>
            <a:endParaRPr lang="en-US" altLang="zh-CN"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碱基和戊糖通过</a:t>
            </a:r>
            <a:r>
              <a:rPr lang="en-US" altLang="zh-CN" dirty="0"/>
              <a:t>N-</a:t>
            </a:r>
            <a:r>
              <a:rPr lang="zh-CN" altLang="en-US" dirty="0"/>
              <a:t>糖苷键连接形成核苷</a:t>
            </a:r>
            <a:r>
              <a:rPr lang="en-US" altLang="zh-CN" dirty="0"/>
              <a:t>/</a:t>
            </a:r>
            <a:r>
              <a:rPr lang="zh-CN" altLang="en-US" dirty="0"/>
              <a:t>脱氧核苷 </a:t>
            </a:r>
            <a:r>
              <a:rPr lang="en-US" altLang="zh-CN" dirty="0"/>
              <a:t>(ribonucleoside)</a:t>
            </a:r>
            <a:r>
              <a:rPr lang="zh-CN" altLang="en-US" dirty="0"/>
              <a:t>。</a:t>
            </a:r>
          </a:p>
          <a:p>
            <a:r>
              <a:rPr lang="en-US" altLang="zh-CN" dirty="0"/>
              <a:t>C1’</a:t>
            </a:r>
            <a:r>
              <a:rPr lang="zh-CN" altLang="en-US" dirty="0"/>
              <a:t>是手性碳原子，有</a:t>
            </a:r>
            <a:r>
              <a:rPr lang="el-GR" altLang="zh-CN" dirty="0"/>
              <a:t>α-</a:t>
            </a:r>
            <a:r>
              <a:rPr lang="zh-CN" altLang="en-US" dirty="0"/>
              <a:t>和</a:t>
            </a:r>
            <a:r>
              <a:rPr lang="el-GR" altLang="zh-CN" dirty="0"/>
              <a:t>β-</a:t>
            </a:r>
            <a:r>
              <a:rPr lang="zh-CN" altLang="en-US" dirty="0"/>
              <a:t>两种构型，不过核苷中的</a:t>
            </a:r>
            <a:r>
              <a:rPr lang="en-US" altLang="zh-CN" dirty="0"/>
              <a:t>C1‘ </a:t>
            </a:r>
            <a:r>
              <a:rPr lang="zh-CN" altLang="en-US" dirty="0"/>
              <a:t>都是</a:t>
            </a:r>
            <a:r>
              <a:rPr lang="el-GR" altLang="zh-CN" dirty="0"/>
              <a:t>β</a:t>
            </a:r>
            <a:r>
              <a:rPr lang="zh-CN" altLang="en-US" dirty="0"/>
              <a:t>构型（</a:t>
            </a:r>
            <a:r>
              <a:rPr lang="en-US" altLang="zh-CN" dirty="0"/>
              <a:t>In nucleotides, both types of pentoses are in their </a:t>
            </a:r>
            <a:r>
              <a:rPr lang="el-GR" altLang="zh-CN" dirty="0"/>
              <a:t>β-</a:t>
            </a:r>
            <a:r>
              <a:rPr lang="en-US" altLang="zh-CN" dirty="0"/>
              <a:t>furanose form)</a:t>
            </a:r>
          </a:p>
          <a:p>
            <a:endParaRPr lang="en-US" altLang="zh-CN" dirty="0"/>
          </a:p>
          <a:p>
            <a:r>
              <a:rPr lang="zh-CN" altLang="en-US" dirty="0"/>
              <a:t>碱基与糖环平面垂直</a:t>
            </a:r>
          </a:p>
          <a:p>
            <a:endParaRPr lang="en-US" altLang="zh-CN" dirty="0"/>
          </a:p>
          <a:p>
            <a:r>
              <a:rPr lang="zh-CN" altLang="en-US" dirty="0"/>
              <a:t>戊糖的几个羟基部位均可磷酸化，但以</a:t>
            </a:r>
            <a:r>
              <a:rPr lang="en-US" altLang="zh-CN" dirty="0"/>
              <a:t>5‘-OH</a:t>
            </a:r>
            <a:r>
              <a:rPr lang="zh-CN" altLang="en-US" dirty="0"/>
              <a:t>磷酸化为主</a:t>
            </a:r>
          </a:p>
          <a:p>
            <a:endParaRPr lang="zh-CN" altLang="en-US" dirty="0"/>
          </a:p>
        </p:txBody>
      </p:sp>
      <p:sp>
        <p:nvSpPr>
          <p:cNvPr id="4" name="灯片编号占位符 3"/>
          <p:cNvSpPr>
            <a:spLocks noGrp="1"/>
          </p:cNvSpPr>
          <p:nvPr>
            <p:ph type="sldNum" sz="quarter" idx="5"/>
          </p:nvPr>
        </p:nvSpPr>
        <p:spPr/>
        <p:txBody>
          <a:bodyPr/>
          <a:lstStyle/>
          <a:p>
            <a:pPr>
              <a:defRPr/>
            </a:pPr>
            <a:fld id="{2A48E35A-2A6D-4F07-ADC0-EF8313D11530}" type="slidenum">
              <a:rPr lang="en-US" altLang="zh-CN" smtClean="0"/>
              <a:pPr>
                <a:defRPr/>
              </a:pPr>
              <a:t>18</a:t>
            </a:fld>
            <a:endParaRPr lang="en-US" altLang="zh-CN"/>
          </a:p>
        </p:txBody>
      </p:sp>
    </p:spTree>
    <p:extLst>
      <p:ext uri="{BB962C8B-B14F-4D97-AF65-F5344CB8AC3E}">
        <p14:creationId xmlns:p14="http://schemas.microsoft.com/office/powerpoint/2010/main" val="36773445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a:extLst>
              <a:ext uri="{FF2B5EF4-FFF2-40B4-BE49-F238E27FC236}">
                <a16:creationId xmlns:a16="http://schemas.microsoft.com/office/drawing/2014/main" id="{1DE3F418-5DFD-409E-9E4F-1E496FA79E32}"/>
              </a:ext>
            </a:extLst>
          </p:cNvPr>
          <p:cNvSpPr>
            <a:spLocks noGrp="1" noRot="1" noChangeAspect="1" noChangeArrowheads="1" noTextEdit="1"/>
          </p:cNvSpPr>
          <p:nvPr>
            <p:ph type="sldImg"/>
          </p:nvPr>
        </p:nvSpPr>
        <p:spPr>
          <a:xfrm>
            <a:off x="381000" y="685800"/>
            <a:ext cx="6096000" cy="3429000"/>
          </a:xfrm>
          <a:ln/>
        </p:spPr>
      </p:sp>
      <p:sp>
        <p:nvSpPr>
          <p:cNvPr id="70659" name="备注占位符 2">
            <a:extLst>
              <a:ext uri="{FF2B5EF4-FFF2-40B4-BE49-F238E27FC236}">
                <a16:creationId xmlns:a16="http://schemas.microsoft.com/office/drawing/2014/main" id="{C7307762-646D-46EF-8E5A-9883117E4CA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70660" name="灯片编号占位符 3">
            <a:extLst>
              <a:ext uri="{FF2B5EF4-FFF2-40B4-BE49-F238E27FC236}">
                <a16:creationId xmlns:a16="http://schemas.microsoft.com/office/drawing/2014/main" id="{0E928DB5-0CBA-4CBB-832E-2B3E9AB9F39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AE2317F-EA94-4311-B6ED-FD8AD5646486}" type="slidenum">
              <a:rPr lang="en-US" altLang="zh-CN" sz="1200" smtClean="0"/>
              <a:pPr/>
              <a:t>19</a:t>
            </a:fld>
            <a:endParaRPr lang="en-US" altLang="zh-CN"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31">
            <a:extLst>
              <a:ext uri="{FF2B5EF4-FFF2-40B4-BE49-F238E27FC236}">
                <a16:creationId xmlns:a16="http://schemas.microsoft.com/office/drawing/2014/main" id="{EABC6A3C-F6C1-444F-87D5-ADFC7E5C3E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E632EFA-4661-4065-88DC-2A94AAFB7EB5}" type="slidenum">
              <a:rPr lang="en-US" altLang="zh-CN" smtClean="0"/>
              <a:pPr>
                <a:spcBef>
                  <a:spcPct val="0"/>
                </a:spcBef>
              </a:pPr>
              <a:t>20</a:t>
            </a:fld>
            <a:endParaRPr lang="en-US" altLang="zh-CN"/>
          </a:p>
        </p:txBody>
      </p:sp>
      <p:sp>
        <p:nvSpPr>
          <p:cNvPr id="75779" name="Rectangle 2">
            <a:extLst>
              <a:ext uri="{FF2B5EF4-FFF2-40B4-BE49-F238E27FC236}">
                <a16:creationId xmlns:a16="http://schemas.microsoft.com/office/drawing/2014/main" id="{89F02E31-A435-4938-923C-F12208BF4D6B}"/>
              </a:ext>
            </a:extLst>
          </p:cNvPr>
          <p:cNvSpPr>
            <a:spLocks noGrp="1" noRot="1" noChangeAspect="1" noChangeArrowheads="1" noTextEdit="1"/>
          </p:cNvSpPr>
          <p:nvPr>
            <p:ph type="sldImg"/>
          </p:nvPr>
        </p:nvSpPr>
        <p:spPr>
          <a:xfrm>
            <a:off x="381000" y="685800"/>
            <a:ext cx="6096000" cy="3429000"/>
          </a:xfrm>
          <a:ln/>
        </p:spPr>
      </p:sp>
      <p:sp>
        <p:nvSpPr>
          <p:cNvPr id="75780" name="Rectangle 3">
            <a:extLst>
              <a:ext uri="{FF2B5EF4-FFF2-40B4-BE49-F238E27FC236}">
                <a16:creationId xmlns:a16="http://schemas.microsoft.com/office/drawing/2014/main" id="{E22CC580-B8B0-4B1F-960B-F55E2E7062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a:extLst>
              <a:ext uri="{FF2B5EF4-FFF2-40B4-BE49-F238E27FC236}">
                <a16:creationId xmlns:a16="http://schemas.microsoft.com/office/drawing/2014/main" id="{0FCA1C09-936A-4172-A924-1A1F22BE1E8B}"/>
              </a:ext>
            </a:extLst>
          </p:cNvPr>
          <p:cNvSpPr>
            <a:spLocks noGrp="1" noRot="1" noChangeAspect="1" noChangeArrowheads="1" noTextEdit="1"/>
          </p:cNvSpPr>
          <p:nvPr>
            <p:ph type="sldImg"/>
          </p:nvPr>
        </p:nvSpPr>
        <p:spPr>
          <a:xfrm>
            <a:off x="381000" y="685800"/>
            <a:ext cx="6096000" cy="3429000"/>
          </a:xfrm>
          <a:ln/>
        </p:spPr>
      </p:sp>
      <p:sp>
        <p:nvSpPr>
          <p:cNvPr id="77827" name="备注占位符 2">
            <a:extLst>
              <a:ext uri="{FF2B5EF4-FFF2-40B4-BE49-F238E27FC236}">
                <a16:creationId xmlns:a16="http://schemas.microsoft.com/office/drawing/2014/main" id="{A72FEC03-80B9-4659-B247-A813EA665A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重要的第二信使</a:t>
            </a:r>
            <a:endParaRPr lang="en-US" altLang="zh-CN" dirty="0"/>
          </a:p>
          <a:p>
            <a:endParaRPr lang="en-US" altLang="zh-CN" dirty="0"/>
          </a:p>
        </p:txBody>
      </p:sp>
      <p:sp>
        <p:nvSpPr>
          <p:cNvPr id="77828" name="灯片编号占位符 3">
            <a:extLst>
              <a:ext uri="{FF2B5EF4-FFF2-40B4-BE49-F238E27FC236}">
                <a16:creationId xmlns:a16="http://schemas.microsoft.com/office/drawing/2014/main" id="{1BA13C84-31EE-40CB-B28E-D31416D3BA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7AF50A7-C8A5-46A2-98B7-DCE34450B582}" type="slidenum">
              <a:rPr lang="en-US" altLang="zh-CN" sz="1200" smtClean="0"/>
              <a:pPr/>
              <a:t>21</a:t>
            </a:fld>
            <a:endParaRPr lang="en-US" altLang="zh-CN"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a:extLst>
              <a:ext uri="{FF2B5EF4-FFF2-40B4-BE49-F238E27FC236}">
                <a16:creationId xmlns:a16="http://schemas.microsoft.com/office/drawing/2014/main" id="{75A060FA-7CE5-4C12-B5A8-FFE8274AB248}"/>
              </a:ext>
            </a:extLst>
          </p:cNvPr>
          <p:cNvSpPr>
            <a:spLocks noGrp="1" noRot="1" noChangeAspect="1" noChangeArrowheads="1" noTextEdit="1"/>
          </p:cNvSpPr>
          <p:nvPr>
            <p:ph type="sldImg"/>
          </p:nvPr>
        </p:nvSpPr>
        <p:spPr>
          <a:xfrm>
            <a:off x="381000" y="685800"/>
            <a:ext cx="6096000" cy="3429000"/>
          </a:xfrm>
          <a:ln/>
        </p:spPr>
      </p:sp>
      <p:sp>
        <p:nvSpPr>
          <p:cNvPr id="79875" name="备注占位符 2">
            <a:extLst>
              <a:ext uri="{FF2B5EF4-FFF2-40B4-BE49-F238E27FC236}">
                <a16:creationId xmlns:a16="http://schemas.microsoft.com/office/drawing/2014/main" id="{8AF8D9FE-4F26-4D29-B6F3-64BFBC50153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辅酶</a:t>
            </a:r>
            <a:r>
              <a:rPr lang="en-US" altLang="zh-CN" dirty="0"/>
              <a:t>NAD+</a:t>
            </a:r>
            <a:r>
              <a:rPr lang="zh-CN" altLang="en-US" dirty="0"/>
              <a:t>、</a:t>
            </a:r>
            <a:r>
              <a:rPr lang="en-US" altLang="zh-CN" dirty="0"/>
              <a:t>NADP+</a:t>
            </a:r>
            <a:r>
              <a:rPr lang="zh-CN" altLang="en-US" dirty="0"/>
              <a:t>、</a:t>
            </a:r>
            <a:r>
              <a:rPr lang="en-US" altLang="zh-CN" dirty="0"/>
              <a:t>FAD</a:t>
            </a:r>
            <a:r>
              <a:rPr lang="zh-CN" altLang="en-US" dirty="0"/>
              <a:t>、</a:t>
            </a:r>
            <a:r>
              <a:rPr lang="en-US" altLang="zh-CN" dirty="0"/>
              <a:t>FMN</a:t>
            </a:r>
            <a:r>
              <a:rPr lang="zh-CN" altLang="en-US" dirty="0"/>
              <a:t>、</a:t>
            </a:r>
            <a:r>
              <a:rPr lang="en-US" altLang="zh-CN" dirty="0" err="1"/>
              <a:t>HSCoA</a:t>
            </a:r>
            <a:r>
              <a:rPr lang="zh-CN" altLang="en-US" dirty="0"/>
              <a:t>是核酸的衍生物，在物质代谢和能量代谢中起重要作用。 </a:t>
            </a:r>
          </a:p>
          <a:p>
            <a:endParaRPr lang="en-US" altLang="zh-CN" dirty="0"/>
          </a:p>
          <a:p>
            <a:r>
              <a:rPr lang="zh-CN" altLang="en-US" dirty="0"/>
              <a:t>已知有</a:t>
            </a:r>
            <a:r>
              <a:rPr lang="en-US" altLang="zh-CN" dirty="0"/>
              <a:t>200</a:t>
            </a:r>
            <a:r>
              <a:rPr lang="zh-CN" altLang="en-US" dirty="0"/>
              <a:t>多种酶以</a:t>
            </a:r>
            <a:r>
              <a:rPr lang="en-US" altLang="zh-CN" dirty="0"/>
              <a:t>NAD </a:t>
            </a:r>
            <a:r>
              <a:rPr lang="zh-CN" altLang="en-US" dirty="0"/>
              <a:t>和 </a:t>
            </a:r>
            <a:r>
              <a:rPr lang="en-US" altLang="zh-CN" dirty="0"/>
              <a:t>NADP</a:t>
            </a:r>
            <a:r>
              <a:rPr lang="zh-CN" altLang="en-US" dirty="0"/>
              <a:t>为辅酶。 </a:t>
            </a:r>
          </a:p>
          <a:p>
            <a:endParaRPr lang="zh-CN" altLang="en-US" dirty="0"/>
          </a:p>
        </p:txBody>
      </p:sp>
      <p:sp>
        <p:nvSpPr>
          <p:cNvPr id="79876" name="灯片编号占位符 3">
            <a:extLst>
              <a:ext uri="{FF2B5EF4-FFF2-40B4-BE49-F238E27FC236}">
                <a16:creationId xmlns:a16="http://schemas.microsoft.com/office/drawing/2014/main" id="{6307C1FA-87C8-4335-A1BB-AA9D0EEFB61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ECF10E3-D062-4E72-A8C8-80DA02B5D030}" type="slidenum">
              <a:rPr lang="en-US" altLang="zh-CN" sz="1200" smtClean="0"/>
              <a:pPr/>
              <a:t>22</a:t>
            </a:fld>
            <a:endParaRPr lang="en-US" altLang="zh-CN"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a:extLst>
              <a:ext uri="{FF2B5EF4-FFF2-40B4-BE49-F238E27FC236}">
                <a16:creationId xmlns:a16="http://schemas.microsoft.com/office/drawing/2014/main" id="{45D7A0A9-0486-4128-AC68-832A5758AD3B}"/>
              </a:ext>
            </a:extLst>
          </p:cNvPr>
          <p:cNvSpPr>
            <a:spLocks noGrp="1" noRot="1" noChangeAspect="1" noChangeArrowheads="1" noTextEdit="1"/>
          </p:cNvSpPr>
          <p:nvPr>
            <p:ph type="sldImg"/>
          </p:nvPr>
        </p:nvSpPr>
        <p:spPr>
          <a:xfrm>
            <a:off x="381000" y="685800"/>
            <a:ext cx="6096000" cy="3429000"/>
          </a:xfrm>
          <a:ln/>
        </p:spPr>
      </p:sp>
      <p:sp>
        <p:nvSpPr>
          <p:cNvPr id="81923" name="备注占位符 2">
            <a:extLst>
              <a:ext uri="{FF2B5EF4-FFF2-40B4-BE49-F238E27FC236}">
                <a16:creationId xmlns:a16="http://schemas.microsoft.com/office/drawing/2014/main" id="{378052C4-03D7-4BAF-9FBD-C5B4ECE1D8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Riboflavin  </a:t>
            </a:r>
            <a:r>
              <a:rPr lang="zh-CN" altLang="en-US" dirty="0"/>
              <a:t>核黄素，即维生素</a:t>
            </a:r>
            <a:r>
              <a:rPr lang="en-US" altLang="zh-CN" dirty="0"/>
              <a:t>B2</a:t>
            </a:r>
          </a:p>
          <a:p>
            <a:endParaRPr lang="en-US" altLang="zh-CN" dirty="0"/>
          </a:p>
          <a:p>
            <a:r>
              <a:rPr lang="en-US" altLang="zh-CN" dirty="0" err="1"/>
              <a:t>alloxazin</a:t>
            </a:r>
            <a:r>
              <a:rPr lang="en-US" altLang="zh-CN" dirty="0"/>
              <a:t> </a:t>
            </a:r>
            <a:r>
              <a:rPr lang="zh-CN" altLang="en-US" dirty="0"/>
              <a:t>异咯嗪       咯嗪，读作</a:t>
            </a:r>
            <a:r>
              <a:rPr lang="en-US" altLang="zh-CN" dirty="0" err="1"/>
              <a:t>luò</a:t>
            </a:r>
            <a:r>
              <a:rPr lang="en-US" altLang="zh-CN" dirty="0"/>
              <a:t> </a:t>
            </a:r>
            <a:r>
              <a:rPr lang="en-US" altLang="zh-CN" dirty="0" err="1"/>
              <a:t>zìn</a:t>
            </a:r>
            <a:endParaRPr lang="zh-CN" altLang="en-US" dirty="0"/>
          </a:p>
        </p:txBody>
      </p:sp>
      <p:sp>
        <p:nvSpPr>
          <p:cNvPr id="81924" name="灯片编号占位符 3">
            <a:extLst>
              <a:ext uri="{FF2B5EF4-FFF2-40B4-BE49-F238E27FC236}">
                <a16:creationId xmlns:a16="http://schemas.microsoft.com/office/drawing/2014/main" id="{9061C9CA-EAC1-46D6-84E8-72BB34E598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A92DE58-E4EF-44E6-AE41-7B42F488B3F2}" type="slidenum">
              <a:rPr lang="en-US" altLang="zh-CN" sz="1200" smtClean="0"/>
              <a:pPr/>
              <a:t>23</a:t>
            </a:fld>
            <a:endParaRPr lang="en-US" altLang="zh-CN"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a:extLst>
              <a:ext uri="{FF2B5EF4-FFF2-40B4-BE49-F238E27FC236}">
                <a16:creationId xmlns:a16="http://schemas.microsoft.com/office/drawing/2014/main" id="{C59810F4-CEB0-48F9-A081-E4D776E4CCCF}"/>
              </a:ext>
            </a:extLst>
          </p:cNvPr>
          <p:cNvSpPr>
            <a:spLocks noGrp="1" noRot="1" noChangeAspect="1" noChangeArrowheads="1" noTextEdit="1"/>
          </p:cNvSpPr>
          <p:nvPr>
            <p:ph type="sldImg"/>
          </p:nvPr>
        </p:nvSpPr>
        <p:spPr>
          <a:xfrm>
            <a:off x="381000" y="685800"/>
            <a:ext cx="6096000" cy="3429000"/>
          </a:xfrm>
          <a:ln/>
        </p:spPr>
      </p:sp>
      <p:sp>
        <p:nvSpPr>
          <p:cNvPr id="83971" name="备注占位符 2">
            <a:extLst>
              <a:ext uri="{FF2B5EF4-FFF2-40B4-BE49-F238E27FC236}">
                <a16:creationId xmlns:a16="http://schemas.microsoft.com/office/drawing/2014/main" id="{B46423B0-B2B9-47E5-8599-96083F42AF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辅酶</a:t>
            </a:r>
            <a:r>
              <a:rPr lang="en-US" altLang="zh-CN" dirty="0"/>
              <a:t>A</a:t>
            </a:r>
            <a:r>
              <a:rPr lang="zh-CN" altLang="en-US" dirty="0"/>
              <a:t>（</a:t>
            </a:r>
            <a:r>
              <a:rPr lang="en-US" altLang="zh-CN" dirty="0"/>
              <a:t>CoA) </a:t>
            </a:r>
            <a:r>
              <a:rPr lang="zh-CN" altLang="en-US" dirty="0"/>
              <a:t>是维生素泛酸在体内的活性形式， 中间部分为泛酸，即维生素</a:t>
            </a:r>
            <a:r>
              <a:rPr lang="en-US" altLang="zh-CN" dirty="0"/>
              <a:t>B5</a:t>
            </a:r>
          </a:p>
          <a:p>
            <a:endParaRPr lang="en-US" altLang="zh-CN" dirty="0"/>
          </a:p>
          <a:p>
            <a:r>
              <a:rPr lang="zh-CN" altLang="en-US" dirty="0"/>
              <a:t>乙酰</a:t>
            </a:r>
            <a:r>
              <a:rPr lang="en-US" altLang="zh-CN" dirty="0"/>
              <a:t>CoA</a:t>
            </a:r>
            <a:r>
              <a:rPr lang="zh-CN" altLang="en-US" dirty="0"/>
              <a:t>是三大营养物质在体内分解代谢的共同中间产物。 </a:t>
            </a:r>
          </a:p>
        </p:txBody>
      </p:sp>
      <p:sp>
        <p:nvSpPr>
          <p:cNvPr id="83972" name="灯片编号占位符 3">
            <a:extLst>
              <a:ext uri="{FF2B5EF4-FFF2-40B4-BE49-F238E27FC236}">
                <a16:creationId xmlns:a16="http://schemas.microsoft.com/office/drawing/2014/main" id="{981AC6EF-0A1C-4878-ACEF-5DAC16481EF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B4D198C-D198-4131-BB87-31FDB691EF69}" type="slidenum">
              <a:rPr lang="en-US" altLang="zh-CN" sz="1200" smtClean="0"/>
              <a:pPr/>
              <a:t>24</a:t>
            </a:fld>
            <a:endParaRPr lang="en-US" altLang="zh-CN"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a:extLst>
              <a:ext uri="{FF2B5EF4-FFF2-40B4-BE49-F238E27FC236}">
                <a16:creationId xmlns:a16="http://schemas.microsoft.com/office/drawing/2014/main" id="{8B8C8173-6BF5-43F0-8581-CD74AD1FD0E0}"/>
              </a:ext>
            </a:extLst>
          </p:cNvPr>
          <p:cNvSpPr>
            <a:spLocks noGrp="1" noRot="1" noChangeAspect="1" noChangeArrowheads="1" noTextEdit="1"/>
          </p:cNvSpPr>
          <p:nvPr>
            <p:ph type="sldImg"/>
          </p:nvPr>
        </p:nvSpPr>
        <p:spPr>
          <a:xfrm>
            <a:off x="381000" y="685800"/>
            <a:ext cx="6096000" cy="3429000"/>
          </a:xfrm>
          <a:ln/>
        </p:spPr>
      </p:sp>
      <p:sp>
        <p:nvSpPr>
          <p:cNvPr id="86019" name="备注占位符 2">
            <a:extLst>
              <a:ext uri="{FF2B5EF4-FFF2-40B4-BE49-F238E27FC236}">
                <a16:creationId xmlns:a16="http://schemas.microsoft.com/office/drawing/2014/main" id="{D80149D7-AF4F-4F88-B55D-8DAEBA90FD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5</a:t>
            </a:r>
            <a:r>
              <a:rPr lang="zh-CN" altLang="en-US" dirty="0"/>
              <a:t>‘</a:t>
            </a:r>
            <a:r>
              <a:rPr lang="en-US" altLang="zh-CN" dirty="0"/>
              <a:t>-</a:t>
            </a:r>
            <a:r>
              <a:rPr lang="zh-CN" altLang="en-US" dirty="0"/>
              <a:t>脱氧腺苷钴铵素（</a:t>
            </a:r>
            <a:r>
              <a:rPr lang="en-US" altLang="zh-CN" dirty="0"/>
              <a:t>5</a:t>
            </a:r>
            <a:r>
              <a:rPr lang="zh-CN" altLang="en-US" dirty="0"/>
              <a:t>‘</a:t>
            </a:r>
            <a:r>
              <a:rPr lang="en-US" altLang="zh-CN" dirty="0"/>
              <a:t>-</a:t>
            </a:r>
            <a:r>
              <a:rPr lang="en-US" altLang="zh-CN" dirty="0" err="1"/>
              <a:t>deoxyadenosylcobalamin</a:t>
            </a:r>
            <a:r>
              <a:rPr lang="zh-CN" altLang="en-US" dirty="0"/>
              <a:t>）含有</a:t>
            </a:r>
            <a:r>
              <a:rPr lang="zh-CN" altLang="en-US" b="1" dirty="0"/>
              <a:t>脱氧腺苷</a:t>
            </a:r>
            <a:r>
              <a:rPr lang="zh-CN" altLang="en-US" dirty="0"/>
              <a:t>（图中最上红色部分）</a:t>
            </a:r>
            <a:endParaRPr lang="en-US" altLang="zh-CN" dirty="0"/>
          </a:p>
          <a:p>
            <a:r>
              <a:rPr lang="en-US" altLang="zh-CN" dirty="0"/>
              <a:t>B</a:t>
            </a:r>
            <a:r>
              <a:rPr lang="en-US" altLang="zh-CN" baseline="-25000" dirty="0"/>
              <a:t>12</a:t>
            </a:r>
            <a:r>
              <a:rPr lang="zh-CN" altLang="en-US" dirty="0"/>
              <a:t>的另一活性形式是  甲基钴铵素（</a:t>
            </a:r>
            <a:r>
              <a:rPr lang="en-US" altLang="zh-CN" dirty="0" err="1"/>
              <a:t>methylcobalamin</a:t>
            </a:r>
            <a:r>
              <a:rPr lang="zh-CN" altLang="en-US" dirty="0"/>
              <a:t>），参与甲硫氨酸的合成。</a:t>
            </a:r>
            <a:endParaRPr lang="en-US" altLang="zh-CN" dirty="0"/>
          </a:p>
          <a:p>
            <a:endParaRPr lang="en-US" altLang="zh-CN" dirty="0"/>
          </a:p>
          <a:p>
            <a:r>
              <a:rPr lang="en-US" altLang="zh-CN" dirty="0"/>
              <a:t>B</a:t>
            </a:r>
            <a:r>
              <a:rPr lang="en-US" altLang="zh-CN" baseline="-25000" dirty="0"/>
              <a:t>12</a:t>
            </a:r>
            <a:r>
              <a:rPr lang="zh-CN" altLang="en-US" dirty="0"/>
              <a:t>缺乏时，人为补充的</a:t>
            </a:r>
            <a:r>
              <a:rPr lang="en-US" altLang="zh-CN" dirty="0"/>
              <a:t>B</a:t>
            </a:r>
            <a:r>
              <a:rPr lang="en-US" altLang="zh-CN" baseline="-25000" dirty="0"/>
              <a:t>12</a:t>
            </a:r>
            <a:r>
              <a:rPr lang="zh-CN" altLang="en-US" dirty="0"/>
              <a:t>一般为氰钴铵素（</a:t>
            </a:r>
            <a:r>
              <a:rPr lang="en-US" altLang="zh-CN" dirty="0"/>
              <a:t>cyanocobalamin), </a:t>
            </a:r>
            <a:r>
              <a:rPr lang="zh-CN" altLang="en-US" dirty="0"/>
              <a:t>进入体内后会转变为上述两种活性形式。 </a:t>
            </a:r>
          </a:p>
          <a:p>
            <a:endParaRPr lang="en-US" altLang="zh-CN" dirty="0"/>
          </a:p>
          <a:p>
            <a:endParaRPr lang="zh-CN" altLang="en-US" dirty="0"/>
          </a:p>
        </p:txBody>
      </p:sp>
      <p:sp>
        <p:nvSpPr>
          <p:cNvPr id="86020" name="灯片编号占位符 3">
            <a:extLst>
              <a:ext uri="{FF2B5EF4-FFF2-40B4-BE49-F238E27FC236}">
                <a16:creationId xmlns:a16="http://schemas.microsoft.com/office/drawing/2014/main" id="{615A430B-031B-4C82-86BF-C3C8B04719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D3A7D69-A39E-4052-8345-9218E9F26E8A}" type="slidenum">
              <a:rPr lang="en-US" altLang="zh-CN" sz="1200" smtClean="0"/>
              <a:pPr/>
              <a:t>25</a:t>
            </a:fld>
            <a:endParaRPr lang="en-US" altLang="zh-CN"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a:extLst>
              <a:ext uri="{FF2B5EF4-FFF2-40B4-BE49-F238E27FC236}">
                <a16:creationId xmlns:a16="http://schemas.microsoft.com/office/drawing/2014/main" id="{6CC632CD-6D7B-4459-9D75-8BA9C94E01F8}"/>
              </a:ext>
            </a:extLst>
          </p:cNvPr>
          <p:cNvSpPr>
            <a:spLocks noGrp="1" noRot="1" noChangeAspect="1" noChangeArrowheads="1" noTextEdit="1"/>
          </p:cNvSpPr>
          <p:nvPr>
            <p:ph type="sldImg"/>
          </p:nvPr>
        </p:nvSpPr>
        <p:spPr>
          <a:xfrm>
            <a:off x="381000" y="685800"/>
            <a:ext cx="6096000" cy="3429000"/>
          </a:xfrm>
          <a:ln/>
        </p:spPr>
      </p:sp>
      <p:sp>
        <p:nvSpPr>
          <p:cNvPr id="88067" name="备注占位符 2">
            <a:extLst>
              <a:ext uri="{FF2B5EF4-FFF2-40B4-BE49-F238E27FC236}">
                <a16:creationId xmlns:a16="http://schemas.microsoft.com/office/drawing/2014/main" id="{C351CF82-54D1-4D87-B1E5-535AE9FD655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8068" name="灯片编号占位符 3">
            <a:extLst>
              <a:ext uri="{FF2B5EF4-FFF2-40B4-BE49-F238E27FC236}">
                <a16:creationId xmlns:a16="http://schemas.microsoft.com/office/drawing/2014/main" id="{776DE4D6-2F58-47EE-A1CC-F39FFD930D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72CFFCC-3F99-4043-8A7F-CDCCF84DD2AC}" type="slidenum">
              <a:rPr lang="en-US" altLang="zh-CN" sz="1200" smtClean="0"/>
              <a:pPr/>
              <a:t>26</a:t>
            </a:fld>
            <a:endParaRPr lang="en-US" altLang="zh-CN"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031">
            <a:extLst>
              <a:ext uri="{FF2B5EF4-FFF2-40B4-BE49-F238E27FC236}">
                <a16:creationId xmlns:a16="http://schemas.microsoft.com/office/drawing/2014/main" id="{FAAB956E-2390-4A30-977D-ED5C97A16D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2BFE778-6F3B-4FAA-A4F8-A6FBD03906CF}" type="slidenum">
              <a:rPr lang="en-US" altLang="zh-CN" smtClean="0"/>
              <a:pPr>
                <a:spcBef>
                  <a:spcPct val="0"/>
                </a:spcBef>
              </a:pPr>
              <a:t>27</a:t>
            </a:fld>
            <a:endParaRPr lang="en-US" altLang="zh-CN"/>
          </a:p>
        </p:txBody>
      </p:sp>
      <p:sp>
        <p:nvSpPr>
          <p:cNvPr id="92163" name="Rectangle 2">
            <a:extLst>
              <a:ext uri="{FF2B5EF4-FFF2-40B4-BE49-F238E27FC236}">
                <a16:creationId xmlns:a16="http://schemas.microsoft.com/office/drawing/2014/main" id="{D2DB8F11-415E-4DB7-9EF0-49AA590B4385}"/>
              </a:ext>
            </a:extLst>
          </p:cNvPr>
          <p:cNvSpPr>
            <a:spLocks noGrp="1" noRot="1" noChangeAspect="1" noChangeArrowheads="1" noTextEdit="1"/>
          </p:cNvSpPr>
          <p:nvPr>
            <p:ph type="sldImg"/>
          </p:nvPr>
        </p:nvSpPr>
        <p:spPr>
          <a:xfrm>
            <a:off x="381000" y="685800"/>
            <a:ext cx="6096000" cy="3429000"/>
          </a:xfrm>
          <a:ln/>
        </p:spPr>
      </p:sp>
      <p:sp>
        <p:nvSpPr>
          <p:cNvPr id="92164" name="Rectangle 3">
            <a:extLst>
              <a:ext uri="{FF2B5EF4-FFF2-40B4-BE49-F238E27FC236}">
                <a16:creationId xmlns:a16="http://schemas.microsoft.com/office/drawing/2014/main" id="{9ECAF9C4-73A7-4D44-AFEF-75EAA25DE4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dirty="0">
                <a:latin typeface="宋体" panose="02010600030101010101" pitchFamily="2" charset="-122"/>
              </a:rPr>
              <a:t>核苷酸的连接具有严格的方向性</a:t>
            </a:r>
            <a:r>
              <a:rPr lang="zh-CN" altLang="en-US" dirty="0">
                <a:latin typeface="宋体" panose="02010600030101010101" pitchFamily="2" charset="-122"/>
              </a:rPr>
              <a:t>：一个核苷酸的</a:t>
            </a:r>
            <a:r>
              <a:rPr lang="en-US" altLang="zh-CN" dirty="0"/>
              <a:t>3′-OH</a:t>
            </a:r>
            <a:r>
              <a:rPr lang="en-US" altLang="zh-CN" dirty="0">
                <a:latin typeface="宋体" panose="02010600030101010101" pitchFamily="2" charset="-122"/>
              </a:rPr>
              <a:t> </a:t>
            </a:r>
            <a:r>
              <a:rPr lang="zh-CN" altLang="en-US" dirty="0">
                <a:latin typeface="宋体" panose="02010600030101010101" pitchFamily="2" charset="-122"/>
              </a:rPr>
              <a:t>与下一位核苷酸的</a:t>
            </a:r>
            <a:r>
              <a:rPr lang="en-US" altLang="zh-CN" dirty="0"/>
              <a:t>5′</a:t>
            </a:r>
            <a:r>
              <a:rPr lang="zh-CN" altLang="en-US" dirty="0">
                <a:latin typeface="宋体" panose="02010600030101010101" pitchFamily="2" charset="-122"/>
              </a:rPr>
              <a:t>位磷酸形成</a:t>
            </a:r>
            <a:r>
              <a:rPr lang="en-US" altLang="zh-CN" dirty="0"/>
              <a:t>3′</a:t>
            </a:r>
            <a:r>
              <a:rPr lang="zh-CN" altLang="en-US" dirty="0">
                <a:latin typeface="宋体" panose="02010600030101010101" pitchFamily="2" charset="-122"/>
              </a:rPr>
              <a:t>，</a:t>
            </a:r>
            <a:r>
              <a:rPr lang="en-US" altLang="zh-CN" dirty="0"/>
              <a:t>5′</a:t>
            </a:r>
            <a:r>
              <a:rPr lang="zh-CN" altLang="en-US" dirty="0">
                <a:latin typeface="宋体" panose="02010600030101010101" pitchFamily="2" charset="-122"/>
              </a:rPr>
              <a:t>磷酸二酯键，构成</a:t>
            </a:r>
            <a:r>
              <a:rPr lang="zh-CN" altLang="en-US" b="1" dirty="0">
                <a:latin typeface="宋体" panose="02010600030101010101" pitchFamily="2" charset="-122"/>
              </a:rPr>
              <a:t>无分支的线性大分子。</a:t>
            </a:r>
            <a:endParaRPr lang="en-US" altLang="zh-CN" b="1" dirty="0">
              <a:latin typeface="宋体" panose="02010600030101010101" pitchFamily="2" charset="-122"/>
            </a:endParaRPr>
          </a:p>
          <a:p>
            <a:pPr eaLnBrk="1" hangingPunct="1"/>
            <a:r>
              <a:rPr lang="zh-CN" altLang="en-US" b="0" dirty="0">
                <a:latin typeface="宋体" panose="02010600030101010101" pitchFamily="2" charset="-122"/>
              </a:rPr>
              <a:t>这个方向也是核酸合成时链延伸的方向</a:t>
            </a:r>
          </a:p>
          <a:p>
            <a:pPr eaLnBrk="1" hangingPunct="1"/>
            <a:endParaRPr lang="en-US" altLang="zh-CN" dirty="0">
              <a:latin typeface="宋体" panose="02010600030101010101" pitchFamily="2" charset="-122"/>
            </a:endParaRPr>
          </a:p>
          <a:p>
            <a:pPr eaLnBrk="1" hangingPunct="1"/>
            <a:r>
              <a:rPr lang="en-US" altLang="zh-CN" b="1" dirty="0">
                <a:solidFill>
                  <a:srgbClr val="660066"/>
                </a:solidFill>
              </a:rPr>
              <a:t>3</a:t>
            </a:r>
            <a:r>
              <a:rPr lang="en-US" altLang="zh-CN" b="1" dirty="0">
                <a:solidFill>
                  <a:srgbClr val="660066"/>
                </a:solidFill>
                <a:sym typeface="Symbol" panose="05050102010706020507" pitchFamily="18" charset="2"/>
              </a:rPr>
              <a:t></a:t>
            </a:r>
            <a:r>
              <a:rPr lang="en-US" altLang="zh-CN" b="1" dirty="0">
                <a:solidFill>
                  <a:srgbClr val="660066"/>
                </a:solidFill>
              </a:rPr>
              <a:t>, 5</a:t>
            </a:r>
            <a:r>
              <a:rPr lang="en-US" altLang="zh-CN" b="1" dirty="0">
                <a:solidFill>
                  <a:srgbClr val="660066"/>
                </a:solidFill>
                <a:sym typeface="Symbol" panose="05050102010706020507" pitchFamily="18" charset="2"/>
              </a:rPr>
              <a:t></a:t>
            </a:r>
            <a:r>
              <a:rPr lang="en-US" altLang="zh-CN" b="1" dirty="0">
                <a:solidFill>
                  <a:srgbClr val="660066"/>
                </a:solidFill>
              </a:rPr>
              <a:t>-</a:t>
            </a:r>
            <a:r>
              <a:rPr lang="zh-CN" altLang="en-US" b="1" dirty="0">
                <a:solidFill>
                  <a:srgbClr val="660066"/>
                </a:solidFill>
              </a:rPr>
              <a:t>磷酸二酯键是核酸的基本结构键</a:t>
            </a:r>
            <a:endParaRPr lang="zh-CN" altLang="en-US" b="1" dirty="0"/>
          </a:p>
          <a:p>
            <a:pPr eaLnBrk="1" hangingPunct="1"/>
            <a:endParaRPr lang="zh-CN" altLang="en-US" dirty="0">
              <a:latin typeface="宋体" panose="02010600030101010101" pitchFamily="2" charset="-122"/>
            </a:endParaRPr>
          </a:p>
          <a:p>
            <a:pPr eaLnBrk="1" hangingPunct="1"/>
            <a:r>
              <a:rPr lang="zh-CN" altLang="en-US" dirty="0">
                <a:latin typeface="宋体" panose="02010600030101010101" pitchFamily="2" charset="-122"/>
              </a:rPr>
              <a:t>核苷酸链的两个末端分别是</a:t>
            </a:r>
            <a:r>
              <a:rPr lang="en-US" altLang="zh-CN" dirty="0"/>
              <a:t>5′-</a:t>
            </a:r>
            <a:r>
              <a:rPr lang="zh-CN" altLang="en-US" dirty="0">
                <a:latin typeface="宋体" panose="02010600030101010101" pitchFamily="2" charset="-122"/>
              </a:rPr>
              <a:t>游离磷酸基和</a:t>
            </a:r>
            <a:r>
              <a:rPr lang="en-US" altLang="zh-CN" dirty="0"/>
              <a:t>3′-</a:t>
            </a:r>
            <a:r>
              <a:rPr lang="zh-CN" altLang="en-US" dirty="0">
                <a:latin typeface="宋体" panose="02010600030101010101" pitchFamily="2" charset="-122"/>
              </a:rPr>
              <a:t>游离羟基，</a:t>
            </a:r>
            <a:r>
              <a:rPr lang="zh-CN" altLang="en-US" b="1" dirty="0">
                <a:latin typeface="宋体" panose="02010600030101010101" pitchFamily="2" charset="-122"/>
              </a:rPr>
              <a:t>书写应从</a:t>
            </a:r>
            <a:r>
              <a:rPr lang="en-US" altLang="zh-CN" b="1" dirty="0"/>
              <a:t>5′</a:t>
            </a:r>
            <a:r>
              <a:rPr lang="zh-CN" altLang="en-US" b="1" dirty="0">
                <a:latin typeface="宋体" panose="02010600030101010101" pitchFamily="2" charset="-122"/>
              </a:rPr>
              <a:t>到</a:t>
            </a:r>
            <a:r>
              <a:rPr lang="en-US" altLang="zh-CN" b="1" dirty="0"/>
              <a:t>3′ </a:t>
            </a:r>
          </a:p>
          <a:p>
            <a:endParaRPr lang="zh-CN" altLang="en-US" b="1" dirty="0">
              <a:latin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031">
            <a:extLst>
              <a:ext uri="{FF2B5EF4-FFF2-40B4-BE49-F238E27FC236}">
                <a16:creationId xmlns:a16="http://schemas.microsoft.com/office/drawing/2014/main" id="{BE0670C3-B1A8-47DD-9662-9DD92DEE28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E3FFE60-239F-4A65-8A12-03B92C546C96}" type="slidenum">
              <a:rPr lang="en-US" altLang="zh-CN" smtClean="0"/>
              <a:pPr>
                <a:spcBef>
                  <a:spcPct val="0"/>
                </a:spcBef>
              </a:pPr>
              <a:t>28</a:t>
            </a:fld>
            <a:endParaRPr lang="en-US" altLang="zh-CN"/>
          </a:p>
        </p:txBody>
      </p:sp>
      <p:sp>
        <p:nvSpPr>
          <p:cNvPr id="94211" name="Rectangle 2">
            <a:extLst>
              <a:ext uri="{FF2B5EF4-FFF2-40B4-BE49-F238E27FC236}">
                <a16:creationId xmlns:a16="http://schemas.microsoft.com/office/drawing/2014/main" id="{34DE0549-E703-4C01-AD09-3E4CF92E9817}"/>
              </a:ext>
            </a:extLst>
          </p:cNvPr>
          <p:cNvSpPr>
            <a:spLocks noGrp="1" noRot="1" noChangeAspect="1" noChangeArrowheads="1" noTextEdit="1"/>
          </p:cNvSpPr>
          <p:nvPr>
            <p:ph type="sldImg"/>
          </p:nvPr>
        </p:nvSpPr>
        <p:spPr>
          <a:xfrm>
            <a:off x="381000" y="685800"/>
            <a:ext cx="6096000" cy="3429000"/>
          </a:xfrm>
          <a:ln/>
        </p:spPr>
      </p:sp>
      <p:sp>
        <p:nvSpPr>
          <p:cNvPr id="94212" name="Rectangle 3">
            <a:extLst>
              <a:ext uri="{FF2B5EF4-FFF2-40B4-BE49-F238E27FC236}">
                <a16:creationId xmlns:a16="http://schemas.microsoft.com/office/drawing/2014/main" id="{1B02F6B7-DCD8-49AE-B6E9-DA75B95D3E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类似蛋白质一级结构 ，如未标明，默认左侧是氨基端</a:t>
            </a:r>
            <a:endParaRPr lang="en-US" altLang="zh-CN" dirty="0">
              <a:latin typeface="宋体" panose="02010600030101010101" pitchFamily="2" charset="-122"/>
            </a:endParaRPr>
          </a:p>
          <a:p>
            <a:pPr eaLnBrk="1" hangingPunct="1"/>
            <a:endParaRPr lang="en-US"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31">
            <a:extLst>
              <a:ext uri="{FF2B5EF4-FFF2-40B4-BE49-F238E27FC236}">
                <a16:creationId xmlns:a16="http://schemas.microsoft.com/office/drawing/2014/main" id="{E0FB5153-E339-47E2-AB9A-AFEC7C0A7A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B180FDD-8DA1-4050-A3CF-7B8975500A64}" type="slidenum">
              <a:rPr lang="en-US" altLang="zh-CN" smtClean="0"/>
              <a:pPr>
                <a:spcBef>
                  <a:spcPct val="0"/>
                </a:spcBef>
              </a:pPr>
              <a:t>29</a:t>
            </a:fld>
            <a:endParaRPr lang="en-US" altLang="zh-CN"/>
          </a:p>
        </p:txBody>
      </p:sp>
      <p:sp>
        <p:nvSpPr>
          <p:cNvPr id="96259" name="Rectangle 2">
            <a:extLst>
              <a:ext uri="{FF2B5EF4-FFF2-40B4-BE49-F238E27FC236}">
                <a16:creationId xmlns:a16="http://schemas.microsoft.com/office/drawing/2014/main" id="{2ADF5E33-AA5F-4B70-86C4-FE5C18FEFF8D}"/>
              </a:ext>
            </a:extLst>
          </p:cNvPr>
          <p:cNvSpPr>
            <a:spLocks noGrp="1" noRot="1" noChangeAspect="1" noChangeArrowheads="1" noTextEdit="1"/>
          </p:cNvSpPr>
          <p:nvPr>
            <p:ph type="sldImg"/>
          </p:nvPr>
        </p:nvSpPr>
        <p:spPr>
          <a:xfrm>
            <a:off x="381000" y="685800"/>
            <a:ext cx="6096000" cy="3429000"/>
          </a:xfrm>
          <a:ln/>
        </p:spPr>
      </p:sp>
      <p:sp>
        <p:nvSpPr>
          <p:cNvPr id="96260" name="Rectangle 3">
            <a:extLst>
              <a:ext uri="{FF2B5EF4-FFF2-40B4-BE49-F238E27FC236}">
                <a16:creationId xmlns:a16="http://schemas.microsoft.com/office/drawing/2014/main" id="{AC9414B8-F860-43E4-AAC6-B1BD10ADE2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The definition of “short” is somewhat arbitrary. </a:t>
            </a:r>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031">
            <a:extLst>
              <a:ext uri="{FF2B5EF4-FFF2-40B4-BE49-F238E27FC236}">
                <a16:creationId xmlns:a16="http://schemas.microsoft.com/office/drawing/2014/main" id="{68F77303-656F-40B6-83C1-7994491BCC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7F997E2-53CB-49FB-A9A6-1E9326D79640}" type="slidenum">
              <a:rPr lang="en-US" altLang="zh-CN" smtClean="0"/>
              <a:pPr>
                <a:spcBef>
                  <a:spcPct val="0"/>
                </a:spcBef>
              </a:pPr>
              <a:t>30</a:t>
            </a:fld>
            <a:endParaRPr lang="en-US" altLang="zh-CN"/>
          </a:p>
        </p:txBody>
      </p:sp>
      <p:sp>
        <p:nvSpPr>
          <p:cNvPr id="98307" name="Rectangle 2">
            <a:extLst>
              <a:ext uri="{FF2B5EF4-FFF2-40B4-BE49-F238E27FC236}">
                <a16:creationId xmlns:a16="http://schemas.microsoft.com/office/drawing/2014/main" id="{34A19646-7D5E-4A8E-AA9C-62122760F413}"/>
              </a:ext>
            </a:extLst>
          </p:cNvPr>
          <p:cNvSpPr>
            <a:spLocks noGrp="1" noRot="1" noChangeAspect="1" noChangeArrowheads="1" noTextEdit="1"/>
          </p:cNvSpPr>
          <p:nvPr>
            <p:ph type="sldImg"/>
          </p:nvPr>
        </p:nvSpPr>
        <p:spPr>
          <a:xfrm>
            <a:off x="381000" y="685800"/>
            <a:ext cx="6096000" cy="3429000"/>
          </a:xfrm>
          <a:ln/>
        </p:spPr>
      </p:sp>
      <p:sp>
        <p:nvSpPr>
          <p:cNvPr id="98308" name="Rectangle 3">
            <a:extLst>
              <a:ext uri="{FF2B5EF4-FFF2-40B4-BE49-F238E27FC236}">
                <a16:creationId xmlns:a16="http://schemas.microsoft.com/office/drawing/2014/main" id="{61E47745-0580-4AF2-B7E6-47C2434BD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a:solidFill>
                  <a:srgbClr val="000099"/>
                </a:solidFill>
              </a:rPr>
              <a:t>重点： </a:t>
            </a:r>
            <a:r>
              <a:rPr kumimoji="1" lang="en-US" altLang="zh-CN">
                <a:solidFill>
                  <a:srgbClr val="000099"/>
                </a:solidFill>
              </a:rPr>
              <a:t>DNA</a:t>
            </a:r>
            <a:r>
              <a:rPr kumimoji="1" lang="zh-CN" altLang="en-US">
                <a:solidFill>
                  <a:srgbClr val="000099"/>
                </a:solidFill>
              </a:rPr>
              <a:t>二级结构要点，核小体的组成</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031">
            <a:extLst>
              <a:ext uri="{FF2B5EF4-FFF2-40B4-BE49-F238E27FC236}">
                <a16:creationId xmlns:a16="http://schemas.microsoft.com/office/drawing/2014/main" id="{43B76139-D7A4-44AA-9E56-3A94F07554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1E15781-F347-4153-BC7F-98FCC2B07EAE}" type="slidenum">
              <a:rPr lang="en-US" altLang="zh-CN" smtClean="0"/>
              <a:pPr>
                <a:spcBef>
                  <a:spcPct val="0"/>
                </a:spcBef>
              </a:pPr>
              <a:t>31</a:t>
            </a:fld>
            <a:endParaRPr lang="en-US" altLang="zh-CN"/>
          </a:p>
        </p:txBody>
      </p:sp>
      <p:sp>
        <p:nvSpPr>
          <p:cNvPr id="100355" name="Rectangle 2">
            <a:extLst>
              <a:ext uri="{FF2B5EF4-FFF2-40B4-BE49-F238E27FC236}">
                <a16:creationId xmlns:a16="http://schemas.microsoft.com/office/drawing/2014/main" id="{D020F6C2-AF0A-4770-AEEB-0DA8B5D00CF5}"/>
              </a:ext>
            </a:extLst>
          </p:cNvPr>
          <p:cNvSpPr>
            <a:spLocks noGrp="1" noRot="1" noChangeAspect="1" noChangeArrowheads="1" noTextEdit="1"/>
          </p:cNvSpPr>
          <p:nvPr>
            <p:ph type="sldImg"/>
          </p:nvPr>
        </p:nvSpPr>
        <p:spPr>
          <a:xfrm>
            <a:off x="381000" y="685800"/>
            <a:ext cx="6096000" cy="3429000"/>
          </a:xfrm>
          <a:ln/>
        </p:spPr>
      </p:sp>
      <p:sp>
        <p:nvSpPr>
          <p:cNvPr id="100356" name="Rectangle 3">
            <a:extLst>
              <a:ext uri="{FF2B5EF4-FFF2-40B4-BE49-F238E27FC236}">
                <a16:creationId xmlns:a16="http://schemas.microsoft.com/office/drawing/2014/main" id="{A4C2D9A2-1AC1-4E50-B365-F3583740F3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800" dirty="0">
                <a:latin typeface="楷体_GB2312" pitchFamily="49" charset="-122"/>
                <a:ea typeface="楷体_GB2312" pitchFamily="49" charset="-122"/>
              </a:rPr>
              <a:t>DNA</a:t>
            </a:r>
            <a:r>
              <a:rPr kumimoji="1" lang="zh-CN" altLang="en-US" sz="2800" dirty="0">
                <a:latin typeface="楷体_GB2312" pitchFamily="49" charset="-122"/>
                <a:ea typeface="楷体_GB2312" pitchFamily="49" charset="-122"/>
              </a:rPr>
              <a:t>结构双螺旋结构直接解释了生物遗传信息的传递与表达的规律，使生命科学从此进入一个崭新的时代即</a:t>
            </a:r>
            <a:r>
              <a:rPr kumimoji="1" lang="zh-CN" altLang="en-US" sz="2800" dirty="0">
                <a:solidFill>
                  <a:srgbClr val="6600FF"/>
                </a:solidFill>
                <a:latin typeface="楷体_GB2312" pitchFamily="49" charset="-122"/>
                <a:ea typeface="楷体_GB2312" pitchFamily="49" charset="-122"/>
              </a:rPr>
              <a:t>分子生物学时代。</a:t>
            </a:r>
            <a:endParaRPr kumimoji="1" lang="en-US" altLang="zh-CN" sz="2800" dirty="0">
              <a:solidFill>
                <a:srgbClr val="6600FF"/>
              </a:solidFill>
              <a:latin typeface="楷体_GB2312" pitchFamily="49" charset="-122"/>
              <a:ea typeface="楷体_GB2312" pitchFamily="49" charset="-122"/>
            </a:endParaRPr>
          </a:p>
          <a:p>
            <a:pPr eaLnBrk="1" hangingPunct="1"/>
            <a:endParaRPr kumimoji="1" lang="en-US" altLang="zh-CN" sz="2800" dirty="0">
              <a:solidFill>
                <a:srgbClr val="6600FF"/>
              </a:solidFill>
              <a:latin typeface="楷体_GB2312" pitchFamily="49" charset="-122"/>
              <a:ea typeface="楷体_GB2312" pitchFamily="49" charset="-122"/>
            </a:endParaRPr>
          </a:p>
          <a:p>
            <a:pPr eaLnBrk="1" hangingPunct="1"/>
            <a:r>
              <a:rPr kumimoji="1" lang="zh-CN" altLang="en-US" sz="2800" dirty="0">
                <a:solidFill>
                  <a:srgbClr val="6600FF"/>
                </a:solidFill>
                <a:latin typeface="楷体_GB2312" pitchFamily="49" charset="-122"/>
                <a:ea typeface="楷体_GB2312" pitchFamily="49" charset="-122"/>
              </a:rPr>
              <a:t>二十世纪三大发现： 相对论、量子力学、</a:t>
            </a:r>
            <a:r>
              <a:rPr kumimoji="1" lang="en-US" altLang="zh-CN" sz="2800" dirty="0">
                <a:solidFill>
                  <a:srgbClr val="6600FF"/>
                </a:solidFill>
                <a:latin typeface="楷体_GB2312" pitchFamily="49" charset="-122"/>
                <a:ea typeface="楷体_GB2312" pitchFamily="49" charset="-122"/>
              </a:rPr>
              <a:t>DNA</a:t>
            </a:r>
            <a:r>
              <a:rPr kumimoji="1" lang="zh-CN" altLang="en-US" sz="2800" dirty="0">
                <a:solidFill>
                  <a:srgbClr val="6600FF"/>
                </a:solidFill>
                <a:latin typeface="楷体_GB2312" pitchFamily="49" charset="-122"/>
                <a:ea typeface="楷体_GB2312" pitchFamily="49" charset="-122"/>
              </a:rPr>
              <a:t>双螺旋结构</a:t>
            </a:r>
            <a:endParaRPr kumimoji="1" lang="en-US" altLang="zh-CN" sz="2800" dirty="0">
              <a:solidFill>
                <a:srgbClr val="6600FF"/>
              </a:solidFill>
              <a:latin typeface="楷体_GB2312" pitchFamily="49" charset="-122"/>
              <a:ea typeface="楷体_GB2312" pitchFamily="49" charset="-122"/>
            </a:endParaRPr>
          </a:p>
          <a:p>
            <a:pPr eaLnBrk="1" hangingPunct="1"/>
            <a:endParaRPr kumimoji="1" lang="en-US" altLang="zh-CN" sz="2800" dirty="0">
              <a:solidFill>
                <a:srgbClr val="6600FF"/>
              </a:solidFill>
              <a:latin typeface="楷体_GB2312" pitchFamily="49" charset="-122"/>
              <a:ea typeface="楷体_GB2312" pitchFamily="49"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1031">
            <a:extLst>
              <a:ext uri="{FF2B5EF4-FFF2-40B4-BE49-F238E27FC236}">
                <a16:creationId xmlns:a16="http://schemas.microsoft.com/office/drawing/2014/main" id="{FDCA9FE5-A311-4782-8B3E-584F32A3DA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965965C-8290-40BD-A7A6-18673CFCC70D}" type="slidenum">
              <a:rPr lang="en-US" altLang="zh-CN" smtClean="0"/>
              <a:pPr>
                <a:spcBef>
                  <a:spcPct val="0"/>
                </a:spcBef>
              </a:pPr>
              <a:t>32</a:t>
            </a:fld>
            <a:endParaRPr lang="en-US" altLang="zh-CN"/>
          </a:p>
        </p:txBody>
      </p:sp>
      <p:sp>
        <p:nvSpPr>
          <p:cNvPr id="102403" name="Rectangle 2">
            <a:extLst>
              <a:ext uri="{FF2B5EF4-FFF2-40B4-BE49-F238E27FC236}">
                <a16:creationId xmlns:a16="http://schemas.microsoft.com/office/drawing/2014/main" id="{86779B4B-8814-4678-A772-05BF9DD750A0}"/>
              </a:ext>
            </a:extLst>
          </p:cNvPr>
          <p:cNvSpPr>
            <a:spLocks noGrp="1" noRot="1" noChangeAspect="1" noChangeArrowheads="1" noTextEdit="1"/>
          </p:cNvSpPr>
          <p:nvPr>
            <p:ph type="sldImg"/>
          </p:nvPr>
        </p:nvSpPr>
        <p:spPr>
          <a:xfrm>
            <a:off x="381000" y="685800"/>
            <a:ext cx="6096000" cy="3429000"/>
          </a:xfrm>
          <a:ln/>
        </p:spPr>
      </p:sp>
      <p:sp>
        <p:nvSpPr>
          <p:cNvPr id="102404" name="Rectangle 3">
            <a:extLst>
              <a:ext uri="{FF2B5EF4-FFF2-40B4-BE49-F238E27FC236}">
                <a16:creationId xmlns:a16="http://schemas.microsoft.com/office/drawing/2014/main" id="{C4D7E6F6-096D-41DF-A16B-9BCBC5E982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0000"/>
              </a:lnSpc>
              <a:spcBef>
                <a:spcPct val="50000"/>
              </a:spcBef>
            </a:pPr>
            <a:r>
              <a:rPr kumimoji="1" lang="zh-CN" altLang="en-US" sz="1600" dirty="0">
                <a:latin typeface="楷体_GB2312" pitchFamily="49" charset="-122"/>
                <a:ea typeface="楷体_GB2312" pitchFamily="49" charset="-122"/>
              </a:rPr>
              <a:t>分子生物学的先驱们沿着三条思路去探讨生命的本质，并形成了</a:t>
            </a:r>
            <a:r>
              <a:rPr kumimoji="1" lang="zh-CN" altLang="en-US" sz="1600" b="1" dirty="0">
                <a:latin typeface="楷体_GB2312" pitchFamily="49" charset="-122"/>
                <a:ea typeface="楷体_GB2312" pitchFamily="49" charset="-122"/>
              </a:rPr>
              <a:t>三个学派： 结构学派、信息学派和生化遗传学派</a:t>
            </a:r>
            <a:r>
              <a:rPr kumimoji="1" lang="zh-CN" altLang="en-US" sz="1600" dirty="0">
                <a:latin typeface="楷体_GB2312" pitchFamily="49" charset="-122"/>
                <a:ea typeface="楷体_GB2312" pitchFamily="49" charset="-122"/>
              </a:rPr>
              <a:t>。 </a:t>
            </a:r>
            <a:endParaRPr kumimoji="1" lang="en-US" altLang="zh-CN" sz="1600" dirty="0">
              <a:latin typeface="楷体_GB2312" pitchFamily="49" charset="-122"/>
              <a:ea typeface="楷体_GB2312" pitchFamily="49" charset="-122"/>
            </a:endParaRPr>
          </a:p>
          <a:p>
            <a:pPr eaLnBrk="1" hangingPunct="1">
              <a:lnSpc>
                <a:spcPct val="120000"/>
              </a:lnSpc>
              <a:spcBef>
                <a:spcPct val="50000"/>
              </a:spcBef>
            </a:pPr>
            <a:r>
              <a:rPr kumimoji="1" lang="zh-CN" altLang="en-US" sz="1600" dirty="0">
                <a:latin typeface="楷体_GB2312" pitchFamily="49" charset="-122"/>
                <a:ea typeface="楷体_GB2312" pitchFamily="49" charset="-122"/>
              </a:rPr>
              <a:t>结构学派兴趣在于用</a:t>
            </a:r>
            <a:r>
              <a:rPr kumimoji="1" lang="en-US" altLang="zh-CN" sz="1600" dirty="0">
                <a:latin typeface="楷体_GB2312" pitchFamily="49" charset="-122"/>
                <a:ea typeface="楷体_GB2312" pitchFamily="49" charset="-122"/>
              </a:rPr>
              <a:t>X</a:t>
            </a:r>
            <a:r>
              <a:rPr kumimoji="1" lang="zh-CN" altLang="en-US" sz="1600" dirty="0">
                <a:latin typeface="楷体_GB2312" pitchFamily="49" charset="-122"/>
                <a:ea typeface="楷体_GB2312" pitchFamily="49" charset="-122"/>
              </a:rPr>
              <a:t>射线晶体学技术研究生物大分子的三维结构。 </a:t>
            </a:r>
            <a:endParaRPr kumimoji="1" lang="en-US" altLang="zh-CN" sz="1600" dirty="0">
              <a:latin typeface="楷体_GB2312" pitchFamily="49" charset="-122"/>
              <a:ea typeface="楷体_GB2312" pitchFamily="49" charset="-122"/>
            </a:endParaRPr>
          </a:p>
          <a:p>
            <a:pPr eaLnBrk="1" hangingPunct="1">
              <a:lnSpc>
                <a:spcPct val="120000"/>
              </a:lnSpc>
              <a:spcBef>
                <a:spcPct val="50000"/>
              </a:spcBef>
            </a:pPr>
            <a:r>
              <a:rPr kumimoji="1" lang="zh-CN" altLang="en-US" sz="1600" dirty="0">
                <a:latin typeface="楷体_GB2312" pitchFamily="49" charset="-122"/>
                <a:ea typeface="楷体_GB2312" pitchFamily="49" charset="-122"/>
              </a:rPr>
              <a:t>信息学派以“噬菌体小组”为代表，深受量子论的影响。</a:t>
            </a:r>
            <a:r>
              <a:rPr kumimoji="1" lang="en-US" altLang="zh-CN" sz="1600" dirty="0">
                <a:latin typeface="楷体_GB2312" pitchFamily="49" charset="-122"/>
                <a:ea typeface="楷体_GB2312" pitchFamily="49" charset="-122"/>
              </a:rPr>
              <a:t>Watson</a:t>
            </a:r>
            <a:r>
              <a:rPr kumimoji="1" lang="zh-CN" altLang="en-US" sz="1600" dirty="0">
                <a:latin typeface="楷体_GB2312" pitchFamily="49" charset="-122"/>
                <a:ea typeface="楷体_GB2312" pitchFamily="49" charset="-122"/>
              </a:rPr>
              <a:t>是噬菌体小组中最年轻的成员，</a:t>
            </a:r>
            <a:r>
              <a:rPr kumimoji="1" lang="en-US" altLang="zh-CN" sz="1600" dirty="0">
                <a:latin typeface="楷体_GB2312" pitchFamily="49" charset="-122"/>
                <a:ea typeface="楷体_GB2312" pitchFamily="49" charset="-122"/>
              </a:rPr>
              <a:t>1950</a:t>
            </a:r>
            <a:r>
              <a:rPr kumimoji="1" lang="zh-CN" altLang="en-US" sz="1600" dirty="0">
                <a:latin typeface="楷体_GB2312" pitchFamily="49" charset="-122"/>
                <a:ea typeface="楷体_GB2312" pitchFamily="49" charset="-122"/>
              </a:rPr>
              <a:t>年</a:t>
            </a:r>
            <a:r>
              <a:rPr kumimoji="1" lang="en-US" altLang="zh-CN" sz="1600" dirty="0">
                <a:latin typeface="楷体_GB2312" pitchFamily="49" charset="-122"/>
                <a:ea typeface="楷体_GB2312" pitchFamily="49" charset="-122"/>
              </a:rPr>
              <a:t>22</a:t>
            </a:r>
            <a:r>
              <a:rPr kumimoji="1" lang="zh-CN" altLang="en-US" sz="1600" dirty="0">
                <a:latin typeface="楷体_GB2312" pitchFamily="49" charset="-122"/>
                <a:ea typeface="楷体_GB2312" pitchFamily="49" charset="-122"/>
              </a:rPr>
              <a:t>岁时获博士学位。 </a:t>
            </a:r>
            <a:endParaRPr kumimoji="1" lang="en-US" altLang="zh-CN" sz="1600" dirty="0">
              <a:latin typeface="楷体_GB2312" pitchFamily="49" charset="-122"/>
              <a:ea typeface="楷体_GB2312" pitchFamily="49" charset="-122"/>
            </a:endParaRPr>
          </a:p>
          <a:p>
            <a:pPr eaLnBrk="1" hangingPunct="1">
              <a:lnSpc>
                <a:spcPct val="120000"/>
              </a:lnSpc>
              <a:spcBef>
                <a:spcPct val="50000"/>
              </a:spcBef>
            </a:pPr>
            <a:endParaRPr kumimoji="1" lang="zh-CN" altLang="en-US" sz="1600" dirty="0">
              <a:latin typeface="楷体_GB2312" pitchFamily="49" charset="-122"/>
              <a:ea typeface="楷体_GB2312" pitchFamily="49" charset="-122"/>
            </a:endParaRPr>
          </a:p>
          <a:p>
            <a:pPr eaLnBrk="1" hangingPunct="1">
              <a:lnSpc>
                <a:spcPct val="120000"/>
              </a:lnSpc>
              <a:spcBef>
                <a:spcPct val="50000"/>
              </a:spcBef>
            </a:pPr>
            <a:r>
              <a:rPr kumimoji="1" lang="en-US" altLang="zh-CN" sz="1600" dirty="0">
                <a:latin typeface="楷体_GB2312" pitchFamily="49" charset="-122"/>
                <a:ea typeface="楷体_GB2312" pitchFamily="49" charset="-122"/>
              </a:rPr>
              <a:t>1951</a:t>
            </a:r>
            <a:r>
              <a:rPr kumimoji="1" lang="zh-CN" altLang="en-US" sz="1600" dirty="0">
                <a:latin typeface="楷体_GB2312" pitchFamily="49" charset="-122"/>
                <a:ea typeface="楷体_GB2312" pitchFamily="49" charset="-122"/>
              </a:rPr>
              <a:t>年，</a:t>
            </a:r>
            <a:r>
              <a:rPr kumimoji="1" lang="en-US" altLang="zh-CN" sz="1600" dirty="0">
                <a:latin typeface="楷体_GB2312" pitchFamily="49" charset="-122"/>
                <a:ea typeface="楷体_GB2312" pitchFamily="49" charset="-122"/>
              </a:rPr>
              <a:t>23</a:t>
            </a:r>
            <a:r>
              <a:rPr kumimoji="1" lang="zh-CN" altLang="en-US" sz="1600" dirty="0">
                <a:latin typeface="楷体_GB2312" pitchFamily="49" charset="-122"/>
                <a:ea typeface="楷体_GB2312" pitchFamily="49" charset="-122"/>
              </a:rPr>
              <a:t>岁的沃森来到英国剑桥著名的卡文迪什实验室，在那里遇到了大他</a:t>
            </a:r>
            <a:r>
              <a:rPr kumimoji="1" lang="en-US" altLang="zh-CN" sz="1600" dirty="0">
                <a:latin typeface="楷体_GB2312" pitchFamily="49" charset="-122"/>
                <a:ea typeface="楷体_GB2312" pitchFamily="49" charset="-122"/>
              </a:rPr>
              <a:t>12</a:t>
            </a:r>
            <a:r>
              <a:rPr kumimoji="1" lang="zh-CN" altLang="en-US" sz="1600" dirty="0">
                <a:latin typeface="楷体_GB2312" pitchFamily="49" charset="-122"/>
                <a:ea typeface="楷体_GB2312" pitchFamily="49" charset="-122"/>
              </a:rPr>
              <a:t>岁的克里克，开始了现代生物学史上最动人心弦的合作。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031">
            <a:extLst>
              <a:ext uri="{FF2B5EF4-FFF2-40B4-BE49-F238E27FC236}">
                <a16:creationId xmlns:a16="http://schemas.microsoft.com/office/drawing/2014/main" id="{C4CFDD54-D103-4381-8A04-A09789532A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F6B2234-93BD-4E51-B869-989756031808}" type="slidenum">
              <a:rPr lang="en-US" altLang="zh-CN" smtClean="0"/>
              <a:pPr>
                <a:spcBef>
                  <a:spcPct val="0"/>
                </a:spcBef>
              </a:pPr>
              <a:t>33</a:t>
            </a:fld>
            <a:endParaRPr lang="en-US" altLang="zh-CN"/>
          </a:p>
        </p:txBody>
      </p:sp>
      <p:sp>
        <p:nvSpPr>
          <p:cNvPr id="104451" name="Rectangle 2">
            <a:extLst>
              <a:ext uri="{FF2B5EF4-FFF2-40B4-BE49-F238E27FC236}">
                <a16:creationId xmlns:a16="http://schemas.microsoft.com/office/drawing/2014/main" id="{304F06D0-5F35-469E-B852-11FC3FB12E8E}"/>
              </a:ext>
            </a:extLst>
          </p:cNvPr>
          <p:cNvSpPr>
            <a:spLocks noGrp="1" noRot="1" noChangeAspect="1" noChangeArrowheads="1" noTextEdit="1"/>
          </p:cNvSpPr>
          <p:nvPr>
            <p:ph type="sldImg"/>
          </p:nvPr>
        </p:nvSpPr>
        <p:spPr>
          <a:xfrm>
            <a:off x="381000" y="685800"/>
            <a:ext cx="6096000" cy="3429000"/>
          </a:xfrm>
          <a:ln/>
        </p:spPr>
      </p:sp>
      <p:sp>
        <p:nvSpPr>
          <p:cNvPr id="104452" name="Rectangle 3">
            <a:extLst>
              <a:ext uri="{FF2B5EF4-FFF2-40B4-BE49-F238E27FC236}">
                <a16:creationId xmlns:a16="http://schemas.microsoft.com/office/drawing/2014/main" id="{DC203A69-A12A-412A-BCD2-6D52D20FC4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b="1" dirty="0"/>
              <a:t>Chargaff</a:t>
            </a:r>
            <a:r>
              <a:rPr lang="zh-CN" altLang="en-US" b="1" dirty="0"/>
              <a:t>规则的提示： </a:t>
            </a:r>
            <a:r>
              <a:rPr lang="en-US" altLang="zh-CN" b="0" dirty="0"/>
              <a:t>A</a:t>
            </a:r>
            <a:r>
              <a:rPr lang="zh-CN" altLang="en-US" b="0" dirty="0"/>
              <a:t>与</a:t>
            </a:r>
            <a:r>
              <a:rPr lang="en-US" altLang="zh-CN" b="0" dirty="0"/>
              <a:t>T</a:t>
            </a:r>
            <a:r>
              <a:rPr lang="zh-CN" altLang="en-US" b="0" dirty="0"/>
              <a:t>， </a:t>
            </a:r>
            <a:r>
              <a:rPr lang="en-US" altLang="zh-CN" b="0" dirty="0"/>
              <a:t>G</a:t>
            </a:r>
            <a:r>
              <a:rPr lang="zh-CN" altLang="en-US" b="0" dirty="0"/>
              <a:t>与</a:t>
            </a:r>
            <a:r>
              <a:rPr lang="en-US" altLang="zh-CN" b="0" dirty="0"/>
              <a:t>C</a:t>
            </a:r>
            <a:r>
              <a:rPr lang="zh-CN" altLang="en-US" b="0" dirty="0"/>
              <a:t>互补配对； 不同生物的碱基组成不同，提示</a:t>
            </a:r>
            <a:r>
              <a:rPr lang="en-US" altLang="zh-CN" b="0" dirty="0"/>
              <a:t>DNA</a:t>
            </a:r>
            <a:r>
              <a:rPr lang="zh-CN" altLang="en-US" b="0" dirty="0"/>
              <a:t>而不是蛋白质可能是遗传物质。</a:t>
            </a:r>
          </a:p>
          <a:p>
            <a:pPr eaLnBrk="1" hangingPunct="1"/>
            <a:endParaRPr lang="en-US" altLang="zh-CN" b="1" dirty="0"/>
          </a:p>
          <a:p>
            <a:pPr eaLnBrk="1" hangingPunct="1"/>
            <a:r>
              <a:rPr lang="en-US" altLang="zh-CN" b="1" dirty="0"/>
              <a:t>Sea urchin </a:t>
            </a:r>
            <a:r>
              <a:rPr lang="zh-CN" altLang="en-US" b="1" dirty="0"/>
              <a:t>海胆  </a:t>
            </a:r>
            <a:r>
              <a:rPr lang="en-US" altLang="zh-CN" b="1" dirty="0"/>
              <a:t>Herring </a:t>
            </a:r>
            <a:r>
              <a:rPr lang="zh-CN" altLang="en-US" b="1" dirty="0"/>
              <a:t>青鱼、鲱    </a:t>
            </a:r>
            <a:endParaRPr lang="en-US" altLang="zh-CN" b="1" dirty="0"/>
          </a:p>
          <a:p>
            <a:pPr eaLnBrk="1" hangingPunct="1"/>
            <a:r>
              <a:rPr lang="en-US" altLang="zh-CN" dirty="0"/>
              <a:t>40</a:t>
            </a:r>
            <a:r>
              <a:rPr lang="zh-CN" altLang="en-US" dirty="0"/>
              <a:t>年代后期</a:t>
            </a:r>
            <a:r>
              <a:rPr lang="en-US" altLang="zh-CN" dirty="0"/>
              <a:t>Chargaff</a:t>
            </a:r>
            <a:r>
              <a:rPr lang="zh-CN" altLang="en-US" dirty="0"/>
              <a:t>应用紫外分光光度法结合纸层析等简单技术，对多种生物</a:t>
            </a:r>
            <a:r>
              <a:rPr lang="en-US" altLang="zh-CN" dirty="0"/>
              <a:t>DNA</a:t>
            </a:r>
            <a:r>
              <a:rPr lang="zh-CN" altLang="en-US" dirty="0"/>
              <a:t>作碱基定量分析，发现</a:t>
            </a:r>
            <a:r>
              <a:rPr lang="en-US" altLang="zh-CN" dirty="0"/>
              <a:t>DNA</a:t>
            </a:r>
            <a:r>
              <a:rPr lang="zh-CN" altLang="en-US" dirty="0"/>
              <a:t>碱基组成的若干规律</a:t>
            </a:r>
            <a:endParaRPr lang="en-US" altLang="zh-CN" dirty="0"/>
          </a:p>
          <a:p>
            <a:pPr eaLnBrk="1" hangingPunct="1"/>
            <a:endParaRPr lang="en-US" altLang="zh-CN" b="1" dirty="0"/>
          </a:p>
          <a:p>
            <a:pPr eaLnBrk="1" hangingPunct="1"/>
            <a:r>
              <a:rPr lang="en-US" altLang="zh-CN" dirty="0"/>
              <a:t>40</a:t>
            </a:r>
            <a:r>
              <a:rPr lang="zh-CN" altLang="en-US" dirty="0"/>
              <a:t>年代末，</a:t>
            </a:r>
            <a:r>
              <a:rPr lang="en-US" altLang="zh-CN" dirty="0"/>
              <a:t>Avery</a:t>
            </a:r>
            <a:r>
              <a:rPr lang="zh-CN" altLang="en-US" dirty="0"/>
              <a:t>（</a:t>
            </a:r>
            <a:r>
              <a:rPr lang="en-US" altLang="zh-CN" dirty="0"/>
              <a:t>1944</a:t>
            </a:r>
            <a:r>
              <a:rPr lang="zh-CN" altLang="en-US" dirty="0"/>
              <a:t>）</a:t>
            </a:r>
            <a:r>
              <a:rPr lang="en-US" altLang="zh-CN" dirty="0"/>
              <a:t>, </a:t>
            </a:r>
            <a:r>
              <a:rPr lang="en-US" altLang="zh-CN" b="1" dirty="0"/>
              <a:t>Hershey</a:t>
            </a:r>
            <a:r>
              <a:rPr lang="zh-CN" altLang="en-US" b="1" dirty="0"/>
              <a:t>和</a:t>
            </a:r>
            <a:r>
              <a:rPr lang="en-US" altLang="zh-CN" b="1" dirty="0"/>
              <a:t>Chase</a:t>
            </a:r>
            <a:r>
              <a:rPr lang="zh-CN" altLang="en-US" b="1" dirty="0"/>
              <a:t>的实验（</a:t>
            </a:r>
            <a:r>
              <a:rPr lang="en-US" altLang="zh-CN" b="1" dirty="0"/>
              <a:t>1952</a:t>
            </a:r>
            <a:r>
              <a:rPr lang="zh-CN" altLang="en-US" b="1" dirty="0"/>
              <a:t>）严密地证实了</a:t>
            </a:r>
            <a:r>
              <a:rPr lang="en-US" altLang="zh-CN" b="1" dirty="0"/>
              <a:t>DNA</a:t>
            </a:r>
            <a:r>
              <a:rPr lang="zh-CN" altLang="en-US" b="1" dirty="0"/>
              <a:t>是遗传物质</a:t>
            </a:r>
            <a:r>
              <a:rPr lang="zh-CN" altLang="en-US" dirty="0"/>
              <a:t>；</a:t>
            </a:r>
            <a:endParaRPr lang="en-US" altLang="zh-CN" dirty="0"/>
          </a:p>
          <a:p>
            <a:pPr eaLnBrk="1" hangingPunct="1"/>
            <a:r>
              <a:rPr lang="en-US" altLang="zh-CN" dirty="0"/>
              <a:t>He became interested in DNA in 1944 after Oswald Avery identified the molecule as the basis of heredity.  In 1950, he discovered that the amounts of adenine and thymine in DNA were roughly the same, as were the amounts of cytosine and guanine.  This later became known as the first of Chargaff's rules</a:t>
            </a:r>
          </a:p>
          <a:p>
            <a:pPr eaLnBrk="1" hangingPunct="1"/>
            <a:r>
              <a:rPr lang="en-US" altLang="zh-CN" dirty="0"/>
              <a:t>Chargaff met Francis Crick and James D. Watson at Cambridge in 1952, and, despite not getting along with them personally, he explained his findings to them. Chargaff's research would later help the Watson and Crick laboratory team to deduce the double helical structure of DNA.</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1031">
            <a:extLst>
              <a:ext uri="{FF2B5EF4-FFF2-40B4-BE49-F238E27FC236}">
                <a16:creationId xmlns:a16="http://schemas.microsoft.com/office/drawing/2014/main" id="{02894A78-6380-41F0-A048-34984E209D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B69533D-0D2D-4716-A310-07E812FE9994}" type="slidenum">
              <a:rPr lang="en-US" altLang="zh-CN" smtClean="0"/>
              <a:pPr>
                <a:spcBef>
                  <a:spcPct val="0"/>
                </a:spcBef>
              </a:pPr>
              <a:t>34</a:t>
            </a:fld>
            <a:endParaRPr lang="en-US" altLang="zh-CN"/>
          </a:p>
        </p:txBody>
      </p:sp>
      <p:sp>
        <p:nvSpPr>
          <p:cNvPr id="109571" name="Rectangle 2">
            <a:extLst>
              <a:ext uri="{FF2B5EF4-FFF2-40B4-BE49-F238E27FC236}">
                <a16:creationId xmlns:a16="http://schemas.microsoft.com/office/drawing/2014/main" id="{6A5A6877-9F66-4520-8F7C-26A808663D0B}"/>
              </a:ext>
            </a:extLst>
          </p:cNvPr>
          <p:cNvSpPr>
            <a:spLocks noGrp="1" noRot="1" noChangeAspect="1" noChangeArrowheads="1" noTextEdit="1"/>
          </p:cNvSpPr>
          <p:nvPr>
            <p:ph type="sldImg"/>
          </p:nvPr>
        </p:nvSpPr>
        <p:spPr>
          <a:xfrm>
            <a:off x="381000" y="685800"/>
            <a:ext cx="6096000" cy="3429000"/>
          </a:xfrm>
          <a:ln/>
        </p:spPr>
      </p:sp>
      <p:sp>
        <p:nvSpPr>
          <p:cNvPr id="109572" name="Rectangle 3">
            <a:extLst>
              <a:ext uri="{FF2B5EF4-FFF2-40B4-BE49-F238E27FC236}">
                <a16:creationId xmlns:a16="http://schemas.microsoft.com/office/drawing/2014/main" id="{0A222BD4-0B71-40B9-A098-BE453F9D41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dirty="0">
                <a:solidFill>
                  <a:srgbClr val="000099"/>
                </a:solidFill>
              </a:rPr>
              <a:t>高质量的</a:t>
            </a:r>
            <a:r>
              <a:rPr kumimoji="1" lang="en-US" altLang="zh-CN" dirty="0">
                <a:solidFill>
                  <a:srgbClr val="000099"/>
                </a:solidFill>
              </a:rPr>
              <a:t>DNA</a:t>
            </a:r>
            <a:r>
              <a:rPr kumimoji="1" lang="zh-CN" altLang="en-US" dirty="0">
                <a:solidFill>
                  <a:srgbClr val="000099"/>
                </a:solidFill>
              </a:rPr>
              <a:t>分子的</a:t>
            </a:r>
            <a:r>
              <a:rPr kumimoji="1" lang="en-US" altLang="zh-CN" dirty="0">
                <a:solidFill>
                  <a:srgbClr val="000099"/>
                </a:solidFill>
              </a:rPr>
              <a:t>X</a:t>
            </a:r>
            <a:r>
              <a:rPr kumimoji="1" lang="zh-CN" altLang="en-US" dirty="0">
                <a:solidFill>
                  <a:srgbClr val="000099"/>
                </a:solidFill>
              </a:rPr>
              <a:t>射线衍射照片。 </a:t>
            </a:r>
            <a:r>
              <a:rPr kumimoji="1" lang="en-US" altLang="zh-CN" b="1" dirty="0">
                <a:solidFill>
                  <a:srgbClr val="000099"/>
                </a:solidFill>
              </a:rPr>
              <a:t>The spots forming across in the center denote a helical structure. </a:t>
            </a:r>
            <a:r>
              <a:rPr kumimoji="1" lang="en-US" altLang="zh-CN" dirty="0">
                <a:solidFill>
                  <a:srgbClr val="000099"/>
                </a:solidFill>
              </a:rPr>
              <a:t>The heavy bands at the left and right arise from the recurring bases.</a:t>
            </a:r>
            <a:r>
              <a:rPr kumimoji="1" lang="zh-CN" altLang="en-US" dirty="0">
                <a:solidFill>
                  <a:srgbClr val="000099"/>
                </a:solidFill>
              </a:rPr>
              <a:t>  </a:t>
            </a:r>
            <a:endParaRPr kumimoji="1" lang="en-US" altLang="zh-CN" dirty="0">
              <a:solidFill>
                <a:srgbClr val="000099"/>
              </a:solidFill>
            </a:endParaRPr>
          </a:p>
          <a:p>
            <a:pPr eaLnBrk="1" hangingPunct="1"/>
            <a:endParaRPr kumimoji="1" lang="en-US" altLang="zh-CN" dirty="0">
              <a:solidFill>
                <a:srgbClr val="000099"/>
              </a:solidFill>
            </a:endParaRPr>
          </a:p>
          <a:p>
            <a:pPr eaLnBrk="1" hangingPunct="1"/>
            <a:r>
              <a:rPr lang="en-US" altLang="zh-CN" b="1" dirty="0"/>
              <a:t>Photograph 51 </a:t>
            </a:r>
            <a:r>
              <a:rPr lang="en-US" altLang="zh-CN" dirty="0"/>
              <a:t>is the nickname given to an X-ray diffraction image of DNA taken by Raymond Gosling </a:t>
            </a:r>
            <a:r>
              <a:rPr lang="en-US" altLang="zh-CN" b="1" dirty="0"/>
              <a:t>in May 1952, </a:t>
            </a:r>
            <a:r>
              <a:rPr lang="en-US" altLang="zh-CN" dirty="0"/>
              <a:t>working as a PhD student under the supervision of Rosalind Franklin at King‘s College London</a:t>
            </a:r>
            <a:r>
              <a:rPr lang="zh-CN" altLang="en-US" dirty="0"/>
              <a:t>（</a:t>
            </a:r>
            <a:r>
              <a:rPr kumimoji="1" lang="zh-CN" altLang="en-US" dirty="0">
                <a:solidFill>
                  <a:srgbClr val="000099"/>
                </a:solidFill>
              </a:rPr>
              <a:t>国王学院）</a:t>
            </a:r>
            <a:r>
              <a:rPr lang="en-US" altLang="zh-CN" dirty="0"/>
              <a:t>in Sir John Randall’s group. It was </a:t>
            </a:r>
            <a:r>
              <a:rPr lang="en-US" altLang="zh-CN" b="1" dirty="0"/>
              <a:t>critical evidence in identifying the structure of DNA. </a:t>
            </a:r>
          </a:p>
          <a:p>
            <a:r>
              <a:rPr lang="en-US" altLang="zh-CN" dirty="0"/>
              <a:t>From this pattern it was deduced that DNA molecules are helical with two periodicities along their long axis, a primary one of 3.4 Å and a secondary one of 34 Å.</a:t>
            </a:r>
          </a:p>
          <a:p>
            <a:endParaRPr lang="en-US" altLang="zh-CN" dirty="0"/>
          </a:p>
          <a:p>
            <a:r>
              <a:rPr lang="en-US" altLang="zh-CN" b="1" dirty="0"/>
              <a:t>Franklin died in 1958 at the age of 37 of ovarian cancer.</a:t>
            </a:r>
          </a:p>
          <a:p>
            <a:endParaRPr lang="en-US" altLang="zh-CN" dirty="0"/>
          </a:p>
          <a:p>
            <a:r>
              <a:rPr lang="en-US" altLang="zh-CN" dirty="0"/>
              <a:t>Watson suggested that Franklin would have ideally been awarded a Nobel Prize in Chemistry, along with Wilkins, but the Nobel Committee does not make posthumous nominations.</a:t>
            </a:r>
          </a:p>
          <a:p>
            <a:endParaRPr lang="en-US" altLang="zh-CN" dirty="0"/>
          </a:p>
          <a:p>
            <a:r>
              <a:rPr lang="en-US" altLang="zh-CN" dirty="0"/>
              <a:t>After finishing her work on DNA, Franklin led pioneering work at Birkbeck on the molecular structures of viruses. Her team member Aaron Klug continued her research, winning the Nobel Prize in Chemistry in 1982.</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031">
            <a:extLst>
              <a:ext uri="{FF2B5EF4-FFF2-40B4-BE49-F238E27FC236}">
                <a16:creationId xmlns:a16="http://schemas.microsoft.com/office/drawing/2014/main" id="{A1AA6688-E02B-4A45-89AE-A6162F187F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8637C9C-3926-4372-B126-980C13670D31}" type="slidenum">
              <a:rPr lang="en-US" altLang="zh-CN" smtClean="0"/>
              <a:pPr>
                <a:spcBef>
                  <a:spcPct val="0"/>
                </a:spcBef>
              </a:pPr>
              <a:t>35</a:t>
            </a:fld>
            <a:endParaRPr lang="en-US" altLang="zh-CN"/>
          </a:p>
        </p:txBody>
      </p:sp>
      <p:sp>
        <p:nvSpPr>
          <p:cNvPr id="111619" name="Rectangle 2">
            <a:extLst>
              <a:ext uri="{FF2B5EF4-FFF2-40B4-BE49-F238E27FC236}">
                <a16:creationId xmlns:a16="http://schemas.microsoft.com/office/drawing/2014/main" id="{B4C1662E-92FA-4B5F-BA89-373EFC3CAF6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96260" name="Rectangle 3">
            <a:extLst>
              <a:ext uri="{FF2B5EF4-FFF2-40B4-BE49-F238E27FC236}">
                <a16:creationId xmlns:a16="http://schemas.microsoft.com/office/drawing/2014/main" id="{FCC54F02-8635-4E53-A7BB-EC6406F2D76E}"/>
              </a:ext>
            </a:extLst>
          </p:cNvPr>
          <p:cNvSpPr>
            <a:spLocks noGrp="1" noChangeArrowheads="1"/>
          </p:cNvSpPr>
          <p:nvPr>
            <p:ph type="body" idx="1"/>
          </p:nvPr>
        </p:nvSpPr>
        <p:spPr>
          <a:solidFill>
            <a:srgbClr val="FFFFFF"/>
          </a:solidFill>
          <a:ln>
            <a:solidFill>
              <a:srgbClr val="000000"/>
            </a:solidFill>
          </a:ln>
        </p:spPr>
        <p:txBody>
          <a:bodyPr/>
          <a:lstStyle/>
          <a:p>
            <a:pPr marL="228600" indent="-228600" eaLnBrk="1" hangingPunct="1">
              <a:defRPr/>
            </a:pPr>
            <a:r>
              <a:rPr lang="en-US" altLang="zh-CN" dirty="0"/>
              <a:t>1953</a:t>
            </a:r>
            <a:r>
              <a:rPr lang="zh-CN" altLang="en-US" dirty="0">
                <a:latin typeface="宋体" panose="02010600030101010101" pitchFamily="2" charset="-122"/>
              </a:rPr>
              <a:t>年</a:t>
            </a:r>
            <a:r>
              <a:rPr lang="en-US" altLang="zh-CN" dirty="0"/>
              <a:t>Watson</a:t>
            </a:r>
            <a:r>
              <a:rPr lang="zh-CN" altLang="en-US" dirty="0">
                <a:latin typeface="宋体" panose="02010600030101010101" pitchFamily="2" charset="-122"/>
              </a:rPr>
              <a:t>和</a:t>
            </a:r>
            <a:r>
              <a:rPr lang="en-US" altLang="zh-CN" dirty="0"/>
              <a:t>Crick</a:t>
            </a:r>
            <a:r>
              <a:rPr lang="zh-CN" altLang="en-US" dirty="0">
                <a:latin typeface="宋体" panose="02010600030101010101" pitchFamily="2" charset="-122"/>
              </a:rPr>
              <a:t>创立的</a:t>
            </a:r>
            <a:r>
              <a:rPr lang="en-US" altLang="zh-CN" dirty="0"/>
              <a:t>DNA</a:t>
            </a:r>
            <a:r>
              <a:rPr lang="zh-CN" altLang="en-US" dirty="0">
                <a:latin typeface="宋体" panose="02010600030101010101" pitchFamily="2" charset="-122"/>
              </a:rPr>
              <a:t>双螺旋结构模型，</a:t>
            </a:r>
            <a:r>
              <a:rPr lang="zh-CN" altLang="en-US" b="1" dirty="0">
                <a:latin typeface="宋体" panose="02010600030101010101" pitchFamily="2" charset="-122"/>
              </a:rPr>
              <a:t>说清了基因的结构、信息与功能三者之间的关系</a:t>
            </a:r>
            <a:r>
              <a:rPr lang="zh-CN" altLang="en-US" dirty="0">
                <a:latin typeface="宋体" panose="02010600030101010101" pitchFamily="2" charset="-122"/>
              </a:rPr>
              <a:t>，使三个学派得到统一，推动了分子生物学的迅猛进展。  </a:t>
            </a:r>
            <a:endParaRPr lang="en-US" altLang="zh-CN" dirty="0">
              <a:latin typeface="宋体" panose="02010600030101010101" pitchFamily="2" charset="-122"/>
            </a:endParaRPr>
          </a:p>
          <a:p>
            <a:pPr eaLnBrk="1" hangingPunct="1">
              <a:spcBef>
                <a:spcPts val="0"/>
              </a:spcBef>
              <a:defRPr/>
            </a:pPr>
            <a:r>
              <a:rPr lang="zh-CN" altLang="en-US" dirty="0">
                <a:latin typeface="宋体" panose="02010600030101010101" pitchFamily="2" charset="-122"/>
              </a:rPr>
              <a:t>这个结构不仅阐明了</a:t>
            </a:r>
            <a:r>
              <a:rPr lang="en-US" altLang="zh-CN" dirty="0"/>
              <a:t>DNA</a:t>
            </a:r>
            <a:r>
              <a:rPr lang="zh-CN" altLang="en-US" dirty="0">
                <a:latin typeface="宋体" panose="02010600030101010101" pitchFamily="2" charset="-122"/>
              </a:rPr>
              <a:t>分子的结构特征，而且预示了</a:t>
            </a:r>
            <a:r>
              <a:rPr lang="en-US" altLang="zh-CN" dirty="0"/>
              <a:t>DNA</a:t>
            </a:r>
            <a:r>
              <a:rPr lang="zh-CN" altLang="en-US" dirty="0">
                <a:latin typeface="宋体" panose="02010600030101010101" pitchFamily="2" charset="-122"/>
              </a:rPr>
              <a:t>作为执行生物遗传功能的分子，从亲代到子代的</a:t>
            </a:r>
            <a:r>
              <a:rPr lang="en-US" altLang="zh-CN" dirty="0"/>
              <a:t>DNA</a:t>
            </a:r>
            <a:r>
              <a:rPr lang="zh-CN" altLang="en-US" dirty="0">
                <a:latin typeface="宋体" panose="02010600030101010101" pitchFamily="2" charset="-122"/>
              </a:rPr>
              <a:t>复制</a:t>
            </a:r>
            <a:r>
              <a:rPr lang="en-US" altLang="zh-CN" dirty="0"/>
              <a:t>(replication)</a:t>
            </a:r>
            <a:r>
              <a:rPr lang="zh-CN" altLang="en-US" dirty="0">
                <a:latin typeface="宋体" panose="02010600030101010101" pitchFamily="2" charset="-122"/>
              </a:rPr>
              <a:t>过程，遗传信息的传递方式及高度保真性，为遗传学进入分子水平奠定了基础，成为现代分子生物学发展史上最为辉煌的里程碑。</a:t>
            </a:r>
            <a:r>
              <a:rPr lang="zh-CN" altLang="en-US" dirty="0"/>
              <a:t> </a:t>
            </a:r>
          </a:p>
          <a:p>
            <a:pPr marL="228600" indent="-228600" eaLnBrk="1" hangingPunct="1">
              <a:defRPr/>
            </a:pPr>
            <a:endParaRPr lang="en-US"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1031">
            <a:extLst>
              <a:ext uri="{FF2B5EF4-FFF2-40B4-BE49-F238E27FC236}">
                <a16:creationId xmlns:a16="http://schemas.microsoft.com/office/drawing/2014/main" id="{A0E868C5-0466-465C-A83C-E63E43E388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80DD0C4-DEAE-4DCC-963C-F154F57A849A}" type="slidenum">
              <a:rPr lang="en-US" altLang="zh-CN" smtClean="0"/>
              <a:pPr>
                <a:spcBef>
                  <a:spcPct val="0"/>
                </a:spcBef>
              </a:pPr>
              <a:t>36</a:t>
            </a:fld>
            <a:endParaRPr lang="en-US" altLang="zh-CN"/>
          </a:p>
        </p:txBody>
      </p:sp>
      <p:sp>
        <p:nvSpPr>
          <p:cNvPr id="113667" name="Rectangle 2">
            <a:extLst>
              <a:ext uri="{FF2B5EF4-FFF2-40B4-BE49-F238E27FC236}">
                <a16:creationId xmlns:a16="http://schemas.microsoft.com/office/drawing/2014/main" id="{B94163C7-4BF2-45B8-807A-A20E343CB882}"/>
              </a:ext>
            </a:extLst>
          </p:cNvPr>
          <p:cNvSpPr>
            <a:spLocks noGrp="1" noRot="1" noChangeAspect="1" noChangeArrowheads="1" noTextEdit="1"/>
          </p:cNvSpPr>
          <p:nvPr>
            <p:ph type="sldImg"/>
          </p:nvPr>
        </p:nvSpPr>
        <p:spPr>
          <a:xfrm>
            <a:off x="381000" y="685800"/>
            <a:ext cx="6096000" cy="3429000"/>
          </a:xfrm>
          <a:ln/>
        </p:spPr>
      </p:sp>
      <p:sp>
        <p:nvSpPr>
          <p:cNvPr id="113668" name="Rectangle 3">
            <a:extLst>
              <a:ext uri="{FF2B5EF4-FFF2-40B4-BE49-F238E27FC236}">
                <a16:creationId xmlns:a16="http://schemas.microsoft.com/office/drawing/2014/main" id="{0B0F4958-18DA-4A98-86F1-CCC712B006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z="1000" dirty="0">
                <a:latin typeface="楷体_GB2312" pitchFamily="49" charset="-122"/>
                <a:ea typeface="楷体_GB2312" pitchFamily="49" charset="-122"/>
              </a:rPr>
              <a:t>1953</a:t>
            </a:r>
            <a:r>
              <a:rPr lang="zh-CN" altLang="en-US" sz="1000" dirty="0">
                <a:latin typeface="楷体_GB2312" pitchFamily="49" charset="-122"/>
                <a:ea typeface="楷体_GB2312" pitchFamily="49" charset="-122"/>
              </a:rPr>
              <a:t>年</a:t>
            </a:r>
            <a:r>
              <a:rPr lang="en-US" altLang="zh-CN" sz="1000" dirty="0">
                <a:latin typeface="楷体_GB2312" pitchFamily="49" charset="-122"/>
                <a:ea typeface="楷体_GB2312" pitchFamily="49" charset="-122"/>
              </a:rPr>
              <a:t>4</a:t>
            </a:r>
            <a:r>
              <a:rPr lang="zh-CN" altLang="en-US" sz="1000" dirty="0">
                <a:latin typeface="楷体_GB2312" pitchFamily="49" charset="-122"/>
                <a:ea typeface="楷体_GB2312" pitchFamily="49" charset="-122"/>
              </a:rPr>
              <a:t>月</a:t>
            </a:r>
            <a:r>
              <a:rPr lang="en-US" altLang="zh-CN" sz="1000" dirty="0">
                <a:latin typeface="楷体_GB2312" pitchFamily="49" charset="-122"/>
                <a:ea typeface="楷体_GB2312" pitchFamily="49" charset="-122"/>
              </a:rPr>
              <a:t>25</a:t>
            </a:r>
            <a:r>
              <a:rPr lang="zh-CN" altLang="en-US" sz="1000" dirty="0">
                <a:latin typeface="楷体_GB2312" pitchFamily="49" charset="-122"/>
                <a:ea typeface="楷体_GB2312" pitchFamily="49" charset="-122"/>
              </a:rPr>
              <a:t>日的</a:t>
            </a:r>
            <a:r>
              <a:rPr lang="en-US" altLang="zh-CN" sz="1000" dirty="0">
                <a:latin typeface="楷体_GB2312" pitchFamily="49" charset="-122"/>
                <a:ea typeface="楷体_GB2312" pitchFamily="49" charset="-122"/>
              </a:rPr>
              <a:t>《</a:t>
            </a:r>
            <a:r>
              <a:rPr lang="zh-CN" altLang="en-US" sz="1000" dirty="0">
                <a:latin typeface="楷体_GB2312" pitchFamily="49" charset="-122"/>
                <a:ea typeface="楷体_GB2312" pitchFamily="49" charset="-122"/>
              </a:rPr>
              <a:t>自然</a:t>
            </a:r>
            <a:r>
              <a:rPr lang="en-US" altLang="zh-CN" sz="1000" dirty="0">
                <a:latin typeface="楷体_GB2312" pitchFamily="49" charset="-122"/>
                <a:ea typeface="楷体_GB2312" pitchFamily="49" charset="-122"/>
              </a:rPr>
              <a:t>》</a:t>
            </a:r>
            <a:r>
              <a:rPr lang="zh-CN" altLang="en-US" sz="1000" dirty="0">
                <a:latin typeface="楷体_GB2312" pitchFamily="49" charset="-122"/>
                <a:ea typeface="楷体_GB2312" pitchFamily="49" charset="-122"/>
              </a:rPr>
              <a:t>杂志中还配有威尔金斯和弗兰克林的两篇文章，以支持沃森和克里克的假说。</a:t>
            </a:r>
          </a:p>
          <a:p>
            <a:pPr eaLnBrk="1" hangingPunct="1"/>
            <a:endParaRPr lang="zh-CN" altLang="en-US" sz="1000" dirty="0">
              <a:latin typeface="楷体_GB2312" pitchFamily="49" charset="-122"/>
              <a:ea typeface="楷体_GB2312" pitchFamily="49" charset="-122"/>
            </a:endParaRPr>
          </a:p>
          <a:p>
            <a:pPr eaLnBrk="1" hangingPunct="1">
              <a:lnSpc>
                <a:spcPct val="130000"/>
              </a:lnSpc>
              <a:spcBef>
                <a:spcPct val="50000"/>
              </a:spcBef>
              <a:buClr>
                <a:schemeClr val="folHlink"/>
              </a:buClr>
              <a:buFont typeface="Wingdings" panose="05000000000000000000" pitchFamily="2" charset="2"/>
              <a:buNone/>
            </a:pPr>
            <a:endParaRPr kumimoji="1" lang="en-US" altLang="zh-CN" dirty="0"/>
          </a:p>
          <a:p>
            <a:pPr eaLnBrk="1" hangingPunct="1">
              <a:lnSpc>
                <a:spcPct val="130000"/>
              </a:lnSpc>
              <a:spcBef>
                <a:spcPct val="50000"/>
              </a:spcBef>
              <a:buClr>
                <a:schemeClr val="folHlink"/>
              </a:buClr>
              <a:buFont typeface="Wingdings" panose="05000000000000000000" pitchFamily="2" charset="2"/>
              <a:buNone/>
            </a:pPr>
            <a:r>
              <a:rPr kumimoji="1" lang="en-US" altLang="zh-CN" dirty="0"/>
              <a:t>1944</a:t>
            </a:r>
            <a:r>
              <a:rPr kumimoji="1" lang="zh-CN" altLang="en-US" dirty="0"/>
              <a:t>年，奥地利理论物理学家</a:t>
            </a:r>
            <a:r>
              <a:rPr kumimoji="1" lang="zh-CN" altLang="en-US" b="1" dirty="0"/>
              <a:t>薛定锷</a:t>
            </a:r>
            <a:r>
              <a:rPr kumimoji="1" lang="zh-CN" altLang="en-US" dirty="0"/>
              <a:t>（</a:t>
            </a:r>
            <a:r>
              <a:rPr kumimoji="1" lang="en-US" altLang="zh-CN" dirty="0"/>
              <a:t>Erwin </a:t>
            </a:r>
            <a:r>
              <a:rPr kumimoji="1" lang="en-US" altLang="zh-CN" dirty="0" err="1"/>
              <a:t>Schr</a:t>
            </a:r>
            <a:r>
              <a:rPr kumimoji="1" lang="en-US" altLang="zh-CN" dirty="0" err="1">
                <a:latin typeface="Arial" panose="020B0604020202020204" pitchFamily="34" charset="0"/>
              </a:rPr>
              <a:t>Ö</a:t>
            </a:r>
            <a:r>
              <a:rPr kumimoji="1" lang="en-US" altLang="zh-CN" dirty="0" err="1"/>
              <a:t>dinger</a:t>
            </a:r>
            <a:r>
              <a:rPr kumimoji="1" lang="zh-CN" altLang="en-US" dirty="0"/>
              <a:t>，</a:t>
            </a:r>
            <a:r>
              <a:rPr kumimoji="1" lang="en-US" altLang="zh-CN" dirty="0"/>
              <a:t>1887</a:t>
            </a:r>
            <a:r>
              <a:rPr kumimoji="1" lang="zh-CN" altLang="en-US" dirty="0"/>
              <a:t>－</a:t>
            </a:r>
            <a:r>
              <a:rPr kumimoji="1" lang="en-US" altLang="zh-CN" dirty="0"/>
              <a:t>1961</a:t>
            </a:r>
            <a:r>
              <a:rPr kumimoji="1" lang="zh-CN" altLang="en-US" dirty="0"/>
              <a:t>）写了一本研究生物学的书</a:t>
            </a:r>
            <a:r>
              <a:rPr kumimoji="1" lang="en-US" altLang="zh-CN" b="1" dirty="0"/>
              <a:t>《</a:t>
            </a:r>
            <a:r>
              <a:rPr kumimoji="1" lang="zh-CN" altLang="en-US" b="1" dirty="0"/>
              <a:t>生命是什么</a:t>
            </a:r>
            <a:r>
              <a:rPr kumimoji="1" lang="en-US" altLang="zh-CN" b="1" dirty="0">
                <a:latin typeface="Arial" panose="020B0604020202020204" pitchFamily="34" charset="0"/>
              </a:rPr>
              <a:t>——</a:t>
            </a:r>
            <a:r>
              <a:rPr kumimoji="1" lang="zh-CN" altLang="en-US" b="1" dirty="0"/>
              <a:t>活细胞的物理学观</a:t>
            </a:r>
            <a:r>
              <a:rPr kumimoji="1" lang="en-US" altLang="zh-CN" b="1" dirty="0"/>
              <a:t>》</a:t>
            </a:r>
            <a:r>
              <a:rPr kumimoji="1" lang="zh-CN" altLang="en-US" dirty="0"/>
              <a:t>，该书试图用热力学、量子力学和化学理论来解释生命的本质，引进了非周期性晶体、负熵、遗传密码、量子跃迁式的突变等概念。这本书使许多青年物理学家开始注意生命科学中提出的问题，引导人们用物理学、化学方法去研究生命的本性，使薛定谔成了今天蓬勃发展的分子生物学的先驱。</a:t>
            </a:r>
            <a:endParaRPr kumimoji="1" lang="en-US" altLang="zh-CN" dirty="0"/>
          </a:p>
          <a:p>
            <a:pPr eaLnBrk="1" hangingPunct="1">
              <a:lnSpc>
                <a:spcPct val="130000"/>
              </a:lnSpc>
              <a:spcBef>
                <a:spcPct val="50000"/>
              </a:spcBef>
              <a:buClr>
                <a:schemeClr val="folHlink"/>
              </a:buClr>
              <a:buFont typeface="Wingdings" panose="05000000000000000000" pitchFamily="2" charset="2"/>
              <a:buNone/>
            </a:pPr>
            <a:r>
              <a:rPr kumimoji="1" lang="zh-CN" altLang="en-US" dirty="0"/>
              <a:t>毕业于伦敦大学、曾专攻物理学的克里克（</a:t>
            </a:r>
            <a:r>
              <a:rPr kumimoji="1" lang="en-US" altLang="zh-CN" dirty="0"/>
              <a:t>Francis Crick</a:t>
            </a:r>
            <a:r>
              <a:rPr kumimoji="1" lang="zh-CN" altLang="en-US" dirty="0"/>
              <a:t>）像许多物理学家一样，在这本书的感召下，转向了生命科学研究。他来到英国剑桥的卡文迪什实验室进行研究，在那里，他遇到了从美国来的沃森（</a:t>
            </a:r>
            <a:r>
              <a:rPr kumimoji="1" lang="en-US" altLang="zh-CN" dirty="0"/>
              <a:t>James Watson</a:t>
            </a:r>
            <a:r>
              <a:rPr kumimoji="1" lang="zh-CN" altLang="en-US" dirty="0"/>
              <a:t>）。</a:t>
            </a:r>
            <a:endParaRPr kumimoji="1" lang="en-US" altLang="zh-CN" dirty="0"/>
          </a:p>
          <a:p>
            <a:pPr eaLnBrk="1" hangingPunct="1">
              <a:lnSpc>
                <a:spcPct val="130000"/>
              </a:lnSpc>
              <a:spcBef>
                <a:spcPct val="50000"/>
              </a:spcBef>
              <a:buClr>
                <a:schemeClr val="folHlink"/>
              </a:buClr>
              <a:buFont typeface="Wingdings" panose="05000000000000000000" pitchFamily="2" charset="2"/>
              <a:buNone/>
            </a:pPr>
            <a:endParaRPr kumimoji="1" lang="en-US" altLang="zh-CN" dirty="0"/>
          </a:p>
          <a:p>
            <a:pPr eaLnBrk="1" hangingPunct="1">
              <a:lnSpc>
                <a:spcPct val="130000"/>
              </a:lnSpc>
              <a:spcBef>
                <a:spcPct val="50000"/>
              </a:spcBef>
              <a:buClr>
                <a:schemeClr val="folHlink"/>
              </a:buClr>
              <a:buFont typeface="Wingdings" panose="05000000000000000000" pitchFamily="2" charset="2"/>
              <a:buNone/>
            </a:pPr>
            <a:r>
              <a:rPr kumimoji="1" lang="zh-CN" altLang="en-US" dirty="0"/>
              <a:t>这个时期，世界上研究</a:t>
            </a:r>
            <a:r>
              <a:rPr kumimoji="1" lang="en-US" altLang="zh-CN" dirty="0"/>
              <a:t>DNA</a:t>
            </a:r>
            <a:r>
              <a:rPr kumimoji="1" lang="zh-CN" altLang="en-US" dirty="0"/>
              <a:t>结构的科学家一共有</a:t>
            </a:r>
            <a:r>
              <a:rPr kumimoji="1" lang="en-US" altLang="zh-CN" dirty="0"/>
              <a:t>3</a:t>
            </a:r>
            <a:r>
              <a:rPr kumimoji="1" lang="zh-CN" altLang="en-US" dirty="0"/>
              <a:t>组：</a:t>
            </a:r>
            <a:endParaRPr kumimoji="1" lang="en-US" altLang="zh-CN" dirty="0"/>
          </a:p>
          <a:p>
            <a:pPr eaLnBrk="1" hangingPunct="1">
              <a:lnSpc>
                <a:spcPct val="130000"/>
              </a:lnSpc>
              <a:spcBef>
                <a:spcPct val="50000"/>
              </a:spcBef>
              <a:buClr>
                <a:schemeClr val="folHlink"/>
              </a:buClr>
              <a:buFont typeface="Wingdings" panose="05000000000000000000" pitchFamily="2" charset="2"/>
              <a:buNone/>
            </a:pPr>
            <a:r>
              <a:rPr kumimoji="1" lang="zh-CN" altLang="en-US" dirty="0"/>
              <a:t>第一支人马是伦敦大学的威尔金斯（</a:t>
            </a:r>
            <a:r>
              <a:rPr kumimoji="1" lang="en-US" altLang="zh-CN" dirty="0"/>
              <a:t>Maurice Wilkins</a:t>
            </a:r>
            <a:r>
              <a:rPr kumimoji="1" lang="zh-CN" altLang="en-US" dirty="0"/>
              <a:t>）所领导的小组，他们用</a:t>
            </a:r>
            <a:r>
              <a:rPr kumimoji="1" lang="en-US" altLang="zh-CN" dirty="0"/>
              <a:t>X</a:t>
            </a:r>
            <a:r>
              <a:rPr kumimoji="1" lang="zh-CN" altLang="en-US" dirty="0"/>
              <a:t>射线衍射技术研究</a:t>
            </a:r>
            <a:r>
              <a:rPr kumimoji="1" lang="en-US" altLang="zh-CN" dirty="0"/>
              <a:t>DNA</a:t>
            </a:r>
            <a:r>
              <a:rPr kumimoji="1" lang="zh-CN" altLang="en-US" dirty="0"/>
              <a:t>的分子结构。威尔金斯就用这种办法拍到了一张</a:t>
            </a:r>
            <a:r>
              <a:rPr kumimoji="1" lang="en-US" altLang="zh-CN" dirty="0"/>
              <a:t>DNA</a:t>
            </a:r>
            <a:r>
              <a:rPr kumimoji="1" lang="zh-CN" altLang="en-US" dirty="0"/>
              <a:t>晶体结构的照片，但并不是十分清楚，上面显现的是一片云状的圈圈点点。 他不敢妄下结论，只猜想</a:t>
            </a:r>
            <a:r>
              <a:rPr kumimoji="1" lang="en-US" altLang="zh-CN" dirty="0"/>
              <a:t>DNA</a:t>
            </a:r>
            <a:r>
              <a:rPr kumimoji="1" lang="zh-CN" altLang="en-US" dirty="0"/>
              <a:t>的结构大概是螺旋形的； </a:t>
            </a:r>
            <a:endParaRPr kumimoji="1" lang="en-US" altLang="zh-CN" dirty="0"/>
          </a:p>
          <a:p>
            <a:pPr eaLnBrk="1" hangingPunct="1">
              <a:lnSpc>
                <a:spcPct val="130000"/>
              </a:lnSpc>
              <a:spcBef>
                <a:spcPct val="50000"/>
              </a:spcBef>
              <a:buClr>
                <a:schemeClr val="folHlink"/>
              </a:buClr>
              <a:buFont typeface="Wingdings" panose="05000000000000000000" pitchFamily="2" charset="2"/>
              <a:buNone/>
            </a:pPr>
            <a:r>
              <a:rPr kumimoji="1" lang="zh-CN" altLang="en-US" dirty="0"/>
              <a:t>第二支人马是美国的结构化学权威鲍林（</a:t>
            </a:r>
            <a:r>
              <a:rPr kumimoji="1" lang="en-US" altLang="zh-CN" dirty="0"/>
              <a:t>Linus Pauling</a:t>
            </a:r>
            <a:r>
              <a:rPr kumimoji="1" lang="zh-CN" altLang="en-US" dirty="0"/>
              <a:t>，</a:t>
            </a:r>
            <a:r>
              <a:rPr kumimoji="1" lang="en-US" altLang="zh-CN" dirty="0"/>
              <a:t>1901</a:t>
            </a:r>
            <a:r>
              <a:rPr kumimoji="1" lang="zh-CN" altLang="en-US" dirty="0"/>
              <a:t>－</a:t>
            </a:r>
            <a:r>
              <a:rPr kumimoji="1" lang="en-US" altLang="zh-CN" dirty="0"/>
              <a:t>1994</a:t>
            </a:r>
            <a:r>
              <a:rPr kumimoji="1" lang="zh-CN" altLang="en-US" dirty="0"/>
              <a:t>）所领导的小组，也是采用 </a:t>
            </a:r>
            <a:r>
              <a:rPr kumimoji="1" lang="en-US" altLang="zh-CN" dirty="0"/>
              <a:t>X</a:t>
            </a:r>
            <a:r>
              <a:rPr kumimoji="1" lang="zh-CN" altLang="en-US" dirty="0"/>
              <a:t>射线作为研究工具。</a:t>
            </a:r>
            <a:r>
              <a:rPr kumimoji="1" lang="en-US" altLang="zh-CN" dirty="0"/>
              <a:t>1951</a:t>
            </a:r>
            <a:r>
              <a:rPr kumimoji="1" lang="zh-CN" altLang="en-US" dirty="0"/>
              <a:t>年夏天，鲍林用 </a:t>
            </a:r>
            <a:r>
              <a:rPr kumimoji="1" lang="en-US" altLang="zh-CN" dirty="0"/>
              <a:t>X</a:t>
            </a:r>
            <a:r>
              <a:rPr kumimoji="1" lang="zh-CN" altLang="en-US" dirty="0"/>
              <a:t>射线探测蛋白质的结构，顺利地得出</a:t>
            </a:r>
            <a:r>
              <a:rPr kumimoji="1" lang="zh-CN" altLang="en-US" i="1" dirty="0">
                <a:sym typeface="Symbol" panose="05050102010706020507" pitchFamily="18" charset="2"/>
              </a:rPr>
              <a:t></a:t>
            </a:r>
            <a:r>
              <a:rPr kumimoji="1" lang="zh-CN" altLang="en-US" dirty="0">
                <a:sym typeface="Symbol" panose="05050102010706020507" pitchFamily="18" charset="2"/>
              </a:rPr>
              <a:t>－</a:t>
            </a:r>
            <a:r>
              <a:rPr kumimoji="1" lang="zh-CN" altLang="en-US" dirty="0"/>
              <a:t>螺旋模型， 离探明</a:t>
            </a:r>
            <a:r>
              <a:rPr kumimoji="1" lang="en-US" altLang="zh-CN" dirty="0"/>
              <a:t>DNA</a:t>
            </a:r>
            <a:r>
              <a:rPr kumimoji="1" lang="zh-CN" altLang="en-US" dirty="0"/>
              <a:t>的结构只有一步之遥了；</a:t>
            </a:r>
            <a:endParaRPr kumimoji="1" lang="en-US" altLang="zh-CN" dirty="0"/>
          </a:p>
          <a:p>
            <a:pPr eaLnBrk="1" hangingPunct="1">
              <a:lnSpc>
                <a:spcPct val="130000"/>
              </a:lnSpc>
              <a:spcBef>
                <a:spcPct val="50000"/>
              </a:spcBef>
              <a:buClr>
                <a:schemeClr val="folHlink"/>
              </a:buClr>
              <a:buFont typeface="Wingdings" panose="05000000000000000000" pitchFamily="2" charset="2"/>
              <a:buNone/>
            </a:pPr>
            <a:r>
              <a:rPr kumimoji="1" lang="zh-CN" altLang="en-US" dirty="0"/>
              <a:t>第三支人马就是半路出家的沃森和克里克。</a:t>
            </a:r>
            <a:r>
              <a:rPr kumimoji="1" lang="zh-CN" altLang="en-US" b="0" dirty="0"/>
              <a:t>论实验条件，威尔金斯的实验室最好；论知识功底，鲍林最雄厚</a:t>
            </a:r>
            <a:r>
              <a:rPr kumimoji="1" lang="zh-CN" altLang="en-US" b="1" dirty="0"/>
              <a:t>。</a:t>
            </a:r>
            <a:r>
              <a:rPr kumimoji="1" lang="zh-CN" altLang="en-US" dirty="0"/>
              <a:t>论年龄，却是沃森和克里克最年轻，思想也最不保守。</a:t>
            </a:r>
            <a:endParaRPr kumimoji="1" lang="en-US" altLang="zh-CN" dirty="0"/>
          </a:p>
          <a:p>
            <a:pPr eaLnBrk="1" hangingPunct="1">
              <a:lnSpc>
                <a:spcPct val="130000"/>
              </a:lnSpc>
              <a:spcBef>
                <a:spcPct val="50000"/>
              </a:spcBef>
              <a:buClr>
                <a:schemeClr val="folHlink"/>
              </a:buClr>
              <a:buFont typeface="Wingdings" panose="05000000000000000000" pitchFamily="2" charset="2"/>
              <a:buNone/>
            </a:pPr>
            <a:endParaRPr kumimoji="1" lang="zh-CN" altLang="en-US" dirty="0"/>
          </a:p>
          <a:p>
            <a:pPr eaLnBrk="1" hangingPunct="1">
              <a:lnSpc>
                <a:spcPct val="130000"/>
              </a:lnSpc>
              <a:spcBef>
                <a:spcPct val="50000"/>
              </a:spcBef>
              <a:buClr>
                <a:schemeClr val="folHlink"/>
              </a:buClr>
              <a:buFont typeface="Wingdings" panose="05000000000000000000" pitchFamily="2" charset="2"/>
              <a:buNone/>
            </a:pPr>
            <a:endParaRPr kumimoji="1" lang="zh-CN" altLang="en-US" dirty="0"/>
          </a:p>
          <a:p>
            <a:pPr eaLnBrk="1" hangingPunct="1"/>
            <a:endParaRPr lang="en-US" altLang="zh-CN" sz="1000" dirty="0">
              <a:latin typeface="楷体_GB2312" pitchFamily="49" charset="-122"/>
              <a:ea typeface="楷体_GB2312" pitchFamily="49"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1031">
            <a:extLst>
              <a:ext uri="{FF2B5EF4-FFF2-40B4-BE49-F238E27FC236}">
                <a16:creationId xmlns:a16="http://schemas.microsoft.com/office/drawing/2014/main" id="{70830DC2-CD74-4236-BDC1-152256AB6F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87E9930-3D6A-4F0B-B510-1E978A645809}" type="slidenum">
              <a:rPr lang="en-US" altLang="zh-CN" smtClean="0"/>
              <a:pPr>
                <a:spcBef>
                  <a:spcPct val="0"/>
                </a:spcBef>
              </a:pPr>
              <a:t>37</a:t>
            </a:fld>
            <a:endParaRPr lang="en-US" altLang="zh-CN"/>
          </a:p>
        </p:txBody>
      </p:sp>
      <p:sp>
        <p:nvSpPr>
          <p:cNvPr id="117763" name="Rectangle 2">
            <a:extLst>
              <a:ext uri="{FF2B5EF4-FFF2-40B4-BE49-F238E27FC236}">
                <a16:creationId xmlns:a16="http://schemas.microsoft.com/office/drawing/2014/main" id="{5489B655-1920-46F3-9B06-384A26A3F0BF}"/>
              </a:ext>
            </a:extLst>
          </p:cNvPr>
          <p:cNvSpPr>
            <a:spLocks noGrp="1" noRot="1" noChangeAspect="1" noChangeArrowheads="1" noTextEdit="1"/>
          </p:cNvSpPr>
          <p:nvPr>
            <p:ph type="sldImg"/>
          </p:nvPr>
        </p:nvSpPr>
        <p:spPr>
          <a:xfrm>
            <a:off x="381000" y="685800"/>
            <a:ext cx="6096000" cy="3429000"/>
          </a:xfrm>
          <a:ln/>
        </p:spPr>
      </p:sp>
      <p:sp>
        <p:nvSpPr>
          <p:cNvPr id="117764" name="Rectangle 3">
            <a:extLst>
              <a:ext uri="{FF2B5EF4-FFF2-40B4-BE49-F238E27FC236}">
                <a16:creationId xmlns:a16="http://schemas.microsoft.com/office/drawing/2014/main" id="{511EA29E-01A4-4AA3-B2CF-400E466A50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英国的莫里斯</a:t>
            </a:r>
            <a:r>
              <a:rPr lang="en-US" altLang="zh-CN" dirty="0"/>
              <a:t>·</a:t>
            </a:r>
            <a:r>
              <a:rPr lang="zh-CN" altLang="en-US" dirty="0"/>
              <a:t>威尔金斯、弗朗西斯</a:t>
            </a:r>
            <a:r>
              <a:rPr lang="en-US" altLang="zh-CN" dirty="0"/>
              <a:t>·</a:t>
            </a:r>
            <a:r>
              <a:rPr lang="zh-CN" altLang="en-US" dirty="0"/>
              <a:t>克里克和美国的杰姆斯</a:t>
            </a:r>
            <a:r>
              <a:rPr lang="en-US" altLang="zh-CN" dirty="0"/>
              <a:t>·</a:t>
            </a:r>
            <a:r>
              <a:rPr lang="zh-CN" altLang="en-US" dirty="0"/>
              <a:t>沃森。</a:t>
            </a:r>
          </a:p>
          <a:p>
            <a:pPr eaLnBrk="1" hangingPunct="1"/>
            <a:endParaRPr lang="en-US" altLang="zh-CN" dirty="0"/>
          </a:p>
          <a:p>
            <a:pPr eaLnBrk="1" hangingPunct="1"/>
            <a:r>
              <a:rPr lang="zh-CN" altLang="en-US" dirty="0"/>
              <a:t>克里克在他的回忆录</a:t>
            </a:r>
            <a:r>
              <a:rPr lang="en-US" altLang="zh-CN" dirty="0"/>
              <a:t>《</a:t>
            </a:r>
            <a:r>
              <a:rPr lang="zh-CN" altLang="en-US" dirty="0"/>
              <a:t>狂热的追求</a:t>
            </a:r>
            <a:r>
              <a:rPr lang="en-US" altLang="zh-CN" dirty="0"/>
              <a:t>——</a:t>
            </a:r>
            <a:r>
              <a:rPr lang="zh-CN" altLang="en-US" dirty="0"/>
              <a:t>科学发现之我见</a:t>
            </a:r>
            <a:r>
              <a:rPr lang="en-US" altLang="zh-CN" dirty="0"/>
              <a:t>》</a:t>
            </a:r>
            <a:r>
              <a:rPr lang="zh-CN" altLang="en-US" dirty="0"/>
              <a:t>中表述了这种心情： </a:t>
            </a:r>
          </a:p>
          <a:p>
            <a:pPr eaLnBrk="1" hangingPunct="1"/>
            <a:r>
              <a:rPr lang="zh-CN" altLang="en-US" dirty="0"/>
              <a:t>“双螺旋确实是一种了不起的分子，也是一个了不起的发现。现代人的历史约有</a:t>
            </a:r>
            <a:r>
              <a:rPr lang="en-US" altLang="zh-CN" dirty="0"/>
              <a:t>5</a:t>
            </a:r>
            <a:r>
              <a:rPr lang="zh-CN" altLang="en-US" dirty="0"/>
              <a:t>万年，文明的历史几乎不到</a:t>
            </a:r>
            <a:r>
              <a:rPr lang="en-US" altLang="zh-CN" dirty="0"/>
              <a:t>1</a:t>
            </a:r>
            <a:r>
              <a:rPr lang="zh-CN" altLang="en-US" dirty="0"/>
              <a:t>万年，美国的历史仅仅</a:t>
            </a:r>
            <a:r>
              <a:rPr lang="en-US" altLang="zh-CN" dirty="0"/>
              <a:t>200</a:t>
            </a:r>
            <a:r>
              <a:rPr lang="zh-CN" altLang="en-US" dirty="0"/>
              <a:t>多年，可是</a:t>
            </a:r>
            <a:r>
              <a:rPr lang="en-US" altLang="zh-CN" dirty="0"/>
              <a:t>RNA</a:t>
            </a:r>
            <a:r>
              <a:rPr lang="zh-CN" altLang="en-US" dirty="0"/>
              <a:t>、</a:t>
            </a:r>
            <a:r>
              <a:rPr lang="en-US" altLang="zh-CN" dirty="0"/>
              <a:t>DNA</a:t>
            </a:r>
            <a:r>
              <a:rPr lang="zh-CN" altLang="en-US" dirty="0"/>
              <a:t>都至少存在了几十亿年。从古至今，双螺旋就一直存在并活跃着，可是我们还是近些年才知道。当然，值得庆幸的是，我们是地球上最先意识到它的存在的生物。有关我们发现双螺旋的文章如此之多，我很难再补充什么。我想说，</a:t>
            </a:r>
            <a:r>
              <a:rPr lang="en-US" altLang="zh-CN" dirty="0"/>
              <a:t>DNA</a:t>
            </a:r>
            <a:r>
              <a:rPr lang="zh-CN" altLang="en-US" dirty="0"/>
              <a:t>是由</a:t>
            </a:r>
            <a:r>
              <a:rPr lang="en-US" altLang="zh-CN" dirty="0"/>
              <a:t>4</a:t>
            </a:r>
            <a:r>
              <a:rPr lang="zh-CN" altLang="en-US" dirty="0"/>
              <a:t>个字母的语言写成的长长的生命信息，这是生命的语言</a:t>
            </a:r>
            <a:r>
              <a:rPr lang="en-US" altLang="zh-CN" dirty="0"/>
              <a:t>……” </a:t>
            </a:r>
          </a:p>
          <a:p>
            <a:pPr eaLnBrk="1" hangingPunct="1"/>
            <a:endParaRPr lang="zh-CN" altLang="en-US" dirty="0"/>
          </a:p>
          <a:p>
            <a:pPr eaLnBrk="1" hangingPunct="1"/>
            <a:r>
              <a:rPr lang="en-US" altLang="zh-CN" b="0" dirty="0"/>
              <a:t>2014</a:t>
            </a:r>
            <a:r>
              <a:rPr lang="zh-CN" altLang="en-US" b="0" dirty="0"/>
              <a:t>年沃森拍卖了他的诺奖奖牌，卖出</a:t>
            </a:r>
            <a:r>
              <a:rPr lang="en-US" altLang="zh-CN" b="0" dirty="0"/>
              <a:t>410</a:t>
            </a:r>
            <a:r>
              <a:rPr lang="zh-CN" altLang="en-US" b="0" dirty="0"/>
              <a:t>万美元，成为首个在世诺奖得主拍卖奖牌的人</a:t>
            </a:r>
            <a:r>
              <a:rPr lang="zh-CN" altLang="en-US" dirty="0"/>
              <a:t>。  </a:t>
            </a:r>
            <a:r>
              <a:rPr lang="en-US" altLang="zh-CN" dirty="0"/>
              <a:t>The medal was later returned to Watson by the purchaser, Alisher Usmanov</a:t>
            </a:r>
            <a:r>
              <a:rPr lang="zh-CN" altLang="en-US" dirty="0"/>
              <a:t>（俄罗斯最有钱的人之一）</a:t>
            </a:r>
            <a:r>
              <a:rPr lang="en-US" altLang="zh-CN" dirty="0"/>
              <a:t>.</a:t>
            </a:r>
          </a:p>
          <a:p>
            <a:pPr eaLnBrk="1" hangingPunct="1"/>
            <a:endParaRPr lang="en-US"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1031">
            <a:extLst>
              <a:ext uri="{FF2B5EF4-FFF2-40B4-BE49-F238E27FC236}">
                <a16:creationId xmlns:a16="http://schemas.microsoft.com/office/drawing/2014/main" id="{D9257916-A268-4F93-8E14-6BE66099B1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DA99887-973C-40B1-81C1-E69120314FEE}" type="slidenum">
              <a:rPr lang="en-US" altLang="zh-CN" smtClean="0"/>
              <a:pPr>
                <a:spcBef>
                  <a:spcPct val="0"/>
                </a:spcBef>
              </a:pPr>
              <a:t>38</a:t>
            </a:fld>
            <a:endParaRPr lang="en-US" altLang="zh-CN"/>
          </a:p>
        </p:txBody>
      </p:sp>
      <p:sp>
        <p:nvSpPr>
          <p:cNvPr id="121859" name="Rectangle 2">
            <a:extLst>
              <a:ext uri="{FF2B5EF4-FFF2-40B4-BE49-F238E27FC236}">
                <a16:creationId xmlns:a16="http://schemas.microsoft.com/office/drawing/2014/main" id="{01810F6B-892F-4411-A6C4-23879F5F4BE9}"/>
              </a:ext>
            </a:extLst>
          </p:cNvPr>
          <p:cNvSpPr>
            <a:spLocks noGrp="1" noRot="1" noChangeAspect="1" noChangeArrowheads="1" noTextEdit="1"/>
          </p:cNvSpPr>
          <p:nvPr>
            <p:ph type="sldImg"/>
          </p:nvPr>
        </p:nvSpPr>
        <p:spPr>
          <a:xfrm>
            <a:off x="381000" y="685800"/>
            <a:ext cx="6096000" cy="3429000"/>
          </a:xfrm>
          <a:ln/>
        </p:spPr>
      </p:sp>
      <p:sp>
        <p:nvSpPr>
          <p:cNvPr id="121860" name="Rectangle 3">
            <a:extLst>
              <a:ext uri="{FF2B5EF4-FFF2-40B4-BE49-F238E27FC236}">
                <a16:creationId xmlns:a16="http://schemas.microsoft.com/office/drawing/2014/main" id="{27649014-17DB-4E27-96D9-FE8758747A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zh-CN" altLang="en-US" b="1" dirty="0">
                <a:latin typeface="宋体" panose="02010600030101010101" pitchFamily="2" charset="-122"/>
              </a:rPr>
              <a:t>两链的关系：反向平行的互补关系</a:t>
            </a:r>
          </a:p>
          <a:p>
            <a:pPr marL="228600" indent="-228600" eaLnBrk="1" hangingPunct="1"/>
            <a:endParaRPr lang="en-US" altLang="zh-CN" b="1" dirty="0">
              <a:latin typeface="宋体" panose="02010600030101010101" pitchFamily="2" charset="-122"/>
            </a:endParaRPr>
          </a:p>
          <a:p>
            <a:pPr marL="228600" indent="-228600" eaLnBrk="1" hangingPunct="1"/>
            <a:r>
              <a:rPr lang="zh-CN" altLang="en-US" b="1" dirty="0">
                <a:latin typeface="宋体" panose="02010600030101010101" pitchFamily="2" charset="-122"/>
              </a:rPr>
              <a:t>大沟与小沟是蛋白质识别</a:t>
            </a:r>
            <a:r>
              <a:rPr lang="en-US" altLang="zh-CN" b="1" dirty="0">
                <a:latin typeface="宋体" panose="02010600030101010101" pitchFamily="2" charset="-122"/>
              </a:rPr>
              <a:t>DNA</a:t>
            </a:r>
            <a:r>
              <a:rPr lang="zh-CN" altLang="en-US" b="1" dirty="0">
                <a:latin typeface="宋体" panose="02010600030101010101" pitchFamily="2" charset="-122"/>
              </a:rPr>
              <a:t>的碱基序列、与其发生作用的基础。</a:t>
            </a:r>
            <a:r>
              <a:rPr lang="zh-CN" altLang="en-US" b="1" dirty="0"/>
              <a:t> 蛋白质能识别大小沟中尤其大沟中不同的碱基序列。</a:t>
            </a:r>
          </a:p>
          <a:p>
            <a:pPr marL="228600" indent="-228600" eaLnBrk="1" hangingPunct="1"/>
            <a:r>
              <a:rPr lang="zh-CN" altLang="en-US" dirty="0"/>
              <a:t>大沟（宽</a:t>
            </a:r>
            <a:r>
              <a:rPr lang="en-US" altLang="zh-CN" dirty="0"/>
              <a:t>1.2nm</a:t>
            </a:r>
            <a:r>
              <a:rPr lang="zh-CN" altLang="en-US" dirty="0"/>
              <a:t>，深</a:t>
            </a:r>
            <a:r>
              <a:rPr lang="en-US" altLang="zh-CN" dirty="0"/>
              <a:t>0.85nm</a:t>
            </a:r>
            <a:r>
              <a:rPr lang="zh-CN" altLang="en-US" dirty="0"/>
              <a:t>）、小沟（宽</a:t>
            </a:r>
            <a:r>
              <a:rPr lang="en-US" altLang="zh-CN" dirty="0"/>
              <a:t>0.6nm</a:t>
            </a:r>
            <a:r>
              <a:rPr lang="zh-CN" altLang="en-US" dirty="0"/>
              <a:t>、深</a:t>
            </a:r>
            <a:r>
              <a:rPr lang="en-US" altLang="zh-CN" dirty="0"/>
              <a:t>0.75nm</a:t>
            </a:r>
            <a:r>
              <a:rPr lang="zh-CN" altLang="en-US" dirty="0"/>
              <a:t>）</a:t>
            </a:r>
            <a:endParaRPr lang="en-US" altLang="zh-CN" dirty="0"/>
          </a:p>
          <a:p>
            <a:pPr marL="228600" indent="-228600" eaLnBrk="1" hangingPunct="1"/>
            <a:endParaRPr lang="en-US" altLang="zh-CN" dirty="0"/>
          </a:p>
          <a:p>
            <a:pPr marL="228600" indent="-228600" eaLnBrk="1" hangingPunct="1"/>
            <a:endParaRPr lang="en-US" altLang="zh-CN" dirty="0"/>
          </a:p>
          <a:p>
            <a:pPr marL="228600" indent="-228600" eaLnBrk="1" hangingPunct="1"/>
            <a:endParaRPr lang="en-US"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a:extLst>
              <a:ext uri="{FF2B5EF4-FFF2-40B4-BE49-F238E27FC236}">
                <a16:creationId xmlns:a16="http://schemas.microsoft.com/office/drawing/2014/main" id="{19A1CD8F-B8D1-499C-B4A4-17017304673B}"/>
              </a:ext>
            </a:extLst>
          </p:cNvPr>
          <p:cNvSpPr>
            <a:spLocks noGrp="1" noRot="1" noChangeAspect="1" noChangeArrowheads="1" noTextEdit="1"/>
          </p:cNvSpPr>
          <p:nvPr>
            <p:ph type="sldImg"/>
          </p:nvPr>
        </p:nvSpPr>
        <p:spPr>
          <a:xfrm>
            <a:off x="381000" y="685800"/>
            <a:ext cx="6096000" cy="3429000"/>
          </a:xfrm>
          <a:ln/>
        </p:spPr>
      </p:sp>
      <p:sp>
        <p:nvSpPr>
          <p:cNvPr id="123907" name="备注占位符 2">
            <a:extLst>
              <a:ext uri="{FF2B5EF4-FFF2-40B4-BE49-F238E27FC236}">
                <a16:creationId xmlns:a16="http://schemas.microsoft.com/office/drawing/2014/main" id="{8A5A20BE-5273-498E-A558-DF2B79429A0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非重点</a:t>
            </a:r>
            <a:endParaRPr lang="en-US" altLang="zh-CN" dirty="0"/>
          </a:p>
          <a:p>
            <a:endParaRPr lang="en-US" altLang="zh-CN" dirty="0"/>
          </a:p>
          <a:p>
            <a:r>
              <a:rPr lang="zh-CN" altLang="en-US" dirty="0"/>
              <a:t>参见</a:t>
            </a:r>
            <a:r>
              <a:rPr lang="en-US" altLang="zh-CN" dirty="0"/>
              <a:t>B</a:t>
            </a:r>
            <a:r>
              <a:rPr lang="zh-CN" altLang="en-US" dirty="0"/>
              <a:t>站 </a:t>
            </a:r>
            <a:r>
              <a:rPr lang="en-US" altLang="zh-CN" dirty="0"/>
              <a:t>MIT</a:t>
            </a:r>
            <a:r>
              <a:rPr lang="zh-CN" altLang="en-US" dirty="0"/>
              <a:t>分子生物学 课程 第二节 ： </a:t>
            </a:r>
            <a:r>
              <a:rPr lang="en-US" altLang="zh-CN" dirty="0"/>
              <a:t>https://www.bilibili.com/video/av13310156/?p=2</a:t>
            </a:r>
          </a:p>
          <a:p>
            <a:endParaRPr lang="en-US" altLang="zh-CN" dirty="0"/>
          </a:p>
          <a:p>
            <a:r>
              <a:rPr lang="en-US" altLang="zh-CN" dirty="0"/>
              <a:t>The major groove is large enough to accommodate an alpha helix from a protein .</a:t>
            </a:r>
          </a:p>
          <a:p>
            <a:endParaRPr lang="zh-CN" altLang="en-US" dirty="0"/>
          </a:p>
        </p:txBody>
      </p:sp>
      <p:sp>
        <p:nvSpPr>
          <p:cNvPr id="123908" name="灯片编号占位符 3">
            <a:extLst>
              <a:ext uri="{FF2B5EF4-FFF2-40B4-BE49-F238E27FC236}">
                <a16:creationId xmlns:a16="http://schemas.microsoft.com/office/drawing/2014/main" id="{AD7763F6-B43C-4D5F-B676-AF3B685EEE6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F047925-718F-45AE-BFC9-0CA61CCFA332}" type="slidenum">
              <a:rPr lang="en-US" altLang="zh-CN" sz="1200" smtClean="0"/>
              <a:pPr/>
              <a:t>39</a:t>
            </a:fld>
            <a:endParaRPr lang="en-US" altLang="zh-CN"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031">
            <a:extLst>
              <a:ext uri="{FF2B5EF4-FFF2-40B4-BE49-F238E27FC236}">
                <a16:creationId xmlns:a16="http://schemas.microsoft.com/office/drawing/2014/main" id="{499046AC-61B2-4ED4-A379-BDA6D0EC10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A7D1984-AF48-408D-B163-E0151FC922ED}" type="slidenum">
              <a:rPr lang="en-US" altLang="zh-CN" smtClean="0"/>
              <a:pPr>
                <a:spcBef>
                  <a:spcPct val="0"/>
                </a:spcBef>
              </a:pPr>
              <a:t>40</a:t>
            </a:fld>
            <a:endParaRPr lang="en-US" altLang="zh-CN"/>
          </a:p>
        </p:txBody>
      </p:sp>
      <p:sp>
        <p:nvSpPr>
          <p:cNvPr id="128003" name="Rectangle 2">
            <a:extLst>
              <a:ext uri="{FF2B5EF4-FFF2-40B4-BE49-F238E27FC236}">
                <a16:creationId xmlns:a16="http://schemas.microsoft.com/office/drawing/2014/main" id="{B9CB4508-4B11-47AF-855F-EBC60841FFD6}"/>
              </a:ext>
            </a:extLst>
          </p:cNvPr>
          <p:cNvSpPr>
            <a:spLocks noGrp="1" noRot="1" noChangeAspect="1" noChangeArrowheads="1" noTextEdit="1"/>
          </p:cNvSpPr>
          <p:nvPr>
            <p:ph type="sldImg"/>
          </p:nvPr>
        </p:nvSpPr>
        <p:spPr>
          <a:xfrm>
            <a:off x="381000" y="685800"/>
            <a:ext cx="6096000" cy="3429000"/>
          </a:xfrm>
          <a:ln/>
        </p:spPr>
      </p:sp>
      <p:sp>
        <p:nvSpPr>
          <p:cNvPr id="128004" name="Rectangle 3">
            <a:extLst>
              <a:ext uri="{FF2B5EF4-FFF2-40B4-BE49-F238E27FC236}">
                <a16:creationId xmlns:a16="http://schemas.microsoft.com/office/drawing/2014/main" id="{B4200DB1-330E-4E7E-8C75-C2A395841B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两股链中的嘌呤和嘧啶碱基对以其</a:t>
            </a:r>
            <a:r>
              <a:rPr lang="zh-CN" altLang="en-US" b="1" dirty="0">
                <a:latin typeface="宋体" panose="02010600030101010101" pitchFamily="2" charset="-122"/>
              </a:rPr>
              <a:t>疏水</a:t>
            </a:r>
            <a:r>
              <a:rPr lang="zh-CN" altLang="en-US" dirty="0">
                <a:latin typeface="宋体" panose="02010600030101010101" pitchFamily="2" charset="-122"/>
              </a:rPr>
              <a:t>的、近于平面的环形结构彼此密切相近，碱基平面与双螺旋的长轴相垂直。</a:t>
            </a:r>
            <a:r>
              <a:rPr lang="zh-CN" altLang="en-US" dirty="0"/>
              <a:t> </a:t>
            </a:r>
          </a:p>
          <a:p>
            <a:pPr eaLnBrk="1" hangingPunct="1"/>
            <a:r>
              <a:rPr lang="en-US" altLang="zh-CN" dirty="0"/>
              <a:t>DNA</a:t>
            </a:r>
            <a:r>
              <a:rPr lang="zh-CN" altLang="en-US" dirty="0">
                <a:latin typeface="宋体" panose="02010600030101010101" pitchFamily="2" charset="-122"/>
              </a:rPr>
              <a:t>双螺旋中两股链中碱基互补的特点，预示了</a:t>
            </a:r>
            <a:r>
              <a:rPr lang="en-US" altLang="zh-CN" b="1" dirty="0"/>
              <a:t>DNA</a:t>
            </a:r>
            <a:r>
              <a:rPr lang="zh-CN" altLang="en-US" b="1" dirty="0">
                <a:latin typeface="宋体" panose="02010600030101010101" pitchFamily="2" charset="-122"/>
              </a:rPr>
              <a:t>复制</a:t>
            </a:r>
            <a:r>
              <a:rPr lang="zh-CN" altLang="en-US" dirty="0">
                <a:latin typeface="宋体" panose="02010600030101010101" pitchFamily="2" charset="-122"/>
              </a:rPr>
              <a:t>过程是先将</a:t>
            </a:r>
            <a:r>
              <a:rPr lang="en-US" altLang="zh-CN" dirty="0"/>
              <a:t>DNA</a:t>
            </a:r>
            <a:r>
              <a:rPr lang="zh-CN" altLang="en-US" dirty="0">
                <a:latin typeface="宋体" panose="02010600030101010101" pitchFamily="2" charset="-122"/>
              </a:rPr>
              <a:t>分子中的两股链分离开，然后以每一股链为模板</a:t>
            </a:r>
            <a:r>
              <a:rPr lang="en-US" altLang="zh-CN" dirty="0"/>
              <a:t>(</a:t>
            </a:r>
            <a:r>
              <a:rPr lang="zh-CN" altLang="en-US" dirty="0">
                <a:latin typeface="宋体" panose="02010600030101010101" pitchFamily="2" charset="-122"/>
              </a:rPr>
              <a:t>亲本</a:t>
            </a:r>
            <a:r>
              <a:rPr lang="en-US" altLang="zh-CN" dirty="0"/>
              <a:t>)</a:t>
            </a:r>
            <a:r>
              <a:rPr lang="zh-CN" altLang="en-US" dirty="0">
                <a:latin typeface="宋体" panose="02010600030101010101" pitchFamily="2" charset="-122"/>
              </a:rPr>
              <a:t>，通过碱基互补原则合成相应的互补链</a:t>
            </a:r>
            <a:r>
              <a:rPr lang="en-US" altLang="zh-CN" dirty="0"/>
              <a:t>(</a:t>
            </a:r>
            <a:r>
              <a:rPr lang="zh-CN" altLang="en-US" dirty="0">
                <a:latin typeface="宋体" panose="02010600030101010101" pitchFamily="2" charset="-122"/>
              </a:rPr>
              <a:t>复本</a:t>
            </a:r>
            <a:r>
              <a:rPr lang="en-US" altLang="zh-CN" dirty="0"/>
              <a:t>)</a:t>
            </a:r>
            <a:r>
              <a:rPr lang="zh-CN" altLang="en-US" dirty="0">
                <a:latin typeface="宋体" panose="02010600030101010101" pitchFamily="2" charset="-122"/>
              </a:rPr>
              <a:t>，形成两个完全相同的</a:t>
            </a:r>
            <a:r>
              <a:rPr lang="en-US" altLang="zh-CN" dirty="0"/>
              <a:t>DNA</a:t>
            </a:r>
            <a:r>
              <a:rPr lang="zh-CN" altLang="en-US" dirty="0">
                <a:latin typeface="宋体" panose="02010600030101010101" pitchFamily="2" charset="-122"/>
              </a:rPr>
              <a:t>分子。</a:t>
            </a:r>
            <a:r>
              <a:rPr lang="zh-CN" altLang="en-US" dirty="0"/>
              <a:t> </a:t>
            </a:r>
          </a:p>
          <a:p>
            <a:pPr eaLnBrk="1" hangingPunct="1"/>
            <a:endParaRPr lang="en-US" altLang="zh-CN" b="1" dirty="0">
              <a:solidFill>
                <a:srgbClr val="000099"/>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31">
            <a:extLst>
              <a:ext uri="{FF2B5EF4-FFF2-40B4-BE49-F238E27FC236}">
                <a16:creationId xmlns:a16="http://schemas.microsoft.com/office/drawing/2014/main" id="{CD3E0E70-9A6C-4AEF-B3A4-80A4098666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D857247-F6C2-4183-9A13-073B9B5F91A9}" type="slidenum">
              <a:rPr lang="en-US" altLang="zh-CN" smtClean="0"/>
              <a:pPr>
                <a:spcBef>
                  <a:spcPct val="0"/>
                </a:spcBef>
              </a:pPr>
              <a:t>41</a:t>
            </a:fld>
            <a:endParaRPr lang="en-US" altLang="zh-CN"/>
          </a:p>
        </p:txBody>
      </p:sp>
      <p:sp>
        <p:nvSpPr>
          <p:cNvPr id="50179" name="Rectangle 2">
            <a:extLst>
              <a:ext uri="{FF2B5EF4-FFF2-40B4-BE49-F238E27FC236}">
                <a16:creationId xmlns:a16="http://schemas.microsoft.com/office/drawing/2014/main" id="{E3414D19-DD42-43DD-BD80-BEA4A1705EE0}"/>
              </a:ext>
            </a:extLst>
          </p:cNvPr>
          <p:cNvSpPr>
            <a:spLocks noGrp="1" noRot="1" noChangeAspect="1" noChangeArrowheads="1" noTextEdit="1"/>
          </p:cNvSpPr>
          <p:nvPr>
            <p:ph type="sldImg"/>
          </p:nvPr>
        </p:nvSpPr>
        <p:spPr>
          <a:xfrm>
            <a:off x="381000" y="685800"/>
            <a:ext cx="6096000" cy="3429000"/>
          </a:xfrm>
          <a:ln/>
        </p:spPr>
      </p:sp>
      <p:sp>
        <p:nvSpPr>
          <p:cNvPr id="50180" name="Rectangle 3">
            <a:extLst>
              <a:ext uri="{FF2B5EF4-FFF2-40B4-BE49-F238E27FC236}">
                <a16:creationId xmlns:a16="http://schemas.microsoft.com/office/drawing/2014/main" id="{F4080ECA-F4C2-494D-9E63-419624E84A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a:p>
            <a:pPr eaLnBrk="1" hangingPunct="1"/>
            <a:endParaRPr lang="zh-CN" altLang="en-US" dirty="0"/>
          </a:p>
          <a:p>
            <a:pPr eaLnBrk="1" hangingPunct="1"/>
            <a:endParaRPr lang="en-US" altLang="zh-CN" dirty="0"/>
          </a:p>
        </p:txBody>
      </p:sp>
    </p:spTree>
    <p:extLst>
      <p:ext uri="{BB962C8B-B14F-4D97-AF65-F5344CB8AC3E}">
        <p14:creationId xmlns:p14="http://schemas.microsoft.com/office/powerpoint/2010/main" val="26925987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a:extLst>
              <a:ext uri="{FF2B5EF4-FFF2-40B4-BE49-F238E27FC236}">
                <a16:creationId xmlns:a16="http://schemas.microsoft.com/office/drawing/2014/main" id="{A00D4B69-FB16-436F-9EAC-F9BE860586F9}"/>
              </a:ext>
            </a:extLst>
          </p:cNvPr>
          <p:cNvSpPr>
            <a:spLocks noGrp="1" noRot="1" noChangeAspect="1" noChangeArrowheads="1" noTextEdit="1"/>
          </p:cNvSpPr>
          <p:nvPr>
            <p:ph type="sldImg"/>
          </p:nvPr>
        </p:nvSpPr>
        <p:spPr>
          <a:xfrm>
            <a:off x="381000" y="685800"/>
            <a:ext cx="6096000" cy="3429000"/>
          </a:xfrm>
          <a:ln/>
        </p:spPr>
      </p:sp>
      <p:sp>
        <p:nvSpPr>
          <p:cNvPr id="130051" name="备注占位符 2">
            <a:extLst>
              <a:ext uri="{FF2B5EF4-FFF2-40B4-BE49-F238E27FC236}">
                <a16:creationId xmlns:a16="http://schemas.microsoft.com/office/drawing/2014/main" id="{EFC6B133-083C-415C-AE5C-7D1B183651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30052" name="灯片编号占位符 3">
            <a:extLst>
              <a:ext uri="{FF2B5EF4-FFF2-40B4-BE49-F238E27FC236}">
                <a16:creationId xmlns:a16="http://schemas.microsoft.com/office/drawing/2014/main" id="{96794ACE-72BB-451A-8E37-3A561185A4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B3700C2-156E-4756-9A8A-37C2D6C87128}" type="slidenum">
              <a:rPr lang="en-US" altLang="zh-CN" sz="1200" smtClean="0"/>
              <a:pPr/>
              <a:t>42</a:t>
            </a:fld>
            <a:endParaRPr lang="en-US" altLang="zh-CN"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1031">
            <a:extLst>
              <a:ext uri="{FF2B5EF4-FFF2-40B4-BE49-F238E27FC236}">
                <a16:creationId xmlns:a16="http://schemas.microsoft.com/office/drawing/2014/main" id="{4833D8F4-E715-4FFA-8134-A74B6FAC70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F40E52A-861F-422C-B185-2B6706D6229E}" type="slidenum">
              <a:rPr lang="en-US" altLang="zh-CN" smtClean="0"/>
              <a:pPr>
                <a:spcBef>
                  <a:spcPct val="0"/>
                </a:spcBef>
              </a:pPr>
              <a:t>43</a:t>
            </a:fld>
            <a:endParaRPr lang="en-US" altLang="zh-CN"/>
          </a:p>
        </p:txBody>
      </p:sp>
      <p:sp>
        <p:nvSpPr>
          <p:cNvPr id="132099" name="Rectangle 2">
            <a:extLst>
              <a:ext uri="{FF2B5EF4-FFF2-40B4-BE49-F238E27FC236}">
                <a16:creationId xmlns:a16="http://schemas.microsoft.com/office/drawing/2014/main" id="{85D23575-3B3A-4D48-813F-65144703F196}"/>
              </a:ext>
            </a:extLst>
          </p:cNvPr>
          <p:cNvSpPr>
            <a:spLocks noGrp="1" noRot="1" noChangeAspect="1" noChangeArrowheads="1" noTextEdit="1"/>
          </p:cNvSpPr>
          <p:nvPr>
            <p:ph type="sldImg"/>
          </p:nvPr>
        </p:nvSpPr>
        <p:spPr>
          <a:xfrm>
            <a:off x="381000" y="685800"/>
            <a:ext cx="6096000" cy="3429000"/>
          </a:xfrm>
          <a:ln/>
        </p:spPr>
      </p:sp>
      <p:sp>
        <p:nvSpPr>
          <p:cNvPr id="132100" name="Rectangle 3">
            <a:extLst>
              <a:ext uri="{FF2B5EF4-FFF2-40B4-BE49-F238E27FC236}">
                <a16:creationId xmlns:a16="http://schemas.microsoft.com/office/drawing/2014/main" id="{67D9EBD9-9D82-483D-96AD-780D701B08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0000"/>
              </a:lnSpc>
              <a:spcBef>
                <a:spcPct val="50000"/>
              </a:spcBef>
              <a:buFont typeface="Wingdings" panose="05000000000000000000" pitchFamily="2" charset="2"/>
              <a:buNone/>
            </a:pPr>
            <a:r>
              <a:rPr lang="zh-CN" altLang="en-US" dirty="0"/>
              <a:t>碱基平面与纵轴</a:t>
            </a:r>
            <a:r>
              <a:rPr lang="zh-CN" altLang="en-US" dirty="0">
                <a:solidFill>
                  <a:srgbClr val="0000FF"/>
                </a:solidFill>
              </a:rPr>
              <a:t>垂直</a:t>
            </a:r>
            <a:r>
              <a:rPr lang="zh-CN" altLang="en-US" dirty="0"/>
              <a:t>，糖环平面与纵轴</a:t>
            </a:r>
            <a:r>
              <a:rPr lang="zh-CN" altLang="en-US" dirty="0">
                <a:solidFill>
                  <a:srgbClr val="0000FF"/>
                </a:solidFill>
              </a:rPr>
              <a:t>平行</a:t>
            </a:r>
            <a:endParaRPr lang="zh-CN" altLang="en-US" dirty="0"/>
          </a:p>
          <a:p>
            <a:pPr eaLnBrk="1" hangingPunct="1"/>
            <a:endParaRPr lang="en-US"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1031">
            <a:extLst>
              <a:ext uri="{FF2B5EF4-FFF2-40B4-BE49-F238E27FC236}">
                <a16:creationId xmlns:a16="http://schemas.microsoft.com/office/drawing/2014/main" id="{3D8F2AFF-2CB8-4447-9EB8-30A258B62B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DC85FEA-215C-4E7A-93B3-A60E964388D2}" type="slidenum">
              <a:rPr lang="en-US" altLang="zh-CN" smtClean="0"/>
              <a:pPr>
                <a:spcBef>
                  <a:spcPct val="0"/>
                </a:spcBef>
              </a:pPr>
              <a:t>44</a:t>
            </a:fld>
            <a:endParaRPr lang="en-US" altLang="zh-CN"/>
          </a:p>
        </p:txBody>
      </p:sp>
      <p:sp>
        <p:nvSpPr>
          <p:cNvPr id="134147" name="Rectangle 2">
            <a:extLst>
              <a:ext uri="{FF2B5EF4-FFF2-40B4-BE49-F238E27FC236}">
                <a16:creationId xmlns:a16="http://schemas.microsoft.com/office/drawing/2014/main" id="{0030F375-3295-4D47-B903-1704F618DF1C}"/>
              </a:ext>
            </a:extLst>
          </p:cNvPr>
          <p:cNvSpPr>
            <a:spLocks noGrp="1" noRot="1" noChangeAspect="1" noChangeArrowheads="1" noTextEdit="1"/>
          </p:cNvSpPr>
          <p:nvPr>
            <p:ph type="sldImg"/>
          </p:nvPr>
        </p:nvSpPr>
        <p:spPr>
          <a:xfrm>
            <a:off x="381000" y="685800"/>
            <a:ext cx="6096000" cy="3429000"/>
          </a:xfrm>
          <a:ln/>
        </p:spPr>
      </p:sp>
      <p:sp>
        <p:nvSpPr>
          <p:cNvPr id="134148" name="Rectangle 3">
            <a:extLst>
              <a:ext uri="{FF2B5EF4-FFF2-40B4-BE49-F238E27FC236}">
                <a16:creationId xmlns:a16="http://schemas.microsoft.com/office/drawing/2014/main" id="{43307BDB-4792-4146-9025-E68451CC10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The structure in aqueous solution differs slightly from that in fibers, having 10.5 bp per helical turn.</a:t>
            </a:r>
          </a:p>
          <a:p>
            <a:r>
              <a:rPr lang="en-US" altLang="zh-CN" dirty="0"/>
              <a:t>The original model proposed by Watson and Crick had 10 base pairs</a:t>
            </a:r>
          </a:p>
          <a:p>
            <a:endParaRPr lang="en-US"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1031">
            <a:extLst>
              <a:ext uri="{FF2B5EF4-FFF2-40B4-BE49-F238E27FC236}">
                <a16:creationId xmlns:a16="http://schemas.microsoft.com/office/drawing/2014/main" id="{BA3AA95D-C692-4CD4-848D-1C86145027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C2CE2F9-A287-46F0-9733-DDB62EC2F7B4}" type="slidenum">
              <a:rPr lang="en-US" altLang="zh-CN" smtClean="0"/>
              <a:pPr>
                <a:spcBef>
                  <a:spcPct val="0"/>
                </a:spcBef>
              </a:pPr>
              <a:t>45</a:t>
            </a:fld>
            <a:endParaRPr lang="en-US" altLang="zh-CN"/>
          </a:p>
        </p:txBody>
      </p:sp>
      <p:sp>
        <p:nvSpPr>
          <p:cNvPr id="136195" name="Rectangle 2">
            <a:extLst>
              <a:ext uri="{FF2B5EF4-FFF2-40B4-BE49-F238E27FC236}">
                <a16:creationId xmlns:a16="http://schemas.microsoft.com/office/drawing/2014/main" id="{755E09D2-AC7C-44F0-989A-CF7C0F199830}"/>
              </a:ext>
            </a:extLst>
          </p:cNvPr>
          <p:cNvSpPr>
            <a:spLocks noGrp="1" noRot="1" noChangeAspect="1" noChangeArrowheads="1" noTextEdit="1"/>
          </p:cNvSpPr>
          <p:nvPr>
            <p:ph type="sldImg"/>
          </p:nvPr>
        </p:nvSpPr>
        <p:spPr>
          <a:xfrm>
            <a:off x="381000" y="685800"/>
            <a:ext cx="6096000" cy="3429000"/>
          </a:xfrm>
          <a:ln/>
        </p:spPr>
      </p:sp>
      <p:sp>
        <p:nvSpPr>
          <p:cNvPr id="136196" name="Rectangle 3">
            <a:extLst>
              <a:ext uri="{FF2B5EF4-FFF2-40B4-BE49-F238E27FC236}">
                <a16:creationId xmlns:a16="http://schemas.microsoft.com/office/drawing/2014/main" id="{840DFCC2-461C-41BD-874E-8410833270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z="2800" dirty="0">
                <a:solidFill>
                  <a:srgbClr val="000099"/>
                </a:solidFill>
              </a:rPr>
              <a:t>DNA Structure.mp4</a:t>
            </a:r>
          </a:p>
          <a:p>
            <a:pPr eaLnBrk="1" hangingPunct="1"/>
            <a:endParaRPr lang="en-US" altLang="zh-CN" sz="2800" dirty="0">
              <a:solidFill>
                <a:srgbClr val="000099"/>
              </a:solidFill>
            </a:endParaRPr>
          </a:p>
          <a:p>
            <a:pPr eaLnBrk="1" hangingPunct="1"/>
            <a:r>
              <a:rPr lang="zh-CN" altLang="en-US" sz="2800" dirty="0">
                <a:solidFill>
                  <a:srgbClr val="000099"/>
                </a:solidFill>
              </a:rPr>
              <a:t>碱基堆积力</a:t>
            </a:r>
            <a:r>
              <a:rPr lang="en-US" altLang="zh-CN" sz="2800" dirty="0">
                <a:solidFill>
                  <a:srgbClr val="000099"/>
                </a:solidFill>
              </a:rPr>
              <a:t>(base stacking interaction)</a:t>
            </a:r>
            <a:r>
              <a:rPr lang="zh-CN" altLang="en-US" sz="2800" dirty="0">
                <a:solidFill>
                  <a:srgbClr val="000099"/>
                </a:solidFill>
              </a:rPr>
              <a:t>是因为碱基的疏水性而紧密堆积从而形成的一种力</a:t>
            </a:r>
            <a:r>
              <a:rPr lang="en-US" altLang="zh-CN" sz="2800" dirty="0">
                <a:solidFill>
                  <a:srgbClr val="000099"/>
                </a:solidFill>
              </a:rPr>
              <a:t>, </a:t>
            </a:r>
            <a:r>
              <a:rPr lang="zh-CN" altLang="en-US" sz="2800" dirty="0">
                <a:solidFill>
                  <a:srgbClr val="000099"/>
                </a:solidFill>
              </a:rPr>
              <a:t>在这种堆积中，每个碱基对平行伸展并且与上下碱基对非常靠近，相邻两个碱基对的</a:t>
            </a:r>
            <a:r>
              <a:rPr lang="en-US" altLang="zh-CN" sz="2800" dirty="0">
                <a:solidFill>
                  <a:srgbClr val="000099"/>
                </a:solidFill>
              </a:rPr>
              <a:t>π</a:t>
            </a:r>
            <a:r>
              <a:rPr lang="zh-CN" altLang="en-US" sz="2800" dirty="0">
                <a:solidFill>
                  <a:srgbClr val="000099"/>
                </a:solidFill>
              </a:rPr>
              <a:t>电子云会有重叠，</a:t>
            </a:r>
            <a:endParaRPr lang="en-US" altLang="zh-CN" b="1" dirty="0">
              <a:solidFill>
                <a:srgbClr val="000099"/>
              </a:solidFill>
            </a:endParaRPr>
          </a:p>
          <a:p>
            <a:pPr eaLnBrk="1" hangingPunct="1"/>
            <a:r>
              <a:rPr lang="zh-CN" altLang="en-US" dirty="0">
                <a:solidFill>
                  <a:srgbClr val="000099"/>
                </a:solidFill>
              </a:rPr>
              <a:t>双链</a:t>
            </a:r>
            <a:r>
              <a:rPr lang="en-US" altLang="zh-CN" dirty="0">
                <a:solidFill>
                  <a:srgbClr val="000099"/>
                </a:solidFill>
              </a:rPr>
              <a:t>DNA</a:t>
            </a:r>
            <a:r>
              <a:rPr lang="zh-CN" altLang="en-US" dirty="0">
                <a:solidFill>
                  <a:srgbClr val="000099"/>
                </a:solidFill>
              </a:rPr>
              <a:t>中的碱基比单链</a:t>
            </a:r>
            <a:r>
              <a:rPr lang="en-US" altLang="zh-CN" dirty="0">
                <a:solidFill>
                  <a:srgbClr val="000099"/>
                </a:solidFill>
              </a:rPr>
              <a:t>DNA</a:t>
            </a:r>
            <a:r>
              <a:rPr lang="zh-CN" altLang="en-US" dirty="0">
                <a:solidFill>
                  <a:srgbClr val="000099"/>
                </a:solidFill>
              </a:rPr>
              <a:t>中碱基的堆积程度高。已经堆积的碱基更容易配对形成氢键</a:t>
            </a:r>
            <a:r>
              <a:rPr lang="en-US" altLang="zh-CN" dirty="0">
                <a:solidFill>
                  <a:srgbClr val="000099"/>
                </a:solidFill>
              </a:rPr>
              <a:t>,</a:t>
            </a:r>
            <a:r>
              <a:rPr lang="zh-CN" altLang="en-US" dirty="0">
                <a:solidFill>
                  <a:srgbClr val="000099"/>
                </a:solidFill>
              </a:rPr>
              <a:t>而已经被氢键定向的碱基更容易堆积。</a:t>
            </a:r>
            <a:r>
              <a:rPr lang="zh-CN" altLang="en-US" b="1" dirty="0">
                <a:solidFill>
                  <a:srgbClr val="000099"/>
                </a:solidFill>
              </a:rPr>
              <a:t>氢键和碱基堆积是一种协同作用</a:t>
            </a:r>
            <a:r>
              <a:rPr lang="en-US" altLang="zh-CN" dirty="0">
                <a:solidFill>
                  <a:srgbClr val="000099"/>
                </a:solidFill>
              </a:rPr>
              <a:t>, </a:t>
            </a:r>
            <a:r>
              <a:rPr lang="zh-CN" altLang="en-US" dirty="0">
                <a:solidFill>
                  <a:srgbClr val="000099"/>
                </a:solidFill>
              </a:rPr>
              <a:t>处于</a:t>
            </a:r>
            <a:r>
              <a:rPr lang="en-US" altLang="zh-CN" dirty="0">
                <a:solidFill>
                  <a:srgbClr val="000099"/>
                </a:solidFill>
              </a:rPr>
              <a:t>DNA</a:t>
            </a:r>
            <a:r>
              <a:rPr lang="zh-CN" altLang="en-US" dirty="0">
                <a:solidFill>
                  <a:srgbClr val="000099"/>
                </a:solidFill>
              </a:rPr>
              <a:t>双链中间的碱基比两头的碱基稳定</a:t>
            </a:r>
            <a:r>
              <a:rPr lang="en-US" altLang="zh-CN" dirty="0">
                <a:solidFill>
                  <a:srgbClr val="000099"/>
                </a:solidFill>
              </a:rPr>
              <a:t>.   </a:t>
            </a:r>
          </a:p>
          <a:p>
            <a:pPr eaLnBrk="1" hangingPunct="1"/>
            <a:endParaRPr lang="en-US" altLang="zh-CN" dirty="0">
              <a:solidFill>
                <a:srgbClr val="000099"/>
              </a:solidFill>
            </a:endParaRPr>
          </a:p>
          <a:p>
            <a:pPr eaLnBrk="1" hangingPunct="1"/>
            <a:r>
              <a:rPr lang="en-US" altLang="zh-CN" dirty="0">
                <a:solidFill>
                  <a:srgbClr val="000099"/>
                </a:solidFill>
              </a:rPr>
              <a:t>The phosphate groups, with a </a:t>
            </a:r>
            <a:r>
              <a:rPr lang="en-US" altLang="zh-CN" dirty="0" err="1">
                <a:solidFill>
                  <a:srgbClr val="000099"/>
                </a:solidFill>
              </a:rPr>
              <a:t>pKa</a:t>
            </a:r>
            <a:r>
              <a:rPr lang="en-US" altLang="zh-CN" dirty="0">
                <a:solidFill>
                  <a:srgbClr val="000099"/>
                </a:solidFill>
              </a:rPr>
              <a:t> near 0, are completely ionized and negatively charged at pH 7, and the negative charges are generally neutralized by ionic interactions with positive charges on proteins, metal ions, and polyamines.</a:t>
            </a:r>
          </a:p>
          <a:p>
            <a:pPr eaLnBrk="1" hangingPunct="1"/>
            <a:endParaRPr lang="en-US" altLang="zh-CN" dirty="0">
              <a:solidFill>
                <a:srgbClr val="000099"/>
              </a:solidFill>
            </a:endParaRPr>
          </a:p>
          <a:p>
            <a:pPr eaLnBrk="1" hangingPunct="1"/>
            <a:endParaRPr lang="en-US" altLang="zh-CN" dirty="0">
              <a:solidFill>
                <a:srgbClr val="000099"/>
              </a:solidFill>
            </a:endParaRPr>
          </a:p>
          <a:p>
            <a:pPr eaLnBrk="1" hangingPunct="1"/>
            <a:endParaRPr lang="en-US" altLang="zh-CN" b="1" dirty="0">
              <a:solidFill>
                <a:srgbClr val="000099"/>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A48E35A-2A6D-4F07-ADC0-EF8313D11530}" type="slidenum">
              <a:rPr lang="en-US" altLang="zh-CN" smtClean="0"/>
              <a:pPr>
                <a:defRPr/>
              </a:pPr>
              <a:t>46</a:t>
            </a:fld>
            <a:endParaRPr lang="en-US" altLang="zh-CN"/>
          </a:p>
        </p:txBody>
      </p:sp>
    </p:spTree>
    <p:extLst>
      <p:ext uri="{BB962C8B-B14F-4D97-AF65-F5344CB8AC3E}">
        <p14:creationId xmlns:p14="http://schemas.microsoft.com/office/powerpoint/2010/main" val="42003419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1031">
            <a:extLst>
              <a:ext uri="{FF2B5EF4-FFF2-40B4-BE49-F238E27FC236}">
                <a16:creationId xmlns:a16="http://schemas.microsoft.com/office/drawing/2014/main" id="{0B4E1244-98F8-4602-9F8E-CA5527AC18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0FE4A9C-4622-4E66-9620-E38A0274E3BF}" type="slidenum">
              <a:rPr lang="en-US" altLang="zh-CN" smtClean="0"/>
              <a:pPr>
                <a:spcBef>
                  <a:spcPct val="0"/>
                </a:spcBef>
              </a:pPr>
              <a:t>47</a:t>
            </a:fld>
            <a:endParaRPr lang="en-US" altLang="zh-CN"/>
          </a:p>
        </p:txBody>
      </p:sp>
      <p:sp>
        <p:nvSpPr>
          <p:cNvPr id="138243" name="Rectangle 2">
            <a:extLst>
              <a:ext uri="{FF2B5EF4-FFF2-40B4-BE49-F238E27FC236}">
                <a16:creationId xmlns:a16="http://schemas.microsoft.com/office/drawing/2014/main" id="{F7074416-8B6E-4487-BD25-3EA99B2A1C00}"/>
              </a:ext>
            </a:extLst>
          </p:cNvPr>
          <p:cNvSpPr>
            <a:spLocks noGrp="1" noRot="1" noChangeAspect="1" noChangeArrowheads="1" noTextEdit="1"/>
          </p:cNvSpPr>
          <p:nvPr>
            <p:ph type="sldImg"/>
          </p:nvPr>
        </p:nvSpPr>
        <p:spPr>
          <a:xfrm>
            <a:off x="381000" y="685800"/>
            <a:ext cx="6096000" cy="3429000"/>
          </a:xfrm>
          <a:ln/>
        </p:spPr>
      </p:sp>
      <p:sp>
        <p:nvSpPr>
          <p:cNvPr id="138244" name="Rectangle 3">
            <a:extLst>
              <a:ext uri="{FF2B5EF4-FFF2-40B4-BE49-F238E27FC236}">
                <a16:creationId xmlns:a16="http://schemas.microsoft.com/office/drawing/2014/main" id="{18D6739D-3D91-4044-AC6E-8DD5340DFC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a:extLst>
              <a:ext uri="{FF2B5EF4-FFF2-40B4-BE49-F238E27FC236}">
                <a16:creationId xmlns:a16="http://schemas.microsoft.com/office/drawing/2014/main" id="{2E557338-3AE7-4912-9B61-A80828E9A5D5}"/>
              </a:ext>
            </a:extLst>
          </p:cNvPr>
          <p:cNvSpPr>
            <a:spLocks noGrp="1" noRot="1" noChangeAspect="1" noChangeArrowheads="1" noTextEdit="1"/>
          </p:cNvSpPr>
          <p:nvPr>
            <p:ph type="sldImg"/>
          </p:nvPr>
        </p:nvSpPr>
        <p:spPr>
          <a:xfrm>
            <a:off x="381000" y="685800"/>
            <a:ext cx="6096000" cy="3429000"/>
          </a:xfrm>
          <a:ln/>
        </p:spPr>
      </p:sp>
      <p:sp>
        <p:nvSpPr>
          <p:cNvPr id="142339" name="备注占位符 2">
            <a:extLst>
              <a:ext uri="{FF2B5EF4-FFF2-40B4-BE49-F238E27FC236}">
                <a16:creationId xmlns:a16="http://schemas.microsoft.com/office/drawing/2014/main" id="{90AF7086-7F09-4CB3-9688-16BDD17FFC3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2340" name="灯片编号占位符 3">
            <a:extLst>
              <a:ext uri="{FF2B5EF4-FFF2-40B4-BE49-F238E27FC236}">
                <a16:creationId xmlns:a16="http://schemas.microsoft.com/office/drawing/2014/main" id="{C4980EA8-1BA7-4AC7-B05B-673C0F5BF1C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56DE0AD-8D20-4619-83EE-97CD0ACA2478}" type="slidenum">
              <a:rPr lang="en-US" altLang="zh-CN" sz="1200" smtClean="0"/>
              <a:pPr/>
              <a:t>48</a:t>
            </a:fld>
            <a:endParaRPr lang="en-US" altLang="zh-CN" sz="120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1031">
            <a:extLst>
              <a:ext uri="{FF2B5EF4-FFF2-40B4-BE49-F238E27FC236}">
                <a16:creationId xmlns:a16="http://schemas.microsoft.com/office/drawing/2014/main" id="{57A9FCA5-ED48-4B70-A7E7-BFB499C053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178AA1E-7BC0-4B08-8C6D-6116E5A1BD5C}" type="slidenum">
              <a:rPr lang="en-US" altLang="zh-CN" smtClean="0"/>
              <a:pPr>
                <a:spcBef>
                  <a:spcPct val="0"/>
                </a:spcBef>
              </a:pPr>
              <a:t>49</a:t>
            </a:fld>
            <a:endParaRPr lang="en-US" altLang="zh-CN"/>
          </a:p>
        </p:txBody>
      </p:sp>
      <p:sp>
        <p:nvSpPr>
          <p:cNvPr id="144387" name="Rectangle 2">
            <a:extLst>
              <a:ext uri="{FF2B5EF4-FFF2-40B4-BE49-F238E27FC236}">
                <a16:creationId xmlns:a16="http://schemas.microsoft.com/office/drawing/2014/main" id="{33AB72F1-C449-48B0-887E-660DE4F16AEC}"/>
              </a:ext>
            </a:extLst>
          </p:cNvPr>
          <p:cNvSpPr>
            <a:spLocks noGrp="1" noRot="1" noChangeAspect="1" noChangeArrowheads="1" noTextEdit="1"/>
          </p:cNvSpPr>
          <p:nvPr>
            <p:ph type="sldImg"/>
          </p:nvPr>
        </p:nvSpPr>
        <p:spPr>
          <a:xfrm>
            <a:off x="381000" y="685800"/>
            <a:ext cx="6096000" cy="3429000"/>
          </a:xfrm>
          <a:ln/>
        </p:spPr>
      </p:sp>
      <p:sp>
        <p:nvSpPr>
          <p:cNvPr id="144388" name="Rectangle 3">
            <a:extLst>
              <a:ext uri="{FF2B5EF4-FFF2-40B4-BE49-F238E27FC236}">
                <a16:creationId xmlns:a16="http://schemas.microsoft.com/office/drawing/2014/main" id="{4DF87979-0454-4E97-8265-C82F531808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宋体" panose="02010600030101010101" pitchFamily="2" charset="-122"/>
              </a:rPr>
              <a:t>DNA is a remarkably flexible molecule.  </a:t>
            </a:r>
          </a:p>
          <a:p>
            <a:endParaRPr lang="en-US" altLang="zh-CN" b="1" dirty="0">
              <a:latin typeface="宋体" panose="02010600030101010101" pitchFamily="2" charset="-122"/>
            </a:endParaRPr>
          </a:p>
          <a:p>
            <a:r>
              <a:rPr kumimoji="1" lang="zh-CN" altLang="en-US" dirty="0"/>
              <a:t>由于大沟、小沟是</a:t>
            </a:r>
            <a:r>
              <a:rPr kumimoji="1" lang="en-US" altLang="zh-CN" dirty="0"/>
              <a:t>DNA</a:t>
            </a:r>
            <a:r>
              <a:rPr kumimoji="1" lang="zh-CN" altLang="en-US" dirty="0"/>
              <a:t>行使功能时蛋白质的识别位点，所以由</a:t>
            </a:r>
            <a:r>
              <a:rPr kumimoji="1" lang="en-US" altLang="zh-CN" dirty="0"/>
              <a:t>B</a:t>
            </a:r>
            <a:r>
              <a:rPr kumimoji="1" lang="zh-CN" altLang="en-US" dirty="0"/>
              <a:t>－</a:t>
            </a:r>
            <a:r>
              <a:rPr kumimoji="1" lang="en-US" altLang="zh-CN" dirty="0"/>
              <a:t>DNA</a:t>
            </a:r>
            <a:r>
              <a:rPr kumimoji="1" lang="zh-CN" altLang="en-US" dirty="0"/>
              <a:t>变为</a:t>
            </a:r>
            <a:r>
              <a:rPr kumimoji="1" lang="en-US" altLang="zh-CN" dirty="0"/>
              <a:t>A</a:t>
            </a:r>
            <a:r>
              <a:rPr kumimoji="1" lang="zh-CN" altLang="en-US" dirty="0"/>
              <a:t>－</a:t>
            </a:r>
            <a:r>
              <a:rPr kumimoji="1" lang="en-US" altLang="zh-CN" dirty="0"/>
              <a:t>DNA</a:t>
            </a:r>
            <a:r>
              <a:rPr kumimoji="1" lang="zh-CN" altLang="en-US" dirty="0"/>
              <a:t>后，蛋白质对</a:t>
            </a:r>
            <a:r>
              <a:rPr kumimoji="1" lang="en-US" altLang="zh-CN" dirty="0"/>
              <a:t>DNA</a:t>
            </a:r>
            <a:r>
              <a:rPr kumimoji="1" lang="zh-CN" altLang="en-US" dirty="0"/>
              <a:t>分子的识别也发生了相应变化。</a:t>
            </a:r>
            <a:endParaRPr kumimoji="1" lang="en-US" altLang="zh-CN" dirty="0"/>
          </a:p>
          <a:p>
            <a:endParaRPr kumimoji="1" lang="en-US" altLang="zh-CN" dirty="0"/>
          </a:p>
          <a:p>
            <a:r>
              <a:rPr lang="en-US" altLang="zh-CN" b="1" dirty="0">
                <a:latin typeface="宋体" panose="02010600030101010101" pitchFamily="2" charset="-122"/>
              </a:rPr>
              <a:t>RNA</a:t>
            </a:r>
            <a:r>
              <a:rPr lang="zh-CN" altLang="en-US" b="1" dirty="0">
                <a:latin typeface="宋体" panose="02010600030101010101" pitchFamily="2" charset="-122"/>
              </a:rPr>
              <a:t>分子中的双链区，以及</a:t>
            </a:r>
            <a:r>
              <a:rPr lang="en-US" altLang="zh-CN" b="1" dirty="0">
                <a:latin typeface="宋体" panose="02010600030101010101" pitchFamily="2" charset="-122"/>
              </a:rPr>
              <a:t>DNA-RNA</a:t>
            </a:r>
            <a:r>
              <a:rPr lang="zh-CN" altLang="en-US" b="1" dirty="0">
                <a:latin typeface="宋体" panose="02010600030101010101" pitchFamily="2" charset="-122"/>
              </a:rPr>
              <a:t>杂交双链的结构类似</a:t>
            </a:r>
            <a:r>
              <a:rPr lang="en-US" altLang="zh-CN" b="1" dirty="0">
                <a:latin typeface="宋体" panose="02010600030101010101" pitchFamily="2" charset="-122"/>
              </a:rPr>
              <a:t>A</a:t>
            </a:r>
            <a:r>
              <a:rPr lang="zh-CN" altLang="en-US" b="1" dirty="0">
                <a:latin typeface="宋体" panose="02010600030101010101" pitchFamily="2" charset="-122"/>
              </a:rPr>
              <a:t>型</a:t>
            </a:r>
            <a:r>
              <a:rPr lang="en-US" altLang="zh-CN" b="1" dirty="0">
                <a:latin typeface="宋体" panose="02010600030101010101" pitchFamily="2" charset="-122"/>
              </a:rPr>
              <a:t>DNA</a:t>
            </a:r>
            <a:r>
              <a:rPr lang="zh-CN" altLang="en-US" b="1" dirty="0">
                <a:latin typeface="宋体" panose="02010600030101010101" pitchFamily="2" charset="-122"/>
              </a:rPr>
              <a:t>。   </a:t>
            </a:r>
            <a:r>
              <a:rPr lang="en-US" altLang="zh-CN" dirty="0">
                <a:latin typeface="宋体" panose="02010600030101010101" pitchFamily="2" charset="-122"/>
              </a:rPr>
              <a:t>C</a:t>
            </a:r>
            <a:r>
              <a:rPr lang="zh-CN" altLang="en-US" dirty="0">
                <a:latin typeface="宋体" panose="02010600030101010101" pitchFamily="2" charset="-122"/>
              </a:rPr>
              <a:t>、</a:t>
            </a:r>
            <a:r>
              <a:rPr lang="en-US" altLang="zh-CN" dirty="0">
                <a:latin typeface="宋体" panose="02010600030101010101" pitchFamily="2" charset="-122"/>
              </a:rPr>
              <a:t>D</a:t>
            </a:r>
            <a:r>
              <a:rPr lang="zh-CN" altLang="en-US" dirty="0">
                <a:latin typeface="宋体" panose="02010600030101010101" pitchFamily="2" charset="-122"/>
              </a:rPr>
              <a:t>、</a:t>
            </a:r>
            <a:r>
              <a:rPr lang="en-US" altLang="zh-CN" dirty="0">
                <a:latin typeface="宋体" panose="02010600030101010101" pitchFamily="2" charset="-122"/>
              </a:rPr>
              <a:t>E</a:t>
            </a:r>
            <a:r>
              <a:rPr lang="zh-CN" altLang="en-US" dirty="0">
                <a:latin typeface="宋体" panose="02010600030101010101" pitchFamily="2" charset="-122"/>
              </a:rPr>
              <a:t>型和</a:t>
            </a:r>
            <a:r>
              <a:rPr lang="en-US" altLang="zh-CN" dirty="0">
                <a:latin typeface="宋体" panose="02010600030101010101" pitchFamily="2" charset="-122"/>
              </a:rPr>
              <a:t>B</a:t>
            </a:r>
            <a:r>
              <a:rPr lang="zh-CN" altLang="en-US" dirty="0">
                <a:latin typeface="宋体" panose="02010600030101010101" pitchFamily="2" charset="-122"/>
              </a:rPr>
              <a:t>型较接近，可和</a:t>
            </a:r>
            <a:r>
              <a:rPr lang="en-US" altLang="zh-CN" dirty="0">
                <a:latin typeface="宋体" panose="02010600030101010101" pitchFamily="2" charset="-122"/>
              </a:rPr>
              <a:t>B</a:t>
            </a:r>
            <a:r>
              <a:rPr lang="zh-CN" altLang="en-US" dirty="0">
                <a:latin typeface="宋体" panose="02010600030101010101" pitchFamily="2" charset="-122"/>
              </a:rPr>
              <a:t>型看成同一族</a:t>
            </a:r>
            <a:r>
              <a:rPr lang="zh-CN" altLang="en-US" b="1" dirty="0">
                <a:latin typeface="宋体" panose="02010600030101010101" pitchFamily="2" charset="-122"/>
              </a:rPr>
              <a:t>。 </a:t>
            </a:r>
            <a:r>
              <a:rPr lang="en-US" altLang="zh-CN" dirty="0"/>
              <a:t>The B form of RNA has not been observed.</a:t>
            </a:r>
            <a:endParaRPr lang="zh-CN" altLang="en-US" b="1" dirty="0">
              <a:latin typeface="宋体" panose="02010600030101010101" pitchFamily="2" charset="-122"/>
            </a:endParaRPr>
          </a:p>
          <a:p>
            <a:pPr eaLnBrk="1" hangingPunct="1"/>
            <a:endParaRPr lang="en-US" altLang="zh-CN" dirty="0">
              <a:latin typeface="宋体" panose="02010600030101010101" pitchFamily="2" charset="-122"/>
            </a:endParaRPr>
          </a:p>
          <a:p>
            <a:pPr eaLnBrk="1" hangingPunct="1"/>
            <a:r>
              <a:rPr lang="zh-CN" altLang="en-US" dirty="0">
                <a:latin typeface="宋体" panose="02010600030101010101" pitchFamily="2" charset="-122"/>
              </a:rPr>
              <a:t>所谓</a:t>
            </a:r>
            <a:r>
              <a:rPr lang="en-US" altLang="zh-CN" dirty="0">
                <a:latin typeface="宋体" panose="02010600030101010101" pitchFamily="2" charset="-122"/>
              </a:rPr>
              <a:t>DNA</a:t>
            </a:r>
            <a:r>
              <a:rPr lang="zh-CN" altLang="en-US" dirty="0">
                <a:latin typeface="宋体" panose="02010600030101010101" pitchFamily="2" charset="-122"/>
              </a:rPr>
              <a:t>二级结构的多态性，是指</a:t>
            </a:r>
            <a:r>
              <a:rPr lang="en-US" altLang="zh-CN" dirty="0">
                <a:latin typeface="宋体" panose="02010600030101010101" pitchFamily="2" charset="-122"/>
              </a:rPr>
              <a:t>DNA</a:t>
            </a:r>
            <a:r>
              <a:rPr lang="zh-CN" altLang="en-US" dirty="0">
                <a:latin typeface="宋体" panose="02010600030101010101" pitchFamily="2" charset="-122"/>
              </a:rPr>
              <a:t>不仅具有多种形式的双螺旋结构，而且还能形成三链、四链结构，说明</a:t>
            </a:r>
            <a:r>
              <a:rPr lang="en-US" altLang="zh-CN" b="1" dirty="0">
                <a:latin typeface="宋体" panose="02010600030101010101" pitchFamily="2" charset="-122"/>
              </a:rPr>
              <a:t>DNA</a:t>
            </a:r>
            <a:r>
              <a:rPr lang="zh-CN" altLang="en-US" b="1" dirty="0">
                <a:latin typeface="宋体" panose="02010600030101010101" pitchFamily="2" charset="-122"/>
              </a:rPr>
              <a:t>的结构是动态的，而不是静态的</a:t>
            </a:r>
            <a:r>
              <a:rPr lang="zh-CN" altLang="en-US" dirty="0">
                <a:latin typeface="宋体" panose="02010600030101010101" pitchFamily="2" charset="-122"/>
              </a:rPr>
              <a:t>。</a:t>
            </a:r>
            <a:r>
              <a:rPr lang="zh-CN" altLang="en-US" dirty="0">
                <a:latin typeface="黑体" panose="02010609060101010101" pitchFamily="49" charset="-122"/>
                <a:ea typeface="黑体" panose="02010609060101010101" pitchFamily="49" charset="-122"/>
              </a:rPr>
              <a:t>产生的原因在于多核苷酸链的骨架含有许多可转动的单链，从而使糖环可采取不同的构象</a:t>
            </a:r>
            <a:r>
              <a:rPr lang="zh-CN" altLang="en-US" dirty="0"/>
              <a:t>。</a:t>
            </a:r>
          </a:p>
          <a:p>
            <a:pPr eaLnBrk="1" hangingPunct="1"/>
            <a:endParaRPr kumimoji="1" lang="zh-CN" altLang="en-US" b="1"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a:extLst>
              <a:ext uri="{FF2B5EF4-FFF2-40B4-BE49-F238E27FC236}">
                <a16:creationId xmlns:a16="http://schemas.microsoft.com/office/drawing/2014/main" id="{8CB517B3-7096-453D-84FD-50529BC67E80}"/>
              </a:ext>
            </a:extLst>
          </p:cNvPr>
          <p:cNvSpPr>
            <a:spLocks noGrp="1" noRot="1" noChangeAspect="1" noChangeArrowheads="1" noTextEdit="1"/>
          </p:cNvSpPr>
          <p:nvPr>
            <p:ph type="sldImg"/>
          </p:nvPr>
        </p:nvSpPr>
        <p:spPr>
          <a:xfrm>
            <a:off x="381000" y="685800"/>
            <a:ext cx="6096000" cy="3429000"/>
          </a:xfrm>
          <a:ln/>
        </p:spPr>
      </p:sp>
      <p:sp>
        <p:nvSpPr>
          <p:cNvPr id="146435" name="备注占位符 2">
            <a:extLst>
              <a:ext uri="{FF2B5EF4-FFF2-40B4-BE49-F238E27FC236}">
                <a16:creationId xmlns:a16="http://schemas.microsoft.com/office/drawing/2014/main" id="{9F1DD948-1FC7-480C-BFCC-005BA3B9338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dirty="0"/>
              <a:t>主要把握</a:t>
            </a:r>
            <a:r>
              <a:rPr lang="en-US" altLang="zh-CN" b="1" dirty="0"/>
              <a:t>B</a:t>
            </a:r>
            <a:r>
              <a:rPr lang="zh-CN" altLang="en-US" b="1" dirty="0"/>
              <a:t>型</a:t>
            </a:r>
            <a:r>
              <a:rPr lang="en-US" altLang="zh-CN" b="1" dirty="0"/>
              <a:t>DNA</a:t>
            </a:r>
            <a:r>
              <a:rPr lang="zh-CN" altLang="en-US" b="1" dirty="0"/>
              <a:t>结构特点</a:t>
            </a:r>
            <a:endParaRPr lang="en-US" altLang="zh-CN" b="1" dirty="0"/>
          </a:p>
          <a:p>
            <a:endParaRPr lang="en-US" altLang="zh-CN" dirty="0"/>
          </a:p>
          <a:p>
            <a:r>
              <a:rPr lang="en-US" altLang="zh-CN" dirty="0"/>
              <a:t>DNA</a:t>
            </a:r>
            <a:r>
              <a:rPr lang="zh-CN" altLang="en-US" dirty="0"/>
              <a:t>的构象受湿度、盐浓度、离子种类、有机溶液溶剂等影响。增加</a:t>
            </a:r>
            <a:r>
              <a:rPr lang="en-US" altLang="zh-CN" dirty="0"/>
              <a:t>NaCl</a:t>
            </a:r>
            <a:r>
              <a:rPr lang="zh-CN" altLang="en-US" dirty="0"/>
              <a:t>浓度可使</a:t>
            </a:r>
            <a:r>
              <a:rPr lang="en-US" altLang="zh-CN" dirty="0"/>
              <a:t>B</a:t>
            </a:r>
            <a:r>
              <a:rPr lang="zh-CN" altLang="en-US" dirty="0"/>
              <a:t>构型变为</a:t>
            </a:r>
            <a:r>
              <a:rPr lang="en-US" altLang="zh-CN" dirty="0"/>
              <a:t>A</a:t>
            </a:r>
            <a:r>
              <a:rPr lang="zh-CN" altLang="en-US" dirty="0"/>
              <a:t>构型。 当</a:t>
            </a:r>
            <a:r>
              <a:rPr lang="en-US" altLang="zh-CN" dirty="0"/>
              <a:t>DNA</a:t>
            </a:r>
            <a:r>
              <a:rPr lang="zh-CN" altLang="en-US" dirty="0"/>
              <a:t>是钠盐时，</a:t>
            </a:r>
            <a:r>
              <a:rPr lang="en-US" altLang="zh-CN" dirty="0"/>
              <a:t>A</a:t>
            </a:r>
            <a:r>
              <a:rPr lang="zh-CN" altLang="en-US" dirty="0"/>
              <a:t>、</a:t>
            </a:r>
            <a:r>
              <a:rPr lang="en-US" altLang="zh-CN" dirty="0"/>
              <a:t>B</a:t>
            </a:r>
            <a:r>
              <a:rPr lang="zh-CN" altLang="en-US" dirty="0"/>
              <a:t>、</a:t>
            </a:r>
            <a:r>
              <a:rPr lang="en-US" altLang="zh-CN" dirty="0"/>
              <a:t>C</a:t>
            </a:r>
            <a:r>
              <a:rPr lang="zh-CN" altLang="en-US" dirty="0"/>
              <a:t>三种构型都可出现，改成锂盐时，只有</a:t>
            </a:r>
            <a:r>
              <a:rPr lang="en-US" altLang="zh-CN" dirty="0"/>
              <a:t>B</a:t>
            </a:r>
            <a:r>
              <a:rPr lang="zh-CN" altLang="en-US" dirty="0"/>
              <a:t>型和</a:t>
            </a:r>
            <a:r>
              <a:rPr lang="en-US" altLang="zh-CN" dirty="0"/>
              <a:t>C</a:t>
            </a:r>
            <a:r>
              <a:rPr lang="zh-CN" altLang="en-US" dirty="0"/>
              <a:t>型可能出现</a:t>
            </a:r>
            <a:endParaRPr lang="en-US" altLang="zh-CN" dirty="0"/>
          </a:p>
          <a:p>
            <a:endParaRPr lang="en-US" altLang="zh-CN" dirty="0"/>
          </a:p>
          <a:p>
            <a:r>
              <a:rPr lang="en-US" altLang="zh-CN" dirty="0"/>
              <a:t>Z</a:t>
            </a:r>
            <a:r>
              <a:rPr lang="zh-CN" altLang="en-US" dirty="0"/>
              <a:t>型</a:t>
            </a:r>
            <a:r>
              <a:rPr lang="en-US" altLang="zh-CN" dirty="0"/>
              <a:t>DNA</a:t>
            </a:r>
            <a:r>
              <a:rPr lang="zh-CN" altLang="en-US" dirty="0"/>
              <a:t>的序列必须含有鸟嘌呤，且</a:t>
            </a:r>
            <a:r>
              <a:rPr lang="zh-CN" altLang="en-US" b="1" dirty="0"/>
              <a:t>嘌呤与嘧啶交替出现。 </a:t>
            </a:r>
            <a:endParaRPr lang="en-US" altLang="zh-CN" b="1" dirty="0"/>
          </a:p>
          <a:p>
            <a:endParaRPr lang="en-US" altLang="zh-CN" dirty="0"/>
          </a:p>
          <a:p>
            <a:endParaRPr lang="zh-CN" altLang="en-US" dirty="0"/>
          </a:p>
        </p:txBody>
      </p:sp>
      <p:sp>
        <p:nvSpPr>
          <p:cNvPr id="146436" name="灯片编号占位符 3">
            <a:extLst>
              <a:ext uri="{FF2B5EF4-FFF2-40B4-BE49-F238E27FC236}">
                <a16:creationId xmlns:a16="http://schemas.microsoft.com/office/drawing/2014/main" id="{714D0A2C-0915-4FC4-AFE7-9C96F3BB01E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558ED8D-87C5-4224-8B42-0A42C9BBE63B}" type="slidenum">
              <a:rPr lang="en-US" altLang="zh-CN" sz="1200" smtClean="0"/>
              <a:pPr/>
              <a:t>50</a:t>
            </a:fld>
            <a:endParaRPr lang="en-US" altLang="zh-CN" sz="120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reverted repeat</a:t>
            </a:r>
            <a:endParaRPr lang="zh-CN" altLang="en-US" dirty="0"/>
          </a:p>
        </p:txBody>
      </p:sp>
      <p:sp>
        <p:nvSpPr>
          <p:cNvPr id="4" name="灯片编号占位符 3"/>
          <p:cNvSpPr>
            <a:spLocks noGrp="1"/>
          </p:cNvSpPr>
          <p:nvPr>
            <p:ph type="sldNum" sz="quarter" idx="5"/>
          </p:nvPr>
        </p:nvSpPr>
        <p:spPr/>
        <p:txBody>
          <a:bodyPr/>
          <a:lstStyle/>
          <a:p>
            <a:pPr>
              <a:defRPr/>
            </a:pPr>
            <a:fld id="{2A48E35A-2A6D-4F07-ADC0-EF8313D11530}" type="slidenum">
              <a:rPr lang="en-US" altLang="zh-CN" smtClean="0"/>
              <a:pPr>
                <a:defRPr/>
              </a:pPr>
              <a:t>51</a:t>
            </a:fld>
            <a:endParaRPr lang="en-US" altLang="zh-CN"/>
          </a:p>
        </p:txBody>
      </p:sp>
    </p:spTree>
    <p:extLst>
      <p:ext uri="{BB962C8B-B14F-4D97-AF65-F5344CB8AC3E}">
        <p14:creationId xmlns:p14="http://schemas.microsoft.com/office/powerpoint/2010/main" val="15911511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II</a:t>
            </a:r>
            <a:r>
              <a:rPr lang="zh-CN" altLang="en-US" dirty="0"/>
              <a:t>型限制性核酸内切酶识别回文序列，并在特定部位切割</a:t>
            </a:r>
            <a:r>
              <a:rPr lang="en-US" altLang="zh-CN" dirty="0"/>
              <a:t>DNA </a:t>
            </a:r>
            <a:endParaRPr lang="zh-CN" altLang="en-US" dirty="0"/>
          </a:p>
        </p:txBody>
      </p:sp>
      <p:sp>
        <p:nvSpPr>
          <p:cNvPr id="4" name="灯片编号占位符 3"/>
          <p:cNvSpPr>
            <a:spLocks noGrp="1"/>
          </p:cNvSpPr>
          <p:nvPr>
            <p:ph type="sldNum" sz="quarter" idx="5"/>
          </p:nvPr>
        </p:nvSpPr>
        <p:spPr/>
        <p:txBody>
          <a:bodyPr/>
          <a:lstStyle/>
          <a:p>
            <a:pPr>
              <a:defRPr/>
            </a:pPr>
            <a:fld id="{2A48E35A-2A6D-4F07-ADC0-EF8313D11530}" type="slidenum">
              <a:rPr lang="en-US" altLang="zh-CN" smtClean="0"/>
              <a:pPr>
                <a:defRPr/>
              </a:pPr>
              <a:t>52</a:t>
            </a:fld>
            <a:endParaRPr lang="en-US" altLang="zh-CN"/>
          </a:p>
        </p:txBody>
      </p:sp>
    </p:spTree>
    <p:extLst>
      <p:ext uri="{BB962C8B-B14F-4D97-AF65-F5344CB8AC3E}">
        <p14:creationId xmlns:p14="http://schemas.microsoft.com/office/powerpoint/2010/main" val="12208446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1031">
            <a:extLst>
              <a:ext uri="{FF2B5EF4-FFF2-40B4-BE49-F238E27FC236}">
                <a16:creationId xmlns:a16="http://schemas.microsoft.com/office/drawing/2014/main" id="{E8FA5EE0-C155-44F9-BCFC-80DC0D9B45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C86C7D5-2F07-4256-9B51-AC87B4AC56DC}" type="slidenum">
              <a:rPr lang="en-US" altLang="zh-CN" smtClean="0"/>
              <a:pPr>
                <a:spcBef>
                  <a:spcPct val="0"/>
                </a:spcBef>
              </a:pPr>
              <a:t>53</a:t>
            </a:fld>
            <a:endParaRPr lang="en-US" altLang="zh-CN"/>
          </a:p>
        </p:txBody>
      </p:sp>
      <p:sp>
        <p:nvSpPr>
          <p:cNvPr id="149507" name="Rectangle 2">
            <a:extLst>
              <a:ext uri="{FF2B5EF4-FFF2-40B4-BE49-F238E27FC236}">
                <a16:creationId xmlns:a16="http://schemas.microsoft.com/office/drawing/2014/main" id="{198D5D7B-EDEB-4716-B890-FB0FEEDF5A3C}"/>
              </a:ext>
            </a:extLst>
          </p:cNvPr>
          <p:cNvSpPr>
            <a:spLocks noGrp="1" noRot="1" noChangeAspect="1" noChangeArrowheads="1" noTextEdit="1"/>
          </p:cNvSpPr>
          <p:nvPr>
            <p:ph type="sldImg"/>
          </p:nvPr>
        </p:nvSpPr>
        <p:spPr>
          <a:xfrm>
            <a:off x="381000" y="685800"/>
            <a:ext cx="6096000" cy="3429000"/>
          </a:xfrm>
          <a:ln/>
        </p:spPr>
      </p:sp>
      <p:sp>
        <p:nvSpPr>
          <p:cNvPr id="149508" name="Rectangle 3">
            <a:extLst>
              <a:ext uri="{FF2B5EF4-FFF2-40B4-BE49-F238E27FC236}">
                <a16:creationId xmlns:a16="http://schemas.microsoft.com/office/drawing/2014/main" id="{64C8C033-1A0C-4932-BA58-99F496D5F6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dirty="0">
                <a:solidFill>
                  <a:srgbClr val="3333FF"/>
                </a:solidFill>
                <a:latin typeface="隶书" panose="02010509060101010101" pitchFamily="49" charset="-122"/>
                <a:ea typeface="隶书" panose="02010509060101010101" pitchFamily="49" charset="-122"/>
              </a:rPr>
              <a:t>多聚嘧啶</a:t>
            </a:r>
            <a:r>
              <a:rPr lang="zh-CN" altLang="en-US" dirty="0">
                <a:solidFill>
                  <a:srgbClr val="3333FF"/>
                </a:solidFill>
                <a:latin typeface="隶书" panose="02010509060101010101" pitchFamily="49" charset="-122"/>
                <a:ea typeface="隶书" panose="02010509060101010101" pitchFamily="49" charset="-122"/>
              </a:rPr>
              <a:t>和</a:t>
            </a:r>
            <a:r>
              <a:rPr lang="zh-CN" altLang="en-US" b="1" dirty="0">
                <a:solidFill>
                  <a:srgbClr val="3333FF"/>
                </a:solidFill>
                <a:latin typeface="隶书" panose="02010509060101010101" pitchFamily="49" charset="-122"/>
                <a:ea typeface="隶书" panose="02010509060101010101" pitchFamily="49" charset="-122"/>
              </a:rPr>
              <a:t>多聚嘌呤</a:t>
            </a:r>
            <a:r>
              <a:rPr lang="zh-CN" altLang="en-US" dirty="0">
                <a:solidFill>
                  <a:srgbClr val="3333FF"/>
                </a:solidFill>
                <a:latin typeface="隶书" panose="02010509060101010101" pitchFamily="49" charset="-122"/>
                <a:ea typeface="隶书" panose="02010509060101010101" pitchFamily="49" charset="-122"/>
              </a:rPr>
              <a:t>组成的</a:t>
            </a:r>
            <a:r>
              <a:rPr lang="en-US" altLang="zh-CN" dirty="0">
                <a:solidFill>
                  <a:srgbClr val="3333FF"/>
                </a:solidFill>
                <a:latin typeface="隶书" panose="02010509060101010101" pitchFamily="49" charset="-122"/>
                <a:ea typeface="隶书" panose="02010509060101010101" pitchFamily="49" charset="-122"/>
              </a:rPr>
              <a:t>DNA</a:t>
            </a:r>
            <a:r>
              <a:rPr lang="zh-CN" altLang="en-US" dirty="0">
                <a:solidFill>
                  <a:srgbClr val="3333FF"/>
                </a:solidFill>
                <a:latin typeface="隶书" panose="02010509060101010101" pitchFamily="49" charset="-122"/>
                <a:ea typeface="隶书" panose="02010509060101010101" pitchFamily="49" charset="-122"/>
              </a:rPr>
              <a:t>螺旋区段，其序列中有较长的镜像重复时，形成局部三股配对，并互相盘绕的三股螺旋，其中两股的碱基按</a:t>
            </a:r>
            <a:r>
              <a:rPr lang="en-US" altLang="zh-CN" dirty="0">
                <a:solidFill>
                  <a:srgbClr val="3333FF"/>
                </a:solidFill>
                <a:latin typeface="隶书" panose="02010509060101010101" pitchFamily="49" charset="-122"/>
                <a:ea typeface="隶书" panose="02010509060101010101" pitchFamily="49" charset="-122"/>
              </a:rPr>
              <a:t>Watson-Crick</a:t>
            </a:r>
            <a:r>
              <a:rPr lang="zh-CN" altLang="en-US" dirty="0">
                <a:solidFill>
                  <a:srgbClr val="3333FF"/>
                </a:solidFill>
                <a:latin typeface="隶书" panose="02010509060101010101" pitchFamily="49" charset="-122"/>
                <a:ea typeface="隶书" panose="02010509060101010101" pitchFamily="49" charset="-122"/>
              </a:rPr>
              <a:t>方式配对，第三股多聚嘧啶（镜像重复）通过</a:t>
            </a:r>
            <a:r>
              <a:rPr lang="en-US" altLang="zh-CN" dirty="0">
                <a:solidFill>
                  <a:srgbClr val="3333FF"/>
                </a:solidFill>
                <a:latin typeface="隶书" panose="02010509060101010101" pitchFamily="49" charset="-122"/>
                <a:ea typeface="隶书" panose="02010509060101010101" pitchFamily="49" charset="-122"/>
              </a:rPr>
              <a:t>TAT</a:t>
            </a:r>
            <a:r>
              <a:rPr lang="zh-CN" altLang="en-US" dirty="0">
                <a:solidFill>
                  <a:srgbClr val="3333FF"/>
                </a:solidFill>
                <a:latin typeface="隶书" panose="02010509060101010101" pitchFamily="49" charset="-122"/>
                <a:ea typeface="隶书" panose="02010509060101010101" pitchFamily="49" charset="-122"/>
              </a:rPr>
              <a:t>和</a:t>
            </a:r>
            <a:r>
              <a:rPr lang="en-US" altLang="zh-CN" dirty="0">
                <a:solidFill>
                  <a:srgbClr val="3333FF"/>
                </a:solidFill>
                <a:latin typeface="隶书" panose="02010509060101010101" pitchFamily="49" charset="-122"/>
                <a:ea typeface="隶书" panose="02010509060101010101" pitchFamily="49" charset="-122"/>
              </a:rPr>
              <a:t>CGC</a:t>
            </a:r>
            <a:r>
              <a:rPr lang="en-US" altLang="zh-CN" baseline="30000" dirty="0">
                <a:solidFill>
                  <a:srgbClr val="3333FF"/>
                </a:solidFill>
                <a:latin typeface="隶书" panose="02010509060101010101" pitchFamily="49" charset="-122"/>
                <a:ea typeface="隶书" panose="02010509060101010101" pitchFamily="49" charset="-122"/>
              </a:rPr>
              <a:t>+</a:t>
            </a:r>
            <a:r>
              <a:rPr lang="zh-CN" altLang="en-US" dirty="0">
                <a:solidFill>
                  <a:srgbClr val="3333FF"/>
                </a:solidFill>
                <a:latin typeface="隶书" panose="02010509060101010101" pitchFamily="49" charset="-122"/>
                <a:ea typeface="隶书" panose="02010509060101010101" pitchFamily="49" charset="-122"/>
              </a:rPr>
              <a:t>配对，而处于双螺旋的大沟中。   </a:t>
            </a:r>
            <a:endParaRPr lang="en-US" altLang="zh-CN" dirty="0">
              <a:solidFill>
                <a:srgbClr val="3333FF"/>
              </a:solidFill>
              <a:latin typeface="隶书" panose="02010509060101010101" pitchFamily="49" charset="-122"/>
              <a:ea typeface="隶书" panose="02010509060101010101" pitchFamily="49"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1031">
            <a:extLst>
              <a:ext uri="{FF2B5EF4-FFF2-40B4-BE49-F238E27FC236}">
                <a16:creationId xmlns:a16="http://schemas.microsoft.com/office/drawing/2014/main" id="{70F2CDBC-9271-4E98-9015-D4D2C7D62E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8DA972C-A3C5-4B0F-B0E4-5162672069C2}" type="slidenum">
              <a:rPr lang="en-US" altLang="zh-CN" smtClean="0"/>
              <a:pPr>
                <a:spcBef>
                  <a:spcPct val="0"/>
                </a:spcBef>
              </a:pPr>
              <a:t>54</a:t>
            </a:fld>
            <a:endParaRPr lang="en-US" altLang="zh-CN"/>
          </a:p>
        </p:txBody>
      </p:sp>
      <p:sp>
        <p:nvSpPr>
          <p:cNvPr id="151555" name="Rectangle 2">
            <a:extLst>
              <a:ext uri="{FF2B5EF4-FFF2-40B4-BE49-F238E27FC236}">
                <a16:creationId xmlns:a16="http://schemas.microsoft.com/office/drawing/2014/main" id="{3F9713E0-949F-43CA-8778-D282F9E56997}"/>
              </a:ext>
            </a:extLst>
          </p:cNvPr>
          <p:cNvSpPr>
            <a:spLocks noGrp="1" noRot="1" noChangeAspect="1" noChangeArrowheads="1" noTextEdit="1"/>
          </p:cNvSpPr>
          <p:nvPr>
            <p:ph type="sldImg"/>
          </p:nvPr>
        </p:nvSpPr>
        <p:spPr>
          <a:xfrm>
            <a:off x="381000" y="685800"/>
            <a:ext cx="6096000" cy="3429000"/>
          </a:xfrm>
          <a:ln/>
        </p:spPr>
      </p:sp>
      <p:sp>
        <p:nvSpPr>
          <p:cNvPr id="151556" name="Rectangle 3">
            <a:extLst>
              <a:ext uri="{FF2B5EF4-FFF2-40B4-BE49-F238E27FC236}">
                <a16:creationId xmlns:a16="http://schemas.microsoft.com/office/drawing/2014/main" id="{B8A82D06-D335-47DE-BDEB-BF6AB3D17C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stable at low pH</a:t>
            </a:r>
          </a:p>
          <a:p>
            <a:endParaRPr lang="en-US" altLang="zh-CN" dirty="0"/>
          </a:p>
          <a:p>
            <a:r>
              <a:rPr lang="zh-CN" altLang="en-US" dirty="0"/>
              <a:t>在酸性</a:t>
            </a:r>
            <a:r>
              <a:rPr lang="en-US" altLang="zh-CN" dirty="0"/>
              <a:t>pH</a:t>
            </a:r>
            <a:r>
              <a:rPr lang="zh-CN" altLang="en-US" dirty="0"/>
              <a:t>或负超螺旋张力的情况下出现</a:t>
            </a:r>
            <a:r>
              <a:rPr lang="en-US" altLang="zh-CN" dirty="0"/>
              <a:t>H-</a:t>
            </a:r>
            <a:r>
              <a:rPr lang="zh-CN" altLang="en-US" dirty="0"/>
              <a:t>回文结构的区域可能发生</a:t>
            </a:r>
            <a:r>
              <a:rPr lang="en-US" altLang="zh-CN" dirty="0"/>
              <a:t>B</a:t>
            </a:r>
            <a:r>
              <a:rPr lang="zh-CN" altLang="en-US" dirty="0"/>
              <a:t>型到</a:t>
            </a:r>
            <a:r>
              <a:rPr lang="en-US" altLang="zh-CN" dirty="0"/>
              <a:t>H-DNA</a:t>
            </a:r>
            <a:r>
              <a:rPr lang="zh-CN" altLang="en-US" dirty="0"/>
              <a:t>的转变。 酸性</a:t>
            </a:r>
            <a:r>
              <a:rPr lang="en-US" altLang="zh-CN" dirty="0"/>
              <a:t>pH</a:t>
            </a:r>
            <a:r>
              <a:rPr lang="zh-CN" altLang="en-US" dirty="0"/>
              <a:t>会促进胞嘧啶的质子化。 </a:t>
            </a:r>
            <a:endParaRPr lang="zh-CN" altLang="zh-CN"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1031">
            <a:extLst>
              <a:ext uri="{FF2B5EF4-FFF2-40B4-BE49-F238E27FC236}">
                <a16:creationId xmlns:a16="http://schemas.microsoft.com/office/drawing/2014/main" id="{084C127C-68CB-459D-88C0-2F5DB70F53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C10C778-30B5-451F-8EA6-8A02D9C682A8}" type="slidenum">
              <a:rPr lang="en-US" altLang="zh-CN" smtClean="0"/>
              <a:pPr>
                <a:spcBef>
                  <a:spcPct val="0"/>
                </a:spcBef>
              </a:pPr>
              <a:t>55</a:t>
            </a:fld>
            <a:endParaRPr lang="en-US" altLang="zh-CN"/>
          </a:p>
        </p:txBody>
      </p:sp>
      <p:sp>
        <p:nvSpPr>
          <p:cNvPr id="153603" name="Rectangle 2">
            <a:extLst>
              <a:ext uri="{FF2B5EF4-FFF2-40B4-BE49-F238E27FC236}">
                <a16:creationId xmlns:a16="http://schemas.microsoft.com/office/drawing/2014/main" id="{69A8AF86-C029-4AC2-916A-DA17426CA9FB}"/>
              </a:ext>
            </a:extLst>
          </p:cNvPr>
          <p:cNvSpPr>
            <a:spLocks noGrp="1" noRot="1" noChangeAspect="1" noChangeArrowheads="1" noTextEdit="1"/>
          </p:cNvSpPr>
          <p:nvPr>
            <p:ph type="sldImg"/>
          </p:nvPr>
        </p:nvSpPr>
        <p:spPr>
          <a:xfrm>
            <a:off x="381000" y="685800"/>
            <a:ext cx="6096000" cy="3429000"/>
          </a:xfrm>
          <a:ln/>
        </p:spPr>
      </p:sp>
      <p:sp>
        <p:nvSpPr>
          <p:cNvPr id="153604" name="Rectangle 3">
            <a:extLst>
              <a:ext uri="{FF2B5EF4-FFF2-40B4-BE49-F238E27FC236}">
                <a16:creationId xmlns:a16="http://schemas.microsoft.com/office/drawing/2014/main" id="{91D7E2CA-8A9B-4FFB-9B79-2EAA6B3137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四条链可以同向，也可以两两相反。 </a:t>
            </a:r>
            <a:endParaRPr lang="en-US" altLang="zh-CN" dirty="0">
              <a:latin typeface="宋体" panose="02010600030101010101" pitchFamily="2" charset="-122"/>
            </a:endParaRPr>
          </a:p>
          <a:p>
            <a:pPr eaLnBrk="1" hangingPunct="1">
              <a:lnSpc>
                <a:spcPct val="150000"/>
              </a:lnSpc>
              <a:spcBef>
                <a:spcPct val="0"/>
              </a:spcBef>
            </a:pPr>
            <a:endParaRPr kumimoji="1" lang="en-US" altLang="zh-CN" b="1" dirty="0">
              <a:solidFill>
                <a:srgbClr val="000099"/>
              </a:solidFill>
            </a:endParaRPr>
          </a:p>
          <a:p>
            <a:r>
              <a:rPr lang="en-US" altLang="zh-CN" dirty="0"/>
              <a:t>The guanosine tetraplex, or </a:t>
            </a:r>
            <a:r>
              <a:rPr lang="en-US" altLang="zh-CN" b="1" dirty="0"/>
              <a:t>G tetraplex, is quite stable over a wide range of conditions.</a:t>
            </a:r>
            <a:endParaRPr kumimoji="1" lang="en-US" altLang="zh-CN" b="1" dirty="0">
              <a:solidFill>
                <a:srgbClr val="000099"/>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1031">
            <a:extLst>
              <a:ext uri="{FF2B5EF4-FFF2-40B4-BE49-F238E27FC236}">
                <a16:creationId xmlns:a16="http://schemas.microsoft.com/office/drawing/2014/main" id="{F4115617-AD9E-4D8A-9E9A-79E9762A1B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66CDA53-D778-4052-8FEE-0FC13669371F}" type="slidenum">
              <a:rPr lang="en-US" altLang="zh-CN" smtClean="0"/>
              <a:pPr>
                <a:spcBef>
                  <a:spcPct val="0"/>
                </a:spcBef>
              </a:pPr>
              <a:t>56</a:t>
            </a:fld>
            <a:endParaRPr lang="en-US" altLang="zh-CN"/>
          </a:p>
        </p:txBody>
      </p:sp>
      <p:sp>
        <p:nvSpPr>
          <p:cNvPr id="155651" name="Rectangle 2">
            <a:extLst>
              <a:ext uri="{FF2B5EF4-FFF2-40B4-BE49-F238E27FC236}">
                <a16:creationId xmlns:a16="http://schemas.microsoft.com/office/drawing/2014/main" id="{31E9FD73-B814-42DB-A917-C5EFF48B1BFA}"/>
              </a:ext>
            </a:extLst>
          </p:cNvPr>
          <p:cNvSpPr>
            <a:spLocks noGrp="1" noRot="1" noChangeAspect="1" noChangeArrowheads="1" noTextEdit="1"/>
          </p:cNvSpPr>
          <p:nvPr>
            <p:ph type="sldImg"/>
          </p:nvPr>
        </p:nvSpPr>
        <p:spPr>
          <a:xfrm>
            <a:off x="381000" y="685800"/>
            <a:ext cx="6096000" cy="3429000"/>
          </a:xfrm>
          <a:ln/>
        </p:spPr>
      </p:sp>
      <p:sp>
        <p:nvSpPr>
          <p:cNvPr id="155652" name="Rectangle 3">
            <a:extLst>
              <a:ext uri="{FF2B5EF4-FFF2-40B4-BE49-F238E27FC236}">
                <a16:creationId xmlns:a16="http://schemas.microsoft.com/office/drawing/2014/main" id="{30F26047-456D-4C3C-A2BA-5E8ED654D8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2400" b="1" dirty="0">
                <a:solidFill>
                  <a:srgbClr val="FF5050"/>
                </a:solidFill>
                <a:latin typeface="楷体_GB2312" pitchFamily="49" charset="-122"/>
                <a:ea typeface="楷体_GB2312" pitchFamily="49" charset="-122"/>
              </a:rPr>
              <a:t>超螺旋</a:t>
            </a:r>
            <a:r>
              <a:rPr kumimoji="1" lang="zh-CN" altLang="en-US" sz="2400" b="1" dirty="0">
                <a:latin typeface="楷体_GB2312" pitchFamily="49" charset="-122"/>
                <a:ea typeface="楷体_GB2312" pitchFamily="49" charset="-122"/>
              </a:rPr>
              <a:t>是</a:t>
            </a:r>
            <a:r>
              <a:rPr kumimoji="1" lang="en-US" altLang="zh-CN" sz="2400" b="1" dirty="0">
                <a:latin typeface="楷体_GB2312" pitchFamily="49" charset="-122"/>
                <a:ea typeface="楷体_GB2312" pitchFamily="49" charset="-122"/>
              </a:rPr>
              <a:t>DNA</a:t>
            </a:r>
            <a:r>
              <a:rPr kumimoji="1" lang="zh-CN" altLang="en-US" sz="2400" b="1" dirty="0">
                <a:latin typeface="楷体_GB2312" pitchFamily="49" charset="-122"/>
                <a:ea typeface="楷体_GB2312" pitchFamily="49" charset="-122"/>
              </a:rPr>
              <a:t>三级结构的主要形式</a:t>
            </a:r>
            <a:r>
              <a:rPr kumimoji="1" lang="zh-CN" altLang="en-US" sz="2400" dirty="0">
                <a:latin typeface="楷体_GB2312" pitchFamily="49" charset="-122"/>
                <a:ea typeface="楷体_GB2312" pitchFamily="49" charset="-122"/>
              </a:rPr>
              <a:t>。</a:t>
            </a:r>
            <a:endParaRPr kumimoji="1" lang="en-US" altLang="zh-CN" sz="2400" dirty="0">
              <a:latin typeface="楷体_GB2312" pitchFamily="49" charset="-122"/>
              <a:ea typeface="楷体_GB2312" pitchFamily="49" charset="-122"/>
            </a:endParaRPr>
          </a:p>
          <a:p>
            <a:pPr eaLnBrk="1" hangingPunct="1"/>
            <a:endParaRPr kumimoji="1" lang="en-US" altLang="zh-CN" sz="2400" dirty="0">
              <a:latin typeface="楷体_GB2312" pitchFamily="49" charset="-122"/>
              <a:ea typeface="楷体_GB2312" pitchFamily="49" charset="-122"/>
            </a:endParaRPr>
          </a:p>
          <a:p>
            <a:pPr eaLnBrk="1" hangingPunct="1"/>
            <a:r>
              <a:rPr kumimoji="1" lang="zh-CN" altLang="en-US" sz="2400" dirty="0"/>
              <a:t>有的书上将三股螺旋和四股螺旋都归入</a:t>
            </a:r>
            <a:r>
              <a:rPr kumimoji="1" lang="en-US" altLang="zh-CN" sz="2400" dirty="0"/>
              <a:t>DNA</a:t>
            </a:r>
            <a:r>
              <a:rPr kumimoji="1" lang="zh-CN" altLang="en-US" sz="2400" dirty="0"/>
              <a:t>的三级结构。 </a:t>
            </a:r>
            <a:endParaRPr kumimoji="1" lang="en-US" altLang="zh-CN" sz="2400" dirty="0"/>
          </a:p>
          <a:p>
            <a:pPr eaLnBrk="1" hangingPunct="1"/>
            <a:endParaRPr kumimoji="1" lang="zh-CN" altLang="en-US" sz="2400" dirty="0"/>
          </a:p>
          <a:p>
            <a:pPr eaLnBrk="1" hangingPunct="1"/>
            <a:r>
              <a:rPr kumimoji="1" lang="zh-CN" altLang="en-US" sz="2400" dirty="0">
                <a:latin typeface="楷体_GB2312" pitchFamily="49" charset="-122"/>
                <a:ea typeface="楷体_GB2312" pitchFamily="49" charset="-122"/>
              </a:rPr>
              <a:t>有的资料将</a:t>
            </a:r>
            <a:r>
              <a:rPr kumimoji="1" lang="en-US" altLang="zh-CN" sz="2400" dirty="0">
                <a:latin typeface="楷体_GB2312" pitchFamily="49" charset="-122"/>
                <a:ea typeface="楷体_GB2312" pitchFamily="49" charset="-122"/>
              </a:rPr>
              <a:t>DNA</a:t>
            </a:r>
            <a:r>
              <a:rPr kumimoji="1" lang="zh-CN" altLang="en-US" sz="2400" dirty="0">
                <a:latin typeface="楷体_GB2312" pitchFamily="49" charset="-122"/>
                <a:ea typeface="楷体_GB2312" pitchFamily="49" charset="-122"/>
              </a:rPr>
              <a:t>或</a:t>
            </a:r>
            <a:r>
              <a:rPr kumimoji="1" lang="en-US" altLang="zh-CN" sz="2400" dirty="0">
                <a:latin typeface="楷体_GB2312" pitchFamily="49" charset="-122"/>
                <a:ea typeface="楷体_GB2312" pitchFamily="49" charset="-122"/>
              </a:rPr>
              <a:t>RNA</a:t>
            </a:r>
            <a:r>
              <a:rPr kumimoji="1" lang="zh-CN" altLang="en-US" sz="2400" dirty="0">
                <a:latin typeface="楷体_GB2312" pitchFamily="49" charset="-122"/>
                <a:ea typeface="楷体_GB2312" pitchFamily="49" charset="-122"/>
              </a:rPr>
              <a:t>与蛋白质结合的形式称为四级结构，也有人不认可这种归类，认为就是核酸蛋白复合物。</a:t>
            </a:r>
          </a:p>
          <a:p>
            <a:endParaRPr kumimoji="1" lang="en-US" altLang="zh-CN" b="1" dirty="0"/>
          </a:p>
          <a:p>
            <a:r>
              <a:rPr kumimoji="1" lang="zh-CN" altLang="en-US" b="1" dirty="0"/>
              <a:t>几乎所有天然</a:t>
            </a:r>
            <a:r>
              <a:rPr kumimoji="1" lang="en-US" altLang="zh-CN" b="1" dirty="0"/>
              <a:t>DNA</a:t>
            </a:r>
            <a:r>
              <a:rPr kumimoji="1" lang="zh-CN" altLang="en-US" b="1" dirty="0"/>
              <a:t>中都存在负超螺旋结构。</a:t>
            </a:r>
          </a:p>
          <a:p>
            <a:endParaRPr kumimoji="1" lang="zh-CN" altLang="en-US" b="1" dirty="0"/>
          </a:p>
          <a:p>
            <a:endParaRPr kumimoji="1" lang="en-US" altLang="zh-CN" b="1"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1031">
            <a:extLst>
              <a:ext uri="{FF2B5EF4-FFF2-40B4-BE49-F238E27FC236}">
                <a16:creationId xmlns:a16="http://schemas.microsoft.com/office/drawing/2014/main" id="{4B1D4A64-23AA-433D-BC2B-D2BC9F51D2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98A1712-C0FD-4792-B1AD-F3280092B1A2}" type="slidenum">
              <a:rPr lang="en-US" altLang="zh-CN" smtClean="0"/>
              <a:pPr>
                <a:spcBef>
                  <a:spcPct val="0"/>
                </a:spcBef>
              </a:pPr>
              <a:t>57</a:t>
            </a:fld>
            <a:endParaRPr lang="en-US" altLang="zh-CN"/>
          </a:p>
        </p:txBody>
      </p:sp>
      <p:sp>
        <p:nvSpPr>
          <p:cNvPr id="157699" name="Rectangle 2">
            <a:extLst>
              <a:ext uri="{FF2B5EF4-FFF2-40B4-BE49-F238E27FC236}">
                <a16:creationId xmlns:a16="http://schemas.microsoft.com/office/drawing/2014/main" id="{2C845D70-D17A-4ACB-8AC5-11613F0BFFCB}"/>
              </a:ext>
            </a:extLst>
          </p:cNvPr>
          <p:cNvSpPr>
            <a:spLocks noGrp="1" noRot="1" noChangeAspect="1" noChangeArrowheads="1" noTextEdit="1"/>
          </p:cNvSpPr>
          <p:nvPr>
            <p:ph type="sldImg"/>
          </p:nvPr>
        </p:nvSpPr>
        <p:spPr>
          <a:xfrm>
            <a:off x="381000" y="685800"/>
            <a:ext cx="6096000" cy="3429000"/>
          </a:xfrm>
          <a:ln/>
        </p:spPr>
      </p:sp>
      <p:sp>
        <p:nvSpPr>
          <p:cNvPr id="157700" name="Rectangle 3">
            <a:extLst>
              <a:ext uri="{FF2B5EF4-FFF2-40B4-BE49-F238E27FC236}">
                <a16:creationId xmlns:a16="http://schemas.microsoft.com/office/drawing/2014/main" id="{D478DB20-DD70-4D87-9599-2A3BDD9489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kumimoji="1"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58EDE-4C00-413A-550A-F3B131400926}"/>
            </a:ext>
          </a:extLst>
        </p:cNvPr>
        <p:cNvGrpSpPr/>
        <p:nvPr/>
      </p:nvGrpSpPr>
      <p:grpSpPr>
        <a:xfrm>
          <a:off x="0" y="0"/>
          <a:ext cx="0" cy="0"/>
          <a:chOff x="0" y="0"/>
          <a:chExt cx="0" cy="0"/>
        </a:xfrm>
      </p:grpSpPr>
      <p:sp>
        <p:nvSpPr>
          <p:cNvPr id="174082" name="Rectangle 1031">
            <a:extLst>
              <a:ext uri="{FF2B5EF4-FFF2-40B4-BE49-F238E27FC236}">
                <a16:creationId xmlns:a16="http://schemas.microsoft.com/office/drawing/2014/main" id="{DDCAE9AA-DD90-E93F-3A14-D15843EBC4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EFA8BC6-88B0-4EF9-BCDA-24AA070BCE24}" type="slidenum">
              <a:rPr lang="en-US" altLang="zh-CN" smtClean="0"/>
              <a:pPr>
                <a:spcBef>
                  <a:spcPct val="0"/>
                </a:spcBef>
              </a:pPr>
              <a:t>58</a:t>
            </a:fld>
            <a:endParaRPr lang="en-US" altLang="zh-CN"/>
          </a:p>
        </p:txBody>
      </p:sp>
      <p:sp>
        <p:nvSpPr>
          <p:cNvPr id="174083" name="Rectangle 2">
            <a:extLst>
              <a:ext uri="{FF2B5EF4-FFF2-40B4-BE49-F238E27FC236}">
                <a16:creationId xmlns:a16="http://schemas.microsoft.com/office/drawing/2014/main" id="{B48828F1-09AF-D2C1-A61E-0A300046A81F}"/>
              </a:ext>
            </a:extLst>
          </p:cNvPr>
          <p:cNvSpPr>
            <a:spLocks noGrp="1" noRot="1" noChangeAspect="1" noChangeArrowheads="1" noTextEdit="1"/>
          </p:cNvSpPr>
          <p:nvPr>
            <p:ph type="sldImg"/>
          </p:nvPr>
        </p:nvSpPr>
        <p:spPr>
          <a:xfrm>
            <a:off x="381000" y="685800"/>
            <a:ext cx="6096000" cy="3429000"/>
          </a:xfrm>
          <a:ln/>
        </p:spPr>
      </p:sp>
      <p:sp>
        <p:nvSpPr>
          <p:cNvPr id="174084" name="Rectangle 3">
            <a:extLst>
              <a:ext uri="{FF2B5EF4-FFF2-40B4-BE49-F238E27FC236}">
                <a16:creationId xmlns:a16="http://schemas.microsoft.com/office/drawing/2014/main" id="{3F850918-6F2D-EF45-6859-0CF656DBF2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2400" dirty="0">
                <a:latin typeface="楷体_GB2312" pitchFamily="49" charset="-122"/>
                <a:ea typeface="楷体_GB2312" pitchFamily="49" charset="-122"/>
              </a:rPr>
              <a:t>维持这种“缠绕不足”（</a:t>
            </a:r>
            <a:r>
              <a:rPr kumimoji="1" lang="en-US" altLang="zh-CN" sz="2400" dirty="0">
                <a:latin typeface="楷体_GB2312" pitchFamily="49" charset="-122"/>
                <a:ea typeface="楷体_GB2312" pitchFamily="49" charset="-122"/>
              </a:rPr>
              <a:t>underwound state)</a:t>
            </a:r>
            <a:r>
              <a:rPr kumimoji="1" lang="zh-CN" altLang="en-US" sz="2400" dirty="0">
                <a:latin typeface="楷体_GB2312" pitchFamily="49" charset="-122"/>
                <a:ea typeface="楷体_GB2312" pitchFamily="49" charset="-122"/>
              </a:rPr>
              <a:t>的状态</a:t>
            </a:r>
          </a:p>
          <a:p>
            <a:pPr eaLnBrk="1" hangingPunct="1"/>
            <a:endParaRPr kumimoji="1" lang="en-US" altLang="zh-CN" sz="2400" dirty="0">
              <a:latin typeface="楷体_GB2312" pitchFamily="49" charset="-122"/>
              <a:ea typeface="楷体_GB2312" pitchFamily="49" charset="-122"/>
            </a:endParaRPr>
          </a:p>
          <a:p>
            <a:pPr eaLnBrk="1" hangingPunct="1"/>
            <a:r>
              <a:rPr kumimoji="1" lang="zh-CN" altLang="en-US" sz="2400" dirty="0">
                <a:latin typeface="楷体_GB2312" pitchFamily="49" charset="-122"/>
                <a:ea typeface="楷体_GB2312" pitchFamily="49" charset="-122"/>
              </a:rPr>
              <a:t>目前为止，原核生物中唯一含有正超螺旋</a:t>
            </a:r>
            <a:r>
              <a:rPr kumimoji="1" lang="en-US" altLang="zh-CN" sz="2400" dirty="0">
                <a:latin typeface="楷体_GB2312" pitchFamily="49" charset="-122"/>
                <a:ea typeface="楷体_GB2312" pitchFamily="49" charset="-122"/>
              </a:rPr>
              <a:t>DNA</a:t>
            </a:r>
            <a:r>
              <a:rPr kumimoji="1" lang="zh-CN" altLang="en-US" sz="2400" dirty="0">
                <a:latin typeface="楷体_GB2312" pitchFamily="49" charset="-122"/>
                <a:ea typeface="楷体_GB2312" pitchFamily="49" charset="-122"/>
              </a:rPr>
              <a:t>的是某些生活在极端高温环境（如温泉）中的嗜热微生物。在这种情况下，正超螺旋提供能量，阻止</a:t>
            </a:r>
            <a:r>
              <a:rPr kumimoji="1" lang="en-US" altLang="zh-CN" sz="2400" dirty="0">
                <a:latin typeface="楷体_GB2312" pitchFamily="49" charset="-122"/>
                <a:ea typeface="楷体_GB2312" pitchFamily="49" charset="-122"/>
              </a:rPr>
              <a:t>DNA</a:t>
            </a:r>
            <a:r>
              <a:rPr kumimoji="1" lang="zh-CN" altLang="en-US" sz="2400" dirty="0">
                <a:latin typeface="楷体_GB2312" pitchFamily="49" charset="-122"/>
                <a:ea typeface="楷体_GB2312" pitchFamily="49" charset="-122"/>
              </a:rPr>
              <a:t>在高温中发生变性，正超螺旋多转几圈（</a:t>
            </a:r>
            <a:r>
              <a:rPr kumimoji="1" lang="en-US" altLang="zh-CN" sz="2400" dirty="0">
                <a:latin typeface="楷体_GB2312" pitchFamily="49" charset="-122"/>
                <a:ea typeface="楷体_GB2312" pitchFamily="49" charset="-122"/>
              </a:rPr>
              <a:t>DNA</a:t>
            </a:r>
            <a:r>
              <a:rPr kumimoji="1" lang="zh-CN" altLang="en-US" sz="2400" dirty="0">
                <a:latin typeface="楷体_GB2312" pitchFamily="49" charset="-122"/>
                <a:ea typeface="楷体_GB2312" pitchFamily="49" charset="-122"/>
              </a:rPr>
              <a:t>过度扭曲），则嗜热微生物</a:t>
            </a:r>
            <a:r>
              <a:rPr kumimoji="1" lang="en-US" altLang="zh-CN" sz="2400" dirty="0">
                <a:latin typeface="楷体_GB2312" pitchFamily="49" charset="-122"/>
                <a:ea typeface="楷体_GB2312" pitchFamily="49" charset="-122"/>
              </a:rPr>
              <a:t>DNA</a:t>
            </a:r>
            <a:r>
              <a:rPr kumimoji="1" lang="zh-CN" altLang="en-US" sz="2400" dirty="0">
                <a:latin typeface="楷体_GB2312" pitchFamily="49" charset="-122"/>
                <a:ea typeface="楷体_GB2312" pitchFamily="49" charset="-122"/>
              </a:rPr>
              <a:t>双链打开就比一般生物呈负超螺旋的</a:t>
            </a:r>
            <a:r>
              <a:rPr kumimoji="1" lang="en-US" altLang="zh-CN" sz="2400" dirty="0">
                <a:latin typeface="楷体_GB2312" pitchFamily="49" charset="-122"/>
                <a:ea typeface="楷体_GB2312" pitchFamily="49" charset="-122"/>
              </a:rPr>
              <a:t>DNA</a:t>
            </a:r>
            <a:r>
              <a:rPr kumimoji="1" lang="zh-CN" altLang="en-US" sz="2400" dirty="0">
                <a:latin typeface="楷体_GB2312" pitchFamily="49" charset="-122"/>
                <a:ea typeface="楷体_GB2312" pitchFamily="49" charset="-122"/>
              </a:rPr>
              <a:t>需要更多能量。　</a:t>
            </a:r>
          </a:p>
          <a:p>
            <a:pPr eaLnBrk="1" hangingPunct="1"/>
            <a:endParaRPr kumimoji="1" lang="zh-CN" altLang="en-US" sz="2400" dirty="0">
              <a:latin typeface="楷体_GB2312" pitchFamily="49" charset="-122"/>
              <a:ea typeface="楷体_GB2312" pitchFamily="49" charset="-122"/>
            </a:endParaRPr>
          </a:p>
        </p:txBody>
      </p:sp>
    </p:spTree>
    <p:extLst>
      <p:ext uri="{BB962C8B-B14F-4D97-AF65-F5344CB8AC3E}">
        <p14:creationId xmlns:p14="http://schemas.microsoft.com/office/powerpoint/2010/main" val="41575993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1031">
            <a:extLst>
              <a:ext uri="{FF2B5EF4-FFF2-40B4-BE49-F238E27FC236}">
                <a16:creationId xmlns:a16="http://schemas.microsoft.com/office/drawing/2014/main" id="{A5466F57-842B-4743-9C48-02484C8953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EFA8BC6-88B0-4EF9-BCDA-24AA070BCE24}" type="slidenum">
              <a:rPr lang="en-US" altLang="zh-CN" smtClean="0"/>
              <a:pPr>
                <a:spcBef>
                  <a:spcPct val="0"/>
                </a:spcBef>
              </a:pPr>
              <a:t>59</a:t>
            </a:fld>
            <a:endParaRPr lang="en-US" altLang="zh-CN"/>
          </a:p>
        </p:txBody>
      </p:sp>
      <p:sp>
        <p:nvSpPr>
          <p:cNvPr id="174083" name="Rectangle 2">
            <a:extLst>
              <a:ext uri="{FF2B5EF4-FFF2-40B4-BE49-F238E27FC236}">
                <a16:creationId xmlns:a16="http://schemas.microsoft.com/office/drawing/2014/main" id="{5B793A6B-503F-4AA0-BF88-902F082C35C1}"/>
              </a:ext>
            </a:extLst>
          </p:cNvPr>
          <p:cNvSpPr>
            <a:spLocks noGrp="1" noRot="1" noChangeAspect="1" noChangeArrowheads="1" noTextEdit="1"/>
          </p:cNvSpPr>
          <p:nvPr>
            <p:ph type="sldImg"/>
          </p:nvPr>
        </p:nvSpPr>
        <p:spPr>
          <a:xfrm>
            <a:off x="381000" y="685800"/>
            <a:ext cx="6096000" cy="3429000"/>
          </a:xfrm>
          <a:ln/>
        </p:spPr>
      </p:sp>
      <p:sp>
        <p:nvSpPr>
          <p:cNvPr id="174084" name="Rectangle 3">
            <a:extLst>
              <a:ext uri="{FF2B5EF4-FFF2-40B4-BE49-F238E27FC236}">
                <a16:creationId xmlns:a16="http://schemas.microsoft.com/office/drawing/2014/main" id="{BDB9A3A1-B273-450B-BBA9-5DFF88C876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2400" dirty="0">
                <a:latin typeface="楷体_GB2312" pitchFamily="49" charset="-122"/>
                <a:ea typeface="楷体_GB2312" pitchFamily="49" charset="-122"/>
              </a:rPr>
              <a:t>本学期有一次实验课内容：质粒ＤＮＡ的提取和酶切鉴定</a:t>
            </a:r>
            <a:endParaRPr kumimoji="1" lang="en-US" altLang="zh-CN" sz="2400" dirty="0">
              <a:latin typeface="楷体_GB2312" pitchFamily="49" charset="-122"/>
              <a:ea typeface="楷体_GB2312" pitchFamily="49" charset="-122"/>
            </a:endParaRPr>
          </a:p>
          <a:p>
            <a:pPr eaLnBrk="1" hangingPunct="1"/>
            <a:endParaRPr kumimoji="1" lang="en-US" altLang="zh-CN" sz="2400" dirty="0">
              <a:latin typeface="楷体_GB2312" pitchFamily="49" charset="-122"/>
              <a:ea typeface="楷体_GB2312" pitchFamily="49" charset="-122"/>
            </a:endParaRPr>
          </a:p>
          <a:p>
            <a:pPr eaLnBrk="1" hangingPunct="1"/>
            <a:r>
              <a:rPr lang="zh-CN" altLang="en-US" sz="2400" b="1" dirty="0">
                <a:effectLst/>
                <a:ea typeface="Microsoft YaHei" panose="020B0503020204020204" pitchFamily="34" charset="-122"/>
              </a:rPr>
              <a:t>如果实验中提取的质粒电泳时呈现为三条带，</a:t>
            </a:r>
            <a:r>
              <a:rPr lang="zh-CN" altLang="en-US" sz="2400" dirty="0">
                <a:effectLst/>
                <a:ea typeface="Microsoft YaHei" panose="020B0503020204020204" pitchFamily="34" charset="-122"/>
              </a:rPr>
              <a:t>这三条带从快到慢依次是：</a:t>
            </a:r>
            <a:r>
              <a:rPr lang="zh-CN" altLang="zh-CN" sz="2400" dirty="0">
                <a:effectLst/>
                <a:ea typeface="Microsoft YaHei" panose="020B0503020204020204" pitchFamily="34" charset="-122"/>
              </a:rPr>
              <a:t>超螺旋</a:t>
            </a:r>
            <a:r>
              <a:rPr lang="zh-CN" altLang="en-US" sz="2400" dirty="0">
                <a:effectLst/>
                <a:ea typeface="Microsoft YaHei" panose="020B0503020204020204" pitchFamily="34" charset="-122"/>
              </a:rPr>
              <a:t>质粒</a:t>
            </a:r>
            <a:r>
              <a:rPr lang="en-US" altLang="zh-CN" sz="2400" dirty="0">
                <a:effectLst/>
                <a:ea typeface="Microsoft YaHei" panose="020B0503020204020204" pitchFamily="34" charset="-122"/>
              </a:rPr>
              <a:t>(</a:t>
            </a:r>
            <a:r>
              <a:rPr lang="zh-CN" altLang="en-US" sz="2400" dirty="0">
                <a:effectLst/>
                <a:ea typeface="Microsoft YaHei" panose="020B0503020204020204" pitchFamily="34" charset="-122"/>
              </a:rPr>
              <a:t>即</a:t>
            </a:r>
            <a:r>
              <a:rPr lang="en-US" altLang="zh-CN" sz="2400" dirty="0" err="1">
                <a:effectLst/>
                <a:ea typeface="Microsoft YaHei" panose="020B0503020204020204" pitchFamily="34" charset="-122"/>
              </a:rPr>
              <a:t>cccDNA</a:t>
            </a:r>
            <a:r>
              <a:rPr lang="en-US" altLang="zh-CN" sz="2400" dirty="0">
                <a:effectLst/>
                <a:ea typeface="Microsoft YaHei" panose="020B0503020204020204" pitchFamily="34" charset="-122"/>
              </a:rPr>
              <a:t>)</a:t>
            </a:r>
            <a:r>
              <a:rPr lang="zh-CN" altLang="zh-CN" sz="2400" dirty="0">
                <a:effectLst/>
                <a:ea typeface="Microsoft YaHei" panose="020B0503020204020204" pitchFamily="34" charset="-122"/>
              </a:rPr>
              <a:t>，</a:t>
            </a:r>
            <a:r>
              <a:rPr lang="zh-CN" altLang="en-US" sz="2400" dirty="0">
                <a:effectLst/>
                <a:ea typeface="Microsoft YaHei" panose="020B0503020204020204" pitchFamily="34" charset="-122"/>
              </a:rPr>
              <a:t>开环质粒或超螺旋质粒二聚体</a:t>
            </a:r>
            <a:r>
              <a:rPr lang="en-US" altLang="zh-CN" sz="2400" dirty="0">
                <a:effectLst/>
                <a:ea typeface="Microsoft YaHei" panose="020B0503020204020204" pitchFamily="34" charset="-122"/>
              </a:rPr>
              <a:t>, </a:t>
            </a:r>
            <a:r>
              <a:rPr lang="zh-CN" altLang="en-US" sz="2400" dirty="0">
                <a:effectLst/>
                <a:ea typeface="Microsoft YaHei" panose="020B0503020204020204" pitchFamily="34" charset="-122"/>
              </a:rPr>
              <a:t>质粒复制中间体（即两个拷贝的质粒串在一起，未完全分开</a:t>
            </a:r>
            <a:r>
              <a:rPr lang="en-US" altLang="zh-CN" sz="2400" dirty="0">
                <a:effectLst/>
                <a:ea typeface="Microsoft YaHei" panose="020B0503020204020204" pitchFamily="34" charset="-122"/>
              </a:rPr>
              <a:t>, </a:t>
            </a:r>
            <a:r>
              <a:rPr lang="zh-CN" altLang="zh-CN" sz="2400" dirty="0">
                <a:effectLst/>
                <a:ea typeface="宋体" panose="02010600030101010101" pitchFamily="2" charset="-122"/>
              </a:rPr>
              <a:t>比如线性或开环质粒二聚体</a:t>
            </a:r>
            <a:r>
              <a:rPr lang="zh-CN" altLang="en-US" sz="2400" dirty="0">
                <a:effectLst/>
                <a:ea typeface="宋体" panose="02010600030101010101" pitchFamily="2" charset="-122"/>
              </a:rPr>
              <a:t>，甚至</a:t>
            </a:r>
            <a:r>
              <a:rPr lang="zh-CN" altLang="zh-CN" sz="2400" dirty="0">
                <a:effectLst/>
                <a:ea typeface="宋体" panose="02010600030101010101" pitchFamily="2" charset="-122"/>
              </a:rPr>
              <a:t>多聚体</a:t>
            </a:r>
            <a:r>
              <a:rPr lang="zh-CN" altLang="en-US" sz="2400" dirty="0">
                <a:effectLst/>
                <a:ea typeface="Microsoft YaHei" panose="020B0503020204020204" pitchFamily="34" charset="-122"/>
              </a:rPr>
              <a:t>）。 </a:t>
            </a:r>
            <a:endParaRPr lang="en-US" altLang="zh-CN" sz="2400" dirty="0">
              <a:effectLst/>
              <a:ea typeface="Microsoft YaHei" panose="020B0503020204020204" pitchFamily="34" charset="-122"/>
            </a:endParaRPr>
          </a:p>
          <a:p>
            <a:pPr eaLnBrk="1" hangingPunct="1"/>
            <a:r>
              <a:rPr lang="zh-CN" altLang="en-US" sz="2400" dirty="0">
                <a:effectLst/>
                <a:ea typeface="Microsoft YaHei" panose="020B0503020204020204" pitchFamily="34" charset="-122"/>
              </a:rPr>
              <a:t>如果理解为</a:t>
            </a:r>
            <a:r>
              <a:rPr lang="zh-CN" altLang="en-US" sz="2400" b="1" dirty="0">
                <a:effectLst/>
                <a:ea typeface="Microsoft YaHei" panose="020B0503020204020204" pitchFamily="34" charset="-122"/>
              </a:rPr>
              <a:t>这三条带从快到慢依次是：</a:t>
            </a:r>
            <a:r>
              <a:rPr lang="zh-CN" altLang="zh-CN" sz="2400" dirty="0">
                <a:effectLst/>
                <a:ea typeface="Microsoft YaHei" panose="020B0503020204020204" pitchFamily="34" charset="-122"/>
              </a:rPr>
              <a:t>超螺旋</a:t>
            </a:r>
            <a:r>
              <a:rPr lang="zh-CN" altLang="en-US" sz="2400" dirty="0">
                <a:effectLst/>
                <a:ea typeface="Microsoft YaHei" panose="020B0503020204020204" pitchFamily="34" charset="-122"/>
              </a:rPr>
              <a:t>质粒</a:t>
            </a:r>
            <a:r>
              <a:rPr lang="zh-CN" altLang="zh-CN" sz="2400" dirty="0">
                <a:effectLst/>
                <a:ea typeface="Microsoft YaHei" panose="020B0503020204020204" pitchFamily="34" charset="-122"/>
              </a:rPr>
              <a:t>，线性</a:t>
            </a:r>
            <a:r>
              <a:rPr lang="zh-CN" altLang="en-US" sz="2400" dirty="0">
                <a:effectLst/>
                <a:ea typeface="Microsoft YaHei" panose="020B0503020204020204" pitchFamily="34" charset="-122"/>
              </a:rPr>
              <a:t>质粒，</a:t>
            </a:r>
            <a:r>
              <a:rPr lang="zh-CN" altLang="zh-CN" sz="2400" dirty="0">
                <a:effectLst/>
                <a:ea typeface="Microsoft YaHei" panose="020B0503020204020204" pitchFamily="34" charset="-122"/>
              </a:rPr>
              <a:t>开环</a:t>
            </a:r>
            <a:r>
              <a:rPr lang="zh-CN" altLang="en-US" sz="2400" dirty="0">
                <a:effectLst/>
                <a:ea typeface="Microsoft YaHei" panose="020B0503020204020204" pitchFamily="34" charset="-122"/>
              </a:rPr>
              <a:t>质粒， 这是误解， 因为通常提取的质粒里极少线性质粒。 </a:t>
            </a:r>
            <a:endParaRPr kumimoji="1" lang="en-US" altLang="zh-CN" sz="2400" dirty="0">
              <a:latin typeface="楷体_GB2312" pitchFamily="49" charset="-122"/>
              <a:ea typeface="楷体_GB2312" pitchFamily="49" charset="-122"/>
            </a:endParaRPr>
          </a:p>
          <a:p>
            <a:pPr eaLnBrk="1" hangingPunct="1"/>
            <a:endParaRPr kumimoji="1" lang="en-US" altLang="zh-CN" sz="2400" dirty="0">
              <a:latin typeface="楷体_GB2312" pitchFamily="49" charset="-122"/>
              <a:ea typeface="楷体_GB2312" pitchFamily="49" charset="-122"/>
            </a:endParaRPr>
          </a:p>
          <a:p>
            <a:pPr eaLnBrk="1" hangingPunct="1"/>
            <a:endParaRPr kumimoji="1" lang="zh-CN" altLang="en-US" sz="2400" dirty="0">
              <a:latin typeface="楷体_GB2312" pitchFamily="49" charset="-122"/>
              <a:ea typeface="楷体_GB2312" pitchFamily="49"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幻灯片图像占位符 1">
            <a:extLst>
              <a:ext uri="{FF2B5EF4-FFF2-40B4-BE49-F238E27FC236}">
                <a16:creationId xmlns:a16="http://schemas.microsoft.com/office/drawing/2014/main" id="{70E29DE5-80D5-43FD-9472-03D2EACCAF0D}"/>
              </a:ext>
            </a:extLst>
          </p:cNvPr>
          <p:cNvSpPr>
            <a:spLocks noGrp="1" noRot="1" noChangeAspect="1" noChangeArrowheads="1" noTextEdit="1"/>
          </p:cNvSpPr>
          <p:nvPr>
            <p:ph type="sldImg"/>
          </p:nvPr>
        </p:nvSpPr>
        <p:spPr>
          <a:xfrm>
            <a:off x="381000" y="685800"/>
            <a:ext cx="6096000" cy="3429000"/>
          </a:xfrm>
          <a:ln/>
        </p:spPr>
      </p:sp>
      <p:sp>
        <p:nvSpPr>
          <p:cNvPr id="169987" name="备注占位符 2">
            <a:extLst>
              <a:ext uri="{FF2B5EF4-FFF2-40B4-BE49-F238E27FC236}">
                <a16:creationId xmlns:a16="http://schemas.microsoft.com/office/drawing/2014/main" id="{E21DC12E-D9D9-4D86-90CF-9BF1A5CC92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图中最上是加样孔，显示有残留</a:t>
            </a:r>
            <a:r>
              <a:rPr lang="en-US" altLang="zh-CN" dirty="0"/>
              <a:t>DNA</a:t>
            </a:r>
            <a:br>
              <a:rPr lang="en-US" altLang="zh-CN" dirty="0"/>
            </a:br>
            <a:endParaRPr lang="en-US" altLang="zh-CN" dirty="0"/>
          </a:p>
          <a:p>
            <a:r>
              <a:rPr lang="zh-CN" altLang="en-US" dirty="0"/>
              <a:t>提取质粒并跑电泳是分子生物学实验常规操作</a:t>
            </a:r>
            <a:r>
              <a:rPr lang="en-US" altLang="zh-CN" dirty="0"/>
              <a:t>.   </a:t>
            </a:r>
            <a:r>
              <a:rPr lang="zh-CN" altLang="en-US" dirty="0"/>
              <a:t>由电泳结果可以判断所提取的质粒是否符合预期大小，以及是否有污染。高质量的质粒就可用于后续的操作。</a:t>
            </a:r>
            <a:endParaRPr lang="en-US" altLang="zh-CN" dirty="0"/>
          </a:p>
          <a:p>
            <a:pPr marL="0" marR="0">
              <a:spcBef>
                <a:spcPts val="0"/>
              </a:spcBef>
              <a:spcAft>
                <a:spcPts val="0"/>
              </a:spcAft>
            </a:pPr>
            <a:endParaRPr lang="en-US" altLang="zh-CN" sz="1800" dirty="0">
              <a:effectLst/>
              <a:ea typeface="Microsoft YaHei" panose="020B0503020204020204" pitchFamily="34" charset="-122"/>
            </a:endParaRPr>
          </a:p>
          <a:p>
            <a:pPr marL="0" marR="0">
              <a:spcBef>
                <a:spcPts val="0"/>
              </a:spcBef>
              <a:spcAft>
                <a:spcPts val="0"/>
              </a:spcAft>
            </a:pPr>
            <a:r>
              <a:rPr lang="zh-CN" altLang="en-US" sz="1800" b="1" dirty="0">
                <a:effectLst/>
                <a:ea typeface="宋体" panose="02010600030101010101" pitchFamily="2" charset="-122"/>
              </a:rPr>
              <a:t>如果要通过电泳判断质粒的大小，必须对质粒样品做酶切，即获得线性化的质粒</a:t>
            </a:r>
            <a:r>
              <a:rPr lang="en-US" altLang="zh-CN" sz="1800" b="1" dirty="0">
                <a:effectLst/>
                <a:ea typeface="宋体" panose="02010600030101010101" pitchFamily="2" charset="-122"/>
              </a:rPr>
              <a:t>DNA</a:t>
            </a:r>
            <a:r>
              <a:rPr lang="zh-CN" altLang="en-US" sz="1800" b="1" dirty="0">
                <a:effectLst/>
                <a:ea typeface="宋体" panose="02010600030101010101" pitchFamily="2" charset="-122"/>
              </a:rPr>
              <a:t>。 </a:t>
            </a:r>
            <a:endParaRPr lang="en-US" altLang="zh-CN" sz="1800" b="1" dirty="0">
              <a:effectLst/>
              <a:ea typeface="宋体" panose="02010600030101010101" pitchFamily="2" charset="-122"/>
            </a:endParaRPr>
          </a:p>
          <a:p>
            <a:pPr marL="0" marR="0">
              <a:spcBef>
                <a:spcPts val="0"/>
              </a:spcBef>
              <a:spcAft>
                <a:spcPts val="0"/>
              </a:spcAft>
            </a:pPr>
            <a:r>
              <a:rPr lang="zh-CN" altLang="en-US" sz="1800" dirty="0">
                <a:effectLst/>
                <a:ea typeface="宋体" panose="02010600030101010101" pitchFamily="2" charset="-122"/>
              </a:rPr>
              <a:t>只有</a:t>
            </a:r>
            <a:r>
              <a:rPr lang="zh-CN" altLang="zh-CN" sz="1800" dirty="0">
                <a:effectLst/>
                <a:ea typeface="宋体" panose="02010600030101010101" pitchFamily="2" charset="-122"/>
              </a:rPr>
              <a:t>线性质粒</a:t>
            </a:r>
            <a:r>
              <a:rPr lang="en-US" altLang="zh-CN" sz="1800" dirty="0">
                <a:effectLst/>
                <a:ea typeface="Times New Roman" panose="02020603050405020304" pitchFamily="18" charset="0"/>
              </a:rPr>
              <a:t>DNA</a:t>
            </a:r>
            <a:r>
              <a:rPr lang="zh-CN" altLang="zh-CN" sz="1800" dirty="0">
                <a:effectLst/>
                <a:ea typeface="宋体" panose="02010600030101010101" pitchFamily="2" charset="-122"/>
              </a:rPr>
              <a:t>的位置</a:t>
            </a:r>
            <a:r>
              <a:rPr lang="zh-CN" altLang="en-US" sz="1800" dirty="0">
                <a:effectLst/>
                <a:ea typeface="宋体" panose="02010600030101010101" pitchFamily="2" charset="-122"/>
              </a:rPr>
              <a:t>才</a:t>
            </a:r>
            <a:r>
              <a:rPr lang="zh-CN" altLang="zh-CN" sz="1800" dirty="0">
                <a:effectLst/>
                <a:ea typeface="宋体" panose="02010600030101010101" pitchFamily="2" charset="-122"/>
              </a:rPr>
              <a:t>能</a:t>
            </a:r>
            <a:r>
              <a:rPr lang="zh-CN" altLang="en-US" sz="1800" dirty="0">
                <a:effectLst/>
                <a:ea typeface="宋体" panose="02010600030101010101" pitchFamily="2" charset="-122"/>
              </a:rPr>
              <a:t>真实</a:t>
            </a:r>
            <a:r>
              <a:rPr lang="zh-CN" altLang="zh-CN" sz="1800" dirty="0">
                <a:effectLst/>
                <a:ea typeface="宋体" panose="02010600030101010101" pitchFamily="2" charset="-122"/>
              </a:rPr>
              <a:t>反映质粒</a:t>
            </a:r>
            <a:r>
              <a:rPr lang="zh-CN" altLang="en-US" sz="1800" dirty="0">
                <a:effectLst/>
                <a:ea typeface="宋体" panose="02010600030101010101" pitchFamily="2" charset="-122"/>
              </a:rPr>
              <a:t>的真实</a:t>
            </a:r>
            <a:r>
              <a:rPr lang="zh-CN" altLang="zh-CN" sz="1800" dirty="0">
                <a:effectLst/>
                <a:ea typeface="宋体" panose="02010600030101010101" pitchFamily="2" charset="-122"/>
              </a:rPr>
              <a:t>大小</a:t>
            </a:r>
            <a:r>
              <a:rPr lang="zh-CN" altLang="en-US" sz="1800" dirty="0">
                <a:effectLst/>
                <a:ea typeface="宋体" panose="02010600030101010101" pitchFamily="2" charset="-122"/>
              </a:rPr>
              <a:t>（作为分子量比对的</a:t>
            </a:r>
            <a:r>
              <a:rPr lang="en-US" altLang="zh-CN" sz="1800" dirty="0">
                <a:effectLst/>
                <a:ea typeface="宋体" panose="02010600030101010101" pitchFamily="2" charset="-122"/>
              </a:rPr>
              <a:t>marker</a:t>
            </a:r>
            <a:r>
              <a:rPr lang="zh-CN" altLang="en-US" sz="1800" dirty="0">
                <a:effectLst/>
                <a:ea typeface="宋体" panose="02010600030101010101" pitchFamily="2" charset="-122"/>
              </a:rPr>
              <a:t>中的多条</a:t>
            </a:r>
            <a:r>
              <a:rPr lang="en-US" altLang="zh-CN" sz="1800" dirty="0">
                <a:effectLst/>
                <a:ea typeface="宋体" panose="02010600030101010101" pitchFamily="2" charset="-122"/>
              </a:rPr>
              <a:t>DNA</a:t>
            </a:r>
            <a:r>
              <a:rPr lang="zh-CN" altLang="en-US" sz="1800" dirty="0">
                <a:effectLst/>
                <a:ea typeface="宋体" panose="02010600030101010101" pitchFamily="2" charset="-122"/>
              </a:rPr>
              <a:t>片段都是线形</a:t>
            </a:r>
            <a:r>
              <a:rPr lang="en-US" altLang="zh-CN" sz="1800" dirty="0">
                <a:effectLst/>
                <a:ea typeface="宋体" panose="02010600030101010101" pitchFamily="2" charset="-122"/>
              </a:rPr>
              <a:t>DNA</a:t>
            </a:r>
            <a:r>
              <a:rPr lang="zh-CN" altLang="en-US" sz="1800" dirty="0">
                <a:effectLst/>
                <a:ea typeface="宋体" panose="02010600030101010101" pitchFamily="2" charset="-122"/>
              </a:rPr>
              <a:t>分子）</a:t>
            </a:r>
            <a:r>
              <a:rPr lang="en-US" altLang="zh-CN" sz="1800" dirty="0">
                <a:effectLst/>
                <a:ea typeface="宋体" panose="02010600030101010101" pitchFamily="2" charset="-122"/>
              </a:rPr>
              <a:t> </a:t>
            </a:r>
            <a:endParaRPr lang="zh-CN" altLang="zh-CN" sz="1800" dirty="0">
              <a:effectLst/>
              <a:ea typeface="Calibri" panose="020F0502020204030204" pitchFamily="34" charset="0"/>
            </a:endParaRPr>
          </a:p>
          <a:p>
            <a:endParaRPr lang="zh-CN" altLang="en-US" dirty="0"/>
          </a:p>
        </p:txBody>
      </p:sp>
      <p:sp>
        <p:nvSpPr>
          <p:cNvPr id="169988" name="灯片编号占位符 3">
            <a:extLst>
              <a:ext uri="{FF2B5EF4-FFF2-40B4-BE49-F238E27FC236}">
                <a16:creationId xmlns:a16="http://schemas.microsoft.com/office/drawing/2014/main" id="{7F3E36E4-C925-49C9-A421-7EB09ED868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435435E-EB13-448C-B025-361DB3C62002}" type="slidenum">
              <a:rPr lang="en-US" altLang="zh-CN" sz="1200" smtClean="0"/>
              <a:pPr/>
              <a:t>60</a:t>
            </a:fld>
            <a:endParaRPr lang="en-US" altLang="zh-CN" sz="120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1031">
            <a:extLst>
              <a:ext uri="{FF2B5EF4-FFF2-40B4-BE49-F238E27FC236}">
                <a16:creationId xmlns:a16="http://schemas.microsoft.com/office/drawing/2014/main" id="{7AEBD191-D2B9-4252-963E-A8415ADF8B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18ADD56-B1B8-4CFB-B74A-3AEF4E1D35D3}" type="slidenum">
              <a:rPr lang="en-US" altLang="zh-CN" smtClean="0"/>
              <a:pPr>
                <a:spcBef>
                  <a:spcPct val="0"/>
                </a:spcBef>
              </a:pPr>
              <a:t>61</a:t>
            </a:fld>
            <a:endParaRPr lang="en-US" altLang="zh-CN"/>
          </a:p>
        </p:txBody>
      </p:sp>
      <p:sp>
        <p:nvSpPr>
          <p:cNvPr id="176131" name="Rectangle 2">
            <a:extLst>
              <a:ext uri="{FF2B5EF4-FFF2-40B4-BE49-F238E27FC236}">
                <a16:creationId xmlns:a16="http://schemas.microsoft.com/office/drawing/2014/main" id="{6C1F2903-5BA2-4019-8DCC-50F351F934F9}"/>
              </a:ext>
            </a:extLst>
          </p:cNvPr>
          <p:cNvSpPr>
            <a:spLocks noGrp="1" noRot="1" noChangeAspect="1" noChangeArrowheads="1" noTextEdit="1"/>
          </p:cNvSpPr>
          <p:nvPr>
            <p:ph type="sldImg"/>
          </p:nvPr>
        </p:nvSpPr>
        <p:spPr>
          <a:xfrm>
            <a:off x="381000" y="685800"/>
            <a:ext cx="6096000" cy="3429000"/>
          </a:xfrm>
          <a:ln/>
        </p:spPr>
      </p:sp>
      <p:sp>
        <p:nvSpPr>
          <p:cNvPr id="176132" name="Rectangle 3">
            <a:extLst>
              <a:ext uri="{FF2B5EF4-FFF2-40B4-BE49-F238E27FC236}">
                <a16:creationId xmlns:a16="http://schemas.microsoft.com/office/drawing/2014/main" id="{5822844C-38F7-41E7-924F-CC62536996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了解染色体的形成</a:t>
            </a:r>
            <a:endParaRPr lang="zh-CN" altLang="zh-CN"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a:extLst>
              <a:ext uri="{FF2B5EF4-FFF2-40B4-BE49-F238E27FC236}">
                <a16:creationId xmlns:a16="http://schemas.microsoft.com/office/drawing/2014/main" id="{8EB49B6C-17AB-4529-91DE-C8F521E850B2}"/>
              </a:ext>
            </a:extLst>
          </p:cNvPr>
          <p:cNvSpPr>
            <a:spLocks noGrp="1" noRot="1" noChangeAspect="1" noChangeArrowheads="1" noTextEdit="1"/>
          </p:cNvSpPr>
          <p:nvPr>
            <p:ph type="sldImg"/>
          </p:nvPr>
        </p:nvSpPr>
        <p:spPr>
          <a:xfrm>
            <a:off x="381000" y="685800"/>
            <a:ext cx="6096000" cy="3429000"/>
          </a:xfrm>
          <a:ln/>
        </p:spPr>
      </p:sp>
      <p:sp>
        <p:nvSpPr>
          <p:cNvPr id="178179" name="备注占位符 2">
            <a:extLst>
              <a:ext uri="{FF2B5EF4-FFF2-40B4-BE49-F238E27FC236}">
                <a16:creationId xmlns:a16="http://schemas.microsoft.com/office/drawing/2014/main" id="{F6D36430-1B0B-4BF5-AF26-CCEF815B02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十版教材中描述的核小体（</a:t>
            </a:r>
            <a:r>
              <a:rPr lang="en-US" altLang="zh-CN" dirty="0"/>
              <a:t>nucleosome)</a:t>
            </a:r>
            <a:r>
              <a:rPr lang="zh-CN" altLang="en-US" dirty="0"/>
              <a:t>更像只是指核心颗粒，与大多英文资料一致，显然和以前版本中的描述有所不同。  旧版中核小体 </a:t>
            </a:r>
            <a:r>
              <a:rPr lang="en-US" altLang="zh-CN" dirty="0"/>
              <a:t>= </a:t>
            </a:r>
            <a:r>
              <a:rPr lang="zh-CN" altLang="en-US" dirty="0"/>
              <a:t>核心颗粒 </a:t>
            </a:r>
            <a:r>
              <a:rPr lang="en-US" altLang="zh-CN" dirty="0"/>
              <a:t>+ H1 + linker DNA , </a:t>
            </a:r>
            <a:r>
              <a:rPr lang="zh-CN" altLang="en-US" dirty="0"/>
              <a:t>核小体中</a:t>
            </a:r>
            <a:r>
              <a:rPr lang="en-US" altLang="zh-CN" dirty="0"/>
              <a:t>DNA</a:t>
            </a:r>
            <a:r>
              <a:rPr lang="zh-CN" altLang="en-US" dirty="0"/>
              <a:t>总长约</a:t>
            </a:r>
            <a:r>
              <a:rPr lang="en-US" altLang="zh-CN" dirty="0"/>
              <a:t>200bp</a:t>
            </a:r>
          </a:p>
          <a:p>
            <a:endParaRPr lang="en-US" altLang="zh-CN" dirty="0"/>
          </a:p>
          <a:p>
            <a:r>
              <a:rPr lang="en-US" altLang="zh-CN" dirty="0"/>
              <a:t>As the nucleosomes are approximately 10 to 11 nm in diameter, </a:t>
            </a:r>
            <a:r>
              <a:rPr lang="en-US" altLang="zh-CN" b="1" dirty="0"/>
              <a:t>this simple beads-on-a-string structure is sometimes called the 10 nm fiber.</a:t>
            </a:r>
            <a:endParaRPr lang="en-US" altLang="zh-CN" dirty="0"/>
          </a:p>
          <a:p>
            <a:endParaRPr lang="en-US" altLang="zh-CN" dirty="0"/>
          </a:p>
          <a:p>
            <a:r>
              <a:rPr lang="en-US" altLang="zh-CN" dirty="0"/>
              <a:t>linker DNA</a:t>
            </a:r>
            <a:r>
              <a:rPr lang="zh-CN" altLang="en-US" dirty="0"/>
              <a:t>是非组蛋白结合的区域。</a:t>
            </a:r>
          </a:p>
        </p:txBody>
      </p:sp>
      <p:sp>
        <p:nvSpPr>
          <p:cNvPr id="178180" name="灯片编号占位符 3">
            <a:extLst>
              <a:ext uri="{FF2B5EF4-FFF2-40B4-BE49-F238E27FC236}">
                <a16:creationId xmlns:a16="http://schemas.microsoft.com/office/drawing/2014/main" id="{6154B7FC-1E0A-4B8E-A7A2-AA0CA18883C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1C47EED-B5F5-4871-9A1F-B15A410420CC}" type="slidenum">
              <a:rPr lang="en-US" altLang="zh-CN" sz="1200" smtClean="0"/>
              <a:pPr/>
              <a:t>62</a:t>
            </a:fld>
            <a:endParaRPr lang="en-US" altLang="zh-CN" sz="120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幻灯片图像占位符 1">
            <a:extLst>
              <a:ext uri="{FF2B5EF4-FFF2-40B4-BE49-F238E27FC236}">
                <a16:creationId xmlns:a16="http://schemas.microsoft.com/office/drawing/2014/main" id="{EA7524A6-158A-497D-8E8D-351D347B6EBA}"/>
              </a:ext>
            </a:extLst>
          </p:cNvPr>
          <p:cNvSpPr>
            <a:spLocks noGrp="1" noRot="1" noChangeAspect="1" noChangeArrowheads="1" noTextEdit="1"/>
          </p:cNvSpPr>
          <p:nvPr>
            <p:ph type="sldImg"/>
          </p:nvPr>
        </p:nvSpPr>
        <p:spPr>
          <a:xfrm>
            <a:off x="381000" y="685800"/>
            <a:ext cx="6096000" cy="3429000"/>
          </a:xfrm>
          <a:ln/>
        </p:spPr>
      </p:sp>
      <p:sp>
        <p:nvSpPr>
          <p:cNvPr id="188419" name="备注占位符 2">
            <a:extLst>
              <a:ext uri="{FF2B5EF4-FFF2-40B4-BE49-F238E27FC236}">
                <a16:creationId xmlns:a16="http://schemas.microsoft.com/office/drawing/2014/main" id="{E0B3CAE9-027D-4E75-8771-8E6383F3C7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核小体结构以上如何组装基本是假说，近几年的进展：比如</a:t>
            </a:r>
            <a:r>
              <a:rPr lang="en-US" altLang="zh-CN" dirty="0"/>
              <a:t>2014</a:t>
            </a:r>
            <a:r>
              <a:rPr lang="zh-CN" altLang="en-US" dirty="0"/>
              <a:t>年中国科学家率先利用冷冻电镜技术完成的</a:t>
            </a:r>
            <a:r>
              <a:rPr lang="en-US" altLang="zh-CN" dirty="0"/>
              <a:t>30nm</a:t>
            </a:r>
            <a:r>
              <a:rPr lang="zh-CN" altLang="en-US" dirty="0"/>
              <a:t>染色质结构解析，得到的是学界长期争论的</a:t>
            </a:r>
            <a:r>
              <a:rPr lang="en-US" altLang="zh-CN" b="1" dirty="0"/>
              <a:t>solenoid</a:t>
            </a:r>
            <a:r>
              <a:rPr lang="zh-CN" altLang="en-US" b="1" dirty="0"/>
              <a:t>（即螺线管模型）</a:t>
            </a:r>
            <a:r>
              <a:rPr lang="zh-CN" altLang="en-US" dirty="0"/>
              <a:t>与</a:t>
            </a:r>
            <a:r>
              <a:rPr lang="en-US" altLang="zh-CN" dirty="0"/>
              <a:t>zigzag</a:t>
            </a:r>
            <a:r>
              <a:rPr lang="zh-CN" altLang="en-US" dirty="0"/>
              <a:t>这两种模型中的后者。  现有教科书里写的都是六个核小体构成一圈螺线管，而该论文发现不是六个而是四个核小体一圈，同时发现染色质的高级结构也是一个左手双螺旋，与</a:t>
            </a:r>
            <a:r>
              <a:rPr lang="en-US" altLang="zh-CN" dirty="0"/>
              <a:t>DNA</a:t>
            </a:r>
            <a:r>
              <a:rPr lang="zh-CN" altLang="en-US" dirty="0"/>
              <a:t>双链结构类似。</a:t>
            </a:r>
          </a:p>
          <a:p>
            <a:endParaRPr lang="zh-CN" altLang="en-US" dirty="0"/>
          </a:p>
        </p:txBody>
      </p:sp>
      <p:sp>
        <p:nvSpPr>
          <p:cNvPr id="188420" name="灯片编号占位符 3">
            <a:extLst>
              <a:ext uri="{FF2B5EF4-FFF2-40B4-BE49-F238E27FC236}">
                <a16:creationId xmlns:a16="http://schemas.microsoft.com/office/drawing/2014/main" id="{15DFD85E-6089-44D6-B32F-4302764471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F147F5E-770C-4D65-ACD5-EB9DC97E4988}" type="slidenum">
              <a:rPr lang="en-US" altLang="zh-CN" sz="1200" smtClean="0"/>
              <a:pPr/>
              <a:t>63</a:t>
            </a:fld>
            <a:endParaRPr lang="en-US" altLang="zh-CN" sz="120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1031">
            <a:extLst>
              <a:ext uri="{FF2B5EF4-FFF2-40B4-BE49-F238E27FC236}">
                <a16:creationId xmlns:a16="http://schemas.microsoft.com/office/drawing/2014/main" id="{2968A726-B14A-46A6-B8BD-0CE9BED245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1BA5451-0676-4D74-8A9A-E27DF081FB2B}" type="slidenum">
              <a:rPr lang="en-US" altLang="zh-CN" smtClean="0"/>
              <a:pPr>
                <a:spcBef>
                  <a:spcPct val="0"/>
                </a:spcBef>
              </a:pPr>
              <a:t>64</a:t>
            </a:fld>
            <a:endParaRPr lang="en-US" altLang="zh-CN"/>
          </a:p>
        </p:txBody>
      </p:sp>
      <p:sp>
        <p:nvSpPr>
          <p:cNvPr id="190467" name="Rectangle 1031">
            <a:extLst>
              <a:ext uri="{FF2B5EF4-FFF2-40B4-BE49-F238E27FC236}">
                <a16:creationId xmlns:a16="http://schemas.microsoft.com/office/drawing/2014/main" id="{2AFAAB72-A45E-4693-A2A6-73BE8BBE3F1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24F5FA70-9DE9-4496-800E-11D19C9770F3}" type="slidenum">
              <a:rPr kumimoji="0" lang="en-US" altLang="zh-CN">
                <a:latin typeface="Calibri" panose="020F0502020204030204" pitchFamily="34" charset="0"/>
              </a:rPr>
              <a:pPr algn="r" eaLnBrk="1" hangingPunct="1">
                <a:spcBef>
                  <a:spcPct val="0"/>
                </a:spcBef>
              </a:pPr>
              <a:t>64</a:t>
            </a:fld>
            <a:endParaRPr kumimoji="0" lang="en-US" altLang="zh-CN">
              <a:latin typeface="Calibri" panose="020F0502020204030204" pitchFamily="34" charset="0"/>
            </a:endParaRPr>
          </a:p>
        </p:txBody>
      </p:sp>
      <p:sp>
        <p:nvSpPr>
          <p:cNvPr id="190468" name="Rectangle 2">
            <a:extLst>
              <a:ext uri="{FF2B5EF4-FFF2-40B4-BE49-F238E27FC236}">
                <a16:creationId xmlns:a16="http://schemas.microsoft.com/office/drawing/2014/main" id="{3CF5FFE4-6989-4892-A88A-A0C7571FCF5F}"/>
              </a:ext>
            </a:extLst>
          </p:cNvPr>
          <p:cNvSpPr>
            <a:spLocks noGrp="1" noRot="1" noChangeAspect="1" noChangeArrowheads="1" noTextEdit="1"/>
          </p:cNvSpPr>
          <p:nvPr>
            <p:ph type="sldImg"/>
          </p:nvPr>
        </p:nvSpPr>
        <p:spPr>
          <a:xfrm>
            <a:off x="381000" y="685800"/>
            <a:ext cx="6096000" cy="3429000"/>
          </a:xfrm>
          <a:ln/>
        </p:spPr>
      </p:sp>
      <p:sp>
        <p:nvSpPr>
          <p:cNvPr id="190469" name="Rectangle 3">
            <a:extLst>
              <a:ext uri="{FF2B5EF4-FFF2-40B4-BE49-F238E27FC236}">
                <a16:creationId xmlns:a16="http://schemas.microsoft.com/office/drawing/2014/main" id="{1F12CCC1-707F-48B2-8C39-AC4D53E5CC29}"/>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dirty="0"/>
              <a:t>参见 细胞生物学 </a:t>
            </a:r>
            <a:endParaRPr lang="en-US" altLang="zh-CN" dirty="0"/>
          </a:p>
          <a:p>
            <a:pPr eaLnBrk="1" hangingPunct="1">
              <a:spcBef>
                <a:spcPct val="0"/>
              </a:spcBef>
            </a:pPr>
            <a:endParaRPr lang="en-US" altLang="zh-CN" dirty="0"/>
          </a:p>
          <a:p>
            <a:pPr eaLnBrk="1" hangingPunct="1">
              <a:spcBef>
                <a:spcPct val="0"/>
              </a:spcBef>
            </a:pPr>
            <a:endParaRPr lang="zh-CN" altLang="zh-CN"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幻灯片图像占位符 1">
            <a:extLst>
              <a:ext uri="{FF2B5EF4-FFF2-40B4-BE49-F238E27FC236}">
                <a16:creationId xmlns:a16="http://schemas.microsoft.com/office/drawing/2014/main" id="{4298B94D-FBC9-47C6-B555-27B6EA0B8FF3}"/>
              </a:ext>
            </a:extLst>
          </p:cNvPr>
          <p:cNvSpPr>
            <a:spLocks noGrp="1" noRot="1" noChangeAspect="1" noChangeArrowheads="1" noTextEdit="1"/>
          </p:cNvSpPr>
          <p:nvPr>
            <p:ph type="sldImg"/>
          </p:nvPr>
        </p:nvSpPr>
        <p:spPr>
          <a:xfrm>
            <a:off x="381000" y="685800"/>
            <a:ext cx="6096000" cy="3429000"/>
          </a:xfrm>
          <a:ln/>
        </p:spPr>
      </p:sp>
      <p:sp>
        <p:nvSpPr>
          <p:cNvPr id="192515" name="备注占位符 2">
            <a:extLst>
              <a:ext uri="{FF2B5EF4-FFF2-40B4-BE49-F238E27FC236}">
                <a16:creationId xmlns:a16="http://schemas.microsoft.com/office/drawing/2014/main" id="{661547DD-E4C7-42F3-A30F-734B3253013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a:t>
            </a:r>
          </a:p>
        </p:txBody>
      </p:sp>
      <p:sp>
        <p:nvSpPr>
          <p:cNvPr id="192516" name="灯片编号占位符 3">
            <a:extLst>
              <a:ext uri="{FF2B5EF4-FFF2-40B4-BE49-F238E27FC236}">
                <a16:creationId xmlns:a16="http://schemas.microsoft.com/office/drawing/2014/main" id="{BA332F54-214D-471F-B629-9A1185CF045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799665A-6527-4F6D-A014-D351F87E97A8}" type="slidenum">
              <a:rPr lang="en-US" altLang="zh-CN" sz="1200" smtClean="0"/>
              <a:pPr/>
              <a:t>65</a:t>
            </a:fld>
            <a:endParaRPr lang="en-US" altLang="zh-CN" sz="120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幻灯片图像占位符 1"/>
          <p:cNvSpPr>
            <a:spLocks noGrp="1" noRot="1" noChangeAspect="1" noTextEdit="1"/>
          </p:cNvSpPr>
          <p:nvPr>
            <p:ph type="sldImg"/>
          </p:nvPr>
        </p:nvSpPr>
        <p:spPr>
          <a:xfrm>
            <a:off x="381000" y="685800"/>
            <a:ext cx="6096000" cy="3429000"/>
          </a:xfrm>
          <a:ln/>
        </p:spPr>
      </p:sp>
      <p:sp>
        <p:nvSpPr>
          <p:cNvPr id="1945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mitochondrial DNA</a:t>
            </a:r>
            <a:r>
              <a:rPr lang="zh-CN" altLang="en-US" dirty="0"/>
              <a:t>，</a:t>
            </a:r>
            <a:r>
              <a:rPr lang="en-US" altLang="zh-CN" dirty="0" err="1"/>
              <a:t>mtDNA</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Numbers in parentheses indicate the position of the altered nucleotides (nucleotide 1 is at the top of the circle and numbering proceeds counterclockwise).</a:t>
            </a:r>
          </a:p>
          <a:p>
            <a:r>
              <a:rPr lang="en-US" altLang="zh-CN" dirty="0"/>
              <a:t>Arrows indicate the positions of mutations that cause </a:t>
            </a:r>
            <a:r>
              <a:rPr lang="en-US" altLang="zh-CN" dirty="0" err="1"/>
              <a:t>Leber’s</a:t>
            </a:r>
            <a:r>
              <a:rPr lang="en-US" altLang="zh-CN" dirty="0"/>
              <a:t> hereditary optic neuropathy (LHON) and myoclonic epilepsy and ragged-red fiber disease (MERRF).   </a:t>
            </a:r>
            <a:r>
              <a:rPr lang="zh-CN" altLang="en-US" dirty="0"/>
              <a:t>箭头表示导致 </a:t>
            </a:r>
            <a:r>
              <a:rPr lang="en-US" altLang="zh-CN" dirty="0" err="1"/>
              <a:t>Leber</a:t>
            </a:r>
            <a:r>
              <a:rPr lang="en-US" altLang="zh-CN" dirty="0"/>
              <a:t> </a:t>
            </a:r>
            <a:r>
              <a:rPr lang="zh-CN" altLang="en-US" dirty="0"/>
              <a:t>遗传性视神经病变 </a:t>
            </a:r>
            <a:r>
              <a:rPr lang="en-US" altLang="zh-CN" dirty="0"/>
              <a:t>(LHON) </a:t>
            </a:r>
            <a:r>
              <a:rPr lang="zh-CN" altLang="en-US" dirty="0"/>
              <a:t>和肌阵挛性癫痫和碎红纤维病 </a:t>
            </a:r>
            <a:r>
              <a:rPr lang="en-US" altLang="zh-CN" dirty="0"/>
              <a:t>(MERRF) </a:t>
            </a:r>
            <a:r>
              <a:rPr lang="zh-CN" altLang="en-US" dirty="0"/>
              <a:t>的突变位置。</a:t>
            </a:r>
            <a:endParaRPr lang="en-US" altLang="zh-CN" dirty="0"/>
          </a:p>
          <a:p>
            <a:r>
              <a:rPr lang="en-US" altLang="zh-CN" dirty="0"/>
              <a:t> </a:t>
            </a:r>
          </a:p>
          <a:p>
            <a:r>
              <a:rPr lang="zh-CN" altLang="en-US" b="1" dirty="0"/>
              <a:t>线粒体基因突变糖尿病是最为多见的单基因突变糖尿病</a:t>
            </a:r>
            <a:r>
              <a:rPr lang="zh-CN" altLang="en-US" dirty="0"/>
              <a:t>，占中国成人糖尿病的 </a:t>
            </a:r>
            <a:r>
              <a:rPr lang="en-US" altLang="zh-CN" dirty="0"/>
              <a:t>0.6%</a:t>
            </a:r>
            <a:r>
              <a:rPr lang="zh-CN" altLang="en-US" dirty="0"/>
              <a:t>。 常见的临床表现为母系遗传、糖尿病和耳聋。</a:t>
            </a:r>
          </a:p>
        </p:txBody>
      </p:sp>
      <p:sp>
        <p:nvSpPr>
          <p:cNvPr id="1945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BC903C3-0AB2-49F0-9965-24D4D2898691}" type="slidenum">
              <a:rPr lang="zh-CN" altLang="en-US" smtClean="0">
                <a:latin typeface="Arial Black" panose="020B0A04020102020204" pitchFamily="34" charset="0"/>
              </a:rPr>
              <a:pPr/>
              <a:t>66</a:t>
            </a:fld>
            <a:endParaRPr lang="en-US" altLang="zh-CN">
              <a:latin typeface="Arial Black" panose="020B0A04020102020204" pitchFamily="34" charset="0"/>
            </a:endParaRPr>
          </a:p>
        </p:txBody>
      </p:sp>
    </p:spTree>
    <p:extLst>
      <p:ext uri="{BB962C8B-B14F-4D97-AF65-F5344CB8AC3E}">
        <p14:creationId xmlns:p14="http://schemas.microsoft.com/office/powerpoint/2010/main" val="405460179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1031">
            <a:extLst>
              <a:ext uri="{FF2B5EF4-FFF2-40B4-BE49-F238E27FC236}">
                <a16:creationId xmlns:a16="http://schemas.microsoft.com/office/drawing/2014/main" id="{04B1398E-5DF8-4AFA-BE7F-DC6262D3FB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4373455-8BB9-4F37-8CFC-CAA3A0295549}" type="slidenum">
              <a:rPr lang="en-US" altLang="zh-CN" smtClean="0"/>
              <a:pPr>
                <a:spcBef>
                  <a:spcPct val="0"/>
                </a:spcBef>
              </a:pPr>
              <a:t>67</a:t>
            </a:fld>
            <a:endParaRPr lang="en-US" altLang="zh-CN"/>
          </a:p>
        </p:txBody>
      </p:sp>
      <p:sp>
        <p:nvSpPr>
          <p:cNvPr id="198659" name="Rectangle 2">
            <a:extLst>
              <a:ext uri="{FF2B5EF4-FFF2-40B4-BE49-F238E27FC236}">
                <a16:creationId xmlns:a16="http://schemas.microsoft.com/office/drawing/2014/main" id="{6B5D8C5B-6C23-40EE-8C19-EAE41F1D2234}"/>
              </a:ext>
            </a:extLst>
          </p:cNvPr>
          <p:cNvSpPr>
            <a:spLocks noGrp="1" noRot="1" noChangeAspect="1" noChangeArrowheads="1" noTextEdit="1"/>
          </p:cNvSpPr>
          <p:nvPr>
            <p:ph type="sldImg"/>
          </p:nvPr>
        </p:nvSpPr>
        <p:spPr>
          <a:xfrm>
            <a:off x="381000" y="685800"/>
            <a:ext cx="6096000" cy="3429000"/>
          </a:xfrm>
          <a:ln/>
        </p:spPr>
      </p:sp>
      <p:sp>
        <p:nvSpPr>
          <p:cNvPr id="198660" name="Rectangle 3">
            <a:extLst>
              <a:ext uri="{FF2B5EF4-FFF2-40B4-BE49-F238E27FC236}">
                <a16:creationId xmlns:a16="http://schemas.microsoft.com/office/drawing/2014/main" id="{3929DE3A-E638-4586-AAB8-73767AC611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生物体的遗传信息是以基因的形式存在的。基因（</a:t>
            </a:r>
            <a:r>
              <a:rPr lang="en-US" altLang="zh-CN" dirty="0"/>
              <a:t>gene</a:t>
            </a:r>
            <a:r>
              <a:rPr lang="zh-CN" altLang="en-US" dirty="0"/>
              <a:t>）是一段含有特定遗传信息的核苷酸序列（大多数生物中是</a:t>
            </a:r>
            <a:r>
              <a:rPr lang="en-US" altLang="zh-CN" dirty="0"/>
              <a:t>DNA </a:t>
            </a:r>
            <a:r>
              <a:rPr lang="zh-CN" altLang="en-US" dirty="0"/>
              <a:t>序列，少数是</a:t>
            </a:r>
            <a:r>
              <a:rPr lang="en-US" altLang="zh-CN" dirty="0"/>
              <a:t>RNA </a:t>
            </a:r>
            <a:r>
              <a:rPr lang="zh-CN" altLang="en-US" dirty="0"/>
              <a:t>序列），能够编码蛋白质或</a:t>
            </a:r>
            <a:r>
              <a:rPr lang="en-US" altLang="zh-CN" dirty="0"/>
              <a:t>RNA </a:t>
            </a:r>
            <a:r>
              <a:rPr lang="zh-CN" altLang="en-US" dirty="0"/>
              <a:t>等具有特定功能产物、负载遗传信息的基本单位</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31">
            <a:extLst>
              <a:ext uri="{FF2B5EF4-FFF2-40B4-BE49-F238E27FC236}">
                <a16:creationId xmlns:a16="http://schemas.microsoft.com/office/drawing/2014/main" id="{4B352F08-7CA7-851C-6668-5ED2C82A7B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A010BB3-278F-424D-8CEC-863953B3CBE9}" type="slidenum">
              <a:rPr lang="en-US" altLang="zh-CN" smtClean="0"/>
              <a:pPr>
                <a:spcBef>
                  <a:spcPct val="0"/>
                </a:spcBef>
              </a:pPr>
              <a:t>68</a:t>
            </a:fld>
            <a:endParaRPr lang="en-US" altLang="zh-CN"/>
          </a:p>
        </p:txBody>
      </p:sp>
      <p:sp>
        <p:nvSpPr>
          <p:cNvPr id="20483" name="Rectangle 2">
            <a:extLst>
              <a:ext uri="{FF2B5EF4-FFF2-40B4-BE49-F238E27FC236}">
                <a16:creationId xmlns:a16="http://schemas.microsoft.com/office/drawing/2014/main" id="{17F3EB29-7E28-BDF9-A9FA-39BF4DD46E79}"/>
              </a:ext>
            </a:extLst>
          </p:cNvPr>
          <p:cNvSpPr>
            <a:spLocks noGrp="1" noRot="1" noChangeAspect="1" noChangeArrowheads="1" noTextEdit="1"/>
          </p:cNvSpPr>
          <p:nvPr>
            <p:ph type="sldImg"/>
          </p:nvPr>
        </p:nvSpPr>
        <p:spPr>
          <a:xfrm>
            <a:off x="381000" y="685800"/>
            <a:ext cx="6096000" cy="3429000"/>
          </a:xfrm>
          <a:ln/>
        </p:spPr>
      </p:sp>
      <p:sp>
        <p:nvSpPr>
          <p:cNvPr id="20484" name="Rectangle 3">
            <a:extLst>
              <a:ext uri="{FF2B5EF4-FFF2-40B4-BE49-F238E27FC236}">
                <a16:creationId xmlns:a16="http://schemas.microsoft.com/office/drawing/2014/main" id="{2195EB8C-A4E5-D4E4-0D0D-BAF3107DCF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dirty="0"/>
              <a:t>The Avery-MacLeod-McCarty experiment.</a:t>
            </a:r>
            <a:r>
              <a:rPr lang="en-US" altLang="zh-CN" dirty="0"/>
              <a:t> </a:t>
            </a:r>
            <a:r>
              <a:rPr lang="zh-CN" altLang="en-US" dirty="0"/>
              <a:t>　</a:t>
            </a:r>
            <a:r>
              <a:rPr lang="en-US" altLang="zh-CN" dirty="0"/>
              <a:t>in 1944 through a discovery made by Oswald T. Avery, Colin MacLeod, and Maclyn McCarty.</a:t>
            </a:r>
          </a:p>
          <a:p>
            <a:pPr eaLnBrk="1" hangingPunct="1"/>
            <a:endParaRPr lang="en-US" altLang="zh-CN" dirty="0"/>
          </a:p>
          <a:p>
            <a:pPr eaLnBrk="1" hangingPunct="1"/>
            <a:r>
              <a:rPr lang="en-US" altLang="zh-CN" dirty="0"/>
              <a:t>Avery</a:t>
            </a:r>
            <a:r>
              <a:rPr lang="zh-CN" altLang="en-US" dirty="0"/>
              <a:t>细菌转化实验，</a:t>
            </a:r>
            <a:r>
              <a:rPr lang="zh-CN" altLang="en-US" b="1" dirty="0"/>
              <a:t>从光滑型肺炎球菌（菌落光滑的</a:t>
            </a:r>
            <a:r>
              <a:rPr lang="en-US" altLang="zh-CN" b="1" dirty="0"/>
              <a:t>Ⅲ</a:t>
            </a:r>
            <a:r>
              <a:rPr lang="zh-CN" altLang="en-US" b="1" dirty="0"/>
              <a:t>型肺炎球菌）</a:t>
            </a:r>
            <a:r>
              <a:rPr lang="zh-CN" altLang="en-US" dirty="0"/>
              <a:t>细胞中提取纯化的</a:t>
            </a:r>
            <a:r>
              <a:rPr lang="en-US" altLang="zh-CN" dirty="0"/>
              <a:t>DNA</a:t>
            </a:r>
            <a:r>
              <a:rPr lang="zh-CN" altLang="en-US" dirty="0"/>
              <a:t>、蛋白质及多糖，分别加到无荚膜、菌落粗糙的</a:t>
            </a:r>
            <a:r>
              <a:rPr lang="en-US" altLang="zh-CN" dirty="0"/>
              <a:t>Ⅱ</a:t>
            </a:r>
            <a:r>
              <a:rPr lang="zh-CN" altLang="en-US" dirty="0"/>
              <a:t>型细菌培养物中，结果发现只有</a:t>
            </a:r>
            <a:r>
              <a:rPr lang="en-US" altLang="zh-CN" dirty="0"/>
              <a:t>DNA</a:t>
            </a:r>
            <a:r>
              <a:rPr lang="zh-CN" altLang="en-US" dirty="0"/>
              <a:t>能使一部分</a:t>
            </a:r>
            <a:r>
              <a:rPr lang="en-US" altLang="zh-CN" dirty="0"/>
              <a:t>Ⅱ</a:t>
            </a:r>
            <a:r>
              <a:rPr lang="zh-CN" altLang="en-US" dirty="0"/>
              <a:t>型细菌细胞获得合成菌落光滑的</a:t>
            </a:r>
            <a:r>
              <a:rPr lang="en-US" altLang="zh-CN" dirty="0"/>
              <a:t>Ⅲ</a:t>
            </a:r>
            <a:r>
              <a:rPr lang="zh-CN" altLang="en-US" dirty="0"/>
              <a:t>型细胞特有的荚膜多糖的能力，蛋白质及多糖没有这种转化能力。已转化了的细菌，其后代仍保留合成</a:t>
            </a:r>
            <a:r>
              <a:rPr lang="en-US" altLang="zh-CN" dirty="0"/>
              <a:t>Ⅲ</a:t>
            </a:r>
            <a:r>
              <a:rPr lang="zh-CN" altLang="en-US" dirty="0"/>
              <a:t>型光滑荚膜的能力。</a:t>
            </a:r>
          </a:p>
          <a:p>
            <a:pPr eaLnBrk="1" hangingPunct="1"/>
            <a:endParaRPr kumimoji="1" lang="en-US" altLang="zh-CN" dirty="0"/>
          </a:p>
          <a:p>
            <a:pPr eaLnBrk="1" hangingPunct="1"/>
            <a:r>
              <a:rPr kumimoji="1" lang="zh-CN" altLang="en-US" dirty="0"/>
              <a:t>肺炎双球菌</a:t>
            </a:r>
            <a:r>
              <a:rPr kumimoji="1" lang="en-US" altLang="zh-CN" dirty="0"/>
              <a:t>(Diplococcus pneumoniae)</a:t>
            </a:r>
            <a:r>
              <a:rPr kumimoji="1" lang="zh-CN" altLang="en-US" dirty="0"/>
              <a:t>是一种病原菌，其中光滑型的菌株产生荚膜，有毒，在人体内它导致肺炎，在小鼠体中它导致败血症，并使小鼠患病死亡。</a:t>
            </a:r>
            <a:endParaRPr kumimoji="1" lang="en-US" altLang="zh-CN" dirty="0"/>
          </a:p>
          <a:p>
            <a:pPr eaLnBrk="1" hangingPunct="1"/>
            <a:endParaRPr kumimoji="1" lang="en-US" altLang="zh-CN" dirty="0"/>
          </a:p>
          <a:p>
            <a:pPr eaLnBrk="1" hangingPunct="1"/>
            <a:r>
              <a:rPr kumimoji="1" lang="zh-CN" altLang="en-US" b="1" dirty="0"/>
              <a:t>低调的</a:t>
            </a:r>
            <a:r>
              <a:rPr kumimoji="1" lang="en-US" altLang="zh-CN" b="1" dirty="0"/>
              <a:t>Avery</a:t>
            </a:r>
            <a:r>
              <a:rPr kumimoji="1" lang="zh-CN" altLang="en-US" b="1" dirty="0"/>
              <a:t>没能获诺奖，学界一直有人为其叫屈。</a:t>
            </a:r>
            <a:endParaRPr kumimoji="1" lang="en-US" altLang="zh-CN" b="1"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ABB8E4DB-CCC9-0E8E-5F3B-7FD62F254978}"/>
              </a:ext>
            </a:extLst>
          </p:cNvPr>
          <p:cNvSpPr>
            <a:spLocks noGrp="1" noRot="1" noChangeAspect="1" noChangeArrowheads="1" noTextEdit="1"/>
          </p:cNvSpPr>
          <p:nvPr>
            <p:ph type="sldImg"/>
          </p:nvPr>
        </p:nvSpPr>
        <p:spPr>
          <a:xfrm>
            <a:off x="381000" y="685800"/>
            <a:ext cx="6096000" cy="3429000"/>
          </a:xfrm>
          <a:ln/>
        </p:spPr>
      </p:sp>
      <p:sp>
        <p:nvSpPr>
          <p:cNvPr id="22531" name="备注占位符 2">
            <a:extLst>
              <a:ext uri="{FF2B5EF4-FFF2-40B4-BE49-F238E27FC236}">
                <a16:creationId xmlns:a16="http://schemas.microsoft.com/office/drawing/2014/main" id="{F4197F3B-5E04-86D7-FCB1-D7754C4BA16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In 1952 Alfred D. Hershey and Martha Chase used </a:t>
            </a:r>
            <a:r>
              <a:rPr lang="en-US" altLang="zh-CN" b="1" dirty="0"/>
              <a:t>radioactive phosphorus (</a:t>
            </a:r>
            <a:r>
              <a:rPr lang="en-US" altLang="zh-CN" b="1" baseline="30000" dirty="0"/>
              <a:t>32</a:t>
            </a:r>
            <a:r>
              <a:rPr lang="en-US" altLang="zh-CN" b="1" dirty="0"/>
              <a:t>P) </a:t>
            </a:r>
            <a:r>
              <a:rPr lang="en-US" altLang="zh-CN" dirty="0"/>
              <a:t>and </a:t>
            </a:r>
            <a:r>
              <a:rPr lang="en-US" altLang="zh-CN" b="1" dirty="0"/>
              <a:t>radioactive sulfur (</a:t>
            </a:r>
            <a:r>
              <a:rPr lang="en-US" altLang="zh-CN" b="1" baseline="30000" dirty="0"/>
              <a:t>35</a:t>
            </a:r>
            <a:r>
              <a:rPr lang="en-US" altLang="zh-CN" b="1" dirty="0"/>
              <a:t>S) </a:t>
            </a:r>
            <a:r>
              <a:rPr lang="en-US" altLang="zh-CN" dirty="0"/>
              <a:t>tracers to show that when the bacterial virus (bacteriophage) T2 infects its host cell, Escherichia coli, it is the phosphorus-containing DNA of the viral particle, not the sulfur-containing protein of the viral coat, that enters the host cell and furnishes the genetic information for viral replication.</a:t>
            </a:r>
          </a:p>
          <a:p>
            <a:endParaRPr lang="en-US" altLang="zh-CN" dirty="0"/>
          </a:p>
          <a:p>
            <a:r>
              <a:rPr lang="zh-CN" altLang="en-US" dirty="0"/>
              <a:t>证实</a:t>
            </a:r>
            <a:r>
              <a:rPr lang="en-US" altLang="zh-CN" dirty="0"/>
              <a:t>DNA</a:t>
            </a:r>
            <a:r>
              <a:rPr lang="zh-CN" altLang="en-US" dirty="0"/>
              <a:t>是遗传物质的另一个有名实验，由名气很大的噬菌体小组做的，很快</a:t>
            </a:r>
            <a:r>
              <a:rPr lang="en-US" altLang="zh-CN" dirty="0"/>
              <a:t>DNA</a:t>
            </a:r>
            <a:r>
              <a:rPr lang="zh-CN" altLang="en-US" dirty="0"/>
              <a:t>是遗传物质的观念就被学界普遍接受了。</a:t>
            </a:r>
          </a:p>
        </p:txBody>
      </p:sp>
      <p:sp>
        <p:nvSpPr>
          <p:cNvPr id="22532" name="灯片编号占位符 3">
            <a:extLst>
              <a:ext uri="{FF2B5EF4-FFF2-40B4-BE49-F238E27FC236}">
                <a16:creationId xmlns:a16="http://schemas.microsoft.com/office/drawing/2014/main" id="{DB68714B-CC1D-CC9D-1F0B-95DE5EA5D64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73C3CD58-051C-4A19-9D6B-EE060433425A}" type="slidenum">
              <a:rPr lang="en-US" altLang="zh-CN" sz="1200" smtClean="0"/>
              <a:pPr/>
              <a:t>69</a:t>
            </a:fld>
            <a:endParaRPr lang="en-US" altLang="zh-CN" sz="120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EE4F6-F1B8-7CDC-8A7D-A0B60A192422}"/>
            </a:ext>
          </a:extLst>
        </p:cNvPr>
        <p:cNvGrpSpPr/>
        <p:nvPr/>
      </p:nvGrpSpPr>
      <p:grpSpPr>
        <a:xfrm>
          <a:off x="0" y="0"/>
          <a:ext cx="0" cy="0"/>
          <a:chOff x="0" y="0"/>
          <a:chExt cx="0" cy="0"/>
        </a:xfrm>
      </p:grpSpPr>
      <p:sp>
        <p:nvSpPr>
          <p:cNvPr id="198658" name="Rectangle 1031">
            <a:extLst>
              <a:ext uri="{FF2B5EF4-FFF2-40B4-BE49-F238E27FC236}">
                <a16:creationId xmlns:a16="http://schemas.microsoft.com/office/drawing/2014/main" id="{C5ABA23E-6E63-937E-E44C-FB5CC34C6C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4373455-8BB9-4F37-8CFC-CAA3A0295549}" type="slidenum">
              <a:rPr lang="en-US" altLang="zh-CN" smtClean="0"/>
              <a:pPr>
                <a:spcBef>
                  <a:spcPct val="0"/>
                </a:spcBef>
              </a:pPr>
              <a:t>70</a:t>
            </a:fld>
            <a:endParaRPr lang="en-US" altLang="zh-CN"/>
          </a:p>
        </p:txBody>
      </p:sp>
      <p:sp>
        <p:nvSpPr>
          <p:cNvPr id="198659" name="Rectangle 2">
            <a:extLst>
              <a:ext uri="{FF2B5EF4-FFF2-40B4-BE49-F238E27FC236}">
                <a16:creationId xmlns:a16="http://schemas.microsoft.com/office/drawing/2014/main" id="{0181AB1B-E262-CA98-AB4D-D998469AAD19}"/>
              </a:ext>
            </a:extLst>
          </p:cNvPr>
          <p:cNvSpPr>
            <a:spLocks noGrp="1" noRot="1" noChangeAspect="1" noChangeArrowheads="1" noTextEdit="1"/>
          </p:cNvSpPr>
          <p:nvPr>
            <p:ph type="sldImg"/>
          </p:nvPr>
        </p:nvSpPr>
        <p:spPr>
          <a:xfrm>
            <a:off x="381000" y="685800"/>
            <a:ext cx="6096000" cy="3429000"/>
          </a:xfrm>
          <a:ln/>
        </p:spPr>
      </p:sp>
      <p:sp>
        <p:nvSpPr>
          <p:cNvPr id="198660" name="Rectangle 3">
            <a:extLst>
              <a:ext uri="{FF2B5EF4-FFF2-40B4-BE49-F238E27FC236}">
                <a16:creationId xmlns:a16="http://schemas.microsoft.com/office/drawing/2014/main" id="{798A26CC-1009-9691-A51C-6A3D3586C7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生物体的遗传信息是以基因的形式存在的。</a:t>
            </a:r>
            <a:endParaRPr lang="en-US" altLang="zh-CN" dirty="0"/>
          </a:p>
          <a:p>
            <a:pPr eaLnBrk="1" hangingPunct="1"/>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宋体" panose="02010600030101010101" pitchFamily="2" charset="-122"/>
              </a:rPr>
              <a:t>The current version of the standard reference genome is called GRCh38.p14 (July 2023). It consists of 22 autosomes plus one copy of the X chromosome and one copy of the Y chromosome. It contains approximately </a:t>
            </a:r>
            <a:r>
              <a:rPr lang="en-US" altLang="zh-CN" b="1" dirty="0">
                <a:latin typeface="宋体" panose="02010600030101010101" pitchFamily="2" charset="-122"/>
              </a:rPr>
              <a:t>3.1 billion base pairs.</a:t>
            </a:r>
          </a:p>
          <a:p>
            <a:pPr eaLnBrk="1" hangingPunct="1"/>
            <a:endParaRPr lang="zh-CN" altLang="en-US" dirty="0"/>
          </a:p>
        </p:txBody>
      </p:sp>
    </p:spTree>
    <p:extLst>
      <p:ext uri="{BB962C8B-B14F-4D97-AF65-F5344CB8AC3E}">
        <p14:creationId xmlns:p14="http://schemas.microsoft.com/office/powerpoint/2010/main" val="418829133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A48E35A-2A6D-4F07-ADC0-EF8313D11530}" type="slidenum">
              <a:rPr lang="en-US" altLang="zh-CN" smtClean="0"/>
              <a:pPr>
                <a:defRPr/>
              </a:pPr>
              <a:t>71</a:t>
            </a:fld>
            <a:endParaRPr lang="en-US" altLang="zh-CN"/>
          </a:p>
        </p:txBody>
      </p:sp>
    </p:spTree>
    <p:extLst>
      <p:ext uri="{BB962C8B-B14F-4D97-AF65-F5344CB8AC3E}">
        <p14:creationId xmlns:p14="http://schemas.microsoft.com/office/powerpoint/2010/main" val="126192540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a:extLst>
              <a:ext uri="{FF2B5EF4-FFF2-40B4-BE49-F238E27FC236}">
                <a16:creationId xmlns:a16="http://schemas.microsoft.com/office/drawing/2014/main" id="{B6A4E4A2-6529-4DB0-B19B-34FF3F2081DE}"/>
              </a:ext>
            </a:extLst>
          </p:cNvPr>
          <p:cNvSpPr>
            <a:spLocks noGrp="1" noRot="1" noChangeAspect="1" noChangeArrowheads="1" noTextEdit="1"/>
          </p:cNvSpPr>
          <p:nvPr>
            <p:ph type="sldImg"/>
          </p:nvPr>
        </p:nvSpPr>
        <p:spPr>
          <a:xfrm>
            <a:off x="381000" y="685800"/>
            <a:ext cx="6096000" cy="3429000"/>
          </a:xfrm>
          <a:ln/>
        </p:spPr>
      </p:sp>
      <p:sp>
        <p:nvSpPr>
          <p:cNvPr id="202755" name="备注占位符 2">
            <a:extLst>
              <a:ext uri="{FF2B5EF4-FFF2-40B4-BE49-F238E27FC236}">
                <a16:creationId xmlns:a16="http://schemas.microsoft.com/office/drawing/2014/main" id="{B8867348-9DA3-4DEF-95CB-2BFEBFC9285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这里有最大的核酸数据库</a:t>
            </a:r>
          </a:p>
        </p:txBody>
      </p:sp>
      <p:sp>
        <p:nvSpPr>
          <p:cNvPr id="202756" name="灯片编号占位符 3">
            <a:extLst>
              <a:ext uri="{FF2B5EF4-FFF2-40B4-BE49-F238E27FC236}">
                <a16:creationId xmlns:a16="http://schemas.microsoft.com/office/drawing/2014/main" id="{00E5D715-13BE-40D8-B135-27EFA5C6EAB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5005AC2-3D02-4F84-BCA6-1FB1522D2AE0}" type="slidenum">
              <a:rPr lang="en-US" altLang="zh-CN" sz="1200" smtClean="0"/>
              <a:pPr/>
              <a:t>72</a:t>
            </a:fld>
            <a:endParaRPr lang="en-US" altLang="zh-CN" sz="120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幻灯片图像占位符 1">
            <a:extLst>
              <a:ext uri="{FF2B5EF4-FFF2-40B4-BE49-F238E27FC236}">
                <a16:creationId xmlns:a16="http://schemas.microsoft.com/office/drawing/2014/main" id="{04B4CAEC-69DC-45E4-9565-3CD632543BC1}"/>
              </a:ext>
            </a:extLst>
          </p:cNvPr>
          <p:cNvSpPr>
            <a:spLocks noGrp="1" noRot="1" noChangeAspect="1" noChangeArrowheads="1" noTextEdit="1"/>
          </p:cNvSpPr>
          <p:nvPr>
            <p:ph type="sldImg"/>
          </p:nvPr>
        </p:nvSpPr>
        <p:spPr>
          <a:xfrm>
            <a:off x="381000" y="685800"/>
            <a:ext cx="6096000" cy="3429000"/>
          </a:xfrm>
          <a:ln/>
        </p:spPr>
      </p:sp>
      <p:sp>
        <p:nvSpPr>
          <p:cNvPr id="204803" name="备注占位符 2">
            <a:extLst>
              <a:ext uri="{FF2B5EF4-FFF2-40B4-BE49-F238E27FC236}">
                <a16:creationId xmlns:a16="http://schemas.microsoft.com/office/drawing/2014/main" id="{1F8C6126-85E3-4C9C-9496-1B37DA47A7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红色是重点。</a:t>
            </a:r>
          </a:p>
        </p:txBody>
      </p:sp>
      <p:sp>
        <p:nvSpPr>
          <p:cNvPr id="204804" name="灯片编号占位符 3">
            <a:extLst>
              <a:ext uri="{FF2B5EF4-FFF2-40B4-BE49-F238E27FC236}">
                <a16:creationId xmlns:a16="http://schemas.microsoft.com/office/drawing/2014/main" id="{33360D14-AA88-418B-BB3D-62420D6EF56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6448063-DC9C-46FA-8C4C-E457D06B4D11}" type="slidenum">
              <a:rPr lang="en-US" altLang="zh-CN" smtClean="0"/>
              <a:pPr>
                <a:spcBef>
                  <a:spcPct val="0"/>
                </a:spcBef>
              </a:pPr>
              <a:t>73</a:t>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幻灯片图像占位符 1">
            <a:extLst>
              <a:ext uri="{FF2B5EF4-FFF2-40B4-BE49-F238E27FC236}">
                <a16:creationId xmlns:a16="http://schemas.microsoft.com/office/drawing/2014/main" id="{32559E3F-F36C-4AA7-B6F7-6BD293164843}"/>
              </a:ext>
            </a:extLst>
          </p:cNvPr>
          <p:cNvSpPr>
            <a:spLocks noGrp="1" noRot="1" noChangeAspect="1" noChangeArrowheads="1" noTextEdit="1"/>
          </p:cNvSpPr>
          <p:nvPr>
            <p:ph type="sldImg"/>
          </p:nvPr>
        </p:nvSpPr>
        <p:spPr>
          <a:xfrm>
            <a:off x="381000" y="685800"/>
            <a:ext cx="6096000" cy="3429000"/>
          </a:xfrm>
          <a:ln/>
        </p:spPr>
      </p:sp>
      <p:sp>
        <p:nvSpPr>
          <p:cNvPr id="206851" name="备注占位符 2">
            <a:extLst>
              <a:ext uri="{FF2B5EF4-FFF2-40B4-BE49-F238E27FC236}">
                <a16:creationId xmlns:a16="http://schemas.microsoft.com/office/drawing/2014/main" id="{3E441981-1D93-4CEB-A172-9947058371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6852" name="灯片编号占位符 3">
            <a:extLst>
              <a:ext uri="{FF2B5EF4-FFF2-40B4-BE49-F238E27FC236}">
                <a16:creationId xmlns:a16="http://schemas.microsoft.com/office/drawing/2014/main" id="{96C6BB54-2423-4625-9CFB-FC1C93EBBF5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E9ED14E-D185-4CD5-B34F-795C89A1AD43}" type="slidenum">
              <a:rPr lang="en-US" altLang="zh-CN" sz="1200" smtClean="0"/>
              <a:pPr/>
              <a:t>74</a:t>
            </a:fld>
            <a:endParaRPr lang="en-US" altLang="zh-CN" sz="120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幻灯片图像占位符 1">
            <a:extLst>
              <a:ext uri="{FF2B5EF4-FFF2-40B4-BE49-F238E27FC236}">
                <a16:creationId xmlns:a16="http://schemas.microsoft.com/office/drawing/2014/main" id="{6BA5A940-09FE-45B7-A080-1BB1A8062235}"/>
              </a:ext>
            </a:extLst>
          </p:cNvPr>
          <p:cNvSpPr>
            <a:spLocks noGrp="1" noRot="1" noChangeAspect="1" noChangeArrowheads="1" noTextEdit="1"/>
          </p:cNvSpPr>
          <p:nvPr>
            <p:ph type="sldImg"/>
          </p:nvPr>
        </p:nvSpPr>
        <p:spPr>
          <a:xfrm>
            <a:off x="381000" y="685800"/>
            <a:ext cx="6096000" cy="3429000"/>
          </a:xfrm>
          <a:ln/>
        </p:spPr>
      </p:sp>
      <p:sp>
        <p:nvSpPr>
          <p:cNvPr id="209923" name="备注占位符 2">
            <a:extLst>
              <a:ext uri="{FF2B5EF4-FFF2-40B4-BE49-F238E27FC236}">
                <a16:creationId xmlns:a16="http://schemas.microsoft.com/office/drawing/2014/main" id="{A6D76BCF-E58B-48D7-8279-F6FD397D389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本节重点：ｍＲＮＡ，ｔＲＮＡ及ｒＲＮＡ的结构特点及功能； 开放阅读框（</a:t>
            </a:r>
            <a:r>
              <a:rPr lang="en-US" altLang="zh-CN" dirty="0"/>
              <a:t>open reading frame, ORF)</a:t>
            </a:r>
            <a:r>
              <a:rPr lang="zh-CN" altLang="en-US" dirty="0"/>
              <a:t>概念； ＲＮＡ干扰（</a:t>
            </a:r>
            <a:r>
              <a:rPr lang="en-US" altLang="zh-CN" dirty="0"/>
              <a:t>RNA interference</a:t>
            </a:r>
            <a:r>
              <a:rPr lang="zh-CN" altLang="en-US" dirty="0"/>
              <a:t>，</a:t>
            </a:r>
            <a:r>
              <a:rPr lang="en-US" altLang="zh-CN" dirty="0"/>
              <a:t>RNAi</a:t>
            </a:r>
            <a:r>
              <a:rPr lang="zh-CN" altLang="en-US" dirty="0"/>
              <a:t>）概念及应用</a:t>
            </a:r>
            <a:r>
              <a:rPr lang="en-US" altLang="zh-CN" dirty="0"/>
              <a:t>; </a:t>
            </a:r>
            <a:r>
              <a:rPr lang="zh-CN" altLang="en-US" dirty="0"/>
              <a:t>核酶（</a:t>
            </a:r>
            <a:r>
              <a:rPr lang="en-US" altLang="zh-CN" dirty="0"/>
              <a:t>ribozyme)</a:t>
            </a:r>
            <a:r>
              <a:rPr lang="zh-CN" altLang="en-US" dirty="0"/>
              <a:t>概念 </a:t>
            </a:r>
          </a:p>
        </p:txBody>
      </p:sp>
      <p:sp>
        <p:nvSpPr>
          <p:cNvPr id="209924" name="灯片编号占位符 3">
            <a:extLst>
              <a:ext uri="{FF2B5EF4-FFF2-40B4-BE49-F238E27FC236}">
                <a16:creationId xmlns:a16="http://schemas.microsoft.com/office/drawing/2014/main" id="{B50EB924-B13E-4F8C-953F-66818D23D1C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833E0F0-3383-443D-8FCE-0D7E3408689B}" type="slidenum">
              <a:rPr lang="en-US" altLang="zh-CN" sz="1200" smtClean="0"/>
              <a:pPr/>
              <a:t>76</a:t>
            </a:fld>
            <a:endParaRPr lang="en-US" altLang="zh-CN" sz="120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幻灯片图像占位符 1">
            <a:extLst>
              <a:ext uri="{FF2B5EF4-FFF2-40B4-BE49-F238E27FC236}">
                <a16:creationId xmlns:a16="http://schemas.microsoft.com/office/drawing/2014/main" id="{7521C0DE-9F47-44F4-877A-F382F33293E4}"/>
              </a:ext>
            </a:extLst>
          </p:cNvPr>
          <p:cNvSpPr>
            <a:spLocks noGrp="1" noRot="1" noChangeAspect="1" noChangeArrowheads="1" noTextEdit="1"/>
          </p:cNvSpPr>
          <p:nvPr>
            <p:ph type="sldImg"/>
          </p:nvPr>
        </p:nvSpPr>
        <p:spPr>
          <a:xfrm>
            <a:off x="381000" y="685800"/>
            <a:ext cx="6096000" cy="3429000"/>
          </a:xfrm>
          <a:ln/>
        </p:spPr>
      </p:sp>
      <p:sp>
        <p:nvSpPr>
          <p:cNvPr id="218115" name="备注占位符 2">
            <a:extLst>
              <a:ext uri="{FF2B5EF4-FFF2-40B4-BE49-F238E27FC236}">
                <a16:creationId xmlns:a16="http://schemas.microsoft.com/office/drawing/2014/main" id="{ABD80DB4-6133-4628-AA9E-C476CEAF85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组成性非编码</a:t>
            </a:r>
            <a:r>
              <a:rPr lang="en-US" altLang="zh-CN" dirty="0"/>
              <a:t>RNA</a:t>
            </a:r>
            <a:r>
              <a:rPr lang="zh-CN" altLang="en-US" dirty="0"/>
              <a:t>（</a:t>
            </a:r>
            <a:r>
              <a:rPr lang="en-US" altLang="zh-CN" dirty="0"/>
              <a:t>ncRNA)</a:t>
            </a:r>
            <a:r>
              <a:rPr lang="zh-CN" altLang="en-US" dirty="0"/>
              <a:t>是确保实现基本生物学功能的一类</a:t>
            </a:r>
            <a:r>
              <a:rPr lang="en-US" altLang="zh-CN" dirty="0"/>
              <a:t>RNA</a:t>
            </a:r>
            <a:r>
              <a:rPr lang="zh-CN" altLang="en-US" dirty="0"/>
              <a:t>，丰度基本恒定；</a:t>
            </a:r>
            <a:endParaRPr lang="en-US" altLang="zh-CN" dirty="0"/>
          </a:p>
          <a:p>
            <a:r>
              <a:rPr lang="zh-CN" altLang="en-US" dirty="0"/>
              <a:t>调控性非编码</a:t>
            </a:r>
            <a:r>
              <a:rPr lang="en-US" altLang="zh-CN" dirty="0"/>
              <a:t>RNA</a:t>
            </a:r>
            <a:r>
              <a:rPr lang="zh-CN" altLang="en-US" dirty="0"/>
              <a:t>在基因表达过程中发挥重要作用，其丰度随环境和细胞性状而改变。 </a:t>
            </a:r>
            <a:endParaRPr lang="en-US" altLang="zh-CN" dirty="0"/>
          </a:p>
          <a:p>
            <a:endParaRPr lang="en-US" altLang="zh-CN" dirty="0"/>
          </a:p>
          <a:p>
            <a:r>
              <a:rPr lang="en-US" altLang="zh-CN" dirty="0"/>
              <a:t>https://en.wikipedia.org/wiki/List_of_RNAs   </a:t>
            </a:r>
            <a:r>
              <a:rPr lang="zh-CN" altLang="en-US" dirty="0"/>
              <a:t>里有更多类型的</a:t>
            </a:r>
            <a:r>
              <a:rPr lang="en-US" altLang="zh-CN" dirty="0"/>
              <a:t>RNA</a:t>
            </a:r>
            <a:r>
              <a:rPr lang="zh-CN" altLang="en-US" dirty="0"/>
              <a:t>。   相关进展太快。</a:t>
            </a:r>
            <a:endParaRPr lang="en-US" altLang="zh-CN" dirty="0"/>
          </a:p>
          <a:p>
            <a:endParaRPr lang="en-US" altLang="zh-CN" dirty="0"/>
          </a:p>
          <a:p>
            <a:endParaRPr lang="en-US" altLang="zh-CN" dirty="0"/>
          </a:p>
          <a:p>
            <a:r>
              <a:rPr lang="en-US" altLang="zh-CN" dirty="0"/>
              <a:t>Piwi-interacting RNAs are responsible for the silencing of transposons and are not siRNAs. </a:t>
            </a:r>
            <a:r>
              <a:rPr lang="en-US" altLang="zh-CN" b="1" dirty="0"/>
              <a:t>PIWI-interacting RNAs (</a:t>
            </a:r>
            <a:r>
              <a:rPr lang="en-US" altLang="zh-CN" b="1" dirty="0" err="1"/>
              <a:t>piRNAs</a:t>
            </a:r>
            <a:r>
              <a:rPr lang="en-US" altLang="zh-CN" b="1" dirty="0"/>
              <a:t>) </a:t>
            </a:r>
            <a:r>
              <a:rPr lang="en-US" altLang="zh-CN" dirty="0"/>
              <a:t>are a recently-discovered class of small non-coding RNAs (ncRNAs) with </a:t>
            </a:r>
            <a:r>
              <a:rPr lang="en-US" altLang="zh-CN" b="1" dirty="0"/>
              <a:t>a length of 21-35 nucleotides</a:t>
            </a:r>
            <a:r>
              <a:rPr lang="en-US" altLang="zh-CN" dirty="0"/>
              <a:t>. They play a role in gene expression regulation, transposon silencing, and viral infection inhibition. Once considered as “dark matter” of ncRNAs, </a:t>
            </a:r>
            <a:r>
              <a:rPr lang="en-US" altLang="zh-CN" dirty="0" err="1"/>
              <a:t>piRNAs</a:t>
            </a:r>
            <a:r>
              <a:rPr lang="en-US" altLang="zh-CN" dirty="0"/>
              <a:t> emerged as important players in multiple cellular functions in different organisms.</a:t>
            </a:r>
          </a:p>
          <a:p>
            <a:endParaRPr lang="en-US" altLang="zh-CN" dirty="0"/>
          </a:p>
          <a:p>
            <a:r>
              <a:rPr lang="en-US" altLang="zh-CN" u="none" strike="noStrike" dirty="0" err="1">
                <a:solidFill>
                  <a:srgbClr val="3366CC"/>
                </a:solidFill>
                <a:effectLst/>
              </a:rPr>
              <a:t>scRNA</a:t>
            </a:r>
            <a:r>
              <a:rPr lang="en-US" altLang="zh-CN" u="none" strike="noStrike" dirty="0">
                <a:solidFill>
                  <a:srgbClr val="3366CC"/>
                </a:solidFill>
                <a:effectLst/>
              </a:rPr>
              <a:t>:   </a:t>
            </a:r>
            <a:r>
              <a:rPr lang="en-US" altLang="zh-CN" dirty="0">
                <a:effectLst/>
              </a:rPr>
              <a:t>small cytoplasmic RNA </a:t>
            </a:r>
            <a:endParaRPr lang="zh-CN" altLang="en-US" dirty="0"/>
          </a:p>
        </p:txBody>
      </p:sp>
      <p:sp>
        <p:nvSpPr>
          <p:cNvPr id="218116" name="灯片编号占位符 3">
            <a:extLst>
              <a:ext uri="{FF2B5EF4-FFF2-40B4-BE49-F238E27FC236}">
                <a16:creationId xmlns:a16="http://schemas.microsoft.com/office/drawing/2014/main" id="{FCB17905-BF48-46CA-99B6-41F9D82B81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1B39E1C-F935-409F-B38F-B6BADA26E863}" type="slidenum">
              <a:rPr lang="en-US" altLang="zh-CN" sz="1200" smtClean="0"/>
              <a:pPr/>
              <a:t>77</a:t>
            </a:fld>
            <a:endParaRPr lang="en-US" altLang="zh-CN" sz="1200"/>
          </a:p>
        </p:txBody>
      </p:sp>
    </p:spTree>
    <p:extLst>
      <p:ext uri="{BB962C8B-B14F-4D97-AF65-F5344CB8AC3E}">
        <p14:creationId xmlns:p14="http://schemas.microsoft.com/office/powerpoint/2010/main" val="127941067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幻灯片图像占位符 1">
            <a:extLst>
              <a:ext uri="{FF2B5EF4-FFF2-40B4-BE49-F238E27FC236}">
                <a16:creationId xmlns:a16="http://schemas.microsoft.com/office/drawing/2014/main" id="{4D01CA06-1AAA-4374-817C-F5787417A342}"/>
              </a:ext>
            </a:extLst>
          </p:cNvPr>
          <p:cNvSpPr>
            <a:spLocks noGrp="1" noRot="1" noChangeAspect="1" noChangeArrowheads="1" noTextEdit="1"/>
          </p:cNvSpPr>
          <p:nvPr>
            <p:ph type="sldImg"/>
          </p:nvPr>
        </p:nvSpPr>
        <p:spPr>
          <a:xfrm>
            <a:off x="381000" y="685800"/>
            <a:ext cx="6096000" cy="3429000"/>
          </a:xfrm>
          <a:ln/>
        </p:spPr>
      </p:sp>
      <p:sp>
        <p:nvSpPr>
          <p:cNvPr id="220163" name="备注占位符 2">
            <a:extLst>
              <a:ext uri="{FF2B5EF4-FFF2-40B4-BE49-F238E27FC236}">
                <a16:creationId xmlns:a16="http://schemas.microsoft.com/office/drawing/2014/main" id="{07F925E0-B49E-49CE-97DB-D23BEDA892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源自人卫第六版 细胞生物学</a:t>
            </a:r>
          </a:p>
        </p:txBody>
      </p:sp>
      <p:sp>
        <p:nvSpPr>
          <p:cNvPr id="220164" name="灯片编号占位符 3">
            <a:extLst>
              <a:ext uri="{FF2B5EF4-FFF2-40B4-BE49-F238E27FC236}">
                <a16:creationId xmlns:a16="http://schemas.microsoft.com/office/drawing/2014/main" id="{9D65D100-41A7-41D0-9A78-39456DD205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438F32C-F55E-47E5-829E-E6AC84723FC1}" type="slidenum">
              <a:rPr lang="en-US" altLang="zh-CN" sz="1200" smtClean="0"/>
              <a:pPr/>
              <a:t>78</a:t>
            </a:fld>
            <a:endParaRPr lang="en-US" altLang="zh-CN" sz="120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1031">
            <a:extLst>
              <a:ext uri="{FF2B5EF4-FFF2-40B4-BE49-F238E27FC236}">
                <a16:creationId xmlns:a16="http://schemas.microsoft.com/office/drawing/2014/main" id="{31B94194-C0DB-4EF2-BD27-C90AB1C264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DE82A01-C030-4441-84CC-06A12BF29026}" type="slidenum">
              <a:rPr lang="en-US" altLang="zh-CN" smtClean="0"/>
              <a:pPr>
                <a:spcBef>
                  <a:spcPct val="0"/>
                </a:spcBef>
              </a:pPr>
              <a:t>79</a:t>
            </a:fld>
            <a:endParaRPr lang="en-US" altLang="zh-CN"/>
          </a:p>
        </p:txBody>
      </p:sp>
      <p:sp>
        <p:nvSpPr>
          <p:cNvPr id="211971" name="Rectangle 2">
            <a:extLst>
              <a:ext uri="{FF2B5EF4-FFF2-40B4-BE49-F238E27FC236}">
                <a16:creationId xmlns:a16="http://schemas.microsoft.com/office/drawing/2014/main" id="{BD706312-F302-43F4-BE2C-3902AE0B9323}"/>
              </a:ext>
            </a:extLst>
          </p:cNvPr>
          <p:cNvSpPr>
            <a:spLocks noGrp="1" noRot="1" noChangeAspect="1" noChangeArrowheads="1" noTextEdit="1"/>
          </p:cNvSpPr>
          <p:nvPr>
            <p:ph type="sldImg"/>
          </p:nvPr>
        </p:nvSpPr>
        <p:spPr>
          <a:xfrm>
            <a:off x="381000" y="685800"/>
            <a:ext cx="6096000" cy="3429000"/>
          </a:xfrm>
          <a:ln/>
        </p:spPr>
      </p:sp>
      <p:sp>
        <p:nvSpPr>
          <p:cNvPr id="218116" name="Rectangle 3">
            <a:extLst>
              <a:ext uri="{FF2B5EF4-FFF2-40B4-BE49-F238E27FC236}">
                <a16:creationId xmlns:a16="http://schemas.microsoft.com/office/drawing/2014/main" id="{A9C74FF2-8406-42D8-A6DF-2439830C1B86}"/>
              </a:ext>
            </a:extLst>
          </p:cNvPr>
          <p:cNvSpPr>
            <a:spLocks noGrp="1" noChangeArrowheads="1"/>
          </p:cNvSpPr>
          <p:nvPr>
            <p:ph type="body" idx="1"/>
          </p:nvPr>
        </p:nvSpPr>
        <p:spPr>
          <a:ln/>
        </p:spPr>
        <p:txBody>
          <a:bodyPr/>
          <a:lstStyle/>
          <a:p>
            <a:pPr eaLnBrk="1" hangingPunct="1">
              <a:spcBef>
                <a:spcPts val="0"/>
              </a:spcBef>
              <a:defRPr/>
            </a:pPr>
            <a:r>
              <a:rPr kumimoji="1" lang="en-US" altLang="zh-CN" dirty="0"/>
              <a:t>RNA</a:t>
            </a:r>
            <a:r>
              <a:rPr kumimoji="1" lang="zh-CN" altLang="en-US" dirty="0"/>
              <a:t>分子作为行使多种功能的分子，结构的多样性远胜于作为遗传物质稳定存在的</a:t>
            </a:r>
            <a:r>
              <a:rPr kumimoji="1" lang="en-US" altLang="zh-CN" dirty="0"/>
              <a:t>DNA</a:t>
            </a:r>
            <a:r>
              <a:rPr kumimoji="1" lang="zh-CN" altLang="en-US" dirty="0"/>
              <a:t>分子，正因为有结构上的多样性，</a:t>
            </a:r>
            <a:r>
              <a:rPr kumimoji="1" lang="en-US" altLang="zh-CN" dirty="0"/>
              <a:t>RNA</a:t>
            </a:r>
            <a:r>
              <a:rPr kumimoji="1" lang="zh-CN" altLang="en-US" dirty="0"/>
              <a:t>分子才有多样化的功能，所谓结构决定功能。  </a:t>
            </a:r>
            <a:endParaRPr kumimoji="1" lang="en-US" altLang="zh-CN" dirty="0"/>
          </a:p>
          <a:p>
            <a:pPr marL="228600" indent="-228600" eaLnBrk="1" hangingPunct="1">
              <a:defRPr/>
            </a:pPr>
            <a:endParaRPr kumimoji="1" lang="en-US" altLang="zh-CN"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幻灯片图像占位符 1">
            <a:extLst>
              <a:ext uri="{FF2B5EF4-FFF2-40B4-BE49-F238E27FC236}">
                <a16:creationId xmlns:a16="http://schemas.microsoft.com/office/drawing/2014/main" id="{85B63D29-BFDF-482B-98A5-121C772F07E7}"/>
              </a:ext>
            </a:extLst>
          </p:cNvPr>
          <p:cNvSpPr>
            <a:spLocks noGrp="1" noRot="1" noChangeAspect="1" noChangeArrowheads="1" noTextEdit="1"/>
          </p:cNvSpPr>
          <p:nvPr>
            <p:ph type="sldImg"/>
          </p:nvPr>
        </p:nvSpPr>
        <p:spPr>
          <a:xfrm>
            <a:off x="381000" y="685800"/>
            <a:ext cx="6096000" cy="3429000"/>
          </a:xfrm>
          <a:ln/>
        </p:spPr>
      </p:sp>
      <p:sp>
        <p:nvSpPr>
          <p:cNvPr id="214019" name="备注占位符 2">
            <a:extLst>
              <a:ext uri="{FF2B5EF4-FFF2-40B4-BE49-F238E27FC236}">
                <a16:creationId xmlns:a16="http://schemas.microsoft.com/office/drawing/2014/main" id="{598AC06A-129A-4CA1-B107-AA6A307A6CD5}"/>
              </a:ext>
            </a:extLst>
          </p:cNvPr>
          <p:cNvSpPr>
            <a:spLocks noGrp="1" noChangeArrowheads="1"/>
          </p:cNvSpPr>
          <p:nvPr>
            <p:ph type="body" idx="1"/>
          </p:nvPr>
        </p:nvSpPr>
        <p:spPr>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dirty="0"/>
              <a:t>(derived from PDB ID 1GID).</a:t>
            </a:r>
          </a:p>
          <a:p>
            <a:endParaRPr lang="en-US" altLang="zh-CN" dirty="0"/>
          </a:p>
          <a:p>
            <a:r>
              <a:rPr lang="en-US" altLang="zh-CN" dirty="0"/>
              <a:t>RNA</a:t>
            </a:r>
            <a:r>
              <a:rPr lang="zh-CN" altLang="en-US" dirty="0"/>
              <a:t>分子中的双链区通常呈</a:t>
            </a:r>
            <a:r>
              <a:rPr lang="en-US" altLang="zh-CN" dirty="0"/>
              <a:t>A</a:t>
            </a:r>
            <a:r>
              <a:rPr lang="zh-CN" altLang="en-US" dirty="0"/>
              <a:t>型右手螺旋，类似</a:t>
            </a:r>
            <a:r>
              <a:rPr lang="en-US" altLang="zh-CN" dirty="0"/>
              <a:t>A</a:t>
            </a:r>
            <a:r>
              <a:rPr lang="zh-CN" altLang="en-US" dirty="0"/>
              <a:t>型</a:t>
            </a:r>
            <a:r>
              <a:rPr lang="en-US" altLang="zh-CN" dirty="0"/>
              <a:t>DNA</a:t>
            </a:r>
            <a:endParaRPr lang="zh-CN" altLang="en-US" dirty="0"/>
          </a:p>
          <a:p>
            <a:endParaRPr lang="en-US" altLang="zh-CN" dirty="0"/>
          </a:p>
          <a:p>
            <a:endParaRPr lang="zh-CN" altLang="en-US" dirty="0"/>
          </a:p>
        </p:txBody>
      </p:sp>
      <p:sp>
        <p:nvSpPr>
          <p:cNvPr id="214020" name="灯片编号占位符 3">
            <a:extLst>
              <a:ext uri="{FF2B5EF4-FFF2-40B4-BE49-F238E27FC236}">
                <a16:creationId xmlns:a16="http://schemas.microsoft.com/office/drawing/2014/main" id="{6067297C-5F6C-43EE-B8DA-9D4FE712C33E}"/>
              </a:ext>
            </a:extLst>
          </p:cNvPr>
          <p:cNvSpPr>
            <a:spLocks noGrp="1"/>
          </p:cNvSpPr>
          <p:nvPr>
            <p:ph type="sldNum" sz="quarter" idx="5"/>
          </p:nvPr>
        </p:nvSpPr>
        <p:spPr>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73FE3180-E174-43D8-801B-2ADE61BC1B28}" type="slidenum">
              <a:rPr lang="zh-CN" altLang="en-US" sz="1200" smtClean="0"/>
              <a:pPr/>
              <a:t>80</a:t>
            </a:fld>
            <a:endParaRPr lang="en-US" altLang="zh-CN" sz="120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幻灯片图像占位符 1">
            <a:extLst>
              <a:ext uri="{FF2B5EF4-FFF2-40B4-BE49-F238E27FC236}">
                <a16:creationId xmlns:a16="http://schemas.microsoft.com/office/drawing/2014/main" id="{168C416B-6BFD-49BB-BFC9-CABD04F93290}"/>
              </a:ext>
            </a:extLst>
          </p:cNvPr>
          <p:cNvSpPr>
            <a:spLocks noGrp="1" noRot="1" noChangeAspect="1" noChangeArrowheads="1" noTextEdit="1"/>
          </p:cNvSpPr>
          <p:nvPr>
            <p:ph type="sldImg"/>
          </p:nvPr>
        </p:nvSpPr>
        <p:spPr>
          <a:xfrm>
            <a:off x="381000" y="685800"/>
            <a:ext cx="6096000" cy="3429000"/>
          </a:xfrm>
          <a:ln/>
        </p:spPr>
      </p:sp>
      <p:sp>
        <p:nvSpPr>
          <p:cNvPr id="216067" name="备注占位符 2">
            <a:extLst>
              <a:ext uri="{FF2B5EF4-FFF2-40B4-BE49-F238E27FC236}">
                <a16:creationId xmlns:a16="http://schemas.microsoft.com/office/drawing/2014/main" id="{260EF472-51EB-4472-B4E9-DCACD44F2D7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dirty="0"/>
              <a:t>RNA</a:t>
            </a:r>
            <a:r>
              <a:rPr lang="zh-CN" altLang="en-US" b="1" dirty="0"/>
              <a:t>中的</a:t>
            </a:r>
            <a:r>
              <a:rPr lang="en-US" altLang="zh-CN" b="1" dirty="0"/>
              <a:t>G</a:t>
            </a:r>
            <a:r>
              <a:rPr lang="zh-CN" altLang="en-US" b="1" dirty="0"/>
              <a:t>：</a:t>
            </a:r>
            <a:r>
              <a:rPr lang="en-US" altLang="zh-CN" b="1" dirty="0"/>
              <a:t>U</a:t>
            </a:r>
            <a:r>
              <a:rPr lang="zh-CN" altLang="en-US" b="1" dirty="0"/>
              <a:t>配对较常见，</a:t>
            </a:r>
            <a:r>
              <a:rPr lang="zh-CN" altLang="en-US" dirty="0"/>
              <a:t>但只在已经转录出的</a:t>
            </a:r>
            <a:r>
              <a:rPr lang="en-US" altLang="zh-CN" dirty="0"/>
              <a:t>RNA</a:t>
            </a:r>
            <a:r>
              <a:rPr lang="zh-CN" altLang="en-US" dirty="0"/>
              <a:t>分子形成的局部双链结构中出现，在以</a:t>
            </a:r>
            <a:r>
              <a:rPr lang="en-US" altLang="zh-CN" dirty="0"/>
              <a:t>DNA</a:t>
            </a:r>
            <a:r>
              <a:rPr lang="zh-CN" altLang="en-US" dirty="0"/>
              <a:t>为模板生成</a:t>
            </a:r>
            <a:r>
              <a:rPr lang="en-US" altLang="zh-CN" dirty="0"/>
              <a:t>RNA</a:t>
            </a:r>
            <a:r>
              <a:rPr lang="zh-CN" altLang="en-US" dirty="0"/>
              <a:t>的过程中不会有此配对。  </a:t>
            </a:r>
          </a:p>
        </p:txBody>
      </p:sp>
      <p:sp>
        <p:nvSpPr>
          <p:cNvPr id="216068" name="灯片编号占位符 3">
            <a:extLst>
              <a:ext uri="{FF2B5EF4-FFF2-40B4-BE49-F238E27FC236}">
                <a16:creationId xmlns:a16="http://schemas.microsoft.com/office/drawing/2014/main" id="{21460A68-421F-48E5-B3E2-58F572E8C73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7AA6F34-7C57-477C-B38F-329FCF79912A}" type="slidenum">
              <a:rPr lang="en-US" altLang="zh-CN" smtClean="0"/>
              <a:pPr>
                <a:spcBef>
                  <a:spcPct val="0"/>
                </a:spcBef>
              </a:pPr>
              <a:t>81</a:t>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1031">
            <a:extLst>
              <a:ext uri="{FF2B5EF4-FFF2-40B4-BE49-F238E27FC236}">
                <a16:creationId xmlns:a16="http://schemas.microsoft.com/office/drawing/2014/main" id="{40E74E73-38B4-4073-961E-E041FCD954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777F5C2-51D4-47F9-B276-98558960C579}" type="slidenum">
              <a:rPr lang="en-US" altLang="zh-CN" smtClean="0"/>
              <a:pPr>
                <a:spcBef>
                  <a:spcPct val="0"/>
                </a:spcBef>
              </a:pPr>
              <a:t>82</a:t>
            </a:fld>
            <a:endParaRPr lang="en-US" altLang="zh-CN"/>
          </a:p>
        </p:txBody>
      </p:sp>
      <p:sp>
        <p:nvSpPr>
          <p:cNvPr id="222211" name="Rectangle 2">
            <a:extLst>
              <a:ext uri="{FF2B5EF4-FFF2-40B4-BE49-F238E27FC236}">
                <a16:creationId xmlns:a16="http://schemas.microsoft.com/office/drawing/2014/main" id="{FA71623A-A89A-496B-B7D1-4D2E1602F77C}"/>
              </a:ext>
            </a:extLst>
          </p:cNvPr>
          <p:cNvSpPr>
            <a:spLocks noGrp="1" noRot="1" noChangeAspect="1" noChangeArrowheads="1" noTextEdit="1"/>
          </p:cNvSpPr>
          <p:nvPr>
            <p:ph type="sldImg"/>
          </p:nvPr>
        </p:nvSpPr>
        <p:spPr>
          <a:xfrm>
            <a:off x="381000" y="685800"/>
            <a:ext cx="6096000" cy="3429000"/>
          </a:xfrm>
          <a:ln/>
        </p:spPr>
      </p:sp>
      <p:sp>
        <p:nvSpPr>
          <p:cNvPr id="222212" name="Rectangle 3">
            <a:extLst>
              <a:ext uri="{FF2B5EF4-FFF2-40B4-BE49-F238E27FC236}">
                <a16:creationId xmlns:a16="http://schemas.microsoft.com/office/drawing/2014/main" id="{7799ABBD-83FD-4CBE-AAD9-903BB4313F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endParaRPr lang="en-US" altLang="zh-CN"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1031">
            <a:extLst>
              <a:ext uri="{FF2B5EF4-FFF2-40B4-BE49-F238E27FC236}">
                <a16:creationId xmlns:a16="http://schemas.microsoft.com/office/drawing/2014/main" id="{894CF4D4-1335-4FF1-BBAA-C86949838F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A64FB05-5707-4C0D-BE3F-216FE83D2C38}" type="slidenum">
              <a:rPr lang="en-US" altLang="zh-CN" smtClean="0"/>
              <a:pPr>
                <a:spcBef>
                  <a:spcPct val="0"/>
                </a:spcBef>
              </a:pPr>
              <a:t>83</a:t>
            </a:fld>
            <a:endParaRPr lang="en-US" altLang="zh-CN"/>
          </a:p>
        </p:txBody>
      </p:sp>
      <p:sp>
        <p:nvSpPr>
          <p:cNvPr id="226307" name="Rectangle 2">
            <a:extLst>
              <a:ext uri="{FF2B5EF4-FFF2-40B4-BE49-F238E27FC236}">
                <a16:creationId xmlns:a16="http://schemas.microsoft.com/office/drawing/2014/main" id="{22A9CB18-D2F8-43A3-BDD0-F7A7987EB711}"/>
              </a:ext>
            </a:extLst>
          </p:cNvPr>
          <p:cNvSpPr>
            <a:spLocks noGrp="1" noRot="1" noChangeAspect="1" noChangeArrowheads="1" noTextEdit="1"/>
          </p:cNvSpPr>
          <p:nvPr>
            <p:ph type="sldImg"/>
          </p:nvPr>
        </p:nvSpPr>
        <p:spPr>
          <a:xfrm>
            <a:off x="381000" y="685800"/>
            <a:ext cx="6096000" cy="3429000"/>
          </a:xfrm>
          <a:ln/>
        </p:spPr>
      </p:sp>
      <p:sp>
        <p:nvSpPr>
          <p:cNvPr id="226308" name="Rectangle 3">
            <a:extLst>
              <a:ext uri="{FF2B5EF4-FFF2-40B4-BE49-F238E27FC236}">
                <a16:creationId xmlns:a16="http://schemas.microsoft.com/office/drawing/2014/main" id="{006B2E0C-BDF2-48E6-AF1A-2C10D00EE5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反式</a:t>
            </a:r>
            <a:r>
              <a:rPr lang="en-US" altLang="zh-CN" dirty="0">
                <a:latin typeface="宋体" panose="02010600030101010101" pitchFamily="2" charset="-122"/>
              </a:rPr>
              <a:t>7-</a:t>
            </a:r>
            <a:r>
              <a:rPr lang="zh-CN" altLang="en-US" dirty="0">
                <a:latin typeface="宋体" panose="02010600030101010101" pitchFamily="2" charset="-122"/>
              </a:rPr>
              <a:t>甲基鸟嘌呤</a:t>
            </a:r>
            <a:r>
              <a:rPr lang="en-US" altLang="zh-CN" dirty="0">
                <a:latin typeface="宋体" panose="02010600030101010101" pitchFamily="2" charset="-122"/>
              </a:rPr>
              <a:t>- </a:t>
            </a:r>
            <a:r>
              <a:rPr lang="zh-CN" altLang="en-US" dirty="0">
                <a:latin typeface="宋体" panose="02010600030101010101" pitchFamily="2" charset="-122"/>
              </a:rPr>
              <a:t>三磷酸核苷（</a:t>
            </a:r>
            <a:r>
              <a:rPr lang="en-US" altLang="zh-CN" dirty="0">
                <a:latin typeface="宋体" panose="02010600030101010101" pitchFamily="2" charset="-122"/>
              </a:rPr>
              <a:t>m7Gppp</a:t>
            </a:r>
            <a:r>
              <a:rPr lang="zh-CN" altLang="en-US" dirty="0">
                <a:latin typeface="宋体" panose="02010600030101010101" pitchFamily="2" charset="-122"/>
              </a:rPr>
              <a:t>）</a:t>
            </a:r>
            <a:endParaRPr lang="en-US" altLang="zh-CN" dirty="0">
              <a:latin typeface="宋体" panose="02010600030101010101" pitchFamily="2" charset="-122"/>
            </a:endParaRPr>
          </a:p>
          <a:p>
            <a:pPr eaLnBrk="1" hangingPunct="1"/>
            <a:r>
              <a:rPr lang="zh-CN" altLang="en-US" dirty="0">
                <a:latin typeface="宋体" panose="02010600030101010101" pitchFamily="2" charset="-122"/>
              </a:rPr>
              <a:t>原核生物的</a:t>
            </a:r>
            <a:r>
              <a:rPr lang="en-US" altLang="zh-CN" dirty="0"/>
              <a:t>mRNA</a:t>
            </a:r>
            <a:r>
              <a:rPr lang="zh-CN" altLang="en-US" dirty="0">
                <a:latin typeface="宋体" panose="02010600030101010101" pitchFamily="2" charset="-122"/>
              </a:rPr>
              <a:t>没有这种首、尾结构。</a:t>
            </a:r>
            <a:r>
              <a:rPr lang="zh-CN" altLang="en-US" dirty="0"/>
              <a:t> </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a:extLst>
              <a:ext uri="{FF2B5EF4-FFF2-40B4-BE49-F238E27FC236}">
                <a16:creationId xmlns:a16="http://schemas.microsoft.com/office/drawing/2014/main" id="{8846F9DB-6CBF-4ED8-89B1-371593C210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02346C8-9259-4429-B5CD-3816AEDDFE0D}" type="slidenum">
              <a:rPr lang="en-US" altLang="zh-CN" smtClean="0"/>
              <a:pPr>
                <a:spcBef>
                  <a:spcPct val="0"/>
                </a:spcBef>
              </a:pPr>
              <a:t>84</a:t>
            </a:fld>
            <a:endParaRPr lang="en-US" altLang="zh-CN"/>
          </a:p>
        </p:txBody>
      </p:sp>
      <p:sp>
        <p:nvSpPr>
          <p:cNvPr id="228355" name="Rectangle 2">
            <a:extLst>
              <a:ext uri="{FF2B5EF4-FFF2-40B4-BE49-F238E27FC236}">
                <a16:creationId xmlns:a16="http://schemas.microsoft.com/office/drawing/2014/main" id="{82585BB1-3F83-4E20-9596-2DA40EFC5D62}"/>
              </a:ext>
            </a:extLst>
          </p:cNvPr>
          <p:cNvSpPr>
            <a:spLocks noGrp="1" noRot="1" noChangeAspect="1" noChangeArrowheads="1" noTextEdit="1"/>
          </p:cNvSpPr>
          <p:nvPr>
            <p:ph type="sldImg"/>
          </p:nvPr>
        </p:nvSpPr>
        <p:spPr>
          <a:xfrm>
            <a:off x="381000" y="685800"/>
            <a:ext cx="6096000" cy="3429000"/>
          </a:xfrm>
          <a:ln/>
        </p:spPr>
      </p:sp>
      <p:sp>
        <p:nvSpPr>
          <p:cNvPr id="228356" name="Rectangle 3">
            <a:extLst>
              <a:ext uri="{FF2B5EF4-FFF2-40B4-BE49-F238E27FC236}">
                <a16:creationId xmlns:a16="http://schemas.microsoft.com/office/drawing/2014/main" id="{51A51545-B761-4A4F-BACF-C31F3A8DEA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幻灯片图像占位符 1">
            <a:extLst>
              <a:ext uri="{FF2B5EF4-FFF2-40B4-BE49-F238E27FC236}">
                <a16:creationId xmlns:a16="http://schemas.microsoft.com/office/drawing/2014/main" id="{9A567083-B3CF-4850-833F-B0FE89B6E373}"/>
              </a:ext>
            </a:extLst>
          </p:cNvPr>
          <p:cNvSpPr>
            <a:spLocks noGrp="1" noRot="1" noChangeAspect="1" noChangeArrowheads="1" noTextEdit="1"/>
          </p:cNvSpPr>
          <p:nvPr>
            <p:ph type="sldImg"/>
          </p:nvPr>
        </p:nvSpPr>
        <p:spPr>
          <a:xfrm>
            <a:off x="381000" y="685800"/>
            <a:ext cx="6096000" cy="3429000"/>
          </a:xfrm>
          <a:ln/>
        </p:spPr>
      </p:sp>
      <p:sp>
        <p:nvSpPr>
          <p:cNvPr id="230403" name="备注占位符 2">
            <a:extLst>
              <a:ext uri="{FF2B5EF4-FFF2-40B4-BE49-F238E27FC236}">
                <a16:creationId xmlns:a16="http://schemas.microsoft.com/office/drawing/2014/main" id="{BF2D15A7-7B06-447E-BCEF-76DC56D7651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加工过程首先是将</a:t>
            </a:r>
            <a:r>
              <a:rPr lang="en-US" altLang="zh-CN" dirty="0"/>
              <a:t>5‘-</a:t>
            </a:r>
            <a:r>
              <a:rPr lang="zh-CN" altLang="en-US" dirty="0"/>
              <a:t>端的磷酸基团水解掉一个，然后再加上鸟苷酸，形成</a:t>
            </a:r>
            <a:r>
              <a:rPr lang="en-US" altLang="zh-CN" dirty="0" err="1"/>
              <a:t>GpppN</a:t>
            </a:r>
            <a:r>
              <a:rPr lang="zh-CN" altLang="en-US" dirty="0"/>
              <a:t>的结构，再对</a:t>
            </a:r>
            <a:r>
              <a:rPr lang="en-US" altLang="zh-CN" dirty="0"/>
              <a:t>G</a:t>
            </a:r>
            <a:r>
              <a:rPr lang="zh-CN" altLang="en-US" dirty="0"/>
              <a:t>进行甲基化得到</a:t>
            </a:r>
            <a:r>
              <a:rPr lang="en-US" altLang="zh-CN" dirty="0"/>
              <a:t>m7GpppG</a:t>
            </a:r>
            <a:r>
              <a:rPr lang="zh-CN" altLang="en-US" dirty="0"/>
              <a:t>。 </a:t>
            </a:r>
          </a:p>
          <a:p>
            <a:endParaRPr lang="zh-CN" altLang="en-US" dirty="0"/>
          </a:p>
        </p:txBody>
      </p:sp>
      <p:sp>
        <p:nvSpPr>
          <p:cNvPr id="230404" name="灯片编号占位符 3">
            <a:extLst>
              <a:ext uri="{FF2B5EF4-FFF2-40B4-BE49-F238E27FC236}">
                <a16:creationId xmlns:a16="http://schemas.microsoft.com/office/drawing/2014/main" id="{F0CC27AB-9028-4951-BA92-B59DF74D0D3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5327E7D-C834-4F52-8E55-F2404D757734}" type="slidenum">
              <a:rPr lang="en-US" altLang="zh-CN" sz="1200" smtClean="0"/>
              <a:pPr/>
              <a:t>85</a:t>
            </a:fld>
            <a:endParaRPr lang="en-US" altLang="zh-CN" sz="120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a:extLst>
              <a:ext uri="{FF2B5EF4-FFF2-40B4-BE49-F238E27FC236}">
                <a16:creationId xmlns:a16="http://schemas.microsoft.com/office/drawing/2014/main" id="{4C8800D6-00AF-4992-8555-731A02921C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F98628F-0B02-4E0C-B641-2F2FAFFE27CA}" type="slidenum">
              <a:rPr lang="en-US" altLang="zh-CN" smtClean="0"/>
              <a:pPr>
                <a:spcBef>
                  <a:spcPct val="0"/>
                </a:spcBef>
              </a:pPr>
              <a:t>86</a:t>
            </a:fld>
            <a:endParaRPr lang="en-US" altLang="zh-CN"/>
          </a:p>
        </p:txBody>
      </p:sp>
      <p:sp>
        <p:nvSpPr>
          <p:cNvPr id="234499" name="Rectangle 2">
            <a:extLst>
              <a:ext uri="{FF2B5EF4-FFF2-40B4-BE49-F238E27FC236}">
                <a16:creationId xmlns:a16="http://schemas.microsoft.com/office/drawing/2014/main" id="{7271EC2E-C7B0-4966-8ED2-62B7D0A008B2}"/>
              </a:ext>
            </a:extLst>
          </p:cNvPr>
          <p:cNvSpPr>
            <a:spLocks noGrp="1" noRot="1" noChangeAspect="1" noChangeArrowheads="1" noTextEdit="1"/>
          </p:cNvSpPr>
          <p:nvPr>
            <p:ph type="sldImg"/>
          </p:nvPr>
        </p:nvSpPr>
        <p:spPr>
          <a:xfrm>
            <a:off x="3081338" y="381000"/>
            <a:ext cx="3567112" cy="2008188"/>
          </a:xfrm>
          <a:ln/>
        </p:spPr>
      </p:sp>
      <p:sp>
        <p:nvSpPr>
          <p:cNvPr id="234500" name="Rectangle 3">
            <a:extLst>
              <a:ext uri="{FF2B5EF4-FFF2-40B4-BE49-F238E27FC236}">
                <a16:creationId xmlns:a16="http://schemas.microsoft.com/office/drawing/2014/main" id="{F4DED40B-4C43-47C0-BF52-59E7733DB0B2}"/>
              </a:ext>
            </a:extLst>
          </p:cNvPr>
          <p:cNvSpPr>
            <a:spLocks noGrp="1" noChangeArrowheads="1"/>
          </p:cNvSpPr>
          <p:nvPr>
            <p:ph type="body" idx="1"/>
          </p:nvPr>
        </p:nvSpPr>
        <p:spPr>
          <a:xfrm>
            <a:off x="192088" y="2479675"/>
            <a:ext cx="6362700" cy="66643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lnSpc>
                <a:spcPct val="110000"/>
              </a:lnSpc>
            </a:pPr>
            <a:r>
              <a:rPr lang="zh-CN" altLang="en-US" sz="1100" dirty="0"/>
              <a:t>剪切位点下游约</a:t>
            </a:r>
            <a:r>
              <a:rPr lang="en-US" altLang="zh-CN" sz="1100" dirty="0"/>
              <a:t>50nt</a:t>
            </a:r>
            <a:r>
              <a:rPr lang="zh-CN" altLang="en-US" sz="1100" dirty="0"/>
              <a:t>处有富含</a:t>
            </a:r>
            <a:r>
              <a:rPr lang="en-US" altLang="zh-CN" sz="1100" dirty="0"/>
              <a:t>GU</a:t>
            </a:r>
            <a:r>
              <a:rPr lang="zh-CN" altLang="en-US" sz="1100" dirty="0"/>
              <a:t>的序列。   </a:t>
            </a:r>
            <a:endParaRPr lang="en-US" altLang="zh-CN" sz="1100" dirty="0"/>
          </a:p>
          <a:p>
            <a:pPr algn="just" eaLnBrk="1" hangingPunct="1">
              <a:lnSpc>
                <a:spcPct val="110000"/>
              </a:lnSpc>
            </a:pPr>
            <a:endParaRPr lang="en-US" altLang="zh-CN" sz="1100" dirty="0"/>
          </a:p>
          <a:p>
            <a:pPr algn="just" eaLnBrk="1" hangingPunct="1">
              <a:lnSpc>
                <a:spcPct val="110000"/>
              </a:lnSpc>
            </a:pPr>
            <a:r>
              <a:rPr lang="en-US" altLang="zh-CN" sz="1100" dirty="0"/>
              <a:t>At their 3</a:t>
            </a:r>
            <a:r>
              <a:rPr lang="zh-CN" altLang="en-US" sz="1100" dirty="0"/>
              <a:t>‘ </a:t>
            </a:r>
            <a:r>
              <a:rPr lang="en-US" altLang="zh-CN" sz="1100" dirty="0"/>
              <a:t>end, most eukaryotic mRNAs have a string of 80 to 250 A residues, making up the poly(A) tail.</a:t>
            </a:r>
          </a:p>
        </p:txBody>
      </p:sp>
      <p:sp>
        <p:nvSpPr>
          <p:cNvPr id="234501" name="Text Box 4">
            <a:extLst>
              <a:ext uri="{FF2B5EF4-FFF2-40B4-BE49-F238E27FC236}">
                <a16:creationId xmlns:a16="http://schemas.microsoft.com/office/drawing/2014/main" id="{949EF97C-2D95-4A56-B9FC-867361F520FF}"/>
              </a:ext>
            </a:extLst>
          </p:cNvPr>
          <p:cNvSpPr txBox="1">
            <a:spLocks noChangeArrowheads="1"/>
          </p:cNvSpPr>
          <p:nvPr/>
        </p:nvSpPr>
        <p:spPr bwMode="auto">
          <a:xfrm>
            <a:off x="192088" y="341313"/>
            <a:ext cx="2976562" cy="85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634" tIns="53817" rIns="107634" bIns="53817">
            <a:spAutoFit/>
          </a:bodyPr>
          <a:lstStyle>
            <a:lvl1pPr defTabSz="1076325">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1076325">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1076325">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1076325">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1076325">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1076325"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1076325"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1076325"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1076325"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300" b="1">
                <a:latin typeface="宋体" panose="02010600030101010101" pitchFamily="2" charset="-122"/>
              </a:rPr>
              <a:t>图</a:t>
            </a:r>
            <a:r>
              <a:rPr lang="zh-CN" altLang="en-US" sz="1300">
                <a:latin typeface="宋体" panose="02010600030101010101" pitchFamily="2" charset="-122"/>
              </a:rPr>
              <a:t> </a:t>
            </a:r>
            <a:r>
              <a:rPr lang="en-US" altLang="zh-CN" sz="1300">
                <a:latin typeface="宋体" panose="02010600030101010101" pitchFamily="2" charset="-122"/>
              </a:rPr>
              <a:t>30.28  3</a:t>
            </a:r>
            <a:r>
              <a:rPr lang="en-US" altLang="zh-CN" sz="1300">
                <a:latin typeface="Impact" panose="020B0806030902050204" pitchFamily="34" charset="0"/>
                <a:cs typeface="Times New Roman" panose="02020603050405020304" pitchFamily="18" charset="0"/>
              </a:rPr>
              <a:t>’</a:t>
            </a:r>
            <a:r>
              <a:rPr lang="zh-CN" altLang="en-US" sz="1300">
                <a:latin typeface="宋体" panose="02010600030101010101" pitchFamily="2" charset="-122"/>
              </a:rPr>
              <a:t>作用复合物有着多种活性。</a:t>
            </a:r>
            <a:r>
              <a:rPr lang="en-US" altLang="zh-CN" sz="1300">
                <a:latin typeface="宋体" panose="02010600030101010101" pitchFamily="2" charset="-122"/>
              </a:rPr>
              <a:t>CPSF</a:t>
            </a:r>
            <a:r>
              <a:rPr lang="zh-CN" altLang="en-US" sz="1300">
                <a:latin typeface="宋体" panose="02010600030101010101" pitchFamily="2" charset="-122"/>
              </a:rPr>
              <a:t>和</a:t>
            </a:r>
            <a:r>
              <a:rPr lang="en-US" altLang="zh-CN" sz="1300">
                <a:latin typeface="宋体" panose="02010600030101010101" pitchFamily="2" charset="-122"/>
              </a:rPr>
              <a:t>CstF</a:t>
            </a:r>
            <a:r>
              <a:rPr lang="zh-CN" altLang="en-US" sz="1300">
                <a:latin typeface="宋体" panose="02010600030101010101" pitchFamily="2" charset="-122"/>
              </a:rPr>
              <a:t>都是由好几个亚基组成；而其它的组分都是单体。总的分子量大于</a:t>
            </a:r>
            <a:r>
              <a:rPr lang="en-US" altLang="zh-CN" sz="1300">
                <a:latin typeface="宋体" panose="02010600030101010101" pitchFamily="2" charset="-122"/>
              </a:rPr>
              <a:t>900</a:t>
            </a:r>
            <a:r>
              <a:rPr lang="zh-CN" altLang="en-US" sz="1300">
                <a:latin typeface="宋体" panose="02010600030101010101" pitchFamily="2" charset="-122"/>
              </a:rPr>
              <a:t>千道尔顿。</a:t>
            </a:r>
            <a:r>
              <a:rPr lang="zh-CN" altLang="en-US" sz="1300">
                <a:latin typeface="Impact" panose="020B0806030902050204" pitchFamily="34" charset="0"/>
              </a:rPr>
              <a:t> </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该基因有</a:t>
            </a:r>
            <a:r>
              <a:rPr lang="en-US" altLang="zh-CN" dirty="0"/>
              <a:t>8 </a:t>
            </a:r>
            <a:r>
              <a:rPr lang="zh-CN" altLang="en-US" dirty="0"/>
              <a:t>个外显子（</a:t>
            </a:r>
            <a:r>
              <a:rPr lang="en-US" altLang="zh-CN" dirty="0"/>
              <a:t>L </a:t>
            </a:r>
            <a:r>
              <a:rPr lang="zh-CN" altLang="en-US" dirty="0"/>
              <a:t>和</a:t>
            </a:r>
            <a:r>
              <a:rPr lang="en-US" altLang="zh-CN" dirty="0"/>
              <a:t>1</a:t>
            </a:r>
            <a:r>
              <a:rPr lang="zh-CN" altLang="en-US" dirty="0"/>
              <a:t>～</a:t>
            </a:r>
            <a:r>
              <a:rPr lang="en-US" altLang="zh-CN" dirty="0"/>
              <a:t>7</a:t>
            </a:r>
            <a:r>
              <a:rPr lang="zh-CN" altLang="en-US" dirty="0"/>
              <a:t>）和</a:t>
            </a:r>
            <a:r>
              <a:rPr lang="en-US" altLang="zh-CN" dirty="0"/>
              <a:t>7 </a:t>
            </a:r>
            <a:r>
              <a:rPr lang="zh-CN" altLang="en-US" dirty="0"/>
              <a:t>个内含子（</a:t>
            </a:r>
            <a:r>
              <a:rPr lang="en-US" altLang="zh-CN" dirty="0"/>
              <a:t>A</a:t>
            </a:r>
            <a:r>
              <a:rPr lang="zh-CN" altLang="en-US" dirty="0"/>
              <a:t>～</a:t>
            </a:r>
            <a:r>
              <a:rPr lang="en-US" altLang="zh-CN" dirty="0"/>
              <a:t>G</a:t>
            </a:r>
            <a:r>
              <a:rPr lang="zh-CN" altLang="en-US" dirty="0"/>
              <a:t>）。经过加帽、加尾和修饰剪接后，原来</a:t>
            </a:r>
            <a:r>
              <a:rPr lang="en-US" altLang="zh-CN" dirty="0"/>
              <a:t>7 564 </a:t>
            </a:r>
            <a:r>
              <a:rPr lang="zh-CN" altLang="en-US" dirty="0"/>
              <a:t>个碱基对长的基因变成了</a:t>
            </a:r>
            <a:r>
              <a:rPr lang="en-US" altLang="zh-CN" dirty="0"/>
              <a:t>1 872 </a:t>
            </a:r>
            <a:r>
              <a:rPr lang="zh-CN" altLang="en-US" dirty="0"/>
              <a:t>个核苷酸长的</a:t>
            </a:r>
            <a:r>
              <a:rPr lang="en-US" altLang="zh-CN" dirty="0"/>
              <a:t>mRNA</a:t>
            </a:r>
            <a:r>
              <a:rPr lang="zh-CN" altLang="en-US" dirty="0"/>
              <a:t>。</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mRNA </a:t>
            </a:r>
            <a:r>
              <a:rPr lang="zh-CN" altLang="en-US" dirty="0"/>
              <a:t>初级产物被称为</a:t>
            </a:r>
            <a:r>
              <a:rPr lang="zh-CN" altLang="en-US" b="1" dirty="0"/>
              <a:t>核不均一</a:t>
            </a:r>
            <a:r>
              <a:rPr lang="en-US" altLang="zh-CN" b="1" dirty="0"/>
              <a:t>RNA</a:t>
            </a:r>
            <a:r>
              <a:rPr lang="zh-CN" altLang="en-US" dirty="0"/>
              <a:t>（</a:t>
            </a:r>
            <a:r>
              <a:rPr lang="en-US" altLang="zh-CN" dirty="0"/>
              <a:t>heterogeneous nuclear RNA</a:t>
            </a:r>
            <a:r>
              <a:rPr lang="zh-CN" altLang="en-US" dirty="0"/>
              <a:t>，</a:t>
            </a:r>
            <a:r>
              <a:rPr lang="en-US" altLang="zh-CN" dirty="0" err="1"/>
              <a:t>hnRNA</a:t>
            </a:r>
            <a:r>
              <a:rPr lang="zh-CN" altLang="en-US" dirty="0"/>
              <a:t>）</a:t>
            </a:r>
          </a:p>
          <a:p>
            <a:endParaRPr lang="zh-CN" altLang="en-US" dirty="0"/>
          </a:p>
        </p:txBody>
      </p:sp>
      <p:sp>
        <p:nvSpPr>
          <p:cNvPr id="4" name="灯片编号占位符 3"/>
          <p:cNvSpPr>
            <a:spLocks noGrp="1"/>
          </p:cNvSpPr>
          <p:nvPr>
            <p:ph type="sldNum" sz="quarter" idx="5"/>
          </p:nvPr>
        </p:nvSpPr>
        <p:spPr/>
        <p:txBody>
          <a:bodyPr/>
          <a:lstStyle/>
          <a:p>
            <a:pPr>
              <a:defRPr/>
            </a:pPr>
            <a:fld id="{2A48E35A-2A6D-4F07-ADC0-EF8313D11530}" type="slidenum">
              <a:rPr lang="en-US" altLang="zh-CN" smtClean="0"/>
              <a:pPr>
                <a:defRPr/>
              </a:pPr>
              <a:t>87</a:t>
            </a:fld>
            <a:endParaRPr lang="en-US" altLang="zh-CN"/>
          </a:p>
        </p:txBody>
      </p:sp>
    </p:spTree>
    <p:extLst>
      <p:ext uri="{BB962C8B-B14F-4D97-AF65-F5344CB8AC3E}">
        <p14:creationId xmlns:p14="http://schemas.microsoft.com/office/powerpoint/2010/main" val="414210792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幻灯片图像占位符 1">
            <a:extLst>
              <a:ext uri="{FF2B5EF4-FFF2-40B4-BE49-F238E27FC236}">
                <a16:creationId xmlns:a16="http://schemas.microsoft.com/office/drawing/2014/main" id="{4F749288-3AA5-49F8-BF17-F551C52EC0EC}"/>
              </a:ext>
            </a:extLst>
          </p:cNvPr>
          <p:cNvSpPr>
            <a:spLocks noGrp="1" noRot="1" noChangeAspect="1" noChangeArrowheads="1" noTextEdit="1"/>
          </p:cNvSpPr>
          <p:nvPr>
            <p:ph type="sldImg"/>
          </p:nvPr>
        </p:nvSpPr>
        <p:spPr>
          <a:xfrm>
            <a:off x="381000" y="685800"/>
            <a:ext cx="6096000" cy="3429000"/>
          </a:xfrm>
          <a:ln/>
        </p:spPr>
      </p:sp>
      <p:sp>
        <p:nvSpPr>
          <p:cNvPr id="237571" name="备注占位符 2">
            <a:extLst>
              <a:ext uri="{FF2B5EF4-FFF2-40B4-BE49-F238E27FC236}">
                <a16:creationId xmlns:a16="http://schemas.microsoft.com/office/drawing/2014/main" id="{4DD08CF9-E47A-4CB6-9AB3-532596DA54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The </a:t>
            </a:r>
            <a:r>
              <a:rPr lang="en-US" altLang="zh-CN" dirty="0" err="1"/>
              <a:t>nontranslated</a:t>
            </a:r>
            <a:r>
              <a:rPr lang="en-US" altLang="zh-CN" dirty="0"/>
              <a:t> 5' leader is relatively short, usually &lt;100 bases. The length of the coding region is determined by the size of the protein. The </a:t>
            </a:r>
            <a:r>
              <a:rPr lang="en-US" altLang="zh-CN" dirty="0" err="1"/>
              <a:t>nontranslated</a:t>
            </a:r>
            <a:r>
              <a:rPr lang="en-US" altLang="zh-CN" dirty="0"/>
              <a:t> 3' trailer is often rather long, at times reaching lengths of up to -1000 bases. </a:t>
            </a:r>
          </a:p>
          <a:p>
            <a:endParaRPr lang="zh-CN" altLang="en-US" dirty="0"/>
          </a:p>
        </p:txBody>
      </p:sp>
      <p:sp>
        <p:nvSpPr>
          <p:cNvPr id="237572" name="灯片编号占位符 3">
            <a:extLst>
              <a:ext uri="{FF2B5EF4-FFF2-40B4-BE49-F238E27FC236}">
                <a16:creationId xmlns:a16="http://schemas.microsoft.com/office/drawing/2014/main" id="{155664FF-28C1-4B10-8017-A74DCCFD518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DC3E585-442D-425D-BDDA-032E60CD37B5}" type="slidenum">
              <a:rPr lang="en-US" altLang="zh-CN" sz="1200" smtClean="0"/>
              <a:pPr/>
              <a:t>88</a:t>
            </a:fld>
            <a:endParaRPr lang="en-US" altLang="zh-CN" sz="120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幻灯片图像占位符 1">
            <a:extLst>
              <a:ext uri="{FF2B5EF4-FFF2-40B4-BE49-F238E27FC236}">
                <a16:creationId xmlns:a16="http://schemas.microsoft.com/office/drawing/2014/main" id="{A50F6BC1-8F0D-4AC3-87AA-F1A2A2434456}"/>
              </a:ext>
            </a:extLst>
          </p:cNvPr>
          <p:cNvSpPr>
            <a:spLocks noGrp="1" noRot="1" noChangeAspect="1" noChangeArrowheads="1" noTextEdit="1"/>
          </p:cNvSpPr>
          <p:nvPr>
            <p:ph type="sldImg"/>
          </p:nvPr>
        </p:nvSpPr>
        <p:spPr>
          <a:xfrm>
            <a:off x="381000" y="685800"/>
            <a:ext cx="6096000" cy="3429000"/>
          </a:xfrm>
          <a:ln/>
        </p:spPr>
      </p:sp>
      <p:sp>
        <p:nvSpPr>
          <p:cNvPr id="239619" name="备注占位符 2">
            <a:extLst>
              <a:ext uri="{FF2B5EF4-FFF2-40B4-BE49-F238E27FC236}">
                <a16:creationId xmlns:a16="http://schemas.microsoft.com/office/drawing/2014/main" id="{A8A7B7D6-2607-4F1C-A4B0-4F6EE11CC99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39620" name="灯片编号占位符 3">
            <a:extLst>
              <a:ext uri="{FF2B5EF4-FFF2-40B4-BE49-F238E27FC236}">
                <a16:creationId xmlns:a16="http://schemas.microsoft.com/office/drawing/2014/main" id="{947E6B0D-6E6D-44E9-BC46-D71B09B47B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C9D1653-77AE-47F1-84B1-5BB8BC43AEBE}" type="slidenum">
              <a:rPr lang="en-US" altLang="zh-CN" sz="1200" smtClean="0"/>
              <a:pPr/>
              <a:t>89</a:t>
            </a:fld>
            <a:endParaRPr lang="en-US" altLang="zh-CN" sz="120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a:extLst>
              <a:ext uri="{FF2B5EF4-FFF2-40B4-BE49-F238E27FC236}">
                <a16:creationId xmlns:a16="http://schemas.microsoft.com/office/drawing/2014/main" id="{C4E44D41-F075-46EA-AAB2-68B8E33BE0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81C9025-3189-4BDC-9D6D-9CBFF5D72849}" type="slidenum">
              <a:rPr lang="zh-CN" altLang="en-US" sz="1200" smtClean="0"/>
              <a:pPr/>
              <a:t>90</a:t>
            </a:fld>
            <a:endParaRPr lang="en-US" altLang="zh-CN" sz="1200"/>
          </a:p>
        </p:txBody>
      </p:sp>
      <p:sp>
        <p:nvSpPr>
          <p:cNvPr id="241667" name="Rectangle 2">
            <a:extLst>
              <a:ext uri="{FF2B5EF4-FFF2-40B4-BE49-F238E27FC236}">
                <a16:creationId xmlns:a16="http://schemas.microsoft.com/office/drawing/2014/main" id="{E70BDC64-C27D-4086-87F6-1C75A6941420}"/>
              </a:ext>
            </a:extLst>
          </p:cNvPr>
          <p:cNvSpPr>
            <a:spLocks noGrp="1" noRot="1" noChangeAspect="1" noChangeArrowheads="1" noTextEdit="1"/>
          </p:cNvSpPr>
          <p:nvPr>
            <p:ph type="sldImg"/>
          </p:nvPr>
        </p:nvSpPr>
        <p:spPr>
          <a:xfrm>
            <a:off x="381000" y="685800"/>
            <a:ext cx="6096000" cy="3429000"/>
          </a:xfrm>
          <a:ln/>
        </p:spPr>
      </p:sp>
      <p:sp>
        <p:nvSpPr>
          <p:cNvPr id="241668" name="Rectangle 3">
            <a:extLst>
              <a:ext uri="{FF2B5EF4-FFF2-40B4-BE49-F238E27FC236}">
                <a16:creationId xmlns:a16="http://schemas.microsoft.com/office/drawing/2014/main" id="{E01096BA-C6A6-49E3-8483-CD9411FEBC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除了多顺反子，有的原核</a:t>
            </a:r>
            <a:r>
              <a:rPr lang="en-US" altLang="zh-CN" dirty="0"/>
              <a:t>mRNA</a:t>
            </a:r>
            <a:r>
              <a:rPr lang="zh-CN" altLang="en-US" dirty="0"/>
              <a:t>是单顺反子（但没有</a:t>
            </a:r>
            <a:r>
              <a:rPr lang="en-US" altLang="zh-CN" dirty="0"/>
              <a:t>5</a:t>
            </a:r>
            <a:r>
              <a:rPr lang="zh-CN" altLang="en-US" dirty="0"/>
              <a:t>‘帽子和</a:t>
            </a:r>
            <a:r>
              <a:rPr lang="en-US" altLang="zh-CN" dirty="0"/>
              <a:t>3’polyA</a:t>
            </a:r>
            <a:r>
              <a:rPr lang="zh-CN" altLang="en-US" dirty="0"/>
              <a:t>尾）</a:t>
            </a:r>
            <a:endParaRPr lang="en-US" altLang="zh-CN" dirty="0"/>
          </a:p>
          <a:p>
            <a:pPr eaLnBrk="1" hangingPunct="1"/>
            <a:endParaRPr lang="en-US" altLang="zh-CN"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1031">
            <a:extLst>
              <a:ext uri="{FF2B5EF4-FFF2-40B4-BE49-F238E27FC236}">
                <a16:creationId xmlns:a16="http://schemas.microsoft.com/office/drawing/2014/main" id="{3DF914AF-90C5-4DE0-8307-6D4E7158BA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1B70DDB-8F9D-4CAD-98B6-9EF2E6DCC37B}" type="slidenum">
              <a:rPr lang="en-US" altLang="zh-CN" smtClean="0"/>
              <a:pPr>
                <a:spcBef>
                  <a:spcPct val="0"/>
                </a:spcBef>
              </a:pPr>
              <a:t>91</a:t>
            </a:fld>
            <a:endParaRPr lang="en-US" altLang="zh-CN"/>
          </a:p>
        </p:txBody>
      </p:sp>
      <p:sp>
        <p:nvSpPr>
          <p:cNvPr id="245763" name="Rectangle 2">
            <a:extLst>
              <a:ext uri="{FF2B5EF4-FFF2-40B4-BE49-F238E27FC236}">
                <a16:creationId xmlns:a16="http://schemas.microsoft.com/office/drawing/2014/main" id="{FD446962-5B15-48E6-8B65-539FADCCD573}"/>
              </a:ext>
            </a:extLst>
          </p:cNvPr>
          <p:cNvSpPr>
            <a:spLocks noGrp="1" noRot="1" noChangeAspect="1" noChangeArrowheads="1" noTextEdit="1"/>
          </p:cNvSpPr>
          <p:nvPr>
            <p:ph type="sldImg"/>
          </p:nvPr>
        </p:nvSpPr>
        <p:spPr>
          <a:xfrm>
            <a:off x="381000" y="685800"/>
            <a:ext cx="6096000" cy="3429000"/>
          </a:xfrm>
          <a:ln/>
        </p:spPr>
      </p:sp>
      <p:sp>
        <p:nvSpPr>
          <p:cNvPr id="245764" name="Rectangle 3">
            <a:extLst>
              <a:ext uri="{FF2B5EF4-FFF2-40B4-BE49-F238E27FC236}">
                <a16:creationId xmlns:a16="http://schemas.microsoft.com/office/drawing/2014/main" id="{CD448025-5341-40CE-897E-3EF425B04D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kumimoji="1" lang="zh-CN" altLang="en-US" sz="1000" dirty="0">
                <a:solidFill>
                  <a:srgbClr val="3333FF"/>
                </a:solidFill>
              </a:rPr>
              <a:t>含较多的修饰核苷酸</a:t>
            </a:r>
            <a:r>
              <a:rPr kumimoji="1" lang="en-US" altLang="zh-CN" sz="1000" dirty="0">
                <a:solidFill>
                  <a:srgbClr val="3333FF"/>
                </a:solidFill>
              </a:rPr>
              <a:t>(</a:t>
            </a:r>
            <a:r>
              <a:rPr lang="zh-CN" altLang="en-US" sz="1000" dirty="0">
                <a:latin typeface="宋体" panose="02010600030101010101" pitchFamily="2" charset="-122"/>
              </a:rPr>
              <a:t>稀有碱基</a:t>
            </a:r>
            <a:r>
              <a:rPr lang="en-US" altLang="zh-CN" sz="1000" dirty="0">
                <a:latin typeface="宋体" panose="02010600030101010101" pitchFamily="2" charset="-122"/>
              </a:rPr>
              <a:t>)</a:t>
            </a:r>
            <a:r>
              <a:rPr lang="zh-CN" altLang="en-US" sz="1000" dirty="0">
                <a:latin typeface="宋体" panose="02010600030101010101" pitchFamily="2" charset="-122"/>
              </a:rPr>
              <a:t>，</a:t>
            </a:r>
            <a:r>
              <a:rPr kumimoji="1" lang="zh-CN" altLang="en-US" sz="2000" dirty="0">
                <a:latin typeface="楷体_GB2312" pitchFamily="49" charset="-122"/>
                <a:ea typeface="楷体_GB2312" pitchFamily="49" charset="-122"/>
              </a:rPr>
              <a:t>最常见的是</a:t>
            </a:r>
            <a:r>
              <a:rPr kumimoji="1" lang="zh-CN" altLang="en-US" sz="2000" dirty="0">
                <a:solidFill>
                  <a:srgbClr val="6600FF"/>
                </a:solidFill>
                <a:latin typeface="楷体_GB2312" pitchFamily="49" charset="-122"/>
                <a:ea typeface="楷体_GB2312" pitchFamily="49" charset="-122"/>
              </a:rPr>
              <a:t>甲基化的碱基，</a:t>
            </a:r>
            <a:r>
              <a:rPr kumimoji="1" lang="zh-CN" altLang="en-US" sz="2000" b="1" dirty="0">
                <a:latin typeface="楷体_GB2312" pitchFamily="49" charset="-122"/>
                <a:ea typeface="楷体_GB2312" pitchFamily="49" charset="-122"/>
              </a:rPr>
              <a:t>每分子含</a:t>
            </a:r>
            <a:r>
              <a:rPr kumimoji="1" lang="en-US" altLang="zh-CN" sz="2000" b="1" dirty="0">
                <a:latin typeface="楷体_GB2312" pitchFamily="49" charset="-122"/>
                <a:ea typeface="楷体_GB2312" pitchFamily="49" charset="-122"/>
              </a:rPr>
              <a:t>7</a:t>
            </a:r>
            <a:r>
              <a:rPr kumimoji="1" lang="zh-CN" altLang="en-US" sz="2000" b="1" dirty="0">
                <a:latin typeface="楷体_GB2312" pitchFamily="49" charset="-122"/>
                <a:ea typeface="楷体_GB2312" pitchFamily="49" charset="-122"/>
              </a:rPr>
              <a:t>～</a:t>
            </a:r>
            <a:r>
              <a:rPr kumimoji="1" lang="en-US" altLang="zh-CN" sz="2000" b="1" dirty="0">
                <a:latin typeface="楷体_GB2312" pitchFamily="49" charset="-122"/>
                <a:ea typeface="楷体_GB2312" pitchFamily="49" charset="-122"/>
              </a:rPr>
              <a:t>15</a:t>
            </a:r>
            <a:r>
              <a:rPr kumimoji="1" lang="zh-CN" altLang="en-US" sz="2000" b="1" dirty="0">
                <a:latin typeface="楷体_GB2312" pitchFamily="49" charset="-122"/>
                <a:ea typeface="楷体_GB2312" pitchFamily="49" charset="-122"/>
              </a:rPr>
              <a:t>个</a:t>
            </a:r>
            <a:r>
              <a:rPr lang="zh-CN" altLang="en-US" sz="1000" dirty="0">
                <a:latin typeface="宋体" panose="02010600030101010101" pitchFamily="2" charset="-122"/>
              </a:rPr>
              <a:t> ：如甲基化的嘌呤、双氢尿嘧啶、次黄嘌呤。</a:t>
            </a:r>
            <a:endParaRPr kumimoji="1" lang="en-US" altLang="zh-CN" sz="2800" dirty="0">
              <a:solidFill>
                <a:srgbClr val="660066"/>
              </a:solidFill>
              <a:latin typeface="宋体" panose="02010600030101010101" pitchFamily="2" charset="-122"/>
            </a:endParaRPr>
          </a:p>
          <a:p>
            <a:pPr marL="228600" indent="-228600" eaLnBrk="1" hangingPunct="1"/>
            <a:endParaRPr lang="en-US" altLang="zh-CN" sz="1000" dirty="0">
              <a:latin typeface="宋体" panose="02010600030101010101" pitchFamily="2" charset="-122"/>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1031">
            <a:extLst>
              <a:ext uri="{FF2B5EF4-FFF2-40B4-BE49-F238E27FC236}">
                <a16:creationId xmlns:a16="http://schemas.microsoft.com/office/drawing/2014/main" id="{43804DBB-AAF0-4035-87C1-40E9894B58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6C6B763-69B7-4539-95C8-4A524063095F}" type="slidenum">
              <a:rPr lang="en-US" altLang="zh-CN" smtClean="0"/>
              <a:pPr>
                <a:spcBef>
                  <a:spcPct val="0"/>
                </a:spcBef>
              </a:pPr>
              <a:t>92</a:t>
            </a:fld>
            <a:endParaRPr lang="en-US" altLang="zh-CN"/>
          </a:p>
        </p:txBody>
      </p:sp>
      <p:sp>
        <p:nvSpPr>
          <p:cNvPr id="247811" name="Rectangle 2">
            <a:extLst>
              <a:ext uri="{FF2B5EF4-FFF2-40B4-BE49-F238E27FC236}">
                <a16:creationId xmlns:a16="http://schemas.microsoft.com/office/drawing/2014/main" id="{904DA37A-5857-4904-B38B-AE88DC6DA67F}"/>
              </a:ext>
            </a:extLst>
          </p:cNvPr>
          <p:cNvSpPr>
            <a:spLocks noGrp="1" noRot="1" noChangeAspect="1" noChangeArrowheads="1" noTextEdit="1"/>
          </p:cNvSpPr>
          <p:nvPr>
            <p:ph type="sldImg"/>
          </p:nvPr>
        </p:nvSpPr>
        <p:spPr>
          <a:xfrm>
            <a:off x="381000" y="685800"/>
            <a:ext cx="6096000" cy="3429000"/>
          </a:xfrm>
          <a:ln/>
        </p:spPr>
      </p:sp>
      <p:sp>
        <p:nvSpPr>
          <p:cNvPr id="247812" name="Rectangle 3">
            <a:extLst>
              <a:ext uri="{FF2B5EF4-FFF2-40B4-BE49-F238E27FC236}">
                <a16:creationId xmlns:a16="http://schemas.microsoft.com/office/drawing/2014/main" id="{6B67EA0E-0A16-4AC2-9202-0A3D75E7AF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endParaRPr kumimoji="1" lang="en-US" altLang="zh-CN" sz="2000" b="1">
              <a:latin typeface="楷体_GB2312" pitchFamily="49" charset="-122"/>
              <a:ea typeface="楷体_GB2312" pitchFamily="49" charset="-122"/>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1031">
            <a:extLst>
              <a:ext uri="{FF2B5EF4-FFF2-40B4-BE49-F238E27FC236}">
                <a16:creationId xmlns:a16="http://schemas.microsoft.com/office/drawing/2014/main" id="{1C45F003-1C5D-4AF0-8990-7A2BF28D8E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CE0E221-1233-4107-82A6-4B258DCC9687}" type="slidenum">
              <a:rPr lang="en-US" altLang="zh-CN" smtClean="0"/>
              <a:pPr>
                <a:spcBef>
                  <a:spcPct val="0"/>
                </a:spcBef>
              </a:pPr>
              <a:t>93</a:t>
            </a:fld>
            <a:endParaRPr lang="en-US" altLang="zh-CN"/>
          </a:p>
        </p:txBody>
      </p:sp>
      <p:sp>
        <p:nvSpPr>
          <p:cNvPr id="249859" name="Rectangle 2">
            <a:extLst>
              <a:ext uri="{FF2B5EF4-FFF2-40B4-BE49-F238E27FC236}">
                <a16:creationId xmlns:a16="http://schemas.microsoft.com/office/drawing/2014/main" id="{F7F9C6E5-45E5-47C4-9B3F-D34656EDA3D1}"/>
              </a:ext>
            </a:extLst>
          </p:cNvPr>
          <p:cNvSpPr>
            <a:spLocks noGrp="1" noRot="1" noChangeAspect="1" noChangeArrowheads="1" noTextEdit="1"/>
          </p:cNvSpPr>
          <p:nvPr>
            <p:ph type="sldImg"/>
          </p:nvPr>
        </p:nvSpPr>
        <p:spPr>
          <a:xfrm>
            <a:off x="381000" y="685800"/>
            <a:ext cx="6096000" cy="3429000"/>
          </a:xfrm>
          <a:ln/>
        </p:spPr>
      </p:sp>
      <p:sp>
        <p:nvSpPr>
          <p:cNvPr id="249860" name="Rectangle 3">
            <a:extLst>
              <a:ext uri="{FF2B5EF4-FFF2-40B4-BE49-F238E27FC236}">
                <a16:creationId xmlns:a16="http://schemas.microsoft.com/office/drawing/2014/main" id="{E567B3D7-0EDF-43AA-B6CB-C5BB23AD3F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3200">
                <a:solidFill>
                  <a:srgbClr val="660066"/>
                </a:solidFill>
              </a:rPr>
              <a:t>稀有碱基占</a:t>
            </a:r>
            <a:r>
              <a:rPr kumimoji="1" lang="en-US" altLang="zh-CN" sz="3200">
                <a:solidFill>
                  <a:srgbClr val="660066"/>
                </a:solidFill>
              </a:rPr>
              <a:t>10—20%</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1031">
            <a:extLst>
              <a:ext uri="{FF2B5EF4-FFF2-40B4-BE49-F238E27FC236}">
                <a16:creationId xmlns:a16="http://schemas.microsoft.com/office/drawing/2014/main" id="{466DA017-7494-465E-BDC4-30728F2BF7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BFA3C91-FAB5-483A-A7C3-83FA12E52965}" type="slidenum">
              <a:rPr lang="en-US" altLang="zh-CN" smtClean="0"/>
              <a:pPr>
                <a:spcBef>
                  <a:spcPct val="0"/>
                </a:spcBef>
              </a:pPr>
              <a:t>94</a:t>
            </a:fld>
            <a:endParaRPr lang="en-US" altLang="zh-CN"/>
          </a:p>
        </p:txBody>
      </p:sp>
      <p:sp>
        <p:nvSpPr>
          <p:cNvPr id="251907" name="Rectangle 2">
            <a:extLst>
              <a:ext uri="{FF2B5EF4-FFF2-40B4-BE49-F238E27FC236}">
                <a16:creationId xmlns:a16="http://schemas.microsoft.com/office/drawing/2014/main" id="{41BD7B8F-CB5C-47B9-9083-281F65596A16}"/>
              </a:ext>
            </a:extLst>
          </p:cNvPr>
          <p:cNvSpPr>
            <a:spLocks noGrp="1" noRot="1" noChangeAspect="1" noChangeArrowheads="1" noTextEdit="1"/>
          </p:cNvSpPr>
          <p:nvPr>
            <p:ph type="sldImg"/>
          </p:nvPr>
        </p:nvSpPr>
        <p:spPr>
          <a:xfrm>
            <a:off x="381000" y="685800"/>
            <a:ext cx="6096000" cy="3429000"/>
          </a:xfrm>
          <a:ln/>
        </p:spPr>
      </p:sp>
      <p:sp>
        <p:nvSpPr>
          <p:cNvPr id="251908" name="Rectangle 3">
            <a:extLst>
              <a:ext uri="{FF2B5EF4-FFF2-40B4-BE49-F238E27FC236}">
                <a16:creationId xmlns:a16="http://schemas.microsoft.com/office/drawing/2014/main" id="{FD1D9435-9DAA-43A7-9568-AD13C6BA50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宋体" panose="02010600030101010101" pitchFamily="2" charset="-122"/>
              </a:rPr>
              <a:t>cloverleaf</a:t>
            </a:r>
            <a:endParaRPr lang="zh-CN" altLang="en-US">
              <a:latin typeface="宋体" panose="02010600030101010101" pitchFamily="2" charset="-122"/>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1031">
            <a:extLst>
              <a:ext uri="{FF2B5EF4-FFF2-40B4-BE49-F238E27FC236}">
                <a16:creationId xmlns:a16="http://schemas.microsoft.com/office/drawing/2014/main" id="{1E3E1FCE-F52E-4924-876B-790D1CFE0A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D16EF17-29F0-4BF1-9513-B52E21281C31}" type="slidenum">
              <a:rPr lang="en-US" altLang="zh-CN" smtClean="0"/>
              <a:pPr>
                <a:spcBef>
                  <a:spcPct val="0"/>
                </a:spcBef>
              </a:pPr>
              <a:t>95</a:t>
            </a:fld>
            <a:endParaRPr lang="en-US" altLang="zh-CN"/>
          </a:p>
        </p:txBody>
      </p:sp>
      <p:sp>
        <p:nvSpPr>
          <p:cNvPr id="253955" name="Rectangle 2">
            <a:extLst>
              <a:ext uri="{FF2B5EF4-FFF2-40B4-BE49-F238E27FC236}">
                <a16:creationId xmlns:a16="http://schemas.microsoft.com/office/drawing/2014/main" id="{BFB7B524-A7C1-4C2F-A014-5008F15480D8}"/>
              </a:ext>
            </a:extLst>
          </p:cNvPr>
          <p:cNvSpPr>
            <a:spLocks noGrp="1" noRot="1" noChangeAspect="1" noChangeArrowheads="1" noTextEdit="1"/>
          </p:cNvSpPr>
          <p:nvPr>
            <p:ph type="sldImg"/>
          </p:nvPr>
        </p:nvSpPr>
        <p:spPr>
          <a:xfrm>
            <a:off x="381000" y="685800"/>
            <a:ext cx="6096000" cy="3429000"/>
          </a:xfrm>
          <a:ln/>
        </p:spPr>
      </p:sp>
      <p:sp>
        <p:nvSpPr>
          <p:cNvPr id="253956" name="Rectangle 3">
            <a:extLst>
              <a:ext uri="{FF2B5EF4-FFF2-40B4-BE49-F238E27FC236}">
                <a16:creationId xmlns:a16="http://schemas.microsoft.com/office/drawing/2014/main" id="{EAB14B04-E16B-407F-A9DC-0365FFBECF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1031">
            <a:extLst>
              <a:ext uri="{FF2B5EF4-FFF2-40B4-BE49-F238E27FC236}">
                <a16:creationId xmlns:a16="http://schemas.microsoft.com/office/drawing/2014/main" id="{C613868F-1048-4C0B-8272-C5E0C2EC63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B39EFE0-897D-44F5-816E-FCAD9E6AD049}" type="slidenum">
              <a:rPr lang="en-US" altLang="zh-CN" smtClean="0"/>
              <a:pPr>
                <a:spcBef>
                  <a:spcPct val="0"/>
                </a:spcBef>
              </a:pPr>
              <a:t>96</a:t>
            </a:fld>
            <a:endParaRPr lang="en-US" altLang="zh-CN"/>
          </a:p>
        </p:txBody>
      </p:sp>
      <p:sp>
        <p:nvSpPr>
          <p:cNvPr id="256003" name="Rectangle 2">
            <a:extLst>
              <a:ext uri="{FF2B5EF4-FFF2-40B4-BE49-F238E27FC236}">
                <a16:creationId xmlns:a16="http://schemas.microsoft.com/office/drawing/2014/main" id="{95AA20D5-00FF-4CBC-BF2E-07CD3819A90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56004" name="Rectangle 3">
            <a:extLst>
              <a:ext uri="{FF2B5EF4-FFF2-40B4-BE49-F238E27FC236}">
                <a16:creationId xmlns:a16="http://schemas.microsoft.com/office/drawing/2014/main" id="{40E9957B-B9DD-4607-9B75-DA346EB5294B}"/>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b="0" dirty="0"/>
              <a:t>上图中密码子为</a:t>
            </a:r>
            <a:r>
              <a:rPr lang="en-US" altLang="zh-CN" b="0" dirty="0"/>
              <a:t>AUC,   </a:t>
            </a:r>
            <a:r>
              <a:rPr lang="zh-CN" altLang="en-US" b="0" dirty="0"/>
              <a:t>而反密码为 </a:t>
            </a:r>
            <a:r>
              <a:rPr lang="en-US" altLang="zh-CN" b="0" dirty="0"/>
              <a:t>GAU,  </a:t>
            </a:r>
            <a:r>
              <a:rPr lang="zh-CN" altLang="en-US" b="0" dirty="0"/>
              <a:t>不能读成</a:t>
            </a:r>
            <a:r>
              <a:rPr lang="en-US" altLang="zh-CN" b="0" dirty="0"/>
              <a:t>UAG  </a:t>
            </a:r>
            <a:r>
              <a:rPr lang="zh-CN" altLang="en-US" b="0" dirty="0"/>
              <a:t>（因默认左侧为</a:t>
            </a:r>
            <a:r>
              <a:rPr lang="en-US" altLang="zh-CN" b="0" dirty="0"/>
              <a:t>5’</a:t>
            </a:r>
            <a:r>
              <a:rPr lang="zh-CN" altLang="en-US" b="0" dirty="0"/>
              <a:t>端） ； 密码子与反密码子是反向互补。</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1031">
            <a:extLst>
              <a:ext uri="{FF2B5EF4-FFF2-40B4-BE49-F238E27FC236}">
                <a16:creationId xmlns:a16="http://schemas.microsoft.com/office/drawing/2014/main" id="{311326BE-D3F9-4FA3-B8BC-AC3EE4DC08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3A14262-371A-4A9F-9CAE-47969ED0AA03}" type="slidenum">
              <a:rPr lang="en-US" altLang="zh-CN" smtClean="0"/>
              <a:pPr>
                <a:spcBef>
                  <a:spcPct val="0"/>
                </a:spcBef>
              </a:pPr>
              <a:t>97</a:t>
            </a:fld>
            <a:endParaRPr lang="en-US" altLang="zh-CN"/>
          </a:p>
        </p:txBody>
      </p:sp>
      <p:sp>
        <p:nvSpPr>
          <p:cNvPr id="258051" name="Rectangle 2">
            <a:extLst>
              <a:ext uri="{FF2B5EF4-FFF2-40B4-BE49-F238E27FC236}">
                <a16:creationId xmlns:a16="http://schemas.microsoft.com/office/drawing/2014/main" id="{3A27F9BF-05FE-4228-8D5F-6BDB0DB6FF8D}"/>
              </a:ext>
            </a:extLst>
          </p:cNvPr>
          <p:cNvSpPr>
            <a:spLocks noGrp="1" noRot="1" noChangeAspect="1" noChangeArrowheads="1" noTextEdit="1"/>
          </p:cNvSpPr>
          <p:nvPr>
            <p:ph type="sldImg"/>
          </p:nvPr>
        </p:nvSpPr>
        <p:spPr>
          <a:xfrm>
            <a:off x="381000" y="685800"/>
            <a:ext cx="6096000" cy="3429000"/>
          </a:xfrm>
          <a:ln/>
        </p:spPr>
      </p:sp>
      <p:sp>
        <p:nvSpPr>
          <p:cNvPr id="258052" name="Rectangle 3">
            <a:extLst>
              <a:ext uri="{FF2B5EF4-FFF2-40B4-BE49-F238E27FC236}">
                <a16:creationId xmlns:a16="http://schemas.microsoft.com/office/drawing/2014/main" id="{D0FA2600-C879-4A6F-9178-04CAF57BC0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b="1"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1031">
            <a:extLst>
              <a:ext uri="{FF2B5EF4-FFF2-40B4-BE49-F238E27FC236}">
                <a16:creationId xmlns:a16="http://schemas.microsoft.com/office/drawing/2014/main" id="{01962C24-A264-45A6-9EE7-69BBF612BD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4CFCADB-D196-40CD-A27E-A98EE1D280FC}" type="slidenum">
              <a:rPr lang="en-US" altLang="zh-CN" smtClean="0"/>
              <a:pPr>
                <a:spcBef>
                  <a:spcPct val="0"/>
                </a:spcBef>
              </a:pPr>
              <a:t>98</a:t>
            </a:fld>
            <a:endParaRPr lang="en-US" altLang="zh-CN"/>
          </a:p>
        </p:txBody>
      </p:sp>
      <p:sp>
        <p:nvSpPr>
          <p:cNvPr id="262147" name="Rectangle 2">
            <a:extLst>
              <a:ext uri="{FF2B5EF4-FFF2-40B4-BE49-F238E27FC236}">
                <a16:creationId xmlns:a16="http://schemas.microsoft.com/office/drawing/2014/main" id="{2DD45291-9887-45B0-B6FC-AA8ECB8FE4CE}"/>
              </a:ext>
            </a:extLst>
          </p:cNvPr>
          <p:cNvSpPr>
            <a:spLocks noGrp="1" noRot="1" noChangeAspect="1" noChangeArrowheads="1" noTextEdit="1"/>
          </p:cNvSpPr>
          <p:nvPr>
            <p:ph type="sldImg"/>
          </p:nvPr>
        </p:nvSpPr>
        <p:spPr>
          <a:xfrm>
            <a:off x="381000" y="685800"/>
            <a:ext cx="6096000" cy="3429000"/>
          </a:xfrm>
          <a:ln/>
        </p:spPr>
      </p:sp>
      <p:sp>
        <p:nvSpPr>
          <p:cNvPr id="262148" name="Rectangle 3">
            <a:extLst>
              <a:ext uri="{FF2B5EF4-FFF2-40B4-BE49-F238E27FC236}">
                <a16:creationId xmlns:a16="http://schemas.microsoft.com/office/drawing/2014/main" id="{5DF6D6D9-D5B3-415E-8359-67D9DCD0F3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T</a:t>
            </a:r>
            <a:r>
              <a:rPr lang="zh-CN" altLang="en-US" dirty="0"/>
              <a:t>环</a:t>
            </a:r>
            <a:r>
              <a:rPr lang="zh-CN" altLang="en-US" dirty="0">
                <a:latin typeface="宋体" panose="02010600030101010101" pitchFamily="2" charset="-122"/>
              </a:rPr>
              <a:t>与</a:t>
            </a:r>
            <a:r>
              <a:rPr lang="en-US" altLang="zh-CN" dirty="0"/>
              <a:t>DHU</a:t>
            </a:r>
            <a:r>
              <a:rPr lang="zh-CN" altLang="en-US" dirty="0"/>
              <a:t>环</a:t>
            </a:r>
            <a:r>
              <a:rPr lang="zh-CN" altLang="en-US" dirty="0">
                <a:latin typeface="宋体" panose="02010600030101010101" pitchFamily="2" charset="-122"/>
              </a:rPr>
              <a:t>在二级结构上各处一方，但在三级结构上却相距很近，维系</a:t>
            </a:r>
            <a:r>
              <a:rPr lang="en-US" altLang="zh-CN" dirty="0"/>
              <a:t>tRNA</a:t>
            </a:r>
            <a:r>
              <a:rPr lang="zh-CN" altLang="en-US" dirty="0">
                <a:latin typeface="宋体" panose="02010600030101010101" pitchFamily="2" charset="-122"/>
              </a:rPr>
              <a:t>三级结构主要是依赖核苷酸之间形成的各种氢键以及</a:t>
            </a:r>
            <a:r>
              <a:rPr lang="zh-CN" altLang="en-US" dirty="0"/>
              <a:t>碱基堆积力</a:t>
            </a:r>
            <a:endParaRPr lang="en-US" altLang="zh-CN" dirty="0"/>
          </a:p>
          <a:p>
            <a:pPr eaLnBrk="1" hangingPunct="1"/>
            <a:r>
              <a:rPr lang="zh-CN" altLang="en-US" dirty="0"/>
              <a:t>所有的</a:t>
            </a:r>
            <a:r>
              <a:rPr lang="en-US" altLang="zh-CN" dirty="0"/>
              <a:t>tRNA</a:t>
            </a:r>
            <a:r>
              <a:rPr lang="zh-CN" altLang="en-US" dirty="0"/>
              <a:t>折叠后形成大小相似及三维构象相似的三级结构，这有利于携带的氨基酸的</a:t>
            </a:r>
            <a:r>
              <a:rPr lang="en-US" altLang="zh-CN" dirty="0"/>
              <a:t>tRNA</a:t>
            </a:r>
            <a:r>
              <a:rPr lang="zh-CN" altLang="en-US" dirty="0"/>
              <a:t>进入核糖体的特定部位。</a:t>
            </a:r>
          </a:p>
          <a:p>
            <a:pPr eaLnBrk="1" hangingPunct="1"/>
            <a:endParaRPr lang="en-US" altLang="zh-CN" dirty="0"/>
          </a:p>
          <a:p>
            <a:pPr eaLnBrk="1" hangingPunct="1"/>
            <a:r>
              <a:rPr lang="en-US" altLang="zh-CN" dirty="0"/>
              <a:t>1973</a:t>
            </a:r>
            <a:r>
              <a:rPr lang="zh-CN" altLang="en-US" dirty="0"/>
              <a:t>年，</a:t>
            </a:r>
            <a:r>
              <a:rPr lang="en-US" altLang="zh-CN" dirty="0"/>
              <a:t>Kim</a:t>
            </a:r>
            <a:r>
              <a:rPr lang="zh-CN" altLang="en-US" dirty="0"/>
              <a:t>和</a:t>
            </a:r>
            <a:r>
              <a:rPr lang="en-US" altLang="zh-CN" dirty="0" err="1"/>
              <a:t>Robertus</a:t>
            </a:r>
            <a:r>
              <a:rPr lang="zh-CN" altLang="en-US" dirty="0"/>
              <a:t>应用</a:t>
            </a:r>
            <a:r>
              <a:rPr lang="en-US" altLang="zh-CN" dirty="0"/>
              <a:t>X</a:t>
            </a:r>
            <a:r>
              <a:rPr lang="zh-CN" altLang="en-US" dirty="0"/>
              <a:t>光衍射分析</a:t>
            </a:r>
            <a:r>
              <a:rPr lang="en-US" altLang="zh-CN" dirty="0"/>
              <a:t>tRNA</a:t>
            </a:r>
            <a:r>
              <a:rPr lang="zh-CN" altLang="en-US" dirty="0"/>
              <a:t>晶体后阐明其三维结构。 </a:t>
            </a:r>
          </a:p>
          <a:p>
            <a:pPr eaLnBrk="1" hangingPunct="1"/>
            <a:endParaRPr lang="en-US" altLang="zh-CN" dirty="0"/>
          </a:p>
          <a:p>
            <a:pPr eaLnBrk="1" hangingPunct="1"/>
            <a:endParaRPr lang="zh-CN" alt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1031">
            <a:extLst>
              <a:ext uri="{FF2B5EF4-FFF2-40B4-BE49-F238E27FC236}">
                <a16:creationId xmlns:a16="http://schemas.microsoft.com/office/drawing/2014/main" id="{4BD3A48B-115E-494B-9C3E-1920191992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88DCA44-2EDF-42D3-B881-9F07ADA73269}" type="slidenum">
              <a:rPr lang="en-US" altLang="zh-CN" smtClean="0"/>
              <a:pPr>
                <a:spcBef>
                  <a:spcPct val="0"/>
                </a:spcBef>
              </a:pPr>
              <a:t>99</a:t>
            </a:fld>
            <a:endParaRPr lang="en-US" altLang="zh-CN"/>
          </a:p>
        </p:txBody>
      </p:sp>
      <p:sp>
        <p:nvSpPr>
          <p:cNvPr id="266243" name="Rectangle 2">
            <a:extLst>
              <a:ext uri="{FF2B5EF4-FFF2-40B4-BE49-F238E27FC236}">
                <a16:creationId xmlns:a16="http://schemas.microsoft.com/office/drawing/2014/main" id="{85603E74-21EB-4815-A2AB-BC2488B01AAF}"/>
              </a:ext>
            </a:extLst>
          </p:cNvPr>
          <p:cNvSpPr>
            <a:spLocks noGrp="1" noRot="1" noChangeAspect="1" noChangeArrowheads="1" noTextEdit="1"/>
          </p:cNvSpPr>
          <p:nvPr>
            <p:ph type="sldImg"/>
          </p:nvPr>
        </p:nvSpPr>
        <p:spPr>
          <a:xfrm>
            <a:off x="381000" y="685800"/>
            <a:ext cx="6096000" cy="3429000"/>
          </a:xfrm>
          <a:ln/>
        </p:spPr>
      </p:sp>
      <p:sp>
        <p:nvSpPr>
          <p:cNvPr id="266244" name="Rectangle 3">
            <a:extLst>
              <a:ext uri="{FF2B5EF4-FFF2-40B4-BE49-F238E27FC236}">
                <a16:creationId xmlns:a16="http://schemas.microsoft.com/office/drawing/2014/main" id="{D9930DBE-CE29-4B48-A100-32E2CDCD7A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zh-CN" altLang="en-US" dirty="0">
                <a:latin typeface="宋体" panose="02010600030101010101" pitchFamily="2" charset="-122"/>
              </a:rPr>
              <a:t>单链</a:t>
            </a:r>
            <a:r>
              <a:rPr lang="en-US" altLang="zh-CN" dirty="0">
                <a:latin typeface="宋体" panose="02010600030101010101" pitchFamily="2" charset="-122"/>
              </a:rPr>
              <a:t>RNA</a:t>
            </a:r>
            <a:r>
              <a:rPr lang="zh-CN" altLang="en-US" dirty="0">
                <a:latin typeface="宋体" panose="02010600030101010101" pitchFamily="2" charset="-122"/>
              </a:rPr>
              <a:t>自行盘绕形成局部双螺旋的多</a:t>
            </a:r>
            <a:r>
              <a:rPr lang="zh-CN" altLang="en-US" dirty="0">
                <a:latin typeface="Arial" panose="020B0604020202020204" pitchFamily="34" charset="0"/>
              </a:rPr>
              <a:t>“</a:t>
            </a:r>
            <a:r>
              <a:rPr lang="zh-CN" altLang="en-US" dirty="0">
                <a:latin typeface="宋体" panose="02010600030101010101" pitchFamily="2" charset="-122"/>
              </a:rPr>
              <a:t>茎</a:t>
            </a:r>
            <a:r>
              <a:rPr lang="zh-CN" altLang="en-US" dirty="0">
                <a:latin typeface="Arial" panose="020B0604020202020204" pitchFamily="34" charset="0"/>
              </a:rPr>
              <a:t>”</a:t>
            </a:r>
            <a:r>
              <a:rPr lang="zh-CN" altLang="en-US" dirty="0">
                <a:latin typeface="宋体" panose="02010600030101010101" pitchFamily="2" charset="-122"/>
              </a:rPr>
              <a:t>多</a:t>
            </a:r>
            <a:r>
              <a:rPr lang="zh-CN" altLang="en-US" dirty="0">
                <a:latin typeface="Arial" panose="020B0604020202020204" pitchFamily="34" charset="0"/>
              </a:rPr>
              <a:t>“</a:t>
            </a:r>
            <a:r>
              <a:rPr lang="zh-CN" altLang="en-US" dirty="0">
                <a:latin typeface="宋体" panose="02010600030101010101" pitchFamily="2" charset="-122"/>
              </a:rPr>
              <a:t>环</a:t>
            </a:r>
            <a:r>
              <a:rPr lang="zh-CN" altLang="en-US" dirty="0">
                <a:latin typeface="Arial" panose="020B0604020202020204" pitchFamily="34" charset="0"/>
              </a:rPr>
              <a:t>”</a:t>
            </a:r>
            <a:r>
              <a:rPr lang="zh-CN" altLang="en-US" dirty="0">
                <a:latin typeface="宋体" panose="02010600030101010101" pitchFamily="2" charset="-122"/>
              </a:rPr>
              <a:t>结构，螺旋部分称为</a:t>
            </a:r>
            <a:r>
              <a:rPr lang="zh-CN" altLang="en-US" dirty="0">
                <a:latin typeface="Arial" panose="020B0604020202020204" pitchFamily="34" charset="0"/>
              </a:rPr>
              <a:t>“</a:t>
            </a:r>
            <a:r>
              <a:rPr lang="zh-CN" altLang="en-US" dirty="0">
                <a:latin typeface="宋体" panose="02010600030101010101" pitchFamily="2" charset="-122"/>
              </a:rPr>
              <a:t>茎</a:t>
            </a:r>
            <a:r>
              <a:rPr lang="zh-CN" altLang="en-US" dirty="0">
                <a:latin typeface="Arial" panose="020B0604020202020204" pitchFamily="34" charset="0"/>
              </a:rPr>
              <a:t>”</a:t>
            </a:r>
            <a:r>
              <a:rPr lang="zh-CN" altLang="en-US" dirty="0">
                <a:latin typeface="宋体" panose="02010600030101010101" pitchFamily="2" charset="-122"/>
              </a:rPr>
              <a:t>或</a:t>
            </a:r>
            <a:r>
              <a:rPr lang="zh-CN" altLang="en-US" dirty="0">
                <a:latin typeface="Arial" panose="020B0604020202020204" pitchFamily="34" charset="0"/>
              </a:rPr>
              <a:t>“</a:t>
            </a:r>
            <a:r>
              <a:rPr lang="zh-CN" altLang="en-US" dirty="0">
                <a:latin typeface="宋体" panose="02010600030101010101" pitchFamily="2" charset="-122"/>
              </a:rPr>
              <a:t>臂</a:t>
            </a:r>
            <a:r>
              <a:rPr lang="zh-CN" altLang="en-US" dirty="0">
                <a:latin typeface="Arial" panose="020B0604020202020204" pitchFamily="34" charset="0"/>
              </a:rPr>
              <a:t>”</a:t>
            </a:r>
            <a:r>
              <a:rPr lang="zh-CN" altLang="en-US" dirty="0">
                <a:latin typeface="宋体" panose="02010600030101010101" pitchFamily="2" charset="-122"/>
              </a:rPr>
              <a:t>非螺旋部分称为</a:t>
            </a:r>
            <a:r>
              <a:rPr lang="zh-CN" altLang="en-US" dirty="0">
                <a:latin typeface="Arial" panose="020B0604020202020204" pitchFamily="34" charset="0"/>
              </a:rPr>
              <a:t>“</a:t>
            </a:r>
            <a:r>
              <a:rPr lang="zh-CN" altLang="en-US" dirty="0">
                <a:latin typeface="宋体" panose="02010600030101010101" pitchFamily="2" charset="-122"/>
              </a:rPr>
              <a:t>环</a:t>
            </a:r>
            <a:r>
              <a:rPr lang="zh-CN" altLang="en-US" dirty="0">
                <a:latin typeface="Arial" panose="020B0604020202020204" pitchFamily="34" charset="0"/>
              </a:rPr>
              <a:t>”</a:t>
            </a:r>
            <a:r>
              <a:rPr lang="zh-CN" altLang="en-US" dirty="0">
                <a:latin typeface="宋体" panose="02010600030101010101" pitchFamily="2" charset="-122"/>
              </a:rPr>
              <a:t>，</a:t>
            </a:r>
            <a:endParaRPr lang="zh-CN" alt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a:extLst>
              <a:ext uri="{FF2B5EF4-FFF2-40B4-BE49-F238E27FC236}">
                <a16:creationId xmlns:a16="http://schemas.microsoft.com/office/drawing/2014/main" id="{ECF9B1B5-5830-4746-AC4A-3EB15CCDEB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CB44A91-B89C-4FBB-B434-84F1FC1F7987}" type="slidenum">
              <a:rPr lang="zh-CN" altLang="en-US" sz="1200" smtClean="0"/>
              <a:pPr/>
              <a:t>101</a:t>
            </a:fld>
            <a:endParaRPr lang="en-US" altLang="zh-CN" sz="1200"/>
          </a:p>
        </p:txBody>
      </p:sp>
      <p:sp>
        <p:nvSpPr>
          <p:cNvPr id="271363" name="Rectangle 2">
            <a:extLst>
              <a:ext uri="{FF2B5EF4-FFF2-40B4-BE49-F238E27FC236}">
                <a16:creationId xmlns:a16="http://schemas.microsoft.com/office/drawing/2014/main" id="{5E125437-04E8-46D4-BE60-ECC337AFC273}"/>
              </a:ext>
            </a:extLst>
          </p:cNvPr>
          <p:cNvSpPr>
            <a:spLocks noGrp="1" noRot="1" noChangeAspect="1" noChangeArrowheads="1" noTextEdit="1"/>
          </p:cNvSpPr>
          <p:nvPr>
            <p:ph type="sldImg"/>
          </p:nvPr>
        </p:nvSpPr>
        <p:spPr>
          <a:xfrm>
            <a:off x="381000" y="685800"/>
            <a:ext cx="6096000" cy="3429000"/>
          </a:xfrm>
          <a:ln/>
        </p:spPr>
      </p:sp>
      <p:sp>
        <p:nvSpPr>
          <p:cNvPr id="271364" name="Rectangle 3">
            <a:extLst>
              <a:ext uri="{FF2B5EF4-FFF2-40B4-BE49-F238E27FC236}">
                <a16:creationId xmlns:a16="http://schemas.microsoft.com/office/drawing/2014/main" id="{9E2254E1-FA66-4A24-8C87-3E93779AEF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核糖体中蛋白质种类虽多，但总份量不及</a:t>
            </a:r>
            <a:r>
              <a:rPr lang="en-US" altLang="zh-CN" dirty="0"/>
              <a:t>RNA</a:t>
            </a:r>
            <a:r>
              <a:rPr lang="zh-CN" altLang="en-US" dirty="0"/>
              <a:t>。 面条样的是蛋白质。</a:t>
            </a:r>
          </a:p>
          <a:p>
            <a:pPr eaLnBrk="1" hangingPunct="1"/>
            <a:endParaRPr lang="zh-CN" alt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幻灯片图像占位符 1">
            <a:extLst>
              <a:ext uri="{FF2B5EF4-FFF2-40B4-BE49-F238E27FC236}">
                <a16:creationId xmlns:a16="http://schemas.microsoft.com/office/drawing/2014/main" id="{20CB25C3-36C4-4A1C-B433-04862D012FAB}"/>
              </a:ext>
            </a:extLst>
          </p:cNvPr>
          <p:cNvSpPr>
            <a:spLocks noGrp="1" noRot="1" noChangeAspect="1" noChangeArrowheads="1" noTextEdit="1"/>
          </p:cNvSpPr>
          <p:nvPr>
            <p:ph type="sldImg"/>
          </p:nvPr>
        </p:nvSpPr>
        <p:spPr>
          <a:xfrm>
            <a:off x="381000" y="685800"/>
            <a:ext cx="6096000" cy="3429000"/>
          </a:xfrm>
          <a:ln/>
        </p:spPr>
      </p:sp>
      <p:sp>
        <p:nvSpPr>
          <p:cNvPr id="273411" name="备注占位符 2">
            <a:extLst>
              <a:ext uri="{FF2B5EF4-FFF2-40B4-BE49-F238E27FC236}">
                <a16:creationId xmlns:a16="http://schemas.microsoft.com/office/drawing/2014/main" id="{3EF8FC26-1D3E-4BDC-8107-7AA0EB62FDC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分子生物学实验中，提取细胞总</a:t>
            </a:r>
            <a:r>
              <a:rPr lang="en-US" altLang="zh-CN" dirty="0"/>
              <a:t>RNA</a:t>
            </a:r>
            <a:r>
              <a:rPr lang="zh-CN" altLang="en-US" dirty="0"/>
              <a:t>的质量可通过电泳反映出来，因为总</a:t>
            </a:r>
            <a:r>
              <a:rPr lang="en-US" altLang="zh-CN" dirty="0"/>
              <a:t>RNA</a:t>
            </a:r>
            <a:r>
              <a:rPr lang="zh-CN" altLang="en-US" dirty="0"/>
              <a:t>里主要是</a:t>
            </a:r>
            <a:r>
              <a:rPr lang="en-US" altLang="zh-CN" dirty="0"/>
              <a:t>rRNA</a:t>
            </a:r>
            <a:r>
              <a:rPr lang="zh-CN" altLang="en-US" dirty="0"/>
              <a:t>，故电泳结果如果是上述情形，表明所提总</a:t>
            </a:r>
            <a:r>
              <a:rPr lang="en-US" altLang="zh-CN" dirty="0"/>
              <a:t>RNA</a:t>
            </a:r>
            <a:r>
              <a:rPr lang="zh-CN" altLang="en-US" dirty="0"/>
              <a:t>质量好。</a:t>
            </a:r>
            <a:endParaRPr lang="en-US" altLang="zh-CN" dirty="0"/>
          </a:p>
          <a:p>
            <a:pPr eaLnBrk="1" hangingPunct="1"/>
            <a:endParaRPr lang="en-US" altLang="zh-CN" dirty="0"/>
          </a:p>
          <a:p>
            <a:pPr eaLnBrk="1" hangingPunct="1"/>
            <a:endParaRPr lang="zh-CN" altLang="en-US" dirty="0"/>
          </a:p>
        </p:txBody>
      </p:sp>
      <p:sp>
        <p:nvSpPr>
          <p:cNvPr id="273412" name="灯片编号占位符 3">
            <a:extLst>
              <a:ext uri="{FF2B5EF4-FFF2-40B4-BE49-F238E27FC236}">
                <a16:creationId xmlns:a16="http://schemas.microsoft.com/office/drawing/2014/main" id="{F24386DB-BDB3-4AB7-A8C4-42792B12F6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7594A21-AA62-4D3F-8563-719B34EFAD0C}" type="slidenum">
              <a:rPr lang="zh-CN" altLang="en-US" sz="1200" smtClean="0"/>
              <a:pPr/>
              <a:t>102</a:t>
            </a:fld>
            <a:endParaRPr lang="en-US" altLang="zh-CN" sz="120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幻灯片图像占位符 1">
            <a:extLst>
              <a:ext uri="{FF2B5EF4-FFF2-40B4-BE49-F238E27FC236}">
                <a16:creationId xmlns:a16="http://schemas.microsoft.com/office/drawing/2014/main" id="{F68767AD-24F4-46D3-8F6D-5ACA68D3B769}"/>
              </a:ext>
            </a:extLst>
          </p:cNvPr>
          <p:cNvSpPr>
            <a:spLocks noGrp="1" noRot="1" noChangeAspect="1" noChangeArrowheads="1" noTextEdit="1"/>
          </p:cNvSpPr>
          <p:nvPr>
            <p:ph type="sldImg"/>
          </p:nvPr>
        </p:nvSpPr>
        <p:spPr>
          <a:xfrm>
            <a:off x="381000" y="685800"/>
            <a:ext cx="6096000" cy="3429000"/>
          </a:xfrm>
          <a:ln/>
        </p:spPr>
      </p:sp>
      <p:sp>
        <p:nvSpPr>
          <p:cNvPr id="3" name="备注占位符 2">
            <a:extLst>
              <a:ext uri="{FF2B5EF4-FFF2-40B4-BE49-F238E27FC236}">
                <a16:creationId xmlns:a16="http://schemas.microsoft.com/office/drawing/2014/main" id="{5216B70E-0929-4028-A702-03F0B1A16F35}"/>
              </a:ext>
            </a:extLst>
          </p:cNvPr>
          <p:cNvSpPr>
            <a:spLocks noGrp="1"/>
          </p:cNvSpPr>
          <p:nvPr>
            <p:ph type="body" idx="1"/>
          </p:nvPr>
        </p:nvSpPr>
        <p:spPr/>
        <p:txBody>
          <a:bodyPr/>
          <a:lstStyle/>
          <a:p>
            <a:pPr>
              <a:defRPr/>
            </a:pPr>
            <a:r>
              <a:rPr lang="zh-CN" altLang="en-US" sz="2800" dirty="0">
                <a:solidFill>
                  <a:srgbClr val="231F20"/>
                </a:solidFill>
                <a:latin typeface="AdvOTa40bbbbf"/>
              </a:rPr>
              <a:t>记住这三个位点    真核及原核核糖体上都有这三个位点，对多肽链的合成非常重要。</a:t>
            </a:r>
            <a:endParaRPr lang="en-US" altLang="zh-CN" sz="2800" dirty="0">
              <a:solidFill>
                <a:srgbClr val="231F20"/>
              </a:solidFill>
              <a:latin typeface="AdvOTa40bbbbf"/>
            </a:endParaRPr>
          </a:p>
          <a:p>
            <a:pPr>
              <a:defRPr/>
            </a:pPr>
            <a:endParaRPr lang="en-US" altLang="zh-CN" sz="2800" dirty="0">
              <a:solidFill>
                <a:srgbClr val="231F20"/>
              </a:solidFill>
              <a:latin typeface="AdvOTa40bbbbf"/>
            </a:endParaRPr>
          </a:p>
          <a:p>
            <a:pPr>
              <a:defRPr/>
            </a:pPr>
            <a:r>
              <a:rPr lang="en-US" altLang="zh-CN" sz="2800" dirty="0">
                <a:solidFill>
                  <a:srgbClr val="231F20"/>
                </a:solidFill>
                <a:latin typeface="AdvOTa40bbbbf"/>
              </a:rPr>
              <a:t>Each tRNA-binding site is formed at the interface between the large and the small subunits of the ribosome</a:t>
            </a:r>
            <a:endParaRPr lang="en-US" altLang="zh-CN" sz="2800" dirty="0">
              <a:solidFill>
                <a:srgbClr val="231F20"/>
              </a:solidFill>
              <a:latin typeface="AdvOTa88ee647"/>
              <a:ea typeface="微软雅黑" panose="020B0503020204020204" pitchFamily="34" charset="-122"/>
            </a:endParaRPr>
          </a:p>
          <a:p>
            <a:pPr marL="228600" indent="-228600" eaLnBrk="1" fontAlgn="auto" hangingPunct="1">
              <a:lnSpc>
                <a:spcPct val="90000"/>
              </a:lnSpc>
              <a:spcBef>
                <a:spcPts val="1000"/>
              </a:spcBef>
              <a:spcAft>
                <a:spcPts val="0"/>
              </a:spcAft>
              <a:buFont typeface="Arial" panose="020B0604020202020204" pitchFamily="34" charset="0"/>
              <a:buChar char="•"/>
              <a:defRPr/>
            </a:pPr>
            <a:endParaRPr lang="en-US" altLang="zh-CN" sz="2800" dirty="0">
              <a:solidFill>
                <a:srgbClr val="231F20"/>
              </a:solidFill>
              <a:latin typeface="AdvOTa88ee647"/>
              <a:ea typeface="微软雅黑" panose="020B0503020204020204" pitchFamily="34" charset="-122"/>
            </a:endParaRPr>
          </a:p>
          <a:p>
            <a:pPr marL="228600" indent="-228600" eaLnBrk="1" fontAlgn="auto" hangingPunct="1">
              <a:lnSpc>
                <a:spcPct val="90000"/>
              </a:lnSpc>
              <a:spcBef>
                <a:spcPts val="1000"/>
              </a:spcBef>
              <a:spcAft>
                <a:spcPts val="0"/>
              </a:spcAft>
              <a:buFont typeface="Arial" panose="020B0604020202020204" pitchFamily="34" charset="0"/>
              <a:buChar char="•"/>
              <a:defRPr/>
            </a:pPr>
            <a:endParaRPr lang="en-US" altLang="zh-CN" sz="2800" dirty="0">
              <a:solidFill>
                <a:srgbClr val="231F20"/>
              </a:solidFill>
              <a:latin typeface="AdvOTa88ee647"/>
              <a:ea typeface="微软雅黑" panose="020B0503020204020204" pitchFamily="34" charset="-122"/>
            </a:endParaRPr>
          </a:p>
          <a:p>
            <a:pPr>
              <a:defRPr/>
            </a:pPr>
            <a:endParaRPr lang="zh-CN" altLang="en-US" dirty="0"/>
          </a:p>
        </p:txBody>
      </p:sp>
      <p:sp>
        <p:nvSpPr>
          <p:cNvPr id="269316" name="灯片编号占位符 3">
            <a:extLst>
              <a:ext uri="{FF2B5EF4-FFF2-40B4-BE49-F238E27FC236}">
                <a16:creationId xmlns:a16="http://schemas.microsoft.com/office/drawing/2014/main" id="{3F2A9343-04F5-4039-B03B-F5C9F6B0A0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1EB9DA4-EF0C-4D33-AADC-40568F49BEA6}" type="slidenum">
              <a:rPr lang="zh-CN" altLang="en-US" sz="1200" smtClean="0"/>
              <a:pPr/>
              <a:t>103</a:t>
            </a:fld>
            <a:endParaRPr lang="zh-CN" altLang="en-US" sz="120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a:extLst>
              <a:ext uri="{FF2B5EF4-FFF2-40B4-BE49-F238E27FC236}">
                <a16:creationId xmlns:a16="http://schemas.microsoft.com/office/drawing/2014/main" id="{50087590-FBE0-47AA-8EFF-46CA1B6CCC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03244BF-5E32-4BCC-A052-BB0BCC6C678B}" type="slidenum">
              <a:rPr lang="zh-CN" altLang="en-US" sz="1200" smtClean="0"/>
              <a:pPr/>
              <a:t>104</a:t>
            </a:fld>
            <a:endParaRPr lang="en-US" altLang="zh-CN" sz="1200"/>
          </a:p>
        </p:txBody>
      </p:sp>
      <p:sp>
        <p:nvSpPr>
          <p:cNvPr id="275459" name="Rectangle 2">
            <a:extLst>
              <a:ext uri="{FF2B5EF4-FFF2-40B4-BE49-F238E27FC236}">
                <a16:creationId xmlns:a16="http://schemas.microsoft.com/office/drawing/2014/main" id="{2C533A23-F808-4C66-A8F0-0C63F5DBCEAF}"/>
              </a:ext>
            </a:extLst>
          </p:cNvPr>
          <p:cNvSpPr>
            <a:spLocks noGrp="1" noRot="1" noChangeAspect="1" noChangeArrowheads="1" noTextEdit="1"/>
          </p:cNvSpPr>
          <p:nvPr>
            <p:ph type="sldImg"/>
          </p:nvPr>
        </p:nvSpPr>
        <p:spPr>
          <a:xfrm>
            <a:off x="381000" y="685800"/>
            <a:ext cx="6096000" cy="3429000"/>
          </a:xfrm>
          <a:ln/>
        </p:spPr>
      </p:sp>
      <p:sp>
        <p:nvSpPr>
          <p:cNvPr id="275460" name="Rectangle 3">
            <a:extLst>
              <a:ext uri="{FF2B5EF4-FFF2-40B4-BE49-F238E27FC236}">
                <a16:creationId xmlns:a16="http://schemas.microsoft.com/office/drawing/2014/main" id="{1A02945D-B030-4DB7-BB91-20B9CDD620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Nobel Prize in Chemistry 2009 was awarded to Drs Venkatraman Ramakrishnan, Thomas A. Steitz and Ada E. </a:t>
            </a:r>
            <a:r>
              <a:rPr lang="en-US" altLang="zh-CN" dirty="0" err="1"/>
              <a:t>Yonath</a:t>
            </a:r>
            <a:r>
              <a:rPr lang="en-US" altLang="zh-CN" dirty="0"/>
              <a:t> "for studies of the structure and function of the ribosome“</a:t>
            </a:r>
          </a:p>
          <a:p>
            <a:pPr eaLnBrk="1" hangingPunct="1"/>
            <a:r>
              <a:rPr lang="zh-CN" altLang="en-US" dirty="0"/>
              <a:t>英国科学家文卡特拉曼</a:t>
            </a:r>
            <a:r>
              <a:rPr lang="en-US" altLang="zh-CN" dirty="0"/>
              <a:t>-</a:t>
            </a:r>
            <a:r>
              <a:rPr lang="zh-CN" altLang="en-US" dirty="0"/>
              <a:t>拉马克里希南</a:t>
            </a:r>
            <a:r>
              <a:rPr lang="en-US" altLang="zh-CN" dirty="0"/>
              <a:t>(Venkatraman Ramakrishnan)</a:t>
            </a:r>
            <a:r>
              <a:rPr lang="zh-CN" altLang="en-US" dirty="0"/>
              <a:t>、美国科学家托马斯</a:t>
            </a:r>
            <a:r>
              <a:rPr lang="en-US" altLang="zh-CN" dirty="0"/>
              <a:t>-</a:t>
            </a:r>
            <a:r>
              <a:rPr lang="zh-CN" altLang="en-US" dirty="0"/>
              <a:t>施泰茨</a:t>
            </a:r>
            <a:r>
              <a:rPr lang="en-US" altLang="zh-CN" dirty="0"/>
              <a:t>(Thomas A. Steitz)</a:t>
            </a:r>
            <a:r>
              <a:rPr lang="zh-CN" altLang="en-US" dirty="0"/>
              <a:t>和以色列科学家阿达</a:t>
            </a:r>
            <a:r>
              <a:rPr lang="en-US" altLang="zh-CN" dirty="0"/>
              <a:t>-</a:t>
            </a:r>
            <a:r>
              <a:rPr lang="zh-CN" altLang="en-US" dirty="0"/>
              <a:t>约纳特</a:t>
            </a:r>
            <a:r>
              <a:rPr lang="en-US" altLang="zh-CN" dirty="0"/>
              <a:t>(Ada E. </a:t>
            </a:r>
            <a:r>
              <a:rPr lang="en-US" altLang="zh-CN" dirty="0" err="1"/>
              <a:t>Yonath</a:t>
            </a:r>
            <a:r>
              <a:rPr lang="en-US" altLang="zh-CN" dirty="0"/>
              <a:t>)</a:t>
            </a:r>
          </a:p>
          <a:p>
            <a:pPr eaLnBrk="1" hangingPunct="1"/>
            <a:endParaRPr lang="en-US" altLang="zh-CN" dirty="0"/>
          </a:p>
          <a:p>
            <a:pPr eaLnBrk="1" hangingPunct="1"/>
            <a:r>
              <a:rPr lang="en-US" altLang="zh-CN" dirty="0"/>
              <a:t>Together with Albert Claude and Christian de Duve, George Emil Palade was awarded the Nobel Prize in Physiology or Medicine, in 1974, for the discovery of the ribosomes. </a:t>
            </a:r>
          </a:p>
          <a:p>
            <a:pPr eaLnBrk="1" hangingPunct="1"/>
            <a:endParaRPr lang="zh-CN" alt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幻灯片图像占位符 1">
            <a:extLst>
              <a:ext uri="{FF2B5EF4-FFF2-40B4-BE49-F238E27FC236}">
                <a16:creationId xmlns:a16="http://schemas.microsoft.com/office/drawing/2014/main" id="{71C2C918-CB47-4E4A-BDF2-0B032D66AE7C}"/>
              </a:ext>
            </a:extLst>
          </p:cNvPr>
          <p:cNvSpPr>
            <a:spLocks noGrp="1" noRot="1" noChangeAspect="1" noChangeArrowheads="1" noTextEdit="1"/>
          </p:cNvSpPr>
          <p:nvPr>
            <p:ph type="sldImg"/>
          </p:nvPr>
        </p:nvSpPr>
        <p:spPr>
          <a:xfrm>
            <a:off x="381000" y="685800"/>
            <a:ext cx="6096000" cy="3429000"/>
          </a:xfrm>
          <a:ln/>
        </p:spPr>
      </p:sp>
      <p:sp>
        <p:nvSpPr>
          <p:cNvPr id="277507" name="备注占位符 2">
            <a:extLst>
              <a:ext uri="{FF2B5EF4-FFF2-40B4-BE49-F238E27FC236}">
                <a16:creationId xmlns:a16="http://schemas.microsoft.com/office/drawing/2014/main" id="{81075CEB-7310-4516-9329-B2BF59B6EA1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U3 snRNA </a:t>
            </a:r>
            <a:r>
              <a:rPr lang="zh-CN" altLang="en-US" dirty="0"/>
              <a:t>与核仁内</a:t>
            </a:r>
            <a:r>
              <a:rPr lang="en-US" altLang="zh-CN" dirty="0"/>
              <a:t>28S rRNA </a:t>
            </a:r>
            <a:r>
              <a:rPr lang="zh-CN" altLang="en-US" dirty="0"/>
              <a:t>的成熟有关，</a:t>
            </a:r>
            <a:r>
              <a:rPr lang="en-US" altLang="zh-CN" dirty="0"/>
              <a:t>U7 </a:t>
            </a:r>
            <a:r>
              <a:rPr lang="zh-CN" altLang="en-US" dirty="0"/>
              <a:t>与组蛋白前体</a:t>
            </a:r>
            <a:r>
              <a:rPr lang="en-US" altLang="zh-CN" dirty="0"/>
              <a:t>mRNA </a:t>
            </a:r>
            <a:r>
              <a:rPr lang="zh-CN" altLang="en-US" dirty="0"/>
              <a:t>的茎环结构的加工有关。</a:t>
            </a:r>
            <a:endParaRPr lang="en-US" altLang="zh-CN" dirty="0"/>
          </a:p>
          <a:p>
            <a:endParaRPr lang="en-US" altLang="zh-CN" dirty="0"/>
          </a:p>
          <a:p>
            <a:r>
              <a:rPr lang="en-US" altLang="zh-CN" dirty="0"/>
              <a:t>Small nucleolar RNAs (snoRNAs) are a class of small RNA molecules that primarily guide chemical modifications of other RNAs, mainly ribosomal RNAs, transfer RNAs and small nuclear RNAs.  </a:t>
            </a:r>
          </a:p>
          <a:p>
            <a:r>
              <a:rPr lang="en-US" altLang="zh-CN" dirty="0"/>
              <a:t>snRNA</a:t>
            </a:r>
            <a:r>
              <a:rPr lang="zh-CN" altLang="en-US" dirty="0"/>
              <a:t>和</a:t>
            </a:r>
            <a:r>
              <a:rPr lang="en-US" altLang="zh-CN" dirty="0"/>
              <a:t>snoRNA</a:t>
            </a:r>
            <a:r>
              <a:rPr lang="zh-CN" altLang="en-US" dirty="0"/>
              <a:t>都是真核特有的 </a:t>
            </a:r>
            <a:endParaRPr lang="en-US" altLang="zh-CN" dirty="0"/>
          </a:p>
          <a:p>
            <a:endParaRPr lang="en-US" altLang="zh-CN" dirty="0"/>
          </a:p>
          <a:p>
            <a:endParaRPr lang="en-US" altLang="zh-CN" dirty="0"/>
          </a:p>
          <a:p>
            <a:endParaRPr lang="zh-CN" altLang="en-US" dirty="0"/>
          </a:p>
        </p:txBody>
      </p:sp>
      <p:sp>
        <p:nvSpPr>
          <p:cNvPr id="277508" name="灯片编号占位符 3">
            <a:extLst>
              <a:ext uri="{FF2B5EF4-FFF2-40B4-BE49-F238E27FC236}">
                <a16:creationId xmlns:a16="http://schemas.microsoft.com/office/drawing/2014/main" id="{BBE22FC3-C649-4759-8256-27F242055B1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ABF67D5-D8DA-47AF-A295-E69B41862D6F}" type="slidenum">
              <a:rPr lang="en-US" altLang="zh-CN" sz="1200" smtClean="0"/>
              <a:pPr/>
              <a:t>105</a:t>
            </a:fld>
            <a:endParaRPr lang="en-US" altLang="zh-CN" sz="120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幻灯片图像占位符 1">
            <a:extLst>
              <a:ext uri="{FF2B5EF4-FFF2-40B4-BE49-F238E27FC236}">
                <a16:creationId xmlns:a16="http://schemas.microsoft.com/office/drawing/2014/main" id="{7512E2B2-1EB9-4754-B3BD-38B58CD056CE}"/>
              </a:ext>
            </a:extLst>
          </p:cNvPr>
          <p:cNvSpPr>
            <a:spLocks noGrp="1" noRot="1" noChangeAspect="1" noChangeArrowheads="1" noTextEdit="1"/>
          </p:cNvSpPr>
          <p:nvPr>
            <p:ph type="sldImg"/>
          </p:nvPr>
        </p:nvSpPr>
        <p:spPr>
          <a:xfrm>
            <a:off x="381000" y="685800"/>
            <a:ext cx="6096000" cy="3429000"/>
          </a:xfrm>
          <a:ln/>
        </p:spPr>
      </p:sp>
      <p:sp>
        <p:nvSpPr>
          <p:cNvPr id="283651" name="备注占位符 2">
            <a:extLst>
              <a:ext uri="{FF2B5EF4-FFF2-40B4-BE49-F238E27FC236}">
                <a16:creationId xmlns:a16="http://schemas.microsoft.com/office/drawing/2014/main" id="{9AA8543D-4DF4-4303-85D7-8FD5F0CBEAF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Piwi-interacting RNA (</a:t>
            </a:r>
            <a:r>
              <a:rPr lang="en-US" altLang="zh-CN" dirty="0" err="1"/>
              <a:t>piRNA</a:t>
            </a:r>
            <a:r>
              <a:rPr lang="en-US" altLang="zh-CN" dirty="0"/>
              <a:t>)</a:t>
            </a:r>
            <a:r>
              <a:rPr lang="zh-CN" altLang="en-US" dirty="0"/>
              <a:t>是一类比</a:t>
            </a:r>
            <a:r>
              <a:rPr lang="en-US" altLang="zh-CN" dirty="0"/>
              <a:t>miRNA</a:t>
            </a:r>
            <a:r>
              <a:rPr lang="zh-CN" altLang="en-US" dirty="0"/>
              <a:t>和</a:t>
            </a:r>
            <a:r>
              <a:rPr lang="en-US" altLang="zh-CN" dirty="0"/>
              <a:t>siRNA</a:t>
            </a:r>
            <a:r>
              <a:rPr lang="zh-CN" altLang="en-US" dirty="0"/>
              <a:t>略长的小分子</a:t>
            </a:r>
            <a:r>
              <a:rPr lang="en-US" altLang="zh-CN" dirty="0"/>
              <a:t>RNA</a:t>
            </a:r>
            <a:r>
              <a:rPr lang="zh-CN" altLang="en-US" dirty="0"/>
              <a:t>，</a:t>
            </a:r>
            <a:r>
              <a:rPr lang="zh-CN" altLang="en-US" b="1" dirty="0"/>
              <a:t>通常长</a:t>
            </a:r>
            <a:r>
              <a:rPr lang="en-US" altLang="zh-CN" b="1" dirty="0"/>
              <a:t>21-35nt</a:t>
            </a:r>
            <a:r>
              <a:rPr lang="zh-CN" altLang="en-US" b="1" dirty="0"/>
              <a:t>，也参与形成</a:t>
            </a:r>
            <a:r>
              <a:rPr lang="en-US" altLang="zh-CN" b="1" dirty="0"/>
              <a:t>RISC</a:t>
            </a:r>
            <a:r>
              <a:rPr lang="zh-CN" altLang="en-US" b="1" dirty="0"/>
              <a:t>，但也不需</a:t>
            </a:r>
            <a:r>
              <a:rPr lang="en-US" altLang="zh-CN" b="1" dirty="0"/>
              <a:t>Dicer</a:t>
            </a:r>
            <a:r>
              <a:rPr lang="zh-CN" altLang="en-US" b="1" dirty="0"/>
              <a:t>切割， </a:t>
            </a:r>
            <a:r>
              <a:rPr lang="zh-CN" altLang="en-US" sz="1200" dirty="0">
                <a:solidFill>
                  <a:srgbClr val="000000"/>
                </a:solidFill>
                <a:latin typeface="微软雅黑 Light" panose="020B0502040204020203" pitchFamily="34" charset="-122"/>
                <a:ea typeface="微软雅黑 Light" panose="020B0502040204020203" pitchFamily="34" charset="-122"/>
              </a:rPr>
              <a:t>主要抑制可移动元件（转座子）的扩张和入侵。   目前对这类</a:t>
            </a:r>
            <a:r>
              <a:rPr lang="en-US" altLang="zh-CN" sz="1200" dirty="0">
                <a:solidFill>
                  <a:srgbClr val="000000"/>
                </a:solidFill>
                <a:latin typeface="微软雅黑 Light" panose="020B0502040204020203" pitchFamily="34" charset="-122"/>
                <a:ea typeface="微软雅黑 Light" panose="020B0502040204020203" pitchFamily="34" charset="-122"/>
              </a:rPr>
              <a:t>RNA</a:t>
            </a:r>
            <a:r>
              <a:rPr lang="zh-CN" altLang="en-US" sz="1200" dirty="0">
                <a:solidFill>
                  <a:srgbClr val="000000"/>
                </a:solidFill>
                <a:latin typeface="微软雅黑 Light" panose="020B0502040204020203" pitchFamily="34" charset="-122"/>
                <a:ea typeface="微软雅黑 Light" panose="020B0502040204020203" pitchFamily="34" charset="-122"/>
              </a:rPr>
              <a:t>的总体认识有限。</a:t>
            </a:r>
            <a:endParaRPr lang="en-US" altLang="zh-CN" sz="1200" dirty="0">
              <a:solidFill>
                <a:srgbClr val="000000"/>
              </a:solidFill>
              <a:latin typeface="微软雅黑 Light" panose="020B0502040204020203" pitchFamily="34" charset="-122"/>
              <a:ea typeface="微软雅黑 Light" panose="020B0502040204020203"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a:solidFill>
                <a:srgbClr val="000000"/>
              </a:solidFill>
              <a:latin typeface="微软雅黑 Light" panose="020B0502040204020203" pitchFamily="34" charset="-122"/>
              <a:ea typeface="微软雅黑 Light" panose="020B0502040204020203"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lncRNA </a:t>
            </a:r>
            <a:r>
              <a:rPr lang="zh-CN" altLang="en-US" dirty="0"/>
              <a:t>由</a:t>
            </a:r>
            <a:r>
              <a:rPr lang="en-US" altLang="zh-CN" dirty="0"/>
              <a:t>RNA</a:t>
            </a:r>
            <a:r>
              <a:rPr lang="zh-CN" altLang="en-US" dirty="0"/>
              <a:t>聚合酶</a:t>
            </a:r>
            <a:r>
              <a:rPr lang="en-US" altLang="zh-CN" dirty="0"/>
              <a:t>Ⅱ</a:t>
            </a:r>
            <a:r>
              <a:rPr lang="zh-CN" altLang="en-US" dirty="0"/>
              <a:t>转录生成，经剪切加工后，形成具有类似于</a:t>
            </a:r>
            <a:r>
              <a:rPr lang="en-US" altLang="zh-CN" dirty="0"/>
              <a:t>mRNA </a:t>
            </a:r>
            <a:r>
              <a:rPr lang="zh-CN" altLang="en-US" dirty="0"/>
              <a:t>的结构。</a:t>
            </a:r>
            <a:r>
              <a:rPr lang="en-US" altLang="zh-CN" dirty="0"/>
              <a:t>lncRNA </a:t>
            </a:r>
            <a:r>
              <a:rPr lang="zh-CN" altLang="en-US" dirty="0"/>
              <a:t>有</a:t>
            </a:r>
            <a:r>
              <a:rPr lang="en-US" altLang="zh-CN" dirty="0"/>
              <a:t>poly</a:t>
            </a:r>
            <a:r>
              <a:rPr lang="zh-CN" altLang="en-US" dirty="0"/>
              <a:t>（</a:t>
            </a:r>
            <a:r>
              <a:rPr lang="en-US" altLang="zh-CN" dirty="0"/>
              <a:t>A</a:t>
            </a:r>
            <a:r>
              <a:rPr lang="zh-CN" altLang="en-US" dirty="0"/>
              <a:t>）尾巴和启动子，但序列中不存在可读框。</a:t>
            </a:r>
            <a:r>
              <a:rPr lang="en-US" altLang="zh-CN" dirty="0"/>
              <a:t>lncRNA </a:t>
            </a:r>
            <a:r>
              <a:rPr lang="zh-CN" altLang="en-US" dirty="0"/>
              <a:t>定位于细胞核内和细胞质内。</a:t>
            </a:r>
            <a:r>
              <a:rPr lang="en-US" altLang="zh-CN" dirty="0"/>
              <a:t>lncRNA </a:t>
            </a:r>
            <a:r>
              <a:rPr lang="zh-CN" altLang="en-US" dirty="0"/>
              <a:t>具有强烈的组织特异性与时空特异性。</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
        <p:nvSpPr>
          <p:cNvPr id="283652" name="灯片编号占位符 3">
            <a:extLst>
              <a:ext uri="{FF2B5EF4-FFF2-40B4-BE49-F238E27FC236}">
                <a16:creationId xmlns:a16="http://schemas.microsoft.com/office/drawing/2014/main" id="{6D53D0AE-3143-448C-BDCB-FAAC76DC9F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A41589D-9AD9-4610-AC72-12F2D354237C}" type="slidenum">
              <a:rPr lang="en-US" altLang="zh-CN" sz="1200" smtClean="0"/>
              <a:pPr/>
              <a:t>106</a:t>
            </a:fld>
            <a:endParaRPr lang="en-US" altLang="zh-CN" sz="120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幻灯片图像占位符 1">
            <a:extLst>
              <a:ext uri="{FF2B5EF4-FFF2-40B4-BE49-F238E27FC236}">
                <a16:creationId xmlns:a16="http://schemas.microsoft.com/office/drawing/2014/main" id="{E81A37FD-6799-472D-A375-5454B82A9E90}"/>
              </a:ext>
            </a:extLst>
          </p:cNvPr>
          <p:cNvSpPr>
            <a:spLocks noGrp="1" noRot="1" noChangeAspect="1" noChangeArrowheads="1" noTextEdit="1"/>
          </p:cNvSpPr>
          <p:nvPr>
            <p:ph type="sldImg"/>
          </p:nvPr>
        </p:nvSpPr>
        <p:spPr>
          <a:xfrm>
            <a:off x="381000" y="685800"/>
            <a:ext cx="6096000" cy="3429000"/>
          </a:xfrm>
          <a:ln/>
        </p:spPr>
      </p:sp>
      <p:sp>
        <p:nvSpPr>
          <p:cNvPr id="285699" name="备注占位符 2">
            <a:extLst>
              <a:ext uri="{FF2B5EF4-FFF2-40B4-BE49-F238E27FC236}">
                <a16:creationId xmlns:a16="http://schemas.microsoft.com/office/drawing/2014/main" id="{80F8C339-9B05-423F-81CD-78256FE75D3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1993</a:t>
            </a:r>
            <a:r>
              <a:rPr lang="zh-CN" altLang="en-US" dirty="0"/>
              <a:t>年发现第一个</a:t>
            </a:r>
            <a:r>
              <a:rPr lang="en-US" altLang="zh-CN" dirty="0"/>
              <a:t>miRNA</a:t>
            </a:r>
          </a:p>
          <a:p>
            <a:endParaRPr lang="en-US" altLang="zh-CN" dirty="0"/>
          </a:p>
          <a:p>
            <a:r>
              <a:rPr lang="en-US" altLang="zh-CN" dirty="0"/>
              <a:t>primary miRNA (</a:t>
            </a:r>
            <a:r>
              <a:rPr lang="en-US" altLang="zh-CN" dirty="0" err="1"/>
              <a:t>pri</a:t>
            </a:r>
            <a:r>
              <a:rPr lang="en-US" altLang="zh-CN" dirty="0"/>
              <a:t>-miRNA)                         pre-miRNA (precursor-miRNA)</a:t>
            </a:r>
          </a:p>
          <a:p>
            <a:endParaRPr lang="en-US" altLang="zh-CN" dirty="0"/>
          </a:p>
          <a:p>
            <a:r>
              <a:rPr lang="en-US" altLang="zh-CN" dirty="0"/>
              <a:t> A miRNA is expressed from a much longer RNA-coding gene as a primary transcript known as a </a:t>
            </a:r>
            <a:r>
              <a:rPr lang="en-US" altLang="zh-CN" i="1" dirty="0" err="1"/>
              <a:t>pri</a:t>
            </a:r>
            <a:r>
              <a:rPr lang="en-US" altLang="zh-CN" i="1" dirty="0"/>
              <a:t>-miRNA</a:t>
            </a:r>
            <a:r>
              <a:rPr lang="en-US" altLang="zh-CN" dirty="0"/>
              <a:t> which is processed, in the cell nucleus, to a 70-nucleotide stem-loop structure called a </a:t>
            </a:r>
            <a:r>
              <a:rPr lang="en-US" altLang="zh-CN" b="1" dirty="0"/>
              <a:t>pre-miRNA</a:t>
            </a:r>
            <a:r>
              <a:rPr lang="en-US" altLang="zh-CN" dirty="0"/>
              <a:t> by the microprocessor complex. This complex consists of an RNase III enzyme called Drosha and a dsRNA-binding protein DGCR8. The dsRNA portion of this pre-miRNA is bound and cleaved by Dicer to produce the </a:t>
            </a:r>
            <a:r>
              <a:rPr lang="en-US" altLang="zh-CN" b="1" dirty="0"/>
              <a:t>mature miRNA </a:t>
            </a:r>
            <a:r>
              <a:rPr lang="en-US" altLang="zh-CN" dirty="0"/>
              <a:t>molecule that can be integrated into the RISC complex; thus, </a:t>
            </a:r>
            <a:r>
              <a:rPr lang="en-US" altLang="zh-CN" b="1" dirty="0"/>
              <a:t>miRNA and siRNA share the same downstream cellular machinery.</a:t>
            </a:r>
          </a:p>
          <a:p>
            <a:endParaRPr lang="en-US" altLang="zh-CN" b="1" dirty="0"/>
          </a:p>
          <a:p>
            <a:r>
              <a:rPr lang="zh-CN" altLang="en-US" b="0" dirty="0"/>
              <a:t>人类基因组可能编码超过</a:t>
            </a:r>
            <a:r>
              <a:rPr lang="en-US" altLang="zh-CN" b="0" dirty="0"/>
              <a:t>1900</a:t>
            </a:r>
            <a:r>
              <a:rPr lang="zh-CN" altLang="en-US" b="0" dirty="0"/>
              <a:t>个</a:t>
            </a:r>
            <a:r>
              <a:rPr lang="en-US" altLang="zh-CN" b="0" dirty="0"/>
              <a:t>miRNA</a:t>
            </a:r>
            <a:r>
              <a:rPr lang="zh-CN" altLang="en-US" b="0" dirty="0"/>
              <a:t>，但在人工审较的</a:t>
            </a:r>
            <a:r>
              <a:rPr lang="en-US" altLang="zh-CN" b="0" dirty="0"/>
              <a:t>miRNA</a:t>
            </a:r>
            <a:r>
              <a:rPr lang="zh-CN" altLang="en-US" b="0" dirty="0"/>
              <a:t>基因数据库</a:t>
            </a:r>
            <a:r>
              <a:rPr lang="en-US" altLang="zh-CN" b="0" dirty="0" err="1"/>
              <a:t>MirGene</a:t>
            </a:r>
            <a:r>
              <a:rPr lang="en-US" altLang="zh-CN" b="0" dirty="0"/>
              <a:t> DB</a:t>
            </a:r>
            <a:r>
              <a:rPr lang="zh-CN" altLang="en-US" b="0" dirty="0"/>
              <a:t>中，只有</a:t>
            </a:r>
            <a:r>
              <a:rPr lang="zh-CN" altLang="en-US" b="1" dirty="0"/>
              <a:t>大约</a:t>
            </a:r>
            <a:r>
              <a:rPr lang="en-US" altLang="zh-CN" b="1" dirty="0"/>
              <a:t>500</a:t>
            </a:r>
            <a:r>
              <a:rPr lang="zh-CN" altLang="en-US" b="1" dirty="0"/>
              <a:t>个</a:t>
            </a:r>
            <a:r>
              <a:rPr lang="zh-CN" altLang="en-US" b="0" dirty="0"/>
              <a:t>真正的人类</a:t>
            </a:r>
            <a:r>
              <a:rPr lang="en-US" altLang="zh-CN" b="0" dirty="0"/>
              <a:t>microRNA</a:t>
            </a:r>
            <a:r>
              <a:rPr lang="zh-CN" altLang="en-US" b="0" dirty="0"/>
              <a:t>。</a:t>
            </a:r>
            <a:endParaRPr lang="en-US" altLang="zh-CN" b="0" dirty="0"/>
          </a:p>
          <a:p>
            <a:endParaRPr lang="en-US" altLang="zh-CN" b="0" dirty="0"/>
          </a:p>
          <a:p>
            <a:r>
              <a:rPr lang="en-US" altLang="zh-CN" b="1" dirty="0"/>
              <a:t>miRNA</a:t>
            </a:r>
            <a:r>
              <a:rPr lang="zh-CN" altLang="en-US" b="1" dirty="0"/>
              <a:t>主要在细胞内</a:t>
            </a:r>
            <a:r>
              <a:rPr lang="zh-CN" altLang="en-US" b="0" dirty="0"/>
              <a:t>，也有细胞外循环</a:t>
            </a:r>
            <a:r>
              <a:rPr lang="en-US" altLang="zh-CN" b="0" dirty="0"/>
              <a:t>miRNA</a:t>
            </a:r>
            <a:r>
              <a:rPr lang="zh-CN" altLang="en-US" b="0" dirty="0"/>
              <a:t>（在血液，脑脊液等体液中），有可能作为许多疾病的生物标志物。</a:t>
            </a:r>
            <a:endParaRPr lang="en-US" altLang="zh-CN" b="0" dirty="0"/>
          </a:p>
          <a:p>
            <a:r>
              <a:rPr lang="en-US" altLang="zh-CN" b="0" dirty="0"/>
              <a:t>MiRNA</a:t>
            </a:r>
            <a:r>
              <a:rPr lang="zh-CN" altLang="en-US" b="0" dirty="0"/>
              <a:t>似乎靶向人类和其他哺乳动物约</a:t>
            </a:r>
            <a:r>
              <a:rPr lang="en-US" altLang="zh-CN" b="0" dirty="0"/>
              <a:t>60%</a:t>
            </a:r>
            <a:r>
              <a:rPr lang="zh-CN" altLang="en-US" b="0" dirty="0"/>
              <a:t>的基因。</a:t>
            </a:r>
            <a:endParaRPr lang="en-US" altLang="zh-CN" b="0" dirty="0"/>
          </a:p>
          <a:p>
            <a:endParaRPr lang="en-US" altLang="zh-CN" b="0" dirty="0"/>
          </a:p>
          <a:p>
            <a:r>
              <a:rPr lang="en-US" altLang="zh-CN" sz="1200" b="0" i="0" kern="1200" dirty="0">
                <a:solidFill>
                  <a:schemeClr val="tx1"/>
                </a:solidFill>
                <a:effectLst/>
                <a:latin typeface="Times New Roman" pitchFamily="18" charset="0"/>
                <a:ea typeface="宋体" pitchFamily="2" charset="-122"/>
                <a:cs typeface="+mn-cs"/>
              </a:rPr>
              <a:t>Combinatorial regulation is a feature of miRNA regulation in animals.</a:t>
            </a:r>
            <a:r>
              <a:rPr lang="en-US" altLang="zh-CN" sz="1200" b="0" i="0" u="none" strike="noStrike" kern="1200" baseline="30000" dirty="0">
                <a:solidFill>
                  <a:schemeClr val="tx1"/>
                </a:solidFill>
                <a:effectLst/>
                <a:latin typeface="Times New Roman" pitchFamily="18" charset="0"/>
                <a:ea typeface="宋体" pitchFamily="2" charset="-122"/>
                <a:cs typeface="+mn-cs"/>
              </a:rPr>
              <a:t>   </a:t>
            </a:r>
            <a:r>
              <a:rPr lang="en-US" altLang="zh-CN" sz="1200" b="1" i="0" kern="1200" dirty="0">
                <a:solidFill>
                  <a:schemeClr val="tx1"/>
                </a:solidFill>
                <a:effectLst/>
                <a:latin typeface="Times New Roman" pitchFamily="18" charset="0"/>
                <a:ea typeface="宋体" pitchFamily="2" charset="-122"/>
                <a:cs typeface="+mn-cs"/>
              </a:rPr>
              <a:t>A given miRNA may have hundreds of different mRNA targets, and a given target might be regulated by multiple miRNAs.</a:t>
            </a:r>
            <a:endParaRPr lang="en-US" altLang="zh-CN" b="1" dirty="0"/>
          </a:p>
        </p:txBody>
      </p:sp>
      <p:sp>
        <p:nvSpPr>
          <p:cNvPr id="285700" name="灯片编号占位符 3">
            <a:extLst>
              <a:ext uri="{FF2B5EF4-FFF2-40B4-BE49-F238E27FC236}">
                <a16:creationId xmlns:a16="http://schemas.microsoft.com/office/drawing/2014/main" id="{E18CD1D1-6E64-4D0D-AE4D-8BBFF8E3687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3DA1F67-522F-4E51-9837-79D8461618BA}" type="slidenum">
              <a:rPr lang="en-US" altLang="zh-CN" sz="1200" smtClean="0"/>
              <a:pPr/>
              <a:t>107</a:t>
            </a:fld>
            <a:endParaRPr lang="en-US" altLang="zh-CN" sz="120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幻灯片图像占位符 1">
            <a:extLst>
              <a:ext uri="{FF2B5EF4-FFF2-40B4-BE49-F238E27FC236}">
                <a16:creationId xmlns:a16="http://schemas.microsoft.com/office/drawing/2014/main" id="{04DA81D1-A03A-4C9C-9EBE-B09440D0F7A0}"/>
              </a:ext>
            </a:extLst>
          </p:cNvPr>
          <p:cNvSpPr>
            <a:spLocks noGrp="1" noRot="1" noChangeAspect="1" noChangeArrowheads="1" noTextEdit="1"/>
          </p:cNvSpPr>
          <p:nvPr>
            <p:ph type="sldImg"/>
          </p:nvPr>
        </p:nvSpPr>
        <p:spPr>
          <a:xfrm>
            <a:off x="381000" y="685800"/>
            <a:ext cx="6096000" cy="3429000"/>
          </a:xfrm>
          <a:ln/>
        </p:spPr>
      </p:sp>
      <p:sp>
        <p:nvSpPr>
          <p:cNvPr id="287747" name="备注占位符 2">
            <a:extLst>
              <a:ext uri="{FF2B5EF4-FFF2-40B4-BE49-F238E27FC236}">
                <a16:creationId xmlns:a16="http://schemas.microsoft.com/office/drawing/2014/main" id="{93A533CA-08F0-450C-9D9E-7D3BF345BE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1998</a:t>
            </a:r>
            <a:r>
              <a:rPr lang="zh-CN" altLang="en-US" dirty="0"/>
              <a:t>年发现</a:t>
            </a:r>
            <a:r>
              <a:rPr lang="en-US" altLang="zh-CN" dirty="0"/>
              <a:t>siRNA </a:t>
            </a:r>
          </a:p>
          <a:p>
            <a:endParaRPr lang="en-US" altLang="zh-CN" dirty="0"/>
          </a:p>
          <a:p>
            <a:r>
              <a:rPr lang="en-US" altLang="zh-CN" dirty="0"/>
              <a:t>Each siRNA is unwound into two single-stranded RNAs (</a:t>
            </a:r>
            <a:r>
              <a:rPr lang="en-US" altLang="zh-CN" dirty="0" err="1"/>
              <a:t>ssRNAs</a:t>
            </a:r>
            <a:r>
              <a:rPr lang="en-US" altLang="zh-CN" dirty="0"/>
              <a:t>), </a:t>
            </a:r>
            <a:r>
              <a:rPr lang="en-US" altLang="zh-CN" b="1" dirty="0"/>
              <a:t>the passenger (sense) strand</a:t>
            </a:r>
            <a:r>
              <a:rPr lang="zh-CN" altLang="en-US" b="1" dirty="0"/>
              <a:t>过客链</a:t>
            </a:r>
            <a:r>
              <a:rPr lang="en-US" altLang="zh-CN" b="1" dirty="0"/>
              <a:t> </a:t>
            </a:r>
            <a:r>
              <a:rPr lang="en-US" altLang="zh-CN" dirty="0"/>
              <a:t>and </a:t>
            </a:r>
            <a:r>
              <a:rPr lang="en-US" altLang="zh-CN" b="1" dirty="0"/>
              <a:t>the guide (antisense) strand</a:t>
            </a:r>
            <a:r>
              <a:rPr lang="zh-CN" altLang="en-US" b="1" dirty="0"/>
              <a:t>引导链</a:t>
            </a:r>
            <a:r>
              <a:rPr lang="en-US" altLang="zh-CN" dirty="0"/>
              <a:t>. The passenger strand is then cleaved by the protein </a:t>
            </a:r>
            <a:r>
              <a:rPr lang="en-US" altLang="zh-CN" b="1" dirty="0" err="1"/>
              <a:t>Argonaute</a:t>
            </a:r>
            <a:r>
              <a:rPr lang="en-US" altLang="zh-CN" b="1" dirty="0"/>
              <a:t> 2 (Ago2</a:t>
            </a:r>
            <a:r>
              <a:rPr lang="en-US" altLang="zh-CN" dirty="0"/>
              <a:t>). The passenger strand is degraded and the guide strand is incorporated into the RNA-induced silencing complex (RISC). The RISC assembly then binds and degrades the target mRNA. Specifically, this is accomplished when the guide strand pairs with a complementary sequence in a mRNA molecule and </a:t>
            </a:r>
            <a:r>
              <a:rPr lang="en-US" altLang="zh-CN" b="1" dirty="0"/>
              <a:t>induces cleavage by Ago2</a:t>
            </a:r>
            <a:r>
              <a:rPr lang="en-US" altLang="zh-CN" dirty="0"/>
              <a:t>, a catalytic component of the RISC. In some organisms, this process spreads systemically, despite the initially limited molar concentrations of siRNA.</a:t>
            </a:r>
          </a:p>
          <a:p>
            <a:endParaRPr lang="en-US" altLang="zh-CN" dirty="0"/>
          </a:p>
          <a:p>
            <a:r>
              <a:rPr lang="en-US" altLang="zh-CN" dirty="0"/>
              <a:t>miRNAs</a:t>
            </a:r>
            <a:r>
              <a:rPr lang="zh-CN" altLang="en-US" dirty="0"/>
              <a:t>源于发夹状</a:t>
            </a:r>
            <a:r>
              <a:rPr lang="en-US" altLang="zh-CN" dirty="0"/>
              <a:t>RNA</a:t>
            </a:r>
            <a:r>
              <a:rPr lang="zh-CN" altLang="en-US" dirty="0"/>
              <a:t>分子，而</a:t>
            </a:r>
            <a:r>
              <a:rPr lang="en-US" altLang="zh-CN" dirty="0"/>
              <a:t>siRNA</a:t>
            </a:r>
            <a:r>
              <a:rPr lang="zh-CN" altLang="en-US" dirty="0"/>
              <a:t>源于较长的双链</a:t>
            </a:r>
            <a:r>
              <a:rPr lang="en-US" altLang="zh-CN" dirty="0"/>
              <a:t>RNA</a:t>
            </a:r>
            <a:r>
              <a:rPr lang="zh-CN" altLang="en-US" dirty="0"/>
              <a:t>或发夹状</a:t>
            </a:r>
            <a:r>
              <a:rPr lang="en-US" altLang="zh-CN" dirty="0"/>
              <a:t>RNA</a:t>
            </a:r>
            <a:endParaRPr lang="zh-CN" altLang="en-US" dirty="0"/>
          </a:p>
        </p:txBody>
      </p:sp>
      <p:sp>
        <p:nvSpPr>
          <p:cNvPr id="287748" name="灯片编号占位符 3">
            <a:extLst>
              <a:ext uri="{FF2B5EF4-FFF2-40B4-BE49-F238E27FC236}">
                <a16:creationId xmlns:a16="http://schemas.microsoft.com/office/drawing/2014/main" id="{2857DE09-D52D-4CBF-BE45-841DC78CAE2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1BE28C9-0988-4F1B-BBBC-CE16BCA82524}" type="slidenum">
              <a:rPr lang="en-US" altLang="zh-CN" sz="1200" smtClean="0"/>
              <a:pPr/>
              <a:t>108</a:t>
            </a:fld>
            <a:endParaRPr lang="en-US" altLang="zh-CN" sz="120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幻灯片图像占位符 1">
            <a:extLst>
              <a:ext uri="{FF2B5EF4-FFF2-40B4-BE49-F238E27FC236}">
                <a16:creationId xmlns:a16="http://schemas.microsoft.com/office/drawing/2014/main" id="{45BAD8FE-A2E8-4406-ACD0-1E5A41669783}"/>
              </a:ext>
            </a:extLst>
          </p:cNvPr>
          <p:cNvSpPr>
            <a:spLocks noGrp="1" noRot="1" noChangeAspect="1" noChangeArrowheads="1" noTextEdit="1"/>
          </p:cNvSpPr>
          <p:nvPr>
            <p:ph type="sldImg"/>
          </p:nvPr>
        </p:nvSpPr>
        <p:spPr>
          <a:xfrm>
            <a:off x="381000" y="685800"/>
            <a:ext cx="6096000" cy="3429000"/>
          </a:xfrm>
          <a:ln/>
        </p:spPr>
      </p:sp>
      <p:sp>
        <p:nvSpPr>
          <p:cNvPr id="289795" name="备注占位符 2">
            <a:extLst>
              <a:ext uri="{FF2B5EF4-FFF2-40B4-BE49-F238E27FC236}">
                <a16:creationId xmlns:a16="http://schemas.microsoft.com/office/drawing/2014/main" id="{32333DA2-4036-4B0F-A2A6-60D558B5E9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RNA interference (RNAi)  by Nature Video.mp4</a:t>
            </a:r>
          </a:p>
          <a:p>
            <a:endParaRPr lang="en-US" altLang="zh-CN" dirty="0"/>
          </a:p>
          <a:p>
            <a:r>
              <a:rPr lang="en-US" altLang="zh-CN" dirty="0"/>
              <a:t>Figure 11.29 </a:t>
            </a:r>
            <a:r>
              <a:rPr lang="en-US" altLang="zh-CN" b="1" dirty="0"/>
              <a:t>RNA interference. </a:t>
            </a:r>
            <a:r>
              <a:rPr lang="en-US" altLang="zh-CN" dirty="0"/>
              <a:t>(A) Double-stranded RNA from exogenous sources, such as a virus, or a synthetic RNA created in the lab, is cleaved by the enzyme dicer to yield siRNA. (B) Pre-miRNA from endogenous sources, like a gene or transposon, are cleaved by Dicer to yield miRNA. MiRNA and siRNA are bound by the RISC complex, including the </a:t>
            </a:r>
            <a:r>
              <a:rPr lang="en-US" altLang="zh-CN" b="1" dirty="0"/>
              <a:t>argonaut proteins (Ago). </a:t>
            </a:r>
            <a:r>
              <a:rPr lang="en-US" altLang="zh-CN" dirty="0"/>
              <a:t>The passenger strand of the DS RNA is discarded. RISC is then recruited to the mRNA that matches the sequence of the antisense strand. When the binding is perfect, the enzyme slicer cleaves the mRNA, so there is nothing to translate (left side bottom). When the binding is imperfect, hairpin loops form and the RISC/RNA complex cannot be translated (right side bottom).</a:t>
            </a:r>
          </a:p>
          <a:p>
            <a:endParaRPr lang="en-US" altLang="zh-CN" dirty="0"/>
          </a:p>
          <a:p>
            <a:endParaRPr lang="en-US" altLang="zh-CN" dirty="0"/>
          </a:p>
          <a:p>
            <a:r>
              <a:rPr lang="zh-CN" altLang="en-US" dirty="0"/>
              <a:t> </a:t>
            </a:r>
            <a:r>
              <a:rPr lang="en-US" altLang="zh-CN" dirty="0"/>
              <a:t>RNAi</a:t>
            </a:r>
            <a:r>
              <a:rPr lang="zh-CN" altLang="en-US" dirty="0"/>
              <a:t>可以广泛应用到各种基因功能研究以及发育生物学的研究中，也有望应用到各种疾病的基因治疗中。</a:t>
            </a:r>
          </a:p>
          <a:p>
            <a:endParaRPr lang="en-US" altLang="zh-CN" dirty="0"/>
          </a:p>
          <a:p>
            <a:r>
              <a:rPr lang="en-US" altLang="zh-CN" b="0" i="0" dirty="0">
                <a:solidFill>
                  <a:srgbClr val="202122"/>
                </a:solidFill>
                <a:effectLst/>
                <a:latin typeface="Arial" panose="020B0604020202020204" pitchFamily="34" charset="0"/>
              </a:rPr>
              <a:t>miRNA</a:t>
            </a:r>
            <a:r>
              <a:rPr lang="zh-CN" altLang="en-US" b="0" i="0" dirty="0">
                <a:solidFill>
                  <a:srgbClr val="202122"/>
                </a:solidFill>
                <a:effectLst/>
                <a:latin typeface="Arial" panose="020B0604020202020204" pitchFamily="34" charset="0"/>
              </a:rPr>
              <a:t>多结合在</a:t>
            </a:r>
            <a:r>
              <a:rPr lang="en-US" altLang="zh-CN" b="0" i="0" dirty="0">
                <a:solidFill>
                  <a:srgbClr val="202122"/>
                </a:solidFill>
                <a:effectLst/>
                <a:latin typeface="Arial" panose="020B0604020202020204" pitchFamily="34" charset="0"/>
              </a:rPr>
              <a:t>mRNA</a:t>
            </a:r>
            <a:r>
              <a:rPr lang="zh-CN" altLang="en-US" b="0" i="0" dirty="0">
                <a:solidFill>
                  <a:srgbClr val="202122"/>
                </a:solidFill>
                <a:effectLst/>
                <a:latin typeface="Arial" panose="020B0604020202020204" pitchFamily="34" charset="0"/>
              </a:rPr>
              <a:t>的</a:t>
            </a:r>
            <a:r>
              <a:rPr lang="en-US" altLang="zh-CN" b="0" i="0" dirty="0">
                <a:solidFill>
                  <a:srgbClr val="202122"/>
                </a:solidFill>
                <a:effectLst/>
                <a:latin typeface="Arial" panose="020B0604020202020204" pitchFamily="34" charset="0"/>
              </a:rPr>
              <a:t>3</a:t>
            </a:r>
            <a:r>
              <a:rPr lang="zh-CN" altLang="en-US" b="0" i="0" dirty="0">
                <a:solidFill>
                  <a:srgbClr val="202122"/>
                </a:solidFill>
                <a:effectLst/>
                <a:latin typeface="Arial" panose="020B0604020202020204" pitchFamily="34" charset="0"/>
              </a:rPr>
              <a:t>‘非翻译区，通常与靶</a:t>
            </a:r>
            <a:r>
              <a:rPr lang="en-US" altLang="zh-CN" b="0" i="0" dirty="0">
                <a:solidFill>
                  <a:srgbClr val="202122"/>
                </a:solidFill>
                <a:effectLst/>
                <a:latin typeface="Arial" panose="020B0604020202020204" pitchFamily="34" charset="0"/>
              </a:rPr>
              <a:t>mRNA</a:t>
            </a:r>
            <a:r>
              <a:rPr lang="zh-CN" altLang="en-US" b="0" i="0" dirty="0">
                <a:solidFill>
                  <a:srgbClr val="202122"/>
                </a:solidFill>
                <a:effectLst/>
                <a:latin typeface="Arial" panose="020B0604020202020204" pitchFamily="34" charset="0"/>
              </a:rPr>
              <a:t>不完全互补，不引起靶</a:t>
            </a:r>
            <a:r>
              <a:rPr lang="en-US" altLang="zh-CN" b="0" i="0" dirty="0">
                <a:solidFill>
                  <a:srgbClr val="202122"/>
                </a:solidFill>
                <a:effectLst/>
                <a:latin typeface="Arial" panose="020B0604020202020204" pitchFamily="34" charset="0"/>
              </a:rPr>
              <a:t>mRNA</a:t>
            </a:r>
            <a:r>
              <a:rPr lang="zh-CN" altLang="en-US" b="0" i="0" dirty="0">
                <a:solidFill>
                  <a:srgbClr val="202122"/>
                </a:solidFill>
                <a:effectLst/>
                <a:latin typeface="Arial" panose="020B0604020202020204" pitchFamily="34" charset="0"/>
              </a:rPr>
              <a:t>的降解，且一种</a:t>
            </a:r>
            <a:r>
              <a:rPr lang="en-US" altLang="zh-CN" b="0" i="0" dirty="0">
                <a:solidFill>
                  <a:srgbClr val="202122"/>
                </a:solidFill>
                <a:effectLst/>
                <a:latin typeface="Arial" panose="020B0604020202020204" pitchFamily="34" charset="0"/>
              </a:rPr>
              <a:t>miRNA</a:t>
            </a:r>
            <a:r>
              <a:rPr lang="zh-CN" altLang="en-US" b="0" i="0" dirty="0">
                <a:solidFill>
                  <a:srgbClr val="202122"/>
                </a:solidFill>
                <a:effectLst/>
                <a:latin typeface="Arial" panose="020B0604020202020204" pitchFamily="34" charset="0"/>
              </a:rPr>
              <a:t>可抑制多种序列相似的</a:t>
            </a:r>
            <a:r>
              <a:rPr lang="en-US" altLang="zh-CN" b="0" i="0" dirty="0">
                <a:solidFill>
                  <a:srgbClr val="202122"/>
                </a:solidFill>
                <a:effectLst/>
                <a:latin typeface="Arial" panose="020B0604020202020204" pitchFamily="34" charset="0"/>
              </a:rPr>
              <a:t>mRNA</a:t>
            </a:r>
            <a:r>
              <a:rPr lang="zh-CN" altLang="en-US" b="0" i="0" dirty="0">
                <a:solidFill>
                  <a:srgbClr val="202122"/>
                </a:solidFill>
                <a:effectLst/>
                <a:latin typeface="Arial" panose="020B0604020202020204" pitchFamily="34" charset="0"/>
              </a:rPr>
              <a:t>作为翻译的模板 ；  </a:t>
            </a:r>
            <a:endParaRPr lang="en-US" altLang="zh-CN" b="0" i="0" dirty="0">
              <a:solidFill>
                <a:srgbClr val="202122"/>
              </a:solidFill>
              <a:effectLst/>
              <a:latin typeface="Arial" panose="020B0604020202020204" pitchFamily="34" charset="0"/>
            </a:endParaRPr>
          </a:p>
          <a:p>
            <a:r>
              <a:rPr lang="en-US" altLang="zh-CN" b="0" i="0" dirty="0">
                <a:solidFill>
                  <a:srgbClr val="202122"/>
                </a:solidFill>
                <a:effectLst/>
                <a:latin typeface="Arial" panose="020B0604020202020204" pitchFamily="34" charset="0"/>
              </a:rPr>
              <a:t>siRNA</a:t>
            </a:r>
            <a:r>
              <a:rPr lang="zh-CN" altLang="en-US" b="0" i="0" dirty="0">
                <a:solidFill>
                  <a:srgbClr val="202122"/>
                </a:solidFill>
                <a:effectLst/>
                <a:latin typeface="Arial" panose="020B0604020202020204" pitchFamily="34" charset="0"/>
              </a:rPr>
              <a:t>通常与靶</a:t>
            </a:r>
            <a:r>
              <a:rPr lang="en-US" altLang="zh-CN" b="0" i="0" dirty="0">
                <a:solidFill>
                  <a:srgbClr val="202122"/>
                </a:solidFill>
                <a:effectLst/>
                <a:latin typeface="Arial" panose="020B0604020202020204" pitchFamily="34" charset="0"/>
              </a:rPr>
              <a:t>mRNA</a:t>
            </a:r>
            <a:r>
              <a:rPr lang="zh-CN" altLang="en-US" b="0" i="0" dirty="0">
                <a:solidFill>
                  <a:srgbClr val="202122"/>
                </a:solidFill>
                <a:effectLst/>
                <a:latin typeface="Arial" panose="020B0604020202020204" pitchFamily="34" charset="0"/>
              </a:rPr>
              <a:t>完全互补，通常就只作用于一种特定的</a:t>
            </a:r>
            <a:r>
              <a:rPr lang="en-US" altLang="zh-CN" b="0" i="0" dirty="0">
                <a:solidFill>
                  <a:srgbClr val="202122"/>
                </a:solidFill>
                <a:effectLst/>
                <a:latin typeface="Arial" panose="020B0604020202020204" pitchFamily="34" charset="0"/>
              </a:rPr>
              <a:t>mRNA, </a:t>
            </a:r>
            <a:r>
              <a:rPr lang="zh-CN" altLang="en-US" b="0" i="0" dirty="0">
                <a:solidFill>
                  <a:srgbClr val="202122"/>
                </a:solidFill>
                <a:effectLst/>
                <a:latin typeface="Arial" panose="020B0604020202020204" pitchFamily="34" charset="0"/>
              </a:rPr>
              <a:t>导致该</a:t>
            </a:r>
            <a:r>
              <a:rPr lang="en-US" altLang="zh-CN" b="0" i="0" dirty="0">
                <a:solidFill>
                  <a:srgbClr val="202122"/>
                </a:solidFill>
                <a:effectLst/>
                <a:latin typeface="Arial" panose="020B0604020202020204" pitchFamily="34" charset="0"/>
              </a:rPr>
              <a:t>mRNA</a:t>
            </a:r>
            <a:r>
              <a:rPr lang="zh-CN" altLang="en-US" b="0" i="0" dirty="0">
                <a:solidFill>
                  <a:srgbClr val="202122"/>
                </a:solidFill>
                <a:effectLst/>
                <a:latin typeface="Arial" panose="020B0604020202020204" pitchFamily="34" charset="0"/>
              </a:rPr>
              <a:t>的降解。 </a:t>
            </a:r>
            <a:endParaRPr lang="en-US" altLang="zh-CN" b="0" i="0" dirty="0">
              <a:solidFill>
                <a:srgbClr val="202122"/>
              </a:solidFill>
              <a:effectLst/>
              <a:latin typeface="Arial" panose="020B0604020202020204" pitchFamily="34" charset="0"/>
            </a:endParaRPr>
          </a:p>
          <a:p>
            <a:endParaRPr lang="en-US" altLang="zh-CN" b="0" i="0" dirty="0">
              <a:solidFill>
                <a:srgbClr val="202122"/>
              </a:solidFill>
              <a:effectLst/>
              <a:latin typeface="Arial" panose="020B0604020202020204" pitchFamily="34" charset="0"/>
            </a:endParaRPr>
          </a:p>
          <a:p>
            <a:r>
              <a:rPr lang="en-US" altLang="zh-CN" b="0" i="0" dirty="0">
                <a:solidFill>
                  <a:srgbClr val="121212"/>
                </a:solidFill>
                <a:effectLst/>
                <a:latin typeface="-apple-system"/>
              </a:rPr>
              <a:t>RNA</a:t>
            </a:r>
            <a:r>
              <a:rPr lang="zh-CN" altLang="en-US" b="0" i="0" dirty="0">
                <a:solidFill>
                  <a:srgbClr val="121212"/>
                </a:solidFill>
                <a:effectLst/>
                <a:latin typeface="-apple-system"/>
              </a:rPr>
              <a:t>干扰的作用分子主要有小干扰</a:t>
            </a:r>
            <a:r>
              <a:rPr lang="en-US" altLang="zh-CN" b="0" i="0" dirty="0">
                <a:solidFill>
                  <a:srgbClr val="121212"/>
                </a:solidFill>
                <a:effectLst/>
                <a:latin typeface="-apple-system"/>
              </a:rPr>
              <a:t>RNA</a:t>
            </a:r>
            <a:r>
              <a:rPr lang="zh-CN" altLang="en-US" b="0" i="0" dirty="0">
                <a:solidFill>
                  <a:srgbClr val="121212"/>
                </a:solidFill>
                <a:effectLst/>
                <a:latin typeface="-apple-system"/>
              </a:rPr>
              <a:t>（</a:t>
            </a:r>
            <a:r>
              <a:rPr lang="en-US" altLang="zh-CN" b="0" i="0" dirty="0">
                <a:solidFill>
                  <a:srgbClr val="121212"/>
                </a:solidFill>
                <a:effectLst/>
                <a:latin typeface="-apple-system"/>
              </a:rPr>
              <a:t>siRNA</a:t>
            </a:r>
            <a:r>
              <a:rPr lang="zh-CN" altLang="en-US" b="0" i="0" dirty="0">
                <a:solidFill>
                  <a:srgbClr val="121212"/>
                </a:solidFill>
                <a:effectLst/>
                <a:latin typeface="-apple-system"/>
              </a:rPr>
              <a:t>），</a:t>
            </a:r>
            <a:r>
              <a:rPr lang="en-US" altLang="zh-CN" b="0" i="0" dirty="0">
                <a:solidFill>
                  <a:srgbClr val="121212"/>
                </a:solidFill>
                <a:effectLst/>
                <a:latin typeface="-apple-system"/>
              </a:rPr>
              <a:t>microRNA</a:t>
            </a:r>
            <a:r>
              <a:rPr lang="zh-CN" altLang="en-US" b="0" i="0" dirty="0">
                <a:solidFill>
                  <a:srgbClr val="121212"/>
                </a:solidFill>
                <a:effectLst/>
                <a:latin typeface="-apple-system"/>
              </a:rPr>
              <a:t>（</a:t>
            </a:r>
            <a:r>
              <a:rPr lang="en-US" altLang="zh-CN" b="0" i="0" dirty="0">
                <a:solidFill>
                  <a:srgbClr val="121212"/>
                </a:solidFill>
                <a:effectLst/>
                <a:latin typeface="-apple-system"/>
              </a:rPr>
              <a:t>miRNA</a:t>
            </a:r>
            <a:r>
              <a:rPr lang="zh-CN" altLang="en-US" b="0" i="0" dirty="0">
                <a:solidFill>
                  <a:srgbClr val="121212"/>
                </a:solidFill>
                <a:effectLst/>
                <a:latin typeface="-apple-system"/>
              </a:rPr>
              <a:t>），</a:t>
            </a:r>
            <a:r>
              <a:rPr lang="en-US" altLang="zh-CN" b="0" i="0" dirty="0">
                <a:solidFill>
                  <a:srgbClr val="121212"/>
                </a:solidFill>
                <a:effectLst/>
                <a:latin typeface="-apple-system"/>
              </a:rPr>
              <a:t>PIWI-interacting RNA</a:t>
            </a:r>
            <a:r>
              <a:rPr lang="zh-CN" altLang="en-US" b="0" i="0" dirty="0">
                <a:solidFill>
                  <a:srgbClr val="121212"/>
                </a:solidFill>
                <a:effectLst/>
                <a:latin typeface="-apple-system"/>
              </a:rPr>
              <a:t>（</a:t>
            </a:r>
            <a:r>
              <a:rPr lang="en-US" altLang="zh-CN" b="0" i="0" dirty="0" err="1">
                <a:solidFill>
                  <a:srgbClr val="121212"/>
                </a:solidFill>
                <a:effectLst/>
                <a:latin typeface="-apple-system"/>
              </a:rPr>
              <a:t>piRNA</a:t>
            </a:r>
            <a:r>
              <a:rPr lang="zh-CN" altLang="en-US" b="0" i="0" dirty="0">
                <a:solidFill>
                  <a:srgbClr val="121212"/>
                </a:solidFill>
                <a:effectLst/>
                <a:latin typeface="-apple-system"/>
              </a:rPr>
              <a:t>）</a:t>
            </a:r>
            <a:endParaRPr lang="zh-CN" altLang="en-US" dirty="0"/>
          </a:p>
        </p:txBody>
      </p:sp>
      <p:sp>
        <p:nvSpPr>
          <p:cNvPr id="289796" name="灯片编号占位符 3">
            <a:extLst>
              <a:ext uri="{FF2B5EF4-FFF2-40B4-BE49-F238E27FC236}">
                <a16:creationId xmlns:a16="http://schemas.microsoft.com/office/drawing/2014/main" id="{27B9620D-08C2-4041-8CD7-C245CD765B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A7ED49C-5E9F-45AF-9028-414728CB602E}" type="slidenum">
              <a:rPr lang="en-US" altLang="zh-CN" sz="1200" smtClean="0"/>
              <a:pPr/>
              <a:t>109</a:t>
            </a:fld>
            <a:endParaRPr lang="en-US" altLang="zh-CN" sz="120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algn="l"/>
            <a:r>
              <a:rPr lang="zh-CN" altLang="en-US" b="0" i="0" dirty="0">
                <a:solidFill>
                  <a:srgbClr val="121212"/>
                </a:solidFill>
                <a:effectLst/>
                <a:latin typeface="-apple-system"/>
              </a:rPr>
              <a:t>五种 </a:t>
            </a:r>
            <a:r>
              <a:rPr lang="en-US" altLang="zh-CN" b="0" i="0" dirty="0">
                <a:solidFill>
                  <a:srgbClr val="121212"/>
                </a:solidFill>
                <a:effectLst/>
                <a:latin typeface="-apple-system"/>
              </a:rPr>
              <a:t>RNAi </a:t>
            </a:r>
            <a:r>
              <a:rPr lang="zh-CN" altLang="en-US" b="0" i="0" dirty="0">
                <a:solidFill>
                  <a:srgbClr val="121212"/>
                </a:solidFill>
                <a:effectLst/>
                <a:latin typeface="-apple-system"/>
              </a:rPr>
              <a:t>药物已获得美国和欧洲监管机构的批准：</a:t>
            </a:r>
            <a:r>
              <a:rPr lang="en-US" altLang="zh-CN" b="0" i="0" dirty="0" err="1">
                <a:solidFill>
                  <a:srgbClr val="121212"/>
                </a:solidFill>
                <a:effectLst/>
                <a:latin typeface="-apple-system"/>
              </a:rPr>
              <a:t>patisiran</a:t>
            </a:r>
            <a:r>
              <a:rPr lang="en-US" altLang="zh-CN" b="0" i="0" dirty="0">
                <a:solidFill>
                  <a:srgbClr val="121212"/>
                </a:solidFill>
                <a:effectLst/>
                <a:latin typeface="-apple-system"/>
              </a:rPr>
              <a:t> </a:t>
            </a:r>
            <a:r>
              <a:rPr lang="zh-CN" altLang="en-US" b="0" i="0" dirty="0">
                <a:solidFill>
                  <a:srgbClr val="121212"/>
                </a:solidFill>
                <a:effectLst/>
                <a:latin typeface="-apple-system"/>
              </a:rPr>
              <a:t>（</a:t>
            </a:r>
            <a:r>
              <a:rPr lang="en-US" altLang="zh-CN" b="0" i="0" dirty="0">
                <a:solidFill>
                  <a:srgbClr val="121212"/>
                </a:solidFill>
                <a:effectLst/>
                <a:latin typeface="-apple-system"/>
              </a:rPr>
              <a:t>2018</a:t>
            </a:r>
            <a:r>
              <a:rPr lang="zh-CN" altLang="en-US" b="0" i="0" dirty="0">
                <a:solidFill>
                  <a:srgbClr val="121212"/>
                </a:solidFill>
                <a:effectLst/>
                <a:latin typeface="-apple-system"/>
              </a:rPr>
              <a:t>）、</a:t>
            </a:r>
            <a:r>
              <a:rPr lang="en-US" altLang="zh-CN" b="0" i="0" dirty="0" err="1">
                <a:solidFill>
                  <a:srgbClr val="121212"/>
                </a:solidFill>
                <a:effectLst/>
                <a:latin typeface="-apple-system"/>
              </a:rPr>
              <a:t>givosiran</a:t>
            </a:r>
            <a:r>
              <a:rPr lang="en-US" altLang="zh-CN" b="0" i="0" dirty="0">
                <a:solidFill>
                  <a:srgbClr val="121212"/>
                </a:solidFill>
                <a:effectLst/>
                <a:latin typeface="-apple-system"/>
              </a:rPr>
              <a:t> </a:t>
            </a:r>
            <a:r>
              <a:rPr lang="zh-CN" altLang="en-US" b="0" i="0" dirty="0">
                <a:solidFill>
                  <a:srgbClr val="121212"/>
                </a:solidFill>
                <a:effectLst/>
                <a:latin typeface="-apple-system"/>
              </a:rPr>
              <a:t>（</a:t>
            </a:r>
            <a:r>
              <a:rPr lang="en-US" altLang="zh-CN" b="0" i="0" dirty="0">
                <a:solidFill>
                  <a:srgbClr val="121212"/>
                </a:solidFill>
                <a:effectLst/>
                <a:latin typeface="-apple-system"/>
              </a:rPr>
              <a:t>2019</a:t>
            </a:r>
            <a:r>
              <a:rPr lang="zh-CN" altLang="en-US" b="0" i="0" dirty="0">
                <a:solidFill>
                  <a:srgbClr val="121212"/>
                </a:solidFill>
                <a:effectLst/>
                <a:latin typeface="-apple-system"/>
              </a:rPr>
              <a:t>）、</a:t>
            </a:r>
            <a:r>
              <a:rPr lang="en-US" altLang="zh-CN" b="0" i="0" dirty="0" err="1">
                <a:solidFill>
                  <a:srgbClr val="121212"/>
                </a:solidFill>
                <a:effectLst/>
                <a:latin typeface="-apple-system"/>
              </a:rPr>
              <a:t>lumasiran</a:t>
            </a:r>
            <a:r>
              <a:rPr lang="en-US" altLang="zh-CN" b="0" i="0" dirty="0">
                <a:solidFill>
                  <a:srgbClr val="121212"/>
                </a:solidFill>
                <a:effectLst/>
                <a:latin typeface="-apple-system"/>
              </a:rPr>
              <a:t> </a:t>
            </a:r>
            <a:r>
              <a:rPr lang="zh-CN" altLang="en-US" b="0" i="0" dirty="0">
                <a:solidFill>
                  <a:srgbClr val="121212"/>
                </a:solidFill>
                <a:effectLst/>
                <a:latin typeface="-apple-system"/>
              </a:rPr>
              <a:t>（</a:t>
            </a:r>
            <a:r>
              <a:rPr lang="en-US" altLang="zh-CN" b="0" i="0" dirty="0">
                <a:solidFill>
                  <a:srgbClr val="121212"/>
                </a:solidFill>
                <a:effectLst/>
                <a:latin typeface="-apple-system"/>
              </a:rPr>
              <a:t>2020</a:t>
            </a:r>
            <a:r>
              <a:rPr lang="zh-CN" altLang="en-US" b="0" i="0" dirty="0">
                <a:solidFill>
                  <a:srgbClr val="121212"/>
                </a:solidFill>
                <a:effectLst/>
                <a:latin typeface="-apple-system"/>
              </a:rPr>
              <a:t>）、</a:t>
            </a:r>
            <a:r>
              <a:rPr lang="en-US" altLang="zh-CN" b="0" i="0" dirty="0" err="1">
                <a:solidFill>
                  <a:srgbClr val="121212"/>
                </a:solidFill>
                <a:effectLst/>
                <a:latin typeface="-apple-system"/>
              </a:rPr>
              <a:t>inclisiran</a:t>
            </a:r>
            <a:r>
              <a:rPr lang="zh-CN" altLang="en-US" b="0" i="0" dirty="0">
                <a:solidFill>
                  <a:srgbClr val="121212"/>
                </a:solidFill>
                <a:effectLst/>
                <a:latin typeface="-apple-system"/>
              </a:rPr>
              <a:t>（</a:t>
            </a:r>
            <a:r>
              <a:rPr lang="en-US" altLang="zh-CN" b="0" i="0" dirty="0">
                <a:solidFill>
                  <a:srgbClr val="121212"/>
                </a:solidFill>
                <a:effectLst/>
                <a:latin typeface="-apple-system"/>
              </a:rPr>
              <a:t>2020 </a:t>
            </a:r>
            <a:r>
              <a:rPr lang="zh-CN" altLang="en-US" b="0" i="0" dirty="0">
                <a:solidFill>
                  <a:srgbClr val="121212"/>
                </a:solidFill>
                <a:effectLst/>
                <a:latin typeface="-apple-system"/>
              </a:rPr>
              <a:t>年在欧洲上市）和 </a:t>
            </a:r>
            <a:r>
              <a:rPr lang="en-US" altLang="zh-CN" b="0" i="0" dirty="0" err="1">
                <a:solidFill>
                  <a:srgbClr val="121212"/>
                </a:solidFill>
                <a:effectLst/>
                <a:latin typeface="-apple-system"/>
              </a:rPr>
              <a:t>vutrisiran</a:t>
            </a:r>
            <a:r>
              <a:rPr lang="en-US" altLang="zh-CN" b="0" i="0" dirty="0">
                <a:solidFill>
                  <a:srgbClr val="121212"/>
                </a:solidFill>
                <a:effectLst/>
                <a:latin typeface="-apple-system"/>
              </a:rPr>
              <a:t> </a:t>
            </a:r>
            <a:r>
              <a:rPr lang="zh-CN" altLang="en-US" b="0" i="0" dirty="0">
                <a:solidFill>
                  <a:srgbClr val="121212"/>
                </a:solidFill>
                <a:effectLst/>
                <a:latin typeface="-apple-system"/>
              </a:rPr>
              <a:t>（</a:t>
            </a:r>
            <a:r>
              <a:rPr lang="en-US" altLang="zh-CN" b="0" i="0" dirty="0">
                <a:solidFill>
                  <a:srgbClr val="121212"/>
                </a:solidFill>
                <a:effectLst/>
                <a:latin typeface="-apple-system"/>
              </a:rPr>
              <a:t>2022 </a:t>
            </a:r>
            <a:r>
              <a:rPr lang="zh-CN" altLang="en-US" b="0" i="0" dirty="0">
                <a:solidFill>
                  <a:srgbClr val="121212"/>
                </a:solidFill>
                <a:effectLst/>
                <a:latin typeface="-apple-system"/>
              </a:rPr>
              <a:t>年）</a:t>
            </a:r>
            <a:endParaRPr lang="en-US" altLang="zh-CN" b="0" i="0" dirty="0">
              <a:solidFill>
                <a:srgbClr val="121212"/>
              </a:solidFill>
              <a:effectLst/>
              <a:latin typeface="-apple-system"/>
            </a:endParaRPr>
          </a:p>
          <a:p>
            <a:pPr algn="l"/>
            <a:r>
              <a:rPr lang="zh-CN" altLang="en-US" b="0" i="0" dirty="0">
                <a:solidFill>
                  <a:srgbClr val="121212"/>
                </a:solidFill>
                <a:effectLst/>
                <a:latin typeface="-apple-system"/>
              </a:rPr>
              <a:t>截止</a:t>
            </a:r>
            <a:r>
              <a:rPr lang="en-US" altLang="zh-CN" b="0" i="0" dirty="0">
                <a:solidFill>
                  <a:srgbClr val="121212"/>
                </a:solidFill>
                <a:effectLst/>
                <a:latin typeface="-apple-system"/>
              </a:rPr>
              <a:t>2023</a:t>
            </a:r>
            <a:r>
              <a:rPr lang="zh-CN" altLang="en-US" b="0" i="0" dirty="0">
                <a:solidFill>
                  <a:srgbClr val="121212"/>
                </a:solidFill>
                <a:effectLst/>
                <a:latin typeface="-apple-system"/>
              </a:rPr>
              <a:t>年</a:t>
            </a:r>
            <a:r>
              <a:rPr lang="en-US" altLang="zh-CN" b="0" i="0" dirty="0">
                <a:solidFill>
                  <a:srgbClr val="121212"/>
                </a:solidFill>
                <a:effectLst/>
                <a:latin typeface="-apple-system"/>
              </a:rPr>
              <a:t>3</a:t>
            </a:r>
            <a:r>
              <a:rPr lang="zh-CN" altLang="en-US" b="0" i="0" dirty="0">
                <a:solidFill>
                  <a:srgbClr val="121212"/>
                </a:solidFill>
                <a:effectLst/>
                <a:latin typeface="-apple-system"/>
              </a:rPr>
              <a:t>月，全球在研</a:t>
            </a:r>
            <a:r>
              <a:rPr lang="en-US" altLang="zh-CN" b="0" i="0" dirty="0">
                <a:solidFill>
                  <a:srgbClr val="121212"/>
                </a:solidFill>
                <a:effectLst/>
                <a:latin typeface="-apple-system"/>
              </a:rPr>
              <a:t>siRNA</a:t>
            </a:r>
            <a:r>
              <a:rPr lang="zh-CN" altLang="en-US" b="0" i="0" dirty="0">
                <a:solidFill>
                  <a:srgbClr val="121212"/>
                </a:solidFill>
                <a:effectLst/>
                <a:latin typeface="-apple-system"/>
              </a:rPr>
              <a:t>药物总计</a:t>
            </a:r>
            <a:r>
              <a:rPr lang="en-US" altLang="zh-CN" b="0" i="0" dirty="0">
                <a:solidFill>
                  <a:srgbClr val="121212"/>
                </a:solidFill>
                <a:effectLst/>
                <a:latin typeface="-apple-system"/>
              </a:rPr>
              <a:t>225</a:t>
            </a:r>
            <a:r>
              <a:rPr lang="zh-CN" altLang="en-US" b="0" i="0" dirty="0">
                <a:solidFill>
                  <a:srgbClr val="121212"/>
                </a:solidFill>
                <a:effectLst/>
                <a:latin typeface="-apple-system"/>
              </a:rPr>
              <a:t>个，其中临床阶段在研品种共计</a:t>
            </a:r>
            <a:r>
              <a:rPr lang="en-US" altLang="zh-CN" b="0" i="0" dirty="0">
                <a:solidFill>
                  <a:srgbClr val="121212"/>
                </a:solidFill>
                <a:effectLst/>
                <a:latin typeface="-apple-system"/>
              </a:rPr>
              <a:t>58</a:t>
            </a:r>
            <a:r>
              <a:rPr lang="zh-CN" altLang="en-US" b="0" i="0" dirty="0">
                <a:solidFill>
                  <a:srgbClr val="121212"/>
                </a:solidFill>
                <a:effectLst/>
                <a:latin typeface="-apple-system"/>
              </a:rPr>
              <a:t>个。</a:t>
            </a:r>
            <a:endParaRPr lang="en-US" altLang="zh-CN" b="0" i="0" dirty="0">
              <a:solidFill>
                <a:srgbClr val="121212"/>
              </a:solidFill>
              <a:effectLst/>
              <a:latin typeface="-apple-system"/>
            </a:endParaRPr>
          </a:p>
          <a:p>
            <a:pPr algn="l"/>
            <a:endParaRPr lang="en-US" altLang="zh-CN" b="0" i="0" dirty="0">
              <a:solidFill>
                <a:srgbClr val="121212"/>
              </a:solidFill>
              <a:effectLst/>
              <a:latin typeface="-apple-system"/>
            </a:endParaRPr>
          </a:p>
          <a:p>
            <a:pPr algn="l"/>
            <a:r>
              <a:rPr lang="en-US" altLang="zh-CN" b="0" i="0" dirty="0">
                <a:solidFill>
                  <a:srgbClr val="121212"/>
                </a:solidFill>
                <a:effectLst/>
                <a:latin typeface="-apple-system"/>
              </a:rPr>
              <a:t>2023</a:t>
            </a:r>
            <a:r>
              <a:rPr lang="zh-CN" altLang="en-US" b="0" i="0" dirty="0">
                <a:solidFill>
                  <a:srgbClr val="121212"/>
                </a:solidFill>
                <a:effectLst/>
                <a:latin typeface="-apple-system"/>
              </a:rPr>
              <a:t>年</a:t>
            </a:r>
            <a:r>
              <a:rPr lang="en-US" altLang="zh-CN" b="0" i="0" dirty="0">
                <a:solidFill>
                  <a:srgbClr val="121212"/>
                </a:solidFill>
                <a:effectLst/>
                <a:latin typeface="-apple-system"/>
              </a:rPr>
              <a:t>8</a:t>
            </a:r>
            <a:r>
              <a:rPr lang="zh-CN" altLang="en-US" b="0" i="0" dirty="0">
                <a:solidFill>
                  <a:srgbClr val="121212"/>
                </a:solidFill>
                <a:effectLst/>
                <a:latin typeface="-apple-system"/>
              </a:rPr>
              <a:t>月</a:t>
            </a:r>
            <a:r>
              <a:rPr lang="en-US" altLang="zh-CN" b="0" i="0" dirty="0">
                <a:solidFill>
                  <a:srgbClr val="121212"/>
                </a:solidFill>
                <a:effectLst/>
                <a:latin typeface="-apple-system"/>
              </a:rPr>
              <a:t>22</a:t>
            </a:r>
            <a:r>
              <a:rPr lang="zh-CN" altLang="en-US" b="0" i="0" dirty="0">
                <a:solidFill>
                  <a:srgbClr val="121212"/>
                </a:solidFill>
                <a:effectLst/>
                <a:latin typeface="-apple-system"/>
              </a:rPr>
              <a:t>日，诺华集团官网宣布，其创新性</a:t>
            </a:r>
            <a:r>
              <a:rPr lang="en-US" altLang="zh-CN" b="1" i="0" dirty="0">
                <a:solidFill>
                  <a:srgbClr val="121212"/>
                </a:solidFill>
                <a:effectLst/>
                <a:latin typeface="-apple-system"/>
              </a:rPr>
              <a:t>siRNA</a:t>
            </a:r>
            <a:r>
              <a:rPr lang="zh-CN" altLang="en-US" b="1" i="0" dirty="0">
                <a:solidFill>
                  <a:srgbClr val="121212"/>
                </a:solidFill>
                <a:effectLst/>
                <a:latin typeface="-apple-system"/>
              </a:rPr>
              <a:t>药物</a:t>
            </a:r>
            <a:r>
              <a:rPr lang="en-US" altLang="zh-CN" b="1" i="0" dirty="0" err="1">
                <a:solidFill>
                  <a:srgbClr val="121212"/>
                </a:solidFill>
                <a:effectLst/>
                <a:latin typeface="-apple-system"/>
              </a:rPr>
              <a:t>Inclisiran</a:t>
            </a:r>
            <a:r>
              <a:rPr lang="zh-CN" altLang="en-US" b="1" i="0" dirty="0">
                <a:solidFill>
                  <a:srgbClr val="121212"/>
                </a:solidFill>
                <a:effectLst/>
                <a:latin typeface="-apple-system"/>
              </a:rPr>
              <a:t>注射液</a:t>
            </a:r>
            <a:r>
              <a:rPr lang="zh-CN" altLang="en-US" b="0" i="0" dirty="0">
                <a:solidFill>
                  <a:srgbClr val="121212"/>
                </a:solidFill>
                <a:effectLst/>
                <a:latin typeface="-apple-system"/>
              </a:rPr>
              <a:t>获得国家药品监督管理局（</a:t>
            </a:r>
            <a:r>
              <a:rPr lang="en-US" altLang="zh-CN" b="0" i="0" dirty="0">
                <a:solidFill>
                  <a:srgbClr val="121212"/>
                </a:solidFill>
                <a:effectLst/>
                <a:latin typeface="-apple-system"/>
              </a:rPr>
              <a:t>NMPA</a:t>
            </a:r>
            <a:r>
              <a:rPr lang="zh-CN" altLang="en-US" b="0" i="0" dirty="0">
                <a:solidFill>
                  <a:srgbClr val="121212"/>
                </a:solidFill>
                <a:effectLst/>
                <a:latin typeface="-apple-system"/>
              </a:rPr>
              <a:t>）批准上市，通用名为英克司兰钠注射液，商品名为乐可为</a:t>
            </a:r>
            <a:r>
              <a:rPr lang="en-US" altLang="zh-CN" b="0" i="0" dirty="0">
                <a:solidFill>
                  <a:srgbClr val="121212"/>
                </a:solidFill>
                <a:effectLst/>
                <a:latin typeface="-apple-system"/>
              </a:rPr>
              <a:t>®</a:t>
            </a:r>
            <a:r>
              <a:rPr lang="zh-CN" altLang="en-US" b="0" i="0" dirty="0">
                <a:solidFill>
                  <a:srgbClr val="121212"/>
                </a:solidFill>
                <a:effectLst/>
                <a:latin typeface="-apple-system"/>
              </a:rPr>
              <a:t>。获批适应症为：</a:t>
            </a:r>
          </a:p>
          <a:p>
            <a:pPr algn="l"/>
            <a:r>
              <a:rPr lang="zh-CN" altLang="en-US" b="0" i="1" dirty="0">
                <a:solidFill>
                  <a:srgbClr val="121212"/>
                </a:solidFill>
                <a:effectLst/>
                <a:latin typeface="-apple-system"/>
              </a:rPr>
              <a:t>作为</a:t>
            </a:r>
            <a:r>
              <a:rPr lang="zh-CN" altLang="en-US" b="1" i="1" dirty="0">
                <a:solidFill>
                  <a:srgbClr val="121212"/>
                </a:solidFill>
                <a:effectLst/>
                <a:latin typeface="-apple-system"/>
              </a:rPr>
              <a:t>饮食的辅助疗法</a:t>
            </a:r>
            <a:r>
              <a:rPr lang="zh-CN" altLang="en-US" b="0" i="1" dirty="0">
                <a:solidFill>
                  <a:srgbClr val="121212"/>
                </a:solidFill>
                <a:effectLst/>
                <a:latin typeface="-apple-system"/>
              </a:rPr>
              <a:t>，用于</a:t>
            </a:r>
            <a:r>
              <a:rPr lang="zh-CN" altLang="en-US" b="1" i="1" dirty="0">
                <a:solidFill>
                  <a:srgbClr val="121212"/>
                </a:solidFill>
                <a:effectLst/>
                <a:latin typeface="-apple-system"/>
              </a:rPr>
              <a:t>成人原发性高胆固醇血症（</a:t>
            </a:r>
            <a:r>
              <a:rPr lang="zh-CN" altLang="en-US" b="0" i="1" dirty="0">
                <a:solidFill>
                  <a:srgbClr val="121212"/>
                </a:solidFill>
                <a:effectLst/>
                <a:latin typeface="-apple-system"/>
              </a:rPr>
              <a:t>杂合子型家族性和非家族性）或</a:t>
            </a:r>
            <a:r>
              <a:rPr lang="zh-CN" altLang="en-US" b="1" i="1" dirty="0">
                <a:solidFill>
                  <a:srgbClr val="121212"/>
                </a:solidFill>
                <a:effectLst/>
                <a:latin typeface="-apple-system"/>
              </a:rPr>
              <a:t>混合型血脂异常</a:t>
            </a:r>
            <a:r>
              <a:rPr lang="zh-CN" altLang="en-US" b="0" i="1" dirty="0">
                <a:solidFill>
                  <a:srgbClr val="121212"/>
                </a:solidFill>
                <a:effectLst/>
                <a:latin typeface="-apple-system"/>
              </a:rPr>
              <a:t>患者的治疗，包含：在接受最大耐受剂量的他汀类药物治疗仍无法达到</a:t>
            </a:r>
            <a:r>
              <a:rPr lang="en-US" altLang="zh-CN" b="0" i="1" dirty="0">
                <a:solidFill>
                  <a:srgbClr val="121212"/>
                </a:solidFill>
                <a:effectLst/>
                <a:latin typeface="-apple-system"/>
              </a:rPr>
              <a:t>LDL-C</a:t>
            </a:r>
            <a:r>
              <a:rPr lang="zh-CN" altLang="en-US" b="0" i="1" dirty="0">
                <a:solidFill>
                  <a:srgbClr val="121212"/>
                </a:solidFill>
                <a:effectLst/>
                <a:latin typeface="-apple-system"/>
              </a:rPr>
              <a:t>（低密度脂蛋白胆固醇）目标的患者中，与他汀类药物、或者与他汀类药物及其他降脂疗法联合用药，以及在他汀类药物不耐受或禁忌使用的患者中，单独用药或与其他降脂疗法联合用药。</a:t>
            </a:r>
            <a:endParaRPr lang="zh-CN" altLang="en-US" b="0" i="0" dirty="0">
              <a:solidFill>
                <a:srgbClr val="121212"/>
              </a:solidFill>
              <a:effectLst/>
              <a:latin typeface="-apple-system"/>
            </a:endParaRPr>
          </a:p>
          <a:p>
            <a:pPr algn="l"/>
            <a:r>
              <a:rPr lang="zh-CN" altLang="en-US" b="0" i="0" dirty="0">
                <a:solidFill>
                  <a:srgbClr val="121212"/>
                </a:solidFill>
                <a:effectLst/>
                <a:latin typeface="-apple-system"/>
              </a:rPr>
              <a:t>使用方法为：在初始治疗后</a:t>
            </a:r>
            <a:r>
              <a:rPr lang="en-US" altLang="zh-CN" b="0" i="0" dirty="0">
                <a:solidFill>
                  <a:srgbClr val="121212"/>
                </a:solidFill>
                <a:effectLst/>
                <a:latin typeface="-apple-system"/>
              </a:rPr>
              <a:t>3</a:t>
            </a:r>
            <a:r>
              <a:rPr lang="zh-CN" altLang="en-US" b="0" i="0" dirty="0">
                <a:solidFill>
                  <a:srgbClr val="121212"/>
                </a:solidFill>
                <a:effectLst/>
                <a:latin typeface="-apple-system"/>
              </a:rPr>
              <a:t>个月注射加强针，此后每</a:t>
            </a:r>
            <a:r>
              <a:rPr lang="en-US" altLang="zh-CN" b="0" i="0" dirty="0">
                <a:solidFill>
                  <a:srgbClr val="121212"/>
                </a:solidFill>
                <a:effectLst/>
                <a:latin typeface="-apple-system"/>
              </a:rPr>
              <a:t>6</a:t>
            </a:r>
            <a:r>
              <a:rPr lang="zh-CN" altLang="en-US" b="0" i="0" dirty="0">
                <a:solidFill>
                  <a:srgbClr val="121212"/>
                </a:solidFill>
                <a:effectLst/>
                <a:latin typeface="-apple-system"/>
              </a:rPr>
              <a:t>个月注射一次。该方案与</a:t>
            </a:r>
            <a:r>
              <a:rPr lang="en-US" altLang="zh-CN" b="0" i="0" dirty="0">
                <a:solidFill>
                  <a:srgbClr val="121212"/>
                </a:solidFill>
                <a:effectLst/>
                <a:latin typeface="-apple-system"/>
              </a:rPr>
              <a:t>FDA</a:t>
            </a:r>
            <a:r>
              <a:rPr lang="zh-CN" altLang="en-US" b="0" i="0" dirty="0">
                <a:solidFill>
                  <a:srgbClr val="121212"/>
                </a:solidFill>
                <a:effectLst/>
                <a:latin typeface="-apple-system"/>
              </a:rPr>
              <a:t>和</a:t>
            </a:r>
            <a:r>
              <a:rPr lang="en-US" altLang="zh-CN" b="0" i="0" dirty="0">
                <a:solidFill>
                  <a:srgbClr val="121212"/>
                </a:solidFill>
                <a:effectLst/>
                <a:latin typeface="-apple-system"/>
              </a:rPr>
              <a:t>EMA</a:t>
            </a:r>
            <a:r>
              <a:rPr lang="zh-CN" altLang="en-US" b="0" i="0" dirty="0">
                <a:solidFill>
                  <a:srgbClr val="121212"/>
                </a:solidFill>
                <a:effectLst/>
                <a:latin typeface="-apple-system"/>
              </a:rPr>
              <a:t>批准的</a:t>
            </a:r>
            <a:r>
              <a:rPr lang="en-US" altLang="zh-CN" b="0" i="0" dirty="0" err="1">
                <a:solidFill>
                  <a:srgbClr val="121212"/>
                </a:solidFill>
                <a:effectLst/>
                <a:latin typeface="-apple-system"/>
              </a:rPr>
              <a:t>Leqvio</a:t>
            </a:r>
            <a:r>
              <a:rPr lang="en-US" altLang="zh-CN" b="0" i="0" dirty="0">
                <a:solidFill>
                  <a:srgbClr val="121212"/>
                </a:solidFill>
                <a:effectLst/>
                <a:latin typeface="-apple-system"/>
              </a:rPr>
              <a:t>®</a:t>
            </a:r>
            <a:r>
              <a:rPr lang="zh-CN" altLang="en-US" b="0" i="0" dirty="0">
                <a:solidFill>
                  <a:srgbClr val="121212"/>
                </a:solidFill>
                <a:effectLst/>
                <a:latin typeface="-apple-system"/>
              </a:rPr>
              <a:t>在美国和欧盟的用法用量一致。</a:t>
            </a:r>
          </a:p>
          <a:p>
            <a:endParaRPr lang="en-US" altLang="zh-CN" dirty="0"/>
          </a:p>
          <a:p>
            <a:pPr algn="l"/>
            <a:r>
              <a:rPr lang="en-US" altLang="zh-CN" b="1" i="0" dirty="0">
                <a:solidFill>
                  <a:srgbClr val="121212"/>
                </a:solidFill>
                <a:effectLst/>
                <a:latin typeface="-apple-system"/>
              </a:rPr>
              <a:t>PCSK9</a:t>
            </a:r>
            <a:r>
              <a:rPr lang="zh-CN" altLang="en-US" b="1" i="0" dirty="0">
                <a:solidFill>
                  <a:srgbClr val="121212"/>
                </a:solidFill>
                <a:effectLst/>
                <a:latin typeface="-apple-system"/>
              </a:rPr>
              <a:t>与降血脂治疗</a:t>
            </a:r>
          </a:p>
          <a:p>
            <a:pPr algn="l"/>
            <a:r>
              <a:rPr lang="zh-CN" altLang="en-US" b="0" i="0" dirty="0">
                <a:solidFill>
                  <a:srgbClr val="121212"/>
                </a:solidFill>
                <a:effectLst/>
                <a:latin typeface="-apple-system"/>
              </a:rPr>
              <a:t>作为全球首款上市的</a:t>
            </a:r>
            <a:r>
              <a:rPr lang="en-US" altLang="zh-CN" b="0" i="0" dirty="0">
                <a:solidFill>
                  <a:srgbClr val="121212"/>
                </a:solidFill>
                <a:effectLst/>
                <a:latin typeface="-apple-system"/>
              </a:rPr>
              <a:t>siRNA</a:t>
            </a:r>
            <a:r>
              <a:rPr lang="zh-CN" altLang="en-US" b="0" i="0" dirty="0">
                <a:solidFill>
                  <a:srgbClr val="121212"/>
                </a:solidFill>
                <a:effectLst/>
                <a:latin typeface="-apple-system"/>
              </a:rPr>
              <a:t>降血脂药物，</a:t>
            </a:r>
            <a:r>
              <a:rPr lang="en-US" altLang="zh-CN" b="0" i="0" dirty="0" err="1">
                <a:solidFill>
                  <a:srgbClr val="121212"/>
                </a:solidFill>
                <a:effectLst/>
                <a:latin typeface="-apple-system"/>
              </a:rPr>
              <a:t>Inclisiran</a:t>
            </a:r>
            <a:r>
              <a:rPr lang="zh-CN" altLang="en-US" b="0" i="0" dirty="0">
                <a:solidFill>
                  <a:srgbClr val="121212"/>
                </a:solidFill>
                <a:effectLst/>
                <a:latin typeface="-apple-system"/>
              </a:rPr>
              <a:t>的作用靶点为</a:t>
            </a:r>
            <a:r>
              <a:rPr lang="zh-CN" altLang="en-US" b="1" i="0" dirty="0">
                <a:solidFill>
                  <a:srgbClr val="121212"/>
                </a:solidFill>
                <a:effectLst/>
                <a:latin typeface="-apple-system"/>
              </a:rPr>
              <a:t>编码前蛋白转化酶枯草溶菌素</a:t>
            </a:r>
            <a:r>
              <a:rPr lang="en-US" altLang="zh-CN" b="1" i="0" dirty="0">
                <a:solidFill>
                  <a:srgbClr val="121212"/>
                </a:solidFill>
                <a:effectLst/>
                <a:latin typeface="-apple-system"/>
              </a:rPr>
              <a:t>9</a:t>
            </a:r>
            <a:r>
              <a:rPr lang="zh-CN" altLang="en-US" b="1" i="0" dirty="0">
                <a:solidFill>
                  <a:srgbClr val="121212"/>
                </a:solidFill>
                <a:effectLst/>
                <a:latin typeface="-apple-system"/>
              </a:rPr>
              <a:t>（</a:t>
            </a:r>
            <a:r>
              <a:rPr lang="en-US" altLang="zh-CN" b="1" i="0" dirty="0">
                <a:solidFill>
                  <a:srgbClr val="121212"/>
                </a:solidFill>
                <a:effectLst/>
                <a:latin typeface="-apple-system"/>
              </a:rPr>
              <a:t>PCSK9</a:t>
            </a:r>
            <a:r>
              <a:rPr lang="zh-CN" altLang="en-US" b="1" i="0" dirty="0">
                <a:solidFill>
                  <a:srgbClr val="121212"/>
                </a:solidFill>
                <a:effectLst/>
                <a:latin typeface="-apple-system"/>
              </a:rPr>
              <a:t>） </a:t>
            </a:r>
            <a:r>
              <a:rPr lang="zh-CN" altLang="en-US" b="0" i="0" dirty="0">
                <a:solidFill>
                  <a:srgbClr val="121212"/>
                </a:solidFill>
                <a:effectLst/>
                <a:latin typeface="-apple-system"/>
              </a:rPr>
              <a:t>的</a:t>
            </a:r>
            <a:r>
              <a:rPr lang="en-US" altLang="zh-CN" b="0" i="0" dirty="0">
                <a:solidFill>
                  <a:srgbClr val="121212"/>
                </a:solidFill>
                <a:effectLst/>
                <a:latin typeface="-apple-system"/>
              </a:rPr>
              <a:t>mRNA</a:t>
            </a:r>
            <a:r>
              <a:rPr lang="zh-CN" altLang="en-US" b="0" i="0" dirty="0">
                <a:solidFill>
                  <a:srgbClr val="121212"/>
                </a:solidFill>
                <a:effectLst/>
                <a:latin typeface="-apple-system"/>
              </a:rPr>
              <a:t>。</a:t>
            </a:r>
            <a:r>
              <a:rPr lang="en-US" altLang="zh-CN" b="0" i="0" dirty="0">
                <a:solidFill>
                  <a:srgbClr val="121212"/>
                </a:solidFill>
                <a:effectLst/>
                <a:latin typeface="-apple-system"/>
              </a:rPr>
              <a:t>PCSK9</a:t>
            </a:r>
            <a:r>
              <a:rPr lang="zh-CN" altLang="en-US" b="0" i="0" dirty="0">
                <a:solidFill>
                  <a:srgbClr val="121212"/>
                </a:solidFill>
                <a:effectLst/>
                <a:latin typeface="-apple-system"/>
              </a:rPr>
              <a:t>是肝脏合成的分泌型丝氨酸蛋白酶，可与低密度脂蛋白受体（</a:t>
            </a:r>
            <a:r>
              <a:rPr lang="en-US" altLang="zh-CN" b="0" i="0" dirty="0">
                <a:solidFill>
                  <a:srgbClr val="121212"/>
                </a:solidFill>
                <a:effectLst/>
                <a:latin typeface="-apple-system"/>
              </a:rPr>
              <a:t>LDL-R</a:t>
            </a:r>
            <a:r>
              <a:rPr lang="zh-CN" altLang="en-US" b="0" i="0" dirty="0">
                <a:solidFill>
                  <a:srgbClr val="121212"/>
                </a:solidFill>
                <a:effectLst/>
                <a:latin typeface="-apple-system"/>
              </a:rPr>
              <a:t>）结合并使其降解，减少</a:t>
            </a:r>
            <a:r>
              <a:rPr lang="en-US" altLang="zh-CN" b="0" i="0" dirty="0">
                <a:solidFill>
                  <a:srgbClr val="121212"/>
                </a:solidFill>
                <a:effectLst/>
                <a:latin typeface="-apple-system"/>
              </a:rPr>
              <a:t>LDL-R</a:t>
            </a:r>
            <a:r>
              <a:rPr lang="zh-CN" altLang="en-US" b="0" i="0" dirty="0">
                <a:solidFill>
                  <a:srgbClr val="121212"/>
                </a:solidFill>
                <a:effectLst/>
                <a:latin typeface="-apple-system"/>
              </a:rPr>
              <a:t>对血清中</a:t>
            </a:r>
            <a:r>
              <a:rPr lang="en-US" altLang="zh-CN" b="0" i="0" dirty="0">
                <a:solidFill>
                  <a:srgbClr val="121212"/>
                </a:solidFill>
                <a:effectLst/>
                <a:latin typeface="-apple-system"/>
              </a:rPr>
              <a:t>LDL-C</a:t>
            </a:r>
            <a:r>
              <a:rPr lang="zh-CN" altLang="en-US" b="0" i="0" dirty="0">
                <a:solidFill>
                  <a:srgbClr val="121212"/>
                </a:solidFill>
                <a:effectLst/>
                <a:latin typeface="-apple-system"/>
              </a:rPr>
              <a:t>（</a:t>
            </a:r>
            <a:r>
              <a:rPr lang="en-US" altLang="zh-CN" b="0" i="0" dirty="0">
                <a:solidFill>
                  <a:srgbClr val="121212"/>
                </a:solidFill>
                <a:effectLst/>
                <a:latin typeface="-apple-system"/>
              </a:rPr>
              <a:t>Low Density Lipoprotein Cholesterol, </a:t>
            </a:r>
            <a:r>
              <a:rPr lang="zh-CN" altLang="en-US" b="0" i="0" dirty="0">
                <a:solidFill>
                  <a:srgbClr val="121212"/>
                </a:solidFill>
                <a:effectLst/>
                <a:latin typeface="-apple-system"/>
              </a:rPr>
              <a:t>低密度脂蛋白胆固醇）的清除。我们都知道，</a:t>
            </a:r>
            <a:r>
              <a:rPr lang="en-US" altLang="zh-CN" b="0" i="0" dirty="0">
                <a:solidFill>
                  <a:srgbClr val="121212"/>
                </a:solidFill>
                <a:effectLst/>
                <a:latin typeface="-apple-system"/>
              </a:rPr>
              <a:t>LDL-C</a:t>
            </a:r>
            <a:r>
              <a:rPr lang="zh-CN" altLang="en-US" b="0" i="0" dirty="0">
                <a:solidFill>
                  <a:srgbClr val="121212"/>
                </a:solidFill>
                <a:effectLst/>
                <a:latin typeface="-apple-system"/>
              </a:rPr>
              <a:t>是临床血脂检测的四项重要指标之一，其水平越高，患动脉粥样硬化性心血管病（</a:t>
            </a:r>
            <a:r>
              <a:rPr lang="en-US" altLang="zh-CN" b="0" i="0" dirty="0">
                <a:solidFill>
                  <a:srgbClr val="121212"/>
                </a:solidFill>
                <a:effectLst/>
                <a:latin typeface="-apple-system"/>
              </a:rPr>
              <a:t>ASCVD</a:t>
            </a:r>
            <a:r>
              <a:rPr lang="zh-CN" altLang="en-US" b="0" i="0" dirty="0">
                <a:solidFill>
                  <a:srgbClr val="121212"/>
                </a:solidFill>
                <a:effectLst/>
                <a:latin typeface="-apple-system"/>
              </a:rPr>
              <a:t>）的风险就越高。</a:t>
            </a:r>
          </a:p>
          <a:p>
            <a:pPr algn="l"/>
            <a:r>
              <a:rPr lang="en-US" altLang="zh-CN" b="0" i="0" dirty="0">
                <a:solidFill>
                  <a:srgbClr val="121212"/>
                </a:solidFill>
                <a:effectLst/>
                <a:latin typeface="-apple-system"/>
              </a:rPr>
              <a:t>PCSK9</a:t>
            </a:r>
            <a:r>
              <a:rPr lang="zh-CN" altLang="en-US" b="0" i="0" dirty="0">
                <a:solidFill>
                  <a:srgbClr val="121212"/>
                </a:solidFill>
                <a:effectLst/>
                <a:latin typeface="-apple-system"/>
              </a:rPr>
              <a:t>抑制剂可以通过阻断血浆中</a:t>
            </a:r>
            <a:r>
              <a:rPr lang="en-US" altLang="zh-CN" b="0" i="0" dirty="0">
                <a:solidFill>
                  <a:srgbClr val="121212"/>
                </a:solidFill>
                <a:effectLst/>
                <a:latin typeface="-apple-system"/>
              </a:rPr>
              <a:t>PCSK9</a:t>
            </a:r>
            <a:r>
              <a:rPr lang="zh-CN" altLang="en-US" b="0" i="0" dirty="0">
                <a:solidFill>
                  <a:srgbClr val="121212"/>
                </a:solidFill>
                <a:effectLst/>
                <a:latin typeface="-apple-system"/>
              </a:rPr>
              <a:t>蛋白与</a:t>
            </a:r>
            <a:r>
              <a:rPr lang="en-US" altLang="zh-CN" b="0" i="0" dirty="0">
                <a:solidFill>
                  <a:srgbClr val="121212"/>
                </a:solidFill>
                <a:effectLst/>
                <a:latin typeface="-apple-system"/>
              </a:rPr>
              <a:t>LDL-R</a:t>
            </a:r>
            <a:r>
              <a:rPr lang="zh-CN" altLang="en-US" b="0" i="0" dirty="0">
                <a:solidFill>
                  <a:srgbClr val="121212"/>
                </a:solidFill>
                <a:effectLst/>
                <a:latin typeface="-apple-system"/>
              </a:rPr>
              <a:t>的结合（单抗类），或者直接阻断</a:t>
            </a:r>
            <a:r>
              <a:rPr lang="en-US" altLang="zh-CN" b="0" i="0" dirty="0">
                <a:solidFill>
                  <a:srgbClr val="121212"/>
                </a:solidFill>
                <a:effectLst/>
                <a:latin typeface="-apple-system"/>
              </a:rPr>
              <a:t>PCSK9</a:t>
            </a:r>
            <a:r>
              <a:rPr lang="zh-CN" altLang="en-US" b="0" i="0" dirty="0">
                <a:solidFill>
                  <a:srgbClr val="121212"/>
                </a:solidFill>
                <a:effectLst/>
                <a:latin typeface="-apple-system"/>
              </a:rPr>
              <a:t>蛋白的合成（</a:t>
            </a:r>
            <a:r>
              <a:rPr lang="en-US" altLang="zh-CN" b="0" i="0" dirty="0">
                <a:solidFill>
                  <a:srgbClr val="121212"/>
                </a:solidFill>
                <a:effectLst/>
                <a:latin typeface="-apple-system"/>
              </a:rPr>
              <a:t>siRNA</a:t>
            </a:r>
            <a:r>
              <a:rPr lang="zh-CN" altLang="en-US" b="0" i="0" dirty="0">
                <a:solidFill>
                  <a:srgbClr val="121212"/>
                </a:solidFill>
                <a:effectLst/>
                <a:latin typeface="-apple-system"/>
              </a:rPr>
              <a:t>类），进而阻止</a:t>
            </a:r>
            <a:r>
              <a:rPr lang="en-US" altLang="zh-CN" b="0" i="0" dirty="0">
                <a:solidFill>
                  <a:srgbClr val="121212"/>
                </a:solidFill>
                <a:effectLst/>
                <a:latin typeface="-apple-system"/>
              </a:rPr>
              <a:t>LDL-R</a:t>
            </a:r>
            <a:r>
              <a:rPr lang="zh-CN" altLang="en-US" b="0" i="0" dirty="0">
                <a:solidFill>
                  <a:srgbClr val="121212"/>
                </a:solidFill>
                <a:effectLst/>
                <a:latin typeface="-apple-system"/>
              </a:rPr>
              <a:t>的内吞和降解，增加细胞表面</a:t>
            </a:r>
            <a:r>
              <a:rPr lang="en-US" altLang="zh-CN" b="0" i="0" dirty="0">
                <a:solidFill>
                  <a:srgbClr val="121212"/>
                </a:solidFill>
                <a:effectLst/>
                <a:latin typeface="-apple-system"/>
              </a:rPr>
              <a:t>LDL-R</a:t>
            </a:r>
            <a:r>
              <a:rPr lang="zh-CN" altLang="en-US" b="0" i="0" dirty="0">
                <a:solidFill>
                  <a:srgbClr val="121212"/>
                </a:solidFill>
                <a:effectLst/>
                <a:latin typeface="-apple-system"/>
              </a:rPr>
              <a:t>表达水平，提高</a:t>
            </a:r>
            <a:r>
              <a:rPr lang="en-US" altLang="zh-CN" b="0" i="0" dirty="0">
                <a:solidFill>
                  <a:srgbClr val="121212"/>
                </a:solidFill>
                <a:effectLst/>
                <a:latin typeface="-apple-system"/>
              </a:rPr>
              <a:t>LDL-R</a:t>
            </a:r>
            <a:r>
              <a:rPr lang="zh-CN" altLang="en-US" b="0" i="0" dirty="0">
                <a:solidFill>
                  <a:srgbClr val="121212"/>
                </a:solidFill>
                <a:effectLst/>
                <a:latin typeface="-apple-system"/>
              </a:rPr>
              <a:t>对</a:t>
            </a:r>
            <a:r>
              <a:rPr lang="en-US" altLang="zh-CN" b="0" i="0" dirty="0">
                <a:solidFill>
                  <a:srgbClr val="121212"/>
                </a:solidFill>
                <a:effectLst/>
                <a:latin typeface="-apple-system"/>
              </a:rPr>
              <a:t>LDL-C</a:t>
            </a:r>
            <a:r>
              <a:rPr lang="zh-CN" altLang="en-US" b="0" i="0" dirty="0">
                <a:solidFill>
                  <a:srgbClr val="121212"/>
                </a:solidFill>
                <a:effectLst/>
                <a:latin typeface="-apple-system"/>
              </a:rPr>
              <a:t>的重摄取，降低循环</a:t>
            </a:r>
            <a:r>
              <a:rPr lang="en-US" altLang="zh-CN" b="0" i="0" dirty="0">
                <a:solidFill>
                  <a:srgbClr val="121212"/>
                </a:solidFill>
                <a:effectLst/>
                <a:latin typeface="-apple-system"/>
              </a:rPr>
              <a:t>LDL-C</a:t>
            </a:r>
            <a:r>
              <a:rPr lang="zh-CN" altLang="en-US" b="0" i="0" dirty="0">
                <a:solidFill>
                  <a:srgbClr val="121212"/>
                </a:solidFill>
                <a:effectLst/>
                <a:latin typeface="-apple-system"/>
              </a:rPr>
              <a:t>水平，最终达到降低血脂的目的。</a:t>
            </a:r>
            <a:r>
              <a:rPr lang="zh-CN" altLang="en-US" b="1" i="0" dirty="0">
                <a:solidFill>
                  <a:srgbClr val="121212"/>
                </a:solidFill>
                <a:effectLst/>
                <a:latin typeface="-apple-system"/>
              </a:rPr>
              <a:t>此前，国内已获批上市的</a:t>
            </a:r>
            <a:r>
              <a:rPr lang="en-US" altLang="zh-CN" b="1" i="0" dirty="0">
                <a:solidFill>
                  <a:srgbClr val="121212"/>
                </a:solidFill>
                <a:effectLst/>
                <a:latin typeface="-apple-system"/>
              </a:rPr>
              <a:t>PCSK9</a:t>
            </a:r>
            <a:r>
              <a:rPr lang="zh-CN" altLang="en-US" b="1" i="0" dirty="0">
                <a:solidFill>
                  <a:srgbClr val="121212"/>
                </a:solidFill>
                <a:effectLst/>
                <a:latin typeface="-apple-system"/>
              </a:rPr>
              <a:t>抑制剂均为单抗类药物</a:t>
            </a:r>
            <a:r>
              <a:rPr lang="zh-CN" altLang="en-US" b="0" i="0" dirty="0">
                <a:solidFill>
                  <a:srgbClr val="121212"/>
                </a:solidFill>
                <a:effectLst/>
                <a:latin typeface="-apple-system"/>
              </a:rPr>
              <a:t>，包括安进</a:t>
            </a:r>
            <a:r>
              <a:rPr lang="en-US" altLang="zh-CN" b="0" i="0" dirty="0">
                <a:solidFill>
                  <a:srgbClr val="121212"/>
                </a:solidFill>
                <a:effectLst/>
                <a:latin typeface="-apple-system"/>
              </a:rPr>
              <a:t>/</a:t>
            </a:r>
            <a:r>
              <a:rPr lang="zh-CN" altLang="en-US" b="0" i="0" dirty="0">
                <a:solidFill>
                  <a:srgbClr val="121212"/>
                </a:solidFill>
                <a:effectLst/>
                <a:latin typeface="-apple-system"/>
              </a:rPr>
              <a:t>安斯泰来的依洛尤单抗、再生元</a:t>
            </a:r>
            <a:r>
              <a:rPr lang="en-US" altLang="zh-CN" b="0" i="0" dirty="0">
                <a:solidFill>
                  <a:srgbClr val="121212"/>
                </a:solidFill>
                <a:effectLst/>
                <a:latin typeface="-apple-system"/>
              </a:rPr>
              <a:t>/</a:t>
            </a:r>
            <a:r>
              <a:rPr lang="zh-CN" altLang="en-US" b="0" i="0" dirty="0">
                <a:solidFill>
                  <a:srgbClr val="121212"/>
                </a:solidFill>
                <a:effectLst/>
                <a:latin typeface="-apple-system"/>
              </a:rPr>
              <a:t>赛诺菲的阿利西尤单抗和信达生物的托莱西单抗。</a:t>
            </a:r>
          </a:p>
          <a:p>
            <a:pPr algn="l"/>
            <a:r>
              <a:rPr lang="en-US" altLang="zh-CN" b="1" i="0" dirty="0" err="1">
                <a:solidFill>
                  <a:srgbClr val="121212"/>
                </a:solidFill>
                <a:effectLst/>
                <a:latin typeface="-apple-system"/>
              </a:rPr>
              <a:t>Inclisiran</a:t>
            </a:r>
            <a:r>
              <a:rPr lang="zh-CN" altLang="en-US" b="1" i="0" dirty="0">
                <a:solidFill>
                  <a:srgbClr val="121212"/>
                </a:solidFill>
                <a:effectLst/>
                <a:latin typeface="-apple-system"/>
              </a:rPr>
              <a:t>与单抗类的最大不同点在于</a:t>
            </a:r>
            <a:r>
              <a:rPr lang="zh-CN" altLang="en-US" b="0" i="0" dirty="0">
                <a:solidFill>
                  <a:srgbClr val="121212"/>
                </a:solidFill>
                <a:effectLst/>
                <a:latin typeface="-apple-system"/>
              </a:rPr>
              <a:t>：可直接作用于编码</a:t>
            </a:r>
            <a:r>
              <a:rPr lang="en-US" altLang="zh-CN" b="0" i="0" dirty="0">
                <a:solidFill>
                  <a:srgbClr val="121212"/>
                </a:solidFill>
                <a:effectLst/>
                <a:latin typeface="-apple-system"/>
              </a:rPr>
              <a:t>PCSK9</a:t>
            </a:r>
            <a:r>
              <a:rPr lang="zh-CN" altLang="en-US" b="0" i="0" dirty="0">
                <a:solidFill>
                  <a:srgbClr val="121212"/>
                </a:solidFill>
                <a:effectLst/>
                <a:latin typeface="-apple-system"/>
              </a:rPr>
              <a:t>蛋白的</a:t>
            </a:r>
            <a:r>
              <a:rPr lang="en-US" altLang="zh-CN" b="0" i="0" dirty="0">
                <a:solidFill>
                  <a:srgbClr val="121212"/>
                </a:solidFill>
                <a:effectLst/>
                <a:latin typeface="-apple-system"/>
              </a:rPr>
              <a:t>mRNA</a:t>
            </a:r>
            <a:r>
              <a:rPr lang="zh-CN" altLang="en-US" b="0" i="0" dirty="0">
                <a:solidFill>
                  <a:srgbClr val="121212"/>
                </a:solidFill>
                <a:effectLst/>
                <a:latin typeface="-apple-system"/>
              </a:rPr>
              <a:t>，通过</a:t>
            </a:r>
            <a:r>
              <a:rPr lang="en-US" altLang="zh-CN" b="0" i="0" dirty="0">
                <a:solidFill>
                  <a:srgbClr val="121212"/>
                </a:solidFill>
                <a:effectLst/>
                <a:latin typeface="-apple-system"/>
              </a:rPr>
              <a:t>RNA</a:t>
            </a:r>
            <a:r>
              <a:rPr lang="zh-CN" altLang="en-US" b="0" i="0" dirty="0">
                <a:solidFill>
                  <a:srgbClr val="121212"/>
                </a:solidFill>
                <a:effectLst/>
                <a:latin typeface="-apple-system"/>
              </a:rPr>
              <a:t>干扰作用降低</a:t>
            </a:r>
            <a:r>
              <a:rPr lang="en-US" altLang="zh-CN" b="0" i="0" dirty="0">
                <a:solidFill>
                  <a:srgbClr val="121212"/>
                </a:solidFill>
                <a:effectLst/>
                <a:latin typeface="-apple-system"/>
              </a:rPr>
              <a:t>mRNA</a:t>
            </a:r>
            <a:r>
              <a:rPr lang="zh-CN" altLang="en-US" b="0" i="0" dirty="0">
                <a:solidFill>
                  <a:srgbClr val="121212"/>
                </a:solidFill>
                <a:effectLst/>
                <a:latin typeface="-apple-system"/>
              </a:rPr>
              <a:t>的水平，从而</a:t>
            </a:r>
            <a:r>
              <a:rPr lang="zh-CN" altLang="en-US" b="1" i="0" dirty="0">
                <a:solidFill>
                  <a:srgbClr val="121212"/>
                </a:solidFill>
                <a:effectLst/>
                <a:latin typeface="-apple-system"/>
              </a:rPr>
              <a:t>减少肝脏中</a:t>
            </a:r>
            <a:r>
              <a:rPr lang="en-US" altLang="zh-CN" b="1" i="0" dirty="0">
                <a:solidFill>
                  <a:srgbClr val="121212"/>
                </a:solidFill>
                <a:effectLst/>
                <a:latin typeface="-apple-system"/>
              </a:rPr>
              <a:t>PCSK9</a:t>
            </a:r>
            <a:r>
              <a:rPr lang="zh-CN" altLang="en-US" b="1" i="0" dirty="0">
                <a:solidFill>
                  <a:srgbClr val="121212"/>
                </a:solidFill>
                <a:effectLst/>
                <a:latin typeface="-apple-system"/>
              </a:rPr>
              <a:t>的表达</a:t>
            </a:r>
            <a:endParaRPr lang="en-US" altLang="zh-CN" b="1" i="0" dirty="0">
              <a:solidFill>
                <a:srgbClr val="121212"/>
              </a:solidFill>
              <a:effectLst/>
              <a:latin typeface="-apple-system"/>
            </a:endParaRPr>
          </a:p>
          <a:p>
            <a:pPr algn="l"/>
            <a:endParaRPr lang="en-US" altLang="zh-CN" b="1" i="0" dirty="0">
              <a:solidFill>
                <a:srgbClr val="121212"/>
              </a:solidFill>
              <a:effectLst/>
              <a:latin typeface="-apple-system"/>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i="0" dirty="0" err="1">
                <a:solidFill>
                  <a:srgbClr val="121212"/>
                </a:solidFill>
                <a:effectLst/>
                <a:latin typeface="-apple-system"/>
              </a:rPr>
              <a:t>GalNAc</a:t>
            </a:r>
            <a:r>
              <a:rPr lang="zh-CN" altLang="en-US" b="1" i="0" dirty="0">
                <a:solidFill>
                  <a:srgbClr val="121212"/>
                </a:solidFill>
                <a:effectLst/>
                <a:latin typeface="-apple-system"/>
              </a:rPr>
              <a:t>（</a:t>
            </a:r>
            <a:r>
              <a:rPr lang="en-US" altLang="zh-CN" b="1" i="0" dirty="0">
                <a:solidFill>
                  <a:srgbClr val="121212"/>
                </a:solidFill>
                <a:effectLst/>
                <a:latin typeface="-apple-system"/>
              </a:rPr>
              <a:t>N-</a:t>
            </a:r>
            <a:r>
              <a:rPr lang="zh-CN" altLang="en-US" b="1" i="0" dirty="0">
                <a:solidFill>
                  <a:srgbClr val="121212"/>
                </a:solidFill>
                <a:effectLst/>
                <a:latin typeface="-apple-system"/>
              </a:rPr>
              <a:t>乙酰化的半乳糖胺）</a:t>
            </a:r>
            <a:r>
              <a:rPr lang="zh-CN" altLang="en-US" b="0" i="0" dirty="0">
                <a:solidFill>
                  <a:srgbClr val="121212"/>
                </a:solidFill>
                <a:effectLst/>
                <a:latin typeface="-apple-system"/>
              </a:rPr>
              <a:t>偶联修饰是当前最常用的小核酸药物递送系统。通过将 </a:t>
            </a:r>
            <a:r>
              <a:rPr lang="en-US" altLang="zh-CN" b="0" i="0" dirty="0" err="1">
                <a:solidFill>
                  <a:srgbClr val="121212"/>
                </a:solidFill>
                <a:effectLst/>
                <a:latin typeface="-apple-system"/>
              </a:rPr>
              <a:t>GalNAc</a:t>
            </a:r>
            <a:r>
              <a:rPr lang="zh-CN" altLang="en-US" b="0" i="0" dirty="0">
                <a:solidFill>
                  <a:srgbClr val="121212"/>
                </a:solidFill>
                <a:effectLst/>
                <a:latin typeface="-apple-system"/>
              </a:rPr>
              <a:t>以三价态的方式共价偶联至核酸</a:t>
            </a:r>
            <a:r>
              <a:rPr lang="en-US" altLang="zh-CN" b="0" i="0" dirty="0">
                <a:solidFill>
                  <a:srgbClr val="121212"/>
                </a:solidFill>
                <a:effectLst/>
                <a:latin typeface="-apple-system"/>
              </a:rPr>
              <a:t>3’</a:t>
            </a:r>
            <a:r>
              <a:rPr lang="zh-CN" altLang="en-US" b="0" i="0" dirty="0">
                <a:solidFill>
                  <a:srgbClr val="121212"/>
                </a:solidFill>
                <a:effectLst/>
                <a:latin typeface="-apple-system"/>
              </a:rPr>
              <a:t>末端构成。</a:t>
            </a:r>
            <a:r>
              <a:rPr lang="en-US" altLang="zh-CN" b="0" i="0" dirty="0" err="1">
                <a:solidFill>
                  <a:srgbClr val="121212"/>
                </a:solidFill>
                <a:effectLst/>
                <a:latin typeface="-apple-system"/>
              </a:rPr>
              <a:t>GalNAc</a:t>
            </a:r>
            <a:r>
              <a:rPr lang="zh-CN" altLang="en-US" b="0" i="0" dirty="0">
                <a:solidFill>
                  <a:srgbClr val="121212"/>
                </a:solidFill>
                <a:effectLst/>
                <a:latin typeface="-apple-system"/>
              </a:rPr>
              <a:t>是</a:t>
            </a:r>
            <a:r>
              <a:rPr lang="zh-CN" altLang="en-US" b="1" i="0" dirty="0">
                <a:solidFill>
                  <a:srgbClr val="121212"/>
                </a:solidFill>
                <a:effectLst/>
                <a:latin typeface="-apple-system"/>
              </a:rPr>
              <a:t>去唾液酸糖蛋白受体（</a:t>
            </a:r>
            <a:r>
              <a:rPr lang="en-US" altLang="zh-CN" b="1" i="0" dirty="0">
                <a:solidFill>
                  <a:srgbClr val="121212"/>
                </a:solidFill>
                <a:effectLst/>
                <a:latin typeface="-apple-system"/>
              </a:rPr>
              <a:t>ASGPR</a:t>
            </a:r>
            <a:r>
              <a:rPr lang="zh-CN" altLang="en-US" b="1" i="0" dirty="0">
                <a:solidFill>
                  <a:srgbClr val="121212"/>
                </a:solidFill>
                <a:effectLst/>
                <a:latin typeface="-apple-system"/>
              </a:rPr>
              <a:t>）配体。  　　</a:t>
            </a:r>
            <a:r>
              <a:rPr lang="en-US" altLang="zh-CN" b="0" i="0" dirty="0" err="1">
                <a:solidFill>
                  <a:srgbClr val="121212"/>
                </a:solidFill>
                <a:effectLst/>
                <a:latin typeface="-apple-system"/>
              </a:rPr>
              <a:t>Inclisiran</a:t>
            </a:r>
            <a:r>
              <a:rPr lang="zh-CN" altLang="en-US" b="0" i="0" dirty="0">
                <a:solidFill>
                  <a:srgbClr val="121212"/>
                </a:solidFill>
                <a:effectLst/>
                <a:latin typeface="-apple-system"/>
              </a:rPr>
              <a:t>中采用的就是 Ｇ</a:t>
            </a:r>
            <a:r>
              <a:rPr lang="en-US" altLang="zh-CN" b="0" i="0" dirty="0" err="1">
                <a:solidFill>
                  <a:srgbClr val="121212"/>
                </a:solidFill>
                <a:effectLst/>
                <a:latin typeface="-apple-system"/>
              </a:rPr>
              <a:t>alNAc</a:t>
            </a:r>
            <a:endParaRPr lang="en-US" altLang="zh-CN" b="0" i="0" dirty="0">
              <a:solidFill>
                <a:srgbClr val="121212"/>
              </a:solidFill>
              <a:effectLst/>
              <a:latin typeface="-apple-system"/>
            </a:endParaRPr>
          </a:p>
          <a:p>
            <a:endParaRPr lang="zh-CN" altLang="en-US" dirty="0"/>
          </a:p>
        </p:txBody>
      </p:sp>
      <p:sp>
        <p:nvSpPr>
          <p:cNvPr id="4" name="灯片编号占位符 3"/>
          <p:cNvSpPr>
            <a:spLocks noGrp="1"/>
          </p:cNvSpPr>
          <p:nvPr>
            <p:ph type="sldNum" sz="quarter" idx="5"/>
          </p:nvPr>
        </p:nvSpPr>
        <p:spPr/>
        <p:txBody>
          <a:bodyPr/>
          <a:lstStyle/>
          <a:p>
            <a:pPr>
              <a:defRPr/>
            </a:pPr>
            <a:fld id="{2A48E35A-2A6D-4F07-ADC0-EF8313D11530}" type="slidenum">
              <a:rPr lang="en-US" altLang="zh-CN" smtClean="0"/>
              <a:pPr>
                <a:defRPr/>
              </a:pPr>
              <a:t>110</a:t>
            </a:fld>
            <a:endParaRPr lang="en-US" altLang="zh-CN"/>
          </a:p>
        </p:txBody>
      </p:sp>
    </p:spTree>
    <p:extLst>
      <p:ext uri="{BB962C8B-B14F-4D97-AF65-F5344CB8AC3E}">
        <p14:creationId xmlns:p14="http://schemas.microsoft.com/office/powerpoint/2010/main" val="130701316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幻灯片图像占位符 1">
            <a:extLst>
              <a:ext uri="{FF2B5EF4-FFF2-40B4-BE49-F238E27FC236}">
                <a16:creationId xmlns:a16="http://schemas.microsoft.com/office/drawing/2014/main" id="{CE4B7AA7-C9AE-4A6F-8642-6E37CB051031}"/>
              </a:ext>
            </a:extLst>
          </p:cNvPr>
          <p:cNvSpPr>
            <a:spLocks noGrp="1" noRot="1" noChangeAspect="1" noChangeArrowheads="1" noTextEdit="1"/>
          </p:cNvSpPr>
          <p:nvPr>
            <p:ph type="sldImg"/>
          </p:nvPr>
        </p:nvSpPr>
        <p:spPr>
          <a:xfrm>
            <a:off x="381000" y="685800"/>
            <a:ext cx="6096000" cy="3429000"/>
          </a:xfrm>
          <a:ln/>
        </p:spPr>
      </p:sp>
      <p:sp>
        <p:nvSpPr>
          <p:cNvPr id="291843" name="备注占位符 2">
            <a:extLst>
              <a:ext uri="{FF2B5EF4-FFF2-40B4-BE49-F238E27FC236}">
                <a16:creationId xmlns:a16="http://schemas.microsoft.com/office/drawing/2014/main" id="{34D59C42-3D3A-436B-8BFD-A11E2F804CB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i="0" dirty="0">
                <a:effectLst/>
                <a:latin typeface="-apple-system-font"/>
              </a:rPr>
              <a:t>1998</a:t>
            </a:r>
            <a:r>
              <a:rPr lang="zh-CN" altLang="en-US" sz="1200" b="1" i="0" dirty="0">
                <a:effectLst/>
                <a:latin typeface="-apple-system-font"/>
              </a:rPr>
              <a:t>年</a:t>
            </a:r>
            <a:r>
              <a:rPr lang="en-US" altLang="zh-CN" sz="1200" b="0" i="0" dirty="0">
                <a:effectLst/>
                <a:latin typeface="-apple-system-font"/>
              </a:rPr>
              <a:t>2</a:t>
            </a:r>
            <a:r>
              <a:rPr lang="zh-CN" altLang="en-US" sz="1200" b="0" i="0" dirty="0">
                <a:effectLst/>
                <a:latin typeface="-apple-system-font"/>
              </a:rPr>
              <a:t>月</a:t>
            </a:r>
            <a:r>
              <a:rPr lang="en-US" altLang="zh-CN" sz="1200" b="0" i="0" dirty="0">
                <a:effectLst/>
                <a:latin typeface="-apple-system-font"/>
              </a:rPr>
              <a:t>19</a:t>
            </a:r>
            <a:r>
              <a:rPr lang="zh-CN" altLang="en-US" sz="1200" b="0" i="0" dirty="0">
                <a:effectLst/>
                <a:latin typeface="-apple-system-font"/>
              </a:rPr>
              <a:t>日，</a:t>
            </a:r>
            <a:r>
              <a:rPr lang="en-US" altLang="zh-CN" sz="1200" b="1" i="0" dirty="0">
                <a:effectLst/>
                <a:latin typeface="-apple-system-font"/>
              </a:rPr>
              <a:t>Andrew Z. Fire </a:t>
            </a:r>
            <a:r>
              <a:rPr lang="zh-CN" altLang="en-US" sz="1200" b="0" i="0" dirty="0">
                <a:effectLst/>
                <a:latin typeface="-apple-system-font"/>
              </a:rPr>
              <a:t>和 </a:t>
            </a:r>
            <a:r>
              <a:rPr lang="en-US" altLang="zh-CN" sz="1200" b="1" i="0" dirty="0">
                <a:effectLst/>
                <a:latin typeface="-apple-system-font"/>
              </a:rPr>
              <a:t>Craig C. Mello</a:t>
            </a:r>
            <a:r>
              <a:rPr lang="en-US" altLang="zh-CN" sz="1200" b="0" i="0" dirty="0">
                <a:effectLst/>
                <a:latin typeface="-apple-system-font"/>
              </a:rPr>
              <a:t> </a:t>
            </a:r>
            <a:r>
              <a:rPr lang="zh-CN" altLang="en-US" sz="1200" b="0" i="0" dirty="0">
                <a:effectLst/>
                <a:latin typeface="-apple-system-font"/>
              </a:rPr>
              <a:t>在 </a:t>
            </a:r>
            <a:r>
              <a:rPr lang="en-US" altLang="zh-CN" sz="1200" b="1" i="1" dirty="0">
                <a:effectLst/>
                <a:latin typeface="-apple-system-font"/>
              </a:rPr>
              <a:t>Nature</a:t>
            </a:r>
            <a:r>
              <a:rPr lang="en-US" altLang="zh-CN" sz="1200" b="0" i="0" dirty="0">
                <a:effectLst/>
                <a:latin typeface="-apple-system-font"/>
              </a:rPr>
              <a:t> </a:t>
            </a:r>
            <a:r>
              <a:rPr lang="zh-CN" altLang="en-US" sz="1200" b="0" i="0" dirty="0">
                <a:effectLst/>
                <a:latin typeface="-apple-system-font"/>
              </a:rPr>
              <a:t>杂志发表论文，在线虫中发现了</a:t>
            </a:r>
            <a:r>
              <a:rPr lang="en-US" altLang="zh-CN" sz="1200" b="1" i="0" dirty="0">
                <a:effectLst/>
                <a:latin typeface="-apple-system-font"/>
              </a:rPr>
              <a:t>RNA</a:t>
            </a:r>
            <a:r>
              <a:rPr lang="zh-CN" altLang="en-US" sz="1200" b="1" i="0" dirty="0">
                <a:effectLst/>
                <a:latin typeface="-apple-system-font"/>
              </a:rPr>
              <a:t>干扰</a:t>
            </a:r>
            <a:r>
              <a:rPr lang="zh-CN" altLang="en-US" sz="1200" b="0" i="0" dirty="0">
                <a:solidFill>
                  <a:srgbClr val="888888"/>
                </a:solidFill>
                <a:effectLst/>
                <a:latin typeface="-apple-system-font"/>
              </a:rPr>
              <a:t>（</a:t>
            </a:r>
            <a:r>
              <a:rPr lang="en-US" altLang="zh-CN" sz="1200" b="0" i="0" dirty="0">
                <a:solidFill>
                  <a:srgbClr val="D92142"/>
                </a:solidFill>
                <a:effectLst/>
                <a:latin typeface="-apple-system-font"/>
              </a:rPr>
              <a:t>RNAi</a:t>
            </a:r>
            <a:r>
              <a:rPr lang="zh-CN" altLang="en-US" sz="1200" b="0" i="0" dirty="0">
                <a:solidFill>
                  <a:srgbClr val="888888"/>
                </a:solidFill>
                <a:effectLst/>
                <a:latin typeface="-apple-system-font"/>
              </a:rPr>
              <a:t>）</a:t>
            </a:r>
            <a:r>
              <a:rPr lang="zh-CN" altLang="en-US" sz="1200" b="0" i="0" dirty="0">
                <a:effectLst/>
                <a:latin typeface="-apple-system-font"/>
              </a:rPr>
              <a:t>现象</a:t>
            </a:r>
            <a:endParaRPr lang="zh-CN" altLang="en-US" sz="1000" dirty="0"/>
          </a:p>
          <a:p>
            <a:endParaRPr lang="en-US" altLang="zh-CN" dirty="0"/>
          </a:p>
          <a:p>
            <a:r>
              <a:rPr lang="en-US" altLang="zh-CN" dirty="0"/>
              <a:t>1999</a:t>
            </a:r>
            <a:r>
              <a:rPr lang="zh-CN" altLang="en-US" dirty="0"/>
              <a:t>年</a:t>
            </a:r>
            <a:r>
              <a:rPr lang="en-US" altLang="zh-CN" dirty="0"/>
              <a:t>David </a:t>
            </a:r>
            <a:r>
              <a:rPr lang="en-US" altLang="zh-CN" dirty="0" err="1"/>
              <a:t>Baulcombe</a:t>
            </a:r>
            <a:r>
              <a:rPr lang="en-US" altLang="zh-CN" dirty="0"/>
              <a:t> </a:t>
            </a:r>
            <a:r>
              <a:rPr lang="zh-CN" altLang="en-US" dirty="0"/>
              <a:t>在植物中首次发现了</a:t>
            </a:r>
            <a:r>
              <a:rPr lang="en-US" altLang="zh-CN" dirty="0"/>
              <a:t>siRNA</a:t>
            </a:r>
            <a:r>
              <a:rPr lang="zh-CN" altLang="en-US" dirty="0"/>
              <a:t>，并通过细胞提取物核酸酶活性实验证实了</a:t>
            </a:r>
            <a:r>
              <a:rPr lang="en-US" altLang="zh-CN" dirty="0"/>
              <a:t>siRNA</a:t>
            </a:r>
            <a:r>
              <a:rPr lang="zh-CN" altLang="en-US" dirty="0"/>
              <a:t>在</a:t>
            </a:r>
            <a:r>
              <a:rPr lang="en-US" altLang="zh-CN" dirty="0"/>
              <a:t>RNAi</a:t>
            </a:r>
            <a:r>
              <a:rPr lang="zh-CN" altLang="en-US" dirty="0"/>
              <a:t>中的作用，即</a:t>
            </a:r>
            <a:r>
              <a:rPr lang="en-US" altLang="zh-CN" dirty="0"/>
              <a:t>siRNA</a:t>
            </a:r>
            <a:r>
              <a:rPr lang="zh-CN" altLang="en-US" dirty="0"/>
              <a:t>可沉默哺乳动物细胞中特定基因。</a:t>
            </a:r>
            <a:endParaRPr lang="en-US" altLang="zh-CN" dirty="0"/>
          </a:p>
          <a:p>
            <a:endParaRPr lang="en-US" altLang="zh-CN" dirty="0"/>
          </a:p>
        </p:txBody>
      </p:sp>
      <p:sp>
        <p:nvSpPr>
          <p:cNvPr id="291844" name="灯片编号占位符 3">
            <a:extLst>
              <a:ext uri="{FF2B5EF4-FFF2-40B4-BE49-F238E27FC236}">
                <a16:creationId xmlns:a16="http://schemas.microsoft.com/office/drawing/2014/main" id="{21C7932E-4320-4BC3-8E6D-EDA3960F0E2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33C79C5-C029-44AF-9C9C-B30AF701B9D3}" type="slidenum">
              <a:rPr lang="en-US" altLang="zh-CN" sz="1200" smtClean="0"/>
              <a:pPr/>
              <a:t>111</a:t>
            </a:fld>
            <a:endParaRPr lang="en-US" altLang="zh-CN" sz="120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b="1" dirty="0" err="1"/>
              <a:t>Ruvkun</a:t>
            </a:r>
            <a:r>
              <a:rPr lang="en-US" altLang="zh-CN" b="1" dirty="0"/>
              <a:t> discovered the mechanism </a:t>
            </a:r>
            <a:r>
              <a:rPr lang="en-US" altLang="zh-CN" dirty="0"/>
              <a:t>by which lin-4, </a:t>
            </a:r>
            <a:r>
              <a:rPr lang="en-US" altLang="zh-CN" b="1" dirty="0"/>
              <a:t>the first microRNA (miRNA) discovered in 1993 by Victor Ambros </a:t>
            </a:r>
            <a:r>
              <a:rPr lang="en-US" altLang="zh-CN" dirty="0"/>
              <a:t>, regulates the translation of target messenger RNAs via imperfect base-pairing to those targets, and discovered the second miRNA, let-7, and that it is conserved across animal phylogeny, including in humans.</a:t>
            </a:r>
          </a:p>
          <a:p>
            <a:endParaRPr lang="en-US" altLang="zh-CN" dirty="0"/>
          </a:p>
          <a:p>
            <a:r>
              <a:rPr lang="en-US" altLang="zh-CN" b="0" dirty="0"/>
              <a:t>In 2000, a second small RNA was characterized: let-7 RNA</a:t>
            </a:r>
          </a:p>
          <a:p>
            <a:endParaRPr lang="en-US" altLang="zh-CN" b="0" dirty="0"/>
          </a:p>
          <a:p>
            <a:r>
              <a:rPr lang="en-US" altLang="zh-CN" b="0" dirty="0"/>
              <a:t>The first human disease associated with deregulation of miRNAs was chronic lymphocytic leukemia. In this disorder, the miRNAs have a dual role working as both tumor suppressors and oncogenes.</a:t>
            </a:r>
          </a:p>
          <a:p>
            <a:endParaRPr lang="en-US" altLang="zh-CN" b="0" dirty="0"/>
          </a:p>
        </p:txBody>
      </p:sp>
      <p:sp>
        <p:nvSpPr>
          <p:cNvPr id="4" name="灯片编号占位符 3"/>
          <p:cNvSpPr>
            <a:spLocks noGrp="1"/>
          </p:cNvSpPr>
          <p:nvPr>
            <p:ph type="sldNum" sz="quarter" idx="5"/>
          </p:nvPr>
        </p:nvSpPr>
        <p:spPr/>
        <p:txBody>
          <a:bodyPr/>
          <a:lstStyle/>
          <a:p>
            <a:pPr>
              <a:defRPr/>
            </a:pPr>
            <a:fld id="{2A48E35A-2A6D-4F07-ADC0-EF8313D11530}" type="slidenum">
              <a:rPr lang="en-US" altLang="zh-CN" smtClean="0"/>
              <a:pPr>
                <a:defRPr/>
              </a:pPr>
              <a:t>112</a:t>
            </a:fld>
            <a:endParaRPr lang="en-US" altLang="zh-CN"/>
          </a:p>
        </p:txBody>
      </p:sp>
    </p:spTree>
    <p:extLst>
      <p:ext uri="{BB962C8B-B14F-4D97-AF65-F5344CB8AC3E}">
        <p14:creationId xmlns:p14="http://schemas.microsoft.com/office/powerpoint/2010/main" val="37986018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幻灯片图像占位符 1">
            <a:extLst>
              <a:ext uri="{FF2B5EF4-FFF2-40B4-BE49-F238E27FC236}">
                <a16:creationId xmlns:a16="http://schemas.microsoft.com/office/drawing/2014/main" id="{8592E15E-BA72-42F7-871C-8DE384BF8602}"/>
              </a:ext>
            </a:extLst>
          </p:cNvPr>
          <p:cNvSpPr>
            <a:spLocks noGrp="1" noRot="1" noChangeAspect="1" noChangeArrowheads="1" noTextEdit="1"/>
          </p:cNvSpPr>
          <p:nvPr>
            <p:ph type="sldImg"/>
          </p:nvPr>
        </p:nvSpPr>
        <p:spPr>
          <a:xfrm>
            <a:off x="381000" y="685800"/>
            <a:ext cx="6096000" cy="3429000"/>
          </a:xfrm>
          <a:ln/>
        </p:spPr>
      </p:sp>
      <p:sp>
        <p:nvSpPr>
          <p:cNvPr id="293891" name="备注占位符 2">
            <a:extLst>
              <a:ext uri="{FF2B5EF4-FFF2-40B4-BE49-F238E27FC236}">
                <a16:creationId xmlns:a16="http://schemas.microsoft.com/office/drawing/2014/main" id="{198C26A2-4B32-4E74-9D95-B7001ED21B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2002</a:t>
            </a:r>
            <a:r>
              <a:rPr lang="zh-CN" altLang="en-US" dirty="0"/>
              <a:t>年，</a:t>
            </a:r>
            <a:r>
              <a:rPr lang="en-US" altLang="zh-CN" dirty="0"/>
              <a:t>Okazaki</a:t>
            </a:r>
            <a:r>
              <a:rPr lang="zh-CN" altLang="en-US" dirty="0"/>
              <a:t>等在对小鼠全长互补 </a:t>
            </a:r>
            <a:r>
              <a:rPr lang="en-US" altLang="zh-CN" dirty="0"/>
              <a:t>DNA</a:t>
            </a:r>
            <a:r>
              <a:rPr lang="zh-CN" altLang="en-US" dirty="0"/>
              <a:t>文库的大规模测序过程中，首次发现了一类新的转录物</a:t>
            </a:r>
            <a:r>
              <a:rPr lang="en-US" altLang="zh-CN" dirty="0"/>
              <a:t>—— </a:t>
            </a:r>
            <a:r>
              <a:rPr lang="en-US" altLang="zh-CN" dirty="0" err="1"/>
              <a:t>lnc</a:t>
            </a:r>
            <a:r>
              <a:rPr lang="en-US" altLang="zh-CN" dirty="0"/>
              <a:t> RNA( long non-coding RNA)</a:t>
            </a:r>
            <a:r>
              <a:rPr lang="zh-CN" altLang="en-US" dirty="0"/>
              <a:t>。         </a:t>
            </a:r>
            <a:r>
              <a:rPr lang="en-US" altLang="zh-CN" dirty="0" err="1"/>
              <a:t>Okazak</a:t>
            </a:r>
            <a:r>
              <a:rPr lang="en-US" altLang="zh-CN" dirty="0"/>
              <a:t> </a:t>
            </a:r>
            <a:r>
              <a:rPr lang="en-US" altLang="zh-CN" dirty="0" err="1"/>
              <a:t>iY</a:t>
            </a:r>
            <a:r>
              <a:rPr lang="en-US" altLang="zh-CN" dirty="0"/>
              <a:t>, Furuno M, </a:t>
            </a:r>
            <a:r>
              <a:rPr lang="en-US" altLang="zh-CN" dirty="0" err="1"/>
              <a:t>Kasukawa</a:t>
            </a:r>
            <a:r>
              <a:rPr lang="en-US" altLang="zh-CN" dirty="0"/>
              <a:t> T , Adachi J , Bono H, Kondo S, </a:t>
            </a:r>
            <a:r>
              <a:rPr lang="en-US" altLang="zh-CN" dirty="0" err="1"/>
              <a:t>etal</a:t>
            </a:r>
            <a:r>
              <a:rPr lang="en-US" altLang="zh-CN" dirty="0"/>
              <a:t>.  Analysis of the mouse transcriptome based on functional  annotation of 60 , 770 full- length cDNAs[ J] . Nature , 2002 , 420 : 563 -573.</a:t>
            </a:r>
          </a:p>
          <a:p>
            <a:endParaRPr lang="zh-CN" altLang="en-US" dirty="0"/>
          </a:p>
          <a:p>
            <a:r>
              <a:rPr lang="zh-CN" altLang="en-US" dirty="0"/>
              <a:t>目前，相对于</a:t>
            </a:r>
            <a:r>
              <a:rPr lang="en-US" altLang="zh-CN" dirty="0"/>
              <a:t>miRNA</a:t>
            </a:r>
            <a:r>
              <a:rPr lang="zh-CN" altLang="en-US" dirty="0"/>
              <a:t>和</a:t>
            </a:r>
            <a:r>
              <a:rPr lang="en-US" altLang="zh-CN" dirty="0"/>
              <a:t>siRNA</a:t>
            </a:r>
            <a:r>
              <a:rPr lang="zh-CN" altLang="en-US" dirty="0"/>
              <a:t>等小非编码ＲＮＡ，研究人员对</a:t>
            </a:r>
            <a:r>
              <a:rPr lang="en-US" altLang="zh-CN" dirty="0"/>
              <a:t>lncRNA</a:t>
            </a:r>
            <a:r>
              <a:rPr lang="zh-CN" altLang="en-US" dirty="0"/>
              <a:t>的认识相当有限。</a:t>
            </a:r>
            <a:endParaRPr lang="en-US" altLang="zh-CN" dirty="0"/>
          </a:p>
          <a:p>
            <a:endParaRPr lang="en-US" altLang="zh-CN" dirty="0"/>
          </a:p>
          <a:p>
            <a:r>
              <a:rPr lang="en-US" altLang="zh-CN" dirty="0"/>
              <a:t>List of long non-coding RNA databases</a:t>
            </a:r>
            <a:r>
              <a:rPr lang="zh-CN" altLang="en-US" dirty="0"/>
              <a:t>： </a:t>
            </a:r>
            <a:r>
              <a:rPr lang="en-US" altLang="zh-CN" dirty="0"/>
              <a:t>https://en.wikipedia.org/wiki/List_of_long_non-coding_RNA_databases</a:t>
            </a:r>
          </a:p>
          <a:p>
            <a:endParaRPr lang="en-US" altLang="zh-CN" dirty="0"/>
          </a:p>
          <a:p>
            <a:r>
              <a:rPr lang="zh-CN" altLang="en-US" dirty="0"/>
              <a:t>对环状</a:t>
            </a:r>
            <a:r>
              <a:rPr lang="en-US" altLang="zh-CN" dirty="0"/>
              <a:t>RNA</a:t>
            </a:r>
            <a:r>
              <a:rPr lang="zh-CN" altLang="en-US" dirty="0"/>
              <a:t>的了解更少。  </a:t>
            </a:r>
            <a:r>
              <a:rPr lang="en-US" altLang="zh-CN" dirty="0" err="1"/>
              <a:t>circRNA</a:t>
            </a:r>
            <a:r>
              <a:rPr lang="en-US" altLang="zh-CN" dirty="0"/>
              <a:t> database:   http://www.picb.ac.cn/rnomics/circpedia/ </a:t>
            </a:r>
          </a:p>
          <a:p>
            <a:endParaRPr lang="en-US" altLang="zh-CN" dirty="0"/>
          </a:p>
          <a:p>
            <a:endParaRPr lang="zh-CN" altLang="en-US" dirty="0"/>
          </a:p>
        </p:txBody>
      </p:sp>
      <p:sp>
        <p:nvSpPr>
          <p:cNvPr id="293892" name="灯片编号占位符 3">
            <a:extLst>
              <a:ext uri="{FF2B5EF4-FFF2-40B4-BE49-F238E27FC236}">
                <a16:creationId xmlns:a16="http://schemas.microsoft.com/office/drawing/2014/main" id="{C1BEA08A-7932-4A9B-933D-56B161071CC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3CC7591-986D-4BA9-BA23-D9E4742C175C}" type="slidenum">
              <a:rPr lang="en-US" altLang="zh-CN" sz="1200" smtClean="0"/>
              <a:pPr/>
              <a:t>113</a:t>
            </a:fld>
            <a:endParaRPr lang="en-US" altLang="zh-CN" sz="120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核酶发现于上世纪八十年代初</a:t>
            </a:r>
            <a:endParaRPr lang="en-US" altLang="zh-CN" dirty="0"/>
          </a:p>
          <a:p>
            <a:endParaRPr lang="en-US" altLang="zh-CN" dirty="0"/>
          </a:p>
          <a:p>
            <a:r>
              <a:rPr lang="en-US" altLang="zh-CN" dirty="0"/>
              <a:t>The best-characterized ribozymes are the self-splicing group I introns, RNase P, and the hammerhead ribozyme (discussed below). </a:t>
            </a:r>
          </a:p>
          <a:p>
            <a:r>
              <a:rPr lang="en-US" altLang="zh-CN" dirty="0"/>
              <a:t>Most of the activities of these ribozymes are </a:t>
            </a:r>
            <a:r>
              <a:rPr lang="en-US" altLang="zh-CN" b="1" dirty="0"/>
              <a:t>based on two fundamental reactions: transesterification </a:t>
            </a:r>
            <a:r>
              <a:rPr lang="en-US" altLang="zh-CN" dirty="0"/>
              <a:t>(Fig. 26-14) and </a:t>
            </a:r>
            <a:r>
              <a:rPr lang="en-US" altLang="zh-CN" b="1" dirty="0"/>
              <a:t>phosphodiester bond hydrolysis </a:t>
            </a:r>
            <a:r>
              <a:rPr lang="en-US" altLang="zh-CN" dirty="0"/>
              <a:t>(cleavage). The substrate for a ribozyme is often an RNA molecule, and it may even be part of the ribozyme itself. When its substrate is RNA, the RNA catalyst can make use of base-pairing interactions to align the substrate for the reaction.</a:t>
            </a:r>
          </a:p>
          <a:p>
            <a:endParaRPr lang="en-US" altLang="zh-CN" dirty="0"/>
          </a:p>
          <a:p>
            <a:r>
              <a:rPr lang="zh-CN" altLang="en-US" dirty="0"/>
              <a:t>锤头状核酶（</a:t>
            </a:r>
            <a:r>
              <a:rPr lang="en-US" altLang="zh-CN" dirty="0"/>
              <a:t>hammerhead ribozyme</a:t>
            </a:r>
            <a:r>
              <a:rPr lang="zh-CN" altLang="en-US" dirty="0"/>
              <a:t>，</a:t>
            </a:r>
            <a:r>
              <a:rPr lang="en-US" altLang="zh-CN" dirty="0"/>
              <a:t>HHR</a:t>
            </a:r>
            <a:r>
              <a:rPr lang="zh-CN" altLang="en-US" dirty="0"/>
              <a:t>）</a:t>
            </a:r>
            <a:endParaRPr lang="en-US" altLang="zh-CN" dirty="0"/>
          </a:p>
          <a:p>
            <a:r>
              <a:rPr lang="zh-CN" altLang="en-US" dirty="0"/>
              <a:t>发夹状核酶（</a:t>
            </a:r>
            <a:r>
              <a:rPr lang="en-US" altLang="zh-CN" dirty="0"/>
              <a:t>hairpin ribozyme</a:t>
            </a:r>
            <a:r>
              <a:rPr lang="zh-CN" altLang="en-US" dirty="0"/>
              <a:t>）</a:t>
            </a:r>
          </a:p>
        </p:txBody>
      </p:sp>
      <p:sp>
        <p:nvSpPr>
          <p:cNvPr id="4" name="灯片编号占位符 3"/>
          <p:cNvSpPr>
            <a:spLocks noGrp="1"/>
          </p:cNvSpPr>
          <p:nvPr>
            <p:ph type="sldNum" sz="quarter" idx="5"/>
          </p:nvPr>
        </p:nvSpPr>
        <p:spPr/>
        <p:txBody>
          <a:bodyPr/>
          <a:lstStyle/>
          <a:p>
            <a:pPr>
              <a:defRPr/>
            </a:pPr>
            <a:fld id="{2A48E35A-2A6D-4F07-ADC0-EF8313D11530}" type="slidenum">
              <a:rPr lang="en-US" altLang="zh-CN" smtClean="0"/>
              <a:pPr>
                <a:defRPr/>
              </a:pPr>
              <a:t>114</a:t>
            </a:fld>
            <a:endParaRPr lang="en-US" altLang="zh-CN"/>
          </a:p>
        </p:txBody>
      </p:sp>
    </p:spTree>
    <p:extLst>
      <p:ext uri="{BB962C8B-B14F-4D97-AF65-F5344CB8AC3E}">
        <p14:creationId xmlns:p14="http://schemas.microsoft.com/office/powerpoint/2010/main" val="245998866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1031">
            <a:extLst>
              <a:ext uri="{FF2B5EF4-FFF2-40B4-BE49-F238E27FC236}">
                <a16:creationId xmlns:a16="http://schemas.microsoft.com/office/drawing/2014/main" id="{92B534B2-452A-45B1-9001-CDA520267F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82D58371-06B1-4FD1-9F3B-AA3808E53A2F}" type="slidenum">
              <a:rPr lang="en-US" altLang="zh-CN" smtClean="0"/>
              <a:pPr>
                <a:spcBef>
                  <a:spcPct val="0"/>
                </a:spcBef>
              </a:pPr>
              <a:t>115</a:t>
            </a:fld>
            <a:endParaRPr lang="en-US" altLang="zh-CN"/>
          </a:p>
        </p:txBody>
      </p:sp>
      <p:sp>
        <p:nvSpPr>
          <p:cNvPr id="279555" name="Rectangle 2">
            <a:extLst>
              <a:ext uri="{FF2B5EF4-FFF2-40B4-BE49-F238E27FC236}">
                <a16:creationId xmlns:a16="http://schemas.microsoft.com/office/drawing/2014/main" id="{3A26780F-6874-4D9F-8116-717F7D23DE5D}"/>
              </a:ext>
            </a:extLst>
          </p:cNvPr>
          <p:cNvSpPr>
            <a:spLocks noGrp="1" noRot="1" noChangeAspect="1" noChangeArrowheads="1" noTextEdit="1"/>
          </p:cNvSpPr>
          <p:nvPr>
            <p:ph type="sldImg"/>
          </p:nvPr>
        </p:nvSpPr>
        <p:spPr>
          <a:xfrm>
            <a:off x="381000" y="685800"/>
            <a:ext cx="6096000" cy="3429000"/>
          </a:xfrm>
          <a:ln/>
        </p:spPr>
      </p:sp>
      <p:sp>
        <p:nvSpPr>
          <p:cNvPr id="279556" name="Rectangle 3">
            <a:extLst>
              <a:ext uri="{FF2B5EF4-FFF2-40B4-BE49-F238E27FC236}">
                <a16:creationId xmlns:a16="http://schemas.microsoft.com/office/drawing/2014/main" id="{55EB8B5F-4EB4-4739-B6FD-F7A05471A4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Which came first, DNA or protein? </a:t>
            </a:r>
            <a:r>
              <a:rPr lang="en-US" altLang="zh-CN" b="1" dirty="0"/>
              <a:t>The answer may be that they appeared about the same time</a:t>
            </a:r>
            <a:r>
              <a:rPr lang="en-US" altLang="zh-CN" dirty="0"/>
              <a:t>, and </a:t>
            </a:r>
            <a:r>
              <a:rPr lang="en-US" altLang="zh-CN" b="1" dirty="0"/>
              <a:t>RNA preceded them both</a:t>
            </a:r>
            <a:r>
              <a:rPr lang="en-US" altLang="zh-CN" dirty="0"/>
              <a:t>. RNA or related precursors may have been the first genes and catalysts.</a:t>
            </a:r>
          </a:p>
          <a:p>
            <a:r>
              <a:rPr lang="zh-CN" altLang="en-US" dirty="0"/>
              <a:t>构成生命的三种生物大分子：</a:t>
            </a:r>
            <a:r>
              <a:rPr lang="en-US" altLang="zh-CN" dirty="0"/>
              <a:t>DNA</a:t>
            </a:r>
            <a:r>
              <a:rPr lang="zh-CN" altLang="en-US" dirty="0"/>
              <a:t>、</a:t>
            </a:r>
            <a:r>
              <a:rPr lang="en-US" altLang="zh-CN" dirty="0"/>
              <a:t>RNA</a:t>
            </a:r>
            <a:r>
              <a:rPr lang="zh-CN" altLang="en-US" dirty="0"/>
              <a:t>和蛋白质。</a:t>
            </a:r>
          </a:p>
          <a:p>
            <a:r>
              <a:rPr lang="en-US" altLang="zh-CN" dirty="0"/>
              <a:t>RNA</a:t>
            </a:r>
            <a:r>
              <a:rPr lang="zh-CN" altLang="en-US" dirty="0"/>
              <a:t>被认为是最初生命形成的开始</a:t>
            </a:r>
            <a:r>
              <a:rPr lang="en-US" altLang="zh-CN" dirty="0"/>
              <a:t>---</a:t>
            </a:r>
            <a:r>
              <a:rPr lang="zh-CN" altLang="en-US" dirty="0"/>
              <a:t>因为</a:t>
            </a:r>
            <a:r>
              <a:rPr lang="en-US" altLang="zh-CN" dirty="0"/>
              <a:t>RNA</a:t>
            </a:r>
            <a:r>
              <a:rPr lang="zh-CN" altLang="en-US" dirty="0"/>
              <a:t>既能像</a:t>
            </a:r>
            <a:r>
              <a:rPr lang="en-US" altLang="zh-CN" dirty="0"/>
              <a:t>DNA</a:t>
            </a:r>
            <a:r>
              <a:rPr lang="zh-CN" altLang="en-US" dirty="0"/>
              <a:t>一样承载遗传信息，又能像蛋白质一样起到酶的作用。</a:t>
            </a:r>
          </a:p>
          <a:p>
            <a:endParaRPr lang="en-US" altLang="zh-CN" dirty="0"/>
          </a:p>
          <a:p>
            <a:r>
              <a:rPr lang="en-US" altLang="zh-CN" dirty="0"/>
              <a:t>The remarkable discovery that in the protein-synthesizing machinery of modern cells (ribosomes), RNA molecules, not proteins, catalyze the formation of peptide bonds is consistent with the </a:t>
            </a:r>
            <a:r>
              <a:rPr lang="en-US" altLang="zh-CN" b="1" dirty="0"/>
              <a:t>RNA world hypothesis.</a:t>
            </a:r>
          </a:p>
          <a:p>
            <a:endParaRPr lang="en-US" altLang="zh-CN" b="0" dirty="0"/>
          </a:p>
          <a:p>
            <a:r>
              <a:rPr lang="en-US" altLang="zh-CN" b="0" dirty="0"/>
              <a:t>The parallel demands for information and catalysis present a classic conundrum: what came first, the information needed to specify structure or the enzymes needed to maintain and transmit </a:t>
            </a:r>
            <a:r>
              <a:rPr lang="en-US" altLang="zh-CN" b="0" dirty="0" err="1"/>
              <a:t>theinformation</a:t>
            </a:r>
            <a:r>
              <a:rPr lang="en-US" altLang="zh-CN" b="0" dirty="0"/>
              <a:t>?   </a:t>
            </a:r>
            <a:endParaRPr lang="zh-CN" altLang="en-US" b="0" dirty="0"/>
          </a:p>
        </p:txBody>
      </p:sp>
    </p:spTree>
    <p:extLst>
      <p:ext uri="{BB962C8B-B14F-4D97-AF65-F5344CB8AC3E}">
        <p14:creationId xmlns:p14="http://schemas.microsoft.com/office/powerpoint/2010/main" val="157062091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a:extLst>
              <a:ext uri="{FF2B5EF4-FFF2-40B4-BE49-F238E27FC236}">
                <a16:creationId xmlns:a16="http://schemas.microsoft.com/office/drawing/2014/main" id="{837F21CA-F1FE-46C6-9655-7844879F4E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21233E8-489D-4DDC-B039-172682D7B785}" type="slidenum">
              <a:rPr lang="en-US" altLang="zh-CN" smtClean="0"/>
              <a:pPr>
                <a:spcBef>
                  <a:spcPct val="0"/>
                </a:spcBef>
              </a:pPr>
              <a:t>116</a:t>
            </a:fld>
            <a:endParaRPr lang="en-US" altLang="zh-CN"/>
          </a:p>
        </p:txBody>
      </p:sp>
      <p:sp>
        <p:nvSpPr>
          <p:cNvPr id="281603" name="Rectangle 2">
            <a:extLst>
              <a:ext uri="{FF2B5EF4-FFF2-40B4-BE49-F238E27FC236}">
                <a16:creationId xmlns:a16="http://schemas.microsoft.com/office/drawing/2014/main" id="{DB1F777E-FA38-4DFA-9D19-F29936259900}"/>
              </a:ext>
            </a:extLst>
          </p:cNvPr>
          <p:cNvSpPr>
            <a:spLocks noGrp="1" noRot="1" noChangeAspect="1" noChangeArrowheads="1" noTextEdit="1"/>
          </p:cNvSpPr>
          <p:nvPr>
            <p:ph type="sldImg"/>
          </p:nvPr>
        </p:nvSpPr>
        <p:spPr>
          <a:xfrm>
            <a:off x="381000" y="685800"/>
            <a:ext cx="6096000" cy="3429000"/>
          </a:xfrm>
          <a:ln/>
        </p:spPr>
      </p:sp>
      <p:sp>
        <p:nvSpPr>
          <p:cNvPr id="281604" name="Rectangle 3">
            <a:extLst>
              <a:ext uri="{FF2B5EF4-FFF2-40B4-BE49-F238E27FC236}">
                <a16:creationId xmlns:a16="http://schemas.microsoft.com/office/drawing/2014/main" id="{BDEE50E0-FAFC-45F8-9361-B730615E5E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1982,  </a:t>
            </a:r>
            <a:r>
              <a:rPr lang="en-US" altLang="zh-CN" dirty="0" err="1"/>
              <a:t>T.Cech</a:t>
            </a:r>
            <a:r>
              <a:rPr lang="zh-CN" altLang="en-US" dirty="0"/>
              <a:t>和</a:t>
            </a:r>
            <a:r>
              <a:rPr lang="en-US" altLang="zh-CN" dirty="0" err="1"/>
              <a:t>S.Altman</a:t>
            </a:r>
            <a:r>
              <a:rPr lang="zh-CN" altLang="en-US" dirty="0"/>
              <a:t>各自独立地发现</a:t>
            </a:r>
            <a:r>
              <a:rPr lang="en-US" altLang="zh-CN" dirty="0"/>
              <a:t>RNA</a:t>
            </a:r>
            <a:r>
              <a:rPr lang="zh-CN" altLang="en-US" dirty="0"/>
              <a:t>具有催化作用。从而改变了生物催化剂的传统概念。为此他们共同获得了</a:t>
            </a:r>
            <a:r>
              <a:rPr lang="en-US" altLang="zh-CN" dirty="0"/>
              <a:t>1989</a:t>
            </a:r>
            <a:r>
              <a:rPr lang="zh-CN" altLang="en-US" dirty="0"/>
              <a:t>年</a:t>
            </a:r>
            <a:r>
              <a:rPr lang="en-US" altLang="zh-CN" dirty="0"/>
              <a:t>Nobel</a:t>
            </a:r>
            <a:r>
              <a:rPr lang="zh-CN" altLang="en-US" dirty="0"/>
              <a:t>化学奖。</a:t>
            </a:r>
            <a:endParaRPr lang="en-US" altLang="zh-CN" dirty="0"/>
          </a:p>
          <a:p>
            <a:pPr eaLnBrk="1" hangingPunct="1"/>
            <a:r>
              <a:rPr lang="en-US" altLang="zh-CN" dirty="0"/>
              <a:t>Cech</a:t>
            </a:r>
            <a:r>
              <a:rPr lang="zh-CN" altLang="en-US" dirty="0"/>
              <a:t>于</a:t>
            </a:r>
            <a:r>
              <a:rPr lang="en-US" altLang="zh-CN" dirty="0"/>
              <a:t>1982</a:t>
            </a:r>
            <a:r>
              <a:rPr lang="zh-CN" altLang="en-US" dirty="0"/>
              <a:t>年提出核酶</a:t>
            </a:r>
            <a:r>
              <a:rPr lang="en-US" altLang="zh-CN" dirty="0"/>
              <a:t>ribozyme</a:t>
            </a:r>
            <a:r>
              <a:rPr lang="zh-CN" altLang="en-US" dirty="0"/>
              <a:t>概念。</a:t>
            </a:r>
          </a:p>
          <a:p>
            <a:pPr eaLnBrk="1" hangingPunct="1"/>
            <a:r>
              <a:rPr lang="zh-CN" altLang="en-US" dirty="0"/>
              <a:t>　　</a:t>
            </a:r>
            <a:endParaRPr lang="en-US" altLang="zh-CN" dirty="0"/>
          </a:p>
        </p:txBody>
      </p:sp>
    </p:spTree>
    <p:extLst>
      <p:ext uri="{BB962C8B-B14F-4D97-AF65-F5344CB8AC3E}">
        <p14:creationId xmlns:p14="http://schemas.microsoft.com/office/powerpoint/2010/main" val="178979901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1031">
            <a:extLst>
              <a:ext uri="{FF2B5EF4-FFF2-40B4-BE49-F238E27FC236}">
                <a16:creationId xmlns:a16="http://schemas.microsoft.com/office/drawing/2014/main" id="{8C429F0A-2465-491C-9BEB-D68D684663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066D5DE-615E-45F5-B056-3F39CED60EB6}" type="slidenum">
              <a:rPr lang="en-US" altLang="zh-CN" smtClean="0"/>
              <a:pPr>
                <a:spcBef>
                  <a:spcPct val="0"/>
                </a:spcBef>
              </a:pPr>
              <a:t>117</a:t>
            </a:fld>
            <a:endParaRPr lang="en-US" altLang="zh-CN"/>
          </a:p>
        </p:txBody>
      </p:sp>
      <p:sp>
        <p:nvSpPr>
          <p:cNvPr id="299011" name="Rectangle 2">
            <a:extLst>
              <a:ext uri="{FF2B5EF4-FFF2-40B4-BE49-F238E27FC236}">
                <a16:creationId xmlns:a16="http://schemas.microsoft.com/office/drawing/2014/main" id="{0D19153F-085E-4507-8AA4-50EFD0948E90}"/>
              </a:ext>
            </a:extLst>
          </p:cNvPr>
          <p:cNvSpPr>
            <a:spLocks noGrp="1" noRot="1" noChangeAspect="1" noChangeArrowheads="1" noTextEdit="1"/>
          </p:cNvSpPr>
          <p:nvPr>
            <p:ph type="sldImg"/>
          </p:nvPr>
        </p:nvSpPr>
        <p:spPr>
          <a:xfrm>
            <a:off x="381000" y="685800"/>
            <a:ext cx="6096000" cy="3429000"/>
          </a:xfrm>
          <a:ln/>
        </p:spPr>
      </p:sp>
      <p:sp>
        <p:nvSpPr>
          <p:cNvPr id="299012" name="Rectangle 3">
            <a:extLst>
              <a:ext uri="{FF2B5EF4-FFF2-40B4-BE49-F238E27FC236}">
                <a16:creationId xmlns:a16="http://schemas.microsoft.com/office/drawing/2014/main" id="{5660CDEB-9E33-4DB1-B3AC-3AF58FAFC7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核酸的性质是由其结构决定的。核酸的结构特点是分子大</a:t>
            </a:r>
            <a:r>
              <a:rPr lang="en-US" altLang="zh-CN" dirty="0">
                <a:latin typeface="宋体" panose="02010600030101010101" pitchFamily="2" charset="-122"/>
              </a:rPr>
              <a:t>, </a:t>
            </a:r>
            <a:r>
              <a:rPr lang="zh-CN" altLang="en-US" dirty="0">
                <a:latin typeface="宋体" panose="02010600030101010101" pitchFamily="2" charset="-122"/>
              </a:rPr>
              <a:t>有一些可解离的基团</a:t>
            </a:r>
            <a:r>
              <a:rPr lang="en-US" altLang="zh-CN" dirty="0">
                <a:latin typeface="宋体" panose="02010600030101010101" pitchFamily="2" charset="-122"/>
              </a:rPr>
              <a:t>,</a:t>
            </a:r>
            <a:r>
              <a:rPr lang="zh-CN" altLang="en-US" dirty="0">
                <a:latin typeface="宋体" panose="02010600030101010101" pitchFamily="2" charset="-122"/>
              </a:rPr>
              <a:t>具有共轭双键等</a:t>
            </a:r>
            <a:r>
              <a:rPr lang="en-US" altLang="zh-CN" dirty="0">
                <a:latin typeface="宋体" panose="02010600030101010101" pitchFamily="2" charset="-122"/>
              </a:rPr>
              <a:t>.</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1031">
            <a:extLst>
              <a:ext uri="{FF2B5EF4-FFF2-40B4-BE49-F238E27FC236}">
                <a16:creationId xmlns:a16="http://schemas.microsoft.com/office/drawing/2014/main" id="{F7164730-E550-4375-B1E8-4CFDE43E80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145AE85-25DE-4DC3-80D2-4F2063ACF6C5}" type="slidenum">
              <a:rPr lang="en-US" altLang="zh-CN" smtClean="0"/>
              <a:pPr>
                <a:spcBef>
                  <a:spcPct val="0"/>
                </a:spcBef>
              </a:pPr>
              <a:t>118</a:t>
            </a:fld>
            <a:endParaRPr lang="en-US" altLang="zh-CN"/>
          </a:p>
        </p:txBody>
      </p:sp>
      <p:sp>
        <p:nvSpPr>
          <p:cNvPr id="301059" name="Rectangle 2">
            <a:extLst>
              <a:ext uri="{FF2B5EF4-FFF2-40B4-BE49-F238E27FC236}">
                <a16:creationId xmlns:a16="http://schemas.microsoft.com/office/drawing/2014/main" id="{2200AA57-EBC4-49F7-AC68-B344FB05D354}"/>
              </a:ext>
            </a:extLst>
          </p:cNvPr>
          <p:cNvSpPr>
            <a:spLocks noGrp="1" noRot="1" noChangeAspect="1" noChangeArrowheads="1" noTextEdit="1"/>
          </p:cNvSpPr>
          <p:nvPr>
            <p:ph type="sldImg"/>
          </p:nvPr>
        </p:nvSpPr>
        <p:spPr>
          <a:xfrm>
            <a:off x="381000" y="685800"/>
            <a:ext cx="6096000" cy="3429000"/>
          </a:xfrm>
          <a:ln/>
        </p:spPr>
      </p:sp>
      <p:sp>
        <p:nvSpPr>
          <p:cNvPr id="301060" name="Rectangle 3">
            <a:extLst>
              <a:ext uri="{FF2B5EF4-FFF2-40B4-BE49-F238E27FC236}">
                <a16:creationId xmlns:a16="http://schemas.microsoft.com/office/drawing/2014/main" id="{C402124C-BC2D-4967-A1C3-ED5D663A0F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①</a:t>
            </a:r>
            <a:r>
              <a:rPr lang="zh-CN" altLang="en-US" dirty="0">
                <a:latin typeface="宋体" panose="02010600030101010101" pitchFamily="2" charset="-122"/>
              </a:rPr>
              <a:t>核酸为多元酸，具有较强的酸性。</a:t>
            </a:r>
            <a:r>
              <a:rPr lang="zh-CN" altLang="en-US" dirty="0"/>
              <a:t>②</a:t>
            </a:r>
            <a:r>
              <a:rPr lang="en-US" altLang="zh-CN" dirty="0"/>
              <a:t>DNA</a:t>
            </a:r>
            <a:r>
              <a:rPr lang="zh-CN" altLang="en-US" dirty="0">
                <a:latin typeface="宋体" panose="02010600030101010101" pitchFamily="2" charset="-122"/>
              </a:rPr>
              <a:t>是线性高分子，粘度极大，在机械力作用下易断裂，因此提取</a:t>
            </a:r>
            <a:r>
              <a:rPr lang="en-US" altLang="zh-CN" dirty="0"/>
              <a:t>DNA</a:t>
            </a:r>
            <a:r>
              <a:rPr lang="zh-CN" altLang="en-US" dirty="0">
                <a:latin typeface="宋体" panose="02010600030101010101" pitchFamily="2" charset="-122"/>
              </a:rPr>
              <a:t>过程中应注意不能过度用力，比如剧烈震荡吹打等。核酸的水溶液粘度很大，粘度</a:t>
            </a:r>
            <a:r>
              <a:rPr lang="en-US" altLang="zh-CN" dirty="0">
                <a:latin typeface="宋体" panose="02010600030101010101" pitchFamily="2" charset="-122"/>
              </a:rPr>
              <a:t>DNA</a:t>
            </a:r>
            <a:r>
              <a:rPr lang="zh-CN" altLang="en-US" dirty="0">
                <a:latin typeface="宋体" panose="02010600030101010101" pitchFamily="2" charset="-122"/>
              </a:rPr>
              <a:t>大于</a:t>
            </a:r>
            <a:r>
              <a:rPr lang="en-US" altLang="zh-CN" dirty="0">
                <a:latin typeface="宋体" panose="02010600030101010101" pitchFamily="2" charset="-122"/>
              </a:rPr>
              <a:t>RNA</a:t>
            </a:r>
            <a:r>
              <a:rPr lang="zh-CN" altLang="en-US" dirty="0">
                <a:latin typeface="宋体" panose="02010600030101010101" pitchFamily="2" charset="-122"/>
              </a:rPr>
              <a:t>。</a:t>
            </a:r>
            <a:r>
              <a:rPr lang="zh-CN" altLang="en-US" dirty="0"/>
              <a:t> </a:t>
            </a:r>
            <a:endParaRPr lang="en-US" altLang="zh-CN" dirty="0"/>
          </a:p>
          <a:p>
            <a:pPr eaLnBrk="1" hangingPunct="1"/>
            <a:endParaRPr lang="zh-CN" altLang="en-US" dirty="0"/>
          </a:p>
          <a:p>
            <a:pPr eaLnBrk="1" hangingPunct="1"/>
            <a:r>
              <a:rPr lang="zh-CN" altLang="en-US" dirty="0"/>
              <a:t>核酸的磷酸酯键与糖苷键都能被酸水解，后者更易被水解。</a:t>
            </a:r>
            <a:endParaRPr lang="en-US" altLang="zh-CN" dirty="0"/>
          </a:p>
          <a:p>
            <a:pPr eaLnBrk="1" hangingPunct="1"/>
            <a:endParaRPr lang="en-US" altLang="zh-CN" dirty="0"/>
          </a:p>
          <a:p>
            <a:pPr eaLnBrk="1" hangingPunct="1"/>
            <a:r>
              <a:rPr lang="en-US" altLang="zh-CN" dirty="0"/>
              <a:t>RNA is resistant to dilute acid </a:t>
            </a:r>
          </a:p>
          <a:p>
            <a:pPr eaLnBrk="1" hangingPunct="1"/>
            <a:r>
              <a:rPr lang="en-US" altLang="zh-CN" dirty="0"/>
              <a:t>DNA is </a:t>
            </a:r>
            <a:r>
              <a:rPr lang="en-US" altLang="zh-CN" dirty="0" err="1"/>
              <a:t>depurinated</a:t>
            </a:r>
            <a:r>
              <a:rPr lang="en-US" altLang="zh-CN" dirty="0"/>
              <a:t> by dilute acid </a:t>
            </a:r>
          </a:p>
          <a:p>
            <a:pPr eaLnBrk="1" hangingPunct="1"/>
            <a:r>
              <a:rPr lang="en-US" altLang="zh-CN" dirty="0"/>
              <a:t>DNA is not susceptible to base </a:t>
            </a:r>
          </a:p>
          <a:p>
            <a:pPr eaLnBrk="1" hangingPunct="1"/>
            <a:r>
              <a:rPr lang="en-US" altLang="zh-CN" dirty="0"/>
              <a:t>RNA is hydrolyzed by dilute base </a:t>
            </a:r>
          </a:p>
          <a:p>
            <a:pPr eaLnBrk="1" hangingPunct="1"/>
            <a:endParaRPr lang="en-US" altLang="zh-CN"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幻灯片图像占位符 1">
            <a:extLst>
              <a:ext uri="{FF2B5EF4-FFF2-40B4-BE49-F238E27FC236}">
                <a16:creationId xmlns:a16="http://schemas.microsoft.com/office/drawing/2014/main" id="{7BC71D7A-0284-414C-8B47-5CDDBFADCDD1}"/>
              </a:ext>
            </a:extLst>
          </p:cNvPr>
          <p:cNvSpPr>
            <a:spLocks noGrp="1" noRot="1" noChangeAspect="1" noChangeArrowheads="1" noTextEdit="1"/>
          </p:cNvSpPr>
          <p:nvPr>
            <p:ph type="sldImg"/>
          </p:nvPr>
        </p:nvSpPr>
        <p:spPr>
          <a:xfrm>
            <a:off x="381000" y="685800"/>
            <a:ext cx="6096000" cy="3429000"/>
          </a:xfrm>
          <a:ln/>
        </p:spPr>
      </p:sp>
      <p:sp>
        <p:nvSpPr>
          <p:cNvPr id="305155" name="备注占位符 2">
            <a:extLst>
              <a:ext uri="{FF2B5EF4-FFF2-40B4-BE49-F238E27FC236}">
                <a16:creationId xmlns:a16="http://schemas.microsoft.com/office/drawing/2014/main" id="{F92AE0F2-E974-4921-AB5C-7895578216A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碱基的这一特性常被用来对碱基、核苷、核苷酸和核酸进行定性和定量分析。</a:t>
            </a:r>
          </a:p>
          <a:p>
            <a:endParaRPr lang="zh-CN" altLang="en-US" dirty="0"/>
          </a:p>
        </p:txBody>
      </p:sp>
      <p:sp>
        <p:nvSpPr>
          <p:cNvPr id="305156" name="灯片编号占位符 3">
            <a:extLst>
              <a:ext uri="{FF2B5EF4-FFF2-40B4-BE49-F238E27FC236}">
                <a16:creationId xmlns:a16="http://schemas.microsoft.com/office/drawing/2014/main" id="{A5E36821-7B2B-45AC-8D28-9D4A637E7F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52A0322-257F-44E6-AD07-C1ACFAFBBF72}" type="slidenum">
              <a:rPr lang="en-US" altLang="zh-CN" sz="1200" smtClean="0"/>
              <a:pPr/>
              <a:t>119</a:t>
            </a:fld>
            <a:endParaRPr lang="en-US" altLang="zh-CN" sz="120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1031">
            <a:extLst>
              <a:ext uri="{FF2B5EF4-FFF2-40B4-BE49-F238E27FC236}">
                <a16:creationId xmlns:a16="http://schemas.microsoft.com/office/drawing/2014/main" id="{74D3FCEF-E21D-42DB-95D5-1146077FF1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B7D3E75-C25A-476E-A6CF-9F5E07508F48}" type="slidenum">
              <a:rPr lang="en-US" altLang="zh-CN" smtClean="0"/>
              <a:pPr>
                <a:spcBef>
                  <a:spcPct val="0"/>
                </a:spcBef>
              </a:pPr>
              <a:t>120</a:t>
            </a:fld>
            <a:endParaRPr lang="en-US" altLang="zh-CN"/>
          </a:p>
        </p:txBody>
      </p:sp>
      <p:sp>
        <p:nvSpPr>
          <p:cNvPr id="309251" name="Rectangle 2">
            <a:extLst>
              <a:ext uri="{FF2B5EF4-FFF2-40B4-BE49-F238E27FC236}">
                <a16:creationId xmlns:a16="http://schemas.microsoft.com/office/drawing/2014/main" id="{6379DE58-CEB2-437D-B61E-955881562FD5}"/>
              </a:ext>
            </a:extLst>
          </p:cNvPr>
          <p:cNvSpPr>
            <a:spLocks noGrp="1" noRot="1" noChangeAspect="1" noChangeArrowheads="1" noTextEdit="1"/>
          </p:cNvSpPr>
          <p:nvPr>
            <p:ph type="sldImg"/>
          </p:nvPr>
        </p:nvSpPr>
        <p:spPr>
          <a:xfrm>
            <a:off x="381000" y="685800"/>
            <a:ext cx="6096000" cy="3429000"/>
          </a:xfrm>
          <a:ln/>
        </p:spPr>
      </p:sp>
      <p:sp>
        <p:nvSpPr>
          <p:cNvPr id="309252" name="Rectangle 3">
            <a:extLst>
              <a:ext uri="{FF2B5EF4-FFF2-40B4-BE49-F238E27FC236}">
                <a16:creationId xmlns:a16="http://schemas.microsoft.com/office/drawing/2014/main" id="{2568F1B2-54C7-415F-B3EE-B3BD7D6AFE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dirty="0">
                <a:latin typeface="宋体" panose="02010600030101010101" pitchFamily="2" charset="-122"/>
              </a:rPr>
              <a:t>记住常用的</a:t>
            </a:r>
            <a:r>
              <a:rPr lang="en-US" altLang="zh-CN" b="1" dirty="0">
                <a:latin typeface="宋体" panose="02010600030101010101" pitchFamily="2" charset="-122"/>
              </a:rPr>
              <a:t>1.8</a:t>
            </a:r>
            <a:r>
              <a:rPr lang="zh-CN" altLang="en-US" b="1" dirty="0">
                <a:latin typeface="宋体" panose="02010600030101010101" pitchFamily="2" charset="-122"/>
              </a:rPr>
              <a:t>这个比值！ </a:t>
            </a:r>
            <a:endParaRPr lang="en-US" altLang="zh-CN" b="1" dirty="0">
              <a:latin typeface="宋体" panose="02010600030101010101" pitchFamily="2" charset="-122"/>
            </a:endParaRPr>
          </a:p>
          <a:p>
            <a:pPr eaLnBrk="1" hangingPunct="1"/>
            <a:endParaRPr lang="en-US" altLang="zh-CN" b="1" dirty="0">
              <a:latin typeface="宋体" panose="02010600030101010101" pitchFamily="2" charset="-122"/>
            </a:endParaRPr>
          </a:p>
          <a:p>
            <a:pPr eaLnBrk="1" hangingPunct="1"/>
            <a:r>
              <a:rPr lang="zh-CN" altLang="en-US" dirty="0">
                <a:latin typeface="宋体" panose="02010600030101010101" pitchFamily="2" charset="-122"/>
              </a:rPr>
              <a:t>分子生物学实验核酸提取过程中，</a:t>
            </a:r>
            <a:r>
              <a:rPr lang="zh-CN" altLang="en-US" b="1" dirty="0">
                <a:latin typeface="宋体" panose="02010600030101010101" pitchFamily="2" charset="-122"/>
              </a:rPr>
              <a:t>蛋白质是最常见的杂质，故常用</a:t>
            </a:r>
            <a:r>
              <a:rPr lang="en-US" altLang="zh-CN" b="1" dirty="0">
                <a:latin typeface="宋体" panose="02010600030101010101" pitchFamily="2" charset="-122"/>
              </a:rPr>
              <a:t>O</a:t>
            </a:r>
            <a:r>
              <a:rPr lang="en-US" altLang="zh-CN" b="1" dirty="0"/>
              <a:t>D</a:t>
            </a:r>
            <a:r>
              <a:rPr lang="en-US" altLang="zh-CN" b="1" baseline="-25000" dirty="0"/>
              <a:t>260</a:t>
            </a:r>
            <a:r>
              <a:rPr lang="en-US" altLang="zh-CN" b="1" dirty="0"/>
              <a:t>/OD</a:t>
            </a:r>
            <a:r>
              <a:rPr lang="en-US" altLang="zh-CN" b="1" baseline="-25000" dirty="0"/>
              <a:t>280</a:t>
            </a:r>
            <a:r>
              <a:rPr lang="zh-CN" altLang="en-US" b="1" dirty="0">
                <a:latin typeface="宋体" panose="02010600030101010101" pitchFamily="2" charset="-122"/>
              </a:rPr>
              <a:t>来检测提取的核酸的纯度。</a:t>
            </a:r>
            <a:r>
              <a:rPr lang="zh-CN" altLang="en-US" b="1" dirty="0"/>
              <a:t> </a:t>
            </a:r>
          </a:p>
          <a:p>
            <a:pPr eaLnBrk="1" hangingPunct="1"/>
            <a:r>
              <a:rPr lang="zh-CN" altLang="en-US" dirty="0"/>
              <a:t>大于</a:t>
            </a:r>
            <a:r>
              <a:rPr lang="en-US" altLang="zh-CN" dirty="0"/>
              <a:t>1.8</a:t>
            </a:r>
            <a:r>
              <a:rPr lang="zh-CN" altLang="en-US" dirty="0"/>
              <a:t>，说明仍有</a:t>
            </a:r>
            <a:r>
              <a:rPr lang="en-US" altLang="zh-CN" dirty="0"/>
              <a:t>RNA</a:t>
            </a:r>
            <a:r>
              <a:rPr lang="zh-CN" altLang="en-US" dirty="0"/>
              <a:t>，可以考虑用</a:t>
            </a:r>
            <a:r>
              <a:rPr lang="en-US" altLang="zh-CN" dirty="0"/>
              <a:t>RNA</a:t>
            </a:r>
            <a:r>
              <a:rPr lang="zh-CN" altLang="en-US" dirty="0"/>
              <a:t>酶处理样品，若小于</a:t>
            </a:r>
            <a:r>
              <a:rPr lang="en-US" altLang="zh-CN" dirty="0"/>
              <a:t>1.8</a:t>
            </a:r>
            <a:r>
              <a:rPr lang="zh-CN" altLang="en-US" dirty="0"/>
              <a:t>，常说明样品中含有蛋白质或酚，应再用酚</a:t>
            </a:r>
            <a:r>
              <a:rPr lang="en-US" altLang="zh-CN" dirty="0"/>
              <a:t>/</a:t>
            </a:r>
            <a:r>
              <a:rPr lang="zh-CN" altLang="en-US" dirty="0"/>
              <a:t>氯仿抽提，以乙醇沉淀纯化</a:t>
            </a:r>
            <a:r>
              <a:rPr lang="en-US" altLang="zh-CN" dirty="0"/>
              <a:t>DNA</a:t>
            </a:r>
            <a:r>
              <a:rPr lang="zh-CN" altLang="en-US" dirty="0"/>
              <a:t>。</a:t>
            </a:r>
            <a:endParaRPr lang="en-US" altLang="zh-CN" dirty="0"/>
          </a:p>
          <a:p>
            <a:pPr eaLnBrk="1" hangingPunct="1"/>
            <a:endParaRPr lang="en-US" altLang="zh-CN" dirty="0"/>
          </a:p>
          <a:p>
            <a:pPr eaLnBrk="1" hangingPunct="1"/>
            <a:r>
              <a:rPr lang="en-US" altLang="zh-CN" dirty="0"/>
              <a:t>A:    absorbance</a:t>
            </a:r>
            <a:r>
              <a:rPr lang="zh-CN" altLang="en-US" dirty="0"/>
              <a:t>，     吸光度（国际命名）</a:t>
            </a:r>
          </a:p>
          <a:p>
            <a:pPr eaLnBrk="1" hangingPunct="1"/>
            <a:endParaRPr lang="zh-CN" altLang="en-US" dirty="0"/>
          </a:p>
          <a:p>
            <a:pPr eaLnBrk="1" hangingPunct="1"/>
            <a:endParaRPr lang="en-US" altLang="zh-CN"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1031">
            <a:extLst>
              <a:ext uri="{FF2B5EF4-FFF2-40B4-BE49-F238E27FC236}">
                <a16:creationId xmlns:a16="http://schemas.microsoft.com/office/drawing/2014/main" id="{D02D65CF-55E2-49B8-A4E7-99AD403393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C816A03-4868-4832-82AB-848F1ED890E1}" type="slidenum">
              <a:rPr lang="en-US" altLang="zh-CN" smtClean="0"/>
              <a:pPr>
                <a:spcBef>
                  <a:spcPct val="0"/>
                </a:spcBef>
              </a:pPr>
              <a:t>121</a:t>
            </a:fld>
            <a:endParaRPr lang="en-US" altLang="zh-CN"/>
          </a:p>
        </p:txBody>
      </p:sp>
      <p:sp>
        <p:nvSpPr>
          <p:cNvPr id="311299" name="Rectangle 2">
            <a:extLst>
              <a:ext uri="{FF2B5EF4-FFF2-40B4-BE49-F238E27FC236}">
                <a16:creationId xmlns:a16="http://schemas.microsoft.com/office/drawing/2014/main" id="{9FFD2845-B841-4C1A-873A-300E000F65F7}"/>
              </a:ext>
            </a:extLst>
          </p:cNvPr>
          <p:cNvSpPr>
            <a:spLocks noGrp="1" noRot="1" noChangeAspect="1" noChangeArrowheads="1" noTextEdit="1"/>
          </p:cNvSpPr>
          <p:nvPr>
            <p:ph type="sldImg"/>
          </p:nvPr>
        </p:nvSpPr>
        <p:spPr>
          <a:xfrm>
            <a:off x="381000" y="685800"/>
            <a:ext cx="6096000" cy="3429000"/>
          </a:xfrm>
          <a:ln/>
        </p:spPr>
      </p:sp>
      <p:sp>
        <p:nvSpPr>
          <p:cNvPr id="293892" name="Rectangle 3">
            <a:extLst>
              <a:ext uri="{FF2B5EF4-FFF2-40B4-BE49-F238E27FC236}">
                <a16:creationId xmlns:a16="http://schemas.microsoft.com/office/drawing/2014/main" id="{0E7F4D24-0718-4704-809A-0C4F13E9E1A0}"/>
              </a:ext>
            </a:extLst>
          </p:cNvPr>
          <p:cNvSpPr>
            <a:spLocks noGrp="1" noChangeArrowheads="1"/>
          </p:cNvSpPr>
          <p:nvPr>
            <p:ph type="body" idx="1"/>
          </p:nvPr>
        </p:nvSpPr>
        <p:spPr>
          <a:ln/>
        </p:spPr>
        <p:txBody>
          <a:bodyPr/>
          <a:lstStyle/>
          <a:p>
            <a:pPr marL="228600" indent="-228600" eaLnBrk="1" hangingPunct="1">
              <a:defRPr/>
            </a:pPr>
            <a:r>
              <a:rPr kumimoji="1" lang="en-US" altLang="zh-CN" sz="3600" b="1" dirty="0">
                <a:solidFill>
                  <a:srgbClr val="000099"/>
                </a:solidFill>
              </a:rPr>
              <a:t>DNA</a:t>
            </a:r>
            <a:r>
              <a:rPr kumimoji="1" lang="zh-CN" altLang="en-US" sz="3600" b="1" dirty="0">
                <a:solidFill>
                  <a:srgbClr val="000099"/>
                </a:solidFill>
                <a:latin typeface="宋体" panose="02010600030101010101" pitchFamily="2" charset="-122"/>
              </a:rPr>
              <a:t>的变性</a:t>
            </a:r>
            <a:r>
              <a:rPr lang="zh-CN" altLang="en-US" b="1" dirty="0">
                <a:latin typeface="宋体" panose="02010600030101010101" pitchFamily="2" charset="-122"/>
              </a:rPr>
              <a:t>是</a:t>
            </a:r>
            <a:r>
              <a:rPr lang="en-US" altLang="zh-CN" b="1" dirty="0">
                <a:latin typeface="宋体" panose="02010600030101010101" pitchFamily="2" charset="-122"/>
              </a:rPr>
              <a:t>DNA</a:t>
            </a:r>
            <a:r>
              <a:rPr lang="zh-CN" altLang="en-US" b="1" dirty="0">
                <a:latin typeface="宋体" panose="02010600030101010101" pitchFamily="2" charset="-122"/>
              </a:rPr>
              <a:t>最重要的性质。 </a:t>
            </a:r>
          </a:p>
          <a:p>
            <a:pPr marL="228600" indent="-228600" eaLnBrk="1" hangingPunct="1">
              <a:defRPr/>
            </a:pPr>
            <a:endParaRPr lang="en-US" altLang="zh-CN" dirty="0">
              <a:latin typeface="宋体" panose="02010600030101010101" pitchFamily="2" charset="-122"/>
            </a:endParaRPr>
          </a:p>
          <a:p>
            <a:pPr marL="228600" indent="-228600" eaLnBrk="1" hangingPunct="1">
              <a:defRPr/>
            </a:pPr>
            <a:r>
              <a:rPr lang="en-US" altLang="zh-CN" dirty="0"/>
              <a:t>3',5'</a:t>
            </a:r>
            <a:r>
              <a:rPr lang="zh-CN" altLang="en-US" dirty="0"/>
              <a:t>磷酸二酯键的断裂称</a:t>
            </a:r>
            <a:r>
              <a:rPr lang="zh-CN" altLang="en-US" b="1" dirty="0"/>
              <a:t>核酸的降解</a:t>
            </a:r>
            <a:endParaRPr lang="en-US" altLang="zh-CN" b="1" dirty="0"/>
          </a:p>
          <a:p>
            <a:pPr marL="228600" indent="-228600" eaLnBrk="1" hangingPunct="1">
              <a:defRPr/>
            </a:pPr>
            <a:endParaRPr lang="zh-CN" altLang="en-US" dirty="0"/>
          </a:p>
          <a:p>
            <a:pPr eaLnBrk="1" hangingPunct="1">
              <a:defRPr/>
            </a:pPr>
            <a:r>
              <a:rPr lang="en-US" altLang="zh-CN" dirty="0"/>
              <a:t>Solutions of carefully isolated, native DNA are highly viscous</a:t>
            </a:r>
            <a:r>
              <a:rPr lang="zh-CN" altLang="en-US" dirty="0"/>
              <a:t>（粘性）</a:t>
            </a:r>
            <a:r>
              <a:rPr lang="en-US" altLang="zh-CN" dirty="0"/>
              <a:t> at pH 7.0 and room temperature (25 C). When such a solution is subjected to extremes of pH or to temperatures above 80</a:t>
            </a:r>
            <a:r>
              <a:rPr lang="en-US" altLang="zh-CN" baseline="30000" dirty="0"/>
              <a:t>o</a:t>
            </a:r>
            <a:r>
              <a:rPr lang="en-US" altLang="zh-CN" dirty="0"/>
              <a:t>C, its viscosity decreases sharply, indicating that the DNA has undergone a physical change.</a:t>
            </a:r>
            <a:endParaRPr lang="zh-CN" altLang="en-US" dirty="0"/>
          </a:p>
          <a:p>
            <a:pPr marL="228600" indent="-228600" eaLnBrk="1" hangingPunct="1">
              <a:defRPr/>
            </a:pPr>
            <a:endParaRPr lang="en-US" altLang="zh-CN"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幻灯片图像占位符 1">
            <a:extLst>
              <a:ext uri="{FF2B5EF4-FFF2-40B4-BE49-F238E27FC236}">
                <a16:creationId xmlns:a16="http://schemas.microsoft.com/office/drawing/2014/main" id="{9B0A1DC6-DF49-42ED-8363-31224868DDEB}"/>
              </a:ext>
            </a:extLst>
          </p:cNvPr>
          <p:cNvSpPr>
            <a:spLocks noGrp="1" noRot="1" noChangeAspect="1" noChangeArrowheads="1" noTextEdit="1"/>
          </p:cNvSpPr>
          <p:nvPr>
            <p:ph type="sldImg"/>
          </p:nvPr>
        </p:nvSpPr>
        <p:spPr>
          <a:xfrm>
            <a:off x="381000" y="685800"/>
            <a:ext cx="6096000" cy="3429000"/>
          </a:xfrm>
          <a:ln/>
        </p:spPr>
      </p:sp>
      <p:sp>
        <p:nvSpPr>
          <p:cNvPr id="316419" name="备注占位符 2">
            <a:extLst>
              <a:ext uri="{FF2B5EF4-FFF2-40B4-BE49-F238E27FC236}">
                <a16:creationId xmlns:a16="http://schemas.microsoft.com/office/drawing/2014/main" id="{06826A40-5DD1-4084-B521-4BE7B1A0CB4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6420" name="灯片编号占位符 3">
            <a:extLst>
              <a:ext uri="{FF2B5EF4-FFF2-40B4-BE49-F238E27FC236}">
                <a16:creationId xmlns:a16="http://schemas.microsoft.com/office/drawing/2014/main" id="{7B42EC34-012F-4888-A242-BBF4DDBE14D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03A65F3-6808-4C91-8F70-2B014785D7C8}" type="slidenum">
              <a:rPr lang="en-US" altLang="zh-CN" sz="1200" smtClean="0"/>
              <a:pPr/>
              <a:t>122</a:t>
            </a:fld>
            <a:endParaRPr lang="en-US" altLang="zh-CN" sz="120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1031">
            <a:extLst>
              <a:ext uri="{FF2B5EF4-FFF2-40B4-BE49-F238E27FC236}">
                <a16:creationId xmlns:a16="http://schemas.microsoft.com/office/drawing/2014/main" id="{9314BA94-FD38-4B57-8B6A-C40C51DA09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6A166FD-5191-4B41-9CE6-038D51CE8A31}" type="slidenum">
              <a:rPr lang="en-US" altLang="zh-CN" smtClean="0"/>
              <a:pPr>
                <a:spcBef>
                  <a:spcPct val="0"/>
                </a:spcBef>
              </a:pPr>
              <a:t>123</a:t>
            </a:fld>
            <a:endParaRPr lang="en-US" altLang="zh-CN"/>
          </a:p>
        </p:txBody>
      </p:sp>
      <p:sp>
        <p:nvSpPr>
          <p:cNvPr id="318467" name="Rectangle 2">
            <a:extLst>
              <a:ext uri="{FF2B5EF4-FFF2-40B4-BE49-F238E27FC236}">
                <a16:creationId xmlns:a16="http://schemas.microsoft.com/office/drawing/2014/main" id="{2CFD9857-E9C6-4D48-811F-223C9205BF98}"/>
              </a:ext>
            </a:extLst>
          </p:cNvPr>
          <p:cNvSpPr>
            <a:spLocks noGrp="1" noRot="1" noChangeAspect="1" noChangeArrowheads="1" noTextEdit="1"/>
          </p:cNvSpPr>
          <p:nvPr>
            <p:ph type="sldImg"/>
          </p:nvPr>
        </p:nvSpPr>
        <p:spPr>
          <a:xfrm>
            <a:off x="381000" y="685800"/>
            <a:ext cx="6096000" cy="3429000"/>
          </a:xfrm>
          <a:ln/>
        </p:spPr>
      </p:sp>
      <p:sp>
        <p:nvSpPr>
          <p:cNvPr id="318468" name="Rectangle 3">
            <a:extLst>
              <a:ext uri="{FF2B5EF4-FFF2-40B4-BE49-F238E27FC236}">
                <a16:creationId xmlns:a16="http://schemas.microsoft.com/office/drawing/2014/main" id="{B1854B60-8783-467E-A9CA-160157AB14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在</a:t>
            </a:r>
            <a:r>
              <a:rPr lang="en-US" altLang="zh-CN" dirty="0"/>
              <a:t>DNA</a:t>
            </a:r>
            <a:r>
              <a:rPr lang="zh-CN" altLang="en-US" dirty="0">
                <a:latin typeface="宋体" panose="02010600030101010101" pitchFamily="2" charset="-122"/>
              </a:rPr>
              <a:t>双螺旋结构中碱基藏入内侧，变性时</a:t>
            </a:r>
            <a:r>
              <a:rPr lang="en-US" altLang="zh-CN" dirty="0"/>
              <a:t>DNA</a:t>
            </a:r>
            <a:r>
              <a:rPr lang="zh-CN" altLang="en-US" dirty="0">
                <a:latin typeface="宋体" panose="02010600030101010101" pitchFamily="2" charset="-122"/>
              </a:rPr>
              <a:t>双螺旋解开，于是碱基外露，更有利于紫外吸收，故而产生增色效应。</a:t>
            </a:r>
          </a:p>
          <a:p>
            <a:pPr eaLnBrk="1" hangingPunct="1"/>
            <a:r>
              <a:rPr kumimoji="1" lang="zh-CN" altLang="en-US" sz="2800" b="1" dirty="0">
                <a:solidFill>
                  <a:srgbClr val="CC0099"/>
                </a:solidFill>
                <a:ea typeface="华文楷体" panose="02010600040101010101" pitchFamily="2" charset="-122"/>
              </a:rPr>
              <a:t>增色效应</a:t>
            </a:r>
            <a:r>
              <a:rPr kumimoji="1" lang="zh-CN" altLang="en-US" sz="2800" dirty="0">
                <a:solidFill>
                  <a:srgbClr val="CC0099"/>
                </a:solidFill>
                <a:ea typeface="华文楷体" panose="02010600040101010101" pitchFamily="2" charset="-122"/>
              </a:rPr>
              <a:t>是监测</a:t>
            </a:r>
            <a:r>
              <a:rPr kumimoji="1" lang="en-US" altLang="zh-CN" sz="2800" dirty="0">
                <a:solidFill>
                  <a:srgbClr val="CC0099"/>
                </a:solidFill>
                <a:ea typeface="华文楷体" panose="02010600040101010101" pitchFamily="2" charset="-122"/>
              </a:rPr>
              <a:t>DNA</a:t>
            </a:r>
            <a:r>
              <a:rPr kumimoji="1" lang="zh-CN" altLang="en-US" sz="2800" dirty="0">
                <a:solidFill>
                  <a:srgbClr val="CC0099"/>
                </a:solidFill>
                <a:ea typeface="华文楷体" panose="02010600040101010101" pitchFamily="2" charset="-122"/>
              </a:rPr>
              <a:t>双链是否发生变性的一个最常用的指标。</a:t>
            </a:r>
          </a:p>
          <a:p>
            <a:pPr eaLnBrk="1" hangingPunct="1"/>
            <a:endParaRPr lang="zh-CN" altLang="en-US" dirty="0"/>
          </a:p>
          <a:p>
            <a:pPr eaLnBrk="1" hangingPunct="1"/>
            <a:endParaRPr lang="zh-CN" altLang="en-US" dirty="0"/>
          </a:p>
          <a:p>
            <a:pPr eaLnBrk="1" hangingPunct="1"/>
            <a:endParaRPr lang="en-US" altLang="zh-CN" dirty="0">
              <a:latin typeface="宋体" panose="02010600030101010101" pitchFamily="2" charset="-122"/>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1031">
            <a:extLst>
              <a:ext uri="{FF2B5EF4-FFF2-40B4-BE49-F238E27FC236}">
                <a16:creationId xmlns:a16="http://schemas.microsoft.com/office/drawing/2014/main" id="{3B63DC94-7BED-48EE-97D8-80BCB5A8A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9F6BD78-211E-4A65-BA43-BD5499E9AAC4}" type="slidenum">
              <a:rPr lang="en-US" altLang="zh-CN" smtClean="0"/>
              <a:pPr>
                <a:spcBef>
                  <a:spcPct val="0"/>
                </a:spcBef>
              </a:pPr>
              <a:t>124</a:t>
            </a:fld>
            <a:endParaRPr lang="en-US" altLang="zh-CN"/>
          </a:p>
        </p:txBody>
      </p:sp>
      <p:sp>
        <p:nvSpPr>
          <p:cNvPr id="320515" name="Rectangle 2">
            <a:extLst>
              <a:ext uri="{FF2B5EF4-FFF2-40B4-BE49-F238E27FC236}">
                <a16:creationId xmlns:a16="http://schemas.microsoft.com/office/drawing/2014/main" id="{DB4284DF-52C6-41F1-87A2-E0D3631E2A1E}"/>
              </a:ext>
            </a:extLst>
          </p:cNvPr>
          <p:cNvSpPr>
            <a:spLocks noGrp="1" noRot="1" noChangeAspect="1" noChangeArrowheads="1" noTextEdit="1"/>
          </p:cNvSpPr>
          <p:nvPr>
            <p:ph type="sldImg"/>
          </p:nvPr>
        </p:nvSpPr>
        <p:spPr>
          <a:xfrm>
            <a:off x="381000" y="685800"/>
            <a:ext cx="6096000" cy="3429000"/>
          </a:xfrm>
          <a:ln/>
        </p:spPr>
      </p:sp>
      <p:sp>
        <p:nvSpPr>
          <p:cNvPr id="320516" name="Rectangle 3">
            <a:extLst>
              <a:ext uri="{FF2B5EF4-FFF2-40B4-BE49-F238E27FC236}">
                <a16:creationId xmlns:a16="http://schemas.microsoft.com/office/drawing/2014/main" id="{F9989105-7480-4EA5-AA3A-92DDD38465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在</a:t>
            </a:r>
            <a:r>
              <a:rPr lang="en-US" altLang="zh-CN" dirty="0">
                <a:cs typeface="Times New Roman" panose="02020603050405020304" pitchFamily="18" charset="0"/>
              </a:rPr>
              <a:t>Tm</a:t>
            </a:r>
            <a:r>
              <a:rPr lang="zh-CN" altLang="en-US" dirty="0">
                <a:latin typeface="宋体" panose="02010600030101010101" pitchFamily="2" charset="-122"/>
              </a:rPr>
              <a:t>时，核酸分子内</a:t>
            </a:r>
            <a:r>
              <a:rPr lang="en-US" altLang="zh-CN" dirty="0">
                <a:cs typeface="Times New Roman" panose="02020603050405020304" pitchFamily="18" charset="0"/>
              </a:rPr>
              <a:t>50%</a:t>
            </a:r>
            <a:r>
              <a:rPr lang="zh-CN" altLang="en-US" dirty="0">
                <a:latin typeface="宋体" panose="02010600030101010101" pitchFamily="2" charset="-122"/>
              </a:rPr>
              <a:t>的双螺旋结构被破坏。 </a:t>
            </a:r>
          </a:p>
          <a:p>
            <a:pPr eaLnBrk="1" hangingPunct="1"/>
            <a:endParaRPr lang="en-US" altLang="zh-CN" dirty="0">
              <a:latin typeface="宋体" panose="02010600030101010101" pitchFamily="2" charset="-122"/>
            </a:endParaRPr>
          </a:p>
          <a:p>
            <a:pPr eaLnBrk="1" hangingPunct="1"/>
            <a:r>
              <a:rPr lang="zh-CN" altLang="en-US" dirty="0">
                <a:latin typeface="黑体" panose="02010609060101010101" pitchFamily="49" charset="-122"/>
                <a:ea typeface="黑体" panose="02010609060101010101" pitchFamily="49" charset="-122"/>
              </a:rPr>
              <a:t>加热变性一般在较窄的温度范围内发生，象结晶物质的熔点只在很狭窄的范围内发生一样，如果以温度对紫外吸收作图，可得一</a:t>
            </a:r>
            <a:r>
              <a:rPr lang="en-US" altLang="zh-CN" dirty="0">
                <a:latin typeface="黑体" panose="02010609060101010101" pitchFamily="49" charset="-122"/>
                <a:ea typeface="黑体" panose="02010609060101010101" pitchFamily="49" charset="-122"/>
              </a:rPr>
              <a:t>S</a:t>
            </a:r>
            <a:r>
              <a:rPr lang="zh-CN" altLang="en-US" dirty="0">
                <a:latin typeface="黑体" panose="02010609060101010101" pitchFamily="49" charset="-122"/>
                <a:ea typeface="黑体" panose="02010609060101010101" pitchFamily="49" charset="-122"/>
              </a:rPr>
              <a:t>形曲线，称为熔解曲线</a:t>
            </a:r>
            <a:r>
              <a:rPr lang="en-US" altLang="zh-CN" dirty="0">
                <a:latin typeface="Arial" panose="020B0604020202020204" pitchFamily="34" charset="0"/>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eaLnBrk="1" hangingPunct="1"/>
            <a:endParaRPr lang="en-US" altLang="zh-CN" dirty="0">
              <a:latin typeface="黑体" panose="02010609060101010101" pitchFamily="49" charset="-122"/>
              <a:ea typeface="黑体" panose="02010609060101010101" pitchFamily="49" charset="-122"/>
            </a:endParaRPr>
          </a:p>
          <a:p>
            <a:pPr eaLnBrk="1" hangingPunct="1"/>
            <a:endParaRPr lang="en-US" altLang="zh-CN"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1031">
            <a:extLst>
              <a:ext uri="{FF2B5EF4-FFF2-40B4-BE49-F238E27FC236}">
                <a16:creationId xmlns:a16="http://schemas.microsoft.com/office/drawing/2014/main" id="{D3FFD511-6A40-40F3-BB53-A8E5D06062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89F1C4F-28B3-4C4B-A775-9E9B16F8B069}" type="slidenum">
              <a:rPr lang="en-US" altLang="zh-CN" smtClean="0"/>
              <a:pPr>
                <a:spcBef>
                  <a:spcPct val="0"/>
                </a:spcBef>
              </a:pPr>
              <a:t>125</a:t>
            </a:fld>
            <a:endParaRPr lang="en-US" altLang="zh-CN"/>
          </a:p>
        </p:txBody>
      </p:sp>
      <p:sp>
        <p:nvSpPr>
          <p:cNvPr id="322563" name="Rectangle 2">
            <a:extLst>
              <a:ext uri="{FF2B5EF4-FFF2-40B4-BE49-F238E27FC236}">
                <a16:creationId xmlns:a16="http://schemas.microsoft.com/office/drawing/2014/main" id="{175F471E-014D-4EFB-9FAB-259A1AC7C396}"/>
              </a:ext>
            </a:extLst>
          </p:cNvPr>
          <p:cNvSpPr>
            <a:spLocks noGrp="1" noRot="1" noChangeAspect="1" noChangeArrowheads="1" noTextEdit="1"/>
          </p:cNvSpPr>
          <p:nvPr>
            <p:ph type="sldImg"/>
          </p:nvPr>
        </p:nvSpPr>
        <p:spPr>
          <a:xfrm>
            <a:off x="381000" y="685800"/>
            <a:ext cx="6096000" cy="3429000"/>
          </a:xfrm>
          <a:ln/>
        </p:spPr>
      </p:sp>
      <p:sp>
        <p:nvSpPr>
          <p:cNvPr id="322564" name="Rectangle 3">
            <a:extLst>
              <a:ext uri="{FF2B5EF4-FFF2-40B4-BE49-F238E27FC236}">
                <a16:creationId xmlns:a16="http://schemas.microsoft.com/office/drawing/2014/main" id="{0F3F5F03-AB2E-4AB3-8FA3-2671DDC0CE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特定核酸分子的</a:t>
            </a:r>
            <a:r>
              <a:rPr lang="en-US" altLang="zh-CN" dirty="0">
                <a:latin typeface="宋体" panose="02010600030101010101" pitchFamily="2" charset="-122"/>
              </a:rPr>
              <a:t>Tm</a:t>
            </a:r>
            <a:r>
              <a:rPr lang="zh-CN" altLang="en-US" dirty="0">
                <a:latin typeface="宋体" panose="02010600030101010101" pitchFamily="2" charset="-122"/>
              </a:rPr>
              <a:t>值与其</a:t>
            </a:r>
            <a:r>
              <a:rPr lang="en-US" altLang="zh-CN" dirty="0">
                <a:latin typeface="宋体" panose="02010600030101010101" pitchFamily="2" charset="-122"/>
              </a:rPr>
              <a:t>G</a:t>
            </a:r>
            <a:r>
              <a:rPr lang="zh-CN" altLang="en-US" dirty="0">
                <a:latin typeface="宋体" panose="02010600030101010101" pitchFamily="2" charset="-122"/>
              </a:rPr>
              <a:t>＋</a:t>
            </a:r>
            <a:r>
              <a:rPr lang="en-US" altLang="zh-CN" dirty="0">
                <a:latin typeface="宋体" panose="02010600030101010101" pitchFamily="2" charset="-122"/>
              </a:rPr>
              <a:t>C</a:t>
            </a:r>
            <a:r>
              <a:rPr lang="zh-CN" altLang="en-US" dirty="0">
                <a:latin typeface="宋体" panose="02010600030101010101" pitchFamily="2" charset="-122"/>
              </a:rPr>
              <a:t>所占总碱基数的百分比成正相关，两者的关系可表示为：</a:t>
            </a:r>
            <a:r>
              <a:rPr lang="en-US" altLang="zh-CN" dirty="0">
                <a:latin typeface="宋体" panose="02010600030101010101" pitchFamily="2" charset="-122"/>
              </a:rPr>
              <a:t>Tm=69.3</a:t>
            </a:r>
            <a:r>
              <a:rPr lang="zh-CN" altLang="en-US" dirty="0">
                <a:latin typeface="宋体" panose="02010600030101010101" pitchFamily="2" charset="-122"/>
              </a:rPr>
              <a:t>＋</a:t>
            </a:r>
            <a:r>
              <a:rPr lang="en-US" altLang="zh-CN" dirty="0">
                <a:latin typeface="宋体" panose="02010600030101010101" pitchFamily="2" charset="-122"/>
              </a:rPr>
              <a:t>0.41(G+C)%    </a:t>
            </a:r>
            <a:r>
              <a:rPr lang="zh-CN" altLang="en-US" dirty="0">
                <a:latin typeface="宋体" panose="02010600030101010101" pitchFamily="2" charset="-122"/>
              </a:rPr>
              <a:t>这个关系只是近似的且一定范围内有效。 </a:t>
            </a:r>
            <a:endParaRPr lang="en-US" altLang="zh-CN" dirty="0">
              <a:latin typeface="宋体" panose="02010600030101010101" pitchFamily="2" charset="-122"/>
            </a:endParaRPr>
          </a:p>
          <a:p>
            <a:pPr eaLnBrk="1" hangingPunct="1"/>
            <a:r>
              <a:rPr kumimoji="1" lang="zh-CN" altLang="en-US" b="1" dirty="0"/>
              <a:t>少于</a:t>
            </a:r>
            <a:r>
              <a:rPr kumimoji="1" lang="en-US" altLang="zh-CN" b="1" dirty="0"/>
              <a:t>20</a:t>
            </a:r>
            <a:r>
              <a:rPr kumimoji="1" lang="zh-CN" altLang="en-US" b="1" dirty="0"/>
              <a:t>个碱基的寡核苷酸的</a:t>
            </a:r>
            <a:r>
              <a:rPr kumimoji="1" lang="en-US" altLang="zh-CN" b="1" i="1" dirty="0"/>
              <a:t>T</a:t>
            </a:r>
            <a:r>
              <a:rPr kumimoji="1" lang="en-US" altLang="zh-CN" b="1" dirty="0"/>
              <a:t>m</a:t>
            </a:r>
            <a:r>
              <a:rPr kumimoji="1" lang="zh-CN" altLang="en-US" b="1" dirty="0"/>
              <a:t>＝</a:t>
            </a:r>
            <a:r>
              <a:rPr kumimoji="1" lang="en-US" altLang="zh-CN" b="1" dirty="0"/>
              <a:t>4(G+C)+2(A+T)</a:t>
            </a:r>
            <a:r>
              <a:rPr kumimoji="1" lang="en-US" altLang="zh-CN" dirty="0"/>
              <a:t>      </a:t>
            </a:r>
            <a:r>
              <a:rPr kumimoji="1" lang="zh-CN" altLang="en-US" dirty="0"/>
              <a:t>温泉中细菌的</a:t>
            </a:r>
            <a:r>
              <a:rPr kumimoji="1" lang="en-US" altLang="zh-CN" dirty="0"/>
              <a:t>DNA</a:t>
            </a:r>
            <a:r>
              <a:rPr kumimoji="1" lang="zh-CN" altLang="en-US" dirty="0"/>
              <a:t>，</a:t>
            </a:r>
            <a:r>
              <a:rPr kumimoji="1" lang="en-US" altLang="zh-CN" dirty="0"/>
              <a:t>G</a:t>
            </a:r>
            <a:r>
              <a:rPr kumimoji="1" lang="zh-CN" altLang="en-US" dirty="0"/>
              <a:t>与</a:t>
            </a:r>
            <a:r>
              <a:rPr kumimoji="1" lang="en-US" altLang="zh-CN" dirty="0"/>
              <a:t>C</a:t>
            </a:r>
            <a:r>
              <a:rPr kumimoji="1" lang="zh-CN" altLang="en-US" dirty="0"/>
              <a:t>含量较高，这样有助于其</a:t>
            </a:r>
            <a:r>
              <a:rPr kumimoji="1" lang="en-US" altLang="zh-CN" dirty="0"/>
              <a:t>DNA</a:t>
            </a:r>
            <a:r>
              <a:rPr kumimoji="1" lang="zh-CN" altLang="en-US" dirty="0"/>
              <a:t>在较高温度环境下保持稳定。 </a:t>
            </a:r>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1031">
            <a:extLst>
              <a:ext uri="{FF2B5EF4-FFF2-40B4-BE49-F238E27FC236}">
                <a16:creationId xmlns:a16="http://schemas.microsoft.com/office/drawing/2014/main" id="{394DA48D-7456-4A20-BD7F-6B96B4C8B4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106CC2C-1611-4DDA-B546-70FA5EA4E82B}" type="slidenum">
              <a:rPr lang="en-US" altLang="zh-CN" smtClean="0"/>
              <a:pPr>
                <a:spcBef>
                  <a:spcPct val="0"/>
                </a:spcBef>
              </a:pPr>
              <a:t>126</a:t>
            </a:fld>
            <a:endParaRPr lang="en-US" altLang="zh-CN"/>
          </a:p>
        </p:txBody>
      </p:sp>
      <p:sp>
        <p:nvSpPr>
          <p:cNvPr id="324611" name="Rectangle 2">
            <a:extLst>
              <a:ext uri="{FF2B5EF4-FFF2-40B4-BE49-F238E27FC236}">
                <a16:creationId xmlns:a16="http://schemas.microsoft.com/office/drawing/2014/main" id="{9F57AE3C-FB02-4227-9738-C78BA11F434A}"/>
              </a:ext>
            </a:extLst>
          </p:cNvPr>
          <p:cNvSpPr>
            <a:spLocks noGrp="1" noRot="1" noChangeAspect="1" noChangeArrowheads="1" noTextEdit="1"/>
          </p:cNvSpPr>
          <p:nvPr>
            <p:ph type="sldImg"/>
          </p:nvPr>
        </p:nvSpPr>
        <p:spPr>
          <a:xfrm>
            <a:off x="381000" y="685800"/>
            <a:ext cx="6096000" cy="3429000"/>
          </a:xfrm>
          <a:ln/>
        </p:spPr>
      </p:sp>
      <p:sp>
        <p:nvSpPr>
          <p:cNvPr id="324612" name="Rectangle 3">
            <a:extLst>
              <a:ext uri="{FF2B5EF4-FFF2-40B4-BE49-F238E27FC236}">
                <a16:creationId xmlns:a16="http://schemas.microsoft.com/office/drawing/2014/main" id="{5297FF5E-4567-496C-A6E9-E5B3728A96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提高溶液的离子强度，可中和</a:t>
            </a:r>
            <a:r>
              <a:rPr lang="en-US" altLang="zh-CN" dirty="0"/>
              <a:t>DNA</a:t>
            </a:r>
            <a:r>
              <a:rPr lang="zh-CN" altLang="en-US" dirty="0"/>
              <a:t>分子链上磷酸基团的负电荷，降低它们之间的排斥力，稳定</a:t>
            </a:r>
            <a:r>
              <a:rPr lang="en-US" altLang="zh-CN" dirty="0"/>
              <a:t>DNA</a:t>
            </a:r>
            <a:r>
              <a:rPr lang="zh-CN" altLang="en-US" dirty="0"/>
              <a:t>的结构。 </a:t>
            </a:r>
            <a:endParaRPr lang="en-US" altLang="zh-CN" dirty="0"/>
          </a:p>
          <a:p>
            <a:pPr eaLnBrk="1" hangingPunct="1"/>
            <a:endParaRPr lang="en-US" altLang="zh-CN" dirty="0"/>
          </a:p>
          <a:p>
            <a:pPr eaLnBrk="1" hangingPunct="1"/>
            <a:r>
              <a:rPr lang="zh-CN" altLang="en-US" dirty="0"/>
              <a:t>因此，</a:t>
            </a:r>
            <a:r>
              <a:rPr lang="en-US" altLang="zh-CN" dirty="0"/>
              <a:t>DNA</a:t>
            </a:r>
            <a:r>
              <a:rPr lang="zh-CN" altLang="en-US" dirty="0"/>
              <a:t>制剂不应保存在离子强度过低的溶液中，易变性。实际上，无离子的纯水中，</a:t>
            </a:r>
            <a:r>
              <a:rPr lang="en-US" altLang="zh-CN" dirty="0"/>
              <a:t>DNA</a:t>
            </a:r>
            <a:r>
              <a:rPr lang="zh-CN" altLang="en-US" dirty="0"/>
              <a:t>是解链状态。</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1031">
            <a:extLst>
              <a:ext uri="{FF2B5EF4-FFF2-40B4-BE49-F238E27FC236}">
                <a16:creationId xmlns:a16="http://schemas.microsoft.com/office/drawing/2014/main" id="{A4F217F4-4B77-4131-A460-24D80CAB06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4C3CB61-729E-4D2C-97B9-0B41962358D2}" type="slidenum">
              <a:rPr lang="en-US" altLang="zh-CN" smtClean="0"/>
              <a:pPr>
                <a:spcBef>
                  <a:spcPct val="0"/>
                </a:spcBef>
              </a:pPr>
              <a:t>127</a:t>
            </a:fld>
            <a:endParaRPr lang="en-US" altLang="zh-CN"/>
          </a:p>
        </p:txBody>
      </p:sp>
      <p:sp>
        <p:nvSpPr>
          <p:cNvPr id="326659" name="Rectangle 2">
            <a:extLst>
              <a:ext uri="{FF2B5EF4-FFF2-40B4-BE49-F238E27FC236}">
                <a16:creationId xmlns:a16="http://schemas.microsoft.com/office/drawing/2014/main" id="{7F17FA73-72FA-4AAD-BEE7-F7063FA76E96}"/>
              </a:ext>
            </a:extLst>
          </p:cNvPr>
          <p:cNvSpPr>
            <a:spLocks noGrp="1" noRot="1" noChangeAspect="1" noChangeArrowheads="1" noTextEdit="1"/>
          </p:cNvSpPr>
          <p:nvPr>
            <p:ph type="sldImg"/>
          </p:nvPr>
        </p:nvSpPr>
        <p:spPr>
          <a:xfrm>
            <a:off x="381000" y="685800"/>
            <a:ext cx="6096000" cy="3429000"/>
          </a:xfrm>
          <a:ln/>
        </p:spPr>
      </p:sp>
      <p:sp>
        <p:nvSpPr>
          <p:cNvPr id="326660" name="Rectangle 3">
            <a:extLst>
              <a:ext uri="{FF2B5EF4-FFF2-40B4-BE49-F238E27FC236}">
                <a16:creationId xmlns:a16="http://schemas.microsoft.com/office/drawing/2014/main" id="{D648B510-2227-4E07-B416-B1171F184F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黑体" panose="02010609060101010101" pitchFamily="49" charset="-122"/>
              <a:ea typeface="黑体" panose="02010609060101010101" pitchFamily="49" charset="-122"/>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1031">
            <a:extLst>
              <a:ext uri="{FF2B5EF4-FFF2-40B4-BE49-F238E27FC236}">
                <a16:creationId xmlns:a16="http://schemas.microsoft.com/office/drawing/2014/main" id="{2583EB11-CB0B-4D25-AE35-F6DEFA9D62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9F8B1D8-39E9-4F0E-BD0F-A76259EF89F4}" type="slidenum">
              <a:rPr lang="en-US" altLang="zh-CN" smtClean="0"/>
              <a:pPr>
                <a:spcBef>
                  <a:spcPct val="0"/>
                </a:spcBef>
              </a:pPr>
              <a:t>128</a:t>
            </a:fld>
            <a:endParaRPr lang="en-US" altLang="zh-CN"/>
          </a:p>
        </p:txBody>
      </p:sp>
      <p:sp>
        <p:nvSpPr>
          <p:cNvPr id="328707" name="Rectangle 2">
            <a:extLst>
              <a:ext uri="{FF2B5EF4-FFF2-40B4-BE49-F238E27FC236}">
                <a16:creationId xmlns:a16="http://schemas.microsoft.com/office/drawing/2014/main" id="{17A37882-5663-488C-B58C-8DD3583302E4}"/>
              </a:ext>
            </a:extLst>
          </p:cNvPr>
          <p:cNvSpPr>
            <a:spLocks noGrp="1" noRot="1" noChangeAspect="1" noChangeArrowheads="1" noTextEdit="1"/>
          </p:cNvSpPr>
          <p:nvPr>
            <p:ph type="sldImg"/>
          </p:nvPr>
        </p:nvSpPr>
        <p:spPr>
          <a:xfrm>
            <a:off x="381000" y="685800"/>
            <a:ext cx="6096000" cy="3429000"/>
          </a:xfrm>
          <a:ln/>
        </p:spPr>
      </p:sp>
      <p:sp>
        <p:nvSpPr>
          <p:cNvPr id="328708" name="Rectangle 3">
            <a:extLst>
              <a:ext uri="{FF2B5EF4-FFF2-40B4-BE49-F238E27FC236}">
                <a16:creationId xmlns:a16="http://schemas.microsoft.com/office/drawing/2014/main" id="{E346D8B7-39C6-4A69-93CE-4277147412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在很低的温度</a:t>
            </a:r>
            <a:r>
              <a:rPr lang="en-US" altLang="zh-CN" dirty="0"/>
              <a:t>(</a:t>
            </a:r>
            <a:r>
              <a:rPr lang="zh-CN" altLang="en-US" dirty="0"/>
              <a:t>如</a:t>
            </a:r>
            <a:r>
              <a:rPr lang="en-US" altLang="zh-CN" dirty="0"/>
              <a:t>4℃</a:t>
            </a:r>
            <a:r>
              <a:rPr lang="zh-CN" altLang="en-US" dirty="0"/>
              <a:t>以下</a:t>
            </a:r>
            <a:r>
              <a:rPr lang="en-US" altLang="zh-CN" dirty="0"/>
              <a:t>)</a:t>
            </a:r>
            <a:r>
              <a:rPr lang="zh-CN" altLang="en-US" dirty="0"/>
              <a:t>下，分子的热运动显著减弱互补链结合的机会自然大大减少。维持在</a:t>
            </a:r>
            <a:r>
              <a:rPr lang="en-US" altLang="zh-CN" dirty="0"/>
              <a:t>Tm</a:t>
            </a:r>
            <a:r>
              <a:rPr lang="zh-CN" altLang="en-US" dirty="0"/>
              <a:t>以下较高温度，更有利于复性。复性时温度下降必须是一缓慢过程，若在超过</a:t>
            </a:r>
            <a:r>
              <a:rPr lang="en-US" altLang="zh-CN" dirty="0"/>
              <a:t>Tm</a:t>
            </a:r>
            <a:r>
              <a:rPr lang="zh-CN" altLang="en-US" dirty="0"/>
              <a:t>的温度下迅速冷却至低温</a:t>
            </a:r>
            <a:r>
              <a:rPr lang="en-US" altLang="zh-CN" dirty="0"/>
              <a:t>(</a:t>
            </a:r>
            <a:r>
              <a:rPr lang="zh-CN" altLang="en-US" dirty="0"/>
              <a:t>如</a:t>
            </a:r>
            <a:r>
              <a:rPr lang="en-US" altLang="zh-CN" dirty="0"/>
              <a:t>4℃</a:t>
            </a:r>
            <a:r>
              <a:rPr lang="zh-CN" altLang="en-US" dirty="0"/>
              <a:t>以下</a:t>
            </a:r>
            <a:r>
              <a:rPr lang="en-US" altLang="zh-CN" dirty="0"/>
              <a:t>)</a:t>
            </a:r>
            <a:r>
              <a:rPr lang="zh-CN" altLang="en-US" dirty="0"/>
              <a:t>，复性几乎是不可能的，核酸实验中经常以此方式保持</a:t>
            </a:r>
            <a:r>
              <a:rPr lang="en-US" altLang="zh-CN" dirty="0"/>
              <a:t>DNA</a:t>
            </a:r>
            <a:r>
              <a:rPr lang="zh-CN" altLang="en-US" dirty="0"/>
              <a:t>的变性</a:t>
            </a:r>
            <a:r>
              <a:rPr lang="en-US" altLang="zh-CN" dirty="0"/>
              <a:t>(</a:t>
            </a:r>
            <a:r>
              <a:rPr lang="zh-CN" altLang="en-US" dirty="0"/>
              <a:t>单链</a:t>
            </a:r>
            <a:r>
              <a:rPr lang="en-US" altLang="zh-CN" dirty="0"/>
              <a:t>)</a:t>
            </a:r>
            <a:r>
              <a:rPr lang="zh-CN" altLang="en-US" dirty="0"/>
              <a:t>状态。降温时间太短以及温差大均不利于复性。 </a:t>
            </a:r>
          </a:p>
          <a:p>
            <a:pPr eaLnBrk="1" hangingPunct="1"/>
            <a:endParaRPr lang="zh-CN" altLang="en-US" dirty="0"/>
          </a:p>
          <a:p>
            <a:pPr eaLnBrk="1" hangingPunct="1"/>
            <a:endParaRPr lang="en-US" altLang="zh-CN"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1031">
            <a:extLst>
              <a:ext uri="{FF2B5EF4-FFF2-40B4-BE49-F238E27FC236}">
                <a16:creationId xmlns:a16="http://schemas.microsoft.com/office/drawing/2014/main" id="{3E77D26B-BCF4-4DE2-91E6-9262918199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D5B0049-AB21-4B20-A535-DF59EFE16094}" type="slidenum">
              <a:rPr lang="en-US" altLang="zh-CN" smtClean="0"/>
              <a:pPr>
                <a:spcBef>
                  <a:spcPct val="0"/>
                </a:spcBef>
              </a:pPr>
              <a:t>129</a:t>
            </a:fld>
            <a:endParaRPr lang="en-US" altLang="zh-CN"/>
          </a:p>
        </p:txBody>
      </p:sp>
      <p:sp>
        <p:nvSpPr>
          <p:cNvPr id="334851" name="Rectangle 2">
            <a:extLst>
              <a:ext uri="{FF2B5EF4-FFF2-40B4-BE49-F238E27FC236}">
                <a16:creationId xmlns:a16="http://schemas.microsoft.com/office/drawing/2014/main" id="{7476946C-56CC-416B-BF8B-3BF2E5C9F1C5}"/>
              </a:ext>
            </a:extLst>
          </p:cNvPr>
          <p:cNvSpPr>
            <a:spLocks noGrp="1" noRot="1" noChangeAspect="1" noChangeArrowheads="1" noTextEdit="1"/>
          </p:cNvSpPr>
          <p:nvPr>
            <p:ph type="sldImg"/>
          </p:nvPr>
        </p:nvSpPr>
        <p:spPr>
          <a:xfrm>
            <a:off x="381000" y="685800"/>
            <a:ext cx="6096000" cy="3429000"/>
          </a:xfrm>
          <a:ln/>
        </p:spPr>
      </p:sp>
      <p:sp>
        <p:nvSpPr>
          <p:cNvPr id="334852" name="Rectangle 3">
            <a:extLst>
              <a:ext uri="{FF2B5EF4-FFF2-40B4-BE49-F238E27FC236}">
                <a16:creationId xmlns:a16="http://schemas.microsoft.com/office/drawing/2014/main" id="{8AE4367F-E91E-4D45-BAF6-0A6A7C769B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b="0" dirty="0">
                <a:solidFill>
                  <a:srgbClr val="000000"/>
                </a:solidFill>
              </a:rPr>
              <a:t> 杂交可以发生于</a:t>
            </a:r>
            <a:r>
              <a:rPr kumimoji="1" lang="en-US" altLang="zh-CN" b="0" dirty="0">
                <a:solidFill>
                  <a:srgbClr val="000000"/>
                </a:solidFill>
              </a:rPr>
              <a:t>DNA</a:t>
            </a:r>
            <a:r>
              <a:rPr kumimoji="1" lang="zh-CN" altLang="en-US" b="0" dirty="0">
                <a:solidFill>
                  <a:srgbClr val="000000"/>
                </a:solidFill>
              </a:rPr>
              <a:t>与</a:t>
            </a:r>
            <a:r>
              <a:rPr kumimoji="1" lang="en-US" altLang="zh-CN" b="0" dirty="0">
                <a:solidFill>
                  <a:srgbClr val="000000"/>
                </a:solidFill>
              </a:rPr>
              <a:t>DNA</a:t>
            </a:r>
            <a:r>
              <a:rPr kumimoji="1" lang="zh-CN" altLang="en-US" b="0" dirty="0">
                <a:solidFill>
                  <a:srgbClr val="000000"/>
                </a:solidFill>
              </a:rPr>
              <a:t>之间，也可以发生于</a:t>
            </a:r>
            <a:r>
              <a:rPr kumimoji="1" lang="en-US" altLang="zh-CN" b="0" dirty="0">
                <a:solidFill>
                  <a:srgbClr val="000000"/>
                </a:solidFill>
              </a:rPr>
              <a:t>RNA</a:t>
            </a:r>
            <a:r>
              <a:rPr kumimoji="1" lang="zh-CN" altLang="en-US" b="0" dirty="0">
                <a:solidFill>
                  <a:srgbClr val="000000"/>
                </a:solidFill>
              </a:rPr>
              <a:t>与</a:t>
            </a:r>
            <a:r>
              <a:rPr kumimoji="1" lang="en-US" altLang="zh-CN" b="0" dirty="0">
                <a:solidFill>
                  <a:srgbClr val="000000"/>
                </a:solidFill>
              </a:rPr>
              <a:t>RNA</a:t>
            </a:r>
            <a:r>
              <a:rPr kumimoji="1" lang="zh-CN" altLang="en-US" b="0" dirty="0">
                <a:solidFill>
                  <a:srgbClr val="000000"/>
                </a:solidFill>
              </a:rPr>
              <a:t>之间和</a:t>
            </a:r>
            <a:r>
              <a:rPr kumimoji="1" lang="en-US" altLang="zh-CN" b="0" dirty="0">
                <a:solidFill>
                  <a:srgbClr val="000000"/>
                </a:solidFill>
              </a:rPr>
              <a:t>DNA</a:t>
            </a:r>
            <a:r>
              <a:rPr kumimoji="1" lang="zh-CN" altLang="en-US" b="0" dirty="0">
                <a:solidFill>
                  <a:srgbClr val="000000"/>
                </a:solidFill>
              </a:rPr>
              <a:t>与</a:t>
            </a:r>
            <a:r>
              <a:rPr kumimoji="1" lang="en-US" altLang="zh-CN" b="0" dirty="0">
                <a:solidFill>
                  <a:srgbClr val="000000"/>
                </a:solidFill>
              </a:rPr>
              <a:t>RNA</a:t>
            </a:r>
            <a:r>
              <a:rPr kumimoji="1" lang="zh-CN" altLang="en-US" b="0" dirty="0">
                <a:solidFill>
                  <a:srgbClr val="000000"/>
                </a:solidFill>
              </a:rPr>
              <a:t>之间。</a:t>
            </a:r>
            <a:endParaRPr kumimoji="1" lang="en-US" altLang="zh-CN" b="0" dirty="0">
              <a:solidFill>
                <a:srgbClr val="000000"/>
              </a:solidFill>
            </a:endParaRPr>
          </a:p>
          <a:p>
            <a:pPr eaLnBrk="1" hangingPunct="1"/>
            <a:r>
              <a:rPr kumimoji="1" lang="zh-CN" altLang="en-US" b="0" dirty="0">
                <a:solidFill>
                  <a:srgbClr val="000000"/>
                </a:solidFill>
              </a:rPr>
              <a:t> </a:t>
            </a:r>
            <a:endParaRPr kumimoji="1" lang="en-US" altLang="zh-CN" b="0" dirty="0">
              <a:solidFill>
                <a:srgbClr val="000000"/>
              </a:solidFill>
            </a:endParaRPr>
          </a:p>
          <a:p>
            <a:pPr eaLnBrk="1" hangingPunct="1"/>
            <a:r>
              <a:rPr kumimoji="1" lang="zh-CN" altLang="en-US" b="0" dirty="0">
                <a:solidFill>
                  <a:srgbClr val="000000"/>
                </a:solidFill>
              </a:rPr>
              <a:t>不同来源的，具有大致相同碱基顺序的核酸片段称为同源序列。 </a:t>
            </a:r>
          </a:p>
          <a:p>
            <a:pPr eaLnBrk="1" hangingPunct="1"/>
            <a:endParaRPr kumimoji="1" lang="zh-CN" altLang="zh-CN" b="1" dirty="0">
              <a:solidFill>
                <a:srgbClr val="000000"/>
              </a:solidFill>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031">
            <a:extLst>
              <a:ext uri="{FF2B5EF4-FFF2-40B4-BE49-F238E27FC236}">
                <a16:creationId xmlns:a16="http://schemas.microsoft.com/office/drawing/2014/main" id="{DB305B6A-8C94-4BFA-B428-07FFC19C2D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5E679A9-9B25-468F-83A3-87ADECDC5317}" type="slidenum">
              <a:rPr lang="en-US" altLang="zh-CN" smtClean="0"/>
              <a:pPr>
                <a:spcBef>
                  <a:spcPct val="0"/>
                </a:spcBef>
              </a:pPr>
              <a:t>130</a:t>
            </a:fld>
            <a:endParaRPr lang="en-US" altLang="zh-CN"/>
          </a:p>
        </p:txBody>
      </p:sp>
      <p:sp>
        <p:nvSpPr>
          <p:cNvPr id="338947" name="Rectangle 2">
            <a:extLst>
              <a:ext uri="{FF2B5EF4-FFF2-40B4-BE49-F238E27FC236}">
                <a16:creationId xmlns:a16="http://schemas.microsoft.com/office/drawing/2014/main" id="{07FD0CB2-21E2-4FBB-9601-4CE112A01488}"/>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38948" name="Rectangle 3">
            <a:extLst>
              <a:ext uri="{FF2B5EF4-FFF2-40B4-BE49-F238E27FC236}">
                <a16:creationId xmlns:a16="http://schemas.microsoft.com/office/drawing/2014/main" id="{0AE39752-E84C-420B-AA70-DB1757D4E13D}"/>
              </a:ext>
            </a:extLst>
          </p:cNvPr>
          <p:cNvSpPr>
            <a:spLocks noGrp="1" noChangeArrowheads="1"/>
          </p:cNvSpPr>
          <p:nvPr>
            <p:ph type="body" idx="1"/>
          </p:nvPr>
        </p:nvSpPr>
        <p:spPr>
          <a:solidFill>
            <a:srgbClr val="FFFFFF"/>
          </a:solidFill>
          <a:ln>
            <a:solidFill>
              <a:srgbClr val="000000"/>
            </a:solidFill>
          </a:ln>
        </p:spPr>
        <p:txBody>
          <a:bodyPr/>
          <a:lstStyle/>
          <a:p>
            <a:pPr eaLnBrk="1" hangingPunct="1">
              <a:lnSpc>
                <a:spcPct val="125000"/>
              </a:lnSpc>
              <a:spcBef>
                <a:spcPct val="50000"/>
              </a:spcBef>
              <a:buClr>
                <a:schemeClr val="folHlink"/>
              </a:buClr>
              <a:buSzPct val="60000"/>
              <a:buFont typeface="Wingdings" panose="05000000000000000000" pitchFamily="2" charset="2"/>
              <a:buNone/>
            </a:pPr>
            <a:r>
              <a:rPr lang="zh-CN" altLang="en-US" sz="2800" dirty="0">
                <a:latin typeface="Tahoma" panose="020B0604030504040204" pitchFamily="34" charset="0"/>
              </a:rPr>
              <a:t>利用探针可以检测样品中是否含有特定序列的核酸。 </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幻灯片图像占位符 1">
            <a:extLst>
              <a:ext uri="{FF2B5EF4-FFF2-40B4-BE49-F238E27FC236}">
                <a16:creationId xmlns:a16="http://schemas.microsoft.com/office/drawing/2014/main" id="{DFB0EFF9-F778-4783-B0C3-B78EF838A0D6}"/>
              </a:ext>
            </a:extLst>
          </p:cNvPr>
          <p:cNvSpPr>
            <a:spLocks noGrp="1" noRot="1" noChangeAspect="1" noChangeArrowheads="1" noTextEdit="1"/>
          </p:cNvSpPr>
          <p:nvPr>
            <p:ph type="sldImg"/>
          </p:nvPr>
        </p:nvSpPr>
        <p:spPr>
          <a:xfrm>
            <a:off x="381000" y="685800"/>
            <a:ext cx="6096000" cy="3429000"/>
          </a:xfrm>
          <a:ln/>
        </p:spPr>
      </p:sp>
      <p:sp>
        <p:nvSpPr>
          <p:cNvPr id="340995" name="备注占位符 2">
            <a:extLst>
              <a:ext uri="{FF2B5EF4-FFF2-40B4-BE49-F238E27FC236}">
                <a16:creationId xmlns:a16="http://schemas.microsoft.com/office/drawing/2014/main" id="{086567B7-2BCC-4E6F-9426-D1D94A28B9C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蛋白质杂交称为</a:t>
            </a:r>
            <a:r>
              <a:rPr lang="en-US" altLang="zh-CN" dirty="0"/>
              <a:t>western  blotting</a:t>
            </a:r>
          </a:p>
          <a:p>
            <a:endParaRPr lang="en-US" altLang="zh-CN" dirty="0"/>
          </a:p>
          <a:p>
            <a:r>
              <a:rPr lang="en-US" altLang="zh-CN" dirty="0"/>
              <a:t>Southern</a:t>
            </a:r>
            <a:r>
              <a:rPr lang="zh-CN" altLang="en-US" dirty="0"/>
              <a:t>这位科学家最早发明</a:t>
            </a:r>
            <a:r>
              <a:rPr lang="en-US" altLang="zh-CN" dirty="0"/>
              <a:t>Southern</a:t>
            </a:r>
            <a:r>
              <a:rPr lang="zh-CN" altLang="en-US" dirty="0"/>
              <a:t>杂交，后面类似的印迹技术就有了相应命名。 </a:t>
            </a:r>
          </a:p>
        </p:txBody>
      </p:sp>
      <p:sp>
        <p:nvSpPr>
          <p:cNvPr id="340996" name="灯片编号占位符 3">
            <a:extLst>
              <a:ext uri="{FF2B5EF4-FFF2-40B4-BE49-F238E27FC236}">
                <a16:creationId xmlns:a16="http://schemas.microsoft.com/office/drawing/2014/main" id="{3F75BED9-B8BD-426A-A536-67547A24B3C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73378D7-5626-40E2-9A54-E5ED19399154}" type="slidenum">
              <a:rPr lang="en-US" altLang="zh-CN" sz="1200" smtClean="0"/>
              <a:pPr/>
              <a:t>131</a:t>
            </a:fld>
            <a:endParaRPr lang="en-US" altLang="zh-CN" sz="120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幻灯片图像占位符 1">
            <a:extLst>
              <a:ext uri="{FF2B5EF4-FFF2-40B4-BE49-F238E27FC236}">
                <a16:creationId xmlns:a16="http://schemas.microsoft.com/office/drawing/2014/main" id="{4FC875A8-6433-4259-B98C-652E36425F12}"/>
              </a:ext>
            </a:extLst>
          </p:cNvPr>
          <p:cNvSpPr>
            <a:spLocks noGrp="1" noRot="1" noChangeAspect="1" noChangeArrowheads="1" noTextEdit="1"/>
          </p:cNvSpPr>
          <p:nvPr>
            <p:ph type="sldImg"/>
          </p:nvPr>
        </p:nvSpPr>
        <p:spPr>
          <a:xfrm>
            <a:off x="381000" y="685800"/>
            <a:ext cx="6096000" cy="3429000"/>
          </a:xfrm>
          <a:ln/>
        </p:spPr>
      </p:sp>
      <p:sp>
        <p:nvSpPr>
          <p:cNvPr id="343043" name="备注占位符 2">
            <a:extLst>
              <a:ext uri="{FF2B5EF4-FFF2-40B4-BE49-F238E27FC236}">
                <a16:creationId xmlns:a16="http://schemas.microsoft.com/office/drawing/2014/main" id="{4BF5DC74-C870-4542-907B-0C3E148828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Figure 13.28 </a:t>
            </a:r>
            <a:r>
              <a:rPr lang="en-US" altLang="zh-CN" b="1"/>
              <a:t>The Southern blot. </a:t>
            </a:r>
            <a:r>
              <a:rPr lang="en-US" altLang="zh-CN"/>
              <a:t>Electrophoretically separated DNA fragments are transferred to a nitrocellulose sheet. A radioactively labeled probe for a DNA sequence of interest is bound to the nitrocellulose, and bands are visualized with an autoradiograph</a:t>
            </a:r>
            <a:endParaRPr lang="zh-CN" altLang="en-US"/>
          </a:p>
        </p:txBody>
      </p:sp>
      <p:sp>
        <p:nvSpPr>
          <p:cNvPr id="343044" name="灯片编号占位符 3">
            <a:extLst>
              <a:ext uri="{FF2B5EF4-FFF2-40B4-BE49-F238E27FC236}">
                <a16:creationId xmlns:a16="http://schemas.microsoft.com/office/drawing/2014/main" id="{1A59E61D-016E-4E0B-A0A0-F096A8DCB2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0351A7E-4431-45F5-8A8E-123DBCDB8617}" type="slidenum">
              <a:rPr lang="en-US" altLang="zh-CN" sz="1200" smtClean="0"/>
              <a:pPr/>
              <a:t>132</a:t>
            </a:fld>
            <a:endParaRPr lang="en-US" altLang="zh-CN" sz="120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1031">
            <a:extLst>
              <a:ext uri="{FF2B5EF4-FFF2-40B4-BE49-F238E27FC236}">
                <a16:creationId xmlns:a16="http://schemas.microsoft.com/office/drawing/2014/main" id="{730B0551-AE77-4D31-9E48-6CEBF18B90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B8E62AF-C1D9-413D-8EC2-B5EC921CF965}" type="slidenum">
              <a:rPr lang="en-US" altLang="zh-CN" smtClean="0"/>
              <a:pPr>
                <a:spcBef>
                  <a:spcPct val="0"/>
                </a:spcBef>
              </a:pPr>
              <a:t>133</a:t>
            </a:fld>
            <a:endParaRPr lang="en-US" altLang="zh-CN"/>
          </a:p>
        </p:txBody>
      </p:sp>
      <p:sp>
        <p:nvSpPr>
          <p:cNvPr id="345091" name="Rectangle 2">
            <a:extLst>
              <a:ext uri="{FF2B5EF4-FFF2-40B4-BE49-F238E27FC236}">
                <a16:creationId xmlns:a16="http://schemas.microsoft.com/office/drawing/2014/main" id="{F5C98EC0-A241-4A0D-8646-B046560116C7}"/>
              </a:ext>
            </a:extLst>
          </p:cNvPr>
          <p:cNvSpPr>
            <a:spLocks noGrp="1" noRot="1" noChangeAspect="1" noChangeArrowheads="1" noTextEdit="1"/>
          </p:cNvSpPr>
          <p:nvPr>
            <p:ph type="sldImg"/>
          </p:nvPr>
        </p:nvSpPr>
        <p:spPr>
          <a:xfrm>
            <a:off x="381000" y="685800"/>
            <a:ext cx="6096000" cy="3429000"/>
          </a:xfrm>
          <a:ln/>
        </p:spPr>
      </p:sp>
      <p:sp>
        <p:nvSpPr>
          <p:cNvPr id="345092" name="Rectangle 3">
            <a:extLst>
              <a:ext uri="{FF2B5EF4-FFF2-40B4-BE49-F238E27FC236}">
                <a16:creationId xmlns:a16="http://schemas.microsoft.com/office/drawing/2014/main" id="{0530301E-64C2-468C-924F-5E7A381B5F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solidFill>
                  <a:schemeClr val="bg1"/>
                </a:solidFill>
              </a:rPr>
              <a:t>基因芯片的本质是核酸分子杂交</a:t>
            </a:r>
          </a:p>
          <a:p>
            <a:pPr eaLnBrk="1" hangingPunct="1"/>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幻灯片图像占位符 1">
            <a:extLst>
              <a:ext uri="{FF2B5EF4-FFF2-40B4-BE49-F238E27FC236}">
                <a16:creationId xmlns:a16="http://schemas.microsoft.com/office/drawing/2014/main" id="{7014575D-53F8-4A90-B14F-07022AD7A85D}"/>
              </a:ext>
            </a:extLst>
          </p:cNvPr>
          <p:cNvSpPr>
            <a:spLocks noGrp="1" noRot="1" noChangeAspect="1" noChangeArrowheads="1" noTextEdit="1"/>
          </p:cNvSpPr>
          <p:nvPr>
            <p:ph type="sldImg"/>
          </p:nvPr>
        </p:nvSpPr>
        <p:spPr>
          <a:xfrm>
            <a:off x="381000" y="685800"/>
            <a:ext cx="6096000" cy="3429000"/>
          </a:xfrm>
          <a:ln/>
        </p:spPr>
      </p:sp>
      <p:sp>
        <p:nvSpPr>
          <p:cNvPr id="347139" name="备注占位符 2">
            <a:extLst>
              <a:ext uri="{FF2B5EF4-FFF2-40B4-BE49-F238E27FC236}">
                <a16:creationId xmlns:a16="http://schemas.microsoft.com/office/drawing/2014/main" id="{BB1B6267-6A32-47CF-BA70-B86D4EC833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47140" name="灯片编号占位符 3">
            <a:extLst>
              <a:ext uri="{FF2B5EF4-FFF2-40B4-BE49-F238E27FC236}">
                <a16:creationId xmlns:a16="http://schemas.microsoft.com/office/drawing/2014/main" id="{9E56C88E-6201-4FB2-8E68-807430571D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F86C1D4-9E30-4250-B46C-523FC6683429}" type="slidenum">
              <a:rPr lang="en-US" altLang="zh-CN" sz="1200" smtClean="0"/>
              <a:pPr/>
              <a:t>134</a:t>
            </a:fld>
            <a:endParaRPr lang="en-US" altLang="zh-CN" sz="120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幻灯片图像占位符 1">
            <a:extLst>
              <a:ext uri="{FF2B5EF4-FFF2-40B4-BE49-F238E27FC236}">
                <a16:creationId xmlns:a16="http://schemas.microsoft.com/office/drawing/2014/main" id="{3615FFF0-3A5C-4CEB-850E-FDC6C2DFE174}"/>
              </a:ext>
            </a:extLst>
          </p:cNvPr>
          <p:cNvSpPr>
            <a:spLocks noGrp="1" noRot="1" noChangeAspect="1" noChangeArrowheads="1" noTextEdit="1"/>
          </p:cNvSpPr>
          <p:nvPr>
            <p:ph type="sldImg"/>
          </p:nvPr>
        </p:nvSpPr>
        <p:spPr>
          <a:xfrm>
            <a:off x="381000" y="685800"/>
            <a:ext cx="6096000" cy="3429000"/>
          </a:xfrm>
          <a:ln/>
        </p:spPr>
      </p:sp>
      <p:sp>
        <p:nvSpPr>
          <p:cNvPr id="349187" name="备注占位符 2">
            <a:extLst>
              <a:ext uri="{FF2B5EF4-FFF2-40B4-BE49-F238E27FC236}">
                <a16:creationId xmlns:a16="http://schemas.microsoft.com/office/drawing/2014/main" id="{3060622A-3E6C-4D5E-B5A7-4E53FAA954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9188" name="灯片编号占位符 3">
            <a:extLst>
              <a:ext uri="{FF2B5EF4-FFF2-40B4-BE49-F238E27FC236}">
                <a16:creationId xmlns:a16="http://schemas.microsoft.com/office/drawing/2014/main" id="{3020181C-DE9C-4856-BFAA-B415FC0B18B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A581FCA-93DD-421F-B736-472C2688A5A8}" type="slidenum">
              <a:rPr lang="en-US" altLang="zh-CN" sz="1200" smtClean="0"/>
              <a:pPr/>
              <a:t>135</a:t>
            </a:fld>
            <a:endParaRPr lang="en-US" altLang="zh-CN" sz="120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幻灯片图像占位符 1">
            <a:extLst>
              <a:ext uri="{FF2B5EF4-FFF2-40B4-BE49-F238E27FC236}">
                <a16:creationId xmlns:a16="http://schemas.microsoft.com/office/drawing/2014/main" id="{F670F0DA-07DA-4D22-AD0A-BE4952FD493C}"/>
              </a:ext>
            </a:extLst>
          </p:cNvPr>
          <p:cNvSpPr>
            <a:spLocks noGrp="1" noRot="1" noChangeAspect="1" noChangeArrowheads="1" noTextEdit="1"/>
          </p:cNvSpPr>
          <p:nvPr>
            <p:ph type="sldImg"/>
          </p:nvPr>
        </p:nvSpPr>
        <p:spPr>
          <a:xfrm>
            <a:off x="381000" y="685800"/>
            <a:ext cx="6096000" cy="3429000"/>
          </a:xfrm>
          <a:ln/>
        </p:spPr>
      </p:sp>
      <p:sp>
        <p:nvSpPr>
          <p:cNvPr id="351235" name="备注占位符 2">
            <a:extLst>
              <a:ext uri="{FF2B5EF4-FFF2-40B4-BE49-F238E27FC236}">
                <a16:creationId xmlns:a16="http://schemas.microsoft.com/office/drawing/2014/main" id="{CDD1A04D-8972-4378-9BE5-2281C47F99D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51236" name="灯片编号占位符 3">
            <a:extLst>
              <a:ext uri="{FF2B5EF4-FFF2-40B4-BE49-F238E27FC236}">
                <a16:creationId xmlns:a16="http://schemas.microsoft.com/office/drawing/2014/main" id="{DE93C83E-6ADC-474E-950D-C04D9ADBB7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94FFD76-90AA-4FCA-84EC-9991571178A3}" type="slidenum">
              <a:rPr lang="en-US" altLang="zh-CN" sz="1200" smtClean="0"/>
              <a:pPr/>
              <a:t>136</a:t>
            </a:fld>
            <a:endParaRPr lang="en-US" altLang="zh-CN" sz="120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1">
            <a:extLst>
              <a:ext uri="{FF2B5EF4-FFF2-40B4-BE49-F238E27FC236}">
                <a16:creationId xmlns:a16="http://schemas.microsoft.com/office/drawing/2014/main" id="{981315CD-5E9F-485E-80B4-5F2182DD8EED}"/>
              </a:ext>
            </a:extLst>
          </p:cNvPr>
          <p:cNvSpPr>
            <a:spLocks noGrp="1" noRot="1" noChangeAspect="1" noChangeArrowheads="1" noTextEdit="1"/>
          </p:cNvSpPr>
          <p:nvPr>
            <p:ph type="sldImg"/>
          </p:nvPr>
        </p:nvSpPr>
        <p:spPr>
          <a:xfrm>
            <a:off x="381000" y="685800"/>
            <a:ext cx="6096000" cy="3429000"/>
          </a:xfrm>
          <a:ln/>
        </p:spPr>
      </p:sp>
      <p:sp>
        <p:nvSpPr>
          <p:cNvPr id="353283" name="备注占位符 2">
            <a:extLst>
              <a:ext uri="{FF2B5EF4-FFF2-40B4-BE49-F238E27FC236}">
                <a16:creationId xmlns:a16="http://schemas.microsoft.com/office/drawing/2014/main" id="{3955FD3E-E87E-442F-875D-6C65B127B0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RNA</a:t>
            </a:r>
            <a:r>
              <a:rPr lang="zh-CN" altLang="en-US" dirty="0"/>
              <a:t>中的</a:t>
            </a:r>
            <a:r>
              <a:rPr lang="en-US" altLang="zh-CN" dirty="0"/>
              <a:t>G</a:t>
            </a:r>
            <a:r>
              <a:rPr lang="zh-CN" altLang="en-US" dirty="0"/>
              <a:t>：</a:t>
            </a:r>
            <a:r>
              <a:rPr lang="en-US" altLang="zh-CN" dirty="0"/>
              <a:t>U</a:t>
            </a:r>
            <a:r>
              <a:rPr lang="zh-CN" altLang="en-US" dirty="0"/>
              <a:t>配对不少见，但只在已经转录出的</a:t>
            </a:r>
            <a:r>
              <a:rPr lang="en-US" altLang="zh-CN" dirty="0"/>
              <a:t>RNA</a:t>
            </a:r>
            <a:r>
              <a:rPr lang="zh-CN" altLang="en-US" dirty="0"/>
              <a:t>分子形成的局部双链结构中出现，在以</a:t>
            </a:r>
            <a:r>
              <a:rPr lang="en-US" altLang="zh-CN" dirty="0"/>
              <a:t>DNA</a:t>
            </a:r>
            <a:r>
              <a:rPr lang="zh-CN" altLang="en-US" dirty="0"/>
              <a:t>为模板生成</a:t>
            </a:r>
            <a:r>
              <a:rPr lang="en-US" altLang="zh-CN" dirty="0"/>
              <a:t>RNA</a:t>
            </a:r>
            <a:r>
              <a:rPr lang="zh-CN" altLang="en-US" dirty="0"/>
              <a:t>的过程中不会有此配对。  </a:t>
            </a:r>
          </a:p>
        </p:txBody>
      </p:sp>
      <p:sp>
        <p:nvSpPr>
          <p:cNvPr id="353284" name="灯片编号占位符 3">
            <a:extLst>
              <a:ext uri="{FF2B5EF4-FFF2-40B4-BE49-F238E27FC236}">
                <a16:creationId xmlns:a16="http://schemas.microsoft.com/office/drawing/2014/main" id="{A1F71ABA-649C-4D6B-8A7E-CFCDC4FC7C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69A39D4-0AF6-4D7C-B39D-DE71CA227B65}" type="slidenum">
              <a:rPr lang="en-US" altLang="zh-CN" sz="1200" smtClean="0"/>
              <a:pPr/>
              <a:t>137</a:t>
            </a:fld>
            <a:endParaRPr lang="en-US" altLang="zh-CN" sz="120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幻灯片图像占位符 1">
            <a:extLst>
              <a:ext uri="{FF2B5EF4-FFF2-40B4-BE49-F238E27FC236}">
                <a16:creationId xmlns:a16="http://schemas.microsoft.com/office/drawing/2014/main" id="{598A6A29-250E-4B57-BD06-1EEFE64FF769}"/>
              </a:ext>
            </a:extLst>
          </p:cNvPr>
          <p:cNvSpPr>
            <a:spLocks noGrp="1" noRot="1" noChangeAspect="1" noChangeArrowheads="1" noTextEdit="1"/>
          </p:cNvSpPr>
          <p:nvPr>
            <p:ph type="sldImg"/>
          </p:nvPr>
        </p:nvSpPr>
        <p:spPr>
          <a:xfrm>
            <a:off x="381000" y="685800"/>
            <a:ext cx="6096000" cy="3429000"/>
          </a:xfrm>
          <a:ln/>
        </p:spPr>
      </p:sp>
      <p:sp>
        <p:nvSpPr>
          <p:cNvPr id="355331" name="备注占位符 2">
            <a:extLst>
              <a:ext uri="{FF2B5EF4-FFF2-40B4-BE49-F238E27FC236}">
                <a16:creationId xmlns:a16="http://schemas.microsoft.com/office/drawing/2014/main" id="{7D178248-251D-430F-9A3A-17074D6B7C8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55332" name="灯片编号占位符 3">
            <a:extLst>
              <a:ext uri="{FF2B5EF4-FFF2-40B4-BE49-F238E27FC236}">
                <a16:creationId xmlns:a16="http://schemas.microsoft.com/office/drawing/2014/main" id="{0ECE80C1-ECD5-4DF6-BB56-7DB5A3D96F5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DFACDFA-1B21-4B5E-B943-785A8123E29D}" type="slidenum">
              <a:rPr lang="en-US" altLang="zh-CN" sz="1200" smtClean="0"/>
              <a:pPr/>
              <a:t>138</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bwMode="ltGray">
      <p:bgPr>
        <a:solidFill>
          <a:schemeClr val="bg1"/>
        </a:solidFill>
        <a:effectLst/>
      </p:bgPr>
    </p:bg>
    <p:spTree>
      <p:nvGrpSpPr>
        <p:cNvPr id="1" name=""/>
        <p:cNvGrpSpPr/>
        <p:nvPr/>
      </p:nvGrpSpPr>
      <p:grpSpPr>
        <a:xfrm>
          <a:off x="0" y="0"/>
          <a:ext cx="0" cy="0"/>
          <a:chOff x="0" y="0"/>
          <a:chExt cx="0" cy="0"/>
        </a:xfrm>
      </p:grpSpPr>
      <p:sp>
        <p:nvSpPr>
          <p:cNvPr id="661509" name="Rectangle 5"/>
          <p:cNvSpPr>
            <a:spLocks noGrp="1" noChangeArrowheads="1"/>
          </p:cNvSpPr>
          <p:nvPr>
            <p:ph type="subTitle" idx="1"/>
          </p:nvPr>
        </p:nvSpPr>
        <p:spPr>
          <a:xfrm>
            <a:off x="1828800" y="5715000"/>
            <a:ext cx="8026400" cy="533400"/>
          </a:xfrm>
        </p:spPr>
        <p:txBody>
          <a:bodyPr/>
          <a:lstStyle>
            <a:lvl1pPr marL="0" indent="0" algn="ctr">
              <a:buFont typeface="Wingdings" pitchFamily="2" charset="2"/>
              <a:buNone/>
              <a:defRPr sz="2000"/>
            </a:lvl1pPr>
          </a:lstStyle>
          <a:p>
            <a:r>
              <a:rPr lang="zh-CN" altLang="en-US"/>
              <a:t>单击此处编辑母版副标题样式</a:t>
            </a:r>
          </a:p>
        </p:txBody>
      </p:sp>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46795882"/>
      </p:ext>
    </p:extLst>
  </p:cSld>
  <p:clrMapOvr>
    <a:overrideClrMapping bg1="lt1" tx1="dk1" bg2="lt2" tx2="dk2" accent1="accent1" accent2="accent2" accent3="accent3" accent4="accent4" accent5="accent5" accent6="accent6" hlink="hlink" folHlink="folHlink"/>
  </p:clrMapOvr>
  <p:transition spd="slow">
    <p:circl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lvl1pPr>
              <a:defRPr>
                <a:solidFill>
                  <a:srgbClr val="003300"/>
                </a:solidFill>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10421275"/>
      </p:ext>
    </p:extLst>
  </p:cSld>
  <p:clrMapOvr>
    <a:masterClrMapping/>
  </p:clrMapOvr>
  <p:transition spd="slow">
    <p:circl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lvl1pPr>
              <a:defRPr>
                <a:solidFill>
                  <a:srgbClr val="003300"/>
                </a:solidFill>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430015978"/>
      </p:ext>
    </p:extLst>
  </p:cSld>
  <p:clrMapOvr>
    <a:masterClrMapping/>
  </p:clrMapOvr>
  <p:transition spd="slow">
    <p:circl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effectLst/>
        </p:spPr>
        <p:txBody>
          <a:bodyPr/>
          <a:lstStyle>
            <a:lvl1pPr>
              <a:defRPr sz="3600" b="1"/>
            </a:lvl1pPr>
          </a:lstStyle>
          <a:p>
            <a:r>
              <a:rPr lang="zh-CN" altLang="en-US" dirty="0"/>
              <a:t>单击此处编辑母版标题样式</a:t>
            </a:r>
          </a:p>
        </p:txBody>
      </p:sp>
      <p:sp>
        <p:nvSpPr>
          <p:cNvPr id="3" name="内容占位符 2"/>
          <p:cNvSpPr>
            <a:spLocks noGrp="1"/>
          </p:cNvSpPr>
          <p:nvPr>
            <p:ph sz="half" idx="1"/>
          </p:nvPr>
        </p:nvSpPr>
        <p:spPr>
          <a:xfrm>
            <a:off x="609600" y="1219200"/>
            <a:ext cx="53340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6800" y="1219200"/>
            <a:ext cx="53340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70927049"/>
      </p:ext>
    </p:extLst>
  </p:cSld>
  <p:clrMapOvr>
    <a:masterClrMapping/>
  </p:clrMapOvr>
  <p:transition spd="slow">
    <p:circl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Tree>
    <p:extLst>
      <p:ext uri="{BB962C8B-B14F-4D97-AF65-F5344CB8AC3E}">
        <p14:creationId xmlns:p14="http://schemas.microsoft.com/office/powerpoint/2010/main" val="340441039"/>
      </p:ext>
    </p:extLst>
  </p:cSld>
  <p:clrMapOvr>
    <a:masterClrMapping/>
  </p:clrMapOvr>
  <p:transition spd="slow">
    <p:circl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B49DF59-D986-4F77-9B78-B45C5419E5BF}"/>
              </a:ext>
            </a:extLst>
          </p:cNvPr>
          <p:cNvPicPr>
            <a:picLocks noChangeAspect="1"/>
          </p:cNvPicPr>
          <p:nvPr userDrawn="1"/>
        </p:nvPicPr>
        <p:blipFill>
          <a:blip r:embed="rId2">
            <a:lum bright="70000" contrast="-70000"/>
          </a:blip>
          <a:stretch>
            <a:fillRect/>
          </a:stretch>
        </p:blipFill>
        <p:spPr>
          <a:xfrm>
            <a:off x="47328" y="5229200"/>
            <a:ext cx="1219200" cy="1695450"/>
          </a:xfrm>
          <a:prstGeom prst="rect">
            <a:avLst/>
          </a:prstGeom>
          <a:effectLst>
            <a:softEdge rad="292100"/>
          </a:effectLst>
        </p:spPr>
      </p:pic>
    </p:spTree>
    <p:extLst>
      <p:ext uri="{BB962C8B-B14F-4D97-AF65-F5344CB8AC3E}">
        <p14:creationId xmlns:p14="http://schemas.microsoft.com/office/powerpoint/2010/main" val="3128005236"/>
      </p:ext>
    </p:extLst>
  </p:cSld>
  <p:clrMapOvr>
    <a:masterClrMapping/>
  </p:clrMapOvr>
  <p:transition spd="slow">
    <p:circl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2">
            <a:extLst>
              <a:ext uri="{FF2B5EF4-FFF2-40B4-BE49-F238E27FC236}">
                <a16:creationId xmlns:a16="http://schemas.microsoft.com/office/drawing/2014/main" id="{67486EDD-05E3-493E-B012-C0887D13B3CB}"/>
              </a:ext>
            </a:extLst>
          </p:cNvPr>
          <p:cNvSpPr>
            <a:spLocks noGrp="1"/>
          </p:cNvSpPr>
          <p:nvPr>
            <p:ph type="sldNum" sz="quarter" idx="10"/>
          </p:nvPr>
        </p:nvSpPr>
        <p:spPr>
          <a:xfrm>
            <a:off x="11184467" y="6492876"/>
            <a:ext cx="924984" cy="365125"/>
          </a:xfrm>
        </p:spPr>
        <p:txBody>
          <a:bodyPr/>
          <a:lstStyle>
            <a:lvl1pPr>
              <a:defRPr/>
            </a:lvl1pPr>
          </a:lstStyle>
          <a:p>
            <a:pPr>
              <a:defRPr/>
            </a:pPr>
            <a:fld id="{55A893B6-A641-4157-B0E5-6A3A9E8DDE94}" type="slidenum">
              <a:rPr lang="zh-CN" altLang="en-US"/>
              <a:pPr>
                <a:defRPr/>
              </a:pPr>
              <a:t>‹#›</a:t>
            </a:fld>
            <a:endParaRPr lang="zh-CN" altLang="en-US"/>
          </a:p>
        </p:txBody>
      </p:sp>
    </p:spTree>
    <p:extLst>
      <p:ext uri="{BB962C8B-B14F-4D97-AF65-F5344CB8AC3E}">
        <p14:creationId xmlns:p14="http://schemas.microsoft.com/office/powerpoint/2010/main" val="901688660"/>
      </p:ext>
    </p:extLst>
  </p:cSld>
  <p:clrMapOvr>
    <a:masterClrMapping/>
  </p:clrMapOvr>
  <p:transition spd="slow">
    <p:circl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367043574"/>
      </p:ext>
    </p:extLst>
  </p:cSld>
  <p:clrMapOvr>
    <a:masterClrMapping/>
  </p:clrMapOvr>
  <p:transition spd="slow">
    <p:circl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81000"/>
            <a:ext cx="108712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219200"/>
            <a:ext cx="5334000"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6800" y="1219200"/>
            <a:ext cx="5334000"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55419211"/>
      </p:ext>
    </p:extLst>
  </p:cSld>
  <p:clrMapOvr>
    <a:masterClrMapping/>
  </p:clrMapOvr>
  <p:transition spd="slow">
    <p:circl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81000"/>
            <a:ext cx="108712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219200"/>
            <a:ext cx="5334000"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46800" y="1219200"/>
            <a:ext cx="53340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46800" y="3886200"/>
            <a:ext cx="53340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23691182"/>
      </p:ext>
    </p:extLst>
  </p:cSld>
  <p:clrMapOvr>
    <a:masterClrMapping/>
  </p:clrMapOvr>
  <p:transition spd="slow">
    <p:circl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381000"/>
            <a:ext cx="10871200" cy="533400"/>
          </a:xfrm>
        </p:spPr>
        <p:txBody>
          <a:bodyPr/>
          <a:lstStyle/>
          <a:p>
            <a:r>
              <a:rPr lang="zh-CN" altLang="en-US"/>
              <a:t>单击此处编辑母版标题样式</a:t>
            </a:r>
          </a:p>
        </p:txBody>
      </p:sp>
      <p:sp>
        <p:nvSpPr>
          <p:cNvPr id="3" name="内容占位符 2"/>
          <p:cNvSpPr>
            <a:spLocks noGrp="1"/>
          </p:cNvSpPr>
          <p:nvPr>
            <p:ph sz="quarter" idx="1"/>
          </p:nvPr>
        </p:nvSpPr>
        <p:spPr>
          <a:xfrm>
            <a:off x="609600" y="1219200"/>
            <a:ext cx="53340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46800" y="1219200"/>
            <a:ext cx="53340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09600" y="3886200"/>
            <a:ext cx="53340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46800" y="3886200"/>
            <a:ext cx="53340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18893158"/>
      </p:ext>
    </p:extLst>
  </p:cSld>
  <p:clrMapOvr>
    <a:masterClrMapping/>
  </p:clrMapOvr>
  <p:transition spd="slow">
    <p:circl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381000"/>
            <a:ext cx="10871200" cy="6019800"/>
          </a:xfrm>
        </p:spPr>
        <p:txBody>
          <a:bodyPr/>
          <a:lstStyle>
            <a:lvl1pPr>
              <a:defRPr>
                <a:solidFill>
                  <a:srgbClr val="080808"/>
                </a:solidFill>
              </a:defRPr>
            </a:lvl1pPr>
            <a:lvl2pPr>
              <a:defRPr>
                <a:solidFill>
                  <a:srgbClr val="080808"/>
                </a:solidFill>
              </a:defRPr>
            </a:lvl2pPr>
            <a:lvl3pPr>
              <a:defRPr>
                <a:solidFill>
                  <a:srgbClr val="080808"/>
                </a:solidFill>
              </a:defRPr>
            </a:lvl3pPr>
            <a:lvl4pPr>
              <a:defRPr>
                <a:solidFill>
                  <a:srgbClr val="080808"/>
                </a:solidFill>
              </a:defRPr>
            </a:lvl4pPr>
            <a:lvl5pPr>
              <a:defRPr>
                <a:solidFill>
                  <a:srgbClr val="080808"/>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24563133"/>
      </p:ext>
    </p:extLst>
  </p:cSld>
  <p:clrMapOvr>
    <a:masterClrMapping/>
  </p:clrMapOvr>
  <p:transition spd="slow">
    <p:circl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381000"/>
            <a:ext cx="10871200" cy="533400"/>
          </a:xfrm>
        </p:spPr>
        <p:txBody>
          <a:bodyPr/>
          <a:lstStyle/>
          <a:p>
            <a:r>
              <a:rPr lang="zh-CN" altLang="en-US"/>
              <a:t>单击此处编辑母版标题样式</a:t>
            </a:r>
          </a:p>
        </p:txBody>
      </p:sp>
      <p:sp>
        <p:nvSpPr>
          <p:cNvPr id="3" name="表格占位符 2"/>
          <p:cNvSpPr>
            <a:spLocks noGrp="1"/>
          </p:cNvSpPr>
          <p:nvPr>
            <p:ph type="tbl" idx="1"/>
          </p:nvPr>
        </p:nvSpPr>
        <p:spPr>
          <a:xfrm>
            <a:off x="609600" y="1219200"/>
            <a:ext cx="10871200" cy="5181600"/>
          </a:xfrm>
        </p:spPr>
        <p:txBody>
          <a:bodyPr/>
          <a:lstStyle/>
          <a:p>
            <a:pPr lvl="0"/>
            <a:endParaRPr lang="zh-CN" altLang="en-US" noProof="0"/>
          </a:p>
        </p:txBody>
      </p:sp>
    </p:spTree>
    <p:extLst>
      <p:ext uri="{BB962C8B-B14F-4D97-AF65-F5344CB8AC3E}">
        <p14:creationId xmlns:p14="http://schemas.microsoft.com/office/powerpoint/2010/main" val="3286226634"/>
      </p:ext>
    </p:extLst>
  </p:cSld>
  <p:clrMapOvr>
    <a:masterClrMapping/>
  </p:clrMapOvr>
  <p:transition spd="slow">
    <p:circl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空白">
    <p:bg>
      <p:bgPr>
        <a:solidFill>
          <a:schemeClr val="bg1"/>
        </a:solidFill>
        <a:effectLst/>
      </p:bgPr>
    </p:bg>
    <p:spTree>
      <p:nvGrpSpPr>
        <p:cNvPr id="1" name=""/>
        <p:cNvGrpSpPr/>
        <p:nvPr/>
      </p:nvGrpSpPr>
      <p:grpSpPr>
        <a:xfrm>
          <a:off x="0" y="0"/>
          <a:ext cx="0" cy="0"/>
          <a:chOff x="0" y="0"/>
          <a:chExt cx="0" cy="0"/>
        </a:xfrm>
      </p:grpSpPr>
      <p:sp>
        <p:nvSpPr>
          <p:cNvPr id="4" name="内容占位符 2"/>
          <p:cNvSpPr>
            <a:spLocks noGrp="1"/>
          </p:cNvSpPr>
          <p:nvPr>
            <p:ph idx="1"/>
          </p:nvPr>
        </p:nvSpPr>
        <p:spPr>
          <a:xfrm>
            <a:off x="609600" y="1430338"/>
            <a:ext cx="10972800" cy="4678362"/>
          </a:xfrm>
        </p:spPr>
        <p:txBody>
          <a:bodyPr/>
          <a:lstStyle>
            <a:lvl1pPr>
              <a:defRPr>
                <a:latin typeface="Arial Narrow" panose="020B0606020202030204" pitchFamily="34" charset="0"/>
              </a:defRPr>
            </a:lvl1pPr>
            <a:lvl2pPr>
              <a:defRPr>
                <a:latin typeface="Arial Narrow" panose="020B0606020202030204" pitchFamily="34" charset="0"/>
              </a:defRPr>
            </a:lvl2pPr>
            <a:lvl3pPr>
              <a:defRPr>
                <a:latin typeface="Arial Narrow" panose="020B0606020202030204" pitchFamily="34" charset="0"/>
              </a:defRPr>
            </a:lvl3pPr>
            <a:lvl4pPr>
              <a:defRPr>
                <a:latin typeface="Arial Narrow" panose="020B0606020202030204" pitchFamily="34" charset="0"/>
              </a:defRPr>
            </a:lvl4pPr>
            <a:lvl5pPr>
              <a:defRPr>
                <a:latin typeface="Arial Narrow" panose="020B0606020202030204" pitchFamily="34"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6"/>
          <p:cNvSpPr>
            <a:spLocks noGrp="1"/>
          </p:cNvSpPr>
          <p:nvPr>
            <p:ph type="title"/>
          </p:nvPr>
        </p:nvSpPr>
        <p:spPr>
          <a:xfrm>
            <a:off x="1377951" y="267494"/>
            <a:ext cx="8750300" cy="857250"/>
          </a:xfrm>
        </p:spPr>
        <p:txBody>
          <a:bodyPr/>
          <a:lstStyle>
            <a:lvl1pPr>
              <a:defRPr b="1">
                <a:solidFill>
                  <a:srgbClr val="0033CC"/>
                </a:solidFill>
                <a:latin typeface="Arial" panose="020B0604020202020204" pitchFamily="34" charset="0"/>
                <a:cs typeface="Arial" panose="020B0604020202020204" pitchFamily="34" charset="0"/>
              </a:defRPr>
            </a:lvl1pPr>
          </a:lstStyle>
          <a:p>
            <a:r>
              <a:rPr lang="zh-CN" altLang="en-US" dirty="0"/>
              <a:t>单击此处编辑母版标题样式</a:t>
            </a:r>
          </a:p>
        </p:txBody>
      </p:sp>
      <p:sp>
        <p:nvSpPr>
          <p:cNvPr id="6" name="日期占位符 1">
            <a:extLst>
              <a:ext uri="{FF2B5EF4-FFF2-40B4-BE49-F238E27FC236}">
                <a16:creationId xmlns:a16="http://schemas.microsoft.com/office/drawing/2014/main" id="{B6C164C8-9C2D-406C-A68C-5340B60E7E37}"/>
              </a:ext>
            </a:extLst>
          </p:cNvPr>
          <p:cNvSpPr>
            <a:spLocks noGrp="1"/>
          </p:cNvSpPr>
          <p:nvPr>
            <p:ph type="dt" sz="half" idx="10"/>
          </p:nvPr>
        </p:nvSpPr>
        <p:spPr>
          <a:xfrm>
            <a:off x="0" y="0"/>
            <a:ext cx="0" cy="0"/>
          </a:xfrm>
        </p:spPr>
        <p:txBody>
          <a:bodyPr/>
          <a:lstStyle>
            <a:lvl1pPr>
              <a:defRPr/>
            </a:lvl1pPr>
          </a:lstStyle>
          <a:p>
            <a:pPr>
              <a:defRPr/>
            </a:pPr>
            <a:fld id="{7B0F5112-8401-42AC-A770-6A329F9740E0}" type="datetime1">
              <a:rPr lang="zh-CN" altLang="en-US"/>
              <a:pPr>
                <a:defRPr/>
              </a:pPr>
              <a:t>2026/9/10</a:t>
            </a:fld>
            <a:endParaRPr lang="en-US" altLang="zh-CN"/>
          </a:p>
        </p:txBody>
      </p:sp>
    </p:spTree>
    <p:extLst>
      <p:ext uri="{BB962C8B-B14F-4D97-AF65-F5344CB8AC3E}">
        <p14:creationId xmlns:p14="http://schemas.microsoft.com/office/powerpoint/2010/main" val="280560404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08A6201-7A68-4363-89F8-3B3F73241330}"/>
              </a:ext>
            </a:extLst>
          </p:cNvPr>
          <p:cNvPicPr>
            <a:picLocks noChangeAspect="1"/>
          </p:cNvPicPr>
          <p:nvPr userDrawn="1"/>
        </p:nvPicPr>
        <p:blipFill>
          <a:blip r:embed="rId16">
            <a:lum bright="70000" contrast="-70000"/>
          </a:blip>
          <a:stretch>
            <a:fillRect/>
          </a:stretch>
        </p:blipFill>
        <p:spPr>
          <a:xfrm>
            <a:off x="47328" y="5229200"/>
            <a:ext cx="1219200" cy="1695450"/>
          </a:xfrm>
          <a:prstGeom prst="rect">
            <a:avLst/>
          </a:prstGeom>
          <a:effectLst>
            <a:softEdge rad="292100"/>
          </a:effectLst>
        </p:spPr>
      </p:pic>
      <p:sp>
        <p:nvSpPr>
          <p:cNvPr id="1027" name="Rectangle 3">
            <a:extLst>
              <a:ext uri="{FF2B5EF4-FFF2-40B4-BE49-F238E27FC236}">
                <a16:creationId xmlns:a16="http://schemas.microsoft.com/office/drawing/2014/main" id="{86D37BBA-7E28-4058-B373-3945EE92A1DC}"/>
              </a:ext>
            </a:extLst>
          </p:cNvPr>
          <p:cNvSpPr>
            <a:spLocks noGrp="1" noChangeArrowheads="1"/>
          </p:cNvSpPr>
          <p:nvPr>
            <p:ph type="title"/>
          </p:nvPr>
        </p:nvSpPr>
        <p:spPr bwMode="gray">
          <a:xfrm>
            <a:off x="696384" y="188913"/>
            <a:ext cx="10871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8" name="Rectangle 4">
            <a:extLst>
              <a:ext uri="{FF2B5EF4-FFF2-40B4-BE49-F238E27FC236}">
                <a16:creationId xmlns:a16="http://schemas.microsoft.com/office/drawing/2014/main" id="{13F9BEB4-9F27-476E-8D51-EDCF1D95A36B}"/>
              </a:ext>
            </a:extLst>
          </p:cNvPr>
          <p:cNvSpPr>
            <a:spLocks noGrp="1" noChangeArrowheads="1"/>
          </p:cNvSpPr>
          <p:nvPr>
            <p:ph type="body" idx="1"/>
          </p:nvPr>
        </p:nvSpPr>
        <p:spPr bwMode="gray">
          <a:xfrm>
            <a:off x="609600" y="1219200"/>
            <a:ext cx="108712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灯片编号占位符 8">
            <a:extLst>
              <a:ext uri="{FF2B5EF4-FFF2-40B4-BE49-F238E27FC236}">
                <a16:creationId xmlns:a16="http://schemas.microsoft.com/office/drawing/2014/main" id="{4CB3F8B0-B033-436E-855F-45BD6B725C46}"/>
              </a:ext>
            </a:extLst>
          </p:cNvPr>
          <p:cNvSpPr>
            <a:spLocks noGrp="1"/>
          </p:cNvSpPr>
          <p:nvPr>
            <p:ph type="sldNum" sz="quarter" idx="4"/>
          </p:nvPr>
        </p:nvSpPr>
        <p:spPr>
          <a:xfrm>
            <a:off x="10897658" y="6480162"/>
            <a:ext cx="1166283"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F89"/>
                </a:solidFill>
                <a:latin typeface="微软雅黑" panose="020B0503020204020204" pitchFamily="34" charset="-122"/>
                <a:ea typeface="微软雅黑" panose="020B0503020204020204" pitchFamily="34" charset="-122"/>
              </a:defRPr>
            </a:lvl1pPr>
          </a:lstStyle>
          <a:p>
            <a:pPr>
              <a:defRPr/>
            </a:pPr>
            <a:fld id="{DB3236C1-1923-4D0F-A862-7A3C58269170}" type="slidenum">
              <a:rPr lang="zh-CN" altLang="en-US"/>
              <a:pPr>
                <a:defRPr/>
              </a:pPr>
              <a:t>‹#›</a:t>
            </a:fld>
            <a:endParaRPr lang="zh-CN" altLang="en-US"/>
          </a:p>
        </p:txBody>
      </p:sp>
      <p:cxnSp>
        <p:nvCxnSpPr>
          <p:cNvPr id="4" name="直接连接符 3">
            <a:extLst>
              <a:ext uri="{FF2B5EF4-FFF2-40B4-BE49-F238E27FC236}">
                <a16:creationId xmlns:a16="http://schemas.microsoft.com/office/drawing/2014/main" id="{54BC98DD-F006-41DF-98F3-F43DF3F00E5F}"/>
              </a:ext>
            </a:extLst>
          </p:cNvPr>
          <p:cNvCxnSpPr/>
          <p:nvPr userDrawn="1"/>
        </p:nvCxnSpPr>
        <p:spPr bwMode="auto">
          <a:xfrm>
            <a:off x="527051" y="836613"/>
            <a:ext cx="11135783"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Tree>
  </p:cSld>
  <p:clrMap bg1="lt1" tx1="dk1" bg2="lt2" tx2="dk2" accent1="accent1" accent2="accent2" accent3="accent3" accent4="accent4" accent5="accent5" accent6="accent6" hlink="hlink" folHlink="folHlink"/>
  <p:sldLayoutIdLst>
    <p:sldLayoutId id="2147485514" r:id="rId1"/>
    <p:sldLayoutId id="2147485515" r:id="rId2"/>
    <p:sldLayoutId id="2147485516" r:id="rId3"/>
    <p:sldLayoutId id="2147485517" r:id="rId4"/>
    <p:sldLayoutId id="2147485518" r:id="rId5"/>
    <p:sldLayoutId id="2147485519" r:id="rId6"/>
    <p:sldLayoutId id="2147485520" r:id="rId7"/>
    <p:sldLayoutId id="2147485521" r:id="rId8"/>
    <p:sldLayoutId id="2147485522" r:id="rId9"/>
    <p:sldLayoutId id="2147485523" r:id="rId10"/>
    <p:sldLayoutId id="2147485524" r:id="rId11"/>
    <p:sldLayoutId id="2147485525" r:id="rId12"/>
    <p:sldLayoutId id="2147485526" r:id="rId13"/>
    <p:sldLayoutId id="2147485527" r:id="rId14"/>
  </p:sldLayoutIdLst>
  <p:transition spd="slow">
    <p:circle/>
  </p:transition>
  <p:hf hdr="0"/>
  <p:txStyles>
    <p:titleStyle>
      <a:lvl1pPr algn="ctr" rtl="0" eaLnBrk="0" fontAlgn="base" hangingPunct="0">
        <a:spcBef>
          <a:spcPct val="0"/>
        </a:spcBef>
        <a:spcAft>
          <a:spcPct val="0"/>
        </a:spcAft>
        <a:defRPr sz="3200" b="1">
          <a:solidFill>
            <a:srgbClr val="0000CC"/>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3200" b="1">
          <a:solidFill>
            <a:srgbClr val="0000CC"/>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200" b="1">
          <a:solidFill>
            <a:srgbClr val="0000CC"/>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200" b="1">
          <a:solidFill>
            <a:srgbClr val="0000CC"/>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200" b="1">
          <a:solidFill>
            <a:srgbClr val="0000CC"/>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chemeClr val="bg1"/>
          </a:solidFill>
          <a:latin typeface="黑体" pitchFamily="49" charset="-122"/>
          <a:ea typeface="黑体" pitchFamily="49" charset="-122"/>
        </a:defRPr>
      </a:lvl6pPr>
      <a:lvl7pPr marL="914400" algn="ctr" rtl="0" fontAlgn="base">
        <a:spcBef>
          <a:spcPct val="0"/>
        </a:spcBef>
        <a:spcAft>
          <a:spcPct val="0"/>
        </a:spcAft>
        <a:defRPr sz="2800" b="1">
          <a:solidFill>
            <a:schemeClr val="bg1"/>
          </a:solidFill>
          <a:latin typeface="黑体" pitchFamily="49" charset="-122"/>
          <a:ea typeface="黑体" pitchFamily="49" charset="-122"/>
        </a:defRPr>
      </a:lvl7pPr>
      <a:lvl8pPr marL="1371600" algn="ctr" rtl="0" fontAlgn="base">
        <a:spcBef>
          <a:spcPct val="0"/>
        </a:spcBef>
        <a:spcAft>
          <a:spcPct val="0"/>
        </a:spcAft>
        <a:defRPr sz="2800" b="1">
          <a:solidFill>
            <a:schemeClr val="bg1"/>
          </a:solidFill>
          <a:latin typeface="黑体" pitchFamily="49" charset="-122"/>
          <a:ea typeface="黑体" pitchFamily="49" charset="-122"/>
        </a:defRPr>
      </a:lvl8pPr>
      <a:lvl9pPr marL="1828800" algn="ctr" rtl="0" fontAlgn="base">
        <a:spcBef>
          <a:spcPct val="0"/>
        </a:spcBef>
        <a:spcAft>
          <a:spcPct val="0"/>
        </a:spcAft>
        <a:defRPr sz="2800" b="1">
          <a:solidFill>
            <a:schemeClr val="bg1"/>
          </a:solidFill>
          <a:latin typeface="黑体" pitchFamily="49" charset="-122"/>
          <a:ea typeface="黑体" pitchFamily="49" charset="-122"/>
        </a:defRPr>
      </a:lvl9pPr>
    </p:titleStyle>
    <p:bodyStyle>
      <a:lvl1pPr marL="342900" indent="-342900" algn="l" rtl="0" eaLnBrk="0" fontAlgn="base" hangingPunct="0">
        <a:spcBef>
          <a:spcPct val="20000"/>
        </a:spcBef>
        <a:spcAft>
          <a:spcPct val="0"/>
        </a:spcAft>
        <a:buClr>
          <a:schemeClr val="accent1"/>
        </a:buClr>
        <a:buFont typeface="Wingdings" panose="05000000000000000000" pitchFamily="2" charset="2"/>
        <a:buChar char="v"/>
        <a:defRPr sz="2800" b="1">
          <a:solidFill>
            <a:srgbClr val="080808"/>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rgbClr val="080808"/>
          </a:solidFill>
          <a:latin typeface="微软雅黑" panose="020B0503020204020204" pitchFamily="34" charset="-122"/>
          <a:ea typeface="微软雅黑" panose="020B0503020204020204" pitchFamily="34" charset="-122"/>
        </a:defRPr>
      </a:lvl2pPr>
      <a:lvl3pPr marL="1143000" indent="-228600" algn="l" rtl="0" eaLnBrk="0" fontAlgn="base" hangingPunct="0">
        <a:spcBef>
          <a:spcPct val="20000"/>
        </a:spcBef>
        <a:spcAft>
          <a:spcPct val="0"/>
        </a:spcAft>
        <a:buClr>
          <a:schemeClr val="tx1"/>
        </a:buClr>
        <a:buChar char="•"/>
        <a:defRPr sz="2400">
          <a:solidFill>
            <a:srgbClr val="080808"/>
          </a:solidFill>
          <a:latin typeface="微软雅黑" panose="020B0503020204020204" pitchFamily="34" charset="-122"/>
          <a:ea typeface="微软雅黑" panose="020B0503020204020204" pitchFamily="34" charset="-122"/>
        </a:defRPr>
      </a:lvl3pPr>
      <a:lvl4pPr marL="1600200" indent="-228600" algn="l" rtl="0" eaLnBrk="0" fontAlgn="base" hangingPunct="0">
        <a:spcBef>
          <a:spcPct val="20000"/>
        </a:spcBef>
        <a:spcAft>
          <a:spcPct val="0"/>
        </a:spcAft>
        <a:buChar char="–"/>
        <a:defRPr sz="2000">
          <a:solidFill>
            <a:srgbClr val="080808"/>
          </a:solidFill>
          <a:latin typeface="微软雅黑" panose="020B0503020204020204" pitchFamily="34" charset="-122"/>
          <a:ea typeface="微软雅黑" panose="020B0503020204020204" pitchFamily="34" charset="-122"/>
        </a:defRPr>
      </a:lvl4pPr>
      <a:lvl5pPr marL="2057400" indent="-228600" algn="l" rtl="0" eaLnBrk="0" fontAlgn="base" hangingPunct="0">
        <a:spcBef>
          <a:spcPct val="20000"/>
        </a:spcBef>
        <a:spcAft>
          <a:spcPct val="0"/>
        </a:spcAft>
        <a:buChar char="»"/>
        <a:defRPr sz="2000">
          <a:solidFill>
            <a:srgbClr val="080808"/>
          </a:solidFill>
          <a:latin typeface="微软雅黑" panose="020B0503020204020204" pitchFamily="34" charset="-122"/>
          <a:ea typeface="微软雅黑" panose="020B0503020204020204" pitchFamily="34"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5.wmf"/><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9.wmf"/><Relationship Id="rId5" Type="http://schemas.openxmlformats.org/officeDocument/2006/relationships/oleObject" Target="../embeddings/oleObject6.bin"/><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4.wmf"/><Relationship Id="rId5" Type="http://schemas.openxmlformats.org/officeDocument/2006/relationships/oleObject" Target="../embeddings/oleObject9.bin"/><Relationship Id="rId4" Type="http://schemas.openxmlformats.org/officeDocument/2006/relationships/image" Target="../media/image13.wmf"/></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wmf"/></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33.jpe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35.jpeg"/></Relationships>
</file>

<file path=ppt/slides/_rels/slide3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3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41.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43.jpeg"/><Relationship Id="rId4" Type="http://schemas.openxmlformats.org/officeDocument/2006/relationships/slide" Target="slide14.xml"/></Relationships>
</file>

<file path=ppt/slides/_rels/slide45.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8.xml"/><Relationship Id="rId1" Type="http://schemas.openxmlformats.org/officeDocument/2006/relationships/slideLayout" Target="../slideLayouts/slideLayout6.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9.xml"/><Relationship Id="rId1" Type="http://schemas.openxmlformats.org/officeDocument/2006/relationships/slideLayout" Target="../slideLayouts/slideLayout6.xml"/><Relationship Id="rId4" Type="http://schemas.openxmlformats.org/officeDocument/2006/relationships/image" Target="../media/image58.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4.xml"/><Relationship Id="rId1" Type="http://schemas.openxmlformats.org/officeDocument/2006/relationships/slideLayout" Target="../slideLayouts/slideLayout5.xml"/><Relationship Id="rId4" Type="http://schemas.openxmlformats.org/officeDocument/2006/relationships/image" Target="../media/image63.png"/></Relationships>
</file>

<file path=ppt/slides/_rels/slide5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5.xml"/><Relationship Id="rId1" Type="http://schemas.openxmlformats.org/officeDocument/2006/relationships/slideLayout" Target="../slideLayouts/slideLayout6.xml"/><Relationship Id="rId4" Type="http://schemas.openxmlformats.org/officeDocument/2006/relationships/image" Target="../media/image65.png"/></Relationships>
</file>

<file path=ppt/slides/_rels/slide5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71.jpeg"/></Relationships>
</file>

<file path=ppt/slides/_rels/slide6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6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4.xml"/><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65.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65.xml"/><Relationship Id="rId1" Type="http://schemas.openxmlformats.org/officeDocument/2006/relationships/slideLayout" Target="../slideLayouts/slideLayout6.xml"/><Relationship Id="rId4" Type="http://schemas.openxmlformats.org/officeDocument/2006/relationships/image" Target="../media/image73.png"/></Relationships>
</file>

<file path=ppt/slides/_rels/slide66.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68.xml"/><Relationship Id="rId1" Type="http://schemas.openxmlformats.org/officeDocument/2006/relationships/slideLayout" Target="../slideLayouts/slideLayout7.xml"/><Relationship Id="rId6" Type="http://schemas.openxmlformats.org/officeDocument/2006/relationships/image" Target="../media/image80.jpeg"/><Relationship Id="rId5" Type="http://schemas.openxmlformats.org/officeDocument/2006/relationships/image" Target="../media/image79.png"/><Relationship Id="rId4" Type="http://schemas.openxmlformats.org/officeDocument/2006/relationships/image" Target="../media/image78.emf"/></Relationships>
</file>

<file path=ppt/slides/_rels/slide69.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71.xml"/><Relationship Id="rId1" Type="http://schemas.openxmlformats.org/officeDocument/2006/relationships/slideLayout" Target="../slideLayouts/slideLayout6.xml"/><Relationship Id="rId4" Type="http://schemas.openxmlformats.org/officeDocument/2006/relationships/image" Target="../media/image83.png"/></Relationships>
</file>

<file path=ppt/slides/_rels/slide7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6.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78.xml"/><Relationship Id="rId1" Type="http://schemas.openxmlformats.org/officeDocument/2006/relationships/slideLayout" Target="../slideLayouts/slideLayout6.xml"/><Relationship Id="rId5" Type="http://schemas.openxmlformats.org/officeDocument/2006/relationships/image" Target="../media/image88.png"/><Relationship Id="rId4" Type="http://schemas.openxmlformats.org/officeDocument/2006/relationships/image" Target="../media/image87.png"/></Relationships>
</file>

<file path=ppt/slides/_rels/slide8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92.xml"/><Relationship Id="rId1" Type="http://schemas.openxmlformats.org/officeDocument/2006/relationships/slideLayout" Target="../slideLayouts/slideLayout7.xml"/><Relationship Id="rId4" Type="http://schemas.openxmlformats.org/officeDocument/2006/relationships/image" Target="../media/image96.wmf"/></Relationships>
</file>

<file path=ppt/slides/_rels/slide9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93.xml"/><Relationship Id="rId1" Type="http://schemas.openxmlformats.org/officeDocument/2006/relationships/slideLayout" Target="../slideLayouts/slideLayout6.xml"/><Relationship Id="rId4" Type="http://schemas.openxmlformats.org/officeDocument/2006/relationships/image" Target="../media/image98.jpeg"/></Relationships>
</file>

<file path=ppt/slides/_rels/slide95.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94.xml"/><Relationship Id="rId1" Type="http://schemas.openxmlformats.org/officeDocument/2006/relationships/slideLayout" Target="../slideLayouts/slideLayout5.xml"/><Relationship Id="rId4" Type="http://schemas.openxmlformats.org/officeDocument/2006/relationships/image" Target="../media/image100.png"/></Relationships>
</file>

<file path=ppt/slides/_rels/slide96.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97.xml"/><Relationship Id="rId1" Type="http://schemas.openxmlformats.org/officeDocument/2006/relationships/slideLayout" Target="../slideLayouts/slideLayout6.xml"/><Relationship Id="rId4" Type="http://schemas.openxmlformats.org/officeDocument/2006/relationships/image" Target="../media/image103.jpeg"/></Relationships>
</file>

<file path=ppt/slides/_rels/slide99.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00.xml"/><Relationship Id="rId1" Type="http://schemas.openxmlformats.org/officeDocument/2006/relationships/slideLayout" Target="../slideLayouts/slideLayout7.xml"/><Relationship Id="rId4" Type="http://schemas.openxmlformats.org/officeDocument/2006/relationships/image" Target="../media/image108.png"/></Relationships>
</file>

<file path=ppt/slides/_rels/slide10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01.xml"/><Relationship Id="rId1" Type="http://schemas.openxmlformats.org/officeDocument/2006/relationships/slideLayout" Target="../slideLayouts/slideLayout6.xml"/><Relationship Id="rId4" Type="http://schemas.openxmlformats.org/officeDocument/2006/relationships/image" Target="../media/image110.png"/></Relationships>
</file>

<file path=ppt/slides/_rels/slide10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07.xml"/><Relationship Id="rId1" Type="http://schemas.openxmlformats.org/officeDocument/2006/relationships/slideLayout" Target="../slideLayouts/slideLayout6.xml"/><Relationship Id="rId4" Type="http://schemas.openxmlformats.org/officeDocument/2006/relationships/hyperlink" Target="file:///D:\&#19987;&#19994;&#30456;&#20851;\02%20&#26680;&#37240;&#30340;&#32467;&#26500;&#19982;&#21151;&#33021;\RNA%20interference%20(RNAi)%20%20by%20Nature%20Video.mp4" TargetMode="External"/></Relationships>
</file>

<file path=ppt/slides/_rels/slide11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09.xml"/><Relationship Id="rId1" Type="http://schemas.openxmlformats.org/officeDocument/2006/relationships/slideLayout" Target="../slideLayouts/slideLayout6.xml"/><Relationship Id="rId5" Type="http://schemas.openxmlformats.org/officeDocument/2006/relationships/image" Target="../media/image118.png"/><Relationship Id="rId4" Type="http://schemas.openxmlformats.org/officeDocument/2006/relationships/image" Target="../media/image117.png"/></Relationships>
</file>

<file path=ppt/slides/_rels/slide112.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10.xml"/><Relationship Id="rId1" Type="http://schemas.openxmlformats.org/officeDocument/2006/relationships/slideLayout" Target="../slideLayouts/slideLayout6.xml"/><Relationship Id="rId4" Type="http://schemas.openxmlformats.org/officeDocument/2006/relationships/image" Target="../media/image120.png"/></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14.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17.xml"/><Relationship Id="rId1" Type="http://schemas.openxmlformats.org/officeDocument/2006/relationships/slideLayout" Target="../slideLayouts/slideLayout5.xml"/><Relationship Id="rId4" Type="http://schemas.openxmlformats.org/officeDocument/2006/relationships/image" Target="../media/image123.png"/></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20.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23.xml"/><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27.xml"/><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28.xml"/><Relationship Id="rId1" Type="http://schemas.openxmlformats.org/officeDocument/2006/relationships/slideLayout" Target="../slideLayouts/slideLayout7.xml"/><Relationship Id="rId4" Type="http://schemas.openxmlformats.org/officeDocument/2006/relationships/image" Target="../media/image133.gif"/></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30.xml"/><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31.xml"/><Relationship Id="rId1" Type="http://schemas.openxmlformats.org/officeDocument/2006/relationships/slideLayout" Target="../slideLayouts/slideLayout7.xml"/><Relationship Id="rId4" Type="http://schemas.openxmlformats.org/officeDocument/2006/relationships/image" Target="../media/image136.png"/></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组合 5">
            <a:extLst>
              <a:ext uri="{FF2B5EF4-FFF2-40B4-BE49-F238E27FC236}">
                <a16:creationId xmlns:a16="http://schemas.microsoft.com/office/drawing/2014/main" id="{3A83D36C-AB27-4F1E-B212-4AD3E28E6988}"/>
              </a:ext>
            </a:extLst>
          </p:cNvPr>
          <p:cNvGrpSpPr>
            <a:grpSpLocks/>
          </p:cNvGrpSpPr>
          <p:nvPr/>
        </p:nvGrpSpPr>
        <p:grpSpPr bwMode="auto">
          <a:xfrm>
            <a:off x="0" y="0"/>
            <a:ext cx="12192000" cy="6896038"/>
            <a:chOff x="-1352588" y="13495"/>
            <a:chExt cx="12191446" cy="6896434"/>
          </a:xfrm>
        </p:grpSpPr>
        <p:sp>
          <p:nvSpPr>
            <p:cNvPr id="18436" name="矩形 4">
              <a:extLst>
                <a:ext uri="{FF2B5EF4-FFF2-40B4-BE49-F238E27FC236}">
                  <a16:creationId xmlns:a16="http://schemas.microsoft.com/office/drawing/2014/main" id="{63D78E69-A481-4053-99C2-EC99535E3DF1}"/>
                </a:ext>
              </a:extLst>
            </p:cNvPr>
            <p:cNvSpPr>
              <a:spLocks noChangeArrowheads="1"/>
            </p:cNvSpPr>
            <p:nvPr/>
          </p:nvSpPr>
          <p:spPr bwMode="auto">
            <a:xfrm>
              <a:off x="-1352588" y="13495"/>
              <a:ext cx="12191446" cy="6879741"/>
            </a:xfrm>
            <a:prstGeom prst="rect">
              <a:avLst/>
            </a:prstGeom>
            <a:solidFill>
              <a:srgbClr val="F6F6F6"/>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dirty="0">
                <a:solidFill>
                  <a:schemeClr val="tx1"/>
                </a:solidFill>
                <a:latin typeface="Times New Roman" panose="02020603050405020304" pitchFamily="18" charset="0"/>
                <a:ea typeface="宋体" panose="02010600030101010101" pitchFamily="2" charset="-122"/>
              </a:endParaRPr>
            </a:p>
          </p:txBody>
        </p:sp>
        <p:pic>
          <p:nvPicPr>
            <p:cNvPr id="18437" name="图片 1">
              <a:extLst>
                <a:ext uri="{FF2B5EF4-FFF2-40B4-BE49-F238E27FC236}">
                  <a16:creationId xmlns:a16="http://schemas.microsoft.com/office/drawing/2014/main" id="{32A6BD1A-F183-4B2D-9BD6-4FCD73E44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319" y="51929"/>
              <a:ext cx="366487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a:extLst>
                <a:ext uri="{FF2B5EF4-FFF2-40B4-BE49-F238E27FC236}">
                  <a16:creationId xmlns:a16="http://schemas.microsoft.com/office/drawing/2014/main" id="{7482F325-1601-436D-9908-7652E630A132}"/>
                </a:ext>
              </a:extLst>
            </p:cNvPr>
            <p:cNvSpPr txBox="1">
              <a:spLocks noChangeArrowheads="1"/>
            </p:cNvSpPr>
            <p:nvPr/>
          </p:nvSpPr>
          <p:spPr>
            <a:xfrm>
              <a:off x="3412946" y="622336"/>
              <a:ext cx="5321058" cy="3095803"/>
            </a:xfrm>
            <a:prstGeom prst="rect">
              <a:avLst/>
            </a:prstGeom>
            <a:effectLst/>
          </p:spPr>
          <p:txBody>
            <a:bodyPr/>
            <a:lstStyle>
              <a:lvl1pPr algn="ctr" rtl="0" eaLnBrk="0" fontAlgn="base" hangingPunct="0">
                <a:spcBef>
                  <a:spcPct val="0"/>
                </a:spcBef>
                <a:spcAft>
                  <a:spcPct val="0"/>
                </a:spcAft>
                <a:defRPr sz="3200" b="1">
                  <a:solidFill>
                    <a:srgbClr val="005900"/>
                  </a:solidFill>
                  <a:latin typeface="+mj-lt"/>
                  <a:ea typeface="+mj-ea"/>
                  <a:cs typeface="+mj-cs"/>
                </a:defRPr>
              </a:lvl1pPr>
              <a:lvl2pPr algn="ctr" rtl="0" eaLnBrk="0" fontAlgn="base" hangingPunct="0">
                <a:spcBef>
                  <a:spcPct val="0"/>
                </a:spcBef>
                <a:spcAft>
                  <a:spcPct val="0"/>
                </a:spcAft>
                <a:defRPr sz="3200" b="1">
                  <a:solidFill>
                    <a:srgbClr val="005900"/>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3200" b="1">
                  <a:solidFill>
                    <a:srgbClr val="005900"/>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3200" b="1">
                  <a:solidFill>
                    <a:srgbClr val="005900"/>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3200" b="1">
                  <a:solidFill>
                    <a:srgbClr val="005900"/>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2800" b="1">
                  <a:solidFill>
                    <a:schemeClr val="bg1"/>
                  </a:solidFill>
                  <a:latin typeface="黑体" pitchFamily="49" charset="-122"/>
                  <a:ea typeface="黑体" pitchFamily="49" charset="-122"/>
                </a:defRPr>
              </a:lvl6pPr>
              <a:lvl7pPr marL="914400" algn="ctr" rtl="0" fontAlgn="base">
                <a:spcBef>
                  <a:spcPct val="0"/>
                </a:spcBef>
                <a:spcAft>
                  <a:spcPct val="0"/>
                </a:spcAft>
                <a:defRPr sz="2800" b="1">
                  <a:solidFill>
                    <a:schemeClr val="bg1"/>
                  </a:solidFill>
                  <a:latin typeface="黑体" pitchFamily="49" charset="-122"/>
                  <a:ea typeface="黑体" pitchFamily="49" charset="-122"/>
                </a:defRPr>
              </a:lvl7pPr>
              <a:lvl8pPr marL="1371600" algn="ctr" rtl="0" fontAlgn="base">
                <a:spcBef>
                  <a:spcPct val="0"/>
                </a:spcBef>
                <a:spcAft>
                  <a:spcPct val="0"/>
                </a:spcAft>
                <a:defRPr sz="2800" b="1">
                  <a:solidFill>
                    <a:schemeClr val="bg1"/>
                  </a:solidFill>
                  <a:latin typeface="黑体" pitchFamily="49" charset="-122"/>
                  <a:ea typeface="黑体" pitchFamily="49" charset="-122"/>
                </a:defRPr>
              </a:lvl8pPr>
              <a:lvl9pPr marL="1828800" algn="ctr" rtl="0" fontAlgn="base">
                <a:spcBef>
                  <a:spcPct val="0"/>
                </a:spcBef>
                <a:spcAft>
                  <a:spcPct val="0"/>
                </a:spcAft>
                <a:defRPr sz="2800" b="1">
                  <a:solidFill>
                    <a:schemeClr val="bg1"/>
                  </a:solidFill>
                  <a:latin typeface="黑体" pitchFamily="49" charset="-122"/>
                  <a:ea typeface="黑体" pitchFamily="49" charset="-122"/>
                </a:defRPr>
              </a:lvl9pPr>
            </a:lstStyle>
            <a:p>
              <a:pPr eaLnBrk="1" hangingPunct="1">
                <a:lnSpc>
                  <a:spcPct val="80000"/>
                </a:lnSpc>
                <a:defRPr/>
              </a:pPr>
              <a:r>
                <a:rPr kumimoji="0" lang="zh-CN" altLang="en-US" sz="4800" kern="0" dirty="0">
                  <a:solidFill>
                    <a:srgbClr val="0000CC"/>
                  </a:solidFill>
                  <a:latin typeface="黑体" panose="02010609060101010101" pitchFamily="49" charset="-122"/>
                  <a:ea typeface="黑体" panose="02010609060101010101" pitchFamily="49" charset="-122"/>
                </a:rPr>
                <a:t>第 二 章</a:t>
              </a:r>
              <a:br>
                <a:rPr kumimoji="0" lang="zh-CN" altLang="en-US" sz="4800" kern="0" dirty="0">
                  <a:solidFill>
                    <a:srgbClr val="0000CC"/>
                  </a:solidFill>
                  <a:latin typeface="黑体" panose="02010609060101010101" pitchFamily="49" charset="-122"/>
                  <a:ea typeface="黑体" panose="02010609060101010101" pitchFamily="49" charset="-122"/>
                </a:rPr>
              </a:br>
              <a:br>
                <a:rPr kumimoji="0" lang="zh-CN" altLang="en-US" sz="4800" kern="0" dirty="0">
                  <a:solidFill>
                    <a:srgbClr val="0000CC"/>
                  </a:solidFill>
                  <a:latin typeface="黑体" panose="02010609060101010101" pitchFamily="49" charset="-122"/>
                  <a:ea typeface="黑体" panose="02010609060101010101" pitchFamily="49" charset="-122"/>
                </a:rPr>
              </a:br>
              <a:r>
                <a:rPr kumimoji="0" lang="zh-CN" altLang="en-US" sz="4800" kern="0" dirty="0">
                  <a:solidFill>
                    <a:srgbClr val="0000CC"/>
                  </a:solidFill>
                  <a:latin typeface="黑体" panose="02010609060101010101" pitchFamily="49" charset="-122"/>
                  <a:ea typeface="黑体" panose="02010609060101010101" pitchFamily="49" charset="-122"/>
                </a:rPr>
                <a:t>核酸的结构与功能</a:t>
              </a:r>
              <a:endParaRPr kumimoji="0" lang="zh-CN" altLang="en-US" sz="6600" kern="0" dirty="0">
                <a:solidFill>
                  <a:srgbClr val="0000CC"/>
                </a:solidFill>
                <a:latin typeface="黑体" panose="02010609060101010101" pitchFamily="49" charset="-122"/>
                <a:ea typeface="黑体" panose="02010609060101010101" pitchFamily="49" charset="-122"/>
              </a:endParaRPr>
            </a:p>
          </p:txBody>
        </p:sp>
        <p:sp>
          <p:nvSpPr>
            <p:cNvPr id="4" name="Rectangle 4">
              <a:extLst>
                <a:ext uri="{FF2B5EF4-FFF2-40B4-BE49-F238E27FC236}">
                  <a16:creationId xmlns:a16="http://schemas.microsoft.com/office/drawing/2014/main" id="{798CBA30-DED1-40C7-848B-851D4FC76CB2}"/>
                </a:ext>
              </a:extLst>
            </p:cNvPr>
            <p:cNvSpPr txBox="1">
              <a:spLocks noChangeArrowheads="1"/>
            </p:cNvSpPr>
            <p:nvPr/>
          </p:nvSpPr>
          <p:spPr>
            <a:xfrm>
              <a:off x="3276427" y="2494106"/>
              <a:ext cx="5540123" cy="1224032"/>
            </a:xfrm>
            <a:prstGeom prst="rect">
              <a:avLst/>
            </a:prstGeom>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v"/>
                <a:defRPr sz="2800" b="1">
                  <a:solidFill>
                    <a:srgbClr val="008000"/>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lgn="ctr" eaLnBrk="1" hangingPunct="1">
                <a:buNone/>
                <a:defRPr/>
              </a:pPr>
              <a:r>
                <a:rPr kumimoji="0" lang="en-US" altLang="zh-CN" sz="3600" kern="0" dirty="0">
                  <a:solidFill>
                    <a:srgbClr val="0000CC"/>
                  </a:solidFill>
                  <a:latin typeface="Arial" panose="020B0604020202020204" pitchFamily="34" charset="0"/>
                </a:rPr>
                <a:t>Structure and Function of Nucleic Acid</a:t>
              </a:r>
            </a:p>
          </p:txBody>
        </p:sp>
        <p:sp>
          <p:nvSpPr>
            <p:cNvPr id="16389" name="Text Box 2051">
              <a:extLst>
                <a:ext uri="{FF2B5EF4-FFF2-40B4-BE49-F238E27FC236}">
                  <a16:creationId xmlns:a16="http://schemas.microsoft.com/office/drawing/2014/main" id="{24431C3F-C7BB-4A5F-A885-35A30145E978}"/>
                </a:ext>
              </a:extLst>
            </p:cNvPr>
            <p:cNvSpPr txBox="1">
              <a:spLocks noChangeArrowheads="1"/>
            </p:cNvSpPr>
            <p:nvPr/>
          </p:nvSpPr>
          <p:spPr bwMode="auto">
            <a:xfrm>
              <a:off x="3276427" y="5858271"/>
              <a:ext cx="5841734" cy="831045"/>
            </a:xfrm>
            <a:prstGeom prst="rect">
              <a:avLst/>
            </a:prstGeom>
            <a:noFill/>
            <a:ln>
              <a:noFill/>
            </a:ln>
          </p:spPr>
          <p:txBody>
            <a:bodyPr>
              <a:spAutoFit/>
            </a:bodyPr>
            <a:lstStyle>
              <a:lvl1pPr>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Tx/>
                <a:buFontTx/>
                <a:buNone/>
                <a:defRPr/>
              </a:pPr>
              <a:r>
                <a:rPr lang="zh-CN" altLang="en-US" sz="2400" dirty="0">
                  <a:solidFill>
                    <a:schemeClr val="accent1">
                      <a:lumMod val="50000"/>
                    </a:schemeClr>
                  </a:solidFill>
                  <a:latin typeface="黑体" panose="02010609060101010101" pitchFamily="49" charset="-122"/>
                  <a:ea typeface="黑体" panose="02010609060101010101" pitchFamily="49" charset="-122"/>
                </a:rPr>
                <a:t>彭翼飞 </a:t>
              </a:r>
              <a:r>
                <a:rPr lang="en-US" altLang="zh-CN" sz="2400" dirty="0">
                  <a:solidFill>
                    <a:schemeClr val="accent1">
                      <a:lumMod val="50000"/>
                    </a:schemeClr>
                  </a:solidFill>
                  <a:latin typeface="黑体" panose="02010609060101010101" pitchFamily="49" charset="-122"/>
                  <a:ea typeface="黑体" panose="02010609060101010101" pitchFamily="49" charset="-122"/>
                </a:rPr>
                <a:t>  yvettegz@163.com</a:t>
              </a:r>
              <a:endParaRPr lang="zh-CN" altLang="en-US" sz="2400" dirty="0">
                <a:solidFill>
                  <a:schemeClr val="accent1">
                    <a:lumMod val="50000"/>
                  </a:schemeClr>
                </a:solidFill>
                <a:latin typeface="黑体" panose="02010609060101010101" pitchFamily="49" charset="-122"/>
                <a:ea typeface="黑体" panose="02010609060101010101" pitchFamily="49" charset="-122"/>
              </a:endParaRPr>
            </a:p>
            <a:p>
              <a:pPr algn="ctr" eaLnBrk="1" hangingPunct="1">
                <a:spcBef>
                  <a:spcPct val="0"/>
                </a:spcBef>
                <a:buClrTx/>
                <a:buFontTx/>
                <a:buNone/>
                <a:defRPr/>
              </a:pPr>
              <a:r>
                <a:rPr lang="zh-CN" altLang="en-US" sz="2400" dirty="0">
                  <a:solidFill>
                    <a:schemeClr val="accent1">
                      <a:lumMod val="50000"/>
                    </a:schemeClr>
                  </a:solidFill>
                  <a:latin typeface="黑体" panose="02010609060101010101" pitchFamily="49" charset="-122"/>
                  <a:ea typeface="黑体" panose="02010609060101010101" pitchFamily="49" charset="-122"/>
                </a:rPr>
                <a:t>生物化学与分子生物学教研室</a:t>
              </a:r>
            </a:p>
          </p:txBody>
        </p:sp>
      </p:grpSp>
      <p:sp>
        <p:nvSpPr>
          <p:cNvPr id="18435" name="灯片编号占位符 1">
            <a:extLst>
              <a:ext uri="{FF2B5EF4-FFF2-40B4-BE49-F238E27FC236}">
                <a16:creationId xmlns:a16="http://schemas.microsoft.com/office/drawing/2014/main" id="{4787C469-FE43-49D6-A54D-87DC10E658F5}"/>
              </a:ext>
            </a:extLst>
          </p:cNvPr>
          <p:cNvSpPr>
            <a:spLocks noGrp="1"/>
          </p:cNvSpPr>
          <p:nvPr>
            <p:ph type="sldNum" sz="quarter" idx="4294967295"/>
          </p:nvPr>
        </p:nvSpPr>
        <p:spPr bwMode="auto">
          <a:xfrm>
            <a:off x="11266488" y="6492875"/>
            <a:ext cx="9255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C17FFD55-DCDC-48F5-B4F4-7B0C6D67CF17}" type="slidenum">
              <a:rPr lang="zh-CN" altLang="en-US" sz="1200" b="0">
                <a:solidFill>
                  <a:srgbClr val="898F89"/>
                </a:solidFill>
              </a:rPr>
              <a:pPr>
                <a:spcBef>
                  <a:spcPct val="0"/>
                </a:spcBef>
                <a:buClrTx/>
                <a:buFontTx/>
                <a:buNone/>
              </a:pPr>
              <a:t>1</a:t>
            </a:fld>
            <a:endParaRPr lang="zh-CN" altLang="en-US" sz="1200" b="0">
              <a:solidFill>
                <a:srgbClr val="898F89"/>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Text Box 2">
            <a:extLst>
              <a:ext uri="{FF2B5EF4-FFF2-40B4-BE49-F238E27FC236}">
                <a16:creationId xmlns:a16="http://schemas.microsoft.com/office/drawing/2014/main" id="{7BEA7F8F-E9CA-4640-9D23-FCF3C33B3EDC}"/>
              </a:ext>
            </a:extLst>
          </p:cNvPr>
          <p:cNvSpPr txBox="1">
            <a:spLocks noChangeArrowheads="1"/>
          </p:cNvSpPr>
          <p:nvPr/>
        </p:nvSpPr>
        <p:spPr bwMode="auto">
          <a:xfrm>
            <a:off x="1772232" y="1412776"/>
            <a:ext cx="9433048" cy="4546566"/>
          </a:xfrm>
          <a:prstGeom prst="rect">
            <a:avLst/>
          </a:prstGeom>
          <a:solidFill>
            <a:schemeClr val="bg1"/>
          </a:solidFill>
          <a:ln>
            <a:noFill/>
          </a:ln>
        </p:spPr>
        <p:txBody>
          <a:bodyPr wrap="square">
            <a:spAutoFit/>
          </a:bodyPr>
          <a:lstStyle>
            <a:lvl1pPr>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indent="-277813">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ClrTx/>
              <a:buFont typeface="Wingdings" panose="05000000000000000000" pitchFamily="2" charset="2"/>
              <a:buNone/>
              <a:defRPr/>
            </a:pPr>
            <a:r>
              <a:rPr kumimoji="0" lang="en-US" altLang="zh-CN" sz="2400" b="0" dirty="0">
                <a:solidFill>
                  <a:srgbClr val="FF0000"/>
                </a:solidFill>
                <a:latin typeface="Times New Roman" panose="02020603050405020304" pitchFamily="18" charset="0"/>
                <a:ea typeface="黑体" panose="02010609060101010101" pitchFamily="49" charset="-122"/>
              </a:rPr>
              <a:t>1</a:t>
            </a:r>
            <a:r>
              <a:rPr kumimoji="0" lang="zh-CN" altLang="en-US" sz="2400" b="0" dirty="0">
                <a:solidFill>
                  <a:srgbClr val="FF0000"/>
                </a:solidFill>
                <a:latin typeface="Times New Roman" panose="02020603050405020304" pitchFamily="18" charset="0"/>
                <a:ea typeface="黑体" panose="02010609060101010101" pitchFamily="49" charset="-122"/>
              </a:rPr>
              <a:t>、重要概念：</a:t>
            </a:r>
            <a:r>
              <a:rPr lang="en-US" altLang="zh-CN" sz="2000" b="0" dirty="0">
                <a:solidFill>
                  <a:schemeClr val="tx1"/>
                </a:solidFill>
                <a:latin typeface="Times New Roman" panose="02020603050405020304" pitchFamily="18" charset="0"/>
                <a:ea typeface="黑体" panose="02010609060101010101" pitchFamily="49" charset="-122"/>
              </a:rPr>
              <a:t>DNA </a:t>
            </a:r>
            <a:r>
              <a:rPr lang="zh-CN" altLang="en-US" sz="2000" b="0" dirty="0">
                <a:solidFill>
                  <a:schemeClr val="tx1"/>
                </a:solidFill>
                <a:latin typeface="Times New Roman" panose="02020603050405020304" pitchFamily="18" charset="0"/>
                <a:ea typeface="黑体" panose="02010609060101010101" pitchFamily="49" charset="-122"/>
              </a:rPr>
              <a:t>变性；开放阅读框（</a:t>
            </a:r>
            <a:r>
              <a:rPr lang="en-US" altLang="zh-CN" sz="2000" b="0" dirty="0">
                <a:solidFill>
                  <a:schemeClr val="tx1"/>
                </a:solidFill>
                <a:latin typeface="Times New Roman" panose="02020603050405020304" pitchFamily="18" charset="0"/>
                <a:ea typeface="黑体" panose="02010609060101010101" pitchFamily="49" charset="-122"/>
              </a:rPr>
              <a:t>ORF</a:t>
            </a:r>
            <a:r>
              <a:rPr lang="zh-CN" altLang="en-US" sz="2000" b="0" dirty="0">
                <a:solidFill>
                  <a:schemeClr val="tx1"/>
                </a:solidFill>
                <a:latin typeface="Times New Roman" panose="02020603050405020304" pitchFamily="18" charset="0"/>
                <a:ea typeface="黑体" panose="02010609060101010101" pitchFamily="49" charset="-122"/>
              </a:rPr>
              <a:t>）；</a:t>
            </a:r>
            <a:r>
              <a:rPr lang="en-US" altLang="zh-CN" sz="2000" b="0" dirty="0">
                <a:solidFill>
                  <a:schemeClr val="tx1"/>
                </a:solidFill>
                <a:latin typeface="Times New Roman" panose="02020603050405020304" pitchFamily="18" charset="0"/>
                <a:ea typeface="黑体" panose="02010609060101010101" pitchFamily="49" charset="-122"/>
              </a:rPr>
              <a:t>ribozyme</a:t>
            </a:r>
            <a:r>
              <a:rPr lang="zh-CN" altLang="en-US" sz="2000" b="0" dirty="0">
                <a:solidFill>
                  <a:schemeClr val="tx1"/>
                </a:solidFill>
                <a:latin typeface="Times New Roman" panose="02020603050405020304" pitchFamily="18" charset="0"/>
                <a:ea typeface="黑体" panose="02010609060101010101" pitchFamily="49" charset="-122"/>
              </a:rPr>
              <a:t>； </a:t>
            </a:r>
            <a:r>
              <a:rPr lang="en-US" altLang="zh-CN" sz="2000" b="0" dirty="0">
                <a:solidFill>
                  <a:schemeClr val="tx1"/>
                </a:solidFill>
                <a:latin typeface="Times New Roman" panose="02020603050405020304" pitchFamily="18" charset="0"/>
                <a:ea typeface="黑体" panose="02010609060101010101" pitchFamily="49" charset="-122"/>
              </a:rPr>
              <a:t>RNAi</a:t>
            </a:r>
            <a:r>
              <a:rPr lang="zh-CN" altLang="en-US" sz="2000" b="0" dirty="0">
                <a:solidFill>
                  <a:schemeClr val="tx1"/>
                </a:solidFill>
                <a:latin typeface="Times New Roman" panose="02020603050405020304" pitchFamily="18" charset="0"/>
                <a:ea typeface="黑体" panose="02010609060101010101" pitchFamily="49" charset="-122"/>
              </a:rPr>
              <a:t>； </a:t>
            </a:r>
            <a:endParaRPr lang="en-US" altLang="zh-CN" sz="2000" b="0" dirty="0">
              <a:solidFill>
                <a:schemeClr val="tx1"/>
              </a:solidFill>
              <a:latin typeface="Times New Roman" panose="02020603050405020304" pitchFamily="18" charset="0"/>
              <a:ea typeface="黑体" panose="02010609060101010101" pitchFamily="49" charset="-122"/>
            </a:endParaRPr>
          </a:p>
          <a:p>
            <a:pPr eaLnBrk="1" hangingPunct="1">
              <a:lnSpc>
                <a:spcPct val="150000"/>
              </a:lnSpc>
              <a:spcBef>
                <a:spcPct val="0"/>
              </a:spcBef>
              <a:buClrTx/>
              <a:buFont typeface="Wingdings" panose="05000000000000000000" pitchFamily="2" charset="2"/>
              <a:buNone/>
              <a:defRPr/>
            </a:pPr>
            <a:r>
              <a:rPr lang="en-US" altLang="zh-CN" sz="2000" b="0" dirty="0">
                <a:solidFill>
                  <a:schemeClr val="tx1"/>
                </a:solidFill>
                <a:latin typeface="Times New Roman" panose="02020603050405020304" pitchFamily="18" charset="0"/>
                <a:ea typeface="黑体" panose="02010609060101010101" pitchFamily="49" charset="-122"/>
              </a:rPr>
              <a:t>                               </a:t>
            </a:r>
            <a:r>
              <a:rPr lang="zh-CN" altLang="en-US" sz="2000" b="0" dirty="0">
                <a:solidFill>
                  <a:schemeClr val="tx1"/>
                </a:solidFill>
                <a:latin typeface="Times New Roman" panose="02020603050405020304" pitchFamily="18" charset="0"/>
                <a:ea typeface="黑体" panose="02010609060101010101" pitchFamily="49" charset="-122"/>
              </a:rPr>
              <a:t>融解温度（</a:t>
            </a:r>
            <a:r>
              <a:rPr lang="en-US" altLang="zh-CN" sz="2000" b="0" dirty="0">
                <a:solidFill>
                  <a:schemeClr val="tx1"/>
                </a:solidFill>
                <a:latin typeface="Times New Roman" panose="02020603050405020304" pitchFamily="18" charset="0"/>
                <a:ea typeface="黑体" panose="02010609060101010101" pitchFamily="49" charset="-122"/>
              </a:rPr>
              <a:t>Tm </a:t>
            </a:r>
            <a:r>
              <a:rPr lang="zh-CN" altLang="en-US" sz="2000" b="0" dirty="0">
                <a:solidFill>
                  <a:schemeClr val="tx1"/>
                </a:solidFill>
                <a:latin typeface="Times New Roman" panose="02020603050405020304" pitchFamily="18" charset="0"/>
                <a:ea typeface="黑体" panose="02010609060101010101" pitchFamily="49" charset="-122"/>
              </a:rPr>
              <a:t>） </a:t>
            </a:r>
            <a:r>
              <a:rPr kumimoji="0" lang="zh-CN" altLang="en-US" sz="2000" b="0" dirty="0">
                <a:solidFill>
                  <a:schemeClr val="tx1"/>
                </a:solidFill>
                <a:latin typeface="Times New Roman" panose="02020603050405020304" pitchFamily="18" charset="0"/>
                <a:ea typeface="黑体" panose="02010609060101010101" pitchFamily="49" charset="-122"/>
              </a:rPr>
              <a:t>；增色效应；核酸</a:t>
            </a:r>
            <a:r>
              <a:rPr lang="zh-CN" altLang="en-US" sz="2000" b="0" dirty="0">
                <a:solidFill>
                  <a:schemeClr val="tx1"/>
                </a:solidFill>
                <a:latin typeface="Times New Roman" panose="02020603050405020304" pitchFamily="18" charset="0"/>
                <a:ea typeface="黑体" panose="02010609060101010101" pitchFamily="49" charset="-122"/>
              </a:rPr>
              <a:t>分子杂交； </a:t>
            </a:r>
            <a:r>
              <a:rPr lang="en-US" altLang="zh-CN" sz="2000" b="0" dirty="0">
                <a:solidFill>
                  <a:schemeClr val="tx1"/>
                </a:solidFill>
                <a:latin typeface="Times New Roman" panose="02020603050405020304" pitchFamily="18" charset="0"/>
                <a:ea typeface="黑体" panose="02010609060101010101" pitchFamily="49" charset="-122"/>
              </a:rPr>
              <a:t>probe</a:t>
            </a:r>
          </a:p>
          <a:p>
            <a:pPr eaLnBrk="1" hangingPunct="1">
              <a:lnSpc>
                <a:spcPct val="150000"/>
              </a:lnSpc>
              <a:spcBef>
                <a:spcPct val="0"/>
              </a:spcBef>
              <a:buClrTx/>
              <a:buFontTx/>
              <a:buNone/>
              <a:defRPr/>
            </a:pPr>
            <a:r>
              <a:rPr kumimoji="0" lang="en-US" altLang="zh-CN" sz="2400" b="0" dirty="0">
                <a:solidFill>
                  <a:srgbClr val="FF0000"/>
                </a:solidFill>
                <a:latin typeface="Times New Roman" panose="02020603050405020304" pitchFamily="18" charset="0"/>
                <a:ea typeface="黑体" panose="02010609060101010101" pitchFamily="49" charset="-122"/>
              </a:rPr>
              <a:t>2</a:t>
            </a:r>
            <a:r>
              <a:rPr kumimoji="0" lang="zh-CN" altLang="en-US" sz="2400" b="0" dirty="0">
                <a:solidFill>
                  <a:srgbClr val="FF0000"/>
                </a:solidFill>
                <a:latin typeface="Times New Roman" panose="02020603050405020304" pitchFamily="18" charset="0"/>
                <a:ea typeface="黑体" panose="02010609060101010101" pitchFamily="49" charset="-122"/>
              </a:rPr>
              <a:t>、核酸组成和结构</a:t>
            </a:r>
          </a:p>
          <a:p>
            <a:pPr lvl="1" eaLnBrk="1" hangingPunct="1">
              <a:lnSpc>
                <a:spcPct val="150000"/>
              </a:lnSpc>
              <a:spcBef>
                <a:spcPct val="0"/>
              </a:spcBef>
              <a:buClr>
                <a:srgbClr val="0000CC"/>
              </a:buClr>
              <a:buFont typeface="Wingdings" panose="05000000000000000000" pitchFamily="2" charset="2"/>
              <a:buChar char="n"/>
              <a:defRPr/>
            </a:pPr>
            <a:r>
              <a:rPr kumimoji="0" lang="zh-CN" altLang="en-US" sz="2000" dirty="0">
                <a:latin typeface="Times New Roman" panose="02020603050405020304" pitchFamily="18" charset="0"/>
                <a:ea typeface="黑体" panose="02010609060101010101" pitchFamily="49" charset="-122"/>
              </a:rPr>
              <a:t>结构单位：核苷酸（</a:t>
            </a:r>
            <a:r>
              <a:rPr kumimoji="0" lang="en-US" altLang="zh-CN" sz="2000" dirty="0">
                <a:solidFill>
                  <a:srgbClr val="FF0000"/>
                </a:solidFill>
                <a:latin typeface="Times New Roman" panose="02020603050405020304" pitchFamily="18" charset="0"/>
                <a:ea typeface="黑体" panose="02010609060101010101" pitchFamily="49" charset="-122"/>
              </a:rPr>
              <a:t>DNA</a:t>
            </a:r>
            <a:r>
              <a:rPr kumimoji="0" lang="zh-CN" altLang="en-US" sz="2000" dirty="0">
                <a:solidFill>
                  <a:srgbClr val="FF0000"/>
                </a:solidFill>
                <a:latin typeface="Times New Roman" panose="02020603050405020304" pitchFamily="18" charset="0"/>
                <a:ea typeface="黑体" panose="02010609060101010101" pitchFamily="49" charset="-122"/>
              </a:rPr>
              <a:t>和</a:t>
            </a:r>
            <a:r>
              <a:rPr kumimoji="0" lang="en-US" altLang="zh-CN" sz="2000" dirty="0">
                <a:solidFill>
                  <a:srgbClr val="FF0000"/>
                </a:solidFill>
                <a:latin typeface="Times New Roman" panose="02020603050405020304" pitchFamily="18" charset="0"/>
                <a:ea typeface="黑体" panose="02010609060101010101" pitchFamily="49" charset="-122"/>
              </a:rPr>
              <a:t>RNA</a:t>
            </a:r>
            <a:r>
              <a:rPr kumimoji="0" lang="zh-CN" altLang="en-US" sz="2000" dirty="0">
                <a:solidFill>
                  <a:srgbClr val="FF0000"/>
                </a:solidFill>
                <a:latin typeface="Times New Roman" panose="02020603050405020304" pitchFamily="18" charset="0"/>
                <a:ea typeface="黑体" panose="02010609060101010101" pitchFamily="49" charset="-122"/>
              </a:rPr>
              <a:t>组分的异同</a:t>
            </a:r>
            <a:r>
              <a:rPr kumimoji="0" lang="zh-CN" altLang="en-US" sz="2000" dirty="0">
                <a:latin typeface="Times New Roman" panose="02020603050405020304" pitchFamily="18" charset="0"/>
                <a:ea typeface="黑体" panose="02010609060101010101" pitchFamily="49" charset="-122"/>
              </a:rPr>
              <a:t>）</a:t>
            </a:r>
          </a:p>
          <a:p>
            <a:pPr lvl="1" eaLnBrk="1" hangingPunct="1">
              <a:lnSpc>
                <a:spcPct val="150000"/>
              </a:lnSpc>
              <a:spcBef>
                <a:spcPct val="0"/>
              </a:spcBef>
              <a:buClr>
                <a:srgbClr val="0000CC"/>
              </a:buClr>
              <a:buFont typeface="Wingdings" panose="05000000000000000000" pitchFamily="2" charset="2"/>
              <a:buChar char="n"/>
              <a:defRPr/>
            </a:pPr>
            <a:r>
              <a:rPr kumimoji="0" lang="zh-CN" altLang="en-US" sz="2000" dirty="0">
                <a:latin typeface="Times New Roman" panose="02020603050405020304" pitchFamily="18" charset="0"/>
                <a:ea typeface="黑体" panose="02010609060101010101" pitchFamily="49" charset="-122"/>
              </a:rPr>
              <a:t>一级结构：核苷酸排列顺序； </a:t>
            </a:r>
            <a:r>
              <a:rPr kumimoji="0" lang="en-US" altLang="zh-CN" sz="2000" dirty="0">
                <a:latin typeface="Times New Roman" panose="02020603050405020304" pitchFamily="18" charset="0"/>
                <a:ea typeface="黑体" panose="02010609060101010101" pitchFamily="49" charset="-122"/>
              </a:rPr>
              <a:t>3</a:t>
            </a:r>
            <a:r>
              <a:rPr kumimoji="0" lang="en-US" altLang="zh-CN" sz="2000" dirty="0">
                <a:latin typeface="Times New Roman" panose="02020603050405020304" pitchFamily="18" charset="0"/>
                <a:ea typeface="黑体" panose="02010609060101010101" pitchFamily="49" charset="-122"/>
                <a:sym typeface="Symbol" panose="05050102010706020507" pitchFamily="18" charset="2"/>
              </a:rPr>
              <a:t></a:t>
            </a:r>
            <a:r>
              <a:rPr kumimoji="0" lang="en-US" altLang="zh-CN" sz="2000" dirty="0">
                <a:latin typeface="Times New Roman" panose="02020603050405020304" pitchFamily="18" charset="0"/>
                <a:ea typeface="黑体" panose="02010609060101010101" pitchFamily="49" charset="-122"/>
              </a:rPr>
              <a:t>, 5</a:t>
            </a:r>
            <a:r>
              <a:rPr kumimoji="0" lang="en-US" altLang="zh-CN" sz="2000" dirty="0">
                <a:latin typeface="Times New Roman" panose="02020603050405020304" pitchFamily="18" charset="0"/>
                <a:ea typeface="黑体" panose="02010609060101010101" pitchFamily="49" charset="-122"/>
                <a:sym typeface="Symbol" panose="05050102010706020507" pitchFamily="18" charset="2"/>
              </a:rPr>
              <a:t></a:t>
            </a:r>
            <a:r>
              <a:rPr kumimoji="0" lang="zh-CN" altLang="en-US" sz="2000" dirty="0">
                <a:latin typeface="Times New Roman" panose="02020603050405020304" pitchFamily="18" charset="0"/>
                <a:ea typeface="黑体" panose="02010609060101010101" pitchFamily="49" charset="-122"/>
              </a:rPr>
              <a:t>磷酸二酯键；</a:t>
            </a:r>
            <a:r>
              <a:rPr kumimoji="0" lang="en-US" altLang="zh-CN" sz="2000" dirty="0">
                <a:latin typeface="Times New Roman" panose="02020603050405020304" pitchFamily="18" charset="0"/>
                <a:ea typeface="黑体" panose="02010609060101010101" pitchFamily="49" charset="-122"/>
              </a:rPr>
              <a:t>5ˊ</a:t>
            </a:r>
            <a:r>
              <a:rPr kumimoji="0" lang="zh-CN" altLang="en-US" sz="2000" dirty="0">
                <a:latin typeface="Times New Roman" panose="02020603050405020304" pitchFamily="18" charset="0"/>
                <a:ea typeface="黑体" panose="02010609060101010101" pitchFamily="49" charset="-122"/>
              </a:rPr>
              <a:t>端→</a:t>
            </a:r>
            <a:r>
              <a:rPr kumimoji="0" lang="en-US" altLang="zh-CN" sz="2000" dirty="0">
                <a:latin typeface="Times New Roman" panose="02020603050405020304" pitchFamily="18" charset="0"/>
                <a:ea typeface="黑体" panose="02010609060101010101" pitchFamily="49" charset="-122"/>
              </a:rPr>
              <a:t>3ˊ</a:t>
            </a:r>
            <a:r>
              <a:rPr kumimoji="0" lang="zh-CN" altLang="en-US" sz="2000" dirty="0">
                <a:latin typeface="Times New Roman" panose="02020603050405020304" pitchFamily="18" charset="0"/>
                <a:ea typeface="黑体" panose="02010609060101010101" pitchFamily="49" charset="-122"/>
              </a:rPr>
              <a:t>端；</a:t>
            </a:r>
          </a:p>
          <a:p>
            <a:pPr lvl="1" eaLnBrk="1" hangingPunct="1">
              <a:lnSpc>
                <a:spcPct val="150000"/>
              </a:lnSpc>
              <a:spcBef>
                <a:spcPct val="0"/>
              </a:spcBef>
              <a:buClr>
                <a:srgbClr val="0000CC"/>
              </a:buClr>
              <a:buFont typeface="Wingdings" panose="05000000000000000000" pitchFamily="2" charset="2"/>
              <a:buChar char="n"/>
              <a:defRPr/>
            </a:pPr>
            <a:r>
              <a:rPr kumimoji="0" lang="zh-CN" altLang="en-US" sz="2000" dirty="0">
                <a:latin typeface="Times New Roman" panose="02020603050405020304" pitchFamily="18" charset="0"/>
                <a:ea typeface="黑体" panose="02010609060101010101" pitchFamily="49" charset="-122"/>
              </a:rPr>
              <a:t>二级结构：</a:t>
            </a:r>
            <a:r>
              <a:rPr kumimoji="0" lang="en-US" altLang="zh-CN" sz="2000" dirty="0">
                <a:solidFill>
                  <a:srgbClr val="FF0000"/>
                </a:solidFill>
                <a:latin typeface="Times New Roman" panose="02020603050405020304" pitchFamily="18" charset="0"/>
                <a:ea typeface="黑体" panose="02010609060101010101" pitchFamily="49" charset="-122"/>
              </a:rPr>
              <a:t>DNA</a:t>
            </a:r>
            <a:r>
              <a:rPr kumimoji="0" lang="zh-CN" altLang="en-US" sz="2000" dirty="0">
                <a:solidFill>
                  <a:srgbClr val="FF0000"/>
                </a:solidFill>
                <a:latin typeface="Times New Roman" panose="02020603050405020304" pitchFamily="18" charset="0"/>
                <a:ea typeface="黑体" panose="02010609060101010101" pitchFamily="49" charset="-122"/>
              </a:rPr>
              <a:t>双螺旋结构特点；</a:t>
            </a:r>
            <a:r>
              <a:rPr kumimoji="0" lang="en-US" altLang="zh-CN" sz="2000" dirty="0" err="1">
                <a:solidFill>
                  <a:srgbClr val="FF0000"/>
                </a:solidFill>
                <a:latin typeface="Times New Roman" panose="02020603050405020304" pitchFamily="18" charset="0"/>
                <a:ea typeface="黑体" panose="02010609060101010101" pitchFamily="49" charset="-122"/>
              </a:rPr>
              <a:t>tRNA</a:t>
            </a:r>
            <a:r>
              <a:rPr kumimoji="0" lang="en-US" altLang="zh-CN" sz="2000" dirty="0">
                <a:solidFill>
                  <a:srgbClr val="FF0000"/>
                </a:solidFill>
                <a:latin typeface="Times New Roman" panose="02020603050405020304" pitchFamily="18" charset="0"/>
                <a:ea typeface="黑体" panose="02010609060101010101" pitchFamily="49" charset="-122"/>
              </a:rPr>
              <a:t>“</a:t>
            </a:r>
            <a:r>
              <a:rPr kumimoji="0" lang="zh-CN" altLang="en-US" sz="2000" dirty="0">
                <a:solidFill>
                  <a:srgbClr val="FF0000"/>
                </a:solidFill>
                <a:latin typeface="Times New Roman" panose="02020603050405020304" pitchFamily="18" charset="0"/>
                <a:ea typeface="黑体" panose="02010609060101010101" pitchFamily="49" charset="-122"/>
              </a:rPr>
              <a:t>三叶草”</a:t>
            </a:r>
          </a:p>
          <a:p>
            <a:pPr lvl="1" eaLnBrk="1" hangingPunct="1">
              <a:lnSpc>
                <a:spcPct val="150000"/>
              </a:lnSpc>
              <a:spcBef>
                <a:spcPct val="0"/>
              </a:spcBef>
              <a:buClr>
                <a:srgbClr val="0000CC"/>
              </a:buClr>
              <a:buFont typeface="Wingdings" panose="05000000000000000000" pitchFamily="2" charset="2"/>
              <a:buChar char="n"/>
              <a:defRPr/>
            </a:pPr>
            <a:r>
              <a:rPr kumimoji="0" lang="zh-CN" altLang="en-US" sz="2000" dirty="0">
                <a:latin typeface="Times New Roman" panose="02020603050405020304" pitchFamily="18" charset="0"/>
                <a:ea typeface="黑体" panose="02010609060101010101" pitchFamily="49" charset="-122"/>
              </a:rPr>
              <a:t>三级结构特点：</a:t>
            </a:r>
            <a:r>
              <a:rPr kumimoji="0" lang="en-US" altLang="zh-CN" sz="2000" dirty="0">
                <a:latin typeface="Times New Roman" panose="02020603050405020304" pitchFamily="18" charset="0"/>
                <a:ea typeface="黑体" panose="02010609060101010101" pitchFamily="49" charset="-122"/>
              </a:rPr>
              <a:t>DNA</a:t>
            </a:r>
            <a:r>
              <a:rPr lang="zh-CN" altLang="en-US" sz="2000" dirty="0">
                <a:latin typeface="Times New Roman" panose="02020603050405020304" pitchFamily="18" charset="0"/>
                <a:ea typeface="黑体" panose="02010609060101010101" pitchFamily="49" charset="-122"/>
              </a:rPr>
              <a:t>超螺旋结构；核小体的组成，</a:t>
            </a:r>
            <a:r>
              <a:rPr lang="en-US" altLang="zh-CN" sz="2000" dirty="0">
                <a:latin typeface="Times New Roman" panose="02020603050405020304" pitchFamily="18" charset="0"/>
                <a:ea typeface="黑体" panose="02010609060101010101" pitchFamily="49" charset="-122"/>
              </a:rPr>
              <a:t>tRNA“</a:t>
            </a:r>
            <a:r>
              <a:rPr lang="zh-CN" altLang="en-US" sz="2000" dirty="0">
                <a:latin typeface="Times New Roman" panose="02020603050405020304" pitchFamily="18" charset="0"/>
                <a:ea typeface="黑体" panose="02010609060101010101" pitchFamily="49" charset="-122"/>
              </a:rPr>
              <a:t>倒</a:t>
            </a:r>
            <a:r>
              <a:rPr lang="en-US" altLang="zh-CN" sz="2000" dirty="0">
                <a:latin typeface="Times New Roman" panose="02020603050405020304" pitchFamily="18" charset="0"/>
                <a:ea typeface="黑体" panose="02010609060101010101" pitchFamily="49" charset="-122"/>
              </a:rPr>
              <a:t>L”</a:t>
            </a:r>
            <a:r>
              <a:rPr lang="zh-CN" altLang="en-US" sz="2000" dirty="0">
                <a:latin typeface="Times New Roman" panose="02020603050405020304" pitchFamily="18" charset="0"/>
                <a:ea typeface="黑体" panose="02010609060101010101" pitchFamily="49" charset="-122"/>
              </a:rPr>
              <a:t>结构</a:t>
            </a:r>
            <a:endParaRPr lang="en-US" altLang="zh-CN" sz="2000" dirty="0">
              <a:latin typeface="Times New Roman" panose="02020603050405020304" pitchFamily="18" charset="0"/>
              <a:ea typeface="黑体" panose="02010609060101010101" pitchFamily="49" charset="-122"/>
            </a:endParaRPr>
          </a:p>
          <a:p>
            <a:pPr eaLnBrk="1" hangingPunct="1">
              <a:lnSpc>
                <a:spcPct val="150000"/>
              </a:lnSpc>
              <a:spcBef>
                <a:spcPct val="0"/>
              </a:spcBef>
              <a:buClr>
                <a:srgbClr val="0000CC"/>
              </a:buClr>
              <a:buFont typeface="Wingdings" panose="05000000000000000000" pitchFamily="2" charset="2"/>
              <a:buNone/>
              <a:defRPr/>
            </a:pPr>
            <a:r>
              <a:rPr kumimoji="0" lang="en-US" altLang="zh-CN" sz="2400" b="0" dirty="0">
                <a:solidFill>
                  <a:srgbClr val="FF0000"/>
                </a:solidFill>
                <a:latin typeface="Times New Roman" panose="02020603050405020304" pitchFamily="18" charset="0"/>
                <a:ea typeface="黑体" panose="02010609060101010101" pitchFamily="49" charset="-122"/>
              </a:rPr>
              <a:t>3</a:t>
            </a:r>
            <a:r>
              <a:rPr kumimoji="0" lang="zh-CN" altLang="en-US" sz="2400" b="0" dirty="0">
                <a:solidFill>
                  <a:srgbClr val="FF0000"/>
                </a:solidFill>
                <a:latin typeface="Times New Roman" panose="02020603050405020304" pitchFamily="18" charset="0"/>
                <a:ea typeface="黑体" panose="02010609060101010101" pitchFamily="49" charset="-122"/>
              </a:rPr>
              <a:t>、</a:t>
            </a:r>
            <a:r>
              <a:rPr kumimoji="0" lang="en-US" altLang="zh-CN" sz="2400" b="0" dirty="0">
                <a:solidFill>
                  <a:srgbClr val="FF0000"/>
                </a:solidFill>
                <a:latin typeface="Times New Roman" panose="02020603050405020304" pitchFamily="18" charset="0"/>
                <a:ea typeface="黑体" panose="02010609060101010101" pitchFamily="49" charset="-122"/>
              </a:rPr>
              <a:t>mRNA</a:t>
            </a:r>
            <a:r>
              <a:rPr kumimoji="0" lang="zh-CN" altLang="en-US" sz="2400" b="0" dirty="0">
                <a:solidFill>
                  <a:srgbClr val="FF0000"/>
                </a:solidFill>
                <a:latin typeface="Times New Roman" panose="02020603050405020304" pitchFamily="18" charset="0"/>
                <a:ea typeface="黑体" panose="02010609060101010101" pitchFamily="49" charset="-122"/>
              </a:rPr>
              <a:t>、</a:t>
            </a:r>
            <a:r>
              <a:rPr kumimoji="0" lang="en-US" altLang="zh-CN" sz="2400" b="0" dirty="0" err="1">
                <a:solidFill>
                  <a:srgbClr val="FF0000"/>
                </a:solidFill>
                <a:latin typeface="Times New Roman" panose="02020603050405020304" pitchFamily="18" charset="0"/>
                <a:ea typeface="黑体" panose="02010609060101010101" pitchFamily="49" charset="-122"/>
              </a:rPr>
              <a:t>rRNA</a:t>
            </a:r>
            <a:r>
              <a:rPr kumimoji="0" lang="zh-CN" altLang="en-US" sz="2400" b="0" dirty="0">
                <a:solidFill>
                  <a:srgbClr val="FF0000"/>
                </a:solidFill>
                <a:latin typeface="Times New Roman" panose="02020603050405020304" pitchFamily="18" charset="0"/>
                <a:ea typeface="黑体" panose="02010609060101010101" pitchFamily="49" charset="-122"/>
              </a:rPr>
              <a:t>、</a:t>
            </a:r>
            <a:r>
              <a:rPr kumimoji="0" lang="en-US" altLang="zh-CN" sz="2400" b="0" dirty="0" err="1">
                <a:solidFill>
                  <a:srgbClr val="FF0000"/>
                </a:solidFill>
                <a:latin typeface="Times New Roman" panose="02020603050405020304" pitchFamily="18" charset="0"/>
                <a:ea typeface="黑体" panose="02010609060101010101" pitchFamily="49" charset="-122"/>
              </a:rPr>
              <a:t>tRNA</a:t>
            </a:r>
            <a:r>
              <a:rPr kumimoji="0" lang="zh-CN" altLang="en-US" sz="2400" b="0" dirty="0">
                <a:solidFill>
                  <a:srgbClr val="FF0000"/>
                </a:solidFill>
                <a:latin typeface="Times New Roman" panose="02020603050405020304" pitchFamily="18" charset="0"/>
                <a:ea typeface="黑体" panose="02010609060101010101" pitchFamily="49" charset="-122"/>
              </a:rPr>
              <a:t>的结构特点及功能</a:t>
            </a:r>
          </a:p>
          <a:p>
            <a:pPr eaLnBrk="1" hangingPunct="1">
              <a:lnSpc>
                <a:spcPct val="150000"/>
              </a:lnSpc>
              <a:spcBef>
                <a:spcPct val="0"/>
              </a:spcBef>
              <a:buClr>
                <a:srgbClr val="FF0000"/>
              </a:buClr>
              <a:buFont typeface="Wingdings" panose="05000000000000000000" pitchFamily="2" charset="2"/>
              <a:buNone/>
              <a:defRPr/>
            </a:pPr>
            <a:r>
              <a:rPr kumimoji="0" lang="en-US" altLang="zh-CN" sz="2400" b="0" dirty="0">
                <a:solidFill>
                  <a:srgbClr val="FF0000"/>
                </a:solidFill>
                <a:latin typeface="Times New Roman" panose="02020603050405020304" pitchFamily="18" charset="0"/>
                <a:ea typeface="黑体" panose="02010609060101010101" pitchFamily="49" charset="-122"/>
              </a:rPr>
              <a:t>4</a:t>
            </a:r>
            <a:r>
              <a:rPr kumimoji="0" lang="zh-CN" altLang="en-US" sz="2400" b="0" dirty="0">
                <a:solidFill>
                  <a:srgbClr val="FF0000"/>
                </a:solidFill>
                <a:latin typeface="Times New Roman" panose="02020603050405020304" pitchFamily="18" charset="0"/>
                <a:ea typeface="黑体" panose="02010609060101010101" pitchFamily="49" charset="-122"/>
              </a:rPr>
              <a:t>、核酸重要性质：</a:t>
            </a:r>
            <a:r>
              <a:rPr kumimoji="0" lang="zh-CN" altLang="en-US" sz="2000" b="0" dirty="0">
                <a:solidFill>
                  <a:schemeClr val="tx1"/>
                </a:solidFill>
                <a:latin typeface="Times New Roman" panose="02020603050405020304" pitchFamily="18" charset="0"/>
                <a:ea typeface="黑体" panose="02010609060101010101" pitchFamily="49" charset="-122"/>
              </a:rPr>
              <a:t>紫外吸收；</a:t>
            </a:r>
            <a:r>
              <a:rPr kumimoji="0" lang="zh-CN" altLang="en-US" sz="2000" dirty="0">
                <a:solidFill>
                  <a:srgbClr val="FF0000"/>
                </a:solidFill>
                <a:latin typeface="Times New Roman" panose="02020603050405020304" pitchFamily="18" charset="0"/>
                <a:ea typeface="黑体" panose="02010609060101010101" pitchFamily="49" charset="-122"/>
              </a:rPr>
              <a:t>变性和复性</a:t>
            </a:r>
            <a:r>
              <a:rPr kumimoji="0" lang="zh-CN" altLang="en-US" sz="2000" b="0" dirty="0">
                <a:solidFill>
                  <a:schemeClr val="tx1"/>
                </a:solidFill>
                <a:latin typeface="Times New Roman" panose="02020603050405020304" pitchFamily="18" charset="0"/>
                <a:ea typeface="黑体" panose="02010609060101010101" pitchFamily="49" charset="-122"/>
              </a:rPr>
              <a:t>、分子杂交</a:t>
            </a:r>
          </a:p>
        </p:txBody>
      </p:sp>
      <p:sp>
        <p:nvSpPr>
          <p:cNvPr id="20483" name="Rectangle 3">
            <a:extLst>
              <a:ext uri="{FF2B5EF4-FFF2-40B4-BE49-F238E27FC236}">
                <a16:creationId xmlns:a16="http://schemas.microsoft.com/office/drawing/2014/main" id="{472C0BDF-E438-42AE-BE19-C57ECBF60010}"/>
              </a:ext>
            </a:extLst>
          </p:cNvPr>
          <p:cNvSpPr>
            <a:spLocks noChangeArrowheads="1"/>
          </p:cNvSpPr>
          <p:nvPr/>
        </p:nvSpPr>
        <p:spPr bwMode="auto">
          <a:xfrm>
            <a:off x="1722438" y="115888"/>
            <a:ext cx="882015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dirty="0">
                <a:solidFill>
                  <a:srgbClr val="0000CC"/>
                </a:solidFill>
                <a:latin typeface="Times New Roman" panose="02020603050405020304" pitchFamily="18" charset="0"/>
                <a:ea typeface="黑体" panose="02010609060101010101" pitchFamily="49" charset="-122"/>
              </a:rPr>
              <a:t>本章主要知识点</a:t>
            </a:r>
          </a:p>
        </p:txBody>
      </p:sp>
      <p:sp>
        <p:nvSpPr>
          <p:cNvPr id="20484" name="灯片编号占位符 1">
            <a:extLst>
              <a:ext uri="{FF2B5EF4-FFF2-40B4-BE49-F238E27FC236}">
                <a16:creationId xmlns:a16="http://schemas.microsoft.com/office/drawing/2014/main" id="{B996AC3F-61BE-4BE4-A544-313CEB35854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4FB83A3A-E271-404B-BE0D-FCD576A948FA}" type="slidenum">
              <a:rPr lang="zh-CN" altLang="en-US" sz="1200" b="0">
                <a:solidFill>
                  <a:srgbClr val="898F89"/>
                </a:solidFill>
              </a:rPr>
              <a:pPr>
                <a:spcBef>
                  <a:spcPct val="0"/>
                </a:spcBef>
                <a:buClrTx/>
                <a:buFontTx/>
                <a:buNone/>
              </a:pPr>
              <a:t>2</a:t>
            </a:fld>
            <a:endParaRPr lang="zh-CN" altLang="en-US" sz="1200" b="0">
              <a:solidFill>
                <a:srgbClr val="898F89"/>
              </a:solidFill>
            </a:endParaRPr>
          </a:p>
        </p:txBody>
      </p:sp>
    </p:spTree>
  </p:cSld>
  <p:clrMapOvr>
    <a:masterClrMapping/>
  </p:clrMapOvr>
  <p:transition spd="slow">
    <p:circl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30">
            <a:extLst>
              <a:ext uri="{FF2B5EF4-FFF2-40B4-BE49-F238E27FC236}">
                <a16:creationId xmlns:a16="http://schemas.microsoft.com/office/drawing/2014/main" id="{13721EB1-A550-4D0F-8F34-9A30D20D3F7D}"/>
              </a:ext>
            </a:extLst>
          </p:cNvPr>
          <p:cNvSpPr>
            <a:spLocks noChangeArrowheads="1"/>
          </p:cNvSpPr>
          <p:nvPr/>
        </p:nvSpPr>
        <p:spPr bwMode="auto">
          <a:xfrm>
            <a:off x="4675932" y="84807"/>
            <a:ext cx="3130649" cy="806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4000" dirty="0">
                <a:solidFill>
                  <a:srgbClr val="0000CC"/>
                </a:solidFill>
                <a:latin typeface="Times New Roman" panose="02020603050405020304" pitchFamily="18" charset="0"/>
                <a:ea typeface="黑体" panose="02010609060101010101" pitchFamily="49" charset="-122"/>
              </a:rPr>
              <a:t>本 章 内 容</a:t>
            </a:r>
          </a:p>
        </p:txBody>
      </p:sp>
      <p:sp>
        <p:nvSpPr>
          <p:cNvPr id="27651" name="AutoShape 1031">
            <a:extLst>
              <a:ext uri="{FF2B5EF4-FFF2-40B4-BE49-F238E27FC236}">
                <a16:creationId xmlns:a16="http://schemas.microsoft.com/office/drawing/2014/main" id="{B4038E30-EC9A-4B94-9C34-22D7C521481B}"/>
              </a:ext>
            </a:extLst>
          </p:cNvPr>
          <p:cNvSpPr>
            <a:spLocks noChangeArrowheads="1"/>
          </p:cNvSpPr>
          <p:nvPr/>
        </p:nvSpPr>
        <p:spPr bwMode="gray">
          <a:xfrm>
            <a:off x="3433763" y="1844676"/>
            <a:ext cx="5618162" cy="504825"/>
          </a:xfrm>
          <a:prstGeom prst="roundRect">
            <a:avLst>
              <a:gd name="adj" fmla="val 19046"/>
            </a:avLst>
          </a:prstGeom>
          <a:solidFill>
            <a:schemeClr val="accent3"/>
          </a:solidFill>
          <a:ln w="28575">
            <a:solidFill>
              <a:schemeClr val="bg1"/>
            </a:solidFill>
            <a:round/>
            <a:headEnd/>
            <a:tailEnd/>
          </a:ln>
          <a:effectLst>
            <a:outerShdw dist="107763" dir="2700000" algn="ctr" rotWithShape="0">
              <a:schemeClr val="bg2">
                <a:alpha val="50000"/>
              </a:schemeClr>
            </a:outerShdw>
          </a:effectLst>
        </p:spPr>
        <p:txBody>
          <a:bodyPr wrap="none" anchor="ctr"/>
          <a:lstStyle>
            <a:lvl1pPr>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ClrTx/>
              <a:buFontTx/>
              <a:buNone/>
              <a:defRPr/>
            </a:pPr>
            <a:r>
              <a:rPr kumimoji="0" lang="en-US" altLang="zh-CN" sz="3200" b="0" dirty="0">
                <a:solidFill>
                  <a:srgbClr val="0000CC"/>
                </a:solidFill>
                <a:latin typeface="Times New Roman" panose="02020603050405020304" pitchFamily="18" charset="0"/>
                <a:ea typeface="黑体" panose="02010609060101010101" pitchFamily="49" charset="-122"/>
              </a:rPr>
              <a:t>1.</a:t>
            </a:r>
            <a:r>
              <a:rPr lang="zh-CN" altLang="en-US" sz="3200" b="0" dirty="0">
                <a:solidFill>
                  <a:srgbClr val="0000CC"/>
                </a:solidFill>
                <a:latin typeface="Times New Roman" panose="02020603050405020304" pitchFamily="18" charset="0"/>
                <a:ea typeface="黑体" panose="02010609060101010101" pitchFamily="49" charset="-122"/>
              </a:rPr>
              <a:t>核酸的化学组成与一级结构</a:t>
            </a:r>
          </a:p>
        </p:txBody>
      </p:sp>
      <p:sp>
        <p:nvSpPr>
          <p:cNvPr id="27652" name="AutoShape 1032">
            <a:extLst>
              <a:ext uri="{FF2B5EF4-FFF2-40B4-BE49-F238E27FC236}">
                <a16:creationId xmlns:a16="http://schemas.microsoft.com/office/drawing/2014/main" id="{618F11C9-C99D-410D-BC0B-565CB3C17CD3}"/>
              </a:ext>
            </a:extLst>
          </p:cNvPr>
          <p:cNvSpPr>
            <a:spLocks noChangeArrowheads="1"/>
          </p:cNvSpPr>
          <p:nvPr/>
        </p:nvSpPr>
        <p:spPr bwMode="gray">
          <a:xfrm>
            <a:off x="3433763" y="2708276"/>
            <a:ext cx="5618162" cy="504825"/>
          </a:xfrm>
          <a:prstGeom prst="roundRect">
            <a:avLst>
              <a:gd name="adj" fmla="val 12796"/>
            </a:avLst>
          </a:prstGeom>
          <a:solidFill>
            <a:schemeClr val="bg2">
              <a:lumMod val="60000"/>
              <a:lumOff val="40000"/>
            </a:schemeClr>
          </a:solidFill>
          <a:ln w="28575">
            <a:solidFill>
              <a:schemeClr val="bg1"/>
            </a:solidFill>
            <a:round/>
            <a:headEnd/>
            <a:tailEnd/>
          </a:ln>
          <a:effectLst>
            <a:outerShdw dist="107763" dir="2700000" algn="ctr" rotWithShape="0">
              <a:schemeClr val="bg2">
                <a:alpha val="50000"/>
              </a:schemeClr>
            </a:outerShdw>
          </a:effectLst>
        </p:spPr>
        <p:txBody>
          <a:bodyPr wrap="none" anchor="ctr"/>
          <a:lstStyle>
            <a:lvl1pPr>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ClrTx/>
              <a:buFontTx/>
              <a:buNone/>
              <a:defRPr/>
            </a:pPr>
            <a:r>
              <a:rPr kumimoji="0" lang="en-US" altLang="zh-CN" sz="3200" b="0" dirty="0">
                <a:solidFill>
                  <a:srgbClr val="0000CC"/>
                </a:solidFill>
                <a:latin typeface="Times New Roman" panose="02020603050405020304" pitchFamily="18" charset="0"/>
                <a:ea typeface="黑体" panose="02010609060101010101" pitchFamily="49" charset="-122"/>
              </a:rPr>
              <a:t>2. </a:t>
            </a:r>
            <a:r>
              <a:rPr lang="en-US" altLang="zh-CN" sz="3200" b="0" dirty="0">
                <a:solidFill>
                  <a:srgbClr val="0000CC"/>
                </a:solidFill>
                <a:latin typeface="Times New Roman" panose="02020603050405020304" pitchFamily="18" charset="0"/>
                <a:ea typeface="黑体" panose="02010609060101010101" pitchFamily="49" charset="-122"/>
              </a:rPr>
              <a:t>DNA</a:t>
            </a:r>
            <a:r>
              <a:rPr lang="zh-CN" altLang="en-US" sz="3200" b="0" dirty="0">
                <a:solidFill>
                  <a:srgbClr val="0000CC"/>
                </a:solidFill>
                <a:latin typeface="Times New Roman" panose="02020603050405020304" pitchFamily="18" charset="0"/>
                <a:ea typeface="黑体" panose="02010609060101010101" pitchFamily="49" charset="-122"/>
              </a:rPr>
              <a:t>的空间结构与功能</a:t>
            </a:r>
            <a:endParaRPr kumimoji="0" lang="zh-CN" altLang="en-US" sz="3200" b="0" dirty="0">
              <a:solidFill>
                <a:srgbClr val="0000CC"/>
              </a:solidFill>
              <a:latin typeface="Times New Roman" panose="02020603050405020304" pitchFamily="18" charset="0"/>
              <a:ea typeface="黑体" panose="02010609060101010101" pitchFamily="49" charset="-122"/>
            </a:endParaRPr>
          </a:p>
        </p:txBody>
      </p:sp>
      <p:sp>
        <p:nvSpPr>
          <p:cNvPr id="27653" name="AutoShape 1033">
            <a:extLst>
              <a:ext uri="{FF2B5EF4-FFF2-40B4-BE49-F238E27FC236}">
                <a16:creationId xmlns:a16="http://schemas.microsoft.com/office/drawing/2014/main" id="{866D4628-5B45-4434-B17E-700E34CEA77B}"/>
              </a:ext>
            </a:extLst>
          </p:cNvPr>
          <p:cNvSpPr>
            <a:spLocks noChangeArrowheads="1"/>
          </p:cNvSpPr>
          <p:nvPr/>
        </p:nvSpPr>
        <p:spPr bwMode="gray">
          <a:xfrm>
            <a:off x="3432176" y="3500439"/>
            <a:ext cx="5618163" cy="504825"/>
          </a:xfrm>
          <a:prstGeom prst="roundRect">
            <a:avLst>
              <a:gd name="adj" fmla="val 19046"/>
            </a:avLst>
          </a:prstGeom>
          <a:solidFill>
            <a:schemeClr val="accent3"/>
          </a:solidFill>
          <a:ln w="28575">
            <a:solidFill>
              <a:schemeClr val="bg1"/>
            </a:solidFill>
            <a:round/>
            <a:headEnd/>
            <a:tailEnd/>
          </a:ln>
          <a:effectLst>
            <a:outerShdw dist="107763" dir="2700000" algn="ctr" rotWithShape="0">
              <a:schemeClr val="bg2">
                <a:alpha val="50000"/>
              </a:schemeClr>
            </a:outerShdw>
          </a:effectLst>
        </p:spPr>
        <p:txBody>
          <a:bodyPr wrap="none" anchor="ctr"/>
          <a:lstStyle>
            <a:lvl1pPr marL="609600" indent="-609600">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ClrTx/>
              <a:buFontTx/>
              <a:buNone/>
              <a:defRPr/>
            </a:pPr>
            <a:r>
              <a:rPr kumimoji="0" lang="en-US" altLang="zh-CN" sz="3200" b="0" dirty="0">
                <a:solidFill>
                  <a:srgbClr val="0000CC"/>
                </a:solidFill>
                <a:latin typeface="Times New Roman" panose="02020603050405020304" pitchFamily="18" charset="0"/>
                <a:ea typeface="黑体" panose="02010609060101010101" pitchFamily="49" charset="-122"/>
              </a:rPr>
              <a:t>3. </a:t>
            </a:r>
            <a:r>
              <a:rPr lang="en-US" altLang="zh-CN" sz="3200" b="0" dirty="0">
                <a:solidFill>
                  <a:srgbClr val="0000CC"/>
                </a:solidFill>
                <a:latin typeface="Times New Roman" panose="02020603050405020304" pitchFamily="18" charset="0"/>
                <a:ea typeface="黑体" panose="02010609060101010101" pitchFamily="49" charset="-122"/>
              </a:rPr>
              <a:t>RNA</a:t>
            </a:r>
            <a:r>
              <a:rPr lang="zh-CN" altLang="en-US" sz="3200" b="0" dirty="0">
                <a:solidFill>
                  <a:srgbClr val="0000CC"/>
                </a:solidFill>
                <a:latin typeface="Times New Roman" panose="02020603050405020304" pitchFamily="18" charset="0"/>
                <a:ea typeface="黑体" panose="02010609060101010101" pitchFamily="49" charset="-122"/>
              </a:rPr>
              <a:t>的空间结构与功能</a:t>
            </a:r>
          </a:p>
        </p:txBody>
      </p:sp>
      <p:sp>
        <p:nvSpPr>
          <p:cNvPr id="27654" name="AutoShape 1034">
            <a:extLst>
              <a:ext uri="{FF2B5EF4-FFF2-40B4-BE49-F238E27FC236}">
                <a16:creationId xmlns:a16="http://schemas.microsoft.com/office/drawing/2014/main" id="{EEE7D58B-42DC-4237-91D4-171D24CC53A9}"/>
              </a:ext>
            </a:extLst>
          </p:cNvPr>
          <p:cNvSpPr>
            <a:spLocks noChangeArrowheads="1"/>
          </p:cNvSpPr>
          <p:nvPr/>
        </p:nvSpPr>
        <p:spPr bwMode="gray">
          <a:xfrm>
            <a:off x="3433763" y="4360864"/>
            <a:ext cx="5618162" cy="504825"/>
          </a:xfrm>
          <a:prstGeom prst="roundRect">
            <a:avLst>
              <a:gd name="adj" fmla="val 19046"/>
            </a:avLst>
          </a:prstGeom>
          <a:solidFill>
            <a:schemeClr val="bg2">
              <a:lumMod val="60000"/>
              <a:lumOff val="40000"/>
            </a:schemeClr>
          </a:solidFill>
          <a:ln w="28575">
            <a:solidFill>
              <a:schemeClr val="bg1"/>
            </a:solidFill>
            <a:round/>
            <a:headEnd/>
            <a:tailEnd/>
          </a:ln>
          <a:effectLst>
            <a:outerShdw dist="107763" dir="2700000" algn="ctr" rotWithShape="0">
              <a:schemeClr val="bg2">
                <a:alpha val="50000"/>
              </a:schemeClr>
            </a:outerShdw>
          </a:effectLst>
        </p:spPr>
        <p:txBody>
          <a:bodyPr wrap="none" anchor="ctr"/>
          <a:lstStyle>
            <a:lvl1pPr>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ClrTx/>
              <a:buFontTx/>
              <a:buNone/>
              <a:defRPr/>
            </a:pPr>
            <a:r>
              <a:rPr kumimoji="0" lang="en-US" altLang="zh-CN" sz="3200" b="0" dirty="0">
                <a:solidFill>
                  <a:srgbClr val="0000CC"/>
                </a:solidFill>
                <a:latin typeface="Times New Roman" panose="02020603050405020304" pitchFamily="18" charset="0"/>
                <a:ea typeface="黑体" panose="02010609060101010101" pitchFamily="49" charset="-122"/>
              </a:rPr>
              <a:t>4.</a:t>
            </a:r>
            <a:r>
              <a:rPr lang="zh-CN" altLang="en-US" sz="3200" b="0" dirty="0">
                <a:solidFill>
                  <a:srgbClr val="0000CC"/>
                </a:solidFill>
                <a:latin typeface="Times New Roman" panose="02020603050405020304" pitchFamily="18" charset="0"/>
                <a:ea typeface="黑体" panose="02010609060101010101" pitchFamily="49" charset="-122"/>
              </a:rPr>
              <a:t>核酸的理化性质</a:t>
            </a:r>
          </a:p>
        </p:txBody>
      </p:sp>
      <p:sp>
        <p:nvSpPr>
          <p:cNvPr id="32775" name="灯片编号占位符 1">
            <a:extLst>
              <a:ext uri="{FF2B5EF4-FFF2-40B4-BE49-F238E27FC236}">
                <a16:creationId xmlns:a16="http://schemas.microsoft.com/office/drawing/2014/main" id="{AA15F2DD-AA73-4E7A-A5B1-BFB604822EF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9C22E18D-30BC-455D-BD73-6DE09326A4AD}" type="slidenum">
              <a:rPr lang="zh-CN" altLang="en-US" sz="1200" b="0">
                <a:solidFill>
                  <a:srgbClr val="898F89"/>
                </a:solidFill>
              </a:rPr>
              <a:pPr>
                <a:spcBef>
                  <a:spcPct val="0"/>
                </a:spcBef>
                <a:buClrTx/>
                <a:buFontTx/>
                <a:buNone/>
              </a:pPr>
              <a:t>3</a:t>
            </a:fld>
            <a:endParaRPr lang="zh-CN" altLang="en-US" sz="1200" b="0">
              <a:solidFill>
                <a:srgbClr val="898F89"/>
              </a:solidFill>
            </a:endParaRPr>
          </a:p>
        </p:txBody>
      </p:sp>
    </p:spTree>
    <p:extLst>
      <p:ext uri="{BB962C8B-B14F-4D97-AF65-F5344CB8AC3E}">
        <p14:creationId xmlns:p14="http://schemas.microsoft.com/office/powerpoint/2010/main" val="653263217"/>
      </p:ext>
    </p:extLst>
  </p:cSld>
  <p:clrMapOvr>
    <a:masterClrMapping/>
  </p:clrMapOvr>
  <p:transition spd="slow">
    <p:circle/>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D991AABE-4A6B-4198-928B-83DDF0282BAF}"/>
              </a:ext>
            </a:extLst>
          </p:cNvPr>
          <p:cNvSpPr>
            <a:spLocks noChangeArrowheads="1"/>
          </p:cNvSpPr>
          <p:nvPr/>
        </p:nvSpPr>
        <p:spPr bwMode="auto">
          <a:xfrm>
            <a:off x="2640014" y="1341439"/>
            <a:ext cx="5710237"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90000"/>
              </a:lnSpc>
              <a:spcBef>
                <a:spcPct val="0"/>
              </a:spcBef>
              <a:buClrTx/>
              <a:buFontTx/>
              <a:buNone/>
            </a:pPr>
            <a:r>
              <a:rPr lang="zh-CN" altLang="en-US" sz="3200">
                <a:solidFill>
                  <a:srgbClr val="FF0000"/>
                </a:solidFill>
                <a:latin typeface="Times New Roman" panose="02020603050405020304" pitchFamily="18" charset="0"/>
                <a:ea typeface="黑体" panose="02010609060101010101" pitchFamily="49" charset="-122"/>
              </a:rPr>
              <a:t>核 酸</a:t>
            </a:r>
            <a:r>
              <a:rPr lang="en-US" altLang="zh-CN" sz="3200">
                <a:solidFill>
                  <a:srgbClr val="FF0000"/>
                </a:solidFill>
                <a:latin typeface="Times New Roman" panose="02020603050405020304" pitchFamily="18" charset="0"/>
                <a:ea typeface="黑体" panose="02010609060101010101" pitchFamily="49" charset="-122"/>
              </a:rPr>
              <a:t>(nucleic acid)</a:t>
            </a:r>
            <a:r>
              <a:rPr lang="en-US" altLang="zh-CN" sz="3200" b="0">
                <a:solidFill>
                  <a:srgbClr val="660066"/>
                </a:solidFill>
                <a:latin typeface="Times New Roman" panose="02020603050405020304" pitchFamily="18" charset="0"/>
                <a:ea typeface="黑体" panose="02010609060101010101" pitchFamily="49" charset="-122"/>
              </a:rPr>
              <a:t>  </a:t>
            </a:r>
            <a:endParaRPr lang="en-US" altLang="zh-CN" sz="3200">
              <a:solidFill>
                <a:srgbClr val="660066"/>
              </a:solidFill>
              <a:latin typeface="Times New Roman" panose="02020603050405020304" pitchFamily="18" charset="0"/>
              <a:ea typeface="黑体" panose="02010609060101010101" pitchFamily="49" charset="-122"/>
            </a:endParaRPr>
          </a:p>
        </p:txBody>
      </p:sp>
      <p:sp>
        <p:nvSpPr>
          <p:cNvPr id="22531" name="Text Box 4">
            <a:extLst>
              <a:ext uri="{FF2B5EF4-FFF2-40B4-BE49-F238E27FC236}">
                <a16:creationId xmlns:a16="http://schemas.microsoft.com/office/drawing/2014/main" id="{ABC5CB6A-2725-40AC-A38B-F96897E5519E}"/>
              </a:ext>
            </a:extLst>
          </p:cNvPr>
          <p:cNvSpPr txBox="1">
            <a:spLocks noChangeArrowheads="1"/>
          </p:cNvSpPr>
          <p:nvPr/>
        </p:nvSpPr>
        <p:spPr bwMode="auto">
          <a:xfrm>
            <a:off x="2424112" y="2206626"/>
            <a:ext cx="7704335" cy="1303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720725">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50000"/>
              </a:lnSpc>
              <a:spcBef>
                <a:spcPct val="50000"/>
              </a:spcBef>
              <a:buClrTx/>
              <a:buFontTx/>
              <a:buNone/>
            </a:pPr>
            <a:r>
              <a:rPr lang="zh-CN" altLang="en-US" dirty="0">
                <a:solidFill>
                  <a:schemeClr val="tx1"/>
                </a:solidFill>
                <a:latin typeface="Times New Roman" panose="02020603050405020304" pitchFamily="18" charset="0"/>
                <a:ea typeface="黑体" panose="02010609060101010101" pitchFamily="49" charset="-122"/>
              </a:rPr>
              <a:t>是以</a:t>
            </a:r>
            <a:r>
              <a:rPr lang="zh-CN" altLang="en-US" dirty="0">
                <a:solidFill>
                  <a:srgbClr val="0000CC"/>
                </a:solidFill>
                <a:latin typeface="Times New Roman" panose="02020603050405020304" pitchFamily="18" charset="0"/>
                <a:ea typeface="黑体" panose="02010609060101010101" pitchFamily="49" charset="-122"/>
              </a:rPr>
              <a:t>核苷酸</a:t>
            </a:r>
            <a:r>
              <a:rPr lang="zh-CN" altLang="en-US" dirty="0">
                <a:solidFill>
                  <a:schemeClr val="tx1"/>
                </a:solidFill>
                <a:latin typeface="Times New Roman" panose="02020603050405020304" pitchFamily="18" charset="0"/>
                <a:ea typeface="黑体" panose="02010609060101010101" pitchFamily="49" charset="-122"/>
              </a:rPr>
              <a:t>为基本组成单位通过</a:t>
            </a:r>
            <a:r>
              <a:rPr lang="zh-CN" altLang="en-US" dirty="0">
                <a:solidFill>
                  <a:srgbClr val="0000CC"/>
                </a:solidFill>
                <a:latin typeface="Times New Roman" panose="02020603050405020304" pitchFamily="18" charset="0"/>
                <a:ea typeface="黑体" panose="02010609060101010101" pitchFamily="49" charset="-122"/>
              </a:rPr>
              <a:t>磷酸二酯键</a:t>
            </a:r>
            <a:r>
              <a:rPr lang="zh-CN" altLang="en-US" dirty="0">
                <a:solidFill>
                  <a:schemeClr val="tx1"/>
                </a:solidFill>
                <a:latin typeface="Times New Roman" panose="02020603050405020304" pitchFamily="18" charset="0"/>
                <a:ea typeface="黑体" panose="02010609060101010101" pitchFamily="49" charset="-122"/>
              </a:rPr>
              <a:t>构成的生物大分子，</a:t>
            </a:r>
            <a:r>
              <a:rPr lang="zh-CN" altLang="en-US" dirty="0">
                <a:solidFill>
                  <a:srgbClr val="0000CC"/>
                </a:solidFill>
                <a:latin typeface="Times New Roman" panose="02020603050405020304" pitchFamily="18" charset="0"/>
                <a:ea typeface="黑体" panose="02010609060101010101" pitchFamily="49" charset="-122"/>
              </a:rPr>
              <a:t>携带和传递遗传信息</a:t>
            </a:r>
            <a:r>
              <a:rPr lang="zh-CN" altLang="en-US" dirty="0">
                <a:solidFill>
                  <a:schemeClr val="tx1"/>
                </a:solidFill>
                <a:latin typeface="Times New Roman" panose="02020603050405020304" pitchFamily="18" charset="0"/>
                <a:ea typeface="黑体" panose="02010609060101010101" pitchFamily="49" charset="-122"/>
              </a:rPr>
              <a:t>。</a:t>
            </a:r>
          </a:p>
        </p:txBody>
      </p:sp>
      <p:sp>
        <p:nvSpPr>
          <p:cNvPr id="749571" name="Text Box 3">
            <a:extLst>
              <a:ext uri="{FF2B5EF4-FFF2-40B4-BE49-F238E27FC236}">
                <a16:creationId xmlns:a16="http://schemas.microsoft.com/office/drawing/2014/main" id="{8313DE41-9E05-4F90-8A89-7CE3DFC1CDF7}"/>
              </a:ext>
            </a:extLst>
          </p:cNvPr>
          <p:cNvSpPr txBox="1">
            <a:spLocks noChangeArrowheads="1"/>
          </p:cNvSpPr>
          <p:nvPr/>
        </p:nvSpPr>
        <p:spPr bwMode="auto">
          <a:xfrm>
            <a:off x="3071813" y="4006850"/>
            <a:ext cx="5111750" cy="145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50000"/>
              </a:lnSpc>
              <a:spcBef>
                <a:spcPct val="0"/>
              </a:spcBef>
              <a:buClrTx/>
              <a:buFontTx/>
              <a:buNone/>
            </a:pPr>
            <a:r>
              <a:rPr kumimoji="0" lang="zh-CN" altLang="en-US" sz="3200">
                <a:solidFill>
                  <a:schemeClr val="tx1"/>
                </a:solidFill>
                <a:latin typeface="黑体" panose="02010609060101010101" pitchFamily="49" charset="-122"/>
                <a:ea typeface="黑体" panose="02010609060101010101" pitchFamily="49" charset="-122"/>
              </a:rPr>
              <a:t>核  酸： </a:t>
            </a:r>
            <a:r>
              <a:rPr kumimoji="0" lang="zh-CN" altLang="en-US" sz="3200">
                <a:solidFill>
                  <a:srgbClr val="FF0000"/>
                </a:solidFill>
                <a:latin typeface="黑体" panose="02010609060101010101" pitchFamily="49" charset="-122"/>
                <a:ea typeface="黑体" panose="02010609060101010101" pitchFamily="49" charset="-122"/>
              </a:rPr>
              <a:t>遗传</a:t>
            </a:r>
            <a:r>
              <a:rPr kumimoji="0" lang="zh-CN" altLang="en-US" sz="3200">
                <a:solidFill>
                  <a:schemeClr val="tx1"/>
                </a:solidFill>
                <a:latin typeface="黑体" panose="02010609060101010101" pitchFamily="49" charset="-122"/>
                <a:ea typeface="黑体" panose="02010609060101010101" pitchFamily="49" charset="-122"/>
              </a:rPr>
              <a:t>的物质基础</a:t>
            </a:r>
          </a:p>
          <a:p>
            <a:pPr eaLnBrk="1" hangingPunct="1">
              <a:lnSpc>
                <a:spcPct val="150000"/>
              </a:lnSpc>
              <a:spcBef>
                <a:spcPct val="0"/>
              </a:spcBef>
              <a:buClrTx/>
              <a:buFontTx/>
              <a:buNone/>
            </a:pPr>
            <a:r>
              <a:rPr kumimoji="0" lang="zh-CN" altLang="en-US" sz="3200">
                <a:solidFill>
                  <a:schemeClr val="tx1"/>
                </a:solidFill>
                <a:latin typeface="黑体" panose="02010609060101010101" pitchFamily="49" charset="-122"/>
                <a:ea typeface="黑体" panose="02010609060101010101" pitchFamily="49" charset="-122"/>
              </a:rPr>
              <a:t>蛋白质： </a:t>
            </a:r>
            <a:r>
              <a:rPr kumimoji="0" lang="zh-CN" altLang="en-US" sz="3200">
                <a:solidFill>
                  <a:srgbClr val="FF0000"/>
                </a:solidFill>
                <a:latin typeface="黑体" panose="02010609060101010101" pitchFamily="49" charset="-122"/>
                <a:ea typeface="黑体" panose="02010609060101010101" pitchFamily="49" charset="-122"/>
              </a:rPr>
              <a:t>生命</a:t>
            </a:r>
            <a:r>
              <a:rPr kumimoji="0" lang="zh-CN" altLang="en-US" sz="3200">
                <a:solidFill>
                  <a:schemeClr val="tx1"/>
                </a:solidFill>
                <a:latin typeface="黑体" panose="02010609060101010101" pitchFamily="49" charset="-122"/>
                <a:ea typeface="黑体" panose="02010609060101010101" pitchFamily="49" charset="-122"/>
              </a:rPr>
              <a:t>的物质基础</a:t>
            </a:r>
          </a:p>
        </p:txBody>
      </p:sp>
      <p:sp>
        <p:nvSpPr>
          <p:cNvPr id="22533" name="灯片编号占位符 1">
            <a:extLst>
              <a:ext uri="{FF2B5EF4-FFF2-40B4-BE49-F238E27FC236}">
                <a16:creationId xmlns:a16="http://schemas.microsoft.com/office/drawing/2014/main" id="{B7756AE6-9B2F-4036-BA7F-A49473671125}"/>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1D6E38B8-1A79-4244-BD18-B7D582087550}" type="slidenum">
              <a:rPr lang="zh-CN" altLang="en-US" sz="1200" b="0">
                <a:solidFill>
                  <a:srgbClr val="898F89"/>
                </a:solidFill>
              </a:rPr>
              <a:pPr>
                <a:spcBef>
                  <a:spcPct val="0"/>
                </a:spcBef>
                <a:buClrTx/>
                <a:buFontTx/>
                <a:buNone/>
              </a:pPr>
              <a:t>4</a:t>
            </a:fld>
            <a:endParaRPr lang="zh-CN" altLang="en-US" sz="1200" b="0">
              <a:solidFill>
                <a:srgbClr val="898F8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49571">
                                            <p:txEl>
                                              <p:pRg st="0" end="0"/>
                                            </p:txEl>
                                          </p:spTgt>
                                        </p:tgtEl>
                                        <p:attrNameLst>
                                          <p:attrName>style.visibility</p:attrName>
                                        </p:attrNameLst>
                                      </p:cBhvr>
                                      <p:to>
                                        <p:strVal val="visible"/>
                                      </p:to>
                                    </p:set>
                                    <p:animEffect transition="in" filter="wipe(left)">
                                      <p:cBhvr>
                                        <p:cTn id="7" dur="500"/>
                                        <p:tgtEl>
                                          <p:spTgt spid="7495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49571">
                                            <p:txEl>
                                              <p:pRg st="1" end="1"/>
                                            </p:txEl>
                                          </p:spTgt>
                                        </p:tgtEl>
                                        <p:attrNameLst>
                                          <p:attrName>style.visibility</p:attrName>
                                        </p:attrNameLst>
                                      </p:cBhvr>
                                      <p:to>
                                        <p:strVal val="visible"/>
                                      </p:to>
                                    </p:set>
                                    <p:animEffect transition="in" filter="wipe(left)">
                                      <p:cBhvr>
                                        <p:cTn id="12" dur="500"/>
                                        <p:tgtEl>
                                          <p:spTgt spid="7495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3">
            <a:extLst>
              <a:ext uri="{FF2B5EF4-FFF2-40B4-BE49-F238E27FC236}">
                <a16:creationId xmlns:a16="http://schemas.microsoft.com/office/drawing/2014/main" id="{9891D984-FDA4-4792-906C-D8C25EA9758C}"/>
              </a:ext>
            </a:extLst>
          </p:cNvPr>
          <p:cNvSpPr txBox="1">
            <a:spLocks noChangeArrowheads="1"/>
          </p:cNvSpPr>
          <p:nvPr/>
        </p:nvSpPr>
        <p:spPr bwMode="auto">
          <a:xfrm>
            <a:off x="4008439" y="115888"/>
            <a:ext cx="4103687"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a:solidFill>
                  <a:srgbClr val="0000CC"/>
                </a:solidFill>
                <a:latin typeface="Times New Roman" panose="02020603050405020304" pitchFamily="18" charset="0"/>
                <a:ea typeface="黑体" panose="02010609060101010101" pitchFamily="49" charset="-122"/>
              </a:rPr>
              <a:t>核酸的分类及分布  </a:t>
            </a:r>
          </a:p>
        </p:txBody>
      </p:sp>
      <p:grpSp>
        <p:nvGrpSpPr>
          <p:cNvPr id="30723" name="Group 20">
            <a:extLst>
              <a:ext uri="{FF2B5EF4-FFF2-40B4-BE49-F238E27FC236}">
                <a16:creationId xmlns:a16="http://schemas.microsoft.com/office/drawing/2014/main" id="{D3CBFC93-10AA-4D70-A93B-A502DC1599E9}"/>
              </a:ext>
            </a:extLst>
          </p:cNvPr>
          <p:cNvGrpSpPr>
            <a:grpSpLocks/>
          </p:cNvGrpSpPr>
          <p:nvPr/>
        </p:nvGrpSpPr>
        <p:grpSpPr bwMode="auto">
          <a:xfrm>
            <a:off x="1631504" y="1834431"/>
            <a:ext cx="4546600" cy="4132263"/>
            <a:chOff x="288" y="1056"/>
            <a:chExt cx="2864" cy="2603"/>
          </a:xfrm>
        </p:grpSpPr>
        <p:sp>
          <p:nvSpPr>
            <p:cNvPr id="30731" name="Rectangle 18">
              <a:extLst>
                <a:ext uri="{FF2B5EF4-FFF2-40B4-BE49-F238E27FC236}">
                  <a16:creationId xmlns:a16="http://schemas.microsoft.com/office/drawing/2014/main" id="{F2E572BF-CE5A-42F1-A77D-FAA410F81A62}"/>
                </a:ext>
              </a:extLst>
            </p:cNvPr>
            <p:cNvSpPr>
              <a:spLocks noChangeArrowheads="1"/>
            </p:cNvSpPr>
            <p:nvPr/>
          </p:nvSpPr>
          <p:spPr bwMode="auto">
            <a:xfrm>
              <a:off x="476" y="3385"/>
              <a:ext cx="544" cy="27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30732" name="Rectangle 19">
              <a:extLst>
                <a:ext uri="{FF2B5EF4-FFF2-40B4-BE49-F238E27FC236}">
                  <a16:creationId xmlns:a16="http://schemas.microsoft.com/office/drawing/2014/main" id="{14EA00AD-849F-4543-8995-66ECFC066CBE}"/>
                </a:ext>
              </a:extLst>
            </p:cNvPr>
            <p:cNvSpPr>
              <a:spLocks noChangeArrowheads="1"/>
            </p:cNvSpPr>
            <p:nvPr/>
          </p:nvSpPr>
          <p:spPr bwMode="auto">
            <a:xfrm>
              <a:off x="385" y="1661"/>
              <a:ext cx="544" cy="27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grpSp>
          <p:nvGrpSpPr>
            <p:cNvPr id="30733" name="Group 4">
              <a:extLst>
                <a:ext uri="{FF2B5EF4-FFF2-40B4-BE49-F238E27FC236}">
                  <a16:creationId xmlns:a16="http://schemas.microsoft.com/office/drawing/2014/main" id="{BF81AD32-B3F9-4BDD-9991-A4A5A53942D8}"/>
                </a:ext>
              </a:extLst>
            </p:cNvPr>
            <p:cNvGrpSpPr>
              <a:grpSpLocks/>
            </p:cNvGrpSpPr>
            <p:nvPr/>
          </p:nvGrpSpPr>
          <p:grpSpPr bwMode="auto">
            <a:xfrm>
              <a:off x="288" y="1056"/>
              <a:ext cx="2864" cy="2603"/>
              <a:chOff x="240" y="912"/>
              <a:chExt cx="2592" cy="2764"/>
            </a:xfrm>
          </p:grpSpPr>
          <p:sp>
            <p:nvSpPr>
              <p:cNvPr id="30734" name="Text Box 5">
                <a:extLst>
                  <a:ext uri="{FF2B5EF4-FFF2-40B4-BE49-F238E27FC236}">
                    <a16:creationId xmlns:a16="http://schemas.microsoft.com/office/drawing/2014/main" id="{DA3F8DEA-059F-48D3-B10D-7BA7799C4001}"/>
                  </a:ext>
                </a:extLst>
              </p:cNvPr>
              <p:cNvSpPr txBox="1">
                <a:spLocks noChangeArrowheads="1"/>
              </p:cNvSpPr>
              <p:nvPr/>
            </p:nvSpPr>
            <p:spPr bwMode="auto">
              <a:xfrm>
                <a:off x="293" y="1248"/>
                <a:ext cx="2155"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2400" dirty="0">
                    <a:solidFill>
                      <a:schemeClr val="tx1"/>
                    </a:solidFill>
                    <a:latin typeface="Times New Roman" panose="02020603050405020304" pitchFamily="18" charset="0"/>
                    <a:ea typeface="黑体" panose="02010609060101010101" pitchFamily="49" charset="-122"/>
                  </a:rPr>
                  <a:t>(</a:t>
                </a:r>
                <a:r>
                  <a:rPr lang="en-US" altLang="zh-CN" sz="2400" u="sng" dirty="0">
                    <a:solidFill>
                      <a:srgbClr val="FF0000"/>
                    </a:solidFill>
                    <a:latin typeface="Times New Roman" panose="02020603050405020304" pitchFamily="18" charset="0"/>
                    <a:ea typeface="黑体" panose="02010609060101010101" pitchFamily="49" charset="-122"/>
                  </a:rPr>
                  <a:t>d</a:t>
                </a:r>
                <a:r>
                  <a:rPr lang="en-US" altLang="zh-CN" sz="2400" u="sng" dirty="0">
                    <a:solidFill>
                      <a:schemeClr val="tx1"/>
                    </a:solidFill>
                    <a:latin typeface="Times New Roman" panose="02020603050405020304" pitchFamily="18" charset="0"/>
                    <a:ea typeface="黑体" panose="02010609060101010101" pitchFamily="49" charset="-122"/>
                  </a:rPr>
                  <a:t>eoxy</a:t>
                </a:r>
                <a:r>
                  <a:rPr lang="en-US" altLang="zh-CN" sz="2400" dirty="0">
                    <a:solidFill>
                      <a:schemeClr val="tx1"/>
                    </a:solidFill>
                    <a:latin typeface="Times New Roman" panose="02020603050405020304" pitchFamily="18" charset="0"/>
                    <a:ea typeface="黑体" panose="02010609060101010101" pitchFamily="49" charset="-122"/>
                  </a:rPr>
                  <a:t>ribo</a:t>
                </a:r>
                <a:r>
                  <a:rPr lang="en-US" altLang="zh-CN" sz="2400" dirty="0">
                    <a:solidFill>
                      <a:srgbClr val="FF0000"/>
                    </a:solidFill>
                    <a:latin typeface="Times New Roman" panose="02020603050405020304" pitchFamily="18" charset="0"/>
                    <a:ea typeface="黑体" panose="02010609060101010101" pitchFamily="49" charset="-122"/>
                  </a:rPr>
                  <a:t>n</a:t>
                </a:r>
                <a:r>
                  <a:rPr lang="en-US" altLang="zh-CN" sz="2400" dirty="0">
                    <a:solidFill>
                      <a:schemeClr val="tx1"/>
                    </a:solidFill>
                    <a:latin typeface="Times New Roman" panose="02020603050405020304" pitchFamily="18" charset="0"/>
                    <a:ea typeface="黑体" panose="02010609060101010101" pitchFamily="49" charset="-122"/>
                  </a:rPr>
                  <a:t>ucleic </a:t>
                </a:r>
                <a:r>
                  <a:rPr lang="en-US" altLang="zh-CN" sz="2400" dirty="0">
                    <a:solidFill>
                      <a:srgbClr val="FF0000"/>
                    </a:solidFill>
                    <a:latin typeface="Times New Roman" panose="02020603050405020304" pitchFamily="18" charset="0"/>
                    <a:ea typeface="黑体" panose="02010609060101010101" pitchFamily="49" charset="-122"/>
                  </a:rPr>
                  <a:t>a</a:t>
                </a:r>
                <a:r>
                  <a:rPr lang="en-US" altLang="zh-CN" sz="2400" dirty="0">
                    <a:solidFill>
                      <a:schemeClr val="tx1"/>
                    </a:solidFill>
                    <a:latin typeface="Times New Roman" panose="02020603050405020304" pitchFamily="18" charset="0"/>
                    <a:ea typeface="黑体" panose="02010609060101010101" pitchFamily="49" charset="-122"/>
                  </a:rPr>
                  <a:t>cid)</a:t>
                </a:r>
              </a:p>
              <a:p>
                <a:pPr eaLnBrk="1" hangingPunct="1">
                  <a:spcBef>
                    <a:spcPct val="0"/>
                  </a:spcBef>
                  <a:buClrTx/>
                  <a:buFontTx/>
                  <a:buNone/>
                </a:pPr>
                <a:r>
                  <a:rPr lang="en-US" altLang="zh-CN" sz="2400" dirty="0">
                    <a:solidFill>
                      <a:srgbClr val="FF0000"/>
                    </a:solidFill>
                    <a:latin typeface="Times New Roman" panose="02020603050405020304" pitchFamily="18" charset="0"/>
                    <a:ea typeface="黑体" panose="02010609060101010101" pitchFamily="49" charset="-122"/>
                  </a:rPr>
                  <a:t>DNA</a:t>
                </a:r>
              </a:p>
            </p:txBody>
          </p:sp>
          <p:sp>
            <p:nvSpPr>
              <p:cNvPr id="30735" name="Text Box 6">
                <a:extLst>
                  <a:ext uri="{FF2B5EF4-FFF2-40B4-BE49-F238E27FC236}">
                    <a16:creationId xmlns:a16="http://schemas.microsoft.com/office/drawing/2014/main" id="{BC0EC771-E62D-40DD-A3F0-3A25B1B8037A}"/>
                  </a:ext>
                </a:extLst>
              </p:cNvPr>
              <p:cNvSpPr txBox="1">
                <a:spLocks noChangeArrowheads="1"/>
              </p:cNvSpPr>
              <p:nvPr/>
            </p:nvSpPr>
            <p:spPr bwMode="auto">
              <a:xfrm>
                <a:off x="385" y="3120"/>
                <a:ext cx="2078"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2400">
                    <a:solidFill>
                      <a:schemeClr val="tx1"/>
                    </a:solidFill>
                    <a:latin typeface="Times New Roman" panose="02020603050405020304" pitchFamily="18" charset="0"/>
                    <a:ea typeface="黑体" panose="02010609060101010101" pitchFamily="49" charset="-122"/>
                  </a:rPr>
                  <a:t>(</a:t>
                </a:r>
                <a:r>
                  <a:rPr lang="en-US" altLang="zh-CN" sz="2400">
                    <a:solidFill>
                      <a:srgbClr val="FF0000"/>
                    </a:solidFill>
                    <a:latin typeface="Times New Roman" panose="02020603050405020304" pitchFamily="18" charset="0"/>
                    <a:ea typeface="黑体" panose="02010609060101010101" pitchFamily="49" charset="-122"/>
                  </a:rPr>
                  <a:t>r</a:t>
                </a:r>
                <a:r>
                  <a:rPr lang="en-US" altLang="zh-CN" sz="2400">
                    <a:solidFill>
                      <a:schemeClr val="tx1"/>
                    </a:solidFill>
                    <a:latin typeface="Times New Roman" panose="02020603050405020304" pitchFamily="18" charset="0"/>
                    <a:ea typeface="黑体" panose="02010609060101010101" pitchFamily="49" charset="-122"/>
                  </a:rPr>
                  <a:t>ibo</a:t>
                </a:r>
                <a:r>
                  <a:rPr lang="en-US" altLang="zh-CN" sz="2400">
                    <a:solidFill>
                      <a:srgbClr val="FF0000"/>
                    </a:solidFill>
                    <a:latin typeface="Times New Roman" panose="02020603050405020304" pitchFamily="18" charset="0"/>
                    <a:ea typeface="黑体" panose="02010609060101010101" pitchFamily="49" charset="-122"/>
                  </a:rPr>
                  <a:t>n</a:t>
                </a:r>
                <a:r>
                  <a:rPr lang="en-US" altLang="zh-CN" sz="2400">
                    <a:solidFill>
                      <a:schemeClr val="tx1"/>
                    </a:solidFill>
                    <a:latin typeface="Times New Roman" panose="02020603050405020304" pitchFamily="18" charset="0"/>
                    <a:ea typeface="黑体" panose="02010609060101010101" pitchFamily="49" charset="-122"/>
                  </a:rPr>
                  <a:t>ucleic </a:t>
                </a:r>
                <a:r>
                  <a:rPr lang="en-US" altLang="zh-CN" sz="2400">
                    <a:solidFill>
                      <a:srgbClr val="FF0000"/>
                    </a:solidFill>
                    <a:latin typeface="Times New Roman" panose="02020603050405020304" pitchFamily="18" charset="0"/>
                    <a:ea typeface="黑体" panose="02010609060101010101" pitchFamily="49" charset="-122"/>
                  </a:rPr>
                  <a:t>a</a:t>
                </a:r>
                <a:r>
                  <a:rPr lang="en-US" altLang="zh-CN" sz="2400">
                    <a:solidFill>
                      <a:schemeClr val="tx1"/>
                    </a:solidFill>
                    <a:latin typeface="Times New Roman" panose="02020603050405020304" pitchFamily="18" charset="0"/>
                    <a:ea typeface="黑体" panose="02010609060101010101" pitchFamily="49" charset="-122"/>
                  </a:rPr>
                  <a:t>cid )</a:t>
                </a:r>
              </a:p>
              <a:p>
                <a:pPr eaLnBrk="1" hangingPunct="1">
                  <a:spcBef>
                    <a:spcPct val="0"/>
                  </a:spcBef>
                  <a:buClrTx/>
                  <a:buFontTx/>
                  <a:buNone/>
                </a:pPr>
                <a:r>
                  <a:rPr lang="en-US" altLang="zh-CN" sz="2400">
                    <a:solidFill>
                      <a:srgbClr val="FF0000"/>
                    </a:solidFill>
                    <a:latin typeface="Times New Roman" panose="02020603050405020304" pitchFamily="18" charset="0"/>
                    <a:ea typeface="黑体" panose="02010609060101010101" pitchFamily="49" charset="-122"/>
                  </a:rPr>
                  <a:t>RNA</a:t>
                </a:r>
              </a:p>
            </p:txBody>
          </p:sp>
          <p:grpSp>
            <p:nvGrpSpPr>
              <p:cNvPr id="30736" name="Group 7">
                <a:extLst>
                  <a:ext uri="{FF2B5EF4-FFF2-40B4-BE49-F238E27FC236}">
                    <a16:creationId xmlns:a16="http://schemas.microsoft.com/office/drawing/2014/main" id="{9DE3D334-79C0-4F7B-B4C6-D48D342AC4E7}"/>
                  </a:ext>
                </a:extLst>
              </p:cNvPr>
              <p:cNvGrpSpPr>
                <a:grpSpLocks/>
              </p:cNvGrpSpPr>
              <p:nvPr/>
            </p:nvGrpSpPr>
            <p:grpSpPr bwMode="auto">
              <a:xfrm>
                <a:off x="240" y="912"/>
                <a:ext cx="2592" cy="2250"/>
                <a:chOff x="144" y="912"/>
                <a:chExt cx="2592" cy="2250"/>
              </a:xfrm>
            </p:grpSpPr>
            <p:grpSp>
              <p:nvGrpSpPr>
                <p:cNvPr id="30737" name="Group 8">
                  <a:extLst>
                    <a:ext uri="{FF2B5EF4-FFF2-40B4-BE49-F238E27FC236}">
                      <a16:creationId xmlns:a16="http://schemas.microsoft.com/office/drawing/2014/main" id="{511EDA58-E8BB-41CD-80AB-D77E390ED975}"/>
                    </a:ext>
                  </a:extLst>
                </p:cNvPr>
                <p:cNvGrpSpPr>
                  <a:grpSpLocks/>
                </p:cNvGrpSpPr>
                <p:nvPr/>
              </p:nvGrpSpPr>
              <p:grpSpPr bwMode="auto">
                <a:xfrm>
                  <a:off x="192" y="912"/>
                  <a:ext cx="2544" cy="2250"/>
                  <a:chOff x="240" y="912"/>
                  <a:chExt cx="2544" cy="2250"/>
                </a:xfrm>
              </p:grpSpPr>
              <p:sp>
                <p:nvSpPr>
                  <p:cNvPr id="30739" name="Text Box 9">
                    <a:extLst>
                      <a:ext uri="{FF2B5EF4-FFF2-40B4-BE49-F238E27FC236}">
                        <a16:creationId xmlns:a16="http://schemas.microsoft.com/office/drawing/2014/main" id="{ED4A6D44-963D-4B56-B4BA-EBB5476E52FC}"/>
                      </a:ext>
                    </a:extLst>
                  </p:cNvPr>
                  <p:cNvSpPr txBox="1">
                    <a:spLocks noChangeArrowheads="1"/>
                  </p:cNvSpPr>
                  <p:nvPr/>
                </p:nvSpPr>
                <p:spPr bwMode="auto">
                  <a:xfrm>
                    <a:off x="336" y="912"/>
                    <a:ext cx="2448"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a:solidFill>
                          <a:schemeClr val="tx1"/>
                        </a:solidFill>
                        <a:latin typeface="Times New Roman" panose="02020603050405020304" pitchFamily="18" charset="0"/>
                        <a:ea typeface="黑体" panose="02010609060101010101" pitchFamily="49" charset="-122"/>
                      </a:rPr>
                      <a:t>脱氧核糖核酸</a:t>
                    </a:r>
                    <a:endParaRPr lang="zh-CN" altLang="en-US" sz="2400" b="0">
                      <a:solidFill>
                        <a:schemeClr val="tx1"/>
                      </a:solidFill>
                      <a:latin typeface="Times New Roman" panose="02020603050405020304" pitchFamily="18" charset="0"/>
                      <a:ea typeface="黑体" panose="02010609060101010101" pitchFamily="49" charset="-122"/>
                    </a:endParaRPr>
                  </a:p>
                </p:txBody>
              </p:sp>
              <p:sp>
                <p:nvSpPr>
                  <p:cNvPr id="30740" name="Text Box 10">
                    <a:extLst>
                      <a:ext uri="{FF2B5EF4-FFF2-40B4-BE49-F238E27FC236}">
                        <a16:creationId xmlns:a16="http://schemas.microsoft.com/office/drawing/2014/main" id="{7A66F361-32D8-4AC5-9E8E-3831FF45EFC9}"/>
                      </a:ext>
                    </a:extLst>
                  </p:cNvPr>
                  <p:cNvSpPr txBox="1">
                    <a:spLocks noChangeArrowheads="1"/>
                  </p:cNvSpPr>
                  <p:nvPr/>
                </p:nvSpPr>
                <p:spPr bwMode="auto">
                  <a:xfrm>
                    <a:off x="240" y="2815"/>
                    <a:ext cx="1033"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a:solidFill>
                          <a:schemeClr val="tx1"/>
                        </a:solidFill>
                        <a:latin typeface="Times New Roman" panose="02020603050405020304" pitchFamily="18" charset="0"/>
                        <a:ea typeface="黑体" panose="02010609060101010101" pitchFamily="49" charset="-122"/>
                      </a:rPr>
                      <a:t> </a:t>
                    </a:r>
                    <a:r>
                      <a:rPr lang="zh-CN" altLang="en-US">
                        <a:solidFill>
                          <a:schemeClr val="tx1"/>
                        </a:solidFill>
                        <a:latin typeface="Times New Roman" panose="02020603050405020304" pitchFamily="18" charset="0"/>
                        <a:ea typeface="黑体" panose="02010609060101010101" pitchFamily="49" charset="-122"/>
                      </a:rPr>
                      <a:t>核糖核酸</a:t>
                    </a:r>
                    <a:endParaRPr lang="zh-CN" altLang="en-US" sz="2400" b="0">
                      <a:solidFill>
                        <a:schemeClr val="tx1"/>
                      </a:solidFill>
                      <a:latin typeface="Times New Roman" panose="02020603050405020304" pitchFamily="18" charset="0"/>
                      <a:ea typeface="黑体" panose="02010609060101010101" pitchFamily="49" charset="-122"/>
                    </a:endParaRPr>
                  </a:p>
                </p:txBody>
              </p:sp>
            </p:grpSp>
            <p:sp>
              <p:nvSpPr>
                <p:cNvPr id="30738" name="AutoShape 11">
                  <a:extLst>
                    <a:ext uri="{FF2B5EF4-FFF2-40B4-BE49-F238E27FC236}">
                      <a16:creationId xmlns:a16="http://schemas.microsoft.com/office/drawing/2014/main" id="{55AC519B-A944-4411-AB28-84AEBA88B76D}"/>
                    </a:ext>
                  </a:extLst>
                </p:cNvPr>
                <p:cNvSpPr>
                  <a:spLocks/>
                </p:cNvSpPr>
                <p:nvPr/>
              </p:nvSpPr>
              <p:spPr bwMode="auto">
                <a:xfrm>
                  <a:off x="144" y="1104"/>
                  <a:ext cx="96" cy="1872"/>
                </a:xfrm>
                <a:prstGeom prst="leftBrace">
                  <a:avLst>
                    <a:gd name="adj1" fmla="val 162500"/>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grpSp>
        </p:grpSp>
      </p:grpSp>
      <p:grpSp>
        <p:nvGrpSpPr>
          <p:cNvPr id="6" name="Group 12">
            <a:extLst>
              <a:ext uri="{FF2B5EF4-FFF2-40B4-BE49-F238E27FC236}">
                <a16:creationId xmlns:a16="http://schemas.microsoft.com/office/drawing/2014/main" id="{EBE0B9BE-35A9-4FFA-A9C3-4D7BA3335B96}"/>
              </a:ext>
            </a:extLst>
          </p:cNvPr>
          <p:cNvGrpSpPr>
            <a:grpSpLocks/>
          </p:cNvGrpSpPr>
          <p:nvPr/>
        </p:nvGrpSpPr>
        <p:grpSpPr bwMode="auto">
          <a:xfrm>
            <a:off x="5607287" y="1618494"/>
            <a:ext cx="5616575" cy="3514724"/>
            <a:chOff x="2170" y="982"/>
            <a:chExt cx="3538" cy="2214"/>
          </a:xfrm>
        </p:grpSpPr>
        <p:sp>
          <p:nvSpPr>
            <p:cNvPr id="30729" name="Rectangle 13">
              <a:extLst>
                <a:ext uri="{FF2B5EF4-FFF2-40B4-BE49-F238E27FC236}">
                  <a16:creationId xmlns:a16="http://schemas.microsoft.com/office/drawing/2014/main" id="{D3282ABF-CD44-4A7C-967A-85227F645438}"/>
                </a:ext>
              </a:extLst>
            </p:cNvPr>
            <p:cNvSpPr>
              <a:spLocks noChangeArrowheads="1"/>
            </p:cNvSpPr>
            <p:nvPr/>
          </p:nvSpPr>
          <p:spPr bwMode="auto">
            <a:xfrm>
              <a:off x="2221" y="982"/>
              <a:ext cx="3266" cy="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just" eaLnBrk="1" hangingPunct="1">
                <a:lnSpc>
                  <a:spcPct val="110000"/>
                </a:lnSpc>
                <a:spcBef>
                  <a:spcPct val="50000"/>
                </a:spcBef>
                <a:buClrTx/>
                <a:buFontTx/>
                <a:buNone/>
              </a:pPr>
              <a:r>
                <a:rPr lang="en-US" altLang="zh-CN" dirty="0">
                  <a:solidFill>
                    <a:srgbClr val="0000CC"/>
                  </a:solidFill>
                  <a:latin typeface="Times New Roman" panose="02020603050405020304" pitchFamily="18" charset="0"/>
                  <a:ea typeface="黑体" panose="02010609060101010101" pitchFamily="49" charset="-122"/>
                </a:rPr>
                <a:t>90%</a:t>
              </a:r>
              <a:r>
                <a:rPr lang="zh-CN" altLang="zh-CN" dirty="0">
                  <a:solidFill>
                    <a:srgbClr val="0000CC"/>
                  </a:solidFill>
                  <a:latin typeface="Times New Roman" panose="02020603050405020304" pitchFamily="18" charset="0"/>
                  <a:ea typeface="黑体" panose="02010609060101010101" pitchFamily="49" charset="-122"/>
                </a:rPr>
                <a:t>以上分布于</a:t>
              </a:r>
              <a:r>
                <a:rPr lang="zh-CN" altLang="zh-CN" u="sng" dirty="0">
                  <a:solidFill>
                    <a:srgbClr val="0000CC"/>
                  </a:solidFill>
                  <a:latin typeface="Times New Roman" panose="02020603050405020304" pitchFamily="18" charset="0"/>
                  <a:ea typeface="黑体" panose="02010609060101010101" pitchFamily="49" charset="-122"/>
                </a:rPr>
                <a:t>细胞核</a:t>
              </a:r>
              <a:r>
                <a:rPr lang="zh-CN" altLang="zh-CN" dirty="0">
                  <a:solidFill>
                    <a:srgbClr val="0000CC"/>
                  </a:solidFill>
                  <a:latin typeface="Times New Roman" panose="02020603050405020304" pitchFamily="18" charset="0"/>
                  <a:ea typeface="黑体" panose="02010609060101010101" pitchFamily="49" charset="-122"/>
                </a:rPr>
                <a:t>，其余分布于核外</a:t>
              </a:r>
              <a:r>
                <a:rPr lang="zh-CN" altLang="en-US" dirty="0">
                  <a:solidFill>
                    <a:srgbClr val="0000CC"/>
                  </a:solidFill>
                  <a:latin typeface="Times New Roman" panose="02020603050405020304" pitchFamily="18" charset="0"/>
                  <a:ea typeface="黑体" panose="02010609060101010101" pitchFamily="49" charset="-122"/>
                </a:rPr>
                <a:t>如线粒体，叶绿体，质粒等。</a:t>
              </a:r>
            </a:p>
          </p:txBody>
        </p:sp>
        <p:sp>
          <p:nvSpPr>
            <p:cNvPr id="30730" name="Rectangle 14">
              <a:extLst>
                <a:ext uri="{FF2B5EF4-FFF2-40B4-BE49-F238E27FC236}">
                  <a16:creationId xmlns:a16="http://schemas.microsoft.com/office/drawing/2014/main" id="{9427B26F-1A63-4F09-A2F0-B8A2938A6493}"/>
                </a:ext>
              </a:extLst>
            </p:cNvPr>
            <p:cNvSpPr>
              <a:spLocks noChangeArrowheads="1"/>
            </p:cNvSpPr>
            <p:nvPr/>
          </p:nvSpPr>
          <p:spPr bwMode="auto">
            <a:xfrm>
              <a:off x="2170" y="2894"/>
              <a:ext cx="3538"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90000"/>
                </a:lnSpc>
                <a:spcBef>
                  <a:spcPct val="0"/>
                </a:spcBef>
                <a:buClrTx/>
                <a:buFontTx/>
                <a:buNone/>
              </a:pPr>
              <a:r>
                <a:rPr lang="en-US" altLang="zh-CN" dirty="0">
                  <a:solidFill>
                    <a:srgbClr val="0000CC"/>
                  </a:solidFill>
                  <a:latin typeface="Times New Roman" panose="02020603050405020304" pitchFamily="18" charset="0"/>
                  <a:ea typeface="黑体" panose="02010609060101010101" pitchFamily="49" charset="-122"/>
                </a:rPr>
                <a:t> </a:t>
              </a:r>
              <a:r>
                <a:rPr lang="zh-CN" altLang="zh-CN" dirty="0">
                  <a:solidFill>
                    <a:srgbClr val="0000CC"/>
                  </a:solidFill>
                  <a:latin typeface="Times New Roman" panose="02020603050405020304" pitchFamily="18" charset="0"/>
                  <a:ea typeface="黑体" panose="02010609060101010101" pitchFamily="49" charset="-122"/>
                </a:rPr>
                <a:t>分布于胞核、胞</a:t>
              </a:r>
              <a:r>
                <a:rPr lang="zh-CN" altLang="en-US" dirty="0">
                  <a:solidFill>
                    <a:srgbClr val="0000CC"/>
                  </a:solidFill>
                  <a:latin typeface="Times New Roman" panose="02020603050405020304" pitchFamily="18" charset="0"/>
                  <a:ea typeface="黑体" panose="02010609060101010101" pitchFamily="49" charset="-122"/>
                </a:rPr>
                <a:t>质</a:t>
              </a:r>
              <a:r>
                <a:rPr lang="zh-CN" altLang="zh-CN" dirty="0">
                  <a:solidFill>
                    <a:srgbClr val="0000CC"/>
                  </a:solidFill>
                  <a:latin typeface="Times New Roman" panose="02020603050405020304" pitchFamily="18" charset="0"/>
                  <a:ea typeface="黑体" panose="02010609060101010101" pitchFamily="49" charset="-122"/>
                </a:rPr>
                <a:t>和</a:t>
              </a:r>
              <a:r>
                <a:rPr lang="zh-CN" altLang="en-US" dirty="0">
                  <a:solidFill>
                    <a:srgbClr val="0000CC"/>
                  </a:solidFill>
                  <a:latin typeface="Times New Roman" panose="02020603050405020304" pitchFamily="18" charset="0"/>
                  <a:ea typeface="黑体" panose="02010609060101010101" pitchFamily="49" charset="-122"/>
                </a:rPr>
                <a:t>线粒体</a:t>
              </a:r>
            </a:p>
          </p:txBody>
        </p:sp>
      </p:grpSp>
      <p:grpSp>
        <p:nvGrpSpPr>
          <p:cNvPr id="7" name="Group 15">
            <a:extLst>
              <a:ext uri="{FF2B5EF4-FFF2-40B4-BE49-F238E27FC236}">
                <a16:creationId xmlns:a16="http://schemas.microsoft.com/office/drawing/2014/main" id="{D97CA472-49AF-494D-BFE5-C227F307ABBF}"/>
              </a:ext>
            </a:extLst>
          </p:cNvPr>
          <p:cNvGrpSpPr>
            <a:grpSpLocks/>
          </p:cNvGrpSpPr>
          <p:nvPr/>
        </p:nvGrpSpPr>
        <p:grpSpPr bwMode="auto">
          <a:xfrm>
            <a:off x="5687819" y="3267645"/>
            <a:ext cx="5670551" cy="2806700"/>
            <a:chOff x="2755" y="1984"/>
            <a:chExt cx="3572" cy="1768"/>
          </a:xfrm>
        </p:grpSpPr>
        <p:sp>
          <p:nvSpPr>
            <p:cNvPr id="30727" name="Text Box 16">
              <a:extLst>
                <a:ext uri="{FF2B5EF4-FFF2-40B4-BE49-F238E27FC236}">
                  <a16:creationId xmlns:a16="http://schemas.microsoft.com/office/drawing/2014/main" id="{0315C97E-5542-4D52-8AAC-8CB0373A2C25}"/>
                </a:ext>
              </a:extLst>
            </p:cNvPr>
            <p:cNvSpPr txBox="1">
              <a:spLocks noChangeArrowheads="1"/>
            </p:cNvSpPr>
            <p:nvPr/>
          </p:nvSpPr>
          <p:spPr bwMode="auto">
            <a:xfrm>
              <a:off x="2755" y="1984"/>
              <a:ext cx="2767"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10000"/>
                </a:lnSpc>
                <a:spcBef>
                  <a:spcPct val="0"/>
                </a:spcBef>
                <a:buClrTx/>
                <a:buFontTx/>
                <a:buNone/>
              </a:pPr>
              <a:r>
                <a:rPr lang="zh-CN" altLang="en-US">
                  <a:solidFill>
                    <a:srgbClr val="FF0000"/>
                  </a:solidFill>
                  <a:latin typeface="Times New Roman" panose="02020603050405020304" pitchFamily="18" charset="0"/>
                  <a:ea typeface="黑体" panose="02010609060101010101" pitchFamily="49" charset="-122"/>
                </a:rPr>
                <a:t>携带遗传信息</a:t>
              </a:r>
            </a:p>
          </p:txBody>
        </p:sp>
        <p:sp>
          <p:nvSpPr>
            <p:cNvPr id="30728" name="Text Box 17">
              <a:extLst>
                <a:ext uri="{FF2B5EF4-FFF2-40B4-BE49-F238E27FC236}">
                  <a16:creationId xmlns:a16="http://schemas.microsoft.com/office/drawing/2014/main" id="{AFDDB09D-9EE4-4CB5-A68B-271597BBA892}"/>
                </a:ext>
              </a:extLst>
            </p:cNvPr>
            <p:cNvSpPr txBox="1">
              <a:spLocks noChangeArrowheads="1"/>
            </p:cNvSpPr>
            <p:nvPr/>
          </p:nvSpPr>
          <p:spPr bwMode="auto">
            <a:xfrm>
              <a:off x="2789" y="3203"/>
              <a:ext cx="3538" cy="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10000"/>
                </a:lnSpc>
                <a:spcBef>
                  <a:spcPct val="0"/>
                </a:spcBef>
                <a:buClrTx/>
                <a:buFontTx/>
                <a:buNone/>
              </a:pPr>
              <a:r>
                <a:rPr lang="zh-CN" altLang="en-US" sz="2400" dirty="0">
                  <a:solidFill>
                    <a:srgbClr val="FF0000"/>
                  </a:solidFill>
                  <a:latin typeface="Times New Roman" panose="02020603050405020304" pitchFamily="18" charset="0"/>
                  <a:ea typeface="黑体" panose="02010609060101010101" pitchFamily="49" charset="-122"/>
                </a:rPr>
                <a:t>参与细胞内</a:t>
              </a:r>
              <a:r>
                <a:rPr lang="en-US" altLang="zh-CN" sz="2400" dirty="0">
                  <a:solidFill>
                    <a:srgbClr val="FF0000"/>
                  </a:solidFill>
                  <a:latin typeface="Times New Roman" panose="02020603050405020304" pitchFamily="18" charset="0"/>
                  <a:ea typeface="黑体" panose="02010609060101010101" pitchFamily="49" charset="-122"/>
                </a:rPr>
                <a:t>DNA</a:t>
              </a:r>
              <a:r>
                <a:rPr lang="zh-CN" altLang="en-US" sz="2400" dirty="0">
                  <a:solidFill>
                    <a:srgbClr val="FF0000"/>
                  </a:solidFill>
                  <a:latin typeface="Times New Roman" panose="02020603050405020304" pitchFamily="18" charset="0"/>
                  <a:ea typeface="黑体" panose="02010609060101010101" pitchFamily="49" charset="-122"/>
                </a:rPr>
                <a:t>遗传信息的复制与表达，</a:t>
              </a:r>
              <a:r>
                <a:rPr lang="en-US" altLang="zh-CN" sz="2400" dirty="0">
                  <a:solidFill>
                    <a:srgbClr val="FF0000"/>
                  </a:solidFill>
                  <a:latin typeface="Times New Roman" panose="02020603050405020304" pitchFamily="18" charset="0"/>
                  <a:ea typeface="黑体" panose="02010609060101010101" pitchFamily="49" charset="-122"/>
                </a:rPr>
                <a:t>RNA</a:t>
              </a:r>
              <a:r>
                <a:rPr lang="zh-CN" altLang="en-US" sz="2400" dirty="0">
                  <a:solidFill>
                    <a:srgbClr val="FF0000"/>
                  </a:solidFill>
                  <a:latin typeface="Times New Roman" panose="02020603050405020304" pitchFamily="18" charset="0"/>
                  <a:ea typeface="黑体" panose="02010609060101010101" pitchFamily="49" charset="-122"/>
                </a:rPr>
                <a:t>病毒的遗传信息载体</a:t>
              </a:r>
            </a:p>
          </p:txBody>
        </p:sp>
      </p:grpSp>
      <p:sp>
        <p:nvSpPr>
          <p:cNvPr id="30726" name="灯片编号占位符 1">
            <a:extLst>
              <a:ext uri="{FF2B5EF4-FFF2-40B4-BE49-F238E27FC236}">
                <a16:creationId xmlns:a16="http://schemas.microsoft.com/office/drawing/2014/main" id="{5C97778C-D31B-4111-8B8F-0F2C3D35F7C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FB78B83E-59DD-4B54-8886-B52C18642D32}" type="slidenum">
              <a:rPr lang="zh-CN" altLang="en-US" sz="1200" b="0">
                <a:solidFill>
                  <a:srgbClr val="898F89"/>
                </a:solidFill>
              </a:rPr>
              <a:pPr>
                <a:spcBef>
                  <a:spcPct val="0"/>
                </a:spcBef>
                <a:buClrTx/>
                <a:buFontTx/>
                <a:buNone/>
              </a:pPr>
              <a:t>5</a:t>
            </a:fld>
            <a:endParaRPr lang="zh-CN" altLang="en-US" sz="1200" b="0">
              <a:solidFill>
                <a:srgbClr val="898F8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ou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8C50359-132A-4388-8DEF-25154170DCA9}"/>
              </a:ext>
            </a:extLst>
          </p:cNvPr>
          <p:cNvSpPr>
            <a:spLocks noChangeArrowheads="1"/>
          </p:cNvSpPr>
          <p:nvPr/>
        </p:nvSpPr>
        <p:spPr bwMode="auto">
          <a:xfrm>
            <a:off x="1847850" y="1268413"/>
            <a:ext cx="8497888"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90000"/>
              </a:lnSpc>
              <a:spcBef>
                <a:spcPct val="0"/>
              </a:spcBef>
              <a:buClrTx/>
              <a:buFontTx/>
              <a:buNone/>
            </a:pPr>
            <a:r>
              <a:rPr lang="zh-CN" altLang="en-US" sz="4800" dirty="0">
                <a:solidFill>
                  <a:srgbClr val="000099"/>
                </a:solidFill>
                <a:latin typeface="Times New Roman" panose="02020603050405020304" pitchFamily="18" charset="0"/>
                <a:ea typeface="黑体" panose="02010609060101010101" pitchFamily="49" charset="-122"/>
              </a:rPr>
              <a:t>第一节</a:t>
            </a:r>
          </a:p>
          <a:p>
            <a:pPr algn="ctr" eaLnBrk="1" hangingPunct="1">
              <a:lnSpc>
                <a:spcPct val="80000"/>
              </a:lnSpc>
              <a:spcBef>
                <a:spcPct val="0"/>
              </a:spcBef>
              <a:buClrTx/>
              <a:buFontTx/>
              <a:buNone/>
            </a:pPr>
            <a:endParaRPr lang="zh-CN" altLang="en-US" sz="4800" dirty="0">
              <a:solidFill>
                <a:srgbClr val="000099"/>
              </a:solidFill>
              <a:latin typeface="Times New Roman" panose="02020603050405020304" pitchFamily="18" charset="0"/>
              <a:ea typeface="黑体" panose="02010609060101010101" pitchFamily="49" charset="-122"/>
            </a:endParaRPr>
          </a:p>
          <a:p>
            <a:pPr algn="ctr" eaLnBrk="1" hangingPunct="1">
              <a:lnSpc>
                <a:spcPct val="140000"/>
              </a:lnSpc>
              <a:spcBef>
                <a:spcPct val="0"/>
              </a:spcBef>
              <a:buClrTx/>
              <a:buFontTx/>
              <a:buNone/>
            </a:pPr>
            <a:r>
              <a:rPr lang="zh-CN" altLang="en-US" sz="4800" dirty="0">
                <a:solidFill>
                  <a:srgbClr val="000099"/>
                </a:solidFill>
                <a:latin typeface="Times New Roman" panose="02020603050405020304" pitchFamily="18" charset="0"/>
                <a:ea typeface="黑体" panose="02010609060101010101" pitchFamily="49" charset="-122"/>
              </a:rPr>
              <a:t>核酸的化学组成及其一级结构</a:t>
            </a:r>
            <a:r>
              <a:rPr lang="en-US" altLang="zh-CN" sz="3200" dirty="0">
                <a:solidFill>
                  <a:srgbClr val="7030A0"/>
                </a:solidFill>
                <a:latin typeface="Times New Roman" panose="02020603050405020304" pitchFamily="18" charset="0"/>
                <a:ea typeface="黑体" panose="02010609060101010101" pitchFamily="49" charset="-122"/>
              </a:rPr>
              <a:t>The Chemical Component and Primary Structure of Nucleic Acid</a:t>
            </a:r>
            <a:endParaRPr lang="en-US" altLang="zh-CN" sz="3200" dirty="0">
              <a:solidFill>
                <a:srgbClr val="7030A0"/>
              </a:solidFill>
              <a:latin typeface="Times New Roman" panose="02020603050405020304" pitchFamily="18" charset="0"/>
              <a:ea typeface="黑体" panose="02010609060101010101" pitchFamily="49" charset="-122"/>
              <a:hlinkClick r:id="" action="ppaction://hlinkshowjump?jump=lastslide"/>
            </a:endParaRPr>
          </a:p>
        </p:txBody>
      </p:sp>
      <p:sp>
        <p:nvSpPr>
          <p:cNvPr id="34819" name="灯片编号占位符 1">
            <a:extLst>
              <a:ext uri="{FF2B5EF4-FFF2-40B4-BE49-F238E27FC236}">
                <a16:creationId xmlns:a16="http://schemas.microsoft.com/office/drawing/2014/main" id="{15FB8F12-A072-425C-BB14-8204FA6255CD}"/>
              </a:ext>
            </a:extLst>
          </p:cNvPr>
          <p:cNvSpPr>
            <a:spLocks noGrp="1"/>
          </p:cNvSpPr>
          <p:nvPr>
            <p:ph type="sldNum" sz="quarter" idx="4"/>
          </p:nvPr>
        </p:nvSpPr>
        <p:spPr bwMode="auto">
          <a:xfrm>
            <a:off x="11784632" y="6469997"/>
            <a:ext cx="693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l" eaLnBrk="0" hangingPunct="0">
              <a:spcBef>
                <a:spcPct val="0"/>
              </a:spcBef>
              <a:buClrTx/>
              <a:buFontTx/>
              <a:buNone/>
            </a:pPr>
            <a:fld id="{16976981-EFBE-4809-9320-B384BB14A875}" type="slidenum">
              <a:rPr lang="zh-CN" altLang="en-US" sz="1200" b="0">
                <a:solidFill>
                  <a:srgbClr val="898F89"/>
                </a:solidFill>
              </a:rPr>
              <a:pPr algn="l" eaLnBrk="0" hangingPunct="0">
                <a:spcBef>
                  <a:spcPct val="0"/>
                </a:spcBef>
                <a:buClrTx/>
                <a:buFontTx/>
                <a:buNone/>
              </a:pPr>
              <a:t>6</a:t>
            </a:fld>
            <a:endParaRPr lang="zh-CN" altLang="en-US" sz="1200" b="0" dirty="0">
              <a:solidFill>
                <a:srgbClr val="898F89"/>
              </a:solidFill>
            </a:endParaRPr>
          </a:p>
        </p:txBody>
      </p:sp>
    </p:spTree>
  </p:cSld>
  <p:clrMapOvr>
    <a:masterClrMapping/>
  </p:clrMapOvr>
  <p:transition spd="slow">
    <p:circl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a:extLst>
              <a:ext uri="{FF2B5EF4-FFF2-40B4-BE49-F238E27FC236}">
                <a16:creationId xmlns:a16="http://schemas.microsoft.com/office/drawing/2014/main" id="{02AF1C9B-D0EE-4BF7-AAA4-8D988EFFF51D}"/>
              </a:ext>
            </a:extLst>
          </p:cNvPr>
          <p:cNvSpPr txBox="1">
            <a:spLocks noChangeArrowheads="1"/>
          </p:cNvSpPr>
          <p:nvPr/>
        </p:nvSpPr>
        <p:spPr bwMode="auto">
          <a:xfrm>
            <a:off x="86560" y="342065"/>
            <a:ext cx="11737304" cy="66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200" dirty="0">
                <a:solidFill>
                  <a:srgbClr val="0000CC"/>
                </a:solidFill>
                <a:latin typeface="Times New Roman" panose="02020603050405020304" pitchFamily="18" charset="0"/>
                <a:ea typeface="黑体" panose="02010609060101010101" pitchFamily="49" charset="-122"/>
              </a:rPr>
              <a:t>一、</a:t>
            </a:r>
            <a:r>
              <a:rPr kumimoji="0" lang="zh-CN" altLang="en-US" sz="3200" dirty="0">
                <a:solidFill>
                  <a:srgbClr val="FF0000"/>
                </a:solidFill>
                <a:latin typeface="Times New Roman" panose="02020603050405020304" pitchFamily="18" charset="0"/>
                <a:ea typeface="黑体" panose="02010609060101010101" pitchFamily="49" charset="-122"/>
              </a:rPr>
              <a:t>脱氧核糖核苷酸</a:t>
            </a:r>
            <a:r>
              <a:rPr kumimoji="0" lang="zh-CN" altLang="en-US" sz="3200" dirty="0">
                <a:solidFill>
                  <a:srgbClr val="0000CC"/>
                </a:solidFill>
                <a:latin typeface="Times New Roman" panose="02020603050405020304" pitchFamily="18" charset="0"/>
                <a:ea typeface="黑体" panose="02010609060101010101" pitchFamily="49" charset="-122"/>
              </a:rPr>
              <a:t>和</a:t>
            </a:r>
            <a:r>
              <a:rPr kumimoji="0" lang="zh-CN" altLang="en-US" sz="3200" dirty="0">
                <a:solidFill>
                  <a:srgbClr val="FF0000"/>
                </a:solidFill>
                <a:latin typeface="Times New Roman" panose="02020603050405020304" pitchFamily="18" charset="0"/>
                <a:ea typeface="黑体" panose="02010609060101010101" pitchFamily="49" charset="-122"/>
              </a:rPr>
              <a:t>核糖核苷酸</a:t>
            </a:r>
            <a:r>
              <a:rPr kumimoji="0" lang="zh-CN" altLang="en-US" sz="3200" dirty="0">
                <a:solidFill>
                  <a:srgbClr val="0000CC"/>
                </a:solidFill>
                <a:latin typeface="Times New Roman" panose="02020603050405020304" pitchFamily="18" charset="0"/>
                <a:ea typeface="黑体" panose="02010609060101010101" pitchFamily="49" charset="-122"/>
              </a:rPr>
              <a:t>是构成核酸的基本组成单位</a:t>
            </a:r>
          </a:p>
        </p:txBody>
      </p:sp>
      <p:sp>
        <p:nvSpPr>
          <p:cNvPr id="36867" name="Text Box 3">
            <a:extLst>
              <a:ext uri="{FF2B5EF4-FFF2-40B4-BE49-F238E27FC236}">
                <a16:creationId xmlns:a16="http://schemas.microsoft.com/office/drawing/2014/main" id="{E8166B9C-493C-43AC-9DE7-043C4CB3C284}"/>
              </a:ext>
            </a:extLst>
          </p:cNvPr>
          <p:cNvSpPr txBox="1">
            <a:spLocks noChangeArrowheads="1"/>
          </p:cNvSpPr>
          <p:nvPr/>
        </p:nvSpPr>
        <p:spPr bwMode="auto">
          <a:xfrm>
            <a:off x="719614" y="1845610"/>
            <a:ext cx="5040312"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80000"/>
              </a:lnSpc>
              <a:spcBef>
                <a:spcPct val="50000"/>
              </a:spcBef>
              <a:buClrTx/>
              <a:buFontTx/>
              <a:buAutoNum type="arabicPeriod"/>
            </a:pPr>
            <a:r>
              <a:rPr lang="zh-CN" altLang="en-US" b="0" dirty="0">
                <a:solidFill>
                  <a:schemeClr val="tx1"/>
                </a:solidFill>
                <a:latin typeface="Times New Roman" panose="02020603050405020304" pitchFamily="18" charset="0"/>
                <a:ea typeface="黑体" panose="02010609060101010101" pitchFamily="49" charset="-122"/>
              </a:rPr>
              <a:t>元素组成</a:t>
            </a:r>
          </a:p>
          <a:p>
            <a:pPr eaLnBrk="1" hangingPunct="1">
              <a:lnSpc>
                <a:spcPct val="80000"/>
              </a:lnSpc>
              <a:spcBef>
                <a:spcPct val="50000"/>
              </a:spcBef>
              <a:buClrTx/>
              <a:buFontTx/>
              <a:buNone/>
            </a:pPr>
            <a:r>
              <a:rPr lang="zh-CN" altLang="en-US" b="0" dirty="0">
                <a:solidFill>
                  <a:srgbClr val="FF0000"/>
                </a:solidFill>
                <a:latin typeface="Times New Roman" panose="02020603050405020304" pitchFamily="18" charset="0"/>
                <a:ea typeface="黑体" panose="02010609060101010101" pitchFamily="49" charset="-122"/>
              </a:rPr>
              <a:t>     </a:t>
            </a:r>
            <a:r>
              <a:rPr lang="en-US" altLang="zh-CN" b="0" dirty="0">
                <a:solidFill>
                  <a:schemeClr val="tx1"/>
                </a:solidFill>
                <a:latin typeface="Times New Roman" panose="02020603050405020304" pitchFamily="18" charset="0"/>
                <a:ea typeface="黑体" panose="02010609060101010101" pitchFamily="49" charset="-122"/>
              </a:rPr>
              <a:t>C</a:t>
            </a:r>
            <a:r>
              <a:rPr lang="zh-CN" altLang="en-US" b="0" dirty="0">
                <a:solidFill>
                  <a:schemeClr val="tx1"/>
                </a:solidFill>
                <a:latin typeface="Times New Roman" panose="02020603050405020304" pitchFamily="18" charset="0"/>
                <a:ea typeface="黑体" panose="02010609060101010101" pitchFamily="49" charset="-122"/>
              </a:rPr>
              <a:t>、</a:t>
            </a:r>
            <a:r>
              <a:rPr lang="en-US" altLang="zh-CN" b="0" dirty="0">
                <a:solidFill>
                  <a:schemeClr val="tx1"/>
                </a:solidFill>
                <a:latin typeface="Times New Roman" panose="02020603050405020304" pitchFamily="18" charset="0"/>
                <a:ea typeface="黑体" panose="02010609060101010101" pitchFamily="49" charset="-122"/>
              </a:rPr>
              <a:t>H</a:t>
            </a:r>
            <a:r>
              <a:rPr lang="zh-CN" altLang="en-US" b="0" dirty="0">
                <a:solidFill>
                  <a:schemeClr val="tx1"/>
                </a:solidFill>
                <a:latin typeface="Times New Roman" panose="02020603050405020304" pitchFamily="18" charset="0"/>
                <a:ea typeface="黑体" panose="02010609060101010101" pitchFamily="49" charset="-122"/>
              </a:rPr>
              <a:t>、</a:t>
            </a:r>
            <a:r>
              <a:rPr lang="en-US" altLang="zh-CN" b="0" dirty="0">
                <a:solidFill>
                  <a:schemeClr val="tx1"/>
                </a:solidFill>
                <a:latin typeface="Times New Roman" panose="02020603050405020304" pitchFamily="18" charset="0"/>
                <a:ea typeface="黑体" panose="02010609060101010101" pitchFamily="49" charset="-122"/>
              </a:rPr>
              <a:t>O</a:t>
            </a:r>
            <a:r>
              <a:rPr lang="zh-CN" altLang="en-US" b="0" dirty="0">
                <a:solidFill>
                  <a:schemeClr val="tx1"/>
                </a:solidFill>
                <a:latin typeface="Times New Roman" panose="02020603050405020304" pitchFamily="18" charset="0"/>
                <a:ea typeface="黑体" panose="02010609060101010101" pitchFamily="49" charset="-122"/>
              </a:rPr>
              <a:t>、</a:t>
            </a:r>
            <a:r>
              <a:rPr lang="en-US" altLang="zh-CN" b="0" dirty="0">
                <a:solidFill>
                  <a:schemeClr val="tx1"/>
                </a:solidFill>
                <a:latin typeface="Times New Roman" panose="02020603050405020304" pitchFamily="18" charset="0"/>
                <a:ea typeface="黑体" panose="02010609060101010101" pitchFamily="49" charset="-122"/>
              </a:rPr>
              <a:t>N</a:t>
            </a:r>
            <a:r>
              <a:rPr lang="zh-CN" altLang="en-US" b="0" dirty="0">
                <a:solidFill>
                  <a:schemeClr val="tx1"/>
                </a:solidFill>
                <a:latin typeface="Times New Roman" panose="02020603050405020304" pitchFamily="18" charset="0"/>
                <a:ea typeface="黑体" panose="02010609060101010101" pitchFamily="49" charset="-122"/>
              </a:rPr>
              <a:t>、</a:t>
            </a:r>
            <a:r>
              <a:rPr lang="en-US" altLang="zh-CN" b="0" dirty="0">
                <a:solidFill>
                  <a:srgbClr val="0000CC"/>
                </a:solidFill>
                <a:latin typeface="Times New Roman" panose="02020603050405020304" pitchFamily="18" charset="0"/>
                <a:ea typeface="黑体" panose="02010609060101010101" pitchFamily="49" charset="-122"/>
              </a:rPr>
              <a:t>P</a:t>
            </a:r>
            <a:r>
              <a:rPr lang="zh-CN" altLang="en-US" b="0" dirty="0">
                <a:solidFill>
                  <a:srgbClr val="0000CC"/>
                </a:solidFill>
                <a:latin typeface="Times New Roman" panose="02020603050405020304" pitchFamily="18" charset="0"/>
                <a:ea typeface="黑体" panose="02010609060101010101" pitchFamily="49" charset="-122"/>
              </a:rPr>
              <a:t>（</a:t>
            </a:r>
            <a:r>
              <a:rPr lang="en-US" altLang="zh-CN" b="0" dirty="0">
                <a:solidFill>
                  <a:srgbClr val="0000CC"/>
                </a:solidFill>
                <a:latin typeface="Times New Roman" panose="02020603050405020304" pitchFamily="18" charset="0"/>
                <a:ea typeface="黑体" panose="02010609060101010101" pitchFamily="49" charset="-122"/>
              </a:rPr>
              <a:t>9~10%</a:t>
            </a:r>
            <a:r>
              <a:rPr lang="zh-CN" altLang="en-US" b="0" dirty="0">
                <a:solidFill>
                  <a:srgbClr val="0000CC"/>
                </a:solidFill>
                <a:latin typeface="Times New Roman" panose="02020603050405020304" pitchFamily="18" charset="0"/>
                <a:ea typeface="黑体" panose="02010609060101010101" pitchFamily="49" charset="-122"/>
              </a:rPr>
              <a:t>）</a:t>
            </a:r>
          </a:p>
        </p:txBody>
      </p:sp>
      <p:sp>
        <p:nvSpPr>
          <p:cNvPr id="423938" name="Rectangle 1026">
            <a:extLst>
              <a:ext uri="{FF2B5EF4-FFF2-40B4-BE49-F238E27FC236}">
                <a16:creationId xmlns:a16="http://schemas.microsoft.com/office/drawing/2014/main" id="{672F37A0-98DE-4B94-8A8C-3C38C8F2264F}"/>
              </a:ext>
            </a:extLst>
          </p:cNvPr>
          <p:cNvSpPr>
            <a:spLocks noChangeArrowheads="1"/>
          </p:cNvSpPr>
          <p:nvPr/>
        </p:nvSpPr>
        <p:spPr bwMode="auto">
          <a:xfrm>
            <a:off x="952474" y="2842806"/>
            <a:ext cx="4662756"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50000"/>
              </a:lnSpc>
              <a:spcBef>
                <a:spcPct val="0"/>
              </a:spcBef>
              <a:buClr>
                <a:srgbClr val="660066"/>
              </a:buClr>
              <a:buFont typeface="Wingdings" panose="05000000000000000000" pitchFamily="2" charset="2"/>
              <a:buChar char="u"/>
            </a:pPr>
            <a:r>
              <a:rPr lang="en-US" altLang="zh-CN" sz="2400" b="0" dirty="0">
                <a:solidFill>
                  <a:schemeClr val="tx1"/>
                </a:solidFill>
                <a:latin typeface="Times New Roman" panose="02020603050405020304" pitchFamily="18" charset="0"/>
                <a:ea typeface="黑体" panose="02010609060101010101" pitchFamily="49" charset="-122"/>
              </a:rPr>
              <a:t>  </a:t>
            </a:r>
            <a:r>
              <a:rPr lang="en-US" altLang="zh-CN" sz="2400" b="0" dirty="0">
                <a:solidFill>
                  <a:srgbClr val="0000CC"/>
                </a:solidFill>
                <a:latin typeface="Times New Roman" panose="02020603050405020304" pitchFamily="18" charset="0"/>
                <a:ea typeface="黑体" panose="02010609060101010101" pitchFamily="49" charset="-122"/>
              </a:rPr>
              <a:t>P</a:t>
            </a:r>
            <a:r>
              <a:rPr lang="zh-CN" altLang="en-US" sz="2400" b="0" dirty="0">
                <a:solidFill>
                  <a:srgbClr val="0000CC"/>
                </a:solidFill>
                <a:latin typeface="Times New Roman" panose="02020603050405020304" pitchFamily="18" charset="0"/>
                <a:ea typeface="黑体" panose="02010609060101010101" pitchFamily="49" charset="-122"/>
              </a:rPr>
              <a:t>元素的含量较多并且恒定</a:t>
            </a:r>
          </a:p>
          <a:p>
            <a:pPr eaLnBrk="1" hangingPunct="1">
              <a:lnSpc>
                <a:spcPct val="150000"/>
              </a:lnSpc>
              <a:spcBef>
                <a:spcPct val="0"/>
              </a:spcBef>
              <a:buClr>
                <a:srgbClr val="660066"/>
              </a:buClr>
              <a:buFont typeface="Wingdings" panose="05000000000000000000" pitchFamily="2" charset="2"/>
              <a:buChar char="u"/>
            </a:pPr>
            <a:r>
              <a:rPr lang="zh-CN" altLang="en-US" sz="2400" b="0" dirty="0">
                <a:solidFill>
                  <a:schemeClr val="tx1"/>
                </a:solidFill>
                <a:latin typeface="Times New Roman" panose="02020603050405020304" pitchFamily="18" charset="0"/>
                <a:ea typeface="黑体" panose="02010609060101010101" pitchFamily="49" charset="-122"/>
              </a:rPr>
              <a:t>  一般不含元素</a:t>
            </a:r>
            <a:r>
              <a:rPr lang="en-US" altLang="zh-CN" sz="2400" b="0" dirty="0">
                <a:solidFill>
                  <a:schemeClr val="tx1"/>
                </a:solidFill>
                <a:latin typeface="Times New Roman" panose="02020603050405020304" pitchFamily="18" charset="0"/>
                <a:ea typeface="黑体" panose="02010609060101010101" pitchFamily="49" charset="-122"/>
              </a:rPr>
              <a:t>S</a:t>
            </a:r>
          </a:p>
        </p:txBody>
      </p:sp>
      <p:grpSp>
        <p:nvGrpSpPr>
          <p:cNvPr id="38914" name="Group 31">
            <a:extLst>
              <a:ext uri="{FF2B5EF4-FFF2-40B4-BE49-F238E27FC236}">
                <a16:creationId xmlns:a16="http://schemas.microsoft.com/office/drawing/2014/main" id="{B74E63CB-754B-4657-A0F4-36B0EA563CA1}"/>
              </a:ext>
            </a:extLst>
          </p:cNvPr>
          <p:cNvGrpSpPr>
            <a:grpSpLocks/>
          </p:cNvGrpSpPr>
          <p:nvPr/>
        </p:nvGrpSpPr>
        <p:grpSpPr bwMode="auto">
          <a:xfrm>
            <a:off x="6329094" y="2664029"/>
            <a:ext cx="4386263" cy="3783013"/>
            <a:chOff x="1202" y="1138"/>
            <a:chExt cx="2763" cy="2383"/>
          </a:xfrm>
        </p:grpSpPr>
        <p:sp>
          <p:nvSpPr>
            <p:cNvPr id="38921" name="AutoShape 4">
              <a:extLst>
                <a:ext uri="{FF2B5EF4-FFF2-40B4-BE49-F238E27FC236}">
                  <a16:creationId xmlns:a16="http://schemas.microsoft.com/office/drawing/2014/main" id="{4EA5FDAA-CE1E-41F6-B1F7-6FC71F378384}"/>
                </a:ext>
              </a:extLst>
            </p:cNvPr>
            <p:cNvSpPr>
              <a:spLocks noChangeAspect="1" noChangeArrowheads="1" noTextEdit="1"/>
            </p:cNvSpPr>
            <p:nvPr/>
          </p:nvSpPr>
          <p:spPr bwMode="auto">
            <a:xfrm>
              <a:off x="1293" y="1336"/>
              <a:ext cx="2584" cy="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8922" name="Rectangle 5">
              <a:extLst>
                <a:ext uri="{FF2B5EF4-FFF2-40B4-BE49-F238E27FC236}">
                  <a16:creationId xmlns:a16="http://schemas.microsoft.com/office/drawing/2014/main" id="{C779B3A7-B610-496D-880A-DA0AC75D304D}"/>
                </a:ext>
              </a:extLst>
            </p:cNvPr>
            <p:cNvSpPr>
              <a:spLocks noChangeArrowheads="1"/>
            </p:cNvSpPr>
            <p:nvPr/>
          </p:nvSpPr>
          <p:spPr bwMode="auto">
            <a:xfrm>
              <a:off x="1519" y="1138"/>
              <a:ext cx="45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b="0">
                  <a:solidFill>
                    <a:srgbClr val="000099"/>
                  </a:solidFill>
                  <a:latin typeface="Times New Roman" panose="02020603050405020304" pitchFamily="18" charset="0"/>
                  <a:ea typeface="黑体" panose="02010609060101010101" pitchFamily="49" charset="-122"/>
                </a:rPr>
                <a:t>核酸</a:t>
              </a:r>
            </a:p>
          </p:txBody>
        </p:sp>
        <p:sp>
          <p:nvSpPr>
            <p:cNvPr id="38923" name="Rectangle 6">
              <a:extLst>
                <a:ext uri="{FF2B5EF4-FFF2-40B4-BE49-F238E27FC236}">
                  <a16:creationId xmlns:a16="http://schemas.microsoft.com/office/drawing/2014/main" id="{52628AD3-8ED7-459E-B95F-9EB56F8F6E30}"/>
                </a:ext>
              </a:extLst>
            </p:cNvPr>
            <p:cNvSpPr>
              <a:spLocks noChangeArrowheads="1"/>
            </p:cNvSpPr>
            <p:nvPr/>
          </p:nvSpPr>
          <p:spPr bwMode="auto">
            <a:xfrm>
              <a:off x="2018" y="1138"/>
              <a:ext cx="158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b="0">
                  <a:solidFill>
                    <a:srgbClr val="000099"/>
                  </a:solidFill>
                  <a:latin typeface="Times New Roman" panose="02020603050405020304" pitchFamily="18" charset="0"/>
                  <a:ea typeface="黑体" panose="02010609060101010101" pitchFamily="49" charset="-122"/>
                </a:rPr>
                <a:t>(DNA</a:t>
              </a:r>
              <a:r>
                <a:rPr lang="zh-CN" altLang="en-US" b="0">
                  <a:solidFill>
                    <a:srgbClr val="000099"/>
                  </a:solidFill>
                  <a:latin typeface="Times New Roman" panose="02020603050405020304" pitchFamily="18" charset="0"/>
                  <a:ea typeface="黑体" panose="02010609060101010101" pitchFamily="49" charset="-122"/>
                </a:rPr>
                <a:t>和</a:t>
              </a:r>
              <a:r>
                <a:rPr lang="en-US" altLang="zh-CN" b="0">
                  <a:solidFill>
                    <a:srgbClr val="000099"/>
                  </a:solidFill>
                  <a:latin typeface="Times New Roman" panose="02020603050405020304" pitchFamily="18" charset="0"/>
                  <a:ea typeface="黑体" panose="02010609060101010101" pitchFamily="49" charset="-122"/>
                </a:rPr>
                <a:t>RNA)</a:t>
              </a:r>
            </a:p>
          </p:txBody>
        </p:sp>
        <p:sp>
          <p:nvSpPr>
            <p:cNvPr id="38924" name="Rectangle 7">
              <a:extLst>
                <a:ext uri="{FF2B5EF4-FFF2-40B4-BE49-F238E27FC236}">
                  <a16:creationId xmlns:a16="http://schemas.microsoft.com/office/drawing/2014/main" id="{DF068C1E-590E-42D9-BE93-6141920F0218}"/>
                </a:ext>
              </a:extLst>
            </p:cNvPr>
            <p:cNvSpPr>
              <a:spLocks noChangeArrowheads="1"/>
            </p:cNvSpPr>
            <p:nvPr/>
          </p:nvSpPr>
          <p:spPr bwMode="auto">
            <a:xfrm>
              <a:off x="1293" y="1738"/>
              <a:ext cx="159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b="0">
                  <a:solidFill>
                    <a:srgbClr val="FF0000"/>
                  </a:solidFill>
                  <a:latin typeface="Times New Roman" panose="02020603050405020304" pitchFamily="18" charset="0"/>
                  <a:ea typeface="黑体" panose="02010609060101010101" pitchFamily="49" charset="-122"/>
                </a:rPr>
                <a:t>（脱氧）核苷酸</a:t>
              </a:r>
            </a:p>
          </p:txBody>
        </p:sp>
        <p:sp>
          <p:nvSpPr>
            <p:cNvPr id="38925" name="Rectangle 8">
              <a:extLst>
                <a:ext uri="{FF2B5EF4-FFF2-40B4-BE49-F238E27FC236}">
                  <a16:creationId xmlns:a16="http://schemas.microsoft.com/office/drawing/2014/main" id="{97D1CC94-753F-4129-907C-440A17488768}"/>
                </a:ext>
              </a:extLst>
            </p:cNvPr>
            <p:cNvSpPr>
              <a:spLocks noChangeArrowheads="1"/>
            </p:cNvSpPr>
            <p:nvPr/>
          </p:nvSpPr>
          <p:spPr bwMode="auto">
            <a:xfrm>
              <a:off x="2109" y="2499"/>
              <a:ext cx="157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b="0">
                  <a:solidFill>
                    <a:srgbClr val="000099"/>
                  </a:solidFill>
                  <a:latin typeface="Times New Roman" panose="02020603050405020304" pitchFamily="18" charset="0"/>
                  <a:ea typeface="黑体" panose="02010609060101010101" pitchFamily="49" charset="-122"/>
                </a:rPr>
                <a:t>核苷和脱氧核苷</a:t>
              </a:r>
            </a:p>
          </p:txBody>
        </p:sp>
        <p:sp>
          <p:nvSpPr>
            <p:cNvPr id="38926" name="Rectangle 9">
              <a:extLst>
                <a:ext uri="{FF2B5EF4-FFF2-40B4-BE49-F238E27FC236}">
                  <a16:creationId xmlns:a16="http://schemas.microsoft.com/office/drawing/2014/main" id="{C5341BC8-AFE9-4B5E-BDFB-3E18BDEA8CB8}"/>
                </a:ext>
              </a:extLst>
            </p:cNvPr>
            <p:cNvSpPr>
              <a:spLocks noChangeArrowheads="1"/>
            </p:cNvSpPr>
            <p:nvPr/>
          </p:nvSpPr>
          <p:spPr bwMode="auto">
            <a:xfrm>
              <a:off x="1202" y="2499"/>
              <a:ext cx="45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b="0">
                  <a:solidFill>
                    <a:schemeClr val="tx1"/>
                  </a:solidFill>
                  <a:latin typeface="Times New Roman" panose="02020603050405020304" pitchFamily="18" charset="0"/>
                  <a:ea typeface="黑体" panose="02010609060101010101" pitchFamily="49" charset="-122"/>
                </a:rPr>
                <a:t>磷酸</a:t>
              </a:r>
            </a:p>
          </p:txBody>
        </p:sp>
        <p:sp>
          <p:nvSpPr>
            <p:cNvPr id="38927" name="Rectangle 10">
              <a:extLst>
                <a:ext uri="{FF2B5EF4-FFF2-40B4-BE49-F238E27FC236}">
                  <a16:creationId xmlns:a16="http://schemas.microsoft.com/office/drawing/2014/main" id="{11D1E99F-AAED-4E67-B0D6-86651AF370A1}"/>
                </a:ext>
              </a:extLst>
            </p:cNvPr>
            <p:cNvSpPr>
              <a:spLocks noChangeArrowheads="1"/>
            </p:cNvSpPr>
            <p:nvPr/>
          </p:nvSpPr>
          <p:spPr bwMode="auto">
            <a:xfrm>
              <a:off x="1519" y="3179"/>
              <a:ext cx="45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b="0">
                  <a:solidFill>
                    <a:schemeClr val="tx1"/>
                  </a:solidFill>
                  <a:latin typeface="Times New Roman" panose="02020603050405020304" pitchFamily="18" charset="0"/>
                  <a:ea typeface="黑体" panose="02010609060101010101" pitchFamily="49" charset="-122"/>
                </a:rPr>
                <a:t>戊糖</a:t>
              </a:r>
            </a:p>
          </p:txBody>
        </p:sp>
        <p:sp>
          <p:nvSpPr>
            <p:cNvPr id="38928" name="Rectangle 11">
              <a:extLst>
                <a:ext uri="{FF2B5EF4-FFF2-40B4-BE49-F238E27FC236}">
                  <a16:creationId xmlns:a16="http://schemas.microsoft.com/office/drawing/2014/main" id="{BBAAEC6F-7726-4DA5-A86A-2B6A478F86B2}"/>
                </a:ext>
              </a:extLst>
            </p:cNvPr>
            <p:cNvSpPr>
              <a:spLocks noChangeArrowheads="1"/>
            </p:cNvSpPr>
            <p:nvPr/>
          </p:nvSpPr>
          <p:spPr bwMode="auto">
            <a:xfrm>
              <a:off x="3515" y="3179"/>
              <a:ext cx="45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b="0">
                  <a:solidFill>
                    <a:schemeClr val="tx1"/>
                  </a:solidFill>
                  <a:latin typeface="Times New Roman" panose="02020603050405020304" pitchFamily="18" charset="0"/>
                  <a:ea typeface="黑体" panose="02010609060101010101" pitchFamily="49" charset="-122"/>
                </a:rPr>
                <a:t>碱基</a:t>
              </a:r>
            </a:p>
          </p:txBody>
        </p:sp>
        <p:sp>
          <p:nvSpPr>
            <p:cNvPr id="38929" name="Line 14">
              <a:extLst>
                <a:ext uri="{FF2B5EF4-FFF2-40B4-BE49-F238E27FC236}">
                  <a16:creationId xmlns:a16="http://schemas.microsoft.com/office/drawing/2014/main" id="{87F6DA4C-C08F-4D0A-ACC7-F48DB0734BDC}"/>
                </a:ext>
              </a:extLst>
            </p:cNvPr>
            <p:cNvSpPr>
              <a:spLocks noChangeShapeType="1"/>
            </p:cNvSpPr>
            <p:nvPr/>
          </p:nvSpPr>
          <p:spPr bwMode="auto">
            <a:xfrm flipV="1">
              <a:off x="2835" y="2771"/>
              <a:ext cx="1" cy="213"/>
            </a:xfrm>
            <a:prstGeom prst="line">
              <a:avLst/>
            </a:prstGeom>
            <a:noFill/>
            <a:ln w="14288" cap="rnd">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0" name="Line 16">
              <a:extLst>
                <a:ext uri="{FF2B5EF4-FFF2-40B4-BE49-F238E27FC236}">
                  <a16:creationId xmlns:a16="http://schemas.microsoft.com/office/drawing/2014/main" id="{1AEF0EFC-EEAB-4D81-B477-45FA0ED92186}"/>
                </a:ext>
              </a:extLst>
            </p:cNvPr>
            <p:cNvSpPr>
              <a:spLocks noChangeShapeType="1"/>
            </p:cNvSpPr>
            <p:nvPr/>
          </p:nvSpPr>
          <p:spPr bwMode="auto">
            <a:xfrm>
              <a:off x="1701" y="2998"/>
              <a:ext cx="2041" cy="0"/>
            </a:xfrm>
            <a:prstGeom prst="line">
              <a:avLst/>
            </a:prstGeom>
            <a:noFill/>
            <a:ln w="14288" cap="rnd">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1" name="Line 17">
              <a:extLst>
                <a:ext uri="{FF2B5EF4-FFF2-40B4-BE49-F238E27FC236}">
                  <a16:creationId xmlns:a16="http://schemas.microsoft.com/office/drawing/2014/main" id="{DD12FF83-3908-4F8A-B725-D1A265140BCE}"/>
                </a:ext>
              </a:extLst>
            </p:cNvPr>
            <p:cNvSpPr>
              <a:spLocks noChangeShapeType="1"/>
            </p:cNvSpPr>
            <p:nvPr/>
          </p:nvSpPr>
          <p:spPr bwMode="auto">
            <a:xfrm flipV="1">
              <a:off x="2109" y="2000"/>
              <a:ext cx="1" cy="219"/>
            </a:xfrm>
            <a:prstGeom prst="line">
              <a:avLst/>
            </a:prstGeom>
            <a:noFill/>
            <a:ln w="14288" cap="rnd">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2" name="Line 21">
              <a:extLst>
                <a:ext uri="{FF2B5EF4-FFF2-40B4-BE49-F238E27FC236}">
                  <a16:creationId xmlns:a16="http://schemas.microsoft.com/office/drawing/2014/main" id="{17880212-9969-4A97-B815-DC3E435931C3}"/>
                </a:ext>
              </a:extLst>
            </p:cNvPr>
            <p:cNvSpPr>
              <a:spLocks noChangeShapeType="1"/>
            </p:cNvSpPr>
            <p:nvPr/>
          </p:nvSpPr>
          <p:spPr bwMode="auto">
            <a:xfrm>
              <a:off x="3742" y="2998"/>
              <a:ext cx="0" cy="181"/>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3" name="Line 22">
              <a:extLst>
                <a:ext uri="{FF2B5EF4-FFF2-40B4-BE49-F238E27FC236}">
                  <a16:creationId xmlns:a16="http://schemas.microsoft.com/office/drawing/2014/main" id="{76B6223D-7A84-4FA4-BAE1-569C5B1D5BC5}"/>
                </a:ext>
              </a:extLst>
            </p:cNvPr>
            <p:cNvSpPr>
              <a:spLocks noChangeShapeType="1"/>
            </p:cNvSpPr>
            <p:nvPr/>
          </p:nvSpPr>
          <p:spPr bwMode="auto">
            <a:xfrm>
              <a:off x="1701" y="2998"/>
              <a:ext cx="0" cy="181"/>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4" name="Line 23">
              <a:extLst>
                <a:ext uri="{FF2B5EF4-FFF2-40B4-BE49-F238E27FC236}">
                  <a16:creationId xmlns:a16="http://schemas.microsoft.com/office/drawing/2014/main" id="{131E9402-DDEC-4BCB-A7D1-32D8B3F8D5AD}"/>
                </a:ext>
              </a:extLst>
            </p:cNvPr>
            <p:cNvSpPr>
              <a:spLocks noChangeShapeType="1"/>
            </p:cNvSpPr>
            <p:nvPr/>
          </p:nvSpPr>
          <p:spPr bwMode="auto">
            <a:xfrm>
              <a:off x="1429" y="2272"/>
              <a:ext cx="1361" cy="0"/>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5" name="Line 24">
              <a:extLst>
                <a:ext uri="{FF2B5EF4-FFF2-40B4-BE49-F238E27FC236}">
                  <a16:creationId xmlns:a16="http://schemas.microsoft.com/office/drawing/2014/main" id="{929E2FC7-94CF-43E2-BF74-95D17684CD51}"/>
                </a:ext>
              </a:extLst>
            </p:cNvPr>
            <p:cNvSpPr>
              <a:spLocks noChangeShapeType="1"/>
            </p:cNvSpPr>
            <p:nvPr/>
          </p:nvSpPr>
          <p:spPr bwMode="auto">
            <a:xfrm>
              <a:off x="1429" y="2272"/>
              <a:ext cx="0" cy="181"/>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6" name="Line 25">
              <a:extLst>
                <a:ext uri="{FF2B5EF4-FFF2-40B4-BE49-F238E27FC236}">
                  <a16:creationId xmlns:a16="http://schemas.microsoft.com/office/drawing/2014/main" id="{36B90679-42CC-4BDA-AEFD-89BA2F092CCA}"/>
                </a:ext>
              </a:extLst>
            </p:cNvPr>
            <p:cNvSpPr>
              <a:spLocks noChangeShapeType="1"/>
            </p:cNvSpPr>
            <p:nvPr/>
          </p:nvSpPr>
          <p:spPr bwMode="auto">
            <a:xfrm>
              <a:off x="2790" y="2272"/>
              <a:ext cx="0" cy="181"/>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7" name="Line 26">
              <a:extLst>
                <a:ext uri="{FF2B5EF4-FFF2-40B4-BE49-F238E27FC236}">
                  <a16:creationId xmlns:a16="http://schemas.microsoft.com/office/drawing/2014/main" id="{9BDF45E7-078E-449F-BBFF-C4B7D5500710}"/>
                </a:ext>
              </a:extLst>
            </p:cNvPr>
            <p:cNvSpPr>
              <a:spLocks noChangeShapeType="1"/>
            </p:cNvSpPr>
            <p:nvPr/>
          </p:nvSpPr>
          <p:spPr bwMode="auto">
            <a:xfrm>
              <a:off x="2109" y="1501"/>
              <a:ext cx="0" cy="272"/>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8915" name="Text Box 27">
            <a:extLst>
              <a:ext uri="{FF2B5EF4-FFF2-40B4-BE49-F238E27FC236}">
                <a16:creationId xmlns:a16="http://schemas.microsoft.com/office/drawing/2014/main" id="{D68EE05A-547B-4160-A24B-ABCAE142B7B9}"/>
              </a:ext>
            </a:extLst>
          </p:cNvPr>
          <p:cNvSpPr txBox="1">
            <a:spLocks noChangeArrowheads="1"/>
          </p:cNvSpPr>
          <p:nvPr/>
        </p:nvSpPr>
        <p:spPr bwMode="auto">
          <a:xfrm>
            <a:off x="6215883" y="1836162"/>
            <a:ext cx="4445000" cy="4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80000"/>
              </a:lnSpc>
              <a:spcBef>
                <a:spcPct val="50000"/>
              </a:spcBef>
              <a:buClrTx/>
              <a:buFontTx/>
              <a:buNone/>
            </a:pPr>
            <a:r>
              <a:rPr lang="en-US" altLang="zh-CN" sz="3200" b="0" dirty="0">
                <a:solidFill>
                  <a:schemeClr val="tx1"/>
                </a:solidFill>
                <a:latin typeface="Times New Roman" panose="02020603050405020304" pitchFamily="18" charset="0"/>
                <a:ea typeface="黑体" panose="02010609060101010101" pitchFamily="49" charset="-122"/>
              </a:rPr>
              <a:t>2.  </a:t>
            </a:r>
            <a:r>
              <a:rPr lang="zh-CN" altLang="en-US" sz="3200" b="0" dirty="0">
                <a:solidFill>
                  <a:schemeClr val="tx1"/>
                </a:solidFill>
                <a:latin typeface="Times New Roman" panose="02020603050405020304" pitchFamily="18" charset="0"/>
                <a:ea typeface="黑体" panose="02010609060101010101" pitchFamily="49" charset="-122"/>
              </a:rPr>
              <a:t>核酸的分子组成 </a:t>
            </a:r>
          </a:p>
        </p:txBody>
      </p:sp>
      <p:sp>
        <p:nvSpPr>
          <p:cNvPr id="38918" name="Rectangle 2">
            <a:extLst>
              <a:ext uri="{FF2B5EF4-FFF2-40B4-BE49-F238E27FC236}">
                <a16:creationId xmlns:a16="http://schemas.microsoft.com/office/drawing/2014/main" id="{E8AC13F8-8028-423C-8A1A-4ED4033EB921}"/>
              </a:ext>
            </a:extLst>
          </p:cNvPr>
          <p:cNvSpPr>
            <a:spLocks noChangeArrowheads="1"/>
          </p:cNvSpPr>
          <p:nvPr/>
        </p:nvSpPr>
        <p:spPr bwMode="auto">
          <a:xfrm>
            <a:off x="10672323" y="3185523"/>
            <a:ext cx="8050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38919" name="AutoShape 28">
            <a:extLst>
              <a:ext uri="{FF2B5EF4-FFF2-40B4-BE49-F238E27FC236}">
                <a16:creationId xmlns:a16="http://schemas.microsoft.com/office/drawing/2014/main" id="{E9AC72E8-8AB5-4F3D-B315-E27C172AA1F6}"/>
              </a:ext>
            </a:extLst>
          </p:cNvPr>
          <p:cNvSpPr>
            <a:spLocks noChangeArrowheads="1"/>
          </p:cNvSpPr>
          <p:nvPr/>
        </p:nvSpPr>
        <p:spPr bwMode="auto">
          <a:xfrm>
            <a:off x="11708638" y="2082309"/>
            <a:ext cx="220010" cy="4464050"/>
          </a:xfrm>
          <a:prstGeom prst="downArrow">
            <a:avLst>
              <a:gd name="adj1" fmla="val 50000"/>
              <a:gd name="adj2" fmla="val 221767"/>
            </a:avLst>
          </a:prstGeom>
          <a:solidFill>
            <a:srgbClr val="990099"/>
          </a:solidFill>
          <a:ln w="9525">
            <a:solidFill>
              <a:schemeClr val="tx1"/>
            </a:solidFill>
            <a:prstDash val="sysDot"/>
            <a:miter lim="800000"/>
            <a:headEnd/>
            <a:tailEnd/>
          </a:ln>
        </p:spPr>
        <p:txBody>
          <a:bodyPr vert="eaVert"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38920" name="Text Box 29">
            <a:extLst>
              <a:ext uri="{FF2B5EF4-FFF2-40B4-BE49-F238E27FC236}">
                <a16:creationId xmlns:a16="http://schemas.microsoft.com/office/drawing/2014/main" id="{2B3C36F6-5032-464F-A9D9-EAA5D0C2EAA8}"/>
              </a:ext>
            </a:extLst>
          </p:cNvPr>
          <p:cNvSpPr txBox="1">
            <a:spLocks noChangeArrowheads="1"/>
          </p:cNvSpPr>
          <p:nvPr/>
        </p:nvSpPr>
        <p:spPr bwMode="auto">
          <a:xfrm>
            <a:off x="11098177" y="2664029"/>
            <a:ext cx="433287" cy="244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zh-CN" altLang="en-US" dirty="0">
                <a:solidFill>
                  <a:srgbClr val="FF0000"/>
                </a:solidFill>
                <a:latin typeface="Times New Roman" panose="02020603050405020304" pitchFamily="18" charset="0"/>
                <a:ea typeface="黑体" panose="02010609060101010101" pitchFamily="49" charset="-122"/>
              </a:rPr>
              <a:t>水</a:t>
            </a:r>
          </a:p>
          <a:p>
            <a:pPr eaLnBrk="1" hangingPunct="1">
              <a:spcBef>
                <a:spcPct val="50000"/>
              </a:spcBef>
              <a:buClrTx/>
              <a:buFontTx/>
              <a:buNone/>
            </a:pPr>
            <a:endParaRPr lang="zh-CN" altLang="en-US" dirty="0">
              <a:solidFill>
                <a:srgbClr val="FF0000"/>
              </a:solidFill>
              <a:latin typeface="Times New Roman" panose="02020603050405020304" pitchFamily="18" charset="0"/>
              <a:ea typeface="黑体" panose="02010609060101010101" pitchFamily="49" charset="-122"/>
            </a:endParaRPr>
          </a:p>
          <a:p>
            <a:pPr eaLnBrk="1" hangingPunct="1">
              <a:spcBef>
                <a:spcPct val="50000"/>
              </a:spcBef>
              <a:buClrTx/>
              <a:buFontTx/>
              <a:buNone/>
            </a:pPr>
            <a:endParaRPr lang="zh-CN" altLang="en-US" dirty="0">
              <a:solidFill>
                <a:srgbClr val="FF0000"/>
              </a:solidFill>
              <a:latin typeface="Times New Roman" panose="02020603050405020304" pitchFamily="18" charset="0"/>
              <a:ea typeface="黑体" panose="02010609060101010101" pitchFamily="49" charset="-122"/>
            </a:endParaRPr>
          </a:p>
          <a:p>
            <a:pPr eaLnBrk="1" hangingPunct="1">
              <a:spcBef>
                <a:spcPct val="50000"/>
              </a:spcBef>
              <a:buClrTx/>
              <a:buFontTx/>
              <a:buNone/>
            </a:pPr>
            <a:r>
              <a:rPr lang="zh-CN" altLang="en-US" dirty="0">
                <a:solidFill>
                  <a:srgbClr val="FF0000"/>
                </a:solidFill>
                <a:latin typeface="Times New Roman" panose="02020603050405020304" pitchFamily="18" charset="0"/>
                <a:ea typeface="黑体" panose="02010609060101010101" pitchFamily="49" charset="-122"/>
              </a:rPr>
              <a:t>解</a:t>
            </a:r>
          </a:p>
        </p:txBody>
      </p:sp>
      <p:sp>
        <p:nvSpPr>
          <p:cNvPr id="3" name="文本框 2">
            <a:extLst>
              <a:ext uri="{FF2B5EF4-FFF2-40B4-BE49-F238E27FC236}">
                <a16:creationId xmlns:a16="http://schemas.microsoft.com/office/drawing/2014/main" id="{7DEB02D5-5D55-898C-1122-CF92C9A98AF8}"/>
              </a:ext>
            </a:extLst>
          </p:cNvPr>
          <p:cNvSpPr txBox="1"/>
          <p:nvPr/>
        </p:nvSpPr>
        <p:spPr>
          <a:xfrm>
            <a:off x="7900819" y="3132639"/>
            <a:ext cx="1362869" cy="400110"/>
          </a:xfrm>
          <a:prstGeom prst="rect">
            <a:avLst/>
          </a:prstGeom>
          <a:noFill/>
        </p:spPr>
        <p:txBody>
          <a:bodyPr wrap="square">
            <a:spAutoFit/>
          </a:bodyPr>
          <a:lstStyle/>
          <a:p>
            <a:r>
              <a:rPr lang="zh-CN" altLang="en-US" sz="2000" dirty="0"/>
              <a:t>核酸酶</a:t>
            </a:r>
          </a:p>
        </p:txBody>
      </p:sp>
      <p:sp>
        <p:nvSpPr>
          <p:cNvPr id="4" name="文本框 3">
            <a:extLst>
              <a:ext uri="{FF2B5EF4-FFF2-40B4-BE49-F238E27FC236}">
                <a16:creationId xmlns:a16="http://schemas.microsoft.com/office/drawing/2014/main" id="{1ACE53EB-BD15-C645-5624-C282FFC1B1F8}"/>
              </a:ext>
            </a:extLst>
          </p:cNvPr>
          <p:cNvSpPr txBox="1"/>
          <p:nvPr/>
        </p:nvSpPr>
        <p:spPr>
          <a:xfrm>
            <a:off x="7900818" y="4013374"/>
            <a:ext cx="1362869" cy="400110"/>
          </a:xfrm>
          <a:prstGeom prst="rect">
            <a:avLst/>
          </a:prstGeom>
          <a:noFill/>
        </p:spPr>
        <p:txBody>
          <a:bodyPr wrap="square">
            <a:spAutoFit/>
          </a:bodyPr>
          <a:lstStyle/>
          <a:p>
            <a:r>
              <a:rPr lang="zh-CN" altLang="en-US" sz="2000" dirty="0"/>
              <a:t>核苷酸酶</a:t>
            </a:r>
          </a:p>
        </p:txBody>
      </p:sp>
      <p:sp>
        <p:nvSpPr>
          <p:cNvPr id="5" name="文本框 4">
            <a:extLst>
              <a:ext uri="{FF2B5EF4-FFF2-40B4-BE49-F238E27FC236}">
                <a16:creationId xmlns:a16="http://schemas.microsoft.com/office/drawing/2014/main" id="{513AEBD4-503E-ED12-6B6F-99801A72210D}"/>
              </a:ext>
            </a:extLst>
          </p:cNvPr>
          <p:cNvSpPr txBox="1"/>
          <p:nvPr/>
        </p:nvSpPr>
        <p:spPr>
          <a:xfrm>
            <a:off x="8901809" y="5211906"/>
            <a:ext cx="1362869" cy="400110"/>
          </a:xfrm>
          <a:prstGeom prst="rect">
            <a:avLst/>
          </a:prstGeom>
          <a:noFill/>
        </p:spPr>
        <p:txBody>
          <a:bodyPr wrap="square">
            <a:spAutoFit/>
          </a:bodyPr>
          <a:lstStyle/>
          <a:p>
            <a:r>
              <a:rPr lang="zh-CN" altLang="en-US" sz="2000" dirty="0"/>
              <a:t>核苷酶</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423938"/>
                                        </p:tgtEl>
                                        <p:attrNameLst>
                                          <p:attrName>style.visibility</p:attrName>
                                        </p:attrNameLst>
                                      </p:cBhvr>
                                      <p:to>
                                        <p:strVal val="visible"/>
                                      </p:to>
                                    </p:set>
                                    <p:animEffect transition="in" filter="box(in)">
                                      <p:cBhvr>
                                        <p:cTn id="7" dur="500"/>
                                        <p:tgtEl>
                                          <p:spTgt spid="42393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891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8915"/>
                                        </p:tgtEl>
                                        <p:attrNameLst>
                                          <p:attrName>style.visibility</p:attrName>
                                        </p:attrNameLst>
                                      </p:cBhvr>
                                      <p:to>
                                        <p:strVal val="visible"/>
                                      </p:to>
                                    </p:set>
                                  </p:childTnLst>
                                </p:cTn>
                              </p:par>
                              <p:par>
                                <p:cTn id="14" presetID="1" presetClass="entr" presetSubtype="0" fill="hold" grpId="0" nodeType="withEffect" nodePh="1">
                                  <p:stCondLst>
                                    <p:cond delay="0"/>
                                  </p:stCondLst>
                                  <p:endCondLst>
                                    <p:cond evt="begin" delay="0">
                                      <p:tn val="14"/>
                                    </p:cond>
                                  </p:endCondLst>
                                  <p:childTnLst>
                                    <p:set>
                                      <p:cBhvr>
                                        <p:cTn id="15" dur="1" fill="hold">
                                          <p:stCondLst>
                                            <p:cond delay="0"/>
                                          </p:stCondLst>
                                        </p:cTn>
                                        <p:tgtEl>
                                          <p:spTgt spid="3891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891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892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8" grpId="0"/>
      <p:bldP spid="38915" grpId="0"/>
      <p:bldP spid="38918" grpId="0"/>
      <p:bldP spid="38919" grpId="0" animBg="1"/>
      <p:bldP spid="38920" grpId="0"/>
      <p:bldP spid="3" grpId="0"/>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17FEC7D-818B-1D28-2E6D-F4CBDFFC370A}"/>
              </a:ext>
            </a:extLst>
          </p:cNvPr>
          <p:cNvPicPr>
            <a:picLocks noChangeAspect="1"/>
          </p:cNvPicPr>
          <p:nvPr/>
        </p:nvPicPr>
        <p:blipFill>
          <a:blip r:embed="rId3"/>
          <a:stretch>
            <a:fillRect/>
          </a:stretch>
        </p:blipFill>
        <p:spPr>
          <a:xfrm>
            <a:off x="4295801" y="1052737"/>
            <a:ext cx="5359427" cy="5381067"/>
          </a:xfrm>
          <a:prstGeom prst="rect">
            <a:avLst/>
          </a:prstGeom>
        </p:spPr>
      </p:pic>
      <p:sp>
        <p:nvSpPr>
          <p:cNvPr id="4" name="标题 3">
            <a:extLst>
              <a:ext uri="{FF2B5EF4-FFF2-40B4-BE49-F238E27FC236}">
                <a16:creationId xmlns:a16="http://schemas.microsoft.com/office/drawing/2014/main" id="{9CB01EDC-69F2-8236-65C6-ECC495855E44}"/>
              </a:ext>
            </a:extLst>
          </p:cNvPr>
          <p:cNvSpPr>
            <a:spLocks noGrp="1"/>
          </p:cNvSpPr>
          <p:nvPr>
            <p:ph type="title"/>
          </p:nvPr>
        </p:nvSpPr>
        <p:spPr/>
        <p:txBody>
          <a:bodyPr/>
          <a:lstStyle/>
          <a:p>
            <a:r>
              <a:rPr lang="zh-CN" altLang="en-US" dirty="0"/>
              <a:t>核酸或核苷酸含特定碱基和戊糖</a:t>
            </a:r>
          </a:p>
        </p:txBody>
      </p:sp>
      <p:sp>
        <p:nvSpPr>
          <p:cNvPr id="5" name="文本框 4">
            <a:extLst>
              <a:ext uri="{FF2B5EF4-FFF2-40B4-BE49-F238E27FC236}">
                <a16:creationId xmlns:a16="http://schemas.microsoft.com/office/drawing/2014/main" id="{138DB166-9A78-E8F5-D91E-D73DA5AFC34C}"/>
              </a:ext>
            </a:extLst>
          </p:cNvPr>
          <p:cNvSpPr txBox="1"/>
          <p:nvPr/>
        </p:nvSpPr>
        <p:spPr>
          <a:xfrm>
            <a:off x="2046288" y="1772817"/>
            <a:ext cx="2105496" cy="954107"/>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核苷酸</a:t>
            </a:r>
            <a:endParaRPr lang="en-US" altLang="zh-CN" sz="2800" dirty="0">
              <a:latin typeface="微软雅黑" panose="020B0503020204020204" pitchFamily="34" charset="-122"/>
              <a:ea typeface="微软雅黑" panose="020B0503020204020204" pitchFamily="34" charset="-122"/>
            </a:endParaRPr>
          </a:p>
          <a:p>
            <a:r>
              <a:rPr lang="en-US" altLang="zh-CN" sz="2800" dirty="0">
                <a:latin typeface="微软雅黑" panose="020B0503020204020204" pitchFamily="34" charset="-122"/>
                <a:ea typeface="微软雅黑" panose="020B0503020204020204" pitchFamily="34" charset="-122"/>
              </a:rPr>
              <a:t>nucleotide</a:t>
            </a:r>
            <a:endParaRPr lang="zh-CN" altLang="en-US" sz="280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45566547-A744-D70D-0C61-A8AD0AEC2C70}"/>
              </a:ext>
            </a:extLst>
          </p:cNvPr>
          <p:cNvSpPr txBox="1"/>
          <p:nvPr/>
        </p:nvSpPr>
        <p:spPr>
          <a:xfrm>
            <a:off x="2190304" y="4851158"/>
            <a:ext cx="2105496" cy="954107"/>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碱基</a:t>
            </a:r>
            <a:endParaRPr lang="en-US" altLang="zh-CN" sz="2800" dirty="0">
              <a:latin typeface="微软雅黑" panose="020B0503020204020204" pitchFamily="34" charset="-122"/>
              <a:ea typeface="微软雅黑" panose="020B0503020204020204" pitchFamily="34" charset="-122"/>
            </a:endParaRPr>
          </a:p>
          <a:p>
            <a:r>
              <a:rPr lang="en-US" altLang="zh-CN" sz="2800" dirty="0">
                <a:latin typeface="微软雅黑" panose="020B0503020204020204" pitchFamily="34" charset="-122"/>
                <a:ea typeface="微软雅黑" panose="020B0503020204020204" pitchFamily="34" charset="-122"/>
              </a:rPr>
              <a:t>base</a:t>
            </a:r>
            <a:endParaRPr lang="zh-CN" altLang="en-US"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3668972"/>
      </p:ext>
    </p:extLst>
  </p:cSld>
  <p:clrMapOvr>
    <a:masterClrMapping/>
  </p:clrMapOvr>
  <p:transition spd="slow">
    <p:circl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0" name="Object 2">
            <a:extLst>
              <a:ext uri="{FF2B5EF4-FFF2-40B4-BE49-F238E27FC236}">
                <a16:creationId xmlns:a16="http://schemas.microsoft.com/office/drawing/2014/main" id="{01AC5D47-8674-4316-8A77-2F3AE84B875D}"/>
              </a:ext>
            </a:extLst>
          </p:cNvPr>
          <p:cNvGraphicFramePr>
            <a:graphicFrameLocks noChangeAspect="1"/>
          </p:cNvGraphicFramePr>
          <p:nvPr>
            <p:extLst>
              <p:ext uri="{D42A27DB-BD31-4B8C-83A1-F6EECF244321}">
                <p14:modId xmlns:p14="http://schemas.microsoft.com/office/powerpoint/2010/main" val="3874745273"/>
              </p:ext>
            </p:extLst>
          </p:nvPr>
        </p:nvGraphicFramePr>
        <p:xfrm>
          <a:off x="3719513" y="548680"/>
          <a:ext cx="1700212" cy="1971675"/>
        </p:xfrm>
        <a:graphic>
          <a:graphicData uri="http://schemas.openxmlformats.org/presentationml/2006/ole">
            <mc:AlternateContent xmlns:mc="http://schemas.openxmlformats.org/markup-compatibility/2006">
              <mc:Choice xmlns:v="urn:schemas-microsoft-com:vml" Requires="v">
                <p:oleObj name="ACD ChemSketch 2.0" r:id="rId3" imgW="990600" imgH="1091184" progId="ACD.ChemSketch.20">
                  <p:embed/>
                </p:oleObj>
              </mc:Choice>
              <mc:Fallback>
                <p:oleObj name="ACD ChemSketch 2.0" r:id="rId3" imgW="990600" imgH="1091184" progId="ACD.ChemSketch.20">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9513" y="548680"/>
                        <a:ext cx="1700212"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0467" name="AutoShape 3">
            <a:extLst>
              <a:ext uri="{FF2B5EF4-FFF2-40B4-BE49-F238E27FC236}">
                <a16:creationId xmlns:a16="http://schemas.microsoft.com/office/drawing/2014/main" id="{2766E6C4-51F5-41F2-AABD-9929025627DE}"/>
              </a:ext>
            </a:extLst>
          </p:cNvPr>
          <p:cNvSpPr>
            <a:spLocks noChangeArrowheads="1"/>
          </p:cNvSpPr>
          <p:nvPr/>
        </p:nvSpPr>
        <p:spPr bwMode="auto">
          <a:xfrm>
            <a:off x="5519738" y="1339254"/>
            <a:ext cx="990600" cy="304800"/>
          </a:xfrm>
          <a:prstGeom prst="rightArrow">
            <a:avLst>
              <a:gd name="adj1" fmla="val 50000"/>
              <a:gd name="adj2" fmla="val 81250"/>
            </a:avLst>
          </a:prstGeom>
          <a:gradFill rotWithShape="0">
            <a:gsLst>
              <a:gs pos="0">
                <a:schemeClr val="tx1"/>
              </a:gs>
              <a:gs pos="50000">
                <a:srgbClr val="6666FF"/>
              </a:gs>
              <a:gs pos="100000">
                <a:schemeClr val="tx1"/>
              </a:gs>
            </a:gsLst>
            <a:lin ang="0" scaled="1"/>
          </a:gradFill>
          <a:ln w="9525">
            <a:noFill/>
            <a:miter lim="800000"/>
            <a:headEnd/>
            <a:tailEnd/>
          </a:ln>
          <a:effectLst/>
        </p:spPr>
        <p:txBody>
          <a:bodyPr wrap="none" anchor="ctr"/>
          <a:lstStyle/>
          <a:p>
            <a:pPr eaLnBrk="1" hangingPunct="1">
              <a:defRPr/>
            </a:pPr>
            <a:endParaRPr lang="zh-CN" altLang="en-US"/>
          </a:p>
        </p:txBody>
      </p:sp>
      <p:sp>
        <p:nvSpPr>
          <p:cNvPr id="190468" name="AutoShape 4">
            <a:extLst>
              <a:ext uri="{FF2B5EF4-FFF2-40B4-BE49-F238E27FC236}">
                <a16:creationId xmlns:a16="http://schemas.microsoft.com/office/drawing/2014/main" id="{98770DDA-F268-43DD-B53C-B5F184DAE7F3}"/>
              </a:ext>
            </a:extLst>
          </p:cNvPr>
          <p:cNvSpPr>
            <a:spLocks noChangeArrowheads="1"/>
          </p:cNvSpPr>
          <p:nvPr/>
        </p:nvSpPr>
        <p:spPr bwMode="auto">
          <a:xfrm rot="17803915">
            <a:off x="3451767" y="2727708"/>
            <a:ext cx="914400" cy="304800"/>
          </a:xfrm>
          <a:prstGeom prst="leftArrow">
            <a:avLst>
              <a:gd name="adj1" fmla="val 50000"/>
              <a:gd name="adj2" fmla="val 75000"/>
            </a:avLst>
          </a:prstGeom>
          <a:gradFill rotWithShape="0">
            <a:gsLst>
              <a:gs pos="0">
                <a:schemeClr val="tx1"/>
              </a:gs>
              <a:gs pos="50000">
                <a:srgbClr val="6666FF"/>
              </a:gs>
              <a:gs pos="100000">
                <a:schemeClr val="tx1"/>
              </a:gs>
            </a:gsLst>
            <a:lin ang="0" scaled="1"/>
          </a:gradFill>
          <a:ln w="9525">
            <a:noFill/>
            <a:miter lim="800000"/>
            <a:headEnd/>
            <a:tailEnd/>
          </a:ln>
          <a:effectLst/>
        </p:spPr>
        <p:txBody>
          <a:bodyPr wrap="none" anchor="ctr"/>
          <a:lstStyle/>
          <a:p>
            <a:pPr eaLnBrk="1" hangingPunct="1">
              <a:defRPr/>
            </a:pPr>
            <a:endParaRPr lang="zh-CN" altLang="en-US"/>
          </a:p>
        </p:txBody>
      </p:sp>
      <p:sp>
        <p:nvSpPr>
          <p:cNvPr id="190469" name="AutoShape 5">
            <a:extLst>
              <a:ext uri="{FF2B5EF4-FFF2-40B4-BE49-F238E27FC236}">
                <a16:creationId xmlns:a16="http://schemas.microsoft.com/office/drawing/2014/main" id="{0C97593B-EE9D-4CD2-8380-861B3405CF73}"/>
              </a:ext>
            </a:extLst>
          </p:cNvPr>
          <p:cNvSpPr>
            <a:spLocks noChangeArrowheads="1"/>
          </p:cNvSpPr>
          <p:nvPr/>
        </p:nvSpPr>
        <p:spPr bwMode="auto">
          <a:xfrm rot="2621267">
            <a:off x="5087938" y="2636242"/>
            <a:ext cx="1219200" cy="334962"/>
          </a:xfrm>
          <a:prstGeom prst="rightArrow">
            <a:avLst>
              <a:gd name="adj1" fmla="val 50000"/>
              <a:gd name="adj2" fmla="val 90995"/>
            </a:avLst>
          </a:prstGeom>
          <a:gradFill rotWithShape="0">
            <a:gsLst>
              <a:gs pos="0">
                <a:schemeClr val="tx1"/>
              </a:gs>
              <a:gs pos="50000">
                <a:srgbClr val="6666FF"/>
              </a:gs>
              <a:gs pos="100000">
                <a:schemeClr val="tx1"/>
              </a:gs>
            </a:gsLst>
            <a:lin ang="0" scaled="1"/>
          </a:gradFill>
          <a:ln w="9525">
            <a:noFill/>
            <a:miter lim="800000"/>
            <a:headEnd/>
            <a:tailEnd/>
          </a:ln>
          <a:effectLst/>
        </p:spPr>
        <p:txBody>
          <a:bodyPr wrap="none" anchor="ctr"/>
          <a:lstStyle/>
          <a:p>
            <a:pPr eaLnBrk="1" hangingPunct="1">
              <a:defRPr/>
            </a:pPr>
            <a:endParaRPr lang="zh-CN" altLang="en-US"/>
          </a:p>
        </p:txBody>
      </p:sp>
      <p:sp>
        <p:nvSpPr>
          <p:cNvPr id="43014" name="Text Box 6">
            <a:extLst>
              <a:ext uri="{FF2B5EF4-FFF2-40B4-BE49-F238E27FC236}">
                <a16:creationId xmlns:a16="http://schemas.microsoft.com/office/drawing/2014/main" id="{A97B56E0-67AC-4BFF-96D7-3F962E81C68C}"/>
              </a:ext>
            </a:extLst>
          </p:cNvPr>
          <p:cNvSpPr txBox="1">
            <a:spLocks noChangeArrowheads="1"/>
          </p:cNvSpPr>
          <p:nvPr/>
        </p:nvSpPr>
        <p:spPr bwMode="auto">
          <a:xfrm>
            <a:off x="1774825" y="1196379"/>
            <a:ext cx="20891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20000"/>
              </a:lnSpc>
              <a:spcBef>
                <a:spcPct val="0"/>
              </a:spcBef>
              <a:buClrTx/>
              <a:buFontTx/>
              <a:buNone/>
            </a:pPr>
            <a:r>
              <a:rPr lang="zh-CN" altLang="en-US" b="0">
                <a:solidFill>
                  <a:srgbClr val="FF0000"/>
                </a:solidFill>
                <a:latin typeface="Times New Roman" panose="02020603050405020304" pitchFamily="18" charset="0"/>
                <a:ea typeface="黑体" panose="02010609060101010101" pitchFamily="49" charset="-122"/>
              </a:rPr>
              <a:t>嘧啶</a:t>
            </a:r>
            <a:r>
              <a:rPr lang="en-US" altLang="zh-CN" b="0">
                <a:solidFill>
                  <a:srgbClr val="FF0000"/>
                </a:solidFill>
                <a:latin typeface="Times New Roman" panose="02020603050405020304" pitchFamily="18" charset="0"/>
                <a:ea typeface="黑体" panose="02010609060101010101" pitchFamily="49" charset="-122"/>
              </a:rPr>
              <a:t>(pyrimidine)</a:t>
            </a:r>
          </a:p>
        </p:txBody>
      </p:sp>
      <p:grpSp>
        <p:nvGrpSpPr>
          <p:cNvPr id="43015" name="Group 18">
            <a:extLst>
              <a:ext uri="{FF2B5EF4-FFF2-40B4-BE49-F238E27FC236}">
                <a16:creationId xmlns:a16="http://schemas.microsoft.com/office/drawing/2014/main" id="{D9CADBAD-0B32-430C-8676-650BE2F57CC7}"/>
              </a:ext>
            </a:extLst>
          </p:cNvPr>
          <p:cNvGrpSpPr>
            <a:grpSpLocks/>
          </p:cNvGrpSpPr>
          <p:nvPr/>
        </p:nvGrpSpPr>
        <p:grpSpPr bwMode="auto">
          <a:xfrm>
            <a:off x="1893046" y="3410609"/>
            <a:ext cx="3097212" cy="2632075"/>
            <a:chOff x="385" y="2251"/>
            <a:chExt cx="2132" cy="1937"/>
          </a:xfrm>
        </p:grpSpPr>
        <p:sp>
          <p:nvSpPr>
            <p:cNvPr id="43023" name="Rectangle 12">
              <a:extLst>
                <a:ext uri="{FF2B5EF4-FFF2-40B4-BE49-F238E27FC236}">
                  <a16:creationId xmlns:a16="http://schemas.microsoft.com/office/drawing/2014/main" id="{3365B5F8-06AD-4011-A04E-EA252622C361}"/>
                </a:ext>
              </a:extLst>
            </p:cNvPr>
            <p:cNvSpPr>
              <a:spLocks noChangeArrowheads="1"/>
            </p:cNvSpPr>
            <p:nvPr/>
          </p:nvSpPr>
          <p:spPr bwMode="auto">
            <a:xfrm>
              <a:off x="385" y="3838"/>
              <a:ext cx="2132"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90000"/>
                </a:lnSpc>
                <a:spcBef>
                  <a:spcPct val="0"/>
                </a:spcBef>
                <a:buClrTx/>
                <a:buFontTx/>
                <a:buNone/>
              </a:pPr>
              <a:r>
                <a:rPr lang="zh-CN" altLang="en-US" b="0">
                  <a:solidFill>
                    <a:schemeClr val="tx1"/>
                  </a:solidFill>
                  <a:latin typeface="Times New Roman" panose="02020603050405020304" pitchFamily="18" charset="0"/>
                  <a:ea typeface="黑体" panose="02010609060101010101" pitchFamily="49" charset="-122"/>
                </a:rPr>
                <a:t>胞嘧啶</a:t>
              </a:r>
              <a:r>
                <a:rPr lang="en-US" altLang="zh-CN" b="0">
                  <a:solidFill>
                    <a:schemeClr val="tx1"/>
                  </a:solidFill>
                  <a:latin typeface="Times New Roman" panose="02020603050405020304" pitchFamily="18" charset="0"/>
                  <a:ea typeface="黑体" panose="02010609060101010101" pitchFamily="49" charset="-122"/>
                </a:rPr>
                <a:t>(cytosine, </a:t>
              </a:r>
              <a:r>
                <a:rPr lang="en-US" altLang="zh-CN" b="0">
                  <a:solidFill>
                    <a:srgbClr val="FF0000"/>
                  </a:solidFill>
                  <a:latin typeface="Times New Roman" panose="02020603050405020304" pitchFamily="18" charset="0"/>
                  <a:ea typeface="黑体" panose="02010609060101010101" pitchFamily="49" charset="-122"/>
                </a:rPr>
                <a:t>C</a:t>
              </a:r>
              <a:r>
                <a:rPr lang="en-US" altLang="zh-CN" b="0">
                  <a:solidFill>
                    <a:schemeClr val="tx1"/>
                  </a:solidFill>
                  <a:latin typeface="Times New Roman" panose="02020603050405020304" pitchFamily="18" charset="0"/>
                  <a:ea typeface="黑体" panose="02010609060101010101" pitchFamily="49" charset="-122"/>
                </a:rPr>
                <a:t>)</a:t>
              </a:r>
            </a:p>
          </p:txBody>
        </p:sp>
        <p:graphicFrame>
          <p:nvGraphicFramePr>
            <p:cNvPr id="43024" name="Object 13">
              <a:extLst>
                <a:ext uri="{FF2B5EF4-FFF2-40B4-BE49-F238E27FC236}">
                  <a16:creationId xmlns:a16="http://schemas.microsoft.com/office/drawing/2014/main" id="{DA174546-E020-4987-BEA0-22226BFE30A9}"/>
                </a:ext>
              </a:extLst>
            </p:cNvPr>
            <p:cNvGraphicFramePr>
              <a:graphicFrameLocks noChangeAspect="1"/>
            </p:cNvGraphicFramePr>
            <p:nvPr/>
          </p:nvGraphicFramePr>
          <p:xfrm>
            <a:off x="567" y="2251"/>
            <a:ext cx="1412" cy="1543"/>
          </p:xfrm>
          <a:graphic>
            <a:graphicData uri="http://schemas.openxmlformats.org/presentationml/2006/ole">
              <mc:AlternateContent xmlns:mc="http://schemas.openxmlformats.org/markup-compatibility/2006">
                <mc:Choice xmlns:v="urn:schemas-microsoft-com:vml" Requires="v">
                  <p:oleObj name="ChemSketch" r:id="rId5" imgW="1392936" imgH="1520952" progId="ACD.ChemSketch.20">
                    <p:embed/>
                  </p:oleObj>
                </mc:Choice>
                <mc:Fallback>
                  <p:oleObj name="ChemSketch" r:id="rId5" imgW="1392936" imgH="1520952" progId="ACD.ChemSketch.20">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7" y="2251"/>
                          <a:ext cx="1412" cy="1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3016" name="Group 16">
            <a:extLst>
              <a:ext uri="{FF2B5EF4-FFF2-40B4-BE49-F238E27FC236}">
                <a16:creationId xmlns:a16="http://schemas.microsoft.com/office/drawing/2014/main" id="{55DA9FAF-B0FC-4675-BDF5-9FC60001D8E4}"/>
              </a:ext>
            </a:extLst>
          </p:cNvPr>
          <p:cNvGrpSpPr>
            <a:grpSpLocks/>
          </p:cNvGrpSpPr>
          <p:nvPr/>
        </p:nvGrpSpPr>
        <p:grpSpPr bwMode="auto">
          <a:xfrm>
            <a:off x="7531101" y="793180"/>
            <a:ext cx="2808288" cy="2252662"/>
            <a:chOff x="3152" y="210"/>
            <a:chExt cx="2018" cy="2002"/>
          </a:xfrm>
        </p:grpSpPr>
        <p:sp>
          <p:nvSpPr>
            <p:cNvPr id="43021" name="Rectangle 10">
              <a:extLst>
                <a:ext uri="{FF2B5EF4-FFF2-40B4-BE49-F238E27FC236}">
                  <a16:creationId xmlns:a16="http://schemas.microsoft.com/office/drawing/2014/main" id="{7BE212D5-6353-4CD2-8542-1A74D5307341}"/>
                </a:ext>
              </a:extLst>
            </p:cNvPr>
            <p:cNvSpPr>
              <a:spLocks noChangeArrowheads="1"/>
            </p:cNvSpPr>
            <p:nvPr/>
          </p:nvSpPr>
          <p:spPr bwMode="auto">
            <a:xfrm>
              <a:off x="3152" y="1750"/>
              <a:ext cx="2018"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b="0">
                  <a:solidFill>
                    <a:schemeClr val="tx1"/>
                  </a:solidFill>
                  <a:latin typeface="Times New Roman" panose="02020603050405020304" pitchFamily="18" charset="0"/>
                  <a:ea typeface="黑体" panose="02010609060101010101" pitchFamily="49" charset="-122"/>
                </a:rPr>
                <a:t>尿嘧啶</a:t>
              </a:r>
              <a:r>
                <a:rPr kumimoji="0" lang="en-US" altLang="zh-CN" b="0">
                  <a:solidFill>
                    <a:schemeClr val="tx1"/>
                  </a:solidFill>
                  <a:latin typeface="Times New Roman" panose="02020603050405020304" pitchFamily="18" charset="0"/>
                  <a:ea typeface="黑体" panose="02010609060101010101" pitchFamily="49" charset="-122"/>
                </a:rPr>
                <a:t>(uracil,</a:t>
              </a:r>
              <a:r>
                <a:rPr kumimoji="0" lang="en-US" altLang="zh-CN" b="0">
                  <a:solidFill>
                    <a:srgbClr val="FF0000"/>
                  </a:solidFill>
                  <a:latin typeface="Times New Roman" panose="02020603050405020304" pitchFamily="18" charset="0"/>
                  <a:ea typeface="黑体" panose="02010609060101010101" pitchFamily="49" charset="-122"/>
                </a:rPr>
                <a:t> U</a:t>
              </a:r>
              <a:r>
                <a:rPr kumimoji="0" lang="en-US" altLang="zh-CN" b="0">
                  <a:solidFill>
                    <a:schemeClr val="tx1"/>
                  </a:solidFill>
                  <a:latin typeface="Times New Roman" panose="02020603050405020304" pitchFamily="18" charset="0"/>
                  <a:ea typeface="黑体" panose="02010609060101010101" pitchFamily="49" charset="-122"/>
                </a:rPr>
                <a:t>)</a:t>
              </a:r>
              <a:endParaRPr lang="en-US" altLang="zh-CN" b="0">
                <a:solidFill>
                  <a:schemeClr val="tx1"/>
                </a:solidFill>
                <a:latin typeface="Times New Roman" panose="02020603050405020304" pitchFamily="18" charset="0"/>
                <a:ea typeface="黑体" panose="02010609060101010101" pitchFamily="49" charset="-122"/>
              </a:endParaRPr>
            </a:p>
          </p:txBody>
        </p:sp>
        <p:graphicFrame>
          <p:nvGraphicFramePr>
            <p:cNvPr id="43022" name="Object 14">
              <a:extLst>
                <a:ext uri="{FF2B5EF4-FFF2-40B4-BE49-F238E27FC236}">
                  <a16:creationId xmlns:a16="http://schemas.microsoft.com/office/drawing/2014/main" id="{D1677D48-1967-4B8E-AB16-EAD7ECB8C24C}"/>
                </a:ext>
              </a:extLst>
            </p:cNvPr>
            <p:cNvGraphicFramePr>
              <a:graphicFrameLocks noChangeAspect="1"/>
            </p:cNvGraphicFramePr>
            <p:nvPr/>
          </p:nvGraphicFramePr>
          <p:xfrm>
            <a:off x="3334" y="210"/>
            <a:ext cx="1368" cy="1542"/>
          </p:xfrm>
          <a:graphic>
            <a:graphicData uri="http://schemas.openxmlformats.org/presentationml/2006/ole">
              <mc:AlternateContent xmlns:mc="http://schemas.openxmlformats.org/markup-compatibility/2006">
                <mc:Choice xmlns:v="urn:schemas-microsoft-com:vml" Requires="v">
                  <p:oleObj name="ChemSketch" r:id="rId7" imgW="1365504" imgH="1539240" progId="ACD.ChemSketch.20">
                    <p:embed/>
                  </p:oleObj>
                </mc:Choice>
                <mc:Fallback>
                  <p:oleObj name="ChemSketch" r:id="rId7" imgW="1365504" imgH="1539240" progId="ACD.ChemSketch.20">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34" y="210"/>
                          <a:ext cx="1368" cy="1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3017" name="Group 17">
            <a:extLst>
              <a:ext uri="{FF2B5EF4-FFF2-40B4-BE49-F238E27FC236}">
                <a16:creationId xmlns:a16="http://schemas.microsoft.com/office/drawing/2014/main" id="{7BECA83A-6D79-4076-BB12-2CA247D4072E}"/>
              </a:ext>
            </a:extLst>
          </p:cNvPr>
          <p:cNvGrpSpPr>
            <a:grpSpLocks/>
          </p:cNvGrpSpPr>
          <p:nvPr/>
        </p:nvGrpSpPr>
        <p:grpSpPr bwMode="auto">
          <a:xfrm>
            <a:off x="7221857" y="3532119"/>
            <a:ext cx="3455988" cy="2443162"/>
            <a:chOff x="2835" y="2160"/>
            <a:chExt cx="2495" cy="2017"/>
          </a:xfrm>
        </p:grpSpPr>
        <p:sp>
          <p:nvSpPr>
            <p:cNvPr id="43019" name="Rectangle 11">
              <a:extLst>
                <a:ext uri="{FF2B5EF4-FFF2-40B4-BE49-F238E27FC236}">
                  <a16:creationId xmlns:a16="http://schemas.microsoft.com/office/drawing/2014/main" id="{61ACB6C7-89BA-4E9F-B2BA-829FF5F50869}"/>
                </a:ext>
              </a:extLst>
            </p:cNvPr>
            <p:cNvSpPr>
              <a:spLocks noChangeArrowheads="1"/>
            </p:cNvSpPr>
            <p:nvPr/>
          </p:nvSpPr>
          <p:spPr bwMode="auto">
            <a:xfrm>
              <a:off x="2881" y="3749"/>
              <a:ext cx="2449"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r>
                <a:rPr lang="zh-CN" altLang="en-US" b="0">
                  <a:solidFill>
                    <a:schemeClr val="tx1"/>
                  </a:solidFill>
                  <a:latin typeface="Times New Roman" panose="02020603050405020304" pitchFamily="18" charset="0"/>
                  <a:ea typeface="黑体" panose="02010609060101010101" pitchFamily="49" charset="-122"/>
                </a:rPr>
                <a:t>胸腺嘧啶</a:t>
              </a:r>
              <a:r>
                <a:rPr lang="en-US" altLang="zh-CN" b="0">
                  <a:solidFill>
                    <a:schemeClr val="tx1"/>
                  </a:solidFill>
                  <a:latin typeface="Times New Roman" panose="02020603050405020304" pitchFamily="18" charset="0"/>
                  <a:ea typeface="黑体" panose="02010609060101010101" pitchFamily="49" charset="-122"/>
                </a:rPr>
                <a:t>(thymine, </a:t>
              </a:r>
              <a:r>
                <a:rPr lang="en-US" altLang="zh-CN" b="0">
                  <a:solidFill>
                    <a:srgbClr val="FF0000"/>
                  </a:solidFill>
                  <a:latin typeface="Times New Roman" panose="02020603050405020304" pitchFamily="18" charset="0"/>
                  <a:ea typeface="黑体" panose="02010609060101010101" pitchFamily="49" charset="-122"/>
                </a:rPr>
                <a:t>T</a:t>
              </a:r>
              <a:r>
                <a:rPr lang="en-US" altLang="zh-CN" b="0">
                  <a:solidFill>
                    <a:schemeClr val="tx1"/>
                  </a:solidFill>
                  <a:latin typeface="Times New Roman" panose="02020603050405020304" pitchFamily="18" charset="0"/>
                  <a:ea typeface="黑体" panose="02010609060101010101" pitchFamily="49" charset="-122"/>
                </a:rPr>
                <a:t>)</a:t>
              </a:r>
            </a:p>
          </p:txBody>
        </p:sp>
        <p:graphicFrame>
          <p:nvGraphicFramePr>
            <p:cNvPr id="43020" name="Object 15">
              <a:extLst>
                <a:ext uri="{FF2B5EF4-FFF2-40B4-BE49-F238E27FC236}">
                  <a16:creationId xmlns:a16="http://schemas.microsoft.com/office/drawing/2014/main" id="{CC94B4A6-64E5-4E81-9202-F231B5E2D200}"/>
                </a:ext>
              </a:extLst>
            </p:cNvPr>
            <p:cNvGraphicFramePr>
              <a:graphicFrameLocks noChangeAspect="1"/>
            </p:cNvGraphicFramePr>
            <p:nvPr/>
          </p:nvGraphicFramePr>
          <p:xfrm>
            <a:off x="2835" y="2160"/>
            <a:ext cx="1905" cy="1554"/>
          </p:xfrm>
          <a:graphic>
            <a:graphicData uri="http://schemas.openxmlformats.org/presentationml/2006/ole">
              <mc:AlternateContent xmlns:mc="http://schemas.openxmlformats.org/markup-compatibility/2006">
                <mc:Choice xmlns:v="urn:schemas-microsoft-com:vml" Requires="v">
                  <p:oleObj name="ChemSketch" r:id="rId9" imgW="1889760" imgH="1539240" progId="ACD.ChemSketch.20">
                    <p:embed/>
                  </p:oleObj>
                </mc:Choice>
                <mc:Fallback>
                  <p:oleObj name="ChemSketch" r:id="rId9" imgW="1889760" imgH="1539240" progId="ACD.ChemSketch.20">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35" y="2160"/>
                          <a:ext cx="1905" cy="1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3018" name="灯片编号占位符 1">
            <a:extLst>
              <a:ext uri="{FF2B5EF4-FFF2-40B4-BE49-F238E27FC236}">
                <a16:creationId xmlns:a16="http://schemas.microsoft.com/office/drawing/2014/main" id="{712625C2-371B-4685-B17C-0E48E5EAC078}"/>
              </a:ext>
            </a:extLst>
          </p:cNvPr>
          <p:cNvSpPr>
            <a:spLocks noGrp="1"/>
          </p:cNvSpPr>
          <p:nvPr>
            <p:ph type="sldNum" sz="quarter" idx="4"/>
          </p:nvPr>
        </p:nvSpPr>
        <p:spPr bwMode="auto">
          <a:xfrm>
            <a:off x="11712624" y="6492875"/>
            <a:ext cx="693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l" eaLnBrk="0" hangingPunct="0">
              <a:spcBef>
                <a:spcPct val="0"/>
              </a:spcBef>
              <a:buClrTx/>
              <a:buFontTx/>
              <a:buNone/>
            </a:pPr>
            <a:fld id="{1A55E722-355D-4F37-81C1-21C9012F470E}" type="slidenum">
              <a:rPr lang="zh-CN" altLang="en-US" sz="1200" b="0">
                <a:solidFill>
                  <a:srgbClr val="898F89"/>
                </a:solidFill>
              </a:rPr>
              <a:pPr algn="l" eaLnBrk="0" hangingPunct="0">
                <a:spcBef>
                  <a:spcPct val="0"/>
                </a:spcBef>
                <a:buClrTx/>
                <a:buFontTx/>
                <a:buNone/>
              </a:pPr>
              <a:t>9</a:t>
            </a:fld>
            <a:endParaRPr lang="zh-CN" altLang="en-US" sz="1200" b="0" dirty="0">
              <a:solidFill>
                <a:srgbClr val="898F89"/>
              </a:solidFill>
            </a:endParaRPr>
          </a:p>
        </p:txBody>
      </p:sp>
    </p:spTree>
  </p:cSld>
  <p:clrMapOvr>
    <a:masterClrMapping/>
  </p:clrMapOvr>
  <p:transition spd="slow">
    <p:circl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3">
            <a:extLst>
              <a:ext uri="{FF2B5EF4-FFF2-40B4-BE49-F238E27FC236}">
                <a16:creationId xmlns:a16="http://schemas.microsoft.com/office/drawing/2014/main" id="{83F469D1-BD72-44A9-9C5F-25DD1A8462F0}"/>
              </a:ext>
            </a:extLst>
          </p:cNvPr>
          <p:cNvSpPr txBox="1">
            <a:spLocks noChangeArrowheads="1"/>
          </p:cNvSpPr>
          <p:nvPr/>
        </p:nvSpPr>
        <p:spPr bwMode="auto">
          <a:xfrm>
            <a:off x="2351089" y="4149726"/>
            <a:ext cx="2447925" cy="519113"/>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r>
              <a:rPr lang="zh-CN" altLang="en-US" b="0">
                <a:solidFill>
                  <a:srgbClr val="FF0000"/>
                </a:solidFill>
                <a:latin typeface="Times New Roman" panose="02020603050405020304" pitchFamily="18" charset="0"/>
                <a:ea typeface="黑体" panose="02010609060101010101" pitchFamily="49" charset="-122"/>
              </a:rPr>
              <a:t>嘌呤</a:t>
            </a:r>
            <a:r>
              <a:rPr lang="en-US" altLang="zh-CN" b="0">
                <a:solidFill>
                  <a:srgbClr val="FF0000"/>
                </a:solidFill>
                <a:latin typeface="Times New Roman" panose="02020603050405020304" pitchFamily="18" charset="0"/>
                <a:ea typeface="黑体" panose="02010609060101010101" pitchFamily="49" charset="-122"/>
              </a:rPr>
              <a:t>(purine)</a:t>
            </a:r>
            <a:r>
              <a:rPr lang="en-US" altLang="zh-CN" b="0">
                <a:solidFill>
                  <a:srgbClr val="CC0099"/>
                </a:solidFill>
                <a:latin typeface="Times New Roman" panose="02020603050405020304" pitchFamily="18" charset="0"/>
                <a:ea typeface="黑体" panose="02010609060101010101" pitchFamily="49" charset="-122"/>
              </a:rPr>
              <a:t>   </a:t>
            </a:r>
          </a:p>
        </p:txBody>
      </p:sp>
      <p:sp>
        <p:nvSpPr>
          <p:cNvPr id="189444" name="AutoShape 4">
            <a:extLst>
              <a:ext uri="{FF2B5EF4-FFF2-40B4-BE49-F238E27FC236}">
                <a16:creationId xmlns:a16="http://schemas.microsoft.com/office/drawing/2014/main" id="{CF02FCF1-559C-4FEC-A5BA-8F47491435E7}"/>
              </a:ext>
            </a:extLst>
          </p:cNvPr>
          <p:cNvSpPr>
            <a:spLocks noChangeArrowheads="1"/>
          </p:cNvSpPr>
          <p:nvPr/>
        </p:nvSpPr>
        <p:spPr bwMode="auto">
          <a:xfrm rot="1852344">
            <a:off x="5016501" y="3933825"/>
            <a:ext cx="1584325" cy="304800"/>
          </a:xfrm>
          <a:prstGeom prst="rightArrow">
            <a:avLst>
              <a:gd name="adj1" fmla="val 50000"/>
              <a:gd name="adj2" fmla="val 129948"/>
            </a:avLst>
          </a:prstGeom>
          <a:gradFill rotWithShape="0">
            <a:gsLst>
              <a:gs pos="0">
                <a:schemeClr val="tx1"/>
              </a:gs>
              <a:gs pos="50000">
                <a:srgbClr val="6666FF"/>
              </a:gs>
              <a:gs pos="100000">
                <a:schemeClr val="tx1"/>
              </a:gs>
            </a:gsLst>
            <a:lin ang="0" scaled="1"/>
          </a:gradFill>
          <a:ln w="9525">
            <a:noFill/>
            <a:miter lim="800000"/>
            <a:headEnd/>
            <a:tailEnd/>
          </a:ln>
          <a:effectLst/>
        </p:spPr>
        <p:txBody>
          <a:bodyPr wrap="none" anchor="ctr"/>
          <a:lstStyle/>
          <a:p>
            <a:pPr eaLnBrk="1" hangingPunct="1">
              <a:defRPr/>
            </a:pPr>
            <a:endParaRPr lang="zh-CN" altLang="en-US"/>
          </a:p>
        </p:txBody>
      </p:sp>
      <p:sp>
        <p:nvSpPr>
          <p:cNvPr id="189445" name="AutoShape 5">
            <a:extLst>
              <a:ext uri="{FF2B5EF4-FFF2-40B4-BE49-F238E27FC236}">
                <a16:creationId xmlns:a16="http://schemas.microsoft.com/office/drawing/2014/main" id="{42945DF5-48E2-47CC-8FBA-76DD48C14503}"/>
              </a:ext>
            </a:extLst>
          </p:cNvPr>
          <p:cNvSpPr>
            <a:spLocks noChangeArrowheads="1"/>
          </p:cNvSpPr>
          <p:nvPr/>
        </p:nvSpPr>
        <p:spPr bwMode="auto">
          <a:xfrm rot="19772260">
            <a:off x="5087939" y="2060575"/>
            <a:ext cx="1582737" cy="304800"/>
          </a:xfrm>
          <a:prstGeom prst="rightArrow">
            <a:avLst>
              <a:gd name="adj1" fmla="val 50000"/>
              <a:gd name="adj2" fmla="val 129818"/>
            </a:avLst>
          </a:prstGeom>
          <a:gradFill rotWithShape="0">
            <a:gsLst>
              <a:gs pos="0">
                <a:schemeClr val="tx1"/>
              </a:gs>
              <a:gs pos="50000">
                <a:srgbClr val="6666FF"/>
              </a:gs>
              <a:gs pos="100000">
                <a:schemeClr val="tx1"/>
              </a:gs>
            </a:gsLst>
            <a:lin ang="0" scaled="1"/>
          </a:gradFill>
          <a:ln w="9525">
            <a:noFill/>
            <a:miter lim="800000"/>
            <a:headEnd/>
            <a:tailEnd/>
          </a:ln>
          <a:effectLst/>
        </p:spPr>
        <p:txBody>
          <a:bodyPr wrap="none" anchor="ctr"/>
          <a:lstStyle/>
          <a:p>
            <a:pPr eaLnBrk="1" hangingPunct="1">
              <a:defRPr/>
            </a:pPr>
            <a:endParaRPr lang="zh-CN" altLang="en-US"/>
          </a:p>
        </p:txBody>
      </p:sp>
      <p:graphicFrame>
        <p:nvGraphicFramePr>
          <p:cNvPr id="45061" name="Object 6">
            <a:extLst>
              <a:ext uri="{FF2B5EF4-FFF2-40B4-BE49-F238E27FC236}">
                <a16:creationId xmlns:a16="http://schemas.microsoft.com/office/drawing/2014/main" id="{AAAC5A40-57E6-49E4-ACC5-734672E4D32D}"/>
              </a:ext>
            </a:extLst>
          </p:cNvPr>
          <p:cNvGraphicFramePr>
            <a:graphicFrameLocks noChangeAspect="1"/>
          </p:cNvGraphicFramePr>
          <p:nvPr/>
        </p:nvGraphicFramePr>
        <p:xfrm>
          <a:off x="2063751" y="1989139"/>
          <a:ext cx="2951163" cy="1912937"/>
        </p:xfrm>
        <a:graphic>
          <a:graphicData uri="http://schemas.openxmlformats.org/presentationml/2006/ole">
            <mc:AlternateContent xmlns:mc="http://schemas.openxmlformats.org/markup-compatibility/2006">
              <mc:Choice xmlns:v="urn:schemas-microsoft-com:vml" Requires="v">
                <p:oleObj name="ACD ChemSketch 2.0" r:id="rId3" imgW="1658112" imgH="1106424" progId="ACD.ChemSketch.20">
                  <p:embed/>
                </p:oleObj>
              </mc:Choice>
              <mc:Fallback>
                <p:oleObj name="ACD ChemSketch 2.0" r:id="rId3" imgW="1658112" imgH="1106424" progId="ACD.ChemSketch.20">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751" y="1989139"/>
                        <a:ext cx="2951163" cy="191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5062" name="Group 18">
            <a:extLst>
              <a:ext uri="{FF2B5EF4-FFF2-40B4-BE49-F238E27FC236}">
                <a16:creationId xmlns:a16="http://schemas.microsoft.com/office/drawing/2014/main" id="{7C1B3CAC-7F69-4D14-86B6-9D1273D220AB}"/>
              </a:ext>
            </a:extLst>
          </p:cNvPr>
          <p:cNvGrpSpPr>
            <a:grpSpLocks/>
          </p:cNvGrpSpPr>
          <p:nvPr/>
        </p:nvGrpSpPr>
        <p:grpSpPr bwMode="auto">
          <a:xfrm>
            <a:off x="6966832" y="476672"/>
            <a:ext cx="3313112" cy="2657475"/>
            <a:chOff x="3107" y="164"/>
            <a:chExt cx="2268" cy="1860"/>
          </a:xfrm>
        </p:grpSpPr>
        <p:graphicFrame>
          <p:nvGraphicFramePr>
            <p:cNvPr id="45067" name="Object 2">
              <a:extLst>
                <a:ext uri="{FF2B5EF4-FFF2-40B4-BE49-F238E27FC236}">
                  <a16:creationId xmlns:a16="http://schemas.microsoft.com/office/drawing/2014/main" id="{F4EFF328-CB0D-46BD-A0A2-4F693C701DB9}"/>
                </a:ext>
              </a:extLst>
            </p:cNvPr>
            <p:cNvGraphicFramePr>
              <a:graphicFrameLocks noChangeAspect="1"/>
            </p:cNvGraphicFramePr>
            <p:nvPr/>
          </p:nvGraphicFramePr>
          <p:xfrm>
            <a:off x="3152" y="164"/>
            <a:ext cx="1632" cy="1584"/>
          </p:xfrm>
          <a:graphic>
            <a:graphicData uri="http://schemas.openxmlformats.org/presentationml/2006/ole">
              <mc:AlternateContent xmlns:mc="http://schemas.openxmlformats.org/markup-compatibility/2006">
                <mc:Choice xmlns:v="urn:schemas-microsoft-com:vml" Requires="v">
                  <p:oleObj name="ACD ChemSketch 2.0" r:id="rId5" imgW="1655064" imgH="1520952" progId="ACD.ChemSketch.20">
                    <p:embed/>
                  </p:oleObj>
                </mc:Choice>
                <mc:Fallback>
                  <p:oleObj name="ACD ChemSketch 2.0" r:id="rId5" imgW="1655064" imgH="1520952" progId="ACD.ChemSketch.20">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2" y="164"/>
                          <a:ext cx="1632" cy="1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8" name="Rectangle 9">
              <a:extLst>
                <a:ext uri="{FF2B5EF4-FFF2-40B4-BE49-F238E27FC236}">
                  <a16:creationId xmlns:a16="http://schemas.microsoft.com/office/drawing/2014/main" id="{EE15B5B5-8FED-42A7-A2B5-C4B7AE2C322B}"/>
                </a:ext>
              </a:extLst>
            </p:cNvPr>
            <p:cNvSpPr>
              <a:spLocks noChangeArrowheads="1"/>
            </p:cNvSpPr>
            <p:nvPr/>
          </p:nvSpPr>
          <p:spPr bwMode="auto">
            <a:xfrm>
              <a:off x="3107" y="1660"/>
              <a:ext cx="2268"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b="0">
                  <a:solidFill>
                    <a:schemeClr val="tx1"/>
                  </a:solidFill>
                  <a:latin typeface="Times New Roman" panose="02020603050405020304" pitchFamily="18" charset="0"/>
                  <a:ea typeface="黑体" panose="02010609060101010101" pitchFamily="49" charset="-122"/>
                </a:rPr>
                <a:t>腺嘌呤</a:t>
              </a:r>
              <a:r>
                <a:rPr lang="en-US" altLang="zh-CN" b="0">
                  <a:solidFill>
                    <a:schemeClr val="tx1"/>
                  </a:solidFill>
                  <a:latin typeface="Times New Roman" panose="02020603050405020304" pitchFamily="18" charset="0"/>
                  <a:ea typeface="黑体" panose="02010609060101010101" pitchFamily="49" charset="-122"/>
                </a:rPr>
                <a:t>(adenine, </a:t>
              </a:r>
              <a:r>
                <a:rPr lang="en-US" altLang="zh-CN" b="0">
                  <a:solidFill>
                    <a:srgbClr val="FF0000"/>
                  </a:solidFill>
                  <a:latin typeface="Times New Roman" panose="02020603050405020304" pitchFamily="18" charset="0"/>
                  <a:ea typeface="黑体" panose="02010609060101010101" pitchFamily="49" charset="-122"/>
                </a:rPr>
                <a:t>A</a:t>
              </a:r>
              <a:r>
                <a:rPr lang="en-US" altLang="zh-CN" b="0">
                  <a:solidFill>
                    <a:schemeClr val="tx1"/>
                  </a:solidFill>
                  <a:latin typeface="Times New Roman" panose="02020603050405020304" pitchFamily="18" charset="0"/>
                  <a:ea typeface="黑体" panose="02010609060101010101" pitchFamily="49" charset="-122"/>
                </a:rPr>
                <a:t>)</a:t>
              </a:r>
            </a:p>
          </p:txBody>
        </p:sp>
      </p:grpSp>
      <p:grpSp>
        <p:nvGrpSpPr>
          <p:cNvPr id="45063" name="Group 19">
            <a:extLst>
              <a:ext uri="{FF2B5EF4-FFF2-40B4-BE49-F238E27FC236}">
                <a16:creationId xmlns:a16="http://schemas.microsoft.com/office/drawing/2014/main" id="{B2D0C2E2-162A-4B2C-8357-7FEDDB221712}"/>
              </a:ext>
            </a:extLst>
          </p:cNvPr>
          <p:cNvGrpSpPr>
            <a:grpSpLocks/>
          </p:cNvGrpSpPr>
          <p:nvPr/>
        </p:nvGrpSpPr>
        <p:grpSpPr bwMode="auto">
          <a:xfrm>
            <a:off x="6822369" y="3362770"/>
            <a:ext cx="3594111" cy="2883947"/>
            <a:chOff x="3107" y="2115"/>
            <a:chExt cx="2504" cy="2011"/>
          </a:xfrm>
        </p:grpSpPr>
        <p:graphicFrame>
          <p:nvGraphicFramePr>
            <p:cNvPr id="45065" name="Object 12">
              <a:extLst>
                <a:ext uri="{FF2B5EF4-FFF2-40B4-BE49-F238E27FC236}">
                  <a16:creationId xmlns:a16="http://schemas.microsoft.com/office/drawing/2014/main" id="{22627033-62D9-4962-9C25-A31A2B3C1EFC}"/>
                </a:ext>
              </a:extLst>
            </p:cNvPr>
            <p:cNvGraphicFramePr>
              <a:graphicFrameLocks noChangeAspect="1"/>
            </p:cNvGraphicFramePr>
            <p:nvPr/>
          </p:nvGraphicFramePr>
          <p:xfrm>
            <a:off x="3107" y="2115"/>
            <a:ext cx="2222" cy="1648"/>
          </p:xfrm>
          <a:graphic>
            <a:graphicData uri="http://schemas.openxmlformats.org/presentationml/2006/ole">
              <mc:AlternateContent xmlns:mc="http://schemas.openxmlformats.org/markup-compatibility/2006">
                <mc:Choice xmlns:v="urn:schemas-microsoft-com:vml" Requires="v">
                  <p:oleObj name="ACD ChemSketch 2.0" r:id="rId7" imgW="2185416" imgH="1566672" progId="ACD.ChemSketch.20">
                    <p:embed/>
                  </p:oleObj>
                </mc:Choice>
                <mc:Fallback>
                  <p:oleObj name="ACD ChemSketch 2.0" r:id="rId7" imgW="2185416" imgH="1566672" progId="ACD.ChemSketch.20">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07" y="2115"/>
                          <a:ext cx="2222" cy="1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6" name="Rectangle 13">
              <a:extLst>
                <a:ext uri="{FF2B5EF4-FFF2-40B4-BE49-F238E27FC236}">
                  <a16:creationId xmlns:a16="http://schemas.microsoft.com/office/drawing/2014/main" id="{444C09C8-297B-4891-A49A-C15887D2D31F}"/>
                </a:ext>
              </a:extLst>
            </p:cNvPr>
            <p:cNvSpPr>
              <a:spLocks noChangeArrowheads="1"/>
            </p:cNvSpPr>
            <p:nvPr/>
          </p:nvSpPr>
          <p:spPr bwMode="auto">
            <a:xfrm>
              <a:off x="3253" y="3764"/>
              <a:ext cx="235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b="0" dirty="0">
                  <a:solidFill>
                    <a:schemeClr val="tx1"/>
                  </a:solidFill>
                  <a:latin typeface="Times New Roman" panose="02020603050405020304" pitchFamily="18" charset="0"/>
                  <a:ea typeface="黑体" panose="02010609060101010101" pitchFamily="49" charset="-122"/>
                </a:rPr>
                <a:t>鸟嘌呤</a:t>
              </a:r>
              <a:r>
                <a:rPr lang="en-US" altLang="zh-CN" b="0" dirty="0">
                  <a:solidFill>
                    <a:schemeClr val="tx1"/>
                  </a:solidFill>
                  <a:latin typeface="Times New Roman" panose="02020603050405020304" pitchFamily="18" charset="0"/>
                  <a:ea typeface="黑体" panose="02010609060101010101" pitchFamily="49" charset="-122"/>
                </a:rPr>
                <a:t>(guanine, </a:t>
              </a:r>
              <a:r>
                <a:rPr lang="en-US" altLang="zh-CN" b="0" dirty="0">
                  <a:solidFill>
                    <a:srgbClr val="FF0000"/>
                  </a:solidFill>
                  <a:latin typeface="Times New Roman" panose="02020603050405020304" pitchFamily="18" charset="0"/>
                  <a:ea typeface="黑体" panose="02010609060101010101" pitchFamily="49" charset="-122"/>
                </a:rPr>
                <a:t>G</a:t>
              </a:r>
              <a:r>
                <a:rPr lang="en-US" altLang="zh-CN" b="0" dirty="0">
                  <a:solidFill>
                    <a:schemeClr val="tx1"/>
                  </a:solidFill>
                  <a:latin typeface="Times New Roman" panose="02020603050405020304" pitchFamily="18" charset="0"/>
                  <a:ea typeface="黑体" panose="02010609060101010101" pitchFamily="49" charset="-122"/>
                </a:rPr>
                <a:t>)</a:t>
              </a:r>
            </a:p>
          </p:txBody>
        </p:sp>
      </p:grpSp>
      <p:sp>
        <p:nvSpPr>
          <p:cNvPr id="45064" name="灯片编号占位符 1">
            <a:extLst>
              <a:ext uri="{FF2B5EF4-FFF2-40B4-BE49-F238E27FC236}">
                <a16:creationId xmlns:a16="http://schemas.microsoft.com/office/drawing/2014/main" id="{6BB51077-4FBB-44F9-83D5-51A939E76BB8}"/>
              </a:ext>
            </a:extLst>
          </p:cNvPr>
          <p:cNvSpPr>
            <a:spLocks noGrp="1"/>
          </p:cNvSpPr>
          <p:nvPr>
            <p:ph type="sldNum" sz="quarter" idx="4"/>
          </p:nvPr>
        </p:nvSpPr>
        <p:spPr bwMode="auto">
          <a:xfrm>
            <a:off x="11498263" y="6381328"/>
            <a:ext cx="693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l" eaLnBrk="0" hangingPunct="0">
              <a:spcBef>
                <a:spcPct val="0"/>
              </a:spcBef>
              <a:buClrTx/>
              <a:buFontTx/>
              <a:buNone/>
            </a:pPr>
            <a:fld id="{0AAF3FBD-DC77-4ADA-AD1E-A6D1BBC32735}" type="slidenum">
              <a:rPr lang="zh-CN" altLang="en-US" sz="1200" b="0">
                <a:solidFill>
                  <a:srgbClr val="898F89"/>
                </a:solidFill>
              </a:rPr>
              <a:pPr algn="l" eaLnBrk="0" hangingPunct="0">
                <a:spcBef>
                  <a:spcPct val="0"/>
                </a:spcBef>
                <a:buClrTx/>
                <a:buFontTx/>
                <a:buNone/>
              </a:pPr>
              <a:t>10</a:t>
            </a:fld>
            <a:endParaRPr lang="zh-CN" altLang="en-US" sz="1200" b="0" dirty="0">
              <a:solidFill>
                <a:srgbClr val="898F89"/>
              </a:solidFill>
            </a:endParaRPr>
          </a:p>
        </p:txBody>
      </p:sp>
    </p:spTree>
  </p:cSld>
  <p:clrMapOvr>
    <a:masterClrMapping/>
  </p:clrMapOvr>
  <p:transition spd="slow">
    <p:circl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7E5A1D5-7C23-116B-85B7-4AEE40463DA0}"/>
              </a:ext>
            </a:extLst>
          </p:cNvPr>
          <p:cNvPicPr>
            <a:picLocks/>
          </p:cNvPicPr>
          <p:nvPr/>
        </p:nvPicPr>
        <p:blipFill>
          <a:blip r:embed="rId3"/>
          <a:srcRect t="9875"/>
          <a:stretch>
            <a:fillRect/>
          </a:stretch>
        </p:blipFill>
        <p:spPr>
          <a:xfrm>
            <a:off x="1238943" y="471906"/>
            <a:ext cx="10791552" cy="5191786"/>
          </a:xfrm>
          <a:prstGeom prst="rect">
            <a:avLst/>
          </a:prstGeom>
        </p:spPr>
      </p:pic>
      <p:sp>
        <p:nvSpPr>
          <p:cNvPr id="4" name="Text Box 3089">
            <a:extLst>
              <a:ext uri="{FF2B5EF4-FFF2-40B4-BE49-F238E27FC236}">
                <a16:creationId xmlns:a16="http://schemas.microsoft.com/office/drawing/2014/main" id="{6E5FF57C-55ED-F028-130F-781186B8A3E1}"/>
              </a:ext>
            </a:extLst>
          </p:cNvPr>
          <p:cNvSpPr txBox="1">
            <a:spLocks noChangeArrowheads="1"/>
          </p:cNvSpPr>
          <p:nvPr/>
        </p:nvSpPr>
        <p:spPr bwMode="auto">
          <a:xfrm>
            <a:off x="308838" y="1045526"/>
            <a:ext cx="936104" cy="4336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b="0" dirty="0">
                <a:solidFill>
                  <a:srgbClr val="0000CC"/>
                </a:solidFill>
                <a:latin typeface="Times New Roman" panose="02020603050405020304" pitchFamily="18" charset="0"/>
                <a:ea typeface="黑体" panose="02010609060101010101" pitchFamily="49" charset="-122"/>
              </a:rPr>
              <a:t>部分稀有碱基</a:t>
            </a:r>
          </a:p>
        </p:txBody>
      </p:sp>
      <p:sp>
        <p:nvSpPr>
          <p:cNvPr id="5" name="Text Box 100">
            <a:extLst>
              <a:ext uri="{FF2B5EF4-FFF2-40B4-BE49-F238E27FC236}">
                <a16:creationId xmlns:a16="http://schemas.microsoft.com/office/drawing/2014/main" id="{6B0885AA-A8EC-FC56-C799-1BA43D3C5127}"/>
              </a:ext>
            </a:extLst>
          </p:cNvPr>
          <p:cNvSpPr txBox="1">
            <a:spLocks noChangeArrowheads="1"/>
          </p:cNvSpPr>
          <p:nvPr/>
        </p:nvSpPr>
        <p:spPr bwMode="auto">
          <a:xfrm>
            <a:off x="10344472" y="814693"/>
            <a:ext cx="19915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50000"/>
              </a:spcBef>
              <a:buClrTx/>
              <a:buFontTx/>
              <a:buNone/>
            </a:pPr>
            <a:r>
              <a:rPr lang="zh-CN" altLang="en-US" sz="2400" b="0" dirty="0">
                <a:solidFill>
                  <a:srgbClr val="C00000"/>
                </a:solidFill>
              </a:rPr>
              <a:t>假尿苷（</a:t>
            </a:r>
            <a:r>
              <a:rPr lang="en-US" altLang="zh-CN" sz="2400" b="0" dirty="0">
                <a:solidFill>
                  <a:srgbClr val="C00000"/>
                </a:solidFill>
              </a:rPr>
              <a:t>ψ</a:t>
            </a:r>
            <a:r>
              <a:rPr lang="zh-CN" altLang="en-US" sz="2400" b="0" dirty="0">
                <a:solidFill>
                  <a:srgbClr val="C00000"/>
                </a:solidFill>
              </a:rPr>
              <a:t>）</a:t>
            </a:r>
          </a:p>
        </p:txBody>
      </p:sp>
      <p:sp>
        <p:nvSpPr>
          <p:cNvPr id="6" name="文本框 5">
            <a:extLst>
              <a:ext uri="{FF2B5EF4-FFF2-40B4-BE49-F238E27FC236}">
                <a16:creationId xmlns:a16="http://schemas.microsoft.com/office/drawing/2014/main" id="{5EB1B363-7028-017B-0BB5-CFD3571A9FCF}"/>
              </a:ext>
            </a:extLst>
          </p:cNvPr>
          <p:cNvSpPr txBox="1"/>
          <p:nvPr/>
        </p:nvSpPr>
        <p:spPr>
          <a:xfrm>
            <a:off x="7104112" y="2636912"/>
            <a:ext cx="2330997" cy="430887"/>
          </a:xfrm>
          <a:prstGeom prst="rect">
            <a:avLst/>
          </a:prstGeom>
          <a:noFill/>
        </p:spPr>
        <p:txBody>
          <a:bodyPr wrap="square">
            <a:spAutoFit/>
          </a:bodyPr>
          <a:lstStyle/>
          <a:p>
            <a:r>
              <a:rPr lang="zh-CN" altLang="en-US" sz="2200" dirty="0">
                <a:solidFill>
                  <a:srgbClr val="0000CC"/>
                </a:solidFill>
                <a:latin typeface="微软雅黑" panose="020B0503020204020204" pitchFamily="34" charset="-122"/>
                <a:ea typeface="微软雅黑" panose="020B0503020204020204" pitchFamily="34" charset="-122"/>
              </a:rPr>
              <a:t>次黄嘌呤核苷 </a:t>
            </a:r>
          </a:p>
        </p:txBody>
      </p:sp>
    </p:spTree>
    <p:extLst>
      <p:ext uri="{BB962C8B-B14F-4D97-AF65-F5344CB8AC3E}">
        <p14:creationId xmlns:p14="http://schemas.microsoft.com/office/powerpoint/2010/main" val="2857424432"/>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200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0962" name="Picture 2" descr="tautomer">
            <a:extLst>
              <a:ext uri="{FF2B5EF4-FFF2-40B4-BE49-F238E27FC236}">
                <a16:creationId xmlns:a16="http://schemas.microsoft.com/office/drawing/2014/main" id="{D2D8DF84-4FA2-5185-CA06-A988375F3F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5220"/>
          <a:stretch>
            <a:fillRect/>
          </a:stretch>
        </p:blipFill>
        <p:spPr bwMode="auto">
          <a:xfrm>
            <a:off x="1631950" y="1124745"/>
            <a:ext cx="4357688" cy="35782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0963" name="Text Box 4">
            <a:extLst>
              <a:ext uri="{FF2B5EF4-FFF2-40B4-BE49-F238E27FC236}">
                <a16:creationId xmlns:a16="http://schemas.microsoft.com/office/drawing/2014/main" id="{D58132CF-38E9-541C-16BA-22F2BFADFA17}"/>
              </a:ext>
            </a:extLst>
          </p:cNvPr>
          <p:cNvSpPr txBox="1">
            <a:spLocks noChangeArrowheads="1"/>
          </p:cNvSpPr>
          <p:nvPr/>
        </p:nvSpPr>
        <p:spPr bwMode="auto">
          <a:xfrm>
            <a:off x="2063750" y="4797153"/>
            <a:ext cx="3816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8000"/>
                </a:solidFill>
                <a:latin typeface="黑体" panose="02010609060101010101" pitchFamily="49" charset="-122"/>
                <a:ea typeface="黑体" panose="02010609060101010101" pitchFamily="49"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50000"/>
              </a:spcBef>
              <a:buClrTx/>
              <a:buFontTx/>
              <a:buNone/>
            </a:pPr>
            <a:r>
              <a:rPr lang="zh-CN" altLang="en-US" sz="3200" dirty="0">
                <a:solidFill>
                  <a:srgbClr val="0000CC"/>
                </a:solidFill>
                <a:latin typeface="Times New Roman" panose="02020603050405020304" pitchFamily="18" charset="0"/>
              </a:rPr>
              <a:t>酮式             </a:t>
            </a:r>
            <a:r>
              <a:rPr lang="zh-CN" altLang="en-US" sz="3200" b="0" dirty="0">
                <a:solidFill>
                  <a:srgbClr val="0000CC"/>
                </a:solidFill>
                <a:latin typeface="Times New Roman" panose="02020603050405020304" pitchFamily="18" charset="0"/>
              </a:rPr>
              <a:t>烯醇式</a:t>
            </a:r>
          </a:p>
        </p:txBody>
      </p:sp>
      <p:sp>
        <p:nvSpPr>
          <p:cNvPr id="40964" name="Rectangle 5">
            <a:extLst>
              <a:ext uri="{FF2B5EF4-FFF2-40B4-BE49-F238E27FC236}">
                <a16:creationId xmlns:a16="http://schemas.microsoft.com/office/drawing/2014/main" id="{37A2FDF5-8A4F-6379-31B4-C9279E36E0B0}"/>
              </a:ext>
            </a:extLst>
          </p:cNvPr>
          <p:cNvSpPr>
            <a:spLocks noChangeArrowheads="1"/>
          </p:cNvSpPr>
          <p:nvPr/>
        </p:nvSpPr>
        <p:spPr bwMode="auto">
          <a:xfrm>
            <a:off x="3206751" y="96838"/>
            <a:ext cx="6353175"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8000"/>
                </a:solidFill>
                <a:latin typeface="黑体" panose="02010609060101010101" pitchFamily="49" charset="-122"/>
                <a:ea typeface="黑体" panose="02010609060101010101" pitchFamily="49"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lnSpc>
                <a:spcPct val="130000"/>
              </a:lnSpc>
              <a:spcBef>
                <a:spcPct val="0"/>
              </a:spcBef>
              <a:spcAft>
                <a:spcPct val="30000"/>
              </a:spcAft>
              <a:buClrTx/>
              <a:buFontTx/>
              <a:buNone/>
            </a:pPr>
            <a:r>
              <a:rPr kumimoji="0" lang="zh-CN" altLang="en-US" sz="3600" b="0">
                <a:solidFill>
                  <a:srgbClr val="0000CC"/>
                </a:solidFill>
                <a:latin typeface="Times New Roman" panose="02020603050405020304" pitchFamily="18" charset="0"/>
              </a:rPr>
              <a:t>碱基互变异构体（</a:t>
            </a:r>
            <a:r>
              <a:rPr kumimoji="0" lang="en-US" altLang="zh-CN" sz="3600" b="0">
                <a:solidFill>
                  <a:srgbClr val="0000CC"/>
                </a:solidFill>
                <a:latin typeface="Times New Roman" panose="02020603050405020304" pitchFamily="18" charset="0"/>
              </a:rPr>
              <a:t>tautomers</a:t>
            </a:r>
            <a:r>
              <a:rPr kumimoji="0" lang="zh-CN" altLang="en-US" sz="3600" b="0">
                <a:solidFill>
                  <a:srgbClr val="0000CC"/>
                </a:solidFill>
                <a:latin typeface="Times New Roman" panose="02020603050405020304" pitchFamily="18" charset="0"/>
              </a:rPr>
              <a:t>）</a:t>
            </a:r>
          </a:p>
        </p:txBody>
      </p:sp>
      <p:pic>
        <p:nvPicPr>
          <p:cNvPr id="40965" name="Picture 6" descr="tautomer">
            <a:extLst>
              <a:ext uri="{FF2B5EF4-FFF2-40B4-BE49-F238E27FC236}">
                <a16:creationId xmlns:a16="http://schemas.microsoft.com/office/drawing/2014/main" id="{073D95F8-4287-8689-3063-B2252265F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064" b="49136"/>
          <a:stretch>
            <a:fillRect/>
          </a:stretch>
        </p:blipFill>
        <p:spPr bwMode="auto">
          <a:xfrm>
            <a:off x="6061075" y="1124744"/>
            <a:ext cx="4572000" cy="35861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0966" name="Text Box 7">
            <a:extLst>
              <a:ext uri="{FF2B5EF4-FFF2-40B4-BE49-F238E27FC236}">
                <a16:creationId xmlns:a16="http://schemas.microsoft.com/office/drawing/2014/main" id="{84932827-0CF1-6BE4-C3FA-99585FEA300D}"/>
              </a:ext>
            </a:extLst>
          </p:cNvPr>
          <p:cNvSpPr txBox="1">
            <a:spLocks noChangeArrowheads="1"/>
          </p:cNvSpPr>
          <p:nvPr/>
        </p:nvSpPr>
        <p:spPr bwMode="auto">
          <a:xfrm>
            <a:off x="6383338" y="4797153"/>
            <a:ext cx="39608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8000"/>
                </a:solidFill>
                <a:latin typeface="黑体" panose="02010609060101010101" pitchFamily="49" charset="-122"/>
                <a:ea typeface="黑体" panose="02010609060101010101" pitchFamily="49"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ClrTx/>
              <a:buFontTx/>
              <a:buNone/>
            </a:pPr>
            <a:r>
              <a:rPr lang="zh-CN" altLang="en-US" sz="3200" dirty="0">
                <a:solidFill>
                  <a:srgbClr val="0000CC"/>
                </a:solidFill>
                <a:latin typeface="Times New Roman" panose="02020603050405020304" pitchFamily="18" charset="0"/>
              </a:rPr>
              <a:t>氨式                </a:t>
            </a:r>
            <a:r>
              <a:rPr lang="zh-CN" altLang="en-US" sz="3200" b="0" dirty="0">
                <a:solidFill>
                  <a:srgbClr val="0000CC"/>
                </a:solidFill>
                <a:latin typeface="Times New Roman" panose="02020603050405020304" pitchFamily="18" charset="0"/>
              </a:rPr>
              <a:t>亚氨式</a:t>
            </a:r>
          </a:p>
        </p:txBody>
      </p:sp>
      <p:sp>
        <p:nvSpPr>
          <p:cNvPr id="40967" name="灯片编号占位符 1">
            <a:extLst>
              <a:ext uri="{FF2B5EF4-FFF2-40B4-BE49-F238E27FC236}">
                <a16:creationId xmlns:a16="http://schemas.microsoft.com/office/drawing/2014/main" id="{C1C7C484-2F6D-AA2A-8B49-88D0DACA42BE}"/>
              </a:ext>
            </a:extLst>
          </p:cNvPr>
          <p:cNvSpPr>
            <a:spLocks noGrp="1"/>
          </p:cNvSpPr>
          <p:nvPr>
            <p:ph type="sldNum" sz="quarter" idx="4294967295"/>
          </p:nvPr>
        </p:nvSpPr>
        <p:spPr bwMode="auto">
          <a:xfrm>
            <a:off x="9912350" y="6060282"/>
            <a:ext cx="6937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8000"/>
                </a:solidFill>
                <a:latin typeface="黑体" panose="02010609060101010101" pitchFamily="49" charset="-122"/>
                <a:ea typeface="黑体" panose="02010609060101010101" pitchFamily="49" charset="-122"/>
              </a:defRPr>
            </a:lvl1pPr>
            <a:lvl2pPr indent="-285750">
              <a:spcBef>
                <a:spcPct val="20000"/>
              </a:spcBef>
              <a:buClr>
                <a:schemeClr val="tx2"/>
              </a:buClr>
              <a:buFont typeface="Wingdings" panose="05000000000000000000" pitchFamily="2" charset="2"/>
              <a:buChar char="§"/>
              <a:defRPr sz="2800">
                <a:solidFill>
                  <a:schemeClr val="tx1"/>
                </a:solidFill>
                <a:latin typeface="黑体" panose="02010609060101010101" pitchFamily="49" charset="-122"/>
                <a:ea typeface="黑体" panose="02010609060101010101" pitchFamily="49" charset="-122"/>
              </a:defRPr>
            </a:lvl2pPr>
            <a:lvl3pPr indent="-228600">
              <a:spcBef>
                <a:spcPct val="20000"/>
              </a:spcBef>
              <a:buClr>
                <a:schemeClr val="tx1"/>
              </a:buClr>
              <a:buChar char="•"/>
              <a:defRPr sz="2400">
                <a:solidFill>
                  <a:schemeClr val="tx1"/>
                </a:solidFill>
                <a:latin typeface="黑体" panose="02010609060101010101" pitchFamily="49" charset="-122"/>
                <a:ea typeface="黑体" panose="02010609060101010101" pitchFamily="49" charset="-122"/>
              </a:defRPr>
            </a:lvl3pPr>
            <a:lvl4pPr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spcBef>
                <a:spcPct val="0"/>
              </a:spcBef>
              <a:buClrTx/>
              <a:buFontTx/>
              <a:buNone/>
            </a:pPr>
            <a:fld id="{7EE9098D-C0BB-4D3C-865A-3DAAF039BAD2}" type="slidenum">
              <a:rPr lang="zh-CN" altLang="en-US" sz="1200" b="0">
                <a:solidFill>
                  <a:srgbClr val="898F89"/>
                </a:solidFill>
                <a:latin typeface="微软雅黑" panose="020B0503020204020204" pitchFamily="34" charset="-122"/>
                <a:ea typeface="微软雅黑" panose="020B0503020204020204" pitchFamily="34" charset="-122"/>
              </a:rPr>
              <a:pPr>
                <a:spcBef>
                  <a:spcPct val="0"/>
                </a:spcBef>
                <a:buClrTx/>
                <a:buFontTx/>
                <a:buNone/>
              </a:pPr>
              <a:t>12</a:t>
            </a:fld>
            <a:endParaRPr lang="zh-CN" altLang="en-US" sz="1200" b="0">
              <a:solidFill>
                <a:srgbClr val="898F89"/>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8B836F0D-0B0B-1509-1F1E-C61F5A52E214}"/>
              </a:ext>
            </a:extLst>
          </p:cNvPr>
          <p:cNvSpPr txBox="1"/>
          <p:nvPr/>
        </p:nvSpPr>
        <p:spPr>
          <a:xfrm>
            <a:off x="3287688" y="5644782"/>
            <a:ext cx="5832648" cy="523220"/>
          </a:xfrm>
          <a:prstGeom prst="rect">
            <a:avLst/>
          </a:prstGeom>
          <a:noFill/>
        </p:spPr>
        <p:txBody>
          <a:bodyPr wrap="square">
            <a:spAutoFit/>
          </a:bodyPr>
          <a:lstStyle/>
          <a:p>
            <a:pPr eaLnBrk="1" hangingPunct="1"/>
            <a:r>
              <a:rPr lang="zh-CN" altLang="en-US" sz="2800" dirty="0">
                <a:latin typeface="微软雅黑" panose="020B0503020204020204" pitchFamily="34" charset="-122"/>
                <a:ea typeface="微软雅黑" panose="020B0503020204020204" pitchFamily="34" charset="-122"/>
              </a:rPr>
              <a:t>一般生理</a:t>
            </a:r>
            <a:r>
              <a:rPr lang="en-US" altLang="zh-CN" sz="2800" dirty="0">
                <a:latin typeface="微软雅黑" panose="020B0503020204020204" pitchFamily="34" charset="-122"/>
                <a:ea typeface="微软雅黑" panose="020B0503020204020204" pitchFamily="34" charset="-122"/>
              </a:rPr>
              <a:t>pH</a:t>
            </a:r>
            <a:r>
              <a:rPr lang="zh-CN" altLang="en-US" sz="2800" dirty="0">
                <a:latin typeface="微软雅黑" panose="020B0503020204020204" pitchFamily="34" charset="-122"/>
                <a:ea typeface="微软雅黑" panose="020B0503020204020204" pitchFamily="34" charset="-122"/>
              </a:rPr>
              <a:t>条件下呈酮式、氨式 </a:t>
            </a:r>
            <a:endParaRPr lang="en-US" altLang="zh-CN" sz="2800" dirty="0">
              <a:latin typeface="微软雅黑" panose="020B0503020204020204" pitchFamily="34" charset="-122"/>
              <a:ea typeface="微软雅黑" panose="020B0503020204020204" pitchFamily="34" charset="-122"/>
            </a:endParaRPr>
          </a:p>
        </p:txBody>
      </p:sp>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3">
            <a:extLst>
              <a:ext uri="{FF2B5EF4-FFF2-40B4-BE49-F238E27FC236}">
                <a16:creationId xmlns:a16="http://schemas.microsoft.com/office/drawing/2014/main" id="{1383F771-14D1-4F0D-ACC1-23F6556A7AFA}"/>
              </a:ext>
            </a:extLst>
          </p:cNvPr>
          <p:cNvGrpSpPr>
            <a:grpSpLocks/>
          </p:cNvGrpSpPr>
          <p:nvPr/>
        </p:nvGrpSpPr>
        <p:grpSpPr bwMode="auto">
          <a:xfrm>
            <a:off x="1620392" y="2486463"/>
            <a:ext cx="3963987" cy="3751263"/>
            <a:chOff x="521" y="1162"/>
            <a:chExt cx="2404" cy="2792"/>
          </a:xfrm>
        </p:grpSpPr>
        <p:sp>
          <p:nvSpPr>
            <p:cNvPr id="57356" name="Text Box 4">
              <a:extLst>
                <a:ext uri="{FF2B5EF4-FFF2-40B4-BE49-F238E27FC236}">
                  <a16:creationId xmlns:a16="http://schemas.microsoft.com/office/drawing/2014/main" id="{E9368C18-849F-4C18-8D01-0964FCCCD9C8}"/>
                </a:ext>
              </a:extLst>
            </p:cNvPr>
            <p:cNvSpPr txBox="1">
              <a:spLocks noChangeArrowheads="1"/>
            </p:cNvSpPr>
            <p:nvPr/>
          </p:nvSpPr>
          <p:spPr bwMode="auto">
            <a:xfrm>
              <a:off x="1111" y="3567"/>
              <a:ext cx="1814"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b="0">
                  <a:solidFill>
                    <a:srgbClr val="0000CC"/>
                  </a:solidFill>
                  <a:latin typeface="Times New Roman" panose="02020603050405020304" pitchFamily="18" charset="0"/>
                  <a:ea typeface="黑体" panose="02010609060101010101" pitchFamily="49" charset="-122"/>
                </a:rPr>
                <a:t>（构成</a:t>
              </a:r>
              <a:r>
                <a:rPr lang="en-US" altLang="zh-CN" b="0">
                  <a:solidFill>
                    <a:srgbClr val="0000CC"/>
                  </a:solidFill>
                  <a:latin typeface="Times New Roman" panose="02020603050405020304" pitchFamily="18" charset="0"/>
                  <a:ea typeface="黑体" panose="02010609060101010101" pitchFamily="49" charset="-122"/>
                </a:rPr>
                <a:t>RNA</a:t>
              </a:r>
              <a:r>
                <a:rPr lang="zh-CN" altLang="en-US" b="0">
                  <a:solidFill>
                    <a:srgbClr val="0000CC"/>
                  </a:solidFill>
                  <a:latin typeface="Times New Roman" panose="02020603050405020304" pitchFamily="18" charset="0"/>
                  <a:ea typeface="黑体" panose="02010609060101010101" pitchFamily="49" charset="-122"/>
                </a:rPr>
                <a:t>）</a:t>
              </a:r>
            </a:p>
          </p:txBody>
        </p:sp>
        <p:sp>
          <p:nvSpPr>
            <p:cNvPr id="57357" name="Text Box 5">
              <a:extLst>
                <a:ext uri="{FF2B5EF4-FFF2-40B4-BE49-F238E27FC236}">
                  <a16:creationId xmlns:a16="http://schemas.microsoft.com/office/drawing/2014/main" id="{FB2A98BF-99E6-45DF-ACFC-3020AC550E8E}"/>
                </a:ext>
              </a:extLst>
            </p:cNvPr>
            <p:cNvSpPr txBox="1">
              <a:spLocks noChangeArrowheads="1"/>
            </p:cNvSpPr>
            <p:nvPr/>
          </p:nvSpPr>
          <p:spPr bwMode="auto">
            <a:xfrm>
              <a:off x="2428" y="1751"/>
              <a:ext cx="340"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a:solidFill>
                    <a:srgbClr val="660033"/>
                  </a:solidFill>
                  <a:latin typeface="Times New Roman" panose="02020603050405020304" pitchFamily="18" charset="0"/>
                  <a:ea typeface="黑体" panose="02010609060101010101" pitchFamily="49" charset="-122"/>
                </a:rPr>
                <a:t>1</a:t>
              </a:r>
              <a:r>
                <a:rPr lang="en-US" altLang="zh-CN">
                  <a:solidFill>
                    <a:srgbClr val="660033"/>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a:solidFill>
                  <a:srgbClr val="660033"/>
                </a:solidFill>
                <a:latin typeface="Times New Roman" panose="02020603050405020304" pitchFamily="18" charset="0"/>
                <a:ea typeface="黑体" panose="02010609060101010101" pitchFamily="49" charset="-122"/>
              </a:endParaRPr>
            </a:p>
          </p:txBody>
        </p:sp>
        <p:sp>
          <p:nvSpPr>
            <p:cNvPr id="57358" name="Text Box 6">
              <a:extLst>
                <a:ext uri="{FF2B5EF4-FFF2-40B4-BE49-F238E27FC236}">
                  <a16:creationId xmlns:a16="http://schemas.microsoft.com/office/drawing/2014/main" id="{08262BBC-C5AA-4A7A-8E80-BBDE83019F1C}"/>
                </a:ext>
              </a:extLst>
            </p:cNvPr>
            <p:cNvSpPr txBox="1">
              <a:spLocks noChangeArrowheads="1"/>
            </p:cNvSpPr>
            <p:nvPr/>
          </p:nvSpPr>
          <p:spPr bwMode="auto">
            <a:xfrm>
              <a:off x="1973" y="2068"/>
              <a:ext cx="342"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a:solidFill>
                    <a:srgbClr val="660033"/>
                  </a:solidFill>
                  <a:latin typeface="Times New Roman" panose="02020603050405020304" pitchFamily="18" charset="0"/>
                  <a:ea typeface="黑体" panose="02010609060101010101" pitchFamily="49" charset="-122"/>
                </a:rPr>
                <a:t>2</a:t>
              </a:r>
              <a:r>
                <a:rPr lang="en-US" altLang="zh-CN">
                  <a:solidFill>
                    <a:srgbClr val="660033"/>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a:solidFill>
                  <a:srgbClr val="660033"/>
                </a:solidFill>
                <a:latin typeface="Times New Roman" panose="02020603050405020304" pitchFamily="18" charset="0"/>
                <a:ea typeface="黑体" panose="02010609060101010101" pitchFamily="49" charset="-122"/>
              </a:endParaRPr>
            </a:p>
          </p:txBody>
        </p:sp>
        <p:sp>
          <p:nvSpPr>
            <p:cNvPr id="57359" name="Text Box 7">
              <a:extLst>
                <a:ext uri="{FF2B5EF4-FFF2-40B4-BE49-F238E27FC236}">
                  <a16:creationId xmlns:a16="http://schemas.microsoft.com/office/drawing/2014/main" id="{1CB8C60F-7ACF-45D4-B4F4-1FA9AD616B59}"/>
                </a:ext>
              </a:extLst>
            </p:cNvPr>
            <p:cNvSpPr txBox="1">
              <a:spLocks noChangeArrowheads="1"/>
            </p:cNvSpPr>
            <p:nvPr/>
          </p:nvSpPr>
          <p:spPr bwMode="auto">
            <a:xfrm>
              <a:off x="1474" y="2068"/>
              <a:ext cx="342"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a:solidFill>
                    <a:srgbClr val="660033"/>
                  </a:solidFill>
                  <a:latin typeface="Times New Roman" panose="02020603050405020304" pitchFamily="18" charset="0"/>
                  <a:ea typeface="黑体" panose="02010609060101010101" pitchFamily="49" charset="-122"/>
                </a:rPr>
                <a:t>3</a:t>
              </a:r>
              <a:r>
                <a:rPr lang="en-US" altLang="zh-CN">
                  <a:solidFill>
                    <a:srgbClr val="660033"/>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a:solidFill>
                  <a:srgbClr val="660033"/>
                </a:solidFill>
                <a:latin typeface="Times New Roman" panose="02020603050405020304" pitchFamily="18" charset="0"/>
                <a:ea typeface="黑体" panose="02010609060101010101" pitchFamily="49" charset="-122"/>
              </a:endParaRPr>
            </a:p>
          </p:txBody>
        </p:sp>
        <p:sp>
          <p:nvSpPr>
            <p:cNvPr id="57360" name="Text Box 8">
              <a:extLst>
                <a:ext uri="{FF2B5EF4-FFF2-40B4-BE49-F238E27FC236}">
                  <a16:creationId xmlns:a16="http://schemas.microsoft.com/office/drawing/2014/main" id="{041A343C-6486-400D-A10C-3C7B4F293D55}"/>
                </a:ext>
              </a:extLst>
            </p:cNvPr>
            <p:cNvSpPr txBox="1">
              <a:spLocks noChangeArrowheads="1"/>
            </p:cNvSpPr>
            <p:nvPr/>
          </p:nvSpPr>
          <p:spPr bwMode="auto">
            <a:xfrm>
              <a:off x="1018" y="1798"/>
              <a:ext cx="344"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a:solidFill>
                    <a:srgbClr val="660033"/>
                  </a:solidFill>
                  <a:latin typeface="Times New Roman" panose="02020603050405020304" pitchFamily="18" charset="0"/>
                  <a:ea typeface="黑体" panose="02010609060101010101" pitchFamily="49" charset="-122"/>
                </a:rPr>
                <a:t>4</a:t>
              </a:r>
              <a:r>
                <a:rPr lang="en-US" altLang="zh-CN">
                  <a:solidFill>
                    <a:srgbClr val="660033"/>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a:solidFill>
                  <a:srgbClr val="660033"/>
                </a:solidFill>
                <a:latin typeface="Times New Roman" panose="02020603050405020304" pitchFamily="18" charset="0"/>
                <a:ea typeface="黑体" panose="02010609060101010101" pitchFamily="49" charset="-122"/>
              </a:endParaRPr>
            </a:p>
          </p:txBody>
        </p:sp>
        <p:sp>
          <p:nvSpPr>
            <p:cNvPr id="57361" name="Text Box 9">
              <a:extLst>
                <a:ext uri="{FF2B5EF4-FFF2-40B4-BE49-F238E27FC236}">
                  <a16:creationId xmlns:a16="http://schemas.microsoft.com/office/drawing/2014/main" id="{D2A0AC58-7B1B-4B22-8DEA-5DC3B4E6DC72}"/>
                </a:ext>
              </a:extLst>
            </p:cNvPr>
            <p:cNvSpPr txBox="1">
              <a:spLocks noChangeArrowheads="1"/>
            </p:cNvSpPr>
            <p:nvPr/>
          </p:nvSpPr>
          <p:spPr bwMode="auto">
            <a:xfrm>
              <a:off x="1017" y="1394"/>
              <a:ext cx="341"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a:solidFill>
                    <a:srgbClr val="660033"/>
                  </a:solidFill>
                  <a:latin typeface="Times New Roman" panose="02020603050405020304" pitchFamily="18" charset="0"/>
                  <a:ea typeface="黑体" panose="02010609060101010101" pitchFamily="49" charset="-122"/>
                </a:rPr>
                <a:t>5</a:t>
              </a:r>
              <a:r>
                <a:rPr lang="en-US" altLang="zh-CN">
                  <a:solidFill>
                    <a:srgbClr val="660033"/>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a:solidFill>
                  <a:srgbClr val="660033"/>
                </a:solidFill>
                <a:latin typeface="Times New Roman" panose="02020603050405020304" pitchFamily="18" charset="0"/>
                <a:ea typeface="黑体" panose="02010609060101010101" pitchFamily="49" charset="-122"/>
              </a:endParaRPr>
            </a:p>
          </p:txBody>
        </p:sp>
        <p:graphicFrame>
          <p:nvGraphicFramePr>
            <p:cNvPr id="57362" name="Object 2054">
              <a:extLst>
                <a:ext uri="{FF2B5EF4-FFF2-40B4-BE49-F238E27FC236}">
                  <a16:creationId xmlns:a16="http://schemas.microsoft.com/office/drawing/2014/main" id="{EDC06C02-5402-4C01-9186-27D97295435B}"/>
                </a:ext>
              </a:extLst>
            </p:cNvPr>
            <p:cNvGraphicFramePr>
              <a:graphicFrameLocks noChangeAspect="1"/>
            </p:cNvGraphicFramePr>
            <p:nvPr/>
          </p:nvGraphicFramePr>
          <p:xfrm>
            <a:off x="521" y="1162"/>
            <a:ext cx="2132" cy="1904"/>
          </p:xfrm>
          <a:graphic>
            <a:graphicData uri="http://schemas.openxmlformats.org/presentationml/2006/ole">
              <mc:AlternateContent xmlns:mc="http://schemas.openxmlformats.org/markup-compatibility/2006">
                <mc:Choice xmlns:v="urn:schemas-microsoft-com:vml" Requires="v">
                  <p:oleObj name="ChemSketch" r:id="rId3" imgW="1258824" imgH="1124712" progId="ACD.ChemSketch.20">
                    <p:embed/>
                  </p:oleObj>
                </mc:Choice>
                <mc:Fallback>
                  <p:oleObj name="ChemSketch" r:id="rId3" imgW="1258824" imgH="1124712" progId="ACD.ChemSketch.20">
                    <p:embed/>
                    <p:pic>
                      <p:nvPicPr>
                        <p:cNvPr id="0" name="Object 20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 y="1162"/>
                          <a:ext cx="2132" cy="1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63" name="Text Box 11">
              <a:extLst>
                <a:ext uri="{FF2B5EF4-FFF2-40B4-BE49-F238E27FC236}">
                  <a16:creationId xmlns:a16="http://schemas.microsoft.com/office/drawing/2014/main" id="{397E4828-9F54-4564-BBE2-6699D675D978}"/>
                </a:ext>
              </a:extLst>
            </p:cNvPr>
            <p:cNvSpPr txBox="1">
              <a:spLocks noChangeArrowheads="1"/>
            </p:cNvSpPr>
            <p:nvPr/>
          </p:nvSpPr>
          <p:spPr bwMode="auto">
            <a:xfrm>
              <a:off x="1247" y="3247"/>
              <a:ext cx="1461"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b="0">
                  <a:solidFill>
                    <a:schemeClr val="tx1"/>
                  </a:solidFill>
                  <a:latin typeface="Times New Roman" panose="02020603050405020304" pitchFamily="18" charset="0"/>
                  <a:ea typeface="黑体" panose="02010609060101010101" pitchFamily="49" charset="-122"/>
                </a:rPr>
                <a:t>核糖</a:t>
              </a:r>
              <a:r>
                <a:rPr lang="en-US" altLang="zh-CN">
                  <a:solidFill>
                    <a:schemeClr val="tx1"/>
                  </a:solidFill>
                  <a:latin typeface="Times New Roman" panose="02020603050405020304" pitchFamily="18" charset="0"/>
                  <a:ea typeface="黑体" panose="02010609060101010101" pitchFamily="49" charset="-122"/>
                </a:rPr>
                <a:t>(ribose,</a:t>
              </a:r>
              <a:r>
                <a:rPr lang="en-US" altLang="zh-CN">
                  <a:solidFill>
                    <a:srgbClr val="FF0000"/>
                  </a:solidFill>
                  <a:latin typeface="Times New Roman" panose="02020603050405020304" pitchFamily="18" charset="0"/>
                  <a:ea typeface="黑体" panose="02010609060101010101" pitchFamily="49" charset="-122"/>
                </a:rPr>
                <a:t>R</a:t>
              </a:r>
              <a:r>
                <a:rPr lang="en-US" altLang="zh-CN">
                  <a:solidFill>
                    <a:schemeClr val="tx1"/>
                  </a:solidFill>
                  <a:latin typeface="Times New Roman" panose="02020603050405020304" pitchFamily="18" charset="0"/>
                  <a:ea typeface="黑体" panose="02010609060101010101" pitchFamily="49" charset="-122"/>
                </a:rPr>
                <a:t>)</a:t>
              </a:r>
            </a:p>
          </p:txBody>
        </p:sp>
      </p:grpSp>
      <p:grpSp>
        <p:nvGrpSpPr>
          <p:cNvPr id="57347" name="Group 21">
            <a:extLst>
              <a:ext uri="{FF2B5EF4-FFF2-40B4-BE49-F238E27FC236}">
                <a16:creationId xmlns:a16="http://schemas.microsoft.com/office/drawing/2014/main" id="{2EE9F4F6-8D29-4E63-A094-84E924D7A82B}"/>
              </a:ext>
            </a:extLst>
          </p:cNvPr>
          <p:cNvGrpSpPr>
            <a:grpSpLocks/>
          </p:cNvGrpSpPr>
          <p:nvPr/>
        </p:nvGrpSpPr>
        <p:grpSpPr bwMode="auto">
          <a:xfrm>
            <a:off x="6866503" y="2413120"/>
            <a:ext cx="4205287" cy="3835400"/>
            <a:chOff x="3111" y="1872"/>
            <a:chExt cx="2649" cy="2221"/>
          </a:xfrm>
        </p:grpSpPr>
        <p:sp>
          <p:nvSpPr>
            <p:cNvPr id="57351" name="Rectangle 13">
              <a:extLst>
                <a:ext uri="{FF2B5EF4-FFF2-40B4-BE49-F238E27FC236}">
                  <a16:creationId xmlns:a16="http://schemas.microsoft.com/office/drawing/2014/main" id="{1FC1FA9E-FDC9-4748-B64B-26170059D0F9}"/>
                </a:ext>
              </a:extLst>
            </p:cNvPr>
            <p:cNvSpPr>
              <a:spLocks noChangeArrowheads="1"/>
            </p:cNvSpPr>
            <p:nvPr/>
          </p:nvSpPr>
          <p:spPr bwMode="auto">
            <a:xfrm>
              <a:off x="3335" y="3790"/>
              <a:ext cx="1686"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r" eaLnBrk="1" hangingPunct="1">
                <a:spcBef>
                  <a:spcPct val="0"/>
                </a:spcBef>
                <a:buClrTx/>
                <a:buFontTx/>
                <a:buNone/>
              </a:pPr>
              <a:r>
                <a:rPr lang="zh-CN" altLang="en-US" b="0">
                  <a:solidFill>
                    <a:srgbClr val="0000CC"/>
                  </a:solidFill>
                  <a:latin typeface="Times New Roman" panose="02020603050405020304" pitchFamily="18" charset="0"/>
                  <a:ea typeface="黑体" panose="02010609060101010101" pitchFamily="49" charset="-122"/>
                </a:rPr>
                <a:t>（构成</a:t>
              </a:r>
              <a:r>
                <a:rPr lang="en-US" altLang="zh-CN" b="0">
                  <a:solidFill>
                    <a:srgbClr val="0000CC"/>
                  </a:solidFill>
                  <a:latin typeface="Times New Roman" panose="02020603050405020304" pitchFamily="18" charset="0"/>
                  <a:ea typeface="黑体" panose="02010609060101010101" pitchFamily="49" charset="-122"/>
                </a:rPr>
                <a:t>DNA</a:t>
              </a:r>
              <a:r>
                <a:rPr lang="zh-CN" altLang="en-US" b="0">
                  <a:solidFill>
                    <a:srgbClr val="0000CC"/>
                  </a:solidFill>
                  <a:latin typeface="Times New Roman" panose="02020603050405020304" pitchFamily="18" charset="0"/>
                  <a:ea typeface="黑体" panose="02010609060101010101" pitchFamily="49" charset="-122"/>
                </a:rPr>
                <a:t>）</a:t>
              </a:r>
            </a:p>
          </p:txBody>
        </p:sp>
        <p:graphicFrame>
          <p:nvGraphicFramePr>
            <p:cNvPr id="57352" name="Object 2053">
              <a:extLst>
                <a:ext uri="{FF2B5EF4-FFF2-40B4-BE49-F238E27FC236}">
                  <a16:creationId xmlns:a16="http://schemas.microsoft.com/office/drawing/2014/main" id="{AE1D48BC-A09C-4FF2-947C-61945F70A5CD}"/>
                </a:ext>
              </a:extLst>
            </p:cNvPr>
            <p:cNvGraphicFramePr>
              <a:graphicFrameLocks noChangeAspect="1"/>
            </p:cNvGraphicFramePr>
            <p:nvPr/>
          </p:nvGraphicFramePr>
          <p:xfrm>
            <a:off x="3264" y="1872"/>
            <a:ext cx="1827" cy="1529"/>
          </p:xfrm>
          <a:graphic>
            <a:graphicData uri="http://schemas.openxmlformats.org/presentationml/2006/ole">
              <mc:AlternateContent xmlns:mc="http://schemas.openxmlformats.org/markup-compatibility/2006">
                <mc:Choice xmlns:v="urn:schemas-microsoft-com:vml" Requires="v">
                  <p:oleObj name="ChemSketch" r:id="rId5" imgW="1258824" imgH="1124712" progId="ACD.ChemSketch.20">
                    <p:embed/>
                  </p:oleObj>
                </mc:Choice>
                <mc:Fallback>
                  <p:oleObj name="ChemSketch" r:id="rId5" imgW="1258824" imgH="1124712" progId="ACD.ChemSketch.20">
                    <p:embed/>
                    <p:pic>
                      <p:nvPicPr>
                        <p:cNvPr id="0" name="Object 20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4" y="1872"/>
                          <a:ext cx="1827" cy="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53" name="Rectangle 15">
              <a:extLst>
                <a:ext uri="{FF2B5EF4-FFF2-40B4-BE49-F238E27FC236}">
                  <a16:creationId xmlns:a16="http://schemas.microsoft.com/office/drawing/2014/main" id="{D59C9ACE-F927-41B8-B256-7BC7F460A242}"/>
                </a:ext>
              </a:extLst>
            </p:cNvPr>
            <p:cNvSpPr>
              <a:spLocks noChangeArrowheads="1"/>
            </p:cNvSpPr>
            <p:nvPr/>
          </p:nvSpPr>
          <p:spPr bwMode="auto">
            <a:xfrm>
              <a:off x="3111" y="3547"/>
              <a:ext cx="264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b="0">
                  <a:solidFill>
                    <a:schemeClr val="tx1"/>
                  </a:solidFill>
                  <a:latin typeface="Times New Roman" panose="02020603050405020304" pitchFamily="18" charset="0"/>
                  <a:ea typeface="黑体" panose="02010609060101010101" pitchFamily="49" charset="-122"/>
                </a:rPr>
                <a:t>脱氧核糖</a:t>
              </a:r>
              <a:r>
                <a:rPr lang="en-US" altLang="zh-CN" b="0">
                  <a:solidFill>
                    <a:schemeClr val="tx1"/>
                  </a:solidFill>
                  <a:latin typeface="Times New Roman" panose="02020603050405020304" pitchFamily="18" charset="0"/>
                  <a:ea typeface="黑体" panose="02010609060101010101" pitchFamily="49" charset="-122"/>
                </a:rPr>
                <a:t>(deoxyribose,</a:t>
              </a:r>
              <a:r>
                <a:rPr lang="en-US" altLang="zh-CN" b="0">
                  <a:solidFill>
                    <a:srgbClr val="FF0000"/>
                  </a:solidFill>
                  <a:latin typeface="Times New Roman" panose="02020603050405020304" pitchFamily="18" charset="0"/>
                  <a:ea typeface="黑体" panose="02010609060101010101" pitchFamily="49" charset="-122"/>
                </a:rPr>
                <a:t>dR</a:t>
              </a:r>
              <a:r>
                <a:rPr lang="en-US" altLang="zh-CN" b="0">
                  <a:solidFill>
                    <a:schemeClr val="tx1"/>
                  </a:solidFill>
                  <a:latin typeface="Times New Roman" panose="02020603050405020304" pitchFamily="18" charset="0"/>
                  <a:ea typeface="黑体" panose="02010609060101010101" pitchFamily="49" charset="-122"/>
                </a:rPr>
                <a:t>)</a:t>
              </a:r>
            </a:p>
          </p:txBody>
        </p:sp>
        <p:sp>
          <p:nvSpPr>
            <p:cNvPr id="57354" name="Line 16">
              <a:extLst>
                <a:ext uri="{FF2B5EF4-FFF2-40B4-BE49-F238E27FC236}">
                  <a16:creationId xmlns:a16="http://schemas.microsoft.com/office/drawing/2014/main" id="{080DF9E0-E302-40B9-A7FE-6C814C141FEB}"/>
                </a:ext>
              </a:extLst>
            </p:cNvPr>
            <p:cNvSpPr>
              <a:spLocks noChangeShapeType="1"/>
            </p:cNvSpPr>
            <p:nvPr/>
          </p:nvSpPr>
          <p:spPr bwMode="auto">
            <a:xfrm>
              <a:off x="4704" y="2832"/>
              <a:ext cx="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5" name="Text Box 17">
              <a:extLst>
                <a:ext uri="{FF2B5EF4-FFF2-40B4-BE49-F238E27FC236}">
                  <a16:creationId xmlns:a16="http://schemas.microsoft.com/office/drawing/2014/main" id="{41A1B3DA-DBC3-41C5-A6A0-ED6BBFC7BBF8}"/>
                </a:ext>
              </a:extLst>
            </p:cNvPr>
            <p:cNvSpPr txBox="1">
              <a:spLocks noChangeArrowheads="1"/>
            </p:cNvSpPr>
            <p:nvPr/>
          </p:nvSpPr>
          <p:spPr bwMode="auto">
            <a:xfrm>
              <a:off x="4608" y="3168"/>
              <a:ext cx="28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sz="2400" b="0">
                  <a:solidFill>
                    <a:srgbClr val="FF0000"/>
                  </a:solidFill>
                  <a:latin typeface="Times New Roman" panose="02020603050405020304" pitchFamily="18" charset="0"/>
                  <a:ea typeface="黑体" panose="02010609060101010101" pitchFamily="49" charset="-122"/>
                </a:rPr>
                <a:t>H</a:t>
              </a:r>
            </a:p>
          </p:txBody>
        </p:sp>
      </p:grpSp>
      <p:sp>
        <p:nvSpPr>
          <p:cNvPr id="57348" name="Rectangle 18">
            <a:extLst>
              <a:ext uri="{FF2B5EF4-FFF2-40B4-BE49-F238E27FC236}">
                <a16:creationId xmlns:a16="http://schemas.microsoft.com/office/drawing/2014/main" id="{36FD2ACD-CAAB-4C86-9D33-6DE9076B2BF8}"/>
              </a:ext>
            </a:extLst>
          </p:cNvPr>
          <p:cNvSpPr>
            <a:spLocks noChangeArrowheads="1"/>
          </p:cNvSpPr>
          <p:nvPr/>
        </p:nvSpPr>
        <p:spPr bwMode="auto">
          <a:xfrm>
            <a:off x="2304896" y="1260788"/>
            <a:ext cx="8039576" cy="624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40000"/>
              </a:lnSpc>
              <a:spcBef>
                <a:spcPct val="0"/>
              </a:spcBef>
              <a:buClrTx/>
              <a:buFontTx/>
              <a:buNone/>
            </a:pPr>
            <a:r>
              <a:rPr lang="zh-CN" altLang="en-US" b="0" dirty="0">
                <a:solidFill>
                  <a:schemeClr val="tx1"/>
                </a:solidFill>
                <a:latin typeface="Times New Roman" panose="02020603050405020304" pitchFamily="18" charset="0"/>
                <a:ea typeface="黑体" panose="02010609060101010101" pitchFamily="49" charset="-122"/>
              </a:rPr>
              <a:t>有</a:t>
            </a:r>
            <a:r>
              <a:rPr lang="zh-CN" altLang="en-US" b="0" dirty="0">
                <a:solidFill>
                  <a:srgbClr val="FF0000"/>
                </a:solidFill>
                <a:latin typeface="Times New Roman" panose="02020603050405020304" pitchFamily="18" charset="0"/>
                <a:ea typeface="黑体" panose="02010609060101010101" pitchFamily="49" charset="-122"/>
              </a:rPr>
              <a:t>核糖（</a:t>
            </a:r>
            <a:r>
              <a:rPr lang="en-US" altLang="zh-CN" b="0" dirty="0">
                <a:solidFill>
                  <a:srgbClr val="FF0000"/>
                </a:solidFill>
                <a:latin typeface="Times New Roman" panose="02020603050405020304" pitchFamily="18" charset="0"/>
                <a:ea typeface="黑体" panose="02010609060101010101" pitchFamily="49" charset="-122"/>
              </a:rPr>
              <a:t>ribose)</a:t>
            </a:r>
            <a:r>
              <a:rPr lang="zh-CN" altLang="en-US" b="0" dirty="0">
                <a:solidFill>
                  <a:schemeClr val="tx1"/>
                </a:solidFill>
                <a:latin typeface="Times New Roman" panose="02020603050405020304" pitchFamily="18" charset="0"/>
                <a:ea typeface="黑体" panose="02010609060101010101" pitchFamily="49" charset="-122"/>
              </a:rPr>
              <a:t>和</a:t>
            </a:r>
            <a:r>
              <a:rPr lang="zh-CN" altLang="en-US" b="0" dirty="0">
                <a:solidFill>
                  <a:srgbClr val="FF0000"/>
                </a:solidFill>
                <a:latin typeface="Times New Roman" panose="02020603050405020304" pitchFamily="18" charset="0"/>
                <a:ea typeface="黑体" panose="02010609060101010101" pitchFamily="49" charset="-122"/>
              </a:rPr>
              <a:t>脱氧核糖</a:t>
            </a:r>
            <a:r>
              <a:rPr lang="en-US" altLang="zh-CN" b="0" dirty="0">
                <a:solidFill>
                  <a:srgbClr val="FF0000"/>
                </a:solidFill>
                <a:latin typeface="Times New Roman" panose="02020603050405020304" pitchFamily="18" charset="0"/>
                <a:ea typeface="黑体" panose="02010609060101010101" pitchFamily="49" charset="-122"/>
              </a:rPr>
              <a:t>(deoxyribose)</a:t>
            </a:r>
            <a:r>
              <a:rPr lang="zh-CN" altLang="en-US" b="0" dirty="0">
                <a:solidFill>
                  <a:schemeClr val="tx1"/>
                </a:solidFill>
                <a:latin typeface="Times New Roman" panose="02020603050405020304" pitchFamily="18" charset="0"/>
                <a:ea typeface="黑体" panose="02010609060101010101" pitchFamily="49" charset="-122"/>
              </a:rPr>
              <a:t>两种</a:t>
            </a:r>
          </a:p>
        </p:txBody>
      </p:sp>
      <p:sp>
        <p:nvSpPr>
          <p:cNvPr id="57349" name="Text Box 19">
            <a:extLst>
              <a:ext uri="{FF2B5EF4-FFF2-40B4-BE49-F238E27FC236}">
                <a16:creationId xmlns:a16="http://schemas.microsoft.com/office/drawing/2014/main" id="{E87790A0-A803-4385-A315-13E0458E0BA9}"/>
              </a:ext>
            </a:extLst>
          </p:cNvPr>
          <p:cNvSpPr txBox="1">
            <a:spLocks noChangeArrowheads="1"/>
          </p:cNvSpPr>
          <p:nvPr/>
        </p:nvSpPr>
        <p:spPr bwMode="auto">
          <a:xfrm>
            <a:off x="4668839" y="28576"/>
            <a:ext cx="3094037"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a:solidFill>
                  <a:srgbClr val="0000CC"/>
                </a:solidFill>
                <a:latin typeface="Times New Roman" panose="02020603050405020304" pitchFamily="18" charset="0"/>
                <a:ea typeface="黑体" panose="02010609060101010101" pitchFamily="49" charset="-122"/>
              </a:rPr>
              <a:t>戊 糖</a:t>
            </a:r>
            <a:r>
              <a:rPr kumimoji="0" lang="en-US" altLang="zh-CN" sz="3600">
                <a:solidFill>
                  <a:srgbClr val="0000CC"/>
                </a:solidFill>
                <a:latin typeface="Times New Roman" panose="02020603050405020304" pitchFamily="18" charset="0"/>
                <a:ea typeface="黑体" panose="02010609060101010101" pitchFamily="49" charset="-122"/>
              </a:rPr>
              <a:t>(pentose)</a:t>
            </a:r>
          </a:p>
        </p:txBody>
      </p:sp>
      <p:sp>
        <p:nvSpPr>
          <p:cNvPr id="57350" name="灯片编号占位符 1">
            <a:extLst>
              <a:ext uri="{FF2B5EF4-FFF2-40B4-BE49-F238E27FC236}">
                <a16:creationId xmlns:a16="http://schemas.microsoft.com/office/drawing/2014/main" id="{E30D54F2-3006-4C1C-B611-4B8FAF7344BE}"/>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81377B88-BA4F-4259-9423-35048D11A29E}" type="slidenum">
              <a:rPr lang="zh-CN" altLang="en-US" sz="1200" b="0">
                <a:solidFill>
                  <a:srgbClr val="898F89"/>
                </a:solidFill>
              </a:rPr>
              <a:pPr>
                <a:spcBef>
                  <a:spcPct val="0"/>
                </a:spcBef>
                <a:buClrTx/>
                <a:buFontTx/>
                <a:buNone/>
              </a:pPr>
              <a:t>13</a:t>
            </a:fld>
            <a:endParaRPr lang="zh-CN" altLang="en-US" sz="1200" b="0">
              <a:solidFill>
                <a:srgbClr val="898F89"/>
              </a:solidFill>
            </a:endParaRPr>
          </a:p>
        </p:txBody>
      </p:sp>
    </p:spTree>
  </p:cSld>
  <p:clrMapOvr>
    <a:masterClrMapping/>
  </p:clrMapOvr>
  <p:transition spd="slow">
    <p:circle/>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8914" name="图片 1">
            <a:extLst>
              <a:ext uri="{FF2B5EF4-FFF2-40B4-BE49-F238E27FC236}">
                <a16:creationId xmlns:a16="http://schemas.microsoft.com/office/drawing/2014/main" id="{72D75F6F-E95D-ACEE-26D9-AA8297214D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1465" y="692151"/>
            <a:ext cx="6506654" cy="5141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5" name="图片 2">
            <a:extLst>
              <a:ext uri="{FF2B5EF4-FFF2-40B4-BE49-F238E27FC236}">
                <a16:creationId xmlns:a16="http://schemas.microsoft.com/office/drawing/2014/main" id="{A691F677-7AB9-E162-A3C7-53D6FAF1FC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8208" y="1628800"/>
            <a:ext cx="3024187"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文本框 4">
            <a:extLst>
              <a:ext uri="{FF2B5EF4-FFF2-40B4-BE49-F238E27FC236}">
                <a16:creationId xmlns:a16="http://schemas.microsoft.com/office/drawing/2014/main" id="{7509FC6C-4070-B7FD-5DCE-FB571736ACAE}"/>
              </a:ext>
            </a:extLst>
          </p:cNvPr>
          <p:cNvSpPr txBox="1">
            <a:spLocks noChangeArrowheads="1"/>
          </p:cNvSpPr>
          <p:nvPr/>
        </p:nvSpPr>
        <p:spPr bwMode="auto">
          <a:xfrm>
            <a:off x="4295800" y="6040169"/>
            <a:ext cx="5905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8000"/>
                </a:solidFill>
                <a:latin typeface="黑体" panose="02010609060101010101" pitchFamily="49" charset="-122"/>
                <a:ea typeface="黑体" panose="02010609060101010101" pitchFamily="49"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spcBef>
                <a:spcPct val="0"/>
              </a:spcBef>
              <a:buClrTx/>
              <a:buFontTx/>
              <a:buNone/>
            </a:pPr>
            <a:r>
              <a:rPr lang="zh-CN" altLang="en-US" dirty="0">
                <a:solidFill>
                  <a:srgbClr val="0000CC"/>
                </a:solidFill>
                <a:latin typeface="Times New Roman" panose="02020603050405020304" pitchFamily="18" charset="0"/>
                <a:ea typeface="宋体" panose="02010600030101010101" pitchFamily="2" charset="-122"/>
              </a:rPr>
              <a:t>碱性条件下，</a:t>
            </a:r>
            <a:r>
              <a:rPr lang="en-US" altLang="zh-CN" dirty="0">
                <a:solidFill>
                  <a:srgbClr val="0000CC"/>
                </a:solidFill>
                <a:latin typeface="Times New Roman" panose="02020603050405020304" pitchFamily="18" charset="0"/>
                <a:ea typeface="宋体" panose="02010600030101010101" pitchFamily="2" charset="-122"/>
              </a:rPr>
              <a:t>RNA</a:t>
            </a:r>
            <a:r>
              <a:rPr lang="zh-CN" altLang="en-US" dirty="0">
                <a:solidFill>
                  <a:srgbClr val="0000CC"/>
                </a:solidFill>
                <a:latin typeface="Times New Roman" panose="02020603050405020304" pitchFamily="18" charset="0"/>
                <a:ea typeface="宋体" panose="02010600030101010101" pitchFamily="2" charset="-122"/>
              </a:rPr>
              <a:t>很容易降解</a:t>
            </a:r>
          </a:p>
        </p:txBody>
      </p:sp>
      <p:pic>
        <p:nvPicPr>
          <p:cNvPr id="38917" name="图片 4">
            <a:extLst>
              <a:ext uri="{FF2B5EF4-FFF2-40B4-BE49-F238E27FC236}">
                <a16:creationId xmlns:a16="http://schemas.microsoft.com/office/drawing/2014/main" id="{A643688E-8DEA-C6D6-22C3-E3BE96BD8A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1465" y="223477"/>
            <a:ext cx="408463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1442" name="图片 1">
            <a:extLst>
              <a:ext uri="{FF2B5EF4-FFF2-40B4-BE49-F238E27FC236}">
                <a16:creationId xmlns:a16="http://schemas.microsoft.com/office/drawing/2014/main" id="{6A21A7EC-EC93-45D9-9063-ADD2A9C4A1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448" y="908720"/>
            <a:ext cx="10574786" cy="3492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3" name="矩形 2">
            <a:extLst>
              <a:ext uri="{FF2B5EF4-FFF2-40B4-BE49-F238E27FC236}">
                <a16:creationId xmlns:a16="http://schemas.microsoft.com/office/drawing/2014/main" id="{E0761580-E1D3-45C2-AE4C-5CA7FD7417D6}"/>
              </a:ext>
            </a:extLst>
          </p:cNvPr>
          <p:cNvSpPr>
            <a:spLocks noChangeArrowheads="1"/>
          </p:cNvSpPr>
          <p:nvPr/>
        </p:nvSpPr>
        <p:spPr bwMode="auto">
          <a:xfrm>
            <a:off x="1847528" y="4869160"/>
            <a:ext cx="9312929" cy="1384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nSpc>
                <a:spcPct val="120000"/>
              </a:lnSpc>
              <a:spcBef>
                <a:spcPct val="0"/>
              </a:spcBef>
              <a:buClrTx/>
              <a:buFontTx/>
              <a:buNone/>
            </a:pPr>
            <a:r>
              <a:rPr lang="zh-CN" altLang="en-US" sz="2400" b="0" dirty="0"/>
              <a:t>利用</a:t>
            </a:r>
            <a:r>
              <a:rPr lang="en-US" altLang="zh-CN" sz="2400" b="0" dirty="0"/>
              <a:t>mRNA</a:t>
            </a:r>
            <a:r>
              <a:rPr lang="zh-CN" altLang="en-US" sz="2400" b="0" dirty="0"/>
              <a:t>经逆转录生成</a:t>
            </a:r>
            <a:r>
              <a:rPr lang="en-US" altLang="zh-CN" sz="2400" b="0" dirty="0"/>
              <a:t>cDNA</a:t>
            </a:r>
            <a:r>
              <a:rPr lang="zh-CN" altLang="en-US" sz="2400" b="0" dirty="0"/>
              <a:t>时，在逆转录生成</a:t>
            </a:r>
            <a:r>
              <a:rPr lang="en-US" altLang="zh-CN" sz="2400" b="0" dirty="0"/>
              <a:t>cDNA</a:t>
            </a:r>
            <a:r>
              <a:rPr lang="zh-CN" altLang="en-US" sz="2400" b="0" dirty="0"/>
              <a:t>第一链后，</a:t>
            </a:r>
            <a:r>
              <a:rPr lang="zh-CN" altLang="en-US" sz="2400" b="0" dirty="0">
                <a:solidFill>
                  <a:srgbClr val="0000CC"/>
                </a:solidFill>
              </a:rPr>
              <a:t>提高</a:t>
            </a:r>
            <a:r>
              <a:rPr lang="en-US" altLang="zh-CN" sz="2400" b="0" dirty="0">
                <a:solidFill>
                  <a:srgbClr val="0000CC"/>
                </a:solidFill>
              </a:rPr>
              <a:t>pH, RNA-DNA</a:t>
            </a:r>
            <a:r>
              <a:rPr lang="zh-CN" altLang="en-US" sz="2400" b="0" dirty="0">
                <a:solidFill>
                  <a:srgbClr val="0000CC"/>
                </a:solidFill>
              </a:rPr>
              <a:t>杂交双链中的</a:t>
            </a:r>
            <a:r>
              <a:rPr lang="en-US" altLang="zh-CN" sz="2400" b="0" dirty="0">
                <a:solidFill>
                  <a:srgbClr val="0000CC"/>
                </a:solidFill>
              </a:rPr>
              <a:t>RNA</a:t>
            </a:r>
            <a:r>
              <a:rPr lang="zh-CN" altLang="en-US" sz="2400" b="0" dirty="0">
                <a:solidFill>
                  <a:srgbClr val="0000CC"/>
                </a:solidFill>
              </a:rPr>
              <a:t>将被降解</a:t>
            </a:r>
            <a:r>
              <a:rPr lang="zh-CN" altLang="en-US" sz="2400" b="0" dirty="0"/>
              <a:t>，而</a:t>
            </a:r>
            <a:r>
              <a:rPr lang="en-US" altLang="zh-CN" sz="2400" b="0" dirty="0"/>
              <a:t>cDNA</a:t>
            </a:r>
            <a:r>
              <a:rPr lang="zh-CN" altLang="en-US" sz="2400" b="0" dirty="0"/>
              <a:t>第一链不被降解，可继续做模板合成其互补链，得到双链</a:t>
            </a:r>
            <a:r>
              <a:rPr lang="en-US" altLang="zh-CN" sz="2400" b="0" dirty="0"/>
              <a:t>cDNA</a:t>
            </a:r>
            <a:r>
              <a:rPr lang="zh-CN" altLang="en-US" sz="2400" b="0" dirty="0"/>
              <a:t>。 </a:t>
            </a:r>
          </a:p>
        </p:txBody>
      </p:sp>
      <p:sp>
        <p:nvSpPr>
          <p:cNvPr id="61444" name="文本框 1">
            <a:extLst>
              <a:ext uri="{FF2B5EF4-FFF2-40B4-BE49-F238E27FC236}">
                <a16:creationId xmlns:a16="http://schemas.microsoft.com/office/drawing/2014/main" id="{4CE1B329-3B78-4063-BB8B-05665F20C488}"/>
              </a:ext>
            </a:extLst>
          </p:cNvPr>
          <p:cNvSpPr txBox="1">
            <a:spLocks noChangeArrowheads="1"/>
          </p:cNvSpPr>
          <p:nvPr/>
        </p:nvSpPr>
        <p:spPr bwMode="auto">
          <a:xfrm>
            <a:off x="2566989" y="260351"/>
            <a:ext cx="3457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zh-CN" altLang="en-US" b="0">
                <a:solidFill>
                  <a:srgbClr val="FF0000"/>
                </a:solidFill>
              </a:rPr>
              <a:t>重要应用</a:t>
            </a:r>
          </a:p>
        </p:txBody>
      </p:sp>
    </p:spTree>
  </p:cSld>
  <p:clrMapOvr>
    <a:masterClrMapping/>
  </p:clrMapOvr>
  <p:transition spd="slow">
    <p:circl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a:extLst>
              <a:ext uri="{FF2B5EF4-FFF2-40B4-BE49-F238E27FC236}">
                <a16:creationId xmlns:a16="http://schemas.microsoft.com/office/drawing/2014/main" id="{60FAFAD2-E45C-4B21-82E7-8FBDA5A0B916}"/>
              </a:ext>
            </a:extLst>
          </p:cNvPr>
          <p:cNvSpPr>
            <a:spLocks noGrp="1" noChangeArrowheads="1"/>
          </p:cNvSpPr>
          <p:nvPr>
            <p:ph type="title" idx="4294967295"/>
          </p:nvPr>
        </p:nvSpPr>
        <p:spPr>
          <a:xfrm>
            <a:off x="2265363" y="332656"/>
            <a:ext cx="7772400" cy="1008063"/>
          </a:xfrm>
        </p:spPr>
        <p:txBody>
          <a:bodyPr vert="horz" wrap="square" lIns="92075" tIns="46038" rIns="92075" bIns="46038" numCol="1" anchor="ctr" anchorCtr="0" compatLnSpc="1">
            <a:prstTxWarp prst="textNoShape">
              <a:avLst/>
            </a:prstTxWarp>
          </a:bodyPr>
          <a:lstStyle/>
          <a:p>
            <a:pPr eaLnBrk="1" hangingPunct="1">
              <a:defRPr/>
            </a:pPr>
            <a:r>
              <a:rPr lang="en-US" altLang="zh-CN" dirty="0">
                <a:solidFill>
                  <a:srgbClr val="C00000"/>
                </a:solidFill>
                <a:latin typeface="+mn-lt"/>
              </a:rPr>
              <a:t>DNA</a:t>
            </a:r>
            <a:r>
              <a:rPr lang="zh-CN" altLang="en-US" dirty="0">
                <a:solidFill>
                  <a:srgbClr val="C00000"/>
                </a:solidFill>
                <a:latin typeface="+mn-lt"/>
              </a:rPr>
              <a:t>与</a:t>
            </a:r>
            <a:r>
              <a:rPr lang="en-US" altLang="zh-CN" dirty="0">
                <a:solidFill>
                  <a:srgbClr val="C00000"/>
                </a:solidFill>
                <a:latin typeface="+mn-lt"/>
              </a:rPr>
              <a:t>RNA</a:t>
            </a:r>
            <a:r>
              <a:rPr lang="zh-CN" altLang="en-US" dirty="0">
                <a:solidFill>
                  <a:srgbClr val="C00000"/>
                </a:solidFill>
                <a:latin typeface="+mn-lt"/>
              </a:rPr>
              <a:t>的分子组成差异</a:t>
            </a:r>
          </a:p>
        </p:txBody>
      </p:sp>
      <p:sp>
        <p:nvSpPr>
          <p:cNvPr id="689160" name="Rectangle 8">
            <a:extLst>
              <a:ext uri="{FF2B5EF4-FFF2-40B4-BE49-F238E27FC236}">
                <a16:creationId xmlns:a16="http://schemas.microsoft.com/office/drawing/2014/main" id="{0C521ABD-442F-49C2-8F0F-9AABF187DBE7}"/>
              </a:ext>
            </a:extLst>
          </p:cNvPr>
          <p:cNvSpPr>
            <a:spLocks noGrp="1" noChangeArrowheads="1"/>
          </p:cNvSpPr>
          <p:nvPr>
            <p:ph type="body" idx="4294967295"/>
          </p:nvPr>
        </p:nvSpPr>
        <p:spPr>
          <a:xfrm>
            <a:off x="8597901" y="2872656"/>
            <a:ext cx="1260475" cy="2303463"/>
          </a:xfrm>
        </p:spPr>
        <p:txBody>
          <a:bodyPr/>
          <a:lstStyle/>
          <a:p>
            <a:pPr eaLnBrk="1" hangingPunct="1">
              <a:buFont typeface="Wingdings" panose="05000000000000000000" pitchFamily="2" charset="2"/>
              <a:buNone/>
            </a:pPr>
            <a:r>
              <a:rPr lang="zh-CN" altLang="en-US" b="0">
                <a:solidFill>
                  <a:schemeClr val="tx1"/>
                </a:solidFill>
                <a:latin typeface="Times New Roman" panose="02020603050405020304" pitchFamily="18" charset="0"/>
              </a:rPr>
              <a:t>磷酸</a:t>
            </a:r>
          </a:p>
          <a:p>
            <a:pPr eaLnBrk="1" hangingPunct="1">
              <a:lnSpc>
                <a:spcPct val="130000"/>
              </a:lnSpc>
              <a:buFont typeface="Wingdings" panose="05000000000000000000" pitchFamily="2" charset="2"/>
              <a:buNone/>
            </a:pPr>
            <a:endParaRPr lang="zh-CN" altLang="en-US" b="0">
              <a:solidFill>
                <a:schemeClr val="tx1"/>
              </a:solidFill>
              <a:latin typeface="Times New Roman" panose="02020603050405020304" pitchFamily="18" charset="0"/>
            </a:endParaRPr>
          </a:p>
          <a:p>
            <a:pPr eaLnBrk="1" hangingPunct="1">
              <a:lnSpc>
                <a:spcPct val="130000"/>
              </a:lnSpc>
              <a:buFont typeface="Wingdings" panose="05000000000000000000" pitchFamily="2" charset="2"/>
              <a:buNone/>
            </a:pPr>
            <a:r>
              <a:rPr lang="zh-CN" altLang="en-US" b="0">
                <a:solidFill>
                  <a:schemeClr val="tx1"/>
                </a:solidFill>
                <a:latin typeface="Times New Roman" panose="02020603050405020304" pitchFamily="18" charset="0"/>
              </a:rPr>
              <a:t>磷酸</a:t>
            </a:r>
          </a:p>
        </p:txBody>
      </p:sp>
      <p:sp>
        <p:nvSpPr>
          <p:cNvPr id="63492" name="Line 5">
            <a:extLst>
              <a:ext uri="{FF2B5EF4-FFF2-40B4-BE49-F238E27FC236}">
                <a16:creationId xmlns:a16="http://schemas.microsoft.com/office/drawing/2014/main" id="{03AB3941-5E38-44C0-AE10-0F18B547E2DB}"/>
              </a:ext>
            </a:extLst>
          </p:cNvPr>
          <p:cNvSpPr>
            <a:spLocks noChangeShapeType="1"/>
          </p:cNvSpPr>
          <p:nvPr/>
        </p:nvSpPr>
        <p:spPr bwMode="auto">
          <a:xfrm>
            <a:off x="2208214" y="2402755"/>
            <a:ext cx="7488237" cy="0"/>
          </a:xfrm>
          <a:prstGeom prst="line">
            <a:avLst/>
          </a:prstGeom>
          <a:noFill/>
          <a:ln w="76200" cmpd="tri">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3" name="Line 6">
            <a:extLst>
              <a:ext uri="{FF2B5EF4-FFF2-40B4-BE49-F238E27FC236}">
                <a16:creationId xmlns:a16="http://schemas.microsoft.com/office/drawing/2014/main" id="{FC9BCC7C-00D4-49BA-80A1-D474748B16F9}"/>
              </a:ext>
            </a:extLst>
          </p:cNvPr>
          <p:cNvSpPr>
            <a:spLocks noChangeShapeType="1"/>
          </p:cNvSpPr>
          <p:nvPr/>
        </p:nvSpPr>
        <p:spPr bwMode="auto">
          <a:xfrm>
            <a:off x="2135189" y="1466130"/>
            <a:ext cx="7488237" cy="0"/>
          </a:xfrm>
          <a:prstGeom prst="line">
            <a:avLst/>
          </a:prstGeom>
          <a:noFill/>
          <a:ln w="76200" cmpd="tri">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4" name="Line 7">
            <a:extLst>
              <a:ext uri="{FF2B5EF4-FFF2-40B4-BE49-F238E27FC236}">
                <a16:creationId xmlns:a16="http://schemas.microsoft.com/office/drawing/2014/main" id="{71636B10-8659-45C4-B7B5-E304EB779709}"/>
              </a:ext>
            </a:extLst>
          </p:cNvPr>
          <p:cNvSpPr>
            <a:spLocks noChangeShapeType="1"/>
          </p:cNvSpPr>
          <p:nvPr/>
        </p:nvSpPr>
        <p:spPr bwMode="auto">
          <a:xfrm>
            <a:off x="2208214" y="4923705"/>
            <a:ext cx="7488237" cy="0"/>
          </a:xfrm>
          <a:prstGeom prst="line">
            <a:avLst/>
          </a:prstGeom>
          <a:noFill/>
          <a:ln w="76200" cmpd="tri">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5" name="Rectangle 9">
            <a:extLst>
              <a:ext uri="{FF2B5EF4-FFF2-40B4-BE49-F238E27FC236}">
                <a16:creationId xmlns:a16="http://schemas.microsoft.com/office/drawing/2014/main" id="{62DD6967-DA02-495E-A846-5A97A17C9C74}"/>
              </a:ext>
            </a:extLst>
          </p:cNvPr>
          <p:cNvSpPr>
            <a:spLocks noChangeArrowheads="1"/>
          </p:cNvSpPr>
          <p:nvPr/>
        </p:nvSpPr>
        <p:spPr bwMode="gray">
          <a:xfrm>
            <a:off x="2352676" y="1932855"/>
            <a:ext cx="1116013"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buFont typeface="Wingdings" panose="05000000000000000000" pitchFamily="2" charset="2"/>
              <a:buNone/>
            </a:pPr>
            <a:r>
              <a:rPr kumimoji="0" lang="en-US" altLang="zh-CN" b="0">
                <a:solidFill>
                  <a:srgbClr val="008000"/>
                </a:solidFill>
                <a:latin typeface="Times New Roman" panose="02020603050405020304" pitchFamily="18" charset="0"/>
                <a:ea typeface="黑体" panose="02010609060101010101" pitchFamily="49" charset="-122"/>
              </a:rPr>
              <a:t>		</a:t>
            </a:r>
            <a:endParaRPr kumimoji="0" lang="en-US" altLang="zh-CN" b="0">
              <a:solidFill>
                <a:schemeClr val="tx1"/>
              </a:solidFill>
              <a:latin typeface="Times New Roman" panose="02020603050405020304" pitchFamily="18" charset="0"/>
              <a:ea typeface="黑体" panose="02010609060101010101" pitchFamily="49" charset="-122"/>
            </a:endParaRPr>
          </a:p>
          <a:p>
            <a:pPr eaLnBrk="1" hangingPunct="1"/>
            <a:endParaRPr kumimoji="0" lang="en-US" altLang="zh-CN" b="0">
              <a:solidFill>
                <a:schemeClr val="tx1"/>
              </a:solidFill>
              <a:latin typeface="Times New Roman" panose="02020603050405020304" pitchFamily="18" charset="0"/>
              <a:ea typeface="黑体" panose="02010609060101010101" pitchFamily="49" charset="-122"/>
            </a:endParaRPr>
          </a:p>
          <a:p>
            <a:pPr eaLnBrk="1" hangingPunct="1">
              <a:lnSpc>
                <a:spcPct val="80000"/>
              </a:lnSpc>
              <a:buFont typeface="Wingdings" panose="05000000000000000000" pitchFamily="2" charset="2"/>
              <a:buNone/>
            </a:pPr>
            <a:r>
              <a:rPr kumimoji="0" lang="en-US" altLang="zh-CN" b="0">
                <a:solidFill>
                  <a:srgbClr val="000099"/>
                </a:solidFill>
                <a:latin typeface="Times New Roman" panose="02020603050405020304" pitchFamily="18" charset="0"/>
                <a:ea typeface="黑体" panose="02010609060101010101" pitchFamily="49" charset="-122"/>
              </a:rPr>
              <a:t>DNA</a:t>
            </a:r>
            <a:r>
              <a:rPr kumimoji="0" lang="en-US" altLang="zh-CN" b="0">
                <a:solidFill>
                  <a:schemeClr val="tx1"/>
                </a:solidFill>
                <a:latin typeface="Times New Roman" panose="02020603050405020304" pitchFamily="18" charset="0"/>
                <a:ea typeface="黑体" panose="02010609060101010101" pitchFamily="49" charset="-122"/>
              </a:rPr>
              <a:t>	</a:t>
            </a:r>
          </a:p>
          <a:p>
            <a:pPr eaLnBrk="1" hangingPunct="1">
              <a:lnSpc>
                <a:spcPct val="80000"/>
              </a:lnSpc>
              <a:buFont typeface="Wingdings" panose="05000000000000000000" pitchFamily="2" charset="2"/>
              <a:buNone/>
            </a:pPr>
            <a:endParaRPr kumimoji="0" lang="en-US" altLang="zh-CN" b="0">
              <a:solidFill>
                <a:schemeClr val="tx1"/>
              </a:solidFill>
              <a:latin typeface="Times New Roman" panose="02020603050405020304" pitchFamily="18" charset="0"/>
              <a:ea typeface="黑体" panose="02010609060101010101" pitchFamily="49" charset="-122"/>
            </a:endParaRPr>
          </a:p>
          <a:p>
            <a:pPr eaLnBrk="1" hangingPunct="1">
              <a:lnSpc>
                <a:spcPct val="80000"/>
              </a:lnSpc>
            </a:pPr>
            <a:endParaRPr kumimoji="0" lang="en-US" altLang="zh-CN" b="0">
              <a:solidFill>
                <a:schemeClr val="tx1"/>
              </a:solidFill>
              <a:latin typeface="Times New Roman" panose="02020603050405020304" pitchFamily="18" charset="0"/>
              <a:ea typeface="黑体" panose="02010609060101010101" pitchFamily="49" charset="-122"/>
            </a:endParaRPr>
          </a:p>
          <a:p>
            <a:pPr eaLnBrk="1" hangingPunct="1">
              <a:lnSpc>
                <a:spcPct val="80000"/>
              </a:lnSpc>
              <a:buFont typeface="Wingdings" panose="05000000000000000000" pitchFamily="2" charset="2"/>
              <a:buNone/>
            </a:pPr>
            <a:r>
              <a:rPr kumimoji="0" lang="en-US" altLang="zh-CN" b="0">
                <a:solidFill>
                  <a:srgbClr val="000099"/>
                </a:solidFill>
                <a:latin typeface="Times New Roman" panose="02020603050405020304" pitchFamily="18" charset="0"/>
                <a:ea typeface="黑体" panose="02010609060101010101" pitchFamily="49" charset="-122"/>
              </a:rPr>
              <a:t>RNA </a:t>
            </a:r>
            <a:r>
              <a:rPr kumimoji="0" lang="en-US" altLang="zh-CN" b="0">
                <a:solidFill>
                  <a:schemeClr val="tx1"/>
                </a:solidFill>
                <a:latin typeface="Times New Roman" panose="02020603050405020304" pitchFamily="18" charset="0"/>
                <a:ea typeface="黑体" panose="02010609060101010101" pitchFamily="49" charset="-122"/>
              </a:rPr>
              <a:t>	</a:t>
            </a:r>
          </a:p>
        </p:txBody>
      </p:sp>
      <p:sp>
        <p:nvSpPr>
          <p:cNvPr id="689162" name="Rectangle 10">
            <a:extLst>
              <a:ext uri="{FF2B5EF4-FFF2-40B4-BE49-F238E27FC236}">
                <a16:creationId xmlns:a16="http://schemas.microsoft.com/office/drawing/2014/main" id="{E9E96079-35C3-4E4A-8E8F-45D0B2BE7E6A}"/>
              </a:ext>
            </a:extLst>
          </p:cNvPr>
          <p:cNvSpPr>
            <a:spLocks noChangeArrowheads="1"/>
          </p:cNvSpPr>
          <p:nvPr/>
        </p:nvSpPr>
        <p:spPr bwMode="gray">
          <a:xfrm>
            <a:off x="4008438" y="1932855"/>
            <a:ext cx="1477962"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buFont typeface="Wingdings" panose="05000000000000000000" pitchFamily="2" charset="2"/>
              <a:buNone/>
            </a:pPr>
            <a:r>
              <a:rPr kumimoji="0" lang="en-US" altLang="zh-CN" b="0">
                <a:solidFill>
                  <a:srgbClr val="008000"/>
                </a:solidFill>
                <a:latin typeface="Times New Roman" panose="02020603050405020304" pitchFamily="18" charset="0"/>
                <a:ea typeface="黑体" panose="02010609060101010101" pitchFamily="49" charset="-122"/>
              </a:rPr>
              <a:t>		</a:t>
            </a:r>
            <a:endParaRPr kumimoji="0" lang="en-US" altLang="zh-CN" b="0">
              <a:solidFill>
                <a:schemeClr val="tx1"/>
              </a:solidFill>
              <a:latin typeface="Times New Roman" panose="02020603050405020304" pitchFamily="18" charset="0"/>
              <a:ea typeface="黑体" panose="02010609060101010101" pitchFamily="49" charset="-122"/>
            </a:endParaRPr>
          </a:p>
          <a:p>
            <a:pPr eaLnBrk="1" hangingPunct="1"/>
            <a:endParaRPr kumimoji="0" lang="en-US" altLang="zh-CN" b="0">
              <a:solidFill>
                <a:schemeClr val="tx1"/>
              </a:solidFill>
              <a:latin typeface="Times New Roman" panose="02020603050405020304" pitchFamily="18" charset="0"/>
              <a:ea typeface="黑体" panose="02010609060101010101" pitchFamily="49" charset="-122"/>
            </a:endParaRPr>
          </a:p>
          <a:p>
            <a:pPr eaLnBrk="1" hangingPunct="1">
              <a:lnSpc>
                <a:spcPct val="90000"/>
              </a:lnSpc>
              <a:buFont typeface="Wingdings" panose="05000000000000000000" pitchFamily="2" charset="2"/>
              <a:buNone/>
            </a:pPr>
            <a:r>
              <a:rPr kumimoji="0" lang="en-US" altLang="zh-CN" b="0">
                <a:solidFill>
                  <a:schemeClr val="tx1"/>
                </a:solidFill>
                <a:latin typeface="Times New Roman" panose="02020603050405020304" pitchFamily="18" charset="0"/>
                <a:ea typeface="黑体" panose="02010609060101010101" pitchFamily="49" charset="-122"/>
              </a:rPr>
              <a:t>A </a:t>
            </a:r>
            <a:r>
              <a:rPr kumimoji="0" lang="en-US" altLang="zh-CN" b="0">
                <a:solidFill>
                  <a:srgbClr val="FF0000"/>
                </a:solidFill>
                <a:latin typeface="Times New Roman" panose="02020603050405020304" pitchFamily="18" charset="0"/>
                <a:ea typeface="黑体" panose="02010609060101010101" pitchFamily="49" charset="-122"/>
              </a:rPr>
              <a:t>T</a:t>
            </a:r>
            <a:r>
              <a:rPr kumimoji="0" lang="en-US" altLang="zh-CN" b="0">
                <a:solidFill>
                  <a:srgbClr val="CC0099"/>
                </a:solidFill>
                <a:latin typeface="Times New Roman" panose="02020603050405020304" pitchFamily="18" charset="0"/>
                <a:ea typeface="黑体" panose="02010609060101010101" pitchFamily="49" charset="-122"/>
              </a:rPr>
              <a:t> </a:t>
            </a:r>
            <a:r>
              <a:rPr kumimoji="0" lang="en-US" altLang="zh-CN" b="0">
                <a:solidFill>
                  <a:schemeClr val="tx1"/>
                </a:solidFill>
                <a:latin typeface="Times New Roman" panose="02020603050405020304" pitchFamily="18" charset="0"/>
                <a:ea typeface="黑体" panose="02010609060101010101" pitchFamily="49" charset="-122"/>
              </a:rPr>
              <a:t>CG		</a:t>
            </a:r>
          </a:p>
          <a:p>
            <a:pPr eaLnBrk="1" hangingPunct="1">
              <a:lnSpc>
                <a:spcPct val="90000"/>
              </a:lnSpc>
              <a:buFont typeface="Wingdings" panose="05000000000000000000" pitchFamily="2" charset="2"/>
              <a:buNone/>
            </a:pPr>
            <a:r>
              <a:rPr kumimoji="0" lang="en-US" altLang="zh-CN" b="0">
                <a:solidFill>
                  <a:schemeClr val="tx1"/>
                </a:solidFill>
                <a:latin typeface="Times New Roman" panose="02020603050405020304" pitchFamily="18" charset="0"/>
                <a:ea typeface="黑体" panose="02010609060101010101" pitchFamily="49" charset="-122"/>
              </a:rPr>
              <a:t>A </a:t>
            </a:r>
            <a:r>
              <a:rPr kumimoji="0" lang="en-US" altLang="zh-CN" b="0">
                <a:solidFill>
                  <a:srgbClr val="FF0000"/>
                </a:solidFill>
                <a:latin typeface="Times New Roman" panose="02020603050405020304" pitchFamily="18" charset="0"/>
                <a:ea typeface="黑体" panose="02010609060101010101" pitchFamily="49" charset="-122"/>
              </a:rPr>
              <a:t>U</a:t>
            </a:r>
            <a:r>
              <a:rPr kumimoji="0" lang="en-US" altLang="zh-CN" b="0">
                <a:solidFill>
                  <a:srgbClr val="CC0099"/>
                </a:solidFill>
                <a:latin typeface="Times New Roman" panose="02020603050405020304" pitchFamily="18" charset="0"/>
                <a:ea typeface="黑体" panose="02010609060101010101" pitchFamily="49" charset="-122"/>
              </a:rPr>
              <a:t> </a:t>
            </a:r>
            <a:r>
              <a:rPr kumimoji="0" lang="en-US" altLang="zh-CN" b="0">
                <a:solidFill>
                  <a:schemeClr val="tx1"/>
                </a:solidFill>
                <a:latin typeface="Times New Roman" panose="02020603050405020304" pitchFamily="18" charset="0"/>
                <a:ea typeface="黑体" panose="02010609060101010101" pitchFamily="49" charset="-122"/>
              </a:rPr>
              <a:t>CG</a:t>
            </a:r>
          </a:p>
        </p:txBody>
      </p:sp>
      <p:sp>
        <p:nvSpPr>
          <p:cNvPr id="689163" name="Rectangle 11">
            <a:extLst>
              <a:ext uri="{FF2B5EF4-FFF2-40B4-BE49-F238E27FC236}">
                <a16:creationId xmlns:a16="http://schemas.microsoft.com/office/drawing/2014/main" id="{C2A6818D-255D-49D6-98BE-A51484363AEB}"/>
              </a:ext>
            </a:extLst>
          </p:cNvPr>
          <p:cNvSpPr>
            <a:spLocks noChangeArrowheads="1"/>
          </p:cNvSpPr>
          <p:nvPr/>
        </p:nvSpPr>
        <p:spPr bwMode="gray">
          <a:xfrm>
            <a:off x="6276975" y="2258293"/>
            <a:ext cx="1835150"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20000"/>
              </a:lnSpc>
              <a:buFont typeface="Wingdings" panose="05000000000000000000" pitchFamily="2" charset="2"/>
              <a:buNone/>
            </a:pPr>
            <a:endParaRPr kumimoji="0" lang="en-US" altLang="zh-CN" b="0">
              <a:solidFill>
                <a:schemeClr val="tx1"/>
              </a:solidFill>
              <a:latin typeface="Times New Roman" panose="02020603050405020304" pitchFamily="18" charset="0"/>
              <a:ea typeface="黑体" panose="02010609060101010101" pitchFamily="49" charset="-122"/>
            </a:endParaRPr>
          </a:p>
          <a:p>
            <a:pPr algn="ctr" eaLnBrk="1" hangingPunct="1">
              <a:lnSpc>
                <a:spcPct val="120000"/>
              </a:lnSpc>
              <a:buFont typeface="Wingdings" panose="05000000000000000000" pitchFamily="2" charset="2"/>
              <a:buNone/>
            </a:pPr>
            <a:r>
              <a:rPr kumimoji="0" lang="zh-CN" altLang="en-US" b="0">
                <a:solidFill>
                  <a:srgbClr val="FF0000"/>
                </a:solidFill>
                <a:latin typeface="Times New Roman" panose="02020603050405020304" pitchFamily="18" charset="0"/>
                <a:ea typeface="黑体" panose="02010609060101010101" pitchFamily="49" charset="-122"/>
              </a:rPr>
              <a:t>脱氧核糖</a:t>
            </a:r>
          </a:p>
          <a:p>
            <a:pPr algn="ctr" eaLnBrk="1" hangingPunct="1">
              <a:lnSpc>
                <a:spcPct val="120000"/>
              </a:lnSpc>
              <a:buFont typeface="Wingdings" panose="05000000000000000000" pitchFamily="2" charset="2"/>
              <a:buNone/>
            </a:pPr>
            <a:endParaRPr kumimoji="0" lang="zh-CN" altLang="en-US" b="0">
              <a:solidFill>
                <a:srgbClr val="FF0000"/>
              </a:solidFill>
              <a:latin typeface="Times New Roman" panose="02020603050405020304" pitchFamily="18" charset="0"/>
              <a:ea typeface="黑体" panose="02010609060101010101" pitchFamily="49" charset="-122"/>
            </a:endParaRPr>
          </a:p>
          <a:p>
            <a:pPr algn="ctr" eaLnBrk="1" hangingPunct="1">
              <a:lnSpc>
                <a:spcPct val="120000"/>
              </a:lnSpc>
              <a:buFont typeface="Wingdings" panose="05000000000000000000" pitchFamily="2" charset="2"/>
              <a:buNone/>
            </a:pPr>
            <a:r>
              <a:rPr kumimoji="0" lang="zh-CN" altLang="en-US" b="0">
                <a:solidFill>
                  <a:srgbClr val="FF0000"/>
                </a:solidFill>
                <a:latin typeface="Times New Roman" panose="02020603050405020304" pitchFamily="18" charset="0"/>
                <a:ea typeface="黑体" panose="02010609060101010101" pitchFamily="49" charset="-122"/>
              </a:rPr>
              <a:t>核糖</a:t>
            </a:r>
          </a:p>
        </p:txBody>
      </p:sp>
      <p:sp>
        <p:nvSpPr>
          <p:cNvPr id="63498" name="Rectangle 12">
            <a:extLst>
              <a:ext uri="{FF2B5EF4-FFF2-40B4-BE49-F238E27FC236}">
                <a16:creationId xmlns:a16="http://schemas.microsoft.com/office/drawing/2014/main" id="{B57D7656-7A6A-4E5F-B146-43050E5E58ED}"/>
              </a:ext>
            </a:extLst>
          </p:cNvPr>
          <p:cNvSpPr>
            <a:spLocks noChangeArrowheads="1"/>
          </p:cNvSpPr>
          <p:nvPr/>
        </p:nvSpPr>
        <p:spPr bwMode="gray">
          <a:xfrm>
            <a:off x="2640013" y="1755056"/>
            <a:ext cx="734536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buFont typeface="Wingdings" panose="05000000000000000000" pitchFamily="2" charset="2"/>
              <a:buNone/>
            </a:pPr>
            <a:r>
              <a:rPr kumimoji="0" lang="en-US" altLang="zh-CN" b="0">
                <a:solidFill>
                  <a:srgbClr val="008000"/>
                </a:solidFill>
                <a:latin typeface="Times New Roman" panose="02020603050405020304" pitchFamily="18" charset="0"/>
                <a:ea typeface="黑体" panose="02010609060101010101" pitchFamily="49" charset="-122"/>
              </a:rPr>
              <a:t>		        </a:t>
            </a:r>
            <a:r>
              <a:rPr kumimoji="0" lang="zh-CN" altLang="en-US" b="0">
                <a:solidFill>
                  <a:schemeClr val="tx1"/>
                </a:solidFill>
                <a:latin typeface="Times New Roman" panose="02020603050405020304" pitchFamily="18" charset="0"/>
                <a:ea typeface="黑体" panose="02010609060101010101" pitchFamily="49" charset="-122"/>
              </a:rPr>
              <a:t>碱  基		   戊  糖             磷酸</a:t>
            </a:r>
          </a:p>
        </p:txBody>
      </p:sp>
      <p:sp>
        <p:nvSpPr>
          <p:cNvPr id="3" name="文本框 2">
            <a:extLst>
              <a:ext uri="{FF2B5EF4-FFF2-40B4-BE49-F238E27FC236}">
                <a16:creationId xmlns:a16="http://schemas.microsoft.com/office/drawing/2014/main" id="{97477BC8-7508-F4EB-BAFE-A7D20971A099}"/>
              </a:ext>
            </a:extLst>
          </p:cNvPr>
          <p:cNvSpPr txBox="1"/>
          <p:nvPr/>
        </p:nvSpPr>
        <p:spPr>
          <a:xfrm>
            <a:off x="3865563" y="5300597"/>
            <a:ext cx="4572000" cy="523220"/>
          </a:xfrm>
          <a:prstGeom prst="rect">
            <a:avLst/>
          </a:prstGeom>
          <a:noFill/>
        </p:spPr>
        <p:txBody>
          <a:bodyPr wrap="square">
            <a:spAutoFit/>
          </a:bodyPr>
          <a:lstStyle/>
          <a:p>
            <a:r>
              <a:rPr lang="zh-CN" altLang="en-US" sz="2800" dirty="0">
                <a:solidFill>
                  <a:srgbClr val="080808"/>
                </a:solidFill>
                <a:latin typeface="黑体" panose="02010609060101010101" pitchFamily="49" charset="-122"/>
                <a:ea typeface="黑体" panose="02010609060101010101" pitchFamily="49" charset="-122"/>
              </a:rPr>
              <a:t>为什么</a:t>
            </a:r>
            <a:r>
              <a:rPr lang="en-US" altLang="zh-CN" sz="2800" dirty="0">
                <a:solidFill>
                  <a:srgbClr val="080808"/>
                </a:solidFill>
                <a:latin typeface="黑体" panose="02010609060101010101" pitchFamily="49" charset="-122"/>
                <a:ea typeface="黑体" panose="02010609060101010101" pitchFamily="49" charset="-122"/>
              </a:rPr>
              <a:t>DNA</a:t>
            </a:r>
            <a:r>
              <a:rPr lang="zh-CN" altLang="en-US" sz="2800" dirty="0">
                <a:solidFill>
                  <a:srgbClr val="080808"/>
                </a:solidFill>
                <a:latin typeface="黑体" panose="02010609060101010101" pitchFamily="49" charset="-122"/>
                <a:ea typeface="黑体" panose="02010609060101010101" pitchFamily="49" charset="-122"/>
              </a:rPr>
              <a:t>中含</a:t>
            </a:r>
            <a:r>
              <a:rPr lang="en-US" altLang="zh-CN" sz="2800" dirty="0">
                <a:solidFill>
                  <a:srgbClr val="080808"/>
                </a:solidFill>
                <a:latin typeface="黑体" panose="02010609060101010101" pitchFamily="49" charset="-122"/>
                <a:ea typeface="黑体" panose="02010609060101010101" pitchFamily="49" charset="-122"/>
              </a:rPr>
              <a:t>T</a:t>
            </a:r>
            <a:r>
              <a:rPr lang="zh-CN" altLang="en-US" sz="2800" dirty="0">
                <a:solidFill>
                  <a:srgbClr val="080808"/>
                </a:solidFill>
                <a:latin typeface="黑体" panose="02010609060101010101" pitchFamily="49" charset="-122"/>
                <a:ea typeface="黑体" panose="02010609060101010101" pitchFamily="49" charset="-122"/>
              </a:rPr>
              <a:t>，不含</a:t>
            </a:r>
            <a:r>
              <a:rPr lang="en-US" altLang="zh-CN" sz="2800" dirty="0">
                <a:solidFill>
                  <a:srgbClr val="080808"/>
                </a:solidFill>
                <a:latin typeface="黑体" panose="02010609060101010101" pitchFamily="49" charset="-122"/>
                <a:ea typeface="黑体" panose="02010609060101010101" pitchFamily="49" charset="-122"/>
              </a:rPr>
              <a:t>U</a:t>
            </a:r>
            <a:r>
              <a:rPr lang="zh-CN" altLang="en-US" sz="2800" dirty="0">
                <a:solidFill>
                  <a:srgbClr val="080808"/>
                </a:solidFill>
                <a:latin typeface="黑体" panose="02010609060101010101" pitchFamily="49" charset="-122"/>
                <a:ea typeface="黑体" panose="02010609060101010101" pitchFamily="49" charset="-122"/>
              </a:rPr>
              <a:t>？</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89162"/>
                                        </p:tgtEl>
                                        <p:attrNameLst>
                                          <p:attrName>style.visibility</p:attrName>
                                        </p:attrNameLst>
                                      </p:cBhvr>
                                      <p:to>
                                        <p:strVal val="visible"/>
                                      </p:to>
                                    </p:set>
                                    <p:animEffect transition="in" filter="box(in)">
                                      <p:cBhvr>
                                        <p:cTn id="7" dur="500"/>
                                        <p:tgtEl>
                                          <p:spTgt spid="6891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89163"/>
                                        </p:tgtEl>
                                        <p:attrNameLst>
                                          <p:attrName>style.visibility</p:attrName>
                                        </p:attrNameLst>
                                      </p:cBhvr>
                                      <p:to>
                                        <p:strVal val="visible"/>
                                      </p:to>
                                    </p:set>
                                    <p:animEffect transition="in" filter="box(in)">
                                      <p:cBhvr>
                                        <p:cTn id="12" dur="500"/>
                                        <p:tgtEl>
                                          <p:spTgt spid="6891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89160">
                                            <p:txEl>
                                              <p:pRg st="0" end="0"/>
                                            </p:txEl>
                                          </p:spTgt>
                                        </p:tgtEl>
                                        <p:attrNameLst>
                                          <p:attrName>style.visibility</p:attrName>
                                        </p:attrNameLst>
                                      </p:cBhvr>
                                      <p:to>
                                        <p:strVal val="visible"/>
                                      </p:to>
                                    </p:set>
                                    <p:animEffect transition="in" filter="box(in)">
                                      <p:cBhvr>
                                        <p:cTn id="17" dur="500"/>
                                        <p:tgtEl>
                                          <p:spTgt spid="689160">
                                            <p:txEl>
                                              <p:pRg st="0" end="0"/>
                                            </p:txEl>
                                          </p:spTgt>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689160">
                                            <p:txEl>
                                              <p:pRg st="2" end="2"/>
                                            </p:txEl>
                                          </p:spTgt>
                                        </p:tgtEl>
                                        <p:attrNameLst>
                                          <p:attrName>style.visibility</p:attrName>
                                        </p:attrNameLst>
                                      </p:cBhvr>
                                      <p:to>
                                        <p:strVal val="visible"/>
                                      </p:to>
                                    </p:set>
                                    <p:animEffect transition="in" filter="box(in)">
                                      <p:cBhvr>
                                        <p:cTn id="20" dur="500"/>
                                        <p:tgtEl>
                                          <p:spTgt spid="689160">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9160" grpId="0" build="p"/>
      <p:bldP spid="689162" grpId="0"/>
      <p:bldP spid="689163"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5538" name="图片 2">
            <a:extLst>
              <a:ext uri="{FF2B5EF4-FFF2-40B4-BE49-F238E27FC236}">
                <a16:creationId xmlns:a16="http://schemas.microsoft.com/office/drawing/2014/main" id="{A8A6F460-53B4-4044-BD17-74E408CBE3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52389"/>
            <a:ext cx="9144000" cy="675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9" name="灯片编号占位符 1">
            <a:extLst>
              <a:ext uri="{FF2B5EF4-FFF2-40B4-BE49-F238E27FC236}">
                <a16:creationId xmlns:a16="http://schemas.microsoft.com/office/drawing/2014/main" id="{D152088A-D0EB-43C4-A2BD-3AB8046CF0AF}"/>
              </a:ext>
            </a:extLst>
          </p:cNvPr>
          <p:cNvSpPr>
            <a:spLocks noGrp="1"/>
          </p:cNvSpPr>
          <p:nvPr>
            <p:ph type="sldNum" sz="quarter" idx="4294967295"/>
          </p:nvPr>
        </p:nvSpPr>
        <p:spPr bwMode="auto">
          <a:xfrm>
            <a:off x="11266488" y="6492875"/>
            <a:ext cx="9255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F826D869-EFE4-43DE-A118-8DC240D744EC}" type="slidenum">
              <a:rPr lang="zh-CN" altLang="en-US" sz="1200" b="0">
                <a:solidFill>
                  <a:srgbClr val="898F89"/>
                </a:solidFill>
              </a:rPr>
              <a:pPr>
                <a:spcBef>
                  <a:spcPct val="0"/>
                </a:spcBef>
                <a:buClrTx/>
                <a:buFontTx/>
                <a:buNone/>
              </a:pPr>
              <a:t>17</a:t>
            </a:fld>
            <a:endParaRPr lang="zh-CN" altLang="en-US" sz="1200" b="0">
              <a:solidFill>
                <a:srgbClr val="898F89"/>
              </a:solidFill>
            </a:endParaRPr>
          </a:p>
        </p:txBody>
      </p:sp>
    </p:spTree>
  </p:cSld>
  <p:clrMapOvr>
    <a:masterClrMapping/>
  </p:clrMapOvr>
  <p:transition spd="slow">
    <p:circl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图片 1">
            <a:extLst>
              <a:ext uri="{FF2B5EF4-FFF2-40B4-BE49-F238E27FC236}">
                <a16:creationId xmlns:a16="http://schemas.microsoft.com/office/drawing/2014/main" id="{EBA40047-6FB8-45B2-A9D2-BFEA641056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1403" y="620689"/>
            <a:ext cx="6478369" cy="5387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对话气泡: 圆角矩形 4">
            <a:extLst>
              <a:ext uri="{FF2B5EF4-FFF2-40B4-BE49-F238E27FC236}">
                <a16:creationId xmlns:a16="http://schemas.microsoft.com/office/drawing/2014/main" id="{695CCD5D-BDE4-45BA-A1AA-15F995D25F10}"/>
              </a:ext>
            </a:extLst>
          </p:cNvPr>
          <p:cNvSpPr/>
          <p:nvPr/>
        </p:nvSpPr>
        <p:spPr bwMode="auto">
          <a:xfrm>
            <a:off x="7786791" y="5229201"/>
            <a:ext cx="1472981" cy="553141"/>
          </a:xfrm>
          <a:prstGeom prst="wedgeRoundRectCallout">
            <a:avLst>
              <a:gd name="adj1" fmla="val -124634"/>
              <a:gd name="adj2" fmla="val -86420"/>
              <a:gd name="adj3" fmla="val 16667"/>
            </a:avLst>
          </a:prstGeom>
          <a:solidFill>
            <a:schemeClr val="bg1"/>
          </a:solidFill>
          <a:ln w="28575" cap="flat" cmpd="sng" algn="ctr">
            <a:solidFill>
              <a:schemeClr val="tx1">
                <a:lumMod val="75000"/>
                <a:lumOff val="25000"/>
              </a:schemeClr>
            </a:solidFill>
            <a:prstDash val="solid"/>
            <a:round/>
            <a:headEnd type="none" w="med" len="med"/>
            <a:tailEnd type="none" w="med" len="med"/>
          </a:ln>
          <a:effectLst/>
        </p:spPr>
        <p:txBody>
          <a:bodyPr/>
          <a:lstStyle/>
          <a:p>
            <a:pPr eaLnBrk="1" hangingPunct="1">
              <a:defRPr/>
            </a:pPr>
            <a:r>
              <a:rPr lang="zh-CN" altLang="en-US" sz="2800" dirty="0">
                <a:latin typeface="微软雅黑" panose="020B0503020204020204" pitchFamily="34" charset="-122"/>
                <a:ea typeface="微软雅黑" panose="020B0503020204020204" pitchFamily="34" charset="-122"/>
              </a:rPr>
              <a:t>糖苷键 </a:t>
            </a:r>
            <a:endParaRPr lang="en-US" altLang="zh-CN" sz="2800" dirty="0">
              <a:latin typeface="微软雅黑" panose="020B0503020204020204" pitchFamily="34" charset="-122"/>
              <a:ea typeface="微软雅黑" panose="020B0503020204020204" pitchFamily="34" charset="-122"/>
            </a:endParaRPr>
          </a:p>
        </p:txBody>
      </p:sp>
      <p:sp>
        <p:nvSpPr>
          <p:cNvPr id="6" name="对话气泡: 圆角矩形 5">
            <a:extLst>
              <a:ext uri="{FF2B5EF4-FFF2-40B4-BE49-F238E27FC236}">
                <a16:creationId xmlns:a16="http://schemas.microsoft.com/office/drawing/2014/main" id="{3F8F5B12-A17D-4299-B583-CE0660EF043A}"/>
              </a:ext>
            </a:extLst>
          </p:cNvPr>
          <p:cNvSpPr/>
          <p:nvPr/>
        </p:nvSpPr>
        <p:spPr bwMode="auto">
          <a:xfrm>
            <a:off x="3431704" y="3445903"/>
            <a:ext cx="1727200" cy="505271"/>
          </a:xfrm>
          <a:prstGeom prst="wedgeRoundRectCallout">
            <a:avLst>
              <a:gd name="adj1" fmla="val 36985"/>
              <a:gd name="adj2" fmla="val 235203"/>
              <a:gd name="adj3" fmla="val 16667"/>
            </a:avLst>
          </a:prstGeom>
          <a:solidFill>
            <a:schemeClr val="bg1"/>
          </a:solidFill>
          <a:ln w="28575" cap="flat" cmpd="sng" algn="ctr">
            <a:solidFill>
              <a:schemeClr val="tx1">
                <a:lumMod val="75000"/>
                <a:lumOff val="25000"/>
              </a:schemeClr>
            </a:solidFill>
            <a:prstDash val="solid"/>
            <a:round/>
            <a:headEnd type="none" w="med" len="med"/>
            <a:tailEnd type="none" w="med" len="med"/>
          </a:ln>
          <a:effectLst/>
        </p:spPr>
        <p:txBody>
          <a:bodyPr/>
          <a:lstStyle/>
          <a:p>
            <a:pPr eaLnBrk="1" hangingPunct="1">
              <a:defRPr/>
            </a:pPr>
            <a:r>
              <a:rPr lang="zh-CN" altLang="en-US" sz="2800" dirty="0">
                <a:latin typeface="微软雅黑" panose="020B0503020204020204" pitchFamily="34" charset="-122"/>
                <a:ea typeface="微软雅黑" panose="020B0503020204020204" pitchFamily="34" charset="-122"/>
              </a:rPr>
              <a:t>磷酸酯键 </a:t>
            </a:r>
            <a:endParaRPr lang="en-US" altLang="zh-CN" sz="2800" dirty="0">
              <a:latin typeface="微软雅黑" panose="020B0503020204020204" pitchFamily="34" charset="-122"/>
              <a:ea typeface="微软雅黑" panose="020B0503020204020204" pitchFamily="34" charset="-122"/>
            </a:endParaRPr>
          </a:p>
        </p:txBody>
      </p:sp>
      <p:sp>
        <p:nvSpPr>
          <p:cNvPr id="2" name="Rectangle 3">
            <a:extLst>
              <a:ext uri="{FF2B5EF4-FFF2-40B4-BE49-F238E27FC236}">
                <a16:creationId xmlns:a16="http://schemas.microsoft.com/office/drawing/2014/main" id="{152F12C8-C11A-98D8-CFA1-0C94BB605994}"/>
              </a:ext>
            </a:extLst>
          </p:cNvPr>
          <p:cNvSpPr>
            <a:spLocks noChangeArrowheads="1"/>
          </p:cNvSpPr>
          <p:nvPr/>
        </p:nvSpPr>
        <p:spPr bwMode="auto">
          <a:xfrm>
            <a:off x="1775520" y="194470"/>
            <a:ext cx="5904656" cy="627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30000"/>
              </a:lnSpc>
              <a:spcBef>
                <a:spcPct val="0"/>
              </a:spcBef>
              <a:spcAft>
                <a:spcPct val="30000"/>
              </a:spcAft>
              <a:buClrTx/>
              <a:buFontTx/>
              <a:buNone/>
            </a:pPr>
            <a:r>
              <a:rPr kumimoji="0" lang="zh-CN" altLang="en-US" sz="3000" dirty="0">
                <a:solidFill>
                  <a:srgbClr val="0000CC"/>
                </a:solidFill>
                <a:latin typeface="Times New Roman" panose="02020603050405020304" pitchFamily="18" charset="0"/>
                <a:ea typeface="黑体" panose="02010609060101010101" pitchFamily="49" charset="-122"/>
              </a:rPr>
              <a:t>二、核苷酸</a:t>
            </a:r>
            <a:r>
              <a:rPr kumimoji="0" lang="zh-CN" altLang="en-US" sz="2400" dirty="0">
                <a:solidFill>
                  <a:srgbClr val="0000CC"/>
                </a:solidFill>
                <a:latin typeface="Times New Roman" panose="02020603050405020304" pitchFamily="18" charset="0"/>
                <a:ea typeface="黑体" panose="02010609060101010101" pitchFamily="49" charset="-122"/>
              </a:rPr>
              <a:t>（</a:t>
            </a:r>
            <a:r>
              <a:rPr kumimoji="0" lang="en-US" altLang="zh-CN" sz="2400" dirty="0">
                <a:solidFill>
                  <a:srgbClr val="0000CC"/>
                </a:solidFill>
                <a:latin typeface="Times New Roman" panose="02020603050405020304" pitchFamily="18" charset="0"/>
                <a:ea typeface="黑体" panose="02010609060101010101" pitchFamily="49" charset="-122"/>
              </a:rPr>
              <a:t>ribonucleotide</a:t>
            </a:r>
            <a:r>
              <a:rPr kumimoji="0" lang="zh-CN" altLang="en-US" sz="2400" dirty="0">
                <a:solidFill>
                  <a:srgbClr val="0000CC"/>
                </a:solidFill>
                <a:latin typeface="Times New Roman" panose="02020603050405020304" pitchFamily="18" charset="0"/>
                <a:ea typeface="黑体" panose="02010609060101010101" pitchFamily="49" charset="-122"/>
              </a:rPr>
              <a:t>）</a:t>
            </a:r>
            <a:r>
              <a:rPr kumimoji="0" lang="zh-CN" altLang="en-US" sz="3000" dirty="0">
                <a:solidFill>
                  <a:srgbClr val="0000CC"/>
                </a:solidFill>
                <a:latin typeface="Times New Roman" panose="02020603050405020304" pitchFamily="18" charset="0"/>
                <a:ea typeface="黑体" panose="02010609060101010101" pitchFamily="49" charset="-122"/>
              </a:rPr>
              <a:t>的生成</a:t>
            </a:r>
          </a:p>
        </p:txBody>
      </p:sp>
      <p:sp>
        <p:nvSpPr>
          <p:cNvPr id="3" name="Rectangle 1031">
            <a:extLst>
              <a:ext uri="{FF2B5EF4-FFF2-40B4-BE49-F238E27FC236}">
                <a16:creationId xmlns:a16="http://schemas.microsoft.com/office/drawing/2014/main" id="{73CFB18B-7BD6-62DF-D063-F72185908BE0}"/>
              </a:ext>
            </a:extLst>
          </p:cNvPr>
          <p:cNvSpPr>
            <a:spLocks noChangeArrowheads="1"/>
          </p:cNvSpPr>
          <p:nvPr/>
        </p:nvSpPr>
        <p:spPr bwMode="auto">
          <a:xfrm>
            <a:off x="2968069" y="6053977"/>
            <a:ext cx="55435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30000"/>
              </a:lnSpc>
              <a:spcBef>
                <a:spcPct val="0"/>
              </a:spcBef>
              <a:buClrTx/>
              <a:buFontTx/>
              <a:buNone/>
            </a:pPr>
            <a:r>
              <a:rPr lang="zh-CN" altLang="en-US" sz="2400" b="0" dirty="0">
                <a:solidFill>
                  <a:schemeClr val="tx1"/>
                </a:solidFill>
                <a:latin typeface="Times New Roman" panose="02020603050405020304" pitchFamily="18" charset="0"/>
                <a:ea typeface="黑体" panose="02010609060101010101" pitchFamily="49" charset="-122"/>
              </a:rPr>
              <a:t>最常见为</a:t>
            </a:r>
            <a:r>
              <a:rPr lang="en-US" altLang="zh-CN" sz="2400" b="0" dirty="0">
                <a:solidFill>
                  <a:srgbClr val="FF0000"/>
                </a:solidFill>
                <a:latin typeface="Times New Roman" panose="02020603050405020304" pitchFamily="18" charset="0"/>
                <a:ea typeface="黑体" panose="02010609060101010101" pitchFamily="49" charset="-122"/>
              </a:rPr>
              <a:t>5’-</a:t>
            </a:r>
            <a:r>
              <a:rPr lang="zh-CN" altLang="en-US" sz="2400" b="0" dirty="0">
                <a:solidFill>
                  <a:srgbClr val="FF0000"/>
                </a:solidFill>
                <a:latin typeface="Times New Roman" panose="02020603050405020304" pitchFamily="18" charset="0"/>
                <a:ea typeface="黑体" panose="02010609060101010101" pitchFamily="49" charset="-122"/>
              </a:rPr>
              <a:t>核苷酸</a:t>
            </a:r>
            <a:r>
              <a:rPr lang="zh-CN" altLang="en-US" sz="2400" b="0" dirty="0">
                <a:solidFill>
                  <a:schemeClr val="tx1"/>
                </a:solidFill>
                <a:latin typeface="Times New Roman" panose="02020603050405020304" pitchFamily="18" charset="0"/>
                <a:ea typeface="黑体" panose="02010609060101010101" pitchFamily="49" charset="-122"/>
              </a:rPr>
              <a:t>（</a:t>
            </a:r>
            <a:r>
              <a:rPr lang="en-US" altLang="zh-CN" sz="2400" b="0" dirty="0">
                <a:solidFill>
                  <a:schemeClr val="tx1"/>
                </a:solidFill>
                <a:latin typeface="Times New Roman" panose="02020603050405020304" pitchFamily="18" charset="0"/>
                <a:ea typeface="黑体" panose="02010609060101010101" pitchFamily="49" charset="-122"/>
              </a:rPr>
              <a:t>5’ </a:t>
            </a:r>
            <a:r>
              <a:rPr lang="zh-CN" altLang="en-US" sz="2400" b="0" dirty="0">
                <a:solidFill>
                  <a:schemeClr val="tx1"/>
                </a:solidFill>
                <a:latin typeface="Times New Roman" panose="02020603050405020304" pitchFamily="18" charset="0"/>
                <a:ea typeface="黑体" panose="02010609060101010101" pitchFamily="49" charset="-122"/>
              </a:rPr>
              <a:t>常被省略）</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4" presetClass="entr" presetSubtype="16"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ox(i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9634" name="图片 1">
            <a:extLst>
              <a:ext uri="{FF2B5EF4-FFF2-40B4-BE49-F238E27FC236}">
                <a16:creationId xmlns:a16="http://schemas.microsoft.com/office/drawing/2014/main" id="{4E0BBAA6-2B75-493E-8091-56E008E44D47}"/>
              </a:ext>
            </a:extLst>
          </p:cNvPr>
          <p:cNvPicPr>
            <a:picLocks noChangeAspect="1"/>
          </p:cNvPicPr>
          <p:nvPr/>
        </p:nvPicPr>
        <p:blipFill>
          <a:blip r:embed="rId3">
            <a:extLst>
              <a:ext uri="{28A0092B-C50C-407E-A947-70E740481C1C}">
                <a14:useLocalDpi xmlns:a14="http://schemas.microsoft.com/office/drawing/2010/main" val="0"/>
              </a:ext>
            </a:extLst>
          </a:blip>
          <a:srcRect l="9837" t="17451" r="7088" b="12199"/>
          <a:stretch>
            <a:fillRect/>
          </a:stretch>
        </p:blipFill>
        <p:spPr bwMode="auto">
          <a:xfrm>
            <a:off x="2797122" y="1844824"/>
            <a:ext cx="7000982" cy="4446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10">
            <a:extLst>
              <a:ext uri="{FF2B5EF4-FFF2-40B4-BE49-F238E27FC236}">
                <a16:creationId xmlns:a16="http://schemas.microsoft.com/office/drawing/2014/main" id="{EDC84FDE-CB9E-4865-9FAC-E70389554011}"/>
              </a:ext>
            </a:extLst>
          </p:cNvPr>
          <p:cNvSpPr>
            <a:spLocks noChangeArrowheads="1"/>
          </p:cNvSpPr>
          <p:nvPr/>
        </p:nvSpPr>
        <p:spPr bwMode="auto">
          <a:xfrm>
            <a:off x="2106613" y="333375"/>
            <a:ext cx="8382000"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b="0">
                <a:solidFill>
                  <a:schemeClr val="tx1"/>
                </a:solidFill>
                <a:latin typeface="Times New Roman" panose="02020603050405020304" pitchFamily="18" charset="0"/>
                <a:ea typeface="黑体" panose="02010609060101010101" pitchFamily="49" charset="-122"/>
              </a:rPr>
              <a:t>通常是戊糖的</a:t>
            </a:r>
            <a:r>
              <a:rPr lang="en-US" altLang="zh-CN" b="0">
                <a:solidFill>
                  <a:srgbClr val="FF0000"/>
                </a:solidFill>
                <a:latin typeface="Times New Roman" panose="02020603050405020304" pitchFamily="18" charset="0"/>
                <a:ea typeface="黑体" panose="02010609060101010101" pitchFamily="49" charset="-122"/>
              </a:rPr>
              <a:t>C1′</a:t>
            </a:r>
            <a:r>
              <a:rPr lang="zh-CN" altLang="en-US" b="0">
                <a:solidFill>
                  <a:schemeClr val="tx1"/>
                </a:solidFill>
                <a:latin typeface="Times New Roman" panose="02020603050405020304" pitchFamily="18" charset="0"/>
                <a:ea typeface="黑体" panose="02010609060101010101" pitchFamily="49" charset="-122"/>
              </a:rPr>
              <a:t>与嘧啶碱的</a:t>
            </a:r>
            <a:r>
              <a:rPr lang="en-US" altLang="zh-CN" b="0">
                <a:solidFill>
                  <a:srgbClr val="FF0000"/>
                </a:solidFill>
                <a:latin typeface="Times New Roman" panose="02020603050405020304" pitchFamily="18" charset="0"/>
                <a:ea typeface="黑体" panose="02010609060101010101" pitchFamily="49" charset="-122"/>
              </a:rPr>
              <a:t>N1</a:t>
            </a:r>
            <a:r>
              <a:rPr lang="zh-CN" altLang="en-US" b="0">
                <a:solidFill>
                  <a:schemeClr val="tx1"/>
                </a:solidFill>
                <a:latin typeface="Times New Roman" panose="02020603050405020304" pitchFamily="18" charset="0"/>
                <a:ea typeface="黑体" panose="02010609060101010101" pitchFamily="49" charset="-122"/>
              </a:rPr>
              <a:t>或嘌呤碱的</a:t>
            </a:r>
            <a:r>
              <a:rPr lang="en-US" altLang="zh-CN" b="0">
                <a:solidFill>
                  <a:srgbClr val="FF0000"/>
                </a:solidFill>
                <a:latin typeface="Times New Roman" panose="02020603050405020304" pitchFamily="18" charset="0"/>
                <a:ea typeface="黑体" panose="02010609060101010101" pitchFamily="49" charset="-122"/>
              </a:rPr>
              <a:t>N9</a:t>
            </a:r>
            <a:r>
              <a:rPr lang="zh-CN" altLang="en-US" b="0">
                <a:solidFill>
                  <a:schemeClr val="tx1"/>
                </a:solidFill>
                <a:latin typeface="Times New Roman" panose="02020603050405020304" pitchFamily="18" charset="0"/>
                <a:ea typeface="黑体" panose="02010609060101010101" pitchFamily="49" charset="-122"/>
              </a:rPr>
              <a:t>相连接</a:t>
            </a:r>
            <a:endParaRPr lang="en-US" altLang="zh-CN" b="0">
              <a:solidFill>
                <a:schemeClr val="tx1"/>
              </a:solidFill>
              <a:latin typeface="Times New Roman" panose="02020603050405020304" pitchFamily="18" charset="0"/>
              <a:ea typeface="黑体" panose="02010609060101010101" pitchFamily="49" charset="-122"/>
            </a:endParaRPr>
          </a:p>
          <a:p>
            <a:pPr eaLnBrk="1" hangingPunct="1">
              <a:spcBef>
                <a:spcPct val="0"/>
              </a:spcBef>
              <a:buClrTx/>
              <a:buFont typeface="Wingdings" panose="05000000000000000000" pitchFamily="2" charset="2"/>
              <a:buNone/>
            </a:pPr>
            <a:endParaRPr lang="en-US" altLang="zh-CN" b="0">
              <a:solidFill>
                <a:schemeClr val="tx1"/>
              </a:solidFill>
              <a:latin typeface="Times New Roman" panose="02020603050405020304" pitchFamily="18" charset="0"/>
              <a:ea typeface="黑体" panose="02010609060101010101" pitchFamily="49" charset="-122"/>
            </a:endParaRPr>
          </a:p>
          <a:p>
            <a:pPr eaLnBrk="1" hangingPunct="1">
              <a:spcBef>
                <a:spcPct val="0"/>
              </a:spcBef>
              <a:buClrTx/>
              <a:buFont typeface="Wingdings" panose="05000000000000000000" pitchFamily="2" charset="2"/>
              <a:buNone/>
            </a:pPr>
            <a:r>
              <a:rPr lang="en-US" altLang="zh-CN" b="0">
                <a:solidFill>
                  <a:schemeClr val="tx1"/>
                </a:solidFill>
                <a:latin typeface="Times New Roman" panose="02020603050405020304" pitchFamily="18" charset="0"/>
                <a:ea typeface="黑体" panose="02010609060101010101" pitchFamily="49" charset="-122"/>
              </a:rPr>
              <a:t>Memory tips:  </a:t>
            </a:r>
            <a:r>
              <a:rPr lang="en-US" altLang="zh-CN">
                <a:solidFill>
                  <a:srgbClr val="FF0000"/>
                </a:solidFill>
                <a:latin typeface="Calibri" panose="020F0502020204030204" pitchFamily="34" charset="0"/>
                <a:ea typeface="宋体" panose="02010600030101010101" pitchFamily="2" charset="-122"/>
              </a:rPr>
              <a:t>“911”</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23461644-F938-40A5-B856-53DF682DCCE2}"/>
              </a:ext>
            </a:extLst>
          </p:cNvPr>
          <p:cNvSpPr>
            <a:spLocks noGrp="1" noChangeArrowheads="1"/>
          </p:cNvSpPr>
          <p:nvPr>
            <p:ph type="title"/>
          </p:nvPr>
        </p:nvSpPr>
        <p:spPr>
          <a:xfrm>
            <a:off x="2279651" y="108714"/>
            <a:ext cx="7693025" cy="735073"/>
          </a:xfrm>
        </p:spPr>
        <p:txBody>
          <a:bodyPr>
            <a:spAutoFit/>
          </a:bodyPr>
          <a:lstStyle/>
          <a:p>
            <a:pPr eaLnBrk="1" hangingPunct="1">
              <a:lnSpc>
                <a:spcPct val="130000"/>
              </a:lnSpc>
              <a:spcAft>
                <a:spcPct val="30000"/>
              </a:spcAft>
              <a:defRPr/>
            </a:pPr>
            <a:r>
              <a:rPr lang="zh-CN" altLang="en-US" sz="3600" kern="1200">
                <a:latin typeface="Times New Roman" panose="02020603050405020304" pitchFamily="18" charset="0"/>
                <a:ea typeface="黑体" panose="02010609060101010101" pitchFamily="49" charset="-122"/>
                <a:cs typeface="+mn-cs"/>
              </a:rPr>
              <a:t>体内重要的游离核苷酸及其衍生物</a:t>
            </a:r>
          </a:p>
        </p:txBody>
      </p:sp>
      <p:sp>
        <p:nvSpPr>
          <p:cNvPr id="74755" name="Text Box 3">
            <a:extLst>
              <a:ext uri="{FF2B5EF4-FFF2-40B4-BE49-F238E27FC236}">
                <a16:creationId xmlns:a16="http://schemas.microsoft.com/office/drawing/2014/main" id="{3F398240-F1AB-4024-A94F-9B7FADDB212F}"/>
              </a:ext>
            </a:extLst>
          </p:cNvPr>
          <p:cNvSpPr txBox="1">
            <a:spLocks noChangeArrowheads="1"/>
          </p:cNvSpPr>
          <p:nvPr/>
        </p:nvSpPr>
        <p:spPr bwMode="auto">
          <a:xfrm>
            <a:off x="1919288" y="1412875"/>
            <a:ext cx="74168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90000"/>
              </a:lnSpc>
              <a:buClr>
                <a:schemeClr val="accent2"/>
              </a:buClr>
              <a:buSzPct val="80000"/>
              <a:buFont typeface="Wingdings" panose="05000000000000000000" pitchFamily="2" charset="2"/>
              <a:buChar char="l"/>
            </a:pPr>
            <a:r>
              <a:rPr lang="en-US" altLang="zh-CN" sz="3200" b="0">
                <a:solidFill>
                  <a:srgbClr val="FF0000"/>
                </a:solidFill>
                <a:latin typeface="Times New Roman" panose="02020603050405020304" pitchFamily="18" charset="0"/>
                <a:ea typeface="黑体" panose="02010609060101010101" pitchFamily="49" charset="-122"/>
              </a:rPr>
              <a:t>  </a:t>
            </a:r>
            <a:r>
              <a:rPr lang="zh-CN" altLang="en-US" sz="3200" b="0">
                <a:solidFill>
                  <a:srgbClr val="FF0000"/>
                </a:solidFill>
                <a:latin typeface="Times New Roman" panose="02020603050405020304" pitchFamily="18" charset="0"/>
                <a:ea typeface="黑体" panose="02010609060101010101" pitchFamily="49" charset="-122"/>
              </a:rPr>
              <a:t>多磷酸核苷酸：</a:t>
            </a:r>
            <a:r>
              <a:rPr lang="en-US" altLang="zh-CN" sz="3200" b="0">
                <a:solidFill>
                  <a:srgbClr val="FF0000"/>
                </a:solidFill>
                <a:latin typeface="Times New Roman" panose="02020603050405020304" pitchFamily="18" charset="0"/>
                <a:ea typeface="黑体" panose="02010609060101010101" pitchFamily="49" charset="-122"/>
              </a:rPr>
              <a:t>NMP</a:t>
            </a:r>
            <a:r>
              <a:rPr lang="zh-CN" altLang="en-US" sz="3200" b="0">
                <a:solidFill>
                  <a:srgbClr val="FF0000"/>
                </a:solidFill>
                <a:latin typeface="Times New Roman" panose="02020603050405020304" pitchFamily="18" charset="0"/>
                <a:ea typeface="黑体" panose="02010609060101010101" pitchFamily="49" charset="-122"/>
              </a:rPr>
              <a:t>，</a:t>
            </a:r>
            <a:r>
              <a:rPr lang="en-US" altLang="zh-CN" sz="3200" b="0">
                <a:solidFill>
                  <a:srgbClr val="FF0000"/>
                </a:solidFill>
                <a:latin typeface="Times New Roman" panose="02020603050405020304" pitchFamily="18" charset="0"/>
                <a:ea typeface="黑体" panose="02010609060101010101" pitchFamily="49" charset="-122"/>
              </a:rPr>
              <a:t>NDP</a:t>
            </a:r>
            <a:r>
              <a:rPr lang="zh-CN" altLang="en-US" sz="3200" b="0">
                <a:solidFill>
                  <a:srgbClr val="FF0000"/>
                </a:solidFill>
                <a:latin typeface="Times New Roman" panose="02020603050405020304" pitchFamily="18" charset="0"/>
                <a:ea typeface="黑体" panose="02010609060101010101" pitchFamily="49" charset="-122"/>
              </a:rPr>
              <a:t>，</a:t>
            </a:r>
            <a:r>
              <a:rPr lang="en-US" altLang="zh-CN" sz="3200" b="0">
                <a:solidFill>
                  <a:srgbClr val="FF0000"/>
                </a:solidFill>
                <a:latin typeface="Times New Roman" panose="02020603050405020304" pitchFamily="18" charset="0"/>
                <a:ea typeface="黑体" panose="02010609060101010101" pitchFamily="49" charset="-122"/>
              </a:rPr>
              <a:t>NTP</a:t>
            </a:r>
          </a:p>
        </p:txBody>
      </p:sp>
      <p:pic>
        <p:nvPicPr>
          <p:cNvPr id="992260" name="Picture 4">
            <a:extLst>
              <a:ext uri="{FF2B5EF4-FFF2-40B4-BE49-F238E27FC236}">
                <a16:creationId xmlns:a16="http://schemas.microsoft.com/office/drawing/2014/main" id="{E0C0F488-EE0E-4293-AC06-1BE6AB19CF43}"/>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1559496" y="2132856"/>
            <a:ext cx="5010150" cy="4114800"/>
          </a:xfrm>
        </p:spPr>
      </p:pic>
      <p:sp>
        <p:nvSpPr>
          <p:cNvPr id="3" name="文本框 2">
            <a:extLst>
              <a:ext uri="{FF2B5EF4-FFF2-40B4-BE49-F238E27FC236}">
                <a16:creationId xmlns:a16="http://schemas.microsoft.com/office/drawing/2014/main" id="{B5CC3E97-4340-2750-F8C7-B6309698DC26}"/>
              </a:ext>
            </a:extLst>
          </p:cNvPr>
          <p:cNvSpPr txBox="1"/>
          <p:nvPr/>
        </p:nvSpPr>
        <p:spPr>
          <a:xfrm>
            <a:off x="7536160" y="2942758"/>
            <a:ext cx="4176464" cy="1972143"/>
          </a:xfrm>
          <a:prstGeom prst="rect">
            <a:avLst/>
          </a:prstGeom>
          <a:noFill/>
        </p:spPr>
        <p:txBody>
          <a:bodyPr wrap="square">
            <a:spAutoFit/>
          </a:bodyPr>
          <a:lstStyle/>
          <a:p>
            <a:pPr eaLnBrk="1" hangingPunct="1">
              <a:lnSpc>
                <a:spcPct val="120000"/>
              </a:lnSpc>
            </a:pPr>
            <a:r>
              <a:rPr lang="en-US" altLang="zh-CN" sz="2600" dirty="0">
                <a:solidFill>
                  <a:srgbClr val="080808"/>
                </a:solidFill>
                <a:latin typeface="微软雅黑" panose="020B0503020204020204" pitchFamily="34" charset="-122"/>
                <a:ea typeface="微软雅黑" panose="020B0503020204020204" pitchFamily="34" charset="-122"/>
              </a:rPr>
              <a:t>NMP</a:t>
            </a:r>
            <a:r>
              <a:rPr lang="zh-CN" altLang="en-US" sz="2600" dirty="0">
                <a:solidFill>
                  <a:srgbClr val="080808"/>
                </a:solidFill>
                <a:latin typeface="微软雅黑" panose="020B0503020204020204" pitchFamily="34" charset="-122"/>
                <a:ea typeface="微软雅黑" panose="020B0503020204020204" pitchFamily="34" charset="-122"/>
              </a:rPr>
              <a:t>，</a:t>
            </a:r>
            <a:r>
              <a:rPr lang="en-US" altLang="zh-CN" sz="2600" dirty="0">
                <a:solidFill>
                  <a:srgbClr val="080808"/>
                </a:solidFill>
                <a:latin typeface="微软雅黑" panose="020B0503020204020204" pitchFamily="34" charset="-122"/>
                <a:ea typeface="微软雅黑" panose="020B0503020204020204" pitchFamily="34" charset="-122"/>
              </a:rPr>
              <a:t>NDP, NTP</a:t>
            </a:r>
            <a:r>
              <a:rPr lang="zh-CN" altLang="en-US" sz="2600" dirty="0">
                <a:solidFill>
                  <a:srgbClr val="080808"/>
                </a:solidFill>
                <a:latin typeface="微软雅黑" panose="020B0503020204020204" pitchFamily="34" charset="-122"/>
                <a:ea typeface="微软雅黑" panose="020B0503020204020204" pitchFamily="34" charset="-122"/>
              </a:rPr>
              <a:t>均是默认</a:t>
            </a:r>
            <a:r>
              <a:rPr lang="en-US" altLang="zh-CN" sz="2600" dirty="0">
                <a:solidFill>
                  <a:srgbClr val="080808"/>
                </a:solidFill>
                <a:latin typeface="微软雅黑" panose="020B0503020204020204" pitchFamily="34" charset="-122"/>
                <a:ea typeface="微软雅黑" panose="020B0503020204020204" pitchFamily="34" charset="-122"/>
              </a:rPr>
              <a:t>5</a:t>
            </a:r>
            <a:r>
              <a:rPr lang="zh-CN" altLang="en-US" sz="2600" dirty="0">
                <a:solidFill>
                  <a:srgbClr val="080808"/>
                </a:solidFill>
                <a:latin typeface="微软雅黑" panose="020B0503020204020204" pitchFamily="34" charset="-122"/>
                <a:ea typeface="微软雅黑" panose="020B0503020204020204" pitchFamily="34" charset="-122"/>
              </a:rPr>
              <a:t>‘</a:t>
            </a:r>
            <a:r>
              <a:rPr lang="en-US" altLang="zh-CN" sz="2600" dirty="0">
                <a:solidFill>
                  <a:srgbClr val="080808"/>
                </a:solidFill>
                <a:latin typeface="微软雅黑" panose="020B0503020204020204" pitchFamily="34" charset="-122"/>
                <a:ea typeface="微软雅黑" panose="020B0503020204020204" pitchFamily="34" charset="-122"/>
              </a:rPr>
              <a:t>-OH</a:t>
            </a:r>
            <a:r>
              <a:rPr lang="zh-CN" altLang="en-US" sz="2600" dirty="0">
                <a:solidFill>
                  <a:srgbClr val="080808"/>
                </a:solidFill>
                <a:latin typeface="微软雅黑" panose="020B0503020204020204" pitchFamily="34" charset="-122"/>
                <a:ea typeface="微软雅黑" panose="020B0503020204020204" pitchFamily="34" charset="-122"/>
              </a:rPr>
              <a:t>磷酸化。  如果不是，必须在前面加注说明，如</a:t>
            </a:r>
            <a:r>
              <a:rPr lang="en-US" altLang="zh-CN" sz="2600" dirty="0">
                <a:solidFill>
                  <a:srgbClr val="080808"/>
                </a:solidFill>
                <a:latin typeface="微软雅黑" panose="020B0503020204020204" pitchFamily="34" charset="-122"/>
                <a:ea typeface="微软雅黑" panose="020B0503020204020204" pitchFamily="34" charset="-122"/>
              </a:rPr>
              <a:t>3</a:t>
            </a:r>
            <a:r>
              <a:rPr lang="zh-CN" altLang="en-US" sz="2600" dirty="0">
                <a:solidFill>
                  <a:srgbClr val="080808"/>
                </a:solidFill>
                <a:latin typeface="微软雅黑" panose="020B0503020204020204" pitchFamily="34" charset="-122"/>
                <a:ea typeface="微软雅黑" panose="020B0503020204020204" pitchFamily="34" charset="-122"/>
              </a:rPr>
              <a:t>’</a:t>
            </a:r>
            <a:r>
              <a:rPr lang="en-US" altLang="zh-CN" sz="2600" dirty="0">
                <a:solidFill>
                  <a:srgbClr val="080808"/>
                </a:solidFill>
                <a:latin typeface="微软雅黑" panose="020B0503020204020204" pitchFamily="34" charset="-122"/>
                <a:ea typeface="微软雅黑" panose="020B0503020204020204" pitchFamily="34" charset="-122"/>
              </a:rPr>
              <a:t>-AMP</a:t>
            </a:r>
            <a:r>
              <a:rPr lang="zh-CN" altLang="en-US" sz="2600" dirty="0">
                <a:solidFill>
                  <a:srgbClr val="080808"/>
                </a:solidFill>
                <a:latin typeface="微软雅黑" panose="020B0503020204020204" pitchFamily="34" charset="-122"/>
                <a:ea typeface="微软雅黑" panose="020B0503020204020204" pitchFamily="34" charset="-122"/>
              </a:rPr>
              <a:t>，</a:t>
            </a:r>
            <a:r>
              <a:rPr lang="en-US" altLang="zh-CN" sz="2600" dirty="0">
                <a:solidFill>
                  <a:srgbClr val="080808"/>
                </a:solidFill>
                <a:latin typeface="微软雅黑" panose="020B0503020204020204" pitchFamily="34" charset="-122"/>
                <a:ea typeface="微软雅黑" panose="020B0503020204020204" pitchFamily="34" charset="-122"/>
              </a:rPr>
              <a:t>2</a:t>
            </a:r>
            <a:r>
              <a:rPr lang="zh-CN" altLang="en-US" sz="2600" dirty="0">
                <a:solidFill>
                  <a:srgbClr val="080808"/>
                </a:solidFill>
                <a:latin typeface="微软雅黑" panose="020B0503020204020204" pitchFamily="34" charset="-122"/>
                <a:ea typeface="微软雅黑" panose="020B0503020204020204" pitchFamily="34" charset="-122"/>
              </a:rPr>
              <a:t>‘</a:t>
            </a:r>
            <a:r>
              <a:rPr lang="en-US" altLang="zh-CN" sz="2600" dirty="0">
                <a:solidFill>
                  <a:srgbClr val="080808"/>
                </a:solidFill>
                <a:latin typeface="微软雅黑" panose="020B0503020204020204" pitchFamily="34" charset="-122"/>
                <a:ea typeface="微软雅黑" panose="020B0503020204020204" pitchFamily="34" charset="-122"/>
              </a:rPr>
              <a:t>-AMP</a:t>
            </a:r>
          </a:p>
        </p:txBody>
      </p:sp>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Group 7">
            <a:extLst>
              <a:ext uri="{FF2B5EF4-FFF2-40B4-BE49-F238E27FC236}">
                <a16:creationId xmlns:a16="http://schemas.microsoft.com/office/drawing/2014/main" id="{D0ED131E-48A9-4F19-A6A2-F694BD06D97E}"/>
              </a:ext>
            </a:extLst>
          </p:cNvPr>
          <p:cNvGrpSpPr>
            <a:grpSpLocks/>
          </p:cNvGrpSpPr>
          <p:nvPr/>
        </p:nvGrpSpPr>
        <p:grpSpPr bwMode="auto">
          <a:xfrm>
            <a:off x="2063560" y="1901949"/>
            <a:ext cx="7302392" cy="3857959"/>
            <a:chOff x="3356" y="1920"/>
            <a:chExt cx="5274" cy="2774"/>
          </a:xfrm>
        </p:grpSpPr>
        <p:graphicFrame>
          <p:nvGraphicFramePr>
            <p:cNvPr id="76805" name="Object 8">
              <a:extLst>
                <a:ext uri="{FF2B5EF4-FFF2-40B4-BE49-F238E27FC236}">
                  <a16:creationId xmlns:a16="http://schemas.microsoft.com/office/drawing/2014/main" id="{7F457990-6BA8-4370-B234-13EF4C36095F}"/>
                </a:ext>
              </a:extLst>
            </p:cNvPr>
            <p:cNvGraphicFramePr>
              <a:graphicFrameLocks noChangeAspect="1"/>
            </p:cNvGraphicFramePr>
            <p:nvPr>
              <p:extLst>
                <p:ext uri="{D42A27DB-BD31-4B8C-83A1-F6EECF244321}">
                  <p14:modId xmlns:p14="http://schemas.microsoft.com/office/powerpoint/2010/main" val="3981561119"/>
                </p:ext>
              </p:extLst>
            </p:nvPr>
          </p:nvGraphicFramePr>
          <p:xfrm>
            <a:off x="3356" y="1920"/>
            <a:ext cx="2208" cy="2196"/>
          </p:xfrm>
          <a:graphic>
            <a:graphicData uri="http://schemas.openxmlformats.org/presentationml/2006/ole">
              <mc:AlternateContent xmlns:mc="http://schemas.openxmlformats.org/markup-compatibility/2006">
                <mc:Choice xmlns:v="urn:schemas-microsoft-com:vml" Requires="v">
                  <p:oleObj name="ACD ChemSketch 2.0" r:id="rId3" imgW="2395728" imgH="2383536" progId="ACD.ChemSketch.20">
                    <p:embed/>
                  </p:oleObj>
                </mc:Choice>
                <mc:Fallback>
                  <p:oleObj name="ACD ChemSketch 2.0" r:id="rId3" imgW="2395728" imgH="2383536" progId="ACD.ChemSketch.20">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6" y="1920"/>
                          <a:ext cx="2208" cy="2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806" name="Rectangle 9">
              <a:extLst>
                <a:ext uri="{FF2B5EF4-FFF2-40B4-BE49-F238E27FC236}">
                  <a16:creationId xmlns:a16="http://schemas.microsoft.com/office/drawing/2014/main" id="{6843F561-60B6-45AD-BBA3-CA322337CA1D}"/>
                </a:ext>
              </a:extLst>
            </p:cNvPr>
            <p:cNvSpPr>
              <a:spLocks noChangeArrowheads="1"/>
            </p:cNvSpPr>
            <p:nvPr/>
          </p:nvSpPr>
          <p:spPr bwMode="auto">
            <a:xfrm>
              <a:off x="4136" y="4274"/>
              <a:ext cx="94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3200" dirty="0">
                  <a:solidFill>
                    <a:srgbClr val="0000CC"/>
                  </a:solidFill>
                  <a:latin typeface="Times New Roman" panose="02020603050405020304" pitchFamily="18" charset="0"/>
                  <a:ea typeface="黑体" panose="02010609060101010101" pitchFamily="49" charset="-122"/>
                </a:rPr>
                <a:t>cAMP</a:t>
              </a:r>
            </a:p>
          </p:txBody>
        </p:sp>
        <p:sp>
          <p:nvSpPr>
            <p:cNvPr id="10" name="Rectangle 9">
              <a:extLst>
                <a:ext uri="{FF2B5EF4-FFF2-40B4-BE49-F238E27FC236}">
                  <a16:creationId xmlns:a16="http://schemas.microsoft.com/office/drawing/2014/main" id="{6A5B32BF-B81C-72FB-615C-97A63B7FAFA2}"/>
                </a:ext>
              </a:extLst>
            </p:cNvPr>
            <p:cNvSpPr>
              <a:spLocks noChangeArrowheads="1"/>
            </p:cNvSpPr>
            <p:nvPr/>
          </p:nvSpPr>
          <p:spPr bwMode="auto">
            <a:xfrm>
              <a:off x="7673" y="4221"/>
              <a:ext cx="957"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3200" dirty="0">
                  <a:solidFill>
                    <a:srgbClr val="0000CC"/>
                  </a:solidFill>
                  <a:latin typeface="Times New Roman" panose="02020603050405020304" pitchFamily="18" charset="0"/>
                  <a:ea typeface="黑体" panose="02010609060101010101" pitchFamily="49" charset="-122"/>
                </a:rPr>
                <a:t>cGMP</a:t>
              </a:r>
            </a:p>
          </p:txBody>
        </p:sp>
      </p:grpSp>
      <p:pic>
        <p:nvPicPr>
          <p:cNvPr id="9" name="图片 8">
            <a:extLst>
              <a:ext uri="{FF2B5EF4-FFF2-40B4-BE49-F238E27FC236}">
                <a16:creationId xmlns:a16="http://schemas.microsoft.com/office/drawing/2014/main" id="{DE36A112-9611-0E7F-DC96-96F0751ADAE1}"/>
              </a:ext>
            </a:extLst>
          </p:cNvPr>
          <p:cNvPicPr>
            <a:picLocks noChangeAspect="1"/>
          </p:cNvPicPr>
          <p:nvPr/>
        </p:nvPicPr>
        <p:blipFill>
          <a:blip r:embed="rId5"/>
          <a:srcRect b="2803"/>
          <a:stretch>
            <a:fillRect/>
          </a:stretch>
        </p:blipFill>
        <p:spPr>
          <a:xfrm>
            <a:off x="6816080" y="1857694"/>
            <a:ext cx="3695816" cy="2952328"/>
          </a:xfrm>
          <a:prstGeom prst="rect">
            <a:avLst/>
          </a:prstGeom>
        </p:spPr>
      </p:pic>
      <p:sp>
        <p:nvSpPr>
          <p:cNvPr id="12" name="文本框 11">
            <a:extLst>
              <a:ext uri="{FF2B5EF4-FFF2-40B4-BE49-F238E27FC236}">
                <a16:creationId xmlns:a16="http://schemas.microsoft.com/office/drawing/2014/main" id="{9DDBA114-B337-11E4-653F-DEA5B628B22C}"/>
              </a:ext>
            </a:extLst>
          </p:cNvPr>
          <p:cNvSpPr txBox="1"/>
          <p:nvPr/>
        </p:nvSpPr>
        <p:spPr>
          <a:xfrm>
            <a:off x="2279576" y="407819"/>
            <a:ext cx="7817045" cy="1157817"/>
          </a:xfrm>
          <a:prstGeom prst="rect">
            <a:avLst/>
          </a:prstGeom>
          <a:noFill/>
        </p:spPr>
        <p:txBody>
          <a:bodyPr wrap="square">
            <a:spAutoFit/>
          </a:bodyPr>
          <a:lstStyle/>
          <a:p>
            <a:pPr>
              <a:lnSpc>
                <a:spcPct val="130000"/>
              </a:lnSpc>
            </a:pPr>
            <a:r>
              <a:rPr lang="zh-CN" altLang="en-US" sz="2800" dirty="0">
                <a:solidFill>
                  <a:srgbClr val="FF0000"/>
                </a:solidFill>
                <a:latin typeface="微软雅黑" panose="020B0503020204020204" pitchFamily="34" charset="-122"/>
                <a:ea typeface="微软雅黑" panose="020B0503020204020204" pitchFamily="34" charset="-122"/>
              </a:rPr>
              <a:t>环化核苷酸</a:t>
            </a:r>
            <a:r>
              <a:rPr lang="zh-CN" altLang="en-US" sz="2800" dirty="0">
                <a:latin typeface="微软雅黑" panose="020B0503020204020204" pitchFamily="34" charset="-122"/>
                <a:ea typeface="微软雅黑" panose="020B0503020204020204" pitchFamily="34" charset="-122"/>
              </a:rPr>
              <a:t>主要是</a:t>
            </a:r>
            <a:r>
              <a:rPr lang="en-US" altLang="zh-CN" sz="2800" dirty="0">
                <a:ea typeface="微软雅黑" panose="020B0503020204020204" pitchFamily="34" charset="-122"/>
                <a:cs typeface="Times New Roman" panose="02020603050405020304" pitchFamily="18" charset="0"/>
              </a:rPr>
              <a:t>3′</a:t>
            </a:r>
            <a:r>
              <a:rPr lang="zh-CN" altLang="en-US" sz="2800" dirty="0">
                <a:ea typeface="微软雅黑" panose="020B0503020204020204" pitchFamily="34" charset="-122"/>
                <a:cs typeface="Times New Roman" panose="02020603050405020304" pitchFamily="18" charset="0"/>
              </a:rPr>
              <a:t>，</a:t>
            </a:r>
            <a:r>
              <a:rPr lang="en-US" altLang="zh-CN" sz="2800" dirty="0">
                <a:ea typeface="微软雅黑" panose="020B0503020204020204" pitchFamily="34" charset="-122"/>
                <a:cs typeface="Times New Roman" panose="02020603050405020304" pitchFamily="18" charset="0"/>
              </a:rPr>
              <a:t>5′</a:t>
            </a:r>
            <a:r>
              <a:rPr lang="zh-CN" altLang="en-US" sz="2800" dirty="0">
                <a:ea typeface="微软雅黑" panose="020B0503020204020204" pitchFamily="34" charset="-122"/>
                <a:cs typeface="Times New Roman" panose="02020603050405020304" pitchFamily="18" charset="0"/>
              </a:rPr>
              <a:t>－环化腺苷酸</a:t>
            </a:r>
            <a:r>
              <a:rPr lang="en-US" altLang="zh-CN" sz="2800" dirty="0">
                <a:latin typeface="微软雅黑" panose="020B0503020204020204" pitchFamily="34" charset="-122"/>
                <a:ea typeface="微软雅黑" panose="020B0503020204020204" pitchFamily="34" charset="-122"/>
              </a:rPr>
              <a:t>(</a:t>
            </a:r>
            <a:r>
              <a:rPr lang="en-US" altLang="zh-CN" sz="2800" dirty="0">
                <a:solidFill>
                  <a:srgbClr val="FF0000"/>
                </a:solidFill>
                <a:latin typeface="微软雅黑" panose="020B0503020204020204" pitchFamily="34" charset="-122"/>
                <a:ea typeface="微软雅黑" panose="020B0503020204020204" pitchFamily="34" charset="-122"/>
              </a:rPr>
              <a:t>cAMP</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和</a:t>
            </a:r>
            <a:r>
              <a:rPr lang="en-US" altLang="zh-CN" sz="2800" dirty="0">
                <a:ea typeface="微软雅黑" panose="020B0503020204020204" pitchFamily="34" charset="-122"/>
                <a:cs typeface="Times New Roman" panose="02020603050405020304" pitchFamily="18" charset="0"/>
              </a:rPr>
              <a:t>3′</a:t>
            </a:r>
            <a:r>
              <a:rPr lang="zh-CN" altLang="en-US" sz="2800" dirty="0">
                <a:ea typeface="微软雅黑" panose="020B0503020204020204" pitchFamily="34" charset="-122"/>
                <a:cs typeface="Times New Roman" panose="02020603050405020304" pitchFamily="18" charset="0"/>
              </a:rPr>
              <a:t>，</a:t>
            </a:r>
            <a:r>
              <a:rPr lang="en-US" altLang="zh-CN" sz="2800" dirty="0">
                <a:ea typeface="微软雅黑" panose="020B0503020204020204" pitchFamily="34" charset="-122"/>
                <a:cs typeface="Times New Roman" panose="02020603050405020304" pitchFamily="18" charset="0"/>
              </a:rPr>
              <a:t>5′</a:t>
            </a:r>
            <a:r>
              <a:rPr lang="zh-CN" altLang="en-US" sz="2800" dirty="0">
                <a:ea typeface="微软雅黑" panose="020B0503020204020204" pitchFamily="34" charset="-122"/>
                <a:cs typeface="Times New Roman" panose="02020603050405020304" pitchFamily="18" charset="0"/>
              </a:rPr>
              <a:t>－</a:t>
            </a:r>
            <a:r>
              <a:rPr lang="zh-CN" altLang="en-US" sz="2800" dirty="0">
                <a:latin typeface="微软雅黑" panose="020B0503020204020204" pitchFamily="34" charset="-122"/>
                <a:ea typeface="微软雅黑" panose="020B0503020204020204" pitchFamily="34" charset="-122"/>
              </a:rPr>
              <a:t>环化鸟苷酸</a:t>
            </a:r>
            <a:r>
              <a:rPr lang="en-US" altLang="zh-CN" sz="2800" dirty="0">
                <a:latin typeface="微软雅黑" panose="020B0503020204020204" pitchFamily="34" charset="-122"/>
                <a:ea typeface="微软雅黑" panose="020B0503020204020204" pitchFamily="34" charset="-122"/>
              </a:rPr>
              <a:t>(</a:t>
            </a:r>
            <a:r>
              <a:rPr lang="en-US" altLang="zh-CN" sz="2800" dirty="0">
                <a:solidFill>
                  <a:srgbClr val="FF0000"/>
                </a:solidFill>
                <a:latin typeface="微软雅黑" panose="020B0503020204020204" pitchFamily="34" charset="-122"/>
                <a:ea typeface="微软雅黑" panose="020B0503020204020204" pitchFamily="34" charset="-122"/>
              </a:rPr>
              <a:t>cGMP</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 </a:t>
            </a:r>
          </a:p>
        </p:txBody>
      </p:sp>
      <p:sp>
        <p:nvSpPr>
          <p:cNvPr id="4" name="文本框 3">
            <a:extLst>
              <a:ext uri="{FF2B5EF4-FFF2-40B4-BE49-F238E27FC236}">
                <a16:creationId xmlns:a16="http://schemas.microsoft.com/office/drawing/2014/main" id="{6BF5488F-CF41-9B6D-F362-7DA442C03F63}"/>
              </a:ext>
            </a:extLst>
          </p:cNvPr>
          <p:cNvSpPr txBox="1"/>
          <p:nvPr/>
        </p:nvSpPr>
        <p:spPr>
          <a:xfrm>
            <a:off x="2351584" y="5905937"/>
            <a:ext cx="8928992" cy="461665"/>
          </a:xfrm>
          <a:prstGeom prst="rect">
            <a:avLst/>
          </a:prstGeom>
          <a:noFill/>
        </p:spPr>
        <p:txBody>
          <a:bodyPr wrap="square">
            <a:spAutoFit/>
          </a:bodyPr>
          <a:lstStyle/>
          <a:p>
            <a:r>
              <a:rPr lang="en-US" altLang="zh-CN" dirty="0">
                <a:solidFill>
                  <a:srgbClr val="080808"/>
                </a:solidFill>
                <a:latin typeface="微软雅黑" panose="020B0503020204020204" pitchFamily="34" charset="-122"/>
                <a:ea typeface="微软雅黑" panose="020B0503020204020204" pitchFamily="34" charset="-122"/>
              </a:rPr>
              <a:t>cAMP </a:t>
            </a:r>
            <a:r>
              <a:rPr lang="zh-CN" altLang="en-US" dirty="0">
                <a:solidFill>
                  <a:srgbClr val="080808"/>
                </a:solidFill>
                <a:latin typeface="微软雅黑" panose="020B0503020204020204" pitchFamily="34" charset="-122"/>
                <a:ea typeface="微软雅黑" panose="020B0503020204020204" pitchFamily="34" charset="-122"/>
              </a:rPr>
              <a:t>由</a:t>
            </a:r>
            <a:r>
              <a:rPr lang="en-US" altLang="zh-CN" dirty="0">
                <a:solidFill>
                  <a:srgbClr val="080808"/>
                </a:solidFill>
                <a:latin typeface="微软雅黑" panose="020B0503020204020204" pitchFamily="34" charset="-122"/>
                <a:ea typeface="微软雅黑" panose="020B0503020204020204" pitchFamily="34" charset="-122"/>
              </a:rPr>
              <a:t>ATP</a:t>
            </a:r>
            <a:r>
              <a:rPr lang="zh-CN" altLang="en-US" dirty="0">
                <a:solidFill>
                  <a:srgbClr val="080808"/>
                </a:solidFill>
                <a:latin typeface="微软雅黑" panose="020B0503020204020204" pitchFamily="34" charset="-122"/>
                <a:ea typeface="微软雅黑" panose="020B0503020204020204" pitchFamily="34" charset="-122"/>
              </a:rPr>
              <a:t>生成                             </a:t>
            </a:r>
            <a:r>
              <a:rPr lang="en-US" altLang="zh-CN" dirty="0">
                <a:solidFill>
                  <a:srgbClr val="080808"/>
                </a:solidFill>
                <a:latin typeface="微软雅黑" panose="020B0503020204020204" pitchFamily="34" charset="-122"/>
                <a:ea typeface="微软雅黑" panose="020B0503020204020204" pitchFamily="34" charset="-122"/>
              </a:rPr>
              <a:t>cGMP</a:t>
            </a:r>
            <a:r>
              <a:rPr lang="zh-CN" altLang="en-US" dirty="0">
                <a:solidFill>
                  <a:srgbClr val="080808"/>
                </a:solidFill>
                <a:latin typeface="微软雅黑" panose="020B0503020204020204" pitchFamily="34" charset="-122"/>
                <a:ea typeface="微软雅黑" panose="020B0503020204020204" pitchFamily="34" charset="-122"/>
              </a:rPr>
              <a:t>由</a:t>
            </a:r>
            <a:r>
              <a:rPr lang="en-US" altLang="zh-CN" dirty="0">
                <a:solidFill>
                  <a:srgbClr val="080808"/>
                </a:solidFill>
                <a:latin typeface="微软雅黑" panose="020B0503020204020204" pitchFamily="34" charset="-122"/>
                <a:ea typeface="微软雅黑" panose="020B0503020204020204" pitchFamily="34" charset="-122"/>
              </a:rPr>
              <a:t>GTP</a:t>
            </a:r>
            <a:r>
              <a:rPr lang="zh-CN" altLang="en-US" dirty="0">
                <a:solidFill>
                  <a:srgbClr val="080808"/>
                </a:solidFill>
                <a:latin typeface="微软雅黑" panose="020B0503020204020204" pitchFamily="34" charset="-122"/>
                <a:ea typeface="微软雅黑" panose="020B0503020204020204" pitchFamily="34" charset="-122"/>
              </a:rPr>
              <a:t>生成</a:t>
            </a:r>
            <a:endParaRPr lang="en-US" altLang="zh-CN" dirty="0">
              <a:solidFill>
                <a:srgbClr val="080808"/>
              </a:solidFill>
              <a:latin typeface="微软雅黑" panose="020B0503020204020204" pitchFamily="34" charset="-122"/>
              <a:ea typeface="微软雅黑" panose="020B0503020204020204" pitchFamily="34" charset="-122"/>
            </a:endParaRPr>
          </a:p>
        </p:txBody>
      </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3">
            <a:extLst>
              <a:ext uri="{FF2B5EF4-FFF2-40B4-BE49-F238E27FC236}">
                <a16:creationId xmlns:a16="http://schemas.microsoft.com/office/drawing/2014/main" id="{E63122E2-5D76-4BE2-A6EB-33155F0D4225}"/>
              </a:ext>
            </a:extLst>
          </p:cNvPr>
          <p:cNvSpPr>
            <a:spLocks noGrp="1" noChangeArrowheads="1"/>
          </p:cNvSpPr>
          <p:nvPr>
            <p:ph type="body" idx="4294967295"/>
          </p:nvPr>
        </p:nvSpPr>
        <p:spPr>
          <a:xfrm>
            <a:off x="1927447" y="360799"/>
            <a:ext cx="9222729" cy="1219200"/>
          </a:xfrm>
        </p:spPr>
        <p:txBody>
          <a:bodyPr/>
          <a:lstStyle/>
          <a:p>
            <a:pPr eaLnBrk="1" hangingPunct="1">
              <a:lnSpc>
                <a:spcPct val="110000"/>
              </a:lnSpc>
              <a:buClr>
                <a:srgbClr val="0000CC"/>
              </a:buClr>
            </a:pPr>
            <a:r>
              <a:rPr lang="zh-CN" altLang="en-US" sz="3000" b="0" dirty="0">
                <a:solidFill>
                  <a:srgbClr val="FF0000"/>
                </a:solidFill>
                <a:latin typeface="Times New Roman" panose="02020603050405020304" pitchFamily="18" charset="0"/>
              </a:rPr>
              <a:t>含核苷酸的生物活性物质：</a:t>
            </a:r>
            <a:r>
              <a:rPr lang="zh-CN" altLang="en-US" sz="3000" b="0" dirty="0">
                <a:latin typeface="Times New Roman" panose="02020603050405020304" pitchFamily="18" charset="0"/>
              </a:rPr>
              <a:t>    </a:t>
            </a:r>
          </a:p>
          <a:p>
            <a:pPr lvl="1" eaLnBrk="1" hangingPunct="1">
              <a:lnSpc>
                <a:spcPct val="110000"/>
              </a:lnSpc>
              <a:buClr>
                <a:srgbClr val="0000CC"/>
              </a:buClr>
              <a:buFont typeface="Wingdings" panose="05000000000000000000" pitchFamily="2" charset="2"/>
              <a:buNone/>
            </a:pPr>
            <a:r>
              <a:rPr lang="zh-CN" altLang="en-US" dirty="0">
                <a:latin typeface="Times New Roman" panose="02020603050405020304" pitchFamily="18" charset="0"/>
              </a:rPr>
              <a:t>辅酶</a:t>
            </a:r>
            <a:r>
              <a:rPr lang="en-US" altLang="zh-CN" dirty="0">
                <a:latin typeface="Times New Roman" panose="02020603050405020304" pitchFamily="18" charset="0"/>
              </a:rPr>
              <a:t>NAD</a:t>
            </a:r>
            <a:r>
              <a:rPr lang="en-US" altLang="zh-CN" baseline="30000" dirty="0">
                <a:latin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NADP</a:t>
            </a:r>
            <a:r>
              <a:rPr lang="en-US" altLang="zh-CN" baseline="30000" dirty="0">
                <a:latin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CoA-SH</a:t>
            </a:r>
            <a:r>
              <a:rPr lang="zh-CN" altLang="en-US" dirty="0">
                <a:latin typeface="Times New Roman" panose="02020603050405020304" pitchFamily="18" charset="0"/>
              </a:rPr>
              <a:t>、</a:t>
            </a:r>
            <a:r>
              <a:rPr lang="en-US" altLang="zh-CN" dirty="0">
                <a:latin typeface="Times New Roman" panose="02020603050405020304" pitchFamily="18" charset="0"/>
              </a:rPr>
              <a:t>FAD </a:t>
            </a:r>
            <a:r>
              <a:rPr lang="zh-CN" altLang="en-US" dirty="0">
                <a:latin typeface="Times New Roman" panose="02020603050405020304" pitchFamily="18" charset="0"/>
              </a:rPr>
              <a:t>等都含有 </a:t>
            </a:r>
            <a:r>
              <a:rPr lang="en-US" altLang="zh-CN" dirty="0">
                <a:solidFill>
                  <a:srgbClr val="C00000"/>
                </a:solidFill>
                <a:latin typeface="Times New Roman" panose="02020603050405020304" pitchFamily="18" charset="0"/>
              </a:rPr>
              <a:t>AMP</a:t>
            </a:r>
          </a:p>
        </p:txBody>
      </p:sp>
      <p:grpSp>
        <p:nvGrpSpPr>
          <p:cNvPr id="2" name="Group 4">
            <a:extLst>
              <a:ext uri="{FF2B5EF4-FFF2-40B4-BE49-F238E27FC236}">
                <a16:creationId xmlns:a16="http://schemas.microsoft.com/office/drawing/2014/main" id="{D9FB75BF-8D27-400C-B977-4D3B9D55D909}"/>
              </a:ext>
            </a:extLst>
          </p:cNvPr>
          <p:cNvGrpSpPr>
            <a:grpSpLocks/>
          </p:cNvGrpSpPr>
          <p:nvPr/>
        </p:nvGrpSpPr>
        <p:grpSpPr bwMode="auto">
          <a:xfrm>
            <a:off x="1574479" y="2109407"/>
            <a:ext cx="8856984" cy="3457575"/>
            <a:chOff x="567" y="2286"/>
            <a:chExt cx="4755" cy="2034"/>
          </a:xfrm>
        </p:grpSpPr>
        <p:pic>
          <p:nvPicPr>
            <p:cNvPr id="78856" name="Picture 5" descr="NAD">
              <a:extLst>
                <a:ext uri="{FF2B5EF4-FFF2-40B4-BE49-F238E27FC236}">
                  <a16:creationId xmlns:a16="http://schemas.microsoft.com/office/drawing/2014/main" id="{2D9D9141-AD83-4E82-A732-BEB26B408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 y="2296"/>
              <a:ext cx="1865" cy="1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7" name="Picture 6" descr="NADP">
              <a:extLst>
                <a:ext uri="{FF2B5EF4-FFF2-40B4-BE49-F238E27FC236}">
                  <a16:creationId xmlns:a16="http://schemas.microsoft.com/office/drawing/2014/main" id="{3918E1AD-20B8-46CA-8A31-11ED5BD8FA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8" y="2286"/>
              <a:ext cx="2034" cy="2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8" name="Text Box 7">
              <a:extLst>
                <a:ext uri="{FF2B5EF4-FFF2-40B4-BE49-F238E27FC236}">
                  <a16:creationId xmlns:a16="http://schemas.microsoft.com/office/drawing/2014/main" id="{59800ED8-EC00-4255-87B4-ABCE683F56A4}"/>
                </a:ext>
              </a:extLst>
            </p:cNvPr>
            <p:cNvSpPr txBox="1">
              <a:spLocks noChangeArrowheads="1"/>
            </p:cNvSpPr>
            <p:nvPr/>
          </p:nvSpPr>
          <p:spPr bwMode="auto">
            <a:xfrm>
              <a:off x="3878" y="3915"/>
              <a:ext cx="605"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2000">
                  <a:solidFill>
                    <a:srgbClr val="660033"/>
                  </a:solidFill>
                  <a:latin typeface="Times New Roman" panose="02020603050405020304" pitchFamily="18" charset="0"/>
                  <a:ea typeface="宋体" panose="02010600030101010101" pitchFamily="2" charset="-122"/>
                </a:rPr>
                <a:t>NADP</a:t>
              </a:r>
              <a:r>
                <a:rPr lang="en-US" altLang="zh-CN" sz="2000" baseline="30000">
                  <a:solidFill>
                    <a:srgbClr val="660033"/>
                  </a:solidFill>
                  <a:latin typeface="Times New Roman" panose="02020603050405020304" pitchFamily="18" charset="0"/>
                  <a:ea typeface="宋体" panose="02010600030101010101" pitchFamily="2" charset="-122"/>
                </a:rPr>
                <a:t>+</a:t>
              </a:r>
            </a:p>
          </p:txBody>
        </p:sp>
        <p:sp>
          <p:nvSpPr>
            <p:cNvPr id="78859" name="Text Box 8">
              <a:extLst>
                <a:ext uri="{FF2B5EF4-FFF2-40B4-BE49-F238E27FC236}">
                  <a16:creationId xmlns:a16="http://schemas.microsoft.com/office/drawing/2014/main" id="{1C7D02F7-75E5-48BB-A017-26C1AF82C9B3}"/>
                </a:ext>
              </a:extLst>
            </p:cNvPr>
            <p:cNvSpPr txBox="1">
              <a:spLocks noChangeArrowheads="1"/>
            </p:cNvSpPr>
            <p:nvPr/>
          </p:nvSpPr>
          <p:spPr bwMode="auto">
            <a:xfrm>
              <a:off x="1111" y="3929"/>
              <a:ext cx="510" cy="2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2000">
                  <a:solidFill>
                    <a:srgbClr val="660033"/>
                  </a:solidFill>
                  <a:latin typeface="Times New Roman" panose="02020603050405020304" pitchFamily="18" charset="0"/>
                  <a:ea typeface="宋体" panose="02010600030101010101" pitchFamily="2" charset="-122"/>
                </a:rPr>
                <a:t>NAD</a:t>
              </a:r>
              <a:r>
                <a:rPr lang="en-US" altLang="zh-CN" sz="2000" baseline="30000">
                  <a:solidFill>
                    <a:srgbClr val="660033"/>
                  </a:solidFill>
                  <a:latin typeface="Times New Roman" panose="02020603050405020304" pitchFamily="18" charset="0"/>
                  <a:ea typeface="宋体" panose="02010600030101010101" pitchFamily="2" charset="-122"/>
                </a:rPr>
                <a:t>+</a:t>
              </a:r>
            </a:p>
          </p:txBody>
        </p:sp>
      </p:grpSp>
      <p:sp>
        <p:nvSpPr>
          <p:cNvPr id="994314" name="Rectangle 10">
            <a:extLst>
              <a:ext uri="{FF2B5EF4-FFF2-40B4-BE49-F238E27FC236}">
                <a16:creationId xmlns:a16="http://schemas.microsoft.com/office/drawing/2014/main" id="{0E0A0478-64E0-4AC8-9CFD-FE60BFA6DC55}"/>
              </a:ext>
            </a:extLst>
          </p:cNvPr>
          <p:cNvSpPr>
            <a:spLocks noChangeArrowheads="1"/>
          </p:cNvSpPr>
          <p:nvPr/>
        </p:nvSpPr>
        <p:spPr bwMode="auto">
          <a:xfrm>
            <a:off x="3431704" y="2037334"/>
            <a:ext cx="2102667" cy="2930525"/>
          </a:xfrm>
          <a:prstGeom prst="rect">
            <a:avLst/>
          </a:prstGeom>
          <a:noFill/>
          <a:ln w="38100">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994315" name="Rectangle 11">
            <a:extLst>
              <a:ext uri="{FF2B5EF4-FFF2-40B4-BE49-F238E27FC236}">
                <a16:creationId xmlns:a16="http://schemas.microsoft.com/office/drawing/2014/main" id="{32772205-31EF-4ABA-84E3-A9E455CC6C9B}"/>
              </a:ext>
            </a:extLst>
          </p:cNvPr>
          <p:cNvSpPr>
            <a:spLocks noChangeArrowheads="1"/>
          </p:cNvSpPr>
          <p:nvPr/>
        </p:nvSpPr>
        <p:spPr bwMode="auto">
          <a:xfrm>
            <a:off x="8605098" y="1988840"/>
            <a:ext cx="1955398" cy="2930525"/>
          </a:xfrm>
          <a:prstGeom prst="rect">
            <a:avLst/>
          </a:prstGeom>
          <a:noFill/>
          <a:ln w="38100">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78854" name="文本框 3">
            <a:extLst>
              <a:ext uri="{FF2B5EF4-FFF2-40B4-BE49-F238E27FC236}">
                <a16:creationId xmlns:a16="http://schemas.microsoft.com/office/drawing/2014/main" id="{05FAF409-5B34-4B8D-ACC0-9270D2BD8315}"/>
              </a:ext>
            </a:extLst>
          </p:cNvPr>
          <p:cNvSpPr txBox="1">
            <a:spLocks noChangeArrowheads="1"/>
          </p:cNvSpPr>
          <p:nvPr/>
        </p:nvSpPr>
        <p:spPr bwMode="auto">
          <a:xfrm>
            <a:off x="3735873" y="5070237"/>
            <a:ext cx="180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zh-CN" altLang="en-US" dirty="0">
                <a:solidFill>
                  <a:schemeClr val="tx1"/>
                </a:solidFill>
              </a:rPr>
              <a:t>辅酶</a:t>
            </a:r>
            <a:r>
              <a:rPr lang="en-US" altLang="zh-CN" dirty="0">
                <a:solidFill>
                  <a:schemeClr val="tx1"/>
                </a:solidFill>
              </a:rPr>
              <a:t>I</a:t>
            </a:r>
            <a:endParaRPr lang="zh-CN" altLang="en-US" dirty="0">
              <a:solidFill>
                <a:schemeClr val="tx1"/>
              </a:solidFill>
            </a:endParaRPr>
          </a:p>
        </p:txBody>
      </p:sp>
      <p:sp>
        <p:nvSpPr>
          <p:cNvPr id="78855" name="文本框 11">
            <a:extLst>
              <a:ext uri="{FF2B5EF4-FFF2-40B4-BE49-F238E27FC236}">
                <a16:creationId xmlns:a16="http://schemas.microsoft.com/office/drawing/2014/main" id="{3981FB96-CB1E-4FE1-B62D-4BB55885F215}"/>
              </a:ext>
            </a:extLst>
          </p:cNvPr>
          <p:cNvSpPr txBox="1">
            <a:spLocks noChangeArrowheads="1"/>
          </p:cNvSpPr>
          <p:nvPr/>
        </p:nvSpPr>
        <p:spPr bwMode="auto">
          <a:xfrm>
            <a:off x="7744422" y="5266764"/>
            <a:ext cx="180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zh-CN" altLang="en-US" dirty="0">
                <a:solidFill>
                  <a:schemeClr val="tx1"/>
                </a:solidFill>
              </a:rPr>
              <a:t>辅酶</a:t>
            </a:r>
            <a:r>
              <a:rPr lang="en-US" altLang="zh-CN" dirty="0">
                <a:solidFill>
                  <a:schemeClr val="tx1"/>
                </a:solidFill>
              </a:rPr>
              <a:t>II</a:t>
            </a:r>
            <a:endParaRPr lang="zh-CN" altLang="en-US" dirty="0">
              <a:solidFill>
                <a:schemeClr val="tx1"/>
              </a:solidFill>
            </a:endParaRPr>
          </a:p>
        </p:txBody>
      </p:sp>
      <p:sp>
        <p:nvSpPr>
          <p:cNvPr id="4" name="文本框 3">
            <a:extLst>
              <a:ext uri="{FF2B5EF4-FFF2-40B4-BE49-F238E27FC236}">
                <a16:creationId xmlns:a16="http://schemas.microsoft.com/office/drawing/2014/main" id="{877E7BBF-CB17-1B0F-A79B-F85C41A1A6BC}"/>
              </a:ext>
            </a:extLst>
          </p:cNvPr>
          <p:cNvSpPr txBox="1"/>
          <p:nvPr/>
        </p:nvSpPr>
        <p:spPr>
          <a:xfrm>
            <a:off x="3735873" y="6014297"/>
            <a:ext cx="5605879" cy="523220"/>
          </a:xfrm>
          <a:prstGeom prst="rect">
            <a:avLst/>
          </a:prstGeom>
          <a:noFill/>
        </p:spPr>
        <p:txBody>
          <a:bodyPr wrap="square">
            <a:spAutoFit/>
          </a:bodyPr>
          <a:lstStyle/>
          <a:p>
            <a:r>
              <a:rPr lang="en-US" altLang="zh-CN" sz="2800" dirty="0">
                <a:solidFill>
                  <a:srgbClr val="0000CC"/>
                </a:solidFill>
                <a:latin typeface="黑体" panose="02010609060101010101" pitchFamily="49" charset="-122"/>
                <a:ea typeface="黑体" panose="02010609060101010101" pitchFamily="49" charset="-122"/>
              </a:rPr>
              <a:t>NAD</a:t>
            </a:r>
            <a:r>
              <a:rPr lang="zh-CN" altLang="en-US" sz="2800" dirty="0">
                <a:solidFill>
                  <a:srgbClr val="0000CC"/>
                </a:solidFill>
                <a:latin typeface="黑体" panose="02010609060101010101" pitchFamily="49" charset="-122"/>
                <a:ea typeface="黑体" panose="02010609060101010101" pitchFamily="49" charset="-122"/>
              </a:rPr>
              <a:t>和</a:t>
            </a:r>
            <a:r>
              <a:rPr lang="en-US" altLang="zh-CN" sz="2800" dirty="0">
                <a:solidFill>
                  <a:srgbClr val="0000CC"/>
                </a:solidFill>
                <a:latin typeface="黑体" panose="02010609060101010101" pitchFamily="49" charset="-122"/>
                <a:ea typeface="黑体" panose="02010609060101010101" pitchFamily="49" charset="-122"/>
              </a:rPr>
              <a:t>NADP</a:t>
            </a:r>
            <a:r>
              <a:rPr lang="zh-CN" altLang="en-US" sz="2800" dirty="0">
                <a:solidFill>
                  <a:srgbClr val="0000CC"/>
                </a:solidFill>
                <a:latin typeface="黑体" panose="02010609060101010101" pitchFamily="49" charset="-122"/>
                <a:ea typeface="黑体" panose="02010609060101010101" pitchFamily="49" charset="-122"/>
              </a:rPr>
              <a:t>是多种脱氢酶的辅酶</a:t>
            </a:r>
          </a:p>
        </p:txBody>
      </p:sp>
      <p:sp>
        <p:nvSpPr>
          <p:cNvPr id="5" name="文本框 4">
            <a:extLst>
              <a:ext uri="{FF2B5EF4-FFF2-40B4-BE49-F238E27FC236}">
                <a16:creationId xmlns:a16="http://schemas.microsoft.com/office/drawing/2014/main" id="{41B29BF5-E370-80B1-4161-19D6DF0F9B53}"/>
              </a:ext>
            </a:extLst>
          </p:cNvPr>
          <p:cNvSpPr txBox="1"/>
          <p:nvPr/>
        </p:nvSpPr>
        <p:spPr>
          <a:xfrm>
            <a:off x="1254236" y="5477670"/>
            <a:ext cx="5605878" cy="461665"/>
          </a:xfrm>
          <a:prstGeom prst="rect">
            <a:avLst/>
          </a:prstGeom>
          <a:noFill/>
        </p:spPr>
        <p:txBody>
          <a:bodyPr wrap="square">
            <a:spAutoFit/>
          </a:bodyPr>
          <a:lstStyle/>
          <a:p>
            <a:r>
              <a:rPr lang="en-US" altLang="zh-CN" dirty="0">
                <a:solidFill>
                  <a:srgbClr val="C00000"/>
                </a:solidFill>
                <a:latin typeface="微软雅黑" panose="020B0503020204020204" pitchFamily="34" charset="-122"/>
                <a:ea typeface="微软雅黑" panose="020B0503020204020204" pitchFamily="34" charset="-122"/>
              </a:rPr>
              <a:t>n</a:t>
            </a:r>
            <a:r>
              <a:rPr lang="en-US" altLang="zh-CN" dirty="0">
                <a:latin typeface="微软雅黑" panose="020B0503020204020204" pitchFamily="34" charset="-122"/>
                <a:ea typeface="微软雅黑" panose="020B0503020204020204" pitchFamily="34" charset="-122"/>
              </a:rPr>
              <a:t>icotinamide </a:t>
            </a:r>
            <a:r>
              <a:rPr lang="en-US" altLang="zh-CN" dirty="0">
                <a:solidFill>
                  <a:srgbClr val="C00000"/>
                </a:solidFill>
                <a:latin typeface="微软雅黑" panose="020B0503020204020204" pitchFamily="34" charset="-122"/>
                <a:ea typeface="微软雅黑" panose="020B0503020204020204" pitchFamily="34" charset="-122"/>
              </a:rPr>
              <a:t>a</a:t>
            </a:r>
            <a:r>
              <a:rPr lang="en-US" altLang="zh-CN" dirty="0">
                <a:latin typeface="微软雅黑" panose="020B0503020204020204" pitchFamily="34" charset="-122"/>
                <a:ea typeface="微软雅黑" panose="020B0503020204020204" pitchFamily="34" charset="-122"/>
              </a:rPr>
              <a:t>denine </a:t>
            </a:r>
            <a:r>
              <a:rPr lang="en-US" altLang="zh-CN" dirty="0">
                <a:solidFill>
                  <a:srgbClr val="C00000"/>
                </a:solidFill>
                <a:latin typeface="微软雅黑" panose="020B0503020204020204" pitchFamily="34" charset="-122"/>
                <a:ea typeface="微软雅黑" panose="020B0503020204020204" pitchFamily="34" charset="-122"/>
              </a:rPr>
              <a:t>d</a:t>
            </a:r>
            <a:r>
              <a:rPr lang="en-US" altLang="zh-CN" dirty="0">
                <a:latin typeface="微软雅黑" panose="020B0503020204020204" pitchFamily="34" charset="-122"/>
                <a:ea typeface="微软雅黑" panose="020B0503020204020204" pitchFamily="34" charset="-122"/>
              </a:rPr>
              <a:t>inucleotide</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94314"/>
                                        </p:tgtEl>
                                        <p:attrNameLst>
                                          <p:attrName>style.visibility</p:attrName>
                                        </p:attrNameLst>
                                      </p:cBhvr>
                                      <p:to>
                                        <p:strVal val="visible"/>
                                      </p:to>
                                    </p:set>
                                    <p:animEffect transition="in" filter="box(in)">
                                      <p:cBhvr>
                                        <p:cTn id="7" dur="500"/>
                                        <p:tgtEl>
                                          <p:spTgt spid="994314"/>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994315"/>
                                        </p:tgtEl>
                                        <p:attrNameLst>
                                          <p:attrName>style.visibility</p:attrName>
                                        </p:attrNameLst>
                                      </p:cBhvr>
                                      <p:to>
                                        <p:strVal val="visible"/>
                                      </p:to>
                                    </p:set>
                                    <p:animEffect transition="in" filter="box(in)">
                                      <p:cBhvr>
                                        <p:cTn id="10" dur="500"/>
                                        <p:tgtEl>
                                          <p:spTgt spid="994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4314" grpId="0" animBg="1"/>
      <p:bldP spid="9943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图片 1">
            <a:extLst>
              <a:ext uri="{FF2B5EF4-FFF2-40B4-BE49-F238E27FC236}">
                <a16:creationId xmlns:a16="http://schemas.microsoft.com/office/drawing/2014/main" id="{2C9578D3-1339-4AB2-8D0A-5512B672E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189" y="95250"/>
            <a:ext cx="7921625" cy="666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矩形 3">
            <a:extLst>
              <a:ext uri="{FF2B5EF4-FFF2-40B4-BE49-F238E27FC236}">
                <a16:creationId xmlns:a16="http://schemas.microsoft.com/office/drawing/2014/main" id="{0634EA3D-3484-4815-9C46-72909C01A501}"/>
              </a:ext>
            </a:extLst>
          </p:cNvPr>
          <p:cNvSpPr>
            <a:spLocks noChangeArrowheads="1"/>
          </p:cNvSpPr>
          <p:nvPr/>
        </p:nvSpPr>
        <p:spPr bwMode="auto">
          <a:xfrm>
            <a:off x="7464426" y="908051"/>
            <a:ext cx="20304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sz="2400" b="0">
                <a:solidFill>
                  <a:srgbClr val="0000CC"/>
                </a:solidFill>
                <a:latin typeface="Times New Roman" panose="02020603050405020304" pitchFamily="18" charset="0"/>
                <a:ea typeface="楷体_GB2312" pitchFamily="49" charset="-122"/>
              </a:rPr>
              <a:t>二甲基异咯嗪</a:t>
            </a:r>
          </a:p>
        </p:txBody>
      </p:sp>
      <p:sp>
        <p:nvSpPr>
          <p:cNvPr id="80900" name="矩形 4">
            <a:extLst>
              <a:ext uri="{FF2B5EF4-FFF2-40B4-BE49-F238E27FC236}">
                <a16:creationId xmlns:a16="http://schemas.microsoft.com/office/drawing/2014/main" id="{95098C42-5110-4EAF-BA28-E693857C8952}"/>
              </a:ext>
            </a:extLst>
          </p:cNvPr>
          <p:cNvSpPr>
            <a:spLocks noChangeArrowheads="1"/>
          </p:cNvSpPr>
          <p:nvPr/>
        </p:nvSpPr>
        <p:spPr bwMode="auto">
          <a:xfrm>
            <a:off x="3216276" y="2636838"/>
            <a:ext cx="576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zh-CN" altLang="en-US" sz="2400" b="0">
                <a:solidFill>
                  <a:srgbClr val="0000CC"/>
                </a:solidFill>
              </a:rPr>
              <a:t>核黄素</a:t>
            </a:r>
            <a:endParaRPr lang="en-US" altLang="zh-CN" sz="2400" b="0">
              <a:solidFill>
                <a:srgbClr val="0000CC"/>
              </a:solidFill>
            </a:endParaRPr>
          </a:p>
        </p:txBody>
      </p:sp>
      <p:sp>
        <p:nvSpPr>
          <p:cNvPr id="80901" name="矩形 5">
            <a:extLst>
              <a:ext uri="{FF2B5EF4-FFF2-40B4-BE49-F238E27FC236}">
                <a16:creationId xmlns:a16="http://schemas.microsoft.com/office/drawing/2014/main" id="{57D7BD6C-810B-4406-B481-41534EF018D4}"/>
              </a:ext>
            </a:extLst>
          </p:cNvPr>
          <p:cNvSpPr>
            <a:spLocks noChangeArrowheads="1"/>
          </p:cNvSpPr>
          <p:nvPr/>
        </p:nvSpPr>
        <p:spPr bwMode="auto">
          <a:xfrm>
            <a:off x="2711451" y="3836989"/>
            <a:ext cx="576263"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zh-CN" altLang="en-US" sz="2000" b="0">
                <a:solidFill>
                  <a:schemeClr val="tx1"/>
                </a:solidFill>
              </a:rPr>
              <a:t>黄素单核苷酸</a:t>
            </a:r>
          </a:p>
        </p:txBody>
      </p:sp>
      <p:sp>
        <p:nvSpPr>
          <p:cNvPr id="3" name="文本框 2">
            <a:extLst>
              <a:ext uri="{FF2B5EF4-FFF2-40B4-BE49-F238E27FC236}">
                <a16:creationId xmlns:a16="http://schemas.microsoft.com/office/drawing/2014/main" id="{F149D8AE-6ECC-A36D-DEDA-91D75B004DF2}"/>
              </a:ext>
            </a:extLst>
          </p:cNvPr>
          <p:cNvSpPr txBox="1"/>
          <p:nvPr/>
        </p:nvSpPr>
        <p:spPr>
          <a:xfrm>
            <a:off x="7752184" y="2569443"/>
            <a:ext cx="3743076" cy="830997"/>
          </a:xfrm>
          <a:prstGeom prst="rect">
            <a:avLst/>
          </a:prstGeom>
          <a:noFill/>
        </p:spPr>
        <p:txBody>
          <a:bodyPr wrap="square">
            <a:spAutoFit/>
          </a:bodyPr>
          <a:lstStyle/>
          <a:p>
            <a:r>
              <a:rPr lang="en-US" altLang="zh-CN" dirty="0">
                <a:solidFill>
                  <a:srgbClr val="FF0000"/>
                </a:solidFill>
                <a:latin typeface="微软雅黑" panose="020B0503020204020204" pitchFamily="34" charset="-122"/>
                <a:ea typeface="微软雅黑" panose="020B0503020204020204" pitchFamily="34" charset="-122"/>
              </a:rPr>
              <a:t>FAD(</a:t>
            </a:r>
            <a:r>
              <a:rPr lang="zh-CN" altLang="en-US" dirty="0">
                <a:solidFill>
                  <a:srgbClr val="FF0000"/>
                </a:solidFill>
                <a:latin typeface="微软雅黑" panose="020B0503020204020204" pitchFamily="34" charset="-122"/>
                <a:ea typeface="微软雅黑" panose="020B0503020204020204" pitchFamily="34" charset="-122"/>
              </a:rPr>
              <a:t>黄素腺嘌呤二核苷酸</a:t>
            </a:r>
            <a:r>
              <a:rPr lang="en-US" altLang="zh-CN" dirty="0">
                <a:solidFill>
                  <a:srgbClr val="FF0000"/>
                </a:solidFill>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是多种脱氢酶的辅基</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spd="slow">
    <p:circl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a:extLst>
              <a:ext uri="{FF2B5EF4-FFF2-40B4-BE49-F238E27FC236}">
                <a16:creationId xmlns:a16="http://schemas.microsoft.com/office/drawing/2014/main" id="{F40A2A2F-6B7B-4B60-A65B-4915660B4661}"/>
              </a:ext>
            </a:extLst>
          </p:cNvPr>
          <p:cNvSpPr>
            <a:spLocks noGrp="1" noChangeArrowheads="1"/>
          </p:cNvSpPr>
          <p:nvPr>
            <p:ph type="title" idx="4294967295"/>
          </p:nvPr>
        </p:nvSpPr>
        <p:spPr>
          <a:xfrm>
            <a:off x="2135188" y="620713"/>
            <a:ext cx="8153400" cy="533400"/>
          </a:xfrm>
        </p:spPr>
        <p:txBody>
          <a:bodyPr/>
          <a:lstStyle/>
          <a:p>
            <a:r>
              <a:rPr lang="zh-CN" altLang="en-US" b="0"/>
              <a:t>辅酶</a:t>
            </a:r>
            <a:r>
              <a:rPr lang="en-US" altLang="zh-CN" b="0"/>
              <a:t>A</a:t>
            </a:r>
            <a:r>
              <a:rPr lang="zh-CN" altLang="en-US"/>
              <a:t>（</a:t>
            </a:r>
            <a:r>
              <a:rPr lang="en-US" altLang="zh-CN"/>
              <a:t>Coenzyme A, HSCoA, CoA-SH</a:t>
            </a:r>
            <a:r>
              <a:rPr lang="zh-CN" altLang="en-US"/>
              <a:t>）</a:t>
            </a:r>
          </a:p>
        </p:txBody>
      </p:sp>
      <p:pic>
        <p:nvPicPr>
          <p:cNvPr id="82947" name="图片 2">
            <a:extLst>
              <a:ext uri="{FF2B5EF4-FFF2-40B4-BE49-F238E27FC236}">
                <a16:creationId xmlns:a16="http://schemas.microsoft.com/office/drawing/2014/main" id="{EC31B489-7484-4218-B74D-D3E345E1D2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9496" y="1556792"/>
            <a:ext cx="9611434" cy="4032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4994" name="图片 1">
            <a:extLst>
              <a:ext uri="{FF2B5EF4-FFF2-40B4-BE49-F238E27FC236}">
                <a16:creationId xmlns:a16="http://schemas.microsoft.com/office/drawing/2014/main" id="{F6E6DD46-254F-4DBE-8DD8-01C4802845B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4963" y="188914"/>
            <a:ext cx="5256212" cy="653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矩形 1">
            <a:extLst>
              <a:ext uri="{FF2B5EF4-FFF2-40B4-BE49-F238E27FC236}">
                <a16:creationId xmlns:a16="http://schemas.microsoft.com/office/drawing/2014/main" id="{E8D3691B-DC73-428C-8B1A-BBFE29548FB1}"/>
              </a:ext>
            </a:extLst>
          </p:cNvPr>
          <p:cNvSpPr>
            <a:spLocks noChangeArrowheads="1"/>
          </p:cNvSpPr>
          <p:nvPr/>
        </p:nvSpPr>
        <p:spPr bwMode="auto">
          <a:xfrm>
            <a:off x="7176120" y="2420888"/>
            <a:ext cx="3563937"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30000"/>
              </a:spcBef>
              <a:buClrTx/>
              <a:buFontTx/>
              <a:buNone/>
            </a:pPr>
            <a:r>
              <a:rPr kumimoji="0" lang="en-US" altLang="zh-CN" b="0" dirty="0">
                <a:solidFill>
                  <a:srgbClr val="0000FF"/>
                </a:solidFill>
              </a:rPr>
              <a:t>5</a:t>
            </a:r>
            <a:r>
              <a:rPr kumimoji="0" lang="zh-CN" altLang="en-US" b="0" dirty="0">
                <a:solidFill>
                  <a:srgbClr val="0000FF"/>
                </a:solidFill>
              </a:rPr>
              <a:t>‘</a:t>
            </a:r>
            <a:r>
              <a:rPr kumimoji="0" lang="en-US" altLang="zh-CN" b="0" dirty="0">
                <a:solidFill>
                  <a:srgbClr val="0000FF"/>
                </a:solidFill>
              </a:rPr>
              <a:t>-</a:t>
            </a:r>
            <a:r>
              <a:rPr kumimoji="0" lang="zh-CN" altLang="en-US" b="0" dirty="0">
                <a:solidFill>
                  <a:srgbClr val="0000FF"/>
                </a:solidFill>
              </a:rPr>
              <a:t>脱氧腺苷钴铵素</a:t>
            </a:r>
            <a:endParaRPr kumimoji="0" lang="en-US" altLang="zh-CN" b="0" dirty="0">
              <a:solidFill>
                <a:srgbClr val="0000FF"/>
              </a:solidFill>
            </a:endParaRPr>
          </a:p>
          <a:p>
            <a:pPr>
              <a:spcBef>
                <a:spcPct val="30000"/>
              </a:spcBef>
              <a:buClrTx/>
              <a:buFontTx/>
              <a:buNone/>
            </a:pPr>
            <a:r>
              <a:rPr kumimoji="0" lang="en-US" altLang="zh-CN" b="0" dirty="0">
                <a:solidFill>
                  <a:srgbClr val="000000"/>
                </a:solidFill>
              </a:rPr>
              <a:t>-------</a:t>
            </a:r>
            <a:r>
              <a:rPr kumimoji="0" lang="zh-CN" altLang="en-US" b="0" dirty="0">
                <a:solidFill>
                  <a:srgbClr val="000000"/>
                </a:solidFill>
              </a:rPr>
              <a:t>维生素</a:t>
            </a:r>
            <a:r>
              <a:rPr kumimoji="0" lang="en-US" altLang="zh-CN" b="0" dirty="0">
                <a:solidFill>
                  <a:srgbClr val="000000"/>
                </a:solidFill>
              </a:rPr>
              <a:t>B</a:t>
            </a:r>
            <a:r>
              <a:rPr kumimoji="0" lang="en-US" altLang="zh-CN" b="0" baseline="-25000" dirty="0">
                <a:solidFill>
                  <a:srgbClr val="000000"/>
                </a:solidFill>
              </a:rPr>
              <a:t>12</a:t>
            </a:r>
            <a:r>
              <a:rPr kumimoji="0" lang="zh-CN" altLang="en-US" b="0" dirty="0">
                <a:solidFill>
                  <a:srgbClr val="000000"/>
                </a:solidFill>
              </a:rPr>
              <a:t>在体内的活性形式之一</a:t>
            </a:r>
            <a:endParaRPr kumimoji="0" lang="en-US" altLang="zh-CN" b="0" dirty="0">
              <a:solidFill>
                <a:srgbClr val="000000"/>
              </a:solidFill>
            </a:endParaRPr>
          </a:p>
        </p:txBody>
      </p:sp>
    </p:spTree>
  </p:cSld>
  <p:clrMapOvr>
    <a:masterClrMapping/>
  </p:clrMapOvr>
  <p:transition spd="slow">
    <p:circle/>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733BF0B-97D2-4EFA-BF04-202A45025E9B}"/>
              </a:ext>
            </a:extLst>
          </p:cNvPr>
          <p:cNvSpPr>
            <a:spLocks noChangeArrowheads="1"/>
          </p:cNvSpPr>
          <p:nvPr/>
        </p:nvSpPr>
        <p:spPr bwMode="auto">
          <a:xfrm>
            <a:off x="4043363" y="89843"/>
            <a:ext cx="4105275"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dirty="0">
                <a:solidFill>
                  <a:srgbClr val="0000CC"/>
                </a:solidFill>
                <a:latin typeface="Times New Roman" panose="02020603050405020304" pitchFamily="18" charset="0"/>
                <a:ea typeface="黑体" panose="02010609060101010101" pitchFamily="49" charset="-122"/>
              </a:rPr>
              <a:t>核苷酸的生理功能</a:t>
            </a:r>
          </a:p>
        </p:txBody>
      </p:sp>
      <p:sp>
        <p:nvSpPr>
          <p:cNvPr id="87043" name="Rectangle 3">
            <a:extLst>
              <a:ext uri="{FF2B5EF4-FFF2-40B4-BE49-F238E27FC236}">
                <a16:creationId xmlns:a16="http://schemas.microsoft.com/office/drawing/2014/main" id="{F2320A58-7505-4015-A52B-933A9AD80C04}"/>
              </a:ext>
            </a:extLst>
          </p:cNvPr>
          <p:cNvSpPr>
            <a:spLocks noChangeArrowheads="1"/>
          </p:cNvSpPr>
          <p:nvPr/>
        </p:nvSpPr>
        <p:spPr bwMode="auto">
          <a:xfrm>
            <a:off x="2879726" y="1036639"/>
            <a:ext cx="6696075"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kumimoji="0" lang="en-US" altLang="zh-CN" b="0">
                <a:solidFill>
                  <a:srgbClr val="0000FF"/>
                </a:solidFill>
                <a:latin typeface="Arial" panose="020B0604020202020204" pitchFamily="34" charset="0"/>
                <a:ea typeface="宋体" panose="02010600030101010101" pitchFamily="2" charset="-122"/>
              </a:rPr>
              <a:t>1. </a:t>
            </a:r>
            <a:r>
              <a:rPr kumimoji="0" lang="zh-CN" altLang="en-US" b="0">
                <a:solidFill>
                  <a:srgbClr val="0000FF"/>
                </a:solidFill>
                <a:latin typeface="Arial" panose="020B0604020202020204" pitchFamily="34" charset="0"/>
                <a:ea typeface="宋体" panose="02010600030101010101" pitchFamily="2" charset="-122"/>
              </a:rPr>
              <a:t>核酸合成的原料    </a:t>
            </a:r>
          </a:p>
          <a:p>
            <a:pPr>
              <a:spcBef>
                <a:spcPct val="0"/>
              </a:spcBef>
              <a:buClrTx/>
              <a:buFontTx/>
              <a:buNone/>
            </a:pPr>
            <a:r>
              <a:rPr kumimoji="0" lang="zh-CN" altLang="en-US" b="0">
                <a:solidFill>
                  <a:srgbClr val="000000"/>
                </a:solidFill>
                <a:latin typeface="Arial" panose="020B0604020202020204" pitchFamily="34" charset="0"/>
                <a:ea typeface="宋体" panose="02010600030101010101" pitchFamily="2" charset="-122"/>
              </a:rPr>
              <a:t>      </a:t>
            </a:r>
            <a:r>
              <a:rPr kumimoji="0" lang="en-US" altLang="zh-CN" sz="2400" b="0">
                <a:solidFill>
                  <a:srgbClr val="000000"/>
                </a:solidFill>
                <a:latin typeface="Arial" panose="020B0604020202020204" pitchFamily="34" charset="0"/>
                <a:ea typeface="宋体" panose="02010600030101010101" pitchFamily="2" charset="-122"/>
              </a:rPr>
              <a:t>NTP</a:t>
            </a:r>
            <a:r>
              <a:rPr kumimoji="0" lang="zh-CN" altLang="en-US" sz="2400" b="0">
                <a:solidFill>
                  <a:srgbClr val="000000"/>
                </a:solidFill>
                <a:latin typeface="Arial" panose="020B0604020202020204" pitchFamily="34" charset="0"/>
                <a:ea typeface="宋体" panose="02010600030101010101" pitchFamily="2" charset="-122"/>
              </a:rPr>
              <a:t>，</a:t>
            </a:r>
            <a:r>
              <a:rPr kumimoji="0" lang="en-US" altLang="zh-CN" sz="2400" b="0">
                <a:solidFill>
                  <a:srgbClr val="000000"/>
                </a:solidFill>
                <a:latin typeface="Arial" panose="020B0604020202020204" pitchFamily="34" charset="0"/>
                <a:ea typeface="宋体" panose="02010600030101010101" pitchFamily="2" charset="-122"/>
              </a:rPr>
              <a:t>dNTP</a:t>
            </a:r>
            <a:r>
              <a:rPr kumimoji="0" lang="zh-CN" altLang="en-US" sz="2400" b="0">
                <a:solidFill>
                  <a:srgbClr val="000000"/>
                </a:solidFill>
                <a:latin typeface="Arial" panose="020B0604020202020204" pitchFamily="34" charset="0"/>
                <a:ea typeface="宋体" panose="02010600030101010101" pitchFamily="2" charset="-122"/>
              </a:rPr>
              <a:t>是核酸合成的原料</a:t>
            </a:r>
          </a:p>
          <a:p>
            <a:pPr>
              <a:spcBef>
                <a:spcPct val="0"/>
              </a:spcBef>
              <a:buClrTx/>
              <a:buFontTx/>
              <a:buNone/>
            </a:pPr>
            <a:r>
              <a:rPr kumimoji="0" lang="zh-CN" altLang="en-US" sz="2400" b="0">
                <a:solidFill>
                  <a:srgbClr val="000000"/>
                </a:solidFill>
                <a:latin typeface="Arial" panose="020B0604020202020204" pitchFamily="34" charset="0"/>
                <a:ea typeface="宋体" panose="02010600030101010101" pitchFamily="2" charset="-122"/>
              </a:rPr>
              <a:t>       </a:t>
            </a:r>
            <a:r>
              <a:rPr kumimoji="0" lang="en-US" altLang="zh-CN" sz="2400" b="0">
                <a:solidFill>
                  <a:srgbClr val="000000"/>
                </a:solidFill>
                <a:latin typeface="Arial" panose="020B0604020202020204" pitchFamily="34" charset="0"/>
                <a:ea typeface="宋体" panose="02010600030101010101" pitchFamily="2" charset="-122"/>
              </a:rPr>
              <a:t>NMP,dNMP</a:t>
            </a:r>
            <a:r>
              <a:rPr kumimoji="0" lang="zh-CN" altLang="en-US" sz="2400" b="0">
                <a:solidFill>
                  <a:srgbClr val="000000"/>
                </a:solidFill>
                <a:latin typeface="Arial" panose="020B0604020202020204" pitchFamily="34" charset="0"/>
                <a:ea typeface="宋体" panose="02010600030101010101" pitchFamily="2" charset="-122"/>
              </a:rPr>
              <a:t>是核酸的基本组成单位</a:t>
            </a:r>
          </a:p>
        </p:txBody>
      </p:sp>
      <p:sp>
        <p:nvSpPr>
          <p:cNvPr id="87044" name="Rectangle 4">
            <a:extLst>
              <a:ext uri="{FF2B5EF4-FFF2-40B4-BE49-F238E27FC236}">
                <a16:creationId xmlns:a16="http://schemas.microsoft.com/office/drawing/2014/main" id="{C776B377-1C8C-4D45-9E8E-1B52137CC92B}"/>
              </a:ext>
            </a:extLst>
          </p:cNvPr>
          <p:cNvSpPr>
            <a:spLocks noChangeArrowheads="1"/>
          </p:cNvSpPr>
          <p:nvPr/>
        </p:nvSpPr>
        <p:spPr bwMode="auto">
          <a:xfrm>
            <a:off x="2952750" y="2836864"/>
            <a:ext cx="2387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buClr>
                <a:schemeClr val="tx1"/>
              </a:buClr>
              <a:buFontTx/>
              <a:buNone/>
            </a:pPr>
            <a:r>
              <a:rPr kumimoji="0" lang="en-US" altLang="zh-CN" b="0">
                <a:solidFill>
                  <a:srgbClr val="000000"/>
                </a:solidFill>
                <a:latin typeface="Arial" panose="020B0604020202020204" pitchFamily="34" charset="0"/>
                <a:ea typeface="宋体" panose="02010600030101010101" pitchFamily="2" charset="-122"/>
              </a:rPr>
              <a:t>2</a:t>
            </a:r>
            <a:r>
              <a:rPr kumimoji="0" lang="en-US" altLang="zh-CN" b="0">
                <a:solidFill>
                  <a:srgbClr val="0000FF"/>
                </a:solidFill>
                <a:latin typeface="Arial" panose="020B0604020202020204" pitchFamily="34" charset="0"/>
                <a:ea typeface="宋体" panose="02010600030101010101" pitchFamily="2" charset="-122"/>
              </a:rPr>
              <a:t>. </a:t>
            </a:r>
            <a:r>
              <a:rPr kumimoji="0" lang="zh-CN" altLang="en-US" b="0">
                <a:solidFill>
                  <a:srgbClr val="0000FF"/>
                </a:solidFill>
                <a:latin typeface="Arial" panose="020B0604020202020204" pitchFamily="34" charset="0"/>
                <a:ea typeface="宋体" panose="02010600030101010101" pitchFamily="2" charset="-122"/>
              </a:rPr>
              <a:t>贮能和供能</a:t>
            </a:r>
          </a:p>
        </p:txBody>
      </p:sp>
      <p:sp>
        <p:nvSpPr>
          <p:cNvPr id="378885" name="Text Box 5">
            <a:extLst>
              <a:ext uri="{FF2B5EF4-FFF2-40B4-BE49-F238E27FC236}">
                <a16:creationId xmlns:a16="http://schemas.microsoft.com/office/drawing/2014/main" id="{4B0D1D09-2A39-4594-A8A5-88AA58B5ABA5}"/>
              </a:ext>
            </a:extLst>
          </p:cNvPr>
          <p:cNvSpPr txBox="1">
            <a:spLocks noChangeArrowheads="1"/>
          </p:cNvSpPr>
          <p:nvPr/>
        </p:nvSpPr>
        <p:spPr bwMode="auto">
          <a:xfrm>
            <a:off x="5616575" y="2405064"/>
            <a:ext cx="3505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50000"/>
              </a:spcBef>
              <a:buClrTx/>
              <a:buFontTx/>
              <a:buNone/>
            </a:pPr>
            <a:r>
              <a:rPr lang="en-US" altLang="zh-CN" sz="2000" b="0">
                <a:solidFill>
                  <a:srgbClr val="000000"/>
                </a:solidFill>
                <a:latin typeface="Times New Roman" panose="02020603050405020304" pitchFamily="18" charset="0"/>
                <a:ea typeface="宋体" panose="02010600030101010101" pitchFamily="2" charset="-122"/>
              </a:rPr>
              <a:t>ATP—— </a:t>
            </a:r>
            <a:r>
              <a:rPr lang="zh-CN" altLang="en-US" sz="2000" b="0">
                <a:solidFill>
                  <a:srgbClr val="000000"/>
                </a:solidFill>
                <a:latin typeface="Times New Roman" panose="02020603050405020304" pitchFamily="18" charset="0"/>
                <a:ea typeface="宋体" panose="02010600030101010101" pitchFamily="2" charset="-122"/>
              </a:rPr>
              <a:t>能量“货币”</a:t>
            </a:r>
          </a:p>
        </p:txBody>
      </p:sp>
      <p:sp>
        <p:nvSpPr>
          <p:cNvPr id="87046" name="AutoShape 6">
            <a:extLst>
              <a:ext uri="{FF2B5EF4-FFF2-40B4-BE49-F238E27FC236}">
                <a16:creationId xmlns:a16="http://schemas.microsoft.com/office/drawing/2014/main" id="{EBFEC239-2D77-4118-AAE1-8E004D64872C}"/>
              </a:ext>
            </a:extLst>
          </p:cNvPr>
          <p:cNvSpPr>
            <a:spLocks/>
          </p:cNvSpPr>
          <p:nvPr/>
        </p:nvSpPr>
        <p:spPr bwMode="auto">
          <a:xfrm>
            <a:off x="5400676" y="2620963"/>
            <a:ext cx="144463" cy="1223962"/>
          </a:xfrm>
          <a:prstGeom prst="leftBrace">
            <a:avLst>
              <a:gd name="adj1" fmla="val 7060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endParaRPr lang="zh-CN" altLang="en-US" sz="2400" b="0">
              <a:solidFill>
                <a:srgbClr val="000000"/>
              </a:solidFill>
              <a:latin typeface="Times New Roman" panose="02020603050405020304" pitchFamily="18" charset="0"/>
              <a:ea typeface="宋体" panose="02010600030101010101" pitchFamily="2" charset="-122"/>
            </a:endParaRPr>
          </a:p>
        </p:txBody>
      </p:sp>
      <p:sp>
        <p:nvSpPr>
          <p:cNvPr id="87047" name="Rectangle 7">
            <a:extLst>
              <a:ext uri="{FF2B5EF4-FFF2-40B4-BE49-F238E27FC236}">
                <a16:creationId xmlns:a16="http://schemas.microsoft.com/office/drawing/2014/main" id="{BFEDC7B4-B5E3-4605-AC16-31E4FB6A5919}"/>
              </a:ext>
            </a:extLst>
          </p:cNvPr>
          <p:cNvSpPr>
            <a:spLocks noChangeArrowheads="1"/>
          </p:cNvSpPr>
          <p:nvPr/>
        </p:nvSpPr>
        <p:spPr bwMode="auto">
          <a:xfrm>
            <a:off x="5616575" y="2765425"/>
            <a:ext cx="3276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50000"/>
              </a:spcBef>
              <a:buClrTx/>
              <a:buFontTx/>
              <a:buNone/>
            </a:pPr>
            <a:r>
              <a:rPr lang="en-US" altLang="zh-CN" sz="2000" b="0">
                <a:solidFill>
                  <a:srgbClr val="000000"/>
                </a:solidFill>
                <a:latin typeface="Arial" panose="020B0604020202020204" pitchFamily="34" charset="0"/>
                <a:ea typeface="宋体" panose="02010600030101010101" pitchFamily="2" charset="-122"/>
              </a:rPr>
              <a:t>UTP——</a:t>
            </a:r>
            <a:r>
              <a:rPr lang="zh-CN" altLang="en-US" sz="2000" b="0">
                <a:solidFill>
                  <a:srgbClr val="000000"/>
                </a:solidFill>
                <a:latin typeface="Arial" panose="020B0604020202020204" pitchFamily="34" charset="0"/>
                <a:ea typeface="宋体" panose="02010600030101010101" pitchFamily="2" charset="-122"/>
              </a:rPr>
              <a:t>参加糖原的合成等</a:t>
            </a:r>
          </a:p>
        </p:txBody>
      </p:sp>
      <p:sp>
        <p:nvSpPr>
          <p:cNvPr id="87048" name="Rectangle 8">
            <a:extLst>
              <a:ext uri="{FF2B5EF4-FFF2-40B4-BE49-F238E27FC236}">
                <a16:creationId xmlns:a16="http://schemas.microsoft.com/office/drawing/2014/main" id="{01599B0B-A92A-4330-B968-9F89D66AACB2}"/>
              </a:ext>
            </a:extLst>
          </p:cNvPr>
          <p:cNvSpPr>
            <a:spLocks noChangeArrowheads="1"/>
          </p:cNvSpPr>
          <p:nvPr/>
        </p:nvSpPr>
        <p:spPr bwMode="auto">
          <a:xfrm>
            <a:off x="5616576" y="3125788"/>
            <a:ext cx="30194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2000" b="0">
                <a:solidFill>
                  <a:srgbClr val="000000"/>
                </a:solidFill>
                <a:latin typeface="Arial" panose="020B0604020202020204" pitchFamily="34" charset="0"/>
                <a:ea typeface="宋体" panose="02010600030101010101" pitchFamily="2" charset="-122"/>
              </a:rPr>
              <a:t>CTP——</a:t>
            </a:r>
            <a:r>
              <a:rPr lang="zh-CN" altLang="en-US" sz="2000" b="0">
                <a:solidFill>
                  <a:srgbClr val="000000"/>
                </a:solidFill>
                <a:latin typeface="Arial" panose="020B0604020202020204" pitchFamily="34" charset="0"/>
                <a:ea typeface="宋体" panose="02010600030101010101" pitchFamily="2" charset="-122"/>
              </a:rPr>
              <a:t>参加磷脂的合成</a:t>
            </a:r>
          </a:p>
        </p:txBody>
      </p:sp>
      <p:sp>
        <p:nvSpPr>
          <p:cNvPr id="87049" name="Rectangle 9">
            <a:extLst>
              <a:ext uri="{FF2B5EF4-FFF2-40B4-BE49-F238E27FC236}">
                <a16:creationId xmlns:a16="http://schemas.microsoft.com/office/drawing/2014/main" id="{6A4C31A3-CCDD-498C-A99B-9A28898FAE59}"/>
              </a:ext>
            </a:extLst>
          </p:cNvPr>
          <p:cNvSpPr>
            <a:spLocks noChangeArrowheads="1"/>
          </p:cNvSpPr>
          <p:nvPr/>
        </p:nvSpPr>
        <p:spPr bwMode="auto">
          <a:xfrm>
            <a:off x="5616575" y="3486150"/>
            <a:ext cx="4064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50000"/>
              </a:spcBef>
              <a:buClrTx/>
              <a:buFontTx/>
              <a:buNone/>
            </a:pPr>
            <a:r>
              <a:rPr lang="en-US" altLang="zh-CN" sz="2000" b="0">
                <a:solidFill>
                  <a:srgbClr val="000000"/>
                </a:solidFill>
                <a:latin typeface="Arial" panose="020B0604020202020204" pitchFamily="34" charset="0"/>
                <a:ea typeface="宋体" panose="02010600030101010101" pitchFamily="2" charset="-122"/>
              </a:rPr>
              <a:t>GTP——</a:t>
            </a:r>
            <a:r>
              <a:rPr lang="zh-CN" altLang="en-US" sz="2000" b="0">
                <a:solidFill>
                  <a:srgbClr val="000000"/>
                </a:solidFill>
                <a:latin typeface="Arial" panose="020B0604020202020204" pitchFamily="34" charset="0"/>
                <a:ea typeface="宋体" panose="02010600030101010101" pitchFamily="2" charset="-122"/>
              </a:rPr>
              <a:t>参加蛋白质和嘌呤的合成</a:t>
            </a:r>
          </a:p>
        </p:txBody>
      </p:sp>
      <p:sp>
        <p:nvSpPr>
          <p:cNvPr id="87050" name="Rectangle 10">
            <a:extLst>
              <a:ext uri="{FF2B5EF4-FFF2-40B4-BE49-F238E27FC236}">
                <a16:creationId xmlns:a16="http://schemas.microsoft.com/office/drawing/2014/main" id="{083DBEDD-DD39-4F26-95AB-B65DD80A19AA}"/>
              </a:ext>
            </a:extLst>
          </p:cNvPr>
          <p:cNvSpPr>
            <a:spLocks noChangeArrowheads="1"/>
          </p:cNvSpPr>
          <p:nvPr/>
        </p:nvSpPr>
        <p:spPr bwMode="auto">
          <a:xfrm>
            <a:off x="2879726" y="4298951"/>
            <a:ext cx="39147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kumimoji="0" lang="en-US" altLang="zh-CN" sz="2400" b="0">
                <a:solidFill>
                  <a:srgbClr val="000000"/>
                </a:solidFill>
                <a:latin typeface="Arial" panose="020B0604020202020204" pitchFamily="34" charset="0"/>
                <a:ea typeface="宋体" panose="02010600030101010101" pitchFamily="2" charset="-122"/>
              </a:rPr>
              <a:t> </a:t>
            </a:r>
            <a:r>
              <a:rPr kumimoji="0" lang="en-US" altLang="zh-CN" b="0">
                <a:solidFill>
                  <a:srgbClr val="000000"/>
                </a:solidFill>
                <a:latin typeface="Arial" panose="020B0604020202020204" pitchFamily="34" charset="0"/>
                <a:ea typeface="宋体" panose="02010600030101010101" pitchFamily="2" charset="-122"/>
              </a:rPr>
              <a:t>3. </a:t>
            </a:r>
            <a:r>
              <a:rPr kumimoji="0" lang="zh-CN" altLang="en-US" b="0">
                <a:solidFill>
                  <a:srgbClr val="0000FF"/>
                </a:solidFill>
                <a:latin typeface="Arial" panose="020B0604020202020204" pitchFamily="34" charset="0"/>
                <a:ea typeface="宋体" panose="02010600030101010101" pitchFamily="2" charset="-122"/>
              </a:rPr>
              <a:t>构成辅酶，参与代谢</a:t>
            </a:r>
          </a:p>
        </p:txBody>
      </p:sp>
      <p:sp>
        <p:nvSpPr>
          <p:cNvPr id="87051" name="AutoShape 11">
            <a:extLst>
              <a:ext uri="{FF2B5EF4-FFF2-40B4-BE49-F238E27FC236}">
                <a16:creationId xmlns:a16="http://schemas.microsoft.com/office/drawing/2014/main" id="{DA32CDD7-67BA-4997-8C46-4F2EB6F55A9E}"/>
              </a:ext>
            </a:extLst>
          </p:cNvPr>
          <p:cNvSpPr>
            <a:spLocks/>
          </p:cNvSpPr>
          <p:nvPr/>
        </p:nvSpPr>
        <p:spPr bwMode="auto">
          <a:xfrm>
            <a:off x="6769101" y="4062413"/>
            <a:ext cx="144463" cy="1223962"/>
          </a:xfrm>
          <a:prstGeom prst="leftBrace">
            <a:avLst>
              <a:gd name="adj1" fmla="val 7060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endParaRPr lang="zh-CN" altLang="en-US" sz="2400" b="0">
              <a:solidFill>
                <a:srgbClr val="000000"/>
              </a:solidFill>
              <a:latin typeface="Times New Roman" panose="02020603050405020304" pitchFamily="18" charset="0"/>
              <a:ea typeface="宋体" panose="02010600030101010101" pitchFamily="2" charset="-122"/>
            </a:endParaRPr>
          </a:p>
        </p:txBody>
      </p:sp>
      <p:sp>
        <p:nvSpPr>
          <p:cNvPr id="87052" name="Rectangle 12">
            <a:extLst>
              <a:ext uri="{FF2B5EF4-FFF2-40B4-BE49-F238E27FC236}">
                <a16:creationId xmlns:a16="http://schemas.microsoft.com/office/drawing/2014/main" id="{23946002-3D62-4B41-A552-19D25413DC96}"/>
              </a:ext>
            </a:extLst>
          </p:cNvPr>
          <p:cNvSpPr>
            <a:spLocks noChangeArrowheads="1"/>
          </p:cNvSpPr>
          <p:nvPr/>
        </p:nvSpPr>
        <p:spPr bwMode="auto">
          <a:xfrm>
            <a:off x="6985000" y="3963989"/>
            <a:ext cx="998538"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kumimoji="0" lang="en-US" altLang="zh-CN" sz="2000" b="0">
                <a:solidFill>
                  <a:srgbClr val="000000"/>
                </a:solidFill>
                <a:latin typeface="Arial" panose="020B0604020202020204" pitchFamily="34" charset="0"/>
                <a:ea typeface="宋体" panose="02010600030101010101" pitchFamily="2" charset="-122"/>
              </a:rPr>
              <a:t>NAD</a:t>
            </a:r>
          </a:p>
          <a:p>
            <a:pPr>
              <a:spcBef>
                <a:spcPct val="0"/>
              </a:spcBef>
              <a:buClrTx/>
              <a:buFontTx/>
              <a:buNone/>
            </a:pPr>
            <a:r>
              <a:rPr kumimoji="0" lang="en-US" altLang="zh-CN" sz="2000" b="0">
                <a:solidFill>
                  <a:srgbClr val="000000"/>
                </a:solidFill>
                <a:latin typeface="Arial" panose="020B0604020202020204" pitchFamily="34" charset="0"/>
                <a:ea typeface="宋体" panose="02010600030101010101" pitchFamily="2" charset="-122"/>
              </a:rPr>
              <a:t>NADP</a:t>
            </a:r>
          </a:p>
          <a:p>
            <a:pPr>
              <a:spcBef>
                <a:spcPct val="0"/>
              </a:spcBef>
              <a:buClrTx/>
              <a:buFontTx/>
              <a:buNone/>
            </a:pPr>
            <a:r>
              <a:rPr kumimoji="0" lang="en-US" altLang="zh-CN" sz="2000" b="0">
                <a:solidFill>
                  <a:srgbClr val="000000"/>
                </a:solidFill>
                <a:latin typeface="Arial" panose="020B0604020202020204" pitchFamily="34" charset="0"/>
                <a:ea typeface="宋体" panose="02010600030101010101" pitchFamily="2" charset="-122"/>
              </a:rPr>
              <a:t>FAD</a:t>
            </a:r>
          </a:p>
          <a:p>
            <a:pPr>
              <a:spcBef>
                <a:spcPct val="0"/>
              </a:spcBef>
              <a:buClrTx/>
              <a:buFontTx/>
              <a:buNone/>
            </a:pPr>
            <a:r>
              <a:rPr kumimoji="0" lang="en-US" altLang="zh-CN" sz="2000" b="0">
                <a:solidFill>
                  <a:srgbClr val="000000"/>
                </a:solidFill>
                <a:latin typeface="Arial" panose="020B0604020202020204" pitchFamily="34" charset="0"/>
                <a:ea typeface="宋体" panose="02010600030101010101" pitchFamily="2" charset="-122"/>
              </a:rPr>
              <a:t>FMN</a:t>
            </a:r>
            <a:r>
              <a:rPr kumimoji="0" lang="zh-CN" altLang="en-US" sz="2000" b="0">
                <a:solidFill>
                  <a:srgbClr val="000000"/>
                </a:solidFill>
                <a:latin typeface="Arial" panose="020B0604020202020204" pitchFamily="34" charset="0"/>
                <a:ea typeface="宋体" panose="02010600030101010101" pitchFamily="2" charset="-122"/>
              </a:rPr>
              <a:t>等</a:t>
            </a:r>
          </a:p>
        </p:txBody>
      </p:sp>
      <p:sp>
        <p:nvSpPr>
          <p:cNvPr id="87053" name="Rectangle 13">
            <a:extLst>
              <a:ext uri="{FF2B5EF4-FFF2-40B4-BE49-F238E27FC236}">
                <a16:creationId xmlns:a16="http://schemas.microsoft.com/office/drawing/2014/main" id="{6A744913-F090-4F39-9BEB-8191B328A35D}"/>
              </a:ext>
            </a:extLst>
          </p:cNvPr>
          <p:cNvSpPr>
            <a:spLocks noChangeArrowheads="1"/>
          </p:cNvSpPr>
          <p:nvPr/>
        </p:nvSpPr>
        <p:spPr bwMode="auto">
          <a:xfrm>
            <a:off x="7488238" y="3917951"/>
            <a:ext cx="317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kumimoji="0" lang="en-US" altLang="zh-CN" sz="1800" b="0">
                <a:solidFill>
                  <a:srgbClr val="000000"/>
                </a:solidFill>
                <a:latin typeface="Arial" panose="020B0604020202020204" pitchFamily="34" charset="0"/>
                <a:ea typeface="宋体" panose="02010600030101010101" pitchFamily="2" charset="-122"/>
              </a:rPr>
              <a:t>+</a:t>
            </a:r>
          </a:p>
        </p:txBody>
      </p:sp>
      <p:sp>
        <p:nvSpPr>
          <p:cNvPr id="87054" name="Rectangle 14">
            <a:extLst>
              <a:ext uri="{FF2B5EF4-FFF2-40B4-BE49-F238E27FC236}">
                <a16:creationId xmlns:a16="http://schemas.microsoft.com/office/drawing/2014/main" id="{2E908945-DCD4-4FB0-892A-4E82E0C1D75C}"/>
              </a:ext>
            </a:extLst>
          </p:cNvPr>
          <p:cNvSpPr>
            <a:spLocks noChangeArrowheads="1"/>
          </p:cNvSpPr>
          <p:nvPr/>
        </p:nvSpPr>
        <p:spPr bwMode="auto">
          <a:xfrm>
            <a:off x="7704138" y="4205288"/>
            <a:ext cx="317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kumimoji="0" lang="en-US" altLang="zh-CN" sz="1800" b="0">
                <a:solidFill>
                  <a:srgbClr val="000000"/>
                </a:solidFill>
                <a:latin typeface="Arial" panose="020B0604020202020204" pitchFamily="34" charset="0"/>
                <a:ea typeface="宋体" panose="02010600030101010101" pitchFamily="2" charset="-122"/>
              </a:rPr>
              <a:t>+</a:t>
            </a:r>
          </a:p>
        </p:txBody>
      </p:sp>
      <p:sp>
        <p:nvSpPr>
          <p:cNvPr id="87055" name="Rectangle 15">
            <a:extLst>
              <a:ext uri="{FF2B5EF4-FFF2-40B4-BE49-F238E27FC236}">
                <a16:creationId xmlns:a16="http://schemas.microsoft.com/office/drawing/2014/main" id="{D04AF629-3C49-443C-84F6-0D7FFD4C22CD}"/>
              </a:ext>
            </a:extLst>
          </p:cNvPr>
          <p:cNvSpPr>
            <a:spLocks noChangeArrowheads="1"/>
          </p:cNvSpPr>
          <p:nvPr/>
        </p:nvSpPr>
        <p:spPr bwMode="auto">
          <a:xfrm>
            <a:off x="2952751" y="5307014"/>
            <a:ext cx="62071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kumimoji="0" lang="en-US" altLang="zh-CN" b="0">
                <a:solidFill>
                  <a:srgbClr val="000000"/>
                </a:solidFill>
                <a:latin typeface="Arial" panose="020B0604020202020204" pitchFamily="34" charset="0"/>
                <a:ea typeface="宋体" panose="02010600030101010101" pitchFamily="2" charset="-122"/>
              </a:rPr>
              <a:t>4. </a:t>
            </a:r>
            <a:r>
              <a:rPr kumimoji="0" lang="zh-CN" altLang="en-US" b="0">
                <a:solidFill>
                  <a:srgbClr val="0000FF"/>
                </a:solidFill>
                <a:latin typeface="Arial" panose="020B0604020202020204" pitchFamily="34" charset="0"/>
                <a:ea typeface="宋体" panose="02010600030101010101" pitchFamily="2" charset="-122"/>
              </a:rPr>
              <a:t>激素的第二信使</a:t>
            </a:r>
            <a:r>
              <a:rPr kumimoji="0" lang="zh-CN" altLang="en-US" b="0">
                <a:solidFill>
                  <a:srgbClr val="000000"/>
                </a:solidFill>
                <a:latin typeface="Arial" panose="020B0604020202020204" pitchFamily="34" charset="0"/>
                <a:ea typeface="宋体" panose="02010600030101010101" pitchFamily="2" charset="-122"/>
              </a:rPr>
              <a:t>（</a:t>
            </a:r>
            <a:r>
              <a:rPr kumimoji="0" lang="en-US" altLang="zh-CN" b="0">
                <a:solidFill>
                  <a:srgbClr val="000000"/>
                </a:solidFill>
                <a:latin typeface="Arial" panose="020B0604020202020204" pitchFamily="34" charset="0"/>
                <a:ea typeface="宋体" panose="02010600030101010101" pitchFamily="2" charset="-122"/>
              </a:rPr>
              <a:t>cAMP</a:t>
            </a:r>
            <a:r>
              <a:rPr kumimoji="0" lang="zh-CN" altLang="en-US" b="0">
                <a:solidFill>
                  <a:srgbClr val="000000"/>
                </a:solidFill>
                <a:latin typeface="Arial" panose="020B0604020202020204" pitchFamily="34" charset="0"/>
                <a:ea typeface="宋体" panose="02010600030101010101" pitchFamily="2" charset="-122"/>
              </a:rPr>
              <a:t>，</a:t>
            </a:r>
            <a:r>
              <a:rPr kumimoji="0" lang="en-US" altLang="zh-CN" b="0">
                <a:solidFill>
                  <a:srgbClr val="000000"/>
                </a:solidFill>
                <a:latin typeface="Arial" panose="020B0604020202020204" pitchFamily="34" charset="0"/>
                <a:ea typeface="宋体" panose="02010600030101010101" pitchFamily="2" charset="-122"/>
              </a:rPr>
              <a:t>cGMP</a:t>
            </a:r>
            <a:r>
              <a:rPr kumimoji="0" lang="zh-CN" altLang="en-US" b="0">
                <a:solidFill>
                  <a:srgbClr val="000000"/>
                </a:solidFill>
                <a:latin typeface="Arial" panose="020B0604020202020204" pitchFamily="34" charset="0"/>
                <a:ea typeface="宋体" panose="02010600030101010101" pitchFamily="2" charset="-122"/>
              </a:rPr>
              <a:t>）</a:t>
            </a:r>
          </a:p>
        </p:txBody>
      </p:sp>
      <p:sp>
        <p:nvSpPr>
          <p:cNvPr id="87056" name="Rectangle 16">
            <a:extLst>
              <a:ext uri="{FF2B5EF4-FFF2-40B4-BE49-F238E27FC236}">
                <a16:creationId xmlns:a16="http://schemas.microsoft.com/office/drawing/2014/main" id="{2E95806D-6E4F-4EC7-8748-D2D04D935EDE}"/>
              </a:ext>
            </a:extLst>
          </p:cNvPr>
          <p:cNvSpPr>
            <a:spLocks noChangeArrowheads="1"/>
          </p:cNvSpPr>
          <p:nvPr/>
        </p:nvSpPr>
        <p:spPr bwMode="auto">
          <a:xfrm>
            <a:off x="2952750" y="6078539"/>
            <a:ext cx="59626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buClr>
                <a:schemeClr val="tx1"/>
              </a:buClr>
              <a:buFontTx/>
              <a:buNone/>
            </a:pPr>
            <a:r>
              <a:rPr kumimoji="0" lang="en-US" altLang="zh-CN" b="0">
                <a:solidFill>
                  <a:srgbClr val="000000"/>
                </a:solidFill>
                <a:latin typeface="Arial" panose="020B0604020202020204" pitchFamily="34" charset="0"/>
                <a:ea typeface="宋体" panose="02010600030101010101" pitchFamily="2" charset="-122"/>
              </a:rPr>
              <a:t>5. </a:t>
            </a:r>
            <a:r>
              <a:rPr kumimoji="0" lang="zh-CN" altLang="en-US" b="0">
                <a:solidFill>
                  <a:srgbClr val="0000FF"/>
                </a:solidFill>
                <a:latin typeface="Arial" panose="020B0604020202020204" pitchFamily="34" charset="0"/>
                <a:ea typeface="宋体" panose="02010600030101010101" pitchFamily="2" charset="-122"/>
              </a:rPr>
              <a:t>作为辅助药物，</a:t>
            </a:r>
            <a:r>
              <a:rPr kumimoji="0" lang="zh-CN" altLang="en-US" b="0">
                <a:solidFill>
                  <a:srgbClr val="000000"/>
                </a:solidFill>
                <a:latin typeface="Arial" panose="020B0604020202020204" pitchFamily="34" charset="0"/>
                <a:ea typeface="宋体" panose="02010600030101010101" pitchFamily="2" charset="-122"/>
              </a:rPr>
              <a:t>如：</a:t>
            </a:r>
            <a:r>
              <a:rPr kumimoji="0" lang="en-US" altLang="zh-CN" b="0">
                <a:solidFill>
                  <a:srgbClr val="000000"/>
                </a:solidFill>
                <a:latin typeface="Arial" panose="020B0604020202020204" pitchFamily="34" charset="0"/>
                <a:ea typeface="宋体" panose="02010600030101010101" pitchFamily="2" charset="-122"/>
              </a:rPr>
              <a:t>ATP</a:t>
            </a:r>
            <a:r>
              <a:rPr kumimoji="0" lang="zh-CN" altLang="en-US" b="0">
                <a:solidFill>
                  <a:srgbClr val="000000"/>
                </a:solidFill>
                <a:latin typeface="Arial" panose="020B0604020202020204" pitchFamily="34" charset="0"/>
                <a:ea typeface="宋体" panose="02010600030101010101" pitchFamily="2" charset="-122"/>
              </a:rPr>
              <a:t>，肌苷</a:t>
            </a:r>
            <a:r>
              <a:rPr kumimoji="0" lang="en-US" altLang="zh-CN" b="0">
                <a:solidFill>
                  <a:srgbClr val="000000"/>
                </a:solidFill>
                <a:latin typeface="Arial" panose="020B0604020202020204" pitchFamily="34" charset="0"/>
                <a:ea typeface="宋体" panose="02010600030101010101" pitchFamily="2" charset="-122"/>
              </a:rPr>
              <a:t>…</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8885"/>
                                        </p:tgtEl>
                                        <p:attrNameLst>
                                          <p:attrName>style.visibility</p:attrName>
                                        </p:attrNameLst>
                                      </p:cBhvr>
                                      <p:to>
                                        <p:strVal val="visible"/>
                                      </p:to>
                                    </p:set>
                                    <p:anim calcmode="lin" valueType="num">
                                      <p:cBhvr additive="base">
                                        <p:cTn id="7" dur="500" fill="hold"/>
                                        <p:tgtEl>
                                          <p:spTgt spid="378885"/>
                                        </p:tgtEl>
                                        <p:attrNameLst>
                                          <p:attrName>ppt_x</p:attrName>
                                        </p:attrNameLst>
                                      </p:cBhvr>
                                      <p:tavLst>
                                        <p:tav tm="0">
                                          <p:val>
                                            <p:strVal val="0-#ppt_w/2"/>
                                          </p:val>
                                        </p:tav>
                                        <p:tav tm="100000">
                                          <p:val>
                                            <p:strVal val="#ppt_x"/>
                                          </p:val>
                                        </p:tav>
                                      </p:tavLst>
                                    </p:anim>
                                    <p:anim calcmode="lin" valueType="num">
                                      <p:cBhvr additive="base">
                                        <p:cTn id="8" dur="500" fill="hold"/>
                                        <p:tgtEl>
                                          <p:spTgt spid="378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5"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59" name="Rectangle 3">
            <a:extLst>
              <a:ext uri="{FF2B5EF4-FFF2-40B4-BE49-F238E27FC236}">
                <a16:creationId xmlns:a16="http://schemas.microsoft.com/office/drawing/2014/main" id="{E9F87B8E-6756-4BD2-9C39-9A1E456D31C0}"/>
              </a:ext>
            </a:extLst>
          </p:cNvPr>
          <p:cNvSpPr>
            <a:spLocks noGrp="1" noChangeArrowheads="1"/>
          </p:cNvSpPr>
          <p:nvPr>
            <p:ph type="body" sz="half" idx="1"/>
          </p:nvPr>
        </p:nvSpPr>
        <p:spPr>
          <a:xfrm>
            <a:off x="586473" y="1484784"/>
            <a:ext cx="5797559" cy="3456384"/>
          </a:xfrm>
        </p:spPr>
        <p:txBody>
          <a:bodyPr/>
          <a:lstStyle/>
          <a:p>
            <a:pPr marL="636588" lvl="1" indent="-457200" algn="just" eaLnBrk="1" hangingPunct="1">
              <a:lnSpc>
                <a:spcPct val="130000"/>
              </a:lnSpc>
              <a:spcBef>
                <a:spcPts val="1800"/>
              </a:spcBef>
            </a:pPr>
            <a:r>
              <a:rPr lang="zh-CN" altLang="en-US" sz="2600" dirty="0">
                <a:solidFill>
                  <a:schemeClr val="tx1"/>
                </a:solidFill>
                <a:latin typeface="Times New Roman" panose="02020603050405020304" pitchFamily="18" charset="0"/>
              </a:rPr>
              <a:t>核酸一级结构</a:t>
            </a:r>
            <a:r>
              <a:rPr lang="en-US" altLang="zh-CN" sz="2600" dirty="0">
                <a:solidFill>
                  <a:schemeClr val="tx1"/>
                </a:solidFill>
                <a:latin typeface="Times New Roman" panose="02020603050405020304" pitchFamily="18" charset="0"/>
              </a:rPr>
              <a:t>(primary structure)</a:t>
            </a:r>
            <a:r>
              <a:rPr lang="zh-CN" altLang="en-US" sz="2600" dirty="0">
                <a:solidFill>
                  <a:schemeClr val="tx1"/>
                </a:solidFill>
                <a:latin typeface="Times New Roman" panose="02020603050405020304" pitchFamily="18" charset="0"/>
              </a:rPr>
              <a:t>指</a:t>
            </a:r>
            <a:r>
              <a:rPr lang="en-US" altLang="zh-CN" sz="2600" dirty="0">
                <a:solidFill>
                  <a:schemeClr val="tx1"/>
                </a:solidFill>
                <a:latin typeface="Times New Roman" panose="02020603050405020304" pitchFamily="18" charset="0"/>
              </a:rPr>
              <a:t>RNA</a:t>
            </a:r>
            <a:r>
              <a:rPr lang="zh-CN" altLang="en-US" sz="2600" dirty="0">
                <a:solidFill>
                  <a:schemeClr val="tx1"/>
                </a:solidFill>
                <a:latin typeface="Times New Roman" panose="02020603050405020304" pitchFamily="18" charset="0"/>
              </a:rPr>
              <a:t>中的核苷酸以及</a:t>
            </a:r>
            <a:r>
              <a:rPr lang="en-US" altLang="zh-CN" sz="2600" dirty="0">
                <a:solidFill>
                  <a:schemeClr val="tx1"/>
                </a:solidFill>
                <a:latin typeface="Times New Roman" panose="02020603050405020304" pitchFamily="18" charset="0"/>
              </a:rPr>
              <a:t>DNA</a:t>
            </a:r>
            <a:r>
              <a:rPr lang="zh-CN" altLang="en-US" sz="2600" dirty="0">
                <a:solidFill>
                  <a:schemeClr val="tx1"/>
                </a:solidFill>
                <a:latin typeface="Times New Roman" panose="02020603050405020304" pitchFamily="18" charset="0"/>
              </a:rPr>
              <a:t>中的脱氧核苷酸</a:t>
            </a:r>
            <a:r>
              <a:rPr lang="zh-CN" altLang="en-US" sz="2600" dirty="0">
                <a:solidFill>
                  <a:srgbClr val="C00000"/>
                </a:solidFill>
                <a:latin typeface="Times New Roman" panose="02020603050405020304" pitchFamily="18" charset="0"/>
              </a:rPr>
              <a:t>从</a:t>
            </a:r>
            <a:r>
              <a:rPr lang="en-US" altLang="zh-CN" sz="2600" dirty="0">
                <a:solidFill>
                  <a:srgbClr val="C00000"/>
                </a:solidFill>
                <a:latin typeface="Times New Roman" panose="02020603050405020304" pitchFamily="18" charset="0"/>
              </a:rPr>
              <a:t>5’</a:t>
            </a:r>
            <a:r>
              <a:rPr lang="zh-CN" altLang="en-US" sz="2600" dirty="0">
                <a:solidFill>
                  <a:srgbClr val="C00000"/>
                </a:solidFill>
                <a:latin typeface="Times New Roman" panose="02020603050405020304" pitchFamily="18" charset="0"/>
              </a:rPr>
              <a:t>端到</a:t>
            </a:r>
            <a:r>
              <a:rPr lang="en-US" altLang="zh-CN" sz="2600" dirty="0">
                <a:solidFill>
                  <a:srgbClr val="C00000"/>
                </a:solidFill>
                <a:latin typeface="Times New Roman" panose="02020603050405020304" pitchFamily="18" charset="0"/>
              </a:rPr>
              <a:t>3’</a:t>
            </a:r>
            <a:r>
              <a:rPr lang="zh-CN" altLang="en-US" sz="2600" dirty="0">
                <a:solidFill>
                  <a:srgbClr val="C00000"/>
                </a:solidFill>
                <a:latin typeface="Times New Roman" panose="02020603050405020304" pitchFamily="18" charset="0"/>
              </a:rPr>
              <a:t>端的排列顺序，</a:t>
            </a:r>
            <a:r>
              <a:rPr lang="zh-CN" altLang="en-US" sz="2600" dirty="0">
                <a:latin typeface="Times New Roman" panose="02020603050405020304" pitchFamily="18" charset="0"/>
              </a:rPr>
              <a:t>也称为</a:t>
            </a:r>
            <a:r>
              <a:rPr lang="zh-CN" altLang="en-US" sz="2600" dirty="0">
                <a:solidFill>
                  <a:srgbClr val="C00000"/>
                </a:solidFill>
                <a:latin typeface="Times New Roman" panose="02020603050405020304" pitchFamily="18" charset="0"/>
              </a:rPr>
              <a:t>碱基序列（</a:t>
            </a:r>
            <a:r>
              <a:rPr lang="en-US" altLang="zh-CN" sz="2600" dirty="0">
                <a:solidFill>
                  <a:srgbClr val="C00000"/>
                </a:solidFill>
                <a:latin typeface="Times New Roman" panose="02020603050405020304" pitchFamily="18" charset="0"/>
              </a:rPr>
              <a:t>base sequence)</a:t>
            </a:r>
            <a:r>
              <a:rPr lang="zh-CN" altLang="en-US" sz="2600" dirty="0">
                <a:latin typeface="Times New Roman" panose="02020603050405020304" pitchFamily="18" charset="0"/>
              </a:rPr>
              <a:t>。</a:t>
            </a:r>
            <a:endParaRPr lang="en-US" altLang="zh-CN" sz="2600" dirty="0">
              <a:latin typeface="Times New Roman" panose="02020603050405020304" pitchFamily="18" charset="0"/>
            </a:endParaRPr>
          </a:p>
          <a:p>
            <a:pPr marL="636588" lvl="1" indent="-457200" algn="just" eaLnBrk="1" hangingPunct="1">
              <a:lnSpc>
                <a:spcPct val="130000"/>
              </a:lnSpc>
              <a:spcBef>
                <a:spcPts val="1800"/>
              </a:spcBef>
            </a:pPr>
            <a:r>
              <a:rPr lang="zh-CN" altLang="en-US" sz="2600" dirty="0">
                <a:solidFill>
                  <a:schemeClr val="tx1"/>
                </a:solidFill>
              </a:rPr>
              <a:t>核苷酸之间以</a:t>
            </a:r>
            <a:r>
              <a:rPr lang="en-US" altLang="zh-CN" sz="2600" dirty="0">
                <a:solidFill>
                  <a:srgbClr val="FF0000"/>
                </a:solidFill>
              </a:rPr>
              <a:t>3’,5’</a:t>
            </a:r>
            <a:r>
              <a:rPr lang="zh-CN" altLang="en-US" sz="2600" dirty="0">
                <a:solidFill>
                  <a:srgbClr val="FF0000"/>
                </a:solidFill>
              </a:rPr>
              <a:t>磷酸二酯键</a:t>
            </a:r>
            <a:r>
              <a:rPr lang="zh-CN" altLang="en-US" sz="2600" dirty="0">
                <a:solidFill>
                  <a:schemeClr val="tx1"/>
                </a:solidFill>
              </a:rPr>
              <a:t>连接形成多聚核苷酸链，即核酸。</a:t>
            </a:r>
          </a:p>
          <a:p>
            <a:pPr marL="179388" lvl="1" indent="0" algn="just" eaLnBrk="1" hangingPunct="1">
              <a:lnSpc>
                <a:spcPct val="130000"/>
              </a:lnSpc>
              <a:spcBef>
                <a:spcPts val="1800"/>
              </a:spcBef>
              <a:buNone/>
            </a:pPr>
            <a:endParaRPr lang="en-US" altLang="zh-CN" sz="2600" dirty="0">
              <a:latin typeface="Times New Roman" panose="02020603050405020304" pitchFamily="18" charset="0"/>
            </a:endParaRPr>
          </a:p>
          <a:p>
            <a:pPr marL="636588" lvl="1" indent="-457200" algn="just" eaLnBrk="1" hangingPunct="1">
              <a:lnSpc>
                <a:spcPct val="130000"/>
              </a:lnSpc>
              <a:spcBef>
                <a:spcPts val="1800"/>
              </a:spcBef>
            </a:pPr>
            <a:endParaRPr lang="zh-CN" altLang="en-US" sz="2600" dirty="0">
              <a:latin typeface="Times New Roman" panose="02020603050405020304" pitchFamily="18" charset="0"/>
            </a:endParaRPr>
          </a:p>
        </p:txBody>
      </p:sp>
      <p:sp>
        <p:nvSpPr>
          <p:cNvPr id="91139" name="Text Box 0">
            <a:extLst>
              <a:ext uri="{FF2B5EF4-FFF2-40B4-BE49-F238E27FC236}">
                <a16:creationId xmlns:a16="http://schemas.microsoft.com/office/drawing/2014/main" id="{2E21B137-8D4D-405D-ABFA-5A81D2BD8A89}"/>
              </a:ext>
            </a:extLst>
          </p:cNvPr>
          <p:cNvSpPr txBox="1">
            <a:spLocks noChangeArrowheads="1"/>
          </p:cNvSpPr>
          <p:nvPr/>
        </p:nvSpPr>
        <p:spPr bwMode="auto">
          <a:xfrm>
            <a:off x="1847528" y="115889"/>
            <a:ext cx="8136904" cy="66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200" b="0" dirty="0">
                <a:solidFill>
                  <a:srgbClr val="0000CC"/>
                </a:solidFill>
                <a:latin typeface="Times New Roman" panose="02020603050405020304" pitchFamily="18" charset="0"/>
                <a:ea typeface="黑体" panose="02010609060101010101" pitchFamily="49" charset="-122"/>
              </a:rPr>
              <a:t>三、核酸的一级结构是核苷酸的排列顺序</a:t>
            </a:r>
          </a:p>
        </p:txBody>
      </p:sp>
      <p:grpSp>
        <p:nvGrpSpPr>
          <p:cNvPr id="91140" name="Group 12">
            <a:extLst>
              <a:ext uri="{FF2B5EF4-FFF2-40B4-BE49-F238E27FC236}">
                <a16:creationId xmlns:a16="http://schemas.microsoft.com/office/drawing/2014/main" id="{84B83C96-8BAA-4F87-AEA1-EEF374394398}"/>
              </a:ext>
            </a:extLst>
          </p:cNvPr>
          <p:cNvGrpSpPr>
            <a:grpSpLocks/>
          </p:cNvGrpSpPr>
          <p:nvPr/>
        </p:nvGrpSpPr>
        <p:grpSpPr bwMode="auto">
          <a:xfrm>
            <a:off x="7248128" y="1196752"/>
            <a:ext cx="4500562" cy="5399087"/>
            <a:chOff x="2812" y="709"/>
            <a:chExt cx="2835" cy="3401"/>
          </a:xfrm>
        </p:grpSpPr>
        <p:pic>
          <p:nvPicPr>
            <p:cNvPr id="91141" name="Picture 8">
              <a:extLst>
                <a:ext uri="{FF2B5EF4-FFF2-40B4-BE49-F238E27FC236}">
                  <a16:creationId xmlns:a16="http://schemas.microsoft.com/office/drawing/2014/main" id="{15BD64D6-AF01-41A0-B725-F90F0DD218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2" y="709"/>
              <a:ext cx="2835" cy="3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2" name="Rectangle 9">
              <a:extLst>
                <a:ext uri="{FF2B5EF4-FFF2-40B4-BE49-F238E27FC236}">
                  <a16:creationId xmlns:a16="http://schemas.microsoft.com/office/drawing/2014/main" id="{23F23C74-765C-4247-BEAE-BA51ED561113}"/>
                </a:ext>
              </a:extLst>
            </p:cNvPr>
            <p:cNvSpPr>
              <a:spLocks noChangeArrowheads="1"/>
            </p:cNvSpPr>
            <p:nvPr/>
          </p:nvSpPr>
          <p:spPr bwMode="auto">
            <a:xfrm>
              <a:off x="3651" y="2387"/>
              <a:ext cx="363" cy="2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91143" name="Rectangle 10">
              <a:extLst>
                <a:ext uri="{FF2B5EF4-FFF2-40B4-BE49-F238E27FC236}">
                  <a16:creationId xmlns:a16="http://schemas.microsoft.com/office/drawing/2014/main" id="{5910B0EA-5AD3-44B1-BCD7-4FCC5A4ADA5C}"/>
                </a:ext>
              </a:extLst>
            </p:cNvPr>
            <p:cNvSpPr>
              <a:spLocks noChangeArrowheads="1"/>
            </p:cNvSpPr>
            <p:nvPr/>
          </p:nvSpPr>
          <p:spPr bwMode="auto">
            <a:xfrm>
              <a:off x="3560" y="2614"/>
              <a:ext cx="227" cy="5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91144" name="Rectangle 11">
              <a:extLst>
                <a:ext uri="{FF2B5EF4-FFF2-40B4-BE49-F238E27FC236}">
                  <a16:creationId xmlns:a16="http://schemas.microsoft.com/office/drawing/2014/main" id="{C5AFB1D4-B47B-4F22-A54E-D70C3A673020}"/>
                </a:ext>
              </a:extLst>
            </p:cNvPr>
            <p:cNvSpPr>
              <a:spLocks noChangeArrowheads="1"/>
            </p:cNvSpPr>
            <p:nvPr/>
          </p:nvSpPr>
          <p:spPr bwMode="auto">
            <a:xfrm>
              <a:off x="3742" y="2931"/>
              <a:ext cx="544" cy="6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grpSp>
      <p:sp>
        <p:nvSpPr>
          <p:cNvPr id="3" name="Rectangle 10">
            <a:extLst>
              <a:ext uri="{FF2B5EF4-FFF2-40B4-BE49-F238E27FC236}">
                <a16:creationId xmlns:a16="http://schemas.microsoft.com/office/drawing/2014/main" id="{50C7DD1D-0ABC-7EEB-BE5F-4C9AFB3F3CFD}"/>
              </a:ext>
            </a:extLst>
          </p:cNvPr>
          <p:cNvSpPr>
            <a:spLocks noChangeArrowheads="1"/>
          </p:cNvSpPr>
          <p:nvPr/>
        </p:nvSpPr>
        <p:spPr bwMode="gray">
          <a:xfrm>
            <a:off x="1324664" y="5230811"/>
            <a:ext cx="6427520" cy="663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082675" indent="-1082675">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buNone/>
            </a:pPr>
            <a:r>
              <a:rPr kumimoji="0" lang="zh-CN" altLang="en-US" b="0" dirty="0">
                <a:solidFill>
                  <a:srgbClr val="FF0000"/>
                </a:solidFill>
              </a:rPr>
              <a:t>多聚核苷酸链有方向性：</a:t>
            </a:r>
            <a:r>
              <a:rPr kumimoji="0" lang="en-US" altLang="zh-CN" b="0" dirty="0">
                <a:solidFill>
                  <a:srgbClr val="000099"/>
                </a:solidFill>
              </a:rPr>
              <a:t>5</a:t>
            </a:r>
            <a:r>
              <a:rPr kumimoji="0" lang="en-US" altLang="zh-CN" b="0" dirty="0">
                <a:solidFill>
                  <a:srgbClr val="000099"/>
                </a:solidFill>
                <a:sym typeface="Symbol" panose="05050102010706020507" pitchFamily="18" charset="2"/>
              </a:rPr>
              <a:t></a:t>
            </a:r>
            <a:r>
              <a:rPr lang="en-US" altLang="zh-CN" b="0" dirty="0">
                <a:solidFill>
                  <a:srgbClr val="000099"/>
                </a:solidFill>
              </a:rPr>
              <a:t> </a:t>
            </a:r>
            <a:r>
              <a:rPr lang="en-US" altLang="en-US" b="0" dirty="0">
                <a:solidFill>
                  <a:srgbClr val="000099"/>
                </a:solidFill>
              </a:rPr>
              <a:t>→</a:t>
            </a:r>
            <a:r>
              <a:rPr lang="en-US" altLang="zh-CN" b="0" dirty="0">
                <a:solidFill>
                  <a:srgbClr val="000099"/>
                </a:solidFill>
              </a:rPr>
              <a:t> </a:t>
            </a:r>
            <a:r>
              <a:rPr kumimoji="0" lang="en-US" altLang="zh-CN" b="0" dirty="0">
                <a:solidFill>
                  <a:srgbClr val="000099"/>
                </a:solidFill>
              </a:rPr>
              <a:t>3</a:t>
            </a:r>
            <a:r>
              <a:rPr kumimoji="0" lang="en-US" altLang="zh-CN" b="0" dirty="0">
                <a:solidFill>
                  <a:srgbClr val="000099"/>
                </a:solidFill>
                <a:sym typeface="Symbol" panose="05050102010706020507" pitchFamily="18" charset="2"/>
              </a:rPr>
              <a:t></a:t>
            </a:r>
          </a:p>
        </p:txBody>
      </p:sp>
      <p:sp>
        <p:nvSpPr>
          <p:cNvPr id="5" name="椭圆 4">
            <a:extLst>
              <a:ext uri="{FF2B5EF4-FFF2-40B4-BE49-F238E27FC236}">
                <a16:creationId xmlns:a16="http://schemas.microsoft.com/office/drawing/2014/main" id="{0914FE01-AB68-1657-F737-33885F923F9F}"/>
              </a:ext>
            </a:extLst>
          </p:cNvPr>
          <p:cNvSpPr/>
          <p:nvPr/>
        </p:nvSpPr>
        <p:spPr bwMode="auto">
          <a:xfrm>
            <a:off x="7896200" y="2492896"/>
            <a:ext cx="1008112" cy="1310823"/>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7" name="文本框 6">
            <a:extLst>
              <a:ext uri="{FF2B5EF4-FFF2-40B4-BE49-F238E27FC236}">
                <a16:creationId xmlns:a16="http://schemas.microsoft.com/office/drawing/2014/main" id="{1C4E60D2-FCDC-B167-2E88-C9E8B92A7DDD}"/>
              </a:ext>
            </a:extLst>
          </p:cNvPr>
          <p:cNvSpPr txBox="1"/>
          <p:nvPr/>
        </p:nvSpPr>
        <p:spPr>
          <a:xfrm>
            <a:off x="9984432" y="1628800"/>
            <a:ext cx="2088232" cy="523220"/>
          </a:xfrm>
          <a:prstGeom prst="rect">
            <a:avLst/>
          </a:prstGeom>
          <a:noFill/>
        </p:spPr>
        <p:txBody>
          <a:bodyPr wrap="square" rtlCol="0">
            <a:spAutoFit/>
          </a:bodyPr>
          <a:lstStyle/>
          <a:p>
            <a:r>
              <a:rPr lang="en-US" altLang="zh-CN" sz="2800" dirty="0"/>
              <a:t>5’GTCA3’</a:t>
            </a:r>
            <a:endParaRPr lang="zh-CN" altLang="en-US" sz="2800" dirty="0"/>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865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9">
            <a:extLst>
              <a:ext uri="{FF2B5EF4-FFF2-40B4-BE49-F238E27FC236}">
                <a16:creationId xmlns:a16="http://schemas.microsoft.com/office/drawing/2014/main" id="{4EC41C4F-DB21-4C52-8FD5-FA53EC63D246}"/>
              </a:ext>
            </a:extLst>
          </p:cNvPr>
          <p:cNvSpPr>
            <a:spLocks noChangeArrowheads="1"/>
          </p:cNvSpPr>
          <p:nvPr/>
        </p:nvSpPr>
        <p:spPr bwMode="auto">
          <a:xfrm>
            <a:off x="3322762" y="116632"/>
            <a:ext cx="5546476" cy="735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dirty="0">
                <a:solidFill>
                  <a:srgbClr val="0000CC"/>
                </a:solidFill>
                <a:latin typeface="Times New Roman" panose="02020603050405020304" pitchFamily="18" charset="0"/>
                <a:ea typeface="黑体" panose="02010609060101010101" pitchFamily="49" charset="-122"/>
              </a:rPr>
              <a:t>核酸一级结构书写方法</a:t>
            </a:r>
          </a:p>
        </p:txBody>
      </p:sp>
      <p:sp>
        <p:nvSpPr>
          <p:cNvPr id="93187" name="Text Box 43">
            <a:extLst>
              <a:ext uri="{FF2B5EF4-FFF2-40B4-BE49-F238E27FC236}">
                <a16:creationId xmlns:a16="http://schemas.microsoft.com/office/drawing/2014/main" id="{8611B694-A402-4A03-8375-2FDC8C2737AC}"/>
              </a:ext>
            </a:extLst>
          </p:cNvPr>
          <p:cNvSpPr txBox="1">
            <a:spLocks noChangeArrowheads="1"/>
          </p:cNvSpPr>
          <p:nvPr/>
        </p:nvSpPr>
        <p:spPr bwMode="auto">
          <a:xfrm>
            <a:off x="4237039" y="1746250"/>
            <a:ext cx="4187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dirty="0">
                <a:solidFill>
                  <a:schemeClr val="tx1"/>
                </a:solidFill>
                <a:latin typeface="Times New Roman" panose="02020603050405020304" pitchFamily="18" charset="0"/>
                <a:ea typeface="宋体" panose="02010600030101010101" pitchFamily="2" charset="-122"/>
              </a:rPr>
              <a:t>5</a:t>
            </a:r>
            <a:r>
              <a:rPr lang="en-US" altLang="zh-CN"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dirty="0">
                <a:solidFill>
                  <a:schemeClr val="tx1"/>
                </a:solidFill>
                <a:latin typeface="Times New Roman" panose="02020603050405020304" pitchFamily="18" charset="0"/>
                <a:ea typeface="楷体_GB2312" pitchFamily="49" charset="-122"/>
              </a:rPr>
              <a:t>  </a:t>
            </a:r>
            <a:r>
              <a:rPr lang="en-US" altLang="zh-CN" sz="3200" dirty="0">
                <a:solidFill>
                  <a:srgbClr val="CC0099"/>
                </a:solidFill>
                <a:latin typeface="Times New Roman" panose="02020603050405020304" pitchFamily="18" charset="0"/>
                <a:ea typeface="楷体_GB2312" pitchFamily="49" charset="-122"/>
              </a:rPr>
              <a:t>A C T G C T</a:t>
            </a:r>
            <a:r>
              <a:rPr lang="en-US" altLang="zh-CN" sz="2400" dirty="0">
                <a:solidFill>
                  <a:schemeClr val="tx1"/>
                </a:solidFill>
                <a:latin typeface="Times New Roman" panose="02020603050405020304" pitchFamily="18" charset="0"/>
                <a:ea typeface="楷体_GB2312" pitchFamily="49" charset="-122"/>
              </a:rPr>
              <a:t>  </a:t>
            </a:r>
            <a:r>
              <a:rPr lang="en-US" altLang="zh-CN" dirty="0">
                <a:solidFill>
                  <a:schemeClr val="tx1"/>
                </a:solidFill>
                <a:latin typeface="Times New Roman" panose="02020603050405020304" pitchFamily="18" charset="0"/>
                <a:ea typeface="宋体" panose="02010600030101010101" pitchFamily="2" charset="-122"/>
              </a:rPr>
              <a:t>3</a:t>
            </a:r>
            <a:r>
              <a:rPr lang="en-US" altLang="zh-CN"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80905" name="文本框 1">
            <a:extLst>
              <a:ext uri="{FF2B5EF4-FFF2-40B4-BE49-F238E27FC236}">
                <a16:creationId xmlns:a16="http://schemas.microsoft.com/office/drawing/2014/main" id="{B071D8F6-461F-4485-90C7-602364615919}"/>
              </a:ext>
            </a:extLst>
          </p:cNvPr>
          <p:cNvSpPr txBox="1">
            <a:spLocks noChangeArrowheads="1"/>
          </p:cNvSpPr>
          <p:nvPr/>
        </p:nvSpPr>
        <p:spPr bwMode="auto">
          <a:xfrm>
            <a:off x="2279651" y="2852738"/>
            <a:ext cx="81010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zh-CN" altLang="en-US" sz="3200" b="0" dirty="0">
                <a:solidFill>
                  <a:srgbClr val="FF0000"/>
                </a:solidFill>
              </a:rPr>
              <a:t>如未注明</a:t>
            </a:r>
            <a:r>
              <a:rPr lang="en-US" altLang="zh-CN" sz="3200" b="0" dirty="0">
                <a:solidFill>
                  <a:srgbClr val="FF0000"/>
                </a:solidFill>
              </a:rPr>
              <a:t>5’</a:t>
            </a:r>
            <a:r>
              <a:rPr lang="zh-CN" altLang="en-US" sz="3200" b="0" dirty="0">
                <a:solidFill>
                  <a:srgbClr val="FF0000"/>
                </a:solidFill>
              </a:rPr>
              <a:t>或</a:t>
            </a:r>
            <a:r>
              <a:rPr lang="en-US" altLang="zh-CN" sz="3200" b="0" dirty="0">
                <a:solidFill>
                  <a:srgbClr val="FF0000"/>
                </a:solidFill>
              </a:rPr>
              <a:t>3’</a:t>
            </a:r>
            <a:r>
              <a:rPr lang="zh-CN" altLang="en-US" sz="3200" b="0" dirty="0">
                <a:solidFill>
                  <a:srgbClr val="FF0000"/>
                </a:solidFill>
              </a:rPr>
              <a:t>末端，</a:t>
            </a:r>
            <a:r>
              <a:rPr lang="zh-CN" altLang="en-US" sz="3200" dirty="0">
                <a:solidFill>
                  <a:srgbClr val="FF0000"/>
                </a:solidFill>
              </a:rPr>
              <a:t>默认</a:t>
            </a:r>
            <a:r>
              <a:rPr lang="zh-CN" altLang="en-US" sz="3200" b="0" dirty="0">
                <a:solidFill>
                  <a:srgbClr val="FF0000"/>
                </a:solidFill>
              </a:rPr>
              <a:t>左侧为</a:t>
            </a:r>
            <a:r>
              <a:rPr lang="en-US" altLang="zh-CN" sz="3200" b="0" dirty="0">
                <a:solidFill>
                  <a:srgbClr val="FF0000"/>
                </a:solidFill>
              </a:rPr>
              <a:t>5’</a:t>
            </a:r>
            <a:r>
              <a:rPr lang="zh-CN" altLang="en-US" sz="3200" b="0" dirty="0">
                <a:solidFill>
                  <a:srgbClr val="FF0000"/>
                </a:solidFill>
              </a:rPr>
              <a:t>端</a:t>
            </a:r>
          </a:p>
        </p:txBody>
      </p:sp>
      <p:sp>
        <p:nvSpPr>
          <p:cNvPr id="93189" name="灯片编号占位符 1">
            <a:extLst>
              <a:ext uri="{FF2B5EF4-FFF2-40B4-BE49-F238E27FC236}">
                <a16:creationId xmlns:a16="http://schemas.microsoft.com/office/drawing/2014/main" id="{34EA1F52-AC9C-441F-9C9A-583A38BF5DE9}"/>
              </a:ext>
            </a:extLst>
          </p:cNvPr>
          <p:cNvSpPr>
            <a:spLocks noGrp="1"/>
          </p:cNvSpPr>
          <p:nvPr>
            <p:ph type="sldNum" sz="quarter" idx="10"/>
          </p:nvPr>
        </p:nvSpPr>
        <p:spPr bwMode="auto">
          <a:xfrm>
            <a:off x="9840913" y="6373814"/>
            <a:ext cx="69215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7E157AA0-496E-41D4-A7D9-796C9421DF4F}" type="slidenum">
              <a:rPr lang="zh-CN" altLang="en-US" sz="1200" b="0">
                <a:solidFill>
                  <a:srgbClr val="898F89"/>
                </a:solidFill>
              </a:rPr>
              <a:pPr>
                <a:spcBef>
                  <a:spcPct val="0"/>
                </a:spcBef>
                <a:buClrTx/>
                <a:buFontTx/>
                <a:buNone/>
              </a:pPr>
              <a:t>28</a:t>
            </a:fld>
            <a:endParaRPr lang="zh-CN" altLang="en-US" sz="1200" b="0">
              <a:solidFill>
                <a:srgbClr val="898F89"/>
              </a:solidFill>
            </a:endParaRPr>
          </a:p>
        </p:txBody>
      </p:sp>
      <p:sp>
        <p:nvSpPr>
          <p:cNvPr id="2" name="文本框 1">
            <a:extLst>
              <a:ext uri="{FF2B5EF4-FFF2-40B4-BE49-F238E27FC236}">
                <a16:creationId xmlns:a16="http://schemas.microsoft.com/office/drawing/2014/main" id="{D7E79EEB-281D-012C-9C32-49693E73F124}"/>
              </a:ext>
            </a:extLst>
          </p:cNvPr>
          <p:cNvSpPr txBox="1"/>
          <p:nvPr/>
        </p:nvSpPr>
        <p:spPr>
          <a:xfrm>
            <a:off x="2495600" y="4005065"/>
            <a:ext cx="7560840" cy="461665"/>
          </a:xfrm>
          <a:prstGeom prst="rect">
            <a:avLst/>
          </a:prstGeom>
          <a:noFill/>
        </p:spPr>
        <p:txBody>
          <a:bodyPr wrap="square" rtlCol="0">
            <a:spAutoFit/>
          </a:bodyPr>
          <a:lstStyle/>
          <a:p>
            <a:r>
              <a:rPr lang="zh-CN" altLang="en-US" dirty="0">
                <a:solidFill>
                  <a:srgbClr val="000000"/>
                </a:solidFill>
                <a:latin typeface="Arial" panose="020B0604020202020204" pitchFamily="34" charset="0"/>
                <a:cs typeface="Arial" panose="020B0604020202020204" pitchFamily="34" charset="0"/>
              </a:rPr>
              <a:t>因此， </a:t>
            </a:r>
            <a:r>
              <a:rPr lang="en-US" altLang="zh-CN" dirty="0">
                <a:solidFill>
                  <a:srgbClr val="000000"/>
                </a:solidFill>
                <a:latin typeface="Arial" panose="020B0604020202020204" pitchFamily="34" charset="0"/>
                <a:cs typeface="Arial" panose="020B0604020202020204" pitchFamily="34" charset="0"/>
              </a:rPr>
              <a:t>3’ACTGCT5’  </a:t>
            </a:r>
            <a:r>
              <a:rPr lang="zh-CN" altLang="en-US" dirty="0">
                <a:solidFill>
                  <a:srgbClr val="000000"/>
                </a:solidFill>
                <a:latin typeface="Arial" panose="020B0604020202020204" pitchFamily="34" charset="0"/>
                <a:cs typeface="Arial" panose="020B0604020202020204" pitchFamily="34" charset="0"/>
              </a:rPr>
              <a:t>是与上述序列</a:t>
            </a:r>
            <a:r>
              <a:rPr lang="zh-CN" altLang="en-US" b="1" dirty="0">
                <a:solidFill>
                  <a:srgbClr val="C00000"/>
                </a:solidFill>
                <a:latin typeface="Arial" panose="020B0604020202020204" pitchFamily="34" charset="0"/>
                <a:cs typeface="Arial" panose="020B0604020202020204" pitchFamily="34" charset="0"/>
              </a:rPr>
              <a:t>不相同</a:t>
            </a:r>
            <a:r>
              <a:rPr lang="zh-CN" altLang="en-US" dirty="0">
                <a:solidFill>
                  <a:srgbClr val="000000"/>
                </a:solidFill>
                <a:latin typeface="Arial" panose="020B0604020202020204" pitchFamily="34" charset="0"/>
                <a:cs typeface="Arial" panose="020B0604020202020204" pitchFamily="34" charset="0"/>
              </a:rPr>
              <a:t>的</a:t>
            </a:r>
            <a:r>
              <a:rPr lang="en-US" altLang="zh-CN" dirty="0">
                <a:solidFill>
                  <a:srgbClr val="000000"/>
                </a:solidFill>
                <a:latin typeface="Arial" panose="020B0604020202020204" pitchFamily="34" charset="0"/>
                <a:cs typeface="Arial" panose="020B0604020202020204" pitchFamily="34" charset="0"/>
              </a:rPr>
              <a:t>DNA</a:t>
            </a:r>
            <a:r>
              <a:rPr lang="zh-CN" altLang="en-US" dirty="0">
                <a:solidFill>
                  <a:srgbClr val="000000"/>
                </a:solidFill>
                <a:latin typeface="Arial" panose="020B0604020202020204" pitchFamily="34" charset="0"/>
                <a:cs typeface="Arial" panose="020B0604020202020204" pitchFamily="34" charset="0"/>
              </a:rPr>
              <a:t>序列</a:t>
            </a:r>
          </a:p>
        </p:txBody>
      </p:sp>
      <p:sp>
        <p:nvSpPr>
          <p:cNvPr id="7" name="矩形 6">
            <a:extLst>
              <a:ext uri="{FF2B5EF4-FFF2-40B4-BE49-F238E27FC236}">
                <a16:creationId xmlns:a16="http://schemas.microsoft.com/office/drawing/2014/main" id="{F38FDCA8-16CE-D151-A3A7-4D37D91196D9}"/>
              </a:ext>
            </a:extLst>
          </p:cNvPr>
          <p:cNvSpPr/>
          <p:nvPr/>
        </p:nvSpPr>
        <p:spPr bwMode="auto">
          <a:xfrm>
            <a:off x="4151784" y="1746250"/>
            <a:ext cx="574204" cy="53836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endParaRPr lang="zh-CN" altLang="en-US"/>
          </a:p>
        </p:txBody>
      </p:sp>
      <p:sp>
        <p:nvSpPr>
          <p:cNvPr id="8" name="矩形 7">
            <a:extLst>
              <a:ext uri="{FF2B5EF4-FFF2-40B4-BE49-F238E27FC236}">
                <a16:creationId xmlns:a16="http://schemas.microsoft.com/office/drawing/2014/main" id="{B230E65E-5EEF-FE5A-5845-EA19440B2311}"/>
              </a:ext>
            </a:extLst>
          </p:cNvPr>
          <p:cNvSpPr/>
          <p:nvPr/>
        </p:nvSpPr>
        <p:spPr bwMode="auto">
          <a:xfrm>
            <a:off x="7104112" y="1700808"/>
            <a:ext cx="574204" cy="53836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endParaRPr lang="zh-CN" altLang="en-US"/>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0905"/>
                                        </p:tgtEl>
                                        <p:attrNameLst>
                                          <p:attrName>style.visibility</p:attrName>
                                        </p:attrNameLst>
                                      </p:cBhvr>
                                      <p:to>
                                        <p:strVal val="visible"/>
                                      </p:to>
                                    </p:set>
                                    <p:animEffect transition="in" filter="fade">
                                      <p:cBhvr>
                                        <p:cTn id="13" dur="500"/>
                                        <p:tgtEl>
                                          <p:spTgt spid="8090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5" grpId="0"/>
      <p:bldP spid="2" grpId="0"/>
      <p:bldP spid="7" grpId="0" animBg="1"/>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0818" name="Rectangle 2">
            <a:extLst>
              <a:ext uri="{FF2B5EF4-FFF2-40B4-BE49-F238E27FC236}">
                <a16:creationId xmlns:a16="http://schemas.microsoft.com/office/drawing/2014/main" id="{CECF2087-1A84-420B-85E3-8DEDD6B5C405}"/>
              </a:ext>
            </a:extLst>
          </p:cNvPr>
          <p:cNvSpPr>
            <a:spLocks noGrp="1" noChangeArrowheads="1"/>
          </p:cNvSpPr>
          <p:nvPr>
            <p:ph type="body" idx="1"/>
          </p:nvPr>
        </p:nvSpPr>
        <p:spPr>
          <a:xfrm>
            <a:off x="2208214" y="1484314"/>
            <a:ext cx="8066087" cy="4321175"/>
          </a:xfrm>
        </p:spPr>
        <p:txBody>
          <a:bodyPr/>
          <a:lstStyle/>
          <a:p>
            <a:pPr eaLnBrk="1" hangingPunct="1">
              <a:lnSpc>
                <a:spcPct val="130000"/>
              </a:lnSpc>
              <a:buClr>
                <a:srgbClr val="0000CC"/>
              </a:buClr>
            </a:pPr>
            <a:r>
              <a:rPr lang="en-US" altLang="zh-CN" b="0" dirty="0">
                <a:solidFill>
                  <a:srgbClr val="C00000"/>
                </a:solidFill>
                <a:latin typeface="Times New Roman" panose="02020603050405020304" pitchFamily="18" charset="0"/>
              </a:rPr>
              <a:t>bp:  </a:t>
            </a:r>
            <a:r>
              <a:rPr lang="en-US" altLang="zh-CN" b="0" dirty="0">
                <a:latin typeface="Times New Roman" panose="02020603050405020304" pitchFamily="18" charset="0"/>
              </a:rPr>
              <a:t>base pair </a:t>
            </a:r>
            <a:r>
              <a:rPr lang="zh-CN" altLang="en-US" b="0" dirty="0">
                <a:latin typeface="Times New Roman" panose="02020603050405020304" pitchFamily="18" charset="0"/>
              </a:rPr>
              <a:t>碱基对</a:t>
            </a:r>
          </a:p>
          <a:p>
            <a:pPr eaLnBrk="1" hangingPunct="1">
              <a:lnSpc>
                <a:spcPct val="130000"/>
              </a:lnSpc>
              <a:buClr>
                <a:srgbClr val="0000CC"/>
              </a:buClr>
            </a:pPr>
            <a:r>
              <a:rPr lang="en-US" altLang="zh-CN" b="0" dirty="0">
                <a:solidFill>
                  <a:srgbClr val="C00000"/>
                </a:solidFill>
                <a:latin typeface="Times New Roman" panose="02020603050405020304" pitchFamily="18" charset="0"/>
              </a:rPr>
              <a:t>kb</a:t>
            </a:r>
            <a:r>
              <a:rPr lang="en-US" altLang="zh-CN" b="0" dirty="0">
                <a:latin typeface="Times New Roman" panose="02020603050405020304" pitchFamily="18" charset="0"/>
              </a:rPr>
              <a:t>(</a:t>
            </a:r>
            <a:r>
              <a:rPr lang="en-US" altLang="zh-CN" b="0" dirty="0" err="1">
                <a:latin typeface="Times New Roman" panose="02020603050405020304" pitchFamily="18" charset="0"/>
              </a:rPr>
              <a:t>kbp</a:t>
            </a:r>
            <a:r>
              <a:rPr lang="en-US" altLang="zh-CN" b="0" dirty="0">
                <a:latin typeface="Times New Roman" panose="02020603050405020304" pitchFamily="18" charset="0"/>
              </a:rPr>
              <a:t>): kilobase pair </a:t>
            </a:r>
            <a:r>
              <a:rPr lang="zh-CN" altLang="en-US" b="0" dirty="0">
                <a:latin typeface="Times New Roman" panose="02020603050405020304" pitchFamily="18" charset="0"/>
              </a:rPr>
              <a:t>千碱基对</a:t>
            </a:r>
          </a:p>
          <a:p>
            <a:pPr eaLnBrk="1" hangingPunct="1">
              <a:lnSpc>
                <a:spcPct val="130000"/>
              </a:lnSpc>
              <a:buClr>
                <a:srgbClr val="0000CC"/>
              </a:buClr>
            </a:pPr>
            <a:r>
              <a:rPr lang="en-US" altLang="zh-CN" b="0" dirty="0">
                <a:solidFill>
                  <a:srgbClr val="C00000"/>
                </a:solidFill>
                <a:latin typeface="Times New Roman" panose="02020603050405020304" pitchFamily="18" charset="0"/>
              </a:rPr>
              <a:t>Mb</a:t>
            </a:r>
            <a:r>
              <a:rPr lang="en-US" altLang="zh-CN" b="0" dirty="0">
                <a:latin typeface="Times New Roman" panose="02020603050405020304" pitchFamily="18" charset="0"/>
              </a:rPr>
              <a:t>: </a:t>
            </a:r>
            <a:r>
              <a:rPr lang="zh-CN" altLang="en-US" b="0" dirty="0">
                <a:latin typeface="Times New Roman" panose="02020603050405020304" pitchFamily="18" charset="0"/>
              </a:rPr>
              <a:t>百万碱基对</a:t>
            </a:r>
          </a:p>
          <a:p>
            <a:pPr eaLnBrk="1" hangingPunct="1">
              <a:lnSpc>
                <a:spcPct val="130000"/>
              </a:lnSpc>
              <a:buClr>
                <a:srgbClr val="0000CC"/>
              </a:buClr>
            </a:pPr>
            <a:r>
              <a:rPr lang="zh-CN" altLang="en-US" b="0" dirty="0">
                <a:latin typeface="Times New Roman" panose="02020603050405020304" pitchFamily="18" charset="0"/>
              </a:rPr>
              <a:t>对短的单链核酸 </a:t>
            </a:r>
            <a:r>
              <a:rPr kumimoji="1" lang="en-US" altLang="zh-CN" b="0" dirty="0">
                <a:latin typeface="Times New Roman" panose="02020603050405020304" pitchFamily="18" charset="0"/>
              </a:rPr>
              <a:t>(&lt;50bp)</a:t>
            </a:r>
            <a:r>
              <a:rPr kumimoji="1" lang="zh-CN" altLang="en-US" b="0" dirty="0">
                <a:latin typeface="Times New Roman" panose="02020603050405020304" pitchFamily="18" charset="0"/>
              </a:rPr>
              <a:t>常被称为</a:t>
            </a:r>
            <a:r>
              <a:rPr kumimoji="1" lang="zh-CN" altLang="en-US" b="0" dirty="0">
                <a:solidFill>
                  <a:srgbClr val="C00000"/>
                </a:solidFill>
                <a:latin typeface="Times New Roman" panose="02020603050405020304" pitchFamily="18" charset="0"/>
              </a:rPr>
              <a:t>寡核苷酸</a:t>
            </a:r>
            <a:r>
              <a:rPr kumimoji="1" lang="en-US" altLang="zh-CN" b="0" dirty="0">
                <a:latin typeface="Times New Roman" panose="02020603050405020304" pitchFamily="18" charset="0"/>
              </a:rPr>
              <a:t>(oligonucleotide)</a:t>
            </a:r>
            <a:r>
              <a:rPr kumimoji="1" lang="zh-CN" altLang="en-US" b="0" dirty="0">
                <a:latin typeface="Times New Roman" panose="02020603050405020304" pitchFamily="18" charset="0"/>
              </a:rPr>
              <a:t>，</a:t>
            </a:r>
            <a:r>
              <a:rPr lang="zh-CN" altLang="en-US" b="0" dirty="0">
                <a:latin typeface="Times New Roman" panose="02020603050405020304" pitchFamily="18" charset="0"/>
              </a:rPr>
              <a:t>用</a:t>
            </a:r>
            <a:r>
              <a:rPr lang="en-US" altLang="zh-CN" b="0" dirty="0" err="1">
                <a:solidFill>
                  <a:srgbClr val="C00000"/>
                </a:solidFill>
                <a:latin typeface="Times New Roman" panose="02020603050405020304" pitchFamily="18" charset="0"/>
              </a:rPr>
              <a:t>nt</a:t>
            </a:r>
            <a:r>
              <a:rPr lang="en-US" altLang="zh-CN" b="0" dirty="0">
                <a:latin typeface="Times New Roman" panose="02020603050405020304" pitchFamily="18" charset="0"/>
              </a:rPr>
              <a:t>(</a:t>
            </a:r>
            <a:r>
              <a:rPr lang="zh-CN" altLang="en-US" b="0" dirty="0">
                <a:latin typeface="Times New Roman" panose="02020603050405020304" pitchFamily="18" charset="0"/>
              </a:rPr>
              <a:t>即</a:t>
            </a:r>
            <a:r>
              <a:rPr lang="en-US" altLang="zh-CN" b="0" dirty="0">
                <a:latin typeface="Times New Roman" panose="02020603050405020304" pitchFamily="18" charset="0"/>
              </a:rPr>
              <a:t>nucleotide)</a:t>
            </a:r>
            <a:r>
              <a:rPr lang="zh-CN" altLang="en-US" b="0" dirty="0">
                <a:latin typeface="Times New Roman" panose="02020603050405020304" pitchFamily="18" charset="0"/>
              </a:rPr>
              <a:t>或</a:t>
            </a:r>
            <a:r>
              <a:rPr lang="en-US" altLang="zh-CN" b="0" dirty="0">
                <a:solidFill>
                  <a:srgbClr val="C00000"/>
                </a:solidFill>
                <a:latin typeface="Times New Roman" panose="02020603050405020304" pitchFamily="18" charset="0"/>
              </a:rPr>
              <a:t>-</a:t>
            </a:r>
            <a:r>
              <a:rPr lang="en-US" altLang="zh-CN" b="0" dirty="0" err="1">
                <a:solidFill>
                  <a:srgbClr val="C00000"/>
                </a:solidFill>
                <a:latin typeface="Times New Roman" panose="02020603050405020304" pitchFamily="18" charset="0"/>
              </a:rPr>
              <a:t>mer</a:t>
            </a:r>
            <a:r>
              <a:rPr lang="zh-CN" altLang="en-US" b="0" dirty="0">
                <a:latin typeface="Times New Roman" panose="02020603050405020304" pitchFamily="18" charset="0"/>
              </a:rPr>
              <a:t>表示，如</a:t>
            </a:r>
            <a:r>
              <a:rPr lang="en-US" altLang="zh-CN" b="0" dirty="0">
                <a:latin typeface="Times New Roman" panose="02020603050405020304" pitchFamily="18" charset="0"/>
              </a:rPr>
              <a:t>20nt </a:t>
            </a:r>
            <a:r>
              <a:rPr lang="zh-CN" altLang="en-US" b="0" dirty="0">
                <a:latin typeface="Times New Roman" panose="02020603050405020304" pitchFamily="18" charset="0"/>
              </a:rPr>
              <a:t>或</a:t>
            </a:r>
            <a:r>
              <a:rPr lang="en-US" altLang="zh-CN" b="0" dirty="0">
                <a:latin typeface="Times New Roman" panose="02020603050405020304" pitchFamily="18" charset="0"/>
              </a:rPr>
              <a:t>20mer</a:t>
            </a:r>
            <a:r>
              <a:rPr lang="zh-CN" altLang="en-US" b="0" dirty="0">
                <a:latin typeface="Times New Roman" panose="02020603050405020304" pitchFamily="18" charset="0"/>
              </a:rPr>
              <a:t>表示由</a:t>
            </a:r>
            <a:r>
              <a:rPr lang="en-US" altLang="zh-CN" b="0" dirty="0">
                <a:latin typeface="Times New Roman" panose="02020603050405020304" pitchFamily="18" charset="0"/>
              </a:rPr>
              <a:t>20</a:t>
            </a:r>
            <a:r>
              <a:rPr lang="zh-CN" altLang="en-US" b="0" dirty="0">
                <a:latin typeface="Times New Roman" panose="02020603050405020304" pitchFamily="18" charset="0"/>
              </a:rPr>
              <a:t>个核苷酸或脱氧核苷酸构成的寡核苷酸或脱氧寡核苷酸。</a:t>
            </a:r>
          </a:p>
        </p:txBody>
      </p:sp>
      <p:sp>
        <p:nvSpPr>
          <p:cNvPr id="95235" name="Rectangle 3">
            <a:extLst>
              <a:ext uri="{FF2B5EF4-FFF2-40B4-BE49-F238E27FC236}">
                <a16:creationId xmlns:a16="http://schemas.microsoft.com/office/drawing/2014/main" id="{56A4EC2F-34E3-4034-A84F-C67D483BC129}"/>
              </a:ext>
            </a:extLst>
          </p:cNvPr>
          <p:cNvSpPr>
            <a:spLocks noChangeArrowheads="1"/>
          </p:cNvSpPr>
          <p:nvPr/>
        </p:nvSpPr>
        <p:spPr bwMode="auto">
          <a:xfrm>
            <a:off x="2760664" y="188913"/>
            <a:ext cx="6670675"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b="0">
                <a:solidFill>
                  <a:srgbClr val="0000CC"/>
                </a:solidFill>
                <a:latin typeface="Times New Roman" panose="02020603050405020304" pitchFamily="18" charset="0"/>
                <a:ea typeface="黑体" panose="02010609060101010101" pitchFamily="49" charset="-122"/>
              </a:rPr>
              <a:t>核酸分子（基因）大小的表示法</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30818">
                                            <p:txEl>
                                              <p:pRg st="3" end="3"/>
                                            </p:txEl>
                                          </p:spTgt>
                                        </p:tgtEl>
                                        <p:attrNameLst>
                                          <p:attrName>style.visibility</p:attrName>
                                        </p:attrNameLst>
                                      </p:cBhvr>
                                      <p:to>
                                        <p:strVal val="visible"/>
                                      </p:to>
                                    </p:set>
                                    <p:animEffect transition="in" filter="dissolve">
                                      <p:cBhvr>
                                        <p:cTn id="7" dur="500"/>
                                        <p:tgtEl>
                                          <p:spTgt spid="9308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70AE7DE6-C4C3-4287-BCF1-A126E6485AE4}"/>
              </a:ext>
            </a:extLst>
          </p:cNvPr>
          <p:cNvSpPr>
            <a:spLocks noChangeArrowheads="1"/>
          </p:cNvSpPr>
          <p:nvPr/>
        </p:nvSpPr>
        <p:spPr bwMode="auto">
          <a:xfrm>
            <a:off x="1920875" y="1268413"/>
            <a:ext cx="8496300"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10000"/>
              </a:lnSpc>
              <a:spcBef>
                <a:spcPct val="0"/>
              </a:spcBef>
              <a:buClrTx/>
              <a:buFontTx/>
              <a:buNone/>
            </a:pPr>
            <a:r>
              <a:rPr lang="zh-CN" altLang="en-US" sz="4800" dirty="0">
                <a:solidFill>
                  <a:srgbClr val="000099"/>
                </a:solidFill>
                <a:latin typeface="Times New Roman" panose="02020603050405020304" pitchFamily="18" charset="0"/>
                <a:ea typeface="黑体" panose="02010609060101010101" pitchFamily="49" charset="-122"/>
              </a:rPr>
              <a:t>第二节</a:t>
            </a:r>
          </a:p>
          <a:p>
            <a:pPr algn="ctr" eaLnBrk="1" hangingPunct="1">
              <a:lnSpc>
                <a:spcPct val="110000"/>
              </a:lnSpc>
              <a:spcBef>
                <a:spcPct val="0"/>
              </a:spcBef>
              <a:buClrTx/>
              <a:buFontTx/>
              <a:buNone/>
            </a:pPr>
            <a:endParaRPr kumimoji="0" lang="zh-CN" altLang="en-US" sz="3200" dirty="0">
              <a:solidFill>
                <a:srgbClr val="660066"/>
              </a:solidFill>
              <a:latin typeface="Times New Roman" panose="02020603050405020304" pitchFamily="18" charset="0"/>
              <a:ea typeface="黑体" panose="02010609060101010101" pitchFamily="49" charset="-122"/>
            </a:endParaRPr>
          </a:p>
          <a:p>
            <a:pPr algn="ctr" eaLnBrk="1" hangingPunct="1">
              <a:lnSpc>
                <a:spcPct val="120000"/>
              </a:lnSpc>
              <a:spcBef>
                <a:spcPct val="0"/>
              </a:spcBef>
              <a:buClrTx/>
              <a:buFontTx/>
              <a:buNone/>
            </a:pPr>
            <a:r>
              <a:rPr lang="en-US" altLang="zh-CN" sz="4800" dirty="0">
                <a:solidFill>
                  <a:srgbClr val="000099"/>
                </a:solidFill>
                <a:latin typeface="Times New Roman" panose="02020603050405020304" pitchFamily="18" charset="0"/>
                <a:ea typeface="黑体" panose="02010609060101010101" pitchFamily="49" charset="-122"/>
              </a:rPr>
              <a:t>DNA</a:t>
            </a:r>
            <a:r>
              <a:rPr lang="zh-CN" altLang="en-US" sz="4800" dirty="0">
                <a:solidFill>
                  <a:srgbClr val="000099"/>
                </a:solidFill>
                <a:latin typeface="Times New Roman" panose="02020603050405020304" pitchFamily="18" charset="0"/>
                <a:ea typeface="黑体" panose="02010609060101010101" pitchFamily="49" charset="-122"/>
              </a:rPr>
              <a:t>的空间结构与功能</a:t>
            </a:r>
            <a:endParaRPr lang="en-US" altLang="zh-CN" sz="4800" dirty="0">
              <a:solidFill>
                <a:srgbClr val="000099"/>
              </a:solidFill>
              <a:latin typeface="Times New Roman" panose="02020603050405020304" pitchFamily="18" charset="0"/>
              <a:ea typeface="黑体" panose="02010609060101010101" pitchFamily="49" charset="-122"/>
            </a:endParaRPr>
          </a:p>
          <a:p>
            <a:pPr algn="ctr" eaLnBrk="1" hangingPunct="1">
              <a:lnSpc>
                <a:spcPct val="120000"/>
              </a:lnSpc>
              <a:spcBef>
                <a:spcPct val="0"/>
              </a:spcBef>
              <a:buClrTx/>
              <a:buFontTx/>
              <a:buNone/>
            </a:pPr>
            <a:r>
              <a:rPr lang="en-US" altLang="zh-CN" sz="3200" dirty="0">
                <a:solidFill>
                  <a:srgbClr val="990099"/>
                </a:solidFill>
                <a:latin typeface="Times New Roman" panose="02020603050405020304" pitchFamily="18" charset="0"/>
                <a:ea typeface="黑体" panose="02010609060101010101" pitchFamily="49" charset="-122"/>
              </a:rPr>
              <a:t>Spatial Structure and Function of DNA</a:t>
            </a:r>
            <a:endParaRPr lang="en-US" altLang="zh-CN" sz="3200" dirty="0">
              <a:solidFill>
                <a:srgbClr val="990099"/>
              </a:solidFill>
              <a:latin typeface="Times New Roman" panose="02020603050405020304" pitchFamily="18" charset="0"/>
              <a:ea typeface="黑体" panose="02010609060101010101" pitchFamily="49" charset="-122"/>
              <a:hlinkClick r:id="" action="ppaction://hlinkshowjump?jump=lastslide"/>
            </a:endParaRPr>
          </a:p>
        </p:txBody>
      </p:sp>
      <p:sp>
        <p:nvSpPr>
          <p:cNvPr id="97283" name="灯片编号占位符 1">
            <a:extLst>
              <a:ext uri="{FF2B5EF4-FFF2-40B4-BE49-F238E27FC236}">
                <a16:creationId xmlns:a16="http://schemas.microsoft.com/office/drawing/2014/main" id="{3F4BECBA-4C19-4C31-A0FB-58D3BD177479}"/>
              </a:ext>
            </a:extLst>
          </p:cNvPr>
          <p:cNvSpPr>
            <a:spLocks noGrp="1"/>
          </p:cNvSpPr>
          <p:nvPr>
            <p:ph type="sldNum" sz="quarter" idx="4"/>
          </p:nvPr>
        </p:nvSpPr>
        <p:spPr bwMode="auto">
          <a:xfrm>
            <a:off x="9974264" y="6492876"/>
            <a:ext cx="693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l" eaLnBrk="0" hangingPunct="0">
              <a:spcBef>
                <a:spcPct val="0"/>
              </a:spcBef>
              <a:buClrTx/>
              <a:buFontTx/>
              <a:buNone/>
            </a:pPr>
            <a:fld id="{8BBA6F97-8A45-4AE7-AAA5-88D5E9A19225}" type="slidenum">
              <a:rPr lang="zh-CN" altLang="en-US" sz="1200" b="0">
                <a:solidFill>
                  <a:srgbClr val="898F89"/>
                </a:solidFill>
              </a:rPr>
              <a:pPr algn="l" eaLnBrk="0" hangingPunct="0">
                <a:spcBef>
                  <a:spcPct val="0"/>
                </a:spcBef>
                <a:buClrTx/>
                <a:buFontTx/>
                <a:buNone/>
              </a:pPr>
              <a:t>30</a:t>
            </a:fld>
            <a:endParaRPr lang="zh-CN" altLang="en-US" sz="1200" b="0">
              <a:solidFill>
                <a:srgbClr val="898F89"/>
              </a:solidFill>
            </a:endParaRPr>
          </a:p>
        </p:txBody>
      </p:sp>
    </p:spTree>
  </p:cSld>
  <p:clrMapOvr>
    <a:masterClrMapping/>
  </p:clrMapOvr>
  <p:transition spd="slow">
    <p:circl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F83644C6-0081-4C97-8F8A-9B9EBB4579DB}"/>
              </a:ext>
            </a:extLst>
          </p:cNvPr>
          <p:cNvSpPr>
            <a:spLocks noChangeArrowheads="1"/>
          </p:cNvSpPr>
          <p:nvPr/>
        </p:nvSpPr>
        <p:spPr bwMode="auto">
          <a:xfrm>
            <a:off x="3684589" y="115888"/>
            <a:ext cx="4822825"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a:solidFill>
                  <a:srgbClr val="0000CC"/>
                </a:solidFill>
                <a:latin typeface="Times New Roman" panose="02020603050405020304" pitchFamily="18" charset="0"/>
                <a:ea typeface="黑体" panose="02010609060101010101" pitchFamily="49" charset="-122"/>
              </a:rPr>
              <a:t>一、 </a:t>
            </a:r>
            <a:r>
              <a:rPr kumimoji="0" lang="en-US" altLang="zh-CN" sz="3600">
                <a:solidFill>
                  <a:srgbClr val="0000CC"/>
                </a:solidFill>
                <a:latin typeface="Times New Roman" panose="02020603050405020304" pitchFamily="18" charset="0"/>
                <a:ea typeface="黑体" panose="02010609060101010101" pitchFamily="49" charset="-122"/>
              </a:rPr>
              <a:t>DNA</a:t>
            </a:r>
            <a:r>
              <a:rPr kumimoji="0" lang="zh-CN" altLang="en-US" sz="3600">
                <a:solidFill>
                  <a:srgbClr val="0000CC"/>
                </a:solidFill>
                <a:latin typeface="Times New Roman" panose="02020603050405020304" pitchFamily="18" charset="0"/>
                <a:ea typeface="黑体" panose="02010609060101010101" pitchFamily="49" charset="-122"/>
              </a:rPr>
              <a:t>的二级结构</a:t>
            </a:r>
          </a:p>
        </p:txBody>
      </p:sp>
      <p:sp>
        <p:nvSpPr>
          <p:cNvPr id="99331" name="Rectangle 5">
            <a:extLst>
              <a:ext uri="{FF2B5EF4-FFF2-40B4-BE49-F238E27FC236}">
                <a16:creationId xmlns:a16="http://schemas.microsoft.com/office/drawing/2014/main" id="{0E07E38E-DBF4-4EBC-90BF-F59B878AD729}"/>
              </a:ext>
            </a:extLst>
          </p:cNvPr>
          <p:cNvSpPr>
            <a:spLocks noChangeArrowheads="1"/>
          </p:cNvSpPr>
          <p:nvPr/>
        </p:nvSpPr>
        <p:spPr bwMode="auto">
          <a:xfrm>
            <a:off x="5375275" y="981075"/>
            <a:ext cx="3526928" cy="700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lvl="1" eaLnBrk="1" hangingPunct="1">
              <a:lnSpc>
                <a:spcPct val="140000"/>
              </a:lnSpc>
              <a:spcBef>
                <a:spcPct val="0"/>
              </a:spcBef>
              <a:buClrTx/>
              <a:buFontTx/>
              <a:buNone/>
            </a:pPr>
            <a:r>
              <a:rPr lang="en-US" altLang="zh-CN" sz="3200" b="1">
                <a:solidFill>
                  <a:srgbClr val="2808E8"/>
                </a:solidFill>
                <a:latin typeface="Times New Roman" panose="02020603050405020304" pitchFamily="18" charset="0"/>
                <a:ea typeface="宋体" panose="02010600030101010101" pitchFamily="2" charset="-122"/>
              </a:rPr>
              <a:t>——</a:t>
            </a:r>
            <a:r>
              <a:rPr lang="zh-CN" altLang="en-US" sz="3200" b="1">
                <a:solidFill>
                  <a:srgbClr val="2808E8"/>
                </a:solidFill>
                <a:latin typeface="Times New Roman" panose="02020603050405020304" pitchFamily="18" charset="0"/>
                <a:ea typeface="宋体" panose="02010600030101010101" pitchFamily="2" charset="-122"/>
              </a:rPr>
              <a:t>双螺旋结构</a:t>
            </a:r>
          </a:p>
        </p:txBody>
      </p:sp>
      <p:pic>
        <p:nvPicPr>
          <p:cNvPr id="99332" name="Picture 1026">
            <a:extLst>
              <a:ext uri="{FF2B5EF4-FFF2-40B4-BE49-F238E27FC236}">
                <a16:creationId xmlns:a16="http://schemas.microsoft.com/office/drawing/2014/main" id="{595EACA6-432C-4C1C-B8E6-317C113DF3B7}"/>
              </a:ext>
            </a:extLst>
          </p:cNvPr>
          <p:cNvPicPr>
            <a:picLocks noChangeAspect="1" noChangeArrowheads="1"/>
          </p:cNvPicPr>
          <p:nvPr/>
        </p:nvPicPr>
        <p:blipFill>
          <a:blip r:embed="rId3">
            <a:lum bright="-12000" contrast="12000"/>
            <a:extLst>
              <a:ext uri="{28A0092B-C50C-407E-A947-70E740481C1C}">
                <a14:useLocalDpi xmlns:a14="http://schemas.microsoft.com/office/drawing/2010/main" val="0"/>
              </a:ext>
            </a:extLst>
          </a:blip>
          <a:srcRect l="6000" t="6667" r="5000" b="8000"/>
          <a:stretch>
            <a:fillRect/>
          </a:stretch>
        </p:blipFill>
        <p:spPr bwMode="auto">
          <a:xfrm>
            <a:off x="2873375" y="1743075"/>
            <a:ext cx="6445250" cy="484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circl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Text Box 5">
            <a:extLst>
              <a:ext uri="{FF2B5EF4-FFF2-40B4-BE49-F238E27FC236}">
                <a16:creationId xmlns:a16="http://schemas.microsoft.com/office/drawing/2014/main" id="{FDAC3791-0C9B-43DF-BABE-AF28F81BCCC5}"/>
              </a:ext>
            </a:extLst>
          </p:cNvPr>
          <p:cNvSpPr txBox="1">
            <a:spLocks noChangeArrowheads="1"/>
          </p:cNvSpPr>
          <p:nvPr/>
        </p:nvSpPr>
        <p:spPr bwMode="auto">
          <a:xfrm>
            <a:off x="623392" y="556010"/>
            <a:ext cx="10729192" cy="589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10000"/>
              </a:lnSpc>
              <a:spcBef>
                <a:spcPct val="0"/>
              </a:spcBef>
              <a:spcAft>
                <a:spcPct val="30000"/>
              </a:spcAft>
              <a:buClrTx/>
              <a:buFontTx/>
              <a:buNone/>
            </a:pPr>
            <a:r>
              <a:rPr kumimoji="0" lang="zh-CN" altLang="en-US" sz="3200" dirty="0">
                <a:solidFill>
                  <a:srgbClr val="0000CC"/>
                </a:solidFill>
                <a:latin typeface="Times New Roman" panose="02020603050405020304" pitchFamily="18" charset="0"/>
                <a:ea typeface="黑体" panose="02010609060101010101" pitchFamily="49" charset="-122"/>
              </a:rPr>
              <a:t>（一）一些经典实验为</a:t>
            </a:r>
            <a:r>
              <a:rPr kumimoji="0" lang="en-US" altLang="zh-CN" sz="3200" dirty="0">
                <a:solidFill>
                  <a:srgbClr val="0000CC"/>
                </a:solidFill>
                <a:latin typeface="Times New Roman" panose="02020603050405020304" pitchFamily="18" charset="0"/>
                <a:ea typeface="黑体" panose="02010609060101010101" pitchFamily="49" charset="-122"/>
              </a:rPr>
              <a:t>DNA </a:t>
            </a:r>
            <a:r>
              <a:rPr kumimoji="0" lang="zh-CN" altLang="en-US" sz="3200" dirty="0">
                <a:solidFill>
                  <a:srgbClr val="0000CC"/>
                </a:solidFill>
                <a:latin typeface="Times New Roman" panose="02020603050405020304" pitchFamily="18" charset="0"/>
                <a:ea typeface="黑体" panose="02010609060101010101" pitchFamily="49" charset="-122"/>
              </a:rPr>
              <a:t>双螺旋结构的提出奠定了基础</a:t>
            </a:r>
          </a:p>
        </p:txBody>
      </p:sp>
      <p:sp>
        <p:nvSpPr>
          <p:cNvPr id="101380" name="Text Box 6">
            <a:extLst>
              <a:ext uri="{FF2B5EF4-FFF2-40B4-BE49-F238E27FC236}">
                <a16:creationId xmlns:a16="http://schemas.microsoft.com/office/drawing/2014/main" id="{CC4E2A08-830F-4E82-9376-CA0F5CD333AB}"/>
              </a:ext>
            </a:extLst>
          </p:cNvPr>
          <p:cNvSpPr txBox="1">
            <a:spLocks noChangeArrowheads="1"/>
          </p:cNvSpPr>
          <p:nvPr/>
        </p:nvSpPr>
        <p:spPr bwMode="auto">
          <a:xfrm>
            <a:off x="1487488" y="1265721"/>
            <a:ext cx="7488832" cy="624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40000"/>
              </a:lnSpc>
              <a:spcBef>
                <a:spcPct val="0"/>
              </a:spcBef>
              <a:buClrTx/>
              <a:buBlip>
                <a:blip r:embed="rId3"/>
              </a:buBlip>
            </a:pPr>
            <a:r>
              <a:rPr lang="en-US" altLang="zh-CN" b="0" dirty="0">
                <a:latin typeface="Times New Roman" panose="02020603050405020304" pitchFamily="18" charset="0"/>
                <a:ea typeface="黑体" panose="02010609060101010101" pitchFamily="49" charset="-122"/>
              </a:rPr>
              <a:t>  DNA</a:t>
            </a:r>
            <a:r>
              <a:rPr lang="zh-CN" altLang="en-US" b="0" dirty="0">
                <a:latin typeface="Times New Roman" panose="02020603050405020304" pitchFamily="18" charset="0"/>
                <a:ea typeface="黑体" panose="02010609060101010101" pitchFamily="49" charset="-122"/>
              </a:rPr>
              <a:t>碱基组成分析</a:t>
            </a:r>
            <a:r>
              <a:rPr lang="en-US" altLang="zh-CN" b="0"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 Chargaff</a:t>
            </a:r>
            <a:r>
              <a:rPr lang="zh-CN" altLang="en-US" dirty="0">
                <a:latin typeface="Times New Roman" panose="02020603050405020304" pitchFamily="18" charset="0"/>
                <a:ea typeface="黑体" panose="02010609060101010101" pitchFamily="49" charset="-122"/>
              </a:rPr>
              <a:t>规则</a:t>
            </a:r>
            <a:endParaRPr lang="zh-CN" altLang="en-US" b="0" dirty="0">
              <a:latin typeface="Times New Roman" panose="02020603050405020304" pitchFamily="18" charset="0"/>
              <a:ea typeface="黑体" panose="02010609060101010101" pitchFamily="49" charset="-122"/>
            </a:endParaRPr>
          </a:p>
        </p:txBody>
      </p:sp>
      <p:sp>
        <p:nvSpPr>
          <p:cNvPr id="101381" name="Text Box 7">
            <a:extLst>
              <a:ext uri="{FF2B5EF4-FFF2-40B4-BE49-F238E27FC236}">
                <a16:creationId xmlns:a16="http://schemas.microsoft.com/office/drawing/2014/main" id="{A6271510-E71F-43C7-9CA3-E794F5498127}"/>
              </a:ext>
            </a:extLst>
          </p:cNvPr>
          <p:cNvSpPr txBox="1">
            <a:spLocks noChangeArrowheads="1"/>
          </p:cNvSpPr>
          <p:nvPr/>
        </p:nvSpPr>
        <p:spPr bwMode="auto">
          <a:xfrm>
            <a:off x="1487487" y="4230884"/>
            <a:ext cx="4953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Blip>
                <a:blip r:embed="rId3"/>
              </a:buBlip>
            </a:pPr>
            <a:r>
              <a:rPr lang="en-US" altLang="zh-CN" b="0" dirty="0">
                <a:latin typeface="Times New Roman" panose="02020603050405020304" pitchFamily="18" charset="0"/>
                <a:ea typeface="黑体" panose="02010609060101010101" pitchFamily="49" charset="-122"/>
              </a:rPr>
              <a:t>  DNA</a:t>
            </a:r>
            <a:r>
              <a:rPr lang="zh-CN" altLang="en-US" b="0" dirty="0">
                <a:latin typeface="Times New Roman" panose="02020603050405020304" pitchFamily="18" charset="0"/>
                <a:ea typeface="黑体" panose="02010609060101010101" pitchFamily="49" charset="-122"/>
              </a:rPr>
              <a:t>的</a:t>
            </a:r>
            <a:r>
              <a:rPr lang="en-US" altLang="zh-CN" b="0" dirty="0">
                <a:latin typeface="Times New Roman" panose="02020603050405020304" pitchFamily="18" charset="0"/>
                <a:ea typeface="黑体" panose="02010609060101010101" pitchFamily="49" charset="-122"/>
              </a:rPr>
              <a:t>X-</a:t>
            </a:r>
            <a:r>
              <a:rPr lang="zh-CN" altLang="en-US" b="0" dirty="0">
                <a:latin typeface="Times New Roman" panose="02020603050405020304" pitchFamily="18" charset="0"/>
                <a:ea typeface="黑体" panose="02010609060101010101" pitchFamily="49" charset="-122"/>
              </a:rPr>
              <a:t>线衍射图谱分析    </a:t>
            </a:r>
          </a:p>
        </p:txBody>
      </p:sp>
      <p:sp>
        <p:nvSpPr>
          <p:cNvPr id="101382" name="Text Box 7">
            <a:extLst>
              <a:ext uri="{FF2B5EF4-FFF2-40B4-BE49-F238E27FC236}">
                <a16:creationId xmlns:a16="http://schemas.microsoft.com/office/drawing/2014/main" id="{95D98285-8258-4350-8616-B7DE1B842766}"/>
              </a:ext>
            </a:extLst>
          </p:cNvPr>
          <p:cNvSpPr txBox="1">
            <a:spLocks noChangeArrowheads="1"/>
          </p:cNvSpPr>
          <p:nvPr/>
        </p:nvSpPr>
        <p:spPr bwMode="auto">
          <a:xfrm>
            <a:off x="1487486" y="5115235"/>
            <a:ext cx="66247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Blip>
                <a:blip r:embed="rId3"/>
              </a:buBlip>
            </a:pPr>
            <a:r>
              <a:rPr lang="zh-CN" altLang="en-US" b="0" dirty="0">
                <a:latin typeface="Times New Roman" panose="02020603050405020304" pitchFamily="18" charset="0"/>
                <a:ea typeface="黑体" panose="02010609060101010101" pitchFamily="49" charset="-122"/>
              </a:rPr>
              <a:t> 已知核苷酸化学结构及键长键角数据等</a:t>
            </a:r>
          </a:p>
        </p:txBody>
      </p:sp>
      <p:sp>
        <p:nvSpPr>
          <p:cNvPr id="2" name="Rectangle 5">
            <a:extLst>
              <a:ext uri="{FF2B5EF4-FFF2-40B4-BE49-F238E27FC236}">
                <a16:creationId xmlns:a16="http://schemas.microsoft.com/office/drawing/2014/main" id="{CA819AB7-C698-51BF-48C1-6E4332975AD7}"/>
              </a:ext>
            </a:extLst>
          </p:cNvPr>
          <p:cNvSpPr>
            <a:spLocks noChangeArrowheads="1"/>
          </p:cNvSpPr>
          <p:nvPr/>
        </p:nvSpPr>
        <p:spPr bwMode="auto">
          <a:xfrm>
            <a:off x="1944502" y="1941995"/>
            <a:ext cx="8991971" cy="1769202"/>
          </a:xfrm>
          <a:prstGeom prst="rect">
            <a:avLst/>
          </a:prstGeom>
          <a:noFill/>
          <a:ln>
            <a:noFill/>
          </a:ln>
        </p:spPr>
        <p:txBody>
          <a:bodyPr wrap="square">
            <a:spAutoFit/>
          </a:bodyPr>
          <a:lstStyle>
            <a:lvl1pPr>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40000"/>
              </a:lnSpc>
              <a:spcBef>
                <a:spcPct val="0"/>
              </a:spcBef>
              <a:buClrTx/>
              <a:buFontTx/>
              <a:buNone/>
              <a:defRPr/>
            </a:pPr>
            <a:r>
              <a:rPr kumimoji="0" lang="en-US" altLang="zh-CN" sz="2000" b="0" dirty="0">
                <a:solidFill>
                  <a:srgbClr val="111111"/>
                </a:solidFill>
                <a:latin typeface="微软雅黑" panose="020B0503020204020204" pitchFamily="34" charset="-122"/>
                <a:ea typeface="微软雅黑" panose="020B0503020204020204" pitchFamily="34" charset="-122"/>
              </a:rPr>
              <a:t>1.</a:t>
            </a:r>
            <a:r>
              <a:rPr kumimoji="0" lang="zh-CN" altLang="en-US" sz="2000" b="0" dirty="0">
                <a:solidFill>
                  <a:srgbClr val="111111"/>
                </a:solidFill>
                <a:latin typeface="微软雅黑" panose="020B0503020204020204" pitchFamily="34" charset="-122"/>
                <a:ea typeface="微软雅黑" panose="020B0503020204020204" pitchFamily="34" charset="-122"/>
              </a:rPr>
              <a:t>各种生物</a:t>
            </a:r>
            <a:r>
              <a:rPr kumimoji="0" lang="en-US" altLang="zh-CN" sz="2000" b="0" dirty="0">
                <a:solidFill>
                  <a:srgbClr val="111111"/>
                </a:solidFill>
                <a:latin typeface="微软雅黑" panose="020B0503020204020204" pitchFamily="34" charset="-122"/>
                <a:ea typeface="微软雅黑" panose="020B0503020204020204" pitchFamily="34" charset="-122"/>
              </a:rPr>
              <a:t>DNA</a:t>
            </a:r>
            <a:r>
              <a:rPr kumimoji="0" lang="zh-CN" altLang="en-US" sz="2000" b="0" dirty="0">
                <a:solidFill>
                  <a:srgbClr val="111111"/>
                </a:solidFill>
                <a:latin typeface="微软雅黑" panose="020B0503020204020204" pitchFamily="34" charset="-122"/>
                <a:ea typeface="微软雅黑" panose="020B0503020204020204" pitchFamily="34" charset="-122"/>
              </a:rPr>
              <a:t>分子中，</a:t>
            </a:r>
            <a:r>
              <a:rPr kumimoji="0" lang="en-US" altLang="zh-CN" sz="2000" b="0" dirty="0">
                <a:solidFill>
                  <a:srgbClr val="111111"/>
                </a:solidFill>
                <a:latin typeface="微软雅黑" panose="020B0503020204020204" pitchFamily="34" charset="-122"/>
                <a:ea typeface="微软雅黑" panose="020B0503020204020204" pitchFamily="34" charset="-122"/>
              </a:rPr>
              <a:t>[A] = [T]</a:t>
            </a:r>
            <a:r>
              <a:rPr kumimoji="0" lang="zh-CN" altLang="en-US" sz="2000" b="0" dirty="0">
                <a:solidFill>
                  <a:srgbClr val="111111"/>
                </a:solidFill>
                <a:latin typeface="微软雅黑" panose="020B0503020204020204" pitchFamily="34" charset="-122"/>
                <a:ea typeface="微软雅黑" panose="020B0503020204020204" pitchFamily="34" charset="-122"/>
              </a:rPr>
              <a:t>，</a:t>
            </a:r>
            <a:r>
              <a:rPr kumimoji="0" lang="en-US" altLang="zh-CN" sz="2000" b="0" dirty="0">
                <a:solidFill>
                  <a:srgbClr val="111111"/>
                </a:solidFill>
                <a:latin typeface="微软雅黑" panose="020B0503020204020204" pitchFamily="34" charset="-122"/>
                <a:ea typeface="微软雅黑" panose="020B0503020204020204" pitchFamily="34" charset="-122"/>
              </a:rPr>
              <a:t>[G] = [C]</a:t>
            </a:r>
            <a:r>
              <a:rPr kumimoji="0" lang="zh-CN" altLang="en-US" sz="2000" b="0" dirty="0">
                <a:solidFill>
                  <a:srgbClr val="111111"/>
                </a:solidFill>
                <a:latin typeface="微软雅黑" panose="020B0503020204020204" pitchFamily="34" charset="-122"/>
                <a:ea typeface="微软雅黑" panose="020B0503020204020204" pitchFamily="34" charset="-122"/>
              </a:rPr>
              <a:t>， </a:t>
            </a:r>
            <a:r>
              <a:rPr kumimoji="0" lang="en-US" altLang="zh-CN" sz="2000" b="0" dirty="0">
                <a:solidFill>
                  <a:srgbClr val="111111"/>
                </a:solidFill>
                <a:latin typeface="微软雅黑" panose="020B0503020204020204" pitchFamily="34" charset="-122"/>
                <a:ea typeface="微软雅黑" panose="020B0503020204020204" pitchFamily="34" charset="-122"/>
              </a:rPr>
              <a:t>[A]+ [G] = [T]+ [C] </a:t>
            </a:r>
          </a:p>
          <a:p>
            <a:pPr eaLnBrk="1" hangingPunct="1">
              <a:lnSpc>
                <a:spcPct val="140000"/>
              </a:lnSpc>
              <a:spcBef>
                <a:spcPct val="0"/>
              </a:spcBef>
              <a:buClrTx/>
              <a:buFontTx/>
              <a:buNone/>
              <a:defRPr/>
            </a:pPr>
            <a:r>
              <a:rPr kumimoji="0" lang="en-US" altLang="zh-CN" sz="2000" b="0" dirty="0">
                <a:solidFill>
                  <a:srgbClr val="111111"/>
                </a:solidFill>
                <a:latin typeface="微软雅黑" panose="020B0503020204020204" pitchFamily="34" charset="-122"/>
                <a:ea typeface="微软雅黑" panose="020B0503020204020204" pitchFamily="34" charset="-122"/>
              </a:rPr>
              <a:t>2.</a:t>
            </a:r>
            <a:r>
              <a:rPr kumimoji="0" lang="zh-CN" altLang="en-US" sz="2000" b="0" dirty="0">
                <a:solidFill>
                  <a:srgbClr val="111111"/>
                </a:solidFill>
                <a:latin typeface="微软雅黑" panose="020B0503020204020204" pitchFamily="34" charset="-122"/>
                <a:ea typeface="微软雅黑" panose="020B0503020204020204" pitchFamily="34" charset="-122"/>
              </a:rPr>
              <a:t> </a:t>
            </a:r>
            <a:r>
              <a:rPr kumimoji="0" lang="en-US" altLang="zh-CN" sz="2000" b="0" dirty="0">
                <a:solidFill>
                  <a:srgbClr val="111111"/>
                </a:solidFill>
                <a:latin typeface="微软雅黑" panose="020B0503020204020204" pitchFamily="34" charset="-122"/>
                <a:ea typeface="微软雅黑" panose="020B0503020204020204" pitchFamily="34" charset="-122"/>
              </a:rPr>
              <a:t>DNA</a:t>
            </a:r>
            <a:r>
              <a:rPr kumimoji="0" lang="zh-CN" altLang="en-US" sz="2000" b="0" dirty="0">
                <a:solidFill>
                  <a:srgbClr val="111111"/>
                </a:solidFill>
                <a:latin typeface="微软雅黑" panose="020B0503020204020204" pitchFamily="34" charset="-122"/>
                <a:ea typeface="微软雅黑" panose="020B0503020204020204" pitchFamily="34" charset="-122"/>
              </a:rPr>
              <a:t>的碱基组成具有种属特异性</a:t>
            </a:r>
          </a:p>
          <a:p>
            <a:pPr eaLnBrk="1" hangingPunct="1">
              <a:lnSpc>
                <a:spcPct val="140000"/>
              </a:lnSpc>
              <a:spcBef>
                <a:spcPct val="0"/>
              </a:spcBef>
              <a:buClrTx/>
              <a:buFontTx/>
              <a:buNone/>
              <a:defRPr/>
            </a:pPr>
            <a:r>
              <a:rPr kumimoji="0" lang="en-US" altLang="zh-CN" sz="2000" b="0" dirty="0">
                <a:solidFill>
                  <a:srgbClr val="111111"/>
                </a:solidFill>
                <a:latin typeface="微软雅黑" panose="020B0503020204020204" pitchFamily="34" charset="-122"/>
                <a:ea typeface="微软雅黑" panose="020B0503020204020204" pitchFamily="34" charset="-122"/>
              </a:rPr>
              <a:t>3. DNA</a:t>
            </a:r>
            <a:r>
              <a:rPr kumimoji="0" lang="zh-CN" altLang="en-US" sz="2000" b="0" dirty="0">
                <a:solidFill>
                  <a:srgbClr val="111111"/>
                </a:solidFill>
                <a:latin typeface="微软雅黑" panose="020B0503020204020204" pitchFamily="34" charset="-122"/>
                <a:ea typeface="微软雅黑" panose="020B0503020204020204" pitchFamily="34" charset="-122"/>
              </a:rPr>
              <a:t>碱基组成没有组织器官特异性</a:t>
            </a:r>
          </a:p>
          <a:p>
            <a:pPr marL="268288" indent="-268288" eaLnBrk="1" hangingPunct="1">
              <a:lnSpc>
                <a:spcPct val="140000"/>
              </a:lnSpc>
              <a:spcBef>
                <a:spcPct val="0"/>
              </a:spcBef>
              <a:buClrTx/>
              <a:buNone/>
              <a:defRPr/>
            </a:pPr>
            <a:r>
              <a:rPr kumimoji="0" lang="en-US" altLang="zh-CN" sz="2000" b="0" dirty="0">
                <a:solidFill>
                  <a:srgbClr val="111111"/>
                </a:solidFill>
                <a:latin typeface="微软雅黑" panose="020B0503020204020204" pitchFamily="34" charset="-122"/>
                <a:ea typeface="微软雅黑" panose="020B0503020204020204" pitchFamily="34" charset="-122"/>
              </a:rPr>
              <a:t>4. </a:t>
            </a:r>
            <a:r>
              <a:rPr kumimoji="0" lang="zh-CN" altLang="en-US" sz="2000" b="0" dirty="0">
                <a:solidFill>
                  <a:srgbClr val="111111"/>
                </a:solidFill>
                <a:latin typeface="微软雅黑" panose="020B0503020204020204" pitchFamily="34" charset="-122"/>
                <a:ea typeface="微软雅黑" panose="020B0503020204020204" pitchFamily="34" charset="-122"/>
              </a:rPr>
              <a:t>一种生物</a:t>
            </a:r>
            <a:r>
              <a:rPr kumimoji="0" lang="en-US" altLang="zh-CN" sz="2000" b="0" dirty="0">
                <a:solidFill>
                  <a:srgbClr val="111111"/>
                </a:solidFill>
                <a:latin typeface="微软雅黑" panose="020B0503020204020204" pitchFamily="34" charset="-122"/>
                <a:ea typeface="微软雅黑" panose="020B0503020204020204" pitchFamily="34" charset="-122"/>
              </a:rPr>
              <a:t>DNA</a:t>
            </a:r>
            <a:r>
              <a:rPr kumimoji="0" lang="zh-CN" altLang="en-US" sz="2000" b="0" dirty="0">
                <a:solidFill>
                  <a:srgbClr val="111111"/>
                </a:solidFill>
                <a:latin typeface="微软雅黑" panose="020B0503020204020204" pitchFamily="34" charset="-122"/>
                <a:ea typeface="微软雅黑" panose="020B0503020204020204" pitchFamily="34" charset="-122"/>
              </a:rPr>
              <a:t>碱基组成不随生物体的年龄、营养状态或者环境变化而改变</a:t>
            </a:r>
          </a:p>
        </p:txBody>
      </p:sp>
      <p:pic>
        <p:nvPicPr>
          <p:cNvPr id="3" name="Picture 4" descr="roslind">
            <a:extLst>
              <a:ext uri="{FF2B5EF4-FFF2-40B4-BE49-F238E27FC236}">
                <a16:creationId xmlns:a16="http://schemas.microsoft.com/office/drawing/2014/main" id="{36CE2B3B-ABF1-91D8-A461-64A4106270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9162" t="23334" r="6250" b="11667"/>
          <a:stretch>
            <a:fillRect/>
          </a:stretch>
        </p:blipFill>
        <p:spPr bwMode="auto">
          <a:xfrm>
            <a:off x="8472264" y="3781898"/>
            <a:ext cx="2664296" cy="2784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3426" name="Picture 2" descr="Chargaff">
            <a:extLst>
              <a:ext uri="{FF2B5EF4-FFF2-40B4-BE49-F238E27FC236}">
                <a16:creationId xmlns:a16="http://schemas.microsoft.com/office/drawing/2014/main" id="{FF11BB96-1842-475B-A2B4-C81B7B8D12C3}"/>
              </a:ext>
            </a:extLst>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t="23293" b="33861"/>
          <a:stretch>
            <a:fillRect/>
          </a:stretch>
        </p:blipFill>
        <p:spPr>
          <a:xfrm>
            <a:off x="1624014" y="1744663"/>
            <a:ext cx="5767387" cy="2838450"/>
          </a:xfrm>
        </p:spPr>
      </p:pic>
      <p:pic>
        <p:nvPicPr>
          <p:cNvPr id="103427" name="Picture 3" descr="chargaff2">
            <a:extLst>
              <a:ext uri="{FF2B5EF4-FFF2-40B4-BE49-F238E27FC236}">
                <a16:creationId xmlns:a16="http://schemas.microsoft.com/office/drawing/2014/main" id="{E668A37A-3AD1-45B1-AD67-F49A8A9CF232}"/>
              </a:ext>
            </a:extLst>
          </p:cNvPr>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a:stretch>
            <a:fillRect/>
          </a:stretch>
        </p:blipFill>
        <p:spPr>
          <a:xfrm>
            <a:off x="7689850" y="1619250"/>
            <a:ext cx="2351088" cy="3144838"/>
          </a:xfrm>
        </p:spPr>
      </p:pic>
      <p:sp>
        <p:nvSpPr>
          <p:cNvPr id="103428" name="Rectangle 6">
            <a:extLst>
              <a:ext uri="{FF2B5EF4-FFF2-40B4-BE49-F238E27FC236}">
                <a16:creationId xmlns:a16="http://schemas.microsoft.com/office/drawing/2014/main" id="{CB131151-48E2-4BF8-B3F0-0A5B914B6ED7}"/>
              </a:ext>
            </a:extLst>
          </p:cNvPr>
          <p:cNvSpPr>
            <a:spLocks noChangeArrowheads="1"/>
          </p:cNvSpPr>
          <p:nvPr/>
        </p:nvSpPr>
        <p:spPr bwMode="auto">
          <a:xfrm>
            <a:off x="3648076" y="620713"/>
            <a:ext cx="27035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kumimoji="0" lang="zh-CN" altLang="en-US" sz="3200">
                <a:solidFill>
                  <a:srgbClr val="0000CC"/>
                </a:solidFill>
                <a:latin typeface="Times New Roman" panose="02020603050405020304" pitchFamily="18" charset="0"/>
                <a:ea typeface="黑体" panose="02010609060101010101" pitchFamily="49" charset="-122"/>
              </a:rPr>
              <a:t>碱基组成分析</a:t>
            </a:r>
          </a:p>
        </p:txBody>
      </p:sp>
      <p:sp>
        <p:nvSpPr>
          <p:cNvPr id="103429" name="矩形 1">
            <a:extLst>
              <a:ext uri="{FF2B5EF4-FFF2-40B4-BE49-F238E27FC236}">
                <a16:creationId xmlns:a16="http://schemas.microsoft.com/office/drawing/2014/main" id="{06B48BA1-4B93-45A4-8565-52E0081118A7}"/>
              </a:ext>
            </a:extLst>
          </p:cNvPr>
          <p:cNvSpPr>
            <a:spLocks noChangeArrowheads="1"/>
          </p:cNvSpPr>
          <p:nvPr/>
        </p:nvSpPr>
        <p:spPr bwMode="auto">
          <a:xfrm>
            <a:off x="7888288" y="4902201"/>
            <a:ext cx="21526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2400" b="0">
                <a:solidFill>
                  <a:schemeClr val="tx1"/>
                </a:solidFill>
                <a:latin typeface="Times New Roman" panose="02020603050405020304" pitchFamily="18" charset="0"/>
                <a:ea typeface="宋体" panose="02010600030101010101" pitchFamily="2" charset="-122"/>
              </a:rPr>
              <a:t>Erwin Chargaff</a:t>
            </a:r>
          </a:p>
          <a:p>
            <a:pPr>
              <a:spcBef>
                <a:spcPct val="0"/>
              </a:spcBef>
              <a:buClrTx/>
              <a:buFontTx/>
              <a:buNone/>
            </a:pPr>
            <a:r>
              <a:rPr lang="en-US" altLang="zh-CN" sz="2400" b="0">
                <a:solidFill>
                  <a:schemeClr val="tx1"/>
                </a:solidFill>
                <a:latin typeface="Times New Roman" panose="02020603050405020304" pitchFamily="18" charset="0"/>
                <a:ea typeface="宋体" panose="02010600030101010101" pitchFamily="2" charset="-122"/>
              </a:rPr>
              <a:t>1905~2002</a:t>
            </a: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03430" name="矩形 1">
            <a:extLst>
              <a:ext uri="{FF2B5EF4-FFF2-40B4-BE49-F238E27FC236}">
                <a16:creationId xmlns:a16="http://schemas.microsoft.com/office/drawing/2014/main" id="{8B49E1F3-2368-4B1C-87C3-0E8FFA9EA41F}"/>
              </a:ext>
            </a:extLst>
          </p:cNvPr>
          <p:cNvSpPr>
            <a:spLocks noChangeArrowheads="1"/>
          </p:cNvSpPr>
          <p:nvPr/>
        </p:nvSpPr>
        <p:spPr bwMode="auto">
          <a:xfrm>
            <a:off x="1660526" y="4810125"/>
            <a:ext cx="60293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2000" b="0">
                <a:solidFill>
                  <a:srgbClr val="000000"/>
                </a:solidFill>
                <a:latin typeface="Times New Roman" panose="02020603050405020304" pitchFamily="18" charset="0"/>
                <a:ea typeface="宋体" panose="02010600030101010101" pitchFamily="2" charset="-122"/>
              </a:rPr>
              <a:t>Chargaff, Erwin; Stephen Zamenhof; Charlotte Green (May 1950). </a:t>
            </a:r>
            <a:r>
              <a:rPr lang="en-US" altLang="zh-CN" sz="2000">
                <a:solidFill>
                  <a:srgbClr val="000000"/>
                </a:solidFill>
                <a:latin typeface="Times New Roman" panose="02020603050405020304" pitchFamily="18" charset="0"/>
                <a:ea typeface="宋体" panose="02010600030101010101" pitchFamily="2" charset="-122"/>
              </a:rPr>
              <a:t>"Composition of human desoxypentose nucleic acid". Nature. 165 (4202): 756–7</a:t>
            </a:r>
          </a:p>
        </p:txBody>
      </p:sp>
    </p:spTree>
  </p:cSld>
  <p:clrMapOvr>
    <a:masterClrMapping/>
  </p:clrMapOvr>
  <p:transition spd="slow">
    <p:circl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4" descr="roslind">
            <a:extLst>
              <a:ext uri="{FF2B5EF4-FFF2-40B4-BE49-F238E27FC236}">
                <a16:creationId xmlns:a16="http://schemas.microsoft.com/office/drawing/2014/main" id="{D1AE2387-25FF-47F1-ACBD-5AA453C70E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9162" t="23334" r="6250" b="11667"/>
          <a:stretch>
            <a:fillRect/>
          </a:stretch>
        </p:blipFill>
        <p:spPr bwMode="auto">
          <a:xfrm>
            <a:off x="4364039" y="1465263"/>
            <a:ext cx="3316287" cy="346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7" name="Text Box 5">
            <a:extLst>
              <a:ext uri="{FF2B5EF4-FFF2-40B4-BE49-F238E27FC236}">
                <a16:creationId xmlns:a16="http://schemas.microsoft.com/office/drawing/2014/main" id="{455590BF-3072-4EC6-A7F1-42FDE03A5844}"/>
              </a:ext>
            </a:extLst>
          </p:cNvPr>
          <p:cNvSpPr txBox="1">
            <a:spLocks noChangeArrowheads="1"/>
          </p:cNvSpPr>
          <p:nvPr/>
        </p:nvSpPr>
        <p:spPr bwMode="auto">
          <a:xfrm>
            <a:off x="2640014" y="482601"/>
            <a:ext cx="7056437"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20000"/>
              </a:lnSpc>
              <a:spcBef>
                <a:spcPct val="0"/>
              </a:spcBef>
              <a:buClrTx/>
              <a:buFontTx/>
              <a:buNone/>
            </a:pPr>
            <a:r>
              <a:rPr lang="zh-CN" altLang="en-US" sz="3200">
                <a:solidFill>
                  <a:srgbClr val="0000CC"/>
                </a:solidFill>
                <a:latin typeface="Times New Roman" panose="02020603050405020304" pitchFamily="18" charset="0"/>
                <a:ea typeface="黑体" panose="02010609060101010101" pitchFamily="49" charset="-122"/>
              </a:rPr>
              <a:t>高质量的</a:t>
            </a:r>
            <a:r>
              <a:rPr lang="en-US" altLang="zh-CN" sz="3200">
                <a:solidFill>
                  <a:srgbClr val="0000CC"/>
                </a:solidFill>
                <a:latin typeface="Times New Roman" panose="02020603050405020304" pitchFamily="18" charset="0"/>
                <a:ea typeface="黑体" panose="02010609060101010101" pitchFamily="49" charset="-122"/>
              </a:rPr>
              <a:t>DNA </a:t>
            </a:r>
            <a:r>
              <a:rPr lang="zh-CN" altLang="en-US" sz="3200">
                <a:solidFill>
                  <a:srgbClr val="0000CC"/>
                </a:solidFill>
                <a:latin typeface="Times New Roman" panose="02020603050405020304" pitchFamily="18" charset="0"/>
                <a:ea typeface="黑体" panose="02010609060101010101" pitchFamily="49" charset="-122"/>
              </a:rPr>
              <a:t>分子</a:t>
            </a:r>
            <a:r>
              <a:rPr lang="en-US" altLang="zh-CN" sz="3200">
                <a:solidFill>
                  <a:srgbClr val="0000CC"/>
                </a:solidFill>
                <a:latin typeface="Times New Roman" panose="02020603050405020304" pitchFamily="18" charset="0"/>
                <a:ea typeface="黑体" panose="02010609060101010101" pitchFamily="49" charset="-122"/>
              </a:rPr>
              <a:t>X</a:t>
            </a:r>
            <a:r>
              <a:rPr lang="zh-CN" altLang="en-US" sz="3200">
                <a:solidFill>
                  <a:srgbClr val="0000CC"/>
                </a:solidFill>
                <a:latin typeface="Times New Roman" panose="02020603050405020304" pitchFamily="18" charset="0"/>
                <a:ea typeface="黑体" panose="02010609060101010101" pitchFamily="49" charset="-122"/>
              </a:rPr>
              <a:t>射线衍射照片</a:t>
            </a:r>
            <a:r>
              <a:rPr lang="zh-CN" altLang="en-US" sz="3200">
                <a:solidFill>
                  <a:srgbClr val="0000CC"/>
                </a:solidFill>
                <a:latin typeface="Times New Roman" panose="02020603050405020304" pitchFamily="18" charset="0"/>
                <a:ea typeface="楷体_GB2312" pitchFamily="49" charset="-122"/>
              </a:rPr>
              <a:t> </a:t>
            </a:r>
          </a:p>
        </p:txBody>
      </p:sp>
      <p:pic>
        <p:nvPicPr>
          <p:cNvPr id="108548" name="Picture 7" descr="roslind">
            <a:extLst>
              <a:ext uri="{FF2B5EF4-FFF2-40B4-BE49-F238E27FC236}">
                <a16:creationId xmlns:a16="http://schemas.microsoft.com/office/drawing/2014/main" id="{92612AE5-23B5-45D2-8B90-BD86804915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500" t="24655" r="53810" b="4018"/>
          <a:stretch>
            <a:fillRect/>
          </a:stretch>
        </p:blipFill>
        <p:spPr bwMode="auto">
          <a:xfrm>
            <a:off x="1811338" y="1574801"/>
            <a:ext cx="2552700" cy="367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9" name="Text Box 8">
            <a:extLst>
              <a:ext uri="{FF2B5EF4-FFF2-40B4-BE49-F238E27FC236}">
                <a16:creationId xmlns:a16="http://schemas.microsoft.com/office/drawing/2014/main" id="{0E3268F1-BEA3-4241-9BCA-432CA4440F08}"/>
              </a:ext>
            </a:extLst>
          </p:cNvPr>
          <p:cNvSpPr txBox="1">
            <a:spLocks noChangeArrowheads="1"/>
          </p:cNvSpPr>
          <p:nvPr/>
        </p:nvSpPr>
        <p:spPr bwMode="auto">
          <a:xfrm>
            <a:off x="1903413" y="5129214"/>
            <a:ext cx="2627312"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2400">
                <a:solidFill>
                  <a:srgbClr val="0000CC"/>
                </a:solidFill>
                <a:latin typeface="Times New Roman" panose="02020603050405020304" pitchFamily="18" charset="0"/>
                <a:ea typeface="宋体" panose="02010600030101010101" pitchFamily="2" charset="-122"/>
              </a:rPr>
              <a:t>Rosalind Franklin</a:t>
            </a:r>
          </a:p>
          <a:p>
            <a:pPr eaLnBrk="1" hangingPunct="1">
              <a:spcBef>
                <a:spcPct val="0"/>
              </a:spcBef>
              <a:buClrTx/>
              <a:buFontTx/>
              <a:buNone/>
            </a:pPr>
            <a:r>
              <a:rPr lang="en-US" altLang="zh-CN">
                <a:solidFill>
                  <a:srgbClr val="0000CC"/>
                </a:solidFill>
                <a:latin typeface="Times New Roman" panose="02020603050405020304" pitchFamily="18" charset="0"/>
                <a:ea typeface="宋体" panose="02010600030101010101" pitchFamily="2" charset="-122"/>
              </a:rPr>
              <a:t>(1920-1958)</a:t>
            </a:r>
          </a:p>
        </p:txBody>
      </p:sp>
      <p:sp>
        <p:nvSpPr>
          <p:cNvPr id="98310" name="文本框 2">
            <a:extLst>
              <a:ext uri="{FF2B5EF4-FFF2-40B4-BE49-F238E27FC236}">
                <a16:creationId xmlns:a16="http://schemas.microsoft.com/office/drawing/2014/main" id="{7588AA7C-F1C9-41AA-90DE-31ED1F8B8C87}"/>
              </a:ext>
            </a:extLst>
          </p:cNvPr>
          <p:cNvSpPr txBox="1">
            <a:spLocks noChangeArrowheads="1"/>
          </p:cNvSpPr>
          <p:nvPr/>
        </p:nvSpPr>
        <p:spPr bwMode="auto">
          <a:xfrm>
            <a:off x="7978775" y="5094288"/>
            <a:ext cx="23749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2400" dirty="0">
                <a:solidFill>
                  <a:srgbClr val="0000CC"/>
                </a:solidFill>
                <a:latin typeface="Times New Roman" panose="02020603050405020304" pitchFamily="18" charset="0"/>
                <a:ea typeface="宋体" panose="02010600030101010101" pitchFamily="2" charset="-122"/>
              </a:rPr>
              <a:t>Maurice Wilkins</a:t>
            </a:r>
          </a:p>
          <a:p>
            <a:pPr>
              <a:spcBef>
                <a:spcPct val="0"/>
              </a:spcBef>
              <a:buClrTx/>
              <a:buFontTx/>
              <a:buNone/>
            </a:pPr>
            <a:r>
              <a:rPr lang="en-US" altLang="zh-CN" sz="2400" dirty="0">
                <a:solidFill>
                  <a:srgbClr val="0000CC"/>
                </a:solidFill>
                <a:latin typeface="Times New Roman" panose="02020603050405020304" pitchFamily="18" charset="0"/>
                <a:ea typeface="宋体" panose="02010600030101010101" pitchFamily="2" charset="-122"/>
              </a:rPr>
              <a:t>1916~2004</a:t>
            </a:r>
            <a:endParaRPr lang="zh-CN" altLang="en-US" sz="2400" dirty="0">
              <a:solidFill>
                <a:srgbClr val="0000CC"/>
              </a:solidFill>
              <a:latin typeface="Times New Roman" panose="02020603050405020304" pitchFamily="18" charset="0"/>
              <a:ea typeface="宋体" panose="02010600030101010101" pitchFamily="2" charset="-122"/>
            </a:endParaRPr>
          </a:p>
        </p:txBody>
      </p:sp>
      <p:sp>
        <p:nvSpPr>
          <p:cNvPr id="108551" name="文本框 2">
            <a:extLst>
              <a:ext uri="{FF2B5EF4-FFF2-40B4-BE49-F238E27FC236}">
                <a16:creationId xmlns:a16="http://schemas.microsoft.com/office/drawing/2014/main" id="{4BEF97CC-EC9D-4145-840E-DC0D489395B6}"/>
              </a:ext>
            </a:extLst>
          </p:cNvPr>
          <p:cNvSpPr txBox="1">
            <a:spLocks noChangeArrowheads="1"/>
          </p:cNvSpPr>
          <p:nvPr/>
        </p:nvSpPr>
        <p:spPr bwMode="auto">
          <a:xfrm>
            <a:off x="5087939" y="5065714"/>
            <a:ext cx="21605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2400" b="0">
                <a:solidFill>
                  <a:schemeClr val="tx1"/>
                </a:solidFill>
                <a:latin typeface="Times New Roman" panose="02020603050405020304" pitchFamily="18" charset="0"/>
                <a:ea typeface="宋体" panose="02010600030101010101" pitchFamily="2" charset="-122"/>
              </a:rPr>
              <a:t>Photograph 51 </a:t>
            </a:r>
            <a:endParaRPr lang="zh-CN" altLang="en-US" sz="2400" b="0">
              <a:solidFill>
                <a:schemeClr val="tx1"/>
              </a:solidFill>
              <a:latin typeface="Times New Roman" panose="02020603050405020304" pitchFamily="18" charset="0"/>
              <a:ea typeface="宋体" panose="02010600030101010101" pitchFamily="2" charset="-122"/>
            </a:endParaRPr>
          </a:p>
        </p:txBody>
      </p:sp>
      <p:pic>
        <p:nvPicPr>
          <p:cNvPr id="108552" name="图片 3">
            <a:extLst>
              <a:ext uri="{FF2B5EF4-FFF2-40B4-BE49-F238E27FC236}">
                <a16:creationId xmlns:a16="http://schemas.microsoft.com/office/drawing/2014/main" id="{0D09D0FD-2104-42BA-9B9C-00AADBE52CE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958139" y="1571625"/>
            <a:ext cx="2587625"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a:extLst>
              <a:ext uri="{FF2B5EF4-FFF2-40B4-BE49-F238E27FC236}">
                <a16:creationId xmlns:a16="http://schemas.microsoft.com/office/drawing/2014/main" id="{73BC18C5-21D1-4D6B-A781-BEE21A67A9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1094" t="4861" r="4323" b="3796"/>
          <a:stretch>
            <a:fillRect/>
          </a:stretch>
        </p:blipFill>
        <p:spPr bwMode="auto">
          <a:xfrm>
            <a:off x="2343151" y="1196975"/>
            <a:ext cx="4545013" cy="482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5" name="TextBox 5">
            <a:extLst>
              <a:ext uri="{FF2B5EF4-FFF2-40B4-BE49-F238E27FC236}">
                <a16:creationId xmlns:a16="http://schemas.microsoft.com/office/drawing/2014/main" id="{203AC006-68CB-4ADD-AA23-AEE3B79F7F25}"/>
              </a:ext>
            </a:extLst>
          </p:cNvPr>
          <p:cNvSpPr txBox="1">
            <a:spLocks noChangeArrowheads="1"/>
          </p:cNvSpPr>
          <p:nvPr/>
        </p:nvSpPr>
        <p:spPr bwMode="auto">
          <a:xfrm>
            <a:off x="2200275" y="260351"/>
            <a:ext cx="8072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b="0">
                <a:solidFill>
                  <a:srgbClr val="0000CC"/>
                </a:solidFill>
                <a:latin typeface="黑体" panose="02010609060101010101" pitchFamily="49" charset="-122"/>
                <a:ea typeface="黑体" panose="02010609060101010101" pitchFamily="49" charset="-122"/>
              </a:rPr>
              <a:t>1953</a:t>
            </a:r>
            <a:r>
              <a:rPr lang="zh-CN" altLang="en-US" b="0">
                <a:solidFill>
                  <a:srgbClr val="0000CC"/>
                </a:solidFill>
                <a:latin typeface="黑体" panose="02010609060101010101" pitchFamily="49" charset="-122"/>
                <a:ea typeface="黑体" panose="02010609060101010101" pitchFamily="49" charset="-122"/>
              </a:rPr>
              <a:t>年，</a:t>
            </a:r>
            <a:r>
              <a:rPr lang="en-US" altLang="zh-CN" b="0">
                <a:solidFill>
                  <a:srgbClr val="0000CC"/>
                </a:solidFill>
                <a:latin typeface="Arial" panose="020B0604020202020204" pitchFamily="34" charset="0"/>
                <a:ea typeface="黑体" panose="02010609060101010101" pitchFamily="49" charset="-122"/>
                <a:cs typeface="Arial" panose="020B0604020202020204" pitchFamily="34" charset="0"/>
              </a:rPr>
              <a:t>Watson</a:t>
            </a:r>
            <a:r>
              <a:rPr lang="zh-CN" altLang="en-US" b="0">
                <a:solidFill>
                  <a:srgbClr val="0000CC"/>
                </a:solidFill>
                <a:latin typeface="黑体" panose="02010609060101010101" pitchFamily="49" charset="-122"/>
                <a:ea typeface="黑体" panose="02010609060101010101" pitchFamily="49" charset="-122"/>
              </a:rPr>
              <a:t>和</a:t>
            </a:r>
            <a:r>
              <a:rPr lang="en-US" altLang="zh-CN" b="0">
                <a:solidFill>
                  <a:srgbClr val="0000CC"/>
                </a:solidFill>
                <a:latin typeface="Arial" panose="020B0604020202020204" pitchFamily="34" charset="0"/>
                <a:ea typeface="黑体" panose="02010609060101010101" pitchFamily="49" charset="-122"/>
              </a:rPr>
              <a:t>Crick</a:t>
            </a:r>
            <a:r>
              <a:rPr lang="zh-CN" altLang="en-US" b="0">
                <a:solidFill>
                  <a:srgbClr val="0000CC"/>
                </a:solidFill>
                <a:latin typeface="黑体" panose="02010609060101010101" pitchFamily="49" charset="-122"/>
                <a:ea typeface="黑体" panose="02010609060101010101" pitchFamily="49" charset="-122"/>
              </a:rPr>
              <a:t>提出</a:t>
            </a:r>
            <a:r>
              <a:rPr lang="en-US" altLang="zh-CN" b="0">
                <a:solidFill>
                  <a:srgbClr val="0000CC"/>
                </a:solidFill>
                <a:latin typeface="黑体" panose="02010609060101010101" pitchFamily="49" charset="-122"/>
                <a:ea typeface="黑体" panose="02010609060101010101" pitchFamily="49" charset="-122"/>
              </a:rPr>
              <a:t>B</a:t>
            </a:r>
            <a:r>
              <a:rPr lang="zh-CN" altLang="en-US" b="0">
                <a:solidFill>
                  <a:srgbClr val="0000CC"/>
                </a:solidFill>
                <a:latin typeface="黑体" panose="02010609060101010101" pitchFamily="49" charset="-122"/>
                <a:ea typeface="黑体" panose="02010609060101010101" pitchFamily="49" charset="-122"/>
              </a:rPr>
              <a:t>型</a:t>
            </a:r>
            <a:r>
              <a:rPr lang="en-US" altLang="zh-CN" b="0">
                <a:solidFill>
                  <a:srgbClr val="0000CC"/>
                </a:solidFill>
                <a:latin typeface="黑体" panose="02010609060101010101" pitchFamily="49" charset="-122"/>
                <a:ea typeface="黑体" panose="02010609060101010101" pitchFamily="49" charset="-122"/>
              </a:rPr>
              <a:t>DNA</a:t>
            </a:r>
            <a:r>
              <a:rPr lang="zh-CN" altLang="en-US" b="0">
                <a:solidFill>
                  <a:srgbClr val="0000CC"/>
                </a:solidFill>
                <a:latin typeface="黑体" panose="02010609060101010101" pitchFamily="49" charset="-122"/>
                <a:ea typeface="黑体" panose="02010609060101010101" pitchFamily="49" charset="-122"/>
              </a:rPr>
              <a:t>双螺旋模型</a:t>
            </a:r>
          </a:p>
        </p:txBody>
      </p:sp>
      <p:pic>
        <p:nvPicPr>
          <p:cNvPr id="110596" name="图片 1">
            <a:extLst>
              <a:ext uri="{FF2B5EF4-FFF2-40B4-BE49-F238E27FC236}">
                <a16:creationId xmlns:a16="http://schemas.microsoft.com/office/drawing/2014/main" id="{74EFA1F0-1088-420D-8C97-B7F9B7DE1D9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21564" y="1052514"/>
            <a:ext cx="2954337" cy="511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7" name="灯片编号占位符 1">
            <a:extLst>
              <a:ext uri="{FF2B5EF4-FFF2-40B4-BE49-F238E27FC236}">
                <a16:creationId xmlns:a16="http://schemas.microsoft.com/office/drawing/2014/main" id="{76E4E66C-8F8E-4E8B-8D9E-82AB2AF2936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2E6A978D-EA49-405C-824B-D0CB7B40DF6D}" type="slidenum">
              <a:rPr lang="zh-CN" altLang="en-US" sz="1200" b="0">
                <a:solidFill>
                  <a:srgbClr val="898F89"/>
                </a:solidFill>
              </a:rPr>
              <a:pPr>
                <a:spcBef>
                  <a:spcPct val="0"/>
                </a:spcBef>
                <a:buClrTx/>
                <a:buFontTx/>
                <a:buNone/>
              </a:pPr>
              <a:t>35</a:t>
            </a:fld>
            <a:endParaRPr lang="zh-CN" altLang="en-US" sz="1200" b="0">
              <a:solidFill>
                <a:srgbClr val="898F89"/>
              </a:solidFill>
            </a:endParaRPr>
          </a:p>
        </p:txBody>
      </p:sp>
    </p:spTree>
  </p:cSld>
  <p:clrMapOvr>
    <a:masterClrMapping/>
  </p:clrMapOvr>
  <p:transition spd="slow">
    <p:circl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8">
            <a:extLst>
              <a:ext uri="{FF2B5EF4-FFF2-40B4-BE49-F238E27FC236}">
                <a16:creationId xmlns:a16="http://schemas.microsoft.com/office/drawing/2014/main" id="{71034479-46F5-4BED-9105-D8B7BDCAD535}"/>
              </a:ext>
            </a:extLst>
          </p:cNvPr>
          <p:cNvSpPr>
            <a:spLocks noChangeArrowheads="1"/>
          </p:cNvSpPr>
          <p:nvPr/>
        </p:nvSpPr>
        <p:spPr bwMode="auto">
          <a:xfrm>
            <a:off x="2077244" y="6137274"/>
            <a:ext cx="81232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r>
              <a:rPr lang="en-US" altLang="zh-CN" sz="2400" dirty="0">
                <a:solidFill>
                  <a:schemeClr val="tx1"/>
                </a:solidFill>
                <a:latin typeface="Times New Roman" panose="02020603050405020304" pitchFamily="18" charset="0"/>
                <a:ea typeface="宋体" panose="02010600030101010101" pitchFamily="2" charset="-122"/>
              </a:rPr>
              <a:t>Molecular Structure of Nucleic Acids. Nature ,April 25, 1953</a:t>
            </a:r>
          </a:p>
        </p:txBody>
      </p:sp>
      <p:sp>
        <p:nvSpPr>
          <p:cNvPr id="112643" name="TextBox 5">
            <a:extLst>
              <a:ext uri="{FF2B5EF4-FFF2-40B4-BE49-F238E27FC236}">
                <a16:creationId xmlns:a16="http://schemas.microsoft.com/office/drawing/2014/main" id="{7B8377A9-68FC-4BBA-A416-2525D75BF161}"/>
              </a:ext>
            </a:extLst>
          </p:cNvPr>
          <p:cNvSpPr txBox="1">
            <a:spLocks noChangeArrowheads="1"/>
          </p:cNvSpPr>
          <p:nvPr/>
        </p:nvSpPr>
        <p:spPr bwMode="auto">
          <a:xfrm>
            <a:off x="2135189" y="260351"/>
            <a:ext cx="80724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b="0">
                <a:solidFill>
                  <a:srgbClr val="0000CC"/>
                </a:solidFill>
                <a:latin typeface="黑体" panose="02010609060101010101" pitchFamily="49" charset="-122"/>
                <a:ea typeface="黑体" panose="02010609060101010101" pitchFamily="49" charset="-122"/>
              </a:rPr>
              <a:t>1953</a:t>
            </a:r>
            <a:r>
              <a:rPr lang="zh-CN" altLang="en-US" b="0">
                <a:solidFill>
                  <a:srgbClr val="0000CC"/>
                </a:solidFill>
                <a:latin typeface="黑体" panose="02010609060101010101" pitchFamily="49" charset="-122"/>
                <a:ea typeface="黑体" panose="02010609060101010101" pitchFamily="49" charset="-122"/>
              </a:rPr>
              <a:t>年，</a:t>
            </a:r>
            <a:r>
              <a:rPr lang="en-US" altLang="zh-CN" b="0">
                <a:solidFill>
                  <a:srgbClr val="0000CC"/>
                </a:solidFill>
                <a:latin typeface="Arial" panose="020B0604020202020204" pitchFamily="34" charset="0"/>
                <a:ea typeface="黑体" panose="02010609060101010101" pitchFamily="49" charset="-122"/>
                <a:cs typeface="Arial" panose="020B0604020202020204" pitchFamily="34" charset="0"/>
              </a:rPr>
              <a:t>Watson</a:t>
            </a:r>
            <a:r>
              <a:rPr lang="zh-CN" altLang="en-US" b="0">
                <a:solidFill>
                  <a:srgbClr val="0000CC"/>
                </a:solidFill>
                <a:latin typeface="黑体" panose="02010609060101010101" pitchFamily="49" charset="-122"/>
                <a:ea typeface="黑体" panose="02010609060101010101" pitchFamily="49" charset="-122"/>
              </a:rPr>
              <a:t>和</a:t>
            </a:r>
            <a:r>
              <a:rPr lang="en-US" altLang="zh-CN" b="0">
                <a:solidFill>
                  <a:srgbClr val="0000CC"/>
                </a:solidFill>
                <a:latin typeface="Arial" panose="020B0604020202020204" pitchFamily="34" charset="0"/>
                <a:ea typeface="黑体" panose="02010609060101010101" pitchFamily="49" charset="-122"/>
              </a:rPr>
              <a:t>Crick</a:t>
            </a:r>
            <a:r>
              <a:rPr lang="zh-CN" altLang="en-US" b="0">
                <a:solidFill>
                  <a:srgbClr val="0000CC"/>
                </a:solidFill>
                <a:latin typeface="黑体" panose="02010609060101010101" pitchFamily="49" charset="-122"/>
                <a:ea typeface="黑体" panose="02010609060101010101" pitchFamily="49" charset="-122"/>
              </a:rPr>
              <a:t>提出</a:t>
            </a:r>
            <a:r>
              <a:rPr lang="en-US" altLang="zh-CN" b="0">
                <a:solidFill>
                  <a:srgbClr val="0000CC"/>
                </a:solidFill>
                <a:latin typeface="黑体" panose="02010609060101010101" pitchFamily="49" charset="-122"/>
                <a:ea typeface="黑体" panose="02010609060101010101" pitchFamily="49" charset="-122"/>
              </a:rPr>
              <a:t>DNA</a:t>
            </a:r>
            <a:r>
              <a:rPr lang="zh-CN" altLang="en-US" b="0">
                <a:solidFill>
                  <a:srgbClr val="0000CC"/>
                </a:solidFill>
                <a:latin typeface="黑体" panose="02010609060101010101" pitchFamily="49" charset="-122"/>
                <a:ea typeface="黑体" panose="02010609060101010101" pitchFamily="49" charset="-122"/>
              </a:rPr>
              <a:t>双螺旋结构模型</a:t>
            </a:r>
          </a:p>
        </p:txBody>
      </p:sp>
      <p:pic>
        <p:nvPicPr>
          <p:cNvPr id="112644" name="图片 2">
            <a:extLst>
              <a:ext uri="{FF2B5EF4-FFF2-40B4-BE49-F238E27FC236}">
                <a16:creationId xmlns:a16="http://schemas.microsoft.com/office/drawing/2014/main" id="{4E05A34E-D291-48B3-A0F9-2E8BFDE5523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36019" y="1037597"/>
            <a:ext cx="3371056" cy="5012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45" name="图片 3">
            <a:extLst>
              <a:ext uri="{FF2B5EF4-FFF2-40B4-BE49-F238E27FC236}">
                <a16:creationId xmlns:a16="http://schemas.microsoft.com/office/drawing/2014/main" id="{39C0833E-BAC9-4745-BA5E-4D0B993835C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28048" y="1037597"/>
            <a:ext cx="3427933" cy="5012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5" descr="fcrick">
            <a:extLst>
              <a:ext uri="{FF2B5EF4-FFF2-40B4-BE49-F238E27FC236}">
                <a16:creationId xmlns:a16="http://schemas.microsoft.com/office/drawing/2014/main" id="{088BAFFE-D9FB-4B7A-B6A4-EFB3CDCD61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4451"/>
          <a:stretch>
            <a:fillRect/>
          </a:stretch>
        </p:blipFill>
        <p:spPr bwMode="auto">
          <a:xfrm>
            <a:off x="2927350" y="2133601"/>
            <a:ext cx="424815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39" name="Rectangle 6">
            <a:extLst>
              <a:ext uri="{FF2B5EF4-FFF2-40B4-BE49-F238E27FC236}">
                <a16:creationId xmlns:a16="http://schemas.microsoft.com/office/drawing/2014/main" id="{E57EDDBA-CF56-4975-8C84-827AFDFC514B}"/>
              </a:ext>
            </a:extLst>
          </p:cNvPr>
          <p:cNvSpPr>
            <a:spLocks noChangeArrowheads="1"/>
          </p:cNvSpPr>
          <p:nvPr/>
        </p:nvSpPr>
        <p:spPr bwMode="auto">
          <a:xfrm>
            <a:off x="3234301" y="5569277"/>
            <a:ext cx="559159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dirty="0">
                <a:solidFill>
                  <a:srgbClr val="0000FF"/>
                </a:solidFill>
                <a:latin typeface="Times New Roman" panose="02020603050405020304" pitchFamily="18" charset="0"/>
                <a:ea typeface="黑体" panose="02010609060101010101" pitchFamily="49" charset="-122"/>
              </a:rPr>
              <a:t>获得</a:t>
            </a:r>
            <a:r>
              <a:rPr lang="en-US" altLang="zh-CN" dirty="0">
                <a:solidFill>
                  <a:srgbClr val="0000FF"/>
                </a:solidFill>
                <a:latin typeface="Times New Roman" panose="02020603050405020304" pitchFamily="18" charset="0"/>
                <a:ea typeface="黑体" panose="02010609060101010101" pitchFamily="49" charset="-122"/>
              </a:rPr>
              <a:t>1962</a:t>
            </a:r>
            <a:r>
              <a:rPr lang="zh-CN" altLang="en-US" dirty="0">
                <a:solidFill>
                  <a:srgbClr val="0000FF"/>
                </a:solidFill>
                <a:latin typeface="Times New Roman" panose="02020603050405020304" pitchFamily="18" charset="0"/>
                <a:ea typeface="黑体" panose="02010609060101010101" pitchFamily="49" charset="-122"/>
              </a:rPr>
              <a:t>年诺贝尔生理学或医学奖</a:t>
            </a:r>
          </a:p>
        </p:txBody>
      </p:sp>
      <p:sp>
        <p:nvSpPr>
          <p:cNvPr id="116740" name="Rectangle 7">
            <a:extLst>
              <a:ext uri="{FF2B5EF4-FFF2-40B4-BE49-F238E27FC236}">
                <a16:creationId xmlns:a16="http://schemas.microsoft.com/office/drawing/2014/main" id="{EFFEC49A-6954-483E-9267-0E9F705532A3}"/>
              </a:ext>
            </a:extLst>
          </p:cNvPr>
          <p:cNvSpPr>
            <a:spLocks noChangeArrowheads="1"/>
          </p:cNvSpPr>
          <p:nvPr/>
        </p:nvSpPr>
        <p:spPr bwMode="auto">
          <a:xfrm>
            <a:off x="3000376" y="4941888"/>
            <a:ext cx="640799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2000" dirty="0">
                <a:solidFill>
                  <a:schemeClr val="tx1"/>
                </a:solidFill>
                <a:latin typeface="Times New Roman" panose="02020603050405020304" pitchFamily="18" charset="0"/>
                <a:ea typeface="黑体" panose="02010609060101010101" pitchFamily="49" charset="-122"/>
              </a:rPr>
              <a:t>Francis Crick          James Watson         Maurice Wilkins</a:t>
            </a:r>
          </a:p>
        </p:txBody>
      </p:sp>
      <p:sp>
        <p:nvSpPr>
          <p:cNvPr id="116741" name="文本框 4">
            <a:extLst>
              <a:ext uri="{FF2B5EF4-FFF2-40B4-BE49-F238E27FC236}">
                <a16:creationId xmlns:a16="http://schemas.microsoft.com/office/drawing/2014/main" id="{52BF168B-3B22-4D8D-B91E-817B915E22C5}"/>
              </a:ext>
            </a:extLst>
          </p:cNvPr>
          <p:cNvSpPr txBox="1">
            <a:spLocks noChangeArrowheads="1"/>
          </p:cNvSpPr>
          <p:nvPr/>
        </p:nvSpPr>
        <p:spPr bwMode="auto">
          <a:xfrm>
            <a:off x="3214689" y="5241925"/>
            <a:ext cx="1800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2000" b="0" dirty="0">
                <a:solidFill>
                  <a:schemeClr val="tx1"/>
                </a:solidFill>
                <a:latin typeface="Times New Roman" panose="02020603050405020304" pitchFamily="18" charset="0"/>
                <a:ea typeface="宋体" panose="02010600030101010101" pitchFamily="2" charset="-122"/>
              </a:rPr>
              <a:t>1916~2004</a:t>
            </a:r>
            <a:endParaRPr lang="zh-CN" altLang="en-US" sz="2000" b="0" dirty="0">
              <a:solidFill>
                <a:schemeClr val="tx1"/>
              </a:solidFill>
              <a:latin typeface="Times New Roman" panose="02020603050405020304" pitchFamily="18" charset="0"/>
              <a:ea typeface="宋体" panose="02010600030101010101" pitchFamily="2" charset="-122"/>
            </a:endParaRPr>
          </a:p>
        </p:txBody>
      </p:sp>
      <p:sp>
        <p:nvSpPr>
          <p:cNvPr id="116742" name="文本框 8">
            <a:extLst>
              <a:ext uri="{FF2B5EF4-FFF2-40B4-BE49-F238E27FC236}">
                <a16:creationId xmlns:a16="http://schemas.microsoft.com/office/drawing/2014/main" id="{B4657473-5952-4BE7-AA3D-956762453695}"/>
              </a:ext>
            </a:extLst>
          </p:cNvPr>
          <p:cNvSpPr txBox="1">
            <a:spLocks noChangeArrowheads="1"/>
          </p:cNvSpPr>
          <p:nvPr/>
        </p:nvSpPr>
        <p:spPr bwMode="auto">
          <a:xfrm>
            <a:off x="5406704" y="5254948"/>
            <a:ext cx="1512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2000" b="0" dirty="0">
                <a:solidFill>
                  <a:schemeClr val="tx1"/>
                </a:solidFill>
                <a:latin typeface="Times New Roman" panose="02020603050405020304" pitchFamily="18" charset="0"/>
                <a:ea typeface="宋体" panose="02010600030101010101" pitchFamily="2" charset="-122"/>
              </a:rPr>
              <a:t>1928~2025</a:t>
            </a:r>
            <a:endParaRPr lang="zh-CN" altLang="en-US" sz="2000" b="0" dirty="0">
              <a:solidFill>
                <a:schemeClr val="tx1"/>
              </a:solidFill>
              <a:latin typeface="Times New Roman" panose="02020603050405020304" pitchFamily="18" charset="0"/>
              <a:ea typeface="宋体" panose="02010600030101010101" pitchFamily="2" charset="-122"/>
            </a:endParaRPr>
          </a:p>
        </p:txBody>
      </p:sp>
      <p:sp>
        <p:nvSpPr>
          <p:cNvPr id="116743" name="文本框 9">
            <a:extLst>
              <a:ext uri="{FF2B5EF4-FFF2-40B4-BE49-F238E27FC236}">
                <a16:creationId xmlns:a16="http://schemas.microsoft.com/office/drawing/2014/main" id="{C9D995EF-0CF0-4CE5-90CF-15269B45F021}"/>
              </a:ext>
            </a:extLst>
          </p:cNvPr>
          <p:cNvSpPr txBox="1">
            <a:spLocks noChangeArrowheads="1"/>
          </p:cNvSpPr>
          <p:nvPr/>
        </p:nvSpPr>
        <p:spPr bwMode="auto">
          <a:xfrm>
            <a:off x="7678738" y="5241925"/>
            <a:ext cx="2374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2000" b="0">
                <a:solidFill>
                  <a:schemeClr val="tx1"/>
                </a:solidFill>
                <a:latin typeface="Times New Roman" panose="02020603050405020304" pitchFamily="18" charset="0"/>
                <a:ea typeface="宋体" panose="02010600030101010101" pitchFamily="2" charset="-122"/>
              </a:rPr>
              <a:t>1916~2004</a:t>
            </a:r>
            <a:endParaRPr lang="zh-CN" altLang="en-US" sz="2000" b="0">
              <a:solidFill>
                <a:schemeClr val="tx1"/>
              </a:solidFill>
              <a:latin typeface="Times New Roman" panose="02020603050405020304" pitchFamily="18" charset="0"/>
              <a:ea typeface="宋体" panose="02010600030101010101" pitchFamily="2" charset="-122"/>
            </a:endParaRPr>
          </a:p>
        </p:txBody>
      </p:sp>
      <p:sp>
        <p:nvSpPr>
          <p:cNvPr id="116744" name="矩形 2">
            <a:extLst>
              <a:ext uri="{FF2B5EF4-FFF2-40B4-BE49-F238E27FC236}">
                <a16:creationId xmlns:a16="http://schemas.microsoft.com/office/drawing/2014/main" id="{D32349DA-7116-4409-B004-81291788F5C9}"/>
              </a:ext>
            </a:extLst>
          </p:cNvPr>
          <p:cNvSpPr>
            <a:spLocks noChangeArrowheads="1"/>
          </p:cNvSpPr>
          <p:nvPr/>
        </p:nvSpPr>
        <p:spPr bwMode="auto">
          <a:xfrm>
            <a:off x="1778001" y="827088"/>
            <a:ext cx="8215313" cy="104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ts val="4000"/>
              </a:lnSpc>
              <a:spcBef>
                <a:spcPct val="0"/>
              </a:spcBef>
              <a:buClr>
                <a:srgbClr val="FF0000"/>
              </a:buClr>
              <a:buSzPct val="85000"/>
              <a:buFont typeface="Wingdings" panose="05000000000000000000" pitchFamily="2" charset="2"/>
              <a:buChar char="ü"/>
            </a:pPr>
            <a:r>
              <a:rPr lang="zh-CN" altLang="en-US" sz="2600" b="0" dirty="0">
                <a:solidFill>
                  <a:schemeClr val="tx1"/>
                </a:solidFill>
                <a:latin typeface="黑体" panose="02010609060101010101" pitchFamily="49" charset="-122"/>
                <a:ea typeface="黑体" panose="02010609060101010101" pitchFamily="49" charset="-122"/>
                <a:cs typeface="Times New Roman" panose="02020603050405020304" pitchFamily="18" charset="0"/>
              </a:rPr>
              <a:t> 开创了现代分子生物学，是生物学发展史上的里程碑</a:t>
            </a:r>
            <a:endParaRPr lang="en-US" altLang="zh-CN" sz="2600" b="0"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eaLnBrk="1" hangingPunct="1">
              <a:lnSpc>
                <a:spcPts val="4000"/>
              </a:lnSpc>
              <a:spcBef>
                <a:spcPct val="0"/>
              </a:spcBef>
              <a:buClr>
                <a:srgbClr val="FF0000"/>
              </a:buClr>
              <a:buSzPct val="85000"/>
              <a:buFont typeface="Wingdings" panose="05000000000000000000" pitchFamily="2" charset="2"/>
              <a:buChar char="ü"/>
            </a:pPr>
            <a:r>
              <a:rPr lang="zh-CN" altLang="en-US" sz="2600" b="0" dirty="0">
                <a:solidFill>
                  <a:schemeClr val="tx1"/>
                </a:solidFill>
                <a:latin typeface="黑体" panose="02010609060101010101" pitchFamily="49" charset="-122"/>
                <a:ea typeface="黑体" panose="02010609060101010101" pitchFamily="49" charset="-122"/>
                <a:cs typeface="Times New Roman" panose="02020603050405020304" pitchFamily="18" charset="0"/>
              </a:rPr>
              <a:t> 为揭示遗传信息储存及表达的分子机制奠定了基础</a:t>
            </a:r>
          </a:p>
        </p:txBody>
      </p:sp>
      <p:sp>
        <p:nvSpPr>
          <p:cNvPr id="116745" name="Text Box 3">
            <a:extLst>
              <a:ext uri="{FF2B5EF4-FFF2-40B4-BE49-F238E27FC236}">
                <a16:creationId xmlns:a16="http://schemas.microsoft.com/office/drawing/2014/main" id="{4F760634-2F9C-4D47-84DF-E07E94380B81}"/>
              </a:ext>
            </a:extLst>
          </p:cNvPr>
          <p:cNvSpPr txBox="1">
            <a:spLocks noChangeArrowheads="1"/>
          </p:cNvSpPr>
          <p:nvPr/>
        </p:nvSpPr>
        <p:spPr bwMode="auto">
          <a:xfrm>
            <a:off x="3803650" y="228601"/>
            <a:ext cx="50292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90000"/>
              </a:lnSpc>
              <a:spcBef>
                <a:spcPct val="0"/>
              </a:spcBef>
              <a:buClrTx/>
              <a:buFontTx/>
              <a:buNone/>
            </a:pPr>
            <a:r>
              <a:rPr lang="en-US" altLang="zh-CN" sz="3200">
                <a:solidFill>
                  <a:srgbClr val="FF0000"/>
                </a:solidFill>
                <a:latin typeface="Times New Roman" panose="02020603050405020304" pitchFamily="18" charset="0"/>
                <a:ea typeface="宋体" panose="02010600030101010101" pitchFamily="2" charset="-122"/>
              </a:rPr>
              <a:t>DNA</a:t>
            </a:r>
            <a:r>
              <a:rPr lang="zh-CN" altLang="en-US" sz="3200">
                <a:solidFill>
                  <a:srgbClr val="FF0000"/>
                </a:solidFill>
                <a:latin typeface="Times New Roman" panose="02020603050405020304" pitchFamily="18" charset="0"/>
                <a:ea typeface="宋体" panose="02010600030101010101" pitchFamily="2" charset="-122"/>
              </a:rPr>
              <a:t>双螺旋结构的意义</a:t>
            </a:r>
          </a:p>
        </p:txBody>
      </p:sp>
      <p:pic>
        <p:nvPicPr>
          <p:cNvPr id="116746" name="图片 1">
            <a:extLst>
              <a:ext uri="{FF2B5EF4-FFF2-40B4-BE49-F238E27FC236}">
                <a16:creationId xmlns:a16="http://schemas.microsoft.com/office/drawing/2014/main" id="{F33A0416-6CD5-462F-A534-14EEF0F1043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75501" y="2133601"/>
            <a:ext cx="204787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7" name="灯片编号占位符 1">
            <a:extLst>
              <a:ext uri="{FF2B5EF4-FFF2-40B4-BE49-F238E27FC236}">
                <a16:creationId xmlns:a16="http://schemas.microsoft.com/office/drawing/2014/main" id="{4B93B93E-5281-426F-883C-493793EF302E}"/>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248F2433-11BB-42AA-AD50-DBFEFA1A00C8}" type="slidenum">
              <a:rPr lang="zh-CN" altLang="en-US" sz="1200" b="0">
                <a:solidFill>
                  <a:srgbClr val="898F89"/>
                </a:solidFill>
              </a:rPr>
              <a:pPr>
                <a:spcBef>
                  <a:spcPct val="0"/>
                </a:spcBef>
                <a:buClrTx/>
                <a:buFontTx/>
                <a:buNone/>
              </a:pPr>
              <a:t>37</a:t>
            </a:fld>
            <a:endParaRPr lang="zh-CN" altLang="en-US" sz="1200" b="0">
              <a:solidFill>
                <a:srgbClr val="898F89"/>
              </a:solidFill>
            </a:endParaRPr>
          </a:p>
        </p:txBody>
      </p:sp>
      <p:sp>
        <p:nvSpPr>
          <p:cNvPr id="3" name="文本框 2">
            <a:extLst>
              <a:ext uri="{FF2B5EF4-FFF2-40B4-BE49-F238E27FC236}">
                <a16:creationId xmlns:a16="http://schemas.microsoft.com/office/drawing/2014/main" id="{5AF711C3-3E02-474A-271B-32763D12F8C7}"/>
              </a:ext>
            </a:extLst>
          </p:cNvPr>
          <p:cNvSpPr txBox="1"/>
          <p:nvPr/>
        </p:nvSpPr>
        <p:spPr>
          <a:xfrm>
            <a:off x="2096714" y="6030912"/>
            <a:ext cx="8215314" cy="707886"/>
          </a:xfrm>
          <a:prstGeom prst="rect">
            <a:avLst/>
          </a:prstGeom>
          <a:noFill/>
        </p:spPr>
        <p:txBody>
          <a:bodyPr wrap="square">
            <a:spAutoFit/>
          </a:bodyPr>
          <a:lstStyle/>
          <a:p>
            <a:pPr algn="ctr"/>
            <a:r>
              <a:rPr lang="en-US" altLang="zh-CN" sz="2000" dirty="0"/>
              <a:t> “for their discoveries concerning the molecular structure of nucleic acids and its significance for information transfer in living material.</a:t>
            </a:r>
            <a:r>
              <a:rPr lang="zh-CN" altLang="en-US" sz="2000" dirty="0"/>
              <a:t>”</a:t>
            </a:r>
            <a:endParaRPr lang="en-US" altLang="zh-CN" sz="2000" dirty="0"/>
          </a:p>
        </p:txBody>
      </p:sp>
    </p:spTree>
  </p:cSld>
  <p:clrMapOvr>
    <a:masterClrMapping/>
  </p:clrMapOvr>
  <p:transition spd="slow">
    <p:circl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4">
            <a:extLst>
              <a:ext uri="{FF2B5EF4-FFF2-40B4-BE49-F238E27FC236}">
                <a16:creationId xmlns:a16="http://schemas.microsoft.com/office/drawing/2014/main" id="{231E99DD-81C9-42EA-A895-F0B8260F4316}"/>
              </a:ext>
            </a:extLst>
          </p:cNvPr>
          <p:cNvSpPr txBox="1">
            <a:spLocks noChangeArrowheads="1"/>
          </p:cNvSpPr>
          <p:nvPr/>
        </p:nvSpPr>
        <p:spPr bwMode="auto">
          <a:xfrm>
            <a:off x="1873847" y="1412875"/>
            <a:ext cx="5287962" cy="177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0363" indent="-360363">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just" eaLnBrk="1" hangingPunct="1">
              <a:lnSpc>
                <a:spcPct val="130000"/>
              </a:lnSpc>
              <a:spcBef>
                <a:spcPct val="0"/>
              </a:spcBef>
              <a:buClrTx/>
              <a:buFont typeface="Wingdings" panose="05000000000000000000" pitchFamily="2" charset="2"/>
              <a:buNone/>
            </a:pPr>
            <a:r>
              <a:rPr lang="en-US" altLang="zh-CN" b="0" dirty="0">
                <a:solidFill>
                  <a:schemeClr val="tx1"/>
                </a:solidFill>
                <a:latin typeface="Times New Roman" panose="02020603050405020304" pitchFamily="18" charset="0"/>
                <a:ea typeface="黑体" panose="02010609060101010101" pitchFamily="49" charset="-122"/>
              </a:rPr>
              <a:t> 1. DNA</a:t>
            </a:r>
            <a:r>
              <a:rPr lang="zh-CN" altLang="en-US" b="0" dirty="0">
                <a:solidFill>
                  <a:schemeClr val="tx1"/>
                </a:solidFill>
                <a:latin typeface="Times New Roman" panose="02020603050405020304" pitchFamily="18" charset="0"/>
                <a:ea typeface="黑体" panose="02010609060101010101" pitchFamily="49" charset="-122"/>
              </a:rPr>
              <a:t>是由两条多聚脱氧核苷酸链</a:t>
            </a:r>
            <a:r>
              <a:rPr lang="zh-CN" altLang="en-US" b="0" dirty="0">
                <a:latin typeface="Times New Roman" panose="02020603050405020304" pitchFamily="18" charset="0"/>
                <a:ea typeface="黑体" panose="02010609060101010101" pitchFamily="49" charset="-122"/>
              </a:rPr>
              <a:t>围绕着同一个螺旋轴形成的</a:t>
            </a:r>
            <a:r>
              <a:rPr lang="zh-CN" altLang="en-US" b="0" dirty="0">
                <a:solidFill>
                  <a:srgbClr val="FF0000"/>
                </a:solidFill>
                <a:latin typeface="Times New Roman" panose="02020603050405020304" pitchFamily="18" charset="0"/>
                <a:ea typeface="黑体" panose="02010609060101010101" pitchFamily="49" charset="-122"/>
              </a:rPr>
              <a:t>反向平行</a:t>
            </a:r>
            <a:r>
              <a:rPr lang="zh-CN" altLang="en-US" b="0" dirty="0">
                <a:latin typeface="Times New Roman" panose="02020603050405020304" pitchFamily="18" charset="0"/>
                <a:ea typeface="黑体" panose="02010609060101010101" pitchFamily="49" charset="-122"/>
              </a:rPr>
              <a:t>的</a:t>
            </a:r>
            <a:r>
              <a:rPr kumimoji="0" lang="zh-CN" altLang="en-US" b="0" dirty="0">
                <a:solidFill>
                  <a:srgbClr val="FF0000"/>
                </a:solidFill>
                <a:latin typeface="Times New Roman" panose="02020603050405020304" pitchFamily="18" charset="0"/>
                <a:ea typeface="黑体" panose="02010609060101010101" pitchFamily="49" charset="-122"/>
              </a:rPr>
              <a:t>右手双螺旋</a:t>
            </a:r>
            <a:r>
              <a:rPr lang="zh-CN" altLang="en-US" b="0" dirty="0">
                <a:solidFill>
                  <a:schemeClr val="tx1"/>
                </a:solidFill>
                <a:latin typeface="Times New Roman" panose="02020603050405020304" pitchFamily="18" charset="0"/>
                <a:ea typeface="黑体" panose="02010609060101010101" pitchFamily="49" charset="-122"/>
              </a:rPr>
              <a:t>结构。</a:t>
            </a:r>
          </a:p>
        </p:txBody>
      </p:sp>
      <p:pic>
        <p:nvPicPr>
          <p:cNvPr id="120835" name="Picture 5" descr="DNA双螺旋示意图">
            <a:hlinkClick r:id="rId3" action="ppaction://hlinksldjump"/>
            <a:extLst>
              <a:ext uri="{FF2B5EF4-FFF2-40B4-BE49-F238E27FC236}">
                <a16:creationId xmlns:a16="http://schemas.microsoft.com/office/drawing/2014/main" id="{FC7711B5-59DD-48B8-B860-BD75276A8F7E}"/>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r="19621" b="6490"/>
          <a:stretch>
            <a:fillRect/>
          </a:stretch>
        </p:blipFill>
        <p:spPr bwMode="auto">
          <a:xfrm>
            <a:off x="7751764" y="1484313"/>
            <a:ext cx="2560637"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6" name="Text Box 6">
            <a:extLst>
              <a:ext uri="{FF2B5EF4-FFF2-40B4-BE49-F238E27FC236}">
                <a16:creationId xmlns:a16="http://schemas.microsoft.com/office/drawing/2014/main" id="{ADFECB55-A558-47D2-8E56-E3CD50B01259}"/>
              </a:ext>
            </a:extLst>
          </p:cNvPr>
          <p:cNvSpPr txBox="1">
            <a:spLocks noChangeArrowheads="1"/>
          </p:cNvSpPr>
          <p:nvPr/>
        </p:nvSpPr>
        <p:spPr bwMode="auto">
          <a:xfrm>
            <a:off x="2319338" y="115888"/>
            <a:ext cx="6985000"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b="0">
                <a:solidFill>
                  <a:srgbClr val="C00000"/>
                </a:solidFill>
                <a:latin typeface="Times New Roman" panose="02020603050405020304" pitchFamily="18" charset="0"/>
                <a:ea typeface="黑体" panose="02010609060101010101" pitchFamily="49" charset="-122"/>
              </a:rPr>
              <a:t>（二） </a:t>
            </a:r>
            <a:r>
              <a:rPr kumimoji="0" lang="en-US" altLang="zh-CN" sz="3600" b="0">
                <a:solidFill>
                  <a:srgbClr val="C00000"/>
                </a:solidFill>
                <a:latin typeface="Times New Roman" panose="02020603050405020304" pitchFamily="18" charset="0"/>
                <a:ea typeface="黑体" panose="02010609060101010101" pitchFamily="49" charset="-122"/>
              </a:rPr>
              <a:t>DNA</a:t>
            </a:r>
            <a:r>
              <a:rPr kumimoji="0" lang="zh-CN" altLang="en-US" sz="3600" b="0">
                <a:solidFill>
                  <a:srgbClr val="C00000"/>
                </a:solidFill>
                <a:latin typeface="Times New Roman" panose="02020603050405020304" pitchFamily="18" charset="0"/>
                <a:ea typeface="黑体" panose="02010609060101010101" pitchFamily="49" charset="-122"/>
              </a:rPr>
              <a:t>双螺旋结构模型要点 </a:t>
            </a:r>
          </a:p>
        </p:txBody>
      </p:sp>
      <p:sp>
        <p:nvSpPr>
          <p:cNvPr id="783367" name="Text Box 7">
            <a:extLst>
              <a:ext uri="{FF2B5EF4-FFF2-40B4-BE49-F238E27FC236}">
                <a16:creationId xmlns:a16="http://schemas.microsoft.com/office/drawing/2014/main" id="{E38343D3-FFDF-4F36-8BA8-09EE97BB46AA}"/>
              </a:ext>
            </a:extLst>
          </p:cNvPr>
          <p:cNvSpPr txBox="1">
            <a:spLocks noChangeArrowheads="1"/>
          </p:cNvSpPr>
          <p:nvPr/>
        </p:nvSpPr>
        <p:spPr bwMode="auto">
          <a:xfrm>
            <a:off x="8975725" y="1125538"/>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sz="2400">
                <a:solidFill>
                  <a:srgbClr val="0000CC"/>
                </a:solidFill>
                <a:latin typeface="Times New Roman" panose="02020603050405020304" pitchFamily="18" charset="0"/>
                <a:ea typeface="黑体" panose="02010609060101010101" pitchFamily="49" charset="-122"/>
              </a:rPr>
              <a:t>3’</a:t>
            </a:r>
          </a:p>
        </p:txBody>
      </p:sp>
      <p:sp>
        <p:nvSpPr>
          <p:cNvPr id="783368" name="Text Box 8">
            <a:extLst>
              <a:ext uri="{FF2B5EF4-FFF2-40B4-BE49-F238E27FC236}">
                <a16:creationId xmlns:a16="http://schemas.microsoft.com/office/drawing/2014/main" id="{9AE1F274-E3ED-4B51-8763-BF16C180C7FE}"/>
              </a:ext>
            </a:extLst>
          </p:cNvPr>
          <p:cNvSpPr txBox="1">
            <a:spLocks noChangeArrowheads="1"/>
          </p:cNvSpPr>
          <p:nvPr/>
        </p:nvSpPr>
        <p:spPr bwMode="auto">
          <a:xfrm>
            <a:off x="8183563" y="1412875"/>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sz="2400">
                <a:solidFill>
                  <a:srgbClr val="0000CC"/>
                </a:solidFill>
                <a:latin typeface="Times New Roman" panose="02020603050405020304" pitchFamily="18" charset="0"/>
                <a:ea typeface="黑体" panose="02010609060101010101" pitchFamily="49" charset="-122"/>
              </a:rPr>
              <a:t>5’</a:t>
            </a:r>
          </a:p>
        </p:txBody>
      </p:sp>
      <p:sp>
        <p:nvSpPr>
          <p:cNvPr id="783370" name="Text Box 10">
            <a:extLst>
              <a:ext uri="{FF2B5EF4-FFF2-40B4-BE49-F238E27FC236}">
                <a16:creationId xmlns:a16="http://schemas.microsoft.com/office/drawing/2014/main" id="{D92A29A6-D732-48C1-B4C3-33A6897A70EE}"/>
              </a:ext>
            </a:extLst>
          </p:cNvPr>
          <p:cNvSpPr txBox="1">
            <a:spLocks noChangeArrowheads="1"/>
          </p:cNvSpPr>
          <p:nvPr/>
        </p:nvSpPr>
        <p:spPr bwMode="auto">
          <a:xfrm>
            <a:off x="8904288" y="6021388"/>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sz="2400">
                <a:solidFill>
                  <a:srgbClr val="0000CC"/>
                </a:solidFill>
                <a:latin typeface="Times New Roman" panose="02020603050405020304" pitchFamily="18" charset="0"/>
                <a:ea typeface="黑体" panose="02010609060101010101" pitchFamily="49" charset="-122"/>
              </a:rPr>
              <a:t>3’</a:t>
            </a:r>
          </a:p>
        </p:txBody>
      </p:sp>
      <p:sp>
        <p:nvSpPr>
          <p:cNvPr id="783371" name="Text Box 11">
            <a:extLst>
              <a:ext uri="{FF2B5EF4-FFF2-40B4-BE49-F238E27FC236}">
                <a16:creationId xmlns:a16="http://schemas.microsoft.com/office/drawing/2014/main" id="{86E98F8D-B126-4CF1-B1BF-BDB6BC34569F}"/>
              </a:ext>
            </a:extLst>
          </p:cNvPr>
          <p:cNvSpPr txBox="1">
            <a:spLocks noChangeArrowheads="1"/>
          </p:cNvSpPr>
          <p:nvPr/>
        </p:nvSpPr>
        <p:spPr bwMode="auto">
          <a:xfrm>
            <a:off x="8183563" y="5734050"/>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sz="2400">
                <a:solidFill>
                  <a:srgbClr val="0000CC"/>
                </a:solidFill>
                <a:latin typeface="Times New Roman" panose="02020603050405020304" pitchFamily="18" charset="0"/>
                <a:ea typeface="黑体" panose="02010609060101010101" pitchFamily="49" charset="-122"/>
              </a:rPr>
              <a:t>5’</a:t>
            </a:r>
          </a:p>
        </p:txBody>
      </p:sp>
      <p:sp>
        <p:nvSpPr>
          <p:cNvPr id="783372" name="Rectangle 12">
            <a:extLst>
              <a:ext uri="{FF2B5EF4-FFF2-40B4-BE49-F238E27FC236}">
                <a16:creationId xmlns:a16="http://schemas.microsoft.com/office/drawing/2014/main" id="{3465A9F1-C19D-43CC-89C9-197C2CF001F5}"/>
              </a:ext>
            </a:extLst>
          </p:cNvPr>
          <p:cNvSpPr>
            <a:spLocks noChangeArrowheads="1"/>
          </p:cNvSpPr>
          <p:nvPr/>
        </p:nvSpPr>
        <p:spPr bwMode="auto">
          <a:xfrm>
            <a:off x="2256434" y="3908703"/>
            <a:ext cx="4847678" cy="1712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30000"/>
              </a:lnSpc>
              <a:spcBef>
                <a:spcPct val="0"/>
              </a:spcBef>
              <a:buClrTx/>
              <a:buFontTx/>
              <a:buNone/>
            </a:pPr>
            <a:r>
              <a:rPr kumimoji="0" lang="zh-CN" altLang="en-US" b="0" dirty="0">
                <a:solidFill>
                  <a:schemeClr val="tx1"/>
                </a:solidFill>
                <a:latin typeface="Times New Roman" panose="02020603050405020304" pitchFamily="18" charset="0"/>
                <a:ea typeface="黑体" panose="02010609060101010101" pitchFamily="49" charset="-122"/>
              </a:rPr>
              <a:t>双螺旋结构的表面形成了一个</a:t>
            </a:r>
            <a:r>
              <a:rPr kumimoji="0" lang="zh-CN" altLang="en-US" b="0" dirty="0">
                <a:solidFill>
                  <a:srgbClr val="FF0000"/>
                </a:solidFill>
                <a:latin typeface="Times New Roman" panose="02020603050405020304" pitchFamily="18" charset="0"/>
                <a:ea typeface="黑体" panose="02010609060101010101" pitchFamily="49" charset="-122"/>
              </a:rPr>
              <a:t>大沟</a:t>
            </a:r>
            <a:r>
              <a:rPr kumimoji="0" lang="en-US" altLang="zh-CN" b="0" dirty="0">
                <a:solidFill>
                  <a:srgbClr val="FF0000"/>
                </a:solidFill>
                <a:latin typeface="Times New Roman" panose="02020603050405020304" pitchFamily="18" charset="0"/>
                <a:ea typeface="黑体" panose="02010609060101010101" pitchFamily="49" charset="-122"/>
              </a:rPr>
              <a:t>(major groove)</a:t>
            </a:r>
            <a:r>
              <a:rPr kumimoji="0" lang="zh-CN" altLang="en-US" b="0" dirty="0">
                <a:solidFill>
                  <a:schemeClr val="tx1"/>
                </a:solidFill>
                <a:latin typeface="Times New Roman" panose="02020603050405020304" pitchFamily="18" charset="0"/>
                <a:ea typeface="黑体" panose="02010609060101010101" pitchFamily="49" charset="-122"/>
              </a:rPr>
              <a:t>和一个</a:t>
            </a:r>
            <a:r>
              <a:rPr kumimoji="0" lang="zh-CN" altLang="en-US" b="0" dirty="0">
                <a:solidFill>
                  <a:srgbClr val="FF0000"/>
                </a:solidFill>
                <a:latin typeface="Times New Roman" panose="02020603050405020304" pitchFamily="18" charset="0"/>
                <a:ea typeface="黑体" panose="02010609060101010101" pitchFamily="49" charset="-122"/>
              </a:rPr>
              <a:t>小沟</a:t>
            </a:r>
            <a:r>
              <a:rPr kumimoji="0" lang="en-US" altLang="zh-CN" b="0" dirty="0">
                <a:solidFill>
                  <a:srgbClr val="FF0000"/>
                </a:solidFill>
                <a:latin typeface="Times New Roman" panose="02020603050405020304" pitchFamily="18" charset="0"/>
                <a:ea typeface="黑体" panose="02010609060101010101" pitchFamily="49" charset="-122"/>
              </a:rPr>
              <a:t>(minor groove)</a:t>
            </a:r>
            <a:r>
              <a:rPr kumimoji="0" lang="zh-CN" altLang="en-US" b="0" dirty="0">
                <a:solidFill>
                  <a:srgbClr val="FF0000"/>
                </a:solidFill>
                <a:latin typeface="Times New Roman" panose="02020603050405020304" pitchFamily="18" charset="0"/>
                <a:ea typeface="黑体" panose="02010609060101010101" pitchFamily="49" charset="-122"/>
              </a:rPr>
              <a:t>。</a:t>
            </a:r>
            <a:endParaRPr lang="zh-CN" altLang="en-US" sz="3200" b="0" dirty="0">
              <a:solidFill>
                <a:srgbClr val="990099"/>
              </a:solidFill>
              <a:latin typeface="Times New Roman" panose="02020603050405020304" pitchFamily="18" charset="0"/>
              <a:ea typeface="黑体" panose="02010609060101010101" pitchFamily="49"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833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337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8336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8337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83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2882" name="图片 1">
            <a:extLst>
              <a:ext uri="{FF2B5EF4-FFF2-40B4-BE49-F238E27FC236}">
                <a16:creationId xmlns:a16="http://schemas.microsoft.com/office/drawing/2014/main" id="{F5BC84EB-6B74-400F-B3B7-774C833EC8D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268760"/>
            <a:ext cx="6467965" cy="489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3" name="标题 2">
            <a:extLst>
              <a:ext uri="{FF2B5EF4-FFF2-40B4-BE49-F238E27FC236}">
                <a16:creationId xmlns:a16="http://schemas.microsoft.com/office/drawing/2014/main" id="{2B33A44F-3180-462B-B7EA-62A8F1E91999}"/>
              </a:ext>
            </a:extLst>
          </p:cNvPr>
          <p:cNvSpPr>
            <a:spLocks noGrp="1" noChangeArrowheads="1"/>
          </p:cNvSpPr>
          <p:nvPr>
            <p:ph type="title"/>
          </p:nvPr>
        </p:nvSpPr>
        <p:spPr>
          <a:xfrm>
            <a:off x="839416" y="165056"/>
            <a:ext cx="10871200" cy="533400"/>
          </a:xfrm>
        </p:spPr>
        <p:txBody>
          <a:bodyPr/>
          <a:lstStyle/>
          <a:p>
            <a:r>
              <a:rPr lang="zh-CN" altLang="en-US" b="0" dirty="0"/>
              <a:t>为什么有大沟和小沟</a:t>
            </a:r>
          </a:p>
        </p:txBody>
      </p:sp>
      <p:pic>
        <p:nvPicPr>
          <p:cNvPr id="124930" name="图片 1">
            <a:extLst>
              <a:ext uri="{FF2B5EF4-FFF2-40B4-BE49-F238E27FC236}">
                <a16:creationId xmlns:a16="http://schemas.microsoft.com/office/drawing/2014/main" id="{200C1CCC-6D1C-4F71-A898-D13C013ABFD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28048" y="1031875"/>
            <a:ext cx="5565775"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1" name="Text Box 3">
            <a:hlinkClick r:id="rId3" action="ppaction://hlinksldjump"/>
            <a:extLst>
              <a:ext uri="{FF2B5EF4-FFF2-40B4-BE49-F238E27FC236}">
                <a16:creationId xmlns:a16="http://schemas.microsoft.com/office/drawing/2014/main" id="{68AD94AC-F450-4AFB-8BFE-C04EF5E19172}"/>
              </a:ext>
            </a:extLst>
          </p:cNvPr>
          <p:cNvSpPr txBox="1">
            <a:spLocks noChangeArrowheads="1"/>
          </p:cNvSpPr>
          <p:nvPr/>
        </p:nvSpPr>
        <p:spPr bwMode="auto">
          <a:xfrm>
            <a:off x="1199456" y="1547018"/>
            <a:ext cx="5976664" cy="3763963"/>
          </a:xfrm>
          <a:prstGeom prst="rect">
            <a:avLst/>
          </a:prstGeom>
          <a:noFill/>
          <a:ln>
            <a:noFill/>
          </a:ln>
        </p:spPr>
        <p:txBody>
          <a:bodyPr wrap="square">
            <a:spAutoFit/>
          </a:bodyPr>
          <a:lstStyle>
            <a:lvl1pPr marL="360363" indent="-360363">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140000"/>
              </a:lnSpc>
              <a:spcBef>
                <a:spcPct val="0"/>
              </a:spcBef>
              <a:buClrTx/>
              <a:buFont typeface="Wingdings" panose="05000000000000000000" pitchFamily="2" charset="2"/>
              <a:buNone/>
              <a:defRPr/>
            </a:pPr>
            <a:r>
              <a:rPr kumimoji="0" lang="en-US" altLang="zh-CN" b="0" dirty="0">
                <a:solidFill>
                  <a:schemeClr val="tx1"/>
                </a:solidFill>
                <a:latin typeface="Times New Roman" panose="02020603050405020304" pitchFamily="18" charset="0"/>
                <a:ea typeface="黑体" panose="02010609060101010101" pitchFamily="49" charset="-122"/>
              </a:rPr>
              <a:t>2. </a:t>
            </a:r>
            <a:r>
              <a:rPr kumimoji="0" lang="zh-CN" altLang="en-US" b="0" dirty="0">
                <a:solidFill>
                  <a:schemeClr val="tx1"/>
                </a:solidFill>
                <a:latin typeface="Times New Roman" panose="02020603050405020304" pitchFamily="18" charset="0"/>
                <a:ea typeface="黑体" panose="02010609060101010101" pitchFamily="49" charset="-122"/>
              </a:rPr>
              <a:t>双螺旋</a:t>
            </a:r>
            <a:r>
              <a:rPr kumimoji="0" lang="zh-CN" altLang="en-US" b="0" dirty="0">
                <a:solidFill>
                  <a:srgbClr val="FF0000"/>
                </a:solidFill>
                <a:latin typeface="Times New Roman" panose="02020603050405020304" pitchFamily="18" charset="0"/>
                <a:ea typeface="黑体" panose="02010609060101010101" pitchFamily="49" charset="-122"/>
              </a:rPr>
              <a:t>外侧</a:t>
            </a:r>
            <a:r>
              <a:rPr kumimoji="0" lang="en-US" altLang="zh-CN" b="0" dirty="0">
                <a:solidFill>
                  <a:srgbClr val="FF0000"/>
                </a:solidFill>
                <a:latin typeface="Times New Roman" panose="02020603050405020304" pitchFamily="18" charset="0"/>
                <a:ea typeface="黑体" panose="02010609060101010101" pitchFamily="49" charset="-122"/>
              </a:rPr>
              <a:t>:</a:t>
            </a:r>
            <a:r>
              <a:rPr lang="zh-CN" altLang="en-US" b="0" dirty="0">
                <a:solidFill>
                  <a:srgbClr val="FF0000"/>
                </a:solidFill>
                <a:latin typeface="Times New Roman" panose="02020603050405020304" pitchFamily="18" charset="0"/>
                <a:ea typeface="黑体" panose="02010609060101010101" pitchFamily="49" charset="-122"/>
              </a:rPr>
              <a:t>脱氧核糖</a:t>
            </a:r>
            <a:r>
              <a:rPr lang="en-US" altLang="zh-CN" b="0" dirty="0">
                <a:solidFill>
                  <a:srgbClr val="FF0000"/>
                </a:solidFill>
                <a:latin typeface="Times New Roman" panose="02020603050405020304" pitchFamily="18" charset="0"/>
                <a:ea typeface="黑体" panose="02010609060101010101" pitchFamily="49" charset="-122"/>
              </a:rPr>
              <a:t>-</a:t>
            </a:r>
            <a:r>
              <a:rPr lang="zh-CN" altLang="en-US" b="0" dirty="0">
                <a:solidFill>
                  <a:srgbClr val="FF0000"/>
                </a:solidFill>
                <a:latin typeface="Times New Roman" panose="02020603050405020304" pitchFamily="18" charset="0"/>
                <a:ea typeface="黑体" panose="02010609060101010101" pitchFamily="49" charset="-122"/>
              </a:rPr>
              <a:t>磷酸</a:t>
            </a:r>
            <a:r>
              <a:rPr kumimoji="0" lang="zh-CN" altLang="en-US" b="0" dirty="0">
                <a:solidFill>
                  <a:srgbClr val="FF0000"/>
                </a:solidFill>
                <a:latin typeface="Times New Roman" panose="02020603050405020304" pitchFamily="18" charset="0"/>
                <a:ea typeface="黑体" panose="02010609060101010101" pitchFamily="49" charset="-122"/>
              </a:rPr>
              <a:t>骨架链</a:t>
            </a:r>
            <a:r>
              <a:rPr kumimoji="0" lang="en-US" altLang="zh-CN" b="0" dirty="0">
                <a:solidFill>
                  <a:schemeClr val="tx1"/>
                </a:solidFill>
                <a:latin typeface="Times New Roman" panose="02020603050405020304" pitchFamily="18" charset="0"/>
                <a:ea typeface="黑体" panose="02010609060101010101" pitchFamily="49" charset="-122"/>
              </a:rPr>
              <a:t>;</a:t>
            </a:r>
          </a:p>
          <a:p>
            <a:pPr marL="2420938" indent="-2420938" algn="just" eaLnBrk="1" hangingPunct="1">
              <a:lnSpc>
                <a:spcPct val="180000"/>
              </a:lnSpc>
              <a:spcBef>
                <a:spcPct val="0"/>
              </a:spcBef>
              <a:buClrTx/>
              <a:buNone/>
              <a:defRPr/>
            </a:pPr>
            <a:r>
              <a:rPr lang="en-US" altLang="zh-CN" b="0" dirty="0">
                <a:solidFill>
                  <a:schemeClr val="tx1"/>
                </a:solidFill>
                <a:latin typeface="Times New Roman" panose="02020603050405020304" pitchFamily="18" charset="0"/>
                <a:ea typeface="黑体" panose="02010609060101010101" pitchFamily="49" charset="-122"/>
              </a:rPr>
              <a:t>    </a:t>
            </a:r>
            <a:r>
              <a:rPr lang="zh-CN" altLang="en-US" b="0" dirty="0">
                <a:solidFill>
                  <a:schemeClr val="tx1"/>
                </a:solidFill>
                <a:latin typeface="Times New Roman" panose="02020603050405020304" pitchFamily="18" charset="0"/>
                <a:ea typeface="黑体" panose="02010609060101010101" pitchFamily="49" charset="-122"/>
              </a:rPr>
              <a:t>双螺旋</a:t>
            </a:r>
            <a:r>
              <a:rPr lang="zh-CN" altLang="en-US" b="0" dirty="0">
                <a:solidFill>
                  <a:srgbClr val="FF0000"/>
                </a:solidFill>
                <a:latin typeface="Times New Roman" panose="02020603050405020304" pitchFamily="18" charset="0"/>
                <a:ea typeface="黑体" panose="02010609060101010101" pitchFamily="49" charset="-122"/>
              </a:rPr>
              <a:t>内</a:t>
            </a:r>
            <a:r>
              <a:rPr kumimoji="0" lang="zh-CN" altLang="en-US" b="0" dirty="0">
                <a:solidFill>
                  <a:srgbClr val="FF0000"/>
                </a:solidFill>
                <a:latin typeface="Times New Roman" panose="02020603050405020304" pitchFamily="18" charset="0"/>
                <a:ea typeface="黑体" panose="02010609060101010101" pitchFamily="49" charset="-122"/>
              </a:rPr>
              <a:t>侧</a:t>
            </a:r>
            <a:r>
              <a:rPr lang="en-US" altLang="zh-CN" b="0" dirty="0">
                <a:solidFill>
                  <a:srgbClr val="FF0000"/>
                </a:solidFill>
                <a:latin typeface="Times New Roman" panose="02020603050405020304" pitchFamily="18" charset="0"/>
                <a:ea typeface="黑体" panose="02010609060101010101" pitchFamily="49" charset="-122"/>
              </a:rPr>
              <a:t>: </a:t>
            </a:r>
            <a:r>
              <a:rPr lang="zh-CN" altLang="en-US" b="0" dirty="0">
                <a:solidFill>
                  <a:srgbClr val="FF0000"/>
                </a:solidFill>
                <a:latin typeface="Times New Roman" panose="02020603050405020304" pitchFamily="18" charset="0"/>
                <a:ea typeface="黑体" panose="02010609060101010101" pitchFamily="49" charset="-122"/>
              </a:rPr>
              <a:t>碱基与对侧碱基形成氢键配对</a:t>
            </a:r>
          </a:p>
          <a:p>
            <a:pPr algn="just" eaLnBrk="1" hangingPunct="1">
              <a:lnSpc>
                <a:spcPct val="180000"/>
              </a:lnSpc>
              <a:spcBef>
                <a:spcPct val="0"/>
              </a:spcBef>
              <a:buClrTx/>
              <a:buFont typeface="Wingdings" panose="05000000000000000000" pitchFamily="2" charset="2"/>
              <a:buNone/>
              <a:defRPr/>
            </a:pPr>
            <a:r>
              <a:rPr lang="zh-CN" altLang="en-US" b="0" dirty="0">
                <a:solidFill>
                  <a:srgbClr val="CC0099"/>
                </a:solidFill>
                <a:latin typeface="Times New Roman" panose="02020603050405020304" pitchFamily="18" charset="0"/>
                <a:ea typeface="黑体" panose="02010609060101010101" pitchFamily="49" charset="-122"/>
              </a:rPr>
              <a:t>                            </a:t>
            </a:r>
            <a:r>
              <a:rPr lang="en-US" altLang="zh-CN" b="0" dirty="0">
                <a:solidFill>
                  <a:srgbClr val="FF0000"/>
                </a:solidFill>
                <a:latin typeface="Times New Roman" panose="02020603050405020304" pitchFamily="18" charset="0"/>
                <a:ea typeface="黑体" panose="02010609060101010101" pitchFamily="49" charset="-122"/>
              </a:rPr>
              <a:t>A=T;  G</a:t>
            </a:r>
            <a:r>
              <a:rPr lang="en-US" altLang="zh-CN" b="0" dirty="0">
                <a:solidFill>
                  <a:srgbClr val="FF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b="0" dirty="0">
                <a:solidFill>
                  <a:srgbClr val="FF0000"/>
                </a:solidFill>
                <a:latin typeface="Times New Roman" panose="02020603050405020304" pitchFamily="18" charset="0"/>
                <a:ea typeface="黑体" panose="02010609060101010101" pitchFamily="49" charset="-122"/>
              </a:rPr>
              <a:t>C</a:t>
            </a:r>
          </a:p>
          <a:p>
            <a:pPr algn="just" eaLnBrk="1" hangingPunct="1">
              <a:lnSpc>
                <a:spcPct val="180000"/>
              </a:lnSpc>
              <a:spcBef>
                <a:spcPct val="0"/>
              </a:spcBef>
              <a:buClrTx/>
              <a:buFont typeface="Wingdings" panose="05000000000000000000" pitchFamily="2" charset="2"/>
              <a:buNone/>
              <a:defRPr/>
            </a:pPr>
            <a:r>
              <a:rPr lang="en-US" altLang="zh-CN" b="0" dirty="0">
                <a:solidFill>
                  <a:srgbClr val="CC0099"/>
                </a:solidFill>
                <a:latin typeface="Times New Roman" panose="02020603050405020304" pitchFamily="18" charset="0"/>
                <a:ea typeface="黑体" panose="02010609060101010101" pitchFamily="49" charset="-122"/>
              </a:rPr>
              <a:t>    </a:t>
            </a:r>
            <a:r>
              <a:rPr lang="zh-CN" altLang="en-US" b="0" dirty="0">
                <a:solidFill>
                  <a:schemeClr val="tx1"/>
                </a:solidFill>
                <a:latin typeface="Times New Roman" panose="02020603050405020304" pitchFamily="18" charset="0"/>
                <a:ea typeface="黑体" panose="02010609060101010101" pitchFamily="49" charset="-122"/>
              </a:rPr>
              <a:t>碱基对（近乎）垂直于螺旋轴</a:t>
            </a:r>
          </a:p>
        </p:txBody>
      </p:sp>
      <p:pic>
        <p:nvPicPr>
          <p:cNvPr id="126979" name="Picture 4">
            <a:extLst>
              <a:ext uri="{FF2B5EF4-FFF2-40B4-BE49-F238E27FC236}">
                <a16:creationId xmlns:a16="http://schemas.microsoft.com/office/drawing/2014/main" id="{EFF78D9A-FA8D-4358-8BC5-6ACFD51808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1764" y="1341439"/>
            <a:ext cx="2916237" cy="489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0" name="灯片编号占位符 1">
            <a:extLst>
              <a:ext uri="{FF2B5EF4-FFF2-40B4-BE49-F238E27FC236}">
                <a16:creationId xmlns:a16="http://schemas.microsoft.com/office/drawing/2014/main" id="{0358FD98-F417-44FC-A15F-89D073D8C3A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029676E8-0560-42F8-AB04-662FB727D915}" type="slidenum">
              <a:rPr lang="zh-CN" altLang="en-US" sz="1200" b="0">
                <a:solidFill>
                  <a:srgbClr val="898F89"/>
                </a:solidFill>
              </a:rPr>
              <a:pPr>
                <a:spcBef>
                  <a:spcPct val="0"/>
                </a:spcBef>
                <a:buClrTx/>
                <a:buFontTx/>
                <a:buNone/>
              </a:pPr>
              <a:t>40</a:t>
            </a:fld>
            <a:endParaRPr lang="zh-CN" altLang="en-US" sz="1200" b="0">
              <a:solidFill>
                <a:srgbClr val="898F8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49251">
                                            <p:txEl>
                                              <p:pRg st="1" end="1"/>
                                            </p:txEl>
                                          </p:spTgt>
                                        </p:tgtEl>
                                        <p:attrNameLst>
                                          <p:attrName>style.visibility</p:attrName>
                                        </p:attrNameLst>
                                      </p:cBhvr>
                                      <p:to>
                                        <p:strVal val="visible"/>
                                      </p:to>
                                    </p:set>
                                    <p:animEffect transition="in" filter="dissolve">
                                      <p:cBhvr>
                                        <p:cTn id="7" dur="500"/>
                                        <p:tgtEl>
                                          <p:spTgt spid="94925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949251">
                                            <p:txEl>
                                              <p:pRg st="2" end="2"/>
                                            </p:txEl>
                                          </p:spTgt>
                                        </p:tgtEl>
                                        <p:attrNameLst>
                                          <p:attrName>style.visibility</p:attrName>
                                        </p:attrNameLst>
                                      </p:cBhvr>
                                      <p:to>
                                        <p:strVal val="visible"/>
                                      </p:to>
                                    </p:set>
                                    <p:animEffect transition="in" filter="dissolve">
                                      <p:cBhvr>
                                        <p:cTn id="12" dur="500"/>
                                        <p:tgtEl>
                                          <p:spTgt spid="949251">
                                            <p:txEl>
                                              <p:pRg st="2" end="2"/>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949251">
                                            <p:txEl>
                                              <p:pRg st="3" end="3"/>
                                            </p:txEl>
                                          </p:spTgt>
                                        </p:tgtEl>
                                        <p:attrNameLst>
                                          <p:attrName>style.visibility</p:attrName>
                                        </p:attrNameLst>
                                      </p:cBhvr>
                                      <p:to>
                                        <p:strVal val="visible"/>
                                      </p:to>
                                    </p:set>
                                    <p:animEffect transition="in" filter="dissolve">
                                      <p:cBhvr>
                                        <p:cTn id="15" dur="500"/>
                                        <p:tgtEl>
                                          <p:spTgt spid="9492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a:hlinkClick r:id="rId3" action="ppaction://hlinksldjump"/>
            <a:extLst>
              <a:ext uri="{FF2B5EF4-FFF2-40B4-BE49-F238E27FC236}">
                <a16:creationId xmlns:a16="http://schemas.microsoft.com/office/drawing/2014/main" id="{77F58C12-D475-4E17-B58E-5C71ECE28617}"/>
              </a:ext>
            </a:extLst>
          </p:cNvPr>
          <p:cNvSpPr txBox="1">
            <a:spLocks noChangeArrowheads="1"/>
          </p:cNvSpPr>
          <p:nvPr/>
        </p:nvSpPr>
        <p:spPr bwMode="auto">
          <a:xfrm>
            <a:off x="4800601" y="260351"/>
            <a:ext cx="3446463"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b="0">
                <a:solidFill>
                  <a:srgbClr val="0000CC"/>
                </a:solidFill>
                <a:latin typeface="Times New Roman" panose="02020603050405020304" pitchFamily="18" charset="0"/>
                <a:ea typeface="黑体" panose="02010609060101010101" pitchFamily="49" charset="-122"/>
              </a:rPr>
              <a:t>碱基互补配对 </a:t>
            </a:r>
          </a:p>
        </p:txBody>
      </p:sp>
      <p:pic>
        <p:nvPicPr>
          <p:cNvPr id="49155" name="图片 1">
            <a:extLst>
              <a:ext uri="{FF2B5EF4-FFF2-40B4-BE49-F238E27FC236}">
                <a16:creationId xmlns:a16="http://schemas.microsoft.com/office/drawing/2014/main" id="{536D92B8-ED66-4E2E-BF7D-AE980A50A6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8300" y="3219450"/>
            <a:ext cx="4895850" cy="344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6" name="图片 2">
            <a:extLst>
              <a:ext uri="{FF2B5EF4-FFF2-40B4-BE49-F238E27FC236}">
                <a16:creationId xmlns:a16="http://schemas.microsoft.com/office/drawing/2014/main" id="{5AEDA508-2D8A-4DB5-82AF-65C1F8637F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3388" y="1196976"/>
            <a:ext cx="5314950"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9319366"/>
      </p:ext>
    </p:extLst>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C8C14FA6-DA74-4BD8-9DCD-461D127F3C52}"/>
              </a:ext>
            </a:extLst>
          </p:cNvPr>
          <p:cNvSpPr>
            <a:spLocks noGrp="1" noChangeArrowheads="1"/>
          </p:cNvSpPr>
          <p:nvPr>
            <p:ph type="body" sz="half" idx="1"/>
          </p:nvPr>
        </p:nvSpPr>
        <p:spPr bwMode="auto">
          <a:xfrm>
            <a:off x="2063750" y="2133600"/>
            <a:ext cx="3887788" cy="2603500"/>
          </a:xfrm>
        </p:spPr>
        <p:txBody>
          <a:bodyPr>
            <a:spAutoFit/>
          </a:bodyPr>
          <a:lstStyle/>
          <a:p>
            <a:pPr marL="269875" indent="-269875" algn="just" eaLnBrk="1" hangingPunct="1">
              <a:lnSpc>
                <a:spcPct val="120000"/>
              </a:lnSpc>
              <a:spcBef>
                <a:spcPct val="30000"/>
              </a:spcBef>
              <a:buClr>
                <a:srgbClr val="000099"/>
              </a:buClr>
              <a:buFont typeface="Wingdings" panose="05000000000000000000" pitchFamily="2" charset="2"/>
              <a:buChar char="Ø"/>
            </a:pPr>
            <a:r>
              <a:rPr lang="zh-CN" altLang="en-US" sz="3200" b="0" dirty="0">
                <a:solidFill>
                  <a:srgbClr val="0000CC"/>
                </a:solidFill>
                <a:latin typeface="黑体" panose="02010609060101010101" pitchFamily="49" charset="-122"/>
                <a:ea typeface="黑体" panose="02010609060101010101" pitchFamily="49" charset="-122"/>
              </a:rPr>
              <a:t>亲水性的骨架</a:t>
            </a:r>
            <a:r>
              <a:rPr lang="zh-CN" altLang="en-US" sz="3200" b="0" dirty="0">
                <a:latin typeface="黑体" panose="02010609060101010101" pitchFamily="49" charset="-122"/>
                <a:ea typeface="黑体" panose="02010609060101010101" pitchFamily="49" charset="-122"/>
              </a:rPr>
              <a:t>位于双链的外侧。 </a:t>
            </a:r>
          </a:p>
          <a:p>
            <a:pPr marL="269875" indent="-269875" algn="just" eaLnBrk="1" hangingPunct="1">
              <a:lnSpc>
                <a:spcPct val="120000"/>
              </a:lnSpc>
              <a:spcBef>
                <a:spcPct val="30000"/>
              </a:spcBef>
              <a:buClr>
                <a:srgbClr val="000099"/>
              </a:buClr>
              <a:buFont typeface="Wingdings" panose="05000000000000000000" pitchFamily="2" charset="2"/>
              <a:buChar char="Ø"/>
            </a:pPr>
            <a:r>
              <a:rPr lang="zh-CN" altLang="en-US" sz="3200" b="0" dirty="0">
                <a:solidFill>
                  <a:srgbClr val="0000CC"/>
                </a:solidFill>
                <a:latin typeface="黑体" panose="02010609060101010101" pitchFamily="49" charset="-122"/>
                <a:ea typeface="黑体" panose="02010609060101010101" pitchFamily="49" charset="-122"/>
              </a:rPr>
              <a:t>疏水性的碱基</a:t>
            </a:r>
            <a:r>
              <a:rPr lang="zh-CN" altLang="en-US" sz="3200" b="0" dirty="0">
                <a:latin typeface="黑体" panose="02010609060101010101" pitchFamily="49" charset="-122"/>
                <a:ea typeface="黑体" panose="02010609060101010101" pitchFamily="49" charset="-122"/>
              </a:rPr>
              <a:t>位于双链的内侧。</a:t>
            </a:r>
          </a:p>
        </p:txBody>
      </p:sp>
      <p:sp>
        <p:nvSpPr>
          <p:cNvPr id="129027" name="Rectangle 3">
            <a:extLst>
              <a:ext uri="{FF2B5EF4-FFF2-40B4-BE49-F238E27FC236}">
                <a16:creationId xmlns:a16="http://schemas.microsoft.com/office/drawing/2014/main" id="{E60242B0-331B-45C4-A271-8353BD8E9D93}"/>
              </a:ext>
            </a:extLst>
          </p:cNvPr>
          <p:cNvSpPr>
            <a:spLocks noChangeArrowheads="1"/>
          </p:cNvSpPr>
          <p:nvPr/>
        </p:nvSpPr>
        <p:spPr bwMode="auto">
          <a:xfrm>
            <a:off x="1524000" y="142875"/>
            <a:ext cx="91440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endParaRPr lang="zh-CN" altLang="zh-CN" sz="4000">
              <a:solidFill>
                <a:srgbClr val="0000FF"/>
              </a:solidFill>
              <a:latin typeface="Arial" panose="020B0604020202020204" pitchFamily="34" charset="0"/>
              <a:ea typeface="楷体_GB2312" pitchFamily="49" charset="-122"/>
            </a:endParaRPr>
          </a:p>
        </p:txBody>
      </p:sp>
      <p:pic>
        <p:nvPicPr>
          <p:cNvPr id="129028" name="Picture 4" descr="ch5f13">
            <a:extLst>
              <a:ext uri="{FF2B5EF4-FFF2-40B4-BE49-F238E27FC236}">
                <a16:creationId xmlns:a16="http://schemas.microsoft.com/office/drawing/2014/main" id="{F772B6BC-EEFB-47A6-B924-0DB18B5E45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2064" y="1628776"/>
            <a:ext cx="3857625"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9" name="Rectangle 5">
            <a:extLst>
              <a:ext uri="{FF2B5EF4-FFF2-40B4-BE49-F238E27FC236}">
                <a16:creationId xmlns:a16="http://schemas.microsoft.com/office/drawing/2014/main" id="{AFCB6BF1-B68C-47E9-892F-273F04BFCD8E}"/>
              </a:ext>
            </a:extLst>
          </p:cNvPr>
          <p:cNvSpPr>
            <a:spLocks noChangeArrowheads="1"/>
          </p:cNvSpPr>
          <p:nvPr/>
        </p:nvSpPr>
        <p:spPr bwMode="auto">
          <a:xfrm>
            <a:off x="1524000" y="828675"/>
            <a:ext cx="360045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a:solidFill>
                  <a:srgbClr val="0000CC"/>
                </a:solidFill>
                <a:latin typeface="Times New Roman" panose="02020603050405020304" pitchFamily="18" charset="0"/>
                <a:ea typeface="黑体" panose="02010609060101010101" pitchFamily="49" charset="-122"/>
              </a:rPr>
              <a:t>骨架与碱基</a:t>
            </a:r>
          </a:p>
        </p:txBody>
      </p:sp>
    </p:spTree>
  </p:cSld>
  <p:clrMapOvr>
    <a:masterClrMapping/>
  </p:clrMapOvr>
  <p:transition spd="slow">
    <p:circl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E7CBC66E-F5CA-2BED-EEED-3067B8207DAE}"/>
              </a:ext>
            </a:extLst>
          </p:cNvPr>
          <p:cNvGrpSpPr/>
          <p:nvPr/>
        </p:nvGrpSpPr>
        <p:grpSpPr>
          <a:xfrm>
            <a:off x="4583832" y="972782"/>
            <a:ext cx="6571224" cy="5368925"/>
            <a:chOff x="4583832" y="972782"/>
            <a:chExt cx="6571224" cy="5368925"/>
          </a:xfrm>
        </p:grpSpPr>
        <p:pic>
          <p:nvPicPr>
            <p:cNvPr id="131075" name="Picture 4" descr="04_005">
              <a:extLst>
                <a:ext uri="{FF2B5EF4-FFF2-40B4-BE49-F238E27FC236}">
                  <a16:creationId xmlns:a16="http://schemas.microsoft.com/office/drawing/2014/main" id="{34156871-0892-4462-B8FE-CB48259502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859" b="14478"/>
            <a:stretch>
              <a:fillRect/>
            </a:stretch>
          </p:blipFill>
          <p:spPr bwMode="auto">
            <a:xfrm>
              <a:off x="4962219" y="972782"/>
              <a:ext cx="6192837" cy="536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DA5F1B23-6968-22DB-49E7-64C2F32B8CA2}"/>
                </a:ext>
              </a:extLst>
            </p:cNvPr>
            <p:cNvSpPr/>
            <p:nvPr/>
          </p:nvSpPr>
          <p:spPr bwMode="auto">
            <a:xfrm>
              <a:off x="4583832" y="2132856"/>
              <a:ext cx="936104" cy="1584176"/>
            </a:xfrm>
            <a:prstGeom prst="rect">
              <a:avLst/>
            </a:prstGeom>
            <a:solidFill>
              <a:srgbClr val="FFFFFF"/>
            </a:solidFill>
            <a:ln w="9525"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31074" name="Rectangle 3">
            <a:extLst>
              <a:ext uri="{FF2B5EF4-FFF2-40B4-BE49-F238E27FC236}">
                <a16:creationId xmlns:a16="http://schemas.microsoft.com/office/drawing/2014/main" id="{90899E1B-2E5E-4E9E-BFF2-7A1A282CB3E8}"/>
              </a:ext>
            </a:extLst>
          </p:cNvPr>
          <p:cNvSpPr>
            <a:spLocks noChangeArrowheads="1"/>
          </p:cNvSpPr>
          <p:nvPr/>
        </p:nvSpPr>
        <p:spPr bwMode="auto">
          <a:xfrm>
            <a:off x="1524001" y="6344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kumimoji="0" lang="zh-CN" altLang="zh-CN" sz="1800" b="0">
              <a:solidFill>
                <a:schemeClr val="tx1"/>
              </a:solidFill>
              <a:latin typeface="Lucida Sans Unicode" panose="020B0602030504020204" pitchFamily="34" charset="0"/>
              <a:ea typeface="黑体" panose="02010609060101010101" pitchFamily="49" charset="-122"/>
            </a:endParaRPr>
          </a:p>
        </p:txBody>
      </p:sp>
      <p:sp>
        <p:nvSpPr>
          <p:cNvPr id="131076" name="Rectangle 5">
            <a:extLst>
              <a:ext uri="{FF2B5EF4-FFF2-40B4-BE49-F238E27FC236}">
                <a16:creationId xmlns:a16="http://schemas.microsoft.com/office/drawing/2014/main" id="{1301A44B-C32D-4EB8-9895-747955FFFA5E}"/>
              </a:ext>
            </a:extLst>
          </p:cNvPr>
          <p:cNvSpPr>
            <a:spLocks noChangeArrowheads="1"/>
          </p:cNvSpPr>
          <p:nvPr/>
        </p:nvSpPr>
        <p:spPr bwMode="auto">
          <a:xfrm>
            <a:off x="3216276" y="2492375"/>
            <a:ext cx="576263" cy="1441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kumimoji="0" lang="zh-CN" altLang="zh-CN" sz="1800" b="0">
              <a:solidFill>
                <a:schemeClr val="tx1"/>
              </a:solidFill>
              <a:latin typeface="Lucida Sans Unicode" panose="020B0602030504020204" pitchFamily="34" charset="0"/>
              <a:ea typeface="黑体" panose="02010609060101010101" pitchFamily="49" charset="-122"/>
            </a:endParaRPr>
          </a:p>
        </p:txBody>
      </p:sp>
      <p:sp>
        <p:nvSpPr>
          <p:cNvPr id="131077" name="Rectangle 6">
            <a:extLst>
              <a:ext uri="{FF2B5EF4-FFF2-40B4-BE49-F238E27FC236}">
                <a16:creationId xmlns:a16="http://schemas.microsoft.com/office/drawing/2014/main" id="{83143077-4443-4241-BC89-6605F68FA932}"/>
              </a:ext>
            </a:extLst>
          </p:cNvPr>
          <p:cNvSpPr>
            <a:spLocks noChangeArrowheads="1"/>
          </p:cNvSpPr>
          <p:nvPr/>
        </p:nvSpPr>
        <p:spPr bwMode="auto">
          <a:xfrm>
            <a:off x="1098139" y="1268760"/>
            <a:ext cx="481253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sz="3200" b="0" dirty="0">
                <a:solidFill>
                  <a:srgbClr val="0000CC"/>
                </a:solidFill>
                <a:latin typeface="Times New Roman" panose="02020603050405020304" pitchFamily="18" charset="0"/>
                <a:ea typeface="黑体" panose="02010609060101010101" pitchFamily="49" charset="-122"/>
              </a:rPr>
              <a:t>碱基对平面与螺旋轴垂直</a:t>
            </a:r>
          </a:p>
        </p:txBody>
      </p:sp>
      <p:sp>
        <p:nvSpPr>
          <p:cNvPr id="131078" name="灯片编号占位符 1">
            <a:extLst>
              <a:ext uri="{FF2B5EF4-FFF2-40B4-BE49-F238E27FC236}">
                <a16:creationId xmlns:a16="http://schemas.microsoft.com/office/drawing/2014/main" id="{C354A084-2ABD-4932-9486-A499684FBC7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1A95D3E0-728C-479F-ADF6-905742F133A5}" type="slidenum">
              <a:rPr lang="zh-CN" altLang="en-US" sz="1200" b="0">
                <a:solidFill>
                  <a:srgbClr val="898F89"/>
                </a:solidFill>
              </a:rPr>
              <a:pPr>
                <a:spcBef>
                  <a:spcPct val="0"/>
                </a:spcBef>
                <a:buClrTx/>
                <a:buFontTx/>
                <a:buNone/>
              </a:pPr>
              <a:t>43</a:t>
            </a:fld>
            <a:endParaRPr lang="zh-CN" altLang="en-US" sz="1200" b="0">
              <a:solidFill>
                <a:srgbClr val="898F89"/>
              </a:solidFill>
            </a:endParaRP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413" name="Text Box 5">
            <a:hlinkClick r:id="rId3" action="ppaction://hlinksldjump"/>
            <a:extLst>
              <a:ext uri="{FF2B5EF4-FFF2-40B4-BE49-F238E27FC236}">
                <a16:creationId xmlns:a16="http://schemas.microsoft.com/office/drawing/2014/main" id="{B0B80B98-BCFB-42E6-98CF-A9135E37C699}"/>
              </a:ext>
            </a:extLst>
          </p:cNvPr>
          <p:cNvSpPr txBox="1">
            <a:spLocks noChangeArrowheads="1"/>
          </p:cNvSpPr>
          <p:nvPr/>
        </p:nvSpPr>
        <p:spPr bwMode="auto">
          <a:xfrm>
            <a:off x="1711325" y="1700214"/>
            <a:ext cx="5537201" cy="29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0363" indent="-360363">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70000"/>
              </a:lnSpc>
              <a:spcBef>
                <a:spcPct val="0"/>
              </a:spcBef>
              <a:buClrTx/>
              <a:buFont typeface="Wingdings" panose="05000000000000000000" pitchFamily="2" charset="2"/>
              <a:buNone/>
            </a:pPr>
            <a:r>
              <a:rPr lang="en-US" altLang="zh-CN" b="0" dirty="0">
                <a:solidFill>
                  <a:schemeClr val="tx1"/>
                </a:solidFill>
                <a:latin typeface="Times New Roman" panose="02020603050405020304" pitchFamily="18" charset="0"/>
                <a:ea typeface="黑体" panose="02010609060101010101" pitchFamily="49" charset="-122"/>
              </a:rPr>
              <a:t>3. DNA</a:t>
            </a:r>
            <a:r>
              <a:rPr lang="zh-CN" altLang="en-US" b="0" dirty="0">
                <a:solidFill>
                  <a:schemeClr val="tx1"/>
                </a:solidFill>
                <a:latin typeface="Times New Roman" panose="02020603050405020304" pitchFamily="18" charset="0"/>
                <a:ea typeface="黑体" panose="02010609060101010101" pitchFamily="49" charset="-122"/>
              </a:rPr>
              <a:t>双链是</a:t>
            </a:r>
            <a:r>
              <a:rPr lang="zh-CN" altLang="en-US" b="0" dirty="0">
                <a:solidFill>
                  <a:srgbClr val="FF0000"/>
                </a:solidFill>
                <a:latin typeface="Times New Roman" panose="02020603050405020304" pitchFamily="18" charset="0"/>
                <a:ea typeface="黑体" panose="02010609060101010101" pitchFamily="49" charset="-122"/>
              </a:rPr>
              <a:t>右手</a:t>
            </a:r>
            <a:r>
              <a:rPr lang="zh-CN" altLang="zh-CN" b="0" dirty="0">
                <a:solidFill>
                  <a:srgbClr val="FF0000"/>
                </a:solidFill>
                <a:latin typeface="Times New Roman" panose="02020603050405020304" pitchFamily="18" charset="0"/>
                <a:ea typeface="黑体" panose="02010609060101010101" pitchFamily="49" charset="-122"/>
              </a:rPr>
              <a:t>螺旋</a:t>
            </a:r>
            <a:r>
              <a:rPr lang="zh-CN" altLang="en-US" b="0" dirty="0">
                <a:solidFill>
                  <a:schemeClr val="tx1"/>
                </a:solidFill>
                <a:latin typeface="Times New Roman" panose="02020603050405020304" pitchFamily="18" charset="0"/>
                <a:ea typeface="黑体" panose="02010609060101010101" pitchFamily="49" charset="-122"/>
              </a:rPr>
              <a:t>结构</a:t>
            </a:r>
          </a:p>
          <a:p>
            <a:pPr eaLnBrk="1" hangingPunct="1">
              <a:lnSpc>
                <a:spcPct val="170000"/>
              </a:lnSpc>
              <a:spcBef>
                <a:spcPct val="0"/>
              </a:spcBef>
              <a:buClrTx/>
              <a:buFont typeface="Wingdings" panose="05000000000000000000" pitchFamily="2" charset="2"/>
              <a:buNone/>
            </a:pPr>
            <a:r>
              <a:rPr lang="zh-CN" altLang="en-US" b="0" dirty="0">
                <a:solidFill>
                  <a:schemeClr val="tx1"/>
                </a:solidFill>
                <a:latin typeface="Times New Roman" panose="02020603050405020304" pitchFamily="18" charset="0"/>
                <a:ea typeface="黑体" panose="02010609060101010101" pitchFamily="49" charset="-122"/>
              </a:rPr>
              <a:t>    </a:t>
            </a:r>
            <a:r>
              <a:rPr lang="zh-CN" altLang="zh-CN" b="0" dirty="0">
                <a:solidFill>
                  <a:schemeClr val="tx1"/>
                </a:solidFill>
                <a:latin typeface="Times New Roman" panose="02020603050405020304" pitchFamily="18" charset="0"/>
                <a:ea typeface="黑体" panose="02010609060101010101" pitchFamily="49" charset="-122"/>
              </a:rPr>
              <a:t>螺距3.</a:t>
            </a:r>
            <a:r>
              <a:rPr lang="en-US" altLang="zh-CN" b="0" dirty="0">
                <a:solidFill>
                  <a:schemeClr val="tx1"/>
                </a:solidFill>
                <a:latin typeface="Times New Roman" panose="02020603050405020304" pitchFamily="18" charset="0"/>
                <a:ea typeface="黑体" panose="02010609060101010101" pitchFamily="49" charset="-122"/>
              </a:rPr>
              <a:t>54</a:t>
            </a:r>
            <a:r>
              <a:rPr lang="zh-CN" altLang="zh-CN" b="0" dirty="0">
                <a:solidFill>
                  <a:schemeClr val="tx1"/>
                </a:solidFill>
                <a:latin typeface="Times New Roman" panose="02020603050405020304" pitchFamily="18" charset="0"/>
                <a:ea typeface="黑体" panose="02010609060101010101" pitchFamily="49" charset="-122"/>
              </a:rPr>
              <a:t>nm</a:t>
            </a:r>
            <a:endParaRPr lang="en-US" altLang="zh-CN" b="0" dirty="0">
              <a:solidFill>
                <a:schemeClr val="tx1"/>
              </a:solidFill>
              <a:latin typeface="Times New Roman" panose="02020603050405020304" pitchFamily="18" charset="0"/>
              <a:ea typeface="黑体" panose="02010609060101010101" pitchFamily="49" charset="-122"/>
            </a:endParaRPr>
          </a:p>
          <a:p>
            <a:pPr eaLnBrk="1" hangingPunct="1">
              <a:lnSpc>
                <a:spcPct val="170000"/>
              </a:lnSpc>
              <a:spcBef>
                <a:spcPct val="0"/>
              </a:spcBef>
              <a:buClrTx/>
              <a:buFont typeface="Wingdings" panose="05000000000000000000" pitchFamily="2" charset="2"/>
              <a:buNone/>
            </a:pPr>
            <a:r>
              <a:rPr lang="en-US" altLang="zh-CN" b="0" dirty="0">
                <a:solidFill>
                  <a:srgbClr val="C00000"/>
                </a:solidFill>
                <a:latin typeface="Times New Roman" panose="02020603050405020304" pitchFamily="18" charset="0"/>
                <a:ea typeface="黑体" panose="02010609060101010101" pitchFamily="49" charset="-122"/>
              </a:rPr>
              <a:t>    </a:t>
            </a:r>
            <a:r>
              <a:rPr lang="zh-CN" altLang="zh-CN" b="0" dirty="0">
                <a:solidFill>
                  <a:srgbClr val="FF0000"/>
                </a:solidFill>
                <a:latin typeface="Times New Roman" panose="02020603050405020304" pitchFamily="18" charset="0"/>
                <a:ea typeface="黑体" panose="02010609060101010101" pitchFamily="49" charset="-122"/>
              </a:rPr>
              <a:t>一圈10</a:t>
            </a:r>
            <a:r>
              <a:rPr lang="en-US" altLang="zh-CN" b="0" dirty="0">
                <a:solidFill>
                  <a:srgbClr val="FF0000"/>
                </a:solidFill>
                <a:latin typeface="Times New Roman" panose="02020603050405020304" pitchFamily="18" charset="0"/>
                <a:ea typeface="黑体" panose="02010609060101010101" pitchFamily="49" charset="-122"/>
              </a:rPr>
              <a:t>.5</a:t>
            </a:r>
            <a:r>
              <a:rPr lang="zh-CN" altLang="zh-CN" b="0" dirty="0">
                <a:solidFill>
                  <a:srgbClr val="FF0000"/>
                </a:solidFill>
                <a:latin typeface="Times New Roman" panose="02020603050405020304" pitchFamily="18" charset="0"/>
                <a:ea typeface="黑体" panose="02010609060101010101" pitchFamily="49" charset="-122"/>
              </a:rPr>
              <a:t>对碱基</a:t>
            </a:r>
            <a:endParaRPr lang="zh-CN" altLang="en-US" b="0" dirty="0">
              <a:solidFill>
                <a:srgbClr val="FF0000"/>
              </a:solidFill>
              <a:latin typeface="Times New Roman" panose="02020603050405020304" pitchFamily="18" charset="0"/>
              <a:ea typeface="黑体" panose="02010609060101010101" pitchFamily="49" charset="-122"/>
            </a:endParaRPr>
          </a:p>
          <a:p>
            <a:pPr eaLnBrk="1" hangingPunct="1">
              <a:lnSpc>
                <a:spcPct val="170000"/>
              </a:lnSpc>
              <a:spcBef>
                <a:spcPct val="0"/>
              </a:spcBef>
              <a:buClrTx/>
              <a:buFont typeface="Wingdings" panose="05000000000000000000" pitchFamily="2" charset="2"/>
              <a:buNone/>
            </a:pPr>
            <a:r>
              <a:rPr lang="zh-CN" altLang="en-US" b="0" dirty="0">
                <a:solidFill>
                  <a:schemeClr val="tx1"/>
                </a:solidFill>
                <a:latin typeface="Times New Roman" panose="02020603050405020304" pitchFamily="18" charset="0"/>
                <a:ea typeface="黑体" panose="02010609060101010101" pitchFamily="49" charset="-122"/>
              </a:rPr>
              <a:t>    螺旋直径为 </a:t>
            </a:r>
            <a:r>
              <a:rPr lang="en-US" altLang="zh-CN" b="0" dirty="0">
                <a:solidFill>
                  <a:schemeClr val="tx1"/>
                </a:solidFill>
                <a:latin typeface="Times New Roman" panose="02020603050405020304" pitchFamily="18" charset="0"/>
                <a:ea typeface="黑体" panose="02010609060101010101" pitchFamily="49" charset="-122"/>
              </a:rPr>
              <a:t>2.37 </a:t>
            </a:r>
            <a:r>
              <a:rPr lang="en-US" altLang="en-US" b="0" dirty="0">
                <a:solidFill>
                  <a:schemeClr val="tx1"/>
                </a:solidFill>
                <a:latin typeface="Times New Roman" panose="02020603050405020304" pitchFamily="18" charset="0"/>
                <a:ea typeface="黑体" panose="02010609060101010101" pitchFamily="49" charset="-122"/>
              </a:rPr>
              <a:t>nm</a:t>
            </a:r>
            <a:endParaRPr lang="en-US" altLang="zh-CN" b="0" dirty="0">
              <a:solidFill>
                <a:schemeClr val="tx1"/>
              </a:solidFill>
              <a:latin typeface="Times New Roman" panose="02020603050405020304" pitchFamily="18" charset="0"/>
              <a:ea typeface="黑体" panose="02010609060101010101" pitchFamily="49" charset="-122"/>
            </a:endParaRPr>
          </a:p>
        </p:txBody>
      </p:sp>
      <p:grpSp>
        <p:nvGrpSpPr>
          <p:cNvPr id="133123" name="Group 11">
            <a:extLst>
              <a:ext uri="{FF2B5EF4-FFF2-40B4-BE49-F238E27FC236}">
                <a16:creationId xmlns:a16="http://schemas.microsoft.com/office/drawing/2014/main" id="{501437AB-3763-4A50-AE90-E404D1A713E4}"/>
              </a:ext>
            </a:extLst>
          </p:cNvPr>
          <p:cNvGrpSpPr>
            <a:grpSpLocks/>
          </p:cNvGrpSpPr>
          <p:nvPr/>
        </p:nvGrpSpPr>
        <p:grpSpPr bwMode="auto">
          <a:xfrm>
            <a:off x="7535863" y="1150938"/>
            <a:ext cx="2944812" cy="5394324"/>
            <a:chOff x="3833" y="618"/>
            <a:chExt cx="1855" cy="3398"/>
          </a:xfrm>
        </p:grpSpPr>
        <p:pic>
          <p:nvPicPr>
            <p:cNvPr id="133124" name="Picture 6" descr="DNA双螺旋示意图">
              <a:hlinkClick r:id="rId4" action="ppaction://hlinksldjump"/>
              <a:extLst>
                <a:ext uri="{FF2B5EF4-FFF2-40B4-BE49-F238E27FC236}">
                  <a16:creationId xmlns:a16="http://schemas.microsoft.com/office/drawing/2014/main" id="{5E400017-1F55-473E-8303-DDF7AEADCFEE}"/>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18674"/>
            <a:stretch>
              <a:fillRect/>
            </a:stretch>
          </p:blipFill>
          <p:spPr bwMode="auto">
            <a:xfrm>
              <a:off x="3833" y="618"/>
              <a:ext cx="1700" cy="33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33125" name="Rectangle 8">
              <a:extLst>
                <a:ext uri="{FF2B5EF4-FFF2-40B4-BE49-F238E27FC236}">
                  <a16:creationId xmlns:a16="http://schemas.microsoft.com/office/drawing/2014/main" id="{F3257D4A-1508-47A4-B11C-CDC1A48075DB}"/>
                </a:ext>
              </a:extLst>
            </p:cNvPr>
            <p:cNvSpPr>
              <a:spLocks noChangeArrowheads="1"/>
            </p:cNvSpPr>
            <p:nvPr/>
          </p:nvSpPr>
          <p:spPr bwMode="auto">
            <a:xfrm>
              <a:off x="4171" y="3871"/>
              <a:ext cx="573" cy="14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40000"/>
                </a:lnSpc>
                <a:spcBef>
                  <a:spcPct val="0"/>
                </a:spcBef>
                <a:buClrTx/>
                <a:buFontTx/>
                <a:buNone/>
              </a:pPr>
              <a:r>
                <a:rPr lang="en-US" altLang="zh-CN" sz="1800">
                  <a:solidFill>
                    <a:srgbClr val="000000"/>
                  </a:solidFill>
                  <a:latin typeface="Times New Roman" panose="02020603050405020304" pitchFamily="18" charset="0"/>
                  <a:ea typeface="黑体" panose="02010609060101010101" pitchFamily="49" charset="-122"/>
                </a:rPr>
                <a:t>2.37</a:t>
              </a:r>
              <a:r>
                <a:rPr lang="en-US" altLang="en-US" sz="1800">
                  <a:solidFill>
                    <a:srgbClr val="000000"/>
                  </a:solidFill>
                  <a:latin typeface="Times New Roman" panose="02020603050405020304" pitchFamily="18" charset="0"/>
                  <a:ea typeface="黑体" panose="02010609060101010101" pitchFamily="49" charset="-122"/>
                </a:rPr>
                <a:t>nm</a:t>
              </a:r>
              <a:endParaRPr lang="en-US" altLang="zh-CN" sz="1800">
                <a:solidFill>
                  <a:srgbClr val="000000"/>
                </a:solidFill>
                <a:latin typeface="Times New Roman" panose="02020603050405020304" pitchFamily="18" charset="0"/>
                <a:ea typeface="黑体" panose="02010609060101010101" pitchFamily="49" charset="-122"/>
              </a:endParaRPr>
            </a:p>
          </p:txBody>
        </p:sp>
        <p:sp>
          <p:nvSpPr>
            <p:cNvPr id="133126" name="Rectangle 9">
              <a:extLst>
                <a:ext uri="{FF2B5EF4-FFF2-40B4-BE49-F238E27FC236}">
                  <a16:creationId xmlns:a16="http://schemas.microsoft.com/office/drawing/2014/main" id="{8BFC8A3C-6AB1-4CBC-BFEB-2F3E0BD20A54}"/>
                </a:ext>
              </a:extLst>
            </p:cNvPr>
            <p:cNvSpPr>
              <a:spLocks noChangeArrowheads="1"/>
            </p:cNvSpPr>
            <p:nvPr/>
          </p:nvSpPr>
          <p:spPr bwMode="auto">
            <a:xfrm>
              <a:off x="5143" y="2357"/>
              <a:ext cx="545" cy="1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60000"/>
                </a:lnSpc>
                <a:spcBef>
                  <a:spcPct val="0"/>
                </a:spcBef>
                <a:buClrTx/>
                <a:buFontTx/>
                <a:buNone/>
              </a:pPr>
              <a:r>
                <a:rPr lang="zh-CN" altLang="zh-CN" sz="1600">
                  <a:solidFill>
                    <a:srgbClr val="000000"/>
                  </a:solidFill>
                  <a:latin typeface="Times New Roman" panose="02020603050405020304" pitchFamily="18" charset="0"/>
                  <a:ea typeface="黑体" panose="02010609060101010101" pitchFamily="49" charset="-122"/>
                </a:rPr>
                <a:t>3.</a:t>
              </a:r>
              <a:r>
                <a:rPr lang="en-US" altLang="zh-CN" sz="1600">
                  <a:solidFill>
                    <a:srgbClr val="000000"/>
                  </a:solidFill>
                  <a:latin typeface="Times New Roman" panose="02020603050405020304" pitchFamily="18" charset="0"/>
                  <a:ea typeface="黑体" panose="02010609060101010101" pitchFamily="49" charset="-122"/>
                </a:rPr>
                <a:t>54</a:t>
              </a:r>
              <a:r>
                <a:rPr lang="zh-CN" altLang="zh-CN" sz="1600">
                  <a:solidFill>
                    <a:srgbClr val="000000"/>
                  </a:solidFill>
                  <a:latin typeface="Times New Roman" panose="02020603050405020304" pitchFamily="18" charset="0"/>
                  <a:ea typeface="黑体" panose="02010609060101010101" pitchFamily="49" charset="-122"/>
                </a:rPr>
                <a:t>nm</a:t>
              </a:r>
              <a:endParaRPr lang="en-US" altLang="zh-CN" sz="1600">
                <a:solidFill>
                  <a:srgbClr val="000000"/>
                </a:solidFill>
                <a:latin typeface="Times New Roman" panose="02020603050405020304" pitchFamily="18" charset="0"/>
                <a:ea typeface="黑体" panose="02010609060101010101" pitchFamily="49" charset="-122"/>
              </a:endParaRPr>
            </a:p>
          </p:txBody>
        </p:sp>
      </p:gr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85413"/>
                                        </p:tgtEl>
                                        <p:attrNameLst>
                                          <p:attrName>style.visibility</p:attrName>
                                        </p:attrNameLst>
                                      </p:cBhvr>
                                      <p:to>
                                        <p:strVal val="visible"/>
                                      </p:to>
                                    </p:set>
                                    <p:animEffect transition="in" filter="wipe(left)">
                                      <p:cBhvr>
                                        <p:cTn id="7" dur="500"/>
                                        <p:tgtEl>
                                          <p:spTgt spid="785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413"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61" name="Text Box 5">
            <a:hlinkClick r:id="rId3" action="ppaction://hlinksldjump"/>
            <a:extLst>
              <a:ext uri="{FF2B5EF4-FFF2-40B4-BE49-F238E27FC236}">
                <a16:creationId xmlns:a16="http://schemas.microsoft.com/office/drawing/2014/main" id="{1AAB40BA-D03F-4B33-B5FB-F56B534B67B2}"/>
              </a:ext>
            </a:extLst>
          </p:cNvPr>
          <p:cNvSpPr txBox="1">
            <a:spLocks noChangeArrowheads="1"/>
          </p:cNvSpPr>
          <p:nvPr/>
        </p:nvSpPr>
        <p:spPr bwMode="auto">
          <a:xfrm>
            <a:off x="1703710" y="1371096"/>
            <a:ext cx="8640440" cy="4115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0363" indent="-360363">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50000"/>
              </a:lnSpc>
              <a:spcBef>
                <a:spcPct val="0"/>
              </a:spcBef>
              <a:buClrTx/>
              <a:buFont typeface="Wingdings" panose="05000000000000000000" pitchFamily="2" charset="2"/>
              <a:buNone/>
            </a:pPr>
            <a:r>
              <a:rPr lang="en-US" altLang="zh-CN" b="0" dirty="0">
                <a:solidFill>
                  <a:srgbClr val="C00000"/>
                </a:solidFill>
                <a:latin typeface="Times New Roman" panose="02020603050405020304" pitchFamily="18" charset="0"/>
                <a:ea typeface="黑体" panose="02010609060101010101" pitchFamily="49" charset="-122"/>
              </a:rPr>
              <a:t>4. DNA</a:t>
            </a:r>
            <a:r>
              <a:rPr lang="zh-CN" altLang="en-US" b="0" dirty="0">
                <a:solidFill>
                  <a:srgbClr val="C00000"/>
                </a:solidFill>
                <a:latin typeface="Times New Roman" panose="02020603050405020304" pitchFamily="18" charset="0"/>
                <a:ea typeface="黑体" panose="02010609060101010101" pitchFamily="49" charset="-122"/>
              </a:rPr>
              <a:t>双螺旋结构的维持</a:t>
            </a:r>
            <a:r>
              <a:rPr lang="en-US" altLang="zh-CN" b="0" dirty="0">
                <a:solidFill>
                  <a:srgbClr val="C00000"/>
                </a:solidFill>
                <a:latin typeface="Times New Roman" panose="02020603050405020304" pitchFamily="18" charset="0"/>
                <a:ea typeface="黑体" panose="02010609060101010101" pitchFamily="49" charset="-122"/>
              </a:rPr>
              <a:t>:</a:t>
            </a:r>
          </a:p>
          <a:p>
            <a:pPr eaLnBrk="1" hangingPunct="1">
              <a:lnSpc>
                <a:spcPct val="130000"/>
              </a:lnSpc>
              <a:spcBef>
                <a:spcPct val="0"/>
              </a:spcBef>
              <a:buClrTx/>
              <a:buFont typeface="Wingdings" panose="05000000000000000000" pitchFamily="2" charset="2"/>
              <a:buChar char="Ø"/>
            </a:pPr>
            <a:r>
              <a:rPr lang="zh-CN" altLang="en-US" sz="2600" b="0" dirty="0">
                <a:solidFill>
                  <a:srgbClr val="000000"/>
                </a:solidFill>
                <a:latin typeface="Times New Roman" panose="02020603050405020304" pitchFamily="18" charset="0"/>
                <a:ea typeface="黑体" panose="02010609060101010101" pitchFamily="49" charset="-122"/>
              </a:rPr>
              <a:t>大量金属离子（比如</a:t>
            </a:r>
            <a:r>
              <a:rPr lang="en-US" altLang="zh-CN" sz="2600" b="0" dirty="0">
                <a:solidFill>
                  <a:srgbClr val="000000"/>
                </a:solidFill>
                <a:latin typeface="Times New Roman" panose="02020603050405020304" pitchFamily="18" charset="0"/>
                <a:ea typeface="黑体" panose="02010609060101010101" pitchFamily="49" charset="-122"/>
              </a:rPr>
              <a:t>Mg</a:t>
            </a:r>
            <a:r>
              <a:rPr lang="en-US" altLang="zh-CN" sz="2600" b="0" baseline="30000" dirty="0">
                <a:solidFill>
                  <a:srgbClr val="000000"/>
                </a:solidFill>
                <a:latin typeface="Times New Roman" panose="02020603050405020304" pitchFamily="18" charset="0"/>
                <a:ea typeface="黑体" panose="02010609060101010101" pitchFamily="49" charset="-122"/>
              </a:rPr>
              <a:t>2+</a:t>
            </a:r>
            <a:r>
              <a:rPr lang="en-US" altLang="zh-CN" sz="2600" b="0" dirty="0">
                <a:solidFill>
                  <a:srgbClr val="000000"/>
                </a:solidFill>
                <a:latin typeface="Times New Roman" panose="02020603050405020304" pitchFamily="18" charset="0"/>
                <a:ea typeface="黑体" panose="02010609060101010101" pitchFamily="49" charset="-122"/>
              </a:rPr>
              <a:t>)</a:t>
            </a:r>
            <a:r>
              <a:rPr lang="zh-CN" altLang="en-US" sz="2600" b="0" dirty="0">
                <a:solidFill>
                  <a:srgbClr val="000000"/>
                </a:solidFill>
                <a:latin typeface="Times New Roman" panose="02020603050405020304" pitchFamily="18" charset="0"/>
                <a:ea typeface="黑体" panose="02010609060101010101" pitchFamily="49" charset="-122"/>
              </a:rPr>
              <a:t>中和</a:t>
            </a:r>
            <a:r>
              <a:rPr lang="en-US" altLang="zh-CN" sz="2600" b="0" dirty="0">
                <a:solidFill>
                  <a:srgbClr val="000000"/>
                </a:solidFill>
                <a:latin typeface="Times New Roman" panose="02020603050405020304" pitchFamily="18" charset="0"/>
                <a:ea typeface="黑体" panose="02010609060101010101" pitchFamily="49" charset="-122"/>
              </a:rPr>
              <a:t>/</a:t>
            </a:r>
            <a:r>
              <a:rPr lang="zh-CN" altLang="en-US" sz="2600" b="0" dirty="0">
                <a:solidFill>
                  <a:srgbClr val="000000"/>
                </a:solidFill>
                <a:latin typeface="Times New Roman" panose="02020603050405020304" pitchFamily="18" charset="0"/>
                <a:ea typeface="黑体" panose="02010609060101010101" pitchFamily="49" charset="-122"/>
              </a:rPr>
              <a:t>屏蔽了磷酸核糖骨架中磷酸基团的负电荷</a:t>
            </a:r>
            <a:endParaRPr lang="en-US" altLang="zh-CN" sz="2600" b="0" dirty="0">
              <a:solidFill>
                <a:srgbClr val="000000"/>
              </a:solidFill>
              <a:latin typeface="Times New Roman" panose="02020603050405020304" pitchFamily="18" charset="0"/>
              <a:ea typeface="黑体" panose="02010609060101010101" pitchFamily="49" charset="-122"/>
            </a:endParaRPr>
          </a:p>
          <a:p>
            <a:pPr eaLnBrk="1" hangingPunct="1">
              <a:lnSpc>
                <a:spcPct val="180000"/>
              </a:lnSpc>
              <a:spcBef>
                <a:spcPct val="0"/>
              </a:spcBef>
              <a:buClrTx/>
              <a:buFont typeface="Wingdings" panose="05000000000000000000" pitchFamily="2" charset="2"/>
              <a:buChar char="Ø"/>
            </a:pPr>
            <a:r>
              <a:rPr lang="zh-CN" altLang="en-US" sz="2600" b="0" dirty="0">
                <a:solidFill>
                  <a:srgbClr val="0000CC"/>
                </a:solidFill>
                <a:latin typeface="Times New Roman" panose="02020603050405020304" pitchFamily="18" charset="0"/>
                <a:ea typeface="黑体" panose="02010609060101010101" pitchFamily="49" charset="-122"/>
              </a:rPr>
              <a:t>横向</a:t>
            </a:r>
            <a:r>
              <a:rPr lang="en-US" altLang="zh-CN" sz="2600" b="0" dirty="0">
                <a:solidFill>
                  <a:srgbClr val="0000CC"/>
                </a:solidFill>
                <a:latin typeface="Times New Roman" panose="02020603050405020304" pitchFamily="18" charset="0"/>
                <a:ea typeface="黑体" panose="02010609060101010101" pitchFamily="49" charset="-122"/>
              </a:rPr>
              <a:t>:  </a:t>
            </a:r>
            <a:r>
              <a:rPr lang="zh-CN" altLang="en-US" sz="2600" b="0" dirty="0">
                <a:solidFill>
                  <a:srgbClr val="000000"/>
                </a:solidFill>
                <a:latin typeface="Times New Roman" panose="02020603050405020304" pitchFamily="18" charset="0"/>
                <a:ea typeface="黑体" panose="02010609060101010101" pitchFamily="49" charset="-122"/>
              </a:rPr>
              <a:t>碱基对之间的</a:t>
            </a:r>
            <a:r>
              <a:rPr lang="zh-CN" altLang="en-US" sz="2600" b="0" dirty="0">
                <a:solidFill>
                  <a:srgbClr val="FF0000"/>
                </a:solidFill>
                <a:latin typeface="Times New Roman" panose="02020603050405020304" pitchFamily="18" charset="0"/>
                <a:ea typeface="黑体" panose="02010609060101010101" pitchFamily="49" charset="-122"/>
              </a:rPr>
              <a:t>氢键</a:t>
            </a:r>
          </a:p>
          <a:p>
            <a:pPr eaLnBrk="1" hangingPunct="1">
              <a:lnSpc>
                <a:spcPct val="180000"/>
              </a:lnSpc>
              <a:spcBef>
                <a:spcPct val="0"/>
              </a:spcBef>
              <a:buClrTx/>
              <a:buFont typeface="Wingdings" panose="05000000000000000000" pitchFamily="2" charset="2"/>
              <a:buChar char="Ø"/>
            </a:pPr>
            <a:r>
              <a:rPr lang="zh-CN" altLang="en-US" sz="2600" b="0" dirty="0">
                <a:solidFill>
                  <a:srgbClr val="0000CC"/>
                </a:solidFill>
                <a:latin typeface="Times New Roman" panose="02020603050405020304" pitchFamily="18" charset="0"/>
                <a:ea typeface="黑体" panose="02010609060101010101" pitchFamily="49" charset="-122"/>
              </a:rPr>
              <a:t>纵向</a:t>
            </a:r>
            <a:r>
              <a:rPr lang="en-US" altLang="zh-CN" sz="2600" b="0" dirty="0">
                <a:solidFill>
                  <a:srgbClr val="0000CC"/>
                </a:solidFill>
                <a:latin typeface="Times New Roman" panose="02020603050405020304" pitchFamily="18" charset="0"/>
                <a:ea typeface="黑体" panose="02010609060101010101" pitchFamily="49" charset="-122"/>
              </a:rPr>
              <a:t>:  </a:t>
            </a:r>
            <a:r>
              <a:rPr lang="zh-CN" altLang="en-US" sz="2600" b="0" dirty="0">
                <a:solidFill>
                  <a:srgbClr val="FF0000"/>
                </a:solidFill>
                <a:latin typeface="Times New Roman" panose="02020603050405020304" pitchFamily="18" charset="0"/>
                <a:ea typeface="黑体" panose="02010609060101010101" pitchFamily="49" charset="-122"/>
              </a:rPr>
              <a:t>碱基堆积力</a:t>
            </a:r>
            <a:r>
              <a:rPr lang="en-US" altLang="zh-CN" sz="2600" b="0" dirty="0">
                <a:solidFill>
                  <a:srgbClr val="FF0000"/>
                </a:solidFill>
                <a:latin typeface="Times New Roman" panose="02020603050405020304" pitchFamily="18" charset="0"/>
                <a:ea typeface="黑体" panose="02010609060101010101" pitchFamily="49" charset="-122"/>
              </a:rPr>
              <a:t>(base stacking force)</a:t>
            </a:r>
            <a:endParaRPr lang="en-US" altLang="zh-CN" sz="2600" b="0" dirty="0">
              <a:solidFill>
                <a:srgbClr val="000099"/>
              </a:solidFill>
              <a:latin typeface="Calibri" panose="020F0502020204030204" pitchFamily="34" charset="0"/>
              <a:ea typeface="宋体" panose="02010600030101010101" pitchFamily="2" charset="-122"/>
            </a:endParaRPr>
          </a:p>
          <a:p>
            <a:pPr marL="360000" indent="0" eaLnBrk="1" hangingPunct="1">
              <a:lnSpc>
                <a:spcPct val="120000"/>
              </a:lnSpc>
              <a:spcBef>
                <a:spcPct val="0"/>
              </a:spcBef>
              <a:buClrTx/>
              <a:buNone/>
            </a:pPr>
            <a:r>
              <a:rPr lang="zh-CN" altLang="en-US" sz="2600" b="0" dirty="0">
                <a:solidFill>
                  <a:srgbClr val="0000CC"/>
                </a:solidFill>
                <a:latin typeface="黑体" panose="02010609060101010101" pitchFamily="49" charset="-122"/>
                <a:ea typeface="黑体" panose="02010609060101010101" pitchFamily="49" charset="-122"/>
              </a:rPr>
              <a:t>碱基堆积力</a:t>
            </a:r>
            <a:r>
              <a:rPr lang="en-US" altLang="zh-CN" sz="2600" b="0" dirty="0">
                <a:latin typeface="黑体" panose="02010609060101010101" pitchFamily="49" charset="-122"/>
                <a:ea typeface="黑体" panose="02010609060101010101" pitchFamily="49" charset="-122"/>
              </a:rPr>
              <a:t>(base stacking interaction)</a:t>
            </a:r>
            <a:r>
              <a:rPr lang="zh-CN" altLang="en-US" sz="2600" b="0" dirty="0">
                <a:latin typeface="黑体" panose="02010609060101010101" pitchFamily="49" charset="-122"/>
                <a:ea typeface="黑体" panose="02010609060101010101" pitchFamily="49" charset="-122"/>
              </a:rPr>
              <a:t>是维持</a:t>
            </a:r>
            <a:r>
              <a:rPr lang="en-US" altLang="zh-CN" sz="2600" b="0" dirty="0">
                <a:latin typeface="黑体" panose="02010609060101010101" pitchFamily="49" charset="-122"/>
                <a:ea typeface="黑体" panose="02010609060101010101" pitchFamily="49" charset="-122"/>
              </a:rPr>
              <a:t>DNA</a:t>
            </a:r>
            <a:r>
              <a:rPr lang="zh-CN" altLang="en-US" sz="2600" b="0" dirty="0">
                <a:latin typeface="黑体" panose="02010609060101010101" pitchFamily="49" charset="-122"/>
                <a:ea typeface="黑体" panose="02010609060101010101" pitchFamily="49" charset="-122"/>
              </a:rPr>
              <a:t>双螺旋结构的</a:t>
            </a:r>
            <a:r>
              <a:rPr lang="zh-CN" altLang="en-US" sz="2600" b="0" dirty="0">
                <a:solidFill>
                  <a:srgbClr val="0000CC"/>
                </a:solidFill>
                <a:latin typeface="黑体" panose="02010609060101010101" pitchFamily="49" charset="-122"/>
                <a:ea typeface="黑体" panose="02010609060101010101" pitchFamily="49" charset="-122"/>
              </a:rPr>
              <a:t>主要作用力</a:t>
            </a:r>
            <a:r>
              <a:rPr lang="zh-CN" altLang="en-US" sz="2600" b="0" dirty="0">
                <a:latin typeface="黑体" panose="02010609060101010101" pitchFamily="49" charset="-122"/>
                <a:ea typeface="黑体" panose="02010609060101010101" pitchFamily="49" charset="-122"/>
              </a:rPr>
              <a:t>，包括疏水相互作用和范德华力。 </a:t>
            </a:r>
            <a:endParaRPr lang="en-US" altLang="zh-CN" sz="2600" b="0" dirty="0">
              <a:latin typeface="黑体" panose="02010609060101010101" pitchFamily="49" charset="-122"/>
              <a:ea typeface="黑体" panose="02010609060101010101" pitchFamily="49" charset="-122"/>
            </a:endParaRPr>
          </a:p>
        </p:txBody>
      </p:sp>
      <p:sp>
        <p:nvSpPr>
          <p:cNvPr id="135172" name="动作按钮: 影片 1">
            <a:hlinkClick r:id="" action="ppaction://noaction" highlightClick="1"/>
            <a:extLst>
              <a:ext uri="{FF2B5EF4-FFF2-40B4-BE49-F238E27FC236}">
                <a16:creationId xmlns:a16="http://schemas.microsoft.com/office/drawing/2014/main" id="{EB27054A-39B7-47D9-9359-6D19EDE03D28}"/>
              </a:ext>
            </a:extLst>
          </p:cNvPr>
          <p:cNvSpPr>
            <a:spLocks noChangeArrowheads="1"/>
          </p:cNvSpPr>
          <p:nvPr/>
        </p:nvSpPr>
        <p:spPr bwMode="auto">
          <a:xfrm>
            <a:off x="9767888" y="6202364"/>
            <a:ext cx="576262" cy="250825"/>
          </a:xfrm>
          <a:prstGeom prst="actionButtonMovie">
            <a:avLst/>
          </a:prstGeom>
          <a:solidFill>
            <a:schemeClr val="accent1"/>
          </a:solidFill>
          <a:ln w="9525" algn="ctr">
            <a:solidFill>
              <a:schemeClr val="tx1"/>
            </a:solidFill>
            <a:round/>
            <a:headEnd/>
            <a:tailEnd/>
          </a:ln>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87461"/>
                                        </p:tgtEl>
                                        <p:attrNameLst>
                                          <p:attrName>style.visibility</p:attrName>
                                        </p:attrNameLst>
                                      </p:cBhvr>
                                      <p:to>
                                        <p:strVal val="visible"/>
                                      </p:to>
                                    </p:set>
                                    <p:animEffect transition="in" filter="wipe(left)">
                                      <p:cBhvr>
                                        <p:cTn id="7" dur="500"/>
                                        <p:tgtEl>
                                          <p:spTgt spid="787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7461"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4F3A07-F552-4B1F-BAB6-46E31D7D2AFB}"/>
              </a:ext>
            </a:extLst>
          </p:cNvPr>
          <p:cNvSpPr>
            <a:spLocks noGrp="1"/>
          </p:cNvSpPr>
          <p:nvPr>
            <p:ph type="title"/>
          </p:nvPr>
        </p:nvSpPr>
        <p:spPr>
          <a:xfrm>
            <a:off x="1919536" y="1484784"/>
            <a:ext cx="8153400" cy="533400"/>
          </a:xfrm>
        </p:spPr>
        <p:txBody>
          <a:bodyPr/>
          <a:lstStyle/>
          <a:p>
            <a:r>
              <a:rPr lang="en-US" altLang="zh-CN" dirty="0"/>
              <a:t>DNA</a:t>
            </a:r>
            <a:r>
              <a:rPr lang="zh-CN" altLang="en-US" dirty="0"/>
              <a:t>二级结构记忆口诀</a:t>
            </a:r>
          </a:p>
        </p:txBody>
      </p:sp>
      <p:sp>
        <p:nvSpPr>
          <p:cNvPr id="3" name="内容占位符 2">
            <a:extLst>
              <a:ext uri="{FF2B5EF4-FFF2-40B4-BE49-F238E27FC236}">
                <a16:creationId xmlns:a16="http://schemas.microsoft.com/office/drawing/2014/main" id="{2B124034-E7D6-48A8-88A9-204FE80DAD36}"/>
              </a:ext>
            </a:extLst>
          </p:cNvPr>
          <p:cNvSpPr>
            <a:spLocks noGrp="1"/>
          </p:cNvSpPr>
          <p:nvPr>
            <p:ph idx="1"/>
          </p:nvPr>
        </p:nvSpPr>
        <p:spPr>
          <a:xfrm>
            <a:off x="1919536" y="2708920"/>
            <a:ext cx="8153400" cy="2088232"/>
          </a:xfrm>
        </p:spPr>
        <p:txBody>
          <a:bodyPr/>
          <a:lstStyle/>
          <a:p>
            <a:pPr algn="ctr"/>
            <a:r>
              <a:rPr lang="zh-CN" altLang="en-US" dirty="0">
                <a:solidFill>
                  <a:srgbClr val="000000"/>
                </a:solidFill>
              </a:rPr>
              <a:t>逆向平行双螺旋，内有碱基配氢键</a:t>
            </a:r>
            <a:r>
              <a:rPr lang="en-US" altLang="zh-CN" dirty="0">
                <a:solidFill>
                  <a:srgbClr val="000000"/>
                </a:solidFill>
              </a:rPr>
              <a:t>;</a:t>
            </a:r>
          </a:p>
          <a:p>
            <a:pPr marL="0" indent="0" algn="ctr">
              <a:buNone/>
            </a:pPr>
            <a:endParaRPr lang="en-US" altLang="zh-CN" dirty="0">
              <a:solidFill>
                <a:srgbClr val="000000"/>
              </a:solidFill>
            </a:endParaRPr>
          </a:p>
          <a:p>
            <a:pPr algn="ctr"/>
            <a:r>
              <a:rPr lang="zh-CN" altLang="en-US" dirty="0">
                <a:solidFill>
                  <a:srgbClr val="000000"/>
                </a:solidFill>
              </a:rPr>
              <a:t>平行碱基堆积力，三个数字记心间</a:t>
            </a:r>
          </a:p>
        </p:txBody>
      </p:sp>
      <p:sp>
        <p:nvSpPr>
          <p:cNvPr id="5" name="文本框 4">
            <a:extLst>
              <a:ext uri="{FF2B5EF4-FFF2-40B4-BE49-F238E27FC236}">
                <a16:creationId xmlns:a16="http://schemas.microsoft.com/office/drawing/2014/main" id="{B15E37ED-419E-4184-B2B7-429DD14D2E13}"/>
              </a:ext>
            </a:extLst>
          </p:cNvPr>
          <p:cNvSpPr txBox="1"/>
          <p:nvPr/>
        </p:nvSpPr>
        <p:spPr>
          <a:xfrm>
            <a:off x="2351584" y="4902221"/>
            <a:ext cx="8352928" cy="461665"/>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双螺旋直径为</a:t>
            </a:r>
            <a:r>
              <a:rPr lang="en-US" altLang="zh-CN" dirty="0">
                <a:solidFill>
                  <a:srgbClr val="000000"/>
                </a:solidFill>
                <a:latin typeface="微软雅黑" panose="020B0503020204020204" pitchFamily="34" charset="-122"/>
                <a:ea typeface="微软雅黑" panose="020B0503020204020204" pitchFamily="34" charset="-122"/>
              </a:rPr>
              <a:t>2.37nm</a:t>
            </a:r>
            <a:r>
              <a:rPr lang="zh-CN" altLang="en-US" dirty="0">
                <a:solidFill>
                  <a:srgbClr val="000000"/>
                </a:solidFill>
                <a:latin typeface="微软雅黑" panose="020B0503020204020204" pitchFamily="34" charset="-122"/>
                <a:ea typeface="微软雅黑" panose="020B0503020204020204" pitchFamily="34" charset="-122"/>
              </a:rPr>
              <a:t>，一圈螺距</a:t>
            </a:r>
            <a:r>
              <a:rPr lang="en-US" altLang="zh-CN" dirty="0">
                <a:solidFill>
                  <a:srgbClr val="000000"/>
                </a:solidFill>
                <a:latin typeface="微软雅黑" panose="020B0503020204020204" pitchFamily="34" charset="-122"/>
                <a:ea typeface="微软雅黑" panose="020B0503020204020204" pitchFamily="34" charset="-122"/>
              </a:rPr>
              <a:t>3.54nm</a:t>
            </a:r>
            <a:r>
              <a:rPr lang="zh-CN" altLang="en-US" dirty="0">
                <a:solidFill>
                  <a:srgbClr val="000000"/>
                </a:solidFill>
                <a:latin typeface="微软雅黑" panose="020B0503020204020204" pitchFamily="34" charset="-122"/>
                <a:ea typeface="微软雅黑" panose="020B0503020204020204" pitchFamily="34" charset="-122"/>
              </a:rPr>
              <a:t>，含</a:t>
            </a:r>
            <a:r>
              <a:rPr lang="en-US" altLang="zh-CN" dirty="0">
                <a:solidFill>
                  <a:srgbClr val="000000"/>
                </a:solidFill>
                <a:latin typeface="微软雅黑" panose="020B0503020204020204" pitchFamily="34" charset="-122"/>
                <a:ea typeface="微软雅黑" panose="020B0503020204020204" pitchFamily="34" charset="-122"/>
              </a:rPr>
              <a:t>10.5</a:t>
            </a:r>
            <a:r>
              <a:rPr lang="zh-CN" altLang="en-US" dirty="0">
                <a:solidFill>
                  <a:srgbClr val="000000"/>
                </a:solidFill>
                <a:latin typeface="微软雅黑" panose="020B0503020204020204" pitchFamily="34" charset="-122"/>
                <a:ea typeface="微软雅黑" panose="020B0503020204020204" pitchFamily="34" charset="-122"/>
              </a:rPr>
              <a:t>对碱基。</a:t>
            </a:r>
          </a:p>
        </p:txBody>
      </p:sp>
    </p:spTree>
    <p:extLst>
      <p:ext uri="{BB962C8B-B14F-4D97-AF65-F5344CB8AC3E}">
        <p14:creationId xmlns:p14="http://schemas.microsoft.com/office/powerpoint/2010/main" val="3513182855"/>
      </p:ext>
    </p:extLst>
  </p:cSld>
  <p:clrMapOvr>
    <a:masterClrMapping/>
  </p:clrMapOvr>
  <p:transition spd="slow">
    <p:circle/>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7218" name="Rectangle 3">
            <a:extLst>
              <a:ext uri="{FF2B5EF4-FFF2-40B4-BE49-F238E27FC236}">
                <a16:creationId xmlns:a16="http://schemas.microsoft.com/office/drawing/2014/main" id="{CB3EB607-AEBA-44EA-AE52-1F51E9F76DE4}"/>
              </a:ext>
            </a:extLst>
          </p:cNvPr>
          <p:cNvSpPr>
            <a:spLocks noChangeArrowheads="1"/>
          </p:cNvSpPr>
          <p:nvPr/>
        </p:nvSpPr>
        <p:spPr bwMode="auto">
          <a:xfrm>
            <a:off x="7073268" y="836712"/>
            <a:ext cx="4608513" cy="3966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kumimoji="0" lang="zh-CN" altLang="en-US" b="0" dirty="0">
                <a:solidFill>
                  <a:srgbClr val="0000CC"/>
                </a:solidFill>
              </a:rPr>
              <a:t>巨型雕塑“生命螺旋”</a:t>
            </a:r>
            <a:r>
              <a:rPr kumimoji="0" lang="zh-CN" altLang="en-US" sz="3200" b="0" dirty="0">
                <a:solidFill>
                  <a:srgbClr val="0000CC"/>
                </a:solidFill>
              </a:rPr>
              <a:t> </a:t>
            </a:r>
          </a:p>
          <a:p>
            <a:pPr eaLnBrk="1" hangingPunct="1">
              <a:spcBef>
                <a:spcPct val="0"/>
              </a:spcBef>
              <a:buClrTx/>
              <a:buFontTx/>
              <a:buNone/>
            </a:pPr>
            <a:endParaRPr kumimoji="0" lang="zh-CN" altLang="en-US" sz="3200" b="0" dirty="0">
              <a:solidFill>
                <a:schemeClr val="tx1"/>
              </a:solidFill>
            </a:endParaRPr>
          </a:p>
          <a:p>
            <a:pPr eaLnBrk="1" hangingPunct="1">
              <a:spcBef>
                <a:spcPct val="0"/>
              </a:spcBef>
              <a:buClrTx/>
              <a:buFontTx/>
              <a:buNone/>
            </a:pPr>
            <a:r>
              <a:rPr kumimoji="0" lang="zh-CN" altLang="en-US" sz="2400" b="0" dirty="0">
                <a:solidFill>
                  <a:srgbClr val="0000CC"/>
                </a:solidFill>
              </a:rPr>
              <a:t>中国科技馆（北京）</a:t>
            </a:r>
            <a:r>
              <a:rPr kumimoji="0" lang="zh-CN" altLang="en-US" sz="2400" b="0" dirty="0">
                <a:solidFill>
                  <a:schemeClr val="tx1"/>
                </a:solidFill>
              </a:rPr>
              <a:t>的南大厅内</a:t>
            </a:r>
            <a:endParaRPr kumimoji="0" lang="en-US" altLang="zh-CN" sz="2400" b="0" dirty="0">
              <a:solidFill>
                <a:schemeClr val="tx1"/>
              </a:solidFill>
            </a:endParaRPr>
          </a:p>
          <a:p>
            <a:pPr eaLnBrk="1" hangingPunct="1">
              <a:spcBef>
                <a:spcPct val="0"/>
              </a:spcBef>
              <a:buClrTx/>
              <a:buFontTx/>
              <a:buNone/>
            </a:pPr>
            <a:endParaRPr kumimoji="0" lang="zh-CN" altLang="en-US" sz="2400" b="0" dirty="0">
              <a:solidFill>
                <a:schemeClr val="tx1"/>
              </a:solidFill>
            </a:endParaRPr>
          </a:p>
          <a:p>
            <a:pPr eaLnBrk="1" hangingPunct="1">
              <a:lnSpc>
                <a:spcPct val="150000"/>
              </a:lnSpc>
              <a:spcBef>
                <a:spcPct val="0"/>
              </a:spcBef>
              <a:buClrTx/>
              <a:buFontTx/>
              <a:buNone/>
            </a:pPr>
            <a:r>
              <a:rPr kumimoji="0" lang="en-US" altLang="zh-CN" sz="2400" b="0" dirty="0">
                <a:solidFill>
                  <a:srgbClr val="000000"/>
                </a:solidFill>
              </a:rPr>
              <a:t>20</a:t>
            </a:r>
            <a:r>
              <a:rPr kumimoji="0" lang="zh-CN" altLang="en-US" sz="2400" b="0" dirty="0">
                <a:solidFill>
                  <a:srgbClr val="000000"/>
                </a:solidFill>
              </a:rPr>
              <a:t>对手拉手的男人和女人组成的巨大</a:t>
            </a:r>
            <a:r>
              <a:rPr kumimoji="0" lang="en-US" altLang="zh-CN" sz="2400" b="0" dirty="0">
                <a:solidFill>
                  <a:srgbClr val="000000"/>
                </a:solidFill>
              </a:rPr>
              <a:t>DNA</a:t>
            </a:r>
            <a:r>
              <a:rPr kumimoji="0" lang="zh-CN" altLang="en-US" sz="2400" b="0" dirty="0">
                <a:solidFill>
                  <a:srgbClr val="000000"/>
                </a:solidFill>
              </a:rPr>
              <a:t>双螺旋结构，气势如虹，由展馆地下一层直冲到顶层天窗，</a:t>
            </a:r>
            <a:r>
              <a:rPr kumimoji="0" lang="zh-CN" altLang="en-US" sz="2400" b="0" dirty="0">
                <a:solidFill>
                  <a:srgbClr val="0000CC"/>
                </a:solidFill>
              </a:rPr>
              <a:t>全高</a:t>
            </a:r>
            <a:r>
              <a:rPr kumimoji="0" lang="en-US" altLang="zh-CN" sz="2400" b="0" dirty="0">
                <a:solidFill>
                  <a:srgbClr val="0000CC"/>
                </a:solidFill>
              </a:rPr>
              <a:t>47</a:t>
            </a:r>
            <a:r>
              <a:rPr kumimoji="0" lang="zh-CN" altLang="en-US" sz="2400" b="0" dirty="0">
                <a:solidFill>
                  <a:srgbClr val="0000CC"/>
                </a:solidFill>
              </a:rPr>
              <a:t>米，直径</a:t>
            </a:r>
            <a:r>
              <a:rPr kumimoji="0" lang="en-US" altLang="zh-CN" sz="2400" b="0" dirty="0">
                <a:solidFill>
                  <a:srgbClr val="0000CC"/>
                </a:solidFill>
              </a:rPr>
              <a:t>6.4</a:t>
            </a:r>
            <a:r>
              <a:rPr kumimoji="0" lang="zh-CN" altLang="en-US" sz="2400" b="0" dirty="0">
                <a:solidFill>
                  <a:srgbClr val="0000CC"/>
                </a:solidFill>
              </a:rPr>
              <a:t>米</a:t>
            </a:r>
            <a:r>
              <a:rPr kumimoji="0" lang="zh-CN" altLang="en-US" sz="2400" b="0" dirty="0">
                <a:solidFill>
                  <a:srgbClr val="000000"/>
                </a:solidFill>
              </a:rPr>
              <a:t>，重</a:t>
            </a:r>
            <a:r>
              <a:rPr kumimoji="0" lang="en-US" altLang="zh-CN" sz="2400" b="0" dirty="0">
                <a:solidFill>
                  <a:srgbClr val="000000"/>
                </a:solidFill>
              </a:rPr>
              <a:t>36</a:t>
            </a:r>
            <a:r>
              <a:rPr kumimoji="0" lang="zh-CN" altLang="en-US" sz="2400" b="0" dirty="0">
                <a:solidFill>
                  <a:srgbClr val="000000"/>
                </a:solidFill>
              </a:rPr>
              <a:t>吨。 </a:t>
            </a:r>
          </a:p>
        </p:txBody>
      </p:sp>
      <p:pic>
        <p:nvPicPr>
          <p:cNvPr id="137219" name="图片 5">
            <a:extLst>
              <a:ext uri="{FF2B5EF4-FFF2-40B4-BE49-F238E27FC236}">
                <a16:creationId xmlns:a16="http://schemas.microsoft.com/office/drawing/2014/main" id="{CA4EC225-CBC3-4E45-8660-C4B6B7C0AF63}"/>
              </a:ext>
            </a:extLst>
          </p:cNvPr>
          <p:cNvPicPr>
            <a:picLocks noChangeAspect="1"/>
          </p:cNvPicPr>
          <p:nvPr/>
        </p:nvPicPr>
        <p:blipFill>
          <a:blip r:embed="rId3">
            <a:extLst>
              <a:ext uri="{28A0092B-C50C-407E-A947-70E740481C1C}">
                <a14:useLocalDpi xmlns:a14="http://schemas.microsoft.com/office/drawing/2010/main" val="0"/>
              </a:ext>
            </a:extLst>
          </a:blip>
          <a:srcRect l="6992" r="8781"/>
          <a:stretch>
            <a:fillRect/>
          </a:stretch>
        </p:blipFill>
        <p:spPr bwMode="auto">
          <a:xfrm>
            <a:off x="767408" y="396051"/>
            <a:ext cx="3097537" cy="6187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0" name="图片 4">
            <a:extLst>
              <a:ext uri="{FF2B5EF4-FFF2-40B4-BE49-F238E27FC236}">
                <a16:creationId xmlns:a16="http://schemas.microsoft.com/office/drawing/2014/main" id="{C1D18B75-6D18-4F89-A94A-F4731B58D712}"/>
              </a:ext>
            </a:extLst>
          </p:cNvPr>
          <p:cNvPicPr>
            <a:picLocks noChangeAspect="1"/>
          </p:cNvPicPr>
          <p:nvPr/>
        </p:nvPicPr>
        <p:blipFill>
          <a:blip r:embed="rId4">
            <a:extLst>
              <a:ext uri="{28A0092B-C50C-407E-A947-70E740481C1C}">
                <a14:useLocalDpi xmlns:a14="http://schemas.microsoft.com/office/drawing/2010/main" val="0"/>
              </a:ext>
            </a:extLst>
          </a:blip>
          <a:srcRect l="11630" t="34814" r="4630" b="3801"/>
          <a:stretch>
            <a:fillRect/>
          </a:stretch>
        </p:blipFill>
        <p:spPr bwMode="auto">
          <a:xfrm>
            <a:off x="3972735" y="3241676"/>
            <a:ext cx="2843991" cy="3342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1" name="灯片编号占位符 1">
            <a:extLst>
              <a:ext uri="{FF2B5EF4-FFF2-40B4-BE49-F238E27FC236}">
                <a16:creationId xmlns:a16="http://schemas.microsoft.com/office/drawing/2014/main" id="{D12FB728-79F2-4F16-A3E7-7EE2217743B5}"/>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0E4E921A-6CE3-49DC-A8D1-6111B0CCA3D7}" type="slidenum">
              <a:rPr lang="zh-CN" altLang="en-US" sz="1200" b="0">
                <a:solidFill>
                  <a:srgbClr val="898F89"/>
                </a:solidFill>
              </a:rPr>
              <a:pPr>
                <a:spcBef>
                  <a:spcPct val="0"/>
                </a:spcBef>
                <a:buClrTx/>
                <a:buFontTx/>
                <a:buNone/>
              </a:pPr>
              <a:t>47</a:t>
            </a:fld>
            <a:endParaRPr lang="zh-CN" altLang="en-US" sz="1200" b="0">
              <a:solidFill>
                <a:srgbClr val="898F89"/>
              </a:solidFill>
            </a:endParaRPr>
          </a:p>
        </p:txBody>
      </p:sp>
    </p:spTree>
  </p:cSld>
  <p:clrMapOvr>
    <a:masterClrMapping/>
  </p:clrMapOvr>
  <p:transition spd="slow">
    <p:circle/>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1314" name="图片 1">
            <a:extLst>
              <a:ext uri="{FF2B5EF4-FFF2-40B4-BE49-F238E27FC236}">
                <a16:creationId xmlns:a16="http://schemas.microsoft.com/office/drawing/2014/main" id="{63552217-DDB1-4944-841F-DD3D80B8AD74}"/>
              </a:ext>
            </a:extLst>
          </p:cNvPr>
          <p:cNvPicPr>
            <a:picLocks noChangeAspect="1"/>
          </p:cNvPicPr>
          <p:nvPr/>
        </p:nvPicPr>
        <p:blipFill>
          <a:blip r:embed="rId3">
            <a:extLst>
              <a:ext uri="{28A0092B-C50C-407E-A947-70E740481C1C}">
                <a14:useLocalDpi xmlns:a14="http://schemas.microsoft.com/office/drawing/2010/main" val="0"/>
              </a:ext>
            </a:extLst>
          </a:blip>
          <a:srcRect t="15961" r="41650" b="12640"/>
          <a:stretch>
            <a:fillRect/>
          </a:stretch>
        </p:blipFill>
        <p:spPr bwMode="auto">
          <a:xfrm>
            <a:off x="1524001" y="38101"/>
            <a:ext cx="5148263" cy="354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315" name="图片 1">
            <a:extLst>
              <a:ext uri="{FF2B5EF4-FFF2-40B4-BE49-F238E27FC236}">
                <a16:creationId xmlns:a16="http://schemas.microsoft.com/office/drawing/2014/main" id="{F8232765-DA02-4760-A32E-7D1D5A4239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6189" y="3294063"/>
            <a:ext cx="5578475" cy="352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9425ADEA-932E-4A53-80D4-5B20289ECB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875" r="69563"/>
          <a:stretch>
            <a:fillRect/>
          </a:stretch>
        </p:blipFill>
        <p:spPr bwMode="auto">
          <a:xfrm>
            <a:off x="1638300" y="3673476"/>
            <a:ext cx="1943100" cy="313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7044B0C3-3B16-4A12-9156-A047E6F6C7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34061" r="35017"/>
          <a:stretch>
            <a:fillRect/>
          </a:stretch>
        </p:blipFill>
        <p:spPr bwMode="auto">
          <a:xfrm>
            <a:off x="7418389" y="33338"/>
            <a:ext cx="2447925" cy="325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152C7359-22D1-41DA-9F0B-BA5C0427E2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71262" r="9837"/>
          <a:stretch>
            <a:fillRect/>
          </a:stretch>
        </p:blipFill>
        <p:spPr bwMode="auto">
          <a:xfrm>
            <a:off x="3613151" y="3673476"/>
            <a:ext cx="1331913" cy="313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1">
            <a:extLst>
              <a:ext uri="{FF2B5EF4-FFF2-40B4-BE49-F238E27FC236}">
                <a16:creationId xmlns:a16="http://schemas.microsoft.com/office/drawing/2014/main" id="{D0812A41-F532-49E9-A35F-124168F8ED36}"/>
              </a:ext>
            </a:extLst>
          </p:cNvPr>
          <p:cNvSpPr txBox="1">
            <a:spLocks noChangeArrowheads="1"/>
          </p:cNvSpPr>
          <p:nvPr/>
        </p:nvSpPr>
        <p:spPr bwMode="auto">
          <a:xfrm>
            <a:off x="2566989" y="323851"/>
            <a:ext cx="7488237"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dirty="0">
                <a:solidFill>
                  <a:srgbClr val="0000CC"/>
                </a:solidFill>
                <a:latin typeface="Times New Roman" panose="02020603050405020304" pitchFamily="18" charset="0"/>
                <a:ea typeface="黑体" panose="02010609060101010101" pitchFamily="49" charset="-122"/>
              </a:rPr>
              <a:t>（三）</a:t>
            </a:r>
            <a:r>
              <a:rPr kumimoji="0" lang="en-US" altLang="zh-CN" sz="3600" dirty="0">
                <a:solidFill>
                  <a:srgbClr val="0000CC"/>
                </a:solidFill>
                <a:latin typeface="Times New Roman" panose="02020603050405020304" pitchFamily="18" charset="0"/>
                <a:ea typeface="黑体" panose="02010609060101010101" pitchFamily="49" charset="-122"/>
              </a:rPr>
              <a:t>DNA</a:t>
            </a:r>
            <a:r>
              <a:rPr kumimoji="0" lang="zh-CN" altLang="en-US" sz="3600" dirty="0">
                <a:solidFill>
                  <a:srgbClr val="0000CC"/>
                </a:solidFill>
                <a:latin typeface="Times New Roman" panose="02020603050405020304" pitchFamily="18" charset="0"/>
                <a:ea typeface="黑体" panose="02010609060101010101" pitchFamily="49" charset="-122"/>
              </a:rPr>
              <a:t>双螺旋结构具有多样性</a:t>
            </a:r>
          </a:p>
        </p:txBody>
      </p:sp>
      <p:sp>
        <p:nvSpPr>
          <p:cNvPr id="143363" name="Rectangle 3">
            <a:extLst>
              <a:ext uri="{FF2B5EF4-FFF2-40B4-BE49-F238E27FC236}">
                <a16:creationId xmlns:a16="http://schemas.microsoft.com/office/drawing/2014/main" id="{150A1184-FBC5-4BE4-B773-0DC3028BA1C1}"/>
              </a:ext>
            </a:extLst>
          </p:cNvPr>
          <p:cNvSpPr>
            <a:spLocks noChangeArrowheads="1"/>
          </p:cNvSpPr>
          <p:nvPr/>
        </p:nvSpPr>
        <p:spPr bwMode="auto">
          <a:xfrm>
            <a:off x="3910013" y="-14763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pic>
        <p:nvPicPr>
          <p:cNvPr id="143364" name="Picture 5" descr="ABZ-DNA">
            <a:extLst>
              <a:ext uri="{FF2B5EF4-FFF2-40B4-BE49-F238E27FC236}">
                <a16:creationId xmlns:a16="http://schemas.microsoft.com/office/drawing/2014/main" id="{C36955E1-8575-4075-BA50-C34A71043C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48" t="5557" r="4677" b="11328"/>
          <a:stretch>
            <a:fillRect/>
          </a:stretch>
        </p:blipFill>
        <p:spPr bwMode="auto">
          <a:xfrm>
            <a:off x="1406525" y="1844824"/>
            <a:ext cx="5006975" cy="290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65" name="图片 1">
            <a:extLst>
              <a:ext uri="{FF2B5EF4-FFF2-40B4-BE49-F238E27FC236}">
                <a16:creationId xmlns:a16="http://schemas.microsoft.com/office/drawing/2014/main" id="{F7079D05-1847-42D5-9677-2F16EA9B724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320136" y="1196752"/>
            <a:ext cx="3368675" cy="522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6" name="文本框 2">
            <a:extLst>
              <a:ext uri="{FF2B5EF4-FFF2-40B4-BE49-F238E27FC236}">
                <a16:creationId xmlns:a16="http://schemas.microsoft.com/office/drawing/2014/main" id="{D734F62A-35BC-4AC2-8223-FEB683E4BE80}"/>
              </a:ext>
            </a:extLst>
          </p:cNvPr>
          <p:cNvSpPr txBox="1">
            <a:spLocks noChangeArrowheads="1"/>
          </p:cNvSpPr>
          <p:nvPr/>
        </p:nvSpPr>
        <p:spPr bwMode="auto">
          <a:xfrm>
            <a:off x="1406525" y="5072360"/>
            <a:ext cx="54006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2400" b="0" dirty="0">
                <a:solidFill>
                  <a:schemeClr val="tx1"/>
                </a:solidFill>
                <a:latin typeface="Times New Roman" panose="02020603050405020304" pitchFamily="18" charset="0"/>
                <a:ea typeface="宋体" panose="02010600030101010101" pitchFamily="2" charset="-122"/>
              </a:rPr>
              <a:t>A-DNA             B-DNA             Z-DNA           </a:t>
            </a:r>
            <a:endParaRPr lang="zh-CN" altLang="en-US" sz="2400" b="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spd="slow">
    <p:circle/>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0FEC1319-1C95-4F13-8415-A176EF643D5A}"/>
              </a:ext>
            </a:extLst>
          </p:cNvPr>
          <p:cNvSpPr>
            <a:spLocks noChangeArrowheads="1"/>
          </p:cNvSpPr>
          <p:nvPr/>
        </p:nvSpPr>
        <p:spPr bwMode="auto">
          <a:xfrm>
            <a:off x="1524001" y="150906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zh-CN" sz="2400" b="0">
              <a:solidFill>
                <a:schemeClr val="tx1"/>
              </a:solidFill>
              <a:latin typeface="Times New Roman" panose="02020603050405020304" pitchFamily="18" charset="0"/>
              <a:ea typeface="宋体" panose="02010600030101010101" pitchFamily="2" charset="-122"/>
            </a:endParaRPr>
          </a:p>
        </p:txBody>
      </p:sp>
      <p:graphicFrame>
        <p:nvGraphicFramePr>
          <p:cNvPr id="866371" name="Group 67">
            <a:extLst>
              <a:ext uri="{FF2B5EF4-FFF2-40B4-BE49-F238E27FC236}">
                <a16:creationId xmlns:a16="http://schemas.microsoft.com/office/drawing/2014/main" id="{CFECE84C-ED64-47A8-9F69-16929F77C9B9}"/>
              </a:ext>
            </a:extLst>
          </p:cNvPr>
          <p:cNvGraphicFramePr>
            <a:graphicFrameLocks noGrp="1"/>
          </p:cNvGraphicFramePr>
          <p:nvPr>
            <p:extLst>
              <p:ext uri="{D42A27DB-BD31-4B8C-83A1-F6EECF244321}">
                <p14:modId xmlns:p14="http://schemas.microsoft.com/office/powerpoint/2010/main" val="3603543701"/>
              </p:ext>
            </p:extLst>
          </p:nvPr>
        </p:nvGraphicFramePr>
        <p:xfrm>
          <a:off x="1703388" y="981076"/>
          <a:ext cx="8785224" cy="5478461"/>
        </p:xfrm>
        <a:graphic>
          <a:graphicData uri="http://schemas.openxmlformats.org/drawingml/2006/table">
            <a:tbl>
              <a:tblPr/>
              <a:tblGrid>
                <a:gridCol w="2520351">
                  <a:extLst>
                    <a:ext uri="{9D8B030D-6E8A-4147-A177-3AD203B41FA5}">
                      <a16:colId xmlns:a16="http://schemas.microsoft.com/office/drawing/2014/main" val="20000"/>
                    </a:ext>
                  </a:extLst>
                </a:gridCol>
                <a:gridCol w="2016281">
                  <a:extLst>
                    <a:ext uri="{9D8B030D-6E8A-4147-A177-3AD203B41FA5}">
                      <a16:colId xmlns:a16="http://schemas.microsoft.com/office/drawing/2014/main" val="20001"/>
                    </a:ext>
                  </a:extLst>
                </a:gridCol>
                <a:gridCol w="1953323">
                  <a:extLst>
                    <a:ext uri="{9D8B030D-6E8A-4147-A177-3AD203B41FA5}">
                      <a16:colId xmlns:a16="http://schemas.microsoft.com/office/drawing/2014/main" val="20002"/>
                    </a:ext>
                  </a:extLst>
                </a:gridCol>
                <a:gridCol w="2295269">
                  <a:extLst>
                    <a:ext uri="{9D8B030D-6E8A-4147-A177-3AD203B41FA5}">
                      <a16:colId xmlns:a16="http://schemas.microsoft.com/office/drawing/2014/main" val="20003"/>
                    </a:ext>
                  </a:extLst>
                </a:gridCol>
              </a:tblGrid>
              <a:tr h="457164">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endParaRPr kumimoji="0" lang="zh-CN" altLang="zh-CN" sz="2400" b="0" i="0" u="none" strike="noStrike" cap="none" normalizeH="0" baseline="0" dirty="0">
                        <a:ln>
                          <a:noFill/>
                        </a:ln>
                        <a:solidFill>
                          <a:srgbClr val="000000"/>
                        </a:solidFill>
                        <a:effectLst/>
                        <a:latin typeface="黑体" pitchFamily="49" charset="-122"/>
                        <a:ea typeface="黑体" pitchFamily="49" charset="-122"/>
                      </a:endParaRP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rgbClr val="000066"/>
                          </a:solidFill>
                          <a:effectLst/>
                          <a:latin typeface="黑体" pitchFamily="49" charset="-122"/>
                          <a:ea typeface="黑体" pitchFamily="49" charset="-122"/>
                          <a:cs typeface="Times New Roman" pitchFamily="18" charset="0"/>
                        </a:rPr>
                        <a:t>A </a:t>
                      </a:r>
                      <a:r>
                        <a:rPr kumimoji="1" lang="zh-CN" altLang="en-US" sz="2400" b="0" i="0" u="none" strike="noStrike" cap="none" normalizeH="0" baseline="0" dirty="0">
                          <a:ln>
                            <a:noFill/>
                          </a:ln>
                          <a:solidFill>
                            <a:srgbClr val="000066"/>
                          </a:solidFill>
                          <a:effectLst/>
                          <a:latin typeface="黑体" pitchFamily="49" charset="-122"/>
                          <a:ea typeface="黑体" pitchFamily="49" charset="-122"/>
                          <a:cs typeface="Times New Roman" pitchFamily="18" charset="0"/>
                        </a:rPr>
                        <a:t>型</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rgbClr val="000066"/>
                          </a:solidFill>
                          <a:effectLst/>
                          <a:latin typeface="黑体" pitchFamily="49" charset="-122"/>
                          <a:ea typeface="黑体" pitchFamily="49" charset="-122"/>
                          <a:cs typeface="Times New Roman" pitchFamily="18" charset="0"/>
                        </a:rPr>
                        <a:t>B </a:t>
                      </a:r>
                      <a:r>
                        <a:rPr kumimoji="1" lang="zh-CN" altLang="en-US" sz="2400" b="0" i="0" u="none" strike="noStrike" cap="none" normalizeH="0" baseline="0">
                          <a:ln>
                            <a:noFill/>
                          </a:ln>
                          <a:solidFill>
                            <a:srgbClr val="000066"/>
                          </a:solidFill>
                          <a:effectLst/>
                          <a:latin typeface="黑体" pitchFamily="49" charset="-122"/>
                          <a:ea typeface="黑体" pitchFamily="49" charset="-122"/>
                          <a:cs typeface="Times New Roman" pitchFamily="18" charset="0"/>
                        </a:rPr>
                        <a:t>型</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rgbClr val="000066"/>
                          </a:solidFill>
                          <a:effectLst/>
                          <a:latin typeface="黑体" pitchFamily="49" charset="-122"/>
                          <a:ea typeface="黑体" pitchFamily="49" charset="-122"/>
                          <a:cs typeface="Times New Roman" pitchFamily="18" charset="0"/>
                        </a:rPr>
                        <a:t>Z </a:t>
                      </a:r>
                      <a:r>
                        <a:rPr kumimoji="1" lang="zh-CN" altLang="en-US" sz="2400" b="0" i="0" u="none" strike="noStrike" cap="none" normalizeH="0" baseline="0" dirty="0">
                          <a:ln>
                            <a:noFill/>
                          </a:ln>
                          <a:solidFill>
                            <a:srgbClr val="000066"/>
                          </a:solidFill>
                          <a:effectLst/>
                          <a:latin typeface="黑体" pitchFamily="49" charset="-122"/>
                          <a:ea typeface="黑体" pitchFamily="49" charset="-122"/>
                          <a:cs typeface="Times New Roman" pitchFamily="18" charset="0"/>
                        </a:rPr>
                        <a:t>型</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3105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66"/>
                          </a:solidFill>
                          <a:effectLst/>
                          <a:latin typeface="黑体" pitchFamily="49" charset="-122"/>
                          <a:ea typeface="黑体" pitchFamily="49" charset="-122"/>
                          <a:cs typeface="Times New Roman" pitchFamily="18" charset="0"/>
                        </a:rPr>
                        <a:t>外型</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rgbClr val="000000"/>
                          </a:solidFill>
                          <a:effectLst/>
                          <a:latin typeface="黑体" pitchFamily="49" charset="-122"/>
                          <a:ea typeface="黑体" pitchFamily="49" charset="-122"/>
                          <a:cs typeface="Times New Roman" pitchFamily="18" charset="0"/>
                        </a:rPr>
                        <a:t>粗短</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rgbClr val="000000"/>
                          </a:solidFill>
                          <a:effectLst/>
                          <a:latin typeface="黑体" pitchFamily="49" charset="-122"/>
                          <a:ea typeface="黑体" pitchFamily="49" charset="-122"/>
                          <a:cs typeface="Times New Roman" pitchFamily="18" charset="0"/>
                        </a:rPr>
                        <a:t>中</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rgbClr val="000000"/>
                          </a:solidFill>
                          <a:effectLst/>
                          <a:latin typeface="黑体" pitchFamily="49" charset="-122"/>
                          <a:ea typeface="黑体" pitchFamily="49" charset="-122"/>
                          <a:cs typeface="Times New Roman" pitchFamily="18" charset="0"/>
                        </a:rPr>
                        <a:t>细长</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887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C00000"/>
                          </a:solidFill>
                          <a:effectLst/>
                          <a:latin typeface="黑体" pitchFamily="49" charset="-122"/>
                          <a:ea typeface="黑体" pitchFamily="49" charset="-122"/>
                          <a:cs typeface="Times New Roman" pitchFamily="18" charset="0"/>
                        </a:rPr>
                        <a:t>螺旋方式</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rgbClr val="C00000"/>
                          </a:solidFill>
                          <a:effectLst/>
                          <a:latin typeface="黑体" pitchFamily="49" charset="-122"/>
                          <a:ea typeface="黑体" pitchFamily="49" charset="-122"/>
                          <a:cs typeface="Times New Roman" pitchFamily="18" charset="0"/>
                        </a:rPr>
                        <a:t>右手</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C00000"/>
                          </a:solidFill>
                          <a:effectLst/>
                          <a:latin typeface="黑体" pitchFamily="49" charset="-122"/>
                          <a:ea typeface="黑体" pitchFamily="49" charset="-122"/>
                          <a:cs typeface="Times New Roman" pitchFamily="18" charset="0"/>
                        </a:rPr>
                        <a:t>右手</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C00000"/>
                          </a:solidFill>
                          <a:effectLst/>
                          <a:latin typeface="黑体" pitchFamily="49" charset="-122"/>
                          <a:ea typeface="黑体" pitchFamily="49" charset="-122"/>
                          <a:cs typeface="Times New Roman" pitchFamily="18" charset="0"/>
                        </a:rPr>
                        <a:t>左手</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05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66"/>
                          </a:solidFill>
                          <a:effectLst/>
                          <a:latin typeface="黑体" pitchFamily="49" charset="-122"/>
                          <a:ea typeface="黑体" pitchFamily="49" charset="-122"/>
                          <a:cs typeface="Times New Roman" pitchFamily="18" charset="0"/>
                        </a:rPr>
                        <a:t>直径</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2.55nm</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C00000"/>
                          </a:solidFill>
                          <a:effectLst/>
                          <a:latin typeface="黑体" pitchFamily="49" charset="-122"/>
                          <a:ea typeface="黑体" pitchFamily="49" charset="-122"/>
                          <a:cs typeface="Times New Roman" pitchFamily="18" charset="0"/>
                        </a:rPr>
                        <a:t>2.37nm</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1.84nm</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05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66"/>
                          </a:solidFill>
                          <a:effectLst/>
                          <a:latin typeface="黑体" pitchFamily="49" charset="-122"/>
                          <a:ea typeface="黑体" pitchFamily="49" charset="-122"/>
                          <a:cs typeface="Times New Roman" pitchFamily="18" charset="0"/>
                        </a:rPr>
                        <a:t>每螺旋的碱基对数</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11</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C00000"/>
                          </a:solidFill>
                          <a:effectLst/>
                          <a:latin typeface="黑体" pitchFamily="49" charset="-122"/>
                          <a:ea typeface="黑体" pitchFamily="49" charset="-122"/>
                          <a:cs typeface="Times New Roman" pitchFamily="18" charset="0"/>
                        </a:rPr>
                        <a:t>10.5</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rgbClr val="000000"/>
                          </a:solidFill>
                          <a:effectLst/>
                          <a:latin typeface="黑体" pitchFamily="49" charset="-122"/>
                          <a:ea typeface="黑体" pitchFamily="49" charset="-122"/>
                          <a:cs typeface="Times New Roman" pitchFamily="18" charset="0"/>
                        </a:rPr>
                        <a:t>12</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105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66"/>
                          </a:solidFill>
                          <a:effectLst/>
                          <a:latin typeface="黑体" pitchFamily="49" charset="-122"/>
                          <a:ea typeface="黑体" pitchFamily="49" charset="-122"/>
                          <a:cs typeface="Times New Roman" pitchFamily="18" charset="0"/>
                        </a:rPr>
                        <a:t>每碱基对的升距</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0.23nm</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0.34nm</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0.38nm</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105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C00000"/>
                          </a:solidFill>
                          <a:effectLst/>
                          <a:latin typeface="黑体" pitchFamily="49" charset="-122"/>
                          <a:ea typeface="黑体" pitchFamily="49" charset="-122"/>
                          <a:cs typeface="Times New Roman" pitchFamily="18" charset="0"/>
                        </a:rPr>
                        <a:t>螺距</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2.53nm</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C00000"/>
                          </a:solidFill>
                          <a:effectLst/>
                          <a:latin typeface="黑体" pitchFamily="49" charset="-122"/>
                          <a:ea typeface="黑体" pitchFamily="49" charset="-122"/>
                          <a:cs typeface="Times New Roman" pitchFamily="18" charset="0"/>
                        </a:rPr>
                        <a:t>3.54nm</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4.56nm</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76265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66"/>
                          </a:solidFill>
                          <a:effectLst/>
                          <a:latin typeface="黑体" pitchFamily="49" charset="-122"/>
                          <a:ea typeface="黑体" pitchFamily="49" charset="-122"/>
                          <a:cs typeface="Times New Roman" pitchFamily="18" charset="0"/>
                        </a:rPr>
                        <a:t>糖苷键构型</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rgbClr val="000000"/>
                          </a:solidFill>
                          <a:effectLst/>
                          <a:latin typeface="黑体" pitchFamily="49" charset="-122"/>
                          <a:ea typeface="黑体" pitchFamily="49" charset="-122"/>
                          <a:cs typeface="Times New Roman" pitchFamily="18" charset="0"/>
                        </a:rPr>
                        <a:t>反式</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rgbClr val="000000"/>
                          </a:solidFill>
                          <a:effectLst/>
                          <a:latin typeface="黑体" pitchFamily="49" charset="-122"/>
                          <a:ea typeface="黑体" pitchFamily="49" charset="-122"/>
                          <a:cs typeface="Times New Roman" pitchFamily="18" charset="0"/>
                        </a:rPr>
                        <a:t>反式</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rgbClr val="000000"/>
                          </a:solidFill>
                          <a:effectLst/>
                          <a:latin typeface="黑体" pitchFamily="49" charset="-122"/>
                          <a:ea typeface="黑体" pitchFamily="49" charset="-122"/>
                          <a:cs typeface="Times New Roman" pitchFamily="18" charset="0"/>
                        </a:rPr>
                        <a:t>嘧啶反式，嘌呤顺式</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3105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C00000"/>
                          </a:solidFill>
                          <a:effectLst/>
                          <a:latin typeface="黑体" pitchFamily="49" charset="-122"/>
                          <a:ea typeface="黑体" pitchFamily="49" charset="-122"/>
                          <a:cs typeface="Times New Roman" pitchFamily="18" charset="0"/>
                        </a:rPr>
                        <a:t>大沟</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窄、深</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C00000"/>
                          </a:solidFill>
                          <a:effectLst/>
                          <a:latin typeface="黑体" pitchFamily="49" charset="-122"/>
                          <a:ea typeface="黑体" pitchFamily="49" charset="-122"/>
                          <a:cs typeface="Times New Roman" pitchFamily="18" charset="0"/>
                        </a:rPr>
                        <a:t>宽、深</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不明显</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3105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66"/>
                          </a:solidFill>
                          <a:effectLst/>
                          <a:latin typeface="黑体" pitchFamily="49" charset="-122"/>
                          <a:ea typeface="黑体" pitchFamily="49" charset="-122"/>
                          <a:cs typeface="Times New Roman" pitchFamily="18" charset="0"/>
                        </a:rPr>
                        <a:t>小沟</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宽、浅</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窄、深</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较窄、很深</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620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66"/>
                          </a:solidFill>
                          <a:effectLst/>
                          <a:latin typeface="黑体" pitchFamily="49" charset="-122"/>
                          <a:ea typeface="黑体" pitchFamily="49" charset="-122"/>
                          <a:cs typeface="Times New Roman" pitchFamily="18" charset="0"/>
                        </a:rPr>
                        <a:t>轴心与碱基对的关系</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rgbClr val="000000"/>
                          </a:solidFill>
                          <a:effectLst/>
                          <a:latin typeface="黑体" pitchFamily="49" charset="-122"/>
                          <a:ea typeface="黑体" pitchFamily="49" charset="-122"/>
                          <a:cs typeface="Times New Roman" pitchFamily="18" charset="0"/>
                        </a:rPr>
                        <a:t>不穿过碱基对</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rgbClr val="000000"/>
                          </a:solidFill>
                          <a:effectLst/>
                          <a:latin typeface="黑体" pitchFamily="49" charset="-122"/>
                          <a:ea typeface="黑体" pitchFamily="49" charset="-122"/>
                          <a:cs typeface="Times New Roman" pitchFamily="18" charset="0"/>
                        </a:rPr>
                        <a:t>穿过碱基对</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不穿过碱基对</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9620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66"/>
                          </a:solidFill>
                          <a:effectLst/>
                          <a:latin typeface="黑体" pitchFamily="49" charset="-122"/>
                          <a:ea typeface="黑体" pitchFamily="49" charset="-122"/>
                          <a:cs typeface="Times New Roman" pitchFamily="18" charset="0"/>
                        </a:rPr>
                        <a:t>稳定条件</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湿度</a:t>
                      </a:r>
                      <a:r>
                        <a:rPr kumimoji="1" lang="en-US" altLang="zh-CN"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75%</a:t>
                      </a:r>
                      <a:endParaRPr kumimoji="1" lang="zh-CN" altLang="en-US" sz="2000" b="0" i="0" u="none" strike="noStrike" cap="none" normalizeH="0" baseline="0" dirty="0">
                        <a:ln>
                          <a:noFill/>
                        </a:ln>
                        <a:solidFill>
                          <a:srgbClr val="000000"/>
                        </a:solidFill>
                        <a:effectLst/>
                        <a:latin typeface="黑体" pitchFamily="49" charset="-122"/>
                        <a:ea typeface="黑体" pitchFamily="49" charset="-122"/>
                        <a:cs typeface="Times New Roman" pitchFamily="18" charset="0"/>
                      </a:endParaRP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C00000"/>
                          </a:solidFill>
                          <a:effectLst/>
                          <a:latin typeface="黑体" pitchFamily="49" charset="-122"/>
                          <a:ea typeface="黑体" pitchFamily="49" charset="-122"/>
                          <a:cs typeface="Times New Roman" pitchFamily="18" charset="0"/>
                        </a:rPr>
                        <a:t>湿度</a:t>
                      </a:r>
                      <a:r>
                        <a:rPr kumimoji="1" lang="en-US" altLang="zh-CN" sz="2000" b="0" i="0" u="none" strike="noStrike" cap="none" normalizeH="0" baseline="0" dirty="0">
                          <a:ln>
                            <a:noFill/>
                          </a:ln>
                          <a:solidFill>
                            <a:srgbClr val="C00000"/>
                          </a:solidFill>
                          <a:effectLst/>
                          <a:latin typeface="黑体" pitchFamily="49" charset="-122"/>
                          <a:ea typeface="黑体" pitchFamily="49" charset="-122"/>
                          <a:cs typeface="Times New Roman" pitchFamily="18" charset="0"/>
                        </a:rPr>
                        <a:t>92%</a:t>
                      </a:r>
                      <a:r>
                        <a:rPr kumimoji="1" lang="zh-CN" altLang="en-US" sz="2000" b="0" i="0" u="none" strike="noStrike" cap="none" normalizeH="0" baseline="0" dirty="0">
                          <a:ln>
                            <a:noFill/>
                          </a:ln>
                          <a:solidFill>
                            <a:srgbClr val="C00000"/>
                          </a:solidFill>
                          <a:effectLst/>
                          <a:latin typeface="黑体" pitchFamily="49" charset="-122"/>
                          <a:ea typeface="黑体" pitchFamily="49" charset="-122"/>
                          <a:cs typeface="Times New Roman" pitchFamily="18" charset="0"/>
                        </a:rPr>
                        <a:t>以上</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C00000"/>
                          </a:solidFill>
                          <a:effectLst/>
                          <a:latin typeface="黑体" pitchFamily="49" charset="-122"/>
                          <a:ea typeface="黑体" pitchFamily="49" charset="-122"/>
                          <a:cs typeface="Times New Roman" pitchFamily="18" charset="0"/>
                        </a:rPr>
                        <a:t>嘌呤、嘧啶交错</a:t>
                      </a:r>
                    </a:p>
                  </a:txBody>
                  <a:tcPr marL="91443" marR="91443"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145478" name="Rectangle 65">
            <a:extLst>
              <a:ext uri="{FF2B5EF4-FFF2-40B4-BE49-F238E27FC236}">
                <a16:creationId xmlns:a16="http://schemas.microsoft.com/office/drawing/2014/main" id="{205ECF15-159C-4AB7-89F2-C80834D03C35}"/>
              </a:ext>
            </a:extLst>
          </p:cNvPr>
          <p:cNvSpPr>
            <a:spLocks noChangeArrowheads="1"/>
          </p:cNvSpPr>
          <p:nvPr/>
        </p:nvSpPr>
        <p:spPr bwMode="auto">
          <a:xfrm>
            <a:off x="2351088" y="141289"/>
            <a:ext cx="7200900" cy="735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en-US" altLang="zh-CN" sz="3600">
                <a:solidFill>
                  <a:srgbClr val="0000CC"/>
                </a:solidFill>
                <a:latin typeface="Times New Roman" panose="02020603050405020304" pitchFamily="18" charset="0"/>
                <a:ea typeface="黑体" panose="02010609060101010101" pitchFamily="49" charset="-122"/>
              </a:rPr>
              <a:t>A</a:t>
            </a:r>
            <a:r>
              <a:rPr kumimoji="0" lang="zh-CN" altLang="en-US" sz="3600">
                <a:solidFill>
                  <a:srgbClr val="0000CC"/>
                </a:solidFill>
                <a:latin typeface="Times New Roman" panose="02020603050405020304" pitchFamily="18" charset="0"/>
                <a:ea typeface="黑体" panose="02010609060101010101" pitchFamily="49" charset="-122"/>
              </a:rPr>
              <a:t>、</a:t>
            </a:r>
            <a:r>
              <a:rPr kumimoji="0" lang="en-US" altLang="zh-CN" sz="3600">
                <a:solidFill>
                  <a:srgbClr val="0000CC"/>
                </a:solidFill>
                <a:latin typeface="Times New Roman" panose="02020603050405020304" pitchFamily="18" charset="0"/>
                <a:ea typeface="黑体" panose="02010609060101010101" pitchFamily="49" charset="-122"/>
              </a:rPr>
              <a:t>B</a:t>
            </a:r>
            <a:r>
              <a:rPr kumimoji="0" lang="zh-CN" altLang="en-US" sz="3600">
                <a:solidFill>
                  <a:srgbClr val="0000CC"/>
                </a:solidFill>
                <a:latin typeface="Times New Roman" panose="02020603050405020304" pitchFamily="18" charset="0"/>
                <a:ea typeface="黑体" panose="02010609060101010101" pitchFamily="49" charset="-122"/>
              </a:rPr>
              <a:t>、</a:t>
            </a:r>
            <a:r>
              <a:rPr kumimoji="0" lang="en-US" altLang="zh-CN" sz="3600">
                <a:solidFill>
                  <a:srgbClr val="0000CC"/>
                </a:solidFill>
                <a:latin typeface="Times New Roman" panose="02020603050405020304" pitchFamily="18" charset="0"/>
                <a:ea typeface="黑体" panose="02010609060101010101" pitchFamily="49" charset="-122"/>
              </a:rPr>
              <a:t>Z</a:t>
            </a:r>
            <a:r>
              <a:rPr kumimoji="0" lang="zh-CN" altLang="en-US" sz="3600">
                <a:solidFill>
                  <a:srgbClr val="0000CC"/>
                </a:solidFill>
                <a:latin typeface="Times New Roman" panose="02020603050405020304" pitchFamily="18" charset="0"/>
                <a:ea typeface="黑体" panose="02010609060101010101" pitchFamily="49" charset="-122"/>
              </a:rPr>
              <a:t>型</a:t>
            </a:r>
            <a:r>
              <a:rPr kumimoji="0" lang="en-US" altLang="zh-CN" sz="3600">
                <a:solidFill>
                  <a:srgbClr val="0000CC"/>
                </a:solidFill>
                <a:latin typeface="Times New Roman" panose="02020603050405020304" pitchFamily="18" charset="0"/>
                <a:ea typeface="黑体" panose="02010609060101010101" pitchFamily="49" charset="-122"/>
              </a:rPr>
              <a:t>DNA</a:t>
            </a:r>
            <a:r>
              <a:rPr kumimoji="0" lang="zh-CN" altLang="en-US" sz="3600">
                <a:solidFill>
                  <a:srgbClr val="0000CC"/>
                </a:solidFill>
                <a:latin typeface="Times New Roman" panose="02020603050405020304" pitchFamily="18" charset="0"/>
                <a:ea typeface="黑体" panose="02010609060101010101" pitchFamily="49" charset="-122"/>
              </a:rPr>
              <a:t>分子的比较 </a:t>
            </a:r>
          </a:p>
        </p:txBody>
      </p:sp>
    </p:spTree>
  </p:cSld>
  <p:clrMapOvr>
    <a:masterClrMapping/>
  </p:clrMapOvr>
  <p:transition spd="slow">
    <p:circl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8258BC4-1088-0E44-3076-C7079FE12A83}"/>
              </a:ext>
            </a:extLst>
          </p:cNvPr>
          <p:cNvPicPr>
            <a:picLocks noChangeAspect="1"/>
          </p:cNvPicPr>
          <p:nvPr/>
        </p:nvPicPr>
        <p:blipFill>
          <a:blip r:embed="rId3"/>
          <a:stretch>
            <a:fillRect/>
          </a:stretch>
        </p:blipFill>
        <p:spPr>
          <a:xfrm>
            <a:off x="1523999" y="1340768"/>
            <a:ext cx="9401989" cy="5112568"/>
          </a:xfrm>
          <a:prstGeom prst="rect">
            <a:avLst/>
          </a:prstGeom>
        </p:spPr>
      </p:pic>
      <p:sp>
        <p:nvSpPr>
          <p:cNvPr id="4" name="文本框 3">
            <a:extLst>
              <a:ext uri="{FF2B5EF4-FFF2-40B4-BE49-F238E27FC236}">
                <a16:creationId xmlns:a16="http://schemas.microsoft.com/office/drawing/2014/main" id="{8AA4924F-A7ED-BB54-FADD-01FF1A4F6F19}"/>
              </a:ext>
            </a:extLst>
          </p:cNvPr>
          <p:cNvSpPr txBox="1"/>
          <p:nvPr/>
        </p:nvSpPr>
        <p:spPr>
          <a:xfrm>
            <a:off x="1991544" y="476672"/>
            <a:ext cx="7920880" cy="523220"/>
          </a:xfrm>
          <a:prstGeom prst="rect">
            <a:avLst/>
          </a:prstGeom>
          <a:noFill/>
        </p:spPr>
        <p:txBody>
          <a:bodyPr wrap="square" rtlCol="0">
            <a:spAutoFit/>
          </a:bodyPr>
          <a:lstStyle/>
          <a:p>
            <a:pPr algn="ctr"/>
            <a:r>
              <a:rPr lang="zh-CN" altLang="en-US" sz="2800" dirty="0">
                <a:solidFill>
                  <a:srgbClr val="000000"/>
                </a:solidFill>
                <a:latin typeface="微软雅黑" panose="020B0503020204020204" pitchFamily="34" charset="-122"/>
                <a:ea typeface="微软雅黑" panose="020B0503020204020204" pitchFamily="34" charset="-122"/>
              </a:rPr>
              <a:t>反向重复序列可形成发夹结构或十字型结构</a:t>
            </a:r>
          </a:p>
        </p:txBody>
      </p:sp>
    </p:spTree>
    <p:extLst>
      <p:ext uri="{BB962C8B-B14F-4D97-AF65-F5344CB8AC3E}">
        <p14:creationId xmlns:p14="http://schemas.microsoft.com/office/powerpoint/2010/main" val="2336755831"/>
      </p:ext>
    </p:extLst>
  </p:cSld>
  <p:clrMapOvr>
    <a:masterClrMapping/>
  </p:clrMapOvr>
  <p:transition spd="slow">
    <p:circl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111C452-BC31-8A79-4E2E-8B5C810EED97}"/>
              </a:ext>
            </a:extLst>
          </p:cNvPr>
          <p:cNvPicPr>
            <a:picLocks noChangeAspect="1"/>
          </p:cNvPicPr>
          <p:nvPr/>
        </p:nvPicPr>
        <p:blipFill>
          <a:blip r:embed="rId3"/>
          <a:stretch>
            <a:fillRect/>
          </a:stretch>
        </p:blipFill>
        <p:spPr>
          <a:xfrm>
            <a:off x="2279576" y="1052737"/>
            <a:ext cx="7334250" cy="4962525"/>
          </a:xfrm>
          <a:prstGeom prst="rect">
            <a:avLst/>
          </a:prstGeom>
        </p:spPr>
      </p:pic>
      <p:sp>
        <p:nvSpPr>
          <p:cNvPr id="5" name="文本框 4">
            <a:extLst>
              <a:ext uri="{FF2B5EF4-FFF2-40B4-BE49-F238E27FC236}">
                <a16:creationId xmlns:a16="http://schemas.microsoft.com/office/drawing/2014/main" id="{4B5C27F3-4067-FA69-B81C-3BB8C68E0E41}"/>
              </a:ext>
            </a:extLst>
          </p:cNvPr>
          <p:cNvSpPr txBox="1"/>
          <p:nvPr/>
        </p:nvSpPr>
        <p:spPr>
          <a:xfrm>
            <a:off x="4295800" y="1052737"/>
            <a:ext cx="5688632" cy="461665"/>
          </a:xfrm>
          <a:prstGeom prst="rect">
            <a:avLst/>
          </a:prstGeom>
          <a:noFill/>
        </p:spPr>
        <p:txBody>
          <a:bodyPr wrap="square" rtlCol="0">
            <a:spAutoFit/>
          </a:bodyPr>
          <a:lstStyle/>
          <a:p>
            <a:r>
              <a:rPr lang="zh-CN" altLang="en-US" dirty="0">
                <a:solidFill>
                  <a:srgbClr val="000000"/>
                </a:solidFill>
                <a:latin typeface="微软雅黑" panose="020B0503020204020204" pitchFamily="34" charset="-122"/>
                <a:ea typeface="微软雅黑" panose="020B0503020204020204" pitchFamily="34" charset="-122"/>
              </a:rPr>
              <a:t>回文序列（正着读反着读都一样）</a:t>
            </a:r>
          </a:p>
        </p:txBody>
      </p:sp>
      <p:sp>
        <p:nvSpPr>
          <p:cNvPr id="6" name="文本框 5">
            <a:extLst>
              <a:ext uri="{FF2B5EF4-FFF2-40B4-BE49-F238E27FC236}">
                <a16:creationId xmlns:a16="http://schemas.microsoft.com/office/drawing/2014/main" id="{D5FFF6BF-6ACA-CAE2-3865-2ED7ACBBA5AF}"/>
              </a:ext>
            </a:extLst>
          </p:cNvPr>
          <p:cNvSpPr txBox="1"/>
          <p:nvPr/>
        </p:nvSpPr>
        <p:spPr>
          <a:xfrm>
            <a:off x="4439816" y="4149081"/>
            <a:ext cx="2304256" cy="461665"/>
          </a:xfrm>
          <a:prstGeom prst="rect">
            <a:avLst/>
          </a:prstGeom>
          <a:noFill/>
        </p:spPr>
        <p:txBody>
          <a:bodyPr wrap="square" rtlCol="0">
            <a:spAutoFit/>
          </a:bodyPr>
          <a:lstStyle/>
          <a:p>
            <a:r>
              <a:rPr lang="zh-CN" altLang="en-US" dirty="0">
                <a:solidFill>
                  <a:srgbClr val="000000"/>
                </a:solidFill>
                <a:latin typeface="微软雅黑" panose="020B0503020204020204" pitchFamily="34" charset="-122"/>
                <a:ea typeface="微软雅黑" panose="020B0503020204020204" pitchFamily="34" charset="-122"/>
              </a:rPr>
              <a:t>镜像重复序列</a:t>
            </a:r>
          </a:p>
        </p:txBody>
      </p:sp>
    </p:spTree>
    <p:extLst>
      <p:ext uri="{BB962C8B-B14F-4D97-AF65-F5344CB8AC3E}">
        <p14:creationId xmlns:p14="http://schemas.microsoft.com/office/powerpoint/2010/main" val="2252723326"/>
      </p:ext>
    </p:extLst>
  </p:cSld>
  <p:clrMapOvr>
    <a:masterClrMapping/>
  </p:clrMapOvr>
  <p:transition spd="slow">
    <p:circl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482" name="Picture 2" descr="h-dna彩图">
            <a:extLst>
              <a:ext uri="{FF2B5EF4-FFF2-40B4-BE49-F238E27FC236}">
                <a16:creationId xmlns:a16="http://schemas.microsoft.com/office/drawing/2014/main" id="{0ACEC068-F82D-43A0-A714-03AD3EE300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4407" y="1449388"/>
            <a:ext cx="7588441" cy="504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03" name="Rectangle 3">
            <a:extLst>
              <a:ext uri="{FF2B5EF4-FFF2-40B4-BE49-F238E27FC236}">
                <a16:creationId xmlns:a16="http://schemas.microsoft.com/office/drawing/2014/main" id="{4DB84B8A-4CBD-4E6F-8986-E14B73F136E0}"/>
              </a:ext>
            </a:extLst>
          </p:cNvPr>
          <p:cNvSpPr>
            <a:spLocks noGrp="1" noChangeArrowheads="1"/>
          </p:cNvSpPr>
          <p:nvPr>
            <p:ph type="title" idx="4294967295"/>
          </p:nvPr>
        </p:nvSpPr>
        <p:spPr>
          <a:xfrm>
            <a:off x="5735960" y="1125538"/>
            <a:ext cx="4240212" cy="647700"/>
          </a:xfrm>
        </p:spPr>
        <p:txBody>
          <a:bodyPr/>
          <a:lstStyle/>
          <a:p>
            <a:pPr eaLnBrk="1" hangingPunct="1"/>
            <a:r>
              <a:rPr lang="en-US" altLang="zh-CN" b="0" dirty="0">
                <a:solidFill>
                  <a:srgbClr val="C00000"/>
                </a:solidFill>
                <a:latin typeface="Times New Roman" panose="02020603050405020304" pitchFamily="18" charset="0"/>
              </a:rPr>
              <a:t>DNA</a:t>
            </a:r>
            <a:r>
              <a:rPr lang="zh-CN" altLang="en-US" b="0" dirty="0">
                <a:solidFill>
                  <a:srgbClr val="C00000"/>
                </a:solidFill>
                <a:latin typeface="Times New Roman" panose="02020603050405020304" pitchFamily="18" charset="0"/>
              </a:rPr>
              <a:t>的三链结构</a:t>
            </a:r>
          </a:p>
        </p:txBody>
      </p:sp>
      <p:sp>
        <p:nvSpPr>
          <p:cNvPr id="148484" name="Rectangle 5">
            <a:extLst>
              <a:ext uri="{FF2B5EF4-FFF2-40B4-BE49-F238E27FC236}">
                <a16:creationId xmlns:a16="http://schemas.microsoft.com/office/drawing/2014/main" id="{E0B35CA6-0001-4773-9267-B19FB166D59F}"/>
              </a:ext>
            </a:extLst>
          </p:cNvPr>
          <p:cNvSpPr>
            <a:spLocks noChangeArrowheads="1"/>
          </p:cNvSpPr>
          <p:nvPr/>
        </p:nvSpPr>
        <p:spPr bwMode="auto">
          <a:xfrm>
            <a:off x="1631504" y="111126"/>
            <a:ext cx="8712968" cy="66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200" dirty="0">
                <a:solidFill>
                  <a:srgbClr val="0000CC"/>
                </a:solidFill>
                <a:latin typeface="Times New Roman" panose="02020603050405020304" pitchFamily="18" charset="0"/>
                <a:ea typeface="黑体" panose="02010609060101010101" pitchFamily="49" charset="-122"/>
              </a:rPr>
              <a:t>（四）特殊序列的</a:t>
            </a:r>
            <a:r>
              <a:rPr kumimoji="0" lang="en-US" altLang="zh-CN" sz="3200" dirty="0">
                <a:solidFill>
                  <a:srgbClr val="0000CC"/>
                </a:solidFill>
                <a:latin typeface="Times New Roman" panose="02020603050405020304" pitchFamily="18" charset="0"/>
                <a:ea typeface="黑体" panose="02010609060101010101" pitchFamily="49" charset="-122"/>
              </a:rPr>
              <a:t>DNA</a:t>
            </a:r>
            <a:r>
              <a:rPr kumimoji="0" lang="zh-CN" altLang="en-US" sz="3200" dirty="0">
                <a:solidFill>
                  <a:srgbClr val="0000CC"/>
                </a:solidFill>
                <a:latin typeface="Times New Roman" panose="02020603050405020304" pitchFamily="18" charset="0"/>
                <a:ea typeface="黑体" panose="02010609060101010101" pitchFamily="49" charset="-122"/>
              </a:rPr>
              <a:t>能形成多链结构</a:t>
            </a:r>
          </a:p>
        </p:txBody>
      </p:sp>
      <p:sp>
        <p:nvSpPr>
          <p:cNvPr id="148485" name="矩形 1">
            <a:extLst>
              <a:ext uri="{FF2B5EF4-FFF2-40B4-BE49-F238E27FC236}">
                <a16:creationId xmlns:a16="http://schemas.microsoft.com/office/drawing/2014/main" id="{410238C5-36D1-45EB-B7D4-517922E37AF1}"/>
              </a:ext>
            </a:extLst>
          </p:cNvPr>
          <p:cNvSpPr>
            <a:spLocks noChangeArrowheads="1"/>
          </p:cNvSpPr>
          <p:nvPr/>
        </p:nvSpPr>
        <p:spPr bwMode="auto">
          <a:xfrm>
            <a:off x="6095553" y="1944963"/>
            <a:ext cx="4427537" cy="100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nSpc>
                <a:spcPct val="130000"/>
              </a:lnSpc>
              <a:spcBef>
                <a:spcPct val="0"/>
              </a:spcBef>
              <a:buClrTx/>
              <a:buFontTx/>
              <a:buNone/>
            </a:pPr>
            <a:r>
              <a:rPr lang="zh-CN" altLang="en-US" sz="2400" b="0" dirty="0">
                <a:solidFill>
                  <a:srgbClr val="111111"/>
                </a:solidFill>
              </a:rPr>
              <a:t>第</a:t>
            </a:r>
            <a:r>
              <a:rPr lang="en-US" altLang="zh-CN" sz="2400" b="0" dirty="0">
                <a:solidFill>
                  <a:srgbClr val="111111"/>
                </a:solidFill>
              </a:rPr>
              <a:t>3</a:t>
            </a:r>
            <a:r>
              <a:rPr lang="zh-CN" altLang="en-US" sz="2400" b="0" dirty="0">
                <a:solidFill>
                  <a:srgbClr val="111111"/>
                </a:solidFill>
              </a:rPr>
              <a:t>链上的胞嘧啶必须质子化，且它与</a:t>
            </a:r>
            <a:r>
              <a:rPr lang="en-US" altLang="zh-CN" sz="2400" b="0" dirty="0">
                <a:solidFill>
                  <a:srgbClr val="111111"/>
                </a:solidFill>
              </a:rPr>
              <a:t>G</a:t>
            </a:r>
            <a:r>
              <a:rPr lang="zh-CN" altLang="en-US" sz="2400" b="0" dirty="0">
                <a:solidFill>
                  <a:srgbClr val="111111"/>
                </a:solidFill>
              </a:rPr>
              <a:t>只形成</a:t>
            </a:r>
            <a:r>
              <a:rPr lang="en-US" altLang="zh-CN" sz="2400" b="0" dirty="0">
                <a:solidFill>
                  <a:srgbClr val="111111"/>
                </a:solidFill>
              </a:rPr>
              <a:t>2</a:t>
            </a:r>
            <a:r>
              <a:rPr lang="zh-CN" altLang="en-US" sz="2400" b="0" dirty="0">
                <a:solidFill>
                  <a:srgbClr val="111111"/>
                </a:solidFill>
              </a:rPr>
              <a:t>个氢键。</a:t>
            </a:r>
          </a:p>
        </p:txBody>
      </p:sp>
      <p:sp>
        <p:nvSpPr>
          <p:cNvPr id="148486" name="灯片编号占位符 1">
            <a:extLst>
              <a:ext uri="{FF2B5EF4-FFF2-40B4-BE49-F238E27FC236}">
                <a16:creationId xmlns:a16="http://schemas.microsoft.com/office/drawing/2014/main" id="{19377907-F54F-4839-A3D9-5D4C406856A2}"/>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C74D01F2-A10D-459B-889C-AF613C8FD818}" type="slidenum">
              <a:rPr lang="zh-CN" altLang="en-US" sz="1200" b="0">
                <a:solidFill>
                  <a:srgbClr val="898F89"/>
                </a:solidFill>
              </a:rPr>
              <a:pPr>
                <a:spcBef>
                  <a:spcPct val="0"/>
                </a:spcBef>
                <a:buClrTx/>
                <a:buFontTx/>
                <a:buNone/>
              </a:pPr>
              <a:t>53</a:t>
            </a:fld>
            <a:endParaRPr lang="zh-CN" altLang="en-US" sz="1200" b="0">
              <a:solidFill>
                <a:srgbClr val="898F89"/>
              </a:solidFill>
            </a:endParaRPr>
          </a:p>
        </p:txBody>
      </p:sp>
      <p:sp>
        <p:nvSpPr>
          <p:cNvPr id="3" name="文本框 2">
            <a:extLst>
              <a:ext uri="{FF2B5EF4-FFF2-40B4-BE49-F238E27FC236}">
                <a16:creationId xmlns:a16="http://schemas.microsoft.com/office/drawing/2014/main" id="{A0E5A531-CAA2-1EA7-289C-D48AF7A98EF2}"/>
              </a:ext>
            </a:extLst>
          </p:cNvPr>
          <p:cNvSpPr txBox="1"/>
          <p:nvPr/>
        </p:nvSpPr>
        <p:spPr>
          <a:xfrm>
            <a:off x="9120336" y="3196855"/>
            <a:ext cx="2676128" cy="3046988"/>
          </a:xfrm>
          <a:prstGeom prst="rect">
            <a:avLst/>
          </a:prstGeom>
          <a:noFill/>
        </p:spPr>
        <p:txBody>
          <a:bodyPr wrap="square">
            <a:spAutoFit/>
          </a:bodyPr>
          <a:lstStyle/>
          <a:p>
            <a:pPr eaLnBrk="1" hangingPunct="1"/>
            <a:r>
              <a:rPr lang="zh-CN" altLang="en-US" dirty="0">
                <a:solidFill>
                  <a:srgbClr val="111111"/>
                </a:solidFill>
                <a:latin typeface="微软雅黑" panose="020B0503020204020204" pitchFamily="34" charset="-122"/>
                <a:ea typeface="微软雅黑" panose="020B0503020204020204" pitchFamily="34" charset="-122"/>
              </a:rPr>
              <a:t>三股螺旋区，</a:t>
            </a:r>
            <a:r>
              <a:rPr lang="en-US" altLang="zh-CN" dirty="0">
                <a:solidFill>
                  <a:srgbClr val="111111"/>
                </a:solidFill>
                <a:latin typeface="微软雅黑" panose="020B0503020204020204" pitchFamily="34" charset="-122"/>
                <a:ea typeface="微软雅黑" panose="020B0503020204020204" pitchFamily="34" charset="-122"/>
              </a:rPr>
              <a:t>DNA</a:t>
            </a:r>
            <a:r>
              <a:rPr lang="zh-CN" altLang="en-US" dirty="0">
                <a:solidFill>
                  <a:srgbClr val="111111"/>
                </a:solidFill>
                <a:latin typeface="微软雅黑" panose="020B0503020204020204" pitchFamily="34" charset="-122"/>
                <a:ea typeface="微软雅黑" panose="020B0503020204020204" pitchFamily="34" charset="-122"/>
              </a:rPr>
              <a:t>分子出现大转折。 </a:t>
            </a:r>
          </a:p>
          <a:p>
            <a:pPr eaLnBrk="1" hangingPunct="1"/>
            <a:endParaRPr lang="en-US" altLang="zh-CN" dirty="0">
              <a:solidFill>
                <a:srgbClr val="3333FF"/>
              </a:solidFill>
              <a:latin typeface="微软雅黑" panose="020B0503020204020204" pitchFamily="34" charset="-122"/>
              <a:ea typeface="微软雅黑" panose="020B0503020204020204" pitchFamily="34" charset="-122"/>
            </a:endParaRPr>
          </a:p>
          <a:p>
            <a:pPr eaLnBrk="1" hangingPunct="1"/>
            <a:r>
              <a:rPr lang="zh-CN" altLang="en-US" dirty="0">
                <a:solidFill>
                  <a:srgbClr val="0000CC"/>
                </a:solidFill>
                <a:latin typeface="微软雅黑" panose="020B0503020204020204" pitchFamily="34" charset="-122"/>
                <a:ea typeface="微软雅黑" panose="020B0503020204020204" pitchFamily="34" charset="-122"/>
              </a:rPr>
              <a:t>三股螺旋</a:t>
            </a:r>
            <a:r>
              <a:rPr lang="en-US" altLang="zh-CN" dirty="0">
                <a:solidFill>
                  <a:srgbClr val="0000CC"/>
                </a:solidFill>
                <a:latin typeface="微软雅黑" panose="020B0503020204020204" pitchFamily="34" charset="-122"/>
                <a:ea typeface="微软雅黑" panose="020B0503020204020204" pitchFamily="34" charset="-122"/>
              </a:rPr>
              <a:t>DNA</a:t>
            </a:r>
            <a:r>
              <a:rPr lang="zh-CN" altLang="en-US" dirty="0">
                <a:solidFill>
                  <a:srgbClr val="0000CC"/>
                </a:solidFill>
                <a:latin typeface="微软雅黑" panose="020B0503020204020204" pitchFamily="34" charset="-122"/>
                <a:ea typeface="微软雅黑" panose="020B0503020204020204" pitchFamily="34" charset="-122"/>
              </a:rPr>
              <a:t>存在于基因调控区和其他重要区域，具有重要生理意义。</a:t>
            </a:r>
            <a:endParaRPr lang="en-US" altLang="zh-CN" dirty="0">
              <a:solidFill>
                <a:srgbClr val="0000CC"/>
              </a:solidFill>
              <a:latin typeface="微软雅黑" panose="020B0503020204020204" pitchFamily="34" charset="-122"/>
              <a:ea typeface="微软雅黑" panose="020B0503020204020204" pitchFamily="34"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819203"/>
                                        </p:tgtEl>
                                        <p:attrNameLst>
                                          <p:attrName>style.visibility</p:attrName>
                                        </p:attrNameLst>
                                      </p:cBhvr>
                                      <p:to>
                                        <p:strVal val="visible"/>
                                      </p:to>
                                    </p:set>
                                    <p:animEffect transition="in" filter="dissolve">
                                      <p:cBhvr>
                                        <p:cTn id="7" dur="500"/>
                                        <p:tgtEl>
                                          <p:spTgt spid="819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0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Rectangle 7">
            <a:extLst>
              <a:ext uri="{FF2B5EF4-FFF2-40B4-BE49-F238E27FC236}">
                <a16:creationId xmlns:a16="http://schemas.microsoft.com/office/drawing/2014/main" id="{2081F363-E499-403A-B8A9-3F322B09DD51}"/>
              </a:ext>
            </a:extLst>
          </p:cNvPr>
          <p:cNvSpPr>
            <a:spLocks noChangeArrowheads="1"/>
          </p:cNvSpPr>
          <p:nvPr/>
        </p:nvSpPr>
        <p:spPr bwMode="auto">
          <a:xfrm>
            <a:off x="2135560" y="1122100"/>
            <a:ext cx="8424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46088" indent="-446088">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SzPct val="80000"/>
              <a:buFont typeface="Wingdings" panose="05000000000000000000" pitchFamily="2" charset="2"/>
              <a:buNone/>
            </a:pPr>
            <a:r>
              <a:rPr lang="zh-CN" altLang="en-US" b="0" dirty="0">
                <a:solidFill>
                  <a:srgbClr val="000000"/>
                </a:solidFill>
                <a:latin typeface="Times New Roman" panose="02020603050405020304" pitchFamily="18" charset="0"/>
                <a:ea typeface="黑体" panose="02010609060101010101" pitchFamily="49" charset="-122"/>
              </a:rPr>
              <a:t>三股链中的非</a:t>
            </a:r>
            <a:r>
              <a:rPr lang="en-US" altLang="zh-CN" b="0" dirty="0">
                <a:solidFill>
                  <a:srgbClr val="000000"/>
                </a:solidFill>
                <a:latin typeface="Times New Roman" panose="02020603050405020304" pitchFamily="18" charset="0"/>
                <a:ea typeface="黑体" panose="02010609060101010101" pitchFamily="49" charset="-122"/>
              </a:rPr>
              <a:t>Watson-Crick</a:t>
            </a:r>
            <a:r>
              <a:rPr lang="zh-CN" altLang="en-US" b="0" dirty="0">
                <a:solidFill>
                  <a:srgbClr val="000000"/>
                </a:solidFill>
                <a:latin typeface="Times New Roman" panose="02020603050405020304" pitchFamily="18" charset="0"/>
                <a:ea typeface="黑体" panose="02010609060101010101" pitchFamily="49" charset="-122"/>
              </a:rPr>
              <a:t>配对称为</a:t>
            </a:r>
            <a:r>
              <a:rPr lang="en-US" altLang="zh-CN" b="0" dirty="0" err="1">
                <a:solidFill>
                  <a:srgbClr val="0000CC"/>
                </a:solidFill>
                <a:latin typeface="Times New Roman" panose="02020603050405020304" pitchFamily="18" charset="0"/>
                <a:ea typeface="黑体" panose="02010609060101010101" pitchFamily="49" charset="-122"/>
              </a:rPr>
              <a:t>Hoogsteen</a:t>
            </a:r>
            <a:r>
              <a:rPr lang="zh-CN" altLang="en-US" b="0" dirty="0">
                <a:solidFill>
                  <a:srgbClr val="0000CC"/>
                </a:solidFill>
                <a:latin typeface="Times New Roman" panose="02020603050405020304" pitchFamily="18" charset="0"/>
                <a:ea typeface="黑体" panose="02010609060101010101" pitchFamily="49" charset="-122"/>
              </a:rPr>
              <a:t>配对</a:t>
            </a:r>
          </a:p>
        </p:txBody>
      </p:sp>
      <p:sp>
        <p:nvSpPr>
          <p:cNvPr id="181252" name="标题 1">
            <a:extLst>
              <a:ext uri="{FF2B5EF4-FFF2-40B4-BE49-F238E27FC236}">
                <a16:creationId xmlns:a16="http://schemas.microsoft.com/office/drawing/2014/main" id="{8FF14F19-7033-4CCB-AAF2-7DDBD88F1D82}"/>
              </a:ext>
            </a:extLst>
          </p:cNvPr>
          <p:cNvSpPr>
            <a:spLocks noGrp="1" noChangeArrowheads="1"/>
          </p:cNvSpPr>
          <p:nvPr>
            <p:ph type="title"/>
          </p:nvPr>
        </p:nvSpPr>
        <p:spPr>
          <a:xfrm>
            <a:off x="3101182" y="65851"/>
            <a:ext cx="6207125" cy="735073"/>
          </a:xfrm>
        </p:spPr>
        <p:txBody>
          <a:bodyPr>
            <a:spAutoFit/>
          </a:bodyPr>
          <a:lstStyle/>
          <a:p>
            <a:pPr eaLnBrk="1" hangingPunct="1">
              <a:lnSpc>
                <a:spcPct val="130000"/>
              </a:lnSpc>
              <a:spcAft>
                <a:spcPct val="30000"/>
              </a:spcAft>
              <a:defRPr/>
            </a:pPr>
            <a:r>
              <a:rPr lang="zh-CN" altLang="en-US" sz="3600" kern="1200" dirty="0">
                <a:latin typeface="Times New Roman" panose="02020603050405020304" pitchFamily="18" charset="0"/>
                <a:ea typeface="黑体" panose="02010609060101010101" pitchFamily="49" charset="-122"/>
                <a:cs typeface="+mn-cs"/>
              </a:rPr>
              <a:t>三股螺旋中的</a:t>
            </a:r>
            <a:r>
              <a:rPr lang="en-US" altLang="zh-CN" sz="3600" kern="1200" dirty="0" err="1">
                <a:latin typeface="Times New Roman" panose="02020603050405020304" pitchFamily="18" charset="0"/>
                <a:ea typeface="黑体" panose="02010609060101010101" pitchFamily="49" charset="-122"/>
                <a:cs typeface="+mn-cs"/>
              </a:rPr>
              <a:t>Hoogsteen</a:t>
            </a:r>
            <a:r>
              <a:rPr lang="zh-CN" altLang="en-US" sz="3600" kern="1200" dirty="0">
                <a:latin typeface="Times New Roman" panose="02020603050405020304" pitchFamily="18" charset="0"/>
                <a:ea typeface="黑体" panose="02010609060101010101" pitchFamily="49" charset="-122"/>
                <a:cs typeface="+mn-cs"/>
              </a:rPr>
              <a:t>氢键</a:t>
            </a:r>
          </a:p>
        </p:txBody>
      </p:sp>
      <p:pic>
        <p:nvPicPr>
          <p:cNvPr id="3" name="图片 2">
            <a:extLst>
              <a:ext uri="{FF2B5EF4-FFF2-40B4-BE49-F238E27FC236}">
                <a16:creationId xmlns:a16="http://schemas.microsoft.com/office/drawing/2014/main" id="{B0E10705-1557-3480-A97C-DCEF1048F1E1}"/>
              </a:ext>
            </a:extLst>
          </p:cNvPr>
          <p:cNvPicPr>
            <a:picLocks noChangeAspect="1"/>
          </p:cNvPicPr>
          <p:nvPr/>
        </p:nvPicPr>
        <p:blipFill>
          <a:blip r:embed="rId3"/>
          <a:stretch>
            <a:fillRect/>
          </a:stretch>
        </p:blipFill>
        <p:spPr>
          <a:xfrm>
            <a:off x="2431544" y="1784911"/>
            <a:ext cx="7328913" cy="2160240"/>
          </a:xfrm>
          <a:prstGeom prst="rect">
            <a:avLst/>
          </a:prstGeom>
        </p:spPr>
      </p:pic>
      <p:pic>
        <p:nvPicPr>
          <p:cNvPr id="5" name="图片 4">
            <a:extLst>
              <a:ext uri="{FF2B5EF4-FFF2-40B4-BE49-F238E27FC236}">
                <a16:creationId xmlns:a16="http://schemas.microsoft.com/office/drawing/2014/main" id="{C162B0A4-C4A7-E578-8AAD-C8DE842CBD0E}"/>
              </a:ext>
            </a:extLst>
          </p:cNvPr>
          <p:cNvPicPr>
            <a:picLocks noChangeAspect="1"/>
          </p:cNvPicPr>
          <p:nvPr/>
        </p:nvPicPr>
        <p:blipFill>
          <a:blip r:embed="rId4"/>
          <a:stretch>
            <a:fillRect/>
          </a:stretch>
        </p:blipFill>
        <p:spPr>
          <a:xfrm>
            <a:off x="2495600" y="4093780"/>
            <a:ext cx="2506021" cy="2287548"/>
          </a:xfrm>
          <a:prstGeom prst="rect">
            <a:avLst/>
          </a:prstGeom>
        </p:spPr>
      </p:pic>
      <p:sp>
        <p:nvSpPr>
          <p:cNvPr id="6" name="文本框 5">
            <a:extLst>
              <a:ext uri="{FF2B5EF4-FFF2-40B4-BE49-F238E27FC236}">
                <a16:creationId xmlns:a16="http://schemas.microsoft.com/office/drawing/2014/main" id="{37E0A3F9-B2C2-F5D2-74EC-95984263F67A}"/>
              </a:ext>
            </a:extLst>
          </p:cNvPr>
          <p:cNvSpPr txBox="1"/>
          <p:nvPr/>
        </p:nvSpPr>
        <p:spPr>
          <a:xfrm>
            <a:off x="6023918" y="4553776"/>
            <a:ext cx="4536504" cy="1827552"/>
          </a:xfrm>
          <a:prstGeom prst="rect">
            <a:avLst/>
          </a:prstGeom>
          <a:noFill/>
        </p:spPr>
        <p:txBody>
          <a:bodyPr wrap="square" rtlCol="0">
            <a:spAutoFit/>
          </a:bodyPr>
          <a:lstStyle/>
          <a:p>
            <a:pPr>
              <a:lnSpc>
                <a:spcPct val="120000"/>
              </a:lnSpc>
            </a:pPr>
            <a:r>
              <a:rPr lang="zh-CN" altLang="en-US" dirty="0">
                <a:solidFill>
                  <a:srgbClr val="080808"/>
                </a:solidFill>
                <a:latin typeface="微软雅黑" panose="020B0503020204020204" pitchFamily="34" charset="-122"/>
                <a:ea typeface="微软雅黑" panose="020B0503020204020204" pitchFamily="34" charset="-122"/>
              </a:rPr>
              <a:t>蓝色链和白色链反向平行，正常</a:t>
            </a:r>
            <a:r>
              <a:rPr lang="en-US" altLang="zh-CN" dirty="0">
                <a:solidFill>
                  <a:srgbClr val="080808"/>
                </a:solidFill>
                <a:latin typeface="微软雅黑" panose="020B0503020204020204" pitchFamily="34" charset="-122"/>
                <a:ea typeface="微软雅黑" panose="020B0503020204020204" pitchFamily="34" charset="-122"/>
              </a:rPr>
              <a:t>Watson-Crick</a:t>
            </a:r>
            <a:r>
              <a:rPr lang="zh-CN" altLang="en-US" dirty="0">
                <a:solidFill>
                  <a:srgbClr val="080808"/>
                </a:solidFill>
                <a:latin typeface="微软雅黑" panose="020B0503020204020204" pitchFamily="34" charset="-122"/>
                <a:ea typeface="微软雅黑" panose="020B0503020204020204" pitchFamily="34" charset="-122"/>
              </a:rPr>
              <a:t>配对，第三条链（红色）与蓝色的嘌呤链顺向平行，彼此间是</a:t>
            </a:r>
            <a:r>
              <a:rPr lang="en-US" altLang="zh-CN" dirty="0" err="1">
                <a:solidFill>
                  <a:srgbClr val="080808"/>
                </a:solidFill>
                <a:latin typeface="微软雅黑" panose="020B0503020204020204" pitchFamily="34" charset="-122"/>
                <a:ea typeface="微软雅黑" panose="020B0503020204020204" pitchFamily="34" charset="-122"/>
              </a:rPr>
              <a:t>Hoogsteen</a:t>
            </a:r>
            <a:r>
              <a:rPr lang="zh-CN" altLang="en-US" dirty="0">
                <a:solidFill>
                  <a:srgbClr val="080808"/>
                </a:solidFill>
                <a:latin typeface="微软雅黑" panose="020B0503020204020204" pitchFamily="34" charset="-122"/>
                <a:ea typeface="微软雅黑" panose="020B0503020204020204" pitchFamily="34" charset="-122"/>
              </a:rPr>
              <a:t>配对。 </a:t>
            </a:r>
          </a:p>
        </p:txBody>
      </p:sp>
    </p:spTree>
  </p:cSld>
  <p:clrMapOvr>
    <a:masterClrMapping/>
  </p:clrMapOvr>
  <p:transition spd="slow">
    <p:circl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6">
            <a:extLst>
              <a:ext uri="{FF2B5EF4-FFF2-40B4-BE49-F238E27FC236}">
                <a16:creationId xmlns:a16="http://schemas.microsoft.com/office/drawing/2014/main" id="{C0BDC529-C84F-462C-A267-ED4C250471FF}"/>
              </a:ext>
            </a:extLst>
          </p:cNvPr>
          <p:cNvSpPr>
            <a:spLocks noChangeArrowheads="1"/>
          </p:cNvSpPr>
          <p:nvPr/>
        </p:nvSpPr>
        <p:spPr bwMode="gray">
          <a:xfrm>
            <a:off x="4243108" y="130176"/>
            <a:ext cx="3889375" cy="735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en-US" altLang="zh-CN" sz="3600" dirty="0">
                <a:solidFill>
                  <a:srgbClr val="0000CC"/>
                </a:solidFill>
                <a:latin typeface="Times New Roman" panose="02020603050405020304" pitchFamily="18" charset="0"/>
                <a:ea typeface="黑体" panose="02010609060101010101" pitchFamily="49" charset="-122"/>
              </a:rPr>
              <a:t>DNA</a:t>
            </a:r>
            <a:r>
              <a:rPr kumimoji="0" lang="zh-CN" altLang="en-US" sz="3600" dirty="0">
                <a:solidFill>
                  <a:srgbClr val="0000CC"/>
                </a:solidFill>
                <a:latin typeface="Times New Roman" panose="02020603050405020304" pitchFamily="18" charset="0"/>
                <a:ea typeface="黑体" panose="02010609060101010101" pitchFamily="49" charset="-122"/>
              </a:rPr>
              <a:t>的四链结构</a:t>
            </a:r>
          </a:p>
        </p:txBody>
      </p:sp>
      <p:pic>
        <p:nvPicPr>
          <p:cNvPr id="152579" name="图片 1">
            <a:extLst>
              <a:ext uri="{FF2B5EF4-FFF2-40B4-BE49-F238E27FC236}">
                <a16:creationId xmlns:a16="http://schemas.microsoft.com/office/drawing/2014/main" id="{7C3771C4-18CE-4443-80B6-25C4FDE98AE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56040" y="1588151"/>
            <a:ext cx="3775075" cy="246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580" name="图片 3">
            <a:extLst>
              <a:ext uri="{FF2B5EF4-FFF2-40B4-BE49-F238E27FC236}">
                <a16:creationId xmlns:a16="http://schemas.microsoft.com/office/drawing/2014/main" id="{FBC0E6AF-EE78-4971-8CE0-11E40798311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40480" y="1195387"/>
            <a:ext cx="3405254" cy="324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81" name="矩形 1">
            <a:extLst>
              <a:ext uri="{FF2B5EF4-FFF2-40B4-BE49-F238E27FC236}">
                <a16:creationId xmlns:a16="http://schemas.microsoft.com/office/drawing/2014/main" id="{98713DB1-4895-4C44-A746-8A85FF868981}"/>
              </a:ext>
            </a:extLst>
          </p:cNvPr>
          <p:cNvSpPr>
            <a:spLocks noChangeArrowheads="1"/>
          </p:cNvSpPr>
          <p:nvPr/>
        </p:nvSpPr>
        <p:spPr bwMode="auto">
          <a:xfrm>
            <a:off x="1795306" y="4653136"/>
            <a:ext cx="9125229"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marL="342900" indent="-342900">
              <a:spcBef>
                <a:spcPct val="0"/>
              </a:spcBef>
              <a:buClrTx/>
            </a:pPr>
            <a:r>
              <a:rPr lang="zh-CN" altLang="en-US" sz="2400" b="0" dirty="0">
                <a:solidFill>
                  <a:srgbClr val="000000"/>
                </a:solidFill>
                <a:latin typeface="黑体" panose="02010609060101010101" pitchFamily="49" charset="-122"/>
                <a:ea typeface="黑体" panose="02010609060101010101" pitchFamily="49" charset="-122"/>
              </a:rPr>
              <a:t>这种四链结构</a:t>
            </a:r>
            <a:r>
              <a:rPr lang="zh-CN" altLang="en-US" sz="2400" b="0" dirty="0">
                <a:solidFill>
                  <a:srgbClr val="0000FF"/>
                </a:solidFill>
                <a:latin typeface="黑体" panose="02010609060101010101" pitchFamily="49" charset="-122"/>
                <a:ea typeface="黑体" panose="02010609060101010101" pitchFamily="49" charset="-122"/>
              </a:rPr>
              <a:t>很稳定</a:t>
            </a:r>
            <a:r>
              <a:rPr lang="zh-CN" altLang="en-US" sz="2400" b="0" dirty="0">
                <a:solidFill>
                  <a:srgbClr val="000000"/>
                </a:solidFill>
                <a:latin typeface="黑体" panose="02010609060101010101" pitchFamily="49" charset="-122"/>
                <a:ea typeface="黑体" panose="02010609060101010101" pitchFamily="49" charset="-122"/>
              </a:rPr>
              <a:t>，存在于真核细胞染色体的</a:t>
            </a:r>
            <a:r>
              <a:rPr lang="zh-CN" altLang="en-US" sz="2400" b="0" dirty="0">
                <a:solidFill>
                  <a:srgbClr val="0000FF"/>
                </a:solidFill>
                <a:latin typeface="黑体" panose="02010609060101010101" pitchFamily="49" charset="-122"/>
                <a:ea typeface="黑体" panose="02010609060101010101" pitchFamily="49" charset="-122"/>
              </a:rPr>
              <a:t>端粒中</a:t>
            </a:r>
            <a:r>
              <a:rPr lang="zh-CN" altLang="en-US" sz="2400" b="0" dirty="0">
                <a:solidFill>
                  <a:srgbClr val="000000"/>
                </a:solidFill>
                <a:latin typeface="黑体" panose="02010609060101010101" pitchFamily="49" charset="-122"/>
                <a:ea typeface="黑体" panose="02010609060101010101" pitchFamily="49" charset="-122"/>
              </a:rPr>
              <a:t>。</a:t>
            </a:r>
            <a:endParaRPr lang="en-US" altLang="zh-CN" sz="2400" b="0" dirty="0">
              <a:solidFill>
                <a:srgbClr val="000000"/>
              </a:solidFill>
              <a:latin typeface="黑体" panose="02010609060101010101" pitchFamily="49" charset="-122"/>
              <a:ea typeface="黑体" panose="02010609060101010101" pitchFamily="49" charset="-122"/>
            </a:endParaRPr>
          </a:p>
          <a:p>
            <a:pPr marL="342900" indent="-342900">
              <a:spcBef>
                <a:spcPct val="0"/>
              </a:spcBef>
              <a:buClrTx/>
            </a:pPr>
            <a:r>
              <a:rPr lang="zh-CN" altLang="en-US" sz="2400" b="0" dirty="0">
                <a:solidFill>
                  <a:srgbClr val="000000"/>
                </a:solidFill>
                <a:latin typeface="黑体" panose="02010609060101010101" pitchFamily="49" charset="-122"/>
                <a:ea typeface="黑体" panose="02010609060101010101" pitchFamily="49" charset="-122"/>
              </a:rPr>
              <a:t>某些癌基因的启动子和</a:t>
            </a:r>
            <a:r>
              <a:rPr lang="en-US" altLang="zh-CN" sz="2400" b="0" dirty="0">
                <a:solidFill>
                  <a:srgbClr val="000000"/>
                </a:solidFill>
                <a:latin typeface="黑体" panose="02010609060101010101" pitchFamily="49" charset="-122"/>
                <a:ea typeface="黑体" panose="02010609060101010101" pitchFamily="49" charset="-122"/>
              </a:rPr>
              <a:t>mRNA </a:t>
            </a:r>
            <a:r>
              <a:rPr lang="zh-CN" altLang="en-US" sz="2400" b="0" dirty="0">
                <a:solidFill>
                  <a:srgbClr val="000000"/>
                </a:solidFill>
                <a:latin typeface="黑体" panose="02010609060101010101" pitchFamily="49" charset="-122"/>
                <a:ea typeface="黑体" panose="02010609060101010101" pitchFamily="49" charset="-122"/>
              </a:rPr>
              <a:t>的</a:t>
            </a:r>
            <a:r>
              <a:rPr lang="en-US" altLang="zh-CN" sz="2400" b="0" dirty="0">
                <a:solidFill>
                  <a:srgbClr val="000000"/>
                </a:solidFill>
                <a:latin typeface="黑体" panose="02010609060101010101" pitchFamily="49" charset="-122"/>
                <a:ea typeface="黑体" panose="02010609060101010101" pitchFamily="49" charset="-122"/>
              </a:rPr>
              <a:t>3′</a:t>
            </a:r>
            <a:r>
              <a:rPr lang="zh-CN" altLang="en-US" sz="2400" b="0" dirty="0">
                <a:solidFill>
                  <a:srgbClr val="000000"/>
                </a:solidFill>
                <a:latin typeface="黑体" panose="02010609060101010101" pitchFamily="49" charset="-122"/>
                <a:ea typeface="黑体" panose="02010609060101010101" pitchFamily="49" charset="-122"/>
              </a:rPr>
              <a:t>非翻译区都有一些</a:t>
            </a:r>
            <a:r>
              <a:rPr lang="zh-CN" altLang="en-US" sz="2400" b="0" dirty="0">
                <a:solidFill>
                  <a:srgbClr val="0000CC"/>
                </a:solidFill>
                <a:latin typeface="黑体" panose="02010609060101010101" pitchFamily="49" charset="-122"/>
                <a:ea typeface="黑体" panose="02010609060101010101" pitchFamily="49" charset="-122"/>
              </a:rPr>
              <a:t>富含鸟嘌呤</a:t>
            </a:r>
            <a:r>
              <a:rPr lang="zh-CN" altLang="en-US" sz="2400" b="0" dirty="0">
                <a:solidFill>
                  <a:srgbClr val="000000"/>
                </a:solidFill>
                <a:latin typeface="黑体" panose="02010609060101010101" pitchFamily="49" charset="-122"/>
                <a:ea typeface="黑体" panose="02010609060101010101" pitchFamily="49" charset="-122"/>
              </a:rPr>
              <a:t>的序列</a:t>
            </a:r>
            <a:r>
              <a:rPr lang="en-US" altLang="zh-CN" sz="2400" b="0" dirty="0">
                <a:solidFill>
                  <a:srgbClr val="000000"/>
                </a:solidFill>
                <a:latin typeface="黑体" panose="02010609060101010101" pitchFamily="49" charset="-122"/>
                <a:ea typeface="黑体" panose="02010609060101010101" pitchFamily="49" charset="-122"/>
              </a:rPr>
              <a:t>, </a:t>
            </a:r>
            <a:r>
              <a:rPr lang="zh-CN" altLang="en-US" sz="2400" b="0" dirty="0">
                <a:solidFill>
                  <a:srgbClr val="000000"/>
                </a:solidFill>
                <a:latin typeface="黑体" panose="02010609060101010101" pitchFamily="49" charset="-122"/>
                <a:ea typeface="黑体" panose="02010609060101010101" pitchFamily="49" charset="-122"/>
              </a:rPr>
              <a:t>可以形成</a:t>
            </a:r>
            <a:r>
              <a:rPr lang="en-US" altLang="zh-CN" sz="2400" b="0" dirty="0">
                <a:solidFill>
                  <a:srgbClr val="0000FF"/>
                </a:solidFill>
                <a:latin typeface="黑体" panose="02010609060101010101" pitchFamily="49" charset="-122"/>
                <a:ea typeface="黑体" panose="02010609060101010101" pitchFamily="49" charset="-122"/>
              </a:rPr>
              <a:t>G-</a:t>
            </a:r>
            <a:r>
              <a:rPr lang="zh-CN" altLang="en-US" sz="2400" b="0" dirty="0">
                <a:solidFill>
                  <a:srgbClr val="0000FF"/>
                </a:solidFill>
                <a:latin typeface="黑体" panose="02010609060101010101" pitchFamily="49" charset="-122"/>
                <a:ea typeface="黑体" panose="02010609060101010101" pitchFamily="49" charset="-122"/>
              </a:rPr>
              <a:t>四链结构（</a:t>
            </a:r>
            <a:r>
              <a:rPr lang="en-US" altLang="zh-CN" sz="2400" b="0" dirty="0">
                <a:solidFill>
                  <a:srgbClr val="0000FF"/>
                </a:solidFill>
                <a:latin typeface="黑体" panose="02010609060101010101" pitchFamily="49" charset="-122"/>
                <a:ea typeface="黑体" panose="02010609060101010101" pitchFamily="49" charset="-122"/>
              </a:rPr>
              <a:t>G tetraplex</a:t>
            </a:r>
            <a:r>
              <a:rPr lang="zh-CN" altLang="en-US" sz="2400" b="0" dirty="0">
                <a:solidFill>
                  <a:srgbClr val="0000FF"/>
                </a:solidFill>
                <a:latin typeface="黑体" panose="02010609060101010101" pitchFamily="49" charset="-122"/>
                <a:ea typeface="黑体" panose="02010609060101010101" pitchFamily="49" charset="-122"/>
              </a:rPr>
              <a:t>），</a:t>
            </a:r>
            <a:r>
              <a:rPr lang="zh-CN" altLang="en-US" sz="2400" b="0" dirty="0">
                <a:solidFill>
                  <a:srgbClr val="000000"/>
                </a:solidFill>
                <a:latin typeface="黑体" panose="02010609060101010101" pitchFamily="49" charset="-122"/>
                <a:ea typeface="黑体" panose="02010609060101010101" pitchFamily="49" charset="-122"/>
              </a:rPr>
              <a:t>对基因转录和蛋白质合成进行适度的调控。</a:t>
            </a:r>
          </a:p>
        </p:txBody>
      </p:sp>
    </p:spTree>
  </p:cSld>
  <p:clrMapOvr>
    <a:masterClrMapping/>
  </p:clrMapOvr>
  <p:transition spd="slow">
    <p:circl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ext Box 2">
            <a:extLst>
              <a:ext uri="{FF2B5EF4-FFF2-40B4-BE49-F238E27FC236}">
                <a16:creationId xmlns:a16="http://schemas.microsoft.com/office/drawing/2014/main" id="{0874C545-70BA-45CD-8C78-329311B26672}"/>
              </a:ext>
            </a:extLst>
          </p:cNvPr>
          <p:cNvSpPr txBox="1">
            <a:spLocks noChangeArrowheads="1"/>
          </p:cNvSpPr>
          <p:nvPr/>
        </p:nvSpPr>
        <p:spPr bwMode="auto">
          <a:xfrm>
            <a:off x="1610519" y="168450"/>
            <a:ext cx="8970963" cy="66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200" dirty="0">
                <a:solidFill>
                  <a:srgbClr val="0000CC"/>
                </a:solidFill>
                <a:latin typeface="Times New Roman" panose="02020603050405020304" pitchFamily="18" charset="0"/>
                <a:ea typeface="黑体" panose="02010609060101010101" pitchFamily="49" charset="-122"/>
              </a:rPr>
              <a:t>二、</a:t>
            </a:r>
            <a:r>
              <a:rPr kumimoji="0" lang="zh-CN" altLang="zh-CN" sz="3200" dirty="0">
                <a:solidFill>
                  <a:srgbClr val="0000CC"/>
                </a:solidFill>
                <a:latin typeface="Times New Roman" panose="02020603050405020304" pitchFamily="18" charset="0"/>
                <a:ea typeface="黑体" panose="02010609060101010101" pitchFamily="49" charset="-122"/>
              </a:rPr>
              <a:t>DNA</a:t>
            </a:r>
            <a:r>
              <a:rPr kumimoji="0" lang="zh-CN" altLang="en-US" sz="3200" dirty="0">
                <a:solidFill>
                  <a:srgbClr val="0000CC"/>
                </a:solidFill>
                <a:latin typeface="Times New Roman" panose="02020603050405020304" pitchFamily="18" charset="0"/>
                <a:ea typeface="黑体" panose="02010609060101010101" pitchFamily="49" charset="-122"/>
              </a:rPr>
              <a:t>双链经过盘绕折叠形成致密的高级结构</a:t>
            </a:r>
            <a:endParaRPr kumimoji="0" lang="zh-CN" altLang="zh-CN" sz="3200" dirty="0">
              <a:solidFill>
                <a:srgbClr val="0000CC"/>
              </a:solidFill>
              <a:latin typeface="Times New Roman" panose="02020603050405020304" pitchFamily="18" charset="0"/>
              <a:ea typeface="黑体" panose="02010609060101010101" pitchFamily="49" charset="-122"/>
            </a:endParaRPr>
          </a:p>
        </p:txBody>
      </p:sp>
      <p:sp>
        <p:nvSpPr>
          <p:cNvPr id="154627" name="Rectangle 4">
            <a:extLst>
              <a:ext uri="{FF2B5EF4-FFF2-40B4-BE49-F238E27FC236}">
                <a16:creationId xmlns:a16="http://schemas.microsoft.com/office/drawing/2014/main" id="{48CC6759-FC99-41E8-A638-25FBC8C26BE4}"/>
              </a:ext>
            </a:extLst>
          </p:cNvPr>
          <p:cNvSpPr>
            <a:spLocks noChangeArrowheads="1"/>
          </p:cNvSpPr>
          <p:nvPr/>
        </p:nvSpPr>
        <p:spPr bwMode="auto">
          <a:xfrm>
            <a:off x="1415480" y="1340768"/>
            <a:ext cx="6818901" cy="4708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marL="457200" indent="-457200" eaLnBrk="1" hangingPunct="1">
              <a:lnSpc>
                <a:spcPct val="120000"/>
              </a:lnSpc>
              <a:spcBef>
                <a:spcPct val="0"/>
              </a:spcBef>
              <a:buClrTx/>
            </a:pPr>
            <a:r>
              <a:rPr lang="en-US" altLang="zh-CN" sz="2600" b="0" dirty="0">
                <a:solidFill>
                  <a:schemeClr val="tx1"/>
                </a:solidFill>
                <a:latin typeface="Times New Roman" panose="02020603050405020304" pitchFamily="18" charset="0"/>
                <a:ea typeface="黑体" panose="02010609060101010101" pitchFamily="49" charset="-122"/>
              </a:rPr>
              <a:t>DNA</a:t>
            </a:r>
            <a:r>
              <a:rPr lang="zh-CN" altLang="en-US" sz="2600" b="0" dirty="0">
                <a:solidFill>
                  <a:schemeClr val="tx1"/>
                </a:solidFill>
                <a:latin typeface="Times New Roman" panose="02020603050405020304" pitchFamily="18" charset="0"/>
                <a:ea typeface="黑体" panose="02010609060101010101" pitchFamily="49" charset="-122"/>
              </a:rPr>
              <a:t>双螺旋链再盘绕即形成</a:t>
            </a:r>
            <a:r>
              <a:rPr lang="zh-CN" altLang="en-US" sz="2600" b="0" dirty="0">
                <a:solidFill>
                  <a:srgbClr val="0000CC"/>
                </a:solidFill>
                <a:latin typeface="Times New Roman" panose="02020603050405020304" pitchFamily="18" charset="0"/>
                <a:ea typeface="黑体" panose="02010609060101010101" pitchFamily="49" charset="-122"/>
              </a:rPr>
              <a:t>超螺旋结构</a:t>
            </a:r>
            <a:r>
              <a:rPr lang="en-US" altLang="zh-CN" sz="2600" b="0" dirty="0">
                <a:solidFill>
                  <a:srgbClr val="0000CC"/>
                </a:solidFill>
                <a:latin typeface="Times New Roman" panose="02020603050405020304" pitchFamily="18" charset="0"/>
                <a:ea typeface="黑体" panose="02010609060101010101" pitchFamily="49" charset="-122"/>
              </a:rPr>
              <a:t>(superhelix </a:t>
            </a:r>
            <a:r>
              <a:rPr lang="zh-CN" altLang="en-US" sz="2600" b="0" dirty="0">
                <a:solidFill>
                  <a:srgbClr val="0000CC"/>
                </a:solidFill>
                <a:latin typeface="Times New Roman" panose="02020603050405020304" pitchFamily="18" charset="0"/>
                <a:ea typeface="黑体" panose="02010609060101010101" pitchFamily="49" charset="-122"/>
              </a:rPr>
              <a:t>或</a:t>
            </a:r>
            <a:r>
              <a:rPr lang="en-US" altLang="zh-CN" sz="2600" b="0" dirty="0">
                <a:solidFill>
                  <a:srgbClr val="0000CC"/>
                </a:solidFill>
                <a:latin typeface="Times New Roman" panose="02020603050405020304" pitchFamily="18" charset="0"/>
                <a:ea typeface="黑体" panose="02010609060101010101" pitchFamily="49" charset="-122"/>
              </a:rPr>
              <a:t>supercoil)</a:t>
            </a:r>
            <a:r>
              <a:rPr lang="en-US" altLang="zh-CN" sz="2600" b="0" dirty="0">
                <a:solidFill>
                  <a:schemeClr val="tx1"/>
                </a:solidFill>
                <a:latin typeface="Times New Roman" panose="02020603050405020304" pitchFamily="18" charset="0"/>
                <a:ea typeface="黑体" panose="02010609060101010101" pitchFamily="49" charset="-122"/>
              </a:rPr>
              <a:t> </a:t>
            </a:r>
            <a:r>
              <a:rPr lang="zh-CN" altLang="en-US" sz="2600" b="0" dirty="0">
                <a:solidFill>
                  <a:schemeClr val="tx1"/>
                </a:solidFill>
                <a:latin typeface="Times New Roman" panose="02020603050405020304" pitchFamily="18" charset="0"/>
                <a:ea typeface="黑体" panose="02010609060101010101" pitchFamily="49" charset="-122"/>
              </a:rPr>
              <a:t>。 当盘绕方向与</a:t>
            </a:r>
            <a:r>
              <a:rPr lang="en-US" altLang="zh-CN" sz="2600" b="0" dirty="0">
                <a:solidFill>
                  <a:schemeClr val="tx1"/>
                </a:solidFill>
                <a:latin typeface="Times New Roman" panose="02020603050405020304" pitchFamily="18" charset="0"/>
                <a:ea typeface="黑体" panose="02010609060101010101" pitchFamily="49" charset="-122"/>
              </a:rPr>
              <a:t>DNA </a:t>
            </a:r>
            <a:r>
              <a:rPr lang="zh-CN" altLang="en-US" sz="2600" b="0" dirty="0">
                <a:solidFill>
                  <a:schemeClr val="tx1"/>
                </a:solidFill>
                <a:latin typeface="Times New Roman" panose="02020603050405020304" pitchFamily="18" charset="0"/>
                <a:ea typeface="黑体" panose="02010609060101010101" pitchFamily="49" charset="-122"/>
              </a:rPr>
              <a:t>双螺旋方向相同时，其超螺旋结构为</a:t>
            </a:r>
            <a:r>
              <a:rPr lang="zh-CN" altLang="en-US" sz="2600" b="0" dirty="0">
                <a:solidFill>
                  <a:srgbClr val="C00000"/>
                </a:solidFill>
                <a:latin typeface="Times New Roman" panose="02020603050405020304" pitchFamily="18" charset="0"/>
                <a:ea typeface="黑体" panose="02010609060101010101" pitchFamily="49" charset="-122"/>
              </a:rPr>
              <a:t>正超螺旋（</a:t>
            </a:r>
            <a:r>
              <a:rPr lang="en-US" altLang="zh-CN" sz="2600" b="0" dirty="0">
                <a:solidFill>
                  <a:srgbClr val="C00000"/>
                </a:solidFill>
                <a:latin typeface="Times New Roman" panose="02020603050405020304" pitchFamily="18" charset="0"/>
                <a:ea typeface="黑体" panose="02010609060101010101" pitchFamily="49" charset="-122"/>
              </a:rPr>
              <a:t>positive supercoil</a:t>
            </a:r>
            <a:r>
              <a:rPr lang="zh-CN" altLang="en-US" sz="2600" b="0" dirty="0">
                <a:solidFill>
                  <a:srgbClr val="C00000"/>
                </a:solidFill>
                <a:latin typeface="Times New Roman" panose="02020603050405020304" pitchFamily="18" charset="0"/>
                <a:ea typeface="黑体" panose="02010609060101010101" pitchFamily="49" charset="-122"/>
              </a:rPr>
              <a:t>）</a:t>
            </a:r>
            <a:r>
              <a:rPr lang="zh-CN" altLang="en-US" sz="2600" b="0" dirty="0">
                <a:solidFill>
                  <a:schemeClr val="tx1"/>
                </a:solidFill>
                <a:latin typeface="Times New Roman" panose="02020603050405020304" pitchFamily="18" charset="0"/>
                <a:ea typeface="黑体" panose="02010609060101010101" pitchFamily="49" charset="-122"/>
              </a:rPr>
              <a:t>；反之则为</a:t>
            </a:r>
            <a:r>
              <a:rPr lang="zh-CN" altLang="en-US" sz="2600" b="0" dirty="0">
                <a:solidFill>
                  <a:srgbClr val="C00000"/>
                </a:solidFill>
                <a:latin typeface="Times New Roman" panose="02020603050405020304" pitchFamily="18" charset="0"/>
                <a:ea typeface="黑体" panose="02010609060101010101" pitchFamily="49" charset="-122"/>
              </a:rPr>
              <a:t>负超螺旋（</a:t>
            </a:r>
            <a:r>
              <a:rPr lang="en-US" altLang="zh-CN" sz="2600" b="0" dirty="0">
                <a:solidFill>
                  <a:srgbClr val="C00000"/>
                </a:solidFill>
                <a:latin typeface="Times New Roman" panose="02020603050405020304" pitchFamily="18" charset="0"/>
                <a:ea typeface="黑体" panose="02010609060101010101" pitchFamily="49" charset="-122"/>
              </a:rPr>
              <a:t>negative supercoil</a:t>
            </a:r>
            <a:r>
              <a:rPr lang="zh-CN" altLang="en-US" sz="2600" b="0" dirty="0">
                <a:solidFill>
                  <a:srgbClr val="C00000"/>
                </a:solidFill>
                <a:latin typeface="Times New Roman" panose="02020603050405020304" pitchFamily="18" charset="0"/>
                <a:ea typeface="黑体" panose="02010609060101010101" pitchFamily="49" charset="-122"/>
              </a:rPr>
              <a:t>）</a:t>
            </a:r>
            <a:r>
              <a:rPr lang="zh-CN" altLang="en-US" sz="2600" b="0" dirty="0">
                <a:solidFill>
                  <a:schemeClr val="tx1"/>
                </a:solidFill>
                <a:latin typeface="Times New Roman" panose="02020603050405020304" pitchFamily="18" charset="0"/>
                <a:ea typeface="黑体" panose="02010609060101010101" pitchFamily="49" charset="-122"/>
              </a:rPr>
              <a:t>。</a:t>
            </a:r>
            <a:endParaRPr lang="en-US" altLang="zh-CN" sz="2600" b="0" dirty="0">
              <a:solidFill>
                <a:schemeClr val="tx1"/>
              </a:solidFill>
              <a:latin typeface="Times New Roman" panose="02020603050405020304" pitchFamily="18" charset="0"/>
              <a:ea typeface="黑体" panose="02010609060101010101" pitchFamily="49" charset="-122"/>
            </a:endParaRPr>
          </a:p>
          <a:p>
            <a:pPr marL="457200" indent="-457200" eaLnBrk="1" hangingPunct="1">
              <a:lnSpc>
                <a:spcPct val="120000"/>
              </a:lnSpc>
              <a:spcBef>
                <a:spcPct val="0"/>
              </a:spcBef>
              <a:buClrTx/>
            </a:pPr>
            <a:endParaRPr lang="en-US" altLang="zh-CN" sz="2600" b="0" dirty="0">
              <a:solidFill>
                <a:schemeClr val="tx1"/>
              </a:solidFill>
              <a:latin typeface="Times New Roman" panose="02020603050405020304" pitchFamily="18" charset="0"/>
              <a:ea typeface="黑体" panose="02010609060101010101" pitchFamily="49" charset="-122"/>
            </a:endParaRPr>
          </a:p>
          <a:p>
            <a:pPr marL="457200" indent="-457200" eaLnBrk="1" hangingPunct="1">
              <a:lnSpc>
                <a:spcPct val="120000"/>
              </a:lnSpc>
              <a:spcBef>
                <a:spcPct val="0"/>
              </a:spcBef>
              <a:buClrTx/>
            </a:pPr>
            <a:r>
              <a:rPr lang="zh-CN" altLang="en-US" sz="2400" b="0" dirty="0">
                <a:solidFill>
                  <a:schemeClr val="tx1"/>
                </a:solidFill>
                <a:latin typeface="Times New Roman" panose="02020603050405020304" pitchFamily="18" charset="0"/>
                <a:ea typeface="黑体" panose="02010609060101010101" pitchFamily="49" charset="-122"/>
              </a:rPr>
              <a:t>正超螺旋会使</a:t>
            </a:r>
            <a:r>
              <a:rPr lang="en-US" altLang="zh-CN" sz="2400" b="0" dirty="0">
                <a:solidFill>
                  <a:schemeClr val="tx1"/>
                </a:solidFill>
                <a:latin typeface="Times New Roman" panose="02020603050405020304" pitchFamily="18" charset="0"/>
                <a:ea typeface="黑体" panose="02010609060101010101" pitchFamily="49" charset="-122"/>
              </a:rPr>
              <a:t>DNA</a:t>
            </a:r>
            <a:r>
              <a:rPr lang="zh-CN" altLang="en-US" sz="2400" b="0" dirty="0">
                <a:solidFill>
                  <a:schemeClr val="tx1"/>
                </a:solidFill>
                <a:latin typeface="Times New Roman" panose="02020603050405020304" pitchFamily="18" charset="0"/>
                <a:ea typeface="黑体" panose="02010609060101010101" pitchFamily="49" charset="-122"/>
              </a:rPr>
              <a:t>分子过度盘绕，过度拧紧</a:t>
            </a:r>
            <a:r>
              <a:rPr lang="zh-CN" altLang="en-US" sz="2400" b="0" dirty="0">
                <a:solidFill>
                  <a:srgbClr val="080808"/>
                </a:solidFill>
                <a:latin typeface="Times New Roman" panose="02020603050405020304" pitchFamily="18" charset="0"/>
                <a:ea typeface="黑体" panose="02010609060101010101" pitchFamily="49" charset="-122"/>
              </a:rPr>
              <a:t>； </a:t>
            </a:r>
            <a:r>
              <a:rPr lang="zh-CN" altLang="en-US" sz="2400" b="0" dirty="0">
                <a:solidFill>
                  <a:srgbClr val="0000CC"/>
                </a:solidFill>
                <a:latin typeface="Times New Roman" panose="02020603050405020304" pitchFamily="18" charset="0"/>
                <a:ea typeface="黑体" panose="02010609060101010101" pitchFamily="49" charset="-122"/>
              </a:rPr>
              <a:t> 负超螺旋则使</a:t>
            </a:r>
            <a:r>
              <a:rPr lang="en-US" altLang="zh-CN" sz="2400" b="0" dirty="0">
                <a:solidFill>
                  <a:srgbClr val="0000CC"/>
                </a:solidFill>
                <a:latin typeface="Times New Roman" panose="02020603050405020304" pitchFamily="18" charset="0"/>
                <a:ea typeface="黑体" panose="02010609060101010101" pitchFamily="49" charset="-122"/>
              </a:rPr>
              <a:t>DNA</a:t>
            </a:r>
            <a:r>
              <a:rPr lang="zh-CN" altLang="en-US" sz="2400" b="0" dirty="0">
                <a:solidFill>
                  <a:srgbClr val="0000CC"/>
                </a:solidFill>
                <a:latin typeface="Times New Roman" panose="02020603050405020304" pitchFamily="18" charset="0"/>
                <a:ea typeface="黑体" panose="02010609060101010101" pitchFamily="49" charset="-122"/>
              </a:rPr>
              <a:t>分子相对松驰</a:t>
            </a:r>
            <a:r>
              <a:rPr lang="zh-CN" altLang="en-US" sz="2400" b="0" dirty="0">
                <a:solidFill>
                  <a:schemeClr val="tx1"/>
                </a:solidFill>
                <a:latin typeface="Times New Roman" panose="02020603050405020304" pitchFamily="18" charset="0"/>
                <a:ea typeface="黑体" panose="02010609060101010101" pitchFamily="49" charset="-122"/>
              </a:rPr>
              <a:t>，</a:t>
            </a:r>
            <a:r>
              <a:rPr lang="zh-CN" altLang="en-US" sz="2400" b="0" dirty="0">
                <a:solidFill>
                  <a:srgbClr val="0000CC"/>
                </a:solidFill>
                <a:latin typeface="Times New Roman" panose="02020603050405020304" pitchFamily="18" charset="0"/>
                <a:ea typeface="黑体" panose="02010609060101010101" pitchFamily="49" charset="-122"/>
              </a:rPr>
              <a:t>盘绕不足</a:t>
            </a:r>
            <a:r>
              <a:rPr lang="zh-CN" altLang="en-US" sz="2400" b="0" dirty="0">
                <a:solidFill>
                  <a:schemeClr val="tx1"/>
                </a:solidFill>
                <a:latin typeface="Times New Roman" panose="02020603050405020304" pitchFamily="18" charset="0"/>
                <a:ea typeface="黑体" panose="02010609060101010101" pitchFamily="49" charset="-122"/>
              </a:rPr>
              <a:t>。</a:t>
            </a:r>
            <a:endParaRPr lang="en-US" altLang="zh-CN" sz="2400" b="0" dirty="0">
              <a:solidFill>
                <a:schemeClr val="tx1"/>
              </a:solidFill>
              <a:latin typeface="Times New Roman" panose="02020603050405020304" pitchFamily="18" charset="0"/>
              <a:ea typeface="黑体" panose="02010609060101010101" pitchFamily="49" charset="-122"/>
            </a:endParaRPr>
          </a:p>
          <a:p>
            <a:pPr marL="457200" indent="-457200" eaLnBrk="1" hangingPunct="1">
              <a:lnSpc>
                <a:spcPct val="120000"/>
              </a:lnSpc>
              <a:spcBef>
                <a:spcPct val="0"/>
              </a:spcBef>
              <a:buClrTx/>
            </a:pPr>
            <a:endParaRPr lang="en-US" altLang="zh-CN" sz="2400" b="0" dirty="0">
              <a:solidFill>
                <a:schemeClr val="tx1"/>
              </a:solidFill>
              <a:latin typeface="Times New Roman" panose="02020603050405020304" pitchFamily="18" charset="0"/>
              <a:ea typeface="黑体" panose="02010609060101010101" pitchFamily="49" charset="-122"/>
            </a:endParaRPr>
          </a:p>
          <a:p>
            <a:pPr marL="457200" indent="-457200" eaLnBrk="1" hangingPunct="1">
              <a:lnSpc>
                <a:spcPct val="120000"/>
              </a:lnSpc>
              <a:spcBef>
                <a:spcPct val="0"/>
              </a:spcBef>
              <a:buClrTx/>
            </a:pPr>
            <a:r>
              <a:rPr lang="zh-CN" altLang="en-US" sz="2400" b="0" dirty="0">
                <a:solidFill>
                  <a:srgbClr val="000000"/>
                </a:solidFill>
              </a:rPr>
              <a:t>超螺旋都由</a:t>
            </a:r>
            <a:r>
              <a:rPr lang="zh-CN" altLang="en-US" sz="2400" b="0" dirty="0">
                <a:solidFill>
                  <a:srgbClr val="C00000"/>
                </a:solidFill>
              </a:rPr>
              <a:t>拓扑异构酶</a:t>
            </a:r>
            <a:r>
              <a:rPr lang="zh-CN" altLang="en-US" sz="2400" b="0" dirty="0">
                <a:solidFill>
                  <a:srgbClr val="000000"/>
                </a:solidFill>
              </a:rPr>
              <a:t>引入。</a:t>
            </a:r>
            <a:endParaRPr lang="en-US" altLang="zh-CN" sz="2400" b="0" dirty="0">
              <a:solidFill>
                <a:srgbClr val="000000"/>
              </a:solidFill>
              <a:latin typeface="Times New Roman" panose="02020603050405020304" pitchFamily="18" charset="0"/>
              <a:ea typeface="黑体" panose="02010609060101010101" pitchFamily="49" charset="-122"/>
            </a:endParaRPr>
          </a:p>
        </p:txBody>
      </p:sp>
      <p:pic>
        <p:nvPicPr>
          <p:cNvPr id="154628" name="Picture 1032">
            <a:extLst>
              <a:ext uri="{FF2B5EF4-FFF2-40B4-BE49-F238E27FC236}">
                <a16:creationId xmlns:a16="http://schemas.microsoft.com/office/drawing/2014/main" id="{8D6691D4-F691-4897-AA16-6A9A16B09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428" r="7393"/>
          <a:stretch>
            <a:fillRect/>
          </a:stretch>
        </p:blipFill>
        <p:spPr bwMode="auto">
          <a:xfrm>
            <a:off x="8736195" y="1745941"/>
            <a:ext cx="2448272" cy="3897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29" name="灯片编号占位符 1">
            <a:extLst>
              <a:ext uri="{FF2B5EF4-FFF2-40B4-BE49-F238E27FC236}">
                <a16:creationId xmlns:a16="http://schemas.microsoft.com/office/drawing/2014/main" id="{DFCC5ED2-7D6F-425A-A85F-072F184306E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324D70D2-1005-4766-8660-BC747F25CBA8}" type="slidenum">
              <a:rPr lang="zh-CN" altLang="en-US" sz="1200" b="0">
                <a:solidFill>
                  <a:srgbClr val="898F89"/>
                </a:solidFill>
              </a:rPr>
              <a:pPr>
                <a:spcBef>
                  <a:spcPct val="0"/>
                </a:spcBef>
                <a:buClrTx/>
                <a:buFontTx/>
                <a:buNone/>
              </a:pPr>
              <a:t>56</a:t>
            </a:fld>
            <a:endParaRPr lang="zh-CN" altLang="en-US" sz="1200" b="0">
              <a:solidFill>
                <a:srgbClr val="898F89"/>
              </a:solidFill>
            </a:endParaRPr>
          </a:p>
        </p:txBody>
      </p:sp>
    </p:spTree>
  </p:cSld>
  <p:clrMapOvr>
    <a:masterClrMapping/>
  </p:clrMapOvr>
  <p:transition spd="slow">
    <p:circle/>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51303" name="Picture 7" descr="拓扑（绳子）">
            <a:extLst>
              <a:ext uri="{FF2B5EF4-FFF2-40B4-BE49-F238E27FC236}">
                <a16:creationId xmlns:a16="http://schemas.microsoft.com/office/drawing/2014/main" id="{9AD0FAB9-FE0D-4686-8A7B-9D088EB8C3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423" t="32275" b="3169"/>
          <a:stretch>
            <a:fillRect/>
          </a:stretch>
        </p:blipFill>
        <p:spPr bwMode="auto">
          <a:xfrm>
            <a:off x="2711624" y="1484784"/>
            <a:ext cx="6983412" cy="167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534" name="Text Box 8">
            <a:extLst>
              <a:ext uri="{FF2B5EF4-FFF2-40B4-BE49-F238E27FC236}">
                <a16:creationId xmlns:a16="http://schemas.microsoft.com/office/drawing/2014/main" id="{4321EA7A-44A1-45A3-95BA-DAE3FBBC1B6E}"/>
              </a:ext>
            </a:extLst>
          </p:cNvPr>
          <p:cNvSpPr txBox="1">
            <a:spLocks noChangeArrowheads="1"/>
          </p:cNvSpPr>
          <p:nvPr/>
        </p:nvSpPr>
        <p:spPr bwMode="auto">
          <a:xfrm>
            <a:off x="2638934" y="3573017"/>
            <a:ext cx="712879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a:spcBef>
                <a:spcPct val="50000"/>
              </a:spcBef>
              <a:buClrTx/>
              <a:buFontTx/>
              <a:buNone/>
            </a:pPr>
            <a:r>
              <a:rPr lang="zh-CN" altLang="en-US" b="0" dirty="0">
                <a:solidFill>
                  <a:srgbClr val="0000CC"/>
                </a:solidFill>
                <a:latin typeface="黑体" panose="02010609060101010101" pitchFamily="49" charset="-122"/>
                <a:ea typeface="黑体" panose="02010609060101010101" pitchFamily="49" charset="-122"/>
              </a:rPr>
              <a:t>解链过程中正超螺旋（左侧，顺着解链的方向）以及负超螺旋（右侧）的形成。 </a:t>
            </a:r>
            <a:endParaRPr lang="en-US" altLang="zh-CN" b="0" dirty="0">
              <a:solidFill>
                <a:srgbClr val="0000CC"/>
              </a:solidFill>
              <a:latin typeface="黑体" panose="02010609060101010101" pitchFamily="49" charset="-122"/>
              <a:ea typeface="黑体" panose="02010609060101010101" pitchFamily="49" charset="-122"/>
            </a:endParaRPr>
          </a:p>
        </p:txBody>
      </p:sp>
      <p:sp>
        <p:nvSpPr>
          <p:cNvPr id="156679" name="灯片编号占位符 1">
            <a:extLst>
              <a:ext uri="{FF2B5EF4-FFF2-40B4-BE49-F238E27FC236}">
                <a16:creationId xmlns:a16="http://schemas.microsoft.com/office/drawing/2014/main" id="{C2C018FC-F13D-419D-B738-6BC64BF39F3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48780BDE-E33F-4562-8044-0DCB4202F69A}" type="slidenum">
              <a:rPr lang="zh-CN" altLang="en-US" sz="1200" b="0">
                <a:solidFill>
                  <a:srgbClr val="898F89"/>
                </a:solidFill>
              </a:rPr>
              <a:pPr>
                <a:spcBef>
                  <a:spcPct val="0"/>
                </a:spcBef>
                <a:buClrTx/>
                <a:buFontTx/>
                <a:buNone/>
              </a:pPr>
              <a:t>57</a:t>
            </a:fld>
            <a:endParaRPr lang="zh-CN" altLang="en-US" sz="1200" b="0">
              <a:solidFill>
                <a:srgbClr val="898F8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51303"/>
                                        </p:tgtEl>
                                        <p:attrNameLst>
                                          <p:attrName>style.visibility</p:attrName>
                                        </p:attrNameLst>
                                      </p:cBhvr>
                                      <p:to>
                                        <p:strVal val="visible"/>
                                      </p:to>
                                    </p:set>
                                    <p:animEffect transition="in" filter="box(in)">
                                      <p:cBhvr>
                                        <p:cTn id="7" dur="500"/>
                                        <p:tgtEl>
                                          <p:spTgt spid="95130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0534"/>
                                        </p:tgtEl>
                                        <p:attrNameLst>
                                          <p:attrName>style.visibility</p:attrName>
                                        </p:attrNameLst>
                                      </p:cBhvr>
                                      <p:to>
                                        <p:strVal val="visible"/>
                                      </p:to>
                                    </p:set>
                                    <p:animEffect transition="in" filter="fade">
                                      <p:cBhvr>
                                        <p:cTn id="10" dur="500"/>
                                        <p:tgtEl>
                                          <p:spTgt spid="150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F2E2F-3D47-ACF8-2D44-223BE712D3EE}"/>
            </a:ext>
          </a:extLst>
        </p:cNvPr>
        <p:cNvGrpSpPr/>
        <p:nvPr/>
      </p:nvGrpSpPr>
      <p:grpSpPr>
        <a:xfrm>
          <a:off x="0" y="0"/>
          <a:ext cx="0" cy="0"/>
          <a:chOff x="0" y="0"/>
          <a:chExt cx="0" cy="0"/>
        </a:xfrm>
      </p:grpSpPr>
      <p:sp>
        <p:nvSpPr>
          <p:cNvPr id="173058" name="Text Box 2">
            <a:extLst>
              <a:ext uri="{FF2B5EF4-FFF2-40B4-BE49-F238E27FC236}">
                <a16:creationId xmlns:a16="http://schemas.microsoft.com/office/drawing/2014/main" id="{C595EB3B-646D-A05F-D508-AC76EB0429B9}"/>
              </a:ext>
            </a:extLst>
          </p:cNvPr>
          <p:cNvSpPr txBox="1">
            <a:spLocks noChangeArrowheads="1"/>
          </p:cNvSpPr>
          <p:nvPr/>
        </p:nvSpPr>
        <p:spPr bwMode="auto">
          <a:xfrm>
            <a:off x="1622797" y="76965"/>
            <a:ext cx="8756650" cy="66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en-US" altLang="zh-CN" sz="3200" b="0" dirty="0">
                <a:solidFill>
                  <a:srgbClr val="0000CC"/>
                </a:solidFill>
                <a:latin typeface="Times New Roman" panose="02020603050405020304" pitchFamily="18" charset="0"/>
                <a:ea typeface="黑体" panose="02010609060101010101" pitchFamily="49" charset="-122"/>
              </a:rPr>
              <a:t>(</a:t>
            </a:r>
            <a:r>
              <a:rPr kumimoji="0" lang="zh-CN" altLang="en-US" sz="3200" b="0" dirty="0">
                <a:solidFill>
                  <a:srgbClr val="0000CC"/>
                </a:solidFill>
                <a:latin typeface="Times New Roman" panose="02020603050405020304" pitchFamily="18" charset="0"/>
                <a:ea typeface="黑体" panose="02010609060101010101" pitchFamily="49" charset="-122"/>
              </a:rPr>
              <a:t>一）原核生物封闭环状</a:t>
            </a:r>
            <a:r>
              <a:rPr kumimoji="0" lang="en-US" altLang="zh-CN" sz="3200" b="0" dirty="0">
                <a:solidFill>
                  <a:srgbClr val="0000CC"/>
                </a:solidFill>
                <a:latin typeface="Times New Roman" panose="02020603050405020304" pitchFamily="18" charset="0"/>
                <a:ea typeface="黑体" panose="02010609060101010101" pitchFamily="49" charset="-122"/>
              </a:rPr>
              <a:t>DNA</a:t>
            </a:r>
            <a:r>
              <a:rPr kumimoji="0" lang="zh-CN" altLang="en-US" sz="3200" b="0" dirty="0">
                <a:solidFill>
                  <a:srgbClr val="0000CC"/>
                </a:solidFill>
                <a:latin typeface="Times New Roman" panose="02020603050405020304" pitchFamily="18" charset="0"/>
                <a:ea typeface="黑体" panose="02010609060101010101" pitchFamily="49" charset="-122"/>
              </a:rPr>
              <a:t>具有负超螺旋结构</a:t>
            </a:r>
          </a:p>
        </p:txBody>
      </p:sp>
      <p:pic>
        <p:nvPicPr>
          <p:cNvPr id="173059" name="Picture 2" descr="核酸超螺旋">
            <a:extLst>
              <a:ext uri="{FF2B5EF4-FFF2-40B4-BE49-F238E27FC236}">
                <a16:creationId xmlns:a16="http://schemas.microsoft.com/office/drawing/2014/main" id="{7871C29B-6946-1130-CDE0-1001B756CA12}"/>
              </a:ext>
            </a:extLst>
          </p:cNvPr>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3048707" y="4492162"/>
            <a:ext cx="5904830" cy="192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DEBE281F-612A-79EB-A1A3-5D03B28DD563}"/>
              </a:ext>
            </a:extLst>
          </p:cNvPr>
          <p:cNvSpPr txBox="1"/>
          <p:nvPr/>
        </p:nvSpPr>
        <p:spPr>
          <a:xfrm>
            <a:off x="1622797" y="1078688"/>
            <a:ext cx="9225731" cy="3075394"/>
          </a:xfrm>
          <a:prstGeom prst="rect">
            <a:avLst/>
          </a:prstGeom>
          <a:noFill/>
        </p:spPr>
        <p:txBody>
          <a:bodyPr wrap="square">
            <a:spAutoFit/>
          </a:bodyPr>
          <a:lstStyle/>
          <a:p>
            <a:pPr marL="342900" indent="-342900">
              <a:lnSpc>
                <a:spcPct val="130000"/>
              </a:lnSpc>
              <a:buFont typeface="Arial" panose="020B0604020202020204" pitchFamily="34" charset="0"/>
              <a:buChar char="•"/>
              <a:defRPr/>
            </a:pPr>
            <a:r>
              <a:rPr lang="zh-CN" altLang="en-US" b="1" dirty="0">
                <a:solidFill>
                  <a:srgbClr val="000000"/>
                </a:solidFill>
              </a:rPr>
              <a:t>绝大部分原核生物的</a:t>
            </a:r>
            <a:r>
              <a:rPr lang="en-US" altLang="zh-CN" b="1" dirty="0">
                <a:solidFill>
                  <a:srgbClr val="000000"/>
                </a:solidFill>
              </a:rPr>
              <a:t>DNA </a:t>
            </a:r>
            <a:r>
              <a:rPr lang="zh-CN" altLang="en-US" b="1" dirty="0">
                <a:solidFill>
                  <a:srgbClr val="000000"/>
                </a:solidFill>
              </a:rPr>
              <a:t>是环状的双螺旋分子。在细胞内经过进一步盘绕后，形成了</a:t>
            </a:r>
            <a:r>
              <a:rPr lang="zh-CN" altLang="en-US" b="1" dirty="0">
                <a:solidFill>
                  <a:srgbClr val="0000CC"/>
                </a:solidFill>
              </a:rPr>
              <a:t>类核（</a:t>
            </a:r>
            <a:r>
              <a:rPr lang="en-US" altLang="zh-CN" b="1" dirty="0">
                <a:solidFill>
                  <a:srgbClr val="0000CC"/>
                </a:solidFill>
              </a:rPr>
              <a:t>nucleoid</a:t>
            </a:r>
            <a:r>
              <a:rPr lang="zh-CN" altLang="en-US" b="1" dirty="0">
                <a:solidFill>
                  <a:srgbClr val="0000CC"/>
                </a:solidFill>
              </a:rPr>
              <a:t>）结构</a:t>
            </a:r>
            <a:r>
              <a:rPr lang="zh-CN" altLang="en-US" b="1" dirty="0">
                <a:solidFill>
                  <a:srgbClr val="000000"/>
                </a:solidFill>
              </a:rPr>
              <a:t>，黏附在细胞内壁。</a:t>
            </a:r>
            <a:endParaRPr lang="en-US" altLang="zh-CN" b="1" dirty="0">
              <a:solidFill>
                <a:srgbClr val="000000"/>
              </a:solidFill>
            </a:endParaRPr>
          </a:p>
          <a:p>
            <a:pPr marL="342900" indent="-342900">
              <a:lnSpc>
                <a:spcPct val="130000"/>
              </a:lnSpc>
              <a:spcBef>
                <a:spcPts val="1200"/>
              </a:spcBef>
              <a:buFont typeface="Arial" panose="020B0604020202020204" pitchFamily="34" charset="0"/>
              <a:buChar char="•"/>
              <a:defRPr/>
            </a:pPr>
            <a:r>
              <a:rPr lang="zh-CN" altLang="en-US" b="1" dirty="0">
                <a:solidFill>
                  <a:srgbClr val="000000"/>
                </a:solidFill>
              </a:rPr>
              <a:t>大肠埃希菌的环状</a:t>
            </a:r>
            <a:r>
              <a:rPr lang="en-US" altLang="zh-CN" b="1" dirty="0">
                <a:solidFill>
                  <a:srgbClr val="000000"/>
                </a:solidFill>
              </a:rPr>
              <a:t>DNA </a:t>
            </a:r>
            <a:r>
              <a:rPr lang="zh-CN" altLang="en-US" b="1" dirty="0">
                <a:solidFill>
                  <a:srgbClr val="000000"/>
                </a:solidFill>
              </a:rPr>
              <a:t>中，平均每</a:t>
            </a:r>
            <a:r>
              <a:rPr lang="en-US" altLang="zh-CN" b="1" dirty="0">
                <a:solidFill>
                  <a:srgbClr val="000000"/>
                </a:solidFill>
              </a:rPr>
              <a:t>200 </a:t>
            </a:r>
            <a:r>
              <a:rPr lang="zh-CN" altLang="en-US" b="1" dirty="0">
                <a:solidFill>
                  <a:srgbClr val="000000"/>
                </a:solidFill>
              </a:rPr>
              <a:t>个碱基就有一个负超螺旋形成。</a:t>
            </a:r>
            <a:endParaRPr lang="en-US" altLang="zh-CN" b="1" dirty="0">
              <a:solidFill>
                <a:srgbClr val="000000"/>
              </a:solidFill>
            </a:endParaRPr>
          </a:p>
          <a:p>
            <a:pPr marL="342900" indent="-342900">
              <a:lnSpc>
                <a:spcPct val="130000"/>
              </a:lnSpc>
              <a:buFont typeface="Arial" panose="020B0604020202020204" pitchFamily="34" charset="0"/>
              <a:buChar char="•"/>
              <a:defRPr/>
            </a:pPr>
            <a:r>
              <a:rPr lang="zh-CN" altLang="en-US" b="1" dirty="0">
                <a:solidFill>
                  <a:srgbClr val="0000CC"/>
                </a:solidFill>
              </a:rPr>
              <a:t>这种</a:t>
            </a:r>
            <a:r>
              <a:rPr lang="zh-CN" altLang="en-US" b="1" dirty="0">
                <a:solidFill>
                  <a:srgbClr val="C00000"/>
                </a:solidFill>
              </a:rPr>
              <a:t>负超螺旋</a:t>
            </a:r>
            <a:r>
              <a:rPr lang="zh-CN" altLang="en-US" b="1" dirty="0">
                <a:solidFill>
                  <a:srgbClr val="0000CC"/>
                </a:solidFill>
              </a:rPr>
              <a:t>形式产生了</a:t>
            </a:r>
            <a:r>
              <a:rPr lang="en-US" altLang="zh-CN" b="1" dirty="0">
                <a:solidFill>
                  <a:srgbClr val="0000CC"/>
                </a:solidFill>
              </a:rPr>
              <a:t>DNA </a:t>
            </a:r>
            <a:r>
              <a:rPr lang="zh-CN" altLang="en-US" b="1" dirty="0">
                <a:solidFill>
                  <a:srgbClr val="0000CC"/>
                </a:solidFill>
              </a:rPr>
              <a:t>双链的局部解链效应</a:t>
            </a:r>
            <a:r>
              <a:rPr lang="zh-CN" altLang="en-US" b="1" dirty="0">
                <a:solidFill>
                  <a:srgbClr val="000000"/>
                </a:solidFill>
              </a:rPr>
              <a:t>，</a:t>
            </a:r>
            <a:r>
              <a:rPr lang="zh-CN" altLang="en-US" b="1" dirty="0">
                <a:solidFill>
                  <a:srgbClr val="0000CC"/>
                </a:solidFill>
              </a:rPr>
              <a:t>有助于诸如复制、转录等生物过程的进行</a:t>
            </a:r>
            <a:r>
              <a:rPr lang="zh-CN" altLang="en-US" b="1" dirty="0">
                <a:solidFill>
                  <a:srgbClr val="000000"/>
                </a:solidFill>
              </a:rPr>
              <a:t>。</a:t>
            </a:r>
          </a:p>
        </p:txBody>
      </p:sp>
      <p:sp>
        <p:nvSpPr>
          <p:cNvPr id="173061" name="灯片编号占位符 2">
            <a:extLst>
              <a:ext uri="{FF2B5EF4-FFF2-40B4-BE49-F238E27FC236}">
                <a16:creationId xmlns:a16="http://schemas.microsoft.com/office/drawing/2014/main" id="{4C2D1407-D2E9-C2DC-4489-FAA6BB4216AB}"/>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99B19F5C-F9E4-4602-937D-DDF4ED56352C}" type="slidenum">
              <a:rPr lang="zh-CN" altLang="en-US" sz="1200" b="0">
                <a:solidFill>
                  <a:srgbClr val="898F89"/>
                </a:solidFill>
              </a:rPr>
              <a:pPr>
                <a:spcBef>
                  <a:spcPct val="0"/>
                </a:spcBef>
                <a:buClrTx/>
                <a:buFontTx/>
                <a:buNone/>
              </a:pPr>
              <a:t>58</a:t>
            </a:fld>
            <a:endParaRPr lang="zh-CN" altLang="en-US" sz="1200" b="0">
              <a:solidFill>
                <a:srgbClr val="898F89"/>
              </a:solidFill>
            </a:endParaRPr>
          </a:p>
        </p:txBody>
      </p:sp>
    </p:spTree>
    <p:extLst>
      <p:ext uri="{BB962C8B-B14F-4D97-AF65-F5344CB8AC3E}">
        <p14:creationId xmlns:p14="http://schemas.microsoft.com/office/powerpoint/2010/main" val="3551344892"/>
      </p:ext>
    </p:extLst>
  </p:cSld>
  <p:clrMapOvr>
    <a:masterClrMapping/>
  </p:clrMapOvr>
  <p:transition spd="slow">
    <p:circle/>
  </p:transition>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3058" name="Text Box 2">
            <a:extLst>
              <a:ext uri="{FF2B5EF4-FFF2-40B4-BE49-F238E27FC236}">
                <a16:creationId xmlns:a16="http://schemas.microsoft.com/office/drawing/2014/main" id="{EF30CE2F-4018-4983-8B48-032B71E1391E}"/>
              </a:ext>
            </a:extLst>
          </p:cNvPr>
          <p:cNvSpPr txBox="1">
            <a:spLocks noChangeArrowheads="1"/>
          </p:cNvSpPr>
          <p:nvPr/>
        </p:nvSpPr>
        <p:spPr bwMode="auto">
          <a:xfrm>
            <a:off x="2063552" y="1114113"/>
            <a:ext cx="7929465" cy="159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marL="342900" indent="-342900" eaLnBrk="1" hangingPunct="1">
              <a:lnSpc>
                <a:spcPct val="130000"/>
              </a:lnSpc>
              <a:spcBef>
                <a:spcPct val="0"/>
              </a:spcBef>
              <a:spcAft>
                <a:spcPct val="30000"/>
              </a:spcAft>
              <a:buClrTx/>
            </a:pPr>
            <a:r>
              <a:rPr kumimoji="0" lang="zh-CN" altLang="en-US" sz="2400" b="0" dirty="0">
                <a:solidFill>
                  <a:srgbClr val="000000"/>
                </a:solidFill>
                <a:latin typeface="Times New Roman" panose="02020603050405020304" pitchFamily="18" charset="0"/>
                <a:ea typeface="黑体" panose="02010609060101010101" pitchFamily="49" charset="-122"/>
              </a:rPr>
              <a:t>经改造的</a:t>
            </a:r>
            <a:r>
              <a:rPr kumimoji="0" lang="zh-CN" altLang="en-US" sz="2400" b="0" dirty="0">
                <a:solidFill>
                  <a:srgbClr val="0000CC"/>
                </a:solidFill>
                <a:latin typeface="Times New Roman" panose="02020603050405020304" pitchFamily="18" charset="0"/>
                <a:ea typeface="黑体" panose="02010609060101010101" pitchFamily="49" charset="-122"/>
              </a:rPr>
              <a:t>质粒（</a:t>
            </a:r>
            <a:r>
              <a:rPr kumimoji="0" lang="en-US" altLang="zh-CN" sz="2400" b="0" dirty="0">
                <a:solidFill>
                  <a:srgbClr val="0000CC"/>
                </a:solidFill>
                <a:latin typeface="Times New Roman" panose="02020603050405020304" pitchFamily="18" charset="0"/>
                <a:ea typeface="黑体" panose="02010609060101010101" pitchFamily="49" charset="-122"/>
              </a:rPr>
              <a:t>plasmid,  </a:t>
            </a:r>
            <a:r>
              <a:rPr kumimoji="0" lang="zh-CN" altLang="en-US" sz="2400" b="0" dirty="0">
                <a:solidFill>
                  <a:srgbClr val="000000"/>
                </a:solidFill>
                <a:latin typeface="Times New Roman" panose="02020603050405020304" pitchFamily="18" charset="0"/>
                <a:ea typeface="黑体" panose="02010609060101010101" pitchFamily="49" charset="-122"/>
              </a:rPr>
              <a:t>细菌内独立于细菌染色体之外的环状小</a:t>
            </a:r>
            <a:r>
              <a:rPr kumimoji="0" lang="en-US" altLang="zh-CN" sz="2400" b="0" dirty="0">
                <a:solidFill>
                  <a:srgbClr val="000000"/>
                </a:solidFill>
                <a:latin typeface="Times New Roman" panose="02020603050405020304" pitchFamily="18" charset="0"/>
                <a:ea typeface="黑体" panose="02010609060101010101" pitchFamily="49" charset="-122"/>
              </a:rPr>
              <a:t>DNA</a:t>
            </a:r>
            <a:r>
              <a:rPr kumimoji="0" lang="zh-CN" altLang="en-US" sz="2400" b="0" dirty="0">
                <a:solidFill>
                  <a:srgbClr val="000000"/>
                </a:solidFill>
                <a:latin typeface="Times New Roman" panose="02020603050405020304" pitchFamily="18" charset="0"/>
                <a:ea typeface="黑体" panose="02010609060101010101" pitchFamily="49" charset="-122"/>
              </a:rPr>
              <a:t>分子）是基因工程技术中最常用的载体。</a:t>
            </a:r>
            <a:endParaRPr kumimoji="0" lang="en-US" altLang="zh-CN" sz="2400" b="0" dirty="0">
              <a:solidFill>
                <a:srgbClr val="000000"/>
              </a:solidFill>
              <a:latin typeface="Times New Roman" panose="02020603050405020304" pitchFamily="18" charset="0"/>
              <a:ea typeface="黑体" panose="02010609060101010101" pitchFamily="49" charset="-122"/>
            </a:endParaRPr>
          </a:p>
          <a:p>
            <a:pPr marL="342900" indent="-342900" eaLnBrk="1" hangingPunct="1">
              <a:lnSpc>
                <a:spcPct val="130000"/>
              </a:lnSpc>
              <a:spcBef>
                <a:spcPct val="0"/>
              </a:spcBef>
              <a:spcAft>
                <a:spcPct val="30000"/>
              </a:spcAft>
              <a:buClrTx/>
            </a:pPr>
            <a:r>
              <a:rPr kumimoji="0" lang="zh-CN" altLang="en-US" sz="2400" b="0" dirty="0">
                <a:solidFill>
                  <a:srgbClr val="000000"/>
                </a:solidFill>
                <a:latin typeface="Times New Roman" panose="02020603050405020304" pitchFamily="18" charset="0"/>
                <a:ea typeface="黑体" panose="02010609060101010101" pitchFamily="49" charset="-122"/>
              </a:rPr>
              <a:t>实验室从工程菌中</a:t>
            </a:r>
            <a:r>
              <a:rPr kumimoji="0" lang="zh-CN" altLang="en-US" sz="2400" b="0" dirty="0">
                <a:solidFill>
                  <a:srgbClr val="0000CC"/>
                </a:solidFill>
                <a:latin typeface="Times New Roman" panose="02020603050405020304" pitchFamily="18" charset="0"/>
                <a:ea typeface="黑体" panose="02010609060101010101" pitchFamily="49" charset="-122"/>
              </a:rPr>
              <a:t>提取质粒</a:t>
            </a:r>
            <a:r>
              <a:rPr kumimoji="0" lang="zh-CN" altLang="en-US" sz="2400" b="0" dirty="0">
                <a:solidFill>
                  <a:srgbClr val="000000"/>
                </a:solidFill>
                <a:latin typeface="Times New Roman" panose="02020603050405020304" pitchFamily="18" charset="0"/>
                <a:ea typeface="黑体" panose="02010609060101010101" pitchFamily="49" charset="-122"/>
              </a:rPr>
              <a:t>是常规操作。</a:t>
            </a:r>
            <a:endParaRPr kumimoji="0" lang="en-US" altLang="zh-CN" sz="2400" b="0" dirty="0">
              <a:solidFill>
                <a:srgbClr val="000000"/>
              </a:solidFill>
              <a:latin typeface="Times New Roman" panose="02020603050405020304" pitchFamily="18" charset="0"/>
              <a:ea typeface="黑体" panose="02010609060101010101" pitchFamily="49" charset="-122"/>
            </a:endParaRPr>
          </a:p>
        </p:txBody>
      </p:sp>
      <p:sp>
        <p:nvSpPr>
          <p:cNvPr id="2" name="文本框 1">
            <a:extLst>
              <a:ext uri="{FF2B5EF4-FFF2-40B4-BE49-F238E27FC236}">
                <a16:creationId xmlns:a16="http://schemas.microsoft.com/office/drawing/2014/main" id="{EAF3527F-DB4C-435D-9707-7C83F567BEC4}"/>
              </a:ext>
            </a:extLst>
          </p:cNvPr>
          <p:cNvSpPr txBox="1"/>
          <p:nvPr/>
        </p:nvSpPr>
        <p:spPr>
          <a:xfrm>
            <a:off x="2063553" y="2996953"/>
            <a:ext cx="8243887" cy="2921505"/>
          </a:xfrm>
          <a:prstGeom prst="rect">
            <a:avLst/>
          </a:prstGeom>
          <a:noFill/>
        </p:spPr>
        <p:txBody>
          <a:bodyPr>
            <a:spAutoFit/>
          </a:bodyPr>
          <a:lstStyle/>
          <a:p>
            <a:pPr>
              <a:lnSpc>
                <a:spcPct val="130000"/>
              </a:lnSpc>
              <a:defRPr/>
            </a:pPr>
            <a:r>
              <a:rPr lang="zh-CN" altLang="en-US" b="1" dirty="0"/>
              <a:t>提取天然环状</a:t>
            </a:r>
            <a:r>
              <a:rPr lang="en-US" altLang="zh-CN" b="1" dirty="0"/>
              <a:t>DNA</a:t>
            </a:r>
            <a:r>
              <a:rPr lang="zh-CN" altLang="en-US" b="1" dirty="0"/>
              <a:t>分子时常得到几种形式：</a:t>
            </a:r>
            <a:endParaRPr lang="en-US" altLang="zh-CN" b="1" dirty="0"/>
          </a:p>
          <a:p>
            <a:pPr marL="457200" indent="-457200">
              <a:lnSpc>
                <a:spcPct val="130000"/>
              </a:lnSpc>
              <a:buFont typeface="+mj-lt"/>
              <a:buAutoNum type="arabicPeriod"/>
              <a:defRPr/>
            </a:pPr>
            <a:r>
              <a:rPr lang="zh-CN" altLang="en-US" b="1" dirty="0">
                <a:solidFill>
                  <a:srgbClr val="C00000"/>
                </a:solidFill>
              </a:rPr>
              <a:t>共价闭环</a:t>
            </a:r>
            <a:r>
              <a:rPr lang="en-US" altLang="zh-CN" b="1" dirty="0">
                <a:solidFill>
                  <a:srgbClr val="C00000"/>
                </a:solidFill>
              </a:rPr>
              <a:t>DNA</a:t>
            </a:r>
            <a:r>
              <a:rPr lang="zh-CN" altLang="en-US" b="1" dirty="0">
                <a:solidFill>
                  <a:srgbClr val="000000"/>
                </a:solidFill>
              </a:rPr>
              <a:t>（</a:t>
            </a:r>
            <a:r>
              <a:rPr lang="en-US" altLang="zh-CN" b="1" dirty="0">
                <a:solidFill>
                  <a:srgbClr val="000000"/>
                </a:solidFill>
              </a:rPr>
              <a:t>covalently closed circular DNA, </a:t>
            </a:r>
            <a:r>
              <a:rPr lang="en-US" altLang="zh-CN" b="1" dirty="0" err="1">
                <a:solidFill>
                  <a:srgbClr val="C00000"/>
                </a:solidFill>
              </a:rPr>
              <a:t>cccDNA</a:t>
            </a:r>
            <a:r>
              <a:rPr lang="en-US" altLang="zh-CN" b="1" dirty="0">
                <a:solidFill>
                  <a:srgbClr val="C00000"/>
                </a:solidFill>
              </a:rPr>
              <a:t>)</a:t>
            </a:r>
          </a:p>
          <a:p>
            <a:pPr marL="457200" indent="-457200">
              <a:lnSpc>
                <a:spcPct val="130000"/>
              </a:lnSpc>
              <a:buFont typeface="+mj-lt"/>
              <a:buAutoNum type="arabicPeriod"/>
              <a:defRPr/>
            </a:pPr>
            <a:r>
              <a:rPr lang="zh-CN" altLang="en-US" b="1" dirty="0">
                <a:solidFill>
                  <a:srgbClr val="C00000"/>
                </a:solidFill>
              </a:rPr>
              <a:t>开环</a:t>
            </a:r>
            <a:r>
              <a:rPr lang="en-US" altLang="zh-CN" b="1" dirty="0">
                <a:solidFill>
                  <a:srgbClr val="C00000"/>
                </a:solidFill>
              </a:rPr>
              <a:t>DNA</a:t>
            </a:r>
            <a:r>
              <a:rPr lang="zh-CN" altLang="en-US" b="1" dirty="0">
                <a:solidFill>
                  <a:srgbClr val="000000"/>
                </a:solidFill>
              </a:rPr>
              <a:t>（</a:t>
            </a:r>
            <a:r>
              <a:rPr lang="en-US" altLang="zh-CN" b="1" dirty="0">
                <a:solidFill>
                  <a:srgbClr val="000000"/>
                </a:solidFill>
              </a:rPr>
              <a:t>open circular DNA, </a:t>
            </a:r>
            <a:r>
              <a:rPr lang="en-US" altLang="zh-CN" b="1" dirty="0" err="1">
                <a:solidFill>
                  <a:srgbClr val="000000"/>
                </a:solidFill>
              </a:rPr>
              <a:t>ocDNA</a:t>
            </a:r>
            <a:r>
              <a:rPr lang="en-US" altLang="zh-CN" b="1" dirty="0">
                <a:solidFill>
                  <a:srgbClr val="000000"/>
                </a:solidFill>
              </a:rPr>
              <a:t>)</a:t>
            </a:r>
            <a:r>
              <a:rPr lang="zh-CN" altLang="en-US" b="1" dirty="0">
                <a:solidFill>
                  <a:srgbClr val="000000"/>
                </a:solidFill>
              </a:rPr>
              <a:t>：有一条链断裂</a:t>
            </a:r>
            <a:endParaRPr lang="en-US" altLang="zh-CN" b="1" dirty="0">
              <a:solidFill>
                <a:srgbClr val="000000"/>
              </a:solidFill>
            </a:endParaRPr>
          </a:p>
          <a:p>
            <a:pPr marL="457200" indent="-457200">
              <a:lnSpc>
                <a:spcPct val="130000"/>
              </a:lnSpc>
              <a:buFont typeface="+mj-lt"/>
              <a:buAutoNum type="arabicPeriod"/>
              <a:defRPr/>
            </a:pPr>
            <a:r>
              <a:rPr lang="zh-CN" altLang="en-US" b="1" dirty="0">
                <a:solidFill>
                  <a:srgbClr val="C00000"/>
                </a:solidFill>
              </a:rPr>
              <a:t>复制中间体</a:t>
            </a:r>
            <a:r>
              <a:rPr lang="zh-CN" altLang="en-US" b="1" dirty="0">
                <a:solidFill>
                  <a:srgbClr val="000000"/>
                </a:solidFill>
              </a:rPr>
              <a:t>（</a:t>
            </a:r>
            <a:r>
              <a:rPr lang="zh-CN" altLang="zh-CN" b="1" dirty="0">
                <a:solidFill>
                  <a:srgbClr val="000000"/>
                </a:solidFill>
              </a:rPr>
              <a:t>比如线性或开环质粒二聚体</a:t>
            </a:r>
            <a:r>
              <a:rPr lang="zh-CN" altLang="en-US" b="1" dirty="0">
                <a:solidFill>
                  <a:srgbClr val="000000"/>
                </a:solidFill>
              </a:rPr>
              <a:t>，或超螺旋质粒二聚体，甚至多聚体）</a:t>
            </a:r>
            <a:endParaRPr lang="en-US" altLang="zh-CN" b="1" dirty="0">
              <a:solidFill>
                <a:srgbClr val="000000"/>
              </a:solidFill>
            </a:endParaRPr>
          </a:p>
          <a:p>
            <a:pPr marL="457200" indent="-457200">
              <a:lnSpc>
                <a:spcPct val="130000"/>
              </a:lnSpc>
              <a:buFont typeface="+mj-lt"/>
              <a:buAutoNum type="arabicPeriod"/>
              <a:defRPr/>
            </a:pPr>
            <a:r>
              <a:rPr lang="zh-CN" altLang="en-US" b="1" dirty="0">
                <a:solidFill>
                  <a:srgbClr val="000000"/>
                </a:solidFill>
              </a:rPr>
              <a:t>线性</a:t>
            </a:r>
            <a:r>
              <a:rPr lang="en-US" altLang="zh-CN" b="1" dirty="0">
                <a:solidFill>
                  <a:srgbClr val="000000"/>
                </a:solidFill>
              </a:rPr>
              <a:t>DNA</a:t>
            </a:r>
            <a:r>
              <a:rPr lang="zh-CN" altLang="en-US" b="1" dirty="0">
                <a:solidFill>
                  <a:srgbClr val="000000"/>
                </a:solidFill>
              </a:rPr>
              <a:t>（</a:t>
            </a:r>
            <a:r>
              <a:rPr lang="en-US" altLang="zh-CN" b="1" dirty="0">
                <a:solidFill>
                  <a:srgbClr val="000000"/>
                </a:solidFill>
              </a:rPr>
              <a:t>linear DNA) </a:t>
            </a:r>
            <a:r>
              <a:rPr lang="zh-CN" altLang="en-US" b="1" dirty="0">
                <a:solidFill>
                  <a:srgbClr val="000000"/>
                </a:solidFill>
              </a:rPr>
              <a:t>： 环状</a:t>
            </a:r>
            <a:r>
              <a:rPr lang="en-US" altLang="zh-CN" b="1" dirty="0">
                <a:solidFill>
                  <a:srgbClr val="000000"/>
                </a:solidFill>
              </a:rPr>
              <a:t>DNA</a:t>
            </a:r>
            <a:r>
              <a:rPr lang="zh-CN" altLang="en-US" b="1" dirty="0">
                <a:solidFill>
                  <a:srgbClr val="000000"/>
                </a:solidFill>
              </a:rPr>
              <a:t>双链断裂。极少。</a:t>
            </a:r>
          </a:p>
        </p:txBody>
      </p:sp>
      <p:sp>
        <p:nvSpPr>
          <p:cNvPr id="173061" name="灯片编号占位符 2">
            <a:extLst>
              <a:ext uri="{FF2B5EF4-FFF2-40B4-BE49-F238E27FC236}">
                <a16:creationId xmlns:a16="http://schemas.microsoft.com/office/drawing/2014/main" id="{EDD0F8C3-98C9-40E9-93E9-DAE3CB1FCB3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99B19F5C-F9E4-4602-937D-DDF4ED56352C}" type="slidenum">
              <a:rPr lang="zh-CN" altLang="en-US" sz="1200" b="0">
                <a:solidFill>
                  <a:srgbClr val="898F89"/>
                </a:solidFill>
              </a:rPr>
              <a:pPr>
                <a:spcBef>
                  <a:spcPct val="0"/>
                </a:spcBef>
                <a:buClrTx/>
                <a:buFontTx/>
                <a:buNone/>
              </a:pPr>
              <a:t>59</a:t>
            </a:fld>
            <a:endParaRPr lang="zh-CN" altLang="en-US" sz="1200" b="0">
              <a:solidFill>
                <a:srgbClr val="898F89"/>
              </a:solidFill>
            </a:endParaRPr>
          </a:p>
        </p:txBody>
      </p:sp>
    </p:spTree>
  </p:cSld>
  <p:clrMapOvr>
    <a:masterClrMapping/>
  </p:clrMapOvr>
  <p:transition spd="slow">
    <p:circle/>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8962" name="Picture 2">
            <a:extLst>
              <a:ext uri="{FF2B5EF4-FFF2-40B4-BE49-F238E27FC236}">
                <a16:creationId xmlns:a16="http://schemas.microsoft.com/office/drawing/2014/main" id="{606D1ABB-B37A-49EF-AFEA-F66F83372A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8982" b="28651"/>
          <a:stretch>
            <a:fillRect/>
          </a:stretch>
        </p:blipFill>
        <p:spPr bwMode="auto">
          <a:xfrm>
            <a:off x="2063552" y="502283"/>
            <a:ext cx="3084328" cy="3485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963" name="文本框 1">
            <a:extLst>
              <a:ext uri="{FF2B5EF4-FFF2-40B4-BE49-F238E27FC236}">
                <a16:creationId xmlns:a16="http://schemas.microsoft.com/office/drawing/2014/main" id="{60F062E1-808F-4068-B048-43B8BB726611}"/>
              </a:ext>
            </a:extLst>
          </p:cNvPr>
          <p:cNvSpPr txBox="1">
            <a:spLocks noChangeArrowheads="1"/>
          </p:cNvSpPr>
          <p:nvPr/>
        </p:nvSpPr>
        <p:spPr bwMode="auto">
          <a:xfrm>
            <a:off x="2032265" y="4078683"/>
            <a:ext cx="8097837" cy="227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nSpc>
                <a:spcPct val="120000"/>
              </a:lnSpc>
              <a:spcBef>
                <a:spcPct val="0"/>
              </a:spcBef>
              <a:buClrTx/>
              <a:buFontTx/>
              <a:buNone/>
            </a:pPr>
            <a:r>
              <a:rPr lang="en-US" altLang="zh-CN" sz="2000" b="0" dirty="0">
                <a:solidFill>
                  <a:schemeClr val="tx1"/>
                </a:solidFill>
              </a:rPr>
              <a:t>M</a:t>
            </a:r>
            <a:r>
              <a:rPr lang="zh-CN" altLang="en-US" sz="2000" b="0" dirty="0">
                <a:solidFill>
                  <a:schemeClr val="tx1"/>
                </a:solidFill>
              </a:rPr>
              <a:t>：  </a:t>
            </a:r>
            <a:r>
              <a:rPr lang="en-US" altLang="zh-CN" sz="2000" b="0" dirty="0">
                <a:solidFill>
                  <a:schemeClr val="tx1"/>
                </a:solidFill>
              </a:rPr>
              <a:t>DNA  marker , DNA</a:t>
            </a:r>
            <a:r>
              <a:rPr lang="zh-CN" altLang="en-US" sz="2000" b="0" dirty="0">
                <a:solidFill>
                  <a:schemeClr val="tx1"/>
                </a:solidFill>
              </a:rPr>
              <a:t>标准分子量对照</a:t>
            </a:r>
            <a:endParaRPr lang="en-US" altLang="zh-CN" sz="2000" b="0" dirty="0">
              <a:solidFill>
                <a:schemeClr val="tx1"/>
              </a:solidFill>
            </a:endParaRPr>
          </a:p>
          <a:p>
            <a:pPr>
              <a:lnSpc>
                <a:spcPct val="120000"/>
              </a:lnSpc>
              <a:spcBef>
                <a:spcPct val="0"/>
              </a:spcBef>
              <a:buClrTx/>
              <a:buFontTx/>
              <a:buNone/>
            </a:pPr>
            <a:r>
              <a:rPr lang="en-US" altLang="zh-CN" sz="2000" b="0" dirty="0">
                <a:solidFill>
                  <a:schemeClr val="tx1"/>
                </a:solidFill>
              </a:rPr>
              <a:t>Lane1:</a:t>
            </a:r>
            <a:r>
              <a:rPr lang="zh-CN" altLang="en-US" sz="2000" b="0" dirty="0">
                <a:solidFill>
                  <a:schemeClr val="tx1"/>
                </a:solidFill>
              </a:rPr>
              <a:t> </a:t>
            </a:r>
            <a:r>
              <a:rPr lang="en-US" altLang="zh-CN" sz="2000" b="0" dirty="0">
                <a:solidFill>
                  <a:schemeClr val="tx1"/>
                </a:solidFill>
              </a:rPr>
              <a:t> </a:t>
            </a:r>
            <a:r>
              <a:rPr lang="zh-CN" altLang="en-US" sz="2000" b="0" dirty="0">
                <a:solidFill>
                  <a:schemeClr val="tx1"/>
                </a:solidFill>
              </a:rPr>
              <a:t>超螺旋质粒</a:t>
            </a:r>
            <a:r>
              <a:rPr lang="en-US" altLang="zh-CN" sz="2000" b="0" dirty="0">
                <a:solidFill>
                  <a:schemeClr val="tx1"/>
                </a:solidFill>
              </a:rPr>
              <a:t>DNA</a:t>
            </a:r>
            <a:r>
              <a:rPr lang="zh-CN" altLang="en-US" sz="2000" b="0" dirty="0">
                <a:solidFill>
                  <a:schemeClr val="tx1"/>
                </a:solidFill>
              </a:rPr>
              <a:t>（下面条带）和开环质粒</a:t>
            </a:r>
            <a:r>
              <a:rPr lang="en-US" altLang="zh-CN" sz="2000" b="0" dirty="0">
                <a:solidFill>
                  <a:schemeClr val="tx1"/>
                </a:solidFill>
              </a:rPr>
              <a:t>DNA</a:t>
            </a:r>
            <a:r>
              <a:rPr lang="zh-CN" altLang="en-US" sz="2000" b="0" dirty="0">
                <a:solidFill>
                  <a:schemeClr val="tx1"/>
                </a:solidFill>
              </a:rPr>
              <a:t>（上面条带）</a:t>
            </a:r>
            <a:endParaRPr lang="en-US" altLang="zh-CN" sz="2000" b="0" dirty="0">
              <a:solidFill>
                <a:schemeClr val="tx1"/>
              </a:solidFill>
            </a:endParaRPr>
          </a:p>
          <a:p>
            <a:pPr>
              <a:lnSpc>
                <a:spcPct val="120000"/>
              </a:lnSpc>
              <a:spcBef>
                <a:spcPct val="0"/>
              </a:spcBef>
              <a:buClrTx/>
              <a:buFontTx/>
              <a:buNone/>
            </a:pPr>
            <a:r>
              <a:rPr lang="en-US" altLang="zh-CN" sz="2000" b="0" dirty="0">
                <a:solidFill>
                  <a:schemeClr val="tx1"/>
                </a:solidFill>
              </a:rPr>
              <a:t>Lane2</a:t>
            </a:r>
            <a:r>
              <a:rPr lang="zh-CN" altLang="en-US" sz="2000" b="0" dirty="0">
                <a:solidFill>
                  <a:schemeClr val="tx1"/>
                </a:solidFill>
              </a:rPr>
              <a:t>：不同超螺旋密度的质粒</a:t>
            </a:r>
            <a:r>
              <a:rPr lang="en-US" altLang="zh-CN" sz="2000" b="0" dirty="0">
                <a:solidFill>
                  <a:schemeClr val="tx1"/>
                </a:solidFill>
              </a:rPr>
              <a:t>DNA</a:t>
            </a:r>
          </a:p>
          <a:p>
            <a:pPr>
              <a:lnSpc>
                <a:spcPct val="120000"/>
              </a:lnSpc>
              <a:spcBef>
                <a:spcPct val="0"/>
              </a:spcBef>
              <a:buClrTx/>
              <a:buFontTx/>
              <a:buNone/>
            </a:pPr>
            <a:r>
              <a:rPr lang="en-US" altLang="zh-CN" sz="2000" b="0" dirty="0">
                <a:solidFill>
                  <a:schemeClr val="tx1"/>
                </a:solidFill>
              </a:rPr>
              <a:t>Lane3:  </a:t>
            </a:r>
            <a:r>
              <a:rPr lang="zh-CN" altLang="en-US" sz="2000" b="0" dirty="0">
                <a:solidFill>
                  <a:schemeClr val="tx1"/>
                </a:solidFill>
              </a:rPr>
              <a:t>线性化的质粒</a:t>
            </a:r>
            <a:r>
              <a:rPr lang="en-US" altLang="zh-CN" sz="2000" b="0" dirty="0">
                <a:solidFill>
                  <a:schemeClr val="tx1"/>
                </a:solidFill>
              </a:rPr>
              <a:t>DNA</a:t>
            </a:r>
            <a:r>
              <a:rPr lang="zh-CN" altLang="en-US" sz="2000" b="0" dirty="0">
                <a:solidFill>
                  <a:schemeClr val="tx1"/>
                </a:solidFill>
              </a:rPr>
              <a:t>（</a:t>
            </a:r>
            <a:r>
              <a:rPr lang="en-US" altLang="zh-CN" sz="2000" b="0" dirty="0" err="1">
                <a:solidFill>
                  <a:schemeClr val="tx1"/>
                </a:solidFill>
              </a:rPr>
              <a:t>EcoR</a:t>
            </a:r>
            <a:r>
              <a:rPr lang="en-US" altLang="zh-CN" sz="2000" b="0" dirty="0">
                <a:solidFill>
                  <a:schemeClr val="tx1"/>
                </a:solidFill>
              </a:rPr>
              <a:t> I </a:t>
            </a:r>
            <a:r>
              <a:rPr lang="zh-CN" altLang="en-US" sz="2000" b="0" dirty="0">
                <a:solidFill>
                  <a:schemeClr val="tx1"/>
                </a:solidFill>
              </a:rPr>
              <a:t>处理）</a:t>
            </a:r>
            <a:endParaRPr lang="en-US" altLang="zh-CN" sz="2000" b="0" dirty="0">
              <a:solidFill>
                <a:schemeClr val="tx1"/>
              </a:solidFill>
            </a:endParaRPr>
          </a:p>
          <a:p>
            <a:pPr>
              <a:lnSpc>
                <a:spcPct val="120000"/>
              </a:lnSpc>
              <a:spcBef>
                <a:spcPct val="0"/>
              </a:spcBef>
              <a:buClrTx/>
              <a:buFontTx/>
              <a:buNone/>
            </a:pPr>
            <a:r>
              <a:rPr lang="en-US" altLang="zh-CN" sz="2000" b="0" dirty="0">
                <a:solidFill>
                  <a:schemeClr val="tx1"/>
                </a:solidFill>
              </a:rPr>
              <a:t>Lane4:  </a:t>
            </a:r>
            <a:r>
              <a:rPr lang="zh-CN" altLang="en-US" sz="2000" b="0" dirty="0">
                <a:solidFill>
                  <a:schemeClr val="tx1"/>
                </a:solidFill>
              </a:rPr>
              <a:t>污染了宿主菌染色体</a:t>
            </a:r>
            <a:r>
              <a:rPr lang="en-US" altLang="zh-CN" sz="2000" b="0" dirty="0">
                <a:solidFill>
                  <a:schemeClr val="tx1"/>
                </a:solidFill>
              </a:rPr>
              <a:t>DNA</a:t>
            </a:r>
            <a:r>
              <a:rPr lang="zh-CN" altLang="en-US" sz="2000" b="0" dirty="0">
                <a:solidFill>
                  <a:schemeClr val="tx1"/>
                </a:solidFill>
              </a:rPr>
              <a:t>的样品</a:t>
            </a:r>
            <a:endParaRPr lang="en-US" altLang="zh-CN" sz="2000" b="0" dirty="0">
              <a:solidFill>
                <a:schemeClr val="tx1"/>
              </a:solidFill>
            </a:endParaRPr>
          </a:p>
          <a:p>
            <a:pPr>
              <a:lnSpc>
                <a:spcPct val="120000"/>
              </a:lnSpc>
              <a:spcBef>
                <a:spcPct val="0"/>
              </a:spcBef>
              <a:buClrTx/>
              <a:buFontTx/>
              <a:buNone/>
            </a:pPr>
            <a:r>
              <a:rPr lang="en-US" altLang="zh-CN" sz="2000" b="0" dirty="0">
                <a:solidFill>
                  <a:schemeClr val="tx1"/>
                </a:solidFill>
              </a:rPr>
              <a:t>Lane5:  </a:t>
            </a:r>
            <a:r>
              <a:rPr lang="zh-CN" altLang="en-US" sz="2000" b="0" dirty="0">
                <a:solidFill>
                  <a:schemeClr val="tx1"/>
                </a:solidFill>
              </a:rPr>
              <a:t>污染了宿主菌染色体</a:t>
            </a:r>
            <a:r>
              <a:rPr lang="en-US" altLang="zh-CN" sz="2000" b="0" dirty="0">
                <a:solidFill>
                  <a:schemeClr val="tx1"/>
                </a:solidFill>
              </a:rPr>
              <a:t>DNA</a:t>
            </a:r>
            <a:r>
              <a:rPr lang="zh-CN" altLang="en-US" sz="2000" b="0" dirty="0">
                <a:solidFill>
                  <a:schemeClr val="tx1"/>
                </a:solidFill>
              </a:rPr>
              <a:t>的样品经</a:t>
            </a:r>
            <a:r>
              <a:rPr lang="en-US" altLang="zh-CN" sz="2000" b="0" dirty="0" err="1">
                <a:solidFill>
                  <a:schemeClr val="tx1"/>
                </a:solidFill>
              </a:rPr>
              <a:t>EcoR</a:t>
            </a:r>
            <a:r>
              <a:rPr lang="en-US" altLang="zh-CN" sz="2000" b="0" dirty="0">
                <a:solidFill>
                  <a:schemeClr val="tx1"/>
                </a:solidFill>
              </a:rPr>
              <a:t> I </a:t>
            </a:r>
            <a:r>
              <a:rPr lang="zh-CN" altLang="en-US" sz="2000" b="0" dirty="0">
                <a:solidFill>
                  <a:schemeClr val="tx1"/>
                </a:solidFill>
              </a:rPr>
              <a:t>处理</a:t>
            </a:r>
          </a:p>
        </p:txBody>
      </p:sp>
      <p:sp>
        <p:nvSpPr>
          <p:cNvPr id="168964" name="文本框 2">
            <a:extLst>
              <a:ext uri="{FF2B5EF4-FFF2-40B4-BE49-F238E27FC236}">
                <a16:creationId xmlns:a16="http://schemas.microsoft.com/office/drawing/2014/main" id="{8D620DEB-9F55-4BFC-9B0A-576385191688}"/>
              </a:ext>
            </a:extLst>
          </p:cNvPr>
          <p:cNvSpPr txBox="1">
            <a:spLocks noChangeArrowheads="1"/>
          </p:cNvSpPr>
          <p:nvPr/>
        </p:nvSpPr>
        <p:spPr bwMode="auto">
          <a:xfrm>
            <a:off x="5375920" y="908720"/>
            <a:ext cx="5904730" cy="2797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marL="342900" indent="-342900">
              <a:lnSpc>
                <a:spcPct val="150000"/>
              </a:lnSpc>
              <a:spcBef>
                <a:spcPct val="0"/>
              </a:spcBef>
              <a:buClrTx/>
            </a:pPr>
            <a:r>
              <a:rPr lang="zh-CN" altLang="en-US" sz="2400" b="0" dirty="0">
                <a:solidFill>
                  <a:srgbClr val="0000CC"/>
                </a:solidFill>
              </a:rPr>
              <a:t>非酶切的质粒电泳，条带位置不能反映其真实大小</a:t>
            </a:r>
            <a:endParaRPr lang="en-US" altLang="zh-CN" sz="2400" b="0" dirty="0">
              <a:solidFill>
                <a:srgbClr val="0000CC"/>
              </a:solidFill>
            </a:endParaRPr>
          </a:p>
          <a:p>
            <a:pPr marL="342900" indent="-342900">
              <a:lnSpc>
                <a:spcPct val="150000"/>
              </a:lnSpc>
              <a:spcBef>
                <a:spcPct val="0"/>
              </a:spcBef>
              <a:buClrTx/>
            </a:pPr>
            <a:r>
              <a:rPr lang="zh-CN" altLang="en-US" sz="2400" b="0" dirty="0">
                <a:solidFill>
                  <a:srgbClr val="0000CC"/>
                </a:solidFill>
              </a:rPr>
              <a:t>超螺旋状态的质粒</a:t>
            </a:r>
            <a:r>
              <a:rPr lang="en-US" altLang="zh-CN" sz="2400" b="0" dirty="0">
                <a:solidFill>
                  <a:srgbClr val="0000CC"/>
                </a:solidFill>
              </a:rPr>
              <a:t>DNA</a:t>
            </a:r>
            <a:r>
              <a:rPr lang="zh-CN" altLang="en-US" sz="2400" b="0" dirty="0">
                <a:solidFill>
                  <a:srgbClr val="0000CC"/>
                </a:solidFill>
              </a:rPr>
              <a:t>跑最快</a:t>
            </a:r>
            <a:endParaRPr lang="en-US" altLang="zh-CN" sz="2400" b="0" dirty="0">
              <a:solidFill>
                <a:srgbClr val="0000CC"/>
              </a:solidFill>
            </a:endParaRPr>
          </a:p>
          <a:p>
            <a:pPr marL="342900" indent="-342900">
              <a:lnSpc>
                <a:spcPct val="150000"/>
              </a:lnSpc>
              <a:spcBef>
                <a:spcPct val="0"/>
              </a:spcBef>
              <a:buClrTx/>
            </a:pPr>
            <a:r>
              <a:rPr lang="zh-CN" altLang="en-US" sz="2400" b="0" dirty="0">
                <a:solidFill>
                  <a:srgbClr val="C00000"/>
                </a:solidFill>
              </a:rPr>
              <a:t>线性化后（即酶切后）的质粒条带才能反映其大小。</a:t>
            </a:r>
          </a:p>
        </p:txBody>
      </p:sp>
      <p:sp>
        <p:nvSpPr>
          <p:cNvPr id="168965" name="灯片编号占位符 1">
            <a:extLst>
              <a:ext uri="{FF2B5EF4-FFF2-40B4-BE49-F238E27FC236}">
                <a16:creationId xmlns:a16="http://schemas.microsoft.com/office/drawing/2014/main" id="{8A75C991-5B48-487A-A749-03E0A63EDFA1}"/>
              </a:ext>
            </a:extLst>
          </p:cNvPr>
          <p:cNvSpPr>
            <a:spLocks noGrp="1"/>
          </p:cNvSpPr>
          <p:nvPr>
            <p:ph type="sldNum" sz="quarter" idx="4"/>
          </p:nvPr>
        </p:nvSpPr>
        <p:spPr bwMode="auto">
          <a:xfrm>
            <a:off x="9974264" y="6492876"/>
            <a:ext cx="693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l" eaLnBrk="0" hangingPunct="0">
              <a:spcBef>
                <a:spcPct val="0"/>
              </a:spcBef>
              <a:buClrTx/>
              <a:buFontTx/>
              <a:buNone/>
            </a:pPr>
            <a:fld id="{6409EBB0-2686-487E-B45E-571E160E05E1}" type="slidenum">
              <a:rPr lang="zh-CN" altLang="en-US" sz="1200" b="0">
                <a:solidFill>
                  <a:srgbClr val="898F89"/>
                </a:solidFill>
              </a:rPr>
              <a:pPr algn="l" eaLnBrk="0" hangingPunct="0">
                <a:spcBef>
                  <a:spcPct val="0"/>
                </a:spcBef>
                <a:buClrTx/>
                <a:buFontTx/>
                <a:buNone/>
              </a:pPr>
              <a:t>60</a:t>
            </a:fld>
            <a:endParaRPr lang="zh-CN" altLang="en-US" sz="1200" b="0">
              <a:solidFill>
                <a:srgbClr val="898F89"/>
              </a:solidFill>
            </a:endParaRPr>
          </a:p>
        </p:txBody>
      </p:sp>
    </p:spTree>
  </p:cSld>
  <p:clrMapOvr>
    <a:masterClrMapping/>
  </p:clrMapOvr>
  <p:transition spd="slow">
    <p:circl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ext Box 2">
            <a:extLst>
              <a:ext uri="{FF2B5EF4-FFF2-40B4-BE49-F238E27FC236}">
                <a16:creationId xmlns:a16="http://schemas.microsoft.com/office/drawing/2014/main" id="{9A404E0F-540E-4035-B0E9-3EF77A143BAE}"/>
              </a:ext>
            </a:extLst>
          </p:cNvPr>
          <p:cNvSpPr txBox="1">
            <a:spLocks noChangeArrowheads="1"/>
          </p:cNvSpPr>
          <p:nvPr/>
        </p:nvSpPr>
        <p:spPr bwMode="auto">
          <a:xfrm>
            <a:off x="2076499" y="617926"/>
            <a:ext cx="7897765" cy="1303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200" dirty="0">
                <a:solidFill>
                  <a:srgbClr val="0000CC"/>
                </a:solidFill>
                <a:latin typeface="Times New Roman" panose="02020603050405020304" pitchFamily="18" charset="0"/>
                <a:ea typeface="黑体" panose="02010609060101010101" pitchFamily="49" charset="-122"/>
              </a:rPr>
              <a:t>（二）真核生物基因组</a:t>
            </a:r>
            <a:r>
              <a:rPr kumimoji="0" lang="en-US" altLang="zh-CN" sz="3200" dirty="0">
                <a:solidFill>
                  <a:srgbClr val="0000CC"/>
                </a:solidFill>
                <a:latin typeface="Times New Roman" panose="02020603050405020304" pitchFamily="18" charset="0"/>
                <a:ea typeface="黑体" panose="02010609060101010101" pitchFamily="49" charset="-122"/>
              </a:rPr>
              <a:t>DNA </a:t>
            </a:r>
            <a:r>
              <a:rPr kumimoji="0" lang="zh-CN" altLang="en-US" sz="3200" dirty="0">
                <a:solidFill>
                  <a:srgbClr val="0000CC"/>
                </a:solidFill>
                <a:latin typeface="Times New Roman" panose="02020603050405020304" pitchFamily="18" charset="0"/>
                <a:ea typeface="黑体" panose="02010609060101010101" pitchFamily="49" charset="-122"/>
              </a:rPr>
              <a:t>被逐级有序地组装成高级结构</a:t>
            </a:r>
          </a:p>
        </p:txBody>
      </p:sp>
      <p:sp>
        <p:nvSpPr>
          <p:cNvPr id="175107" name="Text Box 1028">
            <a:extLst>
              <a:ext uri="{FF2B5EF4-FFF2-40B4-BE49-F238E27FC236}">
                <a16:creationId xmlns:a16="http://schemas.microsoft.com/office/drawing/2014/main" id="{E0986443-CBDC-40F4-8CBE-7659D378D4F5}"/>
              </a:ext>
            </a:extLst>
          </p:cNvPr>
          <p:cNvSpPr txBox="1">
            <a:spLocks noChangeArrowheads="1"/>
          </p:cNvSpPr>
          <p:nvPr/>
        </p:nvSpPr>
        <p:spPr bwMode="auto">
          <a:xfrm>
            <a:off x="1415480" y="2420889"/>
            <a:ext cx="8784976" cy="3167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63538" indent="-363538">
              <a:spcBef>
                <a:spcPct val="20000"/>
              </a:spcBef>
              <a:buClr>
                <a:schemeClr val="accent1"/>
              </a:buClr>
              <a:buFont typeface="Wingdings" panose="05000000000000000000" pitchFamily="2" charset="2"/>
              <a:buChar char="v"/>
              <a:tabLst>
                <a:tab pos="539750" algn="l"/>
              </a:tabLst>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tabLst>
                <a:tab pos="539750" algn="l"/>
              </a:tabLst>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tabLst>
                <a:tab pos="539750" algn="l"/>
              </a:tabLst>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tabLst>
                <a:tab pos="539750" algn="l"/>
              </a:tabLst>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tabLst>
                <a:tab pos="539750" algn="l"/>
              </a:tabLst>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tabLst>
                <a:tab pos="539750" algn="l"/>
              </a:tabLst>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tabLst>
                <a:tab pos="539750" algn="l"/>
              </a:tabLst>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tabLst>
                <a:tab pos="539750" algn="l"/>
              </a:tabLst>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tabLst>
                <a:tab pos="539750" algn="l"/>
              </a:tabLst>
              <a:defRPr sz="2000">
                <a:solidFill>
                  <a:srgbClr val="003300"/>
                </a:solidFill>
                <a:latin typeface="微软雅黑" panose="020B0503020204020204" pitchFamily="34" charset="-122"/>
                <a:ea typeface="微软雅黑" panose="020B0503020204020204" pitchFamily="34" charset="-122"/>
              </a:defRPr>
            </a:lvl9pPr>
          </a:lstStyle>
          <a:p>
            <a:pPr algn="just" eaLnBrk="1" hangingPunct="1">
              <a:lnSpc>
                <a:spcPct val="120000"/>
              </a:lnSpc>
              <a:spcBef>
                <a:spcPct val="30000"/>
              </a:spcBef>
              <a:buClr>
                <a:srgbClr val="0000CC"/>
              </a:buClr>
              <a:buFont typeface="Wingdings" panose="05000000000000000000" pitchFamily="2" charset="2"/>
              <a:buChar char="Ø"/>
            </a:pPr>
            <a:r>
              <a:rPr kumimoji="0" lang="zh-CN" altLang="en-US" sz="2600" b="0" dirty="0">
                <a:solidFill>
                  <a:schemeClr val="tx1"/>
                </a:solidFill>
                <a:latin typeface="Times New Roman" panose="02020603050405020304" pitchFamily="18" charset="0"/>
                <a:ea typeface="黑体" panose="02010609060101010101" pitchFamily="49" charset="-122"/>
              </a:rPr>
              <a:t>人类基因组大约有</a:t>
            </a:r>
            <a:r>
              <a:rPr kumimoji="0" lang="en-US" altLang="zh-CN" sz="2600" b="0" dirty="0">
                <a:solidFill>
                  <a:schemeClr val="tx1"/>
                </a:solidFill>
                <a:latin typeface="Times New Roman" panose="02020603050405020304" pitchFamily="18" charset="0"/>
                <a:ea typeface="黑体" panose="02010609060101010101" pitchFamily="49" charset="-122"/>
              </a:rPr>
              <a:t>3×10</a:t>
            </a:r>
            <a:r>
              <a:rPr kumimoji="0" lang="en-US" altLang="zh-CN" sz="2600" b="0" baseline="30000" dirty="0">
                <a:solidFill>
                  <a:schemeClr val="tx1"/>
                </a:solidFill>
                <a:latin typeface="Times New Roman" panose="02020603050405020304" pitchFamily="18" charset="0"/>
                <a:ea typeface="黑体" panose="02010609060101010101" pitchFamily="49" charset="-122"/>
              </a:rPr>
              <a:t>9</a:t>
            </a:r>
            <a:r>
              <a:rPr kumimoji="0" lang="en-US" altLang="zh-CN" sz="2600" b="0" dirty="0">
                <a:solidFill>
                  <a:schemeClr val="tx1"/>
                </a:solidFill>
                <a:latin typeface="Times New Roman" panose="02020603050405020304" pitchFamily="18" charset="0"/>
                <a:ea typeface="黑体" panose="02010609060101010101" pitchFamily="49" charset="-122"/>
              </a:rPr>
              <a:t> </a:t>
            </a:r>
            <a:r>
              <a:rPr kumimoji="0" lang="zh-CN" altLang="en-US" sz="2600" b="0" dirty="0">
                <a:solidFill>
                  <a:schemeClr val="tx1"/>
                </a:solidFill>
                <a:latin typeface="Times New Roman" panose="02020603050405020304" pitchFamily="18" charset="0"/>
                <a:ea typeface="黑体" panose="02010609060101010101" pitchFamily="49" charset="-122"/>
              </a:rPr>
              <a:t>个碱基对，相当于一条长度约为</a:t>
            </a:r>
            <a:r>
              <a:rPr kumimoji="0" lang="en-US" altLang="zh-CN" sz="2600" b="0" dirty="0">
                <a:solidFill>
                  <a:schemeClr val="tx1"/>
                </a:solidFill>
                <a:latin typeface="Times New Roman" panose="02020603050405020304" pitchFamily="18" charset="0"/>
                <a:ea typeface="黑体" panose="02010609060101010101" pitchFamily="49" charset="-122"/>
              </a:rPr>
              <a:t>1.7m </a:t>
            </a:r>
            <a:r>
              <a:rPr kumimoji="0" lang="zh-CN" altLang="en-US" sz="2600" b="0" dirty="0">
                <a:solidFill>
                  <a:schemeClr val="tx1"/>
                </a:solidFill>
                <a:latin typeface="Times New Roman" panose="02020603050405020304" pitchFamily="18" charset="0"/>
                <a:ea typeface="黑体" panose="02010609060101010101" pitchFamily="49" charset="-122"/>
              </a:rPr>
              <a:t>的线性大分子。</a:t>
            </a:r>
            <a:endParaRPr kumimoji="0" lang="en-US" altLang="zh-CN" sz="2600" b="0" dirty="0">
              <a:solidFill>
                <a:schemeClr val="tx1"/>
              </a:solidFill>
              <a:latin typeface="Times New Roman" panose="02020603050405020304" pitchFamily="18" charset="0"/>
              <a:ea typeface="黑体" panose="02010609060101010101" pitchFamily="49" charset="-122"/>
            </a:endParaRPr>
          </a:p>
          <a:p>
            <a:pPr algn="just" eaLnBrk="1" hangingPunct="1">
              <a:lnSpc>
                <a:spcPct val="120000"/>
              </a:lnSpc>
              <a:spcBef>
                <a:spcPct val="30000"/>
              </a:spcBef>
              <a:buClr>
                <a:srgbClr val="0000CC"/>
              </a:buClr>
              <a:buFont typeface="Wingdings" panose="05000000000000000000" pitchFamily="2" charset="2"/>
              <a:buChar char="Ø"/>
            </a:pPr>
            <a:r>
              <a:rPr kumimoji="0" lang="zh-CN" altLang="en-US" sz="2600" b="0" dirty="0">
                <a:solidFill>
                  <a:schemeClr val="tx1"/>
                </a:solidFill>
                <a:latin typeface="Times New Roman" panose="02020603050405020304" pitchFamily="18" charset="0"/>
                <a:ea typeface="黑体" panose="02010609060101010101" pitchFamily="49" charset="-122"/>
              </a:rPr>
              <a:t>在细胞周期的大部分时间里，细胞核内的</a:t>
            </a:r>
            <a:r>
              <a:rPr kumimoji="0" lang="en-US" altLang="zh-CN" sz="2600" b="0" dirty="0">
                <a:solidFill>
                  <a:schemeClr val="tx1"/>
                </a:solidFill>
                <a:latin typeface="Times New Roman" panose="02020603050405020304" pitchFamily="18" charset="0"/>
                <a:ea typeface="黑体" panose="02010609060101010101" pitchFamily="49" charset="-122"/>
              </a:rPr>
              <a:t>DNA </a:t>
            </a:r>
            <a:r>
              <a:rPr kumimoji="0" lang="zh-CN" altLang="en-US" sz="2600" b="0" dirty="0">
                <a:solidFill>
                  <a:schemeClr val="tx1"/>
                </a:solidFill>
                <a:latin typeface="Times New Roman" panose="02020603050405020304" pitchFamily="18" charset="0"/>
                <a:ea typeface="黑体" panose="02010609060101010101" pitchFamily="49" charset="-122"/>
              </a:rPr>
              <a:t>以松散的</a:t>
            </a:r>
            <a:r>
              <a:rPr kumimoji="0" lang="zh-CN" altLang="en-US" sz="2600" b="0" dirty="0">
                <a:solidFill>
                  <a:srgbClr val="0000CC"/>
                </a:solidFill>
                <a:latin typeface="Times New Roman" panose="02020603050405020304" pitchFamily="18" charset="0"/>
                <a:ea typeface="黑体" panose="02010609060101010101" pitchFamily="49" charset="-122"/>
              </a:rPr>
              <a:t>染色质（</a:t>
            </a:r>
            <a:r>
              <a:rPr kumimoji="0" lang="en-US" altLang="zh-CN" sz="2600" b="0" dirty="0">
                <a:solidFill>
                  <a:srgbClr val="0000CC"/>
                </a:solidFill>
                <a:latin typeface="Times New Roman" panose="02020603050405020304" pitchFamily="18" charset="0"/>
                <a:ea typeface="黑体" panose="02010609060101010101" pitchFamily="49" charset="-122"/>
              </a:rPr>
              <a:t>chromatin</a:t>
            </a:r>
            <a:r>
              <a:rPr kumimoji="0" lang="zh-CN" altLang="en-US" sz="2600" b="0" dirty="0">
                <a:solidFill>
                  <a:srgbClr val="0000CC"/>
                </a:solidFill>
                <a:latin typeface="Times New Roman" panose="02020603050405020304" pitchFamily="18" charset="0"/>
                <a:ea typeface="黑体" panose="02010609060101010101" pitchFamily="49" charset="-122"/>
              </a:rPr>
              <a:t>）</a:t>
            </a:r>
            <a:r>
              <a:rPr kumimoji="0" lang="zh-CN" altLang="en-US" sz="2600" b="0" dirty="0">
                <a:solidFill>
                  <a:schemeClr val="tx1"/>
                </a:solidFill>
                <a:latin typeface="Times New Roman" panose="02020603050405020304" pitchFamily="18" charset="0"/>
                <a:ea typeface="黑体" panose="02010609060101010101" pitchFamily="49" charset="-122"/>
              </a:rPr>
              <a:t>形式存在。</a:t>
            </a:r>
            <a:endParaRPr kumimoji="0" lang="en-US" altLang="zh-CN" sz="2600" b="0" dirty="0">
              <a:solidFill>
                <a:schemeClr val="tx1"/>
              </a:solidFill>
              <a:latin typeface="Times New Roman" panose="02020603050405020304" pitchFamily="18" charset="0"/>
              <a:ea typeface="黑体" panose="02010609060101010101" pitchFamily="49" charset="-122"/>
            </a:endParaRPr>
          </a:p>
          <a:p>
            <a:pPr algn="just" eaLnBrk="1" hangingPunct="1">
              <a:lnSpc>
                <a:spcPct val="120000"/>
              </a:lnSpc>
              <a:spcBef>
                <a:spcPct val="30000"/>
              </a:spcBef>
              <a:buClr>
                <a:srgbClr val="0000CC"/>
              </a:buClr>
              <a:buFont typeface="Wingdings" panose="05000000000000000000" pitchFamily="2" charset="2"/>
              <a:buChar char="Ø"/>
            </a:pPr>
            <a:r>
              <a:rPr kumimoji="0" lang="zh-CN" altLang="en-US" sz="2600" b="0" dirty="0">
                <a:solidFill>
                  <a:schemeClr val="tx1"/>
                </a:solidFill>
                <a:latin typeface="Times New Roman" panose="02020603050405020304" pitchFamily="18" charset="0"/>
                <a:ea typeface="黑体" panose="02010609060101010101" pitchFamily="49" charset="-122"/>
              </a:rPr>
              <a:t>只有在细胞分裂期间，细胞核内的</a:t>
            </a:r>
            <a:r>
              <a:rPr kumimoji="0" lang="en-US" altLang="zh-CN" sz="2600" b="0" dirty="0">
                <a:solidFill>
                  <a:schemeClr val="tx1"/>
                </a:solidFill>
                <a:latin typeface="Times New Roman" panose="02020603050405020304" pitchFamily="18" charset="0"/>
                <a:ea typeface="黑体" panose="02010609060101010101" pitchFamily="49" charset="-122"/>
              </a:rPr>
              <a:t>DNA</a:t>
            </a:r>
            <a:r>
              <a:rPr kumimoji="0" lang="zh-CN" altLang="en-US" sz="2600" b="0" dirty="0">
                <a:solidFill>
                  <a:schemeClr val="tx1"/>
                </a:solidFill>
                <a:latin typeface="Times New Roman" panose="02020603050405020304" pitchFamily="18" charset="0"/>
                <a:ea typeface="黑体" panose="02010609060101010101" pitchFamily="49" charset="-122"/>
              </a:rPr>
              <a:t>才形成高度致密的</a:t>
            </a:r>
            <a:r>
              <a:rPr kumimoji="0" lang="zh-CN" altLang="en-US" sz="2600" b="0" dirty="0">
                <a:solidFill>
                  <a:srgbClr val="0000CC"/>
                </a:solidFill>
                <a:latin typeface="Times New Roman" panose="02020603050405020304" pitchFamily="18" charset="0"/>
                <a:ea typeface="黑体" panose="02010609060101010101" pitchFamily="49" charset="-122"/>
              </a:rPr>
              <a:t>染色体（</a:t>
            </a:r>
            <a:r>
              <a:rPr kumimoji="0" lang="en-US" altLang="zh-CN" sz="2600" b="0" dirty="0">
                <a:solidFill>
                  <a:srgbClr val="0000CC"/>
                </a:solidFill>
                <a:latin typeface="Times New Roman" panose="02020603050405020304" pitchFamily="18" charset="0"/>
                <a:ea typeface="黑体" panose="02010609060101010101" pitchFamily="49" charset="-122"/>
              </a:rPr>
              <a:t>chromosome</a:t>
            </a:r>
            <a:r>
              <a:rPr kumimoji="0" lang="zh-CN" altLang="en-US" sz="2600" b="0" dirty="0">
                <a:solidFill>
                  <a:srgbClr val="0000CC"/>
                </a:solidFill>
                <a:latin typeface="Times New Roman" panose="02020603050405020304" pitchFamily="18" charset="0"/>
                <a:ea typeface="黑体" panose="02010609060101010101" pitchFamily="49" charset="-122"/>
              </a:rPr>
              <a:t>）</a:t>
            </a:r>
            <a:r>
              <a:rPr kumimoji="0" lang="zh-CN" altLang="en-US" sz="2600" b="0" dirty="0">
                <a:solidFill>
                  <a:schemeClr val="tx1"/>
                </a:solidFill>
                <a:latin typeface="Times New Roman" panose="02020603050405020304" pitchFamily="18" charset="0"/>
                <a:ea typeface="黑体" panose="02010609060101010101" pitchFamily="49" charset="-122"/>
              </a:rPr>
              <a:t>。</a:t>
            </a:r>
            <a:endParaRPr kumimoji="0" lang="en-US" altLang="zh-CN" sz="2600" b="0" dirty="0">
              <a:solidFill>
                <a:schemeClr val="tx1"/>
              </a:solidFill>
              <a:latin typeface="Times New Roman" panose="02020603050405020304" pitchFamily="18" charset="0"/>
              <a:ea typeface="黑体" panose="02010609060101010101" pitchFamily="49" charset="-122"/>
            </a:endParaRPr>
          </a:p>
        </p:txBody>
      </p:sp>
      <p:sp>
        <p:nvSpPr>
          <p:cNvPr id="175110" name="灯片编号占位符 1">
            <a:extLst>
              <a:ext uri="{FF2B5EF4-FFF2-40B4-BE49-F238E27FC236}">
                <a16:creationId xmlns:a16="http://schemas.microsoft.com/office/drawing/2014/main" id="{80AD2970-904E-4B1A-BF69-20795BA57974}"/>
              </a:ext>
            </a:extLst>
          </p:cNvPr>
          <p:cNvSpPr>
            <a:spLocks noGrp="1"/>
          </p:cNvSpPr>
          <p:nvPr>
            <p:ph type="sldNum" sz="quarter" idx="4294967295"/>
          </p:nvPr>
        </p:nvSpPr>
        <p:spPr bwMode="auto">
          <a:xfrm>
            <a:off x="9974264" y="6492876"/>
            <a:ext cx="693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D90D7AC6-5091-409D-8EC6-345D353231FF}" type="slidenum">
              <a:rPr lang="zh-CN" altLang="en-US" sz="1200" b="0">
                <a:solidFill>
                  <a:srgbClr val="898F89"/>
                </a:solidFill>
              </a:rPr>
              <a:pPr>
                <a:spcBef>
                  <a:spcPct val="0"/>
                </a:spcBef>
                <a:buClrTx/>
                <a:buFontTx/>
                <a:buNone/>
              </a:pPr>
              <a:t>61</a:t>
            </a:fld>
            <a:endParaRPr lang="zh-CN" altLang="en-US" sz="1200" b="0">
              <a:solidFill>
                <a:srgbClr val="898F89"/>
              </a:solidFill>
            </a:endParaRPr>
          </a:p>
        </p:txBody>
      </p:sp>
    </p:spTree>
  </p:cSld>
  <p:clrMapOvr>
    <a:masterClrMapping/>
  </p:clrMapOvr>
  <p:transition spd="slow">
    <p:circl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Rectangle 2">
            <a:extLst>
              <a:ext uri="{FF2B5EF4-FFF2-40B4-BE49-F238E27FC236}">
                <a16:creationId xmlns:a16="http://schemas.microsoft.com/office/drawing/2014/main" id="{6244ECB9-3A01-4ADD-A791-74E8C83FC4E4}"/>
              </a:ext>
            </a:extLst>
          </p:cNvPr>
          <p:cNvSpPr>
            <a:spLocks noChangeArrowheads="1"/>
          </p:cNvSpPr>
          <p:nvPr/>
        </p:nvSpPr>
        <p:spPr bwMode="auto">
          <a:xfrm>
            <a:off x="4754488" y="1508330"/>
            <a:ext cx="7456030" cy="1495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63538" indent="-363538">
              <a:spcBef>
                <a:spcPct val="20000"/>
              </a:spcBef>
              <a:buClr>
                <a:schemeClr val="accent1"/>
              </a:buClr>
              <a:buFont typeface="Wingdings" panose="05000000000000000000" pitchFamily="2" charset="2"/>
              <a:buChar char="v"/>
              <a:tabLst>
                <a:tab pos="539750" algn="l"/>
              </a:tabLst>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tabLst>
                <a:tab pos="539750" algn="l"/>
              </a:tabLst>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tabLst>
                <a:tab pos="539750" algn="l"/>
              </a:tabLst>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tabLst>
                <a:tab pos="539750" algn="l"/>
              </a:tabLst>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tabLst>
                <a:tab pos="539750" algn="l"/>
              </a:tabLst>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tabLst>
                <a:tab pos="539750" algn="l"/>
              </a:tabLst>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tabLst>
                <a:tab pos="539750" algn="l"/>
              </a:tabLst>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tabLst>
                <a:tab pos="539750" algn="l"/>
              </a:tabLst>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tabLst>
                <a:tab pos="539750" algn="l"/>
              </a:tabLst>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20000"/>
              </a:lnSpc>
              <a:spcBef>
                <a:spcPct val="30000"/>
              </a:spcBef>
              <a:buClr>
                <a:srgbClr val="0000CC"/>
              </a:buClr>
              <a:buFont typeface="Wingdings" panose="05000000000000000000" pitchFamily="2" charset="2"/>
              <a:buChar char="Ø"/>
            </a:pPr>
            <a:r>
              <a:rPr kumimoji="0" lang="zh-CN" altLang="en-US" sz="2400" b="0" dirty="0">
                <a:solidFill>
                  <a:schemeClr val="tx1"/>
                </a:solidFill>
              </a:rPr>
              <a:t>电镜下，</a:t>
            </a:r>
            <a:r>
              <a:rPr kumimoji="0" lang="en-US" altLang="zh-CN" sz="2400" b="0" dirty="0">
                <a:solidFill>
                  <a:schemeClr val="tx1"/>
                </a:solidFill>
              </a:rPr>
              <a:t>DNA</a:t>
            </a:r>
            <a:r>
              <a:rPr kumimoji="0" lang="zh-CN" altLang="en-US" sz="2400" b="0" dirty="0">
                <a:solidFill>
                  <a:schemeClr val="tx1"/>
                </a:solidFill>
              </a:rPr>
              <a:t>染色质呈现出</a:t>
            </a:r>
            <a:r>
              <a:rPr kumimoji="0" lang="zh-CN" altLang="en-US" sz="2400" b="0" dirty="0">
                <a:solidFill>
                  <a:srgbClr val="FF0000"/>
                </a:solidFill>
              </a:rPr>
              <a:t>串珠样结构</a:t>
            </a:r>
            <a:r>
              <a:rPr kumimoji="0" lang="en-US" altLang="zh-CN" sz="2400" b="0" dirty="0">
                <a:solidFill>
                  <a:srgbClr val="FF0000"/>
                </a:solidFill>
              </a:rPr>
              <a:t>/10nm</a:t>
            </a:r>
            <a:r>
              <a:rPr kumimoji="0" lang="zh-CN" altLang="en-US" sz="2400" b="0" dirty="0">
                <a:solidFill>
                  <a:srgbClr val="FF0000"/>
                </a:solidFill>
              </a:rPr>
              <a:t>纤维，</a:t>
            </a:r>
            <a:r>
              <a:rPr kumimoji="0" lang="zh-CN" altLang="en-US" sz="2400" b="0" dirty="0">
                <a:solidFill>
                  <a:schemeClr val="tx1"/>
                </a:solidFill>
              </a:rPr>
              <a:t>使</a:t>
            </a:r>
            <a:r>
              <a:rPr kumimoji="0" lang="en-US" altLang="zh-CN" sz="2400" b="0" dirty="0">
                <a:solidFill>
                  <a:schemeClr val="tx1"/>
                </a:solidFill>
              </a:rPr>
              <a:t>DNA</a:t>
            </a:r>
            <a:r>
              <a:rPr kumimoji="0" lang="zh-CN" altLang="en-US" sz="2400" b="0" dirty="0">
                <a:solidFill>
                  <a:schemeClr val="tx1"/>
                </a:solidFill>
              </a:rPr>
              <a:t>长度压缩了约</a:t>
            </a:r>
            <a:r>
              <a:rPr kumimoji="0" lang="en-US" altLang="zh-CN" sz="2400" b="0" dirty="0">
                <a:solidFill>
                  <a:schemeClr val="tx1"/>
                </a:solidFill>
              </a:rPr>
              <a:t>7</a:t>
            </a:r>
            <a:r>
              <a:rPr kumimoji="0" lang="zh-CN" altLang="en-US" sz="2400" b="0" dirty="0">
                <a:solidFill>
                  <a:schemeClr val="tx1"/>
                </a:solidFill>
              </a:rPr>
              <a:t>倍。</a:t>
            </a:r>
          </a:p>
          <a:p>
            <a:pPr eaLnBrk="1" hangingPunct="1">
              <a:lnSpc>
                <a:spcPct val="120000"/>
              </a:lnSpc>
              <a:spcBef>
                <a:spcPct val="30000"/>
              </a:spcBef>
              <a:buClr>
                <a:srgbClr val="0000CC"/>
              </a:buClr>
              <a:buFont typeface="Wingdings" panose="05000000000000000000" pitchFamily="2" charset="2"/>
              <a:buChar char="Ø"/>
            </a:pPr>
            <a:r>
              <a:rPr kumimoji="0" lang="zh-CN" altLang="en-US" sz="2400" b="0" dirty="0">
                <a:solidFill>
                  <a:schemeClr val="tx1"/>
                </a:solidFill>
              </a:rPr>
              <a:t>染色质的基本结构单位是</a:t>
            </a:r>
            <a:r>
              <a:rPr kumimoji="0" lang="zh-CN" altLang="en-US" sz="2400" b="0" dirty="0">
                <a:solidFill>
                  <a:srgbClr val="FF0000"/>
                </a:solidFill>
              </a:rPr>
              <a:t>核小体</a:t>
            </a:r>
            <a:r>
              <a:rPr kumimoji="0" lang="en-US" altLang="zh-CN" sz="2400" b="0" dirty="0">
                <a:solidFill>
                  <a:srgbClr val="FF0000"/>
                </a:solidFill>
              </a:rPr>
              <a:t>(nucleosome)</a:t>
            </a:r>
            <a:endParaRPr kumimoji="0" lang="zh-CN" altLang="en-US" sz="2400" b="0" dirty="0">
              <a:solidFill>
                <a:srgbClr val="FF0000"/>
              </a:solidFill>
            </a:endParaRPr>
          </a:p>
        </p:txBody>
      </p:sp>
      <p:sp>
        <p:nvSpPr>
          <p:cNvPr id="177155" name="Rectangle 4">
            <a:extLst>
              <a:ext uri="{FF2B5EF4-FFF2-40B4-BE49-F238E27FC236}">
                <a16:creationId xmlns:a16="http://schemas.microsoft.com/office/drawing/2014/main" id="{EEE96834-4EF5-49B9-AC4D-CD34D22AC9BE}"/>
              </a:ext>
            </a:extLst>
          </p:cNvPr>
          <p:cNvSpPr>
            <a:spLocks noChangeArrowheads="1"/>
          </p:cNvSpPr>
          <p:nvPr/>
        </p:nvSpPr>
        <p:spPr bwMode="auto">
          <a:xfrm>
            <a:off x="2100264" y="147639"/>
            <a:ext cx="7991475" cy="66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200" dirty="0">
                <a:solidFill>
                  <a:srgbClr val="0000CC"/>
                </a:solidFill>
                <a:latin typeface="Times New Roman" panose="02020603050405020304" pitchFamily="18" charset="0"/>
                <a:ea typeface="黑体" panose="02010609060101010101" pitchFamily="49" charset="-122"/>
              </a:rPr>
              <a:t>染色质的串珠样结构构成</a:t>
            </a:r>
            <a:r>
              <a:rPr kumimoji="0" lang="en-US" altLang="zh-CN" sz="3200" dirty="0">
                <a:solidFill>
                  <a:srgbClr val="0000CC"/>
                </a:solidFill>
                <a:latin typeface="Times New Roman" panose="02020603050405020304" pitchFamily="18" charset="0"/>
                <a:ea typeface="黑体" panose="02010609060101010101" pitchFamily="49" charset="-122"/>
              </a:rPr>
              <a:t>10nm</a:t>
            </a:r>
            <a:r>
              <a:rPr kumimoji="0" lang="zh-CN" altLang="en-US" sz="3200" dirty="0">
                <a:solidFill>
                  <a:srgbClr val="0000CC"/>
                </a:solidFill>
                <a:latin typeface="Times New Roman" panose="02020603050405020304" pitchFamily="18" charset="0"/>
                <a:ea typeface="黑体" panose="02010609060101010101" pitchFamily="49" charset="-122"/>
              </a:rPr>
              <a:t>纤维</a:t>
            </a:r>
          </a:p>
        </p:txBody>
      </p:sp>
      <p:pic>
        <p:nvPicPr>
          <p:cNvPr id="177156" name="图片 2">
            <a:extLst>
              <a:ext uri="{FF2B5EF4-FFF2-40B4-BE49-F238E27FC236}">
                <a16:creationId xmlns:a16="http://schemas.microsoft.com/office/drawing/2014/main" id="{BB3D4908-E179-454D-A636-E21FFBBDDE7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5400" y="1779861"/>
            <a:ext cx="3960440" cy="384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271FAFD3-D77A-FCB7-35FE-C0B09E465D30}"/>
              </a:ext>
            </a:extLst>
          </p:cNvPr>
          <p:cNvSpPr txBox="1"/>
          <p:nvPr/>
        </p:nvSpPr>
        <p:spPr>
          <a:xfrm>
            <a:off x="4754488" y="3429000"/>
            <a:ext cx="6912768" cy="2713948"/>
          </a:xfrm>
          <a:prstGeom prst="rect">
            <a:avLst/>
          </a:prstGeom>
          <a:noFill/>
        </p:spPr>
        <p:txBody>
          <a:bodyPr wrap="square">
            <a:spAutoFit/>
          </a:bodyPr>
          <a:lstStyle/>
          <a:p>
            <a:pPr marL="342900" indent="-342900" eaLnBrk="1" hangingPunct="1">
              <a:lnSpc>
                <a:spcPct val="120000"/>
              </a:lnSpc>
              <a:spcBef>
                <a:spcPct val="0"/>
              </a:spcBef>
              <a:buClrTx/>
              <a:buFont typeface="Arial" panose="020B0604020202020204" pitchFamily="34" charset="0"/>
              <a:buChar char="•"/>
            </a:pPr>
            <a:r>
              <a:rPr lang="zh-CN" altLang="en-US" sz="2400" b="0" dirty="0">
                <a:solidFill>
                  <a:srgbClr val="0000CC"/>
                </a:solidFill>
                <a:latin typeface="微软雅黑" panose="020B0503020204020204" pitchFamily="34" charset="-122"/>
                <a:ea typeface="微软雅黑" panose="020B0503020204020204" pitchFamily="34" charset="-122"/>
              </a:rPr>
              <a:t>核心</a:t>
            </a:r>
            <a:r>
              <a:rPr lang="zh-CN" altLang="en-US" dirty="0">
                <a:solidFill>
                  <a:srgbClr val="0000CC"/>
                </a:solidFill>
                <a:latin typeface="微软雅黑" panose="020B0503020204020204" pitchFamily="34" charset="-122"/>
                <a:ea typeface="微软雅黑" panose="020B0503020204020204" pitchFamily="34" charset="-122"/>
              </a:rPr>
              <a:t>颗粒</a:t>
            </a:r>
            <a:r>
              <a:rPr lang="zh-CN" altLang="en-US" dirty="0">
                <a:solidFill>
                  <a:srgbClr val="111111"/>
                </a:solidFill>
                <a:latin typeface="微软雅黑" panose="020B0503020204020204" pitchFamily="34" charset="-122"/>
                <a:ea typeface="微软雅黑" panose="020B0503020204020204" pitchFamily="34" charset="-122"/>
              </a:rPr>
              <a:t>由</a:t>
            </a:r>
            <a:r>
              <a:rPr lang="zh-CN" altLang="en-US" sz="2400" b="0" dirty="0">
                <a:solidFill>
                  <a:srgbClr val="111111"/>
                </a:solidFill>
                <a:latin typeface="微软雅黑" panose="020B0503020204020204" pitchFamily="34" charset="-122"/>
                <a:ea typeface="微软雅黑" panose="020B0503020204020204" pitchFamily="34" charset="-122"/>
              </a:rPr>
              <a:t> </a:t>
            </a:r>
            <a:r>
              <a:rPr lang="zh-CN" altLang="en-US" sz="2400" b="0" dirty="0">
                <a:solidFill>
                  <a:srgbClr val="0000CC"/>
                </a:solidFill>
                <a:latin typeface="微软雅黑" panose="020B0503020204020204" pitchFamily="34" charset="-122"/>
                <a:ea typeface="微软雅黑" panose="020B0503020204020204" pitchFamily="34" charset="-122"/>
              </a:rPr>
              <a:t>组蛋白</a:t>
            </a:r>
            <a:r>
              <a:rPr lang="en-US" altLang="zh-CN" sz="2400" b="0" dirty="0">
                <a:solidFill>
                  <a:srgbClr val="0000CC"/>
                </a:solidFill>
                <a:latin typeface="微软雅黑" panose="020B0503020204020204" pitchFamily="34" charset="-122"/>
                <a:ea typeface="微软雅黑" panose="020B0503020204020204" pitchFamily="34" charset="-122"/>
              </a:rPr>
              <a:t>H</a:t>
            </a:r>
            <a:r>
              <a:rPr lang="en-US" altLang="zh-CN" sz="2400" b="0" baseline="-25000" dirty="0">
                <a:solidFill>
                  <a:srgbClr val="0000CC"/>
                </a:solidFill>
                <a:latin typeface="微软雅黑" panose="020B0503020204020204" pitchFamily="34" charset="-122"/>
                <a:ea typeface="微软雅黑" panose="020B0503020204020204" pitchFamily="34" charset="-122"/>
              </a:rPr>
              <a:t>2</a:t>
            </a:r>
            <a:r>
              <a:rPr lang="en-US" altLang="zh-CN" sz="2400" b="0" dirty="0">
                <a:solidFill>
                  <a:srgbClr val="0000CC"/>
                </a:solidFill>
                <a:latin typeface="微软雅黑" panose="020B0503020204020204" pitchFamily="34" charset="-122"/>
                <a:ea typeface="微软雅黑" panose="020B0503020204020204" pitchFamily="34" charset="-122"/>
              </a:rPr>
              <a:t>A</a:t>
            </a:r>
            <a:r>
              <a:rPr lang="zh-CN" altLang="en-US" sz="2400" b="0" dirty="0">
                <a:solidFill>
                  <a:srgbClr val="0000CC"/>
                </a:solidFill>
                <a:latin typeface="微软雅黑" panose="020B0503020204020204" pitchFamily="34" charset="-122"/>
                <a:ea typeface="微软雅黑" panose="020B0503020204020204" pitchFamily="34" charset="-122"/>
              </a:rPr>
              <a:t>、</a:t>
            </a:r>
            <a:r>
              <a:rPr lang="en-US" altLang="zh-CN" sz="2400" b="0" dirty="0">
                <a:solidFill>
                  <a:srgbClr val="0000CC"/>
                </a:solidFill>
                <a:latin typeface="微软雅黑" panose="020B0503020204020204" pitchFamily="34" charset="-122"/>
                <a:ea typeface="微软雅黑" panose="020B0503020204020204" pitchFamily="34" charset="-122"/>
              </a:rPr>
              <a:t>H</a:t>
            </a:r>
            <a:r>
              <a:rPr lang="en-US" altLang="zh-CN" sz="2400" b="0" baseline="-25000" dirty="0">
                <a:solidFill>
                  <a:srgbClr val="0000CC"/>
                </a:solidFill>
                <a:latin typeface="微软雅黑" panose="020B0503020204020204" pitchFamily="34" charset="-122"/>
                <a:ea typeface="微软雅黑" panose="020B0503020204020204" pitchFamily="34" charset="-122"/>
              </a:rPr>
              <a:t>2</a:t>
            </a:r>
            <a:r>
              <a:rPr lang="en-US" altLang="zh-CN" sz="2400" b="0" dirty="0">
                <a:solidFill>
                  <a:srgbClr val="0000CC"/>
                </a:solidFill>
                <a:latin typeface="微软雅黑" panose="020B0503020204020204" pitchFamily="34" charset="-122"/>
                <a:ea typeface="微软雅黑" panose="020B0503020204020204" pitchFamily="34" charset="-122"/>
              </a:rPr>
              <a:t>B</a:t>
            </a:r>
            <a:r>
              <a:rPr lang="zh-CN" altLang="en-US" sz="2400" b="0" dirty="0">
                <a:solidFill>
                  <a:srgbClr val="0000CC"/>
                </a:solidFill>
                <a:latin typeface="微软雅黑" panose="020B0503020204020204" pitchFamily="34" charset="-122"/>
                <a:ea typeface="微软雅黑" panose="020B0503020204020204" pitchFamily="34" charset="-122"/>
              </a:rPr>
              <a:t>、</a:t>
            </a:r>
            <a:r>
              <a:rPr lang="en-US" altLang="zh-CN" sz="2400" b="0" dirty="0">
                <a:solidFill>
                  <a:srgbClr val="0000CC"/>
                </a:solidFill>
                <a:latin typeface="微软雅黑" panose="020B0503020204020204" pitchFamily="34" charset="-122"/>
                <a:ea typeface="微软雅黑" panose="020B0503020204020204" pitchFamily="34" charset="-122"/>
              </a:rPr>
              <a:t>H</a:t>
            </a:r>
            <a:r>
              <a:rPr lang="en-US" altLang="zh-CN" sz="2400" b="0" baseline="-25000" dirty="0">
                <a:solidFill>
                  <a:srgbClr val="0000CC"/>
                </a:solidFill>
                <a:latin typeface="微软雅黑" panose="020B0503020204020204" pitchFamily="34" charset="-122"/>
                <a:ea typeface="微软雅黑" panose="020B0503020204020204" pitchFamily="34" charset="-122"/>
              </a:rPr>
              <a:t>3</a:t>
            </a:r>
            <a:r>
              <a:rPr lang="zh-CN" altLang="en-US" sz="2400" b="0" dirty="0">
                <a:solidFill>
                  <a:srgbClr val="0000CC"/>
                </a:solidFill>
                <a:latin typeface="微软雅黑" panose="020B0503020204020204" pitchFamily="34" charset="-122"/>
                <a:ea typeface="微软雅黑" panose="020B0503020204020204" pitchFamily="34" charset="-122"/>
              </a:rPr>
              <a:t>、</a:t>
            </a:r>
            <a:r>
              <a:rPr lang="en-US" altLang="zh-CN" sz="2400" b="0" dirty="0">
                <a:solidFill>
                  <a:srgbClr val="0000CC"/>
                </a:solidFill>
                <a:latin typeface="微软雅黑" panose="020B0503020204020204" pitchFamily="34" charset="-122"/>
                <a:ea typeface="微软雅黑" panose="020B0503020204020204" pitchFamily="34" charset="-122"/>
              </a:rPr>
              <a:t>H</a:t>
            </a:r>
            <a:r>
              <a:rPr lang="en-US" altLang="zh-CN" sz="2400" b="0" baseline="-25000" dirty="0">
                <a:solidFill>
                  <a:srgbClr val="0000CC"/>
                </a:solidFill>
                <a:latin typeface="微软雅黑" panose="020B0503020204020204" pitchFamily="34" charset="-122"/>
                <a:ea typeface="微软雅黑" panose="020B0503020204020204" pitchFamily="34" charset="-122"/>
              </a:rPr>
              <a:t>4</a:t>
            </a:r>
            <a:r>
              <a:rPr lang="zh-CN" altLang="en-US" sz="2400" b="0" dirty="0">
                <a:solidFill>
                  <a:srgbClr val="111111"/>
                </a:solidFill>
                <a:latin typeface="微软雅黑" panose="020B0503020204020204" pitchFamily="34" charset="-122"/>
                <a:ea typeface="微软雅黑" panose="020B0503020204020204" pitchFamily="34" charset="-122"/>
              </a:rPr>
              <a:t>各</a:t>
            </a:r>
            <a:r>
              <a:rPr lang="en-US" altLang="zh-CN" sz="2400" b="0" dirty="0">
                <a:solidFill>
                  <a:srgbClr val="111111"/>
                </a:solidFill>
                <a:latin typeface="微软雅黑" panose="020B0503020204020204" pitchFamily="34" charset="-122"/>
                <a:ea typeface="微软雅黑" panose="020B0503020204020204" pitchFamily="34" charset="-122"/>
              </a:rPr>
              <a:t>2</a:t>
            </a:r>
            <a:r>
              <a:rPr lang="zh-CN" altLang="en-US" sz="2400" b="0" dirty="0">
                <a:solidFill>
                  <a:srgbClr val="111111"/>
                </a:solidFill>
                <a:latin typeface="微软雅黑" panose="020B0503020204020204" pitchFamily="34" charset="-122"/>
                <a:ea typeface="微软雅黑" panose="020B0503020204020204" pitchFamily="34" charset="-122"/>
              </a:rPr>
              <a:t>分子</a:t>
            </a:r>
            <a:r>
              <a:rPr lang="zh-CN" altLang="en-US" sz="2400" b="0" baseline="-25000" dirty="0">
                <a:solidFill>
                  <a:srgbClr val="111111"/>
                </a:solidFill>
                <a:latin typeface="微软雅黑" panose="020B0503020204020204" pitchFamily="34" charset="-122"/>
                <a:ea typeface="微软雅黑" panose="020B0503020204020204" pitchFamily="34" charset="-122"/>
              </a:rPr>
              <a:t> </a:t>
            </a:r>
            <a:r>
              <a:rPr lang="zh-CN" altLang="en-US" sz="2400" b="0" dirty="0">
                <a:solidFill>
                  <a:srgbClr val="111111"/>
                </a:solidFill>
                <a:latin typeface="微软雅黑" panose="020B0503020204020204" pitchFamily="34" charset="-122"/>
                <a:ea typeface="微软雅黑" panose="020B0503020204020204" pitchFamily="34" charset="-122"/>
              </a:rPr>
              <a:t>构成八聚体， </a:t>
            </a:r>
            <a:r>
              <a:rPr lang="en-US" altLang="zh-CN" sz="2400" b="0" dirty="0">
                <a:solidFill>
                  <a:srgbClr val="111111"/>
                </a:solidFill>
                <a:latin typeface="微软雅黑" panose="020B0503020204020204" pitchFamily="34" charset="-122"/>
                <a:ea typeface="微软雅黑" panose="020B0503020204020204" pitchFamily="34" charset="-122"/>
              </a:rPr>
              <a:t>DNA</a:t>
            </a:r>
            <a:r>
              <a:rPr lang="zh-CN" altLang="en-US" sz="2400" b="0" dirty="0">
                <a:solidFill>
                  <a:srgbClr val="111111"/>
                </a:solidFill>
                <a:latin typeface="微软雅黑" panose="020B0503020204020204" pitchFamily="34" charset="-122"/>
                <a:ea typeface="微软雅黑" panose="020B0503020204020204" pitchFamily="34" charset="-122"/>
              </a:rPr>
              <a:t>绕八聚体</a:t>
            </a:r>
            <a:r>
              <a:rPr lang="en-US" altLang="zh-CN" sz="2400" b="0" dirty="0">
                <a:solidFill>
                  <a:srgbClr val="111111"/>
                </a:solidFill>
                <a:latin typeface="微软雅黑" panose="020B0503020204020204" pitchFamily="34" charset="-122"/>
                <a:ea typeface="微软雅黑" panose="020B0503020204020204" pitchFamily="34" charset="-122"/>
              </a:rPr>
              <a:t>1.75</a:t>
            </a:r>
            <a:r>
              <a:rPr lang="zh-CN" altLang="en-US" sz="2400" b="0" dirty="0">
                <a:solidFill>
                  <a:srgbClr val="111111"/>
                </a:solidFill>
                <a:latin typeface="微软雅黑" panose="020B0503020204020204" pitchFamily="34" charset="-122"/>
                <a:ea typeface="微软雅黑" panose="020B0503020204020204" pitchFamily="34" charset="-122"/>
              </a:rPr>
              <a:t>周（</a:t>
            </a:r>
            <a:r>
              <a:rPr lang="en-US" altLang="zh-CN" sz="2400" b="0" dirty="0">
                <a:solidFill>
                  <a:srgbClr val="0000CC"/>
                </a:solidFill>
                <a:latin typeface="微软雅黑" panose="020B0503020204020204" pitchFamily="34" charset="-122"/>
                <a:ea typeface="微软雅黑" panose="020B0503020204020204" pitchFamily="34" charset="-122"/>
              </a:rPr>
              <a:t>146bp</a:t>
            </a:r>
            <a:r>
              <a:rPr lang="en-US" altLang="zh-CN" sz="2400" b="0" dirty="0">
                <a:solidFill>
                  <a:srgbClr val="111111"/>
                </a:solidFill>
                <a:latin typeface="微软雅黑" panose="020B0503020204020204" pitchFamily="34" charset="-122"/>
                <a:ea typeface="微软雅黑" panose="020B0503020204020204" pitchFamily="34" charset="-122"/>
              </a:rPr>
              <a:t>)</a:t>
            </a:r>
          </a:p>
          <a:p>
            <a:pPr marL="342900" indent="-342900" eaLnBrk="1" hangingPunct="1">
              <a:lnSpc>
                <a:spcPct val="120000"/>
              </a:lnSpc>
              <a:spcBef>
                <a:spcPct val="0"/>
              </a:spcBef>
              <a:buClrTx/>
              <a:buFont typeface="Arial" panose="020B0604020202020204" pitchFamily="34" charset="0"/>
              <a:buChar char="•"/>
            </a:pPr>
            <a:r>
              <a:rPr lang="zh-CN" altLang="en-US" dirty="0">
                <a:solidFill>
                  <a:srgbClr val="111111"/>
                </a:solidFill>
                <a:latin typeface="微软雅黑" panose="020B0503020204020204" pitchFamily="34" charset="-122"/>
                <a:ea typeface="微软雅黑" panose="020B0503020204020204" pitchFamily="34" charset="-122"/>
              </a:rPr>
              <a:t>连接段</a:t>
            </a:r>
            <a:r>
              <a:rPr lang="en-US" altLang="zh-CN" dirty="0">
                <a:solidFill>
                  <a:srgbClr val="111111"/>
                </a:solidFill>
                <a:latin typeface="微软雅黑" panose="020B0503020204020204" pitchFamily="34" charset="-122"/>
                <a:ea typeface="微软雅黑" panose="020B0503020204020204" pitchFamily="34" charset="-122"/>
              </a:rPr>
              <a:t>DNA:  0~50bp</a:t>
            </a:r>
          </a:p>
          <a:p>
            <a:pPr marL="342900" indent="-342900" eaLnBrk="1" hangingPunct="1">
              <a:lnSpc>
                <a:spcPct val="120000"/>
              </a:lnSpc>
              <a:spcBef>
                <a:spcPct val="0"/>
              </a:spcBef>
              <a:buClrTx/>
              <a:buFont typeface="Arial" panose="020B0604020202020204" pitchFamily="34" charset="0"/>
              <a:buChar char="•"/>
            </a:pPr>
            <a:r>
              <a:rPr lang="zh-CN" altLang="en-US" dirty="0">
                <a:solidFill>
                  <a:srgbClr val="0000CC"/>
                </a:solidFill>
                <a:latin typeface="微软雅黑" panose="020B0503020204020204" pitchFamily="34" charset="-122"/>
                <a:ea typeface="微软雅黑" panose="020B0503020204020204" pitchFamily="34" charset="-122"/>
              </a:rPr>
              <a:t>组蛋白</a:t>
            </a:r>
            <a:r>
              <a:rPr lang="en-US" altLang="zh-CN" dirty="0">
                <a:solidFill>
                  <a:srgbClr val="0000CC"/>
                </a:solidFill>
                <a:latin typeface="微软雅黑" panose="020B0503020204020204" pitchFamily="34" charset="-122"/>
                <a:ea typeface="微软雅黑" panose="020B0503020204020204" pitchFamily="34" charset="-122"/>
              </a:rPr>
              <a:t>H1 </a:t>
            </a:r>
            <a:r>
              <a:rPr lang="zh-CN" altLang="en-US" dirty="0">
                <a:solidFill>
                  <a:srgbClr val="111111"/>
                </a:solidFill>
                <a:latin typeface="微软雅黑" panose="020B0503020204020204" pitchFamily="34" charset="-122"/>
                <a:ea typeface="微软雅黑" panose="020B0503020204020204" pitchFamily="34" charset="-122"/>
              </a:rPr>
              <a:t>结合在核小体</a:t>
            </a:r>
            <a:r>
              <a:rPr lang="en-US" altLang="zh-CN" dirty="0">
                <a:solidFill>
                  <a:srgbClr val="111111"/>
                </a:solidFill>
                <a:latin typeface="微软雅黑" panose="020B0503020204020204" pitchFamily="34" charset="-122"/>
                <a:ea typeface="微软雅黑" panose="020B0503020204020204" pitchFamily="34" charset="-122"/>
              </a:rPr>
              <a:t>DNA </a:t>
            </a:r>
            <a:r>
              <a:rPr lang="zh-CN" altLang="en-US" dirty="0">
                <a:solidFill>
                  <a:srgbClr val="111111"/>
                </a:solidFill>
                <a:latin typeface="微软雅黑" panose="020B0503020204020204" pitchFamily="34" charset="-122"/>
                <a:ea typeface="微软雅黑" panose="020B0503020204020204" pitchFamily="34" charset="-122"/>
              </a:rPr>
              <a:t>双链的进出口处，发挥稳定核小体结构的作用。</a:t>
            </a:r>
            <a:endParaRPr lang="en-US" altLang="zh-CN" dirty="0">
              <a:solidFill>
                <a:srgbClr val="111111"/>
              </a:solidFill>
              <a:latin typeface="微软雅黑" panose="020B0503020204020204" pitchFamily="34" charset="-122"/>
              <a:ea typeface="微软雅黑" panose="020B0503020204020204" pitchFamily="34" charset="-122"/>
            </a:endParaRPr>
          </a:p>
          <a:p>
            <a:pPr marL="342900" indent="-342900" eaLnBrk="1" hangingPunct="1">
              <a:lnSpc>
                <a:spcPct val="120000"/>
              </a:lnSpc>
              <a:spcBef>
                <a:spcPct val="0"/>
              </a:spcBef>
              <a:buClrTx/>
              <a:buFont typeface="Arial" panose="020B0604020202020204" pitchFamily="34" charset="0"/>
              <a:buChar char="•"/>
            </a:pPr>
            <a:endParaRPr lang="en-US" altLang="zh-CN" sz="2400" b="0" dirty="0">
              <a:solidFill>
                <a:srgbClr val="111111"/>
              </a:solidFill>
              <a:latin typeface="微软雅黑" panose="020B0503020204020204" pitchFamily="34" charset="-122"/>
              <a:ea typeface="微软雅黑" panose="020B0503020204020204" pitchFamily="34" charset="-122"/>
            </a:endParaRPr>
          </a:p>
        </p:txBody>
      </p:sp>
      <p:pic>
        <p:nvPicPr>
          <p:cNvPr id="4" name="Picture 9" descr="236">
            <a:extLst>
              <a:ext uri="{FF2B5EF4-FFF2-40B4-BE49-F238E27FC236}">
                <a16:creationId xmlns:a16="http://schemas.microsoft.com/office/drawing/2014/main" id="{35FAC20B-E59D-02BB-02B1-36F6E72592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408" y="2243839"/>
            <a:ext cx="3888432" cy="292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77156"/>
                                        </p:tgtEl>
                                        <p:attrNameLst>
                                          <p:attrName>style.visibility</p:attrName>
                                        </p:attrNameLst>
                                      </p:cBhvr>
                                      <p:to>
                                        <p:strVal val="visible"/>
                                      </p:to>
                                    </p:set>
                                  </p:childTnLst>
                                  <p:subTnLst>
                                    <p:set>
                                      <p:cBhvr override="childStyle">
                                        <p:cTn dur="1" fill="hold" display="0" masterRel="nextClick" afterEffect="1"/>
                                        <p:tgtEl>
                                          <p:spTgt spid="177156"/>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标题 1">
            <a:extLst>
              <a:ext uri="{FF2B5EF4-FFF2-40B4-BE49-F238E27FC236}">
                <a16:creationId xmlns:a16="http://schemas.microsoft.com/office/drawing/2014/main" id="{84BFDEF6-55BC-4AC7-9B4E-54DAA4CC5834}"/>
              </a:ext>
            </a:extLst>
          </p:cNvPr>
          <p:cNvSpPr>
            <a:spLocks noGrp="1" noChangeArrowheads="1"/>
          </p:cNvSpPr>
          <p:nvPr>
            <p:ph type="title"/>
          </p:nvPr>
        </p:nvSpPr>
        <p:spPr/>
        <p:txBody>
          <a:bodyPr/>
          <a:lstStyle/>
          <a:p>
            <a:r>
              <a:rPr lang="en-US" altLang="zh-CN"/>
              <a:t>30nm</a:t>
            </a:r>
            <a:r>
              <a:rPr lang="zh-CN" altLang="en-US"/>
              <a:t>纤维的生成</a:t>
            </a:r>
          </a:p>
        </p:txBody>
      </p:sp>
      <p:sp>
        <p:nvSpPr>
          <p:cNvPr id="187395" name="内容占位符 2">
            <a:extLst>
              <a:ext uri="{FF2B5EF4-FFF2-40B4-BE49-F238E27FC236}">
                <a16:creationId xmlns:a16="http://schemas.microsoft.com/office/drawing/2014/main" id="{5F001181-B4A9-4D78-B810-4F6C8F59F224}"/>
              </a:ext>
            </a:extLst>
          </p:cNvPr>
          <p:cNvSpPr>
            <a:spLocks noGrp="1" noChangeArrowheads="1"/>
          </p:cNvSpPr>
          <p:nvPr>
            <p:ph idx="1"/>
          </p:nvPr>
        </p:nvSpPr>
        <p:spPr>
          <a:xfrm>
            <a:off x="1766491" y="4453960"/>
            <a:ext cx="8659018" cy="2311730"/>
          </a:xfrm>
        </p:spPr>
        <p:txBody>
          <a:bodyPr/>
          <a:lstStyle/>
          <a:p>
            <a:r>
              <a:rPr lang="zh-CN" altLang="en-US" sz="2600" b="0" dirty="0"/>
              <a:t>真核</a:t>
            </a:r>
            <a:r>
              <a:rPr lang="en-US" altLang="zh-CN" sz="2600" b="0" dirty="0"/>
              <a:t>DNA</a:t>
            </a:r>
            <a:r>
              <a:rPr lang="zh-CN" altLang="en-US" sz="2600" b="0" dirty="0"/>
              <a:t>在核小体基础上进一步组装成</a:t>
            </a:r>
            <a:r>
              <a:rPr lang="en-US" altLang="zh-CN" sz="2600" b="0" dirty="0">
                <a:solidFill>
                  <a:srgbClr val="0000CC"/>
                </a:solidFill>
              </a:rPr>
              <a:t>30nm</a:t>
            </a:r>
            <a:r>
              <a:rPr lang="zh-CN" altLang="en-US" sz="2600" b="0" dirty="0">
                <a:solidFill>
                  <a:srgbClr val="0000CC"/>
                </a:solidFill>
              </a:rPr>
              <a:t>的纤维</a:t>
            </a:r>
            <a:r>
              <a:rPr lang="zh-CN" altLang="en-US" sz="2600" b="0" dirty="0"/>
              <a:t>，其组装模型主要有两种，近年的实验支持第二种模型，即</a:t>
            </a:r>
            <a:r>
              <a:rPr lang="en-US" altLang="zh-CN" sz="2600" b="0" dirty="0">
                <a:solidFill>
                  <a:srgbClr val="0000CC"/>
                </a:solidFill>
              </a:rPr>
              <a:t>zigzag</a:t>
            </a:r>
            <a:r>
              <a:rPr lang="zh-CN" altLang="en-US" sz="2600" b="0" dirty="0">
                <a:solidFill>
                  <a:srgbClr val="0000CC"/>
                </a:solidFill>
              </a:rPr>
              <a:t>模型</a:t>
            </a:r>
            <a:r>
              <a:rPr lang="zh-CN" altLang="en-US" sz="2600" b="0" dirty="0"/>
              <a:t>。</a:t>
            </a:r>
            <a:endParaRPr lang="en-US" altLang="zh-CN" sz="2600" b="0" dirty="0"/>
          </a:p>
          <a:p>
            <a:r>
              <a:rPr lang="zh-CN" altLang="en-US" sz="2600" b="0" dirty="0"/>
              <a:t>染色质纤维中空状螺线管的形成使</a:t>
            </a:r>
            <a:r>
              <a:rPr lang="en-US" altLang="zh-CN" sz="2600" b="0" dirty="0"/>
              <a:t>DNA </a:t>
            </a:r>
            <a:r>
              <a:rPr lang="zh-CN" altLang="en-US" sz="2600" b="0" dirty="0"/>
              <a:t>的压缩程度达到</a:t>
            </a:r>
            <a:r>
              <a:rPr lang="en-US" altLang="zh-CN" sz="2600" b="0" dirty="0">
                <a:solidFill>
                  <a:srgbClr val="0000CC"/>
                </a:solidFill>
              </a:rPr>
              <a:t>40</a:t>
            </a:r>
            <a:r>
              <a:rPr lang="zh-CN" altLang="en-US" sz="2600" b="0" dirty="0">
                <a:solidFill>
                  <a:srgbClr val="0000CC"/>
                </a:solidFill>
              </a:rPr>
              <a:t>～</a:t>
            </a:r>
            <a:r>
              <a:rPr lang="en-US" altLang="zh-CN" sz="2600" b="0" dirty="0">
                <a:solidFill>
                  <a:srgbClr val="0000CC"/>
                </a:solidFill>
              </a:rPr>
              <a:t>60 </a:t>
            </a:r>
            <a:r>
              <a:rPr lang="zh-CN" altLang="en-US" sz="2600" b="0" dirty="0">
                <a:solidFill>
                  <a:srgbClr val="0000CC"/>
                </a:solidFill>
              </a:rPr>
              <a:t>倍。</a:t>
            </a:r>
            <a:endParaRPr lang="en-US" altLang="zh-CN" sz="2600" b="0" dirty="0">
              <a:solidFill>
                <a:srgbClr val="0000CC"/>
              </a:solidFill>
            </a:endParaRPr>
          </a:p>
          <a:p>
            <a:endParaRPr lang="zh-CN" altLang="en-US" sz="2600" b="0" dirty="0"/>
          </a:p>
        </p:txBody>
      </p:sp>
      <p:pic>
        <p:nvPicPr>
          <p:cNvPr id="187396" name="图片 3">
            <a:extLst>
              <a:ext uri="{FF2B5EF4-FFF2-40B4-BE49-F238E27FC236}">
                <a16:creationId xmlns:a16="http://schemas.microsoft.com/office/drawing/2014/main" id="{1A27B835-8A35-465D-AD11-8FB3F47EE9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4864" y="908051"/>
            <a:ext cx="5245273" cy="3468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7397" name="图片 1">
            <a:extLst>
              <a:ext uri="{FF2B5EF4-FFF2-40B4-BE49-F238E27FC236}">
                <a16:creationId xmlns:a16="http://schemas.microsoft.com/office/drawing/2014/main" id="{82B374A3-AFE2-43BF-AB39-10E56F80715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112126" y="1248175"/>
            <a:ext cx="2005010" cy="300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30" name="Text Box 6">
            <a:extLst>
              <a:ext uri="{FF2B5EF4-FFF2-40B4-BE49-F238E27FC236}">
                <a16:creationId xmlns:a16="http://schemas.microsoft.com/office/drawing/2014/main" id="{64901237-AE80-4E0D-8CE9-F0DBE3562B23}"/>
              </a:ext>
            </a:extLst>
          </p:cNvPr>
          <p:cNvSpPr txBox="1">
            <a:spLocks noChangeArrowheads="1"/>
          </p:cNvSpPr>
          <p:nvPr/>
        </p:nvSpPr>
        <p:spPr bwMode="auto">
          <a:xfrm>
            <a:off x="2135188" y="350839"/>
            <a:ext cx="80645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kumimoji="0" lang="zh-CN" altLang="en-US" sz="3200" b="0" dirty="0">
                <a:solidFill>
                  <a:srgbClr val="0000FF"/>
                </a:solidFill>
                <a:latin typeface="Lucida Sans Unicode" panose="020B0602030504020204" pitchFamily="34" charset="0"/>
                <a:ea typeface="黑体" panose="02010609060101010101" pitchFamily="49" charset="-122"/>
              </a:rPr>
              <a:t>在</a:t>
            </a:r>
            <a:r>
              <a:rPr kumimoji="0" lang="en-US" altLang="zh-CN" sz="3200" b="0" dirty="0">
                <a:solidFill>
                  <a:srgbClr val="0000FF"/>
                </a:solidFill>
                <a:latin typeface="Lucida Sans Unicode" panose="020B0602030504020204" pitchFamily="34" charset="0"/>
                <a:ea typeface="黑体" panose="02010609060101010101" pitchFamily="49" charset="-122"/>
              </a:rPr>
              <a:t>30nm</a:t>
            </a:r>
            <a:r>
              <a:rPr kumimoji="0" lang="zh-CN" altLang="en-US" sz="3200" b="0" dirty="0">
                <a:solidFill>
                  <a:srgbClr val="0000FF"/>
                </a:solidFill>
                <a:latin typeface="Lucida Sans Unicode" panose="020B0602030504020204" pitchFamily="34" charset="0"/>
                <a:ea typeface="黑体" panose="02010609060101010101" pitchFamily="49" charset="-122"/>
              </a:rPr>
              <a:t>纤维基础上进一步组装的两种模型</a:t>
            </a:r>
          </a:p>
        </p:txBody>
      </p:sp>
      <p:pic>
        <p:nvPicPr>
          <p:cNvPr id="189443" name="Picture 8" descr="翅젤u管 &#10;8 耳2 曓色%幽薯謣多鰕罅隻嵔型 ">
            <a:extLst>
              <a:ext uri="{FF2B5EF4-FFF2-40B4-BE49-F238E27FC236}">
                <a16:creationId xmlns:a16="http://schemas.microsoft.com/office/drawing/2014/main" id="{445F5FE9-CF2C-4FCC-A9E0-17543C51B5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768" y="1286696"/>
            <a:ext cx="4359232" cy="3816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9444" name="Picture 10" descr="伸 展 的 袢 环 &#10;浓 缩 的 环 &#10;垡 色 体 &#10;图 年 13 质 絹 裟 的 放 环 模 型 ">
            <a:extLst>
              <a:ext uri="{FF2B5EF4-FFF2-40B4-BE49-F238E27FC236}">
                <a16:creationId xmlns:a16="http://schemas.microsoft.com/office/drawing/2014/main" id="{F2270A65-38BA-4F80-9448-CA9144E95A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8128" y="1032815"/>
            <a:ext cx="3486150" cy="548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5" name="文本框 1">
            <a:extLst>
              <a:ext uri="{FF2B5EF4-FFF2-40B4-BE49-F238E27FC236}">
                <a16:creationId xmlns:a16="http://schemas.microsoft.com/office/drawing/2014/main" id="{5EE90B58-5752-418B-825A-27A563892483}"/>
              </a:ext>
            </a:extLst>
          </p:cNvPr>
          <p:cNvSpPr txBox="1">
            <a:spLocks noChangeArrowheads="1"/>
          </p:cNvSpPr>
          <p:nvPr/>
        </p:nvSpPr>
        <p:spPr bwMode="auto">
          <a:xfrm>
            <a:off x="1828800" y="5446657"/>
            <a:ext cx="4976242" cy="100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nSpc>
                <a:spcPct val="130000"/>
              </a:lnSpc>
              <a:spcBef>
                <a:spcPct val="0"/>
              </a:spcBef>
              <a:buClrTx/>
              <a:buFontTx/>
              <a:buNone/>
            </a:pPr>
            <a:r>
              <a:rPr lang="zh-CN" altLang="en-US" sz="2400" b="0" dirty="0">
                <a:solidFill>
                  <a:schemeClr val="tx1"/>
                </a:solidFill>
              </a:rPr>
              <a:t>经过多级组装，</a:t>
            </a:r>
            <a:r>
              <a:rPr lang="en-US" altLang="zh-CN" sz="2400" b="0" dirty="0">
                <a:solidFill>
                  <a:schemeClr val="tx1"/>
                </a:solidFill>
              </a:rPr>
              <a:t>DNA</a:t>
            </a:r>
            <a:r>
              <a:rPr lang="zh-CN" altLang="en-US" sz="2400" b="0" dirty="0">
                <a:solidFill>
                  <a:schemeClr val="tx1"/>
                </a:solidFill>
              </a:rPr>
              <a:t>的长度被压缩</a:t>
            </a:r>
            <a:r>
              <a:rPr lang="en-US" altLang="zh-CN" sz="2400" b="0" dirty="0">
                <a:solidFill>
                  <a:srgbClr val="0000CC"/>
                </a:solidFill>
              </a:rPr>
              <a:t>8000~10000</a:t>
            </a:r>
            <a:r>
              <a:rPr lang="zh-CN" altLang="en-US" sz="2400" b="0" dirty="0">
                <a:solidFill>
                  <a:srgbClr val="0000CC"/>
                </a:solidFill>
              </a:rPr>
              <a:t>倍</a:t>
            </a:r>
            <a:r>
              <a:rPr lang="zh-CN" altLang="en-US" sz="2400" b="0" dirty="0">
                <a:solidFill>
                  <a:schemeClr val="tx1"/>
                </a:solidFill>
              </a:rPr>
              <a:t>，形成染色体。</a:t>
            </a:r>
          </a:p>
        </p:txBody>
      </p:sp>
      <p:sp>
        <p:nvSpPr>
          <p:cNvPr id="189446" name="灯片编号占位符 1">
            <a:extLst>
              <a:ext uri="{FF2B5EF4-FFF2-40B4-BE49-F238E27FC236}">
                <a16:creationId xmlns:a16="http://schemas.microsoft.com/office/drawing/2014/main" id="{4129F4DB-B969-45FA-82EC-0AF320D4D37A}"/>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4CC32471-D8EB-4B9F-BB1D-8D6A5BB2A088}" type="slidenum">
              <a:rPr lang="zh-CN" altLang="en-US" sz="1200" b="0">
                <a:solidFill>
                  <a:srgbClr val="898F89"/>
                </a:solidFill>
              </a:rPr>
              <a:pPr>
                <a:spcBef>
                  <a:spcPct val="0"/>
                </a:spcBef>
                <a:buClrTx/>
                <a:buFontTx/>
                <a:buNone/>
              </a:pPr>
              <a:t>64</a:t>
            </a:fld>
            <a:endParaRPr lang="zh-CN" altLang="en-US" sz="1200" b="0">
              <a:solidFill>
                <a:srgbClr val="898F89"/>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08230"/>
                                        </p:tgtEl>
                                        <p:attrNameLst>
                                          <p:attrName>style.visibility</p:attrName>
                                        </p:attrNameLst>
                                      </p:cBhvr>
                                      <p:to>
                                        <p:strVal val="visible"/>
                                      </p:to>
                                    </p:set>
                                    <p:anim calcmode="lin" valueType="num">
                                      <p:cBhvr additive="base">
                                        <p:cTn id="7" dur="500" fill="hold"/>
                                        <p:tgtEl>
                                          <p:spTgt spid="308230"/>
                                        </p:tgtEl>
                                        <p:attrNameLst>
                                          <p:attrName>ppt_x</p:attrName>
                                        </p:attrNameLst>
                                      </p:cBhvr>
                                      <p:tavLst>
                                        <p:tav tm="0">
                                          <p:val>
                                            <p:strVal val="#ppt_x"/>
                                          </p:val>
                                        </p:tav>
                                        <p:tav tm="100000">
                                          <p:val>
                                            <p:strVal val="#ppt_x"/>
                                          </p:val>
                                        </p:tav>
                                      </p:tavLst>
                                    </p:anim>
                                    <p:anim calcmode="lin" valueType="num">
                                      <p:cBhvr additive="base">
                                        <p:cTn id="8" dur="500" fill="hold"/>
                                        <p:tgtEl>
                                          <p:spTgt spid="30823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30"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91490" name="Picture 2">
            <a:extLst>
              <a:ext uri="{FF2B5EF4-FFF2-40B4-BE49-F238E27FC236}">
                <a16:creationId xmlns:a16="http://schemas.microsoft.com/office/drawing/2014/main" id="{A2455EDF-1BB4-40D9-9CFA-B3FC1691EE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7525" y="214314"/>
            <a:ext cx="7239000" cy="367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491" name="Text Box 4">
            <a:extLst>
              <a:ext uri="{FF2B5EF4-FFF2-40B4-BE49-F238E27FC236}">
                <a16:creationId xmlns:a16="http://schemas.microsoft.com/office/drawing/2014/main" id="{ED5A7325-C598-470B-B2EB-086155121606}"/>
              </a:ext>
            </a:extLst>
          </p:cNvPr>
          <p:cNvSpPr txBox="1">
            <a:spLocks noChangeArrowheads="1"/>
          </p:cNvSpPr>
          <p:nvPr/>
        </p:nvSpPr>
        <p:spPr bwMode="auto">
          <a:xfrm>
            <a:off x="1991544" y="4764088"/>
            <a:ext cx="6699250" cy="157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kumimoji="0" lang="en-US" altLang="zh-CN" sz="2400" b="0" dirty="0">
                <a:solidFill>
                  <a:schemeClr val="tx1"/>
                </a:solidFill>
                <a:latin typeface="Times" panose="02020603050405020304" pitchFamily="18" charset="0"/>
                <a:ea typeface="宋体" panose="02010600030101010101" pitchFamily="2" charset="-122"/>
              </a:rPr>
              <a:t>DNA length:  4.67 x 10</a:t>
            </a:r>
            <a:r>
              <a:rPr kumimoji="0" lang="en-US" altLang="zh-CN" sz="2400" b="0" baseline="30000" dirty="0">
                <a:solidFill>
                  <a:schemeClr val="tx1"/>
                </a:solidFill>
                <a:latin typeface="Times" panose="02020603050405020304" pitchFamily="18" charset="0"/>
                <a:ea typeface="宋体" panose="02010600030101010101" pitchFamily="2" charset="-122"/>
              </a:rPr>
              <a:t>7</a:t>
            </a:r>
            <a:r>
              <a:rPr kumimoji="0" lang="en-US" altLang="zh-CN" sz="2400" b="0" dirty="0">
                <a:solidFill>
                  <a:schemeClr val="tx1"/>
                </a:solidFill>
                <a:latin typeface="Times" panose="02020603050405020304" pitchFamily="18" charset="0"/>
                <a:ea typeface="宋体" panose="02010600030101010101" pitchFamily="2" charset="-122"/>
              </a:rPr>
              <a:t> bp </a:t>
            </a:r>
            <a:r>
              <a:rPr kumimoji="0" lang="zh-CN" altLang="en-US" sz="2400" b="0" dirty="0">
                <a:solidFill>
                  <a:schemeClr val="tx1"/>
                </a:solidFill>
                <a:latin typeface="Times" panose="02020603050405020304" pitchFamily="18" charset="0"/>
                <a:ea typeface="宋体" panose="02010600030101010101" pitchFamily="2" charset="-122"/>
              </a:rPr>
              <a:t> </a:t>
            </a:r>
            <a:r>
              <a:rPr kumimoji="0" lang="en-US" altLang="zh-CN" sz="2400" b="0" dirty="0">
                <a:solidFill>
                  <a:schemeClr val="tx1"/>
                </a:solidFill>
                <a:latin typeface="Times" panose="02020603050405020304" pitchFamily="18" charset="0"/>
                <a:ea typeface="宋体" panose="02010600030101010101" pitchFamily="2" charset="-122"/>
              </a:rPr>
              <a:t>= 16mm (</a:t>
            </a:r>
            <a:r>
              <a:rPr kumimoji="0" lang="zh-CN" altLang="en-US" sz="2400" b="0" dirty="0">
                <a:solidFill>
                  <a:schemeClr val="tx1"/>
                </a:solidFill>
                <a:latin typeface="Times" panose="02020603050405020304" pitchFamily="18" charset="0"/>
                <a:ea typeface="宋体" panose="02010600030101010101" pitchFamily="2" charset="-122"/>
              </a:rPr>
              <a:t>未压缩）</a:t>
            </a:r>
            <a:r>
              <a:rPr kumimoji="0" lang="en-US" altLang="zh-CN" sz="2400" b="0" dirty="0">
                <a:solidFill>
                  <a:schemeClr val="tx1"/>
                </a:solidFill>
                <a:latin typeface="Times" panose="02020603050405020304" pitchFamily="18" charset="0"/>
                <a:ea typeface="宋体" panose="02010600030101010101" pitchFamily="2" charset="-122"/>
              </a:rPr>
              <a:t>       </a:t>
            </a:r>
          </a:p>
          <a:p>
            <a:pPr>
              <a:spcBef>
                <a:spcPct val="0"/>
              </a:spcBef>
              <a:buClrTx/>
              <a:buFontTx/>
              <a:buNone/>
            </a:pPr>
            <a:r>
              <a:rPr kumimoji="0" lang="en-US" altLang="zh-CN" sz="2400" b="0" dirty="0">
                <a:solidFill>
                  <a:schemeClr val="tx1"/>
                </a:solidFill>
                <a:latin typeface="Times" panose="02020603050405020304" pitchFamily="18" charset="0"/>
                <a:ea typeface="宋体" panose="02010600030101010101" pitchFamily="2" charset="-122"/>
              </a:rPr>
              <a:t>Chromosome length:  2 µm</a:t>
            </a:r>
          </a:p>
          <a:p>
            <a:pPr>
              <a:spcBef>
                <a:spcPct val="0"/>
              </a:spcBef>
              <a:buClrTx/>
              <a:buFontTx/>
              <a:buNone/>
            </a:pPr>
            <a:endParaRPr kumimoji="0" lang="en-US" altLang="zh-CN" sz="2400" b="0" dirty="0">
              <a:solidFill>
                <a:schemeClr val="tx1"/>
              </a:solidFill>
              <a:latin typeface="Times" panose="02020603050405020304" pitchFamily="18" charset="0"/>
              <a:ea typeface="宋体" panose="02010600030101010101" pitchFamily="2" charset="-122"/>
            </a:endParaRPr>
          </a:p>
          <a:p>
            <a:pPr>
              <a:spcBef>
                <a:spcPct val="0"/>
              </a:spcBef>
              <a:buClrTx/>
              <a:buFontTx/>
              <a:buNone/>
            </a:pPr>
            <a:r>
              <a:rPr kumimoji="0" lang="en-US" altLang="zh-CN" sz="2400" dirty="0">
                <a:solidFill>
                  <a:srgbClr val="0000CC"/>
                </a:solidFill>
                <a:latin typeface="Times" panose="02020603050405020304" pitchFamily="18" charset="0"/>
                <a:ea typeface="宋体" panose="02010600030101010101" pitchFamily="2" charset="-122"/>
              </a:rPr>
              <a:t>Compaction ratio = 8000 </a:t>
            </a:r>
            <a:endParaRPr kumimoji="0" lang="en-US" altLang="zh-CN" sz="2400" b="0" dirty="0">
              <a:solidFill>
                <a:srgbClr val="0000CC"/>
              </a:solidFill>
              <a:latin typeface="Times" panose="02020603050405020304" pitchFamily="18" charset="0"/>
              <a:ea typeface="宋体" panose="02010600030101010101" pitchFamily="2" charset="-122"/>
            </a:endParaRPr>
          </a:p>
        </p:txBody>
      </p:sp>
      <p:sp>
        <p:nvSpPr>
          <p:cNvPr id="191492" name="Line 6">
            <a:extLst>
              <a:ext uri="{FF2B5EF4-FFF2-40B4-BE49-F238E27FC236}">
                <a16:creationId xmlns:a16="http://schemas.microsoft.com/office/drawing/2014/main" id="{9FBBB393-D4B8-47FA-A13D-5F84B21FCC5B}"/>
              </a:ext>
            </a:extLst>
          </p:cNvPr>
          <p:cNvSpPr>
            <a:spLocks noChangeShapeType="1"/>
          </p:cNvSpPr>
          <p:nvPr/>
        </p:nvSpPr>
        <p:spPr bwMode="auto">
          <a:xfrm flipH="1" flipV="1">
            <a:off x="8289925" y="3429000"/>
            <a:ext cx="1085850" cy="8001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493" name="Text Box 7">
            <a:extLst>
              <a:ext uri="{FF2B5EF4-FFF2-40B4-BE49-F238E27FC236}">
                <a16:creationId xmlns:a16="http://schemas.microsoft.com/office/drawing/2014/main" id="{3E4E7ACF-A7E9-4243-A6A8-3846A2F05E0A}"/>
              </a:ext>
            </a:extLst>
          </p:cNvPr>
          <p:cNvSpPr txBox="1">
            <a:spLocks noChangeArrowheads="1"/>
          </p:cNvSpPr>
          <p:nvPr/>
        </p:nvSpPr>
        <p:spPr bwMode="auto">
          <a:xfrm>
            <a:off x="8353426" y="4343400"/>
            <a:ext cx="2043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kumimoji="0" lang="en-US" altLang="zh-CN" sz="2400" b="0">
                <a:solidFill>
                  <a:schemeClr val="tx1"/>
                </a:solidFill>
                <a:latin typeface="Times" panose="02020603050405020304" pitchFamily="18" charset="0"/>
                <a:ea typeface="宋体" panose="02010600030101010101" pitchFamily="2" charset="-122"/>
              </a:rPr>
              <a:t>30 nm filament</a:t>
            </a:r>
          </a:p>
        </p:txBody>
      </p:sp>
      <p:pic>
        <p:nvPicPr>
          <p:cNvPr id="191494" name="图片 1">
            <a:extLst>
              <a:ext uri="{FF2B5EF4-FFF2-40B4-BE49-F238E27FC236}">
                <a16:creationId xmlns:a16="http://schemas.microsoft.com/office/drawing/2014/main" id="{A19B9994-68E9-41F5-AE14-950928B0F7B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943976" y="981076"/>
            <a:ext cx="1743075" cy="260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495" name="Line 6">
            <a:extLst>
              <a:ext uri="{FF2B5EF4-FFF2-40B4-BE49-F238E27FC236}">
                <a16:creationId xmlns:a16="http://schemas.microsoft.com/office/drawing/2014/main" id="{F1BBD41F-52A7-4828-A24B-96C8E48068B6}"/>
              </a:ext>
            </a:extLst>
          </p:cNvPr>
          <p:cNvSpPr>
            <a:spLocks noChangeShapeType="1"/>
          </p:cNvSpPr>
          <p:nvPr/>
        </p:nvSpPr>
        <p:spPr bwMode="auto">
          <a:xfrm flipH="1" flipV="1">
            <a:off x="9204325" y="3589338"/>
            <a:ext cx="171450" cy="6397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文本框 2">
            <a:extLst>
              <a:ext uri="{FF2B5EF4-FFF2-40B4-BE49-F238E27FC236}">
                <a16:creationId xmlns:a16="http://schemas.microsoft.com/office/drawing/2014/main" id="{24257B2E-1DAE-BB72-2214-32B765A9087F}"/>
              </a:ext>
            </a:extLst>
          </p:cNvPr>
          <p:cNvSpPr txBox="1"/>
          <p:nvPr/>
        </p:nvSpPr>
        <p:spPr>
          <a:xfrm>
            <a:off x="2060182" y="4110335"/>
            <a:ext cx="6097604" cy="461665"/>
          </a:xfrm>
          <a:prstGeom prst="rect">
            <a:avLst/>
          </a:prstGeom>
          <a:noFill/>
        </p:spPr>
        <p:txBody>
          <a:bodyPr wrap="square">
            <a:spAutoFit/>
          </a:bodyPr>
          <a:lstStyle/>
          <a:p>
            <a:r>
              <a:rPr lang="zh-CN" altLang="en-US" dirty="0">
                <a:solidFill>
                  <a:srgbClr val="080808"/>
                </a:solidFill>
              </a:rPr>
              <a:t>最短的</a:t>
            </a:r>
            <a:r>
              <a:rPr lang="en-US" altLang="zh-CN" dirty="0">
                <a:solidFill>
                  <a:srgbClr val="080808"/>
                </a:solidFill>
              </a:rPr>
              <a:t>21</a:t>
            </a:r>
            <a:r>
              <a:rPr lang="zh-CN" altLang="en-US" dirty="0">
                <a:solidFill>
                  <a:srgbClr val="080808"/>
                </a:solidFill>
              </a:rPr>
              <a:t>号染色体的长度 </a:t>
            </a:r>
          </a:p>
        </p:txBody>
      </p:sp>
    </p:spTree>
  </p:cSld>
  <p:clrMapOvr>
    <a:masterClrMapping/>
  </p:clrMapOvr>
  <p:transition spd="slow">
    <p:circl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3539"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9496" y="1117978"/>
            <a:ext cx="4464496" cy="4372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540" name="文本框 5"/>
          <p:cNvSpPr txBox="1">
            <a:spLocks noChangeArrowheads="1"/>
          </p:cNvSpPr>
          <p:nvPr/>
        </p:nvSpPr>
        <p:spPr bwMode="auto">
          <a:xfrm>
            <a:off x="1415480" y="5663504"/>
            <a:ext cx="48960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dirty="0">
                <a:solidFill>
                  <a:schemeClr val="tx1">
                    <a:lumMod val="50000"/>
                  </a:schemeClr>
                </a:solidFill>
              </a:rPr>
              <a:t>人线粒体</a:t>
            </a:r>
            <a:r>
              <a:rPr lang="en-US" altLang="zh-CN" dirty="0">
                <a:solidFill>
                  <a:schemeClr val="tx1">
                    <a:lumMod val="50000"/>
                  </a:schemeClr>
                </a:solidFill>
              </a:rPr>
              <a:t>DNA</a:t>
            </a:r>
            <a:r>
              <a:rPr lang="zh-CN" altLang="en-US" dirty="0">
                <a:solidFill>
                  <a:schemeClr val="tx1">
                    <a:lumMod val="50000"/>
                  </a:schemeClr>
                </a:solidFill>
              </a:rPr>
              <a:t>（</a:t>
            </a:r>
            <a:r>
              <a:rPr lang="en-US" altLang="zh-CN" dirty="0" err="1">
                <a:solidFill>
                  <a:schemeClr val="tx1">
                    <a:lumMod val="50000"/>
                  </a:schemeClr>
                </a:solidFill>
              </a:rPr>
              <a:t>mtDNA</a:t>
            </a:r>
            <a:r>
              <a:rPr lang="zh-CN" altLang="en-US" dirty="0">
                <a:solidFill>
                  <a:schemeClr val="tx1">
                    <a:lumMod val="50000"/>
                  </a:schemeClr>
                </a:solidFill>
              </a:rPr>
              <a:t>）</a:t>
            </a:r>
          </a:p>
        </p:txBody>
      </p:sp>
      <p:sp>
        <p:nvSpPr>
          <p:cNvPr id="2" name="矩形 1"/>
          <p:cNvSpPr/>
          <p:nvPr/>
        </p:nvSpPr>
        <p:spPr>
          <a:xfrm>
            <a:off x="6239763" y="1863859"/>
            <a:ext cx="4896036" cy="3130281"/>
          </a:xfrm>
          <a:prstGeom prst="rect">
            <a:avLst/>
          </a:prstGeom>
          <a:ln>
            <a:noFill/>
          </a:ln>
        </p:spPr>
        <p:txBody>
          <a:bodyPr wrap="square">
            <a:spAutoFit/>
          </a:bodyPr>
          <a:lstStyle/>
          <a:p>
            <a:pPr marL="285750" indent="-285750">
              <a:lnSpc>
                <a:spcPct val="13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人线粒体</a:t>
            </a:r>
            <a:r>
              <a:rPr lang="en-US" altLang="zh-CN" sz="2200" dirty="0">
                <a:latin typeface="微软雅黑" panose="020B0503020204020204" pitchFamily="34" charset="-122"/>
                <a:ea typeface="微软雅黑" panose="020B0503020204020204" pitchFamily="34" charset="-122"/>
              </a:rPr>
              <a:t>DNA</a:t>
            </a:r>
            <a:r>
              <a:rPr lang="zh-CN" altLang="en-US" sz="2200" dirty="0">
                <a:latin typeface="微软雅黑" panose="020B0503020204020204" pitchFamily="34" charset="-122"/>
                <a:ea typeface="微软雅黑" panose="020B0503020204020204" pitchFamily="34" charset="-122"/>
              </a:rPr>
              <a:t>长</a:t>
            </a:r>
            <a:r>
              <a:rPr lang="en-US" altLang="zh-CN" sz="2200" dirty="0">
                <a:solidFill>
                  <a:srgbClr val="0000CC"/>
                </a:solidFill>
                <a:latin typeface="微软雅黑" panose="020B0503020204020204" pitchFamily="34" charset="-122"/>
                <a:ea typeface="微软雅黑" panose="020B0503020204020204" pitchFamily="34" charset="-122"/>
              </a:rPr>
              <a:t>16,569 bp</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37</a:t>
            </a:r>
            <a:r>
              <a:rPr lang="zh-CN" altLang="en-US" sz="2200" dirty="0">
                <a:latin typeface="微软雅黑" panose="020B0503020204020204" pitchFamily="34" charset="-122"/>
                <a:ea typeface="微软雅黑" panose="020B0503020204020204" pitchFamily="34" charset="-122"/>
              </a:rPr>
              <a:t>个基因</a:t>
            </a:r>
            <a:r>
              <a:rPr lang="en-US" altLang="zh-CN" sz="2200" dirty="0">
                <a:latin typeface="微软雅黑" panose="020B0503020204020204" pitchFamily="34" charset="-122"/>
                <a:ea typeface="微软雅黑" panose="020B0503020204020204" pitchFamily="34" charset="-122"/>
              </a:rPr>
              <a:t>(13</a:t>
            </a:r>
            <a:r>
              <a:rPr lang="zh-CN" altLang="en-US" sz="2200" dirty="0">
                <a:latin typeface="微软雅黑" panose="020B0503020204020204" pitchFamily="34" charset="-122"/>
                <a:ea typeface="微软雅黑" panose="020B0503020204020204" pitchFamily="34" charset="-122"/>
              </a:rPr>
              <a:t>个编码呼吸链蛋白的基因，</a:t>
            </a:r>
            <a:r>
              <a:rPr lang="en-US" altLang="zh-CN" sz="2200" dirty="0">
                <a:latin typeface="微软雅黑" panose="020B0503020204020204" pitchFamily="34" charset="-122"/>
                <a:ea typeface="微软雅黑" panose="020B0503020204020204" pitchFamily="34" charset="-122"/>
              </a:rPr>
              <a:t>22</a:t>
            </a:r>
            <a:r>
              <a:rPr lang="zh-CN" altLang="en-US" sz="2200" dirty="0">
                <a:latin typeface="微软雅黑" panose="020B0503020204020204" pitchFamily="34" charset="-122"/>
                <a:ea typeface="微软雅黑" panose="020B0503020204020204" pitchFamily="34" charset="-122"/>
              </a:rPr>
              <a:t>个</a:t>
            </a:r>
            <a:r>
              <a:rPr lang="en-US" altLang="zh-CN" sz="2200" dirty="0">
                <a:latin typeface="微软雅黑" panose="020B0503020204020204" pitchFamily="34" charset="-122"/>
                <a:ea typeface="微软雅黑" panose="020B0503020204020204" pitchFamily="34" charset="-122"/>
              </a:rPr>
              <a:t>tRNA</a:t>
            </a:r>
            <a:r>
              <a:rPr lang="zh-CN" altLang="en-US" sz="2200" dirty="0">
                <a:latin typeface="微软雅黑" panose="020B0503020204020204" pitchFamily="34" charset="-122"/>
                <a:ea typeface="微软雅黑" panose="020B0503020204020204" pitchFamily="34" charset="-122"/>
              </a:rPr>
              <a:t>基因，</a:t>
            </a: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个</a:t>
            </a:r>
            <a:r>
              <a:rPr lang="en-US" altLang="zh-CN" sz="2200" dirty="0">
                <a:latin typeface="微软雅黑" panose="020B0503020204020204" pitchFamily="34" charset="-122"/>
                <a:ea typeface="微软雅黑" panose="020B0503020204020204" pitchFamily="34" charset="-122"/>
              </a:rPr>
              <a:t>rRNA</a:t>
            </a:r>
            <a:r>
              <a:rPr lang="zh-CN" altLang="en-US" sz="2200" dirty="0">
                <a:latin typeface="微软雅黑" panose="020B0503020204020204" pitchFamily="34" charset="-122"/>
                <a:ea typeface="微软雅黑" panose="020B0503020204020204" pitchFamily="34" charset="-122"/>
              </a:rPr>
              <a:t>基因 ）</a:t>
            </a:r>
            <a:endParaRPr lang="en-US" altLang="zh-CN" sz="2200" dirty="0">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Ø"/>
            </a:pPr>
            <a:endParaRPr lang="en-US" altLang="zh-CN" sz="2200" dirty="0">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Ø"/>
            </a:pPr>
            <a:r>
              <a:rPr lang="en-US" altLang="zh-CN" sz="2200" dirty="0" err="1">
                <a:latin typeface="微软雅黑" panose="020B0503020204020204" pitchFamily="34" charset="-122"/>
                <a:ea typeface="微软雅黑" panose="020B0503020204020204" pitchFamily="34" charset="-122"/>
                <a:cs typeface="Times New Roman" pitchFamily="18" charset="0"/>
              </a:rPr>
              <a:t>mtDNA</a:t>
            </a:r>
            <a:r>
              <a:rPr lang="zh-CN" altLang="en-US" sz="2200" dirty="0">
                <a:latin typeface="微软雅黑" panose="020B0503020204020204" pitchFamily="34" charset="-122"/>
                <a:ea typeface="微软雅黑" panose="020B0503020204020204" pitchFamily="34" charset="-122"/>
                <a:cs typeface="Times New Roman" pitchFamily="18" charset="0"/>
              </a:rPr>
              <a:t>表现为</a:t>
            </a:r>
            <a:r>
              <a:rPr lang="zh-CN" altLang="en-US" sz="2200" dirty="0">
                <a:solidFill>
                  <a:srgbClr val="0000CC"/>
                </a:solidFill>
                <a:latin typeface="微软雅黑" panose="020B0503020204020204" pitchFamily="34" charset="-122"/>
                <a:ea typeface="微软雅黑" panose="020B0503020204020204" pitchFamily="34" charset="-122"/>
                <a:cs typeface="Times New Roman" pitchFamily="18" charset="0"/>
              </a:rPr>
              <a:t>母系遗传</a:t>
            </a:r>
            <a:endParaRPr lang="en-US" altLang="zh-CN" sz="2200" dirty="0">
              <a:solidFill>
                <a:srgbClr val="0000CC"/>
              </a:solidFill>
              <a:latin typeface="微软雅黑" panose="020B0503020204020204" pitchFamily="34" charset="-122"/>
              <a:ea typeface="微软雅黑" panose="020B0503020204020204" pitchFamily="34" charset="-122"/>
              <a:cs typeface="Times New Roman" pitchFamily="18" charset="0"/>
            </a:endParaRPr>
          </a:p>
          <a:p>
            <a:pPr marL="285750" indent="-285750">
              <a:lnSpc>
                <a:spcPct val="130000"/>
              </a:lnSpc>
              <a:buFont typeface="Wingdings" panose="05000000000000000000" pitchFamily="2" charset="2"/>
              <a:buChar char="Ø"/>
            </a:pPr>
            <a:r>
              <a:rPr lang="en-US" altLang="zh-CN" sz="2200" dirty="0" err="1">
                <a:solidFill>
                  <a:srgbClr val="0000CC"/>
                </a:solidFill>
                <a:latin typeface="微软雅黑" panose="020B0503020204020204" pitchFamily="34" charset="-122"/>
                <a:ea typeface="微软雅黑" panose="020B0503020204020204" pitchFamily="34" charset="-122"/>
              </a:rPr>
              <a:t>mtDNA</a:t>
            </a:r>
            <a:r>
              <a:rPr lang="zh-CN" altLang="en-US" sz="2200" dirty="0">
                <a:solidFill>
                  <a:srgbClr val="0000CC"/>
                </a:solidFill>
                <a:latin typeface="微软雅黑" panose="020B0503020204020204" pitchFamily="34" charset="-122"/>
                <a:ea typeface="微软雅黑" panose="020B0503020204020204" pitchFamily="34" charset="-122"/>
              </a:rPr>
              <a:t>突变随年龄增长而累积。</a:t>
            </a:r>
            <a:endParaRPr lang="en-US" altLang="zh-CN" sz="2200" dirty="0">
              <a:solidFill>
                <a:srgbClr val="0000CC"/>
              </a:solidFill>
              <a:latin typeface="微软雅黑" panose="020B0503020204020204" pitchFamily="34" charset="-122"/>
              <a:ea typeface="微软雅黑" panose="020B0503020204020204" pitchFamily="34" charset="-122"/>
              <a:cs typeface="Times New Roman" pitchFamily="18" charset="0"/>
            </a:endParaRPr>
          </a:p>
          <a:p>
            <a:pPr>
              <a:lnSpc>
                <a:spcPct val="130000"/>
              </a:lnSpc>
            </a:pPr>
            <a:endParaRPr lang="en-US" altLang="zh-CN" sz="2200" dirty="0">
              <a:latin typeface="微软雅黑" panose="020B0503020204020204" pitchFamily="34" charset="-122"/>
              <a:ea typeface="微软雅黑" panose="020B0503020204020204" pitchFamily="34" charset="-122"/>
              <a:cs typeface="Times New Roman" pitchFamily="18" charset="0"/>
            </a:endParaRPr>
          </a:p>
        </p:txBody>
      </p:sp>
      <p:sp>
        <p:nvSpPr>
          <p:cNvPr id="4" name="文本框 3">
            <a:extLst>
              <a:ext uri="{FF2B5EF4-FFF2-40B4-BE49-F238E27FC236}">
                <a16:creationId xmlns:a16="http://schemas.microsoft.com/office/drawing/2014/main" id="{9F0BFFF6-58AA-FB01-E96A-169D52B47D67}"/>
              </a:ext>
            </a:extLst>
          </p:cNvPr>
          <p:cNvSpPr txBox="1"/>
          <p:nvPr/>
        </p:nvSpPr>
        <p:spPr>
          <a:xfrm>
            <a:off x="2351584" y="422147"/>
            <a:ext cx="7488832" cy="523220"/>
          </a:xfrm>
          <a:prstGeom prst="rect">
            <a:avLst/>
          </a:prstGeom>
          <a:noFill/>
        </p:spPr>
        <p:txBody>
          <a:bodyPr wrap="square">
            <a:spAutoFit/>
          </a:bodyPr>
          <a:lstStyle/>
          <a:p>
            <a:r>
              <a:rPr lang="zh-CN" altLang="en-US" sz="2800" dirty="0">
                <a:solidFill>
                  <a:srgbClr val="0000CC"/>
                </a:solidFill>
                <a:latin typeface="微软雅黑" panose="020B0503020204020204" pitchFamily="34" charset="-122"/>
                <a:ea typeface="微软雅黑" panose="020B0503020204020204" pitchFamily="34" charset="-122"/>
              </a:rPr>
              <a:t>（三）真核生物中存在环形结构的线粒体</a:t>
            </a:r>
            <a:r>
              <a:rPr lang="en-US" altLang="zh-CN" sz="2800" dirty="0">
                <a:solidFill>
                  <a:srgbClr val="0000CC"/>
                </a:solidFill>
                <a:latin typeface="微软雅黑" panose="020B0503020204020204" pitchFamily="34" charset="-122"/>
                <a:ea typeface="微软雅黑" panose="020B0503020204020204" pitchFamily="34" charset="-122"/>
              </a:rPr>
              <a:t>DNA</a:t>
            </a:r>
            <a:endParaRPr lang="zh-CN" altLang="en-US" sz="2800" dirty="0">
              <a:solidFill>
                <a:srgbClr val="0000CC"/>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96981456"/>
      </p:ext>
    </p:extLst>
  </p:cSld>
  <p:clrMapOvr>
    <a:masterClrMapping/>
  </p:clrMapOvr>
  <p:transition spd="slow">
    <p:circle/>
  </p:transition>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0466" name="Rectangle 3">
            <a:extLst>
              <a:ext uri="{FF2B5EF4-FFF2-40B4-BE49-F238E27FC236}">
                <a16:creationId xmlns:a16="http://schemas.microsoft.com/office/drawing/2014/main" id="{F9ACA0C5-FC13-4706-BB5C-B7FFD0576DAE}"/>
              </a:ext>
            </a:extLst>
          </p:cNvPr>
          <p:cNvSpPr>
            <a:spLocks noChangeArrowheads="1"/>
          </p:cNvSpPr>
          <p:nvPr/>
        </p:nvSpPr>
        <p:spPr bwMode="auto">
          <a:xfrm>
            <a:off x="1375883" y="1412776"/>
            <a:ext cx="9639466" cy="4757521"/>
          </a:xfrm>
          <a:prstGeom prst="rect">
            <a:avLst/>
          </a:prstGeom>
          <a:noFill/>
          <a:ln>
            <a:noFill/>
          </a:ln>
        </p:spPr>
        <p:txBody>
          <a:bodyPr wrap="square" anchor="ctr">
            <a:spAutoFit/>
          </a:bodyPr>
          <a:lstStyle>
            <a:lvl1pPr indent="720725">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marL="432000" indent="-432000" algn="just" eaLnBrk="1" hangingPunct="1">
              <a:lnSpc>
                <a:spcPct val="120000"/>
              </a:lnSpc>
              <a:spcBef>
                <a:spcPts val="1800"/>
              </a:spcBef>
              <a:buClrTx/>
              <a:defRPr/>
            </a:pPr>
            <a:r>
              <a:rPr lang="en-US" altLang="zh-CN" sz="2600" b="0" dirty="0">
                <a:solidFill>
                  <a:srgbClr val="000000"/>
                </a:solidFill>
                <a:latin typeface="微软雅黑" panose="020B0503020204020204" pitchFamily="34" charset="-122"/>
                <a:ea typeface="微软雅黑" panose="020B0503020204020204" pitchFamily="34" charset="-122"/>
              </a:rPr>
              <a:t>20 </a:t>
            </a:r>
            <a:r>
              <a:rPr lang="zh-CN" altLang="en-US" sz="2600" b="0" dirty="0">
                <a:solidFill>
                  <a:srgbClr val="000000"/>
                </a:solidFill>
                <a:latin typeface="微软雅黑" panose="020B0503020204020204" pitchFamily="34" charset="-122"/>
                <a:ea typeface="微软雅黑" panose="020B0503020204020204" pitchFamily="34" charset="-122"/>
              </a:rPr>
              <a:t>世纪</a:t>
            </a:r>
            <a:r>
              <a:rPr lang="en-US" altLang="zh-CN" sz="2600" b="0" dirty="0">
                <a:solidFill>
                  <a:srgbClr val="000000"/>
                </a:solidFill>
                <a:latin typeface="微软雅黑" panose="020B0503020204020204" pitchFamily="34" charset="-122"/>
                <a:ea typeface="微软雅黑" panose="020B0503020204020204" pitchFamily="34" charset="-122"/>
              </a:rPr>
              <a:t>30 </a:t>
            </a:r>
            <a:r>
              <a:rPr lang="zh-CN" altLang="en-US" sz="2600" b="0" dirty="0">
                <a:solidFill>
                  <a:srgbClr val="000000"/>
                </a:solidFill>
                <a:latin typeface="微软雅黑" panose="020B0503020204020204" pitchFamily="34" charset="-122"/>
                <a:ea typeface="微软雅黑" panose="020B0503020204020204" pitchFamily="34" charset="-122"/>
              </a:rPr>
              <a:t>年代，已知染色体是遗传物质，也知道</a:t>
            </a:r>
            <a:r>
              <a:rPr lang="en-US" altLang="zh-CN" sz="2600" b="0" dirty="0">
                <a:solidFill>
                  <a:srgbClr val="000000"/>
                </a:solidFill>
                <a:latin typeface="微软雅黑" panose="020B0503020204020204" pitchFamily="34" charset="-122"/>
                <a:ea typeface="微软雅黑" panose="020B0503020204020204" pitchFamily="34" charset="-122"/>
              </a:rPr>
              <a:t>DNA</a:t>
            </a:r>
            <a:r>
              <a:rPr lang="zh-CN" altLang="en-US" sz="2600" b="0" dirty="0">
                <a:solidFill>
                  <a:srgbClr val="000000"/>
                </a:solidFill>
                <a:latin typeface="微软雅黑" panose="020B0503020204020204" pitchFamily="34" charset="-122"/>
                <a:ea typeface="微软雅黑" panose="020B0503020204020204" pitchFamily="34" charset="-122"/>
              </a:rPr>
              <a:t>是染色体的组成部分。随后多年，学界主流认为染色体中的蛋白质是遗传物质。</a:t>
            </a:r>
            <a:endParaRPr lang="en-US" altLang="zh-CN" sz="2600" b="0" dirty="0">
              <a:solidFill>
                <a:srgbClr val="000000"/>
              </a:solidFill>
              <a:latin typeface="微软雅黑" panose="020B0503020204020204" pitchFamily="34" charset="-122"/>
              <a:ea typeface="微软雅黑" panose="020B0503020204020204" pitchFamily="34" charset="-122"/>
            </a:endParaRPr>
          </a:p>
          <a:p>
            <a:pPr marL="432000" indent="-432000" algn="just" eaLnBrk="1" hangingPunct="1">
              <a:lnSpc>
                <a:spcPct val="120000"/>
              </a:lnSpc>
              <a:spcBef>
                <a:spcPts val="1800"/>
              </a:spcBef>
              <a:buClrTx/>
              <a:defRPr/>
            </a:pPr>
            <a:r>
              <a:rPr lang="zh-CN" altLang="en-US" sz="2600" b="0" dirty="0">
                <a:solidFill>
                  <a:srgbClr val="0000CC"/>
                </a:solidFill>
                <a:latin typeface="微软雅黑" panose="020B0503020204020204" pitchFamily="34" charset="-122"/>
                <a:ea typeface="微软雅黑" panose="020B0503020204020204" pitchFamily="34" charset="-122"/>
              </a:rPr>
              <a:t>上世纪</a:t>
            </a:r>
            <a:r>
              <a:rPr lang="en-US" altLang="zh-CN" sz="2600" b="0" dirty="0">
                <a:solidFill>
                  <a:srgbClr val="0000CC"/>
                </a:solidFill>
                <a:latin typeface="微软雅黑" panose="020B0503020204020204" pitchFamily="34" charset="-122"/>
                <a:ea typeface="微软雅黑" panose="020B0503020204020204" pitchFamily="34" charset="-122"/>
              </a:rPr>
              <a:t>50</a:t>
            </a:r>
            <a:r>
              <a:rPr lang="zh-CN" altLang="en-US" sz="2600" b="0" dirty="0">
                <a:solidFill>
                  <a:srgbClr val="0000CC"/>
                </a:solidFill>
                <a:latin typeface="微软雅黑" panose="020B0503020204020204" pitchFamily="34" charset="-122"/>
                <a:ea typeface="微软雅黑" panose="020B0503020204020204" pitchFamily="34" charset="-122"/>
              </a:rPr>
              <a:t>年代初，学界普遍接受</a:t>
            </a:r>
            <a:r>
              <a:rPr lang="en-US" altLang="zh-CN" sz="2600" b="0" dirty="0">
                <a:solidFill>
                  <a:srgbClr val="0000CC"/>
                </a:solidFill>
                <a:latin typeface="微软雅黑" panose="020B0503020204020204" pitchFamily="34" charset="-122"/>
                <a:ea typeface="微软雅黑" panose="020B0503020204020204" pitchFamily="34" charset="-122"/>
              </a:rPr>
              <a:t>DNA</a:t>
            </a:r>
            <a:r>
              <a:rPr lang="zh-CN" altLang="en-US" sz="2600" b="0" dirty="0">
                <a:solidFill>
                  <a:srgbClr val="0000CC"/>
                </a:solidFill>
                <a:latin typeface="微软雅黑" panose="020B0503020204020204" pitchFamily="34" charset="-122"/>
                <a:ea typeface="微软雅黑" panose="020B0503020204020204" pitchFamily="34" charset="-122"/>
              </a:rPr>
              <a:t>才是遗传物质</a:t>
            </a:r>
            <a:r>
              <a:rPr lang="zh-CN" altLang="en-US" sz="2600" b="0" dirty="0">
                <a:solidFill>
                  <a:srgbClr val="000000"/>
                </a:solidFill>
                <a:latin typeface="微软雅黑" panose="020B0503020204020204" pitchFamily="34" charset="-122"/>
                <a:ea typeface="微软雅黑" panose="020B0503020204020204" pitchFamily="34" charset="-122"/>
              </a:rPr>
              <a:t>。 有两个重要实验：</a:t>
            </a:r>
            <a:endParaRPr lang="en-US" altLang="zh-CN" sz="2600" b="0" dirty="0">
              <a:solidFill>
                <a:srgbClr val="000000"/>
              </a:solidFill>
              <a:latin typeface="微软雅黑" panose="020B0503020204020204" pitchFamily="34" charset="-122"/>
              <a:ea typeface="微软雅黑" panose="020B0503020204020204" pitchFamily="34" charset="-122"/>
            </a:endParaRPr>
          </a:p>
          <a:p>
            <a:pPr marL="720000" lvl="1" indent="-432000" algn="just" eaLnBrk="1" hangingPunct="1">
              <a:lnSpc>
                <a:spcPct val="120000"/>
              </a:lnSpc>
              <a:spcBef>
                <a:spcPts val="600"/>
              </a:spcBef>
              <a:buClrTx/>
              <a:defRPr/>
            </a:pPr>
            <a:r>
              <a:rPr lang="en-US" altLang="zh-CN" sz="2400" dirty="0">
                <a:solidFill>
                  <a:srgbClr val="000000"/>
                </a:solidFill>
                <a:latin typeface="微软雅黑" panose="020B0503020204020204" pitchFamily="34" charset="-122"/>
                <a:ea typeface="微软雅黑" panose="020B0503020204020204" pitchFamily="34" charset="-122"/>
              </a:rPr>
              <a:t>1944 </a:t>
            </a:r>
            <a:r>
              <a:rPr lang="zh-CN" altLang="en-US" sz="2400" dirty="0">
                <a:solidFill>
                  <a:srgbClr val="000000"/>
                </a:solidFill>
                <a:latin typeface="微软雅黑" panose="020B0503020204020204" pitchFamily="34" charset="-122"/>
                <a:ea typeface="微软雅黑" panose="020B0503020204020204" pitchFamily="34" charset="-122"/>
              </a:rPr>
              <a:t>年，美国细菌学家</a:t>
            </a:r>
            <a:r>
              <a:rPr lang="en-US" altLang="zh-CN" sz="2400" dirty="0">
                <a:solidFill>
                  <a:srgbClr val="C00000"/>
                </a:solidFill>
                <a:latin typeface="微软雅黑" panose="020B0503020204020204" pitchFamily="34" charset="-122"/>
                <a:ea typeface="微软雅黑" panose="020B0503020204020204" pitchFamily="34" charset="-122"/>
              </a:rPr>
              <a:t>Avery O. </a:t>
            </a:r>
            <a:r>
              <a:rPr lang="zh-CN" altLang="en-US" sz="2400" dirty="0">
                <a:solidFill>
                  <a:srgbClr val="C00000"/>
                </a:solidFill>
                <a:latin typeface="微软雅黑" panose="020B0503020204020204" pitchFamily="34" charset="-122"/>
                <a:ea typeface="微软雅黑" panose="020B0503020204020204" pitchFamily="34" charset="-122"/>
              </a:rPr>
              <a:t>的肺炎球菌转化实验</a:t>
            </a:r>
            <a:r>
              <a:rPr lang="zh-CN" altLang="en-US" sz="2400" dirty="0">
                <a:solidFill>
                  <a:srgbClr val="000000"/>
                </a:solidFill>
                <a:latin typeface="微软雅黑" panose="020B0503020204020204" pitchFamily="34" charset="-122"/>
                <a:ea typeface="微软雅黑" panose="020B0503020204020204" pitchFamily="34" charset="-122"/>
              </a:rPr>
              <a:t>首次证明了</a:t>
            </a:r>
            <a:r>
              <a:rPr lang="en-US" altLang="zh-CN" sz="2400" dirty="0">
                <a:solidFill>
                  <a:srgbClr val="000000"/>
                </a:solidFill>
                <a:latin typeface="微软雅黑" panose="020B0503020204020204" pitchFamily="34" charset="-122"/>
                <a:ea typeface="微软雅黑" panose="020B0503020204020204" pitchFamily="34" charset="-122"/>
              </a:rPr>
              <a:t>DNA </a:t>
            </a:r>
            <a:r>
              <a:rPr lang="zh-CN" altLang="en-US" sz="2400" dirty="0">
                <a:solidFill>
                  <a:srgbClr val="000000"/>
                </a:solidFill>
                <a:latin typeface="微软雅黑" panose="020B0503020204020204" pitchFamily="34" charset="-122"/>
                <a:ea typeface="微软雅黑" panose="020B0503020204020204" pitchFamily="34" charset="-122"/>
              </a:rPr>
              <a:t>是细菌性状的遗传物质。</a:t>
            </a:r>
            <a:endParaRPr lang="en-US" altLang="zh-CN" sz="2400" dirty="0">
              <a:solidFill>
                <a:srgbClr val="000000"/>
              </a:solidFill>
              <a:latin typeface="微软雅黑" panose="020B0503020204020204" pitchFamily="34" charset="-122"/>
              <a:ea typeface="微软雅黑" panose="020B0503020204020204" pitchFamily="34" charset="-122"/>
            </a:endParaRPr>
          </a:p>
          <a:p>
            <a:pPr marL="720000" lvl="1" indent="-432000" algn="just" eaLnBrk="1" hangingPunct="1">
              <a:lnSpc>
                <a:spcPct val="120000"/>
              </a:lnSpc>
              <a:spcBef>
                <a:spcPts val="600"/>
              </a:spcBef>
              <a:buClrTx/>
              <a:defRPr/>
            </a:pPr>
            <a:r>
              <a:rPr lang="en-US" altLang="zh-CN" sz="2400" dirty="0">
                <a:solidFill>
                  <a:srgbClr val="000000"/>
                </a:solidFill>
                <a:latin typeface="微软雅黑" panose="020B0503020204020204" pitchFamily="34" charset="-122"/>
                <a:ea typeface="微软雅黑" panose="020B0503020204020204" pitchFamily="34" charset="-122"/>
              </a:rPr>
              <a:t>1952 </a:t>
            </a:r>
            <a:r>
              <a:rPr lang="zh-CN" altLang="en-US" sz="2400" dirty="0">
                <a:solidFill>
                  <a:srgbClr val="000000"/>
                </a:solidFill>
                <a:latin typeface="微软雅黑" panose="020B0503020204020204" pitchFamily="34" charset="-122"/>
                <a:ea typeface="微软雅黑" panose="020B0503020204020204" pitchFamily="34" charset="-122"/>
              </a:rPr>
              <a:t>年，</a:t>
            </a:r>
            <a:r>
              <a:rPr lang="en-US" altLang="zh-CN" sz="2400" dirty="0">
                <a:solidFill>
                  <a:srgbClr val="000000"/>
                </a:solidFill>
                <a:latin typeface="微软雅黑" panose="020B0503020204020204" pitchFamily="34" charset="-122"/>
                <a:ea typeface="微软雅黑" panose="020B0503020204020204" pitchFamily="34" charset="-122"/>
              </a:rPr>
              <a:t>Hershey A. </a:t>
            </a:r>
            <a:r>
              <a:rPr lang="zh-CN" altLang="en-US" sz="2400" dirty="0">
                <a:solidFill>
                  <a:srgbClr val="000000"/>
                </a:solidFill>
                <a:latin typeface="微软雅黑" panose="020B0503020204020204" pitchFamily="34" charset="-122"/>
                <a:ea typeface="微软雅黑" panose="020B0503020204020204" pitchFamily="34" charset="-122"/>
              </a:rPr>
              <a:t>和</a:t>
            </a:r>
            <a:r>
              <a:rPr lang="en-US" altLang="zh-CN" sz="2400" dirty="0">
                <a:solidFill>
                  <a:srgbClr val="000000"/>
                </a:solidFill>
                <a:latin typeface="微软雅黑" panose="020B0503020204020204" pitchFamily="34" charset="-122"/>
                <a:ea typeface="微软雅黑" panose="020B0503020204020204" pitchFamily="34" charset="-122"/>
              </a:rPr>
              <a:t>Chase M. </a:t>
            </a:r>
            <a:r>
              <a:rPr lang="zh-CN" altLang="en-US" sz="2400" dirty="0">
                <a:solidFill>
                  <a:srgbClr val="000000"/>
                </a:solidFill>
                <a:latin typeface="微软雅黑" panose="020B0503020204020204" pitchFamily="34" charset="-122"/>
                <a:ea typeface="微软雅黑" panose="020B0503020204020204" pitchFamily="34" charset="-122"/>
              </a:rPr>
              <a:t>利用</a:t>
            </a:r>
            <a:r>
              <a:rPr lang="zh-CN" altLang="en-US" sz="2400" dirty="0">
                <a:solidFill>
                  <a:srgbClr val="C00000"/>
                </a:solidFill>
                <a:latin typeface="微软雅黑" panose="020B0503020204020204" pitchFamily="34" charset="-122"/>
                <a:ea typeface="微软雅黑" panose="020B0503020204020204" pitchFamily="34" charset="-122"/>
              </a:rPr>
              <a:t>大肠埃希菌噬菌体的侵染实验</a:t>
            </a:r>
            <a:r>
              <a:rPr lang="zh-CN" altLang="en-US" sz="2400" dirty="0">
                <a:solidFill>
                  <a:srgbClr val="000000"/>
                </a:solidFill>
                <a:latin typeface="微软雅黑" panose="020B0503020204020204" pitchFamily="34" charset="-122"/>
                <a:ea typeface="微软雅黑" panose="020B0503020204020204" pitchFamily="34" charset="-122"/>
              </a:rPr>
              <a:t>。</a:t>
            </a:r>
          </a:p>
        </p:txBody>
      </p:sp>
      <p:sp>
        <p:nvSpPr>
          <p:cNvPr id="197635" name="Text Box 12">
            <a:extLst>
              <a:ext uri="{FF2B5EF4-FFF2-40B4-BE49-F238E27FC236}">
                <a16:creationId xmlns:a16="http://schemas.microsoft.com/office/drawing/2014/main" id="{41E3DBE3-2262-4836-BF46-D9C535A5AC63}"/>
              </a:ext>
            </a:extLst>
          </p:cNvPr>
          <p:cNvSpPr txBox="1">
            <a:spLocks noChangeArrowheads="1"/>
          </p:cNvSpPr>
          <p:nvPr/>
        </p:nvSpPr>
        <p:spPr bwMode="auto">
          <a:xfrm>
            <a:off x="2999657" y="404665"/>
            <a:ext cx="6391919" cy="735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dirty="0">
                <a:solidFill>
                  <a:srgbClr val="0000CC"/>
                </a:solidFill>
                <a:latin typeface="Times New Roman" panose="02020603050405020304" pitchFamily="18" charset="0"/>
                <a:ea typeface="黑体" panose="02010609060101010101" pitchFamily="49" charset="-122"/>
              </a:rPr>
              <a:t>三、</a:t>
            </a:r>
            <a:r>
              <a:rPr kumimoji="0" lang="en-US" altLang="zh-CN" sz="3600" dirty="0">
                <a:solidFill>
                  <a:srgbClr val="0000CC"/>
                </a:solidFill>
                <a:latin typeface="Times New Roman" panose="02020603050405020304" pitchFamily="18" charset="0"/>
                <a:ea typeface="黑体" panose="02010609060101010101" pitchFamily="49" charset="-122"/>
              </a:rPr>
              <a:t>DNA</a:t>
            </a:r>
            <a:r>
              <a:rPr kumimoji="0" lang="zh-CN" altLang="en-US" sz="3600" dirty="0">
                <a:solidFill>
                  <a:srgbClr val="0000CC"/>
                </a:solidFill>
                <a:latin typeface="Times New Roman" panose="02020603050405020304" pitchFamily="18" charset="0"/>
                <a:ea typeface="黑体" panose="02010609060101010101" pitchFamily="49" charset="-122"/>
              </a:rPr>
              <a:t>是主要的遗传物质</a:t>
            </a:r>
          </a:p>
        </p:txBody>
      </p:sp>
    </p:spTree>
  </p:cSld>
  <p:clrMapOvr>
    <a:masterClrMapping/>
  </p:clrMapOvr>
  <p:transition spd="slow">
    <p:circle/>
  </p:transition>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795FF83D-05D2-E80B-524F-8C9C6A1CD1CA}"/>
              </a:ext>
            </a:extLst>
          </p:cNvPr>
          <p:cNvGrpSpPr>
            <a:grpSpLocks/>
          </p:cNvGrpSpPr>
          <p:nvPr/>
        </p:nvGrpSpPr>
        <p:grpSpPr bwMode="auto">
          <a:xfrm>
            <a:off x="1666876" y="908051"/>
            <a:ext cx="8893175" cy="4868863"/>
            <a:chOff x="0" y="0"/>
            <a:chExt cx="5760" cy="3037"/>
          </a:xfrm>
        </p:grpSpPr>
        <p:graphicFrame>
          <p:nvGraphicFramePr>
            <p:cNvPr id="19463" name="Object 3">
              <a:extLst>
                <a:ext uri="{FF2B5EF4-FFF2-40B4-BE49-F238E27FC236}">
                  <a16:creationId xmlns:a16="http://schemas.microsoft.com/office/drawing/2014/main" id="{CE8C64F2-3B1D-BE6C-62B6-1B80149D2445}"/>
                </a:ext>
              </a:extLst>
            </p:cNvPr>
            <p:cNvGraphicFramePr>
              <a:graphicFrameLocks noChangeAspect="1"/>
            </p:cNvGraphicFramePr>
            <p:nvPr/>
          </p:nvGraphicFramePr>
          <p:xfrm>
            <a:off x="0" y="0"/>
            <a:ext cx="5760" cy="3022"/>
          </p:xfrm>
          <a:graphic>
            <a:graphicData uri="http://schemas.openxmlformats.org/presentationml/2006/ole">
              <mc:AlternateContent xmlns:mc="http://schemas.openxmlformats.org/markup-compatibility/2006">
                <mc:Choice xmlns:v="urn:schemas-microsoft-com:vml" Requires="v">
                  <p:oleObj name="文档" r:id="rId3" imgW="5512514" imgH="4097204" progId="Word.Document.8">
                    <p:embed/>
                  </p:oleObj>
                </mc:Choice>
                <mc:Fallback>
                  <p:oleObj name="文档" r:id="rId3" imgW="5512514" imgH="4097204" progId="Word.Document.8">
                    <p:embed/>
                    <p:pic>
                      <p:nvPicPr>
                        <p:cNvPr id="19463" name="Object 3">
                          <a:extLst>
                            <a:ext uri="{FF2B5EF4-FFF2-40B4-BE49-F238E27FC236}">
                              <a16:creationId xmlns:a16="http://schemas.microsoft.com/office/drawing/2014/main" id="{CE8C64F2-3B1D-BE6C-62B6-1B80149D24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754" r="20363" b="30046"/>
                        <a:stretch>
                          <a:fillRect/>
                        </a:stretch>
                      </p:blipFill>
                      <p:spPr bwMode="auto">
                        <a:xfrm>
                          <a:off x="0" y="0"/>
                          <a:ext cx="5760" cy="3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9464" name="Picture 4" descr="avery">
              <a:extLst>
                <a:ext uri="{FF2B5EF4-FFF2-40B4-BE49-F238E27FC236}">
                  <a16:creationId xmlns:a16="http://schemas.microsoft.com/office/drawing/2014/main" id="{D5E9708E-9F95-DB76-CA9A-92471B69D6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63651" t="1334" b="74467"/>
            <a:stretch>
              <a:fillRect/>
            </a:stretch>
          </p:blipFill>
          <p:spPr bwMode="auto">
            <a:xfrm>
              <a:off x="3742" y="2614"/>
              <a:ext cx="567" cy="395"/>
            </a:xfrm>
            <a:prstGeom prst="rect">
              <a:avLst/>
            </a:prstGeom>
            <a:solidFill>
              <a:srgbClr val="FB4A0B"/>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9465" name="Picture 5" descr="avery">
              <a:extLst>
                <a:ext uri="{FF2B5EF4-FFF2-40B4-BE49-F238E27FC236}">
                  <a16:creationId xmlns:a16="http://schemas.microsoft.com/office/drawing/2014/main" id="{1BDF980F-54E9-47B4-C04E-91DCEC4BED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66087" t="29254" r="3590" b="48424"/>
            <a:stretch>
              <a:fillRect/>
            </a:stretch>
          </p:blipFill>
          <p:spPr bwMode="auto">
            <a:xfrm>
              <a:off x="2925" y="2568"/>
              <a:ext cx="546" cy="469"/>
            </a:xfrm>
            <a:prstGeom prst="rect">
              <a:avLst/>
            </a:prstGeom>
            <a:solidFill>
              <a:srgbClr val="FB4A0B"/>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9466" name="Picture 6" descr="avery">
              <a:extLst>
                <a:ext uri="{FF2B5EF4-FFF2-40B4-BE49-F238E27FC236}">
                  <a16:creationId xmlns:a16="http://schemas.microsoft.com/office/drawing/2014/main" id="{E54628E4-CEBE-EBD2-EB8A-D211499D18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66087" t="29254" r="3590" b="48424"/>
            <a:stretch>
              <a:fillRect/>
            </a:stretch>
          </p:blipFill>
          <p:spPr bwMode="auto">
            <a:xfrm>
              <a:off x="2154" y="2568"/>
              <a:ext cx="546" cy="469"/>
            </a:xfrm>
            <a:prstGeom prst="rect">
              <a:avLst/>
            </a:prstGeom>
            <a:solidFill>
              <a:srgbClr val="FB4A0B"/>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9467" name="Picture 7" descr="avery">
              <a:extLst>
                <a:ext uri="{FF2B5EF4-FFF2-40B4-BE49-F238E27FC236}">
                  <a16:creationId xmlns:a16="http://schemas.microsoft.com/office/drawing/2014/main" id="{BF0097D5-E14A-FDC7-36D2-EAEEC606A0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66087" t="29254" r="3590" b="48424"/>
            <a:stretch>
              <a:fillRect/>
            </a:stretch>
          </p:blipFill>
          <p:spPr bwMode="auto">
            <a:xfrm>
              <a:off x="1247" y="2568"/>
              <a:ext cx="546" cy="469"/>
            </a:xfrm>
            <a:prstGeom prst="rect">
              <a:avLst/>
            </a:prstGeom>
            <a:solidFill>
              <a:srgbClr val="FB4A0B"/>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9468" name="Picture 8" descr="avery">
              <a:extLst>
                <a:ext uri="{FF2B5EF4-FFF2-40B4-BE49-F238E27FC236}">
                  <a16:creationId xmlns:a16="http://schemas.microsoft.com/office/drawing/2014/main" id="{B4548E6E-EDF8-3B77-5FDF-655257E7B7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66087" t="29254" r="3590" b="48424"/>
            <a:stretch>
              <a:fillRect/>
            </a:stretch>
          </p:blipFill>
          <p:spPr bwMode="auto">
            <a:xfrm>
              <a:off x="431" y="2568"/>
              <a:ext cx="546" cy="469"/>
            </a:xfrm>
            <a:prstGeom prst="rect">
              <a:avLst/>
            </a:prstGeom>
            <a:solidFill>
              <a:srgbClr val="FB4A0B"/>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9469" name="Picture 9" descr="avery">
              <a:extLst>
                <a:ext uri="{FF2B5EF4-FFF2-40B4-BE49-F238E27FC236}">
                  <a16:creationId xmlns:a16="http://schemas.microsoft.com/office/drawing/2014/main" id="{CD7C2D01-D576-9AD9-2A83-671DC607F3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66087" t="29254" r="3590" b="48424"/>
            <a:stretch>
              <a:fillRect/>
            </a:stretch>
          </p:blipFill>
          <p:spPr bwMode="auto">
            <a:xfrm>
              <a:off x="4604" y="2523"/>
              <a:ext cx="546" cy="469"/>
            </a:xfrm>
            <a:prstGeom prst="rect">
              <a:avLst/>
            </a:prstGeom>
            <a:solidFill>
              <a:srgbClr val="FB4A0B"/>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9459" name="Text Box 10">
            <a:extLst>
              <a:ext uri="{FF2B5EF4-FFF2-40B4-BE49-F238E27FC236}">
                <a16:creationId xmlns:a16="http://schemas.microsoft.com/office/drawing/2014/main" id="{F479858A-875C-4AC9-CA3B-735708A50438}"/>
              </a:ext>
            </a:extLst>
          </p:cNvPr>
          <p:cNvSpPr txBox="1">
            <a:spLocks noChangeArrowheads="1"/>
          </p:cNvSpPr>
          <p:nvPr/>
        </p:nvSpPr>
        <p:spPr bwMode="auto">
          <a:xfrm>
            <a:off x="2207568" y="259046"/>
            <a:ext cx="75612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8000"/>
                </a:solidFill>
                <a:latin typeface="黑体" panose="02010609060101010101" pitchFamily="49" charset="-122"/>
                <a:ea typeface="黑体" panose="02010609060101010101" pitchFamily="49"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50000"/>
              </a:spcBef>
              <a:buClrTx/>
              <a:buFontTx/>
              <a:buNone/>
            </a:pPr>
            <a:r>
              <a:rPr lang="en-US" altLang="zh-CN" dirty="0">
                <a:solidFill>
                  <a:srgbClr val="0000CC"/>
                </a:solidFill>
                <a:latin typeface="Times New Roman" panose="02020603050405020304" pitchFamily="18" charset="0"/>
              </a:rPr>
              <a:t>1944</a:t>
            </a:r>
            <a:r>
              <a:rPr lang="zh-CN" altLang="en-US" dirty="0">
                <a:solidFill>
                  <a:srgbClr val="0000CC"/>
                </a:solidFill>
                <a:latin typeface="Times New Roman" panose="02020603050405020304" pitchFamily="18" charset="0"/>
              </a:rPr>
              <a:t>年，</a:t>
            </a:r>
            <a:r>
              <a:rPr lang="en-US" altLang="zh-CN" dirty="0">
                <a:solidFill>
                  <a:srgbClr val="0000CC"/>
                </a:solidFill>
                <a:latin typeface="Times New Roman" panose="02020603050405020304" pitchFamily="18" charset="0"/>
              </a:rPr>
              <a:t>Avery</a:t>
            </a:r>
            <a:r>
              <a:rPr lang="zh-CN" altLang="en-US" dirty="0">
                <a:solidFill>
                  <a:srgbClr val="0000CC"/>
                </a:solidFill>
                <a:latin typeface="Times New Roman" panose="02020603050405020304" pitchFamily="18" charset="0"/>
              </a:rPr>
              <a:t>的体外肺炎球菌转化实验</a:t>
            </a:r>
          </a:p>
        </p:txBody>
      </p:sp>
      <p:pic>
        <p:nvPicPr>
          <p:cNvPr id="904203" name="Picture 11" descr="oswald avery">
            <a:extLst>
              <a:ext uri="{FF2B5EF4-FFF2-40B4-BE49-F238E27FC236}">
                <a16:creationId xmlns:a16="http://schemas.microsoft.com/office/drawing/2014/main" id="{E34F0407-F5BF-FFB8-F06D-1DDCC5CC98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5776" y="2133601"/>
            <a:ext cx="3673475"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灯片编号占位符 2">
            <a:extLst>
              <a:ext uri="{FF2B5EF4-FFF2-40B4-BE49-F238E27FC236}">
                <a16:creationId xmlns:a16="http://schemas.microsoft.com/office/drawing/2014/main" id="{D2F5CD0A-322F-2328-D6F3-C65BE1BEFDD5}"/>
              </a:ext>
            </a:extLst>
          </p:cNvPr>
          <p:cNvSpPr>
            <a:spLocks noGrp="1"/>
          </p:cNvSpPr>
          <p:nvPr>
            <p:ph type="sldNum" sz="quarter" idx="4294967295"/>
          </p:nvPr>
        </p:nvSpPr>
        <p:spPr bwMode="auto">
          <a:xfrm>
            <a:off x="9912350" y="6492876"/>
            <a:ext cx="6937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8000"/>
                </a:solidFill>
                <a:latin typeface="黑体" panose="02010609060101010101" pitchFamily="49" charset="-122"/>
                <a:ea typeface="黑体" panose="02010609060101010101" pitchFamily="49" charset="-122"/>
              </a:defRPr>
            </a:lvl1pPr>
            <a:lvl2pPr indent="-285750">
              <a:spcBef>
                <a:spcPct val="20000"/>
              </a:spcBef>
              <a:buClr>
                <a:schemeClr val="tx2"/>
              </a:buClr>
              <a:buFont typeface="Wingdings" panose="05000000000000000000" pitchFamily="2" charset="2"/>
              <a:buChar char="§"/>
              <a:defRPr sz="2800">
                <a:solidFill>
                  <a:schemeClr val="tx1"/>
                </a:solidFill>
                <a:latin typeface="黑体" panose="02010609060101010101" pitchFamily="49" charset="-122"/>
                <a:ea typeface="黑体" panose="02010609060101010101" pitchFamily="49" charset="-122"/>
              </a:defRPr>
            </a:lvl2pPr>
            <a:lvl3pPr indent="-228600">
              <a:spcBef>
                <a:spcPct val="20000"/>
              </a:spcBef>
              <a:buClr>
                <a:schemeClr val="tx1"/>
              </a:buClr>
              <a:buChar char="•"/>
              <a:defRPr sz="2400">
                <a:solidFill>
                  <a:schemeClr val="tx1"/>
                </a:solidFill>
                <a:latin typeface="黑体" panose="02010609060101010101" pitchFamily="49" charset="-122"/>
                <a:ea typeface="黑体" panose="02010609060101010101" pitchFamily="49" charset="-122"/>
              </a:defRPr>
            </a:lvl3pPr>
            <a:lvl4pPr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spcBef>
                <a:spcPct val="0"/>
              </a:spcBef>
              <a:buClrTx/>
              <a:buFontTx/>
              <a:buNone/>
            </a:pPr>
            <a:fld id="{39D6EA4F-8D81-42B6-8B69-D41A4810D408}" type="slidenum">
              <a:rPr lang="zh-CN" altLang="en-US" sz="1200" b="0">
                <a:solidFill>
                  <a:srgbClr val="898F89"/>
                </a:solidFill>
                <a:latin typeface="微软雅黑" panose="020B0503020204020204" pitchFamily="34" charset="-122"/>
                <a:ea typeface="微软雅黑" panose="020B0503020204020204" pitchFamily="34" charset="-122"/>
              </a:rPr>
              <a:pPr>
                <a:spcBef>
                  <a:spcPct val="0"/>
                </a:spcBef>
                <a:buClrTx/>
                <a:buFontTx/>
                <a:buNone/>
              </a:pPr>
              <a:t>68</a:t>
            </a:fld>
            <a:endParaRPr lang="zh-CN" altLang="en-US" sz="1200" b="0">
              <a:solidFill>
                <a:srgbClr val="898F89"/>
              </a:solidFill>
              <a:latin typeface="微软雅黑" panose="020B0503020204020204" pitchFamily="34" charset="-122"/>
              <a:ea typeface="微软雅黑" panose="020B0503020204020204" pitchFamily="34"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xit" presetSubtype="16" fill="hold" nodeType="clickEffect">
                                  <p:stCondLst>
                                    <p:cond delay="0"/>
                                  </p:stCondLst>
                                  <p:childTnLst>
                                    <p:animEffect transition="out" filter="diamond(in)">
                                      <p:cBhvr>
                                        <p:cTn id="6" dur="1000"/>
                                        <p:tgtEl>
                                          <p:spTgt spid="904203"/>
                                        </p:tgtEl>
                                      </p:cBhvr>
                                    </p:animEffect>
                                    <p:set>
                                      <p:cBhvr>
                                        <p:cTn id="7" dur="1" fill="hold">
                                          <p:stCondLst>
                                            <p:cond delay="999"/>
                                          </p:stCondLst>
                                        </p:cTn>
                                        <p:tgtEl>
                                          <p:spTgt spid="904203"/>
                                        </p:tgtEl>
                                        <p:attrNameLst>
                                          <p:attrName>style.visibility</p:attrName>
                                        </p:attrNameLst>
                                      </p:cBhvr>
                                      <p:to>
                                        <p:strVal val="hidden"/>
                                      </p:to>
                                    </p:se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1506" name="图片 1">
            <a:extLst>
              <a:ext uri="{FF2B5EF4-FFF2-40B4-BE49-F238E27FC236}">
                <a16:creationId xmlns:a16="http://schemas.microsoft.com/office/drawing/2014/main" id="{BF4BA2F2-880C-FC9B-1BD8-36D9A0E93E9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文本框 2">
            <a:extLst>
              <a:ext uri="{FF2B5EF4-FFF2-40B4-BE49-F238E27FC236}">
                <a16:creationId xmlns:a16="http://schemas.microsoft.com/office/drawing/2014/main" id="{27264CCE-E2B7-FEB7-4FA7-8A5009959C9A}"/>
              </a:ext>
            </a:extLst>
          </p:cNvPr>
          <p:cNvSpPr txBox="1">
            <a:spLocks noChangeArrowheads="1"/>
          </p:cNvSpPr>
          <p:nvPr/>
        </p:nvSpPr>
        <p:spPr bwMode="auto">
          <a:xfrm>
            <a:off x="9120188" y="684213"/>
            <a:ext cx="1439862" cy="584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8000"/>
                </a:solidFill>
                <a:latin typeface="黑体" panose="02010609060101010101" pitchFamily="49" charset="-122"/>
                <a:ea typeface="黑体" panose="02010609060101010101" pitchFamily="49"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spcBef>
                <a:spcPct val="0"/>
              </a:spcBef>
              <a:buClrTx/>
              <a:buFontTx/>
              <a:buNone/>
            </a:pPr>
            <a:r>
              <a:rPr lang="en-US" altLang="zh-CN" sz="3200">
                <a:solidFill>
                  <a:srgbClr val="FF0000"/>
                </a:solidFill>
                <a:latin typeface="Times New Roman" panose="02020603050405020304" pitchFamily="18" charset="0"/>
                <a:ea typeface="宋体" panose="02010600030101010101" pitchFamily="2" charset="-122"/>
              </a:rPr>
              <a:t>1952</a:t>
            </a:r>
            <a:r>
              <a:rPr lang="zh-CN" altLang="en-US" sz="3200">
                <a:solidFill>
                  <a:srgbClr val="FF0000"/>
                </a:solidFill>
                <a:latin typeface="Times New Roman" panose="02020603050405020304" pitchFamily="18" charset="0"/>
                <a:ea typeface="宋体" panose="02010600030101010101" pitchFamily="2" charset="-122"/>
              </a:rPr>
              <a:t>年</a:t>
            </a:r>
          </a:p>
        </p:txBody>
      </p:sp>
    </p:spTree>
  </p:cSld>
  <p:clrMapOvr>
    <a:masterClrMapping/>
  </p:clrMapOvr>
  <p:transition spd="slow">
    <p:circl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7A061-8E88-D21A-71B5-9EDFFE04204E}"/>
            </a:ext>
          </a:extLst>
        </p:cNvPr>
        <p:cNvGrpSpPr/>
        <p:nvPr/>
      </p:nvGrpSpPr>
      <p:grpSpPr>
        <a:xfrm>
          <a:off x="0" y="0"/>
          <a:ext cx="0" cy="0"/>
          <a:chOff x="0" y="0"/>
          <a:chExt cx="0" cy="0"/>
        </a:xfrm>
      </p:grpSpPr>
      <p:sp>
        <p:nvSpPr>
          <p:cNvPr id="190466" name="Rectangle 3">
            <a:extLst>
              <a:ext uri="{FF2B5EF4-FFF2-40B4-BE49-F238E27FC236}">
                <a16:creationId xmlns:a16="http://schemas.microsoft.com/office/drawing/2014/main" id="{1FF1569D-3B2E-06E1-724B-7368347C495A}"/>
              </a:ext>
            </a:extLst>
          </p:cNvPr>
          <p:cNvSpPr>
            <a:spLocks noChangeArrowheads="1"/>
          </p:cNvSpPr>
          <p:nvPr/>
        </p:nvSpPr>
        <p:spPr bwMode="auto">
          <a:xfrm>
            <a:off x="1523492" y="836712"/>
            <a:ext cx="9505056" cy="2047548"/>
          </a:xfrm>
          <a:prstGeom prst="rect">
            <a:avLst/>
          </a:prstGeom>
          <a:noFill/>
          <a:ln>
            <a:noFill/>
          </a:ln>
        </p:spPr>
        <p:txBody>
          <a:bodyPr wrap="square" anchor="ctr">
            <a:spAutoFit/>
          </a:bodyPr>
          <a:lstStyle>
            <a:lvl1pPr indent="720725">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indent="0" algn="just" eaLnBrk="1" hangingPunct="1">
              <a:lnSpc>
                <a:spcPct val="150000"/>
              </a:lnSpc>
              <a:spcBef>
                <a:spcPct val="0"/>
              </a:spcBef>
              <a:buClrTx/>
              <a:buNone/>
              <a:defRPr/>
            </a:pPr>
            <a:r>
              <a:rPr lang="en-US" altLang="zh-CN" sz="3200" b="0" dirty="0">
                <a:solidFill>
                  <a:srgbClr val="C00000"/>
                </a:solidFill>
                <a:latin typeface="微软雅黑" panose="020B0503020204020204" pitchFamily="34" charset="-122"/>
                <a:ea typeface="微软雅黑" panose="020B0503020204020204" pitchFamily="34" charset="-122"/>
              </a:rPr>
              <a:t>DNA</a:t>
            </a:r>
            <a:r>
              <a:rPr lang="zh-CN" altLang="en-US" sz="3200" b="0" dirty="0">
                <a:solidFill>
                  <a:srgbClr val="C00000"/>
                </a:solidFill>
                <a:latin typeface="微软雅黑" panose="020B0503020204020204" pitchFamily="34" charset="-122"/>
                <a:ea typeface="微软雅黑" panose="020B0503020204020204" pitchFamily="34" charset="-122"/>
              </a:rPr>
              <a:t>的基本功能：</a:t>
            </a:r>
            <a:r>
              <a:rPr lang="zh-CN" altLang="en-US" b="0" dirty="0">
                <a:solidFill>
                  <a:schemeClr val="tx1"/>
                </a:solidFill>
                <a:latin typeface="微软雅黑" panose="020B0503020204020204" pitchFamily="34" charset="-122"/>
                <a:ea typeface="微软雅黑" panose="020B0503020204020204" pitchFamily="34" charset="-122"/>
              </a:rPr>
              <a:t>　以</a:t>
            </a:r>
            <a:r>
              <a:rPr lang="zh-CN" altLang="en-US" b="0" dirty="0">
                <a:solidFill>
                  <a:srgbClr val="0000CC"/>
                </a:solidFill>
                <a:latin typeface="微软雅黑" panose="020B0503020204020204" pitchFamily="34" charset="-122"/>
                <a:ea typeface="微软雅黑" panose="020B0503020204020204" pitchFamily="34" charset="-122"/>
              </a:rPr>
              <a:t>基因</a:t>
            </a:r>
            <a:r>
              <a:rPr lang="zh-CN" altLang="en-US" b="0" dirty="0">
                <a:solidFill>
                  <a:schemeClr val="tx1"/>
                </a:solidFill>
                <a:latin typeface="微软雅黑" panose="020B0503020204020204" pitchFamily="34" charset="-122"/>
                <a:ea typeface="微软雅黑" panose="020B0503020204020204" pitchFamily="34" charset="-122"/>
              </a:rPr>
              <a:t>的形式荷载遗传信息，并作为基因复制和转录的模板。</a:t>
            </a:r>
            <a:r>
              <a:rPr kumimoji="0" lang="en-US" altLang="zh-CN" b="0" dirty="0">
                <a:solidFill>
                  <a:srgbClr val="0000CC"/>
                </a:solidFill>
                <a:latin typeface="微软雅黑" panose="020B0503020204020204" pitchFamily="34" charset="-122"/>
                <a:ea typeface="微软雅黑" panose="020B0503020204020204" pitchFamily="34" charset="-122"/>
              </a:rPr>
              <a:t>DNA</a:t>
            </a:r>
            <a:r>
              <a:rPr kumimoji="0" lang="zh-CN" altLang="en-US" b="0" dirty="0">
                <a:solidFill>
                  <a:srgbClr val="0000CC"/>
                </a:solidFill>
                <a:latin typeface="微软雅黑" panose="020B0503020204020204" pitchFamily="34" charset="-122"/>
                <a:ea typeface="微软雅黑" panose="020B0503020204020204" pitchFamily="34" charset="-122"/>
              </a:rPr>
              <a:t>是遗传的物质基础，</a:t>
            </a:r>
            <a:r>
              <a:rPr kumimoji="0" lang="zh-CN" altLang="en-US" b="0" dirty="0">
                <a:solidFill>
                  <a:schemeClr val="tx1"/>
                </a:solidFill>
                <a:latin typeface="微软雅黑" panose="020B0503020204020204" pitchFamily="34" charset="-122"/>
                <a:ea typeface="微软雅黑" panose="020B0503020204020204" pitchFamily="34" charset="-122"/>
              </a:rPr>
              <a:t>也是个体生命活动的信息基础。</a:t>
            </a:r>
            <a:endParaRPr lang="zh-CN" altLang="en-US" sz="3200" b="0" dirty="0">
              <a:solidFill>
                <a:schemeClr val="tx1"/>
              </a:solidFill>
              <a:latin typeface="微软雅黑" panose="020B0503020204020204" pitchFamily="34" charset="-122"/>
              <a:ea typeface="微软雅黑" panose="020B0503020204020204" pitchFamily="34" charset="-122"/>
            </a:endParaRPr>
          </a:p>
        </p:txBody>
      </p:sp>
      <p:sp>
        <p:nvSpPr>
          <p:cNvPr id="199682" name="Rectangle 4">
            <a:extLst>
              <a:ext uri="{FF2B5EF4-FFF2-40B4-BE49-F238E27FC236}">
                <a16:creationId xmlns:a16="http://schemas.microsoft.com/office/drawing/2014/main" id="{878D45DB-0645-43D1-8CDB-1609C6F97658}"/>
              </a:ext>
            </a:extLst>
          </p:cNvPr>
          <p:cNvSpPr>
            <a:spLocks noChangeArrowheads="1"/>
          </p:cNvSpPr>
          <p:nvPr/>
        </p:nvSpPr>
        <p:spPr bwMode="auto">
          <a:xfrm>
            <a:off x="1271464" y="3188935"/>
            <a:ext cx="10189132" cy="2452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720725">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indent="0" algn="just" eaLnBrk="1" hangingPunct="1">
              <a:lnSpc>
                <a:spcPct val="120000"/>
              </a:lnSpc>
              <a:spcBef>
                <a:spcPct val="0"/>
              </a:spcBef>
              <a:buClrTx/>
              <a:buNone/>
            </a:pPr>
            <a:r>
              <a:rPr lang="zh-CN" altLang="en-US" sz="2600" b="0" dirty="0">
                <a:solidFill>
                  <a:srgbClr val="FF0000"/>
                </a:solidFill>
              </a:rPr>
              <a:t>基因</a:t>
            </a:r>
            <a:r>
              <a:rPr kumimoji="0" lang="en-US" altLang="zh-CN" sz="2600" b="0" dirty="0">
                <a:solidFill>
                  <a:srgbClr val="FF0000"/>
                </a:solidFill>
              </a:rPr>
              <a:t>(gene)</a:t>
            </a:r>
            <a:r>
              <a:rPr lang="en-US" altLang="zh-CN" sz="2600" b="0" dirty="0">
                <a:solidFill>
                  <a:schemeClr val="tx1"/>
                </a:solidFill>
              </a:rPr>
              <a:t> </a:t>
            </a:r>
            <a:r>
              <a:rPr lang="zh-CN" altLang="en-US" sz="2600" b="0" dirty="0">
                <a:solidFill>
                  <a:srgbClr val="FF0000"/>
                </a:solidFill>
              </a:rPr>
              <a:t>：</a:t>
            </a:r>
            <a:r>
              <a:rPr kumimoji="0" lang="zh-CN" altLang="en-US" sz="2600" b="0" dirty="0">
                <a:solidFill>
                  <a:srgbClr val="000000"/>
                </a:solidFill>
              </a:rPr>
              <a:t>合成有功能的</a:t>
            </a:r>
            <a:r>
              <a:rPr kumimoji="0" lang="zh-CN" altLang="en-US" sz="2600" b="0" dirty="0">
                <a:solidFill>
                  <a:srgbClr val="0000CC"/>
                </a:solidFill>
              </a:rPr>
              <a:t>蛋白质</a:t>
            </a:r>
            <a:r>
              <a:rPr kumimoji="0" lang="zh-CN" altLang="en-US" sz="2600" b="0" dirty="0">
                <a:solidFill>
                  <a:srgbClr val="000000"/>
                </a:solidFill>
              </a:rPr>
              <a:t>或</a:t>
            </a:r>
            <a:r>
              <a:rPr kumimoji="0" lang="en-US" altLang="zh-CN" sz="2600" b="0" dirty="0">
                <a:solidFill>
                  <a:srgbClr val="0000CC"/>
                </a:solidFill>
              </a:rPr>
              <a:t>RNA</a:t>
            </a:r>
            <a:r>
              <a:rPr kumimoji="0" lang="zh-CN" altLang="en-US" sz="2600" b="0" dirty="0">
                <a:solidFill>
                  <a:srgbClr val="000000"/>
                </a:solidFill>
              </a:rPr>
              <a:t>所必需的全部核苷酸序列。</a:t>
            </a:r>
            <a:endParaRPr kumimoji="0" lang="en-US" altLang="zh-CN" sz="2600" b="0" dirty="0">
              <a:solidFill>
                <a:srgbClr val="000000"/>
              </a:solidFill>
            </a:endParaRPr>
          </a:p>
          <a:p>
            <a:pPr indent="0" algn="just" eaLnBrk="1" hangingPunct="1">
              <a:lnSpc>
                <a:spcPct val="120000"/>
              </a:lnSpc>
              <a:spcBef>
                <a:spcPct val="0"/>
              </a:spcBef>
              <a:buClrTx/>
              <a:buNone/>
            </a:pPr>
            <a:endParaRPr lang="en-US" altLang="zh-CN" sz="2600" b="0" dirty="0">
              <a:solidFill>
                <a:srgbClr val="FF0000"/>
              </a:solidFill>
            </a:endParaRPr>
          </a:p>
          <a:p>
            <a:pPr indent="0" algn="just" eaLnBrk="1" hangingPunct="1">
              <a:lnSpc>
                <a:spcPct val="120000"/>
              </a:lnSpc>
              <a:spcBef>
                <a:spcPct val="0"/>
              </a:spcBef>
              <a:buClrTx/>
              <a:buNone/>
            </a:pPr>
            <a:r>
              <a:rPr lang="zh-CN" altLang="en-US" sz="2600" b="0" dirty="0">
                <a:solidFill>
                  <a:srgbClr val="FF0000"/>
                </a:solidFill>
              </a:rPr>
              <a:t>基因组</a:t>
            </a:r>
            <a:r>
              <a:rPr kumimoji="0" lang="en-US" altLang="zh-CN" sz="2600" b="0" dirty="0">
                <a:solidFill>
                  <a:srgbClr val="FF0000"/>
                </a:solidFill>
              </a:rPr>
              <a:t>(Genome)</a:t>
            </a:r>
            <a:r>
              <a:rPr lang="en-US" altLang="zh-CN" sz="2600" b="0" dirty="0">
                <a:solidFill>
                  <a:schemeClr val="tx1"/>
                </a:solidFill>
              </a:rPr>
              <a:t> </a:t>
            </a:r>
            <a:r>
              <a:rPr lang="zh-CN" altLang="en-US" sz="2600" b="0" dirty="0">
                <a:solidFill>
                  <a:srgbClr val="FF0000"/>
                </a:solidFill>
              </a:rPr>
              <a:t>：</a:t>
            </a:r>
            <a:r>
              <a:rPr lang="zh-CN" altLang="en-US" sz="2600" b="0" dirty="0">
                <a:solidFill>
                  <a:srgbClr val="000000"/>
                </a:solidFill>
              </a:rPr>
              <a:t>是指一种生物体中的整套遗传信息，一般为一个受精卵或一个体细胞中所有</a:t>
            </a:r>
            <a:r>
              <a:rPr lang="en-US" altLang="zh-CN" sz="2600" b="0" dirty="0">
                <a:solidFill>
                  <a:srgbClr val="000000"/>
                </a:solidFill>
              </a:rPr>
              <a:t>DNA</a:t>
            </a:r>
            <a:r>
              <a:rPr lang="zh-CN" altLang="en-US" sz="2600" b="0" dirty="0">
                <a:solidFill>
                  <a:srgbClr val="000000"/>
                </a:solidFill>
              </a:rPr>
              <a:t>分子的总和。</a:t>
            </a:r>
          </a:p>
          <a:p>
            <a:pPr algn="just" eaLnBrk="1" hangingPunct="1">
              <a:lnSpc>
                <a:spcPct val="120000"/>
              </a:lnSpc>
              <a:spcBef>
                <a:spcPct val="0"/>
              </a:spcBef>
              <a:buClrTx/>
            </a:pPr>
            <a:endParaRPr lang="zh-CN" altLang="en-US" sz="2600" b="0" dirty="0">
              <a:solidFill>
                <a:srgbClr val="000000"/>
              </a:solidFill>
            </a:endParaRPr>
          </a:p>
        </p:txBody>
      </p:sp>
    </p:spTree>
    <p:extLst>
      <p:ext uri="{BB962C8B-B14F-4D97-AF65-F5344CB8AC3E}">
        <p14:creationId xmlns:p14="http://schemas.microsoft.com/office/powerpoint/2010/main" val="3475047711"/>
      </p:ext>
    </p:extLst>
  </p:cSld>
  <p:clrMapOvr>
    <a:masterClrMapping/>
  </p:clrMapOvr>
  <p:transition spd="slow">
    <p:circl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2BD1866-43FA-1A63-6930-A796B3FDD76E}"/>
              </a:ext>
            </a:extLst>
          </p:cNvPr>
          <p:cNvPicPr>
            <a:picLocks noChangeAspect="1"/>
          </p:cNvPicPr>
          <p:nvPr/>
        </p:nvPicPr>
        <p:blipFill>
          <a:blip r:embed="rId3"/>
          <a:stretch>
            <a:fillRect/>
          </a:stretch>
        </p:blipFill>
        <p:spPr>
          <a:xfrm>
            <a:off x="7320136" y="0"/>
            <a:ext cx="3577328" cy="6858000"/>
          </a:xfrm>
          <a:prstGeom prst="rect">
            <a:avLst/>
          </a:prstGeom>
        </p:spPr>
      </p:pic>
      <p:sp>
        <p:nvSpPr>
          <p:cNvPr id="4" name="文本框 3">
            <a:extLst>
              <a:ext uri="{FF2B5EF4-FFF2-40B4-BE49-F238E27FC236}">
                <a16:creationId xmlns:a16="http://schemas.microsoft.com/office/drawing/2014/main" id="{E2619B0A-5C8D-1782-20A8-F6A9773050F1}"/>
              </a:ext>
            </a:extLst>
          </p:cNvPr>
          <p:cNvSpPr txBox="1"/>
          <p:nvPr/>
        </p:nvSpPr>
        <p:spPr>
          <a:xfrm>
            <a:off x="1487488" y="332656"/>
            <a:ext cx="6097314" cy="461665"/>
          </a:xfrm>
          <a:prstGeom prst="rect">
            <a:avLst/>
          </a:prstGeom>
          <a:noFill/>
        </p:spPr>
        <p:txBody>
          <a:bodyPr wrap="square">
            <a:spAutoFit/>
          </a:bodyPr>
          <a:lstStyle/>
          <a:p>
            <a:r>
              <a:rPr lang="zh-CN" altLang="en-US" dirty="0">
                <a:solidFill>
                  <a:srgbClr val="0000CC"/>
                </a:solidFill>
                <a:latin typeface="微软雅黑" panose="020B0503020204020204" pitchFamily="34" charset="-122"/>
                <a:ea typeface="微软雅黑" panose="020B0503020204020204" pitchFamily="34" charset="-122"/>
              </a:rPr>
              <a:t>人类染色体大小及所含蛋白编码基因数量 </a:t>
            </a:r>
          </a:p>
        </p:txBody>
      </p:sp>
      <p:pic>
        <p:nvPicPr>
          <p:cNvPr id="6" name="图片 5">
            <a:extLst>
              <a:ext uri="{FF2B5EF4-FFF2-40B4-BE49-F238E27FC236}">
                <a16:creationId xmlns:a16="http://schemas.microsoft.com/office/drawing/2014/main" id="{F0ACEFCA-FD48-BF2A-A47A-23712E61079B}"/>
              </a:ext>
            </a:extLst>
          </p:cNvPr>
          <p:cNvPicPr>
            <a:picLocks noChangeAspect="1"/>
          </p:cNvPicPr>
          <p:nvPr/>
        </p:nvPicPr>
        <p:blipFill>
          <a:blip r:embed="rId4"/>
          <a:stretch>
            <a:fillRect/>
          </a:stretch>
        </p:blipFill>
        <p:spPr>
          <a:xfrm>
            <a:off x="2164716" y="1412776"/>
            <a:ext cx="4742857" cy="3657143"/>
          </a:xfrm>
          <a:prstGeom prst="rect">
            <a:avLst/>
          </a:prstGeom>
        </p:spPr>
      </p:pic>
      <p:sp>
        <p:nvSpPr>
          <p:cNvPr id="8" name="文本框 7">
            <a:extLst>
              <a:ext uri="{FF2B5EF4-FFF2-40B4-BE49-F238E27FC236}">
                <a16:creationId xmlns:a16="http://schemas.microsoft.com/office/drawing/2014/main" id="{BA6F882D-C985-7603-9ACC-3FF0A24627EE}"/>
              </a:ext>
            </a:extLst>
          </p:cNvPr>
          <p:cNvSpPr txBox="1"/>
          <p:nvPr/>
        </p:nvSpPr>
        <p:spPr>
          <a:xfrm>
            <a:off x="2649359" y="5247532"/>
            <a:ext cx="4464496" cy="461665"/>
          </a:xfrm>
          <a:prstGeom prst="rect">
            <a:avLst/>
          </a:prstGeom>
          <a:noFill/>
        </p:spPr>
        <p:txBody>
          <a:bodyPr wrap="square">
            <a:spAutoFit/>
          </a:bodyPr>
          <a:lstStyle/>
          <a:p>
            <a:r>
              <a:rPr lang="en-US" altLang="zh-CN" dirty="0" err="1"/>
              <a:t>Karyogram</a:t>
            </a:r>
            <a:r>
              <a:rPr lang="en-US" altLang="zh-CN" dirty="0"/>
              <a:t> of a human male</a:t>
            </a:r>
            <a:endParaRPr lang="zh-CN" altLang="en-US" dirty="0"/>
          </a:p>
        </p:txBody>
      </p:sp>
    </p:spTree>
    <p:extLst>
      <p:ext uri="{BB962C8B-B14F-4D97-AF65-F5344CB8AC3E}">
        <p14:creationId xmlns:p14="http://schemas.microsoft.com/office/powerpoint/2010/main" val="1472107709"/>
      </p:ext>
    </p:extLst>
  </p:cSld>
  <p:clrMapOvr>
    <a:masterClrMapping/>
  </p:clrMapOvr>
  <p:transition spd="slow">
    <p:circle/>
  </p:transition>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1730" name="标题 1">
            <a:extLst>
              <a:ext uri="{FF2B5EF4-FFF2-40B4-BE49-F238E27FC236}">
                <a16:creationId xmlns:a16="http://schemas.microsoft.com/office/drawing/2014/main" id="{127B3A85-9BF8-4FFA-9947-4EC41FB4C2CF}"/>
              </a:ext>
            </a:extLst>
          </p:cNvPr>
          <p:cNvSpPr>
            <a:spLocks noGrp="1" noChangeArrowheads="1"/>
          </p:cNvSpPr>
          <p:nvPr>
            <p:ph type="title"/>
          </p:nvPr>
        </p:nvSpPr>
        <p:spPr>
          <a:xfrm>
            <a:off x="1524000" y="71439"/>
            <a:ext cx="9144000" cy="1125537"/>
          </a:xfrm>
          <a:solidFill>
            <a:srgbClr val="215D34"/>
          </a:solidFill>
        </p:spPr>
        <p:txBody>
          <a:bodyPr/>
          <a:lstStyle/>
          <a:p>
            <a:pPr algn="just"/>
            <a:r>
              <a:rPr lang="zh-CN" altLang="en-US">
                <a:solidFill>
                  <a:schemeClr val="bg1"/>
                </a:solidFill>
              </a:rPr>
              <a:t>美国国家生物技术信息中心 </a:t>
            </a:r>
            <a:r>
              <a:rPr lang="en-US" altLang="zh-CN">
                <a:solidFill>
                  <a:schemeClr val="bg1"/>
                </a:solidFill>
              </a:rPr>
              <a:t>National Center for Biotechnology Information(</a:t>
            </a:r>
            <a:r>
              <a:rPr lang="en-US" altLang="zh-CN">
                <a:solidFill>
                  <a:srgbClr val="FFFF00"/>
                </a:solidFill>
              </a:rPr>
              <a:t>NCBI</a:t>
            </a:r>
            <a:r>
              <a:rPr lang="en-US" altLang="zh-CN">
                <a:solidFill>
                  <a:schemeClr val="bg1"/>
                </a:solidFill>
              </a:rPr>
              <a:t>)</a:t>
            </a:r>
            <a:r>
              <a:rPr lang="zh-CN" altLang="en-US">
                <a:solidFill>
                  <a:schemeClr val="bg1"/>
                </a:solidFill>
              </a:rPr>
              <a:t> </a:t>
            </a:r>
          </a:p>
        </p:txBody>
      </p:sp>
      <p:pic>
        <p:nvPicPr>
          <p:cNvPr id="201731" name="图片 3">
            <a:extLst>
              <a:ext uri="{FF2B5EF4-FFF2-40B4-BE49-F238E27FC236}">
                <a16:creationId xmlns:a16="http://schemas.microsoft.com/office/drawing/2014/main" id="{629DEFD0-F2C2-4173-A672-71B3DD0D5AF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1341438"/>
            <a:ext cx="9129713" cy="542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732" name="矩形 7">
            <a:extLst>
              <a:ext uri="{FF2B5EF4-FFF2-40B4-BE49-F238E27FC236}">
                <a16:creationId xmlns:a16="http://schemas.microsoft.com/office/drawing/2014/main" id="{9097DD81-39B7-4CF7-9F19-2499E3C7BB5B}"/>
              </a:ext>
            </a:extLst>
          </p:cNvPr>
          <p:cNvSpPr>
            <a:spLocks noChangeArrowheads="1"/>
          </p:cNvSpPr>
          <p:nvPr/>
        </p:nvSpPr>
        <p:spPr bwMode="auto">
          <a:xfrm>
            <a:off x="5087939" y="1628776"/>
            <a:ext cx="3940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2400" b="0" dirty="0">
                <a:solidFill>
                  <a:schemeClr val="tx1"/>
                </a:solidFill>
                <a:latin typeface="Times New Roman" panose="02020603050405020304" pitchFamily="18" charset="0"/>
                <a:ea typeface="宋体" panose="02010600030101010101" pitchFamily="2" charset="-122"/>
              </a:rPr>
              <a:t>https://www.ncbi.nlm.nih.gov/</a:t>
            </a:r>
            <a:endParaRPr lang="zh-CN" altLang="en-US" sz="2400" b="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spd="slow">
    <p:circle/>
  </p:transition>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3778" name="Text Box 2">
            <a:extLst>
              <a:ext uri="{FF2B5EF4-FFF2-40B4-BE49-F238E27FC236}">
                <a16:creationId xmlns:a16="http://schemas.microsoft.com/office/drawing/2014/main" id="{9CCE91F1-80EC-467B-83A3-0D6DC55195D4}"/>
              </a:ext>
            </a:extLst>
          </p:cNvPr>
          <p:cNvSpPr txBox="1">
            <a:spLocks noChangeArrowheads="1"/>
          </p:cNvSpPr>
          <p:nvPr/>
        </p:nvSpPr>
        <p:spPr bwMode="auto">
          <a:xfrm>
            <a:off x="1847851" y="1412876"/>
            <a:ext cx="8640763"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just" eaLnBrk="1" hangingPunct="1">
              <a:lnSpc>
                <a:spcPct val="120000"/>
              </a:lnSpc>
              <a:spcBef>
                <a:spcPct val="50000"/>
              </a:spcBef>
              <a:buClrTx/>
              <a:buFontTx/>
              <a:buAutoNum type="arabicPeriod"/>
            </a:pPr>
            <a:r>
              <a:rPr lang="zh-CN" altLang="en-US" sz="2400" b="0" dirty="0">
                <a:solidFill>
                  <a:schemeClr val="tx1"/>
                </a:solidFill>
                <a:latin typeface="Times New Roman" panose="02020603050405020304" pitchFamily="18" charset="0"/>
                <a:ea typeface="黑体" panose="02010609060101010101" pitchFamily="49" charset="-122"/>
              </a:rPr>
              <a:t>常见核苷酸的结构、符号</a:t>
            </a:r>
            <a:r>
              <a:rPr lang="en-US" altLang="zh-CN" sz="2400" b="0" dirty="0">
                <a:solidFill>
                  <a:schemeClr val="tx1"/>
                </a:solidFill>
                <a:latin typeface="Times New Roman" panose="02020603050405020304" pitchFamily="18" charset="0"/>
                <a:ea typeface="黑体" panose="02010609060101010101" pitchFamily="49" charset="-122"/>
              </a:rPr>
              <a:t>, </a:t>
            </a:r>
            <a:r>
              <a:rPr lang="zh-CN" altLang="en-US" sz="2400" b="0" dirty="0">
                <a:solidFill>
                  <a:schemeClr val="tx1"/>
                </a:solidFill>
                <a:latin typeface="Times New Roman" panose="02020603050405020304" pitchFamily="18" charset="0"/>
                <a:ea typeface="黑体" panose="02010609060101010101" pitchFamily="49" charset="-122"/>
              </a:rPr>
              <a:t>戊糖与碱基、磷酸的连接方式。</a:t>
            </a:r>
          </a:p>
          <a:p>
            <a:pPr algn="just" eaLnBrk="1" hangingPunct="1">
              <a:lnSpc>
                <a:spcPct val="120000"/>
              </a:lnSpc>
              <a:spcBef>
                <a:spcPct val="50000"/>
              </a:spcBef>
              <a:buClrTx/>
              <a:buFontTx/>
              <a:buAutoNum type="arabicPeriod"/>
            </a:pPr>
            <a:r>
              <a:rPr lang="zh-CN" altLang="en-US" sz="2400" b="0" dirty="0">
                <a:solidFill>
                  <a:srgbClr val="C00000"/>
                </a:solidFill>
                <a:latin typeface="Times New Roman" panose="02020603050405020304" pitchFamily="18" charset="0"/>
                <a:ea typeface="黑体" panose="02010609060101010101" pitchFamily="49" charset="-122"/>
              </a:rPr>
              <a:t>核酸分子中核苷酸的连接方式，核酸一级结构及其表示法。</a:t>
            </a:r>
          </a:p>
          <a:p>
            <a:pPr algn="just" eaLnBrk="1" hangingPunct="1">
              <a:lnSpc>
                <a:spcPct val="120000"/>
              </a:lnSpc>
              <a:spcBef>
                <a:spcPct val="50000"/>
              </a:spcBef>
              <a:buClrTx/>
              <a:buFontTx/>
              <a:buAutoNum type="arabicPeriod"/>
            </a:pPr>
            <a:r>
              <a:rPr lang="en-US" altLang="zh-CN" sz="2400" b="0" dirty="0">
                <a:solidFill>
                  <a:srgbClr val="C00000"/>
                </a:solidFill>
                <a:latin typeface="Times New Roman" panose="02020603050405020304" pitchFamily="18" charset="0"/>
                <a:ea typeface="黑体" panose="02010609060101010101" pitchFamily="49" charset="-122"/>
              </a:rPr>
              <a:t>DNA</a:t>
            </a:r>
            <a:r>
              <a:rPr lang="zh-CN" altLang="en-US" sz="2400" b="0" dirty="0">
                <a:solidFill>
                  <a:srgbClr val="C00000"/>
                </a:solidFill>
                <a:latin typeface="Times New Roman" panose="02020603050405020304" pitchFamily="18" charset="0"/>
                <a:ea typeface="黑体" panose="02010609060101010101" pitchFamily="49" charset="-122"/>
              </a:rPr>
              <a:t>和</a:t>
            </a:r>
            <a:r>
              <a:rPr lang="en-US" altLang="zh-CN" sz="2400" b="0" dirty="0">
                <a:solidFill>
                  <a:srgbClr val="C00000"/>
                </a:solidFill>
                <a:latin typeface="Times New Roman" panose="02020603050405020304" pitchFamily="18" charset="0"/>
                <a:ea typeface="黑体" panose="02010609060101010101" pitchFamily="49" charset="-122"/>
              </a:rPr>
              <a:t>RNA</a:t>
            </a:r>
            <a:r>
              <a:rPr lang="zh-CN" altLang="en-US" sz="2400" b="0" dirty="0">
                <a:solidFill>
                  <a:srgbClr val="C00000"/>
                </a:solidFill>
                <a:latin typeface="Times New Roman" panose="02020603050405020304" pitchFamily="18" charset="0"/>
                <a:ea typeface="黑体" panose="02010609060101010101" pitchFamily="49" charset="-122"/>
              </a:rPr>
              <a:t>的分子组成异同</a:t>
            </a:r>
            <a:r>
              <a:rPr lang="zh-CN" altLang="en-US" sz="2400" b="0" dirty="0">
                <a:solidFill>
                  <a:schemeClr val="tx1"/>
                </a:solidFill>
                <a:latin typeface="Times New Roman" panose="02020603050405020304" pitchFamily="18" charset="0"/>
                <a:ea typeface="黑体" panose="02010609060101010101" pitchFamily="49" charset="-122"/>
              </a:rPr>
              <a:t>。</a:t>
            </a:r>
          </a:p>
          <a:p>
            <a:pPr algn="just" eaLnBrk="1" hangingPunct="1">
              <a:lnSpc>
                <a:spcPct val="120000"/>
              </a:lnSpc>
              <a:spcBef>
                <a:spcPct val="50000"/>
              </a:spcBef>
              <a:buClrTx/>
              <a:buFontTx/>
              <a:buAutoNum type="arabicPeriod"/>
            </a:pPr>
            <a:r>
              <a:rPr lang="en-US" altLang="zh-CN" sz="2400" b="0" dirty="0">
                <a:solidFill>
                  <a:srgbClr val="CC0000"/>
                </a:solidFill>
                <a:latin typeface="Times New Roman" panose="02020603050405020304" pitchFamily="18" charset="0"/>
                <a:ea typeface="黑体" panose="02010609060101010101" pitchFamily="49" charset="-122"/>
              </a:rPr>
              <a:t>DNA</a:t>
            </a:r>
            <a:r>
              <a:rPr lang="zh-CN" altLang="en-US" sz="2400" b="0" dirty="0">
                <a:solidFill>
                  <a:srgbClr val="CC0000"/>
                </a:solidFill>
                <a:latin typeface="Times New Roman" panose="02020603050405020304" pitchFamily="18" charset="0"/>
                <a:ea typeface="黑体" panose="02010609060101010101" pitchFamily="49" charset="-122"/>
              </a:rPr>
              <a:t>二级结构的特点。</a:t>
            </a:r>
          </a:p>
          <a:p>
            <a:pPr algn="just" eaLnBrk="1" hangingPunct="1">
              <a:lnSpc>
                <a:spcPct val="120000"/>
              </a:lnSpc>
              <a:spcBef>
                <a:spcPct val="50000"/>
              </a:spcBef>
              <a:buClrTx/>
              <a:buFontTx/>
              <a:buAutoNum type="arabicPeriod"/>
            </a:pPr>
            <a:r>
              <a:rPr lang="zh-CN" altLang="en-US" sz="2400" b="0" dirty="0">
                <a:solidFill>
                  <a:schemeClr val="tx1"/>
                </a:solidFill>
                <a:latin typeface="Times New Roman" panose="02020603050405020304" pitchFamily="18" charset="0"/>
                <a:ea typeface="黑体" panose="02010609060101010101" pitchFamily="49" charset="-122"/>
              </a:rPr>
              <a:t>真核生物染色体的基本单位</a:t>
            </a:r>
            <a:r>
              <a:rPr lang="en-US" altLang="zh-CN" sz="2400" b="0" dirty="0">
                <a:solidFill>
                  <a:schemeClr val="tx1"/>
                </a:solidFill>
                <a:latin typeface="Times New Roman" panose="02020603050405020304" pitchFamily="18" charset="0"/>
                <a:ea typeface="黑体" panose="02010609060101010101" pitchFamily="49" charset="-122"/>
              </a:rPr>
              <a:t>-</a:t>
            </a:r>
            <a:r>
              <a:rPr lang="zh-CN" altLang="en-US" sz="2400" b="0" dirty="0">
                <a:solidFill>
                  <a:srgbClr val="CC0000"/>
                </a:solidFill>
                <a:latin typeface="Times New Roman" panose="02020603050405020304" pitchFamily="18" charset="0"/>
                <a:ea typeface="黑体" panose="02010609060101010101" pitchFamily="49" charset="-122"/>
              </a:rPr>
              <a:t>核小体的组成</a:t>
            </a:r>
            <a:r>
              <a:rPr lang="zh-CN" altLang="en-US" sz="2400" b="0" dirty="0">
                <a:solidFill>
                  <a:schemeClr val="tx1"/>
                </a:solidFill>
                <a:latin typeface="Times New Roman" panose="02020603050405020304" pitchFamily="18" charset="0"/>
                <a:ea typeface="黑体" panose="02010609060101010101" pitchFamily="49" charset="-122"/>
              </a:rPr>
              <a:t>。</a:t>
            </a:r>
          </a:p>
          <a:p>
            <a:pPr algn="just" eaLnBrk="1" hangingPunct="1">
              <a:lnSpc>
                <a:spcPct val="120000"/>
              </a:lnSpc>
              <a:spcBef>
                <a:spcPct val="50000"/>
              </a:spcBef>
              <a:buClrTx/>
              <a:buFontTx/>
              <a:buAutoNum type="arabicPeriod"/>
            </a:pPr>
            <a:r>
              <a:rPr lang="zh-CN" altLang="en-US" sz="2400" b="0" dirty="0">
                <a:solidFill>
                  <a:schemeClr val="tx1"/>
                </a:solidFill>
                <a:latin typeface="Times New Roman" panose="02020603050405020304" pitchFamily="18" charset="0"/>
                <a:ea typeface="黑体" panose="02010609060101010101" pitchFamily="49" charset="-122"/>
              </a:rPr>
              <a:t>理解正超螺旋和负超螺旋的本质</a:t>
            </a:r>
          </a:p>
          <a:p>
            <a:pPr algn="just" eaLnBrk="1" hangingPunct="1">
              <a:lnSpc>
                <a:spcPct val="120000"/>
              </a:lnSpc>
              <a:spcBef>
                <a:spcPct val="50000"/>
              </a:spcBef>
              <a:buClrTx/>
              <a:buFontTx/>
              <a:buAutoNum type="arabicPeriod"/>
            </a:pPr>
            <a:r>
              <a:rPr lang="en-US" altLang="zh-CN" sz="2400" b="0" dirty="0">
                <a:solidFill>
                  <a:schemeClr val="tx1"/>
                </a:solidFill>
                <a:latin typeface="Times New Roman" panose="02020603050405020304" pitchFamily="18" charset="0"/>
                <a:ea typeface="黑体" panose="02010609060101010101" pitchFamily="49" charset="-122"/>
              </a:rPr>
              <a:t>DNA</a:t>
            </a:r>
            <a:r>
              <a:rPr lang="zh-CN" altLang="en-US" sz="2400" b="0" dirty="0">
                <a:solidFill>
                  <a:schemeClr val="tx1"/>
                </a:solidFill>
                <a:latin typeface="Times New Roman" panose="02020603050405020304" pitchFamily="18" charset="0"/>
                <a:ea typeface="黑体" panose="02010609060101010101" pitchFamily="49" charset="-122"/>
              </a:rPr>
              <a:t>的生物学功能。</a:t>
            </a:r>
          </a:p>
        </p:txBody>
      </p:sp>
      <p:sp>
        <p:nvSpPr>
          <p:cNvPr id="203779" name="Rectangle 3">
            <a:extLst>
              <a:ext uri="{FF2B5EF4-FFF2-40B4-BE49-F238E27FC236}">
                <a16:creationId xmlns:a16="http://schemas.microsoft.com/office/drawing/2014/main" id="{E433A89F-2CEE-43BF-87A3-F7A2EEACA3D1}"/>
              </a:ext>
            </a:extLst>
          </p:cNvPr>
          <p:cNvSpPr>
            <a:spLocks noChangeArrowheads="1"/>
          </p:cNvSpPr>
          <p:nvPr/>
        </p:nvSpPr>
        <p:spPr bwMode="auto">
          <a:xfrm>
            <a:off x="4367213" y="180976"/>
            <a:ext cx="3167062" cy="735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a:solidFill>
                  <a:srgbClr val="0000CC"/>
                </a:solidFill>
                <a:latin typeface="Times New Roman" panose="02020603050405020304" pitchFamily="18" charset="0"/>
                <a:ea typeface="黑体" panose="02010609060101010101" pitchFamily="49" charset="-122"/>
              </a:rPr>
              <a:t>小     结</a:t>
            </a:r>
          </a:p>
        </p:txBody>
      </p:sp>
      <p:sp>
        <p:nvSpPr>
          <p:cNvPr id="203780" name="灯片编号占位符 1">
            <a:extLst>
              <a:ext uri="{FF2B5EF4-FFF2-40B4-BE49-F238E27FC236}">
                <a16:creationId xmlns:a16="http://schemas.microsoft.com/office/drawing/2014/main" id="{8844755C-A0DC-4453-AA6E-4380BCAA27DA}"/>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94226392-4217-4D67-88CC-2C20C6D38D14}" type="slidenum">
              <a:rPr lang="zh-CN" altLang="en-US" sz="1200" b="0">
                <a:solidFill>
                  <a:srgbClr val="898F89"/>
                </a:solidFill>
              </a:rPr>
              <a:pPr>
                <a:spcBef>
                  <a:spcPct val="0"/>
                </a:spcBef>
                <a:buClrTx/>
                <a:buFontTx/>
                <a:buNone/>
              </a:pPr>
              <a:t>73</a:t>
            </a:fld>
            <a:endParaRPr lang="zh-CN" altLang="en-US" sz="1200" b="0">
              <a:solidFill>
                <a:srgbClr val="898F89"/>
              </a:solidFill>
            </a:endParaRPr>
          </a:p>
        </p:txBody>
      </p:sp>
    </p:spTree>
  </p:cSld>
  <p:clrMapOvr>
    <a:masterClrMapping/>
  </p:clrMapOvr>
  <p:transition spd="slow">
    <p:circle/>
  </p:transition>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2690" name="标题 1">
            <a:extLst>
              <a:ext uri="{FF2B5EF4-FFF2-40B4-BE49-F238E27FC236}">
                <a16:creationId xmlns:a16="http://schemas.microsoft.com/office/drawing/2014/main" id="{D5895E04-3EE2-40A3-B5EC-47AB74FDBF72}"/>
              </a:ext>
            </a:extLst>
          </p:cNvPr>
          <p:cNvSpPr>
            <a:spLocks noGrp="1" noChangeArrowheads="1"/>
          </p:cNvSpPr>
          <p:nvPr>
            <p:ph type="title"/>
          </p:nvPr>
        </p:nvSpPr>
        <p:spPr>
          <a:xfrm>
            <a:off x="2046288" y="88077"/>
            <a:ext cx="8153400" cy="735073"/>
          </a:xfrm>
        </p:spPr>
        <p:txBody>
          <a:bodyPr>
            <a:spAutoFit/>
          </a:bodyPr>
          <a:lstStyle/>
          <a:p>
            <a:pPr eaLnBrk="1" hangingPunct="1">
              <a:lnSpc>
                <a:spcPct val="130000"/>
              </a:lnSpc>
              <a:spcAft>
                <a:spcPct val="30000"/>
              </a:spcAft>
              <a:defRPr/>
            </a:pPr>
            <a:r>
              <a:rPr lang="zh-CN" altLang="en-US" sz="3600" kern="1200">
                <a:latin typeface="Times New Roman" panose="02020603050405020304" pitchFamily="18" charset="0"/>
                <a:ea typeface="黑体" panose="02010609060101010101" pitchFamily="49" charset="-122"/>
                <a:cs typeface="+mn-cs"/>
              </a:rPr>
              <a:t>课堂练习 </a:t>
            </a:r>
          </a:p>
        </p:txBody>
      </p:sp>
      <p:sp>
        <p:nvSpPr>
          <p:cNvPr id="3" name="内容占位符 2">
            <a:extLst>
              <a:ext uri="{FF2B5EF4-FFF2-40B4-BE49-F238E27FC236}">
                <a16:creationId xmlns:a16="http://schemas.microsoft.com/office/drawing/2014/main" id="{F6B4645C-F42C-4930-B724-B5C8EBA248AE}"/>
              </a:ext>
            </a:extLst>
          </p:cNvPr>
          <p:cNvSpPr>
            <a:spLocks noGrp="1"/>
          </p:cNvSpPr>
          <p:nvPr>
            <p:ph idx="1"/>
          </p:nvPr>
        </p:nvSpPr>
        <p:spPr/>
        <p:txBody>
          <a:bodyPr/>
          <a:lstStyle/>
          <a:p>
            <a:pPr>
              <a:defRPr/>
            </a:pPr>
            <a:r>
              <a:rPr lang="zh-CN" altLang="en-US" sz="2400" b="0" dirty="0">
                <a:solidFill>
                  <a:srgbClr val="0000CC"/>
                </a:solidFill>
              </a:rPr>
              <a:t>通常不存在</a:t>
            </a:r>
            <a:r>
              <a:rPr lang="en-US" altLang="zh-CN" sz="2400" b="0" dirty="0">
                <a:solidFill>
                  <a:srgbClr val="0000CC"/>
                </a:solidFill>
              </a:rPr>
              <a:t>RNA</a:t>
            </a:r>
            <a:r>
              <a:rPr lang="zh-CN" altLang="en-US" sz="2400" b="0" dirty="0">
                <a:solidFill>
                  <a:srgbClr val="0000CC"/>
                </a:solidFill>
              </a:rPr>
              <a:t>中，也不存在</a:t>
            </a:r>
            <a:r>
              <a:rPr lang="en-US" altLang="zh-CN" sz="2400" b="0" dirty="0">
                <a:solidFill>
                  <a:srgbClr val="0000CC"/>
                </a:solidFill>
              </a:rPr>
              <a:t>DNA</a:t>
            </a:r>
            <a:r>
              <a:rPr lang="zh-CN" altLang="en-US" sz="2400" b="0" dirty="0">
                <a:solidFill>
                  <a:srgbClr val="0000CC"/>
                </a:solidFill>
              </a:rPr>
              <a:t>中的碱基是</a:t>
            </a:r>
          </a:p>
          <a:p>
            <a:pPr marL="352425" indent="0">
              <a:buNone/>
              <a:defRPr/>
            </a:pPr>
            <a:r>
              <a:rPr lang="en-US" altLang="zh-CN" sz="2400" b="0" dirty="0"/>
              <a:t>A.</a:t>
            </a:r>
            <a:r>
              <a:rPr lang="zh-CN" altLang="en-US" sz="2400" b="0" dirty="0"/>
              <a:t>腺嘌呤            </a:t>
            </a:r>
            <a:r>
              <a:rPr lang="en-US" altLang="zh-CN" sz="2400" b="0" dirty="0"/>
              <a:t>B.</a:t>
            </a:r>
            <a:r>
              <a:rPr lang="zh-CN" altLang="en-US" sz="2400" b="0" dirty="0"/>
              <a:t>黄嘌呤         </a:t>
            </a:r>
            <a:r>
              <a:rPr lang="en-US" altLang="zh-CN" sz="2400" b="0" dirty="0"/>
              <a:t>C.</a:t>
            </a:r>
            <a:r>
              <a:rPr lang="zh-CN" altLang="en-US" sz="2400" b="0" dirty="0"/>
              <a:t>鸟嘌呤   </a:t>
            </a:r>
            <a:endParaRPr lang="en-US" altLang="zh-CN" sz="2400" b="0" dirty="0"/>
          </a:p>
          <a:p>
            <a:pPr marL="352425" indent="0">
              <a:buNone/>
              <a:defRPr/>
            </a:pPr>
            <a:r>
              <a:rPr lang="en-US" altLang="zh-CN" sz="2400" b="0" dirty="0"/>
              <a:t>D.</a:t>
            </a:r>
            <a:r>
              <a:rPr lang="zh-CN" altLang="en-US" sz="2400" b="0" dirty="0"/>
              <a:t>胸腺嘧啶        </a:t>
            </a:r>
            <a:r>
              <a:rPr lang="en-US" altLang="zh-CN" sz="2400" b="0" dirty="0"/>
              <a:t>E.</a:t>
            </a:r>
            <a:r>
              <a:rPr lang="zh-CN" altLang="en-US" sz="2400" b="0" dirty="0"/>
              <a:t>尿嘧啶</a:t>
            </a:r>
            <a:endParaRPr lang="en-US" altLang="zh-CN" sz="2400" b="0" dirty="0"/>
          </a:p>
          <a:p>
            <a:pPr marL="0" indent="0">
              <a:buNone/>
              <a:defRPr/>
            </a:pPr>
            <a:endParaRPr lang="en-US" altLang="zh-CN" sz="2400" b="0" dirty="0">
              <a:solidFill>
                <a:srgbClr val="0000CC"/>
              </a:solidFill>
            </a:endParaRPr>
          </a:p>
          <a:p>
            <a:pPr>
              <a:defRPr/>
            </a:pPr>
            <a:r>
              <a:rPr lang="zh-CN" altLang="en-US" sz="2400" b="0" dirty="0">
                <a:solidFill>
                  <a:srgbClr val="0000CC"/>
                </a:solidFill>
              </a:rPr>
              <a:t>在核酸中，核苷酸之间的连接方式是</a:t>
            </a:r>
          </a:p>
          <a:p>
            <a:pPr marL="352425" indent="0">
              <a:buNone/>
              <a:defRPr/>
            </a:pPr>
            <a:r>
              <a:rPr lang="en-US" altLang="zh-CN" sz="2400" b="0" dirty="0"/>
              <a:t>A. 2’</a:t>
            </a:r>
            <a:r>
              <a:rPr lang="zh-CN" altLang="en-US" sz="2400" b="0" dirty="0"/>
              <a:t>，</a:t>
            </a:r>
            <a:r>
              <a:rPr lang="en-US" altLang="zh-CN" sz="2400" b="0" dirty="0"/>
              <a:t>3’</a:t>
            </a:r>
            <a:r>
              <a:rPr lang="zh-CN" altLang="en-US" sz="2400" b="0" dirty="0"/>
              <a:t>磷酸二酯键        </a:t>
            </a:r>
            <a:r>
              <a:rPr lang="en-US" altLang="zh-CN" sz="2400" b="0" dirty="0"/>
              <a:t>B. 3’</a:t>
            </a:r>
            <a:r>
              <a:rPr lang="zh-CN" altLang="en-US" sz="2400" b="0" dirty="0"/>
              <a:t>，</a:t>
            </a:r>
            <a:r>
              <a:rPr lang="en-US" altLang="zh-CN" sz="2400" b="0" dirty="0"/>
              <a:t>5’</a:t>
            </a:r>
            <a:r>
              <a:rPr lang="zh-CN" altLang="en-US" sz="2400" b="0" dirty="0"/>
              <a:t>磷酸二酯键  </a:t>
            </a:r>
          </a:p>
          <a:p>
            <a:pPr marL="352425" indent="0">
              <a:buNone/>
              <a:defRPr/>
            </a:pPr>
            <a:r>
              <a:rPr lang="en-US" altLang="zh-CN" sz="2400" b="0" dirty="0"/>
              <a:t>C. 2’</a:t>
            </a:r>
            <a:r>
              <a:rPr lang="zh-CN" altLang="en-US" sz="2400" b="0" dirty="0"/>
              <a:t>，</a:t>
            </a:r>
            <a:r>
              <a:rPr lang="en-US" altLang="zh-CN" sz="2400" b="0" dirty="0"/>
              <a:t>5’</a:t>
            </a:r>
            <a:r>
              <a:rPr lang="zh-CN" altLang="en-US" sz="2400" b="0" dirty="0"/>
              <a:t>磷酸二酯键        </a:t>
            </a:r>
            <a:r>
              <a:rPr lang="en-US" altLang="zh-CN" sz="2400" b="0" dirty="0"/>
              <a:t>D. </a:t>
            </a:r>
            <a:r>
              <a:rPr lang="zh-CN" altLang="en-US" sz="2400" b="0" dirty="0"/>
              <a:t>糖苷键           </a:t>
            </a:r>
            <a:r>
              <a:rPr lang="en-US" altLang="zh-CN" sz="2400" b="0" dirty="0"/>
              <a:t>E. </a:t>
            </a:r>
            <a:r>
              <a:rPr lang="zh-CN" altLang="en-US" sz="2400" b="0" dirty="0"/>
              <a:t>氢键</a:t>
            </a:r>
          </a:p>
          <a:p>
            <a:pPr marL="0" indent="0">
              <a:buNone/>
              <a:defRPr/>
            </a:pPr>
            <a:endParaRPr lang="zh-CN" altLang="en-US" sz="2400" b="0" dirty="0"/>
          </a:p>
          <a:p>
            <a:pPr>
              <a:defRPr/>
            </a:pPr>
            <a:r>
              <a:rPr lang="zh-CN" altLang="en-US" sz="2400" b="0" dirty="0">
                <a:solidFill>
                  <a:srgbClr val="0000CC"/>
                </a:solidFill>
              </a:rPr>
              <a:t>与</a:t>
            </a:r>
            <a:r>
              <a:rPr lang="en-US" altLang="zh-CN" sz="2400" b="0" dirty="0" err="1">
                <a:solidFill>
                  <a:srgbClr val="0000CC"/>
                </a:solidFill>
              </a:rPr>
              <a:t>pCAGCT</a:t>
            </a:r>
            <a:r>
              <a:rPr lang="zh-CN" altLang="en-US" sz="2400" b="0" dirty="0">
                <a:solidFill>
                  <a:srgbClr val="0000CC"/>
                </a:solidFill>
              </a:rPr>
              <a:t>互补的</a:t>
            </a:r>
            <a:r>
              <a:rPr lang="en-US" altLang="zh-CN" sz="2400" b="0" dirty="0">
                <a:solidFill>
                  <a:srgbClr val="0000CC"/>
                </a:solidFill>
              </a:rPr>
              <a:t>DNA</a:t>
            </a:r>
            <a:r>
              <a:rPr lang="zh-CN" altLang="en-US" sz="2400" b="0" dirty="0">
                <a:solidFill>
                  <a:srgbClr val="0000CC"/>
                </a:solidFill>
              </a:rPr>
              <a:t>序列是</a:t>
            </a:r>
          </a:p>
          <a:p>
            <a:pPr marL="439738" indent="0">
              <a:buNone/>
              <a:defRPr/>
            </a:pPr>
            <a:r>
              <a:rPr lang="en-US" altLang="zh-CN" sz="2400" b="0" dirty="0" err="1"/>
              <a:t>A.pAGCUG</a:t>
            </a:r>
            <a:r>
              <a:rPr lang="en-US" altLang="zh-CN" sz="2400" b="0" dirty="0"/>
              <a:t>          </a:t>
            </a:r>
            <a:r>
              <a:rPr lang="en-US" altLang="zh-CN" sz="2400" b="0" dirty="0" err="1"/>
              <a:t>B.pGTCGA</a:t>
            </a:r>
            <a:r>
              <a:rPr lang="en-US" altLang="zh-CN" sz="2400" b="0" dirty="0"/>
              <a:t>         </a:t>
            </a:r>
            <a:r>
              <a:rPr lang="en-US" altLang="zh-CN" sz="2400" b="0" dirty="0" err="1"/>
              <a:t>C.pAGCTG</a:t>
            </a:r>
            <a:endParaRPr lang="en-US" altLang="zh-CN" sz="2400" b="0" dirty="0"/>
          </a:p>
          <a:p>
            <a:pPr marL="439738" indent="0">
              <a:buNone/>
              <a:defRPr/>
            </a:pPr>
            <a:r>
              <a:rPr lang="en-US" altLang="zh-CN" sz="2400" b="0" dirty="0" err="1"/>
              <a:t>D.pGUCGA</a:t>
            </a:r>
            <a:r>
              <a:rPr lang="en-US" altLang="zh-CN" sz="2400" b="0" dirty="0"/>
              <a:t>          E.</a:t>
            </a:r>
            <a:r>
              <a:rPr lang="zh-CN" altLang="en-US" sz="2400" b="0" dirty="0"/>
              <a:t>以上都不是</a:t>
            </a:r>
          </a:p>
          <a:p>
            <a:pPr>
              <a:defRPr/>
            </a:pPr>
            <a:endParaRPr lang="zh-CN" altLang="en-US" sz="2400" b="0" dirty="0"/>
          </a:p>
        </p:txBody>
      </p:sp>
      <p:sp>
        <p:nvSpPr>
          <p:cNvPr id="4" name="文本框 3">
            <a:extLst>
              <a:ext uri="{FF2B5EF4-FFF2-40B4-BE49-F238E27FC236}">
                <a16:creationId xmlns:a16="http://schemas.microsoft.com/office/drawing/2014/main" id="{A57403E1-D541-49A7-98AB-0FD186F50FE4}"/>
              </a:ext>
            </a:extLst>
          </p:cNvPr>
          <p:cNvSpPr txBox="1">
            <a:spLocks noChangeArrowheads="1"/>
          </p:cNvSpPr>
          <p:nvPr/>
        </p:nvSpPr>
        <p:spPr bwMode="auto">
          <a:xfrm>
            <a:off x="9409113" y="1557338"/>
            <a:ext cx="1008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3200">
                <a:solidFill>
                  <a:srgbClr val="C00000"/>
                </a:solidFill>
                <a:latin typeface="Times New Roman" panose="02020603050405020304" pitchFamily="18" charset="0"/>
                <a:ea typeface="宋体" panose="02010600030101010101" pitchFamily="2" charset="-122"/>
              </a:rPr>
              <a:t>B</a:t>
            </a:r>
            <a:endParaRPr lang="zh-CN" altLang="en-US" sz="3200">
              <a:solidFill>
                <a:srgbClr val="C00000"/>
              </a:solidFill>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450B6E2F-85D1-49BA-878E-77354F1EFA70}"/>
              </a:ext>
            </a:extLst>
          </p:cNvPr>
          <p:cNvSpPr txBox="1">
            <a:spLocks noChangeArrowheads="1"/>
          </p:cNvSpPr>
          <p:nvPr/>
        </p:nvSpPr>
        <p:spPr bwMode="auto">
          <a:xfrm>
            <a:off x="9415463" y="2851150"/>
            <a:ext cx="1008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3200">
                <a:solidFill>
                  <a:srgbClr val="C00000"/>
                </a:solidFill>
                <a:latin typeface="Times New Roman" panose="02020603050405020304" pitchFamily="18" charset="0"/>
                <a:ea typeface="宋体" panose="02010600030101010101" pitchFamily="2" charset="-122"/>
              </a:rPr>
              <a:t>B</a:t>
            </a:r>
            <a:endParaRPr lang="zh-CN" altLang="en-US" sz="3200">
              <a:solidFill>
                <a:srgbClr val="C00000"/>
              </a:solidFill>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D2DD3D88-1FE9-430F-A3FF-15526493C435}"/>
              </a:ext>
            </a:extLst>
          </p:cNvPr>
          <p:cNvSpPr txBox="1">
            <a:spLocks noChangeArrowheads="1"/>
          </p:cNvSpPr>
          <p:nvPr/>
        </p:nvSpPr>
        <p:spPr bwMode="auto">
          <a:xfrm>
            <a:off x="9415463" y="4714875"/>
            <a:ext cx="100806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3200">
                <a:solidFill>
                  <a:srgbClr val="C00000"/>
                </a:solidFill>
                <a:latin typeface="Times New Roman" panose="02020603050405020304" pitchFamily="18" charset="0"/>
                <a:ea typeface="宋体" panose="02010600030101010101" pitchFamily="2" charset="-122"/>
              </a:rPr>
              <a:t>C</a:t>
            </a:r>
            <a:endParaRPr lang="zh-CN" altLang="en-US" sz="3200">
              <a:solidFill>
                <a:srgbClr val="C00000"/>
              </a:solidFill>
              <a:latin typeface="Times New Roman" panose="02020603050405020304" pitchFamily="18" charset="0"/>
              <a:ea typeface="宋体" panose="02010600030101010101" pitchFamily="2"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2DCBB8B6-E1A7-4D7C-9AF0-601493DFCA87}"/>
              </a:ext>
            </a:extLst>
          </p:cNvPr>
          <p:cNvSpPr txBox="1">
            <a:spLocks/>
          </p:cNvSpPr>
          <p:nvPr/>
        </p:nvSpPr>
        <p:spPr>
          <a:xfrm>
            <a:off x="2046288" y="188913"/>
            <a:ext cx="8153400" cy="533400"/>
          </a:xfrm>
          <a:prstGeom prst="rect">
            <a:avLst/>
          </a:prstGeom>
        </p:spPr>
        <p:txBody>
          <a:bodyPr/>
          <a:lstStyle>
            <a:lvl1pPr algn="ctr" rtl="0" eaLnBrk="0" fontAlgn="base" hangingPunct="0">
              <a:spcBef>
                <a:spcPct val="0"/>
              </a:spcBef>
              <a:spcAft>
                <a:spcPct val="0"/>
              </a:spcAft>
              <a:defRPr sz="2800" b="1">
                <a:solidFill>
                  <a:schemeClr val="bg1"/>
                </a:solidFill>
                <a:latin typeface="+mj-lt"/>
                <a:ea typeface="+mj-ea"/>
                <a:cs typeface="+mj-cs"/>
              </a:defRPr>
            </a:lvl1pPr>
            <a:lvl2pPr algn="ctr" rtl="0" eaLnBrk="0" fontAlgn="base" hangingPunct="0">
              <a:spcBef>
                <a:spcPct val="0"/>
              </a:spcBef>
              <a:spcAft>
                <a:spcPct val="0"/>
              </a:spcAft>
              <a:defRPr sz="2800" b="1">
                <a:solidFill>
                  <a:schemeClr val="bg1"/>
                </a:solidFill>
                <a:latin typeface="黑体" pitchFamily="49" charset="-122"/>
                <a:ea typeface="黑体" pitchFamily="49" charset="-122"/>
              </a:defRPr>
            </a:lvl2pPr>
            <a:lvl3pPr algn="ctr" rtl="0" eaLnBrk="0" fontAlgn="base" hangingPunct="0">
              <a:spcBef>
                <a:spcPct val="0"/>
              </a:spcBef>
              <a:spcAft>
                <a:spcPct val="0"/>
              </a:spcAft>
              <a:defRPr sz="2800" b="1">
                <a:solidFill>
                  <a:schemeClr val="bg1"/>
                </a:solidFill>
                <a:latin typeface="黑体" pitchFamily="49" charset="-122"/>
                <a:ea typeface="黑体" pitchFamily="49" charset="-122"/>
              </a:defRPr>
            </a:lvl3pPr>
            <a:lvl4pPr algn="ctr" rtl="0" eaLnBrk="0" fontAlgn="base" hangingPunct="0">
              <a:spcBef>
                <a:spcPct val="0"/>
              </a:spcBef>
              <a:spcAft>
                <a:spcPct val="0"/>
              </a:spcAft>
              <a:defRPr sz="2800" b="1">
                <a:solidFill>
                  <a:schemeClr val="bg1"/>
                </a:solidFill>
                <a:latin typeface="黑体" pitchFamily="49" charset="-122"/>
                <a:ea typeface="黑体" pitchFamily="49" charset="-122"/>
              </a:defRPr>
            </a:lvl4pPr>
            <a:lvl5pPr algn="ctr" rtl="0" eaLnBrk="0" fontAlgn="base" hangingPunct="0">
              <a:spcBef>
                <a:spcPct val="0"/>
              </a:spcBef>
              <a:spcAft>
                <a:spcPct val="0"/>
              </a:spcAft>
              <a:defRPr sz="2800" b="1">
                <a:solidFill>
                  <a:schemeClr val="bg1"/>
                </a:solidFill>
                <a:latin typeface="黑体" pitchFamily="49" charset="-122"/>
                <a:ea typeface="黑体" pitchFamily="49" charset="-122"/>
              </a:defRPr>
            </a:lvl5pPr>
            <a:lvl6pPr marL="457200" algn="ctr" rtl="0" fontAlgn="base">
              <a:spcBef>
                <a:spcPct val="0"/>
              </a:spcBef>
              <a:spcAft>
                <a:spcPct val="0"/>
              </a:spcAft>
              <a:defRPr sz="2800" b="1">
                <a:solidFill>
                  <a:schemeClr val="bg1"/>
                </a:solidFill>
                <a:latin typeface="黑体" pitchFamily="49" charset="-122"/>
                <a:ea typeface="黑体" pitchFamily="49" charset="-122"/>
              </a:defRPr>
            </a:lvl6pPr>
            <a:lvl7pPr marL="914400" algn="ctr" rtl="0" fontAlgn="base">
              <a:spcBef>
                <a:spcPct val="0"/>
              </a:spcBef>
              <a:spcAft>
                <a:spcPct val="0"/>
              </a:spcAft>
              <a:defRPr sz="2800" b="1">
                <a:solidFill>
                  <a:schemeClr val="bg1"/>
                </a:solidFill>
                <a:latin typeface="黑体" pitchFamily="49" charset="-122"/>
                <a:ea typeface="黑体" pitchFamily="49" charset="-122"/>
              </a:defRPr>
            </a:lvl7pPr>
            <a:lvl8pPr marL="1371600" algn="ctr" rtl="0" fontAlgn="base">
              <a:spcBef>
                <a:spcPct val="0"/>
              </a:spcBef>
              <a:spcAft>
                <a:spcPct val="0"/>
              </a:spcAft>
              <a:defRPr sz="2800" b="1">
                <a:solidFill>
                  <a:schemeClr val="bg1"/>
                </a:solidFill>
                <a:latin typeface="黑体" pitchFamily="49" charset="-122"/>
                <a:ea typeface="黑体" pitchFamily="49" charset="-122"/>
              </a:defRPr>
            </a:lvl8pPr>
            <a:lvl9pPr marL="1828800" algn="ctr" rtl="0" fontAlgn="base">
              <a:spcBef>
                <a:spcPct val="0"/>
              </a:spcBef>
              <a:spcAft>
                <a:spcPct val="0"/>
              </a:spcAft>
              <a:defRPr sz="2800" b="1">
                <a:solidFill>
                  <a:schemeClr val="bg1"/>
                </a:solidFill>
                <a:latin typeface="黑体" pitchFamily="49" charset="-122"/>
                <a:ea typeface="黑体" pitchFamily="49" charset="-122"/>
              </a:defRPr>
            </a:lvl9pPr>
          </a:lstStyle>
          <a:p>
            <a:pPr>
              <a:defRPr/>
            </a:pPr>
            <a:r>
              <a:rPr kumimoji="0" lang="zh-CN" altLang="en-US" sz="3600" kern="0"/>
              <a:t>课堂练习 </a:t>
            </a:r>
            <a:endParaRPr kumimoji="0" lang="zh-CN" altLang="en-US" sz="3600" kern="0" dirty="0"/>
          </a:p>
        </p:txBody>
      </p:sp>
      <p:sp>
        <p:nvSpPr>
          <p:cNvPr id="7" name="内容占位符 6">
            <a:extLst>
              <a:ext uri="{FF2B5EF4-FFF2-40B4-BE49-F238E27FC236}">
                <a16:creationId xmlns:a16="http://schemas.microsoft.com/office/drawing/2014/main" id="{217553C2-FA5D-4429-BE15-F0F5F2E61022}"/>
              </a:ext>
            </a:extLst>
          </p:cNvPr>
          <p:cNvSpPr>
            <a:spLocks noGrp="1"/>
          </p:cNvSpPr>
          <p:nvPr>
            <p:ph idx="1"/>
          </p:nvPr>
        </p:nvSpPr>
        <p:spPr/>
        <p:txBody>
          <a:bodyPr/>
          <a:lstStyle/>
          <a:p>
            <a:pPr>
              <a:defRPr/>
            </a:pPr>
            <a:r>
              <a:rPr lang="zh-CN" altLang="en-US" b="0" dirty="0">
                <a:solidFill>
                  <a:srgbClr val="0000CC"/>
                </a:solidFill>
              </a:rPr>
              <a:t>某</a:t>
            </a:r>
            <a:r>
              <a:rPr lang="en-US" altLang="zh-CN" b="0" dirty="0">
                <a:solidFill>
                  <a:srgbClr val="0000CC"/>
                </a:solidFill>
              </a:rPr>
              <a:t>DNA</a:t>
            </a:r>
            <a:r>
              <a:rPr lang="zh-CN" altLang="en-US" b="0" dirty="0">
                <a:solidFill>
                  <a:srgbClr val="0000CC"/>
                </a:solidFill>
              </a:rPr>
              <a:t>分子中腺嘌呤的含量为</a:t>
            </a:r>
            <a:r>
              <a:rPr lang="en-US" altLang="zh-CN" b="0" dirty="0">
                <a:solidFill>
                  <a:srgbClr val="0000CC"/>
                </a:solidFill>
              </a:rPr>
              <a:t>15</a:t>
            </a:r>
            <a:r>
              <a:rPr lang="zh-CN" altLang="en-US" b="0" dirty="0">
                <a:solidFill>
                  <a:srgbClr val="0000CC"/>
                </a:solidFill>
              </a:rPr>
              <a:t>％，则胞嘧啶的含量应为</a:t>
            </a:r>
          </a:p>
          <a:p>
            <a:pPr marL="352425" indent="0">
              <a:buNone/>
              <a:tabLst>
                <a:tab pos="439738" algn="l"/>
              </a:tabLst>
              <a:defRPr/>
            </a:pPr>
            <a:r>
              <a:rPr lang="en-US" altLang="zh-CN" b="0" dirty="0"/>
              <a:t>A.30</a:t>
            </a:r>
            <a:r>
              <a:rPr lang="zh-CN" altLang="en-US" b="0" dirty="0"/>
              <a:t>％              </a:t>
            </a:r>
            <a:r>
              <a:rPr lang="en-US" altLang="zh-CN" b="0" dirty="0"/>
              <a:t>B.15</a:t>
            </a:r>
            <a:r>
              <a:rPr lang="zh-CN" altLang="en-US" b="0" dirty="0"/>
              <a:t>％            </a:t>
            </a:r>
            <a:r>
              <a:rPr lang="en-US" altLang="zh-CN" b="0" dirty="0"/>
              <a:t>C.40</a:t>
            </a:r>
            <a:r>
              <a:rPr lang="zh-CN" altLang="en-US" b="0" dirty="0"/>
              <a:t>％</a:t>
            </a:r>
            <a:endParaRPr lang="en-US" altLang="zh-CN" b="0" dirty="0"/>
          </a:p>
          <a:p>
            <a:pPr marL="352425" indent="0">
              <a:buNone/>
              <a:tabLst>
                <a:tab pos="439738" algn="l"/>
              </a:tabLst>
              <a:defRPr/>
            </a:pPr>
            <a:r>
              <a:rPr lang="en-US" altLang="zh-CN" b="0" dirty="0"/>
              <a:t>D.35</a:t>
            </a:r>
            <a:r>
              <a:rPr lang="zh-CN" altLang="en-US" b="0" dirty="0"/>
              <a:t>％              </a:t>
            </a:r>
            <a:r>
              <a:rPr lang="en-US" altLang="zh-CN" b="0" dirty="0"/>
              <a:t>E.25%</a:t>
            </a:r>
          </a:p>
          <a:p>
            <a:pPr>
              <a:defRPr/>
            </a:pPr>
            <a:endParaRPr lang="en-US" altLang="zh-CN" b="0" dirty="0"/>
          </a:p>
          <a:p>
            <a:pPr>
              <a:defRPr/>
            </a:pPr>
            <a:endParaRPr lang="zh-CN" altLang="en-US" b="0" dirty="0"/>
          </a:p>
        </p:txBody>
      </p:sp>
      <p:sp>
        <p:nvSpPr>
          <p:cNvPr id="9" name="文本框 8">
            <a:extLst>
              <a:ext uri="{FF2B5EF4-FFF2-40B4-BE49-F238E27FC236}">
                <a16:creationId xmlns:a16="http://schemas.microsoft.com/office/drawing/2014/main" id="{7578AD7C-9030-4CB9-B380-8C142FD6D4D6}"/>
              </a:ext>
            </a:extLst>
          </p:cNvPr>
          <p:cNvSpPr txBox="1">
            <a:spLocks noChangeArrowheads="1"/>
          </p:cNvSpPr>
          <p:nvPr/>
        </p:nvSpPr>
        <p:spPr bwMode="auto">
          <a:xfrm>
            <a:off x="8975725" y="2133600"/>
            <a:ext cx="10810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3200">
                <a:solidFill>
                  <a:srgbClr val="C00000"/>
                </a:solidFill>
                <a:latin typeface="Times New Roman" panose="02020603050405020304" pitchFamily="18" charset="0"/>
                <a:ea typeface="宋体" panose="02010600030101010101" pitchFamily="2" charset="-122"/>
              </a:rPr>
              <a:t>D</a:t>
            </a:r>
            <a:endParaRPr lang="zh-CN" altLang="en-US" sz="3200">
              <a:solidFill>
                <a:srgbClr val="C00000"/>
              </a:solidFill>
              <a:latin typeface="Times New Roman" panose="02020603050405020304" pitchFamily="18" charset="0"/>
              <a:ea typeface="宋体" panose="02010600030101010101" pitchFamily="2"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8">
            <a:extLst>
              <a:ext uri="{FF2B5EF4-FFF2-40B4-BE49-F238E27FC236}">
                <a16:creationId xmlns:a16="http://schemas.microsoft.com/office/drawing/2014/main" id="{326442E3-77D6-4432-A712-375B6F51C15D}"/>
              </a:ext>
            </a:extLst>
          </p:cNvPr>
          <p:cNvSpPr>
            <a:spLocks noChangeArrowheads="1"/>
          </p:cNvSpPr>
          <p:nvPr/>
        </p:nvSpPr>
        <p:spPr bwMode="auto">
          <a:xfrm>
            <a:off x="3144042" y="3790975"/>
            <a:ext cx="5791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kumimoji="0" lang="en-US" altLang="zh-CN" sz="3200">
                <a:solidFill>
                  <a:srgbClr val="660066"/>
                </a:solidFill>
                <a:latin typeface="Times New Roman" panose="02020603050405020304" pitchFamily="18" charset="0"/>
                <a:ea typeface="黑体" panose="02010609060101010101" pitchFamily="49" charset="-122"/>
              </a:rPr>
              <a:t>Structure and Function of  RNA</a:t>
            </a:r>
          </a:p>
        </p:txBody>
      </p:sp>
      <p:sp>
        <p:nvSpPr>
          <p:cNvPr id="208899" name="Text Box 31">
            <a:extLst>
              <a:ext uri="{FF2B5EF4-FFF2-40B4-BE49-F238E27FC236}">
                <a16:creationId xmlns:a16="http://schemas.microsoft.com/office/drawing/2014/main" id="{95A159C2-D1DE-4C4E-9584-73293C462408}"/>
              </a:ext>
            </a:extLst>
          </p:cNvPr>
          <p:cNvSpPr txBox="1">
            <a:spLocks noChangeArrowheads="1"/>
          </p:cNvSpPr>
          <p:nvPr/>
        </p:nvSpPr>
        <p:spPr bwMode="auto">
          <a:xfrm>
            <a:off x="2783681" y="1628800"/>
            <a:ext cx="6624637" cy="190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10000"/>
              </a:lnSpc>
              <a:spcBef>
                <a:spcPct val="50000"/>
              </a:spcBef>
              <a:buClrTx/>
              <a:buFontTx/>
              <a:buNone/>
            </a:pPr>
            <a:r>
              <a:rPr lang="zh-CN" altLang="en-US" sz="4400">
                <a:solidFill>
                  <a:srgbClr val="000099"/>
                </a:solidFill>
                <a:latin typeface="Times New Roman" panose="02020603050405020304" pitchFamily="18" charset="0"/>
                <a:ea typeface="黑体" panose="02010609060101010101" pitchFamily="49" charset="-122"/>
              </a:rPr>
              <a:t>第三节</a:t>
            </a:r>
          </a:p>
          <a:p>
            <a:pPr algn="ctr" eaLnBrk="1" hangingPunct="1">
              <a:lnSpc>
                <a:spcPct val="110000"/>
              </a:lnSpc>
              <a:spcBef>
                <a:spcPct val="50000"/>
              </a:spcBef>
              <a:buClrTx/>
              <a:buFontTx/>
              <a:buNone/>
            </a:pPr>
            <a:r>
              <a:rPr lang="en-US" altLang="zh-CN" sz="4400">
                <a:solidFill>
                  <a:srgbClr val="000099"/>
                </a:solidFill>
                <a:latin typeface="Times New Roman" panose="02020603050405020304" pitchFamily="18" charset="0"/>
                <a:ea typeface="黑体" panose="02010609060101010101" pitchFamily="49" charset="-122"/>
              </a:rPr>
              <a:t>RNA</a:t>
            </a:r>
            <a:r>
              <a:rPr lang="zh-CN" altLang="en-US" sz="4400">
                <a:solidFill>
                  <a:srgbClr val="000099"/>
                </a:solidFill>
                <a:latin typeface="Times New Roman" panose="02020603050405020304" pitchFamily="18" charset="0"/>
                <a:ea typeface="黑体" panose="02010609060101010101" pitchFamily="49" charset="-122"/>
              </a:rPr>
              <a:t>的空间结构与功能</a:t>
            </a:r>
          </a:p>
        </p:txBody>
      </p:sp>
      <p:sp>
        <p:nvSpPr>
          <p:cNvPr id="208900" name="灯片编号占位符 1">
            <a:extLst>
              <a:ext uri="{FF2B5EF4-FFF2-40B4-BE49-F238E27FC236}">
                <a16:creationId xmlns:a16="http://schemas.microsoft.com/office/drawing/2014/main" id="{4B50F5B5-EBF5-4262-9A4B-D2C4C1F78B7C}"/>
              </a:ext>
            </a:extLst>
          </p:cNvPr>
          <p:cNvSpPr>
            <a:spLocks noGrp="1"/>
          </p:cNvSpPr>
          <p:nvPr>
            <p:ph type="sldNum" sz="quarter" idx="4"/>
          </p:nvPr>
        </p:nvSpPr>
        <p:spPr bwMode="auto">
          <a:xfrm>
            <a:off x="9974264" y="6492876"/>
            <a:ext cx="693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l" eaLnBrk="0" hangingPunct="0">
              <a:spcBef>
                <a:spcPct val="0"/>
              </a:spcBef>
              <a:buClrTx/>
              <a:buFontTx/>
              <a:buNone/>
            </a:pPr>
            <a:fld id="{89B96B22-8B64-4249-ACF6-5F8C23C69487}" type="slidenum">
              <a:rPr lang="zh-CN" altLang="en-US" sz="1200" b="0">
                <a:solidFill>
                  <a:srgbClr val="898F89"/>
                </a:solidFill>
              </a:rPr>
              <a:pPr algn="l" eaLnBrk="0" hangingPunct="0">
                <a:spcBef>
                  <a:spcPct val="0"/>
                </a:spcBef>
                <a:buClrTx/>
                <a:buFontTx/>
                <a:buNone/>
              </a:pPr>
              <a:t>76</a:t>
            </a:fld>
            <a:endParaRPr lang="zh-CN" altLang="en-US" sz="1200" b="0">
              <a:solidFill>
                <a:srgbClr val="898F89"/>
              </a:solidFill>
            </a:endParaRPr>
          </a:p>
        </p:txBody>
      </p:sp>
    </p:spTree>
  </p:cSld>
  <p:clrMapOvr>
    <a:masterClrMapping/>
  </p:clrMapOvr>
  <p:transition spd="slow">
    <p:circl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标题 1">
            <a:extLst>
              <a:ext uri="{FF2B5EF4-FFF2-40B4-BE49-F238E27FC236}">
                <a16:creationId xmlns:a16="http://schemas.microsoft.com/office/drawing/2014/main" id="{B1BD404B-460B-4617-B7E2-78F39DD105E6}"/>
              </a:ext>
            </a:extLst>
          </p:cNvPr>
          <p:cNvSpPr>
            <a:spLocks noGrp="1" noChangeArrowheads="1"/>
          </p:cNvSpPr>
          <p:nvPr>
            <p:ph type="title"/>
          </p:nvPr>
        </p:nvSpPr>
        <p:spPr>
          <a:xfrm>
            <a:off x="2046288" y="88077"/>
            <a:ext cx="8153400" cy="735073"/>
          </a:xfrm>
        </p:spPr>
        <p:txBody>
          <a:bodyPr>
            <a:spAutoFit/>
          </a:bodyPr>
          <a:lstStyle/>
          <a:p>
            <a:pPr eaLnBrk="1" hangingPunct="1">
              <a:lnSpc>
                <a:spcPct val="130000"/>
              </a:lnSpc>
              <a:spcAft>
                <a:spcPct val="30000"/>
              </a:spcAft>
              <a:defRPr/>
            </a:pPr>
            <a:r>
              <a:rPr lang="en-US" altLang="zh-CN" sz="3600" kern="1200">
                <a:latin typeface="Times New Roman" panose="02020603050405020304" pitchFamily="18" charset="0"/>
                <a:ea typeface="黑体" panose="02010609060101010101" pitchFamily="49" charset="-122"/>
                <a:cs typeface="+mn-cs"/>
              </a:rPr>
              <a:t>RNA</a:t>
            </a:r>
            <a:r>
              <a:rPr lang="zh-CN" altLang="en-US" sz="3600" kern="1200">
                <a:latin typeface="Times New Roman" panose="02020603050405020304" pitchFamily="18" charset="0"/>
                <a:ea typeface="黑体" panose="02010609060101010101" pitchFamily="49" charset="-122"/>
                <a:cs typeface="+mn-cs"/>
              </a:rPr>
              <a:t>的种类</a:t>
            </a:r>
          </a:p>
        </p:txBody>
      </p:sp>
      <p:graphicFrame>
        <p:nvGraphicFramePr>
          <p:cNvPr id="3" name="图示 2">
            <a:extLst>
              <a:ext uri="{FF2B5EF4-FFF2-40B4-BE49-F238E27FC236}">
                <a16:creationId xmlns:a16="http://schemas.microsoft.com/office/drawing/2014/main" id="{99CFCCBC-5EB0-4A04-9D95-7DACAFCBD099}"/>
              </a:ext>
            </a:extLst>
          </p:cNvPr>
          <p:cNvGraphicFramePr/>
          <p:nvPr/>
        </p:nvGraphicFramePr>
        <p:xfrm>
          <a:off x="2046288" y="980728"/>
          <a:ext cx="8280920" cy="52565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1420671"/>
      </p:ext>
    </p:extLst>
  </p:cSld>
  <p:clrMapOvr>
    <a:masterClrMapping/>
  </p:clrMapOvr>
  <p:transition spd="slow">
    <p:circle/>
  </p:transition>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19138" name="图片 1">
            <a:extLst>
              <a:ext uri="{FF2B5EF4-FFF2-40B4-BE49-F238E27FC236}">
                <a16:creationId xmlns:a16="http://schemas.microsoft.com/office/drawing/2014/main" id="{E1F65ED6-DF25-4BF4-862B-6541303DE4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805"/>
          <a:stretch>
            <a:fillRect/>
          </a:stretch>
        </p:blipFill>
        <p:spPr bwMode="auto">
          <a:xfrm>
            <a:off x="1558926" y="1196752"/>
            <a:ext cx="9879900"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D316A241-E883-0F68-FF21-A767F2500157}"/>
              </a:ext>
            </a:extLst>
          </p:cNvPr>
          <p:cNvSpPr txBox="1"/>
          <p:nvPr/>
        </p:nvSpPr>
        <p:spPr>
          <a:xfrm>
            <a:off x="3215680" y="413430"/>
            <a:ext cx="6912768" cy="584775"/>
          </a:xfrm>
          <a:prstGeom prst="rect">
            <a:avLst/>
          </a:prstGeom>
          <a:noFill/>
        </p:spPr>
        <p:txBody>
          <a:bodyPr wrap="square" rtlCol="0">
            <a:spAutoFit/>
          </a:bodyPr>
          <a:lstStyle/>
          <a:p>
            <a:r>
              <a:rPr lang="zh-CN" altLang="en-US" sz="3200" dirty="0">
                <a:solidFill>
                  <a:srgbClr val="0000FF"/>
                </a:solidFill>
                <a:latin typeface="黑体" panose="02010609060101010101" pitchFamily="49" charset="-122"/>
                <a:ea typeface="黑体" panose="02010609060101010101" pitchFamily="49" charset="-122"/>
              </a:rPr>
              <a:t>动物细胞内主要</a:t>
            </a:r>
            <a:r>
              <a:rPr lang="en-US" altLang="zh-CN" sz="3200" dirty="0">
                <a:solidFill>
                  <a:srgbClr val="0000FF"/>
                </a:solidFill>
                <a:latin typeface="黑体" panose="02010609060101010101" pitchFamily="49" charset="-122"/>
                <a:ea typeface="黑体" panose="02010609060101010101" pitchFamily="49" charset="-122"/>
              </a:rPr>
              <a:t>RNA</a:t>
            </a:r>
            <a:r>
              <a:rPr lang="zh-CN" altLang="en-US" sz="3200" dirty="0">
                <a:solidFill>
                  <a:srgbClr val="0000FF"/>
                </a:solidFill>
                <a:latin typeface="黑体" panose="02010609060101010101" pitchFamily="49" charset="-122"/>
                <a:ea typeface="黑体" panose="02010609060101010101" pitchFamily="49" charset="-122"/>
              </a:rPr>
              <a:t>种类及功能</a:t>
            </a:r>
          </a:p>
        </p:txBody>
      </p:sp>
      <p:cxnSp>
        <p:nvCxnSpPr>
          <p:cNvPr id="4" name="直接连接符 3">
            <a:extLst>
              <a:ext uri="{FF2B5EF4-FFF2-40B4-BE49-F238E27FC236}">
                <a16:creationId xmlns:a16="http://schemas.microsoft.com/office/drawing/2014/main" id="{CEAE6B6D-940F-8B57-D2A1-E4F0967C697C}"/>
              </a:ext>
            </a:extLst>
          </p:cNvPr>
          <p:cNvCxnSpPr/>
          <p:nvPr/>
        </p:nvCxnSpPr>
        <p:spPr bwMode="auto">
          <a:xfrm>
            <a:off x="1775520" y="1988840"/>
            <a:ext cx="936104"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5" name="直接连接符 4">
            <a:extLst>
              <a:ext uri="{FF2B5EF4-FFF2-40B4-BE49-F238E27FC236}">
                <a16:creationId xmlns:a16="http://schemas.microsoft.com/office/drawing/2014/main" id="{92540A4B-3135-1C47-FC0E-6EDB17DDCE1C}"/>
              </a:ext>
            </a:extLst>
          </p:cNvPr>
          <p:cNvCxnSpPr>
            <a:cxnSpLocks/>
          </p:cNvCxnSpPr>
          <p:nvPr/>
        </p:nvCxnSpPr>
        <p:spPr bwMode="auto">
          <a:xfrm>
            <a:off x="1775520" y="2564904"/>
            <a:ext cx="1008112"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spTree>
  </p:cSld>
  <p:clrMapOvr>
    <a:masterClrMapping/>
  </p:clrMapOvr>
  <p:transition spd="slow">
    <p:circl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0946" name="Picture 4" descr="RNA">
            <a:extLst>
              <a:ext uri="{FF2B5EF4-FFF2-40B4-BE49-F238E27FC236}">
                <a16:creationId xmlns:a16="http://schemas.microsoft.com/office/drawing/2014/main" id="{88AC066F-A643-4476-866F-DD35393955E6}"/>
              </a:ext>
            </a:extLst>
          </p:cNvPr>
          <p:cNvPicPr>
            <a:picLocks noChangeAspect="1" noChangeArrowheads="1"/>
          </p:cNvPicPr>
          <p:nvPr/>
        </p:nvPicPr>
        <p:blipFill>
          <a:blip r:embed="rId3">
            <a:clrChange>
              <a:clrFrom>
                <a:srgbClr val="FEFAF7"/>
              </a:clrFrom>
              <a:clrTo>
                <a:srgbClr val="FEFAF7">
                  <a:alpha val="0"/>
                </a:srgbClr>
              </a:clrTo>
            </a:clrChange>
            <a:extLst>
              <a:ext uri="{28A0092B-C50C-407E-A947-70E740481C1C}">
                <a14:useLocalDpi xmlns:a14="http://schemas.microsoft.com/office/drawing/2010/main" val="0"/>
              </a:ext>
            </a:extLst>
          </a:blip>
          <a:srcRect/>
          <a:stretch>
            <a:fillRect/>
          </a:stretch>
        </p:blipFill>
        <p:spPr bwMode="auto">
          <a:xfrm>
            <a:off x="1884363" y="4559301"/>
            <a:ext cx="205105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0597" name="Text Box 5">
            <a:extLst>
              <a:ext uri="{FF2B5EF4-FFF2-40B4-BE49-F238E27FC236}">
                <a16:creationId xmlns:a16="http://schemas.microsoft.com/office/drawing/2014/main" id="{51BEEF31-E2B0-418E-A064-CF62FBA21C58}"/>
              </a:ext>
            </a:extLst>
          </p:cNvPr>
          <p:cNvSpPr txBox="1">
            <a:spLocks noChangeArrowheads="1"/>
          </p:cNvSpPr>
          <p:nvPr/>
        </p:nvSpPr>
        <p:spPr bwMode="auto">
          <a:xfrm>
            <a:off x="1884364" y="1417639"/>
            <a:ext cx="4319587" cy="2505075"/>
          </a:xfrm>
          <a:prstGeom prst="rect">
            <a:avLst/>
          </a:prstGeom>
          <a:noFill/>
          <a:ln>
            <a:noFill/>
          </a:ln>
        </p:spPr>
        <p:txBody>
          <a:bodyPr>
            <a:spAutoFit/>
          </a:bodyPr>
          <a:lstStyle>
            <a:lvl1pPr>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40000"/>
              </a:lnSpc>
              <a:spcBef>
                <a:spcPts val="0"/>
              </a:spcBef>
              <a:buClr>
                <a:srgbClr val="CC0099"/>
              </a:buClr>
              <a:buFont typeface="Wingdings" panose="05000000000000000000" pitchFamily="2" charset="2"/>
              <a:buChar char="Ø"/>
              <a:defRPr/>
            </a:pPr>
            <a:r>
              <a:rPr lang="zh-CN" altLang="en-US" b="0" dirty="0">
                <a:solidFill>
                  <a:schemeClr val="tx1"/>
                </a:solidFill>
                <a:latin typeface="Times New Roman" panose="02020603050405020304" pitchFamily="18" charset="0"/>
                <a:ea typeface="黑体" panose="02010609060101010101" pitchFamily="49" charset="-122"/>
              </a:rPr>
              <a:t> 分子小</a:t>
            </a:r>
          </a:p>
          <a:p>
            <a:pPr eaLnBrk="1" hangingPunct="1">
              <a:lnSpc>
                <a:spcPct val="140000"/>
              </a:lnSpc>
              <a:spcBef>
                <a:spcPts val="0"/>
              </a:spcBef>
              <a:buClr>
                <a:srgbClr val="CC0099"/>
              </a:buClr>
              <a:buFont typeface="Wingdings" panose="05000000000000000000" pitchFamily="2" charset="2"/>
              <a:buChar char="Ø"/>
              <a:defRPr/>
            </a:pPr>
            <a:r>
              <a:rPr lang="zh-CN" altLang="en-US" b="0" dirty="0">
                <a:solidFill>
                  <a:schemeClr val="tx1"/>
                </a:solidFill>
                <a:latin typeface="Times New Roman" panose="02020603050405020304" pitchFamily="18" charset="0"/>
                <a:ea typeface="黑体" panose="02010609060101010101" pitchFamily="49" charset="-122"/>
              </a:rPr>
              <a:t> 单链</a:t>
            </a:r>
            <a:r>
              <a:rPr lang="en-US" altLang="zh-CN" b="0" dirty="0">
                <a:solidFill>
                  <a:schemeClr val="tx1"/>
                </a:solidFill>
                <a:latin typeface="Times New Roman" panose="02020603050405020304" pitchFamily="18" charset="0"/>
                <a:ea typeface="黑体" panose="02010609060101010101" pitchFamily="49" charset="-122"/>
              </a:rPr>
              <a:t>, </a:t>
            </a:r>
            <a:r>
              <a:rPr lang="zh-CN" altLang="en-US" b="0" dirty="0">
                <a:solidFill>
                  <a:schemeClr val="tx1"/>
                </a:solidFill>
                <a:latin typeface="Times New Roman" panose="02020603050405020304" pitchFamily="18" charset="0"/>
                <a:ea typeface="黑体" panose="02010609060101010101" pitchFamily="49" charset="-122"/>
              </a:rPr>
              <a:t>局部形成双螺旋</a:t>
            </a:r>
            <a:endParaRPr lang="zh-CN" altLang="en-US" sz="5400" b="0" dirty="0">
              <a:solidFill>
                <a:schemeClr val="tx1"/>
              </a:solidFill>
              <a:latin typeface="Times New Roman" panose="02020603050405020304" pitchFamily="18" charset="0"/>
              <a:ea typeface="黑体" panose="02010609060101010101" pitchFamily="49" charset="-122"/>
            </a:endParaRPr>
          </a:p>
          <a:p>
            <a:pPr marL="355600" indent="-355600" eaLnBrk="1" hangingPunct="1">
              <a:lnSpc>
                <a:spcPct val="140000"/>
              </a:lnSpc>
              <a:spcBef>
                <a:spcPts val="0"/>
              </a:spcBef>
              <a:buClr>
                <a:srgbClr val="CC0099"/>
              </a:buClr>
              <a:buFont typeface="Wingdings" panose="05000000000000000000" pitchFamily="2" charset="2"/>
              <a:buChar char="Ø"/>
              <a:defRPr/>
            </a:pPr>
            <a:r>
              <a:rPr lang="zh-CN" altLang="en-US" b="0" dirty="0">
                <a:solidFill>
                  <a:schemeClr val="tx1"/>
                </a:solidFill>
                <a:latin typeface="Times New Roman" panose="02020603050405020304" pitchFamily="18" charset="0"/>
                <a:ea typeface="黑体" panose="02010609060101010101" pitchFamily="49" charset="-122"/>
              </a:rPr>
              <a:t>种类多样，结构多样，功能多样</a:t>
            </a:r>
          </a:p>
        </p:txBody>
      </p:sp>
      <p:pic>
        <p:nvPicPr>
          <p:cNvPr id="210949" name="图片 1">
            <a:extLst>
              <a:ext uri="{FF2B5EF4-FFF2-40B4-BE49-F238E27FC236}">
                <a16:creationId xmlns:a16="http://schemas.microsoft.com/office/drawing/2014/main" id="{6AB548A4-1134-40D0-9A83-F1D9383D092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44072" y="1306513"/>
            <a:ext cx="4230688" cy="472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0950" name="图片 2">
            <a:extLst>
              <a:ext uri="{FF2B5EF4-FFF2-40B4-BE49-F238E27FC236}">
                <a16:creationId xmlns:a16="http://schemas.microsoft.com/office/drawing/2014/main" id="{7178E3CF-80B4-41DC-9E7A-EFE2D829DEA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030664" y="4559300"/>
            <a:ext cx="2517775" cy="160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F3C0FDD6-5E03-1190-D71F-8EC0D995EE56}"/>
              </a:ext>
            </a:extLst>
          </p:cNvPr>
          <p:cNvSpPr txBox="1"/>
          <p:nvPr/>
        </p:nvSpPr>
        <p:spPr>
          <a:xfrm>
            <a:off x="2333874" y="266670"/>
            <a:ext cx="7956053" cy="523220"/>
          </a:xfrm>
          <a:prstGeom prst="rect">
            <a:avLst/>
          </a:prstGeom>
          <a:noFill/>
        </p:spPr>
        <p:txBody>
          <a:bodyPr wrap="square">
            <a:spAutoFit/>
          </a:bodyPr>
          <a:lstStyle/>
          <a:p>
            <a:r>
              <a:rPr lang="zh-CN" altLang="en-US" sz="2800" dirty="0">
                <a:solidFill>
                  <a:srgbClr val="0000CC"/>
                </a:solidFill>
                <a:latin typeface="微软雅黑" panose="020B0503020204020204" pitchFamily="34" charset="-122"/>
                <a:ea typeface="微软雅黑" panose="020B0503020204020204" pitchFamily="34" charset="-122"/>
              </a:rPr>
              <a:t>一、 </a:t>
            </a:r>
            <a:r>
              <a:rPr lang="en-US" altLang="zh-CN" sz="2800" dirty="0">
                <a:solidFill>
                  <a:srgbClr val="0000CC"/>
                </a:solidFill>
                <a:latin typeface="微软雅黑" panose="020B0503020204020204" pitchFamily="34" charset="-122"/>
                <a:ea typeface="微软雅黑" panose="020B0503020204020204" pitchFamily="34" charset="-122"/>
              </a:rPr>
              <a:t>RNA </a:t>
            </a:r>
            <a:r>
              <a:rPr lang="zh-CN" altLang="en-US" sz="2800" dirty="0">
                <a:solidFill>
                  <a:srgbClr val="0000CC"/>
                </a:solidFill>
                <a:latin typeface="微软雅黑" panose="020B0503020204020204" pitchFamily="34" charset="-122"/>
                <a:ea typeface="微软雅黑" panose="020B0503020204020204" pitchFamily="34" charset="-122"/>
              </a:rPr>
              <a:t>的化学本质与空间结构均不同于</a:t>
            </a:r>
            <a:r>
              <a:rPr lang="en-US" altLang="zh-CN" sz="2800" dirty="0">
                <a:solidFill>
                  <a:srgbClr val="0000CC"/>
                </a:solidFill>
                <a:latin typeface="微软雅黑" panose="020B0503020204020204" pitchFamily="34" charset="-122"/>
                <a:ea typeface="微软雅黑" panose="020B0503020204020204" pitchFamily="34" charset="-122"/>
              </a:rPr>
              <a:t>DNA</a:t>
            </a:r>
            <a:endParaRPr lang="zh-CN" altLang="en-US" sz="2800" dirty="0">
              <a:solidFill>
                <a:srgbClr val="0000CC"/>
              </a:solidFill>
              <a:latin typeface="微软雅黑" panose="020B0503020204020204" pitchFamily="34" charset="-122"/>
              <a:ea typeface="微软雅黑" panose="020B0503020204020204" pitchFamily="34" charset="-122"/>
            </a:endParaRPr>
          </a:p>
        </p:txBody>
      </p:sp>
    </p:spTree>
  </p:cSld>
  <p:clrMapOvr>
    <a:masterClrMapping/>
  </p:clrMapOvr>
  <p:transition spd="slow">
    <p:circl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标题 1">
            <a:extLst>
              <a:ext uri="{FF2B5EF4-FFF2-40B4-BE49-F238E27FC236}">
                <a16:creationId xmlns:a16="http://schemas.microsoft.com/office/drawing/2014/main" id="{681D2CDA-259F-4D59-B4DF-00D79648C35B}"/>
              </a:ext>
            </a:extLst>
          </p:cNvPr>
          <p:cNvSpPr>
            <a:spLocks noGrp="1" noChangeArrowheads="1"/>
          </p:cNvSpPr>
          <p:nvPr>
            <p:ph type="title" idx="4294967295"/>
          </p:nvPr>
        </p:nvSpPr>
        <p:spPr>
          <a:xfrm>
            <a:off x="2135188" y="552450"/>
            <a:ext cx="7931150" cy="857250"/>
          </a:xfrm>
        </p:spPr>
        <p:txBody>
          <a:bodyPr/>
          <a:lstStyle/>
          <a:p>
            <a:r>
              <a:rPr lang="zh-CN" altLang="en-US" b="0"/>
              <a:t>许多</a:t>
            </a:r>
            <a:r>
              <a:rPr lang="en-US" altLang="zh-CN" b="0"/>
              <a:t>RNA</a:t>
            </a:r>
            <a:r>
              <a:rPr lang="zh-CN" altLang="en-US" b="0"/>
              <a:t>有复杂的三维结构</a:t>
            </a:r>
            <a:endParaRPr lang="zh-CN" altLang="en-US"/>
          </a:p>
        </p:txBody>
      </p:sp>
      <p:grpSp>
        <p:nvGrpSpPr>
          <p:cNvPr id="212996" name="组合 5">
            <a:extLst>
              <a:ext uri="{FF2B5EF4-FFF2-40B4-BE49-F238E27FC236}">
                <a16:creationId xmlns:a16="http://schemas.microsoft.com/office/drawing/2014/main" id="{FDD54B7B-DE2A-4E88-B6B5-975EE1128740}"/>
              </a:ext>
            </a:extLst>
          </p:cNvPr>
          <p:cNvGrpSpPr>
            <a:grpSpLocks/>
          </p:cNvGrpSpPr>
          <p:nvPr/>
        </p:nvGrpSpPr>
        <p:grpSpPr bwMode="auto">
          <a:xfrm>
            <a:off x="3216276" y="1435101"/>
            <a:ext cx="5472113" cy="3586163"/>
            <a:chOff x="1259632" y="1425689"/>
            <a:chExt cx="6250735" cy="4307567"/>
          </a:xfrm>
        </p:grpSpPr>
        <p:pic>
          <p:nvPicPr>
            <p:cNvPr id="212997" name="图片 3">
              <a:extLst>
                <a:ext uri="{FF2B5EF4-FFF2-40B4-BE49-F238E27FC236}">
                  <a16:creationId xmlns:a16="http://schemas.microsoft.com/office/drawing/2014/main" id="{CA15987D-9B52-4C9C-AA66-3C1CC2F1D7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2101"/>
            <a:stretch>
              <a:fillRect/>
            </a:stretch>
          </p:blipFill>
          <p:spPr bwMode="auto">
            <a:xfrm>
              <a:off x="1259632" y="1425689"/>
              <a:ext cx="6250459" cy="2291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2998" name="图片 4">
              <a:extLst>
                <a:ext uri="{FF2B5EF4-FFF2-40B4-BE49-F238E27FC236}">
                  <a16:creationId xmlns:a16="http://schemas.microsoft.com/office/drawing/2014/main" id="{6F1A839A-48D2-46D6-8E11-74570340D3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2100" b="4266"/>
            <a:stretch>
              <a:fillRect/>
            </a:stretch>
          </p:blipFill>
          <p:spPr bwMode="auto">
            <a:xfrm>
              <a:off x="1259908" y="3646003"/>
              <a:ext cx="6250459" cy="2087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spd="slow">
    <p:circle/>
  </p:transition>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77E1F7C8-DFB8-438B-A159-6155C9BC60C0}"/>
              </a:ext>
            </a:extLst>
          </p:cNvPr>
          <p:cNvSpPr>
            <a:spLocks noGrp="1" noChangeArrowheads="1"/>
          </p:cNvSpPr>
          <p:nvPr>
            <p:ph type="title" idx="4294967295"/>
          </p:nvPr>
        </p:nvSpPr>
        <p:spPr>
          <a:xfrm>
            <a:off x="4021139" y="522258"/>
            <a:ext cx="4530725" cy="735073"/>
          </a:xfrm>
        </p:spPr>
        <p:txBody>
          <a:bodyPr>
            <a:spAutoFit/>
          </a:bodyPr>
          <a:lstStyle/>
          <a:p>
            <a:pPr eaLnBrk="1" hangingPunct="1">
              <a:lnSpc>
                <a:spcPct val="130000"/>
              </a:lnSpc>
              <a:spcAft>
                <a:spcPct val="30000"/>
              </a:spcAft>
              <a:defRPr/>
            </a:pPr>
            <a:r>
              <a:rPr lang="en-US" altLang="zh-CN" sz="3600" kern="1200" dirty="0">
                <a:latin typeface="Times New Roman" panose="02020603050405020304" pitchFamily="18" charset="0"/>
                <a:ea typeface="黑体" panose="02010609060101010101" pitchFamily="49" charset="-122"/>
                <a:cs typeface="+mn-cs"/>
              </a:rPr>
              <a:t>RNA</a:t>
            </a:r>
            <a:r>
              <a:rPr lang="zh-CN" altLang="en-US" sz="3600" kern="1200" dirty="0">
                <a:latin typeface="Times New Roman" panose="02020603050405020304" pitchFamily="18" charset="0"/>
                <a:ea typeface="黑体" panose="02010609060101010101" pitchFamily="49" charset="-122"/>
                <a:cs typeface="+mn-cs"/>
              </a:rPr>
              <a:t>与</a:t>
            </a:r>
            <a:r>
              <a:rPr lang="en-US" altLang="zh-CN" sz="3600" kern="1200" dirty="0">
                <a:latin typeface="Times New Roman" panose="02020603050405020304" pitchFamily="18" charset="0"/>
                <a:ea typeface="黑体" panose="02010609060101010101" pitchFamily="49" charset="-122"/>
                <a:cs typeface="+mn-cs"/>
              </a:rPr>
              <a:t>DNA</a:t>
            </a:r>
            <a:r>
              <a:rPr lang="zh-CN" altLang="en-US" sz="3600" kern="1200" dirty="0">
                <a:latin typeface="Times New Roman" panose="02020603050405020304" pitchFamily="18" charset="0"/>
                <a:ea typeface="黑体" panose="02010609060101010101" pitchFamily="49" charset="-122"/>
                <a:cs typeface="+mn-cs"/>
              </a:rPr>
              <a:t>的比较</a:t>
            </a:r>
          </a:p>
        </p:txBody>
      </p:sp>
      <p:graphicFrame>
        <p:nvGraphicFramePr>
          <p:cNvPr id="897073" name="Group 49">
            <a:extLst>
              <a:ext uri="{FF2B5EF4-FFF2-40B4-BE49-F238E27FC236}">
                <a16:creationId xmlns:a16="http://schemas.microsoft.com/office/drawing/2014/main" id="{3EBD19DC-B25C-49FF-8FD1-3812818CA2ED}"/>
              </a:ext>
            </a:extLst>
          </p:cNvPr>
          <p:cNvGraphicFramePr>
            <a:graphicFrameLocks noGrp="1"/>
          </p:cNvGraphicFramePr>
          <p:nvPr>
            <p:ph type="tbl" idx="4294967295"/>
            <p:extLst>
              <p:ext uri="{D42A27DB-BD31-4B8C-83A1-F6EECF244321}">
                <p14:modId xmlns:p14="http://schemas.microsoft.com/office/powerpoint/2010/main" val="819937224"/>
              </p:ext>
            </p:extLst>
          </p:nvPr>
        </p:nvGraphicFramePr>
        <p:xfrm>
          <a:off x="1905000" y="1295400"/>
          <a:ext cx="8763000" cy="4860926"/>
        </p:xfrm>
        <a:graphic>
          <a:graphicData uri="http://schemas.openxmlformats.org/drawingml/2006/table">
            <a:tbl>
              <a:tblPr/>
              <a:tblGrid>
                <a:gridCol w="20574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54923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endParaRPr kumimoji="0" lang="zh-CN" altLang="zh-CN" sz="2000" b="0" i="0" u="none" strike="noStrike" cap="none" normalizeH="0" baseline="0">
                        <a:ln>
                          <a:noFill/>
                        </a:ln>
                        <a:solidFill>
                          <a:srgbClr val="FF0000"/>
                        </a:solidFill>
                        <a:effectLst/>
                        <a:latin typeface="Times New Roman" pitchFamily="18" charset="0"/>
                        <a:ea typeface="黑体" pitchFamily="49" charset="-122"/>
                      </a:endParaRPr>
                    </a:p>
                  </a:txBody>
                  <a:tcPr marT="45717" marB="45717" horzOverflow="overflow">
                    <a:lnL cap="flat">
                      <a:noFill/>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2800" b="0" i="0" u="none" strike="noStrike" cap="none" normalizeH="0" baseline="0" dirty="0">
                          <a:ln>
                            <a:noFill/>
                          </a:ln>
                          <a:solidFill>
                            <a:srgbClr val="C00000"/>
                          </a:solidFill>
                          <a:effectLst/>
                          <a:latin typeface="Times New Roman" pitchFamily="18" charset="0"/>
                          <a:ea typeface="黑体" pitchFamily="49" charset="-122"/>
                        </a:rPr>
                        <a:t>RNA</a:t>
                      </a:r>
                    </a:p>
                  </a:txBody>
                  <a:tcPr marT="45717" marB="45717" horzOverflow="overflow">
                    <a:lnL>
                      <a:noFill/>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2800" b="0" i="0" u="none" strike="noStrike" cap="none" normalizeH="0" baseline="0" dirty="0">
                          <a:ln>
                            <a:noFill/>
                          </a:ln>
                          <a:solidFill>
                            <a:srgbClr val="C00000"/>
                          </a:solidFill>
                          <a:effectLst/>
                          <a:latin typeface="Times New Roman" pitchFamily="18" charset="0"/>
                          <a:ea typeface="黑体" pitchFamily="49" charset="-122"/>
                        </a:rPr>
                        <a:t>DNA</a:t>
                      </a:r>
                    </a:p>
                  </a:txBody>
                  <a:tcPr marT="45717" marB="45717" horzOverflow="overflow">
                    <a:lnL>
                      <a:noFill/>
                    </a:lnL>
                    <a:lnR cap="flat">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8915">
                <a:tc>
                  <a:txBody>
                    <a:bodyPr/>
                    <a:lstStyle/>
                    <a:p>
                      <a:pPr marL="0" marR="0" lvl="0" indent="0" algn="just"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dirty="0">
                          <a:ln>
                            <a:noFill/>
                          </a:ln>
                          <a:solidFill>
                            <a:srgbClr val="C00000"/>
                          </a:solidFill>
                          <a:effectLst/>
                          <a:latin typeface="Times New Roman" pitchFamily="18" charset="0"/>
                          <a:ea typeface="黑体" pitchFamily="49" charset="-122"/>
                        </a:rPr>
                        <a:t>碱基</a:t>
                      </a:r>
                    </a:p>
                  </a:txBody>
                  <a:tcPr marT="45717" marB="45717" horzOverflow="overflow">
                    <a:lnL cap="flat">
                      <a:noFill/>
                    </a:lnL>
                    <a:lnR>
                      <a:noFill/>
                    </a:lnR>
                    <a:lnT w="381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A</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G</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C</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U</a:t>
                      </a:r>
                    </a:p>
                  </a:txBody>
                  <a:tcPr marT="45717" marB="45717" horzOverflow="overflow">
                    <a:lnL>
                      <a:noFill/>
                    </a:lnL>
                    <a:lnR>
                      <a:noFill/>
                    </a:lnR>
                    <a:lnT w="381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1800" b="0" i="0" u="none" strike="noStrike" cap="none" normalizeH="0" baseline="0">
                          <a:ln>
                            <a:noFill/>
                          </a:ln>
                          <a:solidFill>
                            <a:schemeClr val="tx1"/>
                          </a:solidFill>
                          <a:effectLst/>
                          <a:latin typeface="Times New Roman" pitchFamily="18" charset="0"/>
                          <a:ea typeface="黑体" pitchFamily="49" charset="-122"/>
                        </a:rPr>
                        <a:t>A</a:t>
                      </a:r>
                      <a:r>
                        <a:rPr kumimoji="0" lang="zh-CN" altLang="en-US" sz="1800" b="0" i="0" u="none" strike="noStrike" cap="none" normalizeH="0" baseline="0">
                          <a:ln>
                            <a:noFill/>
                          </a:ln>
                          <a:solidFill>
                            <a:schemeClr val="tx1"/>
                          </a:solidFill>
                          <a:effectLst/>
                          <a:latin typeface="Times New Roman" pitchFamily="18" charset="0"/>
                          <a:ea typeface="黑体" pitchFamily="49" charset="-122"/>
                        </a:rPr>
                        <a:t>、</a:t>
                      </a:r>
                      <a:r>
                        <a:rPr kumimoji="0" lang="en-US" altLang="zh-CN" sz="1800" b="0" i="0" u="none" strike="noStrike" cap="none" normalizeH="0" baseline="0">
                          <a:ln>
                            <a:noFill/>
                          </a:ln>
                          <a:solidFill>
                            <a:schemeClr val="tx1"/>
                          </a:solidFill>
                          <a:effectLst/>
                          <a:latin typeface="Times New Roman" pitchFamily="18" charset="0"/>
                          <a:ea typeface="黑体" pitchFamily="49" charset="-122"/>
                        </a:rPr>
                        <a:t>G</a:t>
                      </a:r>
                      <a:r>
                        <a:rPr kumimoji="0" lang="zh-CN" altLang="en-US" sz="1800" b="0" i="0" u="none" strike="noStrike" cap="none" normalizeH="0" baseline="0">
                          <a:ln>
                            <a:noFill/>
                          </a:ln>
                          <a:solidFill>
                            <a:schemeClr val="tx1"/>
                          </a:solidFill>
                          <a:effectLst/>
                          <a:latin typeface="Times New Roman" pitchFamily="18" charset="0"/>
                          <a:ea typeface="黑体" pitchFamily="49" charset="-122"/>
                        </a:rPr>
                        <a:t>、</a:t>
                      </a:r>
                      <a:r>
                        <a:rPr kumimoji="0" lang="en-US" altLang="zh-CN" sz="1800" b="0" i="0" u="none" strike="noStrike" cap="none" normalizeH="0" baseline="0">
                          <a:ln>
                            <a:noFill/>
                          </a:ln>
                          <a:solidFill>
                            <a:schemeClr val="tx1"/>
                          </a:solidFill>
                          <a:effectLst/>
                          <a:latin typeface="Times New Roman" pitchFamily="18" charset="0"/>
                          <a:ea typeface="黑体" pitchFamily="49" charset="-122"/>
                        </a:rPr>
                        <a:t>C</a:t>
                      </a:r>
                      <a:r>
                        <a:rPr kumimoji="0" lang="zh-CN" altLang="en-US" sz="1800" b="0" i="0" u="none" strike="noStrike" cap="none" normalizeH="0" baseline="0">
                          <a:ln>
                            <a:noFill/>
                          </a:ln>
                          <a:solidFill>
                            <a:schemeClr val="tx1"/>
                          </a:solidFill>
                          <a:effectLst/>
                          <a:latin typeface="Times New Roman" pitchFamily="18" charset="0"/>
                          <a:ea typeface="黑体" pitchFamily="49" charset="-122"/>
                        </a:rPr>
                        <a:t>、</a:t>
                      </a:r>
                      <a:r>
                        <a:rPr kumimoji="0" lang="en-US" altLang="zh-CN" sz="1800" b="0" i="0" u="none" strike="noStrike" cap="none" normalizeH="0" baseline="0">
                          <a:ln>
                            <a:noFill/>
                          </a:ln>
                          <a:solidFill>
                            <a:schemeClr val="tx1"/>
                          </a:solidFill>
                          <a:effectLst/>
                          <a:latin typeface="Times New Roman" pitchFamily="18" charset="0"/>
                          <a:ea typeface="黑体" pitchFamily="49" charset="-122"/>
                        </a:rPr>
                        <a:t>T</a:t>
                      </a:r>
                    </a:p>
                  </a:txBody>
                  <a:tcPr marT="45717" marB="45717" horzOverflow="overflow">
                    <a:lnL>
                      <a:noFill/>
                    </a:lnL>
                    <a:lnR cap="flat">
                      <a:noFill/>
                    </a:lnR>
                    <a:lnT w="381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587327">
                <a:tc>
                  <a:txBody>
                    <a:bodyPr/>
                    <a:lstStyle/>
                    <a:p>
                      <a:pPr marL="0" marR="0" lvl="0" indent="0" algn="just"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dirty="0">
                          <a:ln>
                            <a:noFill/>
                          </a:ln>
                          <a:solidFill>
                            <a:srgbClr val="C00000"/>
                          </a:solidFill>
                          <a:effectLst/>
                          <a:latin typeface="Times New Roman" pitchFamily="18" charset="0"/>
                          <a:ea typeface="黑体" pitchFamily="49" charset="-122"/>
                        </a:rPr>
                        <a:t>戊糖</a:t>
                      </a:r>
                    </a:p>
                  </a:txBody>
                  <a:tcPr marT="45717" marB="45717"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1800" b="0" i="1" u="none" strike="noStrike" cap="none" normalizeH="0" baseline="0" dirty="0">
                          <a:ln>
                            <a:noFill/>
                          </a:ln>
                          <a:solidFill>
                            <a:schemeClr val="tx1"/>
                          </a:solidFill>
                          <a:effectLst/>
                          <a:latin typeface="Times New Roman" pitchFamily="18" charset="0"/>
                          <a:ea typeface="黑体" pitchFamily="49" charset="-122"/>
                        </a:rPr>
                        <a:t>β</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-D-</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核糖</a:t>
                      </a: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1800" b="0" i="1" u="none" strike="noStrike" cap="none" normalizeH="0" baseline="0" dirty="0">
                          <a:ln>
                            <a:noFill/>
                          </a:ln>
                          <a:solidFill>
                            <a:schemeClr val="tx1"/>
                          </a:solidFill>
                          <a:effectLst/>
                          <a:latin typeface="Times New Roman" pitchFamily="18" charset="0"/>
                          <a:ea typeface="黑体" pitchFamily="49" charset="-122"/>
                        </a:rPr>
                        <a:t>β</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-D-2</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脱氧核糖</a:t>
                      </a:r>
                    </a:p>
                  </a:txBody>
                  <a:tcPr marT="45717" marB="4571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694938">
                <a:tc>
                  <a:txBody>
                    <a:bodyPr/>
                    <a:lstStyle/>
                    <a:p>
                      <a:pPr marL="0" marR="0" lvl="0" indent="0" algn="just"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dirty="0">
                          <a:ln>
                            <a:noFill/>
                          </a:ln>
                          <a:solidFill>
                            <a:srgbClr val="C00000"/>
                          </a:solidFill>
                          <a:effectLst/>
                          <a:latin typeface="Times New Roman" pitchFamily="18" charset="0"/>
                          <a:ea typeface="黑体" pitchFamily="49" charset="-122"/>
                        </a:rPr>
                        <a:t>碱基含量</a:t>
                      </a:r>
                    </a:p>
                  </a:txBody>
                  <a:tcPr marT="45717" marB="45717"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A</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与</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U</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的含量不一定相同；</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G</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与</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C</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的含量也不一定相同 </a:t>
                      </a: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A = T</a:t>
                      </a:r>
                    </a:p>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G = C </a:t>
                      </a:r>
                    </a:p>
                  </a:txBody>
                  <a:tcPr marT="45717" marB="4571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87327">
                <a:tc>
                  <a:txBody>
                    <a:bodyPr/>
                    <a:lstStyle/>
                    <a:p>
                      <a:pPr marL="0" marR="0" lvl="0" indent="0" algn="just"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dirty="0">
                          <a:ln>
                            <a:noFill/>
                          </a:ln>
                          <a:solidFill>
                            <a:srgbClr val="C00000"/>
                          </a:solidFill>
                          <a:effectLst/>
                          <a:latin typeface="Times New Roman" pitchFamily="18" charset="0"/>
                          <a:ea typeface="黑体" pitchFamily="49" charset="-122"/>
                        </a:rPr>
                        <a:t>碱基互补配对</a:t>
                      </a:r>
                    </a:p>
                  </a:txBody>
                  <a:tcPr marT="45717" marB="45717"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U</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与</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A</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G</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与</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C</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a:t>
                      </a:r>
                      <a:r>
                        <a:rPr kumimoji="0" lang="en-US" altLang="zh-CN" sz="1800" b="0" i="0" u="none" strike="noStrike" cap="none" normalizeH="0" baseline="0" dirty="0">
                          <a:ln>
                            <a:noFill/>
                          </a:ln>
                          <a:solidFill>
                            <a:srgbClr val="C00000"/>
                          </a:solidFill>
                          <a:effectLst/>
                          <a:latin typeface="Times New Roman" pitchFamily="18" charset="0"/>
                          <a:ea typeface="黑体" pitchFamily="49" charset="-122"/>
                        </a:rPr>
                        <a:t>G</a:t>
                      </a:r>
                      <a:r>
                        <a:rPr kumimoji="0" lang="zh-CN" altLang="en-US" sz="1800" b="0" i="0" u="none" strike="noStrike" cap="none" normalizeH="0" baseline="0" dirty="0">
                          <a:ln>
                            <a:noFill/>
                          </a:ln>
                          <a:solidFill>
                            <a:srgbClr val="C00000"/>
                          </a:solidFill>
                          <a:effectLst/>
                          <a:latin typeface="Times New Roman" pitchFamily="18" charset="0"/>
                          <a:ea typeface="黑体" pitchFamily="49" charset="-122"/>
                        </a:rPr>
                        <a:t>与</a:t>
                      </a:r>
                      <a:r>
                        <a:rPr kumimoji="0" lang="en-US" altLang="zh-CN" sz="1800" b="0" i="0" u="none" strike="noStrike" cap="none" normalizeH="0" baseline="0" dirty="0">
                          <a:ln>
                            <a:noFill/>
                          </a:ln>
                          <a:solidFill>
                            <a:srgbClr val="C00000"/>
                          </a:solidFill>
                          <a:effectLst/>
                          <a:latin typeface="Times New Roman" pitchFamily="18" charset="0"/>
                          <a:ea typeface="黑体" pitchFamily="49" charset="-122"/>
                        </a:rPr>
                        <a:t>U</a:t>
                      </a:r>
                    </a:p>
                  </a:txBody>
                  <a:tcPr marT="45717" marB="4571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A</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与</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T</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G</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与</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C</a:t>
                      </a:r>
                    </a:p>
                  </a:txBody>
                  <a:tcPr marT="45717" marB="4571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640074">
                <a:tc>
                  <a:txBody>
                    <a:bodyPr/>
                    <a:lstStyle/>
                    <a:p>
                      <a:pPr marL="0" marR="0" lvl="0" indent="0" algn="just"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dirty="0">
                          <a:ln>
                            <a:noFill/>
                          </a:ln>
                          <a:solidFill>
                            <a:srgbClr val="C00000"/>
                          </a:solidFill>
                          <a:effectLst/>
                          <a:latin typeface="Times New Roman" pitchFamily="18" charset="0"/>
                          <a:ea typeface="黑体" pitchFamily="49" charset="-122"/>
                        </a:rPr>
                        <a:t>分子大小</a:t>
                      </a:r>
                    </a:p>
                  </a:txBody>
                  <a:tcPr marT="45717" marB="45717"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1800" b="0" i="0" u="none" strike="noStrike" cap="none" normalizeH="0" baseline="0">
                          <a:ln>
                            <a:noFill/>
                          </a:ln>
                          <a:solidFill>
                            <a:schemeClr val="tx1"/>
                          </a:solidFill>
                          <a:effectLst/>
                          <a:latin typeface="Times New Roman" pitchFamily="18" charset="0"/>
                          <a:ea typeface="黑体" pitchFamily="49" charset="-122"/>
                        </a:rPr>
                        <a:t>不等，从几十至数千个核苷酸 </a:t>
                      </a:r>
                    </a:p>
                  </a:txBody>
                  <a:tcPr marT="45717" marB="45717"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因物种不同而异，但较</a:t>
                      </a:r>
                      <a:r>
                        <a:rPr kumimoji="0" lang="en-US" altLang="zh-CN" sz="1800" b="0" i="0" u="none" strike="noStrike" cap="none" normalizeH="0" baseline="0" dirty="0">
                          <a:ln>
                            <a:noFill/>
                          </a:ln>
                          <a:solidFill>
                            <a:schemeClr val="tx1"/>
                          </a:solidFill>
                          <a:effectLst/>
                          <a:latin typeface="Times New Roman" pitchFamily="18" charset="0"/>
                          <a:ea typeface="黑体" pitchFamily="49" charset="-122"/>
                        </a:rPr>
                        <a:t>RNA</a:t>
                      </a: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大得多 </a:t>
                      </a:r>
                    </a:p>
                  </a:txBody>
                  <a:tcPr marT="45717" marB="4571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73041">
                <a:tc>
                  <a:txBody>
                    <a:bodyPr/>
                    <a:lstStyle/>
                    <a:p>
                      <a:pPr marL="0" marR="0" lvl="0" indent="0" algn="just"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dirty="0">
                          <a:ln>
                            <a:noFill/>
                          </a:ln>
                          <a:solidFill>
                            <a:srgbClr val="C00000"/>
                          </a:solidFill>
                          <a:effectLst/>
                          <a:latin typeface="Times New Roman" pitchFamily="18" charset="0"/>
                          <a:ea typeface="黑体" pitchFamily="49" charset="-122"/>
                        </a:rPr>
                        <a:t>结构</a:t>
                      </a:r>
                    </a:p>
                  </a:txBody>
                  <a:tcPr marT="45717" marB="45717"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单链，局部互补配对形成双螺旋 </a:t>
                      </a:r>
                    </a:p>
                  </a:txBody>
                  <a:tcPr marT="45717" marB="45717"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双链，形成双螺旋结构 </a:t>
                      </a:r>
                    </a:p>
                  </a:txBody>
                  <a:tcPr marT="45717" marB="4571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640074">
                <a:tc>
                  <a:txBody>
                    <a:bodyPr/>
                    <a:lstStyle/>
                    <a:p>
                      <a:pPr marL="0" marR="0" lvl="0" indent="0" algn="just"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dirty="0">
                          <a:ln>
                            <a:noFill/>
                          </a:ln>
                          <a:solidFill>
                            <a:srgbClr val="C00000"/>
                          </a:solidFill>
                          <a:effectLst/>
                          <a:latin typeface="Times New Roman" pitchFamily="18" charset="0"/>
                          <a:ea typeface="黑体" pitchFamily="49" charset="-122"/>
                        </a:rPr>
                        <a:t>功能 </a:t>
                      </a:r>
                    </a:p>
                  </a:txBody>
                  <a:tcPr marT="45717" marB="45717" horzOverflow="overflow">
                    <a:lnL cap="flat">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多样，涉及遗传信息表达的各个方面 </a:t>
                      </a:r>
                    </a:p>
                  </a:txBody>
                  <a:tcPr marT="45717" marB="45717" horzOverflow="overflow">
                    <a:lnL>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1800" b="0" i="0" u="none" strike="noStrike" cap="none" normalizeH="0" baseline="0" dirty="0">
                          <a:ln>
                            <a:noFill/>
                          </a:ln>
                          <a:solidFill>
                            <a:schemeClr val="tx1"/>
                          </a:solidFill>
                          <a:effectLst/>
                          <a:latin typeface="Times New Roman" pitchFamily="18" charset="0"/>
                          <a:ea typeface="黑体" pitchFamily="49" charset="-122"/>
                        </a:rPr>
                        <a:t>携带遗传信息 </a:t>
                      </a:r>
                    </a:p>
                  </a:txBody>
                  <a:tcPr marT="45717" marB="45717" horzOverflow="overflow">
                    <a:lnL>
                      <a:noFill/>
                    </a:lnL>
                    <a:lnR cap="flat">
                      <a:noFill/>
                    </a:lnR>
                    <a:ln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ransition spd="slow">
    <p:circl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4">
            <a:extLst>
              <a:ext uri="{FF2B5EF4-FFF2-40B4-BE49-F238E27FC236}">
                <a16:creationId xmlns:a16="http://schemas.microsoft.com/office/drawing/2014/main" id="{627073C8-D004-4C21-9C26-3934DB99DEF0}"/>
              </a:ext>
            </a:extLst>
          </p:cNvPr>
          <p:cNvSpPr txBox="1">
            <a:spLocks noChangeArrowheads="1"/>
          </p:cNvSpPr>
          <p:nvPr/>
        </p:nvSpPr>
        <p:spPr bwMode="auto">
          <a:xfrm>
            <a:off x="837705" y="1196687"/>
            <a:ext cx="1094521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sz="3200" dirty="0">
                <a:solidFill>
                  <a:srgbClr val="000099"/>
                </a:solidFill>
                <a:latin typeface="Times New Roman" panose="02020603050405020304" pitchFamily="18" charset="0"/>
                <a:ea typeface="黑体" panose="02010609060101010101" pitchFamily="49" charset="-122"/>
              </a:rPr>
              <a:t>一 、信使</a:t>
            </a:r>
            <a:r>
              <a:rPr lang="en-US" altLang="zh-CN" sz="3200" dirty="0">
                <a:solidFill>
                  <a:srgbClr val="000099"/>
                </a:solidFill>
                <a:latin typeface="Times New Roman" panose="02020603050405020304" pitchFamily="18" charset="0"/>
                <a:ea typeface="黑体" panose="02010609060101010101" pitchFamily="49" charset="-122"/>
              </a:rPr>
              <a:t>RNA</a:t>
            </a:r>
            <a:r>
              <a:rPr lang="zh-CN" altLang="en-US" dirty="0">
                <a:solidFill>
                  <a:srgbClr val="000099"/>
                </a:solidFill>
                <a:latin typeface="Times New Roman" panose="02020603050405020304" pitchFamily="18" charset="0"/>
                <a:ea typeface="黑体" panose="02010609060101010101" pitchFamily="49" charset="-122"/>
              </a:rPr>
              <a:t>（</a:t>
            </a:r>
            <a:r>
              <a:rPr lang="en-US" altLang="zh-CN" dirty="0">
                <a:solidFill>
                  <a:srgbClr val="000099"/>
                </a:solidFill>
                <a:latin typeface="Times New Roman" panose="02020603050405020304" pitchFamily="18" charset="0"/>
                <a:ea typeface="黑体" panose="02010609060101010101" pitchFamily="49" charset="-122"/>
              </a:rPr>
              <a:t>messenger RNA, </a:t>
            </a:r>
            <a:r>
              <a:rPr lang="en-US" altLang="zh-CN" dirty="0">
                <a:solidFill>
                  <a:srgbClr val="FF0000"/>
                </a:solidFill>
                <a:latin typeface="Times New Roman" panose="02020603050405020304" pitchFamily="18" charset="0"/>
                <a:ea typeface="黑体" panose="02010609060101010101" pitchFamily="49" charset="-122"/>
              </a:rPr>
              <a:t>mRNA</a:t>
            </a:r>
            <a:r>
              <a:rPr lang="zh-CN" altLang="en-US" dirty="0">
                <a:solidFill>
                  <a:srgbClr val="000099"/>
                </a:solidFill>
                <a:latin typeface="Times New Roman" panose="02020603050405020304" pitchFamily="18" charset="0"/>
                <a:ea typeface="黑体" panose="02010609060101010101" pitchFamily="49" charset="-122"/>
              </a:rPr>
              <a:t>）</a:t>
            </a:r>
            <a:r>
              <a:rPr lang="zh-CN" altLang="en-US" sz="3200" dirty="0">
                <a:solidFill>
                  <a:srgbClr val="000099"/>
                </a:solidFill>
                <a:latin typeface="Times New Roman" panose="02020603050405020304" pitchFamily="18" charset="0"/>
                <a:ea typeface="黑体" panose="02010609060101010101" pitchFamily="49" charset="-122"/>
              </a:rPr>
              <a:t>是蛋白质合成的模板</a:t>
            </a:r>
          </a:p>
        </p:txBody>
      </p:sp>
      <p:sp>
        <p:nvSpPr>
          <p:cNvPr id="221187" name="Text Box 52">
            <a:extLst>
              <a:ext uri="{FF2B5EF4-FFF2-40B4-BE49-F238E27FC236}">
                <a16:creationId xmlns:a16="http://schemas.microsoft.com/office/drawing/2014/main" id="{B714D171-D20B-46BF-8B3E-1572CCFBA52A}"/>
              </a:ext>
            </a:extLst>
          </p:cNvPr>
          <p:cNvSpPr txBox="1">
            <a:spLocks noChangeArrowheads="1"/>
          </p:cNvSpPr>
          <p:nvPr/>
        </p:nvSpPr>
        <p:spPr bwMode="auto">
          <a:xfrm>
            <a:off x="3935760" y="2492896"/>
            <a:ext cx="6192267" cy="238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50000"/>
              </a:lnSpc>
              <a:spcBef>
                <a:spcPct val="50000"/>
              </a:spcBef>
              <a:buClr>
                <a:srgbClr val="0000CC"/>
              </a:buClr>
              <a:buFont typeface="Wingdings" panose="05000000000000000000" pitchFamily="2" charset="2"/>
              <a:buChar char="u"/>
            </a:pPr>
            <a:r>
              <a:rPr lang="en-US" altLang="zh-CN" b="0" dirty="0">
                <a:solidFill>
                  <a:schemeClr val="tx1"/>
                </a:solidFill>
                <a:latin typeface="Times New Roman" panose="02020603050405020304" pitchFamily="18" charset="0"/>
                <a:ea typeface="黑体" panose="02010609060101010101" pitchFamily="49" charset="-122"/>
              </a:rPr>
              <a:t>  </a:t>
            </a:r>
            <a:r>
              <a:rPr lang="zh-CN" altLang="en-US" b="0" dirty="0">
                <a:solidFill>
                  <a:schemeClr val="tx1"/>
                </a:solidFill>
                <a:latin typeface="Times New Roman" panose="02020603050405020304" pitchFamily="18" charset="0"/>
                <a:ea typeface="黑体" panose="02010609060101010101" pitchFamily="49" charset="-122"/>
              </a:rPr>
              <a:t>种类最多</a:t>
            </a:r>
            <a:r>
              <a:rPr lang="en-US" altLang="zh-CN" b="0" dirty="0">
                <a:solidFill>
                  <a:schemeClr val="tx1"/>
                </a:solidFill>
                <a:latin typeface="Times New Roman" panose="02020603050405020304" pitchFamily="18" charset="0"/>
                <a:ea typeface="黑体" panose="02010609060101010101" pitchFamily="49" charset="-122"/>
              </a:rPr>
              <a:t>:  10</a:t>
            </a:r>
            <a:r>
              <a:rPr lang="en-US" altLang="zh-CN" b="0" baseline="30000" dirty="0">
                <a:solidFill>
                  <a:schemeClr val="tx1"/>
                </a:solidFill>
                <a:latin typeface="Times New Roman" panose="02020603050405020304" pitchFamily="18" charset="0"/>
                <a:ea typeface="黑体" panose="02010609060101010101" pitchFamily="49" charset="-122"/>
              </a:rPr>
              <a:t>5</a:t>
            </a:r>
          </a:p>
          <a:p>
            <a:pPr eaLnBrk="1" hangingPunct="1">
              <a:lnSpc>
                <a:spcPct val="150000"/>
              </a:lnSpc>
              <a:spcBef>
                <a:spcPct val="50000"/>
              </a:spcBef>
              <a:buClr>
                <a:srgbClr val="0000CC"/>
              </a:buClr>
              <a:buFont typeface="Wingdings" panose="05000000000000000000" pitchFamily="2" charset="2"/>
              <a:buChar char="u"/>
            </a:pPr>
            <a:r>
              <a:rPr lang="en-US" altLang="zh-CN" b="0" dirty="0">
                <a:solidFill>
                  <a:schemeClr val="tx1"/>
                </a:solidFill>
                <a:latin typeface="Times New Roman" panose="02020603050405020304" pitchFamily="18" charset="0"/>
                <a:ea typeface="黑体" panose="02010609060101010101" pitchFamily="49" charset="-122"/>
              </a:rPr>
              <a:t>  </a:t>
            </a:r>
            <a:r>
              <a:rPr lang="zh-CN" altLang="en-US" b="0" dirty="0">
                <a:solidFill>
                  <a:schemeClr val="tx1"/>
                </a:solidFill>
                <a:latin typeface="Times New Roman" panose="02020603050405020304" pitchFamily="18" charset="0"/>
                <a:ea typeface="黑体" panose="02010609060101010101" pitchFamily="49" charset="-122"/>
              </a:rPr>
              <a:t>丰度最小</a:t>
            </a:r>
            <a:r>
              <a:rPr lang="en-US" altLang="zh-CN" b="0" dirty="0">
                <a:solidFill>
                  <a:schemeClr val="tx1"/>
                </a:solidFill>
                <a:latin typeface="Times New Roman" panose="02020603050405020304" pitchFamily="18" charset="0"/>
                <a:ea typeface="黑体" panose="02010609060101010101" pitchFamily="49" charset="-122"/>
              </a:rPr>
              <a:t>:  2~5%</a:t>
            </a:r>
          </a:p>
          <a:p>
            <a:pPr eaLnBrk="1" hangingPunct="1">
              <a:lnSpc>
                <a:spcPct val="150000"/>
              </a:lnSpc>
              <a:spcBef>
                <a:spcPct val="50000"/>
              </a:spcBef>
              <a:buClr>
                <a:srgbClr val="0000CC"/>
              </a:buClr>
              <a:buFont typeface="Wingdings" panose="05000000000000000000" pitchFamily="2" charset="2"/>
              <a:buChar char="u"/>
            </a:pPr>
            <a:r>
              <a:rPr lang="en-US" altLang="zh-CN" b="0" dirty="0">
                <a:solidFill>
                  <a:schemeClr val="tx1"/>
                </a:solidFill>
                <a:latin typeface="Times New Roman" panose="02020603050405020304" pitchFamily="18" charset="0"/>
                <a:ea typeface="黑体" panose="02010609060101010101" pitchFamily="49" charset="-122"/>
              </a:rPr>
              <a:t>  </a:t>
            </a:r>
            <a:r>
              <a:rPr lang="zh-CN" altLang="en-US" b="0" dirty="0">
                <a:solidFill>
                  <a:schemeClr val="tx1"/>
                </a:solidFill>
                <a:latin typeface="Times New Roman" panose="02020603050405020304" pitchFamily="18" charset="0"/>
                <a:ea typeface="黑体" panose="02010609060101010101" pitchFamily="49" charset="-122"/>
              </a:rPr>
              <a:t>寿命最短</a:t>
            </a:r>
            <a:r>
              <a:rPr lang="en-US" altLang="zh-CN" b="0" dirty="0">
                <a:solidFill>
                  <a:schemeClr val="tx1"/>
                </a:solidFill>
                <a:latin typeface="Times New Roman" panose="02020603050405020304" pitchFamily="18" charset="0"/>
                <a:ea typeface="黑体" panose="02010609060101010101" pitchFamily="49" charset="-122"/>
              </a:rPr>
              <a:t>:  </a:t>
            </a:r>
            <a:r>
              <a:rPr lang="zh-CN" altLang="en-US" b="0" dirty="0">
                <a:solidFill>
                  <a:schemeClr val="tx1"/>
                </a:solidFill>
                <a:latin typeface="Times New Roman" panose="02020603050405020304" pitchFamily="18" charset="0"/>
                <a:ea typeface="黑体" panose="02010609060101010101" pitchFamily="49" charset="-122"/>
              </a:rPr>
              <a:t>几分钟到几小时不等</a:t>
            </a:r>
          </a:p>
        </p:txBody>
      </p:sp>
    </p:spTree>
  </p:cSld>
  <p:clrMapOvr>
    <a:masterClrMapping/>
  </p:clrMapOvr>
  <p:transition spd="slow">
    <p:circl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a:extLst>
              <a:ext uri="{FF2B5EF4-FFF2-40B4-BE49-F238E27FC236}">
                <a16:creationId xmlns:a16="http://schemas.microsoft.com/office/drawing/2014/main" id="{F437E23F-B4F0-4445-99BE-7E7987A1D463}"/>
              </a:ext>
            </a:extLst>
          </p:cNvPr>
          <p:cNvSpPr>
            <a:spLocks noChangeArrowheads="1"/>
          </p:cNvSpPr>
          <p:nvPr/>
        </p:nvSpPr>
        <p:spPr bwMode="auto">
          <a:xfrm>
            <a:off x="1992313" y="1125539"/>
            <a:ext cx="61912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3200" b="0">
                <a:solidFill>
                  <a:srgbClr val="FF0000"/>
                </a:solidFill>
                <a:latin typeface="Times New Roman" panose="02020603050405020304" pitchFamily="18" charset="0"/>
                <a:ea typeface="黑体" panose="02010609060101010101" pitchFamily="49" charset="-122"/>
              </a:rPr>
              <a:t>* (</a:t>
            </a:r>
            <a:r>
              <a:rPr lang="zh-CN" altLang="en-US" sz="3200" b="0">
                <a:solidFill>
                  <a:srgbClr val="FF0000"/>
                </a:solidFill>
                <a:latin typeface="Times New Roman" panose="02020603050405020304" pitchFamily="18" charset="0"/>
                <a:ea typeface="黑体" panose="02010609060101010101" pitchFamily="49" charset="-122"/>
              </a:rPr>
              <a:t>真核生物）</a:t>
            </a:r>
            <a:r>
              <a:rPr lang="en-US" altLang="zh-CN" sz="3200" b="0">
                <a:solidFill>
                  <a:srgbClr val="FF0000"/>
                </a:solidFill>
                <a:latin typeface="Times New Roman" panose="02020603050405020304" pitchFamily="18" charset="0"/>
                <a:ea typeface="黑体" panose="02010609060101010101" pitchFamily="49" charset="-122"/>
              </a:rPr>
              <a:t>mRNA</a:t>
            </a:r>
            <a:r>
              <a:rPr lang="zh-CN" altLang="en-US" sz="3200" b="0">
                <a:solidFill>
                  <a:srgbClr val="FF0000"/>
                </a:solidFill>
                <a:latin typeface="Times New Roman" panose="02020603050405020304" pitchFamily="18" charset="0"/>
                <a:ea typeface="黑体" panose="02010609060101010101" pitchFamily="49" charset="-122"/>
              </a:rPr>
              <a:t>结构特点</a:t>
            </a:r>
          </a:p>
        </p:txBody>
      </p:sp>
      <p:sp>
        <p:nvSpPr>
          <p:cNvPr id="219139" name="Rectangle 3">
            <a:extLst>
              <a:ext uri="{FF2B5EF4-FFF2-40B4-BE49-F238E27FC236}">
                <a16:creationId xmlns:a16="http://schemas.microsoft.com/office/drawing/2014/main" id="{149E7BE4-84DF-4827-B26B-A8FA85EC416D}"/>
              </a:ext>
            </a:extLst>
          </p:cNvPr>
          <p:cNvSpPr>
            <a:spLocks noChangeArrowheads="1"/>
          </p:cNvSpPr>
          <p:nvPr/>
        </p:nvSpPr>
        <p:spPr bwMode="auto">
          <a:xfrm>
            <a:off x="2244819" y="2394631"/>
            <a:ext cx="7955637" cy="1001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44500" indent="-4445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just" eaLnBrk="1" hangingPunct="1">
              <a:lnSpc>
                <a:spcPct val="110000"/>
              </a:lnSpc>
              <a:spcBef>
                <a:spcPct val="0"/>
              </a:spcBef>
              <a:buClrTx/>
              <a:buFontTx/>
              <a:buNone/>
            </a:pPr>
            <a:r>
              <a:rPr lang="en-US" altLang="zh-CN" b="0" dirty="0">
                <a:solidFill>
                  <a:schemeClr val="tx1"/>
                </a:solidFill>
                <a:latin typeface="Times New Roman" panose="02020603050405020304" pitchFamily="18" charset="0"/>
                <a:ea typeface="黑体" panose="02010609060101010101" pitchFamily="49" charset="-122"/>
              </a:rPr>
              <a:t>1. </a:t>
            </a:r>
            <a:r>
              <a:rPr lang="zh-CN" altLang="en-US" b="0" dirty="0">
                <a:solidFill>
                  <a:schemeClr val="tx1"/>
                </a:solidFill>
                <a:latin typeface="Times New Roman" panose="02020603050405020304" pitchFamily="18" charset="0"/>
                <a:ea typeface="黑体" panose="02010609060101010101" pitchFamily="49" charset="-122"/>
              </a:rPr>
              <a:t>大多数真核</a:t>
            </a:r>
            <a:r>
              <a:rPr lang="en-US" altLang="zh-CN" b="0" dirty="0">
                <a:solidFill>
                  <a:schemeClr val="tx1"/>
                </a:solidFill>
                <a:latin typeface="Times New Roman" panose="02020603050405020304" pitchFamily="18" charset="0"/>
                <a:ea typeface="黑体" panose="02010609060101010101" pitchFamily="49" charset="-122"/>
              </a:rPr>
              <a:t>mRNA</a:t>
            </a:r>
            <a:r>
              <a:rPr lang="zh-CN" altLang="en-US" b="0" dirty="0">
                <a:solidFill>
                  <a:schemeClr val="tx1"/>
                </a:solidFill>
                <a:latin typeface="Times New Roman" panose="02020603050405020304" pitchFamily="18" charset="0"/>
                <a:ea typeface="黑体" panose="02010609060101010101" pitchFamily="49" charset="-122"/>
              </a:rPr>
              <a:t>的</a:t>
            </a:r>
            <a:r>
              <a:rPr lang="en-US" altLang="zh-CN" b="0" dirty="0">
                <a:solidFill>
                  <a:srgbClr val="FF0000"/>
                </a:solidFill>
                <a:latin typeface="Times New Roman" panose="02020603050405020304" pitchFamily="18" charset="0"/>
                <a:ea typeface="黑体" panose="02010609060101010101" pitchFamily="49" charset="-122"/>
              </a:rPr>
              <a:t>5´</a:t>
            </a:r>
            <a:r>
              <a:rPr lang="zh-CN" altLang="en-US" b="0" dirty="0">
                <a:solidFill>
                  <a:srgbClr val="FF0000"/>
                </a:solidFill>
                <a:latin typeface="Times New Roman" panose="02020603050405020304" pitchFamily="18" charset="0"/>
                <a:ea typeface="黑体" panose="02010609060101010101" pitchFamily="49" charset="-122"/>
              </a:rPr>
              <a:t>末端</a:t>
            </a:r>
            <a:r>
              <a:rPr lang="zh-CN" altLang="en-US" b="0" dirty="0">
                <a:solidFill>
                  <a:schemeClr val="tx1"/>
                </a:solidFill>
                <a:latin typeface="Times New Roman" panose="02020603050405020304" pitchFamily="18" charset="0"/>
                <a:ea typeface="黑体" panose="02010609060101010101" pitchFamily="49" charset="-122"/>
              </a:rPr>
              <a:t>均在转录后加上一个帽子结构（</a:t>
            </a:r>
            <a:r>
              <a:rPr lang="en-US" altLang="zh-CN" b="0" dirty="0">
                <a:solidFill>
                  <a:schemeClr val="tx1"/>
                </a:solidFill>
                <a:latin typeface="Times New Roman" panose="02020603050405020304" pitchFamily="18" charset="0"/>
                <a:ea typeface="黑体" panose="02010609060101010101" pitchFamily="49" charset="-122"/>
              </a:rPr>
              <a:t>5′-cap structure</a:t>
            </a:r>
            <a:r>
              <a:rPr lang="zh-CN" altLang="en-US" b="0" dirty="0">
                <a:solidFill>
                  <a:schemeClr val="tx1"/>
                </a:solidFill>
                <a:latin typeface="Times New Roman" panose="02020603050405020304" pitchFamily="18" charset="0"/>
                <a:ea typeface="黑体" panose="02010609060101010101" pitchFamily="49" charset="-122"/>
              </a:rPr>
              <a:t>）：</a:t>
            </a:r>
            <a:r>
              <a:rPr lang="en-US" altLang="zh-CN" b="0" dirty="0">
                <a:solidFill>
                  <a:srgbClr val="FF0000"/>
                </a:solidFill>
                <a:latin typeface="Times New Roman" panose="02020603050405020304" pitchFamily="18" charset="0"/>
                <a:ea typeface="黑体" panose="02010609060101010101" pitchFamily="49" charset="-122"/>
              </a:rPr>
              <a:t>m</a:t>
            </a:r>
            <a:r>
              <a:rPr lang="en-US" altLang="zh-CN" b="0" baseline="30000" dirty="0">
                <a:solidFill>
                  <a:srgbClr val="FF0000"/>
                </a:solidFill>
                <a:latin typeface="Times New Roman" panose="02020603050405020304" pitchFamily="18" charset="0"/>
                <a:ea typeface="黑体" panose="02010609060101010101" pitchFamily="49" charset="-122"/>
              </a:rPr>
              <a:t>7</a:t>
            </a:r>
            <a:r>
              <a:rPr lang="en-US" altLang="zh-CN" b="0" dirty="0">
                <a:solidFill>
                  <a:srgbClr val="FF0000"/>
                </a:solidFill>
                <a:latin typeface="Times New Roman" panose="02020603050405020304" pitchFamily="18" charset="0"/>
                <a:ea typeface="黑体" panose="02010609060101010101" pitchFamily="49" charset="-122"/>
              </a:rPr>
              <a:t>GpppN</a:t>
            </a:r>
            <a:r>
              <a:rPr lang="en-US" altLang="zh-CN" b="0" baseline="30000" dirty="0">
                <a:solidFill>
                  <a:srgbClr val="FF0000"/>
                </a:solidFill>
                <a:latin typeface="Times New Roman" panose="02020603050405020304" pitchFamily="18" charset="0"/>
                <a:ea typeface="黑体" panose="02010609060101010101" pitchFamily="49" charset="-122"/>
              </a:rPr>
              <a:t>m</a:t>
            </a:r>
            <a:r>
              <a:rPr lang="zh-CN" altLang="en-US" b="0" dirty="0">
                <a:solidFill>
                  <a:schemeClr val="tx1"/>
                </a:solidFill>
                <a:latin typeface="Times New Roman" panose="02020603050405020304" pitchFamily="18" charset="0"/>
                <a:ea typeface="黑体" panose="02010609060101010101" pitchFamily="49" charset="-122"/>
              </a:rPr>
              <a:t>。</a:t>
            </a:r>
          </a:p>
        </p:txBody>
      </p:sp>
      <p:sp>
        <p:nvSpPr>
          <p:cNvPr id="219140" name="Rectangle 4">
            <a:extLst>
              <a:ext uri="{FF2B5EF4-FFF2-40B4-BE49-F238E27FC236}">
                <a16:creationId xmlns:a16="http://schemas.microsoft.com/office/drawing/2014/main" id="{9AAC55E2-1264-47F4-9E21-E9702DEB2696}"/>
              </a:ext>
            </a:extLst>
          </p:cNvPr>
          <p:cNvSpPr>
            <a:spLocks noChangeArrowheads="1"/>
          </p:cNvSpPr>
          <p:nvPr/>
        </p:nvSpPr>
        <p:spPr bwMode="auto">
          <a:xfrm>
            <a:off x="2279650" y="4202114"/>
            <a:ext cx="7704138"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44500" indent="-4445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10000"/>
              </a:lnSpc>
              <a:spcBef>
                <a:spcPct val="0"/>
              </a:spcBef>
              <a:buClrTx/>
              <a:buFontTx/>
              <a:buNone/>
            </a:pPr>
            <a:r>
              <a:rPr lang="en-US" altLang="zh-CN" b="0" dirty="0">
                <a:solidFill>
                  <a:schemeClr val="tx1"/>
                </a:solidFill>
                <a:latin typeface="Times New Roman" panose="02020603050405020304" pitchFamily="18" charset="0"/>
                <a:ea typeface="黑体" panose="02010609060101010101" pitchFamily="49" charset="-122"/>
              </a:rPr>
              <a:t>2.  </a:t>
            </a:r>
            <a:r>
              <a:rPr lang="zh-CN" altLang="en-US" b="0" dirty="0">
                <a:solidFill>
                  <a:schemeClr val="tx1"/>
                </a:solidFill>
                <a:latin typeface="Times New Roman" panose="02020603050405020304" pitchFamily="18" charset="0"/>
                <a:ea typeface="黑体" panose="02010609060101010101" pitchFamily="49" charset="-122"/>
              </a:rPr>
              <a:t>大多数真核</a:t>
            </a:r>
            <a:r>
              <a:rPr lang="en-US" altLang="zh-CN" b="0" dirty="0">
                <a:solidFill>
                  <a:schemeClr val="tx1"/>
                </a:solidFill>
                <a:latin typeface="Times New Roman" panose="02020603050405020304" pitchFamily="18" charset="0"/>
                <a:ea typeface="黑体" panose="02010609060101010101" pitchFamily="49" charset="-122"/>
              </a:rPr>
              <a:t>mRNA</a:t>
            </a:r>
            <a:r>
              <a:rPr lang="zh-CN" altLang="en-US" b="0" dirty="0">
                <a:solidFill>
                  <a:schemeClr val="tx1"/>
                </a:solidFill>
                <a:latin typeface="Times New Roman" panose="02020603050405020304" pitchFamily="18" charset="0"/>
                <a:ea typeface="黑体" panose="02010609060101010101" pitchFamily="49" charset="-122"/>
              </a:rPr>
              <a:t>的</a:t>
            </a:r>
            <a:r>
              <a:rPr lang="en-US" altLang="zh-CN" b="0" dirty="0">
                <a:solidFill>
                  <a:srgbClr val="FF0000"/>
                </a:solidFill>
                <a:latin typeface="Times New Roman" panose="02020603050405020304" pitchFamily="18" charset="0"/>
                <a:ea typeface="黑体" panose="02010609060101010101" pitchFamily="49" charset="-122"/>
              </a:rPr>
              <a:t>3´</a:t>
            </a:r>
            <a:r>
              <a:rPr lang="zh-CN" altLang="en-US" b="0" dirty="0">
                <a:solidFill>
                  <a:srgbClr val="FF0000"/>
                </a:solidFill>
                <a:latin typeface="Times New Roman" panose="02020603050405020304" pitchFamily="18" charset="0"/>
                <a:ea typeface="黑体" panose="02010609060101010101" pitchFamily="49" charset="-122"/>
              </a:rPr>
              <a:t>末端</a:t>
            </a:r>
            <a:r>
              <a:rPr lang="zh-CN" altLang="en-US" b="0" dirty="0">
                <a:solidFill>
                  <a:schemeClr val="tx1"/>
                </a:solidFill>
                <a:latin typeface="Times New Roman" panose="02020603050405020304" pitchFamily="18" charset="0"/>
                <a:ea typeface="黑体" panose="02010609060101010101" pitchFamily="49" charset="-122"/>
              </a:rPr>
              <a:t>有一个多聚腺苷酸</a:t>
            </a:r>
            <a:r>
              <a:rPr lang="en-US" altLang="zh-CN" b="0" dirty="0">
                <a:solidFill>
                  <a:srgbClr val="FF0000"/>
                </a:solidFill>
                <a:latin typeface="Times New Roman" panose="02020603050405020304" pitchFamily="18" charset="0"/>
                <a:ea typeface="黑体" panose="02010609060101010101" pitchFamily="49" charset="-122"/>
              </a:rPr>
              <a:t>poly(A)</a:t>
            </a:r>
            <a:r>
              <a:rPr lang="zh-CN" altLang="en-US" b="0" dirty="0">
                <a:solidFill>
                  <a:schemeClr val="tx1"/>
                </a:solidFill>
                <a:latin typeface="Times New Roman" panose="02020603050405020304" pitchFamily="18" charset="0"/>
                <a:ea typeface="黑体" panose="02010609060101010101" pitchFamily="49" charset="-122"/>
              </a:rPr>
              <a:t>结构，称为</a:t>
            </a:r>
            <a:r>
              <a:rPr lang="zh-CN" altLang="en-US" b="0" dirty="0">
                <a:solidFill>
                  <a:srgbClr val="FF0000"/>
                </a:solidFill>
                <a:latin typeface="Times New Roman" panose="02020603050405020304" pitchFamily="18" charset="0"/>
                <a:ea typeface="黑体" panose="02010609060101010101" pitchFamily="49" charset="-122"/>
              </a:rPr>
              <a:t>多聚</a:t>
            </a:r>
            <a:r>
              <a:rPr lang="en-US" altLang="zh-CN" b="0" dirty="0">
                <a:solidFill>
                  <a:srgbClr val="FF0000"/>
                </a:solidFill>
                <a:latin typeface="Times New Roman" panose="02020603050405020304" pitchFamily="18" charset="0"/>
                <a:ea typeface="黑体" panose="02010609060101010101" pitchFamily="49" charset="-122"/>
              </a:rPr>
              <a:t>A</a:t>
            </a:r>
            <a:r>
              <a:rPr lang="zh-CN" altLang="en-US" b="0" dirty="0">
                <a:solidFill>
                  <a:srgbClr val="FF0000"/>
                </a:solidFill>
                <a:latin typeface="Times New Roman" panose="02020603050405020304" pitchFamily="18" charset="0"/>
                <a:ea typeface="黑体" panose="02010609060101010101" pitchFamily="49" charset="-122"/>
              </a:rPr>
              <a:t>尾</a:t>
            </a:r>
            <a:r>
              <a:rPr lang="zh-CN" altLang="en-US" b="0" dirty="0">
                <a:solidFill>
                  <a:schemeClr val="tx1"/>
                </a:solidFill>
                <a:latin typeface="Times New Roman" panose="02020603050405020304" pitchFamily="18" charset="0"/>
                <a:ea typeface="黑体" panose="02010609060101010101" pitchFamily="49" charset="-122"/>
              </a:rPr>
              <a:t>。</a:t>
            </a:r>
          </a:p>
        </p:txBody>
      </p:sp>
      <p:sp>
        <p:nvSpPr>
          <p:cNvPr id="225285" name="灯片编号占位符 1">
            <a:extLst>
              <a:ext uri="{FF2B5EF4-FFF2-40B4-BE49-F238E27FC236}">
                <a16:creationId xmlns:a16="http://schemas.microsoft.com/office/drawing/2014/main" id="{1C1730A1-04E3-4D5F-997C-6B1D75028A8B}"/>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BE6FF611-9C60-48E0-86E8-EA0199CAF2E1}" type="slidenum">
              <a:rPr lang="zh-CN" altLang="en-US" sz="1200" b="0">
                <a:solidFill>
                  <a:srgbClr val="898F89"/>
                </a:solidFill>
              </a:rPr>
              <a:pPr>
                <a:spcBef>
                  <a:spcPct val="0"/>
                </a:spcBef>
                <a:buClrTx/>
                <a:buFontTx/>
                <a:buNone/>
              </a:pPr>
              <a:t>83</a:t>
            </a:fld>
            <a:endParaRPr lang="zh-CN" altLang="en-US" sz="1200" b="0">
              <a:solidFill>
                <a:srgbClr val="898F8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19139"/>
                                        </p:tgtEl>
                                        <p:attrNameLst>
                                          <p:attrName>style.visibility</p:attrName>
                                        </p:attrNameLst>
                                      </p:cBhvr>
                                      <p:to>
                                        <p:strVal val="visible"/>
                                      </p:to>
                                    </p:set>
                                    <p:animEffect transition="in" filter="randombar(horizontal)">
                                      <p:cBhvr>
                                        <p:cTn id="7" dur="500"/>
                                        <p:tgtEl>
                                          <p:spTgt spid="2191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19140"/>
                                        </p:tgtEl>
                                        <p:attrNameLst>
                                          <p:attrName>style.visibility</p:attrName>
                                        </p:attrNameLst>
                                      </p:cBhvr>
                                      <p:to>
                                        <p:strVal val="visible"/>
                                      </p:to>
                                    </p:set>
                                    <p:animEffect transition="in" filter="randombar(horizontal)">
                                      <p:cBhvr>
                                        <p:cTn id="12" dur="500"/>
                                        <p:tgtEl>
                                          <p:spTgt spid="219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9" grpId="0" autoUpdateAnimBg="0"/>
      <p:bldP spid="219140"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7330" name="Picture 11" descr="帽子结构">
            <a:extLst>
              <a:ext uri="{FF2B5EF4-FFF2-40B4-BE49-F238E27FC236}">
                <a16:creationId xmlns:a16="http://schemas.microsoft.com/office/drawing/2014/main" id="{71A4B7C8-3C4D-4B4F-BEBC-8724817D27A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640014" y="1557338"/>
            <a:ext cx="7056437" cy="4525962"/>
          </a:xfrm>
        </p:spPr>
      </p:pic>
      <p:sp>
        <p:nvSpPr>
          <p:cNvPr id="266243" name="Rectangle 1024">
            <a:extLst>
              <a:ext uri="{FF2B5EF4-FFF2-40B4-BE49-F238E27FC236}">
                <a16:creationId xmlns:a16="http://schemas.microsoft.com/office/drawing/2014/main" id="{76D07E28-3760-4A7E-9D45-11909DA2179D}"/>
              </a:ext>
            </a:extLst>
          </p:cNvPr>
          <p:cNvSpPr>
            <a:spLocks noGrp="1" noChangeArrowheads="1"/>
          </p:cNvSpPr>
          <p:nvPr>
            <p:ph type="title"/>
          </p:nvPr>
        </p:nvSpPr>
        <p:spPr>
          <a:xfrm>
            <a:off x="1981201" y="117475"/>
            <a:ext cx="7859713" cy="1460500"/>
          </a:xfrm>
        </p:spPr>
        <p:txBody>
          <a:bodyPr>
            <a:spAutoFit/>
          </a:bodyPr>
          <a:lstStyle/>
          <a:p>
            <a:pPr eaLnBrk="1" hangingPunct="1">
              <a:lnSpc>
                <a:spcPct val="130000"/>
              </a:lnSpc>
              <a:spcAft>
                <a:spcPct val="30000"/>
              </a:spcAft>
              <a:defRPr/>
            </a:pPr>
            <a:r>
              <a:rPr lang="en-US" altLang="zh-CN" sz="3600" b="0" kern="1200" dirty="0">
                <a:latin typeface="Times New Roman" panose="02020603050405020304" pitchFamily="18" charset="0"/>
                <a:ea typeface="黑体" panose="02010609060101010101" pitchFamily="49" charset="-122"/>
                <a:cs typeface="+mn-cs"/>
              </a:rPr>
              <a:t>pre-mRNA</a:t>
            </a:r>
            <a:r>
              <a:rPr lang="zh-CN" altLang="en-US" sz="3600" b="0" kern="1200" dirty="0">
                <a:latin typeface="Times New Roman" panose="02020603050405020304" pitchFamily="18" charset="0"/>
                <a:ea typeface="黑体" panose="02010609060101010101" pitchFamily="49" charset="-122"/>
                <a:cs typeface="+mn-cs"/>
              </a:rPr>
              <a:t>在</a:t>
            </a:r>
            <a:r>
              <a:rPr lang="en-US" altLang="zh-CN" sz="3600" b="0" kern="1200" dirty="0">
                <a:latin typeface="Times New Roman" panose="02020603050405020304" pitchFamily="18" charset="0"/>
                <a:ea typeface="黑体" panose="02010609060101010101" pitchFamily="49" charset="-122"/>
                <a:cs typeface="+mn-cs"/>
              </a:rPr>
              <a:t>5</a:t>
            </a:r>
            <a:r>
              <a:rPr lang="en-US" altLang="zh-CN" sz="3600" b="0" kern="1200" dirty="0">
                <a:latin typeface="Times New Roman" panose="02020603050405020304" pitchFamily="18" charset="0"/>
                <a:ea typeface="黑体" panose="02010609060101010101" pitchFamily="49" charset="-122"/>
                <a:cs typeface="+mn-cs"/>
                <a:sym typeface="Symbol" panose="05050102010706020507" pitchFamily="18" charset="2"/>
              </a:rPr>
              <a:t></a:t>
            </a:r>
            <a:r>
              <a:rPr lang="zh-CN" altLang="en-US" sz="3600" b="0" kern="1200" dirty="0">
                <a:latin typeface="Times New Roman" panose="02020603050405020304" pitchFamily="18" charset="0"/>
                <a:ea typeface="黑体" panose="02010609060101010101" pitchFamily="49" charset="-122"/>
                <a:cs typeface="+mn-cs"/>
              </a:rPr>
              <a:t>末端加入帽子结构</a:t>
            </a:r>
            <a:br>
              <a:rPr lang="zh-CN" altLang="en-US" sz="3600" b="0" kern="1200" dirty="0">
                <a:latin typeface="Times New Roman" panose="02020603050405020304" pitchFamily="18" charset="0"/>
                <a:ea typeface="黑体" panose="02010609060101010101" pitchFamily="49" charset="-122"/>
                <a:cs typeface="+mn-cs"/>
              </a:rPr>
            </a:br>
            <a:r>
              <a:rPr lang="zh-CN" altLang="en-US" sz="3600" b="0" kern="1200" dirty="0">
                <a:latin typeface="Times New Roman" panose="02020603050405020304" pitchFamily="18" charset="0"/>
                <a:ea typeface="黑体" panose="02010609060101010101" pitchFamily="49" charset="-122"/>
                <a:cs typeface="+mn-cs"/>
              </a:rPr>
              <a:t>      </a:t>
            </a:r>
            <a:r>
              <a:rPr lang="en-US" altLang="zh-CN" sz="3600" b="0" kern="1200" dirty="0">
                <a:latin typeface="Times New Roman" panose="02020603050405020304" pitchFamily="18" charset="0"/>
                <a:ea typeface="黑体" panose="02010609060101010101" pitchFamily="49" charset="-122"/>
                <a:cs typeface="+mn-cs"/>
              </a:rPr>
              <a:t>(</a:t>
            </a:r>
            <a:r>
              <a:rPr lang="en-US" altLang="zh-CN" sz="3600" b="0" kern="1200" dirty="0">
                <a:latin typeface="Times New Roman" panose="02020603050405020304" pitchFamily="18" charset="0"/>
                <a:ea typeface="黑体" panose="02010609060101010101" pitchFamily="49" charset="-122"/>
                <a:cs typeface="+mn-cs"/>
                <a:sym typeface="Symbol" panose="05050102010706020507" pitchFamily="18" charset="2"/>
              </a:rPr>
              <a:t>m</a:t>
            </a:r>
            <a:r>
              <a:rPr lang="en-US" altLang="zh-CN" sz="3600" b="0" kern="1200" baseline="30000" dirty="0">
                <a:latin typeface="Times New Roman" panose="02020603050405020304" pitchFamily="18" charset="0"/>
                <a:ea typeface="黑体" panose="02010609060101010101" pitchFamily="49" charset="-122"/>
                <a:cs typeface="+mn-cs"/>
                <a:sym typeface="Symbol" panose="05050102010706020507" pitchFamily="18" charset="2"/>
              </a:rPr>
              <a:t>7</a:t>
            </a:r>
            <a:r>
              <a:rPr lang="en-US" altLang="zh-CN" sz="3600" b="0" kern="1200" dirty="0">
                <a:latin typeface="Times New Roman" panose="02020603050405020304" pitchFamily="18" charset="0"/>
                <a:ea typeface="黑体" panose="02010609060101010101" pitchFamily="49" charset="-122"/>
                <a:cs typeface="+mn-cs"/>
              </a:rPr>
              <a:t>GpppGp —)</a:t>
            </a:r>
          </a:p>
        </p:txBody>
      </p:sp>
      <p:sp>
        <p:nvSpPr>
          <p:cNvPr id="2" name="椭圆 1">
            <a:extLst>
              <a:ext uri="{FF2B5EF4-FFF2-40B4-BE49-F238E27FC236}">
                <a16:creationId xmlns:a16="http://schemas.microsoft.com/office/drawing/2014/main" id="{D0193837-B55C-4577-927D-E17583EE38F7}"/>
              </a:ext>
            </a:extLst>
          </p:cNvPr>
          <p:cNvSpPr/>
          <p:nvPr/>
        </p:nvSpPr>
        <p:spPr bwMode="auto">
          <a:xfrm>
            <a:off x="4079876" y="1489076"/>
            <a:ext cx="792163" cy="644525"/>
          </a:xfrm>
          <a:prstGeom prst="ellipse">
            <a:avLst/>
          </a:prstGeom>
          <a:noFill/>
          <a:ln>
            <a:solidFill>
              <a:srgbClr val="FF00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a:lstStyle/>
          <a:p>
            <a:pPr eaLnBrk="1" hangingPunct="1">
              <a:defRPr/>
            </a:pPr>
            <a:endParaRPr lang="zh-CN" altLang="en-US">
              <a:solidFill>
                <a:schemeClr val="tx1"/>
              </a:solidFill>
              <a:latin typeface="Times New Roman" pitchFamily="18" charset="0"/>
            </a:endParaRPr>
          </a:p>
        </p:txBody>
      </p:sp>
    </p:spTree>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9378" name="Text Box 2">
            <a:extLst>
              <a:ext uri="{FF2B5EF4-FFF2-40B4-BE49-F238E27FC236}">
                <a16:creationId xmlns:a16="http://schemas.microsoft.com/office/drawing/2014/main" id="{ADFE36D7-BAEC-4813-84F1-2961B198E70F}"/>
              </a:ext>
            </a:extLst>
          </p:cNvPr>
          <p:cNvSpPr txBox="1">
            <a:spLocks noChangeArrowheads="1"/>
          </p:cNvSpPr>
          <p:nvPr/>
        </p:nvSpPr>
        <p:spPr bwMode="auto">
          <a:xfrm>
            <a:off x="2711450" y="4005263"/>
            <a:ext cx="2160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50000"/>
              </a:spcBef>
              <a:buClrTx/>
              <a:buFontTx/>
              <a:buNone/>
            </a:pPr>
            <a:endParaRPr lang="zh-CN" altLang="zh-CN" sz="1800" b="0">
              <a:solidFill>
                <a:schemeClr val="tx1"/>
              </a:solidFill>
              <a:latin typeface="Arial" panose="020B0604020202020204" pitchFamily="34" charset="0"/>
              <a:ea typeface="宋体" panose="02010600030101010101" pitchFamily="2" charset="-122"/>
            </a:endParaRPr>
          </a:p>
        </p:txBody>
      </p:sp>
      <p:sp>
        <p:nvSpPr>
          <p:cNvPr id="229379" name="Rectangle 3">
            <a:extLst>
              <a:ext uri="{FF2B5EF4-FFF2-40B4-BE49-F238E27FC236}">
                <a16:creationId xmlns:a16="http://schemas.microsoft.com/office/drawing/2014/main" id="{D6C3C258-DE0F-4F19-919D-27122DB32C46}"/>
              </a:ext>
            </a:extLst>
          </p:cNvPr>
          <p:cNvSpPr>
            <a:spLocks noGrp="1" noChangeArrowheads="1"/>
          </p:cNvSpPr>
          <p:nvPr>
            <p:ph type="title" idx="4294967295"/>
          </p:nvPr>
        </p:nvSpPr>
        <p:spPr>
          <a:xfrm>
            <a:off x="6240464" y="836613"/>
            <a:ext cx="4427537" cy="863600"/>
          </a:xfrm>
        </p:spPr>
        <p:txBody>
          <a:bodyPr/>
          <a:lstStyle/>
          <a:p>
            <a:pPr algn="l" eaLnBrk="1" hangingPunct="1"/>
            <a:r>
              <a:rPr lang="zh-CN" altLang="en-US" b="0"/>
              <a:t>真核</a:t>
            </a:r>
            <a:r>
              <a:rPr lang="en-US" altLang="zh-CN" b="0"/>
              <a:t>mRNA5</a:t>
            </a:r>
            <a:r>
              <a:rPr lang="en-US" altLang="zh-CN" b="0">
                <a:sym typeface="Symbol" panose="05050102010706020507" pitchFamily="18" charset="2"/>
              </a:rPr>
              <a:t></a:t>
            </a:r>
            <a:r>
              <a:rPr lang="zh-CN" altLang="en-US" b="0"/>
              <a:t>加帽过程 </a:t>
            </a:r>
          </a:p>
        </p:txBody>
      </p:sp>
      <p:pic>
        <p:nvPicPr>
          <p:cNvPr id="229380" name="Picture 4" descr="17-15">
            <a:extLst>
              <a:ext uri="{FF2B5EF4-FFF2-40B4-BE49-F238E27FC236}">
                <a16:creationId xmlns:a16="http://schemas.microsoft.com/office/drawing/2014/main" id="{43470125-CBC9-4FAB-95B3-F7A2C559DB40}"/>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1524001" y="0"/>
            <a:ext cx="4437063" cy="6858000"/>
          </a:xfrm>
        </p:spPr>
      </p:pic>
      <p:sp>
        <p:nvSpPr>
          <p:cNvPr id="229381" name="Rectangle 5">
            <a:extLst>
              <a:ext uri="{FF2B5EF4-FFF2-40B4-BE49-F238E27FC236}">
                <a16:creationId xmlns:a16="http://schemas.microsoft.com/office/drawing/2014/main" id="{A79F5DC7-7167-48C9-85D3-FEA8F035EFF1}"/>
              </a:ext>
            </a:extLst>
          </p:cNvPr>
          <p:cNvSpPr>
            <a:spLocks noChangeArrowheads="1"/>
          </p:cNvSpPr>
          <p:nvPr/>
        </p:nvSpPr>
        <p:spPr bwMode="auto">
          <a:xfrm>
            <a:off x="6311900" y="5103813"/>
            <a:ext cx="360045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a:spcBef>
                <a:spcPct val="0"/>
              </a:spcBef>
              <a:buClrTx/>
              <a:buFontTx/>
              <a:buNone/>
            </a:pPr>
            <a:r>
              <a:rPr lang="en-US" altLang="zh-CN" sz="2400" b="0" dirty="0" err="1">
                <a:solidFill>
                  <a:schemeClr val="tx1"/>
                </a:solidFill>
                <a:latin typeface="Times New Roman" panose="02020603050405020304" pitchFamily="18" charset="0"/>
                <a:ea typeface="楷体_GB2312" pitchFamily="49" charset="-122"/>
              </a:rPr>
              <a:t>adoMet</a:t>
            </a:r>
            <a:r>
              <a:rPr lang="zh-CN" altLang="en-US" sz="2400" b="0" dirty="0">
                <a:solidFill>
                  <a:schemeClr val="tx1"/>
                </a:solidFill>
                <a:latin typeface="Times New Roman" panose="02020603050405020304" pitchFamily="18" charset="0"/>
                <a:ea typeface="楷体_GB2312" pitchFamily="49" charset="-122"/>
              </a:rPr>
              <a:t>：</a:t>
            </a:r>
            <a:r>
              <a:rPr lang="en-US" altLang="zh-CN" sz="2400" b="0" dirty="0">
                <a:solidFill>
                  <a:schemeClr val="tx1"/>
                </a:solidFill>
                <a:latin typeface="Times New Roman" panose="02020603050405020304" pitchFamily="18" charset="0"/>
                <a:ea typeface="楷体_GB2312" pitchFamily="49" charset="-122"/>
              </a:rPr>
              <a:t>S-</a:t>
            </a:r>
            <a:r>
              <a:rPr lang="zh-CN" altLang="en-US" sz="2400" b="0" dirty="0">
                <a:solidFill>
                  <a:schemeClr val="tx1"/>
                </a:solidFill>
                <a:latin typeface="Times New Roman" panose="02020603050405020304" pitchFamily="18" charset="0"/>
                <a:ea typeface="楷体_GB2312" pitchFamily="49" charset="-122"/>
              </a:rPr>
              <a:t>腺苷甲硫氨酸</a:t>
            </a:r>
          </a:p>
        </p:txBody>
      </p:sp>
      <p:sp>
        <p:nvSpPr>
          <p:cNvPr id="229382" name="Rectangle 6">
            <a:extLst>
              <a:ext uri="{FF2B5EF4-FFF2-40B4-BE49-F238E27FC236}">
                <a16:creationId xmlns:a16="http://schemas.microsoft.com/office/drawing/2014/main" id="{6E55B3F9-5C88-4BB0-B18E-4F990E62C9DB}"/>
              </a:ext>
            </a:extLst>
          </p:cNvPr>
          <p:cNvSpPr>
            <a:spLocks noChangeArrowheads="1"/>
          </p:cNvSpPr>
          <p:nvPr/>
        </p:nvSpPr>
        <p:spPr bwMode="auto">
          <a:xfrm>
            <a:off x="6311901" y="5661026"/>
            <a:ext cx="42846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a:spcBef>
                <a:spcPct val="0"/>
              </a:spcBef>
              <a:buClrTx/>
              <a:buFontTx/>
              <a:buNone/>
            </a:pPr>
            <a:r>
              <a:rPr lang="en-US" altLang="zh-CN" sz="2400" b="0" dirty="0" err="1">
                <a:solidFill>
                  <a:schemeClr val="tx1"/>
                </a:solidFill>
                <a:latin typeface="Times New Roman" panose="02020603050405020304" pitchFamily="18" charset="0"/>
                <a:ea typeface="楷体_GB2312" pitchFamily="49" charset="-122"/>
              </a:rPr>
              <a:t>adoHcy</a:t>
            </a:r>
            <a:r>
              <a:rPr lang="zh-CN" altLang="en-US" sz="2400" b="0" dirty="0">
                <a:solidFill>
                  <a:schemeClr val="tx1"/>
                </a:solidFill>
                <a:latin typeface="Times New Roman" panose="02020603050405020304" pitchFamily="18" charset="0"/>
                <a:ea typeface="楷体_GB2312" pitchFamily="49" charset="-122"/>
              </a:rPr>
              <a:t>：</a:t>
            </a:r>
            <a:r>
              <a:rPr lang="en-US" altLang="zh-CN" sz="2400" b="0" dirty="0">
                <a:solidFill>
                  <a:schemeClr val="tx1"/>
                </a:solidFill>
                <a:latin typeface="Times New Roman" panose="02020603050405020304" pitchFamily="18" charset="0"/>
                <a:ea typeface="楷体_GB2312" pitchFamily="49" charset="-122"/>
              </a:rPr>
              <a:t>S-</a:t>
            </a:r>
            <a:r>
              <a:rPr lang="zh-CN" altLang="en-US" sz="2400" b="0" dirty="0">
                <a:solidFill>
                  <a:schemeClr val="tx1"/>
                </a:solidFill>
                <a:latin typeface="Times New Roman" panose="02020603050405020304" pitchFamily="18" charset="0"/>
                <a:ea typeface="楷体_GB2312" pitchFamily="49" charset="-122"/>
              </a:rPr>
              <a:t>腺苷同型半胱氨酸</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FCDDF23E-6041-4F97-85FD-A8DF4C31CC7D}"/>
              </a:ext>
            </a:extLst>
          </p:cNvPr>
          <p:cNvSpPr>
            <a:spLocks noGrp="1" noChangeArrowheads="1"/>
          </p:cNvSpPr>
          <p:nvPr>
            <p:ph type="title" idx="4294967295"/>
          </p:nvPr>
        </p:nvSpPr>
        <p:spPr>
          <a:xfrm>
            <a:off x="1559496" y="113506"/>
            <a:ext cx="5195888" cy="6270625"/>
          </a:xfrm>
        </p:spPr>
        <p:txBody>
          <a:bodyPr/>
          <a:lstStyle/>
          <a:p>
            <a:pPr algn="l" eaLnBrk="1" hangingPunct="1">
              <a:lnSpc>
                <a:spcPct val="110000"/>
              </a:lnSpc>
            </a:pPr>
            <a:r>
              <a:rPr lang="en-US" altLang="zh-CN" b="0" dirty="0"/>
              <a:t>pre-mRNA</a:t>
            </a:r>
            <a:r>
              <a:rPr lang="zh-CN" altLang="en-US" b="0" dirty="0"/>
              <a:t>在３’端特异点断裂并加上</a:t>
            </a:r>
            <a:r>
              <a:rPr lang="zh-CN" altLang="en-US" b="0" dirty="0">
                <a:solidFill>
                  <a:srgbClr val="C00000"/>
                </a:solidFill>
              </a:rPr>
              <a:t>多聚腺苷酸尾</a:t>
            </a:r>
            <a:br>
              <a:rPr lang="zh-CN" altLang="en-US" b="0" dirty="0"/>
            </a:br>
            <a:br>
              <a:rPr lang="en-US" altLang="zh-CN" b="0" dirty="0"/>
            </a:br>
            <a:r>
              <a:rPr lang="zh-CN" altLang="en-US" b="0" dirty="0">
                <a:solidFill>
                  <a:srgbClr val="C00000"/>
                </a:solidFill>
              </a:rPr>
              <a:t>加尾信号： </a:t>
            </a:r>
            <a:r>
              <a:rPr lang="en-US" altLang="zh-CN" b="0" dirty="0">
                <a:solidFill>
                  <a:srgbClr val="C00000"/>
                </a:solidFill>
              </a:rPr>
              <a:t>AAUAAA</a:t>
            </a:r>
            <a:r>
              <a:rPr lang="zh-CN" altLang="en-US" b="0" dirty="0">
                <a:solidFill>
                  <a:srgbClr val="C00000"/>
                </a:solidFill>
              </a:rPr>
              <a:t>序列</a:t>
            </a:r>
            <a:br>
              <a:rPr lang="zh-CN" altLang="en-US" sz="2800" b="0" dirty="0">
                <a:solidFill>
                  <a:schemeClr val="tx1"/>
                </a:solidFill>
              </a:rPr>
            </a:br>
            <a:br>
              <a:rPr lang="zh-CN" altLang="en-US" sz="2800" dirty="0">
                <a:solidFill>
                  <a:schemeClr val="tx1"/>
                </a:solidFill>
              </a:rPr>
            </a:br>
            <a:r>
              <a:rPr lang="en-US" altLang="zh-CN" sz="2400" b="0" dirty="0">
                <a:solidFill>
                  <a:schemeClr val="tx1"/>
                </a:solidFill>
              </a:rPr>
              <a:t>CPSF</a:t>
            </a:r>
            <a:r>
              <a:rPr lang="zh-CN" altLang="en-US" sz="2400" b="0" dirty="0">
                <a:solidFill>
                  <a:schemeClr val="tx1"/>
                </a:solidFill>
              </a:rPr>
              <a:t>：剪切和聚腺苷酸化特异性因子</a:t>
            </a:r>
            <a:br>
              <a:rPr lang="zh-CN" altLang="en-US" sz="2400" b="0" dirty="0">
                <a:solidFill>
                  <a:schemeClr val="tx1"/>
                </a:solidFill>
              </a:rPr>
            </a:br>
            <a:r>
              <a:rPr lang="en-US" altLang="zh-CN" sz="2400" b="0" dirty="0" err="1">
                <a:solidFill>
                  <a:schemeClr val="tx1"/>
                </a:solidFill>
              </a:rPr>
              <a:t>CstF</a:t>
            </a:r>
            <a:r>
              <a:rPr lang="en-US" altLang="zh-CN" sz="2400" b="0" dirty="0">
                <a:solidFill>
                  <a:schemeClr val="tx1"/>
                </a:solidFill>
              </a:rPr>
              <a:t> </a:t>
            </a:r>
            <a:r>
              <a:rPr lang="zh-CN" altLang="en-US" sz="2400" b="0" dirty="0">
                <a:solidFill>
                  <a:schemeClr val="tx1"/>
                </a:solidFill>
              </a:rPr>
              <a:t>：剪除刺激因子</a:t>
            </a:r>
            <a:br>
              <a:rPr lang="zh-CN" altLang="en-US" sz="2400" b="0" dirty="0">
                <a:solidFill>
                  <a:schemeClr val="tx1"/>
                </a:solidFill>
              </a:rPr>
            </a:br>
            <a:r>
              <a:rPr lang="en-US" altLang="zh-CN" sz="2400" b="0" dirty="0">
                <a:solidFill>
                  <a:schemeClr val="tx1"/>
                </a:solidFill>
              </a:rPr>
              <a:t>CF</a:t>
            </a:r>
            <a:r>
              <a:rPr lang="zh-CN" altLang="en-US" sz="2400" b="0" dirty="0">
                <a:solidFill>
                  <a:schemeClr val="tx1"/>
                </a:solidFill>
              </a:rPr>
              <a:t>：    剪除因子 </a:t>
            </a:r>
            <a:br>
              <a:rPr lang="zh-CN" altLang="en-US" sz="2400" b="0" dirty="0">
                <a:solidFill>
                  <a:schemeClr val="tx1"/>
                </a:solidFill>
              </a:rPr>
            </a:br>
            <a:r>
              <a:rPr lang="en-US" altLang="zh-CN" sz="2400" b="0" dirty="0">
                <a:solidFill>
                  <a:schemeClr val="tx1"/>
                </a:solidFill>
              </a:rPr>
              <a:t>PAP</a:t>
            </a:r>
            <a:r>
              <a:rPr lang="zh-CN" altLang="en-US" sz="2400" b="0" dirty="0">
                <a:solidFill>
                  <a:schemeClr val="tx1"/>
                </a:solidFill>
              </a:rPr>
              <a:t>： 多聚腺苷酸聚合酶</a:t>
            </a:r>
            <a:br>
              <a:rPr lang="zh-CN" altLang="en-US" sz="2400" b="0" dirty="0">
                <a:solidFill>
                  <a:schemeClr val="tx1"/>
                </a:solidFill>
              </a:rPr>
            </a:br>
            <a:r>
              <a:rPr lang="en-US" altLang="zh-CN" sz="2400" b="0" dirty="0">
                <a:solidFill>
                  <a:schemeClr val="tx1"/>
                </a:solidFill>
              </a:rPr>
              <a:t>PABP</a:t>
            </a:r>
            <a:r>
              <a:rPr lang="zh-CN" altLang="en-US" sz="2400" b="0" dirty="0">
                <a:solidFill>
                  <a:schemeClr val="tx1"/>
                </a:solidFill>
              </a:rPr>
              <a:t>：多聚腺苷酸结合蛋白</a:t>
            </a:r>
          </a:p>
        </p:txBody>
      </p:sp>
      <p:pic>
        <p:nvPicPr>
          <p:cNvPr id="233475" name="Picture 3" descr="G667">
            <a:extLst>
              <a:ext uri="{FF2B5EF4-FFF2-40B4-BE49-F238E27FC236}">
                <a16:creationId xmlns:a16="http://schemas.microsoft.com/office/drawing/2014/main" id="{ECEE7924-648D-4F62-B695-386F70D2249C}"/>
              </a:ext>
            </a:extLst>
          </p:cNvPr>
          <p:cNvPicPr>
            <a:picLocks noChangeAspect="1" noChangeArrowheads="1"/>
          </p:cNvPicPr>
          <p:nvPr/>
        </p:nvPicPr>
        <p:blipFill>
          <a:blip r:embed="rId3">
            <a:lum bright="-12000" contrast="12000"/>
            <a:extLst>
              <a:ext uri="{28A0092B-C50C-407E-A947-70E740481C1C}">
                <a14:useLocalDpi xmlns:a14="http://schemas.microsoft.com/office/drawing/2010/main" val="0"/>
              </a:ext>
            </a:extLst>
          </a:blip>
          <a:srcRect/>
          <a:stretch>
            <a:fillRect/>
          </a:stretch>
        </p:blipFill>
        <p:spPr bwMode="auto">
          <a:xfrm>
            <a:off x="7176120" y="113506"/>
            <a:ext cx="3660775" cy="663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22" name="Picture 13" descr="鸡卵清蛋白">
            <a:extLst>
              <a:ext uri="{FF2B5EF4-FFF2-40B4-BE49-F238E27FC236}">
                <a16:creationId xmlns:a16="http://schemas.microsoft.com/office/drawing/2014/main" id="{CCC726F0-5616-4529-805C-E11DAB497A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050" y="692151"/>
            <a:ext cx="6337300"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23" name="Text Box 6">
            <a:extLst>
              <a:ext uri="{FF2B5EF4-FFF2-40B4-BE49-F238E27FC236}">
                <a16:creationId xmlns:a16="http://schemas.microsoft.com/office/drawing/2014/main" id="{91139F57-B51E-4D8B-B9F5-EB6AA8D0D744}"/>
              </a:ext>
            </a:extLst>
          </p:cNvPr>
          <p:cNvSpPr txBox="1">
            <a:spLocks noChangeArrowheads="1"/>
          </p:cNvSpPr>
          <p:nvPr/>
        </p:nvSpPr>
        <p:spPr bwMode="auto">
          <a:xfrm>
            <a:off x="1847851" y="692151"/>
            <a:ext cx="18716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r>
              <a:rPr lang="zh-CN" altLang="en-US" sz="2400">
                <a:solidFill>
                  <a:srgbClr val="000099"/>
                </a:solidFill>
                <a:latin typeface="华文楷体" panose="02010600040101010101" pitchFamily="2" charset="-122"/>
                <a:ea typeface="华文楷体" panose="02010600040101010101" pitchFamily="2" charset="-122"/>
              </a:rPr>
              <a:t>鸡卵清蛋白基因</a:t>
            </a:r>
          </a:p>
        </p:txBody>
      </p:sp>
      <p:sp>
        <p:nvSpPr>
          <p:cNvPr id="235524" name="Text Box 7">
            <a:extLst>
              <a:ext uri="{FF2B5EF4-FFF2-40B4-BE49-F238E27FC236}">
                <a16:creationId xmlns:a16="http://schemas.microsoft.com/office/drawing/2014/main" id="{F10D078B-B6FC-4DE9-87E1-6B0CF5EA4849}"/>
              </a:ext>
            </a:extLst>
          </p:cNvPr>
          <p:cNvSpPr txBox="1">
            <a:spLocks noChangeArrowheads="1"/>
          </p:cNvSpPr>
          <p:nvPr/>
        </p:nvSpPr>
        <p:spPr bwMode="auto">
          <a:xfrm>
            <a:off x="1847851" y="2349500"/>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r>
              <a:rPr lang="en-US" altLang="zh-CN" sz="2400">
                <a:solidFill>
                  <a:srgbClr val="000099"/>
                </a:solidFill>
                <a:latin typeface="Times New Roman" panose="02020603050405020304" pitchFamily="18" charset="0"/>
                <a:ea typeface="华文楷体" panose="02010600040101010101" pitchFamily="2" charset="-122"/>
              </a:rPr>
              <a:t>hnRNA</a:t>
            </a:r>
          </a:p>
        </p:txBody>
      </p:sp>
      <p:sp>
        <p:nvSpPr>
          <p:cNvPr id="235525" name="Text Box 8">
            <a:extLst>
              <a:ext uri="{FF2B5EF4-FFF2-40B4-BE49-F238E27FC236}">
                <a16:creationId xmlns:a16="http://schemas.microsoft.com/office/drawing/2014/main" id="{017D4BE1-734B-41E4-B33D-DA63AA9877A6}"/>
              </a:ext>
            </a:extLst>
          </p:cNvPr>
          <p:cNvSpPr txBox="1">
            <a:spLocks noChangeArrowheads="1"/>
          </p:cNvSpPr>
          <p:nvPr/>
        </p:nvSpPr>
        <p:spPr bwMode="auto">
          <a:xfrm>
            <a:off x="1847851" y="3284538"/>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r>
              <a:rPr lang="zh-CN" altLang="en-US" sz="2400">
                <a:solidFill>
                  <a:srgbClr val="000099"/>
                </a:solidFill>
                <a:latin typeface="华文楷体" panose="02010600040101010101" pitchFamily="2" charset="-122"/>
                <a:ea typeface="华文楷体" panose="02010600040101010101" pitchFamily="2" charset="-122"/>
              </a:rPr>
              <a:t>首、尾修饰</a:t>
            </a:r>
          </a:p>
        </p:txBody>
      </p:sp>
      <p:sp>
        <p:nvSpPr>
          <p:cNvPr id="235526" name="Text Box 9">
            <a:extLst>
              <a:ext uri="{FF2B5EF4-FFF2-40B4-BE49-F238E27FC236}">
                <a16:creationId xmlns:a16="http://schemas.microsoft.com/office/drawing/2014/main" id="{96966BC3-BF43-4EFD-B370-1DACF1E21F63}"/>
              </a:ext>
            </a:extLst>
          </p:cNvPr>
          <p:cNvSpPr txBox="1">
            <a:spLocks noChangeArrowheads="1"/>
          </p:cNvSpPr>
          <p:nvPr/>
        </p:nvSpPr>
        <p:spPr bwMode="auto">
          <a:xfrm>
            <a:off x="1847851" y="4724400"/>
            <a:ext cx="2447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r>
              <a:rPr lang="en-US" altLang="zh-CN" sz="2400">
                <a:solidFill>
                  <a:srgbClr val="000099"/>
                </a:solidFill>
                <a:latin typeface="Times New Roman" panose="02020603050405020304" pitchFamily="18" charset="0"/>
                <a:ea typeface="华文楷体" panose="02010600040101010101" pitchFamily="2" charset="-122"/>
              </a:rPr>
              <a:t>hnRNA</a:t>
            </a:r>
            <a:r>
              <a:rPr lang="zh-CN" altLang="en-US" sz="2400">
                <a:solidFill>
                  <a:srgbClr val="000099"/>
                </a:solidFill>
                <a:latin typeface="华文楷体" panose="02010600040101010101" pitchFamily="2" charset="-122"/>
                <a:ea typeface="华文楷体" panose="02010600040101010101" pitchFamily="2" charset="-122"/>
              </a:rPr>
              <a:t>剪接</a:t>
            </a:r>
          </a:p>
        </p:txBody>
      </p:sp>
      <p:sp>
        <p:nvSpPr>
          <p:cNvPr id="235527" name="Text Box 10">
            <a:extLst>
              <a:ext uri="{FF2B5EF4-FFF2-40B4-BE49-F238E27FC236}">
                <a16:creationId xmlns:a16="http://schemas.microsoft.com/office/drawing/2014/main" id="{45FAD070-6C8D-4265-8EB8-F8FED03BEEA6}"/>
              </a:ext>
            </a:extLst>
          </p:cNvPr>
          <p:cNvSpPr txBox="1">
            <a:spLocks noChangeArrowheads="1"/>
          </p:cNvSpPr>
          <p:nvPr/>
        </p:nvSpPr>
        <p:spPr bwMode="auto">
          <a:xfrm>
            <a:off x="1919288" y="5734050"/>
            <a:ext cx="2449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sz="2400">
                <a:solidFill>
                  <a:srgbClr val="000099"/>
                </a:solidFill>
                <a:latin typeface="Times New Roman" panose="02020603050405020304" pitchFamily="18" charset="0"/>
                <a:ea typeface="华文楷体" panose="02010600040101010101" pitchFamily="2" charset="-122"/>
              </a:rPr>
              <a:t>成熟的</a:t>
            </a:r>
            <a:r>
              <a:rPr lang="en-US" altLang="zh-CN" sz="2400">
                <a:solidFill>
                  <a:srgbClr val="000099"/>
                </a:solidFill>
                <a:latin typeface="Times New Roman" panose="02020603050405020304" pitchFamily="18" charset="0"/>
                <a:ea typeface="华文楷体" panose="02010600040101010101" pitchFamily="2" charset="-122"/>
              </a:rPr>
              <a:t>mRNA</a:t>
            </a:r>
          </a:p>
        </p:txBody>
      </p:sp>
      <p:sp>
        <p:nvSpPr>
          <p:cNvPr id="233480" name="文本框 1">
            <a:extLst>
              <a:ext uri="{FF2B5EF4-FFF2-40B4-BE49-F238E27FC236}">
                <a16:creationId xmlns:a16="http://schemas.microsoft.com/office/drawing/2014/main" id="{283F4726-5DBC-4703-8071-CE6D854CDC89}"/>
              </a:ext>
            </a:extLst>
          </p:cNvPr>
          <p:cNvSpPr txBox="1">
            <a:spLocks noChangeArrowheads="1"/>
          </p:cNvSpPr>
          <p:nvPr/>
        </p:nvSpPr>
        <p:spPr bwMode="auto">
          <a:xfrm>
            <a:off x="9944498" y="188913"/>
            <a:ext cx="615553" cy="6553200"/>
          </a:xfrm>
          <a:prstGeom prst="rect">
            <a:avLst/>
          </a:prstGeom>
          <a:solidFill>
            <a:schemeClr val="tx2">
              <a:lumMod val="20000"/>
              <a:lumOff val="80000"/>
            </a:schemeClr>
          </a:solidFill>
          <a:ln>
            <a:noFill/>
          </a:ln>
        </p:spPr>
        <p:txBody>
          <a:bodyPr vert="eaVert">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defRPr/>
            </a:pPr>
            <a:r>
              <a:rPr lang="zh-CN" altLang="en-US" dirty="0">
                <a:solidFill>
                  <a:srgbClr val="00254A"/>
                </a:solidFill>
                <a:latin typeface="Arial" panose="020B0604020202020204" pitchFamily="34" charset="0"/>
                <a:ea typeface="宋体" panose="02010600030101010101" pitchFamily="2" charset="-122"/>
              </a:rPr>
              <a:t>鸡卵清蛋白基因及其转录、转录后修饰</a:t>
            </a:r>
          </a:p>
        </p:txBody>
      </p:sp>
    </p:spTree>
  </p:cSld>
  <p:clrMapOvr>
    <a:masterClrMapping/>
  </p:clrMapOvr>
  <p:transition spd="slow">
    <p:circl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标题 1">
            <a:extLst>
              <a:ext uri="{FF2B5EF4-FFF2-40B4-BE49-F238E27FC236}">
                <a16:creationId xmlns:a16="http://schemas.microsoft.com/office/drawing/2014/main" id="{59366F61-6187-4DA8-9234-67D2EE0CC298}"/>
              </a:ext>
            </a:extLst>
          </p:cNvPr>
          <p:cNvSpPr>
            <a:spLocks noGrp="1" noChangeArrowheads="1"/>
          </p:cNvSpPr>
          <p:nvPr>
            <p:ph type="title"/>
          </p:nvPr>
        </p:nvSpPr>
        <p:spPr>
          <a:xfrm>
            <a:off x="2046288" y="87313"/>
            <a:ext cx="8153400" cy="736600"/>
          </a:xfrm>
        </p:spPr>
        <p:txBody>
          <a:bodyPr>
            <a:spAutoFit/>
          </a:bodyPr>
          <a:lstStyle/>
          <a:p>
            <a:pPr eaLnBrk="1" hangingPunct="1">
              <a:lnSpc>
                <a:spcPct val="130000"/>
              </a:lnSpc>
              <a:spcAft>
                <a:spcPct val="30000"/>
              </a:spcAft>
              <a:defRPr/>
            </a:pPr>
            <a:r>
              <a:rPr lang="zh-CN" altLang="en-US" sz="3600" b="0" kern="1200" dirty="0">
                <a:latin typeface="Times New Roman" panose="02020603050405020304" pitchFamily="18" charset="0"/>
                <a:ea typeface="黑体" panose="02010609060101010101" pitchFamily="49" charset="-122"/>
                <a:cs typeface="+mn-cs"/>
              </a:rPr>
              <a:t>成熟</a:t>
            </a:r>
            <a:r>
              <a:rPr lang="en-US" altLang="zh-CN" sz="3600" b="0" kern="1200" dirty="0">
                <a:latin typeface="Times New Roman" panose="02020603050405020304" pitchFamily="18" charset="0"/>
                <a:ea typeface="黑体" panose="02010609060101010101" pitchFamily="49" charset="-122"/>
                <a:cs typeface="+mn-cs"/>
              </a:rPr>
              <a:t>mRNA</a:t>
            </a:r>
            <a:r>
              <a:rPr lang="zh-CN" altLang="en-US" sz="3600" b="0" kern="1200" dirty="0">
                <a:latin typeface="Times New Roman" panose="02020603050405020304" pitchFamily="18" charset="0"/>
                <a:ea typeface="黑体" panose="02010609060101010101" pitchFamily="49" charset="-122"/>
                <a:cs typeface="+mn-cs"/>
              </a:rPr>
              <a:t>含编码区和两端非编码区</a:t>
            </a:r>
          </a:p>
        </p:txBody>
      </p:sp>
      <p:sp>
        <p:nvSpPr>
          <p:cNvPr id="236547" name="内容占位符 2">
            <a:extLst>
              <a:ext uri="{FF2B5EF4-FFF2-40B4-BE49-F238E27FC236}">
                <a16:creationId xmlns:a16="http://schemas.microsoft.com/office/drawing/2014/main" id="{74ACDEF5-831B-44DA-BEA0-A908EA4B7170}"/>
              </a:ext>
            </a:extLst>
          </p:cNvPr>
          <p:cNvSpPr>
            <a:spLocks noGrp="1" noChangeArrowheads="1"/>
          </p:cNvSpPr>
          <p:nvPr>
            <p:ph idx="1"/>
          </p:nvPr>
        </p:nvSpPr>
        <p:spPr>
          <a:xfrm>
            <a:off x="1455440" y="3933056"/>
            <a:ext cx="9896677" cy="2376488"/>
          </a:xfrm>
        </p:spPr>
        <p:txBody>
          <a:bodyPr/>
          <a:lstStyle/>
          <a:p>
            <a:pPr>
              <a:lnSpc>
                <a:spcPct val="130000"/>
              </a:lnSpc>
              <a:spcBef>
                <a:spcPct val="0"/>
              </a:spcBef>
            </a:pPr>
            <a:r>
              <a:rPr lang="zh-CN" altLang="en-US" sz="2700" b="0" dirty="0">
                <a:solidFill>
                  <a:srgbClr val="C00000"/>
                </a:solidFill>
              </a:rPr>
              <a:t>可读框（</a:t>
            </a:r>
            <a:r>
              <a:rPr lang="en-US" altLang="zh-CN" sz="2700" b="0" dirty="0">
                <a:solidFill>
                  <a:srgbClr val="C00000"/>
                </a:solidFill>
              </a:rPr>
              <a:t>open reading frame, ORF</a:t>
            </a:r>
            <a:r>
              <a:rPr lang="zh-CN" altLang="en-US" sz="2700" b="0" dirty="0">
                <a:solidFill>
                  <a:srgbClr val="C00000"/>
                </a:solidFill>
              </a:rPr>
              <a:t>）</a:t>
            </a:r>
            <a:r>
              <a:rPr lang="zh-CN" altLang="en-US" sz="2700" b="0" dirty="0"/>
              <a:t>： 又译为</a:t>
            </a:r>
            <a:r>
              <a:rPr lang="zh-CN" altLang="en-US" sz="2700" b="0" dirty="0">
                <a:solidFill>
                  <a:srgbClr val="C00000"/>
                </a:solidFill>
              </a:rPr>
              <a:t>开放阅读框</a:t>
            </a:r>
            <a:r>
              <a:rPr lang="zh-CN" altLang="en-US" sz="2700" b="0" dirty="0"/>
              <a:t>，指</a:t>
            </a:r>
            <a:r>
              <a:rPr lang="en-US" altLang="zh-CN" sz="2700" b="0" dirty="0">
                <a:solidFill>
                  <a:srgbClr val="0000FF"/>
                </a:solidFill>
              </a:rPr>
              <a:t>mRNA</a:t>
            </a:r>
            <a:r>
              <a:rPr lang="zh-CN" altLang="en-US" sz="2700" b="0" dirty="0">
                <a:solidFill>
                  <a:srgbClr val="0000FF"/>
                </a:solidFill>
              </a:rPr>
              <a:t>上从起始密码子</a:t>
            </a:r>
            <a:r>
              <a:rPr lang="en-US" altLang="zh-CN" sz="2700" b="0" dirty="0">
                <a:solidFill>
                  <a:srgbClr val="0000FF"/>
                </a:solidFill>
              </a:rPr>
              <a:t>AUG</a:t>
            </a:r>
            <a:r>
              <a:rPr lang="zh-CN" altLang="en-US" sz="2700" b="0" dirty="0">
                <a:solidFill>
                  <a:srgbClr val="0000FF"/>
                </a:solidFill>
              </a:rPr>
              <a:t>到终止密码子</a:t>
            </a:r>
            <a:r>
              <a:rPr lang="en-US" altLang="zh-CN" sz="2700" b="0" dirty="0">
                <a:solidFill>
                  <a:srgbClr val="0000FF"/>
                </a:solidFill>
              </a:rPr>
              <a:t>UAA</a:t>
            </a:r>
            <a:r>
              <a:rPr lang="zh-CN" altLang="en-US" sz="2700" b="0" dirty="0">
                <a:solidFill>
                  <a:srgbClr val="0000FF"/>
                </a:solidFill>
              </a:rPr>
              <a:t>或</a:t>
            </a:r>
            <a:r>
              <a:rPr lang="en-US" altLang="zh-CN" sz="2700" b="0" dirty="0">
                <a:solidFill>
                  <a:srgbClr val="0000FF"/>
                </a:solidFill>
              </a:rPr>
              <a:t>UAG</a:t>
            </a:r>
            <a:r>
              <a:rPr lang="zh-CN" altLang="en-US" sz="2700" b="0" dirty="0">
                <a:solidFill>
                  <a:srgbClr val="0000FF"/>
                </a:solidFill>
              </a:rPr>
              <a:t>或</a:t>
            </a:r>
            <a:r>
              <a:rPr lang="en-US" altLang="zh-CN" sz="2700" b="0" dirty="0">
                <a:solidFill>
                  <a:srgbClr val="0000FF"/>
                </a:solidFill>
              </a:rPr>
              <a:t>UGA</a:t>
            </a:r>
            <a:r>
              <a:rPr lang="zh-CN" altLang="en-US" sz="2700" b="0" dirty="0">
                <a:solidFill>
                  <a:srgbClr val="0000FF"/>
                </a:solidFill>
              </a:rPr>
              <a:t>之间的连续编码序列，或者</a:t>
            </a:r>
            <a:r>
              <a:rPr lang="en-US" altLang="zh-CN" sz="2700" b="0" dirty="0">
                <a:solidFill>
                  <a:srgbClr val="0000FF"/>
                </a:solidFill>
              </a:rPr>
              <a:t>DNA</a:t>
            </a:r>
            <a:r>
              <a:rPr lang="zh-CN" altLang="en-US" sz="2700" b="0" dirty="0">
                <a:solidFill>
                  <a:srgbClr val="0000FF"/>
                </a:solidFill>
              </a:rPr>
              <a:t>上与之对应的序列</a:t>
            </a:r>
            <a:r>
              <a:rPr lang="zh-CN" altLang="en-US" sz="2700" b="0" dirty="0"/>
              <a:t>。</a:t>
            </a:r>
            <a:endParaRPr lang="en-US" altLang="zh-CN" sz="2700" b="0" dirty="0"/>
          </a:p>
          <a:p>
            <a:pPr>
              <a:lnSpc>
                <a:spcPct val="130000"/>
              </a:lnSpc>
              <a:spcBef>
                <a:spcPct val="0"/>
              </a:spcBef>
            </a:pPr>
            <a:r>
              <a:rPr lang="zh-CN" altLang="en-US" sz="2700" b="0" dirty="0"/>
              <a:t>一个</a:t>
            </a:r>
            <a:r>
              <a:rPr lang="en-US" altLang="zh-CN" sz="2700" b="0" dirty="0"/>
              <a:t>ORF</a:t>
            </a:r>
            <a:r>
              <a:rPr lang="zh-CN" altLang="en-US" sz="2700" b="0" dirty="0"/>
              <a:t>编码一条完整的多肽链。</a:t>
            </a:r>
          </a:p>
          <a:p>
            <a:pPr>
              <a:lnSpc>
                <a:spcPct val="120000"/>
              </a:lnSpc>
              <a:spcBef>
                <a:spcPct val="0"/>
              </a:spcBef>
            </a:pPr>
            <a:endParaRPr lang="zh-CN" altLang="en-US" sz="2700" b="0" dirty="0"/>
          </a:p>
        </p:txBody>
      </p:sp>
      <p:pic>
        <p:nvPicPr>
          <p:cNvPr id="804869" name="Picture 5" descr="成熟mRNA">
            <a:extLst>
              <a:ext uri="{FF2B5EF4-FFF2-40B4-BE49-F238E27FC236}">
                <a16:creationId xmlns:a16="http://schemas.microsoft.com/office/drawing/2014/main" id="{93C10AD7-5E09-4360-927C-C71E8380D70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39883" y="1268760"/>
            <a:ext cx="9712234" cy="1965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CB1B8BD0-7521-2174-3766-95AB061C189A}"/>
              </a:ext>
            </a:extLst>
          </p:cNvPr>
          <p:cNvSpPr txBox="1"/>
          <p:nvPr/>
        </p:nvSpPr>
        <p:spPr>
          <a:xfrm>
            <a:off x="1487488" y="2877702"/>
            <a:ext cx="3888432" cy="461665"/>
          </a:xfrm>
          <a:prstGeom prst="rect">
            <a:avLst/>
          </a:prstGeom>
          <a:noFill/>
        </p:spPr>
        <p:txBody>
          <a:bodyPr wrap="square" rtlCol="0">
            <a:spAutoFit/>
          </a:bodyPr>
          <a:lstStyle/>
          <a:p>
            <a:r>
              <a:rPr lang="en-US" altLang="zh-CN" dirty="0">
                <a:solidFill>
                  <a:srgbClr val="0000CC"/>
                </a:solidFill>
              </a:rPr>
              <a:t>5’-untranslated</a:t>
            </a:r>
            <a:r>
              <a:rPr lang="zh-CN" altLang="en-US" dirty="0">
                <a:solidFill>
                  <a:srgbClr val="0000CC"/>
                </a:solidFill>
              </a:rPr>
              <a:t> </a:t>
            </a:r>
            <a:r>
              <a:rPr lang="en-US" altLang="zh-CN" dirty="0">
                <a:solidFill>
                  <a:srgbClr val="0000CC"/>
                </a:solidFill>
              </a:rPr>
              <a:t>region,5’UTR</a:t>
            </a:r>
            <a:endParaRPr lang="zh-CN" altLang="en-US" dirty="0">
              <a:solidFill>
                <a:srgbClr val="0000CC"/>
              </a:solidFill>
            </a:endParaRPr>
          </a:p>
        </p:txBody>
      </p:sp>
      <p:sp>
        <p:nvSpPr>
          <p:cNvPr id="3" name="文本框 2">
            <a:extLst>
              <a:ext uri="{FF2B5EF4-FFF2-40B4-BE49-F238E27FC236}">
                <a16:creationId xmlns:a16="http://schemas.microsoft.com/office/drawing/2014/main" id="{0064287D-5383-D73B-FD58-267CFA61A01F}"/>
              </a:ext>
            </a:extLst>
          </p:cNvPr>
          <p:cNvSpPr txBox="1"/>
          <p:nvPr/>
        </p:nvSpPr>
        <p:spPr>
          <a:xfrm>
            <a:off x="7608168" y="2870213"/>
            <a:ext cx="3888432" cy="461665"/>
          </a:xfrm>
          <a:prstGeom prst="rect">
            <a:avLst/>
          </a:prstGeom>
          <a:noFill/>
        </p:spPr>
        <p:txBody>
          <a:bodyPr wrap="square" rtlCol="0">
            <a:spAutoFit/>
          </a:bodyPr>
          <a:lstStyle/>
          <a:p>
            <a:r>
              <a:rPr lang="en-US" altLang="zh-CN" dirty="0">
                <a:solidFill>
                  <a:srgbClr val="0000CC"/>
                </a:solidFill>
              </a:rPr>
              <a:t>3’-untranslated</a:t>
            </a:r>
            <a:r>
              <a:rPr lang="zh-CN" altLang="en-US" dirty="0">
                <a:solidFill>
                  <a:srgbClr val="0000CC"/>
                </a:solidFill>
              </a:rPr>
              <a:t> </a:t>
            </a:r>
            <a:r>
              <a:rPr lang="en-US" altLang="zh-CN" dirty="0">
                <a:solidFill>
                  <a:srgbClr val="0000CC"/>
                </a:solidFill>
              </a:rPr>
              <a:t>region,3’UTR</a:t>
            </a:r>
            <a:endParaRPr lang="zh-CN" altLang="en-US" dirty="0">
              <a:solidFill>
                <a:srgbClr val="0000CC"/>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804869"/>
                                        </p:tgtEl>
                                        <p:attrNameLst>
                                          <p:attrName>style.visibility</p:attrName>
                                        </p:attrNameLst>
                                      </p:cBhvr>
                                      <p:to>
                                        <p:strVal val="visible"/>
                                      </p:to>
                                    </p:set>
                                    <p:animEffect transition="in" filter="blinds(horizontal)">
                                      <p:cBhvr>
                                        <p:cTn id="7" dur="500"/>
                                        <p:tgtEl>
                                          <p:spTgt spid="804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8" name="Rectangle 1030">
            <a:extLst>
              <a:ext uri="{FF2B5EF4-FFF2-40B4-BE49-F238E27FC236}">
                <a16:creationId xmlns:a16="http://schemas.microsoft.com/office/drawing/2014/main" id="{278F2683-1EF1-4D9D-9B1A-5B7818A13539}"/>
              </a:ext>
            </a:extLst>
          </p:cNvPr>
          <p:cNvSpPr>
            <a:spLocks noChangeArrowheads="1"/>
          </p:cNvSpPr>
          <p:nvPr/>
        </p:nvSpPr>
        <p:spPr bwMode="auto">
          <a:xfrm>
            <a:off x="1559496" y="1772816"/>
            <a:ext cx="9361040" cy="3711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268288" indent="-268288">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just" eaLnBrk="1" hangingPunct="1">
              <a:spcBef>
                <a:spcPct val="0"/>
              </a:spcBef>
              <a:buClrTx/>
              <a:buFontTx/>
              <a:buChar char="•"/>
            </a:pPr>
            <a:r>
              <a:rPr lang="zh-CN" altLang="en-US" b="0" dirty="0">
                <a:solidFill>
                  <a:schemeClr val="tx1"/>
                </a:solidFill>
                <a:latin typeface="黑体" panose="02010609060101010101" pitchFamily="49" charset="-122"/>
                <a:ea typeface="黑体" panose="02010609060101010101" pitchFamily="49" charset="-122"/>
              </a:rPr>
              <a:t>遗传学将编码一个多肽的遗传单位称为</a:t>
            </a:r>
            <a:r>
              <a:rPr lang="zh-CN" altLang="en-US" b="0" dirty="0">
                <a:solidFill>
                  <a:srgbClr val="0000FF"/>
                </a:solidFill>
                <a:latin typeface="黑体" panose="02010609060101010101" pitchFamily="49" charset="-122"/>
                <a:ea typeface="黑体" panose="02010609060101010101" pitchFamily="49" charset="-122"/>
              </a:rPr>
              <a:t>顺反子</a:t>
            </a:r>
            <a:r>
              <a:rPr lang="en-US" altLang="zh-CN" b="0" dirty="0">
                <a:solidFill>
                  <a:srgbClr val="0000FF"/>
                </a:solidFill>
                <a:latin typeface="黑体" panose="02010609060101010101" pitchFamily="49" charset="-122"/>
                <a:ea typeface="黑体" panose="02010609060101010101" pitchFamily="49" charset="-122"/>
              </a:rPr>
              <a:t>(cistron)</a:t>
            </a:r>
            <a:r>
              <a:rPr lang="zh-CN" altLang="en-US" b="0" dirty="0">
                <a:solidFill>
                  <a:srgbClr val="0000FF"/>
                </a:solidFill>
                <a:latin typeface="黑体" panose="02010609060101010101" pitchFamily="49" charset="-122"/>
                <a:ea typeface="黑体" panose="02010609060101010101" pitchFamily="49" charset="-122"/>
              </a:rPr>
              <a:t>。</a:t>
            </a:r>
          </a:p>
          <a:p>
            <a:pPr algn="just" eaLnBrk="1" hangingPunct="1">
              <a:lnSpc>
                <a:spcPct val="70000"/>
              </a:lnSpc>
              <a:spcBef>
                <a:spcPct val="0"/>
              </a:spcBef>
              <a:buClrTx/>
              <a:buFontTx/>
              <a:buChar char="•"/>
            </a:pPr>
            <a:endParaRPr lang="zh-CN" altLang="en-US" b="0" dirty="0">
              <a:solidFill>
                <a:srgbClr val="0000FF"/>
              </a:solidFill>
              <a:latin typeface="黑体" panose="02010609060101010101" pitchFamily="49" charset="-122"/>
              <a:ea typeface="黑体" panose="02010609060101010101" pitchFamily="49" charset="-122"/>
            </a:endParaRPr>
          </a:p>
          <a:p>
            <a:pPr algn="just" eaLnBrk="1" hangingPunct="1">
              <a:spcBef>
                <a:spcPct val="0"/>
              </a:spcBef>
              <a:buClrTx/>
              <a:buFontTx/>
              <a:buChar char="•"/>
            </a:pPr>
            <a:r>
              <a:rPr lang="zh-CN" altLang="en-US" b="0" dirty="0">
                <a:solidFill>
                  <a:schemeClr val="tx1"/>
                </a:solidFill>
                <a:latin typeface="黑体" panose="02010609060101010101" pitchFamily="49" charset="-122"/>
                <a:ea typeface="黑体" panose="02010609060101010101" pitchFamily="49" charset="-122"/>
              </a:rPr>
              <a:t>大部分真核</a:t>
            </a:r>
            <a:r>
              <a:rPr lang="en-US" altLang="zh-CN" b="0" dirty="0">
                <a:solidFill>
                  <a:schemeClr val="tx1"/>
                </a:solidFill>
                <a:latin typeface="黑体" panose="02010609060101010101" pitchFamily="49" charset="-122"/>
                <a:ea typeface="黑体" panose="02010609060101010101" pitchFamily="49" charset="-122"/>
              </a:rPr>
              <a:t>mRNA</a:t>
            </a:r>
            <a:r>
              <a:rPr lang="zh-CN" altLang="en-US" b="0" dirty="0">
                <a:solidFill>
                  <a:schemeClr val="tx1"/>
                </a:solidFill>
                <a:latin typeface="黑体" panose="02010609060101010101" pitchFamily="49" charset="-122"/>
                <a:ea typeface="黑体" panose="02010609060101010101" pitchFamily="49" charset="-122"/>
              </a:rPr>
              <a:t>只编码一种蛋白质，为</a:t>
            </a:r>
            <a:r>
              <a:rPr lang="zh-CN" altLang="en-US" b="0" dirty="0">
                <a:solidFill>
                  <a:srgbClr val="0000FF"/>
                </a:solidFill>
                <a:latin typeface="黑体" panose="02010609060101010101" pitchFamily="49" charset="-122"/>
                <a:ea typeface="黑体" panose="02010609060101010101" pitchFamily="49" charset="-122"/>
              </a:rPr>
              <a:t>单顺反子</a:t>
            </a:r>
            <a:r>
              <a:rPr lang="en-US" altLang="zh-CN" b="0" dirty="0">
                <a:solidFill>
                  <a:srgbClr val="0000FF"/>
                </a:solidFill>
                <a:latin typeface="黑体" panose="02010609060101010101" pitchFamily="49" charset="-122"/>
                <a:ea typeface="黑体" panose="02010609060101010101" pitchFamily="49" charset="-122"/>
              </a:rPr>
              <a:t>(</a:t>
            </a:r>
            <a:r>
              <a:rPr lang="en-US" altLang="zh-CN" b="0" dirty="0" err="1">
                <a:solidFill>
                  <a:srgbClr val="0000FF"/>
                </a:solidFill>
                <a:latin typeface="黑体" panose="02010609060101010101" pitchFamily="49" charset="-122"/>
                <a:ea typeface="黑体" panose="02010609060101010101" pitchFamily="49" charset="-122"/>
              </a:rPr>
              <a:t>monocistron</a:t>
            </a:r>
            <a:r>
              <a:rPr lang="en-US" altLang="zh-CN" b="0" dirty="0">
                <a:solidFill>
                  <a:srgbClr val="0000FF"/>
                </a:solidFill>
                <a:latin typeface="黑体" panose="02010609060101010101" pitchFamily="49" charset="-122"/>
                <a:ea typeface="黑体" panose="02010609060101010101" pitchFamily="49" charset="-122"/>
              </a:rPr>
              <a:t>) </a:t>
            </a:r>
            <a:r>
              <a:rPr lang="zh-CN" altLang="en-US" b="0" dirty="0">
                <a:solidFill>
                  <a:srgbClr val="0000FF"/>
                </a:solidFill>
                <a:latin typeface="黑体" panose="02010609060101010101" pitchFamily="49" charset="-122"/>
                <a:ea typeface="黑体" panose="02010609060101010101" pitchFamily="49" charset="-122"/>
              </a:rPr>
              <a:t>。</a:t>
            </a:r>
          </a:p>
          <a:p>
            <a:pPr algn="just" eaLnBrk="1" hangingPunct="1">
              <a:spcBef>
                <a:spcPct val="0"/>
              </a:spcBef>
              <a:buClrTx/>
              <a:buFontTx/>
              <a:buChar char="•"/>
            </a:pPr>
            <a:endParaRPr lang="zh-CN" altLang="en-US" b="0" dirty="0">
              <a:solidFill>
                <a:srgbClr val="0000FF"/>
              </a:solidFill>
              <a:latin typeface="黑体" panose="02010609060101010101" pitchFamily="49" charset="-122"/>
              <a:ea typeface="黑体" panose="02010609060101010101" pitchFamily="49" charset="-122"/>
            </a:endParaRPr>
          </a:p>
          <a:p>
            <a:pPr algn="just" eaLnBrk="1" hangingPunct="1">
              <a:spcBef>
                <a:spcPct val="0"/>
              </a:spcBef>
              <a:buClrTx/>
              <a:buFontTx/>
              <a:buChar char="•"/>
            </a:pPr>
            <a:r>
              <a:rPr lang="zh-CN" altLang="en-US" b="0" dirty="0">
                <a:solidFill>
                  <a:schemeClr val="tx1"/>
                </a:solidFill>
                <a:latin typeface="黑体" panose="02010609060101010101" pitchFamily="49" charset="-122"/>
                <a:ea typeface="黑体" panose="02010609060101010101" pitchFamily="49" charset="-122"/>
              </a:rPr>
              <a:t>原核细胞中数个结构基因常串联为一个转录单位，转录生成的</a:t>
            </a:r>
            <a:r>
              <a:rPr lang="en-US" altLang="zh-CN" b="0" dirty="0">
                <a:solidFill>
                  <a:schemeClr val="tx1"/>
                </a:solidFill>
                <a:latin typeface="黑体" panose="02010609060101010101" pitchFamily="49" charset="-122"/>
                <a:ea typeface="黑体" panose="02010609060101010101" pitchFamily="49" charset="-122"/>
              </a:rPr>
              <a:t>mRNA</a:t>
            </a:r>
            <a:r>
              <a:rPr lang="zh-CN" altLang="en-US" b="0" dirty="0">
                <a:solidFill>
                  <a:schemeClr val="tx1"/>
                </a:solidFill>
                <a:latin typeface="黑体" panose="02010609060101010101" pitchFamily="49" charset="-122"/>
                <a:ea typeface="黑体" panose="02010609060101010101" pitchFamily="49" charset="-122"/>
              </a:rPr>
              <a:t>可编码几种功能相关的蛋白质，为</a:t>
            </a:r>
            <a:r>
              <a:rPr lang="zh-CN" altLang="en-US" b="0" dirty="0">
                <a:solidFill>
                  <a:srgbClr val="0000FF"/>
                </a:solidFill>
                <a:latin typeface="黑体" panose="02010609060101010101" pitchFamily="49" charset="-122"/>
                <a:ea typeface="黑体" panose="02010609060101010101" pitchFamily="49" charset="-122"/>
              </a:rPr>
              <a:t>多顺反子</a:t>
            </a:r>
            <a:r>
              <a:rPr lang="en-US" altLang="zh-CN" b="0" dirty="0">
                <a:solidFill>
                  <a:srgbClr val="0000FF"/>
                </a:solidFill>
                <a:latin typeface="黑体" panose="02010609060101010101" pitchFamily="49" charset="-122"/>
                <a:ea typeface="黑体" panose="02010609060101010101" pitchFamily="49" charset="-122"/>
              </a:rPr>
              <a:t>(</a:t>
            </a:r>
            <a:r>
              <a:rPr lang="en-US" altLang="zh-CN" b="0" dirty="0" err="1">
                <a:solidFill>
                  <a:srgbClr val="0000FF"/>
                </a:solidFill>
                <a:latin typeface="黑体" panose="02010609060101010101" pitchFamily="49" charset="-122"/>
                <a:ea typeface="黑体" panose="02010609060101010101" pitchFamily="49" charset="-122"/>
              </a:rPr>
              <a:t>polycistron</a:t>
            </a:r>
            <a:r>
              <a:rPr lang="en-US" altLang="zh-CN" b="0" dirty="0">
                <a:solidFill>
                  <a:srgbClr val="0000FF"/>
                </a:solidFill>
                <a:latin typeface="黑体" panose="02010609060101010101" pitchFamily="49" charset="-122"/>
                <a:ea typeface="黑体" panose="02010609060101010101" pitchFamily="49" charset="-122"/>
              </a:rPr>
              <a:t>)</a:t>
            </a:r>
            <a:r>
              <a:rPr lang="en-US" altLang="zh-CN" b="0" dirty="0">
                <a:solidFill>
                  <a:schemeClr val="tx1"/>
                </a:solidFill>
                <a:latin typeface="黑体" panose="02010609060101010101" pitchFamily="49" charset="-122"/>
                <a:ea typeface="黑体" panose="02010609060101010101" pitchFamily="49" charset="-122"/>
              </a:rPr>
              <a:t> </a:t>
            </a:r>
            <a:r>
              <a:rPr lang="zh-CN" altLang="en-US" b="0" dirty="0">
                <a:solidFill>
                  <a:schemeClr val="tx1"/>
                </a:solidFill>
                <a:latin typeface="黑体" panose="02010609060101010101" pitchFamily="49" charset="-122"/>
                <a:ea typeface="黑体" panose="02010609060101010101" pitchFamily="49" charset="-122"/>
              </a:rPr>
              <a:t>。</a:t>
            </a:r>
          </a:p>
          <a:p>
            <a:pPr algn="just" eaLnBrk="1" hangingPunct="1">
              <a:lnSpc>
                <a:spcPct val="70000"/>
              </a:lnSpc>
              <a:spcBef>
                <a:spcPct val="0"/>
              </a:spcBef>
              <a:buClrTx/>
              <a:buFontTx/>
              <a:buChar char="•"/>
            </a:pPr>
            <a:endParaRPr lang="zh-CN" altLang="en-US" b="0" u="sng" dirty="0">
              <a:solidFill>
                <a:schemeClr val="tx2"/>
              </a:solidFill>
              <a:latin typeface="黑体" panose="02010609060101010101" pitchFamily="49" charset="-122"/>
              <a:ea typeface="黑体" panose="02010609060101010101" pitchFamily="49" charset="-122"/>
            </a:endParaRPr>
          </a:p>
        </p:txBody>
      </p:sp>
      <p:sp>
        <p:nvSpPr>
          <p:cNvPr id="277507" name="标题 1">
            <a:extLst>
              <a:ext uri="{FF2B5EF4-FFF2-40B4-BE49-F238E27FC236}">
                <a16:creationId xmlns:a16="http://schemas.microsoft.com/office/drawing/2014/main" id="{FA34F8D1-7129-4CD0-BC1D-495E339C3E02}"/>
              </a:ext>
            </a:extLst>
          </p:cNvPr>
          <p:cNvSpPr>
            <a:spLocks noGrp="1" noChangeArrowheads="1"/>
          </p:cNvSpPr>
          <p:nvPr>
            <p:ph type="title"/>
          </p:nvPr>
        </p:nvSpPr>
        <p:spPr>
          <a:xfrm>
            <a:off x="2046288" y="66676"/>
            <a:ext cx="8153400" cy="735013"/>
          </a:xfrm>
        </p:spPr>
        <p:txBody>
          <a:bodyPr>
            <a:spAutoFit/>
          </a:bodyPr>
          <a:lstStyle/>
          <a:p>
            <a:pPr eaLnBrk="1" hangingPunct="1">
              <a:lnSpc>
                <a:spcPct val="130000"/>
              </a:lnSpc>
              <a:spcAft>
                <a:spcPct val="30000"/>
              </a:spcAft>
              <a:defRPr/>
            </a:pPr>
            <a:r>
              <a:rPr lang="zh-CN" altLang="en-US" sz="3600" b="0" kern="1200" dirty="0">
                <a:latin typeface="Times New Roman" panose="02020603050405020304" pitchFamily="18" charset="0"/>
                <a:ea typeface="黑体" panose="02010609060101010101" pitchFamily="49" charset="-122"/>
                <a:cs typeface="+mn-cs"/>
              </a:rPr>
              <a:t>原核</a:t>
            </a:r>
            <a:r>
              <a:rPr lang="en-US" altLang="zh-CN" sz="3600" b="0" kern="1200" dirty="0">
                <a:latin typeface="Times New Roman" panose="02020603050405020304" pitchFamily="18" charset="0"/>
                <a:ea typeface="黑体" panose="02010609060101010101" pitchFamily="49" charset="-122"/>
                <a:cs typeface="+mn-cs"/>
              </a:rPr>
              <a:t>mRNA</a:t>
            </a:r>
            <a:r>
              <a:rPr lang="zh-CN" altLang="en-US" sz="3600" b="0" kern="1200" dirty="0">
                <a:latin typeface="Times New Roman" panose="02020603050405020304" pitchFamily="18" charset="0"/>
                <a:ea typeface="黑体" panose="02010609060101010101" pitchFamily="49" charset="-122"/>
                <a:cs typeface="+mn-cs"/>
              </a:rPr>
              <a:t>与真核</a:t>
            </a:r>
            <a:r>
              <a:rPr lang="en-US" altLang="zh-CN" sz="3600" b="0" kern="1200" dirty="0">
                <a:latin typeface="Times New Roman" panose="02020603050405020304" pitchFamily="18" charset="0"/>
                <a:ea typeface="黑体" panose="02010609060101010101" pitchFamily="49" charset="-122"/>
                <a:cs typeface="+mn-cs"/>
              </a:rPr>
              <a:t>mRNA</a:t>
            </a:r>
            <a:r>
              <a:rPr lang="zh-CN" altLang="en-US" sz="3600" b="0" kern="1200" dirty="0">
                <a:latin typeface="Times New Roman" panose="02020603050405020304" pitchFamily="18" charset="0"/>
                <a:ea typeface="黑体" panose="02010609060101010101" pitchFamily="49" charset="-122"/>
                <a:cs typeface="+mn-cs"/>
              </a:rPr>
              <a:t>也称顺反子</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198"/>
                                        </p:tgtEl>
                                        <p:attrNameLst>
                                          <p:attrName>style.visibility</p:attrName>
                                        </p:attrNameLst>
                                      </p:cBhvr>
                                      <p:to>
                                        <p:strVal val="visible"/>
                                      </p:to>
                                    </p:set>
                                    <p:animEffect transition="in" filter="wipe(up)">
                                      <p:cBhvr>
                                        <p:cTn id="7" dur="500"/>
                                        <p:tgtEl>
                                          <p:spTgt spid="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2D1849D8-1E24-4612-B97E-9FECB7462233}"/>
              </a:ext>
            </a:extLst>
          </p:cNvPr>
          <p:cNvSpPr>
            <a:spLocks noChangeArrowheads="1"/>
          </p:cNvSpPr>
          <p:nvPr/>
        </p:nvSpPr>
        <p:spPr bwMode="auto">
          <a:xfrm>
            <a:off x="1608139" y="3392489"/>
            <a:ext cx="5191125" cy="523875"/>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r>
              <a:rPr lang="zh-CN" altLang="en-US" b="0">
                <a:solidFill>
                  <a:srgbClr val="0000FF"/>
                </a:solidFill>
              </a:rPr>
              <a:t>原核生物</a:t>
            </a:r>
            <a:r>
              <a:rPr lang="en-US" altLang="zh-CN" b="0">
                <a:solidFill>
                  <a:srgbClr val="0000FF"/>
                </a:solidFill>
              </a:rPr>
              <a:t>mRNA</a:t>
            </a:r>
            <a:r>
              <a:rPr lang="zh-CN" altLang="en-US" b="0">
                <a:solidFill>
                  <a:srgbClr val="0000FF"/>
                </a:solidFill>
              </a:rPr>
              <a:t>是</a:t>
            </a:r>
            <a:r>
              <a:rPr lang="zh-CN" altLang="en-US" b="0">
                <a:solidFill>
                  <a:srgbClr val="FF0000"/>
                </a:solidFill>
              </a:rPr>
              <a:t>多顺反子</a:t>
            </a:r>
          </a:p>
        </p:txBody>
      </p:sp>
      <p:sp>
        <p:nvSpPr>
          <p:cNvPr id="240643" name="Rectangle 3">
            <a:extLst>
              <a:ext uri="{FF2B5EF4-FFF2-40B4-BE49-F238E27FC236}">
                <a16:creationId xmlns:a16="http://schemas.microsoft.com/office/drawing/2014/main" id="{9818B46D-4BE6-4715-AD9D-27C09F900C89}"/>
              </a:ext>
            </a:extLst>
          </p:cNvPr>
          <p:cNvSpPr>
            <a:spLocks noChangeArrowheads="1"/>
          </p:cNvSpPr>
          <p:nvPr/>
        </p:nvSpPr>
        <p:spPr bwMode="auto">
          <a:xfrm>
            <a:off x="1524000" y="292101"/>
            <a:ext cx="5291138" cy="597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b="0">
                <a:solidFill>
                  <a:srgbClr val="0000CC"/>
                </a:solidFill>
              </a:rPr>
              <a:t>真核生物</a:t>
            </a:r>
            <a:r>
              <a:rPr kumimoji="0" lang="en-US" altLang="zh-CN" b="0">
                <a:solidFill>
                  <a:srgbClr val="0000CC"/>
                </a:solidFill>
              </a:rPr>
              <a:t>mRNA</a:t>
            </a:r>
            <a:r>
              <a:rPr kumimoji="0" lang="zh-CN" altLang="en-US" b="0">
                <a:solidFill>
                  <a:srgbClr val="0000CC"/>
                </a:solidFill>
              </a:rPr>
              <a:t>是</a:t>
            </a:r>
            <a:r>
              <a:rPr kumimoji="0" lang="zh-CN" altLang="en-US" b="0">
                <a:solidFill>
                  <a:srgbClr val="C00000"/>
                </a:solidFill>
              </a:rPr>
              <a:t>单顺反子</a:t>
            </a:r>
          </a:p>
        </p:txBody>
      </p:sp>
      <p:sp>
        <p:nvSpPr>
          <p:cNvPr id="240644" name="Text Box 4">
            <a:extLst>
              <a:ext uri="{FF2B5EF4-FFF2-40B4-BE49-F238E27FC236}">
                <a16:creationId xmlns:a16="http://schemas.microsoft.com/office/drawing/2014/main" id="{5EAE10F6-46F8-4EF4-8009-2B046D8B9DE3}"/>
              </a:ext>
            </a:extLst>
          </p:cNvPr>
          <p:cNvSpPr txBox="1">
            <a:spLocks noChangeArrowheads="1"/>
          </p:cNvSpPr>
          <p:nvPr/>
        </p:nvSpPr>
        <p:spPr bwMode="auto">
          <a:xfrm>
            <a:off x="3122614" y="1933576"/>
            <a:ext cx="186013"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4800">
              <a:solidFill>
                <a:srgbClr val="A50021"/>
              </a:solidFill>
              <a:latin typeface="Times New Roman" panose="02020603050405020304" pitchFamily="18" charset="0"/>
              <a:ea typeface="宋体" panose="02010600030101010101" pitchFamily="2" charset="-122"/>
            </a:endParaRPr>
          </a:p>
        </p:txBody>
      </p:sp>
      <p:sp>
        <p:nvSpPr>
          <p:cNvPr id="31750" name="Rectangle 6">
            <a:extLst>
              <a:ext uri="{FF2B5EF4-FFF2-40B4-BE49-F238E27FC236}">
                <a16:creationId xmlns:a16="http://schemas.microsoft.com/office/drawing/2014/main" id="{F5686002-BDCE-40C1-B2B8-E92267EB0C17}"/>
              </a:ext>
            </a:extLst>
          </p:cNvPr>
          <p:cNvSpPr>
            <a:spLocks noChangeArrowheads="1"/>
          </p:cNvSpPr>
          <p:nvPr/>
        </p:nvSpPr>
        <p:spPr bwMode="auto">
          <a:xfrm>
            <a:off x="3332163" y="2565400"/>
            <a:ext cx="603250" cy="215900"/>
          </a:xfrm>
          <a:prstGeom prst="rect">
            <a:avLst/>
          </a:prstGeom>
          <a:solidFill>
            <a:srgbClr val="FF9900"/>
          </a:solidFill>
          <a:ln>
            <a:noFill/>
          </a:ln>
          <a:effectLst/>
        </p:spPr>
        <p:txBody>
          <a:bodyPr wrap="none" lIns="92075" tIns="46038" rIns="92075" bIns="46038" anchor="ctr"/>
          <a:lstStyle>
            <a:lvl1pPr>
              <a:spcBef>
                <a:spcPts val="1200"/>
              </a:spcBef>
              <a:buClr>
                <a:srgbClr val="C00000"/>
              </a:buClr>
              <a:buFont typeface="华文中宋" panose="02010600040101010101" pitchFamily="2" charset="-122"/>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ts val="1200"/>
              </a:spcBef>
              <a:buClr>
                <a:srgbClr val="C00000"/>
              </a:buClr>
              <a:buChar char="–"/>
              <a:defRPr sz="3200" b="1">
                <a:solidFill>
                  <a:schemeClr val="tx1"/>
                </a:solidFill>
                <a:latin typeface="黑体" panose="02010609060101010101" pitchFamily="49" charset="-122"/>
                <a:ea typeface="黑体" panose="02010609060101010101" pitchFamily="49" charset="-122"/>
              </a:defRPr>
            </a:lvl2pPr>
            <a:lvl3pPr marL="1143000" indent="-228600">
              <a:spcBef>
                <a:spcPts val="1200"/>
              </a:spcBef>
              <a:buClr>
                <a:srgbClr val="C00000"/>
              </a:buClr>
              <a:buFont typeface="微软雅黑" panose="020B0503020204020204" pitchFamily="34" charset="-122"/>
              <a:buChar char="»"/>
              <a:defRPr sz="2400" b="1">
                <a:solidFill>
                  <a:schemeClr val="tx1"/>
                </a:solidFill>
                <a:latin typeface="华文中宋" panose="02010600040101010101" pitchFamily="2" charset="-122"/>
                <a:ea typeface="华文中宋" panose="02010600040101010101" pitchFamily="2" charset="-122"/>
              </a:defRPr>
            </a:lvl3pPr>
            <a:lvl4pPr marL="16002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defRPr/>
            </a:pPr>
            <a:endParaRPr lang="zh-CN" altLang="en-US" sz="1800" b="0">
              <a:solidFill>
                <a:schemeClr val="tx1">
                  <a:lumMod val="95000"/>
                  <a:lumOff val="5000"/>
                </a:schemeClr>
              </a:solidFill>
              <a:latin typeface="Arial" panose="020B0604020202020204" pitchFamily="34" charset="0"/>
              <a:ea typeface="宋体" panose="02010600030101010101" pitchFamily="2" charset="-122"/>
            </a:endParaRPr>
          </a:p>
        </p:txBody>
      </p:sp>
      <p:sp>
        <p:nvSpPr>
          <p:cNvPr id="31751" name="Text Box 7">
            <a:extLst>
              <a:ext uri="{FF2B5EF4-FFF2-40B4-BE49-F238E27FC236}">
                <a16:creationId xmlns:a16="http://schemas.microsoft.com/office/drawing/2014/main" id="{F3BC6C23-E2B5-4F09-964A-2530EEEC7A56}"/>
              </a:ext>
            </a:extLst>
          </p:cNvPr>
          <p:cNvSpPr txBox="1">
            <a:spLocks noChangeArrowheads="1"/>
          </p:cNvSpPr>
          <p:nvPr/>
        </p:nvSpPr>
        <p:spPr bwMode="auto">
          <a:xfrm>
            <a:off x="3863976" y="2420938"/>
            <a:ext cx="2868613" cy="461962"/>
          </a:xfrm>
          <a:prstGeom prst="rect">
            <a:avLst/>
          </a:prstGeom>
          <a:noFill/>
          <a:ln>
            <a:noFill/>
          </a:ln>
          <a:effectLst/>
        </p:spPr>
        <p:txBody>
          <a:bodyPr lIns="92075" tIns="46038" rIns="92075" bIns="46038">
            <a:spAutoFit/>
          </a:bodyPr>
          <a:lstStyle>
            <a:lvl1pPr>
              <a:spcBef>
                <a:spcPts val="1200"/>
              </a:spcBef>
              <a:buClr>
                <a:srgbClr val="C00000"/>
              </a:buClr>
              <a:buFont typeface="华文中宋" panose="02010600040101010101" pitchFamily="2" charset="-122"/>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ts val="1200"/>
              </a:spcBef>
              <a:buClr>
                <a:srgbClr val="C00000"/>
              </a:buClr>
              <a:buChar char="–"/>
              <a:defRPr sz="3200" b="1">
                <a:solidFill>
                  <a:schemeClr val="tx1"/>
                </a:solidFill>
                <a:latin typeface="黑体" panose="02010609060101010101" pitchFamily="49" charset="-122"/>
                <a:ea typeface="黑体" panose="02010609060101010101" pitchFamily="49" charset="-122"/>
              </a:defRPr>
            </a:lvl2pPr>
            <a:lvl3pPr marL="1143000" indent="-228600">
              <a:spcBef>
                <a:spcPts val="1200"/>
              </a:spcBef>
              <a:buClr>
                <a:srgbClr val="C00000"/>
              </a:buClr>
              <a:buFont typeface="微软雅黑" panose="020B0503020204020204" pitchFamily="34" charset="-122"/>
              <a:buChar char="»"/>
              <a:defRPr sz="2400" b="1">
                <a:solidFill>
                  <a:schemeClr val="tx1"/>
                </a:solidFill>
                <a:latin typeface="华文中宋" panose="02010600040101010101" pitchFamily="2" charset="-122"/>
                <a:ea typeface="华文中宋" panose="02010600040101010101" pitchFamily="2" charset="-122"/>
              </a:defRPr>
            </a:lvl3pPr>
            <a:lvl4pPr marL="16002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defRPr/>
            </a:pPr>
            <a:r>
              <a:rPr lang="zh-CN" altLang="en-US" sz="2400" dirty="0">
                <a:solidFill>
                  <a:schemeClr val="tx1">
                    <a:lumMod val="95000"/>
                    <a:lumOff val="5000"/>
                  </a:schemeClr>
                </a:solidFill>
                <a:latin typeface="Times New Roman" panose="02020603050405020304" pitchFamily="18" charset="0"/>
                <a:ea typeface="宋体" panose="02010600030101010101" pitchFamily="2" charset="-122"/>
              </a:rPr>
              <a:t>非翻译区（</a:t>
            </a:r>
            <a:r>
              <a:rPr lang="en-US" altLang="zh-CN" sz="2400" dirty="0">
                <a:solidFill>
                  <a:schemeClr val="tx1">
                    <a:lumMod val="95000"/>
                    <a:lumOff val="5000"/>
                  </a:schemeClr>
                </a:solidFill>
                <a:latin typeface="Times New Roman" panose="02020603050405020304" pitchFamily="18" charset="0"/>
                <a:ea typeface="宋体" panose="02010600030101010101" pitchFamily="2" charset="-122"/>
              </a:rPr>
              <a:t>UTR</a:t>
            </a:r>
            <a:r>
              <a:rPr lang="zh-CN" altLang="en-US" sz="2400" dirty="0">
                <a:solidFill>
                  <a:schemeClr val="tx1">
                    <a:lumMod val="95000"/>
                    <a:lumOff val="5000"/>
                  </a:schemeClr>
                </a:solidFill>
                <a:latin typeface="Times New Roman" panose="02020603050405020304" pitchFamily="18" charset="0"/>
                <a:ea typeface="宋体" panose="02010600030101010101" pitchFamily="2" charset="-122"/>
              </a:rPr>
              <a:t>）</a:t>
            </a:r>
          </a:p>
        </p:txBody>
      </p:sp>
      <p:sp>
        <p:nvSpPr>
          <p:cNvPr id="31752" name="Rectangle 10">
            <a:extLst>
              <a:ext uri="{FF2B5EF4-FFF2-40B4-BE49-F238E27FC236}">
                <a16:creationId xmlns:a16="http://schemas.microsoft.com/office/drawing/2014/main" id="{E446ACF3-AA9A-4366-B644-D59D2C66EA02}"/>
              </a:ext>
            </a:extLst>
          </p:cNvPr>
          <p:cNvSpPr>
            <a:spLocks noChangeArrowheads="1"/>
          </p:cNvSpPr>
          <p:nvPr/>
        </p:nvSpPr>
        <p:spPr bwMode="auto">
          <a:xfrm>
            <a:off x="3790950" y="3017838"/>
            <a:ext cx="300038" cy="215900"/>
          </a:xfrm>
          <a:prstGeom prst="rect">
            <a:avLst/>
          </a:prstGeom>
          <a:solidFill>
            <a:srgbClr val="00FF00"/>
          </a:solidFill>
          <a:ln>
            <a:noFill/>
          </a:ln>
          <a:effectLst/>
        </p:spPr>
        <p:txBody>
          <a:bodyPr wrap="none" lIns="92075" tIns="46038" rIns="92075" bIns="46038" anchor="ctr"/>
          <a:lstStyle>
            <a:lvl1pPr>
              <a:spcBef>
                <a:spcPts val="1200"/>
              </a:spcBef>
              <a:buClr>
                <a:srgbClr val="C00000"/>
              </a:buClr>
              <a:buFont typeface="华文中宋" panose="02010600040101010101" pitchFamily="2" charset="-122"/>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ts val="1200"/>
              </a:spcBef>
              <a:buClr>
                <a:srgbClr val="C00000"/>
              </a:buClr>
              <a:buChar char="–"/>
              <a:defRPr sz="3200" b="1">
                <a:solidFill>
                  <a:schemeClr val="tx1"/>
                </a:solidFill>
                <a:latin typeface="黑体" panose="02010609060101010101" pitchFamily="49" charset="-122"/>
                <a:ea typeface="黑体" panose="02010609060101010101" pitchFamily="49" charset="-122"/>
              </a:defRPr>
            </a:lvl2pPr>
            <a:lvl3pPr marL="1143000" indent="-228600">
              <a:spcBef>
                <a:spcPts val="1200"/>
              </a:spcBef>
              <a:buClr>
                <a:srgbClr val="C00000"/>
              </a:buClr>
              <a:buFont typeface="微软雅黑" panose="020B0503020204020204" pitchFamily="34" charset="-122"/>
              <a:buChar char="»"/>
              <a:defRPr sz="2400" b="1">
                <a:solidFill>
                  <a:schemeClr val="tx1"/>
                </a:solidFill>
                <a:latin typeface="华文中宋" panose="02010600040101010101" pitchFamily="2" charset="-122"/>
                <a:ea typeface="华文中宋" panose="02010600040101010101" pitchFamily="2" charset="-122"/>
              </a:defRPr>
            </a:lvl3pPr>
            <a:lvl4pPr marL="16002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defRPr/>
            </a:pPr>
            <a:endParaRPr lang="zh-CN" altLang="en-US" sz="1800" b="0">
              <a:solidFill>
                <a:schemeClr val="tx1">
                  <a:lumMod val="95000"/>
                  <a:lumOff val="5000"/>
                </a:schemeClr>
              </a:solidFill>
              <a:latin typeface="Arial" panose="020B0604020202020204" pitchFamily="34" charset="0"/>
              <a:ea typeface="宋体" panose="02010600030101010101" pitchFamily="2" charset="-122"/>
            </a:endParaRPr>
          </a:p>
        </p:txBody>
      </p:sp>
      <p:sp>
        <p:nvSpPr>
          <p:cNvPr id="31753" name="Text Box 11">
            <a:extLst>
              <a:ext uri="{FF2B5EF4-FFF2-40B4-BE49-F238E27FC236}">
                <a16:creationId xmlns:a16="http://schemas.microsoft.com/office/drawing/2014/main" id="{FF8B4EA7-A62B-408F-9B6F-08037B4E4284}"/>
              </a:ext>
            </a:extLst>
          </p:cNvPr>
          <p:cNvSpPr txBox="1">
            <a:spLocks noChangeArrowheads="1"/>
          </p:cNvSpPr>
          <p:nvPr/>
        </p:nvSpPr>
        <p:spPr bwMode="auto">
          <a:xfrm>
            <a:off x="4124326" y="2852738"/>
            <a:ext cx="2187575" cy="461962"/>
          </a:xfrm>
          <a:prstGeom prst="rect">
            <a:avLst/>
          </a:prstGeom>
          <a:noFill/>
          <a:ln>
            <a:noFill/>
          </a:ln>
          <a:effectLst/>
        </p:spPr>
        <p:txBody>
          <a:bodyPr lIns="92075" tIns="46038" rIns="92075" bIns="46038">
            <a:spAutoFit/>
          </a:bodyPr>
          <a:lstStyle>
            <a:lvl1pPr>
              <a:spcBef>
                <a:spcPts val="1200"/>
              </a:spcBef>
              <a:buClr>
                <a:srgbClr val="C00000"/>
              </a:buClr>
              <a:buFont typeface="华文中宋" panose="02010600040101010101" pitchFamily="2" charset="-122"/>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ts val="1200"/>
              </a:spcBef>
              <a:buClr>
                <a:srgbClr val="C00000"/>
              </a:buClr>
              <a:buChar char="–"/>
              <a:defRPr sz="3200" b="1">
                <a:solidFill>
                  <a:schemeClr val="tx1"/>
                </a:solidFill>
                <a:latin typeface="黑体" panose="02010609060101010101" pitchFamily="49" charset="-122"/>
                <a:ea typeface="黑体" panose="02010609060101010101" pitchFamily="49" charset="-122"/>
              </a:defRPr>
            </a:lvl2pPr>
            <a:lvl3pPr marL="1143000" indent="-228600">
              <a:spcBef>
                <a:spcPts val="1200"/>
              </a:spcBef>
              <a:buClr>
                <a:srgbClr val="C00000"/>
              </a:buClr>
              <a:buFont typeface="微软雅黑" panose="020B0503020204020204" pitchFamily="34" charset="-122"/>
              <a:buChar char="»"/>
              <a:defRPr sz="2400" b="1">
                <a:solidFill>
                  <a:schemeClr val="tx1"/>
                </a:solidFill>
                <a:latin typeface="华文中宋" panose="02010600040101010101" pitchFamily="2" charset="-122"/>
                <a:ea typeface="华文中宋" panose="02010600040101010101" pitchFamily="2" charset="-122"/>
              </a:defRPr>
            </a:lvl3pPr>
            <a:lvl4pPr marL="16002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defRPr/>
            </a:pPr>
            <a:r>
              <a:rPr lang="zh-CN" altLang="en-US" sz="2400">
                <a:solidFill>
                  <a:schemeClr val="tx1">
                    <a:lumMod val="95000"/>
                    <a:lumOff val="5000"/>
                  </a:schemeClr>
                </a:solidFill>
                <a:latin typeface="Times New Roman" panose="02020603050405020304" pitchFamily="18" charset="0"/>
                <a:ea typeface="宋体" panose="02010600030101010101" pitchFamily="2" charset="-122"/>
              </a:rPr>
              <a:t>起始密码子</a:t>
            </a:r>
          </a:p>
        </p:txBody>
      </p:sp>
      <p:sp>
        <p:nvSpPr>
          <p:cNvPr id="31754" name="Rectangle 12">
            <a:extLst>
              <a:ext uri="{FF2B5EF4-FFF2-40B4-BE49-F238E27FC236}">
                <a16:creationId xmlns:a16="http://schemas.microsoft.com/office/drawing/2014/main" id="{76633A7F-F973-49B7-89D8-D7E232EA5E84}"/>
              </a:ext>
            </a:extLst>
          </p:cNvPr>
          <p:cNvSpPr>
            <a:spLocks noChangeArrowheads="1"/>
          </p:cNvSpPr>
          <p:nvPr/>
        </p:nvSpPr>
        <p:spPr bwMode="auto">
          <a:xfrm>
            <a:off x="6657976" y="2997200"/>
            <a:ext cx="301625" cy="215900"/>
          </a:xfrm>
          <a:prstGeom prst="rect">
            <a:avLst/>
          </a:prstGeom>
          <a:solidFill>
            <a:srgbClr val="FF33CC"/>
          </a:solidFill>
          <a:ln>
            <a:noFill/>
          </a:ln>
          <a:effectLst/>
        </p:spPr>
        <p:txBody>
          <a:bodyPr wrap="none" lIns="92075" tIns="46038" rIns="92075" bIns="46038" anchor="ctr"/>
          <a:lstStyle>
            <a:lvl1pPr>
              <a:spcBef>
                <a:spcPts val="1200"/>
              </a:spcBef>
              <a:buClr>
                <a:srgbClr val="C00000"/>
              </a:buClr>
              <a:buFont typeface="华文中宋" panose="02010600040101010101" pitchFamily="2" charset="-122"/>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ts val="1200"/>
              </a:spcBef>
              <a:buClr>
                <a:srgbClr val="C00000"/>
              </a:buClr>
              <a:buChar char="–"/>
              <a:defRPr sz="3200" b="1">
                <a:solidFill>
                  <a:schemeClr val="tx1"/>
                </a:solidFill>
                <a:latin typeface="黑体" panose="02010609060101010101" pitchFamily="49" charset="-122"/>
                <a:ea typeface="黑体" panose="02010609060101010101" pitchFamily="49" charset="-122"/>
              </a:defRPr>
            </a:lvl2pPr>
            <a:lvl3pPr marL="1143000" indent="-228600">
              <a:spcBef>
                <a:spcPts val="1200"/>
              </a:spcBef>
              <a:buClr>
                <a:srgbClr val="C00000"/>
              </a:buClr>
              <a:buFont typeface="微软雅黑" panose="020B0503020204020204" pitchFamily="34" charset="-122"/>
              <a:buChar char="»"/>
              <a:defRPr sz="2400" b="1">
                <a:solidFill>
                  <a:schemeClr val="tx1"/>
                </a:solidFill>
                <a:latin typeface="华文中宋" panose="02010600040101010101" pitchFamily="2" charset="-122"/>
                <a:ea typeface="华文中宋" panose="02010600040101010101" pitchFamily="2" charset="-122"/>
              </a:defRPr>
            </a:lvl3pPr>
            <a:lvl4pPr marL="16002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defRPr/>
            </a:pPr>
            <a:endParaRPr lang="zh-CN" altLang="en-US" sz="1800" b="0">
              <a:solidFill>
                <a:schemeClr val="tx1">
                  <a:lumMod val="95000"/>
                  <a:lumOff val="5000"/>
                </a:schemeClr>
              </a:solidFill>
              <a:latin typeface="Arial" panose="020B0604020202020204" pitchFamily="34" charset="0"/>
              <a:ea typeface="宋体" panose="02010600030101010101" pitchFamily="2" charset="-122"/>
            </a:endParaRPr>
          </a:p>
        </p:txBody>
      </p:sp>
      <p:sp>
        <p:nvSpPr>
          <p:cNvPr id="31755" name="Text Box 13">
            <a:extLst>
              <a:ext uri="{FF2B5EF4-FFF2-40B4-BE49-F238E27FC236}">
                <a16:creationId xmlns:a16="http://schemas.microsoft.com/office/drawing/2014/main" id="{17BB38B7-CBD6-42DB-9CFD-18770FCAF740}"/>
              </a:ext>
            </a:extLst>
          </p:cNvPr>
          <p:cNvSpPr txBox="1">
            <a:spLocks noChangeArrowheads="1"/>
          </p:cNvSpPr>
          <p:nvPr/>
        </p:nvSpPr>
        <p:spPr bwMode="auto">
          <a:xfrm>
            <a:off x="7007226" y="2852738"/>
            <a:ext cx="2112963" cy="461962"/>
          </a:xfrm>
          <a:prstGeom prst="rect">
            <a:avLst/>
          </a:prstGeom>
          <a:noFill/>
          <a:ln>
            <a:noFill/>
          </a:ln>
          <a:effectLst/>
        </p:spPr>
        <p:txBody>
          <a:bodyPr lIns="92075" tIns="46038" rIns="92075" bIns="46038">
            <a:spAutoFit/>
          </a:bodyPr>
          <a:lstStyle>
            <a:lvl1pPr>
              <a:spcBef>
                <a:spcPts val="1200"/>
              </a:spcBef>
              <a:buClr>
                <a:srgbClr val="C00000"/>
              </a:buClr>
              <a:buFont typeface="华文中宋" panose="02010600040101010101" pitchFamily="2" charset="-122"/>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ts val="1200"/>
              </a:spcBef>
              <a:buClr>
                <a:srgbClr val="C00000"/>
              </a:buClr>
              <a:buChar char="–"/>
              <a:defRPr sz="3200" b="1">
                <a:solidFill>
                  <a:schemeClr val="tx1"/>
                </a:solidFill>
                <a:latin typeface="黑体" panose="02010609060101010101" pitchFamily="49" charset="-122"/>
                <a:ea typeface="黑体" panose="02010609060101010101" pitchFamily="49" charset="-122"/>
              </a:defRPr>
            </a:lvl2pPr>
            <a:lvl3pPr marL="1143000" indent="-228600">
              <a:spcBef>
                <a:spcPts val="1200"/>
              </a:spcBef>
              <a:buClr>
                <a:srgbClr val="C00000"/>
              </a:buClr>
              <a:buFont typeface="微软雅黑" panose="020B0503020204020204" pitchFamily="34" charset="-122"/>
              <a:buChar char="»"/>
              <a:defRPr sz="2400" b="1">
                <a:solidFill>
                  <a:schemeClr val="tx1"/>
                </a:solidFill>
                <a:latin typeface="华文中宋" panose="02010600040101010101" pitchFamily="2" charset="-122"/>
                <a:ea typeface="华文中宋" panose="02010600040101010101" pitchFamily="2" charset="-122"/>
              </a:defRPr>
            </a:lvl3pPr>
            <a:lvl4pPr marL="16002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defRPr/>
            </a:pPr>
            <a:r>
              <a:rPr lang="zh-CN" altLang="en-US" sz="2400" dirty="0">
                <a:solidFill>
                  <a:schemeClr val="tx1">
                    <a:lumMod val="95000"/>
                    <a:lumOff val="5000"/>
                  </a:schemeClr>
                </a:solidFill>
                <a:latin typeface="Times New Roman" panose="02020603050405020304" pitchFamily="18" charset="0"/>
                <a:ea typeface="宋体" panose="02010600030101010101" pitchFamily="2" charset="-122"/>
              </a:rPr>
              <a:t>终止密码子</a:t>
            </a:r>
          </a:p>
        </p:txBody>
      </p:sp>
      <p:sp>
        <p:nvSpPr>
          <p:cNvPr id="31756" name="Rectangle 14">
            <a:extLst>
              <a:ext uri="{FF2B5EF4-FFF2-40B4-BE49-F238E27FC236}">
                <a16:creationId xmlns:a16="http://schemas.microsoft.com/office/drawing/2014/main" id="{D4AED339-547A-4384-BC19-F8A23363F80B}"/>
              </a:ext>
            </a:extLst>
          </p:cNvPr>
          <p:cNvSpPr>
            <a:spLocks noChangeArrowheads="1"/>
          </p:cNvSpPr>
          <p:nvPr/>
        </p:nvSpPr>
        <p:spPr bwMode="auto">
          <a:xfrm>
            <a:off x="7221538" y="2551113"/>
            <a:ext cx="603250" cy="215900"/>
          </a:xfrm>
          <a:prstGeom prst="rect">
            <a:avLst/>
          </a:prstGeom>
          <a:solidFill>
            <a:srgbClr val="6666FF"/>
          </a:solidFill>
          <a:ln>
            <a:noFill/>
          </a:ln>
          <a:effectLst/>
        </p:spPr>
        <p:txBody>
          <a:bodyPr wrap="none" lIns="92075" tIns="46038" rIns="92075" bIns="46038" anchor="ctr"/>
          <a:lstStyle>
            <a:lvl1pPr>
              <a:spcBef>
                <a:spcPts val="1200"/>
              </a:spcBef>
              <a:buClr>
                <a:srgbClr val="C00000"/>
              </a:buClr>
              <a:buFont typeface="华文中宋" panose="02010600040101010101" pitchFamily="2" charset="-122"/>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ts val="1200"/>
              </a:spcBef>
              <a:buClr>
                <a:srgbClr val="C00000"/>
              </a:buClr>
              <a:buChar char="–"/>
              <a:defRPr sz="3200" b="1">
                <a:solidFill>
                  <a:schemeClr val="tx1"/>
                </a:solidFill>
                <a:latin typeface="黑体" panose="02010609060101010101" pitchFamily="49" charset="-122"/>
                <a:ea typeface="黑体" panose="02010609060101010101" pitchFamily="49" charset="-122"/>
              </a:defRPr>
            </a:lvl2pPr>
            <a:lvl3pPr marL="1143000" indent="-228600">
              <a:spcBef>
                <a:spcPts val="1200"/>
              </a:spcBef>
              <a:buClr>
                <a:srgbClr val="C00000"/>
              </a:buClr>
              <a:buFont typeface="微软雅黑" panose="020B0503020204020204" pitchFamily="34" charset="-122"/>
              <a:buChar char="»"/>
              <a:defRPr sz="2400" b="1">
                <a:solidFill>
                  <a:schemeClr val="tx1"/>
                </a:solidFill>
                <a:latin typeface="华文中宋" panose="02010600040101010101" pitchFamily="2" charset="-122"/>
                <a:ea typeface="华文中宋" panose="02010600040101010101" pitchFamily="2" charset="-122"/>
              </a:defRPr>
            </a:lvl3pPr>
            <a:lvl4pPr marL="16002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defRPr/>
            </a:pPr>
            <a:endParaRPr lang="zh-CN" altLang="en-US" sz="1800" b="0">
              <a:solidFill>
                <a:schemeClr val="tx1">
                  <a:lumMod val="95000"/>
                  <a:lumOff val="5000"/>
                </a:schemeClr>
              </a:solidFill>
              <a:latin typeface="Arial" panose="020B0604020202020204" pitchFamily="34" charset="0"/>
              <a:ea typeface="宋体" panose="02010600030101010101" pitchFamily="2" charset="-122"/>
            </a:endParaRPr>
          </a:p>
        </p:txBody>
      </p:sp>
      <p:sp>
        <p:nvSpPr>
          <p:cNvPr id="31757" name="Text Box 15">
            <a:extLst>
              <a:ext uri="{FF2B5EF4-FFF2-40B4-BE49-F238E27FC236}">
                <a16:creationId xmlns:a16="http://schemas.microsoft.com/office/drawing/2014/main" id="{0E7714DE-34D4-4E52-937E-7D2403BC5721}"/>
              </a:ext>
            </a:extLst>
          </p:cNvPr>
          <p:cNvSpPr txBox="1">
            <a:spLocks noChangeArrowheads="1"/>
          </p:cNvSpPr>
          <p:nvPr/>
        </p:nvSpPr>
        <p:spPr bwMode="auto">
          <a:xfrm>
            <a:off x="7797800" y="2430463"/>
            <a:ext cx="2185988" cy="461962"/>
          </a:xfrm>
          <a:prstGeom prst="rect">
            <a:avLst/>
          </a:prstGeom>
          <a:noFill/>
          <a:ln>
            <a:noFill/>
          </a:ln>
          <a:effectLst/>
        </p:spPr>
        <p:txBody>
          <a:bodyPr lIns="92075" tIns="46038" rIns="92075" bIns="46038">
            <a:spAutoFit/>
          </a:bodyPr>
          <a:lstStyle>
            <a:lvl1pPr>
              <a:spcBef>
                <a:spcPts val="1200"/>
              </a:spcBef>
              <a:buClr>
                <a:srgbClr val="C00000"/>
              </a:buClr>
              <a:buFont typeface="华文中宋" panose="02010600040101010101" pitchFamily="2" charset="-122"/>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ts val="1200"/>
              </a:spcBef>
              <a:buClr>
                <a:srgbClr val="C00000"/>
              </a:buClr>
              <a:buChar char="–"/>
              <a:defRPr sz="3200" b="1">
                <a:solidFill>
                  <a:schemeClr val="tx1"/>
                </a:solidFill>
                <a:latin typeface="黑体" panose="02010609060101010101" pitchFamily="49" charset="-122"/>
                <a:ea typeface="黑体" panose="02010609060101010101" pitchFamily="49" charset="-122"/>
              </a:defRPr>
            </a:lvl2pPr>
            <a:lvl3pPr marL="1143000" indent="-228600">
              <a:spcBef>
                <a:spcPts val="1200"/>
              </a:spcBef>
              <a:buClr>
                <a:srgbClr val="C00000"/>
              </a:buClr>
              <a:buFont typeface="微软雅黑" panose="020B0503020204020204" pitchFamily="34" charset="-122"/>
              <a:buChar char="»"/>
              <a:defRPr sz="2400" b="1">
                <a:solidFill>
                  <a:schemeClr val="tx1"/>
                </a:solidFill>
                <a:latin typeface="华文中宋" panose="02010600040101010101" pitchFamily="2" charset="-122"/>
                <a:ea typeface="华文中宋" panose="02010600040101010101" pitchFamily="2" charset="-122"/>
              </a:defRPr>
            </a:lvl3pPr>
            <a:lvl4pPr marL="16002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defRPr/>
            </a:pPr>
            <a:r>
              <a:rPr lang="zh-CN" altLang="en-US" sz="2400">
                <a:solidFill>
                  <a:schemeClr val="tx1">
                    <a:lumMod val="95000"/>
                    <a:lumOff val="5000"/>
                  </a:schemeClr>
                </a:solidFill>
                <a:latin typeface="Times New Roman" panose="02020603050405020304" pitchFamily="18" charset="0"/>
                <a:ea typeface="宋体" panose="02010600030101010101" pitchFamily="2" charset="-122"/>
              </a:rPr>
              <a:t>编码序列</a:t>
            </a:r>
          </a:p>
        </p:txBody>
      </p:sp>
      <p:sp>
        <p:nvSpPr>
          <p:cNvPr id="2" name="Line 31">
            <a:extLst>
              <a:ext uri="{FF2B5EF4-FFF2-40B4-BE49-F238E27FC236}">
                <a16:creationId xmlns:a16="http://schemas.microsoft.com/office/drawing/2014/main" id="{816C4D48-3C7C-419F-976B-B02A042FF8AF}"/>
              </a:ext>
            </a:extLst>
          </p:cNvPr>
          <p:cNvSpPr>
            <a:spLocks noChangeShapeType="1"/>
          </p:cNvSpPr>
          <p:nvPr/>
        </p:nvSpPr>
        <p:spPr bwMode="auto">
          <a:xfrm>
            <a:off x="4872038" y="5502275"/>
            <a:ext cx="0" cy="433388"/>
          </a:xfrm>
          <a:prstGeom prst="line">
            <a:avLst/>
          </a:prstGeom>
          <a:noFill/>
          <a:ln w="38100">
            <a:solidFill>
              <a:srgbClr val="FF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p>
            <a:endParaRPr lang="zh-CN" altLang="en-US"/>
          </a:p>
        </p:txBody>
      </p:sp>
      <p:sp>
        <p:nvSpPr>
          <p:cNvPr id="31758" name="Line 33">
            <a:extLst>
              <a:ext uri="{FF2B5EF4-FFF2-40B4-BE49-F238E27FC236}">
                <a16:creationId xmlns:a16="http://schemas.microsoft.com/office/drawing/2014/main" id="{C175820E-38A7-4593-864F-B1F37FFE93B7}"/>
              </a:ext>
            </a:extLst>
          </p:cNvPr>
          <p:cNvSpPr>
            <a:spLocks noChangeShapeType="1"/>
          </p:cNvSpPr>
          <p:nvPr/>
        </p:nvSpPr>
        <p:spPr bwMode="auto">
          <a:xfrm>
            <a:off x="8040688" y="5502275"/>
            <a:ext cx="0" cy="433388"/>
          </a:xfrm>
          <a:prstGeom prst="line">
            <a:avLst/>
          </a:prstGeom>
          <a:noFill/>
          <a:ln w="38100">
            <a:solidFill>
              <a:srgbClr val="FF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p>
            <a:endParaRPr lang="zh-CN" altLang="en-US"/>
          </a:p>
        </p:txBody>
      </p:sp>
      <p:sp>
        <p:nvSpPr>
          <p:cNvPr id="31759" name="Freeform 34">
            <a:extLst>
              <a:ext uri="{FF2B5EF4-FFF2-40B4-BE49-F238E27FC236}">
                <a16:creationId xmlns:a16="http://schemas.microsoft.com/office/drawing/2014/main" id="{92C60CFE-9305-42FC-865A-14590CF32043}"/>
              </a:ext>
            </a:extLst>
          </p:cNvPr>
          <p:cNvSpPr>
            <a:spLocks/>
          </p:cNvSpPr>
          <p:nvPr/>
        </p:nvSpPr>
        <p:spPr bwMode="auto">
          <a:xfrm>
            <a:off x="4367214" y="6005514"/>
            <a:ext cx="1584325" cy="358775"/>
          </a:xfrm>
          <a:custGeom>
            <a:avLst/>
            <a:gdLst>
              <a:gd name="T0" fmla="*/ 0 w 1044"/>
              <a:gd name="T1" fmla="*/ 2147483646 h 151"/>
              <a:gd name="T2" fmla="*/ 2147483646 w 1044"/>
              <a:gd name="T3" fmla="*/ 2147483646 h 151"/>
              <a:gd name="T4" fmla="*/ 2147483646 w 1044"/>
              <a:gd name="T5" fmla="*/ 2147483646 h 151"/>
              <a:gd name="T6" fmla="*/ 2147483646 w 1044"/>
              <a:gd name="T7" fmla="*/ 2147483646 h 151"/>
              <a:gd name="T8" fmla="*/ 2147483646 w 1044"/>
              <a:gd name="T9" fmla="*/ 2147483646 h 151"/>
              <a:gd name="T10" fmla="*/ 2147483646 w 1044"/>
              <a:gd name="T11" fmla="*/ 2147483646 h 151"/>
              <a:gd name="T12" fmla="*/ 2147483646 w 1044"/>
              <a:gd name="T13" fmla="*/ 2147483646 h 151"/>
              <a:gd name="T14" fmla="*/ 2147483646 w 1044"/>
              <a:gd name="T15" fmla="*/ 2147483646 h 151"/>
              <a:gd name="T16" fmla="*/ 2147483646 w 1044"/>
              <a:gd name="T17" fmla="*/ 2147483646 h 151"/>
              <a:gd name="T18" fmla="*/ 2147483646 w 1044"/>
              <a:gd name="T19" fmla="*/ 2147483646 h 151"/>
              <a:gd name="T20" fmla="*/ 2147483646 w 1044"/>
              <a:gd name="T21" fmla="*/ 2147483646 h 1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44" h="151">
                <a:moveTo>
                  <a:pt x="0" y="98"/>
                </a:moveTo>
                <a:cubicBezTo>
                  <a:pt x="30" y="71"/>
                  <a:pt x="61" y="45"/>
                  <a:pt x="91" y="52"/>
                </a:cubicBezTo>
                <a:cubicBezTo>
                  <a:pt x="121" y="59"/>
                  <a:pt x="152" y="143"/>
                  <a:pt x="182" y="143"/>
                </a:cubicBezTo>
                <a:cubicBezTo>
                  <a:pt x="212" y="143"/>
                  <a:pt x="235" y="52"/>
                  <a:pt x="273" y="52"/>
                </a:cubicBezTo>
                <a:cubicBezTo>
                  <a:pt x="311" y="52"/>
                  <a:pt x="371" y="143"/>
                  <a:pt x="409" y="143"/>
                </a:cubicBezTo>
                <a:cubicBezTo>
                  <a:pt x="447" y="143"/>
                  <a:pt x="461" y="52"/>
                  <a:pt x="499" y="52"/>
                </a:cubicBezTo>
                <a:cubicBezTo>
                  <a:pt x="537" y="52"/>
                  <a:pt x="590" y="143"/>
                  <a:pt x="635" y="143"/>
                </a:cubicBezTo>
                <a:cubicBezTo>
                  <a:pt x="680" y="143"/>
                  <a:pt x="734" y="52"/>
                  <a:pt x="772" y="52"/>
                </a:cubicBezTo>
                <a:cubicBezTo>
                  <a:pt x="810" y="52"/>
                  <a:pt x="824" y="151"/>
                  <a:pt x="862" y="143"/>
                </a:cubicBezTo>
                <a:cubicBezTo>
                  <a:pt x="900" y="135"/>
                  <a:pt x="968" y="14"/>
                  <a:pt x="998" y="7"/>
                </a:cubicBezTo>
                <a:cubicBezTo>
                  <a:pt x="1028" y="0"/>
                  <a:pt x="1036" y="49"/>
                  <a:pt x="1044" y="98"/>
                </a:cubicBezTo>
              </a:path>
            </a:pathLst>
          </a:custGeom>
          <a:noFill/>
          <a:ln w="76200" cap="flat" cmpd="sng">
            <a:solidFill>
              <a:srgbClr val="FF99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p>
            <a:endParaRPr lang="zh-CN" altLang="en-US"/>
          </a:p>
        </p:txBody>
      </p:sp>
      <p:sp>
        <p:nvSpPr>
          <p:cNvPr id="31760" name="Freeform 36">
            <a:extLst>
              <a:ext uri="{FF2B5EF4-FFF2-40B4-BE49-F238E27FC236}">
                <a16:creationId xmlns:a16="http://schemas.microsoft.com/office/drawing/2014/main" id="{D6B4EDC8-B3D4-44B3-B8A7-B3018904B482}"/>
              </a:ext>
            </a:extLst>
          </p:cNvPr>
          <p:cNvSpPr>
            <a:spLocks/>
          </p:cNvSpPr>
          <p:nvPr/>
        </p:nvSpPr>
        <p:spPr bwMode="auto">
          <a:xfrm>
            <a:off x="7472364" y="6078538"/>
            <a:ext cx="1323975" cy="285750"/>
          </a:xfrm>
          <a:custGeom>
            <a:avLst/>
            <a:gdLst>
              <a:gd name="T0" fmla="*/ 0 w 952"/>
              <a:gd name="T1" fmla="*/ 2147483646 h 205"/>
              <a:gd name="T2" fmla="*/ 2147483646 w 952"/>
              <a:gd name="T3" fmla="*/ 2147483646 h 205"/>
              <a:gd name="T4" fmla="*/ 2147483646 w 952"/>
              <a:gd name="T5" fmla="*/ 2147483646 h 205"/>
              <a:gd name="T6" fmla="*/ 2147483646 w 952"/>
              <a:gd name="T7" fmla="*/ 2147483646 h 205"/>
              <a:gd name="T8" fmla="*/ 2147483646 w 952"/>
              <a:gd name="T9" fmla="*/ 2147483646 h 205"/>
              <a:gd name="T10" fmla="*/ 2147483646 w 952"/>
              <a:gd name="T11" fmla="*/ 2147483646 h 205"/>
              <a:gd name="T12" fmla="*/ 2147483646 w 952"/>
              <a:gd name="T13" fmla="*/ 2147483646 h 205"/>
              <a:gd name="T14" fmla="*/ 2147483646 w 952"/>
              <a:gd name="T15" fmla="*/ 2147483646 h 205"/>
              <a:gd name="T16" fmla="*/ 2147483646 w 952"/>
              <a:gd name="T17" fmla="*/ 2147483646 h 205"/>
              <a:gd name="T18" fmla="*/ 2147483646 w 952"/>
              <a:gd name="T19" fmla="*/ 2147483646 h 205"/>
              <a:gd name="T20" fmla="*/ 2147483646 w 952"/>
              <a:gd name="T21" fmla="*/ 2147483646 h 205"/>
              <a:gd name="T22" fmla="*/ 2147483646 w 952"/>
              <a:gd name="T23" fmla="*/ 2147483646 h 2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952" h="205">
                <a:moveTo>
                  <a:pt x="0" y="152"/>
                </a:moveTo>
                <a:cubicBezTo>
                  <a:pt x="53" y="106"/>
                  <a:pt x="106" y="61"/>
                  <a:pt x="136" y="61"/>
                </a:cubicBezTo>
                <a:cubicBezTo>
                  <a:pt x="166" y="61"/>
                  <a:pt x="151" y="152"/>
                  <a:pt x="181" y="152"/>
                </a:cubicBezTo>
                <a:cubicBezTo>
                  <a:pt x="211" y="152"/>
                  <a:pt x="287" y="54"/>
                  <a:pt x="317" y="61"/>
                </a:cubicBezTo>
                <a:cubicBezTo>
                  <a:pt x="347" y="68"/>
                  <a:pt x="325" y="205"/>
                  <a:pt x="363" y="197"/>
                </a:cubicBezTo>
                <a:cubicBezTo>
                  <a:pt x="401" y="189"/>
                  <a:pt x="499" y="30"/>
                  <a:pt x="544" y="15"/>
                </a:cubicBezTo>
                <a:cubicBezTo>
                  <a:pt x="589" y="0"/>
                  <a:pt x="612" y="83"/>
                  <a:pt x="635" y="106"/>
                </a:cubicBezTo>
                <a:cubicBezTo>
                  <a:pt x="658" y="129"/>
                  <a:pt x="665" y="152"/>
                  <a:pt x="680" y="152"/>
                </a:cubicBezTo>
                <a:cubicBezTo>
                  <a:pt x="695" y="152"/>
                  <a:pt x="703" y="99"/>
                  <a:pt x="726" y="106"/>
                </a:cubicBezTo>
                <a:cubicBezTo>
                  <a:pt x="749" y="113"/>
                  <a:pt x="793" y="197"/>
                  <a:pt x="816" y="197"/>
                </a:cubicBezTo>
                <a:cubicBezTo>
                  <a:pt x="839" y="197"/>
                  <a:pt x="839" y="113"/>
                  <a:pt x="862" y="106"/>
                </a:cubicBezTo>
                <a:cubicBezTo>
                  <a:pt x="885" y="99"/>
                  <a:pt x="937" y="144"/>
                  <a:pt x="952" y="152"/>
                </a:cubicBezTo>
              </a:path>
            </a:pathLst>
          </a:custGeom>
          <a:noFill/>
          <a:ln w="76200" cap="flat" cmpd="sng">
            <a:solidFill>
              <a:srgbClr val="9900CC"/>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p>
            <a:endParaRPr lang="zh-CN" altLang="en-US"/>
          </a:p>
        </p:txBody>
      </p:sp>
      <p:sp>
        <p:nvSpPr>
          <p:cNvPr id="31779" name="Text Box 39">
            <a:extLst>
              <a:ext uri="{FF2B5EF4-FFF2-40B4-BE49-F238E27FC236}">
                <a16:creationId xmlns:a16="http://schemas.microsoft.com/office/drawing/2014/main" id="{8AC37122-6231-487F-A5C0-5D79AA9A083C}"/>
              </a:ext>
            </a:extLst>
          </p:cNvPr>
          <p:cNvSpPr txBox="1">
            <a:spLocks noChangeArrowheads="1"/>
          </p:cNvSpPr>
          <p:nvPr/>
        </p:nvSpPr>
        <p:spPr bwMode="auto">
          <a:xfrm>
            <a:off x="9085263" y="6005513"/>
            <a:ext cx="1331912" cy="519112"/>
          </a:xfrm>
          <a:prstGeom prst="rect">
            <a:avLst/>
          </a:prstGeom>
          <a:noFill/>
          <a:ln>
            <a:noFill/>
          </a:ln>
          <a:effectLst/>
        </p:spPr>
        <p:txBody>
          <a:bodyPr lIns="92075" tIns="46038" rIns="92075" bIns="46038">
            <a:spAutoFit/>
          </a:bodyPr>
          <a:lstStyle>
            <a:lvl1pPr>
              <a:spcBef>
                <a:spcPts val="1200"/>
              </a:spcBef>
              <a:buClr>
                <a:srgbClr val="C00000"/>
              </a:buClr>
              <a:buFont typeface="华文中宋" panose="02010600040101010101" pitchFamily="2" charset="-122"/>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ts val="1200"/>
              </a:spcBef>
              <a:buClr>
                <a:srgbClr val="C00000"/>
              </a:buClr>
              <a:buChar char="–"/>
              <a:defRPr sz="3200" b="1">
                <a:solidFill>
                  <a:schemeClr val="tx1"/>
                </a:solidFill>
                <a:latin typeface="黑体" panose="02010609060101010101" pitchFamily="49" charset="-122"/>
                <a:ea typeface="黑体" panose="02010609060101010101" pitchFamily="49" charset="-122"/>
              </a:defRPr>
            </a:lvl2pPr>
            <a:lvl3pPr marL="1143000" indent="-228600">
              <a:spcBef>
                <a:spcPts val="1200"/>
              </a:spcBef>
              <a:buClr>
                <a:srgbClr val="C00000"/>
              </a:buClr>
              <a:buFont typeface="微软雅黑" panose="020B0503020204020204" pitchFamily="34" charset="-122"/>
              <a:buChar char="»"/>
              <a:defRPr sz="2400" b="1">
                <a:solidFill>
                  <a:schemeClr val="tx1"/>
                </a:solidFill>
                <a:latin typeface="华文中宋" panose="02010600040101010101" pitchFamily="2" charset="-122"/>
                <a:ea typeface="华文中宋" panose="02010600040101010101" pitchFamily="2" charset="-122"/>
              </a:defRPr>
            </a:lvl3pPr>
            <a:lvl4pPr marL="16002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defRPr/>
            </a:pPr>
            <a:r>
              <a:rPr lang="zh-CN" altLang="en-US" sz="2800" dirty="0">
                <a:solidFill>
                  <a:schemeClr val="tx1">
                    <a:lumMod val="95000"/>
                    <a:lumOff val="5000"/>
                  </a:schemeClr>
                </a:solidFill>
                <a:latin typeface="Times New Roman" panose="02020603050405020304" pitchFamily="18" charset="0"/>
                <a:ea typeface="宋体" panose="02010600030101010101" pitchFamily="2" charset="-122"/>
              </a:rPr>
              <a:t>蛋白质</a:t>
            </a:r>
          </a:p>
        </p:txBody>
      </p:sp>
      <p:sp>
        <p:nvSpPr>
          <p:cNvPr id="240658" name="Rectangle 41">
            <a:extLst>
              <a:ext uri="{FF2B5EF4-FFF2-40B4-BE49-F238E27FC236}">
                <a16:creationId xmlns:a16="http://schemas.microsoft.com/office/drawing/2014/main" id="{889125BB-2873-4BFE-AA3F-11D8A44A95A9}"/>
              </a:ext>
            </a:extLst>
          </p:cNvPr>
          <p:cNvSpPr>
            <a:spLocks noChangeArrowheads="1"/>
          </p:cNvSpPr>
          <p:nvPr/>
        </p:nvSpPr>
        <p:spPr bwMode="auto">
          <a:xfrm>
            <a:off x="3540125" y="992189"/>
            <a:ext cx="6013450" cy="180975"/>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240659" name="Oval 42">
            <a:extLst>
              <a:ext uri="{FF2B5EF4-FFF2-40B4-BE49-F238E27FC236}">
                <a16:creationId xmlns:a16="http://schemas.microsoft.com/office/drawing/2014/main" id="{F53E0D19-6DA7-4CC4-AD33-E10A8E967B0D}"/>
              </a:ext>
            </a:extLst>
          </p:cNvPr>
          <p:cNvSpPr>
            <a:spLocks noChangeArrowheads="1"/>
          </p:cNvSpPr>
          <p:nvPr/>
        </p:nvSpPr>
        <p:spPr bwMode="auto">
          <a:xfrm>
            <a:off x="3214689" y="987426"/>
            <a:ext cx="433387" cy="288925"/>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r>
              <a:rPr lang="en-US" altLang="zh-CN" sz="2000">
                <a:solidFill>
                  <a:srgbClr val="A50021"/>
                </a:solidFill>
                <a:latin typeface="Times New Roman" panose="02020603050405020304" pitchFamily="18" charset="0"/>
                <a:ea typeface="宋体" panose="02010600030101010101" pitchFamily="2" charset="-122"/>
              </a:rPr>
              <a:t>PPP</a:t>
            </a:r>
          </a:p>
        </p:txBody>
      </p:sp>
      <p:sp>
        <p:nvSpPr>
          <p:cNvPr id="240660" name="Rectangle 43">
            <a:extLst>
              <a:ext uri="{FF2B5EF4-FFF2-40B4-BE49-F238E27FC236}">
                <a16:creationId xmlns:a16="http://schemas.microsoft.com/office/drawing/2014/main" id="{07EC0BA2-3143-4287-A5F5-EB4E205EE1C5}"/>
              </a:ext>
            </a:extLst>
          </p:cNvPr>
          <p:cNvSpPr>
            <a:spLocks noChangeArrowheads="1"/>
          </p:cNvSpPr>
          <p:nvPr/>
        </p:nvSpPr>
        <p:spPr bwMode="auto">
          <a:xfrm>
            <a:off x="3844925" y="993775"/>
            <a:ext cx="719138" cy="21590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endParaRPr lang="zh-CN" altLang="en-US" sz="4800">
              <a:solidFill>
                <a:srgbClr val="A50021"/>
              </a:solidFill>
              <a:latin typeface="Times New Roman" panose="02020603050405020304" pitchFamily="18" charset="0"/>
              <a:ea typeface="宋体" panose="02010600030101010101" pitchFamily="2" charset="-122"/>
            </a:endParaRPr>
          </a:p>
        </p:txBody>
      </p:sp>
      <p:sp>
        <p:nvSpPr>
          <p:cNvPr id="240661" name="Rectangle 45">
            <a:extLst>
              <a:ext uri="{FF2B5EF4-FFF2-40B4-BE49-F238E27FC236}">
                <a16:creationId xmlns:a16="http://schemas.microsoft.com/office/drawing/2014/main" id="{7D6119A5-982C-4609-BDF8-605F77E7F8DB}"/>
              </a:ext>
            </a:extLst>
          </p:cNvPr>
          <p:cNvSpPr>
            <a:spLocks noChangeArrowheads="1"/>
          </p:cNvSpPr>
          <p:nvPr/>
        </p:nvSpPr>
        <p:spPr bwMode="auto">
          <a:xfrm>
            <a:off x="4619626" y="992188"/>
            <a:ext cx="4176713" cy="215900"/>
          </a:xfrm>
          <a:prstGeom prst="rect">
            <a:avLst/>
          </a:prstGeom>
          <a:solidFill>
            <a:srgbClr val="66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endParaRPr lang="zh-CN" altLang="en-US" sz="4800">
              <a:solidFill>
                <a:srgbClr val="A50021"/>
              </a:solidFill>
              <a:latin typeface="Times New Roman" panose="02020603050405020304" pitchFamily="18" charset="0"/>
              <a:ea typeface="宋体" panose="02010600030101010101" pitchFamily="2" charset="-122"/>
            </a:endParaRPr>
          </a:p>
        </p:txBody>
      </p:sp>
      <p:sp>
        <p:nvSpPr>
          <p:cNvPr id="240662" name="Rectangle 46">
            <a:extLst>
              <a:ext uri="{FF2B5EF4-FFF2-40B4-BE49-F238E27FC236}">
                <a16:creationId xmlns:a16="http://schemas.microsoft.com/office/drawing/2014/main" id="{3DAD65CF-BDE3-4817-9FFB-1DFE1FDB70F9}"/>
              </a:ext>
            </a:extLst>
          </p:cNvPr>
          <p:cNvSpPr>
            <a:spLocks noChangeArrowheads="1"/>
          </p:cNvSpPr>
          <p:nvPr/>
        </p:nvSpPr>
        <p:spPr bwMode="auto">
          <a:xfrm>
            <a:off x="4548189" y="992188"/>
            <a:ext cx="71437" cy="215900"/>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240663" name="Rectangle 47">
            <a:extLst>
              <a:ext uri="{FF2B5EF4-FFF2-40B4-BE49-F238E27FC236}">
                <a16:creationId xmlns:a16="http://schemas.microsoft.com/office/drawing/2014/main" id="{B1643CB2-6CAD-4DD6-AC77-F029147452EA}"/>
              </a:ext>
            </a:extLst>
          </p:cNvPr>
          <p:cNvSpPr>
            <a:spLocks noChangeArrowheads="1"/>
          </p:cNvSpPr>
          <p:nvPr/>
        </p:nvSpPr>
        <p:spPr bwMode="auto">
          <a:xfrm>
            <a:off x="8796339" y="992188"/>
            <a:ext cx="71437" cy="215900"/>
          </a:xfrm>
          <a:prstGeom prst="rect">
            <a:avLst/>
          </a:prstGeom>
          <a:solidFill>
            <a:srgbClr val="FF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1800" b="0">
              <a:solidFill>
                <a:schemeClr val="tx1"/>
              </a:solidFill>
              <a:latin typeface="Arial" panose="020B0604020202020204" pitchFamily="34" charset="0"/>
              <a:ea typeface="宋体" panose="02010600030101010101" pitchFamily="2" charset="-122"/>
            </a:endParaRPr>
          </a:p>
        </p:txBody>
      </p:sp>
      <p:sp>
        <p:nvSpPr>
          <p:cNvPr id="240664" name="Rectangle 48">
            <a:extLst>
              <a:ext uri="{FF2B5EF4-FFF2-40B4-BE49-F238E27FC236}">
                <a16:creationId xmlns:a16="http://schemas.microsoft.com/office/drawing/2014/main" id="{12EB7242-D8F3-4D87-92B6-6E76717787AA}"/>
              </a:ext>
            </a:extLst>
          </p:cNvPr>
          <p:cNvSpPr>
            <a:spLocks noChangeArrowheads="1"/>
          </p:cNvSpPr>
          <p:nvPr/>
        </p:nvSpPr>
        <p:spPr bwMode="auto">
          <a:xfrm>
            <a:off x="8867775" y="992188"/>
            <a:ext cx="719138" cy="21590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endParaRPr lang="zh-CN" altLang="en-US" sz="4800">
              <a:solidFill>
                <a:srgbClr val="A50021"/>
              </a:solidFill>
              <a:latin typeface="Times New Roman" panose="02020603050405020304" pitchFamily="18" charset="0"/>
              <a:ea typeface="宋体" panose="02010600030101010101" pitchFamily="2" charset="-122"/>
            </a:endParaRPr>
          </a:p>
        </p:txBody>
      </p:sp>
      <p:sp>
        <p:nvSpPr>
          <p:cNvPr id="240665" name="Line 49">
            <a:extLst>
              <a:ext uri="{FF2B5EF4-FFF2-40B4-BE49-F238E27FC236}">
                <a16:creationId xmlns:a16="http://schemas.microsoft.com/office/drawing/2014/main" id="{ADDA4F29-CD76-4F55-B056-4137376FDBDD}"/>
              </a:ext>
            </a:extLst>
          </p:cNvPr>
          <p:cNvSpPr>
            <a:spLocks noChangeShapeType="1"/>
          </p:cNvSpPr>
          <p:nvPr/>
        </p:nvSpPr>
        <p:spPr bwMode="auto">
          <a:xfrm>
            <a:off x="6564313" y="1268413"/>
            <a:ext cx="0" cy="431800"/>
          </a:xfrm>
          <a:prstGeom prst="line">
            <a:avLst/>
          </a:prstGeom>
          <a:noFill/>
          <a:ln w="38100">
            <a:solidFill>
              <a:srgbClr val="FF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p>
            <a:endParaRPr lang="zh-CN" altLang="en-US"/>
          </a:p>
        </p:txBody>
      </p:sp>
      <p:sp>
        <p:nvSpPr>
          <p:cNvPr id="240666" name="Freeform 50">
            <a:extLst>
              <a:ext uri="{FF2B5EF4-FFF2-40B4-BE49-F238E27FC236}">
                <a16:creationId xmlns:a16="http://schemas.microsoft.com/office/drawing/2014/main" id="{2D25A928-06B5-4B22-97E7-7BA8234A99B1}"/>
              </a:ext>
            </a:extLst>
          </p:cNvPr>
          <p:cNvSpPr>
            <a:spLocks/>
          </p:cNvSpPr>
          <p:nvPr/>
        </p:nvSpPr>
        <p:spPr bwMode="auto">
          <a:xfrm>
            <a:off x="4619626" y="1628775"/>
            <a:ext cx="4105275" cy="395288"/>
          </a:xfrm>
          <a:custGeom>
            <a:avLst/>
            <a:gdLst>
              <a:gd name="T0" fmla="*/ 0 w 2495"/>
              <a:gd name="T1" fmla="*/ 2147483646 h 249"/>
              <a:gd name="T2" fmla="*/ 2147483646 w 2495"/>
              <a:gd name="T3" fmla="*/ 2147483646 h 249"/>
              <a:gd name="T4" fmla="*/ 2147483646 w 2495"/>
              <a:gd name="T5" fmla="*/ 2147483646 h 249"/>
              <a:gd name="T6" fmla="*/ 2147483646 w 2495"/>
              <a:gd name="T7" fmla="*/ 2147483646 h 249"/>
              <a:gd name="T8" fmla="*/ 2147483646 w 2495"/>
              <a:gd name="T9" fmla="*/ 2147483646 h 249"/>
              <a:gd name="T10" fmla="*/ 2147483646 w 2495"/>
              <a:gd name="T11" fmla="*/ 2147483646 h 249"/>
              <a:gd name="T12" fmla="*/ 2147483646 w 2495"/>
              <a:gd name="T13" fmla="*/ 2147483646 h 249"/>
              <a:gd name="T14" fmla="*/ 2147483646 w 2495"/>
              <a:gd name="T15" fmla="*/ 2147483646 h 249"/>
              <a:gd name="T16" fmla="*/ 2147483646 w 2495"/>
              <a:gd name="T17" fmla="*/ 2147483646 h 249"/>
              <a:gd name="T18" fmla="*/ 2147483646 w 2495"/>
              <a:gd name="T19" fmla="*/ 2147483646 h 249"/>
              <a:gd name="T20" fmla="*/ 2147483646 w 2495"/>
              <a:gd name="T21" fmla="*/ 2147483646 h 249"/>
              <a:gd name="T22" fmla="*/ 2147483646 w 2495"/>
              <a:gd name="T23" fmla="*/ 2147483646 h 249"/>
              <a:gd name="T24" fmla="*/ 2147483646 w 2495"/>
              <a:gd name="T25" fmla="*/ 2147483646 h 249"/>
              <a:gd name="T26" fmla="*/ 2147483646 w 2495"/>
              <a:gd name="T27" fmla="*/ 2147483646 h 249"/>
              <a:gd name="T28" fmla="*/ 2147483646 w 2495"/>
              <a:gd name="T29" fmla="*/ 2147483646 h 24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495" h="249">
                <a:moveTo>
                  <a:pt x="0" y="105"/>
                </a:moveTo>
                <a:cubicBezTo>
                  <a:pt x="106" y="132"/>
                  <a:pt x="212" y="159"/>
                  <a:pt x="272" y="151"/>
                </a:cubicBezTo>
                <a:cubicBezTo>
                  <a:pt x="332" y="143"/>
                  <a:pt x="325" y="53"/>
                  <a:pt x="363" y="60"/>
                </a:cubicBezTo>
                <a:cubicBezTo>
                  <a:pt x="401" y="67"/>
                  <a:pt x="454" y="189"/>
                  <a:pt x="499" y="196"/>
                </a:cubicBezTo>
                <a:cubicBezTo>
                  <a:pt x="544" y="203"/>
                  <a:pt x="590" y="105"/>
                  <a:pt x="635" y="105"/>
                </a:cubicBezTo>
                <a:cubicBezTo>
                  <a:pt x="680" y="105"/>
                  <a:pt x="703" y="203"/>
                  <a:pt x="771" y="196"/>
                </a:cubicBezTo>
                <a:cubicBezTo>
                  <a:pt x="839" y="189"/>
                  <a:pt x="967" y="60"/>
                  <a:pt x="1043" y="60"/>
                </a:cubicBezTo>
                <a:cubicBezTo>
                  <a:pt x="1119" y="60"/>
                  <a:pt x="1149" y="196"/>
                  <a:pt x="1225" y="196"/>
                </a:cubicBezTo>
                <a:cubicBezTo>
                  <a:pt x="1301" y="196"/>
                  <a:pt x="1422" y="60"/>
                  <a:pt x="1497" y="60"/>
                </a:cubicBezTo>
                <a:cubicBezTo>
                  <a:pt x="1572" y="60"/>
                  <a:pt x="1602" y="196"/>
                  <a:pt x="1678" y="196"/>
                </a:cubicBezTo>
                <a:cubicBezTo>
                  <a:pt x="1754" y="196"/>
                  <a:pt x="1875" y="53"/>
                  <a:pt x="1951" y="60"/>
                </a:cubicBezTo>
                <a:cubicBezTo>
                  <a:pt x="2027" y="67"/>
                  <a:pt x="2072" y="249"/>
                  <a:pt x="2132" y="241"/>
                </a:cubicBezTo>
                <a:cubicBezTo>
                  <a:pt x="2192" y="233"/>
                  <a:pt x="2261" y="30"/>
                  <a:pt x="2314" y="15"/>
                </a:cubicBezTo>
                <a:cubicBezTo>
                  <a:pt x="2367" y="0"/>
                  <a:pt x="2420" y="136"/>
                  <a:pt x="2450" y="151"/>
                </a:cubicBezTo>
                <a:cubicBezTo>
                  <a:pt x="2480" y="166"/>
                  <a:pt x="2488" y="105"/>
                  <a:pt x="2495" y="105"/>
                </a:cubicBezTo>
              </a:path>
            </a:pathLst>
          </a:custGeom>
          <a:noFill/>
          <a:ln w="76200" cap="flat" cmpd="sng">
            <a:solidFill>
              <a:schemeClr val="tx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p>
            <a:endParaRPr lang="zh-CN" altLang="en-US"/>
          </a:p>
        </p:txBody>
      </p:sp>
      <p:sp>
        <p:nvSpPr>
          <p:cNvPr id="240667" name="Text Box 51">
            <a:extLst>
              <a:ext uri="{FF2B5EF4-FFF2-40B4-BE49-F238E27FC236}">
                <a16:creationId xmlns:a16="http://schemas.microsoft.com/office/drawing/2014/main" id="{D0DE2037-D001-42A3-B476-B8BAFF0F48AB}"/>
              </a:ext>
            </a:extLst>
          </p:cNvPr>
          <p:cNvSpPr txBox="1">
            <a:spLocks noChangeArrowheads="1"/>
          </p:cNvSpPr>
          <p:nvPr/>
        </p:nvSpPr>
        <p:spPr bwMode="auto">
          <a:xfrm>
            <a:off x="2566989" y="892175"/>
            <a:ext cx="676467"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2000" baseline="30000">
                <a:solidFill>
                  <a:srgbClr val="A50021"/>
                </a:solidFill>
                <a:latin typeface="Times New Roman" panose="02020603050405020304" pitchFamily="18" charset="0"/>
                <a:ea typeface="宋体" panose="02010600030101010101" pitchFamily="2" charset="-122"/>
              </a:rPr>
              <a:t>m</a:t>
            </a:r>
            <a:r>
              <a:rPr lang="en-US" altLang="zh-CN" sz="2000">
                <a:solidFill>
                  <a:srgbClr val="A50021"/>
                </a:solidFill>
                <a:latin typeface="Times New Roman" panose="02020603050405020304" pitchFamily="18" charset="0"/>
                <a:ea typeface="宋体" panose="02010600030101010101" pitchFamily="2" charset="-122"/>
              </a:rPr>
              <a:t>G -</a:t>
            </a:r>
          </a:p>
        </p:txBody>
      </p:sp>
      <p:sp>
        <p:nvSpPr>
          <p:cNvPr id="240668" name="Line 52">
            <a:extLst>
              <a:ext uri="{FF2B5EF4-FFF2-40B4-BE49-F238E27FC236}">
                <a16:creationId xmlns:a16="http://schemas.microsoft.com/office/drawing/2014/main" id="{96B062AF-AB8A-48F7-8B26-00C063BF5F93}"/>
              </a:ext>
            </a:extLst>
          </p:cNvPr>
          <p:cNvSpPr>
            <a:spLocks noChangeShapeType="1"/>
          </p:cNvSpPr>
          <p:nvPr/>
        </p:nvSpPr>
        <p:spPr bwMode="auto">
          <a:xfrm>
            <a:off x="2459038" y="1095375"/>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p>
            <a:endParaRPr lang="zh-CN" altLang="en-US"/>
          </a:p>
        </p:txBody>
      </p:sp>
      <p:sp>
        <p:nvSpPr>
          <p:cNvPr id="240669" name="Text Box 53">
            <a:extLst>
              <a:ext uri="{FF2B5EF4-FFF2-40B4-BE49-F238E27FC236}">
                <a16:creationId xmlns:a16="http://schemas.microsoft.com/office/drawing/2014/main" id="{18410D3D-162A-4550-A6E1-B834BB000AAE}"/>
              </a:ext>
            </a:extLst>
          </p:cNvPr>
          <p:cNvSpPr txBox="1">
            <a:spLocks noChangeArrowheads="1"/>
          </p:cNvSpPr>
          <p:nvPr/>
        </p:nvSpPr>
        <p:spPr bwMode="auto">
          <a:xfrm>
            <a:off x="2279651" y="909638"/>
            <a:ext cx="37830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2000">
                <a:solidFill>
                  <a:srgbClr val="A50021"/>
                </a:solidFill>
                <a:latin typeface="Times New Roman" panose="02020603050405020304" pitchFamily="18" charset="0"/>
                <a:ea typeface="宋体" panose="02010600030101010101" pitchFamily="2" charset="-122"/>
              </a:rPr>
              <a:t>5</a:t>
            </a:r>
            <a:r>
              <a:rPr lang="en-US" altLang="zh-CN" sz="2000">
                <a:solidFill>
                  <a:srgbClr val="A5002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240670" name="Text Box 54">
            <a:extLst>
              <a:ext uri="{FF2B5EF4-FFF2-40B4-BE49-F238E27FC236}">
                <a16:creationId xmlns:a16="http://schemas.microsoft.com/office/drawing/2014/main" id="{8B5287EF-D81B-46B2-B3E3-63BAB8BCA086}"/>
              </a:ext>
            </a:extLst>
          </p:cNvPr>
          <p:cNvSpPr txBox="1">
            <a:spLocks noChangeArrowheads="1"/>
          </p:cNvSpPr>
          <p:nvPr/>
        </p:nvSpPr>
        <p:spPr bwMode="auto">
          <a:xfrm>
            <a:off x="9517064" y="836613"/>
            <a:ext cx="37830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2000">
                <a:solidFill>
                  <a:srgbClr val="A50021"/>
                </a:solidFill>
                <a:latin typeface="Times New Roman" panose="02020603050405020304" pitchFamily="18" charset="0"/>
                <a:ea typeface="宋体" panose="02010600030101010101" pitchFamily="2" charset="-122"/>
              </a:rPr>
              <a:t>3</a:t>
            </a:r>
            <a:r>
              <a:rPr lang="en-US" altLang="zh-CN" sz="2000">
                <a:solidFill>
                  <a:srgbClr val="A5002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31793" name="Text Box 55">
            <a:extLst>
              <a:ext uri="{FF2B5EF4-FFF2-40B4-BE49-F238E27FC236}">
                <a16:creationId xmlns:a16="http://schemas.microsoft.com/office/drawing/2014/main" id="{33130035-43E4-438B-833A-50CC70AB9BC9}"/>
              </a:ext>
            </a:extLst>
          </p:cNvPr>
          <p:cNvSpPr txBox="1">
            <a:spLocks noChangeArrowheads="1"/>
          </p:cNvSpPr>
          <p:nvPr/>
        </p:nvSpPr>
        <p:spPr bwMode="auto">
          <a:xfrm>
            <a:off x="8904288" y="1628776"/>
            <a:ext cx="1403350" cy="519113"/>
          </a:xfrm>
          <a:prstGeom prst="rect">
            <a:avLst/>
          </a:prstGeom>
          <a:noFill/>
          <a:ln>
            <a:noFill/>
          </a:ln>
          <a:effectLst/>
        </p:spPr>
        <p:txBody>
          <a:bodyPr lIns="92075" tIns="46038" rIns="92075" bIns="46038">
            <a:spAutoFit/>
          </a:bodyPr>
          <a:lstStyle>
            <a:lvl1pPr>
              <a:spcBef>
                <a:spcPts val="1200"/>
              </a:spcBef>
              <a:buClr>
                <a:srgbClr val="C00000"/>
              </a:buClr>
              <a:buFont typeface="华文中宋" panose="02010600040101010101" pitchFamily="2" charset="-122"/>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ts val="1200"/>
              </a:spcBef>
              <a:buClr>
                <a:srgbClr val="C00000"/>
              </a:buClr>
              <a:buChar char="–"/>
              <a:defRPr sz="3200" b="1">
                <a:solidFill>
                  <a:schemeClr val="tx1"/>
                </a:solidFill>
                <a:latin typeface="黑体" panose="02010609060101010101" pitchFamily="49" charset="-122"/>
                <a:ea typeface="黑体" panose="02010609060101010101" pitchFamily="49" charset="-122"/>
              </a:defRPr>
            </a:lvl2pPr>
            <a:lvl3pPr marL="1143000" indent="-228600">
              <a:spcBef>
                <a:spcPts val="1200"/>
              </a:spcBef>
              <a:buClr>
                <a:srgbClr val="C00000"/>
              </a:buClr>
              <a:buFont typeface="微软雅黑" panose="020B0503020204020204" pitchFamily="34" charset="-122"/>
              <a:buChar char="»"/>
              <a:defRPr sz="2400" b="1">
                <a:solidFill>
                  <a:schemeClr val="tx1"/>
                </a:solidFill>
                <a:latin typeface="华文中宋" panose="02010600040101010101" pitchFamily="2" charset="-122"/>
                <a:ea typeface="华文中宋" panose="02010600040101010101" pitchFamily="2" charset="-122"/>
              </a:defRPr>
            </a:lvl3pPr>
            <a:lvl4pPr marL="16002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b="1">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b="1">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defRPr/>
            </a:pPr>
            <a:r>
              <a:rPr lang="zh-CN" altLang="en-US" sz="2800" dirty="0">
                <a:solidFill>
                  <a:schemeClr val="tx1">
                    <a:lumMod val="95000"/>
                    <a:lumOff val="5000"/>
                  </a:schemeClr>
                </a:solidFill>
                <a:latin typeface="Times New Roman" panose="02020603050405020304" pitchFamily="18" charset="0"/>
                <a:ea typeface="宋体" panose="02010600030101010101" pitchFamily="2" charset="-122"/>
              </a:rPr>
              <a:t>蛋白质</a:t>
            </a:r>
          </a:p>
        </p:txBody>
      </p:sp>
      <p:pic>
        <p:nvPicPr>
          <p:cNvPr id="31776" name="图片 2">
            <a:extLst>
              <a:ext uri="{FF2B5EF4-FFF2-40B4-BE49-F238E27FC236}">
                <a16:creationId xmlns:a16="http://schemas.microsoft.com/office/drawing/2014/main" id="{C8A08DCF-DE8D-49DD-92D0-A2AFC1D3A6C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40126" y="4110038"/>
            <a:ext cx="6156325" cy="154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0673" name="灯片编号占位符 2">
            <a:extLst>
              <a:ext uri="{FF2B5EF4-FFF2-40B4-BE49-F238E27FC236}">
                <a16:creationId xmlns:a16="http://schemas.microsoft.com/office/drawing/2014/main" id="{275B7891-A7AA-4CB1-B5AF-D40C3E40B839}"/>
              </a:ext>
            </a:extLst>
          </p:cNvPr>
          <p:cNvSpPr>
            <a:spLocks noGrp="1"/>
          </p:cNvSpPr>
          <p:nvPr>
            <p:ph type="sldNum" sz="quarter" idx="4"/>
          </p:nvPr>
        </p:nvSpPr>
        <p:spPr bwMode="auto">
          <a:xfrm>
            <a:off x="9974264" y="6492876"/>
            <a:ext cx="693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l" eaLnBrk="0" hangingPunct="0">
              <a:spcBef>
                <a:spcPct val="0"/>
              </a:spcBef>
              <a:buClrTx/>
              <a:buFontTx/>
              <a:buNone/>
            </a:pPr>
            <a:fld id="{C473023B-32CA-4B1C-BC1A-C3239AFF2835}" type="slidenum">
              <a:rPr lang="zh-CN" altLang="en-US" sz="1200" b="0">
                <a:solidFill>
                  <a:srgbClr val="898F89"/>
                </a:solidFill>
              </a:rPr>
              <a:pPr algn="l" eaLnBrk="0" hangingPunct="0">
                <a:spcBef>
                  <a:spcPct val="0"/>
                </a:spcBef>
                <a:buClrTx/>
                <a:buFontTx/>
                <a:buNone/>
              </a:pPr>
              <a:t>90</a:t>
            </a:fld>
            <a:endParaRPr lang="zh-CN" altLang="en-US" sz="1200" b="0">
              <a:solidFill>
                <a:srgbClr val="898F89"/>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fade">
                                      <p:cBhvr>
                                        <p:cTn id="7" dur="500"/>
                                        <p:tgtEl>
                                          <p:spTgt spid="31746"/>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nodeType="withEffect">
                                  <p:stCondLst>
                                    <p:cond delay="0"/>
                                  </p:stCondLst>
                                  <p:childTnLst>
                                    <p:set>
                                      <p:cBhvr>
                                        <p:cTn id="12" dur="1" fill="hold">
                                          <p:stCondLst>
                                            <p:cond delay="0"/>
                                          </p:stCondLst>
                                        </p:cTn>
                                        <p:tgtEl>
                                          <p:spTgt spid="31758"/>
                                        </p:tgtEl>
                                        <p:attrNameLst>
                                          <p:attrName>style.visibility</p:attrName>
                                        </p:attrNameLst>
                                      </p:cBhvr>
                                      <p:to>
                                        <p:strVal val="visible"/>
                                      </p:to>
                                    </p:set>
                                    <p:animEffect transition="in" filter="fade">
                                      <p:cBhvr>
                                        <p:cTn id="13" dur="500"/>
                                        <p:tgtEl>
                                          <p:spTgt spid="31758"/>
                                        </p:tgtEl>
                                      </p:cBhvr>
                                    </p:animEffect>
                                  </p:childTnLst>
                                </p:cTn>
                              </p:par>
                              <p:par>
                                <p:cTn id="14" presetID="10" presetClass="entr" presetSubtype="0" fill="hold" nodeType="withEffect">
                                  <p:stCondLst>
                                    <p:cond delay="0"/>
                                  </p:stCondLst>
                                  <p:childTnLst>
                                    <p:set>
                                      <p:cBhvr>
                                        <p:cTn id="15" dur="1" fill="hold">
                                          <p:stCondLst>
                                            <p:cond delay="0"/>
                                          </p:stCondLst>
                                        </p:cTn>
                                        <p:tgtEl>
                                          <p:spTgt spid="31759"/>
                                        </p:tgtEl>
                                        <p:attrNameLst>
                                          <p:attrName>style.visibility</p:attrName>
                                        </p:attrNameLst>
                                      </p:cBhvr>
                                      <p:to>
                                        <p:strVal val="visible"/>
                                      </p:to>
                                    </p:set>
                                    <p:animEffect transition="in" filter="fade">
                                      <p:cBhvr>
                                        <p:cTn id="16" dur="500"/>
                                        <p:tgtEl>
                                          <p:spTgt spid="31759"/>
                                        </p:tgtEl>
                                      </p:cBhvr>
                                    </p:animEffect>
                                  </p:childTnLst>
                                </p:cTn>
                              </p:par>
                              <p:par>
                                <p:cTn id="17" presetID="10" presetClass="entr" presetSubtype="0" fill="hold" nodeType="withEffect">
                                  <p:stCondLst>
                                    <p:cond delay="0"/>
                                  </p:stCondLst>
                                  <p:childTnLst>
                                    <p:set>
                                      <p:cBhvr>
                                        <p:cTn id="18" dur="1" fill="hold">
                                          <p:stCondLst>
                                            <p:cond delay="0"/>
                                          </p:stCondLst>
                                        </p:cTn>
                                        <p:tgtEl>
                                          <p:spTgt spid="31760"/>
                                        </p:tgtEl>
                                        <p:attrNameLst>
                                          <p:attrName>style.visibility</p:attrName>
                                        </p:attrNameLst>
                                      </p:cBhvr>
                                      <p:to>
                                        <p:strVal val="visible"/>
                                      </p:to>
                                    </p:set>
                                    <p:animEffect transition="in" filter="fade">
                                      <p:cBhvr>
                                        <p:cTn id="19" dur="500"/>
                                        <p:tgtEl>
                                          <p:spTgt spid="3176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1779"/>
                                        </p:tgtEl>
                                        <p:attrNameLst>
                                          <p:attrName>style.visibility</p:attrName>
                                        </p:attrNameLst>
                                      </p:cBhvr>
                                      <p:to>
                                        <p:strVal val="visible"/>
                                      </p:to>
                                    </p:set>
                                    <p:animEffect transition="in" filter="fade">
                                      <p:cBhvr>
                                        <p:cTn id="22" dur="500"/>
                                        <p:tgtEl>
                                          <p:spTgt spid="31779"/>
                                        </p:tgtEl>
                                      </p:cBhvr>
                                    </p:animEffect>
                                  </p:childTnLst>
                                </p:cTn>
                              </p:par>
                              <p:par>
                                <p:cTn id="23" presetID="10" presetClass="entr" presetSubtype="0" fill="hold" nodeType="withEffect">
                                  <p:stCondLst>
                                    <p:cond delay="0"/>
                                  </p:stCondLst>
                                  <p:childTnLst>
                                    <p:set>
                                      <p:cBhvr>
                                        <p:cTn id="24" dur="1" fill="hold">
                                          <p:stCondLst>
                                            <p:cond delay="0"/>
                                          </p:stCondLst>
                                        </p:cTn>
                                        <p:tgtEl>
                                          <p:spTgt spid="31776"/>
                                        </p:tgtEl>
                                        <p:attrNameLst>
                                          <p:attrName>style.visibility</p:attrName>
                                        </p:attrNameLst>
                                      </p:cBhvr>
                                      <p:to>
                                        <p:strVal val="visible"/>
                                      </p:to>
                                    </p:set>
                                    <p:animEffect transition="in" filter="fade">
                                      <p:cBhvr>
                                        <p:cTn id="25" dur="500"/>
                                        <p:tgtEl>
                                          <p:spTgt spid="31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animBg="1"/>
      <p:bldP spid="31779" grpId="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4738" name="Text Box 3">
            <a:extLst>
              <a:ext uri="{FF2B5EF4-FFF2-40B4-BE49-F238E27FC236}">
                <a16:creationId xmlns:a16="http://schemas.microsoft.com/office/drawing/2014/main" id="{BF7D0701-6E5B-4DA4-B596-2EDD45979625}"/>
              </a:ext>
            </a:extLst>
          </p:cNvPr>
          <p:cNvSpPr txBox="1">
            <a:spLocks noChangeArrowheads="1"/>
          </p:cNvSpPr>
          <p:nvPr/>
        </p:nvSpPr>
        <p:spPr bwMode="auto">
          <a:xfrm>
            <a:off x="1919289" y="1125538"/>
            <a:ext cx="8353425"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30000"/>
              </a:lnSpc>
              <a:spcBef>
                <a:spcPct val="0"/>
              </a:spcBef>
              <a:buClrTx/>
              <a:buFontTx/>
              <a:buNone/>
            </a:pPr>
            <a:r>
              <a:rPr lang="zh-CN" altLang="en-US" sz="3200" b="0" dirty="0">
                <a:solidFill>
                  <a:srgbClr val="000099"/>
                </a:solidFill>
                <a:latin typeface="Times New Roman" panose="02020603050405020304" pitchFamily="18" charset="0"/>
                <a:ea typeface="黑体" panose="02010609060101010101" pitchFamily="49" charset="-122"/>
              </a:rPr>
              <a:t>二、转运</a:t>
            </a:r>
            <a:r>
              <a:rPr lang="en-US" altLang="zh-CN" sz="3200" b="0" dirty="0">
                <a:solidFill>
                  <a:srgbClr val="000099"/>
                </a:solidFill>
                <a:latin typeface="Times New Roman" panose="02020603050405020304" pitchFamily="18" charset="0"/>
                <a:ea typeface="黑体" panose="02010609060101010101" pitchFamily="49" charset="-122"/>
              </a:rPr>
              <a:t>RNA</a:t>
            </a:r>
            <a:r>
              <a:rPr lang="zh-CN" altLang="en-US" sz="3200" b="0" dirty="0">
                <a:solidFill>
                  <a:srgbClr val="000099"/>
                </a:solidFill>
                <a:latin typeface="Times New Roman" panose="02020603050405020304" pitchFamily="18" charset="0"/>
                <a:ea typeface="黑体" panose="02010609060101010101" pitchFamily="49" charset="-122"/>
              </a:rPr>
              <a:t>是蛋白质合成中氨基酸的载体</a:t>
            </a:r>
          </a:p>
          <a:p>
            <a:pPr eaLnBrk="1" hangingPunct="1">
              <a:lnSpc>
                <a:spcPct val="130000"/>
              </a:lnSpc>
              <a:spcBef>
                <a:spcPct val="0"/>
              </a:spcBef>
              <a:buClrTx/>
              <a:buFontTx/>
              <a:buNone/>
            </a:pPr>
            <a:r>
              <a:rPr lang="zh-CN" altLang="en-US" sz="3200" b="0" dirty="0">
                <a:solidFill>
                  <a:srgbClr val="000099"/>
                </a:solidFill>
                <a:latin typeface="Times New Roman" panose="02020603050405020304" pitchFamily="18" charset="0"/>
                <a:ea typeface="黑体" panose="02010609060101010101" pitchFamily="49" charset="-122"/>
              </a:rPr>
              <a:t>        </a:t>
            </a:r>
            <a:r>
              <a:rPr lang="en-US" altLang="zh-CN" b="0" dirty="0">
                <a:solidFill>
                  <a:srgbClr val="000099"/>
                </a:solidFill>
                <a:latin typeface="Times New Roman" panose="02020603050405020304" pitchFamily="18" charset="0"/>
                <a:ea typeface="黑体" panose="02010609060101010101" pitchFamily="49" charset="-122"/>
              </a:rPr>
              <a:t>(transfer RNA, </a:t>
            </a:r>
            <a:r>
              <a:rPr lang="en-US" altLang="zh-CN" b="0" dirty="0">
                <a:solidFill>
                  <a:srgbClr val="FF0000"/>
                </a:solidFill>
                <a:latin typeface="Times New Roman" panose="02020603050405020304" pitchFamily="18" charset="0"/>
                <a:ea typeface="黑体" panose="02010609060101010101" pitchFamily="49" charset="-122"/>
              </a:rPr>
              <a:t>tRNA</a:t>
            </a:r>
            <a:r>
              <a:rPr lang="en-US" altLang="zh-CN" b="0" dirty="0">
                <a:solidFill>
                  <a:srgbClr val="000099"/>
                </a:solidFill>
                <a:latin typeface="Times New Roman" panose="02020603050405020304" pitchFamily="18" charset="0"/>
                <a:ea typeface="黑体" panose="02010609060101010101" pitchFamily="49" charset="-122"/>
              </a:rPr>
              <a:t>)</a:t>
            </a:r>
          </a:p>
        </p:txBody>
      </p:sp>
      <p:sp>
        <p:nvSpPr>
          <p:cNvPr id="244739" name="Rectangle 3">
            <a:extLst>
              <a:ext uri="{FF2B5EF4-FFF2-40B4-BE49-F238E27FC236}">
                <a16:creationId xmlns:a16="http://schemas.microsoft.com/office/drawing/2014/main" id="{31435A37-CC71-428A-A5E0-2720CB67042F}"/>
              </a:ext>
            </a:extLst>
          </p:cNvPr>
          <p:cNvSpPr>
            <a:spLocks noChangeArrowheads="1"/>
          </p:cNvSpPr>
          <p:nvPr/>
        </p:nvSpPr>
        <p:spPr bwMode="auto">
          <a:xfrm>
            <a:off x="3863976" y="3068638"/>
            <a:ext cx="4932363"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63538" indent="-363538">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just" eaLnBrk="1" hangingPunct="1">
              <a:lnSpc>
                <a:spcPct val="150000"/>
              </a:lnSpc>
              <a:spcBef>
                <a:spcPct val="50000"/>
              </a:spcBef>
              <a:buClr>
                <a:srgbClr val="CC0099"/>
              </a:buClr>
              <a:buFont typeface="Wingdings" panose="05000000000000000000" pitchFamily="2" charset="2"/>
              <a:buChar char="Ø"/>
            </a:pPr>
            <a:r>
              <a:rPr lang="zh-CN" altLang="en-US" b="0" dirty="0">
                <a:latin typeface="Times New Roman" panose="02020603050405020304" pitchFamily="18" charset="0"/>
                <a:ea typeface="黑体" panose="02010609060101010101" pitchFamily="49" charset="-122"/>
              </a:rPr>
              <a:t>由</a:t>
            </a:r>
            <a:r>
              <a:rPr lang="en-US" altLang="zh-CN" b="0" dirty="0">
                <a:latin typeface="Times New Roman" panose="02020603050405020304" pitchFamily="18" charset="0"/>
                <a:ea typeface="黑体" panose="02010609060101010101" pitchFamily="49" charset="-122"/>
              </a:rPr>
              <a:t>74</a:t>
            </a:r>
            <a:r>
              <a:rPr lang="zh-CN" altLang="en-US" b="0" dirty="0">
                <a:latin typeface="Times New Roman" panose="02020603050405020304" pitchFamily="18" charset="0"/>
                <a:ea typeface="黑体" panose="02010609060101010101" pitchFamily="49" charset="-122"/>
              </a:rPr>
              <a:t>～</a:t>
            </a:r>
            <a:r>
              <a:rPr lang="en-US" altLang="zh-CN" b="0" dirty="0">
                <a:latin typeface="Times New Roman" panose="02020603050405020304" pitchFamily="18" charset="0"/>
                <a:ea typeface="黑体" panose="02010609060101010101" pitchFamily="49" charset="-122"/>
              </a:rPr>
              <a:t>95</a:t>
            </a:r>
            <a:r>
              <a:rPr lang="zh-CN" altLang="en-US" b="0" dirty="0">
                <a:latin typeface="Times New Roman" panose="02020603050405020304" pitchFamily="18" charset="0"/>
                <a:ea typeface="黑体" panose="02010609060101010101" pitchFamily="49" charset="-122"/>
              </a:rPr>
              <a:t>核苷酸组成；</a:t>
            </a:r>
          </a:p>
          <a:p>
            <a:pPr algn="just" eaLnBrk="1" hangingPunct="1">
              <a:lnSpc>
                <a:spcPct val="150000"/>
              </a:lnSpc>
              <a:spcBef>
                <a:spcPct val="50000"/>
              </a:spcBef>
              <a:buClr>
                <a:srgbClr val="CC0099"/>
              </a:buClr>
              <a:buFont typeface="Wingdings" panose="05000000000000000000" pitchFamily="2" charset="2"/>
              <a:buChar char="Ø"/>
            </a:pPr>
            <a:r>
              <a:rPr lang="zh-CN" altLang="en-US" b="0" dirty="0">
                <a:latin typeface="Times New Roman" panose="02020603050405020304" pitchFamily="18" charset="0"/>
                <a:ea typeface="黑体" panose="02010609060101010101" pitchFamily="49" charset="-122"/>
              </a:rPr>
              <a:t>占细胞总</a:t>
            </a:r>
            <a:r>
              <a:rPr lang="en-US" altLang="zh-CN" b="0" dirty="0">
                <a:latin typeface="Times New Roman" panose="02020603050405020304" pitchFamily="18" charset="0"/>
                <a:ea typeface="黑体" panose="02010609060101010101" pitchFamily="49" charset="-122"/>
              </a:rPr>
              <a:t>RNA</a:t>
            </a:r>
            <a:r>
              <a:rPr lang="zh-CN" altLang="en-US" b="0" dirty="0">
                <a:latin typeface="Times New Roman" panose="02020603050405020304" pitchFamily="18" charset="0"/>
                <a:ea typeface="黑体" panose="02010609060101010101" pitchFamily="49" charset="-122"/>
              </a:rPr>
              <a:t>的</a:t>
            </a:r>
            <a:r>
              <a:rPr lang="en-US" altLang="zh-CN" b="0" dirty="0">
                <a:latin typeface="Times New Roman" panose="02020603050405020304" pitchFamily="18" charset="0"/>
                <a:ea typeface="黑体" panose="02010609060101010101" pitchFamily="49" charset="-122"/>
              </a:rPr>
              <a:t>15%</a:t>
            </a:r>
            <a:r>
              <a:rPr lang="zh-CN" altLang="en-US" b="0" dirty="0">
                <a:latin typeface="Times New Roman" panose="02020603050405020304" pitchFamily="18" charset="0"/>
                <a:ea typeface="黑体" panose="02010609060101010101" pitchFamily="49" charset="-122"/>
              </a:rPr>
              <a:t>；</a:t>
            </a:r>
          </a:p>
          <a:p>
            <a:pPr algn="just" eaLnBrk="1" hangingPunct="1">
              <a:lnSpc>
                <a:spcPct val="150000"/>
              </a:lnSpc>
              <a:spcBef>
                <a:spcPct val="50000"/>
              </a:spcBef>
              <a:buClr>
                <a:srgbClr val="CC0099"/>
              </a:buClr>
              <a:buFont typeface="Wingdings" panose="05000000000000000000" pitchFamily="2" charset="2"/>
              <a:buChar char="Ø"/>
            </a:pPr>
            <a:r>
              <a:rPr lang="zh-CN" altLang="en-US" b="0" dirty="0">
                <a:latin typeface="Times New Roman" panose="02020603050405020304" pitchFamily="18" charset="0"/>
                <a:ea typeface="黑体" panose="02010609060101010101" pitchFamily="49" charset="-122"/>
              </a:rPr>
              <a:t>具有稳定的空间结构</a:t>
            </a:r>
          </a:p>
        </p:txBody>
      </p:sp>
    </p:spTree>
  </p:cSld>
  <p:clrMapOvr>
    <a:masterClrMapping/>
  </p:clrMapOvr>
  <p:transition spd="slow">
    <p:circle/>
  </p:transition>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6482" name="Rectangle 2">
            <a:extLst>
              <a:ext uri="{FF2B5EF4-FFF2-40B4-BE49-F238E27FC236}">
                <a16:creationId xmlns:a16="http://schemas.microsoft.com/office/drawing/2014/main" id="{4E6A797E-05AF-48B6-97C6-00C432644AFF}"/>
              </a:ext>
            </a:extLst>
          </p:cNvPr>
          <p:cNvSpPr>
            <a:spLocks noGrp="1" noChangeArrowheads="1"/>
          </p:cNvSpPr>
          <p:nvPr>
            <p:ph type="body" idx="1"/>
          </p:nvPr>
        </p:nvSpPr>
        <p:spPr>
          <a:xfrm>
            <a:off x="1847528" y="1052514"/>
            <a:ext cx="9289032" cy="4968875"/>
          </a:xfrm>
        </p:spPr>
        <p:txBody>
          <a:bodyPr/>
          <a:lstStyle/>
          <a:p>
            <a:pPr eaLnBrk="1" hangingPunct="1">
              <a:lnSpc>
                <a:spcPct val="150000"/>
              </a:lnSpc>
              <a:buClr>
                <a:srgbClr val="660066"/>
              </a:buClr>
              <a:buFont typeface="Wingdings" panose="05000000000000000000" pitchFamily="2" charset="2"/>
              <a:buNone/>
            </a:pPr>
            <a:r>
              <a:rPr lang="en-US" altLang="zh-CN" sz="3200" dirty="0">
                <a:solidFill>
                  <a:srgbClr val="660066"/>
                </a:solidFill>
                <a:latin typeface="Times New Roman" panose="02020603050405020304" pitchFamily="18" charset="0"/>
              </a:rPr>
              <a:t>*</a:t>
            </a:r>
            <a:r>
              <a:rPr lang="en-US" altLang="zh-CN" sz="3200" dirty="0">
                <a:solidFill>
                  <a:srgbClr val="2808E8"/>
                </a:solidFill>
                <a:latin typeface="Times New Roman" panose="02020603050405020304" pitchFamily="18" charset="0"/>
              </a:rPr>
              <a:t> </a:t>
            </a:r>
            <a:r>
              <a:rPr lang="en-US" altLang="zh-CN" sz="3200" dirty="0">
                <a:solidFill>
                  <a:srgbClr val="660066"/>
                </a:solidFill>
                <a:latin typeface="Times New Roman" panose="02020603050405020304" pitchFamily="18" charset="0"/>
              </a:rPr>
              <a:t>tRNA</a:t>
            </a:r>
            <a:r>
              <a:rPr lang="zh-CN" altLang="en-US" sz="3200" dirty="0">
                <a:solidFill>
                  <a:srgbClr val="660066"/>
                </a:solidFill>
                <a:latin typeface="Times New Roman" panose="02020603050405020304" pitchFamily="18" charset="0"/>
              </a:rPr>
              <a:t>的一级结构特点</a:t>
            </a:r>
          </a:p>
          <a:p>
            <a:pPr lvl="1" eaLnBrk="1" hangingPunct="1">
              <a:lnSpc>
                <a:spcPct val="210000"/>
              </a:lnSpc>
              <a:buClr>
                <a:schemeClr val="tx1"/>
              </a:buClr>
              <a:buFont typeface="Wingdings" panose="05000000000000000000" pitchFamily="2" charset="2"/>
              <a:buChar char="Ø"/>
            </a:pPr>
            <a:r>
              <a:rPr lang="zh-CN" altLang="en-US" b="1" dirty="0">
                <a:latin typeface="Times New Roman" panose="02020603050405020304" pitchFamily="18" charset="0"/>
              </a:rPr>
              <a:t> </a:t>
            </a:r>
            <a:r>
              <a:rPr lang="en-US" altLang="zh-CN" b="1" dirty="0">
                <a:solidFill>
                  <a:srgbClr val="000066"/>
                </a:solidFill>
                <a:latin typeface="Times New Roman" panose="02020603050405020304" pitchFamily="18" charset="0"/>
              </a:rPr>
              <a:t>3</a:t>
            </a:r>
            <a:r>
              <a:rPr lang="en-US" altLang="zh-CN" b="1" dirty="0">
                <a:solidFill>
                  <a:srgbClr val="000066"/>
                </a:solidFill>
                <a:latin typeface="Times New Roman" panose="02020603050405020304" pitchFamily="18" charset="0"/>
                <a:cs typeface="Times New Roman" panose="02020603050405020304" pitchFamily="18" charset="0"/>
              </a:rPr>
              <a:t>´</a:t>
            </a:r>
            <a:r>
              <a:rPr lang="zh-CN" altLang="en-US" b="1" dirty="0">
                <a:solidFill>
                  <a:srgbClr val="000066"/>
                </a:solidFill>
                <a:latin typeface="Times New Roman" panose="02020603050405020304" pitchFamily="18" charset="0"/>
              </a:rPr>
              <a:t>末端为</a:t>
            </a:r>
            <a:r>
              <a:rPr lang="zh-CN" altLang="en-US" b="1" dirty="0">
                <a:latin typeface="Times New Roman" panose="02020603050405020304" pitchFamily="18" charset="0"/>
              </a:rPr>
              <a:t> </a:t>
            </a:r>
            <a:r>
              <a:rPr lang="en-US" altLang="zh-CN" b="1" dirty="0">
                <a:solidFill>
                  <a:srgbClr val="FF0000"/>
                </a:solidFill>
                <a:latin typeface="Times New Roman" panose="02020603050405020304" pitchFamily="18" charset="0"/>
              </a:rPr>
              <a:t>— CCA-OH</a:t>
            </a:r>
          </a:p>
          <a:p>
            <a:pPr lvl="1" eaLnBrk="1" hangingPunct="1">
              <a:lnSpc>
                <a:spcPct val="210000"/>
              </a:lnSpc>
              <a:buClr>
                <a:schemeClr val="tx1"/>
              </a:buClr>
              <a:buFont typeface="Wingdings" panose="05000000000000000000" pitchFamily="2" charset="2"/>
              <a:buChar char="Ø"/>
            </a:pPr>
            <a:r>
              <a:rPr lang="en-US" altLang="zh-CN" b="1" dirty="0">
                <a:solidFill>
                  <a:srgbClr val="000066"/>
                </a:solidFill>
                <a:latin typeface="Times New Roman" panose="02020603050405020304" pitchFamily="18" charset="0"/>
              </a:rPr>
              <a:t> 5</a:t>
            </a:r>
            <a:r>
              <a:rPr lang="en-US" altLang="zh-CN" b="1" dirty="0">
                <a:solidFill>
                  <a:srgbClr val="000066"/>
                </a:solidFill>
                <a:latin typeface="Times New Roman" panose="02020603050405020304" pitchFamily="18" charset="0"/>
                <a:cs typeface="Times New Roman" panose="02020603050405020304" pitchFamily="18" charset="0"/>
              </a:rPr>
              <a:t>´</a:t>
            </a:r>
            <a:r>
              <a:rPr lang="zh-CN" altLang="en-US" b="1" dirty="0">
                <a:solidFill>
                  <a:srgbClr val="000066"/>
                </a:solidFill>
                <a:latin typeface="Times New Roman" panose="02020603050405020304" pitchFamily="18" charset="0"/>
              </a:rPr>
              <a:t>末端大多数为</a:t>
            </a:r>
            <a:r>
              <a:rPr lang="en-US" altLang="zh-CN" b="1" dirty="0">
                <a:solidFill>
                  <a:srgbClr val="000066"/>
                </a:solidFill>
                <a:latin typeface="Times New Roman" panose="02020603050405020304" pitchFamily="18" charset="0"/>
              </a:rPr>
              <a:t>G</a:t>
            </a:r>
            <a:endParaRPr lang="en-US" altLang="zh-CN" b="1" dirty="0">
              <a:latin typeface="Times New Roman" panose="02020603050405020304" pitchFamily="18" charset="0"/>
            </a:endParaRPr>
          </a:p>
          <a:p>
            <a:pPr lvl="1" eaLnBrk="1" hangingPunct="1">
              <a:lnSpc>
                <a:spcPct val="210000"/>
              </a:lnSpc>
              <a:buClr>
                <a:schemeClr val="tx1"/>
              </a:buClr>
              <a:buFont typeface="Wingdings" panose="05000000000000000000" pitchFamily="2" charset="2"/>
              <a:buChar char="Ø"/>
            </a:pPr>
            <a:r>
              <a:rPr lang="zh-CN" altLang="en-US" b="1" dirty="0">
                <a:solidFill>
                  <a:srgbClr val="000066"/>
                </a:solidFill>
                <a:latin typeface="Times New Roman" panose="02020603050405020304" pitchFamily="18" charset="0"/>
              </a:rPr>
              <a:t> 含 </a:t>
            </a:r>
            <a:r>
              <a:rPr lang="en-US" altLang="zh-CN" b="1" dirty="0">
                <a:solidFill>
                  <a:srgbClr val="000066"/>
                </a:solidFill>
                <a:latin typeface="Times New Roman" panose="02020603050405020304" pitchFamily="18" charset="0"/>
              </a:rPr>
              <a:t>10 </a:t>
            </a:r>
            <a:r>
              <a:rPr lang="en-US" altLang="zh-CN" b="1" dirty="0">
                <a:solidFill>
                  <a:srgbClr val="000066"/>
                </a:solidFill>
                <a:latin typeface="Times New Roman" panose="02020603050405020304" pitchFamily="18" charset="0"/>
                <a:cs typeface="Times New Roman" panose="02020603050405020304" pitchFamily="18" charset="0"/>
              </a:rPr>
              <a:t>~</a:t>
            </a:r>
            <a:r>
              <a:rPr lang="en-US" altLang="zh-CN" b="1" dirty="0">
                <a:solidFill>
                  <a:srgbClr val="000066"/>
                </a:solidFill>
                <a:latin typeface="Times New Roman" panose="02020603050405020304" pitchFamily="18" charset="0"/>
              </a:rPr>
              <a:t>20% </a:t>
            </a:r>
            <a:r>
              <a:rPr lang="zh-CN" altLang="en-US" b="1" dirty="0">
                <a:solidFill>
                  <a:srgbClr val="FF0000"/>
                </a:solidFill>
                <a:latin typeface="Times New Roman" panose="02020603050405020304" pitchFamily="18" charset="0"/>
              </a:rPr>
              <a:t>稀有碱基或稀有核苷</a:t>
            </a:r>
            <a:r>
              <a:rPr lang="zh-CN" altLang="en-US" b="1" dirty="0">
                <a:solidFill>
                  <a:srgbClr val="000066"/>
                </a:solidFill>
                <a:latin typeface="Times New Roman" panose="02020603050405020304" pitchFamily="18" charset="0"/>
              </a:rPr>
              <a:t>，如 </a:t>
            </a:r>
            <a:r>
              <a:rPr lang="en-US" altLang="zh-CN" b="1" dirty="0">
                <a:solidFill>
                  <a:srgbClr val="000066"/>
                </a:solidFill>
                <a:latin typeface="Times New Roman" panose="02020603050405020304" pitchFamily="18" charset="0"/>
              </a:rPr>
              <a:t>DHU</a:t>
            </a:r>
            <a:r>
              <a:rPr lang="zh-CN" altLang="en-US" b="1" dirty="0">
                <a:solidFill>
                  <a:srgbClr val="000066"/>
                </a:solidFill>
                <a:latin typeface="Times New Roman" panose="02020603050405020304" pitchFamily="18" charset="0"/>
              </a:rPr>
              <a:t>、 </a:t>
            </a:r>
            <a:r>
              <a:rPr lang="en-US" altLang="zh-CN" b="1" dirty="0">
                <a:solidFill>
                  <a:srgbClr val="000066"/>
                </a:solidFill>
                <a:latin typeface="Times New Roman" panose="02020603050405020304" pitchFamily="18" charset="0"/>
              </a:rPr>
              <a:t>T</a:t>
            </a:r>
            <a:r>
              <a:rPr lang="zh-CN" altLang="en-US" b="1" dirty="0">
                <a:solidFill>
                  <a:srgbClr val="000066"/>
                </a:solidFill>
                <a:latin typeface="Times New Roman" panose="02020603050405020304" pitchFamily="18" charset="0"/>
              </a:rPr>
              <a:t>、</a:t>
            </a:r>
            <a:r>
              <a:rPr lang="zh-CN" altLang="en-US" b="1" dirty="0">
                <a:solidFill>
                  <a:srgbClr val="000066"/>
                </a:solidFill>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rPr>
              <a:t> </a:t>
            </a:r>
          </a:p>
        </p:txBody>
      </p:sp>
    </p:spTree>
  </p:cSld>
  <p:clrMapOvr>
    <a:masterClrMapping/>
  </p:clrMapOvr>
  <p:transition spd="slow">
    <p:circle/>
  </p:transition>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8834" name="Text Box 6">
            <a:extLst>
              <a:ext uri="{FF2B5EF4-FFF2-40B4-BE49-F238E27FC236}">
                <a16:creationId xmlns:a16="http://schemas.microsoft.com/office/drawing/2014/main" id="{F0584F1F-CE40-4275-8A1C-EBA550C53A74}"/>
              </a:ext>
            </a:extLst>
          </p:cNvPr>
          <p:cNvSpPr txBox="1">
            <a:spLocks noChangeArrowheads="1"/>
          </p:cNvSpPr>
          <p:nvPr/>
        </p:nvSpPr>
        <p:spPr bwMode="auto">
          <a:xfrm>
            <a:off x="7751764" y="5302250"/>
            <a:ext cx="2160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2400">
                <a:solidFill>
                  <a:schemeClr val="tx1"/>
                </a:solidFill>
                <a:latin typeface="Times New Roman" panose="02020603050405020304" pitchFamily="18" charset="0"/>
                <a:ea typeface="黑体" panose="02010609060101010101" pitchFamily="49" charset="-122"/>
              </a:rPr>
              <a:t>N-</a:t>
            </a:r>
            <a:r>
              <a:rPr lang="zh-CN" altLang="en-US" sz="2400">
                <a:solidFill>
                  <a:schemeClr val="tx1"/>
                </a:solidFill>
                <a:latin typeface="Times New Roman" panose="02020603050405020304" pitchFamily="18" charset="0"/>
                <a:ea typeface="黑体" panose="02010609060101010101" pitchFamily="49" charset="-122"/>
              </a:rPr>
              <a:t>甲基鸟嘌呤</a:t>
            </a:r>
          </a:p>
        </p:txBody>
      </p:sp>
      <p:sp>
        <p:nvSpPr>
          <p:cNvPr id="248835" name="Text Box 8">
            <a:extLst>
              <a:ext uri="{FF2B5EF4-FFF2-40B4-BE49-F238E27FC236}">
                <a16:creationId xmlns:a16="http://schemas.microsoft.com/office/drawing/2014/main" id="{5F098E4A-ECA8-45CA-9F7A-A17AFDC6954E}"/>
              </a:ext>
            </a:extLst>
          </p:cNvPr>
          <p:cNvSpPr txBox="1">
            <a:spLocks noChangeArrowheads="1"/>
          </p:cNvSpPr>
          <p:nvPr/>
        </p:nvSpPr>
        <p:spPr bwMode="auto">
          <a:xfrm>
            <a:off x="2135189" y="5302250"/>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sz="2400">
                <a:solidFill>
                  <a:schemeClr val="tx1"/>
                </a:solidFill>
                <a:latin typeface="Times New Roman" panose="02020603050405020304" pitchFamily="18" charset="0"/>
                <a:ea typeface="黑体" panose="02010609060101010101" pitchFamily="49" charset="-122"/>
              </a:rPr>
              <a:t>双氢尿嘧啶</a:t>
            </a:r>
          </a:p>
        </p:txBody>
      </p:sp>
      <p:sp>
        <p:nvSpPr>
          <p:cNvPr id="248836" name="Text Box 9">
            <a:extLst>
              <a:ext uri="{FF2B5EF4-FFF2-40B4-BE49-F238E27FC236}">
                <a16:creationId xmlns:a16="http://schemas.microsoft.com/office/drawing/2014/main" id="{9081FAFB-C410-4EE9-B8AC-61E2CFC3C16F}"/>
              </a:ext>
            </a:extLst>
          </p:cNvPr>
          <p:cNvSpPr txBox="1">
            <a:spLocks noChangeArrowheads="1"/>
          </p:cNvSpPr>
          <p:nvPr/>
        </p:nvSpPr>
        <p:spPr bwMode="auto">
          <a:xfrm>
            <a:off x="4800601" y="530225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sz="2400">
                <a:solidFill>
                  <a:schemeClr val="tx1"/>
                </a:solidFill>
                <a:latin typeface="黑体" panose="02010609060101010101" pitchFamily="49" charset="-122"/>
                <a:ea typeface="黑体" panose="02010609060101010101" pitchFamily="49" charset="-122"/>
              </a:rPr>
              <a:t>假尿嘧啶核苷</a:t>
            </a:r>
            <a:endParaRPr lang="zh-CN" altLang="en-US" sz="1800">
              <a:solidFill>
                <a:schemeClr val="tx1"/>
              </a:solidFill>
              <a:latin typeface="黑体" panose="02010609060101010101" pitchFamily="49" charset="-122"/>
              <a:ea typeface="黑体" panose="02010609060101010101" pitchFamily="49" charset="-122"/>
            </a:endParaRPr>
          </a:p>
        </p:txBody>
      </p:sp>
      <p:graphicFrame>
        <p:nvGraphicFramePr>
          <p:cNvPr id="248837" name="Object 11">
            <a:extLst>
              <a:ext uri="{FF2B5EF4-FFF2-40B4-BE49-F238E27FC236}">
                <a16:creationId xmlns:a16="http://schemas.microsoft.com/office/drawing/2014/main" id="{5FD4595E-3FEC-441C-8BAE-BD7CFD3A0759}"/>
              </a:ext>
            </a:extLst>
          </p:cNvPr>
          <p:cNvGraphicFramePr>
            <a:graphicFrameLocks noChangeAspect="1"/>
          </p:cNvGraphicFramePr>
          <p:nvPr/>
        </p:nvGraphicFramePr>
        <p:xfrm>
          <a:off x="1847851" y="1052513"/>
          <a:ext cx="8532813" cy="3702050"/>
        </p:xfrm>
        <a:graphic>
          <a:graphicData uri="http://schemas.openxmlformats.org/presentationml/2006/ole">
            <mc:AlternateContent xmlns:mc="http://schemas.openxmlformats.org/markup-compatibility/2006">
              <mc:Choice xmlns:v="urn:schemas-microsoft-com:vml" Requires="v">
                <p:oleObj name="Visio" r:id="rId3" imgW="5457713" imgH="2367878" progId="Visio.Drawing.6">
                  <p:embed/>
                </p:oleObj>
              </mc:Choice>
              <mc:Fallback>
                <p:oleObj name="Visio" r:id="rId3" imgW="5457713" imgH="2367878" progId="Visio.Drawing.6">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851" y="1052513"/>
                        <a:ext cx="8532813" cy="370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8838" name="灯片编号占位符 1">
            <a:extLst>
              <a:ext uri="{FF2B5EF4-FFF2-40B4-BE49-F238E27FC236}">
                <a16:creationId xmlns:a16="http://schemas.microsoft.com/office/drawing/2014/main" id="{E587AB44-848A-4530-B751-7765D95C79F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A0FE5B86-6F9B-4816-8F4B-8361287B4777}" type="slidenum">
              <a:rPr lang="zh-CN" altLang="en-US" sz="1200" b="0">
                <a:solidFill>
                  <a:srgbClr val="898F89"/>
                </a:solidFill>
              </a:rPr>
              <a:pPr>
                <a:spcBef>
                  <a:spcPct val="0"/>
                </a:spcBef>
                <a:buClrTx/>
                <a:buFontTx/>
                <a:buNone/>
              </a:pPr>
              <a:t>93</a:t>
            </a:fld>
            <a:endParaRPr lang="zh-CN" altLang="en-US" sz="1200" b="0">
              <a:solidFill>
                <a:srgbClr val="898F89"/>
              </a:solidFill>
            </a:endParaRPr>
          </a:p>
        </p:txBody>
      </p:sp>
    </p:spTree>
  </p:cSld>
  <p:clrMapOvr>
    <a:masterClrMapping/>
  </p:clrMapOvr>
  <p:transition spd="slow">
    <p:circl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0882" name="图片 9">
            <a:extLst>
              <a:ext uri="{FF2B5EF4-FFF2-40B4-BE49-F238E27FC236}">
                <a16:creationId xmlns:a16="http://schemas.microsoft.com/office/drawing/2014/main" id="{AFCBB823-7EA7-4589-8EAA-478181066C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4500" y="496888"/>
            <a:ext cx="4730750" cy="595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883" name="Rectangle 3">
            <a:extLst>
              <a:ext uri="{FF2B5EF4-FFF2-40B4-BE49-F238E27FC236}">
                <a16:creationId xmlns:a16="http://schemas.microsoft.com/office/drawing/2014/main" id="{7824D575-1689-45D5-BE03-AE983A2B7C12}"/>
              </a:ext>
            </a:extLst>
          </p:cNvPr>
          <p:cNvSpPr>
            <a:spLocks noChangeArrowheads="1"/>
          </p:cNvSpPr>
          <p:nvPr/>
        </p:nvSpPr>
        <p:spPr bwMode="auto">
          <a:xfrm>
            <a:off x="1847851" y="896939"/>
            <a:ext cx="4608513"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90000"/>
              </a:lnSpc>
              <a:spcBef>
                <a:spcPct val="50000"/>
              </a:spcBef>
              <a:buClr>
                <a:srgbClr val="660066"/>
              </a:buClr>
              <a:buSzPct val="80000"/>
              <a:buFontTx/>
              <a:buChar char="•"/>
            </a:pPr>
            <a:r>
              <a:rPr lang="en-US" altLang="zh-CN" sz="3200">
                <a:solidFill>
                  <a:srgbClr val="660066"/>
                </a:solidFill>
                <a:latin typeface="Times New Roman" panose="02020603050405020304" pitchFamily="18" charset="0"/>
                <a:ea typeface="黑体" panose="02010609060101010101" pitchFamily="49" charset="-122"/>
              </a:rPr>
              <a:t>tRNA</a:t>
            </a:r>
            <a:r>
              <a:rPr lang="zh-CN" altLang="en-US" sz="3200">
                <a:solidFill>
                  <a:srgbClr val="660066"/>
                </a:solidFill>
                <a:latin typeface="Times New Roman" panose="02020603050405020304" pitchFamily="18" charset="0"/>
                <a:ea typeface="黑体" panose="02010609060101010101" pitchFamily="49" charset="-122"/>
              </a:rPr>
              <a:t>的二级结构</a:t>
            </a:r>
            <a:endParaRPr lang="zh-CN" altLang="zh-CN">
              <a:solidFill>
                <a:schemeClr val="tx1"/>
              </a:solidFill>
              <a:latin typeface="Times New Roman" panose="02020603050405020304" pitchFamily="18" charset="0"/>
              <a:ea typeface="黑体" panose="02010609060101010101" pitchFamily="49" charset="-122"/>
            </a:endParaRPr>
          </a:p>
        </p:txBody>
      </p:sp>
      <p:sp>
        <p:nvSpPr>
          <p:cNvPr id="547855" name="Rectangle 1039">
            <a:extLst>
              <a:ext uri="{FF2B5EF4-FFF2-40B4-BE49-F238E27FC236}">
                <a16:creationId xmlns:a16="http://schemas.microsoft.com/office/drawing/2014/main" id="{C08FAAFF-E01E-4340-B8A4-A05C21229C92}"/>
              </a:ext>
            </a:extLst>
          </p:cNvPr>
          <p:cNvSpPr>
            <a:spLocks noChangeArrowheads="1"/>
          </p:cNvSpPr>
          <p:nvPr/>
        </p:nvSpPr>
        <p:spPr bwMode="auto">
          <a:xfrm>
            <a:off x="1653173" y="2284093"/>
            <a:ext cx="3311525"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90000"/>
              </a:lnSpc>
              <a:spcBef>
                <a:spcPct val="50000"/>
              </a:spcBef>
              <a:buClr>
                <a:srgbClr val="660066"/>
              </a:buClr>
              <a:buSzPct val="80000"/>
              <a:buFont typeface="Wingdings" panose="05000000000000000000" pitchFamily="2" charset="2"/>
              <a:buNone/>
            </a:pPr>
            <a:endParaRPr lang="en-US" altLang="zh-CN" dirty="0">
              <a:solidFill>
                <a:srgbClr val="CC0099"/>
              </a:solidFill>
              <a:latin typeface="Times New Roman" panose="02020603050405020304" pitchFamily="18" charset="0"/>
              <a:ea typeface="黑体" panose="02010609060101010101" pitchFamily="49" charset="-122"/>
            </a:endParaRPr>
          </a:p>
          <a:p>
            <a:pPr lvl="1" eaLnBrk="1" hangingPunct="1">
              <a:lnSpc>
                <a:spcPct val="90000"/>
              </a:lnSpc>
              <a:spcBef>
                <a:spcPct val="70000"/>
              </a:spcBef>
              <a:buClr>
                <a:schemeClr val="tx1"/>
              </a:buClr>
              <a:buSzPct val="90000"/>
              <a:buFont typeface="Wingdings" panose="05000000000000000000" pitchFamily="2" charset="2"/>
              <a:buChar char="Ø"/>
            </a:pPr>
            <a:r>
              <a:rPr lang="en-US" altLang="zh-CN" b="1" dirty="0">
                <a:solidFill>
                  <a:srgbClr val="C00000"/>
                </a:solidFill>
                <a:latin typeface="Times New Roman" panose="02020603050405020304" pitchFamily="18" charset="0"/>
                <a:ea typeface="黑体" panose="02010609060101010101" pitchFamily="49" charset="-122"/>
              </a:rPr>
              <a:t>  </a:t>
            </a:r>
            <a:r>
              <a:rPr lang="zh-CN" altLang="en-US" b="1" dirty="0">
                <a:solidFill>
                  <a:srgbClr val="C00000"/>
                </a:solidFill>
                <a:latin typeface="Times New Roman" panose="02020603050405020304" pitchFamily="18" charset="0"/>
                <a:ea typeface="黑体" panose="02010609060101010101" pitchFamily="49" charset="-122"/>
              </a:rPr>
              <a:t>氨基酸臂</a:t>
            </a:r>
          </a:p>
          <a:p>
            <a:pPr lvl="1" eaLnBrk="1" hangingPunct="1">
              <a:lnSpc>
                <a:spcPct val="90000"/>
              </a:lnSpc>
              <a:spcBef>
                <a:spcPct val="50000"/>
              </a:spcBef>
              <a:buClr>
                <a:schemeClr val="tx1"/>
              </a:buClr>
              <a:buSzPct val="90000"/>
              <a:buFont typeface="Wingdings" panose="05000000000000000000" pitchFamily="2" charset="2"/>
              <a:buChar char="Ø"/>
            </a:pPr>
            <a:r>
              <a:rPr lang="zh-CN" altLang="en-US" b="1" dirty="0">
                <a:solidFill>
                  <a:schemeClr val="tx1"/>
                </a:solidFill>
                <a:latin typeface="Times New Roman" panose="02020603050405020304" pitchFamily="18" charset="0"/>
                <a:ea typeface="黑体" panose="02010609060101010101" pitchFamily="49" charset="-122"/>
              </a:rPr>
              <a:t>  </a:t>
            </a:r>
            <a:r>
              <a:rPr lang="en-US" altLang="zh-CN" b="1" dirty="0">
                <a:solidFill>
                  <a:schemeClr val="tx1"/>
                </a:solidFill>
                <a:latin typeface="Times New Roman" panose="02020603050405020304" pitchFamily="18" charset="0"/>
                <a:ea typeface="黑体" panose="02010609060101010101" pitchFamily="49" charset="-122"/>
              </a:rPr>
              <a:t>DHU</a:t>
            </a:r>
            <a:r>
              <a:rPr lang="zh-CN" altLang="en-US" b="1" dirty="0">
                <a:solidFill>
                  <a:schemeClr val="tx1"/>
                </a:solidFill>
                <a:latin typeface="Times New Roman" panose="02020603050405020304" pitchFamily="18" charset="0"/>
                <a:ea typeface="黑体" panose="02010609060101010101" pitchFamily="49" charset="-122"/>
              </a:rPr>
              <a:t>环</a:t>
            </a:r>
          </a:p>
          <a:p>
            <a:pPr lvl="1" eaLnBrk="1" hangingPunct="1">
              <a:lnSpc>
                <a:spcPct val="90000"/>
              </a:lnSpc>
              <a:spcBef>
                <a:spcPct val="50000"/>
              </a:spcBef>
              <a:buClr>
                <a:schemeClr val="tx1"/>
              </a:buClr>
              <a:buSzPct val="90000"/>
              <a:buFont typeface="Wingdings" panose="05000000000000000000" pitchFamily="2" charset="2"/>
              <a:buChar char="Ø"/>
            </a:pPr>
            <a:r>
              <a:rPr lang="zh-CN" altLang="en-US" b="1" dirty="0">
                <a:solidFill>
                  <a:srgbClr val="C00000"/>
                </a:solidFill>
                <a:latin typeface="Times New Roman" panose="02020603050405020304" pitchFamily="18" charset="0"/>
                <a:ea typeface="黑体" panose="02010609060101010101" pitchFamily="49" charset="-122"/>
              </a:rPr>
              <a:t>  反密码环</a:t>
            </a:r>
          </a:p>
          <a:p>
            <a:pPr lvl="1" eaLnBrk="1" hangingPunct="1">
              <a:lnSpc>
                <a:spcPct val="90000"/>
              </a:lnSpc>
              <a:spcBef>
                <a:spcPct val="50000"/>
              </a:spcBef>
              <a:buClr>
                <a:schemeClr val="tx1"/>
              </a:buClr>
              <a:buSzPct val="90000"/>
              <a:buFont typeface="Wingdings" panose="05000000000000000000" pitchFamily="2" charset="2"/>
              <a:buChar char="Ø"/>
            </a:pPr>
            <a:r>
              <a:rPr lang="zh-CN" altLang="en-US" b="1" dirty="0">
                <a:solidFill>
                  <a:schemeClr val="tx1"/>
                </a:solidFill>
                <a:latin typeface="Times New Roman" panose="02020603050405020304" pitchFamily="18" charset="0"/>
                <a:ea typeface="黑体" panose="02010609060101010101" pitchFamily="49" charset="-122"/>
              </a:rPr>
              <a:t>  </a:t>
            </a:r>
            <a:r>
              <a:rPr lang="en-US" altLang="zh-CN" b="1" dirty="0">
                <a:solidFill>
                  <a:schemeClr val="tx1"/>
                </a:solidFill>
                <a:latin typeface="Times New Roman" panose="02020603050405020304" pitchFamily="18" charset="0"/>
                <a:ea typeface="黑体" panose="02010609060101010101" pitchFamily="49" charset="-122"/>
              </a:rPr>
              <a:t>TΨC</a:t>
            </a:r>
            <a:r>
              <a:rPr lang="zh-CN" altLang="en-US" b="1" dirty="0">
                <a:solidFill>
                  <a:schemeClr val="tx1"/>
                </a:solidFill>
                <a:latin typeface="Times New Roman" panose="02020603050405020304" pitchFamily="18" charset="0"/>
                <a:ea typeface="黑体" panose="02010609060101010101" pitchFamily="49" charset="-122"/>
              </a:rPr>
              <a:t>环</a:t>
            </a:r>
          </a:p>
          <a:p>
            <a:pPr lvl="1" eaLnBrk="1" hangingPunct="1">
              <a:lnSpc>
                <a:spcPct val="90000"/>
              </a:lnSpc>
              <a:spcBef>
                <a:spcPct val="50000"/>
              </a:spcBef>
              <a:buClr>
                <a:schemeClr val="tx1"/>
              </a:buClr>
              <a:buSzPct val="90000"/>
              <a:buFont typeface="Wingdings" panose="05000000000000000000" pitchFamily="2" charset="2"/>
              <a:buChar char="Ø"/>
            </a:pPr>
            <a:r>
              <a:rPr lang="zh-CN" altLang="en-US" b="1" dirty="0">
                <a:solidFill>
                  <a:schemeClr val="tx1"/>
                </a:solidFill>
                <a:latin typeface="Times New Roman" panose="02020603050405020304" pitchFamily="18" charset="0"/>
                <a:ea typeface="黑体" panose="02010609060101010101" pitchFamily="49" charset="-122"/>
              </a:rPr>
              <a:t>  额外环</a:t>
            </a:r>
            <a:endParaRPr lang="zh-CN" altLang="zh-CN" b="1" dirty="0">
              <a:solidFill>
                <a:schemeClr val="tx1"/>
              </a:solidFill>
              <a:latin typeface="Times New Roman" panose="02020603050405020304" pitchFamily="18" charset="0"/>
              <a:ea typeface="黑体" panose="02010609060101010101" pitchFamily="49" charset="-122"/>
            </a:endParaRPr>
          </a:p>
        </p:txBody>
      </p:sp>
      <p:sp>
        <p:nvSpPr>
          <p:cNvPr id="547856" name="Rectangle 1040">
            <a:extLst>
              <a:ext uri="{FF2B5EF4-FFF2-40B4-BE49-F238E27FC236}">
                <a16:creationId xmlns:a16="http://schemas.microsoft.com/office/drawing/2014/main" id="{CA45E0D2-930B-4C7E-8FC1-EEA2171120E3}"/>
              </a:ext>
            </a:extLst>
          </p:cNvPr>
          <p:cNvSpPr>
            <a:spLocks noChangeArrowheads="1"/>
          </p:cNvSpPr>
          <p:nvPr/>
        </p:nvSpPr>
        <p:spPr bwMode="auto">
          <a:xfrm>
            <a:off x="1847851" y="1544638"/>
            <a:ext cx="460851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r" eaLnBrk="1" hangingPunct="1">
              <a:lnSpc>
                <a:spcPct val="90000"/>
              </a:lnSpc>
              <a:spcBef>
                <a:spcPct val="50000"/>
              </a:spcBef>
              <a:buClr>
                <a:srgbClr val="660066"/>
              </a:buClr>
              <a:buSzPct val="80000"/>
              <a:buFontTx/>
              <a:buNone/>
            </a:pPr>
            <a:r>
              <a:rPr lang="en-US" altLang="zh-CN">
                <a:solidFill>
                  <a:srgbClr val="FF0000"/>
                </a:solidFill>
                <a:latin typeface="Times New Roman" panose="02020603050405020304" pitchFamily="18" charset="0"/>
                <a:ea typeface="黑体" panose="02010609060101010101" pitchFamily="49" charset="-122"/>
              </a:rPr>
              <a:t>——</a:t>
            </a:r>
            <a:r>
              <a:rPr lang="zh-CN" altLang="en-US">
                <a:solidFill>
                  <a:srgbClr val="FF0000"/>
                </a:solidFill>
                <a:latin typeface="Times New Roman" panose="02020603050405020304" pitchFamily="18" charset="0"/>
                <a:ea typeface="黑体" panose="02010609060101010101" pitchFamily="49" charset="-122"/>
              </a:rPr>
              <a:t>三叶草形</a:t>
            </a:r>
            <a:endParaRPr lang="zh-CN" altLang="zh-CN">
              <a:solidFill>
                <a:srgbClr val="FF0000"/>
              </a:solidFill>
              <a:latin typeface="Times New Roman" panose="02020603050405020304" pitchFamily="18" charset="0"/>
              <a:ea typeface="黑体" panose="02010609060101010101" pitchFamily="49" charset="-122"/>
            </a:endParaRPr>
          </a:p>
        </p:txBody>
      </p:sp>
      <p:pic>
        <p:nvPicPr>
          <p:cNvPr id="250886" name="Picture 1041" descr="7_22">
            <a:extLst>
              <a:ext uri="{FF2B5EF4-FFF2-40B4-BE49-F238E27FC236}">
                <a16:creationId xmlns:a16="http://schemas.microsoft.com/office/drawing/2014/main" id="{483BF27D-E9E0-40D9-8B35-0C53D2AD59F2}"/>
              </a:ext>
            </a:extLst>
          </p:cNvPr>
          <p:cNvPicPr>
            <a:picLocks noChangeAspect="1" noChangeArrowheads="1"/>
          </p:cNvPicPr>
          <p:nvPr/>
        </p:nvPicPr>
        <p:blipFill>
          <a:blip r:embed="rId4">
            <a:lum bright="-12000" contrast="6000"/>
            <a:extLst>
              <a:ext uri="{28A0092B-C50C-407E-A947-70E740481C1C}">
                <a14:useLocalDpi xmlns:a14="http://schemas.microsoft.com/office/drawing/2010/main" val="0"/>
              </a:ext>
            </a:extLst>
          </a:blip>
          <a:srcRect l="29097" t="44438" r="54778" b="30951"/>
          <a:stretch>
            <a:fillRect/>
          </a:stretch>
        </p:blipFill>
        <p:spPr bwMode="auto">
          <a:xfrm>
            <a:off x="9984432" y="5238431"/>
            <a:ext cx="13033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930" name="Group 2055">
            <a:extLst>
              <a:ext uri="{FF2B5EF4-FFF2-40B4-BE49-F238E27FC236}">
                <a16:creationId xmlns:a16="http://schemas.microsoft.com/office/drawing/2014/main" id="{93EC64F9-D9AF-46F0-9EAC-F10743DACC9A}"/>
              </a:ext>
            </a:extLst>
          </p:cNvPr>
          <p:cNvGrpSpPr>
            <a:grpSpLocks/>
          </p:cNvGrpSpPr>
          <p:nvPr/>
        </p:nvGrpSpPr>
        <p:grpSpPr bwMode="auto">
          <a:xfrm>
            <a:off x="1055440" y="1257607"/>
            <a:ext cx="5274159" cy="4873625"/>
            <a:chOff x="567" y="663"/>
            <a:chExt cx="3447" cy="3070"/>
          </a:xfrm>
        </p:grpSpPr>
        <p:pic>
          <p:nvPicPr>
            <p:cNvPr id="252934" name="Picture 3" descr="氨基酸活化反应2">
              <a:extLst>
                <a:ext uri="{FF2B5EF4-FFF2-40B4-BE49-F238E27FC236}">
                  <a16:creationId xmlns:a16="http://schemas.microsoft.com/office/drawing/2014/main" id="{0FF5B77F-C42D-4A01-AA6F-7E604591E4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789" t="44572"/>
            <a:stretch>
              <a:fillRect/>
            </a:stretch>
          </p:blipFill>
          <p:spPr bwMode="auto">
            <a:xfrm>
              <a:off x="567" y="663"/>
              <a:ext cx="3392" cy="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935" name="Rectangle 2053">
              <a:extLst>
                <a:ext uri="{FF2B5EF4-FFF2-40B4-BE49-F238E27FC236}">
                  <a16:creationId xmlns:a16="http://schemas.microsoft.com/office/drawing/2014/main" id="{ADC1CFF0-3AA1-4C8C-8C08-BF15744EE15F}"/>
                </a:ext>
              </a:extLst>
            </p:cNvPr>
            <p:cNvSpPr>
              <a:spLocks noChangeArrowheads="1"/>
            </p:cNvSpPr>
            <p:nvPr/>
          </p:nvSpPr>
          <p:spPr bwMode="auto">
            <a:xfrm>
              <a:off x="2290" y="2478"/>
              <a:ext cx="1724" cy="7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grpSp>
      <p:pic>
        <p:nvPicPr>
          <p:cNvPr id="571396" name="Picture 2052">
            <a:extLst>
              <a:ext uri="{FF2B5EF4-FFF2-40B4-BE49-F238E27FC236}">
                <a16:creationId xmlns:a16="http://schemas.microsoft.com/office/drawing/2014/main" id="{4FDDF5A6-27F0-4389-B9DC-70E0CBFFD6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7654" t="38013" r="1666"/>
          <a:stretch>
            <a:fillRect/>
          </a:stretch>
        </p:blipFill>
        <p:spPr bwMode="auto">
          <a:xfrm>
            <a:off x="6329599" y="3480568"/>
            <a:ext cx="3426773" cy="2540665"/>
          </a:xfrm>
          <a:prstGeom prst="rect">
            <a:avLst/>
          </a:prstGeom>
          <a:noFill/>
          <a:ln w="38100">
            <a:solidFill>
              <a:srgbClr val="CC6600"/>
            </a:solidFill>
            <a:miter lim="800000"/>
            <a:headEnd/>
            <a:tailEnd/>
          </a:ln>
          <a:extLst>
            <a:ext uri="{909E8E84-426E-40DD-AFC4-6F175D3DCCD1}">
              <a14:hiddenFill xmlns:a14="http://schemas.microsoft.com/office/drawing/2010/main">
                <a:solidFill>
                  <a:srgbClr val="FFFFFF"/>
                </a:solidFill>
              </a14:hiddenFill>
            </a:ext>
          </a:extLst>
        </p:spPr>
      </p:pic>
      <p:sp>
        <p:nvSpPr>
          <p:cNvPr id="252932" name="标题 2">
            <a:extLst>
              <a:ext uri="{FF2B5EF4-FFF2-40B4-BE49-F238E27FC236}">
                <a16:creationId xmlns:a16="http://schemas.microsoft.com/office/drawing/2014/main" id="{014BC280-7A3E-4522-87AA-67C90DA596C0}"/>
              </a:ext>
            </a:extLst>
          </p:cNvPr>
          <p:cNvSpPr>
            <a:spLocks noGrp="1" noChangeArrowheads="1"/>
          </p:cNvSpPr>
          <p:nvPr>
            <p:ph type="title"/>
          </p:nvPr>
        </p:nvSpPr>
        <p:spPr/>
        <p:txBody>
          <a:bodyPr/>
          <a:lstStyle/>
          <a:p>
            <a:r>
              <a:rPr lang="zh-CN" altLang="en-US"/>
              <a:t>氨基酸臂结合氨基酸</a:t>
            </a:r>
          </a:p>
        </p:txBody>
      </p:sp>
      <p:sp>
        <p:nvSpPr>
          <p:cNvPr id="252933" name="灯片编号占位符 1">
            <a:extLst>
              <a:ext uri="{FF2B5EF4-FFF2-40B4-BE49-F238E27FC236}">
                <a16:creationId xmlns:a16="http://schemas.microsoft.com/office/drawing/2014/main" id="{5A5E21E2-8781-4CE0-9BA8-94EF2107F865}"/>
              </a:ext>
            </a:extLst>
          </p:cNvPr>
          <p:cNvSpPr>
            <a:spLocks noGrp="1"/>
          </p:cNvSpPr>
          <p:nvPr>
            <p:ph type="sldNum" sz="quarter" idx="4"/>
          </p:nvPr>
        </p:nvSpPr>
        <p:spPr bwMode="auto">
          <a:xfrm>
            <a:off x="9974264" y="6492876"/>
            <a:ext cx="693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l" eaLnBrk="0" hangingPunct="0">
              <a:spcBef>
                <a:spcPct val="0"/>
              </a:spcBef>
              <a:buClrTx/>
              <a:buFontTx/>
              <a:buNone/>
            </a:pPr>
            <a:fld id="{CD749B07-456F-4370-9D6B-6DB16D2B46B1}" type="slidenum">
              <a:rPr lang="zh-CN" altLang="en-US" sz="1200" b="0">
                <a:solidFill>
                  <a:srgbClr val="898F89"/>
                </a:solidFill>
              </a:rPr>
              <a:pPr algn="l" eaLnBrk="0" hangingPunct="0">
                <a:spcBef>
                  <a:spcPct val="0"/>
                </a:spcBef>
                <a:buClrTx/>
                <a:buFontTx/>
                <a:buNone/>
              </a:pPr>
              <a:t>95</a:t>
            </a:fld>
            <a:endParaRPr lang="zh-CN" altLang="en-US" sz="1200" b="0">
              <a:solidFill>
                <a:srgbClr val="898F89"/>
              </a:solidFill>
            </a:endParaRPr>
          </a:p>
        </p:txBody>
      </p:sp>
      <p:sp>
        <p:nvSpPr>
          <p:cNvPr id="3" name="文本框 2">
            <a:extLst>
              <a:ext uri="{FF2B5EF4-FFF2-40B4-BE49-F238E27FC236}">
                <a16:creationId xmlns:a16="http://schemas.microsoft.com/office/drawing/2014/main" id="{105B8576-19B5-682D-9F7E-1DF348B41620}"/>
              </a:ext>
            </a:extLst>
          </p:cNvPr>
          <p:cNvSpPr txBox="1"/>
          <p:nvPr/>
        </p:nvSpPr>
        <p:spPr>
          <a:xfrm>
            <a:off x="6329599" y="1445354"/>
            <a:ext cx="5093767" cy="1718227"/>
          </a:xfrm>
          <a:prstGeom prst="rect">
            <a:avLst/>
          </a:prstGeom>
          <a:noFill/>
        </p:spPr>
        <p:txBody>
          <a:bodyPr wrap="square">
            <a:spAutoFit/>
          </a:bodyPr>
          <a:lstStyle/>
          <a:p>
            <a:pPr eaLnBrk="1" hangingPunct="1">
              <a:lnSpc>
                <a:spcPct val="130000"/>
              </a:lnSpc>
            </a:pPr>
            <a:r>
              <a:rPr lang="zh-CN" altLang="en-US" sz="2800" dirty="0">
                <a:latin typeface="微软雅黑" panose="020B0503020204020204" pitchFamily="34" charset="-122"/>
                <a:ea typeface="微软雅黑" panose="020B0503020204020204" pitchFamily="34" charset="-122"/>
              </a:rPr>
              <a:t>一种</a:t>
            </a:r>
            <a:r>
              <a:rPr lang="en-US" altLang="zh-CN" sz="2800" dirty="0">
                <a:latin typeface="微软雅黑" panose="020B0503020204020204" pitchFamily="34" charset="-122"/>
                <a:ea typeface="微软雅黑" panose="020B0503020204020204" pitchFamily="34" charset="-122"/>
              </a:rPr>
              <a:t>tRNA</a:t>
            </a:r>
            <a:r>
              <a:rPr lang="zh-CN" altLang="en-US" sz="2800" dirty="0">
                <a:latin typeface="微软雅黑" panose="020B0503020204020204" pitchFamily="34" charset="-122"/>
                <a:ea typeface="微软雅黑" panose="020B0503020204020204" pitchFamily="34" charset="-122"/>
              </a:rPr>
              <a:t>只能结合一种氨基酸，而一种氨基酸可结合多种</a:t>
            </a:r>
            <a:r>
              <a:rPr lang="en-US" altLang="zh-CN" sz="2800" dirty="0">
                <a:latin typeface="微软雅黑" panose="020B0503020204020204" pitchFamily="34" charset="-122"/>
                <a:ea typeface="微软雅黑" panose="020B0503020204020204" pitchFamily="34" charset="-122"/>
              </a:rPr>
              <a:t>tRNA (</a:t>
            </a:r>
            <a:r>
              <a:rPr lang="zh-CN" altLang="en-US" sz="2800" dirty="0">
                <a:latin typeface="微软雅黑" panose="020B0503020204020204" pitchFamily="34" charset="-122"/>
                <a:ea typeface="微软雅黑" panose="020B0503020204020204" pitchFamily="34" charset="-122"/>
              </a:rPr>
              <a:t>互为</a:t>
            </a:r>
            <a:r>
              <a:rPr lang="zh-CN" altLang="en-US" sz="2800" dirty="0">
                <a:solidFill>
                  <a:schemeClr val="tx2"/>
                </a:solidFill>
                <a:latin typeface="微软雅黑" panose="020B0503020204020204" pitchFamily="34" charset="-122"/>
                <a:ea typeface="微软雅黑" panose="020B0503020204020204" pitchFamily="34" charset="-122"/>
              </a:rPr>
              <a:t>同功</a:t>
            </a:r>
            <a:r>
              <a:rPr lang="en-US" altLang="zh-CN" sz="2800" dirty="0">
                <a:solidFill>
                  <a:schemeClr val="tx2"/>
                </a:solidFill>
                <a:latin typeface="微软雅黑" panose="020B0503020204020204" pitchFamily="34" charset="-122"/>
                <a:ea typeface="微软雅黑" panose="020B0503020204020204" pitchFamily="34" charset="-122"/>
              </a:rPr>
              <a:t>tRNA</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a:t>
            </a:r>
          </a:p>
        </p:txBody>
      </p:sp>
    </p:spTree>
  </p:cSld>
  <p:clrMapOvr>
    <a:masterClrMapping/>
  </p:clrMapOvr>
  <p:transition spd="slow">
    <p:circl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4978" name="Picture 4" descr="tRNA">
            <a:extLst>
              <a:ext uri="{FF2B5EF4-FFF2-40B4-BE49-F238E27FC236}">
                <a16:creationId xmlns:a16="http://schemas.microsoft.com/office/drawing/2014/main" id="{4AFB1A62-52E8-4B27-B721-EC121AA891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2694"/>
          <a:stretch>
            <a:fillRect/>
          </a:stretch>
        </p:blipFill>
        <p:spPr bwMode="auto">
          <a:xfrm>
            <a:off x="1415480" y="1196976"/>
            <a:ext cx="4759325"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20">
            <a:extLst>
              <a:ext uri="{FF2B5EF4-FFF2-40B4-BE49-F238E27FC236}">
                <a16:creationId xmlns:a16="http://schemas.microsoft.com/office/drawing/2014/main" id="{39706248-3DE3-4C7F-A7A6-F6A952B3F80E}"/>
              </a:ext>
            </a:extLst>
          </p:cNvPr>
          <p:cNvGrpSpPr>
            <a:grpSpLocks/>
          </p:cNvGrpSpPr>
          <p:nvPr/>
        </p:nvGrpSpPr>
        <p:grpSpPr bwMode="auto">
          <a:xfrm>
            <a:off x="1440879" y="5373688"/>
            <a:ext cx="5110162" cy="798512"/>
            <a:chOff x="431" y="3158"/>
            <a:chExt cx="3219" cy="503"/>
          </a:xfrm>
        </p:grpSpPr>
        <p:sp>
          <p:nvSpPr>
            <p:cNvPr id="254983" name="Line 15">
              <a:extLst>
                <a:ext uri="{FF2B5EF4-FFF2-40B4-BE49-F238E27FC236}">
                  <a16:creationId xmlns:a16="http://schemas.microsoft.com/office/drawing/2014/main" id="{35672E62-F5E8-40A3-A927-F0B72275B816}"/>
                </a:ext>
              </a:extLst>
            </p:cNvPr>
            <p:cNvSpPr>
              <a:spLocks noChangeShapeType="1"/>
            </p:cNvSpPr>
            <p:nvPr/>
          </p:nvSpPr>
          <p:spPr bwMode="auto">
            <a:xfrm>
              <a:off x="657" y="3385"/>
              <a:ext cx="254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984" name="Text Box 5">
              <a:extLst>
                <a:ext uri="{FF2B5EF4-FFF2-40B4-BE49-F238E27FC236}">
                  <a16:creationId xmlns:a16="http://schemas.microsoft.com/office/drawing/2014/main" id="{5C7D7639-4126-480A-896A-2A07FDA5A271}"/>
                </a:ext>
              </a:extLst>
            </p:cNvPr>
            <p:cNvSpPr txBox="1">
              <a:spLocks noChangeArrowheads="1"/>
            </p:cNvSpPr>
            <p:nvPr/>
          </p:nvSpPr>
          <p:spPr bwMode="auto">
            <a:xfrm>
              <a:off x="1746" y="3295"/>
              <a:ext cx="545" cy="170"/>
            </a:xfrm>
            <a:prstGeom prst="rect">
              <a:avLst/>
            </a:prstGeom>
            <a:solidFill>
              <a:srgbClr val="CC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70000"/>
                </a:lnSpc>
                <a:spcBef>
                  <a:spcPct val="50000"/>
                </a:spcBef>
                <a:buClrTx/>
                <a:buFontTx/>
                <a:buNone/>
              </a:pPr>
              <a:r>
                <a:rPr lang="en-US" altLang="zh-CN" sz="1600">
                  <a:solidFill>
                    <a:schemeClr val="tx1"/>
                  </a:solidFill>
                  <a:latin typeface="Times New Roman" panose="02020603050405020304" pitchFamily="18" charset="0"/>
                  <a:ea typeface="黑体" panose="02010609060101010101" pitchFamily="49" charset="-122"/>
                </a:rPr>
                <a:t>A  U  C</a:t>
              </a:r>
            </a:p>
          </p:txBody>
        </p:sp>
        <p:sp>
          <p:nvSpPr>
            <p:cNvPr id="254985" name="Line 7">
              <a:extLst>
                <a:ext uri="{FF2B5EF4-FFF2-40B4-BE49-F238E27FC236}">
                  <a16:creationId xmlns:a16="http://schemas.microsoft.com/office/drawing/2014/main" id="{BF6B3B90-D38D-4211-A004-976B49FF6801}"/>
                </a:ext>
              </a:extLst>
            </p:cNvPr>
            <p:cNvSpPr>
              <a:spLocks noChangeShapeType="1"/>
            </p:cNvSpPr>
            <p:nvPr/>
          </p:nvSpPr>
          <p:spPr bwMode="auto">
            <a:xfrm>
              <a:off x="1821" y="3204"/>
              <a:ext cx="91" cy="0"/>
            </a:xfrm>
            <a:prstGeom prst="line">
              <a:avLst/>
            </a:prstGeom>
            <a:noFill/>
            <a:ln w="38100">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986" name="Line 8">
              <a:extLst>
                <a:ext uri="{FF2B5EF4-FFF2-40B4-BE49-F238E27FC236}">
                  <a16:creationId xmlns:a16="http://schemas.microsoft.com/office/drawing/2014/main" id="{6E9B5636-DA24-403C-9983-6DE5574C542F}"/>
                </a:ext>
              </a:extLst>
            </p:cNvPr>
            <p:cNvSpPr>
              <a:spLocks noChangeShapeType="1"/>
            </p:cNvSpPr>
            <p:nvPr/>
          </p:nvSpPr>
          <p:spPr bwMode="auto">
            <a:xfrm>
              <a:off x="1821" y="3249"/>
              <a:ext cx="91" cy="0"/>
            </a:xfrm>
            <a:prstGeom prst="line">
              <a:avLst/>
            </a:prstGeom>
            <a:noFill/>
            <a:ln w="38100">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987" name="Line 9">
              <a:extLst>
                <a:ext uri="{FF2B5EF4-FFF2-40B4-BE49-F238E27FC236}">
                  <a16:creationId xmlns:a16="http://schemas.microsoft.com/office/drawing/2014/main" id="{B0D9CCFA-F0E7-49D4-95CC-50D67D812B58}"/>
                </a:ext>
              </a:extLst>
            </p:cNvPr>
            <p:cNvSpPr>
              <a:spLocks noChangeShapeType="1"/>
            </p:cNvSpPr>
            <p:nvPr/>
          </p:nvSpPr>
          <p:spPr bwMode="auto">
            <a:xfrm>
              <a:off x="1973" y="3204"/>
              <a:ext cx="91" cy="0"/>
            </a:xfrm>
            <a:prstGeom prst="line">
              <a:avLst/>
            </a:prstGeom>
            <a:noFill/>
            <a:ln w="38100">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988" name="Line 10">
              <a:extLst>
                <a:ext uri="{FF2B5EF4-FFF2-40B4-BE49-F238E27FC236}">
                  <a16:creationId xmlns:a16="http://schemas.microsoft.com/office/drawing/2014/main" id="{FC7B633B-6D7B-4C9B-B178-FC4301B3B5F0}"/>
                </a:ext>
              </a:extLst>
            </p:cNvPr>
            <p:cNvSpPr>
              <a:spLocks noChangeShapeType="1"/>
            </p:cNvSpPr>
            <p:nvPr/>
          </p:nvSpPr>
          <p:spPr bwMode="auto">
            <a:xfrm>
              <a:off x="1973" y="3249"/>
              <a:ext cx="91" cy="0"/>
            </a:xfrm>
            <a:prstGeom prst="line">
              <a:avLst/>
            </a:prstGeom>
            <a:noFill/>
            <a:ln w="38100">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989" name="Line 12">
              <a:extLst>
                <a:ext uri="{FF2B5EF4-FFF2-40B4-BE49-F238E27FC236}">
                  <a16:creationId xmlns:a16="http://schemas.microsoft.com/office/drawing/2014/main" id="{73FAD6AA-9105-4C20-94D0-AD202A9BFD28}"/>
                </a:ext>
              </a:extLst>
            </p:cNvPr>
            <p:cNvSpPr>
              <a:spLocks noChangeShapeType="1"/>
            </p:cNvSpPr>
            <p:nvPr/>
          </p:nvSpPr>
          <p:spPr bwMode="auto">
            <a:xfrm>
              <a:off x="2125" y="3204"/>
              <a:ext cx="91" cy="0"/>
            </a:xfrm>
            <a:prstGeom prst="line">
              <a:avLst/>
            </a:prstGeom>
            <a:noFill/>
            <a:ln w="38100">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990" name="Line 13">
              <a:extLst>
                <a:ext uri="{FF2B5EF4-FFF2-40B4-BE49-F238E27FC236}">
                  <a16:creationId xmlns:a16="http://schemas.microsoft.com/office/drawing/2014/main" id="{7181257F-A0B8-4467-94ED-248FC659446F}"/>
                </a:ext>
              </a:extLst>
            </p:cNvPr>
            <p:cNvSpPr>
              <a:spLocks noChangeShapeType="1"/>
            </p:cNvSpPr>
            <p:nvPr/>
          </p:nvSpPr>
          <p:spPr bwMode="auto">
            <a:xfrm>
              <a:off x="2125" y="3249"/>
              <a:ext cx="91" cy="0"/>
            </a:xfrm>
            <a:prstGeom prst="line">
              <a:avLst/>
            </a:prstGeom>
            <a:noFill/>
            <a:ln w="38100">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991" name="Line 14">
              <a:extLst>
                <a:ext uri="{FF2B5EF4-FFF2-40B4-BE49-F238E27FC236}">
                  <a16:creationId xmlns:a16="http://schemas.microsoft.com/office/drawing/2014/main" id="{8120C528-FAC7-42B3-AAF0-F9EDA35EC463}"/>
                </a:ext>
              </a:extLst>
            </p:cNvPr>
            <p:cNvSpPr>
              <a:spLocks noChangeShapeType="1"/>
            </p:cNvSpPr>
            <p:nvPr/>
          </p:nvSpPr>
          <p:spPr bwMode="auto">
            <a:xfrm>
              <a:off x="2125" y="3158"/>
              <a:ext cx="91" cy="0"/>
            </a:xfrm>
            <a:prstGeom prst="line">
              <a:avLst/>
            </a:prstGeom>
            <a:noFill/>
            <a:ln w="38100">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992" name="Text Box 17">
              <a:extLst>
                <a:ext uri="{FF2B5EF4-FFF2-40B4-BE49-F238E27FC236}">
                  <a16:creationId xmlns:a16="http://schemas.microsoft.com/office/drawing/2014/main" id="{CC6F6FA2-4BEA-40A3-BE93-8FD0B7F91602}"/>
                </a:ext>
              </a:extLst>
            </p:cNvPr>
            <p:cNvSpPr txBox="1">
              <a:spLocks noChangeArrowheads="1"/>
            </p:cNvSpPr>
            <p:nvPr/>
          </p:nvSpPr>
          <p:spPr bwMode="auto">
            <a:xfrm>
              <a:off x="431" y="3249"/>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sz="2000">
                  <a:solidFill>
                    <a:schemeClr val="tx1"/>
                  </a:solidFill>
                  <a:latin typeface="Times New Roman" panose="02020603050405020304" pitchFamily="18" charset="0"/>
                  <a:ea typeface="黑体" panose="02010609060101010101" pitchFamily="49" charset="-122"/>
                </a:rPr>
                <a:t>5’</a:t>
              </a:r>
            </a:p>
          </p:txBody>
        </p:sp>
        <p:sp>
          <p:nvSpPr>
            <p:cNvPr id="254993" name="Text Box 18">
              <a:extLst>
                <a:ext uri="{FF2B5EF4-FFF2-40B4-BE49-F238E27FC236}">
                  <a16:creationId xmlns:a16="http://schemas.microsoft.com/office/drawing/2014/main" id="{B9F17A3D-C0EA-4224-82F1-33EF16166F97}"/>
                </a:ext>
              </a:extLst>
            </p:cNvPr>
            <p:cNvSpPr txBox="1">
              <a:spLocks noChangeArrowheads="1"/>
            </p:cNvSpPr>
            <p:nvPr/>
          </p:nvSpPr>
          <p:spPr bwMode="auto">
            <a:xfrm>
              <a:off x="3198" y="3249"/>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sz="2000">
                  <a:solidFill>
                    <a:schemeClr val="tx1"/>
                  </a:solidFill>
                  <a:latin typeface="Times New Roman" panose="02020603050405020304" pitchFamily="18" charset="0"/>
                  <a:ea typeface="黑体" panose="02010609060101010101" pitchFamily="49" charset="-122"/>
                </a:rPr>
                <a:t>3’</a:t>
              </a:r>
            </a:p>
          </p:txBody>
        </p:sp>
        <p:sp>
          <p:nvSpPr>
            <p:cNvPr id="254994" name="Text Box 19">
              <a:extLst>
                <a:ext uri="{FF2B5EF4-FFF2-40B4-BE49-F238E27FC236}">
                  <a16:creationId xmlns:a16="http://schemas.microsoft.com/office/drawing/2014/main" id="{BABC6432-A07D-4864-A1F0-927DE511F9F5}"/>
                </a:ext>
              </a:extLst>
            </p:cNvPr>
            <p:cNvSpPr txBox="1">
              <a:spLocks noChangeArrowheads="1"/>
            </p:cNvSpPr>
            <p:nvPr/>
          </p:nvSpPr>
          <p:spPr bwMode="auto">
            <a:xfrm>
              <a:off x="3061" y="3430"/>
              <a:ext cx="5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sz="1800">
                  <a:solidFill>
                    <a:schemeClr val="tx1"/>
                  </a:solidFill>
                  <a:latin typeface="Times New Roman" panose="02020603050405020304" pitchFamily="18" charset="0"/>
                  <a:ea typeface="黑体" panose="02010609060101010101" pitchFamily="49" charset="-122"/>
                </a:rPr>
                <a:t>mRNA</a:t>
              </a:r>
            </a:p>
          </p:txBody>
        </p:sp>
      </p:grpSp>
      <p:sp>
        <p:nvSpPr>
          <p:cNvPr id="254980" name="Rectangle 21">
            <a:extLst>
              <a:ext uri="{FF2B5EF4-FFF2-40B4-BE49-F238E27FC236}">
                <a16:creationId xmlns:a16="http://schemas.microsoft.com/office/drawing/2014/main" id="{FEF523F6-2A6A-444C-90E6-68382418419B}"/>
              </a:ext>
            </a:extLst>
          </p:cNvPr>
          <p:cNvSpPr>
            <a:spLocks noChangeArrowheads="1"/>
          </p:cNvSpPr>
          <p:nvPr/>
        </p:nvSpPr>
        <p:spPr bwMode="auto">
          <a:xfrm>
            <a:off x="3962401" y="109538"/>
            <a:ext cx="4354513"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b="0">
                <a:solidFill>
                  <a:srgbClr val="0000CC"/>
                </a:solidFill>
                <a:latin typeface="Times New Roman" panose="02020603050405020304" pitchFamily="18" charset="0"/>
                <a:ea typeface="黑体" panose="02010609060101010101" pitchFamily="49" charset="-122"/>
              </a:rPr>
              <a:t>反密码环与反密码子</a:t>
            </a:r>
          </a:p>
        </p:txBody>
      </p:sp>
      <p:sp>
        <p:nvSpPr>
          <p:cNvPr id="615446" name="Rectangle 22">
            <a:extLst>
              <a:ext uri="{FF2B5EF4-FFF2-40B4-BE49-F238E27FC236}">
                <a16:creationId xmlns:a16="http://schemas.microsoft.com/office/drawing/2014/main" id="{55802FF5-EAD0-482B-AB21-41463CEFA32C}"/>
              </a:ext>
            </a:extLst>
          </p:cNvPr>
          <p:cNvSpPr>
            <a:spLocks noChangeArrowheads="1"/>
          </p:cNvSpPr>
          <p:nvPr/>
        </p:nvSpPr>
        <p:spPr bwMode="auto">
          <a:xfrm>
            <a:off x="6709790" y="1537629"/>
            <a:ext cx="4464496" cy="213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60000"/>
              </a:lnSpc>
              <a:spcBef>
                <a:spcPct val="0"/>
              </a:spcBef>
              <a:buClrTx/>
              <a:buFontTx/>
              <a:buNone/>
            </a:pPr>
            <a:r>
              <a:rPr lang="en-US" altLang="zh-CN" b="0" dirty="0">
                <a:solidFill>
                  <a:schemeClr val="tx1"/>
                </a:solidFill>
                <a:latin typeface="Times New Roman" panose="02020603050405020304" pitchFamily="18" charset="0"/>
                <a:ea typeface="黑体" panose="02010609060101010101" pitchFamily="49" charset="-122"/>
              </a:rPr>
              <a:t>tRNA</a:t>
            </a:r>
            <a:r>
              <a:rPr lang="zh-CN" altLang="en-US" b="0" dirty="0">
                <a:solidFill>
                  <a:schemeClr val="tx1"/>
                </a:solidFill>
                <a:latin typeface="Times New Roman" panose="02020603050405020304" pitchFamily="18" charset="0"/>
                <a:ea typeface="黑体" panose="02010609060101010101" pitchFamily="49" charset="-122"/>
              </a:rPr>
              <a:t>上的反密码子依照</a:t>
            </a:r>
            <a:r>
              <a:rPr lang="zh-CN" altLang="en-US" b="0" dirty="0">
                <a:solidFill>
                  <a:srgbClr val="FF0000"/>
                </a:solidFill>
                <a:latin typeface="Times New Roman" panose="02020603050405020304" pitchFamily="18" charset="0"/>
                <a:ea typeface="黑体" panose="02010609060101010101" pitchFamily="49" charset="-122"/>
              </a:rPr>
              <a:t>碱基互补的原则</a:t>
            </a:r>
            <a:r>
              <a:rPr lang="zh-CN" altLang="en-US" b="0" dirty="0">
                <a:solidFill>
                  <a:schemeClr val="tx1"/>
                </a:solidFill>
                <a:latin typeface="Times New Roman" panose="02020603050405020304" pitchFamily="18" charset="0"/>
                <a:ea typeface="黑体" panose="02010609060101010101" pitchFamily="49" charset="-122"/>
              </a:rPr>
              <a:t>识别</a:t>
            </a:r>
            <a:r>
              <a:rPr lang="en-US" altLang="zh-CN" b="0" dirty="0">
                <a:solidFill>
                  <a:schemeClr val="tx1"/>
                </a:solidFill>
                <a:latin typeface="Times New Roman" panose="02020603050405020304" pitchFamily="18" charset="0"/>
                <a:ea typeface="黑体" panose="02010609060101010101" pitchFamily="49" charset="-122"/>
              </a:rPr>
              <a:t>mRNA</a:t>
            </a:r>
            <a:r>
              <a:rPr lang="zh-CN" altLang="en-US" b="0" dirty="0">
                <a:solidFill>
                  <a:schemeClr val="tx1"/>
                </a:solidFill>
                <a:latin typeface="Times New Roman" panose="02020603050405020304" pitchFamily="18" charset="0"/>
                <a:ea typeface="黑体" panose="02010609060101010101" pitchFamily="49" charset="-122"/>
              </a:rPr>
              <a:t>上的密码子。</a:t>
            </a:r>
          </a:p>
        </p:txBody>
      </p:sp>
      <p:sp>
        <p:nvSpPr>
          <p:cNvPr id="254982" name="灯片编号占位符 2">
            <a:extLst>
              <a:ext uri="{FF2B5EF4-FFF2-40B4-BE49-F238E27FC236}">
                <a16:creationId xmlns:a16="http://schemas.microsoft.com/office/drawing/2014/main" id="{2C4C08E8-6B54-406F-8A09-4B93ED3BD67F}"/>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12094D30-7582-493E-BAE2-15D5BB99280B}" type="slidenum">
              <a:rPr lang="zh-CN" altLang="en-US" sz="1200" b="0">
                <a:solidFill>
                  <a:srgbClr val="898F89"/>
                </a:solidFill>
              </a:rPr>
              <a:pPr>
                <a:spcBef>
                  <a:spcPct val="0"/>
                </a:spcBef>
                <a:buClrTx/>
                <a:buFontTx/>
                <a:buNone/>
              </a:pPr>
              <a:t>96</a:t>
            </a:fld>
            <a:endParaRPr lang="zh-CN" altLang="en-US" sz="1200" b="0">
              <a:solidFill>
                <a:srgbClr val="898F89"/>
              </a:solidFill>
            </a:endParaRPr>
          </a:p>
        </p:txBody>
      </p:sp>
      <p:sp>
        <p:nvSpPr>
          <p:cNvPr id="4" name="文本框 3">
            <a:extLst>
              <a:ext uri="{FF2B5EF4-FFF2-40B4-BE49-F238E27FC236}">
                <a16:creationId xmlns:a16="http://schemas.microsoft.com/office/drawing/2014/main" id="{67C33F2F-008B-3B74-BEA0-AEED6498642D}"/>
              </a:ext>
            </a:extLst>
          </p:cNvPr>
          <p:cNvSpPr txBox="1"/>
          <p:nvPr/>
        </p:nvSpPr>
        <p:spPr>
          <a:xfrm>
            <a:off x="6801210" y="4221134"/>
            <a:ext cx="4759325" cy="1594026"/>
          </a:xfrm>
          <a:prstGeom prst="rect">
            <a:avLst/>
          </a:prstGeom>
          <a:noFill/>
        </p:spPr>
        <p:txBody>
          <a:bodyPr wrap="square">
            <a:spAutoFit/>
          </a:bodyPr>
          <a:lstStyle/>
          <a:p>
            <a:pPr eaLnBrk="1" hangingPunct="1">
              <a:lnSpc>
                <a:spcPct val="120000"/>
              </a:lnSpc>
            </a:pPr>
            <a:r>
              <a:rPr lang="zh-CN" altLang="en-US" sz="2800" dirty="0">
                <a:solidFill>
                  <a:srgbClr val="080808"/>
                </a:solidFill>
                <a:latin typeface="微软雅黑" panose="020B0503020204020204" pitchFamily="34" charset="-122"/>
                <a:ea typeface="微软雅黑" panose="020B0503020204020204" pitchFamily="34" charset="-122"/>
              </a:rPr>
              <a:t>无论反密码子还是密码子，书写及读取始终是左边</a:t>
            </a:r>
            <a:r>
              <a:rPr lang="en-US" altLang="zh-CN" sz="2800" dirty="0">
                <a:solidFill>
                  <a:srgbClr val="080808"/>
                </a:solidFill>
                <a:latin typeface="微软雅黑" panose="020B0503020204020204" pitchFamily="34" charset="-122"/>
                <a:ea typeface="微软雅黑" panose="020B0503020204020204" pitchFamily="34" charset="-122"/>
              </a:rPr>
              <a:t>5’</a:t>
            </a:r>
            <a:r>
              <a:rPr lang="zh-CN" altLang="en-US" sz="2800" dirty="0">
                <a:solidFill>
                  <a:srgbClr val="080808"/>
                </a:solidFill>
                <a:latin typeface="微软雅黑" panose="020B0503020204020204" pitchFamily="34" charset="-122"/>
                <a:ea typeface="微软雅黑" panose="020B0503020204020204" pitchFamily="34" charset="-122"/>
              </a:rPr>
              <a:t>端，右边</a:t>
            </a:r>
            <a:r>
              <a:rPr lang="en-US" altLang="zh-CN" sz="2800" dirty="0">
                <a:solidFill>
                  <a:srgbClr val="080808"/>
                </a:solidFill>
                <a:latin typeface="微软雅黑" panose="020B0503020204020204" pitchFamily="34" charset="-122"/>
                <a:ea typeface="微软雅黑" panose="020B0503020204020204" pitchFamily="34" charset="-122"/>
              </a:rPr>
              <a:t>3’</a:t>
            </a:r>
            <a:r>
              <a:rPr lang="zh-CN" altLang="en-US" sz="2800" dirty="0">
                <a:solidFill>
                  <a:srgbClr val="080808"/>
                </a:solidFill>
                <a:latin typeface="微软雅黑" panose="020B0503020204020204" pitchFamily="34" charset="-122"/>
                <a:ea typeface="微软雅黑" panose="020B0503020204020204" pitchFamily="34" charset="-122"/>
              </a:rPr>
              <a:t>端</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15446"/>
                                        </p:tgtEl>
                                        <p:attrNameLst>
                                          <p:attrName>style.visibility</p:attrName>
                                        </p:attrNameLst>
                                      </p:cBhvr>
                                      <p:to>
                                        <p:strVal val="visible"/>
                                      </p:to>
                                    </p:set>
                                    <p:animEffect transition="in" filter="checkerboard(across)">
                                      <p:cBhvr>
                                        <p:cTn id="7" dur="500"/>
                                        <p:tgtEl>
                                          <p:spTgt spid="6154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46" grpId="0"/>
    </p:bld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41733" name="Rectangle 5">
            <a:extLst>
              <a:ext uri="{FF2B5EF4-FFF2-40B4-BE49-F238E27FC236}">
                <a16:creationId xmlns:a16="http://schemas.microsoft.com/office/drawing/2014/main" id="{0DB29285-F6A8-421C-A1F5-AABD1395E1E1}"/>
              </a:ext>
            </a:extLst>
          </p:cNvPr>
          <p:cNvSpPr>
            <a:spLocks noChangeArrowheads="1"/>
          </p:cNvSpPr>
          <p:nvPr/>
        </p:nvSpPr>
        <p:spPr bwMode="auto">
          <a:xfrm>
            <a:off x="5735639" y="3716339"/>
            <a:ext cx="2160587" cy="5048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257027" name="Text Box 2">
            <a:extLst>
              <a:ext uri="{FF2B5EF4-FFF2-40B4-BE49-F238E27FC236}">
                <a16:creationId xmlns:a16="http://schemas.microsoft.com/office/drawing/2014/main" id="{EAAC7007-53C2-4253-9A2E-46BBD09558DA}"/>
              </a:ext>
            </a:extLst>
          </p:cNvPr>
          <p:cNvSpPr txBox="1">
            <a:spLocks noChangeArrowheads="1"/>
          </p:cNvSpPr>
          <p:nvPr/>
        </p:nvSpPr>
        <p:spPr bwMode="auto">
          <a:xfrm>
            <a:off x="2640013" y="1989138"/>
            <a:ext cx="6629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zh-CN" altLang="en-US">
                <a:solidFill>
                  <a:schemeClr val="tx1"/>
                </a:solidFill>
                <a:latin typeface="Times New Roman" panose="02020603050405020304" pitchFamily="18" charset="0"/>
                <a:ea typeface="黑体" panose="02010609060101010101" pitchFamily="49" charset="-122"/>
              </a:rPr>
              <a:t>与密码子</a:t>
            </a:r>
            <a:r>
              <a:rPr lang="en-US" altLang="zh-CN">
                <a:solidFill>
                  <a:schemeClr val="tx1"/>
                </a:solidFill>
                <a:latin typeface="Times New Roman" panose="02020603050405020304" pitchFamily="18" charset="0"/>
                <a:ea typeface="黑体" panose="02010609060101010101" pitchFamily="49" charset="-122"/>
              </a:rPr>
              <a:t>5’-AUU-3’</a:t>
            </a:r>
            <a:r>
              <a:rPr lang="zh-CN" altLang="en-US">
                <a:solidFill>
                  <a:schemeClr val="tx1"/>
                </a:solidFill>
                <a:latin typeface="Times New Roman" panose="02020603050405020304" pitchFamily="18" charset="0"/>
                <a:ea typeface="黑体" panose="02010609060101010101" pitchFamily="49" charset="-122"/>
              </a:rPr>
              <a:t>相识别的反密码子为</a:t>
            </a:r>
            <a:r>
              <a:rPr lang="en-US" altLang="zh-CN">
                <a:solidFill>
                  <a:schemeClr val="tx1"/>
                </a:solidFill>
                <a:latin typeface="Times New Roman" panose="02020603050405020304" pitchFamily="18" charset="0"/>
                <a:ea typeface="黑体" panose="02010609060101010101" pitchFamily="49" charset="-122"/>
              </a:rPr>
              <a:t>:</a:t>
            </a:r>
          </a:p>
        </p:txBody>
      </p:sp>
      <p:sp>
        <p:nvSpPr>
          <p:cNvPr id="257028" name="Text Box 3">
            <a:extLst>
              <a:ext uri="{FF2B5EF4-FFF2-40B4-BE49-F238E27FC236}">
                <a16:creationId xmlns:a16="http://schemas.microsoft.com/office/drawing/2014/main" id="{FDB084DB-5451-44D7-B261-ACC0332C81F7}"/>
              </a:ext>
            </a:extLst>
          </p:cNvPr>
          <p:cNvSpPr txBox="1">
            <a:spLocks noChangeArrowheads="1"/>
          </p:cNvSpPr>
          <p:nvPr/>
        </p:nvSpPr>
        <p:spPr bwMode="auto">
          <a:xfrm>
            <a:off x="3143250" y="3141663"/>
            <a:ext cx="5638800"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AutoNum type="alphaUcPeriod"/>
            </a:pPr>
            <a:r>
              <a:rPr lang="en-US" altLang="zh-CN" dirty="0">
                <a:solidFill>
                  <a:srgbClr val="000000"/>
                </a:solidFill>
                <a:latin typeface="Times New Roman" panose="02020603050405020304" pitchFamily="18" charset="0"/>
                <a:ea typeface="黑体" panose="02010609060101010101" pitchFamily="49" charset="-122"/>
              </a:rPr>
              <a:t>5’-UAU-3’      B. 5’-UAA-3’</a:t>
            </a:r>
          </a:p>
          <a:p>
            <a:pPr eaLnBrk="1" hangingPunct="1">
              <a:spcBef>
                <a:spcPct val="50000"/>
              </a:spcBef>
              <a:buClrTx/>
              <a:buFontTx/>
              <a:buNone/>
            </a:pPr>
            <a:r>
              <a:rPr lang="en-US" altLang="zh-CN" dirty="0">
                <a:solidFill>
                  <a:srgbClr val="000000"/>
                </a:solidFill>
                <a:latin typeface="Times New Roman" panose="02020603050405020304" pitchFamily="18" charset="0"/>
                <a:ea typeface="黑体" panose="02010609060101010101" pitchFamily="49" charset="-122"/>
              </a:rPr>
              <a:t>C. 3’-AAU-5’      D. 5’-AAU-3’ </a:t>
            </a:r>
          </a:p>
          <a:p>
            <a:pPr eaLnBrk="1" hangingPunct="1">
              <a:spcBef>
                <a:spcPct val="50000"/>
              </a:spcBef>
              <a:buClrTx/>
              <a:buFontTx/>
              <a:buNone/>
            </a:pPr>
            <a:r>
              <a:rPr lang="en-US" altLang="zh-CN" dirty="0">
                <a:solidFill>
                  <a:srgbClr val="000000"/>
                </a:solidFill>
                <a:latin typeface="Times New Roman" panose="02020603050405020304" pitchFamily="18" charset="0"/>
                <a:ea typeface="黑体" panose="02010609060101010101" pitchFamily="49" charset="-122"/>
              </a:rPr>
              <a:t>E. 3’-TAA-5’</a:t>
            </a:r>
            <a:r>
              <a:rPr lang="en-US" altLang="zh-CN" dirty="0">
                <a:solidFill>
                  <a:schemeClr val="tx1"/>
                </a:solidFill>
                <a:latin typeface="Times New Roman" panose="02020603050405020304" pitchFamily="18" charset="0"/>
                <a:ea typeface="黑体" panose="02010609060101010101" pitchFamily="49" charset="-122"/>
              </a:rPr>
              <a:t> </a:t>
            </a:r>
          </a:p>
        </p:txBody>
      </p:sp>
      <p:sp>
        <p:nvSpPr>
          <p:cNvPr id="257029" name="灯片编号占位符 1">
            <a:extLst>
              <a:ext uri="{FF2B5EF4-FFF2-40B4-BE49-F238E27FC236}">
                <a16:creationId xmlns:a16="http://schemas.microsoft.com/office/drawing/2014/main" id="{151BB86A-06C2-4EC1-96F3-C496E14DCEC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20AEC2B5-D051-46FD-8DE1-4E31DDBD57D2}" type="slidenum">
              <a:rPr lang="zh-CN" altLang="en-US" sz="1200" b="0">
                <a:solidFill>
                  <a:srgbClr val="898F89"/>
                </a:solidFill>
              </a:rPr>
              <a:pPr>
                <a:spcBef>
                  <a:spcPct val="0"/>
                </a:spcBef>
                <a:buClrTx/>
                <a:buFontTx/>
                <a:buNone/>
              </a:pPr>
              <a:t>97</a:t>
            </a:fld>
            <a:endParaRPr lang="zh-CN" altLang="en-US" sz="1200" b="0">
              <a:solidFill>
                <a:srgbClr val="898F8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841733"/>
                                        </p:tgtEl>
                                        <p:attrNameLst>
                                          <p:attrName>style.visibility</p:attrName>
                                        </p:attrNameLst>
                                      </p:cBhvr>
                                      <p:to>
                                        <p:strVal val="visible"/>
                                      </p:to>
                                    </p:set>
                                    <p:animEffect transition="in" filter="strips(downLeft)">
                                      <p:cBhvr>
                                        <p:cTn id="7" dur="500"/>
                                        <p:tgtEl>
                                          <p:spTgt spid="841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1733"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1122" name="Picture 1" descr="tRNA三级结构1">
            <a:extLst>
              <a:ext uri="{FF2B5EF4-FFF2-40B4-BE49-F238E27FC236}">
                <a16:creationId xmlns:a16="http://schemas.microsoft.com/office/drawing/2014/main" id="{BF2BF83F-C7C7-4B17-AC04-4D7B3257B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4" y="1773239"/>
            <a:ext cx="3576637"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1123" name="Picture 2" descr="tRNA三级结构2">
            <a:extLst>
              <a:ext uri="{FF2B5EF4-FFF2-40B4-BE49-F238E27FC236}">
                <a16:creationId xmlns:a16="http://schemas.microsoft.com/office/drawing/2014/main" id="{FA3A9709-D721-4C28-AD48-5673D2B211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3339" y="1773239"/>
            <a:ext cx="3697287"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1124" name="Rectangle 3">
            <a:extLst>
              <a:ext uri="{FF2B5EF4-FFF2-40B4-BE49-F238E27FC236}">
                <a16:creationId xmlns:a16="http://schemas.microsoft.com/office/drawing/2014/main" id="{31B4E245-2085-43F9-A031-51380211FD5A}"/>
              </a:ext>
            </a:extLst>
          </p:cNvPr>
          <p:cNvSpPr>
            <a:spLocks noChangeArrowheads="1"/>
          </p:cNvSpPr>
          <p:nvPr/>
        </p:nvSpPr>
        <p:spPr bwMode="auto">
          <a:xfrm>
            <a:off x="2783905" y="616742"/>
            <a:ext cx="3600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kumimoji="0" lang="en-US" altLang="zh-CN" sz="3200" dirty="0">
                <a:solidFill>
                  <a:srgbClr val="660066"/>
                </a:solidFill>
                <a:latin typeface="Times New Roman" panose="02020603050405020304" pitchFamily="18" charset="0"/>
                <a:ea typeface="黑体" panose="02010609060101010101" pitchFamily="49" charset="-122"/>
              </a:rPr>
              <a:t>tRNA</a:t>
            </a:r>
            <a:r>
              <a:rPr kumimoji="0" lang="zh-CN" altLang="en-US" sz="3200" dirty="0">
                <a:solidFill>
                  <a:srgbClr val="660066"/>
                </a:solidFill>
                <a:latin typeface="Times New Roman" panose="02020603050405020304" pitchFamily="18" charset="0"/>
                <a:ea typeface="黑体" panose="02010609060101010101" pitchFamily="49" charset="-122"/>
              </a:rPr>
              <a:t>的三级结构</a:t>
            </a:r>
            <a:endParaRPr lang="zh-CN" altLang="en-US" sz="3200" dirty="0">
              <a:solidFill>
                <a:srgbClr val="CC0099"/>
              </a:solidFill>
              <a:latin typeface="Times New Roman" panose="02020603050405020304" pitchFamily="18" charset="0"/>
              <a:ea typeface="黑体" panose="02010609060101010101" pitchFamily="49" charset="-122"/>
            </a:endParaRPr>
          </a:p>
        </p:txBody>
      </p:sp>
      <p:sp>
        <p:nvSpPr>
          <p:cNvPr id="735234" name="Rectangle 2">
            <a:extLst>
              <a:ext uri="{FF2B5EF4-FFF2-40B4-BE49-F238E27FC236}">
                <a16:creationId xmlns:a16="http://schemas.microsoft.com/office/drawing/2014/main" id="{A318C5BD-87CD-4441-ACBF-C53BBCAEAD69}"/>
              </a:ext>
            </a:extLst>
          </p:cNvPr>
          <p:cNvSpPr>
            <a:spLocks noChangeArrowheads="1"/>
          </p:cNvSpPr>
          <p:nvPr/>
        </p:nvSpPr>
        <p:spPr bwMode="auto">
          <a:xfrm>
            <a:off x="6023992" y="689767"/>
            <a:ext cx="21859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3200" dirty="0">
                <a:solidFill>
                  <a:srgbClr val="FF0000"/>
                </a:solidFill>
                <a:latin typeface="Times New Roman" panose="02020603050405020304" pitchFamily="18" charset="0"/>
                <a:ea typeface="黑体" panose="02010609060101010101" pitchFamily="49" charset="-122"/>
              </a:rPr>
              <a:t>—— </a:t>
            </a:r>
            <a:r>
              <a:rPr lang="zh-CN" altLang="en-US" sz="3200" dirty="0">
                <a:solidFill>
                  <a:srgbClr val="FF0000"/>
                </a:solidFill>
                <a:latin typeface="Times New Roman" panose="02020603050405020304" pitchFamily="18" charset="0"/>
                <a:ea typeface="黑体" panose="02010609060101010101" pitchFamily="49" charset="-122"/>
              </a:rPr>
              <a:t>倒</a:t>
            </a:r>
            <a:r>
              <a:rPr lang="en-US" altLang="zh-CN" sz="3200" dirty="0">
                <a:solidFill>
                  <a:srgbClr val="FF0000"/>
                </a:solidFill>
                <a:latin typeface="Times New Roman" panose="02020603050405020304" pitchFamily="18" charset="0"/>
                <a:ea typeface="黑体" panose="02010609060101010101" pitchFamily="49" charset="-122"/>
              </a:rPr>
              <a:t>L</a:t>
            </a:r>
            <a:r>
              <a:rPr lang="zh-CN" altLang="en-US" sz="3200" dirty="0">
                <a:solidFill>
                  <a:srgbClr val="FF0000"/>
                </a:solidFill>
                <a:latin typeface="Times New Roman" panose="02020603050405020304" pitchFamily="18" charset="0"/>
                <a:ea typeface="黑体" panose="02010609060101010101" pitchFamily="49" charset="-122"/>
              </a:rPr>
              <a:t>形</a:t>
            </a:r>
          </a:p>
        </p:txBody>
      </p:sp>
      <p:sp>
        <p:nvSpPr>
          <p:cNvPr id="261126" name="灯片编号占位符 1">
            <a:extLst>
              <a:ext uri="{FF2B5EF4-FFF2-40B4-BE49-F238E27FC236}">
                <a16:creationId xmlns:a16="http://schemas.microsoft.com/office/drawing/2014/main" id="{DBAE0B54-E39B-4F87-BEDE-F9EE1C13B221}"/>
              </a:ext>
            </a:extLst>
          </p:cNvPr>
          <p:cNvSpPr>
            <a:spLocks noGrp="1"/>
          </p:cNvSpPr>
          <p:nvPr>
            <p:ph type="sldNum" sz="quarter" idx="4"/>
          </p:nvPr>
        </p:nvSpPr>
        <p:spPr bwMode="auto">
          <a:xfrm>
            <a:off x="9974264" y="6492876"/>
            <a:ext cx="693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l" eaLnBrk="0" hangingPunct="0">
              <a:spcBef>
                <a:spcPct val="0"/>
              </a:spcBef>
              <a:buClrTx/>
              <a:buFontTx/>
              <a:buNone/>
            </a:pPr>
            <a:fld id="{B8B89F08-AD31-4FFA-8152-75018B058731}" type="slidenum">
              <a:rPr lang="zh-CN" altLang="en-US" sz="1200" b="0">
                <a:solidFill>
                  <a:srgbClr val="898F89"/>
                </a:solidFill>
              </a:rPr>
              <a:pPr algn="l" eaLnBrk="0" hangingPunct="0">
                <a:spcBef>
                  <a:spcPct val="0"/>
                </a:spcBef>
                <a:buClrTx/>
                <a:buFontTx/>
                <a:buNone/>
              </a:pPr>
              <a:t>98</a:t>
            </a:fld>
            <a:endParaRPr lang="zh-CN" altLang="en-US" sz="1200" b="0">
              <a:solidFill>
                <a:srgbClr val="898F8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735234"/>
                                        </p:tgtEl>
                                        <p:attrNameLst>
                                          <p:attrName>style.visibility</p:attrName>
                                        </p:attrNameLst>
                                      </p:cBhvr>
                                      <p:to>
                                        <p:strVal val="visible"/>
                                      </p:to>
                                    </p:set>
                                    <p:anim calcmode="lin" valueType="num">
                                      <p:cBhvr>
                                        <p:cTn id="7" dur="1000" fill="hold"/>
                                        <p:tgtEl>
                                          <p:spTgt spid="735234"/>
                                        </p:tgtEl>
                                        <p:attrNameLst>
                                          <p:attrName>ppt_w</p:attrName>
                                        </p:attrNameLst>
                                      </p:cBhvr>
                                      <p:tavLst>
                                        <p:tav tm="0">
                                          <p:val>
                                            <p:fltVal val="0"/>
                                          </p:val>
                                        </p:tav>
                                        <p:tav tm="100000">
                                          <p:val>
                                            <p:strVal val="#ppt_w"/>
                                          </p:val>
                                        </p:tav>
                                      </p:tavLst>
                                    </p:anim>
                                    <p:anim calcmode="lin" valueType="num">
                                      <p:cBhvr>
                                        <p:cTn id="8" dur="1000" fill="hold"/>
                                        <p:tgtEl>
                                          <p:spTgt spid="735234"/>
                                        </p:tgtEl>
                                        <p:attrNameLst>
                                          <p:attrName>ppt_h</p:attrName>
                                        </p:attrNameLst>
                                      </p:cBhvr>
                                      <p:tavLst>
                                        <p:tav tm="0">
                                          <p:val>
                                            <p:fltVal val="0"/>
                                          </p:val>
                                        </p:tav>
                                        <p:tav tm="100000">
                                          <p:val>
                                            <p:strVal val="#ppt_h"/>
                                          </p:val>
                                        </p:tav>
                                      </p:tavLst>
                                    </p:anim>
                                    <p:anim calcmode="lin" valueType="num">
                                      <p:cBhvr>
                                        <p:cTn id="9" dur="1000" fill="hold"/>
                                        <p:tgtEl>
                                          <p:spTgt spid="73523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3523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5234"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218" name="Picture 2" descr="a1">
            <a:extLst>
              <a:ext uri="{FF2B5EF4-FFF2-40B4-BE49-F238E27FC236}">
                <a16:creationId xmlns:a16="http://schemas.microsoft.com/office/drawing/2014/main" id="{7F2042AE-BD8F-4CF7-835A-7E876AE28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6080" y="1400782"/>
            <a:ext cx="4216400"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5219" name="Text Box 3">
            <a:extLst>
              <a:ext uri="{FF2B5EF4-FFF2-40B4-BE49-F238E27FC236}">
                <a16:creationId xmlns:a16="http://schemas.microsoft.com/office/drawing/2014/main" id="{B01A955F-5FCD-4FAC-AF7E-B298118B93D6}"/>
              </a:ext>
            </a:extLst>
          </p:cNvPr>
          <p:cNvSpPr txBox="1">
            <a:spLocks noChangeArrowheads="1"/>
          </p:cNvSpPr>
          <p:nvPr/>
        </p:nvSpPr>
        <p:spPr bwMode="auto">
          <a:xfrm>
            <a:off x="1992314" y="1403351"/>
            <a:ext cx="4911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dirty="0">
                <a:solidFill>
                  <a:srgbClr val="660066"/>
                </a:solidFill>
                <a:latin typeface="Times New Roman" panose="02020603050405020304" pitchFamily="18" charset="0"/>
                <a:ea typeface="黑体" panose="02010609060101010101" pitchFamily="49" charset="-122"/>
              </a:rPr>
              <a:t>* </a:t>
            </a:r>
            <a:r>
              <a:rPr lang="en-US" altLang="zh-CN" dirty="0">
                <a:solidFill>
                  <a:srgbClr val="FF0000"/>
                </a:solidFill>
                <a:latin typeface="Times New Roman" panose="02020603050405020304" pitchFamily="18" charset="0"/>
                <a:ea typeface="黑体" panose="02010609060101010101" pitchFamily="49" charset="-122"/>
              </a:rPr>
              <a:t>rRNA</a:t>
            </a:r>
            <a:r>
              <a:rPr lang="en-US" altLang="zh-CN" sz="2400" dirty="0">
                <a:solidFill>
                  <a:srgbClr val="000099"/>
                </a:solidFill>
                <a:latin typeface="Times New Roman" panose="02020603050405020304" pitchFamily="18" charset="0"/>
                <a:ea typeface="宋体" panose="02010600030101010101" pitchFamily="2" charset="-122"/>
              </a:rPr>
              <a:t>(ribosomal RNA</a:t>
            </a:r>
            <a:r>
              <a:rPr lang="zh-CN" altLang="en-US" sz="2400" dirty="0">
                <a:solidFill>
                  <a:srgbClr val="000099"/>
                </a:solidFill>
                <a:latin typeface="Times New Roman" panose="02020603050405020304" pitchFamily="18" charset="0"/>
                <a:ea typeface="宋体" panose="02010600030101010101" pitchFamily="2" charset="-122"/>
              </a:rPr>
              <a:t>）</a:t>
            </a:r>
            <a:endParaRPr lang="en-US" altLang="zh-CN" sz="2400" dirty="0">
              <a:solidFill>
                <a:srgbClr val="000099"/>
              </a:solidFill>
              <a:latin typeface="Times New Roman" panose="02020603050405020304" pitchFamily="18" charset="0"/>
              <a:ea typeface="宋体" panose="02010600030101010101" pitchFamily="2" charset="-122"/>
            </a:endParaRPr>
          </a:p>
        </p:txBody>
      </p:sp>
      <p:sp>
        <p:nvSpPr>
          <p:cNvPr id="265220" name="Text Box 4">
            <a:extLst>
              <a:ext uri="{FF2B5EF4-FFF2-40B4-BE49-F238E27FC236}">
                <a16:creationId xmlns:a16="http://schemas.microsoft.com/office/drawing/2014/main" id="{73F57AA3-A794-4573-9372-9EB36D8B9318}"/>
              </a:ext>
            </a:extLst>
          </p:cNvPr>
          <p:cNvSpPr txBox="1">
            <a:spLocks noChangeArrowheads="1"/>
          </p:cNvSpPr>
          <p:nvPr/>
        </p:nvSpPr>
        <p:spPr bwMode="auto">
          <a:xfrm>
            <a:off x="1774826" y="220663"/>
            <a:ext cx="8785225"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15000"/>
              </a:lnSpc>
              <a:spcBef>
                <a:spcPct val="0"/>
              </a:spcBef>
              <a:buClrTx/>
              <a:buFontTx/>
              <a:buNone/>
            </a:pPr>
            <a:r>
              <a:rPr lang="zh-CN" altLang="en-US" b="0">
                <a:solidFill>
                  <a:srgbClr val="0000CC"/>
                </a:solidFill>
                <a:latin typeface="Times New Roman" panose="02020603050405020304" pitchFamily="18" charset="0"/>
                <a:ea typeface="黑体" panose="02010609060101010101" pitchFamily="49" charset="-122"/>
              </a:rPr>
              <a:t>三、以</a:t>
            </a:r>
            <a:r>
              <a:rPr lang="en-US" altLang="zh-CN" b="0">
                <a:solidFill>
                  <a:srgbClr val="0000CC"/>
                </a:solidFill>
                <a:latin typeface="Times New Roman" panose="02020603050405020304" pitchFamily="18" charset="0"/>
                <a:ea typeface="黑体" panose="02010609060101010101" pitchFamily="49" charset="-122"/>
              </a:rPr>
              <a:t>rRNA</a:t>
            </a:r>
            <a:r>
              <a:rPr lang="zh-CN" altLang="en-US" b="0">
                <a:solidFill>
                  <a:srgbClr val="0000CC"/>
                </a:solidFill>
                <a:latin typeface="Times New Roman" panose="02020603050405020304" pitchFamily="18" charset="0"/>
                <a:ea typeface="黑体" panose="02010609060101010101" pitchFamily="49" charset="-122"/>
              </a:rPr>
              <a:t>为主要成分的核糖体是蛋白质合成的场所</a:t>
            </a:r>
          </a:p>
        </p:txBody>
      </p:sp>
      <p:sp>
        <p:nvSpPr>
          <p:cNvPr id="227333" name="Rectangle 5">
            <a:extLst>
              <a:ext uri="{FF2B5EF4-FFF2-40B4-BE49-F238E27FC236}">
                <a16:creationId xmlns:a16="http://schemas.microsoft.com/office/drawing/2014/main" id="{BC865593-EA13-4736-B47E-271B1959F6B0}"/>
              </a:ext>
            </a:extLst>
          </p:cNvPr>
          <p:cNvSpPr>
            <a:spLocks noChangeArrowheads="1"/>
          </p:cNvSpPr>
          <p:nvPr/>
        </p:nvSpPr>
        <p:spPr bwMode="auto">
          <a:xfrm>
            <a:off x="911424" y="2249127"/>
            <a:ext cx="5616624" cy="3057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179388" indent="720725">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just" eaLnBrk="1" hangingPunct="1">
              <a:lnSpc>
                <a:spcPct val="150000"/>
              </a:lnSpc>
              <a:spcBef>
                <a:spcPct val="0"/>
              </a:spcBef>
              <a:buClrTx/>
            </a:pPr>
            <a:r>
              <a:rPr lang="zh-CN" altLang="en-US" sz="2600" b="0" dirty="0">
                <a:latin typeface="Times New Roman" panose="02020603050405020304" pitchFamily="18" charset="0"/>
                <a:ea typeface="黑体" panose="02010609060101010101" pitchFamily="49" charset="-122"/>
              </a:rPr>
              <a:t>含量最多，占总</a:t>
            </a:r>
            <a:r>
              <a:rPr lang="en-US" altLang="zh-CN" sz="2600" b="0" dirty="0">
                <a:latin typeface="Times New Roman" panose="02020603050405020304" pitchFamily="18" charset="0"/>
                <a:ea typeface="黑体" panose="02010609060101010101" pitchFamily="49" charset="-122"/>
              </a:rPr>
              <a:t>RNA</a:t>
            </a:r>
            <a:r>
              <a:rPr lang="zh-CN" altLang="en-US" sz="2600" b="0" dirty="0">
                <a:latin typeface="Times New Roman" panose="02020603050405020304" pitchFamily="18" charset="0"/>
                <a:ea typeface="黑体" panose="02010609060101010101" pitchFamily="49" charset="-122"/>
              </a:rPr>
              <a:t>的</a:t>
            </a:r>
            <a:r>
              <a:rPr lang="en-US" altLang="zh-CN" sz="2600" b="0" dirty="0">
                <a:latin typeface="Times New Roman" panose="02020603050405020304" pitchFamily="18" charset="0"/>
                <a:ea typeface="黑体" panose="02010609060101010101" pitchFamily="49" charset="-122"/>
              </a:rPr>
              <a:t>80%</a:t>
            </a:r>
            <a:r>
              <a:rPr lang="zh-CN" altLang="en-US" sz="2600" b="0" dirty="0">
                <a:latin typeface="Times New Roman" panose="02020603050405020304" pitchFamily="18" charset="0"/>
                <a:ea typeface="黑体" panose="02010609060101010101" pitchFamily="49" charset="-122"/>
              </a:rPr>
              <a:t>以上</a:t>
            </a:r>
            <a:endParaRPr lang="en-US" altLang="zh-CN" sz="2600" b="0" dirty="0">
              <a:latin typeface="Times New Roman" panose="02020603050405020304" pitchFamily="18" charset="0"/>
              <a:ea typeface="黑体" panose="02010609060101010101" pitchFamily="49" charset="-122"/>
            </a:endParaRPr>
          </a:p>
          <a:p>
            <a:pPr algn="just" eaLnBrk="1" hangingPunct="1">
              <a:lnSpc>
                <a:spcPct val="150000"/>
              </a:lnSpc>
              <a:spcBef>
                <a:spcPct val="0"/>
              </a:spcBef>
              <a:buClrTx/>
            </a:pPr>
            <a:r>
              <a:rPr lang="zh-CN" altLang="en-US" sz="2600" b="0" dirty="0">
                <a:latin typeface="Times New Roman" panose="02020603050405020304" pitchFamily="18" charset="0"/>
                <a:ea typeface="黑体" panose="02010609060101010101" pitchFamily="49" charset="-122"/>
              </a:rPr>
              <a:t>大量茎环结构，二级结构保守</a:t>
            </a:r>
            <a:endParaRPr lang="en-US" altLang="zh-CN" sz="2600" b="0" dirty="0">
              <a:latin typeface="Times New Roman" panose="02020603050405020304" pitchFamily="18" charset="0"/>
              <a:ea typeface="黑体" panose="02010609060101010101" pitchFamily="49" charset="-122"/>
            </a:endParaRPr>
          </a:p>
          <a:p>
            <a:pPr algn="just" eaLnBrk="1" hangingPunct="1">
              <a:lnSpc>
                <a:spcPct val="150000"/>
              </a:lnSpc>
              <a:spcBef>
                <a:spcPct val="0"/>
              </a:spcBef>
              <a:buClrTx/>
            </a:pPr>
            <a:r>
              <a:rPr lang="zh-CN" altLang="en-US" sz="2600" b="0" dirty="0">
                <a:latin typeface="Times New Roman" panose="02020603050405020304" pitchFamily="18" charset="0"/>
                <a:ea typeface="黑体" panose="02010609060101010101" pitchFamily="49" charset="-122"/>
              </a:rPr>
              <a:t>可与核糖体蛋白</a:t>
            </a:r>
            <a:r>
              <a:rPr lang="zh-CN" altLang="en-US" sz="2600" b="0" dirty="0">
                <a:solidFill>
                  <a:srgbClr val="0000CC"/>
                </a:solidFill>
                <a:latin typeface="Times New Roman" panose="02020603050405020304" pitchFamily="18" charset="0"/>
                <a:ea typeface="黑体" panose="02010609060101010101" pitchFamily="49" charset="-122"/>
              </a:rPr>
              <a:t>自动组装成核糖体大小亚基</a:t>
            </a:r>
            <a:endParaRPr lang="en-US" altLang="zh-CN" sz="2600" b="0" dirty="0">
              <a:solidFill>
                <a:srgbClr val="0000CC"/>
              </a:solidFill>
              <a:latin typeface="Times New Roman" panose="02020603050405020304" pitchFamily="18" charset="0"/>
              <a:ea typeface="黑体" panose="02010609060101010101" pitchFamily="49" charset="-122"/>
            </a:endParaRPr>
          </a:p>
          <a:p>
            <a:pPr algn="just" eaLnBrk="1" hangingPunct="1">
              <a:lnSpc>
                <a:spcPct val="150000"/>
              </a:lnSpc>
              <a:spcBef>
                <a:spcPct val="0"/>
              </a:spcBef>
              <a:buClrTx/>
            </a:pPr>
            <a:r>
              <a:rPr lang="zh-CN" altLang="en-US" b="0" dirty="0">
                <a:latin typeface="Times New Roman" panose="02020603050405020304" pitchFamily="18" charset="0"/>
                <a:ea typeface="黑体" panose="02010609060101010101" pitchFamily="49" charset="-122"/>
              </a:rPr>
              <a:t>是</a:t>
            </a:r>
            <a:r>
              <a:rPr lang="zh-CN" altLang="en-US" b="0" dirty="0">
                <a:solidFill>
                  <a:srgbClr val="C00000"/>
                </a:solidFill>
                <a:latin typeface="Times New Roman" panose="02020603050405020304" pitchFamily="18" charset="0"/>
                <a:ea typeface="黑体" panose="02010609060101010101" pitchFamily="49" charset="-122"/>
              </a:rPr>
              <a:t>核酶</a:t>
            </a:r>
            <a:endParaRPr lang="zh-CN" altLang="en-US" dirty="0">
              <a:solidFill>
                <a:srgbClr val="C00000"/>
              </a:solidFill>
              <a:latin typeface="Times New Roman" panose="02020603050405020304" pitchFamily="18" charset="0"/>
              <a:ea typeface="黑体" panose="02010609060101010101" pitchFamily="49" charset="-122"/>
            </a:endParaRPr>
          </a:p>
        </p:txBody>
      </p:sp>
      <p:sp>
        <p:nvSpPr>
          <p:cNvPr id="265222" name="灯片编号占位符 1">
            <a:extLst>
              <a:ext uri="{FF2B5EF4-FFF2-40B4-BE49-F238E27FC236}">
                <a16:creationId xmlns:a16="http://schemas.microsoft.com/office/drawing/2014/main" id="{058DA8C3-D6CC-4A24-83AB-224F8DE25B6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35FE89FB-9E94-480F-A0E1-3AAA6E1444CF}" type="slidenum">
              <a:rPr lang="zh-CN" altLang="en-US" sz="1200" b="0">
                <a:solidFill>
                  <a:srgbClr val="898F89"/>
                </a:solidFill>
              </a:rPr>
              <a:pPr>
                <a:spcBef>
                  <a:spcPct val="0"/>
                </a:spcBef>
                <a:buClrTx/>
                <a:buFontTx/>
                <a:buNone/>
              </a:pPr>
              <a:t>99</a:t>
            </a:fld>
            <a:endParaRPr lang="zh-CN" altLang="en-US" sz="1200" b="0">
              <a:solidFill>
                <a:srgbClr val="898F8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27333"/>
                                        </p:tgtEl>
                                        <p:attrNameLst>
                                          <p:attrName>style.visibility</p:attrName>
                                        </p:attrNameLst>
                                      </p:cBhvr>
                                      <p:to>
                                        <p:strVal val="visible"/>
                                      </p:to>
                                    </p:set>
                                    <p:animEffect transition="in" filter="strips(downRight)">
                                      <p:cBhvr>
                                        <p:cTn id="7" dur="500"/>
                                        <p:tgtEl>
                                          <p:spTgt spid="227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3" grpId="0"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67266" name="Picture 2">
            <a:extLst>
              <a:ext uri="{FF2B5EF4-FFF2-40B4-BE49-F238E27FC236}">
                <a16:creationId xmlns:a16="http://schemas.microsoft.com/office/drawing/2014/main" id="{EE439719-1BA5-4317-8BE8-96C74C56F5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8" y="858838"/>
            <a:ext cx="3071812" cy="542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7267" name="Text Box 3">
            <a:extLst>
              <a:ext uri="{FF2B5EF4-FFF2-40B4-BE49-F238E27FC236}">
                <a16:creationId xmlns:a16="http://schemas.microsoft.com/office/drawing/2014/main" id="{A0CF8511-47C6-4F99-95AF-B9C833A29A2B}"/>
              </a:ext>
            </a:extLst>
          </p:cNvPr>
          <p:cNvSpPr txBox="1">
            <a:spLocks noChangeArrowheads="1"/>
          </p:cNvSpPr>
          <p:nvPr/>
        </p:nvSpPr>
        <p:spPr bwMode="auto">
          <a:xfrm>
            <a:off x="5808663" y="2492375"/>
            <a:ext cx="4464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en-US" altLang="zh-CN" sz="3200">
                <a:solidFill>
                  <a:srgbClr val="0000CC"/>
                </a:solidFill>
                <a:latin typeface="Times New Roman" panose="02020603050405020304" pitchFamily="18" charset="0"/>
                <a:ea typeface="宋体" panose="02010600030101010101" pitchFamily="2" charset="-122"/>
              </a:rPr>
              <a:t>rRNA</a:t>
            </a:r>
            <a:r>
              <a:rPr lang="zh-CN" altLang="en-US" sz="3200">
                <a:solidFill>
                  <a:srgbClr val="0000CC"/>
                </a:solidFill>
                <a:latin typeface="Times New Roman" panose="02020603050405020304" pitchFamily="18" charset="0"/>
                <a:ea typeface="宋体" panose="02010600030101010101" pitchFamily="2" charset="-122"/>
              </a:rPr>
              <a:t>的花状三级结构</a:t>
            </a:r>
          </a:p>
        </p:txBody>
      </p:sp>
      <p:sp>
        <p:nvSpPr>
          <p:cNvPr id="267268" name="灯片编号占位符 1">
            <a:extLst>
              <a:ext uri="{FF2B5EF4-FFF2-40B4-BE49-F238E27FC236}">
                <a16:creationId xmlns:a16="http://schemas.microsoft.com/office/drawing/2014/main" id="{5CC17B52-7EE0-4A3D-A71E-312907213E3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E1C51AF5-6847-4D63-BFF1-4102D2D18CA8}" type="slidenum">
              <a:rPr lang="zh-CN" altLang="en-US" sz="1200" b="0">
                <a:solidFill>
                  <a:srgbClr val="898F89"/>
                </a:solidFill>
              </a:rPr>
              <a:pPr>
                <a:spcBef>
                  <a:spcPct val="0"/>
                </a:spcBef>
                <a:buClrTx/>
                <a:buFontTx/>
                <a:buNone/>
              </a:pPr>
              <a:t>100</a:t>
            </a:fld>
            <a:endParaRPr lang="zh-CN" altLang="en-US" sz="1200" b="0">
              <a:solidFill>
                <a:srgbClr val="898F89"/>
              </a:solidFill>
            </a:endParaRPr>
          </a:p>
        </p:txBody>
      </p:sp>
    </p:spTree>
  </p:cSld>
  <p:clrMapOvr>
    <a:masterClrMapping/>
  </p:clrMapOvr>
  <p:transition spd="slow">
    <p:circle/>
  </p:transition>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0338" name="Rectangle 2">
            <a:extLst>
              <a:ext uri="{FF2B5EF4-FFF2-40B4-BE49-F238E27FC236}">
                <a16:creationId xmlns:a16="http://schemas.microsoft.com/office/drawing/2014/main" id="{8DD6F6C8-69B5-4FCC-850C-9B68EB50535E}"/>
              </a:ext>
            </a:extLst>
          </p:cNvPr>
          <p:cNvSpPr>
            <a:spLocks noGrp="1" noChangeArrowheads="1"/>
          </p:cNvSpPr>
          <p:nvPr>
            <p:ph type="title"/>
          </p:nvPr>
        </p:nvSpPr>
        <p:spPr>
          <a:xfrm>
            <a:off x="2782888" y="188913"/>
            <a:ext cx="6769100" cy="646112"/>
          </a:xfrm>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spAutoFit/>
          </a:bodyPr>
          <a:lstStyle/>
          <a:p>
            <a:pPr>
              <a:spcBef>
                <a:spcPct val="30000"/>
              </a:spcBef>
            </a:pPr>
            <a:r>
              <a:rPr kumimoji="1" lang="zh-CN" altLang="en-US" sz="3600" b="0">
                <a:latin typeface="黑体" panose="02010609060101010101" pitchFamily="49" charset="-122"/>
                <a:ea typeface="黑体" panose="02010609060101010101" pitchFamily="49" charset="-122"/>
                <a:cs typeface="Arial" panose="020B0604020202020204" pitchFamily="34" charset="0"/>
              </a:rPr>
              <a:t>核糖体的组成</a:t>
            </a:r>
          </a:p>
        </p:txBody>
      </p:sp>
      <p:sp>
        <p:nvSpPr>
          <p:cNvPr id="270339" name="Rectangle 3">
            <a:extLst>
              <a:ext uri="{FF2B5EF4-FFF2-40B4-BE49-F238E27FC236}">
                <a16:creationId xmlns:a16="http://schemas.microsoft.com/office/drawing/2014/main" id="{13AA2531-92CB-4604-A0F3-1303D62A8B84}"/>
              </a:ext>
            </a:extLst>
          </p:cNvPr>
          <p:cNvSpPr>
            <a:spLocks noChangeArrowheads="1"/>
          </p:cNvSpPr>
          <p:nvPr/>
        </p:nvSpPr>
        <p:spPr bwMode="auto">
          <a:xfrm>
            <a:off x="2209800" y="5638800"/>
            <a:ext cx="7772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000" b="0">
              <a:solidFill>
                <a:schemeClr val="tx1"/>
              </a:solidFill>
              <a:latin typeface="Times New Roman" panose="02020603050405020304" pitchFamily="18" charset="0"/>
              <a:ea typeface="宋体" panose="02010600030101010101" pitchFamily="2" charset="-122"/>
            </a:endParaRPr>
          </a:p>
        </p:txBody>
      </p:sp>
      <p:pic>
        <p:nvPicPr>
          <p:cNvPr id="270340" name="图片 1">
            <a:extLst>
              <a:ext uri="{FF2B5EF4-FFF2-40B4-BE49-F238E27FC236}">
                <a16:creationId xmlns:a16="http://schemas.microsoft.com/office/drawing/2014/main" id="{2B66985B-486F-4226-B58F-BE574F7B399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63452" y="1348081"/>
            <a:ext cx="9865096" cy="416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9062BDD4-5870-4D83-D740-E6BB6EBA8663}"/>
              </a:ext>
            </a:extLst>
          </p:cNvPr>
          <p:cNvSpPr txBox="1"/>
          <p:nvPr/>
        </p:nvSpPr>
        <p:spPr>
          <a:xfrm>
            <a:off x="3071664" y="5876281"/>
            <a:ext cx="2737048" cy="46166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原核生物核糖体</a:t>
            </a:r>
          </a:p>
        </p:txBody>
      </p:sp>
      <p:sp>
        <p:nvSpPr>
          <p:cNvPr id="4" name="文本框 3">
            <a:extLst>
              <a:ext uri="{FF2B5EF4-FFF2-40B4-BE49-F238E27FC236}">
                <a16:creationId xmlns:a16="http://schemas.microsoft.com/office/drawing/2014/main" id="{C630874A-DDC0-5C9D-57EF-604819962D19}"/>
              </a:ext>
            </a:extLst>
          </p:cNvPr>
          <p:cNvSpPr txBox="1"/>
          <p:nvPr/>
        </p:nvSpPr>
        <p:spPr>
          <a:xfrm>
            <a:off x="7680176" y="5876281"/>
            <a:ext cx="2737048" cy="46166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真核生物核糖体</a:t>
            </a:r>
          </a:p>
        </p:txBody>
      </p:sp>
    </p:spTree>
  </p:cSld>
  <p:clrMapOvr>
    <a:masterClrMapping/>
  </p:clrMapOvr>
  <p:transition>
    <p:rand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49">
            <a:extLst>
              <a:ext uri="{FF2B5EF4-FFF2-40B4-BE49-F238E27FC236}">
                <a16:creationId xmlns:a16="http://schemas.microsoft.com/office/drawing/2014/main" id="{818A3EBF-E035-4F96-92EF-C6778EA7C0D0}"/>
              </a:ext>
            </a:extLst>
          </p:cNvPr>
          <p:cNvSpPr>
            <a:spLocks noChangeArrowheads="1"/>
          </p:cNvSpPr>
          <p:nvPr/>
        </p:nvSpPr>
        <p:spPr bwMode="auto">
          <a:xfrm>
            <a:off x="2963864" y="76200"/>
            <a:ext cx="6624637" cy="6413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30000"/>
              </a:spcBef>
              <a:buClrTx/>
              <a:buFontTx/>
              <a:buNone/>
            </a:pPr>
            <a:r>
              <a:rPr lang="zh-CN" altLang="en-US" sz="3600">
                <a:solidFill>
                  <a:srgbClr val="0000CC"/>
                </a:solidFill>
                <a:latin typeface="黑体" panose="02010609060101010101" pitchFamily="49" charset="-122"/>
                <a:ea typeface="黑体" panose="02010609060101010101" pitchFamily="49" charset="-122"/>
                <a:cs typeface="Arial" panose="020B0604020202020204" pitchFamily="34" charset="0"/>
              </a:rPr>
              <a:t>核糖体的组成 </a:t>
            </a:r>
          </a:p>
        </p:txBody>
      </p:sp>
      <p:pic>
        <p:nvPicPr>
          <p:cNvPr id="272388" name="图片 1">
            <a:extLst>
              <a:ext uri="{FF2B5EF4-FFF2-40B4-BE49-F238E27FC236}">
                <a16:creationId xmlns:a16="http://schemas.microsoft.com/office/drawing/2014/main" id="{47047ABC-4EC9-42A1-92E3-C355D2D3B3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8048" y="4791106"/>
            <a:ext cx="3219450" cy="178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2389" name="灯片编号占位符 1">
            <a:extLst>
              <a:ext uri="{FF2B5EF4-FFF2-40B4-BE49-F238E27FC236}">
                <a16:creationId xmlns:a16="http://schemas.microsoft.com/office/drawing/2014/main" id="{FAFCB361-6ADF-4770-8476-FE7F3B72A52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4481A507-C139-43E0-A731-E4E3D7076AC5}" type="slidenum">
              <a:rPr lang="zh-CN" altLang="en-US" sz="1200" b="0">
                <a:solidFill>
                  <a:srgbClr val="898F89"/>
                </a:solidFill>
              </a:rPr>
              <a:pPr>
                <a:spcBef>
                  <a:spcPct val="0"/>
                </a:spcBef>
                <a:buClrTx/>
                <a:buFontTx/>
                <a:buNone/>
              </a:pPr>
              <a:t>102</a:t>
            </a:fld>
            <a:endParaRPr lang="zh-CN" altLang="en-US" sz="1200" b="0">
              <a:solidFill>
                <a:srgbClr val="898F89"/>
              </a:solidFill>
            </a:endParaRPr>
          </a:p>
        </p:txBody>
      </p:sp>
      <p:pic>
        <p:nvPicPr>
          <p:cNvPr id="3" name="图片 2">
            <a:extLst>
              <a:ext uri="{FF2B5EF4-FFF2-40B4-BE49-F238E27FC236}">
                <a16:creationId xmlns:a16="http://schemas.microsoft.com/office/drawing/2014/main" id="{1276F015-C1D4-136E-E452-A4635792C7E6}"/>
              </a:ext>
            </a:extLst>
          </p:cNvPr>
          <p:cNvPicPr>
            <a:picLocks noChangeAspect="1"/>
          </p:cNvPicPr>
          <p:nvPr/>
        </p:nvPicPr>
        <p:blipFill>
          <a:blip r:embed="rId4"/>
          <a:stretch>
            <a:fillRect/>
          </a:stretch>
        </p:blipFill>
        <p:spPr>
          <a:xfrm>
            <a:off x="1487488" y="1052736"/>
            <a:ext cx="9468950" cy="3485164"/>
          </a:xfrm>
          <a:prstGeom prst="rect">
            <a:avLst/>
          </a:prstGeom>
        </p:spPr>
      </p:pic>
      <p:sp>
        <p:nvSpPr>
          <p:cNvPr id="4" name="文本框 3">
            <a:extLst>
              <a:ext uri="{FF2B5EF4-FFF2-40B4-BE49-F238E27FC236}">
                <a16:creationId xmlns:a16="http://schemas.microsoft.com/office/drawing/2014/main" id="{461EFF95-A50A-9BEA-7380-B529B6F3875A}"/>
              </a:ext>
            </a:extLst>
          </p:cNvPr>
          <p:cNvSpPr txBox="1"/>
          <p:nvPr/>
        </p:nvSpPr>
        <p:spPr>
          <a:xfrm>
            <a:off x="2217855" y="5270163"/>
            <a:ext cx="4083546" cy="830997"/>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真核细胞总</a:t>
            </a:r>
            <a:r>
              <a:rPr lang="en-US" altLang="zh-CN" dirty="0">
                <a:latin typeface="微软雅黑" panose="020B0503020204020204" pitchFamily="34" charset="-122"/>
                <a:ea typeface="微软雅黑" panose="020B0503020204020204" pitchFamily="34" charset="-122"/>
              </a:rPr>
              <a:t>RNA</a:t>
            </a:r>
            <a:r>
              <a:rPr lang="zh-CN" altLang="en-US" dirty="0">
                <a:latin typeface="微软雅黑" panose="020B0503020204020204" pitchFamily="34" charset="-122"/>
                <a:ea typeface="微软雅黑" panose="020B0503020204020204" pitchFamily="34" charset="-122"/>
              </a:rPr>
              <a:t>电泳结果：</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可反映所提</a:t>
            </a:r>
            <a:r>
              <a:rPr lang="en-US" altLang="zh-CN" dirty="0">
                <a:latin typeface="微软雅黑" panose="020B0503020204020204" pitchFamily="34" charset="-122"/>
                <a:ea typeface="微软雅黑" panose="020B0503020204020204" pitchFamily="34" charset="-122"/>
              </a:rPr>
              <a:t>RNA</a:t>
            </a:r>
            <a:r>
              <a:rPr lang="zh-CN" altLang="en-US" dirty="0">
                <a:latin typeface="微软雅黑" panose="020B0503020204020204" pitchFamily="34" charset="-122"/>
                <a:ea typeface="微软雅黑" panose="020B0503020204020204" pitchFamily="34" charset="-122"/>
              </a:rPr>
              <a:t>的质量</a:t>
            </a: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标题 1">
            <a:extLst>
              <a:ext uri="{FF2B5EF4-FFF2-40B4-BE49-F238E27FC236}">
                <a16:creationId xmlns:a16="http://schemas.microsoft.com/office/drawing/2014/main" id="{4723997A-5426-4A0B-988D-3B9403937590}"/>
              </a:ext>
            </a:extLst>
          </p:cNvPr>
          <p:cNvSpPr>
            <a:spLocks noGrp="1" noChangeArrowheads="1"/>
          </p:cNvSpPr>
          <p:nvPr>
            <p:ph type="title" idx="4294967295"/>
          </p:nvPr>
        </p:nvSpPr>
        <p:spPr>
          <a:xfrm>
            <a:off x="2320925" y="176214"/>
            <a:ext cx="8248650" cy="930275"/>
          </a:xfrm>
        </p:spPr>
        <p:txBody>
          <a:bodyPr/>
          <a:lstStyle/>
          <a:p>
            <a:r>
              <a:rPr lang="zh-CN" altLang="en-US" b="0">
                <a:solidFill>
                  <a:srgbClr val="C00000"/>
                </a:solidFill>
              </a:rPr>
              <a:t>核糖体有三个</a:t>
            </a:r>
            <a:r>
              <a:rPr lang="en-US" altLang="zh-CN" b="0">
                <a:solidFill>
                  <a:srgbClr val="C00000"/>
                </a:solidFill>
              </a:rPr>
              <a:t>tRNA</a:t>
            </a:r>
            <a:r>
              <a:rPr lang="zh-CN" altLang="en-US" b="0">
                <a:solidFill>
                  <a:srgbClr val="C00000"/>
                </a:solidFill>
              </a:rPr>
              <a:t>结合位点</a:t>
            </a:r>
          </a:p>
        </p:txBody>
      </p:sp>
      <p:sp>
        <p:nvSpPr>
          <p:cNvPr id="268291" name="内容占位符 2">
            <a:extLst>
              <a:ext uri="{FF2B5EF4-FFF2-40B4-BE49-F238E27FC236}">
                <a16:creationId xmlns:a16="http://schemas.microsoft.com/office/drawing/2014/main" id="{8603B19A-1B38-483D-9524-4BC05207C93A}"/>
              </a:ext>
            </a:extLst>
          </p:cNvPr>
          <p:cNvSpPr>
            <a:spLocks noGrp="1" noChangeArrowheads="1"/>
          </p:cNvSpPr>
          <p:nvPr>
            <p:ph idx="4294967295"/>
          </p:nvPr>
        </p:nvSpPr>
        <p:spPr>
          <a:xfrm>
            <a:off x="2911526" y="4860880"/>
            <a:ext cx="8412162" cy="1601787"/>
          </a:xfrm>
        </p:spPr>
        <p:txBody>
          <a:bodyPr/>
          <a:lstStyle/>
          <a:p>
            <a:pPr>
              <a:spcBef>
                <a:spcPct val="0"/>
              </a:spcBef>
            </a:pPr>
            <a:r>
              <a:rPr lang="en-US" altLang="zh-CN" sz="2400" b="0" dirty="0">
                <a:solidFill>
                  <a:srgbClr val="FF0000"/>
                </a:solidFill>
              </a:rPr>
              <a:t>A site:</a:t>
            </a:r>
            <a:r>
              <a:rPr lang="zh-CN" altLang="en-US" sz="2400" b="0" dirty="0">
                <a:solidFill>
                  <a:srgbClr val="FF0000"/>
                </a:solidFill>
              </a:rPr>
              <a:t>   </a:t>
            </a:r>
            <a:r>
              <a:rPr lang="zh-CN" altLang="en-US" sz="2400" b="0" dirty="0">
                <a:solidFill>
                  <a:srgbClr val="000000"/>
                </a:solidFill>
              </a:rPr>
              <a:t>结合</a:t>
            </a:r>
            <a:r>
              <a:rPr lang="zh-CN" altLang="en-US" sz="2400" b="0" dirty="0">
                <a:solidFill>
                  <a:srgbClr val="FF0000"/>
                </a:solidFill>
              </a:rPr>
              <a:t>氨基酰</a:t>
            </a:r>
            <a:r>
              <a:rPr lang="en-US" altLang="zh-CN" sz="2400" b="0" dirty="0">
                <a:solidFill>
                  <a:srgbClr val="FF0000"/>
                </a:solidFill>
              </a:rPr>
              <a:t>-tRNA</a:t>
            </a:r>
            <a:r>
              <a:rPr lang="en-US" altLang="zh-CN" sz="2400" b="0" dirty="0">
                <a:solidFill>
                  <a:srgbClr val="000000"/>
                </a:solidFill>
              </a:rPr>
              <a:t>(aminoacyl-tRNA)</a:t>
            </a:r>
          </a:p>
          <a:p>
            <a:pPr>
              <a:spcBef>
                <a:spcPct val="0"/>
              </a:spcBef>
            </a:pPr>
            <a:r>
              <a:rPr lang="en-US" altLang="zh-CN" sz="2400" b="0" dirty="0">
                <a:solidFill>
                  <a:srgbClr val="FF0000"/>
                </a:solidFill>
              </a:rPr>
              <a:t>P site:   </a:t>
            </a:r>
            <a:r>
              <a:rPr lang="zh-CN" altLang="en-US" sz="2400" b="0" dirty="0">
                <a:solidFill>
                  <a:srgbClr val="000000"/>
                </a:solidFill>
              </a:rPr>
              <a:t>结合</a:t>
            </a:r>
            <a:r>
              <a:rPr lang="zh-CN" altLang="en-US" sz="2400" b="0" dirty="0">
                <a:solidFill>
                  <a:srgbClr val="FF0000"/>
                </a:solidFill>
              </a:rPr>
              <a:t>肽酰</a:t>
            </a:r>
            <a:r>
              <a:rPr lang="en-US" altLang="zh-CN" sz="2400" b="0" dirty="0">
                <a:solidFill>
                  <a:srgbClr val="FF0000"/>
                </a:solidFill>
              </a:rPr>
              <a:t>-tRNA</a:t>
            </a:r>
            <a:r>
              <a:rPr lang="zh-CN" altLang="en-US" sz="2400" b="0" dirty="0">
                <a:solidFill>
                  <a:srgbClr val="000000"/>
                </a:solidFill>
              </a:rPr>
              <a:t>（</a:t>
            </a:r>
            <a:r>
              <a:rPr lang="en-US" altLang="zh-CN" sz="2400" b="0" dirty="0">
                <a:solidFill>
                  <a:srgbClr val="000000"/>
                </a:solidFill>
              </a:rPr>
              <a:t>peptidyl-tRNA</a:t>
            </a:r>
            <a:r>
              <a:rPr lang="zh-CN" altLang="en-US" sz="2400" b="0" dirty="0">
                <a:solidFill>
                  <a:srgbClr val="000000"/>
                </a:solidFill>
              </a:rPr>
              <a:t>）</a:t>
            </a:r>
            <a:endParaRPr lang="en-US" altLang="zh-CN" sz="2400" b="0" dirty="0">
              <a:solidFill>
                <a:srgbClr val="000000"/>
              </a:solidFill>
            </a:endParaRPr>
          </a:p>
          <a:p>
            <a:pPr>
              <a:spcBef>
                <a:spcPct val="0"/>
              </a:spcBef>
            </a:pPr>
            <a:r>
              <a:rPr lang="en-US" altLang="zh-CN" sz="2400" b="0" dirty="0">
                <a:solidFill>
                  <a:srgbClr val="FF0000"/>
                </a:solidFill>
              </a:rPr>
              <a:t>E site</a:t>
            </a:r>
            <a:r>
              <a:rPr lang="en-US" altLang="zh-CN" sz="2400" b="0" dirty="0">
                <a:solidFill>
                  <a:srgbClr val="000000"/>
                </a:solidFill>
              </a:rPr>
              <a:t>(exit site):   </a:t>
            </a:r>
            <a:r>
              <a:rPr lang="zh-CN" altLang="en-US" sz="2400" b="0" dirty="0">
                <a:solidFill>
                  <a:srgbClr val="000000"/>
                </a:solidFill>
              </a:rPr>
              <a:t>空载的</a:t>
            </a:r>
            <a:r>
              <a:rPr lang="en-US" altLang="zh-CN" sz="2400" b="0" dirty="0">
                <a:solidFill>
                  <a:srgbClr val="000000"/>
                </a:solidFill>
              </a:rPr>
              <a:t>tRNA </a:t>
            </a:r>
            <a:r>
              <a:rPr lang="zh-CN" altLang="en-US" sz="2400" b="0" dirty="0">
                <a:solidFill>
                  <a:srgbClr val="000000"/>
                </a:solidFill>
              </a:rPr>
              <a:t>从该位点脱离</a:t>
            </a:r>
            <a:endParaRPr lang="en-US" altLang="zh-CN" sz="2400" b="0" dirty="0">
              <a:solidFill>
                <a:srgbClr val="000000"/>
              </a:solidFill>
              <a:latin typeface="AdvOTa88ee647"/>
            </a:endParaRPr>
          </a:p>
        </p:txBody>
      </p:sp>
      <p:pic>
        <p:nvPicPr>
          <p:cNvPr id="268292" name="图片 3">
            <a:extLst>
              <a:ext uri="{FF2B5EF4-FFF2-40B4-BE49-F238E27FC236}">
                <a16:creationId xmlns:a16="http://schemas.microsoft.com/office/drawing/2014/main" id="{A4A96973-6997-4816-9967-67DAB4D385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5250" y="1617664"/>
            <a:ext cx="3989388"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8293" name="组合 20">
            <a:extLst>
              <a:ext uri="{FF2B5EF4-FFF2-40B4-BE49-F238E27FC236}">
                <a16:creationId xmlns:a16="http://schemas.microsoft.com/office/drawing/2014/main" id="{F758DFA0-F86B-48CF-8E0D-E31740A33559}"/>
              </a:ext>
            </a:extLst>
          </p:cNvPr>
          <p:cNvGrpSpPr>
            <a:grpSpLocks/>
          </p:cNvGrpSpPr>
          <p:nvPr/>
        </p:nvGrpSpPr>
        <p:grpSpPr bwMode="auto">
          <a:xfrm>
            <a:off x="1992314" y="1358901"/>
            <a:ext cx="4770437" cy="3167063"/>
            <a:chOff x="349158" y="1148562"/>
            <a:chExt cx="5053847" cy="3395629"/>
          </a:xfrm>
        </p:grpSpPr>
        <p:pic>
          <p:nvPicPr>
            <p:cNvPr id="268294" name="图片 4">
              <a:extLst>
                <a:ext uri="{FF2B5EF4-FFF2-40B4-BE49-F238E27FC236}">
                  <a16:creationId xmlns:a16="http://schemas.microsoft.com/office/drawing/2014/main" id="{84430551-855B-4B94-AEC9-D2930DFCF9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5997" y="1148562"/>
              <a:ext cx="3790689" cy="3395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直接连接符 6">
              <a:extLst>
                <a:ext uri="{FF2B5EF4-FFF2-40B4-BE49-F238E27FC236}">
                  <a16:creationId xmlns:a16="http://schemas.microsoft.com/office/drawing/2014/main" id="{C2432682-0725-4DC7-B323-7AE82BABE444}"/>
                </a:ext>
              </a:extLst>
            </p:cNvPr>
            <p:cNvCxnSpPr>
              <a:cxnSpLocks/>
            </p:cNvCxnSpPr>
            <p:nvPr/>
          </p:nvCxnSpPr>
          <p:spPr>
            <a:xfrm flipV="1">
              <a:off x="1058883" y="3048071"/>
              <a:ext cx="1162132" cy="883375"/>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8" name="直接连接符 7">
              <a:extLst>
                <a:ext uri="{FF2B5EF4-FFF2-40B4-BE49-F238E27FC236}">
                  <a16:creationId xmlns:a16="http://schemas.microsoft.com/office/drawing/2014/main" id="{F2B3FAED-E9B0-4022-AF4E-5C8F23223532}"/>
                </a:ext>
              </a:extLst>
            </p:cNvPr>
            <p:cNvCxnSpPr>
              <a:cxnSpLocks/>
            </p:cNvCxnSpPr>
            <p:nvPr/>
          </p:nvCxnSpPr>
          <p:spPr>
            <a:xfrm>
              <a:off x="715793" y="1868538"/>
              <a:ext cx="1895403" cy="915713"/>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9" name="直接连接符 8">
              <a:extLst>
                <a:ext uri="{FF2B5EF4-FFF2-40B4-BE49-F238E27FC236}">
                  <a16:creationId xmlns:a16="http://schemas.microsoft.com/office/drawing/2014/main" id="{9E706A5D-5542-4518-85D9-12F6B4D9B46F}"/>
                </a:ext>
              </a:extLst>
            </p:cNvPr>
            <p:cNvCxnSpPr>
              <a:cxnSpLocks/>
            </p:cNvCxnSpPr>
            <p:nvPr/>
          </p:nvCxnSpPr>
          <p:spPr>
            <a:xfrm flipV="1">
              <a:off x="3213285" y="2079595"/>
              <a:ext cx="1436268" cy="634871"/>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268298" name="文本框 15">
              <a:extLst>
                <a:ext uri="{FF2B5EF4-FFF2-40B4-BE49-F238E27FC236}">
                  <a16:creationId xmlns:a16="http://schemas.microsoft.com/office/drawing/2014/main" id="{3FF6459B-F52E-4E19-994D-59C72B4BF282}"/>
                </a:ext>
              </a:extLst>
            </p:cNvPr>
            <p:cNvSpPr txBox="1">
              <a:spLocks noChangeArrowheads="1"/>
            </p:cNvSpPr>
            <p:nvPr/>
          </p:nvSpPr>
          <p:spPr bwMode="auto">
            <a:xfrm>
              <a:off x="349158" y="1494062"/>
              <a:ext cx="736441" cy="626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3200" b="0">
                  <a:solidFill>
                    <a:schemeClr val="tx1"/>
                  </a:solidFill>
                  <a:latin typeface="Times New Roman" panose="02020603050405020304" pitchFamily="18" charset="0"/>
                  <a:ea typeface="宋体" panose="02010600030101010101" pitchFamily="2" charset="-122"/>
                </a:rPr>
                <a:t>P</a:t>
              </a:r>
              <a:endParaRPr lang="zh-CN" altLang="en-US" sz="3200" b="0">
                <a:solidFill>
                  <a:schemeClr val="tx1"/>
                </a:solidFill>
                <a:latin typeface="Times New Roman" panose="02020603050405020304" pitchFamily="18" charset="0"/>
                <a:ea typeface="宋体" panose="02010600030101010101" pitchFamily="2" charset="-122"/>
              </a:endParaRPr>
            </a:p>
          </p:txBody>
        </p:sp>
        <p:sp>
          <p:nvSpPr>
            <p:cNvPr id="268299" name="文本框 16">
              <a:extLst>
                <a:ext uri="{FF2B5EF4-FFF2-40B4-BE49-F238E27FC236}">
                  <a16:creationId xmlns:a16="http://schemas.microsoft.com/office/drawing/2014/main" id="{835D8612-63D3-4EB6-9A92-953B14E80442}"/>
                </a:ext>
              </a:extLst>
            </p:cNvPr>
            <p:cNvSpPr txBox="1">
              <a:spLocks noChangeArrowheads="1"/>
            </p:cNvSpPr>
            <p:nvPr/>
          </p:nvSpPr>
          <p:spPr bwMode="auto">
            <a:xfrm>
              <a:off x="555666" y="3740789"/>
              <a:ext cx="736441" cy="626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3200" b="0">
                  <a:solidFill>
                    <a:schemeClr val="tx1"/>
                  </a:solidFill>
                  <a:latin typeface="Times New Roman" panose="02020603050405020304" pitchFamily="18" charset="0"/>
                  <a:ea typeface="宋体" panose="02010600030101010101" pitchFamily="2" charset="-122"/>
                </a:rPr>
                <a:t>E</a:t>
              </a:r>
              <a:endParaRPr lang="zh-CN" altLang="en-US" sz="3200" b="0">
                <a:solidFill>
                  <a:schemeClr val="tx1"/>
                </a:solidFill>
                <a:latin typeface="Times New Roman" panose="02020603050405020304" pitchFamily="18" charset="0"/>
                <a:ea typeface="宋体" panose="02010600030101010101" pitchFamily="2" charset="-122"/>
              </a:endParaRPr>
            </a:p>
          </p:txBody>
        </p:sp>
        <p:sp>
          <p:nvSpPr>
            <p:cNvPr id="268300" name="文本框 17">
              <a:extLst>
                <a:ext uri="{FF2B5EF4-FFF2-40B4-BE49-F238E27FC236}">
                  <a16:creationId xmlns:a16="http://schemas.microsoft.com/office/drawing/2014/main" id="{871D6EA6-E467-41ED-94F4-F0FE376B801C}"/>
                </a:ext>
              </a:extLst>
            </p:cNvPr>
            <p:cNvSpPr txBox="1">
              <a:spLocks noChangeArrowheads="1"/>
            </p:cNvSpPr>
            <p:nvPr/>
          </p:nvSpPr>
          <p:spPr bwMode="auto">
            <a:xfrm>
              <a:off x="4666564" y="1618114"/>
              <a:ext cx="736441" cy="626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3200" b="0">
                  <a:solidFill>
                    <a:schemeClr val="tx1"/>
                  </a:solidFill>
                  <a:latin typeface="Times New Roman" panose="02020603050405020304" pitchFamily="18" charset="0"/>
                  <a:ea typeface="宋体" panose="02010600030101010101" pitchFamily="2" charset="-122"/>
                </a:rPr>
                <a:t>A</a:t>
              </a:r>
              <a:endParaRPr lang="zh-CN" altLang="en-US" sz="3200" b="0">
                <a:solidFill>
                  <a:schemeClr val="tx1"/>
                </a:solidFill>
                <a:latin typeface="Times New Roman" panose="02020603050405020304" pitchFamily="18" charset="0"/>
                <a:ea typeface="宋体" panose="02010600030101010101" pitchFamily="2" charset="-122"/>
              </a:endParaRPr>
            </a:p>
          </p:txBody>
        </p:sp>
        <p:sp>
          <p:nvSpPr>
            <p:cNvPr id="20" name="椭圆 19">
              <a:extLst>
                <a:ext uri="{FF2B5EF4-FFF2-40B4-BE49-F238E27FC236}">
                  <a16:creationId xmlns:a16="http://schemas.microsoft.com/office/drawing/2014/main" id="{ACCFDAC4-7D3F-4505-A085-59FB117C5112}"/>
                </a:ext>
              </a:extLst>
            </p:cNvPr>
            <p:cNvSpPr/>
            <p:nvPr/>
          </p:nvSpPr>
          <p:spPr>
            <a:xfrm>
              <a:off x="835201" y="1148562"/>
              <a:ext cx="223682" cy="34552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Tree>
  </p:cSld>
  <p:clrMapOvr>
    <a:masterClrMapping/>
  </p:clrMapOvr>
  <p:transition spd="slow">
    <p:circle/>
  </p:transition>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4434" name="Picture 4">
            <a:extLst>
              <a:ext uri="{FF2B5EF4-FFF2-40B4-BE49-F238E27FC236}">
                <a16:creationId xmlns:a16="http://schemas.microsoft.com/office/drawing/2014/main" id="{9BDCD840-C4B1-4D03-B14F-AA07789B06A9}"/>
              </a:ext>
            </a:extLst>
          </p:cNvPr>
          <p:cNvPicPr>
            <a:picLocks noChangeAspect="1" noChangeArrowheads="1"/>
          </p:cNvPicPr>
          <p:nvPr/>
        </p:nvPicPr>
        <p:blipFill>
          <a:blip r:embed="rId3">
            <a:lum contrast="12000"/>
            <a:extLst>
              <a:ext uri="{28A0092B-C50C-407E-A947-70E740481C1C}">
                <a14:useLocalDpi xmlns:a14="http://schemas.microsoft.com/office/drawing/2010/main" val="0"/>
              </a:ext>
            </a:extLst>
          </a:blip>
          <a:srcRect l="38184" t="15538" r="10139" b="8659"/>
          <a:stretch>
            <a:fillRect/>
          </a:stretch>
        </p:blipFill>
        <p:spPr bwMode="auto">
          <a:xfrm>
            <a:off x="2886076" y="0"/>
            <a:ext cx="623411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4435" name="灯片编号占位符 1">
            <a:extLst>
              <a:ext uri="{FF2B5EF4-FFF2-40B4-BE49-F238E27FC236}">
                <a16:creationId xmlns:a16="http://schemas.microsoft.com/office/drawing/2014/main" id="{9FDBFC45-652B-4925-B415-40012EF08F2A}"/>
              </a:ext>
            </a:extLst>
          </p:cNvPr>
          <p:cNvSpPr>
            <a:spLocks noGrp="1"/>
          </p:cNvSpPr>
          <p:nvPr>
            <p:ph type="sldNum" sz="quarter" idx="4"/>
          </p:nvPr>
        </p:nvSpPr>
        <p:spPr bwMode="auto">
          <a:xfrm>
            <a:off x="9974264" y="6492876"/>
            <a:ext cx="693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l" eaLnBrk="0" hangingPunct="0">
              <a:spcBef>
                <a:spcPct val="0"/>
              </a:spcBef>
              <a:buClrTx/>
              <a:buFontTx/>
              <a:buNone/>
            </a:pPr>
            <a:fld id="{053477B4-91FD-497A-BA77-57EBA47FBFB0}" type="slidenum">
              <a:rPr lang="zh-CN" altLang="en-US" sz="1200" b="0">
                <a:solidFill>
                  <a:srgbClr val="898F89"/>
                </a:solidFill>
              </a:rPr>
              <a:pPr algn="l" eaLnBrk="0" hangingPunct="0">
                <a:spcBef>
                  <a:spcPct val="0"/>
                </a:spcBef>
                <a:buClrTx/>
                <a:buFontTx/>
                <a:buNone/>
              </a:pPr>
              <a:t>104</a:t>
            </a:fld>
            <a:endParaRPr lang="zh-CN" altLang="en-US" sz="1200" b="0">
              <a:solidFill>
                <a:srgbClr val="898F89"/>
              </a:solidFill>
            </a:endParaRPr>
          </a:p>
        </p:txBody>
      </p:sp>
    </p:spTree>
  </p:cSld>
  <p:clrMapOvr>
    <a:masterClrMapping/>
  </p:clrMapOvr>
  <p:transition spd="slow">
    <p:circl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E998-8B25-4132-B3C9-27B1BD043661}"/>
              </a:ext>
            </a:extLst>
          </p:cNvPr>
          <p:cNvSpPr>
            <a:spLocks noGrp="1"/>
          </p:cNvSpPr>
          <p:nvPr>
            <p:ph type="title"/>
          </p:nvPr>
        </p:nvSpPr>
        <p:spPr>
          <a:xfrm>
            <a:off x="1536700" y="291755"/>
            <a:ext cx="9144000" cy="524567"/>
          </a:xfrm>
        </p:spPr>
        <p:txBody>
          <a:bodyPr>
            <a:spAutoFit/>
          </a:bodyPr>
          <a:lstStyle/>
          <a:p>
            <a:pPr eaLnBrk="1" hangingPunct="1">
              <a:lnSpc>
                <a:spcPct val="115000"/>
              </a:lnSpc>
              <a:defRPr/>
            </a:pPr>
            <a:r>
              <a:rPr kumimoji="1" lang="zh-CN" altLang="en-US" sz="2800" b="0" kern="1200" dirty="0">
                <a:latin typeface="黑体" panose="02010609060101010101" pitchFamily="49" charset="-122"/>
                <a:ea typeface="黑体" panose="02010609060101010101" pitchFamily="49" charset="-122"/>
                <a:cs typeface="+mn-cs"/>
              </a:rPr>
              <a:t>四、组成性非编码</a:t>
            </a:r>
            <a:r>
              <a:rPr kumimoji="1" lang="en-US" altLang="zh-CN" sz="2800" b="0" kern="1200" dirty="0">
                <a:latin typeface="黑体" panose="02010609060101010101" pitchFamily="49" charset="-122"/>
                <a:ea typeface="黑体" panose="02010609060101010101" pitchFamily="49" charset="-122"/>
                <a:cs typeface="+mn-cs"/>
              </a:rPr>
              <a:t>RNA</a:t>
            </a:r>
            <a:r>
              <a:rPr kumimoji="1" lang="zh-CN" altLang="en-US" sz="2800" b="0" kern="1200" dirty="0">
                <a:latin typeface="黑体" panose="02010609060101010101" pitchFamily="49" charset="-122"/>
                <a:ea typeface="黑体" panose="02010609060101010101" pitchFamily="49" charset="-122"/>
                <a:cs typeface="+mn-cs"/>
              </a:rPr>
              <a:t>参与</a:t>
            </a:r>
            <a:r>
              <a:rPr kumimoji="1" lang="en-US" altLang="zh-CN" sz="2800" b="0" kern="1200" dirty="0">
                <a:latin typeface="黑体" panose="02010609060101010101" pitchFamily="49" charset="-122"/>
                <a:ea typeface="黑体" panose="02010609060101010101" pitchFamily="49" charset="-122"/>
                <a:cs typeface="+mn-cs"/>
              </a:rPr>
              <a:t>RNA</a:t>
            </a:r>
            <a:r>
              <a:rPr kumimoji="1" lang="zh-CN" altLang="en-US" sz="2800" b="0" kern="1200" dirty="0">
                <a:latin typeface="黑体" panose="02010609060101010101" pitchFamily="49" charset="-122"/>
                <a:ea typeface="黑体" panose="02010609060101010101" pitchFamily="49" charset="-122"/>
                <a:cs typeface="+mn-cs"/>
              </a:rPr>
              <a:t>修饰及蛋白质转运</a:t>
            </a:r>
          </a:p>
        </p:txBody>
      </p:sp>
      <p:sp>
        <p:nvSpPr>
          <p:cNvPr id="276483" name="内容占位符 2">
            <a:extLst>
              <a:ext uri="{FF2B5EF4-FFF2-40B4-BE49-F238E27FC236}">
                <a16:creationId xmlns:a16="http://schemas.microsoft.com/office/drawing/2014/main" id="{B7C3D59A-6488-46E6-B26F-0A9CCF0D7392}"/>
              </a:ext>
            </a:extLst>
          </p:cNvPr>
          <p:cNvSpPr>
            <a:spLocks noGrp="1" noChangeArrowheads="1"/>
          </p:cNvSpPr>
          <p:nvPr>
            <p:ph idx="1"/>
          </p:nvPr>
        </p:nvSpPr>
        <p:spPr>
          <a:xfrm>
            <a:off x="2424112" y="1412875"/>
            <a:ext cx="8640439" cy="4680421"/>
          </a:xfrm>
        </p:spPr>
        <p:txBody>
          <a:bodyPr/>
          <a:lstStyle/>
          <a:p>
            <a:pPr>
              <a:lnSpc>
                <a:spcPct val="110000"/>
              </a:lnSpc>
            </a:pPr>
            <a:r>
              <a:rPr lang="zh-CN" altLang="en-US" sz="2400" b="0" dirty="0">
                <a:solidFill>
                  <a:srgbClr val="0000CC"/>
                </a:solidFill>
              </a:rPr>
              <a:t>核仁小</a:t>
            </a:r>
            <a:r>
              <a:rPr lang="en-US" altLang="zh-CN" sz="2400" b="0" dirty="0">
                <a:solidFill>
                  <a:srgbClr val="0000CC"/>
                </a:solidFill>
              </a:rPr>
              <a:t>RNA</a:t>
            </a:r>
            <a:r>
              <a:rPr lang="en-US" altLang="zh-CN" sz="2400" b="0" dirty="0"/>
              <a:t>(small nucleolar RNA, </a:t>
            </a:r>
            <a:r>
              <a:rPr lang="en-US" altLang="zh-CN" sz="2400" b="0" dirty="0">
                <a:solidFill>
                  <a:srgbClr val="0000CC"/>
                </a:solidFill>
              </a:rPr>
              <a:t>snoRNA</a:t>
            </a:r>
            <a:r>
              <a:rPr lang="en-US" altLang="zh-CN" sz="2400" b="0" dirty="0"/>
              <a:t>)</a:t>
            </a:r>
          </a:p>
          <a:p>
            <a:pPr lvl="1">
              <a:lnSpc>
                <a:spcPct val="110000"/>
              </a:lnSpc>
            </a:pPr>
            <a:r>
              <a:rPr lang="zh-CN" altLang="en-US" sz="2400" dirty="0"/>
              <a:t>细胞核内， 参与</a:t>
            </a:r>
            <a:r>
              <a:rPr lang="en-US" altLang="zh-CN" sz="2400" dirty="0"/>
              <a:t>rRNA</a:t>
            </a:r>
            <a:r>
              <a:rPr lang="zh-CN" altLang="en-US" sz="2400" dirty="0"/>
              <a:t>与</a:t>
            </a:r>
            <a:r>
              <a:rPr lang="en-US" altLang="zh-CN" sz="2400" dirty="0"/>
              <a:t>tRNA</a:t>
            </a:r>
            <a:r>
              <a:rPr lang="zh-CN" altLang="en-US" sz="2400" dirty="0"/>
              <a:t>的成熟</a:t>
            </a:r>
            <a:endParaRPr lang="en-US" altLang="zh-CN" sz="2400" dirty="0"/>
          </a:p>
          <a:p>
            <a:pPr>
              <a:lnSpc>
                <a:spcPct val="110000"/>
              </a:lnSpc>
              <a:spcBef>
                <a:spcPts val="1200"/>
              </a:spcBef>
            </a:pPr>
            <a:r>
              <a:rPr lang="zh-CN" altLang="en-US" sz="2400" b="0" dirty="0">
                <a:solidFill>
                  <a:srgbClr val="0000CC"/>
                </a:solidFill>
              </a:rPr>
              <a:t>核小</a:t>
            </a:r>
            <a:r>
              <a:rPr lang="en-US" altLang="zh-CN" sz="2400" b="0" dirty="0">
                <a:solidFill>
                  <a:srgbClr val="0000CC"/>
                </a:solidFill>
              </a:rPr>
              <a:t>RNA</a:t>
            </a:r>
            <a:r>
              <a:rPr lang="zh-CN" altLang="en-US" sz="2400" b="0" dirty="0"/>
              <a:t>（</a:t>
            </a:r>
            <a:r>
              <a:rPr lang="en-US" altLang="zh-CN" sz="2400" b="0" dirty="0"/>
              <a:t>small nuclear RNA, </a:t>
            </a:r>
            <a:r>
              <a:rPr lang="en-US" altLang="zh-CN" sz="2400" b="0" dirty="0">
                <a:solidFill>
                  <a:srgbClr val="0000CC"/>
                </a:solidFill>
              </a:rPr>
              <a:t>snRNA</a:t>
            </a:r>
            <a:r>
              <a:rPr lang="en-US" altLang="zh-CN" sz="2400" b="0" dirty="0"/>
              <a:t>)</a:t>
            </a:r>
          </a:p>
          <a:p>
            <a:pPr lvl="1">
              <a:lnSpc>
                <a:spcPct val="110000"/>
              </a:lnSpc>
            </a:pPr>
            <a:r>
              <a:rPr lang="en-US" altLang="zh-CN" sz="2400" dirty="0"/>
              <a:t>U1,U2,U4,U5</a:t>
            </a:r>
            <a:r>
              <a:rPr lang="zh-CN" altLang="en-US" sz="2400" dirty="0"/>
              <a:t>和</a:t>
            </a:r>
            <a:r>
              <a:rPr lang="en-US" altLang="zh-CN" sz="2400" dirty="0"/>
              <a:t>U6</a:t>
            </a:r>
            <a:r>
              <a:rPr lang="zh-CN" altLang="en-US" sz="2400" dirty="0"/>
              <a:t> 参与</a:t>
            </a:r>
            <a:r>
              <a:rPr lang="en-US" altLang="zh-CN" sz="2400" dirty="0"/>
              <a:t>mRNA</a:t>
            </a:r>
            <a:r>
              <a:rPr lang="zh-CN" altLang="en-US" sz="2400" dirty="0"/>
              <a:t>的成熟</a:t>
            </a:r>
            <a:endParaRPr lang="en-US" altLang="zh-CN" sz="2400" dirty="0"/>
          </a:p>
          <a:p>
            <a:pPr>
              <a:lnSpc>
                <a:spcPct val="130000"/>
              </a:lnSpc>
              <a:spcBef>
                <a:spcPts val="1200"/>
              </a:spcBef>
            </a:pPr>
            <a:r>
              <a:rPr lang="zh-CN" altLang="en-US" sz="2400" b="0" dirty="0">
                <a:solidFill>
                  <a:srgbClr val="0000CC"/>
                </a:solidFill>
              </a:rPr>
              <a:t>胞质小</a:t>
            </a:r>
            <a:r>
              <a:rPr lang="en-US" altLang="zh-CN" sz="2400" b="0" dirty="0">
                <a:solidFill>
                  <a:srgbClr val="0000CC"/>
                </a:solidFill>
              </a:rPr>
              <a:t>RNA</a:t>
            </a:r>
            <a:r>
              <a:rPr lang="en-US" altLang="zh-CN" sz="2400" b="0" dirty="0"/>
              <a:t>(small cytoplasmic RNA, </a:t>
            </a:r>
            <a:r>
              <a:rPr lang="en-US" altLang="zh-CN" sz="2400" b="0" dirty="0" err="1">
                <a:solidFill>
                  <a:srgbClr val="0000CC"/>
                </a:solidFill>
              </a:rPr>
              <a:t>scRNA</a:t>
            </a:r>
            <a:r>
              <a:rPr lang="en-US" altLang="zh-CN" sz="2400" b="0" dirty="0"/>
              <a:t>)</a:t>
            </a:r>
          </a:p>
          <a:p>
            <a:pPr lvl="1">
              <a:lnSpc>
                <a:spcPct val="130000"/>
              </a:lnSpc>
            </a:pPr>
            <a:r>
              <a:rPr lang="zh-CN" altLang="en-US" sz="2400" dirty="0"/>
              <a:t>细胞质中，参与形成信号识别颗粒（</a:t>
            </a:r>
            <a:r>
              <a:rPr lang="en-US" altLang="zh-CN" sz="2400" dirty="0"/>
              <a:t>SRP</a:t>
            </a:r>
            <a:r>
              <a:rPr lang="zh-CN" altLang="en-US" sz="2400" dirty="0"/>
              <a:t>）</a:t>
            </a:r>
            <a:endParaRPr lang="en-US" altLang="zh-CN" sz="2400" dirty="0"/>
          </a:p>
          <a:p>
            <a:pPr>
              <a:lnSpc>
                <a:spcPct val="130000"/>
              </a:lnSpc>
              <a:spcBef>
                <a:spcPts val="1200"/>
              </a:spcBef>
            </a:pPr>
            <a:r>
              <a:rPr lang="zh-CN" altLang="en-US" sz="2400" b="0" dirty="0">
                <a:solidFill>
                  <a:srgbClr val="0000CC"/>
                </a:solidFill>
              </a:rPr>
              <a:t>催化小</a:t>
            </a:r>
            <a:r>
              <a:rPr lang="en-US" altLang="zh-CN" sz="2400" b="0" dirty="0">
                <a:solidFill>
                  <a:srgbClr val="0000CC"/>
                </a:solidFill>
              </a:rPr>
              <a:t>RNA</a:t>
            </a:r>
            <a:r>
              <a:rPr lang="zh-CN" altLang="en-US" sz="2400" b="0" dirty="0"/>
              <a:t>：  具有催化作用的</a:t>
            </a:r>
            <a:r>
              <a:rPr lang="en-US" altLang="zh-CN" sz="2400" b="0" dirty="0"/>
              <a:t>RNA</a:t>
            </a:r>
            <a:r>
              <a:rPr lang="zh-CN" altLang="en-US" sz="2400" b="0" dirty="0"/>
              <a:t>， 即</a:t>
            </a:r>
            <a:r>
              <a:rPr lang="zh-CN" altLang="en-US" sz="2400" b="0" dirty="0">
                <a:solidFill>
                  <a:srgbClr val="FF0000"/>
                </a:solidFill>
              </a:rPr>
              <a:t>核酶</a:t>
            </a:r>
            <a:r>
              <a:rPr lang="en-US" altLang="zh-CN" sz="2400" b="0" dirty="0">
                <a:solidFill>
                  <a:srgbClr val="FF0000"/>
                </a:solidFill>
              </a:rPr>
              <a:t>(ribozyme)</a:t>
            </a:r>
            <a:r>
              <a:rPr lang="en-US" altLang="zh-CN" sz="2400" b="0" dirty="0"/>
              <a:t>, </a:t>
            </a:r>
            <a:r>
              <a:rPr lang="zh-CN" altLang="en-US" sz="2400" b="0" dirty="0"/>
              <a:t>也称</a:t>
            </a:r>
            <a:r>
              <a:rPr lang="zh-CN" altLang="en-US" sz="2400" b="0" dirty="0">
                <a:solidFill>
                  <a:srgbClr val="FF0000"/>
                </a:solidFill>
              </a:rPr>
              <a:t>催化性</a:t>
            </a:r>
            <a:r>
              <a:rPr lang="en-US" altLang="zh-CN" sz="2400" b="0" dirty="0">
                <a:solidFill>
                  <a:srgbClr val="FF0000"/>
                </a:solidFill>
              </a:rPr>
              <a:t>RNA</a:t>
            </a:r>
            <a:r>
              <a:rPr lang="zh-CN" altLang="en-US" sz="2400" b="0" dirty="0">
                <a:solidFill>
                  <a:srgbClr val="FF0000"/>
                </a:solidFill>
              </a:rPr>
              <a:t>（</a:t>
            </a:r>
            <a:r>
              <a:rPr lang="en-US" altLang="zh-CN" sz="2400" b="0" dirty="0">
                <a:solidFill>
                  <a:srgbClr val="FF0000"/>
                </a:solidFill>
              </a:rPr>
              <a:t>catalytic RNA)</a:t>
            </a:r>
            <a:endParaRPr lang="zh-CN" altLang="en-US" sz="2400" b="0" dirty="0">
              <a:solidFill>
                <a:srgbClr val="FF0000"/>
              </a:solidFill>
            </a:endParaRPr>
          </a:p>
        </p:txBody>
      </p:sp>
    </p:spTree>
  </p:cSld>
  <p:clrMapOvr>
    <a:masterClrMapping/>
  </p:clrMapOvr>
  <p:transition spd="slow">
    <p:circl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364DA4-F27F-4A9F-84A0-6F3766CE002D}"/>
              </a:ext>
            </a:extLst>
          </p:cNvPr>
          <p:cNvSpPr>
            <a:spLocks noGrp="1"/>
          </p:cNvSpPr>
          <p:nvPr>
            <p:ph type="title"/>
          </p:nvPr>
        </p:nvSpPr>
        <p:spPr>
          <a:xfrm>
            <a:off x="1841500" y="189592"/>
            <a:ext cx="8153400" cy="608243"/>
          </a:xfrm>
        </p:spPr>
        <p:txBody>
          <a:bodyPr>
            <a:spAutoFit/>
          </a:bodyPr>
          <a:lstStyle/>
          <a:p>
            <a:pPr eaLnBrk="1" hangingPunct="1">
              <a:lnSpc>
                <a:spcPct val="115000"/>
              </a:lnSpc>
              <a:defRPr/>
            </a:pPr>
            <a:r>
              <a:rPr kumimoji="1" lang="zh-CN" altLang="en-US" b="0" kern="1200" dirty="0">
                <a:latin typeface="Times New Roman" panose="02020603050405020304" pitchFamily="18" charset="0"/>
                <a:ea typeface="黑体" panose="02010609060101010101" pitchFamily="49" charset="-122"/>
                <a:cs typeface="+mn-cs"/>
              </a:rPr>
              <a:t>五、调控性非编码</a:t>
            </a:r>
            <a:r>
              <a:rPr kumimoji="1" lang="en-US" altLang="zh-CN" b="0" kern="1200" dirty="0">
                <a:latin typeface="Times New Roman" panose="02020603050405020304" pitchFamily="18" charset="0"/>
                <a:ea typeface="黑体" panose="02010609060101010101" pitchFamily="49" charset="-122"/>
                <a:cs typeface="+mn-cs"/>
              </a:rPr>
              <a:t>RNA</a:t>
            </a:r>
            <a:r>
              <a:rPr kumimoji="1" lang="zh-CN" altLang="en-US" b="0" kern="1200" dirty="0">
                <a:latin typeface="Times New Roman" panose="02020603050405020304" pitchFamily="18" charset="0"/>
                <a:ea typeface="黑体" panose="02010609060101010101" pitchFamily="49" charset="-122"/>
                <a:cs typeface="+mn-cs"/>
              </a:rPr>
              <a:t>调控基因表达</a:t>
            </a:r>
          </a:p>
        </p:txBody>
      </p:sp>
      <p:sp>
        <p:nvSpPr>
          <p:cNvPr id="282627" name="内容占位符 2">
            <a:extLst>
              <a:ext uri="{FF2B5EF4-FFF2-40B4-BE49-F238E27FC236}">
                <a16:creationId xmlns:a16="http://schemas.microsoft.com/office/drawing/2014/main" id="{0DF6FBFD-C95D-4FE3-99A5-0EE64FCD829D}"/>
              </a:ext>
            </a:extLst>
          </p:cNvPr>
          <p:cNvSpPr>
            <a:spLocks noGrp="1" noChangeArrowheads="1"/>
          </p:cNvSpPr>
          <p:nvPr>
            <p:ph idx="1"/>
          </p:nvPr>
        </p:nvSpPr>
        <p:spPr>
          <a:xfrm>
            <a:off x="2524186" y="2419011"/>
            <a:ext cx="8972413" cy="4176464"/>
          </a:xfrm>
        </p:spPr>
        <p:txBody>
          <a:bodyPr/>
          <a:lstStyle/>
          <a:p>
            <a:r>
              <a:rPr lang="zh-CN" altLang="en-US" sz="2600" dirty="0"/>
              <a:t>非编码小</a:t>
            </a:r>
            <a:r>
              <a:rPr lang="en-US" altLang="zh-CN" sz="2600" dirty="0"/>
              <a:t>RNA</a:t>
            </a:r>
            <a:r>
              <a:rPr lang="zh-CN" altLang="en-US" sz="240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small non-coding RNA</a:t>
            </a:r>
            <a:r>
              <a:rPr lang="zh-CN" altLang="en-US" sz="2400" b="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sncRNA</a:t>
            </a:r>
            <a:r>
              <a:rPr lang="en-US" altLang="zh-CN" sz="2400" dirty="0">
                <a:latin typeface="Times New Roman" panose="02020603050405020304" pitchFamily="18" charset="0"/>
                <a:cs typeface="Times New Roman" panose="02020603050405020304" pitchFamily="18" charset="0"/>
              </a:rPr>
              <a:t>)</a:t>
            </a:r>
          </a:p>
          <a:p>
            <a:pPr lvl="1"/>
            <a:r>
              <a:rPr lang="zh-CN" altLang="en-US" sz="2200" dirty="0">
                <a:solidFill>
                  <a:srgbClr val="C00000"/>
                </a:solidFill>
              </a:rPr>
              <a:t> 小于</a:t>
            </a:r>
            <a:r>
              <a:rPr lang="en-US" altLang="zh-CN" sz="2200" dirty="0">
                <a:solidFill>
                  <a:srgbClr val="C00000"/>
                </a:solidFill>
              </a:rPr>
              <a:t>200nt</a:t>
            </a:r>
            <a:r>
              <a:rPr lang="en-US" altLang="zh-CN" sz="2200" dirty="0"/>
              <a:t>, </a:t>
            </a:r>
            <a:r>
              <a:rPr lang="zh-CN" altLang="en-US" sz="2200" dirty="0"/>
              <a:t>包括：</a:t>
            </a:r>
            <a:endParaRPr lang="en-US" altLang="zh-CN" sz="2200" dirty="0"/>
          </a:p>
          <a:p>
            <a:pPr marL="900000" lvl="2">
              <a:spcBef>
                <a:spcPts val="600"/>
              </a:spcBef>
            </a:pPr>
            <a:r>
              <a:rPr lang="zh-CN" altLang="en-US" sz="2200" dirty="0">
                <a:solidFill>
                  <a:srgbClr val="0000CC"/>
                </a:solidFill>
              </a:rPr>
              <a:t>微</a:t>
            </a:r>
            <a:r>
              <a:rPr lang="en-US" altLang="zh-CN" sz="2200" dirty="0">
                <a:solidFill>
                  <a:srgbClr val="0000CC"/>
                </a:solidFill>
              </a:rPr>
              <a:t>RNA</a:t>
            </a:r>
            <a:r>
              <a:rPr lang="zh-CN" altLang="en-US" sz="2200" dirty="0">
                <a:solidFill>
                  <a:srgbClr val="0000CC"/>
                </a:solidFill>
              </a:rPr>
              <a:t>（</a:t>
            </a:r>
            <a:r>
              <a:rPr lang="en-US" altLang="zh-CN" sz="2200" dirty="0">
                <a:solidFill>
                  <a:srgbClr val="0000CC"/>
                </a:solidFill>
              </a:rPr>
              <a:t>microRNA/miRNA)</a:t>
            </a:r>
            <a:r>
              <a:rPr lang="zh-CN" altLang="en-US" sz="2200" dirty="0"/>
              <a:t>、</a:t>
            </a:r>
            <a:endParaRPr lang="en-US" altLang="zh-CN" sz="2200" dirty="0"/>
          </a:p>
          <a:p>
            <a:pPr marL="900000" lvl="2">
              <a:spcBef>
                <a:spcPts val="600"/>
              </a:spcBef>
            </a:pPr>
            <a:r>
              <a:rPr lang="zh-CN" altLang="en-US" sz="2200" dirty="0">
                <a:solidFill>
                  <a:srgbClr val="0000CC"/>
                </a:solidFill>
              </a:rPr>
              <a:t>小干扰</a:t>
            </a:r>
            <a:r>
              <a:rPr lang="en-US" altLang="zh-CN" sz="2200" dirty="0">
                <a:solidFill>
                  <a:srgbClr val="0000CC"/>
                </a:solidFill>
              </a:rPr>
              <a:t>RNA</a:t>
            </a:r>
            <a:r>
              <a:rPr lang="zh-CN" altLang="en-US" sz="2200" dirty="0"/>
              <a:t>（</a:t>
            </a:r>
            <a:r>
              <a:rPr lang="en-US" altLang="zh-CN" sz="2200" dirty="0"/>
              <a:t>small interfering RNA/</a:t>
            </a:r>
            <a:r>
              <a:rPr lang="en-US" altLang="zh-CN" sz="2200" dirty="0">
                <a:solidFill>
                  <a:srgbClr val="0000CC"/>
                </a:solidFill>
              </a:rPr>
              <a:t>siRNA</a:t>
            </a:r>
            <a:r>
              <a:rPr lang="en-US" altLang="zh-CN" sz="2200" dirty="0"/>
              <a:t>)</a:t>
            </a:r>
          </a:p>
          <a:p>
            <a:pPr marL="900000" lvl="2">
              <a:spcBef>
                <a:spcPts val="1200"/>
              </a:spcBef>
            </a:pPr>
            <a:r>
              <a:rPr lang="en-US" altLang="zh-CN" sz="2200" dirty="0" err="1"/>
              <a:t>piRNA</a:t>
            </a:r>
            <a:r>
              <a:rPr lang="zh-CN" altLang="en-US" sz="2200" dirty="0"/>
              <a:t>（</a:t>
            </a:r>
            <a:r>
              <a:rPr lang="en-US" altLang="zh-CN" sz="2200" dirty="0"/>
              <a:t>PIWI-interacting RNA</a:t>
            </a:r>
            <a:r>
              <a:rPr lang="zh-CN" altLang="en-US" sz="2200" dirty="0"/>
              <a:t>）。</a:t>
            </a:r>
            <a:endParaRPr lang="en-US" altLang="zh-CN" sz="2200" dirty="0"/>
          </a:p>
          <a:p>
            <a:pPr>
              <a:spcBef>
                <a:spcPts val="1200"/>
              </a:spcBef>
            </a:pPr>
            <a:r>
              <a:rPr lang="zh-CN" altLang="en-US" sz="2600" dirty="0"/>
              <a:t>长非编码</a:t>
            </a:r>
            <a:r>
              <a:rPr lang="en-US" altLang="zh-CN" sz="2600" dirty="0"/>
              <a:t>RNA</a:t>
            </a:r>
            <a:r>
              <a:rPr lang="en-US" altLang="zh-CN" sz="2400" b="0" dirty="0">
                <a:latin typeface="Times New Roman" panose="02020603050405020304" pitchFamily="18" charset="0"/>
                <a:cs typeface="Times New Roman" panose="02020603050405020304" pitchFamily="18" charset="0"/>
              </a:rPr>
              <a:t>(long  noncoding RNA</a:t>
            </a:r>
            <a:r>
              <a:rPr lang="zh-CN" altLang="en-US" sz="2400" b="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lncRNA</a:t>
            </a:r>
            <a:r>
              <a:rPr lang="en-US" altLang="zh-CN" sz="2400" b="0" dirty="0">
                <a:latin typeface="Times New Roman" panose="02020603050405020304" pitchFamily="18" charset="0"/>
                <a:cs typeface="Times New Roman" panose="02020603050405020304" pitchFamily="18" charset="0"/>
              </a:rPr>
              <a:t>)</a:t>
            </a:r>
          </a:p>
          <a:p>
            <a:pPr lvl="1">
              <a:spcBef>
                <a:spcPts val="1800"/>
              </a:spcBef>
            </a:pPr>
            <a:r>
              <a:rPr lang="en-US" altLang="zh-CN" sz="2600" dirty="0"/>
              <a:t>200~100 000nt   </a:t>
            </a:r>
            <a:r>
              <a:rPr lang="zh-CN" altLang="en-US" sz="2400" dirty="0"/>
              <a:t>具有强烈的组织特异性与时空特异性</a:t>
            </a:r>
            <a:endParaRPr lang="en-US" altLang="zh-CN" sz="2400" dirty="0"/>
          </a:p>
          <a:p>
            <a:pPr>
              <a:spcBef>
                <a:spcPts val="1800"/>
              </a:spcBef>
            </a:pPr>
            <a:r>
              <a:rPr lang="zh-CN" altLang="en-US" sz="2600" dirty="0"/>
              <a:t>环状</a:t>
            </a:r>
            <a:r>
              <a:rPr lang="en-US" altLang="zh-CN" sz="2600" dirty="0"/>
              <a:t>RNA</a:t>
            </a:r>
            <a:r>
              <a:rPr lang="zh-CN" altLang="en-US" sz="2600" dirty="0"/>
              <a:t>（</a:t>
            </a:r>
            <a:r>
              <a:rPr lang="en-US" altLang="zh-CN" sz="2600" dirty="0" err="1"/>
              <a:t>circRNA</a:t>
            </a:r>
            <a:r>
              <a:rPr lang="en-US" altLang="zh-CN" sz="2600" dirty="0"/>
              <a:t>)    </a:t>
            </a:r>
            <a:r>
              <a:rPr lang="zh-CN" altLang="en-US" sz="2400" b="0" dirty="0"/>
              <a:t>位于细胞核内</a:t>
            </a:r>
          </a:p>
        </p:txBody>
      </p:sp>
      <p:sp>
        <p:nvSpPr>
          <p:cNvPr id="4" name="文本框 3">
            <a:extLst>
              <a:ext uri="{FF2B5EF4-FFF2-40B4-BE49-F238E27FC236}">
                <a16:creationId xmlns:a16="http://schemas.microsoft.com/office/drawing/2014/main" id="{9E362C7A-D97E-0C83-54BD-A55D81205521}"/>
              </a:ext>
            </a:extLst>
          </p:cNvPr>
          <p:cNvSpPr txBox="1"/>
          <p:nvPr/>
        </p:nvSpPr>
        <p:spPr>
          <a:xfrm>
            <a:off x="1415480" y="1067971"/>
            <a:ext cx="9577064" cy="1282787"/>
          </a:xfrm>
          <a:prstGeom prst="rect">
            <a:avLst/>
          </a:prstGeom>
          <a:noFill/>
        </p:spPr>
        <p:txBody>
          <a:bodyPr wrap="square">
            <a:spAutoFit/>
          </a:bodyPr>
          <a:lstStyle/>
          <a:p>
            <a:pPr marL="342900" indent="-342900">
              <a:lnSpc>
                <a:spcPct val="110000"/>
              </a:lnSpc>
              <a:buFont typeface="Arial" panose="020B0604020202020204" pitchFamily="34" charset="0"/>
              <a:buChar char="•"/>
            </a:pPr>
            <a:r>
              <a:rPr lang="zh-CN" altLang="en-US" dirty="0">
                <a:solidFill>
                  <a:srgbClr val="0000CC"/>
                </a:solidFill>
                <a:latin typeface="微软雅黑" panose="020B0503020204020204" pitchFamily="34" charset="-122"/>
                <a:ea typeface="微软雅黑" panose="020B0503020204020204" pitchFamily="34" charset="-122"/>
              </a:rPr>
              <a:t>调控性非编码</a:t>
            </a:r>
            <a:r>
              <a:rPr lang="en-US" altLang="zh-CN" dirty="0">
                <a:solidFill>
                  <a:srgbClr val="0000CC"/>
                </a:solidFill>
                <a:latin typeface="微软雅黑" panose="020B0503020204020204" pitchFamily="34" charset="-122"/>
                <a:ea typeface="微软雅黑" panose="020B0503020204020204" pitchFamily="34" charset="-122"/>
              </a:rPr>
              <a:t>RNA </a:t>
            </a:r>
            <a:r>
              <a:rPr lang="zh-CN" altLang="en-US" dirty="0">
                <a:solidFill>
                  <a:srgbClr val="000000"/>
                </a:solidFill>
                <a:latin typeface="微软雅黑" panose="020B0503020204020204" pitchFamily="34" charset="-122"/>
                <a:ea typeface="微软雅黑" panose="020B0503020204020204" pitchFamily="34" charset="-122"/>
              </a:rPr>
              <a:t>的丰度会随</a:t>
            </a:r>
            <a:r>
              <a:rPr lang="zh-CN" altLang="en-US" dirty="0">
                <a:solidFill>
                  <a:srgbClr val="0000CC"/>
                </a:solidFill>
                <a:latin typeface="微软雅黑" panose="020B0503020204020204" pitchFamily="34" charset="-122"/>
                <a:ea typeface="微软雅黑" panose="020B0503020204020204" pitchFamily="34" charset="-122"/>
              </a:rPr>
              <a:t>外界环境</a:t>
            </a:r>
            <a:r>
              <a:rPr lang="zh-CN" altLang="en-US" dirty="0">
                <a:solidFill>
                  <a:srgbClr val="000000"/>
                </a:solidFill>
                <a:latin typeface="微软雅黑" panose="020B0503020204020204" pitchFamily="34" charset="-122"/>
                <a:ea typeface="微软雅黑" panose="020B0503020204020204" pitchFamily="34" charset="-122"/>
              </a:rPr>
              <a:t>（应激条件等）和</a:t>
            </a:r>
            <a:r>
              <a:rPr lang="zh-CN" altLang="en-US" dirty="0">
                <a:solidFill>
                  <a:srgbClr val="0000CC"/>
                </a:solidFill>
                <a:latin typeface="微软雅黑" panose="020B0503020204020204" pitchFamily="34" charset="-122"/>
                <a:ea typeface="微软雅黑" panose="020B0503020204020204" pitchFamily="34" charset="-122"/>
              </a:rPr>
              <a:t>细胞性状</a:t>
            </a:r>
            <a:r>
              <a:rPr lang="zh-CN" altLang="en-US" dirty="0">
                <a:solidFill>
                  <a:srgbClr val="000000"/>
                </a:solidFill>
                <a:latin typeface="微软雅黑" panose="020B0503020204020204" pitchFamily="34" charset="-122"/>
                <a:ea typeface="微软雅黑" panose="020B0503020204020204" pitchFamily="34" charset="-122"/>
              </a:rPr>
              <a:t>（成熟度、代谢活跃度等）</a:t>
            </a:r>
            <a:r>
              <a:rPr lang="zh-CN" altLang="en-US" dirty="0">
                <a:solidFill>
                  <a:srgbClr val="0000CC"/>
                </a:solidFill>
                <a:latin typeface="微软雅黑" panose="020B0503020204020204" pitchFamily="34" charset="-122"/>
                <a:ea typeface="微软雅黑" panose="020B0503020204020204" pitchFamily="34" charset="-122"/>
              </a:rPr>
              <a:t>的改变而改变</a:t>
            </a:r>
            <a:r>
              <a:rPr lang="zh-CN" altLang="en-US" dirty="0">
                <a:solidFill>
                  <a:srgbClr val="000000"/>
                </a:solidFill>
                <a:latin typeface="微软雅黑" panose="020B0503020204020204" pitchFamily="34" charset="-122"/>
                <a:ea typeface="微软雅黑" panose="020B0503020204020204" pitchFamily="34" charset="-122"/>
              </a:rPr>
              <a:t>，在基因表达过程中发挥重要调控作用。</a:t>
            </a:r>
          </a:p>
        </p:txBody>
      </p:sp>
    </p:spTree>
  </p:cSld>
  <p:clrMapOvr>
    <a:masterClrMapping/>
  </p:clrMapOvr>
  <p:transition spd="slow">
    <p:circl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4674" name="Picture 4">
            <a:extLst>
              <a:ext uri="{FF2B5EF4-FFF2-40B4-BE49-F238E27FC236}">
                <a16:creationId xmlns:a16="http://schemas.microsoft.com/office/drawing/2014/main" id="{B79DEAFD-5258-43A6-9174-B4CEDCB58E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902" t="2551" r="5968"/>
          <a:stretch>
            <a:fillRect/>
          </a:stretch>
        </p:blipFill>
        <p:spPr bwMode="auto">
          <a:xfrm>
            <a:off x="6862094" y="1044327"/>
            <a:ext cx="3865563" cy="578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4676" name="Rectangle 2">
            <a:extLst>
              <a:ext uri="{FF2B5EF4-FFF2-40B4-BE49-F238E27FC236}">
                <a16:creationId xmlns:a16="http://schemas.microsoft.com/office/drawing/2014/main" id="{7E1D2C24-D061-4C16-BA57-4C8438D8232E}"/>
              </a:ext>
            </a:extLst>
          </p:cNvPr>
          <p:cNvSpPr txBox="1">
            <a:spLocks noChangeArrowheads="1"/>
          </p:cNvSpPr>
          <p:nvPr/>
        </p:nvSpPr>
        <p:spPr bwMode="auto">
          <a:xfrm>
            <a:off x="1524001" y="1208088"/>
            <a:ext cx="53197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a:spcBef>
                <a:spcPct val="0"/>
              </a:spcBef>
              <a:buClrTx/>
              <a:buFontTx/>
              <a:buNone/>
            </a:pPr>
            <a:endParaRPr lang="en-US" altLang="zh-CN" sz="3600">
              <a:solidFill>
                <a:srgbClr val="FF0000"/>
              </a:solidFill>
              <a:latin typeface="华文新魏" panose="02010800040101010101" pitchFamily="2" charset="-122"/>
              <a:ea typeface="华文新魏" panose="02010800040101010101" pitchFamily="2" charset="-122"/>
            </a:endParaRPr>
          </a:p>
        </p:txBody>
      </p:sp>
      <p:sp>
        <p:nvSpPr>
          <p:cNvPr id="5" name="Rectangle 5">
            <a:extLst>
              <a:ext uri="{FF2B5EF4-FFF2-40B4-BE49-F238E27FC236}">
                <a16:creationId xmlns:a16="http://schemas.microsoft.com/office/drawing/2014/main" id="{7F5A75ED-312B-401C-996F-5EA8E6E3D991}"/>
              </a:ext>
            </a:extLst>
          </p:cNvPr>
          <p:cNvSpPr>
            <a:spLocks noChangeArrowheads="1"/>
          </p:cNvSpPr>
          <p:nvPr/>
        </p:nvSpPr>
        <p:spPr bwMode="auto">
          <a:xfrm>
            <a:off x="1703687" y="1208088"/>
            <a:ext cx="4808537" cy="498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nSpc>
                <a:spcPct val="130000"/>
              </a:lnSpc>
              <a:spcBef>
                <a:spcPct val="0"/>
              </a:spcBef>
              <a:buClr>
                <a:srgbClr val="FF0000"/>
              </a:buClr>
              <a:buSzPct val="75000"/>
              <a:buFont typeface="Wingdings" panose="05000000000000000000" pitchFamily="2" charset="2"/>
              <a:buChar char="Ø"/>
            </a:pPr>
            <a:r>
              <a:rPr lang="zh-CN" altLang="en-US" sz="2500" b="0" dirty="0">
                <a:solidFill>
                  <a:srgbClr val="FF0000"/>
                </a:solidFill>
                <a:latin typeface="黑体" panose="02010609060101010101" pitchFamily="49" charset="-122"/>
                <a:ea typeface="黑体" panose="02010609060101010101" pitchFamily="49" charset="-122"/>
              </a:rPr>
              <a:t>内源性，单链</a:t>
            </a:r>
            <a:endParaRPr lang="en-US" altLang="zh-CN" sz="2500" b="0" dirty="0">
              <a:solidFill>
                <a:srgbClr val="FF0000"/>
              </a:solidFill>
              <a:latin typeface="黑体" panose="02010609060101010101" pitchFamily="49" charset="-122"/>
              <a:ea typeface="黑体" panose="02010609060101010101" pitchFamily="49" charset="-122"/>
            </a:endParaRPr>
          </a:p>
          <a:p>
            <a:pPr>
              <a:lnSpc>
                <a:spcPct val="130000"/>
              </a:lnSpc>
              <a:spcBef>
                <a:spcPct val="0"/>
              </a:spcBef>
              <a:buClr>
                <a:srgbClr val="FF0000"/>
              </a:buClr>
              <a:buSzPct val="75000"/>
              <a:buFont typeface="Wingdings" panose="05000000000000000000" pitchFamily="2" charset="2"/>
              <a:buChar char="Ø"/>
            </a:pPr>
            <a:r>
              <a:rPr lang="zh-CN" altLang="en-US" sz="2500" b="0" dirty="0">
                <a:solidFill>
                  <a:schemeClr val="tx1"/>
                </a:solidFill>
                <a:latin typeface="黑体" panose="02010609060101010101" pitchFamily="49" charset="-122"/>
                <a:ea typeface="黑体" panose="02010609060101010101" pitchFamily="49" charset="-122"/>
              </a:rPr>
              <a:t>成熟的</a:t>
            </a:r>
            <a:r>
              <a:rPr lang="en-US" altLang="zh-CN" sz="2500" b="0" dirty="0">
                <a:solidFill>
                  <a:schemeClr val="tx1"/>
                </a:solidFill>
                <a:latin typeface="黑体" panose="02010609060101010101" pitchFamily="49" charset="-122"/>
                <a:ea typeface="黑体" panose="02010609060101010101" pitchFamily="49" charset="-122"/>
              </a:rPr>
              <a:t>miRNA</a:t>
            </a:r>
            <a:r>
              <a:rPr lang="zh-CN" altLang="en-US" sz="2500" b="0" dirty="0">
                <a:solidFill>
                  <a:srgbClr val="C00000"/>
                </a:solidFill>
                <a:latin typeface="黑体" panose="02010609060101010101" pitchFamily="49" charset="-122"/>
                <a:ea typeface="黑体" panose="02010609060101010101" pitchFamily="49" charset="-122"/>
              </a:rPr>
              <a:t>长度约</a:t>
            </a:r>
            <a:r>
              <a:rPr lang="en-US" altLang="zh-CN" sz="2500" b="0" dirty="0">
                <a:solidFill>
                  <a:srgbClr val="C00000"/>
                </a:solidFill>
                <a:latin typeface="黑体" panose="02010609060101010101" pitchFamily="49" charset="-122"/>
                <a:ea typeface="黑体" panose="02010609060101010101" pitchFamily="49" charset="-122"/>
              </a:rPr>
              <a:t>22nt</a:t>
            </a:r>
          </a:p>
          <a:p>
            <a:pPr>
              <a:lnSpc>
                <a:spcPct val="130000"/>
              </a:lnSpc>
              <a:spcBef>
                <a:spcPct val="0"/>
              </a:spcBef>
              <a:buClr>
                <a:srgbClr val="FF0000"/>
              </a:buClr>
              <a:buSzPct val="75000"/>
              <a:buFont typeface="Wingdings" panose="05000000000000000000" pitchFamily="2" charset="2"/>
              <a:buChar char="Ø"/>
            </a:pPr>
            <a:r>
              <a:rPr lang="zh-CN" altLang="en-US" sz="2500" b="0" dirty="0">
                <a:solidFill>
                  <a:srgbClr val="000000"/>
                </a:solidFill>
                <a:latin typeface="黑体" panose="02010609060101010101" pitchFamily="49" charset="-122"/>
                <a:ea typeface="黑体" panose="02010609060101010101" pitchFamily="49" charset="-122"/>
              </a:rPr>
              <a:t>初级产物具有发夹环结构</a:t>
            </a:r>
            <a:endParaRPr lang="en-US" altLang="zh-CN" sz="2500" b="0" dirty="0">
              <a:solidFill>
                <a:srgbClr val="000000"/>
              </a:solidFill>
              <a:latin typeface="黑体" panose="02010609060101010101" pitchFamily="49" charset="-122"/>
              <a:ea typeface="黑体" panose="02010609060101010101" pitchFamily="49" charset="-122"/>
            </a:endParaRPr>
          </a:p>
          <a:p>
            <a:pPr>
              <a:lnSpc>
                <a:spcPct val="130000"/>
              </a:lnSpc>
              <a:spcBef>
                <a:spcPct val="0"/>
              </a:spcBef>
              <a:buClr>
                <a:srgbClr val="FF0000"/>
              </a:buClr>
              <a:buSzPct val="75000"/>
              <a:buFont typeface="Wingdings" panose="05000000000000000000" pitchFamily="2" charset="2"/>
              <a:buChar char="Ø"/>
            </a:pPr>
            <a:r>
              <a:rPr lang="zh-CN" altLang="en-US" sz="2500" b="0" dirty="0">
                <a:solidFill>
                  <a:schemeClr val="tx1"/>
                </a:solidFill>
                <a:latin typeface="黑体" panose="02010609060101010101" pitchFamily="49" charset="-122"/>
                <a:ea typeface="黑体" panose="02010609060101010101" pitchFamily="49" charset="-122"/>
              </a:rPr>
              <a:t>经</a:t>
            </a:r>
            <a:r>
              <a:rPr lang="en-US" altLang="zh-CN" sz="2500" b="0" dirty="0">
                <a:solidFill>
                  <a:srgbClr val="C00000"/>
                </a:solidFill>
                <a:latin typeface="黑体" panose="02010609060101010101" pitchFamily="49" charset="-122"/>
                <a:ea typeface="黑体" panose="02010609060101010101" pitchFamily="49" charset="-122"/>
              </a:rPr>
              <a:t>Dicer</a:t>
            </a:r>
            <a:r>
              <a:rPr lang="zh-CN" altLang="en-US" sz="2500" b="0" dirty="0">
                <a:solidFill>
                  <a:srgbClr val="C00000"/>
                </a:solidFill>
                <a:latin typeface="黑体" panose="02010609060101010101" pitchFamily="49" charset="-122"/>
                <a:ea typeface="黑体" panose="02010609060101010101" pitchFamily="49" charset="-122"/>
              </a:rPr>
              <a:t>酶</a:t>
            </a:r>
            <a:r>
              <a:rPr lang="zh-CN" altLang="en-US" sz="2500" b="0" dirty="0">
                <a:solidFill>
                  <a:schemeClr val="tx1"/>
                </a:solidFill>
                <a:latin typeface="黑体" panose="02010609060101010101" pitchFamily="49" charset="-122"/>
                <a:ea typeface="黑体" panose="02010609060101010101" pitchFamily="49" charset="-122"/>
              </a:rPr>
              <a:t>剪切</a:t>
            </a:r>
            <a:r>
              <a:rPr lang="en-US" altLang="zh-CN" sz="2500" b="0" dirty="0">
                <a:solidFill>
                  <a:schemeClr val="tx1"/>
                </a:solidFill>
                <a:latin typeface="黑体" panose="02010609060101010101" pitchFamily="49" charset="-122"/>
                <a:ea typeface="黑体" panose="02010609060101010101" pitchFamily="49" charset="-122"/>
              </a:rPr>
              <a:t>RNA</a:t>
            </a:r>
            <a:r>
              <a:rPr lang="zh-CN" altLang="en-US" sz="2500" b="0" dirty="0">
                <a:solidFill>
                  <a:schemeClr val="tx1"/>
                </a:solidFill>
                <a:latin typeface="黑体" panose="02010609060101010101" pitchFamily="49" charset="-122"/>
                <a:ea typeface="黑体" panose="02010609060101010101" pitchFamily="49" charset="-122"/>
              </a:rPr>
              <a:t>前体形成，与特定蛋白一起形成</a:t>
            </a:r>
            <a:r>
              <a:rPr lang="en-US" altLang="zh-CN" sz="2500" b="0" dirty="0">
                <a:solidFill>
                  <a:srgbClr val="FF0000"/>
                </a:solidFill>
                <a:latin typeface="黑体" panose="02010609060101010101" pitchFamily="49" charset="-122"/>
                <a:ea typeface="黑体" panose="02010609060101010101" pitchFamily="49" charset="-122"/>
              </a:rPr>
              <a:t>RISC</a:t>
            </a:r>
            <a:r>
              <a:rPr lang="zh-CN" altLang="en-US" sz="2500" b="0" dirty="0">
                <a:solidFill>
                  <a:schemeClr val="tx1"/>
                </a:solidFill>
                <a:latin typeface="黑体" panose="02010609060101010101" pitchFamily="49" charset="-122"/>
                <a:ea typeface="黑体" panose="02010609060101010101" pitchFamily="49" charset="-122"/>
              </a:rPr>
              <a:t>，参与</a:t>
            </a:r>
            <a:r>
              <a:rPr lang="zh-CN" altLang="en-US" sz="2500" b="0" dirty="0">
                <a:solidFill>
                  <a:srgbClr val="FF0000"/>
                </a:solidFill>
                <a:latin typeface="黑体" panose="02010609060101010101" pitchFamily="49" charset="-122"/>
                <a:ea typeface="黑体" panose="02010609060101010101" pitchFamily="49" charset="-122"/>
              </a:rPr>
              <a:t>调控基因的表达</a:t>
            </a:r>
            <a:endParaRPr lang="en-US" altLang="zh-CN" sz="2500" b="0" dirty="0">
              <a:solidFill>
                <a:srgbClr val="FF0000"/>
              </a:solidFill>
              <a:latin typeface="黑体" panose="02010609060101010101" pitchFamily="49" charset="-122"/>
              <a:ea typeface="黑体" panose="02010609060101010101" pitchFamily="49" charset="-122"/>
            </a:endParaRPr>
          </a:p>
          <a:p>
            <a:pPr>
              <a:lnSpc>
                <a:spcPct val="130000"/>
              </a:lnSpc>
              <a:spcBef>
                <a:spcPct val="0"/>
              </a:spcBef>
              <a:buClr>
                <a:srgbClr val="FF0000"/>
              </a:buClr>
              <a:buSzPct val="75000"/>
              <a:buFont typeface="Wingdings" panose="05000000000000000000" pitchFamily="2" charset="2"/>
              <a:buChar char="Ø"/>
            </a:pPr>
            <a:endParaRPr lang="en-US" altLang="zh-CN" sz="2500" b="0" u="sng" dirty="0">
              <a:solidFill>
                <a:srgbClr val="FF0000"/>
              </a:solidFill>
              <a:latin typeface="黑体" panose="02010609060101010101" pitchFamily="49" charset="-122"/>
              <a:ea typeface="黑体" panose="02010609060101010101" pitchFamily="49" charset="-122"/>
            </a:endParaRPr>
          </a:p>
          <a:p>
            <a:pPr>
              <a:lnSpc>
                <a:spcPct val="130000"/>
              </a:lnSpc>
              <a:spcBef>
                <a:spcPct val="0"/>
              </a:spcBef>
              <a:buClr>
                <a:srgbClr val="FF0000"/>
              </a:buClr>
              <a:buSzPct val="75000"/>
              <a:buFontTx/>
              <a:buNone/>
            </a:pPr>
            <a:r>
              <a:rPr lang="en-US" altLang="zh-CN" sz="2500" b="0" dirty="0">
                <a:solidFill>
                  <a:srgbClr val="FF0000"/>
                </a:solidFill>
                <a:latin typeface="黑体" panose="02010609060101010101" pitchFamily="49" charset="-122"/>
                <a:ea typeface="黑体" panose="02010609060101010101" pitchFamily="49" charset="-122"/>
              </a:rPr>
              <a:t>RISC</a:t>
            </a:r>
            <a:r>
              <a:rPr lang="zh-CN" altLang="en-US" sz="2500" b="0" dirty="0">
                <a:solidFill>
                  <a:srgbClr val="0000CC"/>
                </a:solidFill>
                <a:latin typeface="黑体" panose="02010609060101010101" pitchFamily="49" charset="-122"/>
                <a:ea typeface="黑体" panose="02010609060101010101" pitchFamily="49" charset="-122"/>
              </a:rPr>
              <a:t>（</a:t>
            </a:r>
            <a:r>
              <a:rPr lang="en-US" altLang="zh-CN" sz="2400" b="0" dirty="0">
                <a:solidFill>
                  <a:srgbClr val="0000CC"/>
                </a:solidFill>
                <a:latin typeface="黑体" panose="02010609060101010101" pitchFamily="49" charset="-122"/>
                <a:ea typeface="黑体" panose="02010609060101010101" pitchFamily="49" charset="-122"/>
              </a:rPr>
              <a:t>RNA-induced silencing complex</a:t>
            </a:r>
            <a:r>
              <a:rPr lang="zh-CN" altLang="en-US" sz="2400" b="0" dirty="0">
                <a:solidFill>
                  <a:srgbClr val="0000CC"/>
                </a:solidFill>
                <a:latin typeface="黑体" panose="02010609060101010101" pitchFamily="49" charset="-122"/>
                <a:ea typeface="黑体" panose="02010609060101010101" pitchFamily="49" charset="-122"/>
              </a:rPr>
              <a:t>）</a:t>
            </a:r>
            <a:r>
              <a:rPr lang="en-US" altLang="zh-CN" sz="2400" b="0" dirty="0">
                <a:solidFill>
                  <a:srgbClr val="0000CC"/>
                </a:solidFill>
                <a:latin typeface="黑体" panose="02010609060101010101" pitchFamily="49" charset="-122"/>
                <a:ea typeface="黑体" panose="02010609060101010101" pitchFamily="49" charset="-122"/>
              </a:rPr>
              <a:t> RNA</a:t>
            </a:r>
            <a:r>
              <a:rPr lang="zh-CN" altLang="en-US" sz="2400" b="0" dirty="0">
                <a:solidFill>
                  <a:srgbClr val="0000CC"/>
                </a:solidFill>
                <a:latin typeface="黑体" panose="02010609060101010101" pitchFamily="49" charset="-122"/>
                <a:ea typeface="黑体" panose="02010609060101010101" pitchFamily="49" charset="-122"/>
              </a:rPr>
              <a:t>诱导的沉默复合体</a:t>
            </a:r>
            <a:r>
              <a:rPr lang="en-US" altLang="zh-CN" sz="2400" b="0" dirty="0">
                <a:solidFill>
                  <a:srgbClr val="0000CC"/>
                </a:solidFill>
                <a:latin typeface="黑体" panose="02010609060101010101" pitchFamily="49" charset="-122"/>
                <a:ea typeface="黑体" panose="02010609060101010101" pitchFamily="49" charset="-122"/>
              </a:rPr>
              <a:t>,</a:t>
            </a:r>
            <a:r>
              <a:rPr lang="zh-CN" altLang="en-US" sz="2400" b="0" dirty="0">
                <a:solidFill>
                  <a:srgbClr val="0000CC"/>
                </a:solidFill>
                <a:latin typeface="黑体" panose="02010609060101010101" pitchFamily="49" charset="-122"/>
                <a:ea typeface="黑体" panose="02010609060101010101" pitchFamily="49" charset="-122"/>
              </a:rPr>
              <a:t>也称</a:t>
            </a:r>
            <a:r>
              <a:rPr lang="en-US" altLang="zh-CN" sz="2400" b="0" dirty="0" err="1">
                <a:solidFill>
                  <a:srgbClr val="0000CC"/>
                </a:solidFill>
                <a:latin typeface="黑体" panose="02010609060101010101" pitchFamily="49" charset="-122"/>
                <a:ea typeface="黑体" panose="02010609060101010101" pitchFamily="49" charset="-122"/>
              </a:rPr>
              <a:t>miRNP</a:t>
            </a:r>
            <a:r>
              <a:rPr lang="zh-CN" altLang="en-US" sz="2400" b="0" dirty="0">
                <a:solidFill>
                  <a:srgbClr val="0000CC"/>
                </a:solidFill>
                <a:latin typeface="黑体" panose="02010609060101010101" pitchFamily="49" charset="-122"/>
                <a:ea typeface="黑体" panose="02010609060101010101" pitchFamily="49" charset="-122"/>
              </a:rPr>
              <a:t> 或 </a:t>
            </a:r>
            <a:r>
              <a:rPr lang="en-US" altLang="zh-CN" sz="2400" b="0" dirty="0" err="1">
                <a:solidFill>
                  <a:srgbClr val="0000CC"/>
                </a:solidFill>
                <a:latin typeface="黑体" panose="02010609060101010101" pitchFamily="49" charset="-122"/>
                <a:ea typeface="黑体" panose="02010609060101010101" pitchFamily="49" charset="-122"/>
              </a:rPr>
              <a:t>miRISC</a:t>
            </a:r>
            <a:r>
              <a:rPr lang="en-US" altLang="zh-CN" sz="2400" b="0" dirty="0">
                <a:solidFill>
                  <a:srgbClr val="0000CC"/>
                </a:solidFill>
                <a:latin typeface="黑体" panose="02010609060101010101" pitchFamily="49" charset="-122"/>
                <a:ea typeface="黑体" panose="02010609060101010101" pitchFamily="49" charset="-122"/>
              </a:rPr>
              <a:t>.</a:t>
            </a:r>
            <a:endParaRPr lang="en-US" altLang="zh-CN" sz="2500" b="0" u="sng" dirty="0">
              <a:solidFill>
                <a:srgbClr val="0000CC"/>
              </a:solidFill>
              <a:latin typeface="黑体" panose="02010609060101010101" pitchFamily="49" charset="-122"/>
              <a:ea typeface="黑体" panose="02010609060101010101" pitchFamily="49" charset="-122"/>
            </a:endParaRPr>
          </a:p>
        </p:txBody>
      </p:sp>
      <p:sp>
        <p:nvSpPr>
          <p:cNvPr id="9" name="Rectangle 2">
            <a:extLst>
              <a:ext uri="{FF2B5EF4-FFF2-40B4-BE49-F238E27FC236}">
                <a16:creationId xmlns:a16="http://schemas.microsoft.com/office/drawing/2014/main" id="{6334CF82-560E-450B-B635-E92C148A2D43}"/>
              </a:ext>
            </a:extLst>
          </p:cNvPr>
          <p:cNvSpPr txBox="1">
            <a:spLocks noChangeArrowheads="1"/>
          </p:cNvSpPr>
          <p:nvPr/>
        </p:nvSpPr>
        <p:spPr>
          <a:xfrm>
            <a:off x="1952625" y="260350"/>
            <a:ext cx="8572500" cy="719138"/>
          </a:xfrm>
          <a:prstGeom prst="rect">
            <a:avLst/>
          </a:prstGeom>
          <a:noFill/>
        </p:spPr>
        <p:txBody>
          <a:bodyPr/>
          <a:lstStyle/>
          <a:p>
            <a:pPr algn="ctr">
              <a:defRPr/>
            </a:pPr>
            <a:r>
              <a:rPr lang="en-US" altLang="zh-CN" sz="3600" b="1" dirty="0">
                <a:solidFill>
                  <a:srgbClr val="0000CC"/>
                </a:solidFill>
                <a:latin typeface="华文新魏" pitchFamily="2" charset="-122"/>
                <a:ea typeface="华文新魏" pitchFamily="2" charset="-122"/>
              </a:rPr>
              <a:t>microRNA/miRNA</a:t>
            </a:r>
            <a:endParaRPr lang="en-US" altLang="zh-CN" sz="3600" b="1" dirty="0">
              <a:solidFill>
                <a:srgbClr val="0000CC"/>
              </a:solidFill>
              <a:latin typeface="华文新魏" pitchFamily="2" charset="-122"/>
              <a:ea typeface="华文新魏" pitchFamily="2" charset="-122"/>
              <a:cs typeface="+mj-cs"/>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animEffect transition="in" filter="fade">
                                      <p:cBhvr>
                                        <p:cTn id="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TextBox 4">
            <a:extLst>
              <a:ext uri="{FF2B5EF4-FFF2-40B4-BE49-F238E27FC236}">
                <a16:creationId xmlns:a16="http://schemas.microsoft.com/office/drawing/2014/main" id="{E8E5F91C-CAFB-4608-824F-4008935612AF}"/>
              </a:ext>
            </a:extLst>
          </p:cNvPr>
          <p:cNvSpPr txBox="1">
            <a:spLocks noChangeArrowheads="1"/>
          </p:cNvSpPr>
          <p:nvPr/>
        </p:nvSpPr>
        <p:spPr bwMode="auto">
          <a:xfrm>
            <a:off x="1186334" y="1579439"/>
            <a:ext cx="5302084" cy="4515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just">
              <a:lnSpc>
                <a:spcPct val="150000"/>
              </a:lnSpc>
              <a:spcBef>
                <a:spcPct val="0"/>
              </a:spcBef>
              <a:buClr>
                <a:srgbClr val="C00000"/>
              </a:buClr>
              <a:buSzPct val="85000"/>
              <a:buFont typeface="Wingdings" panose="05000000000000000000" pitchFamily="2" charset="2"/>
              <a:buChar char="Ø"/>
            </a:pPr>
            <a:r>
              <a:rPr lang="en-US" altLang="zh-CN" b="0" dirty="0">
                <a:solidFill>
                  <a:schemeClr val="tx1"/>
                </a:solidFill>
                <a:latin typeface="黑体" panose="02010609060101010101" pitchFamily="49" charset="-122"/>
                <a:ea typeface="黑体" panose="02010609060101010101" pitchFamily="49" charset="-122"/>
              </a:rPr>
              <a:t>small interfering RNA</a:t>
            </a:r>
          </a:p>
          <a:p>
            <a:pPr algn="just">
              <a:lnSpc>
                <a:spcPct val="150000"/>
              </a:lnSpc>
              <a:spcBef>
                <a:spcPct val="0"/>
              </a:spcBef>
              <a:buClr>
                <a:srgbClr val="C00000"/>
              </a:buClr>
              <a:buSzPct val="85000"/>
              <a:buFont typeface="Wingdings" panose="05000000000000000000" pitchFamily="2" charset="2"/>
              <a:buChar char="Ø"/>
            </a:pPr>
            <a:r>
              <a:rPr lang="zh-CN" altLang="en-US" b="0" dirty="0">
                <a:solidFill>
                  <a:srgbClr val="C00000"/>
                </a:solidFill>
                <a:latin typeface="黑体" panose="02010609060101010101" pitchFamily="49" charset="-122"/>
                <a:ea typeface="黑体" panose="02010609060101010101" pitchFamily="49" charset="-122"/>
              </a:rPr>
              <a:t>外源性或内源性</a:t>
            </a:r>
            <a:r>
              <a:rPr lang="zh-CN" altLang="en-US" b="0" dirty="0">
                <a:solidFill>
                  <a:schemeClr val="tx1"/>
                </a:solidFill>
                <a:latin typeface="黑体" panose="02010609060101010101" pitchFamily="49" charset="-122"/>
                <a:ea typeface="黑体" panose="02010609060101010101" pitchFamily="49" charset="-122"/>
              </a:rPr>
              <a:t>小片段</a:t>
            </a:r>
            <a:r>
              <a:rPr lang="zh-CN" altLang="en-US" b="0" dirty="0">
                <a:solidFill>
                  <a:srgbClr val="C00000"/>
                </a:solidFill>
                <a:latin typeface="黑体" panose="02010609060101010101" pitchFamily="49" charset="-122"/>
                <a:ea typeface="黑体" panose="02010609060101010101" pitchFamily="49" charset="-122"/>
              </a:rPr>
              <a:t>双链</a:t>
            </a:r>
            <a:r>
              <a:rPr lang="en-US" altLang="zh-CN" b="0" dirty="0">
                <a:solidFill>
                  <a:srgbClr val="C00000"/>
                </a:solidFill>
                <a:latin typeface="黑体" panose="02010609060101010101" pitchFamily="49" charset="-122"/>
                <a:ea typeface="黑体" panose="02010609060101010101" pitchFamily="49" charset="-122"/>
              </a:rPr>
              <a:t>RNA</a:t>
            </a:r>
          </a:p>
          <a:p>
            <a:pPr algn="just">
              <a:lnSpc>
                <a:spcPct val="150000"/>
              </a:lnSpc>
              <a:spcBef>
                <a:spcPct val="0"/>
              </a:spcBef>
              <a:buClr>
                <a:srgbClr val="C00000"/>
              </a:buClr>
              <a:buSzPct val="85000"/>
              <a:buFont typeface="Wingdings" panose="05000000000000000000" pitchFamily="2" charset="2"/>
              <a:buChar char="Ø"/>
            </a:pPr>
            <a:r>
              <a:rPr lang="zh-CN" altLang="en-US" b="0" dirty="0">
                <a:solidFill>
                  <a:schemeClr val="tx1"/>
                </a:solidFill>
                <a:latin typeface="黑体" panose="02010609060101010101" pitchFamily="49" charset="-122"/>
                <a:ea typeface="黑体" panose="02010609060101010101" pitchFamily="49" charset="-122"/>
              </a:rPr>
              <a:t>长约</a:t>
            </a:r>
            <a:r>
              <a:rPr lang="en-US" altLang="zh-CN" b="0" dirty="0">
                <a:solidFill>
                  <a:schemeClr val="tx1"/>
                </a:solidFill>
                <a:latin typeface="黑体" panose="02010609060101010101" pitchFamily="49" charset="-122"/>
                <a:ea typeface="黑体" panose="02010609060101010101" pitchFamily="49" charset="-122"/>
              </a:rPr>
              <a:t>20</a:t>
            </a:r>
            <a:r>
              <a:rPr lang="zh-CN" altLang="en-US" b="0" dirty="0">
                <a:solidFill>
                  <a:schemeClr val="tx1"/>
                </a:solidFill>
                <a:latin typeface="黑体" panose="02010609060101010101" pitchFamily="49" charset="-122"/>
                <a:ea typeface="黑体" panose="02010609060101010101" pitchFamily="49" charset="-122"/>
              </a:rPr>
              <a:t>～</a:t>
            </a:r>
            <a:r>
              <a:rPr lang="en-US" altLang="zh-CN" b="0" dirty="0">
                <a:solidFill>
                  <a:schemeClr val="tx1"/>
                </a:solidFill>
                <a:latin typeface="黑体" panose="02010609060101010101" pitchFamily="49" charset="-122"/>
                <a:ea typeface="黑体" panose="02010609060101010101" pitchFamily="49" charset="-122"/>
              </a:rPr>
              <a:t>23bp</a:t>
            </a:r>
          </a:p>
          <a:p>
            <a:pPr algn="just">
              <a:lnSpc>
                <a:spcPct val="150000"/>
              </a:lnSpc>
              <a:spcBef>
                <a:spcPct val="0"/>
              </a:spcBef>
              <a:buClr>
                <a:srgbClr val="C00000"/>
              </a:buClr>
              <a:buSzPct val="85000"/>
              <a:buFont typeface="Wingdings" panose="05000000000000000000" pitchFamily="2" charset="2"/>
              <a:buChar char="Ø"/>
            </a:pPr>
            <a:r>
              <a:rPr lang="zh-CN" altLang="en-US" b="0" dirty="0">
                <a:solidFill>
                  <a:schemeClr val="tx1"/>
                </a:solidFill>
                <a:latin typeface="黑体" panose="02010609060101010101" pitchFamily="49" charset="-122"/>
                <a:ea typeface="黑体" panose="02010609060101010101" pitchFamily="49" charset="-122"/>
              </a:rPr>
              <a:t>由</a:t>
            </a:r>
            <a:r>
              <a:rPr lang="en-US" altLang="zh-CN" b="0" dirty="0">
                <a:solidFill>
                  <a:schemeClr val="tx1"/>
                </a:solidFill>
                <a:latin typeface="黑体" panose="02010609060101010101" pitchFamily="49" charset="-122"/>
                <a:ea typeface="黑体" panose="02010609060101010101" pitchFamily="49" charset="-122"/>
              </a:rPr>
              <a:t>Dicer</a:t>
            </a:r>
            <a:r>
              <a:rPr lang="zh-CN" altLang="en-US" b="0" dirty="0">
                <a:solidFill>
                  <a:schemeClr val="tx1"/>
                </a:solidFill>
                <a:latin typeface="黑体" panose="02010609060101010101" pitchFamily="49" charset="-122"/>
                <a:ea typeface="黑体" panose="02010609060101010101" pitchFamily="49" charset="-122"/>
              </a:rPr>
              <a:t>酶加工而成</a:t>
            </a:r>
            <a:endParaRPr lang="en-US" altLang="zh-CN" b="0" dirty="0">
              <a:solidFill>
                <a:schemeClr val="tx1"/>
              </a:solidFill>
              <a:latin typeface="黑体" panose="02010609060101010101" pitchFamily="49" charset="-122"/>
              <a:ea typeface="黑体" panose="02010609060101010101" pitchFamily="49" charset="-122"/>
            </a:endParaRPr>
          </a:p>
          <a:p>
            <a:pPr algn="just">
              <a:lnSpc>
                <a:spcPct val="150000"/>
              </a:lnSpc>
              <a:spcBef>
                <a:spcPct val="0"/>
              </a:spcBef>
              <a:buClr>
                <a:srgbClr val="C00000"/>
              </a:buClr>
              <a:buSzPct val="85000"/>
              <a:buFont typeface="Wingdings" panose="05000000000000000000" pitchFamily="2" charset="2"/>
              <a:buChar char="Ø"/>
            </a:pPr>
            <a:r>
              <a:rPr lang="zh-CN" altLang="en-US" b="0" dirty="0">
                <a:solidFill>
                  <a:srgbClr val="C00000"/>
                </a:solidFill>
                <a:latin typeface="黑体" panose="02010609060101010101" pitchFamily="49" charset="-122"/>
                <a:ea typeface="黑体" panose="02010609060101010101" pitchFamily="49" charset="-122"/>
              </a:rPr>
              <a:t>降解靶</a:t>
            </a:r>
            <a:r>
              <a:rPr lang="en-US" altLang="zh-CN" b="0" dirty="0">
                <a:solidFill>
                  <a:srgbClr val="C00000"/>
                </a:solidFill>
                <a:latin typeface="黑体" panose="02010609060101010101" pitchFamily="49" charset="-122"/>
                <a:ea typeface="黑体" panose="02010609060101010101" pitchFamily="49" charset="-122"/>
              </a:rPr>
              <a:t>mRNA</a:t>
            </a:r>
            <a:r>
              <a:rPr lang="zh-CN" altLang="en-US" b="0" dirty="0">
                <a:solidFill>
                  <a:srgbClr val="000000"/>
                </a:solidFill>
                <a:latin typeface="黑体" panose="02010609060101010101" pitchFamily="49" charset="-122"/>
                <a:ea typeface="黑体" panose="02010609060101010101" pitchFamily="49" charset="-122"/>
              </a:rPr>
              <a:t>，阻断翻译过程，是一种</a:t>
            </a:r>
            <a:r>
              <a:rPr lang="zh-CN" altLang="en-US" b="0" dirty="0">
                <a:solidFill>
                  <a:srgbClr val="0000CC"/>
                </a:solidFill>
                <a:latin typeface="黑体" panose="02010609060101010101" pitchFamily="49" charset="-122"/>
                <a:ea typeface="黑体" panose="02010609060101010101" pitchFamily="49" charset="-122"/>
              </a:rPr>
              <a:t>转录后基因沉默机制。 </a:t>
            </a:r>
            <a:endParaRPr lang="en-US" altLang="zh-CN" b="0" dirty="0">
              <a:solidFill>
                <a:srgbClr val="0000CC"/>
              </a:solidFill>
              <a:latin typeface="黑体" panose="02010609060101010101" pitchFamily="49" charset="-122"/>
              <a:ea typeface="黑体" panose="02010609060101010101" pitchFamily="49" charset="-122"/>
            </a:endParaRPr>
          </a:p>
          <a:p>
            <a:pPr algn="just">
              <a:lnSpc>
                <a:spcPct val="150000"/>
              </a:lnSpc>
              <a:spcBef>
                <a:spcPct val="0"/>
              </a:spcBef>
              <a:buClr>
                <a:srgbClr val="C00000"/>
              </a:buClr>
              <a:buSzPct val="85000"/>
              <a:buFont typeface="Wingdings" panose="05000000000000000000" pitchFamily="2" charset="2"/>
              <a:buChar char="l"/>
            </a:pPr>
            <a:endParaRPr lang="zh-CN" altLang="en-US" b="0" dirty="0">
              <a:solidFill>
                <a:schemeClr val="tx1"/>
              </a:solidFill>
              <a:latin typeface="黑体" panose="02010609060101010101" pitchFamily="49" charset="-122"/>
              <a:ea typeface="黑体" panose="02010609060101010101" pitchFamily="49" charset="-122"/>
            </a:endParaRPr>
          </a:p>
        </p:txBody>
      </p:sp>
      <p:pic>
        <p:nvPicPr>
          <p:cNvPr id="286723" name="Picture 123">
            <a:extLst>
              <a:ext uri="{FF2B5EF4-FFF2-40B4-BE49-F238E27FC236}">
                <a16:creationId xmlns:a16="http://schemas.microsoft.com/office/drawing/2014/main" id="{33FEF407-83E9-4CFF-9A76-8C607B44B0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4792" t="25835" r="25520" b="16666"/>
          <a:stretch>
            <a:fillRect/>
          </a:stretch>
        </p:blipFill>
        <p:spPr bwMode="auto">
          <a:xfrm>
            <a:off x="7104112" y="1165868"/>
            <a:ext cx="3608386" cy="452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86724" name="TextBox 126">
            <a:extLst>
              <a:ext uri="{FF2B5EF4-FFF2-40B4-BE49-F238E27FC236}">
                <a16:creationId xmlns:a16="http://schemas.microsoft.com/office/drawing/2014/main" id="{C322ECBF-5BAA-4E04-9813-A6114AA47165}"/>
              </a:ext>
            </a:extLst>
          </p:cNvPr>
          <p:cNvSpPr txBox="1">
            <a:spLocks noChangeArrowheads="1"/>
          </p:cNvSpPr>
          <p:nvPr/>
        </p:nvSpPr>
        <p:spPr bwMode="auto">
          <a:xfrm>
            <a:off x="7315201" y="6030914"/>
            <a:ext cx="29194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2400" dirty="0">
                <a:solidFill>
                  <a:srgbClr val="061BBA"/>
                </a:solidFill>
                <a:latin typeface="Arial" panose="020B0604020202020204" pitchFamily="34" charset="0"/>
                <a:ea typeface="宋体" panose="02010600030101010101" pitchFamily="2" charset="-122"/>
              </a:rPr>
              <a:t>RNA</a:t>
            </a:r>
            <a:r>
              <a:rPr lang="zh-CN" altLang="en-US" sz="2400" dirty="0">
                <a:solidFill>
                  <a:srgbClr val="061BBA"/>
                </a:solidFill>
                <a:latin typeface="Arial" panose="020B0604020202020204" pitchFamily="34" charset="0"/>
                <a:ea typeface="宋体" panose="02010600030101010101" pitchFamily="2" charset="-122"/>
              </a:rPr>
              <a:t>干扰作用机制</a:t>
            </a:r>
          </a:p>
        </p:txBody>
      </p:sp>
      <p:sp>
        <p:nvSpPr>
          <p:cNvPr id="286725" name="Rectangle 2">
            <a:extLst>
              <a:ext uri="{FF2B5EF4-FFF2-40B4-BE49-F238E27FC236}">
                <a16:creationId xmlns:a16="http://schemas.microsoft.com/office/drawing/2014/main" id="{2AED2E6B-1B3E-44C0-94B9-DFB8C97787BD}"/>
              </a:ext>
            </a:extLst>
          </p:cNvPr>
          <p:cNvSpPr txBox="1">
            <a:spLocks noChangeArrowheads="1"/>
          </p:cNvSpPr>
          <p:nvPr/>
        </p:nvSpPr>
        <p:spPr bwMode="auto">
          <a:xfrm>
            <a:off x="3503613" y="241300"/>
            <a:ext cx="5929312"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a:spcBef>
                <a:spcPct val="0"/>
              </a:spcBef>
              <a:buClrTx/>
              <a:buFontTx/>
              <a:buNone/>
            </a:pPr>
            <a:r>
              <a:rPr lang="en-US" altLang="zh-CN" sz="3600">
                <a:solidFill>
                  <a:srgbClr val="0000CC"/>
                </a:solidFill>
                <a:latin typeface="华文新魏" panose="02010800040101010101" pitchFamily="2" charset="-122"/>
                <a:ea typeface="华文新魏" panose="02010800040101010101" pitchFamily="2" charset="-122"/>
              </a:rPr>
              <a:t>siRNA(</a:t>
            </a:r>
            <a:r>
              <a:rPr lang="zh-CN" altLang="en-US" sz="3600">
                <a:solidFill>
                  <a:srgbClr val="0000CC"/>
                </a:solidFill>
                <a:latin typeface="华文新魏" panose="02010800040101010101" pitchFamily="2" charset="-122"/>
                <a:ea typeface="华文新魏" panose="02010800040101010101" pitchFamily="2" charset="-122"/>
              </a:rPr>
              <a:t>小干扰</a:t>
            </a:r>
            <a:r>
              <a:rPr lang="en-US" altLang="zh-CN" sz="3600">
                <a:solidFill>
                  <a:srgbClr val="0000CC"/>
                </a:solidFill>
                <a:latin typeface="华文新魏" panose="02010800040101010101" pitchFamily="2" charset="-122"/>
                <a:ea typeface="华文新魏" panose="02010800040101010101" pitchFamily="2" charset="-122"/>
              </a:rPr>
              <a:t>RNA)</a:t>
            </a:r>
          </a:p>
          <a:p>
            <a:pPr algn="ctr">
              <a:spcBef>
                <a:spcPct val="0"/>
              </a:spcBef>
              <a:buClrTx/>
              <a:buFontTx/>
              <a:buNone/>
            </a:pPr>
            <a:endParaRPr lang="en-US" altLang="zh-CN" sz="3600">
              <a:solidFill>
                <a:srgbClr val="0000CC"/>
              </a:solidFill>
              <a:latin typeface="华文新魏" panose="02010800040101010101" pitchFamily="2" charset="-122"/>
              <a:ea typeface="华文新魏" panose="02010800040101010101" pitchFamily="2" charset="-122"/>
            </a:endParaRPr>
          </a:p>
        </p:txBody>
      </p:sp>
      <p:sp>
        <p:nvSpPr>
          <p:cNvPr id="286726" name="灯片编号占位符 1">
            <a:extLst>
              <a:ext uri="{FF2B5EF4-FFF2-40B4-BE49-F238E27FC236}">
                <a16:creationId xmlns:a16="http://schemas.microsoft.com/office/drawing/2014/main" id="{F6B5C587-5269-4AD8-ACD0-83FD4F0BCD7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417DAD5E-2E9B-460F-86BD-4038D991691D}" type="slidenum">
              <a:rPr lang="zh-CN" altLang="en-US" sz="1200" b="0">
                <a:solidFill>
                  <a:srgbClr val="898F89"/>
                </a:solidFill>
              </a:rPr>
              <a:pPr>
                <a:spcBef>
                  <a:spcPct val="0"/>
                </a:spcBef>
                <a:buClrTx/>
                <a:buFontTx/>
                <a:buNone/>
              </a:pPr>
              <a:t>108</a:t>
            </a:fld>
            <a:endParaRPr lang="zh-CN" altLang="en-US" sz="1200" b="0">
              <a:solidFill>
                <a:srgbClr val="898F89"/>
              </a:solidFill>
            </a:endParaRPr>
          </a:p>
        </p:txBody>
      </p:sp>
    </p:spTree>
  </p:cSld>
  <p:clrMapOvr>
    <a:masterClrMapping/>
  </p:clrMapOvr>
  <p:transition spd="slow">
    <p:circl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770" name="图片 1">
            <a:extLst>
              <a:ext uri="{FF2B5EF4-FFF2-40B4-BE49-F238E27FC236}">
                <a16:creationId xmlns:a16="http://schemas.microsoft.com/office/drawing/2014/main" id="{196C9526-94F5-4556-A541-F369585C64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408" y="228360"/>
            <a:ext cx="7290994" cy="6291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8771" name="灯片编号占位符 1">
            <a:extLst>
              <a:ext uri="{FF2B5EF4-FFF2-40B4-BE49-F238E27FC236}">
                <a16:creationId xmlns:a16="http://schemas.microsoft.com/office/drawing/2014/main" id="{0111F678-0E8B-449A-98F5-07CA1DB9D2EC}"/>
              </a:ext>
            </a:extLst>
          </p:cNvPr>
          <p:cNvSpPr>
            <a:spLocks noGrp="1"/>
          </p:cNvSpPr>
          <p:nvPr>
            <p:ph type="sldNum" sz="quarter" idx="4"/>
          </p:nvPr>
        </p:nvSpPr>
        <p:spPr bwMode="auto">
          <a:xfrm>
            <a:off x="9974264" y="6492876"/>
            <a:ext cx="693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l" eaLnBrk="0" hangingPunct="0">
              <a:spcBef>
                <a:spcPct val="0"/>
              </a:spcBef>
              <a:buClrTx/>
              <a:buFontTx/>
              <a:buNone/>
            </a:pPr>
            <a:fld id="{9F119CC5-CF63-4281-817C-402C9E7E0ECC}" type="slidenum">
              <a:rPr lang="zh-CN" altLang="en-US" sz="1200" b="0">
                <a:solidFill>
                  <a:srgbClr val="898F89"/>
                </a:solidFill>
              </a:rPr>
              <a:pPr algn="l" eaLnBrk="0" hangingPunct="0">
                <a:spcBef>
                  <a:spcPct val="0"/>
                </a:spcBef>
                <a:buClrTx/>
                <a:buFontTx/>
                <a:buNone/>
              </a:pPr>
              <a:t>109</a:t>
            </a:fld>
            <a:endParaRPr lang="zh-CN" altLang="en-US" sz="1200" b="0">
              <a:solidFill>
                <a:srgbClr val="898F89"/>
              </a:solidFill>
            </a:endParaRPr>
          </a:p>
        </p:txBody>
      </p:sp>
      <p:sp>
        <p:nvSpPr>
          <p:cNvPr id="3" name="文本框 2">
            <a:extLst>
              <a:ext uri="{FF2B5EF4-FFF2-40B4-BE49-F238E27FC236}">
                <a16:creationId xmlns:a16="http://schemas.microsoft.com/office/drawing/2014/main" id="{BEFA2DC6-3C3E-DFD3-B06C-8FC8BA2A086C}"/>
              </a:ext>
            </a:extLst>
          </p:cNvPr>
          <p:cNvSpPr txBox="1"/>
          <p:nvPr/>
        </p:nvSpPr>
        <p:spPr>
          <a:xfrm>
            <a:off x="7392144" y="1196752"/>
            <a:ext cx="4572000" cy="3449534"/>
          </a:xfrm>
          <a:prstGeom prst="rect">
            <a:avLst/>
          </a:prstGeom>
          <a:solidFill>
            <a:srgbClr val="FFFFCC"/>
          </a:solidFill>
        </p:spPr>
        <p:txBody>
          <a:bodyPr wrap="square">
            <a:spAutoFit/>
          </a:bodyPr>
          <a:lstStyle/>
          <a:p>
            <a:pPr>
              <a:lnSpc>
                <a:spcPct val="110000"/>
              </a:lnSpc>
            </a:pPr>
            <a:r>
              <a:rPr lang="en-US" altLang="zh-CN" sz="2800" dirty="0">
                <a:solidFill>
                  <a:srgbClr val="FF0000"/>
                </a:solidFill>
                <a:latin typeface="微软雅黑" panose="020B0503020204020204" pitchFamily="34" charset="-122"/>
                <a:ea typeface="微软雅黑" panose="020B0503020204020204" pitchFamily="34" charset="-122"/>
              </a:rPr>
              <a:t>RNA</a:t>
            </a:r>
            <a:r>
              <a:rPr lang="zh-CN" altLang="en-US" sz="2800" dirty="0">
                <a:solidFill>
                  <a:srgbClr val="FF0000"/>
                </a:solidFill>
                <a:latin typeface="微软雅黑" panose="020B0503020204020204" pitchFamily="34" charset="-122"/>
                <a:ea typeface="微软雅黑" panose="020B0503020204020204" pitchFamily="34" charset="-122"/>
              </a:rPr>
              <a:t>干扰（</a:t>
            </a:r>
            <a:r>
              <a:rPr lang="en-US" altLang="zh-CN" sz="2800" dirty="0">
                <a:solidFill>
                  <a:srgbClr val="FF0000"/>
                </a:solidFill>
                <a:latin typeface="微软雅黑" panose="020B0503020204020204" pitchFamily="34" charset="-122"/>
                <a:ea typeface="微软雅黑" panose="020B0503020204020204" pitchFamily="34" charset="-122"/>
              </a:rPr>
              <a:t>RNA interference</a:t>
            </a:r>
            <a:r>
              <a:rPr lang="zh-CN" altLang="en-US" sz="2800" dirty="0">
                <a:solidFill>
                  <a:srgbClr val="FF0000"/>
                </a:solidFill>
                <a:latin typeface="微软雅黑" panose="020B0503020204020204" pitchFamily="34" charset="-122"/>
                <a:ea typeface="微软雅黑" panose="020B0503020204020204" pitchFamily="34" charset="-122"/>
              </a:rPr>
              <a:t>，</a:t>
            </a:r>
            <a:r>
              <a:rPr lang="en-US" altLang="zh-CN" sz="2800" dirty="0">
                <a:solidFill>
                  <a:srgbClr val="FF0000"/>
                </a:solidFill>
                <a:latin typeface="微软雅黑" panose="020B0503020204020204" pitchFamily="34" charset="-122"/>
                <a:ea typeface="微软雅黑" panose="020B0503020204020204" pitchFamily="34" charset="-122"/>
              </a:rPr>
              <a:t>RNAi</a:t>
            </a:r>
            <a:r>
              <a:rPr lang="zh-CN" altLang="en-US" sz="2800" dirty="0">
                <a:solidFill>
                  <a:srgbClr val="FF0000"/>
                </a:solidFill>
                <a:latin typeface="微软雅黑" panose="020B0503020204020204" pitchFamily="34" charset="-122"/>
                <a:ea typeface="微软雅黑" panose="020B0503020204020204" pitchFamily="34" charset="-122"/>
              </a:rPr>
              <a:t>）</a:t>
            </a:r>
            <a:r>
              <a:rPr lang="zh-CN" altLang="en-US" sz="2800" dirty="0">
                <a:solidFill>
                  <a:srgbClr val="0000CC"/>
                </a:solidFill>
                <a:latin typeface="微软雅黑" panose="020B0503020204020204" pitchFamily="34" charset="-122"/>
                <a:ea typeface="微软雅黑" panose="020B0503020204020204" pitchFamily="34" charset="-122"/>
              </a:rPr>
              <a:t>：</a:t>
            </a:r>
            <a:endParaRPr lang="en-US" altLang="zh-CN" sz="2800" dirty="0">
              <a:solidFill>
                <a:srgbClr val="0000CC"/>
              </a:solidFill>
              <a:latin typeface="微软雅黑" panose="020B0503020204020204" pitchFamily="34" charset="-122"/>
              <a:ea typeface="微软雅黑" panose="020B0503020204020204" pitchFamily="34" charset="-122"/>
            </a:endParaRPr>
          </a:p>
          <a:p>
            <a:pPr>
              <a:lnSpc>
                <a:spcPct val="110000"/>
              </a:lnSpc>
            </a:pPr>
            <a:r>
              <a:rPr lang="zh-CN" altLang="en-US" dirty="0">
                <a:solidFill>
                  <a:srgbClr val="0000CC"/>
                </a:solidFill>
                <a:latin typeface="微软雅黑" panose="020B0503020204020204" pitchFamily="34" charset="-122"/>
                <a:ea typeface="微软雅黑" panose="020B0503020204020204" pitchFamily="34" charset="-122"/>
              </a:rPr>
              <a:t>指内源性</a:t>
            </a:r>
            <a:r>
              <a:rPr lang="en-US" altLang="zh-CN" dirty="0">
                <a:solidFill>
                  <a:srgbClr val="0000CC"/>
                </a:solidFill>
                <a:latin typeface="微软雅黑" panose="020B0503020204020204" pitchFamily="34" charset="-122"/>
                <a:ea typeface="微软雅黑" panose="020B0503020204020204" pitchFamily="34" charset="-122"/>
              </a:rPr>
              <a:t>miRNA</a:t>
            </a:r>
            <a:r>
              <a:rPr lang="zh-CN" altLang="en-US" dirty="0">
                <a:solidFill>
                  <a:srgbClr val="0000CC"/>
                </a:solidFill>
                <a:latin typeface="微软雅黑" panose="020B0503020204020204" pitchFamily="34" charset="-122"/>
                <a:ea typeface="微软雅黑" panose="020B0503020204020204" pitchFamily="34" charset="-122"/>
              </a:rPr>
              <a:t>或外源性双链</a:t>
            </a:r>
            <a:r>
              <a:rPr lang="en-US" altLang="zh-CN" dirty="0">
                <a:solidFill>
                  <a:srgbClr val="0000CC"/>
                </a:solidFill>
                <a:latin typeface="微软雅黑" panose="020B0503020204020204" pitchFamily="34" charset="-122"/>
                <a:ea typeface="微软雅黑" panose="020B0503020204020204" pitchFamily="34" charset="-122"/>
              </a:rPr>
              <a:t>RNA</a:t>
            </a:r>
            <a:r>
              <a:rPr lang="zh-CN" altLang="en-US" dirty="0">
                <a:solidFill>
                  <a:srgbClr val="0000CC"/>
                </a:solidFill>
                <a:latin typeface="微软雅黑" panose="020B0503020204020204" pitchFamily="34" charset="-122"/>
                <a:ea typeface="微软雅黑" panose="020B0503020204020204" pitchFamily="34" charset="-122"/>
              </a:rPr>
              <a:t>（</a:t>
            </a:r>
            <a:r>
              <a:rPr lang="en-US" altLang="zh-CN" dirty="0">
                <a:solidFill>
                  <a:srgbClr val="0000CC"/>
                </a:solidFill>
                <a:latin typeface="微软雅黑" panose="020B0503020204020204" pitchFamily="34" charset="-122"/>
                <a:ea typeface="微软雅黑" panose="020B0503020204020204" pitchFamily="34" charset="-122"/>
              </a:rPr>
              <a:t>siRNA</a:t>
            </a:r>
            <a:r>
              <a:rPr lang="zh-CN" altLang="en-US" dirty="0">
                <a:solidFill>
                  <a:srgbClr val="0000CC"/>
                </a:solidFill>
                <a:latin typeface="微软雅黑" panose="020B0503020204020204" pitchFamily="34" charset="-122"/>
                <a:ea typeface="微软雅黑" panose="020B0503020204020204" pitchFamily="34" charset="-122"/>
              </a:rPr>
              <a:t>）介导的特定</a:t>
            </a:r>
            <a:r>
              <a:rPr lang="en-US" altLang="zh-CN" dirty="0">
                <a:solidFill>
                  <a:srgbClr val="0000CC"/>
                </a:solidFill>
                <a:latin typeface="微软雅黑" panose="020B0503020204020204" pitchFamily="34" charset="-122"/>
                <a:ea typeface="微软雅黑" panose="020B0503020204020204" pitchFamily="34" charset="-122"/>
              </a:rPr>
              <a:t>mRNA</a:t>
            </a:r>
            <a:r>
              <a:rPr lang="zh-CN" altLang="en-US" dirty="0">
                <a:solidFill>
                  <a:srgbClr val="0000CC"/>
                </a:solidFill>
                <a:latin typeface="微软雅黑" panose="020B0503020204020204" pitchFamily="34" charset="-122"/>
                <a:ea typeface="微软雅黑" panose="020B0503020204020204" pitchFamily="34" charset="-122"/>
              </a:rPr>
              <a:t>降解或特定基因的翻译过程受抑制，从而导致靶基因的表达沉默，产生相应的功能表型缺失的现象。</a:t>
            </a:r>
          </a:p>
        </p:txBody>
      </p:sp>
      <p:sp>
        <p:nvSpPr>
          <p:cNvPr id="2" name="动作按钮: 影片 1">
            <a:hlinkClick r:id="rId4" action="ppaction://program" highlightClick="1"/>
            <a:extLst>
              <a:ext uri="{FF2B5EF4-FFF2-40B4-BE49-F238E27FC236}">
                <a16:creationId xmlns:a16="http://schemas.microsoft.com/office/drawing/2014/main" id="{1CFBF243-0A36-A1A9-3981-A8B59C3B34E6}"/>
              </a:ext>
            </a:extLst>
          </p:cNvPr>
          <p:cNvSpPr>
            <a:spLocks noChangeArrowheads="1"/>
          </p:cNvSpPr>
          <p:nvPr/>
        </p:nvSpPr>
        <p:spPr bwMode="auto">
          <a:xfrm>
            <a:off x="9963919" y="6488859"/>
            <a:ext cx="488950" cy="215900"/>
          </a:xfrm>
          <a:prstGeom prst="actionButtonMovie">
            <a:avLst/>
          </a:prstGeom>
          <a:solidFill>
            <a:schemeClr val="accent1"/>
          </a:solidFill>
          <a:ln w="9525" algn="ctr">
            <a:solidFill>
              <a:schemeClr val="tx1"/>
            </a:solidFill>
            <a:round/>
            <a:headEnd/>
            <a:tailEnd/>
          </a:ln>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spd="slow">
    <p:circle/>
  </p:transition>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D2C2DFE-91E6-F5B8-E9F7-717C957542B2}"/>
              </a:ext>
            </a:extLst>
          </p:cNvPr>
          <p:cNvPicPr>
            <a:picLocks noChangeAspect="1"/>
          </p:cNvPicPr>
          <p:nvPr/>
        </p:nvPicPr>
        <p:blipFill>
          <a:blip r:embed="rId3"/>
          <a:stretch>
            <a:fillRect/>
          </a:stretch>
        </p:blipFill>
        <p:spPr>
          <a:xfrm>
            <a:off x="5040109" y="0"/>
            <a:ext cx="6103878" cy="6858000"/>
          </a:xfrm>
          <a:prstGeom prst="rect">
            <a:avLst/>
          </a:prstGeom>
        </p:spPr>
      </p:pic>
      <p:sp>
        <p:nvSpPr>
          <p:cNvPr id="5" name="文本框 4">
            <a:extLst>
              <a:ext uri="{FF2B5EF4-FFF2-40B4-BE49-F238E27FC236}">
                <a16:creationId xmlns:a16="http://schemas.microsoft.com/office/drawing/2014/main" id="{6FE445FC-64BA-4A93-5F82-894F1F99128E}"/>
              </a:ext>
            </a:extLst>
          </p:cNvPr>
          <p:cNvSpPr txBox="1"/>
          <p:nvPr/>
        </p:nvSpPr>
        <p:spPr>
          <a:xfrm>
            <a:off x="1372789" y="243047"/>
            <a:ext cx="3295566" cy="1107996"/>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新进展：</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siRNA</a:t>
            </a:r>
            <a:r>
              <a:rPr lang="zh-CN" altLang="en-US" dirty="0">
                <a:latin typeface="微软雅黑" panose="020B0503020204020204" pitchFamily="34" charset="-122"/>
                <a:ea typeface="微软雅黑" panose="020B0503020204020204" pitchFamily="34" charset="-122"/>
              </a:rPr>
              <a:t>药物</a:t>
            </a:r>
            <a:endParaRPr lang="en-US" altLang="zh-CN"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siRNA-based drugs </a:t>
            </a:r>
            <a:r>
              <a:rPr lang="zh-CN" altLang="en-US" sz="1800" dirty="0">
                <a:latin typeface="微软雅黑" panose="020B0503020204020204" pitchFamily="34" charset="-122"/>
                <a:ea typeface="微软雅黑" panose="020B0503020204020204" pitchFamily="34" charset="-122"/>
              </a:rPr>
              <a:t>）</a:t>
            </a:r>
          </a:p>
        </p:txBody>
      </p:sp>
      <p:sp>
        <p:nvSpPr>
          <p:cNvPr id="7" name="文本框 6">
            <a:extLst>
              <a:ext uri="{FF2B5EF4-FFF2-40B4-BE49-F238E27FC236}">
                <a16:creationId xmlns:a16="http://schemas.microsoft.com/office/drawing/2014/main" id="{AFA43AA6-6D71-2D01-7608-87EDAD9D7D0B}"/>
              </a:ext>
            </a:extLst>
          </p:cNvPr>
          <p:cNvSpPr txBox="1"/>
          <p:nvPr/>
        </p:nvSpPr>
        <p:spPr>
          <a:xfrm>
            <a:off x="1343472" y="1933873"/>
            <a:ext cx="2932618" cy="1200329"/>
          </a:xfrm>
          <a:prstGeom prst="rect">
            <a:avLst/>
          </a:prstGeom>
          <a:noFill/>
        </p:spPr>
        <p:txBody>
          <a:bodyPr wrap="square">
            <a:spAutoFit/>
          </a:bodyPr>
          <a:lstStyle/>
          <a:p>
            <a:r>
              <a:rPr lang="en-US" altLang="zh-CN" dirty="0">
                <a:solidFill>
                  <a:srgbClr val="000000"/>
                </a:solidFill>
                <a:latin typeface="微软雅黑" panose="020B0503020204020204" pitchFamily="34" charset="-122"/>
                <a:ea typeface="微软雅黑" panose="020B0503020204020204" pitchFamily="34" charset="-122"/>
              </a:rPr>
              <a:t>2023</a:t>
            </a:r>
            <a:r>
              <a:rPr lang="zh-CN" altLang="en-US" dirty="0">
                <a:solidFill>
                  <a:srgbClr val="000000"/>
                </a:solidFill>
                <a:latin typeface="微软雅黑" panose="020B0503020204020204" pitchFamily="34" charset="-122"/>
                <a:ea typeface="微软雅黑" panose="020B0503020204020204" pitchFamily="34" charset="-122"/>
              </a:rPr>
              <a:t>年，</a:t>
            </a:r>
            <a:r>
              <a:rPr lang="en-US" altLang="zh-CN" dirty="0" err="1">
                <a:solidFill>
                  <a:srgbClr val="000000"/>
                </a:solidFill>
                <a:latin typeface="微软雅黑" panose="020B0503020204020204" pitchFamily="34" charset="-122"/>
                <a:ea typeface="微软雅黑" panose="020B0503020204020204" pitchFamily="34" charset="-122"/>
              </a:rPr>
              <a:t>Inclisiran</a:t>
            </a:r>
            <a:r>
              <a:rPr lang="zh-CN" altLang="en-US" dirty="0">
                <a:solidFill>
                  <a:srgbClr val="000000"/>
                </a:solidFill>
                <a:latin typeface="微软雅黑" panose="020B0503020204020204" pitchFamily="34" charset="-122"/>
                <a:ea typeface="微软雅黑" panose="020B0503020204020204" pitchFamily="34" charset="-122"/>
              </a:rPr>
              <a:t>注射液（乐可为）在我国获批上市。</a:t>
            </a:r>
          </a:p>
        </p:txBody>
      </p:sp>
      <p:sp>
        <p:nvSpPr>
          <p:cNvPr id="3" name="文本框 2">
            <a:extLst>
              <a:ext uri="{FF2B5EF4-FFF2-40B4-BE49-F238E27FC236}">
                <a16:creationId xmlns:a16="http://schemas.microsoft.com/office/drawing/2014/main" id="{93997419-B8CC-D137-7393-F5C65D54E5A1}"/>
              </a:ext>
            </a:extLst>
          </p:cNvPr>
          <p:cNvSpPr txBox="1"/>
          <p:nvPr/>
        </p:nvSpPr>
        <p:spPr>
          <a:xfrm>
            <a:off x="1224149" y="3717032"/>
            <a:ext cx="3575707" cy="1569660"/>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用于成人原发性高胆固醇血症或混合型血脂异常患者的治疗。</a:t>
            </a:r>
            <a:endParaRPr lang="en-US" altLang="zh-CN" dirty="0">
              <a:solidFill>
                <a:srgbClr val="000000"/>
              </a:solidFill>
              <a:latin typeface="微软雅黑" panose="020B0503020204020204" pitchFamily="34" charset="-122"/>
              <a:ea typeface="微软雅黑" panose="020B0503020204020204" pitchFamily="34" charset="-122"/>
            </a:endParaRPr>
          </a:p>
          <a:p>
            <a:r>
              <a:rPr lang="zh-CN" altLang="en-US" dirty="0">
                <a:solidFill>
                  <a:srgbClr val="000000"/>
                </a:solidFill>
                <a:latin typeface="微软雅黑" panose="020B0503020204020204" pitchFamily="34" charset="-122"/>
                <a:ea typeface="微软雅黑" panose="020B0503020204020204" pitchFamily="34" charset="-122"/>
              </a:rPr>
              <a:t>能降低</a:t>
            </a:r>
            <a:r>
              <a:rPr lang="en-US" altLang="zh-CN" dirty="0">
                <a:solidFill>
                  <a:srgbClr val="000000"/>
                </a:solidFill>
                <a:latin typeface="微软雅黑" panose="020B0503020204020204" pitchFamily="34" charset="-122"/>
                <a:ea typeface="微软雅黑" panose="020B0503020204020204" pitchFamily="34" charset="-122"/>
              </a:rPr>
              <a:t>LDL-C</a:t>
            </a:r>
            <a:r>
              <a:rPr lang="zh-CN" altLang="en-US" dirty="0">
                <a:solidFill>
                  <a:srgbClr val="00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718984545"/>
      </p:ext>
    </p:extLst>
  </p:cSld>
  <p:clrMapOvr>
    <a:masterClrMapping/>
  </p:clrMapOvr>
  <p:transition spd="slow">
    <p:circle/>
  </p:transition>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90818" name="Picture 3">
            <a:extLst>
              <a:ext uri="{FF2B5EF4-FFF2-40B4-BE49-F238E27FC236}">
                <a16:creationId xmlns:a16="http://schemas.microsoft.com/office/drawing/2014/main" id="{90CC747D-F527-4C53-A5F3-A867E7C40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251" y="142875"/>
            <a:ext cx="7358063"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0819" name="Picture 5">
            <a:extLst>
              <a:ext uri="{FF2B5EF4-FFF2-40B4-BE49-F238E27FC236}">
                <a16:creationId xmlns:a16="http://schemas.microsoft.com/office/drawing/2014/main" id="{8D7AFB54-1393-400D-A462-F8857077E2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3189" y="1276351"/>
            <a:ext cx="3475037"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0820" name="TextBox 6">
            <a:extLst>
              <a:ext uri="{FF2B5EF4-FFF2-40B4-BE49-F238E27FC236}">
                <a16:creationId xmlns:a16="http://schemas.microsoft.com/office/drawing/2014/main" id="{0953B7CE-7799-4518-AD8E-DC16BC6F3379}"/>
              </a:ext>
            </a:extLst>
          </p:cNvPr>
          <p:cNvSpPr txBox="1">
            <a:spLocks noChangeArrowheads="1"/>
          </p:cNvSpPr>
          <p:nvPr/>
        </p:nvSpPr>
        <p:spPr bwMode="auto">
          <a:xfrm>
            <a:off x="3024189" y="5000626"/>
            <a:ext cx="2643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2400" b="0">
                <a:solidFill>
                  <a:schemeClr val="tx1"/>
                </a:solidFill>
                <a:latin typeface="Times New Roman" panose="02020603050405020304" pitchFamily="18" charset="0"/>
                <a:ea typeface="宋体" panose="02010600030101010101" pitchFamily="2" charset="-122"/>
              </a:rPr>
              <a:t>1959</a:t>
            </a:r>
            <a:r>
              <a:rPr lang="zh-CN" altLang="en-US" sz="2400" b="0">
                <a:solidFill>
                  <a:schemeClr val="tx1"/>
                </a:solidFill>
                <a:latin typeface="Times New Roman" panose="02020603050405020304" pitchFamily="18" charset="0"/>
                <a:ea typeface="宋体" panose="02010600030101010101" pitchFamily="2" charset="-122"/>
              </a:rPr>
              <a:t>～</a:t>
            </a:r>
            <a:r>
              <a:rPr lang="en-US" altLang="zh-CN" sz="2400" b="0">
                <a:solidFill>
                  <a:schemeClr val="tx1"/>
                </a:solidFill>
                <a:latin typeface="Times New Roman" panose="02020603050405020304" pitchFamily="18" charset="0"/>
                <a:ea typeface="宋体" panose="02010600030101010101" pitchFamily="2" charset="-122"/>
              </a:rPr>
              <a:t>        </a:t>
            </a:r>
            <a:r>
              <a:rPr lang="zh-CN" altLang="en-US" sz="2400" b="0">
                <a:solidFill>
                  <a:schemeClr val="tx1"/>
                </a:solidFill>
                <a:latin typeface="Times New Roman" panose="02020603050405020304" pitchFamily="18" charset="0"/>
                <a:ea typeface="宋体" panose="02010600030101010101" pitchFamily="2" charset="-122"/>
              </a:rPr>
              <a:t>美国</a:t>
            </a:r>
          </a:p>
        </p:txBody>
      </p:sp>
      <p:sp>
        <p:nvSpPr>
          <p:cNvPr id="290821" name="TextBox 7">
            <a:extLst>
              <a:ext uri="{FF2B5EF4-FFF2-40B4-BE49-F238E27FC236}">
                <a16:creationId xmlns:a16="http://schemas.microsoft.com/office/drawing/2014/main" id="{4DB1A77D-430C-4F47-A8E3-0CDBA7D8637E}"/>
              </a:ext>
            </a:extLst>
          </p:cNvPr>
          <p:cNvSpPr txBox="1">
            <a:spLocks noChangeArrowheads="1"/>
          </p:cNvSpPr>
          <p:nvPr/>
        </p:nvSpPr>
        <p:spPr bwMode="auto">
          <a:xfrm>
            <a:off x="7024689" y="5000626"/>
            <a:ext cx="2643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sz="2400" b="0" dirty="0">
                <a:solidFill>
                  <a:schemeClr val="tx1"/>
                </a:solidFill>
                <a:latin typeface="Times New Roman" panose="02020603050405020304" pitchFamily="18" charset="0"/>
                <a:ea typeface="宋体" panose="02010600030101010101" pitchFamily="2" charset="-122"/>
              </a:rPr>
              <a:t>1960</a:t>
            </a:r>
            <a:r>
              <a:rPr lang="zh-CN" altLang="en-US" sz="2400" b="0" dirty="0">
                <a:solidFill>
                  <a:schemeClr val="tx1"/>
                </a:solidFill>
                <a:latin typeface="Times New Roman" panose="02020603050405020304" pitchFamily="18" charset="0"/>
                <a:ea typeface="宋体" panose="02010600030101010101" pitchFamily="2" charset="-122"/>
              </a:rPr>
              <a:t>～</a:t>
            </a:r>
            <a:r>
              <a:rPr lang="en-US" altLang="zh-CN" sz="2400" b="0" dirty="0">
                <a:solidFill>
                  <a:schemeClr val="tx1"/>
                </a:solidFill>
                <a:latin typeface="Times New Roman" panose="02020603050405020304" pitchFamily="18" charset="0"/>
                <a:ea typeface="宋体" panose="02010600030101010101" pitchFamily="2" charset="-122"/>
              </a:rPr>
              <a:t>            </a:t>
            </a:r>
            <a:r>
              <a:rPr lang="zh-CN" altLang="en-US" sz="2400" b="0" dirty="0">
                <a:solidFill>
                  <a:schemeClr val="tx1"/>
                </a:solidFill>
                <a:latin typeface="Times New Roman" panose="02020603050405020304" pitchFamily="18" charset="0"/>
                <a:ea typeface="宋体" panose="02010600030101010101" pitchFamily="2" charset="-122"/>
              </a:rPr>
              <a:t>美国</a:t>
            </a:r>
          </a:p>
        </p:txBody>
      </p:sp>
      <p:pic>
        <p:nvPicPr>
          <p:cNvPr id="290822" name="Picture 6">
            <a:extLst>
              <a:ext uri="{FF2B5EF4-FFF2-40B4-BE49-F238E27FC236}">
                <a16:creationId xmlns:a16="http://schemas.microsoft.com/office/drawing/2014/main" id="{D3C9A6E2-449C-4233-B3D5-0D832088C5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5100" y="1285875"/>
            <a:ext cx="28194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0823" name="矩形 9">
            <a:extLst>
              <a:ext uri="{FF2B5EF4-FFF2-40B4-BE49-F238E27FC236}">
                <a16:creationId xmlns:a16="http://schemas.microsoft.com/office/drawing/2014/main" id="{9D804A08-1261-4CF6-A2A2-8502D8FD1B99}"/>
              </a:ext>
            </a:extLst>
          </p:cNvPr>
          <p:cNvSpPr>
            <a:spLocks noChangeArrowheads="1"/>
          </p:cNvSpPr>
          <p:nvPr/>
        </p:nvSpPr>
        <p:spPr bwMode="auto">
          <a:xfrm>
            <a:off x="2381250" y="5500689"/>
            <a:ext cx="7215188"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r>
              <a:rPr lang="en-US" altLang="zh-CN" i="1">
                <a:solidFill>
                  <a:srgbClr val="000000"/>
                </a:solidFill>
                <a:latin typeface="Times New Roman" panose="02020603050405020304" pitchFamily="18" charset="0"/>
                <a:ea typeface="宋体" panose="02010600030101010101" pitchFamily="2" charset="-122"/>
              </a:rPr>
              <a:t>"for their discovery of RNA interference - gene silencing by double-stranded RNA"</a:t>
            </a:r>
            <a:endParaRPr lang="zh-CN" altLang="en-US">
              <a:solidFill>
                <a:srgbClr val="000000"/>
              </a:solidFill>
              <a:latin typeface="Times New Roman" panose="02020603050405020304" pitchFamily="18" charset="0"/>
              <a:ea typeface="宋体" panose="02010600030101010101" pitchFamily="2" charset="-122"/>
            </a:endParaRPr>
          </a:p>
        </p:txBody>
      </p:sp>
      <p:sp>
        <p:nvSpPr>
          <p:cNvPr id="290825" name="灯片编号占位符 1">
            <a:extLst>
              <a:ext uri="{FF2B5EF4-FFF2-40B4-BE49-F238E27FC236}">
                <a16:creationId xmlns:a16="http://schemas.microsoft.com/office/drawing/2014/main" id="{2C4D9096-33AF-4A13-B740-74B2DE01D2B6}"/>
              </a:ext>
            </a:extLst>
          </p:cNvPr>
          <p:cNvSpPr>
            <a:spLocks noGrp="1"/>
          </p:cNvSpPr>
          <p:nvPr>
            <p:ph type="sldNum" sz="quarter" idx="4294967295"/>
          </p:nvPr>
        </p:nvSpPr>
        <p:spPr bwMode="auto">
          <a:xfrm>
            <a:off x="11266488" y="6492875"/>
            <a:ext cx="9255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CBA518A6-2B9A-4A94-BE95-BB951C66C97C}" type="slidenum">
              <a:rPr lang="zh-CN" altLang="en-US" sz="1200" b="0">
                <a:solidFill>
                  <a:srgbClr val="898F89"/>
                </a:solidFill>
              </a:rPr>
              <a:pPr>
                <a:spcBef>
                  <a:spcPct val="0"/>
                </a:spcBef>
                <a:buClrTx/>
                <a:buFontTx/>
                <a:buNone/>
              </a:pPr>
              <a:t>111</a:t>
            </a:fld>
            <a:endParaRPr lang="zh-CN" altLang="en-US" sz="1200" b="0">
              <a:solidFill>
                <a:srgbClr val="898F89"/>
              </a:solidFill>
            </a:endParaRPr>
          </a:p>
        </p:txBody>
      </p:sp>
    </p:spTree>
  </p:cSld>
  <p:clrMapOvr>
    <a:masterClrMapping/>
  </p:clrMapOvr>
  <p:transition spd="slow">
    <p:circle/>
  </p:transition>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507FAFF-2BB8-5D79-4F12-43958D144ED5}"/>
              </a:ext>
            </a:extLst>
          </p:cNvPr>
          <p:cNvSpPr txBox="1"/>
          <p:nvPr/>
        </p:nvSpPr>
        <p:spPr>
          <a:xfrm>
            <a:off x="3287688" y="404665"/>
            <a:ext cx="6480720" cy="584775"/>
          </a:xfrm>
          <a:prstGeom prst="rect">
            <a:avLst/>
          </a:prstGeom>
          <a:noFill/>
        </p:spPr>
        <p:txBody>
          <a:bodyPr wrap="square" rtlCol="0">
            <a:spAutoFit/>
          </a:bodyPr>
          <a:lstStyle/>
          <a:p>
            <a:pPr algn="ctr"/>
            <a:r>
              <a:rPr lang="en-US" altLang="zh-CN" sz="3200" b="1" dirty="0">
                <a:solidFill>
                  <a:srgbClr val="0000FF"/>
                </a:solidFill>
                <a:latin typeface="微软雅黑" panose="020B0503020204020204" pitchFamily="34" charset="-122"/>
                <a:ea typeface="微软雅黑" panose="020B0503020204020204" pitchFamily="34" charset="-122"/>
              </a:rPr>
              <a:t>2024</a:t>
            </a:r>
            <a:r>
              <a:rPr lang="zh-CN" altLang="en-US" sz="3200" b="1" dirty="0">
                <a:solidFill>
                  <a:srgbClr val="0000FF"/>
                </a:solidFill>
                <a:latin typeface="微软雅黑" panose="020B0503020204020204" pitchFamily="34" charset="-122"/>
                <a:ea typeface="微软雅黑" panose="020B0503020204020204" pitchFamily="34" charset="-122"/>
              </a:rPr>
              <a:t>年诺贝尔生理或医学奖</a:t>
            </a:r>
          </a:p>
        </p:txBody>
      </p:sp>
      <p:pic>
        <p:nvPicPr>
          <p:cNvPr id="8" name="图片 7">
            <a:extLst>
              <a:ext uri="{FF2B5EF4-FFF2-40B4-BE49-F238E27FC236}">
                <a16:creationId xmlns:a16="http://schemas.microsoft.com/office/drawing/2014/main" id="{5FB264DA-47D2-1147-7534-597044823C03}"/>
              </a:ext>
            </a:extLst>
          </p:cNvPr>
          <p:cNvPicPr>
            <a:picLocks noChangeAspect="1"/>
          </p:cNvPicPr>
          <p:nvPr/>
        </p:nvPicPr>
        <p:blipFill>
          <a:blip r:embed="rId3"/>
          <a:srcRect b="13527"/>
          <a:stretch>
            <a:fillRect/>
          </a:stretch>
        </p:blipFill>
        <p:spPr>
          <a:xfrm>
            <a:off x="2639617" y="1460350"/>
            <a:ext cx="2286872" cy="2997050"/>
          </a:xfrm>
          <a:prstGeom prst="rect">
            <a:avLst/>
          </a:prstGeom>
        </p:spPr>
      </p:pic>
      <p:sp>
        <p:nvSpPr>
          <p:cNvPr id="10" name="文本框 9">
            <a:extLst>
              <a:ext uri="{FF2B5EF4-FFF2-40B4-BE49-F238E27FC236}">
                <a16:creationId xmlns:a16="http://schemas.microsoft.com/office/drawing/2014/main" id="{A492579B-1E81-4C5E-13C1-7AC11150BB8D}"/>
              </a:ext>
            </a:extLst>
          </p:cNvPr>
          <p:cNvSpPr txBox="1"/>
          <p:nvPr/>
        </p:nvSpPr>
        <p:spPr>
          <a:xfrm>
            <a:off x="2927648" y="4534249"/>
            <a:ext cx="2286872" cy="1200329"/>
          </a:xfrm>
          <a:prstGeom prst="rect">
            <a:avLst/>
          </a:prstGeom>
          <a:noFill/>
        </p:spPr>
        <p:txBody>
          <a:bodyPr wrap="square">
            <a:spAutoFit/>
          </a:bodyPr>
          <a:lstStyle/>
          <a:p>
            <a:r>
              <a:rPr lang="en-US" altLang="zh-CN" dirty="0">
                <a:solidFill>
                  <a:srgbClr val="000000"/>
                </a:solidFill>
              </a:rPr>
              <a:t>Victor Ambros</a:t>
            </a:r>
          </a:p>
          <a:p>
            <a:r>
              <a:rPr lang="en-US" altLang="zh-CN" dirty="0">
                <a:solidFill>
                  <a:srgbClr val="000000"/>
                </a:solidFill>
              </a:rPr>
              <a:t>1953~        </a:t>
            </a:r>
          </a:p>
          <a:p>
            <a:r>
              <a:rPr lang="en-US" altLang="zh-CN" dirty="0">
                <a:solidFill>
                  <a:srgbClr val="000000"/>
                </a:solidFill>
              </a:rPr>
              <a:t> USA</a:t>
            </a:r>
          </a:p>
        </p:txBody>
      </p:sp>
      <p:sp>
        <p:nvSpPr>
          <p:cNvPr id="12" name="文本框 11">
            <a:extLst>
              <a:ext uri="{FF2B5EF4-FFF2-40B4-BE49-F238E27FC236}">
                <a16:creationId xmlns:a16="http://schemas.microsoft.com/office/drawing/2014/main" id="{28BD40B7-7B8F-305F-5FEA-0120D54E3CE0}"/>
              </a:ext>
            </a:extLst>
          </p:cNvPr>
          <p:cNvSpPr txBox="1"/>
          <p:nvPr/>
        </p:nvSpPr>
        <p:spPr>
          <a:xfrm>
            <a:off x="947428" y="5805264"/>
            <a:ext cx="10297144" cy="430887"/>
          </a:xfrm>
          <a:prstGeom prst="rect">
            <a:avLst/>
          </a:prstGeom>
          <a:noFill/>
        </p:spPr>
        <p:txBody>
          <a:bodyPr wrap="square">
            <a:spAutoFit/>
          </a:bodyPr>
          <a:lstStyle/>
          <a:p>
            <a:pPr algn="ctr"/>
            <a:r>
              <a:rPr lang="en-US" altLang="zh-CN" sz="2200" dirty="0">
                <a:solidFill>
                  <a:srgbClr val="000000"/>
                </a:solidFill>
              </a:rPr>
              <a:t>“for the </a:t>
            </a:r>
            <a:r>
              <a:rPr lang="en-US" altLang="zh-CN" sz="2200" dirty="0">
                <a:solidFill>
                  <a:srgbClr val="0000FF"/>
                </a:solidFill>
              </a:rPr>
              <a:t>discovery of microRNA </a:t>
            </a:r>
            <a:r>
              <a:rPr lang="en-US" altLang="zh-CN" sz="2200" dirty="0">
                <a:solidFill>
                  <a:srgbClr val="000000"/>
                </a:solidFill>
              </a:rPr>
              <a:t>and </a:t>
            </a:r>
            <a:r>
              <a:rPr lang="en-US" altLang="zh-CN" sz="2200" dirty="0">
                <a:solidFill>
                  <a:srgbClr val="0000FF"/>
                </a:solidFill>
              </a:rPr>
              <a:t>its role in post-transcriptional gene regulation</a:t>
            </a:r>
            <a:r>
              <a:rPr lang="en-US" altLang="zh-CN" sz="2200" dirty="0">
                <a:solidFill>
                  <a:srgbClr val="000000"/>
                </a:solidFill>
              </a:rPr>
              <a:t>”</a:t>
            </a:r>
          </a:p>
        </p:txBody>
      </p:sp>
      <p:pic>
        <p:nvPicPr>
          <p:cNvPr id="14" name="图片 13">
            <a:extLst>
              <a:ext uri="{FF2B5EF4-FFF2-40B4-BE49-F238E27FC236}">
                <a16:creationId xmlns:a16="http://schemas.microsoft.com/office/drawing/2014/main" id="{21833B67-6070-D7C2-B9C7-EEEFEE99D32D}"/>
              </a:ext>
            </a:extLst>
          </p:cNvPr>
          <p:cNvPicPr>
            <a:picLocks noChangeAspect="1"/>
          </p:cNvPicPr>
          <p:nvPr/>
        </p:nvPicPr>
        <p:blipFill>
          <a:blip r:embed="rId4"/>
          <a:srcRect b="7273"/>
          <a:stretch>
            <a:fillRect/>
          </a:stretch>
        </p:blipFill>
        <p:spPr>
          <a:xfrm>
            <a:off x="7414519" y="1427291"/>
            <a:ext cx="2312097" cy="3030109"/>
          </a:xfrm>
          <a:prstGeom prst="rect">
            <a:avLst/>
          </a:prstGeom>
        </p:spPr>
      </p:pic>
      <p:sp>
        <p:nvSpPr>
          <p:cNvPr id="16" name="文本框 15">
            <a:extLst>
              <a:ext uri="{FF2B5EF4-FFF2-40B4-BE49-F238E27FC236}">
                <a16:creationId xmlns:a16="http://schemas.microsoft.com/office/drawing/2014/main" id="{7D17B69F-0EAE-1286-39B3-F50AE01ADBB6}"/>
              </a:ext>
            </a:extLst>
          </p:cNvPr>
          <p:cNvSpPr txBox="1"/>
          <p:nvPr/>
        </p:nvSpPr>
        <p:spPr>
          <a:xfrm>
            <a:off x="7752184" y="4550534"/>
            <a:ext cx="2142857" cy="1200329"/>
          </a:xfrm>
          <a:prstGeom prst="rect">
            <a:avLst/>
          </a:prstGeom>
          <a:noFill/>
        </p:spPr>
        <p:txBody>
          <a:bodyPr wrap="square">
            <a:spAutoFit/>
          </a:bodyPr>
          <a:lstStyle/>
          <a:p>
            <a:r>
              <a:rPr lang="en-US" altLang="zh-CN" dirty="0">
                <a:solidFill>
                  <a:srgbClr val="000000"/>
                </a:solidFill>
              </a:rPr>
              <a:t>Gary </a:t>
            </a:r>
            <a:r>
              <a:rPr lang="en-US" altLang="zh-CN" dirty="0" err="1">
                <a:solidFill>
                  <a:srgbClr val="000000"/>
                </a:solidFill>
              </a:rPr>
              <a:t>Ruvkun</a:t>
            </a:r>
            <a:endParaRPr lang="en-US" altLang="zh-CN" dirty="0">
              <a:solidFill>
                <a:srgbClr val="000000"/>
              </a:solidFill>
            </a:endParaRPr>
          </a:p>
          <a:p>
            <a:r>
              <a:rPr lang="en-US" altLang="zh-CN" dirty="0">
                <a:solidFill>
                  <a:srgbClr val="000000"/>
                </a:solidFill>
              </a:rPr>
              <a:t>1952~  </a:t>
            </a:r>
          </a:p>
          <a:p>
            <a:r>
              <a:rPr lang="en-US" altLang="zh-CN" dirty="0">
                <a:solidFill>
                  <a:srgbClr val="000000"/>
                </a:solidFill>
              </a:rPr>
              <a:t>USA</a:t>
            </a:r>
            <a:endParaRPr lang="zh-CN" altLang="en-US" dirty="0">
              <a:solidFill>
                <a:srgbClr val="000000"/>
              </a:solidFill>
            </a:endParaRPr>
          </a:p>
        </p:txBody>
      </p:sp>
    </p:spTree>
    <p:extLst>
      <p:ext uri="{BB962C8B-B14F-4D97-AF65-F5344CB8AC3E}">
        <p14:creationId xmlns:p14="http://schemas.microsoft.com/office/powerpoint/2010/main" val="1078175417"/>
      </p:ext>
    </p:extLst>
  </p:cSld>
  <p:clrMapOvr>
    <a:masterClrMapping/>
  </p:clrMapOvr>
  <p:transition spd="slow">
    <p:circle/>
  </p:transition>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2866" name="Rectangle 3">
            <a:extLst>
              <a:ext uri="{FF2B5EF4-FFF2-40B4-BE49-F238E27FC236}">
                <a16:creationId xmlns:a16="http://schemas.microsoft.com/office/drawing/2014/main" id="{C3D9800B-AB23-4F07-B15C-6A1AB48C8399}"/>
              </a:ext>
            </a:extLst>
          </p:cNvPr>
          <p:cNvSpPr txBox="1">
            <a:spLocks noChangeArrowheads="1"/>
          </p:cNvSpPr>
          <p:nvPr/>
        </p:nvSpPr>
        <p:spPr bwMode="auto">
          <a:xfrm>
            <a:off x="2046288" y="3068638"/>
            <a:ext cx="8393112" cy="349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nSpc>
                <a:spcPct val="110000"/>
              </a:lnSpc>
              <a:spcBef>
                <a:spcPts val="1800"/>
              </a:spcBef>
              <a:buClr>
                <a:srgbClr val="FF0000"/>
              </a:buClr>
              <a:buSzPct val="50000"/>
              <a:buNone/>
            </a:pPr>
            <a:endParaRPr lang="zh-CN" altLang="en-US" b="0">
              <a:solidFill>
                <a:srgbClr val="000000"/>
              </a:solidFill>
              <a:latin typeface="黑体" panose="02010609060101010101" pitchFamily="49" charset="-122"/>
              <a:ea typeface="黑体" panose="02010609060101010101" pitchFamily="49" charset="-122"/>
            </a:endParaRPr>
          </a:p>
          <a:p>
            <a:pPr>
              <a:lnSpc>
                <a:spcPct val="110000"/>
              </a:lnSpc>
              <a:spcBef>
                <a:spcPts val="1800"/>
              </a:spcBef>
              <a:buClr>
                <a:srgbClr val="FF0000"/>
              </a:buClr>
              <a:buSzPct val="50000"/>
              <a:buFont typeface="Wingdings" panose="05000000000000000000" pitchFamily="2" charset="2"/>
              <a:buChar char="ü"/>
            </a:pPr>
            <a:endParaRPr lang="en-US" altLang="zh-CN" b="0">
              <a:solidFill>
                <a:srgbClr val="000000"/>
              </a:solidFill>
              <a:latin typeface="黑体" panose="02010609060101010101" pitchFamily="49" charset="-122"/>
              <a:ea typeface="黑体" panose="02010609060101010101" pitchFamily="49" charset="-122"/>
            </a:endParaRPr>
          </a:p>
          <a:p>
            <a:pPr>
              <a:lnSpc>
                <a:spcPts val="3500"/>
              </a:lnSpc>
              <a:spcBef>
                <a:spcPts val="1800"/>
              </a:spcBef>
              <a:buSzPct val="50000"/>
              <a:buNone/>
            </a:pPr>
            <a:endParaRPr lang="zh-CN" altLang="en-US" b="0">
              <a:solidFill>
                <a:srgbClr val="000000"/>
              </a:solidFill>
              <a:latin typeface="黑体" panose="02010609060101010101" pitchFamily="49" charset="-122"/>
              <a:ea typeface="黑体" panose="02010609060101010101" pitchFamily="49" charset="-122"/>
            </a:endParaRPr>
          </a:p>
          <a:p>
            <a:pPr eaLnBrk="1" hangingPunct="1">
              <a:lnSpc>
                <a:spcPts val="3500"/>
              </a:lnSpc>
              <a:spcBef>
                <a:spcPts val="1800"/>
              </a:spcBef>
              <a:buSzPct val="50000"/>
              <a:buNone/>
            </a:pPr>
            <a:endParaRPr lang="zh-CN" altLang="en-US" b="0">
              <a:solidFill>
                <a:srgbClr val="000000"/>
              </a:solidFill>
              <a:latin typeface="黑体" panose="02010609060101010101" pitchFamily="49" charset="-122"/>
              <a:ea typeface="黑体" panose="02010609060101010101" pitchFamily="49" charset="-122"/>
            </a:endParaRPr>
          </a:p>
          <a:p>
            <a:pPr eaLnBrk="1" hangingPunct="1">
              <a:lnSpc>
                <a:spcPts val="3500"/>
              </a:lnSpc>
              <a:spcBef>
                <a:spcPts val="1800"/>
              </a:spcBef>
              <a:buSzPct val="50000"/>
              <a:buNone/>
            </a:pPr>
            <a:endParaRPr lang="zh-CN" altLang="en-US" b="0">
              <a:solidFill>
                <a:srgbClr val="000000"/>
              </a:solidFill>
              <a:latin typeface="黑体" panose="02010609060101010101" pitchFamily="49" charset="-122"/>
              <a:ea typeface="黑体" panose="02010609060101010101" pitchFamily="49" charset="-122"/>
            </a:endParaRPr>
          </a:p>
        </p:txBody>
      </p:sp>
      <p:sp>
        <p:nvSpPr>
          <p:cNvPr id="292867" name="Rectangle 2">
            <a:extLst>
              <a:ext uri="{FF2B5EF4-FFF2-40B4-BE49-F238E27FC236}">
                <a16:creationId xmlns:a16="http://schemas.microsoft.com/office/drawing/2014/main" id="{DDE43808-E411-4D8A-8E91-DAD46D3C5911}"/>
              </a:ext>
            </a:extLst>
          </p:cNvPr>
          <p:cNvSpPr txBox="1">
            <a:spLocks noChangeArrowheads="1"/>
          </p:cNvSpPr>
          <p:nvPr/>
        </p:nvSpPr>
        <p:spPr bwMode="auto">
          <a:xfrm>
            <a:off x="2892426" y="214313"/>
            <a:ext cx="6372225"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a:spcBef>
                <a:spcPct val="0"/>
              </a:spcBef>
              <a:buClrTx/>
              <a:buFontTx/>
              <a:buNone/>
            </a:pPr>
            <a:r>
              <a:rPr lang="en-US" altLang="zh-CN" sz="3600" b="0">
                <a:solidFill>
                  <a:srgbClr val="0000CC"/>
                </a:solidFill>
                <a:latin typeface="黑体" panose="02010609060101010101" pitchFamily="49" charset="-122"/>
                <a:ea typeface="黑体" panose="02010609060101010101" pitchFamily="49" charset="-122"/>
              </a:rPr>
              <a:t>lncRNA</a:t>
            </a:r>
            <a:r>
              <a:rPr lang="zh-CN" altLang="en-US" sz="3600" b="0">
                <a:solidFill>
                  <a:srgbClr val="0000CC"/>
                </a:solidFill>
                <a:latin typeface="黑体" panose="02010609060101010101" pitchFamily="49" charset="-122"/>
                <a:ea typeface="黑体" panose="02010609060101010101" pitchFamily="49" charset="-122"/>
              </a:rPr>
              <a:t>（长链非编码</a:t>
            </a:r>
            <a:r>
              <a:rPr lang="en-US" altLang="zh-CN" sz="3600" b="0">
                <a:solidFill>
                  <a:srgbClr val="0000CC"/>
                </a:solidFill>
                <a:latin typeface="黑体" panose="02010609060101010101" pitchFamily="49" charset="-122"/>
                <a:ea typeface="黑体" panose="02010609060101010101" pitchFamily="49" charset="-122"/>
              </a:rPr>
              <a:t>RNA</a:t>
            </a:r>
            <a:r>
              <a:rPr lang="zh-CN" altLang="en-US" sz="3600" b="0">
                <a:solidFill>
                  <a:srgbClr val="0000CC"/>
                </a:solidFill>
                <a:latin typeface="黑体" panose="02010609060101010101" pitchFamily="49" charset="-122"/>
                <a:ea typeface="黑体" panose="02010609060101010101" pitchFamily="49" charset="-122"/>
              </a:rPr>
              <a:t>）</a:t>
            </a:r>
            <a:endParaRPr lang="en-US" altLang="zh-CN" sz="3600" b="0">
              <a:solidFill>
                <a:srgbClr val="0000CC"/>
              </a:solidFill>
              <a:latin typeface="黑体" panose="02010609060101010101" pitchFamily="49" charset="-122"/>
              <a:ea typeface="黑体" panose="02010609060101010101" pitchFamily="49" charset="-122"/>
            </a:endParaRPr>
          </a:p>
        </p:txBody>
      </p:sp>
      <p:sp>
        <p:nvSpPr>
          <p:cNvPr id="292868" name="内容占位符 2">
            <a:extLst>
              <a:ext uri="{FF2B5EF4-FFF2-40B4-BE49-F238E27FC236}">
                <a16:creationId xmlns:a16="http://schemas.microsoft.com/office/drawing/2014/main" id="{136224B7-76CA-45BA-80C3-217405EA4908}"/>
              </a:ext>
            </a:extLst>
          </p:cNvPr>
          <p:cNvSpPr>
            <a:spLocks noGrp="1" noChangeArrowheads="1"/>
          </p:cNvSpPr>
          <p:nvPr>
            <p:ph idx="1"/>
          </p:nvPr>
        </p:nvSpPr>
        <p:spPr>
          <a:xfrm>
            <a:off x="1217998" y="1412776"/>
            <a:ext cx="9721080" cy="4586288"/>
          </a:xfrm>
        </p:spPr>
        <p:txBody>
          <a:bodyPr/>
          <a:lstStyle/>
          <a:p>
            <a:r>
              <a:rPr lang="zh-CN" altLang="en-US" sz="2400" b="0" dirty="0">
                <a:solidFill>
                  <a:srgbClr val="C00000"/>
                </a:solidFill>
              </a:rPr>
              <a:t>＞</a:t>
            </a:r>
            <a:r>
              <a:rPr lang="en-US" altLang="zh-CN" sz="2400" b="0" dirty="0">
                <a:solidFill>
                  <a:srgbClr val="C00000"/>
                </a:solidFill>
              </a:rPr>
              <a:t>200 </a:t>
            </a:r>
            <a:r>
              <a:rPr lang="en-US" altLang="zh-CN" sz="2400" b="0" dirty="0" err="1">
                <a:solidFill>
                  <a:srgbClr val="C00000"/>
                </a:solidFill>
              </a:rPr>
              <a:t>nt</a:t>
            </a:r>
            <a:endParaRPr lang="en-US" altLang="zh-CN" sz="2400" b="0" dirty="0">
              <a:solidFill>
                <a:srgbClr val="C00000"/>
              </a:solidFill>
            </a:endParaRPr>
          </a:p>
          <a:p>
            <a:r>
              <a:rPr lang="zh-CN" altLang="en-US" sz="2400" b="0" dirty="0">
                <a:solidFill>
                  <a:schemeClr val="tx1"/>
                </a:solidFill>
              </a:rPr>
              <a:t>基因调控大家族的新成员，多由RNA聚合酶</a:t>
            </a:r>
            <a:r>
              <a:rPr lang="en-US" altLang="zh-CN" sz="2400" b="0" dirty="0">
                <a:solidFill>
                  <a:schemeClr val="tx1"/>
                </a:solidFill>
              </a:rPr>
              <a:t>II</a:t>
            </a:r>
            <a:r>
              <a:rPr lang="zh-CN" altLang="en-US" sz="2400" b="0" dirty="0">
                <a:solidFill>
                  <a:schemeClr val="tx1"/>
                </a:solidFill>
              </a:rPr>
              <a:t>转录</a:t>
            </a:r>
            <a:endParaRPr lang="en-US" altLang="zh-CN" sz="2400" b="0" dirty="0"/>
          </a:p>
          <a:p>
            <a:r>
              <a:rPr lang="zh-CN" altLang="en-US" sz="2400" b="0" dirty="0"/>
              <a:t>位于细胞核或胞质内，</a:t>
            </a:r>
            <a:r>
              <a:rPr lang="zh-CN" altLang="en-US" sz="2400" b="0" dirty="0">
                <a:solidFill>
                  <a:srgbClr val="0000CC"/>
                </a:solidFill>
              </a:rPr>
              <a:t>数量远超</a:t>
            </a:r>
            <a:r>
              <a:rPr lang="en-US" altLang="zh-CN" sz="2400" b="0" dirty="0">
                <a:solidFill>
                  <a:srgbClr val="0000CC"/>
                </a:solidFill>
              </a:rPr>
              <a:t>miRNA</a:t>
            </a:r>
          </a:p>
          <a:p>
            <a:r>
              <a:rPr lang="zh-CN" altLang="en-US" sz="2400" b="0" dirty="0">
                <a:solidFill>
                  <a:srgbClr val="0000CC"/>
                </a:solidFill>
                <a:latin typeface="黑体" panose="02010609060101010101" pitchFamily="49" charset="-122"/>
                <a:ea typeface="黑体" panose="02010609060101010101" pitchFamily="49" charset="-122"/>
              </a:rPr>
              <a:t>具有组织或细胞特异性；</a:t>
            </a:r>
            <a:endParaRPr lang="en-US" altLang="zh-CN" sz="2400" b="0" dirty="0">
              <a:solidFill>
                <a:srgbClr val="0000CC"/>
              </a:solidFill>
              <a:latin typeface="黑体" panose="02010609060101010101" pitchFamily="49" charset="-122"/>
              <a:ea typeface="黑体" panose="02010609060101010101" pitchFamily="49" charset="-122"/>
            </a:endParaRPr>
          </a:p>
          <a:p>
            <a:r>
              <a:rPr lang="zh-CN" altLang="en-US" sz="2400" b="0" dirty="0">
                <a:solidFill>
                  <a:srgbClr val="0000CC"/>
                </a:solidFill>
                <a:latin typeface="黑体" panose="02010609060101010101" pitchFamily="49" charset="-122"/>
                <a:ea typeface="黑体" panose="02010609060101010101" pitchFamily="49" charset="-122"/>
              </a:rPr>
              <a:t>具有发育阶段特异性；</a:t>
            </a:r>
            <a:endParaRPr lang="en-US" altLang="zh-CN" sz="2400" b="0" dirty="0">
              <a:solidFill>
                <a:srgbClr val="0000CC"/>
              </a:solidFill>
              <a:latin typeface="黑体" panose="02010609060101010101" pitchFamily="49" charset="-122"/>
              <a:ea typeface="黑体" panose="02010609060101010101" pitchFamily="49" charset="-122"/>
            </a:endParaRPr>
          </a:p>
          <a:p>
            <a:r>
              <a:rPr lang="zh-CN" altLang="en-US" sz="2400" b="0" dirty="0"/>
              <a:t>参与体内基因表达多个层次的调控，比如：转录激活、转录后调控、翻译、表观遗传学调控等；</a:t>
            </a:r>
            <a:endParaRPr lang="en-US" altLang="zh-CN" sz="2400" b="0" dirty="0"/>
          </a:p>
          <a:p>
            <a:r>
              <a:rPr lang="zh-CN" altLang="en-US" sz="2400" b="0" dirty="0"/>
              <a:t>目前对</a:t>
            </a:r>
            <a:r>
              <a:rPr lang="en-US" altLang="zh-CN" sz="2400" b="0" dirty="0"/>
              <a:t>lncRNA</a:t>
            </a:r>
            <a:r>
              <a:rPr lang="zh-CN" altLang="en-US" sz="2400" b="0" dirty="0"/>
              <a:t>的认识还相当有限</a:t>
            </a:r>
            <a:r>
              <a:rPr lang="en-US" altLang="zh-CN" sz="2400" b="0" dirty="0"/>
              <a:t>, lncRNA</a:t>
            </a:r>
            <a:r>
              <a:rPr lang="zh-CN" altLang="en-US" sz="2400" b="0" dirty="0"/>
              <a:t>数量繁多且功能复杂，各种功能的</a:t>
            </a:r>
            <a:r>
              <a:rPr lang="en-US" altLang="zh-CN" sz="2400" b="0" dirty="0"/>
              <a:t>lncRNA</a:t>
            </a:r>
            <a:r>
              <a:rPr lang="zh-CN" altLang="en-US" sz="2400" b="0" dirty="0"/>
              <a:t>仍不断地被发现，对</a:t>
            </a:r>
            <a:r>
              <a:rPr lang="en-US" altLang="zh-CN" sz="2400" b="0" dirty="0"/>
              <a:t>lncRNA</a:t>
            </a:r>
            <a:r>
              <a:rPr lang="zh-CN" altLang="en-US" sz="2400" b="0" dirty="0"/>
              <a:t>的研究</a:t>
            </a:r>
            <a:r>
              <a:rPr lang="zh-CN" altLang="en-US" sz="2400" b="0" dirty="0">
                <a:solidFill>
                  <a:srgbClr val="0000CC"/>
                </a:solidFill>
              </a:rPr>
              <a:t>现为生命科学领域的新热点。</a:t>
            </a:r>
            <a:endParaRPr lang="en-US" altLang="zh-CN" sz="2400" b="0" dirty="0">
              <a:solidFill>
                <a:srgbClr val="0000CC"/>
              </a:solidFill>
            </a:endParaRPr>
          </a:p>
          <a:p>
            <a:endParaRPr lang="en-US" altLang="zh-CN" sz="2400" b="0" dirty="0">
              <a:solidFill>
                <a:srgbClr val="0000CC"/>
              </a:solidFill>
            </a:endParaRPr>
          </a:p>
          <a:p>
            <a:endParaRPr lang="en-US" altLang="zh-CN" sz="2400" b="0" dirty="0"/>
          </a:p>
          <a:p>
            <a:endParaRPr lang="zh-CN" altLang="en-US" sz="2400" b="0" dirty="0"/>
          </a:p>
        </p:txBody>
      </p:sp>
    </p:spTree>
  </p:cSld>
  <p:clrMapOvr>
    <a:masterClrMapping/>
  </p:clrMapOvr>
  <p:transition spd="slow">
    <p:circl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DD6115-05B6-CA58-6183-A087DA7B0161}"/>
              </a:ext>
            </a:extLst>
          </p:cNvPr>
          <p:cNvSpPr>
            <a:spLocks noGrp="1"/>
          </p:cNvSpPr>
          <p:nvPr>
            <p:ph type="title"/>
          </p:nvPr>
        </p:nvSpPr>
        <p:spPr>
          <a:xfrm>
            <a:off x="2019300" y="444502"/>
            <a:ext cx="8153400" cy="533400"/>
          </a:xfrm>
        </p:spPr>
        <p:txBody>
          <a:bodyPr/>
          <a:lstStyle/>
          <a:p>
            <a:r>
              <a:rPr lang="zh-CN" altLang="en-US" dirty="0"/>
              <a:t>六、</a:t>
            </a:r>
            <a:r>
              <a:rPr lang="en-US" altLang="zh-CN" dirty="0"/>
              <a:t> </a:t>
            </a:r>
            <a:r>
              <a:rPr lang="zh-CN" altLang="en-US" dirty="0"/>
              <a:t>核酶是具有生物催化功能的</a:t>
            </a:r>
            <a:r>
              <a:rPr lang="en-US" altLang="zh-CN" dirty="0"/>
              <a:t>RNA </a:t>
            </a:r>
            <a:r>
              <a:rPr lang="zh-CN" altLang="en-US" dirty="0"/>
              <a:t>分子</a:t>
            </a:r>
          </a:p>
        </p:txBody>
      </p:sp>
      <p:sp>
        <p:nvSpPr>
          <p:cNvPr id="3" name="内容占位符 2">
            <a:extLst>
              <a:ext uri="{FF2B5EF4-FFF2-40B4-BE49-F238E27FC236}">
                <a16:creationId xmlns:a16="http://schemas.microsoft.com/office/drawing/2014/main" id="{272A019A-61A9-0A50-1ED7-211559F10955}"/>
              </a:ext>
            </a:extLst>
          </p:cNvPr>
          <p:cNvSpPr>
            <a:spLocks noGrp="1"/>
          </p:cNvSpPr>
          <p:nvPr>
            <p:ph idx="1"/>
          </p:nvPr>
        </p:nvSpPr>
        <p:spPr>
          <a:xfrm>
            <a:off x="1055440" y="1412776"/>
            <a:ext cx="10477164" cy="5181600"/>
          </a:xfrm>
        </p:spPr>
        <p:txBody>
          <a:bodyPr/>
          <a:lstStyle/>
          <a:p>
            <a:pPr>
              <a:lnSpc>
                <a:spcPct val="120000"/>
              </a:lnSpc>
              <a:spcBef>
                <a:spcPts val="1200"/>
              </a:spcBef>
            </a:pPr>
            <a:r>
              <a:rPr lang="zh-CN" altLang="en-US" sz="2400" b="0" dirty="0">
                <a:solidFill>
                  <a:srgbClr val="C00000"/>
                </a:solidFill>
              </a:rPr>
              <a:t>核酶（</a:t>
            </a:r>
            <a:r>
              <a:rPr lang="en-US" altLang="zh-CN" sz="2400" b="0" dirty="0">
                <a:solidFill>
                  <a:srgbClr val="C00000"/>
                </a:solidFill>
              </a:rPr>
              <a:t>ribozyme</a:t>
            </a:r>
            <a:r>
              <a:rPr lang="zh-CN" altLang="en-US" sz="2400" b="0" dirty="0">
                <a:solidFill>
                  <a:srgbClr val="C00000"/>
                </a:solidFill>
              </a:rPr>
              <a:t>）</a:t>
            </a:r>
            <a:r>
              <a:rPr lang="zh-CN" altLang="en-US" sz="2400" b="0" dirty="0">
                <a:solidFill>
                  <a:srgbClr val="000000"/>
                </a:solidFill>
              </a:rPr>
              <a:t>可分为剪接型（</a:t>
            </a:r>
            <a:r>
              <a:rPr lang="en-US" altLang="zh-CN" sz="2400" b="0" dirty="0">
                <a:solidFill>
                  <a:srgbClr val="000000"/>
                </a:solidFill>
              </a:rPr>
              <a:t>splicing</a:t>
            </a:r>
            <a:r>
              <a:rPr lang="zh-CN" altLang="en-US" sz="2400" b="0" dirty="0">
                <a:solidFill>
                  <a:srgbClr val="000000"/>
                </a:solidFill>
              </a:rPr>
              <a:t>）核酶和剪切型（</a:t>
            </a:r>
            <a:r>
              <a:rPr lang="en-US" altLang="zh-CN" sz="2400" b="0" dirty="0">
                <a:solidFill>
                  <a:srgbClr val="000000"/>
                </a:solidFill>
              </a:rPr>
              <a:t>cleavage</a:t>
            </a:r>
            <a:r>
              <a:rPr lang="zh-CN" altLang="en-US" sz="2400" b="0" dirty="0">
                <a:solidFill>
                  <a:srgbClr val="000000"/>
                </a:solidFill>
              </a:rPr>
              <a:t>）核酶</a:t>
            </a:r>
          </a:p>
          <a:p>
            <a:pPr lvl="1">
              <a:lnSpc>
                <a:spcPct val="120000"/>
              </a:lnSpc>
              <a:spcBef>
                <a:spcPts val="1800"/>
              </a:spcBef>
            </a:pPr>
            <a:r>
              <a:rPr lang="zh-CN" altLang="en-US" sz="2400" dirty="0">
                <a:solidFill>
                  <a:srgbClr val="0000CC"/>
                </a:solidFill>
              </a:rPr>
              <a:t>剪接型核酶</a:t>
            </a:r>
            <a:r>
              <a:rPr lang="zh-CN" altLang="en-US" sz="2400" dirty="0">
                <a:solidFill>
                  <a:srgbClr val="000000"/>
                </a:solidFill>
              </a:rPr>
              <a:t>具有序列特异的核酸内切酶、</a:t>
            </a:r>
            <a:r>
              <a:rPr lang="en-US" altLang="zh-CN" sz="2400" dirty="0">
                <a:solidFill>
                  <a:srgbClr val="000000"/>
                </a:solidFill>
              </a:rPr>
              <a:t>RNA </a:t>
            </a:r>
            <a:r>
              <a:rPr lang="zh-CN" altLang="en-US" sz="2400" dirty="0">
                <a:solidFill>
                  <a:srgbClr val="000000"/>
                </a:solidFill>
              </a:rPr>
              <a:t>连接酶等酶活性。通过既剪又接的方式</a:t>
            </a:r>
            <a:r>
              <a:rPr lang="zh-CN" altLang="en-US" sz="2400" b="1" dirty="0">
                <a:solidFill>
                  <a:srgbClr val="000000"/>
                </a:solidFill>
              </a:rPr>
              <a:t>除去内含子</a:t>
            </a:r>
            <a:r>
              <a:rPr lang="zh-CN" altLang="en-US" sz="2400" dirty="0">
                <a:solidFill>
                  <a:srgbClr val="000000"/>
                </a:solidFill>
              </a:rPr>
              <a:t>，</a:t>
            </a:r>
            <a:r>
              <a:rPr lang="zh-CN" altLang="en-US" sz="2400" b="1" dirty="0">
                <a:solidFill>
                  <a:srgbClr val="000000"/>
                </a:solidFill>
              </a:rPr>
              <a:t>需要鸟苷酸</a:t>
            </a:r>
            <a:r>
              <a:rPr lang="zh-CN" altLang="en-US" sz="2400" dirty="0">
                <a:solidFill>
                  <a:srgbClr val="000000"/>
                </a:solidFill>
              </a:rPr>
              <a:t>或</a:t>
            </a:r>
            <a:r>
              <a:rPr lang="zh-CN" altLang="en-US" sz="2400" b="1" dirty="0">
                <a:solidFill>
                  <a:srgbClr val="000000"/>
                </a:solidFill>
              </a:rPr>
              <a:t>鸟苷及镁离子</a:t>
            </a:r>
            <a:r>
              <a:rPr lang="zh-CN" altLang="en-US" sz="2400" dirty="0">
                <a:solidFill>
                  <a:srgbClr val="000000"/>
                </a:solidFill>
              </a:rPr>
              <a:t>参与。</a:t>
            </a:r>
            <a:endParaRPr lang="en-US" altLang="zh-CN" sz="2400" dirty="0">
              <a:solidFill>
                <a:srgbClr val="000000"/>
              </a:solidFill>
            </a:endParaRPr>
          </a:p>
          <a:p>
            <a:pPr lvl="1">
              <a:lnSpc>
                <a:spcPct val="120000"/>
              </a:lnSpc>
              <a:spcBef>
                <a:spcPts val="1800"/>
              </a:spcBef>
            </a:pPr>
            <a:r>
              <a:rPr lang="zh-CN" altLang="en-US" sz="2400" dirty="0">
                <a:solidFill>
                  <a:srgbClr val="0000CC"/>
                </a:solidFill>
              </a:rPr>
              <a:t>剪切型核酶</a:t>
            </a:r>
            <a:r>
              <a:rPr lang="zh-CN" altLang="en-US" sz="2400" dirty="0">
                <a:solidFill>
                  <a:srgbClr val="000000"/>
                </a:solidFill>
              </a:rPr>
              <a:t>（只进行位点特异性切割）主要包括</a:t>
            </a:r>
            <a:r>
              <a:rPr lang="zh-CN" altLang="en-US" sz="2400" b="1" dirty="0">
                <a:solidFill>
                  <a:srgbClr val="000000"/>
                </a:solidFill>
              </a:rPr>
              <a:t>锤头核酶</a:t>
            </a:r>
            <a:r>
              <a:rPr lang="zh-CN" altLang="en-US" sz="2400" dirty="0">
                <a:solidFill>
                  <a:srgbClr val="000000"/>
                </a:solidFill>
              </a:rPr>
              <a:t>；</a:t>
            </a:r>
            <a:r>
              <a:rPr lang="zh-CN" altLang="en-US" sz="2400" b="1" dirty="0">
                <a:solidFill>
                  <a:srgbClr val="000000"/>
                </a:solidFill>
              </a:rPr>
              <a:t>发夹核酶</a:t>
            </a:r>
            <a:r>
              <a:rPr lang="zh-CN" altLang="en-US" sz="2400" dirty="0">
                <a:solidFill>
                  <a:srgbClr val="000000"/>
                </a:solidFill>
              </a:rPr>
              <a:t>；丁型肝炎病毒（</a:t>
            </a:r>
            <a:r>
              <a:rPr lang="en-US" altLang="zh-CN" sz="2400" dirty="0">
                <a:solidFill>
                  <a:srgbClr val="000000"/>
                </a:solidFill>
              </a:rPr>
              <a:t>HDV</a:t>
            </a:r>
            <a:r>
              <a:rPr lang="zh-CN" altLang="en-US" sz="2400" dirty="0">
                <a:solidFill>
                  <a:srgbClr val="000000"/>
                </a:solidFill>
              </a:rPr>
              <a:t>）核酶；</a:t>
            </a:r>
            <a:r>
              <a:rPr lang="en-US" altLang="zh-CN" sz="2400" b="1" dirty="0">
                <a:solidFill>
                  <a:srgbClr val="000000"/>
                </a:solidFill>
              </a:rPr>
              <a:t>RNase P</a:t>
            </a:r>
            <a:r>
              <a:rPr lang="zh-CN" altLang="en-US" sz="2400" dirty="0">
                <a:solidFill>
                  <a:srgbClr val="000000"/>
                </a:solidFill>
              </a:rPr>
              <a:t>。可催化自体或者异体</a:t>
            </a:r>
            <a:r>
              <a:rPr lang="en-US" altLang="zh-CN" sz="2400" dirty="0">
                <a:solidFill>
                  <a:srgbClr val="000000"/>
                </a:solidFill>
              </a:rPr>
              <a:t>RNA </a:t>
            </a:r>
            <a:r>
              <a:rPr lang="zh-CN" altLang="en-US" sz="2400" dirty="0">
                <a:solidFill>
                  <a:srgbClr val="000000"/>
                </a:solidFill>
              </a:rPr>
              <a:t>的切割，相当于核酸内切酶。</a:t>
            </a:r>
            <a:endParaRPr lang="en-US" altLang="zh-CN" sz="2400" dirty="0">
              <a:solidFill>
                <a:srgbClr val="000000"/>
              </a:solidFill>
            </a:endParaRPr>
          </a:p>
          <a:p>
            <a:pPr lvl="1">
              <a:spcBef>
                <a:spcPts val="1200"/>
              </a:spcBef>
            </a:pPr>
            <a:endParaRPr lang="zh-CN" altLang="en-US" sz="2400" dirty="0">
              <a:solidFill>
                <a:srgbClr val="000000"/>
              </a:solidFill>
            </a:endParaRPr>
          </a:p>
          <a:p>
            <a:pPr>
              <a:spcBef>
                <a:spcPts val="1200"/>
              </a:spcBef>
            </a:pPr>
            <a:r>
              <a:rPr lang="zh-CN" altLang="en-US" sz="2400" b="0" dirty="0">
                <a:solidFill>
                  <a:srgbClr val="000000"/>
                </a:solidFill>
              </a:rPr>
              <a:t>已有进入临床试验阶段的人工合成的核酶。</a:t>
            </a:r>
          </a:p>
        </p:txBody>
      </p:sp>
    </p:spTree>
    <p:extLst>
      <p:ext uri="{BB962C8B-B14F-4D97-AF65-F5344CB8AC3E}">
        <p14:creationId xmlns:p14="http://schemas.microsoft.com/office/powerpoint/2010/main" val="1006367370"/>
      </p:ext>
    </p:extLst>
  </p:cSld>
  <p:clrMapOvr>
    <a:masterClrMapping/>
  </p:clrMapOvr>
  <p:transition spd="slow">
    <p:circle/>
  </p:transition>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8466" name="标题 1">
            <a:extLst>
              <a:ext uri="{FF2B5EF4-FFF2-40B4-BE49-F238E27FC236}">
                <a16:creationId xmlns:a16="http://schemas.microsoft.com/office/drawing/2014/main" id="{7716C8A1-E7EB-4BB7-826F-7D33D1CCD485}"/>
              </a:ext>
            </a:extLst>
          </p:cNvPr>
          <p:cNvSpPr>
            <a:spLocks noGrp="1" noChangeArrowheads="1"/>
          </p:cNvSpPr>
          <p:nvPr>
            <p:ph type="title" idx="4294967295"/>
          </p:nvPr>
        </p:nvSpPr>
        <p:spPr>
          <a:xfrm>
            <a:off x="1775520" y="587544"/>
            <a:ext cx="8153400" cy="735073"/>
          </a:xfrm>
        </p:spPr>
        <p:txBody>
          <a:bodyPr>
            <a:spAutoFit/>
          </a:bodyPr>
          <a:lstStyle/>
          <a:p>
            <a:pPr eaLnBrk="1" hangingPunct="1">
              <a:lnSpc>
                <a:spcPct val="130000"/>
              </a:lnSpc>
              <a:spcAft>
                <a:spcPct val="30000"/>
              </a:spcAft>
              <a:defRPr/>
            </a:pPr>
            <a:r>
              <a:rPr lang="zh-CN" altLang="en-US" sz="3600" kern="1200" dirty="0">
                <a:latin typeface="Times New Roman" panose="02020603050405020304" pitchFamily="18" charset="0"/>
                <a:ea typeface="黑体" panose="02010609060101010101" pitchFamily="49" charset="-122"/>
                <a:cs typeface="+mn-cs"/>
              </a:rPr>
              <a:t>核酶（</a:t>
            </a:r>
            <a:r>
              <a:rPr lang="en-US" altLang="zh-CN" sz="3600" kern="1200" dirty="0">
                <a:latin typeface="Times New Roman" panose="02020603050405020304" pitchFamily="18" charset="0"/>
                <a:ea typeface="黑体" panose="02010609060101010101" pitchFamily="49" charset="-122"/>
                <a:cs typeface="+mn-cs"/>
              </a:rPr>
              <a:t>ribozyme)</a:t>
            </a:r>
            <a:r>
              <a:rPr lang="zh-CN" altLang="en-US" sz="3600" kern="1200" dirty="0">
                <a:latin typeface="Times New Roman" panose="02020603050405020304" pitchFamily="18" charset="0"/>
                <a:ea typeface="黑体" panose="02010609060101010101" pitchFamily="49" charset="-122"/>
                <a:cs typeface="+mn-cs"/>
              </a:rPr>
              <a:t>的意义</a:t>
            </a:r>
          </a:p>
        </p:txBody>
      </p:sp>
      <p:sp>
        <p:nvSpPr>
          <p:cNvPr id="254979" name="内容占位符 3">
            <a:extLst>
              <a:ext uri="{FF2B5EF4-FFF2-40B4-BE49-F238E27FC236}">
                <a16:creationId xmlns:a16="http://schemas.microsoft.com/office/drawing/2014/main" id="{8E55570F-D512-4BC7-BEB7-A9CCF2BAA15D}"/>
              </a:ext>
            </a:extLst>
          </p:cNvPr>
          <p:cNvSpPr>
            <a:spLocks noGrp="1" noChangeArrowheads="1"/>
          </p:cNvSpPr>
          <p:nvPr>
            <p:ph idx="4294967295"/>
          </p:nvPr>
        </p:nvSpPr>
        <p:spPr>
          <a:xfrm>
            <a:off x="2783632" y="1772816"/>
            <a:ext cx="7542212" cy="4248150"/>
          </a:xfrm>
        </p:spPr>
        <p:txBody>
          <a:bodyPr/>
          <a:lstStyle/>
          <a:p>
            <a:pPr>
              <a:lnSpc>
                <a:spcPct val="150000"/>
              </a:lnSpc>
            </a:pPr>
            <a:r>
              <a:rPr lang="zh-CN" altLang="en-US" sz="2600" b="0" dirty="0">
                <a:solidFill>
                  <a:srgbClr val="0000CC"/>
                </a:solidFill>
              </a:rPr>
              <a:t>改变</a:t>
            </a:r>
            <a:r>
              <a:rPr lang="zh-CN" altLang="en-US" sz="2600" b="0" dirty="0"/>
              <a:t>了酶的化学本质是蛋白质的</a:t>
            </a:r>
            <a:r>
              <a:rPr lang="zh-CN" altLang="en-US" sz="2600" b="0" dirty="0">
                <a:solidFill>
                  <a:srgbClr val="0000CC"/>
                </a:solidFill>
              </a:rPr>
              <a:t>传统观念</a:t>
            </a:r>
            <a:endParaRPr lang="en-US" altLang="zh-CN" sz="2600" b="0" dirty="0">
              <a:solidFill>
                <a:srgbClr val="0000CC"/>
              </a:solidFill>
            </a:endParaRPr>
          </a:p>
          <a:p>
            <a:pPr>
              <a:lnSpc>
                <a:spcPct val="150000"/>
              </a:lnSpc>
            </a:pPr>
            <a:r>
              <a:rPr lang="zh-CN" altLang="en-US" sz="2600" b="0" dirty="0"/>
              <a:t>揭示了</a:t>
            </a:r>
            <a:r>
              <a:rPr lang="en-US" altLang="zh-CN" sz="2600" b="0" dirty="0"/>
              <a:t>RNA</a:t>
            </a:r>
            <a:r>
              <a:rPr lang="zh-CN" altLang="en-US" sz="2600" b="0" dirty="0"/>
              <a:t>在生物体内的</a:t>
            </a:r>
            <a:r>
              <a:rPr lang="zh-CN" altLang="en-US" sz="2600" b="0" dirty="0">
                <a:solidFill>
                  <a:srgbClr val="0000CC"/>
                </a:solidFill>
              </a:rPr>
              <a:t>多功能</a:t>
            </a:r>
            <a:endParaRPr lang="en-US" altLang="zh-CN" sz="2600" b="0" dirty="0">
              <a:solidFill>
                <a:srgbClr val="0000CC"/>
              </a:solidFill>
            </a:endParaRPr>
          </a:p>
          <a:p>
            <a:pPr>
              <a:lnSpc>
                <a:spcPct val="150000"/>
              </a:lnSpc>
            </a:pPr>
            <a:r>
              <a:rPr lang="zh-CN" altLang="en-US" sz="2600" b="0" dirty="0"/>
              <a:t>对研究</a:t>
            </a:r>
            <a:r>
              <a:rPr lang="zh-CN" altLang="en-US" sz="2600" b="0" dirty="0">
                <a:solidFill>
                  <a:srgbClr val="0000CC"/>
                </a:solidFill>
              </a:rPr>
              <a:t>生命的起源与进化</a:t>
            </a:r>
            <a:r>
              <a:rPr lang="zh-CN" altLang="en-US" sz="2600" b="0" dirty="0"/>
              <a:t>具有重大的意义</a:t>
            </a:r>
            <a:endParaRPr lang="en-US" altLang="zh-CN" sz="2600" b="0" dirty="0"/>
          </a:p>
          <a:p>
            <a:pPr lvl="1">
              <a:lnSpc>
                <a:spcPct val="150000"/>
              </a:lnSpc>
            </a:pPr>
            <a:r>
              <a:rPr lang="zh-CN" altLang="en-US" sz="2600" dirty="0"/>
              <a:t>生命起源是先有蛋白质，还是先有</a:t>
            </a:r>
            <a:r>
              <a:rPr lang="en-US" altLang="zh-CN" sz="2600" dirty="0"/>
              <a:t>DNA</a:t>
            </a:r>
            <a:r>
              <a:rPr lang="zh-CN" altLang="en-US" sz="2600" dirty="0"/>
              <a:t>？  </a:t>
            </a:r>
          </a:p>
          <a:p>
            <a:pPr>
              <a:lnSpc>
                <a:spcPct val="150000"/>
              </a:lnSpc>
            </a:pPr>
            <a:r>
              <a:rPr lang="zh-CN" altLang="en-US" sz="2600" b="0" dirty="0">
                <a:solidFill>
                  <a:srgbClr val="0000CC"/>
                </a:solidFill>
              </a:rPr>
              <a:t>设计人工核酶 ，进行基因治疗</a:t>
            </a:r>
            <a:endParaRPr lang="en-US" altLang="zh-CN" sz="2600" b="0" dirty="0">
              <a:solidFill>
                <a:srgbClr val="0000CC"/>
              </a:solidFill>
            </a:endParaRPr>
          </a:p>
          <a:p>
            <a:pPr lvl="1">
              <a:lnSpc>
                <a:spcPct val="150000"/>
              </a:lnSpc>
            </a:pPr>
            <a:r>
              <a:rPr lang="zh-CN" altLang="en-US" sz="2600" dirty="0"/>
              <a:t>试验阶段，有多种类型的核酶</a:t>
            </a:r>
          </a:p>
          <a:p>
            <a:pPr>
              <a:lnSpc>
                <a:spcPct val="150000"/>
              </a:lnSpc>
            </a:pPr>
            <a:endParaRPr lang="en-US" altLang="zh-CN" sz="2600" b="0" dirty="0"/>
          </a:p>
          <a:p>
            <a:pPr>
              <a:lnSpc>
                <a:spcPct val="150000"/>
              </a:lnSpc>
            </a:pPr>
            <a:endParaRPr lang="zh-CN" altLang="en-US" sz="2600" b="0" dirty="0"/>
          </a:p>
        </p:txBody>
      </p:sp>
    </p:spTree>
    <p:extLst>
      <p:ext uri="{BB962C8B-B14F-4D97-AF65-F5344CB8AC3E}">
        <p14:creationId xmlns:p14="http://schemas.microsoft.com/office/powerpoint/2010/main" val="3873965302"/>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4979">
                                            <p:txEl>
                                              <p:pRg st="2" end="2"/>
                                            </p:txEl>
                                          </p:spTgt>
                                        </p:tgtEl>
                                        <p:attrNameLst>
                                          <p:attrName>style.visibility</p:attrName>
                                        </p:attrNameLst>
                                      </p:cBhvr>
                                      <p:to>
                                        <p:strVal val="visible"/>
                                      </p:to>
                                    </p:set>
                                    <p:animEffect transition="in" filter="fade">
                                      <p:cBhvr>
                                        <p:cTn id="7" dur="500"/>
                                        <p:tgtEl>
                                          <p:spTgt spid="254979">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4979">
                                            <p:txEl>
                                              <p:pRg st="3" end="3"/>
                                            </p:txEl>
                                          </p:spTgt>
                                        </p:tgtEl>
                                        <p:attrNameLst>
                                          <p:attrName>style.visibility</p:attrName>
                                        </p:attrNameLst>
                                      </p:cBhvr>
                                      <p:to>
                                        <p:strVal val="visible"/>
                                      </p:to>
                                    </p:set>
                                    <p:animEffect transition="in" filter="fade">
                                      <p:cBhvr>
                                        <p:cTn id="10" dur="500"/>
                                        <p:tgtEl>
                                          <p:spTgt spid="254979">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4979">
                                            <p:txEl>
                                              <p:pRg st="4" end="4"/>
                                            </p:txEl>
                                          </p:spTgt>
                                        </p:tgtEl>
                                        <p:attrNameLst>
                                          <p:attrName>style.visibility</p:attrName>
                                        </p:attrNameLst>
                                      </p:cBhvr>
                                      <p:to>
                                        <p:strVal val="visible"/>
                                      </p:to>
                                    </p:set>
                                    <p:animEffect transition="in" filter="fade">
                                      <p:cBhvr>
                                        <p:cTn id="15" dur="500"/>
                                        <p:tgtEl>
                                          <p:spTgt spid="254979">
                                            <p:txEl>
                                              <p:pRg st="4" end="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4979">
                                            <p:txEl>
                                              <p:pRg st="5" end="5"/>
                                            </p:txEl>
                                          </p:spTgt>
                                        </p:tgtEl>
                                        <p:attrNameLst>
                                          <p:attrName>style.visibility</p:attrName>
                                        </p:attrNameLst>
                                      </p:cBhvr>
                                      <p:to>
                                        <p:strVal val="visible"/>
                                      </p:to>
                                    </p:set>
                                    <p:animEffect transition="in" filter="fade">
                                      <p:cBhvr>
                                        <p:cTn id="18" dur="500"/>
                                        <p:tgtEl>
                                          <p:spTgt spid="2549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9" grpId="0" uiExpand="1" build="p"/>
    </p:bldLst>
  </p:timing>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80578" name="Picture 7">
            <a:extLst>
              <a:ext uri="{FF2B5EF4-FFF2-40B4-BE49-F238E27FC236}">
                <a16:creationId xmlns:a16="http://schemas.microsoft.com/office/drawing/2014/main" id="{6BC85F7D-51E6-4C0E-A4D1-E5C1DFC4AC55}"/>
              </a:ext>
            </a:extLst>
          </p:cNvPr>
          <p:cNvPicPr>
            <a:picLocks noChangeAspect="1" noChangeArrowheads="1"/>
          </p:cNvPicPr>
          <p:nvPr/>
        </p:nvPicPr>
        <p:blipFill>
          <a:blip r:embed="rId3">
            <a:lum bright="-10000" contrast="10000"/>
            <a:extLst>
              <a:ext uri="{28A0092B-C50C-407E-A947-70E740481C1C}">
                <a14:useLocalDpi xmlns:a14="http://schemas.microsoft.com/office/drawing/2010/main" val="0"/>
              </a:ext>
            </a:extLst>
          </a:blip>
          <a:srcRect l="13580" t="31738" r="48021" b="14648"/>
          <a:stretch>
            <a:fillRect/>
          </a:stretch>
        </p:blipFill>
        <p:spPr bwMode="auto">
          <a:xfrm>
            <a:off x="3216275" y="144464"/>
            <a:ext cx="5842000"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lgn="ctr">
                <a:solidFill>
                  <a:srgbClr val="000000"/>
                </a:solidFill>
                <a:miter lim="800000"/>
                <a:headEnd/>
                <a:tailEnd/>
              </a14:hiddenLine>
            </a:ext>
          </a:extLst>
        </p:spPr>
      </p:pic>
    </p:spTree>
    <p:extLst>
      <p:ext uri="{BB962C8B-B14F-4D97-AF65-F5344CB8AC3E}">
        <p14:creationId xmlns:p14="http://schemas.microsoft.com/office/powerpoint/2010/main" val="3065475300"/>
      </p:ext>
    </p:extLst>
  </p:cSld>
  <p:clrMapOvr>
    <a:masterClrMapping/>
  </p:clrMapOvr>
  <p:transition spd="slow">
    <p:circl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4">
            <a:extLst>
              <a:ext uri="{FF2B5EF4-FFF2-40B4-BE49-F238E27FC236}">
                <a16:creationId xmlns:a16="http://schemas.microsoft.com/office/drawing/2014/main" id="{CA7DBCE6-5BEF-4338-8C12-18E485F28D53}"/>
              </a:ext>
            </a:extLst>
          </p:cNvPr>
          <p:cNvSpPr>
            <a:spLocks noChangeArrowheads="1"/>
          </p:cNvSpPr>
          <p:nvPr/>
        </p:nvSpPr>
        <p:spPr bwMode="auto">
          <a:xfrm>
            <a:off x="4727575" y="1773239"/>
            <a:ext cx="3194050" cy="8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10000"/>
              </a:lnSpc>
              <a:spcBef>
                <a:spcPct val="0"/>
              </a:spcBef>
              <a:buClrTx/>
              <a:buFontTx/>
              <a:buNone/>
            </a:pPr>
            <a:r>
              <a:rPr lang="zh-CN" altLang="en-US" sz="4800">
                <a:solidFill>
                  <a:srgbClr val="000099"/>
                </a:solidFill>
                <a:latin typeface="Times New Roman" panose="02020603050405020304" pitchFamily="18" charset="0"/>
                <a:ea typeface="黑体" panose="02010609060101010101" pitchFamily="49" charset="-122"/>
              </a:rPr>
              <a:t>第 四 节</a:t>
            </a:r>
            <a:endParaRPr lang="zh-CN" altLang="en-US" sz="3200">
              <a:solidFill>
                <a:srgbClr val="660066"/>
              </a:solidFill>
              <a:latin typeface="Times New Roman" panose="02020603050405020304" pitchFamily="18" charset="0"/>
              <a:ea typeface="黑体" panose="02010609060101010101" pitchFamily="49" charset="-122"/>
            </a:endParaRPr>
          </a:p>
        </p:txBody>
      </p:sp>
      <p:sp>
        <p:nvSpPr>
          <p:cNvPr id="297987" name="Rectangle 5">
            <a:extLst>
              <a:ext uri="{FF2B5EF4-FFF2-40B4-BE49-F238E27FC236}">
                <a16:creationId xmlns:a16="http://schemas.microsoft.com/office/drawing/2014/main" id="{7E1E3032-F67E-4B49-A0C5-8B898ED3EE6B}"/>
              </a:ext>
            </a:extLst>
          </p:cNvPr>
          <p:cNvSpPr>
            <a:spLocks noChangeArrowheads="1"/>
          </p:cNvSpPr>
          <p:nvPr/>
        </p:nvSpPr>
        <p:spPr bwMode="auto">
          <a:xfrm>
            <a:off x="2100264" y="3213101"/>
            <a:ext cx="8027987"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80000"/>
              </a:lnSpc>
              <a:spcBef>
                <a:spcPct val="0"/>
              </a:spcBef>
              <a:buClrTx/>
              <a:buFontTx/>
              <a:buNone/>
            </a:pPr>
            <a:r>
              <a:rPr lang="zh-CN" altLang="en-US" sz="4800">
                <a:solidFill>
                  <a:srgbClr val="000099"/>
                </a:solidFill>
                <a:latin typeface="Times New Roman" panose="02020603050405020304" pitchFamily="18" charset="0"/>
                <a:ea typeface="黑体" panose="02010609060101010101" pitchFamily="49" charset="-122"/>
              </a:rPr>
              <a:t>核 酸 的 理 化 性 质</a:t>
            </a:r>
          </a:p>
          <a:p>
            <a:pPr algn="ctr" eaLnBrk="1" hangingPunct="1">
              <a:lnSpc>
                <a:spcPct val="120000"/>
              </a:lnSpc>
              <a:spcBef>
                <a:spcPct val="0"/>
              </a:spcBef>
              <a:buClrTx/>
              <a:buFontTx/>
              <a:buNone/>
            </a:pPr>
            <a:r>
              <a:rPr lang="en-US" altLang="zh-CN" sz="2400">
                <a:solidFill>
                  <a:srgbClr val="660066"/>
                </a:solidFill>
                <a:latin typeface="Times New Roman" panose="02020603050405020304" pitchFamily="18" charset="0"/>
                <a:ea typeface="黑体" panose="02010609060101010101" pitchFamily="49" charset="-122"/>
              </a:rPr>
              <a:t>The Physical and Chemical Characters of Nucleic Acid</a:t>
            </a:r>
            <a:endParaRPr lang="en-US" altLang="zh-CN" sz="2400">
              <a:solidFill>
                <a:srgbClr val="660066"/>
              </a:solidFill>
              <a:latin typeface="Times New Roman" panose="02020603050405020304" pitchFamily="18" charset="0"/>
              <a:ea typeface="黑体" panose="02010609060101010101" pitchFamily="49" charset="-122"/>
              <a:hlinkClick r:id="" action="ppaction://hlinkshowjump?jump=lastslide"/>
            </a:endParaRPr>
          </a:p>
        </p:txBody>
      </p:sp>
    </p:spTree>
  </p:cSld>
  <p:clrMapOvr>
    <a:masterClrMapping/>
  </p:clrMapOvr>
  <p:transition spd="slow">
    <p:circl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7" name="Text Box 3">
            <a:extLst>
              <a:ext uri="{FF2B5EF4-FFF2-40B4-BE49-F238E27FC236}">
                <a16:creationId xmlns:a16="http://schemas.microsoft.com/office/drawing/2014/main" id="{7C3CDD83-0284-4C36-859E-1330100498B9}"/>
              </a:ext>
            </a:extLst>
          </p:cNvPr>
          <p:cNvSpPr txBox="1">
            <a:spLocks noChangeArrowheads="1"/>
          </p:cNvSpPr>
          <p:nvPr/>
        </p:nvSpPr>
        <p:spPr bwMode="auto">
          <a:xfrm>
            <a:off x="1775520" y="1773238"/>
            <a:ext cx="8403530" cy="4229100"/>
          </a:xfrm>
          <a:prstGeom prst="rect">
            <a:avLst/>
          </a:prstGeom>
          <a:noFill/>
          <a:ln>
            <a:noFill/>
          </a:ln>
        </p:spPr>
        <p:txBody>
          <a:bodyPr wrap="square">
            <a:spAutoFit/>
          </a:bodyPr>
          <a:lstStyle>
            <a:lvl1pPr>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marL="276225" indent="-276225" eaLnBrk="1" hangingPunct="1">
              <a:lnSpc>
                <a:spcPct val="130000"/>
              </a:lnSpc>
              <a:spcBef>
                <a:spcPct val="70000"/>
              </a:spcBef>
              <a:buClrTx/>
              <a:buNone/>
              <a:defRPr/>
            </a:pPr>
            <a:r>
              <a:rPr lang="en-US" altLang="zh-CN" b="0" dirty="0">
                <a:solidFill>
                  <a:schemeClr val="tx1"/>
                </a:solidFill>
                <a:latin typeface="Times New Roman" panose="02020603050405020304" pitchFamily="18" charset="0"/>
                <a:ea typeface="黑体" panose="02010609060101010101" pitchFamily="49" charset="-122"/>
              </a:rPr>
              <a:t>1. </a:t>
            </a:r>
            <a:r>
              <a:rPr lang="zh-CN" altLang="en-US" b="0" dirty="0">
                <a:solidFill>
                  <a:schemeClr val="tx1"/>
                </a:solidFill>
                <a:latin typeface="Times New Roman" panose="02020603050405020304" pitchFamily="18" charset="0"/>
                <a:ea typeface="黑体" panose="02010609060101010101" pitchFamily="49" charset="-122"/>
              </a:rPr>
              <a:t>酸水解与碱水解： </a:t>
            </a:r>
            <a:r>
              <a:rPr lang="en-US" altLang="zh-CN" b="0" dirty="0">
                <a:solidFill>
                  <a:schemeClr val="tx1"/>
                </a:solidFill>
                <a:latin typeface="Times New Roman" panose="02020603050405020304" pitchFamily="18" charset="0"/>
                <a:ea typeface="黑体" panose="02010609060101010101" pitchFamily="49" charset="-122"/>
              </a:rPr>
              <a:t>DNA</a:t>
            </a:r>
            <a:r>
              <a:rPr lang="zh-CN" altLang="en-US" b="0" dirty="0">
                <a:solidFill>
                  <a:schemeClr val="tx1"/>
                </a:solidFill>
                <a:latin typeface="Times New Roman" panose="02020603050405020304" pitchFamily="18" charset="0"/>
                <a:ea typeface="黑体" panose="02010609060101010101" pitchFamily="49" charset="-122"/>
              </a:rPr>
              <a:t>和</a:t>
            </a:r>
            <a:r>
              <a:rPr lang="en-US" altLang="zh-CN" b="0" dirty="0">
                <a:solidFill>
                  <a:schemeClr val="tx1"/>
                </a:solidFill>
                <a:latin typeface="Times New Roman" panose="02020603050405020304" pitchFamily="18" charset="0"/>
                <a:ea typeface="黑体" panose="02010609060101010101" pitchFamily="49" charset="-122"/>
              </a:rPr>
              <a:t>RNA</a:t>
            </a:r>
            <a:r>
              <a:rPr lang="zh-CN" altLang="en-US" b="0" dirty="0">
                <a:solidFill>
                  <a:schemeClr val="tx1"/>
                </a:solidFill>
                <a:latin typeface="Times New Roman" panose="02020603050405020304" pitchFamily="18" charset="0"/>
                <a:ea typeface="黑体" panose="02010609060101010101" pitchFamily="49" charset="-122"/>
              </a:rPr>
              <a:t>在酸性条件下都易水解。</a:t>
            </a:r>
            <a:r>
              <a:rPr lang="en-US" altLang="zh-CN" b="0" dirty="0">
                <a:solidFill>
                  <a:srgbClr val="0000CC"/>
                </a:solidFill>
                <a:latin typeface="Times New Roman" panose="02020603050405020304" pitchFamily="18" charset="0"/>
                <a:ea typeface="黑体" panose="02010609060101010101" pitchFamily="49" charset="-122"/>
              </a:rPr>
              <a:t>DNA</a:t>
            </a:r>
            <a:r>
              <a:rPr lang="zh-CN" altLang="en-US" b="0" dirty="0">
                <a:solidFill>
                  <a:srgbClr val="0000CC"/>
                </a:solidFill>
                <a:latin typeface="Times New Roman" panose="02020603050405020304" pitchFamily="18" charset="0"/>
                <a:ea typeface="黑体" panose="02010609060101010101" pitchFamily="49" charset="-122"/>
              </a:rPr>
              <a:t>对碱较稳定，</a:t>
            </a:r>
            <a:r>
              <a:rPr lang="en-US" altLang="zh-CN" b="0" dirty="0">
                <a:solidFill>
                  <a:srgbClr val="0000CC"/>
                </a:solidFill>
                <a:latin typeface="Times New Roman" panose="02020603050405020304" pitchFamily="18" charset="0"/>
                <a:ea typeface="黑体" panose="02010609060101010101" pitchFamily="49" charset="-122"/>
              </a:rPr>
              <a:t>RNA</a:t>
            </a:r>
            <a:r>
              <a:rPr lang="zh-CN" altLang="en-US" b="0" dirty="0">
                <a:solidFill>
                  <a:srgbClr val="0000CC"/>
                </a:solidFill>
                <a:latin typeface="Times New Roman" panose="02020603050405020304" pitchFamily="18" charset="0"/>
                <a:ea typeface="黑体" panose="02010609060101010101" pitchFamily="49" charset="-122"/>
              </a:rPr>
              <a:t>易被碱水解。</a:t>
            </a:r>
          </a:p>
          <a:p>
            <a:pPr eaLnBrk="1" hangingPunct="1">
              <a:lnSpc>
                <a:spcPct val="130000"/>
              </a:lnSpc>
              <a:spcBef>
                <a:spcPct val="70000"/>
              </a:spcBef>
              <a:buClrTx/>
              <a:buFontTx/>
              <a:buNone/>
              <a:defRPr/>
            </a:pPr>
            <a:r>
              <a:rPr lang="en-US" altLang="zh-CN" b="0" dirty="0">
                <a:solidFill>
                  <a:schemeClr val="tx1"/>
                </a:solidFill>
                <a:latin typeface="Times New Roman" panose="02020603050405020304" pitchFamily="18" charset="0"/>
                <a:ea typeface="黑体" panose="02010609060101010101" pitchFamily="49" charset="-122"/>
              </a:rPr>
              <a:t>2.</a:t>
            </a:r>
            <a:r>
              <a:rPr lang="zh-CN" altLang="en-US" b="0" dirty="0">
                <a:solidFill>
                  <a:schemeClr val="tx1"/>
                </a:solidFill>
                <a:latin typeface="Times New Roman" panose="02020603050405020304" pitchFamily="18" charset="0"/>
                <a:ea typeface="黑体" panose="02010609060101010101" pitchFamily="49" charset="-122"/>
              </a:rPr>
              <a:t>核酸的两性解离及等电点</a:t>
            </a:r>
          </a:p>
          <a:p>
            <a:pPr marL="276225" indent="-276225" eaLnBrk="1" hangingPunct="1">
              <a:lnSpc>
                <a:spcPct val="130000"/>
              </a:lnSpc>
              <a:spcBef>
                <a:spcPct val="40000"/>
              </a:spcBef>
              <a:buClrTx/>
              <a:buNone/>
              <a:defRPr/>
            </a:pPr>
            <a:r>
              <a:rPr kumimoji="0" lang="zh-CN" altLang="en-US" b="0" dirty="0">
                <a:solidFill>
                  <a:srgbClr val="000000"/>
                </a:solidFill>
                <a:latin typeface="Times New Roman" panose="02020603050405020304" pitchFamily="18" charset="0"/>
                <a:ea typeface="黑体" panose="02010609060101010101" pitchFamily="49" charset="-122"/>
              </a:rPr>
              <a:t>        </a:t>
            </a:r>
            <a:r>
              <a:rPr kumimoji="0" lang="en-US" altLang="zh-CN" b="0" dirty="0">
                <a:solidFill>
                  <a:srgbClr val="000000"/>
                </a:solidFill>
                <a:latin typeface="Times New Roman" panose="02020603050405020304" pitchFamily="18" charset="0"/>
                <a:ea typeface="黑体" panose="02010609060101010101" pitchFamily="49" charset="-122"/>
              </a:rPr>
              <a:t>DNA</a:t>
            </a:r>
            <a:r>
              <a:rPr kumimoji="0" lang="zh-CN" altLang="en-US" b="0" dirty="0">
                <a:solidFill>
                  <a:srgbClr val="000000"/>
                </a:solidFill>
                <a:latin typeface="Times New Roman" panose="02020603050405020304" pitchFamily="18" charset="0"/>
                <a:ea typeface="黑体" panose="02010609060101010101" pitchFamily="49" charset="-122"/>
              </a:rPr>
              <a:t>的</a:t>
            </a:r>
            <a:r>
              <a:rPr kumimoji="0" lang="en-US" altLang="zh-CN" b="0" dirty="0" err="1">
                <a:solidFill>
                  <a:srgbClr val="000000"/>
                </a:solidFill>
                <a:latin typeface="Times New Roman" panose="02020603050405020304" pitchFamily="18" charset="0"/>
                <a:ea typeface="黑体" panose="02010609060101010101" pitchFamily="49" charset="-122"/>
              </a:rPr>
              <a:t>pI</a:t>
            </a:r>
            <a:r>
              <a:rPr kumimoji="0" lang="zh-CN" altLang="en-US" b="0" dirty="0">
                <a:solidFill>
                  <a:srgbClr val="000000"/>
                </a:solidFill>
                <a:latin typeface="Times New Roman" panose="02020603050405020304" pitchFamily="18" charset="0"/>
                <a:ea typeface="黑体" panose="02010609060101010101" pitchFamily="49" charset="-122"/>
              </a:rPr>
              <a:t>约为</a:t>
            </a:r>
            <a:r>
              <a:rPr kumimoji="0" lang="en-US" altLang="zh-CN" b="0" dirty="0">
                <a:solidFill>
                  <a:srgbClr val="000000"/>
                </a:solidFill>
                <a:latin typeface="Times New Roman" panose="02020603050405020304" pitchFamily="18" charset="0"/>
                <a:ea typeface="黑体" panose="02010609060101010101" pitchFamily="49" charset="-122"/>
              </a:rPr>
              <a:t>4-5</a:t>
            </a:r>
            <a:r>
              <a:rPr kumimoji="0" lang="zh-CN" altLang="en-US" b="0" dirty="0">
                <a:solidFill>
                  <a:srgbClr val="000000"/>
                </a:solidFill>
                <a:latin typeface="Times New Roman" panose="02020603050405020304" pitchFamily="18" charset="0"/>
                <a:ea typeface="黑体" panose="02010609060101010101" pitchFamily="49" charset="-122"/>
              </a:rPr>
              <a:t>，</a:t>
            </a:r>
            <a:r>
              <a:rPr kumimoji="0" lang="en-US" altLang="zh-CN" b="0" dirty="0">
                <a:solidFill>
                  <a:srgbClr val="000000"/>
                </a:solidFill>
                <a:latin typeface="Times New Roman" panose="02020603050405020304" pitchFamily="18" charset="0"/>
                <a:ea typeface="黑体" panose="02010609060101010101" pitchFamily="49" charset="-122"/>
              </a:rPr>
              <a:t>RNA</a:t>
            </a:r>
            <a:r>
              <a:rPr kumimoji="0" lang="zh-CN" altLang="en-US" b="0" dirty="0">
                <a:solidFill>
                  <a:srgbClr val="000000"/>
                </a:solidFill>
                <a:latin typeface="Times New Roman" panose="02020603050405020304" pitchFamily="18" charset="0"/>
                <a:ea typeface="黑体" panose="02010609060101010101" pitchFamily="49" charset="-122"/>
              </a:rPr>
              <a:t>的</a:t>
            </a:r>
            <a:r>
              <a:rPr kumimoji="0" lang="en-US" altLang="zh-CN" b="0" dirty="0" err="1">
                <a:solidFill>
                  <a:srgbClr val="000000"/>
                </a:solidFill>
                <a:latin typeface="Times New Roman" panose="02020603050405020304" pitchFamily="18" charset="0"/>
                <a:ea typeface="黑体" panose="02010609060101010101" pitchFamily="49" charset="-122"/>
              </a:rPr>
              <a:t>pI</a:t>
            </a:r>
            <a:r>
              <a:rPr kumimoji="0" lang="zh-CN" altLang="en-US" b="0" dirty="0">
                <a:solidFill>
                  <a:srgbClr val="000000"/>
                </a:solidFill>
                <a:latin typeface="Times New Roman" panose="02020603050405020304" pitchFamily="18" charset="0"/>
                <a:ea typeface="黑体" panose="02010609060101010101" pitchFamily="49" charset="-122"/>
              </a:rPr>
              <a:t>约为</a:t>
            </a:r>
            <a:r>
              <a:rPr kumimoji="0" lang="en-US" altLang="zh-CN" b="0" dirty="0">
                <a:solidFill>
                  <a:srgbClr val="000000"/>
                </a:solidFill>
                <a:latin typeface="Times New Roman" panose="02020603050405020304" pitchFamily="18" charset="0"/>
                <a:ea typeface="黑体" panose="02010609060101010101" pitchFamily="49" charset="-122"/>
              </a:rPr>
              <a:t>2.0-2.5</a:t>
            </a:r>
            <a:r>
              <a:rPr kumimoji="0" lang="zh-CN" altLang="en-US" b="0" dirty="0">
                <a:solidFill>
                  <a:srgbClr val="000000"/>
                </a:solidFill>
                <a:latin typeface="Times New Roman" panose="02020603050405020304" pitchFamily="18" charset="0"/>
                <a:ea typeface="黑体" panose="02010609060101010101" pitchFamily="49" charset="-122"/>
              </a:rPr>
              <a:t>，</a:t>
            </a:r>
            <a:r>
              <a:rPr kumimoji="0" lang="zh-CN" altLang="en-US" b="0" dirty="0">
                <a:solidFill>
                  <a:schemeClr val="tx1"/>
                </a:solidFill>
                <a:latin typeface="Times New Roman" panose="02020603050405020304" pitchFamily="18" charset="0"/>
                <a:ea typeface="黑体" panose="02010609060101010101" pitchFamily="49" charset="-122"/>
              </a:rPr>
              <a:t>在</a:t>
            </a:r>
            <a:r>
              <a:rPr kumimoji="0" lang="en-US" altLang="zh-CN" b="0" dirty="0">
                <a:solidFill>
                  <a:srgbClr val="0000CC"/>
                </a:solidFill>
                <a:latin typeface="Times New Roman" panose="02020603050405020304" pitchFamily="18" charset="0"/>
                <a:ea typeface="黑体" panose="02010609060101010101" pitchFamily="49" charset="-122"/>
              </a:rPr>
              <a:t>pH7-8</a:t>
            </a:r>
            <a:r>
              <a:rPr kumimoji="0" lang="zh-CN" altLang="en-US" b="0" dirty="0">
                <a:solidFill>
                  <a:srgbClr val="0000CC"/>
                </a:solidFill>
                <a:latin typeface="Times New Roman" panose="02020603050405020304" pitchFamily="18" charset="0"/>
                <a:ea typeface="黑体" panose="02010609060101010101" pitchFamily="49" charset="-122"/>
              </a:rPr>
              <a:t>电泳时泳向正极。</a:t>
            </a:r>
            <a:endParaRPr lang="zh-CN" altLang="en-US" sz="3200" b="0" dirty="0">
              <a:solidFill>
                <a:srgbClr val="0000CC"/>
              </a:solidFill>
              <a:latin typeface="Times New Roman" panose="02020603050405020304" pitchFamily="18" charset="0"/>
              <a:ea typeface="黑体" panose="02010609060101010101" pitchFamily="49" charset="-122"/>
            </a:endParaRPr>
          </a:p>
          <a:p>
            <a:pPr eaLnBrk="1" hangingPunct="1">
              <a:lnSpc>
                <a:spcPct val="130000"/>
              </a:lnSpc>
              <a:spcBef>
                <a:spcPct val="70000"/>
              </a:spcBef>
              <a:buClrTx/>
              <a:buFontTx/>
              <a:buNone/>
              <a:defRPr/>
            </a:pPr>
            <a:r>
              <a:rPr lang="en-US" altLang="zh-CN" b="0" dirty="0">
                <a:solidFill>
                  <a:srgbClr val="FF0000"/>
                </a:solidFill>
                <a:latin typeface="Times New Roman" panose="02020603050405020304" pitchFamily="18" charset="0"/>
                <a:ea typeface="黑体" panose="02010609060101010101" pitchFamily="49" charset="-122"/>
              </a:rPr>
              <a:t>3.</a:t>
            </a:r>
            <a:r>
              <a:rPr lang="zh-CN" altLang="en-US" b="0" dirty="0">
                <a:solidFill>
                  <a:srgbClr val="FF0000"/>
                </a:solidFill>
                <a:latin typeface="Times New Roman" panose="02020603050405020304" pitchFamily="18" charset="0"/>
                <a:ea typeface="黑体" panose="02010609060101010101" pitchFamily="49" charset="-122"/>
              </a:rPr>
              <a:t>紫外吸收（</a:t>
            </a:r>
            <a:r>
              <a:rPr lang="en-US" altLang="zh-CN" b="0" dirty="0">
                <a:solidFill>
                  <a:srgbClr val="FF0000"/>
                </a:solidFill>
                <a:latin typeface="Times New Roman" panose="02020603050405020304" pitchFamily="18" charset="0"/>
                <a:ea typeface="黑体" panose="02010609060101010101" pitchFamily="49" charset="-122"/>
              </a:rPr>
              <a:t>260nm</a:t>
            </a:r>
            <a:r>
              <a:rPr lang="zh-CN" altLang="en-US" b="0" dirty="0">
                <a:solidFill>
                  <a:srgbClr val="FF0000"/>
                </a:solidFill>
                <a:latin typeface="Times New Roman" panose="02020603050405020304" pitchFamily="18" charset="0"/>
                <a:ea typeface="黑体" panose="02010609060101010101" pitchFamily="49" charset="-122"/>
              </a:rPr>
              <a:t>）</a:t>
            </a:r>
          </a:p>
        </p:txBody>
      </p:sp>
      <p:sp>
        <p:nvSpPr>
          <p:cNvPr id="300035" name="Rectangle 4">
            <a:extLst>
              <a:ext uri="{FF2B5EF4-FFF2-40B4-BE49-F238E27FC236}">
                <a16:creationId xmlns:a16="http://schemas.microsoft.com/office/drawing/2014/main" id="{ECD01E6B-71D3-4936-8D2A-EB8A93D52B66}"/>
              </a:ext>
            </a:extLst>
          </p:cNvPr>
          <p:cNvSpPr>
            <a:spLocks noChangeArrowheads="1"/>
          </p:cNvSpPr>
          <p:nvPr/>
        </p:nvSpPr>
        <p:spPr bwMode="auto">
          <a:xfrm>
            <a:off x="3629025" y="72015"/>
            <a:ext cx="4933950" cy="735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dirty="0">
                <a:solidFill>
                  <a:srgbClr val="0000CC"/>
                </a:solidFill>
                <a:latin typeface="Times New Roman" panose="02020603050405020304" pitchFamily="18" charset="0"/>
                <a:ea typeface="黑体" panose="02010609060101010101" pitchFamily="49" charset="-122"/>
              </a:rPr>
              <a:t>一</a:t>
            </a:r>
            <a:r>
              <a:rPr kumimoji="0" lang="en-US" altLang="zh-CN" sz="3600" dirty="0">
                <a:solidFill>
                  <a:srgbClr val="0000CC"/>
                </a:solidFill>
                <a:latin typeface="Times New Roman" panose="02020603050405020304" pitchFamily="18" charset="0"/>
                <a:ea typeface="黑体" panose="02010609060101010101" pitchFamily="49" charset="-122"/>
              </a:rPr>
              <a:t>.</a:t>
            </a:r>
            <a:r>
              <a:rPr kumimoji="0" lang="zh-CN" altLang="en-US" sz="3600" dirty="0">
                <a:solidFill>
                  <a:srgbClr val="0000CC"/>
                </a:solidFill>
                <a:latin typeface="Times New Roman" panose="02020603050405020304" pitchFamily="18" charset="0"/>
                <a:ea typeface="黑体" panose="02010609060101010101" pitchFamily="49" charset="-122"/>
              </a:rPr>
              <a:t>核酸的一般理化性质</a:t>
            </a:r>
          </a:p>
        </p:txBody>
      </p:sp>
      <p:sp>
        <p:nvSpPr>
          <p:cNvPr id="300036" name="灯片编号占位符 1">
            <a:extLst>
              <a:ext uri="{FF2B5EF4-FFF2-40B4-BE49-F238E27FC236}">
                <a16:creationId xmlns:a16="http://schemas.microsoft.com/office/drawing/2014/main" id="{49B692BA-4B98-4151-84F6-09BCC156308A}"/>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0D2E58A1-97DA-45BC-92ED-7FFBE78E6F1B}" type="slidenum">
              <a:rPr lang="zh-CN" altLang="en-US" sz="1200" b="0">
                <a:solidFill>
                  <a:srgbClr val="898F89"/>
                </a:solidFill>
              </a:rPr>
              <a:pPr>
                <a:spcBef>
                  <a:spcPct val="0"/>
                </a:spcBef>
                <a:buClrTx/>
                <a:buFontTx/>
                <a:buNone/>
              </a:pPr>
              <a:t>118</a:t>
            </a:fld>
            <a:endParaRPr lang="zh-CN" altLang="en-US" sz="1200" b="0">
              <a:solidFill>
                <a:srgbClr val="898F8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36227">
                                            <p:txEl>
                                              <p:pRg st="0" end="0"/>
                                            </p:txEl>
                                          </p:spTgt>
                                        </p:tgtEl>
                                        <p:attrNameLst>
                                          <p:attrName>style.visibility</p:attrName>
                                        </p:attrNameLst>
                                      </p:cBhvr>
                                      <p:to>
                                        <p:strVal val="visible"/>
                                      </p:to>
                                    </p:set>
                                    <p:animEffect transition="in" filter="dissolve">
                                      <p:cBhvr>
                                        <p:cTn id="7" dur="500"/>
                                        <p:tgtEl>
                                          <p:spTgt spid="436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36227">
                                            <p:txEl>
                                              <p:pRg st="1" end="1"/>
                                            </p:txEl>
                                          </p:spTgt>
                                        </p:tgtEl>
                                        <p:attrNameLst>
                                          <p:attrName>style.visibility</p:attrName>
                                        </p:attrNameLst>
                                      </p:cBhvr>
                                      <p:to>
                                        <p:strVal val="visible"/>
                                      </p:to>
                                    </p:set>
                                    <p:animEffect transition="in" filter="dissolve">
                                      <p:cBhvr>
                                        <p:cTn id="12" dur="500"/>
                                        <p:tgtEl>
                                          <p:spTgt spid="4362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36227">
                                            <p:txEl>
                                              <p:pRg st="2" end="2"/>
                                            </p:txEl>
                                          </p:spTgt>
                                        </p:tgtEl>
                                        <p:attrNameLst>
                                          <p:attrName>style.visibility</p:attrName>
                                        </p:attrNameLst>
                                      </p:cBhvr>
                                      <p:to>
                                        <p:strVal val="visible"/>
                                      </p:to>
                                    </p:set>
                                    <p:animEffect transition="in" filter="dissolve">
                                      <p:cBhvr>
                                        <p:cTn id="17" dur="500"/>
                                        <p:tgtEl>
                                          <p:spTgt spid="4362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36227">
                                            <p:txEl>
                                              <p:pRg st="3" end="3"/>
                                            </p:txEl>
                                          </p:spTgt>
                                        </p:tgtEl>
                                        <p:attrNameLst>
                                          <p:attrName>style.visibility</p:attrName>
                                        </p:attrNameLst>
                                      </p:cBhvr>
                                      <p:to>
                                        <p:strVal val="visible"/>
                                      </p:to>
                                    </p:set>
                                    <p:animEffect transition="in" filter="dissolve">
                                      <p:cBhvr>
                                        <p:cTn id="22" dur="500"/>
                                        <p:tgtEl>
                                          <p:spTgt spid="4362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标题 1">
            <a:extLst>
              <a:ext uri="{FF2B5EF4-FFF2-40B4-BE49-F238E27FC236}">
                <a16:creationId xmlns:a16="http://schemas.microsoft.com/office/drawing/2014/main" id="{D7266DC7-CA14-4959-944A-E3A09817D81C}"/>
              </a:ext>
            </a:extLst>
          </p:cNvPr>
          <p:cNvSpPr>
            <a:spLocks noGrp="1" noChangeArrowheads="1"/>
          </p:cNvSpPr>
          <p:nvPr>
            <p:ph type="title"/>
          </p:nvPr>
        </p:nvSpPr>
        <p:spPr>
          <a:xfrm>
            <a:off x="3343276" y="88077"/>
            <a:ext cx="5776913" cy="735073"/>
          </a:xfrm>
        </p:spPr>
        <p:txBody>
          <a:bodyPr>
            <a:spAutoFit/>
          </a:bodyPr>
          <a:lstStyle/>
          <a:p>
            <a:pPr eaLnBrk="1" hangingPunct="1">
              <a:lnSpc>
                <a:spcPct val="130000"/>
              </a:lnSpc>
              <a:spcAft>
                <a:spcPct val="30000"/>
              </a:spcAft>
              <a:defRPr/>
            </a:pPr>
            <a:r>
              <a:rPr lang="zh-CN" altLang="en-US" sz="3600" kern="1200">
                <a:latin typeface="Times New Roman" panose="02020603050405020304" pitchFamily="18" charset="0"/>
                <a:ea typeface="黑体" panose="02010609060101010101" pitchFamily="49" charset="-122"/>
                <a:cs typeface="+mn-cs"/>
              </a:rPr>
              <a:t>核苷酸的紫外吸收</a:t>
            </a:r>
          </a:p>
        </p:txBody>
      </p:sp>
      <p:pic>
        <p:nvPicPr>
          <p:cNvPr id="304131" name="Picture 2">
            <a:extLst>
              <a:ext uri="{FF2B5EF4-FFF2-40B4-BE49-F238E27FC236}">
                <a16:creationId xmlns:a16="http://schemas.microsoft.com/office/drawing/2014/main" id="{C192DF2F-EE5D-49E3-9C95-3F5B098E13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416" y="1124744"/>
            <a:ext cx="5668962" cy="521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4132" name="Picture 3">
            <a:extLst>
              <a:ext uri="{FF2B5EF4-FFF2-40B4-BE49-F238E27FC236}">
                <a16:creationId xmlns:a16="http://schemas.microsoft.com/office/drawing/2014/main" id="{EF9513BB-831E-4C73-9095-67541E0A5F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6160" y="1268760"/>
            <a:ext cx="2942545" cy="352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2082" name="Rectangle 3">
            <a:extLst>
              <a:ext uri="{FF2B5EF4-FFF2-40B4-BE49-F238E27FC236}">
                <a16:creationId xmlns:a16="http://schemas.microsoft.com/office/drawing/2014/main" id="{836E5BBA-5017-4531-8354-B3D17992FF48}"/>
              </a:ext>
            </a:extLst>
          </p:cNvPr>
          <p:cNvSpPr>
            <a:spLocks noChangeArrowheads="1"/>
          </p:cNvSpPr>
          <p:nvPr/>
        </p:nvSpPr>
        <p:spPr bwMode="auto">
          <a:xfrm>
            <a:off x="6744072" y="5242762"/>
            <a:ext cx="5322415" cy="8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10000"/>
              </a:lnSpc>
              <a:spcBef>
                <a:spcPct val="0"/>
              </a:spcBef>
              <a:buClrTx/>
              <a:buNone/>
            </a:pPr>
            <a:r>
              <a:rPr lang="en-US" altLang="zh-CN" sz="2400" b="0" dirty="0">
                <a:solidFill>
                  <a:schemeClr val="tx1"/>
                </a:solidFill>
                <a:latin typeface="Times New Roman" panose="02020603050405020304" pitchFamily="18" charset="0"/>
                <a:ea typeface="黑体" panose="02010609060101010101" pitchFamily="49" charset="-122"/>
              </a:rPr>
              <a:t> </a:t>
            </a:r>
            <a:r>
              <a:rPr lang="zh-CN" altLang="en-US" sz="2400" b="0" dirty="0">
                <a:solidFill>
                  <a:schemeClr val="tx1"/>
                </a:solidFill>
                <a:latin typeface="Times New Roman" panose="02020603050405020304" pitchFamily="18" charset="0"/>
                <a:ea typeface="黑体" panose="02010609060101010101" pitchFamily="49" charset="-122"/>
              </a:rPr>
              <a:t>嘌呤和嘧啶环中含有</a:t>
            </a:r>
            <a:r>
              <a:rPr lang="zh-CN" altLang="en-US" sz="2400" b="0" dirty="0">
                <a:solidFill>
                  <a:srgbClr val="FF0000"/>
                </a:solidFill>
                <a:latin typeface="Times New Roman" panose="02020603050405020304" pitchFamily="18" charset="0"/>
                <a:ea typeface="黑体" panose="02010609060101010101" pitchFamily="49" charset="-122"/>
              </a:rPr>
              <a:t>共轭双键</a:t>
            </a:r>
            <a:r>
              <a:rPr lang="zh-CN" altLang="en-US" sz="2400" b="0" dirty="0">
                <a:solidFill>
                  <a:schemeClr val="tx1"/>
                </a:solidFill>
                <a:latin typeface="Times New Roman" panose="02020603050405020304" pitchFamily="18" charset="0"/>
                <a:ea typeface="黑体" panose="02010609060101010101" pitchFamily="49" charset="-122"/>
              </a:rPr>
              <a:t>，对</a:t>
            </a:r>
            <a:r>
              <a:rPr lang="en-US" altLang="zh-CN" sz="2400" b="0" dirty="0">
                <a:solidFill>
                  <a:srgbClr val="FF0000"/>
                </a:solidFill>
                <a:latin typeface="Times New Roman" panose="02020603050405020304" pitchFamily="18" charset="0"/>
                <a:ea typeface="黑体" panose="02010609060101010101" pitchFamily="49" charset="-122"/>
              </a:rPr>
              <a:t>260nm</a:t>
            </a:r>
            <a:r>
              <a:rPr lang="zh-CN" altLang="en-US" sz="2400" b="0" dirty="0">
                <a:solidFill>
                  <a:schemeClr val="tx1"/>
                </a:solidFill>
                <a:latin typeface="Times New Roman" panose="02020603050405020304" pitchFamily="18" charset="0"/>
                <a:ea typeface="黑体" panose="02010609060101010101" pitchFamily="49" charset="-122"/>
              </a:rPr>
              <a:t>左右波长的紫外光有较强的吸收。</a:t>
            </a:r>
          </a:p>
        </p:txBody>
      </p:sp>
    </p:spTree>
  </p:cSld>
  <p:clrMapOvr>
    <a:masterClrMapping/>
  </p:clrMapOvr>
  <p:transition spd="slow">
    <p:circl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4">
            <a:extLst>
              <a:ext uri="{FF2B5EF4-FFF2-40B4-BE49-F238E27FC236}">
                <a16:creationId xmlns:a16="http://schemas.microsoft.com/office/drawing/2014/main" id="{0C5E66AA-50D0-4127-9AEC-1869B55A3754}"/>
              </a:ext>
            </a:extLst>
          </p:cNvPr>
          <p:cNvSpPr>
            <a:spLocks noChangeArrowheads="1"/>
          </p:cNvSpPr>
          <p:nvPr/>
        </p:nvSpPr>
        <p:spPr bwMode="auto">
          <a:xfrm>
            <a:off x="4223544" y="86519"/>
            <a:ext cx="3744913"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en-US" altLang="zh-CN" sz="3600" dirty="0">
                <a:solidFill>
                  <a:srgbClr val="0000CC"/>
                </a:solidFill>
                <a:latin typeface="Times New Roman" panose="02020603050405020304" pitchFamily="18" charset="0"/>
                <a:ea typeface="黑体" panose="02010609060101010101" pitchFamily="49" charset="-122"/>
              </a:rPr>
              <a:t>A</a:t>
            </a:r>
            <a:r>
              <a:rPr kumimoji="0" lang="en-US" altLang="zh-CN" sz="3600" baseline="-25000" dirty="0">
                <a:solidFill>
                  <a:srgbClr val="0000CC"/>
                </a:solidFill>
                <a:latin typeface="Times New Roman" panose="02020603050405020304" pitchFamily="18" charset="0"/>
                <a:ea typeface="黑体" panose="02010609060101010101" pitchFamily="49" charset="-122"/>
              </a:rPr>
              <a:t>260</a:t>
            </a:r>
            <a:r>
              <a:rPr kumimoji="0" lang="zh-CN" altLang="en-US" sz="3600" dirty="0">
                <a:solidFill>
                  <a:srgbClr val="0000CC"/>
                </a:solidFill>
                <a:latin typeface="Times New Roman" panose="02020603050405020304" pitchFamily="18" charset="0"/>
                <a:ea typeface="黑体" panose="02010609060101010101" pitchFamily="49" charset="-122"/>
              </a:rPr>
              <a:t>的应用</a:t>
            </a:r>
          </a:p>
        </p:txBody>
      </p:sp>
      <p:sp>
        <p:nvSpPr>
          <p:cNvPr id="759813" name="Rectangle 5">
            <a:extLst>
              <a:ext uri="{FF2B5EF4-FFF2-40B4-BE49-F238E27FC236}">
                <a16:creationId xmlns:a16="http://schemas.microsoft.com/office/drawing/2014/main" id="{02FBE46C-6F98-4CEC-83A7-BDD375BFF2B4}"/>
              </a:ext>
            </a:extLst>
          </p:cNvPr>
          <p:cNvSpPr>
            <a:spLocks noChangeArrowheads="1"/>
          </p:cNvSpPr>
          <p:nvPr/>
        </p:nvSpPr>
        <p:spPr bwMode="auto">
          <a:xfrm>
            <a:off x="3287713" y="1268413"/>
            <a:ext cx="6481762" cy="513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20725">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44145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40000"/>
              </a:lnSpc>
              <a:spcBef>
                <a:spcPct val="0"/>
              </a:spcBef>
              <a:buClrTx/>
              <a:buFontTx/>
              <a:buNone/>
            </a:pPr>
            <a:r>
              <a:rPr kumimoji="0" lang="en-US" altLang="zh-CN" b="0" dirty="0">
                <a:solidFill>
                  <a:srgbClr val="FF0000"/>
                </a:solidFill>
                <a:latin typeface="Times New Roman" panose="02020603050405020304" pitchFamily="18" charset="0"/>
                <a:ea typeface="黑体" panose="02010609060101010101" pitchFamily="49" charset="-122"/>
              </a:rPr>
              <a:t>1. DNA</a:t>
            </a:r>
            <a:r>
              <a:rPr kumimoji="0" lang="zh-CN" altLang="en-US" b="0" dirty="0">
                <a:solidFill>
                  <a:srgbClr val="FF0000"/>
                </a:solidFill>
                <a:latin typeface="Times New Roman" panose="02020603050405020304" pitchFamily="18" charset="0"/>
                <a:ea typeface="黑体" panose="02010609060101010101" pitchFamily="49" charset="-122"/>
              </a:rPr>
              <a:t>或</a:t>
            </a:r>
            <a:r>
              <a:rPr kumimoji="0" lang="en-US" altLang="zh-CN" b="0" dirty="0">
                <a:solidFill>
                  <a:srgbClr val="FF0000"/>
                </a:solidFill>
                <a:latin typeface="Times New Roman" panose="02020603050405020304" pitchFamily="18" charset="0"/>
                <a:ea typeface="黑体" panose="02010609060101010101" pitchFamily="49" charset="-122"/>
              </a:rPr>
              <a:t>RNA</a:t>
            </a:r>
            <a:r>
              <a:rPr kumimoji="0" lang="zh-CN" altLang="en-US" b="0" dirty="0">
                <a:solidFill>
                  <a:srgbClr val="FF0000"/>
                </a:solidFill>
                <a:latin typeface="Times New Roman" panose="02020603050405020304" pitchFamily="18" charset="0"/>
                <a:ea typeface="黑体" panose="02010609060101010101" pitchFamily="49" charset="-122"/>
              </a:rPr>
              <a:t>的定量</a:t>
            </a:r>
          </a:p>
          <a:p>
            <a:pPr lvl="1" eaLnBrk="1" hangingPunct="1">
              <a:lnSpc>
                <a:spcPct val="140000"/>
              </a:lnSpc>
              <a:spcBef>
                <a:spcPct val="0"/>
              </a:spcBef>
              <a:buClrTx/>
              <a:buFontTx/>
              <a:buNone/>
            </a:pPr>
            <a:r>
              <a:rPr kumimoji="0" lang="en-US" altLang="zh-CN" dirty="0">
                <a:solidFill>
                  <a:srgbClr val="0000CC"/>
                </a:solidFill>
                <a:latin typeface="Times New Roman" panose="02020603050405020304" pitchFamily="18" charset="0"/>
                <a:ea typeface="黑体" panose="02010609060101010101" pitchFamily="49" charset="-122"/>
              </a:rPr>
              <a:t>A</a:t>
            </a:r>
            <a:r>
              <a:rPr kumimoji="0" lang="en-US" altLang="zh-CN" baseline="-25000" dirty="0">
                <a:solidFill>
                  <a:srgbClr val="0000CC"/>
                </a:solidFill>
                <a:latin typeface="Times New Roman" panose="02020603050405020304" pitchFamily="18" charset="0"/>
                <a:ea typeface="黑体" panose="02010609060101010101" pitchFamily="49" charset="-122"/>
              </a:rPr>
              <a:t>260</a:t>
            </a:r>
            <a:r>
              <a:rPr kumimoji="0" lang="en-US" altLang="zh-CN" dirty="0">
                <a:solidFill>
                  <a:srgbClr val="0000CC"/>
                </a:solidFill>
                <a:latin typeface="Times New Roman" panose="02020603050405020304" pitchFamily="18" charset="0"/>
                <a:ea typeface="黑体" panose="02010609060101010101" pitchFamily="49" charset="-122"/>
              </a:rPr>
              <a:t>=1.0</a:t>
            </a:r>
            <a:r>
              <a:rPr kumimoji="0" lang="zh-CN" altLang="en-US" dirty="0">
                <a:solidFill>
                  <a:srgbClr val="000000"/>
                </a:solidFill>
                <a:latin typeface="Times New Roman" panose="02020603050405020304" pitchFamily="18" charset="0"/>
                <a:ea typeface="黑体" panose="02010609060101010101" pitchFamily="49" charset="-122"/>
              </a:rPr>
              <a:t>相当于</a:t>
            </a:r>
          </a:p>
          <a:p>
            <a:pPr lvl="2" eaLnBrk="1" hangingPunct="1">
              <a:lnSpc>
                <a:spcPct val="140000"/>
              </a:lnSpc>
              <a:spcBef>
                <a:spcPct val="0"/>
              </a:spcBef>
              <a:buClrTx/>
              <a:buFontTx/>
              <a:buNone/>
            </a:pPr>
            <a:r>
              <a:rPr kumimoji="0" lang="en-US" altLang="zh-CN" sz="2800" dirty="0">
                <a:solidFill>
                  <a:srgbClr val="000000"/>
                </a:solidFill>
                <a:latin typeface="Times New Roman" panose="02020603050405020304" pitchFamily="18" charset="0"/>
                <a:ea typeface="黑体" panose="02010609060101010101" pitchFamily="49" charset="-122"/>
              </a:rPr>
              <a:t>50</a:t>
            </a:r>
            <a:r>
              <a:rPr kumimoji="0" lang="el-GR" altLang="zh-CN" sz="2800" dirty="0">
                <a:solidFill>
                  <a:srgbClr val="000000"/>
                </a:solidFill>
                <a:latin typeface="Times New Roman" panose="02020603050405020304" pitchFamily="18" charset="0"/>
                <a:ea typeface="黑体" panose="02010609060101010101" pitchFamily="49" charset="-122"/>
              </a:rPr>
              <a:t>μ</a:t>
            </a:r>
            <a:r>
              <a:rPr kumimoji="0" lang="en-US" altLang="zh-CN" sz="2800" dirty="0">
                <a:solidFill>
                  <a:srgbClr val="000000"/>
                </a:solidFill>
                <a:latin typeface="Times New Roman" panose="02020603050405020304" pitchFamily="18" charset="0"/>
                <a:ea typeface="黑体" panose="02010609060101010101" pitchFamily="49" charset="-122"/>
              </a:rPr>
              <a:t>g/ml</a:t>
            </a:r>
            <a:r>
              <a:rPr kumimoji="0" lang="zh-CN" altLang="en-US" sz="2800" dirty="0">
                <a:solidFill>
                  <a:srgbClr val="000000"/>
                </a:solidFill>
                <a:latin typeface="Times New Roman" panose="02020603050405020304" pitchFamily="18" charset="0"/>
                <a:ea typeface="黑体" panose="02010609060101010101" pitchFamily="49" charset="-122"/>
              </a:rPr>
              <a:t>双链</a:t>
            </a:r>
            <a:r>
              <a:rPr kumimoji="0" lang="en-US" altLang="zh-CN" sz="2800" dirty="0">
                <a:solidFill>
                  <a:srgbClr val="000000"/>
                </a:solidFill>
                <a:latin typeface="Times New Roman" panose="02020603050405020304" pitchFamily="18" charset="0"/>
                <a:ea typeface="黑体" panose="02010609060101010101" pitchFamily="49" charset="-122"/>
              </a:rPr>
              <a:t>DNA</a:t>
            </a:r>
          </a:p>
          <a:p>
            <a:pPr lvl="2" eaLnBrk="1" hangingPunct="1">
              <a:lnSpc>
                <a:spcPct val="140000"/>
              </a:lnSpc>
              <a:spcBef>
                <a:spcPct val="0"/>
              </a:spcBef>
              <a:buClrTx/>
              <a:buFontTx/>
              <a:buNone/>
            </a:pPr>
            <a:r>
              <a:rPr kumimoji="0" lang="en-US" altLang="zh-CN" sz="2800" dirty="0">
                <a:solidFill>
                  <a:srgbClr val="000000"/>
                </a:solidFill>
                <a:latin typeface="Times New Roman" panose="02020603050405020304" pitchFamily="18" charset="0"/>
                <a:ea typeface="黑体" panose="02010609060101010101" pitchFamily="49" charset="-122"/>
              </a:rPr>
              <a:t>40</a:t>
            </a:r>
            <a:r>
              <a:rPr kumimoji="0" lang="en-US" altLang="en-US" sz="2800" dirty="0">
                <a:solidFill>
                  <a:srgbClr val="000000"/>
                </a:solidFill>
                <a:latin typeface="Times New Roman" panose="02020603050405020304" pitchFamily="18" charset="0"/>
                <a:ea typeface="黑体" panose="02010609060101010101" pitchFamily="49" charset="-122"/>
              </a:rPr>
              <a:t>μ</a:t>
            </a:r>
            <a:r>
              <a:rPr kumimoji="0" lang="en-US" altLang="zh-CN" sz="2800" dirty="0">
                <a:solidFill>
                  <a:srgbClr val="000000"/>
                </a:solidFill>
                <a:latin typeface="Times New Roman" panose="02020603050405020304" pitchFamily="18" charset="0"/>
                <a:ea typeface="黑体" panose="02010609060101010101" pitchFamily="49" charset="-122"/>
              </a:rPr>
              <a:t>g/ml</a:t>
            </a:r>
            <a:r>
              <a:rPr kumimoji="0" lang="zh-CN" altLang="en-US" sz="2800" dirty="0">
                <a:solidFill>
                  <a:srgbClr val="000000"/>
                </a:solidFill>
                <a:latin typeface="Times New Roman" panose="02020603050405020304" pitchFamily="18" charset="0"/>
                <a:ea typeface="黑体" panose="02010609060101010101" pitchFamily="49" charset="-122"/>
              </a:rPr>
              <a:t>单链</a:t>
            </a:r>
            <a:r>
              <a:rPr kumimoji="0" lang="en-US" altLang="zh-CN" sz="2800" dirty="0">
                <a:solidFill>
                  <a:srgbClr val="000000"/>
                </a:solidFill>
                <a:latin typeface="Times New Roman" panose="02020603050405020304" pitchFamily="18" charset="0"/>
                <a:ea typeface="黑体" panose="02010609060101010101" pitchFamily="49" charset="-122"/>
              </a:rPr>
              <a:t>DNA</a:t>
            </a:r>
            <a:r>
              <a:rPr kumimoji="0" lang="zh-CN" altLang="en-US" sz="2800" dirty="0">
                <a:solidFill>
                  <a:srgbClr val="000000"/>
                </a:solidFill>
                <a:latin typeface="Times New Roman" panose="02020603050405020304" pitchFamily="18" charset="0"/>
                <a:ea typeface="黑体" panose="02010609060101010101" pitchFamily="49" charset="-122"/>
              </a:rPr>
              <a:t>（或</a:t>
            </a:r>
            <a:r>
              <a:rPr kumimoji="0" lang="en-US" altLang="zh-CN" sz="2800" dirty="0">
                <a:solidFill>
                  <a:srgbClr val="000000"/>
                </a:solidFill>
                <a:latin typeface="Times New Roman" panose="02020603050405020304" pitchFamily="18" charset="0"/>
                <a:ea typeface="黑体" panose="02010609060101010101" pitchFamily="49" charset="-122"/>
              </a:rPr>
              <a:t>RNA</a:t>
            </a:r>
            <a:r>
              <a:rPr kumimoji="0" lang="zh-CN" altLang="en-US" sz="2800" dirty="0">
                <a:solidFill>
                  <a:srgbClr val="000000"/>
                </a:solidFill>
                <a:latin typeface="Times New Roman" panose="02020603050405020304" pitchFamily="18" charset="0"/>
                <a:ea typeface="黑体" panose="02010609060101010101" pitchFamily="49" charset="-122"/>
              </a:rPr>
              <a:t>）</a:t>
            </a:r>
          </a:p>
          <a:p>
            <a:pPr lvl="2" eaLnBrk="1" hangingPunct="1">
              <a:lnSpc>
                <a:spcPct val="140000"/>
              </a:lnSpc>
              <a:spcBef>
                <a:spcPct val="0"/>
              </a:spcBef>
              <a:buClrTx/>
              <a:buFontTx/>
              <a:buNone/>
            </a:pPr>
            <a:r>
              <a:rPr kumimoji="0" lang="en-US" altLang="zh-CN" sz="2800" dirty="0">
                <a:solidFill>
                  <a:srgbClr val="000000"/>
                </a:solidFill>
                <a:latin typeface="Times New Roman" panose="02020603050405020304" pitchFamily="18" charset="0"/>
                <a:ea typeface="黑体" panose="02010609060101010101" pitchFamily="49" charset="-122"/>
              </a:rPr>
              <a:t>20</a:t>
            </a:r>
            <a:r>
              <a:rPr kumimoji="0" lang="en-US" altLang="en-US" sz="2800" dirty="0">
                <a:solidFill>
                  <a:srgbClr val="000000"/>
                </a:solidFill>
                <a:latin typeface="Times New Roman" panose="02020603050405020304" pitchFamily="18" charset="0"/>
                <a:ea typeface="黑体" panose="02010609060101010101" pitchFamily="49" charset="-122"/>
              </a:rPr>
              <a:t>μ</a:t>
            </a:r>
            <a:r>
              <a:rPr kumimoji="0" lang="en-US" altLang="zh-CN" sz="2800" dirty="0">
                <a:solidFill>
                  <a:srgbClr val="000000"/>
                </a:solidFill>
                <a:latin typeface="Times New Roman" panose="02020603050405020304" pitchFamily="18" charset="0"/>
                <a:ea typeface="黑体" panose="02010609060101010101" pitchFamily="49" charset="-122"/>
              </a:rPr>
              <a:t>g/ml</a:t>
            </a:r>
            <a:r>
              <a:rPr kumimoji="0" lang="zh-CN" altLang="en-US" sz="2800" dirty="0">
                <a:solidFill>
                  <a:srgbClr val="000000"/>
                </a:solidFill>
                <a:latin typeface="Times New Roman" panose="02020603050405020304" pitchFamily="18" charset="0"/>
                <a:ea typeface="黑体" panose="02010609060101010101" pitchFamily="49" charset="-122"/>
              </a:rPr>
              <a:t>寡核苷酸</a:t>
            </a:r>
          </a:p>
          <a:p>
            <a:pPr eaLnBrk="1" hangingPunct="1">
              <a:lnSpc>
                <a:spcPct val="200000"/>
              </a:lnSpc>
              <a:spcBef>
                <a:spcPct val="0"/>
              </a:spcBef>
              <a:buClrTx/>
              <a:buFontTx/>
              <a:buNone/>
            </a:pPr>
            <a:r>
              <a:rPr kumimoji="0" lang="en-US" altLang="zh-CN" b="0" dirty="0">
                <a:solidFill>
                  <a:srgbClr val="FF0000"/>
                </a:solidFill>
                <a:latin typeface="Times New Roman" panose="02020603050405020304" pitchFamily="18" charset="0"/>
                <a:ea typeface="黑体" panose="02010609060101010101" pitchFamily="49" charset="-122"/>
              </a:rPr>
              <a:t>2.</a:t>
            </a:r>
            <a:r>
              <a:rPr kumimoji="0" lang="zh-CN" altLang="en-US" b="0" dirty="0">
                <a:solidFill>
                  <a:srgbClr val="FF0000"/>
                </a:solidFill>
                <a:latin typeface="Times New Roman" panose="02020603050405020304" pitchFamily="18" charset="0"/>
                <a:ea typeface="黑体" panose="02010609060101010101" pitchFamily="49" charset="-122"/>
              </a:rPr>
              <a:t>判断核酸样品的纯度</a:t>
            </a:r>
          </a:p>
          <a:p>
            <a:pPr lvl="1" eaLnBrk="1" hangingPunct="1">
              <a:lnSpc>
                <a:spcPct val="140000"/>
              </a:lnSpc>
              <a:spcBef>
                <a:spcPct val="0"/>
              </a:spcBef>
              <a:buClrTx/>
              <a:buFontTx/>
              <a:buNone/>
            </a:pPr>
            <a:r>
              <a:rPr kumimoji="0" lang="en-US" altLang="zh-CN" dirty="0">
                <a:solidFill>
                  <a:srgbClr val="000000"/>
                </a:solidFill>
                <a:latin typeface="Times New Roman" panose="02020603050405020304" pitchFamily="18" charset="0"/>
                <a:ea typeface="黑体" panose="02010609060101010101" pitchFamily="49" charset="-122"/>
              </a:rPr>
              <a:t>DNA</a:t>
            </a:r>
            <a:r>
              <a:rPr kumimoji="0" lang="zh-CN" altLang="en-US" dirty="0">
                <a:solidFill>
                  <a:srgbClr val="000000"/>
                </a:solidFill>
                <a:latin typeface="Times New Roman" panose="02020603050405020304" pitchFamily="18" charset="0"/>
                <a:ea typeface="黑体" panose="02010609060101010101" pitchFamily="49" charset="-122"/>
              </a:rPr>
              <a:t>纯品</a:t>
            </a:r>
            <a:r>
              <a:rPr kumimoji="0" lang="en-US" altLang="zh-CN" dirty="0">
                <a:solidFill>
                  <a:srgbClr val="000000"/>
                </a:solidFill>
                <a:latin typeface="Times New Roman" panose="02020603050405020304" pitchFamily="18" charset="0"/>
                <a:ea typeface="黑体" panose="02010609060101010101" pitchFamily="49" charset="-122"/>
              </a:rPr>
              <a:t>:  </a:t>
            </a:r>
            <a:r>
              <a:rPr kumimoji="0" lang="en-US" altLang="zh-CN" dirty="0">
                <a:solidFill>
                  <a:srgbClr val="FF0000"/>
                </a:solidFill>
                <a:latin typeface="Times New Roman" panose="02020603050405020304" pitchFamily="18" charset="0"/>
                <a:ea typeface="黑体" panose="02010609060101010101" pitchFamily="49" charset="-122"/>
              </a:rPr>
              <a:t>A</a:t>
            </a:r>
            <a:r>
              <a:rPr kumimoji="0" lang="en-US" altLang="zh-CN" baseline="-25000" dirty="0">
                <a:solidFill>
                  <a:srgbClr val="FF0000"/>
                </a:solidFill>
                <a:latin typeface="Times New Roman" panose="02020603050405020304" pitchFamily="18" charset="0"/>
                <a:ea typeface="黑体" panose="02010609060101010101" pitchFamily="49" charset="-122"/>
              </a:rPr>
              <a:t>260</a:t>
            </a:r>
            <a:r>
              <a:rPr kumimoji="0" lang="en-US" altLang="zh-CN" dirty="0">
                <a:solidFill>
                  <a:srgbClr val="FF0000"/>
                </a:solidFill>
                <a:latin typeface="Times New Roman" panose="02020603050405020304" pitchFamily="18" charset="0"/>
                <a:ea typeface="黑体" panose="02010609060101010101" pitchFamily="49" charset="-122"/>
              </a:rPr>
              <a:t>/A</a:t>
            </a:r>
            <a:r>
              <a:rPr kumimoji="0" lang="en-US" altLang="zh-CN" baseline="-25000" dirty="0">
                <a:solidFill>
                  <a:srgbClr val="FF0000"/>
                </a:solidFill>
                <a:latin typeface="Times New Roman" panose="02020603050405020304" pitchFamily="18" charset="0"/>
                <a:ea typeface="黑体" panose="02010609060101010101" pitchFamily="49" charset="-122"/>
              </a:rPr>
              <a:t>280 </a:t>
            </a:r>
            <a:r>
              <a:rPr kumimoji="0" lang="en-US" altLang="zh-CN" dirty="0">
                <a:solidFill>
                  <a:srgbClr val="FF0000"/>
                </a:solidFill>
                <a:latin typeface="Times New Roman" panose="02020603050405020304" pitchFamily="18" charset="0"/>
                <a:ea typeface="黑体" panose="02010609060101010101" pitchFamily="49" charset="-122"/>
              </a:rPr>
              <a:t>= 1.8</a:t>
            </a:r>
          </a:p>
          <a:p>
            <a:pPr lvl="1" eaLnBrk="1" hangingPunct="1">
              <a:lnSpc>
                <a:spcPct val="140000"/>
              </a:lnSpc>
              <a:spcBef>
                <a:spcPct val="0"/>
              </a:spcBef>
              <a:buClrTx/>
              <a:buFontTx/>
              <a:buNone/>
            </a:pPr>
            <a:r>
              <a:rPr kumimoji="0" lang="en-US" altLang="zh-CN" dirty="0">
                <a:solidFill>
                  <a:srgbClr val="000000"/>
                </a:solidFill>
                <a:latin typeface="Times New Roman" panose="02020603050405020304" pitchFamily="18" charset="0"/>
                <a:ea typeface="黑体" panose="02010609060101010101" pitchFamily="49" charset="-122"/>
              </a:rPr>
              <a:t>RNA</a:t>
            </a:r>
            <a:r>
              <a:rPr kumimoji="0" lang="zh-CN" altLang="en-US" dirty="0">
                <a:solidFill>
                  <a:srgbClr val="000000"/>
                </a:solidFill>
                <a:latin typeface="Times New Roman" panose="02020603050405020304" pitchFamily="18" charset="0"/>
                <a:ea typeface="黑体" panose="02010609060101010101" pitchFamily="49" charset="-122"/>
              </a:rPr>
              <a:t>纯品</a:t>
            </a:r>
            <a:r>
              <a:rPr kumimoji="0" lang="en-US" altLang="zh-CN" dirty="0">
                <a:solidFill>
                  <a:srgbClr val="000000"/>
                </a:solidFill>
                <a:latin typeface="Times New Roman" panose="02020603050405020304" pitchFamily="18" charset="0"/>
                <a:ea typeface="黑体" panose="02010609060101010101" pitchFamily="49" charset="-122"/>
              </a:rPr>
              <a:t>:  </a:t>
            </a:r>
            <a:r>
              <a:rPr kumimoji="0" lang="en-US" altLang="zh-CN" dirty="0">
                <a:solidFill>
                  <a:srgbClr val="0000CC"/>
                </a:solidFill>
                <a:latin typeface="Times New Roman" panose="02020603050405020304" pitchFamily="18" charset="0"/>
                <a:ea typeface="黑体" panose="02010609060101010101" pitchFamily="49" charset="-122"/>
              </a:rPr>
              <a:t>A</a:t>
            </a:r>
            <a:r>
              <a:rPr kumimoji="0" lang="en-US" altLang="zh-CN" baseline="-25000" dirty="0">
                <a:solidFill>
                  <a:srgbClr val="0000CC"/>
                </a:solidFill>
                <a:latin typeface="Times New Roman" panose="02020603050405020304" pitchFamily="18" charset="0"/>
                <a:ea typeface="黑体" panose="02010609060101010101" pitchFamily="49" charset="-122"/>
              </a:rPr>
              <a:t>260</a:t>
            </a:r>
            <a:r>
              <a:rPr kumimoji="0" lang="en-US" altLang="zh-CN" dirty="0">
                <a:solidFill>
                  <a:srgbClr val="0000CC"/>
                </a:solidFill>
                <a:latin typeface="Times New Roman" panose="02020603050405020304" pitchFamily="18" charset="0"/>
                <a:ea typeface="黑体" panose="02010609060101010101" pitchFamily="49" charset="-122"/>
              </a:rPr>
              <a:t>/A</a:t>
            </a:r>
            <a:r>
              <a:rPr kumimoji="0" lang="en-US" altLang="zh-CN" baseline="-25000" dirty="0">
                <a:solidFill>
                  <a:srgbClr val="0000CC"/>
                </a:solidFill>
                <a:latin typeface="Times New Roman" panose="02020603050405020304" pitchFamily="18" charset="0"/>
                <a:ea typeface="黑体" panose="02010609060101010101" pitchFamily="49" charset="-122"/>
              </a:rPr>
              <a:t>280 </a:t>
            </a:r>
            <a:r>
              <a:rPr kumimoji="0" lang="en-US" altLang="zh-CN" dirty="0">
                <a:solidFill>
                  <a:srgbClr val="0000CC"/>
                </a:solidFill>
                <a:latin typeface="Times New Roman" panose="02020603050405020304" pitchFamily="18" charset="0"/>
                <a:ea typeface="黑体" panose="02010609060101010101" pitchFamily="49" charset="-122"/>
              </a:rPr>
              <a:t>= 2.0</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759813">
                                            <p:txEl>
                                              <p:pRg st="0" end="0"/>
                                            </p:txEl>
                                          </p:spTgt>
                                        </p:tgtEl>
                                        <p:attrNameLst>
                                          <p:attrName>style.visibility</p:attrName>
                                        </p:attrNameLst>
                                      </p:cBhvr>
                                      <p:to>
                                        <p:strVal val="visible"/>
                                      </p:to>
                                    </p:set>
                                    <p:animEffect transition="in" filter="strips(downLeft)">
                                      <p:cBhvr>
                                        <p:cTn id="7" dur="500"/>
                                        <p:tgtEl>
                                          <p:spTgt spid="759813">
                                            <p:txEl>
                                              <p:pRg st="0" end="0"/>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759813">
                                            <p:txEl>
                                              <p:pRg st="1" end="1"/>
                                            </p:txEl>
                                          </p:spTgt>
                                        </p:tgtEl>
                                        <p:attrNameLst>
                                          <p:attrName>style.visibility</p:attrName>
                                        </p:attrNameLst>
                                      </p:cBhvr>
                                      <p:to>
                                        <p:strVal val="visible"/>
                                      </p:to>
                                    </p:set>
                                    <p:animEffect transition="in" filter="strips(downLeft)">
                                      <p:cBhvr>
                                        <p:cTn id="10" dur="500"/>
                                        <p:tgtEl>
                                          <p:spTgt spid="759813">
                                            <p:txEl>
                                              <p:pRg st="1" end="1"/>
                                            </p:txEl>
                                          </p:spTgt>
                                        </p:tgtEl>
                                      </p:cBhvr>
                                    </p:animEffect>
                                  </p:childTnLst>
                                </p:cTn>
                              </p:par>
                              <p:par>
                                <p:cTn id="11" presetID="18" presetClass="entr" presetSubtype="12" fill="hold" nodeType="withEffect">
                                  <p:stCondLst>
                                    <p:cond delay="0"/>
                                  </p:stCondLst>
                                  <p:childTnLst>
                                    <p:set>
                                      <p:cBhvr>
                                        <p:cTn id="12" dur="1" fill="hold">
                                          <p:stCondLst>
                                            <p:cond delay="0"/>
                                          </p:stCondLst>
                                        </p:cTn>
                                        <p:tgtEl>
                                          <p:spTgt spid="759813">
                                            <p:txEl>
                                              <p:pRg st="2" end="2"/>
                                            </p:txEl>
                                          </p:spTgt>
                                        </p:tgtEl>
                                        <p:attrNameLst>
                                          <p:attrName>style.visibility</p:attrName>
                                        </p:attrNameLst>
                                      </p:cBhvr>
                                      <p:to>
                                        <p:strVal val="visible"/>
                                      </p:to>
                                    </p:set>
                                    <p:animEffect transition="in" filter="strips(downLeft)">
                                      <p:cBhvr>
                                        <p:cTn id="13" dur="500"/>
                                        <p:tgtEl>
                                          <p:spTgt spid="759813">
                                            <p:txEl>
                                              <p:pRg st="2" end="2"/>
                                            </p:txEl>
                                          </p:spTgt>
                                        </p:tgtEl>
                                      </p:cBhvr>
                                    </p:animEffect>
                                  </p:childTnLst>
                                </p:cTn>
                              </p:par>
                              <p:par>
                                <p:cTn id="14" presetID="18" presetClass="entr" presetSubtype="12" fill="hold" nodeType="withEffect">
                                  <p:stCondLst>
                                    <p:cond delay="0"/>
                                  </p:stCondLst>
                                  <p:childTnLst>
                                    <p:set>
                                      <p:cBhvr>
                                        <p:cTn id="15" dur="1" fill="hold">
                                          <p:stCondLst>
                                            <p:cond delay="0"/>
                                          </p:stCondLst>
                                        </p:cTn>
                                        <p:tgtEl>
                                          <p:spTgt spid="759813">
                                            <p:txEl>
                                              <p:pRg st="3" end="3"/>
                                            </p:txEl>
                                          </p:spTgt>
                                        </p:tgtEl>
                                        <p:attrNameLst>
                                          <p:attrName>style.visibility</p:attrName>
                                        </p:attrNameLst>
                                      </p:cBhvr>
                                      <p:to>
                                        <p:strVal val="visible"/>
                                      </p:to>
                                    </p:set>
                                    <p:animEffect transition="in" filter="strips(downLeft)">
                                      <p:cBhvr>
                                        <p:cTn id="16" dur="500"/>
                                        <p:tgtEl>
                                          <p:spTgt spid="759813">
                                            <p:txEl>
                                              <p:pRg st="3" end="3"/>
                                            </p:txEl>
                                          </p:spTgt>
                                        </p:tgtEl>
                                      </p:cBhvr>
                                    </p:animEffect>
                                  </p:childTnLst>
                                </p:cTn>
                              </p:par>
                              <p:par>
                                <p:cTn id="17" presetID="18" presetClass="entr" presetSubtype="12" fill="hold" nodeType="withEffect">
                                  <p:stCondLst>
                                    <p:cond delay="0"/>
                                  </p:stCondLst>
                                  <p:childTnLst>
                                    <p:set>
                                      <p:cBhvr>
                                        <p:cTn id="18" dur="1" fill="hold">
                                          <p:stCondLst>
                                            <p:cond delay="0"/>
                                          </p:stCondLst>
                                        </p:cTn>
                                        <p:tgtEl>
                                          <p:spTgt spid="759813">
                                            <p:txEl>
                                              <p:pRg st="4" end="4"/>
                                            </p:txEl>
                                          </p:spTgt>
                                        </p:tgtEl>
                                        <p:attrNameLst>
                                          <p:attrName>style.visibility</p:attrName>
                                        </p:attrNameLst>
                                      </p:cBhvr>
                                      <p:to>
                                        <p:strVal val="visible"/>
                                      </p:to>
                                    </p:set>
                                    <p:animEffect transition="in" filter="strips(downLeft)">
                                      <p:cBhvr>
                                        <p:cTn id="19" dur="500"/>
                                        <p:tgtEl>
                                          <p:spTgt spid="759813">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12" fill="hold" nodeType="clickEffect">
                                  <p:stCondLst>
                                    <p:cond delay="0"/>
                                  </p:stCondLst>
                                  <p:childTnLst>
                                    <p:set>
                                      <p:cBhvr>
                                        <p:cTn id="23" dur="1" fill="hold">
                                          <p:stCondLst>
                                            <p:cond delay="0"/>
                                          </p:stCondLst>
                                        </p:cTn>
                                        <p:tgtEl>
                                          <p:spTgt spid="759813">
                                            <p:txEl>
                                              <p:pRg st="5" end="5"/>
                                            </p:txEl>
                                          </p:spTgt>
                                        </p:tgtEl>
                                        <p:attrNameLst>
                                          <p:attrName>style.visibility</p:attrName>
                                        </p:attrNameLst>
                                      </p:cBhvr>
                                      <p:to>
                                        <p:strVal val="visible"/>
                                      </p:to>
                                    </p:set>
                                    <p:animEffect transition="in" filter="strips(downLeft)">
                                      <p:cBhvr>
                                        <p:cTn id="24" dur="500"/>
                                        <p:tgtEl>
                                          <p:spTgt spid="759813">
                                            <p:txEl>
                                              <p:pRg st="5" end="5"/>
                                            </p:txEl>
                                          </p:spTgt>
                                        </p:tgtEl>
                                      </p:cBhvr>
                                    </p:animEffect>
                                  </p:childTnLst>
                                </p:cTn>
                              </p:par>
                              <p:par>
                                <p:cTn id="25" presetID="18" presetClass="entr" presetSubtype="12" fill="hold" nodeType="withEffect">
                                  <p:stCondLst>
                                    <p:cond delay="0"/>
                                  </p:stCondLst>
                                  <p:childTnLst>
                                    <p:set>
                                      <p:cBhvr>
                                        <p:cTn id="26" dur="1" fill="hold">
                                          <p:stCondLst>
                                            <p:cond delay="0"/>
                                          </p:stCondLst>
                                        </p:cTn>
                                        <p:tgtEl>
                                          <p:spTgt spid="759813">
                                            <p:txEl>
                                              <p:pRg st="6" end="6"/>
                                            </p:txEl>
                                          </p:spTgt>
                                        </p:tgtEl>
                                        <p:attrNameLst>
                                          <p:attrName>style.visibility</p:attrName>
                                        </p:attrNameLst>
                                      </p:cBhvr>
                                      <p:to>
                                        <p:strVal val="visible"/>
                                      </p:to>
                                    </p:set>
                                    <p:animEffect transition="in" filter="strips(downLeft)">
                                      <p:cBhvr>
                                        <p:cTn id="27" dur="500"/>
                                        <p:tgtEl>
                                          <p:spTgt spid="759813">
                                            <p:txEl>
                                              <p:pRg st="6" end="6"/>
                                            </p:txEl>
                                          </p:spTgt>
                                        </p:tgtEl>
                                      </p:cBhvr>
                                    </p:animEffect>
                                  </p:childTnLst>
                                </p:cTn>
                              </p:par>
                              <p:par>
                                <p:cTn id="28" presetID="18" presetClass="entr" presetSubtype="12" fill="hold" nodeType="withEffect">
                                  <p:stCondLst>
                                    <p:cond delay="0"/>
                                  </p:stCondLst>
                                  <p:childTnLst>
                                    <p:set>
                                      <p:cBhvr>
                                        <p:cTn id="29" dur="1" fill="hold">
                                          <p:stCondLst>
                                            <p:cond delay="0"/>
                                          </p:stCondLst>
                                        </p:cTn>
                                        <p:tgtEl>
                                          <p:spTgt spid="759813">
                                            <p:txEl>
                                              <p:pRg st="7" end="7"/>
                                            </p:txEl>
                                          </p:spTgt>
                                        </p:tgtEl>
                                        <p:attrNameLst>
                                          <p:attrName>style.visibility</p:attrName>
                                        </p:attrNameLst>
                                      </p:cBhvr>
                                      <p:to>
                                        <p:strVal val="visible"/>
                                      </p:to>
                                    </p:set>
                                    <p:animEffect transition="in" filter="strips(downLeft)">
                                      <p:cBhvr>
                                        <p:cTn id="30" dur="500"/>
                                        <p:tgtEl>
                                          <p:spTgt spid="75981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Text Box 4">
            <a:extLst>
              <a:ext uri="{FF2B5EF4-FFF2-40B4-BE49-F238E27FC236}">
                <a16:creationId xmlns:a16="http://schemas.microsoft.com/office/drawing/2014/main" id="{46ED5F3F-C575-4B02-866A-1713DD530CFF}"/>
              </a:ext>
            </a:extLst>
          </p:cNvPr>
          <p:cNvSpPr txBox="1">
            <a:spLocks noChangeArrowheads="1"/>
          </p:cNvSpPr>
          <p:nvPr/>
        </p:nvSpPr>
        <p:spPr bwMode="auto">
          <a:xfrm>
            <a:off x="2892426" y="25401"/>
            <a:ext cx="6696075"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a:solidFill>
                  <a:srgbClr val="0000CC"/>
                </a:solidFill>
                <a:latin typeface="Times New Roman" panose="02020603050405020304" pitchFamily="18" charset="0"/>
                <a:ea typeface="黑体" panose="02010609060101010101" pitchFamily="49" charset="-122"/>
              </a:rPr>
              <a:t>二、</a:t>
            </a:r>
            <a:r>
              <a:rPr kumimoji="0" lang="en-US" altLang="zh-CN" sz="3600">
                <a:solidFill>
                  <a:srgbClr val="0000CC"/>
                </a:solidFill>
                <a:latin typeface="Times New Roman" panose="02020603050405020304" pitchFamily="18" charset="0"/>
                <a:ea typeface="黑体" panose="02010609060101010101" pitchFamily="49" charset="-122"/>
              </a:rPr>
              <a:t>DNA</a:t>
            </a:r>
            <a:r>
              <a:rPr kumimoji="0" lang="zh-CN" altLang="en-US" sz="3600">
                <a:solidFill>
                  <a:srgbClr val="0000CC"/>
                </a:solidFill>
                <a:latin typeface="Times New Roman" panose="02020603050405020304" pitchFamily="18" charset="0"/>
                <a:ea typeface="黑体" panose="02010609060101010101" pitchFamily="49" charset="-122"/>
              </a:rPr>
              <a:t>的变性</a:t>
            </a:r>
            <a:r>
              <a:rPr kumimoji="0" lang="en-US" altLang="zh-CN" sz="3600">
                <a:solidFill>
                  <a:srgbClr val="0000CC"/>
                </a:solidFill>
                <a:latin typeface="Times New Roman" panose="02020603050405020304" pitchFamily="18" charset="0"/>
                <a:ea typeface="黑体" panose="02010609060101010101" pitchFamily="49" charset="-122"/>
              </a:rPr>
              <a:t>(denaturation)</a:t>
            </a:r>
          </a:p>
        </p:txBody>
      </p:sp>
      <p:sp>
        <p:nvSpPr>
          <p:cNvPr id="761861" name="Text Box 5">
            <a:extLst>
              <a:ext uri="{FF2B5EF4-FFF2-40B4-BE49-F238E27FC236}">
                <a16:creationId xmlns:a16="http://schemas.microsoft.com/office/drawing/2014/main" id="{213CEBF4-0805-4A4D-9171-799A29DAA85A}"/>
              </a:ext>
            </a:extLst>
          </p:cNvPr>
          <p:cNvSpPr txBox="1">
            <a:spLocks noChangeArrowheads="1"/>
          </p:cNvSpPr>
          <p:nvPr/>
        </p:nvSpPr>
        <p:spPr bwMode="auto">
          <a:xfrm>
            <a:off x="765241" y="1612901"/>
            <a:ext cx="6150847"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76325" indent="-1076325">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10000"/>
              </a:lnSpc>
              <a:spcBef>
                <a:spcPct val="0"/>
              </a:spcBef>
              <a:buClrTx/>
              <a:buFontTx/>
              <a:buNone/>
            </a:pPr>
            <a:r>
              <a:rPr lang="zh-CN" altLang="en-US" b="0" dirty="0">
                <a:solidFill>
                  <a:srgbClr val="FF0000"/>
                </a:solidFill>
                <a:latin typeface="Times New Roman" panose="02020603050405020304" pitchFamily="18" charset="0"/>
                <a:ea typeface="黑体" panose="02010609060101010101" pitchFamily="49" charset="-122"/>
              </a:rPr>
              <a:t>定义</a:t>
            </a:r>
            <a:r>
              <a:rPr lang="zh-CN" altLang="zh-CN" b="0" dirty="0">
                <a:solidFill>
                  <a:srgbClr val="FF0000"/>
                </a:solidFill>
                <a:latin typeface="Times New Roman" panose="02020603050405020304" pitchFamily="18" charset="0"/>
                <a:ea typeface="黑体" panose="02010609060101010101" pitchFamily="49" charset="-122"/>
              </a:rPr>
              <a:t>：</a:t>
            </a:r>
            <a:r>
              <a:rPr lang="zh-CN" altLang="en-US" b="0" dirty="0">
                <a:solidFill>
                  <a:schemeClr val="tx1"/>
                </a:solidFill>
                <a:latin typeface="Times New Roman" panose="02020603050405020304" pitchFamily="18" charset="0"/>
                <a:ea typeface="黑体" panose="02010609060101010101" pitchFamily="49" charset="-122"/>
              </a:rPr>
              <a:t>在某些理化因素作用下，</a:t>
            </a:r>
            <a:r>
              <a:rPr lang="en-US" altLang="zh-CN" b="0" dirty="0">
                <a:solidFill>
                  <a:schemeClr val="tx1"/>
                </a:solidFill>
                <a:latin typeface="Times New Roman" panose="02020603050405020304" pitchFamily="18" charset="0"/>
                <a:ea typeface="黑体" panose="02010609060101010101" pitchFamily="49" charset="-122"/>
              </a:rPr>
              <a:t>DNA</a:t>
            </a:r>
            <a:r>
              <a:rPr lang="zh-CN" altLang="en-US" b="0" dirty="0">
                <a:solidFill>
                  <a:schemeClr val="tx1"/>
                </a:solidFill>
                <a:latin typeface="Times New Roman" panose="02020603050405020304" pitchFamily="18" charset="0"/>
                <a:ea typeface="黑体" panose="02010609060101010101" pitchFamily="49" charset="-122"/>
              </a:rPr>
              <a:t>双链解开成两条单链的过程。</a:t>
            </a:r>
          </a:p>
        </p:txBody>
      </p:sp>
      <p:sp>
        <p:nvSpPr>
          <p:cNvPr id="761862" name="Text Box 6">
            <a:extLst>
              <a:ext uri="{FF2B5EF4-FFF2-40B4-BE49-F238E27FC236}">
                <a16:creationId xmlns:a16="http://schemas.microsoft.com/office/drawing/2014/main" id="{8C41962E-942C-4B8F-98F7-44DDA742D972}"/>
              </a:ext>
            </a:extLst>
          </p:cNvPr>
          <p:cNvSpPr txBox="1">
            <a:spLocks noChangeArrowheads="1"/>
          </p:cNvSpPr>
          <p:nvPr/>
        </p:nvSpPr>
        <p:spPr bwMode="auto">
          <a:xfrm>
            <a:off x="686069" y="2924770"/>
            <a:ext cx="6346035" cy="1475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76325" indent="-1076325">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10000"/>
              </a:lnSpc>
              <a:spcBef>
                <a:spcPct val="0"/>
              </a:spcBef>
              <a:buClrTx/>
              <a:buFontTx/>
              <a:buNone/>
            </a:pPr>
            <a:r>
              <a:rPr lang="zh-CN" altLang="en-US" b="0" dirty="0">
                <a:solidFill>
                  <a:srgbClr val="FF0000"/>
                </a:solidFill>
                <a:latin typeface="Times New Roman" panose="02020603050405020304" pitchFamily="18" charset="0"/>
                <a:ea typeface="黑体" panose="02010609060101010101" pitchFamily="49" charset="-122"/>
              </a:rPr>
              <a:t>方法：</a:t>
            </a:r>
            <a:r>
              <a:rPr lang="zh-CN" altLang="en-US" b="0" dirty="0">
                <a:solidFill>
                  <a:schemeClr val="tx1"/>
                </a:solidFill>
                <a:latin typeface="Times New Roman" panose="02020603050405020304" pitchFamily="18" charset="0"/>
                <a:ea typeface="黑体" panose="02010609060101010101" pitchFamily="49" charset="-122"/>
              </a:rPr>
              <a:t>过量酸、碱，加热，变性试剂如尿素、甲酰胺以及某些有机溶剂如乙醇、丙酮等。</a:t>
            </a:r>
          </a:p>
        </p:txBody>
      </p:sp>
      <p:sp>
        <p:nvSpPr>
          <p:cNvPr id="761863" name="Text Box 7">
            <a:extLst>
              <a:ext uri="{FF2B5EF4-FFF2-40B4-BE49-F238E27FC236}">
                <a16:creationId xmlns:a16="http://schemas.microsoft.com/office/drawing/2014/main" id="{D85493A8-CC67-4BE5-9098-2D5EEF62BD0F}"/>
              </a:ext>
            </a:extLst>
          </p:cNvPr>
          <p:cNvSpPr txBox="1">
            <a:spLocks noChangeArrowheads="1"/>
          </p:cNvSpPr>
          <p:nvPr/>
        </p:nvSpPr>
        <p:spPr bwMode="auto">
          <a:xfrm>
            <a:off x="686068" y="4581128"/>
            <a:ext cx="6202019" cy="1475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76325" indent="-1076325">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10000"/>
              </a:lnSpc>
              <a:spcBef>
                <a:spcPct val="0"/>
              </a:spcBef>
              <a:buClrTx/>
              <a:buFontTx/>
              <a:buNone/>
            </a:pPr>
            <a:r>
              <a:rPr lang="zh-CN" altLang="en-US" b="0" dirty="0">
                <a:solidFill>
                  <a:srgbClr val="FF0000"/>
                </a:solidFill>
                <a:latin typeface="Times New Roman" panose="02020603050405020304" pitchFamily="18" charset="0"/>
                <a:ea typeface="黑体" panose="02010609060101010101" pitchFamily="49" charset="-122"/>
              </a:rPr>
              <a:t>本质：</a:t>
            </a:r>
            <a:r>
              <a:rPr kumimoji="0" lang="zh-CN" altLang="en-US" b="0" dirty="0">
                <a:solidFill>
                  <a:schemeClr val="tx1"/>
                </a:solidFill>
                <a:latin typeface="Times New Roman" panose="02020603050405020304" pitchFamily="18" charset="0"/>
                <a:ea typeface="黑体" panose="02010609060101010101" pitchFamily="49" charset="-122"/>
              </a:rPr>
              <a:t>维持双螺旋稳定性的</a:t>
            </a:r>
            <a:r>
              <a:rPr kumimoji="0" lang="zh-CN" altLang="en-US" b="0" dirty="0">
                <a:solidFill>
                  <a:srgbClr val="FF0000"/>
                </a:solidFill>
                <a:latin typeface="Times New Roman" panose="02020603050405020304" pitchFamily="18" charset="0"/>
                <a:ea typeface="黑体" panose="02010609060101010101" pitchFamily="49" charset="-122"/>
              </a:rPr>
              <a:t>氢键断裂</a:t>
            </a:r>
            <a:r>
              <a:rPr kumimoji="0" lang="zh-CN" altLang="en-US" b="0" dirty="0">
                <a:solidFill>
                  <a:schemeClr val="tx1"/>
                </a:solidFill>
                <a:latin typeface="Times New Roman" panose="02020603050405020304" pitchFamily="18" charset="0"/>
                <a:ea typeface="黑体" panose="02010609060101010101" pitchFamily="49" charset="-122"/>
              </a:rPr>
              <a:t>，碱基间的堆积力遭到破坏，但</a:t>
            </a:r>
            <a:r>
              <a:rPr kumimoji="0" lang="en-US" altLang="zh-CN" b="0" dirty="0">
                <a:solidFill>
                  <a:srgbClr val="FF0000"/>
                </a:solidFill>
                <a:latin typeface="Times New Roman" panose="02020603050405020304" pitchFamily="18" charset="0"/>
                <a:ea typeface="黑体" panose="02010609060101010101" pitchFamily="49" charset="-122"/>
              </a:rPr>
              <a:t>DNA</a:t>
            </a:r>
            <a:r>
              <a:rPr kumimoji="0" lang="zh-CN" altLang="en-US" b="0" dirty="0">
                <a:solidFill>
                  <a:srgbClr val="FF0000"/>
                </a:solidFill>
                <a:latin typeface="Times New Roman" panose="02020603050405020304" pitchFamily="18" charset="0"/>
                <a:ea typeface="黑体" panose="02010609060101010101" pitchFamily="49" charset="-122"/>
              </a:rPr>
              <a:t>一级结构不变</a:t>
            </a:r>
            <a:r>
              <a:rPr kumimoji="0" lang="zh-CN" altLang="en-US" b="0" dirty="0">
                <a:solidFill>
                  <a:schemeClr val="tx1"/>
                </a:solidFill>
                <a:latin typeface="Times New Roman" panose="02020603050405020304" pitchFamily="18" charset="0"/>
                <a:ea typeface="黑体" panose="02010609060101010101" pitchFamily="49" charset="-122"/>
              </a:rPr>
              <a:t>。</a:t>
            </a:r>
            <a:r>
              <a:rPr kumimoji="0" lang="zh-CN" altLang="en-US" sz="1200" b="0" dirty="0">
                <a:solidFill>
                  <a:schemeClr val="tx1"/>
                </a:solidFill>
                <a:latin typeface="Times New Roman" panose="02020603050405020304" pitchFamily="18" charset="0"/>
                <a:ea typeface="黑体" panose="02010609060101010101" pitchFamily="49" charset="-122"/>
              </a:rPr>
              <a:t> </a:t>
            </a:r>
          </a:p>
        </p:txBody>
      </p:sp>
      <p:pic>
        <p:nvPicPr>
          <p:cNvPr id="2" name="Picture 5">
            <a:extLst>
              <a:ext uri="{FF2B5EF4-FFF2-40B4-BE49-F238E27FC236}">
                <a16:creationId xmlns:a16="http://schemas.microsoft.com/office/drawing/2014/main" id="{CF66CE1E-E659-4FC1-91CA-414724FE26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671" t="11131" r="29533" b="12187"/>
          <a:stretch>
            <a:fillRect/>
          </a:stretch>
        </p:blipFill>
        <p:spPr bwMode="auto">
          <a:xfrm>
            <a:off x="7312472" y="908720"/>
            <a:ext cx="4088455" cy="576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761861"/>
                                        </p:tgtEl>
                                        <p:attrNameLst>
                                          <p:attrName>style.visibility</p:attrName>
                                        </p:attrNameLst>
                                      </p:cBhvr>
                                      <p:to>
                                        <p:strVal val="visible"/>
                                      </p:to>
                                    </p:set>
                                    <p:animEffect transition="in" filter="checkerboard(across)">
                                      <p:cBhvr>
                                        <p:cTn id="7" dur="500"/>
                                        <p:tgtEl>
                                          <p:spTgt spid="7618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61862"/>
                                        </p:tgtEl>
                                        <p:attrNameLst>
                                          <p:attrName>style.visibility</p:attrName>
                                        </p:attrNameLst>
                                      </p:cBhvr>
                                      <p:to>
                                        <p:strVal val="visible"/>
                                      </p:to>
                                    </p:set>
                                    <p:animEffect transition="in" filter="wipe(left)">
                                      <p:cBhvr>
                                        <p:cTn id="12" dur="500"/>
                                        <p:tgtEl>
                                          <p:spTgt spid="7618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61863"/>
                                        </p:tgtEl>
                                        <p:attrNameLst>
                                          <p:attrName>style.visibility</p:attrName>
                                        </p:attrNameLst>
                                      </p:cBhvr>
                                      <p:to>
                                        <p:strVal val="visible"/>
                                      </p:to>
                                    </p:set>
                                    <p:animEffect transition="in" filter="wipe(left)">
                                      <p:cBhvr>
                                        <p:cTn id="17" dur="500"/>
                                        <p:tgtEl>
                                          <p:spTgt spid="76186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1861" grpId="0" autoUpdateAnimBg="0"/>
      <p:bldP spid="761862" grpId="0" autoUpdateAnimBg="0"/>
      <p:bldP spid="761863" grpId="0"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pic>
        <p:nvPicPr>
          <p:cNvPr id="315394" name="Picture 2" descr="melting-5">
            <a:extLst>
              <a:ext uri="{FF2B5EF4-FFF2-40B4-BE49-F238E27FC236}">
                <a16:creationId xmlns:a16="http://schemas.microsoft.com/office/drawing/2014/main" id="{355CC860-186C-4562-8459-431969BEA1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7713" y="1196976"/>
            <a:ext cx="5586412" cy="528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5395" name="Rectangle 3">
            <a:extLst>
              <a:ext uri="{FF2B5EF4-FFF2-40B4-BE49-F238E27FC236}">
                <a16:creationId xmlns:a16="http://schemas.microsoft.com/office/drawing/2014/main" id="{0787E02E-8F21-4948-8F0F-EE88ABE14FA2}"/>
              </a:ext>
            </a:extLst>
          </p:cNvPr>
          <p:cNvSpPr>
            <a:spLocks noChangeArrowheads="1"/>
          </p:cNvSpPr>
          <p:nvPr/>
        </p:nvSpPr>
        <p:spPr bwMode="auto">
          <a:xfrm>
            <a:off x="3000375" y="404813"/>
            <a:ext cx="5761038"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a:solidFill>
                  <a:srgbClr val="0000CC"/>
                </a:solidFill>
                <a:latin typeface="Times New Roman" panose="02020603050405020304" pitchFamily="18" charset="0"/>
                <a:ea typeface="黑体" panose="02010609060101010101" pitchFamily="49" charset="-122"/>
              </a:rPr>
              <a:t>部分变性</a:t>
            </a:r>
            <a:r>
              <a:rPr kumimoji="0" lang="en-US" altLang="zh-CN" sz="3600">
                <a:solidFill>
                  <a:srgbClr val="0000CC"/>
                </a:solidFill>
                <a:latin typeface="Times New Roman" panose="02020603050405020304" pitchFamily="18" charset="0"/>
                <a:ea typeface="黑体" panose="02010609060101010101" pitchFamily="49" charset="-122"/>
              </a:rPr>
              <a:t>DNA</a:t>
            </a:r>
            <a:r>
              <a:rPr kumimoji="0" lang="zh-CN" altLang="en-US" sz="3600">
                <a:solidFill>
                  <a:srgbClr val="0000CC"/>
                </a:solidFill>
                <a:latin typeface="Times New Roman" panose="02020603050405020304" pitchFamily="18" charset="0"/>
                <a:ea typeface="黑体" panose="02010609060101010101" pitchFamily="49" charset="-122"/>
              </a:rPr>
              <a:t>的电镜图像</a:t>
            </a:r>
          </a:p>
        </p:txBody>
      </p:sp>
      <p:sp>
        <p:nvSpPr>
          <p:cNvPr id="315396" name="Line 6">
            <a:extLst>
              <a:ext uri="{FF2B5EF4-FFF2-40B4-BE49-F238E27FC236}">
                <a16:creationId xmlns:a16="http://schemas.microsoft.com/office/drawing/2014/main" id="{33F67D5B-8F77-4EC0-80CC-910BC4031BA6}"/>
              </a:ext>
            </a:extLst>
          </p:cNvPr>
          <p:cNvSpPr>
            <a:spLocks noChangeShapeType="1"/>
          </p:cNvSpPr>
          <p:nvPr/>
        </p:nvSpPr>
        <p:spPr bwMode="auto">
          <a:xfrm flipH="1">
            <a:off x="6383339" y="2133600"/>
            <a:ext cx="288925" cy="503238"/>
          </a:xfrm>
          <a:prstGeom prst="line">
            <a:avLst/>
          </a:prstGeom>
          <a:noFill/>
          <a:ln w="76200">
            <a:solidFill>
              <a:srgbClr val="CC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circl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Text Box 2">
            <a:extLst>
              <a:ext uri="{FF2B5EF4-FFF2-40B4-BE49-F238E27FC236}">
                <a16:creationId xmlns:a16="http://schemas.microsoft.com/office/drawing/2014/main" id="{CDD89F91-1A40-4CB6-A263-1B002E198A21}"/>
              </a:ext>
            </a:extLst>
          </p:cNvPr>
          <p:cNvSpPr txBox="1">
            <a:spLocks noChangeArrowheads="1"/>
          </p:cNvSpPr>
          <p:nvPr/>
        </p:nvSpPr>
        <p:spPr bwMode="auto">
          <a:xfrm>
            <a:off x="6308725" y="5319714"/>
            <a:ext cx="184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zh-CN" sz="4000" b="0">
              <a:solidFill>
                <a:schemeClr val="tx1"/>
              </a:solidFill>
              <a:latin typeface="Times New Roman" panose="02020603050405020304" pitchFamily="18" charset="0"/>
              <a:ea typeface="黑体" panose="02010609060101010101" pitchFamily="49" charset="-122"/>
            </a:endParaRPr>
          </a:p>
        </p:txBody>
      </p:sp>
      <p:sp>
        <p:nvSpPr>
          <p:cNvPr id="317443" name="Text Box 13">
            <a:extLst>
              <a:ext uri="{FF2B5EF4-FFF2-40B4-BE49-F238E27FC236}">
                <a16:creationId xmlns:a16="http://schemas.microsoft.com/office/drawing/2014/main" id="{DCB268A3-2284-4BA1-83CF-2026F86EB498}"/>
              </a:ext>
            </a:extLst>
          </p:cNvPr>
          <p:cNvSpPr txBox="1">
            <a:spLocks noChangeArrowheads="1"/>
          </p:cNvSpPr>
          <p:nvPr/>
        </p:nvSpPr>
        <p:spPr bwMode="auto">
          <a:xfrm>
            <a:off x="2100264" y="33339"/>
            <a:ext cx="7273925" cy="735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en-US" altLang="zh-CN" sz="3600">
                <a:solidFill>
                  <a:srgbClr val="0000CC"/>
                </a:solidFill>
                <a:latin typeface="Times New Roman" panose="02020603050405020304" pitchFamily="18" charset="0"/>
                <a:ea typeface="黑体" panose="02010609060101010101" pitchFamily="49" charset="-122"/>
              </a:rPr>
              <a:t>DNA</a:t>
            </a:r>
            <a:r>
              <a:rPr kumimoji="0" lang="zh-CN" altLang="en-US" sz="3600">
                <a:solidFill>
                  <a:srgbClr val="0000CC"/>
                </a:solidFill>
                <a:latin typeface="Times New Roman" panose="02020603050405020304" pitchFamily="18" charset="0"/>
                <a:ea typeface="黑体" panose="02010609060101010101" pitchFamily="49" charset="-122"/>
              </a:rPr>
              <a:t>变性后其它理化性质的变化</a:t>
            </a:r>
          </a:p>
        </p:txBody>
      </p:sp>
      <p:sp>
        <p:nvSpPr>
          <p:cNvPr id="317444" name="Text Box 14">
            <a:extLst>
              <a:ext uri="{FF2B5EF4-FFF2-40B4-BE49-F238E27FC236}">
                <a16:creationId xmlns:a16="http://schemas.microsoft.com/office/drawing/2014/main" id="{F8121351-82A7-4763-B951-AFD1263693A4}"/>
              </a:ext>
            </a:extLst>
          </p:cNvPr>
          <p:cNvSpPr txBox="1">
            <a:spLocks noChangeArrowheads="1"/>
          </p:cNvSpPr>
          <p:nvPr/>
        </p:nvSpPr>
        <p:spPr bwMode="auto">
          <a:xfrm>
            <a:off x="2135188" y="1952655"/>
            <a:ext cx="3313112"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75000"/>
              </a:lnSpc>
              <a:spcBef>
                <a:spcPct val="0"/>
              </a:spcBef>
              <a:buClr>
                <a:srgbClr val="0000CC"/>
              </a:buClr>
              <a:buFont typeface="Wingdings" panose="05000000000000000000" pitchFamily="2" charset="2"/>
              <a:buChar char="u"/>
            </a:pPr>
            <a:r>
              <a:rPr lang="zh-CN" altLang="en-US" b="0" dirty="0">
                <a:solidFill>
                  <a:schemeClr val="tx1"/>
                </a:solidFill>
                <a:latin typeface="Times New Roman" panose="02020603050405020304" pitchFamily="18" charset="0"/>
                <a:ea typeface="黑体" panose="02010609060101010101" pitchFamily="49" charset="-122"/>
              </a:rPr>
              <a:t>粘度下降</a:t>
            </a:r>
          </a:p>
          <a:p>
            <a:pPr eaLnBrk="1" hangingPunct="1">
              <a:lnSpc>
                <a:spcPct val="175000"/>
              </a:lnSpc>
              <a:spcBef>
                <a:spcPct val="0"/>
              </a:spcBef>
              <a:buClr>
                <a:srgbClr val="0000CC"/>
              </a:buClr>
              <a:buFont typeface="Wingdings" panose="05000000000000000000" pitchFamily="2" charset="2"/>
              <a:buChar char="u"/>
            </a:pPr>
            <a:r>
              <a:rPr lang="zh-CN" altLang="en-US" b="0" dirty="0">
                <a:solidFill>
                  <a:schemeClr val="tx1"/>
                </a:solidFill>
                <a:latin typeface="Times New Roman" panose="02020603050405020304" pitchFamily="18" charset="0"/>
                <a:ea typeface="黑体" panose="02010609060101010101" pitchFamily="49" charset="-122"/>
              </a:rPr>
              <a:t>旋光性发生变化 </a:t>
            </a:r>
          </a:p>
          <a:p>
            <a:pPr eaLnBrk="1" hangingPunct="1">
              <a:lnSpc>
                <a:spcPct val="175000"/>
              </a:lnSpc>
              <a:spcBef>
                <a:spcPct val="0"/>
              </a:spcBef>
              <a:buClr>
                <a:srgbClr val="0000CC"/>
              </a:buClr>
              <a:buFont typeface="Wingdings" panose="05000000000000000000" pitchFamily="2" charset="2"/>
              <a:buChar char="u"/>
            </a:pPr>
            <a:r>
              <a:rPr lang="zh-CN" altLang="en-US" b="0" dirty="0">
                <a:solidFill>
                  <a:srgbClr val="FF0000"/>
                </a:solidFill>
                <a:latin typeface="Times New Roman" panose="02020603050405020304" pitchFamily="18" charset="0"/>
                <a:ea typeface="黑体" panose="02010609060101010101" pitchFamily="49" charset="-122"/>
              </a:rPr>
              <a:t>紫外吸收增强</a:t>
            </a:r>
          </a:p>
        </p:txBody>
      </p:sp>
      <p:pic>
        <p:nvPicPr>
          <p:cNvPr id="529423" name="Picture 15" descr="变性曲线">
            <a:extLst>
              <a:ext uri="{FF2B5EF4-FFF2-40B4-BE49-F238E27FC236}">
                <a16:creationId xmlns:a16="http://schemas.microsoft.com/office/drawing/2014/main" id="{EE8F972E-E105-402D-91B7-988747DB7AB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91176" y="1457387"/>
            <a:ext cx="5348839" cy="3325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9424" name="Rectangle 16">
            <a:extLst>
              <a:ext uri="{FF2B5EF4-FFF2-40B4-BE49-F238E27FC236}">
                <a16:creationId xmlns:a16="http://schemas.microsoft.com/office/drawing/2014/main" id="{B528ECA2-C454-4F69-8E8E-5F8F7120D0E2}"/>
              </a:ext>
            </a:extLst>
          </p:cNvPr>
          <p:cNvSpPr>
            <a:spLocks noChangeArrowheads="1"/>
          </p:cNvSpPr>
          <p:nvPr/>
        </p:nvSpPr>
        <p:spPr bwMode="auto">
          <a:xfrm>
            <a:off x="2135188" y="5014914"/>
            <a:ext cx="82296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just" eaLnBrk="1" hangingPunct="1">
              <a:lnSpc>
                <a:spcPct val="120000"/>
              </a:lnSpc>
              <a:buClr>
                <a:srgbClr val="660066"/>
              </a:buClr>
              <a:buSzPct val="80000"/>
              <a:buFont typeface="Wingdings" panose="05000000000000000000" pitchFamily="2" charset="2"/>
              <a:buChar char="Ø"/>
            </a:pPr>
            <a:r>
              <a:rPr lang="zh-CN" altLang="en-US" b="0" dirty="0">
                <a:solidFill>
                  <a:srgbClr val="FF0000"/>
                </a:solidFill>
                <a:latin typeface="Times New Roman" panose="02020603050405020304" pitchFamily="18" charset="0"/>
                <a:ea typeface="黑体" panose="02010609060101010101" pitchFamily="49" charset="-122"/>
              </a:rPr>
              <a:t>增色效应：</a:t>
            </a:r>
            <a:r>
              <a:rPr lang="en-US" altLang="zh-CN" b="0" dirty="0">
                <a:solidFill>
                  <a:schemeClr val="tx1"/>
                </a:solidFill>
                <a:latin typeface="Times New Roman" panose="02020603050405020304" pitchFamily="18" charset="0"/>
                <a:ea typeface="黑体" panose="02010609060101010101" pitchFamily="49" charset="-122"/>
              </a:rPr>
              <a:t>DNA</a:t>
            </a:r>
            <a:r>
              <a:rPr lang="zh-CN" altLang="en-US" b="0" dirty="0">
                <a:solidFill>
                  <a:schemeClr val="tx1"/>
                </a:solidFill>
                <a:latin typeface="Times New Roman" panose="02020603050405020304" pitchFamily="18" charset="0"/>
                <a:ea typeface="黑体" panose="02010609060101010101" pitchFamily="49" charset="-122"/>
              </a:rPr>
              <a:t>变性时其溶液</a:t>
            </a:r>
            <a:r>
              <a:rPr lang="en-US" altLang="zh-CN" b="0" dirty="0">
                <a:solidFill>
                  <a:srgbClr val="FF0000"/>
                </a:solidFill>
                <a:latin typeface="Times New Roman" panose="02020603050405020304" pitchFamily="18" charset="0"/>
                <a:ea typeface="黑体" panose="02010609060101010101" pitchFamily="49" charset="-122"/>
              </a:rPr>
              <a:t>A</a:t>
            </a:r>
            <a:r>
              <a:rPr lang="en-US" altLang="zh-CN" b="0" baseline="-25000" dirty="0">
                <a:solidFill>
                  <a:srgbClr val="FF0000"/>
                </a:solidFill>
                <a:latin typeface="Times New Roman" panose="02020603050405020304" pitchFamily="18" charset="0"/>
                <a:ea typeface="黑体" panose="02010609060101010101" pitchFamily="49" charset="-122"/>
              </a:rPr>
              <a:t>260</a:t>
            </a:r>
            <a:r>
              <a:rPr lang="zh-CN" altLang="en-US" b="0" dirty="0">
                <a:solidFill>
                  <a:srgbClr val="FF0000"/>
                </a:solidFill>
                <a:latin typeface="Times New Roman" panose="02020603050405020304" pitchFamily="18" charset="0"/>
                <a:ea typeface="黑体" panose="02010609060101010101" pitchFamily="49" charset="-122"/>
              </a:rPr>
              <a:t>增高</a:t>
            </a:r>
            <a:r>
              <a:rPr lang="zh-CN" altLang="en-US" b="0" dirty="0">
                <a:solidFill>
                  <a:schemeClr val="tx1"/>
                </a:solidFill>
                <a:latin typeface="Times New Roman" panose="02020603050405020304" pitchFamily="18" charset="0"/>
                <a:ea typeface="黑体" panose="02010609060101010101" pitchFamily="49" charset="-122"/>
              </a:rPr>
              <a:t>的现象。</a:t>
            </a:r>
          </a:p>
        </p:txBody>
      </p:sp>
      <p:sp>
        <p:nvSpPr>
          <p:cNvPr id="317447" name="灯片编号占位符 1">
            <a:extLst>
              <a:ext uri="{FF2B5EF4-FFF2-40B4-BE49-F238E27FC236}">
                <a16:creationId xmlns:a16="http://schemas.microsoft.com/office/drawing/2014/main" id="{63A25BEF-3502-4538-A32E-A41B0D989A9B}"/>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B6BAFDA0-7CE1-4F96-8C4B-DB4EAF2A029A}" type="slidenum">
              <a:rPr lang="zh-CN" altLang="en-US" sz="1200" b="0">
                <a:solidFill>
                  <a:srgbClr val="898F89"/>
                </a:solidFill>
              </a:rPr>
              <a:pPr>
                <a:spcBef>
                  <a:spcPct val="0"/>
                </a:spcBef>
                <a:buClrTx/>
                <a:buFontTx/>
                <a:buNone/>
              </a:pPr>
              <a:t>123</a:t>
            </a:fld>
            <a:endParaRPr lang="zh-CN" altLang="en-US" sz="1200" b="0">
              <a:solidFill>
                <a:srgbClr val="898F8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529423"/>
                                        </p:tgtEl>
                                        <p:attrNameLst>
                                          <p:attrName>style.visibility</p:attrName>
                                        </p:attrNameLst>
                                      </p:cBhvr>
                                      <p:to>
                                        <p:strVal val="visible"/>
                                      </p:to>
                                    </p:set>
                                    <p:animEffect transition="in" filter="diamond(in)">
                                      <p:cBhvr>
                                        <p:cTn id="7" dur="2000"/>
                                        <p:tgtEl>
                                          <p:spTgt spid="5294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29424"/>
                                        </p:tgtEl>
                                        <p:attrNameLst>
                                          <p:attrName>style.visibility</p:attrName>
                                        </p:attrNameLst>
                                      </p:cBhvr>
                                      <p:to>
                                        <p:strVal val="visible"/>
                                      </p:to>
                                    </p:set>
                                    <p:animEffect transition="in" filter="randombar(horizontal)">
                                      <p:cBhvr>
                                        <p:cTn id="12" dur="500"/>
                                        <p:tgtEl>
                                          <p:spTgt spid="529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24" grpId="0"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4" name="Rectangle 4">
            <a:extLst>
              <a:ext uri="{FF2B5EF4-FFF2-40B4-BE49-F238E27FC236}">
                <a16:creationId xmlns:a16="http://schemas.microsoft.com/office/drawing/2014/main" id="{CE3A816F-850A-4688-9F04-116AC688F398}"/>
              </a:ext>
            </a:extLst>
          </p:cNvPr>
          <p:cNvSpPr>
            <a:spLocks noChangeArrowheads="1"/>
          </p:cNvSpPr>
          <p:nvPr/>
        </p:nvSpPr>
        <p:spPr bwMode="auto">
          <a:xfrm>
            <a:off x="1415480" y="1196752"/>
            <a:ext cx="5351118" cy="349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just" eaLnBrk="1" hangingPunct="1">
              <a:lnSpc>
                <a:spcPct val="150000"/>
              </a:lnSpc>
              <a:buClr>
                <a:srgbClr val="660066"/>
              </a:buClr>
              <a:buSzPct val="80000"/>
              <a:buFont typeface="Wingdings" panose="05000000000000000000" pitchFamily="2" charset="2"/>
              <a:buChar char="Ø"/>
            </a:pPr>
            <a:r>
              <a:rPr lang="en-US" altLang="zh-CN" sz="2400" b="0" dirty="0">
                <a:solidFill>
                  <a:srgbClr val="CC0000"/>
                </a:solidFill>
              </a:rPr>
              <a:t>Tm</a:t>
            </a:r>
            <a:r>
              <a:rPr lang="zh-CN" altLang="en-US" sz="2400" b="0" dirty="0">
                <a:solidFill>
                  <a:schemeClr val="tx1"/>
                </a:solidFill>
              </a:rPr>
              <a:t>：通常将核酸加热变性过程中，</a:t>
            </a:r>
            <a:r>
              <a:rPr lang="zh-CN" altLang="en-US" sz="2400" b="0" dirty="0">
                <a:solidFill>
                  <a:srgbClr val="0000CC"/>
                </a:solidFill>
              </a:rPr>
              <a:t>紫外光吸收值达到最大增加值</a:t>
            </a:r>
            <a:r>
              <a:rPr lang="en-US" altLang="zh-CN" sz="2400" b="0" dirty="0">
                <a:solidFill>
                  <a:srgbClr val="0000CC"/>
                </a:solidFill>
              </a:rPr>
              <a:t>50%</a:t>
            </a:r>
            <a:r>
              <a:rPr lang="zh-CN" altLang="en-US" sz="2400" b="0" dirty="0">
                <a:solidFill>
                  <a:srgbClr val="0000CC"/>
                </a:solidFill>
              </a:rPr>
              <a:t>时</a:t>
            </a:r>
            <a:r>
              <a:rPr lang="zh-CN" altLang="en-US" sz="2400" b="0" dirty="0">
                <a:solidFill>
                  <a:schemeClr val="tx1"/>
                </a:solidFill>
              </a:rPr>
              <a:t>的温度称为核酸的</a:t>
            </a:r>
            <a:r>
              <a:rPr lang="zh-CN" altLang="en-US" sz="2400" b="0" dirty="0">
                <a:solidFill>
                  <a:srgbClr val="FF0000"/>
                </a:solidFill>
              </a:rPr>
              <a:t>解链温度。</a:t>
            </a:r>
          </a:p>
          <a:p>
            <a:pPr algn="just" eaLnBrk="1" hangingPunct="1">
              <a:lnSpc>
                <a:spcPct val="150000"/>
              </a:lnSpc>
              <a:buClr>
                <a:srgbClr val="660066"/>
              </a:buClr>
              <a:buSzPct val="80000"/>
              <a:buFont typeface="Wingdings" panose="05000000000000000000" pitchFamily="2" charset="2"/>
              <a:buChar char="Ø"/>
            </a:pPr>
            <a:r>
              <a:rPr lang="zh-CN" altLang="en-US" sz="2400" b="0" dirty="0">
                <a:solidFill>
                  <a:schemeClr val="tx1"/>
                </a:solidFill>
              </a:rPr>
              <a:t>由于这一现象和结晶体的融解相类似，又称</a:t>
            </a:r>
            <a:r>
              <a:rPr lang="zh-CN" altLang="en-US" sz="2400" b="0" dirty="0">
                <a:solidFill>
                  <a:srgbClr val="FF0000"/>
                </a:solidFill>
              </a:rPr>
              <a:t>融解温度</a:t>
            </a:r>
            <a:r>
              <a:rPr lang="en-US" altLang="zh-CN" sz="2400" b="0" dirty="0">
                <a:solidFill>
                  <a:schemeClr val="tx1"/>
                </a:solidFill>
              </a:rPr>
              <a:t>(melting temperature, </a:t>
            </a:r>
            <a:r>
              <a:rPr lang="en-US" altLang="zh-CN" sz="2400" b="0" dirty="0">
                <a:solidFill>
                  <a:srgbClr val="FF0000"/>
                </a:solidFill>
              </a:rPr>
              <a:t>Tm</a:t>
            </a:r>
            <a:r>
              <a:rPr lang="en-US" altLang="zh-CN" sz="2400" b="0" dirty="0">
                <a:solidFill>
                  <a:schemeClr val="tx1"/>
                </a:solidFill>
              </a:rPr>
              <a:t>)</a:t>
            </a:r>
            <a:r>
              <a:rPr lang="zh-CN" altLang="en-US" sz="2400" b="0" dirty="0">
                <a:solidFill>
                  <a:schemeClr val="tx1"/>
                </a:solidFill>
              </a:rPr>
              <a:t>。</a:t>
            </a:r>
            <a:endParaRPr lang="zh-CN" altLang="en-US" sz="2400" b="0" dirty="0">
              <a:solidFill>
                <a:srgbClr val="0000CC"/>
              </a:solidFill>
            </a:endParaRPr>
          </a:p>
        </p:txBody>
      </p:sp>
      <p:sp>
        <p:nvSpPr>
          <p:cNvPr id="768005" name="Rectangle 5">
            <a:extLst>
              <a:ext uri="{FF2B5EF4-FFF2-40B4-BE49-F238E27FC236}">
                <a16:creationId xmlns:a16="http://schemas.microsoft.com/office/drawing/2014/main" id="{056E73AC-6E7F-497A-89DE-7B3F372962E4}"/>
              </a:ext>
            </a:extLst>
          </p:cNvPr>
          <p:cNvSpPr>
            <a:spLocks noChangeArrowheads="1"/>
          </p:cNvSpPr>
          <p:nvPr/>
        </p:nvSpPr>
        <p:spPr bwMode="auto">
          <a:xfrm>
            <a:off x="1775520" y="5236186"/>
            <a:ext cx="69326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en-US" altLang="zh-CN" dirty="0">
                <a:solidFill>
                  <a:schemeClr val="tx1"/>
                </a:solidFill>
                <a:latin typeface="Times New Roman" panose="02020603050405020304" pitchFamily="18" charset="0"/>
                <a:ea typeface="黑体" panose="02010609060101010101" pitchFamily="49" charset="-122"/>
              </a:rPr>
              <a:t> </a:t>
            </a:r>
            <a:r>
              <a:rPr lang="en-US" altLang="zh-CN" dirty="0">
                <a:solidFill>
                  <a:srgbClr val="FF0000"/>
                </a:solidFill>
                <a:latin typeface="Times New Roman" panose="02020603050405020304" pitchFamily="18" charset="0"/>
                <a:ea typeface="黑体" panose="02010609060101010101" pitchFamily="49" charset="-122"/>
              </a:rPr>
              <a:t>Tm</a:t>
            </a:r>
            <a:r>
              <a:rPr lang="zh-CN" altLang="en-US" dirty="0">
                <a:solidFill>
                  <a:srgbClr val="FF0000"/>
                </a:solidFill>
                <a:latin typeface="Times New Roman" panose="02020603050405020304" pitchFamily="18" charset="0"/>
                <a:ea typeface="黑体" panose="02010609060101010101" pitchFamily="49" charset="-122"/>
              </a:rPr>
              <a:t>：</a:t>
            </a:r>
            <a:r>
              <a:rPr lang="en-US" altLang="zh-CN" dirty="0">
                <a:solidFill>
                  <a:srgbClr val="FF0000"/>
                </a:solidFill>
                <a:latin typeface="Times New Roman" panose="02020603050405020304" pitchFamily="18" charset="0"/>
                <a:ea typeface="黑体" panose="02010609060101010101" pitchFamily="49" charset="-122"/>
              </a:rPr>
              <a:t>50%</a:t>
            </a:r>
            <a:r>
              <a:rPr lang="zh-CN" altLang="en-US" dirty="0">
                <a:solidFill>
                  <a:srgbClr val="FF0000"/>
                </a:solidFill>
                <a:latin typeface="Times New Roman" panose="02020603050405020304" pitchFamily="18" charset="0"/>
                <a:ea typeface="黑体" panose="02010609060101010101" pitchFamily="49" charset="-122"/>
              </a:rPr>
              <a:t>的</a:t>
            </a:r>
            <a:r>
              <a:rPr lang="en-US" altLang="zh-CN" dirty="0">
                <a:solidFill>
                  <a:srgbClr val="FF0000"/>
                </a:solidFill>
                <a:latin typeface="Times New Roman" panose="02020603050405020304" pitchFamily="18" charset="0"/>
                <a:ea typeface="黑体" panose="02010609060101010101" pitchFamily="49" charset="-122"/>
              </a:rPr>
              <a:t>DNA</a:t>
            </a:r>
            <a:r>
              <a:rPr lang="zh-CN" altLang="en-US" dirty="0">
                <a:solidFill>
                  <a:srgbClr val="FF0000"/>
                </a:solidFill>
                <a:latin typeface="Times New Roman" panose="02020603050405020304" pitchFamily="18" charset="0"/>
                <a:ea typeface="黑体" panose="02010609060101010101" pitchFamily="49" charset="-122"/>
              </a:rPr>
              <a:t>分子发生变性时的温度。</a:t>
            </a:r>
          </a:p>
        </p:txBody>
      </p:sp>
      <p:pic>
        <p:nvPicPr>
          <p:cNvPr id="319492" name="Picture 6" descr="Tm">
            <a:extLst>
              <a:ext uri="{FF2B5EF4-FFF2-40B4-BE49-F238E27FC236}">
                <a16:creationId xmlns:a16="http://schemas.microsoft.com/office/drawing/2014/main" id="{F484CFCB-3B73-4952-8D98-0DA597A62F25}"/>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58856" y="1196752"/>
            <a:ext cx="3563937" cy="356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9493" name="Rectangle 7">
            <a:extLst>
              <a:ext uri="{FF2B5EF4-FFF2-40B4-BE49-F238E27FC236}">
                <a16:creationId xmlns:a16="http://schemas.microsoft.com/office/drawing/2014/main" id="{4F469E12-B8E6-4A52-AC7C-175F23D72449}"/>
              </a:ext>
            </a:extLst>
          </p:cNvPr>
          <p:cNvSpPr>
            <a:spLocks noChangeArrowheads="1"/>
          </p:cNvSpPr>
          <p:nvPr/>
        </p:nvSpPr>
        <p:spPr bwMode="auto">
          <a:xfrm>
            <a:off x="8401051" y="836613"/>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sz="2400">
                <a:solidFill>
                  <a:srgbClr val="0000CC"/>
                </a:solidFill>
                <a:latin typeface="Times New Roman" panose="02020603050405020304" pitchFamily="18" charset="0"/>
                <a:ea typeface="黑体" panose="02010609060101010101" pitchFamily="49" charset="-122"/>
              </a:rPr>
              <a:t>热变性</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68004">
                                            <p:txEl>
                                              <p:pRg st="0" end="0"/>
                                            </p:txEl>
                                          </p:spTgt>
                                        </p:tgtEl>
                                        <p:attrNameLst>
                                          <p:attrName>style.visibility</p:attrName>
                                        </p:attrNameLst>
                                      </p:cBhvr>
                                      <p:to>
                                        <p:strVal val="visible"/>
                                      </p:to>
                                    </p:set>
                                    <p:animEffect transition="in" filter="dissolve">
                                      <p:cBhvr>
                                        <p:cTn id="7" dur="500"/>
                                        <p:tgtEl>
                                          <p:spTgt spid="76800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68004">
                                            <p:txEl>
                                              <p:pRg st="1" end="1"/>
                                            </p:txEl>
                                          </p:spTgt>
                                        </p:tgtEl>
                                        <p:attrNameLst>
                                          <p:attrName>style.visibility</p:attrName>
                                        </p:attrNameLst>
                                      </p:cBhvr>
                                      <p:to>
                                        <p:strVal val="visible"/>
                                      </p:to>
                                    </p:set>
                                    <p:animEffect transition="in" filter="dissolve">
                                      <p:cBhvr>
                                        <p:cTn id="12" dur="500"/>
                                        <p:tgtEl>
                                          <p:spTgt spid="76800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68005"/>
                                        </p:tgtEl>
                                        <p:attrNameLst>
                                          <p:attrName>style.visibility</p:attrName>
                                        </p:attrNameLst>
                                      </p:cBhvr>
                                      <p:to>
                                        <p:strVal val="visible"/>
                                      </p:to>
                                    </p:set>
                                    <p:animEffect transition="in" filter="wipe(left)">
                                      <p:cBhvr>
                                        <p:cTn id="17" dur="2000"/>
                                        <p:tgtEl>
                                          <p:spTgt spid="768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05"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1538" name="Picture 2">
            <a:extLst>
              <a:ext uri="{FF2B5EF4-FFF2-40B4-BE49-F238E27FC236}">
                <a16:creationId xmlns:a16="http://schemas.microsoft.com/office/drawing/2014/main" id="{0351F12A-9E2E-485B-8569-82F29A1150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5643" r="668"/>
          <a:stretch>
            <a:fillRect/>
          </a:stretch>
        </p:blipFill>
        <p:spPr bwMode="auto">
          <a:xfrm>
            <a:off x="2351088" y="908720"/>
            <a:ext cx="8006046" cy="3908773"/>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pic>
      <p:sp>
        <p:nvSpPr>
          <p:cNvPr id="321539" name="Rectangle 3">
            <a:extLst>
              <a:ext uri="{FF2B5EF4-FFF2-40B4-BE49-F238E27FC236}">
                <a16:creationId xmlns:a16="http://schemas.microsoft.com/office/drawing/2014/main" id="{EC3F9C8D-6A5A-47EE-961D-953D4830254A}"/>
              </a:ext>
            </a:extLst>
          </p:cNvPr>
          <p:cNvSpPr>
            <a:spLocks noChangeArrowheads="1"/>
          </p:cNvSpPr>
          <p:nvPr/>
        </p:nvSpPr>
        <p:spPr bwMode="auto">
          <a:xfrm>
            <a:off x="2438400" y="5013176"/>
            <a:ext cx="7315200" cy="1190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35000"/>
              </a:lnSpc>
              <a:spcBef>
                <a:spcPct val="0"/>
              </a:spcBef>
              <a:buClr>
                <a:srgbClr val="660066"/>
              </a:buClr>
              <a:buSzPct val="80000"/>
              <a:buFont typeface="Wingdings" panose="05000000000000000000" pitchFamily="2" charset="2"/>
              <a:buChar char="Ø"/>
            </a:pPr>
            <a:r>
              <a:rPr lang="en-US" altLang="zh-CN" dirty="0">
                <a:solidFill>
                  <a:srgbClr val="C00000"/>
                </a:solidFill>
                <a:latin typeface="Times New Roman" panose="02020603050405020304" pitchFamily="18" charset="0"/>
                <a:ea typeface="黑体" panose="02010609060101010101" pitchFamily="49" charset="-122"/>
              </a:rPr>
              <a:t>Tm</a:t>
            </a:r>
            <a:r>
              <a:rPr lang="zh-CN" altLang="en-US" dirty="0">
                <a:solidFill>
                  <a:srgbClr val="C00000"/>
                </a:solidFill>
                <a:latin typeface="Times New Roman" panose="02020603050405020304" pitchFamily="18" charset="0"/>
                <a:ea typeface="黑体" panose="02010609060101010101" pitchFamily="49" charset="-122"/>
              </a:rPr>
              <a:t>大小与</a:t>
            </a:r>
            <a:r>
              <a:rPr lang="en-US" altLang="en-US" dirty="0">
                <a:solidFill>
                  <a:srgbClr val="C00000"/>
                </a:solidFill>
                <a:latin typeface="Times New Roman" panose="02020603050405020304" pitchFamily="18" charset="0"/>
                <a:ea typeface="黑体" panose="02010609060101010101" pitchFamily="49" charset="-122"/>
              </a:rPr>
              <a:t>G+C</a:t>
            </a:r>
            <a:r>
              <a:rPr lang="zh-CN" altLang="en-US" dirty="0">
                <a:solidFill>
                  <a:srgbClr val="C00000"/>
                </a:solidFill>
                <a:latin typeface="Times New Roman" panose="02020603050405020304" pitchFamily="18" charset="0"/>
                <a:ea typeface="黑体" panose="02010609060101010101" pitchFamily="49" charset="-122"/>
              </a:rPr>
              <a:t>含量成正比（一定范围内）：</a:t>
            </a:r>
          </a:p>
          <a:p>
            <a:pPr eaLnBrk="1" hangingPunct="1">
              <a:lnSpc>
                <a:spcPct val="135000"/>
              </a:lnSpc>
              <a:spcBef>
                <a:spcPct val="0"/>
              </a:spcBef>
              <a:buClr>
                <a:srgbClr val="660066"/>
              </a:buClr>
              <a:buSzPct val="80000"/>
              <a:buFont typeface="Wingdings" panose="05000000000000000000" pitchFamily="2" charset="2"/>
              <a:buNone/>
            </a:pPr>
            <a:r>
              <a:rPr kumimoji="0" lang="zh-CN" altLang="en-US" dirty="0">
                <a:solidFill>
                  <a:schemeClr val="tx1"/>
                </a:solidFill>
                <a:latin typeface="Times New Roman" panose="02020603050405020304" pitchFamily="18" charset="0"/>
                <a:ea typeface="黑体" panose="02010609060101010101" pitchFamily="49" charset="-122"/>
              </a:rPr>
              <a:t>                          </a:t>
            </a:r>
            <a:r>
              <a:rPr kumimoji="0" lang="en-US" altLang="zh-CN" dirty="0">
                <a:solidFill>
                  <a:schemeClr val="tx1"/>
                </a:solidFill>
                <a:latin typeface="Times New Roman" panose="02020603050405020304" pitchFamily="18" charset="0"/>
                <a:ea typeface="黑体" panose="02010609060101010101" pitchFamily="49" charset="-122"/>
              </a:rPr>
              <a:t>Tm=69.3</a:t>
            </a:r>
            <a:r>
              <a:rPr kumimoji="0" lang="zh-CN" altLang="en-US" dirty="0">
                <a:solidFill>
                  <a:schemeClr val="tx1"/>
                </a:solidFill>
                <a:latin typeface="Times New Roman" panose="02020603050405020304" pitchFamily="18" charset="0"/>
                <a:ea typeface="黑体" panose="02010609060101010101" pitchFamily="49" charset="-122"/>
              </a:rPr>
              <a:t>＋</a:t>
            </a:r>
            <a:r>
              <a:rPr kumimoji="0" lang="en-US" altLang="zh-CN" dirty="0">
                <a:solidFill>
                  <a:schemeClr val="tx1"/>
                </a:solidFill>
                <a:latin typeface="Times New Roman" panose="02020603050405020304" pitchFamily="18" charset="0"/>
                <a:ea typeface="黑体" panose="02010609060101010101" pitchFamily="49" charset="-122"/>
              </a:rPr>
              <a:t>0.41(G+C)%</a:t>
            </a:r>
          </a:p>
        </p:txBody>
      </p:sp>
      <p:sp>
        <p:nvSpPr>
          <p:cNvPr id="321540" name="灯片编号占位符 1">
            <a:extLst>
              <a:ext uri="{FF2B5EF4-FFF2-40B4-BE49-F238E27FC236}">
                <a16:creationId xmlns:a16="http://schemas.microsoft.com/office/drawing/2014/main" id="{FE853C22-2008-4BBB-BB15-226923691AE2}"/>
              </a:ext>
            </a:extLst>
          </p:cNvPr>
          <p:cNvSpPr>
            <a:spLocks noGrp="1"/>
          </p:cNvSpPr>
          <p:nvPr>
            <p:ph type="sldNum" sz="quarter" idx="4294967295"/>
          </p:nvPr>
        </p:nvSpPr>
        <p:spPr bwMode="auto">
          <a:xfrm>
            <a:off x="11266488" y="6492875"/>
            <a:ext cx="9255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0E38032C-1BCA-4F66-A1C3-C2E44B76CBA9}" type="slidenum">
              <a:rPr lang="zh-CN" altLang="en-US" sz="1200" b="0">
                <a:solidFill>
                  <a:srgbClr val="898F89"/>
                </a:solidFill>
              </a:rPr>
              <a:pPr>
                <a:spcBef>
                  <a:spcPct val="0"/>
                </a:spcBef>
                <a:buClrTx/>
                <a:buFontTx/>
                <a:buNone/>
              </a:pPr>
              <a:t>125</a:t>
            </a:fld>
            <a:endParaRPr lang="zh-CN" altLang="en-US" sz="1200" b="0">
              <a:solidFill>
                <a:srgbClr val="898F89"/>
              </a:solidFill>
            </a:endParaRPr>
          </a:p>
        </p:txBody>
      </p:sp>
    </p:spTree>
  </p:cSld>
  <p:clrMapOvr>
    <a:masterClrMapping/>
  </p:clrMapOvr>
  <p:transition spd="slow">
    <p:circl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a:extLst>
              <a:ext uri="{FF2B5EF4-FFF2-40B4-BE49-F238E27FC236}">
                <a16:creationId xmlns:a16="http://schemas.microsoft.com/office/drawing/2014/main" id="{7E941EB4-EA25-4499-B043-1C7B87E50E9F}"/>
              </a:ext>
            </a:extLst>
          </p:cNvPr>
          <p:cNvSpPr>
            <a:spLocks noChangeArrowheads="1"/>
          </p:cNvSpPr>
          <p:nvPr/>
        </p:nvSpPr>
        <p:spPr bwMode="auto">
          <a:xfrm>
            <a:off x="6527801" y="3787776"/>
            <a:ext cx="38893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90000"/>
              </a:lnSpc>
              <a:buClr>
                <a:schemeClr val="hlink"/>
              </a:buClr>
              <a:buSzPct val="110000"/>
              <a:buFont typeface="Wingdings" panose="05000000000000000000" pitchFamily="2" charset="2"/>
              <a:buNone/>
            </a:pPr>
            <a:endParaRPr lang="en-US" altLang="zh-CN" sz="2400">
              <a:solidFill>
                <a:schemeClr val="tx1"/>
              </a:solidFill>
              <a:latin typeface="Tahoma" panose="020B0604030504040204" pitchFamily="34" charset="0"/>
              <a:ea typeface="楷体_GB2312" pitchFamily="49" charset="-122"/>
            </a:endParaRPr>
          </a:p>
          <a:p>
            <a:pPr eaLnBrk="1" hangingPunct="1">
              <a:lnSpc>
                <a:spcPct val="90000"/>
              </a:lnSpc>
              <a:buClr>
                <a:schemeClr val="hlink"/>
              </a:buClr>
              <a:buSzPct val="110000"/>
              <a:buFont typeface="Wingdings" panose="05000000000000000000" pitchFamily="2" charset="2"/>
              <a:buNone/>
            </a:pPr>
            <a:endParaRPr lang="en-US" altLang="zh-CN" sz="2400">
              <a:solidFill>
                <a:schemeClr val="tx1"/>
              </a:solidFill>
              <a:latin typeface="楷体_GB2312" pitchFamily="49" charset="-122"/>
              <a:ea typeface="楷体_GB2312" pitchFamily="49" charset="-122"/>
            </a:endParaRPr>
          </a:p>
        </p:txBody>
      </p:sp>
      <p:sp>
        <p:nvSpPr>
          <p:cNvPr id="323587" name="Rectangle 6">
            <a:extLst>
              <a:ext uri="{FF2B5EF4-FFF2-40B4-BE49-F238E27FC236}">
                <a16:creationId xmlns:a16="http://schemas.microsoft.com/office/drawing/2014/main" id="{BC529610-2952-41EB-83A7-FE545C4A7C4C}"/>
              </a:ext>
            </a:extLst>
          </p:cNvPr>
          <p:cNvSpPr>
            <a:spLocks noChangeArrowheads="1"/>
          </p:cNvSpPr>
          <p:nvPr/>
        </p:nvSpPr>
        <p:spPr bwMode="auto">
          <a:xfrm>
            <a:off x="2567608" y="5538787"/>
            <a:ext cx="3687762" cy="53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marL="342900" indent="-342900" algn="ctr" eaLnBrk="1" hangingPunct="1">
              <a:spcBef>
                <a:spcPct val="0"/>
              </a:spcBef>
              <a:buClrTx/>
            </a:pPr>
            <a:r>
              <a:rPr lang="zh-CN" altLang="en-US" b="0" dirty="0">
                <a:solidFill>
                  <a:srgbClr val="0000CC"/>
                </a:solidFill>
                <a:latin typeface="Times New Roman" panose="02020603050405020304" pitchFamily="18" charset="0"/>
                <a:ea typeface="黑体" panose="02010609060101010101" pitchFamily="49" charset="-122"/>
              </a:rPr>
              <a:t>核酸分子越长，</a:t>
            </a:r>
            <a:r>
              <a:rPr lang="en-US" altLang="zh-CN" b="0" dirty="0">
                <a:solidFill>
                  <a:srgbClr val="0000CC"/>
                </a:solidFill>
                <a:latin typeface="Times New Roman" panose="02020603050405020304" pitchFamily="18" charset="0"/>
                <a:ea typeface="黑体" panose="02010609060101010101" pitchFamily="49" charset="-122"/>
              </a:rPr>
              <a:t>Tm</a:t>
            </a:r>
            <a:r>
              <a:rPr lang="zh-CN" altLang="en-US" b="0" dirty="0">
                <a:solidFill>
                  <a:srgbClr val="0000CC"/>
                </a:solidFill>
                <a:latin typeface="Times New Roman" panose="02020603050405020304" pitchFamily="18" charset="0"/>
                <a:ea typeface="黑体" panose="02010609060101010101" pitchFamily="49" charset="-122"/>
              </a:rPr>
              <a:t>值越大</a:t>
            </a:r>
          </a:p>
        </p:txBody>
      </p:sp>
      <p:sp>
        <p:nvSpPr>
          <p:cNvPr id="963591" name="Rectangle 7">
            <a:extLst>
              <a:ext uri="{FF2B5EF4-FFF2-40B4-BE49-F238E27FC236}">
                <a16:creationId xmlns:a16="http://schemas.microsoft.com/office/drawing/2014/main" id="{E836ED0F-65D1-4CA8-833F-7CD4DDE36176}"/>
              </a:ext>
            </a:extLst>
          </p:cNvPr>
          <p:cNvSpPr>
            <a:spLocks noChangeArrowheads="1"/>
          </p:cNvSpPr>
          <p:nvPr/>
        </p:nvSpPr>
        <p:spPr bwMode="auto">
          <a:xfrm>
            <a:off x="1919288" y="1052513"/>
            <a:ext cx="8280400" cy="6477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just" eaLnBrk="1" hangingPunct="1">
              <a:buClr>
                <a:schemeClr val="folHlink"/>
              </a:buClr>
            </a:pPr>
            <a:r>
              <a:rPr lang="zh-CN" altLang="en-US" b="0">
                <a:solidFill>
                  <a:srgbClr val="C00000"/>
                </a:solidFill>
                <a:latin typeface="黑体" panose="02010609060101010101" pitchFamily="49" charset="-122"/>
                <a:ea typeface="黑体" panose="02010609060101010101" pitchFamily="49" charset="-122"/>
              </a:rPr>
              <a:t>离子强度越高，</a:t>
            </a:r>
            <a:r>
              <a:rPr kumimoji="0" lang="en-US" altLang="zh-CN" b="0">
                <a:solidFill>
                  <a:srgbClr val="C00000"/>
                </a:solidFill>
                <a:latin typeface="Times New Roman" panose="02020603050405020304" pitchFamily="18" charset="0"/>
                <a:ea typeface="宋体" panose="02010600030101010101" pitchFamily="2" charset="-122"/>
              </a:rPr>
              <a:t>Tm</a:t>
            </a:r>
            <a:r>
              <a:rPr lang="zh-CN" altLang="en-US" b="0">
                <a:solidFill>
                  <a:srgbClr val="C00000"/>
                </a:solidFill>
                <a:latin typeface="黑体" panose="02010609060101010101" pitchFamily="49" charset="-122"/>
                <a:ea typeface="黑体" panose="02010609060101010101" pitchFamily="49" charset="-122"/>
              </a:rPr>
              <a:t>越高</a:t>
            </a:r>
          </a:p>
        </p:txBody>
      </p:sp>
      <p:sp>
        <p:nvSpPr>
          <p:cNvPr id="323589" name="Rectangle 9">
            <a:extLst>
              <a:ext uri="{FF2B5EF4-FFF2-40B4-BE49-F238E27FC236}">
                <a16:creationId xmlns:a16="http://schemas.microsoft.com/office/drawing/2014/main" id="{743594AA-C122-4159-9B12-D7E155134EB0}"/>
              </a:ext>
            </a:extLst>
          </p:cNvPr>
          <p:cNvSpPr>
            <a:spLocks noChangeArrowheads="1"/>
          </p:cNvSpPr>
          <p:nvPr/>
        </p:nvSpPr>
        <p:spPr bwMode="auto">
          <a:xfrm>
            <a:off x="1524001" y="1523357"/>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pic>
        <p:nvPicPr>
          <p:cNvPr id="323590" name="Picture 8">
            <a:extLst>
              <a:ext uri="{FF2B5EF4-FFF2-40B4-BE49-F238E27FC236}">
                <a16:creationId xmlns:a16="http://schemas.microsoft.com/office/drawing/2014/main" id="{9F2A9E37-EF7B-4097-BA56-9B1D9F5BA1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3857" y="1806575"/>
            <a:ext cx="6423025" cy="324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3591" name="灯片编号占位符 1">
            <a:extLst>
              <a:ext uri="{FF2B5EF4-FFF2-40B4-BE49-F238E27FC236}">
                <a16:creationId xmlns:a16="http://schemas.microsoft.com/office/drawing/2014/main" id="{07E0AAB6-6294-4922-846C-0A563F721AB5}"/>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2715D95F-744B-452A-B7D4-A86C130B1D9B}" type="slidenum">
              <a:rPr lang="zh-CN" altLang="en-US" sz="1200" b="0">
                <a:solidFill>
                  <a:srgbClr val="898F89"/>
                </a:solidFill>
              </a:rPr>
              <a:pPr>
                <a:spcBef>
                  <a:spcPct val="0"/>
                </a:spcBef>
                <a:buClrTx/>
                <a:buFontTx/>
                <a:buNone/>
              </a:pPr>
              <a:t>126</a:t>
            </a:fld>
            <a:endParaRPr lang="zh-CN" altLang="en-US" sz="1200" b="0">
              <a:solidFill>
                <a:srgbClr val="898F8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63591"/>
                                        </p:tgtEl>
                                        <p:attrNameLst>
                                          <p:attrName>style.visibility</p:attrName>
                                        </p:attrNameLst>
                                      </p:cBhvr>
                                      <p:to>
                                        <p:strVal val="visible"/>
                                      </p:to>
                                    </p:set>
                                    <p:animEffect transition="in" filter="dissolve">
                                      <p:cBhvr>
                                        <p:cTn id="7" dur="500"/>
                                        <p:tgtEl>
                                          <p:spTgt spid="963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3591"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Text Box 4">
            <a:extLst>
              <a:ext uri="{FF2B5EF4-FFF2-40B4-BE49-F238E27FC236}">
                <a16:creationId xmlns:a16="http://schemas.microsoft.com/office/drawing/2014/main" id="{C3FDCE04-E9A8-4E8A-952F-A006FB6AFCDA}"/>
              </a:ext>
            </a:extLst>
          </p:cNvPr>
          <p:cNvSpPr txBox="1">
            <a:spLocks noChangeArrowheads="1"/>
          </p:cNvSpPr>
          <p:nvPr/>
        </p:nvSpPr>
        <p:spPr bwMode="auto">
          <a:xfrm>
            <a:off x="1829780" y="122066"/>
            <a:ext cx="8532440" cy="66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200" dirty="0">
                <a:solidFill>
                  <a:srgbClr val="0000CC"/>
                </a:solidFill>
                <a:latin typeface="Times New Roman" panose="02020603050405020304" pitchFamily="18" charset="0"/>
                <a:ea typeface="黑体" panose="02010609060101010101" pitchFamily="49" charset="-122"/>
              </a:rPr>
              <a:t>三、变性的核酸可以复性或形成杂交双链</a:t>
            </a:r>
          </a:p>
        </p:txBody>
      </p:sp>
      <p:sp>
        <p:nvSpPr>
          <p:cNvPr id="770053" name="Text Box 5">
            <a:extLst>
              <a:ext uri="{FF2B5EF4-FFF2-40B4-BE49-F238E27FC236}">
                <a16:creationId xmlns:a16="http://schemas.microsoft.com/office/drawing/2014/main" id="{0CA68962-BEF1-4D5E-A431-B7C01BF5A93D}"/>
              </a:ext>
            </a:extLst>
          </p:cNvPr>
          <p:cNvSpPr txBox="1">
            <a:spLocks noChangeArrowheads="1"/>
          </p:cNvSpPr>
          <p:nvPr/>
        </p:nvSpPr>
        <p:spPr bwMode="auto">
          <a:xfrm>
            <a:off x="1127448" y="1052736"/>
            <a:ext cx="9937104" cy="29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marL="457200" indent="-457200" eaLnBrk="1" hangingPunct="1">
              <a:lnSpc>
                <a:spcPct val="130000"/>
              </a:lnSpc>
              <a:spcBef>
                <a:spcPts val="1800"/>
              </a:spcBef>
              <a:buClrTx/>
            </a:pPr>
            <a:r>
              <a:rPr lang="zh-CN" altLang="en-US" sz="2600" b="0" dirty="0">
                <a:solidFill>
                  <a:schemeClr val="tx1"/>
                </a:solidFill>
                <a:latin typeface="黑体" panose="02010609060101010101" pitchFamily="49" charset="-122"/>
                <a:ea typeface="黑体" panose="02010609060101010101" pitchFamily="49" charset="-122"/>
              </a:rPr>
              <a:t>把变性条件缓慢地除去后，两条解离的</a:t>
            </a:r>
            <a:r>
              <a:rPr lang="en-US" altLang="zh-CN" sz="2600" b="0" dirty="0">
                <a:solidFill>
                  <a:schemeClr val="tx1"/>
                </a:solidFill>
                <a:latin typeface="黑体" panose="02010609060101010101" pitchFamily="49" charset="-122"/>
                <a:ea typeface="黑体" panose="02010609060101010101" pitchFamily="49" charset="-122"/>
              </a:rPr>
              <a:t>DNA</a:t>
            </a:r>
            <a:r>
              <a:rPr lang="zh-CN" altLang="en-US" sz="2600" b="0" dirty="0">
                <a:solidFill>
                  <a:schemeClr val="tx1"/>
                </a:solidFill>
                <a:latin typeface="黑体" panose="02010609060101010101" pitchFamily="49" charset="-122"/>
                <a:ea typeface="黑体" panose="02010609060101010101" pitchFamily="49" charset="-122"/>
              </a:rPr>
              <a:t>互补链可重新互补配对形成</a:t>
            </a:r>
            <a:r>
              <a:rPr lang="en-US" altLang="zh-CN" sz="2600" b="0" dirty="0">
                <a:solidFill>
                  <a:schemeClr val="tx1"/>
                </a:solidFill>
                <a:latin typeface="黑体" panose="02010609060101010101" pitchFamily="49" charset="-122"/>
                <a:ea typeface="黑体" panose="02010609060101010101" pitchFamily="49" charset="-122"/>
              </a:rPr>
              <a:t>DNA</a:t>
            </a:r>
            <a:r>
              <a:rPr lang="zh-CN" altLang="en-US" sz="2600" b="0" dirty="0">
                <a:solidFill>
                  <a:schemeClr val="tx1"/>
                </a:solidFill>
                <a:latin typeface="黑体" panose="02010609060101010101" pitchFamily="49" charset="-122"/>
                <a:ea typeface="黑体" panose="02010609060101010101" pitchFamily="49" charset="-122"/>
              </a:rPr>
              <a:t>双链，恢复原来的双螺旋结构。这一现象称为</a:t>
            </a:r>
            <a:r>
              <a:rPr lang="zh-CN" altLang="en-US" sz="2600" b="0" dirty="0">
                <a:solidFill>
                  <a:srgbClr val="FF0000"/>
                </a:solidFill>
                <a:latin typeface="黑体" panose="02010609060101010101" pitchFamily="49" charset="-122"/>
                <a:ea typeface="黑体" panose="02010609060101010101" pitchFamily="49" charset="-122"/>
              </a:rPr>
              <a:t>复性（</a:t>
            </a:r>
            <a:r>
              <a:rPr lang="en-US" altLang="zh-CN" sz="2600" b="0" dirty="0">
                <a:solidFill>
                  <a:srgbClr val="FF0000"/>
                </a:solidFill>
                <a:latin typeface="黑体" panose="02010609060101010101" pitchFamily="49" charset="-122"/>
                <a:ea typeface="黑体" panose="02010609060101010101" pitchFamily="49" charset="-122"/>
              </a:rPr>
              <a:t>renaturation</a:t>
            </a:r>
            <a:r>
              <a:rPr lang="zh-CN" altLang="en-US" sz="2600" b="0" dirty="0">
                <a:solidFill>
                  <a:srgbClr val="FF0000"/>
                </a:solidFill>
                <a:latin typeface="黑体" panose="02010609060101010101" pitchFamily="49" charset="-122"/>
                <a:ea typeface="黑体" panose="02010609060101010101" pitchFamily="49" charset="-122"/>
              </a:rPr>
              <a:t>）</a:t>
            </a:r>
            <a:r>
              <a:rPr lang="zh-CN" altLang="en-US" sz="2600" b="0" dirty="0">
                <a:solidFill>
                  <a:schemeClr val="tx1"/>
                </a:solidFill>
                <a:latin typeface="黑体" panose="02010609060101010101" pitchFamily="49" charset="-122"/>
                <a:ea typeface="黑体" panose="02010609060101010101" pitchFamily="49" charset="-122"/>
              </a:rPr>
              <a:t>。</a:t>
            </a:r>
            <a:endParaRPr lang="en-US" altLang="zh-CN" sz="2600" b="0" dirty="0">
              <a:solidFill>
                <a:schemeClr val="tx1"/>
              </a:solidFill>
              <a:latin typeface="黑体" panose="02010609060101010101" pitchFamily="49" charset="-122"/>
              <a:ea typeface="黑体" panose="02010609060101010101" pitchFamily="49" charset="-122"/>
            </a:endParaRPr>
          </a:p>
          <a:p>
            <a:pPr marL="457200" indent="-457200" eaLnBrk="1" hangingPunct="1">
              <a:lnSpc>
                <a:spcPct val="130000"/>
              </a:lnSpc>
              <a:spcBef>
                <a:spcPts val="1800"/>
              </a:spcBef>
              <a:buClrTx/>
            </a:pPr>
            <a:r>
              <a:rPr lang="zh-CN" altLang="en-US" sz="2600" b="0" dirty="0">
                <a:solidFill>
                  <a:schemeClr val="tx1"/>
                </a:solidFill>
                <a:latin typeface="黑体" panose="02010609060101010101" pitchFamily="49" charset="-122"/>
                <a:ea typeface="黑体" panose="02010609060101010101" pitchFamily="49" charset="-122"/>
              </a:rPr>
              <a:t>复性过程并不是变性反应的简单逆过程，变性过程可以在一个很短时间内完成，而复性则需要相对较长时间才能完成。</a:t>
            </a:r>
          </a:p>
        </p:txBody>
      </p:sp>
      <p:pic>
        <p:nvPicPr>
          <p:cNvPr id="770056" name="Picture 8" descr="DAN变性">
            <a:extLst>
              <a:ext uri="{FF2B5EF4-FFF2-40B4-BE49-F238E27FC236}">
                <a16:creationId xmlns:a16="http://schemas.microsoft.com/office/drawing/2014/main" id="{94586FFA-B9DB-4CFC-B2A9-A2009EF852B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39616" y="4040543"/>
            <a:ext cx="5760640" cy="2556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005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60" name="Rectangle 4">
            <a:extLst>
              <a:ext uri="{FF2B5EF4-FFF2-40B4-BE49-F238E27FC236}">
                <a16:creationId xmlns:a16="http://schemas.microsoft.com/office/drawing/2014/main" id="{C37E156D-B0FD-48E9-B126-1DEF2A188E13}"/>
              </a:ext>
            </a:extLst>
          </p:cNvPr>
          <p:cNvSpPr>
            <a:spLocks noChangeArrowheads="1"/>
          </p:cNvSpPr>
          <p:nvPr/>
        </p:nvSpPr>
        <p:spPr bwMode="auto">
          <a:xfrm>
            <a:off x="2259435" y="3100721"/>
            <a:ext cx="8517085" cy="1227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40000"/>
              </a:lnSpc>
              <a:buClr>
                <a:schemeClr val="accent2"/>
              </a:buClr>
              <a:buSzPct val="80000"/>
              <a:buFont typeface="Wingdings" panose="05000000000000000000" pitchFamily="2" charset="2"/>
              <a:buNone/>
            </a:pPr>
            <a:r>
              <a:rPr lang="en-US" altLang="zh-CN" b="0" dirty="0">
                <a:solidFill>
                  <a:schemeClr val="tx1"/>
                </a:solidFill>
                <a:latin typeface="Times New Roman" panose="02020603050405020304" pitchFamily="18" charset="0"/>
                <a:ea typeface="黑体" panose="02010609060101010101" pitchFamily="49" charset="-122"/>
              </a:rPr>
              <a:t>        </a:t>
            </a:r>
            <a:r>
              <a:rPr lang="zh-CN" altLang="en-US" b="0" dirty="0">
                <a:solidFill>
                  <a:schemeClr val="tx1"/>
                </a:solidFill>
                <a:latin typeface="Times New Roman" panose="02020603050405020304" pitchFamily="18" charset="0"/>
                <a:ea typeface="黑体" panose="02010609060101010101" pitchFamily="49" charset="-122"/>
              </a:rPr>
              <a:t>将热变性的</a:t>
            </a:r>
            <a:r>
              <a:rPr lang="en-US" altLang="zh-CN" b="0" dirty="0">
                <a:solidFill>
                  <a:schemeClr val="tx1"/>
                </a:solidFill>
                <a:latin typeface="Times New Roman" panose="02020603050405020304" pitchFamily="18" charset="0"/>
                <a:ea typeface="黑体" panose="02010609060101010101" pitchFamily="49" charset="-122"/>
              </a:rPr>
              <a:t>DNA</a:t>
            </a:r>
            <a:r>
              <a:rPr lang="zh-CN" altLang="en-US" b="0" u="sng" dirty="0">
                <a:solidFill>
                  <a:srgbClr val="0000CC"/>
                </a:solidFill>
                <a:latin typeface="Times New Roman" panose="02020603050405020304" pitchFamily="18" charset="0"/>
                <a:ea typeface="黑体" panose="02010609060101010101" pitchFamily="49" charset="-122"/>
              </a:rPr>
              <a:t>骤然冷却</a:t>
            </a:r>
            <a:r>
              <a:rPr lang="zh-CN" altLang="en-US" b="0" dirty="0">
                <a:solidFill>
                  <a:schemeClr val="tx1"/>
                </a:solidFill>
                <a:latin typeface="Times New Roman" panose="02020603050405020304" pitchFamily="18" charset="0"/>
                <a:ea typeface="黑体" panose="02010609060101010101" pitchFamily="49" charset="-122"/>
              </a:rPr>
              <a:t>至低温时，</a:t>
            </a:r>
            <a:r>
              <a:rPr lang="en-US" altLang="zh-CN" b="0" dirty="0">
                <a:solidFill>
                  <a:schemeClr val="tx1"/>
                </a:solidFill>
                <a:latin typeface="Times New Roman" panose="02020603050405020304" pitchFamily="18" charset="0"/>
                <a:ea typeface="黑体" panose="02010609060101010101" pitchFamily="49" charset="-122"/>
              </a:rPr>
              <a:t>DNA</a:t>
            </a:r>
            <a:r>
              <a:rPr lang="zh-CN" altLang="en-US" b="0" dirty="0">
                <a:solidFill>
                  <a:schemeClr val="tx1"/>
                </a:solidFill>
                <a:latin typeface="Times New Roman" panose="02020603050405020304" pitchFamily="18" charset="0"/>
                <a:ea typeface="黑体" panose="02010609060101010101" pitchFamily="49" charset="-122"/>
              </a:rPr>
              <a:t>不可能复性。</a:t>
            </a:r>
            <a:endParaRPr lang="zh-CN" altLang="en-US" sz="3200" b="0" dirty="0">
              <a:solidFill>
                <a:schemeClr val="tx1"/>
              </a:solidFill>
              <a:latin typeface="Times New Roman" panose="02020603050405020304" pitchFamily="18" charset="0"/>
              <a:ea typeface="黑体" panose="02010609060101010101" pitchFamily="49" charset="-122"/>
            </a:endParaRPr>
          </a:p>
        </p:txBody>
      </p:sp>
      <p:sp>
        <p:nvSpPr>
          <p:cNvPr id="327683" name="Rectangle 5">
            <a:extLst>
              <a:ext uri="{FF2B5EF4-FFF2-40B4-BE49-F238E27FC236}">
                <a16:creationId xmlns:a16="http://schemas.microsoft.com/office/drawing/2014/main" id="{51D82D3A-F3EF-4256-881E-2E2EA9BBFC3F}"/>
              </a:ext>
            </a:extLst>
          </p:cNvPr>
          <p:cNvSpPr>
            <a:spLocks noChangeArrowheads="1"/>
          </p:cNvSpPr>
          <p:nvPr/>
        </p:nvSpPr>
        <p:spPr bwMode="auto">
          <a:xfrm>
            <a:off x="2259435" y="1554367"/>
            <a:ext cx="8517085" cy="1152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720725">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30000"/>
              </a:lnSpc>
              <a:spcBef>
                <a:spcPct val="0"/>
              </a:spcBef>
              <a:buClrTx/>
              <a:buFontTx/>
              <a:buNone/>
            </a:pPr>
            <a:r>
              <a:rPr lang="zh-CN" altLang="en-US" b="0" dirty="0">
                <a:solidFill>
                  <a:schemeClr val="tx1"/>
                </a:solidFill>
                <a:latin typeface="Times New Roman" panose="02020603050405020304" pitchFamily="18" charset="0"/>
                <a:ea typeface="黑体" panose="02010609060101010101" pitchFamily="49" charset="-122"/>
              </a:rPr>
              <a:t>热变性的</a:t>
            </a:r>
            <a:r>
              <a:rPr lang="en-US" altLang="zh-CN" b="0" dirty="0">
                <a:solidFill>
                  <a:schemeClr val="tx1"/>
                </a:solidFill>
                <a:latin typeface="Times New Roman" panose="02020603050405020304" pitchFamily="18" charset="0"/>
                <a:ea typeface="黑体" panose="02010609060101010101" pitchFamily="49" charset="-122"/>
              </a:rPr>
              <a:t>DNA</a:t>
            </a:r>
            <a:r>
              <a:rPr lang="zh-CN" altLang="en-US" b="0" dirty="0">
                <a:solidFill>
                  <a:schemeClr val="tx1"/>
                </a:solidFill>
                <a:latin typeface="Times New Roman" panose="02020603050405020304" pitchFamily="18" charset="0"/>
                <a:ea typeface="黑体" panose="02010609060101010101" pitchFamily="49" charset="-122"/>
              </a:rPr>
              <a:t>经</a:t>
            </a:r>
            <a:r>
              <a:rPr lang="zh-CN" altLang="en-US" b="0" u="sng" dirty="0">
                <a:solidFill>
                  <a:srgbClr val="0000CC"/>
                </a:solidFill>
                <a:latin typeface="Times New Roman" panose="02020603050405020304" pitchFamily="18" charset="0"/>
                <a:ea typeface="黑体" panose="02010609060101010101" pitchFamily="49" charset="-122"/>
              </a:rPr>
              <a:t>缓慢冷却</a:t>
            </a:r>
            <a:r>
              <a:rPr lang="zh-CN" altLang="en-US" b="0" dirty="0">
                <a:solidFill>
                  <a:schemeClr val="tx1"/>
                </a:solidFill>
                <a:latin typeface="Times New Roman" panose="02020603050405020304" pitchFamily="18" charset="0"/>
                <a:ea typeface="黑体" panose="02010609060101010101" pitchFamily="49" charset="-122"/>
              </a:rPr>
              <a:t>后即可复性，这一过程称为</a:t>
            </a:r>
            <a:r>
              <a:rPr lang="zh-CN" altLang="en-US" b="0" dirty="0">
                <a:solidFill>
                  <a:srgbClr val="FF0000"/>
                </a:solidFill>
                <a:latin typeface="Times New Roman" panose="02020603050405020304" pitchFamily="18" charset="0"/>
                <a:ea typeface="黑体" panose="02010609060101010101" pitchFamily="49" charset="-122"/>
              </a:rPr>
              <a:t>退火</a:t>
            </a:r>
            <a:r>
              <a:rPr lang="en-US" altLang="zh-CN" b="0" dirty="0">
                <a:solidFill>
                  <a:srgbClr val="FF0000"/>
                </a:solidFill>
                <a:latin typeface="Times New Roman" panose="02020603050405020304" pitchFamily="18" charset="0"/>
                <a:ea typeface="黑体" panose="02010609060101010101" pitchFamily="49" charset="-122"/>
              </a:rPr>
              <a:t>(annealing) </a:t>
            </a:r>
            <a:r>
              <a:rPr lang="zh-CN" altLang="en-US" b="0" dirty="0">
                <a:solidFill>
                  <a:srgbClr val="FF0000"/>
                </a:solidFill>
                <a:latin typeface="Times New Roman" panose="02020603050405020304" pitchFamily="18" charset="0"/>
                <a:ea typeface="黑体" panose="02010609060101010101" pitchFamily="49" charset="-122"/>
              </a:rPr>
              <a:t>。</a:t>
            </a:r>
          </a:p>
        </p:txBody>
      </p:sp>
      <p:sp>
        <p:nvSpPr>
          <p:cNvPr id="813062" name="Rectangle 6">
            <a:extLst>
              <a:ext uri="{FF2B5EF4-FFF2-40B4-BE49-F238E27FC236}">
                <a16:creationId xmlns:a16="http://schemas.microsoft.com/office/drawing/2014/main" id="{E06B44AD-6121-44DD-918E-64E6793CB2BD}"/>
              </a:ext>
            </a:extLst>
          </p:cNvPr>
          <p:cNvSpPr>
            <a:spLocks noChangeArrowheads="1"/>
          </p:cNvSpPr>
          <p:nvPr/>
        </p:nvSpPr>
        <p:spPr bwMode="auto">
          <a:xfrm>
            <a:off x="4727848" y="4003849"/>
            <a:ext cx="540067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spcBef>
                <a:spcPct val="0"/>
              </a:spcBef>
              <a:buClrTx/>
              <a:buFontTx/>
              <a:buNone/>
            </a:pPr>
            <a:r>
              <a:rPr lang="en-US" altLang="zh-CN" sz="3200" b="0" dirty="0">
                <a:solidFill>
                  <a:srgbClr val="0000CC"/>
                </a:solidFill>
                <a:latin typeface="Times New Roman" panose="02020603050405020304" pitchFamily="18" charset="0"/>
                <a:ea typeface="黑体" panose="02010609060101010101" pitchFamily="49" charset="-122"/>
              </a:rPr>
              <a:t>——</a:t>
            </a:r>
            <a:r>
              <a:rPr lang="zh-CN" altLang="en-US" sz="3200" b="0" dirty="0">
                <a:solidFill>
                  <a:srgbClr val="0000CC"/>
                </a:solidFill>
                <a:latin typeface="Times New Roman" panose="02020603050405020304" pitchFamily="18" charset="0"/>
                <a:ea typeface="黑体" panose="02010609060101010101" pitchFamily="49" charset="-122"/>
              </a:rPr>
              <a:t>实验室制备单链</a:t>
            </a:r>
            <a:r>
              <a:rPr lang="en-US" altLang="zh-CN" sz="3200" b="0" dirty="0">
                <a:solidFill>
                  <a:srgbClr val="0000CC"/>
                </a:solidFill>
                <a:latin typeface="Times New Roman" panose="02020603050405020304" pitchFamily="18" charset="0"/>
                <a:ea typeface="黑体" panose="02010609060101010101" pitchFamily="49" charset="-122"/>
              </a:rPr>
              <a:t>DNA</a:t>
            </a:r>
            <a:r>
              <a:rPr lang="zh-CN" altLang="en-US" sz="3200" b="0" dirty="0">
                <a:solidFill>
                  <a:srgbClr val="0000CC"/>
                </a:solidFill>
                <a:latin typeface="Times New Roman" panose="02020603050405020304" pitchFamily="18" charset="0"/>
                <a:ea typeface="黑体" panose="02010609060101010101" pitchFamily="49" charset="-122"/>
              </a:rPr>
              <a:t>的方法</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13060"/>
                                        </p:tgtEl>
                                        <p:attrNameLst>
                                          <p:attrName>style.visibility</p:attrName>
                                        </p:attrNameLst>
                                      </p:cBhvr>
                                      <p:to>
                                        <p:strVal val="visible"/>
                                      </p:to>
                                    </p:set>
                                    <p:animEffect transition="in" filter="wipe(up)">
                                      <p:cBhvr>
                                        <p:cTn id="7" dur="500"/>
                                        <p:tgtEl>
                                          <p:spTgt spid="8130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3062"/>
                                        </p:tgtEl>
                                        <p:attrNameLst>
                                          <p:attrName>style.visibility</p:attrName>
                                        </p:attrNameLst>
                                      </p:cBhvr>
                                      <p:to>
                                        <p:strVal val="visible"/>
                                      </p:to>
                                    </p:set>
                                    <p:animEffect transition="in" filter="wipe(left)">
                                      <p:cBhvr>
                                        <p:cTn id="12" dur="500"/>
                                        <p:tgtEl>
                                          <p:spTgt spid="813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060" grpId="0" autoUpdateAnimBg="0"/>
      <p:bldP spid="813062"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5">
            <a:extLst>
              <a:ext uri="{FF2B5EF4-FFF2-40B4-BE49-F238E27FC236}">
                <a16:creationId xmlns:a16="http://schemas.microsoft.com/office/drawing/2014/main" id="{26A58F09-FBFE-43D4-A85A-644E07D037D1}"/>
              </a:ext>
            </a:extLst>
          </p:cNvPr>
          <p:cNvSpPr>
            <a:spLocks noChangeArrowheads="1"/>
          </p:cNvSpPr>
          <p:nvPr/>
        </p:nvSpPr>
        <p:spPr bwMode="auto">
          <a:xfrm>
            <a:off x="1361744" y="1275678"/>
            <a:ext cx="9937104" cy="1152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30000"/>
              </a:lnSpc>
              <a:spcBef>
                <a:spcPct val="50000"/>
              </a:spcBef>
              <a:buClrTx/>
              <a:buFontTx/>
              <a:buNone/>
            </a:pPr>
            <a:r>
              <a:rPr kumimoji="0" lang="zh-CN" altLang="en-US" b="0" dirty="0">
                <a:solidFill>
                  <a:srgbClr val="FF0000"/>
                </a:solidFill>
                <a:latin typeface="Times New Roman" panose="02020603050405020304" pitchFamily="18" charset="0"/>
                <a:ea typeface="黑体" panose="02010609060101010101" pitchFamily="49" charset="-122"/>
              </a:rPr>
              <a:t>核酸</a:t>
            </a:r>
            <a:r>
              <a:rPr lang="zh-CN" altLang="en-US" b="0" dirty="0">
                <a:solidFill>
                  <a:srgbClr val="FF0000"/>
                </a:solidFill>
                <a:latin typeface="Times New Roman" panose="02020603050405020304" pitchFamily="18" charset="0"/>
                <a:ea typeface="黑体" panose="02010609060101010101" pitchFamily="49" charset="-122"/>
              </a:rPr>
              <a:t>分子杂交</a:t>
            </a:r>
            <a:r>
              <a:rPr lang="en-US" altLang="zh-CN" b="0" dirty="0">
                <a:solidFill>
                  <a:srgbClr val="FF0000"/>
                </a:solidFill>
                <a:latin typeface="Times New Roman" panose="02020603050405020304" pitchFamily="18" charset="0"/>
                <a:ea typeface="黑体" panose="02010609060101010101" pitchFamily="49" charset="-122"/>
              </a:rPr>
              <a:t>(hybridization):   </a:t>
            </a:r>
            <a:r>
              <a:rPr kumimoji="0" lang="zh-CN" altLang="en-US" b="0" dirty="0">
                <a:solidFill>
                  <a:srgbClr val="111111"/>
                </a:solidFill>
                <a:latin typeface="Times New Roman" panose="02020603050405020304" pitchFamily="18" charset="0"/>
                <a:ea typeface="黑体" panose="02010609060101010101" pitchFamily="49" charset="-122"/>
              </a:rPr>
              <a:t>不同来源</a:t>
            </a:r>
            <a:r>
              <a:rPr lang="zh-CN" altLang="en-US" b="0" dirty="0">
                <a:solidFill>
                  <a:srgbClr val="111111"/>
                </a:solidFill>
                <a:latin typeface="Times New Roman" panose="02020603050405020304" pitchFamily="18" charset="0"/>
                <a:ea typeface="黑体" panose="02010609060101010101" pitchFamily="49" charset="-122"/>
              </a:rPr>
              <a:t>的</a:t>
            </a:r>
            <a:r>
              <a:rPr kumimoji="0" lang="zh-CN" altLang="en-US" b="0" dirty="0">
                <a:solidFill>
                  <a:srgbClr val="111111"/>
                </a:solidFill>
                <a:latin typeface="Times New Roman" panose="02020603050405020304" pitchFamily="18" charset="0"/>
                <a:ea typeface="黑体" panose="02010609060101010101" pitchFamily="49" charset="-122"/>
              </a:rPr>
              <a:t>变性核酸，在复性时依照</a:t>
            </a:r>
            <a:r>
              <a:rPr kumimoji="0" lang="zh-CN" altLang="en-US" b="0" dirty="0">
                <a:solidFill>
                  <a:srgbClr val="0000CC"/>
                </a:solidFill>
                <a:latin typeface="Times New Roman" panose="02020603050405020304" pitchFamily="18" charset="0"/>
                <a:ea typeface="黑体" panose="02010609060101010101" pitchFamily="49" charset="-122"/>
              </a:rPr>
              <a:t>碱基互补配对</a:t>
            </a:r>
            <a:r>
              <a:rPr kumimoji="0" lang="zh-CN" altLang="en-US" b="0" dirty="0">
                <a:solidFill>
                  <a:srgbClr val="111111"/>
                </a:solidFill>
                <a:latin typeface="Times New Roman" panose="02020603050405020304" pitchFamily="18" charset="0"/>
                <a:ea typeface="黑体" panose="02010609060101010101" pitchFamily="49" charset="-122"/>
              </a:rPr>
              <a:t>的原则，形成互补双链的过程。 </a:t>
            </a:r>
            <a:endParaRPr lang="zh-CN" altLang="en-US" b="0" dirty="0">
              <a:solidFill>
                <a:srgbClr val="111111"/>
              </a:solidFill>
              <a:latin typeface="Times New Roman" panose="02020603050405020304" pitchFamily="18" charset="0"/>
              <a:ea typeface="黑体" panose="02010609060101010101" pitchFamily="49" charset="-122"/>
            </a:endParaRPr>
          </a:p>
        </p:txBody>
      </p:sp>
      <p:sp>
        <p:nvSpPr>
          <p:cNvPr id="333827" name="Rectangle 2">
            <a:extLst>
              <a:ext uri="{FF2B5EF4-FFF2-40B4-BE49-F238E27FC236}">
                <a16:creationId xmlns:a16="http://schemas.microsoft.com/office/drawing/2014/main" id="{6F21F1E1-A443-4B64-B7DC-39B27A476EB4}"/>
              </a:ext>
            </a:extLst>
          </p:cNvPr>
          <p:cNvSpPr>
            <a:spLocks noChangeArrowheads="1"/>
          </p:cNvSpPr>
          <p:nvPr/>
        </p:nvSpPr>
        <p:spPr bwMode="auto">
          <a:xfrm>
            <a:off x="3791744" y="404664"/>
            <a:ext cx="8001000" cy="651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10000"/>
              </a:lnSpc>
              <a:spcBef>
                <a:spcPct val="70000"/>
              </a:spcBef>
              <a:buClr>
                <a:schemeClr val="folHlink"/>
              </a:buClr>
              <a:buSzPct val="60000"/>
              <a:buFont typeface="Wingdings" panose="05000000000000000000" pitchFamily="2" charset="2"/>
              <a:buNone/>
            </a:pPr>
            <a:r>
              <a:rPr kumimoji="0" lang="zh-CN" altLang="en-US" sz="3600" b="0" dirty="0">
                <a:latin typeface="Times New Roman" panose="02020603050405020304" pitchFamily="18" charset="0"/>
                <a:ea typeface="黑体" panose="02010609060101010101" pitchFamily="49" charset="-122"/>
              </a:rPr>
              <a:t>核酸变性复性理论的应用</a:t>
            </a:r>
            <a:endParaRPr lang="en-US" altLang="zh-CN" sz="3600" b="0" dirty="0">
              <a:solidFill>
                <a:srgbClr val="FF0000"/>
              </a:solidFill>
              <a:latin typeface="Times New Roman" panose="02020603050405020304" pitchFamily="18" charset="0"/>
              <a:ea typeface="黑体" panose="02010609060101010101" pitchFamily="49" charset="-122"/>
            </a:endParaRPr>
          </a:p>
        </p:txBody>
      </p:sp>
      <p:sp>
        <p:nvSpPr>
          <p:cNvPr id="333828" name="灯片编号占位符 1">
            <a:extLst>
              <a:ext uri="{FF2B5EF4-FFF2-40B4-BE49-F238E27FC236}">
                <a16:creationId xmlns:a16="http://schemas.microsoft.com/office/drawing/2014/main" id="{A6776B71-E39D-4BA4-9259-7AF40CB291E6}"/>
              </a:ext>
            </a:extLst>
          </p:cNvPr>
          <p:cNvSpPr>
            <a:spLocks noGrp="1"/>
          </p:cNvSpPr>
          <p:nvPr>
            <p:ph type="sldNum" sz="quarter" idx="4294967295"/>
          </p:nvPr>
        </p:nvSpPr>
        <p:spPr bwMode="auto">
          <a:xfrm>
            <a:off x="11266488" y="6492875"/>
            <a:ext cx="9255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7AFEDFF6-91C1-439C-A397-F4DD2A478465}" type="slidenum">
              <a:rPr lang="zh-CN" altLang="en-US" sz="1200" b="0">
                <a:solidFill>
                  <a:srgbClr val="898F89"/>
                </a:solidFill>
              </a:rPr>
              <a:pPr>
                <a:spcBef>
                  <a:spcPct val="0"/>
                </a:spcBef>
                <a:buClrTx/>
                <a:buFontTx/>
                <a:buNone/>
              </a:pPr>
              <a:t>129</a:t>
            </a:fld>
            <a:endParaRPr lang="zh-CN" altLang="en-US" sz="1200" b="0">
              <a:solidFill>
                <a:srgbClr val="898F89"/>
              </a:solidFill>
            </a:endParaRPr>
          </a:p>
        </p:txBody>
      </p:sp>
      <p:pic>
        <p:nvPicPr>
          <p:cNvPr id="329730" name="图片 1">
            <a:extLst>
              <a:ext uri="{FF2B5EF4-FFF2-40B4-BE49-F238E27FC236}">
                <a16:creationId xmlns:a16="http://schemas.microsoft.com/office/drawing/2014/main" id="{EB26C58C-F801-4E72-9416-BA88E530A06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1970" y="2647087"/>
            <a:ext cx="4419547" cy="3723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3">
            <a:extLst>
              <a:ext uri="{FF2B5EF4-FFF2-40B4-BE49-F238E27FC236}">
                <a16:creationId xmlns:a16="http://schemas.microsoft.com/office/drawing/2014/main" id="{ED41BE7F-BC7C-469B-8406-7BAEE1089A66}"/>
              </a:ext>
            </a:extLst>
          </p:cNvPr>
          <p:cNvSpPr txBox="1">
            <a:spLocks noChangeArrowheads="1"/>
          </p:cNvSpPr>
          <p:nvPr/>
        </p:nvSpPr>
        <p:spPr bwMode="gray">
          <a:xfrm>
            <a:off x="6097096" y="3660362"/>
            <a:ext cx="5480899" cy="169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v"/>
              <a:defRPr sz="2800" b="1">
                <a:solidFill>
                  <a:srgbClr val="080808"/>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rgbClr val="080808"/>
                </a:solidFill>
                <a:latin typeface="微软雅黑" panose="020B0503020204020204" pitchFamily="34" charset="-122"/>
                <a:ea typeface="微软雅黑" panose="020B0503020204020204" pitchFamily="34" charset="-122"/>
              </a:defRPr>
            </a:lvl2pPr>
            <a:lvl3pPr marL="1143000" indent="-228600" algn="l" rtl="0" eaLnBrk="0" fontAlgn="base" hangingPunct="0">
              <a:spcBef>
                <a:spcPct val="20000"/>
              </a:spcBef>
              <a:spcAft>
                <a:spcPct val="0"/>
              </a:spcAft>
              <a:buClr>
                <a:schemeClr val="tx1"/>
              </a:buClr>
              <a:buChar char="•"/>
              <a:defRPr sz="2400">
                <a:solidFill>
                  <a:srgbClr val="080808"/>
                </a:solidFill>
                <a:latin typeface="微软雅黑" panose="020B0503020204020204" pitchFamily="34" charset="-122"/>
                <a:ea typeface="微软雅黑" panose="020B0503020204020204" pitchFamily="34" charset="-122"/>
              </a:defRPr>
            </a:lvl3pPr>
            <a:lvl4pPr marL="1600200" indent="-228600" algn="l" rtl="0" eaLnBrk="0" fontAlgn="base" hangingPunct="0">
              <a:spcBef>
                <a:spcPct val="20000"/>
              </a:spcBef>
              <a:spcAft>
                <a:spcPct val="0"/>
              </a:spcAft>
              <a:buChar char="–"/>
              <a:defRPr sz="2000">
                <a:solidFill>
                  <a:srgbClr val="080808"/>
                </a:solidFill>
                <a:latin typeface="微软雅黑" panose="020B0503020204020204" pitchFamily="34" charset="-122"/>
                <a:ea typeface="微软雅黑" panose="020B0503020204020204" pitchFamily="34" charset="-122"/>
              </a:defRPr>
            </a:lvl4pPr>
            <a:lvl5pPr marL="2057400" indent="-228600" algn="l" rtl="0" eaLnBrk="0" fontAlgn="base" hangingPunct="0">
              <a:spcBef>
                <a:spcPct val="20000"/>
              </a:spcBef>
              <a:spcAft>
                <a:spcPct val="0"/>
              </a:spcAft>
              <a:buChar char="»"/>
              <a:defRPr sz="2000">
                <a:solidFill>
                  <a:srgbClr val="080808"/>
                </a:solidFill>
                <a:latin typeface="微软雅黑" panose="020B0503020204020204" pitchFamily="34" charset="-122"/>
                <a:ea typeface="微软雅黑" panose="020B0503020204020204" pitchFamily="34"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nSpc>
                <a:spcPct val="120000"/>
              </a:lnSpc>
            </a:pPr>
            <a:r>
              <a:rPr kumimoji="0" lang="zh-CN" altLang="en-US" b="0" kern="0" dirty="0">
                <a:solidFill>
                  <a:srgbClr val="111111"/>
                </a:solidFill>
              </a:rPr>
              <a:t>异源</a:t>
            </a:r>
            <a:r>
              <a:rPr kumimoji="0" lang="en-US" altLang="zh-CN" b="0" kern="0" dirty="0">
                <a:solidFill>
                  <a:srgbClr val="111111"/>
                </a:solidFill>
              </a:rPr>
              <a:t>DNA</a:t>
            </a:r>
            <a:r>
              <a:rPr kumimoji="0" lang="zh-CN" altLang="en-US" b="0" kern="0" dirty="0">
                <a:solidFill>
                  <a:srgbClr val="111111"/>
                </a:solidFill>
              </a:rPr>
              <a:t>分子的</a:t>
            </a:r>
            <a:r>
              <a:rPr kumimoji="0" lang="zh-CN" altLang="en-US" b="0" kern="0" dirty="0">
                <a:solidFill>
                  <a:srgbClr val="0000CC"/>
                </a:solidFill>
              </a:rPr>
              <a:t>同源性</a:t>
            </a:r>
            <a:r>
              <a:rPr kumimoji="0" lang="zh-CN" altLang="en-US" b="0" kern="0" dirty="0">
                <a:solidFill>
                  <a:srgbClr val="111111"/>
                </a:solidFill>
              </a:rPr>
              <a:t>越高（即序列相似性越大），则形成的</a:t>
            </a:r>
            <a:r>
              <a:rPr kumimoji="0" lang="zh-CN" altLang="en-US" b="0" kern="0" dirty="0">
                <a:solidFill>
                  <a:srgbClr val="0000CC"/>
                </a:solidFill>
              </a:rPr>
              <a:t>杂交双链（</a:t>
            </a:r>
            <a:r>
              <a:rPr kumimoji="0" lang="en-US" altLang="zh-CN" b="0" kern="0" dirty="0">
                <a:solidFill>
                  <a:srgbClr val="0000CC"/>
                </a:solidFill>
              </a:rPr>
              <a:t>hybrid)</a:t>
            </a:r>
            <a:r>
              <a:rPr kumimoji="0" lang="zh-CN" altLang="en-US" b="0" kern="0" dirty="0">
                <a:solidFill>
                  <a:srgbClr val="111111"/>
                </a:solidFill>
              </a:rPr>
              <a:t>越多。 </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37922" name="Picture 2">
            <a:extLst>
              <a:ext uri="{FF2B5EF4-FFF2-40B4-BE49-F238E27FC236}">
                <a16:creationId xmlns:a16="http://schemas.microsoft.com/office/drawing/2014/main" id="{B8306889-0C85-4E9A-9D32-EE08987CB8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1464" y="260648"/>
            <a:ext cx="5789613" cy="590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4230" name="Picture 6" descr="list37">
            <a:extLst>
              <a:ext uri="{FF2B5EF4-FFF2-40B4-BE49-F238E27FC236}">
                <a16:creationId xmlns:a16="http://schemas.microsoft.com/office/drawing/2014/main" id="{F9E88E47-876A-4E32-8072-155EE932132D}"/>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448177" y="5085060"/>
            <a:ext cx="388937"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4231" name="Picture 7" descr="list37">
            <a:extLst>
              <a:ext uri="{FF2B5EF4-FFF2-40B4-BE49-F238E27FC236}">
                <a16:creationId xmlns:a16="http://schemas.microsoft.com/office/drawing/2014/main" id="{FF9AF20E-7581-4C26-B543-3765010CF1EA}"/>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216152" y="3716635"/>
            <a:ext cx="388937"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4232" name="Picture 8" descr="list37">
            <a:extLst>
              <a:ext uri="{FF2B5EF4-FFF2-40B4-BE49-F238E27FC236}">
                <a16:creationId xmlns:a16="http://schemas.microsoft.com/office/drawing/2014/main" id="{8562AE21-DAEE-4F79-B5C8-DD5EF3A073CC}"/>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295652" y="3716635"/>
            <a:ext cx="388937"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4233" name="Picture 9" descr="list37">
            <a:extLst>
              <a:ext uri="{FF2B5EF4-FFF2-40B4-BE49-F238E27FC236}">
                <a16:creationId xmlns:a16="http://schemas.microsoft.com/office/drawing/2014/main" id="{164E8D63-8A95-4E9C-A232-E1FA76B59CC9}"/>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609852" y="3657899"/>
            <a:ext cx="38893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4234" name="Picture 10" descr="list37">
            <a:extLst>
              <a:ext uri="{FF2B5EF4-FFF2-40B4-BE49-F238E27FC236}">
                <a16:creationId xmlns:a16="http://schemas.microsoft.com/office/drawing/2014/main" id="{9D1C943C-FFD0-4A9A-82A0-87F983628838}"/>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582988" y="4942185"/>
            <a:ext cx="388938"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4235" name="Picture 11" descr="list37">
            <a:extLst>
              <a:ext uri="{FF2B5EF4-FFF2-40B4-BE49-F238E27FC236}">
                <a16:creationId xmlns:a16="http://schemas.microsoft.com/office/drawing/2014/main" id="{019D95D9-1FA5-4A6B-905C-CDE07EBBE7CA}"/>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057652" y="5029499"/>
            <a:ext cx="38893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4236" name="Picture 12" descr="list37">
            <a:extLst>
              <a:ext uri="{FF2B5EF4-FFF2-40B4-BE49-F238E27FC236}">
                <a16:creationId xmlns:a16="http://schemas.microsoft.com/office/drawing/2014/main" id="{5DE7A46A-5CE4-4739-B5B4-EA805F8854A3}"/>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009652" y="3734099"/>
            <a:ext cx="38893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4238" name="Picture 14" descr="list37">
            <a:extLst>
              <a:ext uri="{FF2B5EF4-FFF2-40B4-BE49-F238E27FC236}">
                <a16:creationId xmlns:a16="http://schemas.microsoft.com/office/drawing/2014/main" id="{3C114CAD-459F-45C7-9049-E029F94CD86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695452" y="3657899"/>
            <a:ext cx="38893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4239" name="Picture 15" descr="list37">
            <a:extLst>
              <a:ext uri="{FF2B5EF4-FFF2-40B4-BE49-F238E27FC236}">
                <a16:creationId xmlns:a16="http://schemas.microsoft.com/office/drawing/2014/main" id="{CCA5E8BA-B401-4706-95D9-74EE3C24F513}"/>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543052" y="5012035"/>
            <a:ext cx="388937"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4240" name="Picture 16" descr="list37">
            <a:extLst>
              <a:ext uri="{FF2B5EF4-FFF2-40B4-BE49-F238E27FC236}">
                <a16:creationId xmlns:a16="http://schemas.microsoft.com/office/drawing/2014/main" id="{1F199EE5-00D3-48B9-B6FD-D92744E457E4}"/>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381252" y="4953299"/>
            <a:ext cx="38893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4241" name="Picture 17" descr="list37">
            <a:extLst>
              <a:ext uri="{FF2B5EF4-FFF2-40B4-BE49-F238E27FC236}">
                <a16:creationId xmlns:a16="http://schemas.microsoft.com/office/drawing/2014/main" id="{377A83B6-07D2-44E1-AF0C-D3D69963870B}"/>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008313" y="5085060"/>
            <a:ext cx="388938"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4242" name="Picture 18" descr="list37">
            <a:extLst>
              <a:ext uri="{FF2B5EF4-FFF2-40B4-BE49-F238E27FC236}">
                <a16:creationId xmlns:a16="http://schemas.microsoft.com/office/drawing/2014/main" id="{F2891955-B91F-426F-9E8B-25DA39813BCE}"/>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016377" y="3788074"/>
            <a:ext cx="38893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标注 2">
            <a:extLst>
              <a:ext uri="{FF2B5EF4-FFF2-40B4-BE49-F238E27FC236}">
                <a16:creationId xmlns:a16="http://schemas.microsoft.com/office/drawing/2014/main" id="{2B67B8D3-7287-4DB4-9A0A-AF978CFED10C}"/>
              </a:ext>
            </a:extLst>
          </p:cNvPr>
          <p:cNvSpPr/>
          <p:nvPr/>
        </p:nvSpPr>
        <p:spPr bwMode="auto">
          <a:xfrm>
            <a:off x="7348539" y="1701800"/>
            <a:ext cx="3835928" cy="3024188"/>
          </a:xfrm>
          <a:prstGeom prst="wedgeRectCallout">
            <a:avLst>
              <a:gd name="adj1" fmla="val -91653"/>
              <a:gd name="adj2" fmla="val 20664"/>
            </a:avLst>
          </a:prstGeom>
          <a:noFill/>
          <a:ln w="9525" cap="flat" cmpd="sng" algn="ctr">
            <a:solidFill>
              <a:schemeClr val="tx1">
                <a:lumMod val="75000"/>
                <a:lumOff val="25000"/>
              </a:schemeClr>
            </a:solidFill>
            <a:prstDash val="solid"/>
            <a:round/>
            <a:headEnd type="none" w="med" len="med"/>
            <a:tailEnd type="none" w="med" len="med"/>
          </a:ln>
          <a:effectLst/>
        </p:spPr>
        <p:txBody>
          <a:bodyPr/>
          <a:lstStyle/>
          <a:p>
            <a:pPr eaLnBrk="1" hangingPunct="1">
              <a:lnSpc>
                <a:spcPct val="130000"/>
              </a:lnSpc>
              <a:defRPr/>
            </a:pPr>
            <a:r>
              <a:rPr lang="zh-CN" altLang="en-US" sz="2800" dirty="0">
                <a:solidFill>
                  <a:srgbClr val="FF0000"/>
                </a:solidFill>
                <a:latin typeface="微软雅黑" panose="020B0503020204020204" pitchFamily="34" charset="-122"/>
                <a:ea typeface="微软雅黑" panose="020B0503020204020204" pitchFamily="34" charset="-122"/>
              </a:rPr>
              <a:t>探针（</a:t>
            </a:r>
            <a:r>
              <a:rPr lang="en-US" altLang="zh-CN" sz="2800" dirty="0">
                <a:solidFill>
                  <a:srgbClr val="FF0000"/>
                </a:solidFill>
                <a:latin typeface="微软雅黑" panose="020B0503020204020204" pitchFamily="34" charset="-122"/>
                <a:ea typeface="微软雅黑" panose="020B0503020204020204" pitchFamily="34" charset="-122"/>
              </a:rPr>
              <a:t>probe</a:t>
            </a:r>
            <a:r>
              <a:rPr lang="zh-CN" altLang="en-US" sz="2800" dirty="0">
                <a:solidFill>
                  <a:srgbClr val="FF0000"/>
                </a:solidFill>
                <a:latin typeface="微软雅黑" panose="020B0503020204020204" pitchFamily="34" charset="-122"/>
                <a:ea typeface="微软雅黑" panose="020B0503020204020204" pitchFamily="34" charset="-122"/>
              </a:rPr>
              <a:t>）：</a:t>
            </a:r>
            <a:endParaRPr lang="en-US" altLang="zh-CN" sz="2800" dirty="0">
              <a:solidFill>
                <a:srgbClr val="FF0000"/>
              </a:solidFill>
              <a:latin typeface="微软雅黑" panose="020B0503020204020204" pitchFamily="34" charset="-122"/>
              <a:ea typeface="微软雅黑" panose="020B0503020204020204" pitchFamily="34" charset="-122"/>
            </a:endParaRPr>
          </a:p>
          <a:p>
            <a:pPr eaLnBrk="1" hangingPunct="1">
              <a:lnSpc>
                <a:spcPct val="130000"/>
              </a:lnSpc>
              <a:defRPr/>
            </a:pPr>
            <a:r>
              <a:rPr lang="zh-CN" altLang="en-US" sz="2800" dirty="0">
                <a:solidFill>
                  <a:srgbClr val="000000"/>
                </a:solidFill>
                <a:latin typeface="微软雅黑" panose="020B0503020204020204" pitchFamily="34" charset="-122"/>
                <a:ea typeface="微软雅黑" panose="020B0503020204020204" pitchFamily="34" charset="-122"/>
              </a:rPr>
              <a:t>能与待测核酸</a:t>
            </a:r>
            <a:r>
              <a:rPr lang="zh-CN" altLang="en-US" sz="2800" dirty="0">
                <a:solidFill>
                  <a:srgbClr val="0000CC"/>
                </a:solidFill>
                <a:latin typeface="微软雅黑" panose="020B0503020204020204" pitchFamily="34" charset="-122"/>
                <a:ea typeface="微软雅黑" panose="020B0503020204020204" pitchFamily="34" charset="-122"/>
              </a:rPr>
              <a:t>互补结合</a:t>
            </a:r>
            <a:r>
              <a:rPr lang="zh-CN" altLang="en-US" sz="2800" dirty="0">
                <a:solidFill>
                  <a:srgbClr val="000000"/>
                </a:solidFill>
                <a:latin typeface="微软雅黑" panose="020B0503020204020204" pitchFamily="34" charset="-122"/>
                <a:ea typeface="微软雅黑" panose="020B0503020204020204" pitchFamily="34" charset="-122"/>
              </a:rPr>
              <a:t>、且</a:t>
            </a:r>
            <a:r>
              <a:rPr lang="zh-CN" altLang="en-US" sz="2800" dirty="0">
                <a:solidFill>
                  <a:srgbClr val="0000CC"/>
                </a:solidFill>
                <a:latin typeface="微软雅黑" panose="020B0503020204020204" pitchFamily="34" charset="-122"/>
                <a:ea typeface="微软雅黑" panose="020B0503020204020204" pitchFamily="34" charset="-122"/>
              </a:rPr>
              <a:t>带有特定标记</a:t>
            </a:r>
            <a:r>
              <a:rPr lang="zh-CN" altLang="en-US" sz="2800" dirty="0">
                <a:solidFill>
                  <a:srgbClr val="000000"/>
                </a:solidFill>
                <a:latin typeface="微软雅黑" panose="020B0503020204020204" pitchFamily="34" charset="-122"/>
                <a:ea typeface="微软雅黑" panose="020B0503020204020204" pitchFamily="34" charset="-122"/>
              </a:rPr>
              <a:t>的</a:t>
            </a:r>
            <a:r>
              <a:rPr lang="zh-CN" altLang="en-US" sz="2800" dirty="0">
                <a:solidFill>
                  <a:srgbClr val="0000CC"/>
                </a:solidFill>
                <a:latin typeface="微软雅黑" panose="020B0503020204020204" pitchFamily="34" charset="-122"/>
                <a:ea typeface="微软雅黑" panose="020B0503020204020204" pitchFamily="34" charset="-122"/>
              </a:rPr>
              <a:t>序列已知</a:t>
            </a:r>
            <a:r>
              <a:rPr lang="zh-CN" altLang="en-US" sz="2800" dirty="0">
                <a:solidFill>
                  <a:srgbClr val="000000"/>
                </a:solidFill>
                <a:latin typeface="微软雅黑" panose="020B0503020204020204" pitchFamily="34" charset="-122"/>
                <a:ea typeface="微软雅黑" panose="020B0503020204020204" pitchFamily="34" charset="-122"/>
              </a:rPr>
              <a:t>的核酸分子。</a:t>
            </a:r>
          </a:p>
        </p:txBody>
      </p:sp>
      <p:sp>
        <p:nvSpPr>
          <p:cNvPr id="337936" name="灯片编号占位符 1">
            <a:extLst>
              <a:ext uri="{FF2B5EF4-FFF2-40B4-BE49-F238E27FC236}">
                <a16:creationId xmlns:a16="http://schemas.microsoft.com/office/drawing/2014/main" id="{C6717CE7-3DF6-44EE-A0B6-86B4DBEAB37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BC7410D3-B4FE-4C22-8EAF-20AEB485F8AB}" type="slidenum">
              <a:rPr lang="zh-CN" altLang="en-US" sz="1200" b="0">
                <a:solidFill>
                  <a:srgbClr val="898F89"/>
                </a:solidFill>
              </a:rPr>
              <a:pPr>
                <a:spcBef>
                  <a:spcPct val="0"/>
                </a:spcBef>
                <a:buClrTx/>
                <a:buFontTx/>
                <a:buNone/>
              </a:pPr>
              <a:t>130</a:t>
            </a:fld>
            <a:endParaRPr lang="zh-CN" altLang="en-US" sz="1200" b="0">
              <a:solidFill>
                <a:srgbClr val="898F8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642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423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42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42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42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423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564239"/>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564240"/>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564241"/>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56423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564235"/>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564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9" name="Rectangle 3">
            <a:extLst>
              <a:ext uri="{FF2B5EF4-FFF2-40B4-BE49-F238E27FC236}">
                <a16:creationId xmlns:a16="http://schemas.microsoft.com/office/drawing/2014/main" id="{5B558EB0-6EF1-4E1F-9ACB-BB624CAF39E0}"/>
              </a:ext>
            </a:extLst>
          </p:cNvPr>
          <p:cNvSpPr>
            <a:spLocks noGrp="1" noChangeArrowheads="1"/>
          </p:cNvSpPr>
          <p:nvPr>
            <p:ph type="body" idx="1"/>
          </p:nvPr>
        </p:nvSpPr>
        <p:spPr>
          <a:xfrm>
            <a:off x="2855913" y="1268414"/>
            <a:ext cx="6553200" cy="4752975"/>
          </a:xfrm>
        </p:spPr>
        <p:txBody>
          <a:bodyPr/>
          <a:lstStyle/>
          <a:p>
            <a:pPr eaLnBrk="1" hangingPunct="1">
              <a:lnSpc>
                <a:spcPct val="150000"/>
              </a:lnSpc>
              <a:buClr>
                <a:srgbClr val="0000CC"/>
              </a:buClr>
            </a:pPr>
            <a:r>
              <a:rPr lang="en-US" altLang="zh-CN" b="0">
                <a:solidFill>
                  <a:srgbClr val="C00000"/>
                </a:solidFill>
                <a:latin typeface="Times New Roman" panose="02020603050405020304" pitchFamily="18" charset="0"/>
              </a:rPr>
              <a:t>Southern </a:t>
            </a:r>
            <a:r>
              <a:rPr lang="zh-CN" altLang="en-US" b="0">
                <a:solidFill>
                  <a:srgbClr val="C00000"/>
                </a:solidFill>
                <a:latin typeface="Times New Roman" panose="02020603050405020304" pitchFamily="18" charset="0"/>
              </a:rPr>
              <a:t>杂交</a:t>
            </a:r>
            <a:r>
              <a:rPr lang="zh-CN" altLang="en-US" b="0">
                <a:solidFill>
                  <a:schemeClr val="tx1"/>
                </a:solidFill>
                <a:latin typeface="Times New Roman" panose="02020603050405020304" pitchFamily="18" charset="0"/>
              </a:rPr>
              <a:t>（</a:t>
            </a:r>
            <a:r>
              <a:rPr lang="en-US" altLang="zh-CN" b="0">
                <a:solidFill>
                  <a:schemeClr val="tx1"/>
                </a:solidFill>
                <a:latin typeface="Times New Roman" panose="02020603050405020304" pitchFamily="18" charset="0"/>
              </a:rPr>
              <a:t>Southern blotting</a:t>
            </a:r>
            <a:r>
              <a:rPr lang="zh-CN" altLang="en-US" b="0">
                <a:solidFill>
                  <a:schemeClr val="tx1"/>
                </a:solidFill>
                <a:latin typeface="Times New Roman" panose="02020603050405020304" pitchFamily="18" charset="0"/>
              </a:rPr>
              <a:t>）</a:t>
            </a:r>
            <a:endParaRPr lang="en-US" altLang="zh-CN" b="0">
              <a:solidFill>
                <a:schemeClr val="tx1"/>
              </a:solidFill>
              <a:latin typeface="Times New Roman" panose="02020603050405020304" pitchFamily="18" charset="0"/>
            </a:endParaRPr>
          </a:p>
          <a:p>
            <a:pPr lvl="1" eaLnBrk="1" hangingPunct="1">
              <a:lnSpc>
                <a:spcPct val="150000"/>
              </a:lnSpc>
              <a:buClr>
                <a:srgbClr val="0000CC"/>
              </a:buClr>
            </a:pPr>
            <a:r>
              <a:rPr lang="zh-CN" altLang="en-US">
                <a:latin typeface="Times New Roman" panose="02020603050405020304" pitchFamily="18" charset="0"/>
              </a:rPr>
              <a:t>即</a:t>
            </a:r>
            <a:r>
              <a:rPr lang="en-US" altLang="zh-CN">
                <a:latin typeface="Times New Roman" panose="02020603050405020304" pitchFamily="18" charset="0"/>
              </a:rPr>
              <a:t>DNA blotting </a:t>
            </a:r>
          </a:p>
          <a:p>
            <a:pPr lvl="1" eaLnBrk="1" hangingPunct="1">
              <a:lnSpc>
                <a:spcPct val="150000"/>
              </a:lnSpc>
              <a:buClr>
                <a:srgbClr val="0000CC"/>
              </a:buClr>
            </a:pPr>
            <a:r>
              <a:rPr lang="zh-CN" altLang="en-US">
                <a:solidFill>
                  <a:srgbClr val="0000CC"/>
                </a:solidFill>
                <a:latin typeface="Times New Roman" panose="02020603050405020304" pitchFamily="18" charset="0"/>
              </a:rPr>
              <a:t>对</a:t>
            </a:r>
            <a:r>
              <a:rPr lang="en-US" altLang="zh-CN">
                <a:solidFill>
                  <a:srgbClr val="FF0000"/>
                </a:solidFill>
                <a:latin typeface="Times New Roman" panose="02020603050405020304" pitchFamily="18" charset="0"/>
              </a:rPr>
              <a:t>DNA</a:t>
            </a:r>
            <a:r>
              <a:rPr lang="zh-CN" altLang="en-US">
                <a:solidFill>
                  <a:srgbClr val="0000CC"/>
                </a:solidFill>
                <a:latin typeface="Times New Roman" panose="02020603050405020304" pitchFamily="18" charset="0"/>
              </a:rPr>
              <a:t>定性及定量</a:t>
            </a:r>
          </a:p>
          <a:p>
            <a:pPr eaLnBrk="1" hangingPunct="1">
              <a:lnSpc>
                <a:spcPct val="150000"/>
              </a:lnSpc>
              <a:buClr>
                <a:srgbClr val="0000CC"/>
              </a:buClr>
            </a:pPr>
            <a:r>
              <a:rPr lang="en-US" altLang="zh-CN" b="0">
                <a:solidFill>
                  <a:srgbClr val="C00000"/>
                </a:solidFill>
                <a:latin typeface="Times New Roman" panose="02020603050405020304" pitchFamily="18" charset="0"/>
              </a:rPr>
              <a:t>Northern </a:t>
            </a:r>
            <a:r>
              <a:rPr lang="zh-CN" altLang="en-US" b="0">
                <a:solidFill>
                  <a:srgbClr val="C00000"/>
                </a:solidFill>
                <a:latin typeface="Times New Roman" panose="02020603050405020304" pitchFamily="18" charset="0"/>
              </a:rPr>
              <a:t>杂交</a:t>
            </a:r>
            <a:r>
              <a:rPr lang="zh-CN" altLang="en-US" b="0">
                <a:solidFill>
                  <a:schemeClr val="tx1"/>
                </a:solidFill>
                <a:latin typeface="Times New Roman" panose="02020603050405020304" pitchFamily="18" charset="0"/>
              </a:rPr>
              <a:t>（</a:t>
            </a:r>
            <a:r>
              <a:rPr lang="en-US" altLang="zh-CN" b="0">
                <a:solidFill>
                  <a:schemeClr val="tx1"/>
                </a:solidFill>
                <a:latin typeface="Times New Roman" panose="02020603050405020304" pitchFamily="18" charset="0"/>
              </a:rPr>
              <a:t>Northern blotting</a:t>
            </a:r>
            <a:r>
              <a:rPr lang="zh-CN" altLang="en-US" b="0">
                <a:solidFill>
                  <a:schemeClr val="tx1"/>
                </a:solidFill>
                <a:latin typeface="Times New Roman" panose="02020603050405020304" pitchFamily="18" charset="0"/>
              </a:rPr>
              <a:t>）</a:t>
            </a:r>
            <a:endParaRPr lang="en-US" altLang="zh-CN" b="0">
              <a:solidFill>
                <a:schemeClr val="tx1"/>
              </a:solidFill>
              <a:latin typeface="Times New Roman" panose="02020603050405020304" pitchFamily="18" charset="0"/>
            </a:endParaRPr>
          </a:p>
          <a:p>
            <a:pPr lvl="1" eaLnBrk="1" hangingPunct="1">
              <a:lnSpc>
                <a:spcPct val="150000"/>
              </a:lnSpc>
              <a:buClr>
                <a:srgbClr val="0000CC"/>
              </a:buClr>
            </a:pPr>
            <a:r>
              <a:rPr lang="zh-CN" altLang="en-US">
                <a:latin typeface="Times New Roman" panose="02020603050405020304" pitchFamily="18" charset="0"/>
              </a:rPr>
              <a:t>即</a:t>
            </a:r>
            <a:r>
              <a:rPr lang="en-US" altLang="zh-CN">
                <a:latin typeface="Times New Roman" panose="02020603050405020304" pitchFamily="18" charset="0"/>
              </a:rPr>
              <a:t>RNA blotting</a:t>
            </a:r>
          </a:p>
          <a:p>
            <a:pPr lvl="1" eaLnBrk="1" hangingPunct="1">
              <a:lnSpc>
                <a:spcPct val="150000"/>
              </a:lnSpc>
              <a:buClr>
                <a:srgbClr val="0000CC"/>
              </a:buClr>
            </a:pPr>
            <a:r>
              <a:rPr lang="zh-CN" altLang="en-US">
                <a:solidFill>
                  <a:srgbClr val="0000CC"/>
                </a:solidFill>
                <a:latin typeface="Times New Roman" panose="02020603050405020304" pitchFamily="18" charset="0"/>
              </a:rPr>
              <a:t>对</a:t>
            </a:r>
            <a:r>
              <a:rPr lang="en-US" altLang="zh-CN">
                <a:solidFill>
                  <a:srgbClr val="FF0000"/>
                </a:solidFill>
                <a:latin typeface="Times New Roman" panose="02020603050405020304" pitchFamily="18" charset="0"/>
              </a:rPr>
              <a:t>RNA</a:t>
            </a:r>
            <a:r>
              <a:rPr lang="zh-CN" altLang="en-US">
                <a:solidFill>
                  <a:srgbClr val="0000CC"/>
                </a:solidFill>
                <a:latin typeface="Times New Roman" panose="02020603050405020304" pitchFamily="18" charset="0"/>
              </a:rPr>
              <a:t>定性及定量</a:t>
            </a:r>
          </a:p>
        </p:txBody>
      </p:sp>
      <p:sp>
        <p:nvSpPr>
          <p:cNvPr id="339971" name="Text Box 4">
            <a:extLst>
              <a:ext uri="{FF2B5EF4-FFF2-40B4-BE49-F238E27FC236}">
                <a16:creationId xmlns:a16="http://schemas.microsoft.com/office/drawing/2014/main" id="{1753D366-526B-4267-A170-6BD522EFA6B6}"/>
              </a:ext>
            </a:extLst>
          </p:cNvPr>
          <p:cNvSpPr txBox="1">
            <a:spLocks noChangeArrowheads="1"/>
          </p:cNvSpPr>
          <p:nvPr/>
        </p:nvSpPr>
        <p:spPr bwMode="auto">
          <a:xfrm>
            <a:off x="3648076" y="115888"/>
            <a:ext cx="4608513"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a:solidFill>
                  <a:srgbClr val="0000CC"/>
                </a:solidFill>
                <a:latin typeface="Times New Roman" panose="02020603050405020304" pitchFamily="18" charset="0"/>
                <a:ea typeface="黑体" panose="02010609060101010101" pitchFamily="49" charset="-122"/>
              </a:rPr>
              <a:t>常见核酸分子杂交</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25699">
                                            <p:txEl>
                                              <p:pRg st="1" end="1"/>
                                            </p:txEl>
                                          </p:spTgt>
                                        </p:tgtEl>
                                        <p:attrNameLst>
                                          <p:attrName>style.visibility</p:attrName>
                                        </p:attrNameLst>
                                      </p:cBhvr>
                                      <p:to>
                                        <p:strVal val="visible"/>
                                      </p:to>
                                    </p:set>
                                    <p:animEffect transition="in" filter="dissolve">
                                      <p:cBhvr>
                                        <p:cTn id="7" dur="500"/>
                                        <p:tgtEl>
                                          <p:spTgt spid="925699">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925699">
                                            <p:txEl>
                                              <p:pRg st="2" end="2"/>
                                            </p:txEl>
                                          </p:spTgt>
                                        </p:tgtEl>
                                        <p:attrNameLst>
                                          <p:attrName>style.visibility</p:attrName>
                                        </p:attrNameLst>
                                      </p:cBhvr>
                                      <p:to>
                                        <p:strVal val="visible"/>
                                      </p:to>
                                    </p:set>
                                    <p:animEffect transition="in" filter="dissolve">
                                      <p:cBhvr>
                                        <p:cTn id="10" dur="500"/>
                                        <p:tgtEl>
                                          <p:spTgt spid="925699">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925699">
                                            <p:txEl>
                                              <p:pRg st="4" end="4"/>
                                            </p:txEl>
                                          </p:spTgt>
                                        </p:tgtEl>
                                        <p:attrNameLst>
                                          <p:attrName>style.visibility</p:attrName>
                                        </p:attrNameLst>
                                      </p:cBhvr>
                                      <p:to>
                                        <p:strVal val="visible"/>
                                      </p:to>
                                    </p:set>
                                    <p:animEffect transition="in" filter="dissolve">
                                      <p:cBhvr>
                                        <p:cTn id="15" dur="500"/>
                                        <p:tgtEl>
                                          <p:spTgt spid="925699">
                                            <p:txEl>
                                              <p:pRg st="4" end="4"/>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925699">
                                            <p:txEl>
                                              <p:pRg st="5" end="5"/>
                                            </p:txEl>
                                          </p:spTgt>
                                        </p:tgtEl>
                                        <p:attrNameLst>
                                          <p:attrName>style.visibility</p:attrName>
                                        </p:attrNameLst>
                                      </p:cBhvr>
                                      <p:to>
                                        <p:strVal val="visible"/>
                                      </p:to>
                                    </p:set>
                                    <p:animEffect transition="in" filter="dissolve">
                                      <p:cBhvr>
                                        <p:cTn id="18" dur="500"/>
                                        <p:tgtEl>
                                          <p:spTgt spid="9256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42018" name="图片 1">
            <a:extLst>
              <a:ext uri="{FF2B5EF4-FFF2-40B4-BE49-F238E27FC236}">
                <a16:creationId xmlns:a16="http://schemas.microsoft.com/office/drawing/2014/main" id="{B54AD6DC-BAF0-4BFD-951A-DD4E0DC0B2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6075" y="0"/>
            <a:ext cx="64198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2019" name="灯片编号占位符 1">
            <a:extLst>
              <a:ext uri="{FF2B5EF4-FFF2-40B4-BE49-F238E27FC236}">
                <a16:creationId xmlns:a16="http://schemas.microsoft.com/office/drawing/2014/main" id="{E28BC6A8-7946-47EC-93EE-E2E1B32FB032}"/>
              </a:ext>
            </a:extLst>
          </p:cNvPr>
          <p:cNvSpPr>
            <a:spLocks noGrp="1"/>
          </p:cNvSpPr>
          <p:nvPr>
            <p:ph type="sldNum" sz="quarter" idx="4"/>
          </p:nvPr>
        </p:nvSpPr>
        <p:spPr bwMode="auto">
          <a:xfrm>
            <a:off x="9974264" y="6492876"/>
            <a:ext cx="6937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l" eaLnBrk="0" hangingPunct="0">
              <a:spcBef>
                <a:spcPct val="0"/>
              </a:spcBef>
              <a:buClrTx/>
              <a:buFontTx/>
              <a:buNone/>
            </a:pPr>
            <a:fld id="{D40624FF-60EB-4C24-8639-C777FA8BD5E6}" type="slidenum">
              <a:rPr lang="zh-CN" altLang="en-US" sz="1200" b="0">
                <a:solidFill>
                  <a:srgbClr val="898F89"/>
                </a:solidFill>
              </a:rPr>
              <a:pPr algn="l" eaLnBrk="0" hangingPunct="0">
                <a:spcBef>
                  <a:spcPct val="0"/>
                </a:spcBef>
                <a:buClrTx/>
                <a:buFontTx/>
                <a:buNone/>
              </a:pPr>
              <a:t>132</a:t>
            </a:fld>
            <a:endParaRPr lang="zh-CN" altLang="en-US" sz="1200" b="0">
              <a:solidFill>
                <a:srgbClr val="898F89"/>
              </a:solidFill>
            </a:endParaRPr>
          </a:p>
        </p:txBody>
      </p:sp>
    </p:spTree>
  </p:cSld>
  <p:clrMapOvr>
    <a:masterClrMapping/>
  </p:clrMapOvr>
  <p:transition spd="slow">
    <p:circle/>
  </p:transition>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4066" name="Rectangle 1028">
            <a:extLst>
              <a:ext uri="{FF2B5EF4-FFF2-40B4-BE49-F238E27FC236}">
                <a16:creationId xmlns:a16="http://schemas.microsoft.com/office/drawing/2014/main" id="{EC62292C-4BAC-400D-8FAE-246C24E9B04B}"/>
              </a:ext>
            </a:extLst>
          </p:cNvPr>
          <p:cNvSpPr>
            <a:spLocks noChangeArrowheads="1"/>
          </p:cNvSpPr>
          <p:nvPr/>
        </p:nvSpPr>
        <p:spPr bwMode="auto">
          <a:xfrm>
            <a:off x="2351088" y="1268413"/>
            <a:ext cx="7777162"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85725">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lvl="1" eaLnBrk="1" hangingPunct="1">
              <a:lnSpc>
                <a:spcPct val="150000"/>
              </a:lnSpc>
              <a:spcBef>
                <a:spcPct val="0"/>
              </a:spcBef>
              <a:buClr>
                <a:srgbClr val="CC0099"/>
              </a:buClr>
              <a:buFont typeface="Wingdings" panose="05000000000000000000" pitchFamily="2" charset="2"/>
              <a:buChar char="u"/>
            </a:pPr>
            <a:r>
              <a:rPr lang="zh-CN" altLang="en-US">
                <a:solidFill>
                  <a:srgbClr val="000000"/>
                </a:solidFill>
                <a:latin typeface="Times New Roman" panose="02020603050405020304" pitchFamily="18" charset="0"/>
                <a:ea typeface="黑体" panose="02010609060101010101" pitchFamily="49" charset="-122"/>
              </a:rPr>
              <a:t>研究</a:t>
            </a:r>
            <a:r>
              <a:rPr lang="en-US" altLang="zh-CN">
                <a:solidFill>
                  <a:srgbClr val="000000"/>
                </a:solidFill>
                <a:latin typeface="Times New Roman" panose="02020603050405020304" pitchFamily="18" charset="0"/>
                <a:ea typeface="黑体" panose="02010609060101010101" pitchFamily="49" charset="-122"/>
              </a:rPr>
              <a:t>DNA</a:t>
            </a:r>
            <a:r>
              <a:rPr lang="zh-CN" altLang="en-US">
                <a:solidFill>
                  <a:srgbClr val="000000"/>
                </a:solidFill>
                <a:latin typeface="Times New Roman" panose="02020603050405020304" pitchFamily="18" charset="0"/>
                <a:ea typeface="黑体" panose="02010609060101010101" pitchFamily="49" charset="-122"/>
              </a:rPr>
              <a:t>分子中特异基因的定位及检测</a:t>
            </a:r>
          </a:p>
          <a:p>
            <a:pPr lvl="1" eaLnBrk="1" hangingPunct="1">
              <a:lnSpc>
                <a:spcPct val="150000"/>
              </a:lnSpc>
              <a:spcBef>
                <a:spcPct val="0"/>
              </a:spcBef>
              <a:buClr>
                <a:srgbClr val="CC0099"/>
              </a:buClr>
              <a:buFont typeface="Wingdings" panose="05000000000000000000" pitchFamily="2" charset="2"/>
              <a:buChar char="u"/>
            </a:pPr>
            <a:r>
              <a:rPr lang="zh-CN" altLang="en-US">
                <a:solidFill>
                  <a:srgbClr val="000000"/>
                </a:solidFill>
                <a:latin typeface="Times New Roman" panose="02020603050405020304" pitchFamily="18" charset="0"/>
                <a:ea typeface="黑体" panose="02010609060101010101" pitchFamily="49" charset="-122"/>
              </a:rPr>
              <a:t>确定两种核酸分子间的序列相似性</a:t>
            </a:r>
          </a:p>
          <a:p>
            <a:pPr lvl="1" eaLnBrk="1" hangingPunct="1">
              <a:lnSpc>
                <a:spcPct val="150000"/>
              </a:lnSpc>
              <a:spcBef>
                <a:spcPct val="0"/>
              </a:spcBef>
              <a:buClr>
                <a:srgbClr val="CC0099"/>
              </a:buClr>
              <a:buFont typeface="Wingdings" panose="05000000000000000000" pitchFamily="2" charset="2"/>
              <a:buChar char="u"/>
            </a:pPr>
            <a:r>
              <a:rPr lang="zh-CN" altLang="en-US">
                <a:solidFill>
                  <a:srgbClr val="000000"/>
                </a:solidFill>
                <a:latin typeface="Times New Roman" panose="02020603050405020304" pitchFamily="18" charset="0"/>
                <a:ea typeface="黑体" panose="02010609060101010101" pitchFamily="49" charset="-122"/>
              </a:rPr>
              <a:t>检测某些专一序列在待检样品中存在与否</a:t>
            </a:r>
          </a:p>
          <a:p>
            <a:pPr lvl="1" eaLnBrk="1" hangingPunct="1">
              <a:lnSpc>
                <a:spcPct val="150000"/>
              </a:lnSpc>
              <a:spcBef>
                <a:spcPct val="0"/>
              </a:spcBef>
              <a:buClr>
                <a:srgbClr val="CC0099"/>
              </a:buClr>
              <a:buFont typeface="Wingdings" panose="05000000000000000000" pitchFamily="2" charset="2"/>
              <a:buChar char="u"/>
            </a:pPr>
            <a:r>
              <a:rPr lang="zh-CN" altLang="en-US">
                <a:solidFill>
                  <a:srgbClr val="000000"/>
                </a:solidFill>
                <a:latin typeface="Times New Roman" panose="02020603050405020304" pitchFamily="18" charset="0"/>
                <a:ea typeface="黑体" panose="02010609060101010101" pitchFamily="49" charset="-122"/>
              </a:rPr>
              <a:t>基因芯片技术的基础 </a:t>
            </a:r>
            <a:endParaRPr kumimoji="0" lang="zh-CN" altLang="en-US">
              <a:solidFill>
                <a:schemeClr val="tx1"/>
              </a:solidFill>
              <a:latin typeface="Times New Roman" panose="02020603050405020304" pitchFamily="18" charset="0"/>
              <a:ea typeface="黑体" panose="02010609060101010101" pitchFamily="49" charset="-122"/>
            </a:endParaRPr>
          </a:p>
        </p:txBody>
      </p:sp>
      <p:sp>
        <p:nvSpPr>
          <p:cNvPr id="344067" name="Rectangle 1029">
            <a:extLst>
              <a:ext uri="{FF2B5EF4-FFF2-40B4-BE49-F238E27FC236}">
                <a16:creationId xmlns:a16="http://schemas.microsoft.com/office/drawing/2014/main" id="{40B623CD-092A-4F32-AFA1-01CC7B2A9C41}"/>
              </a:ext>
            </a:extLst>
          </p:cNvPr>
          <p:cNvSpPr>
            <a:spLocks noChangeArrowheads="1"/>
          </p:cNvSpPr>
          <p:nvPr/>
        </p:nvSpPr>
        <p:spPr bwMode="auto">
          <a:xfrm>
            <a:off x="3848101" y="7939"/>
            <a:ext cx="4352925" cy="735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a:solidFill>
                  <a:srgbClr val="0000CC"/>
                </a:solidFill>
                <a:latin typeface="Times New Roman" panose="02020603050405020304" pitchFamily="18" charset="0"/>
                <a:ea typeface="黑体" panose="02010609060101010101" pitchFamily="49" charset="-122"/>
              </a:rPr>
              <a:t>核酸分子杂交的应用</a:t>
            </a:r>
          </a:p>
        </p:txBody>
      </p:sp>
      <p:pic>
        <p:nvPicPr>
          <p:cNvPr id="500742" name="Picture 1030" descr="芯片1">
            <a:extLst>
              <a:ext uri="{FF2B5EF4-FFF2-40B4-BE49-F238E27FC236}">
                <a16:creationId xmlns:a16="http://schemas.microsoft.com/office/drawing/2014/main" id="{D4AA11D3-A77B-483E-A02D-D06BCB70E8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163" y="4076700"/>
            <a:ext cx="2590800"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4069" name="Picture 1033" descr="原位杂交图片">
            <a:extLst>
              <a:ext uri="{FF2B5EF4-FFF2-40B4-BE49-F238E27FC236}">
                <a16:creationId xmlns:a16="http://schemas.microsoft.com/office/drawing/2014/main" id="{D8D06185-A88A-4EE1-A6DE-FBAC0C4244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351" y="4079876"/>
            <a:ext cx="3097213"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4070" name="灯片编号占位符 1">
            <a:extLst>
              <a:ext uri="{FF2B5EF4-FFF2-40B4-BE49-F238E27FC236}">
                <a16:creationId xmlns:a16="http://schemas.microsoft.com/office/drawing/2014/main" id="{5D6B1A77-B0E5-4692-97AB-229918A5790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F25CF4D8-3E4A-41A4-AA00-FCA8694CB657}" type="slidenum">
              <a:rPr lang="zh-CN" altLang="en-US" sz="1200" b="0">
                <a:solidFill>
                  <a:srgbClr val="898F89"/>
                </a:solidFill>
              </a:rPr>
              <a:pPr>
                <a:spcBef>
                  <a:spcPct val="0"/>
                </a:spcBef>
                <a:buClrTx/>
                <a:buFontTx/>
                <a:buNone/>
              </a:pPr>
              <a:t>133</a:t>
            </a:fld>
            <a:endParaRPr lang="zh-CN" altLang="en-US" sz="1200" b="0">
              <a:solidFill>
                <a:srgbClr val="898F8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00742"/>
                                        </p:tgtEl>
                                        <p:attrNameLst>
                                          <p:attrName>style.visibility</p:attrName>
                                        </p:attrNameLst>
                                      </p:cBhvr>
                                      <p:to>
                                        <p:strVal val="visible"/>
                                      </p:to>
                                    </p:set>
                                    <p:animEffect transition="in" filter="blinds(horizontal)">
                                      <p:cBhvr>
                                        <p:cTn id="7" dur="500"/>
                                        <p:tgtEl>
                                          <p:spTgt spid="500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Text Box 2">
            <a:extLst>
              <a:ext uri="{FF2B5EF4-FFF2-40B4-BE49-F238E27FC236}">
                <a16:creationId xmlns:a16="http://schemas.microsoft.com/office/drawing/2014/main" id="{B8689FB9-3D42-48B5-8C73-74DE2DDA6DE8}"/>
              </a:ext>
            </a:extLst>
          </p:cNvPr>
          <p:cNvSpPr txBox="1">
            <a:spLocks noChangeArrowheads="1"/>
          </p:cNvSpPr>
          <p:nvPr/>
        </p:nvSpPr>
        <p:spPr bwMode="auto">
          <a:xfrm>
            <a:off x="1992313" y="1196975"/>
            <a:ext cx="8424862" cy="5170488"/>
          </a:xfrm>
          <a:prstGeom prst="rect">
            <a:avLst/>
          </a:prstGeom>
          <a:solidFill>
            <a:schemeClr val="bg1"/>
          </a:solidFill>
          <a:ln>
            <a:noFill/>
          </a:ln>
        </p:spPr>
        <p:txBody>
          <a:bodyPr>
            <a:spAutoFit/>
          </a:bodyPr>
          <a:lstStyle>
            <a:lvl1pPr>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indent="-277813">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ClrTx/>
              <a:buFont typeface="Wingdings" panose="05000000000000000000" pitchFamily="2" charset="2"/>
              <a:buNone/>
              <a:defRPr/>
            </a:pPr>
            <a:r>
              <a:rPr kumimoji="0" lang="en-US" altLang="zh-CN" sz="2400" b="0" dirty="0">
                <a:solidFill>
                  <a:srgbClr val="FF0000"/>
                </a:solidFill>
                <a:latin typeface="Times New Roman" panose="02020603050405020304" pitchFamily="18" charset="0"/>
                <a:ea typeface="黑体" panose="02010609060101010101" pitchFamily="49" charset="-122"/>
              </a:rPr>
              <a:t>1</a:t>
            </a:r>
            <a:r>
              <a:rPr kumimoji="0" lang="zh-CN" altLang="en-US" sz="2400" b="0" dirty="0">
                <a:solidFill>
                  <a:srgbClr val="FF0000"/>
                </a:solidFill>
                <a:latin typeface="Times New Roman" panose="02020603050405020304" pitchFamily="18" charset="0"/>
                <a:ea typeface="黑体" panose="02010609060101010101" pitchFamily="49" charset="-122"/>
              </a:rPr>
              <a:t>、重要概念：</a:t>
            </a:r>
            <a:r>
              <a:rPr lang="en-US" altLang="zh-CN" sz="2000" b="0" dirty="0">
                <a:solidFill>
                  <a:schemeClr val="tx1"/>
                </a:solidFill>
                <a:latin typeface="Times New Roman" panose="02020603050405020304" pitchFamily="18" charset="0"/>
                <a:ea typeface="黑体" panose="02010609060101010101" pitchFamily="49" charset="-122"/>
              </a:rPr>
              <a:t>DNA </a:t>
            </a:r>
            <a:r>
              <a:rPr lang="zh-CN" altLang="en-US" sz="2000" b="0" dirty="0">
                <a:solidFill>
                  <a:schemeClr val="tx1"/>
                </a:solidFill>
                <a:latin typeface="Times New Roman" panose="02020603050405020304" pitchFamily="18" charset="0"/>
                <a:ea typeface="黑体" panose="02010609060101010101" pitchFamily="49" charset="-122"/>
              </a:rPr>
              <a:t>变性；</a:t>
            </a:r>
            <a:r>
              <a:rPr lang="en-US" altLang="zh-CN" sz="2000" b="0" dirty="0">
                <a:solidFill>
                  <a:schemeClr val="tx1"/>
                </a:solidFill>
                <a:latin typeface="Times New Roman" panose="02020603050405020304" pitchFamily="18" charset="0"/>
                <a:ea typeface="黑体" panose="02010609060101010101" pitchFamily="49" charset="-122"/>
              </a:rPr>
              <a:t>ORF</a:t>
            </a:r>
            <a:r>
              <a:rPr lang="zh-CN" altLang="en-US" sz="2000" b="0" dirty="0">
                <a:solidFill>
                  <a:schemeClr val="tx1"/>
                </a:solidFill>
                <a:latin typeface="Times New Roman" panose="02020603050405020304" pitchFamily="18" charset="0"/>
                <a:ea typeface="黑体" panose="02010609060101010101" pitchFamily="49" charset="-122"/>
              </a:rPr>
              <a:t>；</a:t>
            </a:r>
            <a:r>
              <a:rPr lang="en-US" altLang="zh-CN" sz="2000" b="0" dirty="0">
                <a:solidFill>
                  <a:schemeClr val="tx1"/>
                </a:solidFill>
                <a:latin typeface="Times New Roman" panose="02020603050405020304" pitchFamily="18" charset="0"/>
                <a:ea typeface="黑体" panose="02010609060101010101" pitchFamily="49" charset="-122"/>
              </a:rPr>
              <a:t>ribozyme</a:t>
            </a:r>
            <a:r>
              <a:rPr lang="zh-CN" altLang="en-US" sz="2000" b="0" dirty="0">
                <a:solidFill>
                  <a:schemeClr val="tx1"/>
                </a:solidFill>
                <a:latin typeface="Times New Roman" panose="02020603050405020304" pitchFamily="18" charset="0"/>
                <a:ea typeface="黑体" panose="02010609060101010101" pitchFamily="49" charset="-122"/>
              </a:rPr>
              <a:t>； </a:t>
            </a:r>
            <a:r>
              <a:rPr lang="en-US" altLang="zh-CN" sz="2000" b="0" dirty="0">
                <a:solidFill>
                  <a:schemeClr val="tx1"/>
                </a:solidFill>
                <a:latin typeface="Times New Roman" panose="02020603050405020304" pitchFamily="18" charset="0"/>
                <a:ea typeface="黑体" panose="02010609060101010101" pitchFamily="49" charset="-122"/>
              </a:rPr>
              <a:t>siRNA;   RNAi</a:t>
            </a:r>
            <a:r>
              <a:rPr lang="zh-CN" altLang="en-US" sz="2000" b="0" dirty="0">
                <a:solidFill>
                  <a:schemeClr val="tx1"/>
                </a:solidFill>
                <a:latin typeface="Times New Roman" panose="02020603050405020304" pitchFamily="18" charset="0"/>
                <a:ea typeface="黑体" panose="02010609060101010101" pitchFamily="49" charset="-122"/>
              </a:rPr>
              <a:t>；</a:t>
            </a:r>
            <a:r>
              <a:rPr lang="en-US" altLang="zh-CN" sz="2000" b="0" dirty="0">
                <a:solidFill>
                  <a:schemeClr val="tx1"/>
                </a:solidFill>
                <a:latin typeface="Times New Roman" panose="02020603050405020304" pitchFamily="18" charset="0"/>
                <a:ea typeface="黑体" panose="02010609060101010101" pitchFamily="49" charset="-122"/>
              </a:rPr>
              <a:t>miRNA</a:t>
            </a:r>
            <a:endParaRPr lang="zh-CN" altLang="en-US" sz="2000" b="0" dirty="0">
              <a:solidFill>
                <a:schemeClr val="tx1"/>
              </a:solidFill>
              <a:latin typeface="Times New Roman" panose="02020603050405020304" pitchFamily="18" charset="0"/>
              <a:ea typeface="黑体" panose="02010609060101010101" pitchFamily="49" charset="-122"/>
            </a:endParaRPr>
          </a:p>
          <a:p>
            <a:pPr indent="1970088" eaLnBrk="1" hangingPunct="1">
              <a:lnSpc>
                <a:spcPct val="150000"/>
              </a:lnSpc>
              <a:spcBef>
                <a:spcPct val="0"/>
              </a:spcBef>
              <a:buClrTx/>
              <a:buNone/>
              <a:defRPr/>
            </a:pPr>
            <a:r>
              <a:rPr lang="zh-CN" altLang="en-US" sz="2000" b="0" dirty="0">
                <a:solidFill>
                  <a:schemeClr val="tx1"/>
                </a:solidFill>
                <a:latin typeface="Times New Roman" panose="02020603050405020304" pitchFamily="18" charset="0"/>
                <a:ea typeface="黑体" panose="02010609060101010101" pitchFamily="49" charset="-122"/>
              </a:rPr>
              <a:t>融解温度（</a:t>
            </a:r>
            <a:r>
              <a:rPr lang="en-US" altLang="zh-CN" sz="2000" b="0" dirty="0">
                <a:solidFill>
                  <a:schemeClr val="tx1"/>
                </a:solidFill>
                <a:latin typeface="Times New Roman" panose="02020603050405020304" pitchFamily="18" charset="0"/>
                <a:ea typeface="黑体" panose="02010609060101010101" pitchFamily="49" charset="-122"/>
              </a:rPr>
              <a:t>Tm </a:t>
            </a:r>
            <a:r>
              <a:rPr lang="zh-CN" altLang="en-US" sz="2000" b="0" dirty="0">
                <a:solidFill>
                  <a:schemeClr val="tx1"/>
                </a:solidFill>
                <a:latin typeface="Times New Roman" panose="02020603050405020304" pitchFamily="18" charset="0"/>
                <a:ea typeface="黑体" panose="02010609060101010101" pitchFamily="49" charset="-122"/>
              </a:rPr>
              <a:t>） </a:t>
            </a:r>
            <a:r>
              <a:rPr kumimoji="0" lang="zh-CN" altLang="en-US" sz="2000" b="0" dirty="0">
                <a:solidFill>
                  <a:schemeClr val="tx1"/>
                </a:solidFill>
                <a:latin typeface="Times New Roman" panose="02020603050405020304" pitchFamily="18" charset="0"/>
                <a:ea typeface="黑体" panose="02010609060101010101" pitchFamily="49" charset="-122"/>
              </a:rPr>
              <a:t>；增色效应；</a:t>
            </a:r>
            <a:r>
              <a:rPr lang="zh-CN" altLang="en-US" sz="2000" b="0" dirty="0">
                <a:solidFill>
                  <a:schemeClr val="tx1"/>
                </a:solidFill>
                <a:latin typeface="Times New Roman" panose="02020603050405020304" pitchFamily="18" charset="0"/>
                <a:ea typeface="黑体" panose="02010609060101010101" pitchFamily="49" charset="-122"/>
              </a:rPr>
              <a:t>分子杂交； </a:t>
            </a:r>
            <a:r>
              <a:rPr lang="en-US" altLang="zh-CN" sz="2000" b="0" dirty="0">
                <a:solidFill>
                  <a:schemeClr val="tx1"/>
                </a:solidFill>
                <a:latin typeface="Times New Roman" panose="02020603050405020304" pitchFamily="18" charset="0"/>
                <a:ea typeface="黑体" panose="02010609060101010101" pitchFamily="49" charset="-122"/>
              </a:rPr>
              <a:t>probe</a:t>
            </a:r>
          </a:p>
          <a:p>
            <a:pPr eaLnBrk="1" hangingPunct="1">
              <a:lnSpc>
                <a:spcPct val="150000"/>
              </a:lnSpc>
              <a:spcBef>
                <a:spcPct val="0"/>
              </a:spcBef>
              <a:buClrTx/>
              <a:buFontTx/>
              <a:buNone/>
              <a:defRPr/>
            </a:pPr>
            <a:r>
              <a:rPr kumimoji="0" lang="en-US" altLang="zh-CN" sz="2400" b="0" dirty="0">
                <a:solidFill>
                  <a:srgbClr val="FF0000"/>
                </a:solidFill>
                <a:latin typeface="Times New Roman" panose="02020603050405020304" pitchFamily="18" charset="0"/>
                <a:ea typeface="黑体" panose="02010609060101010101" pitchFamily="49" charset="-122"/>
              </a:rPr>
              <a:t>2</a:t>
            </a:r>
            <a:r>
              <a:rPr kumimoji="0" lang="zh-CN" altLang="en-US" sz="2400" b="0" dirty="0">
                <a:solidFill>
                  <a:srgbClr val="FF0000"/>
                </a:solidFill>
                <a:latin typeface="Times New Roman" panose="02020603050405020304" pitchFamily="18" charset="0"/>
                <a:ea typeface="黑体" panose="02010609060101010101" pitchFamily="49" charset="-122"/>
              </a:rPr>
              <a:t>、核酸的组成和结构</a:t>
            </a:r>
          </a:p>
          <a:p>
            <a:pPr lvl="1" eaLnBrk="1" hangingPunct="1">
              <a:lnSpc>
                <a:spcPct val="150000"/>
              </a:lnSpc>
              <a:spcBef>
                <a:spcPct val="0"/>
              </a:spcBef>
              <a:buClr>
                <a:srgbClr val="0000CC"/>
              </a:buClr>
              <a:buFont typeface="Wingdings" panose="05000000000000000000" pitchFamily="2" charset="2"/>
              <a:buChar char="n"/>
              <a:defRPr/>
            </a:pPr>
            <a:r>
              <a:rPr kumimoji="0" lang="zh-CN" altLang="en-US" sz="2000" dirty="0">
                <a:latin typeface="Times New Roman" panose="02020603050405020304" pitchFamily="18" charset="0"/>
                <a:ea typeface="黑体" panose="02010609060101010101" pitchFamily="49" charset="-122"/>
              </a:rPr>
              <a:t>元素组成：</a:t>
            </a:r>
            <a:r>
              <a:rPr lang="en-US" altLang="zh-CN" sz="2000" dirty="0">
                <a:latin typeface="Times New Roman" panose="02020603050405020304" pitchFamily="18" charset="0"/>
                <a:ea typeface="黑体" panose="02010609060101010101" pitchFamily="49" charset="-122"/>
              </a:rPr>
              <a:t>C</a:t>
            </a:r>
            <a:r>
              <a:rPr lang="zh-CN" altLang="en-US" sz="2000" dirty="0">
                <a:latin typeface="Times New Roman" panose="02020603050405020304" pitchFamily="18" charset="0"/>
                <a:ea typeface="黑体" panose="02010609060101010101" pitchFamily="49" charset="-122"/>
              </a:rPr>
              <a:t>、</a:t>
            </a:r>
            <a:r>
              <a:rPr lang="en-US" altLang="zh-CN" sz="2000" dirty="0">
                <a:latin typeface="Times New Roman" panose="02020603050405020304" pitchFamily="18" charset="0"/>
                <a:ea typeface="黑体" panose="02010609060101010101" pitchFamily="49" charset="-122"/>
              </a:rPr>
              <a:t>H</a:t>
            </a:r>
            <a:r>
              <a:rPr lang="zh-CN" altLang="en-US" sz="2000" dirty="0">
                <a:latin typeface="Times New Roman" panose="02020603050405020304" pitchFamily="18" charset="0"/>
                <a:ea typeface="黑体" panose="02010609060101010101" pitchFamily="49" charset="-122"/>
              </a:rPr>
              <a:t>、</a:t>
            </a:r>
            <a:r>
              <a:rPr lang="en-US" altLang="zh-CN" sz="2000" dirty="0">
                <a:latin typeface="Times New Roman" panose="02020603050405020304" pitchFamily="18" charset="0"/>
                <a:ea typeface="黑体" panose="02010609060101010101" pitchFamily="49" charset="-122"/>
              </a:rPr>
              <a:t>O</a:t>
            </a:r>
            <a:r>
              <a:rPr lang="zh-CN" altLang="en-US" sz="2000" dirty="0">
                <a:latin typeface="Times New Roman" panose="02020603050405020304" pitchFamily="18" charset="0"/>
                <a:ea typeface="黑体" panose="02010609060101010101" pitchFamily="49" charset="-122"/>
              </a:rPr>
              <a:t>、</a:t>
            </a:r>
            <a:r>
              <a:rPr lang="en-US" altLang="zh-CN" sz="2000" dirty="0">
                <a:latin typeface="Times New Roman" panose="02020603050405020304" pitchFamily="18" charset="0"/>
                <a:ea typeface="黑体" panose="02010609060101010101" pitchFamily="49" charset="-122"/>
              </a:rPr>
              <a:t>N</a:t>
            </a:r>
            <a:r>
              <a:rPr lang="zh-CN" altLang="en-US" sz="2000" dirty="0">
                <a:latin typeface="Times New Roman" panose="02020603050405020304" pitchFamily="18" charset="0"/>
                <a:ea typeface="黑体" panose="02010609060101010101" pitchFamily="49" charset="-122"/>
              </a:rPr>
              <a:t>、</a:t>
            </a:r>
            <a:r>
              <a:rPr lang="en-US" altLang="zh-CN" sz="2000" dirty="0">
                <a:latin typeface="Times New Roman" panose="02020603050405020304" pitchFamily="18" charset="0"/>
                <a:ea typeface="黑体" panose="02010609060101010101" pitchFamily="49" charset="-122"/>
              </a:rPr>
              <a:t>P(9~11%)</a:t>
            </a:r>
            <a:endParaRPr kumimoji="0" lang="en-US" altLang="zh-CN" sz="2000" dirty="0">
              <a:latin typeface="Times New Roman" panose="02020603050405020304" pitchFamily="18" charset="0"/>
              <a:ea typeface="黑体" panose="02010609060101010101" pitchFamily="49" charset="-122"/>
            </a:endParaRPr>
          </a:p>
          <a:p>
            <a:pPr lvl="1" eaLnBrk="1" hangingPunct="1">
              <a:lnSpc>
                <a:spcPct val="150000"/>
              </a:lnSpc>
              <a:spcBef>
                <a:spcPct val="0"/>
              </a:spcBef>
              <a:buClr>
                <a:srgbClr val="0000CC"/>
              </a:buClr>
              <a:buFont typeface="Wingdings" panose="05000000000000000000" pitchFamily="2" charset="2"/>
              <a:buChar char="n"/>
              <a:defRPr/>
            </a:pPr>
            <a:r>
              <a:rPr kumimoji="0" lang="zh-CN" altLang="en-US" sz="2000" dirty="0">
                <a:latin typeface="Times New Roman" panose="02020603050405020304" pitchFamily="18" charset="0"/>
                <a:ea typeface="黑体" panose="02010609060101010101" pitchFamily="49" charset="-122"/>
              </a:rPr>
              <a:t>结构单位：</a:t>
            </a:r>
            <a:r>
              <a:rPr kumimoji="0" lang="zh-CN" altLang="en-US" sz="2000" dirty="0">
                <a:solidFill>
                  <a:srgbClr val="FF0000"/>
                </a:solidFill>
                <a:latin typeface="Times New Roman" panose="02020603050405020304" pitchFamily="18" charset="0"/>
                <a:ea typeface="黑体" panose="02010609060101010101" pitchFamily="49" charset="-122"/>
              </a:rPr>
              <a:t>核苷酸（</a:t>
            </a:r>
            <a:r>
              <a:rPr kumimoji="0" lang="en-US" altLang="zh-CN" sz="2000" dirty="0">
                <a:solidFill>
                  <a:srgbClr val="FF0000"/>
                </a:solidFill>
                <a:latin typeface="Times New Roman" panose="02020603050405020304" pitchFamily="18" charset="0"/>
                <a:ea typeface="黑体" panose="02010609060101010101" pitchFamily="49" charset="-122"/>
              </a:rPr>
              <a:t>DNA</a:t>
            </a:r>
            <a:r>
              <a:rPr kumimoji="0" lang="zh-CN" altLang="en-US" sz="2000" dirty="0">
                <a:solidFill>
                  <a:srgbClr val="FF0000"/>
                </a:solidFill>
                <a:latin typeface="Times New Roman" panose="02020603050405020304" pitchFamily="18" charset="0"/>
                <a:ea typeface="黑体" panose="02010609060101010101" pitchFamily="49" charset="-122"/>
              </a:rPr>
              <a:t>和</a:t>
            </a:r>
            <a:r>
              <a:rPr kumimoji="0" lang="en-US" altLang="zh-CN" sz="2000" dirty="0">
                <a:solidFill>
                  <a:srgbClr val="FF0000"/>
                </a:solidFill>
                <a:latin typeface="Times New Roman" panose="02020603050405020304" pitchFamily="18" charset="0"/>
                <a:ea typeface="黑体" panose="02010609060101010101" pitchFamily="49" charset="-122"/>
              </a:rPr>
              <a:t>RNA</a:t>
            </a:r>
            <a:r>
              <a:rPr kumimoji="0" lang="zh-CN" altLang="en-US" sz="2000" dirty="0">
                <a:solidFill>
                  <a:srgbClr val="FF0000"/>
                </a:solidFill>
                <a:latin typeface="Times New Roman" panose="02020603050405020304" pitchFamily="18" charset="0"/>
                <a:ea typeface="黑体" panose="02010609060101010101" pitchFamily="49" charset="-122"/>
              </a:rPr>
              <a:t>组分的异同）</a:t>
            </a:r>
          </a:p>
          <a:p>
            <a:pPr lvl="1" eaLnBrk="1" hangingPunct="1">
              <a:lnSpc>
                <a:spcPct val="150000"/>
              </a:lnSpc>
              <a:spcBef>
                <a:spcPct val="0"/>
              </a:spcBef>
              <a:buClr>
                <a:srgbClr val="0000CC"/>
              </a:buClr>
              <a:buFont typeface="Wingdings" panose="05000000000000000000" pitchFamily="2" charset="2"/>
              <a:buChar char="n"/>
              <a:defRPr/>
            </a:pPr>
            <a:r>
              <a:rPr kumimoji="0" lang="zh-CN" altLang="en-US" sz="2000" dirty="0">
                <a:latin typeface="Times New Roman" panose="02020603050405020304" pitchFamily="18" charset="0"/>
                <a:ea typeface="黑体" panose="02010609060101010101" pitchFamily="49" charset="-122"/>
              </a:rPr>
              <a:t>一级结构：</a:t>
            </a:r>
            <a:r>
              <a:rPr kumimoji="0" lang="en-US" altLang="zh-CN" sz="2000" dirty="0">
                <a:solidFill>
                  <a:srgbClr val="FF0000"/>
                </a:solidFill>
                <a:latin typeface="Times New Roman" panose="02020603050405020304" pitchFamily="18" charset="0"/>
                <a:ea typeface="黑体" panose="02010609060101010101" pitchFamily="49" charset="-122"/>
              </a:rPr>
              <a:t>3</a:t>
            </a:r>
            <a:r>
              <a:rPr kumimoji="0" lang="en-US" altLang="zh-CN" sz="2000" dirty="0">
                <a:solidFill>
                  <a:srgbClr val="FF0000"/>
                </a:solidFill>
                <a:latin typeface="Times New Roman" panose="02020603050405020304" pitchFamily="18" charset="0"/>
                <a:ea typeface="黑体" panose="02010609060101010101" pitchFamily="49" charset="-122"/>
                <a:sym typeface="Symbol" panose="05050102010706020507" pitchFamily="18" charset="2"/>
              </a:rPr>
              <a:t></a:t>
            </a:r>
            <a:r>
              <a:rPr kumimoji="0" lang="en-US" altLang="zh-CN" sz="2000" dirty="0">
                <a:solidFill>
                  <a:srgbClr val="FF0000"/>
                </a:solidFill>
                <a:latin typeface="Times New Roman" panose="02020603050405020304" pitchFamily="18" charset="0"/>
                <a:ea typeface="黑体" panose="02010609060101010101" pitchFamily="49" charset="-122"/>
              </a:rPr>
              <a:t>, 5</a:t>
            </a:r>
            <a:r>
              <a:rPr kumimoji="0" lang="en-US" altLang="zh-CN" sz="2000" dirty="0">
                <a:solidFill>
                  <a:srgbClr val="FF0000"/>
                </a:solidFill>
                <a:latin typeface="Times New Roman" panose="02020603050405020304" pitchFamily="18" charset="0"/>
                <a:ea typeface="黑体" panose="02010609060101010101" pitchFamily="49" charset="-122"/>
                <a:sym typeface="Symbol" panose="05050102010706020507" pitchFamily="18" charset="2"/>
              </a:rPr>
              <a:t></a:t>
            </a:r>
            <a:r>
              <a:rPr kumimoji="0" lang="zh-CN" altLang="en-US" sz="2000" dirty="0">
                <a:solidFill>
                  <a:srgbClr val="FF0000"/>
                </a:solidFill>
                <a:latin typeface="Times New Roman" panose="02020603050405020304" pitchFamily="18" charset="0"/>
                <a:ea typeface="黑体" panose="02010609060101010101" pitchFamily="49" charset="-122"/>
              </a:rPr>
              <a:t>磷酸二酯键；</a:t>
            </a:r>
            <a:r>
              <a:rPr kumimoji="0" lang="en-US" altLang="zh-CN" sz="2000" dirty="0">
                <a:latin typeface="Times New Roman" panose="02020603050405020304" pitchFamily="18" charset="0"/>
                <a:ea typeface="黑体" panose="02010609060101010101" pitchFamily="49" charset="-122"/>
              </a:rPr>
              <a:t>5ˊ</a:t>
            </a:r>
            <a:r>
              <a:rPr kumimoji="0" lang="zh-CN" altLang="en-US" sz="2000" dirty="0">
                <a:latin typeface="Times New Roman" panose="02020603050405020304" pitchFamily="18" charset="0"/>
                <a:ea typeface="黑体" panose="02010609060101010101" pitchFamily="49" charset="-122"/>
              </a:rPr>
              <a:t>端→</a:t>
            </a:r>
            <a:r>
              <a:rPr kumimoji="0" lang="en-US" altLang="zh-CN" sz="2000" dirty="0">
                <a:latin typeface="Times New Roman" panose="02020603050405020304" pitchFamily="18" charset="0"/>
                <a:ea typeface="黑体" panose="02010609060101010101" pitchFamily="49" charset="-122"/>
              </a:rPr>
              <a:t>3ˊ</a:t>
            </a:r>
            <a:r>
              <a:rPr kumimoji="0" lang="zh-CN" altLang="en-US" sz="2000" dirty="0">
                <a:latin typeface="Times New Roman" panose="02020603050405020304" pitchFamily="18" charset="0"/>
                <a:ea typeface="黑体" panose="02010609060101010101" pitchFamily="49" charset="-122"/>
              </a:rPr>
              <a:t>端；</a:t>
            </a:r>
          </a:p>
          <a:p>
            <a:pPr lvl="1" eaLnBrk="1" hangingPunct="1">
              <a:lnSpc>
                <a:spcPct val="150000"/>
              </a:lnSpc>
              <a:spcBef>
                <a:spcPct val="0"/>
              </a:spcBef>
              <a:buClr>
                <a:srgbClr val="0000CC"/>
              </a:buClr>
              <a:buFont typeface="Wingdings" panose="05000000000000000000" pitchFamily="2" charset="2"/>
              <a:buChar char="n"/>
              <a:defRPr/>
            </a:pPr>
            <a:r>
              <a:rPr kumimoji="0" lang="zh-CN" altLang="en-US" sz="2000" dirty="0">
                <a:latin typeface="Times New Roman" panose="02020603050405020304" pitchFamily="18" charset="0"/>
                <a:ea typeface="黑体" panose="02010609060101010101" pitchFamily="49" charset="-122"/>
              </a:rPr>
              <a:t>二级结构：</a:t>
            </a:r>
            <a:r>
              <a:rPr kumimoji="0" lang="en-US" altLang="zh-CN" sz="2000" dirty="0">
                <a:solidFill>
                  <a:srgbClr val="FF0000"/>
                </a:solidFill>
                <a:latin typeface="Times New Roman" panose="02020603050405020304" pitchFamily="18" charset="0"/>
                <a:ea typeface="黑体" panose="02010609060101010101" pitchFamily="49" charset="-122"/>
              </a:rPr>
              <a:t>DNA</a:t>
            </a:r>
            <a:r>
              <a:rPr kumimoji="0" lang="zh-CN" altLang="en-US" sz="2000" dirty="0">
                <a:solidFill>
                  <a:srgbClr val="FF0000"/>
                </a:solidFill>
                <a:latin typeface="Times New Roman" panose="02020603050405020304" pitchFamily="18" charset="0"/>
                <a:ea typeface="黑体" panose="02010609060101010101" pitchFamily="49" charset="-122"/>
              </a:rPr>
              <a:t>双螺旋；</a:t>
            </a:r>
            <a:r>
              <a:rPr kumimoji="0" lang="en-US" altLang="zh-CN" sz="2000" dirty="0" err="1">
                <a:solidFill>
                  <a:srgbClr val="FF0000"/>
                </a:solidFill>
                <a:latin typeface="Times New Roman" panose="02020603050405020304" pitchFamily="18" charset="0"/>
                <a:ea typeface="黑体" panose="02010609060101010101" pitchFamily="49" charset="-122"/>
              </a:rPr>
              <a:t>tRNA</a:t>
            </a:r>
            <a:r>
              <a:rPr kumimoji="0" lang="en-US" altLang="zh-CN" sz="2000" dirty="0">
                <a:solidFill>
                  <a:srgbClr val="FF0000"/>
                </a:solidFill>
                <a:latin typeface="Times New Roman" panose="02020603050405020304" pitchFamily="18" charset="0"/>
                <a:ea typeface="黑体" panose="02010609060101010101" pitchFamily="49" charset="-122"/>
              </a:rPr>
              <a:t>“</a:t>
            </a:r>
            <a:r>
              <a:rPr kumimoji="0" lang="zh-CN" altLang="en-US" sz="2000" dirty="0">
                <a:solidFill>
                  <a:srgbClr val="FF0000"/>
                </a:solidFill>
                <a:latin typeface="Times New Roman" panose="02020603050405020304" pitchFamily="18" charset="0"/>
                <a:ea typeface="黑体" panose="02010609060101010101" pitchFamily="49" charset="-122"/>
              </a:rPr>
              <a:t>三叶草”</a:t>
            </a:r>
          </a:p>
          <a:p>
            <a:pPr lvl="1" eaLnBrk="1" hangingPunct="1">
              <a:lnSpc>
                <a:spcPct val="150000"/>
              </a:lnSpc>
              <a:spcBef>
                <a:spcPct val="0"/>
              </a:spcBef>
              <a:buClr>
                <a:srgbClr val="0000CC"/>
              </a:buClr>
              <a:buFont typeface="Wingdings" panose="05000000000000000000" pitchFamily="2" charset="2"/>
              <a:buChar char="n"/>
              <a:defRPr/>
            </a:pPr>
            <a:r>
              <a:rPr kumimoji="0" lang="zh-CN" altLang="en-US" sz="2000" dirty="0">
                <a:latin typeface="Times New Roman" panose="02020603050405020304" pitchFamily="18" charset="0"/>
                <a:ea typeface="黑体" panose="02010609060101010101" pitchFamily="49" charset="-122"/>
              </a:rPr>
              <a:t>三级结构特点：</a:t>
            </a:r>
            <a:r>
              <a:rPr kumimoji="0" lang="en-US" altLang="zh-CN" sz="2000" dirty="0">
                <a:latin typeface="Times New Roman" panose="02020603050405020304" pitchFamily="18" charset="0"/>
                <a:ea typeface="黑体" panose="02010609060101010101" pitchFamily="49" charset="-122"/>
              </a:rPr>
              <a:t>DNA</a:t>
            </a:r>
            <a:r>
              <a:rPr lang="zh-CN" altLang="en-US" sz="2000" dirty="0">
                <a:latin typeface="Times New Roman" panose="02020603050405020304" pitchFamily="18" charset="0"/>
                <a:ea typeface="黑体" panose="02010609060101010101" pitchFamily="49" charset="-122"/>
              </a:rPr>
              <a:t>超螺旋结构；</a:t>
            </a:r>
            <a:r>
              <a:rPr lang="en-US" altLang="zh-CN" sz="2000" dirty="0" err="1">
                <a:latin typeface="Times New Roman" panose="02020603050405020304" pitchFamily="18" charset="0"/>
                <a:ea typeface="黑体" panose="02010609060101010101" pitchFamily="49" charset="-122"/>
              </a:rPr>
              <a:t>tRNA</a:t>
            </a: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倒</a:t>
            </a:r>
            <a:r>
              <a:rPr lang="en-US" altLang="zh-CN" sz="2000" dirty="0">
                <a:latin typeface="Times New Roman" panose="02020603050405020304" pitchFamily="18" charset="0"/>
                <a:ea typeface="黑体" panose="02010609060101010101" pitchFamily="49" charset="-122"/>
              </a:rPr>
              <a:t>L”</a:t>
            </a:r>
            <a:r>
              <a:rPr lang="zh-CN" altLang="en-US" sz="2000" dirty="0">
                <a:latin typeface="Times New Roman" panose="02020603050405020304" pitchFamily="18" charset="0"/>
                <a:ea typeface="黑体" panose="02010609060101010101" pitchFamily="49" charset="-122"/>
              </a:rPr>
              <a:t>结构</a:t>
            </a:r>
            <a:endParaRPr lang="en-US" altLang="zh-CN" sz="2000" dirty="0">
              <a:latin typeface="Times New Roman" panose="02020603050405020304" pitchFamily="18" charset="0"/>
              <a:ea typeface="黑体" panose="02010609060101010101" pitchFamily="49" charset="-122"/>
            </a:endParaRPr>
          </a:p>
          <a:p>
            <a:pPr eaLnBrk="1" hangingPunct="1">
              <a:lnSpc>
                <a:spcPct val="150000"/>
              </a:lnSpc>
              <a:spcBef>
                <a:spcPct val="0"/>
              </a:spcBef>
              <a:buClr>
                <a:srgbClr val="0000CC"/>
              </a:buClr>
              <a:buFont typeface="Wingdings" panose="05000000000000000000" pitchFamily="2" charset="2"/>
              <a:buNone/>
              <a:defRPr/>
            </a:pPr>
            <a:r>
              <a:rPr kumimoji="0" lang="en-US" altLang="zh-CN" sz="2400" b="0" dirty="0">
                <a:solidFill>
                  <a:srgbClr val="FF0000"/>
                </a:solidFill>
                <a:latin typeface="Times New Roman" panose="02020603050405020304" pitchFamily="18" charset="0"/>
                <a:ea typeface="黑体" panose="02010609060101010101" pitchFamily="49" charset="-122"/>
              </a:rPr>
              <a:t>3</a:t>
            </a:r>
            <a:r>
              <a:rPr kumimoji="0" lang="zh-CN" altLang="en-US" sz="2400" b="0" dirty="0">
                <a:solidFill>
                  <a:srgbClr val="FF0000"/>
                </a:solidFill>
                <a:latin typeface="Times New Roman" panose="02020603050405020304" pitchFamily="18" charset="0"/>
                <a:ea typeface="黑体" panose="02010609060101010101" pitchFamily="49" charset="-122"/>
              </a:rPr>
              <a:t>、</a:t>
            </a:r>
            <a:r>
              <a:rPr kumimoji="0" lang="en-US" altLang="zh-CN" sz="2400" b="0" dirty="0">
                <a:solidFill>
                  <a:srgbClr val="FF0000"/>
                </a:solidFill>
                <a:latin typeface="Times New Roman" panose="02020603050405020304" pitchFamily="18" charset="0"/>
                <a:ea typeface="黑体" panose="02010609060101010101" pitchFamily="49" charset="-122"/>
              </a:rPr>
              <a:t>mRNA</a:t>
            </a:r>
            <a:r>
              <a:rPr kumimoji="0" lang="zh-CN" altLang="en-US" sz="2400" b="0" dirty="0">
                <a:solidFill>
                  <a:srgbClr val="FF0000"/>
                </a:solidFill>
                <a:latin typeface="Times New Roman" panose="02020603050405020304" pitchFamily="18" charset="0"/>
                <a:ea typeface="黑体" panose="02010609060101010101" pitchFamily="49" charset="-122"/>
              </a:rPr>
              <a:t>、</a:t>
            </a:r>
            <a:r>
              <a:rPr kumimoji="0" lang="en-US" altLang="zh-CN" sz="2400" b="0" dirty="0" err="1">
                <a:solidFill>
                  <a:srgbClr val="FF0000"/>
                </a:solidFill>
                <a:latin typeface="Times New Roman" panose="02020603050405020304" pitchFamily="18" charset="0"/>
                <a:ea typeface="黑体" panose="02010609060101010101" pitchFamily="49" charset="-122"/>
              </a:rPr>
              <a:t>rRNA</a:t>
            </a:r>
            <a:r>
              <a:rPr kumimoji="0" lang="zh-CN" altLang="en-US" sz="2400" b="0" dirty="0">
                <a:solidFill>
                  <a:srgbClr val="FF0000"/>
                </a:solidFill>
                <a:latin typeface="Times New Roman" panose="02020603050405020304" pitchFamily="18" charset="0"/>
                <a:ea typeface="黑体" panose="02010609060101010101" pitchFamily="49" charset="-122"/>
              </a:rPr>
              <a:t>、</a:t>
            </a:r>
            <a:r>
              <a:rPr kumimoji="0" lang="en-US" altLang="zh-CN" sz="2400" b="0" dirty="0" err="1">
                <a:solidFill>
                  <a:srgbClr val="FF0000"/>
                </a:solidFill>
                <a:latin typeface="Times New Roman" panose="02020603050405020304" pitchFamily="18" charset="0"/>
                <a:ea typeface="黑体" panose="02010609060101010101" pitchFamily="49" charset="-122"/>
              </a:rPr>
              <a:t>tRNA</a:t>
            </a:r>
            <a:r>
              <a:rPr kumimoji="0" lang="zh-CN" altLang="en-US" sz="2400" b="0" dirty="0">
                <a:solidFill>
                  <a:srgbClr val="FF0000"/>
                </a:solidFill>
                <a:latin typeface="Times New Roman" panose="02020603050405020304" pitchFamily="18" charset="0"/>
                <a:ea typeface="黑体" panose="02010609060101010101" pitchFamily="49" charset="-122"/>
              </a:rPr>
              <a:t>的结构特点及功能</a:t>
            </a:r>
          </a:p>
          <a:p>
            <a:pPr eaLnBrk="1" hangingPunct="1">
              <a:lnSpc>
                <a:spcPct val="150000"/>
              </a:lnSpc>
              <a:spcBef>
                <a:spcPct val="0"/>
              </a:spcBef>
              <a:buClr>
                <a:srgbClr val="FF0000"/>
              </a:buClr>
              <a:buFont typeface="Wingdings" panose="05000000000000000000" pitchFamily="2" charset="2"/>
              <a:buNone/>
              <a:defRPr/>
            </a:pPr>
            <a:r>
              <a:rPr kumimoji="0" lang="en-US" altLang="zh-CN" sz="2400" b="0" dirty="0">
                <a:solidFill>
                  <a:srgbClr val="FF0000"/>
                </a:solidFill>
                <a:latin typeface="Times New Roman" panose="02020603050405020304" pitchFamily="18" charset="0"/>
                <a:ea typeface="黑体" panose="02010609060101010101" pitchFamily="49" charset="-122"/>
              </a:rPr>
              <a:t>4</a:t>
            </a:r>
            <a:r>
              <a:rPr kumimoji="0" lang="zh-CN" altLang="en-US" sz="2400" b="0" dirty="0">
                <a:solidFill>
                  <a:srgbClr val="FF0000"/>
                </a:solidFill>
                <a:latin typeface="Times New Roman" panose="02020603050405020304" pitchFamily="18" charset="0"/>
                <a:ea typeface="黑体" panose="02010609060101010101" pitchFamily="49" charset="-122"/>
              </a:rPr>
              <a:t>、核酸重要性质：</a:t>
            </a:r>
            <a:r>
              <a:rPr kumimoji="0" lang="zh-CN" altLang="en-US" sz="2000" b="0" dirty="0">
                <a:solidFill>
                  <a:schemeClr val="tx1"/>
                </a:solidFill>
                <a:latin typeface="Times New Roman" panose="02020603050405020304" pitchFamily="18" charset="0"/>
                <a:ea typeface="黑体" panose="02010609060101010101" pitchFamily="49" charset="-122"/>
              </a:rPr>
              <a:t>紫外吸收；</a:t>
            </a:r>
            <a:r>
              <a:rPr kumimoji="0" lang="zh-CN" altLang="en-US" sz="2000" b="0" dirty="0">
                <a:solidFill>
                  <a:srgbClr val="FF0000"/>
                </a:solidFill>
                <a:latin typeface="Times New Roman" panose="02020603050405020304" pitchFamily="18" charset="0"/>
                <a:ea typeface="黑体" panose="02010609060101010101" pitchFamily="49" charset="-122"/>
              </a:rPr>
              <a:t>变性和复性</a:t>
            </a:r>
            <a:r>
              <a:rPr kumimoji="0" lang="zh-CN" altLang="en-US" sz="2000" b="0" dirty="0">
                <a:solidFill>
                  <a:schemeClr val="tx1"/>
                </a:solidFill>
                <a:latin typeface="Times New Roman" panose="02020603050405020304" pitchFamily="18" charset="0"/>
                <a:ea typeface="黑体" panose="02010609060101010101" pitchFamily="49" charset="-122"/>
              </a:rPr>
              <a:t>、分子杂交</a:t>
            </a:r>
          </a:p>
        </p:txBody>
      </p:sp>
      <p:sp>
        <p:nvSpPr>
          <p:cNvPr id="346115" name="Rectangle 3">
            <a:extLst>
              <a:ext uri="{FF2B5EF4-FFF2-40B4-BE49-F238E27FC236}">
                <a16:creationId xmlns:a16="http://schemas.microsoft.com/office/drawing/2014/main" id="{CD9F4271-C112-44FE-B9E4-C52E04EF7A87}"/>
              </a:ext>
            </a:extLst>
          </p:cNvPr>
          <p:cNvSpPr>
            <a:spLocks noChangeArrowheads="1"/>
          </p:cNvSpPr>
          <p:nvPr/>
        </p:nvSpPr>
        <p:spPr bwMode="auto">
          <a:xfrm>
            <a:off x="5375276" y="1588"/>
            <a:ext cx="2016125"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lgn="ctr" eaLnBrk="1" hangingPunct="1">
              <a:lnSpc>
                <a:spcPct val="130000"/>
              </a:lnSpc>
              <a:spcBef>
                <a:spcPct val="0"/>
              </a:spcBef>
              <a:spcAft>
                <a:spcPct val="30000"/>
              </a:spcAft>
              <a:buClrTx/>
              <a:buFontTx/>
              <a:buNone/>
            </a:pPr>
            <a:r>
              <a:rPr kumimoji="0" lang="zh-CN" altLang="en-US" sz="3600">
                <a:solidFill>
                  <a:srgbClr val="0000CC"/>
                </a:solidFill>
                <a:latin typeface="Times New Roman" panose="02020603050405020304" pitchFamily="18" charset="0"/>
                <a:ea typeface="黑体" panose="02010609060101010101" pitchFamily="49" charset="-122"/>
              </a:rPr>
              <a:t>小       结</a:t>
            </a:r>
          </a:p>
        </p:txBody>
      </p:sp>
      <p:sp>
        <p:nvSpPr>
          <p:cNvPr id="346116" name="灯片编号占位符 1">
            <a:extLst>
              <a:ext uri="{FF2B5EF4-FFF2-40B4-BE49-F238E27FC236}">
                <a16:creationId xmlns:a16="http://schemas.microsoft.com/office/drawing/2014/main" id="{3F80D7A2-32C4-4E33-933B-D70587E09F0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D2B98BB2-B81B-4211-B62A-888ABB13CAD1}" type="slidenum">
              <a:rPr lang="zh-CN" altLang="en-US" sz="1200" b="0">
                <a:solidFill>
                  <a:srgbClr val="898F89"/>
                </a:solidFill>
              </a:rPr>
              <a:pPr>
                <a:spcBef>
                  <a:spcPct val="0"/>
                </a:spcBef>
                <a:buClrTx/>
                <a:buFontTx/>
                <a:buNone/>
              </a:pPr>
              <a:t>134</a:t>
            </a:fld>
            <a:endParaRPr lang="zh-CN" altLang="en-US" sz="1200" b="0">
              <a:solidFill>
                <a:srgbClr val="898F89"/>
              </a:solidFill>
            </a:endParaRPr>
          </a:p>
        </p:txBody>
      </p:sp>
    </p:spTree>
  </p:cSld>
  <p:clrMapOvr>
    <a:masterClrMapping/>
  </p:clrMapOvr>
  <p:transition spd="slow">
    <p:circl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3">
            <a:extLst>
              <a:ext uri="{FF2B5EF4-FFF2-40B4-BE49-F238E27FC236}">
                <a16:creationId xmlns:a16="http://schemas.microsoft.com/office/drawing/2014/main" id="{42B6AE2A-4035-42A2-BA95-A6C8949C172D}"/>
              </a:ext>
            </a:extLst>
          </p:cNvPr>
          <p:cNvSpPr>
            <a:spLocks noChangeArrowheads="1"/>
          </p:cNvSpPr>
          <p:nvPr/>
        </p:nvSpPr>
        <p:spPr bwMode="auto">
          <a:xfrm>
            <a:off x="1992314" y="1628776"/>
            <a:ext cx="8135937" cy="3933825"/>
          </a:xfrm>
          <a:prstGeom prst="rect">
            <a:avLst/>
          </a:prstGeom>
          <a:noFill/>
          <a:ln>
            <a:noFill/>
          </a:ln>
        </p:spPr>
        <p:txBody>
          <a:bodyPr>
            <a:spAutoFit/>
          </a:bodyPr>
          <a:lstStyle>
            <a:lvl1pPr marL="457200" indent="-457200">
              <a:spcBef>
                <a:spcPct val="20000"/>
              </a:spcBef>
              <a:buClr>
                <a:schemeClr val="accent1"/>
              </a:buClr>
              <a:buFont typeface="Wingdings" panose="05000000000000000000" pitchFamily="2" charset="2"/>
              <a:buChar char="v"/>
              <a:defRPr sz="2800" b="1">
                <a:solidFill>
                  <a:srgbClr val="008000"/>
                </a:solidFill>
                <a:latin typeface="黑体" panose="02010609060101010101" pitchFamily="49" charset="-122"/>
                <a:ea typeface="黑体" panose="02010609060101010101" pitchFamily="49"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eaLnBrk="1" hangingPunct="1">
              <a:lnSpc>
                <a:spcPct val="130000"/>
              </a:lnSpc>
              <a:spcBef>
                <a:spcPct val="0"/>
              </a:spcBef>
              <a:buClrTx/>
              <a:buFont typeface="+mj-lt"/>
              <a:buAutoNum type="arabicPeriod"/>
              <a:defRPr/>
            </a:pPr>
            <a:r>
              <a:rPr lang="zh-CN" altLang="en-US" sz="2400" b="0" dirty="0">
                <a:solidFill>
                  <a:schemeClr val="tx1"/>
                </a:solidFill>
                <a:latin typeface="Times New Roman" panose="02020603050405020304" pitchFamily="18" charset="0"/>
              </a:rPr>
              <a:t>比较</a:t>
            </a:r>
            <a:r>
              <a:rPr lang="en-US" altLang="zh-CN" sz="2400" b="0" dirty="0">
                <a:solidFill>
                  <a:schemeClr val="tx1"/>
                </a:solidFill>
                <a:latin typeface="Times New Roman" panose="02020603050405020304" pitchFamily="18" charset="0"/>
              </a:rPr>
              <a:t>RNA</a:t>
            </a:r>
            <a:r>
              <a:rPr lang="zh-CN" altLang="en-US" sz="2400" b="0" dirty="0">
                <a:solidFill>
                  <a:schemeClr val="tx1"/>
                </a:solidFill>
                <a:latin typeface="Times New Roman" panose="02020603050405020304" pitchFamily="18" charset="0"/>
              </a:rPr>
              <a:t>和</a:t>
            </a:r>
            <a:r>
              <a:rPr lang="en-US" altLang="zh-CN" sz="2400" b="0" dirty="0">
                <a:solidFill>
                  <a:schemeClr val="tx1"/>
                </a:solidFill>
                <a:latin typeface="Times New Roman" panose="02020603050405020304" pitchFamily="18" charset="0"/>
              </a:rPr>
              <a:t>DNA</a:t>
            </a:r>
            <a:r>
              <a:rPr lang="zh-CN" altLang="en-US" sz="2400" b="0" dirty="0">
                <a:solidFill>
                  <a:schemeClr val="tx1"/>
                </a:solidFill>
                <a:latin typeface="Times New Roman" panose="02020603050405020304" pitchFamily="18" charset="0"/>
              </a:rPr>
              <a:t>在分子组成</a:t>
            </a:r>
            <a:r>
              <a:rPr kumimoji="0" lang="zh-CN" altLang="en-US" sz="2400" b="0" dirty="0">
                <a:solidFill>
                  <a:schemeClr val="tx1"/>
                </a:solidFill>
                <a:latin typeface="Times New Roman" panose="02020603050405020304" pitchFamily="18" charset="0"/>
              </a:rPr>
              <a:t>、大分子结构上、生物学功能上的异同点。</a:t>
            </a:r>
            <a:endParaRPr lang="en-US" altLang="zh-CN" sz="2400" b="0" dirty="0">
              <a:solidFill>
                <a:schemeClr val="tx1"/>
              </a:solidFill>
              <a:latin typeface="Times New Roman" panose="02020603050405020304" pitchFamily="18" charset="0"/>
            </a:endParaRPr>
          </a:p>
          <a:p>
            <a:pPr eaLnBrk="1" hangingPunct="1">
              <a:lnSpc>
                <a:spcPct val="130000"/>
              </a:lnSpc>
              <a:spcBef>
                <a:spcPct val="0"/>
              </a:spcBef>
              <a:buClrTx/>
              <a:buFont typeface="+mj-lt"/>
              <a:buAutoNum type="arabicPeriod"/>
              <a:defRPr/>
            </a:pPr>
            <a:r>
              <a:rPr kumimoji="0" lang="en-US" altLang="zh-CN" sz="2400" b="0" dirty="0">
                <a:solidFill>
                  <a:schemeClr val="tx1"/>
                </a:solidFill>
                <a:latin typeface="Times New Roman" panose="02020603050405020304" pitchFamily="18" charset="0"/>
              </a:rPr>
              <a:t>DNA</a:t>
            </a:r>
            <a:r>
              <a:rPr kumimoji="0" lang="zh-CN" altLang="en-US" sz="2400" b="0" dirty="0">
                <a:solidFill>
                  <a:schemeClr val="tx1"/>
                </a:solidFill>
                <a:latin typeface="Times New Roman" panose="02020603050405020304" pitchFamily="18" charset="0"/>
              </a:rPr>
              <a:t>双螺旋结构模型有哪些基本要点？</a:t>
            </a:r>
          </a:p>
          <a:p>
            <a:pPr eaLnBrk="1" hangingPunct="1">
              <a:lnSpc>
                <a:spcPct val="130000"/>
              </a:lnSpc>
              <a:spcBef>
                <a:spcPct val="0"/>
              </a:spcBef>
              <a:buClrTx/>
              <a:buFont typeface="+mj-lt"/>
              <a:buAutoNum type="arabicPeriod"/>
              <a:defRPr/>
            </a:pPr>
            <a:r>
              <a:rPr kumimoji="0" lang="zh-CN" altLang="en-US" sz="2400" b="0" dirty="0">
                <a:solidFill>
                  <a:schemeClr val="tx1"/>
                </a:solidFill>
                <a:latin typeface="Times New Roman" panose="02020603050405020304" pitchFamily="18" charset="0"/>
              </a:rPr>
              <a:t>参与蛋白质合成的</a:t>
            </a:r>
            <a:r>
              <a:rPr kumimoji="0" lang="en-US" altLang="zh-CN" sz="2400" b="0" dirty="0">
                <a:solidFill>
                  <a:schemeClr val="tx1"/>
                </a:solidFill>
                <a:latin typeface="Times New Roman" panose="02020603050405020304" pitchFamily="18" charset="0"/>
              </a:rPr>
              <a:t>RNA</a:t>
            </a:r>
            <a:r>
              <a:rPr kumimoji="0" lang="zh-CN" altLang="en-US" sz="2400" b="0" dirty="0">
                <a:solidFill>
                  <a:schemeClr val="tx1"/>
                </a:solidFill>
                <a:latin typeface="Times New Roman" panose="02020603050405020304" pitchFamily="18" charset="0"/>
              </a:rPr>
              <a:t>主要有哪些？比较其结构与功能</a:t>
            </a:r>
            <a:r>
              <a:rPr lang="zh-CN" altLang="en-US" sz="2400" b="0" dirty="0">
                <a:solidFill>
                  <a:schemeClr val="tx1"/>
                </a:solidFill>
                <a:latin typeface="Times New Roman" panose="02020603050405020304" pitchFamily="18" charset="0"/>
              </a:rPr>
              <a:t>。</a:t>
            </a:r>
          </a:p>
          <a:p>
            <a:pPr eaLnBrk="1" hangingPunct="1">
              <a:lnSpc>
                <a:spcPct val="130000"/>
              </a:lnSpc>
              <a:spcBef>
                <a:spcPct val="0"/>
              </a:spcBef>
              <a:buClrTx/>
              <a:buFont typeface="+mj-lt"/>
              <a:buAutoNum type="arabicPeriod"/>
              <a:defRPr/>
            </a:pPr>
            <a:r>
              <a:rPr kumimoji="0" lang="zh-CN" altLang="en-US" sz="2400" b="0" dirty="0">
                <a:solidFill>
                  <a:schemeClr val="tx1"/>
                </a:solidFill>
                <a:latin typeface="Times New Roman" panose="02020603050405020304" pitchFamily="18" charset="0"/>
              </a:rPr>
              <a:t>核酸有何紫外吸收特点？在实验室如何利用这一特点研究核酸？</a:t>
            </a:r>
            <a:endParaRPr lang="zh-CN" altLang="en-US" sz="2400" b="0" dirty="0">
              <a:solidFill>
                <a:schemeClr val="tx1"/>
              </a:solidFill>
              <a:latin typeface="Times New Roman" panose="02020603050405020304" pitchFamily="18" charset="0"/>
            </a:endParaRPr>
          </a:p>
          <a:p>
            <a:pPr eaLnBrk="1" hangingPunct="1">
              <a:lnSpc>
                <a:spcPct val="130000"/>
              </a:lnSpc>
              <a:spcBef>
                <a:spcPct val="0"/>
              </a:spcBef>
              <a:buClrTx/>
              <a:buFont typeface="+mj-lt"/>
              <a:buAutoNum type="arabicPeriod"/>
              <a:defRPr/>
            </a:pPr>
            <a:r>
              <a:rPr kumimoji="0" lang="zh-CN" altLang="en-US" sz="2400" b="0" dirty="0">
                <a:solidFill>
                  <a:schemeClr val="tx1"/>
                </a:solidFill>
                <a:latin typeface="Times New Roman" panose="02020603050405020304" pitchFamily="18" charset="0"/>
              </a:rPr>
              <a:t>写出下列序列的互补序列</a:t>
            </a:r>
            <a:r>
              <a:rPr kumimoji="0" lang="en-US" altLang="zh-CN" sz="2400" b="0" dirty="0">
                <a:solidFill>
                  <a:schemeClr val="tx1"/>
                </a:solidFill>
                <a:latin typeface="Times New Roman" panose="02020603050405020304" pitchFamily="18" charset="0"/>
              </a:rPr>
              <a:t>(</a:t>
            </a:r>
            <a:r>
              <a:rPr kumimoji="0" lang="zh-CN" altLang="en-US" sz="2400" b="0" dirty="0">
                <a:solidFill>
                  <a:schemeClr val="tx1"/>
                </a:solidFill>
                <a:latin typeface="Times New Roman" panose="02020603050405020304" pitchFamily="18" charset="0"/>
              </a:rPr>
              <a:t>按标准的</a:t>
            </a:r>
            <a:r>
              <a:rPr kumimoji="0" lang="en-US" altLang="zh-CN" sz="2400" b="0" dirty="0">
                <a:solidFill>
                  <a:schemeClr val="tx1"/>
                </a:solidFill>
                <a:latin typeface="Times New Roman" panose="02020603050405020304" pitchFamily="18" charset="0"/>
              </a:rPr>
              <a:t>5′→ 3′</a:t>
            </a:r>
            <a:r>
              <a:rPr kumimoji="0" lang="zh-CN" altLang="en-US" sz="2400" b="0" dirty="0">
                <a:solidFill>
                  <a:schemeClr val="tx1"/>
                </a:solidFill>
                <a:latin typeface="Times New Roman" panose="02020603050405020304" pitchFamily="18" charset="0"/>
              </a:rPr>
              <a:t>表示法</a:t>
            </a:r>
            <a:r>
              <a:rPr kumimoji="0" lang="en-US" altLang="zh-CN" sz="2400" b="0" dirty="0">
                <a:solidFill>
                  <a:schemeClr val="tx1"/>
                </a:solidFill>
                <a:latin typeface="Times New Roman" panose="02020603050405020304" pitchFamily="18" charset="0"/>
              </a:rPr>
              <a:t>)</a:t>
            </a:r>
          </a:p>
          <a:p>
            <a:pPr marL="0" indent="0" eaLnBrk="1" hangingPunct="1">
              <a:lnSpc>
                <a:spcPct val="130000"/>
              </a:lnSpc>
              <a:spcBef>
                <a:spcPct val="0"/>
              </a:spcBef>
              <a:buClrTx/>
              <a:buNone/>
              <a:defRPr/>
            </a:pPr>
            <a:r>
              <a:rPr kumimoji="0" lang="en-US" altLang="zh-CN" sz="2400" b="0" dirty="0">
                <a:solidFill>
                  <a:schemeClr val="tx1"/>
                </a:solidFill>
                <a:latin typeface="Times New Roman" panose="02020603050405020304" pitchFamily="18" charset="0"/>
              </a:rPr>
              <a:t>    (1)GATCAATCTGGAA           (2)  TCGAACACATAA</a:t>
            </a:r>
          </a:p>
        </p:txBody>
      </p:sp>
      <p:sp>
        <p:nvSpPr>
          <p:cNvPr id="348163" name="Text Box 4">
            <a:extLst>
              <a:ext uri="{FF2B5EF4-FFF2-40B4-BE49-F238E27FC236}">
                <a16:creationId xmlns:a16="http://schemas.microsoft.com/office/drawing/2014/main" id="{BADCFE04-1CC8-4C68-B612-AD27333F2252}"/>
              </a:ext>
            </a:extLst>
          </p:cNvPr>
          <p:cNvSpPr txBox="1">
            <a:spLocks noChangeArrowheads="1"/>
          </p:cNvSpPr>
          <p:nvPr/>
        </p:nvSpPr>
        <p:spPr bwMode="auto">
          <a:xfrm>
            <a:off x="1919288" y="1125538"/>
            <a:ext cx="1828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50000"/>
              </a:spcBef>
              <a:buClrTx/>
              <a:buFontTx/>
              <a:buNone/>
            </a:pPr>
            <a:r>
              <a:rPr lang="zh-CN" altLang="en-US">
                <a:solidFill>
                  <a:srgbClr val="C00000"/>
                </a:solidFill>
                <a:latin typeface="Times New Roman" panose="02020603050405020304" pitchFamily="18" charset="0"/>
                <a:ea typeface="黑体" panose="02010609060101010101" pitchFamily="49" charset="-122"/>
              </a:rPr>
              <a:t>问答题</a:t>
            </a:r>
          </a:p>
        </p:txBody>
      </p:sp>
      <p:sp>
        <p:nvSpPr>
          <p:cNvPr id="348164" name="灯片编号占位符 1">
            <a:extLst>
              <a:ext uri="{FF2B5EF4-FFF2-40B4-BE49-F238E27FC236}">
                <a16:creationId xmlns:a16="http://schemas.microsoft.com/office/drawing/2014/main" id="{F72FF453-8829-48AC-B8C4-900638AA8CF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fld id="{E971E9C1-6473-4867-BFC5-2EBDB984354C}" type="slidenum">
              <a:rPr lang="zh-CN" altLang="en-US" sz="1200" b="0">
                <a:solidFill>
                  <a:srgbClr val="898F89"/>
                </a:solidFill>
              </a:rPr>
              <a:pPr>
                <a:spcBef>
                  <a:spcPct val="0"/>
                </a:spcBef>
                <a:buClrTx/>
                <a:buFontTx/>
                <a:buNone/>
              </a:pPr>
              <a:t>135</a:t>
            </a:fld>
            <a:endParaRPr lang="zh-CN" altLang="en-US" sz="1200" b="0">
              <a:solidFill>
                <a:srgbClr val="898F89"/>
              </a:solidFill>
            </a:endParaRPr>
          </a:p>
        </p:txBody>
      </p:sp>
    </p:spTree>
  </p:cSld>
  <p:clrMapOvr>
    <a:masterClrMapping/>
  </p:clrMapOvr>
  <p:transition spd="slow">
    <p:circle/>
  </p:transition>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0210" name="Text Box 3">
            <a:extLst>
              <a:ext uri="{FF2B5EF4-FFF2-40B4-BE49-F238E27FC236}">
                <a16:creationId xmlns:a16="http://schemas.microsoft.com/office/drawing/2014/main" id="{9C06E281-14ED-429D-B633-6F6E51326E17}"/>
              </a:ext>
            </a:extLst>
          </p:cNvPr>
          <p:cNvSpPr txBox="1">
            <a:spLocks noChangeArrowheads="1"/>
          </p:cNvSpPr>
          <p:nvPr/>
        </p:nvSpPr>
        <p:spPr bwMode="auto">
          <a:xfrm>
            <a:off x="2784475" y="620713"/>
            <a:ext cx="64770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spcBef>
                <a:spcPct val="30000"/>
              </a:spcBef>
              <a:buClrTx/>
              <a:buFontTx/>
              <a:buNone/>
            </a:pPr>
            <a:r>
              <a:rPr lang="en-US" altLang="zh-CN" sz="2400" b="0">
                <a:solidFill>
                  <a:schemeClr val="tx1"/>
                </a:solidFill>
                <a:latin typeface="Times New Roman" panose="02020603050405020304" pitchFamily="18" charset="0"/>
                <a:ea typeface="黑体" panose="02010609060101010101" pitchFamily="49" charset="-122"/>
              </a:rPr>
              <a:t>1.  </a:t>
            </a:r>
            <a:r>
              <a:rPr lang="zh-CN" altLang="en-US" sz="2400" b="0">
                <a:solidFill>
                  <a:srgbClr val="0000CC"/>
                </a:solidFill>
                <a:latin typeface="Times New Roman" panose="02020603050405020304" pitchFamily="18" charset="0"/>
                <a:ea typeface="黑体" panose="02010609060101010101" pitchFamily="49" charset="-122"/>
              </a:rPr>
              <a:t>稀有核苷酸主要存在于下列哪一种核酸中</a:t>
            </a:r>
          </a:p>
          <a:p>
            <a:pPr eaLnBrk="1" hangingPunct="1">
              <a:spcBef>
                <a:spcPct val="30000"/>
              </a:spcBef>
              <a:buClrTx/>
              <a:buFontTx/>
              <a:buNone/>
            </a:pPr>
            <a:r>
              <a:rPr lang="zh-CN" altLang="en-US" sz="2400" b="0">
                <a:solidFill>
                  <a:schemeClr val="tx1"/>
                </a:solidFill>
                <a:latin typeface="Times New Roman" panose="02020603050405020304" pitchFamily="18" charset="0"/>
                <a:ea typeface="黑体" panose="02010609060101010101" pitchFamily="49" charset="-122"/>
              </a:rPr>
              <a:t>　　</a:t>
            </a:r>
            <a:r>
              <a:rPr lang="en-US" altLang="zh-CN" sz="2400" b="0">
                <a:solidFill>
                  <a:schemeClr val="tx1"/>
                </a:solidFill>
                <a:latin typeface="Times New Roman" panose="02020603050405020304" pitchFamily="18" charset="0"/>
                <a:ea typeface="黑体" panose="02010609060101010101" pitchFamily="49" charset="-122"/>
              </a:rPr>
              <a:t>A. rRNA</a:t>
            </a:r>
          </a:p>
          <a:p>
            <a:pPr eaLnBrk="1" hangingPunct="1">
              <a:spcBef>
                <a:spcPct val="30000"/>
              </a:spcBef>
              <a:buClrTx/>
              <a:buFontTx/>
              <a:buNone/>
            </a:pPr>
            <a:r>
              <a:rPr lang="zh-CN" altLang="en-US" sz="2400" b="0">
                <a:solidFill>
                  <a:schemeClr val="tx1"/>
                </a:solidFill>
                <a:latin typeface="Times New Roman" panose="02020603050405020304" pitchFamily="18" charset="0"/>
                <a:ea typeface="黑体" panose="02010609060101010101" pitchFamily="49" charset="-122"/>
              </a:rPr>
              <a:t>　　</a:t>
            </a:r>
            <a:r>
              <a:rPr lang="en-US" altLang="zh-CN" sz="2400" b="0">
                <a:solidFill>
                  <a:schemeClr val="tx1"/>
                </a:solidFill>
                <a:latin typeface="Times New Roman" panose="02020603050405020304" pitchFamily="18" charset="0"/>
                <a:ea typeface="黑体" panose="02010609060101010101" pitchFamily="49" charset="-122"/>
              </a:rPr>
              <a:t>B. mRNA</a:t>
            </a:r>
          </a:p>
          <a:p>
            <a:pPr eaLnBrk="1" hangingPunct="1">
              <a:spcBef>
                <a:spcPct val="30000"/>
              </a:spcBef>
              <a:buClrTx/>
              <a:buFontTx/>
              <a:buNone/>
            </a:pPr>
            <a:r>
              <a:rPr lang="zh-CN" altLang="en-US" sz="2400" b="0">
                <a:solidFill>
                  <a:schemeClr val="tx1"/>
                </a:solidFill>
                <a:latin typeface="Times New Roman" panose="02020603050405020304" pitchFamily="18" charset="0"/>
                <a:ea typeface="黑体" panose="02010609060101010101" pitchFamily="49" charset="-122"/>
              </a:rPr>
              <a:t>　　</a:t>
            </a:r>
            <a:r>
              <a:rPr lang="en-US" altLang="zh-CN" sz="2400" b="0">
                <a:solidFill>
                  <a:schemeClr val="tx1"/>
                </a:solidFill>
                <a:latin typeface="Times New Roman" panose="02020603050405020304" pitchFamily="18" charset="0"/>
                <a:ea typeface="黑体" panose="02010609060101010101" pitchFamily="49" charset="-122"/>
              </a:rPr>
              <a:t>C. tRNA</a:t>
            </a:r>
          </a:p>
          <a:p>
            <a:pPr eaLnBrk="1" hangingPunct="1">
              <a:spcBef>
                <a:spcPct val="30000"/>
              </a:spcBef>
              <a:buClrTx/>
              <a:buFontTx/>
              <a:buNone/>
            </a:pPr>
            <a:r>
              <a:rPr lang="zh-CN" altLang="en-US" sz="2400" b="0">
                <a:solidFill>
                  <a:schemeClr val="tx1"/>
                </a:solidFill>
                <a:latin typeface="Times New Roman" panose="02020603050405020304" pitchFamily="18" charset="0"/>
                <a:ea typeface="黑体" panose="02010609060101010101" pitchFamily="49" charset="-122"/>
              </a:rPr>
              <a:t>　　</a:t>
            </a:r>
            <a:r>
              <a:rPr lang="en-US" altLang="zh-CN" sz="2400" b="0">
                <a:solidFill>
                  <a:schemeClr val="tx1"/>
                </a:solidFill>
                <a:latin typeface="Times New Roman" panose="02020603050405020304" pitchFamily="18" charset="0"/>
                <a:ea typeface="黑体" panose="02010609060101010101" pitchFamily="49" charset="-122"/>
              </a:rPr>
              <a:t>D. </a:t>
            </a:r>
            <a:r>
              <a:rPr lang="zh-CN" altLang="en-US" sz="2400" b="0">
                <a:solidFill>
                  <a:schemeClr val="tx1"/>
                </a:solidFill>
                <a:latin typeface="Times New Roman" panose="02020603050405020304" pitchFamily="18" charset="0"/>
                <a:ea typeface="黑体" panose="02010609060101010101" pitchFamily="49" charset="-122"/>
              </a:rPr>
              <a:t>核</a:t>
            </a:r>
            <a:r>
              <a:rPr lang="en-US" altLang="zh-CN" sz="2400" b="0">
                <a:solidFill>
                  <a:schemeClr val="tx1"/>
                </a:solidFill>
                <a:latin typeface="Times New Roman" panose="02020603050405020304" pitchFamily="18" charset="0"/>
                <a:ea typeface="黑体" panose="02010609060101010101" pitchFamily="49" charset="-122"/>
              </a:rPr>
              <a:t>DNA</a:t>
            </a:r>
          </a:p>
          <a:p>
            <a:pPr eaLnBrk="1" hangingPunct="1">
              <a:spcBef>
                <a:spcPct val="30000"/>
              </a:spcBef>
              <a:buClrTx/>
              <a:buFontTx/>
              <a:buNone/>
            </a:pPr>
            <a:r>
              <a:rPr lang="zh-CN" altLang="en-US" sz="2400" b="0">
                <a:solidFill>
                  <a:schemeClr val="tx1"/>
                </a:solidFill>
                <a:latin typeface="Times New Roman" panose="02020603050405020304" pitchFamily="18" charset="0"/>
                <a:ea typeface="黑体" panose="02010609060101010101" pitchFamily="49" charset="-122"/>
              </a:rPr>
              <a:t>　　</a:t>
            </a:r>
            <a:r>
              <a:rPr lang="en-US" altLang="zh-CN" sz="2400" b="0">
                <a:solidFill>
                  <a:schemeClr val="tx1"/>
                </a:solidFill>
                <a:latin typeface="Times New Roman" panose="02020603050405020304" pitchFamily="18" charset="0"/>
                <a:ea typeface="黑体" panose="02010609060101010101" pitchFamily="49" charset="-122"/>
              </a:rPr>
              <a:t>E. </a:t>
            </a:r>
            <a:r>
              <a:rPr lang="zh-CN" altLang="en-US" sz="2400" b="0">
                <a:solidFill>
                  <a:schemeClr val="tx1"/>
                </a:solidFill>
                <a:latin typeface="Times New Roman" panose="02020603050405020304" pitchFamily="18" charset="0"/>
                <a:ea typeface="黑体" panose="02010609060101010101" pitchFamily="49" charset="-122"/>
              </a:rPr>
              <a:t>线粒体</a:t>
            </a:r>
            <a:r>
              <a:rPr lang="en-US" altLang="zh-CN" sz="2400" b="0">
                <a:solidFill>
                  <a:schemeClr val="tx1"/>
                </a:solidFill>
                <a:latin typeface="Times New Roman" panose="02020603050405020304" pitchFamily="18" charset="0"/>
                <a:ea typeface="黑体" panose="02010609060101010101" pitchFamily="49" charset="-122"/>
              </a:rPr>
              <a:t>DNA </a:t>
            </a:r>
          </a:p>
        </p:txBody>
      </p:sp>
      <p:sp>
        <p:nvSpPr>
          <p:cNvPr id="350211" name="Rectangle 4">
            <a:extLst>
              <a:ext uri="{FF2B5EF4-FFF2-40B4-BE49-F238E27FC236}">
                <a16:creationId xmlns:a16="http://schemas.microsoft.com/office/drawing/2014/main" id="{21D9DE70-7293-4BB6-B3B6-B8CFE8BB0A21}"/>
              </a:ext>
            </a:extLst>
          </p:cNvPr>
          <p:cNvSpPr>
            <a:spLocks noChangeArrowheads="1"/>
          </p:cNvSpPr>
          <p:nvPr/>
        </p:nvSpPr>
        <p:spPr bwMode="auto">
          <a:xfrm>
            <a:off x="2855914" y="3773489"/>
            <a:ext cx="6840537" cy="275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20000"/>
              </a:lnSpc>
              <a:spcBef>
                <a:spcPct val="0"/>
              </a:spcBef>
              <a:buClrTx/>
              <a:buFontTx/>
              <a:buNone/>
            </a:pPr>
            <a:r>
              <a:rPr lang="en-US" altLang="zh-CN" sz="2400" b="0">
                <a:solidFill>
                  <a:schemeClr val="tx1"/>
                </a:solidFill>
                <a:latin typeface="Times New Roman" panose="02020603050405020304" pitchFamily="18" charset="0"/>
                <a:ea typeface="黑体" panose="02010609060101010101" pitchFamily="49" charset="-122"/>
              </a:rPr>
              <a:t>2. </a:t>
            </a:r>
            <a:r>
              <a:rPr lang="zh-CN" altLang="en-US" sz="2400" b="0">
                <a:solidFill>
                  <a:srgbClr val="0000CC"/>
                </a:solidFill>
                <a:latin typeface="Times New Roman" panose="02020603050405020304" pitchFamily="18" charset="0"/>
                <a:ea typeface="黑体" panose="02010609060101010101" pitchFamily="49" charset="-122"/>
              </a:rPr>
              <a:t>下列关于</a:t>
            </a:r>
            <a:r>
              <a:rPr lang="en-US" altLang="zh-CN" sz="2400" b="0">
                <a:solidFill>
                  <a:srgbClr val="0000CC"/>
                </a:solidFill>
                <a:latin typeface="Times New Roman" panose="02020603050405020304" pitchFamily="18" charset="0"/>
                <a:ea typeface="黑体" panose="02010609060101010101" pitchFamily="49" charset="-122"/>
              </a:rPr>
              <a:t>DNA</a:t>
            </a:r>
            <a:r>
              <a:rPr lang="zh-CN" altLang="en-US" sz="2400" b="0">
                <a:solidFill>
                  <a:srgbClr val="0000CC"/>
                </a:solidFill>
                <a:latin typeface="Times New Roman" panose="02020603050405020304" pitchFamily="18" charset="0"/>
                <a:ea typeface="黑体" panose="02010609060101010101" pitchFamily="49" charset="-122"/>
              </a:rPr>
              <a:t>双螺旋模型的叙述，错误的是</a:t>
            </a:r>
            <a:br>
              <a:rPr lang="zh-CN" altLang="en-US" sz="2400" b="0">
                <a:solidFill>
                  <a:schemeClr val="tx1"/>
                </a:solidFill>
                <a:latin typeface="Times New Roman" panose="02020603050405020304" pitchFamily="18" charset="0"/>
                <a:ea typeface="黑体" panose="02010609060101010101" pitchFamily="49" charset="-122"/>
              </a:rPr>
            </a:br>
            <a:r>
              <a:rPr lang="en-US" altLang="zh-CN" sz="2400" b="0">
                <a:solidFill>
                  <a:schemeClr val="tx1"/>
                </a:solidFill>
                <a:latin typeface="Times New Roman" panose="02020603050405020304" pitchFamily="18" charset="0"/>
                <a:ea typeface="黑体" panose="02010609060101010101" pitchFamily="49" charset="-122"/>
              </a:rPr>
              <a:t>A</a:t>
            </a:r>
            <a:r>
              <a:rPr lang="zh-CN" altLang="en-US" sz="2400" b="0">
                <a:solidFill>
                  <a:schemeClr val="tx1"/>
                </a:solidFill>
                <a:latin typeface="Times New Roman" panose="02020603050405020304" pitchFamily="18" charset="0"/>
                <a:ea typeface="黑体" panose="02010609060101010101" pitchFamily="49" charset="-122"/>
              </a:rPr>
              <a:t>．是</a:t>
            </a:r>
            <a:r>
              <a:rPr lang="en-US" altLang="zh-CN" sz="2400" b="0">
                <a:solidFill>
                  <a:schemeClr val="tx1"/>
                </a:solidFill>
                <a:latin typeface="Times New Roman" panose="02020603050405020304" pitchFamily="18" charset="0"/>
                <a:ea typeface="黑体" panose="02010609060101010101" pitchFamily="49" charset="-122"/>
              </a:rPr>
              <a:t>DNA</a:t>
            </a:r>
            <a:r>
              <a:rPr lang="zh-CN" altLang="en-US" sz="2400" b="0">
                <a:solidFill>
                  <a:schemeClr val="tx1"/>
                </a:solidFill>
                <a:latin typeface="Times New Roman" panose="02020603050405020304" pitchFamily="18" charset="0"/>
                <a:ea typeface="黑体" panose="02010609060101010101" pitchFamily="49" charset="-122"/>
              </a:rPr>
              <a:t>的二级结构         </a:t>
            </a:r>
          </a:p>
          <a:p>
            <a:pPr eaLnBrk="1" hangingPunct="1">
              <a:lnSpc>
                <a:spcPct val="120000"/>
              </a:lnSpc>
              <a:spcBef>
                <a:spcPct val="0"/>
              </a:spcBef>
              <a:buClrTx/>
              <a:buFontTx/>
              <a:buNone/>
            </a:pPr>
            <a:r>
              <a:rPr lang="en-US" altLang="zh-CN" sz="2400" b="0">
                <a:solidFill>
                  <a:schemeClr val="tx1"/>
                </a:solidFill>
                <a:latin typeface="Times New Roman" panose="02020603050405020304" pitchFamily="18" charset="0"/>
                <a:ea typeface="黑体" panose="02010609060101010101" pitchFamily="49" charset="-122"/>
              </a:rPr>
              <a:t>    B</a:t>
            </a:r>
            <a:r>
              <a:rPr lang="zh-CN" altLang="en-US" sz="2400" b="0">
                <a:solidFill>
                  <a:schemeClr val="tx1"/>
                </a:solidFill>
                <a:latin typeface="Times New Roman" panose="02020603050405020304" pitchFamily="18" charset="0"/>
                <a:ea typeface="黑体" panose="02010609060101010101" pitchFamily="49" charset="-122"/>
              </a:rPr>
              <a:t>．双股链相互平行、走向相反</a:t>
            </a:r>
            <a:br>
              <a:rPr lang="zh-CN" altLang="en-US" sz="2400" b="0">
                <a:solidFill>
                  <a:schemeClr val="tx1"/>
                </a:solidFill>
                <a:latin typeface="Times New Roman" panose="02020603050405020304" pitchFamily="18" charset="0"/>
                <a:ea typeface="黑体" panose="02010609060101010101" pitchFamily="49" charset="-122"/>
              </a:rPr>
            </a:br>
            <a:r>
              <a:rPr lang="en-US" altLang="zh-CN" sz="2400" b="0">
                <a:solidFill>
                  <a:schemeClr val="tx1"/>
                </a:solidFill>
                <a:latin typeface="Times New Roman" panose="02020603050405020304" pitchFamily="18" charset="0"/>
                <a:ea typeface="黑体" panose="02010609060101010101" pitchFamily="49" charset="-122"/>
              </a:rPr>
              <a:t>C</a:t>
            </a:r>
            <a:r>
              <a:rPr lang="zh-CN" altLang="en-US" sz="2400" b="0">
                <a:solidFill>
                  <a:schemeClr val="tx1"/>
                </a:solidFill>
                <a:latin typeface="Times New Roman" panose="02020603050405020304" pitchFamily="18" charset="0"/>
                <a:ea typeface="黑体" panose="02010609060101010101" pitchFamily="49" charset="-122"/>
              </a:rPr>
              <a:t>．碱基位于双螺旋外侧        </a:t>
            </a:r>
          </a:p>
          <a:p>
            <a:pPr eaLnBrk="1" hangingPunct="1">
              <a:lnSpc>
                <a:spcPct val="120000"/>
              </a:lnSpc>
              <a:spcBef>
                <a:spcPct val="0"/>
              </a:spcBef>
              <a:buClrTx/>
              <a:buFontTx/>
              <a:buNone/>
            </a:pPr>
            <a:r>
              <a:rPr lang="en-US" altLang="zh-CN" sz="2400" b="0">
                <a:solidFill>
                  <a:schemeClr val="tx1"/>
                </a:solidFill>
                <a:latin typeface="Times New Roman" panose="02020603050405020304" pitchFamily="18" charset="0"/>
                <a:ea typeface="黑体" panose="02010609060101010101" pitchFamily="49" charset="-122"/>
              </a:rPr>
              <a:t>    D</a:t>
            </a:r>
            <a:r>
              <a:rPr lang="zh-CN" altLang="en-US" sz="2400" b="0">
                <a:solidFill>
                  <a:schemeClr val="tx1"/>
                </a:solidFill>
                <a:latin typeface="Times New Roman" panose="02020603050405020304" pitchFamily="18" charset="0"/>
                <a:ea typeface="黑体" panose="02010609060101010101" pitchFamily="49" charset="-122"/>
              </a:rPr>
              <a:t>．碱基间以非共价键相连</a:t>
            </a:r>
            <a:br>
              <a:rPr lang="zh-CN" altLang="en-US" sz="2400" b="0">
                <a:solidFill>
                  <a:schemeClr val="tx1"/>
                </a:solidFill>
                <a:latin typeface="Times New Roman" panose="02020603050405020304" pitchFamily="18" charset="0"/>
                <a:ea typeface="黑体" panose="02010609060101010101" pitchFamily="49" charset="-122"/>
              </a:rPr>
            </a:br>
            <a:r>
              <a:rPr lang="en-US" altLang="zh-CN" sz="2400" b="0">
                <a:solidFill>
                  <a:schemeClr val="tx1"/>
                </a:solidFill>
                <a:latin typeface="Times New Roman" panose="02020603050405020304" pitchFamily="18" charset="0"/>
                <a:ea typeface="黑体" panose="02010609060101010101" pitchFamily="49" charset="-122"/>
              </a:rPr>
              <a:t>E</a:t>
            </a:r>
            <a:r>
              <a:rPr lang="zh-CN" altLang="en-US" sz="2400" b="0">
                <a:solidFill>
                  <a:schemeClr val="tx1"/>
                </a:solidFill>
                <a:latin typeface="Times New Roman" panose="02020603050405020304" pitchFamily="18" charset="0"/>
                <a:ea typeface="黑体" panose="02010609060101010101" pitchFamily="49" charset="-122"/>
              </a:rPr>
              <a:t>．磷酸与脱氧核糖组成了双螺旋的骨架 </a:t>
            </a:r>
          </a:p>
        </p:txBody>
      </p:sp>
      <p:sp>
        <p:nvSpPr>
          <p:cNvPr id="2" name="矩形 1">
            <a:extLst>
              <a:ext uri="{FF2B5EF4-FFF2-40B4-BE49-F238E27FC236}">
                <a16:creationId xmlns:a16="http://schemas.microsoft.com/office/drawing/2014/main" id="{52E0BF9B-AF0E-49BD-B561-AEE6B60CCA46}"/>
              </a:ext>
            </a:extLst>
          </p:cNvPr>
          <p:cNvSpPr>
            <a:spLocks noChangeArrowheads="1"/>
          </p:cNvSpPr>
          <p:nvPr/>
        </p:nvSpPr>
        <p:spPr bwMode="auto">
          <a:xfrm>
            <a:off x="8740776" y="981075"/>
            <a:ext cx="6016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3200">
                <a:solidFill>
                  <a:srgbClr val="C00000"/>
                </a:solidFill>
                <a:latin typeface="Times New Roman" panose="02020603050405020304" pitchFamily="18" charset="0"/>
                <a:ea typeface="宋体" panose="02010600030101010101" pitchFamily="2" charset="-122"/>
              </a:rPr>
              <a:t>C</a:t>
            </a:r>
            <a:endParaRPr lang="zh-CN" altLang="en-US" sz="3200">
              <a:solidFill>
                <a:srgbClr val="C00000"/>
              </a:solidFill>
              <a:latin typeface="Times New Roman" panose="02020603050405020304" pitchFamily="18" charset="0"/>
              <a:ea typeface="宋体" panose="02010600030101010101" pitchFamily="2" charset="-122"/>
            </a:endParaRPr>
          </a:p>
        </p:txBody>
      </p:sp>
      <p:sp>
        <p:nvSpPr>
          <p:cNvPr id="5" name="矩形 4">
            <a:extLst>
              <a:ext uri="{FF2B5EF4-FFF2-40B4-BE49-F238E27FC236}">
                <a16:creationId xmlns:a16="http://schemas.microsoft.com/office/drawing/2014/main" id="{D59FF4FD-A928-4438-9200-B022D73314C4}"/>
              </a:ext>
            </a:extLst>
          </p:cNvPr>
          <p:cNvSpPr>
            <a:spLocks noChangeArrowheads="1"/>
          </p:cNvSpPr>
          <p:nvPr/>
        </p:nvSpPr>
        <p:spPr bwMode="auto">
          <a:xfrm>
            <a:off x="9342438" y="3860800"/>
            <a:ext cx="48101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3200">
                <a:solidFill>
                  <a:srgbClr val="C00000"/>
                </a:solidFill>
                <a:latin typeface="Times New Roman" panose="02020603050405020304" pitchFamily="18" charset="0"/>
                <a:ea typeface="宋体" panose="02010600030101010101" pitchFamily="2" charset="-122"/>
              </a:rPr>
              <a:t>C</a:t>
            </a:r>
            <a:endParaRPr lang="zh-CN" altLang="en-US" sz="3200">
              <a:solidFill>
                <a:srgbClr val="C00000"/>
              </a:solidFill>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3042" name="Text Box 3">
            <a:extLst>
              <a:ext uri="{FF2B5EF4-FFF2-40B4-BE49-F238E27FC236}">
                <a16:creationId xmlns:a16="http://schemas.microsoft.com/office/drawing/2014/main" id="{44F8FF7E-742E-4A46-88E4-3404D4FA6A87}"/>
              </a:ext>
            </a:extLst>
          </p:cNvPr>
          <p:cNvSpPr txBox="1">
            <a:spLocks noChangeArrowheads="1"/>
          </p:cNvSpPr>
          <p:nvPr/>
        </p:nvSpPr>
        <p:spPr bwMode="auto">
          <a:xfrm>
            <a:off x="2063751" y="549275"/>
            <a:ext cx="7610475" cy="3194050"/>
          </a:xfrm>
          <a:prstGeom prst="rect">
            <a:avLst/>
          </a:prstGeom>
          <a:noFill/>
          <a:ln>
            <a:noFill/>
          </a:ln>
        </p:spPr>
        <p:txBody>
          <a:bodyPr>
            <a:spAutoFit/>
          </a:bodyPr>
          <a:lstStyle>
            <a:lvl1pPr>
              <a:spcBef>
                <a:spcPct val="20000"/>
              </a:spcBef>
              <a:buClr>
                <a:schemeClr val="accent1"/>
              </a:buClr>
              <a:buFont typeface="Wingdings" panose="05000000000000000000" pitchFamily="2" charset="2"/>
              <a:buChar char="v"/>
              <a:defRPr sz="2800" b="1">
                <a:solidFill>
                  <a:srgbClr val="008000"/>
                </a:solidFill>
                <a:latin typeface="Calibri" panose="020F0502020204030204" pitchFamily="34" charset="0"/>
                <a:ea typeface="宋体" panose="02010600030101010101" pitchFamily="2" charset="-122"/>
              </a:defRPr>
            </a:lvl1pPr>
            <a:lvl2pPr marL="742950" indent="-285750">
              <a:spcBef>
                <a:spcPct val="20000"/>
              </a:spcBef>
              <a:buClr>
                <a:schemeClr val="tx2"/>
              </a:buClr>
              <a:buFont typeface="Wingdings" panose="05000000000000000000" pitchFamily="2" charset="2"/>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Clr>
                <a:schemeClr val="tx1"/>
              </a:buClr>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ts val="0"/>
              </a:spcBef>
              <a:buClrTx/>
              <a:buNone/>
              <a:defRPr/>
            </a:pPr>
            <a:r>
              <a:rPr lang="en-US" altLang="zh-CN" sz="2400" b="0" dirty="0">
                <a:solidFill>
                  <a:schemeClr val="tx1"/>
                </a:solidFill>
                <a:latin typeface="Times New Roman" panose="02020603050405020304" pitchFamily="18" charset="0"/>
                <a:ea typeface="黑体" panose="02010609060101010101" pitchFamily="49" charset="-122"/>
              </a:rPr>
              <a:t>3</a:t>
            </a:r>
            <a:r>
              <a:rPr lang="en-US" altLang="zh-CN" sz="2400" b="0" dirty="0">
                <a:solidFill>
                  <a:srgbClr val="0000CC"/>
                </a:solidFill>
                <a:latin typeface="Times New Roman" panose="02020603050405020304" pitchFamily="18" charset="0"/>
                <a:ea typeface="黑体" panose="02010609060101010101" pitchFamily="49" charset="-122"/>
              </a:rPr>
              <a:t>.  </a:t>
            </a:r>
            <a:r>
              <a:rPr lang="zh-CN" altLang="en-US" sz="2400" b="0" dirty="0">
                <a:solidFill>
                  <a:srgbClr val="0000CC"/>
                </a:solidFill>
                <a:latin typeface="Times New Roman" panose="02020603050405020304" pitchFamily="18" charset="0"/>
                <a:ea typeface="黑体" panose="02010609060101010101" pitchFamily="49" charset="-122"/>
              </a:rPr>
              <a:t>关于真核细胞</a:t>
            </a:r>
            <a:r>
              <a:rPr lang="en-US" altLang="zh-CN" sz="2400" b="0" dirty="0">
                <a:solidFill>
                  <a:srgbClr val="0000CC"/>
                </a:solidFill>
                <a:latin typeface="Times New Roman" panose="02020603050405020304" pitchFamily="18" charset="0"/>
                <a:ea typeface="黑体" panose="02010609060101010101" pitchFamily="49" charset="-122"/>
              </a:rPr>
              <a:t>mRNA</a:t>
            </a:r>
            <a:r>
              <a:rPr lang="zh-CN" altLang="en-US" sz="2400" b="0" dirty="0">
                <a:solidFill>
                  <a:srgbClr val="0000CC"/>
                </a:solidFill>
                <a:latin typeface="Times New Roman" panose="02020603050405020304" pitchFamily="18" charset="0"/>
                <a:ea typeface="黑体" panose="02010609060101010101" pitchFamily="49" charset="-122"/>
              </a:rPr>
              <a:t>的叙述，下列哪项是错误的</a:t>
            </a:r>
          </a:p>
          <a:p>
            <a:pPr eaLnBrk="1" hangingPunct="1">
              <a:lnSpc>
                <a:spcPct val="120000"/>
              </a:lnSpc>
              <a:spcBef>
                <a:spcPts val="0"/>
              </a:spcBef>
              <a:buClrTx/>
              <a:buNone/>
              <a:defRPr/>
            </a:pPr>
            <a:r>
              <a:rPr lang="zh-CN" altLang="en-US" sz="2400" b="0" dirty="0">
                <a:solidFill>
                  <a:schemeClr val="tx1"/>
                </a:solidFill>
                <a:latin typeface="Times New Roman" panose="02020603050405020304" pitchFamily="18" charset="0"/>
                <a:ea typeface="黑体" panose="02010609060101010101" pitchFamily="49" charset="-122"/>
              </a:rPr>
              <a:t>　　</a:t>
            </a:r>
            <a:r>
              <a:rPr lang="en-US" altLang="zh-CN" sz="2400" b="0" dirty="0">
                <a:solidFill>
                  <a:schemeClr val="tx1"/>
                </a:solidFill>
                <a:latin typeface="Times New Roman" panose="02020603050405020304" pitchFamily="18" charset="0"/>
                <a:ea typeface="黑体" panose="02010609060101010101" pitchFamily="49" charset="-122"/>
              </a:rPr>
              <a:t>A </a:t>
            </a:r>
            <a:r>
              <a:rPr lang="zh-CN" altLang="en-US" sz="2400" b="0" dirty="0">
                <a:solidFill>
                  <a:schemeClr val="tx1"/>
                </a:solidFill>
                <a:latin typeface="Times New Roman" panose="02020603050405020304" pitchFamily="18" charset="0"/>
                <a:ea typeface="黑体" panose="02010609060101010101" pitchFamily="49" charset="-122"/>
              </a:rPr>
              <a:t>在</a:t>
            </a:r>
            <a:r>
              <a:rPr lang="en-US" altLang="zh-CN" sz="2400" b="0" dirty="0">
                <a:solidFill>
                  <a:schemeClr val="tx1"/>
                </a:solidFill>
                <a:latin typeface="Times New Roman" panose="02020603050405020304" pitchFamily="18" charset="0"/>
                <a:ea typeface="黑体" panose="02010609060101010101" pitchFamily="49" charset="-122"/>
              </a:rPr>
              <a:t>5’-</a:t>
            </a:r>
            <a:r>
              <a:rPr lang="zh-CN" altLang="en-US" sz="2400" b="0" dirty="0">
                <a:solidFill>
                  <a:schemeClr val="tx1"/>
                </a:solidFill>
                <a:latin typeface="Times New Roman" panose="02020603050405020304" pitchFamily="18" charset="0"/>
                <a:ea typeface="黑体" panose="02010609060101010101" pitchFamily="49" charset="-122"/>
              </a:rPr>
              <a:t>端有帽子结构，在</a:t>
            </a:r>
            <a:r>
              <a:rPr lang="en-US" altLang="zh-CN" sz="2400" b="0" dirty="0">
                <a:solidFill>
                  <a:schemeClr val="tx1"/>
                </a:solidFill>
                <a:latin typeface="Times New Roman" panose="02020603050405020304" pitchFamily="18" charset="0"/>
                <a:ea typeface="黑体" panose="02010609060101010101" pitchFamily="49" charset="-122"/>
              </a:rPr>
              <a:t>3’-</a:t>
            </a:r>
            <a:r>
              <a:rPr lang="zh-CN" altLang="en-US" sz="2400" b="0" dirty="0">
                <a:solidFill>
                  <a:schemeClr val="tx1"/>
                </a:solidFill>
                <a:latin typeface="Times New Roman" panose="02020603050405020304" pitchFamily="18" charset="0"/>
                <a:ea typeface="黑体" panose="02010609060101010101" pitchFamily="49" charset="-122"/>
              </a:rPr>
              <a:t>端有多聚</a:t>
            </a:r>
            <a:r>
              <a:rPr lang="en-US" altLang="zh-CN" sz="2400" b="0" dirty="0">
                <a:solidFill>
                  <a:schemeClr val="tx1"/>
                </a:solidFill>
                <a:latin typeface="Times New Roman" panose="02020603050405020304" pitchFamily="18" charset="0"/>
                <a:ea typeface="黑体" panose="02010609060101010101" pitchFamily="49" charset="-122"/>
              </a:rPr>
              <a:t>A</a:t>
            </a:r>
            <a:r>
              <a:rPr lang="zh-CN" altLang="en-US" sz="2400" b="0" dirty="0">
                <a:solidFill>
                  <a:schemeClr val="tx1"/>
                </a:solidFill>
                <a:latin typeface="Times New Roman" panose="02020603050405020304" pitchFamily="18" charset="0"/>
                <a:ea typeface="黑体" panose="02010609060101010101" pitchFamily="49" charset="-122"/>
              </a:rPr>
              <a:t>尾巴</a:t>
            </a:r>
          </a:p>
          <a:p>
            <a:pPr eaLnBrk="1" hangingPunct="1">
              <a:lnSpc>
                <a:spcPct val="120000"/>
              </a:lnSpc>
              <a:spcBef>
                <a:spcPts val="0"/>
              </a:spcBef>
              <a:buClrTx/>
              <a:buNone/>
              <a:defRPr/>
            </a:pPr>
            <a:r>
              <a:rPr lang="zh-CN" altLang="en-US" sz="2400" b="0" dirty="0">
                <a:solidFill>
                  <a:schemeClr val="tx1"/>
                </a:solidFill>
                <a:latin typeface="Times New Roman" panose="02020603050405020304" pitchFamily="18" charset="0"/>
                <a:ea typeface="黑体" panose="02010609060101010101" pitchFamily="49" charset="-122"/>
              </a:rPr>
              <a:t>　　</a:t>
            </a:r>
            <a:r>
              <a:rPr lang="en-US" altLang="zh-CN" sz="2400" b="0" dirty="0">
                <a:solidFill>
                  <a:schemeClr val="tx1"/>
                </a:solidFill>
                <a:latin typeface="Times New Roman" panose="02020603050405020304" pitchFamily="18" charset="0"/>
                <a:ea typeface="黑体" panose="02010609060101010101" pitchFamily="49" charset="-122"/>
              </a:rPr>
              <a:t>B </a:t>
            </a:r>
            <a:r>
              <a:rPr lang="zh-CN" altLang="en-US" sz="2400" b="0" dirty="0">
                <a:solidFill>
                  <a:schemeClr val="tx1"/>
                </a:solidFill>
                <a:latin typeface="Times New Roman" panose="02020603050405020304" pitchFamily="18" charset="0"/>
                <a:ea typeface="黑体" panose="02010609060101010101" pitchFamily="49" charset="-122"/>
              </a:rPr>
              <a:t>生物体内各种</a:t>
            </a:r>
            <a:r>
              <a:rPr lang="en-US" altLang="zh-CN" sz="2400" b="0" dirty="0">
                <a:solidFill>
                  <a:schemeClr val="tx1"/>
                </a:solidFill>
                <a:latin typeface="Times New Roman" panose="02020603050405020304" pitchFamily="18" charset="0"/>
                <a:ea typeface="黑体" panose="02010609060101010101" pitchFamily="49" charset="-122"/>
              </a:rPr>
              <a:t>mRNA</a:t>
            </a:r>
            <a:r>
              <a:rPr lang="zh-CN" altLang="en-US" sz="2400" b="0" dirty="0">
                <a:solidFill>
                  <a:schemeClr val="tx1"/>
                </a:solidFill>
                <a:latin typeface="Times New Roman" panose="02020603050405020304" pitchFamily="18" charset="0"/>
                <a:ea typeface="黑体" panose="02010609060101010101" pitchFamily="49" charset="-122"/>
              </a:rPr>
              <a:t>的长短差别很大</a:t>
            </a:r>
          </a:p>
          <a:p>
            <a:pPr eaLnBrk="1" hangingPunct="1">
              <a:lnSpc>
                <a:spcPct val="120000"/>
              </a:lnSpc>
              <a:spcBef>
                <a:spcPts val="0"/>
              </a:spcBef>
              <a:buClrTx/>
              <a:buNone/>
              <a:defRPr/>
            </a:pPr>
            <a:r>
              <a:rPr lang="zh-CN" altLang="en-US" sz="2400" b="0" dirty="0">
                <a:solidFill>
                  <a:schemeClr val="tx1"/>
                </a:solidFill>
                <a:latin typeface="Times New Roman" panose="02020603050405020304" pitchFamily="18" charset="0"/>
                <a:ea typeface="黑体" panose="02010609060101010101" pitchFamily="49" charset="-122"/>
              </a:rPr>
              <a:t>　　</a:t>
            </a:r>
            <a:r>
              <a:rPr lang="en-US" altLang="zh-CN" sz="2400" b="0" dirty="0">
                <a:solidFill>
                  <a:schemeClr val="tx1"/>
                </a:solidFill>
                <a:latin typeface="Times New Roman" panose="02020603050405020304" pitchFamily="18" charset="0"/>
                <a:ea typeface="黑体" panose="02010609060101010101" pitchFamily="49" charset="-122"/>
              </a:rPr>
              <a:t>C </a:t>
            </a:r>
            <a:r>
              <a:rPr lang="zh-CN" altLang="en-US" sz="2400" b="0" dirty="0">
                <a:solidFill>
                  <a:schemeClr val="tx1"/>
                </a:solidFill>
                <a:latin typeface="Times New Roman" panose="02020603050405020304" pitchFamily="18" charset="0"/>
                <a:ea typeface="黑体" panose="02010609060101010101" pitchFamily="49" charset="-122"/>
              </a:rPr>
              <a:t>三类</a:t>
            </a:r>
            <a:r>
              <a:rPr lang="en-US" altLang="zh-CN" sz="2400" b="0" dirty="0">
                <a:solidFill>
                  <a:schemeClr val="tx1"/>
                </a:solidFill>
                <a:latin typeface="Times New Roman" panose="02020603050405020304" pitchFamily="18" charset="0"/>
                <a:ea typeface="黑体" panose="02010609060101010101" pitchFamily="49" charset="-122"/>
              </a:rPr>
              <a:t>RNA</a:t>
            </a:r>
            <a:r>
              <a:rPr lang="zh-CN" altLang="en-US" sz="2400" b="0" dirty="0">
                <a:solidFill>
                  <a:schemeClr val="tx1"/>
                </a:solidFill>
                <a:latin typeface="Times New Roman" panose="02020603050405020304" pitchFamily="18" charset="0"/>
                <a:ea typeface="黑体" panose="02010609060101010101" pitchFamily="49" charset="-122"/>
              </a:rPr>
              <a:t>中</a:t>
            </a:r>
            <a:r>
              <a:rPr lang="en-US" altLang="zh-CN" sz="2400" b="0" dirty="0">
                <a:solidFill>
                  <a:schemeClr val="tx1"/>
                </a:solidFill>
                <a:latin typeface="Times New Roman" panose="02020603050405020304" pitchFamily="18" charset="0"/>
                <a:ea typeface="黑体" panose="02010609060101010101" pitchFamily="49" charset="-122"/>
              </a:rPr>
              <a:t>mRNA</a:t>
            </a:r>
            <a:r>
              <a:rPr lang="zh-CN" altLang="en-US" sz="2400" b="0" dirty="0">
                <a:solidFill>
                  <a:schemeClr val="tx1"/>
                </a:solidFill>
                <a:latin typeface="Times New Roman" panose="02020603050405020304" pitchFamily="18" charset="0"/>
                <a:ea typeface="黑体" panose="02010609060101010101" pitchFamily="49" charset="-122"/>
              </a:rPr>
              <a:t>的合成率和转化率最快</a:t>
            </a:r>
          </a:p>
          <a:p>
            <a:pPr eaLnBrk="1" hangingPunct="1">
              <a:lnSpc>
                <a:spcPct val="120000"/>
              </a:lnSpc>
              <a:spcBef>
                <a:spcPts val="0"/>
              </a:spcBef>
              <a:buClrTx/>
              <a:buNone/>
              <a:defRPr/>
            </a:pPr>
            <a:r>
              <a:rPr lang="zh-CN" altLang="en-US" sz="2400" b="0" dirty="0">
                <a:solidFill>
                  <a:schemeClr val="tx1"/>
                </a:solidFill>
                <a:latin typeface="Times New Roman" panose="02020603050405020304" pitchFamily="18" charset="0"/>
                <a:ea typeface="黑体" panose="02010609060101010101" pitchFamily="49" charset="-122"/>
              </a:rPr>
              <a:t>　　</a:t>
            </a:r>
            <a:r>
              <a:rPr lang="en-US" altLang="zh-CN" sz="2400" b="0" dirty="0">
                <a:solidFill>
                  <a:schemeClr val="tx1"/>
                </a:solidFill>
                <a:latin typeface="Times New Roman" panose="02020603050405020304" pitchFamily="18" charset="0"/>
                <a:ea typeface="黑体" panose="02010609060101010101" pitchFamily="49" charset="-122"/>
              </a:rPr>
              <a:t>D </a:t>
            </a:r>
            <a:r>
              <a:rPr lang="zh-CN" altLang="en-US" sz="2400" b="0" dirty="0">
                <a:solidFill>
                  <a:schemeClr val="tx1"/>
                </a:solidFill>
                <a:latin typeface="Times New Roman" panose="02020603050405020304" pitchFamily="18" charset="0"/>
                <a:ea typeface="黑体" panose="02010609060101010101" pitchFamily="49" charset="-122"/>
              </a:rPr>
              <a:t>多聚</a:t>
            </a:r>
            <a:r>
              <a:rPr lang="en-US" altLang="zh-CN" sz="2400" b="0" dirty="0">
                <a:solidFill>
                  <a:schemeClr val="tx1"/>
                </a:solidFill>
                <a:latin typeface="Times New Roman" panose="02020603050405020304" pitchFamily="18" charset="0"/>
                <a:ea typeface="黑体" panose="02010609060101010101" pitchFamily="49" charset="-122"/>
              </a:rPr>
              <a:t>A</a:t>
            </a:r>
            <a:r>
              <a:rPr lang="zh-CN" altLang="en-US" sz="2400" b="0" dirty="0">
                <a:solidFill>
                  <a:schemeClr val="tx1"/>
                </a:solidFill>
                <a:latin typeface="Times New Roman" panose="02020603050405020304" pitchFamily="18" charset="0"/>
                <a:ea typeface="黑体" panose="02010609060101010101" pitchFamily="49" charset="-122"/>
              </a:rPr>
              <a:t>尾巴是</a:t>
            </a:r>
            <a:r>
              <a:rPr lang="en-US" altLang="zh-CN" sz="2400" b="0" dirty="0">
                <a:solidFill>
                  <a:schemeClr val="tx1"/>
                </a:solidFill>
                <a:latin typeface="Times New Roman" panose="02020603050405020304" pitchFamily="18" charset="0"/>
                <a:ea typeface="黑体" panose="02010609060101010101" pitchFamily="49" charset="-122"/>
              </a:rPr>
              <a:t>DNA</a:t>
            </a:r>
            <a:r>
              <a:rPr lang="zh-CN" altLang="en-US" sz="2400" b="0" dirty="0">
                <a:solidFill>
                  <a:schemeClr val="tx1"/>
                </a:solidFill>
                <a:latin typeface="Times New Roman" panose="02020603050405020304" pitchFamily="18" charset="0"/>
                <a:ea typeface="黑体" panose="02010609060101010101" pitchFamily="49" charset="-122"/>
              </a:rPr>
              <a:t>的转录产物</a:t>
            </a:r>
          </a:p>
          <a:p>
            <a:pPr marL="977900" indent="-977900" eaLnBrk="1" hangingPunct="1">
              <a:lnSpc>
                <a:spcPct val="120000"/>
              </a:lnSpc>
              <a:spcBef>
                <a:spcPts val="0"/>
              </a:spcBef>
              <a:buClrTx/>
              <a:buNone/>
              <a:defRPr/>
            </a:pPr>
            <a:r>
              <a:rPr lang="zh-CN" altLang="en-US" sz="2400" b="0" dirty="0">
                <a:solidFill>
                  <a:schemeClr val="tx1"/>
                </a:solidFill>
                <a:latin typeface="Times New Roman" panose="02020603050405020304" pitchFamily="18" charset="0"/>
                <a:ea typeface="黑体" panose="02010609060101010101" pitchFamily="49" charset="-122"/>
              </a:rPr>
              <a:t>　　</a:t>
            </a:r>
            <a:r>
              <a:rPr lang="en-US" altLang="zh-CN" sz="2400" b="0" dirty="0">
                <a:solidFill>
                  <a:schemeClr val="tx1"/>
                </a:solidFill>
                <a:latin typeface="Times New Roman" panose="02020603050405020304" pitchFamily="18" charset="0"/>
                <a:ea typeface="黑体" panose="02010609060101010101" pitchFamily="49" charset="-122"/>
              </a:rPr>
              <a:t>E </a:t>
            </a:r>
            <a:r>
              <a:rPr lang="zh-CN" altLang="en-US" sz="2400" b="0" dirty="0">
                <a:solidFill>
                  <a:schemeClr val="tx1"/>
                </a:solidFill>
                <a:latin typeface="Times New Roman" panose="02020603050405020304" pitchFamily="18" charset="0"/>
                <a:ea typeface="黑体" panose="02010609060101010101" pitchFamily="49" charset="-122"/>
              </a:rPr>
              <a:t>真核细胞的</a:t>
            </a:r>
            <a:r>
              <a:rPr lang="en-US" altLang="zh-CN" sz="2400" b="0" dirty="0">
                <a:solidFill>
                  <a:schemeClr val="tx1"/>
                </a:solidFill>
                <a:latin typeface="Times New Roman" panose="02020603050405020304" pitchFamily="18" charset="0"/>
                <a:ea typeface="黑体" panose="02010609060101010101" pitchFamily="49" charset="-122"/>
              </a:rPr>
              <a:t>mRNA</a:t>
            </a:r>
            <a:r>
              <a:rPr lang="zh-CN" altLang="en-US" sz="2400" b="0" dirty="0">
                <a:solidFill>
                  <a:schemeClr val="tx1"/>
                </a:solidFill>
                <a:latin typeface="Times New Roman" panose="02020603050405020304" pitchFamily="18" charset="0"/>
                <a:ea typeface="黑体" panose="02010609060101010101" pitchFamily="49" charset="-122"/>
              </a:rPr>
              <a:t>前身是</a:t>
            </a:r>
            <a:r>
              <a:rPr lang="en-US" altLang="zh-CN" sz="2400" b="0" dirty="0" err="1">
                <a:solidFill>
                  <a:schemeClr val="tx1"/>
                </a:solidFill>
                <a:latin typeface="Times New Roman" panose="02020603050405020304" pitchFamily="18" charset="0"/>
                <a:ea typeface="黑体" panose="02010609060101010101" pitchFamily="49" charset="-122"/>
              </a:rPr>
              <a:t>hnRNA</a:t>
            </a:r>
            <a:r>
              <a:rPr lang="zh-CN" altLang="en-US" sz="2400" b="0" dirty="0">
                <a:solidFill>
                  <a:schemeClr val="tx1"/>
                </a:solidFill>
                <a:latin typeface="Times New Roman" panose="02020603050405020304" pitchFamily="18" charset="0"/>
                <a:ea typeface="黑体" panose="02010609060101010101" pitchFamily="49" charset="-122"/>
              </a:rPr>
              <a:t>，在细胞核内合成，在核内经剪接加工而成 </a:t>
            </a:r>
          </a:p>
        </p:txBody>
      </p:sp>
      <p:sp>
        <p:nvSpPr>
          <p:cNvPr id="352259" name="Rectangle 4">
            <a:extLst>
              <a:ext uri="{FF2B5EF4-FFF2-40B4-BE49-F238E27FC236}">
                <a16:creationId xmlns:a16="http://schemas.microsoft.com/office/drawing/2014/main" id="{EBCCEF57-B9BE-4894-8AAD-4F7E5B0620B9}"/>
              </a:ext>
            </a:extLst>
          </p:cNvPr>
          <p:cNvSpPr>
            <a:spLocks noChangeArrowheads="1"/>
          </p:cNvSpPr>
          <p:nvPr/>
        </p:nvSpPr>
        <p:spPr bwMode="auto">
          <a:xfrm>
            <a:off x="2068513" y="4395789"/>
            <a:ext cx="7321550"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3525">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35000"/>
              </a:lnSpc>
              <a:spcBef>
                <a:spcPct val="0"/>
              </a:spcBef>
              <a:buClrTx/>
              <a:buFontTx/>
              <a:buAutoNum type="arabicPeriod" startAt="4"/>
            </a:pPr>
            <a:r>
              <a:rPr lang="en-US" altLang="zh-CN" sz="2400" b="0" dirty="0">
                <a:solidFill>
                  <a:srgbClr val="0000CC"/>
                </a:solidFill>
                <a:latin typeface="Times New Roman" panose="02020603050405020304" pitchFamily="18" charset="0"/>
                <a:ea typeface="黑体" panose="02010609060101010101" pitchFamily="49" charset="-122"/>
              </a:rPr>
              <a:t>RNA</a:t>
            </a:r>
            <a:r>
              <a:rPr lang="zh-CN" altLang="en-US" sz="2400" b="0" dirty="0">
                <a:solidFill>
                  <a:srgbClr val="0000CC"/>
                </a:solidFill>
                <a:latin typeface="Times New Roman" panose="02020603050405020304" pitchFamily="18" charset="0"/>
                <a:ea typeface="黑体" panose="02010609060101010101" pitchFamily="49" charset="-122"/>
              </a:rPr>
              <a:t>形成局部双螺旋时，其碱基配对原则是</a:t>
            </a:r>
            <a:br>
              <a:rPr lang="zh-CN" altLang="en-US" sz="2400" dirty="0">
                <a:solidFill>
                  <a:schemeClr val="tx1"/>
                </a:solidFill>
                <a:latin typeface="Times New Roman" panose="02020603050405020304" pitchFamily="18" charset="0"/>
                <a:ea typeface="黑体" panose="02010609060101010101" pitchFamily="49" charset="-122"/>
              </a:rPr>
            </a:b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A</a:t>
            </a: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A-T</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G-C                  B</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A-U</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C-G </a:t>
            </a: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G-U           </a:t>
            </a:r>
          </a:p>
          <a:p>
            <a:pPr eaLnBrk="1" hangingPunct="1">
              <a:lnSpc>
                <a:spcPct val="135000"/>
              </a:lnSpc>
              <a:spcBef>
                <a:spcPct val="0"/>
              </a:spcBef>
              <a:buClrTx/>
              <a:buFont typeface="Wingdings" panose="05000000000000000000" pitchFamily="2" charset="2"/>
              <a:buNone/>
            </a:pPr>
            <a:r>
              <a:rPr lang="en-US" altLang="zh-CN" sz="2400" dirty="0">
                <a:solidFill>
                  <a:schemeClr val="tx1"/>
                </a:solidFill>
                <a:latin typeface="Times New Roman" panose="02020603050405020304" pitchFamily="18" charset="0"/>
                <a:ea typeface="黑体" panose="02010609060101010101" pitchFamily="49" charset="-122"/>
              </a:rPr>
              <a:t>      C</a:t>
            </a: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A-U</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G-T                  D</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C-T</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G-A          </a:t>
            </a:r>
          </a:p>
          <a:p>
            <a:pPr eaLnBrk="1" hangingPunct="1">
              <a:lnSpc>
                <a:spcPct val="135000"/>
              </a:lnSpc>
              <a:spcBef>
                <a:spcPct val="0"/>
              </a:spcBef>
              <a:buClrTx/>
              <a:buFont typeface="Wingdings" panose="05000000000000000000" pitchFamily="2" charset="2"/>
              <a:buNone/>
            </a:pPr>
            <a:r>
              <a:rPr lang="en-US" altLang="zh-CN" sz="2400" dirty="0">
                <a:solidFill>
                  <a:schemeClr val="tx1"/>
                </a:solidFill>
                <a:latin typeface="Times New Roman" panose="02020603050405020304" pitchFamily="18" charset="0"/>
                <a:ea typeface="黑体" panose="02010609060101010101" pitchFamily="49" charset="-122"/>
              </a:rPr>
              <a:t>      E</a:t>
            </a: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C-U</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A-G </a:t>
            </a:r>
          </a:p>
        </p:txBody>
      </p:sp>
      <p:sp>
        <p:nvSpPr>
          <p:cNvPr id="3" name="矩形 2">
            <a:extLst>
              <a:ext uri="{FF2B5EF4-FFF2-40B4-BE49-F238E27FC236}">
                <a16:creationId xmlns:a16="http://schemas.microsoft.com/office/drawing/2014/main" id="{B430D270-EBBD-483B-9C4E-F70B0CF92E18}"/>
              </a:ext>
            </a:extLst>
          </p:cNvPr>
          <p:cNvSpPr>
            <a:spLocks noChangeArrowheads="1"/>
          </p:cNvSpPr>
          <p:nvPr/>
        </p:nvSpPr>
        <p:spPr bwMode="auto">
          <a:xfrm>
            <a:off x="9469439" y="549275"/>
            <a:ext cx="8032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3200">
                <a:solidFill>
                  <a:srgbClr val="C00000"/>
                </a:solidFill>
                <a:latin typeface="Times New Roman" panose="02020603050405020304" pitchFamily="18" charset="0"/>
                <a:ea typeface="宋体" panose="02010600030101010101" pitchFamily="2" charset="-122"/>
              </a:rPr>
              <a:t>D</a:t>
            </a:r>
            <a:endParaRPr lang="zh-CN" altLang="en-US" sz="3200">
              <a:solidFill>
                <a:srgbClr val="C00000"/>
              </a:solidFill>
              <a:latin typeface="Times New Roman" panose="02020603050405020304" pitchFamily="18" charset="0"/>
              <a:ea typeface="宋体" panose="02010600030101010101" pitchFamily="2" charset="-122"/>
            </a:endParaRPr>
          </a:p>
        </p:txBody>
      </p:sp>
      <p:sp>
        <p:nvSpPr>
          <p:cNvPr id="6" name="矩形 5">
            <a:extLst>
              <a:ext uri="{FF2B5EF4-FFF2-40B4-BE49-F238E27FC236}">
                <a16:creationId xmlns:a16="http://schemas.microsoft.com/office/drawing/2014/main" id="{7505DE26-9F07-4C1E-A217-448470879A89}"/>
              </a:ext>
            </a:extLst>
          </p:cNvPr>
          <p:cNvSpPr>
            <a:spLocks noChangeArrowheads="1"/>
          </p:cNvSpPr>
          <p:nvPr/>
        </p:nvSpPr>
        <p:spPr bwMode="auto">
          <a:xfrm>
            <a:off x="9721849" y="4509120"/>
            <a:ext cx="8032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3200" dirty="0">
                <a:solidFill>
                  <a:srgbClr val="C00000"/>
                </a:solidFill>
                <a:latin typeface="Times New Roman" panose="02020603050405020304" pitchFamily="18" charset="0"/>
                <a:ea typeface="宋体" panose="02010600030101010101" pitchFamily="2" charset="-122"/>
              </a:rPr>
              <a:t>B</a:t>
            </a:r>
            <a:endParaRPr lang="zh-CN" altLang="en-US" sz="3200" dirty="0">
              <a:solidFill>
                <a:srgbClr val="C00000"/>
              </a:solidFill>
              <a:latin typeface="Times New Roman" panose="02020603050405020304" pitchFamily="18" charset="0"/>
              <a:ea typeface="宋体" panose="02010600030101010101" pitchFamily="2"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4306" name="Rectangle 4">
            <a:extLst>
              <a:ext uri="{FF2B5EF4-FFF2-40B4-BE49-F238E27FC236}">
                <a16:creationId xmlns:a16="http://schemas.microsoft.com/office/drawing/2014/main" id="{4D8B191A-00D4-4467-B5E5-E9D86A32333A}"/>
              </a:ext>
            </a:extLst>
          </p:cNvPr>
          <p:cNvSpPr>
            <a:spLocks noChangeArrowheads="1"/>
          </p:cNvSpPr>
          <p:nvPr/>
        </p:nvSpPr>
        <p:spPr bwMode="auto">
          <a:xfrm>
            <a:off x="2495551" y="1125539"/>
            <a:ext cx="7345363" cy="315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eaLnBrk="1" hangingPunct="1">
              <a:lnSpc>
                <a:spcPct val="135000"/>
              </a:lnSpc>
              <a:spcBef>
                <a:spcPct val="5000"/>
              </a:spcBef>
              <a:spcAft>
                <a:spcPct val="5000"/>
              </a:spcAft>
              <a:buClrTx/>
              <a:buFontTx/>
              <a:buNone/>
            </a:pPr>
            <a:r>
              <a:rPr lang="en-US" altLang="zh-CN" sz="2400" b="0">
                <a:solidFill>
                  <a:srgbClr val="0000CC"/>
                </a:solidFill>
                <a:latin typeface="Times New Roman" panose="02020603050405020304" pitchFamily="18" charset="0"/>
                <a:ea typeface="黑体" panose="02010609060101010101" pitchFamily="49" charset="-122"/>
              </a:rPr>
              <a:t>5</a:t>
            </a:r>
            <a:r>
              <a:rPr lang="zh-CN" altLang="en-US" sz="2400" b="0">
                <a:solidFill>
                  <a:srgbClr val="0000CC"/>
                </a:solidFill>
                <a:latin typeface="Times New Roman" panose="02020603050405020304" pitchFamily="18" charset="0"/>
                <a:ea typeface="黑体" panose="02010609060101010101" pitchFamily="49" charset="-122"/>
              </a:rPr>
              <a:t>．下列关于</a:t>
            </a:r>
            <a:r>
              <a:rPr lang="en-US" altLang="zh-CN" sz="2400" b="0">
                <a:solidFill>
                  <a:srgbClr val="0000CC"/>
                </a:solidFill>
                <a:latin typeface="Times New Roman" panose="02020603050405020304" pitchFamily="18" charset="0"/>
                <a:ea typeface="黑体" panose="02010609060101010101" pitchFamily="49" charset="-122"/>
              </a:rPr>
              <a:t>tRNA</a:t>
            </a:r>
            <a:r>
              <a:rPr lang="zh-CN" altLang="en-US" sz="2400" b="0">
                <a:solidFill>
                  <a:srgbClr val="0000CC"/>
                </a:solidFill>
                <a:latin typeface="Times New Roman" panose="02020603050405020304" pitchFamily="18" charset="0"/>
                <a:ea typeface="黑体" panose="02010609060101010101" pitchFamily="49" charset="-122"/>
              </a:rPr>
              <a:t>的叙述．错误的是</a:t>
            </a:r>
            <a:br>
              <a:rPr lang="zh-CN" altLang="en-US" sz="2400" b="0">
                <a:solidFill>
                  <a:schemeClr val="tx1"/>
                </a:solidFill>
                <a:latin typeface="Times New Roman" panose="02020603050405020304" pitchFamily="18" charset="0"/>
                <a:ea typeface="黑体" panose="02010609060101010101" pitchFamily="49" charset="-122"/>
              </a:rPr>
            </a:br>
            <a:r>
              <a:rPr lang="zh-CN" altLang="en-US" sz="2400" b="0">
                <a:solidFill>
                  <a:schemeClr val="tx1"/>
                </a:solidFill>
                <a:latin typeface="Times New Roman" panose="02020603050405020304" pitchFamily="18" charset="0"/>
                <a:ea typeface="黑体" panose="02010609060101010101" pitchFamily="49" charset="-122"/>
              </a:rPr>
              <a:t>       </a:t>
            </a:r>
            <a:r>
              <a:rPr lang="en-US" altLang="zh-CN" sz="2400" b="0">
                <a:solidFill>
                  <a:schemeClr val="tx1"/>
                </a:solidFill>
                <a:latin typeface="Times New Roman" panose="02020603050405020304" pitchFamily="18" charset="0"/>
                <a:ea typeface="黑体" panose="02010609060101010101" pitchFamily="49" charset="-122"/>
              </a:rPr>
              <a:t>A</a:t>
            </a:r>
            <a:r>
              <a:rPr lang="zh-CN" altLang="en-US" sz="2400" b="0">
                <a:solidFill>
                  <a:schemeClr val="tx1"/>
                </a:solidFill>
                <a:latin typeface="Times New Roman" panose="02020603050405020304" pitchFamily="18" charset="0"/>
                <a:ea typeface="黑体" panose="02010609060101010101" pitchFamily="49" charset="-122"/>
              </a:rPr>
              <a:t>．二级结构通常呈三叶草型 </a:t>
            </a:r>
          </a:p>
          <a:p>
            <a:pPr eaLnBrk="1" hangingPunct="1">
              <a:lnSpc>
                <a:spcPct val="135000"/>
              </a:lnSpc>
              <a:spcBef>
                <a:spcPct val="5000"/>
              </a:spcBef>
              <a:spcAft>
                <a:spcPct val="5000"/>
              </a:spcAft>
              <a:buClrTx/>
              <a:buFontTx/>
              <a:buNone/>
            </a:pPr>
            <a:r>
              <a:rPr lang="zh-CN" altLang="en-US" sz="2400" b="0">
                <a:solidFill>
                  <a:schemeClr val="tx1"/>
                </a:solidFill>
                <a:latin typeface="Times New Roman" panose="02020603050405020304" pitchFamily="18" charset="0"/>
                <a:ea typeface="黑体" panose="02010609060101010101" pitchFamily="49" charset="-122"/>
              </a:rPr>
              <a:t>       </a:t>
            </a:r>
            <a:r>
              <a:rPr lang="en-US" altLang="zh-CN" sz="2400" b="0">
                <a:solidFill>
                  <a:schemeClr val="tx1"/>
                </a:solidFill>
                <a:latin typeface="Times New Roman" panose="02020603050405020304" pitchFamily="18" charset="0"/>
                <a:ea typeface="黑体" panose="02010609060101010101" pitchFamily="49" charset="-122"/>
              </a:rPr>
              <a:t>B</a:t>
            </a:r>
            <a:r>
              <a:rPr lang="zh-CN" altLang="en-US" sz="2400" b="0">
                <a:solidFill>
                  <a:schemeClr val="tx1"/>
                </a:solidFill>
                <a:latin typeface="Times New Roman" panose="02020603050405020304" pitchFamily="18" charset="0"/>
                <a:ea typeface="黑体" panose="02010609060101010101" pitchFamily="49" charset="-122"/>
              </a:rPr>
              <a:t>．三级结构呈倒“</a:t>
            </a:r>
            <a:r>
              <a:rPr lang="en-US" altLang="zh-CN" sz="2400" b="0">
                <a:solidFill>
                  <a:schemeClr val="tx1"/>
                </a:solidFill>
                <a:latin typeface="Times New Roman" panose="02020603050405020304" pitchFamily="18" charset="0"/>
                <a:ea typeface="黑体" panose="02010609060101010101" pitchFamily="49" charset="-122"/>
              </a:rPr>
              <a:t>L”</a:t>
            </a:r>
            <a:r>
              <a:rPr lang="zh-CN" altLang="en-US" sz="2400" b="0">
                <a:solidFill>
                  <a:schemeClr val="tx1"/>
                </a:solidFill>
                <a:latin typeface="Times New Roman" panose="02020603050405020304" pitchFamily="18" charset="0"/>
                <a:ea typeface="黑体" panose="02010609060101010101" pitchFamily="49" charset="-122"/>
              </a:rPr>
              <a:t>型</a:t>
            </a:r>
            <a:br>
              <a:rPr lang="zh-CN" altLang="en-US" sz="2400" b="0">
                <a:solidFill>
                  <a:schemeClr val="tx1"/>
                </a:solidFill>
                <a:latin typeface="Times New Roman" panose="02020603050405020304" pitchFamily="18" charset="0"/>
                <a:ea typeface="黑体" panose="02010609060101010101" pitchFamily="49" charset="-122"/>
              </a:rPr>
            </a:br>
            <a:r>
              <a:rPr lang="zh-CN" altLang="en-US" sz="2400" b="0">
                <a:solidFill>
                  <a:schemeClr val="tx1"/>
                </a:solidFill>
                <a:latin typeface="Times New Roman" panose="02020603050405020304" pitchFamily="18" charset="0"/>
                <a:ea typeface="黑体" panose="02010609060101010101" pitchFamily="49" charset="-122"/>
              </a:rPr>
              <a:t>       </a:t>
            </a:r>
            <a:r>
              <a:rPr lang="en-US" altLang="zh-CN" sz="2400" b="0">
                <a:solidFill>
                  <a:schemeClr val="tx1"/>
                </a:solidFill>
                <a:latin typeface="Times New Roman" panose="02020603050405020304" pitchFamily="18" charset="0"/>
                <a:ea typeface="黑体" panose="02010609060101010101" pitchFamily="49" charset="-122"/>
              </a:rPr>
              <a:t>C</a:t>
            </a:r>
            <a:r>
              <a:rPr lang="zh-CN" altLang="en-US" sz="2400" b="0">
                <a:solidFill>
                  <a:schemeClr val="tx1"/>
                </a:solidFill>
                <a:latin typeface="Times New Roman" panose="02020603050405020304" pitchFamily="18" charset="0"/>
                <a:ea typeface="黑体" panose="02010609060101010101" pitchFamily="49" charset="-122"/>
              </a:rPr>
              <a:t>．具有一反密码子环 </a:t>
            </a:r>
          </a:p>
          <a:p>
            <a:pPr eaLnBrk="1" hangingPunct="1">
              <a:lnSpc>
                <a:spcPct val="135000"/>
              </a:lnSpc>
              <a:spcBef>
                <a:spcPct val="5000"/>
              </a:spcBef>
              <a:spcAft>
                <a:spcPct val="5000"/>
              </a:spcAft>
              <a:buClrTx/>
              <a:buFontTx/>
              <a:buNone/>
            </a:pPr>
            <a:r>
              <a:rPr lang="zh-CN" altLang="en-US" sz="2400" b="0">
                <a:solidFill>
                  <a:schemeClr val="tx1"/>
                </a:solidFill>
                <a:latin typeface="Times New Roman" panose="02020603050405020304" pitchFamily="18" charset="0"/>
                <a:ea typeface="黑体" panose="02010609060101010101" pitchFamily="49" charset="-122"/>
              </a:rPr>
              <a:t>       </a:t>
            </a:r>
            <a:r>
              <a:rPr lang="en-US" altLang="zh-CN" sz="2400" b="0">
                <a:solidFill>
                  <a:schemeClr val="tx1"/>
                </a:solidFill>
                <a:latin typeface="Times New Roman" panose="02020603050405020304" pitchFamily="18" charset="0"/>
                <a:ea typeface="黑体" panose="02010609060101010101" pitchFamily="49" charset="-122"/>
              </a:rPr>
              <a:t>D</a:t>
            </a:r>
            <a:r>
              <a:rPr lang="zh-CN" altLang="en-US" sz="2400" b="0">
                <a:solidFill>
                  <a:schemeClr val="tx1"/>
                </a:solidFill>
                <a:latin typeface="Times New Roman" panose="02020603050405020304" pitchFamily="18" charset="0"/>
                <a:ea typeface="黑体" panose="02010609060101010101" pitchFamily="49" charset="-122"/>
              </a:rPr>
              <a:t>．</a:t>
            </a:r>
            <a:r>
              <a:rPr lang="en-US" altLang="zh-CN" sz="2400" b="0">
                <a:solidFill>
                  <a:schemeClr val="tx1"/>
                </a:solidFill>
                <a:latin typeface="Times New Roman" panose="02020603050405020304" pitchFamily="18" charset="0"/>
                <a:ea typeface="黑体" panose="02010609060101010101" pitchFamily="49" charset="-122"/>
              </a:rPr>
              <a:t>5’</a:t>
            </a:r>
            <a:r>
              <a:rPr lang="zh-CN" altLang="en-US" sz="2400" b="0">
                <a:solidFill>
                  <a:schemeClr val="tx1"/>
                </a:solidFill>
                <a:latin typeface="Times New Roman" panose="02020603050405020304" pitchFamily="18" charset="0"/>
                <a:ea typeface="黑体" panose="02010609060101010101" pitchFamily="49" charset="-122"/>
              </a:rPr>
              <a:t>末端为</a:t>
            </a:r>
            <a:r>
              <a:rPr lang="en-US" altLang="zh-CN" sz="2400" b="0">
                <a:solidFill>
                  <a:schemeClr val="tx1"/>
                </a:solidFill>
                <a:latin typeface="Times New Roman" panose="02020603050405020304" pitchFamily="18" charset="0"/>
                <a:ea typeface="黑体" panose="02010609060101010101" pitchFamily="49" charset="-122"/>
              </a:rPr>
              <a:t>CCA-OH</a:t>
            </a:r>
            <a:br>
              <a:rPr lang="en-US" altLang="zh-CN" sz="2400" b="0">
                <a:solidFill>
                  <a:schemeClr val="tx1"/>
                </a:solidFill>
                <a:latin typeface="Times New Roman" panose="02020603050405020304" pitchFamily="18" charset="0"/>
                <a:ea typeface="黑体" panose="02010609060101010101" pitchFamily="49" charset="-122"/>
              </a:rPr>
            </a:br>
            <a:r>
              <a:rPr lang="en-US" altLang="zh-CN" sz="2400" b="0">
                <a:solidFill>
                  <a:schemeClr val="tx1"/>
                </a:solidFill>
                <a:latin typeface="Times New Roman" panose="02020603050405020304" pitchFamily="18" charset="0"/>
                <a:ea typeface="黑体" panose="02010609060101010101" pitchFamily="49" charset="-122"/>
              </a:rPr>
              <a:t>       E</a:t>
            </a:r>
            <a:r>
              <a:rPr lang="zh-CN" altLang="en-US" sz="2400" b="0">
                <a:solidFill>
                  <a:schemeClr val="tx1"/>
                </a:solidFill>
                <a:latin typeface="Times New Roman" panose="02020603050405020304" pitchFamily="18" charset="0"/>
                <a:ea typeface="黑体" panose="02010609060101010101" pitchFamily="49" charset="-122"/>
              </a:rPr>
              <a:t>．有一个</a:t>
            </a:r>
            <a:r>
              <a:rPr lang="en-US" altLang="zh-CN" sz="2400" b="0">
                <a:solidFill>
                  <a:schemeClr val="tx1"/>
                </a:solidFill>
                <a:latin typeface="Times New Roman" panose="02020603050405020304" pitchFamily="18" charset="0"/>
                <a:ea typeface="黑体" panose="02010609060101010101" pitchFamily="49" charset="-122"/>
              </a:rPr>
              <a:t>TψC</a:t>
            </a:r>
            <a:r>
              <a:rPr lang="zh-CN" altLang="en-US" sz="2400" b="0">
                <a:solidFill>
                  <a:schemeClr val="tx1"/>
                </a:solidFill>
                <a:latin typeface="Times New Roman" panose="02020603050405020304" pitchFamily="18" charset="0"/>
                <a:ea typeface="黑体" panose="02010609060101010101" pitchFamily="49" charset="-122"/>
              </a:rPr>
              <a:t>环 </a:t>
            </a:r>
          </a:p>
        </p:txBody>
      </p:sp>
      <p:sp>
        <p:nvSpPr>
          <p:cNvPr id="3" name="矩形 2">
            <a:extLst>
              <a:ext uri="{FF2B5EF4-FFF2-40B4-BE49-F238E27FC236}">
                <a16:creationId xmlns:a16="http://schemas.microsoft.com/office/drawing/2014/main" id="{9C8E8B2A-6B59-4667-9B5C-D8B18C35ED5B}"/>
              </a:ext>
            </a:extLst>
          </p:cNvPr>
          <p:cNvSpPr>
            <a:spLocks noChangeArrowheads="1"/>
          </p:cNvSpPr>
          <p:nvPr/>
        </p:nvSpPr>
        <p:spPr bwMode="auto">
          <a:xfrm>
            <a:off x="8975726" y="1331913"/>
            <a:ext cx="8032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v"/>
              <a:defRPr sz="2800" b="1">
                <a:solidFill>
                  <a:srgbClr val="003300"/>
                </a:solidFill>
                <a:latin typeface="微软雅黑" panose="020B0503020204020204" pitchFamily="34" charset="-122"/>
                <a:ea typeface="微软雅黑" panose="020B0503020204020204" pitchFamily="34" charset="-122"/>
              </a:defRPr>
            </a:lvl1pPr>
            <a:lvl2pPr marL="742950" indent="-285750">
              <a:spcBef>
                <a:spcPct val="20000"/>
              </a:spcBef>
              <a:buClr>
                <a:schemeClr val="tx2"/>
              </a:buClr>
              <a:buFont typeface="Wingdings" panose="05000000000000000000" pitchFamily="2" charset="2"/>
              <a:buChar char="§"/>
              <a:defRPr sz="2800">
                <a:solidFill>
                  <a:srgbClr val="003300"/>
                </a:solidFill>
                <a:latin typeface="微软雅黑" panose="020B0503020204020204" pitchFamily="34" charset="-122"/>
                <a:ea typeface="微软雅黑" panose="020B0503020204020204" pitchFamily="34" charset="-122"/>
              </a:defRPr>
            </a:lvl2pPr>
            <a:lvl3pPr marL="1143000" indent="-228600">
              <a:spcBef>
                <a:spcPct val="20000"/>
              </a:spcBef>
              <a:buClr>
                <a:schemeClr val="tx1"/>
              </a:buClr>
              <a:buChar char="•"/>
              <a:defRPr sz="2400">
                <a:solidFill>
                  <a:srgbClr val="003300"/>
                </a:solidFill>
                <a:latin typeface="微软雅黑" panose="020B0503020204020204" pitchFamily="34" charset="-122"/>
                <a:ea typeface="微软雅黑" panose="020B0503020204020204" pitchFamily="34" charset="-122"/>
              </a:defRPr>
            </a:lvl3pPr>
            <a:lvl4pPr marL="16002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4pPr>
            <a:lvl5pPr marL="2057400" indent="-228600">
              <a:spcBef>
                <a:spcPct val="20000"/>
              </a:spcBef>
              <a:buChar char="»"/>
              <a:defRPr sz="2000">
                <a:solidFill>
                  <a:srgbClr val="003300"/>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000">
                <a:solidFill>
                  <a:srgbClr val="003300"/>
                </a:solidFill>
                <a:latin typeface="微软雅黑" panose="020B0503020204020204" pitchFamily="34" charset="-122"/>
                <a:ea typeface="微软雅黑" panose="020B0503020204020204" pitchFamily="34" charset="-122"/>
              </a:defRPr>
            </a:lvl9pPr>
          </a:lstStyle>
          <a:p>
            <a:pPr>
              <a:spcBef>
                <a:spcPct val="0"/>
              </a:spcBef>
              <a:buClrTx/>
              <a:buFontTx/>
              <a:buNone/>
            </a:pPr>
            <a:r>
              <a:rPr lang="en-US" altLang="zh-CN" sz="3200">
                <a:solidFill>
                  <a:srgbClr val="C00000"/>
                </a:solidFill>
                <a:latin typeface="Times New Roman" panose="02020603050405020304" pitchFamily="18" charset="0"/>
                <a:ea typeface="宋体" panose="02010600030101010101" pitchFamily="2" charset="-122"/>
              </a:rPr>
              <a:t>D</a:t>
            </a:r>
            <a:endParaRPr lang="zh-CN" altLang="en-US" sz="3200">
              <a:solidFill>
                <a:srgbClr val="C00000"/>
              </a:solidFill>
              <a:latin typeface="Times New Roman" panose="02020603050405020304" pitchFamily="18" charset="0"/>
              <a:ea typeface="宋体" panose="02010600030101010101" pitchFamily="2"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241TGp_family_light_v2">
  <a:themeElements>
    <a:clrScheme name="241TGp_family_light_v2 1">
      <a:dk1>
        <a:srgbClr val="003300"/>
      </a:dk1>
      <a:lt1>
        <a:srgbClr val="FFFFFF"/>
      </a:lt1>
      <a:dk2>
        <a:srgbClr val="FF9900"/>
      </a:dk2>
      <a:lt2>
        <a:srgbClr val="C0C0C0"/>
      </a:lt2>
      <a:accent1>
        <a:srgbClr val="3FB564"/>
      </a:accent1>
      <a:accent2>
        <a:srgbClr val="15A2E9"/>
      </a:accent2>
      <a:accent3>
        <a:srgbClr val="FFFFFF"/>
      </a:accent3>
      <a:accent4>
        <a:srgbClr val="002A00"/>
      </a:accent4>
      <a:accent5>
        <a:srgbClr val="AFD7B8"/>
      </a:accent5>
      <a:accent6>
        <a:srgbClr val="1292D3"/>
      </a:accent6>
      <a:hlink>
        <a:srgbClr val="7F70D8"/>
      </a:hlink>
      <a:folHlink>
        <a:srgbClr val="A1A18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241TGp_family_light_v2 1">
        <a:dk1>
          <a:srgbClr val="003300"/>
        </a:dk1>
        <a:lt1>
          <a:srgbClr val="FFFFFF"/>
        </a:lt1>
        <a:dk2>
          <a:srgbClr val="FF9900"/>
        </a:dk2>
        <a:lt2>
          <a:srgbClr val="C0C0C0"/>
        </a:lt2>
        <a:accent1>
          <a:srgbClr val="3FB564"/>
        </a:accent1>
        <a:accent2>
          <a:srgbClr val="15A2E9"/>
        </a:accent2>
        <a:accent3>
          <a:srgbClr val="FFFFFF"/>
        </a:accent3>
        <a:accent4>
          <a:srgbClr val="002A00"/>
        </a:accent4>
        <a:accent5>
          <a:srgbClr val="AFD7B8"/>
        </a:accent5>
        <a:accent6>
          <a:srgbClr val="1292D3"/>
        </a:accent6>
        <a:hlink>
          <a:srgbClr val="7F70D8"/>
        </a:hlink>
        <a:folHlink>
          <a:srgbClr val="A1A18B"/>
        </a:folHlink>
      </a:clrScheme>
      <a:clrMap bg1="lt1" tx1="dk1" bg2="lt2" tx2="dk2" accent1="accent1" accent2="accent2" accent3="accent3" accent4="accent4" accent5="accent5" accent6="accent6" hlink="hlink" folHlink="folHlink"/>
    </a:extraClrScheme>
    <a:extraClrScheme>
      <a:clrScheme name="241TGp_family_light_v2 2">
        <a:dk1>
          <a:srgbClr val="30311D"/>
        </a:dk1>
        <a:lt1>
          <a:srgbClr val="FFFFFF"/>
        </a:lt1>
        <a:dk2>
          <a:srgbClr val="44808E"/>
        </a:dk2>
        <a:lt2>
          <a:srgbClr val="DDDDDD"/>
        </a:lt2>
        <a:accent1>
          <a:srgbClr val="DCC242"/>
        </a:accent1>
        <a:accent2>
          <a:srgbClr val="388FDE"/>
        </a:accent2>
        <a:accent3>
          <a:srgbClr val="FFFFFF"/>
        </a:accent3>
        <a:accent4>
          <a:srgbClr val="272817"/>
        </a:accent4>
        <a:accent5>
          <a:srgbClr val="EBDDB0"/>
        </a:accent5>
        <a:accent6>
          <a:srgbClr val="3281C9"/>
        </a:accent6>
        <a:hlink>
          <a:srgbClr val="57BB7D"/>
        </a:hlink>
        <a:folHlink>
          <a:srgbClr val="A1A18B"/>
        </a:folHlink>
      </a:clrScheme>
      <a:clrMap bg1="lt1" tx1="dk1" bg2="lt2" tx2="dk2" accent1="accent1" accent2="accent2" accent3="accent3" accent4="accent4" accent5="accent5" accent6="accent6" hlink="hlink" folHlink="folHlink"/>
    </a:extraClrScheme>
    <a:extraClrScheme>
      <a:clrScheme name="241TGp_family_light_v2 3">
        <a:dk1>
          <a:srgbClr val="000000"/>
        </a:dk1>
        <a:lt1>
          <a:srgbClr val="FFFFFF"/>
        </a:lt1>
        <a:dk2>
          <a:srgbClr val="1367BB"/>
        </a:dk2>
        <a:lt2>
          <a:srgbClr val="C0C0C0"/>
        </a:lt2>
        <a:accent1>
          <a:srgbClr val="68B3D8"/>
        </a:accent1>
        <a:accent2>
          <a:srgbClr val="EC8D4C"/>
        </a:accent2>
        <a:accent3>
          <a:srgbClr val="FFFFFF"/>
        </a:accent3>
        <a:accent4>
          <a:srgbClr val="000000"/>
        </a:accent4>
        <a:accent5>
          <a:srgbClr val="B9D6E9"/>
        </a:accent5>
        <a:accent6>
          <a:srgbClr val="D67F44"/>
        </a:accent6>
        <a:hlink>
          <a:srgbClr val="4CC737"/>
        </a:hlink>
        <a:folHlink>
          <a:srgbClr val="90A8B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14380</Words>
  <Application>Microsoft Office PowerPoint</Application>
  <PresentationFormat>宽屏</PresentationFormat>
  <Paragraphs>1305</Paragraphs>
  <Slides>138</Slides>
  <Notes>136</Notes>
  <HiddenSlides>48</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4</vt:i4>
      </vt:variant>
      <vt:variant>
        <vt:lpstr>幻灯片标题</vt:lpstr>
      </vt:variant>
      <vt:variant>
        <vt:i4>138</vt:i4>
      </vt:variant>
    </vt:vector>
  </HeadingPairs>
  <TitlesOfParts>
    <vt:vector size="167" baseType="lpstr">
      <vt:lpstr>AdvOTa40bbbbf</vt:lpstr>
      <vt:lpstr>AdvOTa88ee647</vt:lpstr>
      <vt:lpstr>-apple-system</vt:lpstr>
      <vt:lpstr>-apple-system-font</vt:lpstr>
      <vt:lpstr>黑体</vt:lpstr>
      <vt:lpstr>华文楷体</vt:lpstr>
      <vt:lpstr>华文新魏</vt:lpstr>
      <vt:lpstr>楷体_GB2312</vt:lpstr>
      <vt:lpstr>隶书</vt:lpstr>
      <vt:lpstr>宋体</vt:lpstr>
      <vt:lpstr>微软雅黑</vt:lpstr>
      <vt:lpstr>微软雅黑</vt:lpstr>
      <vt:lpstr>微软雅黑 Light</vt:lpstr>
      <vt:lpstr>Arial</vt:lpstr>
      <vt:lpstr>Arial Black</vt:lpstr>
      <vt:lpstr>Arial Narrow</vt:lpstr>
      <vt:lpstr>Calibri</vt:lpstr>
      <vt:lpstr>Impact</vt:lpstr>
      <vt:lpstr>Lucida Sans Unicode</vt:lpstr>
      <vt:lpstr>Symbol</vt:lpstr>
      <vt:lpstr>Tahoma</vt:lpstr>
      <vt:lpstr>Times</vt:lpstr>
      <vt:lpstr>Times New Roman</vt:lpstr>
      <vt:lpstr>Wingdings</vt:lpstr>
      <vt:lpstr>241TGp_family_light_v2</vt:lpstr>
      <vt:lpstr>ACD ChemSketch 2.0</vt:lpstr>
      <vt:lpstr>ChemSketch</vt:lpstr>
      <vt:lpstr>文档</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核酸或核苷酸含特定碱基和戊糖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DNA与RNA的分子组成差异</vt:lpstr>
      <vt:lpstr>PowerPoint 演示文稿</vt:lpstr>
      <vt:lpstr>PowerPoint 演示文稿</vt:lpstr>
      <vt:lpstr>PowerPoint 演示文稿</vt:lpstr>
      <vt:lpstr>体内重要的游离核苷酸及其衍生物</vt:lpstr>
      <vt:lpstr>PowerPoint 演示文稿</vt:lpstr>
      <vt:lpstr>PowerPoint 演示文稿</vt:lpstr>
      <vt:lpstr>PowerPoint 演示文稿</vt:lpstr>
      <vt:lpstr>辅酶A（Coenzyme A, HSCoA, CoA-SH）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为什么有大沟和小沟</vt:lpstr>
      <vt:lpstr>PowerPoint 演示文稿</vt:lpstr>
      <vt:lpstr>PowerPoint 演示文稿</vt:lpstr>
      <vt:lpstr>PowerPoint 演示文稿</vt:lpstr>
      <vt:lpstr>PowerPoint 演示文稿</vt:lpstr>
      <vt:lpstr>PowerPoint 演示文稿</vt:lpstr>
      <vt:lpstr>PowerPoint 演示文稿</vt:lpstr>
      <vt:lpstr>DNA二级结构记忆口诀</vt:lpstr>
      <vt:lpstr>PowerPoint 演示文稿</vt:lpstr>
      <vt:lpstr>PowerPoint 演示文稿</vt:lpstr>
      <vt:lpstr>PowerPoint 演示文稿</vt:lpstr>
      <vt:lpstr>PowerPoint 演示文稿</vt:lpstr>
      <vt:lpstr>PowerPoint 演示文稿</vt:lpstr>
      <vt:lpstr>PowerPoint 演示文稿</vt:lpstr>
      <vt:lpstr>DNA的三链结构</vt:lpstr>
      <vt:lpstr>三股螺旋中的Hoogsteen氢键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30nm纤维的生成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美国国家生物技术信息中心 National Center for Biotechnology Information(NCBI) </vt:lpstr>
      <vt:lpstr>PowerPoint 演示文稿</vt:lpstr>
      <vt:lpstr>课堂练习 </vt:lpstr>
      <vt:lpstr>PowerPoint 演示文稿</vt:lpstr>
      <vt:lpstr>PowerPoint 演示文稿</vt:lpstr>
      <vt:lpstr>RNA的种类</vt:lpstr>
      <vt:lpstr>PowerPoint 演示文稿</vt:lpstr>
      <vt:lpstr>PowerPoint 演示文稿</vt:lpstr>
      <vt:lpstr>许多RNA有复杂的三维结构</vt:lpstr>
      <vt:lpstr>RNA与DNA的比较</vt:lpstr>
      <vt:lpstr>PowerPoint 演示文稿</vt:lpstr>
      <vt:lpstr>PowerPoint 演示文稿</vt:lpstr>
      <vt:lpstr>pre-mRNA在5末端加入帽子结构       (m7GpppGp —)</vt:lpstr>
      <vt:lpstr>真核mRNA5加帽过程 </vt:lpstr>
      <vt:lpstr>pre-mRNA在３’端特异点断裂并加上多聚腺苷酸尾  加尾信号： AAUAAA序列  CPSF：剪切和聚腺苷酸化特异性因子 CstF ：剪除刺激因子 CF：    剪除因子  PAP： 多聚腺苷酸聚合酶 PABP：多聚腺苷酸结合蛋白</vt:lpstr>
      <vt:lpstr>PowerPoint 演示文稿</vt:lpstr>
      <vt:lpstr>成熟mRNA含编码区和两端非编码区</vt:lpstr>
      <vt:lpstr>原核mRNA与真核mRNA也称顺反子</vt:lpstr>
      <vt:lpstr>PowerPoint 演示文稿</vt:lpstr>
      <vt:lpstr>PowerPoint 演示文稿</vt:lpstr>
      <vt:lpstr>PowerPoint 演示文稿</vt:lpstr>
      <vt:lpstr>PowerPoint 演示文稿</vt:lpstr>
      <vt:lpstr>PowerPoint 演示文稿</vt:lpstr>
      <vt:lpstr>氨基酸臂结合氨基酸</vt:lpstr>
      <vt:lpstr>PowerPoint 演示文稿</vt:lpstr>
      <vt:lpstr>PowerPoint 演示文稿</vt:lpstr>
      <vt:lpstr>PowerPoint 演示文稿</vt:lpstr>
      <vt:lpstr>PowerPoint 演示文稿</vt:lpstr>
      <vt:lpstr>PowerPoint 演示文稿</vt:lpstr>
      <vt:lpstr>核糖体的组成</vt:lpstr>
      <vt:lpstr>PowerPoint 演示文稿</vt:lpstr>
      <vt:lpstr>核糖体有三个tRNA结合位点</vt:lpstr>
      <vt:lpstr>PowerPoint 演示文稿</vt:lpstr>
      <vt:lpstr>四、组成性非编码RNA参与RNA修饰及蛋白质转运</vt:lpstr>
      <vt:lpstr>五、调控性非编码RNA调控基因表达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六、 核酶是具有生物催化功能的RNA 分子</vt:lpstr>
      <vt:lpstr>核酶（ribozyme)的意义</vt:lpstr>
      <vt:lpstr>PowerPoint 演示文稿</vt:lpstr>
      <vt:lpstr>PowerPoint 演示文稿</vt:lpstr>
      <vt:lpstr>PowerPoint 演示文稿</vt:lpstr>
      <vt:lpstr>核苷酸的紫外吸收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核酸的结构和功能</dc:title>
  <dc:creator/>
  <cp:lastModifiedBy/>
  <cp:revision>217</cp:revision>
  <dcterms:created xsi:type="dcterms:W3CDTF">2003-07-12T09:39:54Z</dcterms:created>
  <dcterms:modified xsi:type="dcterms:W3CDTF">2026-09-10T11:38:11Z</dcterms:modified>
</cp:coreProperties>
</file>