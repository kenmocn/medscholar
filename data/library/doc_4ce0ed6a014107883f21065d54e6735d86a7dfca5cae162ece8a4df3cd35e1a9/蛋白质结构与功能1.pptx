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tags/tag2.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3.xml" ContentType="application/vnd.openxmlformats-officedocument.presentationml.tags+xml"/>
  <Override PartName="/ppt/notesSlides/notesSlide12.xml" ContentType="application/vnd.openxmlformats-officedocument.presentationml.notesSlide+xml"/>
  <Override PartName="/ppt/tags/tag4.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5.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6.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7.xml" ContentType="application/vnd.openxmlformats-officedocument.presentationml.tags+xml"/>
  <Override PartName="/ppt/notesSlides/notesSlide27.xml" ContentType="application/vnd.openxmlformats-officedocument.presentationml.notesSlide+xml"/>
  <Override PartName="/ppt/tags/tag8.xml" ContentType="application/vnd.openxmlformats-officedocument.presentationml.tags+xml"/>
  <Override PartName="/ppt/notesSlides/notesSlide28.xml" ContentType="application/vnd.openxmlformats-officedocument.presentationml.notesSlide+xml"/>
  <Override PartName="/ppt/tags/tag9.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10.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11.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12.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51" r:id="rId1"/>
    <p:sldMasterId id="2147485448" r:id="rId2"/>
  </p:sldMasterIdLst>
  <p:notesMasterIdLst>
    <p:notesMasterId r:id="rId136"/>
  </p:notesMasterIdLst>
  <p:handoutMasterIdLst>
    <p:handoutMasterId r:id="rId137"/>
  </p:handoutMasterIdLst>
  <p:sldIdLst>
    <p:sldId id="1013" r:id="rId3"/>
    <p:sldId id="1016" r:id="rId4"/>
    <p:sldId id="667" r:id="rId5"/>
    <p:sldId id="530" r:id="rId6"/>
    <p:sldId id="258" r:id="rId7"/>
    <p:sldId id="259" r:id="rId8"/>
    <p:sldId id="1051" r:id="rId9"/>
    <p:sldId id="260" r:id="rId10"/>
    <p:sldId id="395" r:id="rId11"/>
    <p:sldId id="261" r:id="rId12"/>
    <p:sldId id="262" r:id="rId13"/>
    <p:sldId id="263" r:id="rId14"/>
    <p:sldId id="510" r:id="rId15"/>
    <p:sldId id="264" r:id="rId16"/>
    <p:sldId id="647" r:id="rId17"/>
    <p:sldId id="800" r:id="rId18"/>
    <p:sldId id="266" r:id="rId19"/>
    <p:sldId id="413" r:id="rId20"/>
    <p:sldId id="414" r:id="rId21"/>
    <p:sldId id="415" r:id="rId22"/>
    <p:sldId id="416" r:id="rId23"/>
    <p:sldId id="417" r:id="rId24"/>
    <p:sldId id="1007" r:id="rId25"/>
    <p:sldId id="958" r:id="rId26"/>
    <p:sldId id="720" r:id="rId27"/>
    <p:sldId id="969" r:id="rId28"/>
    <p:sldId id="970" r:id="rId29"/>
    <p:sldId id="971" r:id="rId30"/>
    <p:sldId id="972" r:id="rId31"/>
    <p:sldId id="973" r:id="rId32"/>
    <p:sldId id="1008" r:id="rId33"/>
    <p:sldId id="1009" r:id="rId34"/>
    <p:sldId id="974" r:id="rId35"/>
    <p:sldId id="975" r:id="rId36"/>
    <p:sldId id="976" r:id="rId37"/>
    <p:sldId id="272" r:id="rId38"/>
    <p:sldId id="419" r:id="rId39"/>
    <p:sldId id="854" r:id="rId40"/>
    <p:sldId id="726" r:id="rId41"/>
    <p:sldId id="491" r:id="rId42"/>
    <p:sldId id="1039" r:id="rId43"/>
    <p:sldId id="1040" r:id="rId44"/>
    <p:sldId id="1041" r:id="rId45"/>
    <p:sldId id="423" r:id="rId46"/>
    <p:sldId id="274" r:id="rId47"/>
    <p:sldId id="275" r:id="rId48"/>
    <p:sldId id="718" r:id="rId49"/>
    <p:sldId id="277" r:id="rId50"/>
    <p:sldId id="278" r:id="rId51"/>
    <p:sldId id="696" r:id="rId52"/>
    <p:sldId id="492" r:id="rId53"/>
    <p:sldId id="280" r:id="rId54"/>
    <p:sldId id="393" r:id="rId55"/>
    <p:sldId id="665" r:id="rId56"/>
    <p:sldId id="281" r:id="rId57"/>
    <p:sldId id="282" r:id="rId58"/>
    <p:sldId id="421" r:id="rId59"/>
    <p:sldId id="676" r:id="rId60"/>
    <p:sldId id="283" r:id="rId61"/>
    <p:sldId id="652" r:id="rId62"/>
    <p:sldId id="487" r:id="rId63"/>
    <p:sldId id="1010" r:id="rId64"/>
    <p:sldId id="285" r:id="rId65"/>
    <p:sldId id="286" r:id="rId66"/>
    <p:sldId id="516" r:id="rId67"/>
    <p:sldId id="428" r:id="rId68"/>
    <p:sldId id="478" r:id="rId69"/>
    <p:sldId id="724" r:id="rId70"/>
    <p:sldId id="1047" r:id="rId71"/>
    <p:sldId id="1011" r:id="rId72"/>
    <p:sldId id="287" r:id="rId73"/>
    <p:sldId id="429" r:id="rId74"/>
    <p:sldId id="666" r:id="rId75"/>
    <p:sldId id="653" r:id="rId76"/>
    <p:sldId id="680" r:id="rId77"/>
    <p:sldId id="430" r:id="rId78"/>
    <p:sldId id="291" r:id="rId79"/>
    <p:sldId id="290" r:id="rId80"/>
    <p:sldId id="397" r:id="rId81"/>
    <p:sldId id="698" r:id="rId82"/>
    <p:sldId id="549" r:id="rId83"/>
    <p:sldId id="501" r:id="rId84"/>
    <p:sldId id="732" r:id="rId85"/>
    <p:sldId id="988" r:id="rId86"/>
    <p:sldId id="986" r:id="rId87"/>
    <p:sldId id="1055" r:id="rId88"/>
    <p:sldId id="550" r:id="rId89"/>
    <p:sldId id="544" r:id="rId90"/>
    <p:sldId id="1048" r:id="rId91"/>
    <p:sldId id="668" r:id="rId92"/>
    <p:sldId id="489" r:id="rId93"/>
    <p:sldId id="562" r:id="rId94"/>
    <p:sldId id="727" r:id="rId95"/>
    <p:sldId id="564" r:id="rId96"/>
    <p:sldId id="532" r:id="rId97"/>
    <p:sldId id="561" r:id="rId98"/>
    <p:sldId id="294" r:id="rId99"/>
    <p:sldId id="719" r:id="rId100"/>
    <p:sldId id="626" r:id="rId101"/>
    <p:sldId id="627" r:id="rId102"/>
    <p:sldId id="438" r:id="rId103"/>
    <p:sldId id="702" r:id="rId104"/>
    <p:sldId id="703" r:id="rId105"/>
    <p:sldId id="440" r:id="rId106"/>
    <p:sldId id="454" r:id="rId107"/>
    <p:sldId id="722" r:id="rId108"/>
    <p:sldId id="959" r:id="rId109"/>
    <p:sldId id="297" r:id="rId110"/>
    <p:sldId id="551" r:id="rId111"/>
    <p:sldId id="299" r:id="rId112"/>
    <p:sldId id="401" r:id="rId113"/>
    <p:sldId id="502" r:id="rId114"/>
    <p:sldId id="711" r:id="rId115"/>
    <p:sldId id="1042" r:id="rId116"/>
    <p:sldId id="728" r:id="rId117"/>
    <p:sldId id="996" r:id="rId118"/>
    <p:sldId id="810" r:id="rId119"/>
    <p:sldId id="302" r:id="rId120"/>
    <p:sldId id="442" r:id="rId121"/>
    <p:sldId id="356" r:id="rId122"/>
    <p:sldId id="957" r:id="rId123"/>
    <p:sldId id="697" r:id="rId124"/>
    <p:sldId id="1053" r:id="rId125"/>
    <p:sldId id="1056" r:id="rId126"/>
    <p:sldId id="616" r:id="rId127"/>
    <p:sldId id="624" r:id="rId128"/>
    <p:sldId id="1054" r:id="rId129"/>
    <p:sldId id="706" r:id="rId130"/>
    <p:sldId id="725" r:id="rId131"/>
    <p:sldId id="625" r:id="rId132"/>
    <p:sldId id="714" r:id="rId133"/>
    <p:sldId id="1014" r:id="rId134"/>
    <p:sldId id="677" r:id="rId135"/>
  </p:sldIdLst>
  <p:sldSz cx="12192000" cy="6858000"/>
  <p:notesSz cx="6858000" cy="9144000"/>
  <p:defaultTextStyle>
    <a:defPPr>
      <a:defRPr lang="zh-CN"/>
    </a:defPPr>
    <a:lvl1pPr algn="l" rtl="0" eaLnBrk="0" fontAlgn="base" hangingPunct="0">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79"/>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0000"/>
    <a:srgbClr val="000066"/>
    <a:srgbClr val="1865AB"/>
    <a:srgbClr val="FFFFFF"/>
    <a:srgbClr val="355103"/>
    <a:srgbClr val="006600"/>
    <a:srgbClr val="CC00CC"/>
    <a:srgbClr val="E68497"/>
    <a:srgbClr val="B747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26" autoAdjust="0"/>
    <p:restoredTop sz="53522" autoAdjust="0"/>
  </p:normalViewPr>
  <p:slideViewPr>
    <p:cSldViewPr>
      <p:cViewPr varScale="1">
        <p:scale>
          <a:sx n="52" d="100"/>
          <a:sy n="52" d="100"/>
        </p:scale>
        <p:origin x="1516" y="32"/>
      </p:cViewPr>
      <p:guideLst>
        <p:guide orient="horz" pos="2160"/>
        <p:guide pos="3840"/>
      </p:guideLst>
    </p:cSldViewPr>
  </p:slideViewPr>
  <p:outlineViewPr>
    <p:cViewPr>
      <p:scale>
        <a:sx n="33" d="100"/>
        <a:sy n="33" d="100"/>
      </p:scale>
      <p:origin x="0" y="546"/>
    </p:cViewPr>
    <p:sldLst>
      <p:sld r:id="rId1" collapse="1"/>
      <p:sld r:id="rId2" collapse="1"/>
      <p:sld r:id="rId3" collapse="1"/>
    </p:sldLst>
  </p:outlineViewPr>
  <p:notesTextViewPr>
    <p:cViewPr>
      <p:scale>
        <a:sx n="130" d="100"/>
        <a:sy n="130" d="100"/>
      </p:scale>
      <p:origin x="0" y="0"/>
    </p:cViewPr>
  </p:notesTextViewPr>
  <p:sorterViewPr>
    <p:cViewPr varScale="1">
      <p:scale>
        <a:sx n="1" d="1"/>
        <a:sy n="1" d="1"/>
      </p:scale>
      <p:origin x="0" y="-24984"/>
    </p:cViewPr>
  </p:sorterViewPr>
  <p:notesViewPr>
    <p:cSldViewPr>
      <p:cViewPr varScale="1">
        <p:scale>
          <a:sx n="66" d="100"/>
          <a:sy n="66" d="100"/>
        </p:scale>
        <p:origin x="3252"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commentAuthors" Target="commentAuthors.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presProps" Target="presProp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notesMaster" Target="notesMasters/notesMaster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tableStyles" Target="tableStyles.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6" Type="http://schemas.openxmlformats.org/officeDocument/2006/relationships/slide" Target="slides/slide14.xml"/></Relationships>
</file>

<file path=ppt/_rels/viewProps.xml.rels><?xml version="1.0" encoding="UTF-8" standalone="yes"?>
<Relationships xmlns="http://schemas.openxmlformats.org/package/2006/relationships"><Relationship Id="rId3" Type="http://schemas.openxmlformats.org/officeDocument/2006/relationships/slide" Target="slides/slide106.xml"/><Relationship Id="rId2" Type="http://schemas.openxmlformats.org/officeDocument/2006/relationships/slide" Target="slides/slide92.xml"/><Relationship Id="rId1" Type="http://schemas.openxmlformats.org/officeDocument/2006/relationships/slide" Target="slides/slide9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0050" name="Rectangle 2">
            <a:extLst>
              <a:ext uri="{FF2B5EF4-FFF2-40B4-BE49-F238E27FC236}">
                <a16:creationId xmlns:a16="http://schemas.microsoft.com/office/drawing/2014/main" id="{A3F33FB9-C602-4803-B4CB-76188CF397FF}"/>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itchFamily="18" charset="0"/>
              </a:defRPr>
            </a:lvl1pPr>
          </a:lstStyle>
          <a:p>
            <a:pPr>
              <a:defRPr/>
            </a:pPr>
            <a:endParaRPr lang="en-US" altLang="zh-CN"/>
          </a:p>
        </p:txBody>
      </p:sp>
      <p:sp>
        <p:nvSpPr>
          <p:cNvPr id="770051" name="Rectangle 3">
            <a:extLst>
              <a:ext uri="{FF2B5EF4-FFF2-40B4-BE49-F238E27FC236}">
                <a16:creationId xmlns:a16="http://schemas.microsoft.com/office/drawing/2014/main" id="{72AA2284-3E81-4B7B-AF7C-643FEB5C1D73}"/>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a:latin typeface="Times New Roman" pitchFamily="18" charset="0"/>
              </a:defRPr>
            </a:lvl1pPr>
          </a:lstStyle>
          <a:p>
            <a:pPr>
              <a:defRPr/>
            </a:pPr>
            <a:fld id="{532922C3-62DC-4337-8625-EBCA01D566AA}" type="datetime1">
              <a:rPr lang="zh-CN" altLang="en-US"/>
              <a:pPr>
                <a:defRPr/>
              </a:pPr>
              <a:t>2026/9/1</a:t>
            </a:fld>
            <a:endParaRPr lang="en-US" altLang="zh-CN" dirty="0"/>
          </a:p>
        </p:txBody>
      </p:sp>
      <p:sp>
        <p:nvSpPr>
          <p:cNvPr id="770052" name="Rectangle 4">
            <a:extLst>
              <a:ext uri="{FF2B5EF4-FFF2-40B4-BE49-F238E27FC236}">
                <a16:creationId xmlns:a16="http://schemas.microsoft.com/office/drawing/2014/main" id="{167906A8-859A-42D3-828B-E718BE0A2E31}"/>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itchFamily="18" charset="0"/>
              </a:defRPr>
            </a:lvl1pPr>
          </a:lstStyle>
          <a:p>
            <a:pPr>
              <a:defRPr/>
            </a:pPr>
            <a:endParaRPr lang="en-US" altLang="zh-CN"/>
          </a:p>
        </p:txBody>
      </p:sp>
      <p:sp>
        <p:nvSpPr>
          <p:cNvPr id="770053" name="Rectangle 5">
            <a:extLst>
              <a:ext uri="{FF2B5EF4-FFF2-40B4-BE49-F238E27FC236}">
                <a16:creationId xmlns:a16="http://schemas.microsoft.com/office/drawing/2014/main" id="{E920EC2A-2BBA-41BF-9535-0F9A6954CA16}"/>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a:latin typeface="Times New Roman" panose="02020603050405020304" pitchFamily="18" charset="0"/>
              </a:defRPr>
            </a:lvl1pPr>
          </a:lstStyle>
          <a:p>
            <a:pPr>
              <a:defRPr/>
            </a:pPr>
            <a:fld id="{1BE6614D-F8EF-4609-8D4F-2C20EE9CF4DC}" type="slidenum">
              <a:rPr lang="en-US" altLang="zh-CN"/>
              <a:pPr>
                <a:defRPr/>
              </a:pPr>
              <a:t>‹#›</a:t>
            </a:fld>
            <a:endParaRPr lang="en-US" altLang="zh-CN"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D458C45E-2A8A-4BDA-BB22-9D928186DB6B}"/>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200">
                <a:latin typeface="Tahoma" pitchFamily="34" charset="0"/>
              </a:defRPr>
            </a:lvl1pPr>
          </a:lstStyle>
          <a:p>
            <a:pPr>
              <a:defRPr/>
            </a:pPr>
            <a:endParaRPr lang="en-US" altLang="zh-CN"/>
          </a:p>
        </p:txBody>
      </p:sp>
      <p:sp>
        <p:nvSpPr>
          <p:cNvPr id="116739" name="Rectangle 3">
            <a:extLst>
              <a:ext uri="{FF2B5EF4-FFF2-40B4-BE49-F238E27FC236}">
                <a16:creationId xmlns:a16="http://schemas.microsoft.com/office/drawing/2014/main" id="{D809A331-5C51-4CCE-B6E4-8161CDFD9EA6}"/>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a:latin typeface="Tahoma" pitchFamily="34" charset="0"/>
              </a:defRPr>
            </a:lvl1pPr>
          </a:lstStyle>
          <a:p>
            <a:pPr>
              <a:defRPr/>
            </a:pPr>
            <a:fld id="{EA205CC4-1CAE-4FA1-A962-1A34DB7C7879}" type="datetime1">
              <a:rPr lang="zh-CN" altLang="en-US"/>
              <a:pPr>
                <a:defRPr/>
              </a:pPr>
              <a:t>2026/9/1</a:t>
            </a:fld>
            <a:endParaRPr lang="en-US" altLang="zh-CN" dirty="0"/>
          </a:p>
        </p:txBody>
      </p:sp>
      <p:sp>
        <p:nvSpPr>
          <p:cNvPr id="11268" name="Rectangle 4">
            <a:extLst>
              <a:ext uri="{FF2B5EF4-FFF2-40B4-BE49-F238E27FC236}">
                <a16:creationId xmlns:a16="http://schemas.microsoft.com/office/drawing/2014/main" id="{6C55D95C-6C95-45B7-B872-D83C4C1200C3}"/>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6741" name="Rectangle 5">
            <a:extLst>
              <a:ext uri="{FF2B5EF4-FFF2-40B4-BE49-F238E27FC236}">
                <a16:creationId xmlns:a16="http://schemas.microsoft.com/office/drawing/2014/main" id="{6F6543EB-59BA-4B00-BF58-ECAB147C2DF1}"/>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16742" name="Rectangle 6">
            <a:extLst>
              <a:ext uri="{FF2B5EF4-FFF2-40B4-BE49-F238E27FC236}">
                <a16:creationId xmlns:a16="http://schemas.microsoft.com/office/drawing/2014/main" id="{7844A68A-9876-4345-904E-7B84CC8FEF20}"/>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1" sz="1200">
                <a:latin typeface="Tahoma" pitchFamily="34" charset="0"/>
              </a:defRPr>
            </a:lvl1pPr>
          </a:lstStyle>
          <a:p>
            <a:pPr>
              <a:defRPr/>
            </a:pPr>
            <a:endParaRPr lang="en-US" altLang="zh-CN"/>
          </a:p>
        </p:txBody>
      </p:sp>
      <p:sp>
        <p:nvSpPr>
          <p:cNvPr id="116743" name="Rectangle 7">
            <a:extLst>
              <a:ext uri="{FF2B5EF4-FFF2-40B4-BE49-F238E27FC236}">
                <a16:creationId xmlns:a16="http://schemas.microsoft.com/office/drawing/2014/main" id="{BF745507-0BFB-478F-9688-B8686F7B45F5}"/>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a:latin typeface="Tahoma" panose="020B0604030504040204" pitchFamily="34" charset="0"/>
              </a:defRPr>
            </a:lvl1pPr>
          </a:lstStyle>
          <a:p>
            <a:pPr>
              <a:defRPr/>
            </a:pPr>
            <a:fld id="{F17E7B64-D31F-49F9-A602-099D7B13B654}" type="slidenum">
              <a:rPr lang="en-US" altLang="zh-CN"/>
              <a:pPr>
                <a:defRPr/>
              </a:pPr>
              <a:t>‹#›</a:t>
            </a:fld>
            <a:endParaRPr lang="en-US" altLang="zh-CN" dirty="0"/>
          </a:p>
        </p:txBody>
      </p:sp>
    </p:spTree>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a:extLst>
              <a:ext uri="{FF2B5EF4-FFF2-40B4-BE49-F238E27FC236}">
                <a16:creationId xmlns:a16="http://schemas.microsoft.com/office/drawing/2014/main" id="{D05883A8-DE6C-401C-8696-521FB6ACAF6E}"/>
              </a:ext>
            </a:extLst>
          </p:cNvPr>
          <p:cNvSpPr>
            <a:spLocks noGrp="1" noRot="1" noChangeAspect="1" noChangeArrowheads="1" noTextEdit="1"/>
          </p:cNvSpPr>
          <p:nvPr>
            <p:ph type="sldImg"/>
          </p:nvPr>
        </p:nvSpPr>
        <p:spPr>
          <a:xfrm>
            <a:off x="381000" y="685800"/>
            <a:ext cx="6096000" cy="3429000"/>
          </a:xfrm>
          <a:ln/>
        </p:spPr>
      </p:sp>
      <p:sp>
        <p:nvSpPr>
          <p:cNvPr id="14339" name="备注占位符 2">
            <a:extLst>
              <a:ext uri="{FF2B5EF4-FFF2-40B4-BE49-F238E27FC236}">
                <a16:creationId xmlns:a16="http://schemas.microsoft.com/office/drawing/2014/main" id="{2362FEE4-17D8-4C02-911A-02416973FFC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4340" name="日期占位符 3">
            <a:extLst>
              <a:ext uri="{FF2B5EF4-FFF2-40B4-BE49-F238E27FC236}">
                <a16:creationId xmlns:a16="http://schemas.microsoft.com/office/drawing/2014/main" id="{ED251CFD-CC9B-4DAD-899F-6505EE01D0F0}"/>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BA4DB4F4-5E91-44B2-B94D-0D07A576670D}"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4341" name="灯片编号占位符 4">
            <a:extLst>
              <a:ext uri="{FF2B5EF4-FFF2-40B4-BE49-F238E27FC236}">
                <a16:creationId xmlns:a16="http://schemas.microsoft.com/office/drawing/2014/main" id="{8BD2696E-89EB-4391-9176-C240F781136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442A6D53-5CF7-4C8F-8B70-011E7F6E4886}" type="slidenum">
              <a:rPr lang="en-US" altLang="zh-CN" sz="1200" smtClean="0">
                <a:latin typeface="Tahoma" panose="020B0604030504040204" pitchFamily="34" charset="0"/>
              </a:rPr>
              <a:pPr/>
              <a:t>1</a:t>
            </a:fld>
            <a:endParaRPr lang="en-US" altLang="zh-CN" sz="1200">
              <a:latin typeface="Tahoma" panose="020B060403050404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a:extLst>
              <a:ext uri="{FF2B5EF4-FFF2-40B4-BE49-F238E27FC236}">
                <a16:creationId xmlns:a16="http://schemas.microsoft.com/office/drawing/2014/main" id="{134B2280-F0CF-4C0B-99AE-0BED415C0176}"/>
              </a:ext>
            </a:extLst>
          </p:cNvPr>
          <p:cNvSpPr>
            <a:spLocks noGrp="1" noRot="1" noChangeAspect="1" noChangeArrowheads="1" noTextEdit="1"/>
          </p:cNvSpPr>
          <p:nvPr>
            <p:ph type="sldImg"/>
          </p:nvPr>
        </p:nvSpPr>
        <p:spPr>
          <a:xfrm>
            <a:off x="381000" y="685800"/>
            <a:ext cx="6096000" cy="3429000"/>
          </a:xfrm>
          <a:ln/>
        </p:spPr>
      </p:sp>
      <p:sp>
        <p:nvSpPr>
          <p:cNvPr id="23555" name="备注占位符 2">
            <a:extLst>
              <a:ext uri="{FF2B5EF4-FFF2-40B4-BE49-F238E27FC236}">
                <a16:creationId xmlns:a16="http://schemas.microsoft.com/office/drawing/2014/main" id="{B3461337-13C6-4132-A6D1-4F9CFF92F75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3556" name="日期占位符 3">
            <a:extLst>
              <a:ext uri="{FF2B5EF4-FFF2-40B4-BE49-F238E27FC236}">
                <a16:creationId xmlns:a16="http://schemas.microsoft.com/office/drawing/2014/main" id="{F0B9AED2-5B6C-4CA7-9CC1-C6FEA21F00D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E0BCF96-FAD2-4167-A6D0-A5D83093083D}"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3557" name="灯片编号占位符 4">
            <a:extLst>
              <a:ext uri="{FF2B5EF4-FFF2-40B4-BE49-F238E27FC236}">
                <a16:creationId xmlns:a16="http://schemas.microsoft.com/office/drawing/2014/main" id="{443579E1-B063-4F3D-B16D-6B790079EA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91607E3-72F5-494F-BAD9-B4CCF1FEE7CF}" type="slidenum">
              <a:rPr lang="en-US" altLang="zh-CN" sz="1200" smtClean="0">
                <a:latin typeface="Tahoma" panose="020B0604030504040204" pitchFamily="34" charset="0"/>
              </a:rPr>
              <a:pPr/>
              <a:t>2</a:t>
            </a:fld>
            <a:endParaRPr lang="en-US" altLang="zh-CN" sz="1200">
              <a:latin typeface="Tahoma" panose="020B060403050404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a:extLst>
              <a:ext uri="{FF2B5EF4-FFF2-40B4-BE49-F238E27FC236}">
                <a16:creationId xmlns:a16="http://schemas.microsoft.com/office/drawing/2014/main" id="{21746D14-8568-48B8-B4D9-BE2D814ACAFE}"/>
              </a:ext>
            </a:extLst>
          </p:cNvPr>
          <p:cNvSpPr>
            <a:spLocks noGrp="1" noRot="1" noChangeAspect="1" noChangeArrowheads="1" noTextEdit="1"/>
          </p:cNvSpPr>
          <p:nvPr>
            <p:ph type="sldImg"/>
          </p:nvPr>
        </p:nvSpPr>
        <p:spPr>
          <a:xfrm>
            <a:off x="381000" y="685800"/>
            <a:ext cx="6096000" cy="3429000"/>
          </a:xfrm>
          <a:ln/>
        </p:spPr>
      </p:sp>
      <p:sp>
        <p:nvSpPr>
          <p:cNvPr id="29699" name="备注占位符 2">
            <a:extLst>
              <a:ext uri="{FF2B5EF4-FFF2-40B4-BE49-F238E27FC236}">
                <a16:creationId xmlns:a16="http://schemas.microsoft.com/office/drawing/2014/main" id="{F5594675-B2A9-4E39-8BCA-AFAECED327F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第四章第五章不讲，也不考试。 </a:t>
            </a:r>
            <a:r>
              <a:rPr lang="en-US" altLang="zh-CN" dirty="0"/>
              <a:t>         </a:t>
            </a:r>
            <a:r>
              <a:rPr lang="zh-CN" altLang="en-US" dirty="0"/>
              <a:t>学习酶学这一章时同时学习第六章维生素 </a:t>
            </a:r>
            <a:endParaRPr lang="en-US" altLang="zh-CN" dirty="0"/>
          </a:p>
          <a:p>
            <a:r>
              <a:rPr lang="zh-CN" altLang="en-US" dirty="0"/>
              <a:t>第十版教材中，酶学是第二章，核酸的结构与功能是第三章，但仍依以前版本中的顺序讲授。  </a:t>
            </a:r>
          </a:p>
        </p:txBody>
      </p:sp>
      <p:sp>
        <p:nvSpPr>
          <p:cNvPr id="29700" name="日期占位符 3">
            <a:extLst>
              <a:ext uri="{FF2B5EF4-FFF2-40B4-BE49-F238E27FC236}">
                <a16:creationId xmlns:a16="http://schemas.microsoft.com/office/drawing/2014/main" id="{096D6235-5507-48A2-B401-F3957BDC75E7}"/>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9CD15A1-2C05-4BE3-8B70-6BCD3A24EE84}"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9701" name="灯片编号占位符 4">
            <a:extLst>
              <a:ext uri="{FF2B5EF4-FFF2-40B4-BE49-F238E27FC236}">
                <a16:creationId xmlns:a16="http://schemas.microsoft.com/office/drawing/2014/main" id="{F1E41E05-072A-4FD7-BC43-142955DFC07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14257CF7-1DC0-4D98-84FE-8EA9C410E2F7}" type="slidenum">
              <a:rPr lang="en-US" altLang="zh-CN" sz="1200" smtClean="0">
                <a:latin typeface="Tahoma" panose="020B0604030504040204" pitchFamily="34" charset="0"/>
              </a:rPr>
              <a:pPr/>
              <a:t>3</a:t>
            </a:fld>
            <a:endParaRPr lang="en-US" altLang="zh-CN" sz="1200">
              <a:latin typeface="Tahoma" panose="020B060403050404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a:extLst>
              <a:ext uri="{FF2B5EF4-FFF2-40B4-BE49-F238E27FC236}">
                <a16:creationId xmlns:a16="http://schemas.microsoft.com/office/drawing/2014/main" id="{5BF708A7-036E-4BD6-B41E-2E6B296243B1}"/>
              </a:ext>
            </a:extLst>
          </p:cNvPr>
          <p:cNvSpPr>
            <a:spLocks noGrp="1" noRot="1" noChangeAspect="1" noChangeArrowheads="1" noTextEdit="1"/>
          </p:cNvSpPr>
          <p:nvPr>
            <p:ph type="sldImg"/>
          </p:nvPr>
        </p:nvSpPr>
        <p:spPr>
          <a:xfrm>
            <a:off x="381000" y="685800"/>
            <a:ext cx="6096000" cy="3429000"/>
          </a:xfrm>
          <a:ln/>
        </p:spPr>
      </p:sp>
      <p:sp>
        <p:nvSpPr>
          <p:cNvPr id="31747" name="备注占位符 2">
            <a:extLst>
              <a:ext uri="{FF2B5EF4-FFF2-40B4-BE49-F238E27FC236}">
                <a16:creationId xmlns:a16="http://schemas.microsoft.com/office/drawing/2014/main" id="{9960300B-D979-4853-BA44-4AF9BC7071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31748" name="日期占位符 3">
            <a:extLst>
              <a:ext uri="{FF2B5EF4-FFF2-40B4-BE49-F238E27FC236}">
                <a16:creationId xmlns:a16="http://schemas.microsoft.com/office/drawing/2014/main" id="{97BB5AAA-A097-45D5-9E2D-6B87FC9DE52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B29ED082-4E59-4DC9-B510-939BBD133895}"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31749" name="灯片编号占位符 4">
            <a:extLst>
              <a:ext uri="{FF2B5EF4-FFF2-40B4-BE49-F238E27FC236}">
                <a16:creationId xmlns:a16="http://schemas.microsoft.com/office/drawing/2014/main" id="{FB66F92D-02C8-4CF9-A3F5-1BF0D6071D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2D8F04E7-9B5B-4EDA-879D-24CE1580C986}" type="slidenum">
              <a:rPr lang="en-US" altLang="zh-CN" sz="1200" smtClean="0">
                <a:latin typeface="Tahoma" panose="020B0604030504040204" pitchFamily="34" charset="0"/>
              </a:rPr>
              <a:pPr/>
              <a:t>4</a:t>
            </a:fld>
            <a:endParaRPr lang="en-US" altLang="zh-CN" sz="1200">
              <a:latin typeface="Tahoma" panose="020B060403050404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a:extLst>
              <a:ext uri="{FF2B5EF4-FFF2-40B4-BE49-F238E27FC236}">
                <a16:creationId xmlns:a16="http://schemas.microsoft.com/office/drawing/2014/main" id="{5968F432-8E55-4C1E-9FBE-B221B346F66C}"/>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9FF306AA-2A57-4412-BD9B-3A7BD92F3DBC}"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33795" name="Rectangle 7">
            <a:extLst>
              <a:ext uri="{FF2B5EF4-FFF2-40B4-BE49-F238E27FC236}">
                <a16:creationId xmlns:a16="http://schemas.microsoft.com/office/drawing/2014/main" id="{425B79CF-DB63-429A-928C-2D194C4D99E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6F40CAE-18B6-4A25-A070-4F8F4956C0A7}" type="slidenum">
              <a:rPr lang="en-US" altLang="zh-CN" sz="1200" smtClean="0">
                <a:latin typeface="Tahoma" panose="020B0604030504040204" pitchFamily="34" charset="0"/>
              </a:rPr>
              <a:pPr/>
              <a:t>5</a:t>
            </a:fld>
            <a:endParaRPr lang="en-US" altLang="zh-CN" sz="1200">
              <a:latin typeface="Tahoma" panose="020B0604030504040204" pitchFamily="34" charset="0"/>
            </a:endParaRPr>
          </a:p>
        </p:txBody>
      </p:sp>
      <p:sp>
        <p:nvSpPr>
          <p:cNvPr id="33796" name="Rectangle 2">
            <a:extLst>
              <a:ext uri="{FF2B5EF4-FFF2-40B4-BE49-F238E27FC236}">
                <a16:creationId xmlns:a16="http://schemas.microsoft.com/office/drawing/2014/main" id="{D8E55332-E7DD-4367-94E4-0BC9EE389CA6}"/>
              </a:ext>
            </a:extLst>
          </p:cNvPr>
          <p:cNvSpPr>
            <a:spLocks noGrp="1" noRot="1" noChangeAspect="1" noChangeArrowheads="1" noTextEdit="1"/>
          </p:cNvSpPr>
          <p:nvPr>
            <p:ph type="sldImg"/>
          </p:nvPr>
        </p:nvSpPr>
        <p:spPr>
          <a:xfrm>
            <a:off x="381000" y="685800"/>
            <a:ext cx="6096000" cy="3429000"/>
          </a:xfrm>
          <a:ln/>
        </p:spPr>
      </p:sp>
      <p:sp>
        <p:nvSpPr>
          <p:cNvPr id="33797" name="Rectangle 3">
            <a:extLst>
              <a:ext uri="{FF2B5EF4-FFF2-40B4-BE49-F238E27FC236}">
                <a16:creationId xmlns:a16="http://schemas.microsoft.com/office/drawing/2014/main" id="{1402C6DF-79BE-4B03-95D0-CBCED15679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b="1" dirty="0">
              <a:latin typeface="楷体_GB2312" pitchFamily="49" charset="-122"/>
              <a:ea typeface="楷体_GB2312" pitchFamily="49"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a:extLst>
              <a:ext uri="{FF2B5EF4-FFF2-40B4-BE49-F238E27FC236}">
                <a16:creationId xmlns:a16="http://schemas.microsoft.com/office/drawing/2014/main" id="{C8879641-B611-48BE-8A04-5C42218F24B1}"/>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474AEBA0-CF01-4FB9-B696-42FE3DC8204B}"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35843" name="Rectangle 7">
            <a:extLst>
              <a:ext uri="{FF2B5EF4-FFF2-40B4-BE49-F238E27FC236}">
                <a16:creationId xmlns:a16="http://schemas.microsoft.com/office/drawing/2014/main" id="{9D6F3083-BC04-4616-922F-4582A72126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05A7AA4E-9B83-4EC5-B912-65435970143F}" type="slidenum">
              <a:rPr lang="en-US" altLang="zh-CN" sz="1200" smtClean="0">
                <a:latin typeface="Tahoma" panose="020B0604030504040204" pitchFamily="34" charset="0"/>
              </a:rPr>
              <a:pPr/>
              <a:t>6</a:t>
            </a:fld>
            <a:endParaRPr lang="en-US" altLang="zh-CN" sz="1200">
              <a:latin typeface="Tahoma" panose="020B0604030504040204" pitchFamily="34" charset="0"/>
            </a:endParaRPr>
          </a:p>
        </p:txBody>
      </p:sp>
      <p:sp>
        <p:nvSpPr>
          <p:cNvPr id="35844" name="Rectangle 2">
            <a:extLst>
              <a:ext uri="{FF2B5EF4-FFF2-40B4-BE49-F238E27FC236}">
                <a16:creationId xmlns:a16="http://schemas.microsoft.com/office/drawing/2014/main" id="{780956BC-22C6-4A66-AF3C-C8FF846EE203}"/>
              </a:ext>
            </a:extLst>
          </p:cNvPr>
          <p:cNvSpPr>
            <a:spLocks noGrp="1" noRot="1" noChangeAspect="1" noChangeArrowheads="1" noTextEdit="1"/>
          </p:cNvSpPr>
          <p:nvPr>
            <p:ph type="sldImg"/>
          </p:nvPr>
        </p:nvSpPr>
        <p:spPr>
          <a:xfrm>
            <a:off x="381000" y="685800"/>
            <a:ext cx="6096000" cy="3429000"/>
          </a:xfrm>
          <a:ln/>
        </p:spPr>
      </p:sp>
      <p:sp>
        <p:nvSpPr>
          <p:cNvPr id="35845" name="Rectangle 3">
            <a:extLst>
              <a:ext uri="{FF2B5EF4-FFF2-40B4-BE49-F238E27FC236}">
                <a16:creationId xmlns:a16="http://schemas.microsoft.com/office/drawing/2014/main" id="{4049C2EA-1F33-4EA2-B39B-CC0553DFF88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lang="zh-CN" altLang="en-US" b="0" dirty="0"/>
              <a:t>某些组织含量更高，例如脾、肺及横纹肌等高达</a:t>
            </a:r>
            <a:r>
              <a:rPr lang="en-US" altLang="zh-CN" b="0" dirty="0"/>
              <a:t>80</a:t>
            </a:r>
            <a:r>
              <a:rPr lang="en-US" altLang="zh-CN" b="0" dirty="0">
                <a:latin typeface="楷体_GB2312" pitchFamily="49" charset="-122"/>
                <a:ea typeface="楷体_GB2312" pitchFamily="49" charset="-122"/>
              </a:rPr>
              <a:t>%</a:t>
            </a:r>
            <a:endParaRPr lang="zh-CN" altLang="en-US" b="0" dirty="0">
              <a:latin typeface="楷体_GB2312" pitchFamily="49" charset="-122"/>
              <a:ea typeface="楷体_GB2312" pitchFamily="49" charset="-122"/>
            </a:endParaRPr>
          </a:p>
          <a:p>
            <a:pPr algn="just" eaLnBrk="1" hangingPunct="1"/>
            <a:endParaRPr lang="en-US" altLang="zh-CN" dirty="0">
              <a:latin typeface="楷体_GB2312" pitchFamily="49" charset="-122"/>
              <a:ea typeface="楷体_GB2312" pitchFamily="49" charset="-122"/>
            </a:endParaRPr>
          </a:p>
          <a:p>
            <a:pPr eaLnBrk="1" hangingPunct="1"/>
            <a:r>
              <a:rPr kumimoji="1" lang="zh-CN" altLang="en-US" sz="1050" b="0" kern="1200" dirty="0">
                <a:solidFill>
                  <a:schemeClr val="tx1"/>
                </a:solidFill>
                <a:latin typeface="+mn-ea"/>
                <a:ea typeface="宋体" pitchFamily="2" charset="-122"/>
                <a:cs typeface="+mn-cs"/>
              </a:rPr>
              <a:t>人体内蛋白质：＞ </a:t>
            </a:r>
            <a:r>
              <a:rPr kumimoji="1" lang="en-US" altLang="zh-CN" sz="1050" b="0" kern="1200" dirty="0">
                <a:solidFill>
                  <a:schemeClr val="tx1"/>
                </a:solidFill>
                <a:latin typeface="+mn-ea"/>
                <a:ea typeface="宋体" pitchFamily="2" charset="-122"/>
                <a:cs typeface="+mn-cs"/>
              </a:rPr>
              <a:t>10</a:t>
            </a:r>
            <a:r>
              <a:rPr kumimoji="1" lang="zh-CN" altLang="en-US" sz="1050" b="0" kern="1200" dirty="0">
                <a:solidFill>
                  <a:schemeClr val="tx1"/>
                </a:solidFill>
                <a:latin typeface="+mn-ea"/>
                <a:ea typeface="宋体" pitchFamily="2" charset="-122"/>
                <a:cs typeface="+mn-cs"/>
              </a:rPr>
              <a:t>万种</a:t>
            </a:r>
            <a:br>
              <a:rPr kumimoji="1" lang="zh-CN" altLang="en-US" sz="1050" b="0" kern="1200" dirty="0">
                <a:solidFill>
                  <a:schemeClr val="tx1"/>
                </a:solidFill>
                <a:latin typeface="+mn-ea"/>
                <a:ea typeface="宋体" pitchFamily="2" charset="-122"/>
                <a:cs typeface="+mn-cs"/>
              </a:rPr>
            </a:br>
            <a:r>
              <a:rPr kumimoji="1" lang="zh-CN" altLang="en-US" sz="1050" b="0" kern="1200" dirty="0">
                <a:solidFill>
                  <a:schemeClr val="tx1"/>
                </a:solidFill>
                <a:latin typeface="+mn-ea"/>
                <a:ea typeface="宋体" pitchFamily="2" charset="-122"/>
                <a:cs typeface="+mn-cs"/>
              </a:rPr>
              <a:t>生物界：　　　约</a:t>
            </a:r>
            <a:r>
              <a:rPr kumimoji="1" lang="en-US" altLang="zh-CN" sz="1050" b="0" kern="1200" dirty="0">
                <a:solidFill>
                  <a:schemeClr val="tx1"/>
                </a:solidFill>
                <a:latin typeface="+mn-ea"/>
                <a:ea typeface="宋体" pitchFamily="2" charset="-122"/>
                <a:cs typeface="+mn-cs"/>
              </a:rPr>
              <a:t>1</a:t>
            </a:r>
            <a:r>
              <a:rPr kumimoji="1" lang="zh-CN" altLang="en-US" sz="1050" b="0" kern="1200" dirty="0">
                <a:solidFill>
                  <a:schemeClr val="tx1"/>
                </a:solidFill>
                <a:latin typeface="+mn-ea"/>
                <a:ea typeface="宋体" pitchFamily="2" charset="-122"/>
                <a:cs typeface="+mn-cs"/>
              </a:rPr>
              <a:t>百亿种 ？ </a:t>
            </a:r>
            <a:endParaRPr lang="zh-CN" altLang="en-US" dirty="0"/>
          </a:p>
          <a:p>
            <a:pPr eaLnBrk="1" hangingPunct="1"/>
            <a:endParaRPr lang="zh-CN" altLang="en-US" dirty="0"/>
          </a:p>
          <a:p>
            <a:pPr algn="just" eaLnBrk="1" hangingPunct="1"/>
            <a:endParaRPr lang="en-US" altLang="zh-CN" dirty="0">
              <a:latin typeface="楷体_GB2312" pitchFamily="49" charset="-122"/>
              <a:ea typeface="楷体_GB2312" pitchFamily="49"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itchFamily="18" charset="0"/>
                <a:ea typeface="宋体" pitchFamily="2" charset="-122"/>
                <a:cs typeface="+mn-cs"/>
              </a:rPr>
              <a:t>目前科学界认为人类蛋白编码基因的数量已稳定在</a:t>
            </a:r>
            <a:r>
              <a:rPr kumimoji="1" lang="en-US" altLang="zh-CN" sz="1200" b="1" i="0" kern="1200" dirty="0">
                <a:solidFill>
                  <a:schemeClr val="tx1"/>
                </a:solidFill>
                <a:effectLst/>
                <a:latin typeface="Times New Roman" pitchFamily="18" charset="0"/>
                <a:ea typeface="宋体" pitchFamily="2" charset="-122"/>
                <a:cs typeface="+mn-cs"/>
              </a:rPr>
              <a:t>19500 </a:t>
            </a:r>
            <a:r>
              <a:rPr kumimoji="1" lang="zh-CN" altLang="en-US" sz="1200" b="0" i="0" kern="1200" dirty="0">
                <a:solidFill>
                  <a:schemeClr val="tx1"/>
                </a:solidFill>
                <a:effectLst/>
                <a:latin typeface="Times New Roman" pitchFamily="18" charset="0"/>
                <a:ea typeface="宋体" pitchFamily="2" charset="-122"/>
                <a:cs typeface="+mn-cs"/>
              </a:rPr>
              <a:t>左右。 （因为可变剪接普遍存在等因素，实际蛋白质种类远超过此数）</a:t>
            </a:r>
            <a:endParaRPr kumimoji="1" lang="en-US" altLang="zh-CN" sz="1200" b="0" i="0" kern="1200" dirty="0">
              <a:solidFill>
                <a:schemeClr val="tx1"/>
              </a:solidFill>
              <a:effectLst/>
              <a:latin typeface="Times New Roman" pitchFamily="18" charset="0"/>
              <a:ea typeface="宋体" pitchFamily="2" charset="-122"/>
              <a:cs typeface="+mn-cs"/>
            </a:endParaRPr>
          </a:p>
          <a:p>
            <a:endParaRPr kumimoji="1" lang="en-US" altLang="zh-CN" sz="1200" b="0" i="0" kern="1200" dirty="0">
              <a:solidFill>
                <a:schemeClr val="tx1"/>
              </a:solidFill>
              <a:effectLst/>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b="0" i="0" kern="1200" dirty="0">
                <a:solidFill>
                  <a:schemeClr val="tx1"/>
                </a:solidFill>
                <a:effectLst/>
                <a:latin typeface="Times New Roman" pitchFamily="18" charset="0"/>
                <a:ea typeface="宋体" pitchFamily="2" charset="-122"/>
                <a:cs typeface="+mn-cs"/>
              </a:rPr>
              <a:t>上图源自： </a:t>
            </a:r>
            <a:r>
              <a:rPr kumimoji="1" lang="en-US" altLang="zh-CN" sz="1200" b="0" i="0" kern="1200" dirty="0">
                <a:solidFill>
                  <a:schemeClr val="tx1"/>
                </a:solidFill>
                <a:effectLst/>
                <a:latin typeface="Times New Roman" pitchFamily="18" charset="0"/>
                <a:ea typeface="宋体" pitchFamily="2" charset="-122"/>
                <a:cs typeface="+mn-cs"/>
              </a:rPr>
              <a:t>The status of the human gene catalogue. Nature. 2023 Oct 4;622(7981):41–47. </a:t>
            </a:r>
            <a:r>
              <a:rPr kumimoji="1" lang="en-US" altLang="zh-CN" sz="1200" b="0" i="0" kern="1200" dirty="0" err="1">
                <a:solidFill>
                  <a:schemeClr val="tx1"/>
                </a:solidFill>
                <a:effectLst/>
                <a:latin typeface="Times New Roman" pitchFamily="18" charset="0"/>
                <a:ea typeface="宋体" pitchFamily="2" charset="-122"/>
                <a:cs typeface="+mn-cs"/>
              </a:rPr>
              <a:t>doi</a:t>
            </a:r>
            <a:r>
              <a:rPr kumimoji="1" lang="en-US" altLang="zh-CN" sz="1200" b="0" i="0" kern="1200" dirty="0">
                <a:solidFill>
                  <a:schemeClr val="tx1"/>
                </a:solidFill>
                <a:effectLst/>
                <a:latin typeface="Times New Roman" pitchFamily="18" charset="0"/>
                <a:ea typeface="宋体" pitchFamily="2" charset="-122"/>
                <a:cs typeface="+mn-cs"/>
              </a:rPr>
              <a:t>: 10.1038/s41586-023-06490-x</a:t>
            </a:r>
          </a:p>
          <a:p>
            <a:endParaRPr kumimoji="1" lang="en-US" altLang="zh-CN" sz="1200" b="0" i="0" kern="1200" dirty="0">
              <a:solidFill>
                <a:schemeClr val="tx1"/>
              </a:solidFill>
              <a:effectLst/>
              <a:latin typeface="Times New Roman" pitchFamily="18" charset="0"/>
              <a:ea typeface="宋体" pitchFamily="2" charset="-122"/>
              <a:cs typeface="+mn-cs"/>
            </a:endParaRPr>
          </a:p>
        </p:txBody>
      </p:sp>
      <p:sp>
        <p:nvSpPr>
          <p:cNvPr id="4" name="日期占位符 3"/>
          <p:cNvSpPr>
            <a:spLocks noGrp="1"/>
          </p:cNvSpPr>
          <p:nvPr>
            <p:ph type="dt" idx="1"/>
          </p:nvPr>
        </p:nvSpPr>
        <p:spPr/>
        <p:txBody>
          <a:bodyPr/>
          <a:lstStyle/>
          <a:p>
            <a:pPr>
              <a:defRPr/>
            </a:pPr>
            <a:fld id="{EA205CC4-1CAE-4FA1-A962-1A34DB7C7879}" type="datetime1">
              <a:rPr lang="zh-CN" altLang="en-US" smtClean="0"/>
              <a:pPr>
                <a:defRPr/>
              </a:pPr>
              <a:t>2026/9/1</a:t>
            </a:fld>
            <a:endParaRPr lang="en-US" altLang="zh-CN" dirty="0"/>
          </a:p>
        </p:txBody>
      </p:sp>
      <p:sp>
        <p:nvSpPr>
          <p:cNvPr id="5" name="灯片编号占位符 4"/>
          <p:cNvSpPr>
            <a:spLocks noGrp="1"/>
          </p:cNvSpPr>
          <p:nvPr>
            <p:ph type="sldNum" sz="quarter" idx="5"/>
          </p:nvPr>
        </p:nvSpPr>
        <p:spPr/>
        <p:txBody>
          <a:bodyPr/>
          <a:lstStyle/>
          <a:p>
            <a:pPr>
              <a:defRPr/>
            </a:pPr>
            <a:fld id="{F17E7B64-D31F-49F9-A602-099D7B13B654}" type="slidenum">
              <a:rPr lang="en-US" altLang="zh-CN" smtClean="0"/>
              <a:pPr>
                <a:defRPr/>
              </a:pPr>
              <a:t>7</a:t>
            </a:fld>
            <a:endParaRPr lang="en-US" altLang="zh-CN" dirty="0"/>
          </a:p>
        </p:txBody>
      </p:sp>
    </p:spTree>
    <p:extLst>
      <p:ext uri="{BB962C8B-B14F-4D97-AF65-F5344CB8AC3E}">
        <p14:creationId xmlns:p14="http://schemas.microsoft.com/office/powerpoint/2010/main" val="13895601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a:extLst>
              <a:ext uri="{FF2B5EF4-FFF2-40B4-BE49-F238E27FC236}">
                <a16:creationId xmlns:a16="http://schemas.microsoft.com/office/drawing/2014/main" id="{EA05CB30-F648-42B5-A5FC-5008C2BA044D}"/>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FD857825-4F66-42AE-8F1F-C2C9D9DB8E6C}"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37891" name="Rectangle 7">
            <a:extLst>
              <a:ext uri="{FF2B5EF4-FFF2-40B4-BE49-F238E27FC236}">
                <a16:creationId xmlns:a16="http://schemas.microsoft.com/office/drawing/2014/main" id="{DC5D82FA-77F4-4215-9065-C3E1BE200A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4CEA831F-FF36-4B60-BC20-8E23669ADFDB}" type="slidenum">
              <a:rPr lang="en-US" altLang="zh-CN" sz="1200" smtClean="0">
                <a:latin typeface="Tahoma" panose="020B0604030504040204" pitchFamily="34" charset="0"/>
              </a:rPr>
              <a:pPr/>
              <a:t>8</a:t>
            </a:fld>
            <a:endParaRPr lang="en-US" altLang="zh-CN" sz="1200">
              <a:latin typeface="Tahoma" panose="020B0604030504040204" pitchFamily="34" charset="0"/>
            </a:endParaRPr>
          </a:p>
        </p:txBody>
      </p:sp>
      <p:sp>
        <p:nvSpPr>
          <p:cNvPr id="37892" name="Rectangle 2">
            <a:extLst>
              <a:ext uri="{FF2B5EF4-FFF2-40B4-BE49-F238E27FC236}">
                <a16:creationId xmlns:a16="http://schemas.microsoft.com/office/drawing/2014/main" id="{56BB7992-844F-4633-BB12-33DDA3FF2B86}"/>
              </a:ext>
            </a:extLst>
          </p:cNvPr>
          <p:cNvSpPr>
            <a:spLocks noGrp="1" noRot="1" noChangeAspect="1" noChangeArrowheads="1" noTextEdit="1"/>
          </p:cNvSpPr>
          <p:nvPr>
            <p:ph type="sldImg"/>
          </p:nvPr>
        </p:nvSpPr>
        <p:spPr>
          <a:xfrm>
            <a:off x="381000" y="685800"/>
            <a:ext cx="6096000" cy="3429000"/>
          </a:xfrm>
          <a:ln/>
        </p:spPr>
      </p:sp>
      <p:sp>
        <p:nvSpPr>
          <p:cNvPr id="37893" name="Rectangle 3">
            <a:extLst>
              <a:ext uri="{FF2B5EF4-FFF2-40B4-BE49-F238E27FC236}">
                <a16:creationId xmlns:a16="http://schemas.microsoft.com/office/drawing/2014/main" id="{CB2226E9-3800-4744-A57A-0DFBBAC5DE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10000"/>
              </a:lnSpc>
            </a:pPr>
            <a:r>
              <a:rPr lang="zh-CN" altLang="en-US" dirty="0">
                <a:latin typeface="楷体_GB2312" pitchFamily="49" charset="-122"/>
                <a:ea typeface="楷体_GB2312" pitchFamily="49" charset="-122"/>
              </a:rPr>
              <a:t>每</a:t>
            </a:r>
            <a:r>
              <a:rPr lang="en-US" altLang="zh-CN" dirty="0">
                <a:latin typeface="楷体_GB2312" pitchFamily="49" charset="-122"/>
                <a:ea typeface="楷体_GB2312" pitchFamily="49" charset="-122"/>
              </a:rPr>
              <a:t>1g </a:t>
            </a:r>
            <a:r>
              <a:rPr lang="zh-CN" altLang="en-US" dirty="0">
                <a:latin typeface="楷体_GB2312" pitchFamily="49" charset="-122"/>
                <a:ea typeface="楷体_GB2312" pitchFamily="49" charset="-122"/>
              </a:rPr>
              <a:t>蛋白质在体内氧化分解可提供约</a:t>
            </a:r>
            <a:r>
              <a:rPr lang="en-US" altLang="zh-CN" dirty="0">
                <a:latin typeface="楷体_GB2312" pitchFamily="49" charset="-122"/>
                <a:ea typeface="楷体_GB2312" pitchFamily="49" charset="-122"/>
              </a:rPr>
              <a:t>4 Kcal/16.7KJ </a:t>
            </a:r>
            <a:r>
              <a:rPr lang="zh-CN" altLang="en-US" dirty="0">
                <a:latin typeface="楷体_GB2312" pitchFamily="49" charset="-122"/>
                <a:ea typeface="楷体_GB2312" pitchFamily="49" charset="-122"/>
              </a:rPr>
              <a:t>热量。  和</a:t>
            </a:r>
            <a:r>
              <a:rPr lang="en-US" altLang="zh-CN" dirty="0">
                <a:latin typeface="楷体_GB2312" pitchFamily="49" charset="-122"/>
                <a:ea typeface="楷体_GB2312" pitchFamily="49" charset="-122"/>
              </a:rPr>
              <a:t>1g</a:t>
            </a:r>
            <a:r>
              <a:rPr lang="zh-CN" altLang="en-US" dirty="0">
                <a:latin typeface="楷体_GB2312" pitchFamily="49" charset="-122"/>
                <a:ea typeface="楷体_GB2312" pitchFamily="49" charset="-122"/>
              </a:rPr>
              <a:t>糖产能类似。    而</a:t>
            </a:r>
            <a:r>
              <a:rPr lang="en-US" altLang="zh-CN" dirty="0">
                <a:latin typeface="楷体_GB2312" pitchFamily="49" charset="-122"/>
                <a:ea typeface="楷体_GB2312" pitchFamily="49" charset="-122"/>
              </a:rPr>
              <a:t>1g</a:t>
            </a:r>
            <a:r>
              <a:rPr lang="zh-CN" altLang="en-US" dirty="0">
                <a:latin typeface="楷体_GB2312" pitchFamily="49" charset="-122"/>
                <a:ea typeface="楷体_GB2312" pitchFamily="49" charset="-122"/>
              </a:rPr>
              <a:t>脂肪产能</a:t>
            </a:r>
            <a:r>
              <a:rPr lang="en-US" altLang="zh-CN" dirty="0">
                <a:latin typeface="楷体_GB2312" pitchFamily="49" charset="-122"/>
                <a:ea typeface="楷体_GB2312" pitchFamily="49" charset="-122"/>
              </a:rPr>
              <a:t>37.56kJ</a:t>
            </a:r>
            <a:r>
              <a:rPr lang="zh-CN" altLang="en-US" dirty="0">
                <a:latin typeface="楷体_GB2312" pitchFamily="49" charset="-122"/>
                <a:ea typeface="楷体_GB2312" pitchFamily="49" charset="-122"/>
              </a:rPr>
              <a:t>（</a:t>
            </a:r>
            <a:r>
              <a:rPr lang="en-US" altLang="zh-CN" dirty="0">
                <a:latin typeface="楷体_GB2312" pitchFamily="49" charset="-122"/>
                <a:ea typeface="楷体_GB2312" pitchFamily="49" charset="-122"/>
              </a:rPr>
              <a:t>9.0kcal</a:t>
            </a:r>
            <a:r>
              <a:rPr lang="zh-CN" altLang="en-US" dirty="0">
                <a:latin typeface="楷体_GB2312" pitchFamily="49" charset="-122"/>
                <a:ea typeface="楷体_GB2312" pitchFamily="49" charset="-122"/>
              </a:rPr>
              <a:t>）</a:t>
            </a:r>
            <a:endParaRPr lang="en-US" altLang="zh-CN" dirty="0">
              <a:latin typeface="楷体_GB2312" pitchFamily="49" charset="-122"/>
              <a:ea typeface="楷体_GB2312" pitchFamily="49" charset="-122"/>
            </a:endParaRPr>
          </a:p>
          <a:p>
            <a:pPr eaLnBrk="1" hangingPunct="1">
              <a:lnSpc>
                <a:spcPct val="110000"/>
              </a:lnSpc>
            </a:pPr>
            <a:endParaRPr lang="en-US" altLang="zh-CN" dirty="0">
              <a:latin typeface="楷体_GB2312" pitchFamily="49" charset="-122"/>
              <a:ea typeface="楷体_GB2312" pitchFamily="49" charset="-122"/>
            </a:endParaRPr>
          </a:p>
          <a:p>
            <a:pPr eaLnBrk="1" hangingPunct="1">
              <a:lnSpc>
                <a:spcPct val="110000"/>
              </a:lnSpc>
            </a:pPr>
            <a:r>
              <a:rPr lang="zh-CN" altLang="en-US" dirty="0">
                <a:latin typeface="楷体_GB2312" pitchFamily="49" charset="-122"/>
                <a:ea typeface="楷体_GB2312" pitchFamily="49" charset="-122"/>
              </a:rPr>
              <a:t>关于蛋白质的功能，参见本章第三节</a:t>
            </a:r>
            <a:endParaRPr lang="en-US" altLang="zh-CN" dirty="0">
              <a:latin typeface="楷体_GB2312" pitchFamily="49" charset="-122"/>
              <a:ea typeface="楷体_GB2312" pitchFamily="49"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a:extLst>
              <a:ext uri="{FF2B5EF4-FFF2-40B4-BE49-F238E27FC236}">
                <a16:creationId xmlns:a16="http://schemas.microsoft.com/office/drawing/2014/main" id="{E5971640-6C86-4417-A203-7A514BDE05A9}"/>
              </a:ext>
            </a:extLst>
          </p:cNvPr>
          <p:cNvSpPr>
            <a:spLocks noGrp="1" noRot="1" noChangeAspect="1" noChangeArrowheads="1" noTextEdit="1"/>
          </p:cNvSpPr>
          <p:nvPr>
            <p:ph type="sldImg"/>
          </p:nvPr>
        </p:nvSpPr>
        <p:spPr>
          <a:xfrm>
            <a:off x="381000" y="685800"/>
            <a:ext cx="6096000" cy="3429000"/>
          </a:xfrm>
          <a:ln/>
        </p:spPr>
      </p:sp>
      <p:sp>
        <p:nvSpPr>
          <p:cNvPr id="41987" name="备注占位符 2">
            <a:extLst>
              <a:ext uri="{FF2B5EF4-FFF2-40B4-BE49-F238E27FC236}">
                <a16:creationId xmlns:a16="http://schemas.microsoft.com/office/drawing/2014/main" id="{7136EA55-4A4E-4FA7-9E20-22DDABF25AF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41988" name="日期占位符 3">
            <a:extLst>
              <a:ext uri="{FF2B5EF4-FFF2-40B4-BE49-F238E27FC236}">
                <a16:creationId xmlns:a16="http://schemas.microsoft.com/office/drawing/2014/main" id="{BBD4A710-0DF5-4D38-8A86-D584BA0318EB}"/>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4F003DB-23F6-4117-943C-9BFDCF38442F}"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41989" name="灯片编号占位符 4">
            <a:extLst>
              <a:ext uri="{FF2B5EF4-FFF2-40B4-BE49-F238E27FC236}">
                <a16:creationId xmlns:a16="http://schemas.microsoft.com/office/drawing/2014/main" id="{F375C54A-F3CD-4416-970C-1C5237A8B7C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F7E39D60-61FF-43BC-9E6A-61D11C05DEFD}" type="slidenum">
              <a:rPr lang="en-US" altLang="zh-CN" sz="1200" smtClean="0">
                <a:latin typeface="Tahoma" panose="020B0604030504040204" pitchFamily="34" charset="0"/>
              </a:rPr>
              <a:pPr/>
              <a:t>9</a:t>
            </a:fld>
            <a:endParaRPr lang="en-US" altLang="zh-CN" sz="1200">
              <a:latin typeface="Tahoma" panose="020B060403050404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a:extLst>
              <a:ext uri="{FF2B5EF4-FFF2-40B4-BE49-F238E27FC236}">
                <a16:creationId xmlns:a16="http://schemas.microsoft.com/office/drawing/2014/main" id="{A36FEEB7-8ACD-4118-9859-A32177292E3E}"/>
              </a:ext>
            </a:extLst>
          </p:cNvPr>
          <p:cNvSpPr>
            <a:spLocks noGrp="1" noRot="1" noChangeAspect="1" noChangeArrowheads="1" noTextEdit="1"/>
          </p:cNvSpPr>
          <p:nvPr>
            <p:ph type="sldImg"/>
          </p:nvPr>
        </p:nvSpPr>
        <p:spPr>
          <a:xfrm>
            <a:off x="381000" y="685800"/>
            <a:ext cx="6096000" cy="3429000"/>
          </a:xfrm>
          <a:ln/>
        </p:spPr>
      </p:sp>
      <p:sp>
        <p:nvSpPr>
          <p:cNvPr id="44035" name="备注占位符 2">
            <a:extLst>
              <a:ext uri="{FF2B5EF4-FFF2-40B4-BE49-F238E27FC236}">
                <a16:creationId xmlns:a16="http://schemas.microsoft.com/office/drawing/2014/main" id="{5F5146D7-3897-4433-8830-FB8ADAC6C36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4036" name="日期占位符 3">
            <a:extLst>
              <a:ext uri="{FF2B5EF4-FFF2-40B4-BE49-F238E27FC236}">
                <a16:creationId xmlns:a16="http://schemas.microsoft.com/office/drawing/2014/main" id="{95E25AA1-1DEC-43A8-8BB1-74C07C0D5843}"/>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0C12DCC3-1846-4B26-9125-B32AC068D707}"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44037" name="灯片编号占位符 4">
            <a:extLst>
              <a:ext uri="{FF2B5EF4-FFF2-40B4-BE49-F238E27FC236}">
                <a16:creationId xmlns:a16="http://schemas.microsoft.com/office/drawing/2014/main" id="{97117E3A-2622-4592-9059-FEC6BD34378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05CEE8C-D041-49E4-BBCF-8D2372A263E0}" type="slidenum">
              <a:rPr lang="en-US" altLang="zh-CN" sz="1200" smtClean="0">
                <a:latin typeface="Tahoma" panose="020B0604030504040204" pitchFamily="34" charset="0"/>
              </a:rPr>
              <a:pPr/>
              <a:t>10</a:t>
            </a:fld>
            <a:endParaRPr lang="en-US" altLang="zh-CN" sz="1200">
              <a:latin typeface="Tahoma" panose="020B060403050404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a:extLst>
              <a:ext uri="{FF2B5EF4-FFF2-40B4-BE49-F238E27FC236}">
                <a16:creationId xmlns:a16="http://schemas.microsoft.com/office/drawing/2014/main" id="{04424B1B-E1CB-4854-BC30-E39C593D01FD}"/>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7F0BBEB8-4AFD-4870-8DAE-6660FCD74ED9}"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46083" name="Rectangle 7">
            <a:extLst>
              <a:ext uri="{FF2B5EF4-FFF2-40B4-BE49-F238E27FC236}">
                <a16:creationId xmlns:a16="http://schemas.microsoft.com/office/drawing/2014/main" id="{2468182A-158F-4E54-AF78-869EFC02D2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4958A18E-2A50-4C86-B7DE-4462DBE52670}" type="slidenum">
              <a:rPr lang="en-US" altLang="zh-CN" sz="1200" smtClean="0">
                <a:latin typeface="Tahoma" panose="020B0604030504040204" pitchFamily="34" charset="0"/>
              </a:rPr>
              <a:pPr/>
              <a:t>11</a:t>
            </a:fld>
            <a:endParaRPr lang="en-US" altLang="zh-CN" sz="1200">
              <a:latin typeface="Tahoma" panose="020B0604030504040204" pitchFamily="34" charset="0"/>
            </a:endParaRPr>
          </a:p>
        </p:txBody>
      </p:sp>
      <p:sp>
        <p:nvSpPr>
          <p:cNvPr id="46084" name="Rectangle 2">
            <a:extLst>
              <a:ext uri="{FF2B5EF4-FFF2-40B4-BE49-F238E27FC236}">
                <a16:creationId xmlns:a16="http://schemas.microsoft.com/office/drawing/2014/main" id="{3A30EAD4-F0D3-4995-95F9-838BE6328A31}"/>
              </a:ext>
            </a:extLst>
          </p:cNvPr>
          <p:cNvSpPr>
            <a:spLocks noGrp="1" noRot="1" noChangeAspect="1" noChangeArrowheads="1" noTextEdit="1"/>
          </p:cNvSpPr>
          <p:nvPr>
            <p:ph type="sldImg"/>
          </p:nvPr>
        </p:nvSpPr>
        <p:spPr>
          <a:xfrm>
            <a:off x="381000" y="685800"/>
            <a:ext cx="6096000" cy="3429000"/>
          </a:xfrm>
          <a:ln/>
        </p:spPr>
      </p:sp>
      <p:sp>
        <p:nvSpPr>
          <p:cNvPr id="46085" name="Rectangle 3">
            <a:extLst>
              <a:ext uri="{FF2B5EF4-FFF2-40B4-BE49-F238E27FC236}">
                <a16:creationId xmlns:a16="http://schemas.microsoft.com/office/drawing/2014/main" id="{E9B7BBE5-8C03-4AE1-B316-5C40C07046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60000"/>
              </a:lnSpc>
            </a:pPr>
            <a:r>
              <a:rPr lang="zh-CN" altLang="en-US" sz="1400" dirty="0"/>
              <a:t>少数蛋白质不含</a:t>
            </a:r>
            <a:r>
              <a:rPr lang="en-US" altLang="zh-CN" sz="1400" dirty="0"/>
              <a:t>S</a:t>
            </a:r>
            <a:r>
              <a:rPr lang="zh-CN" altLang="en-US" sz="1400" dirty="0"/>
              <a:t>元素。 </a:t>
            </a:r>
            <a:br>
              <a:rPr lang="zh-CN" altLang="en-US" sz="1400" dirty="0"/>
            </a:br>
            <a:r>
              <a:rPr lang="zh-CN" altLang="en-US" sz="1400" dirty="0"/>
              <a:t>       </a:t>
            </a:r>
            <a:endParaRPr lang="en-US" altLang="zh-CN" sz="1400" dirty="0"/>
          </a:p>
          <a:p>
            <a:pPr eaLnBrk="1" hangingPunct="1"/>
            <a:endParaRPr lang="en-US"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a:extLst>
              <a:ext uri="{FF2B5EF4-FFF2-40B4-BE49-F238E27FC236}">
                <a16:creationId xmlns:a16="http://schemas.microsoft.com/office/drawing/2014/main" id="{40BF28EF-0CE3-4707-B62F-0716B227625A}"/>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E70681E3-6D53-4C8A-89E3-3BFD13984907}"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48131" name="Rectangle 7">
            <a:extLst>
              <a:ext uri="{FF2B5EF4-FFF2-40B4-BE49-F238E27FC236}">
                <a16:creationId xmlns:a16="http://schemas.microsoft.com/office/drawing/2014/main" id="{55D60234-2F56-48CF-8583-2E5AA988CD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9F5DC94-83E5-4776-B32B-513E908EC87F}" type="slidenum">
              <a:rPr lang="en-US" altLang="zh-CN" sz="1200" smtClean="0">
                <a:latin typeface="Tahoma" panose="020B0604030504040204" pitchFamily="34" charset="0"/>
              </a:rPr>
              <a:pPr/>
              <a:t>12</a:t>
            </a:fld>
            <a:endParaRPr lang="en-US" altLang="zh-CN" sz="1200">
              <a:latin typeface="Tahoma" panose="020B0604030504040204" pitchFamily="34" charset="0"/>
            </a:endParaRPr>
          </a:p>
        </p:txBody>
      </p:sp>
      <p:sp>
        <p:nvSpPr>
          <p:cNvPr id="48132" name="Rectangle 2">
            <a:extLst>
              <a:ext uri="{FF2B5EF4-FFF2-40B4-BE49-F238E27FC236}">
                <a16:creationId xmlns:a16="http://schemas.microsoft.com/office/drawing/2014/main" id="{866063A0-9F72-48F5-973A-DDF58EBE2EEC}"/>
              </a:ext>
            </a:extLst>
          </p:cNvPr>
          <p:cNvSpPr>
            <a:spLocks noGrp="1" noRot="1" noChangeAspect="1" noChangeArrowheads="1" noTextEdit="1"/>
          </p:cNvSpPr>
          <p:nvPr>
            <p:ph type="sldImg"/>
          </p:nvPr>
        </p:nvSpPr>
        <p:spPr>
          <a:xfrm>
            <a:off x="381000" y="685800"/>
            <a:ext cx="6096000" cy="3429000"/>
          </a:xfrm>
          <a:ln/>
        </p:spPr>
      </p:sp>
      <p:sp>
        <p:nvSpPr>
          <p:cNvPr id="48133" name="Rectangle 3">
            <a:extLst>
              <a:ext uri="{FF2B5EF4-FFF2-40B4-BE49-F238E27FC236}">
                <a16:creationId xmlns:a16="http://schemas.microsoft.com/office/drawing/2014/main" id="{3F79BE00-4C34-493F-9877-6A9C7AB812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楷体_GB2312" pitchFamily="49" charset="-122"/>
                <a:ea typeface="楷体_GB2312" pitchFamily="49" charset="-122"/>
              </a:rPr>
              <a:t>各种</a:t>
            </a:r>
            <a:r>
              <a:rPr lang="en-US" altLang="zh-CN" dirty="0" err="1">
                <a:latin typeface="楷体_GB2312" pitchFamily="49" charset="-122"/>
                <a:ea typeface="楷体_GB2312" pitchFamily="49" charset="-122"/>
              </a:rPr>
              <a:t>Pr</a:t>
            </a:r>
            <a:r>
              <a:rPr lang="zh-CN" altLang="en-US" dirty="0">
                <a:latin typeface="楷体_GB2312" pitchFamily="49" charset="-122"/>
                <a:ea typeface="楷体_GB2312" pitchFamily="49" charset="-122"/>
              </a:rPr>
              <a:t>的含氮量约</a:t>
            </a:r>
            <a:r>
              <a:rPr lang="en-US" altLang="zh-CN" dirty="0">
                <a:latin typeface="楷体_GB2312" pitchFamily="49" charset="-122"/>
                <a:ea typeface="楷体_GB2312" pitchFamily="49" charset="-122"/>
              </a:rPr>
              <a:t>13-19%</a:t>
            </a:r>
            <a:r>
              <a:rPr lang="zh-CN" altLang="en-US" dirty="0">
                <a:latin typeface="楷体_GB2312" pitchFamily="49" charset="-122"/>
                <a:ea typeface="楷体_GB2312" pitchFamily="49" charset="-122"/>
              </a:rPr>
              <a:t>，平均为</a:t>
            </a:r>
            <a:r>
              <a:rPr lang="en-US" altLang="zh-CN" dirty="0">
                <a:latin typeface="楷体_GB2312" pitchFamily="49" charset="-122"/>
                <a:ea typeface="楷体_GB2312" pitchFamily="49" charset="-122"/>
              </a:rPr>
              <a:t>16%</a:t>
            </a:r>
            <a:r>
              <a:rPr lang="zh-CN" altLang="en-US" dirty="0">
                <a:latin typeface="楷体_GB2312" pitchFamily="49" charset="-122"/>
                <a:ea typeface="楷体_GB2312" pitchFamily="49" charset="-122"/>
              </a:rPr>
              <a:t>。</a:t>
            </a:r>
            <a:endParaRPr lang="en-US" altLang="zh-CN" dirty="0">
              <a:latin typeface="楷体_GB2312" pitchFamily="49" charset="-122"/>
              <a:ea typeface="楷体_GB2312" pitchFamily="49" charset="-122"/>
            </a:endParaRPr>
          </a:p>
          <a:p>
            <a:pPr eaLnBrk="1" hangingPunct="1"/>
            <a:r>
              <a:rPr lang="zh-CN" altLang="en-US" dirty="0">
                <a:latin typeface="楷体_GB2312" pitchFamily="49" charset="-122"/>
                <a:ea typeface="楷体_GB2312" pitchFamily="49" charset="-122"/>
              </a:rPr>
              <a:t>由于</a:t>
            </a:r>
            <a:r>
              <a:rPr lang="en-US" altLang="zh-CN" dirty="0" err="1">
                <a:latin typeface="楷体_GB2312" pitchFamily="49" charset="-122"/>
                <a:ea typeface="楷体_GB2312" pitchFamily="49" charset="-122"/>
              </a:rPr>
              <a:t>Pr</a:t>
            </a:r>
            <a:r>
              <a:rPr lang="zh-CN" altLang="en-US" dirty="0">
                <a:latin typeface="楷体_GB2312" pitchFamily="49" charset="-122"/>
                <a:ea typeface="楷体_GB2312" pitchFamily="49" charset="-122"/>
              </a:rPr>
              <a:t>是体内最主要的含氮物质（或者说生物组织中绝大部分氮元素存在于</a:t>
            </a:r>
            <a:r>
              <a:rPr lang="en-US" altLang="zh-CN" dirty="0" err="1">
                <a:latin typeface="楷体_GB2312" pitchFamily="49" charset="-122"/>
                <a:ea typeface="楷体_GB2312" pitchFamily="49" charset="-122"/>
              </a:rPr>
              <a:t>Pr</a:t>
            </a:r>
            <a:r>
              <a:rPr lang="zh-CN" altLang="en-US" dirty="0">
                <a:latin typeface="楷体_GB2312" pitchFamily="49" charset="-122"/>
                <a:ea typeface="楷体_GB2312" pitchFamily="49" charset="-122"/>
              </a:rPr>
              <a:t>中），因此，测定生物样品的含氮量就可推算出</a:t>
            </a:r>
            <a:r>
              <a:rPr lang="en-US" altLang="zh-CN" dirty="0" err="1">
                <a:latin typeface="楷体_GB2312" pitchFamily="49" charset="-122"/>
                <a:ea typeface="楷体_GB2312" pitchFamily="49" charset="-122"/>
              </a:rPr>
              <a:t>Pr</a:t>
            </a:r>
            <a:r>
              <a:rPr lang="zh-CN" altLang="en-US" dirty="0">
                <a:latin typeface="楷体_GB2312" pitchFamily="49" charset="-122"/>
                <a:ea typeface="楷体_GB2312" pitchFamily="49" charset="-122"/>
              </a:rPr>
              <a:t>的大致含量。</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a:extLst>
              <a:ext uri="{FF2B5EF4-FFF2-40B4-BE49-F238E27FC236}">
                <a16:creationId xmlns:a16="http://schemas.microsoft.com/office/drawing/2014/main" id="{0E278C56-977B-40ED-86A4-5C0BACB63FC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407E9D43-457B-4EC2-9BDD-03392212E2FF}"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50179" name="Rectangle 7">
            <a:extLst>
              <a:ext uri="{FF2B5EF4-FFF2-40B4-BE49-F238E27FC236}">
                <a16:creationId xmlns:a16="http://schemas.microsoft.com/office/drawing/2014/main" id="{7562809B-D3CA-46D4-B54E-CF301DD31F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7B3B4B09-4F74-4A5A-B392-DFA5EF52B0F1}" type="slidenum">
              <a:rPr lang="en-US" altLang="zh-CN" sz="1200" smtClean="0">
                <a:latin typeface="Tahoma" panose="020B0604030504040204" pitchFamily="34" charset="0"/>
              </a:rPr>
              <a:pPr/>
              <a:t>13</a:t>
            </a:fld>
            <a:endParaRPr lang="en-US" altLang="zh-CN" sz="1200">
              <a:latin typeface="Tahoma" panose="020B0604030504040204" pitchFamily="34" charset="0"/>
            </a:endParaRPr>
          </a:p>
        </p:txBody>
      </p:sp>
      <p:sp>
        <p:nvSpPr>
          <p:cNvPr id="50180" name="Rectangle 2">
            <a:extLst>
              <a:ext uri="{FF2B5EF4-FFF2-40B4-BE49-F238E27FC236}">
                <a16:creationId xmlns:a16="http://schemas.microsoft.com/office/drawing/2014/main" id="{ED7BC7C3-1915-4EE0-A8E6-69A20C2D9E6E}"/>
              </a:ext>
            </a:extLst>
          </p:cNvPr>
          <p:cNvSpPr>
            <a:spLocks noGrp="1" noRot="1" noChangeAspect="1" noChangeArrowheads="1" noTextEdit="1"/>
          </p:cNvSpPr>
          <p:nvPr>
            <p:ph type="sldImg"/>
          </p:nvPr>
        </p:nvSpPr>
        <p:spPr>
          <a:xfrm>
            <a:off x="381000" y="685800"/>
            <a:ext cx="6096000" cy="3429000"/>
          </a:xfrm>
          <a:ln/>
        </p:spPr>
      </p:sp>
      <p:sp>
        <p:nvSpPr>
          <p:cNvPr id="50181" name="Rectangle 3">
            <a:extLst>
              <a:ext uri="{FF2B5EF4-FFF2-40B4-BE49-F238E27FC236}">
                <a16:creationId xmlns:a16="http://schemas.microsoft.com/office/drawing/2014/main" id="{A2FC0E0D-1D46-461F-8778-63FA937041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据粗略统计，在“毒奶粉”事件中，受害者儿童有高达</a:t>
            </a:r>
            <a:r>
              <a:rPr lang="en-US" altLang="zh-CN" dirty="0"/>
              <a:t>30</a:t>
            </a:r>
            <a:r>
              <a:rPr lang="zh-CN" altLang="en-US" dirty="0"/>
              <a:t>万人，他们普遍的发病征兆是“大头症”，变成了“大头娃娃”</a:t>
            </a:r>
            <a:endParaRPr lang="en-US"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
            <a:extLst>
              <a:ext uri="{FF2B5EF4-FFF2-40B4-BE49-F238E27FC236}">
                <a16:creationId xmlns:a16="http://schemas.microsoft.com/office/drawing/2014/main" id="{848B28CF-A15F-47F1-A697-704BD374816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1816A06-F018-4A02-B67E-3C721C9E6B4A}"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52227" name="Rectangle 7">
            <a:extLst>
              <a:ext uri="{FF2B5EF4-FFF2-40B4-BE49-F238E27FC236}">
                <a16:creationId xmlns:a16="http://schemas.microsoft.com/office/drawing/2014/main" id="{A88E8682-39C3-4BC7-B0CA-3B7CA76FEB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0B18B9AD-65FD-43BB-9E64-98203F0930AB}" type="slidenum">
              <a:rPr lang="en-US" altLang="zh-CN" sz="1200" smtClean="0">
                <a:latin typeface="Tahoma" panose="020B0604030504040204" pitchFamily="34" charset="0"/>
              </a:rPr>
              <a:pPr/>
              <a:t>14</a:t>
            </a:fld>
            <a:endParaRPr lang="en-US" altLang="zh-CN" sz="1200">
              <a:latin typeface="Tahoma" panose="020B0604030504040204" pitchFamily="34" charset="0"/>
            </a:endParaRPr>
          </a:p>
        </p:txBody>
      </p:sp>
      <p:sp>
        <p:nvSpPr>
          <p:cNvPr id="52228" name="Rectangle 2">
            <a:extLst>
              <a:ext uri="{FF2B5EF4-FFF2-40B4-BE49-F238E27FC236}">
                <a16:creationId xmlns:a16="http://schemas.microsoft.com/office/drawing/2014/main" id="{770E7C96-773A-4C3E-A831-E2B2BCFEB907}"/>
              </a:ext>
            </a:extLst>
          </p:cNvPr>
          <p:cNvSpPr>
            <a:spLocks noGrp="1" noRot="1" noChangeAspect="1" noChangeArrowheads="1" noTextEdit="1"/>
          </p:cNvSpPr>
          <p:nvPr>
            <p:ph type="sldImg"/>
          </p:nvPr>
        </p:nvSpPr>
        <p:spPr>
          <a:xfrm>
            <a:off x="381000" y="685800"/>
            <a:ext cx="6096000" cy="3429000"/>
          </a:xfrm>
          <a:ln/>
        </p:spPr>
      </p:sp>
      <p:sp>
        <p:nvSpPr>
          <p:cNvPr id="52229" name="Rectangle 3">
            <a:extLst>
              <a:ext uri="{FF2B5EF4-FFF2-40B4-BE49-F238E27FC236}">
                <a16:creationId xmlns:a16="http://schemas.microsoft.com/office/drawing/2014/main" id="{84A2FBCF-6ECC-42E8-95EF-61D4269FF4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楷体_GB2312" pitchFamily="49" charset="-122"/>
                <a:ea typeface="楷体_GB2312" pitchFamily="49" charset="-122"/>
              </a:rPr>
              <a:t>不对称碳原子  </a:t>
            </a:r>
            <a:r>
              <a:rPr lang="en-US" altLang="zh-CN" dirty="0">
                <a:latin typeface="楷体_GB2312" pitchFamily="49" charset="-122"/>
                <a:ea typeface="楷体_GB2312" pitchFamily="49" charset="-122"/>
              </a:rPr>
              <a:t>chiral carbon</a:t>
            </a:r>
          </a:p>
          <a:p>
            <a:endParaRPr lang="zh-CN" altLang="en-US" dirty="0">
              <a:latin typeface="楷体_GB2312" pitchFamily="49" charset="-122"/>
              <a:ea typeface="楷体_GB2312" pitchFamily="49"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a:extLst>
              <a:ext uri="{FF2B5EF4-FFF2-40B4-BE49-F238E27FC236}">
                <a16:creationId xmlns:a16="http://schemas.microsoft.com/office/drawing/2014/main" id="{0618F4D8-2671-4D6F-AAA1-51C740244DC0}"/>
              </a:ext>
            </a:extLst>
          </p:cNvPr>
          <p:cNvSpPr>
            <a:spLocks noGrp="1" noRot="1" noChangeAspect="1" noChangeArrowheads="1" noTextEdit="1"/>
          </p:cNvSpPr>
          <p:nvPr>
            <p:ph type="sldImg"/>
          </p:nvPr>
        </p:nvSpPr>
        <p:spPr>
          <a:xfrm>
            <a:off x="381000" y="685800"/>
            <a:ext cx="6096000" cy="3429000"/>
          </a:xfrm>
          <a:ln/>
        </p:spPr>
      </p:sp>
      <p:sp>
        <p:nvSpPr>
          <p:cNvPr id="56323" name="备注占位符 2">
            <a:extLst>
              <a:ext uri="{FF2B5EF4-FFF2-40B4-BE49-F238E27FC236}">
                <a16:creationId xmlns:a16="http://schemas.microsoft.com/office/drawing/2014/main" id="{5BBFA8BB-6ED9-4B6A-B4F7-6CB1E794CAE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L-</a:t>
            </a:r>
            <a:r>
              <a:rPr lang="zh-CN" altLang="en-US" dirty="0"/>
              <a:t>甘油醛在</a:t>
            </a:r>
            <a:r>
              <a:rPr lang="en-US" altLang="zh-CN" dirty="0"/>
              <a:t>RS</a:t>
            </a:r>
            <a:r>
              <a:rPr lang="zh-CN" altLang="en-US" dirty="0"/>
              <a:t>系统中为</a:t>
            </a:r>
            <a:r>
              <a:rPr lang="en-US" altLang="zh-CN" dirty="0"/>
              <a:t>S-</a:t>
            </a:r>
            <a:r>
              <a:rPr lang="zh-CN" altLang="en-US" dirty="0"/>
              <a:t>甘油醛  ， </a:t>
            </a:r>
            <a:r>
              <a:rPr lang="en-US" altLang="zh-CN" b="1" dirty="0"/>
              <a:t>L-</a:t>
            </a:r>
            <a:r>
              <a:rPr lang="zh-CN" altLang="en-US" b="1" dirty="0"/>
              <a:t>氨基酸都是</a:t>
            </a:r>
            <a:r>
              <a:rPr lang="en-US" altLang="zh-CN" b="1" dirty="0"/>
              <a:t>S-</a:t>
            </a:r>
            <a:r>
              <a:rPr lang="zh-CN" altLang="en-US" b="1" dirty="0"/>
              <a:t>氨基酸</a:t>
            </a:r>
            <a:endParaRPr lang="en-US" altLang="zh-CN" b="1" dirty="0"/>
          </a:p>
          <a:p>
            <a:endParaRPr lang="en-US" altLang="zh-CN" dirty="0"/>
          </a:p>
          <a:p>
            <a:r>
              <a:rPr lang="zh-CN" altLang="en-US" b="1" dirty="0"/>
              <a:t>注意</a:t>
            </a:r>
            <a:r>
              <a:rPr lang="en-US" altLang="zh-CN" b="1" dirty="0"/>
              <a:t>:</a:t>
            </a:r>
            <a:r>
              <a:rPr lang="zh-CN" altLang="en-US" dirty="0"/>
              <a:t>　这里的</a:t>
            </a:r>
            <a:r>
              <a:rPr lang="en-US" altLang="zh-CN" dirty="0"/>
              <a:t>L</a:t>
            </a:r>
            <a:r>
              <a:rPr lang="zh-CN" altLang="en-US" dirty="0"/>
              <a:t>不代表左旋</a:t>
            </a:r>
            <a:r>
              <a:rPr lang="en-US" altLang="zh-CN" dirty="0"/>
              <a:t>(levorotatory)</a:t>
            </a:r>
            <a:r>
              <a:rPr lang="zh-CN" altLang="en-US" dirty="0"/>
              <a:t>，</a:t>
            </a:r>
            <a:r>
              <a:rPr lang="en-US" altLang="zh-CN" dirty="0"/>
              <a:t>D</a:t>
            </a:r>
            <a:r>
              <a:rPr lang="zh-CN" altLang="en-US" dirty="0"/>
              <a:t>也不代表右旋</a:t>
            </a:r>
            <a:r>
              <a:rPr lang="en-US" altLang="zh-CN" dirty="0"/>
              <a:t>(dextrorotatory) </a:t>
            </a:r>
            <a:r>
              <a:rPr lang="zh-CN" altLang="en-US" dirty="0"/>
              <a:t>！ 虽然</a:t>
            </a:r>
            <a:r>
              <a:rPr lang="en-US" altLang="zh-CN" dirty="0"/>
              <a:t>L</a:t>
            </a:r>
            <a:r>
              <a:rPr lang="zh-CN" altLang="en-US" dirty="0"/>
              <a:t>－甘油醛的得名是因其为左旋异构体。 </a:t>
            </a:r>
            <a:endParaRPr lang="en-US" altLang="zh-CN" dirty="0"/>
          </a:p>
        </p:txBody>
      </p:sp>
      <p:sp>
        <p:nvSpPr>
          <p:cNvPr id="56324" name="日期占位符 3">
            <a:extLst>
              <a:ext uri="{FF2B5EF4-FFF2-40B4-BE49-F238E27FC236}">
                <a16:creationId xmlns:a16="http://schemas.microsoft.com/office/drawing/2014/main" id="{32203DAD-1B8B-4853-BA72-F9DE524E8687}"/>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0489009B-4451-43EB-90A4-94C2558B3972}"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56325" name="灯片编号占位符 4">
            <a:extLst>
              <a:ext uri="{FF2B5EF4-FFF2-40B4-BE49-F238E27FC236}">
                <a16:creationId xmlns:a16="http://schemas.microsoft.com/office/drawing/2014/main" id="{52F23C7F-0A55-48DA-BB2E-57ADCB334E7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94E2F6A1-8571-44DB-9E9A-BFCFA88A8CCA}" type="slidenum">
              <a:rPr lang="en-US" altLang="zh-CN" sz="1200" smtClean="0">
                <a:latin typeface="Tahoma" panose="020B0604030504040204" pitchFamily="34" charset="0"/>
              </a:rPr>
              <a:pPr/>
              <a:t>15</a:t>
            </a:fld>
            <a:endParaRPr lang="en-US" altLang="zh-CN" sz="1200">
              <a:latin typeface="Tahoma" panose="020B060403050404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a:extLst>
              <a:ext uri="{FF2B5EF4-FFF2-40B4-BE49-F238E27FC236}">
                <a16:creationId xmlns:a16="http://schemas.microsoft.com/office/drawing/2014/main" id="{350D655F-D2D7-4001-A485-B2798E7A40D1}"/>
              </a:ext>
            </a:extLst>
          </p:cNvPr>
          <p:cNvSpPr>
            <a:spLocks noGrp="1" noRot="1" noChangeAspect="1" noChangeArrowheads="1" noTextEdit="1"/>
          </p:cNvSpPr>
          <p:nvPr>
            <p:ph type="sldImg"/>
          </p:nvPr>
        </p:nvSpPr>
        <p:spPr>
          <a:xfrm>
            <a:off x="381000" y="685800"/>
            <a:ext cx="6096000" cy="3429000"/>
          </a:xfrm>
          <a:ln/>
        </p:spPr>
      </p:sp>
      <p:sp>
        <p:nvSpPr>
          <p:cNvPr id="58371" name="备注占位符 2">
            <a:extLst>
              <a:ext uri="{FF2B5EF4-FFF2-40B4-BE49-F238E27FC236}">
                <a16:creationId xmlns:a16="http://schemas.microsoft.com/office/drawing/2014/main" id="{E48B7756-EFEF-4BA3-8190-60A374AD389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58372" name="日期占位符 3">
            <a:extLst>
              <a:ext uri="{FF2B5EF4-FFF2-40B4-BE49-F238E27FC236}">
                <a16:creationId xmlns:a16="http://schemas.microsoft.com/office/drawing/2014/main" id="{9F9A6350-0A70-4618-B3B6-8A6E9D91CD79}"/>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05A8857-AC92-4193-9720-94E45D04D1C3}"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58373" name="灯片编号占位符 4">
            <a:extLst>
              <a:ext uri="{FF2B5EF4-FFF2-40B4-BE49-F238E27FC236}">
                <a16:creationId xmlns:a16="http://schemas.microsoft.com/office/drawing/2014/main" id="{70DB22E2-3D03-45E6-87D2-FDB81700C5B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B28DD452-E49F-4637-B8DD-C0657F5F4D81}" type="slidenum">
              <a:rPr lang="en-US" altLang="zh-CN" sz="1200" smtClean="0">
                <a:latin typeface="Tahoma" panose="020B0604030504040204" pitchFamily="34" charset="0"/>
              </a:rPr>
              <a:pPr/>
              <a:t>16</a:t>
            </a:fld>
            <a:endParaRPr lang="en-US" altLang="zh-CN" sz="1200">
              <a:latin typeface="Tahoma" panose="020B060403050404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a:extLst>
              <a:ext uri="{FF2B5EF4-FFF2-40B4-BE49-F238E27FC236}">
                <a16:creationId xmlns:a16="http://schemas.microsoft.com/office/drawing/2014/main" id="{F711632F-5269-4D1A-AA02-C1EA669D644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44AAE8C4-C79C-450F-A4A9-E8DC5671F600}"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60419" name="Rectangle 7">
            <a:extLst>
              <a:ext uri="{FF2B5EF4-FFF2-40B4-BE49-F238E27FC236}">
                <a16:creationId xmlns:a16="http://schemas.microsoft.com/office/drawing/2014/main" id="{1952A50A-AFF8-4C7A-BB1E-754DDCCEE3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0767AE05-9D47-4009-AAC5-457AEB05046E}" type="slidenum">
              <a:rPr lang="en-US" altLang="zh-CN" sz="1200" smtClean="0">
                <a:latin typeface="Tahoma" panose="020B0604030504040204" pitchFamily="34" charset="0"/>
              </a:rPr>
              <a:pPr/>
              <a:t>17</a:t>
            </a:fld>
            <a:endParaRPr lang="en-US" altLang="zh-CN" sz="1200">
              <a:latin typeface="Tahoma" panose="020B0604030504040204" pitchFamily="34" charset="0"/>
            </a:endParaRPr>
          </a:p>
        </p:txBody>
      </p:sp>
      <p:sp>
        <p:nvSpPr>
          <p:cNvPr id="60420" name="Rectangle 2">
            <a:extLst>
              <a:ext uri="{FF2B5EF4-FFF2-40B4-BE49-F238E27FC236}">
                <a16:creationId xmlns:a16="http://schemas.microsoft.com/office/drawing/2014/main" id="{FA0CD1B2-DE84-495A-B3A4-E9275651DC5D}"/>
              </a:ext>
            </a:extLst>
          </p:cNvPr>
          <p:cNvSpPr>
            <a:spLocks noGrp="1" noRot="1" noChangeAspect="1" noChangeArrowheads="1" noTextEdit="1"/>
          </p:cNvSpPr>
          <p:nvPr>
            <p:ph type="sldImg"/>
          </p:nvPr>
        </p:nvSpPr>
        <p:spPr>
          <a:xfrm>
            <a:off x="381000" y="685800"/>
            <a:ext cx="6096000" cy="3429000"/>
          </a:xfrm>
          <a:ln/>
        </p:spPr>
      </p:sp>
      <p:sp>
        <p:nvSpPr>
          <p:cNvPr id="60421" name="Rectangle 3">
            <a:extLst>
              <a:ext uri="{FF2B5EF4-FFF2-40B4-BE49-F238E27FC236}">
                <a16:creationId xmlns:a16="http://schemas.microsoft.com/office/drawing/2014/main" id="{96A344B5-B8E0-4AEF-A3FD-5CD9AACD84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有些氨基酸比如</a:t>
            </a:r>
            <a:r>
              <a:rPr lang="en-US" altLang="zh-CN" dirty="0" err="1"/>
              <a:t>Gly</a:t>
            </a:r>
            <a:r>
              <a:rPr lang="en-US" altLang="zh-CN" dirty="0"/>
              <a:t>, </a:t>
            </a:r>
            <a:r>
              <a:rPr lang="en-US" altLang="zh-CN" dirty="0" err="1"/>
              <a:t>Cys</a:t>
            </a:r>
            <a:r>
              <a:rPr lang="en-US" altLang="zh-CN" dirty="0"/>
              <a:t>, His</a:t>
            </a:r>
            <a:r>
              <a:rPr lang="zh-CN" altLang="en-US" dirty="0"/>
              <a:t>的侧链并不具有所在分组侧链的典型性质，它们归类到某一组其实有点勉强</a:t>
            </a:r>
            <a:r>
              <a:rPr lang="en-US" altLang="zh-CN" dirty="0"/>
              <a:t>.</a:t>
            </a:r>
            <a:endParaRPr lang="zh-CN" altLang="en-US" dirty="0"/>
          </a:p>
          <a:p>
            <a:pPr eaLnBrk="1" hangingPunct="1"/>
            <a:endParaRPr kumimoji="0" lang="en-US" altLang="zh-CN" b="1" i="1" dirty="0">
              <a:solidFill>
                <a:srgbClr val="FFFF00"/>
              </a:solidFill>
            </a:endParaRPr>
          </a:p>
          <a:p>
            <a:pPr eaLnBrk="1" hangingPunct="1"/>
            <a:r>
              <a:rPr kumimoji="0" lang="zh-CN" altLang="en-US" b="1" dirty="0">
                <a:solidFill>
                  <a:srgbClr val="FFFF00"/>
                </a:solidFill>
              </a:rPr>
              <a:t>牢记这种分类，并熟悉氨基酸的三字母缩写</a:t>
            </a:r>
            <a:r>
              <a:rPr kumimoji="0" lang="en-US" altLang="zh-CN" b="1" dirty="0">
                <a:solidFill>
                  <a:srgbClr val="FFFF00"/>
                </a:solidFill>
              </a:rPr>
              <a:t>!   </a:t>
            </a:r>
            <a:r>
              <a:rPr kumimoji="0" lang="zh-CN" altLang="en-US" b="1" dirty="0">
                <a:solidFill>
                  <a:srgbClr val="FFFF00"/>
                </a:solidFill>
              </a:rPr>
              <a:t>如果是基础医学院创班，单字母缩写也要求熟悉！ </a:t>
            </a:r>
            <a:endParaRPr kumimoji="0" lang="en-US" altLang="zh-CN" b="1" dirty="0">
              <a:solidFill>
                <a:srgbClr val="FFFF00"/>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a:extLst>
              <a:ext uri="{FF2B5EF4-FFF2-40B4-BE49-F238E27FC236}">
                <a16:creationId xmlns:a16="http://schemas.microsoft.com/office/drawing/2014/main" id="{2849DE87-D057-464C-A668-FBD7A4FB572D}"/>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4497439-54A1-4C7D-9501-4D1E31A2C134}"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62467" name="Rectangle 7">
            <a:extLst>
              <a:ext uri="{FF2B5EF4-FFF2-40B4-BE49-F238E27FC236}">
                <a16:creationId xmlns:a16="http://schemas.microsoft.com/office/drawing/2014/main" id="{5BB08E32-209E-47D1-A1E9-3784877173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53C6FC40-E90C-4A83-B828-5BF0BF5C6EBF}" type="slidenum">
              <a:rPr lang="en-US" altLang="zh-CN" sz="1200" smtClean="0">
                <a:latin typeface="Tahoma" panose="020B0604030504040204" pitchFamily="34" charset="0"/>
              </a:rPr>
              <a:pPr/>
              <a:t>18</a:t>
            </a:fld>
            <a:endParaRPr lang="en-US" altLang="zh-CN" sz="1200">
              <a:latin typeface="Tahoma" panose="020B0604030504040204" pitchFamily="34" charset="0"/>
            </a:endParaRPr>
          </a:p>
        </p:txBody>
      </p:sp>
      <p:sp>
        <p:nvSpPr>
          <p:cNvPr id="62468" name="Rectangle 2">
            <a:extLst>
              <a:ext uri="{FF2B5EF4-FFF2-40B4-BE49-F238E27FC236}">
                <a16:creationId xmlns:a16="http://schemas.microsoft.com/office/drawing/2014/main" id="{060E4AFC-20B8-4853-9CC2-3A3CFDD30BB2}"/>
              </a:ext>
            </a:extLst>
          </p:cNvPr>
          <p:cNvSpPr>
            <a:spLocks noGrp="1" noRot="1" noChangeAspect="1" noChangeArrowheads="1" noTextEdit="1"/>
          </p:cNvSpPr>
          <p:nvPr>
            <p:ph type="sldImg"/>
          </p:nvPr>
        </p:nvSpPr>
        <p:spPr>
          <a:xfrm>
            <a:off x="381000" y="685800"/>
            <a:ext cx="6096000" cy="3429000"/>
          </a:xfrm>
          <a:ln/>
        </p:spPr>
      </p:sp>
      <p:sp>
        <p:nvSpPr>
          <p:cNvPr id="62469" name="Rectangle 3">
            <a:extLst>
              <a:ext uri="{FF2B5EF4-FFF2-40B4-BE49-F238E27FC236}">
                <a16:creationId xmlns:a16="http://schemas.microsoft.com/office/drawing/2014/main" id="{0F524E11-33D8-4A73-B60D-A02AD4FA39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solidFill>
                  <a:srgbClr val="993366"/>
                </a:solidFill>
              </a:rPr>
              <a:t>侧链含</a:t>
            </a:r>
            <a:r>
              <a:rPr lang="zh-CN" altLang="en-US" b="1" dirty="0">
                <a:solidFill>
                  <a:srgbClr val="993366"/>
                </a:solidFill>
              </a:rPr>
              <a:t>烃链</a:t>
            </a:r>
            <a:r>
              <a:rPr lang="zh-CN" altLang="en-US" dirty="0">
                <a:solidFill>
                  <a:srgbClr val="993366"/>
                </a:solidFill>
              </a:rPr>
              <a:t>的氨基酸</a:t>
            </a:r>
            <a:r>
              <a:rPr lang="en-US" altLang="zh-CN" dirty="0">
                <a:solidFill>
                  <a:srgbClr val="993366"/>
                </a:solidFill>
              </a:rPr>
              <a:t>,</a:t>
            </a:r>
            <a:r>
              <a:rPr lang="zh-CN" altLang="en-US" dirty="0"/>
              <a:t>此类氨基酸在水溶液中溶解度小</a:t>
            </a:r>
            <a:r>
              <a:rPr lang="en-US" altLang="zh-CN" dirty="0"/>
              <a:t>.       </a:t>
            </a:r>
            <a:r>
              <a:rPr lang="zh-CN" altLang="en-US" dirty="0"/>
              <a:t>谐音记忆法；</a:t>
            </a:r>
            <a:r>
              <a:rPr lang="en-US" altLang="zh-CN" dirty="0">
                <a:solidFill>
                  <a:srgbClr val="FFFF00"/>
                </a:solidFill>
                <a:latin typeface="微软雅黑" panose="020B0503020204020204" pitchFamily="34" charset="-122"/>
                <a:ea typeface="微软雅黑" panose="020B0503020204020204" pitchFamily="34" charset="-122"/>
              </a:rPr>
              <a:t>“</a:t>
            </a:r>
            <a:r>
              <a:rPr lang="zh-CN" altLang="en-US" b="1" dirty="0">
                <a:solidFill>
                  <a:srgbClr val="FFFF00"/>
                </a:solidFill>
                <a:latin typeface="微软雅黑" panose="020B0503020204020204" pitchFamily="34" charset="-122"/>
                <a:ea typeface="微软雅黑" panose="020B0503020204020204" pitchFamily="34" charset="-122"/>
              </a:rPr>
              <a:t>谱写一两</a:t>
            </a:r>
            <a:r>
              <a:rPr lang="zh-CN" altLang="en-US" dirty="0">
                <a:solidFill>
                  <a:schemeClr val="bg1"/>
                </a:solidFill>
                <a:latin typeface="微软雅黑" panose="020B0503020204020204" pitchFamily="34" charset="-122"/>
                <a:ea typeface="微软雅黑" panose="020B0503020204020204" pitchFamily="34" charset="-122"/>
              </a:rPr>
              <a:t>个</a:t>
            </a:r>
            <a:r>
              <a:rPr lang="zh-CN" altLang="en-US" b="1" dirty="0">
                <a:solidFill>
                  <a:srgbClr val="FFFF00"/>
                </a:solidFill>
                <a:latin typeface="微软雅黑" panose="020B0503020204020204" pitchFamily="34" charset="-122"/>
                <a:ea typeface="微软雅黑" panose="020B0503020204020204" pitchFamily="34" charset="-122"/>
              </a:rPr>
              <a:t>丙肝</a:t>
            </a:r>
            <a:r>
              <a:rPr lang="zh-CN" altLang="en-US" dirty="0">
                <a:solidFill>
                  <a:srgbClr val="FFFF00"/>
                </a:solidFill>
                <a:latin typeface="微软雅黑" panose="020B0503020204020204" pitchFamily="34" charset="-122"/>
                <a:ea typeface="微软雅黑" panose="020B0503020204020204" pitchFamily="34" charset="-122"/>
              </a:rPr>
              <a:t>患者</a:t>
            </a:r>
            <a:r>
              <a:rPr lang="en-US" altLang="zh-CN" dirty="0">
                <a:solidFill>
                  <a:srgbClr val="FFFF00"/>
                </a:solidFill>
                <a:latin typeface="微软雅黑" panose="020B0503020204020204" pitchFamily="34" charset="-122"/>
                <a:ea typeface="微软雅黑" panose="020B0503020204020204" pitchFamily="34" charset="-122"/>
              </a:rPr>
              <a:t>”</a:t>
            </a:r>
            <a:r>
              <a:rPr lang="zh-CN" altLang="en-US" dirty="0">
                <a:solidFill>
                  <a:srgbClr val="FFFF00"/>
                </a:solidFill>
                <a:latin typeface="微软雅黑" panose="020B0503020204020204" pitchFamily="34" charset="-122"/>
                <a:ea typeface="微软雅黑" panose="020B0503020204020204" pitchFamily="34" charset="-122"/>
              </a:rPr>
              <a:t>（缺蛋氨酸）</a:t>
            </a:r>
            <a:endParaRPr lang="en-US" altLang="zh-CN" dirty="0"/>
          </a:p>
          <a:p>
            <a:pPr eaLnBrk="1" hangingPunct="1"/>
            <a:r>
              <a:rPr lang="en-US" altLang="zh-CN" dirty="0" err="1"/>
              <a:t>Phe</a:t>
            </a:r>
            <a:r>
              <a:rPr lang="en-US" altLang="zh-CN" dirty="0"/>
              <a:t>, </a:t>
            </a:r>
            <a:r>
              <a:rPr lang="en-US" altLang="zh-CN" dirty="0" err="1"/>
              <a:t>Trp</a:t>
            </a:r>
            <a:r>
              <a:rPr lang="zh-CN" altLang="en-US" dirty="0"/>
              <a:t>可归入此类，尤其</a:t>
            </a:r>
            <a:r>
              <a:rPr lang="en-US" altLang="zh-CN" dirty="0" err="1"/>
              <a:t>Phe</a:t>
            </a:r>
            <a:r>
              <a:rPr lang="en-US" altLang="zh-CN" dirty="0"/>
              <a:t>. </a:t>
            </a:r>
          </a:p>
          <a:p>
            <a:pPr eaLnBrk="1" hangingPunct="1"/>
            <a:r>
              <a:rPr lang="en-US" altLang="zh-CN" dirty="0" err="1"/>
              <a:t>Gly</a:t>
            </a:r>
            <a:r>
              <a:rPr lang="zh-CN" altLang="en-US" dirty="0"/>
              <a:t>侧链谈不上极性和非极性，放哪一组都不合适，估且扔这一组。 有的资料中，</a:t>
            </a:r>
            <a:r>
              <a:rPr lang="en-US" altLang="zh-CN" dirty="0" err="1"/>
              <a:t>Gly</a:t>
            </a:r>
            <a:r>
              <a:rPr lang="zh-CN" altLang="en-US" dirty="0"/>
              <a:t>被放在极性中性氨基酸这一组里。</a:t>
            </a:r>
          </a:p>
          <a:p>
            <a:pPr eaLnBrk="1" hangingPunct="1"/>
            <a:endParaRPr lang="en-US" altLang="zh-CN" dirty="0"/>
          </a:p>
          <a:p>
            <a:pPr eaLnBrk="1" hangingPunct="1"/>
            <a:r>
              <a:rPr lang="zh-CN" altLang="en-US" dirty="0"/>
              <a:t>本组以</a:t>
            </a:r>
            <a:r>
              <a:rPr lang="en-US" altLang="zh-CN" dirty="0" err="1"/>
              <a:t>Val,Leu,Ile</a:t>
            </a:r>
            <a:r>
              <a:rPr lang="zh-CN" altLang="en-US" dirty="0"/>
              <a:t>最为典型，它们多见于蛋白质的内部。</a:t>
            </a:r>
            <a:endParaRPr lang="en-US" altLang="zh-CN" dirty="0"/>
          </a:p>
          <a:p>
            <a:pPr eaLnBrk="1" hangingPunct="1"/>
            <a:endParaRPr lang="en-US"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a:extLst>
              <a:ext uri="{FF2B5EF4-FFF2-40B4-BE49-F238E27FC236}">
                <a16:creationId xmlns:a16="http://schemas.microsoft.com/office/drawing/2014/main" id="{1549C1C3-A2C8-4CB0-96B2-CEC4DA8754B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E9AC2FEA-A876-4C60-99AF-F989803E88CD}"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64515" name="Rectangle 7">
            <a:extLst>
              <a:ext uri="{FF2B5EF4-FFF2-40B4-BE49-F238E27FC236}">
                <a16:creationId xmlns:a16="http://schemas.microsoft.com/office/drawing/2014/main" id="{A0F5DE60-C774-4746-9122-36710B180D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7172BBAF-C858-4906-994D-6B0555C55154}" type="slidenum">
              <a:rPr lang="en-US" altLang="zh-CN" sz="1200" smtClean="0">
                <a:latin typeface="Tahoma" panose="020B0604030504040204" pitchFamily="34" charset="0"/>
              </a:rPr>
              <a:pPr/>
              <a:t>19</a:t>
            </a:fld>
            <a:endParaRPr lang="en-US" altLang="zh-CN" sz="1200">
              <a:latin typeface="Tahoma" panose="020B0604030504040204" pitchFamily="34" charset="0"/>
            </a:endParaRPr>
          </a:p>
        </p:txBody>
      </p:sp>
      <p:sp>
        <p:nvSpPr>
          <p:cNvPr id="64516" name="Rectangle 2">
            <a:extLst>
              <a:ext uri="{FF2B5EF4-FFF2-40B4-BE49-F238E27FC236}">
                <a16:creationId xmlns:a16="http://schemas.microsoft.com/office/drawing/2014/main" id="{017D7342-CDD1-46B5-9534-0177FC9AC277}"/>
              </a:ext>
            </a:extLst>
          </p:cNvPr>
          <p:cNvSpPr>
            <a:spLocks noGrp="1" noRot="1" noChangeAspect="1" noChangeArrowheads="1" noTextEdit="1"/>
          </p:cNvSpPr>
          <p:nvPr>
            <p:ph type="sldImg"/>
          </p:nvPr>
        </p:nvSpPr>
        <p:spPr>
          <a:xfrm>
            <a:off x="381000" y="685800"/>
            <a:ext cx="6096000" cy="3429000"/>
          </a:xfrm>
          <a:ln/>
        </p:spPr>
      </p:sp>
      <p:sp>
        <p:nvSpPr>
          <p:cNvPr id="64517" name="Rectangle 3">
            <a:extLst>
              <a:ext uri="{FF2B5EF4-FFF2-40B4-BE49-F238E27FC236}">
                <a16:creationId xmlns:a16="http://schemas.microsoft.com/office/drawing/2014/main" id="{FF3B6DEA-3390-45BB-990D-D358FD2149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1" dirty="0">
                <a:solidFill>
                  <a:srgbClr val="993366"/>
                </a:solidFill>
              </a:rPr>
              <a:t>侧链有极性但不带电荷   </a:t>
            </a:r>
            <a:r>
              <a:rPr lang="zh-CN" altLang="en-US" dirty="0"/>
              <a:t>水中溶解度大。 </a:t>
            </a:r>
            <a:r>
              <a:rPr lang="en-US" altLang="zh-CN" dirty="0"/>
              <a:t>Tyr</a:t>
            </a:r>
            <a:r>
              <a:rPr lang="zh-CN" altLang="en-US" dirty="0"/>
              <a:t>可归入此类</a:t>
            </a:r>
            <a:endParaRPr lang="en-US" altLang="zh-CN" dirty="0"/>
          </a:p>
          <a:p>
            <a:pPr eaLnBrk="1" hangingPunct="1"/>
            <a:r>
              <a:rPr lang="zh-CN" altLang="en-US" dirty="0"/>
              <a:t>本组成员可与水分子形成氢键，不过</a:t>
            </a:r>
            <a:r>
              <a:rPr lang="en-US" altLang="zh-CN" dirty="0"/>
              <a:t>-SH</a:t>
            </a:r>
            <a:r>
              <a:rPr lang="zh-CN" altLang="en-US" dirty="0"/>
              <a:t>形成氢键的能力很弱，但有弱酸性，易失去质子。</a:t>
            </a:r>
            <a:r>
              <a:rPr lang="en-US" altLang="zh-CN" dirty="0">
                <a:solidFill>
                  <a:srgbClr val="993366"/>
                </a:solidFill>
              </a:rPr>
              <a:t>-SH</a:t>
            </a:r>
            <a:r>
              <a:rPr lang="zh-CN" altLang="en-US" dirty="0">
                <a:solidFill>
                  <a:srgbClr val="993366"/>
                </a:solidFill>
              </a:rPr>
              <a:t>的</a:t>
            </a:r>
            <a:r>
              <a:rPr lang="en-US" altLang="zh-CN" dirty="0" err="1">
                <a:solidFill>
                  <a:srgbClr val="993366"/>
                </a:solidFill>
              </a:rPr>
              <a:t>pKa</a:t>
            </a:r>
            <a:r>
              <a:rPr lang="en-US" altLang="zh-CN" dirty="0">
                <a:solidFill>
                  <a:srgbClr val="993366"/>
                </a:solidFill>
              </a:rPr>
              <a:t>=8.18</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a:extLst>
              <a:ext uri="{FF2B5EF4-FFF2-40B4-BE49-F238E27FC236}">
                <a16:creationId xmlns:a16="http://schemas.microsoft.com/office/drawing/2014/main" id="{BEBE54D7-AF23-4941-AA15-D8FF1E316DD9}"/>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D34999D9-50ED-4698-A52C-DB561F45FC30}"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66563" name="Rectangle 7">
            <a:extLst>
              <a:ext uri="{FF2B5EF4-FFF2-40B4-BE49-F238E27FC236}">
                <a16:creationId xmlns:a16="http://schemas.microsoft.com/office/drawing/2014/main" id="{5B78EF42-8967-40FC-A711-C1BE4E6666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80A5203-EC7A-45F4-87DF-0E3051FD603E}" type="slidenum">
              <a:rPr lang="en-US" altLang="zh-CN" sz="1200" smtClean="0">
                <a:latin typeface="Tahoma" panose="020B0604030504040204" pitchFamily="34" charset="0"/>
              </a:rPr>
              <a:pPr/>
              <a:t>20</a:t>
            </a:fld>
            <a:endParaRPr lang="en-US" altLang="zh-CN" sz="1200">
              <a:latin typeface="Tahoma" panose="020B0604030504040204" pitchFamily="34" charset="0"/>
            </a:endParaRPr>
          </a:p>
        </p:txBody>
      </p:sp>
      <p:sp>
        <p:nvSpPr>
          <p:cNvPr id="66564" name="Rectangle 2">
            <a:extLst>
              <a:ext uri="{FF2B5EF4-FFF2-40B4-BE49-F238E27FC236}">
                <a16:creationId xmlns:a16="http://schemas.microsoft.com/office/drawing/2014/main" id="{AE06FA49-2447-43DB-829D-B421357B3202}"/>
              </a:ext>
            </a:extLst>
          </p:cNvPr>
          <p:cNvSpPr>
            <a:spLocks noGrp="1" noRot="1" noChangeAspect="1" noChangeArrowheads="1" noTextEdit="1"/>
          </p:cNvSpPr>
          <p:nvPr>
            <p:ph type="sldImg"/>
          </p:nvPr>
        </p:nvSpPr>
        <p:spPr>
          <a:xfrm>
            <a:off x="381000" y="685800"/>
            <a:ext cx="6096000" cy="3429000"/>
          </a:xfrm>
          <a:ln/>
        </p:spPr>
      </p:sp>
      <p:sp>
        <p:nvSpPr>
          <p:cNvPr id="66565" name="Rectangle 3">
            <a:extLst>
              <a:ext uri="{FF2B5EF4-FFF2-40B4-BE49-F238E27FC236}">
                <a16:creationId xmlns:a16="http://schemas.microsoft.com/office/drawing/2014/main" id="{3C6DB1EA-B947-4BFF-9D3C-DAC3698BD4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err="1"/>
              <a:t>Phe</a:t>
            </a:r>
            <a:r>
              <a:rPr lang="zh-CN" altLang="en-US" dirty="0"/>
              <a:t>，</a:t>
            </a:r>
            <a:r>
              <a:rPr lang="en-US" altLang="zh-CN" dirty="0" err="1"/>
              <a:t>Trp</a:t>
            </a:r>
            <a:r>
              <a:rPr lang="zh-CN" altLang="en-US" dirty="0"/>
              <a:t>侧链均为非极性，</a:t>
            </a:r>
            <a:r>
              <a:rPr lang="en-US" altLang="zh-CN" dirty="0" err="1"/>
              <a:t>Trp</a:t>
            </a:r>
            <a:r>
              <a:rPr lang="zh-CN" altLang="en-US" dirty="0"/>
              <a:t>侧链的非极性远弱于</a:t>
            </a:r>
            <a:r>
              <a:rPr lang="en-US" altLang="zh-CN" dirty="0" err="1"/>
              <a:t>Phe</a:t>
            </a:r>
            <a:r>
              <a:rPr lang="zh-CN" altLang="en-US" dirty="0"/>
              <a:t>。</a:t>
            </a:r>
            <a:endParaRPr lang="en-US" altLang="zh-CN" dirty="0"/>
          </a:p>
          <a:p>
            <a:pPr eaLnBrk="1" hangingPunct="1"/>
            <a:r>
              <a:rPr lang="zh-CN" altLang="en-US" dirty="0"/>
              <a:t>关于</a:t>
            </a:r>
            <a:r>
              <a:rPr lang="en-US" altLang="zh-CN" dirty="0"/>
              <a:t>Tyr</a:t>
            </a:r>
            <a:r>
              <a:rPr lang="zh-CN" altLang="en-US" dirty="0"/>
              <a:t>，有矛盾的说法，有的将之归入侧链极性氨基酸</a:t>
            </a:r>
            <a:r>
              <a:rPr lang="en-US" altLang="zh-CN" dirty="0"/>
              <a:t>, </a:t>
            </a:r>
            <a:r>
              <a:rPr lang="zh-CN" altLang="en-US" dirty="0"/>
              <a:t>有的则归入疏水性氨基酸， 疏水性较弱。</a:t>
            </a:r>
            <a:endParaRPr lang="en-US"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3">
            <a:extLst>
              <a:ext uri="{FF2B5EF4-FFF2-40B4-BE49-F238E27FC236}">
                <a16:creationId xmlns:a16="http://schemas.microsoft.com/office/drawing/2014/main" id="{6C064485-61EB-4B2F-A271-63E575FF5E3A}"/>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5351B87-1E91-46E1-AA87-6E2B24AA4848}"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68611" name="Rectangle 7">
            <a:extLst>
              <a:ext uri="{FF2B5EF4-FFF2-40B4-BE49-F238E27FC236}">
                <a16:creationId xmlns:a16="http://schemas.microsoft.com/office/drawing/2014/main" id="{AFA7097D-D56C-444E-B887-F8246C1FED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98003C21-9B68-4F55-81B8-F48B25D8C61C}" type="slidenum">
              <a:rPr lang="en-US" altLang="zh-CN" sz="1200" smtClean="0">
                <a:latin typeface="Tahoma" panose="020B0604030504040204" pitchFamily="34" charset="0"/>
              </a:rPr>
              <a:pPr/>
              <a:t>21</a:t>
            </a:fld>
            <a:endParaRPr lang="en-US" altLang="zh-CN" sz="1200">
              <a:latin typeface="Tahoma" panose="020B0604030504040204" pitchFamily="34" charset="0"/>
            </a:endParaRPr>
          </a:p>
        </p:txBody>
      </p:sp>
      <p:sp>
        <p:nvSpPr>
          <p:cNvPr id="68612" name="Rectangle 2">
            <a:extLst>
              <a:ext uri="{FF2B5EF4-FFF2-40B4-BE49-F238E27FC236}">
                <a16:creationId xmlns:a16="http://schemas.microsoft.com/office/drawing/2014/main" id="{E28DD8B9-0802-4AFD-9A0B-B1D47B347FE2}"/>
              </a:ext>
            </a:extLst>
          </p:cNvPr>
          <p:cNvSpPr>
            <a:spLocks noGrp="1" noRot="1" noChangeAspect="1" noChangeArrowheads="1" noTextEdit="1"/>
          </p:cNvSpPr>
          <p:nvPr>
            <p:ph type="sldImg"/>
          </p:nvPr>
        </p:nvSpPr>
        <p:spPr>
          <a:xfrm>
            <a:off x="381000" y="685800"/>
            <a:ext cx="6096000" cy="3429000"/>
          </a:xfrm>
          <a:ln/>
        </p:spPr>
      </p:sp>
      <p:sp>
        <p:nvSpPr>
          <p:cNvPr id="68613" name="Rectangle 3">
            <a:extLst>
              <a:ext uri="{FF2B5EF4-FFF2-40B4-BE49-F238E27FC236}">
                <a16:creationId xmlns:a16="http://schemas.microsoft.com/office/drawing/2014/main" id="{4AC48F8C-2A99-482D-90E5-7A729A2E4A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0" lang="zh-CN" altLang="en-US" dirty="0">
                <a:solidFill>
                  <a:srgbClr val="06070E"/>
                </a:solidFill>
              </a:rPr>
              <a:t>生理条件下侧链基团带负电荷</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3">
            <a:extLst>
              <a:ext uri="{FF2B5EF4-FFF2-40B4-BE49-F238E27FC236}">
                <a16:creationId xmlns:a16="http://schemas.microsoft.com/office/drawing/2014/main" id="{6D4A4170-A17A-4031-B5D1-23EF489D317B}"/>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76CA0E7A-594E-4443-BDBA-332581E23027}"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70659" name="Rectangle 7">
            <a:extLst>
              <a:ext uri="{FF2B5EF4-FFF2-40B4-BE49-F238E27FC236}">
                <a16:creationId xmlns:a16="http://schemas.microsoft.com/office/drawing/2014/main" id="{334B7516-8CA2-449A-A0F9-C31F8A55F5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544E25A2-5AC1-4CFE-B84F-ED6EAC097C10}" type="slidenum">
              <a:rPr lang="en-US" altLang="zh-CN" sz="1200" smtClean="0">
                <a:latin typeface="Tahoma" panose="020B0604030504040204" pitchFamily="34" charset="0"/>
              </a:rPr>
              <a:pPr/>
              <a:t>22</a:t>
            </a:fld>
            <a:endParaRPr lang="en-US" altLang="zh-CN" sz="1200">
              <a:latin typeface="Tahoma" panose="020B0604030504040204" pitchFamily="34" charset="0"/>
            </a:endParaRPr>
          </a:p>
        </p:txBody>
      </p:sp>
      <p:sp>
        <p:nvSpPr>
          <p:cNvPr id="70660" name="Rectangle 2">
            <a:extLst>
              <a:ext uri="{FF2B5EF4-FFF2-40B4-BE49-F238E27FC236}">
                <a16:creationId xmlns:a16="http://schemas.microsoft.com/office/drawing/2014/main" id="{E304FB14-2A5A-4707-8BAC-659BA59686AF}"/>
              </a:ext>
            </a:extLst>
          </p:cNvPr>
          <p:cNvSpPr>
            <a:spLocks noGrp="1" noRot="1" noChangeAspect="1" noChangeArrowheads="1" noTextEdit="1"/>
          </p:cNvSpPr>
          <p:nvPr>
            <p:ph type="sldImg"/>
          </p:nvPr>
        </p:nvSpPr>
        <p:spPr>
          <a:xfrm>
            <a:off x="381000" y="685800"/>
            <a:ext cx="6096000" cy="3429000"/>
          </a:xfrm>
          <a:ln/>
        </p:spPr>
      </p:sp>
      <p:sp>
        <p:nvSpPr>
          <p:cNvPr id="70661" name="Rectangle 3">
            <a:extLst>
              <a:ext uri="{FF2B5EF4-FFF2-40B4-BE49-F238E27FC236}">
                <a16:creationId xmlns:a16="http://schemas.microsoft.com/office/drawing/2014/main" id="{FCA11B36-4301-4C4B-BE7B-4A3D183DB56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His residues facilitate many enzyme-catalyzed reactions by serving as proton donors/acceptors.</a:t>
            </a:r>
          </a:p>
          <a:p>
            <a:pPr eaLnBrk="1" hangingPunct="1"/>
            <a:endParaRPr lang="en-US" altLang="zh-CN" dirty="0"/>
          </a:p>
          <a:p>
            <a:pPr eaLnBrk="1" hangingPunct="1"/>
            <a:r>
              <a:rPr lang="zh-CN" altLang="en-US" dirty="0"/>
              <a:t>生理条件下侧链基团带正电荷</a:t>
            </a:r>
            <a:endParaRPr lang="en-US"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a:extLst>
              <a:ext uri="{FF2B5EF4-FFF2-40B4-BE49-F238E27FC236}">
                <a16:creationId xmlns:a16="http://schemas.microsoft.com/office/drawing/2014/main" id="{817BFFF4-0DAA-45F2-852B-867E65AD5F6E}"/>
              </a:ext>
            </a:extLst>
          </p:cNvPr>
          <p:cNvSpPr>
            <a:spLocks noGrp="1" noRot="1" noChangeAspect="1" noChangeArrowheads="1" noTextEdit="1"/>
          </p:cNvSpPr>
          <p:nvPr>
            <p:ph type="sldImg"/>
          </p:nvPr>
        </p:nvSpPr>
        <p:spPr>
          <a:xfrm>
            <a:off x="381000" y="685800"/>
            <a:ext cx="6096000" cy="3429000"/>
          </a:xfrm>
          <a:ln/>
        </p:spPr>
      </p:sp>
      <p:sp>
        <p:nvSpPr>
          <p:cNvPr id="72707" name="备注占位符 2">
            <a:extLst>
              <a:ext uri="{FF2B5EF4-FFF2-40B4-BE49-F238E27FC236}">
                <a16:creationId xmlns:a16="http://schemas.microsoft.com/office/drawing/2014/main" id="{1F951B4E-6E54-4FEC-B9B9-9F837B4A5DE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For most other organic molecules, carbon atoms are simply numbered from one end, giving highest priority (C-1) to the carbon with the substituent containing the atom of highest atomic number. Within this latter convention, the carboxyl carbon of an amino acid would be C-1.</a:t>
            </a:r>
            <a:r>
              <a:rPr lang="zh-CN" altLang="en-US" dirty="0"/>
              <a:t> </a:t>
            </a:r>
          </a:p>
        </p:txBody>
      </p:sp>
      <p:sp>
        <p:nvSpPr>
          <p:cNvPr id="72708" name="日期占位符 3">
            <a:extLst>
              <a:ext uri="{FF2B5EF4-FFF2-40B4-BE49-F238E27FC236}">
                <a16:creationId xmlns:a16="http://schemas.microsoft.com/office/drawing/2014/main" id="{ED6262A0-F016-499A-BB0D-A55B20D42030}"/>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93E4976-5308-4B77-A12A-BB174C88E340}"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72709" name="灯片编号占位符 4">
            <a:extLst>
              <a:ext uri="{FF2B5EF4-FFF2-40B4-BE49-F238E27FC236}">
                <a16:creationId xmlns:a16="http://schemas.microsoft.com/office/drawing/2014/main" id="{52C2EADC-E5A2-41AD-8B75-8752E621B76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1F50A263-C7EA-4306-A581-5D2AC387D4E4}" type="slidenum">
              <a:rPr lang="en-US" altLang="zh-CN" sz="1200" smtClean="0">
                <a:latin typeface="Tahoma" panose="020B0604030504040204" pitchFamily="34" charset="0"/>
              </a:rPr>
              <a:pPr/>
              <a:t>23</a:t>
            </a:fld>
            <a:endParaRPr lang="en-US" altLang="zh-CN" sz="1200">
              <a:latin typeface="Tahoma" panose="020B060403050404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a:extLst>
              <a:ext uri="{FF2B5EF4-FFF2-40B4-BE49-F238E27FC236}">
                <a16:creationId xmlns:a16="http://schemas.microsoft.com/office/drawing/2014/main" id="{5D933BE2-E4E1-4FC0-9907-2925551B93DE}"/>
              </a:ext>
            </a:extLst>
          </p:cNvPr>
          <p:cNvSpPr>
            <a:spLocks noGrp="1" noRot="1" noChangeAspect="1" noChangeArrowheads="1" noTextEdit="1"/>
          </p:cNvSpPr>
          <p:nvPr>
            <p:ph type="sldImg"/>
          </p:nvPr>
        </p:nvSpPr>
        <p:spPr>
          <a:xfrm>
            <a:off x="381000" y="685800"/>
            <a:ext cx="6096000" cy="3429000"/>
          </a:xfrm>
          <a:ln/>
        </p:spPr>
      </p:sp>
      <p:sp>
        <p:nvSpPr>
          <p:cNvPr id="74755" name="备注占位符 2">
            <a:extLst>
              <a:ext uri="{FF2B5EF4-FFF2-40B4-BE49-F238E27FC236}">
                <a16:creationId xmlns:a16="http://schemas.microsoft.com/office/drawing/2014/main" id="{CE45F6E4-05E1-43B0-B3CF-2A82DBE5E9D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源自 </a:t>
            </a:r>
            <a:r>
              <a:rPr lang="en-US" altLang="zh-CN" dirty="0" err="1"/>
              <a:t>lehninger’s</a:t>
            </a:r>
            <a:r>
              <a:rPr lang="en-US" altLang="zh-CN" dirty="0"/>
              <a:t> principles of biochemistry 6</a:t>
            </a:r>
            <a:r>
              <a:rPr lang="en-US" altLang="zh-CN" baseline="30000" dirty="0"/>
              <a:t>th</a:t>
            </a:r>
            <a:r>
              <a:rPr lang="zh-CN" altLang="en-US" dirty="0"/>
              <a:t> </a:t>
            </a:r>
            <a:r>
              <a:rPr lang="en-US" altLang="zh-CN" dirty="0"/>
              <a:t>edition</a:t>
            </a:r>
          </a:p>
          <a:p>
            <a:r>
              <a:rPr lang="en-US" altLang="zh-CN" dirty="0"/>
              <a:t>Properties and Conventions Associated with the Common Amino Acids Found in Proteins</a:t>
            </a:r>
          </a:p>
          <a:p>
            <a:r>
              <a:rPr lang="en-US" altLang="zh-CN" dirty="0"/>
              <a:t>† A scale combining hydrophobicity and hydrophilicity of R groups. The values reflect the free energy (</a:t>
            </a:r>
            <a:r>
              <a:rPr lang="el-GR" altLang="zh-CN" dirty="0"/>
              <a:t>Δ</a:t>
            </a:r>
            <a:r>
              <a:rPr lang="en-US" altLang="zh-CN" dirty="0"/>
              <a:t>G ) of transfer of the amino acid side chain from a hydrophobic solvent to water. This transfer is favorable (</a:t>
            </a:r>
            <a:r>
              <a:rPr lang="el-GR" altLang="zh-CN" dirty="0"/>
              <a:t>Δ</a:t>
            </a:r>
            <a:r>
              <a:rPr lang="en-US" altLang="zh-CN" dirty="0"/>
              <a:t>G&lt;0; negative value in the index) for charged or polar amino acid side chains, and unfavorable (</a:t>
            </a:r>
            <a:r>
              <a:rPr lang="el-GR" altLang="zh-CN" dirty="0"/>
              <a:t>Δ</a:t>
            </a:r>
            <a:r>
              <a:rPr lang="en-US" altLang="zh-CN" dirty="0"/>
              <a:t>G&gt;0; positive value in the index) for amino acids with nonpolar or more hydrophobic side chains.</a:t>
            </a:r>
          </a:p>
          <a:p>
            <a:r>
              <a:rPr lang="en-US" altLang="zh-CN" b="0" dirty="0"/>
              <a:t>‡Average occurrence in more than 1,150 proteins. </a:t>
            </a:r>
            <a:r>
              <a:rPr lang="en-US" altLang="zh-CN" dirty="0"/>
              <a:t>From Doolittle, R.F. (1989) Redundancies in protein sequences. In Prediction of Protein Structure and the Principles of Protein Conformation(</a:t>
            </a:r>
            <a:r>
              <a:rPr lang="en-US" altLang="zh-CN" dirty="0" err="1"/>
              <a:t>Fasman</a:t>
            </a:r>
            <a:r>
              <a:rPr lang="en-US" altLang="zh-CN" dirty="0"/>
              <a:t>, G.D., ed.), pp. 599–623, Plenum Press, New York.</a:t>
            </a:r>
          </a:p>
          <a:p>
            <a:r>
              <a:rPr lang="en-US" altLang="zh-CN" dirty="0"/>
              <a:t>¶</a:t>
            </a:r>
            <a:r>
              <a:rPr lang="en-US" altLang="zh-CN" b="1" dirty="0"/>
              <a:t>Cysteine is generally classified as polar despite having a positive hydropathy index</a:t>
            </a:r>
            <a:r>
              <a:rPr lang="zh-CN" altLang="en-US" b="1" dirty="0"/>
              <a:t>亲水性指数</a:t>
            </a:r>
            <a:r>
              <a:rPr lang="en-US" altLang="zh-CN" dirty="0"/>
              <a:t>. This reflects the ability of the sulfhydryl group to act as a weak acid and to form a weak hydrogen bond with oxygen or nitrogen.</a:t>
            </a:r>
            <a:endParaRPr lang="zh-CN" altLang="en-US" dirty="0"/>
          </a:p>
        </p:txBody>
      </p:sp>
      <p:sp>
        <p:nvSpPr>
          <p:cNvPr id="74756" name="日期占位符 3">
            <a:extLst>
              <a:ext uri="{FF2B5EF4-FFF2-40B4-BE49-F238E27FC236}">
                <a16:creationId xmlns:a16="http://schemas.microsoft.com/office/drawing/2014/main" id="{E90B1E9F-1269-4E3E-8C36-8695FEEEFB05}"/>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2EA363F3-508B-4628-9865-B70E69F58B03}"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74757" name="灯片编号占位符 4">
            <a:extLst>
              <a:ext uri="{FF2B5EF4-FFF2-40B4-BE49-F238E27FC236}">
                <a16:creationId xmlns:a16="http://schemas.microsoft.com/office/drawing/2014/main" id="{B21BA361-3DA6-40D0-B31E-138010EEB11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5EB9839A-8C43-4680-93AA-5A7F3DC90FE0}" type="slidenum">
              <a:rPr lang="en-US" altLang="zh-CN" sz="1200" smtClean="0">
                <a:latin typeface="Tahoma" panose="020B0604030504040204" pitchFamily="34" charset="0"/>
              </a:rPr>
              <a:pPr/>
              <a:t>24</a:t>
            </a:fld>
            <a:endParaRPr lang="en-US" altLang="zh-CN" sz="1200">
              <a:latin typeface="Tahoma" panose="020B060403050404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a:extLst>
              <a:ext uri="{FF2B5EF4-FFF2-40B4-BE49-F238E27FC236}">
                <a16:creationId xmlns:a16="http://schemas.microsoft.com/office/drawing/2014/main" id="{C84F9A29-3454-4C8F-A4E5-CC596106EEA1}"/>
              </a:ext>
            </a:extLst>
          </p:cNvPr>
          <p:cNvSpPr>
            <a:spLocks noGrp="1" noRot="1" noChangeAspect="1" noChangeArrowheads="1" noTextEdit="1"/>
          </p:cNvSpPr>
          <p:nvPr>
            <p:ph type="sldImg"/>
          </p:nvPr>
        </p:nvSpPr>
        <p:spPr>
          <a:xfrm>
            <a:off x="381000" y="685800"/>
            <a:ext cx="6096000" cy="3429000"/>
          </a:xfrm>
          <a:ln/>
        </p:spPr>
      </p:sp>
      <p:sp>
        <p:nvSpPr>
          <p:cNvPr id="76803" name="备注占位符 2">
            <a:extLst>
              <a:ext uri="{FF2B5EF4-FFF2-40B4-BE49-F238E27FC236}">
                <a16:creationId xmlns:a16="http://schemas.microsoft.com/office/drawing/2014/main" id="{CE1018B1-6FD9-4495-980F-C1E2C0DC9CF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76804" name="日期占位符 3">
            <a:extLst>
              <a:ext uri="{FF2B5EF4-FFF2-40B4-BE49-F238E27FC236}">
                <a16:creationId xmlns:a16="http://schemas.microsoft.com/office/drawing/2014/main" id="{5CE8596C-2774-4F41-BA0C-C8FE2299C496}"/>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DB4A52A5-8EFB-4987-9C68-2E7FF9E03243}"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76805" name="灯片编号占位符 4">
            <a:extLst>
              <a:ext uri="{FF2B5EF4-FFF2-40B4-BE49-F238E27FC236}">
                <a16:creationId xmlns:a16="http://schemas.microsoft.com/office/drawing/2014/main" id="{4F97923B-06DB-4611-9E0B-8CFDE08BE9E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BA461B4-B182-4362-943D-66B550B55464}" type="slidenum">
              <a:rPr lang="en-US" altLang="zh-CN" sz="1200" smtClean="0">
                <a:latin typeface="Tahoma" panose="020B0604030504040204" pitchFamily="34" charset="0"/>
              </a:rPr>
              <a:pPr/>
              <a:t>25</a:t>
            </a:fld>
            <a:endParaRPr lang="en-US" altLang="zh-CN" sz="1200">
              <a:latin typeface="Tahoma" panose="020B060403050404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a:extLst>
              <a:ext uri="{FF2B5EF4-FFF2-40B4-BE49-F238E27FC236}">
                <a16:creationId xmlns:a16="http://schemas.microsoft.com/office/drawing/2014/main" id="{9E212828-A588-496D-B94D-8DCC75CBB76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B0C6EFC8-F669-46D8-9DBD-B779DBE05D5A}"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78851" name="Rectangle 7">
            <a:extLst>
              <a:ext uri="{FF2B5EF4-FFF2-40B4-BE49-F238E27FC236}">
                <a16:creationId xmlns:a16="http://schemas.microsoft.com/office/drawing/2014/main" id="{64DCAD73-2B1F-4807-94AF-4502D7E4DD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9CD3AB3-3DAD-46BD-A934-556D2E85C4F9}" type="slidenum">
              <a:rPr lang="en-US" altLang="zh-CN" sz="1200" smtClean="0">
                <a:latin typeface="Tahoma" panose="020B0604030504040204" pitchFamily="34" charset="0"/>
              </a:rPr>
              <a:pPr/>
              <a:t>26</a:t>
            </a:fld>
            <a:endParaRPr lang="en-US" altLang="zh-CN" sz="1200">
              <a:latin typeface="Tahoma" panose="020B0604030504040204" pitchFamily="34" charset="0"/>
            </a:endParaRPr>
          </a:p>
        </p:txBody>
      </p:sp>
      <p:sp>
        <p:nvSpPr>
          <p:cNvPr id="78852" name="Rectangle 2">
            <a:extLst>
              <a:ext uri="{FF2B5EF4-FFF2-40B4-BE49-F238E27FC236}">
                <a16:creationId xmlns:a16="http://schemas.microsoft.com/office/drawing/2014/main" id="{B91B2314-FAFF-4010-8337-DE112B0AEE6E}"/>
              </a:ext>
            </a:extLst>
          </p:cNvPr>
          <p:cNvSpPr>
            <a:spLocks noGrp="1" noRot="1" noChangeAspect="1" noChangeArrowheads="1" noTextEdit="1"/>
          </p:cNvSpPr>
          <p:nvPr>
            <p:ph type="sldImg"/>
          </p:nvPr>
        </p:nvSpPr>
        <p:spPr>
          <a:xfrm>
            <a:off x="381000" y="685800"/>
            <a:ext cx="6096000" cy="3429000"/>
          </a:xfrm>
          <a:ln/>
        </p:spPr>
      </p:sp>
      <p:sp>
        <p:nvSpPr>
          <p:cNvPr id="78853" name="Rectangle 3">
            <a:extLst>
              <a:ext uri="{FF2B5EF4-FFF2-40B4-BE49-F238E27FC236}">
                <a16:creationId xmlns:a16="http://schemas.microsoft.com/office/drawing/2014/main" id="{FC1F3CD5-E849-44A6-9EFC-D5B6A37582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 </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a:extLst>
              <a:ext uri="{FF2B5EF4-FFF2-40B4-BE49-F238E27FC236}">
                <a16:creationId xmlns:a16="http://schemas.microsoft.com/office/drawing/2014/main" id="{BFB52B28-4C75-42B8-8B00-7B67D1C782B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B15B1FB0-ECEE-4133-BCD2-DC0DFC179C38}"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80899" name="Rectangle 7">
            <a:extLst>
              <a:ext uri="{FF2B5EF4-FFF2-40B4-BE49-F238E27FC236}">
                <a16:creationId xmlns:a16="http://schemas.microsoft.com/office/drawing/2014/main" id="{7AAEC8AC-7F70-4538-ABA9-36C1541843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3C706653-6598-4A79-8FC2-3E981C230CE0}" type="slidenum">
              <a:rPr lang="en-US" altLang="zh-CN" sz="1200" smtClean="0">
                <a:latin typeface="Tahoma" panose="020B0604030504040204" pitchFamily="34" charset="0"/>
              </a:rPr>
              <a:pPr/>
              <a:t>27</a:t>
            </a:fld>
            <a:endParaRPr lang="en-US" altLang="zh-CN" sz="1200">
              <a:latin typeface="Tahoma" panose="020B0604030504040204" pitchFamily="34" charset="0"/>
            </a:endParaRPr>
          </a:p>
        </p:txBody>
      </p:sp>
      <p:sp>
        <p:nvSpPr>
          <p:cNvPr id="80900" name="Rectangle 2">
            <a:extLst>
              <a:ext uri="{FF2B5EF4-FFF2-40B4-BE49-F238E27FC236}">
                <a16:creationId xmlns:a16="http://schemas.microsoft.com/office/drawing/2014/main" id="{EEBC8B35-6097-4AD1-BF58-8E840B772CC7}"/>
              </a:ext>
            </a:extLst>
          </p:cNvPr>
          <p:cNvSpPr>
            <a:spLocks noGrp="1" noRot="1" noChangeAspect="1" noChangeArrowheads="1" noTextEdit="1"/>
          </p:cNvSpPr>
          <p:nvPr>
            <p:ph type="sldImg"/>
          </p:nvPr>
        </p:nvSpPr>
        <p:spPr>
          <a:xfrm>
            <a:off x="381000" y="685800"/>
            <a:ext cx="6096000" cy="3429000"/>
          </a:xfrm>
          <a:ln/>
        </p:spPr>
      </p:sp>
      <p:sp>
        <p:nvSpPr>
          <p:cNvPr id="80901" name="Rectangle 3">
            <a:extLst>
              <a:ext uri="{FF2B5EF4-FFF2-40B4-BE49-F238E27FC236}">
                <a16:creationId xmlns:a16="http://schemas.microsoft.com/office/drawing/2014/main" id="{91C22790-5FFE-46CE-BB2F-5F83626392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800" dirty="0">
                <a:latin typeface="Tahoma" panose="020B0604030504040204" pitchFamily="34" charset="0"/>
              </a:rPr>
              <a:t>杂环亚</a:t>
            </a:r>
            <a:r>
              <a:rPr lang="en-US" altLang="zh-CN" sz="1800" dirty="0">
                <a:latin typeface="Tahoma" panose="020B0604030504040204" pitchFamily="34" charset="0"/>
              </a:rPr>
              <a:t>aa</a:t>
            </a:r>
          </a:p>
          <a:p>
            <a:pPr eaLnBrk="1" hangingPunct="1"/>
            <a:endParaRPr lang="en-US"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a:extLst>
              <a:ext uri="{FF2B5EF4-FFF2-40B4-BE49-F238E27FC236}">
                <a16:creationId xmlns:a16="http://schemas.microsoft.com/office/drawing/2014/main" id="{D457E52E-1255-4A0B-AAA3-44FC8953CE4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E8BF7970-A2A1-497A-86CD-51377804BB2E}"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82947" name="Rectangle 7">
            <a:extLst>
              <a:ext uri="{FF2B5EF4-FFF2-40B4-BE49-F238E27FC236}">
                <a16:creationId xmlns:a16="http://schemas.microsoft.com/office/drawing/2014/main" id="{4657F6CC-E267-4F1A-B7B9-FA58A2A24F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B0E9370D-0F4F-49B9-98D3-AF98A7FB569F}" type="slidenum">
              <a:rPr lang="en-US" altLang="zh-CN" sz="1200" smtClean="0">
                <a:latin typeface="Tahoma" panose="020B0604030504040204" pitchFamily="34" charset="0"/>
              </a:rPr>
              <a:pPr/>
              <a:t>28</a:t>
            </a:fld>
            <a:endParaRPr lang="en-US" altLang="zh-CN" sz="1200">
              <a:latin typeface="Tahoma" panose="020B0604030504040204" pitchFamily="34" charset="0"/>
            </a:endParaRPr>
          </a:p>
        </p:txBody>
      </p:sp>
      <p:sp>
        <p:nvSpPr>
          <p:cNvPr id="82948" name="Rectangle 2">
            <a:extLst>
              <a:ext uri="{FF2B5EF4-FFF2-40B4-BE49-F238E27FC236}">
                <a16:creationId xmlns:a16="http://schemas.microsoft.com/office/drawing/2014/main" id="{CFB144A9-8D28-4895-8953-46FD5CE1AF6D}"/>
              </a:ext>
            </a:extLst>
          </p:cNvPr>
          <p:cNvSpPr>
            <a:spLocks noGrp="1" noRot="1" noChangeAspect="1" noChangeArrowheads="1" noTextEdit="1"/>
          </p:cNvSpPr>
          <p:nvPr>
            <p:ph type="sldImg"/>
          </p:nvPr>
        </p:nvSpPr>
        <p:spPr>
          <a:xfrm>
            <a:off x="381000" y="685800"/>
            <a:ext cx="6096000" cy="3429000"/>
          </a:xfrm>
          <a:ln/>
        </p:spPr>
      </p:sp>
      <p:sp>
        <p:nvSpPr>
          <p:cNvPr id="82949" name="Rectangle 3">
            <a:extLst>
              <a:ext uri="{FF2B5EF4-FFF2-40B4-BE49-F238E27FC236}">
                <a16:creationId xmlns:a16="http://schemas.microsoft.com/office/drawing/2014/main" id="{1693331D-43E5-4FD6-8FC5-BFA6ABBADD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楷体_GB2312" pitchFamily="49" charset="-122"/>
                <a:ea typeface="楷体_GB2312" pitchFamily="49" charset="-122"/>
              </a:rPr>
              <a:t>严格来说，已发现</a:t>
            </a:r>
            <a:r>
              <a:rPr lang="en-US" altLang="zh-CN" dirty="0">
                <a:latin typeface="楷体_GB2312" pitchFamily="49" charset="-122"/>
                <a:ea typeface="楷体_GB2312" pitchFamily="49" charset="-122"/>
              </a:rPr>
              <a:t>22</a:t>
            </a:r>
            <a:r>
              <a:rPr lang="zh-CN" altLang="en-US" dirty="0">
                <a:latin typeface="楷体_GB2312" pitchFamily="49" charset="-122"/>
                <a:ea typeface="楷体_GB2312" pitchFamily="49" charset="-122"/>
              </a:rPr>
              <a:t>种编码氨基酸（但另两种仅见于极少数蛋白，没有普遍性）。</a:t>
            </a:r>
            <a:endParaRPr lang="en-US" altLang="zh-CN" dirty="0">
              <a:latin typeface="楷体_GB2312" pitchFamily="49" charset="-122"/>
              <a:ea typeface="楷体_GB2312" pitchFamily="49" charset="-122"/>
            </a:endParaRPr>
          </a:p>
          <a:p>
            <a:pPr eaLnBrk="1" hangingPunct="1"/>
            <a:endParaRPr lang="en-US" altLang="zh-CN" dirty="0">
              <a:latin typeface="楷体_GB2312" pitchFamily="49" charset="-122"/>
              <a:ea typeface="楷体_GB2312" pitchFamily="49" charset="-122"/>
            </a:endParaRPr>
          </a:p>
          <a:p>
            <a:pPr eaLnBrk="1" hangingPunct="1"/>
            <a:r>
              <a:rPr lang="zh-CN" altLang="en-US" dirty="0"/>
              <a:t>鸟氨酸 </a:t>
            </a:r>
            <a:r>
              <a:rPr lang="en-US" altLang="zh-CN" dirty="0"/>
              <a:t>ornithine H</a:t>
            </a:r>
            <a:r>
              <a:rPr lang="en-US" altLang="zh-CN" baseline="-25000" dirty="0"/>
              <a:t>2</a:t>
            </a:r>
            <a:r>
              <a:rPr lang="en-US" altLang="zh-CN" dirty="0"/>
              <a:t>NCH</a:t>
            </a:r>
            <a:r>
              <a:rPr lang="en-US" altLang="zh-CN" baseline="-25000" dirty="0"/>
              <a:t>2</a:t>
            </a:r>
            <a:r>
              <a:rPr lang="en-US" altLang="zh-CN" dirty="0"/>
              <a:t>CH</a:t>
            </a:r>
            <a:r>
              <a:rPr lang="en-US" altLang="zh-CN" baseline="-25000" dirty="0"/>
              <a:t>2</a:t>
            </a:r>
            <a:r>
              <a:rPr lang="en-US" altLang="zh-CN" dirty="0"/>
              <a:t>CH</a:t>
            </a:r>
            <a:r>
              <a:rPr lang="en-US" altLang="zh-CN" baseline="-25000" dirty="0"/>
              <a:t>2</a:t>
            </a:r>
            <a:r>
              <a:rPr lang="en-US" altLang="zh-CN" dirty="0"/>
              <a:t>CH</a:t>
            </a:r>
            <a:r>
              <a:rPr lang="zh-CN" altLang="en-US" dirty="0"/>
              <a:t>（</a:t>
            </a:r>
            <a:r>
              <a:rPr lang="en-US" altLang="zh-CN" dirty="0"/>
              <a:t>NH</a:t>
            </a:r>
            <a:r>
              <a:rPr lang="en-US" altLang="zh-CN" baseline="-25000" dirty="0"/>
              <a:t>2</a:t>
            </a:r>
            <a:r>
              <a:rPr lang="zh-CN" altLang="en-US" dirty="0"/>
              <a:t>）</a:t>
            </a:r>
            <a:r>
              <a:rPr lang="en-US" altLang="zh-CN" dirty="0"/>
              <a:t>COOH</a:t>
            </a:r>
            <a:r>
              <a:rPr lang="zh-CN" altLang="en-US" dirty="0"/>
              <a:t>，是一种碱性氨基酸。仅存在于短杆菌酪肽、短杆菌肽</a:t>
            </a:r>
            <a:r>
              <a:rPr lang="en-US" altLang="zh-CN" dirty="0"/>
              <a:t>S</a:t>
            </a:r>
            <a:r>
              <a:rPr lang="zh-CN" altLang="en-US" dirty="0"/>
              <a:t>等抗菌性肽中。</a:t>
            </a:r>
            <a:endParaRPr lang="en-US" altLang="zh-CN" dirty="0">
              <a:latin typeface="楷体_GB2312" pitchFamily="49" charset="-122"/>
              <a:ea typeface="楷体_GB2312" pitchFamily="49"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a:extLst>
              <a:ext uri="{FF2B5EF4-FFF2-40B4-BE49-F238E27FC236}">
                <a16:creationId xmlns:a16="http://schemas.microsoft.com/office/drawing/2014/main" id="{6E73E932-B39E-40DD-B49A-0D26E50FDA4C}"/>
              </a:ext>
            </a:extLst>
          </p:cNvPr>
          <p:cNvSpPr>
            <a:spLocks noGrp="1" noRot="1" noChangeAspect="1" noChangeArrowheads="1" noTextEdit="1"/>
          </p:cNvSpPr>
          <p:nvPr>
            <p:ph type="sldImg"/>
          </p:nvPr>
        </p:nvSpPr>
        <p:spPr>
          <a:xfrm>
            <a:off x="381000" y="685800"/>
            <a:ext cx="6096000" cy="3429000"/>
          </a:xfrm>
          <a:ln/>
        </p:spPr>
      </p:sp>
      <p:sp>
        <p:nvSpPr>
          <p:cNvPr id="84995" name="备注占位符 2">
            <a:extLst>
              <a:ext uri="{FF2B5EF4-FFF2-40B4-BE49-F238E27FC236}">
                <a16:creationId xmlns:a16="http://schemas.microsoft.com/office/drawing/2014/main" id="{EADC17E4-E188-4D9E-9471-67CE1080295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84996" name="日期占位符 3">
            <a:extLst>
              <a:ext uri="{FF2B5EF4-FFF2-40B4-BE49-F238E27FC236}">
                <a16:creationId xmlns:a16="http://schemas.microsoft.com/office/drawing/2014/main" id="{1144B66F-1A55-4FA0-8583-DD6115C7F655}"/>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70D88637-C6A8-4EF1-9712-7EEB79DA9A21}"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84997" name="灯片编号占位符 4">
            <a:extLst>
              <a:ext uri="{FF2B5EF4-FFF2-40B4-BE49-F238E27FC236}">
                <a16:creationId xmlns:a16="http://schemas.microsoft.com/office/drawing/2014/main" id="{FF4328CF-48EC-47F2-95B3-EEAD10E83D7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F1D949B7-9F5B-42C2-ADB2-5E84E984BEA4}" type="slidenum">
              <a:rPr lang="en-US" altLang="zh-CN" sz="1200" smtClean="0">
                <a:latin typeface="Tahoma" panose="020B0604030504040204" pitchFamily="34" charset="0"/>
              </a:rPr>
              <a:pPr/>
              <a:t>29</a:t>
            </a:fld>
            <a:endParaRPr lang="en-US" altLang="zh-CN" sz="1200">
              <a:latin typeface="Tahoma" panose="020B060403050404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a:extLst>
              <a:ext uri="{FF2B5EF4-FFF2-40B4-BE49-F238E27FC236}">
                <a16:creationId xmlns:a16="http://schemas.microsoft.com/office/drawing/2014/main" id="{D4F4241B-B2D9-439F-B97E-4932A3463E95}"/>
              </a:ext>
            </a:extLst>
          </p:cNvPr>
          <p:cNvSpPr>
            <a:spLocks noGrp="1" noRot="1" noChangeAspect="1" noChangeArrowheads="1" noTextEdit="1"/>
          </p:cNvSpPr>
          <p:nvPr>
            <p:ph type="sldImg"/>
          </p:nvPr>
        </p:nvSpPr>
        <p:spPr>
          <a:xfrm>
            <a:off x="381000" y="685800"/>
            <a:ext cx="6096000" cy="3429000"/>
          </a:xfrm>
          <a:ln/>
        </p:spPr>
      </p:sp>
      <p:sp>
        <p:nvSpPr>
          <p:cNvPr id="87043" name="备注占位符 2">
            <a:extLst>
              <a:ext uri="{FF2B5EF4-FFF2-40B4-BE49-F238E27FC236}">
                <a16:creationId xmlns:a16="http://schemas.microsoft.com/office/drawing/2014/main" id="{237ABBC0-CE72-4332-9142-7734124416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其它氨基酸分类 </a:t>
            </a:r>
          </a:p>
        </p:txBody>
      </p:sp>
      <p:sp>
        <p:nvSpPr>
          <p:cNvPr id="87044" name="日期占位符 3">
            <a:extLst>
              <a:ext uri="{FF2B5EF4-FFF2-40B4-BE49-F238E27FC236}">
                <a16:creationId xmlns:a16="http://schemas.microsoft.com/office/drawing/2014/main" id="{0EA74F3C-734F-4EFB-BB03-FEB22CD12904}"/>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FF7F39FE-22D5-46BE-917E-056560C7F611}"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87045" name="灯片编号占位符 4">
            <a:extLst>
              <a:ext uri="{FF2B5EF4-FFF2-40B4-BE49-F238E27FC236}">
                <a16:creationId xmlns:a16="http://schemas.microsoft.com/office/drawing/2014/main" id="{B6BFD79C-7801-412E-96BB-5ECB10512A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BABF9A26-9959-480A-B3D3-EFDD8A2BE5C3}" type="slidenum">
              <a:rPr lang="en-US" altLang="zh-CN" sz="1200" smtClean="0">
                <a:latin typeface="Tahoma" panose="020B0604030504040204" pitchFamily="34" charset="0"/>
              </a:rPr>
              <a:pPr/>
              <a:t>30</a:t>
            </a:fld>
            <a:endParaRPr lang="en-US" altLang="zh-CN" sz="1200">
              <a:latin typeface="Tahoma" panose="020B060403050404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a:extLst>
              <a:ext uri="{FF2B5EF4-FFF2-40B4-BE49-F238E27FC236}">
                <a16:creationId xmlns:a16="http://schemas.microsoft.com/office/drawing/2014/main" id="{2CC8204D-643A-4E42-AA86-7C8DFCE1054B}"/>
              </a:ext>
            </a:extLst>
          </p:cNvPr>
          <p:cNvSpPr>
            <a:spLocks noGrp="1" noRot="1" noChangeAspect="1" noChangeArrowheads="1" noTextEdit="1"/>
          </p:cNvSpPr>
          <p:nvPr>
            <p:ph type="sldImg"/>
          </p:nvPr>
        </p:nvSpPr>
        <p:spPr>
          <a:xfrm>
            <a:off x="381000" y="685800"/>
            <a:ext cx="6096000" cy="3429000"/>
          </a:xfrm>
          <a:ln/>
        </p:spPr>
      </p:sp>
      <p:sp>
        <p:nvSpPr>
          <p:cNvPr id="91139" name="备注占位符 2">
            <a:extLst>
              <a:ext uri="{FF2B5EF4-FFF2-40B4-BE49-F238E27FC236}">
                <a16:creationId xmlns:a16="http://schemas.microsoft.com/office/drawing/2014/main" id="{C622E122-A1BD-4E13-ACE8-B134AD6D567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91140" name="日期占位符 3">
            <a:extLst>
              <a:ext uri="{FF2B5EF4-FFF2-40B4-BE49-F238E27FC236}">
                <a16:creationId xmlns:a16="http://schemas.microsoft.com/office/drawing/2014/main" id="{EE18D41F-F192-4150-B65E-6E27A0AFF86A}"/>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51D93087-4B42-4B07-A6BC-C61A36EDC2B7}"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91141" name="灯片编号占位符 4">
            <a:extLst>
              <a:ext uri="{FF2B5EF4-FFF2-40B4-BE49-F238E27FC236}">
                <a16:creationId xmlns:a16="http://schemas.microsoft.com/office/drawing/2014/main" id="{61C0B33F-C50A-4AEC-BC01-DCC68EBE6C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F9E9287E-66F9-4E05-822A-ED882E302C6D}" type="slidenum">
              <a:rPr lang="en-US" altLang="zh-CN" sz="1200" smtClean="0">
                <a:latin typeface="Tahoma" panose="020B0604030504040204" pitchFamily="34" charset="0"/>
              </a:rPr>
              <a:pPr/>
              <a:t>31</a:t>
            </a:fld>
            <a:endParaRPr lang="en-US" altLang="zh-CN" sz="1200">
              <a:latin typeface="Tahoma" panose="020B060403050404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a:extLst>
              <a:ext uri="{FF2B5EF4-FFF2-40B4-BE49-F238E27FC236}">
                <a16:creationId xmlns:a16="http://schemas.microsoft.com/office/drawing/2014/main" id="{63E4AE23-AA48-4D86-99F6-D721DE12BB85}"/>
              </a:ext>
            </a:extLst>
          </p:cNvPr>
          <p:cNvSpPr>
            <a:spLocks noGrp="1" noRot="1" noChangeAspect="1" noChangeArrowheads="1" noTextEdit="1"/>
          </p:cNvSpPr>
          <p:nvPr>
            <p:ph type="sldImg"/>
          </p:nvPr>
        </p:nvSpPr>
        <p:spPr>
          <a:xfrm>
            <a:off x="381000" y="685800"/>
            <a:ext cx="6096000" cy="3429000"/>
          </a:xfrm>
          <a:ln/>
        </p:spPr>
      </p:sp>
      <p:sp>
        <p:nvSpPr>
          <p:cNvPr id="93187" name="备注占位符 2">
            <a:extLst>
              <a:ext uri="{FF2B5EF4-FFF2-40B4-BE49-F238E27FC236}">
                <a16:creationId xmlns:a16="http://schemas.microsoft.com/office/drawing/2014/main" id="{0F1A8AA5-DA69-43A5-98DF-CDE13F1AC4E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93188" name="日期占位符 3">
            <a:extLst>
              <a:ext uri="{FF2B5EF4-FFF2-40B4-BE49-F238E27FC236}">
                <a16:creationId xmlns:a16="http://schemas.microsoft.com/office/drawing/2014/main" id="{354C8CCF-E8AB-4428-81D1-92E858580788}"/>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94C5F70-7CA0-484B-AB7A-B5FF2509328C}"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93189" name="灯片编号占位符 4">
            <a:extLst>
              <a:ext uri="{FF2B5EF4-FFF2-40B4-BE49-F238E27FC236}">
                <a16:creationId xmlns:a16="http://schemas.microsoft.com/office/drawing/2014/main" id="{D2D16CAB-B2F1-43E2-AA62-AEA39F63F11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3170500-3FF3-4827-B0BB-8A6F4E64CA24}" type="slidenum">
              <a:rPr lang="en-US" altLang="zh-CN" sz="1200" smtClean="0">
                <a:latin typeface="Tahoma" panose="020B0604030504040204" pitchFamily="34" charset="0"/>
              </a:rPr>
              <a:pPr/>
              <a:t>32</a:t>
            </a:fld>
            <a:endParaRPr lang="en-US" altLang="zh-CN" sz="1200">
              <a:latin typeface="Tahoma" panose="020B060403050404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a:extLst>
              <a:ext uri="{FF2B5EF4-FFF2-40B4-BE49-F238E27FC236}">
                <a16:creationId xmlns:a16="http://schemas.microsoft.com/office/drawing/2014/main" id="{E76AA4A4-B489-4D83-93E3-31A10F4E680B}"/>
              </a:ext>
            </a:extLst>
          </p:cNvPr>
          <p:cNvSpPr>
            <a:spLocks noGrp="1" noRot="1" noChangeAspect="1" noChangeArrowheads="1" noTextEdit="1"/>
          </p:cNvSpPr>
          <p:nvPr>
            <p:ph type="sldImg"/>
          </p:nvPr>
        </p:nvSpPr>
        <p:spPr>
          <a:xfrm>
            <a:off x="381000" y="685800"/>
            <a:ext cx="6096000" cy="3429000"/>
          </a:xfrm>
          <a:ln/>
        </p:spPr>
      </p:sp>
      <p:sp>
        <p:nvSpPr>
          <p:cNvPr id="95235" name="备注占位符 2">
            <a:extLst>
              <a:ext uri="{FF2B5EF4-FFF2-40B4-BE49-F238E27FC236}">
                <a16:creationId xmlns:a16="http://schemas.microsoft.com/office/drawing/2014/main" id="{F0A0A92F-BA34-49BF-B899-CF78E899DBA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生理条件下带负电荷</a:t>
            </a:r>
            <a:endParaRPr lang="en-US" altLang="zh-CN" dirty="0"/>
          </a:p>
          <a:p>
            <a:r>
              <a:rPr lang="en-US" altLang="zh-CN" dirty="0"/>
              <a:t>Selenocysteine   </a:t>
            </a:r>
            <a:r>
              <a:rPr lang="zh-CN" altLang="en-US" dirty="0"/>
              <a:t>由</a:t>
            </a:r>
            <a:r>
              <a:rPr lang="en-US" altLang="zh-CN" b="1" dirty="0"/>
              <a:t>UGA</a:t>
            </a:r>
            <a:r>
              <a:rPr lang="zh-CN" altLang="en-US" dirty="0"/>
              <a:t>（即乳白密码子）编码，</a:t>
            </a:r>
            <a:r>
              <a:rPr lang="en-US" altLang="zh-CN" dirty="0"/>
              <a:t>UGA</a:t>
            </a:r>
            <a:r>
              <a:rPr lang="zh-CN" altLang="en-US" dirty="0"/>
              <a:t>通常用作终止密码子，但如果在</a:t>
            </a:r>
            <a:r>
              <a:rPr lang="en-US" altLang="zh-CN" dirty="0"/>
              <a:t>mRNA</a:t>
            </a:r>
            <a:r>
              <a:rPr lang="zh-CN" altLang="en-US" dirty="0"/>
              <a:t>中有一个硒半胱氨酸插入序列</a:t>
            </a:r>
            <a:r>
              <a:rPr lang="en-US" altLang="zh-CN" dirty="0"/>
              <a:t>(</a:t>
            </a:r>
            <a:r>
              <a:rPr lang="en-US" altLang="zh-CN" dirty="0" err="1"/>
              <a:t>SelenoCysteine</a:t>
            </a:r>
            <a:r>
              <a:rPr lang="en-US" altLang="zh-CN" dirty="0"/>
              <a:t> Insertion Sequence, SECIS)</a:t>
            </a:r>
            <a:r>
              <a:rPr lang="zh-CN" altLang="en-US" dirty="0"/>
              <a:t>，</a:t>
            </a:r>
            <a:r>
              <a:rPr lang="en-US" altLang="zh-CN" dirty="0"/>
              <a:t>UGA</a:t>
            </a:r>
            <a:r>
              <a:rPr lang="zh-CN" altLang="en-US" dirty="0"/>
              <a:t>就用作硒半胱氨酸的编码。</a:t>
            </a:r>
            <a:r>
              <a:rPr lang="en-US" altLang="zh-CN" dirty="0"/>
              <a:t>SECIS</a:t>
            </a:r>
            <a:r>
              <a:rPr lang="zh-CN" altLang="en-US" dirty="0"/>
              <a:t>序列是由特定的核苷酸序列和碱基配对形成的二级结构决定的。</a:t>
            </a:r>
            <a:endParaRPr lang="en-US" altLang="zh-CN" dirty="0"/>
          </a:p>
          <a:p>
            <a:endParaRPr lang="en-US" altLang="zh-CN" dirty="0"/>
          </a:p>
        </p:txBody>
      </p:sp>
      <p:sp>
        <p:nvSpPr>
          <p:cNvPr id="95236" name="日期占位符 3">
            <a:extLst>
              <a:ext uri="{FF2B5EF4-FFF2-40B4-BE49-F238E27FC236}">
                <a16:creationId xmlns:a16="http://schemas.microsoft.com/office/drawing/2014/main" id="{BF914666-50A2-4EE4-B9E2-5CCE563DB30C}"/>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0417EE4-244B-422D-9972-3D05FC927526}"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95237" name="灯片编号占位符 4">
            <a:extLst>
              <a:ext uri="{FF2B5EF4-FFF2-40B4-BE49-F238E27FC236}">
                <a16:creationId xmlns:a16="http://schemas.microsoft.com/office/drawing/2014/main" id="{5D27A2D4-E358-44F9-9088-AB38CE0054B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C66E072-D6EC-433F-B501-B15AFF3AB07B}" type="slidenum">
              <a:rPr lang="en-US" altLang="zh-CN" sz="1200" smtClean="0">
                <a:latin typeface="Tahoma" panose="020B0604030504040204" pitchFamily="34" charset="0"/>
              </a:rPr>
              <a:pPr/>
              <a:t>33</a:t>
            </a:fld>
            <a:endParaRPr lang="en-US" altLang="zh-CN" sz="1200">
              <a:latin typeface="Tahoma" panose="020B060403050404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a:extLst>
              <a:ext uri="{FF2B5EF4-FFF2-40B4-BE49-F238E27FC236}">
                <a16:creationId xmlns:a16="http://schemas.microsoft.com/office/drawing/2014/main" id="{C6D50925-6C8D-43FD-9DBD-04798727A12A}"/>
              </a:ext>
            </a:extLst>
          </p:cNvPr>
          <p:cNvSpPr>
            <a:spLocks noGrp="1" noRot="1" noChangeAspect="1" noChangeArrowheads="1" noTextEdit="1"/>
          </p:cNvSpPr>
          <p:nvPr>
            <p:ph type="sldImg"/>
          </p:nvPr>
        </p:nvSpPr>
        <p:spPr>
          <a:xfrm>
            <a:off x="381000" y="685800"/>
            <a:ext cx="6096000" cy="3429000"/>
          </a:xfrm>
          <a:ln/>
        </p:spPr>
      </p:sp>
      <p:sp>
        <p:nvSpPr>
          <p:cNvPr id="97283" name="备注占位符 2">
            <a:extLst>
              <a:ext uri="{FF2B5EF4-FFF2-40B4-BE49-F238E27FC236}">
                <a16:creationId xmlns:a16="http://schemas.microsoft.com/office/drawing/2014/main" id="{0D5D3E42-63F0-40CF-B7E5-AF6B9719D87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L-</a:t>
            </a:r>
            <a:r>
              <a:rPr lang="zh-CN" altLang="en-US" dirty="0"/>
              <a:t>吡咯赖氨酸</a:t>
            </a:r>
            <a:r>
              <a:rPr lang="en-US" altLang="zh-CN" dirty="0" err="1"/>
              <a:t>pyrrolysine</a:t>
            </a:r>
            <a:r>
              <a:rPr lang="en-US" altLang="zh-CN" dirty="0"/>
              <a:t>[</a:t>
            </a:r>
            <a:r>
              <a:rPr lang="en-US" altLang="zh-CN" dirty="0" err="1"/>
              <a:t>pɪ‘rɒlaɪzɪn</a:t>
            </a:r>
            <a:r>
              <a:rPr lang="en-US" altLang="zh-CN" dirty="0"/>
              <a:t>  </a:t>
            </a:r>
            <a:r>
              <a:rPr lang="zh-CN" altLang="en-US" dirty="0"/>
              <a:t>由</a:t>
            </a:r>
            <a:r>
              <a:rPr lang="en-US" altLang="zh-CN" b="1" dirty="0"/>
              <a:t>UAG</a:t>
            </a:r>
            <a:r>
              <a:rPr lang="zh-CN" altLang="en-US" dirty="0"/>
              <a:t>编码，</a:t>
            </a:r>
            <a:r>
              <a:rPr lang="en-US" altLang="zh-CN" b="1" dirty="0"/>
              <a:t>UAG</a:t>
            </a:r>
            <a:r>
              <a:rPr lang="zh-CN" altLang="en-US" dirty="0"/>
              <a:t>又称琥珀密码子 </a:t>
            </a:r>
            <a:r>
              <a:rPr lang="en-US" altLang="zh-CN" dirty="0"/>
              <a:t>amber codon</a:t>
            </a:r>
            <a:r>
              <a:rPr lang="zh-CN" altLang="en-US" dirty="0"/>
              <a:t>。  </a:t>
            </a:r>
            <a:r>
              <a:rPr lang="en-US" altLang="zh-CN" dirty="0"/>
              <a:t>2002</a:t>
            </a:r>
            <a:r>
              <a:rPr lang="zh-CN" altLang="en-US" dirty="0"/>
              <a:t>年发现。</a:t>
            </a:r>
            <a:endParaRPr lang="en-US" altLang="zh-CN" dirty="0"/>
          </a:p>
          <a:p>
            <a:endParaRPr lang="en-US" altLang="zh-CN" dirty="0"/>
          </a:p>
        </p:txBody>
      </p:sp>
      <p:sp>
        <p:nvSpPr>
          <p:cNvPr id="97284" name="日期占位符 3">
            <a:extLst>
              <a:ext uri="{FF2B5EF4-FFF2-40B4-BE49-F238E27FC236}">
                <a16:creationId xmlns:a16="http://schemas.microsoft.com/office/drawing/2014/main" id="{37FDFD5A-D210-4CEC-85B9-2162F0785FD7}"/>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9B6E6D84-4437-47EA-8563-5B5E50D4FC4F}"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97285" name="灯片编号占位符 4">
            <a:extLst>
              <a:ext uri="{FF2B5EF4-FFF2-40B4-BE49-F238E27FC236}">
                <a16:creationId xmlns:a16="http://schemas.microsoft.com/office/drawing/2014/main" id="{61E486F6-9A19-48C6-848F-37FD67B6F34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2BDD015F-5A3D-4696-86E5-A3E9C2D79CB6}" type="slidenum">
              <a:rPr lang="en-US" altLang="zh-CN" sz="1200" smtClean="0">
                <a:latin typeface="Tahoma" panose="020B0604030504040204" pitchFamily="34" charset="0"/>
              </a:rPr>
              <a:pPr/>
              <a:t>34</a:t>
            </a:fld>
            <a:endParaRPr lang="en-US" altLang="zh-CN" sz="1200">
              <a:latin typeface="Tahoma" panose="020B060403050404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a:extLst>
              <a:ext uri="{FF2B5EF4-FFF2-40B4-BE49-F238E27FC236}">
                <a16:creationId xmlns:a16="http://schemas.microsoft.com/office/drawing/2014/main" id="{C4A0FC2E-7B7E-46DF-8796-E8CC2205B9C5}"/>
              </a:ext>
            </a:extLst>
          </p:cNvPr>
          <p:cNvSpPr>
            <a:spLocks noGrp="1" noRot="1" noChangeAspect="1" noChangeArrowheads="1" noTextEdit="1"/>
          </p:cNvSpPr>
          <p:nvPr>
            <p:ph type="sldImg"/>
          </p:nvPr>
        </p:nvSpPr>
        <p:spPr>
          <a:xfrm>
            <a:off x="381000" y="685800"/>
            <a:ext cx="6096000" cy="3429000"/>
          </a:xfrm>
          <a:ln/>
        </p:spPr>
      </p:sp>
      <p:sp>
        <p:nvSpPr>
          <p:cNvPr id="99331" name="备注占位符 2">
            <a:extLst>
              <a:ext uri="{FF2B5EF4-FFF2-40B4-BE49-F238E27FC236}">
                <a16:creationId xmlns:a16="http://schemas.microsoft.com/office/drawing/2014/main" id="{A9EDC746-CEA9-48DF-8A89-60A930F58C6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99332" name="日期占位符 3">
            <a:extLst>
              <a:ext uri="{FF2B5EF4-FFF2-40B4-BE49-F238E27FC236}">
                <a16:creationId xmlns:a16="http://schemas.microsoft.com/office/drawing/2014/main" id="{B56F6E7A-C7B2-4A50-8169-BF1DD192E26E}"/>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AA976F5-AF73-40A1-A17B-EC2D79FAD7B9}"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99333" name="灯片编号占位符 4">
            <a:extLst>
              <a:ext uri="{FF2B5EF4-FFF2-40B4-BE49-F238E27FC236}">
                <a16:creationId xmlns:a16="http://schemas.microsoft.com/office/drawing/2014/main" id="{F7D81C60-1038-40D7-9DBA-4AEF6B01DBF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427E505-2307-43AB-9C55-75921D7165AF}" type="slidenum">
              <a:rPr lang="en-US" altLang="zh-CN" sz="1200" smtClean="0">
                <a:latin typeface="Tahoma" panose="020B0604030504040204" pitchFamily="34" charset="0"/>
              </a:rPr>
              <a:pPr/>
              <a:t>35</a:t>
            </a:fld>
            <a:endParaRPr lang="en-US" altLang="zh-CN" sz="1200">
              <a:latin typeface="Tahoma" panose="020B060403050404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3">
            <a:extLst>
              <a:ext uri="{FF2B5EF4-FFF2-40B4-BE49-F238E27FC236}">
                <a16:creationId xmlns:a16="http://schemas.microsoft.com/office/drawing/2014/main" id="{A8278C37-7C9C-42A9-8D9C-08AC86AE700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471CADF8-B556-4208-A5E9-E972B241CEBE}"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01379" name="Rectangle 7">
            <a:extLst>
              <a:ext uri="{FF2B5EF4-FFF2-40B4-BE49-F238E27FC236}">
                <a16:creationId xmlns:a16="http://schemas.microsoft.com/office/drawing/2014/main" id="{EA768B38-E4CD-424C-9678-078A317AF7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1005B123-5684-4220-BFFF-0A49E044414E}" type="slidenum">
              <a:rPr lang="en-US" altLang="zh-CN" sz="1200" smtClean="0">
                <a:latin typeface="Tahoma" panose="020B0604030504040204" pitchFamily="34" charset="0"/>
              </a:rPr>
              <a:pPr/>
              <a:t>36</a:t>
            </a:fld>
            <a:endParaRPr lang="en-US" altLang="zh-CN" sz="1200">
              <a:latin typeface="Tahoma" panose="020B0604030504040204" pitchFamily="34" charset="0"/>
            </a:endParaRPr>
          </a:p>
        </p:txBody>
      </p:sp>
      <p:sp>
        <p:nvSpPr>
          <p:cNvPr id="101380" name="Rectangle 2">
            <a:extLst>
              <a:ext uri="{FF2B5EF4-FFF2-40B4-BE49-F238E27FC236}">
                <a16:creationId xmlns:a16="http://schemas.microsoft.com/office/drawing/2014/main" id="{C23D9D1B-926B-490B-A98C-CB15C47CA427}"/>
              </a:ext>
            </a:extLst>
          </p:cNvPr>
          <p:cNvSpPr>
            <a:spLocks noGrp="1" noRot="1" noChangeAspect="1" noChangeArrowheads="1" noTextEdit="1"/>
          </p:cNvSpPr>
          <p:nvPr>
            <p:ph type="sldImg"/>
          </p:nvPr>
        </p:nvSpPr>
        <p:spPr>
          <a:xfrm>
            <a:off x="381000" y="685800"/>
            <a:ext cx="6096000" cy="3429000"/>
          </a:xfrm>
          <a:ln/>
        </p:spPr>
      </p:sp>
      <p:sp>
        <p:nvSpPr>
          <p:cNvPr id="101381" name="Rectangle 3">
            <a:extLst>
              <a:ext uri="{FF2B5EF4-FFF2-40B4-BE49-F238E27FC236}">
                <a16:creationId xmlns:a16="http://schemas.microsoft.com/office/drawing/2014/main" id="{58B6E7BE-57F2-48DF-AE78-FE22357B13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楷体_GB2312" pitchFamily="49" charset="-122"/>
                <a:ea typeface="楷体_GB2312" pitchFamily="49" charset="-122"/>
              </a:rPr>
              <a:t>等电点是氨基酸的特征常数。</a:t>
            </a:r>
          </a:p>
          <a:p>
            <a:pPr eaLnBrk="1" hangingPunct="1"/>
            <a:endParaRPr lang="en-US" altLang="zh-CN" dirty="0">
              <a:latin typeface="楷体_GB2312" pitchFamily="49" charset="-122"/>
              <a:ea typeface="楷体_GB2312" pitchFamily="49" charset="-122"/>
            </a:endParaRPr>
          </a:p>
          <a:p>
            <a:pPr eaLnBrk="1" hangingPunct="1"/>
            <a:r>
              <a:rPr lang="en-US" altLang="zh-CN" dirty="0">
                <a:latin typeface="楷体_GB2312" pitchFamily="49" charset="-122"/>
                <a:ea typeface="楷体_GB2312" pitchFamily="49" charset="-122"/>
              </a:rPr>
              <a:t>zwitterion[‘</a:t>
            </a:r>
            <a:r>
              <a:rPr lang="en-US" altLang="zh-CN" dirty="0" err="1">
                <a:latin typeface="楷体_GB2312" pitchFamily="49" charset="-122"/>
                <a:ea typeface="楷体_GB2312" pitchFamily="49" charset="-122"/>
              </a:rPr>
              <a:t>tsvɪtəraɪən</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 　　</a:t>
            </a:r>
            <a:endParaRPr lang="en-US" altLang="zh-CN" dirty="0">
              <a:latin typeface="楷体_GB2312" pitchFamily="49" charset="-122"/>
              <a:ea typeface="楷体_GB2312" pitchFamily="49" charset="-122"/>
            </a:endParaRPr>
          </a:p>
          <a:p>
            <a:pPr eaLnBrk="1" hangingPunct="1"/>
            <a:r>
              <a:rPr lang="zh-CN" altLang="en-US" dirty="0">
                <a:latin typeface="楷体_GB2312" pitchFamily="49" charset="-122"/>
                <a:ea typeface="楷体_GB2312" pitchFamily="49" charset="-122"/>
              </a:rPr>
              <a:t>两性电解质 </a:t>
            </a:r>
            <a:r>
              <a:rPr lang="en-US" altLang="zh-CN" dirty="0">
                <a:latin typeface="楷体_GB2312" pitchFamily="49" charset="-122"/>
                <a:ea typeface="楷体_GB2312" pitchFamily="49" charset="-122"/>
              </a:rPr>
              <a:t>ampholyte\ ˈam(p)-</a:t>
            </a:r>
            <a:r>
              <a:rPr lang="en-US" altLang="zh-CN" dirty="0" err="1">
                <a:latin typeface="楷体_GB2312" pitchFamily="49" charset="-122"/>
                <a:ea typeface="楷体_GB2312" pitchFamily="49" charset="-122"/>
              </a:rPr>
              <a:t>fə</a:t>
            </a:r>
            <a:r>
              <a:rPr lang="en-US" altLang="zh-CN" dirty="0">
                <a:latin typeface="楷体_GB2312" pitchFamily="49" charset="-122"/>
                <a:ea typeface="楷体_GB2312" pitchFamily="49" charset="-122"/>
              </a:rPr>
              <a:t>-ˌ</a:t>
            </a:r>
            <a:r>
              <a:rPr lang="en-US" altLang="zh-CN" dirty="0" err="1">
                <a:latin typeface="楷体_GB2312" pitchFamily="49" charset="-122"/>
                <a:ea typeface="楷体_GB2312" pitchFamily="49" charset="-122"/>
              </a:rPr>
              <a:t>līt</a:t>
            </a:r>
            <a:r>
              <a:rPr lang="en-US" altLang="zh-CN" dirty="0">
                <a:latin typeface="楷体_GB2312" pitchFamily="49" charset="-122"/>
                <a:ea typeface="楷体_GB2312" pitchFamily="49" charset="-122"/>
              </a:rPr>
              <a:t>  \</a:t>
            </a:r>
            <a:endParaRPr lang="en-US" altLang="zh-CN" sz="2800" dirty="0">
              <a:ea typeface="黑体" panose="02010609060101010101" pitchFamily="49"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3">
            <a:extLst>
              <a:ext uri="{FF2B5EF4-FFF2-40B4-BE49-F238E27FC236}">
                <a16:creationId xmlns:a16="http://schemas.microsoft.com/office/drawing/2014/main" id="{F7559A5D-C0C4-4189-8942-3A186750186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F44E7DE9-8A81-4D93-83D4-FE13429DC4E0}"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03427" name="Rectangle 7">
            <a:extLst>
              <a:ext uri="{FF2B5EF4-FFF2-40B4-BE49-F238E27FC236}">
                <a16:creationId xmlns:a16="http://schemas.microsoft.com/office/drawing/2014/main" id="{0215B31E-975F-4F46-8F05-EF1A1A43A7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54FABC99-40F9-47CD-98B2-39E51A36087D}" type="slidenum">
              <a:rPr lang="en-US" altLang="zh-CN" sz="1200" smtClean="0">
                <a:latin typeface="Tahoma" panose="020B0604030504040204" pitchFamily="34" charset="0"/>
              </a:rPr>
              <a:pPr/>
              <a:t>37</a:t>
            </a:fld>
            <a:endParaRPr lang="en-US" altLang="zh-CN" sz="1200">
              <a:latin typeface="Tahoma" panose="020B0604030504040204" pitchFamily="34" charset="0"/>
            </a:endParaRPr>
          </a:p>
        </p:txBody>
      </p:sp>
      <p:sp>
        <p:nvSpPr>
          <p:cNvPr id="103428" name="Rectangle 2">
            <a:extLst>
              <a:ext uri="{FF2B5EF4-FFF2-40B4-BE49-F238E27FC236}">
                <a16:creationId xmlns:a16="http://schemas.microsoft.com/office/drawing/2014/main" id="{020B5A1B-91BC-4FBA-A5C6-71C90B8E6D60}"/>
              </a:ext>
            </a:extLst>
          </p:cNvPr>
          <p:cNvSpPr>
            <a:spLocks noGrp="1" noRot="1" noChangeAspect="1" noChangeArrowheads="1" noTextEdit="1"/>
          </p:cNvSpPr>
          <p:nvPr>
            <p:ph type="sldImg"/>
          </p:nvPr>
        </p:nvSpPr>
        <p:spPr>
          <a:xfrm>
            <a:off x="381000" y="685800"/>
            <a:ext cx="6096000" cy="3429000"/>
          </a:xfrm>
          <a:ln/>
        </p:spPr>
      </p:sp>
      <p:sp>
        <p:nvSpPr>
          <p:cNvPr id="103429" name="Rectangle 3">
            <a:extLst>
              <a:ext uri="{FF2B5EF4-FFF2-40B4-BE49-F238E27FC236}">
                <a16:creationId xmlns:a16="http://schemas.microsoft.com/office/drawing/2014/main" id="{9DC052BB-9139-41AE-A466-8BDDC7534DD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solidFill>
                  <a:srgbClr val="FF0000"/>
                </a:solidFill>
              </a:rPr>
              <a:t>此处的</a:t>
            </a:r>
            <a:r>
              <a:rPr lang="en-US" altLang="zh-CN" dirty="0">
                <a:solidFill>
                  <a:srgbClr val="FF0000"/>
                </a:solidFill>
              </a:rPr>
              <a:t>K</a:t>
            </a:r>
            <a:r>
              <a:rPr lang="zh-CN" altLang="en-US" dirty="0">
                <a:solidFill>
                  <a:srgbClr val="FF0000"/>
                </a:solidFill>
              </a:rPr>
              <a:t>为解离常数。     务必明白</a:t>
            </a:r>
            <a:r>
              <a:rPr lang="zh-CN" altLang="en-US" b="1" dirty="0">
                <a:solidFill>
                  <a:srgbClr val="FF0000"/>
                </a:solidFill>
              </a:rPr>
              <a:t>兼性离子的特点：净电荷为零</a:t>
            </a:r>
            <a:r>
              <a:rPr lang="zh-CN" altLang="en-US" dirty="0">
                <a:solidFill>
                  <a:srgbClr val="FF0000"/>
                </a:solidFill>
              </a:rPr>
              <a:t>。</a:t>
            </a:r>
            <a:endParaRPr lang="en-US" altLang="zh-CN" dirty="0">
              <a:solidFill>
                <a:srgbClr val="FF0000"/>
              </a:solidFill>
            </a:endParaRPr>
          </a:p>
          <a:p>
            <a:pPr eaLnBrk="1" hangingPunct="1"/>
            <a:endParaRPr lang="en-US" altLang="zh-CN" dirty="0">
              <a:solidFill>
                <a:srgbClr val="FF0000"/>
              </a:solidFill>
            </a:endParaRPr>
          </a:p>
          <a:p>
            <a:pPr eaLnBrk="1" hangingPunct="1"/>
            <a:r>
              <a:rPr lang="zh-CN" altLang="en-US" dirty="0"/>
              <a:t>等电点时的氨基酸</a:t>
            </a:r>
            <a:r>
              <a:rPr lang="zh-CN" altLang="en-US" dirty="0">
                <a:solidFill>
                  <a:srgbClr val="FFFF00"/>
                </a:solidFill>
              </a:rPr>
              <a:t>溶解度最小，易于沉淀</a:t>
            </a:r>
            <a:r>
              <a:rPr lang="zh-CN" altLang="en-US" dirty="0"/>
              <a:t>。　　</a:t>
            </a:r>
            <a:endParaRPr lang="en-US" altLang="zh-CN" dirty="0">
              <a:solidFill>
                <a:srgbClr val="FFFFFF"/>
              </a:solidFill>
            </a:endParaRPr>
          </a:p>
          <a:p>
            <a:pPr eaLnBrk="1" hangingPunct="1"/>
            <a:endParaRPr lang="en-US" altLang="zh-CN" dirty="0">
              <a:latin typeface="楷体_GB2312" pitchFamily="49" charset="-122"/>
              <a:ea typeface="楷体_GB2312" pitchFamily="49" charset="-122"/>
            </a:endParaRPr>
          </a:p>
          <a:p>
            <a:pPr eaLnBrk="1" hangingPunct="1"/>
            <a:endParaRPr lang="en-US" altLang="zh-CN" dirty="0">
              <a:latin typeface="楷体_GB2312" pitchFamily="49" charset="-122"/>
              <a:ea typeface="楷体_GB2312" pitchFamily="49" charset="-122"/>
            </a:endParaRPr>
          </a:p>
          <a:p>
            <a:pPr eaLnBrk="1" hangingPunct="1"/>
            <a:endParaRPr kumimoji="0" lang="en-US" altLang="zh-CN" b="1" dirty="0">
              <a:solidFill>
                <a:srgbClr val="FFFFFF"/>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a:extLst>
              <a:ext uri="{FF2B5EF4-FFF2-40B4-BE49-F238E27FC236}">
                <a16:creationId xmlns:a16="http://schemas.microsoft.com/office/drawing/2014/main" id="{3F32E362-6892-44A4-A146-6B743C839697}"/>
              </a:ext>
            </a:extLst>
          </p:cNvPr>
          <p:cNvSpPr>
            <a:spLocks noGrp="1" noRot="1" noChangeAspect="1" noChangeArrowheads="1" noTextEdit="1"/>
          </p:cNvSpPr>
          <p:nvPr>
            <p:ph type="sldImg"/>
          </p:nvPr>
        </p:nvSpPr>
        <p:spPr>
          <a:xfrm>
            <a:off x="381000" y="685800"/>
            <a:ext cx="6096000" cy="3429000"/>
          </a:xfrm>
          <a:ln/>
        </p:spPr>
      </p:sp>
      <p:sp>
        <p:nvSpPr>
          <p:cNvPr id="105475" name="备注占位符 2">
            <a:extLst>
              <a:ext uri="{FF2B5EF4-FFF2-40B4-BE49-F238E27FC236}">
                <a16:creationId xmlns:a16="http://schemas.microsoft.com/office/drawing/2014/main" id="{42ADAAA1-4935-47B4-8E51-5DEB1DA2AFE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Henderson-Hasselbalch equation:   pH=</a:t>
            </a:r>
            <a:r>
              <a:rPr lang="en-US" altLang="zh-CN" dirty="0" err="1"/>
              <a:t>pKa+log</a:t>
            </a:r>
            <a:r>
              <a:rPr lang="en-US" altLang="zh-CN" dirty="0"/>
              <a:t>[A</a:t>
            </a:r>
            <a:r>
              <a:rPr lang="en-US" altLang="zh-CN" baseline="30000" dirty="0"/>
              <a:t>–</a:t>
            </a:r>
            <a:r>
              <a:rPr lang="en-US" altLang="zh-CN" dirty="0"/>
              <a:t>]/[HA]   </a:t>
            </a:r>
            <a:r>
              <a:rPr lang="zh-CN" altLang="en-US" dirty="0"/>
              <a:t>亨</a:t>
            </a:r>
            <a:r>
              <a:rPr lang="en-US" altLang="zh-CN" dirty="0"/>
              <a:t>-</a:t>
            </a:r>
            <a:r>
              <a:rPr lang="zh-CN" altLang="en-US" dirty="0"/>
              <a:t>哈二氏方程</a:t>
            </a:r>
          </a:p>
          <a:p>
            <a:endParaRPr lang="en-US" altLang="zh-CN" dirty="0"/>
          </a:p>
          <a:p>
            <a:r>
              <a:rPr lang="en-US" altLang="zh-CN" dirty="0"/>
              <a:t>pH</a:t>
            </a:r>
            <a:r>
              <a:rPr lang="zh-CN" altLang="en-US" dirty="0"/>
              <a:t>低于</a:t>
            </a:r>
            <a:r>
              <a:rPr lang="en-US" altLang="zh-CN" dirty="0"/>
              <a:t>pKa</a:t>
            </a:r>
            <a:r>
              <a:rPr lang="en-US" altLang="zh-CN" baseline="-25000" dirty="0"/>
              <a:t>1</a:t>
            </a:r>
            <a:r>
              <a:rPr lang="zh-CN" altLang="en-US" dirty="0"/>
              <a:t>时，溶液中主要为阳离子（没有阴离子，少量兼性离子的数量取决于</a:t>
            </a:r>
            <a:r>
              <a:rPr lang="en-US" altLang="zh-CN" dirty="0"/>
              <a:t>pH</a:t>
            </a:r>
            <a:r>
              <a:rPr lang="zh-CN" altLang="en-US" dirty="0"/>
              <a:t>与</a:t>
            </a:r>
            <a:r>
              <a:rPr lang="en-US" altLang="zh-CN" dirty="0"/>
              <a:t>pKa</a:t>
            </a:r>
            <a:r>
              <a:rPr lang="en-US" altLang="zh-CN" baseline="-25000" dirty="0"/>
              <a:t>1</a:t>
            </a:r>
            <a:r>
              <a:rPr lang="zh-CN" altLang="en-US" dirty="0"/>
              <a:t>的距离，</a:t>
            </a:r>
            <a:r>
              <a:rPr lang="en-US" altLang="zh-CN" dirty="0"/>
              <a:t>pH</a:t>
            </a:r>
            <a:r>
              <a:rPr lang="zh-CN" altLang="en-US" dirty="0"/>
              <a:t>比</a:t>
            </a:r>
            <a:r>
              <a:rPr lang="en-US" altLang="zh-CN" dirty="0"/>
              <a:t>pKa</a:t>
            </a:r>
            <a:r>
              <a:rPr lang="en-US" altLang="zh-CN" baseline="-25000" dirty="0"/>
              <a:t>1</a:t>
            </a:r>
            <a:r>
              <a:rPr lang="zh-CN" altLang="en-US" dirty="0"/>
              <a:t>小</a:t>
            </a:r>
            <a:r>
              <a:rPr lang="en-US" altLang="zh-CN" dirty="0"/>
              <a:t>1</a:t>
            </a:r>
            <a:r>
              <a:rPr lang="zh-CN" altLang="en-US" dirty="0"/>
              <a:t>时兼性离子已非常少）， </a:t>
            </a:r>
            <a:r>
              <a:rPr lang="en-US" altLang="zh-CN" b="1" dirty="0"/>
              <a:t>pH=pKa</a:t>
            </a:r>
            <a:r>
              <a:rPr lang="en-US" altLang="zh-CN" b="1" baseline="-25000" dirty="0"/>
              <a:t>1</a:t>
            </a:r>
            <a:r>
              <a:rPr lang="zh-CN" altLang="en-US" b="1" dirty="0"/>
              <a:t>时， 阳离子浓度与兼性离子浓度相等 </a:t>
            </a:r>
            <a:r>
              <a:rPr lang="zh-CN" altLang="en-US" dirty="0"/>
              <a:t>，随着</a:t>
            </a:r>
            <a:r>
              <a:rPr lang="en-US" altLang="zh-CN" dirty="0"/>
              <a:t>pH</a:t>
            </a:r>
            <a:r>
              <a:rPr lang="zh-CN" altLang="en-US" dirty="0"/>
              <a:t>继续升高，兼性离子越来越多而阳离子越来越少，</a:t>
            </a:r>
            <a:r>
              <a:rPr lang="en-US" altLang="zh-CN" dirty="0"/>
              <a:t>pH</a:t>
            </a:r>
            <a:r>
              <a:rPr lang="zh-CN" altLang="en-US" dirty="0"/>
              <a:t>到达</a:t>
            </a:r>
            <a:r>
              <a:rPr lang="en-US" altLang="zh-CN" dirty="0" err="1"/>
              <a:t>pI</a:t>
            </a:r>
            <a:r>
              <a:rPr lang="zh-CN" altLang="en-US" dirty="0"/>
              <a:t>时，氨基酸全部呈兼性离子状态。 </a:t>
            </a:r>
            <a:r>
              <a:rPr lang="en-US" altLang="zh-CN" dirty="0"/>
              <a:t>pH</a:t>
            </a:r>
            <a:r>
              <a:rPr lang="zh-CN" altLang="en-US" dirty="0"/>
              <a:t>进一步升高，则兼性离子渐少，阴离子开始逐渐增加，</a:t>
            </a:r>
            <a:r>
              <a:rPr lang="zh-CN" altLang="en-US" b="1" dirty="0"/>
              <a:t>当</a:t>
            </a:r>
            <a:r>
              <a:rPr lang="en-US" altLang="zh-CN" b="1" dirty="0"/>
              <a:t>pH</a:t>
            </a:r>
            <a:r>
              <a:rPr lang="zh-CN" altLang="en-US" b="1" dirty="0"/>
              <a:t>到</a:t>
            </a:r>
            <a:r>
              <a:rPr lang="en-US" altLang="zh-CN" b="1" dirty="0"/>
              <a:t>pKa</a:t>
            </a:r>
            <a:r>
              <a:rPr lang="en-US" altLang="zh-CN" b="1" baseline="-25000" dirty="0"/>
              <a:t>2</a:t>
            </a:r>
            <a:r>
              <a:rPr lang="zh-CN" altLang="en-US" b="1" dirty="0"/>
              <a:t>时，兼性离子数量与阴离子数量相同</a:t>
            </a:r>
            <a:r>
              <a:rPr lang="zh-CN" altLang="en-US" dirty="0"/>
              <a:t>， 当</a:t>
            </a:r>
            <a:r>
              <a:rPr lang="en-US" altLang="zh-CN" dirty="0"/>
              <a:t>pH</a:t>
            </a:r>
            <a:r>
              <a:rPr lang="zh-CN" altLang="en-US" dirty="0"/>
              <a:t>大于</a:t>
            </a:r>
            <a:r>
              <a:rPr lang="en-US" altLang="zh-CN" dirty="0"/>
              <a:t>pKa</a:t>
            </a:r>
            <a:r>
              <a:rPr lang="en-US" altLang="zh-CN" baseline="-25000" dirty="0"/>
              <a:t>2</a:t>
            </a:r>
            <a:r>
              <a:rPr lang="zh-CN" altLang="en-US" dirty="0"/>
              <a:t>时，溶液中以阴离子为主（没有阳离子，少量兼性离子数量取决于</a:t>
            </a:r>
            <a:r>
              <a:rPr lang="en-US" altLang="zh-CN" dirty="0"/>
              <a:t>pH</a:t>
            </a:r>
            <a:r>
              <a:rPr lang="zh-CN" altLang="en-US" dirty="0"/>
              <a:t>与</a:t>
            </a:r>
            <a:r>
              <a:rPr lang="en-US" altLang="zh-CN" dirty="0"/>
              <a:t>pKa</a:t>
            </a:r>
            <a:r>
              <a:rPr lang="en-US" altLang="zh-CN" baseline="-25000" dirty="0"/>
              <a:t>2</a:t>
            </a:r>
            <a:r>
              <a:rPr lang="zh-CN" altLang="en-US" dirty="0"/>
              <a:t>的距离，距离越远，兼性离子越少，</a:t>
            </a:r>
            <a:r>
              <a:rPr lang="en-US" altLang="zh-CN" dirty="0"/>
              <a:t>pH</a:t>
            </a:r>
            <a:r>
              <a:rPr lang="zh-CN" altLang="en-US" dirty="0"/>
              <a:t>比</a:t>
            </a:r>
            <a:r>
              <a:rPr lang="en-US" altLang="zh-CN" dirty="0"/>
              <a:t>pKa</a:t>
            </a:r>
            <a:r>
              <a:rPr lang="en-US" altLang="zh-CN" baseline="-25000" dirty="0"/>
              <a:t>2</a:t>
            </a:r>
            <a:r>
              <a:rPr lang="zh-CN" altLang="en-US" dirty="0"/>
              <a:t>大</a:t>
            </a:r>
            <a:r>
              <a:rPr lang="en-US" altLang="zh-CN" dirty="0"/>
              <a:t>1</a:t>
            </a:r>
            <a:r>
              <a:rPr lang="zh-CN" altLang="en-US" dirty="0"/>
              <a:t>个单位时，兼性离子已非常少）</a:t>
            </a:r>
            <a:endParaRPr lang="en-US" altLang="zh-CN" dirty="0"/>
          </a:p>
          <a:p>
            <a:endParaRPr lang="en-US" altLang="zh-CN" dirty="0"/>
          </a:p>
          <a:p>
            <a:r>
              <a:rPr lang="zh-CN" altLang="en-US" b="1" dirty="0"/>
              <a:t>很显然，在中性</a:t>
            </a:r>
            <a:r>
              <a:rPr lang="en-US" altLang="zh-CN" b="1" dirty="0"/>
              <a:t>pH</a:t>
            </a:r>
            <a:r>
              <a:rPr lang="zh-CN" altLang="en-US" b="1" dirty="0"/>
              <a:t>左右较宽范围内，溶液中以兼性离子为主。 </a:t>
            </a:r>
            <a:endParaRPr lang="en-US" altLang="zh-CN" b="1" dirty="0"/>
          </a:p>
          <a:p>
            <a:r>
              <a:rPr lang="zh-CN" altLang="en-US" dirty="0"/>
              <a:t>注意，并不是 </a:t>
            </a:r>
            <a:r>
              <a:rPr lang="en-US" altLang="zh-CN" dirty="0"/>
              <a:t>pH</a:t>
            </a:r>
            <a:r>
              <a:rPr lang="zh-CN" altLang="en-US" dirty="0"/>
              <a:t>大于等电点，氨基酸分子就全带负电荷 ，或者</a:t>
            </a:r>
            <a:r>
              <a:rPr lang="en-US" altLang="zh-CN" dirty="0"/>
              <a:t>pH</a:t>
            </a:r>
            <a:r>
              <a:rPr lang="zh-CN" altLang="en-US" dirty="0"/>
              <a:t>小于等电点就全带正电荷 ，而是溶液中的氨基酸总体带负电荷或正电荷，净电荷不一定是整数，具体取决于</a:t>
            </a:r>
            <a:r>
              <a:rPr lang="en-US" altLang="zh-CN" dirty="0"/>
              <a:t>pH</a:t>
            </a:r>
            <a:r>
              <a:rPr lang="zh-CN" altLang="en-US" dirty="0"/>
              <a:t>与</a:t>
            </a:r>
            <a:r>
              <a:rPr lang="en-US" altLang="zh-CN" dirty="0" err="1"/>
              <a:t>pKa</a:t>
            </a:r>
            <a:r>
              <a:rPr lang="zh-CN" altLang="en-US" dirty="0"/>
              <a:t>的距离。 </a:t>
            </a:r>
          </a:p>
          <a:p>
            <a:endParaRPr lang="zh-CN" altLang="en-US" dirty="0"/>
          </a:p>
        </p:txBody>
      </p:sp>
      <p:sp>
        <p:nvSpPr>
          <p:cNvPr id="105476" name="日期占位符 3">
            <a:extLst>
              <a:ext uri="{FF2B5EF4-FFF2-40B4-BE49-F238E27FC236}">
                <a16:creationId xmlns:a16="http://schemas.microsoft.com/office/drawing/2014/main" id="{80D42EFD-B23D-428B-9E98-746BE4FC9A6A}"/>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E556765-31C0-4C9F-9420-AB1527398546}"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05477" name="灯片编号占位符 4">
            <a:extLst>
              <a:ext uri="{FF2B5EF4-FFF2-40B4-BE49-F238E27FC236}">
                <a16:creationId xmlns:a16="http://schemas.microsoft.com/office/drawing/2014/main" id="{12DCD0FF-76E8-4D21-9A5A-181CDF88C35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13F1EBB-CF92-4653-81C7-4B07394C5172}" type="slidenum">
              <a:rPr lang="en-US" altLang="zh-CN" sz="1200" smtClean="0">
                <a:latin typeface="Tahoma" panose="020B0604030504040204" pitchFamily="34" charset="0"/>
              </a:rPr>
              <a:pPr/>
              <a:t>38</a:t>
            </a:fld>
            <a:endParaRPr lang="en-US" altLang="zh-CN" sz="1200">
              <a:latin typeface="Tahoma" panose="020B060403050404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65E14F4B-A324-4A3A-89A7-EAD1FC4375DE}"/>
              </a:ext>
            </a:extLst>
          </p:cNvPr>
          <p:cNvSpPr>
            <a:spLocks noGrp="1" noRot="1" noChangeAspect="1" noChangeArrowheads="1" noTextEdit="1"/>
          </p:cNvSpPr>
          <p:nvPr>
            <p:ph type="sldImg"/>
          </p:nvPr>
        </p:nvSpPr>
        <p:spPr>
          <a:xfrm>
            <a:off x="381000" y="685800"/>
            <a:ext cx="6096000" cy="3429000"/>
          </a:xfrm>
          <a:ln/>
        </p:spPr>
      </p:sp>
      <p:sp>
        <p:nvSpPr>
          <p:cNvPr id="107523" name="备注占位符 2">
            <a:extLst>
              <a:ext uri="{FF2B5EF4-FFF2-40B4-BE49-F238E27FC236}">
                <a16:creationId xmlns:a16="http://schemas.microsoft.com/office/drawing/2014/main" id="{38DE408E-1BC0-460A-9FF3-F5636021486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None/>
            </a:pPr>
            <a:r>
              <a:rPr lang="zh-CN" altLang="en-US" dirty="0">
                <a:solidFill>
                  <a:srgbClr val="0000CC"/>
                </a:solidFill>
                <a:latin typeface="微软雅黑 Light" panose="020B0502040204020203" pitchFamily="34" charset="-122"/>
                <a:ea typeface="微软雅黑 Light" panose="020B0502040204020203" pitchFamily="34" charset="-122"/>
              </a:rPr>
              <a:t>人体环境（</a:t>
            </a:r>
            <a:r>
              <a:rPr lang="en-US" altLang="zh-CN" dirty="0">
                <a:solidFill>
                  <a:srgbClr val="0000CC"/>
                </a:solidFill>
                <a:latin typeface="微软雅黑 Light" panose="020B0502040204020203" pitchFamily="34" charset="-122"/>
                <a:ea typeface="微软雅黑 Light" panose="020B0502040204020203" pitchFamily="34" charset="-122"/>
              </a:rPr>
              <a:t>pH=7.4)</a:t>
            </a:r>
            <a:r>
              <a:rPr lang="zh-CN" altLang="en-US" dirty="0">
                <a:solidFill>
                  <a:srgbClr val="0000CC"/>
                </a:solidFill>
                <a:latin typeface="微软雅黑 Light" panose="020B0502040204020203" pitchFamily="34" charset="-122"/>
                <a:ea typeface="微软雅黑 Light" panose="020B0502040204020203" pitchFamily="34" charset="-122"/>
              </a:rPr>
              <a:t>中：</a:t>
            </a:r>
            <a:endParaRPr lang="en-US" altLang="zh-CN" dirty="0">
              <a:solidFill>
                <a:srgbClr val="0000CC"/>
              </a:solidFill>
              <a:latin typeface="微软雅黑 Light" panose="020B0502040204020203" pitchFamily="34" charset="-122"/>
              <a:ea typeface="微软雅黑 Light" panose="020B0502040204020203" pitchFamily="34" charset="-122"/>
            </a:endParaRPr>
          </a:p>
          <a:p>
            <a:pPr>
              <a:buFont typeface="Wingdings" panose="05000000000000000000" pitchFamily="2" charset="2"/>
              <a:buChar char="l"/>
            </a:pPr>
            <a:r>
              <a:rPr lang="zh-CN" altLang="en-US" dirty="0">
                <a:latin typeface="微软雅黑 Light" panose="020B0502040204020203" pitchFamily="34" charset="-122"/>
                <a:ea typeface="微软雅黑 Light" panose="020B0502040204020203" pitchFamily="34" charset="-122"/>
              </a:rPr>
              <a:t>游离中性氨基酸主要呈兼性离子，极少量阴离子</a:t>
            </a:r>
            <a:r>
              <a:rPr lang="en-US" altLang="zh-CN" dirty="0">
                <a:latin typeface="微软雅黑 Light" panose="020B0502040204020203" pitchFamily="34" charset="-122"/>
                <a:ea typeface="微软雅黑 Light" panose="020B0502040204020203" pitchFamily="34" charset="-122"/>
              </a:rPr>
              <a:t>;</a:t>
            </a:r>
          </a:p>
          <a:p>
            <a:pPr marL="0" marR="0" lvl="0" indent="0" algn="l" defTabSz="914400" rtl="0" eaLnBrk="0" fontAlgn="base" latinLnBrk="0" hangingPunct="0">
              <a:lnSpc>
                <a:spcPct val="100000"/>
              </a:lnSpc>
              <a:spcBef>
                <a:spcPct val="30000"/>
              </a:spcBef>
              <a:spcAft>
                <a:spcPct val="0"/>
              </a:spcAft>
              <a:buClrTx/>
              <a:buSzTx/>
              <a:buFont typeface="Wingdings" panose="05000000000000000000" pitchFamily="2" charset="2"/>
              <a:buChar char="l"/>
              <a:tabLst/>
              <a:defRPr/>
            </a:pPr>
            <a:r>
              <a:rPr lang="en-US" altLang="zh-CN" dirty="0">
                <a:latin typeface="微软雅黑 Light" panose="020B0502040204020203" pitchFamily="34" charset="-122"/>
                <a:ea typeface="微软雅黑 Light" panose="020B0502040204020203" pitchFamily="34" charset="-122"/>
              </a:rPr>
              <a:t>His </a:t>
            </a:r>
            <a:r>
              <a:rPr lang="zh-CN" altLang="en-US" dirty="0">
                <a:latin typeface="微软雅黑 Light" panose="020B0502040204020203" pitchFamily="34" charset="-122"/>
                <a:ea typeface="微软雅黑 Light" panose="020B0502040204020203" pitchFamily="34" charset="-122"/>
              </a:rPr>
              <a:t>主要为兼性离子，极少量阳离子</a:t>
            </a:r>
            <a:endParaRPr lang="en-US" altLang="zh-CN" dirty="0">
              <a:latin typeface="微软雅黑 Light" panose="020B0502040204020203" pitchFamily="34" charset="-122"/>
              <a:ea typeface="微软雅黑 Light" panose="020B0502040204020203" pitchFamily="34" charset="-122"/>
            </a:endParaRPr>
          </a:p>
          <a:p>
            <a:pPr marL="0" marR="0" lvl="0" indent="0" algn="l" defTabSz="914400" rtl="0" eaLnBrk="0" fontAlgn="base" latinLnBrk="0" hangingPunct="0">
              <a:lnSpc>
                <a:spcPct val="100000"/>
              </a:lnSpc>
              <a:spcBef>
                <a:spcPct val="30000"/>
              </a:spcBef>
              <a:spcAft>
                <a:spcPct val="0"/>
              </a:spcAft>
              <a:buClrTx/>
              <a:buSzTx/>
              <a:buFont typeface="Wingdings" panose="05000000000000000000" pitchFamily="2" charset="2"/>
              <a:buChar char="l"/>
              <a:tabLst/>
              <a:defRPr/>
            </a:pPr>
            <a:r>
              <a:rPr lang="en-US" altLang="zh-CN" dirty="0">
                <a:latin typeface="微软雅黑 Light" panose="020B0502040204020203" pitchFamily="34" charset="-122"/>
                <a:ea typeface="微软雅黑 Light" panose="020B0502040204020203" pitchFamily="34" charset="-122"/>
              </a:rPr>
              <a:t>Arg, Lys</a:t>
            </a:r>
            <a:r>
              <a:rPr lang="zh-CN" altLang="en-US" dirty="0">
                <a:latin typeface="微软雅黑 Light" panose="020B0502040204020203" pitchFamily="34" charset="-122"/>
                <a:ea typeface="微软雅黑 Light" panose="020B0502040204020203" pitchFamily="34" charset="-122"/>
              </a:rPr>
              <a:t>呈阳离子</a:t>
            </a:r>
          </a:p>
          <a:p>
            <a:pPr>
              <a:buFont typeface="Wingdings" panose="05000000000000000000" pitchFamily="2" charset="2"/>
              <a:buChar char="l"/>
            </a:pPr>
            <a:r>
              <a:rPr lang="en-US" altLang="zh-CN" dirty="0">
                <a:latin typeface="微软雅黑 Light" panose="020B0502040204020203" pitchFamily="34" charset="-122"/>
                <a:ea typeface="微软雅黑 Light" panose="020B0502040204020203" pitchFamily="34" charset="-122"/>
              </a:rPr>
              <a:t>Asp, Glu</a:t>
            </a:r>
            <a:r>
              <a:rPr lang="zh-CN" altLang="en-US" dirty="0">
                <a:latin typeface="微软雅黑 Light" panose="020B0502040204020203" pitchFamily="34" charset="-122"/>
                <a:ea typeface="微软雅黑 Light" panose="020B0502040204020203" pitchFamily="34" charset="-122"/>
              </a:rPr>
              <a:t>呈阴离子</a:t>
            </a:r>
            <a:endParaRPr lang="en-US" altLang="zh-CN" dirty="0">
              <a:latin typeface="微软雅黑 Light" panose="020B0502040204020203" pitchFamily="34" charset="-122"/>
              <a:ea typeface="微软雅黑 Light" panose="020B0502040204020203" pitchFamily="34" charset="-122"/>
            </a:endParaRPr>
          </a:p>
          <a:p>
            <a:endParaRPr lang="zh-CN" altLang="en-US" dirty="0"/>
          </a:p>
        </p:txBody>
      </p:sp>
      <p:sp>
        <p:nvSpPr>
          <p:cNvPr id="107524" name="日期占位符 3">
            <a:extLst>
              <a:ext uri="{FF2B5EF4-FFF2-40B4-BE49-F238E27FC236}">
                <a16:creationId xmlns:a16="http://schemas.microsoft.com/office/drawing/2014/main" id="{C65AA1F2-49C8-4F71-8BDE-AB746CBED678}"/>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36C993C1-661B-4F6A-907D-21436A6C9573}"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07525" name="灯片编号占位符 4">
            <a:extLst>
              <a:ext uri="{FF2B5EF4-FFF2-40B4-BE49-F238E27FC236}">
                <a16:creationId xmlns:a16="http://schemas.microsoft.com/office/drawing/2014/main" id="{0015D900-9EE5-4D52-BC56-541B6716DD7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C6E7842-8D86-4FF8-A012-1BCB233B06B6}" type="slidenum">
              <a:rPr lang="en-US" altLang="zh-CN" sz="1200" smtClean="0">
                <a:latin typeface="Tahoma" panose="020B0604030504040204" pitchFamily="34" charset="0"/>
              </a:rPr>
              <a:pPr/>
              <a:t>39</a:t>
            </a:fld>
            <a:endParaRPr lang="en-US" altLang="zh-CN" sz="1200">
              <a:latin typeface="Tahoma" panose="020B060403050404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a:extLst>
              <a:ext uri="{FF2B5EF4-FFF2-40B4-BE49-F238E27FC236}">
                <a16:creationId xmlns:a16="http://schemas.microsoft.com/office/drawing/2014/main" id="{972175B0-B22D-4160-9694-4DC78ACC1291}"/>
              </a:ext>
            </a:extLst>
          </p:cNvPr>
          <p:cNvSpPr>
            <a:spLocks noGrp="1" noRot="1" noChangeAspect="1" noChangeArrowheads="1" noTextEdit="1"/>
          </p:cNvSpPr>
          <p:nvPr>
            <p:ph type="sldImg"/>
          </p:nvPr>
        </p:nvSpPr>
        <p:spPr>
          <a:xfrm>
            <a:off x="381000" y="685800"/>
            <a:ext cx="6096000" cy="3429000"/>
          </a:xfrm>
          <a:ln/>
        </p:spPr>
      </p:sp>
      <p:sp>
        <p:nvSpPr>
          <p:cNvPr id="109571" name="备注占位符 2">
            <a:extLst>
              <a:ext uri="{FF2B5EF4-FFF2-40B4-BE49-F238E27FC236}">
                <a16:creationId xmlns:a16="http://schemas.microsoft.com/office/drawing/2014/main" id="{059A9BBC-7A91-457A-9AF7-BC3B232C005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err="1"/>
              <a:t>pK</a:t>
            </a:r>
            <a:r>
              <a:rPr lang="zh-CN" altLang="en-US" dirty="0"/>
              <a:t>： 解离常数的负对数</a:t>
            </a:r>
            <a:endParaRPr lang="en-US" altLang="zh-CN" dirty="0"/>
          </a:p>
          <a:p>
            <a:endParaRPr lang="en-US" altLang="zh-CN" dirty="0"/>
          </a:p>
          <a:p>
            <a:r>
              <a:rPr lang="en-US" altLang="zh-CN" dirty="0"/>
              <a:t>Equilibrium constants for ionization reactions are usually called ionization constants or acid dissociation constants, often designated Ka.</a:t>
            </a:r>
          </a:p>
          <a:p>
            <a:endParaRPr lang="en-US" altLang="zh-CN" dirty="0"/>
          </a:p>
          <a:p>
            <a:r>
              <a:rPr lang="en-US" altLang="zh-CN" b="1" dirty="0"/>
              <a:t>The </a:t>
            </a:r>
            <a:r>
              <a:rPr lang="en-US" altLang="zh-CN" b="1" dirty="0" err="1"/>
              <a:t>pKa</a:t>
            </a:r>
            <a:r>
              <a:rPr lang="en-US" altLang="zh-CN" b="1" dirty="0"/>
              <a:t> </a:t>
            </a:r>
            <a:r>
              <a:rPr lang="en-US" altLang="zh-CN" dirty="0"/>
              <a:t>is a measure of the </a:t>
            </a:r>
            <a:r>
              <a:rPr lang="en-US" altLang="zh-CN" b="1" dirty="0"/>
              <a:t>tendency of a group to give up a proton</a:t>
            </a:r>
            <a:r>
              <a:rPr lang="en-US" altLang="zh-CN" dirty="0"/>
              <a:t>, with that tendency decreasing tenfold as the </a:t>
            </a:r>
            <a:r>
              <a:rPr lang="en-US" altLang="zh-CN" dirty="0" err="1"/>
              <a:t>pKa</a:t>
            </a:r>
            <a:r>
              <a:rPr lang="en-US" altLang="zh-CN" dirty="0"/>
              <a:t> increases by one unit.</a:t>
            </a:r>
          </a:p>
        </p:txBody>
      </p:sp>
      <p:sp>
        <p:nvSpPr>
          <p:cNvPr id="109572" name="日期占位符 3">
            <a:extLst>
              <a:ext uri="{FF2B5EF4-FFF2-40B4-BE49-F238E27FC236}">
                <a16:creationId xmlns:a16="http://schemas.microsoft.com/office/drawing/2014/main" id="{C854E659-ED43-4DBD-801B-DF6BCA678E7C}"/>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999C1BC1-D438-4F79-8EF3-208DB8A35D81}"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09573" name="灯片编号占位符 4">
            <a:extLst>
              <a:ext uri="{FF2B5EF4-FFF2-40B4-BE49-F238E27FC236}">
                <a16:creationId xmlns:a16="http://schemas.microsoft.com/office/drawing/2014/main" id="{423F0C94-1C86-4820-9CED-C03A75154C9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35A9AF2F-D3E1-4CC0-9573-C3722116D71A}" type="slidenum">
              <a:rPr lang="en-US" altLang="zh-CN" sz="1200" smtClean="0">
                <a:latin typeface="Tahoma" panose="020B0604030504040204" pitchFamily="34" charset="0"/>
              </a:rPr>
              <a:pPr/>
              <a:t>40</a:t>
            </a:fld>
            <a:endParaRPr lang="en-US" altLang="zh-CN" sz="1200">
              <a:latin typeface="Tahoma" panose="020B060403050404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3">
            <a:extLst>
              <a:ext uri="{FF2B5EF4-FFF2-40B4-BE49-F238E27FC236}">
                <a16:creationId xmlns:a16="http://schemas.microsoft.com/office/drawing/2014/main" id="{A3EB1CD3-3498-41BB-818A-6E8C58D639D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08BA7F9-D233-4476-B2E4-012A3B7D0391}"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11619" name="Rectangle 7">
            <a:extLst>
              <a:ext uri="{FF2B5EF4-FFF2-40B4-BE49-F238E27FC236}">
                <a16:creationId xmlns:a16="http://schemas.microsoft.com/office/drawing/2014/main" id="{3DFB3238-D000-49EC-9C20-D9FBB23EFA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84E866F-0CF4-46C4-99BC-F6A9E8F69259}" type="slidenum">
              <a:rPr lang="en-US" altLang="zh-CN" sz="1200" smtClean="0">
                <a:latin typeface="Tahoma" panose="020B0604030504040204" pitchFamily="34" charset="0"/>
              </a:rPr>
              <a:pPr/>
              <a:t>41</a:t>
            </a:fld>
            <a:endParaRPr lang="en-US" altLang="zh-CN" sz="1200">
              <a:latin typeface="Tahoma" panose="020B0604030504040204" pitchFamily="34" charset="0"/>
            </a:endParaRPr>
          </a:p>
        </p:txBody>
      </p:sp>
      <p:sp>
        <p:nvSpPr>
          <p:cNvPr id="111620" name="Rectangle 2">
            <a:extLst>
              <a:ext uri="{FF2B5EF4-FFF2-40B4-BE49-F238E27FC236}">
                <a16:creationId xmlns:a16="http://schemas.microsoft.com/office/drawing/2014/main" id="{23DBF475-990C-4639-A861-646D57672D83}"/>
              </a:ext>
            </a:extLst>
          </p:cNvPr>
          <p:cNvSpPr>
            <a:spLocks noGrp="1" noRot="1" noChangeAspect="1" noChangeArrowheads="1" noTextEdit="1"/>
          </p:cNvSpPr>
          <p:nvPr>
            <p:ph type="sldImg"/>
          </p:nvPr>
        </p:nvSpPr>
        <p:spPr>
          <a:xfrm>
            <a:off x="381000" y="685800"/>
            <a:ext cx="6096000" cy="3429000"/>
          </a:xfrm>
          <a:ln/>
        </p:spPr>
      </p:sp>
      <p:sp>
        <p:nvSpPr>
          <p:cNvPr id="111621" name="Rectangle 3">
            <a:extLst>
              <a:ext uri="{FF2B5EF4-FFF2-40B4-BE49-F238E27FC236}">
                <a16:creationId xmlns:a16="http://schemas.microsoft.com/office/drawing/2014/main" id="{3CECB775-44B9-493F-8A23-EA41C7435D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kumimoji="0" lang="zh-CN" altLang="zh-CN" b="1">
              <a:solidFill>
                <a:srgbClr val="FFFFFF"/>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3">
            <a:extLst>
              <a:ext uri="{FF2B5EF4-FFF2-40B4-BE49-F238E27FC236}">
                <a16:creationId xmlns:a16="http://schemas.microsoft.com/office/drawing/2014/main" id="{D1056E35-10B5-402F-9EC5-FD97A0C443B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8FE7348-A473-4BF2-B8E0-4B2B1E9C4750}"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13667" name="Rectangle 7">
            <a:extLst>
              <a:ext uri="{FF2B5EF4-FFF2-40B4-BE49-F238E27FC236}">
                <a16:creationId xmlns:a16="http://schemas.microsoft.com/office/drawing/2014/main" id="{B34F1D23-24C6-4D4C-AF4D-90CF97B419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E7AF4AFA-A3F9-40B4-91B7-10FA87445486}" type="slidenum">
              <a:rPr lang="en-US" altLang="zh-CN" sz="1200" smtClean="0">
                <a:latin typeface="Tahoma" panose="020B0604030504040204" pitchFamily="34" charset="0"/>
              </a:rPr>
              <a:pPr/>
              <a:t>42</a:t>
            </a:fld>
            <a:endParaRPr lang="en-US" altLang="zh-CN" sz="1200">
              <a:latin typeface="Tahoma" panose="020B0604030504040204" pitchFamily="34" charset="0"/>
            </a:endParaRPr>
          </a:p>
        </p:txBody>
      </p:sp>
      <p:sp>
        <p:nvSpPr>
          <p:cNvPr id="113668" name="Rectangle 2">
            <a:extLst>
              <a:ext uri="{FF2B5EF4-FFF2-40B4-BE49-F238E27FC236}">
                <a16:creationId xmlns:a16="http://schemas.microsoft.com/office/drawing/2014/main" id="{DD958964-531A-4B7E-A9F5-C9F4B3854D77}"/>
              </a:ext>
            </a:extLst>
          </p:cNvPr>
          <p:cNvSpPr>
            <a:spLocks noGrp="1" noRot="1" noChangeAspect="1" noChangeArrowheads="1" noTextEdit="1"/>
          </p:cNvSpPr>
          <p:nvPr>
            <p:ph type="sldImg"/>
          </p:nvPr>
        </p:nvSpPr>
        <p:spPr>
          <a:xfrm>
            <a:off x="381000" y="685800"/>
            <a:ext cx="6096000" cy="3429000"/>
          </a:xfrm>
          <a:ln/>
        </p:spPr>
      </p:sp>
      <p:sp>
        <p:nvSpPr>
          <p:cNvPr id="113669" name="Rectangle 3">
            <a:extLst>
              <a:ext uri="{FF2B5EF4-FFF2-40B4-BE49-F238E27FC236}">
                <a16:creationId xmlns:a16="http://schemas.microsoft.com/office/drawing/2014/main" id="{5D8AE61C-AD55-4FAA-80A2-3CBFF03F72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天冬氨酸</a:t>
            </a:r>
            <a:endParaRPr lang="en-US" altLang="zh-CN"/>
          </a:p>
          <a:p>
            <a:pPr eaLnBrk="1" hangingPunct="1"/>
            <a:endParaRPr lang="en-US" altLang="zh-CN"/>
          </a:p>
          <a:p>
            <a:pPr eaLnBrk="1" hangingPunct="1"/>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3">
            <a:extLst>
              <a:ext uri="{FF2B5EF4-FFF2-40B4-BE49-F238E27FC236}">
                <a16:creationId xmlns:a16="http://schemas.microsoft.com/office/drawing/2014/main" id="{13E29055-F348-4EC8-B0C7-2D6CBCEA6B8C}"/>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B81CFB7A-2108-47A9-9FA6-9A8D661AC5EB}"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15715" name="Rectangle 7">
            <a:extLst>
              <a:ext uri="{FF2B5EF4-FFF2-40B4-BE49-F238E27FC236}">
                <a16:creationId xmlns:a16="http://schemas.microsoft.com/office/drawing/2014/main" id="{C912BB2E-8730-436F-ABD0-AB496014FA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BBF04A9-67B4-4756-9765-9EE4F5D1F731}" type="slidenum">
              <a:rPr lang="en-US" altLang="zh-CN" sz="1200" smtClean="0">
                <a:latin typeface="Tahoma" panose="020B0604030504040204" pitchFamily="34" charset="0"/>
              </a:rPr>
              <a:pPr/>
              <a:t>43</a:t>
            </a:fld>
            <a:endParaRPr lang="en-US" altLang="zh-CN" sz="1200">
              <a:latin typeface="Tahoma" panose="020B0604030504040204" pitchFamily="34" charset="0"/>
            </a:endParaRPr>
          </a:p>
        </p:txBody>
      </p:sp>
      <p:sp>
        <p:nvSpPr>
          <p:cNvPr id="115716" name="Rectangle 2">
            <a:extLst>
              <a:ext uri="{FF2B5EF4-FFF2-40B4-BE49-F238E27FC236}">
                <a16:creationId xmlns:a16="http://schemas.microsoft.com/office/drawing/2014/main" id="{7AF4FBA3-057B-4ECB-931E-651E50946DDB}"/>
              </a:ext>
            </a:extLst>
          </p:cNvPr>
          <p:cNvSpPr>
            <a:spLocks noGrp="1" noRot="1" noChangeAspect="1" noChangeArrowheads="1" noTextEdit="1"/>
          </p:cNvSpPr>
          <p:nvPr>
            <p:ph type="sldImg"/>
          </p:nvPr>
        </p:nvSpPr>
        <p:spPr>
          <a:xfrm>
            <a:off x="381000" y="685800"/>
            <a:ext cx="6096000" cy="3429000"/>
          </a:xfrm>
          <a:ln/>
        </p:spPr>
      </p:sp>
      <p:sp>
        <p:nvSpPr>
          <p:cNvPr id="115717" name="Rectangle 3">
            <a:extLst>
              <a:ext uri="{FF2B5EF4-FFF2-40B4-BE49-F238E27FC236}">
                <a16:creationId xmlns:a16="http://schemas.microsoft.com/office/drawing/2014/main" id="{9C890654-211C-4A1D-9A0C-7C4654001B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赖氨酸</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3">
            <a:extLst>
              <a:ext uri="{FF2B5EF4-FFF2-40B4-BE49-F238E27FC236}">
                <a16:creationId xmlns:a16="http://schemas.microsoft.com/office/drawing/2014/main" id="{3264BC1C-E3CC-4E32-9622-47374C60F588}"/>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7654A638-9928-4FEF-B2A9-5ACAD1AFBD24}"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17763" name="Rectangle 7">
            <a:extLst>
              <a:ext uri="{FF2B5EF4-FFF2-40B4-BE49-F238E27FC236}">
                <a16:creationId xmlns:a16="http://schemas.microsoft.com/office/drawing/2014/main" id="{703732FD-C6AE-4408-A751-95D9E75DF1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02F3FAE1-9049-4E11-9FA1-E793732C6A95}" type="slidenum">
              <a:rPr lang="en-US" altLang="zh-CN" sz="1200" smtClean="0">
                <a:latin typeface="Tahoma" panose="020B0604030504040204" pitchFamily="34" charset="0"/>
              </a:rPr>
              <a:pPr/>
              <a:t>44</a:t>
            </a:fld>
            <a:endParaRPr lang="en-US" altLang="zh-CN" sz="1200">
              <a:latin typeface="Tahoma" panose="020B0604030504040204" pitchFamily="34" charset="0"/>
            </a:endParaRPr>
          </a:p>
        </p:txBody>
      </p:sp>
      <p:sp>
        <p:nvSpPr>
          <p:cNvPr id="117764" name="Rectangle 2">
            <a:extLst>
              <a:ext uri="{FF2B5EF4-FFF2-40B4-BE49-F238E27FC236}">
                <a16:creationId xmlns:a16="http://schemas.microsoft.com/office/drawing/2014/main" id="{0B61A703-6947-4019-AAAC-77A9D1704AA9}"/>
              </a:ext>
            </a:extLst>
          </p:cNvPr>
          <p:cNvSpPr>
            <a:spLocks noGrp="1" noRot="1" noChangeAspect="1" noChangeArrowheads="1" noTextEdit="1"/>
          </p:cNvSpPr>
          <p:nvPr>
            <p:ph type="sldImg"/>
          </p:nvPr>
        </p:nvSpPr>
        <p:spPr>
          <a:xfrm>
            <a:off x="381000" y="685800"/>
            <a:ext cx="6096000" cy="3429000"/>
          </a:xfrm>
          <a:ln/>
        </p:spPr>
      </p:sp>
      <p:sp>
        <p:nvSpPr>
          <p:cNvPr id="117765" name="Rectangle 3">
            <a:extLst>
              <a:ext uri="{FF2B5EF4-FFF2-40B4-BE49-F238E27FC236}">
                <a16:creationId xmlns:a16="http://schemas.microsoft.com/office/drawing/2014/main" id="{9079D914-7A1C-42C9-8C16-F16B046A20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3">
            <a:extLst>
              <a:ext uri="{FF2B5EF4-FFF2-40B4-BE49-F238E27FC236}">
                <a16:creationId xmlns:a16="http://schemas.microsoft.com/office/drawing/2014/main" id="{D85D172B-F545-4939-B24F-F6550E2621C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53C02BC-719A-4B53-9D9B-994D236B9B9F}"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19811" name="Rectangle 7">
            <a:extLst>
              <a:ext uri="{FF2B5EF4-FFF2-40B4-BE49-F238E27FC236}">
                <a16:creationId xmlns:a16="http://schemas.microsoft.com/office/drawing/2014/main" id="{278F3A76-FF72-44A9-93DC-56B2960610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B3D41E85-77BC-4F35-8BA6-9A396A8616A1}" type="slidenum">
              <a:rPr lang="en-US" altLang="zh-CN" sz="1200" smtClean="0">
                <a:latin typeface="Tahoma" panose="020B0604030504040204" pitchFamily="34" charset="0"/>
              </a:rPr>
              <a:pPr/>
              <a:t>45</a:t>
            </a:fld>
            <a:endParaRPr lang="en-US" altLang="zh-CN" sz="1200">
              <a:latin typeface="Tahoma" panose="020B0604030504040204" pitchFamily="34" charset="0"/>
            </a:endParaRPr>
          </a:p>
        </p:txBody>
      </p:sp>
      <p:sp>
        <p:nvSpPr>
          <p:cNvPr id="119812" name="Rectangle 2">
            <a:extLst>
              <a:ext uri="{FF2B5EF4-FFF2-40B4-BE49-F238E27FC236}">
                <a16:creationId xmlns:a16="http://schemas.microsoft.com/office/drawing/2014/main" id="{E65DD3BF-E6ED-4CE5-9AFF-C02899351E77}"/>
              </a:ext>
            </a:extLst>
          </p:cNvPr>
          <p:cNvSpPr>
            <a:spLocks noGrp="1" noRot="1" noChangeAspect="1" noChangeArrowheads="1" noTextEdit="1"/>
          </p:cNvSpPr>
          <p:nvPr>
            <p:ph type="sldImg"/>
          </p:nvPr>
        </p:nvSpPr>
        <p:spPr>
          <a:xfrm>
            <a:off x="381000" y="685800"/>
            <a:ext cx="6096000" cy="3429000"/>
          </a:xfrm>
          <a:ln/>
        </p:spPr>
      </p:sp>
      <p:sp>
        <p:nvSpPr>
          <p:cNvPr id="119813" name="Rectangle 3">
            <a:extLst>
              <a:ext uri="{FF2B5EF4-FFF2-40B4-BE49-F238E27FC236}">
                <a16:creationId xmlns:a16="http://schemas.microsoft.com/office/drawing/2014/main" id="{C7F40A00-34DF-420E-AA05-5DF922BC0B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lang="zh-CN" altLang="en-US" dirty="0">
                <a:latin typeface="楷体_GB2312" pitchFamily="49" charset="-122"/>
                <a:ea typeface="楷体_GB2312" pitchFamily="49" charset="-122"/>
              </a:rPr>
              <a:t>最简便快速的蛋白定量方法，但不精确，不适合不含</a:t>
            </a:r>
            <a:r>
              <a:rPr lang="en-US" altLang="zh-CN" dirty="0" err="1">
                <a:latin typeface="楷体_GB2312" pitchFamily="49" charset="-122"/>
                <a:ea typeface="楷体_GB2312" pitchFamily="49" charset="-122"/>
              </a:rPr>
              <a:t>Trp</a:t>
            </a:r>
            <a:r>
              <a:rPr lang="en-US" altLang="zh-CN" dirty="0">
                <a:latin typeface="楷体_GB2312" pitchFamily="49" charset="-122"/>
                <a:ea typeface="楷体_GB2312" pitchFamily="49" charset="-122"/>
              </a:rPr>
              <a:t>/Tyr</a:t>
            </a:r>
            <a:r>
              <a:rPr lang="zh-CN" altLang="en-US" dirty="0">
                <a:latin typeface="楷体_GB2312" pitchFamily="49" charset="-122"/>
                <a:ea typeface="楷体_GB2312" pitchFamily="49" charset="-122"/>
              </a:rPr>
              <a:t>的蛋白质，虽然大多数</a:t>
            </a:r>
            <a:r>
              <a:rPr lang="en-US" altLang="zh-CN" dirty="0" err="1">
                <a:latin typeface="楷体_GB2312" pitchFamily="49" charset="-122"/>
                <a:ea typeface="楷体_GB2312" pitchFamily="49" charset="-122"/>
              </a:rPr>
              <a:t>Pr</a:t>
            </a:r>
            <a:r>
              <a:rPr lang="zh-CN" altLang="en-US" dirty="0">
                <a:latin typeface="楷体_GB2312" pitchFamily="49" charset="-122"/>
                <a:ea typeface="楷体_GB2312" pitchFamily="49" charset="-122"/>
              </a:rPr>
              <a:t>中均含有</a:t>
            </a:r>
            <a:r>
              <a:rPr lang="en-US" altLang="zh-CN" dirty="0" err="1">
                <a:latin typeface="楷体_GB2312" pitchFamily="49" charset="-122"/>
                <a:ea typeface="楷体_GB2312" pitchFamily="49" charset="-122"/>
              </a:rPr>
              <a:t>Trp</a:t>
            </a:r>
            <a:r>
              <a:rPr lang="zh-CN" altLang="en-US" dirty="0">
                <a:latin typeface="楷体_GB2312" pitchFamily="49" charset="-122"/>
                <a:ea typeface="楷体_GB2312" pitchFamily="49" charset="-122"/>
              </a:rPr>
              <a:t>和</a:t>
            </a:r>
            <a:r>
              <a:rPr lang="en-US" altLang="zh-CN" dirty="0">
                <a:latin typeface="楷体_GB2312" pitchFamily="49" charset="-122"/>
                <a:ea typeface="楷体_GB2312" pitchFamily="49" charset="-122"/>
              </a:rPr>
              <a:t>Tyr</a:t>
            </a:r>
            <a:r>
              <a:rPr lang="zh-CN" altLang="en-US" dirty="0">
                <a:latin typeface="楷体_GB2312" pitchFamily="49" charset="-122"/>
                <a:ea typeface="楷体_GB2312" pitchFamily="49" charset="-122"/>
              </a:rPr>
              <a:t>。</a:t>
            </a:r>
            <a:endParaRPr lang="en-US" altLang="zh-CN" dirty="0">
              <a:latin typeface="楷体_GB2312" pitchFamily="49" charset="-122"/>
              <a:ea typeface="楷体_GB2312" pitchFamily="49" charset="-122"/>
            </a:endParaRPr>
          </a:p>
          <a:p>
            <a:pPr algn="just" eaLnBrk="1" hangingPunct="1"/>
            <a:endParaRPr lang="en-US" altLang="zh-CN" dirty="0">
              <a:latin typeface="楷体_GB2312" pitchFamily="49" charset="-122"/>
              <a:ea typeface="楷体_GB2312" pitchFamily="49" charset="-122"/>
            </a:endParaRPr>
          </a:p>
          <a:p>
            <a:pPr algn="just" eaLnBrk="1" hangingPunct="1"/>
            <a:r>
              <a:rPr lang="zh-CN" altLang="en-US" dirty="0">
                <a:latin typeface="楷体_GB2312" pitchFamily="49" charset="-122"/>
                <a:ea typeface="楷体_GB2312" pitchFamily="49" charset="-122"/>
              </a:rPr>
              <a:t>有的练习资料里提紫外吸收时，笼统地说芳香族氨基酸吸收强。 </a:t>
            </a:r>
            <a:endParaRPr lang="en-US" altLang="zh-CN" dirty="0">
              <a:latin typeface="楷体_GB2312" pitchFamily="49" charset="-122"/>
              <a:ea typeface="楷体_GB2312" pitchFamily="49"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3">
            <a:extLst>
              <a:ext uri="{FF2B5EF4-FFF2-40B4-BE49-F238E27FC236}">
                <a16:creationId xmlns:a16="http://schemas.microsoft.com/office/drawing/2014/main" id="{16172FC1-13BE-4B4F-A172-32012370DE0B}"/>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F3C53D01-F312-4C6C-BE23-0E7626A5618E}"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21859" name="Rectangle 7">
            <a:extLst>
              <a:ext uri="{FF2B5EF4-FFF2-40B4-BE49-F238E27FC236}">
                <a16:creationId xmlns:a16="http://schemas.microsoft.com/office/drawing/2014/main" id="{4F8FBBE7-1214-4BD3-9587-E74FED624A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EF25C096-96F0-44F5-9D3C-AA3A3B3C71DB}" type="slidenum">
              <a:rPr lang="en-US" altLang="zh-CN" sz="1200" smtClean="0">
                <a:latin typeface="Tahoma" panose="020B0604030504040204" pitchFamily="34" charset="0"/>
              </a:rPr>
              <a:pPr/>
              <a:t>46</a:t>
            </a:fld>
            <a:endParaRPr lang="en-US" altLang="zh-CN" sz="1200">
              <a:latin typeface="Tahoma" panose="020B0604030504040204" pitchFamily="34" charset="0"/>
            </a:endParaRPr>
          </a:p>
        </p:txBody>
      </p:sp>
      <p:sp>
        <p:nvSpPr>
          <p:cNvPr id="121860" name="Rectangle 2">
            <a:extLst>
              <a:ext uri="{FF2B5EF4-FFF2-40B4-BE49-F238E27FC236}">
                <a16:creationId xmlns:a16="http://schemas.microsoft.com/office/drawing/2014/main" id="{14692591-8A3D-4DAF-B77D-F535F006E8C1}"/>
              </a:ext>
            </a:extLst>
          </p:cNvPr>
          <p:cNvSpPr>
            <a:spLocks noGrp="1" noRot="1" noChangeAspect="1" noChangeArrowheads="1" noTextEdit="1"/>
          </p:cNvSpPr>
          <p:nvPr>
            <p:ph type="sldImg"/>
          </p:nvPr>
        </p:nvSpPr>
        <p:spPr>
          <a:xfrm>
            <a:off x="381000" y="685800"/>
            <a:ext cx="6096000" cy="3429000"/>
          </a:xfrm>
          <a:ln/>
        </p:spPr>
      </p:sp>
      <p:sp>
        <p:nvSpPr>
          <p:cNvPr id="121861" name="Rectangle 3">
            <a:extLst>
              <a:ext uri="{FF2B5EF4-FFF2-40B4-BE49-F238E27FC236}">
                <a16:creationId xmlns:a16="http://schemas.microsoft.com/office/drawing/2014/main" id="{458F0710-23EC-4E32-AD73-729EA3AFA9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solidFill>
                  <a:srgbClr val="FF0000"/>
                </a:solidFill>
                <a:latin typeface="宋体" panose="02010600030101010101" pitchFamily="2" charset="-122"/>
              </a:rPr>
              <a:t>蓝紫色化合物</a:t>
            </a:r>
            <a:r>
              <a:rPr lang="zh-CN" altLang="en-US" dirty="0"/>
              <a:t>最大吸收峰在</a:t>
            </a:r>
            <a:r>
              <a:rPr lang="en-US" altLang="zh-CN" dirty="0"/>
              <a:t>570nm</a:t>
            </a:r>
            <a:r>
              <a:rPr lang="zh-CN" altLang="en-US" dirty="0"/>
              <a:t>处。　　此吸收峰值与氨基酸释放出的氨量成正比关系，因此可作为氨基酸定量分析方法。</a:t>
            </a:r>
            <a:endParaRPr lang="en-US" altLang="zh-CN" dirty="0"/>
          </a:p>
          <a:p>
            <a:pPr eaLnBrk="1" hangingPunct="1"/>
            <a:endParaRPr lang="zh-CN" altLang="en-US" b="1" dirty="0"/>
          </a:p>
          <a:p>
            <a:pPr eaLnBrk="1" hangingPunct="1"/>
            <a:r>
              <a:rPr lang="zh-CN" altLang="en-US" dirty="0"/>
              <a:t>所有氨基酸及具有游离</a:t>
            </a:r>
            <a:r>
              <a:rPr lang="en-US" altLang="zh-CN" dirty="0"/>
              <a:t>α-</a:t>
            </a:r>
            <a:r>
              <a:rPr lang="zh-CN" altLang="en-US" dirty="0"/>
              <a:t>氨基和</a:t>
            </a:r>
            <a:r>
              <a:rPr lang="en-US" altLang="zh-CN" dirty="0"/>
              <a:t>α-</a:t>
            </a:r>
            <a:r>
              <a:rPr lang="zh-CN" altLang="en-US" dirty="0"/>
              <a:t>羧基的肽与茚三酮反应都产生蓝紫色物质。</a:t>
            </a:r>
            <a:endParaRPr lang="zh-CN" altLang="en-US" b="1" dirty="0"/>
          </a:p>
          <a:p>
            <a:pPr eaLnBrk="1" hangingPunct="1"/>
            <a:endParaRPr lang="en-US" altLang="zh-CN" b="1" dirty="0"/>
          </a:p>
          <a:p>
            <a:pPr eaLnBrk="1" hangingPunct="1"/>
            <a:endParaRPr lang="en-US" altLang="zh-CN"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幻灯片图像占位符 1">
            <a:extLst>
              <a:ext uri="{FF2B5EF4-FFF2-40B4-BE49-F238E27FC236}">
                <a16:creationId xmlns:a16="http://schemas.microsoft.com/office/drawing/2014/main" id="{A321FD74-790E-4668-A739-1080CD8CDACE}"/>
              </a:ext>
            </a:extLst>
          </p:cNvPr>
          <p:cNvSpPr>
            <a:spLocks noGrp="1" noRot="1" noChangeAspect="1" noChangeArrowheads="1" noTextEdit="1"/>
          </p:cNvSpPr>
          <p:nvPr>
            <p:ph type="sldImg"/>
          </p:nvPr>
        </p:nvSpPr>
        <p:spPr>
          <a:xfrm>
            <a:off x="381000" y="685800"/>
            <a:ext cx="6096000" cy="3429000"/>
          </a:xfrm>
          <a:ln/>
        </p:spPr>
      </p:sp>
      <p:sp>
        <p:nvSpPr>
          <p:cNvPr id="126979" name="备注占位符 2">
            <a:extLst>
              <a:ext uri="{FF2B5EF4-FFF2-40B4-BE49-F238E27FC236}">
                <a16:creationId xmlns:a16="http://schemas.microsoft.com/office/drawing/2014/main" id="{62639AB7-BCC3-44A2-A2DF-0698629635D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比如</a:t>
            </a:r>
            <a:r>
              <a:rPr lang="en-US" altLang="zh-CN" dirty="0"/>
              <a:t>GSH</a:t>
            </a:r>
            <a:r>
              <a:rPr lang="zh-CN" altLang="en-US" dirty="0"/>
              <a:t>中</a:t>
            </a:r>
            <a:r>
              <a:rPr lang="en-US" altLang="zh-CN" dirty="0"/>
              <a:t>Glu</a:t>
            </a:r>
            <a:r>
              <a:rPr lang="zh-CN" altLang="en-US" dirty="0"/>
              <a:t>以</a:t>
            </a:r>
            <a:r>
              <a:rPr lang="en-US" altLang="zh-CN" dirty="0"/>
              <a:t>γ</a:t>
            </a:r>
            <a:r>
              <a:rPr lang="zh-CN" altLang="en-US" dirty="0"/>
              <a:t>羧基与</a:t>
            </a:r>
            <a:r>
              <a:rPr lang="en-US" altLang="zh-CN" dirty="0" err="1"/>
              <a:t>Cys</a:t>
            </a:r>
            <a:r>
              <a:rPr lang="zh-CN" altLang="en-US" dirty="0"/>
              <a:t>的氨基反应生成肽键就是异肽键。</a:t>
            </a:r>
            <a:endParaRPr lang="en-US" altLang="zh-CN" dirty="0"/>
          </a:p>
          <a:p>
            <a:endParaRPr lang="en-US" altLang="zh-CN" dirty="0"/>
          </a:p>
          <a:p>
            <a:r>
              <a:rPr lang="zh-CN" altLang="en-US" dirty="0"/>
              <a:t>比如泛素与待降解蛋白的连接即通过异肽键（泛素</a:t>
            </a:r>
            <a:r>
              <a:rPr lang="en-US" altLang="zh-CN" dirty="0"/>
              <a:t>C</a:t>
            </a:r>
            <a:r>
              <a:rPr lang="zh-CN" altLang="en-US" dirty="0"/>
              <a:t>端羧基与待降解蛋白的</a:t>
            </a:r>
            <a:r>
              <a:rPr lang="en-US" altLang="zh-CN" dirty="0"/>
              <a:t>Lys</a:t>
            </a:r>
            <a:r>
              <a:rPr lang="zh-CN" altLang="en-US" dirty="0"/>
              <a:t>侧链上的氨基生成异肽键，泛素分子本身有多个</a:t>
            </a:r>
            <a:r>
              <a:rPr lang="en-US" altLang="zh-CN" dirty="0"/>
              <a:t>Lys, </a:t>
            </a:r>
            <a:r>
              <a:rPr lang="zh-CN" altLang="en-US" dirty="0"/>
              <a:t>与其它泛素分子之间亦可通过异肽键相连。）</a:t>
            </a:r>
            <a:endParaRPr lang="en-US" altLang="zh-CN" dirty="0"/>
          </a:p>
          <a:p>
            <a:endParaRPr lang="en-US" altLang="zh-CN" dirty="0"/>
          </a:p>
          <a:p>
            <a:r>
              <a:rPr lang="zh-CN" altLang="en-US" b="1" dirty="0"/>
              <a:t>以异肽键相连的肽都不在核糖体上生成 </a:t>
            </a:r>
          </a:p>
        </p:txBody>
      </p:sp>
      <p:sp>
        <p:nvSpPr>
          <p:cNvPr id="126980" name="日期占位符 3">
            <a:extLst>
              <a:ext uri="{FF2B5EF4-FFF2-40B4-BE49-F238E27FC236}">
                <a16:creationId xmlns:a16="http://schemas.microsoft.com/office/drawing/2014/main" id="{47A262E4-2B0D-461E-8795-7945D4FBACB8}"/>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00EEBC9-369F-428A-A114-C2A74CC5404A}"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26981" name="灯片编号占位符 4">
            <a:extLst>
              <a:ext uri="{FF2B5EF4-FFF2-40B4-BE49-F238E27FC236}">
                <a16:creationId xmlns:a16="http://schemas.microsoft.com/office/drawing/2014/main" id="{9A703E99-A049-4508-B9A5-48428C848E2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7A4EC6D0-94B4-4907-8DDC-0E1D7B88AC38}" type="slidenum">
              <a:rPr lang="en-US" altLang="zh-CN" sz="1200" smtClean="0">
                <a:latin typeface="Tahoma" panose="020B0604030504040204" pitchFamily="34" charset="0"/>
              </a:rPr>
              <a:pPr/>
              <a:t>47</a:t>
            </a:fld>
            <a:endParaRPr lang="en-US" altLang="zh-CN" sz="1200">
              <a:latin typeface="Tahoma" panose="020B0604030504040204"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3">
            <a:extLst>
              <a:ext uri="{FF2B5EF4-FFF2-40B4-BE49-F238E27FC236}">
                <a16:creationId xmlns:a16="http://schemas.microsoft.com/office/drawing/2014/main" id="{4730AEF8-9E56-4BFA-87B0-9C8E0CA625A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BAC79D33-45B2-4663-AA51-3E0BDC99CFD4}"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29027" name="Rectangle 7">
            <a:extLst>
              <a:ext uri="{FF2B5EF4-FFF2-40B4-BE49-F238E27FC236}">
                <a16:creationId xmlns:a16="http://schemas.microsoft.com/office/drawing/2014/main" id="{FFBC5E5E-D2CF-440B-94C0-88342A30D43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4C727CC-AF5E-42FB-848E-4A474F5F105D}" type="slidenum">
              <a:rPr lang="en-US" altLang="zh-CN" sz="1200" smtClean="0">
                <a:latin typeface="Tahoma" panose="020B0604030504040204" pitchFamily="34" charset="0"/>
              </a:rPr>
              <a:pPr/>
              <a:t>48</a:t>
            </a:fld>
            <a:endParaRPr lang="en-US" altLang="zh-CN" sz="1200">
              <a:latin typeface="Tahoma" panose="020B0604030504040204" pitchFamily="34" charset="0"/>
            </a:endParaRPr>
          </a:p>
        </p:txBody>
      </p:sp>
      <p:sp>
        <p:nvSpPr>
          <p:cNvPr id="129028" name="Rectangle 2">
            <a:extLst>
              <a:ext uri="{FF2B5EF4-FFF2-40B4-BE49-F238E27FC236}">
                <a16:creationId xmlns:a16="http://schemas.microsoft.com/office/drawing/2014/main" id="{8D1ED672-5493-4847-830A-7CBB45AB2AD7}"/>
              </a:ext>
            </a:extLst>
          </p:cNvPr>
          <p:cNvSpPr>
            <a:spLocks noGrp="1" noRot="1" noChangeAspect="1" noChangeArrowheads="1" noTextEdit="1"/>
          </p:cNvSpPr>
          <p:nvPr>
            <p:ph type="sldImg"/>
          </p:nvPr>
        </p:nvSpPr>
        <p:spPr>
          <a:xfrm>
            <a:off x="381000" y="685800"/>
            <a:ext cx="6096000" cy="3429000"/>
          </a:xfrm>
          <a:ln/>
        </p:spPr>
      </p:sp>
      <p:sp>
        <p:nvSpPr>
          <p:cNvPr id="129029" name="Rectangle 3">
            <a:extLst>
              <a:ext uri="{FF2B5EF4-FFF2-40B4-BE49-F238E27FC236}">
                <a16:creationId xmlns:a16="http://schemas.microsoft.com/office/drawing/2014/main" id="{1695263D-F464-4669-9F59-009D5F90ED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楷体_GB2312" pitchFamily="49" charset="-122"/>
                <a:ea typeface="楷体_GB2312" pitchFamily="49" charset="-122"/>
              </a:rPr>
              <a:t>肽仍有游离的氨基和羧基，可进一步与其他</a:t>
            </a:r>
            <a:r>
              <a:rPr lang="en-US" altLang="zh-CN" dirty="0">
                <a:latin typeface="楷体_GB2312" pitchFamily="49" charset="-122"/>
                <a:ea typeface="楷体_GB2312" pitchFamily="49" charset="-122"/>
              </a:rPr>
              <a:t>aa</a:t>
            </a:r>
            <a:r>
              <a:rPr lang="zh-CN" altLang="en-US" dirty="0">
                <a:latin typeface="楷体_GB2312" pitchFamily="49" charset="-122"/>
                <a:ea typeface="楷体_GB2312" pitchFamily="49" charset="-122"/>
              </a:rPr>
              <a:t>或肽作用形成新的肽键。</a:t>
            </a:r>
            <a:endParaRPr lang="en-US" altLang="zh-CN" dirty="0">
              <a:latin typeface="楷体_GB2312" pitchFamily="49" charset="-122"/>
              <a:ea typeface="楷体_GB2312" pitchFamily="49" charset="-122"/>
            </a:endParaRPr>
          </a:p>
          <a:p>
            <a:pPr eaLnBrk="1" hangingPunct="1"/>
            <a:endParaRPr lang="en-US" altLang="zh-CN" dirty="0">
              <a:latin typeface="楷体_GB2312" pitchFamily="49" charset="-122"/>
              <a:ea typeface="楷体_GB2312" pitchFamily="49"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3">
            <a:extLst>
              <a:ext uri="{FF2B5EF4-FFF2-40B4-BE49-F238E27FC236}">
                <a16:creationId xmlns:a16="http://schemas.microsoft.com/office/drawing/2014/main" id="{9D2AD2DA-6D43-407C-81D2-502DE294526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B8C50E00-A232-4D21-BBAF-0505481C3C0D}"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31075" name="Rectangle 7">
            <a:extLst>
              <a:ext uri="{FF2B5EF4-FFF2-40B4-BE49-F238E27FC236}">
                <a16:creationId xmlns:a16="http://schemas.microsoft.com/office/drawing/2014/main" id="{99F0ACD2-CFC4-4DCC-B4EF-1AFB16DA62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44584922-1C20-46EA-A2D0-35CC4B8EE1A5}" type="slidenum">
              <a:rPr lang="en-US" altLang="zh-CN" sz="1200" smtClean="0">
                <a:latin typeface="Tahoma" panose="020B0604030504040204" pitchFamily="34" charset="0"/>
              </a:rPr>
              <a:pPr/>
              <a:t>49</a:t>
            </a:fld>
            <a:endParaRPr lang="en-US" altLang="zh-CN" sz="1200">
              <a:latin typeface="Tahoma" panose="020B0604030504040204" pitchFamily="34" charset="0"/>
            </a:endParaRPr>
          </a:p>
        </p:txBody>
      </p:sp>
      <p:sp>
        <p:nvSpPr>
          <p:cNvPr id="131076" name="Rectangle 2">
            <a:extLst>
              <a:ext uri="{FF2B5EF4-FFF2-40B4-BE49-F238E27FC236}">
                <a16:creationId xmlns:a16="http://schemas.microsoft.com/office/drawing/2014/main" id="{7AD29DA1-B2B9-43D7-8DEC-03C4801D1101}"/>
              </a:ext>
            </a:extLst>
          </p:cNvPr>
          <p:cNvSpPr>
            <a:spLocks noGrp="1" noRot="1" noChangeAspect="1" noChangeArrowheads="1" noTextEdit="1"/>
          </p:cNvSpPr>
          <p:nvPr>
            <p:ph type="sldImg"/>
          </p:nvPr>
        </p:nvSpPr>
        <p:spPr>
          <a:xfrm>
            <a:off x="381000" y="685800"/>
            <a:ext cx="6096000" cy="3429000"/>
          </a:xfrm>
          <a:ln/>
        </p:spPr>
      </p:sp>
      <p:sp>
        <p:nvSpPr>
          <p:cNvPr id="131077" name="Rectangle 3">
            <a:extLst>
              <a:ext uri="{FF2B5EF4-FFF2-40B4-BE49-F238E27FC236}">
                <a16:creationId xmlns:a16="http://schemas.microsoft.com/office/drawing/2014/main" id="{80B5B927-C6F8-419F-B60F-15689DE659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20000"/>
              </a:lnSpc>
            </a:pPr>
            <a:r>
              <a:rPr lang="zh-CN" altLang="en-US" dirty="0">
                <a:latin typeface="楷体_GB2312" pitchFamily="49" charset="-122"/>
                <a:ea typeface="楷体_GB2312" pitchFamily="49" charset="-122"/>
              </a:rPr>
              <a:t>教材中关于寡肽和多肽的区别以</a:t>
            </a:r>
            <a:r>
              <a:rPr lang="en-US" altLang="zh-CN" dirty="0">
                <a:latin typeface="楷体_GB2312" pitchFamily="49" charset="-122"/>
                <a:ea typeface="楷体_GB2312" pitchFamily="49" charset="-122"/>
              </a:rPr>
              <a:t>20</a:t>
            </a:r>
            <a:r>
              <a:rPr lang="zh-CN" altLang="en-US" dirty="0">
                <a:latin typeface="楷体_GB2312" pitchFamily="49" charset="-122"/>
                <a:ea typeface="楷体_GB2312" pitchFamily="49" charset="-122"/>
              </a:rPr>
              <a:t>个</a:t>
            </a:r>
            <a:r>
              <a:rPr lang="en-US" altLang="zh-CN" dirty="0">
                <a:latin typeface="楷体_GB2312" pitchFamily="49" charset="-122"/>
                <a:ea typeface="楷体_GB2312" pitchFamily="49" charset="-122"/>
              </a:rPr>
              <a:t>aa</a:t>
            </a:r>
            <a:r>
              <a:rPr lang="zh-CN" altLang="en-US" dirty="0">
                <a:latin typeface="楷体_GB2312" pitchFamily="49" charset="-122"/>
                <a:ea typeface="楷体_GB2312" pitchFamily="49" charset="-122"/>
              </a:rPr>
              <a:t>为界。</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a:extLst>
              <a:ext uri="{FF2B5EF4-FFF2-40B4-BE49-F238E27FC236}">
                <a16:creationId xmlns:a16="http://schemas.microsoft.com/office/drawing/2014/main" id="{C1C8AA87-72A2-454D-917B-4830DE5121F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B30010D0-C203-44D7-9889-0D8A95FA989D}" type="slidenum">
              <a:rPr lang="en-US" altLang="zh-CN" sz="1200" smtClean="0">
                <a:latin typeface="Tahoma" panose="020B0604030504040204" pitchFamily="34" charset="0"/>
              </a:rPr>
              <a:pPr/>
              <a:t>50</a:t>
            </a:fld>
            <a:endParaRPr lang="en-US" altLang="zh-CN" sz="1200">
              <a:latin typeface="Tahoma" panose="020B0604030504040204" pitchFamily="34" charset="0"/>
            </a:endParaRPr>
          </a:p>
        </p:txBody>
      </p:sp>
      <p:sp>
        <p:nvSpPr>
          <p:cNvPr id="133123" name="Rectangle 2">
            <a:extLst>
              <a:ext uri="{FF2B5EF4-FFF2-40B4-BE49-F238E27FC236}">
                <a16:creationId xmlns:a16="http://schemas.microsoft.com/office/drawing/2014/main" id="{73DC35D4-128E-4A34-8F9D-C51B25BE8F7B}"/>
              </a:ext>
            </a:extLst>
          </p:cNvPr>
          <p:cNvSpPr>
            <a:spLocks noGrp="1" noRot="1" noChangeAspect="1" noChangeArrowheads="1" noTextEdit="1"/>
          </p:cNvSpPr>
          <p:nvPr>
            <p:ph type="sldImg"/>
          </p:nvPr>
        </p:nvSpPr>
        <p:spPr>
          <a:xfrm>
            <a:off x="381000" y="685800"/>
            <a:ext cx="6096000" cy="3429000"/>
          </a:xfrm>
          <a:ln/>
        </p:spPr>
      </p:sp>
      <p:sp>
        <p:nvSpPr>
          <p:cNvPr id="133124" name="Rectangle 3">
            <a:extLst>
              <a:ext uri="{FF2B5EF4-FFF2-40B4-BE49-F238E27FC236}">
                <a16:creationId xmlns:a16="http://schemas.microsoft.com/office/drawing/2014/main" id="{84DF38D2-4534-48D4-A06D-A83CCF3587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如果顺序反过来，写成</a:t>
            </a:r>
            <a:r>
              <a:rPr lang="en-US" altLang="zh-CN" dirty="0"/>
              <a:t>Leu-Ala-Tyr-</a:t>
            </a:r>
            <a:r>
              <a:rPr lang="en-US" altLang="zh-CN" dirty="0" err="1"/>
              <a:t>Gly</a:t>
            </a:r>
            <a:r>
              <a:rPr lang="en-US" altLang="zh-CN" dirty="0"/>
              <a:t>-Ser</a:t>
            </a:r>
            <a:r>
              <a:rPr lang="zh-CN" altLang="en-US" dirty="0"/>
              <a:t>，则是完全不同的另一个五肽。  </a:t>
            </a:r>
            <a:endParaRPr lang="en-US" altLang="zh-CN"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3">
            <a:extLst>
              <a:ext uri="{FF2B5EF4-FFF2-40B4-BE49-F238E27FC236}">
                <a16:creationId xmlns:a16="http://schemas.microsoft.com/office/drawing/2014/main" id="{3A03FE86-2C69-4FAF-BE14-49C744B95C2B}"/>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458CF030-2990-4C9B-9AA8-7EA6A56DB8EB}"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35171" name="Rectangle 7">
            <a:extLst>
              <a:ext uri="{FF2B5EF4-FFF2-40B4-BE49-F238E27FC236}">
                <a16:creationId xmlns:a16="http://schemas.microsoft.com/office/drawing/2014/main" id="{63720645-D331-4588-8CFA-5601E7424C4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5EBB760-AC3F-4A4B-9CA5-9E7900DCA74D}" type="slidenum">
              <a:rPr lang="en-US" altLang="zh-CN" sz="1200" smtClean="0">
                <a:latin typeface="Tahoma" panose="020B0604030504040204" pitchFamily="34" charset="0"/>
              </a:rPr>
              <a:pPr/>
              <a:t>51</a:t>
            </a:fld>
            <a:endParaRPr lang="en-US" altLang="zh-CN" sz="1200">
              <a:latin typeface="Tahoma" panose="020B0604030504040204" pitchFamily="34" charset="0"/>
            </a:endParaRPr>
          </a:p>
        </p:txBody>
      </p:sp>
      <p:sp>
        <p:nvSpPr>
          <p:cNvPr id="135172" name="Rectangle 2">
            <a:extLst>
              <a:ext uri="{FF2B5EF4-FFF2-40B4-BE49-F238E27FC236}">
                <a16:creationId xmlns:a16="http://schemas.microsoft.com/office/drawing/2014/main" id="{5CBFADB4-4227-470C-804B-CECDA1175FF7}"/>
              </a:ext>
            </a:extLst>
          </p:cNvPr>
          <p:cNvSpPr>
            <a:spLocks noGrp="1" noRot="1" noChangeAspect="1" noChangeArrowheads="1" noTextEdit="1"/>
          </p:cNvSpPr>
          <p:nvPr>
            <p:ph type="sldImg"/>
          </p:nvPr>
        </p:nvSpPr>
        <p:spPr>
          <a:xfrm>
            <a:off x="381000" y="685800"/>
            <a:ext cx="6096000" cy="3429000"/>
          </a:xfrm>
          <a:ln/>
        </p:spPr>
      </p:sp>
      <p:sp>
        <p:nvSpPr>
          <p:cNvPr id="135173" name="Rectangle 3">
            <a:extLst>
              <a:ext uri="{FF2B5EF4-FFF2-40B4-BE49-F238E27FC236}">
                <a16:creationId xmlns:a16="http://schemas.microsoft.com/office/drawing/2014/main" id="{204D27A5-7266-4E1B-BF41-C87AEF205F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楷体_GB2312" pitchFamily="49" charset="-122"/>
                <a:ea typeface="楷体_GB2312" pitchFamily="49" charset="-122"/>
              </a:rPr>
              <a:t>肽链的两个末端不同，因此我们说它有方向性，通常把氨基端看成是肽链的头，这与多肽链的合成方向一致，多肽链的合成开始于氨基端，结束于羧基端</a:t>
            </a:r>
          </a:p>
          <a:p>
            <a:pPr eaLnBrk="1" hangingPunct="1"/>
            <a:endParaRPr lang="en-US" altLang="zh-CN" dirty="0">
              <a:latin typeface="楷体_GB2312" pitchFamily="49" charset="-122"/>
              <a:ea typeface="楷体_GB2312" pitchFamily="49" charset="-122"/>
            </a:endParaRPr>
          </a:p>
          <a:p>
            <a:pPr eaLnBrk="1" hangingPunct="1"/>
            <a:r>
              <a:rPr lang="en-US" altLang="zh-CN" dirty="0">
                <a:latin typeface="楷体_GB2312" pitchFamily="49" charset="-122"/>
                <a:ea typeface="楷体_GB2312" pitchFamily="49" charset="-122"/>
              </a:rPr>
              <a:t>N </a:t>
            </a:r>
            <a:r>
              <a:rPr lang="zh-CN" altLang="en-US" dirty="0">
                <a:latin typeface="楷体_GB2312" pitchFamily="49" charset="-122"/>
                <a:ea typeface="楷体_GB2312" pitchFamily="49" charset="-122"/>
              </a:rPr>
              <a:t>肽含有</a:t>
            </a:r>
            <a:r>
              <a:rPr lang="en-US" altLang="zh-CN" dirty="0">
                <a:latin typeface="楷体_GB2312" pitchFamily="49" charset="-122"/>
                <a:ea typeface="楷体_GB2312" pitchFamily="49" charset="-122"/>
              </a:rPr>
              <a:t>N</a:t>
            </a:r>
            <a:r>
              <a:rPr lang="zh-CN" altLang="en-US" dirty="0">
                <a:latin typeface="楷体_GB2312" pitchFamily="49" charset="-122"/>
                <a:ea typeface="楷体_GB2312" pitchFamily="49" charset="-122"/>
              </a:rPr>
              <a:t>－</a:t>
            </a:r>
            <a:r>
              <a:rPr lang="en-US" altLang="zh-CN" dirty="0">
                <a:latin typeface="楷体_GB2312" pitchFamily="49" charset="-122"/>
                <a:ea typeface="楷体_GB2312" pitchFamily="49" charset="-122"/>
              </a:rPr>
              <a:t>1</a:t>
            </a:r>
            <a:r>
              <a:rPr lang="zh-CN" altLang="en-US" dirty="0">
                <a:latin typeface="楷体_GB2312" pitchFamily="49" charset="-122"/>
                <a:ea typeface="楷体_GB2312" pitchFamily="49" charset="-122"/>
              </a:rPr>
              <a:t>个肽键</a:t>
            </a:r>
          </a:p>
          <a:p>
            <a:pPr eaLnBrk="1" hangingPunct="1"/>
            <a:endParaRPr lang="en-US" altLang="zh-CN" b="1"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3">
            <a:extLst>
              <a:ext uri="{FF2B5EF4-FFF2-40B4-BE49-F238E27FC236}">
                <a16:creationId xmlns:a16="http://schemas.microsoft.com/office/drawing/2014/main" id="{CE26680C-2AB5-4E61-A31F-0DB6CC8DA5E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0B9CC44-6D41-4417-82BD-05B65295DF1A}"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37219" name="Rectangle 7">
            <a:extLst>
              <a:ext uri="{FF2B5EF4-FFF2-40B4-BE49-F238E27FC236}">
                <a16:creationId xmlns:a16="http://schemas.microsoft.com/office/drawing/2014/main" id="{637D45CD-C3A4-42C1-8624-0FA9888566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9DE5E19-3B73-4861-8F1C-3F4534E3510A}" type="slidenum">
              <a:rPr lang="en-US" altLang="zh-CN" sz="1200" smtClean="0">
                <a:latin typeface="Tahoma" panose="020B0604030504040204" pitchFamily="34" charset="0"/>
              </a:rPr>
              <a:pPr/>
              <a:t>52</a:t>
            </a:fld>
            <a:endParaRPr lang="en-US" altLang="zh-CN" sz="1200">
              <a:latin typeface="Tahoma" panose="020B0604030504040204" pitchFamily="34" charset="0"/>
            </a:endParaRPr>
          </a:p>
        </p:txBody>
      </p:sp>
      <p:sp>
        <p:nvSpPr>
          <p:cNvPr id="137220" name="Rectangle 2">
            <a:extLst>
              <a:ext uri="{FF2B5EF4-FFF2-40B4-BE49-F238E27FC236}">
                <a16:creationId xmlns:a16="http://schemas.microsoft.com/office/drawing/2014/main" id="{EDF6CD64-ED5B-4C08-8B54-A9A681F4FB37}"/>
              </a:ext>
            </a:extLst>
          </p:cNvPr>
          <p:cNvSpPr>
            <a:spLocks noGrp="1" noRot="1" noChangeAspect="1" noChangeArrowheads="1" noTextEdit="1"/>
          </p:cNvSpPr>
          <p:nvPr>
            <p:ph type="sldImg"/>
          </p:nvPr>
        </p:nvSpPr>
        <p:spPr>
          <a:xfrm>
            <a:off x="381000" y="685800"/>
            <a:ext cx="6096000" cy="3429000"/>
          </a:xfrm>
          <a:ln/>
        </p:spPr>
      </p:sp>
      <p:sp>
        <p:nvSpPr>
          <p:cNvPr id="137221" name="Rectangle 3">
            <a:extLst>
              <a:ext uri="{FF2B5EF4-FFF2-40B4-BE49-F238E27FC236}">
                <a16:creationId xmlns:a16="http://schemas.microsoft.com/office/drawing/2014/main" id="{7E444DEA-A31F-4D55-8449-63ED29A872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sz="2400" dirty="0">
                <a:solidFill>
                  <a:schemeClr val="bg1"/>
                </a:solidFill>
                <a:ea typeface="黑体" panose="02010609060101010101" pitchFamily="49" charset="-122"/>
              </a:rPr>
              <a:t>N</a:t>
            </a:r>
            <a:r>
              <a:rPr lang="zh-CN" altLang="en-US" sz="2400" dirty="0">
                <a:solidFill>
                  <a:schemeClr val="bg1"/>
                </a:solidFill>
                <a:ea typeface="黑体" panose="02010609060101010101" pitchFamily="49" charset="-122"/>
              </a:rPr>
              <a:t>端</a:t>
            </a:r>
            <a:r>
              <a:rPr lang="en-US" altLang="zh-CN" sz="2400" dirty="0">
                <a:solidFill>
                  <a:schemeClr val="bg1"/>
                </a:solidFill>
                <a:ea typeface="黑体" panose="02010609060101010101" pitchFamily="49" charset="-122"/>
              </a:rPr>
              <a:t>1</a:t>
            </a:r>
            <a:r>
              <a:rPr lang="zh-CN" altLang="en-US" sz="2400" dirty="0">
                <a:solidFill>
                  <a:schemeClr val="bg1"/>
                </a:solidFill>
                <a:ea typeface="黑体" panose="02010609060101010101" pitchFamily="49" charset="-122"/>
              </a:rPr>
              <a:t>号</a:t>
            </a:r>
            <a:r>
              <a:rPr lang="en-US" altLang="zh-CN" sz="2400" dirty="0">
                <a:solidFill>
                  <a:schemeClr val="bg1"/>
                </a:solidFill>
                <a:ea typeface="黑体" panose="02010609060101010101" pitchFamily="49" charset="-122"/>
              </a:rPr>
              <a:t>,</a:t>
            </a:r>
            <a:r>
              <a:rPr lang="zh-CN" altLang="en-US" sz="2400" dirty="0">
                <a:solidFill>
                  <a:schemeClr val="bg1"/>
                </a:solidFill>
                <a:ea typeface="黑体" panose="02010609060101010101" pitchFamily="49" charset="-122"/>
              </a:rPr>
              <a:t>依次向</a:t>
            </a:r>
            <a:r>
              <a:rPr lang="en-US" altLang="zh-CN" sz="2400" dirty="0">
                <a:solidFill>
                  <a:schemeClr val="bg1"/>
                </a:solidFill>
                <a:ea typeface="黑体" panose="02010609060101010101" pitchFamily="49" charset="-122"/>
              </a:rPr>
              <a:t>C</a:t>
            </a:r>
            <a:r>
              <a:rPr lang="zh-CN" altLang="en-US" sz="2400" dirty="0">
                <a:solidFill>
                  <a:schemeClr val="bg1"/>
                </a:solidFill>
                <a:ea typeface="黑体" panose="02010609060101010101" pitchFamily="49" charset="-122"/>
              </a:rPr>
              <a:t>端排列，  该图以四种色区分四类氨基酸， 这里</a:t>
            </a:r>
            <a:r>
              <a:rPr lang="en-US" altLang="zh-CN" sz="2400" dirty="0">
                <a:solidFill>
                  <a:schemeClr val="bg1"/>
                </a:solidFill>
                <a:ea typeface="黑体" panose="02010609060101010101" pitchFamily="49" charset="-122"/>
              </a:rPr>
              <a:t>Gly</a:t>
            </a:r>
            <a:r>
              <a:rPr lang="zh-CN" altLang="en-US" sz="2400" dirty="0">
                <a:solidFill>
                  <a:schemeClr val="bg1"/>
                </a:solidFill>
                <a:ea typeface="黑体" panose="02010609060101010101" pitchFamily="49" charset="-122"/>
              </a:rPr>
              <a:t>和</a:t>
            </a:r>
            <a:r>
              <a:rPr lang="en-US" altLang="zh-CN" sz="2400" dirty="0">
                <a:solidFill>
                  <a:schemeClr val="bg1"/>
                </a:solidFill>
                <a:ea typeface="黑体" panose="02010609060101010101" pitchFamily="49" charset="-122"/>
              </a:rPr>
              <a:t>Tyr</a:t>
            </a:r>
            <a:r>
              <a:rPr lang="zh-CN" altLang="en-US" sz="2400" dirty="0">
                <a:solidFill>
                  <a:schemeClr val="bg1"/>
                </a:solidFill>
                <a:ea typeface="黑体" panose="02010609060101010101" pitchFamily="49" charset="-122"/>
              </a:rPr>
              <a:t>都归到极性中性氨基酸， </a:t>
            </a:r>
            <a:r>
              <a:rPr lang="en-US" altLang="zh-CN" sz="2400" dirty="0" err="1">
                <a:solidFill>
                  <a:schemeClr val="bg1"/>
                </a:solidFill>
                <a:ea typeface="黑体" panose="02010609060101010101" pitchFamily="49" charset="-122"/>
              </a:rPr>
              <a:t>Phe</a:t>
            </a:r>
            <a:r>
              <a:rPr lang="zh-CN" altLang="en-US" sz="2400" dirty="0">
                <a:solidFill>
                  <a:schemeClr val="bg1"/>
                </a:solidFill>
                <a:ea typeface="黑体" panose="02010609060101010101" pitchFamily="49" charset="-122"/>
              </a:rPr>
              <a:t>归入非极性脂肪族氨基酸； 没有</a:t>
            </a:r>
            <a:r>
              <a:rPr lang="en-US" altLang="zh-CN" sz="2400" dirty="0" err="1">
                <a:solidFill>
                  <a:schemeClr val="bg1"/>
                </a:solidFill>
                <a:ea typeface="黑体" panose="02010609060101010101" pitchFamily="49" charset="-122"/>
              </a:rPr>
              <a:t>Trp</a:t>
            </a:r>
            <a:r>
              <a:rPr lang="en-US" altLang="zh-CN" sz="2400" dirty="0">
                <a:solidFill>
                  <a:schemeClr val="bg1"/>
                </a:solidFill>
                <a:ea typeface="黑体" panose="02010609060101010101" pitchFamily="49" charset="-122"/>
              </a:rPr>
              <a:t>  </a:t>
            </a:r>
            <a:r>
              <a:rPr lang="zh-CN" altLang="en-US" sz="2400" dirty="0">
                <a:solidFill>
                  <a:schemeClr val="bg1"/>
                </a:solidFill>
                <a:ea typeface="黑体" panose="02010609060101010101" pitchFamily="49" charset="-122"/>
              </a:rPr>
              <a:t>； </a:t>
            </a:r>
            <a:r>
              <a:rPr lang="en-US" altLang="zh-CN" sz="2400" dirty="0">
                <a:solidFill>
                  <a:schemeClr val="bg1"/>
                </a:solidFill>
                <a:ea typeface="黑体" panose="02010609060101010101" pitchFamily="49" charset="-122"/>
              </a:rPr>
              <a:t>51</a:t>
            </a:r>
            <a:r>
              <a:rPr lang="zh-CN" altLang="en-US" sz="2400" dirty="0">
                <a:solidFill>
                  <a:schemeClr val="bg1"/>
                </a:solidFill>
                <a:ea typeface="黑体" panose="02010609060101010101" pitchFamily="49" charset="-122"/>
              </a:rPr>
              <a:t>位（</a:t>
            </a:r>
            <a:r>
              <a:rPr lang="en-US" altLang="zh-CN" sz="2400" dirty="0">
                <a:solidFill>
                  <a:schemeClr val="bg1"/>
                </a:solidFill>
                <a:ea typeface="黑体" panose="02010609060101010101" pitchFamily="49" charset="-122"/>
              </a:rPr>
              <a:t>Leu</a:t>
            </a:r>
            <a:r>
              <a:rPr lang="zh-CN" altLang="en-US" sz="2400" dirty="0">
                <a:solidFill>
                  <a:schemeClr val="bg1"/>
                </a:solidFill>
                <a:ea typeface="黑体" panose="02010609060101010101" pitchFamily="49" charset="-122"/>
              </a:rPr>
              <a:t>）颜色有误。</a:t>
            </a:r>
            <a:endParaRPr lang="zh-CN" altLang="en-US" sz="7200" baseline="30000" dirty="0">
              <a:solidFill>
                <a:schemeClr val="bg1"/>
              </a:solidFill>
              <a:ea typeface="黑体" panose="02010609060101010101" pitchFamily="49" charset="-12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3">
            <a:extLst>
              <a:ext uri="{FF2B5EF4-FFF2-40B4-BE49-F238E27FC236}">
                <a16:creationId xmlns:a16="http://schemas.microsoft.com/office/drawing/2014/main" id="{160DEE21-3DAC-40FC-B6C6-6DCF8AF05338}"/>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1905A31F-47C1-4BC8-9A33-57E2986D0C89}"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39267" name="Rectangle 7">
            <a:extLst>
              <a:ext uri="{FF2B5EF4-FFF2-40B4-BE49-F238E27FC236}">
                <a16:creationId xmlns:a16="http://schemas.microsoft.com/office/drawing/2014/main" id="{E433DB77-D261-4CF0-AB5F-AB5B14614E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72BF177-14FF-4D3C-AB43-16830C834520}" type="slidenum">
              <a:rPr lang="en-US" altLang="zh-CN" sz="1200" smtClean="0">
                <a:latin typeface="Tahoma" panose="020B0604030504040204" pitchFamily="34" charset="0"/>
              </a:rPr>
              <a:pPr/>
              <a:t>53</a:t>
            </a:fld>
            <a:endParaRPr lang="en-US" altLang="zh-CN" sz="1200">
              <a:latin typeface="Tahoma" panose="020B0604030504040204" pitchFamily="34" charset="0"/>
            </a:endParaRPr>
          </a:p>
        </p:txBody>
      </p:sp>
      <p:sp>
        <p:nvSpPr>
          <p:cNvPr id="139268" name="Rectangle 2">
            <a:extLst>
              <a:ext uri="{FF2B5EF4-FFF2-40B4-BE49-F238E27FC236}">
                <a16:creationId xmlns:a16="http://schemas.microsoft.com/office/drawing/2014/main" id="{67ABC286-2AB9-4E78-899F-9652138ED8F2}"/>
              </a:ext>
            </a:extLst>
          </p:cNvPr>
          <p:cNvSpPr>
            <a:spLocks noGrp="1" noRot="1" noChangeAspect="1" noChangeArrowheads="1" noTextEdit="1"/>
          </p:cNvSpPr>
          <p:nvPr>
            <p:ph type="sldImg"/>
          </p:nvPr>
        </p:nvSpPr>
        <p:spPr>
          <a:xfrm>
            <a:off x="381000" y="685800"/>
            <a:ext cx="6096000" cy="3429000"/>
          </a:xfrm>
          <a:ln/>
        </p:spPr>
      </p:sp>
      <p:sp>
        <p:nvSpPr>
          <p:cNvPr id="139269" name="Rectangle 3">
            <a:extLst>
              <a:ext uri="{FF2B5EF4-FFF2-40B4-BE49-F238E27FC236}">
                <a16:creationId xmlns:a16="http://schemas.microsoft.com/office/drawing/2014/main" id="{DA3F8B5B-3C70-4CAE-94FC-B1F9FFCF19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a:p>
            <a:pPr eaLnBrk="1" hangingPunct="1"/>
            <a:endParaRPr lang="en-US" altLang="zh-CN"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幻灯片图像占位符 1">
            <a:extLst>
              <a:ext uri="{FF2B5EF4-FFF2-40B4-BE49-F238E27FC236}">
                <a16:creationId xmlns:a16="http://schemas.microsoft.com/office/drawing/2014/main" id="{53201F71-3CF9-4E07-B0F4-EBF012E978A3}"/>
              </a:ext>
            </a:extLst>
          </p:cNvPr>
          <p:cNvSpPr>
            <a:spLocks noGrp="1" noRot="1" noChangeAspect="1" noChangeArrowheads="1" noTextEdit="1"/>
          </p:cNvSpPr>
          <p:nvPr>
            <p:ph type="sldImg"/>
          </p:nvPr>
        </p:nvSpPr>
        <p:spPr>
          <a:xfrm>
            <a:off x="381000" y="685800"/>
            <a:ext cx="6096000" cy="3429000"/>
          </a:xfrm>
          <a:ln/>
        </p:spPr>
      </p:sp>
      <p:sp>
        <p:nvSpPr>
          <p:cNvPr id="141315" name="备注占位符 2">
            <a:extLst>
              <a:ext uri="{FF2B5EF4-FFF2-40B4-BE49-F238E27FC236}">
                <a16:creationId xmlns:a16="http://schemas.microsoft.com/office/drawing/2014/main" id="{52750A22-DDA8-406C-BA26-61AA0E06E3A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因为缩合失去一分子水（分子量</a:t>
            </a:r>
            <a:r>
              <a:rPr lang="en-US" altLang="zh-CN" dirty="0"/>
              <a:t>18</a:t>
            </a:r>
            <a:r>
              <a:rPr lang="zh-CN" altLang="en-US" dirty="0"/>
              <a:t>），再考虑到蛋白质中不同氨基酸所占的百分比不同，侧链较短的氨基酸通常更多见，故在测定了大量蛋白质中氨基酸的组成后，有上述约定。</a:t>
            </a:r>
            <a:endParaRPr lang="en-US" altLang="zh-CN" dirty="0"/>
          </a:p>
          <a:p>
            <a:endParaRPr lang="en-US" altLang="zh-CN" dirty="0"/>
          </a:p>
          <a:p>
            <a:r>
              <a:rPr lang="zh-CN" altLang="en-US" dirty="0"/>
              <a:t>用处：　已知氨基酸残基数时快速估算蛋白分子量，或者已知分子量时快速估算氨基酸残基数</a:t>
            </a:r>
            <a:endParaRPr lang="en-US" altLang="zh-CN" dirty="0"/>
          </a:p>
          <a:p>
            <a:endParaRPr lang="zh-CN" altLang="en-US" dirty="0"/>
          </a:p>
        </p:txBody>
      </p:sp>
      <p:sp>
        <p:nvSpPr>
          <p:cNvPr id="141316" name="日期占位符 3">
            <a:extLst>
              <a:ext uri="{FF2B5EF4-FFF2-40B4-BE49-F238E27FC236}">
                <a16:creationId xmlns:a16="http://schemas.microsoft.com/office/drawing/2014/main" id="{FA062D70-14AD-4591-81A0-4B0911CAAEC5}"/>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5642110A-FB95-47B0-8AAE-1A6F81865D90}"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41317" name="灯片编号占位符 4">
            <a:extLst>
              <a:ext uri="{FF2B5EF4-FFF2-40B4-BE49-F238E27FC236}">
                <a16:creationId xmlns:a16="http://schemas.microsoft.com/office/drawing/2014/main" id="{93FA2519-217A-448E-AFB2-7DD527B6D32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A60D216-8990-40E6-92A0-0B928067651A}" type="slidenum">
              <a:rPr lang="en-US" altLang="zh-CN" sz="1200" smtClean="0">
                <a:latin typeface="Tahoma" panose="020B0604030504040204" pitchFamily="34" charset="0"/>
              </a:rPr>
              <a:pPr/>
              <a:t>54</a:t>
            </a:fld>
            <a:endParaRPr lang="en-US" altLang="zh-CN" sz="1200">
              <a:latin typeface="Tahoma" panose="020B0604030504040204" pitchFamily="34"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3">
            <a:extLst>
              <a:ext uri="{FF2B5EF4-FFF2-40B4-BE49-F238E27FC236}">
                <a16:creationId xmlns:a16="http://schemas.microsoft.com/office/drawing/2014/main" id="{E4C3CF5E-0B8E-4397-A6AC-19513F500E0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E719B98-501A-4602-A2DC-5CA84E8CC1C6}"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43363" name="Rectangle 7">
            <a:extLst>
              <a:ext uri="{FF2B5EF4-FFF2-40B4-BE49-F238E27FC236}">
                <a16:creationId xmlns:a16="http://schemas.microsoft.com/office/drawing/2014/main" id="{FCF85AD1-5CA9-469C-A394-05C6CA8E4C8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77A75A5C-DE36-4C64-8ECC-1B6FB6ED9CE8}" type="slidenum">
              <a:rPr lang="en-US" altLang="zh-CN" sz="1200" smtClean="0">
                <a:latin typeface="Tahoma" panose="020B0604030504040204" pitchFamily="34" charset="0"/>
              </a:rPr>
              <a:pPr/>
              <a:t>55</a:t>
            </a:fld>
            <a:endParaRPr lang="en-US" altLang="zh-CN" sz="1200">
              <a:latin typeface="Tahoma" panose="020B0604030504040204" pitchFamily="34" charset="0"/>
            </a:endParaRPr>
          </a:p>
        </p:txBody>
      </p:sp>
      <p:sp>
        <p:nvSpPr>
          <p:cNvPr id="143364" name="Rectangle 2">
            <a:extLst>
              <a:ext uri="{FF2B5EF4-FFF2-40B4-BE49-F238E27FC236}">
                <a16:creationId xmlns:a16="http://schemas.microsoft.com/office/drawing/2014/main" id="{93F9C48D-F158-45D3-A557-3C9E1DFBBDFF}"/>
              </a:ext>
            </a:extLst>
          </p:cNvPr>
          <p:cNvSpPr>
            <a:spLocks noGrp="1" noRot="1" noChangeAspect="1" noChangeArrowheads="1" noTextEdit="1"/>
          </p:cNvSpPr>
          <p:nvPr>
            <p:ph type="sldImg"/>
          </p:nvPr>
        </p:nvSpPr>
        <p:spPr>
          <a:xfrm>
            <a:off x="381000" y="685800"/>
            <a:ext cx="6096000" cy="3429000"/>
          </a:xfrm>
          <a:ln/>
        </p:spPr>
      </p:sp>
      <p:sp>
        <p:nvSpPr>
          <p:cNvPr id="143365" name="Rectangle 3">
            <a:extLst>
              <a:ext uri="{FF2B5EF4-FFF2-40B4-BE49-F238E27FC236}">
                <a16:creationId xmlns:a16="http://schemas.microsoft.com/office/drawing/2014/main" id="{0E7812E0-9CE9-4F06-8D80-A98F453951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楷体_GB2312" pitchFamily="49" charset="-122"/>
                <a:ea typeface="楷体_GB2312" pitchFamily="49" charset="-122"/>
              </a:rPr>
              <a:t>结构特点：</a:t>
            </a:r>
            <a:r>
              <a:rPr lang="en-US" altLang="zh-CN" dirty="0">
                <a:latin typeface="楷体_GB2312" pitchFamily="49" charset="-122"/>
                <a:ea typeface="楷体_GB2312" pitchFamily="49" charset="-122"/>
              </a:rPr>
              <a:t>Glu</a:t>
            </a:r>
            <a:r>
              <a:rPr lang="zh-CN" altLang="en-US" dirty="0">
                <a:latin typeface="楷体_GB2312" pitchFamily="49" charset="-122"/>
                <a:ea typeface="楷体_GB2312" pitchFamily="49" charset="-122"/>
              </a:rPr>
              <a:t>是通过</a:t>
            </a:r>
            <a:r>
              <a:rPr lang="en-US" altLang="zh-CN" dirty="0">
                <a:latin typeface="楷体_GB2312" pitchFamily="49" charset="-122"/>
                <a:ea typeface="楷体_GB2312" pitchFamily="49" charset="-122"/>
              </a:rPr>
              <a:t>γ-</a:t>
            </a:r>
            <a:r>
              <a:rPr lang="zh-CN" altLang="en-US" dirty="0">
                <a:latin typeface="楷体_GB2312" pitchFamily="49" charset="-122"/>
                <a:ea typeface="楷体_GB2312" pitchFamily="49" charset="-122"/>
              </a:rPr>
              <a:t>羧基而不是</a:t>
            </a:r>
            <a:r>
              <a:rPr lang="en-US" altLang="zh-CN" dirty="0">
                <a:latin typeface="楷体_GB2312" pitchFamily="49" charset="-122"/>
                <a:ea typeface="楷体_GB2312" pitchFamily="49" charset="-122"/>
              </a:rPr>
              <a:t>α-</a:t>
            </a:r>
            <a:r>
              <a:rPr lang="zh-CN" altLang="en-US" dirty="0">
                <a:latin typeface="楷体_GB2312" pitchFamily="49" charset="-122"/>
                <a:ea typeface="楷体_GB2312" pitchFamily="49" charset="-122"/>
              </a:rPr>
              <a:t>羧基与</a:t>
            </a:r>
            <a:r>
              <a:rPr lang="en-US" altLang="zh-CN" dirty="0" err="1">
                <a:latin typeface="楷体_GB2312" pitchFamily="49" charset="-122"/>
                <a:ea typeface="楷体_GB2312" pitchFamily="49" charset="-122"/>
              </a:rPr>
              <a:t>Cys</a:t>
            </a:r>
            <a:r>
              <a:rPr lang="zh-CN" altLang="en-US" dirty="0">
                <a:latin typeface="楷体_GB2312" pitchFamily="49" charset="-122"/>
                <a:ea typeface="楷体_GB2312" pitchFamily="49" charset="-122"/>
              </a:rPr>
              <a:t>的氨基形成肽键，是异肽键。</a:t>
            </a:r>
          </a:p>
          <a:p>
            <a:pPr eaLnBrk="1" hangingPunct="1"/>
            <a:endParaRPr lang="en-US" altLang="zh-CN" dirty="0">
              <a:latin typeface="楷体_GB2312" pitchFamily="49" charset="-122"/>
              <a:ea typeface="楷体_GB2312" pitchFamily="49" charset="-122"/>
            </a:endParaRPr>
          </a:p>
          <a:p>
            <a:pPr eaLnBrk="1" hangingPunct="1"/>
            <a:r>
              <a:rPr lang="zh-CN" altLang="en-US" dirty="0">
                <a:latin typeface="楷体_GB2312" pitchFamily="49" charset="-122"/>
                <a:ea typeface="楷体_GB2312" pitchFamily="49" charset="-122"/>
              </a:rPr>
              <a:t>活性肽（</a:t>
            </a:r>
            <a:r>
              <a:rPr lang="en-US" altLang="zh-CN" dirty="0">
                <a:latin typeface="楷体_GB2312" pitchFamily="49" charset="-122"/>
                <a:ea typeface="楷体_GB2312" pitchFamily="49" charset="-122"/>
              </a:rPr>
              <a:t>Active Peptide)</a:t>
            </a:r>
            <a:r>
              <a:rPr lang="zh-CN" altLang="en-US" dirty="0">
                <a:latin typeface="楷体_GB2312" pitchFamily="49" charset="-122"/>
                <a:ea typeface="楷体_GB2312" pitchFamily="49" charset="-122"/>
              </a:rPr>
              <a:t>：是一千多种肽的总称。 </a:t>
            </a:r>
            <a:endParaRPr lang="en-US" altLang="zh-CN" dirty="0">
              <a:latin typeface="楷体_GB2312" pitchFamily="49" charset="-122"/>
              <a:ea typeface="楷体_GB2312" pitchFamily="49" charset="-122"/>
            </a:endParaRPr>
          </a:p>
          <a:p>
            <a:pPr eaLnBrk="1" hangingPunct="1"/>
            <a:endParaRPr lang="en-US" altLang="zh-CN" dirty="0">
              <a:latin typeface="楷体_GB2312" pitchFamily="49" charset="-122"/>
              <a:ea typeface="楷体_GB2312" pitchFamily="49" charset="-122"/>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幻灯片图像占位符 1">
            <a:extLst>
              <a:ext uri="{FF2B5EF4-FFF2-40B4-BE49-F238E27FC236}">
                <a16:creationId xmlns:a16="http://schemas.microsoft.com/office/drawing/2014/main" id="{A480DCEA-7ADB-4F1E-A8A9-C4958DB48DAE}"/>
              </a:ext>
            </a:extLst>
          </p:cNvPr>
          <p:cNvSpPr>
            <a:spLocks noGrp="1" noRot="1" noChangeAspect="1" noChangeArrowheads="1" noTextEdit="1"/>
          </p:cNvSpPr>
          <p:nvPr>
            <p:ph type="sldImg"/>
          </p:nvPr>
        </p:nvSpPr>
        <p:spPr>
          <a:xfrm>
            <a:off x="381000" y="685800"/>
            <a:ext cx="6096000" cy="3429000"/>
          </a:xfrm>
          <a:ln/>
        </p:spPr>
      </p:sp>
      <p:sp>
        <p:nvSpPr>
          <p:cNvPr id="145411" name="备注占位符 2">
            <a:extLst>
              <a:ext uri="{FF2B5EF4-FFF2-40B4-BE49-F238E27FC236}">
                <a16:creationId xmlns:a16="http://schemas.microsoft.com/office/drawing/2014/main" id="{7B9A2146-3043-477C-A073-7245B2847CB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糖代谢一章会介绍</a:t>
            </a:r>
            <a:r>
              <a:rPr lang="en-US" altLang="zh-CN" dirty="0"/>
              <a:t>NADPH</a:t>
            </a:r>
            <a:r>
              <a:rPr lang="zh-CN" altLang="en-US" dirty="0"/>
              <a:t>的生成过程。 </a:t>
            </a:r>
          </a:p>
        </p:txBody>
      </p:sp>
      <p:sp>
        <p:nvSpPr>
          <p:cNvPr id="145412" name="日期占位符 3">
            <a:extLst>
              <a:ext uri="{FF2B5EF4-FFF2-40B4-BE49-F238E27FC236}">
                <a16:creationId xmlns:a16="http://schemas.microsoft.com/office/drawing/2014/main" id="{8E879CC2-1370-4259-A7A2-A8AC023FEA20}"/>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4D01757E-B95A-4156-8C2E-B1EA76BB92ED}"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45413" name="灯片编号占位符 4">
            <a:extLst>
              <a:ext uri="{FF2B5EF4-FFF2-40B4-BE49-F238E27FC236}">
                <a16:creationId xmlns:a16="http://schemas.microsoft.com/office/drawing/2014/main" id="{AEB1913C-D915-4875-8B43-18305F489BE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86FF624-A2BB-4248-BDAD-C76CB9046561}" type="slidenum">
              <a:rPr lang="en-US" altLang="zh-CN" sz="1200" smtClean="0">
                <a:latin typeface="Tahoma" panose="020B0604030504040204" pitchFamily="34" charset="0"/>
              </a:rPr>
              <a:pPr/>
              <a:t>56</a:t>
            </a:fld>
            <a:endParaRPr lang="en-US" altLang="zh-CN" sz="1200">
              <a:latin typeface="Tahoma" panose="020B0604030504040204"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3">
            <a:extLst>
              <a:ext uri="{FF2B5EF4-FFF2-40B4-BE49-F238E27FC236}">
                <a16:creationId xmlns:a16="http://schemas.microsoft.com/office/drawing/2014/main" id="{85F8CC3E-3163-4C83-88FF-5E9F89283784}"/>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B83CC6A2-8A41-47B5-95EA-1E813844D8D5}"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47459" name="Rectangle 7">
            <a:extLst>
              <a:ext uri="{FF2B5EF4-FFF2-40B4-BE49-F238E27FC236}">
                <a16:creationId xmlns:a16="http://schemas.microsoft.com/office/drawing/2014/main" id="{575E46F2-4AB2-4C81-A454-B45DB4C844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9BC10A6F-AB01-40D3-AF4E-CAD4402865E4}" type="slidenum">
              <a:rPr lang="en-US" altLang="zh-CN" sz="1200" smtClean="0">
                <a:latin typeface="Tahoma" panose="020B0604030504040204" pitchFamily="34" charset="0"/>
              </a:rPr>
              <a:pPr/>
              <a:t>57</a:t>
            </a:fld>
            <a:endParaRPr lang="en-US" altLang="zh-CN" sz="1200">
              <a:latin typeface="Tahoma" panose="020B0604030504040204" pitchFamily="34" charset="0"/>
            </a:endParaRPr>
          </a:p>
        </p:txBody>
      </p:sp>
      <p:sp>
        <p:nvSpPr>
          <p:cNvPr id="147460" name="Rectangle 2">
            <a:extLst>
              <a:ext uri="{FF2B5EF4-FFF2-40B4-BE49-F238E27FC236}">
                <a16:creationId xmlns:a16="http://schemas.microsoft.com/office/drawing/2014/main" id="{E53F8B21-709A-4267-A91B-CA4E9F18F481}"/>
              </a:ext>
            </a:extLst>
          </p:cNvPr>
          <p:cNvSpPr>
            <a:spLocks noGrp="1" noRot="1" noChangeAspect="1" noChangeArrowheads="1" noTextEdit="1"/>
          </p:cNvSpPr>
          <p:nvPr>
            <p:ph type="sldImg"/>
          </p:nvPr>
        </p:nvSpPr>
        <p:spPr>
          <a:xfrm>
            <a:off x="381000" y="685800"/>
            <a:ext cx="6096000" cy="3429000"/>
          </a:xfrm>
          <a:ln/>
        </p:spPr>
      </p:sp>
      <p:sp>
        <p:nvSpPr>
          <p:cNvPr id="147461" name="Rectangle 3">
            <a:extLst>
              <a:ext uri="{FF2B5EF4-FFF2-40B4-BE49-F238E27FC236}">
                <a16:creationId xmlns:a16="http://schemas.microsoft.com/office/drawing/2014/main" id="{644B153D-9F98-4C24-97B2-41567B4176D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lang="en-US" altLang="zh-CN" dirty="0"/>
              <a:t>GSH</a:t>
            </a:r>
            <a:r>
              <a:rPr lang="zh-CN" altLang="en-US" dirty="0"/>
              <a:t>它还有许多其他功能，包括螯合金属；增强铁，硒和钙的吸收；参与脂质和胰岛素代谢；调节细胞事件，例如基因表达，</a:t>
            </a:r>
            <a:r>
              <a:rPr lang="en-US" altLang="zh-CN" dirty="0"/>
              <a:t>DNA</a:t>
            </a:r>
            <a:r>
              <a:rPr lang="zh-CN" altLang="en-US" dirty="0"/>
              <a:t>和蛋白质合成，细胞增殖和凋亡，氧化还原依赖性信号转导途径，细胞因子产生和免疫反应；并控制蛋白质的谷胱甘肽酰化。</a:t>
            </a:r>
            <a:endParaRPr lang="en-US" altLang="zh-CN"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3">
            <a:extLst>
              <a:ext uri="{FF2B5EF4-FFF2-40B4-BE49-F238E27FC236}">
                <a16:creationId xmlns:a16="http://schemas.microsoft.com/office/drawing/2014/main" id="{165B7DA8-E923-4746-BFC4-03E0F95AE2D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2AF0583-917D-4761-A722-AF31BE232323}"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50531" name="Rectangle 7">
            <a:extLst>
              <a:ext uri="{FF2B5EF4-FFF2-40B4-BE49-F238E27FC236}">
                <a16:creationId xmlns:a16="http://schemas.microsoft.com/office/drawing/2014/main" id="{14D504E2-E4A2-48A7-B151-A369B7E4827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DDA0CB38-530D-4A3F-B6CD-78752B96071D}" type="slidenum">
              <a:rPr lang="en-US" altLang="zh-CN" sz="1200" smtClean="0">
                <a:latin typeface="Tahoma" panose="020B0604030504040204" pitchFamily="34" charset="0"/>
              </a:rPr>
              <a:pPr/>
              <a:t>59</a:t>
            </a:fld>
            <a:endParaRPr lang="en-US" altLang="zh-CN" sz="1200">
              <a:latin typeface="Tahoma" panose="020B0604030504040204" pitchFamily="34" charset="0"/>
            </a:endParaRPr>
          </a:p>
        </p:txBody>
      </p:sp>
      <p:sp>
        <p:nvSpPr>
          <p:cNvPr id="150532" name="Rectangle 2">
            <a:extLst>
              <a:ext uri="{FF2B5EF4-FFF2-40B4-BE49-F238E27FC236}">
                <a16:creationId xmlns:a16="http://schemas.microsoft.com/office/drawing/2014/main" id="{57B2CD8E-AC8A-4E92-9A48-881C14F843D4}"/>
              </a:ext>
            </a:extLst>
          </p:cNvPr>
          <p:cNvSpPr>
            <a:spLocks noGrp="1" noRot="1" noChangeAspect="1" noChangeArrowheads="1" noTextEdit="1"/>
          </p:cNvSpPr>
          <p:nvPr>
            <p:ph type="sldImg"/>
          </p:nvPr>
        </p:nvSpPr>
        <p:spPr>
          <a:xfrm>
            <a:off x="381000" y="685800"/>
            <a:ext cx="6096000" cy="3429000"/>
          </a:xfrm>
          <a:ln/>
        </p:spPr>
      </p:sp>
      <p:sp>
        <p:nvSpPr>
          <p:cNvPr id="150533" name="Rectangle 3">
            <a:extLst>
              <a:ext uri="{FF2B5EF4-FFF2-40B4-BE49-F238E27FC236}">
                <a16:creationId xmlns:a16="http://schemas.microsoft.com/office/drawing/2014/main" id="{54A1746E-BF07-43F0-8388-8C1EA1B829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10000"/>
              </a:lnSpc>
            </a:pPr>
            <a:r>
              <a:rPr lang="zh-CN" altLang="en-US" b="1" dirty="0">
                <a:solidFill>
                  <a:srgbClr val="993366"/>
                </a:solidFill>
              </a:rPr>
              <a:t>神经肽是脑内一类重要的肽。</a:t>
            </a:r>
            <a:r>
              <a:rPr lang="zh-CN" altLang="en-US" dirty="0"/>
              <a:t>在神经传导过程中起重要作用的肽类称为</a:t>
            </a:r>
            <a:r>
              <a:rPr lang="zh-CN" altLang="en-US" dirty="0">
                <a:solidFill>
                  <a:srgbClr val="993366"/>
                </a:solidFill>
              </a:rPr>
              <a:t>神经肽</a:t>
            </a:r>
            <a:r>
              <a:rPr lang="en-US" altLang="zh-CN" dirty="0">
                <a:solidFill>
                  <a:srgbClr val="993366"/>
                </a:solidFill>
              </a:rPr>
              <a:t>(neuropeptide)</a:t>
            </a:r>
            <a:r>
              <a:rPr lang="zh-CN" altLang="en-US" dirty="0"/>
              <a:t>。</a:t>
            </a:r>
            <a:endParaRPr lang="zh-CN" altLang="en-US" sz="2800" b="1" dirty="0">
              <a:ea typeface="黑体" panose="02010609060101010101" pitchFamily="49" charset="-122"/>
            </a:endParaRPr>
          </a:p>
          <a:p>
            <a:pPr eaLnBrk="1" hangingPunct="1"/>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t>大多数肽在核糖体上生成（全部为真肽键）</a:t>
            </a:r>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t>少数小肽</a:t>
            </a:r>
            <a:r>
              <a:rPr lang="zh-CN" altLang="zh-CN" sz="1800" kern="1200" dirty="0">
                <a:solidFill>
                  <a:srgbClr val="000000"/>
                </a:solidFill>
                <a:effectLst/>
                <a:latin typeface="Arial" panose="020B0604020202020204" pitchFamily="34" charset="0"/>
                <a:ea typeface="楷体_GB2312"/>
                <a:cs typeface="Arial" panose="020B0604020202020204" pitchFamily="34" charset="0"/>
              </a:rPr>
              <a:t>并不在核糖体上合成</a:t>
            </a:r>
            <a:r>
              <a:rPr lang="zh-CN" altLang="en-US" sz="1800" kern="1200" dirty="0">
                <a:solidFill>
                  <a:srgbClr val="000000"/>
                </a:solidFill>
                <a:effectLst/>
                <a:latin typeface="Arial" panose="020B0604020202020204" pitchFamily="34" charset="0"/>
                <a:ea typeface="楷体_GB2312"/>
                <a:cs typeface="Arial" panose="020B0604020202020204" pitchFamily="34" charset="0"/>
              </a:rPr>
              <a:t>（故可能有异肽键）</a:t>
            </a:r>
            <a:r>
              <a:rPr lang="zh-CN" altLang="zh-CN" sz="1800" kern="1200" dirty="0">
                <a:solidFill>
                  <a:srgbClr val="000000"/>
                </a:solidFill>
                <a:effectLst/>
                <a:latin typeface="Arial" panose="020B0604020202020204" pitchFamily="34" charset="0"/>
                <a:ea typeface="楷体_GB2312"/>
                <a:cs typeface="Arial" panose="020B0604020202020204" pitchFamily="34" charset="0"/>
              </a:rPr>
              <a:t>，</a:t>
            </a:r>
            <a:r>
              <a:rPr lang="zh-CN" altLang="zh-CN" sz="1800" kern="1200" dirty="0">
                <a:solidFill>
                  <a:srgbClr val="000000"/>
                </a:solidFill>
                <a:effectLst/>
                <a:latin typeface="宋体" panose="02010600030101010101" pitchFamily="2" charset="-122"/>
                <a:ea typeface="Arial" panose="020B0604020202020204" pitchFamily="34" charset="0"/>
                <a:cs typeface="宋体" panose="02010600030101010101" pitchFamily="2" charset="-122"/>
              </a:rPr>
              <a:t> </a:t>
            </a:r>
            <a:r>
              <a:rPr lang="zh-CN" altLang="zh-CN" sz="1800" kern="1200" dirty="0">
                <a:solidFill>
                  <a:srgbClr val="000000"/>
                </a:solidFill>
                <a:effectLst/>
                <a:latin typeface="Arial" panose="020B0604020202020204" pitchFamily="34" charset="0"/>
                <a:ea typeface="楷体_GB2312"/>
                <a:cs typeface="Arial" panose="020B0604020202020204" pitchFamily="34" charset="0"/>
              </a:rPr>
              <a:t>比如：</a:t>
            </a:r>
            <a:r>
              <a:rPr lang="zh-CN" altLang="zh-CN" sz="1800" kern="1200" dirty="0">
                <a:solidFill>
                  <a:srgbClr val="000000"/>
                </a:solidFill>
                <a:effectLst/>
                <a:latin typeface="宋体" panose="02010600030101010101" pitchFamily="2" charset="-122"/>
                <a:ea typeface="Arial" panose="020B0604020202020204" pitchFamily="34" charset="0"/>
                <a:cs typeface="宋体" panose="02010600030101010101" pitchFamily="2" charset="-122"/>
              </a:rPr>
              <a:t> </a:t>
            </a:r>
            <a:r>
              <a:rPr lang="zh-CN" altLang="zh-CN" sz="1800" kern="1200" dirty="0">
                <a:solidFill>
                  <a:srgbClr val="000000"/>
                </a:solidFill>
                <a:effectLst/>
                <a:latin typeface="Arial" panose="020B0604020202020204" pitchFamily="34" charset="0"/>
                <a:ea typeface="楷体_GB2312"/>
                <a:cs typeface="Arial" panose="020B0604020202020204" pitchFamily="34" charset="0"/>
              </a:rPr>
              <a:t>短杆菌肽</a:t>
            </a:r>
            <a:r>
              <a:rPr lang="en-US" altLang="zh-CN" sz="1800" kern="1200" dirty="0">
                <a:solidFill>
                  <a:srgbClr val="000000"/>
                </a:solidFill>
                <a:effectLst/>
                <a:latin typeface="Arial" panose="020B0604020202020204" pitchFamily="34" charset="0"/>
                <a:ea typeface="楷体_GB2312"/>
                <a:cs typeface="宋体" panose="02010600030101010101" pitchFamily="2" charset="-122"/>
              </a:rPr>
              <a:t>S</a:t>
            </a:r>
            <a:r>
              <a:rPr lang="zh-CN" altLang="zh-CN" sz="1800" kern="1200" dirty="0">
                <a:solidFill>
                  <a:srgbClr val="000000"/>
                </a:solidFill>
                <a:effectLst/>
                <a:latin typeface="Arial" panose="020B0604020202020204" pitchFamily="34" charset="0"/>
                <a:ea typeface="楷体_GB2312"/>
                <a:cs typeface="Arial" panose="020B0604020202020204" pitchFamily="34" charset="0"/>
              </a:rPr>
              <a:t>，</a:t>
            </a:r>
            <a:r>
              <a:rPr lang="zh-CN" altLang="zh-CN" sz="1800" b="1" kern="1200" dirty="0">
                <a:solidFill>
                  <a:srgbClr val="000000"/>
                </a:solidFill>
                <a:effectLst/>
                <a:latin typeface="Arial" panose="020B0604020202020204" pitchFamily="34" charset="0"/>
                <a:ea typeface="楷体_GB2312"/>
                <a:cs typeface="Arial" panose="020B0604020202020204" pitchFamily="34" charset="0"/>
              </a:rPr>
              <a:t>谷胱甘肽</a:t>
            </a:r>
            <a:r>
              <a:rPr lang="zh-CN" altLang="zh-CN" sz="1800" kern="1200" dirty="0">
                <a:solidFill>
                  <a:srgbClr val="000000"/>
                </a:solidFill>
                <a:effectLst/>
                <a:latin typeface="Arial" panose="020B0604020202020204" pitchFamily="34" charset="0"/>
                <a:ea typeface="楷体_GB2312"/>
                <a:cs typeface="Arial" panose="020B0604020202020204" pitchFamily="34" charset="0"/>
              </a:rPr>
              <a:t>，</a:t>
            </a:r>
            <a:r>
              <a:rPr lang="zh-CN" altLang="zh-CN" sz="1800" b="1" kern="1200" dirty="0">
                <a:solidFill>
                  <a:srgbClr val="000000"/>
                </a:solidFill>
                <a:effectLst/>
                <a:latin typeface="Arial" panose="020B0604020202020204" pitchFamily="34" charset="0"/>
                <a:ea typeface="楷体_GB2312"/>
                <a:cs typeface="Arial" panose="020B0604020202020204" pitchFamily="34" charset="0"/>
              </a:rPr>
              <a:t>抗利尿激素，</a:t>
            </a:r>
            <a:r>
              <a:rPr lang="zh-CN" altLang="zh-CN" sz="1800" kern="1200" dirty="0">
                <a:solidFill>
                  <a:srgbClr val="000000"/>
                </a:solidFill>
                <a:effectLst/>
                <a:latin typeface="Arial" panose="020B0604020202020204" pitchFamily="34" charset="0"/>
                <a:ea typeface="楷体_GB2312"/>
                <a:cs typeface="Arial" panose="020B0604020202020204" pitchFamily="34" charset="0"/>
              </a:rPr>
              <a:t>伊短菌素，多粘菌素，分枝杆菌素，放线菌素，缬氨霉素，丙甲霉素，鹿铃霉素，恩镰孢菌素，蜡状菌素，亮肽素，三霉素，鬼笔环肽，</a:t>
            </a:r>
            <a:r>
              <a:rPr lang="en-US" altLang="zh-CN" sz="1800" kern="1200" dirty="0" err="1">
                <a:solidFill>
                  <a:srgbClr val="000000"/>
                </a:solidFill>
                <a:effectLst/>
                <a:latin typeface="Arial" panose="020B0604020202020204" pitchFamily="34" charset="0"/>
                <a:ea typeface="楷体_GB2312"/>
                <a:cs typeface="宋体" panose="02010600030101010101" pitchFamily="2" charset="-122"/>
              </a:rPr>
              <a:t>Surfactin</a:t>
            </a:r>
            <a:r>
              <a:rPr lang="zh-CN" altLang="zh-CN" sz="1800" kern="1200" dirty="0">
                <a:solidFill>
                  <a:srgbClr val="000000"/>
                </a:solidFill>
                <a:effectLst/>
                <a:latin typeface="Arial" panose="020B0604020202020204" pitchFamily="34" charset="0"/>
                <a:ea typeface="楷体_GB2312"/>
                <a:cs typeface="Arial" panose="020B0604020202020204" pitchFamily="34" charset="0"/>
              </a:rPr>
              <a:t>短肽。</a:t>
            </a:r>
            <a:r>
              <a:rPr lang="zh-CN" altLang="zh-CN" sz="1800" b="1" kern="1200" dirty="0">
                <a:solidFill>
                  <a:srgbClr val="000000"/>
                </a:solidFill>
                <a:effectLst/>
                <a:latin typeface="Arial" panose="020B0604020202020204" pitchFamily="34" charset="0"/>
                <a:ea typeface="楷体_GB2312"/>
                <a:cs typeface="Arial" panose="020B0604020202020204" pitchFamily="34" charset="0"/>
              </a:rPr>
              <a:t>大多为抗生素类，这类寡肽是由细胞内的多酶体系经过多步反应而合成的</a:t>
            </a:r>
            <a:r>
              <a:rPr lang="zh-CN" altLang="zh-CN" sz="1800" kern="1200" dirty="0">
                <a:solidFill>
                  <a:srgbClr val="000000"/>
                </a:solidFill>
                <a:effectLst/>
                <a:latin typeface="Arial" panose="020B0604020202020204" pitchFamily="34" charset="0"/>
                <a:ea typeface="楷体_GB2312"/>
                <a:cs typeface="Arial" panose="020B0604020202020204" pitchFamily="34" charset="0"/>
              </a:rPr>
              <a:t>，基因组内</a:t>
            </a:r>
            <a:r>
              <a:rPr lang="zh-CN" altLang="en-US" sz="1800" kern="1200" dirty="0">
                <a:solidFill>
                  <a:srgbClr val="000000"/>
                </a:solidFill>
                <a:effectLst/>
                <a:latin typeface="Arial" panose="020B0604020202020204" pitchFamily="34" charset="0"/>
                <a:ea typeface="楷体_GB2312"/>
                <a:cs typeface="Arial" panose="020B0604020202020204" pitchFamily="34" charset="0"/>
              </a:rPr>
              <a:t>无对应</a:t>
            </a:r>
            <a:r>
              <a:rPr lang="zh-CN" altLang="zh-CN" sz="1800" kern="1200" dirty="0">
                <a:solidFill>
                  <a:srgbClr val="000000"/>
                </a:solidFill>
                <a:effectLst/>
                <a:latin typeface="Arial" panose="020B0604020202020204" pitchFamily="34" charset="0"/>
                <a:ea typeface="楷体_GB2312"/>
                <a:cs typeface="Arial" panose="020B0604020202020204" pitchFamily="34" charset="0"/>
              </a:rPr>
              <a:t>编码基因。</a:t>
            </a:r>
            <a:r>
              <a:rPr lang="en-US" altLang="zh-CN" sz="1800" kern="1200" dirty="0">
                <a:solidFill>
                  <a:srgbClr val="000000"/>
                </a:solidFill>
                <a:effectLst/>
                <a:latin typeface="Arial" panose="020B0604020202020204" pitchFamily="34" charset="0"/>
                <a:ea typeface="楷体_GB2312"/>
                <a:cs typeface="Arial" panose="020B0604020202020204" pitchFamily="34" charset="0"/>
              </a:rPr>
              <a:t>   </a:t>
            </a:r>
            <a:r>
              <a:rPr lang="zh-CN" altLang="zh-CN" sz="1800" b="1" kern="1200" dirty="0">
                <a:solidFill>
                  <a:srgbClr val="0000CC"/>
                </a:solidFill>
                <a:effectLst/>
                <a:latin typeface="Arial" panose="020B0604020202020204" pitchFamily="34" charset="0"/>
                <a:ea typeface="楷体_GB2312"/>
                <a:cs typeface="Arial" panose="020B0604020202020204" pitchFamily="34" charset="0"/>
              </a:rPr>
              <a:t>通常，这些寡肽对蛋白酶、消化酶也不敏感。</a:t>
            </a:r>
            <a:r>
              <a:rPr lang="en-US" altLang="zh-CN" sz="1800" b="1" kern="1200" dirty="0">
                <a:solidFill>
                  <a:srgbClr val="0000CC"/>
                </a:solidFill>
                <a:effectLst/>
                <a:latin typeface="Arial" panose="020B0604020202020204" pitchFamily="34" charset="0"/>
                <a:ea typeface="楷体_GB2312"/>
                <a:cs typeface="Arial" panose="020B0604020202020204" pitchFamily="34" charset="0"/>
              </a:rPr>
              <a:t> </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eaLnBrk="1" hangingPunct="1"/>
            <a:endParaRPr lang="en-US" altLang="zh-CN"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幻灯片图像占位符 1">
            <a:extLst>
              <a:ext uri="{FF2B5EF4-FFF2-40B4-BE49-F238E27FC236}">
                <a16:creationId xmlns:a16="http://schemas.microsoft.com/office/drawing/2014/main" id="{759CA983-B158-4207-B487-8003B2541B58}"/>
              </a:ext>
            </a:extLst>
          </p:cNvPr>
          <p:cNvSpPr>
            <a:spLocks noGrp="1" noRot="1" noChangeAspect="1" noChangeArrowheads="1" noTextEdit="1"/>
          </p:cNvSpPr>
          <p:nvPr>
            <p:ph type="sldImg"/>
          </p:nvPr>
        </p:nvSpPr>
        <p:spPr>
          <a:xfrm>
            <a:off x="381000" y="685800"/>
            <a:ext cx="6096000" cy="3429000"/>
          </a:xfrm>
          <a:ln/>
        </p:spPr>
      </p:sp>
      <p:sp>
        <p:nvSpPr>
          <p:cNvPr id="152579" name="备注占位符 2">
            <a:extLst>
              <a:ext uri="{FF2B5EF4-FFF2-40B4-BE49-F238E27FC236}">
                <a16:creationId xmlns:a16="http://schemas.microsoft.com/office/drawing/2014/main" id="{A3CCA0EB-0C64-4071-B268-7723AF57712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阿斯巴甜（</a:t>
            </a:r>
            <a:r>
              <a:rPr lang="en-US" altLang="zh-CN" dirty="0"/>
              <a:t>C14H18N2O5</a:t>
            </a:r>
            <a:r>
              <a:rPr lang="zh-CN" altLang="en-US" dirty="0"/>
              <a:t>，</a:t>
            </a:r>
            <a:r>
              <a:rPr lang="en-US" altLang="zh-CN" dirty="0" err="1"/>
              <a:t>Mr</a:t>
            </a:r>
            <a:r>
              <a:rPr lang="en-US" altLang="zh-CN" dirty="0"/>
              <a:t>=294.30</a:t>
            </a:r>
            <a:r>
              <a:rPr lang="zh-CN" altLang="en-US" dirty="0"/>
              <a:t>） 二肽衍生物。在体内迅速代谢为天冬氨酸、苯丙氨酸和甲醇</a:t>
            </a:r>
            <a:endParaRPr lang="en-US" altLang="zh-CN" dirty="0"/>
          </a:p>
          <a:p>
            <a:r>
              <a:rPr lang="zh-CN" altLang="en-US" b="1" dirty="0"/>
              <a:t>不适用于苯丙酮酸尿患者，要求在标签上标明“苯丙酮尿患者不宜使用”的警示。</a:t>
            </a:r>
            <a:endParaRPr lang="en-US" altLang="zh-CN" dirty="0"/>
          </a:p>
          <a:p>
            <a:endParaRPr lang="en-US" altLang="zh-CN" dirty="0"/>
          </a:p>
          <a:p>
            <a:pPr>
              <a:spcBef>
                <a:spcPct val="0"/>
              </a:spcBef>
            </a:pPr>
            <a:r>
              <a:rPr kumimoji="0" lang="ja-JP" altLang="en-US" sz="2400" dirty="0">
                <a:solidFill>
                  <a:srgbClr val="000066"/>
                </a:solidFill>
                <a:latin typeface="黑体" panose="02010609060101010101" pitchFamily="49" charset="-122"/>
              </a:rPr>
              <a:t>高温</a:t>
            </a:r>
            <a:r>
              <a:rPr kumimoji="0" lang="zh-CN" altLang="en-US" sz="2400" dirty="0">
                <a:solidFill>
                  <a:srgbClr val="000066"/>
                </a:solidFill>
                <a:latin typeface="黑体" panose="02010609060101010101" pitchFamily="49" charset="-122"/>
              </a:rPr>
              <a:t>下</a:t>
            </a:r>
            <a:r>
              <a:rPr kumimoji="0" lang="ja-JP" altLang="en-US" sz="2400" dirty="0">
                <a:solidFill>
                  <a:srgbClr val="000066"/>
                </a:solidFill>
                <a:latin typeface="黑体" panose="02010609060101010101" pitchFamily="49" charset="-122"/>
              </a:rPr>
              <a:t>分解</a:t>
            </a:r>
            <a:r>
              <a:rPr kumimoji="0" lang="zh-CN" altLang="en-US" sz="2400" dirty="0">
                <a:solidFill>
                  <a:srgbClr val="000066"/>
                </a:solidFill>
                <a:latin typeface="黑体" panose="02010609060101010101" pitchFamily="49" charset="-122"/>
              </a:rPr>
              <a:t>，故</a:t>
            </a:r>
            <a:r>
              <a:rPr kumimoji="0" lang="ja-JP" altLang="en-US" sz="2400" dirty="0">
                <a:solidFill>
                  <a:srgbClr val="000066"/>
                </a:solidFill>
                <a:latin typeface="黑体" panose="02010609060101010101" pitchFamily="49" charset="-122"/>
              </a:rPr>
              <a:t>不适合用于烹煮和热饮</a:t>
            </a:r>
            <a:r>
              <a:rPr kumimoji="0" lang="en-US" altLang="ja-JP" sz="2400" dirty="0">
                <a:solidFill>
                  <a:srgbClr val="000066"/>
                </a:solidFill>
                <a:latin typeface="黑体" panose="02010609060101010101" pitchFamily="49" charset="-122"/>
              </a:rPr>
              <a:t>.</a:t>
            </a:r>
            <a:endParaRPr kumimoji="0" lang="zh-CN" altLang="en-US" sz="2400" dirty="0">
              <a:solidFill>
                <a:srgbClr val="000066"/>
              </a:solidFill>
              <a:latin typeface="黑体" panose="02010609060101010101" pitchFamily="49" charset="-122"/>
            </a:endParaRPr>
          </a:p>
          <a:p>
            <a:endParaRPr lang="en-US" altLang="zh-CN" dirty="0"/>
          </a:p>
          <a:p>
            <a:r>
              <a:rPr lang="en-US" altLang="zh-CN" dirty="0"/>
              <a:t>1981</a:t>
            </a:r>
            <a:r>
              <a:rPr lang="zh-CN" altLang="en-US" dirty="0"/>
              <a:t>年经美国</a:t>
            </a:r>
            <a:r>
              <a:rPr lang="en-US" altLang="zh-CN" dirty="0"/>
              <a:t>FDA</a:t>
            </a:r>
            <a:r>
              <a:rPr lang="zh-CN" altLang="en-US" dirty="0"/>
              <a:t>批准用于干散食品、</a:t>
            </a:r>
            <a:r>
              <a:rPr lang="en-US" altLang="zh-CN" dirty="0"/>
              <a:t>1983</a:t>
            </a:r>
            <a:r>
              <a:rPr lang="zh-CN" altLang="en-US" dirty="0"/>
              <a:t>年允许配制软饮料后在全球</a:t>
            </a:r>
            <a:r>
              <a:rPr lang="en-US" altLang="zh-CN" dirty="0"/>
              <a:t>100</a:t>
            </a:r>
            <a:r>
              <a:rPr lang="zh-CN" altLang="en-US" dirty="0"/>
              <a:t>余个国家和地区被批准使用。</a:t>
            </a:r>
            <a:endParaRPr lang="en-US" altLang="zh-CN" dirty="0"/>
          </a:p>
          <a:p>
            <a:r>
              <a:rPr lang="zh-CN" altLang="en-US" dirty="0"/>
              <a:t>中国于</a:t>
            </a:r>
            <a:r>
              <a:rPr lang="en-US" altLang="zh-CN" dirty="0"/>
              <a:t>1986</a:t>
            </a:r>
            <a:r>
              <a:rPr lang="zh-CN" altLang="en-US" dirty="0"/>
              <a:t>年批准在食品中应用。</a:t>
            </a:r>
            <a:endParaRPr lang="en-US" altLang="zh-CN" dirty="0"/>
          </a:p>
          <a:p>
            <a:endParaRPr lang="en-US" altLang="zh-CN" dirty="0"/>
          </a:p>
        </p:txBody>
      </p:sp>
      <p:sp>
        <p:nvSpPr>
          <p:cNvPr id="152580" name="日期占位符 3">
            <a:extLst>
              <a:ext uri="{FF2B5EF4-FFF2-40B4-BE49-F238E27FC236}">
                <a16:creationId xmlns:a16="http://schemas.microsoft.com/office/drawing/2014/main" id="{C13D2E98-FE15-4C6F-811E-AB96E70B3E1D}"/>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39A61B1D-F212-4764-896F-A96970400C4B}"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52581" name="灯片编号占位符 4">
            <a:extLst>
              <a:ext uri="{FF2B5EF4-FFF2-40B4-BE49-F238E27FC236}">
                <a16:creationId xmlns:a16="http://schemas.microsoft.com/office/drawing/2014/main" id="{D1F537F6-780E-4920-BEED-19FE9EC3DE8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3C43FFA1-1946-4CA2-A55E-6FED7612F08D}" type="slidenum">
              <a:rPr lang="en-US" altLang="zh-CN" sz="1200" smtClean="0">
                <a:latin typeface="Tahoma" panose="020B0604030504040204" pitchFamily="34" charset="0"/>
              </a:rPr>
              <a:pPr/>
              <a:t>60</a:t>
            </a:fld>
            <a:endParaRPr lang="en-US" altLang="zh-CN" sz="1200">
              <a:latin typeface="Tahoma" panose="020B0604030504040204"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幻灯片图像占位符 1">
            <a:extLst>
              <a:ext uri="{FF2B5EF4-FFF2-40B4-BE49-F238E27FC236}">
                <a16:creationId xmlns:a16="http://schemas.microsoft.com/office/drawing/2014/main" id="{E22161AF-80BF-48FB-9558-1FFF7252B585}"/>
              </a:ext>
            </a:extLst>
          </p:cNvPr>
          <p:cNvSpPr>
            <a:spLocks noGrp="1" noRot="1" noChangeAspect="1" noChangeArrowheads="1" noTextEdit="1"/>
          </p:cNvSpPr>
          <p:nvPr>
            <p:ph type="sldImg"/>
          </p:nvPr>
        </p:nvSpPr>
        <p:spPr>
          <a:xfrm>
            <a:off x="381000" y="685800"/>
            <a:ext cx="6096000" cy="3429000"/>
          </a:xfrm>
          <a:ln/>
        </p:spPr>
      </p:sp>
      <p:sp>
        <p:nvSpPr>
          <p:cNvPr id="154627" name="备注占位符 2">
            <a:extLst>
              <a:ext uri="{FF2B5EF4-FFF2-40B4-BE49-F238E27FC236}">
                <a16:creationId xmlns:a16="http://schemas.microsoft.com/office/drawing/2014/main" id="{27138125-9749-4153-868B-BF8AD44AAE4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4628" name="日期占位符 3">
            <a:extLst>
              <a:ext uri="{FF2B5EF4-FFF2-40B4-BE49-F238E27FC236}">
                <a16:creationId xmlns:a16="http://schemas.microsoft.com/office/drawing/2014/main" id="{A497A364-387C-44D2-9059-CD5B751BE0CC}"/>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002C24E-AABF-4841-A34A-9BDAC5B4729E}"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54629" name="灯片编号占位符 4">
            <a:extLst>
              <a:ext uri="{FF2B5EF4-FFF2-40B4-BE49-F238E27FC236}">
                <a16:creationId xmlns:a16="http://schemas.microsoft.com/office/drawing/2014/main" id="{BD1CFAD1-C88D-4A94-931E-AD6E9E1A498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4154B42B-7045-4972-B602-6C5F4F735907}" type="slidenum">
              <a:rPr lang="en-US" altLang="zh-CN" sz="1200" smtClean="0">
                <a:latin typeface="Tahoma" panose="020B0604030504040204" pitchFamily="34" charset="0"/>
              </a:rPr>
              <a:pPr/>
              <a:t>61</a:t>
            </a:fld>
            <a:endParaRPr lang="en-US" altLang="zh-CN" sz="1200">
              <a:latin typeface="Tahoma" panose="020B0604030504040204" pitchFamily="34"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幻灯片图像占位符 1">
            <a:extLst>
              <a:ext uri="{FF2B5EF4-FFF2-40B4-BE49-F238E27FC236}">
                <a16:creationId xmlns:a16="http://schemas.microsoft.com/office/drawing/2014/main" id="{3D630FE4-65BC-46BE-9D16-0E76754E0CC0}"/>
              </a:ext>
            </a:extLst>
          </p:cNvPr>
          <p:cNvSpPr>
            <a:spLocks noGrp="1" noRot="1" noChangeAspect="1" noChangeArrowheads="1" noTextEdit="1"/>
          </p:cNvSpPr>
          <p:nvPr>
            <p:ph type="sldImg"/>
          </p:nvPr>
        </p:nvSpPr>
        <p:spPr>
          <a:xfrm>
            <a:off x="381000" y="685800"/>
            <a:ext cx="6096000" cy="3429000"/>
          </a:xfrm>
          <a:ln/>
        </p:spPr>
      </p:sp>
      <p:sp>
        <p:nvSpPr>
          <p:cNvPr id="156675" name="备注占位符 2">
            <a:extLst>
              <a:ext uri="{FF2B5EF4-FFF2-40B4-BE49-F238E27FC236}">
                <a16:creationId xmlns:a16="http://schemas.microsoft.com/office/drawing/2014/main" id="{81B1758E-0D92-4482-8497-B15E95A36A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6676" name="日期占位符 3">
            <a:extLst>
              <a:ext uri="{FF2B5EF4-FFF2-40B4-BE49-F238E27FC236}">
                <a16:creationId xmlns:a16="http://schemas.microsoft.com/office/drawing/2014/main" id="{151BDBF7-706E-4AB1-AEB3-9B4AD76DC9C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A5E30FE-FBCD-4788-AD93-9FB7F289A020}"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56677" name="灯片编号占位符 4">
            <a:extLst>
              <a:ext uri="{FF2B5EF4-FFF2-40B4-BE49-F238E27FC236}">
                <a16:creationId xmlns:a16="http://schemas.microsoft.com/office/drawing/2014/main" id="{F6257634-B6CE-4CD3-804D-9325DB62F0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9FFB88F8-504E-4501-AF03-A2DDD4590472}" type="slidenum">
              <a:rPr lang="en-US" altLang="zh-CN" sz="1200" smtClean="0">
                <a:latin typeface="Tahoma" panose="020B0604030504040204" pitchFamily="34" charset="0"/>
              </a:rPr>
              <a:pPr/>
              <a:t>62</a:t>
            </a:fld>
            <a:endParaRPr lang="en-US" altLang="zh-CN" sz="1200">
              <a:latin typeface="Tahoma" panose="020B0604030504040204"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幻灯片图像占位符 1">
            <a:extLst>
              <a:ext uri="{FF2B5EF4-FFF2-40B4-BE49-F238E27FC236}">
                <a16:creationId xmlns:a16="http://schemas.microsoft.com/office/drawing/2014/main" id="{554158B9-BE73-4E9B-9F58-AD43254C1FFD}"/>
              </a:ext>
            </a:extLst>
          </p:cNvPr>
          <p:cNvSpPr>
            <a:spLocks noGrp="1" noRot="1" noChangeAspect="1" noChangeArrowheads="1" noTextEdit="1"/>
          </p:cNvSpPr>
          <p:nvPr>
            <p:ph type="sldImg"/>
          </p:nvPr>
        </p:nvSpPr>
        <p:spPr>
          <a:xfrm>
            <a:off x="381000" y="685800"/>
            <a:ext cx="6096000" cy="3429000"/>
          </a:xfrm>
          <a:ln/>
        </p:spPr>
      </p:sp>
      <p:sp>
        <p:nvSpPr>
          <p:cNvPr id="158723" name="备注占位符 2">
            <a:extLst>
              <a:ext uri="{FF2B5EF4-FFF2-40B4-BE49-F238E27FC236}">
                <a16:creationId xmlns:a16="http://schemas.microsoft.com/office/drawing/2014/main" id="{B59A8270-F8FC-4485-9070-EE5553B20E4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8724" name="日期占位符 3">
            <a:extLst>
              <a:ext uri="{FF2B5EF4-FFF2-40B4-BE49-F238E27FC236}">
                <a16:creationId xmlns:a16="http://schemas.microsoft.com/office/drawing/2014/main" id="{486501C1-0AC7-4A46-90D5-07BF75E30561}"/>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D98A2522-4B46-4EFC-BC3F-0405AC473160}"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58725" name="灯片编号占位符 4">
            <a:extLst>
              <a:ext uri="{FF2B5EF4-FFF2-40B4-BE49-F238E27FC236}">
                <a16:creationId xmlns:a16="http://schemas.microsoft.com/office/drawing/2014/main" id="{1182D62A-0252-4C89-A8D1-0477B8F5C11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709465CF-6D21-41DB-A146-C6A06324409E}" type="slidenum">
              <a:rPr lang="en-US" altLang="zh-CN" sz="1200" smtClean="0">
                <a:latin typeface="Tahoma" panose="020B0604030504040204" pitchFamily="34" charset="0"/>
              </a:rPr>
              <a:pPr/>
              <a:t>63</a:t>
            </a:fld>
            <a:endParaRPr lang="en-US" altLang="zh-CN" sz="1200">
              <a:latin typeface="Tahoma" panose="020B0604030504040204"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3">
            <a:extLst>
              <a:ext uri="{FF2B5EF4-FFF2-40B4-BE49-F238E27FC236}">
                <a16:creationId xmlns:a16="http://schemas.microsoft.com/office/drawing/2014/main" id="{7AB439BD-B217-44CD-9695-15D1F9012459}"/>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066FDFD7-8D5C-4E74-8A58-68A7D7B77F5C}"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60771" name="Rectangle 7">
            <a:extLst>
              <a:ext uri="{FF2B5EF4-FFF2-40B4-BE49-F238E27FC236}">
                <a16:creationId xmlns:a16="http://schemas.microsoft.com/office/drawing/2014/main" id="{0F29258D-C44C-443E-A8FB-8A2CB1B910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5E597B6B-F607-4DC3-9090-47C036BC98A9}" type="slidenum">
              <a:rPr lang="en-US" altLang="zh-CN" sz="1200" smtClean="0">
                <a:latin typeface="Tahoma" panose="020B0604030504040204" pitchFamily="34" charset="0"/>
              </a:rPr>
              <a:pPr/>
              <a:t>64</a:t>
            </a:fld>
            <a:endParaRPr lang="en-US" altLang="zh-CN" sz="1200">
              <a:latin typeface="Tahoma" panose="020B0604030504040204" pitchFamily="34" charset="0"/>
            </a:endParaRPr>
          </a:p>
        </p:txBody>
      </p:sp>
      <p:sp>
        <p:nvSpPr>
          <p:cNvPr id="160772" name="Rectangle 2">
            <a:extLst>
              <a:ext uri="{FF2B5EF4-FFF2-40B4-BE49-F238E27FC236}">
                <a16:creationId xmlns:a16="http://schemas.microsoft.com/office/drawing/2014/main" id="{9C400BB0-4FB9-4430-8B60-13A72D94B603}"/>
              </a:ext>
            </a:extLst>
          </p:cNvPr>
          <p:cNvSpPr>
            <a:spLocks noGrp="1" noRot="1" noChangeAspect="1" noChangeArrowheads="1" noTextEdit="1"/>
          </p:cNvSpPr>
          <p:nvPr>
            <p:ph type="sldImg"/>
          </p:nvPr>
        </p:nvSpPr>
        <p:spPr>
          <a:xfrm>
            <a:off x="381000" y="685800"/>
            <a:ext cx="6096000" cy="3429000"/>
          </a:xfrm>
          <a:ln/>
        </p:spPr>
      </p:sp>
      <p:sp>
        <p:nvSpPr>
          <p:cNvPr id="160773" name="Rectangle 3">
            <a:extLst>
              <a:ext uri="{FF2B5EF4-FFF2-40B4-BE49-F238E27FC236}">
                <a16:creationId xmlns:a16="http://schemas.microsoft.com/office/drawing/2014/main" id="{06FA8BC8-0255-4365-BF36-EA2AC2621C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sz="2400" b="0" dirty="0">
                <a:ea typeface="黑体" panose="02010609060101010101" pitchFamily="49" charset="-122"/>
              </a:rPr>
              <a:t>1952 </a:t>
            </a:r>
            <a:r>
              <a:rPr lang="zh-CN" altLang="en-US" sz="2400" b="0" dirty="0">
                <a:ea typeface="黑体" panose="02010609060101010101" pitchFamily="49" charset="-122"/>
              </a:rPr>
              <a:t>年丹麦科学家</a:t>
            </a:r>
            <a:r>
              <a:rPr lang="en-US" altLang="zh-CN" sz="2400" b="0" dirty="0" err="1">
                <a:ea typeface="黑体" panose="02010609060101010101" pitchFamily="49" charset="-122"/>
              </a:rPr>
              <a:t>Linderstrom</a:t>
            </a:r>
            <a:r>
              <a:rPr lang="en-US" altLang="zh-CN" sz="2400" b="0" dirty="0">
                <a:ea typeface="黑体" panose="02010609060101010101" pitchFamily="49" charset="-122"/>
              </a:rPr>
              <a:t> L. </a:t>
            </a:r>
            <a:r>
              <a:rPr lang="zh-CN" altLang="en-US" sz="2400" b="0" dirty="0">
                <a:ea typeface="黑体" panose="02010609060101010101" pitchFamily="49" charset="-122"/>
              </a:rPr>
              <a:t>建议将蛋白质复杂的分子结构分成</a:t>
            </a:r>
            <a:r>
              <a:rPr lang="en-US" altLang="zh-CN" sz="2400" b="0" dirty="0">
                <a:ea typeface="黑体" panose="02010609060101010101" pitchFamily="49" charset="-122"/>
              </a:rPr>
              <a:t>4</a:t>
            </a:r>
            <a:r>
              <a:rPr lang="zh-CN" altLang="en-US" sz="2400" b="0" dirty="0">
                <a:ea typeface="黑体" panose="02010609060101010101" pitchFamily="49" charset="-122"/>
              </a:rPr>
              <a:t>个层次，即一级、二级、三级、四级结构，后三者统称为高级结构或空间构象（</a:t>
            </a:r>
            <a:r>
              <a:rPr lang="en-US" altLang="zh-CN" sz="2400" b="0" dirty="0">
                <a:ea typeface="黑体" panose="02010609060101010101" pitchFamily="49" charset="-122"/>
              </a:rPr>
              <a:t>conformation)</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3">
            <a:extLst>
              <a:ext uri="{FF2B5EF4-FFF2-40B4-BE49-F238E27FC236}">
                <a16:creationId xmlns:a16="http://schemas.microsoft.com/office/drawing/2014/main" id="{BAE1A437-01AB-4C18-8CF1-BD424A6804C3}"/>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9254A04D-CBDF-49F5-BB05-1B26E9FAAB02}"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62819" name="Rectangle 7">
            <a:extLst>
              <a:ext uri="{FF2B5EF4-FFF2-40B4-BE49-F238E27FC236}">
                <a16:creationId xmlns:a16="http://schemas.microsoft.com/office/drawing/2014/main" id="{169EDC59-FBD7-4057-9FC3-8D1767DF88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F24532DF-4C13-4991-B3A1-36764DDCC3BF}" type="slidenum">
              <a:rPr lang="en-US" altLang="zh-CN" sz="1200" smtClean="0">
                <a:latin typeface="Tahoma" panose="020B0604030504040204" pitchFamily="34" charset="0"/>
              </a:rPr>
              <a:pPr/>
              <a:t>65</a:t>
            </a:fld>
            <a:endParaRPr lang="en-US" altLang="zh-CN" sz="1200">
              <a:latin typeface="Tahoma" panose="020B0604030504040204" pitchFamily="34" charset="0"/>
            </a:endParaRPr>
          </a:p>
        </p:txBody>
      </p:sp>
      <p:sp>
        <p:nvSpPr>
          <p:cNvPr id="162820" name="Rectangle 2">
            <a:extLst>
              <a:ext uri="{FF2B5EF4-FFF2-40B4-BE49-F238E27FC236}">
                <a16:creationId xmlns:a16="http://schemas.microsoft.com/office/drawing/2014/main" id="{F3547F17-6875-49D1-919B-BE0097296F76}"/>
              </a:ext>
            </a:extLst>
          </p:cNvPr>
          <p:cNvSpPr>
            <a:spLocks noGrp="1" noRot="1" noChangeAspect="1" noChangeArrowheads="1" noTextEdit="1"/>
          </p:cNvSpPr>
          <p:nvPr>
            <p:ph type="sldImg"/>
          </p:nvPr>
        </p:nvSpPr>
        <p:spPr>
          <a:xfrm>
            <a:off x="381000" y="685800"/>
            <a:ext cx="6096000" cy="3429000"/>
          </a:xfrm>
          <a:ln/>
        </p:spPr>
      </p:sp>
      <p:sp>
        <p:nvSpPr>
          <p:cNvPr id="162821" name="Rectangle 3">
            <a:extLst>
              <a:ext uri="{FF2B5EF4-FFF2-40B4-BE49-F238E27FC236}">
                <a16:creationId xmlns:a16="http://schemas.microsoft.com/office/drawing/2014/main" id="{AAE659E1-BD2D-4900-9194-D0A84DD84E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幻灯片图像占位符 1">
            <a:extLst>
              <a:ext uri="{FF2B5EF4-FFF2-40B4-BE49-F238E27FC236}">
                <a16:creationId xmlns:a16="http://schemas.microsoft.com/office/drawing/2014/main" id="{BE5456B1-C94B-4B7D-BF2F-2FE1DEA4A81E}"/>
              </a:ext>
            </a:extLst>
          </p:cNvPr>
          <p:cNvSpPr>
            <a:spLocks noGrp="1" noRot="1" noChangeAspect="1" noChangeArrowheads="1" noTextEdit="1"/>
          </p:cNvSpPr>
          <p:nvPr>
            <p:ph type="sldImg"/>
          </p:nvPr>
        </p:nvSpPr>
        <p:spPr>
          <a:xfrm>
            <a:off x="381000" y="685800"/>
            <a:ext cx="6096000" cy="3429000"/>
          </a:xfrm>
          <a:ln/>
        </p:spPr>
      </p:sp>
      <p:sp>
        <p:nvSpPr>
          <p:cNvPr id="164867" name="备注占位符 2">
            <a:extLst>
              <a:ext uri="{FF2B5EF4-FFF2-40B4-BE49-F238E27FC236}">
                <a16:creationId xmlns:a16="http://schemas.microsoft.com/office/drawing/2014/main" id="{B4CE85B7-BBFC-4467-89AF-98612E39586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理论上，一种蛋白质的构象有无数种，但具有生物活性的蛋白质往往只有一种或很少几种</a:t>
            </a:r>
            <a:r>
              <a:rPr lang="zh-CN" altLang="en-US" b="1" dirty="0"/>
              <a:t>稳定</a:t>
            </a:r>
            <a:r>
              <a:rPr lang="zh-CN" altLang="en-US" dirty="0"/>
              <a:t>构象，这是由蛋白质分子中肽键的性质决定的。不同的构象之间可以相互转变。 </a:t>
            </a:r>
          </a:p>
          <a:p>
            <a:endParaRPr lang="en-US" altLang="zh-CN" dirty="0"/>
          </a:p>
          <a:p>
            <a:r>
              <a:rPr lang="zh-CN" altLang="en-US" b="1" dirty="0"/>
              <a:t>最稳定的蛋白质构象就是其自由能最低时的构象，也是所含非共价键最多时的构象。 </a:t>
            </a:r>
            <a:endParaRPr lang="en-US" altLang="zh-CN" b="1" dirty="0"/>
          </a:p>
          <a:p>
            <a:endParaRPr lang="en-US" altLang="zh-CN" dirty="0"/>
          </a:p>
        </p:txBody>
      </p:sp>
      <p:sp>
        <p:nvSpPr>
          <p:cNvPr id="164868" name="日期占位符 3">
            <a:extLst>
              <a:ext uri="{FF2B5EF4-FFF2-40B4-BE49-F238E27FC236}">
                <a16:creationId xmlns:a16="http://schemas.microsoft.com/office/drawing/2014/main" id="{9318DECF-255E-42C2-BFD3-69ECB7725924}"/>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1557975-B410-413E-AA36-F6F8FF76380A}"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64869" name="灯片编号占位符 4">
            <a:extLst>
              <a:ext uri="{FF2B5EF4-FFF2-40B4-BE49-F238E27FC236}">
                <a16:creationId xmlns:a16="http://schemas.microsoft.com/office/drawing/2014/main" id="{2EE92431-44AA-4F5C-A7AA-7C07E9A92C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DDC5BEF-9C62-4C92-93CB-8CAE77087249}" type="slidenum">
              <a:rPr lang="en-US" altLang="zh-CN" sz="1200" smtClean="0">
                <a:latin typeface="Tahoma" panose="020B0604030504040204" pitchFamily="34" charset="0"/>
              </a:rPr>
              <a:pPr/>
              <a:t>66</a:t>
            </a:fld>
            <a:endParaRPr lang="en-US" altLang="zh-CN" sz="1200">
              <a:latin typeface="Tahoma" panose="020B0604030504040204" pitchFamily="34"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3">
            <a:extLst>
              <a:ext uri="{FF2B5EF4-FFF2-40B4-BE49-F238E27FC236}">
                <a16:creationId xmlns:a16="http://schemas.microsoft.com/office/drawing/2014/main" id="{98A1EEF6-820A-45B4-9628-04B6A29DC3F4}"/>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AA52C4B-EF4F-4AD8-A5BF-A2D6AA9D55BA}"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66915" name="Rectangle 7">
            <a:extLst>
              <a:ext uri="{FF2B5EF4-FFF2-40B4-BE49-F238E27FC236}">
                <a16:creationId xmlns:a16="http://schemas.microsoft.com/office/drawing/2014/main" id="{C0DA3B26-A2CF-4061-964A-33F5F63998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09279B4A-E05B-4183-B0EF-E6698B695E68}" type="slidenum">
              <a:rPr lang="en-US" altLang="zh-CN" sz="1200" smtClean="0">
                <a:latin typeface="Tahoma" panose="020B0604030504040204" pitchFamily="34" charset="0"/>
              </a:rPr>
              <a:pPr/>
              <a:t>67</a:t>
            </a:fld>
            <a:endParaRPr lang="en-US" altLang="zh-CN" sz="1200">
              <a:latin typeface="Tahoma" panose="020B0604030504040204" pitchFamily="34" charset="0"/>
            </a:endParaRPr>
          </a:p>
        </p:txBody>
      </p:sp>
      <p:sp>
        <p:nvSpPr>
          <p:cNvPr id="166916" name="Rectangle 2">
            <a:extLst>
              <a:ext uri="{FF2B5EF4-FFF2-40B4-BE49-F238E27FC236}">
                <a16:creationId xmlns:a16="http://schemas.microsoft.com/office/drawing/2014/main" id="{218197D9-4D71-4AE0-A4AA-0354A9AEE4C3}"/>
              </a:ext>
            </a:extLst>
          </p:cNvPr>
          <p:cNvSpPr>
            <a:spLocks noGrp="1" noRot="1" noChangeAspect="1" noChangeArrowheads="1" noTextEdit="1"/>
          </p:cNvSpPr>
          <p:nvPr>
            <p:ph type="sldImg"/>
          </p:nvPr>
        </p:nvSpPr>
        <p:spPr>
          <a:xfrm>
            <a:off x="381000" y="685800"/>
            <a:ext cx="6096000" cy="3429000"/>
          </a:xfrm>
          <a:ln/>
        </p:spPr>
      </p:sp>
      <p:sp>
        <p:nvSpPr>
          <p:cNvPr id="166917" name="Rectangle 3">
            <a:extLst>
              <a:ext uri="{FF2B5EF4-FFF2-40B4-BE49-F238E27FC236}">
                <a16:creationId xmlns:a16="http://schemas.microsoft.com/office/drawing/2014/main" id="{66411C75-CC51-4B8F-8809-BC93061C77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幻灯片图像占位符 1">
            <a:extLst>
              <a:ext uri="{FF2B5EF4-FFF2-40B4-BE49-F238E27FC236}">
                <a16:creationId xmlns:a16="http://schemas.microsoft.com/office/drawing/2014/main" id="{1A9FB512-F5D9-40A5-AE64-8F4004D4F697}"/>
              </a:ext>
            </a:extLst>
          </p:cNvPr>
          <p:cNvSpPr>
            <a:spLocks noGrp="1" noRot="1" noChangeAspect="1" noChangeArrowheads="1" noTextEdit="1"/>
          </p:cNvSpPr>
          <p:nvPr>
            <p:ph type="sldImg"/>
          </p:nvPr>
        </p:nvSpPr>
        <p:spPr>
          <a:xfrm>
            <a:off x="381000" y="685800"/>
            <a:ext cx="6096000" cy="3429000"/>
          </a:xfrm>
          <a:ln/>
        </p:spPr>
      </p:sp>
      <p:sp>
        <p:nvSpPr>
          <p:cNvPr id="171011" name="备注占位符 2">
            <a:extLst>
              <a:ext uri="{FF2B5EF4-FFF2-40B4-BE49-F238E27FC236}">
                <a16:creationId xmlns:a16="http://schemas.microsoft.com/office/drawing/2014/main" id="{0BA0EE4D-18F5-46D4-9603-D328E54A95C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三条蓝色短棒表示氢键</a:t>
            </a:r>
            <a:endParaRPr lang="en-US" altLang="zh-CN" dirty="0"/>
          </a:p>
          <a:p>
            <a:endParaRPr lang="en-US" altLang="zh-CN" dirty="0"/>
          </a:p>
          <a:p>
            <a:r>
              <a:rPr lang="en-US" altLang="zh-CN" dirty="0"/>
              <a:t>Alcohols, aldehydes, ketones, and compounds containing N—H bonds all form hydrogen bonds with water molecules and tend to be soluble in water</a:t>
            </a:r>
          </a:p>
          <a:p>
            <a:endParaRPr lang="en-US" altLang="zh-CN" dirty="0"/>
          </a:p>
          <a:p>
            <a:r>
              <a:rPr lang="zh-CN" altLang="en-US" dirty="0"/>
              <a:t>蛋白质、核酸的稳定很大程度依赖氢键。</a:t>
            </a:r>
            <a:endParaRPr lang="en-US" altLang="zh-CN" dirty="0"/>
          </a:p>
          <a:p>
            <a:endParaRPr lang="en-US" altLang="zh-CN" dirty="0"/>
          </a:p>
          <a:p>
            <a:r>
              <a:rPr lang="zh-CN" altLang="en-US" dirty="0"/>
              <a:t>氢键：一个已与负电性原子氧或氮以共价键相联的氢原子与另一个负电性很强的原子（一般为氧或氮原子）之间的相互吸引作用</a:t>
            </a:r>
          </a:p>
        </p:txBody>
      </p:sp>
      <p:sp>
        <p:nvSpPr>
          <p:cNvPr id="171012" name="日期占位符 3">
            <a:extLst>
              <a:ext uri="{FF2B5EF4-FFF2-40B4-BE49-F238E27FC236}">
                <a16:creationId xmlns:a16="http://schemas.microsoft.com/office/drawing/2014/main" id="{B36FA9E5-3CCE-42C0-A150-3CFF863FBC67}"/>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DBED2A11-79A5-4749-BD82-8AEFADE0718A}"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71013" name="灯片编号占位符 4">
            <a:extLst>
              <a:ext uri="{FF2B5EF4-FFF2-40B4-BE49-F238E27FC236}">
                <a16:creationId xmlns:a16="http://schemas.microsoft.com/office/drawing/2014/main" id="{727A8A40-0C88-475B-9A7B-F7237E73E27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5C38422-61F2-4E48-808A-B5CAD49C0D61}" type="slidenum">
              <a:rPr lang="en-US" altLang="zh-CN" sz="1200" smtClean="0">
                <a:latin typeface="Tahoma" panose="020B0604030504040204" pitchFamily="34" charset="0"/>
              </a:rPr>
              <a:pPr/>
              <a:t>68</a:t>
            </a:fld>
            <a:endParaRPr lang="en-US" altLang="zh-CN" sz="1200">
              <a:latin typeface="Tahoma" panose="020B0604030504040204" pitchFamily="34"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仔细考查弱相互作用对蛋白质稳定性的贡献，我们发现疏水相互作用通常是占优势的 。 </a:t>
            </a:r>
            <a:endParaRPr lang="en-US" altLang="zh-CN" dirty="0"/>
          </a:p>
          <a:p>
            <a:r>
              <a:rPr lang="zh-CN" altLang="en-US" dirty="0"/>
              <a:t>纯水含有氢键键合的水分子网 ，其他分子不具有水的氢键键合势，其他分子在水溶液中的存在会破坏水的氢键键合 。 当水围绕一个疏水分子时，氢键的最适排列使得水绕着疏水分子形成一个高度结构化的笼形壳</a:t>
            </a:r>
            <a:r>
              <a:rPr lang="en-US" altLang="zh-CN" dirty="0"/>
              <a:t>, </a:t>
            </a:r>
            <a:r>
              <a:rPr lang="zh-CN" altLang="en-US" dirty="0"/>
              <a:t>或称</a:t>
            </a:r>
            <a:r>
              <a:rPr lang="zh-CN" altLang="en-US" b="1" dirty="0"/>
              <a:t>溶剂化层 </a:t>
            </a:r>
            <a:r>
              <a:rPr lang="en-US" altLang="zh-CN" b="1" dirty="0"/>
              <a:t>( solvation layer) </a:t>
            </a:r>
            <a:r>
              <a:rPr lang="zh-CN" altLang="en-US" dirty="0"/>
              <a:t>。 在溶剂化层中水分子的有序度增加，随之水的墒发生不利的减小。然而，当非极性基团聚集在一起时，溶剂化层的范围缩小，因为每个基团不再是把整个表面暴露在溶液中 。</a:t>
            </a:r>
            <a:r>
              <a:rPr lang="zh-CN" altLang="en-US" b="1" dirty="0"/>
              <a:t> 疏水相互作用的总结果是熵的有利增加，熵的这种增加是水溶液中疏水基团缔合的主要的热力学驱动力，或者说疏水相互作用是熵驱动的自发过程。</a:t>
            </a:r>
            <a:r>
              <a:rPr lang="zh-CN" altLang="en-US" dirty="0"/>
              <a:t> 因此疏水氨基酸侧链倾向于聚集在蛋白质的内部，而远离水（犹如水中油的聚集）。 </a:t>
            </a:r>
            <a:endParaRPr lang="en-US" altLang="zh-CN" dirty="0"/>
          </a:p>
          <a:p>
            <a:r>
              <a:rPr lang="zh-CN" altLang="en-US" dirty="0"/>
              <a:t>大多数蛋白质的氨基酸序列，其疏水氨基酸侧链（特别是 </a:t>
            </a:r>
            <a:r>
              <a:rPr lang="en-US" altLang="zh-CN" dirty="0"/>
              <a:t>Leu </a:t>
            </a:r>
            <a:r>
              <a:rPr lang="zh-CN" altLang="en-US" dirty="0"/>
              <a:t>、</a:t>
            </a:r>
            <a:r>
              <a:rPr lang="en-US" altLang="zh-CN" dirty="0"/>
              <a:t>Ile </a:t>
            </a:r>
            <a:r>
              <a:rPr lang="zh-CN" altLang="en-US" dirty="0"/>
              <a:t>、</a:t>
            </a:r>
            <a:r>
              <a:rPr lang="en-US" altLang="zh-CN" dirty="0"/>
              <a:t>Val </a:t>
            </a:r>
            <a:r>
              <a:rPr lang="zh-CN" altLang="en-US" dirty="0"/>
              <a:t>、</a:t>
            </a:r>
            <a:r>
              <a:rPr lang="en-US" altLang="zh-CN" dirty="0" err="1"/>
              <a:t>Phe</a:t>
            </a:r>
            <a:r>
              <a:rPr lang="en-US" altLang="zh-CN" dirty="0"/>
              <a:t> </a:t>
            </a:r>
            <a:r>
              <a:rPr lang="zh-CN" altLang="en-US" dirty="0"/>
              <a:t>和 </a:t>
            </a:r>
            <a:r>
              <a:rPr lang="en-US" altLang="zh-CN" dirty="0" err="1"/>
              <a:t>Trp</a:t>
            </a:r>
            <a:r>
              <a:rPr lang="en-US" altLang="zh-CN" dirty="0"/>
              <a:t>) </a:t>
            </a:r>
            <a:r>
              <a:rPr lang="zh-CN" altLang="en-US" dirty="0"/>
              <a:t>的含量相当高，它们在多肽链中所处的位置有利于肽链折叠时聚集成蛋白质的疏水核 </a:t>
            </a:r>
            <a:r>
              <a:rPr lang="en-US" altLang="zh-CN" dirty="0"/>
              <a:t>(hydrophobic core) </a:t>
            </a:r>
            <a:r>
              <a:rPr lang="zh-CN" altLang="en-US" dirty="0"/>
              <a:t>。 </a:t>
            </a:r>
          </a:p>
          <a:p>
            <a:endParaRPr lang="en-US" altLang="zh-CN" dirty="0"/>
          </a:p>
          <a:p>
            <a:endParaRPr lang="zh-CN" altLang="en-US" dirty="0"/>
          </a:p>
        </p:txBody>
      </p:sp>
      <p:sp>
        <p:nvSpPr>
          <p:cNvPr id="4" name="日期占位符 3"/>
          <p:cNvSpPr>
            <a:spLocks noGrp="1"/>
          </p:cNvSpPr>
          <p:nvPr>
            <p:ph type="dt" idx="1"/>
          </p:nvPr>
        </p:nvSpPr>
        <p:spPr/>
        <p:txBody>
          <a:bodyPr/>
          <a:lstStyle/>
          <a:p>
            <a:pPr>
              <a:defRPr/>
            </a:pPr>
            <a:fld id="{EA205CC4-1CAE-4FA1-A962-1A34DB7C7879}" type="datetime1">
              <a:rPr lang="zh-CN" altLang="en-US" smtClean="0"/>
              <a:pPr>
                <a:defRPr/>
              </a:pPr>
              <a:t>2026/9/1</a:t>
            </a:fld>
            <a:endParaRPr lang="en-US" altLang="zh-CN" dirty="0"/>
          </a:p>
        </p:txBody>
      </p:sp>
      <p:sp>
        <p:nvSpPr>
          <p:cNvPr id="5" name="灯片编号占位符 4"/>
          <p:cNvSpPr>
            <a:spLocks noGrp="1"/>
          </p:cNvSpPr>
          <p:nvPr>
            <p:ph type="sldNum" sz="quarter" idx="5"/>
          </p:nvPr>
        </p:nvSpPr>
        <p:spPr/>
        <p:txBody>
          <a:bodyPr/>
          <a:lstStyle/>
          <a:p>
            <a:pPr>
              <a:defRPr/>
            </a:pPr>
            <a:fld id="{F17E7B64-D31F-49F9-A602-099D7B13B654}" type="slidenum">
              <a:rPr lang="en-US" altLang="zh-CN" smtClean="0"/>
              <a:pPr>
                <a:defRPr/>
              </a:pPr>
              <a:t>69</a:t>
            </a:fld>
            <a:endParaRPr lang="en-US" altLang="zh-CN" dirty="0"/>
          </a:p>
        </p:txBody>
      </p:sp>
    </p:spTree>
    <p:extLst>
      <p:ext uri="{BB962C8B-B14F-4D97-AF65-F5344CB8AC3E}">
        <p14:creationId xmlns:p14="http://schemas.microsoft.com/office/powerpoint/2010/main" val="273228747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幻灯片图像占位符 1">
            <a:extLst>
              <a:ext uri="{FF2B5EF4-FFF2-40B4-BE49-F238E27FC236}">
                <a16:creationId xmlns:a16="http://schemas.microsoft.com/office/drawing/2014/main" id="{659A9EE0-55D0-49AC-92C5-425661D3BDD9}"/>
              </a:ext>
            </a:extLst>
          </p:cNvPr>
          <p:cNvSpPr>
            <a:spLocks noGrp="1" noRot="1" noChangeAspect="1" noChangeArrowheads="1" noTextEdit="1"/>
          </p:cNvSpPr>
          <p:nvPr>
            <p:ph type="sldImg"/>
          </p:nvPr>
        </p:nvSpPr>
        <p:spPr>
          <a:xfrm>
            <a:off x="381000" y="685800"/>
            <a:ext cx="6096000" cy="3429000"/>
          </a:xfrm>
          <a:ln/>
        </p:spPr>
      </p:sp>
      <p:sp>
        <p:nvSpPr>
          <p:cNvPr id="173059" name="备注占位符 2">
            <a:extLst>
              <a:ext uri="{FF2B5EF4-FFF2-40B4-BE49-F238E27FC236}">
                <a16:creationId xmlns:a16="http://schemas.microsoft.com/office/drawing/2014/main" id="{48E57FEF-E915-409F-A874-EEBB3FA69D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在给定的一套条件下存在的构象一般是热力学上最稳定的构象，也即 </a:t>
            </a:r>
            <a:r>
              <a:rPr lang="en-US" altLang="zh-CN" dirty="0"/>
              <a:t>Gibbs </a:t>
            </a:r>
            <a:r>
              <a:rPr lang="zh-CN" altLang="en-US" dirty="0"/>
              <a:t>自由能 </a:t>
            </a:r>
            <a:r>
              <a:rPr lang="en-US" altLang="zh-CN" dirty="0"/>
              <a:t>(G) </a:t>
            </a:r>
            <a:r>
              <a:rPr lang="zh-CN" altLang="en-US" dirty="0"/>
              <a:t>最低的构象 。 任何一种处于有功能的折叠构象的蛋白质称为天然蛋白质 </a:t>
            </a:r>
            <a:r>
              <a:rPr lang="en-US" altLang="zh-CN" dirty="0"/>
              <a:t>(native protein) </a:t>
            </a:r>
            <a:r>
              <a:rPr lang="zh-CN" altLang="en-US" dirty="0"/>
              <a:t>。</a:t>
            </a:r>
            <a:endParaRPr lang="en-US" altLang="zh-CN" dirty="0"/>
          </a:p>
          <a:p>
            <a:endParaRPr lang="en-US" altLang="zh-CN" dirty="0"/>
          </a:p>
          <a:p>
            <a:r>
              <a:rPr lang="zh-CN" altLang="en-US" dirty="0"/>
              <a:t>二硫键对某些蛋白结构的稳定比较重要。</a:t>
            </a:r>
          </a:p>
          <a:p>
            <a:endParaRPr lang="en-US" altLang="zh-CN" dirty="0"/>
          </a:p>
          <a:p>
            <a:endParaRPr lang="en-US" altLang="zh-CN" dirty="0"/>
          </a:p>
        </p:txBody>
      </p:sp>
      <p:sp>
        <p:nvSpPr>
          <p:cNvPr id="173060" name="日期占位符 3">
            <a:extLst>
              <a:ext uri="{FF2B5EF4-FFF2-40B4-BE49-F238E27FC236}">
                <a16:creationId xmlns:a16="http://schemas.microsoft.com/office/drawing/2014/main" id="{38277B57-BF6E-479C-8060-6DFBF79DA4E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4D78FB04-8BDA-4B98-ADA5-05B3E44E3D57}"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73061" name="灯片编号占位符 4">
            <a:extLst>
              <a:ext uri="{FF2B5EF4-FFF2-40B4-BE49-F238E27FC236}">
                <a16:creationId xmlns:a16="http://schemas.microsoft.com/office/drawing/2014/main" id="{DB61122E-846F-4691-868E-3E767DA4FE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9B9CEE2C-F85A-420C-BCC0-1038B48D59D5}" type="slidenum">
              <a:rPr lang="en-US" altLang="zh-CN" sz="1200" smtClean="0">
                <a:latin typeface="Tahoma" panose="020B0604030504040204" pitchFamily="34" charset="0"/>
              </a:rPr>
              <a:pPr/>
              <a:t>70</a:t>
            </a:fld>
            <a:endParaRPr lang="en-US" altLang="zh-CN" sz="1200">
              <a:latin typeface="Tahoma" panose="020B0604030504040204" pitchFamily="34"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3">
            <a:extLst>
              <a:ext uri="{FF2B5EF4-FFF2-40B4-BE49-F238E27FC236}">
                <a16:creationId xmlns:a16="http://schemas.microsoft.com/office/drawing/2014/main" id="{1E143BFC-55F4-40BA-804E-5852DC58A4D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FFC54AD-B136-4446-8A28-DAB0066DCA6E}"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75107" name="Rectangle 7">
            <a:extLst>
              <a:ext uri="{FF2B5EF4-FFF2-40B4-BE49-F238E27FC236}">
                <a16:creationId xmlns:a16="http://schemas.microsoft.com/office/drawing/2014/main" id="{78A53F1A-6752-445B-A469-3A6788C9BC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73C9D58B-19FB-466D-B370-AFDF477B78D1}" type="slidenum">
              <a:rPr lang="en-US" altLang="zh-CN" sz="1200" smtClean="0">
                <a:latin typeface="Tahoma" panose="020B0604030504040204" pitchFamily="34" charset="0"/>
              </a:rPr>
              <a:pPr/>
              <a:t>71</a:t>
            </a:fld>
            <a:endParaRPr lang="en-US" altLang="zh-CN" sz="1200">
              <a:latin typeface="Tahoma" panose="020B0604030504040204" pitchFamily="34" charset="0"/>
            </a:endParaRPr>
          </a:p>
        </p:txBody>
      </p:sp>
      <p:sp>
        <p:nvSpPr>
          <p:cNvPr id="175108" name="Rectangle 2">
            <a:extLst>
              <a:ext uri="{FF2B5EF4-FFF2-40B4-BE49-F238E27FC236}">
                <a16:creationId xmlns:a16="http://schemas.microsoft.com/office/drawing/2014/main" id="{4E608C48-7A0A-4521-8A4B-A402E8484218}"/>
              </a:ext>
            </a:extLst>
          </p:cNvPr>
          <p:cNvSpPr>
            <a:spLocks noGrp="1" noRot="1" noChangeAspect="1" noChangeArrowheads="1" noTextEdit="1"/>
          </p:cNvSpPr>
          <p:nvPr>
            <p:ph type="sldImg"/>
          </p:nvPr>
        </p:nvSpPr>
        <p:spPr>
          <a:xfrm>
            <a:off x="381000" y="685800"/>
            <a:ext cx="6096000" cy="3429000"/>
          </a:xfrm>
          <a:ln/>
        </p:spPr>
      </p:sp>
      <p:sp>
        <p:nvSpPr>
          <p:cNvPr id="175109" name="Rectangle 3">
            <a:extLst>
              <a:ext uri="{FF2B5EF4-FFF2-40B4-BE49-F238E27FC236}">
                <a16:creationId xmlns:a16="http://schemas.microsoft.com/office/drawing/2014/main" id="{E8AB0246-65B2-4CAE-B339-C79D08F576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lang="zh-CN" altLang="en-US" dirty="0">
                <a:latin typeface="楷体_GB2312" pitchFamily="49" charset="-122"/>
                <a:ea typeface="楷体_GB2312" pitchFamily="49" charset="-122"/>
              </a:rPr>
              <a:t>实验室里测定蛋白质的一级结构，除了要确定所含肽链数目以及每条肽链的氨基酸排列顺序，也包括解析其中二硫键的位置（少数蛋白质有二硫键）。</a:t>
            </a:r>
            <a:endParaRPr lang="en-US" altLang="zh-CN" dirty="0">
              <a:latin typeface="楷体_GB2312" pitchFamily="49" charset="-122"/>
              <a:ea typeface="楷体_GB2312" pitchFamily="49" charset="-122"/>
            </a:endParaRPr>
          </a:p>
          <a:p>
            <a:pPr algn="just" eaLnBrk="1" hangingPunct="1"/>
            <a:r>
              <a:rPr lang="zh-CN" altLang="en-US" dirty="0">
                <a:latin typeface="楷体_GB2312" pitchFamily="49" charset="-122"/>
                <a:ea typeface="楷体_GB2312" pitchFamily="49" charset="-122"/>
              </a:rPr>
              <a:t>但二硫键不是维持蛋白质一级结构的化学键， 而是参与维持三级结构的化学键。  二硫键本身不影响肽链的完整性。</a:t>
            </a:r>
            <a:endParaRPr lang="en-US" altLang="zh-CN" dirty="0">
              <a:latin typeface="楷体_GB2312" pitchFamily="49" charset="-122"/>
              <a:ea typeface="楷体_GB2312" pitchFamily="49" charset="-122"/>
            </a:endParaRPr>
          </a:p>
          <a:p>
            <a:pPr algn="just" eaLnBrk="1" hangingPunct="1"/>
            <a:endParaRPr lang="en-US" altLang="zh-CN" dirty="0">
              <a:latin typeface="楷体_GB2312" pitchFamily="49" charset="-122"/>
              <a:ea typeface="楷体_GB2312" pitchFamily="49" charset="-122"/>
            </a:endParaRPr>
          </a:p>
          <a:p>
            <a:pPr algn="just" eaLnBrk="1" hangingPunct="1"/>
            <a:r>
              <a:rPr lang="zh-CN" altLang="en-US" dirty="0">
                <a:latin typeface="楷体_GB2312" pitchFamily="49" charset="-122"/>
                <a:ea typeface="楷体_GB2312" pitchFamily="49" charset="-122"/>
              </a:rPr>
              <a:t>王镜岩版</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生物化学教程</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 一级结构是指多肽链的氨基酸序列，也包括多肽链中连接氨基酸残基的共价键，主要是肽键和二硫键。 </a:t>
            </a:r>
            <a:endParaRPr lang="en-US" altLang="zh-CN" dirty="0">
              <a:latin typeface="楷体_GB2312" pitchFamily="49" charset="-122"/>
              <a:ea typeface="楷体_GB2312" pitchFamily="49" charset="-122"/>
            </a:endParaRPr>
          </a:p>
          <a:p>
            <a:pPr algn="just" eaLnBrk="1" hangingPunct="1"/>
            <a:endParaRPr lang="en-US" altLang="zh-CN" dirty="0">
              <a:latin typeface="楷体_GB2312" pitchFamily="49" charset="-122"/>
              <a:ea typeface="楷体_GB2312" pitchFamily="49" charset="-122"/>
            </a:endParaRPr>
          </a:p>
          <a:p>
            <a:pPr algn="just" eaLnBrk="1" hangingPunct="1"/>
            <a:endParaRPr lang="en-US" altLang="zh-CN" dirty="0">
              <a:latin typeface="楷体_GB2312" pitchFamily="49" charset="-122"/>
              <a:ea typeface="楷体_GB2312" pitchFamily="49" charset="-122"/>
            </a:endParaRPr>
          </a:p>
          <a:p>
            <a:pPr algn="just" eaLnBrk="1" hangingPunct="1"/>
            <a:r>
              <a:rPr lang="zh-CN" altLang="en-US" dirty="0">
                <a:latin typeface="楷体_GB2312" pitchFamily="49" charset="-122"/>
                <a:ea typeface="楷体_GB2312" pitchFamily="49" charset="-122"/>
              </a:rPr>
              <a:t>研究一级结构的意义：</a:t>
            </a:r>
          </a:p>
          <a:p>
            <a:pPr algn="just" eaLnBrk="1" hangingPunct="1"/>
            <a:r>
              <a:rPr lang="zh-CN" altLang="en-US" dirty="0">
                <a:latin typeface="楷体_GB2312" pitchFamily="49" charset="-122"/>
                <a:ea typeface="楷体_GB2312" pitchFamily="49" charset="-122"/>
              </a:rPr>
              <a:t>    ①氨基酸序列是蛋白质的生物学活性的分子基础；</a:t>
            </a:r>
          </a:p>
          <a:p>
            <a:pPr algn="just" eaLnBrk="1" hangingPunct="1"/>
            <a:r>
              <a:rPr lang="zh-CN" altLang="en-US" dirty="0">
                <a:latin typeface="楷体_GB2312" pitchFamily="49" charset="-122"/>
                <a:ea typeface="楷体_GB2312" pitchFamily="49" charset="-122"/>
              </a:rPr>
              <a:t>    ②一级结构是空间结构的基础，包含了形成特定空间结构所需的全部信息，但不是决定</a:t>
            </a:r>
            <a:r>
              <a:rPr lang="en-US" altLang="zh-CN" dirty="0" err="1">
                <a:latin typeface="楷体_GB2312" pitchFamily="49" charset="-122"/>
                <a:ea typeface="楷体_GB2312" pitchFamily="49" charset="-122"/>
              </a:rPr>
              <a:t>Pr</a:t>
            </a:r>
            <a:r>
              <a:rPr lang="zh-CN" altLang="en-US" dirty="0">
                <a:latin typeface="楷体_GB2312" pitchFamily="49" charset="-122"/>
                <a:ea typeface="楷体_GB2312" pitchFamily="49" charset="-122"/>
              </a:rPr>
              <a:t>空间结构的唯一因素；</a:t>
            </a:r>
          </a:p>
          <a:p>
            <a:pPr algn="just" eaLnBrk="1" hangingPunct="1"/>
            <a:r>
              <a:rPr lang="zh-CN" altLang="en-US" dirty="0">
                <a:latin typeface="楷体_GB2312" pitchFamily="49" charset="-122"/>
                <a:ea typeface="楷体_GB2312" pitchFamily="49" charset="-122"/>
              </a:rPr>
              <a:t>    ③众多遗传疾病的物质基础是相关蛋白质的氨基酸序列产生变异；</a:t>
            </a:r>
          </a:p>
          <a:p>
            <a:pPr algn="just" eaLnBrk="1" hangingPunct="1"/>
            <a:r>
              <a:rPr lang="zh-CN" altLang="en-US" dirty="0">
                <a:latin typeface="楷体_GB2312" pitchFamily="49" charset="-122"/>
                <a:ea typeface="楷体_GB2312" pitchFamily="49" charset="-122"/>
              </a:rPr>
              <a:t>    ④研究氨基酸序列可以阐明生命进化史，氨基酸序列的相似性越大，物种之间的进化关系越近。</a:t>
            </a:r>
          </a:p>
          <a:p>
            <a:pPr eaLnBrk="1" hangingPunct="1"/>
            <a:endParaRPr lang="en-US" altLang="zh-CN"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3">
            <a:extLst>
              <a:ext uri="{FF2B5EF4-FFF2-40B4-BE49-F238E27FC236}">
                <a16:creationId xmlns:a16="http://schemas.microsoft.com/office/drawing/2014/main" id="{46FAB7AA-EF59-44AB-94CC-E3EE8BDB1B68}"/>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3ECA8F33-894E-4462-9280-FB60142CD16A}"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77155" name="Rectangle 7">
            <a:extLst>
              <a:ext uri="{FF2B5EF4-FFF2-40B4-BE49-F238E27FC236}">
                <a16:creationId xmlns:a16="http://schemas.microsoft.com/office/drawing/2014/main" id="{D09C2319-A375-40FB-ADB0-90376453717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449F5118-EDF4-441A-B112-61ADF759372B}" type="slidenum">
              <a:rPr lang="en-US" altLang="zh-CN" sz="1200" smtClean="0">
                <a:latin typeface="Tahoma" panose="020B0604030504040204" pitchFamily="34" charset="0"/>
              </a:rPr>
              <a:pPr/>
              <a:t>72</a:t>
            </a:fld>
            <a:endParaRPr lang="en-US" altLang="zh-CN" sz="1200">
              <a:latin typeface="Tahoma" panose="020B0604030504040204" pitchFamily="34" charset="0"/>
            </a:endParaRPr>
          </a:p>
        </p:txBody>
      </p:sp>
      <p:sp>
        <p:nvSpPr>
          <p:cNvPr id="177156" name="Rectangle 2">
            <a:extLst>
              <a:ext uri="{FF2B5EF4-FFF2-40B4-BE49-F238E27FC236}">
                <a16:creationId xmlns:a16="http://schemas.microsoft.com/office/drawing/2014/main" id="{4692049B-83E8-4FCA-BE80-94C49A152232}"/>
              </a:ext>
            </a:extLst>
          </p:cNvPr>
          <p:cNvSpPr>
            <a:spLocks noGrp="1" noRot="1" noChangeAspect="1" noChangeArrowheads="1" noTextEdit="1"/>
          </p:cNvSpPr>
          <p:nvPr>
            <p:ph type="sldImg"/>
          </p:nvPr>
        </p:nvSpPr>
        <p:spPr>
          <a:xfrm>
            <a:off x="381000" y="685800"/>
            <a:ext cx="6096000" cy="3429000"/>
          </a:xfrm>
          <a:ln/>
        </p:spPr>
      </p:sp>
      <p:sp>
        <p:nvSpPr>
          <p:cNvPr id="177157" name="Rectangle 3">
            <a:extLst>
              <a:ext uri="{FF2B5EF4-FFF2-40B4-BE49-F238E27FC236}">
                <a16:creationId xmlns:a16="http://schemas.microsoft.com/office/drawing/2014/main" id="{33F0B525-1522-4F49-B17A-F4F3D8A276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latin typeface="楷体_GB2312" pitchFamily="49" charset="-122"/>
                <a:ea typeface="楷体_GB2312" pitchFamily="49" charset="-122"/>
              </a:rPr>
              <a:t>Sanger's results established that all of the molecules of a given protein have the same sequence.</a:t>
            </a:r>
          </a:p>
          <a:p>
            <a:pPr eaLnBrk="1" hangingPunct="1"/>
            <a:endParaRPr lang="en-US" altLang="zh-CN" dirty="0">
              <a:latin typeface="楷体_GB2312" pitchFamily="49" charset="-122"/>
              <a:ea typeface="楷体_GB2312" pitchFamily="49" charset="-122"/>
            </a:endParaRPr>
          </a:p>
          <a:p>
            <a:pPr eaLnBrk="1" hangingPunct="1"/>
            <a:r>
              <a:rPr lang="zh-CN" altLang="en-US" dirty="0"/>
              <a:t>桑格说过：“做科研有三件事：思考、谈论、实验。我比较擅长实验，能够思考，但不善言谈。”</a:t>
            </a:r>
            <a:endParaRPr lang="en-US" altLang="zh-CN" dirty="0"/>
          </a:p>
          <a:p>
            <a:pPr eaLnBrk="1" hangingPunct="1"/>
            <a:endParaRPr lang="en-US" altLang="zh-CN"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幻灯片图像占位符 1">
            <a:extLst>
              <a:ext uri="{FF2B5EF4-FFF2-40B4-BE49-F238E27FC236}">
                <a16:creationId xmlns:a16="http://schemas.microsoft.com/office/drawing/2014/main" id="{5555E557-CC6E-41E2-8F31-A4E0CEFEE14E}"/>
              </a:ext>
            </a:extLst>
          </p:cNvPr>
          <p:cNvSpPr>
            <a:spLocks noGrp="1" noRot="1" noChangeAspect="1" noChangeArrowheads="1" noTextEdit="1"/>
          </p:cNvSpPr>
          <p:nvPr>
            <p:ph type="sldImg"/>
          </p:nvPr>
        </p:nvSpPr>
        <p:spPr>
          <a:xfrm>
            <a:off x="381000" y="685800"/>
            <a:ext cx="6096000" cy="3429000"/>
          </a:xfrm>
          <a:ln/>
        </p:spPr>
      </p:sp>
      <p:sp>
        <p:nvSpPr>
          <p:cNvPr id="179203" name="备注占位符 2">
            <a:extLst>
              <a:ext uri="{FF2B5EF4-FFF2-40B4-BE49-F238E27FC236}">
                <a16:creationId xmlns:a16="http://schemas.microsoft.com/office/drawing/2014/main" id="{41B19840-F53F-498E-A8FA-D2590D6BA13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牛胰岛素也是第一个人工合成（</a:t>
            </a:r>
            <a:r>
              <a:rPr lang="en-US" altLang="zh-CN" dirty="0"/>
              <a:t>1965</a:t>
            </a:r>
            <a:r>
              <a:rPr lang="zh-CN" altLang="en-US" dirty="0"/>
              <a:t>年我国首先合成）的蛋白质。</a:t>
            </a:r>
          </a:p>
          <a:p>
            <a:endParaRPr lang="zh-CN" altLang="en-US" dirty="0"/>
          </a:p>
        </p:txBody>
      </p:sp>
      <p:sp>
        <p:nvSpPr>
          <p:cNvPr id="179204" name="日期占位符 3">
            <a:extLst>
              <a:ext uri="{FF2B5EF4-FFF2-40B4-BE49-F238E27FC236}">
                <a16:creationId xmlns:a16="http://schemas.microsoft.com/office/drawing/2014/main" id="{1E821826-C2DA-4C23-B538-ED2DAD046FCC}"/>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E36F447-95DC-4612-897F-178289E58C33}"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79205" name="灯片编号占位符 4">
            <a:extLst>
              <a:ext uri="{FF2B5EF4-FFF2-40B4-BE49-F238E27FC236}">
                <a16:creationId xmlns:a16="http://schemas.microsoft.com/office/drawing/2014/main" id="{4DF8A2CB-6979-4DE8-BFCF-03B929B0139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755CD17D-941F-4108-AA0A-CF6AB75342E1}" type="slidenum">
              <a:rPr lang="en-US" altLang="zh-CN" sz="1200" smtClean="0">
                <a:latin typeface="Tahoma" panose="020B0604030504040204" pitchFamily="34" charset="0"/>
              </a:rPr>
              <a:pPr/>
              <a:t>73</a:t>
            </a:fld>
            <a:endParaRPr lang="en-US" altLang="zh-CN" sz="1200">
              <a:latin typeface="Tahoma" panose="020B0604030504040204" pitchFamily="34"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幻灯片图像占位符 1">
            <a:extLst>
              <a:ext uri="{FF2B5EF4-FFF2-40B4-BE49-F238E27FC236}">
                <a16:creationId xmlns:a16="http://schemas.microsoft.com/office/drawing/2014/main" id="{B5151988-854B-43C4-AC52-7D902FCF7EE3}"/>
              </a:ext>
            </a:extLst>
          </p:cNvPr>
          <p:cNvSpPr>
            <a:spLocks noGrp="1" noRot="1" noChangeAspect="1" noChangeArrowheads="1" noTextEdit="1"/>
          </p:cNvSpPr>
          <p:nvPr>
            <p:ph type="sldImg"/>
          </p:nvPr>
        </p:nvSpPr>
        <p:spPr>
          <a:xfrm>
            <a:off x="381000" y="685800"/>
            <a:ext cx="6096000" cy="3429000"/>
          </a:xfrm>
          <a:ln/>
        </p:spPr>
      </p:sp>
      <p:sp>
        <p:nvSpPr>
          <p:cNvPr id="181251" name="备注占位符 2">
            <a:extLst>
              <a:ext uri="{FF2B5EF4-FFF2-40B4-BE49-F238E27FC236}">
                <a16:creationId xmlns:a16="http://schemas.microsoft.com/office/drawing/2014/main" id="{B7DAAFF9-37F3-48D4-BABD-1978C38B053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equine:  </a:t>
            </a:r>
            <a:r>
              <a:rPr lang="zh-CN" altLang="en-US" dirty="0"/>
              <a:t>马的    </a:t>
            </a:r>
            <a:r>
              <a:rPr lang="en-US" altLang="zh-CN" dirty="0"/>
              <a:t>Chymotrypsin</a:t>
            </a:r>
            <a:r>
              <a:rPr lang="zh-CN" altLang="en-US" dirty="0"/>
              <a:t>胰凝乳蛋白酶；糜蛋白酶             </a:t>
            </a:r>
            <a:r>
              <a:rPr lang="en-US" altLang="zh-CN" dirty="0" err="1"/>
              <a:t>Chymotrypsinogen</a:t>
            </a:r>
            <a:r>
              <a:rPr lang="en-US" altLang="zh-CN" dirty="0"/>
              <a:t>  </a:t>
            </a:r>
            <a:r>
              <a:rPr lang="zh-CN" altLang="en-US" dirty="0"/>
              <a:t>胰凝乳蛋白酶原；糜蛋白酶原    </a:t>
            </a:r>
            <a:r>
              <a:rPr lang="en-US" altLang="zh-CN" dirty="0"/>
              <a:t>glutamine synthetase </a:t>
            </a:r>
            <a:r>
              <a:rPr lang="zh-CN" altLang="en-US" dirty="0"/>
              <a:t>谷氨酰胺合成酶</a:t>
            </a:r>
            <a:endParaRPr lang="en-US" altLang="zh-CN" dirty="0"/>
          </a:p>
          <a:p>
            <a:endParaRPr lang="en-US" altLang="zh-CN" dirty="0"/>
          </a:p>
          <a:p>
            <a:r>
              <a:rPr lang="en-US" altLang="zh-CN" dirty="0"/>
              <a:t>titin: </a:t>
            </a:r>
            <a:r>
              <a:rPr lang="en-US" altLang="zh-CN" dirty="0" err="1"/>
              <a:t>connectin</a:t>
            </a:r>
            <a:r>
              <a:rPr lang="en-US" altLang="zh-CN" dirty="0"/>
              <a:t> </a:t>
            </a:r>
            <a:r>
              <a:rPr lang="zh-CN" altLang="en-US" dirty="0"/>
              <a:t>肌联蛋白 ，  目前所知单条肽链所含氨基酸残基数最多的蛋白质。 </a:t>
            </a:r>
            <a:endParaRPr lang="en-US" altLang="zh-CN" dirty="0"/>
          </a:p>
          <a:p>
            <a:endParaRPr lang="en-US" altLang="zh-CN" dirty="0"/>
          </a:p>
          <a:p>
            <a:endParaRPr lang="en-US" altLang="zh-CN" dirty="0"/>
          </a:p>
        </p:txBody>
      </p:sp>
      <p:sp>
        <p:nvSpPr>
          <p:cNvPr id="181252" name="日期占位符 3">
            <a:extLst>
              <a:ext uri="{FF2B5EF4-FFF2-40B4-BE49-F238E27FC236}">
                <a16:creationId xmlns:a16="http://schemas.microsoft.com/office/drawing/2014/main" id="{AC8201D2-51F8-4D79-8C03-55C987B6F174}"/>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DB9B2DEC-F7FA-40AC-ADEA-90CC5957AC56}"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81253" name="灯片编号占位符 4">
            <a:extLst>
              <a:ext uri="{FF2B5EF4-FFF2-40B4-BE49-F238E27FC236}">
                <a16:creationId xmlns:a16="http://schemas.microsoft.com/office/drawing/2014/main" id="{A7967B02-7D6A-4F96-B02D-DCB40EA479E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D99BF73A-1DAB-440B-BFF2-00F65B95D38E}" type="slidenum">
              <a:rPr lang="en-US" altLang="zh-CN" sz="1200" smtClean="0">
                <a:latin typeface="Tahoma" panose="020B0604030504040204" pitchFamily="34" charset="0"/>
              </a:rPr>
              <a:pPr/>
              <a:t>74</a:t>
            </a:fld>
            <a:endParaRPr lang="en-US" altLang="zh-CN" sz="1200">
              <a:latin typeface="Tahoma" panose="020B0604030504040204" pitchFamily="34"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幻灯片图像占位符 1">
            <a:extLst>
              <a:ext uri="{FF2B5EF4-FFF2-40B4-BE49-F238E27FC236}">
                <a16:creationId xmlns:a16="http://schemas.microsoft.com/office/drawing/2014/main" id="{4EB487B5-282C-47D4-99CC-25B046777DCE}"/>
              </a:ext>
            </a:extLst>
          </p:cNvPr>
          <p:cNvSpPr>
            <a:spLocks noGrp="1" noRot="1" noChangeAspect="1" noChangeArrowheads="1" noTextEdit="1"/>
          </p:cNvSpPr>
          <p:nvPr>
            <p:ph type="sldImg"/>
          </p:nvPr>
        </p:nvSpPr>
        <p:spPr>
          <a:xfrm>
            <a:off x="381000" y="685800"/>
            <a:ext cx="6096000" cy="3429000"/>
          </a:xfrm>
          <a:ln/>
        </p:spPr>
      </p:sp>
      <p:sp>
        <p:nvSpPr>
          <p:cNvPr id="183299" name="备注占位符 2">
            <a:extLst>
              <a:ext uri="{FF2B5EF4-FFF2-40B4-BE49-F238E27FC236}">
                <a16:creationId xmlns:a16="http://schemas.microsoft.com/office/drawing/2014/main" id="{9A4237A1-E713-4059-ABCE-833D2556151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数据主要来自于基因组测序项目完成后，后续获得的蛋白质序列。包含了大量来自文献的蛋白质的生物功能信息。</a:t>
            </a:r>
            <a:endParaRPr lang="en-US" altLang="zh-CN" dirty="0"/>
          </a:p>
          <a:p>
            <a:endParaRPr lang="en-US" altLang="zh-CN" dirty="0"/>
          </a:p>
          <a:p>
            <a:endParaRPr lang="zh-CN" altLang="en-US" dirty="0"/>
          </a:p>
          <a:p>
            <a:r>
              <a:rPr lang="zh-CN" altLang="en-US" dirty="0"/>
              <a:t>国际互联网有若干重要的蛋白质数据库，例如：</a:t>
            </a:r>
          </a:p>
          <a:p>
            <a:r>
              <a:rPr lang="en-US" altLang="zh-CN" dirty="0"/>
              <a:t>EMBL</a:t>
            </a:r>
            <a:r>
              <a:rPr lang="zh-CN" altLang="en-US" dirty="0"/>
              <a:t>（</a:t>
            </a:r>
            <a:r>
              <a:rPr lang="en-US" altLang="zh-CN" dirty="0"/>
              <a:t>European Molecular Biology Laboratory Data Library</a:t>
            </a:r>
            <a:r>
              <a:rPr lang="zh-CN" altLang="en-US" dirty="0"/>
              <a:t>）</a:t>
            </a:r>
          </a:p>
          <a:p>
            <a:r>
              <a:rPr lang="en-US" altLang="zh-CN" dirty="0" err="1"/>
              <a:t>Genbank</a:t>
            </a:r>
            <a:r>
              <a:rPr lang="en-US" altLang="zh-CN" dirty="0"/>
              <a:t> </a:t>
            </a:r>
            <a:r>
              <a:rPr lang="zh-CN" altLang="en-US" dirty="0"/>
              <a:t>（</a:t>
            </a:r>
            <a:r>
              <a:rPr lang="en-US" altLang="zh-CN" dirty="0"/>
              <a:t>Genetic Sequence Databank</a:t>
            </a:r>
            <a:r>
              <a:rPr lang="zh-CN" altLang="en-US" dirty="0"/>
              <a:t>）</a:t>
            </a:r>
          </a:p>
          <a:p>
            <a:r>
              <a:rPr lang="en-US" altLang="zh-CN" dirty="0"/>
              <a:t>PIR</a:t>
            </a:r>
            <a:r>
              <a:rPr lang="zh-CN" altLang="en-US" dirty="0"/>
              <a:t>（</a:t>
            </a:r>
            <a:r>
              <a:rPr lang="en-US" altLang="zh-CN" dirty="0"/>
              <a:t>Protein Identification Resource Sequence Database</a:t>
            </a:r>
            <a:r>
              <a:rPr lang="zh-CN" altLang="en-US" dirty="0"/>
              <a:t>）</a:t>
            </a:r>
          </a:p>
          <a:p>
            <a:r>
              <a:rPr lang="zh-CN" altLang="en-US" dirty="0"/>
              <a:t>这些数据库收集了大量最新的蛋白质一级结构及其他资料，为蛋白质结构与功能的深入研究提供了便利 </a:t>
            </a:r>
          </a:p>
          <a:p>
            <a:endParaRPr lang="en-US" altLang="zh-CN" dirty="0"/>
          </a:p>
          <a:p>
            <a:endParaRPr lang="en-US" altLang="zh-CN" dirty="0"/>
          </a:p>
        </p:txBody>
      </p:sp>
      <p:sp>
        <p:nvSpPr>
          <p:cNvPr id="183300" name="日期占位符 3">
            <a:extLst>
              <a:ext uri="{FF2B5EF4-FFF2-40B4-BE49-F238E27FC236}">
                <a16:creationId xmlns:a16="http://schemas.microsoft.com/office/drawing/2014/main" id="{6C3AF054-F393-4E09-A5E6-6BA73A6A9F61}"/>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5FA93BC8-ED73-4CBD-9D39-22DD2D61889D}"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83301" name="灯片编号占位符 4">
            <a:extLst>
              <a:ext uri="{FF2B5EF4-FFF2-40B4-BE49-F238E27FC236}">
                <a16:creationId xmlns:a16="http://schemas.microsoft.com/office/drawing/2014/main" id="{66FD5AA6-A4FC-4093-A8BF-4E1282B29B8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328FC637-3C7B-474E-90A4-CB04FC9572EB}" type="slidenum">
              <a:rPr lang="en-US" altLang="zh-CN" sz="1200" smtClean="0">
                <a:latin typeface="Tahoma" panose="020B0604030504040204" pitchFamily="34" charset="0"/>
              </a:rPr>
              <a:pPr/>
              <a:t>75</a:t>
            </a:fld>
            <a:endParaRPr lang="en-US" altLang="zh-CN" sz="1200">
              <a:latin typeface="Tahoma" panose="020B0604030504040204" pitchFamily="34"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幻灯片图像占位符 1">
            <a:extLst>
              <a:ext uri="{FF2B5EF4-FFF2-40B4-BE49-F238E27FC236}">
                <a16:creationId xmlns:a16="http://schemas.microsoft.com/office/drawing/2014/main" id="{464902B5-20BE-4485-A8D9-B891C31C8428}"/>
              </a:ext>
            </a:extLst>
          </p:cNvPr>
          <p:cNvSpPr>
            <a:spLocks noGrp="1" noRot="1" noChangeAspect="1" noChangeArrowheads="1" noTextEdit="1"/>
          </p:cNvSpPr>
          <p:nvPr>
            <p:ph type="sldImg"/>
          </p:nvPr>
        </p:nvSpPr>
        <p:spPr>
          <a:xfrm>
            <a:off x="381000" y="685800"/>
            <a:ext cx="6096000" cy="3429000"/>
          </a:xfrm>
          <a:ln/>
        </p:spPr>
      </p:sp>
      <p:sp>
        <p:nvSpPr>
          <p:cNvPr id="185347" name="备注占位符 2">
            <a:extLst>
              <a:ext uri="{FF2B5EF4-FFF2-40B4-BE49-F238E27FC236}">
                <a16:creationId xmlns:a16="http://schemas.microsoft.com/office/drawing/2014/main" id="{56BD8B5F-5031-4AE4-9E58-F23527990E9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王镜岩版</a:t>
            </a:r>
            <a:r>
              <a:rPr lang="en-US" altLang="zh-CN" dirty="0"/>
              <a:t>《</a:t>
            </a:r>
            <a:r>
              <a:rPr lang="zh-CN" altLang="en-US" dirty="0"/>
              <a:t>生物化学教程</a:t>
            </a:r>
            <a:r>
              <a:rPr lang="en-US" altLang="zh-CN" dirty="0"/>
              <a:t>》</a:t>
            </a:r>
            <a:r>
              <a:rPr lang="zh-CN" altLang="en-US" dirty="0"/>
              <a:t>中的定义：　指多肽链中借助氢键排列成有规律的</a:t>
            </a:r>
            <a:r>
              <a:rPr lang="el-GR" altLang="zh-CN" dirty="0"/>
              <a:t>α</a:t>
            </a:r>
            <a:r>
              <a:rPr lang="zh-CN" altLang="en-US" dirty="0"/>
              <a:t>螺旋和</a:t>
            </a:r>
            <a:r>
              <a:rPr lang="el-GR" altLang="zh-CN" dirty="0"/>
              <a:t>β</a:t>
            </a:r>
            <a:r>
              <a:rPr lang="zh-CN" altLang="en-US" dirty="0"/>
              <a:t>折叠等元件（</a:t>
            </a:r>
            <a:r>
              <a:rPr lang="en-US" altLang="zh-CN" dirty="0"/>
              <a:t>element)</a:t>
            </a:r>
            <a:r>
              <a:rPr lang="zh-CN" altLang="en-US" dirty="0"/>
              <a:t>。简言之，</a:t>
            </a:r>
            <a:r>
              <a:rPr lang="zh-CN" altLang="en-US" b="1" dirty="0"/>
              <a:t>多肽主链的局部规则构象</a:t>
            </a:r>
            <a:r>
              <a:rPr lang="zh-CN" altLang="en-US" dirty="0"/>
              <a:t>。</a:t>
            </a:r>
            <a:endParaRPr lang="en-US" altLang="zh-CN" dirty="0"/>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楷体_GB2312" pitchFamily="49" charset="-122"/>
                <a:ea typeface="楷体_GB2312" pitchFamily="49" charset="-122"/>
              </a:rPr>
              <a:t>主链： 拿掉所有侧链原子后，剩下的就是主链（指肽链中由</a:t>
            </a:r>
            <a:r>
              <a:rPr lang="en-US" altLang="zh-CN" dirty="0">
                <a:latin typeface="楷体_GB2312" pitchFamily="49" charset="-122"/>
                <a:ea typeface="楷体_GB2312" pitchFamily="49" charset="-122"/>
              </a:rPr>
              <a:t>-N-C</a:t>
            </a:r>
            <a:r>
              <a:rPr lang="en-US" altLang="zh-CN" baseline="-30000" dirty="0">
                <a:latin typeface="楷体_GB2312" pitchFamily="49" charset="-122"/>
                <a:ea typeface="楷体_GB2312" pitchFamily="49" charset="-122"/>
              </a:rPr>
              <a:t>α</a:t>
            </a:r>
            <a:r>
              <a:rPr lang="en-US" altLang="zh-CN" dirty="0">
                <a:latin typeface="楷体_GB2312" pitchFamily="49" charset="-122"/>
                <a:ea typeface="楷体_GB2312" pitchFamily="49" charset="-122"/>
              </a:rPr>
              <a:t>-C</a:t>
            </a:r>
            <a:r>
              <a:rPr lang="en-US" altLang="zh-CN" baseline="-25000" dirty="0">
                <a:latin typeface="楷体_GB2312" pitchFamily="49" charset="-122"/>
                <a:ea typeface="楷体_GB2312" pitchFamily="49" charset="-122"/>
              </a:rPr>
              <a:t>o</a:t>
            </a:r>
            <a:r>
              <a:rPr lang="zh-CN" altLang="en-US" dirty="0">
                <a:latin typeface="楷体_GB2312" pitchFamily="49" charset="-122"/>
                <a:ea typeface="楷体_GB2312" pitchFamily="49" charset="-122"/>
              </a:rPr>
              <a:t>交替构成的长链，且包括其上相连的</a:t>
            </a:r>
            <a:r>
              <a:rPr lang="en-US" altLang="zh-CN" dirty="0">
                <a:latin typeface="楷体_GB2312" pitchFamily="49" charset="-122"/>
                <a:ea typeface="楷体_GB2312" pitchFamily="49" charset="-122"/>
              </a:rPr>
              <a:t>H</a:t>
            </a:r>
            <a:r>
              <a:rPr lang="zh-CN" altLang="en-US" dirty="0">
                <a:latin typeface="楷体_GB2312" pitchFamily="49" charset="-122"/>
                <a:ea typeface="楷体_GB2312" pitchFamily="49" charset="-122"/>
              </a:rPr>
              <a:t>和</a:t>
            </a:r>
            <a:r>
              <a:rPr lang="en-US" altLang="zh-CN" dirty="0">
                <a:latin typeface="楷体_GB2312" pitchFamily="49" charset="-122"/>
                <a:ea typeface="楷体_GB2312" pitchFamily="49" charset="-122"/>
              </a:rPr>
              <a:t>O</a:t>
            </a:r>
            <a:r>
              <a:rPr lang="zh-CN" altLang="en-US" dirty="0">
                <a:latin typeface="楷体_GB2312" pitchFamily="49" charset="-122"/>
                <a:ea typeface="楷体_GB2312" pitchFamily="49" charset="-122"/>
              </a:rPr>
              <a:t>）</a:t>
            </a:r>
          </a:p>
          <a:p>
            <a:endParaRPr lang="en-US" altLang="zh-CN" dirty="0"/>
          </a:p>
          <a:p>
            <a:r>
              <a:rPr lang="zh-CN" altLang="en-US" dirty="0"/>
              <a:t>二级结构只关心主链原子构象。</a:t>
            </a:r>
            <a:endParaRPr lang="en-US" altLang="zh-CN" dirty="0"/>
          </a:p>
          <a:p>
            <a:endParaRPr lang="en-US" altLang="zh-CN" dirty="0"/>
          </a:p>
          <a:p>
            <a:pPr eaLnBrk="1" hangingPunct="1">
              <a:lnSpc>
                <a:spcPct val="150000"/>
              </a:lnSpc>
              <a:spcBef>
                <a:spcPct val="0"/>
              </a:spcBef>
            </a:pPr>
            <a:r>
              <a:rPr lang="zh-CN" altLang="en-US" dirty="0"/>
              <a:t>肽链主链骨架原子： </a:t>
            </a:r>
            <a:r>
              <a:rPr lang="en-US" altLang="zh-CN" dirty="0"/>
              <a:t>N</a:t>
            </a:r>
            <a:r>
              <a:rPr lang="zh-CN" altLang="en-US" dirty="0"/>
              <a:t>（氨基氮）、</a:t>
            </a:r>
            <a:r>
              <a:rPr lang="en-US" altLang="zh-CN" dirty="0"/>
              <a:t>Cα</a:t>
            </a:r>
            <a:r>
              <a:rPr lang="zh-CN" altLang="en-US" dirty="0"/>
              <a:t>（</a:t>
            </a:r>
            <a:r>
              <a:rPr lang="en-US" altLang="zh-CN" dirty="0"/>
              <a:t>α-</a:t>
            </a:r>
            <a:r>
              <a:rPr lang="zh-CN" altLang="en-US" dirty="0"/>
              <a:t>碳原子）和</a:t>
            </a:r>
            <a:r>
              <a:rPr lang="en-US" altLang="zh-CN" dirty="0"/>
              <a:t>Co</a:t>
            </a:r>
            <a:r>
              <a:rPr lang="zh-CN" altLang="en-US" dirty="0"/>
              <a:t>（羰基碳）</a:t>
            </a:r>
            <a:r>
              <a:rPr lang="en-US" altLang="zh-CN" dirty="0"/>
              <a:t>3</a:t>
            </a:r>
            <a:r>
              <a:rPr lang="zh-CN" altLang="en-US" dirty="0"/>
              <a:t>原子依次重复排列构成。</a:t>
            </a:r>
          </a:p>
          <a:p>
            <a:endParaRPr lang="en-US" altLang="zh-CN" dirty="0"/>
          </a:p>
        </p:txBody>
      </p:sp>
      <p:sp>
        <p:nvSpPr>
          <p:cNvPr id="185348" name="日期占位符 3">
            <a:extLst>
              <a:ext uri="{FF2B5EF4-FFF2-40B4-BE49-F238E27FC236}">
                <a16:creationId xmlns:a16="http://schemas.microsoft.com/office/drawing/2014/main" id="{EB6FF41C-FA70-4C09-8DAF-F1902A97018D}"/>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F0BE9D4-B66D-46C3-83E8-369CDC6C6AE3}"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85349" name="灯片编号占位符 4">
            <a:extLst>
              <a:ext uri="{FF2B5EF4-FFF2-40B4-BE49-F238E27FC236}">
                <a16:creationId xmlns:a16="http://schemas.microsoft.com/office/drawing/2014/main" id="{28A5431C-CC81-4090-9576-C02CCB275CF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96A1A102-D4A6-45DC-88D4-E9D5679C0DD2}" type="slidenum">
              <a:rPr lang="en-US" altLang="zh-CN" sz="1200" smtClean="0">
                <a:latin typeface="Tahoma" panose="020B0604030504040204" pitchFamily="34" charset="0"/>
              </a:rPr>
              <a:pPr/>
              <a:t>76</a:t>
            </a:fld>
            <a:endParaRPr lang="en-US" altLang="zh-CN" sz="1200">
              <a:latin typeface="Tahoma" panose="020B0604030504040204" pitchFamily="34"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幻灯片图像占位符 1">
            <a:extLst>
              <a:ext uri="{FF2B5EF4-FFF2-40B4-BE49-F238E27FC236}">
                <a16:creationId xmlns:a16="http://schemas.microsoft.com/office/drawing/2014/main" id="{0470BC45-8757-45A8-A389-C043E2053A7E}"/>
              </a:ext>
            </a:extLst>
          </p:cNvPr>
          <p:cNvSpPr>
            <a:spLocks noGrp="1" noRot="1" noChangeAspect="1" noChangeArrowheads="1" noTextEdit="1"/>
          </p:cNvSpPr>
          <p:nvPr>
            <p:ph type="sldImg"/>
          </p:nvPr>
        </p:nvSpPr>
        <p:spPr>
          <a:xfrm>
            <a:off x="381000" y="685800"/>
            <a:ext cx="6096000" cy="3429000"/>
          </a:xfrm>
          <a:ln/>
        </p:spPr>
      </p:sp>
      <p:sp>
        <p:nvSpPr>
          <p:cNvPr id="189443" name="备注占位符 2">
            <a:extLst>
              <a:ext uri="{FF2B5EF4-FFF2-40B4-BE49-F238E27FC236}">
                <a16:creationId xmlns:a16="http://schemas.microsoft.com/office/drawing/2014/main" id="{627755D3-E92D-457F-AD97-3D84B1D1E9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9444" name="日期占位符 3">
            <a:extLst>
              <a:ext uri="{FF2B5EF4-FFF2-40B4-BE49-F238E27FC236}">
                <a16:creationId xmlns:a16="http://schemas.microsoft.com/office/drawing/2014/main" id="{8239DC24-082D-43D3-A3EE-543729F5E16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013EF749-0BC0-4D9B-920B-0B5DFAD44078}"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89445" name="灯片编号占位符 4">
            <a:extLst>
              <a:ext uri="{FF2B5EF4-FFF2-40B4-BE49-F238E27FC236}">
                <a16:creationId xmlns:a16="http://schemas.microsoft.com/office/drawing/2014/main" id="{1A2469C2-63EC-4B72-B129-DA6B1F123C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24C18ED0-3089-41D2-85AA-0BFD0FE12FC9}" type="slidenum">
              <a:rPr lang="en-US" altLang="zh-CN" sz="1200" smtClean="0">
                <a:latin typeface="Tahoma" panose="020B0604030504040204" pitchFamily="34" charset="0"/>
              </a:rPr>
              <a:pPr/>
              <a:t>77</a:t>
            </a:fld>
            <a:endParaRPr lang="en-US" altLang="zh-CN" sz="1200">
              <a:latin typeface="Tahoma" panose="020B0604030504040204" pitchFamily="34"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3">
            <a:extLst>
              <a:ext uri="{FF2B5EF4-FFF2-40B4-BE49-F238E27FC236}">
                <a16:creationId xmlns:a16="http://schemas.microsoft.com/office/drawing/2014/main" id="{8303D5FD-E63C-4C70-96B5-3665A0C32A7D}"/>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FD5D3BDE-F3B0-4382-A1E1-0FD727563D35}"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91491" name="Rectangle 7">
            <a:extLst>
              <a:ext uri="{FF2B5EF4-FFF2-40B4-BE49-F238E27FC236}">
                <a16:creationId xmlns:a16="http://schemas.microsoft.com/office/drawing/2014/main" id="{607FCB97-7D9A-4A18-9C21-A067BA32FF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4B2F815-CC30-46F9-82DA-66469F9E07CF}" type="slidenum">
              <a:rPr lang="en-US" altLang="zh-CN" sz="1200" smtClean="0">
                <a:latin typeface="Tahoma" panose="020B0604030504040204" pitchFamily="34" charset="0"/>
              </a:rPr>
              <a:pPr/>
              <a:t>78</a:t>
            </a:fld>
            <a:endParaRPr lang="en-US" altLang="zh-CN" sz="1200">
              <a:latin typeface="Tahoma" panose="020B0604030504040204" pitchFamily="34" charset="0"/>
            </a:endParaRPr>
          </a:p>
        </p:txBody>
      </p:sp>
      <p:sp>
        <p:nvSpPr>
          <p:cNvPr id="191492" name="Rectangle 2">
            <a:extLst>
              <a:ext uri="{FF2B5EF4-FFF2-40B4-BE49-F238E27FC236}">
                <a16:creationId xmlns:a16="http://schemas.microsoft.com/office/drawing/2014/main" id="{807E0329-5BA9-45BD-AC0C-8991DE1688CD}"/>
              </a:ext>
            </a:extLst>
          </p:cNvPr>
          <p:cNvSpPr>
            <a:spLocks noGrp="1" noRot="1" noChangeAspect="1" noChangeArrowheads="1" noTextEdit="1"/>
          </p:cNvSpPr>
          <p:nvPr>
            <p:ph type="sldImg"/>
          </p:nvPr>
        </p:nvSpPr>
        <p:spPr>
          <a:xfrm>
            <a:off x="381000" y="685800"/>
            <a:ext cx="6096000" cy="3429000"/>
          </a:xfrm>
          <a:ln/>
        </p:spPr>
      </p:sp>
      <p:sp>
        <p:nvSpPr>
          <p:cNvPr id="191493" name="Rectangle 3">
            <a:extLst>
              <a:ext uri="{FF2B5EF4-FFF2-40B4-BE49-F238E27FC236}">
                <a16:creationId xmlns:a16="http://schemas.microsoft.com/office/drawing/2014/main" id="{5E764F7D-9F93-431E-B23B-5513142A57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solidFill>
                  <a:srgbClr val="993366"/>
                </a:solidFill>
              </a:rPr>
              <a:t>肽键中</a:t>
            </a:r>
            <a:r>
              <a:rPr lang="en-US" altLang="zh-CN" dirty="0">
                <a:solidFill>
                  <a:srgbClr val="993366"/>
                </a:solidFill>
              </a:rPr>
              <a:t>C-N</a:t>
            </a:r>
            <a:r>
              <a:rPr lang="zh-CN" altLang="en-US" dirty="0">
                <a:solidFill>
                  <a:srgbClr val="993366"/>
                </a:solidFill>
              </a:rPr>
              <a:t>键长为</a:t>
            </a:r>
            <a:r>
              <a:rPr lang="en-US" altLang="zh-CN" dirty="0">
                <a:solidFill>
                  <a:srgbClr val="993366"/>
                </a:solidFill>
              </a:rPr>
              <a:t>0.132nm</a:t>
            </a:r>
            <a:r>
              <a:rPr lang="zh-CN" altLang="en-US" dirty="0">
                <a:solidFill>
                  <a:srgbClr val="993366"/>
                </a:solidFill>
              </a:rPr>
              <a:t>，处于</a:t>
            </a:r>
            <a:r>
              <a:rPr lang="en-US" altLang="zh-CN" dirty="0">
                <a:solidFill>
                  <a:srgbClr val="993366"/>
                </a:solidFill>
              </a:rPr>
              <a:t>C-N</a:t>
            </a:r>
            <a:r>
              <a:rPr lang="zh-CN" altLang="en-US" dirty="0">
                <a:solidFill>
                  <a:srgbClr val="993366"/>
                </a:solidFill>
              </a:rPr>
              <a:t>单键长</a:t>
            </a:r>
            <a:r>
              <a:rPr lang="en-US" altLang="zh-CN" dirty="0">
                <a:solidFill>
                  <a:srgbClr val="993366"/>
                </a:solidFill>
              </a:rPr>
              <a:t>0.149nm</a:t>
            </a:r>
            <a:r>
              <a:rPr lang="zh-CN" altLang="en-US" dirty="0">
                <a:solidFill>
                  <a:srgbClr val="993366"/>
                </a:solidFill>
              </a:rPr>
              <a:t>和</a:t>
            </a:r>
            <a:r>
              <a:rPr lang="en-US" altLang="zh-CN" dirty="0">
                <a:solidFill>
                  <a:srgbClr val="993366"/>
                </a:solidFill>
              </a:rPr>
              <a:t>C=N</a:t>
            </a:r>
            <a:r>
              <a:rPr lang="zh-CN" altLang="en-US" dirty="0">
                <a:solidFill>
                  <a:srgbClr val="993366"/>
                </a:solidFill>
              </a:rPr>
              <a:t>双键长</a:t>
            </a:r>
            <a:r>
              <a:rPr lang="en-US" altLang="zh-CN" dirty="0">
                <a:solidFill>
                  <a:srgbClr val="993366"/>
                </a:solidFill>
              </a:rPr>
              <a:t>0.127nm</a:t>
            </a:r>
            <a:r>
              <a:rPr lang="zh-CN" altLang="en-US" dirty="0">
                <a:solidFill>
                  <a:srgbClr val="993366"/>
                </a:solidFill>
              </a:rPr>
              <a:t>之间。</a:t>
            </a:r>
          </a:p>
          <a:p>
            <a:pPr eaLnBrk="1" hangingPunct="1"/>
            <a:endParaRPr lang="zh-CN" altLang="en-US" dirty="0">
              <a:solidFill>
                <a:srgbClr val="993366"/>
              </a:solidFill>
            </a:endParaRPr>
          </a:p>
          <a:p>
            <a:endParaRPr lang="en-US" altLang="zh-CN" sz="2400"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3">
            <a:extLst>
              <a:ext uri="{FF2B5EF4-FFF2-40B4-BE49-F238E27FC236}">
                <a16:creationId xmlns:a16="http://schemas.microsoft.com/office/drawing/2014/main" id="{3FB72FBA-EBCE-4A3C-BA47-F7B8367A8DF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B60B470E-F784-455B-BB3C-8DA00F9F88CE}"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93539" name="Rectangle 7">
            <a:extLst>
              <a:ext uri="{FF2B5EF4-FFF2-40B4-BE49-F238E27FC236}">
                <a16:creationId xmlns:a16="http://schemas.microsoft.com/office/drawing/2014/main" id="{8BA5B751-C708-4993-91E8-FE711911C7B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0DC1FF3-D40D-4DEE-9849-79E5688BE4F1}" type="slidenum">
              <a:rPr lang="en-US" altLang="zh-CN" sz="1200" smtClean="0">
                <a:latin typeface="Tahoma" panose="020B0604030504040204" pitchFamily="34" charset="0"/>
              </a:rPr>
              <a:pPr/>
              <a:t>79</a:t>
            </a:fld>
            <a:endParaRPr lang="en-US" altLang="zh-CN" sz="1200">
              <a:latin typeface="Tahoma" panose="020B0604030504040204" pitchFamily="34" charset="0"/>
            </a:endParaRPr>
          </a:p>
        </p:txBody>
      </p:sp>
      <p:sp>
        <p:nvSpPr>
          <p:cNvPr id="193540" name="Rectangle 2">
            <a:extLst>
              <a:ext uri="{FF2B5EF4-FFF2-40B4-BE49-F238E27FC236}">
                <a16:creationId xmlns:a16="http://schemas.microsoft.com/office/drawing/2014/main" id="{E520A6D1-CC85-4A52-BBF3-BE2298FC757A}"/>
              </a:ext>
            </a:extLst>
          </p:cNvPr>
          <p:cNvSpPr>
            <a:spLocks noGrp="1" noRot="1" noChangeAspect="1" noChangeArrowheads="1" noTextEdit="1"/>
          </p:cNvSpPr>
          <p:nvPr>
            <p:ph type="sldImg"/>
          </p:nvPr>
        </p:nvSpPr>
        <p:spPr>
          <a:xfrm>
            <a:off x="381000" y="685800"/>
            <a:ext cx="6096000" cy="3429000"/>
          </a:xfrm>
          <a:ln/>
        </p:spPr>
      </p:sp>
      <p:sp>
        <p:nvSpPr>
          <p:cNvPr id="193541" name="Rectangle 3">
            <a:extLst>
              <a:ext uri="{FF2B5EF4-FFF2-40B4-BE49-F238E27FC236}">
                <a16:creationId xmlns:a16="http://schemas.microsoft.com/office/drawing/2014/main" id="{D08677E1-2EDC-44C0-983C-EA60326628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lang="en-US" altLang="zh-CN" dirty="0"/>
              <a:t>Both φ and ψ are defined as ±180° when the polypeptide is fully extended and all peptide groups are in the same plane.</a:t>
            </a:r>
          </a:p>
          <a:p>
            <a:pPr algn="just" eaLnBrk="1" hangingPunct="1"/>
            <a:endParaRPr lang="en-US" altLang="zh-CN" dirty="0"/>
          </a:p>
          <a:p>
            <a:pPr algn="just" eaLnBrk="1" hangingPunct="1"/>
            <a:r>
              <a:rPr lang="en-US" altLang="zh-CN" dirty="0"/>
              <a:t>The trans form is preferred overwhelmingly in most peptide bonds (roughly 1000:1 ratio in trans: cis populations). However, X-Pro peptide groups tend to have a roughly 30:1 ratio, presumably because the cis and trans isomers nearly equal in energy.</a:t>
            </a:r>
            <a:endParaRPr lang="en-US" altLang="zh-CN" sz="1000" b="1" dirty="0">
              <a:latin typeface="楷体_GB2312" pitchFamily="49" charset="-122"/>
              <a:ea typeface="楷体_GB2312" pitchFamily="49" charset="-122"/>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幻灯片图像占位符 1">
            <a:extLst>
              <a:ext uri="{FF2B5EF4-FFF2-40B4-BE49-F238E27FC236}">
                <a16:creationId xmlns:a16="http://schemas.microsoft.com/office/drawing/2014/main" id="{6AFE8958-587A-476C-8662-B6294AB0396F}"/>
              </a:ext>
            </a:extLst>
          </p:cNvPr>
          <p:cNvSpPr>
            <a:spLocks noGrp="1" noRot="1" noChangeAspect="1" noChangeArrowheads="1" noTextEdit="1"/>
          </p:cNvSpPr>
          <p:nvPr>
            <p:ph type="sldImg"/>
          </p:nvPr>
        </p:nvSpPr>
        <p:spPr>
          <a:xfrm>
            <a:off x="381000" y="685800"/>
            <a:ext cx="6096000" cy="3429000"/>
          </a:xfrm>
          <a:ln/>
        </p:spPr>
      </p:sp>
      <p:sp>
        <p:nvSpPr>
          <p:cNvPr id="195587" name="备注占位符 2">
            <a:extLst>
              <a:ext uri="{FF2B5EF4-FFF2-40B4-BE49-F238E27FC236}">
                <a16:creationId xmlns:a16="http://schemas.microsoft.com/office/drawing/2014/main" id="{FCA6C126-9089-4E1A-BA0E-322D8719CBA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5588" name="日期占位符 3">
            <a:extLst>
              <a:ext uri="{FF2B5EF4-FFF2-40B4-BE49-F238E27FC236}">
                <a16:creationId xmlns:a16="http://schemas.microsoft.com/office/drawing/2014/main" id="{91A47C0F-C46F-468A-BC96-7034D6BD8ABF}"/>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AC49F48-DFB0-4F60-A04D-B3F3797FCD87}"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95589" name="灯片编号占位符 4">
            <a:extLst>
              <a:ext uri="{FF2B5EF4-FFF2-40B4-BE49-F238E27FC236}">
                <a16:creationId xmlns:a16="http://schemas.microsoft.com/office/drawing/2014/main" id="{8B9A3E14-41BA-4588-95BA-2850A6C92AC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E0DD452A-4A4E-47C9-9587-9F6456C54B49}" type="slidenum">
              <a:rPr lang="en-US" altLang="zh-CN" sz="1200" smtClean="0">
                <a:latin typeface="Tahoma" panose="020B0604030504040204" pitchFamily="34" charset="0"/>
              </a:rPr>
              <a:pPr/>
              <a:t>80</a:t>
            </a:fld>
            <a:endParaRPr lang="en-US" altLang="zh-CN" sz="1200">
              <a:latin typeface="Tahoma" panose="020B0604030504040204" pitchFamily="34"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3">
            <a:extLst>
              <a:ext uri="{FF2B5EF4-FFF2-40B4-BE49-F238E27FC236}">
                <a16:creationId xmlns:a16="http://schemas.microsoft.com/office/drawing/2014/main" id="{BFB8588D-7FA5-4F99-A642-0ACF6974C5A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17F4EEF4-40F5-46B4-BF12-CD621504549A}"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97635" name="Rectangle 7">
            <a:extLst>
              <a:ext uri="{FF2B5EF4-FFF2-40B4-BE49-F238E27FC236}">
                <a16:creationId xmlns:a16="http://schemas.microsoft.com/office/drawing/2014/main" id="{35B7499B-6588-4A77-B58C-BF8969196DB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C558909-3A4D-44C9-B14E-43B8840FACF5}" type="slidenum">
              <a:rPr lang="en-US" altLang="zh-CN" sz="1200" smtClean="0">
                <a:latin typeface="Tahoma" panose="020B0604030504040204" pitchFamily="34" charset="0"/>
              </a:rPr>
              <a:pPr/>
              <a:t>81</a:t>
            </a:fld>
            <a:endParaRPr lang="en-US" altLang="zh-CN" sz="1200">
              <a:latin typeface="Tahoma" panose="020B0604030504040204" pitchFamily="34" charset="0"/>
            </a:endParaRPr>
          </a:p>
        </p:txBody>
      </p:sp>
      <p:sp>
        <p:nvSpPr>
          <p:cNvPr id="197636" name="Rectangle 2">
            <a:extLst>
              <a:ext uri="{FF2B5EF4-FFF2-40B4-BE49-F238E27FC236}">
                <a16:creationId xmlns:a16="http://schemas.microsoft.com/office/drawing/2014/main" id="{20F8B0B2-D6C0-4F34-A24A-E531B0262DDD}"/>
              </a:ext>
            </a:extLst>
          </p:cNvPr>
          <p:cNvSpPr>
            <a:spLocks noGrp="1" noRot="1" noChangeAspect="1" noChangeArrowheads="1" noTextEdit="1"/>
          </p:cNvSpPr>
          <p:nvPr>
            <p:ph type="sldImg"/>
          </p:nvPr>
        </p:nvSpPr>
        <p:spPr>
          <a:xfrm>
            <a:off x="381000" y="685800"/>
            <a:ext cx="6096000" cy="3429000"/>
          </a:xfrm>
          <a:ln/>
        </p:spPr>
      </p:sp>
      <p:sp>
        <p:nvSpPr>
          <p:cNvPr id="197637" name="Rectangle 3">
            <a:extLst>
              <a:ext uri="{FF2B5EF4-FFF2-40B4-BE49-F238E27FC236}">
                <a16:creationId xmlns:a16="http://schemas.microsoft.com/office/drawing/2014/main" id="{DF76C20D-F906-4947-907D-AE50F65150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多肽链的主链原子围绕中心轴，做有规律的螺旋上升所形成的右手螺旋结构。</a:t>
            </a:r>
          </a:p>
          <a:p>
            <a:pPr eaLnBrk="1" hangingPunct="1"/>
            <a:endParaRPr lang="en-US" altLang="zh-CN" dirty="0"/>
          </a:p>
          <a:p>
            <a:pPr eaLnBrk="1" hangingPunct="1"/>
            <a:r>
              <a:rPr lang="zh-CN" altLang="en-US" dirty="0"/>
              <a:t>确定螺旋结构手性的简单方法是右手握拳，伸直大拇指，与螺轴平行，指向前方 。 如果螺线按右手其他 </a:t>
            </a:r>
            <a:r>
              <a:rPr lang="en-US" altLang="zh-CN" dirty="0"/>
              <a:t>4 </a:t>
            </a:r>
            <a:r>
              <a:rPr lang="zh-CN" altLang="en-US" dirty="0"/>
              <a:t>个手指弯曲的方向（顺时针）旋转，螺旋将沿大拇指所指的方向前进，则该结构为右手螺旋；如果用左手以同样方式操作，螺线逆时针旋转向前，则为左手螺旋 。</a:t>
            </a:r>
            <a:endParaRPr lang="en-US" altLang="zh-CN" dirty="0"/>
          </a:p>
          <a:p>
            <a:pPr eaLnBrk="1" hangingPunct="1"/>
            <a:endParaRPr lang="en-US" altLang="zh-CN" dirty="0"/>
          </a:p>
          <a:p>
            <a:pPr eaLnBrk="1" hangingPunct="1"/>
            <a:r>
              <a:rPr lang="zh-CN" altLang="en-US" dirty="0"/>
              <a:t>目前为止仅在嗜热菌蛋白酶中发现了一段左手</a:t>
            </a:r>
            <a:r>
              <a:rPr lang="en-US" altLang="zh-CN" dirty="0"/>
              <a:t>α</a:t>
            </a:r>
            <a:r>
              <a:rPr lang="zh-CN" altLang="en-US" dirty="0"/>
              <a:t>螺旋。  </a:t>
            </a:r>
            <a:endParaRPr lang="en-US" altLang="zh-CN" dirty="0"/>
          </a:p>
          <a:p>
            <a:pPr eaLnBrk="1" hangingPunct="1"/>
            <a:endParaRPr lang="en-US" altLang="zh-CN" dirty="0"/>
          </a:p>
          <a:p>
            <a:pPr eaLnBrk="1" hangingPunct="1"/>
            <a:r>
              <a:rPr lang="zh-CN" altLang="en-US" dirty="0"/>
              <a:t>为什么是右手螺旋？ 因为氨基酸是</a:t>
            </a:r>
            <a:r>
              <a:rPr lang="en-US" altLang="zh-CN" dirty="0"/>
              <a:t>L</a:t>
            </a:r>
            <a:r>
              <a:rPr lang="zh-CN" altLang="en-US" dirty="0"/>
              <a:t>型，非</a:t>
            </a:r>
            <a:r>
              <a:rPr lang="en-US" altLang="zh-CN" dirty="0"/>
              <a:t>D</a:t>
            </a:r>
            <a:r>
              <a:rPr lang="zh-CN" altLang="en-US" dirty="0"/>
              <a:t>型 ， 右手螺旋比左手螺旋更稳定 </a:t>
            </a:r>
            <a:endParaRPr lang="en-US" altLang="zh-CN"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3">
            <a:extLst>
              <a:ext uri="{FF2B5EF4-FFF2-40B4-BE49-F238E27FC236}">
                <a16:creationId xmlns:a16="http://schemas.microsoft.com/office/drawing/2014/main" id="{29BEE79D-CC9B-4E9F-A372-B0CEBA63F60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C769CA2-7976-4EAE-BF3F-1DE593A8DA30}"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199683" name="Rectangle 7">
            <a:extLst>
              <a:ext uri="{FF2B5EF4-FFF2-40B4-BE49-F238E27FC236}">
                <a16:creationId xmlns:a16="http://schemas.microsoft.com/office/drawing/2014/main" id="{C56376E2-4E93-4CE4-BBF6-4C963373A8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B922309-24A2-424F-AB34-75DFB6D6F6EA}" type="slidenum">
              <a:rPr lang="en-US" altLang="zh-CN" sz="1200" smtClean="0">
                <a:latin typeface="Tahoma" panose="020B0604030504040204" pitchFamily="34" charset="0"/>
              </a:rPr>
              <a:pPr/>
              <a:t>82</a:t>
            </a:fld>
            <a:endParaRPr lang="en-US" altLang="zh-CN" sz="1200">
              <a:latin typeface="Tahoma" panose="020B0604030504040204" pitchFamily="34" charset="0"/>
            </a:endParaRPr>
          </a:p>
        </p:txBody>
      </p:sp>
      <p:sp>
        <p:nvSpPr>
          <p:cNvPr id="199684" name="Rectangle 2">
            <a:extLst>
              <a:ext uri="{FF2B5EF4-FFF2-40B4-BE49-F238E27FC236}">
                <a16:creationId xmlns:a16="http://schemas.microsoft.com/office/drawing/2014/main" id="{810F55F2-8BE9-4CD9-975F-0C1A969EAD5A}"/>
              </a:ext>
            </a:extLst>
          </p:cNvPr>
          <p:cNvSpPr>
            <a:spLocks noGrp="1" noRot="1" noChangeAspect="1" noChangeArrowheads="1" noTextEdit="1"/>
          </p:cNvSpPr>
          <p:nvPr>
            <p:ph type="sldImg"/>
          </p:nvPr>
        </p:nvSpPr>
        <p:spPr>
          <a:xfrm>
            <a:off x="381000" y="685800"/>
            <a:ext cx="6096000" cy="3429000"/>
          </a:xfrm>
          <a:ln/>
        </p:spPr>
      </p:sp>
      <p:sp>
        <p:nvSpPr>
          <p:cNvPr id="199685" name="Rectangle 3">
            <a:extLst>
              <a:ext uri="{FF2B5EF4-FFF2-40B4-BE49-F238E27FC236}">
                <a16:creationId xmlns:a16="http://schemas.microsoft.com/office/drawing/2014/main" id="{E1FA8063-1329-4FB4-AA46-AF81D9F0DF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First proposed by Linus Pauling and Robert Corey in 1951 </a:t>
            </a:r>
          </a:p>
          <a:p>
            <a:pPr eaLnBrk="1" hangingPunct="1"/>
            <a:r>
              <a:rPr lang="en-US" altLang="zh-CN" dirty="0"/>
              <a:t>Identified in keratin</a:t>
            </a:r>
            <a:r>
              <a:rPr lang="zh-CN" altLang="en-US" dirty="0"/>
              <a:t>（角蛋白）</a:t>
            </a:r>
            <a:r>
              <a:rPr lang="en-US" altLang="zh-CN" dirty="0"/>
              <a:t> by Max Perutz </a:t>
            </a:r>
          </a:p>
          <a:p>
            <a:pPr eaLnBrk="1" hangingPunct="1"/>
            <a:endParaRPr lang="en-US" altLang="zh-CN" dirty="0"/>
          </a:p>
          <a:p>
            <a:pPr eaLnBrk="1" hangingPunct="1"/>
            <a:r>
              <a:rPr lang="zh-CN" altLang="en-US" dirty="0"/>
              <a:t>鲍林是美国著名的量子化学家，他在化学的多个领域都有过重大贡献。是量子化学与分子生物学的奠基者之一，曾两次荣获诺贝尔奖金（</a:t>
            </a:r>
            <a:r>
              <a:rPr lang="en-US" altLang="zh-CN" dirty="0"/>
              <a:t>1954</a:t>
            </a:r>
            <a:r>
              <a:rPr lang="zh-CN" altLang="en-US" dirty="0"/>
              <a:t>年化学奖， </a:t>
            </a:r>
            <a:r>
              <a:rPr lang="en-US" altLang="zh-CN" dirty="0"/>
              <a:t>1962</a:t>
            </a:r>
            <a:r>
              <a:rPr lang="zh-CN" altLang="en-US" dirty="0"/>
              <a:t>年和平奖），有很高的国际声誉 。 </a:t>
            </a:r>
          </a:p>
          <a:p>
            <a:pPr eaLnBrk="1" hangingPunct="1"/>
            <a:endParaRPr lang="en-US" altLang="zh-CN" dirty="0"/>
          </a:p>
          <a:p>
            <a:pPr eaLnBrk="1" hangingPunct="1"/>
            <a:r>
              <a:rPr lang="zh-CN" altLang="en-US" dirty="0"/>
              <a:t>鲍林提出的</a:t>
            </a:r>
            <a:r>
              <a:rPr lang="en-US" altLang="zh-CN" b="1" dirty="0"/>
              <a:t>α</a:t>
            </a:r>
            <a:r>
              <a:rPr lang="zh-CN" altLang="en-US" b="1" dirty="0"/>
              <a:t>螺旋和</a:t>
            </a:r>
            <a:r>
              <a:rPr lang="en-US" altLang="zh-CN" b="1" dirty="0"/>
              <a:t>β</a:t>
            </a:r>
            <a:r>
              <a:rPr lang="zh-CN" altLang="en-US" b="1" dirty="0"/>
              <a:t>折叠是蛋白质二级结构的基本构建单元的理论，是</a:t>
            </a:r>
            <a:r>
              <a:rPr lang="en-US" altLang="zh-CN" dirty="0"/>
              <a:t>20</a:t>
            </a:r>
            <a:r>
              <a:rPr lang="zh-CN" altLang="en-US" dirty="0"/>
              <a:t>世纪生物化学若干基本理论之一，影响深远。 此外，鲍林还提出了酶催化反应的机理、抗原与抗体结构互补性原理以及</a:t>
            </a:r>
            <a:r>
              <a:rPr lang="en-US" altLang="zh-CN" dirty="0"/>
              <a:t>DNA</a:t>
            </a:r>
            <a:r>
              <a:rPr lang="zh-CN" altLang="en-US" dirty="0"/>
              <a:t>复制过程中的互补性原理，这些理论在</a:t>
            </a:r>
            <a:r>
              <a:rPr lang="en-US" altLang="zh-CN" dirty="0"/>
              <a:t>20</a:t>
            </a:r>
            <a:r>
              <a:rPr lang="zh-CN" altLang="en-US" dirty="0"/>
              <a:t>世纪的生物化学和医学领域都扮演了非常重要的角色。 </a:t>
            </a:r>
          </a:p>
          <a:p>
            <a:pPr eaLnBrk="1" hangingPunct="1"/>
            <a:endParaRPr lang="en-US" altLang="zh-CN" dirty="0"/>
          </a:p>
          <a:p>
            <a:pPr eaLnBrk="1" hangingPunct="1"/>
            <a:r>
              <a:rPr lang="en-US" altLang="zh-CN" dirty="0"/>
              <a:t>1994</a:t>
            </a:r>
            <a:r>
              <a:rPr lang="zh-CN" altLang="en-US" dirty="0"/>
              <a:t>年</a:t>
            </a:r>
            <a:r>
              <a:rPr lang="en-US" altLang="zh-CN" dirty="0"/>
              <a:t>8</a:t>
            </a:r>
            <a:r>
              <a:rPr lang="zh-CN" altLang="en-US" dirty="0"/>
              <a:t>月</a:t>
            </a:r>
            <a:r>
              <a:rPr lang="en-US" altLang="zh-CN" dirty="0"/>
              <a:t>19</a:t>
            </a:r>
            <a:r>
              <a:rPr lang="zh-CN" altLang="en-US" dirty="0"/>
              <a:t>日</a:t>
            </a:r>
            <a:r>
              <a:rPr lang="en-US" altLang="zh-CN" dirty="0"/>
              <a:t>,</a:t>
            </a:r>
            <a:r>
              <a:rPr lang="zh-CN" altLang="en-US" dirty="0"/>
              <a:t> 莱纳斯</a:t>
            </a:r>
            <a:r>
              <a:rPr lang="en-US" altLang="zh-CN" dirty="0"/>
              <a:t>·</a:t>
            </a:r>
            <a:r>
              <a:rPr lang="zh-CN" altLang="en-US" dirty="0"/>
              <a:t>鲍林以</a:t>
            </a:r>
            <a:r>
              <a:rPr lang="en-US" altLang="zh-CN" dirty="0"/>
              <a:t>93</a:t>
            </a:r>
            <a:r>
              <a:rPr lang="zh-CN" altLang="en-US" dirty="0"/>
              <a:t>岁高龄逝世。鲍林曾被英国</a:t>
            </a:r>
            <a:r>
              <a:rPr lang="en-US" altLang="zh-CN" dirty="0"/>
              <a:t>《</a:t>
            </a:r>
            <a:r>
              <a:rPr lang="zh-CN" altLang="en-US" dirty="0"/>
              <a:t>新科学家</a:t>
            </a:r>
            <a:r>
              <a:rPr lang="en-US" altLang="zh-CN" dirty="0"/>
              <a:t>》</a:t>
            </a:r>
            <a:r>
              <a:rPr lang="zh-CN" altLang="en-US" dirty="0"/>
              <a:t>周刊评为人类有史以来</a:t>
            </a:r>
            <a:r>
              <a:rPr lang="en-US" altLang="zh-CN" dirty="0"/>
              <a:t>20</a:t>
            </a:r>
            <a:r>
              <a:rPr lang="zh-CN" altLang="en-US" dirty="0"/>
              <a:t>位最杰出的科学家之一</a:t>
            </a:r>
            <a:r>
              <a:rPr lang="en-US" altLang="zh-CN" dirty="0"/>
              <a:t>,</a:t>
            </a:r>
            <a:r>
              <a:rPr lang="zh-CN" altLang="en-US" dirty="0"/>
              <a:t>与牛顿、居里夫人及爱因斯坦齐名。然而</a:t>
            </a:r>
            <a:r>
              <a:rPr lang="en-US" altLang="zh-CN" dirty="0"/>
              <a:t>,</a:t>
            </a:r>
            <a:r>
              <a:rPr lang="zh-CN" altLang="en-US" dirty="0"/>
              <a:t>路透社在报道鲍林逝世的消息时却说</a:t>
            </a:r>
            <a:r>
              <a:rPr lang="en-US" altLang="zh-CN" dirty="0"/>
              <a:t>,</a:t>
            </a:r>
            <a:r>
              <a:rPr lang="zh-CN" altLang="en-US" dirty="0"/>
              <a:t>他是“</a:t>
            </a:r>
            <a:r>
              <a:rPr lang="en-US" altLang="zh-CN" dirty="0"/>
              <a:t>20</a:t>
            </a:r>
            <a:r>
              <a:rPr lang="zh-CN" altLang="en-US" dirty="0"/>
              <a:t>世纪最受尊敬和最受嘲弄的科学家之一”。 </a:t>
            </a:r>
          </a:p>
          <a:p>
            <a:pPr eaLnBrk="1" hangingPunct="1"/>
            <a:r>
              <a:rPr lang="zh-CN" altLang="en-US" dirty="0"/>
              <a:t>一个“最受尊敬”的科学家之所以“最受嘲弄”</a:t>
            </a:r>
            <a:r>
              <a:rPr lang="en-US" altLang="zh-CN" dirty="0"/>
              <a:t>,</a:t>
            </a:r>
            <a:r>
              <a:rPr lang="zh-CN" altLang="en-US" dirty="0"/>
              <a:t>在于他提出了维生素作用的新观点</a:t>
            </a:r>
            <a:r>
              <a:rPr lang="en-US" altLang="zh-CN" dirty="0"/>
              <a:t>,</a:t>
            </a:r>
            <a:r>
              <a:rPr lang="zh-CN" altLang="en-US" dirty="0"/>
              <a:t>尤其是</a:t>
            </a:r>
            <a:r>
              <a:rPr lang="zh-CN" altLang="en-US" b="1" dirty="0"/>
              <a:t>主张超大剂量服用维生素</a:t>
            </a:r>
            <a:r>
              <a:rPr lang="en-US" altLang="zh-CN" b="1" dirty="0"/>
              <a:t>C</a:t>
            </a:r>
            <a:r>
              <a:rPr lang="zh-CN" altLang="en-US" b="1" dirty="0"/>
              <a:t>，</a:t>
            </a:r>
            <a:r>
              <a:rPr lang="zh-CN" altLang="en-US" b="0" dirty="0"/>
              <a:t>与大量科学研究不符</a:t>
            </a:r>
            <a:r>
              <a:rPr lang="zh-CN" altLang="en-US" dirty="0"/>
              <a:t>。晚年的鲍林以一己之力提升了西方维生素保健品行业，成为维生素保健品行业的精神教父。</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幻灯片图像占位符 1">
            <a:extLst>
              <a:ext uri="{FF2B5EF4-FFF2-40B4-BE49-F238E27FC236}">
                <a16:creationId xmlns:a16="http://schemas.microsoft.com/office/drawing/2014/main" id="{C20294AA-BAFA-4569-A60B-47B3D2679C31}"/>
              </a:ext>
            </a:extLst>
          </p:cNvPr>
          <p:cNvSpPr>
            <a:spLocks noGrp="1" noRot="1" noChangeAspect="1" noChangeArrowheads="1" noTextEdit="1"/>
          </p:cNvSpPr>
          <p:nvPr>
            <p:ph type="sldImg"/>
          </p:nvPr>
        </p:nvSpPr>
        <p:spPr>
          <a:xfrm>
            <a:off x="381000" y="685800"/>
            <a:ext cx="6096000" cy="3429000"/>
          </a:xfrm>
          <a:ln/>
        </p:spPr>
      </p:sp>
      <p:sp>
        <p:nvSpPr>
          <p:cNvPr id="201731" name="备注占位符 2">
            <a:extLst>
              <a:ext uri="{FF2B5EF4-FFF2-40B4-BE49-F238E27FC236}">
                <a16:creationId xmlns:a16="http://schemas.microsoft.com/office/drawing/2014/main" id="{8A856CED-A474-43A4-8879-5CA742BED96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α-</a:t>
            </a:r>
            <a:r>
              <a:rPr lang="zh-CN" altLang="en-US" dirty="0"/>
              <a:t>螺旋的每个肽键的羰基氧和第四个肽键的</a:t>
            </a:r>
            <a:r>
              <a:rPr lang="en-US" altLang="zh-CN" dirty="0"/>
              <a:t>N</a:t>
            </a:r>
            <a:r>
              <a:rPr lang="zh-CN" altLang="en-US" dirty="0"/>
              <a:t>－</a:t>
            </a:r>
            <a:r>
              <a:rPr lang="en-US" altLang="zh-CN" dirty="0"/>
              <a:t>H</a:t>
            </a:r>
            <a:r>
              <a:rPr lang="zh-CN" altLang="en-US" dirty="0"/>
              <a:t>形成氢键（或者说第一个氨基酸残基的羰基氧与第五个氨基酸残基的酰胺氢形成氢键），方向与长轴方向一致</a:t>
            </a:r>
            <a:r>
              <a:rPr lang="en-US" altLang="zh-CN" dirty="0"/>
              <a:t>,</a:t>
            </a:r>
            <a:r>
              <a:rPr lang="zh-CN" altLang="en-US" dirty="0"/>
              <a:t>是稳定</a:t>
            </a:r>
            <a:r>
              <a:rPr lang="en-US" altLang="zh-CN" dirty="0"/>
              <a:t>α-</a:t>
            </a:r>
            <a:r>
              <a:rPr lang="zh-CN" altLang="en-US" dirty="0"/>
              <a:t>螺旋的主要化学键。  </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螺旋的头 </a:t>
            </a:r>
            <a:r>
              <a:rPr lang="en-US" altLang="zh-CN" dirty="0"/>
              <a:t>4 </a:t>
            </a:r>
            <a:r>
              <a:rPr lang="zh-CN" altLang="en-US" dirty="0"/>
              <a:t>个酰胺氢和最后 </a:t>
            </a:r>
            <a:r>
              <a:rPr lang="en-US" altLang="zh-CN" dirty="0"/>
              <a:t>4 </a:t>
            </a:r>
            <a:r>
              <a:rPr lang="zh-CN" altLang="en-US" dirty="0"/>
              <a:t>个羰基氧不参与螺旋中的氢键形成</a:t>
            </a:r>
          </a:p>
          <a:p>
            <a:endParaRPr lang="en-US" altLang="zh-CN" dirty="0"/>
          </a:p>
          <a:p>
            <a:r>
              <a:rPr lang="zh-CN" altLang="en-US" dirty="0"/>
              <a:t>注意，反映</a:t>
            </a:r>
            <a:r>
              <a:rPr lang="en-US" altLang="zh-CN" dirty="0"/>
              <a:t>R</a:t>
            </a:r>
            <a:r>
              <a:rPr lang="zh-CN" altLang="en-US" dirty="0"/>
              <a:t>基团朝外的那张图给人螺旋内部中空的错觉，这是因为图中小球的大小与所代表的原子的范德华半径并不一致。</a:t>
            </a:r>
            <a:endParaRPr lang="en-US" altLang="zh-CN" dirty="0"/>
          </a:p>
          <a:p>
            <a:endParaRPr lang="en-US" altLang="zh-CN" dirty="0"/>
          </a:p>
        </p:txBody>
      </p:sp>
      <p:sp>
        <p:nvSpPr>
          <p:cNvPr id="201732" name="日期占位符 3">
            <a:extLst>
              <a:ext uri="{FF2B5EF4-FFF2-40B4-BE49-F238E27FC236}">
                <a16:creationId xmlns:a16="http://schemas.microsoft.com/office/drawing/2014/main" id="{FB1F345E-1732-4E4F-90A1-BB8895FEBF40}"/>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6780826-5A32-4D61-91B5-9EB98E49D06A}"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01733" name="灯片编号占位符 4">
            <a:extLst>
              <a:ext uri="{FF2B5EF4-FFF2-40B4-BE49-F238E27FC236}">
                <a16:creationId xmlns:a16="http://schemas.microsoft.com/office/drawing/2014/main" id="{DBDD4FE0-AA7A-4FEA-BEFF-232C0AA37C0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48772A2D-6BBA-421F-9AD1-D845ADE3432A}" type="slidenum">
              <a:rPr lang="en-US" altLang="zh-CN" sz="1200" smtClean="0">
                <a:latin typeface="Tahoma" panose="020B0604030504040204" pitchFamily="34" charset="0"/>
              </a:rPr>
              <a:pPr/>
              <a:t>83</a:t>
            </a:fld>
            <a:endParaRPr lang="en-US" altLang="zh-CN" sz="1200">
              <a:latin typeface="Tahoma" panose="020B0604030504040204" pitchFamily="34" charset="0"/>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幻灯片图像占位符 1">
            <a:extLst>
              <a:ext uri="{FF2B5EF4-FFF2-40B4-BE49-F238E27FC236}">
                <a16:creationId xmlns:a16="http://schemas.microsoft.com/office/drawing/2014/main" id="{1AEE47A2-869F-4E94-853F-5A0D0A1A4C6E}"/>
              </a:ext>
            </a:extLst>
          </p:cNvPr>
          <p:cNvSpPr>
            <a:spLocks noGrp="1" noRot="1" noChangeAspect="1" noChangeArrowheads="1" noTextEdit="1"/>
          </p:cNvSpPr>
          <p:nvPr>
            <p:ph type="sldImg"/>
          </p:nvPr>
        </p:nvSpPr>
        <p:spPr>
          <a:xfrm>
            <a:off x="381000" y="685800"/>
            <a:ext cx="6096000" cy="3429000"/>
          </a:xfrm>
          <a:ln/>
        </p:spPr>
      </p:sp>
      <p:sp>
        <p:nvSpPr>
          <p:cNvPr id="203779" name="备注占位符 2">
            <a:extLst>
              <a:ext uri="{FF2B5EF4-FFF2-40B4-BE49-F238E27FC236}">
                <a16:creationId xmlns:a16="http://schemas.microsoft.com/office/drawing/2014/main" id="{C60ACBC5-7BAC-4E48-9F2F-AB11704A45F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从 </a:t>
            </a:r>
            <a:r>
              <a:rPr lang="en-US" altLang="zh-CN" dirty="0"/>
              <a:t>N </a:t>
            </a:r>
            <a:r>
              <a:rPr lang="zh-CN" altLang="en-US" dirty="0"/>
              <a:t>端出发， 氢键是由每个肽键的 </a:t>
            </a:r>
            <a:r>
              <a:rPr lang="en-US" altLang="zh-CN" dirty="0"/>
              <a:t>C=O </a:t>
            </a:r>
            <a:r>
              <a:rPr lang="zh-CN" altLang="en-US" dirty="0"/>
              <a:t>与 第 </a:t>
            </a:r>
            <a:r>
              <a:rPr lang="en-US" altLang="zh-CN" dirty="0"/>
              <a:t>4 </a:t>
            </a:r>
            <a:r>
              <a:rPr lang="zh-CN" altLang="en-US" dirty="0"/>
              <a:t>个肽键的 </a:t>
            </a:r>
            <a:r>
              <a:rPr lang="en-US" altLang="zh-CN" dirty="0"/>
              <a:t>N-H </a:t>
            </a:r>
            <a:r>
              <a:rPr lang="zh-CN" altLang="en-US" dirty="0"/>
              <a:t>之间形成的</a:t>
            </a:r>
            <a:r>
              <a:rPr lang="en-US" altLang="zh-CN" dirty="0"/>
              <a:t>, </a:t>
            </a:r>
            <a:r>
              <a:rPr lang="zh-CN" altLang="en-US" dirty="0"/>
              <a:t>或者说第</a:t>
            </a:r>
            <a:r>
              <a:rPr lang="en-US" altLang="zh-CN" dirty="0"/>
              <a:t>n</a:t>
            </a:r>
            <a:r>
              <a:rPr lang="zh-CN" altLang="en-US" dirty="0"/>
              <a:t>个氨基酸的</a:t>
            </a:r>
            <a:r>
              <a:rPr lang="en-US" altLang="zh-CN" dirty="0"/>
              <a:t>C=O</a:t>
            </a:r>
            <a:r>
              <a:rPr lang="zh-CN" altLang="en-US" dirty="0"/>
              <a:t>与</a:t>
            </a:r>
            <a:r>
              <a:rPr lang="en-US" altLang="zh-CN" dirty="0"/>
              <a:t>n+4</a:t>
            </a:r>
            <a:r>
              <a:rPr lang="zh-CN" altLang="en-US" dirty="0"/>
              <a:t>个氨基酸的的</a:t>
            </a:r>
            <a:r>
              <a:rPr lang="en-US" altLang="zh-CN" dirty="0"/>
              <a:t>N-H </a:t>
            </a:r>
            <a:r>
              <a:rPr lang="zh-CN" altLang="en-US" dirty="0"/>
              <a:t>之间生成氢键</a:t>
            </a:r>
            <a:endParaRPr lang="en-US" altLang="zh-CN" dirty="0"/>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螺旋的头 </a:t>
            </a:r>
            <a:r>
              <a:rPr lang="en-US" altLang="zh-CN" dirty="0"/>
              <a:t>4 </a:t>
            </a:r>
            <a:r>
              <a:rPr lang="zh-CN" altLang="en-US" dirty="0"/>
              <a:t>个酰胺氢和最后 </a:t>
            </a:r>
            <a:r>
              <a:rPr lang="en-US" altLang="zh-CN" dirty="0"/>
              <a:t>4 </a:t>
            </a:r>
            <a:r>
              <a:rPr lang="zh-CN" altLang="en-US" dirty="0"/>
              <a:t>个羰基氧不参与螺旋中的氢键形成</a:t>
            </a:r>
          </a:p>
          <a:p>
            <a:endParaRPr lang="en-US" altLang="zh-CN" dirty="0"/>
          </a:p>
        </p:txBody>
      </p:sp>
      <p:sp>
        <p:nvSpPr>
          <p:cNvPr id="203780" name="日期占位符 3">
            <a:extLst>
              <a:ext uri="{FF2B5EF4-FFF2-40B4-BE49-F238E27FC236}">
                <a16:creationId xmlns:a16="http://schemas.microsoft.com/office/drawing/2014/main" id="{92B08E6C-289B-45D7-A3FD-627CA1990181}"/>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E26446BE-9B26-4CB1-867E-376E4B4BB6A8}"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03781" name="灯片编号占位符 4">
            <a:extLst>
              <a:ext uri="{FF2B5EF4-FFF2-40B4-BE49-F238E27FC236}">
                <a16:creationId xmlns:a16="http://schemas.microsoft.com/office/drawing/2014/main" id="{CA3275D8-6E81-45CA-A8A5-F5D7D2A8FA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65CB594-057E-4AF1-9A71-4977A670B620}" type="slidenum">
              <a:rPr lang="en-US" altLang="zh-CN" sz="1200" smtClean="0">
                <a:latin typeface="Tahoma" panose="020B0604030504040204" pitchFamily="34" charset="0"/>
              </a:rPr>
              <a:pPr/>
              <a:t>84</a:t>
            </a:fld>
            <a:endParaRPr lang="en-US" altLang="zh-CN" sz="1200">
              <a:latin typeface="Tahoma" panose="020B0604030504040204" pitchFamily="34" charset="0"/>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幻灯片图像占位符 1">
            <a:extLst>
              <a:ext uri="{FF2B5EF4-FFF2-40B4-BE49-F238E27FC236}">
                <a16:creationId xmlns:a16="http://schemas.microsoft.com/office/drawing/2014/main" id="{81B973B0-82C5-4F03-8708-CD551B31D77D}"/>
              </a:ext>
            </a:extLst>
          </p:cNvPr>
          <p:cNvSpPr>
            <a:spLocks noGrp="1" noRot="1" noChangeAspect="1" noChangeArrowheads="1" noTextEdit="1"/>
          </p:cNvSpPr>
          <p:nvPr>
            <p:ph type="sldImg"/>
          </p:nvPr>
        </p:nvSpPr>
        <p:spPr>
          <a:xfrm>
            <a:off x="381000" y="685800"/>
            <a:ext cx="6096000" cy="3429000"/>
          </a:xfrm>
          <a:ln/>
        </p:spPr>
      </p:sp>
      <p:sp>
        <p:nvSpPr>
          <p:cNvPr id="205827" name="备注占位符 2">
            <a:extLst>
              <a:ext uri="{FF2B5EF4-FFF2-40B4-BE49-F238E27FC236}">
                <a16:creationId xmlns:a16="http://schemas.microsoft.com/office/drawing/2014/main" id="{DDA30BB1-11F4-4698-81F1-B3E3F3D95E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05828" name="日期占位符 3">
            <a:extLst>
              <a:ext uri="{FF2B5EF4-FFF2-40B4-BE49-F238E27FC236}">
                <a16:creationId xmlns:a16="http://schemas.microsoft.com/office/drawing/2014/main" id="{F4156507-D8AE-4D1D-9D96-F88A1188C07D}"/>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3FD46A7E-7F49-4922-BA4D-457FAAADE2CD}"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05829" name="灯片编号占位符 4">
            <a:extLst>
              <a:ext uri="{FF2B5EF4-FFF2-40B4-BE49-F238E27FC236}">
                <a16:creationId xmlns:a16="http://schemas.microsoft.com/office/drawing/2014/main" id="{BE222A94-B03D-4860-9512-24B563FAC0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5D5CA181-BA16-4694-BB2A-67A2F43EF35C}" type="slidenum">
              <a:rPr lang="en-US" altLang="zh-CN" sz="1200" smtClean="0">
                <a:latin typeface="Tahoma" panose="020B0604030504040204" pitchFamily="34" charset="0"/>
              </a:rPr>
              <a:pPr/>
              <a:t>85</a:t>
            </a:fld>
            <a:endParaRPr lang="en-US" altLang="zh-CN" sz="1200">
              <a:latin typeface="Tahoma" panose="020B0604030504040204" pitchFamily="34" charset="0"/>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日期占位符 3"/>
          <p:cNvSpPr>
            <a:spLocks noGrp="1"/>
          </p:cNvSpPr>
          <p:nvPr>
            <p:ph type="dt" idx="1"/>
          </p:nvPr>
        </p:nvSpPr>
        <p:spPr/>
        <p:txBody>
          <a:bodyPr/>
          <a:lstStyle/>
          <a:p>
            <a:pPr>
              <a:defRPr/>
            </a:pPr>
            <a:fld id="{EA205CC4-1CAE-4FA1-A962-1A34DB7C7879}" type="datetime1">
              <a:rPr lang="zh-CN" altLang="en-US" smtClean="0"/>
              <a:pPr>
                <a:defRPr/>
              </a:pPr>
              <a:t>2026/9/1</a:t>
            </a:fld>
            <a:endParaRPr lang="en-US" altLang="zh-CN" dirty="0"/>
          </a:p>
        </p:txBody>
      </p:sp>
      <p:sp>
        <p:nvSpPr>
          <p:cNvPr id="5" name="灯片编号占位符 4"/>
          <p:cNvSpPr>
            <a:spLocks noGrp="1"/>
          </p:cNvSpPr>
          <p:nvPr>
            <p:ph type="sldNum" sz="quarter" idx="5"/>
          </p:nvPr>
        </p:nvSpPr>
        <p:spPr/>
        <p:txBody>
          <a:bodyPr/>
          <a:lstStyle/>
          <a:p>
            <a:pPr>
              <a:defRPr/>
            </a:pPr>
            <a:fld id="{F17E7B64-D31F-49F9-A602-099D7B13B654}" type="slidenum">
              <a:rPr lang="en-US" altLang="zh-CN" smtClean="0"/>
              <a:pPr>
                <a:defRPr/>
              </a:pPr>
              <a:t>86</a:t>
            </a:fld>
            <a:endParaRPr lang="en-US" altLang="zh-CN" dirty="0"/>
          </a:p>
        </p:txBody>
      </p:sp>
    </p:spTree>
    <p:extLst>
      <p:ext uri="{BB962C8B-B14F-4D97-AF65-F5344CB8AC3E}">
        <p14:creationId xmlns:p14="http://schemas.microsoft.com/office/powerpoint/2010/main" val="379789799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3">
            <a:extLst>
              <a:ext uri="{FF2B5EF4-FFF2-40B4-BE49-F238E27FC236}">
                <a16:creationId xmlns:a16="http://schemas.microsoft.com/office/drawing/2014/main" id="{96A1E759-9EDF-469D-B71F-6BCAC76AB80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D623082C-30D4-46EA-83CD-5EA5CBC8FCA5}"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07875" name="Rectangle 7">
            <a:extLst>
              <a:ext uri="{FF2B5EF4-FFF2-40B4-BE49-F238E27FC236}">
                <a16:creationId xmlns:a16="http://schemas.microsoft.com/office/drawing/2014/main" id="{71819D3B-4FFC-4460-A209-0D683579D7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CBAE17C-E11E-4E39-A221-42FCA164EC33}" type="slidenum">
              <a:rPr lang="en-US" altLang="zh-CN" sz="1200" smtClean="0">
                <a:latin typeface="Tahoma" panose="020B0604030504040204" pitchFamily="34" charset="0"/>
              </a:rPr>
              <a:pPr/>
              <a:t>87</a:t>
            </a:fld>
            <a:endParaRPr lang="en-US" altLang="zh-CN" sz="1200">
              <a:latin typeface="Tahoma" panose="020B0604030504040204" pitchFamily="34" charset="0"/>
            </a:endParaRPr>
          </a:p>
        </p:txBody>
      </p:sp>
      <p:sp>
        <p:nvSpPr>
          <p:cNvPr id="207876" name="Rectangle 2">
            <a:extLst>
              <a:ext uri="{FF2B5EF4-FFF2-40B4-BE49-F238E27FC236}">
                <a16:creationId xmlns:a16="http://schemas.microsoft.com/office/drawing/2014/main" id="{5007508A-67E7-4D2C-A12D-438C7292A5EC}"/>
              </a:ext>
            </a:extLst>
          </p:cNvPr>
          <p:cNvSpPr>
            <a:spLocks noGrp="1" noRot="1" noChangeAspect="1" noChangeArrowheads="1" noTextEdit="1"/>
          </p:cNvSpPr>
          <p:nvPr>
            <p:ph type="sldImg"/>
          </p:nvPr>
        </p:nvSpPr>
        <p:spPr>
          <a:xfrm>
            <a:off x="381000" y="685800"/>
            <a:ext cx="6096000" cy="3429000"/>
          </a:xfrm>
          <a:ln/>
        </p:spPr>
      </p:sp>
      <p:sp>
        <p:nvSpPr>
          <p:cNvPr id="666627" name="Rectangle 3">
            <a:extLst>
              <a:ext uri="{FF2B5EF4-FFF2-40B4-BE49-F238E27FC236}">
                <a16:creationId xmlns:a16="http://schemas.microsoft.com/office/drawing/2014/main" id="{C2CF8DDF-BDCB-42C4-9982-77FE2A7AF1BB}"/>
              </a:ext>
            </a:extLst>
          </p:cNvPr>
          <p:cNvSpPr>
            <a:spLocks noGrp="1" noChangeArrowheads="1"/>
          </p:cNvSpPr>
          <p:nvPr>
            <p:ph type="body" idx="1"/>
          </p:nvPr>
        </p:nvSpPr>
        <p:spPr/>
        <p:txBody>
          <a:bodyPr/>
          <a:lstStyle/>
          <a:p>
            <a:pPr>
              <a:defRPr/>
            </a:pPr>
            <a:r>
              <a:rPr lang="zh-CN" altLang="en-US" dirty="0"/>
              <a:t>富含疏水性氨基酸残基： </a:t>
            </a:r>
            <a:r>
              <a:rPr lang="en-US" altLang="zh-CN" dirty="0"/>
              <a:t>Ala, Val, Leu, Ile, Met, </a:t>
            </a:r>
            <a:r>
              <a:rPr lang="en-US" altLang="zh-CN" dirty="0" err="1"/>
              <a:t>Phe</a:t>
            </a:r>
            <a:r>
              <a:rPr lang="en-US" altLang="zh-CN" dirty="0"/>
              <a:t> </a:t>
            </a:r>
          </a:p>
          <a:p>
            <a:pPr>
              <a:defRPr/>
            </a:pPr>
            <a:endParaRPr lang="en-US" altLang="zh-CN" dirty="0"/>
          </a:p>
          <a:p>
            <a:pPr>
              <a:defRPr/>
            </a:pPr>
            <a:r>
              <a:rPr lang="en-US" altLang="zh-CN" dirty="0"/>
              <a:t>α-keratin </a:t>
            </a:r>
            <a:r>
              <a:rPr lang="zh-CN" altLang="en-US" dirty="0"/>
              <a:t>含有较多的半胱氨酸，</a:t>
            </a:r>
            <a:r>
              <a:rPr lang="zh-CN" altLang="en-US" b="1" dirty="0"/>
              <a:t>半胱氨酸的交联是角蛋白的主要交联结构</a:t>
            </a:r>
            <a:r>
              <a:rPr lang="zh-CN" altLang="en-US" dirty="0"/>
              <a:t>，角蛋白的物理和化学性质主要与该交联结构相关。</a:t>
            </a:r>
            <a:endParaRPr lang="en-US" altLang="zh-CN" dirty="0"/>
          </a:p>
          <a:p>
            <a:pPr>
              <a:defRPr/>
            </a:pPr>
            <a:r>
              <a:rPr lang="zh-CN" altLang="en-US" dirty="0">
                <a:effectLst>
                  <a:outerShdw blurRad="38100" dist="38100" dir="2700000" algn="tl">
                    <a:srgbClr val="C0C0C0"/>
                  </a:outerShdw>
                </a:effectLst>
                <a:latin typeface="楷体_GB2312" pitchFamily="49" charset="-122"/>
                <a:ea typeface="楷体_GB2312" pitchFamily="49" charset="-122"/>
                <a:sym typeface="Symbol" pitchFamily="18" charset="2"/>
              </a:rPr>
              <a:t>指甲的强度比毛发高是因为组成指甲的</a:t>
            </a:r>
            <a:r>
              <a:rPr lang="en-US" altLang="zh-CN" dirty="0">
                <a:effectLst>
                  <a:outerShdw blurRad="38100" dist="38100" dir="2700000" algn="tl">
                    <a:srgbClr val="C0C0C0"/>
                  </a:outerShdw>
                </a:effectLst>
                <a:latin typeface="楷体_GB2312" pitchFamily="49" charset="-122"/>
                <a:ea typeface="楷体_GB2312" pitchFamily="49" charset="-122"/>
              </a:rPr>
              <a:t>-</a:t>
            </a:r>
            <a:r>
              <a:rPr lang="zh-CN" altLang="en-US" dirty="0">
                <a:effectLst>
                  <a:outerShdw blurRad="38100" dist="38100" dir="2700000" algn="tl">
                    <a:srgbClr val="C0C0C0"/>
                  </a:outerShdw>
                </a:effectLst>
                <a:latin typeface="楷体_GB2312" pitchFamily="49" charset="-122"/>
                <a:ea typeface="楷体_GB2312" pitchFamily="49" charset="-122"/>
              </a:rPr>
              <a:t>角蛋白</a:t>
            </a:r>
            <a:r>
              <a:rPr lang="zh-CN" altLang="en-US" dirty="0">
                <a:effectLst>
                  <a:outerShdw blurRad="38100" dist="38100" dir="2700000" algn="tl">
                    <a:srgbClr val="C0C0C0"/>
                  </a:outerShdw>
                </a:effectLst>
                <a:latin typeface="楷体_GB2312" pitchFamily="49" charset="-122"/>
                <a:ea typeface="楷体_GB2312" pitchFamily="49" charset="-122"/>
                <a:sym typeface="Symbol" pitchFamily="18" charset="2"/>
              </a:rPr>
              <a:t>含有更多的</a:t>
            </a:r>
            <a:r>
              <a:rPr lang="en-US" altLang="zh-CN" dirty="0">
                <a:effectLst>
                  <a:outerShdw blurRad="38100" dist="38100" dir="2700000" algn="tl">
                    <a:srgbClr val="C0C0C0"/>
                  </a:outerShdw>
                </a:effectLst>
                <a:latin typeface="楷体_GB2312" pitchFamily="49" charset="-122"/>
                <a:ea typeface="楷体_GB2312" pitchFamily="49" charset="-122"/>
                <a:sym typeface="Symbol" pitchFamily="18" charset="2"/>
              </a:rPr>
              <a:t>Cys</a:t>
            </a:r>
            <a:r>
              <a:rPr lang="zh-CN" altLang="en-US" dirty="0">
                <a:effectLst>
                  <a:outerShdw blurRad="38100" dist="38100" dir="2700000" algn="tl">
                    <a:srgbClr val="C0C0C0"/>
                  </a:outerShdw>
                </a:effectLst>
                <a:latin typeface="楷体_GB2312" pitchFamily="49" charset="-122"/>
                <a:ea typeface="楷体_GB2312" pitchFamily="49" charset="-122"/>
                <a:sym typeface="Symbol" pitchFamily="18" charset="2"/>
              </a:rPr>
              <a:t>残基，能形成更多的二硫键。 </a:t>
            </a:r>
            <a:r>
              <a:rPr lang="en-US" altLang="zh-CN" dirty="0"/>
              <a:t> </a:t>
            </a:r>
            <a:endParaRPr lang="en-US" altLang="zh-CN" dirty="0">
              <a:effectLst>
                <a:outerShdw blurRad="38100" dist="38100" dir="2700000" algn="tl">
                  <a:srgbClr val="C0C0C0"/>
                </a:outerShdw>
              </a:effectLst>
              <a:latin typeface="楷体_GB2312" pitchFamily="49" charset="-122"/>
              <a:ea typeface="楷体_GB2312" pitchFamily="49" charset="-122"/>
              <a:sym typeface="Symbol" pitchFamily="18" charset="2"/>
            </a:endParaRPr>
          </a:p>
          <a:p>
            <a:pPr algn="just" eaLnBrk="1" hangingPunct="1">
              <a:spcBef>
                <a:spcPct val="50000"/>
              </a:spcBef>
              <a:buSzPct val="80000"/>
              <a:defRPr/>
            </a:pPr>
            <a:endParaRPr lang="en-US" altLang="zh-CN" dirty="0">
              <a:effectLst>
                <a:outerShdw blurRad="38100" dist="38100" dir="2700000" algn="tl">
                  <a:srgbClr val="C0C0C0"/>
                </a:outerShdw>
              </a:effectLst>
              <a:latin typeface="楷体_GB2312" pitchFamily="49" charset="-122"/>
              <a:ea typeface="楷体_GB2312" pitchFamily="49" charset="-122"/>
              <a:sym typeface="Symbol" pitchFamily="18" charset="2"/>
            </a:endParaRPr>
          </a:p>
          <a:p>
            <a:pPr eaLnBrk="1" hangingPunct="1">
              <a:defRPr/>
            </a:pPr>
            <a:r>
              <a:rPr lang="zh-CN" altLang="en-US" dirty="0">
                <a:ea typeface="楷体_GB2312" pitchFamily="49" charset="-122"/>
              </a:rPr>
              <a:t>卷曲螺旋（</a:t>
            </a:r>
            <a:r>
              <a:rPr lang="en-US" altLang="zh-CN" dirty="0">
                <a:ea typeface="楷体_GB2312" pitchFamily="49" charset="-122"/>
              </a:rPr>
              <a:t>coiled coil</a:t>
            </a:r>
            <a:r>
              <a:rPr lang="zh-CN" altLang="en-US" dirty="0">
                <a:ea typeface="楷体_GB2312" pitchFamily="49" charset="-122"/>
              </a:rPr>
              <a:t>， 是一种</a:t>
            </a:r>
            <a:r>
              <a:rPr lang="en-US" altLang="zh-CN" dirty="0">
                <a:ea typeface="楷体_GB2312" pitchFamily="49" charset="-122"/>
              </a:rPr>
              <a:t>motif)  </a:t>
            </a:r>
          </a:p>
          <a:p>
            <a:pPr eaLnBrk="1" hangingPunct="1">
              <a:defRPr/>
            </a:pPr>
            <a:endParaRPr lang="en-US" altLang="zh-CN" dirty="0">
              <a:ea typeface="楷体_GB2312" pitchFamily="49" charset="-122"/>
            </a:endParaRPr>
          </a:p>
          <a:p>
            <a:pPr eaLnBrk="1" hangingPunct="1">
              <a:defRPr/>
            </a:pPr>
            <a:endParaRPr lang="en-US" altLang="zh-CN" dirty="0">
              <a:ea typeface="楷体_GB2312" pitchFamily="49" charset="-122"/>
            </a:endParaRPr>
          </a:p>
          <a:p>
            <a:pPr eaLnBrk="1" hangingPunct="1">
              <a:defRPr/>
            </a:pPr>
            <a:endParaRPr lang="en-US" altLang="zh-CN" dirty="0">
              <a:ea typeface="楷体_GB2312" pitchFamily="49" charset="-122"/>
            </a:endParaRPr>
          </a:p>
          <a:p>
            <a:pPr eaLnBrk="1" hangingPunct="1">
              <a:defRPr/>
            </a:pPr>
            <a:endParaRPr lang="en-US" altLang="zh-CN" dirty="0">
              <a:ea typeface="楷体_GB2312" pitchFamily="49" charset="-122"/>
            </a:endParaRPr>
          </a:p>
          <a:p>
            <a:pPr eaLnBrk="1" hangingPunct="1">
              <a:defRPr/>
            </a:pPr>
            <a:endParaRPr lang="en-US" altLang="zh-CN" dirty="0">
              <a:ea typeface="楷体_GB2312" pitchFamily="49" charset="-122"/>
            </a:endParaRPr>
          </a:p>
          <a:p>
            <a:pPr eaLnBrk="1" hangingPunct="1">
              <a:defRPr/>
            </a:pPr>
            <a:endParaRPr lang="en-US" altLang="zh-CN" dirty="0">
              <a:ea typeface="楷体_GB2312" pitchFamily="49" charset="-122"/>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3">
            <a:extLst>
              <a:ext uri="{FF2B5EF4-FFF2-40B4-BE49-F238E27FC236}">
                <a16:creationId xmlns:a16="http://schemas.microsoft.com/office/drawing/2014/main" id="{C52535A0-8B4E-4ED3-80CD-F86F1ADC4D8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55B2D93-ADB3-4F7C-ABA9-7CACD179CA96}"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09923" name="Rectangle 7">
            <a:extLst>
              <a:ext uri="{FF2B5EF4-FFF2-40B4-BE49-F238E27FC236}">
                <a16:creationId xmlns:a16="http://schemas.microsoft.com/office/drawing/2014/main" id="{BF763674-3B60-47DF-A5B9-45731D008A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2592E6DD-DB05-4A54-B74B-774C23EF7B0E}" type="slidenum">
              <a:rPr lang="en-US" altLang="zh-CN" sz="1200" smtClean="0">
                <a:latin typeface="Tahoma" panose="020B0604030504040204" pitchFamily="34" charset="0"/>
              </a:rPr>
              <a:pPr/>
              <a:t>88</a:t>
            </a:fld>
            <a:endParaRPr lang="en-US" altLang="zh-CN" sz="1200">
              <a:latin typeface="Tahoma" panose="020B0604030504040204" pitchFamily="34" charset="0"/>
            </a:endParaRPr>
          </a:p>
        </p:txBody>
      </p:sp>
      <p:sp>
        <p:nvSpPr>
          <p:cNvPr id="209924" name="Rectangle 2">
            <a:extLst>
              <a:ext uri="{FF2B5EF4-FFF2-40B4-BE49-F238E27FC236}">
                <a16:creationId xmlns:a16="http://schemas.microsoft.com/office/drawing/2014/main" id="{747CFE9F-F4F0-4DC9-A576-D509A7BFD257}"/>
              </a:ext>
            </a:extLst>
          </p:cNvPr>
          <p:cNvSpPr>
            <a:spLocks noGrp="1" noRot="1" noChangeAspect="1" noChangeArrowheads="1" noTextEdit="1"/>
          </p:cNvSpPr>
          <p:nvPr>
            <p:ph type="sldImg"/>
          </p:nvPr>
        </p:nvSpPr>
        <p:spPr>
          <a:xfrm>
            <a:off x="381000" y="685800"/>
            <a:ext cx="6096000" cy="3429000"/>
          </a:xfrm>
          <a:ln/>
        </p:spPr>
      </p:sp>
      <p:sp>
        <p:nvSpPr>
          <p:cNvPr id="209925" name="Rectangle 3">
            <a:extLst>
              <a:ext uri="{FF2B5EF4-FFF2-40B4-BE49-F238E27FC236}">
                <a16:creationId xmlns:a16="http://schemas.microsoft.com/office/drawing/2014/main" id="{6CF76E6F-239F-4F4C-AA82-2DEBF6B9B5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把原来卷曲的头发拉直的原理类似。但本来是直头发，再继续拉，就是</a:t>
            </a:r>
            <a:r>
              <a:rPr lang="el-GR" altLang="zh-CN" dirty="0"/>
              <a:t>α</a:t>
            </a:r>
            <a:r>
              <a:rPr lang="en-US" altLang="zh-CN" dirty="0"/>
              <a:t>-</a:t>
            </a:r>
            <a:r>
              <a:rPr lang="zh-CN" altLang="en-US" dirty="0"/>
              <a:t>角蛋白转变成</a:t>
            </a:r>
            <a:r>
              <a:rPr lang="el-GR" altLang="zh-CN" dirty="0"/>
              <a:t>β</a:t>
            </a:r>
            <a:r>
              <a:rPr lang="en-US" altLang="zh-CN" dirty="0"/>
              <a:t>-</a:t>
            </a:r>
            <a:r>
              <a:rPr lang="zh-CN" altLang="en-US" dirty="0"/>
              <a:t>折叠结构，成为</a:t>
            </a:r>
            <a:r>
              <a:rPr lang="el-GR" altLang="zh-CN" dirty="0"/>
              <a:t>β</a:t>
            </a:r>
            <a:r>
              <a:rPr lang="en-US" altLang="zh-CN" dirty="0"/>
              <a:t>-</a:t>
            </a:r>
            <a:r>
              <a:rPr lang="zh-CN" altLang="en-US" dirty="0"/>
              <a:t>角蛋白。　</a:t>
            </a:r>
            <a:endParaRPr lang="en-US" altLang="zh-CN" dirty="0"/>
          </a:p>
          <a:p>
            <a:pPr eaLnBrk="1" hangingPunct="1"/>
            <a:endParaRPr lang="en-US" altLang="zh-CN" dirty="0"/>
          </a:p>
          <a:p>
            <a:pPr eaLnBrk="1" hangingPunct="1"/>
            <a:r>
              <a:rPr lang="zh-CN" altLang="en-US" dirty="0"/>
              <a:t>烫发就是使用化学和物理方法，使自然的直发，形成卷曲形状。烫发的方法主要冷烫（又称化烫）</a:t>
            </a:r>
          </a:p>
          <a:p>
            <a:pPr eaLnBrk="1" hangingPunct="1"/>
            <a:r>
              <a:rPr lang="zh-CN" altLang="en-US" dirty="0"/>
              <a:t>烫发时，将头发卷在不同直径与形状的卷芯上，</a:t>
            </a:r>
            <a:r>
              <a:rPr lang="zh-CN" altLang="en-US" b="1" dirty="0"/>
              <a:t>在烫发水第一剂的作用下，大约有</a:t>
            </a:r>
            <a:r>
              <a:rPr lang="en-US" altLang="zh-CN" b="1" dirty="0"/>
              <a:t>45%</a:t>
            </a:r>
            <a:r>
              <a:rPr lang="zh-CN" altLang="en-US" b="1" dirty="0"/>
              <a:t>的二硫键被切断，在卷芯直径与形状的影响下，产生挤压而移位。烫发水第二剂中的氧化剂进入发体后，促使生成</a:t>
            </a:r>
            <a:r>
              <a:rPr lang="zh-CN" altLang="en-US" dirty="0"/>
              <a:t>新的二硫键，头发中原有的二硫键位置产生变化，使头发永久的变卷</a:t>
            </a:r>
            <a:endParaRPr lang="en-US" altLang="zh-CN" dirty="0"/>
          </a:p>
          <a:p>
            <a:pPr eaLnBrk="1" hangingPunct="1"/>
            <a:r>
              <a:rPr lang="en-US" altLang="zh-CN" dirty="0"/>
              <a:t>The moist heat breaks hydrogen bonds and causes the α-helical structure of the polypeptide chains to uncoil.</a:t>
            </a:r>
          </a:p>
          <a:p>
            <a:pPr eaLnBrk="1" hangingPunct="1"/>
            <a:endParaRPr lang="zh-CN" altLang="en-US" dirty="0"/>
          </a:p>
          <a:p>
            <a:pPr eaLnBrk="1" hangingPunct="1"/>
            <a:r>
              <a:rPr lang="zh-CN" altLang="en-US" dirty="0"/>
              <a:t>冷烫法常用的烫发剂为二液剂</a:t>
            </a:r>
            <a:endParaRPr lang="en-US" altLang="zh-CN" dirty="0"/>
          </a:p>
          <a:p>
            <a:pPr eaLnBrk="1" hangingPunct="1"/>
            <a:r>
              <a:rPr lang="zh-CN" altLang="en-US" dirty="0"/>
              <a:t>第一剂烫发液（冷烫精，还原剂）：碱性。使用碱的目的是为了使毛发表皮层膨胀与软化具有可塑性（碱性试剂易破坏细胞膜），以便于主剂硫化物的渗透与吸收。但使用过度，则会造成毛发蛋白质损伤的副作用，造成毛发结构松弛、多孔而无弹性。</a:t>
            </a:r>
            <a:endParaRPr lang="en-US" altLang="zh-CN" b="1" dirty="0"/>
          </a:p>
          <a:p>
            <a:pPr eaLnBrk="1" hangingPunct="1"/>
            <a:r>
              <a:rPr lang="zh-CN" altLang="en-US" b="1" dirty="0"/>
              <a:t>第二剂</a:t>
            </a:r>
            <a:r>
              <a:rPr lang="zh-CN" altLang="en-US" dirty="0"/>
              <a:t>定型剂（氧化剂）</a:t>
            </a:r>
            <a:r>
              <a:rPr lang="zh-CN" altLang="en-US" b="1" dirty="0"/>
              <a:t>： </a:t>
            </a:r>
            <a:r>
              <a:rPr lang="zh-CN" altLang="en-US" dirty="0"/>
              <a:t>主要以双氧水或溴酸钠为主，目的是固定卷度。但使用过度，则会造成毛发干燥、开叉、断裂、褪色等。</a:t>
            </a:r>
            <a:endParaRPr lang="en-US" altLang="zh-CN" dirty="0"/>
          </a:p>
          <a:p>
            <a:pPr eaLnBrk="1" hangingPunct="1"/>
            <a:endParaRPr lang="en-US" altLang="zh-CN" dirty="0"/>
          </a:p>
          <a:p>
            <a:pPr eaLnBrk="1" hangingPunct="1"/>
            <a:endParaRPr lang="zh-CN" alt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日期占位符 3"/>
          <p:cNvSpPr>
            <a:spLocks noGrp="1"/>
          </p:cNvSpPr>
          <p:nvPr>
            <p:ph type="dt" idx="1"/>
          </p:nvPr>
        </p:nvSpPr>
        <p:spPr/>
        <p:txBody>
          <a:bodyPr/>
          <a:lstStyle/>
          <a:p>
            <a:pPr>
              <a:defRPr/>
            </a:pPr>
            <a:fld id="{EA205CC4-1CAE-4FA1-A962-1A34DB7C7879}" type="datetime1">
              <a:rPr lang="zh-CN" altLang="en-US" smtClean="0"/>
              <a:pPr>
                <a:defRPr/>
              </a:pPr>
              <a:t>2026/9/1</a:t>
            </a:fld>
            <a:endParaRPr lang="en-US" altLang="zh-CN" dirty="0"/>
          </a:p>
        </p:txBody>
      </p:sp>
      <p:sp>
        <p:nvSpPr>
          <p:cNvPr id="5" name="灯片编号占位符 4"/>
          <p:cNvSpPr>
            <a:spLocks noGrp="1"/>
          </p:cNvSpPr>
          <p:nvPr>
            <p:ph type="sldNum" sz="quarter" idx="5"/>
          </p:nvPr>
        </p:nvSpPr>
        <p:spPr/>
        <p:txBody>
          <a:bodyPr/>
          <a:lstStyle/>
          <a:p>
            <a:pPr>
              <a:defRPr/>
            </a:pPr>
            <a:fld id="{F17E7B64-D31F-49F9-A602-099D7B13B654}" type="slidenum">
              <a:rPr lang="en-US" altLang="zh-CN" smtClean="0"/>
              <a:pPr>
                <a:defRPr/>
              </a:pPr>
              <a:t>89</a:t>
            </a:fld>
            <a:endParaRPr lang="en-US" altLang="zh-CN" dirty="0"/>
          </a:p>
        </p:txBody>
      </p:sp>
    </p:spTree>
    <p:extLst>
      <p:ext uri="{BB962C8B-B14F-4D97-AF65-F5344CB8AC3E}">
        <p14:creationId xmlns:p14="http://schemas.microsoft.com/office/powerpoint/2010/main" val="222001973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3">
            <a:extLst>
              <a:ext uri="{FF2B5EF4-FFF2-40B4-BE49-F238E27FC236}">
                <a16:creationId xmlns:a16="http://schemas.microsoft.com/office/drawing/2014/main" id="{0B93F77E-87F5-47CA-932F-521227CE189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0413EDBA-0810-4DD8-8995-4065F96F9A9A}"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11971" name="Rectangle 7">
            <a:extLst>
              <a:ext uri="{FF2B5EF4-FFF2-40B4-BE49-F238E27FC236}">
                <a16:creationId xmlns:a16="http://schemas.microsoft.com/office/drawing/2014/main" id="{C37BD8B1-889D-4C43-9557-109119814E5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2CC5B50-2F00-4804-8C58-B57BA95942F4}" type="slidenum">
              <a:rPr lang="en-US" altLang="zh-CN" sz="1200" smtClean="0">
                <a:latin typeface="Tahoma" panose="020B0604030504040204" pitchFamily="34" charset="0"/>
              </a:rPr>
              <a:pPr/>
              <a:t>90</a:t>
            </a:fld>
            <a:endParaRPr lang="en-US" altLang="zh-CN" sz="1200">
              <a:latin typeface="Tahoma" panose="020B0604030504040204" pitchFamily="34" charset="0"/>
            </a:endParaRPr>
          </a:p>
        </p:txBody>
      </p:sp>
      <p:sp>
        <p:nvSpPr>
          <p:cNvPr id="211972" name="Rectangle 2">
            <a:extLst>
              <a:ext uri="{FF2B5EF4-FFF2-40B4-BE49-F238E27FC236}">
                <a16:creationId xmlns:a16="http://schemas.microsoft.com/office/drawing/2014/main" id="{88E74C44-088B-436F-B42B-A94CB713C3DF}"/>
              </a:ext>
            </a:extLst>
          </p:cNvPr>
          <p:cNvSpPr>
            <a:spLocks noGrp="1" noRot="1" noChangeAspect="1" noChangeArrowheads="1" noTextEdit="1"/>
          </p:cNvSpPr>
          <p:nvPr>
            <p:ph type="sldImg"/>
          </p:nvPr>
        </p:nvSpPr>
        <p:spPr>
          <a:xfrm>
            <a:off x="381000" y="685800"/>
            <a:ext cx="6096000" cy="3429000"/>
          </a:xfrm>
          <a:ln/>
        </p:spPr>
      </p:sp>
      <p:sp>
        <p:nvSpPr>
          <p:cNvPr id="211973" name="Rectangle 3">
            <a:extLst>
              <a:ext uri="{FF2B5EF4-FFF2-40B4-BE49-F238E27FC236}">
                <a16:creationId xmlns:a16="http://schemas.microsoft.com/office/drawing/2014/main" id="{A10274A3-56CF-41E2-84B7-ACDD14D790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1" dirty="0"/>
              <a:t>注意，原胶原里的</a:t>
            </a:r>
            <a:r>
              <a:rPr lang="en-US" altLang="zh-CN" b="1" dirty="0"/>
              <a:t>α</a:t>
            </a:r>
            <a:r>
              <a:rPr lang="zh-CN" altLang="en-US" b="1" dirty="0"/>
              <a:t>链并不是前面讲的</a:t>
            </a:r>
            <a:r>
              <a:rPr lang="en-US" altLang="zh-CN" b="1" dirty="0"/>
              <a:t>α</a:t>
            </a:r>
            <a:r>
              <a:rPr lang="zh-CN" altLang="en-US" b="1" dirty="0"/>
              <a:t>螺旋</a:t>
            </a:r>
            <a:r>
              <a:rPr lang="zh-CN" altLang="en-US" dirty="0"/>
              <a:t>， 而是另一种二级结构，远没有</a:t>
            </a:r>
            <a:r>
              <a:rPr lang="en-US" altLang="zh-CN" dirty="0"/>
              <a:t>α</a:t>
            </a:r>
            <a:r>
              <a:rPr lang="zh-CN" altLang="en-US" dirty="0"/>
              <a:t>螺旋普遍。</a:t>
            </a:r>
            <a:endParaRPr lang="en-US" altLang="zh-CN" dirty="0"/>
          </a:p>
          <a:p>
            <a:endParaRPr lang="en-US" altLang="zh-CN" dirty="0"/>
          </a:p>
          <a:p>
            <a:r>
              <a:rPr lang="zh-CN" altLang="en-US" dirty="0"/>
              <a:t>胶原蛋白是哺乳动物体内含量最丰富的蛋白质，</a:t>
            </a:r>
            <a:r>
              <a:rPr lang="zh-CN" altLang="en-US" dirty="0">
                <a:ea typeface="楷体_GB2312" pitchFamily="49" charset="-122"/>
              </a:rPr>
              <a:t>通常有</a:t>
            </a:r>
            <a:r>
              <a:rPr lang="en-US" altLang="zh-CN" dirty="0">
                <a:ea typeface="楷体_GB2312" pitchFamily="49" charset="-122"/>
              </a:rPr>
              <a:t>30</a:t>
            </a:r>
            <a:r>
              <a:rPr lang="zh-CN" altLang="en-US" dirty="0">
                <a:ea typeface="楷体_GB2312" pitchFamily="49" charset="-122"/>
              </a:rPr>
              <a:t>多种组织特异性的胶原蛋白。 </a:t>
            </a:r>
            <a:r>
              <a:rPr lang="zh-CN" altLang="en-US" dirty="0"/>
              <a:t>多见于肌腱、软骨、骨基质、角膜等处</a:t>
            </a:r>
            <a:endParaRPr lang="en-US" altLang="zh-CN" dirty="0"/>
          </a:p>
          <a:p>
            <a:endParaRPr lang="en-US" altLang="zh-CN" dirty="0"/>
          </a:p>
          <a:p>
            <a:r>
              <a:rPr lang="zh-CN" altLang="en-US" dirty="0"/>
              <a:t>有多种胶原蛋白缺陷疾病，异常的胶原蛋白都是因为肽链中某个甘氨酸残基被其它氨基酸残基取代所致。</a:t>
            </a:r>
          </a:p>
          <a:p>
            <a:endParaRPr lang="en-US" altLang="zh-CN" dirty="0">
              <a:ea typeface="楷体_GB2312" pitchFamily="49" charset="-122"/>
            </a:endParaRPr>
          </a:p>
          <a:p>
            <a:endParaRPr lang="en-US" altLang="zh-CN" dirty="0">
              <a:ea typeface="楷体_GB2312" pitchFamily="49" charset="-122"/>
            </a:endParaRPr>
          </a:p>
          <a:p>
            <a:endParaRPr lang="en-US" altLang="zh-CN" dirty="0">
              <a:ea typeface="楷体_GB2312" pitchFamily="49" charset="-122"/>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3">
            <a:extLst>
              <a:ext uri="{FF2B5EF4-FFF2-40B4-BE49-F238E27FC236}">
                <a16:creationId xmlns:a16="http://schemas.microsoft.com/office/drawing/2014/main" id="{9D6DA6FA-2125-4CD9-9647-D5198F43B01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58FB47C6-5BA6-4437-BEC3-5424B6E1817B}"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14019" name="Rectangle 7">
            <a:extLst>
              <a:ext uri="{FF2B5EF4-FFF2-40B4-BE49-F238E27FC236}">
                <a16:creationId xmlns:a16="http://schemas.microsoft.com/office/drawing/2014/main" id="{D0ACC896-F11D-4ABD-9D3B-0D34242AEB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360C27F6-B68B-4861-A1F6-47406446476E}" type="slidenum">
              <a:rPr lang="en-US" altLang="zh-CN" sz="1200" smtClean="0">
                <a:latin typeface="Tahoma" panose="020B0604030504040204" pitchFamily="34" charset="0"/>
              </a:rPr>
              <a:pPr/>
              <a:t>91</a:t>
            </a:fld>
            <a:endParaRPr lang="en-US" altLang="zh-CN" sz="1200">
              <a:latin typeface="Tahoma" panose="020B0604030504040204" pitchFamily="34" charset="0"/>
            </a:endParaRPr>
          </a:p>
        </p:txBody>
      </p:sp>
      <p:sp>
        <p:nvSpPr>
          <p:cNvPr id="214020" name="Rectangle 2">
            <a:extLst>
              <a:ext uri="{FF2B5EF4-FFF2-40B4-BE49-F238E27FC236}">
                <a16:creationId xmlns:a16="http://schemas.microsoft.com/office/drawing/2014/main" id="{9C3908AC-B109-49DA-B20C-2BB426AF4433}"/>
              </a:ext>
            </a:extLst>
          </p:cNvPr>
          <p:cNvSpPr>
            <a:spLocks noGrp="1" noRot="1" noChangeAspect="1" noChangeArrowheads="1" noTextEdit="1"/>
          </p:cNvSpPr>
          <p:nvPr>
            <p:ph type="sldImg"/>
          </p:nvPr>
        </p:nvSpPr>
        <p:spPr>
          <a:xfrm>
            <a:off x="381000" y="685800"/>
            <a:ext cx="6096000" cy="3429000"/>
          </a:xfrm>
          <a:ln/>
        </p:spPr>
      </p:sp>
      <p:sp>
        <p:nvSpPr>
          <p:cNvPr id="214021" name="Rectangle 3">
            <a:extLst>
              <a:ext uri="{FF2B5EF4-FFF2-40B4-BE49-F238E27FC236}">
                <a16:creationId xmlns:a16="http://schemas.microsoft.com/office/drawing/2014/main" id="{454B1535-4FDC-47C7-8E7A-E50C786D34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In 1951, Pauling and Corey predicted a second type of repetitive structure, the </a:t>
            </a:r>
            <a:r>
              <a:rPr lang="el-GR" altLang="zh-CN" dirty="0"/>
              <a:t>β</a:t>
            </a:r>
            <a:r>
              <a:rPr lang="en-US" altLang="zh-CN" dirty="0"/>
              <a:t> conformation.</a:t>
            </a: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3">
            <a:extLst>
              <a:ext uri="{FF2B5EF4-FFF2-40B4-BE49-F238E27FC236}">
                <a16:creationId xmlns:a16="http://schemas.microsoft.com/office/drawing/2014/main" id="{9246A582-B30D-4877-B791-6BB7FF99700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85E98E5-8161-4180-97D9-EA5388AF821E}"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16067" name="Rectangle 7">
            <a:extLst>
              <a:ext uri="{FF2B5EF4-FFF2-40B4-BE49-F238E27FC236}">
                <a16:creationId xmlns:a16="http://schemas.microsoft.com/office/drawing/2014/main" id="{015E827F-E0AE-4E08-92AB-6C9F2F9A6A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34190955-E1D8-4207-9726-3F529F89C6F1}" type="slidenum">
              <a:rPr lang="en-US" altLang="zh-CN" sz="1200" smtClean="0">
                <a:latin typeface="Tahoma" panose="020B0604030504040204" pitchFamily="34" charset="0"/>
              </a:rPr>
              <a:pPr/>
              <a:t>92</a:t>
            </a:fld>
            <a:endParaRPr lang="en-US" altLang="zh-CN" sz="1200">
              <a:latin typeface="Tahoma" panose="020B0604030504040204" pitchFamily="34" charset="0"/>
            </a:endParaRPr>
          </a:p>
        </p:txBody>
      </p:sp>
      <p:sp>
        <p:nvSpPr>
          <p:cNvPr id="216068" name="Rectangle 2">
            <a:extLst>
              <a:ext uri="{FF2B5EF4-FFF2-40B4-BE49-F238E27FC236}">
                <a16:creationId xmlns:a16="http://schemas.microsoft.com/office/drawing/2014/main" id="{835AE759-3991-4E05-94FD-61C84211806B}"/>
              </a:ext>
            </a:extLst>
          </p:cNvPr>
          <p:cNvSpPr>
            <a:spLocks noGrp="1" noRot="1" noChangeAspect="1" noChangeArrowheads="1" noTextEdit="1"/>
          </p:cNvSpPr>
          <p:nvPr>
            <p:ph type="sldImg"/>
          </p:nvPr>
        </p:nvSpPr>
        <p:spPr>
          <a:xfrm>
            <a:off x="381000" y="685800"/>
            <a:ext cx="6096000" cy="3429000"/>
          </a:xfrm>
          <a:ln/>
        </p:spPr>
      </p:sp>
      <p:sp>
        <p:nvSpPr>
          <p:cNvPr id="216069" name="Rectangle 3">
            <a:extLst>
              <a:ext uri="{FF2B5EF4-FFF2-40B4-BE49-F238E27FC236}">
                <a16:creationId xmlns:a16="http://schemas.microsoft.com/office/drawing/2014/main" id="{821A350C-E9D0-4667-AC59-C4B87CE9B7F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幻灯片图像占位符 1">
            <a:extLst>
              <a:ext uri="{FF2B5EF4-FFF2-40B4-BE49-F238E27FC236}">
                <a16:creationId xmlns:a16="http://schemas.microsoft.com/office/drawing/2014/main" id="{D5FB2E7C-ED03-4ABD-A226-2C0153FC7D5A}"/>
              </a:ext>
            </a:extLst>
          </p:cNvPr>
          <p:cNvSpPr>
            <a:spLocks noGrp="1" noRot="1" noChangeAspect="1" noChangeArrowheads="1" noTextEdit="1"/>
          </p:cNvSpPr>
          <p:nvPr>
            <p:ph type="sldImg"/>
          </p:nvPr>
        </p:nvSpPr>
        <p:spPr>
          <a:xfrm>
            <a:off x="381000" y="685800"/>
            <a:ext cx="6096000" cy="3429000"/>
          </a:xfrm>
          <a:ln/>
        </p:spPr>
      </p:sp>
      <p:sp>
        <p:nvSpPr>
          <p:cNvPr id="218115" name="备注占位符 2">
            <a:extLst>
              <a:ext uri="{FF2B5EF4-FFF2-40B4-BE49-F238E27FC236}">
                <a16:creationId xmlns:a16="http://schemas.microsoft.com/office/drawing/2014/main" id="{55181F8C-544E-44F2-A289-0F20E98205F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反平行折叠更为伸展</a:t>
            </a:r>
          </a:p>
        </p:txBody>
      </p:sp>
      <p:sp>
        <p:nvSpPr>
          <p:cNvPr id="218116" name="日期占位符 3">
            <a:extLst>
              <a:ext uri="{FF2B5EF4-FFF2-40B4-BE49-F238E27FC236}">
                <a16:creationId xmlns:a16="http://schemas.microsoft.com/office/drawing/2014/main" id="{9F85E691-28FB-4E98-899A-7DB3CB8D676A}"/>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7A85405F-DA91-4568-BF7D-D188330D863C}"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18117" name="灯片编号占位符 4">
            <a:extLst>
              <a:ext uri="{FF2B5EF4-FFF2-40B4-BE49-F238E27FC236}">
                <a16:creationId xmlns:a16="http://schemas.microsoft.com/office/drawing/2014/main" id="{24FACEBE-1CD9-46B8-9D66-143A0E288C6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2F2FBEC8-10DC-402B-BCA5-C850B5F90FE4}" type="slidenum">
              <a:rPr lang="en-US" altLang="zh-CN" sz="1200" smtClean="0">
                <a:latin typeface="Tahoma" panose="020B0604030504040204" pitchFamily="34" charset="0"/>
              </a:rPr>
              <a:pPr/>
              <a:t>93</a:t>
            </a:fld>
            <a:endParaRPr lang="en-US" altLang="zh-CN" sz="1200">
              <a:latin typeface="Tahoma" panose="020B0604030504040204" pitchFamily="34" charset="0"/>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3">
            <a:extLst>
              <a:ext uri="{FF2B5EF4-FFF2-40B4-BE49-F238E27FC236}">
                <a16:creationId xmlns:a16="http://schemas.microsoft.com/office/drawing/2014/main" id="{6331E86E-8772-47D3-BBD6-661D3C19FD74}"/>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17B8E133-684E-4E8E-BF5E-382D884B85FF}"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22211" name="Rectangle 7">
            <a:extLst>
              <a:ext uri="{FF2B5EF4-FFF2-40B4-BE49-F238E27FC236}">
                <a16:creationId xmlns:a16="http://schemas.microsoft.com/office/drawing/2014/main" id="{7E84BAA6-AA16-4C03-9CFB-3D4DCC4073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FBD6F142-784C-4263-8A28-8D20B64ED1CD}" type="slidenum">
              <a:rPr lang="en-US" altLang="zh-CN" sz="1200" smtClean="0">
                <a:latin typeface="Tahoma" panose="020B0604030504040204" pitchFamily="34" charset="0"/>
              </a:rPr>
              <a:pPr/>
              <a:t>94</a:t>
            </a:fld>
            <a:endParaRPr lang="en-US" altLang="zh-CN" sz="1200">
              <a:latin typeface="Tahoma" panose="020B0604030504040204" pitchFamily="34" charset="0"/>
            </a:endParaRPr>
          </a:p>
        </p:txBody>
      </p:sp>
      <p:sp>
        <p:nvSpPr>
          <p:cNvPr id="222212" name="Rectangle 2">
            <a:extLst>
              <a:ext uri="{FF2B5EF4-FFF2-40B4-BE49-F238E27FC236}">
                <a16:creationId xmlns:a16="http://schemas.microsoft.com/office/drawing/2014/main" id="{1AADCCF6-EF5D-4F05-98BF-2FC8D6EE5E63}"/>
              </a:ext>
            </a:extLst>
          </p:cNvPr>
          <p:cNvSpPr>
            <a:spLocks noGrp="1" noRot="1" noChangeAspect="1" noChangeArrowheads="1" noTextEdit="1"/>
          </p:cNvSpPr>
          <p:nvPr>
            <p:ph type="sldImg"/>
          </p:nvPr>
        </p:nvSpPr>
        <p:spPr>
          <a:xfrm>
            <a:off x="381000" y="685800"/>
            <a:ext cx="6096000" cy="3429000"/>
          </a:xfrm>
          <a:ln/>
        </p:spPr>
      </p:sp>
      <p:sp>
        <p:nvSpPr>
          <p:cNvPr id="222213" name="Rectangle 3">
            <a:extLst>
              <a:ext uri="{FF2B5EF4-FFF2-40B4-BE49-F238E27FC236}">
                <a16:creationId xmlns:a16="http://schemas.microsoft.com/office/drawing/2014/main" id="{7134A429-1036-46D0-83F0-2EF47C0539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ea typeface="楷体_GB2312" pitchFamily="49" charset="-122"/>
              </a:rPr>
              <a:t>丝蛋白具有抗张强度高，质地柔软的特性，但经不起拉伸（因为反平行折叠中肽链骨架已是几乎最大程度伸展状态）</a:t>
            </a:r>
            <a:endParaRPr lang="en-US" altLang="zh-CN" dirty="0">
              <a:ea typeface="楷体_GB2312" pitchFamily="49" charset="-122"/>
            </a:endParaRPr>
          </a:p>
          <a:p>
            <a:pPr eaLnBrk="1" hangingPunct="1"/>
            <a:endParaRPr lang="en-US" altLang="zh-CN" dirty="0">
              <a:ea typeface="楷体_GB2312" pitchFamily="49" charset="-122"/>
            </a:endParaRPr>
          </a:p>
          <a:p>
            <a:pPr eaLnBrk="1" hangingPunct="1"/>
            <a:endParaRPr lang="en-US" altLang="zh-CN" dirty="0">
              <a:ea typeface="楷体_GB2312" pitchFamily="49" charset="-122"/>
            </a:endParaRPr>
          </a:p>
          <a:p>
            <a:pPr eaLnBrk="1" hangingPunct="1"/>
            <a:endParaRPr lang="zh-CN" altLang="en-US" dirty="0">
              <a:ea typeface="楷体_GB2312" pitchFamily="49" charset="-122"/>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3">
            <a:extLst>
              <a:ext uri="{FF2B5EF4-FFF2-40B4-BE49-F238E27FC236}">
                <a16:creationId xmlns:a16="http://schemas.microsoft.com/office/drawing/2014/main" id="{5F387D5D-2102-4593-A8BA-6A29F8A36279}"/>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206EB353-C73A-466D-9C53-8C9A6A394C61}"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24259" name="Rectangle 7">
            <a:extLst>
              <a:ext uri="{FF2B5EF4-FFF2-40B4-BE49-F238E27FC236}">
                <a16:creationId xmlns:a16="http://schemas.microsoft.com/office/drawing/2014/main" id="{D0AB2101-1634-46C0-B117-C391FEEFD9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EE03B9FC-FEB7-41A8-8ED0-4F353493644B}" type="slidenum">
              <a:rPr lang="en-US" altLang="zh-CN" sz="1200" smtClean="0">
                <a:latin typeface="Tahoma" panose="020B0604030504040204" pitchFamily="34" charset="0"/>
              </a:rPr>
              <a:pPr/>
              <a:t>95</a:t>
            </a:fld>
            <a:endParaRPr lang="en-US" altLang="zh-CN" sz="1200">
              <a:latin typeface="Tahoma" panose="020B0604030504040204" pitchFamily="34" charset="0"/>
            </a:endParaRPr>
          </a:p>
        </p:txBody>
      </p:sp>
      <p:sp>
        <p:nvSpPr>
          <p:cNvPr id="224260" name="Rectangle 2">
            <a:extLst>
              <a:ext uri="{FF2B5EF4-FFF2-40B4-BE49-F238E27FC236}">
                <a16:creationId xmlns:a16="http://schemas.microsoft.com/office/drawing/2014/main" id="{5C3F1FE9-69A7-453E-8F2C-26B37C60F3A7}"/>
              </a:ext>
            </a:extLst>
          </p:cNvPr>
          <p:cNvSpPr>
            <a:spLocks noGrp="1" noRot="1" noChangeAspect="1" noChangeArrowheads="1" noTextEdit="1"/>
          </p:cNvSpPr>
          <p:nvPr>
            <p:ph type="sldImg"/>
          </p:nvPr>
        </p:nvSpPr>
        <p:spPr>
          <a:xfrm>
            <a:off x="381000" y="685800"/>
            <a:ext cx="6096000" cy="3429000"/>
          </a:xfrm>
          <a:ln/>
        </p:spPr>
      </p:sp>
      <p:sp>
        <p:nvSpPr>
          <p:cNvPr id="645123" name="Rectangle 3">
            <a:extLst>
              <a:ext uri="{FF2B5EF4-FFF2-40B4-BE49-F238E27FC236}">
                <a16:creationId xmlns:a16="http://schemas.microsoft.com/office/drawing/2014/main" id="{1564410F-A35D-4F26-AAC7-95793AF514D7}"/>
              </a:ext>
            </a:extLst>
          </p:cNvPr>
          <p:cNvSpPr>
            <a:spLocks noGrp="1" noChangeArrowheads="1"/>
          </p:cNvSpPr>
          <p:nvPr>
            <p:ph type="body" idx="1"/>
          </p:nvPr>
        </p:nvSpPr>
        <p:spPr/>
        <p:txBody>
          <a:bodyPr/>
          <a:lstStyle/>
          <a:p>
            <a:pPr algn="just" eaLnBrk="1" hangingPunct="1">
              <a:spcBef>
                <a:spcPct val="50000"/>
              </a:spcBef>
              <a:buSzPct val="80000"/>
              <a:defRPr/>
            </a:pPr>
            <a:endParaRPr lang="zh-CN" altLang="zh-CN" b="1" dirty="0">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3">
            <a:extLst>
              <a:ext uri="{FF2B5EF4-FFF2-40B4-BE49-F238E27FC236}">
                <a16:creationId xmlns:a16="http://schemas.microsoft.com/office/drawing/2014/main" id="{B38E4DE4-D644-41D3-A732-2449E0AFE02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987DC318-E8BA-493E-A309-BA4E30D649C6}"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26307" name="Rectangle 7">
            <a:extLst>
              <a:ext uri="{FF2B5EF4-FFF2-40B4-BE49-F238E27FC236}">
                <a16:creationId xmlns:a16="http://schemas.microsoft.com/office/drawing/2014/main" id="{614749E9-71CF-45A7-85E9-97BA77C736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2D0ED865-F700-43C9-8F7E-8DBEB180CD61}" type="slidenum">
              <a:rPr lang="en-US" altLang="zh-CN" sz="1200" smtClean="0">
                <a:latin typeface="Tahoma" panose="020B0604030504040204" pitchFamily="34" charset="0"/>
              </a:rPr>
              <a:pPr/>
              <a:t>96</a:t>
            </a:fld>
            <a:endParaRPr lang="en-US" altLang="zh-CN" sz="1200">
              <a:latin typeface="Tahoma" panose="020B0604030504040204" pitchFamily="34" charset="0"/>
            </a:endParaRPr>
          </a:p>
        </p:txBody>
      </p:sp>
      <p:sp>
        <p:nvSpPr>
          <p:cNvPr id="226308" name="Rectangle 2">
            <a:extLst>
              <a:ext uri="{FF2B5EF4-FFF2-40B4-BE49-F238E27FC236}">
                <a16:creationId xmlns:a16="http://schemas.microsoft.com/office/drawing/2014/main" id="{97BF89EF-C1AC-45D0-966B-7A5FB25941DE}"/>
              </a:ext>
            </a:extLst>
          </p:cNvPr>
          <p:cNvSpPr>
            <a:spLocks noGrp="1" noRot="1" noChangeAspect="1" noChangeArrowheads="1" noTextEdit="1"/>
          </p:cNvSpPr>
          <p:nvPr>
            <p:ph type="sldImg"/>
          </p:nvPr>
        </p:nvSpPr>
        <p:spPr>
          <a:xfrm>
            <a:off x="381000" y="685800"/>
            <a:ext cx="6096000" cy="3429000"/>
          </a:xfrm>
          <a:ln/>
        </p:spPr>
      </p:sp>
      <p:sp>
        <p:nvSpPr>
          <p:cNvPr id="683011" name="Rectangle 3">
            <a:extLst>
              <a:ext uri="{FF2B5EF4-FFF2-40B4-BE49-F238E27FC236}">
                <a16:creationId xmlns:a16="http://schemas.microsoft.com/office/drawing/2014/main" id="{BBA00383-E3B7-4051-9BB5-169C0F5B249A}"/>
              </a:ext>
            </a:extLst>
          </p:cNvPr>
          <p:cNvSpPr>
            <a:spLocks noGrp="1" noChangeArrowheads="1"/>
          </p:cNvSpPr>
          <p:nvPr>
            <p:ph type="body" idx="1"/>
          </p:nvPr>
        </p:nvSpPr>
        <p:spPr/>
        <p:txBody>
          <a:bodyPr/>
          <a:lstStyle/>
          <a:p>
            <a:pPr algn="just" eaLnBrk="1" hangingPunct="1">
              <a:spcBef>
                <a:spcPct val="50000"/>
              </a:spcBef>
              <a:buSzPct val="80000"/>
              <a:defRPr/>
            </a:pPr>
            <a:r>
              <a:rPr lang="en-US" altLang="zh-CN" dirty="0">
                <a:effectLst>
                  <a:outerShdw blurRad="38100" dist="38100" dir="2700000" algn="tl">
                    <a:srgbClr val="C0C0C0"/>
                  </a:outerShdw>
                </a:effectLst>
                <a:latin typeface="楷体_GB2312" pitchFamily="49" charset="-122"/>
                <a:ea typeface="楷体_GB2312" pitchFamily="49" charset="-122"/>
              </a:rPr>
              <a:t>Download and analyze the structure 1EIF(PDB code)</a:t>
            </a:r>
          </a:p>
          <a:p>
            <a:pPr marL="228600" indent="-228600" algn="just" eaLnBrk="1" hangingPunct="1">
              <a:spcBef>
                <a:spcPct val="50000"/>
              </a:spcBef>
              <a:buSzPct val="80000"/>
              <a:buFontTx/>
              <a:buAutoNum type="arabicPeriod"/>
              <a:defRPr/>
            </a:pPr>
            <a:r>
              <a:rPr lang="en-US" altLang="zh-CN" dirty="0">
                <a:effectLst>
                  <a:outerShdw blurRad="38100" dist="38100" dir="2700000" algn="tl">
                    <a:srgbClr val="C0C0C0"/>
                  </a:outerShdw>
                </a:effectLst>
                <a:latin typeface="楷体_GB2312" pitchFamily="49" charset="-122"/>
                <a:ea typeface="楷体_GB2312" pitchFamily="49" charset="-122"/>
              </a:rPr>
              <a:t>Describe the tertiary and quaternary structure</a:t>
            </a:r>
          </a:p>
          <a:p>
            <a:pPr marL="228600" indent="-228600" algn="just" eaLnBrk="1" hangingPunct="1">
              <a:spcBef>
                <a:spcPct val="50000"/>
              </a:spcBef>
              <a:buSzPct val="80000"/>
              <a:buFontTx/>
              <a:buAutoNum type="arabicPeriod"/>
              <a:defRPr/>
            </a:pPr>
            <a:r>
              <a:rPr lang="en-US" altLang="zh-CN" dirty="0">
                <a:effectLst>
                  <a:outerShdw blurRad="38100" dist="38100" dir="2700000" algn="tl">
                    <a:srgbClr val="C0C0C0"/>
                  </a:outerShdw>
                </a:effectLst>
                <a:latin typeface="楷体_GB2312" pitchFamily="49" charset="-122"/>
                <a:ea typeface="楷体_GB2312" pitchFamily="49" charset="-122"/>
              </a:rPr>
              <a:t>Find the secondary elements of the structure</a:t>
            </a:r>
          </a:p>
          <a:p>
            <a:pPr marL="228600" indent="-228600" algn="just" eaLnBrk="1" hangingPunct="1">
              <a:spcBef>
                <a:spcPct val="50000"/>
              </a:spcBef>
              <a:buSzPct val="80000"/>
              <a:buFontTx/>
              <a:buAutoNum type="arabicPeriod"/>
              <a:defRPr/>
            </a:pPr>
            <a:r>
              <a:rPr lang="en-US" altLang="zh-CN" dirty="0">
                <a:effectLst>
                  <a:outerShdw blurRad="38100" dist="38100" dir="2700000" algn="tl">
                    <a:srgbClr val="C0C0C0"/>
                  </a:outerShdw>
                </a:effectLst>
                <a:latin typeface="楷体_GB2312" pitchFamily="49" charset="-122"/>
                <a:ea typeface="楷体_GB2312" pitchFamily="49" charset="-122"/>
              </a:rPr>
              <a:t>Describe the interaction among these secondary elements.</a:t>
            </a:r>
          </a:p>
          <a:p>
            <a:pPr marL="228600" indent="-228600" algn="just" eaLnBrk="1" hangingPunct="1">
              <a:spcBef>
                <a:spcPct val="50000"/>
              </a:spcBef>
              <a:buSzPct val="80000"/>
              <a:buFontTx/>
              <a:buAutoNum type="arabicPeriod"/>
              <a:defRPr/>
            </a:pPr>
            <a:endParaRPr lang="en-US" altLang="zh-CN" b="1" dirty="0">
              <a:effectLst>
                <a:outerShdw blurRad="38100" dist="38100" dir="2700000" algn="tl">
                  <a:srgbClr val="C0C0C0"/>
                </a:outerShdw>
              </a:effectLst>
              <a:latin typeface="楷体_GB2312" pitchFamily="49" charset="-122"/>
              <a:ea typeface="楷体_GB2312" pitchFamily="49" charset="-122"/>
            </a:endParaRPr>
          </a:p>
          <a:p>
            <a:pPr algn="just" eaLnBrk="1" hangingPunct="1">
              <a:spcBef>
                <a:spcPct val="50000"/>
              </a:spcBef>
              <a:buSzPct val="80000"/>
              <a:defRPr/>
            </a:pPr>
            <a:endParaRPr lang="zh-CN" altLang="zh-CN" b="1" dirty="0">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3">
            <a:extLst>
              <a:ext uri="{FF2B5EF4-FFF2-40B4-BE49-F238E27FC236}">
                <a16:creationId xmlns:a16="http://schemas.microsoft.com/office/drawing/2014/main" id="{D268DB57-3F08-4F4F-AFC3-F53FE533709C}"/>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09999BC9-B3B7-4AC2-BC47-29197B9DED7E}"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30403" name="Rectangle 7">
            <a:extLst>
              <a:ext uri="{FF2B5EF4-FFF2-40B4-BE49-F238E27FC236}">
                <a16:creationId xmlns:a16="http://schemas.microsoft.com/office/drawing/2014/main" id="{E9D2080D-C46A-4EA5-878D-94C67B6529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1355135-5595-4CA7-833B-372A031EE972}" type="slidenum">
              <a:rPr lang="en-US" altLang="zh-CN" sz="1200" smtClean="0">
                <a:latin typeface="Tahoma" panose="020B0604030504040204" pitchFamily="34" charset="0"/>
              </a:rPr>
              <a:pPr/>
              <a:t>97</a:t>
            </a:fld>
            <a:endParaRPr lang="en-US" altLang="zh-CN" sz="1200">
              <a:latin typeface="Tahoma" panose="020B0604030504040204" pitchFamily="34" charset="0"/>
            </a:endParaRPr>
          </a:p>
        </p:txBody>
      </p:sp>
      <p:sp>
        <p:nvSpPr>
          <p:cNvPr id="230404" name="Rectangle 2">
            <a:extLst>
              <a:ext uri="{FF2B5EF4-FFF2-40B4-BE49-F238E27FC236}">
                <a16:creationId xmlns:a16="http://schemas.microsoft.com/office/drawing/2014/main" id="{6BBD0253-FE98-4A9F-A8C7-7874112764AD}"/>
              </a:ext>
            </a:extLst>
          </p:cNvPr>
          <p:cNvSpPr>
            <a:spLocks noGrp="1" noRot="1" noChangeAspect="1" noChangeArrowheads="1" noTextEdit="1"/>
          </p:cNvSpPr>
          <p:nvPr>
            <p:ph type="sldImg"/>
          </p:nvPr>
        </p:nvSpPr>
        <p:spPr>
          <a:xfrm>
            <a:off x="381000" y="685800"/>
            <a:ext cx="6096000" cy="3429000"/>
          </a:xfrm>
          <a:ln/>
        </p:spPr>
      </p:sp>
      <p:sp>
        <p:nvSpPr>
          <p:cNvPr id="230405" name="Rectangle 3">
            <a:extLst>
              <a:ext uri="{FF2B5EF4-FFF2-40B4-BE49-F238E27FC236}">
                <a16:creationId xmlns:a16="http://schemas.microsoft.com/office/drawing/2014/main" id="{6F1513CB-B1E0-4D94-AF4E-0CE3A4AACF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I </a:t>
            </a:r>
            <a:r>
              <a:rPr lang="zh-CN" altLang="en-US" dirty="0"/>
              <a:t>型更多见，其</a:t>
            </a:r>
            <a:r>
              <a:rPr lang="zh-CN" altLang="en-US" b="1" dirty="0">
                <a:latin typeface="宋体" panose="02010600030101010101" pitchFamily="2" charset="-122"/>
              </a:rPr>
              <a:t>第二个残基常为脯氨酸</a:t>
            </a:r>
            <a:r>
              <a:rPr lang="zh-CN" altLang="en-US" dirty="0">
                <a:latin typeface="宋体" panose="02010600030101010101" pitchFamily="2" charset="-122"/>
              </a:rPr>
              <a:t>，因为其</a:t>
            </a:r>
            <a:r>
              <a:rPr lang="en-US" altLang="zh-CN" dirty="0"/>
              <a:t>N</a:t>
            </a:r>
            <a:r>
              <a:rPr lang="zh-CN" altLang="en-US" dirty="0">
                <a:latin typeface="宋体" panose="02010600030101010101" pitchFamily="2" charset="-122"/>
              </a:rPr>
              <a:t>原子位于环中，肽键</a:t>
            </a:r>
            <a:r>
              <a:rPr lang="en-US" altLang="zh-CN" dirty="0"/>
              <a:t>N</a:t>
            </a:r>
            <a:r>
              <a:rPr lang="zh-CN" altLang="en-US" dirty="0">
                <a:latin typeface="宋体" panose="02010600030101010101" pitchFamily="2" charset="-122"/>
              </a:rPr>
              <a:t>原子上已没有</a:t>
            </a:r>
            <a:r>
              <a:rPr lang="en-US" altLang="zh-CN" dirty="0"/>
              <a:t>H</a:t>
            </a:r>
            <a:r>
              <a:rPr lang="zh-CN" altLang="en-US" dirty="0">
                <a:latin typeface="宋体" panose="02010600030101010101" pitchFamily="2" charset="-122"/>
              </a:rPr>
              <a:t>，不能再形成氢键，且因其</a:t>
            </a:r>
            <a:r>
              <a:rPr lang="en-US" altLang="zh-CN" dirty="0"/>
              <a:t>α</a:t>
            </a:r>
            <a:r>
              <a:rPr lang="zh-CN" altLang="en-US" dirty="0">
                <a:latin typeface="宋体" panose="02010600030101010101" pitchFamily="2" charset="-122"/>
              </a:rPr>
              <a:t>－碳原子位于五元环上，不易扭转，故走向转折。 </a:t>
            </a:r>
            <a:endParaRPr lang="en-US" altLang="zh-CN" dirty="0">
              <a:latin typeface="宋体" panose="02010600030101010101" pitchFamily="2" charset="-122"/>
            </a:endParaRPr>
          </a:p>
          <a:p>
            <a:endParaRPr lang="en-US" altLang="zh-CN" dirty="0">
              <a:latin typeface="宋体" panose="02010600030101010101" pitchFamily="2" charset="-122"/>
            </a:endParaRPr>
          </a:p>
          <a:p>
            <a:r>
              <a:rPr lang="en-US" altLang="zh-CN" dirty="0">
                <a:latin typeface="宋体" panose="02010600030101010101" pitchFamily="2" charset="-122"/>
              </a:rPr>
              <a:t>II </a:t>
            </a:r>
            <a:r>
              <a:rPr lang="zh-CN" altLang="en-US" dirty="0">
                <a:latin typeface="宋体" panose="02010600030101010101" pitchFamily="2" charset="-122"/>
              </a:rPr>
              <a:t>型第三个残基为甘氨酸。</a:t>
            </a:r>
            <a:endParaRPr lang="en-US" altLang="zh-CN" dirty="0">
              <a:latin typeface="宋体" panose="02010600030101010101" pitchFamily="2" charset="-122"/>
            </a:endParaRPr>
          </a:p>
          <a:p>
            <a:endParaRPr lang="en-US" altLang="zh-CN" b="1" dirty="0">
              <a:latin typeface="楷体_GB2312" pitchFamily="49" charset="-122"/>
              <a:ea typeface="楷体_GB2312" pitchFamily="49" charset="-122"/>
            </a:endParaRPr>
          </a:p>
          <a:p>
            <a:endParaRPr lang="en-US" altLang="zh-CN" b="1" dirty="0">
              <a:latin typeface="楷体_GB2312" pitchFamily="49" charset="-122"/>
              <a:ea typeface="楷体_GB2312" pitchFamily="49" charset="-122"/>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幻灯片图像占位符 1">
            <a:extLst>
              <a:ext uri="{FF2B5EF4-FFF2-40B4-BE49-F238E27FC236}">
                <a16:creationId xmlns:a16="http://schemas.microsoft.com/office/drawing/2014/main" id="{D10F9906-59AD-45AD-82A7-16211974F98A}"/>
              </a:ext>
            </a:extLst>
          </p:cNvPr>
          <p:cNvSpPr>
            <a:spLocks noGrp="1" noRot="1" noChangeAspect="1" noChangeArrowheads="1" noTextEdit="1"/>
          </p:cNvSpPr>
          <p:nvPr>
            <p:ph type="sldImg"/>
          </p:nvPr>
        </p:nvSpPr>
        <p:spPr>
          <a:xfrm>
            <a:off x="381000" y="685800"/>
            <a:ext cx="6096000" cy="3429000"/>
          </a:xfrm>
          <a:ln/>
        </p:spPr>
      </p:sp>
      <p:sp>
        <p:nvSpPr>
          <p:cNvPr id="234499" name="备注占位符 2">
            <a:extLst>
              <a:ext uri="{FF2B5EF4-FFF2-40B4-BE49-F238E27FC236}">
                <a16:creationId xmlns:a16="http://schemas.microsoft.com/office/drawing/2014/main" id="{15C0B57D-4903-41EF-B9AC-7309AF500C2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右图：  </a:t>
            </a:r>
            <a:r>
              <a:rPr lang="en-US" altLang="zh-CN" dirty="0"/>
              <a:t>Ω-loops in the active region and glycosylation of the available sites of porcine trypsin.  </a:t>
            </a:r>
          </a:p>
          <a:p>
            <a:endParaRPr lang="en-US" altLang="zh-CN" dirty="0"/>
          </a:p>
          <a:p>
            <a:r>
              <a:rPr lang="zh-CN" altLang="en-US" dirty="0"/>
              <a:t>不超过１</a:t>
            </a:r>
            <a:r>
              <a:rPr lang="en-US" altLang="zh-CN" dirty="0"/>
              <a:t>0</a:t>
            </a:r>
            <a:r>
              <a:rPr lang="zh-CN" altLang="en-US" dirty="0"/>
              <a:t>个</a:t>
            </a:r>
            <a:r>
              <a:rPr lang="en-US" altLang="zh-CN" dirty="0"/>
              <a:t>aa</a:t>
            </a:r>
            <a:r>
              <a:rPr lang="zh-CN" altLang="en-US" dirty="0"/>
              <a:t>，尤以８个残基的小环最多。 但关于多少</a:t>
            </a:r>
            <a:r>
              <a:rPr lang="en-US" altLang="zh-CN" dirty="0"/>
              <a:t>aa, </a:t>
            </a:r>
            <a:r>
              <a:rPr lang="zh-CN" altLang="en-US" dirty="0"/>
              <a:t>有不同说法。</a:t>
            </a:r>
          </a:p>
        </p:txBody>
      </p:sp>
      <p:sp>
        <p:nvSpPr>
          <p:cNvPr id="234500" name="日期占位符 3">
            <a:extLst>
              <a:ext uri="{FF2B5EF4-FFF2-40B4-BE49-F238E27FC236}">
                <a16:creationId xmlns:a16="http://schemas.microsoft.com/office/drawing/2014/main" id="{AB616113-A9DB-4943-A225-C3065DE93C99}"/>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06174D1-6CD6-4C9E-8D28-B09F78263F8F}"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34501" name="灯片编号占位符 4">
            <a:extLst>
              <a:ext uri="{FF2B5EF4-FFF2-40B4-BE49-F238E27FC236}">
                <a16:creationId xmlns:a16="http://schemas.microsoft.com/office/drawing/2014/main" id="{5F64B929-2393-42D9-83FF-1E04E25F119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94875BAE-8276-46F3-9E62-1B99BF17A4CC}" type="slidenum">
              <a:rPr lang="en-US" altLang="zh-CN" sz="1200" smtClean="0">
                <a:latin typeface="Tahoma" panose="020B0604030504040204" pitchFamily="34" charset="0"/>
              </a:rPr>
              <a:pPr/>
              <a:t>98</a:t>
            </a:fld>
            <a:endParaRPr lang="en-US" altLang="zh-CN" sz="1200">
              <a:latin typeface="Tahoma" panose="020B0604030504040204" pitchFamily="34" charset="0"/>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3">
            <a:extLst>
              <a:ext uri="{FF2B5EF4-FFF2-40B4-BE49-F238E27FC236}">
                <a16:creationId xmlns:a16="http://schemas.microsoft.com/office/drawing/2014/main" id="{7FEE7F4E-979C-4FE3-AD20-99028E7A991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F8BEAF27-D35B-4FA7-8556-C93CED869C74}"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36547" name="Rectangle 7">
            <a:extLst>
              <a:ext uri="{FF2B5EF4-FFF2-40B4-BE49-F238E27FC236}">
                <a16:creationId xmlns:a16="http://schemas.microsoft.com/office/drawing/2014/main" id="{5B107E77-69AB-47DD-BB68-FA18CF99BB1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5916B54A-5E22-458B-BCF8-A5F4D731D3F6}" type="slidenum">
              <a:rPr lang="en-US" altLang="zh-CN" sz="1200" smtClean="0">
                <a:latin typeface="Tahoma" panose="020B0604030504040204" pitchFamily="34" charset="0"/>
              </a:rPr>
              <a:pPr/>
              <a:t>99</a:t>
            </a:fld>
            <a:endParaRPr lang="en-US" altLang="zh-CN" sz="1200">
              <a:latin typeface="Tahoma" panose="020B0604030504040204" pitchFamily="34" charset="0"/>
            </a:endParaRPr>
          </a:p>
        </p:txBody>
      </p:sp>
      <p:sp>
        <p:nvSpPr>
          <p:cNvPr id="236548" name="Rectangle 2">
            <a:extLst>
              <a:ext uri="{FF2B5EF4-FFF2-40B4-BE49-F238E27FC236}">
                <a16:creationId xmlns:a16="http://schemas.microsoft.com/office/drawing/2014/main" id="{B3C90E43-8BF9-4639-B576-B00C3FA3CC25}"/>
              </a:ext>
            </a:extLst>
          </p:cNvPr>
          <p:cNvSpPr>
            <a:spLocks noGrp="1" noRot="1" noChangeAspect="1" noChangeArrowheads="1" noTextEdit="1"/>
          </p:cNvSpPr>
          <p:nvPr>
            <p:ph type="sldImg"/>
          </p:nvPr>
        </p:nvSpPr>
        <p:spPr>
          <a:xfrm>
            <a:off x="381000" y="685800"/>
            <a:ext cx="6096000" cy="3429000"/>
          </a:xfrm>
          <a:ln/>
        </p:spPr>
      </p:sp>
      <p:sp>
        <p:nvSpPr>
          <p:cNvPr id="236549" name="Rectangle 3">
            <a:extLst>
              <a:ext uri="{FF2B5EF4-FFF2-40B4-BE49-F238E27FC236}">
                <a16:creationId xmlns:a16="http://schemas.microsoft.com/office/drawing/2014/main" id="{9B888A90-4E19-4E28-A5B0-F1135E32330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2800" dirty="0">
                <a:latin typeface="华文楷体" panose="02010600040101010101" pitchFamily="2" charset="-122"/>
                <a:ea typeface="华文楷体" panose="02010600040101010101" pitchFamily="2" charset="-122"/>
              </a:rPr>
              <a:t>脯氨酸因其</a:t>
            </a:r>
            <a:r>
              <a:rPr lang="en-US" altLang="zh-CN" sz="2800" dirty="0">
                <a:latin typeface="华文楷体" panose="02010600040101010101" pitchFamily="2" charset="-122"/>
                <a:ea typeface="华文楷体" panose="02010600040101010101" pitchFamily="2" charset="-122"/>
              </a:rPr>
              <a:t>C</a:t>
            </a:r>
            <a:r>
              <a:rPr lang="el-GR" altLang="zh-CN" sz="2800" dirty="0">
                <a:latin typeface="华文楷体" panose="02010600040101010101" pitchFamily="2" charset="-122"/>
                <a:ea typeface="华文楷体" panose="02010600040101010101" pitchFamily="2" charset="-122"/>
              </a:rPr>
              <a:t>α</a:t>
            </a:r>
            <a:r>
              <a:rPr lang="zh-CN" altLang="en-US" sz="2800" dirty="0">
                <a:latin typeface="华文楷体" panose="02010600040101010101" pitchFamily="2" charset="-122"/>
                <a:ea typeface="华文楷体" panose="02010600040101010101" pitchFamily="2" charset="-122"/>
              </a:rPr>
              <a:t>和肽键中</a:t>
            </a:r>
            <a:r>
              <a:rPr lang="en-US" altLang="zh-CN" sz="2800" dirty="0">
                <a:latin typeface="华文楷体" panose="02010600040101010101" pitchFamily="2" charset="-122"/>
                <a:ea typeface="华文楷体" panose="02010600040101010101" pitchFamily="2" charset="-122"/>
              </a:rPr>
              <a:t>N</a:t>
            </a:r>
            <a:r>
              <a:rPr lang="zh-CN" altLang="en-US" sz="2800" dirty="0">
                <a:latin typeface="华文楷体" panose="02010600040101010101" pitchFamily="2" charset="-122"/>
                <a:ea typeface="华文楷体" panose="02010600040101010101" pitchFamily="2" charset="-122"/>
              </a:rPr>
              <a:t>位于五元环上，不可能绕</a:t>
            </a:r>
            <a:r>
              <a:rPr lang="en-US" altLang="zh-CN" sz="2800" dirty="0">
                <a:latin typeface="华文楷体" panose="02010600040101010101" pitchFamily="2" charset="-122"/>
                <a:ea typeface="华文楷体" panose="02010600040101010101" pitchFamily="2" charset="-122"/>
              </a:rPr>
              <a:t>N-C</a:t>
            </a:r>
            <a:r>
              <a:rPr lang="el-GR" altLang="zh-CN" sz="2800" dirty="0">
                <a:latin typeface="华文楷体" panose="02010600040101010101" pitchFamily="2" charset="-122"/>
                <a:ea typeface="华文楷体" panose="02010600040101010101" pitchFamily="2" charset="-122"/>
              </a:rPr>
              <a:t>α</a:t>
            </a:r>
            <a:r>
              <a:rPr lang="zh-CN" altLang="en-US" sz="2800" dirty="0">
                <a:latin typeface="华文楷体" panose="02010600040101010101" pitchFamily="2" charset="-122"/>
                <a:ea typeface="华文楷体" panose="02010600040101010101" pitchFamily="2" charset="-122"/>
              </a:rPr>
              <a:t>键转动（没有合适的</a:t>
            </a:r>
            <a:r>
              <a:rPr lang="el-GR" altLang="zh-CN" sz="2800" dirty="0">
                <a:latin typeface="华文楷体" panose="02010600040101010101" pitchFamily="2" charset="-122"/>
                <a:ea typeface="华文楷体" panose="02010600040101010101" pitchFamily="2" charset="-122"/>
              </a:rPr>
              <a:t>φ</a:t>
            </a:r>
            <a:r>
              <a:rPr lang="zh-CN" altLang="en-US" sz="2800" dirty="0">
                <a:latin typeface="华文楷体" panose="02010600040101010101" pitchFamily="2" charset="-122"/>
                <a:ea typeface="华文楷体" panose="02010600040101010101" pitchFamily="2" charset="-122"/>
              </a:rPr>
              <a:t>），加之它是亚氨基酸，</a:t>
            </a:r>
            <a:r>
              <a:rPr lang="en-US" altLang="zh-CN" sz="2800" dirty="0">
                <a:latin typeface="华文楷体" panose="02010600040101010101" pitchFamily="2" charset="-122"/>
                <a:ea typeface="华文楷体" panose="02010600040101010101" pitchFamily="2" charset="-122"/>
              </a:rPr>
              <a:t>N</a:t>
            </a:r>
            <a:r>
              <a:rPr lang="zh-CN" altLang="en-US" sz="2800" dirty="0">
                <a:latin typeface="华文楷体" panose="02010600040101010101" pitchFamily="2" charset="-122"/>
                <a:ea typeface="华文楷体" panose="02010600040101010101" pitchFamily="2" charset="-122"/>
              </a:rPr>
              <a:t>原子上没有多余的氢参与形成氢键，故不易形成上述</a:t>
            </a:r>
            <a:r>
              <a:rPr lang="en-US" altLang="zh-CN" sz="2800" dirty="0">
                <a:latin typeface="华文楷体" panose="02010600040101010101" pitchFamily="2" charset="-122"/>
                <a:ea typeface="华文楷体" panose="02010600040101010101" pitchFamily="2" charset="-122"/>
              </a:rPr>
              <a:t>α</a:t>
            </a:r>
            <a:r>
              <a:rPr lang="zh-CN" altLang="en-US" sz="2800" dirty="0">
                <a:latin typeface="华文楷体" panose="02010600040101010101" pitchFamily="2" charset="-122"/>
                <a:ea typeface="华文楷体" panose="02010600040101010101" pitchFamily="2" charset="-122"/>
              </a:rPr>
              <a:t>－螺旋；  </a:t>
            </a:r>
            <a:endParaRPr lang="en-US" altLang="zh-CN" sz="2800" dirty="0">
              <a:latin typeface="华文楷体" panose="02010600040101010101" pitchFamily="2" charset="-122"/>
              <a:ea typeface="华文楷体" panose="02010600040101010101" pitchFamily="2" charset="-122"/>
            </a:endParaRPr>
          </a:p>
          <a:p>
            <a:pPr eaLnBrk="1" hangingPunct="1"/>
            <a:endParaRPr lang="en-US" altLang="zh-CN" sz="2800" dirty="0">
              <a:latin typeface="华文楷体" panose="02010600040101010101" pitchFamily="2" charset="-122"/>
              <a:ea typeface="华文楷体" panose="02010600040101010101" pitchFamily="2" charset="-122"/>
            </a:endParaRPr>
          </a:p>
          <a:p>
            <a:pPr eaLnBrk="1" hangingPunct="1"/>
            <a:r>
              <a:rPr lang="en-US" altLang="zh-CN" sz="2800" b="0" dirty="0">
                <a:latin typeface="华文楷体" panose="02010600040101010101" pitchFamily="2" charset="-122"/>
                <a:ea typeface="华文楷体" panose="02010600040101010101" pitchFamily="2" charset="-122"/>
              </a:rPr>
              <a:t>Regions richer in alanine (A), glutamic acid (E), leucine (L), and methionine (M) and poorer in proline (P), glycine (G), tyrosine (Y), and serine (S) tend to form an </a:t>
            </a:r>
            <a:r>
              <a:rPr lang="el-GR" altLang="zh-CN" sz="2800" b="0" dirty="0">
                <a:latin typeface="华文楷体" panose="02010600040101010101" pitchFamily="2" charset="-122"/>
                <a:ea typeface="华文楷体" panose="02010600040101010101" pitchFamily="2" charset="-122"/>
              </a:rPr>
              <a:t>α-</a:t>
            </a:r>
            <a:r>
              <a:rPr lang="en-US" altLang="zh-CN" sz="2800" b="0" dirty="0">
                <a:latin typeface="华文楷体" panose="02010600040101010101" pitchFamily="2" charset="-122"/>
                <a:ea typeface="华文楷体" panose="02010600040101010101" pitchFamily="2" charset="-122"/>
              </a:rPr>
              <a:t>helix. Proline destabilizes or breaks an </a:t>
            </a:r>
            <a:r>
              <a:rPr lang="el-GR" altLang="zh-CN" sz="2800" b="0" dirty="0">
                <a:latin typeface="华文楷体" panose="02010600040101010101" pitchFamily="2" charset="-122"/>
                <a:ea typeface="华文楷体" panose="02010600040101010101" pitchFamily="2" charset="-122"/>
              </a:rPr>
              <a:t>α-</a:t>
            </a:r>
            <a:r>
              <a:rPr lang="en-US" altLang="zh-CN" sz="2800" b="0" dirty="0">
                <a:latin typeface="华文楷体" panose="02010600040101010101" pitchFamily="2" charset="-122"/>
                <a:ea typeface="华文楷体" panose="02010600040101010101" pitchFamily="2" charset="-122"/>
              </a:rPr>
              <a:t>helix but can be present in longer helices, forming a bend.</a:t>
            </a:r>
            <a:endParaRPr lang="zh-CN" altLang="en-US" sz="2800" b="0" dirty="0">
              <a:latin typeface="华文楷体" panose="02010600040101010101" pitchFamily="2" charset="-122"/>
              <a:ea typeface="华文楷体" panose="02010600040101010101" pitchFamily="2" charset="-122"/>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3">
            <a:extLst>
              <a:ext uri="{FF2B5EF4-FFF2-40B4-BE49-F238E27FC236}">
                <a16:creationId xmlns:a16="http://schemas.microsoft.com/office/drawing/2014/main" id="{60022B4F-05F9-4D2D-A96A-24AEF38E5D4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E3487E80-0D59-441A-97DD-E45C0819961B}"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38595" name="Rectangle 7">
            <a:extLst>
              <a:ext uri="{FF2B5EF4-FFF2-40B4-BE49-F238E27FC236}">
                <a16:creationId xmlns:a16="http://schemas.microsoft.com/office/drawing/2014/main" id="{1883DF2B-2B1E-4A9F-A672-95B27B3611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7B6D679-6395-4937-858D-032FCA3167A1}" type="slidenum">
              <a:rPr lang="en-US" altLang="zh-CN" sz="1200" smtClean="0">
                <a:latin typeface="Tahoma" panose="020B0604030504040204" pitchFamily="34" charset="0"/>
              </a:rPr>
              <a:pPr/>
              <a:t>100</a:t>
            </a:fld>
            <a:endParaRPr lang="en-US" altLang="zh-CN" sz="1200">
              <a:latin typeface="Tahoma" panose="020B0604030504040204" pitchFamily="34" charset="0"/>
            </a:endParaRPr>
          </a:p>
        </p:txBody>
      </p:sp>
      <p:sp>
        <p:nvSpPr>
          <p:cNvPr id="238596" name="Rectangle 2">
            <a:extLst>
              <a:ext uri="{FF2B5EF4-FFF2-40B4-BE49-F238E27FC236}">
                <a16:creationId xmlns:a16="http://schemas.microsoft.com/office/drawing/2014/main" id="{7F189E0F-E7A3-4689-A90F-4E6B2F953311}"/>
              </a:ext>
            </a:extLst>
          </p:cNvPr>
          <p:cNvSpPr>
            <a:spLocks noGrp="1" noRot="1" noChangeAspect="1" noChangeArrowheads="1" noTextEdit="1"/>
          </p:cNvSpPr>
          <p:nvPr>
            <p:ph type="sldImg"/>
          </p:nvPr>
        </p:nvSpPr>
        <p:spPr>
          <a:xfrm>
            <a:off x="381000" y="685800"/>
            <a:ext cx="6096000" cy="3429000"/>
          </a:xfrm>
          <a:ln/>
        </p:spPr>
      </p:sp>
      <p:sp>
        <p:nvSpPr>
          <p:cNvPr id="238597" name="Rectangle 3">
            <a:extLst>
              <a:ext uri="{FF2B5EF4-FFF2-40B4-BE49-F238E27FC236}">
                <a16:creationId xmlns:a16="http://schemas.microsoft.com/office/drawing/2014/main" id="{94CB8BD0-C938-4FD0-AB64-A1C879CB77C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宋体" panose="02010600030101010101" pitchFamily="2" charset="-122"/>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3">
            <a:extLst>
              <a:ext uri="{FF2B5EF4-FFF2-40B4-BE49-F238E27FC236}">
                <a16:creationId xmlns:a16="http://schemas.microsoft.com/office/drawing/2014/main" id="{22E55BA4-A48F-479D-8868-BCEFF1AE4F1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51226B4-A30E-4900-8E91-C457C221C69E}"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40643" name="Rectangle 7">
            <a:extLst>
              <a:ext uri="{FF2B5EF4-FFF2-40B4-BE49-F238E27FC236}">
                <a16:creationId xmlns:a16="http://schemas.microsoft.com/office/drawing/2014/main" id="{843BA70F-2B6C-4B48-A0AD-8DB279C5A4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D2A5B71-30A7-4112-860F-975AA2832E81}" type="slidenum">
              <a:rPr lang="en-US" altLang="zh-CN" sz="1200" smtClean="0">
                <a:latin typeface="Tahoma" panose="020B0604030504040204" pitchFamily="34" charset="0"/>
              </a:rPr>
              <a:pPr/>
              <a:t>101</a:t>
            </a:fld>
            <a:endParaRPr lang="en-US" altLang="zh-CN" sz="1200">
              <a:latin typeface="Tahoma" panose="020B0604030504040204" pitchFamily="34" charset="0"/>
            </a:endParaRPr>
          </a:p>
        </p:txBody>
      </p:sp>
      <p:sp>
        <p:nvSpPr>
          <p:cNvPr id="240644" name="Rectangle 2">
            <a:extLst>
              <a:ext uri="{FF2B5EF4-FFF2-40B4-BE49-F238E27FC236}">
                <a16:creationId xmlns:a16="http://schemas.microsoft.com/office/drawing/2014/main" id="{09E083C1-BA3C-4993-95F2-8E1E98B6AB61}"/>
              </a:ext>
            </a:extLst>
          </p:cNvPr>
          <p:cNvSpPr>
            <a:spLocks noGrp="1" noRot="1" noChangeAspect="1" noChangeArrowheads="1" noTextEdit="1"/>
          </p:cNvSpPr>
          <p:nvPr>
            <p:ph type="sldImg"/>
          </p:nvPr>
        </p:nvSpPr>
        <p:spPr>
          <a:xfrm>
            <a:off x="381000" y="685800"/>
            <a:ext cx="6096000" cy="3429000"/>
          </a:xfrm>
          <a:ln/>
        </p:spPr>
      </p:sp>
      <p:sp>
        <p:nvSpPr>
          <p:cNvPr id="240645" name="Rectangle 3">
            <a:extLst>
              <a:ext uri="{FF2B5EF4-FFF2-40B4-BE49-F238E27FC236}">
                <a16:creationId xmlns:a16="http://schemas.microsoft.com/office/drawing/2014/main" id="{1954A9D3-923B-4181-8566-30F5AEF34D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sz="3200" dirty="0">
                <a:solidFill>
                  <a:srgbClr val="993366"/>
                </a:solidFill>
                <a:latin typeface="Arial" panose="020B0604020202020204" pitchFamily="34" charset="0"/>
              </a:rPr>
              <a:t>motif</a:t>
            </a:r>
            <a:r>
              <a:rPr lang="zh-CN" altLang="en-US" sz="3200" dirty="0">
                <a:solidFill>
                  <a:srgbClr val="993366"/>
                </a:solidFill>
                <a:latin typeface="Arial" panose="020B0604020202020204" pitchFamily="34" charset="0"/>
              </a:rPr>
              <a:t>这个词强调特定折叠模式</a:t>
            </a:r>
            <a:endParaRPr lang="en-US" altLang="zh-CN" sz="3200" dirty="0">
              <a:solidFill>
                <a:srgbClr val="993366"/>
              </a:solidFill>
              <a:latin typeface="Arial" panose="020B0604020202020204" pitchFamily="34" charset="0"/>
            </a:endParaRPr>
          </a:p>
          <a:p>
            <a:pPr eaLnBrk="1" hangingPunct="1"/>
            <a:endParaRPr lang="en-US" altLang="zh-CN" sz="3200" dirty="0">
              <a:solidFill>
                <a:srgbClr val="993366"/>
              </a:solidFill>
              <a:latin typeface="Arial" panose="020B0604020202020204" pitchFamily="34" charset="0"/>
            </a:endParaRPr>
          </a:p>
          <a:p>
            <a:pPr eaLnBrk="1" hangingPunct="1"/>
            <a:r>
              <a:rPr lang="zh-CN" altLang="en-US" sz="3200" dirty="0">
                <a:solidFill>
                  <a:srgbClr val="993366"/>
                </a:solidFill>
                <a:latin typeface="Arial" panose="020B0604020202020204" pitchFamily="34" charset="0"/>
              </a:rPr>
              <a:t>“</a:t>
            </a:r>
            <a:r>
              <a:rPr lang="en-US" altLang="zh-CN" sz="3200" dirty="0">
                <a:solidFill>
                  <a:srgbClr val="993366"/>
                </a:solidFill>
                <a:latin typeface="Arial" panose="020B0604020202020204" pitchFamily="34" charset="0"/>
              </a:rPr>
              <a:t>folds”</a:t>
            </a:r>
            <a:r>
              <a:rPr lang="zh-CN" altLang="en-US" sz="3200" dirty="0">
                <a:solidFill>
                  <a:srgbClr val="993366"/>
                </a:solidFill>
                <a:latin typeface="Arial" panose="020B0604020202020204" pitchFamily="34" charset="0"/>
              </a:rPr>
              <a:t>这个词多用于描述更复杂的</a:t>
            </a:r>
            <a:r>
              <a:rPr lang="en-US" altLang="zh-CN" sz="3200" dirty="0">
                <a:solidFill>
                  <a:srgbClr val="993366"/>
                </a:solidFill>
                <a:latin typeface="Arial" panose="020B0604020202020204" pitchFamily="34" charset="0"/>
              </a:rPr>
              <a:t>folding pattern.  </a:t>
            </a:r>
          </a:p>
          <a:p>
            <a:pPr eaLnBrk="1" hangingPunct="1"/>
            <a:endParaRPr lang="en-US" altLang="zh-CN" sz="3200" dirty="0">
              <a:solidFill>
                <a:srgbClr val="993366"/>
              </a:solidFill>
              <a:latin typeface="Arial" panose="020B0604020202020204" pitchFamily="34" charset="0"/>
            </a:endParaRPr>
          </a:p>
          <a:p>
            <a:pPr eaLnBrk="1" hangingPunct="1"/>
            <a:r>
              <a:rPr lang="zh-CN" altLang="en-US" sz="3200" dirty="0">
                <a:solidFill>
                  <a:srgbClr val="993366"/>
                </a:solidFill>
                <a:latin typeface="Arial" panose="020B0604020202020204" pitchFamily="34" charset="0"/>
              </a:rPr>
              <a:t>关于</a:t>
            </a:r>
            <a:r>
              <a:rPr lang="en-US" altLang="zh-CN" sz="3200" dirty="0">
                <a:solidFill>
                  <a:srgbClr val="993366"/>
                </a:solidFill>
                <a:latin typeface="Arial" panose="020B0604020202020204" pitchFamily="34" charset="0"/>
              </a:rPr>
              <a:t>motif, </a:t>
            </a:r>
            <a:r>
              <a:rPr lang="en-US" altLang="zh-CN" sz="3200" dirty="0" err="1">
                <a:solidFill>
                  <a:srgbClr val="993366"/>
                </a:solidFill>
                <a:latin typeface="Arial" panose="020B0604020202020204" pitchFamily="34" charset="0"/>
              </a:rPr>
              <a:t>supersecondary</a:t>
            </a:r>
            <a:r>
              <a:rPr lang="en-US" altLang="zh-CN" sz="3200" dirty="0">
                <a:solidFill>
                  <a:srgbClr val="993366"/>
                </a:solidFill>
                <a:latin typeface="Arial" panose="020B0604020202020204" pitchFamily="34" charset="0"/>
              </a:rPr>
              <a:t> structure</a:t>
            </a:r>
            <a:r>
              <a:rPr lang="zh-CN" altLang="en-US" sz="3200" dirty="0">
                <a:solidFill>
                  <a:srgbClr val="993366"/>
                </a:solidFill>
                <a:latin typeface="Arial" panose="020B0604020202020204" pitchFamily="34" charset="0"/>
              </a:rPr>
              <a:t>与</a:t>
            </a:r>
            <a:r>
              <a:rPr lang="en-US" altLang="zh-CN" sz="3200" dirty="0">
                <a:solidFill>
                  <a:srgbClr val="993366"/>
                </a:solidFill>
                <a:latin typeface="Arial" panose="020B0604020202020204" pitchFamily="34" charset="0"/>
              </a:rPr>
              <a:t>folds</a:t>
            </a:r>
            <a:r>
              <a:rPr lang="zh-CN" altLang="en-US" sz="3200" dirty="0">
                <a:solidFill>
                  <a:srgbClr val="993366"/>
                </a:solidFill>
                <a:latin typeface="Arial" panose="020B0604020202020204" pitchFamily="34" charset="0"/>
              </a:rPr>
              <a:t>，学界仍是各抒己见，并未统一。</a:t>
            </a: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幻灯片图像占位符 1">
            <a:extLst>
              <a:ext uri="{FF2B5EF4-FFF2-40B4-BE49-F238E27FC236}">
                <a16:creationId xmlns:a16="http://schemas.microsoft.com/office/drawing/2014/main" id="{DC3A5B37-E1F9-483F-B9C1-EBBB7328851A}"/>
              </a:ext>
            </a:extLst>
          </p:cNvPr>
          <p:cNvSpPr>
            <a:spLocks noGrp="1" noRot="1" noChangeAspect="1" noChangeArrowheads="1" noTextEdit="1"/>
          </p:cNvSpPr>
          <p:nvPr>
            <p:ph type="sldImg"/>
          </p:nvPr>
        </p:nvSpPr>
        <p:spPr>
          <a:xfrm>
            <a:off x="381000" y="685800"/>
            <a:ext cx="6096000" cy="3429000"/>
          </a:xfrm>
          <a:ln/>
        </p:spPr>
      </p:sp>
      <p:sp>
        <p:nvSpPr>
          <p:cNvPr id="242691" name="备注占位符 2">
            <a:extLst>
              <a:ext uri="{FF2B5EF4-FFF2-40B4-BE49-F238E27FC236}">
                <a16:creationId xmlns:a16="http://schemas.microsoft.com/office/drawing/2014/main" id="{68AFB6B8-CE37-4657-96FE-57657531613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(a) A simple motif, the </a:t>
            </a:r>
            <a:r>
              <a:rPr lang="el-GR" altLang="zh-CN" dirty="0"/>
              <a:t>β</a:t>
            </a:r>
            <a:r>
              <a:rPr lang="en-US" altLang="zh-CN" dirty="0"/>
              <a:t>-</a:t>
            </a:r>
            <a:r>
              <a:rPr lang="el-GR" altLang="zh-CN" dirty="0"/>
              <a:t>α</a:t>
            </a:r>
            <a:r>
              <a:rPr lang="en-US" altLang="zh-CN" dirty="0"/>
              <a:t>-</a:t>
            </a:r>
            <a:r>
              <a:rPr lang="el-GR" altLang="zh-CN" dirty="0"/>
              <a:t>β</a:t>
            </a:r>
            <a:r>
              <a:rPr lang="en-US" altLang="zh-CN" dirty="0"/>
              <a:t> loop. (b) A more elaborate motif, the </a:t>
            </a:r>
            <a:r>
              <a:rPr lang="el-GR" altLang="zh-CN" dirty="0"/>
              <a:t>β</a:t>
            </a:r>
            <a:r>
              <a:rPr lang="en-US" altLang="zh-CN" dirty="0"/>
              <a:t> barrel. This </a:t>
            </a:r>
            <a:r>
              <a:rPr lang="el-GR" altLang="zh-CN" dirty="0"/>
              <a:t>β</a:t>
            </a:r>
            <a:r>
              <a:rPr lang="en-US" altLang="zh-CN" dirty="0"/>
              <a:t> barrel is a single domain of </a:t>
            </a:r>
            <a:r>
              <a:rPr lang="el-GR" altLang="zh-CN" dirty="0"/>
              <a:t>α</a:t>
            </a:r>
            <a:r>
              <a:rPr lang="en-US" altLang="zh-CN" dirty="0"/>
              <a:t>-hemolysin</a:t>
            </a:r>
            <a:r>
              <a:rPr lang="zh-CN" altLang="en-US" dirty="0"/>
              <a:t>溶血素</a:t>
            </a:r>
            <a:r>
              <a:rPr lang="en-US" altLang="zh-CN" dirty="0"/>
              <a:t> (a toxin that kills a cell by creating a hole in its membrane)  from the bacterium Staphylococcus aureus</a:t>
            </a:r>
            <a:r>
              <a:rPr lang="zh-CN" altLang="en-US" b="1" dirty="0"/>
              <a:t>金黄色葡萄球菌</a:t>
            </a:r>
            <a:r>
              <a:rPr lang="en-US" altLang="zh-CN" dirty="0"/>
              <a:t>(derived from PDB ID 7AHL).</a:t>
            </a:r>
          </a:p>
          <a:p>
            <a:endParaRPr lang="en-US" altLang="zh-CN" dirty="0">
              <a:solidFill>
                <a:srgbClr val="993366"/>
              </a:solidFill>
              <a:latin typeface="Arial" panose="020B0604020202020204" pitchFamily="34" charset="0"/>
            </a:endParaRPr>
          </a:p>
          <a:p>
            <a:r>
              <a:rPr lang="en-US" altLang="zh-CN" dirty="0">
                <a:solidFill>
                  <a:srgbClr val="993366"/>
                </a:solidFill>
                <a:latin typeface="Arial" panose="020B0604020202020204" pitchFamily="34" charset="0"/>
              </a:rPr>
              <a:t>Motif</a:t>
            </a:r>
            <a:r>
              <a:rPr lang="zh-CN" altLang="en-US" dirty="0">
                <a:solidFill>
                  <a:srgbClr val="993366"/>
                </a:solidFill>
                <a:latin typeface="Arial" panose="020B0604020202020204" pitchFamily="34" charset="0"/>
              </a:rPr>
              <a:t>可以很小，也可以非常大，比如</a:t>
            </a:r>
            <a:r>
              <a:rPr lang="el-GR" altLang="zh-CN" dirty="0">
                <a:solidFill>
                  <a:srgbClr val="993366"/>
                </a:solidFill>
                <a:latin typeface="Arial" panose="020B0604020202020204" pitchFamily="34" charset="0"/>
              </a:rPr>
              <a:t>β </a:t>
            </a:r>
            <a:r>
              <a:rPr lang="en-US" altLang="zh-CN" dirty="0">
                <a:solidFill>
                  <a:srgbClr val="993366"/>
                </a:solidFill>
                <a:latin typeface="Arial" panose="020B0604020202020204" pitchFamily="34" charset="0"/>
              </a:rPr>
              <a:t>barrel</a:t>
            </a:r>
            <a:r>
              <a:rPr lang="zh-CN" altLang="en-US" dirty="0">
                <a:solidFill>
                  <a:srgbClr val="993366"/>
                </a:solidFill>
                <a:latin typeface="Arial" panose="020B0604020202020204" pitchFamily="34" charset="0"/>
              </a:rPr>
              <a:t>桶状结构，甚至一个大的</a:t>
            </a:r>
            <a:r>
              <a:rPr lang="en-US" altLang="zh-CN" dirty="0">
                <a:solidFill>
                  <a:srgbClr val="993366"/>
                </a:solidFill>
                <a:latin typeface="Arial" panose="020B0604020202020204" pitchFamily="34" charset="0"/>
              </a:rPr>
              <a:t>motif </a:t>
            </a:r>
            <a:r>
              <a:rPr lang="zh-CN" altLang="en-US" dirty="0">
                <a:solidFill>
                  <a:srgbClr val="993366"/>
                </a:solidFill>
                <a:latin typeface="Arial" panose="020B0604020202020204" pitchFamily="34" charset="0"/>
              </a:rPr>
              <a:t>就形成整个蛋白质。  </a:t>
            </a:r>
            <a:endParaRPr lang="en-US" altLang="zh-CN" dirty="0">
              <a:solidFill>
                <a:srgbClr val="993366"/>
              </a:solidFill>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solidFill>
                <a:srgbClr val="993366"/>
              </a:solidFill>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solidFill>
                  <a:srgbClr val="993366"/>
                </a:solidFill>
                <a:latin typeface="Arial" panose="020B0604020202020204" pitchFamily="34" charset="0"/>
              </a:rPr>
              <a:t>绿色荧光蛋白就是个</a:t>
            </a:r>
            <a:r>
              <a:rPr lang="el-GR" altLang="zh-CN" dirty="0">
                <a:solidFill>
                  <a:schemeClr val="tx1"/>
                </a:solidFill>
                <a:latin typeface="Arial" panose="020B0604020202020204" pitchFamily="34" charset="0"/>
                <a:ea typeface="宋体" panose="02010600030101010101" pitchFamily="2" charset="-122"/>
              </a:rPr>
              <a:t>β</a:t>
            </a:r>
            <a:r>
              <a:rPr lang="zh-CN" altLang="en-US" dirty="0">
                <a:solidFill>
                  <a:schemeClr val="tx1"/>
                </a:solidFill>
                <a:latin typeface="Arial" panose="020B0604020202020204" pitchFamily="34" charset="0"/>
                <a:ea typeface="宋体" panose="02010600030101010101" pitchFamily="2" charset="-122"/>
              </a:rPr>
              <a:t>桶结构</a:t>
            </a:r>
            <a:endParaRPr lang="en-US" altLang="zh-CN" dirty="0"/>
          </a:p>
          <a:p>
            <a:endParaRPr lang="en-US" altLang="zh-CN" dirty="0"/>
          </a:p>
        </p:txBody>
      </p:sp>
      <p:sp>
        <p:nvSpPr>
          <p:cNvPr id="242692" name="日期占位符 3">
            <a:extLst>
              <a:ext uri="{FF2B5EF4-FFF2-40B4-BE49-F238E27FC236}">
                <a16:creationId xmlns:a16="http://schemas.microsoft.com/office/drawing/2014/main" id="{A631CB81-22D8-4625-8B92-DA2F51541E49}"/>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70B245F6-B925-484C-8D12-98E7BFC14BCB}"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42693" name="灯片编号占位符 4">
            <a:extLst>
              <a:ext uri="{FF2B5EF4-FFF2-40B4-BE49-F238E27FC236}">
                <a16:creationId xmlns:a16="http://schemas.microsoft.com/office/drawing/2014/main" id="{8490A6C1-6070-41C9-9F1A-32A9E7E73A0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5560CC6-4F1F-4AAA-B5C7-909FC30A473A}" type="slidenum">
              <a:rPr lang="en-US" altLang="zh-CN" sz="1200" smtClean="0">
                <a:latin typeface="Tahoma" panose="020B0604030504040204" pitchFamily="34" charset="0"/>
              </a:rPr>
              <a:pPr/>
              <a:t>102</a:t>
            </a:fld>
            <a:endParaRPr lang="en-US" altLang="zh-CN" sz="1200">
              <a:latin typeface="Tahoma" panose="020B0604030504040204" pitchFamily="34" charset="0"/>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幻灯片图像占位符 1">
            <a:extLst>
              <a:ext uri="{FF2B5EF4-FFF2-40B4-BE49-F238E27FC236}">
                <a16:creationId xmlns:a16="http://schemas.microsoft.com/office/drawing/2014/main" id="{A7E777BE-D502-4DE1-A2CD-AC8BBCC06CC8}"/>
              </a:ext>
            </a:extLst>
          </p:cNvPr>
          <p:cNvSpPr>
            <a:spLocks noGrp="1" noRot="1" noChangeAspect="1" noChangeArrowheads="1" noTextEdit="1"/>
          </p:cNvSpPr>
          <p:nvPr>
            <p:ph type="sldImg"/>
          </p:nvPr>
        </p:nvSpPr>
        <p:spPr>
          <a:xfrm>
            <a:off x="381000" y="685800"/>
            <a:ext cx="6096000" cy="3429000"/>
          </a:xfrm>
          <a:ln/>
        </p:spPr>
      </p:sp>
      <p:sp>
        <p:nvSpPr>
          <p:cNvPr id="244739" name="备注占位符 2">
            <a:extLst>
              <a:ext uri="{FF2B5EF4-FFF2-40B4-BE49-F238E27FC236}">
                <a16:creationId xmlns:a16="http://schemas.microsoft.com/office/drawing/2014/main" id="{05729AAA-FF03-40F4-867F-07924D34EBB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The </a:t>
            </a:r>
            <a:r>
              <a:rPr lang="el-GR" altLang="zh-CN" dirty="0"/>
              <a:t>α</a:t>
            </a:r>
            <a:r>
              <a:rPr lang="en-US" altLang="zh-CN" dirty="0"/>
              <a:t>/</a:t>
            </a:r>
            <a:r>
              <a:rPr lang="el-GR" altLang="zh-CN" dirty="0"/>
              <a:t>β</a:t>
            </a:r>
            <a:r>
              <a:rPr lang="en-US" altLang="zh-CN" dirty="0"/>
              <a:t> barrel is a commonly occurring motif constructed from repetitions of the </a:t>
            </a:r>
            <a:r>
              <a:rPr lang="el-GR" altLang="zh-CN" dirty="0"/>
              <a:t>β</a:t>
            </a:r>
            <a:r>
              <a:rPr lang="en-US" altLang="zh-CN" dirty="0"/>
              <a:t>-</a:t>
            </a:r>
            <a:r>
              <a:rPr lang="el-GR" altLang="zh-CN" dirty="0"/>
              <a:t>α</a:t>
            </a:r>
            <a:r>
              <a:rPr lang="en-US" altLang="zh-CN" dirty="0"/>
              <a:t>-</a:t>
            </a:r>
            <a:r>
              <a:rPr lang="el-GR" altLang="zh-CN" dirty="0"/>
              <a:t>β</a:t>
            </a:r>
            <a:r>
              <a:rPr lang="en-US" altLang="zh-CN" dirty="0"/>
              <a:t> loop motif.     </a:t>
            </a:r>
          </a:p>
          <a:p>
            <a:r>
              <a:rPr lang="zh-CN" altLang="en-US" dirty="0"/>
              <a:t>丙酮酸激酶在结构上有同二聚体和同四聚体两种形式，每个亚基又有四个结构域。</a:t>
            </a:r>
            <a:endParaRPr lang="en-US" altLang="zh-CN" dirty="0"/>
          </a:p>
          <a:p>
            <a:endParaRPr lang="en-US" altLang="zh-CN" dirty="0"/>
          </a:p>
          <a:p>
            <a:r>
              <a:rPr lang="zh-CN" altLang="en-US" dirty="0"/>
              <a:t>教材上只举了部分小模体的例子。 一些相邻的简单的模体可以再组合成大的更复杂的模体。</a:t>
            </a:r>
          </a:p>
          <a:p>
            <a:endParaRPr lang="zh-CN" altLang="en-US" dirty="0"/>
          </a:p>
        </p:txBody>
      </p:sp>
      <p:sp>
        <p:nvSpPr>
          <p:cNvPr id="244740" name="日期占位符 3">
            <a:extLst>
              <a:ext uri="{FF2B5EF4-FFF2-40B4-BE49-F238E27FC236}">
                <a16:creationId xmlns:a16="http://schemas.microsoft.com/office/drawing/2014/main" id="{E16D98B5-6DF7-4594-908E-1E0F28842872}"/>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3E2D943-618A-47B1-A8EC-A4CE94A65A41}"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44741" name="灯片编号占位符 4">
            <a:extLst>
              <a:ext uri="{FF2B5EF4-FFF2-40B4-BE49-F238E27FC236}">
                <a16:creationId xmlns:a16="http://schemas.microsoft.com/office/drawing/2014/main" id="{2EEB4FB3-EBCC-463A-9AE5-41392090FAF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0B94C2E-D803-4DEE-9A04-BBD2F91045A1}" type="slidenum">
              <a:rPr lang="en-US" altLang="zh-CN" sz="1200" smtClean="0">
                <a:latin typeface="Tahoma" panose="020B0604030504040204" pitchFamily="34" charset="0"/>
              </a:rPr>
              <a:pPr/>
              <a:t>103</a:t>
            </a:fld>
            <a:endParaRPr lang="en-US" altLang="zh-CN" sz="1200">
              <a:latin typeface="Tahoma" panose="020B0604030504040204" pitchFamily="34" charset="0"/>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幻灯片图像占位符 1">
            <a:extLst>
              <a:ext uri="{FF2B5EF4-FFF2-40B4-BE49-F238E27FC236}">
                <a16:creationId xmlns:a16="http://schemas.microsoft.com/office/drawing/2014/main" id="{582D04F0-C173-4344-9D35-81E26858D7DB}"/>
              </a:ext>
            </a:extLst>
          </p:cNvPr>
          <p:cNvSpPr>
            <a:spLocks noGrp="1" noRot="1" noChangeAspect="1" noChangeArrowheads="1" noTextEdit="1"/>
          </p:cNvSpPr>
          <p:nvPr>
            <p:ph type="sldImg"/>
          </p:nvPr>
        </p:nvSpPr>
        <p:spPr>
          <a:xfrm>
            <a:off x="381000" y="685800"/>
            <a:ext cx="6096000" cy="3429000"/>
          </a:xfrm>
          <a:ln/>
        </p:spPr>
      </p:sp>
      <p:sp>
        <p:nvSpPr>
          <p:cNvPr id="246787" name="备注占位符 2">
            <a:extLst>
              <a:ext uri="{FF2B5EF4-FFF2-40B4-BE49-F238E27FC236}">
                <a16:creationId xmlns:a16="http://schemas.microsoft.com/office/drawing/2014/main" id="{37A008D8-6651-421C-8663-FB1EEC8CA6C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亮氨酸拉链、锌指结构都是典型的模体，它们执行一定的功能，</a:t>
            </a:r>
            <a:r>
              <a:rPr lang="zh-CN" altLang="en-US" b="1" dirty="0"/>
              <a:t>模体既是结构的单位，又是功能单位</a:t>
            </a:r>
            <a:r>
              <a:rPr lang="zh-CN" altLang="en-US" dirty="0"/>
              <a:t>，他们可直接作为结构域和三级结构的</a:t>
            </a:r>
            <a:r>
              <a:rPr lang="zh-CN" altLang="en-US" b="1" dirty="0"/>
              <a:t>建筑块</a:t>
            </a:r>
            <a:r>
              <a:rPr lang="zh-CN" altLang="en-US" dirty="0"/>
              <a:t>。某些蛋白质因子与</a:t>
            </a:r>
            <a:r>
              <a:rPr lang="en-US" altLang="zh-CN" dirty="0"/>
              <a:t>DNA</a:t>
            </a:r>
            <a:r>
              <a:rPr lang="zh-CN" altLang="en-US" dirty="0"/>
              <a:t>大沟结合靠的就是某些特异的模体。</a:t>
            </a:r>
          </a:p>
        </p:txBody>
      </p:sp>
      <p:sp>
        <p:nvSpPr>
          <p:cNvPr id="246788" name="日期占位符 3">
            <a:extLst>
              <a:ext uri="{FF2B5EF4-FFF2-40B4-BE49-F238E27FC236}">
                <a16:creationId xmlns:a16="http://schemas.microsoft.com/office/drawing/2014/main" id="{94A57567-E511-402C-A01B-7784E625EA43}"/>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FABF34F3-C28A-43D3-AFF4-2AF3927C4237}"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46789" name="灯片编号占位符 4">
            <a:extLst>
              <a:ext uri="{FF2B5EF4-FFF2-40B4-BE49-F238E27FC236}">
                <a16:creationId xmlns:a16="http://schemas.microsoft.com/office/drawing/2014/main" id="{4108A50F-5D9E-4E01-8D5B-58C0781FE68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2CABDAA0-E091-46E9-859B-3774A9E8DAE7}" type="slidenum">
              <a:rPr lang="en-US" altLang="zh-CN" sz="1200" smtClean="0">
                <a:latin typeface="Tahoma" panose="020B0604030504040204" pitchFamily="34" charset="0"/>
              </a:rPr>
              <a:pPr/>
              <a:t>104</a:t>
            </a:fld>
            <a:endParaRPr lang="en-US" altLang="zh-CN" sz="1200">
              <a:latin typeface="Tahoma" panose="020B0604030504040204" pitchFamily="34" charset="0"/>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3">
            <a:extLst>
              <a:ext uri="{FF2B5EF4-FFF2-40B4-BE49-F238E27FC236}">
                <a16:creationId xmlns:a16="http://schemas.microsoft.com/office/drawing/2014/main" id="{A1F736C3-A020-4D86-A953-FA5C271FE29D}"/>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1B8193C-6A24-4ACE-B635-F0C4AAB9E37C}"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48835" name="Rectangle 7">
            <a:extLst>
              <a:ext uri="{FF2B5EF4-FFF2-40B4-BE49-F238E27FC236}">
                <a16:creationId xmlns:a16="http://schemas.microsoft.com/office/drawing/2014/main" id="{A19490C5-F0C1-47C2-931F-10FEF87107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FA2AE7EA-25B3-49C5-8ED7-2889BB60E3B0}" type="slidenum">
              <a:rPr lang="en-US" altLang="zh-CN" sz="1200" smtClean="0">
                <a:latin typeface="Tahoma" panose="020B0604030504040204" pitchFamily="34" charset="0"/>
              </a:rPr>
              <a:pPr/>
              <a:t>105</a:t>
            </a:fld>
            <a:endParaRPr lang="en-US" altLang="zh-CN" sz="1200">
              <a:latin typeface="Tahoma" panose="020B0604030504040204" pitchFamily="34" charset="0"/>
            </a:endParaRPr>
          </a:p>
        </p:txBody>
      </p:sp>
      <p:sp>
        <p:nvSpPr>
          <p:cNvPr id="248836" name="Rectangle 2">
            <a:extLst>
              <a:ext uri="{FF2B5EF4-FFF2-40B4-BE49-F238E27FC236}">
                <a16:creationId xmlns:a16="http://schemas.microsoft.com/office/drawing/2014/main" id="{01B6C479-A8CE-4F30-910C-1DA349BEA436}"/>
              </a:ext>
            </a:extLst>
          </p:cNvPr>
          <p:cNvSpPr>
            <a:spLocks noGrp="1" noRot="1" noChangeAspect="1" noChangeArrowheads="1" noTextEdit="1"/>
          </p:cNvSpPr>
          <p:nvPr>
            <p:ph type="sldImg"/>
          </p:nvPr>
        </p:nvSpPr>
        <p:spPr>
          <a:xfrm>
            <a:off x="381000" y="685800"/>
            <a:ext cx="6096000" cy="3429000"/>
          </a:xfrm>
          <a:ln/>
        </p:spPr>
      </p:sp>
      <p:sp>
        <p:nvSpPr>
          <p:cNvPr id="248837" name="Rectangle 3">
            <a:extLst>
              <a:ext uri="{FF2B5EF4-FFF2-40B4-BE49-F238E27FC236}">
                <a16:creationId xmlns:a16="http://schemas.microsoft.com/office/drawing/2014/main" id="{6DD06614-218D-48EF-8612-B2BA33AE4F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图中均为</a:t>
            </a:r>
            <a:r>
              <a:rPr lang="en-US" altLang="zh-CN" dirty="0"/>
              <a:t>C2H2</a:t>
            </a:r>
            <a:r>
              <a:rPr lang="zh-CN" altLang="en-US" dirty="0"/>
              <a:t>型锌指结构（</a:t>
            </a:r>
            <a:r>
              <a:rPr lang="en-US" altLang="zh-CN" dirty="0"/>
              <a:t>zinc finger) </a:t>
            </a:r>
          </a:p>
          <a:p>
            <a:pPr eaLnBrk="1" hangingPunct="1"/>
            <a:endParaRPr lang="en-US" altLang="zh-CN" dirty="0"/>
          </a:p>
          <a:p>
            <a:pPr eaLnBrk="1" hangingPunct="1"/>
            <a:r>
              <a:rPr lang="zh-CN" altLang="en-US" dirty="0"/>
              <a:t>都涉及特定氨基酸残基的侧链基团与</a:t>
            </a:r>
            <a:r>
              <a:rPr lang="en-US" altLang="zh-CN" dirty="0"/>
              <a:t>Zn</a:t>
            </a:r>
            <a:r>
              <a:rPr lang="en-US" altLang="zh-CN" baseline="30000" dirty="0"/>
              <a:t>2+</a:t>
            </a:r>
            <a:r>
              <a:rPr lang="zh-CN" altLang="en-US" dirty="0"/>
              <a:t>的结合来稳定一种很短的、可自我折叠成“手指”形状的多肽空间构型。</a:t>
            </a:r>
            <a:endParaRPr lang="en-US" altLang="zh-CN"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7">
            <a:extLst>
              <a:ext uri="{FF2B5EF4-FFF2-40B4-BE49-F238E27FC236}">
                <a16:creationId xmlns:a16="http://schemas.microsoft.com/office/drawing/2014/main" id="{4F382AD3-D6C1-4250-BBD3-01497EEB4E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F0188C1-90FF-4494-ABF7-3CD81FA9E7F8}" type="slidenum">
              <a:rPr lang="en-US" altLang="zh-CN" sz="1200" smtClean="0">
                <a:latin typeface="Times New Roman" panose="02020603050405020304" pitchFamily="18" charset="0"/>
              </a:rPr>
              <a:pPr/>
              <a:t>106</a:t>
            </a:fld>
            <a:endParaRPr lang="en-US" altLang="zh-CN" sz="1200">
              <a:latin typeface="Times New Roman" panose="02020603050405020304" pitchFamily="18" charset="0"/>
            </a:endParaRPr>
          </a:p>
        </p:txBody>
      </p:sp>
      <p:sp>
        <p:nvSpPr>
          <p:cNvPr id="252931" name="Rectangle 2">
            <a:extLst>
              <a:ext uri="{FF2B5EF4-FFF2-40B4-BE49-F238E27FC236}">
                <a16:creationId xmlns:a16="http://schemas.microsoft.com/office/drawing/2014/main" id="{BCB2796A-A564-4B88-BDB2-9E5C862ACB3F}"/>
              </a:ext>
            </a:extLst>
          </p:cNvPr>
          <p:cNvSpPr>
            <a:spLocks noGrp="1" noRot="1" noChangeAspect="1" noChangeArrowheads="1" noTextEdit="1"/>
          </p:cNvSpPr>
          <p:nvPr>
            <p:ph type="sldImg"/>
          </p:nvPr>
        </p:nvSpPr>
        <p:spPr>
          <a:xfrm>
            <a:off x="381000" y="685800"/>
            <a:ext cx="6096000" cy="3429000"/>
          </a:xfrm>
          <a:ln/>
        </p:spPr>
      </p:sp>
      <p:sp>
        <p:nvSpPr>
          <p:cNvPr id="252932" name="Rectangle 3">
            <a:extLst>
              <a:ext uri="{FF2B5EF4-FFF2-40B4-BE49-F238E27FC236}">
                <a16:creationId xmlns:a16="http://schemas.microsoft.com/office/drawing/2014/main" id="{794BBFEF-51E3-4983-8A95-3C65387B0C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AP-1 is a </a:t>
            </a:r>
            <a:r>
              <a:rPr lang="en-US" altLang="zh-CN" dirty="0">
                <a:solidFill>
                  <a:srgbClr val="FFFF00"/>
                </a:solidFill>
              </a:rPr>
              <a:t>dimer</a:t>
            </a:r>
            <a:r>
              <a:rPr lang="en-US" altLang="zh-CN" dirty="0"/>
              <a:t> formed by Jun and its homologous protein Fos.</a:t>
            </a:r>
            <a:r>
              <a:rPr lang="en-US" altLang="zh-CN" dirty="0">
                <a:latin typeface="Arial" panose="020B0604020202020204" pitchFamily="34" charset="0"/>
              </a:rPr>
              <a:t>  </a:t>
            </a:r>
            <a:r>
              <a:rPr lang="en-US" altLang="zh-CN" dirty="0"/>
              <a:t> It contains a </a:t>
            </a:r>
            <a:r>
              <a:rPr lang="en-US" altLang="zh-CN" b="1" dirty="0"/>
              <a:t>leucine zipper motif </a:t>
            </a:r>
            <a:r>
              <a:rPr lang="en-US" altLang="zh-CN" dirty="0"/>
              <a:t>where two a helices look like a zipper with </a:t>
            </a:r>
            <a:r>
              <a:rPr lang="en-US" altLang="zh-CN" dirty="0">
                <a:solidFill>
                  <a:srgbClr val="FFFF00"/>
                </a:solidFill>
              </a:rPr>
              <a:t>leucine residues (green color)</a:t>
            </a:r>
            <a:r>
              <a:rPr lang="en-US" altLang="zh-CN" dirty="0"/>
              <a:t> lining on the inside of the zipper.</a:t>
            </a:r>
          </a:p>
          <a:p>
            <a:pPr eaLnBrk="1" hangingPunct="1"/>
            <a:endParaRPr lang="en-US" altLang="zh-CN" dirty="0"/>
          </a:p>
          <a:p>
            <a:pPr eaLnBrk="1" hangingPunct="1"/>
            <a:r>
              <a:rPr lang="zh-CN" altLang="en-US" dirty="0"/>
              <a:t>该二聚体的另一端肽段富含碱性氨基酸残基，借其正电荷与</a:t>
            </a:r>
            <a:r>
              <a:rPr lang="en-US" altLang="zh-CN" dirty="0"/>
              <a:t>DNA</a:t>
            </a:r>
            <a:r>
              <a:rPr lang="zh-CN" altLang="en-US" dirty="0"/>
              <a:t>双螺旋链上带负电荷的磷酸基团结合。若不形成二聚体则对</a:t>
            </a:r>
            <a:r>
              <a:rPr lang="en-US" altLang="zh-CN" dirty="0"/>
              <a:t>DNA</a:t>
            </a:r>
            <a:r>
              <a:rPr lang="zh-CN" altLang="en-US" dirty="0"/>
              <a:t>的亲和结合力明显降低。</a:t>
            </a:r>
          </a:p>
          <a:p>
            <a:pPr eaLnBrk="1" hangingPunct="1"/>
            <a:endParaRPr lang="en-US" altLang="zh-CN"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幻灯片图像占位符 1">
            <a:extLst>
              <a:ext uri="{FF2B5EF4-FFF2-40B4-BE49-F238E27FC236}">
                <a16:creationId xmlns:a16="http://schemas.microsoft.com/office/drawing/2014/main" id="{72CA149A-10A9-47D8-BFD7-A2025DE1491C}"/>
              </a:ext>
            </a:extLst>
          </p:cNvPr>
          <p:cNvSpPr>
            <a:spLocks noGrp="1" noRot="1" noChangeAspect="1" noChangeArrowheads="1" noTextEdit="1"/>
          </p:cNvSpPr>
          <p:nvPr>
            <p:ph type="sldImg"/>
          </p:nvPr>
        </p:nvSpPr>
        <p:spPr>
          <a:xfrm>
            <a:off x="381000" y="685800"/>
            <a:ext cx="6096000" cy="3429000"/>
          </a:xfrm>
          <a:ln/>
        </p:spPr>
      </p:sp>
      <p:sp>
        <p:nvSpPr>
          <p:cNvPr id="250883" name="备注占位符 2">
            <a:extLst>
              <a:ext uri="{FF2B5EF4-FFF2-40B4-BE49-F238E27FC236}">
                <a16:creationId xmlns:a16="http://schemas.microsoft.com/office/drawing/2014/main" id="{4534BCB7-0ACD-4B1F-88D2-EBD3AB1D9B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这种结构特点使</a:t>
            </a:r>
            <a:r>
              <a:rPr lang="en-US" altLang="zh-CN" dirty="0"/>
              <a:t>EF</a:t>
            </a:r>
            <a:r>
              <a:rPr lang="zh-CN" altLang="en-US" dirty="0"/>
              <a:t>手单元可以快速与</a:t>
            </a:r>
            <a:r>
              <a:rPr lang="en-US" altLang="zh-CN" dirty="0"/>
              <a:t>Ca</a:t>
            </a:r>
            <a:r>
              <a:rPr lang="en-US" altLang="zh-CN" baseline="30000" dirty="0"/>
              <a:t>2+</a:t>
            </a:r>
            <a:r>
              <a:rPr lang="zh-CN" altLang="en-US" dirty="0"/>
              <a:t>结合或分离</a:t>
            </a:r>
            <a:r>
              <a:rPr lang="en-US" altLang="zh-CN" dirty="0"/>
              <a:t>, </a:t>
            </a:r>
            <a:r>
              <a:rPr lang="zh-CN" altLang="en-US" dirty="0"/>
              <a:t>从而对细胞内</a:t>
            </a:r>
            <a:r>
              <a:rPr lang="en-US" altLang="zh-CN" dirty="0"/>
              <a:t>Ca</a:t>
            </a:r>
            <a:r>
              <a:rPr lang="en-US" altLang="zh-CN" baseline="30000" dirty="0"/>
              <a:t>2+</a:t>
            </a:r>
            <a:r>
              <a:rPr lang="zh-CN" altLang="en-US" dirty="0"/>
              <a:t>浓度的变化做出快速的反应</a:t>
            </a:r>
            <a:r>
              <a:rPr lang="en-US" altLang="zh-CN" dirty="0"/>
              <a:t>, </a:t>
            </a:r>
            <a:r>
              <a:rPr lang="zh-CN" altLang="en-US" dirty="0"/>
              <a:t>这可能是</a:t>
            </a:r>
            <a:r>
              <a:rPr lang="en-US" altLang="zh-CN" dirty="0"/>
              <a:t>Ca</a:t>
            </a:r>
            <a:r>
              <a:rPr lang="en-US" altLang="zh-CN" baseline="30000" dirty="0"/>
              <a:t>2+</a:t>
            </a:r>
            <a:r>
              <a:rPr lang="zh-CN" altLang="en-US" dirty="0"/>
              <a:t>信号解码的一个重要特征</a:t>
            </a:r>
            <a:r>
              <a:rPr lang="en-US" altLang="zh-CN" dirty="0"/>
              <a:t>. </a:t>
            </a:r>
          </a:p>
          <a:p>
            <a:endParaRPr lang="en-US" altLang="zh-CN" dirty="0"/>
          </a:p>
          <a:p>
            <a:r>
              <a:rPr lang="en-US" altLang="zh-CN" dirty="0"/>
              <a:t>EF-hands also appear in each structural domain of the signaling protein calmodulin and in the muscle protein troponin-C.</a:t>
            </a:r>
          </a:p>
          <a:p>
            <a:endParaRPr lang="en-US" altLang="zh-CN" dirty="0"/>
          </a:p>
          <a:p>
            <a:r>
              <a:rPr lang="zh-CN" altLang="en-US" dirty="0"/>
              <a:t>目前已经鉴定了一些</a:t>
            </a:r>
            <a:r>
              <a:rPr lang="en-US" altLang="zh-CN" dirty="0"/>
              <a:t>Ca</a:t>
            </a:r>
            <a:r>
              <a:rPr lang="en-US" altLang="zh-CN" baseline="30000" dirty="0"/>
              <a:t>2+</a:t>
            </a:r>
            <a:r>
              <a:rPr lang="zh-CN" altLang="en-US" dirty="0"/>
              <a:t>结合结构</a:t>
            </a:r>
            <a:r>
              <a:rPr lang="en-US" altLang="zh-CN" dirty="0"/>
              <a:t>, </a:t>
            </a:r>
            <a:r>
              <a:rPr lang="zh-CN" altLang="en-US" dirty="0"/>
              <a:t>其中最常见的是</a:t>
            </a:r>
            <a:r>
              <a:rPr lang="en-US" altLang="zh-CN" dirty="0"/>
              <a:t>EF</a:t>
            </a:r>
            <a:r>
              <a:rPr lang="zh-CN" altLang="en-US" dirty="0"/>
              <a:t>手单元</a:t>
            </a:r>
            <a:r>
              <a:rPr lang="en-US" altLang="zh-CN" dirty="0"/>
              <a:t>(EF-hand motif).</a:t>
            </a:r>
            <a:endParaRPr lang="zh-CN" altLang="en-US" dirty="0"/>
          </a:p>
        </p:txBody>
      </p:sp>
      <p:sp>
        <p:nvSpPr>
          <p:cNvPr id="250884" name="日期占位符 3">
            <a:extLst>
              <a:ext uri="{FF2B5EF4-FFF2-40B4-BE49-F238E27FC236}">
                <a16:creationId xmlns:a16="http://schemas.microsoft.com/office/drawing/2014/main" id="{3F4E8578-8A07-45CA-8EF2-5A060D0D9481}"/>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1567B940-C7F9-4DE6-AF34-A6504FF92393}"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50885" name="灯片编号占位符 4">
            <a:extLst>
              <a:ext uri="{FF2B5EF4-FFF2-40B4-BE49-F238E27FC236}">
                <a16:creationId xmlns:a16="http://schemas.microsoft.com/office/drawing/2014/main" id="{D275E79B-BF2A-4453-814B-0A1DE24488A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07D4085-1E83-44DF-9FC7-D8A84D5025BB}" type="slidenum">
              <a:rPr lang="en-US" altLang="zh-CN" sz="1200" smtClean="0">
                <a:latin typeface="Tahoma" panose="020B0604030504040204" pitchFamily="34" charset="0"/>
              </a:rPr>
              <a:pPr/>
              <a:t>107</a:t>
            </a:fld>
            <a:endParaRPr lang="en-US" altLang="zh-CN" sz="1200">
              <a:latin typeface="Tahoma" panose="020B0604030504040204" pitchFamily="34" charset="0"/>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3">
            <a:extLst>
              <a:ext uri="{FF2B5EF4-FFF2-40B4-BE49-F238E27FC236}">
                <a16:creationId xmlns:a16="http://schemas.microsoft.com/office/drawing/2014/main" id="{2AC34471-3F7D-4403-82EE-6BD57A1A96C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F7D1D11F-9056-42BC-B1C2-AD56024ACEDA}"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57027" name="Rectangle 7">
            <a:extLst>
              <a:ext uri="{FF2B5EF4-FFF2-40B4-BE49-F238E27FC236}">
                <a16:creationId xmlns:a16="http://schemas.microsoft.com/office/drawing/2014/main" id="{4638F8C7-AE48-4D0A-B25C-59A92B6035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791A505A-0C08-485D-A3F9-65A0E947AF95}" type="slidenum">
              <a:rPr lang="en-US" altLang="zh-CN" sz="1200" smtClean="0">
                <a:latin typeface="Tahoma" panose="020B0604030504040204" pitchFamily="34" charset="0"/>
              </a:rPr>
              <a:pPr/>
              <a:t>108</a:t>
            </a:fld>
            <a:endParaRPr lang="en-US" altLang="zh-CN" sz="1200">
              <a:latin typeface="Tahoma" panose="020B0604030504040204" pitchFamily="34" charset="0"/>
            </a:endParaRPr>
          </a:p>
        </p:txBody>
      </p:sp>
      <p:sp>
        <p:nvSpPr>
          <p:cNvPr id="257028" name="Rectangle 2">
            <a:extLst>
              <a:ext uri="{FF2B5EF4-FFF2-40B4-BE49-F238E27FC236}">
                <a16:creationId xmlns:a16="http://schemas.microsoft.com/office/drawing/2014/main" id="{0BB26674-AAED-449B-8A78-7A900317C159}"/>
              </a:ext>
            </a:extLst>
          </p:cNvPr>
          <p:cNvSpPr>
            <a:spLocks noGrp="1" noRot="1" noChangeAspect="1" noChangeArrowheads="1" noTextEdit="1"/>
          </p:cNvSpPr>
          <p:nvPr>
            <p:ph type="sldImg"/>
          </p:nvPr>
        </p:nvSpPr>
        <p:spPr>
          <a:xfrm>
            <a:off x="381000" y="685800"/>
            <a:ext cx="6096000" cy="3429000"/>
          </a:xfrm>
          <a:ln/>
        </p:spPr>
      </p:sp>
      <p:sp>
        <p:nvSpPr>
          <p:cNvPr id="257029" name="Rectangle 3">
            <a:extLst>
              <a:ext uri="{FF2B5EF4-FFF2-40B4-BE49-F238E27FC236}">
                <a16:creationId xmlns:a16="http://schemas.microsoft.com/office/drawing/2014/main" id="{60674F0E-48A2-4404-B85F-E996C05EB4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zh-CN" altLang="en-US" sz="1200" dirty="0">
                <a:latin typeface="Times New Roman" panose="02020603050405020304" pitchFamily="18" charset="0"/>
                <a:ea typeface="黑体" panose="02010609060101010101" pitchFamily="49" charset="-122"/>
              </a:rPr>
              <a:t>通常每条多肽链都有完整的三级结构</a:t>
            </a:r>
            <a:r>
              <a:rPr lang="en-US" altLang="zh-CN" dirty="0">
                <a:latin typeface="宋体" panose="02010600030101010101" pitchFamily="2" charset="-122"/>
              </a:rPr>
              <a:t>, </a:t>
            </a:r>
            <a:r>
              <a:rPr lang="zh-CN" altLang="en-US" dirty="0">
                <a:latin typeface="宋体" panose="02010600030101010101" pitchFamily="2" charset="-122"/>
              </a:rPr>
              <a:t>在三级结构中，原来一级结构相距很远的原子通过次级键的作用可以相聚在一起。 </a:t>
            </a:r>
            <a:endParaRPr lang="en-US" altLang="zh-CN" dirty="0">
              <a:latin typeface="宋体" panose="02010600030101010101" pitchFamily="2" charset="-122"/>
            </a:endParaRPr>
          </a:p>
          <a:p>
            <a:pPr eaLnBrk="1" hangingPunct="1"/>
            <a:endParaRPr lang="en-US" altLang="zh-CN" dirty="0">
              <a:latin typeface="宋体" panose="02010600030101010101" pitchFamily="2" charset="-122"/>
            </a:endParaRPr>
          </a:p>
          <a:p>
            <a:pPr eaLnBrk="1" hangingPunct="1"/>
            <a:endParaRPr lang="en-US" altLang="zh-CN" dirty="0">
              <a:latin typeface="宋体" panose="02010600030101010101" pitchFamily="2" charset="-122"/>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3">
            <a:extLst>
              <a:ext uri="{FF2B5EF4-FFF2-40B4-BE49-F238E27FC236}">
                <a16:creationId xmlns:a16="http://schemas.microsoft.com/office/drawing/2014/main" id="{43F218DF-E5F5-4F40-8585-0FFEEA9280A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DA98FC88-62DB-4E55-B43B-202225D19A15}"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59075" name="Rectangle 7">
            <a:extLst>
              <a:ext uri="{FF2B5EF4-FFF2-40B4-BE49-F238E27FC236}">
                <a16:creationId xmlns:a16="http://schemas.microsoft.com/office/drawing/2014/main" id="{E4D5DFBD-1598-424B-A39F-8E657B7E6F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14FC4CB8-CF4C-4352-9AD5-7E9CC4F837E4}" type="slidenum">
              <a:rPr lang="en-US" altLang="zh-CN" sz="1200" smtClean="0">
                <a:latin typeface="Tahoma" panose="020B0604030504040204" pitchFamily="34" charset="0"/>
              </a:rPr>
              <a:pPr/>
              <a:t>109</a:t>
            </a:fld>
            <a:endParaRPr lang="en-US" altLang="zh-CN" sz="1200">
              <a:latin typeface="Tahoma" panose="020B0604030504040204" pitchFamily="34" charset="0"/>
            </a:endParaRPr>
          </a:p>
        </p:txBody>
      </p:sp>
      <p:sp>
        <p:nvSpPr>
          <p:cNvPr id="259076" name="Rectangle 2">
            <a:extLst>
              <a:ext uri="{FF2B5EF4-FFF2-40B4-BE49-F238E27FC236}">
                <a16:creationId xmlns:a16="http://schemas.microsoft.com/office/drawing/2014/main" id="{73C3691D-9BC7-452B-A838-8587841CFFDA}"/>
              </a:ext>
            </a:extLst>
          </p:cNvPr>
          <p:cNvSpPr>
            <a:spLocks noGrp="1" noRot="1" noChangeAspect="1" noChangeArrowheads="1" noTextEdit="1"/>
          </p:cNvSpPr>
          <p:nvPr>
            <p:ph type="sldImg"/>
          </p:nvPr>
        </p:nvSpPr>
        <p:spPr>
          <a:xfrm>
            <a:off x="381000" y="685800"/>
            <a:ext cx="6096000" cy="3429000"/>
          </a:xfrm>
          <a:ln/>
        </p:spPr>
      </p:sp>
      <p:sp>
        <p:nvSpPr>
          <p:cNvPr id="259077" name="Rectangle 3">
            <a:extLst>
              <a:ext uri="{FF2B5EF4-FFF2-40B4-BE49-F238E27FC236}">
                <a16:creationId xmlns:a16="http://schemas.microsoft.com/office/drawing/2014/main" id="{84FA3895-E6B0-4C14-860F-112DFE78A5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1958</a:t>
            </a:r>
            <a:r>
              <a:rPr lang="zh-CN" altLang="en-US" dirty="0"/>
              <a:t>年解析出三维结构       </a:t>
            </a:r>
            <a:r>
              <a:rPr lang="en-US" altLang="zh-CN" dirty="0"/>
              <a:t>PDB ID 1MBO</a:t>
            </a:r>
          </a:p>
          <a:p>
            <a:pPr eaLnBrk="1" hangingPunct="1"/>
            <a:endParaRPr lang="en-US" altLang="zh-CN" dirty="0"/>
          </a:p>
          <a:p>
            <a:pPr eaLnBrk="1" hangingPunct="1"/>
            <a:r>
              <a:rPr lang="zh-CN" altLang="en-US" dirty="0"/>
              <a:t>肌红蛋白分子的折叠非常紧密，其内部只能容纳</a:t>
            </a:r>
            <a:r>
              <a:rPr lang="en-US" altLang="zh-CN" dirty="0"/>
              <a:t>4</a:t>
            </a:r>
            <a:r>
              <a:rPr lang="zh-CN" altLang="en-US" dirty="0"/>
              <a:t>个水分子。形成</a:t>
            </a:r>
            <a:r>
              <a:rPr lang="zh-CN" altLang="en-US" b="1" dirty="0"/>
              <a:t>紧密的疏水核心是球状蛋白质的典型特征</a:t>
            </a:r>
            <a:r>
              <a:rPr lang="zh-CN" altLang="en-US" dirty="0"/>
              <a:t>。</a:t>
            </a:r>
            <a:endParaRPr lang="en-US" altLang="zh-CN" dirty="0"/>
          </a:p>
          <a:p>
            <a:pPr eaLnBrk="1" hangingPunct="1"/>
            <a:endParaRPr lang="en-US" altLang="zh-CN" dirty="0"/>
          </a:p>
          <a:p>
            <a:pPr eaLnBrk="1" hangingPunct="1"/>
            <a:r>
              <a:rPr lang="zh-CN" altLang="en-US" dirty="0"/>
              <a:t>正常人的血液中很少，主要由肾脏代谢并排泄，当心肌或横纹肌有损伤时，肌红蛋白便释放入血中，血清中的肌红蛋白即可明显升高。 </a:t>
            </a:r>
          </a:p>
          <a:p>
            <a:pPr eaLnBrk="1" hangingPunct="1">
              <a:spcBef>
                <a:spcPct val="0"/>
              </a:spcBef>
            </a:pPr>
            <a:r>
              <a:rPr lang="zh-CN" altLang="en-US" dirty="0"/>
              <a:t>肌红蛋白临床意义： 测定血清肌红蛋白可作为</a:t>
            </a:r>
            <a:r>
              <a:rPr lang="zh-CN" altLang="en-US" b="1" dirty="0"/>
              <a:t>早期诊断心肌梗死</a:t>
            </a:r>
            <a:r>
              <a:rPr lang="zh-CN" altLang="en-US" dirty="0"/>
              <a:t>的指标。在</a:t>
            </a:r>
            <a:r>
              <a:rPr lang="zh-CN" altLang="en-US" b="1" dirty="0"/>
              <a:t>心肌梗死后</a:t>
            </a:r>
            <a:r>
              <a:rPr lang="en-US" altLang="zh-CN" b="1" dirty="0"/>
              <a:t>1.5h</a:t>
            </a:r>
            <a:r>
              <a:rPr lang="zh-CN" altLang="en-US" b="1" dirty="0"/>
              <a:t>即可增高</a:t>
            </a:r>
            <a:r>
              <a:rPr lang="zh-CN" altLang="en-US" dirty="0"/>
              <a:t>，但</a:t>
            </a:r>
            <a:r>
              <a:rPr lang="en-US" altLang="zh-CN" dirty="0"/>
              <a:t>1</a:t>
            </a:r>
            <a:r>
              <a:rPr lang="zh-CN" altLang="en-US" dirty="0"/>
              <a:t>～</a:t>
            </a:r>
            <a:r>
              <a:rPr lang="en-US" altLang="zh-CN" dirty="0"/>
              <a:t>2d</a:t>
            </a:r>
            <a:r>
              <a:rPr lang="zh-CN" altLang="en-US" dirty="0"/>
              <a:t>内即恢复正常。</a:t>
            </a:r>
          </a:p>
          <a:p>
            <a:pPr eaLnBrk="1" hangingPunct="1"/>
            <a:endParaRPr lang="en-US" altLang="zh-CN"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3">
            <a:extLst>
              <a:ext uri="{FF2B5EF4-FFF2-40B4-BE49-F238E27FC236}">
                <a16:creationId xmlns:a16="http://schemas.microsoft.com/office/drawing/2014/main" id="{F190EFFF-1E99-4459-BE51-8A1647DE268C}"/>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D1CB08D-5373-4E74-A5F5-073B91245C15}"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61123" name="Rectangle 7">
            <a:extLst>
              <a:ext uri="{FF2B5EF4-FFF2-40B4-BE49-F238E27FC236}">
                <a16:creationId xmlns:a16="http://schemas.microsoft.com/office/drawing/2014/main" id="{976A156A-E87B-408F-A08C-8FDDAAFADB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FBFBC6D-6E85-4C8F-8710-B3E7C227DA5E}" type="slidenum">
              <a:rPr lang="en-US" altLang="zh-CN" sz="1200" smtClean="0">
                <a:latin typeface="Tahoma" panose="020B0604030504040204" pitchFamily="34" charset="0"/>
              </a:rPr>
              <a:pPr/>
              <a:t>110</a:t>
            </a:fld>
            <a:endParaRPr lang="en-US" altLang="zh-CN" sz="1200">
              <a:latin typeface="Tahoma" panose="020B0604030504040204" pitchFamily="34" charset="0"/>
            </a:endParaRPr>
          </a:p>
        </p:txBody>
      </p:sp>
      <p:sp>
        <p:nvSpPr>
          <p:cNvPr id="261124" name="Rectangle 2">
            <a:extLst>
              <a:ext uri="{FF2B5EF4-FFF2-40B4-BE49-F238E27FC236}">
                <a16:creationId xmlns:a16="http://schemas.microsoft.com/office/drawing/2014/main" id="{F63FD34C-A03D-40DB-8B02-06F48AB9C034}"/>
              </a:ext>
            </a:extLst>
          </p:cNvPr>
          <p:cNvSpPr>
            <a:spLocks noGrp="1" noRot="1" noChangeAspect="1" noChangeArrowheads="1" noTextEdit="1"/>
          </p:cNvSpPr>
          <p:nvPr>
            <p:ph type="sldImg"/>
          </p:nvPr>
        </p:nvSpPr>
        <p:spPr>
          <a:xfrm>
            <a:off x="381000" y="685800"/>
            <a:ext cx="6096000" cy="3429000"/>
          </a:xfrm>
          <a:ln/>
        </p:spPr>
      </p:sp>
      <p:sp>
        <p:nvSpPr>
          <p:cNvPr id="261125" name="Rectangle 3">
            <a:extLst>
              <a:ext uri="{FF2B5EF4-FFF2-40B4-BE49-F238E27FC236}">
                <a16:creationId xmlns:a16="http://schemas.microsoft.com/office/drawing/2014/main" id="{5B9681EE-FB7E-4159-B5D3-8D3F2BD150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宋体" panose="02010600030101010101" pitchFamily="2" charset="-122"/>
              </a:rPr>
              <a:t>最左为</a:t>
            </a:r>
            <a:r>
              <a:rPr lang="en-US" altLang="zh-CN" dirty="0">
                <a:latin typeface="宋体" panose="02010600030101010101" pitchFamily="2" charset="-122"/>
              </a:rPr>
              <a:t>Richardson diagram(</a:t>
            </a:r>
            <a:r>
              <a:rPr lang="zh-CN" altLang="en-US" dirty="0">
                <a:latin typeface="宋体" panose="02010600030101010101" pitchFamily="2" charset="-122"/>
              </a:rPr>
              <a:t>即</a:t>
            </a:r>
            <a:r>
              <a:rPr lang="en-US" altLang="zh-CN" dirty="0">
                <a:latin typeface="宋体" panose="02010600030101010101" pitchFamily="2" charset="-122"/>
              </a:rPr>
              <a:t>ribbon diagram) </a:t>
            </a:r>
            <a:r>
              <a:rPr lang="zh-CN" altLang="en-US" dirty="0">
                <a:latin typeface="宋体" panose="02010600030101010101" pitchFamily="2" charset="-122"/>
              </a:rPr>
              <a:t>，最常用</a:t>
            </a:r>
            <a:endParaRPr lang="en-US" altLang="zh-CN" dirty="0">
              <a:latin typeface="宋体" panose="02010600030101010101" pitchFamily="2" charset="-122"/>
            </a:endParaRPr>
          </a:p>
          <a:p>
            <a:pPr eaLnBrk="1" hangingPunct="1"/>
            <a:endParaRPr lang="en-US" altLang="zh-CN" dirty="0">
              <a:latin typeface="宋体" panose="02010600030101010101" pitchFamily="2" charset="-122"/>
            </a:endParaRPr>
          </a:p>
          <a:p>
            <a:pPr eaLnBrk="1" hangingPunct="1"/>
            <a:r>
              <a:rPr lang="zh-CN" altLang="en-US" dirty="0">
                <a:latin typeface="宋体" panose="02010600030101010101" pitchFamily="2" charset="-122"/>
              </a:rPr>
              <a:t>多肽链经过如此盘曲后，可溶于水，又可形成某些发挥生物学功能的特定区域，例如酶的活性中心。 </a:t>
            </a:r>
            <a:r>
              <a:rPr lang="zh-CN" altLang="en-US" dirty="0"/>
              <a:t> </a:t>
            </a:r>
          </a:p>
          <a:p>
            <a:pPr eaLnBrk="1" hangingPunct="1"/>
            <a:endParaRPr lang="en-US" altLang="zh-CN" dirty="0">
              <a:latin typeface="楷体_GB2312" pitchFamily="49" charset="-122"/>
              <a:ea typeface="楷体_GB2312" pitchFamily="49" charset="-122"/>
            </a:endParaRPr>
          </a:p>
          <a:p>
            <a:pPr eaLnBrk="1" hangingPunct="1"/>
            <a:r>
              <a:rPr lang="zh-CN" altLang="en-US" dirty="0">
                <a:latin typeface="楷体_GB2312" pitchFamily="49" charset="-122"/>
                <a:ea typeface="楷体_GB2312" pitchFamily="49" charset="-122"/>
              </a:rPr>
              <a:t>只具备一级结构二级结构的多肽或蛋白质不具备生物学功能，</a:t>
            </a:r>
            <a:endParaRPr lang="en-US" altLang="zh-CN" dirty="0">
              <a:latin typeface="楷体_GB2312" pitchFamily="49" charset="-122"/>
              <a:ea typeface="楷体_GB2312" pitchFamily="49" charset="-122"/>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3">
            <a:extLst>
              <a:ext uri="{FF2B5EF4-FFF2-40B4-BE49-F238E27FC236}">
                <a16:creationId xmlns:a16="http://schemas.microsoft.com/office/drawing/2014/main" id="{6DA76750-7384-44BA-AFAE-A3E26A842CED}"/>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308B1956-A8CC-4521-BB89-636A438EC88F}"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63171" name="Rectangle 7">
            <a:extLst>
              <a:ext uri="{FF2B5EF4-FFF2-40B4-BE49-F238E27FC236}">
                <a16:creationId xmlns:a16="http://schemas.microsoft.com/office/drawing/2014/main" id="{647476E1-160E-47ED-A2F9-49BA0A1631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D5772985-A6F8-4A6A-84C5-C977A7B4C5C6}" type="slidenum">
              <a:rPr lang="en-US" altLang="zh-CN" sz="1200" smtClean="0">
                <a:latin typeface="Tahoma" panose="020B0604030504040204" pitchFamily="34" charset="0"/>
              </a:rPr>
              <a:pPr/>
              <a:t>111</a:t>
            </a:fld>
            <a:endParaRPr lang="en-US" altLang="zh-CN" sz="1200">
              <a:latin typeface="Tahoma" panose="020B0604030504040204" pitchFamily="34" charset="0"/>
            </a:endParaRPr>
          </a:p>
        </p:txBody>
      </p:sp>
      <p:sp>
        <p:nvSpPr>
          <p:cNvPr id="263172" name="Rectangle 2">
            <a:extLst>
              <a:ext uri="{FF2B5EF4-FFF2-40B4-BE49-F238E27FC236}">
                <a16:creationId xmlns:a16="http://schemas.microsoft.com/office/drawing/2014/main" id="{D8D0C982-D636-40CA-B333-01C809AA1466}"/>
              </a:ext>
            </a:extLst>
          </p:cNvPr>
          <p:cNvSpPr>
            <a:spLocks noGrp="1" noRot="1" noChangeAspect="1" noChangeArrowheads="1" noTextEdit="1"/>
          </p:cNvSpPr>
          <p:nvPr>
            <p:ph type="sldImg"/>
          </p:nvPr>
        </p:nvSpPr>
        <p:spPr>
          <a:xfrm>
            <a:off x="381000" y="685800"/>
            <a:ext cx="6096000" cy="3429000"/>
          </a:xfrm>
          <a:ln/>
        </p:spPr>
      </p:sp>
      <p:sp>
        <p:nvSpPr>
          <p:cNvPr id="263173" name="Rectangle 3">
            <a:extLst>
              <a:ext uri="{FF2B5EF4-FFF2-40B4-BE49-F238E27FC236}">
                <a16:creationId xmlns:a16="http://schemas.microsoft.com/office/drawing/2014/main" id="{DFA4B595-84A0-4B50-8A13-F6E7827FD1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900" b="1" dirty="0">
                <a:latin typeface="楷体_GB2312" pitchFamily="49" charset="-122"/>
                <a:ea typeface="楷体_GB2312" pitchFamily="49" charset="-122"/>
              </a:rPr>
              <a:t>疏水键是球状蛋白形成稳定构象的主要作用力。</a:t>
            </a:r>
            <a:endParaRPr lang="en-US" altLang="zh-CN" sz="900" b="1" dirty="0">
              <a:latin typeface="楷体_GB2312" pitchFamily="49" charset="-122"/>
              <a:ea typeface="楷体_GB2312" pitchFamily="49" charset="-122"/>
            </a:endParaRPr>
          </a:p>
          <a:p>
            <a:pPr eaLnBrk="1" hangingPunct="1"/>
            <a:endParaRPr lang="en-US" altLang="zh-CN" sz="900" dirty="0">
              <a:latin typeface="楷体_GB2312" pitchFamily="49" charset="-122"/>
              <a:ea typeface="楷体_GB2312" pitchFamily="49" charset="-122"/>
            </a:endParaRPr>
          </a:p>
          <a:p>
            <a:pPr eaLnBrk="1" hangingPunct="1"/>
            <a:r>
              <a:rPr lang="zh-CN" altLang="en-US" sz="900" dirty="0">
                <a:latin typeface="楷体_GB2312" pitchFamily="49" charset="-122"/>
                <a:ea typeface="楷体_GB2312" pitchFamily="49" charset="-122"/>
              </a:rPr>
              <a:t>三、四级结构层面，纤维状蛋白与球状蛋白差异大，教材中相应描述均针对球状蛋白，不一定适合纤维状蛋白。</a:t>
            </a:r>
          </a:p>
          <a:p>
            <a:pPr eaLnBrk="1" hangingPunct="1"/>
            <a:endParaRPr lang="zh-CN" altLang="en-US" sz="900" dirty="0">
              <a:latin typeface="楷体_GB2312" pitchFamily="49" charset="-122"/>
              <a:ea typeface="楷体_GB2312" pitchFamily="49" charset="-122"/>
            </a:endParaRPr>
          </a:p>
          <a:p>
            <a:pPr eaLnBrk="1" hangingPunct="1"/>
            <a:endParaRPr lang="zh-CN" altLang="en-US" sz="900" dirty="0">
              <a:latin typeface="楷体_GB2312" pitchFamily="49" charset="-122"/>
              <a:ea typeface="楷体_GB2312" pitchFamily="49" charset="-122"/>
            </a:endParaRPr>
          </a:p>
          <a:p>
            <a:pPr eaLnBrk="1" hangingPunct="1"/>
            <a:r>
              <a:rPr lang="zh-CN" altLang="en-US" dirty="0"/>
              <a:t>蛋白质折叠是一个释放能量的过程，是热力学上有利的。</a:t>
            </a:r>
            <a:endParaRPr lang="en-US" altLang="zh-CN" dirty="0"/>
          </a:p>
          <a:p>
            <a:pPr eaLnBrk="1" hangingPunct="1"/>
            <a:endParaRPr lang="en-US" altLang="zh-CN" dirty="0"/>
          </a:p>
          <a:p>
            <a:pPr eaLnBrk="1" hangingPunct="1"/>
            <a:r>
              <a:rPr lang="zh-CN" altLang="en-US" dirty="0"/>
              <a:t>约有</a:t>
            </a:r>
            <a:r>
              <a:rPr lang="en-US" altLang="zh-CN" dirty="0"/>
              <a:t>30%</a:t>
            </a:r>
            <a:r>
              <a:rPr lang="zh-CN" altLang="en-US" dirty="0"/>
              <a:t>的蛋白质在多肽链合成后处于半折叠或非折叠状态，通常与特定配体结合后才发生折叠。</a:t>
            </a:r>
          </a:p>
          <a:p>
            <a:pPr eaLnBrk="1" hangingPunct="1"/>
            <a:endParaRPr lang="en-US" altLang="zh-CN"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3">
            <a:extLst>
              <a:ext uri="{FF2B5EF4-FFF2-40B4-BE49-F238E27FC236}">
                <a16:creationId xmlns:a16="http://schemas.microsoft.com/office/drawing/2014/main" id="{1873BA11-0590-432B-99E4-1122C9F0FDA1}"/>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F5B09E54-047E-4493-B964-D5276F21A94E}"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65219" name="Rectangle 7">
            <a:extLst>
              <a:ext uri="{FF2B5EF4-FFF2-40B4-BE49-F238E27FC236}">
                <a16:creationId xmlns:a16="http://schemas.microsoft.com/office/drawing/2014/main" id="{EB492B39-DA7B-49A2-B920-9AD81E9E28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3506D69-125C-4E49-8202-16FDB62F22EB}" type="slidenum">
              <a:rPr lang="en-US" altLang="zh-CN" sz="1200" smtClean="0">
                <a:latin typeface="Tahoma" panose="020B0604030504040204" pitchFamily="34" charset="0"/>
              </a:rPr>
              <a:pPr/>
              <a:t>112</a:t>
            </a:fld>
            <a:endParaRPr lang="en-US" altLang="zh-CN" sz="1200">
              <a:latin typeface="Tahoma" panose="020B0604030504040204" pitchFamily="34" charset="0"/>
            </a:endParaRPr>
          </a:p>
        </p:txBody>
      </p:sp>
      <p:sp>
        <p:nvSpPr>
          <p:cNvPr id="265220" name="Rectangle 2">
            <a:extLst>
              <a:ext uri="{FF2B5EF4-FFF2-40B4-BE49-F238E27FC236}">
                <a16:creationId xmlns:a16="http://schemas.microsoft.com/office/drawing/2014/main" id="{C20BFF7C-AD98-4512-89A0-B26B871ED745}"/>
              </a:ext>
            </a:extLst>
          </p:cNvPr>
          <p:cNvSpPr>
            <a:spLocks noGrp="1" noRot="1" noChangeAspect="1" noChangeArrowheads="1" noTextEdit="1"/>
          </p:cNvSpPr>
          <p:nvPr>
            <p:ph type="sldImg"/>
          </p:nvPr>
        </p:nvSpPr>
        <p:spPr>
          <a:xfrm>
            <a:off x="381000" y="685800"/>
            <a:ext cx="6096000" cy="3429000"/>
          </a:xfrm>
          <a:ln/>
        </p:spPr>
      </p:sp>
      <p:sp>
        <p:nvSpPr>
          <p:cNvPr id="265221" name="Rectangle 3">
            <a:extLst>
              <a:ext uri="{FF2B5EF4-FFF2-40B4-BE49-F238E27FC236}">
                <a16:creationId xmlns:a16="http://schemas.microsoft.com/office/drawing/2014/main" id="{6746C7F6-0A57-4E5C-8F1A-995858CB31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z="7200" b="1" baseline="30000">
              <a:solidFill>
                <a:schemeClr val="bg1"/>
              </a:solidFill>
              <a:ea typeface="黑体" panose="02010609060101010101" pitchFamily="49" charset="-122"/>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3">
            <a:extLst>
              <a:ext uri="{FF2B5EF4-FFF2-40B4-BE49-F238E27FC236}">
                <a16:creationId xmlns:a16="http://schemas.microsoft.com/office/drawing/2014/main" id="{62C86AEF-CA1A-48EA-8035-E4043A3C941C}"/>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7FC27E7F-0427-4DAD-9491-D80E130D1F99}"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67267" name="Rectangle 7">
            <a:extLst>
              <a:ext uri="{FF2B5EF4-FFF2-40B4-BE49-F238E27FC236}">
                <a16:creationId xmlns:a16="http://schemas.microsoft.com/office/drawing/2014/main" id="{25284444-60ED-4371-91A5-C9010789D5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B0554D13-E72B-4224-8CD5-82ADFB5FA30C}" type="slidenum">
              <a:rPr lang="en-US" altLang="zh-CN" sz="1200" smtClean="0">
                <a:latin typeface="Tahoma" panose="020B0604030504040204" pitchFamily="34" charset="0"/>
              </a:rPr>
              <a:pPr/>
              <a:t>113</a:t>
            </a:fld>
            <a:endParaRPr lang="en-US" altLang="zh-CN" sz="1200">
              <a:latin typeface="Tahoma" panose="020B0604030504040204" pitchFamily="34" charset="0"/>
            </a:endParaRPr>
          </a:p>
        </p:txBody>
      </p:sp>
      <p:sp>
        <p:nvSpPr>
          <p:cNvPr id="267268" name="Rectangle 2">
            <a:extLst>
              <a:ext uri="{FF2B5EF4-FFF2-40B4-BE49-F238E27FC236}">
                <a16:creationId xmlns:a16="http://schemas.microsoft.com/office/drawing/2014/main" id="{5E3E96F7-42F7-4631-B577-74B36B9254F5}"/>
              </a:ext>
            </a:extLst>
          </p:cNvPr>
          <p:cNvSpPr>
            <a:spLocks noGrp="1" noRot="1" noChangeAspect="1" noChangeArrowheads="1" noTextEdit="1"/>
          </p:cNvSpPr>
          <p:nvPr>
            <p:ph type="sldImg"/>
          </p:nvPr>
        </p:nvSpPr>
        <p:spPr>
          <a:xfrm>
            <a:off x="381000" y="685800"/>
            <a:ext cx="6096000" cy="3429000"/>
          </a:xfrm>
          <a:ln/>
        </p:spPr>
      </p:sp>
      <p:sp>
        <p:nvSpPr>
          <p:cNvPr id="267269" name="Rectangle 3">
            <a:extLst>
              <a:ext uri="{FF2B5EF4-FFF2-40B4-BE49-F238E27FC236}">
                <a16:creationId xmlns:a16="http://schemas.microsoft.com/office/drawing/2014/main" id="{8386D2A3-E712-4F91-B308-E11BD878AD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50000"/>
              </a:spcBef>
            </a:pPr>
            <a:r>
              <a:rPr lang="en-US" altLang="zh-CN" dirty="0">
                <a:solidFill>
                  <a:srgbClr val="FF0000"/>
                </a:solidFill>
              </a:rPr>
              <a:t>Troponin C</a:t>
            </a:r>
            <a:r>
              <a:rPr lang="zh-CN" altLang="en-US" dirty="0">
                <a:solidFill>
                  <a:srgbClr val="FF0000"/>
                </a:solidFill>
              </a:rPr>
              <a:t>（肌钙蛋白</a:t>
            </a:r>
            <a:r>
              <a:rPr lang="en-US" altLang="zh-CN" dirty="0">
                <a:solidFill>
                  <a:srgbClr val="FF0000"/>
                </a:solidFill>
              </a:rPr>
              <a:t>C</a:t>
            </a:r>
            <a:r>
              <a:rPr lang="zh-CN" altLang="en-US" dirty="0">
                <a:solidFill>
                  <a:srgbClr val="FF0000"/>
                </a:solidFill>
              </a:rPr>
              <a:t>） </a:t>
            </a:r>
            <a:r>
              <a:rPr lang="en-US" altLang="zh-CN" dirty="0">
                <a:solidFill>
                  <a:srgbClr val="FF0000"/>
                </a:solidFill>
              </a:rPr>
              <a:t>contains four calcium-binding EF hands </a:t>
            </a:r>
            <a:r>
              <a:rPr lang="zh-CN" altLang="en-US" dirty="0">
                <a:solidFill>
                  <a:srgbClr val="FF0000"/>
                </a:solidFill>
              </a:rPr>
              <a:t>  一个肌钙蛋白</a:t>
            </a:r>
            <a:r>
              <a:rPr lang="en-US" altLang="zh-CN" dirty="0">
                <a:solidFill>
                  <a:srgbClr val="FF0000"/>
                </a:solidFill>
              </a:rPr>
              <a:t>C</a:t>
            </a:r>
            <a:r>
              <a:rPr lang="zh-CN" altLang="en-US" dirty="0">
                <a:solidFill>
                  <a:srgbClr val="FF0000"/>
                </a:solidFill>
              </a:rPr>
              <a:t>分子可结合</a:t>
            </a:r>
            <a:r>
              <a:rPr lang="en-US" altLang="zh-CN" dirty="0">
                <a:solidFill>
                  <a:srgbClr val="FF0000"/>
                </a:solidFill>
              </a:rPr>
              <a:t>4</a:t>
            </a:r>
            <a:r>
              <a:rPr lang="zh-CN" altLang="en-US" dirty="0">
                <a:solidFill>
                  <a:srgbClr val="FF0000"/>
                </a:solidFill>
              </a:rPr>
              <a:t>个钙离子。</a:t>
            </a:r>
            <a:endParaRPr lang="en-US" altLang="zh-CN" dirty="0">
              <a:solidFill>
                <a:srgbClr val="FF0000"/>
              </a:solidFill>
            </a:endParaRPr>
          </a:p>
          <a:p>
            <a:pPr eaLnBrk="1" hangingPunct="1">
              <a:spcBef>
                <a:spcPct val="50000"/>
              </a:spcBef>
            </a:pPr>
            <a:endParaRPr lang="en-US" altLang="zh-CN" dirty="0">
              <a:solidFill>
                <a:srgbClr val="FF0000"/>
              </a:solidFill>
            </a:endParaRPr>
          </a:p>
          <a:p>
            <a:pPr eaLnBrk="1" hangingPunct="1">
              <a:spcBef>
                <a:spcPct val="50000"/>
              </a:spcBef>
            </a:pPr>
            <a:r>
              <a:rPr lang="zh-CN" altLang="en-US" dirty="0">
                <a:solidFill>
                  <a:srgbClr val="FF0000"/>
                </a:solidFill>
              </a:rPr>
              <a:t>结构域（</a:t>
            </a:r>
            <a:r>
              <a:rPr lang="en-US" altLang="zh-CN" dirty="0">
                <a:solidFill>
                  <a:srgbClr val="FF0000"/>
                </a:solidFill>
              </a:rPr>
              <a:t>domain</a:t>
            </a:r>
            <a:r>
              <a:rPr lang="zh-CN" altLang="en-US" dirty="0">
                <a:solidFill>
                  <a:srgbClr val="FF0000"/>
                </a:solidFill>
              </a:rPr>
              <a:t>）： 较大的蛋白质分子中形成的某些在空间上可以辨别的结构，往往是球状压缩区或纤维状压缩区。它们</a:t>
            </a:r>
            <a:r>
              <a:rPr lang="zh-CN" altLang="en-US" b="1" dirty="0">
                <a:solidFill>
                  <a:srgbClr val="FF0000"/>
                </a:solidFill>
              </a:rPr>
              <a:t>既是结构单位，又是功能单位</a:t>
            </a:r>
            <a:r>
              <a:rPr lang="zh-CN" altLang="en-US" dirty="0">
                <a:solidFill>
                  <a:srgbClr val="FF0000"/>
                </a:solidFill>
              </a:rPr>
              <a:t>。</a:t>
            </a:r>
            <a:endParaRPr lang="en-US" altLang="zh-CN" dirty="0">
              <a:solidFill>
                <a:srgbClr val="FF0000"/>
              </a:solidFill>
            </a:endParaRPr>
          </a:p>
          <a:p>
            <a:pPr eaLnBrk="1" hangingPunct="1">
              <a:spcBef>
                <a:spcPct val="50000"/>
              </a:spcBef>
            </a:pPr>
            <a:endParaRPr lang="en-US" altLang="zh-CN" dirty="0">
              <a:solidFill>
                <a:srgbClr val="FF0000"/>
              </a:solidFill>
            </a:endParaRPr>
          </a:p>
          <a:p>
            <a:pPr eaLnBrk="1" hangingPunct="1">
              <a:spcBef>
                <a:spcPct val="50000"/>
              </a:spcBef>
            </a:pPr>
            <a:r>
              <a:rPr lang="en-US" altLang="zh-CN" dirty="0">
                <a:solidFill>
                  <a:srgbClr val="FF0000"/>
                </a:solidFill>
              </a:rPr>
              <a:t>In many cases, a domain from a large protein will retain its native three-dimensional structure even when separated (for example, by proteolytic cleavage) from the remainder of the polypeptide chain.</a:t>
            </a:r>
          </a:p>
          <a:p>
            <a:pPr eaLnBrk="1" hangingPunct="1">
              <a:spcBef>
                <a:spcPct val="50000"/>
              </a:spcBef>
            </a:pPr>
            <a:r>
              <a:rPr lang="en-US" altLang="zh-CN" b="1" dirty="0">
                <a:solidFill>
                  <a:srgbClr val="FF0000"/>
                </a:solidFill>
              </a:rPr>
              <a:t>More commonly, extensive contacts between domains make individual domains hard to discern.</a:t>
            </a:r>
          </a:p>
          <a:p>
            <a:pPr eaLnBrk="1" hangingPunct="1">
              <a:spcBef>
                <a:spcPct val="50000"/>
              </a:spcBef>
            </a:pPr>
            <a:endParaRPr lang="en-US" altLang="zh-CN" dirty="0">
              <a:solidFill>
                <a:srgbClr val="FF0000"/>
              </a:solidFill>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3">
            <a:extLst>
              <a:ext uri="{FF2B5EF4-FFF2-40B4-BE49-F238E27FC236}">
                <a16:creationId xmlns:a16="http://schemas.microsoft.com/office/drawing/2014/main" id="{03B6BBC2-33F7-47BC-99ED-FD7EE7270DA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782727B7-6E22-4270-AEB2-0416CF8A5A92}"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71363" name="Rectangle 7">
            <a:extLst>
              <a:ext uri="{FF2B5EF4-FFF2-40B4-BE49-F238E27FC236}">
                <a16:creationId xmlns:a16="http://schemas.microsoft.com/office/drawing/2014/main" id="{51F39335-BF2F-4B63-B813-16DEAE7ED9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96A3B4A7-1801-4F63-9E41-2A01A3CB49A6}" type="slidenum">
              <a:rPr lang="en-US" altLang="zh-CN" sz="1200" smtClean="0">
                <a:latin typeface="Tahoma" panose="020B0604030504040204" pitchFamily="34" charset="0"/>
              </a:rPr>
              <a:pPr/>
              <a:t>114</a:t>
            </a:fld>
            <a:endParaRPr lang="en-US" altLang="zh-CN" sz="1200">
              <a:latin typeface="Tahoma" panose="020B0604030504040204" pitchFamily="34" charset="0"/>
            </a:endParaRPr>
          </a:p>
        </p:txBody>
      </p:sp>
      <p:sp>
        <p:nvSpPr>
          <p:cNvPr id="271364" name="Rectangle 2">
            <a:extLst>
              <a:ext uri="{FF2B5EF4-FFF2-40B4-BE49-F238E27FC236}">
                <a16:creationId xmlns:a16="http://schemas.microsoft.com/office/drawing/2014/main" id="{B3AE38F7-2D28-4254-9FC2-DB371048F632}"/>
              </a:ext>
            </a:extLst>
          </p:cNvPr>
          <p:cNvSpPr>
            <a:spLocks noGrp="1" noRot="1" noChangeAspect="1" noChangeArrowheads="1" noTextEdit="1"/>
          </p:cNvSpPr>
          <p:nvPr>
            <p:ph type="sldImg"/>
          </p:nvPr>
        </p:nvSpPr>
        <p:spPr>
          <a:xfrm>
            <a:off x="381000" y="685800"/>
            <a:ext cx="6096000" cy="3429000"/>
          </a:xfrm>
          <a:ln/>
        </p:spPr>
      </p:sp>
      <p:sp>
        <p:nvSpPr>
          <p:cNvPr id="271365" name="Rectangle 3">
            <a:extLst>
              <a:ext uri="{FF2B5EF4-FFF2-40B4-BE49-F238E27FC236}">
                <a16:creationId xmlns:a16="http://schemas.microsoft.com/office/drawing/2014/main" id="{87ECBDC5-A164-40A4-9FBF-20962A149AE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50000"/>
              </a:spcBef>
            </a:pPr>
            <a:r>
              <a:rPr lang="en-US" altLang="zh-CN" b="1" dirty="0">
                <a:solidFill>
                  <a:srgbClr val="FF0000"/>
                </a:solidFill>
              </a:rPr>
              <a:t>FN</a:t>
            </a:r>
            <a:r>
              <a:rPr lang="zh-CN" altLang="en-US" b="1" dirty="0">
                <a:solidFill>
                  <a:srgbClr val="FF0000"/>
                </a:solidFill>
              </a:rPr>
              <a:t>的每个亚单位的蛋白组成若干个球形结构域</a:t>
            </a:r>
            <a:r>
              <a:rPr lang="en-US" altLang="zh-CN" dirty="0">
                <a:solidFill>
                  <a:srgbClr val="FF0000"/>
                </a:solidFill>
              </a:rPr>
              <a:t>, </a:t>
            </a:r>
            <a:r>
              <a:rPr lang="zh-CN" altLang="en-US" dirty="0">
                <a:solidFill>
                  <a:srgbClr val="FF0000"/>
                </a:solidFill>
              </a:rPr>
              <a:t>各结构域之间由对胰蛋白酶敏感的肽链连接，因此可通过胰蛋白酶的水解作用分离这些结构域研究它们的功能。每个</a:t>
            </a:r>
            <a:r>
              <a:rPr lang="en-US" altLang="zh-CN" dirty="0">
                <a:solidFill>
                  <a:srgbClr val="FF0000"/>
                </a:solidFill>
              </a:rPr>
              <a:t>FN</a:t>
            </a:r>
            <a:r>
              <a:rPr lang="zh-CN" altLang="en-US" dirty="0">
                <a:solidFill>
                  <a:srgbClr val="FF0000"/>
                </a:solidFill>
              </a:rPr>
              <a:t>亚基上有与胶原、细胞表面受体、血纤蛋白和硫酸蛋白多糖高亲和结合的位点。</a:t>
            </a:r>
            <a:endParaRPr lang="en-US" altLang="zh-CN" dirty="0">
              <a:solidFill>
                <a:srgbClr val="FF0000"/>
              </a:solidFill>
            </a:endParaRPr>
          </a:p>
          <a:p>
            <a:pPr eaLnBrk="1" hangingPunct="1">
              <a:spcBef>
                <a:spcPct val="50000"/>
              </a:spcBef>
            </a:pPr>
            <a:endParaRPr lang="en-US" altLang="zh-CN" dirty="0">
              <a:solidFill>
                <a:srgbClr val="FF0000"/>
              </a:solidFill>
            </a:endParaRPr>
          </a:p>
          <a:p>
            <a:pPr eaLnBrk="1" hangingPunct="1">
              <a:spcBef>
                <a:spcPct val="50000"/>
              </a:spcBef>
            </a:pPr>
            <a:r>
              <a:rPr lang="zh-CN" altLang="en-US" dirty="0">
                <a:solidFill>
                  <a:srgbClr val="FF0000"/>
                </a:solidFill>
              </a:rPr>
              <a:t>多结构域蛋白质中的结构域经常由基因的相应外显子编码。 </a:t>
            </a:r>
            <a:endParaRPr lang="en-US" altLang="zh-CN" dirty="0">
              <a:solidFill>
                <a:srgbClr val="FF0000"/>
              </a:solidFill>
            </a:endParaRPr>
          </a:p>
          <a:p>
            <a:pPr eaLnBrk="1" hangingPunct="1">
              <a:spcBef>
                <a:spcPct val="50000"/>
              </a:spcBef>
            </a:pPr>
            <a:endParaRPr kumimoji="0" lang="en-US" altLang="zh-CN" sz="2800" dirty="0">
              <a:solidFill>
                <a:srgbClr val="000099"/>
              </a:solidFill>
              <a:latin typeface="Tahoma" panose="020B0604030504040204" pitchFamily="34" charset="0"/>
              <a:ea typeface="华文楷体" panose="02010600040101010101" pitchFamily="2" charset="-122"/>
            </a:endParaRPr>
          </a:p>
          <a:p>
            <a:pPr eaLnBrk="1" hangingPunct="1"/>
            <a:endParaRPr kumimoji="0" lang="en-US" altLang="zh-CN"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幻灯片图像占位符 1">
            <a:extLst>
              <a:ext uri="{FF2B5EF4-FFF2-40B4-BE49-F238E27FC236}">
                <a16:creationId xmlns:a16="http://schemas.microsoft.com/office/drawing/2014/main" id="{704AB84C-3439-4088-B58E-1E60A99A6160}"/>
              </a:ext>
            </a:extLst>
          </p:cNvPr>
          <p:cNvSpPr>
            <a:spLocks noGrp="1" noRot="1" noChangeAspect="1" noChangeArrowheads="1" noTextEdit="1"/>
          </p:cNvSpPr>
          <p:nvPr>
            <p:ph type="sldImg"/>
          </p:nvPr>
        </p:nvSpPr>
        <p:spPr>
          <a:xfrm>
            <a:off x="381000" y="685800"/>
            <a:ext cx="6096000" cy="3429000"/>
          </a:xfrm>
          <a:ln/>
        </p:spPr>
      </p:sp>
      <p:sp>
        <p:nvSpPr>
          <p:cNvPr id="275459" name="备注占位符 2">
            <a:extLst>
              <a:ext uri="{FF2B5EF4-FFF2-40B4-BE49-F238E27FC236}">
                <a16:creationId xmlns:a16="http://schemas.microsoft.com/office/drawing/2014/main" id="{6B9A7AA7-ED64-4CC0-AD90-A1F95E2E90F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Crystallographic structure of the SH2 domain. The structure consists of a large beta sheet (green) flanked by two alpha-helices (orange and blue)</a:t>
            </a:r>
          </a:p>
          <a:p>
            <a:endParaRPr lang="en-US" altLang="zh-CN" dirty="0"/>
          </a:p>
          <a:p>
            <a:r>
              <a:rPr lang="en-US" altLang="zh-CN" dirty="0" err="1"/>
              <a:t>Src</a:t>
            </a:r>
            <a:r>
              <a:rPr lang="en-US" altLang="zh-CN" dirty="0"/>
              <a:t>:  </a:t>
            </a:r>
            <a:r>
              <a:rPr lang="zh-CN" altLang="en-US" dirty="0"/>
              <a:t>发音为</a:t>
            </a:r>
            <a:r>
              <a:rPr lang="en-US" altLang="zh-CN" dirty="0"/>
              <a:t> sark</a:t>
            </a:r>
          </a:p>
          <a:p>
            <a:endParaRPr lang="en-US" altLang="zh-CN" dirty="0"/>
          </a:p>
          <a:p>
            <a:endParaRPr lang="en-US" altLang="zh-CN" dirty="0"/>
          </a:p>
        </p:txBody>
      </p:sp>
      <p:sp>
        <p:nvSpPr>
          <p:cNvPr id="275460" name="日期占位符 3">
            <a:extLst>
              <a:ext uri="{FF2B5EF4-FFF2-40B4-BE49-F238E27FC236}">
                <a16:creationId xmlns:a16="http://schemas.microsoft.com/office/drawing/2014/main" id="{11595E6E-F2F5-4B54-A1E1-81DFA79A8B13}"/>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BF88A0B7-0AA5-4D7A-BB15-5A2E55EA2E4F}"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75461" name="灯片编号占位符 4">
            <a:extLst>
              <a:ext uri="{FF2B5EF4-FFF2-40B4-BE49-F238E27FC236}">
                <a16:creationId xmlns:a16="http://schemas.microsoft.com/office/drawing/2014/main" id="{75366911-2B60-479C-84C6-B488567B096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9962D9C-8313-4543-8A1A-946DDB77C316}" type="slidenum">
              <a:rPr lang="en-US" altLang="zh-CN" sz="1200" smtClean="0">
                <a:latin typeface="Tahoma" panose="020B0604030504040204" pitchFamily="34" charset="0"/>
              </a:rPr>
              <a:pPr/>
              <a:t>115</a:t>
            </a:fld>
            <a:endParaRPr lang="en-US" altLang="zh-CN" sz="1200">
              <a:latin typeface="Tahoma" panose="020B0604030504040204" pitchFamily="34" charset="0"/>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幻灯片图像占位符 1">
            <a:extLst>
              <a:ext uri="{FF2B5EF4-FFF2-40B4-BE49-F238E27FC236}">
                <a16:creationId xmlns:a16="http://schemas.microsoft.com/office/drawing/2014/main" id="{1B9ECBC8-A5BD-435C-918E-53DB57F15322}"/>
              </a:ext>
            </a:extLst>
          </p:cNvPr>
          <p:cNvSpPr>
            <a:spLocks noGrp="1" noRot="1" noChangeAspect="1" noChangeArrowheads="1" noTextEdit="1"/>
          </p:cNvSpPr>
          <p:nvPr>
            <p:ph type="sldImg"/>
          </p:nvPr>
        </p:nvSpPr>
        <p:spPr>
          <a:xfrm>
            <a:off x="381000" y="685800"/>
            <a:ext cx="6096000" cy="3429000"/>
          </a:xfrm>
          <a:ln/>
        </p:spPr>
      </p:sp>
      <p:sp>
        <p:nvSpPr>
          <p:cNvPr id="277507" name="备注占位符 2">
            <a:extLst>
              <a:ext uri="{FF2B5EF4-FFF2-40B4-BE49-F238E27FC236}">
                <a16:creationId xmlns:a16="http://schemas.microsoft.com/office/drawing/2014/main" id="{8828AD8A-7E81-4C70-9476-36DEF9C2E87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结构域可看作是球状蛋白质的独立折叠单位，有较为独立的三维空间结构，在蛋白质中也可以相对独立地发生位置的变动（某个结构域作为一个整体相对于蛋白质其它部分的位移）。</a:t>
            </a:r>
            <a:endParaRPr lang="en-US" altLang="zh-CN" dirty="0"/>
          </a:p>
          <a:p>
            <a:endParaRPr lang="en-US" altLang="zh-CN" dirty="0"/>
          </a:p>
          <a:p>
            <a:r>
              <a:rPr lang="zh-CN" altLang="en-US" dirty="0"/>
              <a:t>肌红蛋白的结构域也可称为一种模体，即</a:t>
            </a:r>
            <a:r>
              <a:rPr lang="en-US" altLang="zh-CN" dirty="0"/>
              <a:t>globin fold. </a:t>
            </a:r>
            <a:endParaRPr lang="zh-CN" altLang="en-US" dirty="0"/>
          </a:p>
        </p:txBody>
      </p:sp>
      <p:sp>
        <p:nvSpPr>
          <p:cNvPr id="277508" name="日期占位符 3">
            <a:extLst>
              <a:ext uri="{FF2B5EF4-FFF2-40B4-BE49-F238E27FC236}">
                <a16:creationId xmlns:a16="http://schemas.microsoft.com/office/drawing/2014/main" id="{DB991A5A-9B19-469D-B7EF-12E89863CFC2}"/>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2F1D7E62-6B6E-459D-9844-F85454DF3065}"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77509" name="灯片编号占位符 4">
            <a:extLst>
              <a:ext uri="{FF2B5EF4-FFF2-40B4-BE49-F238E27FC236}">
                <a16:creationId xmlns:a16="http://schemas.microsoft.com/office/drawing/2014/main" id="{24E0EB5C-7BD9-44D9-A9A6-AFA124CF551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085CF788-BECC-4F98-8E57-FED2C0AA00EB}" type="slidenum">
              <a:rPr lang="en-US" altLang="zh-CN" sz="1200" smtClean="0">
                <a:latin typeface="Tahoma" panose="020B0604030504040204" pitchFamily="34" charset="0"/>
              </a:rPr>
              <a:pPr/>
              <a:t>116</a:t>
            </a:fld>
            <a:endParaRPr lang="en-US" altLang="zh-CN" sz="1200">
              <a:latin typeface="Tahoma" panose="020B0604030504040204" pitchFamily="34" charset="0"/>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幻灯片图像占位符 1">
            <a:extLst>
              <a:ext uri="{FF2B5EF4-FFF2-40B4-BE49-F238E27FC236}">
                <a16:creationId xmlns:a16="http://schemas.microsoft.com/office/drawing/2014/main" id="{1C83874F-3D9F-45C3-AB6C-C55ECE9C3A14}"/>
              </a:ext>
            </a:extLst>
          </p:cNvPr>
          <p:cNvSpPr>
            <a:spLocks noGrp="1" noRot="1" noChangeAspect="1" noChangeArrowheads="1" noTextEdit="1"/>
          </p:cNvSpPr>
          <p:nvPr>
            <p:ph type="sldImg"/>
          </p:nvPr>
        </p:nvSpPr>
        <p:spPr>
          <a:xfrm>
            <a:off x="381000" y="685800"/>
            <a:ext cx="6096000" cy="3429000"/>
          </a:xfrm>
          <a:ln/>
        </p:spPr>
      </p:sp>
      <p:sp>
        <p:nvSpPr>
          <p:cNvPr id="279555" name="备注占位符 2">
            <a:extLst>
              <a:ext uri="{FF2B5EF4-FFF2-40B4-BE49-F238E27FC236}">
                <a16:creationId xmlns:a16="http://schemas.microsoft.com/office/drawing/2014/main" id="{F3347400-F4D6-4E4E-8133-08F4E890BB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Domain</a:t>
            </a:r>
            <a:r>
              <a:rPr lang="zh-CN" altLang="en-US" dirty="0"/>
              <a:t>和 </a:t>
            </a:r>
            <a:r>
              <a:rPr lang="en-US" altLang="zh-CN" dirty="0"/>
              <a:t>motif</a:t>
            </a:r>
            <a:r>
              <a:rPr lang="zh-CN" altLang="en-US" dirty="0"/>
              <a:t>的概念不限于蛋白质， 也适用于核酸以及其它生物大分子，比如上图可以自我剪接的</a:t>
            </a:r>
            <a:r>
              <a:rPr lang="en-US" altLang="zh-CN" dirty="0"/>
              <a:t>rRNA</a:t>
            </a:r>
            <a:endParaRPr lang="zh-CN" altLang="en-US" dirty="0"/>
          </a:p>
        </p:txBody>
      </p:sp>
      <p:sp>
        <p:nvSpPr>
          <p:cNvPr id="279556" name="日期占位符 3">
            <a:extLst>
              <a:ext uri="{FF2B5EF4-FFF2-40B4-BE49-F238E27FC236}">
                <a16:creationId xmlns:a16="http://schemas.microsoft.com/office/drawing/2014/main" id="{BE19D8A4-E658-439A-A867-205A364DEE7D}"/>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E4E33182-C4FE-4F0C-9D0E-2B0D4513C5D1}"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79557" name="灯片编号占位符 4">
            <a:extLst>
              <a:ext uri="{FF2B5EF4-FFF2-40B4-BE49-F238E27FC236}">
                <a16:creationId xmlns:a16="http://schemas.microsoft.com/office/drawing/2014/main" id="{67454D35-1C1E-45DC-ADC3-5303D73620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FFD51942-17E6-46E8-ACC8-E2654FFDB953}" type="slidenum">
              <a:rPr lang="en-US" altLang="zh-CN" sz="1200" smtClean="0">
                <a:latin typeface="Tahoma" panose="020B0604030504040204" pitchFamily="34" charset="0"/>
              </a:rPr>
              <a:pPr/>
              <a:t>117</a:t>
            </a:fld>
            <a:endParaRPr lang="en-US" altLang="zh-CN" sz="1200">
              <a:latin typeface="Tahoma" panose="020B0604030504040204" pitchFamily="34" charset="0"/>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3">
            <a:extLst>
              <a:ext uri="{FF2B5EF4-FFF2-40B4-BE49-F238E27FC236}">
                <a16:creationId xmlns:a16="http://schemas.microsoft.com/office/drawing/2014/main" id="{4B46663A-990E-477E-B26E-D8445F964271}"/>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5C2758A2-831E-4F68-A678-1DEF24EFAABC}"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85699" name="Rectangle 7">
            <a:extLst>
              <a:ext uri="{FF2B5EF4-FFF2-40B4-BE49-F238E27FC236}">
                <a16:creationId xmlns:a16="http://schemas.microsoft.com/office/drawing/2014/main" id="{CEDB70AE-B327-4606-81FE-24D5514216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36A5F8DE-119F-4FBC-AEC4-43ED41675994}" type="slidenum">
              <a:rPr lang="en-US" altLang="zh-CN" sz="1200" smtClean="0">
                <a:latin typeface="Tahoma" panose="020B0604030504040204" pitchFamily="34" charset="0"/>
              </a:rPr>
              <a:pPr/>
              <a:t>118</a:t>
            </a:fld>
            <a:endParaRPr lang="en-US" altLang="zh-CN" sz="1200">
              <a:latin typeface="Tahoma" panose="020B0604030504040204" pitchFamily="34" charset="0"/>
            </a:endParaRPr>
          </a:p>
        </p:txBody>
      </p:sp>
      <p:sp>
        <p:nvSpPr>
          <p:cNvPr id="285700" name="Rectangle 2">
            <a:extLst>
              <a:ext uri="{FF2B5EF4-FFF2-40B4-BE49-F238E27FC236}">
                <a16:creationId xmlns:a16="http://schemas.microsoft.com/office/drawing/2014/main" id="{310C1766-94CA-4823-BBA8-8D42AA65B61E}"/>
              </a:ext>
            </a:extLst>
          </p:cNvPr>
          <p:cNvSpPr>
            <a:spLocks noGrp="1" noRot="1" noChangeAspect="1" noChangeArrowheads="1" noTextEdit="1"/>
          </p:cNvSpPr>
          <p:nvPr>
            <p:ph type="sldImg"/>
          </p:nvPr>
        </p:nvSpPr>
        <p:spPr>
          <a:xfrm>
            <a:off x="381000" y="685800"/>
            <a:ext cx="6096000" cy="3429000"/>
          </a:xfrm>
          <a:ln/>
        </p:spPr>
      </p:sp>
      <p:sp>
        <p:nvSpPr>
          <p:cNvPr id="285701" name="Rectangle 3">
            <a:extLst>
              <a:ext uri="{FF2B5EF4-FFF2-40B4-BE49-F238E27FC236}">
                <a16:creationId xmlns:a16="http://schemas.microsoft.com/office/drawing/2014/main" id="{02115F24-93C0-41DC-951D-F90E6EBF22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宋体" panose="02010600030101010101" pitchFamily="2" charset="-122"/>
              </a:rPr>
              <a:t>教材上说亚基与亚基之间</a:t>
            </a:r>
            <a:r>
              <a:rPr lang="zh-CN" altLang="en-US" dirty="0"/>
              <a:t>主要靠</a:t>
            </a:r>
            <a:r>
              <a:rPr lang="zh-CN" altLang="en-US" dirty="0">
                <a:solidFill>
                  <a:srgbClr val="FF0000"/>
                </a:solidFill>
              </a:rPr>
              <a:t>氢键、离子键</a:t>
            </a:r>
            <a:r>
              <a:rPr lang="zh-CN" altLang="en-US" dirty="0"/>
              <a:t>结合， 但</a:t>
            </a:r>
            <a:r>
              <a:rPr lang="zh-CN" altLang="en-US" dirty="0">
                <a:latin typeface="宋体" panose="02010600030101010101" pitchFamily="2" charset="-122"/>
              </a:rPr>
              <a:t>有的英文教材提到血红蛋白的亚基之间主要是疏水作用力。 </a:t>
            </a:r>
            <a:endParaRPr lang="en-US" altLang="zh-CN" dirty="0">
              <a:latin typeface="宋体" panose="02010600030101010101" pitchFamily="2" charset="-122"/>
            </a:endParaRPr>
          </a:p>
          <a:p>
            <a:pPr eaLnBrk="1" hangingPunct="1"/>
            <a:endParaRPr lang="en-US" altLang="zh-CN" dirty="0">
              <a:latin typeface="宋体" panose="02010600030101010101" pitchFamily="2" charset="-122"/>
            </a:endParaRPr>
          </a:p>
          <a:p>
            <a:pPr eaLnBrk="1" hangingPunct="1"/>
            <a:r>
              <a:rPr lang="zh-CN" altLang="en-US" dirty="0">
                <a:latin typeface="宋体" panose="02010600030101010101" pitchFamily="2" charset="-122"/>
              </a:rPr>
              <a:t>没有四级结构的蛋白质：</a:t>
            </a:r>
          </a:p>
          <a:p>
            <a:pPr eaLnBrk="1" hangingPunct="1"/>
            <a:r>
              <a:rPr lang="en-US" altLang="zh-CN" dirty="0">
                <a:latin typeface="宋体" panose="02010600030101010101" pitchFamily="2" charset="-122"/>
              </a:rPr>
              <a:t>1</a:t>
            </a:r>
            <a:r>
              <a:rPr lang="zh-CN" altLang="en-US" dirty="0">
                <a:latin typeface="宋体" panose="02010600030101010101" pitchFamily="2" charset="-122"/>
              </a:rPr>
              <a:t>）只含一条多肽链的</a:t>
            </a:r>
            <a:r>
              <a:rPr lang="en-US" altLang="zh-CN" dirty="0" err="1">
                <a:latin typeface="宋体" panose="02010600030101010101" pitchFamily="2" charset="-122"/>
              </a:rPr>
              <a:t>Pr</a:t>
            </a:r>
            <a:r>
              <a:rPr lang="zh-CN" altLang="en-US" dirty="0">
                <a:latin typeface="宋体" panose="02010600030101010101" pitchFamily="2" charset="-122"/>
              </a:rPr>
              <a:t>，如肌红蛋白。</a:t>
            </a:r>
          </a:p>
          <a:p>
            <a:pPr eaLnBrk="1" hangingPunct="1"/>
            <a:r>
              <a:rPr lang="en-US" altLang="zh-CN" dirty="0">
                <a:latin typeface="宋体" panose="02010600030101010101" pitchFamily="2" charset="-122"/>
              </a:rPr>
              <a:t>2</a:t>
            </a:r>
            <a:r>
              <a:rPr lang="zh-CN" altLang="en-US" dirty="0">
                <a:latin typeface="宋体" panose="02010600030101010101" pitchFamily="2" charset="-122"/>
              </a:rPr>
              <a:t>）虽含几条多肽链但借助共价键相连的</a:t>
            </a:r>
            <a:r>
              <a:rPr lang="en-US" altLang="zh-CN" dirty="0" err="1">
                <a:latin typeface="宋体" panose="02010600030101010101" pitchFamily="2" charset="-122"/>
              </a:rPr>
              <a:t>Pr</a:t>
            </a:r>
            <a:r>
              <a:rPr lang="zh-CN" altLang="en-US" dirty="0">
                <a:latin typeface="宋体" panose="02010600030101010101" pitchFamily="2" charset="-122"/>
              </a:rPr>
              <a:t>，如胰岛素、</a:t>
            </a:r>
            <a:r>
              <a:rPr lang="zh-CN" altLang="en-US" dirty="0">
                <a:solidFill>
                  <a:srgbClr val="0000CC"/>
                </a:solidFill>
              </a:rPr>
              <a:t>胰糜蛋白酶、</a:t>
            </a:r>
            <a:r>
              <a:rPr lang="en-US" altLang="zh-CN" dirty="0">
                <a:solidFill>
                  <a:srgbClr val="0000CC"/>
                </a:solidFill>
              </a:rPr>
              <a:t>IgG</a:t>
            </a:r>
            <a:endParaRPr lang="en-US" altLang="zh-CN" dirty="0">
              <a:latin typeface="宋体" panose="02010600030101010101" pitchFamily="2" charset="-122"/>
            </a:endParaRPr>
          </a:p>
          <a:p>
            <a:pPr eaLnBrk="1" hangingPunct="1"/>
            <a:endParaRPr lang="en-US" altLang="zh-CN" dirty="0">
              <a:latin typeface="宋体" panose="02010600030101010101" pitchFamily="2" charset="-122"/>
            </a:endParaRPr>
          </a:p>
          <a:p>
            <a:pPr eaLnBrk="1" hangingPunct="1"/>
            <a:r>
              <a:rPr lang="zh-CN" altLang="en-US" dirty="0">
                <a:latin typeface="宋体" panose="02010600030101010101" pitchFamily="2" charset="-122"/>
              </a:rPr>
              <a:t>亚基间次级键的结合比二、三级结构疏松，因此在一定的条件下，四级结构的蛋白质可分离为其组成的亚基，而亚基本身构象仍可不变。</a:t>
            </a:r>
            <a:r>
              <a:rPr lang="zh-CN" altLang="en-US" dirty="0"/>
              <a:t> </a:t>
            </a:r>
            <a:br>
              <a:rPr lang="zh-CN" altLang="en-US" dirty="0"/>
            </a:br>
            <a:endParaRPr lang="en-US" altLang="zh-CN" dirty="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幻灯片图像占位符 1">
            <a:extLst>
              <a:ext uri="{FF2B5EF4-FFF2-40B4-BE49-F238E27FC236}">
                <a16:creationId xmlns:a16="http://schemas.microsoft.com/office/drawing/2014/main" id="{7E49D058-6F26-4488-95AA-BCB19B396A05}"/>
              </a:ext>
            </a:extLst>
          </p:cNvPr>
          <p:cNvSpPr>
            <a:spLocks noGrp="1" noRot="1" noChangeAspect="1" noChangeArrowheads="1" noTextEdit="1"/>
          </p:cNvSpPr>
          <p:nvPr>
            <p:ph type="sldImg"/>
          </p:nvPr>
        </p:nvSpPr>
        <p:spPr>
          <a:xfrm>
            <a:off x="381000" y="685800"/>
            <a:ext cx="6096000" cy="3429000"/>
          </a:xfrm>
          <a:ln/>
        </p:spPr>
      </p:sp>
      <p:sp>
        <p:nvSpPr>
          <p:cNvPr id="287747" name="备注占位符 2">
            <a:extLst>
              <a:ext uri="{FF2B5EF4-FFF2-40B4-BE49-F238E27FC236}">
                <a16:creationId xmlns:a16="http://schemas.microsoft.com/office/drawing/2014/main" id="{C91A2D71-D342-4898-81E7-C4D5E151B66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最早阐明四级结构的蛋白质，</a:t>
            </a:r>
            <a:r>
              <a:rPr lang="en-US" altLang="zh-CN" dirty="0"/>
              <a:t>in 1959         </a:t>
            </a:r>
            <a:r>
              <a:rPr lang="el-GR" altLang="zh-CN" dirty="0"/>
              <a:t>Α</a:t>
            </a:r>
            <a:r>
              <a:rPr lang="zh-CN" altLang="en-US" dirty="0"/>
              <a:t>链没有</a:t>
            </a:r>
            <a:r>
              <a:rPr lang="en-US" altLang="zh-CN" dirty="0"/>
              <a:t>D</a:t>
            </a:r>
            <a:r>
              <a:rPr lang="zh-CN" altLang="en-US" dirty="0"/>
              <a:t>段，仅</a:t>
            </a:r>
            <a:r>
              <a:rPr lang="en-US" altLang="zh-CN" dirty="0"/>
              <a:t>7</a:t>
            </a:r>
            <a:r>
              <a:rPr lang="zh-CN" altLang="en-US" dirty="0"/>
              <a:t>段</a:t>
            </a:r>
            <a:r>
              <a:rPr lang="el-GR" altLang="zh-CN" dirty="0"/>
              <a:t>α</a:t>
            </a:r>
            <a:r>
              <a:rPr lang="zh-CN" altLang="en-US" dirty="0"/>
              <a:t>螺旋</a:t>
            </a:r>
            <a:endParaRPr lang="en-US" altLang="zh-CN" dirty="0"/>
          </a:p>
          <a:p>
            <a:endParaRPr lang="en-US" altLang="zh-CN" dirty="0"/>
          </a:p>
          <a:p>
            <a:r>
              <a:rPr lang="en-US" altLang="zh-CN" dirty="0"/>
              <a:t> One polypeptide chain - a monomeric  protein </a:t>
            </a:r>
            <a:r>
              <a:rPr lang="zh-CN" altLang="en-US" dirty="0"/>
              <a:t>单体蛋白</a:t>
            </a:r>
            <a:endParaRPr lang="en-US" altLang="zh-CN" dirty="0"/>
          </a:p>
          <a:p>
            <a:r>
              <a:rPr lang="en-US" altLang="zh-CN" dirty="0"/>
              <a:t> More than one - multimeric protein</a:t>
            </a:r>
          </a:p>
          <a:p>
            <a:r>
              <a:rPr lang="en-US" altLang="zh-CN" dirty="0"/>
              <a:t> Homomultimer - one kind of chain  </a:t>
            </a:r>
            <a:r>
              <a:rPr lang="zh-CN" altLang="en-US" dirty="0"/>
              <a:t>同多聚体</a:t>
            </a:r>
            <a:endParaRPr lang="en-US" altLang="zh-CN" dirty="0"/>
          </a:p>
          <a:p>
            <a:r>
              <a:rPr lang="en-US" altLang="zh-CN" dirty="0"/>
              <a:t> </a:t>
            </a:r>
            <a:r>
              <a:rPr lang="en-US" altLang="zh-CN" dirty="0" err="1"/>
              <a:t>Heteromultimer</a:t>
            </a:r>
            <a:r>
              <a:rPr lang="en-US" altLang="zh-CN" dirty="0"/>
              <a:t> - two or more different  chains </a:t>
            </a:r>
            <a:r>
              <a:rPr lang="zh-CN" altLang="en-US" dirty="0"/>
              <a:t>异多聚体</a:t>
            </a:r>
            <a:endParaRPr lang="en-US" altLang="zh-CN" dirty="0"/>
          </a:p>
          <a:p>
            <a:r>
              <a:rPr lang="en-US" altLang="zh-CN" dirty="0"/>
              <a:t> Hemoglobin, for example, is a </a:t>
            </a:r>
            <a:r>
              <a:rPr lang="en-US" altLang="zh-CN" dirty="0" err="1"/>
              <a:t>heterotetramer</a:t>
            </a:r>
            <a:r>
              <a:rPr lang="zh-CN" altLang="en-US" dirty="0"/>
              <a:t>， </a:t>
            </a:r>
            <a:r>
              <a:rPr lang="en-US" altLang="zh-CN" dirty="0"/>
              <a:t>It has two alpha chains and two beta chains</a:t>
            </a:r>
          </a:p>
          <a:p>
            <a:endParaRPr lang="en-US" altLang="zh-CN" dirty="0"/>
          </a:p>
          <a:p>
            <a:r>
              <a:rPr lang="zh-CN" altLang="en-US" dirty="0"/>
              <a:t>亚基组成完全相同：烟草斑纹病毒、过氧化氢酶</a:t>
            </a:r>
          </a:p>
          <a:p>
            <a:r>
              <a:rPr lang="zh-CN" altLang="en-US" dirty="0"/>
              <a:t>烟草斑纹病毒的外壳蛋白是由</a:t>
            </a:r>
            <a:r>
              <a:rPr lang="en-US" altLang="zh-CN" dirty="0"/>
              <a:t>2200</a:t>
            </a:r>
            <a:r>
              <a:rPr lang="zh-CN" altLang="en-US" dirty="0"/>
              <a:t>个相同的亚基形成的多聚体</a:t>
            </a:r>
          </a:p>
          <a:p>
            <a:endParaRPr lang="en-US" altLang="zh-CN" dirty="0"/>
          </a:p>
          <a:p>
            <a:r>
              <a:rPr lang="en-US" altLang="zh-CN" dirty="0"/>
              <a:t>Repeating structural unit=protomer</a:t>
            </a:r>
            <a:endParaRPr lang="zh-CN" altLang="en-US" dirty="0"/>
          </a:p>
        </p:txBody>
      </p:sp>
      <p:sp>
        <p:nvSpPr>
          <p:cNvPr id="287748" name="日期占位符 3">
            <a:extLst>
              <a:ext uri="{FF2B5EF4-FFF2-40B4-BE49-F238E27FC236}">
                <a16:creationId xmlns:a16="http://schemas.microsoft.com/office/drawing/2014/main" id="{FF4DB899-D3A0-4A4A-819F-E37948A791F7}"/>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53338C42-F0C7-4CE8-AB48-42F0320671EA}"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87749" name="灯片编号占位符 4">
            <a:extLst>
              <a:ext uri="{FF2B5EF4-FFF2-40B4-BE49-F238E27FC236}">
                <a16:creationId xmlns:a16="http://schemas.microsoft.com/office/drawing/2014/main" id="{A8DEE082-3C2E-4D14-8EFB-116CAA05009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7792A1F7-276F-471B-A7BC-47172FC6C436}" type="slidenum">
              <a:rPr lang="en-US" altLang="zh-CN" sz="1200" smtClean="0">
                <a:latin typeface="Tahoma" panose="020B0604030504040204" pitchFamily="34" charset="0"/>
              </a:rPr>
              <a:pPr/>
              <a:t>119</a:t>
            </a:fld>
            <a:endParaRPr lang="en-US" altLang="zh-CN" sz="1200">
              <a:latin typeface="Tahoma" panose="020B0604030504040204" pitchFamily="34" charset="0"/>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3">
            <a:extLst>
              <a:ext uri="{FF2B5EF4-FFF2-40B4-BE49-F238E27FC236}">
                <a16:creationId xmlns:a16="http://schemas.microsoft.com/office/drawing/2014/main" id="{75FE5572-8575-4E1F-B7D9-DD05CBEC5E0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C1F3583B-BC4B-473F-B60F-A1B9DD61A68E}"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91843" name="Rectangle 7">
            <a:extLst>
              <a:ext uri="{FF2B5EF4-FFF2-40B4-BE49-F238E27FC236}">
                <a16:creationId xmlns:a16="http://schemas.microsoft.com/office/drawing/2014/main" id="{9BE37619-CE79-4D9A-B0F3-E0361CEC1B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4EF9F734-4484-4331-B144-CDA842E2A695}" type="slidenum">
              <a:rPr lang="en-US" altLang="zh-CN" sz="1200" smtClean="0">
                <a:latin typeface="Tahoma" panose="020B0604030504040204" pitchFamily="34" charset="0"/>
              </a:rPr>
              <a:pPr/>
              <a:t>120</a:t>
            </a:fld>
            <a:endParaRPr lang="en-US" altLang="zh-CN" sz="1200">
              <a:latin typeface="Tahoma" panose="020B0604030504040204" pitchFamily="34" charset="0"/>
            </a:endParaRPr>
          </a:p>
        </p:txBody>
      </p:sp>
      <p:sp>
        <p:nvSpPr>
          <p:cNvPr id="291844" name="Rectangle 2">
            <a:extLst>
              <a:ext uri="{FF2B5EF4-FFF2-40B4-BE49-F238E27FC236}">
                <a16:creationId xmlns:a16="http://schemas.microsoft.com/office/drawing/2014/main" id="{E2B9844C-71A5-4846-8E4E-364A2227EFE9}"/>
              </a:ext>
            </a:extLst>
          </p:cNvPr>
          <p:cNvSpPr>
            <a:spLocks noGrp="1" noRot="1" noChangeAspect="1" noChangeArrowheads="1" noTextEdit="1"/>
          </p:cNvSpPr>
          <p:nvPr>
            <p:ph type="sldImg"/>
          </p:nvPr>
        </p:nvSpPr>
        <p:spPr>
          <a:xfrm>
            <a:off x="381000" y="685800"/>
            <a:ext cx="6096000" cy="3429000"/>
          </a:xfrm>
          <a:ln/>
        </p:spPr>
      </p:sp>
      <p:sp>
        <p:nvSpPr>
          <p:cNvPr id="291845" name="Rectangle 3">
            <a:extLst>
              <a:ext uri="{FF2B5EF4-FFF2-40B4-BE49-F238E27FC236}">
                <a16:creationId xmlns:a16="http://schemas.microsoft.com/office/drawing/2014/main" id="{6689431A-DF13-4A7B-A8A9-38AC86BDCA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lnSpc>
                <a:spcPct val="110000"/>
              </a:lnSpc>
            </a:pPr>
            <a:r>
              <a:rPr lang="zh-CN" altLang="en-US" dirty="0">
                <a:latin typeface="楷体_GB2312" pitchFamily="49" charset="-122"/>
                <a:ea typeface="楷体_GB2312" pitchFamily="49" charset="-122"/>
              </a:rPr>
              <a:t>亚基：无生物学功能。</a:t>
            </a:r>
          </a:p>
          <a:p>
            <a:pPr algn="just" eaLnBrk="1" hangingPunct="1">
              <a:lnSpc>
                <a:spcPct val="110000"/>
              </a:lnSpc>
            </a:pPr>
            <a:r>
              <a:rPr lang="zh-CN" altLang="en-US" dirty="0">
                <a:latin typeface="楷体_GB2312" pitchFamily="49" charset="-122"/>
                <a:ea typeface="楷体_GB2312" pitchFamily="49" charset="-122"/>
              </a:rPr>
              <a:t>单体：有生物学功能</a:t>
            </a:r>
          </a:p>
          <a:p>
            <a:pPr algn="just" eaLnBrk="1" hangingPunct="1">
              <a:lnSpc>
                <a:spcPct val="110000"/>
              </a:lnSpc>
            </a:pPr>
            <a:endParaRPr lang="en-US" altLang="zh-CN" dirty="0">
              <a:latin typeface="楷体_GB2312" pitchFamily="49" charset="-122"/>
              <a:ea typeface="楷体_GB2312" pitchFamily="49" charset="-122"/>
            </a:endParaRPr>
          </a:p>
          <a:p>
            <a:pPr algn="just" fontAlgn="base">
              <a:lnSpc>
                <a:spcPct val="110000"/>
              </a:lnSpc>
              <a:spcBef>
                <a:spcPts val="430"/>
              </a:spcBef>
            </a:pPr>
            <a:r>
              <a:rPr lang="zh-CN" altLang="zh-CN" sz="1800" kern="1200" dirty="0">
                <a:solidFill>
                  <a:srgbClr val="000000"/>
                </a:solidFill>
                <a:effectLst/>
                <a:latin typeface="Arial" panose="020B0604020202020204" pitchFamily="34" charset="0"/>
                <a:ea typeface="楷体_GB2312"/>
                <a:cs typeface="Arial" panose="020B0604020202020204" pitchFamily="34" charset="0"/>
              </a:rPr>
              <a:t>关于四级结构的范畴，学界其实有不同看法，依定义，</a:t>
            </a:r>
            <a:r>
              <a:rPr lang="en-US" altLang="zh-CN" sz="1800" kern="1200" dirty="0">
                <a:solidFill>
                  <a:srgbClr val="000000"/>
                </a:solidFill>
                <a:effectLst/>
                <a:latin typeface="Arial" panose="020B0604020202020204" pitchFamily="34" charset="0"/>
                <a:ea typeface="楷体_GB2312"/>
                <a:cs typeface="宋体" panose="02010600030101010101" pitchFamily="2" charset="-122"/>
              </a:rPr>
              <a:t>IgG</a:t>
            </a:r>
            <a:r>
              <a:rPr lang="zh-CN" altLang="zh-CN" sz="1800" kern="1200" dirty="0">
                <a:solidFill>
                  <a:srgbClr val="000000"/>
                </a:solidFill>
                <a:effectLst/>
                <a:latin typeface="Arial" panose="020B0604020202020204" pitchFamily="34" charset="0"/>
                <a:ea typeface="楷体_GB2312"/>
                <a:cs typeface="Arial" panose="020B0604020202020204" pitchFamily="34" charset="0"/>
              </a:rPr>
              <a:t>等只有三级结构，但有些学者持不同看法。</a:t>
            </a:r>
            <a:r>
              <a:rPr lang="en-US" altLang="zh-CN" sz="1800" kern="1200" dirty="0">
                <a:solidFill>
                  <a:srgbClr val="000000"/>
                </a:solidFill>
                <a:effectLst/>
                <a:latin typeface="Arial" panose="020B0604020202020204" pitchFamily="34" charset="0"/>
                <a:ea typeface="楷体_GB2312"/>
                <a:cs typeface="Arial" panose="020B0604020202020204" pitchFamily="34" charset="0"/>
              </a:rPr>
              <a:t> </a:t>
            </a:r>
          </a:p>
          <a:p>
            <a:pPr eaLnBrk="0" fontAlgn="base" hangingPunct="0">
              <a:spcBef>
                <a:spcPts val="430"/>
              </a:spcBef>
            </a:pPr>
            <a:r>
              <a:rPr lang="en-US" altLang="zh-CN" sz="1800" kern="1200" dirty="0">
                <a:solidFill>
                  <a:srgbClr val="000000"/>
                </a:solidFill>
                <a:effectLst/>
                <a:latin typeface="Arial" panose="020B0604020202020204" pitchFamily="34" charset="0"/>
                <a:ea typeface="宋体" panose="02010600030101010101" pitchFamily="2" charset="-122"/>
                <a:cs typeface="宋体" panose="02010600030101010101" pitchFamily="2" charset="-122"/>
              </a:rPr>
              <a:t>“</a:t>
            </a:r>
            <a:r>
              <a:rPr lang="zh-CN" altLang="zh-CN" sz="1800" kern="1200" dirty="0">
                <a:solidFill>
                  <a:srgbClr val="000000"/>
                </a:solidFill>
                <a:effectLst/>
                <a:latin typeface="Arial" panose="020B0604020202020204" pitchFamily="34" charset="0"/>
                <a:ea typeface="宋体" panose="02010600030101010101" pitchFamily="2" charset="-122"/>
                <a:cs typeface="Arial" panose="020B0604020202020204" pitchFamily="34" charset="0"/>
              </a:rPr>
              <a:t>在生物分子缔合的研究中，</a:t>
            </a:r>
            <a:r>
              <a:rPr lang="zh-CN" altLang="zh-CN" sz="1800" b="1" kern="1200" dirty="0">
                <a:solidFill>
                  <a:srgbClr val="000000"/>
                </a:solidFill>
                <a:effectLst/>
                <a:latin typeface="Arial" panose="020B0604020202020204" pitchFamily="34" charset="0"/>
                <a:ea typeface="宋体" panose="02010600030101010101" pitchFamily="2" charset="-122"/>
                <a:cs typeface="Arial" panose="020B0604020202020204" pitchFamily="34" charset="0"/>
              </a:rPr>
              <a:t>亚基、单体、原聚体和分子这几个名词，目前尚无明确界定</a:t>
            </a:r>
            <a:r>
              <a:rPr lang="zh-CN" altLang="zh-CN" sz="1800" kern="1200" dirty="0">
                <a:solidFill>
                  <a:srgbClr val="000000"/>
                </a:solidFill>
                <a:effectLst/>
                <a:latin typeface="Arial" panose="020B0604020202020204" pitchFamily="34" charset="0"/>
                <a:ea typeface="宋体" panose="02010600030101010101" pitchFamily="2" charset="-122"/>
                <a:cs typeface="Arial" panose="020B0604020202020204" pitchFamily="34" charset="0"/>
              </a:rPr>
              <a:t>，它们都是一词多义，有时它们等同，</a:t>
            </a:r>
            <a:r>
              <a:rPr lang="zh-CN" altLang="zh-CN" sz="1800" kern="1200" dirty="0">
                <a:solidFill>
                  <a:srgbClr val="000000"/>
                </a:solidFill>
                <a:effectLst/>
                <a:latin typeface="宋体" panose="02010600030101010101" pitchFamily="2" charset="-122"/>
                <a:ea typeface="Arial" panose="020B0604020202020204" pitchFamily="34" charset="0"/>
                <a:cs typeface="宋体" panose="02010600030101010101" pitchFamily="2" charset="-122"/>
              </a:rPr>
              <a:t> </a:t>
            </a:r>
            <a:r>
              <a:rPr lang="zh-CN" altLang="zh-CN" sz="1800" kern="1200" dirty="0">
                <a:solidFill>
                  <a:srgbClr val="000000"/>
                </a:solidFill>
                <a:effectLst/>
                <a:latin typeface="Arial" panose="020B0604020202020204" pitchFamily="34" charset="0"/>
                <a:ea typeface="宋体" panose="02010600030101010101" pitchFamily="2" charset="-122"/>
                <a:cs typeface="Arial" panose="020B0604020202020204" pitchFamily="34" charset="0"/>
              </a:rPr>
              <a:t>有时各异，视具体场合而定。</a:t>
            </a:r>
            <a:r>
              <a:rPr lang="zh-CN" altLang="zh-CN" sz="1800" b="1" kern="1200" dirty="0">
                <a:solidFill>
                  <a:srgbClr val="000000"/>
                </a:solidFill>
                <a:effectLst/>
                <a:latin typeface="Arial" panose="020B0604020202020204" pitchFamily="34" charset="0"/>
                <a:ea typeface="宋体" panose="02010600030101010101" pitchFamily="2" charset="-122"/>
                <a:cs typeface="Arial" panose="020B0604020202020204" pitchFamily="34" charset="0"/>
              </a:rPr>
              <a:t>多数人认为分子是一个完整的独立功能单位</a:t>
            </a:r>
            <a:r>
              <a:rPr lang="zh-CN" altLang="zh-CN" sz="1800" kern="1200" dirty="0">
                <a:solidFill>
                  <a:srgbClr val="000000"/>
                </a:solidFill>
                <a:effectLst/>
                <a:latin typeface="Arial" panose="020B0604020202020204" pitchFamily="34" charset="0"/>
                <a:ea typeface="宋体" panose="02010600030101010101" pitchFamily="2" charset="-122"/>
                <a:cs typeface="Arial" panose="020B0604020202020204" pitchFamily="34" charset="0"/>
              </a:rPr>
              <a:t>，例如作为四聚体的血红蛋白才具有完全的转运氧及其他功能，而它的任一亚基</a:t>
            </a:r>
            <a:r>
              <a:rPr lang="en-US" altLang="zh-CN" sz="1800" kern="1200" dirty="0">
                <a:solidFill>
                  <a:srgbClr val="000000"/>
                </a:solidFill>
                <a:effectLst/>
                <a:latin typeface="Arial" panose="020B0604020202020204" pitchFamily="34" charset="0"/>
                <a:ea typeface="宋体" panose="02010600030101010101" pitchFamily="2" charset="-122"/>
                <a:cs typeface="宋体" panose="02010600030101010101" pitchFamily="2" charset="-122"/>
              </a:rPr>
              <a:t>(</a:t>
            </a:r>
            <a:r>
              <a:rPr lang="el-GR" altLang="zh-CN" sz="1800" kern="1200" dirty="0">
                <a:solidFill>
                  <a:srgbClr val="000000"/>
                </a:solidFill>
                <a:effectLst/>
                <a:latin typeface="Arial" panose="020B0604020202020204" pitchFamily="34" charset="0"/>
                <a:ea typeface="宋体" panose="02010600030101010101" pitchFamily="2" charset="-122"/>
                <a:cs typeface="宋体" panose="02010600030101010101" pitchFamily="2" charset="-122"/>
              </a:rPr>
              <a:t>α </a:t>
            </a:r>
            <a:r>
              <a:rPr lang="zh-CN" altLang="zh-CN" sz="1800" kern="1200" dirty="0">
                <a:solidFill>
                  <a:srgbClr val="000000"/>
                </a:solidFill>
                <a:effectLst/>
                <a:latin typeface="Arial" panose="020B0604020202020204" pitchFamily="34" charset="0"/>
                <a:ea typeface="宋体" panose="02010600030101010101" pitchFamily="2" charset="-122"/>
                <a:cs typeface="Arial" panose="020B0604020202020204" pitchFamily="34" charset="0"/>
              </a:rPr>
              <a:t>链或</a:t>
            </a:r>
            <a:r>
              <a:rPr lang="el-GR" altLang="zh-CN" sz="1800" kern="1200" dirty="0">
                <a:solidFill>
                  <a:srgbClr val="000000"/>
                </a:solidFill>
                <a:effectLst/>
                <a:latin typeface="Arial" panose="020B0604020202020204" pitchFamily="34" charset="0"/>
                <a:ea typeface="宋体" panose="02010600030101010101" pitchFamily="2" charset="-122"/>
                <a:cs typeface="宋体" panose="02010600030101010101" pitchFamily="2" charset="-122"/>
              </a:rPr>
              <a:t>β</a:t>
            </a:r>
            <a:r>
              <a:rPr lang="zh-CN" altLang="zh-CN" sz="1800" kern="1200" dirty="0">
                <a:solidFill>
                  <a:srgbClr val="000000"/>
                </a:solidFill>
                <a:effectLst/>
                <a:latin typeface="Arial" panose="020B0604020202020204" pitchFamily="34" charset="0"/>
                <a:ea typeface="宋体" panose="02010600030101010101" pitchFamily="2" charset="-122"/>
                <a:cs typeface="Arial" panose="020B0604020202020204" pitchFamily="34" charset="0"/>
              </a:rPr>
              <a:t>链）或原聚体</a:t>
            </a:r>
            <a:r>
              <a:rPr lang="en-US" altLang="zh-CN" sz="1800" kern="1200" dirty="0">
                <a:solidFill>
                  <a:srgbClr val="000000"/>
                </a:solidFill>
                <a:effectLst/>
                <a:latin typeface="Arial" panose="020B0604020202020204" pitchFamily="34" charset="0"/>
                <a:ea typeface="宋体" panose="02010600030101010101" pitchFamily="2" charset="-122"/>
                <a:cs typeface="宋体" panose="02010600030101010101" pitchFamily="2" charset="-122"/>
              </a:rPr>
              <a:t>(</a:t>
            </a:r>
            <a:r>
              <a:rPr lang="el-GR" altLang="zh-CN" sz="1800" kern="1200" dirty="0">
                <a:solidFill>
                  <a:srgbClr val="000000"/>
                </a:solidFill>
                <a:effectLst/>
                <a:latin typeface="Arial" panose="020B0604020202020204" pitchFamily="34" charset="0"/>
                <a:ea typeface="宋体" panose="02010600030101010101" pitchFamily="2" charset="-122"/>
                <a:cs typeface="宋体" panose="02010600030101010101" pitchFamily="2" charset="-122"/>
              </a:rPr>
              <a:t>α</a:t>
            </a:r>
            <a:r>
              <a:rPr lang="en-US" altLang="zh-CN" sz="1800" kern="1200" dirty="0">
                <a:solidFill>
                  <a:srgbClr val="000000"/>
                </a:solidFill>
                <a:effectLst/>
                <a:latin typeface="Arial" panose="020B0604020202020204" pitchFamily="34" charset="0"/>
                <a:ea typeface="宋体" panose="02010600030101010101" pitchFamily="2" charset="-122"/>
                <a:cs typeface="宋体" panose="02010600030101010101" pitchFamily="2" charset="-122"/>
              </a:rPr>
              <a:t>β</a:t>
            </a:r>
            <a:r>
              <a:rPr lang="zh-CN" altLang="zh-CN" sz="1800" kern="1200" dirty="0">
                <a:solidFill>
                  <a:srgbClr val="000000"/>
                </a:solidFill>
                <a:effectLst/>
                <a:latin typeface="Arial" panose="020B0604020202020204" pitchFamily="34" charset="0"/>
                <a:ea typeface="宋体" panose="02010600030101010101" pitchFamily="2" charset="-122"/>
                <a:cs typeface="Arial" panose="020B0604020202020204" pitchFamily="34" charset="0"/>
              </a:rPr>
              <a:t>聚集体或称半分子）都不具有这种功能，因此对血红蛋白来说四聚体是它的分子。</a:t>
            </a:r>
            <a:endParaRPr lang="en-US" altLang="zh-CN" sz="1800" kern="1200"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p>
            <a:pPr eaLnBrk="0" fontAlgn="base" hangingPunct="0">
              <a:spcBef>
                <a:spcPts val="430"/>
              </a:spcBef>
            </a:pPr>
            <a:r>
              <a:rPr lang="zh-CN" altLang="zh-CN" sz="1800" kern="1200" dirty="0">
                <a:solidFill>
                  <a:srgbClr val="000000"/>
                </a:solidFill>
                <a:effectLst/>
                <a:latin typeface="Arial" panose="020B0604020202020204" pitchFamily="34" charset="0"/>
                <a:ea typeface="宋体" panose="02010600030101010101" pitchFamily="2" charset="-122"/>
                <a:cs typeface="Arial" panose="020B0604020202020204" pitchFamily="34" charset="0"/>
              </a:rPr>
              <a:t>胰岛素作为单体蛋白质（含二硫键交联的</a:t>
            </a:r>
            <a:r>
              <a:rPr lang="en-US" altLang="zh-CN" sz="1800" kern="1200" dirty="0">
                <a:solidFill>
                  <a:srgbClr val="000000"/>
                </a:solidFill>
                <a:effectLst/>
                <a:latin typeface="Arial" panose="020B0604020202020204" pitchFamily="34" charset="0"/>
                <a:ea typeface="宋体" panose="02010600030101010101" pitchFamily="2" charset="-122"/>
                <a:cs typeface="宋体" panose="02010600030101010101" pitchFamily="2" charset="-122"/>
              </a:rPr>
              <a:t>A </a:t>
            </a:r>
            <a:r>
              <a:rPr lang="zh-CN" altLang="zh-CN" sz="1800" kern="1200" dirty="0">
                <a:solidFill>
                  <a:srgbClr val="000000"/>
                </a:solidFill>
                <a:effectLst/>
                <a:latin typeface="Arial" panose="020B0604020202020204" pitchFamily="34" charset="0"/>
                <a:ea typeface="宋体" panose="02010600030101010101" pitchFamily="2" charset="-122"/>
                <a:cs typeface="Arial" panose="020B0604020202020204" pitchFamily="34" charset="0"/>
              </a:rPr>
              <a:t>、</a:t>
            </a:r>
            <a:r>
              <a:rPr lang="en-US" altLang="zh-CN" sz="1800" kern="1200" dirty="0">
                <a:solidFill>
                  <a:srgbClr val="000000"/>
                </a:solidFill>
                <a:effectLst/>
                <a:latin typeface="Arial" panose="020B0604020202020204" pitchFamily="34" charset="0"/>
                <a:ea typeface="宋体" panose="02010600030101010101" pitchFamily="2" charset="-122"/>
                <a:cs typeface="宋体" panose="02010600030101010101" pitchFamily="2" charset="-122"/>
              </a:rPr>
              <a:t>B </a:t>
            </a:r>
            <a:r>
              <a:rPr lang="zh-CN" altLang="zh-CN" sz="1800" kern="1200" dirty="0">
                <a:solidFill>
                  <a:srgbClr val="000000"/>
                </a:solidFill>
                <a:effectLst/>
                <a:latin typeface="Arial" panose="020B0604020202020204" pitchFamily="34" charset="0"/>
                <a:ea typeface="宋体" panose="02010600030101010101" pitchFamily="2" charset="-122"/>
                <a:cs typeface="Arial" panose="020B0604020202020204" pitchFamily="34" charset="0"/>
              </a:rPr>
              <a:t>两条链）可以发生缔合，生成二聚体和六聚体。然而胰岛素的功能单位就是这种单体蛋白质，因此对胰岛素而言单体是分子，它的二聚体和六聚体是分子的聚集体（细胞内胰岛素的贮存形式）</a:t>
            </a:r>
            <a:r>
              <a:rPr lang="zh-CN" altLang="zh-CN" sz="1800" kern="1200" dirty="0">
                <a:solidFill>
                  <a:srgbClr val="000000"/>
                </a:solidFill>
                <a:effectLst/>
                <a:latin typeface="宋体" panose="02010600030101010101" pitchFamily="2" charset="-122"/>
                <a:ea typeface="Arial" panose="020B0604020202020204" pitchFamily="34" charset="0"/>
                <a:cs typeface="宋体" panose="02010600030101010101" pitchFamily="2" charset="-122"/>
              </a:rPr>
              <a:t> </a:t>
            </a:r>
            <a:r>
              <a:rPr lang="zh-CN" altLang="zh-CN" sz="1800" kern="1200" dirty="0">
                <a:solidFill>
                  <a:srgbClr val="000000"/>
                </a:solidFill>
                <a:effectLst/>
                <a:latin typeface="Arial" panose="020B0604020202020204" pitchFamily="34" charset="0"/>
                <a:ea typeface="宋体" panose="02010600030101010101" pitchFamily="2" charset="-122"/>
                <a:cs typeface="Arial" panose="020B0604020202020204" pitchFamily="34" charset="0"/>
              </a:rPr>
              <a:t>。</a:t>
            </a:r>
            <a:r>
              <a:rPr lang="en-US" altLang="zh-CN" sz="1800" kern="1200" dirty="0">
                <a:solidFill>
                  <a:srgbClr val="000000"/>
                </a:solidFill>
                <a:effectLst/>
                <a:latin typeface="Arial" panose="020B0604020202020204" pitchFamily="34" charset="0"/>
                <a:ea typeface="宋体" panose="02010600030101010101" pitchFamily="2" charset="-122"/>
                <a:cs typeface="宋体" panose="02010600030101010101" pitchFamily="2" charset="-122"/>
              </a:rPr>
              <a:t>”</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eaLnBrk="0" fontAlgn="base" hangingPunct="0">
              <a:spcBef>
                <a:spcPts val="430"/>
              </a:spcBef>
            </a:pPr>
            <a:r>
              <a:rPr lang="zh-CN" altLang="zh-CN" sz="1800" kern="1200" dirty="0">
                <a:solidFill>
                  <a:srgbClr val="000000"/>
                </a:solidFill>
                <a:effectLst/>
                <a:latin typeface="Arial" panose="020B0604020202020204" pitchFamily="34" charset="0"/>
                <a:ea typeface="楷体_GB2312"/>
                <a:cs typeface="Arial" panose="020B0604020202020204" pitchFamily="34" charset="0"/>
              </a:rPr>
              <a:t>有的书将胰岛素的六聚体称为四级结构，将病毒的核衣壳蛋白结构也称为四级结构。</a:t>
            </a:r>
            <a:endParaRPr lang="en-US" altLang="zh-CN" dirty="0">
              <a:latin typeface="楷体_GB2312" pitchFamily="49" charset="-122"/>
              <a:ea typeface="楷体_GB2312" pitchFamily="49" charset="-122"/>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幻灯片图像占位符 1">
            <a:extLst>
              <a:ext uri="{FF2B5EF4-FFF2-40B4-BE49-F238E27FC236}">
                <a16:creationId xmlns:a16="http://schemas.microsoft.com/office/drawing/2014/main" id="{5746E236-94C3-4E04-91F1-5B1F9D7A84A2}"/>
              </a:ext>
            </a:extLst>
          </p:cNvPr>
          <p:cNvSpPr>
            <a:spLocks noGrp="1" noRot="1" noChangeAspect="1" noChangeArrowheads="1" noTextEdit="1"/>
          </p:cNvSpPr>
          <p:nvPr>
            <p:ph type="sldImg"/>
          </p:nvPr>
        </p:nvSpPr>
        <p:spPr>
          <a:xfrm>
            <a:off x="381000" y="685800"/>
            <a:ext cx="6096000" cy="3429000"/>
          </a:xfrm>
          <a:ln/>
        </p:spPr>
      </p:sp>
      <p:sp>
        <p:nvSpPr>
          <p:cNvPr id="293891" name="备注占位符 2">
            <a:extLst>
              <a:ext uri="{FF2B5EF4-FFF2-40B4-BE49-F238E27FC236}">
                <a16:creationId xmlns:a16="http://schemas.microsoft.com/office/drawing/2014/main" id="{F71BA704-D686-404A-B1D1-3F42A4C6B58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b="1" dirty="0"/>
              <a:t>In 1958, after 12 years of research, John produced the first three-dimensional structure of a protein: that of myoglobin</a:t>
            </a:r>
            <a:r>
              <a:rPr lang="en-US" altLang="zh-CN" dirty="0"/>
              <a:t>. </a:t>
            </a:r>
          </a:p>
          <a:p>
            <a:r>
              <a:rPr lang="en-US" altLang="zh-CN" dirty="0"/>
              <a:t>The discovery of this helped Max reveal the structure of </a:t>
            </a:r>
            <a:r>
              <a:rPr lang="en-US" altLang="zh-CN" dirty="0" err="1"/>
              <a:t>haemoglobin</a:t>
            </a:r>
            <a:r>
              <a:rPr lang="en-US" altLang="zh-CN" dirty="0"/>
              <a:t> the following year, and their technique would open up the world of elucidating protein structures.</a:t>
            </a:r>
          </a:p>
          <a:p>
            <a:endParaRPr lang="zh-CN" altLang="en-US" dirty="0"/>
          </a:p>
        </p:txBody>
      </p:sp>
      <p:sp>
        <p:nvSpPr>
          <p:cNvPr id="293892" name="日期占位符 3">
            <a:extLst>
              <a:ext uri="{FF2B5EF4-FFF2-40B4-BE49-F238E27FC236}">
                <a16:creationId xmlns:a16="http://schemas.microsoft.com/office/drawing/2014/main" id="{998CB5B6-BA74-4D4B-967B-51FE65719B4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0BF1FBB0-529F-488D-BAA6-596036F35573}"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93893" name="灯片编号占位符 4">
            <a:extLst>
              <a:ext uri="{FF2B5EF4-FFF2-40B4-BE49-F238E27FC236}">
                <a16:creationId xmlns:a16="http://schemas.microsoft.com/office/drawing/2014/main" id="{FEA82F6A-B83D-4AAA-84C7-8FBB82B582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98778BD-4636-4BAA-BB68-02475EC7CC47}" type="slidenum">
              <a:rPr lang="en-US" altLang="zh-CN" sz="1200" smtClean="0">
                <a:latin typeface="Tahoma" panose="020B0604030504040204" pitchFamily="34" charset="0"/>
              </a:rPr>
              <a:pPr/>
              <a:t>121</a:t>
            </a:fld>
            <a:endParaRPr lang="en-US" altLang="zh-CN" sz="1200">
              <a:latin typeface="Tahoma" panose="020B0604030504040204" pitchFamily="34" charset="0"/>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幻灯片图像占位符 1">
            <a:extLst>
              <a:ext uri="{FF2B5EF4-FFF2-40B4-BE49-F238E27FC236}">
                <a16:creationId xmlns:a16="http://schemas.microsoft.com/office/drawing/2014/main" id="{6082771E-6C91-4233-8635-C6805C340D41}"/>
              </a:ext>
            </a:extLst>
          </p:cNvPr>
          <p:cNvSpPr>
            <a:spLocks noGrp="1" noRot="1" noChangeAspect="1" noChangeArrowheads="1" noTextEdit="1"/>
          </p:cNvSpPr>
          <p:nvPr>
            <p:ph type="sldImg"/>
          </p:nvPr>
        </p:nvSpPr>
        <p:spPr>
          <a:xfrm>
            <a:off x="381000" y="685800"/>
            <a:ext cx="6096000" cy="3429000"/>
          </a:xfrm>
          <a:ln/>
        </p:spPr>
      </p:sp>
      <p:sp>
        <p:nvSpPr>
          <p:cNvPr id="281603" name="备注占位符 2">
            <a:extLst>
              <a:ext uri="{FF2B5EF4-FFF2-40B4-BE49-F238E27FC236}">
                <a16:creationId xmlns:a16="http://schemas.microsoft.com/office/drawing/2014/main" id="{4EAC21BE-28F2-4591-A9A5-26C33320526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PDB</a:t>
            </a:r>
            <a:r>
              <a:rPr lang="zh-CN" altLang="en-US" dirty="0"/>
              <a:t>是以二维的形式表示三维的数据</a:t>
            </a:r>
            <a:r>
              <a:rPr lang="en-US" altLang="zh-CN" dirty="0"/>
              <a:t>, </a:t>
            </a:r>
            <a:r>
              <a:rPr lang="zh-CN" altLang="en-US" dirty="0"/>
              <a:t>现由结构生物学合作研究协会</a:t>
            </a:r>
            <a:r>
              <a:rPr lang="en-US" altLang="zh-CN" dirty="0"/>
              <a:t>(Research Collaboratory for Structural Bioinformatics,</a:t>
            </a:r>
            <a:r>
              <a:rPr lang="zh-CN" altLang="en-US" dirty="0"/>
              <a:t>简称</a:t>
            </a:r>
            <a:r>
              <a:rPr lang="en-US" altLang="zh-CN" dirty="0"/>
              <a:t>RCSB)</a:t>
            </a:r>
            <a:r>
              <a:rPr lang="zh-CN" altLang="en-US" dirty="0"/>
              <a:t>管理。  </a:t>
            </a:r>
          </a:p>
          <a:p>
            <a:endParaRPr lang="en-US" altLang="zh-CN" dirty="0"/>
          </a:p>
          <a:p>
            <a:r>
              <a:rPr lang="en-US" altLang="zh-CN" dirty="0"/>
              <a:t>2022</a:t>
            </a:r>
            <a:r>
              <a:rPr lang="zh-CN" altLang="en-US" dirty="0"/>
              <a:t>年</a:t>
            </a:r>
            <a:r>
              <a:rPr lang="en-US" altLang="zh-CN" dirty="0"/>
              <a:t>8</a:t>
            </a:r>
            <a:r>
              <a:rPr lang="zh-CN" altLang="en-US" dirty="0"/>
              <a:t>月起，增加了</a:t>
            </a:r>
            <a:r>
              <a:rPr lang="en-US" altLang="zh-CN" dirty="0"/>
              <a:t>AlphaFold2</a:t>
            </a:r>
            <a:r>
              <a:rPr lang="zh-CN" altLang="en-US" dirty="0"/>
              <a:t>等软件预测的结构模型，数量远超原有的实验证实的生物分子三维结构</a:t>
            </a:r>
            <a:endParaRPr lang="en-US" altLang="zh-CN" dirty="0"/>
          </a:p>
          <a:p>
            <a:r>
              <a:rPr lang="en-US" altLang="zh-CN" b="0" i="0" dirty="0">
                <a:solidFill>
                  <a:srgbClr val="5A5A5A"/>
                </a:solidFill>
                <a:effectLst/>
                <a:latin typeface="Helvetica Neue"/>
              </a:rPr>
              <a:t>In August 2022, the RCSB PDB enabled access to ~1 million Computed Structure Models (CSMs) from </a:t>
            </a:r>
            <a:r>
              <a:rPr lang="en-US" altLang="zh-CN" b="0" i="0" dirty="0" err="1">
                <a:solidFill>
                  <a:srgbClr val="5A5A5A"/>
                </a:solidFill>
                <a:effectLst/>
                <a:latin typeface="Helvetica Neue"/>
              </a:rPr>
              <a:t>AlphaFold</a:t>
            </a:r>
            <a:r>
              <a:rPr lang="en-US" altLang="zh-CN" b="0" i="0" dirty="0">
                <a:solidFill>
                  <a:srgbClr val="5A5A5A"/>
                </a:solidFill>
                <a:effectLst/>
                <a:latin typeface="Helvetica Neue"/>
              </a:rPr>
              <a:t> DB and </a:t>
            </a:r>
            <a:r>
              <a:rPr lang="en-US" altLang="zh-CN" b="0" i="0" dirty="0" err="1">
                <a:solidFill>
                  <a:srgbClr val="5A5A5A"/>
                </a:solidFill>
                <a:effectLst/>
                <a:latin typeface="Helvetica Neue"/>
              </a:rPr>
              <a:t>RoseTTAFold</a:t>
            </a:r>
            <a:r>
              <a:rPr lang="en-US" altLang="zh-CN" b="0" i="0" dirty="0">
                <a:solidFill>
                  <a:srgbClr val="5A5A5A"/>
                </a:solidFill>
                <a:effectLst/>
                <a:latin typeface="Helvetica Neue"/>
              </a:rPr>
              <a:t> in addition to the ~200,000 experimentally-determined PDB structures on the RCSB.org website. </a:t>
            </a:r>
          </a:p>
          <a:p>
            <a:endParaRPr lang="en-US" altLang="zh-CN" b="0" i="0" dirty="0">
              <a:solidFill>
                <a:srgbClr val="5A5A5A"/>
              </a:solidFill>
              <a:effectLst/>
              <a:latin typeface="Helvetica Neue"/>
            </a:endParaRPr>
          </a:p>
          <a:p>
            <a:r>
              <a:rPr lang="en-US" altLang="zh-CN" b="0" i="0" dirty="0">
                <a:solidFill>
                  <a:srgbClr val="5A5A5A"/>
                </a:solidFill>
                <a:effectLst/>
                <a:latin typeface="Helvetica Neue"/>
              </a:rPr>
              <a:t>PDB</a:t>
            </a:r>
            <a:r>
              <a:rPr lang="zh-CN" altLang="en-US" b="0" i="0" dirty="0">
                <a:solidFill>
                  <a:srgbClr val="5A5A5A"/>
                </a:solidFill>
                <a:effectLst/>
                <a:latin typeface="Helvetica Neue"/>
              </a:rPr>
              <a:t>数据库介绍：  </a:t>
            </a:r>
            <a:r>
              <a:rPr lang="en-US" altLang="zh-CN" b="0" i="0" dirty="0">
                <a:solidFill>
                  <a:srgbClr val="5A5A5A"/>
                </a:solidFill>
                <a:effectLst/>
                <a:latin typeface="Helvetica Neue"/>
              </a:rPr>
              <a:t>https://blog.csdn.net/weixin_56860330/article/details/146418453  </a:t>
            </a:r>
          </a:p>
        </p:txBody>
      </p:sp>
      <p:sp>
        <p:nvSpPr>
          <p:cNvPr id="281604" name="日期占位符 3">
            <a:extLst>
              <a:ext uri="{FF2B5EF4-FFF2-40B4-BE49-F238E27FC236}">
                <a16:creationId xmlns:a16="http://schemas.microsoft.com/office/drawing/2014/main" id="{2407ED4C-3FBD-4354-A76D-0C7E575B6FA5}"/>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1471F1CB-1099-4C41-A0E9-44A29114DE5E}"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81605" name="灯片编号占位符 4">
            <a:extLst>
              <a:ext uri="{FF2B5EF4-FFF2-40B4-BE49-F238E27FC236}">
                <a16:creationId xmlns:a16="http://schemas.microsoft.com/office/drawing/2014/main" id="{535E67E4-4038-477D-BE0D-1EE2BE38F1C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E53962A-3FC6-4211-B789-B41A59B8E813}" type="slidenum">
              <a:rPr lang="en-US" altLang="zh-CN" sz="1200" smtClean="0">
                <a:latin typeface="Tahoma" panose="020B0604030504040204" pitchFamily="34" charset="0"/>
              </a:rPr>
              <a:pPr/>
              <a:t>122</a:t>
            </a:fld>
            <a:endParaRPr lang="en-US" altLang="zh-CN" sz="1200">
              <a:latin typeface="Tahoma" panose="020B0604030504040204" pitchFamily="34" charset="0"/>
            </a:endParaRPr>
          </a:p>
        </p:txBody>
      </p:sp>
    </p:spTree>
    <p:extLst>
      <p:ext uri="{BB962C8B-B14F-4D97-AF65-F5344CB8AC3E}">
        <p14:creationId xmlns:p14="http://schemas.microsoft.com/office/powerpoint/2010/main" val="1012712070"/>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b="0" i="0" dirty="0">
                <a:solidFill>
                  <a:srgbClr val="202122"/>
                </a:solidFill>
                <a:effectLst/>
                <a:latin typeface="Arial" panose="020B0604020202020204" pitchFamily="34" charset="0"/>
              </a:rPr>
              <a:t>On July 28, 2022, the team uploaded to the database the structures of around 200 million proteins from 1 million species, covering nearly every known protein on the planet. </a:t>
            </a:r>
            <a:r>
              <a:rPr lang="zh-CN" altLang="en-US" b="0" i="0" dirty="0">
                <a:solidFill>
                  <a:srgbClr val="202122"/>
                </a:solidFill>
                <a:effectLst/>
                <a:latin typeface="Arial" panose="020B0604020202020204" pitchFamily="34" charset="0"/>
              </a:rPr>
              <a:t>几乎涵盖了所有基因组测序的生物体，这是一个巨大的里程碑！</a:t>
            </a:r>
            <a:endParaRPr lang="en-US" altLang="zh-CN" b="0" i="0" dirty="0">
              <a:solidFill>
                <a:srgbClr val="202122"/>
              </a:solidFill>
              <a:effectLst/>
              <a:latin typeface="Arial" panose="020B0604020202020204" pitchFamily="34" charset="0"/>
            </a:endParaRPr>
          </a:p>
          <a:p>
            <a:r>
              <a:rPr lang="en-US" altLang="zh-CN" b="0" i="1" dirty="0">
                <a:solidFill>
                  <a:srgbClr val="202122"/>
                </a:solidFill>
                <a:effectLst/>
                <a:latin typeface="Arial" panose="020B0604020202020204" pitchFamily="34" charset="0"/>
              </a:rPr>
              <a:t>"'The entire protein universe': AI predicts shape of nearly every known protein". Nature</a:t>
            </a:r>
            <a:r>
              <a:rPr lang="en-US" altLang="zh-CN" b="0" i="0" dirty="0">
                <a:solidFill>
                  <a:srgbClr val="202122"/>
                </a:solidFill>
                <a:effectLst/>
                <a:latin typeface="Arial" panose="020B0604020202020204" pitchFamily="34" charset="0"/>
              </a:rPr>
              <a:t>.2022,July,28. </a:t>
            </a:r>
            <a:r>
              <a:rPr lang="en-US" altLang="zh-CN" b="1" i="0" dirty="0">
                <a:solidFill>
                  <a:srgbClr val="202122"/>
                </a:solidFill>
                <a:effectLst/>
                <a:latin typeface="Arial" panose="020B0604020202020204" pitchFamily="34" charset="0"/>
              </a:rPr>
              <a:t>608</a:t>
            </a:r>
            <a:r>
              <a:rPr lang="en-US" altLang="zh-CN" b="0" i="0" dirty="0">
                <a:solidFill>
                  <a:srgbClr val="202122"/>
                </a:solidFill>
                <a:effectLst/>
                <a:latin typeface="Arial" panose="020B0604020202020204" pitchFamily="34" charset="0"/>
              </a:rPr>
              <a:t> (7921): 15–16.</a:t>
            </a:r>
            <a:endParaRPr lang="en-US" altLang="zh-CN" dirty="0"/>
          </a:p>
          <a:p>
            <a:endParaRPr lang="en-US" altLang="zh-CN" dirty="0"/>
          </a:p>
          <a:p>
            <a:r>
              <a:rPr lang="zh-CN" altLang="en-US" dirty="0"/>
              <a:t>对于 </a:t>
            </a:r>
            <a:r>
              <a:rPr lang="en-US" altLang="zh-CN" dirty="0"/>
              <a:t>AlphaFold2 </a:t>
            </a:r>
            <a:r>
              <a:rPr lang="zh-CN" altLang="en-US" dirty="0"/>
              <a:t>预测人类蛋白质组结构这一事件，结构生物学专家、西湖大学校长施一公教授评价其为“</a:t>
            </a:r>
            <a:r>
              <a:rPr lang="en-US" altLang="zh-CN" dirty="0"/>
              <a:t>21 </a:t>
            </a:r>
            <a:r>
              <a:rPr lang="zh-CN" altLang="en-US" dirty="0"/>
              <a:t>世纪人类在科学技术领域上的最大突破之一，是人工智能对科学界做出的重要贡献”。</a:t>
            </a:r>
            <a:endParaRPr lang="en-US" altLang="zh-CN" dirty="0"/>
          </a:p>
          <a:p>
            <a:endParaRPr lang="en-US" altLang="zh-CN" dirty="0"/>
          </a:p>
          <a:p>
            <a:pPr algn="l"/>
            <a:r>
              <a:rPr lang="en-US" altLang="zh-CN" b="0" i="0" dirty="0">
                <a:solidFill>
                  <a:srgbClr val="121212"/>
                </a:solidFill>
                <a:effectLst/>
                <a:latin typeface="-apple-system"/>
              </a:rPr>
              <a:t>AlphaFold</a:t>
            </a:r>
            <a:r>
              <a:rPr lang="zh-CN" altLang="en-US" b="0" i="0" dirty="0">
                <a:solidFill>
                  <a:srgbClr val="121212"/>
                </a:solidFill>
                <a:effectLst/>
                <a:latin typeface="-apple-system"/>
              </a:rPr>
              <a:t>预测的许多结构很可靠，</a:t>
            </a:r>
            <a:r>
              <a:rPr lang="zh-CN" altLang="en-US" b="1" i="0" dirty="0">
                <a:solidFill>
                  <a:srgbClr val="121212"/>
                </a:solidFill>
                <a:effectLst/>
                <a:latin typeface="-apple-system"/>
              </a:rPr>
              <a:t>能在很多情况下替代实验解析的结构。</a:t>
            </a:r>
            <a:r>
              <a:rPr lang="zh-CN" altLang="en-US" b="0" i="0" dirty="0">
                <a:solidFill>
                  <a:srgbClr val="121212"/>
                </a:solidFill>
                <a:effectLst/>
                <a:latin typeface="-apple-system"/>
              </a:rPr>
              <a:t>也有一些缺陷。 </a:t>
            </a:r>
            <a:endParaRPr lang="en-US" altLang="zh-CN" b="0" i="0" dirty="0">
              <a:solidFill>
                <a:srgbClr val="121212"/>
              </a:solidFill>
              <a:effectLst/>
              <a:latin typeface="-apple-system"/>
            </a:endParaRPr>
          </a:p>
        </p:txBody>
      </p:sp>
      <p:sp>
        <p:nvSpPr>
          <p:cNvPr id="4" name="日期占位符 3"/>
          <p:cNvSpPr>
            <a:spLocks noGrp="1"/>
          </p:cNvSpPr>
          <p:nvPr>
            <p:ph type="dt" idx="1"/>
          </p:nvPr>
        </p:nvSpPr>
        <p:spPr/>
        <p:txBody>
          <a:bodyPr/>
          <a:lstStyle/>
          <a:p>
            <a:pPr>
              <a:defRPr/>
            </a:pPr>
            <a:fld id="{EA205CC4-1CAE-4FA1-A962-1A34DB7C7879}" type="datetime1">
              <a:rPr lang="zh-CN" altLang="en-US" smtClean="0"/>
              <a:pPr>
                <a:defRPr/>
              </a:pPr>
              <a:t>2026/9/1</a:t>
            </a:fld>
            <a:endParaRPr lang="en-US" altLang="zh-CN" dirty="0"/>
          </a:p>
        </p:txBody>
      </p:sp>
      <p:sp>
        <p:nvSpPr>
          <p:cNvPr id="5" name="灯片编号占位符 4"/>
          <p:cNvSpPr>
            <a:spLocks noGrp="1"/>
          </p:cNvSpPr>
          <p:nvPr>
            <p:ph type="sldNum" sz="quarter" idx="5"/>
          </p:nvPr>
        </p:nvSpPr>
        <p:spPr/>
        <p:txBody>
          <a:bodyPr/>
          <a:lstStyle/>
          <a:p>
            <a:pPr>
              <a:defRPr/>
            </a:pPr>
            <a:fld id="{F17E7B64-D31F-49F9-A602-099D7B13B654}" type="slidenum">
              <a:rPr lang="en-US" altLang="zh-CN" smtClean="0"/>
              <a:pPr>
                <a:defRPr/>
              </a:pPr>
              <a:t>123</a:t>
            </a:fld>
            <a:endParaRPr lang="en-US" altLang="zh-CN" dirty="0"/>
          </a:p>
        </p:txBody>
      </p:sp>
    </p:spTree>
    <p:extLst>
      <p:ext uri="{BB962C8B-B14F-4D97-AF65-F5344CB8AC3E}">
        <p14:creationId xmlns:p14="http://schemas.microsoft.com/office/powerpoint/2010/main" val="4075903494"/>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DeepMind</a:t>
            </a:r>
            <a:r>
              <a:rPr lang="zh-CN" altLang="en-US" dirty="0"/>
              <a:t>于 </a:t>
            </a:r>
            <a:r>
              <a:rPr lang="en-US" altLang="zh-CN" dirty="0"/>
              <a:t>2010 </a:t>
            </a:r>
            <a:r>
              <a:rPr lang="zh-CN" altLang="en-US" dirty="0"/>
              <a:t>年在英国成立，</a:t>
            </a:r>
            <a:r>
              <a:rPr lang="en-US" altLang="zh-CN" dirty="0"/>
              <a:t>2014 </a:t>
            </a:r>
            <a:r>
              <a:rPr lang="zh-CN" altLang="en-US" dirty="0"/>
              <a:t>年被谷歌收购，并于 </a:t>
            </a:r>
            <a:r>
              <a:rPr lang="en-US" altLang="zh-CN" dirty="0"/>
              <a:t>2023 </a:t>
            </a:r>
            <a:r>
              <a:rPr lang="zh-CN" altLang="en-US" dirty="0"/>
              <a:t>年 </a:t>
            </a:r>
            <a:r>
              <a:rPr lang="en-US" altLang="zh-CN" dirty="0"/>
              <a:t>4 </a:t>
            </a:r>
            <a:r>
              <a:rPr lang="zh-CN" altLang="en-US" dirty="0"/>
              <a:t>月与 </a:t>
            </a:r>
            <a:r>
              <a:rPr lang="en-US" altLang="zh-CN" dirty="0"/>
              <a:t>Google AI </a:t>
            </a:r>
            <a:r>
              <a:rPr lang="zh-CN" altLang="en-US" dirty="0"/>
              <a:t>的 </a:t>
            </a:r>
            <a:r>
              <a:rPr lang="en-US" altLang="zh-CN" dirty="0"/>
              <a:t>Google Brain </a:t>
            </a:r>
            <a:r>
              <a:rPr lang="zh-CN" altLang="en-US" dirty="0"/>
              <a:t>部门合并，成为 </a:t>
            </a:r>
            <a:r>
              <a:rPr lang="en-US" altLang="zh-CN" dirty="0"/>
              <a:t>Google DeepMind</a:t>
            </a:r>
            <a:r>
              <a:rPr lang="zh-CN" altLang="en-US" dirty="0"/>
              <a:t>。该公司总部位于伦敦，在美国、加拿大、法国、德国和瑞士设有研究中心。</a:t>
            </a:r>
            <a:endParaRPr lang="en-US" altLang="zh-CN" dirty="0"/>
          </a:p>
          <a:p>
            <a:r>
              <a:rPr lang="en-US" altLang="zh-CN" dirty="0"/>
              <a:t>2016 </a:t>
            </a:r>
            <a:r>
              <a:rPr lang="zh-CN" altLang="en-US" dirty="0"/>
              <a:t>年，它的 </a:t>
            </a:r>
            <a:r>
              <a:rPr lang="en-US" altLang="zh-CN" dirty="0"/>
              <a:t>AlphaGo </a:t>
            </a:r>
            <a:r>
              <a:rPr lang="zh-CN" altLang="en-US" dirty="0"/>
              <a:t>项目在五局比赛中击败围棋世界冠军李世石后成为头条新闻</a:t>
            </a:r>
            <a:endParaRPr lang="en-US" altLang="zh-CN" dirty="0"/>
          </a:p>
          <a:p>
            <a:r>
              <a:rPr lang="en-US" altLang="zh-CN" dirty="0"/>
              <a:t>2020 </a:t>
            </a:r>
            <a:r>
              <a:rPr lang="zh-CN" altLang="en-US" dirty="0"/>
              <a:t>年，</a:t>
            </a:r>
            <a:r>
              <a:rPr lang="en-US" altLang="zh-CN" dirty="0"/>
              <a:t>DeepMind </a:t>
            </a:r>
            <a:r>
              <a:rPr lang="zh-CN" altLang="en-US" dirty="0"/>
              <a:t>与 </a:t>
            </a:r>
            <a:r>
              <a:rPr lang="en-US" altLang="zh-CN" dirty="0"/>
              <a:t>AlphaFold </a:t>
            </a:r>
            <a:r>
              <a:rPr lang="zh-CN" altLang="en-US" dirty="0"/>
              <a:t>在蛋白质折叠问题上取得了重大进展</a:t>
            </a:r>
            <a:endParaRPr lang="en-US" altLang="zh-CN" dirty="0"/>
          </a:p>
          <a:p>
            <a:endParaRPr lang="en-US" altLang="zh-CN" dirty="0"/>
          </a:p>
          <a:p>
            <a:r>
              <a:rPr lang="en-US" altLang="zh-CN" b="1" dirty="0"/>
              <a:t>David Baker‘s group </a:t>
            </a:r>
            <a:r>
              <a:rPr lang="en-US" altLang="zh-CN" dirty="0"/>
              <a:t>developed the </a:t>
            </a:r>
            <a:r>
              <a:rPr lang="en-US" altLang="zh-CN" b="1" dirty="0"/>
              <a:t>Rosetta algorithm for ab initio protein structure prediction</a:t>
            </a:r>
            <a:r>
              <a:rPr lang="en-US" altLang="zh-CN" dirty="0"/>
              <a:t>, which has been extended into a tool for protein design, a distributed computing project called </a:t>
            </a:r>
            <a:r>
              <a:rPr lang="en-US" altLang="zh-CN" b="1" dirty="0" err="1"/>
              <a:t>Rosetta@home</a:t>
            </a:r>
            <a:r>
              <a:rPr lang="en-US" altLang="zh-CN" dirty="0"/>
              <a:t>, and the computer game Foldit.</a:t>
            </a:r>
            <a:r>
              <a:rPr lang="zh-CN" altLang="en-US" dirty="0"/>
              <a:t> </a:t>
            </a:r>
            <a:r>
              <a:rPr lang="en-US" altLang="zh-CN" dirty="0"/>
              <a:t>Baker served as the director of the Rosetta Commons, a consortium of labs and researchers that develop biomolecular structure prediction and design software. His group has regularly competed in the CASP structure prediction competition, specializing in ab initio methods, including both manually assisted and automated variants of the Rosetta protocol. Using artificial intelligence, his group has developed later a newer version of the program known as </a:t>
            </a:r>
            <a:r>
              <a:rPr lang="en-US" altLang="zh-CN" b="1" dirty="0" err="1"/>
              <a:t>RoseTTAFold</a:t>
            </a:r>
            <a:r>
              <a:rPr lang="en-US" altLang="zh-CN" b="1" dirty="0"/>
              <a:t>.</a:t>
            </a:r>
          </a:p>
          <a:p>
            <a:r>
              <a:rPr lang="en-US" altLang="zh-CN" dirty="0"/>
              <a:t>Baker's group is </a:t>
            </a:r>
            <a:r>
              <a:rPr lang="en-US" altLang="zh-CN" b="1" dirty="0"/>
              <a:t>also active in the field of protein design</a:t>
            </a:r>
            <a:r>
              <a:rPr lang="en-US" altLang="zh-CN" dirty="0"/>
              <a:t>; they are noted for designing Top7, the first artificial protein with a novel fold.</a:t>
            </a:r>
            <a:endParaRPr lang="zh-CN" altLang="en-US" dirty="0"/>
          </a:p>
        </p:txBody>
      </p:sp>
      <p:sp>
        <p:nvSpPr>
          <p:cNvPr id="4" name="日期占位符 3"/>
          <p:cNvSpPr>
            <a:spLocks noGrp="1"/>
          </p:cNvSpPr>
          <p:nvPr>
            <p:ph type="dt" idx="1"/>
          </p:nvPr>
        </p:nvSpPr>
        <p:spPr/>
        <p:txBody>
          <a:bodyPr/>
          <a:lstStyle/>
          <a:p>
            <a:pPr>
              <a:defRPr/>
            </a:pPr>
            <a:fld id="{EA205CC4-1CAE-4FA1-A962-1A34DB7C7879}" type="datetime1">
              <a:rPr lang="zh-CN" altLang="en-US" smtClean="0"/>
              <a:pPr>
                <a:defRPr/>
              </a:pPr>
              <a:t>2026/9/1</a:t>
            </a:fld>
            <a:endParaRPr lang="en-US" altLang="zh-CN" dirty="0"/>
          </a:p>
        </p:txBody>
      </p:sp>
      <p:sp>
        <p:nvSpPr>
          <p:cNvPr id="5" name="灯片编号占位符 4"/>
          <p:cNvSpPr>
            <a:spLocks noGrp="1"/>
          </p:cNvSpPr>
          <p:nvPr>
            <p:ph type="sldNum" sz="quarter" idx="5"/>
          </p:nvPr>
        </p:nvSpPr>
        <p:spPr/>
        <p:txBody>
          <a:bodyPr/>
          <a:lstStyle/>
          <a:p>
            <a:pPr>
              <a:defRPr/>
            </a:pPr>
            <a:fld id="{F17E7B64-D31F-49F9-A602-099D7B13B654}" type="slidenum">
              <a:rPr lang="en-US" altLang="zh-CN" smtClean="0"/>
              <a:pPr>
                <a:defRPr/>
              </a:pPr>
              <a:t>124</a:t>
            </a:fld>
            <a:endParaRPr lang="en-US" altLang="zh-CN" dirty="0"/>
          </a:p>
        </p:txBody>
      </p:sp>
    </p:spTree>
    <p:extLst>
      <p:ext uri="{BB962C8B-B14F-4D97-AF65-F5344CB8AC3E}">
        <p14:creationId xmlns:p14="http://schemas.microsoft.com/office/powerpoint/2010/main" val="3812610370"/>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幻灯片图像占位符 1">
            <a:extLst>
              <a:ext uri="{FF2B5EF4-FFF2-40B4-BE49-F238E27FC236}">
                <a16:creationId xmlns:a16="http://schemas.microsoft.com/office/drawing/2014/main" id="{E3ACB948-34EC-40DE-80BA-EDC822EB6855}"/>
              </a:ext>
            </a:extLst>
          </p:cNvPr>
          <p:cNvSpPr>
            <a:spLocks noGrp="1" noRot="1" noChangeAspect="1" noChangeArrowheads="1" noTextEdit="1"/>
          </p:cNvSpPr>
          <p:nvPr>
            <p:ph type="sldImg"/>
          </p:nvPr>
        </p:nvSpPr>
        <p:spPr>
          <a:xfrm>
            <a:off x="381000" y="685800"/>
            <a:ext cx="6096000" cy="3429000"/>
          </a:xfrm>
          <a:ln/>
        </p:spPr>
      </p:sp>
      <p:sp>
        <p:nvSpPr>
          <p:cNvPr id="297987" name="备注占位符 2">
            <a:extLst>
              <a:ext uri="{FF2B5EF4-FFF2-40B4-BE49-F238E27FC236}">
                <a16:creationId xmlns:a16="http://schemas.microsoft.com/office/drawing/2014/main" id="{1807178E-93F8-4066-9348-7D499785D70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About 200 to 460 kJ/mol are required to break a single covalent bond, whereas weak interactions can be disrupted by a mere 0.4 to 30 kJ/mol.  Yet, because they are so numerous, it is weak interactions that predominate as a stabilizing force in protein structure.</a:t>
            </a:r>
          </a:p>
          <a:p>
            <a:endParaRPr lang="en-US" altLang="zh-CN" dirty="0"/>
          </a:p>
          <a:p>
            <a:endParaRPr lang="en-US" altLang="zh-CN" dirty="0"/>
          </a:p>
        </p:txBody>
      </p:sp>
      <p:sp>
        <p:nvSpPr>
          <p:cNvPr id="297988" name="日期占位符 3">
            <a:extLst>
              <a:ext uri="{FF2B5EF4-FFF2-40B4-BE49-F238E27FC236}">
                <a16:creationId xmlns:a16="http://schemas.microsoft.com/office/drawing/2014/main" id="{D5498E50-E447-44B1-A8F2-2FAC9067D16C}"/>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51E3BE6-33E7-4D39-9CDB-A84C9D4B5D6B}"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297989" name="灯片编号占位符 4">
            <a:extLst>
              <a:ext uri="{FF2B5EF4-FFF2-40B4-BE49-F238E27FC236}">
                <a16:creationId xmlns:a16="http://schemas.microsoft.com/office/drawing/2014/main" id="{ED516F82-E5D6-416F-B696-A67FEF56026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4516F201-BA0A-404C-99A0-F417F8F1C503}" type="slidenum">
              <a:rPr lang="en-US" altLang="zh-CN" sz="1200" smtClean="0">
                <a:latin typeface="Tahoma" panose="020B0604030504040204" pitchFamily="34" charset="0"/>
              </a:rPr>
              <a:pPr/>
              <a:t>125</a:t>
            </a:fld>
            <a:endParaRPr lang="en-US" altLang="zh-CN" sz="1200">
              <a:latin typeface="Tahoma" panose="020B0604030504040204" pitchFamily="34" charset="0"/>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3">
            <a:extLst>
              <a:ext uri="{FF2B5EF4-FFF2-40B4-BE49-F238E27FC236}">
                <a16:creationId xmlns:a16="http://schemas.microsoft.com/office/drawing/2014/main" id="{130BCCAB-8394-458C-AFF0-1A40FD5E9278}"/>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BD55ABD1-DD79-43F6-AC29-0B07AB67886F}"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300035" name="Rectangle 7">
            <a:extLst>
              <a:ext uri="{FF2B5EF4-FFF2-40B4-BE49-F238E27FC236}">
                <a16:creationId xmlns:a16="http://schemas.microsoft.com/office/drawing/2014/main" id="{E22940BC-EF96-4153-A7F4-37A5EC8B78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AC64CC11-4822-455A-938B-94B6306E8B3E}" type="slidenum">
              <a:rPr lang="en-US" altLang="zh-CN" sz="1200" smtClean="0">
                <a:latin typeface="Tahoma" panose="020B0604030504040204" pitchFamily="34" charset="0"/>
              </a:rPr>
              <a:pPr/>
              <a:t>126</a:t>
            </a:fld>
            <a:endParaRPr lang="en-US" altLang="zh-CN" sz="1200">
              <a:latin typeface="Tahoma" panose="020B0604030504040204" pitchFamily="34" charset="0"/>
            </a:endParaRPr>
          </a:p>
        </p:txBody>
      </p:sp>
      <p:sp>
        <p:nvSpPr>
          <p:cNvPr id="300036" name="Rectangle 2">
            <a:extLst>
              <a:ext uri="{FF2B5EF4-FFF2-40B4-BE49-F238E27FC236}">
                <a16:creationId xmlns:a16="http://schemas.microsoft.com/office/drawing/2014/main" id="{296835F3-8872-4AD5-A4C9-23B43AE6B859}"/>
              </a:ext>
            </a:extLst>
          </p:cNvPr>
          <p:cNvSpPr>
            <a:spLocks noGrp="1" noRot="1" noChangeAspect="1" noChangeArrowheads="1" noTextEdit="1"/>
          </p:cNvSpPr>
          <p:nvPr>
            <p:ph type="sldImg"/>
          </p:nvPr>
        </p:nvSpPr>
        <p:spPr>
          <a:xfrm>
            <a:off x="381000" y="685800"/>
            <a:ext cx="6096000" cy="3429000"/>
          </a:xfrm>
          <a:ln/>
        </p:spPr>
      </p:sp>
      <p:sp>
        <p:nvSpPr>
          <p:cNvPr id="300037" name="Rectangle 3">
            <a:extLst>
              <a:ext uri="{FF2B5EF4-FFF2-40B4-BE49-F238E27FC236}">
                <a16:creationId xmlns:a16="http://schemas.microsoft.com/office/drawing/2014/main" id="{D08A18D0-7E2C-44C9-B26F-DFBC234B45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latin typeface="宋体" panose="02010600030101010101" pitchFamily="2" charset="-122"/>
              </a:rPr>
              <a:t>albumins are also globular proteins, but are not globulins.   All other serum globular proteins are </a:t>
            </a:r>
            <a:r>
              <a:rPr lang="en-US" altLang="zh-CN" b="1" dirty="0">
                <a:latin typeface="宋体" panose="02010600030101010101" pitchFamily="2" charset="-122"/>
              </a:rPr>
              <a:t>globulins </a:t>
            </a:r>
            <a:r>
              <a:rPr lang="zh-CN" altLang="en-US" b="1" dirty="0">
                <a:latin typeface="宋体" panose="02010600030101010101" pitchFamily="2" charset="-122"/>
              </a:rPr>
              <a:t>球蛋白</a:t>
            </a:r>
            <a:r>
              <a:rPr lang="en-US" altLang="zh-CN" dirty="0">
                <a:latin typeface="宋体" panose="02010600030101010101" pitchFamily="2" charset="-122"/>
              </a:rPr>
              <a:t>.</a:t>
            </a:r>
          </a:p>
          <a:p>
            <a:r>
              <a:rPr lang="en-US" altLang="zh-CN" dirty="0"/>
              <a:t>All globulins fall into one of the following four categories :</a:t>
            </a:r>
          </a:p>
          <a:p>
            <a:r>
              <a:rPr lang="en-US" altLang="zh-CN" dirty="0"/>
              <a:t>Alpha 1 globulins</a:t>
            </a:r>
          </a:p>
          <a:p>
            <a:r>
              <a:rPr lang="en-US" altLang="zh-CN" dirty="0"/>
              <a:t>Alpha 2 globulins</a:t>
            </a:r>
          </a:p>
          <a:p>
            <a:r>
              <a:rPr lang="en-US" altLang="zh-CN" dirty="0"/>
              <a:t>Beta globulins</a:t>
            </a:r>
          </a:p>
          <a:p>
            <a:r>
              <a:rPr lang="en-US" altLang="zh-CN" dirty="0"/>
              <a:t>Gamma globulins (</a:t>
            </a:r>
            <a:r>
              <a:rPr lang="en-US" altLang="zh-CN" b="1" dirty="0"/>
              <a:t>one group of gamma globulins is the immunoglobulins</a:t>
            </a:r>
            <a:r>
              <a:rPr lang="en-US" altLang="zh-CN" dirty="0"/>
              <a:t>, which are also known as "antibodies")</a:t>
            </a:r>
            <a:endParaRPr lang="zh-CN" altLang="en-US" dirty="0"/>
          </a:p>
          <a:p>
            <a:pPr eaLnBrk="1" hangingPunct="1"/>
            <a:endParaRPr lang="en-US" altLang="zh-CN" dirty="0">
              <a:latin typeface="宋体" panose="02010600030101010101" pitchFamily="2" charset="-122"/>
            </a:endParaRPr>
          </a:p>
          <a:p>
            <a:pPr eaLnBrk="1" hangingPunct="1"/>
            <a:r>
              <a:rPr lang="zh-CN" altLang="en-US" dirty="0">
                <a:latin typeface="宋体" panose="02010600030101010101" pitchFamily="2" charset="-122"/>
              </a:rPr>
              <a:t>结合蛋白中， 绝大部分辅基以共价健与肽链相连</a:t>
            </a:r>
            <a:r>
              <a:rPr lang="zh-CN" altLang="en-US" dirty="0"/>
              <a:t> </a:t>
            </a:r>
          </a:p>
          <a:p>
            <a:pPr eaLnBrk="1" hangingPunct="1"/>
            <a:endParaRPr kumimoji="0" lang="en-US" altLang="zh-CN" dirty="0">
              <a:ea typeface="华文楷体" panose="02010600040101010101" pitchFamily="2" charset="-122"/>
            </a:endParaRPr>
          </a:p>
          <a:p>
            <a:r>
              <a:rPr lang="zh-CN" altLang="en-US" dirty="0">
                <a:latin typeface="楷体_GB2312" pitchFamily="49" charset="-122"/>
                <a:ea typeface="楷体_GB2312" pitchFamily="49" charset="-122"/>
              </a:rPr>
              <a:t>纤维状蛋白质可分为不溶性</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硬蛋白</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和可溶性二类，前者有角蛋白、胶原蛋白和弹性蛋白等；后者有肌球蛋白和纤维蛋白原等，但不包括微管</a:t>
            </a:r>
            <a:r>
              <a:rPr lang="en-US" altLang="zh-CN" dirty="0">
                <a:latin typeface="楷体_GB2312" pitchFamily="49" charset="-122"/>
                <a:ea typeface="楷体_GB2312" pitchFamily="49" charset="-122"/>
              </a:rPr>
              <a:t>(microtubule)</a:t>
            </a:r>
            <a:r>
              <a:rPr lang="zh-CN" altLang="en-US" dirty="0">
                <a:latin typeface="楷体_GB2312" pitchFamily="49" charset="-122"/>
                <a:ea typeface="楷体_GB2312" pitchFamily="49" charset="-122"/>
              </a:rPr>
              <a:t>、肌动蛋白细丝</a:t>
            </a:r>
            <a:r>
              <a:rPr lang="en-US" altLang="zh-CN" dirty="0">
                <a:latin typeface="楷体_GB2312" pitchFamily="49" charset="-122"/>
                <a:ea typeface="楷体_GB2312" pitchFamily="49" charset="-122"/>
              </a:rPr>
              <a:t>(actin filament)</a:t>
            </a:r>
            <a:r>
              <a:rPr lang="zh-CN" altLang="en-US" dirty="0">
                <a:latin typeface="楷体_GB2312" pitchFamily="49" charset="-122"/>
                <a:ea typeface="楷体_GB2312" pitchFamily="49" charset="-122"/>
              </a:rPr>
              <a:t>或鞭毛</a:t>
            </a:r>
            <a:r>
              <a:rPr lang="en-US" altLang="zh-CN" dirty="0">
                <a:latin typeface="楷体_GB2312" pitchFamily="49" charset="-122"/>
                <a:ea typeface="楷体_GB2312" pitchFamily="49" charset="-122"/>
              </a:rPr>
              <a:t>( flagella)</a:t>
            </a:r>
            <a:r>
              <a:rPr lang="zh-CN" altLang="en-US" dirty="0">
                <a:latin typeface="楷体_GB2312" pitchFamily="49" charset="-122"/>
                <a:ea typeface="楷体_GB2312" pitchFamily="49" charset="-122"/>
              </a:rPr>
              <a:t>，它们是球状蛋白质的长向聚集体</a:t>
            </a:r>
            <a:r>
              <a:rPr lang="en-US" altLang="zh-CN" dirty="0">
                <a:latin typeface="楷体_GB2312" pitchFamily="49" charset="-122"/>
                <a:ea typeface="楷体_GB2312" pitchFamily="49" charset="-122"/>
              </a:rPr>
              <a:t>(aggregate)</a:t>
            </a:r>
            <a:r>
              <a:rPr lang="zh-CN" altLang="en-US" dirty="0">
                <a:latin typeface="楷体_GB2312" pitchFamily="49" charset="-122"/>
                <a:ea typeface="楷体_GB2312" pitchFamily="49" charset="-122"/>
              </a:rPr>
              <a:t>。</a:t>
            </a:r>
            <a:endParaRPr lang="en-US" altLang="zh-CN" dirty="0">
              <a:latin typeface="宋体" panose="02010600030101010101" pitchFamily="2" charset="-122"/>
            </a:endParaRPr>
          </a:p>
          <a:p>
            <a:endParaRPr lang="en-US" altLang="zh-CN" sz="2800" b="1" dirty="0">
              <a:latin typeface="楷体_GB2312" pitchFamily="49" charset="-122"/>
              <a:ea typeface="楷体_GB2312" pitchFamily="49" charset="-122"/>
            </a:endParaRPr>
          </a:p>
          <a:p>
            <a:endParaRPr lang="en-US" altLang="zh-CN" dirty="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Conformational flexibility in </a:t>
            </a:r>
            <a:r>
              <a:rPr lang="en-US" altLang="zh-CN" b="1" dirty="0"/>
              <a:t>SUMO-1 protein </a:t>
            </a:r>
            <a:r>
              <a:rPr lang="en-US" altLang="zh-CN" dirty="0"/>
              <a:t>(PDB:1a5r). The central part shows relatively ordered structure. Conversely, the N- and C-terminal regions (left and right, respectively) show ‘intrinsic disorder’, although a short helical region persists in the N-terminal tail.  Ten alternative NMR models were morphed.</a:t>
            </a:r>
          </a:p>
          <a:p>
            <a:endParaRPr lang="en-US" altLang="zh-CN" dirty="0"/>
          </a:p>
          <a:p>
            <a:r>
              <a:rPr lang="en-US" altLang="zh-CN" dirty="0"/>
              <a:t>IDPs range from fully unstructured to partially structured and include random coil, molten globule-like aggregates, or flexible linkers in large multi-domain proteins. They are sometimes considered as a separate class of proteins along with globular, fibrous and membrane proteins.</a:t>
            </a:r>
          </a:p>
          <a:p>
            <a:endParaRPr lang="en-US" altLang="zh-CN" dirty="0"/>
          </a:p>
          <a:p>
            <a:r>
              <a:rPr lang="en-US" altLang="zh-CN" b="0" i="0" dirty="0">
                <a:solidFill>
                  <a:srgbClr val="202122"/>
                </a:solidFill>
                <a:effectLst/>
                <a:latin typeface="Arial" panose="020B0604020202020204" pitchFamily="34" charset="0"/>
              </a:rPr>
              <a:t>Based on DISOPRED2 prediction, long (&gt;30 residue) disordered segments occur in 2.0% of </a:t>
            </a:r>
            <a:r>
              <a:rPr lang="en-US" altLang="zh-CN" b="0" i="0" dirty="0" err="1">
                <a:solidFill>
                  <a:srgbClr val="202122"/>
                </a:solidFill>
                <a:effectLst/>
                <a:latin typeface="Arial" panose="020B0604020202020204" pitchFamily="34" charset="0"/>
              </a:rPr>
              <a:t>archaean</a:t>
            </a:r>
            <a:r>
              <a:rPr lang="en-US" altLang="zh-CN" b="0" i="0" dirty="0">
                <a:solidFill>
                  <a:srgbClr val="202122"/>
                </a:solidFill>
                <a:effectLst/>
                <a:latin typeface="Arial" panose="020B0604020202020204" pitchFamily="34" charset="0"/>
              </a:rPr>
              <a:t>, 4.2% of eubacterial and 33.0% of eukaryotic proteins,</a:t>
            </a:r>
            <a:r>
              <a:rPr lang="en-US" altLang="zh-CN" b="0" i="0" u="none" strike="noStrike" baseline="30000" dirty="0">
                <a:solidFill>
                  <a:srgbClr val="3366CC"/>
                </a:solidFill>
                <a:effectLst/>
                <a:latin typeface="Arial" panose="020B0604020202020204" pitchFamily="34" charset="0"/>
              </a:rPr>
              <a:t> </a:t>
            </a:r>
            <a:r>
              <a:rPr lang="en-US" altLang="zh-CN" b="0" i="0" dirty="0">
                <a:solidFill>
                  <a:srgbClr val="202122"/>
                </a:solidFill>
                <a:effectLst/>
                <a:latin typeface="Arial" panose="020B0604020202020204" pitchFamily="34" charset="0"/>
              </a:rPr>
              <a:t>including certain disease-related proteins.</a:t>
            </a:r>
            <a:endParaRPr lang="zh-CN" altLang="en-US" dirty="0"/>
          </a:p>
        </p:txBody>
      </p:sp>
      <p:sp>
        <p:nvSpPr>
          <p:cNvPr id="4" name="日期占位符 3"/>
          <p:cNvSpPr>
            <a:spLocks noGrp="1"/>
          </p:cNvSpPr>
          <p:nvPr>
            <p:ph type="dt" idx="1"/>
          </p:nvPr>
        </p:nvSpPr>
        <p:spPr/>
        <p:txBody>
          <a:bodyPr/>
          <a:lstStyle/>
          <a:p>
            <a:pPr>
              <a:defRPr/>
            </a:pPr>
            <a:fld id="{EA205CC4-1CAE-4FA1-A962-1A34DB7C7879}" type="datetime1">
              <a:rPr lang="zh-CN" altLang="en-US" smtClean="0"/>
              <a:pPr>
                <a:defRPr/>
              </a:pPr>
              <a:t>2026/9/1</a:t>
            </a:fld>
            <a:endParaRPr lang="en-US" altLang="zh-CN" dirty="0"/>
          </a:p>
        </p:txBody>
      </p:sp>
      <p:sp>
        <p:nvSpPr>
          <p:cNvPr id="5" name="灯片编号占位符 4"/>
          <p:cNvSpPr>
            <a:spLocks noGrp="1"/>
          </p:cNvSpPr>
          <p:nvPr>
            <p:ph type="sldNum" sz="quarter" idx="5"/>
          </p:nvPr>
        </p:nvSpPr>
        <p:spPr/>
        <p:txBody>
          <a:bodyPr/>
          <a:lstStyle/>
          <a:p>
            <a:pPr>
              <a:defRPr/>
            </a:pPr>
            <a:fld id="{F17E7B64-D31F-49F9-A602-099D7B13B654}" type="slidenum">
              <a:rPr lang="en-US" altLang="zh-CN" smtClean="0"/>
              <a:pPr>
                <a:defRPr/>
              </a:pPr>
              <a:t>127</a:t>
            </a:fld>
            <a:endParaRPr lang="en-US" altLang="zh-CN" dirty="0"/>
          </a:p>
        </p:txBody>
      </p:sp>
    </p:spTree>
    <p:extLst>
      <p:ext uri="{BB962C8B-B14F-4D97-AF65-F5344CB8AC3E}">
        <p14:creationId xmlns:p14="http://schemas.microsoft.com/office/powerpoint/2010/main" val="2538458322"/>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幻灯片图像占位符 1">
            <a:extLst>
              <a:ext uri="{FF2B5EF4-FFF2-40B4-BE49-F238E27FC236}">
                <a16:creationId xmlns:a16="http://schemas.microsoft.com/office/drawing/2014/main" id="{B6294B0C-F531-475F-853C-758B4996269E}"/>
              </a:ext>
            </a:extLst>
          </p:cNvPr>
          <p:cNvSpPr>
            <a:spLocks noGrp="1" noRot="1" noChangeAspect="1" noChangeArrowheads="1" noTextEdit="1"/>
          </p:cNvSpPr>
          <p:nvPr>
            <p:ph type="sldImg"/>
          </p:nvPr>
        </p:nvSpPr>
        <p:spPr>
          <a:xfrm>
            <a:off x="381000" y="685800"/>
            <a:ext cx="6096000" cy="3429000"/>
          </a:xfrm>
          <a:ln/>
        </p:spPr>
      </p:sp>
      <p:sp>
        <p:nvSpPr>
          <p:cNvPr id="302083" name="备注占位符 2">
            <a:extLst>
              <a:ext uri="{FF2B5EF4-FFF2-40B4-BE49-F238E27FC236}">
                <a16:creationId xmlns:a16="http://schemas.microsoft.com/office/drawing/2014/main" id="{8A4E7441-BBB2-4269-A1D2-10C381468B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
        <p:nvSpPr>
          <p:cNvPr id="302084" name="日期占位符 3">
            <a:extLst>
              <a:ext uri="{FF2B5EF4-FFF2-40B4-BE49-F238E27FC236}">
                <a16:creationId xmlns:a16="http://schemas.microsoft.com/office/drawing/2014/main" id="{CA153F8C-CEF8-45C3-BF4C-C2E1AC6CACEB}"/>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26317FE1-E0D6-4A0B-82D4-87473477DD08}"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302085" name="灯片编号占位符 4">
            <a:extLst>
              <a:ext uri="{FF2B5EF4-FFF2-40B4-BE49-F238E27FC236}">
                <a16:creationId xmlns:a16="http://schemas.microsoft.com/office/drawing/2014/main" id="{36DEAA5C-81AB-4802-887D-3145823B4B4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0BBFB0B-C066-4BDF-AF78-265561E74094}" type="slidenum">
              <a:rPr lang="en-US" altLang="zh-CN" sz="1200" smtClean="0">
                <a:latin typeface="Tahoma" panose="020B0604030504040204" pitchFamily="34" charset="0"/>
              </a:rPr>
              <a:pPr/>
              <a:t>128</a:t>
            </a:fld>
            <a:endParaRPr lang="en-US" altLang="zh-CN" sz="1200">
              <a:latin typeface="Tahoma" panose="020B0604030504040204" pitchFamily="34" charset="0"/>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幻灯片图像占位符 1">
            <a:extLst>
              <a:ext uri="{FF2B5EF4-FFF2-40B4-BE49-F238E27FC236}">
                <a16:creationId xmlns:a16="http://schemas.microsoft.com/office/drawing/2014/main" id="{74B755CF-626F-433E-97F5-915A27260720}"/>
              </a:ext>
            </a:extLst>
          </p:cNvPr>
          <p:cNvSpPr>
            <a:spLocks noGrp="1" noRot="1" noChangeAspect="1" noChangeArrowheads="1" noTextEdit="1"/>
          </p:cNvSpPr>
          <p:nvPr>
            <p:ph type="sldImg"/>
          </p:nvPr>
        </p:nvSpPr>
        <p:spPr>
          <a:xfrm>
            <a:off x="381000" y="685800"/>
            <a:ext cx="6096000" cy="3429000"/>
          </a:xfrm>
          <a:ln/>
        </p:spPr>
      </p:sp>
      <p:sp>
        <p:nvSpPr>
          <p:cNvPr id="304131" name="备注占位符 2">
            <a:extLst>
              <a:ext uri="{FF2B5EF4-FFF2-40B4-BE49-F238E27FC236}">
                <a16:creationId xmlns:a16="http://schemas.microsoft.com/office/drawing/2014/main" id="{FC6ABE6B-7C40-41C2-AAFE-1C79E12A40D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Each folded polypeptide is shown as a space-filling model, represented at the same scale. </a:t>
            </a:r>
          </a:p>
          <a:p>
            <a:r>
              <a:rPr lang="en-US" altLang="zh-CN" dirty="0"/>
              <a:t>For comparison we also show a portion of a DNA molecule (</a:t>
            </a:r>
            <a:r>
              <a:rPr lang="en-US" altLang="zh-CN" i="1" dirty="0"/>
              <a:t>gray</a:t>
            </a:r>
            <a:r>
              <a:rPr lang="en-US" altLang="zh-CN" dirty="0"/>
              <a:t>) bound to the protein deoxyribonuclease. </a:t>
            </a:r>
          </a:p>
          <a:p>
            <a:endParaRPr lang="en-US" altLang="zh-CN" dirty="0"/>
          </a:p>
          <a:p>
            <a:r>
              <a:rPr lang="en-US" altLang="zh-CN" b="1" dirty="0"/>
              <a:t>Porins </a:t>
            </a:r>
            <a:r>
              <a:rPr lang="en-US" altLang="zh-CN" dirty="0"/>
              <a:t>are channels with wide, water-filled pores found in the outer membranes of gram-negative bacteria and mitochondria. The subunits are composed of an antiparallel barrel of 16 or 18 β-strands that cross the membrane </a:t>
            </a:r>
          </a:p>
          <a:p>
            <a:endParaRPr lang="en-US" altLang="zh-CN" dirty="0"/>
          </a:p>
          <a:p>
            <a:r>
              <a:rPr lang="en-US" altLang="zh-CN" dirty="0"/>
              <a:t>phosphoryl carrier protein </a:t>
            </a:r>
            <a:r>
              <a:rPr lang="en-US" altLang="zh-CN" b="1" dirty="0"/>
              <a:t>(</a:t>
            </a:r>
            <a:r>
              <a:rPr lang="en-US" altLang="zh-CN" b="1" dirty="0" err="1"/>
              <a:t>HPr</a:t>
            </a:r>
            <a:r>
              <a:rPr lang="en-US" altLang="zh-CN" b="1" dirty="0"/>
              <a:t>) </a:t>
            </a:r>
          </a:p>
          <a:p>
            <a:endParaRPr lang="en-US" altLang="zh-CN" dirty="0"/>
          </a:p>
        </p:txBody>
      </p:sp>
      <p:sp>
        <p:nvSpPr>
          <p:cNvPr id="304132" name="日期占位符 3">
            <a:extLst>
              <a:ext uri="{FF2B5EF4-FFF2-40B4-BE49-F238E27FC236}">
                <a16:creationId xmlns:a16="http://schemas.microsoft.com/office/drawing/2014/main" id="{D25F6A6F-2C30-4C34-A2E7-260BE310309C}"/>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9DCED72A-9856-475E-A0DD-CE6459E8AB74}"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304133" name="灯片编号占位符 4">
            <a:extLst>
              <a:ext uri="{FF2B5EF4-FFF2-40B4-BE49-F238E27FC236}">
                <a16:creationId xmlns:a16="http://schemas.microsoft.com/office/drawing/2014/main" id="{388E44F3-FD5A-453E-A020-C27867D9F5A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075F9DA0-32EF-4A2B-A337-020D9E30438F}" type="slidenum">
              <a:rPr lang="en-US" altLang="zh-CN" sz="1200" smtClean="0">
                <a:latin typeface="Tahoma" panose="020B0604030504040204" pitchFamily="34" charset="0"/>
              </a:rPr>
              <a:pPr/>
              <a:t>129</a:t>
            </a:fld>
            <a:endParaRPr lang="en-US" altLang="zh-CN" sz="1200">
              <a:latin typeface="Tahoma" panose="020B0604030504040204" pitchFamily="34" charset="0"/>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幻灯片图像占位符 1">
            <a:extLst>
              <a:ext uri="{FF2B5EF4-FFF2-40B4-BE49-F238E27FC236}">
                <a16:creationId xmlns:a16="http://schemas.microsoft.com/office/drawing/2014/main" id="{68F17170-980F-406A-B152-E1B2C0A2AD1B}"/>
              </a:ext>
            </a:extLst>
          </p:cNvPr>
          <p:cNvSpPr>
            <a:spLocks noGrp="1" noRot="1" noChangeAspect="1" noChangeArrowheads="1" noTextEdit="1"/>
          </p:cNvSpPr>
          <p:nvPr>
            <p:ph type="sldImg"/>
          </p:nvPr>
        </p:nvSpPr>
        <p:spPr>
          <a:xfrm>
            <a:off x="381000" y="685800"/>
            <a:ext cx="6096000" cy="3429000"/>
          </a:xfrm>
          <a:ln/>
        </p:spPr>
      </p:sp>
      <p:sp>
        <p:nvSpPr>
          <p:cNvPr id="306179" name="备注占位符 2">
            <a:extLst>
              <a:ext uri="{FF2B5EF4-FFF2-40B4-BE49-F238E27FC236}">
                <a16:creationId xmlns:a16="http://schemas.microsoft.com/office/drawing/2014/main" id="{29AA3D56-3FA7-48DA-B5D3-26E1083FA4F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通常共价结合的有机小分子称为辅基</a:t>
            </a:r>
            <a:endParaRPr lang="en-US" altLang="zh-CN" dirty="0"/>
          </a:p>
          <a:p>
            <a:endParaRPr lang="en-US" altLang="zh-CN" dirty="0"/>
          </a:p>
          <a:p>
            <a:r>
              <a:rPr lang="en-US" altLang="zh-CN" dirty="0"/>
              <a:t>Be familiar with the terms: glycoprotein, lipoprotein, nucleoprotein, phosphoprotein, metalloprotein, hemoprotein, flavoprotein.</a:t>
            </a:r>
          </a:p>
          <a:p>
            <a:endParaRPr lang="zh-CN" altLang="en-US" dirty="0"/>
          </a:p>
        </p:txBody>
      </p:sp>
      <p:sp>
        <p:nvSpPr>
          <p:cNvPr id="306180" name="日期占位符 3">
            <a:extLst>
              <a:ext uri="{FF2B5EF4-FFF2-40B4-BE49-F238E27FC236}">
                <a16:creationId xmlns:a16="http://schemas.microsoft.com/office/drawing/2014/main" id="{6ACCB2F8-4E32-4AD7-A3DE-4D41BD81604B}"/>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18C51B2D-2AD4-4443-84B2-BF69257ACF82}"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306181" name="灯片编号占位符 4">
            <a:extLst>
              <a:ext uri="{FF2B5EF4-FFF2-40B4-BE49-F238E27FC236}">
                <a16:creationId xmlns:a16="http://schemas.microsoft.com/office/drawing/2014/main" id="{BE18B5B5-6149-4E98-86BB-5AE7F3E12E8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BB0C3F8-21E2-4D93-AF1B-834A8734C3F4}" type="slidenum">
              <a:rPr lang="en-US" altLang="zh-CN" sz="1200" smtClean="0">
                <a:latin typeface="Tahoma" panose="020B0604030504040204" pitchFamily="34" charset="0"/>
              </a:rPr>
              <a:pPr/>
              <a:t>130</a:t>
            </a:fld>
            <a:endParaRPr lang="en-US" altLang="zh-CN" sz="1200">
              <a:latin typeface="Tahoma" panose="020B0604030504040204" pitchFamily="34" charset="0"/>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幻灯片图像占位符 1">
            <a:extLst>
              <a:ext uri="{FF2B5EF4-FFF2-40B4-BE49-F238E27FC236}">
                <a16:creationId xmlns:a16="http://schemas.microsoft.com/office/drawing/2014/main" id="{D77B22EF-80DA-4D8D-B262-3975F3B974C5}"/>
              </a:ext>
            </a:extLst>
          </p:cNvPr>
          <p:cNvSpPr>
            <a:spLocks noGrp="1" noRot="1" noChangeAspect="1" noChangeArrowheads="1" noTextEdit="1"/>
          </p:cNvSpPr>
          <p:nvPr>
            <p:ph type="sldImg"/>
          </p:nvPr>
        </p:nvSpPr>
        <p:spPr>
          <a:xfrm>
            <a:off x="381000" y="685800"/>
            <a:ext cx="6096000" cy="3429000"/>
          </a:xfrm>
          <a:ln/>
        </p:spPr>
      </p:sp>
      <p:sp>
        <p:nvSpPr>
          <p:cNvPr id="308227" name="备注占位符 2">
            <a:extLst>
              <a:ext uri="{FF2B5EF4-FFF2-40B4-BE49-F238E27FC236}">
                <a16:creationId xmlns:a16="http://schemas.microsoft.com/office/drawing/2014/main" id="{9A3973E0-7ABF-460C-8BED-AA600A49BD4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蛋白质亚家族： 有的数据库将结构与功能相联系的数个家族称为蛋白质超家族，下含数个亚家族（</a:t>
            </a:r>
            <a:r>
              <a:rPr lang="en-US" altLang="zh-CN" dirty="0"/>
              <a:t>subfamily)</a:t>
            </a:r>
          </a:p>
          <a:p>
            <a:endParaRPr lang="en-US" altLang="zh-CN" dirty="0"/>
          </a:p>
          <a:p>
            <a:r>
              <a:rPr lang="en-US" altLang="zh-CN" dirty="0"/>
              <a:t>The protein structures in the PDB belong to about 4,000 different protein families.</a:t>
            </a:r>
          </a:p>
          <a:p>
            <a:endParaRPr lang="en-US" altLang="zh-CN" dirty="0"/>
          </a:p>
          <a:p>
            <a:endParaRPr lang="en-US" altLang="zh-CN" dirty="0"/>
          </a:p>
        </p:txBody>
      </p:sp>
      <p:sp>
        <p:nvSpPr>
          <p:cNvPr id="308228" name="日期占位符 3">
            <a:extLst>
              <a:ext uri="{FF2B5EF4-FFF2-40B4-BE49-F238E27FC236}">
                <a16:creationId xmlns:a16="http://schemas.microsoft.com/office/drawing/2014/main" id="{9BC21C9D-6650-4212-BFB8-64D1BE207D1C}"/>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8BF93B8F-9C19-4B9E-B5FE-F4144A99A097}"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308229" name="灯片编号占位符 4">
            <a:extLst>
              <a:ext uri="{FF2B5EF4-FFF2-40B4-BE49-F238E27FC236}">
                <a16:creationId xmlns:a16="http://schemas.microsoft.com/office/drawing/2014/main" id="{3EDF0D04-12B7-4945-9DE6-A52547DB75A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06F7A202-06CF-4310-8115-743C32367C2F}" type="slidenum">
              <a:rPr lang="en-US" altLang="zh-CN" sz="1200" smtClean="0">
                <a:latin typeface="Tahoma" panose="020B0604030504040204" pitchFamily="34" charset="0"/>
              </a:rPr>
              <a:pPr/>
              <a:t>131</a:t>
            </a:fld>
            <a:endParaRPr lang="en-US" altLang="zh-CN" sz="1200">
              <a:latin typeface="Tahoma" panose="020B0604030504040204" pitchFamily="34" charset="0"/>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幻灯片图像占位符 1">
            <a:extLst>
              <a:ext uri="{FF2B5EF4-FFF2-40B4-BE49-F238E27FC236}">
                <a16:creationId xmlns:a16="http://schemas.microsoft.com/office/drawing/2014/main" id="{47A04C37-8D1D-4BBD-B3BA-841F9E32C5CA}"/>
              </a:ext>
            </a:extLst>
          </p:cNvPr>
          <p:cNvSpPr>
            <a:spLocks noGrp="1" noRot="1" noChangeAspect="1" noChangeArrowheads="1" noTextEdit="1"/>
          </p:cNvSpPr>
          <p:nvPr>
            <p:ph type="sldImg"/>
          </p:nvPr>
        </p:nvSpPr>
        <p:spPr>
          <a:xfrm>
            <a:off x="381000" y="685800"/>
            <a:ext cx="6096000" cy="3429000"/>
          </a:xfrm>
          <a:ln/>
        </p:spPr>
      </p:sp>
      <p:sp>
        <p:nvSpPr>
          <p:cNvPr id="310275" name="备注占位符 2">
            <a:extLst>
              <a:ext uri="{FF2B5EF4-FFF2-40B4-BE49-F238E27FC236}">
                <a16:creationId xmlns:a16="http://schemas.microsoft.com/office/drawing/2014/main" id="{048A596B-E4DC-4AD6-A0D7-AF5C55298CD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注：２：０２处的翻译有误，应为： </a:t>
            </a:r>
            <a:r>
              <a:rPr lang="zh-CN" altLang="en-US" dirty="0">
                <a:sym typeface="Symbol" panose="05050102010706020507" pitchFamily="18" charset="2"/>
              </a:rPr>
              <a:t>螺旋内的</a:t>
            </a:r>
            <a:r>
              <a:rPr lang="zh-CN" altLang="en-US" dirty="0"/>
              <a:t>氢键在邻近氨基酸的氨基与羰基之间生成。   </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dirty="0">
                <a:solidFill>
                  <a:srgbClr val="000000"/>
                </a:solidFill>
                <a:latin typeface="Arial" panose="020B0604020202020204" pitchFamily="34" charset="0"/>
                <a:ea typeface="宋体" panose="02010600030101010101" pitchFamily="2" charset="-122"/>
              </a:rPr>
              <a:t>https://www.bilibili.com/video/BV1ZJ411e7RD/</a:t>
            </a:r>
            <a:endParaRPr lang="zh-CN" altLang="en-US" sz="1200" b="0" dirty="0">
              <a:solidFill>
                <a:srgbClr val="000000"/>
              </a:solidFill>
              <a:latin typeface="Arial" panose="020B0604020202020204" pitchFamily="34" charset="0"/>
              <a:ea typeface="宋体" panose="02010600030101010101" pitchFamily="2" charset="-122"/>
            </a:endParaRPr>
          </a:p>
          <a:p>
            <a:endParaRPr lang="en-US" altLang="zh-CN" dirty="0"/>
          </a:p>
          <a:p>
            <a:r>
              <a:rPr lang="zh-CN" altLang="en-US" dirty="0"/>
              <a:t>源自</a:t>
            </a:r>
            <a:r>
              <a:rPr lang="en-US" altLang="zh-CN" dirty="0"/>
              <a:t>PDB-101 </a:t>
            </a:r>
            <a:endParaRPr lang="zh-CN" altLang="en-US" dirty="0"/>
          </a:p>
        </p:txBody>
      </p:sp>
      <p:sp>
        <p:nvSpPr>
          <p:cNvPr id="310276" name="日期占位符 3">
            <a:extLst>
              <a:ext uri="{FF2B5EF4-FFF2-40B4-BE49-F238E27FC236}">
                <a16:creationId xmlns:a16="http://schemas.microsoft.com/office/drawing/2014/main" id="{3C4E6C37-2AC7-4385-AAAC-EF3D6E4CF13F}"/>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B79C89D3-36E9-4EF5-AD0D-3E9356989FBD}"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310277" name="灯片编号占位符 4">
            <a:extLst>
              <a:ext uri="{FF2B5EF4-FFF2-40B4-BE49-F238E27FC236}">
                <a16:creationId xmlns:a16="http://schemas.microsoft.com/office/drawing/2014/main" id="{AAF9C7F9-686E-4FBD-A174-4C1F7EAFE42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72474D35-9D3A-418A-867C-8291BF31E6B0}" type="slidenum">
              <a:rPr lang="en-US" altLang="zh-CN" sz="1200" smtClean="0">
                <a:latin typeface="Tahoma" panose="020B0604030504040204" pitchFamily="34" charset="0"/>
              </a:rPr>
              <a:pPr/>
              <a:t>132</a:t>
            </a:fld>
            <a:endParaRPr lang="en-US" altLang="zh-CN" sz="1200">
              <a:latin typeface="Tahoma" panose="020B0604030504040204" pitchFamily="34" charset="0"/>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幻灯片图像占位符 1">
            <a:extLst>
              <a:ext uri="{FF2B5EF4-FFF2-40B4-BE49-F238E27FC236}">
                <a16:creationId xmlns:a16="http://schemas.microsoft.com/office/drawing/2014/main" id="{48371534-8920-430D-A28B-EFA65FEFF56B}"/>
              </a:ext>
            </a:extLst>
          </p:cNvPr>
          <p:cNvSpPr>
            <a:spLocks noGrp="1" noRot="1" noChangeAspect="1" noChangeArrowheads="1" noTextEdit="1"/>
          </p:cNvSpPr>
          <p:nvPr>
            <p:ph type="sldImg"/>
          </p:nvPr>
        </p:nvSpPr>
        <p:spPr>
          <a:xfrm>
            <a:off x="381000" y="685800"/>
            <a:ext cx="6096000" cy="3429000"/>
          </a:xfrm>
          <a:ln/>
        </p:spPr>
      </p:sp>
      <p:sp>
        <p:nvSpPr>
          <p:cNvPr id="312323" name="备注占位符 2">
            <a:extLst>
              <a:ext uri="{FF2B5EF4-FFF2-40B4-BE49-F238E27FC236}">
                <a16:creationId xmlns:a16="http://schemas.microsoft.com/office/drawing/2014/main" id="{B336C092-4947-4A9A-8763-D49F28113AF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312324" name="日期占位符 3">
            <a:extLst>
              <a:ext uri="{FF2B5EF4-FFF2-40B4-BE49-F238E27FC236}">
                <a16:creationId xmlns:a16="http://schemas.microsoft.com/office/drawing/2014/main" id="{2A7A0723-76CC-48F9-9C72-6A00DD15979E}"/>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609DBF45-AB8A-4F1F-A4DC-E56245103805}" type="datetime1">
              <a:rPr lang="zh-CN" altLang="en-US" sz="1200" smtClean="0">
                <a:latin typeface="Tahoma" panose="020B0604030504040204" pitchFamily="34" charset="0"/>
              </a:rPr>
              <a:pPr/>
              <a:t>2026/9/1</a:t>
            </a:fld>
            <a:endParaRPr lang="en-US" altLang="zh-CN" sz="1200">
              <a:latin typeface="Tahoma" panose="020B0604030504040204" pitchFamily="34" charset="0"/>
            </a:endParaRPr>
          </a:p>
        </p:txBody>
      </p:sp>
      <p:sp>
        <p:nvSpPr>
          <p:cNvPr id="312325" name="灯片编号占位符 4">
            <a:extLst>
              <a:ext uri="{FF2B5EF4-FFF2-40B4-BE49-F238E27FC236}">
                <a16:creationId xmlns:a16="http://schemas.microsoft.com/office/drawing/2014/main" id="{413E15F2-C8AD-4A81-A3CB-40EEF754F62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fld id="{37BCC9D6-C38A-4999-8173-6485CF526EE2}" type="slidenum">
              <a:rPr lang="en-US" altLang="zh-CN" sz="1200" smtClean="0">
                <a:latin typeface="Tahoma" panose="020B0604030504040204" pitchFamily="34" charset="0"/>
              </a:rPr>
              <a:pPr/>
              <a:t>133</a:t>
            </a:fld>
            <a:endParaRPr lang="en-US" altLang="zh-CN" sz="1200">
              <a:latin typeface="Tahoma" panose="020B060403050404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3_标题幻灯片">
    <p:bg bwMode="gray">
      <p:bgPr>
        <a:solidFill>
          <a:schemeClr val="bg1"/>
        </a:solidFill>
        <a:effectLst/>
      </p:bgPr>
    </p:bg>
    <p:spTree>
      <p:nvGrpSpPr>
        <p:cNvPr id="1" name=""/>
        <p:cNvGrpSpPr/>
        <p:nvPr/>
      </p:nvGrpSpPr>
      <p:grpSpPr>
        <a:xfrm>
          <a:off x="0" y="0"/>
          <a:ext cx="0" cy="0"/>
          <a:chOff x="0" y="0"/>
          <a:chExt cx="0" cy="0"/>
        </a:xfrm>
      </p:grpSpPr>
      <p:pic>
        <p:nvPicPr>
          <p:cNvPr id="4" name="图片 13">
            <a:extLst>
              <a:ext uri="{FF2B5EF4-FFF2-40B4-BE49-F238E27FC236}">
                <a16:creationId xmlns:a16="http://schemas.microsoft.com/office/drawing/2014/main" id="{E3A6FEEA-5C08-4338-A18F-4F9BB50B2EC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4586289"/>
            <a:ext cx="12192000" cy="229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13">
            <a:extLst>
              <a:ext uri="{FF2B5EF4-FFF2-40B4-BE49-F238E27FC236}">
                <a16:creationId xmlns:a16="http://schemas.microsoft.com/office/drawing/2014/main" id="{74243D97-FC2B-466E-AC3F-1F14CFD43945}"/>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43934" y="63501"/>
            <a:ext cx="4207933" cy="116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8470" name="Rectangle 6"/>
          <p:cNvSpPr>
            <a:spLocks noGrp="1" noChangeArrowheads="1"/>
          </p:cNvSpPr>
          <p:nvPr>
            <p:ph type="ctrTitle"/>
          </p:nvPr>
        </p:nvSpPr>
        <p:spPr bwMode="gray">
          <a:xfrm>
            <a:off x="1251743" y="2456129"/>
            <a:ext cx="9688512" cy="838200"/>
          </a:xfrm>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a:lstStyle>
            <a:lvl1pPr algn="r">
              <a:defRPr sz="4400">
                <a:solidFill>
                  <a:srgbClr val="C00000"/>
                </a:solidFill>
              </a:defRPr>
            </a:lvl1pPr>
          </a:lstStyle>
          <a:p>
            <a:r>
              <a:rPr lang="zh-CN" altLang="en-US" dirty="0"/>
              <a:t>单击此处编辑母版标题样式</a:t>
            </a:r>
          </a:p>
        </p:txBody>
      </p:sp>
      <p:sp>
        <p:nvSpPr>
          <p:cNvPr id="318471" name="Rectangle 7"/>
          <p:cNvSpPr>
            <a:spLocks noGrp="1" noChangeArrowheads="1"/>
          </p:cNvSpPr>
          <p:nvPr>
            <p:ph type="subTitle" idx="1"/>
          </p:nvPr>
        </p:nvSpPr>
        <p:spPr bwMode="gray">
          <a:xfrm>
            <a:off x="2735627" y="3717032"/>
            <a:ext cx="7181851" cy="533400"/>
          </a:xfrm>
        </p:spPr>
        <p:txBody>
          <a:bodyPr/>
          <a:lstStyle>
            <a:lvl1pPr marL="0" indent="0" algn="ctr">
              <a:buFont typeface="Wingdings" pitchFamily="2" charset="2"/>
              <a:buNone/>
              <a:defRPr sz="1600" b="0">
                <a:solidFill>
                  <a:srgbClr val="C00000"/>
                </a:solidFill>
              </a:defRPr>
            </a:lvl1pPr>
          </a:lstStyle>
          <a:p>
            <a:r>
              <a:rPr lang="zh-CN" altLang="en-US" dirty="0"/>
              <a:t>单击此处编辑母版副标题样式</a:t>
            </a:r>
          </a:p>
        </p:txBody>
      </p:sp>
    </p:spTree>
    <p:extLst>
      <p:ext uri="{BB962C8B-B14F-4D97-AF65-F5344CB8AC3E}">
        <p14:creationId xmlns:p14="http://schemas.microsoft.com/office/powerpoint/2010/main" val="971972964"/>
      </p:ext>
    </p:extLst>
  </p:cSld>
  <p:clrMapOvr>
    <a:masterClrMapping/>
  </p:clrMapOvr>
  <p:transition spd="slow">
    <p:circl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bwMode="gray">
      <p:bgPr>
        <a:solidFill>
          <a:schemeClr val="bg1"/>
        </a:solid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098D2A-97A0-4EC2-8546-03D98B3A01CA}"/>
              </a:ext>
            </a:extLst>
          </p:cNvPr>
          <p:cNvSpPr/>
          <p:nvPr userDrawn="1"/>
        </p:nvSpPr>
        <p:spPr bwMode="auto">
          <a:xfrm>
            <a:off x="1" y="0"/>
            <a:ext cx="12221633" cy="764704"/>
          </a:xfrm>
          <a:prstGeom prst="rect">
            <a:avLst/>
          </a:prstGeom>
          <a:blipFill dpi="0" rotWithShape="1">
            <a:blip r:embed="rId2"/>
            <a:srcRect/>
            <a:tile tx="-1790700" ty="3162300" sx="100000" sy="100000" flip="none" algn="tl"/>
          </a:bli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zh-CN" altLang="en-US" sz="1600"/>
          </a:p>
        </p:txBody>
      </p:sp>
    </p:spTree>
    <p:extLst>
      <p:ext uri="{BB962C8B-B14F-4D97-AF65-F5344CB8AC3E}">
        <p14:creationId xmlns:p14="http://schemas.microsoft.com/office/powerpoint/2010/main" val="2122425239"/>
      </p:ext>
    </p:extLst>
  </p:cSld>
  <p:clrMapOvr>
    <a:masterClrMapping/>
  </p:clrMapOvr>
  <p:transition spd="slow">
    <p:circl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bwMode="gray">
      <p:bgPr>
        <a:solidFill>
          <a:schemeClr val="bg1"/>
        </a:solidFill>
        <a:effectLst/>
      </p:bgPr>
    </p:bg>
    <p:spTree>
      <p:nvGrpSpPr>
        <p:cNvPr id="1" name=""/>
        <p:cNvGrpSpPr/>
        <p:nvPr/>
      </p:nvGrpSpPr>
      <p:grpSpPr>
        <a:xfrm>
          <a:off x="0" y="0"/>
          <a:ext cx="0" cy="0"/>
          <a:chOff x="0" y="0"/>
          <a:chExt cx="0" cy="0"/>
        </a:xfrm>
      </p:grpSpPr>
      <p:pic>
        <p:nvPicPr>
          <p:cNvPr id="2" name="图片 12">
            <a:extLst>
              <a:ext uri="{FF2B5EF4-FFF2-40B4-BE49-F238E27FC236}">
                <a16:creationId xmlns:a16="http://schemas.microsoft.com/office/drawing/2014/main" id="{7CF7F9A6-A634-4934-A157-02876AA7AE3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42332" r="44331"/>
          <a:stretch>
            <a:fillRect/>
          </a:stretch>
        </p:blipFill>
        <p:spPr bwMode="auto">
          <a:xfrm>
            <a:off x="1" y="0"/>
            <a:ext cx="1005417"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70301019"/>
      </p:ext>
    </p:extLst>
  </p:cSld>
  <p:clrMapOvr>
    <a:masterClrMapping/>
  </p:clrMapOvr>
  <p:transition spd="slow">
    <p:circl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圆角矩形 12">
            <a:extLst>
              <a:ext uri="{FF2B5EF4-FFF2-40B4-BE49-F238E27FC236}">
                <a16:creationId xmlns:a16="http://schemas.microsoft.com/office/drawing/2014/main" id="{374E8A54-4C28-439A-B84C-E2FD4DF23873}"/>
              </a:ext>
            </a:extLst>
          </p:cNvPr>
          <p:cNvSpPr>
            <a:spLocks noChangeArrowheads="1"/>
          </p:cNvSpPr>
          <p:nvPr userDrawn="1"/>
        </p:nvSpPr>
        <p:spPr bwMode="auto">
          <a:xfrm>
            <a:off x="609601" y="103189"/>
            <a:ext cx="9038167" cy="733425"/>
          </a:xfrm>
          <a:prstGeom prst="roundRect">
            <a:avLst>
              <a:gd name="adj" fmla="val 16667"/>
            </a:avLst>
          </a:prstGeom>
          <a:solidFill>
            <a:srgbClr val="1D7ACF"/>
          </a:solidFill>
          <a:ln>
            <a:noFill/>
          </a:ln>
        </p:spPr>
        <p:txBody>
          <a:bodyPr wrap="none"/>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600"/>
          </a:p>
        </p:txBody>
      </p:sp>
      <p:sp>
        <p:nvSpPr>
          <p:cNvPr id="2" name="标题 1"/>
          <p:cNvSpPr>
            <a:spLocks noGrp="1"/>
          </p:cNvSpPr>
          <p:nvPr>
            <p:ph type="title"/>
          </p:nvPr>
        </p:nvSpPr>
        <p:spPr>
          <a:xfrm>
            <a:off x="321568" y="44624"/>
            <a:ext cx="9134805" cy="752204"/>
          </a:xfrm>
        </p:spPr>
        <p:txBody>
          <a:bodyPr/>
          <a:lstStyle>
            <a:lvl1pPr algn="ctr">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b="0"/>
            </a:lvl1pPr>
            <a:lvl2pPr>
              <a:defRPr b="0"/>
            </a:lvl2pPr>
            <a:lvl3pPr>
              <a:defRPr b="0"/>
            </a:lvl3pPr>
            <a:lvl4pPr>
              <a:defRPr b="0"/>
            </a:lvl4pPr>
            <a:lvl5pPr>
              <a:defRPr b="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617214039"/>
      </p:ext>
    </p:extLst>
  </p:cSld>
  <p:clrMapOvr>
    <a:masterClrMapping/>
  </p:clrMapOvr>
  <p:transition spd="slow">
    <p:circl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4" name="圆角矩形 12">
            <a:extLst>
              <a:ext uri="{FF2B5EF4-FFF2-40B4-BE49-F238E27FC236}">
                <a16:creationId xmlns:a16="http://schemas.microsoft.com/office/drawing/2014/main" id="{BE82C8AB-5471-47FF-B0BC-8FFC43E727BC}"/>
              </a:ext>
            </a:extLst>
          </p:cNvPr>
          <p:cNvSpPr>
            <a:spLocks noChangeArrowheads="1"/>
          </p:cNvSpPr>
          <p:nvPr userDrawn="1"/>
        </p:nvSpPr>
        <p:spPr bwMode="auto">
          <a:xfrm>
            <a:off x="609600" y="103189"/>
            <a:ext cx="11150600" cy="733425"/>
          </a:xfrm>
          <a:prstGeom prst="roundRect">
            <a:avLst>
              <a:gd name="adj" fmla="val 16667"/>
            </a:avLst>
          </a:prstGeom>
          <a:solidFill>
            <a:srgbClr val="1D7ACF"/>
          </a:solidFill>
          <a:ln>
            <a:noFill/>
          </a:ln>
        </p:spPr>
        <p:txBody>
          <a:bodyPr wrap="none"/>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600"/>
          </a:p>
        </p:txBody>
      </p:sp>
      <p:sp>
        <p:nvSpPr>
          <p:cNvPr id="2" name="标题 1"/>
          <p:cNvSpPr>
            <a:spLocks noGrp="1"/>
          </p:cNvSpPr>
          <p:nvPr>
            <p:ph type="title"/>
          </p:nvPr>
        </p:nvSpPr>
        <p:spPr>
          <a:xfrm>
            <a:off x="321568" y="44624"/>
            <a:ext cx="9134805" cy="752204"/>
          </a:xfrm>
        </p:spPr>
        <p:txBody>
          <a:bodyPr/>
          <a:lstStyle>
            <a:lvl1pPr algn="ctr">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b="0"/>
            </a:lvl1pPr>
            <a:lvl2pPr>
              <a:defRPr b="0"/>
            </a:lvl2pPr>
            <a:lvl3pPr>
              <a:defRPr b="0"/>
            </a:lvl3pPr>
            <a:lvl4pPr>
              <a:defRPr b="0"/>
            </a:lvl4pPr>
            <a:lvl5pPr>
              <a:defRPr b="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844294120"/>
      </p:ext>
    </p:extLst>
  </p:cSld>
  <p:clrMapOvr>
    <a:masterClrMapping/>
  </p:clrMapOvr>
  <p:transition spd="slow">
    <p:circl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圆角矩形 12">
            <a:extLst>
              <a:ext uri="{FF2B5EF4-FFF2-40B4-BE49-F238E27FC236}">
                <a16:creationId xmlns:a16="http://schemas.microsoft.com/office/drawing/2014/main" id="{989F240A-A1E7-4ED8-ACDE-2D6401403B33}"/>
              </a:ext>
            </a:extLst>
          </p:cNvPr>
          <p:cNvSpPr>
            <a:spLocks noChangeArrowheads="1"/>
          </p:cNvSpPr>
          <p:nvPr userDrawn="1"/>
        </p:nvSpPr>
        <p:spPr bwMode="auto">
          <a:xfrm>
            <a:off x="609600" y="103189"/>
            <a:ext cx="11150600" cy="733425"/>
          </a:xfrm>
          <a:prstGeom prst="roundRect">
            <a:avLst>
              <a:gd name="adj" fmla="val 16667"/>
            </a:avLst>
          </a:prstGeom>
          <a:solidFill>
            <a:srgbClr val="1D7ACF"/>
          </a:solidFill>
          <a:ln>
            <a:noFill/>
          </a:ln>
        </p:spPr>
        <p:txBody>
          <a:bodyPr wrap="none"/>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600"/>
          </a:p>
        </p:txBody>
      </p:sp>
    </p:spTree>
    <p:extLst>
      <p:ext uri="{BB962C8B-B14F-4D97-AF65-F5344CB8AC3E}">
        <p14:creationId xmlns:p14="http://schemas.microsoft.com/office/powerpoint/2010/main" val="4076010878"/>
      </p:ext>
    </p:extLst>
  </p:cSld>
  <p:clrMapOvr>
    <a:masterClrMapping/>
  </p:clrMapOvr>
  <p:transition spd="slow">
    <p:circl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a:defRPr b="0"/>
            </a:lvl1pPr>
            <a:lvl2pPr>
              <a:defRPr b="0"/>
            </a:lvl2pPr>
            <a:lvl3pPr>
              <a:defRPr b="0"/>
            </a:lvl3pPr>
            <a:lvl4pPr>
              <a:defRPr b="0"/>
            </a:lvl4pPr>
            <a:lvl5pPr>
              <a:defRPr b="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765591236"/>
      </p:ext>
    </p:extLst>
  </p:cSld>
  <p:clrMapOvr>
    <a:masterClrMapping/>
  </p:clrMapOvr>
  <p:transition spd="slow">
    <p:circl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628734998"/>
      </p:ext>
    </p:extLst>
  </p:cSld>
  <p:clrMapOvr>
    <a:masterClrMapping/>
  </p:clrMapOvr>
  <p:transition spd="slow">
    <p:circl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125539"/>
            <a:ext cx="5384800" cy="51895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125539"/>
            <a:ext cx="5384800" cy="51895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186055144"/>
      </p:ext>
    </p:extLst>
  </p:cSld>
  <p:clrMapOvr>
    <a:masterClrMapping/>
  </p:clrMapOvr>
  <p:transition spd="slow">
    <p:circl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582859165"/>
      </p:ext>
    </p:extLst>
  </p:cSld>
  <p:clrMapOvr>
    <a:masterClrMapping/>
  </p:clrMapOvr>
  <p:transition spd="slow">
    <p:circl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878075363"/>
      </p:ext>
    </p:extLst>
  </p:cSld>
  <p:clrMapOvr>
    <a:masterClrMapping/>
  </p:clrMapOvr>
  <p:transition spd="slow">
    <p:circl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6578581"/>
      </p:ext>
    </p:extLst>
  </p:cSld>
  <p:clrMapOvr>
    <a:masterClrMapping/>
  </p:clrMapOvr>
  <p:transition spd="slow">
    <p:circl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2_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9407975"/>
      </p:ext>
    </p:extLst>
  </p:cSld>
  <p:clrMapOvr>
    <a:masterClrMapping/>
  </p:clrMapOvr>
  <p:transition spd="slow">
    <p:circl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空白">
    <p:spTree>
      <p:nvGrpSpPr>
        <p:cNvPr id="1" name=""/>
        <p:cNvGrpSpPr/>
        <p:nvPr/>
      </p:nvGrpSpPr>
      <p:grpSpPr>
        <a:xfrm>
          <a:off x="0" y="0"/>
          <a:ext cx="0" cy="0"/>
          <a:chOff x="0" y="0"/>
          <a:chExt cx="0" cy="0"/>
        </a:xfrm>
      </p:grpSpPr>
      <p:sp>
        <p:nvSpPr>
          <p:cNvPr id="2" name="内容占位符 2"/>
          <p:cNvSpPr>
            <a:spLocks noGrp="1"/>
          </p:cNvSpPr>
          <p:nvPr>
            <p:ph idx="1"/>
          </p:nvPr>
        </p:nvSpPr>
        <p:spPr>
          <a:xfrm>
            <a:off x="6096000" y="1125539"/>
            <a:ext cx="5486400" cy="5189537"/>
          </a:xfrm>
        </p:spPr>
        <p:txBody>
          <a:bodyPr/>
          <a:lstStyle>
            <a:lvl1pPr>
              <a:defRPr b="0"/>
            </a:lvl1pPr>
            <a:lvl2pPr>
              <a:defRPr b="0"/>
            </a:lvl2pPr>
            <a:lvl3pPr>
              <a:defRPr b="0"/>
            </a:lvl3pPr>
            <a:lvl4pPr>
              <a:defRPr b="0"/>
            </a:lvl4pPr>
            <a:lvl5pPr>
              <a:defRPr b="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692095219"/>
      </p:ext>
    </p:extLst>
  </p:cSld>
  <p:clrMapOvr>
    <a:masterClrMapping/>
  </p:clrMapOvr>
  <p:transition spd="slow">
    <p:circl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227395306"/>
      </p:ext>
    </p:extLst>
  </p:cSld>
  <p:clrMapOvr>
    <a:masterClrMapping/>
  </p:clrMapOvr>
  <p:transition spd="slow">
    <p:circl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753195123"/>
      </p:ext>
    </p:extLst>
  </p:cSld>
  <p:clrMapOvr>
    <a:masterClrMapping/>
  </p:clrMapOvr>
  <p:transition spd="slow">
    <p:circl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263677521"/>
      </p:ext>
    </p:extLst>
  </p:cSld>
  <p:clrMapOvr>
    <a:masterClrMapping/>
  </p:clrMapOvr>
  <p:transition spd="slow">
    <p:circl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48184" y="260351"/>
            <a:ext cx="2834216" cy="60547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239184" y="260351"/>
            <a:ext cx="8305800" cy="60547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28055389"/>
      </p:ext>
    </p:extLst>
  </p:cSld>
  <p:clrMapOvr>
    <a:masterClrMapping/>
  </p:clrMapOvr>
  <p:transition spd="slow">
    <p:circl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39184" y="260351"/>
            <a:ext cx="11074400" cy="563563"/>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125539"/>
            <a:ext cx="5384800" cy="51895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125539"/>
            <a:ext cx="5384800" cy="51895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92917277"/>
      </p:ext>
    </p:extLst>
  </p:cSld>
  <p:clrMapOvr>
    <a:masterClrMapping/>
  </p:clrMapOvr>
  <p:transition spd="slow">
    <p:circl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239184" y="260351"/>
            <a:ext cx="11343216" cy="6054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742324520"/>
      </p:ext>
    </p:extLst>
  </p:cSld>
  <p:clrMapOvr>
    <a:masterClrMapping/>
  </p:clrMapOvr>
  <p:transition spd="slow">
    <p:circl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39184" y="260351"/>
            <a:ext cx="11074400" cy="563563"/>
          </a:xfrm>
        </p:spPr>
        <p:txBody>
          <a:bodyPr/>
          <a:lstStyle/>
          <a:p>
            <a:r>
              <a:rPr lang="zh-CN" altLang="en-US"/>
              <a:t>单击此处编辑母版标题样式</a:t>
            </a:r>
          </a:p>
        </p:txBody>
      </p:sp>
      <p:sp>
        <p:nvSpPr>
          <p:cNvPr id="3" name="表格占位符 2"/>
          <p:cNvSpPr>
            <a:spLocks noGrp="1"/>
          </p:cNvSpPr>
          <p:nvPr>
            <p:ph type="tbl" idx="1"/>
          </p:nvPr>
        </p:nvSpPr>
        <p:spPr>
          <a:xfrm>
            <a:off x="609600" y="1125539"/>
            <a:ext cx="10972800" cy="5189537"/>
          </a:xfrm>
        </p:spPr>
        <p:txBody>
          <a:bodyPr/>
          <a:lstStyle/>
          <a:p>
            <a:pPr lvl="0"/>
            <a:endParaRPr lang="zh-CN" altLang="en-US" noProof="0"/>
          </a:p>
        </p:txBody>
      </p:sp>
    </p:spTree>
    <p:extLst>
      <p:ext uri="{BB962C8B-B14F-4D97-AF65-F5344CB8AC3E}">
        <p14:creationId xmlns:p14="http://schemas.microsoft.com/office/powerpoint/2010/main" val="750879164"/>
      </p:ext>
    </p:extLst>
  </p:cSld>
  <p:clrMapOvr>
    <a:masterClrMapping/>
  </p:clrMapOvr>
  <p:transition spd="slow">
    <p:circl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239184" y="260351"/>
            <a:ext cx="11074400" cy="563563"/>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125539"/>
            <a:ext cx="5384800" cy="51895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125539"/>
            <a:ext cx="5384800" cy="25177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3795713"/>
            <a:ext cx="5384800" cy="25193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89051909"/>
      </p:ext>
    </p:extLst>
  </p:cSld>
  <p:clrMapOvr>
    <a:masterClrMapping/>
  </p:clrMapOvr>
  <p:transition spd="slow">
    <p:circl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4166C89-7E1D-4AD8-AC3E-507781F3F58A}"/>
              </a:ext>
            </a:extLst>
          </p:cNvPr>
          <p:cNvSpPr>
            <a:spLocks noGrp="1"/>
          </p:cNvSpPr>
          <p:nvPr>
            <p:ph type="dt" sz="half" idx="10"/>
          </p:nvPr>
        </p:nvSpPr>
        <p:spPr/>
        <p:txBody>
          <a:bodyPr/>
          <a:lstStyle>
            <a:lvl1pPr>
              <a:defRPr/>
            </a:lvl1pPr>
          </a:lstStyle>
          <a:p>
            <a:pPr>
              <a:defRPr/>
            </a:pPr>
            <a:fld id="{801B41AE-5D11-4EC7-AFD9-166AE0817205}" type="datetimeFigureOut">
              <a:rPr lang="zh-CN" altLang="en-US"/>
              <a:pPr>
                <a:defRPr/>
              </a:pPr>
              <a:t>2026/9/1</a:t>
            </a:fld>
            <a:endParaRPr lang="zh-CN" altLang="en-US"/>
          </a:p>
        </p:txBody>
      </p:sp>
      <p:sp>
        <p:nvSpPr>
          <p:cNvPr id="5" name="页脚占位符 4">
            <a:extLst>
              <a:ext uri="{FF2B5EF4-FFF2-40B4-BE49-F238E27FC236}">
                <a16:creationId xmlns:a16="http://schemas.microsoft.com/office/drawing/2014/main" id="{F05EB475-34AD-48FD-95B0-2D6F398E6E32}"/>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C220F983-8218-403C-8368-5F8C8016E84E}"/>
              </a:ext>
            </a:extLst>
          </p:cNvPr>
          <p:cNvSpPr>
            <a:spLocks noGrp="1"/>
          </p:cNvSpPr>
          <p:nvPr>
            <p:ph type="sldNum" sz="quarter" idx="12"/>
          </p:nvPr>
        </p:nvSpPr>
        <p:spPr/>
        <p:txBody>
          <a:bodyPr/>
          <a:lstStyle>
            <a:lvl1pPr>
              <a:defRPr/>
            </a:lvl1pPr>
          </a:lstStyle>
          <a:p>
            <a:pPr>
              <a:defRPr/>
            </a:pPr>
            <a:fld id="{2988EE20-090C-44AD-93B3-52691D99CDC2}" type="slidenum">
              <a:rPr lang="zh-CN" altLang="en-US"/>
              <a:pPr>
                <a:defRPr/>
              </a:pPr>
              <a:t>‹#›</a:t>
            </a:fld>
            <a:endParaRPr lang="zh-CN" altLang="en-US"/>
          </a:p>
        </p:txBody>
      </p:sp>
    </p:spTree>
    <p:extLst>
      <p:ext uri="{BB962C8B-B14F-4D97-AF65-F5344CB8AC3E}">
        <p14:creationId xmlns:p14="http://schemas.microsoft.com/office/powerpoint/2010/main" val="19479239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51FEDB3-21AB-485B-8A8A-8A85882F7C86}"/>
              </a:ext>
            </a:extLst>
          </p:cNvPr>
          <p:cNvSpPr>
            <a:spLocks noGrp="1"/>
          </p:cNvSpPr>
          <p:nvPr>
            <p:ph type="dt" sz="half" idx="10"/>
          </p:nvPr>
        </p:nvSpPr>
        <p:spPr/>
        <p:txBody>
          <a:bodyPr/>
          <a:lstStyle>
            <a:lvl1pPr>
              <a:defRPr/>
            </a:lvl1pPr>
          </a:lstStyle>
          <a:p>
            <a:pPr>
              <a:defRPr/>
            </a:pPr>
            <a:fld id="{1171EA82-1D40-42DE-8F4A-A8C9A06239D9}" type="datetimeFigureOut">
              <a:rPr lang="zh-CN" altLang="en-US"/>
              <a:pPr>
                <a:defRPr/>
              </a:pPr>
              <a:t>2026/9/1</a:t>
            </a:fld>
            <a:endParaRPr lang="zh-CN" altLang="en-US"/>
          </a:p>
        </p:txBody>
      </p:sp>
      <p:sp>
        <p:nvSpPr>
          <p:cNvPr id="5" name="页脚占位符 4">
            <a:extLst>
              <a:ext uri="{FF2B5EF4-FFF2-40B4-BE49-F238E27FC236}">
                <a16:creationId xmlns:a16="http://schemas.microsoft.com/office/drawing/2014/main" id="{38C33C96-BDD3-4D9A-ADFF-147144D08975}"/>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66410A52-22EF-4C0F-8960-820521C1C031}"/>
              </a:ext>
            </a:extLst>
          </p:cNvPr>
          <p:cNvSpPr>
            <a:spLocks noGrp="1"/>
          </p:cNvSpPr>
          <p:nvPr>
            <p:ph type="sldNum" sz="quarter" idx="12"/>
          </p:nvPr>
        </p:nvSpPr>
        <p:spPr/>
        <p:txBody>
          <a:bodyPr/>
          <a:lstStyle>
            <a:lvl1pPr>
              <a:defRPr/>
            </a:lvl1pPr>
          </a:lstStyle>
          <a:p>
            <a:pPr>
              <a:defRPr/>
            </a:pPr>
            <a:fld id="{955EF23B-4D89-45A5-AEF9-CCE3D56ABBA8}" type="slidenum">
              <a:rPr lang="zh-CN" altLang="en-US"/>
              <a:pPr>
                <a:defRPr/>
              </a:pPr>
              <a:t>‹#›</a:t>
            </a:fld>
            <a:endParaRPr lang="zh-CN" altLang="en-US"/>
          </a:p>
        </p:txBody>
      </p:sp>
    </p:spTree>
    <p:extLst>
      <p:ext uri="{BB962C8B-B14F-4D97-AF65-F5344CB8AC3E}">
        <p14:creationId xmlns:p14="http://schemas.microsoft.com/office/powerpoint/2010/main" val="25260860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CDF2666-3729-403E-A62B-11088BAF9FC2}"/>
              </a:ext>
            </a:extLst>
          </p:cNvPr>
          <p:cNvSpPr>
            <a:spLocks noGrp="1"/>
          </p:cNvSpPr>
          <p:nvPr>
            <p:ph type="dt" sz="half" idx="10"/>
          </p:nvPr>
        </p:nvSpPr>
        <p:spPr/>
        <p:txBody>
          <a:bodyPr/>
          <a:lstStyle>
            <a:lvl1pPr>
              <a:defRPr/>
            </a:lvl1pPr>
          </a:lstStyle>
          <a:p>
            <a:pPr>
              <a:defRPr/>
            </a:pPr>
            <a:fld id="{D6B1CDA6-D6A4-4532-9E65-6A0BCFCA49E1}" type="datetimeFigureOut">
              <a:rPr lang="zh-CN" altLang="en-US"/>
              <a:pPr>
                <a:defRPr/>
              </a:pPr>
              <a:t>2026/9/1</a:t>
            </a:fld>
            <a:endParaRPr lang="zh-CN" altLang="en-US"/>
          </a:p>
        </p:txBody>
      </p:sp>
      <p:sp>
        <p:nvSpPr>
          <p:cNvPr id="5" name="页脚占位符 4">
            <a:extLst>
              <a:ext uri="{FF2B5EF4-FFF2-40B4-BE49-F238E27FC236}">
                <a16:creationId xmlns:a16="http://schemas.microsoft.com/office/drawing/2014/main" id="{9591A9E8-A84A-48BE-B794-379E78696FD5}"/>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5FF81D26-F3FF-4789-8FA4-CABC0168869E}"/>
              </a:ext>
            </a:extLst>
          </p:cNvPr>
          <p:cNvSpPr>
            <a:spLocks noGrp="1"/>
          </p:cNvSpPr>
          <p:nvPr>
            <p:ph type="sldNum" sz="quarter" idx="12"/>
          </p:nvPr>
        </p:nvSpPr>
        <p:spPr/>
        <p:txBody>
          <a:bodyPr/>
          <a:lstStyle>
            <a:lvl1pPr>
              <a:defRPr/>
            </a:lvl1pPr>
          </a:lstStyle>
          <a:p>
            <a:pPr>
              <a:defRPr/>
            </a:pPr>
            <a:fld id="{866E33B7-3C9B-42E2-8BF7-A9E78570CE33}" type="slidenum">
              <a:rPr lang="zh-CN" altLang="en-US"/>
              <a:pPr>
                <a:defRPr/>
              </a:pPr>
              <a:t>‹#›</a:t>
            </a:fld>
            <a:endParaRPr lang="zh-CN" altLang="en-US"/>
          </a:p>
        </p:txBody>
      </p:sp>
    </p:spTree>
    <p:extLst>
      <p:ext uri="{BB962C8B-B14F-4D97-AF65-F5344CB8AC3E}">
        <p14:creationId xmlns:p14="http://schemas.microsoft.com/office/powerpoint/2010/main" val="37270529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5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97600" y="1825625"/>
            <a:ext cx="515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3">
            <a:extLst>
              <a:ext uri="{FF2B5EF4-FFF2-40B4-BE49-F238E27FC236}">
                <a16:creationId xmlns:a16="http://schemas.microsoft.com/office/drawing/2014/main" id="{06E252F1-AD61-4C85-94B5-6DCF870088EB}"/>
              </a:ext>
            </a:extLst>
          </p:cNvPr>
          <p:cNvSpPr>
            <a:spLocks noGrp="1"/>
          </p:cNvSpPr>
          <p:nvPr>
            <p:ph type="dt" sz="half" idx="10"/>
          </p:nvPr>
        </p:nvSpPr>
        <p:spPr/>
        <p:txBody>
          <a:bodyPr/>
          <a:lstStyle>
            <a:lvl1pPr>
              <a:defRPr/>
            </a:lvl1pPr>
          </a:lstStyle>
          <a:p>
            <a:pPr>
              <a:defRPr/>
            </a:pPr>
            <a:fld id="{1A0A9471-EBF9-4EFF-B643-B8699560B1DC}" type="datetimeFigureOut">
              <a:rPr lang="zh-CN" altLang="en-US"/>
              <a:pPr>
                <a:defRPr/>
              </a:pPr>
              <a:t>2026/9/1</a:t>
            </a:fld>
            <a:endParaRPr lang="zh-CN" altLang="en-US"/>
          </a:p>
        </p:txBody>
      </p:sp>
      <p:sp>
        <p:nvSpPr>
          <p:cNvPr id="6" name="页脚占位符 4">
            <a:extLst>
              <a:ext uri="{FF2B5EF4-FFF2-40B4-BE49-F238E27FC236}">
                <a16:creationId xmlns:a16="http://schemas.microsoft.com/office/drawing/2014/main" id="{7387FDE8-3A3B-45C5-AC95-EA08FBB16E11}"/>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DEE33BDA-7AB1-4296-9EF6-2C70A3441243}"/>
              </a:ext>
            </a:extLst>
          </p:cNvPr>
          <p:cNvSpPr>
            <a:spLocks noGrp="1"/>
          </p:cNvSpPr>
          <p:nvPr>
            <p:ph type="sldNum" sz="quarter" idx="12"/>
          </p:nvPr>
        </p:nvSpPr>
        <p:spPr/>
        <p:txBody>
          <a:bodyPr/>
          <a:lstStyle>
            <a:lvl1pPr>
              <a:defRPr/>
            </a:lvl1pPr>
          </a:lstStyle>
          <a:p>
            <a:pPr>
              <a:defRPr/>
            </a:pPr>
            <a:fld id="{5530EF0E-CE7F-4BEB-AD14-0A95AAD1E78D}" type="slidenum">
              <a:rPr lang="zh-CN" altLang="en-US"/>
              <a:pPr>
                <a:defRPr/>
              </a:pPr>
              <a:t>‹#›</a:t>
            </a:fld>
            <a:endParaRPr lang="zh-CN" altLang="en-US"/>
          </a:p>
        </p:txBody>
      </p:sp>
    </p:spTree>
    <p:extLst>
      <p:ext uri="{BB962C8B-B14F-4D97-AF65-F5344CB8AC3E}">
        <p14:creationId xmlns:p14="http://schemas.microsoft.com/office/powerpoint/2010/main" val="25561912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40318" y="2505075"/>
            <a:ext cx="5158316"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71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3">
            <a:extLst>
              <a:ext uri="{FF2B5EF4-FFF2-40B4-BE49-F238E27FC236}">
                <a16:creationId xmlns:a16="http://schemas.microsoft.com/office/drawing/2014/main" id="{D0C953EE-F438-47EE-A62B-991C5F2BE02B}"/>
              </a:ext>
            </a:extLst>
          </p:cNvPr>
          <p:cNvSpPr>
            <a:spLocks noGrp="1"/>
          </p:cNvSpPr>
          <p:nvPr>
            <p:ph type="dt" sz="half" idx="10"/>
          </p:nvPr>
        </p:nvSpPr>
        <p:spPr/>
        <p:txBody>
          <a:bodyPr/>
          <a:lstStyle>
            <a:lvl1pPr>
              <a:defRPr/>
            </a:lvl1pPr>
          </a:lstStyle>
          <a:p>
            <a:pPr>
              <a:defRPr/>
            </a:pPr>
            <a:fld id="{BE368933-B48D-4685-88AD-168C1934D949}" type="datetimeFigureOut">
              <a:rPr lang="zh-CN" altLang="en-US"/>
              <a:pPr>
                <a:defRPr/>
              </a:pPr>
              <a:t>2026/9/1</a:t>
            </a:fld>
            <a:endParaRPr lang="zh-CN" altLang="en-US"/>
          </a:p>
        </p:txBody>
      </p:sp>
      <p:sp>
        <p:nvSpPr>
          <p:cNvPr id="8" name="页脚占位符 4">
            <a:extLst>
              <a:ext uri="{FF2B5EF4-FFF2-40B4-BE49-F238E27FC236}">
                <a16:creationId xmlns:a16="http://schemas.microsoft.com/office/drawing/2014/main" id="{4198C888-461F-465F-A85F-274A76280D76}"/>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28A51166-7E9E-44CF-927B-DC9A1002EDCF}"/>
              </a:ext>
            </a:extLst>
          </p:cNvPr>
          <p:cNvSpPr>
            <a:spLocks noGrp="1"/>
          </p:cNvSpPr>
          <p:nvPr>
            <p:ph type="sldNum" sz="quarter" idx="12"/>
          </p:nvPr>
        </p:nvSpPr>
        <p:spPr/>
        <p:txBody>
          <a:bodyPr/>
          <a:lstStyle>
            <a:lvl1pPr>
              <a:defRPr/>
            </a:lvl1pPr>
          </a:lstStyle>
          <a:p>
            <a:pPr>
              <a:defRPr/>
            </a:pPr>
            <a:fld id="{38E1402D-6B41-415E-9753-2B0E50586C12}" type="slidenum">
              <a:rPr lang="zh-CN" altLang="en-US"/>
              <a:pPr>
                <a:defRPr/>
              </a:pPr>
              <a:t>‹#›</a:t>
            </a:fld>
            <a:endParaRPr lang="zh-CN" altLang="en-US"/>
          </a:p>
        </p:txBody>
      </p:sp>
    </p:spTree>
    <p:extLst>
      <p:ext uri="{BB962C8B-B14F-4D97-AF65-F5344CB8AC3E}">
        <p14:creationId xmlns:p14="http://schemas.microsoft.com/office/powerpoint/2010/main" val="3261449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FF3AA2AB-169D-45E9-98F4-8337AEA1A800}"/>
              </a:ext>
            </a:extLst>
          </p:cNvPr>
          <p:cNvSpPr>
            <a:spLocks noGrp="1"/>
          </p:cNvSpPr>
          <p:nvPr>
            <p:ph type="dt" sz="half" idx="10"/>
          </p:nvPr>
        </p:nvSpPr>
        <p:spPr/>
        <p:txBody>
          <a:bodyPr/>
          <a:lstStyle>
            <a:lvl1pPr>
              <a:defRPr/>
            </a:lvl1pPr>
          </a:lstStyle>
          <a:p>
            <a:pPr>
              <a:defRPr/>
            </a:pPr>
            <a:fld id="{8C78D4BC-33B8-480C-AE43-D3D1DA236ACC}" type="datetimeFigureOut">
              <a:rPr lang="zh-CN" altLang="en-US"/>
              <a:pPr>
                <a:defRPr/>
              </a:pPr>
              <a:t>2026/9/1</a:t>
            </a:fld>
            <a:endParaRPr lang="zh-CN" altLang="en-US"/>
          </a:p>
        </p:txBody>
      </p:sp>
      <p:sp>
        <p:nvSpPr>
          <p:cNvPr id="4" name="页脚占位符 4">
            <a:extLst>
              <a:ext uri="{FF2B5EF4-FFF2-40B4-BE49-F238E27FC236}">
                <a16:creationId xmlns:a16="http://schemas.microsoft.com/office/drawing/2014/main" id="{07BFC4F8-67EF-4BFF-9A85-FE733F1DA82A}"/>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48E6BFFC-DC0E-4A92-9EDD-3A450FCBBF0A}"/>
              </a:ext>
            </a:extLst>
          </p:cNvPr>
          <p:cNvSpPr>
            <a:spLocks noGrp="1"/>
          </p:cNvSpPr>
          <p:nvPr>
            <p:ph type="sldNum" sz="quarter" idx="12"/>
          </p:nvPr>
        </p:nvSpPr>
        <p:spPr/>
        <p:txBody>
          <a:bodyPr/>
          <a:lstStyle>
            <a:lvl1pPr>
              <a:defRPr/>
            </a:lvl1pPr>
          </a:lstStyle>
          <a:p>
            <a:pPr>
              <a:defRPr/>
            </a:pPr>
            <a:fld id="{B9B20EEE-A908-46F8-A750-AB018FA17BDE}" type="slidenum">
              <a:rPr lang="zh-CN" altLang="en-US"/>
              <a:pPr>
                <a:defRPr/>
              </a:pPr>
              <a:t>‹#›</a:t>
            </a:fld>
            <a:endParaRPr lang="zh-CN" altLang="en-US"/>
          </a:p>
        </p:txBody>
      </p:sp>
    </p:spTree>
    <p:extLst>
      <p:ext uri="{BB962C8B-B14F-4D97-AF65-F5344CB8AC3E}">
        <p14:creationId xmlns:p14="http://schemas.microsoft.com/office/powerpoint/2010/main" val="10225985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F61BD968-1891-42AB-9150-6A832BCFE06A}"/>
              </a:ext>
            </a:extLst>
          </p:cNvPr>
          <p:cNvSpPr>
            <a:spLocks noGrp="1"/>
          </p:cNvSpPr>
          <p:nvPr>
            <p:ph type="dt" sz="half" idx="10"/>
          </p:nvPr>
        </p:nvSpPr>
        <p:spPr/>
        <p:txBody>
          <a:bodyPr/>
          <a:lstStyle>
            <a:lvl1pPr>
              <a:defRPr/>
            </a:lvl1pPr>
          </a:lstStyle>
          <a:p>
            <a:pPr>
              <a:defRPr/>
            </a:pPr>
            <a:fld id="{7687B01A-E0FA-4B25-818B-6ED8BB63B957}" type="datetimeFigureOut">
              <a:rPr lang="zh-CN" altLang="en-US"/>
              <a:pPr>
                <a:defRPr/>
              </a:pPr>
              <a:t>2026/9/1</a:t>
            </a:fld>
            <a:endParaRPr lang="zh-CN" altLang="en-US"/>
          </a:p>
        </p:txBody>
      </p:sp>
      <p:sp>
        <p:nvSpPr>
          <p:cNvPr id="3" name="页脚占位符 4">
            <a:extLst>
              <a:ext uri="{FF2B5EF4-FFF2-40B4-BE49-F238E27FC236}">
                <a16:creationId xmlns:a16="http://schemas.microsoft.com/office/drawing/2014/main" id="{F614F87A-BE23-471B-BB9C-77ACB88E4627}"/>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8289B4AC-6978-471C-9DE2-AB14CCC9E877}"/>
              </a:ext>
            </a:extLst>
          </p:cNvPr>
          <p:cNvSpPr>
            <a:spLocks noGrp="1"/>
          </p:cNvSpPr>
          <p:nvPr>
            <p:ph type="sldNum" sz="quarter" idx="12"/>
          </p:nvPr>
        </p:nvSpPr>
        <p:spPr/>
        <p:txBody>
          <a:bodyPr/>
          <a:lstStyle>
            <a:lvl1pPr>
              <a:defRPr/>
            </a:lvl1pPr>
          </a:lstStyle>
          <a:p>
            <a:pPr>
              <a:defRPr/>
            </a:pPr>
            <a:fld id="{968DEAB4-B03C-43C2-B4AD-421714C66DD4}" type="slidenum">
              <a:rPr lang="zh-CN" altLang="en-US"/>
              <a:pPr>
                <a:defRPr/>
              </a:pPr>
              <a:t>‹#›</a:t>
            </a:fld>
            <a:endParaRPr lang="zh-CN" altLang="en-US"/>
          </a:p>
        </p:txBody>
      </p:sp>
    </p:spTree>
    <p:extLst>
      <p:ext uri="{BB962C8B-B14F-4D97-AF65-F5344CB8AC3E}">
        <p14:creationId xmlns:p14="http://schemas.microsoft.com/office/powerpoint/2010/main" val="413271716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357DD43E-78B7-4983-B993-1B535FC8D039}"/>
              </a:ext>
            </a:extLst>
          </p:cNvPr>
          <p:cNvSpPr>
            <a:spLocks noGrp="1"/>
          </p:cNvSpPr>
          <p:nvPr>
            <p:ph type="dt" sz="half" idx="10"/>
          </p:nvPr>
        </p:nvSpPr>
        <p:spPr/>
        <p:txBody>
          <a:bodyPr/>
          <a:lstStyle>
            <a:lvl1pPr>
              <a:defRPr/>
            </a:lvl1pPr>
          </a:lstStyle>
          <a:p>
            <a:pPr>
              <a:defRPr/>
            </a:pPr>
            <a:fld id="{C8912D0D-B270-47B3-9115-580A1F772280}" type="datetimeFigureOut">
              <a:rPr lang="zh-CN" altLang="en-US"/>
              <a:pPr>
                <a:defRPr/>
              </a:pPr>
              <a:t>2026/9/1</a:t>
            </a:fld>
            <a:endParaRPr lang="zh-CN" altLang="en-US"/>
          </a:p>
        </p:txBody>
      </p:sp>
      <p:sp>
        <p:nvSpPr>
          <p:cNvPr id="6" name="页脚占位符 4">
            <a:extLst>
              <a:ext uri="{FF2B5EF4-FFF2-40B4-BE49-F238E27FC236}">
                <a16:creationId xmlns:a16="http://schemas.microsoft.com/office/drawing/2014/main" id="{01A314B6-4CAE-4C14-B0EC-3FF7CB969826}"/>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C86DC280-2710-43B4-B77E-80E66F54700B}"/>
              </a:ext>
            </a:extLst>
          </p:cNvPr>
          <p:cNvSpPr>
            <a:spLocks noGrp="1"/>
          </p:cNvSpPr>
          <p:nvPr>
            <p:ph type="sldNum" sz="quarter" idx="12"/>
          </p:nvPr>
        </p:nvSpPr>
        <p:spPr/>
        <p:txBody>
          <a:bodyPr/>
          <a:lstStyle>
            <a:lvl1pPr>
              <a:defRPr/>
            </a:lvl1pPr>
          </a:lstStyle>
          <a:p>
            <a:pPr>
              <a:defRPr/>
            </a:pPr>
            <a:fld id="{649FF320-E4D2-40E0-A412-13D27928344D}" type="slidenum">
              <a:rPr lang="zh-CN" altLang="en-US"/>
              <a:pPr>
                <a:defRPr/>
              </a:pPr>
              <a:t>‹#›</a:t>
            </a:fld>
            <a:endParaRPr lang="zh-CN" altLang="en-US"/>
          </a:p>
        </p:txBody>
      </p:sp>
    </p:spTree>
    <p:extLst>
      <p:ext uri="{BB962C8B-B14F-4D97-AF65-F5344CB8AC3E}">
        <p14:creationId xmlns:p14="http://schemas.microsoft.com/office/powerpoint/2010/main" val="3212585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717" y="987426"/>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48E57BF3-C6AB-471F-8F85-9E75EE58CCC0}"/>
              </a:ext>
            </a:extLst>
          </p:cNvPr>
          <p:cNvSpPr>
            <a:spLocks noGrp="1"/>
          </p:cNvSpPr>
          <p:nvPr>
            <p:ph type="dt" sz="half" idx="10"/>
          </p:nvPr>
        </p:nvSpPr>
        <p:spPr/>
        <p:txBody>
          <a:bodyPr/>
          <a:lstStyle>
            <a:lvl1pPr>
              <a:defRPr/>
            </a:lvl1pPr>
          </a:lstStyle>
          <a:p>
            <a:pPr>
              <a:defRPr/>
            </a:pPr>
            <a:fld id="{3F4984F6-157A-4121-8961-9FE696B9B747}" type="datetimeFigureOut">
              <a:rPr lang="zh-CN" altLang="en-US"/>
              <a:pPr>
                <a:defRPr/>
              </a:pPr>
              <a:t>2026/9/1</a:t>
            </a:fld>
            <a:endParaRPr lang="zh-CN" altLang="en-US"/>
          </a:p>
        </p:txBody>
      </p:sp>
      <p:sp>
        <p:nvSpPr>
          <p:cNvPr id="6" name="页脚占位符 4">
            <a:extLst>
              <a:ext uri="{FF2B5EF4-FFF2-40B4-BE49-F238E27FC236}">
                <a16:creationId xmlns:a16="http://schemas.microsoft.com/office/drawing/2014/main" id="{EB803322-A254-47EC-831D-94CAE041F27F}"/>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DBDCE494-BF41-45FD-9848-7AF198A3EC69}"/>
              </a:ext>
            </a:extLst>
          </p:cNvPr>
          <p:cNvSpPr>
            <a:spLocks noGrp="1"/>
          </p:cNvSpPr>
          <p:nvPr>
            <p:ph type="sldNum" sz="quarter" idx="12"/>
          </p:nvPr>
        </p:nvSpPr>
        <p:spPr/>
        <p:txBody>
          <a:bodyPr/>
          <a:lstStyle>
            <a:lvl1pPr>
              <a:defRPr/>
            </a:lvl1pPr>
          </a:lstStyle>
          <a:p>
            <a:pPr>
              <a:defRPr/>
            </a:pPr>
            <a:fld id="{A7B15E1D-4BBE-4F4D-A9F4-2CF2DF531747}" type="slidenum">
              <a:rPr lang="zh-CN" altLang="en-US"/>
              <a:pPr>
                <a:defRPr/>
              </a:pPr>
              <a:t>‹#›</a:t>
            </a:fld>
            <a:endParaRPr lang="zh-CN" altLang="en-US"/>
          </a:p>
        </p:txBody>
      </p:sp>
    </p:spTree>
    <p:extLst>
      <p:ext uri="{BB962C8B-B14F-4D97-AF65-F5344CB8AC3E}">
        <p14:creationId xmlns:p14="http://schemas.microsoft.com/office/powerpoint/2010/main" val="4605884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DE30189-A977-47B4-BDEB-F46DBEC3D088}"/>
              </a:ext>
            </a:extLst>
          </p:cNvPr>
          <p:cNvSpPr>
            <a:spLocks noGrp="1"/>
          </p:cNvSpPr>
          <p:nvPr>
            <p:ph type="dt" sz="half" idx="10"/>
          </p:nvPr>
        </p:nvSpPr>
        <p:spPr/>
        <p:txBody>
          <a:bodyPr/>
          <a:lstStyle>
            <a:lvl1pPr>
              <a:defRPr/>
            </a:lvl1pPr>
          </a:lstStyle>
          <a:p>
            <a:pPr>
              <a:defRPr/>
            </a:pPr>
            <a:fld id="{0DFE4CCC-0C63-4443-9FA6-D190FC2BD9D9}" type="datetimeFigureOut">
              <a:rPr lang="zh-CN" altLang="en-US"/>
              <a:pPr>
                <a:defRPr/>
              </a:pPr>
              <a:t>2026/9/1</a:t>
            </a:fld>
            <a:endParaRPr lang="zh-CN" altLang="en-US"/>
          </a:p>
        </p:txBody>
      </p:sp>
      <p:sp>
        <p:nvSpPr>
          <p:cNvPr id="5" name="页脚占位符 4">
            <a:extLst>
              <a:ext uri="{FF2B5EF4-FFF2-40B4-BE49-F238E27FC236}">
                <a16:creationId xmlns:a16="http://schemas.microsoft.com/office/drawing/2014/main" id="{BDE094DC-CE45-482E-ACC4-598485504FE1}"/>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764CD75-D3DD-49F0-8773-E24F44AF709D}"/>
              </a:ext>
            </a:extLst>
          </p:cNvPr>
          <p:cNvSpPr>
            <a:spLocks noGrp="1"/>
          </p:cNvSpPr>
          <p:nvPr>
            <p:ph type="sldNum" sz="quarter" idx="12"/>
          </p:nvPr>
        </p:nvSpPr>
        <p:spPr/>
        <p:txBody>
          <a:bodyPr/>
          <a:lstStyle>
            <a:lvl1pPr>
              <a:defRPr/>
            </a:lvl1pPr>
          </a:lstStyle>
          <a:p>
            <a:pPr>
              <a:defRPr/>
            </a:pPr>
            <a:fld id="{4C64D5DE-C369-4862-8334-4FF67303114A}" type="slidenum">
              <a:rPr lang="zh-CN" altLang="en-US"/>
              <a:pPr>
                <a:defRPr/>
              </a:pPr>
              <a:t>‹#›</a:t>
            </a:fld>
            <a:endParaRPr lang="zh-CN" altLang="en-US"/>
          </a:p>
        </p:txBody>
      </p:sp>
    </p:spTree>
    <p:extLst>
      <p:ext uri="{BB962C8B-B14F-4D97-AF65-F5344CB8AC3E}">
        <p14:creationId xmlns:p14="http://schemas.microsoft.com/office/powerpoint/2010/main" val="4321979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5"/>
            <a:ext cx="76835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CA816BC-D0AD-48EA-BA4B-835F3EAEB35B}"/>
              </a:ext>
            </a:extLst>
          </p:cNvPr>
          <p:cNvSpPr>
            <a:spLocks noGrp="1"/>
          </p:cNvSpPr>
          <p:nvPr>
            <p:ph type="dt" sz="half" idx="10"/>
          </p:nvPr>
        </p:nvSpPr>
        <p:spPr/>
        <p:txBody>
          <a:bodyPr/>
          <a:lstStyle>
            <a:lvl1pPr>
              <a:defRPr/>
            </a:lvl1pPr>
          </a:lstStyle>
          <a:p>
            <a:pPr>
              <a:defRPr/>
            </a:pPr>
            <a:fld id="{EF184991-FEBC-4622-BDE5-F8599AE1179E}" type="datetimeFigureOut">
              <a:rPr lang="zh-CN" altLang="en-US"/>
              <a:pPr>
                <a:defRPr/>
              </a:pPr>
              <a:t>2026/9/1</a:t>
            </a:fld>
            <a:endParaRPr lang="zh-CN" altLang="en-US"/>
          </a:p>
        </p:txBody>
      </p:sp>
      <p:sp>
        <p:nvSpPr>
          <p:cNvPr id="5" name="页脚占位符 4">
            <a:extLst>
              <a:ext uri="{FF2B5EF4-FFF2-40B4-BE49-F238E27FC236}">
                <a16:creationId xmlns:a16="http://schemas.microsoft.com/office/drawing/2014/main" id="{6C71AA0F-6EF1-4812-84E7-71157FC78A8C}"/>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9032E46-0254-4922-9736-5ED84732C795}"/>
              </a:ext>
            </a:extLst>
          </p:cNvPr>
          <p:cNvSpPr>
            <a:spLocks noGrp="1"/>
          </p:cNvSpPr>
          <p:nvPr>
            <p:ph type="sldNum" sz="quarter" idx="12"/>
          </p:nvPr>
        </p:nvSpPr>
        <p:spPr/>
        <p:txBody>
          <a:bodyPr/>
          <a:lstStyle>
            <a:lvl1pPr>
              <a:defRPr/>
            </a:lvl1pPr>
          </a:lstStyle>
          <a:p>
            <a:pPr>
              <a:defRPr/>
            </a:pPr>
            <a:fld id="{3F02F694-7167-40D6-8150-7C1D42363160}" type="slidenum">
              <a:rPr lang="zh-CN" altLang="en-US"/>
              <a:pPr>
                <a:defRPr/>
              </a:pPr>
              <a:t>‹#›</a:t>
            </a:fld>
            <a:endParaRPr lang="zh-CN" altLang="en-US"/>
          </a:p>
        </p:txBody>
      </p:sp>
    </p:spTree>
    <p:extLst>
      <p:ext uri="{BB962C8B-B14F-4D97-AF65-F5344CB8AC3E}">
        <p14:creationId xmlns:p14="http://schemas.microsoft.com/office/powerpoint/2010/main" val="29122662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jpe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2.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42" name="Rectangle 2">
            <a:extLst>
              <a:ext uri="{FF2B5EF4-FFF2-40B4-BE49-F238E27FC236}">
                <a16:creationId xmlns:a16="http://schemas.microsoft.com/office/drawing/2014/main" id="{AB4481AA-6523-4F94-AF18-DE0FA107FEC2}"/>
              </a:ext>
            </a:extLst>
          </p:cNvPr>
          <p:cNvSpPr>
            <a:spLocks noChangeArrowheads="1"/>
          </p:cNvSpPr>
          <p:nvPr/>
        </p:nvSpPr>
        <p:spPr bwMode="gray">
          <a:xfrm>
            <a:off x="1" y="11113"/>
            <a:ext cx="12086167" cy="825500"/>
          </a:xfrm>
          <a:prstGeom prst="rect">
            <a:avLst/>
          </a:prstGeom>
          <a:gradFill rotWithShape="1">
            <a:gsLst>
              <a:gs pos="0">
                <a:schemeClr val="tx2"/>
              </a:gs>
              <a:gs pos="100000">
                <a:schemeClr val="tx2">
                  <a:gamma/>
                  <a:shade val="66667"/>
                  <a:invGamma/>
                </a:schemeClr>
              </a:gs>
            </a:gsLst>
            <a:lin ang="0" scaled="1"/>
          </a:gradFill>
          <a:ln w="9525">
            <a:noFill/>
            <a:miter lim="800000"/>
            <a:headEnd/>
            <a:tailEnd/>
          </a:ln>
          <a:effectLst/>
        </p:spPr>
        <p:txBody>
          <a:bodyPr wrap="none" anchor="ctr"/>
          <a:lstStyle/>
          <a:p>
            <a:pPr eaLnBrk="1" hangingPunct="1">
              <a:defRPr/>
            </a:pPr>
            <a:endParaRPr lang="zh-CN" altLang="en-US" sz="1600"/>
          </a:p>
        </p:txBody>
      </p:sp>
      <p:sp>
        <p:nvSpPr>
          <p:cNvPr id="1027" name="Rectangle 5">
            <a:extLst>
              <a:ext uri="{FF2B5EF4-FFF2-40B4-BE49-F238E27FC236}">
                <a16:creationId xmlns:a16="http://schemas.microsoft.com/office/drawing/2014/main" id="{0085C0E9-662F-4561-BB02-6E927A1AACAD}"/>
              </a:ext>
            </a:extLst>
          </p:cNvPr>
          <p:cNvSpPr>
            <a:spLocks noGrp="1" noChangeArrowheads="1"/>
          </p:cNvSpPr>
          <p:nvPr>
            <p:ph type="title"/>
          </p:nvPr>
        </p:nvSpPr>
        <p:spPr bwMode="white">
          <a:xfrm>
            <a:off x="239184" y="260351"/>
            <a:ext cx="11074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17446" name="Rectangle 6">
            <a:extLst>
              <a:ext uri="{FF2B5EF4-FFF2-40B4-BE49-F238E27FC236}">
                <a16:creationId xmlns:a16="http://schemas.microsoft.com/office/drawing/2014/main" id="{7E2941E0-E3A7-4C91-9AD8-2F67DFFCDFA7}"/>
              </a:ext>
            </a:extLst>
          </p:cNvPr>
          <p:cNvSpPr>
            <a:spLocks noChangeArrowheads="1"/>
          </p:cNvSpPr>
          <p:nvPr/>
        </p:nvSpPr>
        <p:spPr bwMode="gray">
          <a:xfrm>
            <a:off x="260352" y="881063"/>
            <a:ext cx="11931649" cy="100012"/>
          </a:xfrm>
          <a:prstGeom prst="rect">
            <a:avLst/>
          </a:prstGeom>
          <a:gradFill rotWithShape="1">
            <a:gsLst>
              <a:gs pos="0">
                <a:schemeClr val="bg2"/>
              </a:gs>
              <a:gs pos="100000">
                <a:schemeClr val="bg2">
                  <a:gamma/>
                  <a:tint val="0"/>
                  <a:invGamma/>
                </a:schemeClr>
              </a:gs>
            </a:gsLst>
            <a:lin ang="5400000" scaled="1"/>
          </a:gradFill>
          <a:ln w="9525">
            <a:noFill/>
            <a:miter lim="800000"/>
            <a:headEnd/>
            <a:tailEnd/>
          </a:ln>
          <a:effectLst/>
        </p:spPr>
        <p:txBody>
          <a:bodyPr wrap="none" anchor="ctr"/>
          <a:lstStyle/>
          <a:p>
            <a:pPr eaLnBrk="1" hangingPunct="1">
              <a:defRPr/>
            </a:pPr>
            <a:endParaRPr lang="zh-CN" altLang="en-US" sz="1600"/>
          </a:p>
        </p:txBody>
      </p:sp>
      <p:sp>
        <p:nvSpPr>
          <p:cNvPr id="1029" name="Rectangle 7">
            <a:extLst>
              <a:ext uri="{FF2B5EF4-FFF2-40B4-BE49-F238E27FC236}">
                <a16:creationId xmlns:a16="http://schemas.microsoft.com/office/drawing/2014/main" id="{CE5BE1C5-7E20-4C9D-B858-08DE5C29E7C3}"/>
              </a:ext>
            </a:extLst>
          </p:cNvPr>
          <p:cNvSpPr>
            <a:spLocks noGrp="1" noChangeArrowheads="1"/>
          </p:cNvSpPr>
          <p:nvPr>
            <p:ph type="body" idx="1"/>
          </p:nvPr>
        </p:nvSpPr>
        <p:spPr bwMode="auto">
          <a:xfrm>
            <a:off x="609600" y="1125539"/>
            <a:ext cx="10972800" cy="5189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31" name="Rectangle 8">
            <a:extLst>
              <a:ext uri="{FF2B5EF4-FFF2-40B4-BE49-F238E27FC236}">
                <a16:creationId xmlns:a16="http://schemas.microsoft.com/office/drawing/2014/main" id="{069AEC63-2DE8-47E1-A7B8-4E1D04119CF5}"/>
              </a:ext>
            </a:extLst>
          </p:cNvPr>
          <p:cNvSpPr>
            <a:spLocks noChangeArrowheads="1"/>
          </p:cNvSpPr>
          <p:nvPr userDrawn="1"/>
        </p:nvSpPr>
        <p:spPr bwMode="gray">
          <a:xfrm>
            <a:off x="9552517" y="33339"/>
            <a:ext cx="2563283" cy="803275"/>
          </a:xfrm>
          <a:prstGeom prst="rect">
            <a:avLst/>
          </a:prstGeom>
          <a:blipFill dpi="0" rotWithShape="1">
            <a:blip r:embed="rId24"/>
            <a:srcRect/>
            <a:stretch>
              <a:fillRect/>
            </a:stretch>
          </a:blipFill>
          <a:ln>
            <a:noFill/>
          </a:ln>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600"/>
          </a:p>
        </p:txBody>
      </p:sp>
      <p:grpSp>
        <p:nvGrpSpPr>
          <p:cNvPr id="2" name="Group 9">
            <a:extLst>
              <a:ext uri="{FF2B5EF4-FFF2-40B4-BE49-F238E27FC236}">
                <a16:creationId xmlns:a16="http://schemas.microsoft.com/office/drawing/2014/main" id="{800C0422-609E-4A9E-BB3A-CD06F80BEF65}"/>
              </a:ext>
            </a:extLst>
          </p:cNvPr>
          <p:cNvGrpSpPr>
            <a:grpSpLocks/>
          </p:cNvGrpSpPr>
          <p:nvPr/>
        </p:nvGrpSpPr>
        <p:grpSpPr bwMode="auto">
          <a:xfrm>
            <a:off x="-21166" y="0"/>
            <a:ext cx="12221633" cy="6859588"/>
            <a:chOff x="0" y="0"/>
            <a:chExt cx="5764" cy="4321"/>
          </a:xfrm>
        </p:grpSpPr>
        <p:sp>
          <p:nvSpPr>
            <p:cNvPr id="1033" name="AutoShape 10">
              <a:extLst>
                <a:ext uri="{FF2B5EF4-FFF2-40B4-BE49-F238E27FC236}">
                  <a16:creationId xmlns:a16="http://schemas.microsoft.com/office/drawing/2014/main" id="{74DF9B28-FAF2-4CF0-8261-8E1689713604}"/>
                </a:ext>
              </a:extLst>
            </p:cNvPr>
            <p:cNvSpPr>
              <a:spLocks noChangeArrowheads="1"/>
            </p:cNvSpPr>
            <p:nvPr/>
          </p:nvSpPr>
          <p:spPr bwMode="gray">
            <a:xfrm>
              <a:off x="27" y="24"/>
              <a:ext cx="5712" cy="4274"/>
            </a:xfrm>
            <a:prstGeom prst="roundRect">
              <a:avLst>
                <a:gd name="adj" fmla="val 6227"/>
              </a:avLst>
            </a:prstGeom>
            <a:noFill/>
            <a:ln w="76200">
              <a:solidFill>
                <a:schemeClr val="bg1"/>
              </a:solidFill>
              <a:round/>
              <a:headEnd/>
              <a:tailEnd/>
            </a:ln>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1600"/>
            </a:p>
          </p:txBody>
        </p:sp>
        <p:sp>
          <p:nvSpPr>
            <p:cNvPr id="3" name="Freeform 11">
              <a:extLst>
                <a:ext uri="{FF2B5EF4-FFF2-40B4-BE49-F238E27FC236}">
                  <a16:creationId xmlns:a16="http://schemas.microsoft.com/office/drawing/2014/main" id="{280BE1A9-920E-4D53-BA2D-7D3D9F684735}"/>
                </a:ext>
              </a:extLst>
            </p:cNvPr>
            <p:cNvSpPr>
              <a:spLocks/>
            </p:cNvSpPr>
            <p:nvPr/>
          </p:nvSpPr>
          <p:spPr bwMode="gray">
            <a:xfrm>
              <a:off x="0" y="0"/>
              <a:ext cx="288" cy="282"/>
            </a:xfrm>
            <a:custGeom>
              <a:avLst/>
              <a:gdLst>
                <a:gd name="T0" fmla="*/ 2 w 288"/>
                <a:gd name="T1" fmla="*/ 282 h 282"/>
                <a:gd name="T2" fmla="*/ 82 w 288"/>
                <a:gd name="T3" fmla="*/ 144 h 282"/>
                <a:gd name="T4" fmla="*/ 165 w 288"/>
                <a:gd name="T5" fmla="*/ 36 h 282"/>
                <a:gd name="T6" fmla="*/ 288 w 288"/>
                <a:gd name="T7" fmla="*/ 0 h 282"/>
                <a:gd name="T8" fmla="*/ 0 w 288"/>
                <a:gd name="T9" fmla="*/ 0 h 2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8" h="282">
                  <a:moveTo>
                    <a:pt x="2" y="282"/>
                  </a:moveTo>
                  <a:lnTo>
                    <a:pt x="82" y="144"/>
                  </a:lnTo>
                  <a:lnTo>
                    <a:pt x="165" y="36"/>
                  </a:lnTo>
                  <a:lnTo>
                    <a:pt x="288" y="0"/>
                  </a:lnTo>
                  <a:lnTo>
                    <a:pt x="0"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600"/>
            </a:p>
          </p:txBody>
        </p:sp>
        <p:sp>
          <p:nvSpPr>
            <p:cNvPr id="1034" name="Freeform 12">
              <a:extLst>
                <a:ext uri="{FF2B5EF4-FFF2-40B4-BE49-F238E27FC236}">
                  <a16:creationId xmlns:a16="http://schemas.microsoft.com/office/drawing/2014/main" id="{3DA62860-160E-414E-AE43-8D95960E5F8B}"/>
                </a:ext>
              </a:extLst>
            </p:cNvPr>
            <p:cNvSpPr>
              <a:spLocks/>
            </p:cNvSpPr>
            <p:nvPr/>
          </p:nvSpPr>
          <p:spPr bwMode="gray">
            <a:xfrm>
              <a:off x="5" y="3985"/>
              <a:ext cx="244" cy="336"/>
            </a:xfrm>
            <a:custGeom>
              <a:avLst/>
              <a:gdLst>
                <a:gd name="T0" fmla="*/ 357 w 243"/>
                <a:gd name="T1" fmla="*/ 335 h 336"/>
                <a:gd name="T2" fmla="*/ 236 w 243"/>
                <a:gd name="T3" fmla="*/ 239 h 336"/>
                <a:gd name="T4" fmla="*/ 30 w 243"/>
                <a:gd name="T5" fmla="*/ 144 h 336"/>
                <a:gd name="T6" fmla="*/ 0 w 243"/>
                <a:gd name="T7" fmla="*/ 0 h 336"/>
                <a:gd name="T8" fmla="*/ 1 w 243"/>
                <a:gd name="T9" fmla="*/ 336 h 3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3" h="336">
                  <a:moveTo>
                    <a:pt x="243" y="335"/>
                  </a:moveTo>
                  <a:lnTo>
                    <a:pt x="122" y="239"/>
                  </a:lnTo>
                  <a:lnTo>
                    <a:pt x="30" y="144"/>
                  </a:lnTo>
                  <a:lnTo>
                    <a:pt x="0" y="0"/>
                  </a:lnTo>
                  <a:lnTo>
                    <a:pt x="1" y="336"/>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600"/>
            </a:p>
          </p:txBody>
        </p:sp>
        <p:sp>
          <p:nvSpPr>
            <p:cNvPr id="1035" name="Freeform 13">
              <a:extLst>
                <a:ext uri="{FF2B5EF4-FFF2-40B4-BE49-F238E27FC236}">
                  <a16:creationId xmlns:a16="http://schemas.microsoft.com/office/drawing/2014/main" id="{BFB7ACB1-68BD-4221-A3BA-CA6622C7F02B}"/>
                </a:ext>
              </a:extLst>
            </p:cNvPr>
            <p:cNvSpPr>
              <a:spLocks/>
            </p:cNvSpPr>
            <p:nvPr/>
          </p:nvSpPr>
          <p:spPr bwMode="gray">
            <a:xfrm>
              <a:off x="5511" y="4029"/>
              <a:ext cx="253" cy="290"/>
            </a:xfrm>
            <a:custGeom>
              <a:avLst/>
              <a:gdLst>
                <a:gd name="T0" fmla="*/ 4481043 w 232"/>
                <a:gd name="T1" fmla="*/ 0 h 290"/>
                <a:gd name="T2" fmla="*/ 3199438 w 232"/>
                <a:gd name="T3" fmla="*/ 144 h 290"/>
                <a:gd name="T4" fmla="*/ 1932977 w 232"/>
                <a:gd name="T5" fmla="*/ 253 h 290"/>
                <a:gd name="T6" fmla="*/ 0 w 232"/>
                <a:gd name="T7" fmla="*/ 290 h 290"/>
                <a:gd name="T8" fmla="*/ 4524845 w 232"/>
                <a:gd name="T9" fmla="*/ 287 h 29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2" h="290">
                  <a:moveTo>
                    <a:pt x="229" y="0"/>
                  </a:moveTo>
                  <a:lnTo>
                    <a:pt x="164" y="144"/>
                  </a:lnTo>
                  <a:lnTo>
                    <a:pt x="98" y="253"/>
                  </a:lnTo>
                  <a:lnTo>
                    <a:pt x="0" y="290"/>
                  </a:lnTo>
                  <a:lnTo>
                    <a:pt x="232" y="287"/>
                  </a:lnTo>
                </a:path>
              </a:pathLst>
            </a:custGeom>
            <a:solidFill>
              <a:schemeClr val="bg1"/>
            </a:solidFill>
            <a:ln w="9525">
              <a:solidFill>
                <a:schemeClr val="bg1"/>
              </a:solidFill>
              <a:round/>
              <a:headEnd/>
              <a:tailEnd/>
            </a:ln>
          </p:spPr>
          <p:txBody>
            <a:bodyPr/>
            <a:lstStyle/>
            <a:p>
              <a:endParaRPr lang="zh-CN" altLang="en-US" sz="1600"/>
            </a:p>
          </p:txBody>
        </p:sp>
        <p:sp>
          <p:nvSpPr>
            <p:cNvPr id="1036" name="Freeform 14">
              <a:extLst>
                <a:ext uri="{FF2B5EF4-FFF2-40B4-BE49-F238E27FC236}">
                  <a16:creationId xmlns:a16="http://schemas.microsoft.com/office/drawing/2014/main" id="{31293226-F3C2-4CD6-A674-41BB63CC2780}"/>
                </a:ext>
              </a:extLst>
            </p:cNvPr>
            <p:cNvSpPr>
              <a:spLocks/>
            </p:cNvSpPr>
            <p:nvPr/>
          </p:nvSpPr>
          <p:spPr bwMode="gray">
            <a:xfrm>
              <a:off x="5472" y="0"/>
              <a:ext cx="288" cy="288"/>
            </a:xfrm>
            <a:custGeom>
              <a:avLst/>
              <a:gdLst>
                <a:gd name="T0" fmla="*/ 0 w 288"/>
                <a:gd name="T1" fmla="*/ 0 h 288"/>
                <a:gd name="T2" fmla="*/ 144 w 288"/>
                <a:gd name="T3" fmla="*/ 82 h 288"/>
                <a:gd name="T4" fmla="*/ 252 w 288"/>
                <a:gd name="T5" fmla="*/ 165 h 288"/>
                <a:gd name="T6" fmla="*/ 288 w 288"/>
                <a:gd name="T7" fmla="*/ 288 h 288"/>
                <a:gd name="T8" fmla="*/ 288 w 288"/>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8" h="288">
                  <a:moveTo>
                    <a:pt x="0" y="0"/>
                  </a:moveTo>
                  <a:lnTo>
                    <a:pt x="144" y="82"/>
                  </a:lnTo>
                  <a:lnTo>
                    <a:pt x="252" y="165"/>
                  </a:lnTo>
                  <a:lnTo>
                    <a:pt x="288" y="288"/>
                  </a:lnTo>
                  <a:lnTo>
                    <a:pt x="288" y="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600"/>
            </a:p>
          </p:txBody>
        </p:sp>
      </p:grpSp>
    </p:spTree>
  </p:cSld>
  <p:clrMap bg1="lt1" tx1="dk1" bg2="lt2" tx2="dk2" accent1="accent1" accent2="accent2" accent3="accent3" accent4="accent4" accent5="accent5" accent6="accent6" hlink="hlink" folHlink="folHlink"/>
  <p:sldLayoutIdLst>
    <p:sldLayoutId id="2147486630" r:id="rId1"/>
    <p:sldLayoutId id="2147486631" r:id="rId2"/>
    <p:sldLayoutId id="2147486632" r:id="rId3"/>
    <p:sldLayoutId id="2147486633" r:id="rId4"/>
    <p:sldLayoutId id="2147486634" r:id="rId5"/>
    <p:sldLayoutId id="2147486635" r:id="rId6"/>
    <p:sldLayoutId id="2147486605" r:id="rId7"/>
    <p:sldLayoutId id="2147486606" r:id="rId8"/>
    <p:sldLayoutId id="2147486607" r:id="rId9"/>
    <p:sldLayoutId id="2147486608" r:id="rId10"/>
    <p:sldLayoutId id="2147486609" r:id="rId11"/>
    <p:sldLayoutId id="2147486610" r:id="rId12"/>
    <p:sldLayoutId id="2147486636" r:id="rId13"/>
    <p:sldLayoutId id="2147486637" r:id="rId14"/>
    <p:sldLayoutId id="2147486611" r:id="rId15"/>
    <p:sldLayoutId id="2147486612" r:id="rId16"/>
    <p:sldLayoutId id="2147486613" r:id="rId17"/>
    <p:sldLayoutId id="2147486614" r:id="rId18"/>
    <p:sldLayoutId id="2147486615" r:id="rId19"/>
    <p:sldLayoutId id="2147486616" r:id="rId20"/>
    <p:sldLayoutId id="2147486617" r:id="rId21"/>
    <p:sldLayoutId id="2147486618" r:id="rId22"/>
  </p:sldLayoutIdLst>
  <p:transition spd="slow">
    <p:circle/>
  </p:transition>
  <p:txStyles>
    <p:titleStyle>
      <a:lvl1pPr algn="l" rtl="0" eaLnBrk="0" fontAlgn="base" hangingPunct="0">
        <a:spcBef>
          <a:spcPct val="0"/>
        </a:spcBef>
        <a:spcAft>
          <a:spcPct val="0"/>
        </a:spcAft>
        <a:defRPr sz="3600" b="1">
          <a:solidFill>
            <a:schemeClr val="bg1"/>
          </a:solidFill>
          <a:latin typeface="+mj-lt"/>
          <a:ea typeface="+mj-ea"/>
          <a:cs typeface="+mj-cs"/>
        </a:defRPr>
      </a:lvl1pPr>
      <a:lvl2pPr algn="l" rtl="0" eaLnBrk="0" fontAlgn="base" hangingPunct="0">
        <a:spcBef>
          <a:spcPct val="0"/>
        </a:spcBef>
        <a:spcAft>
          <a:spcPct val="0"/>
        </a:spcAft>
        <a:defRPr sz="3600" b="1">
          <a:solidFill>
            <a:schemeClr val="bg1"/>
          </a:solidFill>
          <a:latin typeface="黑体" pitchFamily="49" charset="-122"/>
          <a:ea typeface="黑体" pitchFamily="49" charset="-122"/>
        </a:defRPr>
      </a:lvl2pPr>
      <a:lvl3pPr algn="l" rtl="0" eaLnBrk="0" fontAlgn="base" hangingPunct="0">
        <a:spcBef>
          <a:spcPct val="0"/>
        </a:spcBef>
        <a:spcAft>
          <a:spcPct val="0"/>
        </a:spcAft>
        <a:defRPr sz="3600" b="1">
          <a:solidFill>
            <a:schemeClr val="bg1"/>
          </a:solidFill>
          <a:latin typeface="黑体" pitchFamily="49" charset="-122"/>
          <a:ea typeface="黑体" pitchFamily="49" charset="-122"/>
        </a:defRPr>
      </a:lvl3pPr>
      <a:lvl4pPr algn="l" rtl="0" eaLnBrk="0" fontAlgn="base" hangingPunct="0">
        <a:spcBef>
          <a:spcPct val="0"/>
        </a:spcBef>
        <a:spcAft>
          <a:spcPct val="0"/>
        </a:spcAft>
        <a:defRPr sz="3600" b="1">
          <a:solidFill>
            <a:schemeClr val="bg1"/>
          </a:solidFill>
          <a:latin typeface="黑体" pitchFamily="49" charset="-122"/>
          <a:ea typeface="黑体" pitchFamily="49" charset="-122"/>
        </a:defRPr>
      </a:lvl4pPr>
      <a:lvl5pPr algn="l" rtl="0" eaLnBrk="0" fontAlgn="base" hangingPunct="0">
        <a:spcBef>
          <a:spcPct val="0"/>
        </a:spcBef>
        <a:spcAft>
          <a:spcPct val="0"/>
        </a:spcAft>
        <a:defRPr sz="3600" b="1">
          <a:solidFill>
            <a:schemeClr val="bg1"/>
          </a:solidFill>
          <a:latin typeface="黑体" pitchFamily="49" charset="-122"/>
          <a:ea typeface="黑体" pitchFamily="49" charset="-122"/>
        </a:defRPr>
      </a:lvl5pPr>
      <a:lvl6pPr marL="457200" algn="l" rtl="0" fontAlgn="base">
        <a:spcBef>
          <a:spcPct val="0"/>
        </a:spcBef>
        <a:spcAft>
          <a:spcPct val="0"/>
        </a:spcAft>
        <a:defRPr sz="3600" b="1">
          <a:solidFill>
            <a:schemeClr val="bg1"/>
          </a:solidFill>
          <a:latin typeface="黑体" pitchFamily="49" charset="-122"/>
          <a:ea typeface="黑体" pitchFamily="49" charset="-122"/>
        </a:defRPr>
      </a:lvl6pPr>
      <a:lvl7pPr marL="914400" algn="l" rtl="0" fontAlgn="base">
        <a:spcBef>
          <a:spcPct val="0"/>
        </a:spcBef>
        <a:spcAft>
          <a:spcPct val="0"/>
        </a:spcAft>
        <a:defRPr sz="3600" b="1">
          <a:solidFill>
            <a:schemeClr val="bg1"/>
          </a:solidFill>
          <a:latin typeface="黑体" pitchFamily="49" charset="-122"/>
          <a:ea typeface="黑体" pitchFamily="49" charset="-122"/>
        </a:defRPr>
      </a:lvl7pPr>
      <a:lvl8pPr marL="1371600" algn="l" rtl="0" fontAlgn="base">
        <a:spcBef>
          <a:spcPct val="0"/>
        </a:spcBef>
        <a:spcAft>
          <a:spcPct val="0"/>
        </a:spcAft>
        <a:defRPr sz="3600" b="1">
          <a:solidFill>
            <a:schemeClr val="bg1"/>
          </a:solidFill>
          <a:latin typeface="黑体" pitchFamily="49" charset="-122"/>
          <a:ea typeface="黑体" pitchFamily="49" charset="-122"/>
        </a:defRPr>
      </a:lvl8pPr>
      <a:lvl9pPr marL="1828800" algn="l" rtl="0" fontAlgn="base">
        <a:spcBef>
          <a:spcPct val="0"/>
        </a:spcBef>
        <a:spcAft>
          <a:spcPct val="0"/>
        </a:spcAft>
        <a:defRPr sz="3600" b="1">
          <a:solidFill>
            <a:schemeClr val="bg1"/>
          </a:solidFill>
          <a:latin typeface="黑体" pitchFamily="49" charset="-122"/>
          <a:ea typeface="黑体"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rgbClr val="00004D"/>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rgbClr val="00004D"/>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rgbClr val="00004D"/>
          </a:solidFill>
          <a:latin typeface="+mn-lt"/>
          <a:ea typeface="+mn-ea"/>
        </a:defRPr>
      </a:lvl3pPr>
      <a:lvl4pPr marL="1600200" indent="-228600" algn="l" rtl="0" eaLnBrk="0" fontAlgn="base" hangingPunct="0">
        <a:spcBef>
          <a:spcPct val="20000"/>
        </a:spcBef>
        <a:spcAft>
          <a:spcPct val="0"/>
        </a:spcAft>
        <a:buChar char="–"/>
        <a:defRPr sz="2000">
          <a:solidFill>
            <a:srgbClr val="00004D"/>
          </a:solidFill>
          <a:latin typeface="+mn-lt"/>
          <a:ea typeface="+mn-ea"/>
        </a:defRPr>
      </a:lvl4pPr>
      <a:lvl5pPr marL="2057400" indent="-228600" algn="l" rtl="0" eaLnBrk="0" fontAlgn="base" hangingPunct="0">
        <a:spcBef>
          <a:spcPct val="20000"/>
        </a:spcBef>
        <a:spcAft>
          <a:spcPct val="0"/>
        </a:spcAft>
        <a:buChar char="»"/>
        <a:defRPr sz="2000">
          <a:solidFill>
            <a:srgbClr val="00004D"/>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标题占位符 1">
            <a:extLst>
              <a:ext uri="{FF2B5EF4-FFF2-40B4-BE49-F238E27FC236}">
                <a16:creationId xmlns:a16="http://schemas.microsoft.com/office/drawing/2014/main" id="{6772945E-8774-4F02-95F9-09D4738AB866}"/>
              </a:ext>
            </a:extLst>
          </p:cNvPr>
          <p:cNvSpPr>
            <a:spLocks noGrp="1" noChangeArrowheads="1"/>
          </p:cNvSpPr>
          <p:nvPr>
            <p:ph type="title"/>
          </p:nvPr>
        </p:nvSpPr>
        <p:spPr bwMode="auto">
          <a:xfrm>
            <a:off x="838200" y="365126"/>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文本占位符 2">
            <a:extLst>
              <a:ext uri="{FF2B5EF4-FFF2-40B4-BE49-F238E27FC236}">
                <a16:creationId xmlns:a16="http://schemas.microsoft.com/office/drawing/2014/main" id="{788E172B-BCE3-4418-B6E8-A8A6BC1EDFC9}"/>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D0FD0F7-38B4-4C64-88F1-CDDC3EC0706C}"/>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D380896C-6A2E-44B8-90E4-AF16417246F3}" type="datetimeFigureOut">
              <a:rPr lang="zh-CN" altLang="en-US"/>
              <a:pPr>
                <a:defRPr/>
              </a:pPr>
              <a:t>2026/9/1</a:t>
            </a:fld>
            <a:endParaRPr lang="zh-CN" altLang="en-US"/>
          </a:p>
        </p:txBody>
      </p:sp>
      <p:sp>
        <p:nvSpPr>
          <p:cNvPr id="5" name="页脚占位符 4">
            <a:extLst>
              <a:ext uri="{FF2B5EF4-FFF2-40B4-BE49-F238E27FC236}">
                <a16:creationId xmlns:a16="http://schemas.microsoft.com/office/drawing/2014/main" id="{86094A3F-F1C0-481C-A2DE-786CDA307365}"/>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灯片编号占位符 5">
            <a:extLst>
              <a:ext uri="{FF2B5EF4-FFF2-40B4-BE49-F238E27FC236}">
                <a16:creationId xmlns:a16="http://schemas.microsoft.com/office/drawing/2014/main" id="{50EA7649-E667-45B2-9E8E-FF24D7CF18C4}"/>
              </a:ext>
            </a:extLst>
          </p:cNvPr>
          <p:cNvSpPr>
            <a:spLocks noGrp="1"/>
          </p:cNvSpPr>
          <p:nvPr>
            <p:ph type="sldNum" sz="quarter" idx="4"/>
          </p:nvPr>
        </p:nvSpPr>
        <p:spPr>
          <a:xfrm>
            <a:off x="8610600" y="6356351"/>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A93DA92B-D1D6-476F-B65F-2F6EDD4D3584}"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6619" r:id="rId1"/>
    <p:sldLayoutId id="2147486620" r:id="rId2"/>
    <p:sldLayoutId id="2147486621" r:id="rId3"/>
    <p:sldLayoutId id="2147486622" r:id="rId4"/>
    <p:sldLayoutId id="2147486623" r:id="rId5"/>
    <p:sldLayoutId id="2147486624" r:id="rId6"/>
    <p:sldLayoutId id="2147486625" r:id="rId7"/>
    <p:sldLayoutId id="2147486626" r:id="rId8"/>
    <p:sldLayoutId id="2147486627" r:id="rId9"/>
    <p:sldLayoutId id="2147486628" r:id="rId10"/>
    <p:sldLayoutId id="2147486629"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1.xml"/><Relationship Id="rId1" Type="http://schemas.openxmlformats.org/officeDocument/2006/relationships/tags" Target="../tags/tag4.xml"/><Relationship Id="rId5" Type="http://schemas.openxmlformats.org/officeDocument/2006/relationships/image" Target="../media/image12.jpe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3.wmf"/></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16.jpeg"/></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9.xml"/><Relationship Id="rId1" Type="http://schemas.openxmlformats.org/officeDocument/2006/relationships/tags" Target="../tags/tag5.xml"/><Relationship Id="rId4" Type="http://schemas.openxmlformats.org/officeDocument/2006/relationships/image" Target="../media/image17.jpeg"/></Relationships>
</file>

<file path=ppt/slides/_rels/slide2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9.xml"/><Relationship Id="rId1" Type="http://schemas.openxmlformats.org/officeDocument/2006/relationships/tags" Target="../tags/tag6.xml"/><Relationship Id="rId5" Type="http://schemas.openxmlformats.org/officeDocument/2006/relationships/image" Target="../media/image18.jpeg"/><Relationship Id="rId4" Type="http://schemas.openxmlformats.org/officeDocument/2006/relationships/image" Target="../media/image19.jpe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2.xml"/><Relationship Id="rId1" Type="http://schemas.openxmlformats.org/officeDocument/2006/relationships/tags" Target="../tags/tag7.xml"/><Relationship Id="rId4" Type="http://schemas.openxmlformats.org/officeDocument/2006/relationships/image" Target="../media/image23.wmf"/></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2.xml"/><Relationship Id="rId1" Type="http://schemas.openxmlformats.org/officeDocument/2006/relationships/tags" Target="../tags/tag8.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1.xml"/><Relationship Id="rId1" Type="http://schemas.openxmlformats.org/officeDocument/2006/relationships/tags" Target="../tags/tag9.xml"/><Relationship Id="rId4" Type="http://schemas.openxmlformats.org/officeDocument/2006/relationships/image" Target="../media/image24.wmf"/></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file:///D:\teaching\01&#34507;&#30333;&#36136;&#32467;&#26500;&#19982;&#21151;&#33021;\&#32593;&#35838;&#19978;&#20256;&#35270;&#39057;\&#23398;&#29983;&#29992;&#35270;&#39057;\TTC%20amino%20acids%20song&#65288;&#23383;&#24149;&#29256;&#65289;.mp4" TargetMode="External"/><Relationship Id="rId1" Type="http://schemas.microsoft.com/office/2007/relationships/media" Target="file:///D:\teaching\01&#34507;&#30333;&#36136;&#32467;&#26500;&#19982;&#21151;&#33021;\&#32593;&#35838;&#19978;&#20256;&#35270;&#39057;\&#23398;&#29983;&#29992;&#35270;&#39057;\TTC%20amino%20acids%20song&#65288;&#23383;&#24149;&#29256;&#65289;.mp4" TargetMode="External"/><Relationship Id="rId5" Type="http://schemas.openxmlformats.org/officeDocument/2006/relationships/image" Target="../media/image27.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6.xml"/><Relationship Id="rId1" Type="http://schemas.openxmlformats.org/officeDocument/2006/relationships/tags" Target="../tags/tag11.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30.wmf"/><Relationship Id="rId7" Type="http://schemas.openxmlformats.org/officeDocument/2006/relationships/image" Target="../media/image33.wmf"/><Relationship Id="rId2" Type="http://schemas.openxmlformats.org/officeDocument/2006/relationships/notesSlide" Target="../notesSlides/notesSlide37.xml"/><Relationship Id="rId1" Type="http://schemas.openxmlformats.org/officeDocument/2006/relationships/slideLayout" Target="../slideLayouts/slideLayout11.xml"/><Relationship Id="rId6" Type="http://schemas.openxmlformats.org/officeDocument/2006/relationships/oleObject" Target="../embeddings/oleObject2.bin"/><Relationship Id="rId5" Type="http://schemas.openxmlformats.org/officeDocument/2006/relationships/image" Target="../media/image32.wmf"/><Relationship Id="rId4" Type="http://schemas.openxmlformats.org/officeDocument/2006/relationships/image" Target="../media/image31.wmf"/></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8.xml"/><Relationship Id="rId1" Type="http://schemas.openxmlformats.org/officeDocument/2006/relationships/slideLayout" Target="../slideLayouts/slideLayout11.xml"/><Relationship Id="rId4" Type="http://schemas.openxmlformats.org/officeDocument/2006/relationships/image" Target="../media/image35.png"/></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30.wmf"/><Relationship Id="rId7" Type="http://schemas.openxmlformats.org/officeDocument/2006/relationships/image" Target="../media/image33.wmf"/><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oleObject" Target="../embeddings/oleObject3.bin"/><Relationship Id="rId5" Type="http://schemas.openxmlformats.org/officeDocument/2006/relationships/image" Target="../media/image32.wmf"/><Relationship Id="rId4" Type="http://schemas.openxmlformats.org/officeDocument/2006/relationships/image" Target="../media/image31.w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37.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43.xml"/><Relationship Id="rId1" Type="http://schemas.openxmlformats.org/officeDocument/2006/relationships/slideLayout" Target="../slideLayouts/slideLayout12.xml"/><Relationship Id="rId4" Type="http://schemas.openxmlformats.org/officeDocument/2006/relationships/image" Target="../media/image38.wmf"/></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6.xml"/><Relationship Id="rId1" Type="http://schemas.openxmlformats.org/officeDocument/2006/relationships/slideLayout" Target="../slideLayouts/slideLayout12.xml"/><Relationship Id="rId4" Type="http://schemas.openxmlformats.org/officeDocument/2006/relationships/image" Target="../media/image41.emf"/></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notesSlide" Target="../notesSlides/notesSlide48.xml"/><Relationship Id="rId1" Type="http://schemas.openxmlformats.org/officeDocument/2006/relationships/slideLayout" Target="../slideLayouts/slideLayout12.xml"/><Relationship Id="rId6" Type="http://schemas.openxmlformats.org/officeDocument/2006/relationships/image" Target="../media/image44.wmf"/><Relationship Id="rId5" Type="http://schemas.openxmlformats.org/officeDocument/2006/relationships/image" Target="../media/image43.wmf"/><Relationship Id="rId4" Type="http://schemas.openxmlformats.org/officeDocument/2006/relationships/oleObject" Target="../embeddings/oleObject6.bin"/></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67.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1.xml"/><Relationship Id="rId1" Type="http://schemas.openxmlformats.org/officeDocument/2006/relationships/slideLayout" Target="../slideLayouts/slideLayout13.xml"/><Relationship Id="rId5" Type="http://schemas.openxmlformats.org/officeDocument/2006/relationships/image" Target="../media/image58.png"/><Relationship Id="rId4" Type="http://schemas.openxmlformats.org/officeDocument/2006/relationships/image" Target="../media/image57.png"/></Relationships>
</file>

<file path=ppt/slides/_rels/slide7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3.xml"/><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4.xml"/><Relationship Id="rId1" Type="http://schemas.openxmlformats.org/officeDocument/2006/relationships/slideLayout" Target="../slideLayouts/slideLayout13.xml"/><Relationship Id="rId4" Type="http://schemas.openxmlformats.org/officeDocument/2006/relationships/image" Target="../media/image62.png"/></Relationships>
</file>

<file path=ppt/slides/_rels/slide76.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80.xml"/><Relationship Id="rId1" Type="http://schemas.openxmlformats.org/officeDocument/2006/relationships/slideLayout" Target="../slideLayouts/slideLayout7.xml"/><Relationship Id="rId4" Type="http://schemas.openxmlformats.org/officeDocument/2006/relationships/image" Target="../media/image67.png"/></Relationships>
</file>

<file path=ppt/slides/_rels/slide8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81.xml"/><Relationship Id="rId1" Type="http://schemas.openxmlformats.org/officeDocument/2006/relationships/slideLayout" Target="../slideLayouts/slideLayout11.xml"/></Relationships>
</file>

<file path=ppt/slides/_rels/slide83.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82.xml"/><Relationship Id="rId1" Type="http://schemas.openxmlformats.org/officeDocument/2006/relationships/slideLayout" Target="../slideLayouts/slideLayout4.xml"/><Relationship Id="rId5" Type="http://schemas.openxmlformats.org/officeDocument/2006/relationships/image" Target="../media/image71.png"/><Relationship Id="rId4" Type="http://schemas.openxmlformats.org/officeDocument/2006/relationships/image" Target="../media/image70.png"/></Relationships>
</file>

<file path=ppt/slides/_rels/slide8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83.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84.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86.xml"/><Relationship Id="rId1" Type="http://schemas.openxmlformats.org/officeDocument/2006/relationships/slideLayout" Target="../slideLayouts/slideLayout19.xml"/><Relationship Id="rId4" Type="http://schemas.openxmlformats.org/officeDocument/2006/relationships/image" Target="../media/image76.png"/></Relationships>
</file>

<file path=ppt/slides/_rels/slide88.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87.xml"/><Relationship Id="rId1" Type="http://schemas.openxmlformats.org/officeDocument/2006/relationships/slideLayout" Target="../slideLayouts/slideLayout7.xml"/><Relationship Id="rId5" Type="http://schemas.openxmlformats.org/officeDocument/2006/relationships/image" Target="../media/image79.jpeg"/><Relationship Id="rId4" Type="http://schemas.openxmlformats.org/officeDocument/2006/relationships/image" Target="../media/image78.jpe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89.xml"/><Relationship Id="rId1" Type="http://schemas.openxmlformats.org/officeDocument/2006/relationships/slideLayout" Target="../slideLayouts/slideLayout19.xml"/></Relationships>
</file>

<file path=ppt/slides/_rels/slide9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90.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91.xml"/><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92.xml"/><Relationship Id="rId1" Type="http://schemas.openxmlformats.org/officeDocument/2006/relationships/slideLayout" Target="../slideLayouts/slideLayout12.xml"/><Relationship Id="rId4" Type="http://schemas.openxmlformats.org/officeDocument/2006/relationships/image" Target="../media/image84.png"/></Relationships>
</file>

<file path=ppt/slides/_rels/slide9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93.xml"/><Relationship Id="rId1" Type="http://schemas.openxmlformats.org/officeDocument/2006/relationships/slideLayout" Target="../slideLayouts/slideLayout4.xml"/><Relationship Id="rId5" Type="http://schemas.openxmlformats.org/officeDocument/2006/relationships/image" Target="../media/image87.png"/><Relationship Id="rId4" Type="http://schemas.openxmlformats.org/officeDocument/2006/relationships/image" Target="../media/image86.jpe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96.xml"/><Relationship Id="rId1" Type="http://schemas.openxmlformats.org/officeDocument/2006/relationships/slideLayout" Target="../slideLayouts/slideLayout12.xml"/><Relationship Id="rId4" Type="http://schemas.openxmlformats.org/officeDocument/2006/relationships/image" Target="../media/image89.png"/></Relationships>
</file>

<file path=ppt/slides/_rels/slide9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100.xml"/><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101.xml"/><Relationship Id="rId1" Type="http://schemas.openxmlformats.org/officeDocument/2006/relationships/slideLayout" Target="../slideLayouts/slideLayout11.xml"/></Relationships>
</file>

<file path=ppt/slides/_rels/slide10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102.xml"/><Relationship Id="rId1" Type="http://schemas.openxmlformats.org/officeDocument/2006/relationships/slideLayout" Target="../slideLayouts/slideLayout11.xml"/></Relationships>
</file>

<file path=ppt/slides/_rels/slide104.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03.xml"/><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04.xml"/><Relationship Id="rId1" Type="http://schemas.openxmlformats.org/officeDocument/2006/relationships/slideLayout" Target="../slideLayouts/slideLayout12.xml"/><Relationship Id="rId4" Type="http://schemas.openxmlformats.org/officeDocument/2006/relationships/image" Target="../media/image96.png"/></Relationships>
</file>

<file path=ppt/slides/_rels/slide106.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05.xml"/><Relationship Id="rId1" Type="http://schemas.openxmlformats.org/officeDocument/2006/relationships/slideLayout" Target="../slideLayouts/slideLayout14.xml"/></Relationships>
</file>

<file path=ppt/slides/_rels/slide107.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06.xml"/><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08.xml"/><Relationship Id="rId1" Type="http://schemas.openxmlformats.org/officeDocument/2006/relationships/slideLayout" Target="../slideLayouts/slideLayout6.xml"/><Relationship Id="rId4" Type="http://schemas.openxmlformats.org/officeDocument/2006/relationships/image" Target="../media/image100.png"/></Relationships>
</file>

<file path=ppt/slides/_rels/slide11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11.xml"/><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112.xml"/><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13.xml"/><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114.xml"/><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16.xml"/><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18.xml"/><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120.xml"/><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21.xml"/><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22.xml"/><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23.xml"/><Relationship Id="rId1" Type="http://schemas.openxmlformats.org/officeDocument/2006/relationships/slideLayout" Target="../slideLayouts/slideLayout13.xml"/><Relationship Id="rId5" Type="http://schemas.openxmlformats.org/officeDocument/2006/relationships/image" Target="../media/image113.png"/><Relationship Id="rId4" Type="http://schemas.openxmlformats.org/officeDocument/2006/relationships/image" Target="../media/image112.png"/></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3" Type="http://schemas.openxmlformats.org/officeDocument/2006/relationships/slide" Target="slide130.xml"/><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3" Type="http://schemas.openxmlformats.org/officeDocument/2006/relationships/image" Target="../media/image114.gif"/><Relationship Id="rId2" Type="http://schemas.openxmlformats.org/officeDocument/2006/relationships/notesSlide" Target="../notesSlides/notesSlide126.xml"/><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4.xml"/></Relationships>
</file>

<file path=ppt/slides/_rels/slide129.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28.xml"/><Relationship Id="rId1" Type="http://schemas.openxmlformats.org/officeDocument/2006/relationships/slideLayout" Target="../slideLayouts/slideLayout14.xml"/></Relationships>
</file>

<file path=ppt/slides/_rels/slide130.xml.rels><?xml version="1.0" encoding="UTF-8" standalone="yes"?>
<Relationships xmlns="http://schemas.openxmlformats.org/package/2006/relationships"><Relationship Id="rId3" Type="http://schemas.openxmlformats.org/officeDocument/2006/relationships/slide" Target="slide126.xml"/><Relationship Id="rId2" Type="http://schemas.openxmlformats.org/officeDocument/2006/relationships/notesSlide" Target="../notesSlides/notesSlide129.xml"/><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4.xml"/></Relationships>
</file>

<file path=ppt/slides/_rels/slide13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file:///D:\teaching\01&#34507;&#30333;&#36136;&#32467;&#26500;&#19982;&#21151;&#33021;\&#32593;&#35838;&#19978;&#20256;&#35270;&#39057;\&#23398;&#29983;&#29992;&#35270;&#39057;\What%20is%20a%20Protein%20&#20013;&#33521;&#25991;&#23383;&#24149;.mp4" TargetMode="External"/><Relationship Id="rId1" Type="http://schemas.microsoft.com/office/2007/relationships/media" Target="file:///D:\teaching\01&#34507;&#30333;&#36136;&#32467;&#26500;&#19982;&#21151;&#33021;\&#32593;&#35838;&#19978;&#20256;&#35270;&#39057;\&#23398;&#29983;&#29992;&#35270;&#39057;\What%20is%20a%20Protein%20&#20013;&#33521;&#25991;&#23383;&#24149;.mp4" TargetMode="External"/><Relationship Id="rId5" Type="http://schemas.openxmlformats.org/officeDocument/2006/relationships/image" Target="../media/image116.png"/><Relationship Id="rId4" Type="http://schemas.openxmlformats.org/officeDocument/2006/relationships/notesSlide" Target="../notesSlides/notesSlide13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1">
            <a:extLst>
              <a:ext uri="{FF2B5EF4-FFF2-40B4-BE49-F238E27FC236}">
                <a16:creationId xmlns:a16="http://schemas.microsoft.com/office/drawing/2014/main" id="{8BB6FD5A-955E-4424-AA5C-D66D10ECBCE3}"/>
              </a:ext>
            </a:extLst>
          </p:cNvPr>
          <p:cNvSpPr txBox="1">
            <a:spLocks noChangeArrowheads="1"/>
          </p:cNvSpPr>
          <p:nvPr/>
        </p:nvSpPr>
        <p:spPr bwMode="auto">
          <a:xfrm>
            <a:off x="3252788" y="3644900"/>
            <a:ext cx="5867400" cy="1206500"/>
          </a:xfrm>
          <a:prstGeom prst="rect">
            <a:avLst/>
          </a:prstGeom>
          <a:noFill/>
          <a:ln>
            <a:noFill/>
          </a:ln>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a:lnSpc>
                <a:spcPct val="150000"/>
              </a:lnSpc>
              <a:spcBef>
                <a:spcPct val="0"/>
              </a:spcBef>
              <a:buClrTx/>
              <a:buFontTx/>
              <a:buNone/>
              <a:defRPr/>
            </a:pPr>
            <a:r>
              <a:rPr lang="zh-CN" altLang="en-US" dirty="0">
                <a:solidFill>
                  <a:schemeClr val="tx1">
                    <a:lumMod val="50000"/>
                  </a:schemeClr>
                </a:solidFill>
                <a:latin typeface="+mn-ea"/>
                <a:ea typeface="+mn-ea"/>
              </a:rPr>
              <a:t>彭翼飞</a:t>
            </a:r>
            <a:r>
              <a:rPr lang="en-US" altLang="zh-CN" dirty="0">
                <a:solidFill>
                  <a:schemeClr val="tx1">
                    <a:lumMod val="50000"/>
                  </a:schemeClr>
                </a:solidFill>
                <a:latin typeface="+mn-ea"/>
                <a:ea typeface="+mn-ea"/>
              </a:rPr>
              <a:t>  yvettegz@163.com</a:t>
            </a:r>
          </a:p>
          <a:p>
            <a:pPr algn="ctr">
              <a:lnSpc>
                <a:spcPct val="150000"/>
              </a:lnSpc>
              <a:spcBef>
                <a:spcPct val="0"/>
              </a:spcBef>
              <a:buClrTx/>
              <a:buFont typeface="Wingdings" panose="05000000000000000000" pitchFamily="2" charset="2"/>
              <a:buNone/>
              <a:defRPr/>
            </a:pPr>
            <a:r>
              <a:rPr lang="zh-CN" altLang="en-US" sz="2400" dirty="0">
                <a:solidFill>
                  <a:schemeClr val="tx1">
                    <a:lumMod val="50000"/>
                  </a:schemeClr>
                </a:solidFill>
                <a:latin typeface="+mn-ea"/>
                <a:ea typeface="+mn-ea"/>
              </a:rPr>
              <a:t>基础医学院生物化学与分子生物学教研室</a:t>
            </a:r>
          </a:p>
        </p:txBody>
      </p:sp>
      <p:sp>
        <p:nvSpPr>
          <p:cNvPr id="5" name="圆角矩形 1">
            <a:extLst>
              <a:ext uri="{FF2B5EF4-FFF2-40B4-BE49-F238E27FC236}">
                <a16:creationId xmlns:a16="http://schemas.microsoft.com/office/drawing/2014/main" id="{CFC8EA88-9844-493F-A03F-D0543CA9A603}"/>
              </a:ext>
            </a:extLst>
          </p:cNvPr>
          <p:cNvSpPr/>
          <p:nvPr/>
        </p:nvSpPr>
        <p:spPr bwMode="auto">
          <a:xfrm>
            <a:off x="3198814" y="1052514"/>
            <a:ext cx="5976937" cy="1582737"/>
          </a:xfrm>
          <a:custGeom>
            <a:avLst/>
            <a:gdLst>
              <a:gd name="connsiteX0" fmla="*/ 0 w 5328592"/>
              <a:gd name="connsiteY0" fmla="*/ 574350 h 1368152"/>
              <a:gd name="connsiteX1" fmla="*/ 574350 w 5328592"/>
              <a:gd name="connsiteY1" fmla="*/ 0 h 1368152"/>
              <a:gd name="connsiteX2" fmla="*/ 4754242 w 5328592"/>
              <a:gd name="connsiteY2" fmla="*/ 0 h 1368152"/>
              <a:gd name="connsiteX3" fmla="*/ 5328592 w 5328592"/>
              <a:gd name="connsiteY3" fmla="*/ 574350 h 1368152"/>
              <a:gd name="connsiteX4" fmla="*/ 5328592 w 5328592"/>
              <a:gd name="connsiteY4" fmla="*/ 793802 h 1368152"/>
              <a:gd name="connsiteX5" fmla="*/ 4754242 w 5328592"/>
              <a:gd name="connsiteY5" fmla="*/ 1368152 h 1368152"/>
              <a:gd name="connsiteX6" fmla="*/ 574350 w 5328592"/>
              <a:gd name="connsiteY6" fmla="*/ 1368152 h 1368152"/>
              <a:gd name="connsiteX7" fmla="*/ 0 w 5328592"/>
              <a:gd name="connsiteY7" fmla="*/ 793802 h 1368152"/>
              <a:gd name="connsiteX8" fmla="*/ 0 w 5328592"/>
              <a:gd name="connsiteY8" fmla="*/ 574350 h 1368152"/>
              <a:gd name="connsiteX0" fmla="*/ 0 w 5329776"/>
              <a:gd name="connsiteY0" fmla="*/ 574350 h 1368152"/>
              <a:gd name="connsiteX1" fmla="*/ 574350 w 5329776"/>
              <a:gd name="connsiteY1" fmla="*/ 0 h 1368152"/>
              <a:gd name="connsiteX2" fmla="*/ 4754242 w 5329776"/>
              <a:gd name="connsiteY2" fmla="*/ 0 h 1368152"/>
              <a:gd name="connsiteX3" fmla="*/ 5328592 w 5329776"/>
              <a:gd name="connsiteY3" fmla="*/ 574350 h 1368152"/>
              <a:gd name="connsiteX4" fmla="*/ 5328592 w 5329776"/>
              <a:gd name="connsiteY4" fmla="*/ 793802 h 1368152"/>
              <a:gd name="connsiteX5" fmla="*/ 5046850 w 5329776"/>
              <a:gd name="connsiteY5" fmla="*/ 1368152 h 1368152"/>
              <a:gd name="connsiteX6" fmla="*/ 574350 w 5329776"/>
              <a:gd name="connsiteY6" fmla="*/ 1368152 h 1368152"/>
              <a:gd name="connsiteX7" fmla="*/ 0 w 5329776"/>
              <a:gd name="connsiteY7" fmla="*/ 793802 h 1368152"/>
              <a:gd name="connsiteX8" fmla="*/ 0 w 5329776"/>
              <a:gd name="connsiteY8" fmla="*/ 574350 h 1368152"/>
              <a:gd name="connsiteX0" fmla="*/ 1184 w 5330960"/>
              <a:gd name="connsiteY0" fmla="*/ 574350 h 1368152"/>
              <a:gd name="connsiteX1" fmla="*/ 575534 w 5330960"/>
              <a:gd name="connsiteY1" fmla="*/ 0 h 1368152"/>
              <a:gd name="connsiteX2" fmla="*/ 4755426 w 5330960"/>
              <a:gd name="connsiteY2" fmla="*/ 0 h 1368152"/>
              <a:gd name="connsiteX3" fmla="*/ 5329776 w 5330960"/>
              <a:gd name="connsiteY3" fmla="*/ 574350 h 1368152"/>
              <a:gd name="connsiteX4" fmla="*/ 5329776 w 5330960"/>
              <a:gd name="connsiteY4" fmla="*/ 793802 h 1368152"/>
              <a:gd name="connsiteX5" fmla="*/ 5048034 w 5330960"/>
              <a:gd name="connsiteY5" fmla="*/ 1368152 h 1368152"/>
              <a:gd name="connsiteX6" fmla="*/ 282926 w 5330960"/>
              <a:gd name="connsiteY6" fmla="*/ 1355960 h 1368152"/>
              <a:gd name="connsiteX7" fmla="*/ 1184 w 5330960"/>
              <a:gd name="connsiteY7" fmla="*/ 793802 h 1368152"/>
              <a:gd name="connsiteX8" fmla="*/ 1184 w 5330960"/>
              <a:gd name="connsiteY8" fmla="*/ 574350 h 1368152"/>
              <a:gd name="connsiteX0" fmla="*/ 1184 w 5330960"/>
              <a:gd name="connsiteY0" fmla="*/ 598734 h 1392536"/>
              <a:gd name="connsiteX1" fmla="*/ 575534 w 5330960"/>
              <a:gd name="connsiteY1" fmla="*/ 24384 h 1392536"/>
              <a:gd name="connsiteX2" fmla="*/ 4389666 w 5330960"/>
              <a:gd name="connsiteY2" fmla="*/ 0 h 1392536"/>
              <a:gd name="connsiteX3" fmla="*/ 5329776 w 5330960"/>
              <a:gd name="connsiteY3" fmla="*/ 598734 h 1392536"/>
              <a:gd name="connsiteX4" fmla="*/ 5329776 w 5330960"/>
              <a:gd name="connsiteY4" fmla="*/ 818186 h 1392536"/>
              <a:gd name="connsiteX5" fmla="*/ 5048034 w 5330960"/>
              <a:gd name="connsiteY5" fmla="*/ 1392536 h 1392536"/>
              <a:gd name="connsiteX6" fmla="*/ 282926 w 5330960"/>
              <a:gd name="connsiteY6" fmla="*/ 1380344 h 1392536"/>
              <a:gd name="connsiteX7" fmla="*/ 1184 w 5330960"/>
              <a:gd name="connsiteY7" fmla="*/ 818186 h 1392536"/>
              <a:gd name="connsiteX8" fmla="*/ 1184 w 5330960"/>
              <a:gd name="connsiteY8" fmla="*/ 598734 h 1392536"/>
              <a:gd name="connsiteX0" fmla="*/ 1184 w 5330960"/>
              <a:gd name="connsiteY0" fmla="*/ 598734 h 1392536"/>
              <a:gd name="connsiteX1" fmla="*/ 904718 w 5330960"/>
              <a:gd name="connsiteY1" fmla="*/ 24384 h 1392536"/>
              <a:gd name="connsiteX2" fmla="*/ 4389666 w 5330960"/>
              <a:gd name="connsiteY2" fmla="*/ 0 h 1392536"/>
              <a:gd name="connsiteX3" fmla="*/ 5329776 w 5330960"/>
              <a:gd name="connsiteY3" fmla="*/ 598734 h 1392536"/>
              <a:gd name="connsiteX4" fmla="*/ 5329776 w 5330960"/>
              <a:gd name="connsiteY4" fmla="*/ 818186 h 1392536"/>
              <a:gd name="connsiteX5" fmla="*/ 5048034 w 5330960"/>
              <a:gd name="connsiteY5" fmla="*/ 1392536 h 1392536"/>
              <a:gd name="connsiteX6" fmla="*/ 282926 w 5330960"/>
              <a:gd name="connsiteY6" fmla="*/ 1380344 h 1392536"/>
              <a:gd name="connsiteX7" fmla="*/ 1184 w 5330960"/>
              <a:gd name="connsiteY7" fmla="*/ 818186 h 1392536"/>
              <a:gd name="connsiteX8" fmla="*/ 1184 w 5330960"/>
              <a:gd name="connsiteY8" fmla="*/ 598734 h 1392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0960" h="1392536">
                <a:moveTo>
                  <a:pt x="1184" y="598734"/>
                </a:moveTo>
                <a:cubicBezTo>
                  <a:pt x="1184" y="281529"/>
                  <a:pt x="587513" y="24384"/>
                  <a:pt x="904718" y="24384"/>
                </a:cubicBezTo>
                <a:lnTo>
                  <a:pt x="4389666" y="0"/>
                </a:lnTo>
                <a:cubicBezTo>
                  <a:pt x="4706871" y="0"/>
                  <a:pt x="5329776" y="281529"/>
                  <a:pt x="5329776" y="598734"/>
                </a:cubicBezTo>
                <a:lnTo>
                  <a:pt x="5329776" y="818186"/>
                </a:lnTo>
                <a:cubicBezTo>
                  <a:pt x="5329776" y="1135391"/>
                  <a:pt x="5365239" y="1392536"/>
                  <a:pt x="5048034" y="1392536"/>
                </a:cubicBezTo>
                <a:lnTo>
                  <a:pt x="282926" y="1380344"/>
                </a:lnTo>
                <a:cubicBezTo>
                  <a:pt x="-34279" y="1380344"/>
                  <a:pt x="1184" y="1135391"/>
                  <a:pt x="1184" y="818186"/>
                </a:cubicBezTo>
                <a:lnTo>
                  <a:pt x="1184" y="598734"/>
                </a:lnTo>
                <a:close/>
              </a:path>
            </a:pathLst>
          </a:custGeom>
          <a:solidFill>
            <a:srgbClr val="F3F8FC">
              <a:alpha val="4000"/>
            </a:srgbClr>
          </a:solidFill>
          <a:ln w="9525" cap="flat" cmpd="sng" algn="ctr">
            <a:noFill/>
            <a:prstDash val="solid"/>
            <a:round/>
            <a:headEnd type="none" w="med" len="med"/>
            <a:tailEnd type="none" w="med" len="med"/>
          </a:ln>
          <a:effectLst/>
        </p:spPr>
        <p:txBody>
          <a:bodyPr wrap="none"/>
          <a:lstStyle/>
          <a:p>
            <a:pPr algn="ctr" eaLnBrk="1" hangingPunct="1">
              <a:lnSpc>
                <a:spcPct val="150000"/>
              </a:lnSpc>
              <a:defRPr/>
            </a:pPr>
            <a:r>
              <a:rPr kumimoji="1" lang="zh-CN" altLang="en-US" sz="4800" dirty="0">
                <a:solidFill>
                  <a:srgbClr val="C00000"/>
                </a:solidFill>
                <a:latin typeface="黑体"/>
                <a:ea typeface="黑体"/>
              </a:rPr>
              <a:t>第一篇 </a:t>
            </a:r>
            <a:br>
              <a:rPr kumimoji="1" lang="zh-CN" altLang="en-US" sz="4800" dirty="0">
                <a:solidFill>
                  <a:srgbClr val="C00000"/>
                </a:solidFill>
                <a:latin typeface="黑体"/>
                <a:ea typeface="黑体"/>
              </a:rPr>
            </a:br>
            <a:r>
              <a:rPr kumimoji="1" lang="zh-CN" altLang="en-US" sz="4800" dirty="0">
                <a:solidFill>
                  <a:srgbClr val="C00000"/>
                </a:solidFill>
                <a:latin typeface="黑体"/>
                <a:ea typeface="黑体"/>
              </a:rPr>
              <a:t>生物分子结构与功能</a:t>
            </a:r>
            <a:endParaRPr lang="zh-CN" altLang="en-US" sz="4800" dirty="0">
              <a:solidFill>
                <a:srgbClr val="C00000"/>
              </a:solidFill>
              <a:latin typeface="黑体"/>
              <a:ea typeface="黑体"/>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699D1AAB-E9C5-48D5-9E2B-8BFF84B4817E}"/>
              </a:ext>
            </a:extLst>
          </p:cNvPr>
          <p:cNvSpPr>
            <a:spLocks noGrp="1" noChangeArrowheads="1"/>
          </p:cNvSpPr>
          <p:nvPr>
            <p:ph type="title"/>
          </p:nvPr>
        </p:nvSpPr>
        <p:spPr>
          <a:xfrm>
            <a:off x="2135188" y="61914"/>
            <a:ext cx="6851650" cy="752475"/>
          </a:xfrm>
        </p:spPr>
        <p:txBody>
          <a:bodyPr/>
          <a:lstStyle/>
          <a:p>
            <a:r>
              <a:rPr lang="zh-CN" altLang="en-US"/>
              <a:t>爱课平台课程</a:t>
            </a:r>
          </a:p>
        </p:txBody>
      </p:sp>
      <p:pic>
        <p:nvPicPr>
          <p:cNvPr id="5" name="图片 4">
            <a:extLst>
              <a:ext uri="{FF2B5EF4-FFF2-40B4-BE49-F238E27FC236}">
                <a16:creationId xmlns:a16="http://schemas.microsoft.com/office/drawing/2014/main" id="{A17C0799-141B-B53A-A2AD-38DE56BE65CA}"/>
              </a:ext>
            </a:extLst>
          </p:cNvPr>
          <p:cNvPicPr>
            <a:picLocks noChangeAspect="1"/>
          </p:cNvPicPr>
          <p:nvPr/>
        </p:nvPicPr>
        <p:blipFill>
          <a:blip r:embed="rId3"/>
          <a:stretch>
            <a:fillRect/>
          </a:stretch>
        </p:blipFill>
        <p:spPr>
          <a:xfrm>
            <a:off x="1374437" y="1023981"/>
            <a:ext cx="8457143" cy="1200000"/>
          </a:xfrm>
          <a:prstGeom prst="rect">
            <a:avLst/>
          </a:prstGeom>
        </p:spPr>
      </p:pic>
      <p:pic>
        <p:nvPicPr>
          <p:cNvPr id="10" name="图片 9">
            <a:extLst>
              <a:ext uri="{FF2B5EF4-FFF2-40B4-BE49-F238E27FC236}">
                <a16:creationId xmlns:a16="http://schemas.microsoft.com/office/drawing/2014/main" id="{10613769-0043-499C-371F-0044BD339034}"/>
              </a:ext>
            </a:extLst>
          </p:cNvPr>
          <p:cNvPicPr>
            <a:picLocks noChangeAspect="1"/>
          </p:cNvPicPr>
          <p:nvPr/>
        </p:nvPicPr>
        <p:blipFill>
          <a:blip r:embed="rId4"/>
          <a:stretch>
            <a:fillRect/>
          </a:stretch>
        </p:blipFill>
        <p:spPr>
          <a:xfrm>
            <a:off x="1241511" y="2552662"/>
            <a:ext cx="10371428" cy="2742857"/>
          </a:xfrm>
          <a:prstGeom prst="rect">
            <a:avLst/>
          </a:prstGeom>
        </p:spPr>
      </p:pic>
      <p:sp>
        <p:nvSpPr>
          <p:cNvPr id="12" name="文本框 11">
            <a:extLst>
              <a:ext uri="{FF2B5EF4-FFF2-40B4-BE49-F238E27FC236}">
                <a16:creationId xmlns:a16="http://schemas.microsoft.com/office/drawing/2014/main" id="{A319A289-D8F9-EA47-F42D-90259680F2BC}"/>
              </a:ext>
            </a:extLst>
          </p:cNvPr>
          <p:cNvSpPr txBox="1"/>
          <p:nvPr/>
        </p:nvSpPr>
        <p:spPr>
          <a:xfrm>
            <a:off x="1847528" y="5624200"/>
            <a:ext cx="7776864" cy="523220"/>
          </a:xfrm>
          <a:prstGeom prst="rect">
            <a:avLst/>
          </a:prstGeom>
          <a:noFill/>
        </p:spPr>
        <p:txBody>
          <a:bodyPr wrap="square">
            <a:spAutoFit/>
          </a:bodyPr>
          <a:lstStyle/>
          <a:p>
            <a:r>
              <a:rPr lang="zh-CN" altLang="en-US" sz="2800" dirty="0">
                <a:latin typeface="微软雅黑" panose="020B0503020204020204" pitchFamily="34" charset="-122"/>
                <a:ea typeface="微软雅黑" panose="020B0503020204020204" pitchFamily="34" charset="-122"/>
              </a:rPr>
              <a:t>转专业同学请自己在平台上选择本课程</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a:extLst>
              <a:ext uri="{FF2B5EF4-FFF2-40B4-BE49-F238E27FC236}">
                <a16:creationId xmlns:a16="http://schemas.microsoft.com/office/drawing/2014/main" id="{15F1CC10-779D-4E24-96B3-F9B959440B9A}"/>
              </a:ext>
            </a:extLst>
          </p:cNvPr>
          <p:cNvSpPr>
            <a:spLocks noGrp="1" noChangeArrowheads="1"/>
          </p:cNvSpPr>
          <p:nvPr>
            <p:ph type="title" idx="4294967295"/>
          </p:nvPr>
        </p:nvSpPr>
        <p:spPr>
          <a:xfrm>
            <a:off x="3071664" y="194469"/>
            <a:ext cx="6985000" cy="563562"/>
          </a:xfrm>
        </p:spPr>
        <p:txBody>
          <a:bodyPr/>
          <a:lstStyle/>
          <a:p>
            <a:r>
              <a:rPr lang="zh-CN" altLang="en-US" sz="4000" dirty="0"/>
              <a:t>第一篇  生物分子结构与功能</a:t>
            </a:r>
          </a:p>
        </p:txBody>
      </p:sp>
      <p:sp>
        <p:nvSpPr>
          <p:cNvPr id="28675" name="内容占位符 2">
            <a:extLst>
              <a:ext uri="{FF2B5EF4-FFF2-40B4-BE49-F238E27FC236}">
                <a16:creationId xmlns:a16="http://schemas.microsoft.com/office/drawing/2014/main" id="{7D46A073-172B-44BB-849B-E10DF32CC2D9}"/>
              </a:ext>
            </a:extLst>
          </p:cNvPr>
          <p:cNvSpPr>
            <a:spLocks noGrp="1" noChangeArrowheads="1"/>
          </p:cNvSpPr>
          <p:nvPr>
            <p:ph idx="4294967295"/>
          </p:nvPr>
        </p:nvSpPr>
        <p:spPr>
          <a:xfrm>
            <a:off x="3430588" y="1773238"/>
            <a:ext cx="7237412" cy="4608512"/>
          </a:xfrm>
        </p:spPr>
        <p:txBody>
          <a:bodyPr/>
          <a:lstStyle/>
          <a:p>
            <a:pPr marL="0" indent="0">
              <a:lnSpc>
                <a:spcPct val="150000"/>
              </a:lnSpc>
              <a:buNone/>
            </a:pPr>
            <a:r>
              <a:rPr lang="zh-CN" altLang="en-US" dirty="0">
                <a:solidFill>
                  <a:srgbClr val="0000CC"/>
                </a:solidFill>
              </a:rPr>
              <a:t>第一章  </a:t>
            </a:r>
            <a:r>
              <a:rPr lang="zh-CN" altLang="en-US" dirty="0"/>
              <a:t>蛋白质的结构与功能（</a:t>
            </a:r>
            <a:r>
              <a:rPr lang="en-US" altLang="zh-CN" dirty="0"/>
              <a:t>8</a:t>
            </a:r>
            <a:r>
              <a:rPr lang="zh-CN" altLang="en-US" dirty="0"/>
              <a:t>学时）</a:t>
            </a:r>
            <a:endParaRPr lang="en-US" altLang="zh-CN" dirty="0"/>
          </a:p>
          <a:p>
            <a:pPr marL="0" indent="0">
              <a:lnSpc>
                <a:spcPct val="150000"/>
              </a:lnSpc>
              <a:buNone/>
            </a:pPr>
            <a:r>
              <a:rPr lang="zh-CN" altLang="en-US" dirty="0">
                <a:solidFill>
                  <a:srgbClr val="0000CC"/>
                </a:solidFill>
              </a:rPr>
              <a:t>第二章  </a:t>
            </a:r>
            <a:r>
              <a:rPr lang="zh-CN" altLang="en-US" dirty="0"/>
              <a:t>核酸的结构与功能（</a:t>
            </a:r>
            <a:r>
              <a:rPr lang="en-US" altLang="zh-CN" dirty="0"/>
              <a:t>4</a:t>
            </a:r>
            <a:r>
              <a:rPr lang="zh-CN" altLang="en-US" dirty="0"/>
              <a:t>学时）</a:t>
            </a:r>
            <a:endParaRPr lang="en-US" altLang="zh-CN" dirty="0"/>
          </a:p>
          <a:p>
            <a:pPr marL="0" indent="0">
              <a:lnSpc>
                <a:spcPct val="150000"/>
              </a:lnSpc>
              <a:buNone/>
            </a:pPr>
            <a:r>
              <a:rPr lang="zh-CN" altLang="en-US" dirty="0">
                <a:solidFill>
                  <a:srgbClr val="0000CC"/>
                </a:solidFill>
              </a:rPr>
              <a:t>第三章  </a:t>
            </a:r>
            <a:r>
              <a:rPr lang="zh-CN" altLang="en-US" dirty="0"/>
              <a:t>酶与酶促反应（</a:t>
            </a:r>
            <a:r>
              <a:rPr lang="en-US" altLang="zh-CN" dirty="0"/>
              <a:t>8</a:t>
            </a:r>
            <a:r>
              <a:rPr lang="zh-CN" altLang="en-US" dirty="0"/>
              <a:t>学时）</a:t>
            </a:r>
            <a:endParaRPr lang="en-US" altLang="zh-CN" dirty="0"/>
          </a:p>
          <a:p>
            <a:pPr marL="0" indent="0">
              <a:lnSpc>
                <a:spcPct val="150000"/>
              </a:lnSpc>
              <a:buNone/>
            </a:pPr>
            <a:r>
              <a:rPr lang="zh-CN" altLang="en-US" dirty="0">
                <a:solidFill>
                  <a:srgbClr val="0000CC"/>
                </a:solidFill>
              </a:rPr>
              <a:t>第四章  </a:t>
            </a:r>
            <a:r>
              <a:rPr lang="zh-CN" altLang="en-US" dirty="0"/>
              <a:t>聚糖的结构与功能（略）</a:t>
            </a:r>
            <a:endParaRPr lang="en-US" altLang="zh-CN" dirty="0"/>
          </a:p>
          <a:p>
            <a:pPr marL="0" indent="0">
              <a:lnSpc>
                <a:spcPct val="150000"/>
              </a:lnSpc>
              <a:buNone/>
            </a:pPr>
            <a:r>
              <a:rPr lang="zh-CN" altLang="en-US" dirty="0">
                <a:solidFill>
                  <a:srgbClr val="0000CC"/>
                </a:solidFill>
              </a:rPr>
              <a:t>第五章  </a:t>
            </a:r>
            <a:r>
              <a:rPr lang="zh-CN" altLang="en-US" dirty="0"/>
              <a:t>水和无机元素 （略）</a:t>
            </a:r>
            <a:endParaRPr lang="en-US" altLang="zh-CN" dirty="0"/>
          </a:p>
          <a:p>
            <a:pPr marL="0" indent="0">
              <a:lnSpc>
                <a:spcPct val="150000"/>
              </a:lnSpc>
              <a:buNone/>
            </a:pPr>
            <a:r>
              <a:rPr lang="zh-CN" altLang="en-US" dirty="0">
                <a:solidFill>
                  <a:srgbClr val="0000CC"/>
                </a:solidFill>
              </a:rPr>
              <a:t>第六章  </a:t>
            </a:r>
            <a:r>
              <a:rPr lang="zh-CN" altLang="en-US" dirty="0"/>
              <a:t>维生素</a:t>
            </a:r>
            <a:endParaRPr lang="en-US" altLang="zh-CN" sz="2400" dirty="0"/>
          </a:p>
        </p:txBody>
      </p:sp>
    </p:spTree>
  </p:cSld>
  <p:clrMapOvr>
    <a:masterClrMapping/>
  </p:clrMapOvr>
  <p:transition spd="slow">
    <p:circl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21" name="Rectangle 5">
            <a:extLst>
              <a:ext uri="{FF2B5EF4-FFF2-40B4-BE49-F238E27FC236}">
                <a16:creationId xmlns:a16="http://schemas.microsoft.com/office/drawing/2014/main" id="{5777877A-ECE5-471A-A2E7-060F869ED8F5}"/>
              </a:ext>
            </a:extLst>
          </p:cNvPr>
          <p:cNvSpPr>
            <a:spLocks noChangeArrowheads="1"/>
          </p:cNvSpPr>
          <p:nvPr/>
        </p:nvSpPr>
        <p:spPr bwMode="auto">
          <a:xfrm>
            <a:off x="2855914" y="1916113"/>
            <a:ext cx="6408737" cy="17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lnSpc>
                <a:spcPct val="140000"/>
              </a:lnSpc>
              <a:spcBef>
                <a:spcPct val="0"/>
              </a:spcBef>
              <a:buClrTx/>
              <a:buFontTx/>
              <a:buNone/>
            </a:pPr>
            <a:r>
              <a:rPr kumimoji="1" lang="zh-CN" altLang="en-US" sz="4000">
                <a:solidFill>
                  <a:srgbClr val="FF0000"/>
                </a:solidFill>
                <a:latin typeface="Tahoma" panose="020B0604030504040204" pitchFamily="34" charset="0"/>
              </a:rPr>
              <a:t>第一章   </a:t>
            </a:r>
          </a:p>
          <a:p>
            <a:pPr algn="ctr" eaLnBrk="1" hangingPunct="1">
              <a:lnSpc>
                <a:spcPct val="140000"/>
              </a:lnSpc>
              <a:spcBef>
                <a:spcPct val="0"/>
              </a:spcBef>
              <a:buClrTx/>
              <a:buFontTx/>
              <a:buNone/>
            </a:pPr>
            <a:r>
              <a:rPr kumimoji="1" lang="zh-CN" altLang="en-US" sz="4000">
                <a:solidFill>
                  <a:srgbClr val="FF0000"/>
                </a:solidFill>
                <a:latin typeface="Tahoma" panose="020B0604030504040204" pitchFamily="34" charset="0"/>
              </a:rPr>
              <a:t>蛋白质的结构与功能</a:t>
            </a:r>
            <a:endParaRPr kumimoji="1" lang="zh-CN" altLang="en-US" sz="3200">
              <a:solidFill>
                <a:srgbClr val="FF0000"/>
              </a:solidFill>
              <a:latin typeface="Arial" panose="020B0604020202020204" pitchFamily="34" charset="0"/>
            </a:endParaRPr>
          </a:p>
        </p:txBody>
      </p:sp>
      <p:sp>
        <p:nvSpPr>
          <p:cNvPr id="623623" name="Text Box 7">
            <a:extLst>
              <a:ext uri="{FF2B5EF4-FFF2-40B4-BE49-F238E27FC236}">
                <a16:creationId xmlns:a16="http://schemas.microsoft.com/office/drawing/2014/main" id="{70EF90EF-6038-4096-A24D-CE22CA8284F5}"/>
              </a:ext>
            </a:extLst>
          </p:cNvPr>
          <p:cNvSpPr txBox="1">
            <a:spLocks noChangeArrowheads="1"/>
          </p:cNvSpPr>
          <p:nvPr/>
        </p:nvSpPr>
        <p:spPr bwMode="auto">
          <a:xfrm>
            <a:off x="2495551" y="4149725"/>
            <a:ext cx="7705725" cy="64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ct val="0"/>
              </a:spcBef>
              <a:buClrTx/>
              <a:buFontTx/>
              <a:buNone/>
            </a:pPr>
            <a:r>
              <a:rPr kumimoji="1" lang="en-US" altLang="zh-CN" sz="3600">
                <a:solidFill>
                  <a:srgbClr val="0000CC"/>
                </a:solidFill>
                <a:latin typeface="Arial" panose="020B0604020202020204" pitchFamily="34" charset="0"/>
                <a:ea typeface="华文楷体" panose="02010600040101010101" pitchFamily="2" charset="-122"/>
              </a:rPr>
              <a:t>Structure and Function of Protein</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623621"/>
                                        </p:tgtEl>
                                        <p:attrNameLst>
                                          <p:attrName>style.visibility</p:attrName>
                                        </p:attrNameLst>
                                      </p:cBhvr>
                                      <p:to>
                                        <p:strVal val="visible"/>
                                      </p:to>
                                    </p:set>
                                    <p:animEffect transition="in" filter="box(in)">
                                      <p:cBhvr>
                                        <p:cTn id="7" dur="500"/>
                                        <p:tgtEl>
                                          <p:spTgt spid="623621"/>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623623"/>
                                        </p:tgtEl>
                                        <p:attrNameLst>
                                          <p:attrName>style.visibility</p:attrName>
                                        </p:attrNameLst>
                                      </p:cBhvr>
                                      <p:to>
                                        <p:strVal val="visible"/>
                                      </p:to>
                                    </p:set>
                                    <p:animEffect transition="in" filter="box(in)">
                                      <p:cBhvr>
                                        <p:cTn id="10" dur="500"/>
                                        <p:tgtEl>
                                          <p:spTgt spid="6236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3621" grpId="0" autoUpdateAnimBg="0"/>
      <p:bldP spid="623623"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D6B88104-D755-4DE7-A53F-E75197DD3D7F}"/>
              </a:ext>
            </a:extLst>
          </p:cNvPr>
          <p:cNvSpPr>
            <a:spLocks noGrp="1" noChangeArrowheads="1"/>
          </p:cNvSpPr>
          <p:nvPr>
            <p:ph type="title"/>
          </p:nvPr>
        </p:nvSpPr>
        <p:spPr>
          <a:xfrm>
            <a:off x="2063750" y="1125538"/>
            <a:ext cx="8305800" cy="563562"/>
          </a:xfrm>
        </p:spPr>
        <p:txBody>
          <a:bodyPr anchor="t"/>
          <a:lstStyle/>
          <a:p>
            <a:pPr marL="342900" indent="-342900" eaLnBrk="1" hangingPunct="1">
              <a:lnSpc>
                <a:spcPct val="120000"/>
              </a:lnSpc>
              <a:spcBef>
                <a:spcPct val="20000"/>
              </a:spcBef>
              <a:buClr>
                <a:schemeClr val="hlink"/>
              </a:buClr>
              <a:buSzPct val="110000"/>
            </a:pPr>
            <a:r>
              <a:rPr lang="zh-CN" altLang="en-US">
                <a:solidFill>
                  <a:schemeClr val="tx1"/>
                </a:solidFill>
                <a:latin typeface="Times New Roman" panose="02020603050405020304" pitchFamily="18" charset="0"/>
              </a:rPr>
              <a:t>什么是蛋白质</a:t>
            </a:r>
            <a:r>
              <a:rPr lang="en-US" altLang="zh-CN">
                <a:solidFill>
                  <a:schemeClr val="tx1"/>
                </a:solidFill>
                <a:latin typeface="Times New Roman" panose="02020603050405020304" pitchFamily="18" charset="0"/>
              </a:rPr>
              <a:t>?</a:t>
            </a:r>
          </a:p>
        </p:txBody>
      </p:sp>
      <p:sp>
        <p:nvSpPr>
          <p:cNvPr id="4099" name="Rectangle 3">
            <a:extLst>
              <a:ext uri="{FF2B5EF4-FFF2-40B4-BE49-F238E27FC236}">
                <a16:creationId xmlns:a16="http://schemas.microsoft.com/office/drawing/2014/main" id="{E2BEA07E-6F33-4C12-9BC5-96F339E279F8}"/>
              </a:ext>
            </a:extLst>
          </p:cNvPr>
          <p:cNvSpPr>
            <a:spLocks noGrp="1" noChangeArrowheads="1"/>
          </p:cNvSpPr>
          <p:nvPr>
            <p:ph idx="1"/>
          </p:nvPr>
        </p:nvSpPr>
        <p:spPr>
          <a:xfrm>
            <a:off x="1946275" y="1955800"/>
            <a:ext cx="8229600" cy="1760538"/>
          </a:xfrm>
        </p:spPr>
        <p:txBody>
          <a:bodyPr/>
          <a:lstStyle/>
          <a:p>
            <a:pPr marL="0" indent="714375" algn="just" eaLnBrk="1" hangingPunct="1">
              <a:lnSpc>
                <a:spcPct val="160000"/>
              </a:lnSpc>
              <a:buNone/>
            </a:pPr>
            <a:r>
              <a:rPr lang="zh-CN" altLang="en-US" dirty="0">
                <a:solidFill>
                  <a:srgbClr val="FF0000"/>
                </a:solidFill>
              </a:rPr>
              <a:t>蛋白质</a:t>
            </a:r>
            <a:r>
              <a:rPr lang="en-US" altLang="zh-CN" dirty="0">
                <a:solidFill>
                  <a:srgbClr val="FF0000"/>
                </a:solidFill>
              </a:rPr>
              <a:t>(protein)</a:t>
            </a:r>
            <a:r>
              <a:rPr lang="zh-CN" altLang="en-US" dirty="0">
                <a:solidFill>
                  <a:schemeClr val="tx1"/>
                </a:solidFill>
              </a:rPr>
              <a:t>是由许多</a:t>
            </a:r>
            <a:r>
              <a:rPr lang="zh-CN" altLang="en-US" dirty="0">
                <a:solidFill>
                  <a:srgbClr val="FF0000"/>
                </a:solidFill>
              </a:rPr>
              <a:t>氨基酸</a:t>
            </a:r>
            <a:r>
              <a:rPr lang="zh-CN" altLang="en-US" dirty="0">
                <a:solidFill>
                  <a:schemeClr val="tx1"/>
                </a:solidFill>
              </a:rPr>
              <a:t>通过</a:t>
            </a:r>
            <a:r>
              <a:rPr lang="zh-CN" altLang="en-US" dirty="0">
                <a:solidFill>
                  <a:srgbClr val="FF0000"/>
                </a:solidFill>
              </a:rPr>
              <a:t>肽键</a:t>
            </a:r>
            <a:r>
              <a:rPr lang="zh-CN" altLang="en-US" dirty="0">
                <a:solidFill>
                  <a:schemeClr val="tx1"/>
                </a:solidFill>
              </a:rPr>
              <a:t>相连形成的</a:t>
            </a:r>
            <a:r>
              <a:rPr lang="zh-CN" altLang="en-US" dirty="0">
                <a:solidFill>
                  <a:srgbClr val="FF0000"/>
                </a:solidFill>
              </a:rPr>
              <a:t>高分子</a:t>
            </a:r>
            <a:r>
              <a:rPr lang="zh-CN" altLang="en-US" dirty="0">
                <a:solidFill>
                  <a:schemeClr val="tx1"/>
                </a:solidFill>
              </a:rPr>
              <a:t>含</a:t>
            </a:r>
            <a:r>
              <a:rPr lang="zh-CN" altLang="en-US" dirty="0">
                <a:solidFill>
                  <a:srgbClr val="FF0000"/>
                </a:solidFill>
              </a:rPr>
              <a:t>氮</a:t>
            </a:r>
            <a:r>
              <a:rPr lang="zh-CN" altLang="en-US" dirty="0">
                <a:solidFill>
                  <a:schemeClr val="tx1"/>
                </a:solidFill>
              </a:rPr>
              <a:t>化合物。</a:t>
            </a:r>
          </a:p>
        </p:txBody>
      </p:sp>
      <p:sp>
        <p:nvSpPr>
          <p:cNvPr id="4" name="Rectangle 4">
            <a:extLst>
              <a:ext uri="{FF2B5EF4-FFF2-40B4-BE49-F238E27FC236}">
                <a16:creationId xmlns:a16="http://schemas.microsoft.com/office/drawing/2014/main" id="{D5C8C0BF-D60A-4528-9216-076F9E086DE8}"/>
              </a:ext>
            </a:extLst>
          </p:cNvPr>
          <p:cNvSpPr>
            <a:spLocks noChangeArrowheads="1"/>
          </p:cNvSpPr>
          <p:nvPr/>
        </p:nvSpPr>
        <p:spPr bwMode="auto">
          <a:xfrm>
            <a:off x="2543175" y="3716339"/>
            <a:ext cx="7632700" cy="151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just" eaLnBrk="1" hangingPunct="1">
              <a:lnSpc>
                <a:spcPct val="150000"/>
              </a:lnSpc>
              <a:buSzPct val="110000"/>
              <a:buFont typeface="Wingdings" panose="05000000000000000000" pitchFamily="2" charset="2"/>
              <a:buNone/>
            </a:pPr>
            <a:r>
              <a:rPr kumimoji="1" lang="en-US" altLang="zh-CN" dirty="0">
                <a:solidFill>
                  <a:schemeClr val="tx1"/>
                </a:solidFill>
              </a:rPr>
              <a:t>Protein</a:t>
            </a:r>
            <a:r>
              <a:rPr kumimoji="1" lang="zh-CN" altLang="en-US" dirty="0">
                <a:solidFill>
                  <a:schemeClr val="tx1"/>
                </a:solidFill>
              </a:rPr>
              <a:t>源自希腊语 </a:t>
            </a:r>
            <a:r>
              <a:rPr kumimoji="1" lang="en-US" altLang="zh-CN" dirty="0" err="1">
                <a:solidFill>
                  <a:schemeClr val="tx1"/>
                </a:solidFill>
              </a:rPr>
              <a:t>Proteios</a:t>
            </a:r>
            <a:r>
              <a:rPr kumimoji="1" lang="zh-CN" altLang="en-US" dirty="0">
                <a:solidFill>
                  <a:schemeClr val="tx1"/>
                </a:solidFill>
              </a:rPr>
              <a:t>，意为</a:t>
            </a:r>
            <a:r>
              <a:rPr kumimoji="1" lang="en-US" altLang="zh-CN" dirty="0">
                <a:solidFill>
                  <a:schemeClr val="tx1"/>
                </a:solidFill>
              </a:rPr>
              <a:t>primary(</a:t>
            </a:r>
            <a:r>
              <a:rPr kumimoji="1" lang="zh-CN" altLang="en-US" dirty="0">
                <a:solidFill>
                  <a:srgbClr val="0000CC"/>
                </a:solidFill>
              </a:rPr>
              <a:t>第一、最初、首要</a:t>
            </a:r>
            <a:r>
              <a:rPr kumimoji="1" lang="en-US" altLang="zh-CN" dirty="0">
                <a:solidFill>
                  <a:srgbClr val="0000CC"/>
                </a:solidFill>
              </a:rPr>
              <a:t>)</a:t>
            </a:r>
            <a:r>
              <a:rPr kumimoji="1" lang="zh-CN" altLang="en-US" dirty="0">
                <a:solidFill>
                  <a:schemeClr val="tx1"/>
                </a:solidFill>
              </a:rPr>
              <a:t>，可见蛋白质的重要性。</a:t>
            </a:r>
          </a:p>
        </p:txBody>
      </p:sp>
    </p:spTree>
    <p:custDataLst>
      <p:tags r:id="rId1"/>
    </p:custDataLst>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randombar(horizontal)">
                                      <p:cBhvr>
                                        <p:cTn id="7" dur="500"/>
                                        <p:tgtEl>
                                          <p:spTgt spid="40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autoUpdateAnimBg="0" advAuto="200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4818" name="Rectangle 3">
            <a:extLst>
              <a:ext uri="{FF2B5EF4-FFF2-40B4-BE49-F238E27FC236}">
                <a16:creationId xmlns:a16="http://schemas.microsoft.com/office/drawing/2014/main" id="{C9BAB277-B792-4E19-85F2-B2ED8037F27B}"/>
              </a:ext>
            </a:extLst>
          </p:cNvPr>
          <p:cNvSpPr>
            <a:spLocks noChangeArrowheads="1"/>
          </p:cNvSpPr>
          <p:nvPr/>
        </p:nvSpPr>
        <p:spPr bwMode="auto">
          <a:xfrm>
            <a:off x="1774825" y="188913"/>
            <a:ext cx="67691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ct val="0"/>
              </a:spcBef>
              <a:buClrTx/>
              <a:buFontTx/>
              <a:buNone/>
            </a:pPr>
            <a:r>
              <a:rPr lang="zh-CN" altLang="en-US" sz="3600" dirty="0">
                <a:solidFill>
                  <a:schemeClr val="bg1"/>
                </a:solidFill>
              </a:rPr>
              <a:t>蛋白质是生命活动的物质基础</a:t>
            </a:r>
          </a:p>
        </p:txBody>
      </p:sp>
      <p:sp>
        <p:nvSpPr>
          <p:cNvPr id="412677" name="Rectangle 5">
            <a:extLst>
              <a:ext uri="{FF2B5EF4-FFF2-40B4-BE49-F238E27FC236}">
                <a16:creationId xmlns:a16="http://schemas.microsoft.com/office/drawing/2014/main" id="{269884BE-2FD6-4818-BA55-302B9F075652}"/>
              </a:ext>
            </a:extLst>
          </p:cNvPr>
          <p:cNvSpPr>
            <a:spLocks noChangeArrowheads="1"/>
          </p:cNvSpPr>
          <p:nvPr/>
        </p:nvSpPr>
        <p:spPr bwMode="auto">
          <a:xfrm>
            <a:off x="2152651" y="3084514"/>
            <a:ext cx="8120063" cy="1082675"/>
          </a:xfrm>
          <a:prstGeom prst="rect">
            <a:avLst/>
          </a:prstGeom>
          <a:noFill/>
          <a:ln>
            <a:noFill/>
          </a:ln>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0000"/>
              </a:lnSpc>
              <a:spcBef>
                <a:spcPct val="0"/>
              </a:spcBef>
              <a:buClrTx/>
              <a:buFontTx/>
              <a:buNone/>
              <a:defRPr/>
            </a:pPr>
            <a:r>
              <a:rPr lang="zh-CN" altLang="en-US" b="0" dirty="0">
                <a:solidFill>
                  <a:srgbClr val="FF0000"/>
                </a:solidFill>
                <a:latin typeface="+mn-ea"/>
                <a:ea typeface="+mn-ea"/>
              </a:rPr>
              <a:t>含量多：  </a:t>
            </a:r>
            <a:r>
              <a:rPr lang="zh-CN" altLang="en-US" b="0" dirty="0">
                <a:solidFill>
                  <a:schemeClr val="tx1"/>
                </a:solidFill>
                <a:latin typeface="+mn-ea"/>
                <a:ea typeface="+mn-ea"/>
              </a:rPr>
              <a:t>湿重：约占体重的</a:t>
            </a:r>
            <a:r>
              <a:rPr lang="en-US" altLang="zh-CN" b="0" dirty="0">
                <a:solidFill>
                  <a:schemeClr val="tx1"/>
                </a:solidFill>
                <a:latin typeface="+mn-ea"/>
                <a:ea typeface="+mn-ea"/>
              </a:rPr>
              <a:t>17</a:t>
            </a:r>
            <a:r>
              <a:rPr lang="zh-CN" altLang="en-US" b="0" dirty="0">
                <a:solidFill>
                  <a:schemeClr val="tx1"/>
                </a:solidFill>
                <a:latin typeface="+mn-ea"/>
                <a:ea typeface="+mn-ea"/>
              </a:rPr>
              <a:t>－</a:t>
            </a:r>
            <a:r>
              <a:rPr lang="en-US" altLang="zh-CN" b="0" dirty="0">
                <a:solidFill>
                  <a:schemeClr val="tx1"/>
                </a:solidFill>
                <a:latin typeface="+mn-ea"/>
                <a:ea typeface="+mn-ea"/>
              </a:rPr>
              <a:t>22% </a:t>
            </a:r>
            <a:r>
              <a:rPr lang="zh-CN" altLang="en-US" b="0" dirty="0">
                <a:solidFill>
                  <a:schemeClr val="tx1"/>
                </a:solidFill>
                <a:latin typeface="+mn-ea"/>
                <a:ea typeface="+mn-ea"/>
              </a:rPr>
              <a:t>；</a:t>
            </a:r>
          </a:p>
          <a:p>
            <a:pPr eaLnBrk="1" hangingPunct="1">
              <a:lnSpc>
                <a:spcPct val="120000"/>
              </a:lnSpc>
              <a:spcBef>
                <a:spcPct val="0"/>
              </a:spcBef>
              <a:buClrTx/>
              <a:buFontTx/>
              <a:buNone/>
              <a:defRPr/>
            </a:pPr>
            <a:r>
              <a:rPr lang="zh-CN" altLang="en-US" b="0" dirty="0">
                <a:solidFill>
                  <a:schemeClr val="tx1"/>
                </a:solidFill>
                <a:latin typeface="+mn-ea"/>
                <a:ea typeface="+mn-ea"/>
              </a:rPr>
              <a:t>          干重：人体总固体重量（干重）的</a:t>
            </a:r>
            <a:r>
              <a:rPr lang="en-US" altLang="zh-CN" b="0" dirty="0">
                <a:solidFill>
                  <a:schemeClr val="tx1"/>
                </a:solidFill>
                <a:latin typeface="+mn-ea"/>
                <a:ea typeface="+mn-ea"/>
              </a:rPr>
              <a:t>45%</a:t>
            </a:r>
          </a:p>
        </p:txBody>
      </p:sp>
      <p:sp>
        <p:nvSpPr>
          <p:cNvPr id="412678" name="Rectangle 6">
            <a:extLst>
              <a:ext uri="{FF2B5EF4-FFF2-40B4-BE49-F238E27FC236}">
                <a16:creationId xmlns:a16="http://schemas.microsoft.com/office/drawing/2014/main" id="{02E24FD1-01FD-4E21-85E8-6B880DBD29DC}"/>
              </a:ext>
            </a:extLst>
          </p:cNvPr>
          <p:cNvSpPr>
            <a:spLocks noChangeArrowheads="1"/>
          </p:cNvSpPr>
          <p:nvPr/>
        </p:nvSpPr>
        <p:spPr bwMode="auto">
          <a:xfrm>
            <a:off x="2152650" y="4481513"/>
            <a:ext cx="7385050" cy="1057790"/>
          </a:xfrm>
          <a:prstGeom prst="rect">
            <a:avLst/>
          </a:prstGeom>
          <a:noFill/>
          <a:ln>
            <a:noFill/>
          </a:ln>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0000"/>
              </a:lnSpc>
              <a:spcBef>
                <a:spcPct val="0"/>
              </a:spcBef>
              <a:buClrTx/>
              <a:buFontTx/>
              <a:buNone/>
              <a:defRPr/>
            </a:pPr>
            <a:r>
              <a:rPr lang="zh-CN" altLang="en-US" b="0" dirty="0">
                <a:solidFill>
                  <a:srgbClr val="FF0000"/>
                </a:solidFill>
                <a:latin typeface="+mn-ea"/>
                <a:ea typeface="+mn-ea"/>
              </a:rPr>
              <a:t>种类多：  </a:t>
            </a:r>
            <a:r>
              <a:rPr lang="zh-CN" altLang="en-US" b="0" dirty="0">
                <a:solidFill>
                  <a:schemeClr val="tx1"/>
                </a:solidFill>
                <a:latin typeface="+mn-ea"/>
                <a:ea typeface="+mn-ea"/>
              </a:rPr>
              <a:t>一个大肠杆菌：＞</a:t>
            </a:r>
            <a:r>
              <a:rPr lang="en-US" altLang="zh-CN" b="0" dirty="0">
                <a:solidFill>
                  <a:schemeClr val="tx1"/>
                </a:solidFill>
                <a:latin typeface="+mn-ea"/>
                <a:ea typeface="+mn-ea"/>
              </a:rPr>
              <a:t>3000</a:t>
            </a:r>
            <a:r>
              <a:rPr lang="zh-CN" altLang="en-US" b="0" dirty="0">
                <a:solidFill>
                  <a:schemeClr val="tx1"/>
                </a:solidFill>
                <a:latin typeface="+mn-ea"/>
                <a:ea typeface="+mn-ea"/>
              </a:rPr>
              <a:t>种</a:t>
            </a:r>
          </a:p>
          <a:p>
            <a:pPr eaLnBrk="1" hangingPunct="1">
              <a:lnSpc>
                <a:spcPct val="120000"/>
              </a:lnSpc>
              <a:spcBef>
                <a:spcPct val="0"/>
              </a:spcBef>
              <a:buClrTx/>
              <a:buFontTx/>
              <a:buNone/>
              <a:defRPr/>
            </a:pPr>
            <a:r>
              <a:rPr lang="zh-CN" altLang="en-US" b="0" dirty="0">
                <a:solidFill>
                  <a:schemeClr val="tx1"/>
                </a:solidFill>
                <a:latin typeface="+mn-ea"/>
                <a:ea typeface="+mn-ea"/>
              </a:rPr>
              <a:t>          一个真核细胞：数万种</a:t>
            </a:r>
          </a:p>
        </p:txBody>
      </p:sp>
      <p:sp>
        <p:nvSpPr>
          <p:cNvPr id="412679" name="Rectangle 7">
            <a:extLst>
              <a:ext uri="{FF2B5EF4-FFF2-40B4-BE49-F238E27FC236}">
                <a16:creationId xmlns:a16="http://schemas.microsoft.com/office/drawing/2014/main" id="{0E107FC5-2A7D-47E0-BD95-C97421F9D7BA}"/>
              </a:ext>
            </a:extLst>
          </p:cNvPr>
          <p:cNvSpPr>
            <a:spLocks noChangeArrowheads="1"/>
          </p:cNvSpPr>
          <p:nvPr/>
        </p:nvSpPr>
        <p:spPr bwMode="auto">
          <a:xfrm>
            <a:off x="1701801" y="1728789"/>
            <a:ext cx="7273925" cy="1082675"/>
          </a:xfrm>
          <a:prstGeom prst="rect">
            <a:avLst/>
          </a:prstGeom>
          <a:noFill/>
          <a:ln>
            <a:noFill/>
          </a:ln>
        </p:spPr>
        <p:txBody>
          <a:bodyPr>
            <a:spAutoFit/>
          </a:bodyPr>
          <a:lstStyle>
            <a:lvl1pPr marL="342900" indent="-342900">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lvl="1" eaLnBrk="1" hangingPunct="1">
              <a:lnSpc>
                <a:spcPct val="120000"/>
              </a:lnSpc>
              <a:spcBef>
                <a:spcPct val="0"/>
              </a:spcBef>
              <a:buClrTx/>
              <a:buFontTx/>
              <a:buNone/>
              <a:defRPr/>
            </a:pPr>
            <a:r>
              <a:rPr lang="zh-CN" altLang="en-US" dirty="0">
                <a:solidFill>
                  <a:srgbClr val="FF0000"/>
                </a:solidFill>
                <a:latin typeface="+mn-ea"/>
                <a:ea typeface="+mn-ea"/>
              </a:rPr>
              <a:t>分布广：  </a:t>
            </a:r>
            <a:r>
              <a:rPr lang="zh-CN" altLang="en-US" dirty="0">
                <a:solidFill>
                  <a:schemeClr val="tx1"/>
                </a:solidFill>
                <a:latin typeface="+mn-ea"/>
                <a:ea typeface="+mn-ea"/>
              </a:rPr>
              <a:t>所有器官、组织都含有蛋白质；</a:t>
            </a:r>
          </a:p>
          <a:p>
            <a:pPr marL="1793875" lvl="1" indent="-1336675" eaLnBrk="1" hangingPunct="1">
              <a:lnSpc>
                <a:spcPct val="120000"/>
              </a:lnSpc>
              <a:spcBef>
                <a:spcPct val="0"/>
              </a:spcBef>
              <a:buClrTx/>
              <a:buNone/>
              <a:defRPr/>
            </a:pPr>
            <a:r>
              <a:rPr lang="zh-CN" altLang="en-US" dirty="0">
                <a:solidFill>
                  <a:schemeClr val="tx1"/>
                </a:solidFill>
                <a:latin typeface="+mn-ea"/>
                <a:ea typeface="+mn-ea"/>
              </a:rPr>
              <a:t>          细胞的各个部分都含有蛋白质</a:t>
            </a:r>
          </a:p>
        </p:txBody>
      </p:sp>
      <p:sp>
        <p:nvSpPr>
          <p:cNvPr id="34822" name="文本框 1">
            <a:extLst>
              <a:ext uri="{FF2B5EF4-FFF2-40B4-BE49-F238E27FC236}">
                <a16:creationId xmlns:a16="http://schemas.microsoft.com/office/drawing/2014/main" id="{2234E5FA-80E3-41B7-9710-1DEE70B045AE}"/>
              </a:ext>
            </a:extLst>
          </p:cNvPr>
          <p:cNvSpPr txBox="1">
            <a:spLocks noChangeArrowheads="1"/>
          </p:cNvSpPr>
          <p:nvPr/>
        </p:nvSpPr>
        <p:spPr bwMode="auto">
          <a:xfrm>
            <a:off x="1992314" y="971550"/>
            <a:ext cx="30622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sz="3200" dirty="0">
                <a:solidFill>
                  <a:srgbClr val="0000CC"/>
                </a:solidFill>
                <a:latin typeface="微软雅黑" panose="020B0503020204020204" pitchFamily="34" charset="-122"/>
                <a:ea typeface="微软雅黑" panose="020B0503020204020204" pitchFamily="34" charset="-122"/>
              </a:rPr>
              <a:t>“三多一广”</a:t>
            </a:r>
          </a:p>
        </p:txBody>
      </p:sp>
      <p:sp>
        <p:nvSpPr>
          <p:cNvPr id="3" name="Rectangle 6">
            <a:extLst>
              <a:ext uri="{FF2B5EF4-FFF2-40B4-BE49-F238E27FC236}">
                <a16:creationId xmlns:a16="http://schemas.microsoft.com/office/drawing/2014/main" id="{31B579ED-EC34-1821-128D-CB749C54693C}"/>
              </a:ext>
            </a:extLst>
          </p:cNvPr>
          <p:cNvSpPr>
            <a:spLocks noChangeArrowheads="1"/>
          </p:cNvSpPr>
          <p:nvPr/>
        </p:nvSpPr>
        <p:spPr bwMode="auto">
          <a:xfrm>
            <a:off x="2152650" y="5778833"/>
            <a:ext cx="7385050" cy="540725"/>
          </a:xfrm>
          <a:prstGeom prst="rect">
            <a:avLst/>
          </a:prstGeom>
          <a:noFill/>
          <a:ln>
            <a:noFill/>
          </a:ln>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0000"/>
              </a:lnSpc>
              <a:spcBef>
                <a:spcPct val="0"/>
              </a:spcBef>
              <a:buClrTx/>
              <a:buFontTx/>
              <a:buNone/>
              <a:defRPr/>
            </a:pPr>
            <a:r>
              <a:rPr lang="zh-CN" altLang="en-US" b="0" dirty="0">
                <a:solidFill>
                  <a:srgbClr val="FF0000"/>
                </a:solidFill>
                <a:latin typeface="+mn-ea"/>
                <a:ea typeface="+mn-ea"/>
              </a:rPr>
              <a:t>功能多：  </a:t>
            </a:r>
            <a:r>
              <a:rPr lang="zh-CN" altLang="en-US" b="0" dirty="0">
                <a:solidFill>
                  <a:srgbClr val="000066"/>
                </a:solidFill>
                <a:latin typeface="+mn-ea"/>
                <a:ea typeface="+mn-ea"/>
              </a:rPr>
              <a:t>执行各种生理功能</a:t>
            </a:r>
          </a:p>
        </p:txBody>
      </p:sp>
    </p:spTree>
    <p:custDataLst>
      <p:tags r:id="rId1"/>
    </p:custData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F326CC55-F89E-2051-8790-B622D0E18275}"/>
              </a:ext>
            </a:extLst>
          </p:cNvPr>
          <p:cNvSpPr txBox="1"/>
          <p:nvPr/>
        </p:nvSpPr>
        <p:spPr>
          <a:xfrm>
            <a:off x="839416" y="5373216"/>
            <a:ext cx="10225136" cy="954107"/>
          </a:xfrm>
          <a:prstGeom prst="rect">
            <a:avLst/>
          </a:prstGeom>
          <a:noFill/>
        </p:spPr>
        <p:txBody>
          <a:bodyPr wrap="square">
            <a:spAutoFit/>
          </a:bodyPr>
          <a:lstStyle/>
          <a:p>
            <a:pPr algn="ctr"/>
            <a:r>
              <a:rPr lang="zh-CN" altLang="en-US" sz="2800" dirty="0">
                <a:latin typeface="+mn-ea"/>
                <a:ea typeface="+mn-ea"/>
              </a:rPr>
              <a:t>目前已知的人类蛋白编码基因、假基因及非编码基因数量。 </a:t>
            </a:r>
            <a:endParaRPr lang="en-US" altLang="zh-CN" sz="2800" dirty="0">
              <a:latin typeface="+mn-ea"/>
              <a:ea typeface="+mn-ea"/>
            </a:endParaRPr>
          </a:p>
          <a:p>
            <a:pPr algn="ctr"/>
            <a:r>
              <a:rPr lang="zh-CN" altLang="en-US" sz="2800" dirty="0">
                <a:latin typeface="+mn-ea"/>
                <a:ea typeface="+mn-ea"/>
              </a:rPr>
              <a:t>虚线代表根据文献得来的平均估计数值。</a:t>
            </a:r>
            <a:endParaRPr lang="en-US" altLang="zh-CN" sz="2800" dirty="0">
              <a:latin typeface="+mn-ea"/>
              <a:ea typeface="+mn-ea"/>
            </a:endParaRPr>
          </a:p>
        </p:txBody>
      </p:sp>
      <p:pic>
        <p:nvPicPr>
          <p:cNvPr id="4" name="图片 3">
            <a:extLst>
              <a:ext uri="{FF2B5EF4-FFF2-40B4-BE49-F238E27FC236}">
                <a16:creationId xmlns:a16="http://schemas.microsoft.com/office/drawing/2014/main" id="{B04A5F57-CC51-1BC6-F53E-01969F63BAB7}"/>
              </a:ext>
            </a:extLst>
          </p:cNvPr>
          <p:cNvPicPr>
            <a:picLocks noChangeAspect="1"/>
          </p:cNvPicPr>
          <p:nvPr/>
        </p:nvPicPr>
        <p:blipFill>
          <a:blip r:embed="rId3"/>
          <a:stretch>
            <a:fillRect/>
          </a:stretch>
        </p:blipFill>
        <p:spPr>
          <a:xfrm>
            <a:off x="911424" y="332656"/>
            <a:ext cx="8314286" cy="4904762"/>
          </a:xfrm>
          <a:prstGeom prst="rect">
            <a:avLst/>
          </a:prstGeom>
        </p:spPr>
      </p:pic>
      <p:sp>
        <p:nvSpPr>
          <p:cNvPr id="6" name="文本框 5">
            <a:extLst>
              <a:ext uri="{FF2B5EF4-FFF2-40B4-BE49-F238E27FC236}">
                <a16:creationId xmlns:a16="http://schemas.microsoft.com/office/drawing/2014/main" id="{47C02EC2-8582-005A-AEC8-EFB043C993A5}"/>
              </a:ext>
            </a:extLst>
          </p:cNvPr>
          <p:cNvSpPr txBox="1"/>
          <p:nvPr/>
        </p:nvSpPr>
        <p:spPr>
          <a:xfrm>
            <a:off x="9225710" y="835752"/>
            <a:ext cx="2664296" cy="1569660"/>
          </a:xfrm>
          <a:prstGeom prst="rect">
            <a:avLst/>
          </a:prstGeom>
          <a:noFill/>
        </p:spPr>
        <p:txBody>
          <a:bodyPr wrap="square" rtlCol="0">
            <a:spAutoFit/>
          </a:bodyPr>
          <a:lstStyle/>
          <a:p>
            <a:r>
              <a:rPr lang="zh-CN" altLang="en-US" sz="3200" dirty="0">
                <a:solidFill>
                  <a:schemeClr val="tx1">
                    <a:lumMod val="75000"/>
                  </a:schemeClr>
                </a:solidFill>
                <a:latin typeface="+mn-ea"/>
                <a:ea typeface="+mn-ea"/>
              </a:rPr>
              <a:t>蛋白编码基因数量：</a:t>
            </a:r>
            <a:endParaRPr lang="en-US" altLang="zh-CN" sz="3200" dirty="0">
              <a:solidFill>
                <a:schemeClr val="tx1">
                  <a:lumMod val="75000"/>
                </a:schemeClr>
              </a:solidFill>
              <a:latin typeface="+mn-ea"/>
              <a:ea typeface="+mn-ea"/>
            </a:endParaRPr>
          </a:p>
          <a:p>
            <a:r>
              <a:rPr lang="zh-CN" altLang="en-US" sz="3200" dirty="0">
                <a:solidFill>
                  <a:schemeClr val="tx1">
                    <a:lumMod val="75000"/>
                  </a:schemeClr>
                </a:solidFill>
                <a:latin typeface="+mn-ea"/>
                <a:ea typeface="+mn-ea"/>
              </a:rPr>
              <a:t>约</a:t>
            </a:r>
            <a:r>
              <a:rPr lang="en-US" altLang="zh-CN" sz="3200" dirty="0">
                <a:solidFill>
                  <a:schemeClr val="tx1">
                    <a:lumMod val="75000"/>
                  </a:schemeClr>
                </a:solidFill>
                <a:latin typeface="+mn-ea"/>
                <a:ea typeface="+mn-ea"/>
              </a:rPr>
              <a:t>19500</a:t>
            </a:r>
            <a:endParaRPr lang="zh-CN" altLang="en-US" sz="3200" dirty="0">
              <a:solidFill>
                <a:schemeClr val="tx1">
                  <a:lumMod val="75000"/>
                </a:schemeClr>
              </a:solidFill>
              <a:latin typeface="+mn-ea"/>
              <a:ea typeface="+mn-ea"/>
            </a:endParaRPr>
          </a:p>
        </p:txBody>
      </p:sp>
    </p:spTree>
    <p:extLst>
      <p:ext uri="{BB962C8B-B14F-4D97-AF65-F5344CB8AC3E}">
        <p14:creationId xmlns:p14="http://schemas.microsoft.com/office/powerpoint/2010/main" val="2761803214"/>
      </p:ext>
    </p:extLst>
  </p:cSld>
  <p:clrMapOvr>
    <a:masterClrMapping/>
  </p:clrMapOvr>
  <p:transition spd="slow">
    <p:circl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E605337B-695A-4552-886A-49891CB8A4ED}"/>
              </a:ext>
            </a:extLst>
          </p:cNvPr>
          <p:cNvSpPr>
            <a:spLocks noChangeArrowheads="1"/>
          </p:cNvSpPr>
          <p:nvPr/>
        </p:nvSpPr>
        <p:spPr bwMode="auto">
          <a:xfrm>
            <a:off x="3359150" y="2852738"/>
            <a:ext cx="67691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indent="261938">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just">
              <a:lnSpc>
                <a:spcPct val="120000"/>
              </a:lnSpc>
              <a:spcBef>
                <a:spcPct val="0"/>
              </a:spcBef>
              <a:buClrTx/>
              <a:buFontTx/>
              <a:buNone/>
            </a:pPr>
            <a:r>
              <a:rPr lang="en-US" altLang="zh-CN" sz="2400" b="0">
                <a:solidFill>
                  <a:schemeClr val="tx1"/>
                </a:solidFill>
              </a:rPr>
              <a:t>1</a:t>
            </a:r>
            <a:r>
              <a:rPr lang="zh-CN" altLang="en-US" sz="2400" b="0">
                <a:solidFill>
                  <a:schemeClr val="tx1"/>
                </a:solidFill>
              </a:rPr>
              <a:t>）作为生物催化剂</a:t>
            </a:r>
            <a:r>
              <a:rPr lang="en-US" altLang="zh-CN" sz="2400" b="0">
                <a:solidFill>
                  <a:schemeClr val="tx1"/>
                </a:solidFill>
              </a:rPr>
              <a:t>: </a:t>
            </a:r>
            <a:r>
              <a:rPr lang="zh-CN" altLang="en-US" sz="2400" b="0">
                <a:solidFill>
                  <a:srgbClr val="0000CC"/>
                </a:solidFill>
              </a:rPr>
              <a:t>酶</a:t>
            </a:r>
          </a:p>
          <a:p>
            <a:pPr algn="just">
              <a:lnSpc>
                <a:spcPct val="130000"/>
              </a:lnSpc>
              <a:spcBef>
                <a:spcPct val="0"/>
              </a:spcBef>
              <a:buClrTx/>
              <a:buFontTx/>
              <a:buNone/>
            </a:pPr>
            <a:r>
              <a:rPr lang="en-US" altLang="zh-CN" sz="2400" b="0">
                <a:solidFill>
                  <a:schemeClr val="tx1"/>
                </a:solidFill>
              </a:rPr>
              <a:t>2</a:t>
            </a:r>
            <a:r>
              <a:rPr lang="zh-CN" altLang="en-US" sz="2400" b="0">
                <a:solidFill>
                  <a:schemeClr val="tx1"/>
                </a:solidFill>
              </a:rPr>
              <a:t>）代谢调节作用</a:t>
            </a:r>
            <a:r>
              <a:rPr lang="en-US" altLang="zh-CN" sz="2400" b="0">
                <a:solidFill>
                  <a:schemeClr val="tx1"/>
                </a:solidFill>
              </a:rPr>
              <a:t>: </a:t>
            </a:r>
            <a:r>
              <a:rPr lang="zh-CN" altLang="en-US" sz="2400" b="0">
                <a:solidFill>
                  <a:srgbClr val="0000CC"/>
                </a:solidFill>
              </a:rPr>
              <a:t>激素、生长因子</a:t>
            </a:r>
          </a:p>
          <a:p>
            <a:pPr algn="just">
              <a:lnSpc>
                <a:spcPct val="130000"/>
              </a:lnSpc>
              <a:spcBef>
                <a:spcPct val="0"/>
              </a:spcBef>
              <a:buClrTx/>
              <a:buFontTx/>
              <a:buNone/>
            </a:pPr>
            <a:r>
              <a:rPr lang="en-US" altLang="zh-CN" sz="2400" b="0">
                <a:solidFill>
                  <a:schemeClr val="tx1"/>
                </a:solidFill>
              </a:rPr>
              <a:t>3</a:t>
            </a:r>
            <a:r>
              <a:rPr lang="zh-CN" altLang="en-US" sz="2400" b="0">
                <a:solidFill>
                  <a:schemeClr val="tx1"/>
                </a:solidFill>
              </a:rPr>
              <a:t>）免疫保护作用</a:t>
            </a:r>
            <a:r>
              <a:rPr lang="en-US" altLang="zh-CN" sz="2400" b="0">
                <a:solidFill>
                  <a:schemeClr val="tx1"/>
                </a:solidFill>
              </a:rPr>
              <a:t>: </a:t>
            </a:r>
            <a:r>
              <a:rPr lang="zh-CN" altLang="en-US" sz="2400" b="0">
                <a:solidFill>
                  <a:srgbClr val="0000CC"/>
                </a:solidFill>
              </a:rPr>
              <a:t>免疫球蛋白</a:t>
            </a:r>
          </a:p>
          <a:p>
            <a:pPr algn="just">
              <a:lnSpc>
                <a:spcPct val="130000"/>
              </a:lnSpc>
              <a:spcBef>
                <a:spcPct val="0"/>
              </a:spcBef>
              <a:buClrTx/>
              <a:buFontTx/>
              <a:buNone/>
            </a:pPr>
            <a:r>
              <a:rPr lang="en-US" altLang="zh-CN" sz="2400" b="0">
                <a:solidFill>
                  <a:schemeClr val="tx1"/>
                </a:solidFill>
              </a:rPr>
              <a:t>4</a:t>
            </a:r>
            <a:r>
              <a:rPr lang="zh-CN" altLang="en-US" sz="2400" b="0">
                <a:solidFill>
                  <a:schemeClr val="tx1"/>
                </a:solidFill>
              </a:rPr>
              <a:t>）物质的转运和存储</a:t>
            </a:r>
            <a:r>
              <a:rPr lang="en-US" altLang="zh-CN" sz="2400" b="0">
                <a:solidFill>
                  <a:schemeClr val="tx1"/>
                </a:solidFill>
              </a:rPr>
              <a:t>: </a:t>
            </a:r>
            <a:r>
              <a:rPr lang="zh-CN" altLang="en-US" sz="2400" b="0">
                <a:solidFill>
                  <a:srgbClr val="0000CC"/>
                </a:solidFill>
              </a:rPr>
              <a:t>血红蛋白、血浆脂蛋白</a:t>
            </a:r>
          </a:p>
          <a:p>
            <a:pPr algn="just">
              <a:lnSpc>
                <a:spcPct val="130000"/>
              </a:lnSpc>
              <a:spcBef>
                <a:spcPct val="0"/>
              </a:spcBef>
              <a:buClrTx/>
              <a:buFontTx/>
              <a:buNone/>
            </a:pPr>
            <a:r>
              <a:rPr lang="en-US" altLang="zh-CN" sz="2400" b="0">
                <a:solidFill>
                  <a:schemeClr val="tx1"/>
                </a:solidFill>
              </a:rPr>
              <a:t>5</a:t>
            </a:r>
            <a:r>
              <a:rPr lang="zh-CN" altLang="en-US" sz="2400" b="0">
                <a:solidFill>
                  <a:schemeClr val="tx1"/>
                </a:solidFill>
              </a:rPr>
              <a:t>）运动与支持作用</a:t>
            </a:r>
            <a:r>
              <a:rPr lang="en-US" altLang="zh-CN" sz="2400" b="0">
                <a:solidFill>
                  <a:schemeClr val="tx1"/>
                </a:solidFill>
              </a:rPr>
              <a:t>: </a:t>
            </a:r>
            <a:r>
              <a:rPr lang="zh-CN" altLang="en-US" sz="2400" b="0">
                <a:solidFill>
                  <a:srgbClr val="0000CC"/>
                </a:solidFill>
              </a:rPr>
              <a:t>肌肉蛋白</a:t>
            </a:r>
          </a:p>
          <a:p>
            <a:pPr algn="just">
              <a:lnSpc>
                <a:spcPct val="120000"/>
              </a:lnSpc>
              <a:spcBef>
                <a:spcPct val="0"/>
              </a:spcBef>
              <a:buClrTx/>
              <a:buFontTx/>
              <a:buNone/>
            </a:pPr>
            <a:r>
              <a:rPr lang="en-US" altLang="zh-CN" sz="2400" b="0">
                <a:solidFill>
                  <a:schemeClr val="tx1"/>
                </a:solidFill>
              </a:rPr>
              <a:t>6</a:t>
            </a:r>
            <a:r>
              <a:rPr lang="zh-CN" altLang="en-US" sz="2400" b="0">
                <a:solidFill>
                  <a:schemeClr val="tx1"/>
                </a:solidFill>
              </a:rPr>
              <a:t>）参与细胞间信息传递</a:t>
            </a:r>
            <a:r>
              <a:rPr lang="en-US" altLang="zh-CN" sz="2400" b="0">
                <a:solidFill>
                  <a:schemeClr val="tx1"/>
                </a:solidFill>
              </a:rPr>
              <a:t>: </a:t>
            </a:r>
            <a:r>
              <a:rPr lang="en-US" altLang="zh-CN" sz="2400" b="0">
                <a:solidFill>
                  <a:srgbClr val="0000CC"/>
                </a:solidFill>
              </a:rPr>
              <a:t>G</a:t>
            </a:r>
            <a:r>
              <a:rPr lang="zh-CN" altLang="en-US" sz="2400" b="0">
                <a:solidFill>
                  <a:srgbClr val="0000CC"/>
                </a:solidFill>
              </a:rPr>
              <a:t>蛋白</a:t>
            </a:r>
          </a:p>
        </p:txBody>
      </p:sp>
      <p:sp>
        <p:nvSpPr>
          <p:cNvPr id="34819" name="Rectangle 3">
            <a:extLst>
              <a:ext uri="{FF2B5EF4-FFF2-40B4-BE49-F238E27FC236}">
                <a16:creationId xmlns:a16="http://schemas.microsoft.com/office/drawing/2014/main" id="{4E113D98-A6EB-4CF2-BB22-9B3D23749A34}"/>
              </a:ext>
            </a:extLst>
          </p:cNvPr>
          <p:cNvSpPr>
            <a:spLocks noChangeArrowheads="1"/>
          </p:cNvSpPr>
          <p:nvPr/>
        </p:nvSpPr>
        <p:spPr bwMode="auto">
          <a:xfrm>
            <a:off x="3286126" y="2295526"/>
            <a:ext cx="3529013" cy="525463"/>
          </a:xfrm>
          <a:prstGeom prst="rect">
            <a:avLst/>
          </a:prstGeom>
          <a:noFill/>
          <a:ln>
            <a:noFill/>
          </a:ln>
        </p:spPr>
        <p:txBody>
          <a:bodyPr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marL="457200" indent="-457200" eaLnBrk="1" hangingPunct="1">
              <a:spcBef>
                <a:spcPct val="0"/>
              </a:spcBef>
              <a:buClr>
                <a:schemeClr val="accent4">
                  <a:lumMod val="90000"/>
                  <a:lumOff val="10000"/>
                </a:schemeClr>
              </a:buClr>
              <a:buFont typeface="Wingdings" panose="05000000000000000000" pitchFamily="2" charset="2"/>
              <a:buChar char="u"/>
              <a:defRPr/>
            </a:pPr>
            <a:r>
              <a:rPr kumimoji="1" lang="zh-CN" altLang="en-US" b="0" dirty="0">
                <a:solidFill>
                  <a:srgbClr val="C00000"/>
                </a:solidFill>
              </a:rPr>
              <a:t>特殊生物学功能</a:t>
            </a:r>
          </a:p>
        </p:txBody>
      </p:sp>
      <p:sp>
        <p:nvSpPr>
          <p:cNvPr id="34820" name="Rectangle 4">
            <a:extLst>
              <a:ext uri="{FF2B5EF4-FFF2-40B4-BE49-F238E27FC236}">
                <a16:creationId xmlns:a16="http://schemas.microsoft.com/office/drawing/2014/main" id="{0D61E670-E301-4081-B80C-47C513B70460}"/>
              </a:ext>
            </a:extLst>
          </p:cNvPr>
          <p:cNvSpPr>
            <a:spLocks noChangeArrowheads="1"/>
          </p:cNvSpPr>
          <p:nvPr/>
        </p:nvSpPr>
        <p:spPr bwMode="auto">
          <a:xfrm>
            <a:off x="3430588" y="5805488"/>
            <a:ext cx="2881312" cy="525462"/>
          </a:xfrm>
          <a:prstGeom prst="rect">
            <a:avLst/>
          </a:prstGeom>
          <a:noFill/>
          <a:ln>
            <a:noFill/>
          </a:ln>
        </p:spPr>
        <p:txBody>
          <a:bodyPr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marL="457200" indent="-457200" eaLnBrk="1" hangingPunct="1">
              <a:spcBef>
                <a:spcPct val="0"/>
              </a:spcBef>
              <a:buClr>
                <a:schemeClr val="accent4">
                  <a:lumMod val="90000"/>
                  <a:lumOff val="10000"/>
                </a:schemeClr>
              </a:buClr>
              <a:buFont typeface="Wingdings" panose="05000000000000000000" pitchFamily="2" charset="2"/>
              <a:buChar char="u"/>
              <a:defRPr/>
            </a:pPr>
            <a:r>
              <a:rPr kumimoji="1" lang="zh-CN" altLang="en-US" b="0" dirty="0">
                <a:solidFill>
                  <a:srgbClr val="0000CC"/>
                </a:solidFill>
              </a:rPr>
              <a:t>氧化供能</a:t>
            </a:r>
          </a:p>
        </p:txBody>
      </p:sp>
      <p:sp>
        <p:nvSpPr>
          <p:cNvPr id="34821" name="Rectangle 35">
            <a:extLst>
              <a:ext uri="{FF2B5EF4-FFF2-40B4-BE49-F238E27FC236}">
                <a16:creationId xmlns:a16="http://schemas.microsoft.com/office/drawing/2014/main" id="{50133C42-4D9A-4E74-A7C4-C4F973BB87DF}"/>
              </a:ext>
            </a:extLst>
          </p:cNvPr>
          <p:cNvSpPr>
            <a:spLocks noChangeArrowheads="1"/>
          </p:cNvSpPr>
          <p:nvPr/>
        </p:nvSpPr>
        <p:spPr bwMode="auto">
          <a:xfrm>
            <a:off x="3286126" y="1700214"/>
            <a:ext cx="4595813" cy="523875"/>
          </a:xfrm>
          <a:prstGeom prst="rect">
            <a:avLst/>
          </a:prstGeom>
          <a:noFill/>
          <a:ln>
            <a:noFill/>
          </a:ln>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marL="457200" indent="-457200" eaLnBrk="1" hangingPunct="1">
              <a:spcBef>
                <a:spcPct val="0"/>
              </a:spcBef>
              <a:buClr>
                <a:schemeClr val="accent4">
                  <a:lumMod val="90000"/>
                  <a:lumOff val="10000"/>
                </a:schemeClr>
              </a:buClr>
              <a:buFont typeface="Wingdings" panose="05000000000000000000" pitchFamily="2" charset="2"/>
              <a:buChar char="u"/>
              <a:defRPr/>
            </a:pPr>
            <a:r>
              <a:rPr lang="zh-CN" altLang="en-US" b="0" dirty="0">
                <a:solidFill>
                  <a:srgbClr val="0000CC"/>
                </a:solidFill>
                <a:latin typeface="Arial" panose="020B0604020202020204" pitchFamily="34" charset="0"/>
              </a:rPr>
              <a:t>参与构成各种细胞及组织</a:t>
            </a:r>
          </a:p>
        </p:txBody>
      </p:sp>
      <p:sp>
        <p:nvSpPr>
          <p:cNvPr id="36870" name="Rectangle 36">
            <a:extLst>
              <a:ext uri="{FF2B5EF4-FFF2-40B4-BE49-F238E27FC236}">
                <a16:creationId xmlns:a16="http://schemas.microsoft.com/office/drawing/2014/main" id="{0565CB1C-99EC-4E24-8D0D-78D88C427F9C}"/>
              </a:ext>
            </a:extLst>
          </p:cNvPr>
          <p:cNvSpPr>
            <a:spLocks noChangeArrowheads="1"/>
          </p:cNvSpPr>
          <p:nvPr/>
        </p:nvSpPr>
        <p:spPr bwMode="auto">
          <a:xfrm>
            <a:off x="2278063" y="1052514"/>
            <a:ext cx="18161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lang="zh-CN" altLang="en-US" sz="3200" b="0">
                <a:solidFill>
                  <a:srgbClr val="FF0000"/>
                </a:solidFill>
                <a:latin typeface="黑体" panose="02010609060101010101" pitchFamily="49" charset="-122"/>
              </a:rPr>
              <a:t>功能多：</a:t>
            </a:r>
          </a:p>
        </p:txBody>
      </p:sp>
      <p:sp>
        <p:nvSpPr>
          <p:cNvPr id="36871" name="Rectangle 37">
            <a:extLst>
              <a:ext uri="{FF2B5EF4-FFF2-40B4-BE49-F238E27FC236}">
                <a16:creationId xmlns:a16="http://schemas.microsoft.com/office/drawing/2014/main" id="{F0196D23-3FA0-41C2-8733-805956A0A9C4}"/>
              </a:ext>
            </a:extLst>
          </p:cNvPr>
          <p:cNvSpPr>
            <a:spLocks noChangeArrowheads="1"/>
          </p:cNvSpPr>
          <p:nvPr/>
        </p:nvSpPr>
        <p:spPr bwMode="auto">
          <a:xfrm>
            <a:off x="2208213" y="133350"/>
            <a:ext cx="5689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lang="zh-CN" altLang="en-US" sz="3600">
                <a:solidFill>
                  <a:schemeClr val="bg1"/>
                </a:solidFill>
                <a:latin typeface="Arial" panose="020B0604020202020204" pitchFamily="34" charset="0"/>
              </a:rPr>
              <a:t>蛋白质是生命活动的执行者</a:t>
            </a:r>
          </a:p>
        </p:txBody>
      </p:sp>
    </p:spTree>
  </p:cSld>
  <p:clrMapOvr>
    <a:masterClrMapping/>
  </p:clrMapOvr>
  <p:transition spd="slow">
    <p:circl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a:extLst>
              <a:ext uri="{FF2B5EF4-FFF2-40B4-BE49-F238E27FC236}">
                <a16:creationId xmlns:a16="http://schemas.microsoft.com/office/drawing/2014/main" id="{B4713A67-DD2C-47F5-AAD3-CBABD08E8F81}"/>
              </a:ext>
            </a:extLst>
          </p:cNvPr>
          <p:cNvSpPr>
            <a:spLocks noGrp="1" noChangeArrowheads="1"/>
          </p:cNvSpPr>
          <p:nvPr>
            <p:ph type="title"/>
          </p:nvPr>
        </p:nvSpPr>
        <p:spPr>
          <a:xfrm>
            <a:off x="1524000" y="188913"/>
            <a:ext cx="8305800" cy="563562"/>
          </a:xfrm>
        </p:spPr>
        <p:txBody>
          <a:bodyPr/>
          <a:lstStyle/>
          <a:p>
            <a:pPr algn="ctr"/>
            <a:r>
              <a:rPr lang="zh-CN" altLang="en-US" sz="4000"/>
              <a:t>本章基本内容 </a:t>
            </a:r>
          </a:p>
        </p:txBody>
      </p:sp>
      <p:sp>
        <p:nvSpPr>
          <p:cNvPr id="6" name="内容占位符 5">
            <a:extLst>
              <a:ext uri="{FF2B5EF4-FFF2-40B4-BE49-F238E27FC236}">
                <a16:creationId xmlns:a16="http://schemas.microsoft.com/office/drawing/2014/main" id="{2819EED4-91C9-4F5F-8362-7D6C3ED29F1E}"/>
              </a:ext>
            </a:extLst>
          </p:cNvPr>
          <p:cNvSpPr>
            <a:spLocks noGrp="1"/>
          </p:cNvSpPr>
          <p:nvPr>
            <p:ph idx="1"/>
          </p:nvPr>
        </p:nvSpPr>
        <p:spPr>
          <a:xfrm>
            <a:off x="2351584" y="1628800"/>
            <a:ext cx="8352928" cy="3816350"/>
          </a:xfrm>
        </p:spPr>
        <p:txBody>
          <a:bodyPr/>
          <a:lstStyle/>
          <a:p>
            <a:pPr marL="514350" indent="-514350">
              <a:lnSpc>
                <a:spcPct val="150000"/>
              </a:lnSpc>
              <a:buClr>
                <a:schemeClr val="tx1">
                  <a:lumMod val="60000"/>
                  <a:lumOff val="40000"/>
                </a:schemeClr>
              </a:buClr>
              <a:buFont typeface="+mj-lt"/>
              <a:buAutoNum type="arabicPeriod"/>
              <a:defRPr/>
            </a:pPr>
            <a:r>
              <a:rPr lang="zh-CN" altLang="en-US" sz="3200" dirty="0"/>
              <a:t>蛋白质的分子组成</a:t>
            </a:r>
            <a:endParaRPr lang="en-US" altLang="zh-CN" sz="3200" dirty="0"/>
          </a:p>
          <a:p>
            <a:pPr marL="514350" indent="-514350">
              <a:lnSpc>
                <a:spcPct val="150000"/>
              </a:lnSpc>
              <a:buClr>
                <a:schemeClr val="tx1">
                  <a:lumMod val="60000"/>
                  <a:lumOff val="40000"/>
                </a:schemeClr>
              </a:buClr>
              <a:buFont typeface="+mj-lt"/>
              <a:buAutoNum type="arabicPeriod"/>
              <a:defRPr/>
            </a:pPr>
            <a:r>
              <a:rPr lang="zh-CN" altLang="en-US" sz="3200" dirty="0"/>
              <a:t>蛋白质的分子结构</a:t>
            </a:r>
            <a:endParaRPr lang="en-US" altLang="zh-CN" sz="3200" dirty="0"/>
          </a:p>
          <a:p>
            <a:pPr marL="514350" indent="-514350">
              <a:lnSpc>
                <a:spcPct val="150000"/>
              </a:lnSpc>
              <a:buClr>
                <a:schemeClr val="tx1">
                  <a:lumMod val="60000"/>
                  <a:lumOff val="40000"/>
                </a:schemeClr>
              </a:buClr>
              <a:buFont typeface="+mj-lt"/>
              <a:buAutoNum type="arabicPeriod"/>
              <a:defRPr/>
            </a:pPr>
            <a:r>
              <a:rPr lang="zh-CN" altLang="en-US" sz="3200" dirty="0"/>
              <a:t>蛋白质结构与功能的关系</a:t>
            </a:r>
            <a:endParaRPr lang="en-US" altLang="zh-CN" sz="3200" dirty="0"/>
          </a:p>
          <a:p>
            <a:pPr marL="514350" indent="-514350">
              <a:lnSpc>
                <a:spcPct val="150000"/>
              </a:lnSpc>
              <a:buClr>
                <a:schemeClr val="tx1">
                  <a:lumMod val="60000"/>
                  <a:lumOff val="40000"/>
                </a:schemeClr>
              </a:buClr>
              <a:buFont typeface="+mj-lt"/>
              <a:buAutoNum type="arabicPeriod"/>
              <a:defRPr/>
            </a:pPr>
            <a:r>
              <a:rPr lang="zh-CN" altLang="en-US" sz="3200" dirty="0"/>
              <a:t>蛋白质的理化性质（自学）</a:t>
            </a:r>
            <a:endParaRPr lang="en-US" altLang="zh-CN" sz="3200" dirty="0"/>
          </a:p>
          <a:p>
            <a:pPr marL="514350" indent="-514350">
              <a:lnSpc>
                <a:spcPct val="150000"/>
              </a:lnSpc>
              <a:buClr>
                <a:schemeClr val="tx1">
                  <a:lumMod val="60000"/>
                  <a:lumOff val="40000"/>
                </a:schemeClr>
              </a:buClr>
              <a:buFont typeface="+mj-lt"/>
              <a:buAutoNum type="arabicPeriod"/>
              <a:defRPr/>
            </a:pPr>
            <a:r>
              <a:rPr lang="zh-CN" altLang="en-US" sz="3200" dirty="0"/>
              <a:t>蛋白质的分离</a:t>
            </a:r>
            <a:r>
              <a:rPr kumimoji="1" lang="zh-CN" altLang="en-US" sz="3200" dirty="0">
                <a:solidFill>
                  <a:schemeClr val="tx1">
                    <a:lumMod val="75000"/>
                  </a:schemeClr>
                </a:solidFill>
              </a:rPr>
              <a:t>、</a:t>
            </a:r>
            <a:r>
              <a:rPr lang="zh-CN" altLang="en-US" sz="3200" dirty="0"/>
              <a:t>纯化与结构分析（自学）</a:t>
            </a:r>
            <a:endParaRPr lang="en-US" altLang="zh-CN" sz="3200" dirty="0"/>
          </a:p>
        </p:txBody>
      </p:sp>
    </p:spTree>
  </p:cSld>
  <p:clrMapOvr>
    <a:masterClrMapping/>
  </p:clrMapOvr>
  <p:transition spd="slow">
    <p:circle/>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09536E7-786F-4506-8681-6224A8B82F69}"/>
              </a:ext>
            </a:extLst>
          </p:cNvPr>
          <p:cNvSpPr>
            <a:spLocks noGrp="1"/>
          </p:cNvSpPr>
          <p:nvPr>
            <p:ph idx="1"/>
          </p:nvPr>
        </p:nvSpPr>
        <p:spPr>
          <a:xfrm>
            <a:off x="1981200" y="981075"/>
            <a:ext cx="8229600" cy="5189538"/>
          </a:xfrm>
        </p:spPr>
        <p:txBody>
          <a:bodyPr/>
          <a:lstStyle/>
          <a:p>
            <a:pPr marL="0" indent="0" algn="ctr">
              <a:buNone/>
              <a:defRPr/>
            </a:pPr>
            <a:r>
              <a:rPr kumimoji="1" lang="zh-CN" altLang="en-US" sz="4000" dirty="0">
                <a:solidFill>
                  <a:srgbClr val="C00000"/>
                </a:solidFill>
                <a:latin typeface="黑体" panose="02010609060101010101" pitchFamily="49" charset="-122"/>
              </a:rPr>
              <a:t>第一节 蛋白质的分子组成</a:t>
            </a:r>
          </a:p>
          <a:p>
            <a:pPr marL="0" indent="0" algn="ctr">
              <a:buNone/>
              <a:defRPr/>
            </a:pPr>
            <a:r>
              <a:rPr lang="en-US" altLang="zh-CN" sz="3200" dirty="0">
                <a:solidFill>
                  <a:srgbClr val="C00000"/>
                </a:solidFill>
                <a:latin typeface="Arial" panose="020B0604020202020204" pitchFamily="34" charset="0"/>
                <a:ea typeface="华文行楷" panose="02010800040101010101" pitchFamily="2" charset="-122"/>
              </a:rPr>
              <a:t> Molecular Components of Protein</a:t>
            </a:r>
          </a:p>
          <a:p>
            <a:pPr marL="0" indent="0" algn="ctr">
              <a:spcBef>
                <a:spcPts val="0"/>
              </a:spcBef>
              <a:buNone/>
              <a:defRPr/>
            </a:pPr>
            <a:endParaRPr lang="en-US" altLang="zh-CN" sz="3200" dirty="0">
              <a:latin typeface="宋体" panose="02010600030101010101" pitchFamily="2" charset="-122"/>
              <a:ea typeface="宋体" panose="02010600030101010101" pitchFamily="2" charset="-122"/>
            </a:endParaRPr>
          </a:p>
          <a:p>
            <a:pPr marL="1709738" indent="-185738">
              <a:lnSpc>
                <a:spcPct val="120000"/>
              </a:lnSpc>
              <a:defRPr/>
            </a:pPr>
            <a:r>
              <a:rPr lang="zh-CN" altLang="en-US" sz="3200" b="1" dirty="0">
                <a:latin typeface="宋体" panose="02010600030101010101" pitchFamily="2" charset="-122"/>
                <a:ea typeface="宋体" panose="02010600030101010101" pitchFamily="2" charset="-122"/>
              </a:rPr>
              <a:t>蛋白质的元素组成特点</a:t>
            </a:r>
            <a:endParaRPr lang="en-US" altLang="zh-CN" sz="3200" b="1" dirty="0">
              <a:latin typeface="宋体" panose="02010600030101010101" pitchFamily="2" charset="-122"/>
              <a:ea typeface="宋体" panose="02010600030101010101" pitchFamily="2" charset="-122"/>
            </a:endParaRPr>
          </a:p>
          <a:p>
            <a:pPr marL="1709738" indent="-185738">
              <a:lnSpc>
                <a:spcPct val="120000"/>
              </a:lnSpc>
              <a:defRPr/>
            </a:pPr>
            <a:r>
              <a:rPr lang="zh-CN" altLang="en-US" sz="3200" b="1" dirty="0">
                <a:latin typeface="宋体" panose="02010600030101010101" pitchFamily="2" charset="-122"/>
                <a:ea typeface="宋体" panose="02010600030101010101" pitchFamily="2" charset="-122"/>
              </a:rPr>
              <a:t>蛋白质的基本结构单位：氨基酸</a:t>
            </a:r>
            <a:endParaRPr lang="en-US" altLang="zh-CN" sz="3200" b="1" dirty="0">
              <a:latin typeface="宋体" panose="02010600030101010101" pitchFamily="2" charset="-122"/>
              <a:ea typeface="宋体" panose="02010600030101010101" pitchFamily="2" charset="-122"/>
            </a:endParaRPr>
          </a:p>
          <a:p>
            <a:pPr marL="1709738" indent="-185738">
              <a:lnSpc>
                <a:spcPct val="120000"/>
              </a:lnSpc>
              <a:defRPr/>
            </a:pPr>
            <a:r>
              <a:rPr lang="zh-CN" altLang="en-US" sz="3200" b="1" dirty="0">
                <a:solidFill>
                  <a:srgbClr val="C00000"/>
                </a:solidFill>
                <a:latin typeface="宋体" panose="02010600030101010101" pitchFamily="2" charset="-122"/>
                <a:ea typeface="宋体" panose="02010600030101010101" pitchFamily="2" charset="-122"/>
              </a:rPr>
              <a:t>编码氨基酸的分类</a:t>
            </a:r>
            <a:r>
              <a:rPr lang="en-US" altLang="zh-CN" sz="3200" b="1" dirty="0">
                <a:solidFill>
                  <a:srgbClr val="C00000"/>
                </a:solidFill>
                <a:latin typeface="宋体" panose="02010600030101010101" pitchFamily="2" charset="-122"/>
                <a:ea typeface="宋体" panose="02010600030101010101" pitchFamily="2" charset="-122"/>
              </a:rPr>
              <a:t>(</a:t>
            </a:r>
            <a:r>
              <a:rPr lang="zh-CN" altLang="en-US" sz="3200" b="1" dirty="0">
                <a:solidFill>
                  <a:srgbClr val="C00000"/>
                </a:solidFill>
                <a:latin typeface="宋体" panose="02010600030101010101" pitchFamily="2" charset="-122"/>
                <a:ea typeface="宋体" panose="02010600030101010101" pitchFamily="2" charset="-122"/>
              </a:rPr>
              <a:t>重点）</a:t>
            </a:r>
            <a:endParaRPr lang="en-US" altLang="zh-CN" sz="3200" b="1" dirty="0">
              <a:solidFill>
                <a:srgbClr val="C00000"/>
              </a:solidFill>
              <a:latin typeface="宋体" panose="02010600030101010101" pitchFamily="2" charset="-122"/>
              <a:ea typeface="宋体" panose="02010600030101010101" pitchFamily="2" charset="-122"/>
            </a:endParaRPr>
          </a:p>
          <a:p>
            <a:pPr marL="1709738" indent="-185738">
              <a:lnSpc>
                <a:spcPct val="120000"/>
              </a:lnSpc>
              <a:defRPr/>
            </a:pPr>
            <a:r>
              <a:rPr lang="zh-CN" altLang="en-US" sz="3200" b="1" dirty="0">
                <a:latin typeface="宋体" panose="02010600030101010101" pitchFamily="2" charset="-122"/>
                <a:ea typeface="宋体" panose="02010600030101010101" pitchFamily="2" charset="-122"/>
              </a:rPr>
              <a:t>氨基酸的理化性质</a:t>
            </a:r>
            <a:endParaRPr lang="en-US" altLang="zh-CN" sz="3200" b="1" dirty="0">
              <a:latin typeface="宋体" panose="02010600030101010101" pitchFamily="2" charset="-122"/>
              <a:ea typeface="宋体" panose="02010600030101010101" pitchFamily="2" charset="-122"/>
            </a:endParaRPr>
          </a:p>
          <a:p>
            <a:pPr marL="1709738" indent="-185738">
              <a:lnSpc>
                <a:spcPct val="120000"/>
              </a:lnSpc>
              <a:defRPr/>
            </a:pPr>
            <a:r>
              <a:rPr lang="zh-CN" altLang="en-US" sz="3200" b="1" dirty="0">
                <a:latin typeface="宋体" panose="02010600030101010101" pitchFamily="2" charset="-122"/>
                <a:ea typeface="宋体" panose="02010600030101010101" pitchFamily="2" charset="-122"/>
              </a:rPr>
              <a:t>关于肽的简介 </a:t>
            </a:r>
          </a:p>
        </p:txBody>
      </p:sp>
    </p:spTree>
  </p:cSld>
  <p:clrMapOvr>
    <a:masterClrMapping/>
  </p:clrMapOvr>
  <p:transition spd="slow">
    <p:circl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F558AA36-BED2-44E2-841A-034EFFD2083C}"/>
              </a:ext>
            </a:extLst>
          </p:cNvPr>
          <p:cNvSpPr>
            <a:spLocks noGrp="1" noChangeArrowheads="1"/>
          </p:cNvSpPr>
          <p:nvPr>
            <p:ph type="title"/>
          </p:nvPr>
        </p:nvSpPr>
        <p:spPr>
          <a:xfrm>
            <a:off x="767408" y="196054"/>
            <a:ext cx="11074400" cy="563563"/>
          </a:xfrm>
        </p:spPr>
        <p:txBody>
          <a:bodyPr/>
          <a:lstStyle/>
          <a:p>
            <a:pPr eaLnBrk="1" hangingPunct="1"/>
            <a:r>
              <a:rPr lang="zh-CN" altLang="en-US" sz="3200" dirty="0">
                <a:latin typeface="Times New Roman" panose="02020603050405020304" pitchFamily="18" charset="0"/>
                <a:sym typeface="Wingdings" panose="05000000000000000000" pitchFamily="2" charset="2"/>
              </a:rPr>
              <a:t>一、 </a:t>
            </a:r>
            <a:r>
              <a:rPr lang="zh-CN" altLang="en-US" sz="3200" dirty="0">
                <a:latin typeface="Times New Roman" panose="02020603050405020304" pitchFamily="18" charset="0"/>
              </a:rPr>
              <a:t>蛋白质的元素组成</a:t>
            </a:r>
          </a:p>
        </p:txBody>
      </p:sp>
      <p:sp>
        <p:nvSpPr>
          <p:cNvPr id="45059" name="Rectangle 3">
            <a:extLst>
              <a:ext uri="{FF2B5EF4-FFF2-40B4-BE49-F238E27FC236}">
                <a16:creationId xmlns:a16="http://schemas.microsoft.com/office/drawing/2014/main" id="{5A5AE7CF-8B9B-4054-AA57-493F1D6DE84A}"/>
              </a:ext>
            </a:extLst>
          </p:cNvPr>
          <p:cNvSpPr>
            <a:spLocks noGrp="1" noChangeArrowheads="1"/>
          </p:cNvSpPr>
          <p:nvPr>
            <p:ph type="body" sz="half" idx="1"/>
          </p:nvPr>
        </p:nvSpPr>
        <p:spPr>
          <a:xfrm>
            <a:off x="1919288" y="1125538"/>
            <a:ext cx="8424862" cy="1439862"/>
          </a:xfrm>
        </p:spPr>
        <p:txBody>
          <a:bodyPr/>
          <a:lstStyle/>
          <a:p>
            <a:pPr marL="0" indent="712788" eaLnBrk="1" hangingPunct="1">
              <a:lnSpc>
                <a:spcPct val="160000"/>
              </a:lnSpc>
              <a:buNone/>
            </a:pPr>
            <a:r>
              <a:rPr lang="zh-CN" altLang="en-US">
                <a:solidFill>
                  <a:schemeClr val="tx1"/>
                </a:solidFill>
              </a:rPr>
              <a:t>主要有</a:t>
            </a:r>
            <a:r>
              <a:rPr lang="en-US" altLang="zh-CN" u="sng">
                <a:solidFill>
                  <a:srgbClr val="FF0000"/>
                </a:solidFill>
              </a:rPr>
              <a:t>C</a:t>
            </a:r>
            <a:r>
              <a:rPr lang="zh-CN" altLang="en-US" u="sng">
                <a:solidFill>
                  <a:srgbClr val="FF0000"/>
                </a:solidFill>
              </a:rPr>
              <a:t>、</a:t>
            </a:r>
            <a:r>
              <a:rPr lang="en-US" altLang="zh-CN" u="sng">
                <a:solidFill>
                  <a:srgbClr val="FF0000"/>
                </a:solidFill>
              </a:rPr>
              <a:t>H</a:t>
            </a:r>
            <a:r>
              <a:rPr lang="zh-CN" altLang="en-US" u="sng">
                <a:solidFill>
                  <a:srgbClr val="FF0000"/>
                </a:solidFill>
              </a:rPr>
              <a:t>、</a:t>
            </a:r>
            <a:r>
              <a:rPr lang="en-US" altLang="zh-CN" u="sng">
                <a:solidFill>
                  <a:srgbClr val="FF0000"/>
                </a:solidFill>
              </a:rPr>
              <a:t>O</a:t>
            </a:r>
            <a:r>
              <a:rPr lang="zh-CN" altLang="en-US" u="sng">
                <a:solidFill>
                  <a:srgbClr val="FF0000"/>
                </a:solidFill>
              </a:rPr>
              <a:t>、</a:t>
            </a:r>
            <a:r>
              <a:rPr lang="en-US" altLang="zh-CN" u="sng">
                <a:solidFill>
                  <a:srgbClr val="FF0000"/>
                </a:solidFill>
              </a:rPr>
              <a:t>N</a:t>
            </a:r>
            <a:r>
              <a:rPr lang="zh-CN" altLang="en-US" u="sng">
                <a:solidFill>
                  <a:srgbClr val="FF0000"/>
                </a:solidFill>
              </a:rPr>
              <a:t>和</a:t>
            </a:r>
            <a:r>
              <a:rPr lang="en-US" altLang="zh-CN" u="sng">
                <a:solidFill>
                  <a:srgbClr val="FF0000"/>
                </a:solidFill>
              </a:rPr>
              <a:t>S</a:t>
            </a:r>
            <a:r>
              <a:rPr lang="en-US" altLang="zh-CN">
                <a:solidFill>
                  <a:schemeClr val="tx1"/>
                </a:solidFill>
              </a:rPr>
              <a:t>, </a:t>
            </a:r>
            <a:r>
              <a:rPr lang="zh-CN" altLang="en-US">
                <a:solidFill>
                  <a:schemeClr val="tx1"/>
                </a:solidFill>
              </a:rPr>
              <a:t>其次有少量的</a:t>
            </a:r>
            <a:r>
              <a:rPr lang="en-US" altLang="zh-CN">
                <a:solidFill>
                  <a:schemeClr val="tx1"/>
                </a:solidFill>
              </a:rPr>
              <a:t>P, Fe, Cu, Zn, Mn, I, …</a:t>
            </a:r>
            <a:r>
              <a:rPr lang="en-US" altLang="zh-CN"/>
              <a:t> </a:t>
            </a:r>
            <a:r>
              <a:rPr lang="zh-CN" altLang="en-US">
                <a:solidFill>
                  <a:schemeClr val="tx1"/>
                </a:solidFill>
              </a:rPr>
              <a:t>。</a:t>
            </a:r>
          </a:p>
        </p:txBody>
      </p:sp>
      <p:pic>
        <p:nvPicPr>
          <p:cNvPr id="45060" name="Picture 8" descr="01010105">
            <a:extLst>
              <a:ext uri="{FF2B5EF4-FFF2-40B4-BE49-F238E27FC236}">
                <a16:creationId xmlns:a16="http://schemas.microsoft.com/office/drawing/2014/main" id="{6EDAB9DE-B285-48F2-9304-4AB1CFC793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2038" y="2420939"/>
            <a:ext cx="4032250"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Text Box 2">
            <a:extLst>
              <a:ext uri="{FF2B5EF4-FFF2-40B4-BE49-F238E27FC236}">
                <a16:creationId xmlns:a16="http://schemas.microsoft.com/office/drawing/2014/main" id="{C1193F60-4146-4B80-9672-22C35CEC9D93}"/>
              </a:ext>
            </a:extLst>
          </p:cNvPr>
          <p:cNvSpPr txBox="1">
            <a:spLocks noChangeArrowheads="1"/>
          </p:cNvSpPr>
          <p:nvPr/>
        </p:nvSpPr>
        <p:spPr bwMode="auto">
          <a:xfrm>
            <a:off x="2424114" y="1341438"/>
            <a:ext cx="72739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lang="en-US" altLang="zh-CN" dirty="0">
                <a:solidFill>
                  <a:schemeClr val="tx1"/>
                </a:solidFill>
              </a:rPr>
              <a:t> </a:t>
            </a:r>
            <a:r>
              <a:rPr lang="zh-CN" altLang="en-US" dirty="0">
                <a:solidFill>
                  <a:schemeClr val="tx1"/>
                </a:solidFill>
              </a:rPr>
              <a:t>各种蛋白质含氮量平均为</a:t>
            </a:r>
            <a:r>
              <a:rPr lang="en-US" altLang="zh-CN" dirty="0">
                <a:solidFill>
                  <a:srgbClr val="FF0000"/>
                </a:solidFill>
              </a:rPr>
              <a:t>16</a:t>
            </a:r>
            <a:r>
              <a:rPr lang="zh-CN" altLang="en-US" sz="2400" dirty="0">
                <a:solidFill>
                  <a:srgbClr val="FF0000"/>
                </a:solidFill>
              </a:rPr>
              <a:t>％</a:t>
            </a:r>
            <a:r>
              <a:rPr lang="zh-CN" altLang="en-US" dirty="0">
                <a:solidFill>
                  <a:schemeClr val="tx1"/>
                </a:solidFill>
              </a:rPr>
              <a:t> </a:t>
            </a:r>
          </a:p>
        </p:txBody>
      </p:sp>
      <p:sp>
        <p:nvSpPr>
          <p:cNvPr id="47107" name="Text Box 6">
            <a:extLst>
              <a:ext uri="{FF2B5EF4-FFF2-40B4-BE49-F238E27FC236}">
                <a16:creationId xmlns:a16="http://schemas.microsoft.com/office/drawing/2014/main" id="{B52E1756-EB3B-4B4B-9C80-BF0E9488F8CD}"/>
              </a:ext>
            </a:extLst>
          </p:cNvPr>
          <p:cNvSpPr>
            <a:spLocks noGrp="1" noChangeArrowheads="1"/>
          </p:cNvSpPr>
          <p:nvPr>
            <p:ph type="title"/>
          </p:nvPr>
        </p:nvSpPr>
        <p:spPr>
          <a:xfrm>
            <a:off x="623392" y="252413"/>
            <a:ext cx="11074400" cy="563563"/>
          </a:xfrm>
        </p:spPr>
        <p:txBody>
          <a:bodyPr/>
          <a:lstStyle/>
          <a:p>
            <a:pPr eaLnBrk="1" hangingPunct="1"/>
            <a:r>
              <a:rPr lang="en-US" altLang="zh-CN" sz="3200" dirty="0">
                <a:latin typeface="Times New Roman" panose="02020603050405020304" pitchFamily="18" charset="0"/>
                <a:sym typeface="Wingdings" panose="05000000000000000000" pitchFamily="2" charset="2"/>
              </a:rPr>
              <a:t> </a:t>
            </a:r>
            <a:r>
              <a:rPr lang="zh-CN" altLang="en-US" sz="3200" dirty="0">
                <a:latin typeface="Times New Roman" panose="02020603050405020304" pitchFamily="18" charset="0"/>
                <a:sym typeface="Wingdings" panose="05000000000000000000" pitchFamily="2" charset="2"/>
              </a:rPr>
              <a:t>各种</a:t>
            </a:r>
            <a:r>
              <a:rPr lang="zh-CN" altLang="en-US" sz="3200" dirty="0">
                <a:latin typeface="Times New Roman" panose="02020603050405020304" pitchFamily="18" charset="0"/>
              </a:rPr>
              <a:t>蛋白质的含氮量接近</a:t>
            </a:r>
          </a:p>
        </p:txBody>
      </p:sp>
      <p:sp>
        <p:nvSpPr>
          <p:cNvPr id="9219" name="Rectangle 3">
            <a:extLst>
              <a:ext uri="{FF2B5EF4-FFF2-40B4-BE49-F238E27FC236}">
                <a16:creationId xmlns:a16="http://schemas.microsoft.com/office/drawing/2014/main" id="{24200ACD-63C1-4054-A501-F884321EE2AD}"/>
              </a:ext>
            </a:extLst>
          </p:cNvPr>
          <p:cNvSpPr>
            <a:spLocks noGrp="1" noChangeArrowheads="1"/>
          </p:cNvSpPr>
          <p:nvPr>
            <p:ph idx="1"/>
          </p:nvPr>
        </p:nvSpPr>
        <p:spPr>
          <a:xfrm>
            <a:off x="1775520" y="5353051"/>
            <a:ext cx="8229600" cy="942975"/>
          </a:xfrm>
        </p:spPr>
        <p:txBody>
          <a:bodyPr/>
          <a:lstStyle/>
          <a:p>
            <a:pPr marL="0" indent="714375" algn="just" eaLnBrk="1" hangingPunct="1">
              <a:lnSpc>
                <a:spcPct val="150000"/>
              </a:lnSpc>
              <a:buNone/>
            </a:pPr>
            <a:r>
              <a:rPr lang="zh-CN" altLang="en-US" dirty="0">
                <a:solidFill>
                  <a:schemeClr val="tx1"/>
                </a:solidFill>
              </a:rPr>
              <a:t>食品工业蛋白质含量测定金标准</a:t>
            </a:r>
            <a:r>
              <a:rPr lang="en-US" altLang="zh-CN" dirty="0">
                <a:solidFill>
                  <a:schemeClr val="tx1"/>
                </a:solidFill>
              </a:rPr>
              <a:t>:</a:t>
            </a:r>
            <a:r>
              <a:rPr lang="en-US" altLang="zh-CN" dirty="0">
                <a:solidFill>
                  <a:srgbClr val="006600"/>
                </a:solidFill>
              </a:rPr>
              <a:t>  </a:t>
            </a:r>
            <a:r>
              <a:rPr lang="zh-CN" altLang="en-US" dirty="0">
                <a:solidFill>
                  <a:srgbClr val="FF0000"/>
                </a:solidFill>
              </a:rPr>
              <a:t>凯氏定氮法</a:t>
            </a:r>
          </a:p>
        </p:txBody>
      </p:sp>
      <p:sp>
        <p:nvSpPr>
          <p:cNvPr id="155654" name="Rectangle 6">
            <a:extLst>
              <a:ext uri="{FF2B5EF4-FFF2-40B4-BE49-F238E27FC236}">
                <a16:creationId xmlns:a16="http://schemas.microsoft.com/office/drawing/2014/main" id="{9A5ED852-9108-4700-9B78-60F99026FBA1}"/>
              </a:ext>
            </a:extLst>
          </p:cNvPr>
          <p:cNvSpPr>
            <a:spLocks noChangeArrowheads="1"/>
          </p:cNvSpPr>
          <p:nvPr/>
        </p:nvSpPr>
        <p:spPr bwMode="auto">
          <a:xfrm>
            <a:off x="2566988" y="2276476"/>
            <a:ext cx="6934200"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just" eaLnBrk="1" hangingPunct="1">
              <a:lnSpc>
                <a:spcPct val="150000"/>
              </a:lnSpc>
              <a:buSzPct val="110000"/>
              <a:buFont typeface="Wingdings" panose="05000000000000000000" pitchFamily="2" charset="2"/>
              <a:buNone/>
            </a:pPr>
            <a:r>
              <a:rPr kumimoji="1" lang="en-US" altLang="zh-CN" dirty="0">
                <a:solidFill>
                  <a:schemeClr val="tx1"/>
                </a:solidFill>
              </a:rPr>
              <a:t>100g </a:t>
            </a:r>
            <a:r>
              <a:rPr kumimoji="1" lang="zh-CN" altLang="en-US" dirty="0">
                <a:solidFill>
                  <a:schemeClr val="tx1"/>
                </a:solidFill>
              </a:rPr>
              <a:t>蛋白质含氮</a:t>
            </a:r>
            <a:r>
              <a:rPr kumimoji="1" lang="en-US" altLang="zh-CN" dirty="0">
                <a:solidFill>
                  <a:schemeClr val="tx1"/>
                </a:solidFill>
              </a:rPr>
              <a:t>16g</a:t>
            </a:r>
          </a:p>
        </p:txBody>
      </p:sp>
      <p:sp>
        <p:nvSpPr>
          <p:cNvPr id="155656" name="Rectangle 8">
            <a:extLst>
              <a:ext uri="{FF2B5EF4-FFF2-40B4-BE49-F238E27FC236}">
                <a16:creationId xmlns:a16="http://schemas.microsoft.com/office/drawing/2014/main" id="{7491701B-7651-4F10-AA6B-934F730880A7}"/>
              </a:ext>
            </a:extLst>
          </p:cNvPr>
          <p:cNvSpPr>
            <a:spLocks noChangeArrowheads="1"/>
          </p:cNvSpPr>
          <p:nvPr/>
        </p:nvSpPr>
        <p:spPr bwMode="auto">
          <a:xfrm>
            <a:off x="2566988" y="4123117"/>
            <a:ext cx="5925020" cy="656846"/>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lnSpc>
                <a:spcPct val="150000"/>
              </a:lnSpc>
              <a:buSzPct val="110000"/>
              <a:buFont typeface="Wingdings" panose="05000000000000000000" pitchFamily="2" charset="2"/>
              <a:buNone/>
            </a:pPr>
            <a:r>
              <a:rPr kumimoji="1" lang="zh-CN" altLang="en-US" dirty="0">
                <a:solidFill>
                  <a:schemeClr val="tx1"/>
                </a:solidFill>
              </a:rPr>
              <a:t>蛋白质克数</a:t>
            </a:r>
            <a:r>
              <a:rPr kumimoji="1" lang="en-US" altLang="zh-CN" dirty="0">
                <a:solidFill>
                  <a:schemeClr val="tx1"/>
                </a:solidFill>
              </a:rPr>
              <a:t>=</a:t>
            </a:r>
            <a:r>
              <a:rPr kumimoji="1" lang="zh-CN" altLang="en-US" dirty="0">
                <a:solidFill>
                  <a:schemeClr val="tx1"/>
                </a:solidFill>
              </a:rPr>
              <a:t>样品中含氮克数</a:t>
            </a:r>
            <a:r>
              <a:rPr kumimoji="1" lang="en-US" altLang="zh-CN" dirty="0">
                <a:solidFill>
                  <a:schemeClr val="tx1"/>
                </a:solidFill>
              </a:rPr>
              <a:t>×6.25</a:t>
            </a:r>
          </a:p>
        </p:txBody>
      </p:sp>
      <p:sp>
        <p:nvSpPr>
          <p:cNvPr id="155657" name="Rectangle 9">
            <a:extLst>
              <a:ext uri="{FF2B5EF4-FFF2-40B4-BE49-F238E27FC236}">
                <a16:creationId xmlns:a16="http://schemas.microsoft.com/office/drawing/2014/main" id="{7D7E6FDC-15B5-492B-8383-38097763319D}"/>
              </a:ext>
            </a:extLst>
          </p:cNvPr>
          <p:cNvSpPr>
            <a:spLocks noChangeArrowheads="1"/>
          </p:cNvSpPr>
          <p:nvPr/>
        </p:nvSpPr>
        <p:spPr bwMode="auto">
          <a:xfrm>
            <a:off x="2566988" y="2924176"/>
            <a:ext cx="76327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just" eaLnBrk="1" hangingPunct="1">
              <a:lnSpc>
                <a:spcPct val="150000"/>
              </a:lnSpc>
              <a:buSzPct val="110000"/>
              <a:buFont typeface="Wingdings" panose="05000000000000000000" pitchFamily="2" charset="2"/>
              <a:buNone/>
            </a:pPr>
            <a:r>
              <a:rPr kumimoji="1" lang="en-US" altLang="zh-CN" dirty="0">
                <a:solidFill>
                  <a:srgbClr val="FF0000"/>
                </a:solidFill>
              </a:rPr>
              <a:t>1g</a:t>
            </a:r>
            <a:r>
              <a:rPr kumimoji="1" lang="zh-CN" altLang="en-US" dirty="0">
                <a:solidFill>
                  <a:srgbClr val="FF0000"/>
                </a:solidFill>
              </a:rPr>
              <a:t>氮</a:t>
            </a:r>
            <a:r>
              <a:rPr kumimoji="1" lang="en-US" altLang="zh-CN" dirty="0">
                <a:solidFill>
                  <a:srgbClr val="FF0000"/>
                </a:solidFill>
              </a:rPr>
              <a:t>=6.25g </a:t>
            </a:r>
            <a:r>
              <a:rPr kumimoji="1" lang="zh-CN" altLang="en-US" dirty="0">
                <a:solidFill>
                  <a:srgbClr val="FF0000"/>
                </a:solidFill>
              </a:rPr>
              <a:t>蛋白质</a:t>
            </a:r>
            <a:r>
              <a:rPr kumimoji="1" lang="en-US" altLang="zh-CN" dirty="0">
                <a:solidFill>
                  <a:srgbClr val="FF0000"/>
                </a:solidFill>
              </a:rPr>
              <a:t>            </a:t>
            </a:r>
            <a:r>
              <a:rPr kumimoji="1" lang="en-US" altLang="zh-CN" dirty="0">
                <a:solidFill>
                  <a:schemeClr val="tx1"/>
                </a:solidFill>
              </a:rPr>
              <a:t>6.25</a:t>
            </a:r>
            <a:r>
              <a:rPr kumimoji="1" lang="zh-CN" altLang="en-US" dirty="0">
                <a:solidFill>
                  <a:schemeClr val="tx1"/>
                </a:solidFill>
              </a:rPr>
              <a:t>称为</a:t>
            </a:r>
            <a:r>
              <a:rPr kumimoji="1" lang="zh-CN" altLang="en-US" dirty="0">
                <a:solidFill>
                  <a:srgbClr val="FF0000"/>
                </a:solidFill>
              </a:rPr>
              <a:t>蛋白系数</a:t>
            </a:r>
            <a:endParaRPr kumimoji="1" lang="en-US" altLang="zh-CN" dirty="0">
              <a:solidFill>
                <a:srgbClr val="FF0000"/>
              </a:solidFill>
            </a:endParaRPr>
          </a:p>
        </p:txBody>
      </p:sp>
    </p:spTree>
    <p:custDataLst>
      <p:tags r:id="rId1"/>
    </p:custDataLst>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barn(outVertical)">
                                      <p:cBhvr>
                                        <p:cTn id="7" dur="500"/>
                                        <p:tgtEl>
                                          <p:spTgt spid="9218"/>
                                        </p:tgtEl>
                                      </p:cBhvr>
                                    </p:animEffect>
                                  </p:childTnLst>
                                </p:cTn>
                              </p:par>
                            </p:childTnLst>
                          </p:cTn>
                        </p:par>
                        <p:par>
                          <p:cTn id="8" fill="hold" nodeType="afterGroup">
                            <p:stCondLst>
                              <p:cond delay="500"/>
                            </p:stCondLst>
                            <p:childTnLst>
                              <p:par>
                                <p:cTn id="9" presetID="3" presetClass="entr" presetSubtype="5" fill="hold" grpId="0" nodeType="afterEffect">
                                  <p:stCondLst>
                                    <p:cond delay="0"/>
                                  </p:stCondLst>
                                  <p:childTnLst>
                                    <p:set>
                                      <p:cBhvr>
                                        <p:cTn id="10" dur="1" fill="hold">
                                          <p:stCondLst>
                                            <p:cond delay="0"/>
                                          </p:stCondLst>
                                        </p:cTn>
                                        <p:tgtEl>
                                          <p:spTgt spid="155654"/>
                                        </p:tgtEl>
                                        <p:attrNameLst>
                                          <p:attrName>style.visibility</p:attrName>
                                        </p:attrNameLst>
                                      </p:cBhvr>
                                      <p:to>
                                        <p:strVal val="visible"/>
                                      </p:to>
                                    </p:set>
                                    <p:animEffect transition="in" filter="blinds(vertical)">
                                      <p:cBhvr>
                                        <p:cTn id="11" dur="500"/>
                                        <p:tgtEl>
                                          <p:spTgt spid="15565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5" fill="hold" grpId="0" nodeType="clickEffect">
                                  <p:stCondLst>
                                    <p:cond delay="0"/>
                                  </p:stCondLst>
                                  <p:childTnLst>
                                    <p:set>
                                      <p:cBhvr>
                                        <p:cTn id="15" dur="1" fill="hold">
                                          <p:stCondLst>
                                            <p:cond delay="0"/>
                                          </p:stCondLst>
                                        </p:cTn>
                                        <p:tgtEl>
                                          <p:spTgt spid="155657"/>
                                        </p:tgtEl>
                                        <p:attrNameLst>
                                          <p:attrName>style.visibility</p:attrName>
                                        </p:attrNameLst>
                                      </p:cBhvr>
                                      <p:to>
                                        <p:strVal val="visible"/>
                                      </p:to>
                                    </p:set>
                                    <p:animEffect transition="in" filter="blinds(vertical)">
                                      <p:cBhvr>
                                        <p:cTn id="16" dur="500"/>
                                        <p:tgtEl>
                                          <p:spTgt spid="155657"/>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55656"/>
                                        </p:tgtEl>
                                        <p:attrNameLst>
                                          <p:attrName>style.visibility</p:attrName>
                                        </p:attrNameLst>
                                      </p:cBhvr>
                                      <p:to>
                                        <p:strVal val="visible"/>
                                      </p:to>
                                    </p:set>
                                    <p:animEffect transition="in" filter="wipe(left)">
                                      <p:cBhvr>
                                        <p:cTn id="20" dur="2000"/>
                                        <p:tgtEl>
                                          <p:spTgt spid="15565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5" fill="hold" grpId="0" nodeType="clickEffect">
                                  <p:stCondLst>
                                    <p:cond delay="0"/>
                                  </p:stCondLst>
                                  <p:childTnLst>
                                    <p:set>
                                      <p:cBhvr>
                                        <p:cTn id="24" dur="1" fill="hold">
                                          <p:stCondLst>
                                            <p:cond delay="0"/>
                                          </p:stCondLst>
                                        </p:cTn>
                                        <p:tgtEl>
                                          <p:spTgt spid="9219">
                                            <p:txEl>
                                              <p:pRg st="0" end="0"/>
                                            </p:txEl>
                                          </p:spTgt>
                                        </p:tgtEl>
                                        <p:attrNameLst>
                                          <p:attrName>style.visibility</p:attrName>
                                        </p:attrNameLst>
                                      </p:cBhvr>
                                      <p:to>
                                        <p:strVal val="visible"/>
                                      </p:to>
                                    </p:set>
                                    <p:animEffect transition="in" filter="blinds(vertical)">
                                      <p:cBhvr>
                                        <p:cTn id="25" dur="500"/>
                                        <p:tgtEl>
                                          <p:spTgt spid="92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autoUpdateAnimBg="0"/>
      <p:bldP spid="9219" grpId="0" build="p" autoUpdateAnimBg="0"/>
      <p:bldP spid="155654" grpId="0"/>
      <p:bldP spid="155656" grpId="0" animBg="1"/>
      <p:bldP spid="155657" grpId="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pic>
        <p:nvPicPr>
          <p:cNvPr id="49154" name="Picture 5" descr="Melamine">
            <a:extLst>
              <a:ext uri="{FF2B5EF4-FFF2-40B4-BE49-F238E27FC236}">
                <a16:creationId xmlns:a16="http://schemas.microsoft.com/office/drawing/2014/main" id="{606D1A5F-D983-475E-9A09-74C1AFA303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4826" y="1873250"/>
            <a:ext cx="4321175" cy="337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5" name="Rectangle 6">
            <a:extLst>
              <a:ext uri="{FF2B5EF4-FFF2-40B4-BE49-F238E27FC236}">
                <a16:creationId xmlns:a16="http://schemas.microsoft.com/office/drawing/2014/main" id="{518BC4C9-0278-4E24-A991-912BC9E82B41}"/>
              </a:ext>
            </a:extLst>
          </p:cNvPr>
          <p:cNvSpPr>
            <a:spLocks noChangeArrowheads="1"/>
          </p:cNvSpPr>
          <p:nvPr/>
        </p:nvSpPr>
        <p:spPr bwMode="auto">
          <a:xfrm>
            <a:off x="2135189" y="981076"/>
            <a:ext cx="703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buFontTx/>
              <a:buNone/>
            </a:pPr>
            <a:r>
              <a:rPr lang="en-US" altLang="zh-CN" sz="3600">
                <a:solidFill>
                  <a:srgbClr val="FF0000"/>
                </a:solidFill>
              </a:rPr>
              <a:t>2008</a:t>
            </a:r>
            <a:r>
              <a:rPr lang="zh-CN" altLang="en-US" sz="3600">
                <a:solidFill>
                  <a:srgbClr val="FF0000"/>
                </a:solidFill>
              </a:rPr>
              <a:t>年</a:t>
            </a:r>
            <a:r>
              <a:rPr lang="en-US" altLang="zh-CN" sz="3600">
                <a:solidFill>
                  <a:srgbClr val="FF0000"/>
                </a:solidFill>
              </a:rPr>
              <a:t>“</a:t>
            </a:r>
            <a:r>
              <a:rPr lang="zh-CN" altLang="en-US" sz="3600">
                <a:solidFill>
                  <a:srgbClr val="FF0000"/>
                </a:solidFill>
              </a:rPr>
              <a:t>中国奶制品污染事件”</a:t>
            </a:r>
          </a:p>
        </p:txBody>
      </p:sp>
      <p:sp>
        <p:nvSpPr>
          <p:cNvPr id="49156" name="标题 1">
            <a:extLst>
              <a:ext uri="{FF2B5EF4-FFF2-40B4-BE49-F238E27FC236}">
                <a16:creationId xmlns:a16="http://schemas.microsoft.com/office/drawing/2014/main" id="{A554442F-337B-4194-A25B-394E48182654}"/>
              </a:ext>
            </a:extLst>
          </p:cNvPr>
          <p:cNvSpPr>
            <a:spLocks noGrp="1" noChangeArrowheads="1"/>
          </p:cNvSpPr>
          <p:nvPr>
            <p:ph type="title"/>
          </p:nvPr>
        </p:nvSpPr>
        <p:spPr>
          <a:xfrm>
            <a:off x="1943100" y="225426"/>
            <a:ext cx="8305800" cy="563563"/>
          </a:xfrm>
        </p:spPr>
        <p:txBody>
          <a:bodyPr/>
          <a:lstStyle/>
          <a:p>
            <a:r>
              <a:rPr lang="zh-CN" altLang="en-US"/>
              <a:t>凯氏定氮法的“悲剧”</a:t>
            </a:r>
          </a:p>
        </p:txBody>
      </p:sp>
      <p:sp>
        <p:nvSpPr>
          <p:cNvPr id="592899" name="Rectangle 3">
            <a:extLst>
              <a:ext uri="{FF2B5EF4-FFF2-40B4-BE49-F238E27FC236}">
                <a16:creationId xmlns:a16="http://schemas.microsoft.com/office/drawing/2014/main" id="{93861036-FD89-4203-B4BE-F77ACB5ECB43}"/>
              </a:ext>
            </a:extLst>
          </p:cNvPr>
          <p:cNvSpPr>
            <a:spLocks noGrp="1" noChangeArrowheads="1"/>
          </p:cNvSpPr>
          <p:nvPr>
            <p:ph type="body" idx="4294967295"/>
          </p:nvPr>
        </p:nvSpPr>
        <p:spPr>
          <a:xfrm>
            <a:off x="2041525" y="5089526"/>
            <a:ext cx="3786188" cy="1076325"/>
          </a:xfrm>
        </p:spPr>
        <p:txBody>
          <a:bodyPr/>
          <a:lstStyle/>
          <a:p>
            <a:pPr algn="ctr" eaLnBrk="1" hangingPunct="1">
              <a:buFont typeface="Wingdings" panose="05000000000000000000" pitchFamily="2" charset="2"/>
              <a:buNone/>
            </a:pPr>
            <a:r>
              <a:rPr lang="zh-CN" altLang="en-US" b="0" dirty="0">
                <a:solidFill>
                  <a:srgbClr val="0000CC"/>
                </a:solidFill>
              </a:rPr>
              <a:t>三聚氰胺</a:t>
            </a:r>
            <a:r>
              <a:rPr lang="en-US" altLang="zh-CN" b="0" dirty="0">
                <a:solidFill>
                  <a:srgbClr val="0000CC"/>
                </a:solidFill>
              </a:rPr>
              <a:t>(C</a:t>
            </a:r>
            <a:r>
              <a:rPr lang="en-US" altLang="zh-CN" b="0" baseline="-25000" dirty="0">
                <a:solidFill>
                  <a:srgbClr val="0000CC"/>
                </a:solidFill>
              </a:rPr>
              <a:t>3</a:t>
            </a:r>
            <a:r>
              <a:rPr lang="en-US" altLang="zh-CN" b="0" dirty="0">
                <a:solidFill>
                  <a:srgbClr val="0000CC"/>
                </a:solidFill>
              </a:rPr>
              <a:t>H</a:t>
            </a:r>
            <a:r>
              <a:rPr lang="en-US" altLang="zh-CN" b="0" baseline="-25000" dirty="0">
                <a:solidFill>
                  <a:srgbClr val="0000CC"/>
                </a:solidFill>
              </a:rPr>
              <a:t>6</a:t>
            </a:r>
            <a:r>
              <a:rPr lang="en-US" altLang="zh-CN" b="0" dirty="0">
                <a:solidFill>
                  <a:srgbClr val="0000CC"/>
                </a:solidFill>
              </a:rPr>
              <a:t>N</a:t>
            </a:r>
            <a:r>
              <a:rPr lang="en-US" altLang="zh-CN" b="0" baseline="-25000" dirty="0">
                <a:solidFill>
                  <a:srgbClr val="0000CC"/>
                </a:solidFill>
              </a:rPr>
              <a:t>6</a:t>
            </a:r>
            <a:r>
              <a:rPr lang="en-US" altLang="zh-CN" b="0" dirty="0">
                <a:solidFill>
                  <a:srgbClr val="0000CC"/>
                </a:solidFill>
              </a:rPr>
              <a:t>)</a:t>
            </a:r>
          </a:p>
          <a:p>
            <a:pPr algn="ctr" eaLnBrk="1" hangingPunct="1">
              <a:buFont typeface="Wingdings" panose="05000000000000000000" pitchFamily="2" charset="2"/>
              <a:buNone/>
            </a:pPr>
            <a:r>
              <a:rPr lang="zh-CN" altLang="en-US" b="0" dirty="0">
                <a:solidFill>
                  <a:srgbClr val="0000CC"/>
                </a:solidFill>
              </a:rPr>
              <a:t>（含氮量 </a:t>
            </a:r>
            <a:r>
              <a:rPr lang="en-US" altLang="zh-CN" b="0" dirty="0">
                <a:solidFill>
                  <a:srgbClr val="0000CC"/>
                </a:solidFill>
              </a:rPr>
              <a:t>66%</a:t>
            </a:r>
            <a:r>
              <a:rPr lang="zh-CN" altLang="en-US" b="0" dirty="0">
                <a:solidFill>
                  <a:srgbClr val="0000CC"/>
                </a:solidFill>
              </a:rPr>
              <a:t>）</a:t>
            </a:r>
            <a:endParaRPr lang="en-US" altLang="zh-CN" b="0" dirty="0">
              <a:solidFill>
                <a:srgbClr val="0000CC"/>
              </a:solidFill>
            </a:endParaRPr>
          </a:p>
        </p:txBody>
      </p:sp>
      <p:pic>
        <p:nvPicPr>
          <p:cNvPr id="49158" name="Picture 6">
            <a:extLst>
              <a:ext uri="{FF2B5EF4-FFF2-40B4-BE49-F238E27FC236}">
                <a16:creationId xmlns:a16="http://schemas.microsoft.com/office/drawing/2014/main" id="{5964D0E9-EE49-4062-B24E-F0790B58727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2112963"/>
            <a:ext cx="4432300" cy="322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928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59289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2899" grpId="0" uiExpand="1"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0C93380F-0A4C-4FFF-8E87-6DCA778868C4}"/>
              </a:ext>
            </a:extLst>
          </p:cNvPr>
          <p:cNvSpPr>
            <a:spLocks noGrp="1" noChangeArrowheads="1"/>
          </p:cNvSpPr>
          <p:nvPr>
            <p:ph type="title"/>
          </p:nvPr>
        </p:nvSpPr>
        <p:spPr>
          <a:xfrm>
            <a:off x="623392" y="0"/>
            <a:ext cx="8305800" cy="791865"/>
          </a:xfrm>
        </p:spPr>
        <p:txBody>
          <a:bodyPr vert="horz" wrap="square" lIns="90000" tIns="46800" rIns="90000" bIns="46800" numCol="1" anchor="t" anchorCtr="0" compatLnSpc="1">
            <a:prstTxWarp prst="textNoShape">
              <a:avLst/>
            </a:prstTxWarp>
          </a:bodyPr>
          <a:lstStyle/>
          <a:p>
            <a:pPr eaLnBrk="1" hangingPunct="1">
              <a:lnSpc>
                <a:spcPct val="160000"/>
              </a:lnSpc>
            </a:pPr>
            <a:r>
              <a:rPr lang="zh-CN" altLang="en-US" sz="3200" dirty="0">
                <a:latin typeface="Times New Roman" panose="02020603050405020304" pitchFamily="18" charset="0"/>
              </a:rPr>
              <a:t>二、</a:t>
            </a:r>
            <a:r>
              <a:rPr lang="en-US" altLang="zh-CN" sz="3200" dirty="0">
                <a:latin typeface="Times New Roman" panose="02020603050405020304" pitchFamily="18" charset="0"/>
              </a:rPr>
              <a:t>L-</a:t>
            </a:r>
            <a:r>
              <a:rPr lang="el-GR" altLang="zh-CN" sz="3200" dirty="0">
                <a:latin typeface="Times New Roman" panose="02020603050405020304" pitchFamily="18" charset="0"/>
              </a:rPr>
              <a:t>α-</a:t>
            </a:r>
            <a:r>
              <a:rPr lang="zh-CN" altLang="en-US" sz="3200" dirty="0">
                <a:latin typeface="Times New Roman" panose="02020603050405020304" pitchFamily="18" charset="0"/>
              </a:rPr>
              <a:t>氨基酸是蛋白质的基本结构单位</a:t>
            </a:r>
          </a:p>
        </p:txBody>
      </p:sp>
      <p:sp>
        <p:nvSpPr>
          <p:cNvPr id="10243" name="Rectangle 3">
            <a:extLst>
              <a:ext uri="{FF2B5EF4-FFF2-40B4-BE49-F238E27FC236}">
                <a16:creationId xmlns:a16="http://schemas.microsoft.com/office/drawing/2014/main" id="{F3A157BF-1A48-4454-A479-94A9B7CCA725}"/>
              </a:ext>
            </a:extLst>
          </p:cNvPr>
          <p:cNvSpPr>
            <a:spLocks noGrp="1" noChangeArrowheads="1"/>
          </p:cNvSpPr>
          <p:nvPr>
            <p:ph idx="1"/>
          </p:nvPr>
        </p:nvSpPr>
        <p:spPr>
          <a:xfrm>
            <a:off x="623392" y="908720"/>
            <a:ext cx="10686968" cy="1208831"/>
          </a:xfrm>
        </p:spPr>
        <p:txBody>
          <a:bodyPr/>
          <a:lstStyle/>
          <a:p>
            <a:pPr marL="0" indent="0" algn="just" eaLnBrk="1" hangingPunct="1">
              <a:lnSpc>
                <a:spcPct val="120000"/>
              </a:lnSpc>
              <a:spcBef>
                <a:spcPct val="50000"/>
              </a:spcBef>
              <a:buNone/>
              <a:defRPr/>
            </a:pPr>
            <a:r>
              <a:rPr lang="zh-CN" altLang="en-US" dirty="0">
                <a:solidFill>
                  <a:schemeClr val="tx1"/>
                </a:solidFill>
                <a:latin typeface="+mn-ea"/>
              </a:rPr>
              <a:t>参与蛋白质合成的</a:t>
            </a:r>
            <a:r>
              <a:rPr lang="en-US" altLang="zh-CN" dirty="0">
                <a:solidFill>
                  <a:srgbClr val="FF0000"/>
                </a:solidFill>
                <a:latin typeface="+mn-ea"/>
              </a:rPr>
              <a:t>20</a:t>
            </a:r>
            <a:r>
              <a:rPr lang="zh-CN" altLang="en-US" dirty="0">
                <a:solidFill>
                  <a:schemeClr val="tx1"/>
                </a:solidFill>
                <a:latin typeface="+mn-ea"/>
              </a:rPr>
              <a:t>种氨基酸均属</a:t>
            </a:r>
            <a:r>
              <a:rPr lang="en-US" altLang="zh-CN" dirty="0">
                <a:solidFill>
                  <a:srgbClr val="FF0000"/>
                </a:solidFill>
                <a:latin typeface="+mn-ea"/>
              </a:rPr>
              <a:t>L-α-</a:t>
            </a:r>
            <a:r>
              <a:rPr lang="zh-CN" altLang="en-US" dirty="0">
                <a:solidFill>
                  <a:srgbClr val="FF0000"/>
                </a:solidFill>
                <a:latin typeface="+mn-ea"/>
              </a:rPr>
              <a:t>氨基酸 </a:t>
            </a:r>
            <a:r>
              <a:rPr lang="en-US" altLang="zh-CN" dirty="0">
                <a:solidFill>
                  <a:schemeClr val="tx1"/>
                </a:solidFill>
                <a:latin typeface="Times New Roman" panose="02020603050405020304" pitchFamily="18" charset="0"/>
              </a:rPr>
              <a:t>(amino acids,</a:t>
            </a:r>
            <a:r>
              <a:rPr lang="en-US" altLang="zh-CN" dirty="0">
                <a:solidFill>
                  <a:srgbClr val="006600"/>
                </a:solidFill>
                <a:latin typeface="Times New Roman" panose="02020603050405020304" pitchFamily="18" charset="0"/>
              </a:rPr>
              <a:t> </a:t>
            </a:r>
            <a:r>
              <a:rPr lang="en-US" altLang="zh-CN" dirty="0">
                <a:solidFill>
                  <a:srgbClr val="FF0000"/>
                </a:solidFill>
                <a:latin typeface="Times New Roman" panose="02020603050405020304" pitchFamily="18" charset="0"/>
              </a:rPr>
              <a:t>aa</a:t>
            </a:r>
            <a:r>
              <a:rPr lang="zh-CN" altLang="en-US" dirty="0">
                <a:solidFill>
                  <a:schemeClr val="tx1"/>
                </a:solidFill>
                <a:latin typeface="Times New Roman" panose="02020603050405020304" pitchFamily="18" charset="0"/>
              </a:rPr>
              <a:t>，</a:t>
            </a:r>
            <a:r>
              <a:rPr lang="zh-CN" altLang="en-US" dirty="0">
                <a:solidFill>
                  <a:schemeClr val="tx1"/>
                </a:solidFill>
                <a:latin typeface="+mn-ea"/>
              </a:rPr>
              <a:t>甘氨酸除外）。</a:t>
            </a:r>
          </a:p>
        </p:txBody>
      </p:sp>
      <p:grpSp>
        <p:nvGrpSpPr>
          <p:cNvPr id="2" name="Group 2">
            <a:extLst>
              <a:ext uri="{FF2B5EF4-FFF2-40B4-BE49-F238E27FC236}">
                <a16:creationId xmlns:a16="http://schemas.microsoft.com/office/drawing/2014/main" id="{6A4EFAC2-7815-5400-3401-FD55212C2CD9}"/>
              </a:ext>
            </a:extLst>
          </p:cNvPr>
          <p:cNvGrpSpPr>
            <a:grpSpLocks/>
          </p:cNvGrpSpPr>
          <p:nvPr/>
        </p:nvGrpSpPr>
        <p:grpSpPr bwMode="auto">
          <a:xfrm>
            <a:off x="3019426" y="3651076"/>
            <a:ext cx="7396163" cy="2705100"/>
            <a:chOff x="835" y="1910"/>
            <a:chExt cx="4609" cy="1704"/>
          </a:xfrm>
        </p:grpSpPr>
        <p:sp>
          <p:nvSpPr>
            <p:cNvPr id="3" name="Text Box 3">
              <a:extLst>
                <a:ext uri="{FF2B5EF4-FFF2-40B4-BE49-F238E27FC236}">
                  <a16:creationId xmlns:a16="http://schemas.microsoft.com/office/drawing/2014/main" id="{FE9F0842-CDD6-1E7A-A114-590CA157CCFB}"/>
                </a:ext>
              </a:extLst>
            </p:cNvPr>
            <p:cNvSpPr txBox="1">
              <a:spLocks noChangeArrowheads="1"/>
            </p:cNvSpPr>
            <p:nvPr/>
          </p:nvSpPr>
          <p:spPr bwMode="auto">
            <a:xfrm>
              <a:off x="835" y="1910"/>
              <a:ext cx="458"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6000" b="0">
                  <a:solidFill>
                    <a:srgbClr val="FF0000"/>
                  </a:solidFill>
                </a:rPr>
                <a:t>H</a:t>
              </a:r>
            </a:p>
          </p:txBody>
        </p:sp>
        <p:sp>
          <p:nvSpPr>
            <p:cNvPr id="4" name="Text Box 4">
              <a:extLst>
                <a:ext uri="{FF2B5EF4-FFF2-40B4-BE49-F238E27FC236}">
                  <a16:creationId xmlns:a16="http://schemas.microsoft.com/office/drawing/2014/main" id="{821D7D03-6477-B809-750F-6424826DB79A}"/>
                </a:ext>
              </a:extLst>
            </p:cNvPr>
            <p:cNvSpPr txBox="1">
              <a:spLocks noChangeArrowheads="1"/>
            </p:cNvSpPr>
            <p:nvPr/>
          </p:nvSpPr>
          <p:spPr bwMode="auto">
            <a:xfrm>
              <a:off x="4176" y="3210"/>
              <a:ext cx="12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3600">
                  <a:solidFill>
                    <a:srgbClr val="FF0000"/>
                  </a:solidFill>
                </a:rPr>
                <a:t>甘氨酸</a:t>
              </a:r>
            </a:p>
          </p:txBody>
        </p:sp>
      </p:grpSp>
      <p:grpSp>
        <p:nvGrpSpPr>
          <p:cNvPr id="5" name="Group 5">
            <a:extLst>
              <a:ext uri="{FF2B5EF4-FFF2-40B4-BE49-F238E27FC236}">
                <a16:creationId xmlns:a16="http://schemas.microsoft.com/office/drawing/2014/main" id="{0DA142B1-ED30-01A3-F67A-5EBC85894358}"/>
              </a:ext>
            </a:extLst>
          </p:cNvPr>
          <p:cNvGrpSpPr>
            <a:grpSpLocks/>
          </p:cNvGrpSpPr>
          <p:nvPr/>
        </p:nvGrpSpPr>
        <p:grpSpPr bwMode="auto">
          <a:xfrm>
            <a:off x="2235200" y="3527252"/>
            <a:ext cx="7691438" cy="2970213"/>
            <a:chOff x="218" y="1876"/>
            <a:chExt cx="4845" cy="1871"/>
          </a:xfrm>
        </p:grpSpPr>
        <p:sp>
          <p:nvSpPr>
            <p:cNvPr id="6" name="Text Box 6">
              <a:extLst>
                <a:ext uri="{FF2B5EF4-FFF2-40B4-BE49-F238E27FC236}">
                  <a16:creationId xmlns:a16="http://schemas.microsoft.com/office/drawing/2014/main" id="{14482448-8AA5-DE94-BCD8-CEAFA1F5EFF1}"/>
                </a:ext>
              </a:extLst>
            </p:cNvPr>
            <p:cNvSpPr txBox="1">
              <a:spLocks noChangeArrowheads="1"/>
            </p:cNvSpPr>
            <p:nvPr/>
          </p:nvSpPr>
          <p:spPr bwMode="auto">
            <a:xfrm>
              <a:off x="218" y="1876"/>
              <a:ext cx="911"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6000" b="0">
                  <a:solidFill>
                    <a:srgbClr val="0000FF"/>
                  </a:solidFill>
                </a:rPr>
                <a:t>CH</a:t>
              </a:r>
              <a:r>
                <a:rPr kumimoji="1" lang="en-US" altLang="zh-CN" sz="3200" b="0">
                  <a:solidFill>
                    <a:srgbClr val="0000FF"/>
                  </a:solidFill>
                </a:rPr>
                <a:t>3</a:t>
              </a:r>
            </a:p>
          </p:txBody>
        </p:sp>
        <p:sp>
          <p:nvSpPr>
            <p:cNvPr id="7" name="Text Box 7">
              <a:extLst>
                <a:ext uri="{FF2B5EF4-FFF2-40B4-BE49-F238E27FC236}">
                  <a16:creationId xmlns:a16="http://schemas.microsoft.com/office/drawing/2014/main" id="{139DF528-828B-03F7-A23F-2251751F9CAE}"/>
                </a:ext>
              </a:extLst>
            </p:cNvPr>
            <p:cNvSpPr txBox="1">
              <a:spLocks noChangeArrowheads="1"/>
            </p:cNvSpPr>
            <p:nvPr/>
          </p:nvSpPr>
          <p:spPr bwMode="auto">
            <a:xfrm>
              <a:off x="4080" y="3343"/>
              <a:ext cx="983"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3600">
                  <a:solidFill>
                    <a:srgbClr val="0000FF"/>
                  </a:solidFill>
                </a:rPr>
                <a:t>丙氨酸</a:t>
              </a:r>
            </a:p>
          </p:txBody>
        </p:sp>
      </p:grpSp>
      <p:grpSp>
        <p:nvGrpSpPr>
          <p:cNvPr id="8" name="Group 8">
            <a:extLst>
              <a:ext uri="{FF2B5EF4-FFF2-40B4-BE49-F238E27FC236}">
                <a16:creationId xmlns:a16="http://schemas.microsoft.com/office/drawing/2014/main" id="{BBF37F6F-B1D7-5FC5-15B2-D0479F61EA6E}"/>
              </a:ext>
            </a:extLst>
          </p:cNvPr>
          <p:cNvGrpSpPr>
            <a:grpSpLocks/>
          </p:cNvGrpSpPr>
          <p:nvPr/>
        </p:nvGrpSpPr>
        <p:grpSpPr bwMode="auto">
          <a:xfrm>
            <a:off x="3019426" y="3468514"/>
            <a:ext cx="7223125" cy="3344862"/>
            <a:chOff x="350" y="1855"/>
            <a:chExt cx="4785" cy="2107"/>
          </a:xfrm>
        </p:grpSpPr>
        <p:sp>
          <p:nvSpPr>
            <p:cNvPr id="9" name="Text Box 9">
              <a:extLst>
                <a:ext uri="{FF2B5EF4-FFF2-40B4-BE49-F238E27FC236}">
                  <a16:creationId xmlns:a16="http://schemas.microsoft.com/office/drawing/2014/main" id="{7F821148-BCE5-1471-9AB6-AC776B02E68F}"/>
                </a:ext>
              </a:extLst>
            </p:cNvPr>
            <p:cNvSpPr txBox="1">
              <a:spLocks noChangeArrowheads="1"/>
            </p:cNvSpPr>
            <p:nvPr/>
          </p:nvSpPr>
          <p:spPr bwMode="auto">
            <a:xfrm>
              <a:off x="2495" y="3558"/>
              <a:ext cx="264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3600">
                  <a:solidFill>
                    <a:srgbClr val="FF0000"/>
                  </a:solidFill>
                </a:rPr>
                <a:t>L- </a:t>
              </a:r>
              <a:r>
                <a:rPr kumimoji="1" lang="en-US" altLang="zh-CN">
                  <a:solidFill>
                    <a:srgbClr val="FF0000"/>
                  </a:solidFill>
                </a:rPr>
                <a:t>α-</a:t>
              </a:r>
              <a:r>
                <a:rPr kumimoji="1" lang="zh-CN" altLang="en-US" sz="3600">
                  <a:solidFill>
                    <a:srgbClr val="FF0000"/>
                  </a:solidFill>
                </a:rPr>
                <a:t>氨基酸的通式</a:t>
              </a:r>
            </a:p>
          </p:txBody>
        </p:sp>
        <p:sp>
          <p:nvSpPr>
            <p:cNvPr id="10" name="Text Box 10">
              <a:extLst>
                <a:ext uri="{FF2B5EF4-FFF2-40B4-BE49-F238E27FC236}">
                  <a16:creationId xmlns:a16="http://schemas.microsoft.com/office/drawing/2014/main" id="{CA6086F7-71AB-6301-8F45-A0A369653F5D}"/>
                </a:ext>
              </a:extLst>
            </p:cNvPr>
            <p:cNvSpPr txBox="1">
              <a:spLocks noChangeArrowheads="1"/>
            </p:cNvSpPr>
            <p:nvPr/>
          </p:nvSpPr>
          <p:spPr bwMode="auto">
            <a:xfrm>
              <a:off x="350" y="1855"/>
              <a:ext cx="471" cy="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7200" b="0">
                  <a:solidFill>
                    <a:srgbClr val="FF0000"/>
                  </a:solidFill>
                </a:rPr>
                <a:t>R</a:t>
              </a:r>
            </a:p>
          </p:txBody>
        </p:sp>
      </p:grpSp>
      <p:graphicFrame>
        <p:nvGraphicFramePr>
          <p:cNvPr id="11" name="Object 11">
            <a:extLst>
              <a:ext uri="{FF2B5EF4-FFF2-40B4-BE49-F238E27FC236}">
                <a16:creationId xmlns:a16="http://schemas.microsoft.com/office/drawing/2014/main" id="{5D0D316D-9AA3-64E1-7B2C-7BA160C0D173}"/>
              </a:ext>
            </a:extLst>
          </p:cNvPr>
          <p:cNvGraphicFramePr>
            <a:graphicFrameLocks noChangeAspect="1"/>
          </p:cNvGraphicFramePr>
          <p:nvPr>
            <p:extLst>
              <p:ext uri="{D42A27DB-BD31-4B8C-83A1-F6EECF244321}">
                <p14:modId xmlns:p14="http://schemas.microsoft.com/office/powerpoint/2010/main" val="1034770320"/>
              </p:ext>
            </p:extLst>
          </p:nvPr>
        </p:nvGraphicFramePr>
        <p:xfrm>
          <a:off x="3432175" y="2220740"/>
          <a:ext cx="5759450" cy="4302125"/>
        </p:xfrm>
        <a:graphic>
          <a:graphicData uri="http://schemas.openxmlformats.org/presentationml/2006/ole">
            <mc:AlternateContent xmlns:mc="http://schemas.openxmlformats.org/markup-compatibility/2006">
              <mc:Choice xmlns:v="urn:schemas-microsoft-com:vml" Requires="v">
                <p:oleObj name="Document" r:id="rId3" imgW="2524125" imgH="1885950" progId="ChemWindow.Document">
                  <p:embed/>
                </p:oleObj>
              </mc:Choice>
              <mc:Fallback>
                <p:oleObj name="Document" r:id="rId3" imgW="2524125" imgH="1885950" progId="ChemWindow.Document">
                  <p:embed/>
                  <p:pic>
                    <p:nvPicPr>
                      <p:cNvPr id="53253" name="Object 11">
                        <a:extLst>
                          <a:ext uri="{FF2B5EF4-FFF2-40B4-BE49-F238E27FC236}">
                            <a16:creationId xmlns:a16="http://schemas.microsoft.com/office/drawing/2014/main" id="{090B2AF4-7859-4A13-88CE-913E2FF95C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2175" y="2220740"/>
                        <a:ext cx="5759450" cy="430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 name="Text Box 0">
            <a:extLst>
              <a:ext uri="{FF2B5EF4-FFF2-40B4-BE49-F238E27FC236}">
                <a16:creationId xmlns:a16="http://schemas.microsoft.com/office/drawing/2014/main" id="{DC1EA4DE-D712-D3BA-BE14-100CEFEF77A7}"/>
              </a:ext>
            </a:extLst>
          </p:cNvPr>
          <p:cNvSpPr txBox="1">
            <a:spLocks noChangeArrowheads="1"/>
          </p:cNvSpPr>
          <p:nvPr/>
        </p:nvSpPr>
        <p:spPr bwMode="auto">
          <a:xfrm>
            <a:off x="6019800" y="4533726"/>
            <a:ext cx="762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kumimoji="1" lang="en-US" altLang="zh-CN" sz="3200">
                <a:solidFill>
                  <a:srgbClr val="FF0000"/>
                </a:solidFill>
              </a:rPr>
              <a:t>α</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3">
            <a:extLst>
              <a:ext uri="{FF2B5EF4-FFF2-40B4-BE49-F238E27FC236}">
                <a16:creationId xmlns:a16="http://schemas.microsoft.com/office/drawing/2014/main" id="{2BDC2FE0-3A83-41BC-A481-442E11282BB1}"/>
              </a:ext>
            </a:extLst>
          </p:cNvPr>
          <p:cNvSpPr>
            <a:spLocks noGrp="1" noChangeArrowheads="1"/>
          </p:cNvSpPr>
          <p:nvPr>
            <p:ph type="title"/>
          </p:nvPr>
        </p:nvSpPr>
        <p:spPr>
          <a:xfrm>
            <a:off x="1543051" y="187326"/>
            <a:ext cx="7356475" cy="563563"/>
          </a:xfrm>
        </p:spPr>
        <p:txBody>
          <a:bodyPr/>
          <a:lstStyle/>
          <a:p>
            <a:r>
              <a:rPr lang="zh-CN" altLang="en-US" dirty="0"/>
              <a:t>构成蛋白质的氨基酸都是</a:t>
            </a:r>
            <a:r>
              <a:rPr lang="en-US" altLang="zh-CN" dirty="0"/>
              <a:t>L</a:t>
            </a:r>
            <a:r>
              <a:rPr lang="zh-CN" altLang="en-US" dirty="0"/>
              <a:t>构型</a:t>
            </a:r>
          </a:p>
        </p:txBody>
      </p:sp>
      <p:sp>
        <p:nvSpPr>
          <p:cNvPr id="55299" name="内容占位符 1">
            <a:extLst>
              <a:ext uri="{FF2B5EF4-FFF2-40B4-BE49-F238E27FC236}">
                <a16:creationId xmlns:a16="http://schemas.microsoft.com/office/drawing/2014/main" id="{A108A885-7654-48C0-9F0F-B9ECF5486F10}"/>
              </a:ext>
            </a:extLst>
          </p:cNvPr>
          <p:cNvSpPr>
            <a:spLocks noGrp="1" noChangeArrowheads="1"/>
          </p:cNvSpPr>
          <p:nvPr>
            <p:ph idx="1"/>
          </p:nvPr>
        </p:nvSpPr>
        <p:spPr>
          <a:xfrm>
            <a:off x="1692276" y="968376"/>
            <a:ext cx="8867775" cy="1008063"/>
          </a:xfrm>
        </p:spPr>
        <p:txBody>
          <a:bodyPr/>
          <a:lstStyle/>
          <a:p>
            <a:r>
              <a:rPr lang="zh-CN" altLang="en-US" b="1" dirty="0">
                <a:solidFill>
                  <a:srgbClr val="000000"/>
                </a:solidFill>
                <a:latin typeface="宋体" panose="02010600030101010101" pitchFamily="2" charset="-122"/>
                <a:ea typeface="宋体" panose="02010600030101010101" pitchFamily="2" charset="-122"/>
              </a:rPr>
              <a:t>与</a:t>
            </a:r>
            <a:r>
              <a:rPr lang="zh-CN" altLang="en-US" b="1" dirty="0">
                <a:solidFill>
                  <a:srgbClr val="0000CC"/>
                </a:solidFill>
                <a:latin typeface="宋体" panose="02010600030101010101" pitchFamily="2" charset="-122"/>
                <a:ea typeface="宋体" panose="02010600030101010101" pitchFamily="2" charset="-122"/>
              </a:rPr>
              <a:t>甘油醛</a:t>
            </a:r>
            <a:r>
              <a:rPr lang="zh-CN" altLang="en-US" b="1" dirty="0">
                <a:solidFill>
                  <a:srgbClr val="000000"/>
                </a:solidFill>
                <a:latin typeface="宋体" panose="02010600030101010101" pitchFamily="2" charset="-122"/>
                <a:ea typeface="宋体" panose="02010600030101010101" pitchFamily="2" charset="-122"/>
              </a:rPr>
              <a:t>比较，含</a:t>
            </a:r>
            <a:r>
              <a:rPr lang="en-US" altLang="zh-CN" b="1" dirty="0">
                <a:solidFill>
                  <a:srgbClr val="000000"/>
                </a:solidFill>
                <a:latin typeface="宋体" panose="02010600030101010101" pitchFamily="2" charset="-122"/>
                <a:ea typeface="宋体" panose="02010600030101010101" pitchFamily="2" charset="-122"/>
              </a:rPr>
              <a:t>C</a:t>
            </a:r>
            <a:r>
              <a:rPr lang="zh-CN" altLang="en-US" b="1" dirty="0">
                <a:solidFill>
                  <a:srgbClr val="000000"/>
                </a:solidFill>
                <a:latin typeface="宋体" panose="02010600030101010101" pitchFamily="2" charset="-122"/>
                <a:ea typeface="宋体" panose="02010600030101010101" pitchFamily="2" charset="-122"/>
              </a:rPr>
              <a:t>的基团放在纵轴上，</a:t>
            </a:r>
            <a:r>
              <a:rPr lang="en-US" altLang="zh-CN" b="1" dirty="0">
                <a:solidFill>
                  <a:srgbClr val="0000CC"/>
                </a:solidFill>
                <a:latin typeface="宋体" panose="02010600030101010101" pitchFamily="2" charset="-122"/>
                <a:ea typeface="宋体" panose="02010600030101010101" pitchFamily="2" charset="-122"/>
              </a:rPr>
              <a:t>-COOH</a:t>
            </a:r>
            <a:r>
              <a:rPr lang="zh-CN" altLang="en-US" b="1" dirty="0">
                <a:solidFill>
                  <a:srgbClr val="0000CC"/>
                </a:solidFill>
                <a:latin typeface="宋体" panose="02010600030101010101" pitchFamily="2" charset="-122"/>
                <a:ea typeface="宋体" panose="02010600030101010101" pitchFamily="2" charset="-122"/>
              </a:rPr>
              <a:t>在上</a:t>
            </a:r>
            <a:r>
              <a:rPr lang="zh-CN" altLang="en-US" b="1" dirty="0">
                <a:solidFill>
                  <a:srgbClr val="000000"/>
                </a:solidFill>
                <a:latin typeface="宋体" panose="02010600030101010101" pitchFamily="2" charset="-122"/>
                <a:ea typeface="宋体" panose="02010600030101010101" pitchFamily="2" charset="-122"/>
              </a:rPr>
              <a:t>，</a:t>
            </a:r>
            <a:r>
              <a:rPr lang="en-US" altLang="zh-CN" b="1" dirty="0">
                <a:solidFill>
                  <a:srgbClr val="C00000"/>
                </a:solidFill>
                <a:latin typeface="宋体" panose="02010600030101010101" pitchFamily="2" charset="-122"/>
                <a:ea typeface="宋体" panose="02010600030101010101" pitchFamily="2" charset="-122"/>
              </a:rPr>
              <a:t>H</a:t>
            </a:r>
            <a:r>
              <a:rPr lang="zh-CN" altLang="en-US" b="1" dirty="0">
                <a:solidFill>
                  <a:srgbClr val="C00000"/>
                </a:solidFill>
                <a:latin typeface="宋体" panose="02010600030101010101" pitchFamily="2" charset="-122"/>
                <a:ea typeface="宋体" panose="02010600030101010101" pitchFamily="2" charset="-122"/>
              </a:rPr>
              <a:t>在右侧为</a:t>
            </a:r>
            <a:r>
              <a:rPr lang="en-US" altLang="zh-CN" b="1" dirty="0">
                <a:solidFill>
                  <a:srgbClr val="C00000"/>
                </a:solidFill>
                <a:latin typeface="宋体" panose="02010600030101010101" pitchFamily="2" charset="-122"/>
                <a:ea typeface="宋体" panose="02010600030101010101" pitchFamily="2" charset="-122"/>
              </a:rPr>
              <a:t>L</a:t>
            </a:r>
            <a:r>
              <a:rPr lang="zh-CN" altLang="en-US" b="1" dirty="0">
                <a:solidFill>
                  <a:srgbClr val="C00000"/>
                </a:solidFill>
                <a:latin typeface="宋体" panose="02010600030101010101" pitchFamily="2" charset="-122"/>
                <a:ea typeface="宋体" panose="02010600030101010101" pitchFamily="2" charset="-122"/>
              </a:rPr>
              <a:t>型，</a:t>
            </a:r>
            <a:r>
              <a:rPr lang="en-US" altLang="zh-CN" b="1" dirty="0">
                <a:solidFill>
                  <a:srgbClr val="C00000"/>
                </a:solidFill>
                <a:latin typeface="宋体" panose="02010600030101010101" pitchFamily="2" charset="-122"/>
                <a:ea typeface="宋体" panose="02010600030101010101" pitchFamily="2" charset="-122"/>
              </a:rPr>
              <a:t>H</a:t>
            </a:r>
            <a:r>
              <a:rPr lang="zh-CN" altLang="en-US" b="1" dirty="0">
                <a:solidFill>
                  <a:srgbClr val="C00000"/>
                </a:solidFill>
                <a:latin typeface="宋体" panose="02010600030101010101" pitchFamily="2" charset="-122"/>
                <a:ea typeface="宋体" panose="02010600030101010101" pitchFamily="2" charset="-122"/>
              </a:rPr>
              <a:t>在左侧为</a:t>
            </a:r>
            <a:r>
              <a:rPr lang="en-US" altLang="zh-CN" b="1" dirty="0">
                <a:solidFill>
                  <a:srgbClr val="C00000"/>
                </a:solidFill>
                <a:latin typeface="宋体" panose="02010600030101010101" pitchFamily="2" charset="-122"/>
                <a:ea typeface="宋体" panose="02010600030101010101" pitchFamily="2" charset="-122"/>
              </a:rPr>
              <a:t>D</a:t>
            </a:r>
            <a:r>
              <a:rPr lang="zh-CN" altLang="en-US" b="1" dirty="0">
                <a:solidFill>
                  <a:srgbClr val="C00000"/>
                </a:solidFill>
                <a:latin typeface="宋体" panose="02010600030101010101" pitchFamily="2" charset="-122"/>
                <a:ea typeface="宋体" panose="02010600030101010101" pitchFamily="2" charset="-122"/>
              </a:rPr>
              <a:t>型</a:t>
            </a:r>
            <a:r>
              <a:rPr lang="zh-CN" altLang="en-US" b="1" dirty="0">
                <a:solidFill>
                  <a:srgbClr val="000000"/>
                </a:solidFill>
                <a:latin typeface="宋体" panose="02010600030101010101" pitchFamily="2" charset="-122"/>
                <a:ea typeface="宋体" panose="02010600030101010101" pitchFamily="2" charset="-122"/>
              </a:rPr>
              <a:t>。</a:t>
            </a:r>
          </a:p>
        </p:txBody>
      </p:sp>
      <p:pic>
        <p:nvPicPr>
          <p:cNvPr id="55300" name="图片 4">
            <a:extLst>
              <a:ext uri="{FF2B5EF4-FFF2-40B4-BE49-F238E27FC236}">
                <a16:creationId xmlns:a16="http://schemas.microsoft.com/office/drawing/2014/main" id="{50B54547-9A4D-4C92-AC0B-193004F47A3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75520" y="2060848"/>
            <a:ext cx="6059488" cy="433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DF572C00-4993-2C8B-5B57-14C2D76A6C47}"/>
              </a:ext>
            </a:extLst>
          </p:cNvPr>
          <p:cNvSpPr txBox="1"/>
          <p:nvPr/>
        </p:nvSpPr>
        <p:spPr>
          <a:xfrm>
            <a:off x="8472264" y="2841996"/>
            <a:ext cx="3384376" cy="1384995"/>
          </a:xfrm>
          <a:prstGeom prst="rect">
            <a:avLst/>
          </a:prstGeom>
          <a:noFill/>
        </p:spPr>
        <p:txBody>
          <a:bodyPr wrap="square">
            <a:spAutoFit/>
          </a:bodyPr>
          <a:lstStyle/>
          <a:p>
            <a:r>
              <a:rPr lang="zh-CN" altLang="en-US" sz="2800" dirty="0">
                <a:latin typeface="黑体" panose="02010609060101010101" pitchFamily="49" charset="-122"/>
                <a:ea typeface="黑体" panose="02010609060101010101" pitchFamily="49" charset="-122"/>
              </a:rPr>
              <a:t>旋光性上， ２０种氨基酸约一半左旋，一半右旋。 </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7346" name="内容占位符 2">
            <a:extLst>
              <a:ext uri="{FF2B5EF4-FFF2-40B4-BE49-F238E27FC236}">
                <a16:creationId xmlns:a16="http://schemas.microsoft.com/office/drawing/2014/main" id="{8F0EB766-6445-4EF8-A726-3874EC27DF3D}"/>
              </a:ext>
            </a:extLst>
          </p:cNvPr>
          <p:cNvSpPr>
            <a:spLocks noGrp="1" noChangeArrowheads="1"/>
          </p:cNvSpPr>
          <p:nvPr>
            <p:ph idx="1"/>
          </p:nvPr>
        </p:nvSpPr>
        <p:spPr>
          <a:xfrm>
            <a:off x="1631504" y="1700213"/>
            <a:ext cx="9001000" cy="4392612"/>
          </a:xfrm>
        </p:spPr>
        <p:txBody>
          <a:bodyPr/>
          <a:lstStyle/>
          <a:p>
            <a:r>
              <a:rPr lang="zh-CN" altLang="en-US" b="1" dirty="0">
                <a:latin typeface="微软雅黑" panose="020B0503020204020204" pitchFamily="34" charset="-122"/>
                <a:ea typeface="微软雅黑" panose="020B0503020204020204" pitchFamily="34" charset="-122"/>
              </a:rPr>
              <a:t>为什么蛋白质只选择</a:t>
            </a:r>
            <a:r>
              <a:rPr lang="en-US" altLang="zh-CN" b="1" dirty="0">
                <a:latin typeface="微软雅黑" panose="020B0503020204020204" pitchFamily="34" charset="-122"/>
                <a:ea typeface="微软雅黑" panose="020B0503020204020204" pitchFamily="34" charset="-122"/>
              </a:rPr>
              <a:t>L</a:t>
            </a:r>
            <a:r>
              <a:rPr lang="zh-CN" altLang="en-US" b="1" dirty="0">
                <a:latin typeface="微软雅黑" panose="020B0503020204020204" pitchFamily="34" charset="-122"/>
                <a:ea typeface="微软雅黑" panose="020B0503020204020204" pitchFamily="34" charset="-122"/>
              </a:rPr>
              <a:t>型氨基酸作为组成成分？ </a:t>
            </a:r>
            <a:endParaRPr lang="en-US" altLang="zh-CN" b="1" dirty="0">
              <a:latin typeface="微软雅黑" panose="020B0503020204020204" pitchFamily="34" charset="-122"/>
              <a:ea typeface="微软雅黑" panose="020B0503020204020204" pitchFamily="34" charset="-122"/>
            </a:endParaRPr>
          </a:p>
          <a:p>
            <a:pPr>
              <a:lnSpc>
                <a:spcPct val="120000"/>
              </a:lnSpc>
            </a:pPr>
            <a:r>
              <a:rPr lang="zh-CN" altLang="en-US" dirty="0">
                <a:latin typeface="微软雅黑" panose="020B0503020204020204" pitchFamily="34" charset="-122"/>
                <a:ea typeface="微软雅黑" panose="020B0503020204020204" pitchFamily="34" charset="-122"/>
              </a:rPr>
              <a:t>答：这可能与蛋白质的发生和进化相关，也与蛋白质合成相关的糖和核酸的发生和演化相关。地球生命的蛋白质合成体系只适合</a:t>
            </a:r>
            <a:r>
              <a:rPr lang="en-US" altLang="zh-CN" dirty="0">
                <a:latin typeface="微软雅黑" panose="020B0503020204020204" pitchFamily="34" charset="-122"/>
                <a:ea typeface="微软雅黑" panose="020B0503020204020204" pitchFamily="34" charset="-122"/>
              </a:rPr>
              <a:t>L</a:t>
            </a:r>
            <a:r>
              <a:rPr lang="zh-CN" altLang="en-US" dirty="0">
                <a:latin typeface="微软雅黑" panose="020B0503020204020204" pitchFamily="34" charset="-122"/>
                <a:ea typeface="微软雅黑" panose="020B0503020204020204" pitchFamily="34" charset="-122"/>
              </a:rPr>
              <a:t>型氨基酸。 </a:t>
            </a:r>
            <a:endParaRPr lang="en-US" altLang="zh-CN" dirty="0">
              <a:latin typeface="微软雅黑" panose="020B0503020204020204" pitchFamily="34" charset="-122"/>
              <a:ea typeface="微软雅黑" panose="020B0503020204020204" pitchFamily="34" charset="-122"/>
            </a:endParaRPr>
          </a:p>
          <a:p>
            <a:pPr>
              <a:lnSpc>
                <a:spcPct val="120000"/>
              </a:lnSpc>
            </a:pPr>
            <a:endParaRPr lang="en-US" altLang="zh-CN" dirty="0">
              <a:latin typeface="微软雅黑" panose="020B0503020204020204" pitchFamily="34" charset="-122"/>
              <a:ea typeface="微软雅黑" panose="020B0503020204020204" pitchFamily="34" charset="-122"/>
            </a:endParaRPr>
          </a:p>
          <a:p>
            <a:pPr>
              <a:lnSpc>
                <a:spcPct val="120000"/>
              </a:lnSpc>
            </a:pPr>
            <a:r>
              <a:rPr lang="zh-CN" altLang="en-US" dirty="0">
                <a:latin typeface="微软雅黑" panose="020B0503020204020204" pitchFamily="34" charset="-122"/>
                <a:ea typeface="微软雅黑" panose="020B0503020204020204" pitchFamily="34" charset="-122"/>
              </a:rPr>
              <a:t>如果将与氨基酸连接的</a:t>
            </a:r>
            <a:r>
              <a:rPr lang="en-US" altLang="zh-CN" dirty="0">
                <a:latin typeface="微软雅黑" panose="020B0503020204020204" pitchFamily="34" charset="-122"/>
                <a:ea typeface="微软雅黑" panose="020B0503020204020204" pitchFamily="34" charset="-122"/>
              </a:rPr>
              <a:t>tRNA</a:t>
            </a:r>
            <a:r>
              <a:rPr lang="zh-CN" altLang="en-US" dirty="0">
                <a:latin typeface="微软雅黑" panose="020B0503020204020204" pitchFamily="34" charset="-122"/>
                <a:ea typeface="微软雅黑" panose="020B0503020204020204" pitchFamily="34" charset="-122"/>
              </a:rPr>
              <a:t>上的</a:t>
            </a:r>
            <a:r>
              <a:rPr lang="en-US" altLang="zh-CN" dirty="0">
                <a:latin typeface="微软雅黑" panose="020B0503020204020204" pitchFamily="34" charset="-122"/>
                <a:ea typeface="微软雅黑" panose="020B0503020204020204" pitchFamily="34" charset="-122"/>
              </a:rPr>
              <a:t>D</a:t>
            </a:r>
            <a:r>
              <a:rPr lang="zh-CN" altLang="en-US" dirty="0">
                <a:latin typeface="微软雅黑" panose="020B0503020204020204" pitchFamily="34" charset="-122"/>
                <a:ea typeface="微软雅黑" panose="020B0503020204020204" pitchFamily="34" charset="-122"/>
              </a:rPr>
              <a:t>型核糖换成</a:t>
            </a:r>
            <a:r>
              <a:rPr lang="en-US" altLang="zh-CN" dirty="0">
                <a:latin typeface="微软雅黑" panose="020B0503020204020204" pitchFamily="34" charset="-122"/>
                <a:ea typeface="微软雅黑" panose="020B0503020204020204" pitchFamily="34" charset="-122"/>
              </a:rPr>
              <a:t>L</a:t>
            </a:r>
            <a:r>
              <a:rPr lang="zh-CN" altLang="en-US" dirty="0">
                <a:latin typeface="微软雅黑" panose="020B0503020204020204" pitchFamily="34" charset="-122"/>
                <a:ea typeface="微软雅黑" panose="020B0503020204020204" pitchFamily="34" charset="-122"/>
              </a:rPr>
              <a:t>型核糖，则可合成</a:t>
            </a:r>
            <a:r>
              <a:rPr lang="en-US" altLang="zh-CN" dirty="0">
                <a:latin typeface="微软雅黑" panose="020B0503020204020204" pitchFamily="34" charset="-122"/>
                <a:ea typeface="微软雅黑" panose="020B0503020204020204" pitchFamily="34" charset="-122"/>
              </a:rPr>
              <a:t>D</a:t>
            </a:r>
            <a:r>
              <a:rPr lang="zh-CN" altLang="en-US" dirty="0">
                <a:latin typeface="微软雅黑" panose="020B0503020204020204" pitchFamily="34" charset="-122"/>
                <a:ea typeface="微软雅黑" panose="020B0503020204020204" pitchFamily="34" charset="-122"/>
              </a:rPr>
              <a:t>型氨基酸的肽。 </a:t>
            </a:r>
          </a:p>
        </p:txBody>
      </p:sp>
    </p:spTree>
  </p:cSld>
  <p:clrMapOvr>
    <a:masterClrMapping/>
  </p:clrMapOvr>
  <p:transition spd="slow">
    <p:circl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a:extLst>
              <a:ext uri="{FF2B5EF4-FFF2-40B4-BE49-F238E27FC236}">
                <a16:creationId xmlns:a16="http://schemas.microsoft.com/office/drawing/2014/main" id="{8FC9ADD7-EE00-4D3F-87A6-5DA608FE5752}"/>
              </a:ext>
            </a:extLst>
          </p:cNvPr>
          <p:cNvSpPr txBox="1">
            <a:spLocks noChangeArrowheads="1"/>
          </p:cNvSpPr>
          <p:nvPr/>
        </p:nvSpPr>
        <p:spPr bwMode="auto">
          <a:xfrm>
            <a:off x="3432175" y="2154238"/>
            <a:ext cx="5545138"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457200" indent="-457200">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AutoNum type="arabicPeriod"/>
            </a:pPr>
            <a:r>
              <a:rPr kumimoji="1" lang="zh-CN" altLang="en-US" sz="3200">
                <a:solidFill>
                  <a:schemeClr val="tx1"/>
                </a:solidFill>
              </a:rPr>
              <a:t>非极性脂肪族氨基酸   </a:t>
            </a:r>
            <a:r>
              <a:rPr kumimoji="1" lang="en-US" altLang="zh-CN" sz="3200">
                <a:solidFill>
                  <a:srgbClr val="0000CC"/>
                </a:solidFill>
              </a:rPr>
              <a:t>(7</a:t>
            </a:r>
            <a:r>
              <a:rPr kumimoji="1" lang="zh-CN" altLang="en-US" sz="3200">
                <a:solidFill>
                  <a:srgbClr val="0000CC"/>
                </a:solidFill>
              </a:rPr>
              <a:t>种</a:t>
            </a:r>
            <a:r>
              <a:rPr kumimoji="1" lang="en-US" altLang="zh-CN" sz="3200">
                <a:solidFill>
                  <a:srgbClr val="0000CC"/>
                </a:solidFill>
              </a:rPr>
              <a:t>)</a:t>
            </a:r>
          </a:p>
          <a:p>
            <a:pPr eaLnBrk="1" hangingPunct="1">
              <a:spcBef>
                <a:spcPct val="50000"/>
              </a:spcBef>
              <a:buClrTx/>
              <a:buFontTx/>
              <a:buAutoNum type="arabicPeriod"/>
            </a:pPr>
            <a:r>
              <a:rPr kumimoji="1" lang="zh-CN" altLang="en-US" sz="3200">
                <a:solidFill>
                  <a:schemeClr val="tx1"/>
                </a:solidFill>
              </a:rPr>
              <a:t>极性中性氨基酸           </a:t>
            </a:r>
            <a:r>
              <a:rPr kumimoji="1" lang="en-US" altLang="zh-CN" sz="3200">
                <a:solidFill>
                  <a:srgbClr val="0000CC"/>
                </a:solidFill>
              </a:rPr>
              <a:t>(5</a:t>
            </a:r>
            <a:r>
              <a:rPr kumimoji="1" lang="zh-CN" altLang="en-US" sz="3200">
                <a:solidFill>
                  <a:srgbClr val="0000CC"/>
                </a:solidFill>
              </a:rPr>
              <a:t>种</a:t>
            </a:r>
            <a:r>
              <a:rPr kumimoji="1" lang="en-US" altLang="zh-CN" sz="3200">
                <a:solidFill>
                  <a:srgbClr val="0000CC"/>
                </a:solidFill>
              </a:rPr>
              <a:t>)</a:t>
            </a:r>
          </a:p>
          <a:p>
            <a:pPr eaLnBrk="1" hangingPunct="1">
              <a:spcBef>
                <a:spcPct val="50000"/>
              </a:spcBef>
              <a:buClrTx/>
              <a:buFontTx/>
              <a:buAutoNum type="arabicPeriod"/>
            </a:pPr>
            <a:r>
              <a:rPr kumimoji="1" lang="zh-CN" altLang="en-US" sz="3200">
                <a:solidFill>
                  <a:schemeClr val="tx1"/>
                </a:solidFill>
                <a:latin typeface="Arial" panose="020B0604020202020204" pitchFamily="34" charset="0"/>
              </a:rPr>
              <a:t>芳香族氨基酸             </a:t>
            </a:r>
            <a:r>
              <a:rPr kumimoji="1" lang="en-US" altLang="zh-CN" sz="3200">
                <a:solidFill>
                  <a:srgbClr val="0000CC"/>
                </a:solidFill>
              </a:rPr>
              <a:t>(3</a:t>
            </a:r>
            <a:r>
              <a:rPr kumimoji="1" lang="zh-CN" altLang="en-US" sz="3200">
                <a:solidFill>
                  <a:srgbClr val="0000CC"/>
                </a:solidFill>
              </a:rPr>
              <a:t>种</a:t>
            </a:r>
            <a:r>
              <a:rPr kumimoji="1" lang="en-US" altLang="zh-CN" sz="3200">
                <a:solidFill>
                  <a:srgbClr val="0000CC"/>
                </a:solidFill>
              </a:rPr>
              <a:t>)</a:t>
            </a:r>
            <a:endParaRPr kumimoji="1" lang="en-US" altLang="zh-CN" sz="4800">
              <a:solidFill>
                <a:srgbClr val="0000CC"/>
              </a:solidFill>
            </a:endParaRPr>
          </a:p>
          <a:p>
            <a:pPr eaLnBrk="1" hangingPunct="1">
              <a:spcBef>
                <a:spcPct val="50000"/>
              </a:spcBef>
              <a:buClrTx/>
              <a:buFontTx/>
              <a:buAutoNum type="arabicPeriod"/>
            </a:pPr>
            <a:r>
              <a:rPr kumimoji="1" lang="zh-CN" altLang="en-US" sz="3200">
                <a:solidFill>
                  <a:schemeClr val="tx1"/>
                </a:solidFill>
              </a:rPr>
              <a:t>酸性氨基酸                   </a:t>
            </a:r>
            <a:r>
              <a:rPr kumimoji="1" lang="en-US" altLang="zh-CN" sz="3200">
                <a:solidFill>
                  <a:srgbClr val="0000CC"/>
                </a:solidFill>
              </a:rPr>
              <a:t>(2</a:t>
            </a:r>
            <a:r>
              <a:rPr kumimoji="1" lang="zh-CN" altLang="en-US" sz="3200">
                <a:solidFill>
                  <a:srgbClr val="0000CC"/>
                </a:solidFill>
              </a:rPr>
              <a:t>种</a:t>
            </a:r>
            <a:r>
              <a:rPr kumimoji="1" lang="en-US" altLang="zh-CN" sz="3200">
                <a:solidFill>
                  <a:srgbClr val="0000CC"/>
                </a:solidFill>
              </a:rPr>
              <a:t>)</a:t>
            </a:r>
          </a:p>
          <a:p>
            <a:pPr eaLnBrk="1" hangingPunct="1">
              <a:spcBef>
                <a:spcPct val="50000"/>
              </a:spcBef>
              <a:buClrTx/>
              <a:buFontTx/>
              <a:buAutoNum type="arabicPeriod"/>
            </a:pPr>
            <a:r>
              <a:rPr kumimoji="1" lang="zh-CN" altLang="en-US" sz="3200">
                <a:solidFill>
                  <a:schemeClr val="tx1"/>
                </a:solidFill>
              </a:rPr>
              <a:t>碱性氨基酸                   </a:t>
            </a:r>
            <a:r>
              <a:rPr kumimoji="1" lang="en-US" altLang="zh-CN" sz="3200">
                <a:solidFill>
                  <a:srgbClr val="0000CC"/>
                </a:solidFill>
              </a:rPr>
              <a:t>(3</a:t>
            </a:r>
            <a:r>
              <a:rPr kumimoji="1" lang="zh-CN" altLang="en-US" sz="3200">
                <a:solidFill>
                  <a:srgbClr val="0000CC"/>
                </a:solidFill>
              </a:rPr>
              <a:t>种</a:t>
            </a:r>
            <a:r>
              <a:rPr kumimoji="1" lang="en-US" altLang="zh-CN" sz="3200">
                <a:solidFill>
                  <a:srgbClr val="0000CC"/>
                </a:solidFill>
              </a:rPr>
              <a:t>)</a:t>
            </a:r>
          </a:p>
        </p:txBody>
      </p:sp>
      <p:sp>
        <p:nvSpPr>
          <p:cNvPr id="59395" name="Text Box 3">
            <a:extLst>
              <a:ext uri="{FF2B5EF4-FFF2-40B4-BE49-F238E27FC236}">
                <a16:creationId xmlns:a16="http://schemas.microsoft.com/office/drawing/2014/main" id="{F4D5ACF9-C89A-476E-BB56-4970E02FFFCA}"/>
              </a:ext>
            </a:extLst>
          </p:cNvPr>
          <p:cNvSpPr txBox="1">
            <a:spLocks noChangeArrowheads="1"/>
          </p:cNvSpPr>
          <p:nvPr/>
        </p:nvSpPr>
        <p:spPr bwMode="auto">
          <a:xfrm>
            <a:off x="1992313" y="1125538"/>
            <a:ext cx="842486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kumimoji="1" lang="zh-CN" altLang="en-US" sz="3600" dirty="0">
                <a:solidFill>
                  <a:srgbClr val="FF0000"/>
                </a:solidFill>
              </a:rPr>
              <a:t>三、氨基酸的分类</a:t>
            </a:r>
            <a:r>
              <a:rPr kumimoji="1" lang="zh-CN" altLang="en-US" sz="3200" dirty="0">
                <a:solidFill>
                  <a:srgbClr val="FF0000"/>
                </a:solidFill>
              </a:rPr>
              <a:t>（依侧链的极性及电荷）</a:t>
            </a:r>
            <a:endParaRPr kumimoji="1" lang="zh-CN" altLang="en-US" sz="3200" b="0" dirty="0">
              <a:solidFill>
                <a:srgbClr val="FF0000"/>
              </a:solidFill>
            </a:endParaRPr>
          </a:p>
        </p:txBody>
      </p:sp>
    </p:spTree>
  </p:cSld>
  <p:clrMapOvr>
    <a:masterClrMapping/>
  </p:clrMapOvr>
  <p:transition spd="slow">
    <p:circl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Text Box 3">
            <a:extLst>
              <a:ext uri="{FF2B5EF4-FFF2-40B4-BE49-F238E27FC236}">
                <a16:creationId xmlns:a16="http://schemas.microsoft.com/office/drawing/2014/main" id="{F96B562D-0057-4615-9122-FDEC86586114}"/>
              </a:ext>
            </a:extLst>
          </p:cNvPr>
          <p:cNvSpPr txBox="1">
            <a:spLocks noChangeArrowheads="1"/>
          </p:cNvSpPr>
          <p:nvPr/>
        </p:nvSpPr>
        <p:spPr bwMode="auto">
          <a:xfrm>
            <a:off x="1668464" y="188913"/>
            <a:ext cx="899953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801688" indent="-800100">
              <a:spcBef>
                <a:spcPct val="20000"/>
              </a:spcBef>
              <a:buClr>
                <a:schemeClr val="hlink"/>
              </a:buClr>
              <a:buFont typeface="Wingdings" panose="05000000000000000000" pitchFamily="2" charset="2"/>
              <a:buChar char="v"/>
              <a:tabLst>
                <a:tab pos="714375" algn="l"/>
              </a:tabLst>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tabLst>
                <a:tab pos="714375" algn="l"/>
              </a:tabLst>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tabLst>
                <a:tab pos="714375" algn="l"/>
              </a:tabLst>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tabLst>
                <a:tab pos="714375" algn="l"/>
              </a:tabLst>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tabLst>
                <a:tab pos="714375" algn="l"/>
              </a:tabLst>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tabLst>
                <a:tab pos="714375" algn="l"/>
              </a:tabLst>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tabLst>
                <a:tab pos="714375" algn="l"/>
              </a:tabLst>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tabLst>
                <a:tab pos="714375" algn="l"/>
              </a:tabLst>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tabLst>
                <a:tab pos="714375" algn="l"/>
              </a:tabLst>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05000"/>
              </a:lnSpc>
              <a:spcBef>
                <a:spcPct val="50000"/>
              </a:spcBef>
              <a:buClrTx/>
              <a:buFontTx/>
              <a:buNone/>
            </a:pPr>
            <a:r>
              <a:rPr kumimoji="1" lang="en-US" altLang="zh-CN" sz="3600">
                <a:solidFill>
                  <a:schemeClr val="bg1"/>
                </a:solidFill>
                <a:latin typeface="黑体" panose="02010609060101010101" pitchFamily="49" charset="-122"/>
              </a:rPr>
              <a:t> 1. </a:t>
            </a:r>
            <a:r>
              <a:rPr kumimoji="1" lang="zh-CN" altLang="en-US" sz="3600">
                <a:solidFill>
                  <a:schemeClr val="bg1"/>
                </a:solidFill>
                <a:latin typeface="黑体" panose="02010609060101010101" pitchFamily="49" charset="-122"/>
              </a:rPr>
              <a:t>非极性脂肪族氨基酸</a:t>
            </a:r>
            <a:endParaRPr kumimoji="1" lang="zh-CN" altLang="en-US" sz="3600">
              <a:solidFill>
                <a:srgbClr val="FFFF00"/>
              </a:solidFill>
              <a:latin typeface="黑体" panose="02010609060101010101" pitchFamily="49" charset="-122"/>
            </a:endParaRPr>
          </a:p>
        </p:txBody>
      </p:sp>
      <p:grpSp>
        <p:nvGrpSpPr>
          <p:cNvPr id="2" name="组合 1">
            <a:extLst>
              <a:ext uri="{FF2B5EF4-FFF2-40B4-BE49-F238E27FC236}">
                <a16:creationId xmlns:a16="http://schemas.microsoft.com/office/drawing/2014/main" id="{2869C0FD-ABB9-1424-1C13-4CBD1142E67D}"/>
              </a:ext>
            </a:extLst>
          </p:cNvPr>
          <p:cNvGrpSpPr/>
          <p:nvPr/>
        </p:nvGrpSpPr>
        <p:grpSpPr>
          <a:xfrm>
            <a:off x="1991544" y="953783"/>
            <a:ext cx="8065444" cy="5616574"/>
            <a:chOff x="1991370" y="981076"/>
            <a:chExt cx="8065444" cy="5616574"/>
          </a:xfrm>
        </p:grpSpPr>
        <p:pic>
          <p:nvPicPr>
            <p:cNvPr id="61442" name="Picture 2" descr="氨基酸分类－非极性">
              <a:extLst>
                <a:ext uri="{FF2B5EF4-FFF2-40B4-BE49-F238E27FC236}">
                  <a16:creationId xmlns:a16="http://schemas.microsoft.com/office/drawing/2014/main" id="{8594B6A5-8D7B-4615-9530-A387A4392C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1370" y="981076"/>
              <a:ext cx="7993062" cy="490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4" name="Picture 3" descr="氨基酸分类－极性中性">
              <a:extLst>
                <a:ext uri="{FF2B5EF4-FFF2-40B4-BE49-F238E27FC236}">
                  <a16:creationId xmlns:a16="http://schemas.microsoft.com/office/drawing/2014/main" id="{6C29BFD3-2558-4A1B-84B7-56DBA716D2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41438" b="47133"/>
            <a:stretch>
              <a:fillRect/>
            </a:stretch>
          </p:blipFill>
          <p:spPr bwMode="auto">
            <a:xfrm>
              <a:off x="2184401" y="5907088"/>
              <a:ext cx="7872413"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文本框 2">
            <a:extLst>
              <a:ext uri="{FF2B5EF4-FFF2-40B4-BE49-F238E27FC236}">
                <a16:creationId xmlns:a16="http://schemas.microsoft.com/office/drawing/2014/main" id="{40071343-5EDD-EEBF-A2D8-F8D0C5D21366}"/>
              </a:ext>
            </a:extLst>
          </p:cNvPr>
          <p:cNvSpPr txBox="1"/>
          <p:nvPr/>
        </p:nvSpPr>
        <p:spPr>
          <a:xfrm>
            <a:off x="4727848" y="6358573"/>
            <a:ext cx="1655810" cy="461665"/>
          </a:xfrm>
          <a:prstGeom prst="rect">
            <a:avLst/>
          </a:prstGeom>
          <a:noFill/>
        </p:spPr>
        <p:txBody>
          <a:bodyPr wrap="square" rtlCol="0">
            <a:spAutoFit/>
          </a:bodyPr>
          <a:lstStyle/>
          <a:p>
            <a:r>
              <a:rPr lang="zh-CN" altLang="en-US" sz="2400" b="1" dirty="0">
                <a:solidFill>
                  <a:srgbClr val="000000"/>
                </a:solidFill>
                <a:latin typeface="楷体" panose="02010609060101010101" pitchFamily="49" charset="-122"/>
                <a:ea typeface="楷体" panose="02010609060101010101" pitchFamily="49" charset="-122"/>
              </a:rPr>
              <a:t>甲硫氨酸</a:t>
            </a:r>
          </a:p>
        </p:txBody>
      </p:sp>
    </p:spTree>
  </p:cSld>
  <p:clrMapOvr>
    <a:masterClrMapping/>
  </p:clrMapOvr>
  <p:transition spd="slow">
    <p:circl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a:extLst>
              <a:ext uri="{FF2B5EF4-FFF2-40B4-BE49-F238E27FC236}">
                <a16:creationId xmlns:a16="http://schemas.microsoft.com/office/drawing/2014/main" id="{AA0BA5A8-4A96-47D1-BD89-8E8B1A1AE3AD}"/>
              </a:ext>
            </a:extLst>
          </p:cNvPr>
          <p:cNvSpPr txBox="1">
            <a:spLocks noChangeArrowheads="1"/>
          </p:cNvSpPr>
          <p:nvPr/>
        </p:nvSpPr>
        <p:spPr bwMode="auto">
          <a:xfrm>
            <a:off x="1631950" y="188914"/>
            <a:ext cx="82438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type="none" w="sm" len="sm"/>
                <a:tailEnd type="none" w="sm" len="sm"/>
              </a14:hiddenLine>
            </a:ext>
          </a:extLst>
        </p:spPr>
        <p:txBody>
          <a:bodyPr>
            <a:spAutoFit/>
          </a:bodyPr>
          <a:lstStyle>
            <a:lvl1pPr marL="801688" indent="-800100">
              <a:spcBef>
                <a:spcPct val="20000"/>
              </a:spcBef>
              <a:buClr>
                <a:schemeClr val="hlink"/>
              </a:buClr>
              <a:buFont typeface="Wingdings" panose="05000000000000000000" pitchFamily="2" charset="2"/>
              <a:buChar char="v"/>
              <a:tabLst>
                <a:tab pos="714375" algn="l"/>
              </a:tabLst>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tabLst>
                <a:tab pos="714375" algn="l"/>
              </a:tabLst>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tabLst>
                <a:tab pos="714375" algn="l"/>
              </a:tabLst>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tabLst>
                <a:tab pos="714375" algn="l"/>
              </a:tabLst>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tabLst>
                <a:tab pos="714375" algn="l"/>
              </a:tabLst>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tabLst>
                <a:tab pos="714375" algn="l"/>
              </a:tabLst>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tabLst>
                <a:tab pos="714375" algn="l"/>
              </a:tabLst>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tabLst>
                <a:tab pos="714375" algn="l"/>
              </a:tabLst>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tabLst>
                <a:tab pos="714375" algn="l"/>
              </a:tabLst>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05000"/>
              </a:lnSpc>
              <a:spcBef>
                <a:spcPct val="50000"/>
              </a:spcBef>
              <a:buClrTx/>
              <a:buFontTx/>
              <a:buNone/>
            </a:pPr>
            <a:r>
              <a:rPr kumimoji="1" lang="en-US" altLang="zh-CN" sz="3600">
                <a:solidFill>
                  <a:schemeClr val="bg1"/>
                </a:solidFill>
                <a:latin typeface="黑体" panose="02010609060101010101" pitchFamily="49" charset="-122"/>
              </a:rPr>
              <a:t> 2. </a:t>
            </a:r>
            <a:r>
              <a:rPr kumimoji="1" lang="zh-CN" altLang="en-US" sz="3600">
                <a:solidFill>
                  <a:schemeClr val="bg1"/>
                </a:solidFill>
                <a:latin typeface="黑体" panose="02010609060101010101" pitchFamily="49" charset="-122"/>
              </a:rPr>
              <a:t>极性中性氨基酸       </a:t>
            </a:r>
          </a:p>
        </p:txBody>
      </p:sp>
      <p:pic>
        <p:nvPicPr>
          <p:cNvPr id="63491" name="Picture 3" descr="氨基酸分类－极性中性">
            <a:extLst>
              <a:ext uri="{FF2B5EF4-FFF2-40B4-BE49-F238E27FC236}">
                <a16:creationId xmlns:a16="http://schemas.microsoft.com/office/drawing/2014/main" id="{A98189BA-72EB-46D3-9C41-0CEDEB52A2C7}"/>
              </a:ext>
            </a:extLst>
          </p:cNvPr>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b="59998"/>
          <a:stretch>
            <a:fillRect/>
          </a:stretch>
        </p:blipFill>
        <p:spPr>
          <a:xfrm>
            <a:off x="2286000" y="1196976"/>
            <a:ext cx="8382000" cy="2200275"/>
          </a:xfrm>
        </p:spPr>
      </p:pic>
      <p:pic>
        <p:nvPicPr>
          <p:cNvPr id="63492" name="Picture 3" descr="氨基酸分类－极性中性">
            <a:extLst>
              <a:ext uri="{FF2B5EF4-FFF2-40B4-BE49-F238E27FC236}">
                <a16:creationId xmlns:a16="http://schemas.microsoft.com/office/drawing/2014/main" id="{30F2971F-7601-40D3-AA26-9A321DF62A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2859" b="17368"/>
          <a:stretch>
            <a:fillRect/>
          </a:stretch>
        </p:blipFill>
        <p:spPr bwMode="auto">
          <a:xfrm>
            <a:off x="2098676" y="4327526"/>
            <a:ext cx="8577263" cy="169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3" name="Picture 3" descr="氨基酸分类－极性中性">
            <a:extLst>
              <a:ext uri="{FF2B5EF4-FFF2-40B4-BE49-F238E27FC236}">
                <a16:creationId xmlns:a16="http://schemas.microsoft.com/office/drawing/2014/main" id="{DB4A1DA6-55A5-4BD2-A7E8-5803AE4966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83289" b="-2"/>
          <a:stretch>
            <a:fillRect/>
          </a:stretch>
        </p:blipFill>
        <p:spPr bwMode="auto">
          <a:xfrm>
            <a:off x="2260600" y="3419476"/>
            <a:ext cx="8407400" cy="96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538" name="Group 13">
            <a:extLst>
              <a:ext uri="{FF2B5EF4-FFF2-40B4-BE49-F238E27FC236}">
                <a16:creationId xmlns:a16="http://schemas.microsoft.com/office/drawing/2014/main" id="{BDF526A1-DE8D-439E-B052-C18E2C2F0D6C}"/>
              </a:ext>
            </a:extLst>
          </p:cNvPr>
          <p:cNvGrpSpPr>
            <a:grpSpLocks/>
          </p:cNvGrpSpPr>
          <p:nvPr/>
        </p:nvGrpSpPr>
        <p:grpSpPr bwMode="auto">
          <a:xfrm>
            <a:off x="1847850" y="1557338"/>
            <a:ext cx="8243888" cy="4248150"/>
            <a:chOff x="204" y="981"/>
            <a:chExt cx="5193" cy="2676"/>
          </a:xfrm>
        </p:grpSpPr>
        <p:pic>
          <p:nvPicPr>
            <p:cNvPr id="65551" name="Picture 3" descr="氨基酸分类－芳香族">
              <a:extLst>
                <a:ext uri="{FF2B5EF4-FFF2-40B4-BE49-F238E27FC236}">
                  <a16:creationId xmlns:a16="http://schemas.microsoft.com/office/drawing/2014/main" id="{14F7672B-2449-4907-94F0-DFFA342AA1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 y="981"/>
              <a:ext cx="5193" cy="2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52" name="Rectangle 11">
              <a:extLst>
                <a:ext uri="{FF2B5EF4-FFF2-40B4-BE49-F238E27FC236}">
                  <a16:creationId xmlns:a16="http://schemas.microsoft.com/office/drawing/2014/main" id="{1761B524-E53E-47A3-936E-349C31329ADD}"/>
                </a:ext>
              </a:extLst>
            </p:cNvPr>
            <p:cNvSpPr>
              <a:spLocks noChangeArrowheads="1"/>
            </p:cNvSpPr>
            <p:nvPr/>
          </p:nvSpPr>
          <p:spPr bwMode="auto">
            <a:xfrm>
              <a:off x="657" y="2160"/>
              <a:ext cx="363" cy="18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grpSp>
      <p:sp>
        <p:nvSpPr>
          <p:cNvPr id="65539" name="Text Box 2">
            <a:extLst>
              <a:ext uri="{FF2B5EF4-FFF2-40B4-BE49-F238E27FC236}">
                <a16:creationId xmlns:a16="http://schemas.microsoft.com/office/drawing/2014/main" id="{28B48A73-A8E2-4DE0-A586-B7B3CA97E8A9}"/>
              </a:ext>
            </a:extLst>
          </p:cNvPr>
          <p:cNvSpPr txBox="1">
            <a:spLocks noChangeArrowheads="1"/>
          </p:cNvSpPr>
          <p:nvPr/>
        </p:nvSpPr>
        <p:spPr bwMode="auto">
          <a:xfrm>
            <a:off x="1703388" y="134938"/>
            <a:ext cx="8640762" cy="68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444500" indent="-442913">
              <a:spcBef>
                <a:spcPct val="20000"/>
              </a:spcBef>
              <a:buClr>
                <a:schemeClr val="hlink"/>
              </a:buClr>
              <a:buFont typeface="Wingdings" panose="05000000000000000000" pitchFamily="2" charset="2"/>
              <a:buChar char="v"/>
              <a:tabLst>
                <a:tab pos="714375" algn="l"/>
              </a:tabLst>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tabLst>
                <a:tab pos="714375" algn="l"/>
              </a:tabLst>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tabLst>
                <a:tab pos="714375" algn="l"/>
              </a:tabLst>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tabLst>
                <a:tab pos="714375" algn="l"/>
              </a:tabLst>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tabLst>
                <a:tab pos="714375" algn="l"/>
              </a:tabLst>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tabLst>
                <a:tab pos="714375" algn="l"/>
              </a:tabLst>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tabLst>
                <a:tab pos="714375" algn="l"/>
              </a:tabLst>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tabLst>
                <a:tab pos="714375" algn="l"/>
              </a:tabLst>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tabLst>
                <a:tab pos="714375" algn="l"/>
              </a:tabLst>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5000"/>
              </a:lnSpc>
              <a:spcBef>
                <a:spcPct val="50000"/>
              </a:spcBef>
              <a:buClrTx/>
              <a:buFontTx/>
              <a:buNone/>
            </a:pPr>
            <a:r>
              <a:rPr kumimoji="1" lang="en-US" altLang="zh-CN" sz="3600">
                <a:solidFill>
                  <a:schemeClr val="bg1"/>
                </a:solidFill>
                <a:latin typeface="黑体" panose="02010609060101010101" pitchFamily="49" charset="-122"/>
              </a:rPr>
              <a:t>3. </a:t>
            </a:r>
            <a:r>
              <a:rPr kumimoji="1" lang="zh-CN" altLang="en-US" sz="3600">
                <a:solidFill>
                  <a:schemeClr val="bg1"/>
                </a:solidFill>
                <a:latin typeface="黑体" panose="02010609060101010101" pitchFamily="49" charset="-122"/>
              </a:rPr>
              <a:t>芳香族氨基酸</a:t>
            </a:r>
          </a:p>
        </p:txBody>
      </p:sp>
      <p:grpSp>
        <p:nvGrpSpPr>
          <p:cNvPr id="3" name="Group 17">
            <a:extLst>
              <a:ext uri="{FF2B5EF4-FFF2-40B4-BE49-F238E27FC236}">
                <a16:creationId xmlns:a16="http://schemas.microsoft.com/office/drawing/2014/main" id="{9B1BF660-3EBA-4604-B481-A5262E828F34}"/>
              </a:ext>
            </a:extLst>
          </p:cNvPr>
          <p:cNvGrpSpPr>
            <a:grpSpLocks/>
          </p:cNvGrpSpPr>
          <p:nvPr/>
        </p:nvGrpSpPr>
        <p:grpSpPr bwMode="auto">
          <a:xfrm>
            <a:off x="1992313" y="2205038"/>
            <a:ext cx="863600" cy="863600"/>
            <a:chOff x="295" y="1389"/>
            <a:chExt cx="544" cy="544"/>
          </a:xfrm>
        </p:grpSpPr>
        <p:sp>
          <p:nvSpPr>
            <p:cNvPr id="65549" name="Rectangle 5">
              <a:extLst>
                <a:ext uri="{FF2B5EF4-FFF2-40B4-BE49-F238E27FC236}">
                  <a16:creationId xmlns:a16="http://schemas.microsoft.com/office/drawing/2014/main" id="{3E7FD4E7-4E3F-4FB7-9889-FBBAADFBECB4}"/>
                </a:ext>
              </a:extLst>
            </p:cNvPr>
            <p:cNvSpPr>
              <a:spLocks noChangeArrowheads="1"/>
            </p:cNvSpPr>
            <p:nvPr/>
          </p:nvSpPr>
          <p:spPr bwMode="auto">
            <a:xfrm>
              <a:off x="295" y="1389"/>
              <a:ext cx="4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000">
                  <a:solidFill>
                    <a:schemeClr val="tx1"/>
                  </a:solidFill>
                  <a:ea typeface="楷体_GB2312" pitchFamily="49" charset="-122"/>
                </a:rPr>
                <a:t>苯基</a:t>
              </a:r>
            </a:p>
          </p:txBody>
        </p:sp>
        <p:sp>
          <p:nvSpPr>
            <p:cNvPr id="65550" name="Rectangle 8">
              <a:extLst>
                <a:ext uri="{FF2B5EF4-FFF2-40B4-BE49-F238E27FC236}">
                  <a16:creationId xmlns:a16="http://schemas.microsoft.com/office/drawing/2014/main" id="{166B43A6-572D-4CA2-8933-1ACB708E4E89}"/>
                </a:ext>
              </a:extLst>
            </p:cNvPr>
            <p:cNvSpPr>
              <a:spLocks noChangeArrowheads="1"/>
            </p:cNvSpPr>
            <p:nvPr/>
          </p:nvSpPr>
          <p:spPr bwMode="auto">
            <a:xfrm>
              <a:off x="295" y="1389"/>
              <a:ext cx="544" cy="544"/>
            </a:xfrm>
            <a:prstGeom prst="rect">
              <a:avLst/>
            </a:prstGeom>
            <a:noFill/>
            <a:ln w="38100">
              <a:solidFill>
                <a:srgbClr val="0066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grpSp>
      <p:grpSp>
        <p:nvGrpSpPr>
          <p:cNvPr id="4" name="Group 14">
            <a:extLst>
              <a:ext uri="{FF2B5EF4-FFF2-40B4-BE49-F238E27FC236}">
                <a16:creationId xmlns:a16="http://schemas.microsoft.com/office/drawing/2014/main" id="{5A9F01C7-F803-4A09-AF89-D254442FE522}"/>
              </a:ext>
            </a:extLst>
          </p:cNvPr>
          <p:cNvGrpSpPr>
            <a:grpSpLocks/>
          </p:cNvGrpSpPr>
          <p:nvPr/>
        </p:nvGrpSpPr>
        <p:grpSpPr bwMode="auto">
          <a:xfrm>
            <a:off x="1992314" y="3357563"/>
            <a:ext cx="892175" cy="1223962"/>
            <a:chOff x="295" y="2115"/>
            <a:chExt cx="562" cy="771"/>
          </a:xfrm>
        </p:grpSpPr>
        <p:sp>
          <p:nvSpPr>
            <p:cNvPr id="65547" name="Rectangle 7">
              <a:extLst>
                <a:ext uri="{FF2B5EF4-FFF2-40B4-BE49-F238E27FC236}">
                  <a16:creationId xmlns:a16="http://schemas.microsoft.com/office/drawing/2014/main" id="{8FF26588-2FC3-4204-AA8C-5A6482A87D93}"/>
                </a:ext>
              </a:extLst>
            </p:cNvPr>
            <p:cNvSpPr>
              <a:spLocks noChangeArrowheads="1"/>
            </p:cNvSpPr>
            <p:nvPr/>
          </p:nvSpPr>
          <p:spPr bwMode="auto">
            <a:xfrm>
              <a:off x="295" y="2115"/>
              <a:ext cx="55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1800">
                  <a:solidFill>
                    <a:schemeClr val="tx1"/>
                  </a:solidFill>
                  <a:ea typeface="楷体_GB2312" pitchFamily="49" charset="-122"/>
                </a:rPr>
                <a:t>吲哚基</a:t>
              </a:r>
            </a:p>
          </p:txBody>
        </p:sp>
        <p:sp>
          <p:nvSpPr>
            <p:cNvPr id="65548" name="Rectangle 9">
              <a:extLst>
                <a:ext uri="{FF2B5EF4-FFF2-40B4-BE49-F238E27FC236}">
                  <a16:creationId xmlns:a16="http://schemas.microsoft.com/office/drawing/2014/main" id="{DDAB9700-21F6-449B-B3E5-92E21B780373}"/>
                </a:ext>
              </a:extLst>
            </p:cNvPr>
            <p:cNvSpPr>
              <a:spLocks noChangeArrowheads="1"/>
            </p:cNvSpPr>
            <p:nvPr/>
          </p:nvSpPr>
          <p:spPr bwMode="auto">
            <a:xfrm>
              <a:off x="313" y="2387"/>
              <a:ext cx="544" cy="499"/>
            </a:xfrm>
            <a:prstGeom prst="rect">
              <a:avLst/>
            </a:prstGeom>
            <a:noFill/>
            <a:ln w="38100">
              <a:solidFill>
                <a:srgbClr val="0066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grpSp>
      <p:grpSp>
        <p:nvGrpSpPr>
          <p:cNvPr id="5" name="Group 18">
            <a:extLst>
              <a:ext uri="{FF2B5EF4-FFF2-40B4-BE49-F238E27FC236}">
                <a16:creationId xmlns:a16="http://schemas.microsoft.com/office/drawing/2014/main" id="{42078E1F-6ED1-4FD8-ADC9-3F6BB5014D5C}"/>
              </a:ext>
            </a:extLst>
          </p:cNvPr>
          <p:cNvGrpSpPr>
            <a:grpSpLocks/>
          </p:cNvGrpSpPr>
          <p:nvPr/>
        </p:nvGrpSpPr>
        <p:grpSpPr bwMode="auto">
          <a:xfrm>
            <a:off x="2020888" y="4724400"/>
            <a:ext cx="863600" cy="1016000"/>
            <a:chOff x="295" y="2976"/>
            <a:chExt cx="634" cy="640"/>
          </a:xfrm>
        </p:grpSpPr>
        <p:sp>
          <p:nvSpPr>
            <p:cNvPr id="65545" name="Rectangle 6">
              <a:extLst>
                <a:ext uri="{FF2B5EF4-FFF2-40B4-BE49-F238E27FC236}">
                  <a16:creationId xmlns:a16="http://schemas.microsoft.com/office/drawing/2014/main" id="{17A71ED5-11B7-48A8-A10A-60654CC71AE3}"/>
                </a:ext>
              </a:extLst>
            </p:cNvPr>
            <p:cNvSpPr>
              <a:spLocks noChangeArrowheads="1"/>
            </p:cNvSpPr>
            <p:nvPr/>
          </p:nvSpPr>
          <p:spPr bwMode="auto">
            <a:xfrm>
              <a:off x="295" y="3385"/>
              <a:ext cx="47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1800">
                  <a:solidFill>
                    <a:schemeClr val="tx1"/>
                  </a:solidFill>
                  <a:ea typeface="楷体_GB2312" pitchFamily="49" charset="-122"/>
                </a:rPr>
                <a:t>酚基</a:t>
              </a:r>
            </a:p>
          </p:txBody>
        </p:sp>
        <p:sp>
          <p:nvSpPr>
            <p:cNvPr id="65546" name="Rectangle 10">
              <a:extLst>
                <a:ext uri="{FF2B5EF4-FFF2-40B4-BE49-F238E27FC236}">
                  <a16:creationId xmlns:a16="http://schemas.microsoft.com/office/drawing/2014/main" id="{FC2D8475-5F1C-4888-AD6B-A6727C66B1F6}"/>
                </a:ext>
              </a:extLst>
            </p:cNvPr>
            <p:cNvSpPr>
              <a:spLocks noChangeArrowheads="1"/>
            </p:cNvSpPr>
            <p:nvPr/>
          </p:nvSpPr>
          <p:spPr bwMode="auto">
            <a:xfrm>
              <a:off x="295" y="2976"/>
              <a:ext cx="634" cy="363"/>
            </a:xfrm>
            <a:prstGeom prst="rect">
              <a:avLst/>
            </a:prstGeom>
            <a:noFill/>
            <a:ln w="38100">
              <a:solidFill>
                <a:srgbClr val="0066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grpSp>
      <p:sp>
        <p:nvSpPr>
          <p:cNvPr id="65543" name="Text Box 19">
            <a:extLst>
              <a:ext uri="{FF2B5EF4-FFF2-40B4-BE49-F238E27FC236}">
                <a16:creationId xmlns:a16="http://schemas.microsoft.com/office/drawing/2014/main" id="{A666EAE4-063B-49BF-96EF-ADB3DF6E274A}"/>
              </a:ext>
            </a:extLst>
          </p:cNvPr>
          <p:cNvSpPr txBox="1">
            <a:spLocks noChangeArrowheads="1"/>
          </p:cNvSpPr>
          <p:nvPr/>
        </p:nvSpPr>
        <p:spPr bwMode="auto">
          <a:xfrm>
            <a:off x="7680326" y="4854576"/>
            <a:ext cx="720725" cy="51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en-US" altLang="zh-CN" b="0">
                <a:solidFill>
                  <a:schemeClr val="tx1"/>
                </a:solidFill>
                <a:latin typeface="Arial" panose="020B0604020202020204" pitchFamily="34" charset="0"/>
                <a:ea typeface="宋体" panose="02010600030101010101" pitchFamily="2" charset="-122"/>
              </a:rPr>
              <a:t>tyr</a:t>
            </a:r>
          </a:p>
        </p:txBody>
      </p:sp>
      <p:sp>
        <p:nvSpPr>
          <p:cNvPr id="65544" name="Text Box 20">
            <a:extLst>
              <a:ext uri="{FF2B5EF4-FFF2-40B4-BE49-F238E27FC236}">
                <a16:creationId xmlns:a16="http://schemas.microsoft.com/office/drawing/2014/main" id="{98A03F29-8313-483F-ADBA-CD6A53A21347}"/>
              </a:ext>
            </a:extLst>
          </p:cNvPr>
          <p:cNvSpPr txBox="1">
            <a:spLocks noChangeArrowheads="1"/>
          </p:cNvSpPr>
          <p:nvPr/>
        </p:nvSpPr>
        <p:spPr bwMode="auto">
          <a:xfrm>
            <a:off x="7680326" y="3716338"/>
            <a:ext cx="720725" cy="5191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en-US" altLang="zh-CN" b="0">
                <a:solidFill>
                  <a:schemeClr val="tx1"/>
                </a:solidFill>
                <a:latin typeface="Arial" panose="020B0604020202020204" pitchFamily="34" charset="0"/>
                <a:ea typeface="宋体" panose="02010600030101010101" pitchFamily="2" charset="-122"/>
              </a:rPr>
              <a:t>trp</a:t>
            </a:r>
          </a:p>
        </p:txBody>
      </p:sp>
    </p:spTree>
    <p:custDataLst>
      <p:tags r:id="rId1"/>
    </p:custDataLst>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ox(in)">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a:extLst>
              <a:ext uri="{FF2B5EF4-FFF2-40B4-BE49-F238E27FC236}">
                <a16:creationId xmlns:a16="http://schemas.microsoft.com/office/drawing/2014/main" id="{D78190CA-5730-4778-932B-08C5AD846BD0}"/>
              </a:ext>
            </a:extLst>
          </p:cNvPr>
          <p:cNvSpPr txBox="1">
            <a:spLocks noChangeArrowheads="1"/>
          </p:cNvSpPr>
          <p:nvPr/>
        </p:nvSpPr>
        <p:spPr bwMode="auto">
          <a:xfrm>
            <a:off x="1703388" y="63501"/>
            <a:ext cx="8964612"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801688" indent="-800100">
              <a:spcBef>
                <a:spcPct val="20000"/>
              </a:spcBef>
              <a:buClr>
                <a:schemeClr val="hlink"/>
              </a:buClr>
              <a:buFont typeface="Wingdings" panose="05000000000000000000" pitchFamily="2" charset="2"/>
              <a:buChar char="v"/>
              <a:tabLst>
                <a:tab pos="714375" algn="l"/>
              </a:tabLst>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tabLst>
                <a:tab pos="714375" algn="l"/>
              </a:tabLst>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tabLst>
                <a:tab pos="714375" algn="l"/>
              </a:tabLst>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tabLst>
                <a:tab pos="714375" algn="l"/>
              </a:tabLst>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tabLst>
                <a:tab pos="714375" algn="l"/>
              </a:tabLst>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tabLst>
                <a:tab pos="714375" algn="l"/>
              </a:tabLst>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tabLst>
                <a:tab pos="714375" algn="l"/>
              </a:tabLst>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tabLst>
                <a:tab pos="714375" algn="l"/>
              </a:tabLst>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tabLst>
                <a:tab pos="714375" algn="l"/>
              </a:tabLst>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5000"/>
              </a:lnSpc>
              <a:spcBef>
                <a:spcPct val="50000"/>
              </a:spcBef>
              <a:buClrTx/>
              <a:buFontTx/>
              <a:buNone/>
            </a:pPr>
            <a:r>
              <a:rPr kumimoji="1" lang="en-US" altLang="zh-CN" sz="3600">
                <a:solidFill>
                  <a:schemeClr val="bg1"/>
                </a:solidFill>
                <a:latin typeface="黑体" panose="02010609060101010101" pitchFamily="49" charset="-122"/>
              </a:rPr>
              <a:t> 4. </a:t>
            </a:r>
            <a:r>
              <a:rPr kumimoji="1" lang="zh-CN" altLang="en-US" sz="3600">
                <a:solidFill>
                  <a:schemeClr val="bg1"/>
                </a:solidFill>
                <a:latin typeface="黑体" panose="02010609060101010101" pitchFamily="49" charset="-122"/>
              </a:rPr>
              <a:t>酸性氨基酸</a:t>
            </a:r>
          </a:p>
        </p:txBody>
      </p:sp>
      <p:pic>
        <p:nvPicPr>
          <p:cNvPr id="67587" name="Picture 3" descr="氨基酸分类－suan">
            <a:extLst>
              <a:ext uri="{FF2B5EF4-FFF2-40B4-BE49-F238E27FC236}">
                <a16:creationId xmlns:a16="http://schemas.microsoft.com/office/drawing/2014/main" id="{4656CCFD-3E56-4034-9900-68F2EA44BBFE}"/>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b="26772"/>
          <a:stretch>
            <a:fillRect/>
          </a:stretch>
        </p:blipFill>
        <p:spPr>
          <a:xfrm>
            <a:off x="1595438" y="1916113"/>
            <a:ext cx="9072562" cy="3206750"/>
          </a:xfrm>
        </p:spPr>
      </p:pic>
    </p:spTree>
  </p:cSld>
  <p:clrMapOvr>
    <a:masterClrMapping/>
  </p:clrMapOvr>
  <p:transition spd="slow">
    <p:circl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2">
            <a:extLst>
              <a:ext uri="{FF2B5EF4-FFF2-40B4-BE49-F238E27FC236}">
                <a16:creationId xmlns:a16="http://schemas.microsoft.com/office/drawing/2014/main" id="{3BF36F4E-1166-4BF8-AA3F-E5DB65D49B79}"/>
              </a:ext>
            </a:extLst>
          </p:cNvPr>
          <p:cNvSpPr txBox="1">
            <a:spLocks noChangeArrowheads="1"/>
          </p:cNvSpPr>
          <p:nvPr/>
        </p:nvSpPr>
        <p:spPr bwMode="auto">
          <a:xfrm>
            <a:off x="1703389" y="188913"/>
            <a:ext cx="651668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801688" indent="-800100">
              <a:spcBef>
                <a:spcPct val="20000"/>
              </a:spcBef>
              <a:buClr>
                <a:schemeClr val="hlink"/>
              </a:buClr>
              <a:buFont typeface="Wingdings" panose="05000000000000000000" pitchFamily="2" charset="2"/>
              <a:buChar char="v"/>
              <a:tabLst>
                <a:tab pos="714375" algn="l"/>
              </a:tabLst>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tabLst>
                <a:tab pos="714375" algn="l"/>
              </a:tabLst>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tabLst>
                <a:tab pos="714375" algn="l"/>
              </a:tabLst>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tabLst>
                <a:tab pos="714375" algn="l"/>
              </a:tabLst>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tabLst>
                <a:tab pos="714375" algn="l"/>
              </a:tabLst>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tabLst>
                <a:tab pos="714375" algn="l"/>
              </a:tabLst>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tabLst>
                <a:tab pos="714375" algn="l"/>
              </a:tabLst>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tabLst>
                <a:tab pos="714375" algn="l"/>
              </a:tabLst>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tabLst>
                <a:tab pos="714375" algn="l"/>
              </a:tabLst>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05000"/>
              </a:lnSpc>
              <a:spcBef>
                <a:spcPct val="50000"/>
              </a:spcBef>
              <a:buClrTx/>
              <a:buFontTx/>
              <a:buNone/>
            </a:pPr>
            <a:r>
              <a:rPr kumimoji="1" lang="en-US" altLang="zh-CN" sz="3600">
                <a:solidFill>
                  <a:schemeClr val="bg1"/>
                </a:solidFill>
                <a:latin typeface="黑体" panose="02010609060101010101" pitchFamily="49" charset="-122"/>
              </a:rPr>
              <a:t> 5. </a:t>
            </a:r>
            <a:r>
              <a:rPr kumimoji="1" lang="zh-CN" altLang="en-US" sz="3600">
                <a:solidFill>
                  <a:schemeClr val="bg1"/>
                </a:solidFill>
                <a:latin typeface="黑体" panose="02010609060101010101" pitchFamily="49" charset="-122"/>
              </a:rPr>
              <a:t>碱性氨基酸</a:t>
            </a:r>
          </a:p>
        </p:txBody>
      </p:sp>
      <p:pic>
        <p:nvPicPr>
          <p:cNvPr id="69635" name="Picture 3" descr="氨基酸分类－jian">
            <a:extLst>
              <a:ext uri="{FF2B5EF4-FFF2-40B4-BE49-F238E27FC236}">
                <a16:creationId xmlns:a16="http://schemas.microsoft.com/office/drawing/2014/main" id="{8745BA0B-C9F0-49EE-BA69-285760C61306}"/>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1919289" y="1052514"/>
            <a:ext cx="8459787" cy="4103687"/>
          </a:xfrm>
        </p:spPr>
      </p:pic>
      <p:pic>
        <p:nvPicPr>
          <p:cNvPr id="69636" name="Picture 4" descr="氨基酸分类－suan">
            <a:extLst>
              <a:ext uri="{FF2B5EF4-FFF2-40B4-BE49-F238E27FC236}">
                <a16:creationId xmlns:a16="http://schemas.microsoft.com/office/drawing/2014/main" id="{C1A4F4F5-068D-44AA-A8B7-C85D59FCDE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71417"/>
          <a:stretch>
            <a:fillRect/>
          </a:stretch>
        </p:blipFill>
        <p:spPr bwMode="auto">
          <a:xfrm>
            <a:off x="2063751" y="4941889"/>
            <a:ext cx="835342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0">
            <a:extLst>
              <a:ext uri="{FF2B5EF4-FFF2-40B4-BE49-F238E27FC236}">
                <a16:creationId xmlns:a16="http://schemas.microsoft.com/office/drawing/2014/main" id="{22C384E7-319B-4E07-88AE-C430AB92D090}"/>
              </a:ext>
            </a:extLst>
          </p:cNvPr>
          <p:cNvGrpSpPr>
            <a:grpSpLocks/>
          </p:cNvGrpSpPr>
          <p:nvPr/>
        </p:nvGrpSpPr>
        <p:grpSpPr bwMode="auto">
          <a:xfrm>
            <a:off x="1920875" y="2986089"/>
            <a:ext cx="953770" cy="2027237"/>
            <a:chOff x="204" y="1872"/>
            <a:chExt cx="611" cy="1144"/>
          </a:xfrm>
        </p:grpSpPr>
        <p:sp>
          <p:nvSpPr>
            <p:cNvPr id="69641" name="Rectangle 5">
              <a:extLst>
                <a:ext uri="{FF2B5EF4-FFF2-40B4-BE49-F238E27FC236}">
                  <a16:creationId xmlns:a16="http://schemas.microsoft.com/office/drawing/2014/main" id="{B3D3128B-38A7-469E-8A66-730AB3A29696}"/>
                </a:ext>
              </a:extLst>
            </p:cNvPr>
            <p:cNvSpPr>
              <a:spLocks noChangeArrowheads="1"/>
            </p:cNvSpPr>
            <p:nvPr/>
          </p:nvSpPr>
          <p:spPr bwMode="auto">
            <a:xfrm>
              <a:off x="204" y="2109"/>
              <a:ext cx="589" cy="907"/>
            </a:xfrm>
            <a:prstGeom prst="rect">
              <a:avLst/>
            </a:prstGeom>
            <a:noFill/>
            <a:ln w="38100">
              <a:solidFill>
                <a:srgbClr val="0066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sp>
          <p:nvSpPr>
            <p:cNvPr id="69642" name="Rectangle 6">
              <a:extLst>
                <a:ext uri="{FF2B5EF4-FFF2-40B4-BE49-F238E27FC236}">
                  <a16:creationId xmlns:a16="http://schemas.microsoft.com/office/drawing/2014/main" id="{B4CC7943-8C64-4632-823E-9FAC5E2EB929}"/>
                </a:ext>
              </a:extLst>
            </p:cNvPr>
            <p:cNvSpPr>
              <a:spLocks noChangeArrowheads="1"/>
            </p:cNvSpPr>
            <p:nvPr/>
          </p:nvSpPr>
          <p:spPr bwMode="auto">
            <a:xfrm>
              <a:off x="204" y="1872"/>
              <a:ext cx="611"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000">
                  <a:solidFill>
                    <a:srgbClr val="FF0000"/>
                  </a:solidFill>
                  <a:ea typeface="楷体_GB2312" pitchFamily="49" charset="-122"/>
                </a:rPr>
                <a:t>咪唑基</a:t>
              </a:r>
            </a:p>
          </p:txBody>
        </p:sp>
      </p:grpSp>
      <p:grpSp>
        <p:nvGrpSpPr>
          <p:cNvPr id="3" name="Group 9">
            <a:extLst>
              <a:ext uri="{FF2B5EF4-FFF2-40B4-BE49-F238E27FC236}">
                <a16:creationId xmlns:a16="http://schemas.microsoft.com/office/drawing/2014/main" id="{EC7EED02-4A12-4091-AD27-5A982EB1BD32}"/>
              </a:ext>
            </a:extLst>
          </p:cNvPr>
          <p:cNvGrpSpPr>
            <a:grpSpLocks/>
          </p:cNvGrpSpPr>
          <p:nvPr/>
        </p:nvGrpSpPr>
        <p:grpSpPr bwMode="auto">
          <a:xfrm>
            <a:off x="1847850" y="1412876"/>
            <a:ext cx="935038" cy="1368425"/>
            <a:chOff x="204" y="890"/>
            <a:chExt cx="589" cy="862"/>
          </a:xfrm>
        </p:grpSpPr>
        <p:sp>
          <p:nvSpPr>
            <p:cNvPr id="69639" name="Rectangle 7">
              <a:extLst>
                <a:ext uri="{FF2B5EF4-FFF2-40B4-BE49-F238E27FC236}">
                  <a16:creationId xmlns:a16="http://schemas.microsoft.com/office/drawing/2014/main" id="{2EA08E1D-25A6-4948-B4F0-706907C94827}"/>
                </a:ext>
              </a:extLst>
            </p:cNvPr>
            <p:cNvSpPr>
              <a:spLocks noChangeArrowheads="1"/>
            </p:cNvSpPr>
            <p:nvPr/>
          </p:nvSpPr>
          <p:spPr bwMode="auto">
            <a:xfrm>
              <a:off x="204" y="1162"/>
              <a:ext cx="589" cy="590"/>
            </a:xfrm>
            <a:prstGeom prst="rect">
              <a:avLst/>
            </a:prstGeom>
            <a:noFill/>
            <a:ln w="38100">
              <a:solidFill>
                <a:srgbClr val="0066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sp>
          <p:nvSpPr>
            <p:cNvPr id="69640" name="Rectangle 8">
              <a:extLst>
                <a:ext uri="{FF2B5EF4-FFF2-40B4-BE49-F238E27FC236}">
                  <a16:creationId xmlns:a16="http://schemas.microsoft.com/office/drawing/2014/main" id="{551DD031-0C60-4B5C-B427-694658BA64B2}"/>
                </a:ext>
              </a:extLst>
            </p:cNvPr>
            <p:cNvSpPr>
              <a:spLocks noChangeArrowheads="1"/>
            </p:cNvSpPr>
            <p:nvPr/>
          </p:nvSpPr>
          <p:spPr bwMode="auto">
            <a:xfrm>
              <a:off x="249" y="890"/>
              <a:ext cx="4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2000">
                  <a:solidFill>
                    <a:srgbClr val="FF0000"/>
                  </a:solidFill>
                  <a:ea typeface="楷体_GB2312" pitchFamily="49" charset="-122"/>
                </a:rPr>
                <a:t>胍基</a:t>
              </a:r>
            </a:p>
          </p:txBody>
        </p:sp>
      </p:grpSp>
    </p:spTree>
    <p:custDataLst>
      <p:tags r:id="rId1"/>
    </p:custDataLst>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682" name="标题 1">
            <a:extLst>
              <a:ext uri="{FF2B5EF4-FFF2-40B4-BE49-F238E27FC236}">
                <a16:creationId xmlns:a16="http://schemas.microsoft.com/office/drawing/2014/main" id="{9A6C5C4C-2E8A-4405-923C-56CC8B1C71A9}"/>
              </a:ext>
            </a:extLst>
          </p:cNvPr>
          <p:cNvSpPr>
            <a:spLocks noGrp="1" noChangeArrowheads="1"/>
          </p:cNvSpPr>
          <p:nvPr>
            <p:ph type="title"/>
          </p:nvPr>
        </p:nvSpPr>
        <p:spPr>
          <a:xfrm>
            <a:off x="1703388" y="188914"/>
            <a:ext cx="6985000" cy="492125"/>
          </a:xfrm>
        </p:spPr>
        <p:txBody>
          <a:bodyPr/>
          <a:lstStyle/>
          <a:p>
            <a:pPr algn="ctr"/>
            <a:r>
              <a:rPr lang="zh-CN" altLang="en-US" sz="4000"/>
              <a:t>氨基酸</a:t>
            </a:r>
            <a:r>
              <a:rPr lang="en-US" altLang="zh-CN" sz="4000"/>
              <a:t>C</a:t>
            </a:r>
            <a:r>
              <a:rPr lang="zh-CN" altLang="en-US" sz="4000"/>
              <a:t>原子编号有两种方式</a:t>
            </a:r>
          </a:p>
        </p:txBody>
      </p:sp>
      <p:pic>
        <p:nvPicPr>
          <p:cNvPr id="71683" name="图片 2">
            <a:extLst>
              <a:ext uri="{FF2B5EF4-FFF2-40B4-BE49-F238E27FC236}">
                <a16:creationId xmlns:a16="http://schemas.microsoft.com/office/drawing/2014/main" id="{AA51A4ED-B5A8-4EFD-8F2E-D7554BB768D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55913" y="1989138"/>
            <a:ext cx="6419850"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4" name="文本框 1">
            <a:extLst>
              <a:ext uri="{FF2B5EF4-FFF2-40B4-BE49-F238E27FC236}">
                <a16:creationId xmlns:a16="http://schemas.microsoft.com/office/drawing/2014/main" id="{2FA1E6C7-A8D2-4DE1-B62C-B1204E1209C6}"/>
              </a:ext>
            </a:extLst>
          </p:cNvPr>
          <p:cNvSpPr txBox="1">
            <a:spLocks noChangeArrowheads="1"/>
          </p:cNvSpPr>
          <p:nvPr/>
        </p:nvSpPr>
        <p:spPr bwMode="auto">
          <a:xfrm>
            <a:off x="5303838" y="3573463"/>
            <a:ext cx="2305050" cy="584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a:spcBef>
                <a:spcPct val="0"/>
              </a:spcBef>
              <a:buClrTx/>
              <a:buFontTx/>
              <a:buNone/>
            </a:pPr>
            <a:r>
              <a:rPr lang="en-US" altLang="zh-CN" sz="3200" b="0">
                <a:solidFill>
                  <a:srgbClr val="002060"/>
                </a:solidFill>
                <a:latin typeface="Arial" panose="020B0604020202020204" pitchFamily="34" charset="0"/>
                <a:ea typeface="宋体" panose="02010600030101010101" pitchFamily="2" charset="-122"/>
              </a:rPr>
              <a:t>Lysine</a:t>
            </a:r>
            <a:endParaRPr lang="zh-CN" altLang="en-US" sz="3200" b="0">
              <a:solidFill>
                <a:srgbClr val="002060"/>
              </a:solidFill>
              <a:latin typeface="Arial" panose="020B0604020202020204" pitchFamily="34" charset="0"/>
              <a:ea typeface="宋体" panose="02010600030101010101" pitchFamily="2" charset="-122"/>
            </a:endParaRPr>
          </a:p>
        </p:txBody>
      </p:sp>
    </p:spTree>
  </p:cSld>
  <p:clrMapOvr>
    <a:masterClrMapping/>
  </p:clrMapOvr>
  <p:transition spd="slow">
    <p:circle/>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3730" name="图片 1">
            <a:extLst>
              <a:ext uri="{FF2B5EF4-FFF2-40B4-BE49-F238E27FC236}">
                <a16:creationId xmlns:a16="http://schemas.microsoft.com/office/drawing/2014/main" id="{0FC09EDD-9155-433F-B440-F0E21EC4C47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00350" y="44451"/>
            <a:ext cx="7183438" cy="676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1" name="标题 2">
            <a:extLst>
              <a:ext uri="{FF2B5EF4-FFF2-40B4-BE49-F238E27FC236}">
                <a16:creationId xmlns:a16="http://schemas.microsoft.com/office/drawing/2014/main" id="{59802AC9-FEED-4344-A474-2F84AB43ED09}"/>
              </a:ext>
            </a:extLst>
          </p:cNvPr>
          <p:cNvSpPr>
            <a:spLocks noGrp="1" noChangeArrowheads="1"/>
          </p:cNvSpPr>
          <p:nvPr>
            <p:ph type="title" idx="4294967295"/>
          </p:nvPr>
        </p:nvSpPr>
        <p:spPr>
          <a:xfrm>
            <a:off x="1919288" y="115888"/>
            <a:ext cx="647700" cy="6121400"/>
          </a:xfrm>
        </p:spPr>
        <p:txBody>
          <a:bodyPr/>
          <a:lstStyle/>
          <a:p>
            <a:r>
              <a:rPr lang="zh-CN" altLang="en-US" sz="2400">
                <a:solidFill>
                  <a:srgbClr val="0000CC"/>
                </a:solidFill>
              </a:rPr>
              <a:t>参与合成蛋白质的二十种氨基酸</a:t>
            </a:r>
          </a:p>
        </p:txBody>
      </p:sp>
    </p:spTree>
  </p:cSld>
  <p:clrMapOvr>
    <a:masterClrMapping/>
  </p:clrMapOvr>
  <p:transition spd="slow">
    <p:circl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a:extLst>
              <a:ext uri="{FF2B5EF4-FFF2-40B4-BE49-F238E27FC236}">
                <a16:creationId xmlns:a16="http://schemas.microsoft.com/office/drawing/2014/main" id="{55F0066F-7D92-4C88-B3DB-9BB939963B07}"/>
              </a:ext>
            </a:extLst>
          </p:cNvPr>
          <p:cNvSpPr>
            <a:spLocks noGrp="1" noChangeArrowheads="1"/>
          </p:cNvSpPr>
          <p:nvPr>
            <p:ph type="title"/>
          </p:nvPr>
        </p:nvSpPr>
        <p:spPr>
          <a:xfrm>
            <a:off x="1487488" y="153591"/>
            <a:ext cx="11074400" cy="563563"/>
          </a:xfrm>
        </p:spPr>
        <p:txBody>
          <a:bodyPr/>
          <a:lstStyle/>
          <a:p>
            <a:r>
              <a:rPr lang="zh-CN" altLang="en-US" sz="3200" dirty="0"/>
              <a:t> 氨基酸按侧链极性分类的意义</a:t>
            </a:r>
          </a:p>
        </p:txBody>
      </p:sp>
      <p:sp>
        <p:nvSpPr>
          <p:cNvPr id="75779" name="内容占位符 2">
            <a:extLst>
              <a:ext uri="{FF2B5EF4-FFF2-40B4-BE49-F238E27FC236}">
                <a16:creationId xmlns:a16="http://schemas.microsoft.com/office/drawing/2014/main" id="{B4CCBFC1-E775-493C-9413-9C97130327FC}"/>
              </a:ext>
            </a:extLst>
          </p:cNvPr>
          <p:cNvSpPr>
            <a:spLocks noGrp="1" noChangeArrowheads="1"/>
          </p:cNvSpPr>
          <p:nvPr>
            <p:ph idx="1"/>
          </p:nvPr>
        </p:nvSpPr>
        <p:spPr>
          <a:xfrm>
            <a:off x="5375920" y="1412776"/>
            <a:ext cx="6192688" cy="4968552"/>
          </a:xfrm>
        </p:spPr>
        <p:txBody>
          <a:bodyPr/>
          <a:lstStyle/>
          <a:p>
            <a:pPr>
              <a:lnSpc>
                <a:spcPct val="110000"/>
              </a:lnSpc>
              <a:spcBef>
                <a:spcPts val="1200"/>
              </a:spcBef>
            </a:pPr>
            <a:r>
              <a:rPr lang="zh-CN" altLang="en-US" dirty="0">
                <a:solidFill>
                  <a:srgbClr val="0000CC"/>
                </a:solidFill>
              </a:rPr>
              <a:t>极性氨基酸残基</a:t>
            </a:r>
            <a:r>
              <a:rPr lang="zh-CN" altLang="en-US" dirty="0"/>
              <a:t>多位于蛋白质的表面或膜内外侧，</a:t>
            </a:r>
            <a:r>
              <a:rPr lang="zh-CN" altLang="en-US" dirty="0">
                <a:solidFill>
                  <a:srgbClr val="0000CC"/>
                </a:solidFill>
              </a:rPr>
              <a:t>非极性氨基酸残基</a:t>
            </a:r>
            <a:r>
              <a:rPr lang="zh-CN" altLang="en-US" dirty="0"/>
              <a:t>多位于蛋白质的内部，或膜内。</a:t>
            </a:r>
            <a:endParaRPr lang="en-US" altLang="zh-CN" dirty="0"/>
          </a:p>
          <a:p>
            <a:pPr>
              <a:lnSpc>
                <a:spcPct val="110000"/>
              </a:lnSpc>
              <a:spcBef>
                <a:spcPts val="1200"/>
              </a:spcBef>
            </a:pPr>
            <a:r>
              <a:rPr lang="zh-CN" altLang="en-US" sz="2400" dirty="0"/>
              <a:t>酶的活性中心中，</a:t>
            </a:r>
            <a:r>
              <a:rPr lang="zh-CN" altLang="en-US" sz="2400" dirty="0">
                <a:solidFill>
                  <a:schemeClr val="tx1">
                    <a:lumMod val="60000"/>
                    <a:lumOff val="40000"/>
                  </a:schemeClr>
                </a:solidFill>
              </a:rPr>
              <a:t>催化基团通常为亲水基团</a:t>
            </a:r>
            <a:r>
              <a:rPr lang="zh-CN" altLang="en-US" sz="2400" dirty="0"/>
              <a:t>（即亲水性氨基酸残基的侧链基团）</a:t>
            </a:r>
            <a:endParaRPr lang="en-US" altLang="zh-CN" sz="2400" dirty="0"/>
          </a:p>
          <a:p>
            <a:pPr>
              <a:lnSpc>
                <a:spcPct val="110000"/>
              </a:lnSpc>
              <a:spcBef>
                <a:spcPts val="1200"/>
              </a:spcBef>
            </a:pPr>
            <a:r>
              <a:rPr lang="zh-CN" altLang="en-US" sz="2400" dirty="0"/>
              <a:t>多肽链合成后的修饰通常发生在亲水基团</a:t>
            </a:r>
            <a:endParaRPr lang="en-US" altLang="zh-CN" sz="2400" dirty="0"/>
          </a:p>
          <a:p>
            <a:pPr>
              <a:lnSpc>
                <a:spcPct val="110000"/>
              </a:lnSpc>
              <a:spcBef>
                <a:spcPts val="1200"/>
              </a:spcBef>
            </a:pPr>
            <a:r>
              <a:rPr lang="zh-CN" altLang="en-US" sz="2400" dirty="0"/>
              <a:t>有助于判断哪些氨基酸参与蛋白质与</a:t>
            </a:r>
            <a:r>
              <a:rPr lang="en-US" altLang="zh-CN" sz="2400" dirty="0"/>
              <a:t>DNA</a:t>
            </a:r>
            <a:r>
              <a:rPr lang="zh-CN" altLang="en-US" sz="2400" dirty="0"/>
              <a:t>之间的序列特异性相互作用。</a:t>
            </a:r>
            <a:endParaRPr lang="en-US" altLang="zh-CN" sz="2400" dirty="0"/>
          </a:p>
          <a:p>
            <a:pPr>
              <a:lnSpc>
                <a:spcPct val="110000"/>
              </a:lnSpc>
              <a:spcBef>
                <a:spcPts val="1200"/>
              </a:spcBef>
            </a:pPr>
            <a:r>
              <a:rPr lang="zh-CN" altLang="en-US" sz="2400" dirty="0"/>
              <a:t>分离纯化氨基酸的基础</a:t>
            </a:r>
            <a:endParaRPr lang="en-US" altLang="zh-CN" sz="2400" dirty="0"/>
          </a:p>
          <a:p>
            <a:pPr>
              <a:lnSpc>
                <a:spcPct val="110000"/>
              </a:lnSpc>
              <a:spcBef>
                <a:spcPts val="1200"/>
              </a:spcBef>
            </a:pPr>
            <a:endParaRPr lang="zh-CN" altLang="en-US" dirty="0"/>
          </a:p>
        </p:txBody>
      </p:sp>
      <p:pic>
        <p:nvPicPr>
          <p:cNvPr id="75780" name="图片 3">
            <a:extLst>
              <a:ext uri="{FF2B5EF4-FFF2-40B4-BE49-F238E27FC236}">
                <a16:creationId xmlns:a16="http://schemas.microsoft.com/office/drawing/2014/main" id="{FA9CEDFA-4A63-4EF4-9031-27596DD31DA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3392" y="1268760"/>
            <a:ext cx="4437063" cy="482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77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5779">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577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577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1026">
            <a:extLst>
              <a:ext uri="{FF2B5EF4-FFF2-40B4-BE49-F238E27FC236}">
                <a16:creationId xmlns:a16="http://schemas.microsoft.com/office/drawing/2014/main" id="{4F2F93C9-6FC9-4283-9CBB-51C33AADD709}"/>
              </a:ext>
            </a:extLst>
          </p:cNvPr>
          <p:cNvSpPr txBox="1">
            <a:spLocks noChangeArrowheads="1"/>
          </p:cNvSpPr>
          <p:nvPr/>
        </p:nvSpPr>
        <p:spPr bwMode="auto">
          <a:xfrm>
            <a:off x="2063751" y="1557338"/>
            <a:ext cx="8353425" cy="3242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50000"/>
              </a:lnSpc>
              <a:spcBef>
                <a:spcPct val="50000"/>
              </a:spcBef>
              <a:buClrTx/>
              <a:buFontTx/>
              <a:buNone/>
            </a:pPr>
            <a:r>
              <a:rPr kumimoji="1" lang="zh-CN" altLang="en-US" b="0">
                <a:solidFill>
                  <a:srgbClr val="FF0000"/>
                </a:solidFill>
              </a:rPr>
              <a:t>含硫氨基酸：　　　</a:t>
            </a:r>
            <a:r>
              <a:rPr kumimoji="1" lang="zh-CN" altLang="en-US" b="0">
                <a:solidFill>
                  <a:schemeClr val="tx1"/>
                </a:solidFill>
              </a:rPr>
              <a:t>甲硫氨酸、半胱氨酸</a:t>
            </a:r>
          </a:p>
          <a:p>
            <a:pPr eaLnBrk="1" hangingPunct="1">
              <a:lnSpc>
                <a:spcPct val="150000"/>
              </a:lnSpc>
              <a:spcBef>
                <a:spcPct val="50000"/>
              </a:spcBef>
              <a:buClrTx/>
              <a:buFontTx/>
              <a:buNone/>
            </a:pPr>
            <a:r>
              <a:rPr kumimoji="1" lang="zh-CN" altLang="en-US" b="0">
                <a:solidFill>
                  <a:srgbClr val="FF0000"/>
                </a:solidFill>
              </a:rPr>
              <a:t>含巯基的氨基酸：　</a:t>
            </a:r>
            <a:r>
              <a:rPr kumimoji="1" lang="zh-CN" altLang="en-US" b="0">
                <a:solidFill>
                  <a:schemeClr val="tx1"/>
                </a:solidFill>
              </a:rPr>
              <a:t>半胱氨酸</a:t>
            </a:r>
            <a:endParaRPr kumimoji="1" lang="zh-CN" altLang="en-US" sz="2400" b="0">
              <a:solidFill>
                <a:schemeClr val="tx1"/>
              </a:solidFill>
            </a:endParaRPr>
          </a:p>
          <a:p>
            <a:pPr eaLnBrk="1" hangingPunct="1">
              <a:lnSpc>
                <a:spcPct val="150000"/>
              </a:lnSpc>
              <a:spcBef>
                <a:spcPct val="50000"/>
              </a:spcBef>
              <a:buClrTx/>
              <a:buFontTx/>
              <a:buNone/>
            </a:pPr>
            <a:r>
              <a:rPr kumimoji="1" lang="zh-CN" altLang="en-US" b="0">
                <a:solidFill>
                  <a:srgbClr val="FF0000"/>
                </a:solidFill>
              </a:rPr>
              <a:t>含羟基的氨基酸：　</a:t>
            </a:r>
            <a:r>
              <a:rPr kumimoji="1" lang="zh-CN" altLang="en-US" b="0">
                <a:solidFill>
                  <a:schemeClr val="tx1"/>
                </a:solidFill>
              </a:rPr>
              <a:t>丝氨酸、苏氨酸、酪氨酸</a:t>
            </a:r>
          </a:p>
          <a:p>
            <a:pPr eaLnBrk="1" hangingPunct="1">
              <a:lnSpc>
                <a:spcPct val="150000"/>
              </a:lnSpc>
              <a:spcBef>
                <a:spcPct val="50000"/>
              </a:spcBef>
              <a:buClrTx/>
              <a:buFontTx/>
              <a:buNone/>
            </a:pPr>
            <a:r>
              <a:rPr kumimoji="1" lang="zh-CN" altLang="en-US" b="0">
                <a:solidFill>
                  <a:srgbClr val="FF0000"/>
                </a:solidFill>
              </a:rPr>
              <a:t>支链氨基酸（</a:t>
            </a:r>
            <a:r>
              <a:rPr kumimoji="1" lang="en-US" altLang="zh-CN" b="0">
                <a:solidFill>
                  <a:srgbClr val="FF0000"/>
                </a:solidFill>
              </a:rPr>
              <a:t>BCAA</a:t>
            </a:r>
            <a:r>
              <a:rPr kumimoji="1" lang="zh-CN" altLang="en-US" b="0">
                <a:solidFill>
                  <a:srgbClr val="FF0000"/>
                </a:solidFill>
              </a:rPr>
              <a:t>）：</a:t>
            </a:r>
            <a:r>
              <a:rPr kumimoji="1" lang="zh-CN" altLang="en-US" b="0">
                <a:solidFill>
                  <a:schemeClr val="tx1"/>
                </a:solidFill>
              </a:rPr>
              <a:t>缬氨酸、亮氨酸、异亮氨酸</a:t>
            </a:r>
          </a:p>
        </p:txBody>
      </p:sp>
    </p:spTree>
  </p:cSld>
  <p:clrMapOvr>
    <a:masterClrMapping/>
  </p:clrMapOvr>
  <p:transition spd="slow">
    <p:circl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a:extLst>
              <a:ext uri="{FF2B5EF4-FFF2-40B4-BE49-F238E27FC236}">
                <a16:creationId xmlns:a16="http://schemas.microsoft.com/office/drawing/2014/main" id="{AD0995D2-1A3E-4BF7-AB08-B657C56C05D0}"/>
              </a:ext>
            </a:extLst>
          </p:cNvPr>
          <p:cNvSpPr>
            <a:spLocks noChangeArrowheads="1"/>
          </p:cNvSpPr>
          <p:nvPr/>
        </p:nvSpPr>
        <p:spPr bwMode="auto">
          <a:xfrm>
            <a:off x="2566989" y="1257300"/>
            <a:ext cx="3024187"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60000"/>
              </a:lnSpc>
              <a:spcBef>
                <a:spcPct val="0"/>
              </a:spcBef>
              <a:buClrTx/>
              <a:buFont typeface="Wingdings" panose="05000000000000000000" pitchFamily="2" charset="2"/>
              <a:buNone/>
            </a:pPr>
            <a:r>
              <a:rPr kumimoji="1" lang="zh-CN" altLang="en-US" sz="3200" b="0">
                <a:solidFill>
                  <a:srgbClr val="FF0000"/>
                </a:solidFill>
              </a:rPr>
              <a:t>唯一亚氨基酸：</a:t>
            </a:r>
          </a:p>
          <a:p>
            <a:pPr eaLnBrk="1" hangingPunct="1">
              <a:lnSpc>
                <a:spcPct val="160000"/>
              </a:lnSpc>
              <a:spcBef>
                <a:spcPct val="0"/>
              </a:spcBef>
              <a:buClrTx/>
              <a:buFont typeface="Wingdings" panose="05000000000000000000" pitchFamily="2" charset="2"/>
              <a:buNone/>
            </a:pPr>
            <a:r>
              <a:rPr kumimoji="1" lang="zh-CN" altLang="en-US" sz="3200" b="0">
                <a:solidFill>
                  <a:schemeClr val="tx1"/>
                </a:solidFill>
              </a:rPr>
              <a:t>脯氨酸</a:t>
            </a:r>
          </a:p>
        </p:txBody>
      </p:sp>
      <p:pic>
        <p:nvPicPr>
          <p:cNvPr id="16388" name="Picture 4">
            <a:extLst>
              <a:ext uri="{FF2B5EF4-FFF2-40B4-BE49-F238E27FC236}">
                <a16:creationId xmlns:a16="http://schemas.microsoft.com/office/drawing/2014/main" id="{84BD8A8E-BA70-4B9D-80D6-F82CF57A1D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37226" y="908050"/>
            <a:ext cx="3527425" cy="266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2">
            <a:extLst>
              <a:ext uri="{FF2B5EF4-FFF2-40B4-BE49-F238E27FC236}">
                <a16:creationId xmlns:a16="http://schemas.microsoft.com/office/drawing/2014/main" id="{78B731AF-1D3C-45D2-9AB0-E722219F9BD6}"/>
              </a:ext>
            </a:extLst>
          </p:cNvPr>
          <p:cNvSpPr txBox="1">
            <a:spLocks noChangeArrowheads="1"/>
          </p:cNvSpPr>
          <p:nvPr/>
        </p:nvSpPr>
        <p:spPr bwMode="auto">
          <a:xfrm>
            <a:off x="2922091" y="4943698"/>
            <a:ext cx="4038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kumimoji="1" lang="zh-CN" altLang="en-US" sz="3200" b="0">
                <a:solidFill>
                  <a:schemeClr val="tx1"/>
                </a:solidFill>
              </a:rPr>
              <a:t>甘氨酸</a:t>
            </a:r>
          </a:p>
        </p:txBody>
      </p:sp>
      <p:sp>
        <p:nvSpPr>
          <p:cNvPr id="6" name="Rectangle 3">
            <a:extLst>
              <a:ext uri="{FF2B5EF4-FFF2-40B4-BE49-F238E27FC236}">
                <a16:creationId xmlns:a16="http://schemas.microsoft.com/office/drawing/2014/main" id="{62494B96-FAD7-44B2-A842-51F38596B975}"/>
              </a:ext>
            </a:extLst>
          </p:cNvPr>
          <p:cNvSpPr>
            <a:spLocks noChangeArrowheads="1"/>
          </p:cNvSpPr>
          <p:nvPr/>
        </p:nvSpPr>
        <p:spPr bwMode="auto">
          <a:xfrm>
            <a:off x="2260103" y="4165824"/>
            <a:ext cx="4287838"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30000"/>
              </a:lnSpc>
              <a:spcBef>
                <a:spcPct val="0"/>
              </a:spcBef>
              <a:buClrTx/>
              <a:buFontTx/>
              <a:buNone/>
            </a:pPr>
            <a:r>
              <a:rPr kumimoji="1" lang="zh-CN" altLang="en-US" sz="3200" b="0">
                <a:solidFill>
                  <a:srgbClr val="FF0000"/>
                </a:solidFill>
              </a:rPr>
              <a:t>只一种构型的氨基酸：</a:t>
            </a:r>
          </a:p>
        </p:txBody>
      </p:sp>
      <p:grpSp>
        <p:nvGrpSpPr>
          <p:cNvPr id="7" name="Group 1028">
            <a:extLst>
              <a:ext uri="{FF2B5EF4-FFF2-40B4-BE49-F238E27FC236}">
                <a16:creationId xmlns:a16="http://schemas.microsoft.com/office/drawing/2014/main" id="{830906CF-934A-4868-815B-F6A04B6838F9}"/>
              </a:ext>
            </a:extLst>
          </p:cNvPr>
          <p:cNvGrpSpPr>
            <a:grpSpLocks/>
          </p:cNvGrpSpPr>
          <p:nvPr/>
        </p:nvGrpSpPr>
        <p:grpSpPr bwMode="auto">
          <a:xfrm>
            <a:off x="6563816" y="4227736"/>
            <a:ext cx="3276600" cy="1433512"/>
            <a:chOff x="2200" y="2251"/>
            <a:chExt cx="2064" cy="903"/>
          </a:xfrm>
        </p:grpSpPr>
        <p:sp>
          <p:nvSpPr>
            <p:cNvPr id="79879" name="Text Box 4">
              <a:extLst>
                <a:ext uri="{FF2B5EF4-FFF2-40B4-BE49-F238E27FC236}">
                  <a16:creationId xmlns:a16="http://schemas.microsoft.com/office/drawing/2014/main" id="{CE3B0F47-6751-402F-BF17-2CC04F26B6D2}"/>
                </a:ext>
              </a:extLst>
            </p:cNvPr>
            <p:cNvSpPr txBox="1">
              <a:spLocks noChangeArrowheads="1"/>
            </p:cNvSpPr>
            <p:nvPr/>
          </p:nvSpPr>
          <p:spPr bwMode="auto">
            <a:xfrm>
              <a:off x="2200" y="2251"/>
              <a:ext cx="2064" cy="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kumimoji="1" lang="en-US" altLang="zh-CN" sz="4000" b="0">
                  <a:solidFill>
                    <a:srgbClr val="FF3300"/>
                  </a:solidFill>
                </a:rPr>
                <a:t>H</a:t>
              </a:r>
              <a:r>
                <a:rPr kumimoji="1" lang="en-US" altLang="zh-CN" sz="4000" b="0">
                  <a:solidFill>
                    <a:schemeClr val="tx1"/>
                  </a:solidFill>
                </a:rPr>
                <a:t>-C</a:t>
              </a:r>
              <a:r>
                <a:rPr kumimoji="1" lang="en-US" altLang="zh-CN" sz="4000" b="0">
                  <a:solidFill>
                    <a:srgbClr val="FF3300"/>
                  </a:solidFill>
                </a:rPr>
                <a:t>H</a:t>
              </a:r>
              <a:r>
                <a:rPr kumimoji="1" lang="en-US" altLang="zh-CN" sz="4000" b="0">
                  <a:solidFill>
                    <a:schemeClr val="tx1"/>
                  </a:solidFill>
                </a:rPr>
                <a:t>COO</a:t>
              </a:r>
              <a:r>
                <a:rPr kumimoji="1" lang="en-US" altLang="zh-CN" sz="4000" b="0" baseline="30000">
                  <a:solidFill>
                    <a:schemeClr val="tx1"/>
                  </a:solidFill>
                </a:rPr>
                <a:t>-</a:t>
              </a:r>
            </a:p>
            <a:p>
              <a:pPr eaLnBrk="1" hangingPunct="1">
                <a:buClrTx/>
                <a:buFontTx/>
                <a:buNone/>
              </a:pPr>
              <a:r>
                <a:rPr kumimoji="1" lang="en-US" altLang="zh-CN" sz="4000" b="0">
                  <a:solidFill>
                    <a:schemeClr val="tx1"/>
                  </a:solidFill>
                </a:rPr>
                <a:t>   </a:t>
              </a:r>
              <a:r>
                <a:rPr kumimoji="1" lang="en-US" altLang="zh-CN" sz="4000" b="0" baseline="30000">
                  <a:solidFill>
                    <a:schemeClr val="tx1"/>
                  </a:solidFill>
                </a:rPr>
                <a:t>+</a:t>
              </a:r>
              <a:r>
                <a:rPr kumimoji="1" lang="en-US" altLang="zh-CN" sz="4000" b="0">
                  <a:solidFill>
                    <a:schemeClr val="tx1"/>
                  </a:solidFill>
                </a:rPr>
                <a:t>NH</a:t>
              </a:r>
              <a:r>
                <a:rPr kumimoji="1" lang="en-US" altLang="zh-CN" sz="4000" b="0" baseline="-25000">
                  <a:solidFill>
                    <a:schemeClr val="tx1"/>
                  </a:solidFill>
                </a:rPr>
                <a:t>3</a:t>
              </a:r>
            </a:p>
          </p:txBody>
        </p:sp>
        <p:sp>
          <p:nvSpPr>
            <p:cNvPr id="79880" name="Line 5">
              <a:extLst>
                <a:ext uri="{FF2B5EF4-FFF2-40B4-BE49-F238E27FC236}">
                  <a16:creationId xmlns:a16="http://schemas.microsoft.com/office/drawing/2014/main" id="{1072436F-B732-43C3-B0FD-08DCD25162EA}"/>
                </a:ext>
              </a:extLst>
            </p:cNvPr>
            <p:cNvSpPr>
              <a:spLocks noChangeShapeType="1"/>
            </p:cNvSpPr>
            <p:nvPr/>
          </p:nvSpPr>
          <p:spPr bwMode="auto">
            <a:xfrm>
              <a:off x="2699" y="2683"/>
              <a:ext cx="0" cy="9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spTree>
    <p:custDataLst>
      <p:tags r:id="rId1"/>
    </p:custDataLst>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nodeType="afterEffect">
                                  <p:stCondLst>
                                    <p:cond delay="0"/>
                                  </p:stCondLst>
                                  <p:childTnLst>
                                    <p:set>
                                      <p:cBhvr>
                                        <p:cTn id="6" dur="1" fill="hold">
                                          <p:stCondLst>
                                            <p:cond delay="0"/>
                                          </p:stCondLst>
                                        </p:cTn>
                                        <p:tgtEl>
                                          <p:spTgt spid="16388"/>
                                        </p:tgtEl>
                                        <p:attrNameLst>
                                          <p:attrName>style.visibility</p:attrName>
                                        </p:attrNameLst>
                                      </p:cBhvr>
                                      <p:to>
                                        <p:strVal val="visible"/>
                                      </p:to>
                                    </p:set>
                                    <p:anim calcmode="lin" valueType="num">
                                      <p:cBhvr>
                                        <p:cTn id="7" dur="500" fill="hold"/>
                                        <p:tgtEl>
                                          <p:spTgt spid="16388"/>
                                        </p:tgtEl>
                                        <p:attrNameLst>
                                          <p:attrName>ppt_w</p:attrName>
                                        </p:attrNameLst>
                                      </p:cBhvr>
                                      <p:tavLst>
                                        <p:tav tm="0">
                                          <p:val>
                                            <p:fltVal val="0"/>
                                          </p:val>
                                        </p:tav>
                                        <p:tav tm="100000">
                                          <p:val>
                                            <p:strVal val="#ppt_w"/>
                                          </p:val>
                                        </p:tav>
                                      </p:tavLst>
                                    </p:anim>
                                    <p:anim calcmode="lin" valueType="num">
                                      <p:cBhvr>
                                        <p:cTn id="8" dur="500" fill="hold"/>
                                        <p:tgtEl>
                                          <p:spTgt spid="16388"/>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2">
            <a:extLst>
              <a:ext uri="{FF2B5EF4-FFF2-40B4-BE49-F238E27FC236}">
                <a16:creationId xmlns:a16="http://schemas.microsoft.com/office/drawing/2014/main" id="{FBCA999C-0DDD-46FC-8414-6F519B4C73D5}"/>
              </a:ext>
            </a:extLst>
          </p:cNvPr>
          <p:cNvSpPr txBox="1">
            <a:spLocks noChangeArrowheads="1"/>
          </p:cNvSpPr>
          <p:nvPr/>
        </p:nvSpPr>
        <p:spPr bwMode="auto">
          <a:xfrm>
            <a:off x="2063750" y="3784600"/>
            <a:ext cx="8280400" cy="219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30000"/>
              </a:lnSpc>
              <a:spcBef>
                <a:spcPct val="0"/>
              </a:spcBef>
              <a:buClrTx/>
              <a:buFontTx/>
              <a:buNone/>
            </a:pPr>
            <a:r>
              <a:rPr kumimoji="1" lang="en-US" altLang="zh-CN" b="0" dirty="0">
                <a:solidFill>
                  <a:schemeClr val="tx1"/>
                </a:solidFill>
              </a:rPr>
              <a:t>1. </a:t>
            </a:r>
            <a:r>
              <a:rPr kumimoji="1" lang="zh-CN" altLang="en-US" b="0" dirty="0">
                <a:solidFill>
                  <a:schemeClr val="tx1"/>
                </a:solidFill>
              </a:rPr>
              <a:t>不参与构成蛋白质，以游离形式存在</a:t>
            </a:r>
            <a:endParaRPr kumimoji="1" lang="en-US" altLang="zh-CN" b="0" dirty="0">
              <a:solidFill>
                <a:schemeClr val="tx1"/>
              </a:solidFill>
            </a:endParaRPr>
          </a:p>
          <a:p>
            <a:pPr eaLnBrk="1" hangingPunct="1">
              <a:lnSpc>
                <a:spcPct val="130000"/>
              </a:lnSpc>
              <a:spcBef>
                <a:spcPct val="0"/>
              </a:spcBef>
              <a:buClrTx/>
              <a:buFontTx/>
              <a:buNone/>
            </a:pPr>
            <a:r>
              <a:rPr kumimoji="1" lang="en-US" altLang="zh-CN" sz="2400" b="0" dirty="0">
                <a:solidFill>
                  <a:schemeClr val="tx1"/>
                </a:solidFill>
              </a:rPr>
              <a:t>      </a:t>
            </a:r>
            <a:r>
              <a:rPr kumimoji="1" lang="zh-CN" altLang="en-US" sz="2400" b="0" dirty="0">
                <a:solidFill>
                  <a:schemeClr val="tx1"/>
                </a:solidFill>
              </a:rPr>
              <a:t>如</a:t>
            </a:r>
            <a:r>
              <a:rPr kumimoji="1" lang="zh-CN" altLang="en-US" sz="2400" b="0" dirty="0">
                <a:solidFill>
                  <a:srgbClr val="0000CC"/>
                </a:solidFill>
              </a:rPr>
              <a:t>瓜氨酸，鸟氨酸，同型半胱氨酸</a:t>
            </a:r>
            <a:r>
              <a:rPr kumimoji="1" lang="zh-CN" altLang="en-US" sz="2400" b="0" dirty="0">
                <a:solidFill>
                  <a:schemeClr val="tx1"/>
                </a:solidFill>
              </a:rPr>
              <a:t>等</a:t>
            </a:r>
          </a:p>
          <a:p>
            <a:pPr eaLnBrk="1" hangingPunct="1">
              <a:lnSpc>
                <a:spcPct val="130000"/>
              </a:lnSpc>
              <a:spcBef>
                <a:spcPct val="0"/>
              </a:spcBef>
              <a:buClrTx/>
              <a:buFontTx/>
              <a:buNone/>
            </a:pPr>
            <a:r>
              <a:rPr kumimoji="1" lang="en-US" altLang="zh-CN" b="0" dirty="0">
                <a:solidFill>
                  <a:schemeClr val="tx1"/>
                </a:solidFill>
              </a:rPr>
              <a:t>2. </a:t>
            </a:r>
            <a:r>
              <a:rPr kumimoji="1" lang="zh-CN" altLang="en-US" b="0" dirty="0">
                <a:solidFill>
                  <a:schemeClr val="tx1"/>
                </a:solidFill>
              </a:rPr>
              <a:t>没有遗传密码却参与构成蛋白质</a:t>
            </a:r>
            <a:endParaRPr kumimoji="1" lang="en-US" altLang="zh-CN" b="0" dirty="0">
              <a:solidFill>
                <a:schemeClr val="tx1"/>
              </a:solidFill>
            </a:endParaRPr>
          </a:p>
          <a:p>
            <a:pPr eaLnBrk="1" hangingPunct="1">
              <a:lnSpc>
                <a:spcPct val="130000"/>
              </a:lnSpc>
              <a:spcBef>
                <a:spcPct val="0"/>
              </a:spcBef>
              <a:buClrTx/>
              <a:buFontTx/>
              <a:buNone/>
            </a:pPr>
            <a:r>
              <a:rPr kumimoji="1" lang="en-US" altLang="zh-CN" b="0" dirty="0">
                <a:solidFill>
                  <a:schemeClr val="tx1"/>
                </a:solidFill>
              </a:rPr>
              <a:t>    </a:t>
            </a:r>
            <a:r>
              <a:rPr kumimoji="1" lang="en-US" altLang="zh-CN" sz="2400" b="0" dirty="0">
                <a:solidFill>
                  <a:schemeClr val="tx1"/>
                </a:solidFill>
              </a:rPr>
              <a:t> </a:t>
            </a:r>
            <a:r>
              <a:rPr kumimoji="1" lang="zh-CN" altLang="en-US" sz="2400" b="0" dirty="0">
                <a:solidFill>
                  <a:srgbClr val="0000CC"/>
                </a:solidFill>
              </a:rPr>
              <a:t>羟脯氨酸，羟赖氨酸，胱氨酸</a:t>
            </a:r>
            <a:r>
              <a:rPr kumimoji="1" lang="zh-CN" altLang="en-US" sz="2400" b="0" dirty="0">
                <a:solidFill>
                  <a:schemeClr val="tx1"/>
                </a:solidFill>
              </a:rPr>
              <a:t>等</a:t>
            </a:r>
          </a:p>
        </p:txBody>
      </p:sp>
      <p:sp>
        <p:nvSpPr>
          <p:cNvPr id="109571" name="Rectangle 3">
            <a:extLst>
              <a:ext uri="{FF2B5EF4-FFF2-40B4-BE49-F238E27FC236}">
                <a16:creationId xmlns:a16="http://schemas.microsoft.com/office/drawing/2014/main" id="{686014EE-1C5E-4D9F-829D-0A1435772209}"/>
              </a:ext>
            </a:extLst>
          </p:cNvPr>
          <p:cNvSpPr>
            <a:spLocks noChangeArrowheads="1"/>
          </p:cNvSpPr>
          <p:nvPr/>
        </p:nvSpPr>
        <p:spPr bwMode="auto">
          <a:xfrm>
            <a:off x="1992314" y="3141664"/>
            <a:ext cx="26320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3200" b="0">
                <a:solidFill>
                  <a:srgbClr val="FF0000"/>
                </a:solidFill>
              </a:rPr>
              <a:t>非编码氨基酸</a:t>
            </a:r>
          </a:p>
        </p:txBody>
      </p:sp>
      <p:sp>
        <p:nvSpPr>
          <p:cNvPr id="81924" name="Rectangle 2">
            <a:extLst>
              <a:ext uri="{FF2B5EF4-FFF2-40B4-BE49-F238E27FC236}">
                <a16:creationId xmlns:a16="http://schemas.microsoft.com/office/drawing/2014/main" id="{1FA51F50-7C2B-4C42-95AC-4184D1992594}"/>
              </a:ext>
            </a:extLst>
          </p:cNvPr>
          <p:cNvSpPr>
            <a:spLocks noChangeArrowheads="1"/>
          </p:cNvSpPr>
          <p:nvPr/>
        </p:nvSpPr>
        <p:spPr bwMode="auto">
          <a:xfrm>
            <a:off x="1992314" y="1484314"/>
            <a:ext cx="8675687" cy="130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50000"/>
              </a:lnSpc>
              <a:spcBef>
                <a:spcPct val="0"/>
              </a:spcBef>
              <a:buClrTx/>
              <a:buFontTx/>
              <a:buNone/>
            </a:pPr>
            <a:r>
              <a:rPr lang="zh-CN" altLang="en-US" b="0" dirty="0">
                <a:solidFill>
                  <a:srgbClr val="0000CC"/>
                </a:solidFill>
              </a:rPr>
              <a:t>定义：</a:t>
            </a:r>
            <a:r>
              <a:rPr lang="zh-CN" altLang="en-US" b="0" dirty="0">
                <a:solidFill>
                  <a:schemeClr val="tx1"/>
                </a:solidFill>
              </a:rPr>
              <a:t>参与</a:t>
            </a:r>
            <a:r>
              <a:rPr kumimoji="1" lang="zh-CN" altLang="en-US" b="0" dirty="0">
                <a:solidFill>
                  <a:schemeClr val="tx1"/>
                </a:solidFill>
              </a:rPr>
              <a:t>蛋白质</a:t>
            </a:r>
            <a:r>
              <a:rPr lang="zh-CN" altLang="en-US" b="0" dirty="0">
                <a:solidFill>
                  <a:schemeClr val="tx1"/>
                </a:solidFill>
              </a:rPr>
              <a:t>合成的</a:t>
            </a:r>
            <a:r>
              <a:rPr lang="en-US" altLang="zh-CN" b="0" dirty="0">
                <a:solidFill>
                  <a:schemeClr val="tx1"/>
                </a:solidFill>
              </a:rPr>
              <a:t>20</a:t>
            </a:r>
            <a:r>
              <a:rPr lang="zh-CN" altLang="en-US" b="0" dirty="0">
                <a:solidFill>
                  <a:schemeClr val="tx1"/>
                </a:solidFill>
              </a:rPr>
              <a:t>种氨基酸</a:t>
            </a:r>
            <a:r>
              <a:rPr lang="en-US" altLang="zh-CN" b="0" dirty="0">
                <a:solidFill>
                  <a:schemeClr val="tx1"/>
                </a:solidFill>
              </a:rPr>
              <a:t>,</a:t>
            </a:r>
            <a:r>
              <a:rPr lang="zh-CN" altLang="en-US" b="0" dirty="0">
                <a:solidFill>
                  <a:schemeClr val="tx1"/>
                </a:solidFill>
              </a:rPr>
              <a:t>又称</a:t>
            </a:r>
            <a:r>
              <a:rPr lang="zh-CN" altLang="en-US" b="0" dirty="0">
                <a:solidFill>
                  <a:srgbClr val="FF0000"/>
                </a:solidFill>
              </a:rPr>
              <a:t>标准氨基酸</a:t>
            </a:r>
            <a:r>
              <a:rPr lang="zh-CN" altLang="en-US" b="0" dirty="0">
                <a:solidFill>
                  <a:schemeClr val="tx1"/>
                </a:solidFill>
              </a:rPr>
              <a:t> </a:t>
            </a:r>
          </a:p>
          <a:p>
            <a:pPr eaLnBrk="1" hangingPunct="1">
              <a:lnSpc>
                <a:spcPct val="150000"/>
              </a:lnSpc>
              <a:spcBef>
                <a:spcPct val="0"/>
              </a:spcBef>
              <a:buClrTx/>
              <a:buFontTx/>
              <a:buNone/>
            </a:pPr>
            <a:r>
              <a:rPr lang="zh-CN" altLang="en-US" b="0" dirty="0">
                <a:solidFill>
                  <a:srgbClr val="0000CC"/>
                </a:solidFill>
              </a:rPr>
              <a:t>特点：</a:t>
            </a:r>
            <a:r>
              <a:rPr lang="zh-CN" altLang="en-US" b="0" dirty="0">
                <a:solidFill>
                  <a:schemeClr val="tx1"/>
                </a:solidFill>
              </a:rPr>
              <a:t>有各自的遗传密码 ；无种属特异性 </a:t>
            </a:r>
          </a:p>
        </p:txBody>
      </p:sp>
      <p:sp>
        <p:nvSpPr>
          <p:cNvPr id="81925" name="Rectangle 3">
            <a:extLst>
              <a:ext uri="{FF2B5EF4-FFF2-40B4-BE49-F238E27FC236}">
                <a16:creationId xmlns:a16="http://schemas.microsoft.com/office/drawing/2014/main" id="{A00D1946-4D76-47A1-815B-3B1C227542FE}"/>
              </a:ext>
            </a:extLst>
          </p:cNvPr>
          <p:cNvSpPr>
            <a:spLocks noChangeArrowheads="1"/>
          </p:cNvSpPr>
          <p:nvPr/>
        </p:nvSpPr>
        <p:spPr bwMode="auto">
          <a:xfrm>
            <a:off x="1992314" y="981075"/>
            <a:ext cx="22240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lang="zh-CN" altLang="en-US" sz="3200" b="0">
                <a:solidFill>
                  <a:srgbClr val="FF0000"/>
                </a:solidFill>
              </a:rPr>
              <a:t>编码氨基酸</a:t>
            </a:r>
          </a:p>
        </p:txBody>
      </p:sp>
    </p:spTree>
    <p:custDataLst>
      <p:tags r:id="rId1"/>
    </p:custDataLst>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9571"/>
                                        </p:tgtEl>
                                        <p:attrNameLst>
                                          <p:attrName>style.visibility</p:attrName>
                                        </p:attrNameLst>
                                      </p:cBhvr>
                                      <p:to>
                                        <p:strVal val="visible"/>
                                      </p:to>
                                    </p:set>
                                    <p:animEffect transition="in" filter="blinds(horizontal)">
                                      <p:cBhvr>
                                        <p:cTn id="7" dur="500"/>
                                        <p:tgtEl>
                                          <p:spTgt spid="10957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09570"/>
                                        </p:tgtEl>
                                        <p:attrNameLst>
                                          <p:attrName>style.visibility</p:attrName>
                                        </p:attrNameLst>
                                      </p:cBhvr>
                                      <p:to>
                                        <p:strVal val="visible"/>
                                      </p:to>
                                    </p:set>
                                    <p:animEffect transition="in" filter="blinds(horizontal)">
                                      <p:cBhvr>
                                        <p:cTn id="10" dur="500"/>
                                        <p:tgtEl>
                                          <p:spTgt spid="1095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0" grpId="0"/>
      <p:bldP spid="10957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E90D3D29-FCBA-4886-96E4-422A9D437EB9}"/>
              </a:ext>
            </a:extLst>
          </p:cNvPr>
          <p:cNvGrpSpPr>
            <a:grpSpLocks/>
          </p:cNvGrpSpPr>
          <p:nvPr/>
        </p:nvGrpSpPr>
        <p:grpSpPr bwMode="auto">
          <a:xfrm>
            <a:off x="5313363" y="1597026"/>
            <a:ext cx="1524000" cy="931863"/>
            <a:chOff x="2448" y="1104"/>
            <a:chExt cx="960" cy="779"/>
          </a:xfrm>
        </p:grpSpPr>
        <p:sp>
          <p:nvSpPr>
            <p:cNvPr id="83982" name="Text Box 5">
              <a:extLst>
                <a:ext uri="{FF2B5EF4-FFF2-40B4-BE49-F238E27FC236}">
                  <a16:creationId xmlns:a16="http://schemas.microsoft.com/office/drawing/2014/main" id="{72EA7B60-A829-43B4-BBAA-240D198254A6}"/>
                </a:ext>
              </a:extLst>
            </p:cNvPr>
            <p:cNvSpPr txBox="1">
              <a:spLocks noChangeArrowheads="1"/>
            </p:cNvSpPr>
            <p:nvPr/>
          </p:nvSpPr>
          <p:spPr bwMode="auto">
            <a:xfrm>
              <a:off x="2784" y="1296"/>
              <a:ext cx="349" cy="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6000" b="0" baseline="30000">
                  <a:solidFill>
                    <a:schemeClr val="tx2"/>
                  </a:solidFill>
                </a:rPr>
                <a:t>+</a:t>
              </a:r>
            </a:p>
          </p:txBody>
        </p:sp>
        <p:sp>
          <p:nvSpPr>
            <p:cNvPr id="83983" name="Rectangle 6">
              <a:extLst>
                <a:ext uri="{FF2B5EF4-FFF2-40B4-BE49-F238E27FC236}">
                  <a16:creationId xmlns:a16="http://schemas.microsoft.com/office/drawing/2014/main" id="{EBDCED66-058C-406F-8FE6-4C47131B6AD1}"/>
                </a:ext>
              </a:extLst>
            </p:cNvPr>
            <p:cNvSpPr>
              <a:spLocks noChangeArrowheads="1"/>
            </p:cNvSpPr>
            <p:nvPr/>
          </p:nvSpPr>
          <p:spPr bwMode="auto">
            <a:xfrm>
              <a:off x="2448" y="1104"/>
              <a:ext cx="960" cy="576"/>
            </a:xfrm>
            <a:prstGeom prst="rect">
              <a:avLst/>
            </a:prstGeom>
            <a:noFill/>
            <a:ln w="76200" cap="rnd">
              <a:solidFill>
                <a:srgbClr val="008000"/>
              </a:solidFill>
              <a:prstDash val="sysDot"/>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grpSp>
      <p:sp>
        <p:nvSpPr>
          <p:cNvPr id="17415" name="Text Box 7">
            <a:extLst>
              <a:ext uri="{FF2B5EF4-FFF2-40B4-BE49-F238E27FC236}">
                <a16:creationId xmlns:a16="http://schemas.microsoft.com/office/drawing/2014/main" id="{0DD49EF3-1746-413C-85AC-14E5237F1EC9}"/>
              </a:ext>
            </a:extLst>
          </p:cNvPr>
          <p:cNvSpPr txBox="1">
            <a:spLocks noChangeArrowheads="1"/>
          </p:cNvSpPr>
          <p:nvPr/>
        </p:nvSpPr>
        <p:spPr bwMode="auto">
          <a:xfrm>
            <a:off x="8040216" y="5661248"/>
            <a:ext cx="157447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3600" dirty="0">
                <a:solidFill>
                  <a:srgbClr val="0000CC"/>
                </a:solidFill>
              </a:rPr>
              <a:t>胱氨酸</a:t>
            </a:r>
          </a:p>
        </p:txBody>
      </p:sp>
      <p:grpSp>
        <p:nvGrpSpPr>
          <p:cNvPr id="3" name="Group 8">
            <a:extLst>
              <a:ext uri="{FF2B5EF4-FFF2-40B4-BE49-F238E27FC236}">
                <a16:creationId xmlns:a16="http://schemas.microsoft.com/office/drawing/2014/main" id="{40D76F79-4875-4DF4-AB37-B7F31BC7CD8F}"/>
              </a:ext>
            </a:extLst>
          </p:cNvPr>
          <p:cNvGrpSpPr>
            <a:grpSpLocks/>
          </p:cNvGrpSpPr>
          <p:nvPr/>
        </p:nvGrpSpPr>
        <p:grpSpPr bwMode="auto">
          <a:xfrm>
            <a:off x="5529264" y="4046539"/>
            <a:ext cx="1660525" cy="2117725"/>
            <a:chOff x="2562" y="2750"/>
            <a:chExt cx="1046" cy="1334"/>
          </a:xfrm>
        </p:grpSpPr>
        <p:sp>
          <p:nvSpPr>
            <p:cNvPr id="83980" name="AutoShape 9">
              <a:extLst>
                <a:ext uri="{FF2B5EF4-FFF2-40B4-BE49-F238E27FC236}">
                  <a16:creationId xmlns:a16="http://schemas.microsoft.com/office/drawing/2014/main" id="{99047364-3173-4E02-9A07-967440C39528}"/>
                </a:ext>
              </a:extLst>
            </p:cNvPr>
            <p:cNvSpPr>
              <a:spLocks noChangeArrowheads="1"/>
            </p:cNvSpPr>
            <p:nvPr/>
          </p:nvSpPr>
          <p:spPr bwMode="auto">
            <a:xfrm>
              <a:off x="2744" y="3838"/>
              <a:ext cx="864" cy="246"/>
            </a:xfrm>
            <a:prstGeom prst="wedgeRoundRectCallout">
              <a:avLst>
                <a:gd name="adj1" fmla="val -31713"/>
                <a:gd name="adj2" fmla="val -381301"/>
                <a:gd name="adj3" fmla="val 16667"/>
              </a:avLst>
            </a:prstGeom>
            <a:solidFill>
              <a:schemeClr val="accent1"/>
            </a:solidFill>
            <a:ln w="12700" cap="sq">
              <a:solidFill>
                <a:schemeClr val="tx1"/>
              </a:solidFill>
              <a:miter lim="800000"/>
              <a:headEnd type="none" w="sm" len="sm"/>
              <a:tailEnd type="none" w="sm" len="sm"/>
            </a:ln>
          </p:spPr>
          <p:txBody>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80000"/>
                </a:lnSpc>
                <a:spcBef>
                  <a:spcPct val="0"/>
                </a:spcBef>
                <a:buClrTx/>
                <a:buFontTx/>
                <a:buNone/>
              </a:pPr>
              <a:r>
                <a:rPr kumimoji="1" lang="zh-CN" altLang="en-US" sz="3600" baseline="30000">
                  <a:solidFill>
                    <a:schemeClr val="bg1"/>
                  </a:solidFill>
                </a:rPr>
                <a:t>二硫键</a:t>
              </a:r>
              <a:endParaRPr kumimoji="1" lang="zh-CN" altLang="en-US" b="0">
                <a:solidFill>
                  <a:schemeClr val="bg1"/>
                </a:solidFill>
              </a:endParaRPr>
            </a:p>
          </p:txBody>
        </p:sp>
        <p:sp>
          <p:nvSpPr>
            <p:cNvPr id="83981" name="Rectangle 10">
              <a:extLst>
                <a:ext uri="{FF2B5EF4-FFF2-40B4-BE49-F238E27FC236}">
                  <a16:creationId xmlns:a16="http://schemas.microsoft.com/office/drawing/2014/main" id="{B08020CA-E350-412A-B3A4-C66C4D477306}"/>
                </a:ext>
              </a:extLst>
            </p:cNvPr>
            <p:cNvSpPr>
              <a:spLocks noChangeArrowheads="1"/>
            </p:cNvSpPr>
            <p:nvPr/>
          </p:nvSpPr>
          <p:spPr bwMode="auto">
            <a:xfrm>
              <a:off x="2562" y="2750"/>
              <a:ext cx="672" cy="408"/>
            </a:xfrm>
            <a:prstGeom prst="rect">
              <a:avLst/>
            </a:prstGeom>
            <a:noFill/>
            <a:ln w="38100">
              <a:solidFill>
                <a:srgbClr val="0000CC"/>
              </a:solidFill>
              <a:prstDash val="dash"/>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grpSp>
      <p:grpSp>
        <p:nvGrpSpPr>
          <p:cNvPr id="4" name="Group 11">
            <a:extLst>
              <a:ext uri="{FF2B5EF4-FFF2-40B4-BE49-F238E27FC236}">
                <a16:creationId xmlns:a16="http://schemas.microsoft.com/office/drawing/2014/main" id="{CAB93B57-947C-4A12-A511-DF3E0EB4D4AC}"/>
              </a:ext>
            </a:extLst>
          </p:cNvPr>
          <p:cNvGrpSpPr>
            <a:grpSpLocks/>
          </p:cNvGrpSpPr>
          <p:nvPr/>
        </p:nvGrpSpPr>
        <p:grpSpPr bwMode="auto">
          <a:xfrm>
            <a:off x="5026026" y="2678113"/>
            <a:ext cx="1008063" cy="1079500"/>
            <a:chOff x="2245" y="1888"/>
            <a:chExt cx="635" cy="680"/>
          </a:xfrm>
        </p:grpSpPr>
        <p:sp>
          <p:nvSpPr>
            <p:cNvPr id="83978" name="Line 12">
              <a:extLst>
                <a:ext uri="{FF2B5EF4-FFF2-40B4-BE49-F238E27FC236}">
                  <a16:creationId xmlns:a16="http://schemas.microsoft.com/office/drawing/2014/main" id="{6A02043C-E27C-4E98-813D-276F75523A53}"/>
                </a:ext>
              </a:extLst>
            </p:cNvPr>
            <p:cNvSpPr>
              <a:spLocks noChangeShapeType="1"/>
            </p:cNvSpPr>
            <p:nvPr/>
          </p:nvSpPr>
          <p:spPr bwMode="auto">
            <a:xfrm>
              <a:off x="2880" y="1888"/>
              <a:ext cx="0" cy="680"/>
            </a:xfrm>
            <a:prstGeom prst="line">
              <a:avLst/>
            </a:prstGeom>
            <a:noFill/>
            <a:ln w="57150" cap="sq">
              <a:solidFill>
                <a:srgbClr val="0000CC"/>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3979" name="Text Box 13">
              <a:extLst>
                <a:ext uri="{FF2B5EF4-FFF2-40B4-BE49-F238E27FC236}">
                  <a16:creationId xmlns:a16="http://schemas.microsoft.com/office/drawing/2014/main" id="{8445BBFC-D501-4E34-8D90-42FD52891E11}"/>
                </a:ext>
              </a:extLst>
            </p:cNvPr>
            <p:cNvSpPr txBox="1">
              <a:spLocks noChangeArrowheads="1"/>
            </p:cNvSpPr>
            <p:nvPr/>
          </p:nvSpPr>
          <p:spPr bwMode="auto">
            <a:xfrm>
              <a:off x="2245" y="1986"/>
              <a:ext cx="57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3200" b="0">
                  <a:solidFill>
                    <a:schemeClr val="tx1"/>
                  </a:solidFill>
                </a:rPr>
                <a:t>-</a:t>
              </a:r>
              <a:r>
                <a:rPr kumimoji="1" lang="en-US" altLang="zh-CN" sz="3200" b="0">
                  <a:solidFill>
                    <a:srgbClr val="FF0000"/>
                  </a:solidFill>
                </a:rPr>
                <a:t>H</a:t>
              </a:r>
              <a:r>
                <a:rPr kumimoji="1" lang="en-US" altLang="zh-CN" sz="3200" b="0">
                  <a:solidFill>
                    <a:srgbClr val="0000FF"/>
                  </a:solidFill>
                </a:rPr>
                <a:t>H</a:t>
              </a:r>
            </a:p>
          </p:txBody>
        </p:sp>
      </p:grpSp>
      <p:pic>
        <p:nvPicPr>
          <p:cNvPr id="83975" name="Picture 14">
            <a:extLst>
              <a:ext uri="{FF2B5EF4-FFF2-40B4-BE49-F238E27FC236}">
                <a16:creationId xmlns:a16="http://schemas.microsoft.com/office/drawing/2014/main" id="{42B94FB9-15E4-476D-ACC9-856DA34C8B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7738" y="1670051"/>
            <a:ext cx="3638550"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7" name="标题 4">
            <a:extLst>
              <a:ext uri="{FF2B5EF4-FFF2-40B4-BE49-F238E27FC236}">
                <a16:creationId xmlns:a16="http://schemas.microsoft.com/office/drawing/2014/main" id="{631AD73B-6C6E-4C13-9955-F622D858A9DF}"/>
              </a:ext>
            </a:extLst>
          </p:cNvPr>
          <p:cNvSpPr>
            <a:spLocks noGrp="1" noChangeArrowheads="1"/>
          </p:cNvSpPr>
          <p:nvPr>
            <p:ph type="title"/>
          </p:nvPr>
        </p:nvSpPr>
        <p:spPr>
          <a:xfrm>
            <a:off x="1703388" y="188913"/>
            <a:ext cx="8305800" cy="563562"/>
          </a:xfrm>
        </p:spPr>
        <p:txBody>
          <a:bodyPr/>
          <a:lstStyle/>
          <a:p>
            <a:pPr algn="ctr"/>
            <a:r>
              <a:rPr lang="zh-CN" altLang="en-US" dirty="0"/>
              <a:t>胱氨酸</a:t>
            </a:r>
            <a:r>
              <a:rPr lang="en-US" altLang="zh-CN" dirty="0"/>
              <a:t>(cystine)</a:t>
            </a:r>
            <a:r>
              <a:rPr lang="zh-CN" altLang="en-US" dirty="0"/>
              <a:t>的生成</a:t>
            </a:r>
          </a:p>
        </p:txBody>
      </p:sp>
      <p:grpSp>
        <p:nvGrpSpPr>
          <p:cNvPr id="5" name="Group 4">
            <a:extLst>
              <a:ext uri="{FF2B5EF4-FFF2-40B4-BE49-F238E27FC236}">
                <a16:creationId xmlns:a16="http://schemas.microsoft.com/office/drawing/2014/main" id="{7BE8FA6B-24B1-F6AB-A977-E5A4D67604B8}"/>
              </a:ext>
            </a:extLst>
          </p:cNvPr>
          <p:cNvGrpSpPr>
            <a:grpSpLocks noChangeAspect="1"/>
          </p:cNvGrpSpPr>
          <p:nvPr/>
        </p:nvGrpSpPr>
        <p:grpSpPr bwMode="auto">
          <a:xfrm>
            <a:off x="2794001" y="4046538"/>
            <a:ext cx="6581775" cy="1397000"/>
            <a:chOff x="800" y="2549"/>
            <a:chExt cx="4146" cy="880"/>
          </a:xfrm>
        </p:grpSpPr>
        <p:sp>
          <p:nvSpPr>
            <p:cNvPr id="6" name="AutoShape 3">
              <a:extLst>
                <a:ext uri="{FF2B5EF4-FFF2-40B4-BE49-F238E27FC236}">
                  <a16:creationId xmlns:a16="http://schemas.microsoft.com/office/drawing/2014/main" id="{DC5A74F3-32A7-E976-4987-C7D96588B915}"/>
                </a:ext>
              </a:extLst>
            </p:cNvPr>
            <p:cNvSpPr>
              <a:spLocks noChangeAspect="1" noChangeArrowheads="1" noTextEdit="1"/>
            </p:cNvSpPr>
            <p:nvPr/>
          </p:nvSpPr>
          <p:spPr bwMode="auto">
            <a:xfrm>
              <a:off x="800" y="2549"/>
              <a:ext cx="4146" cy="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 name="Rectangle 5">
              <a:extLst>
                <a:ext uri="{FF2B5EF4-FFF2-40B4-BE49-F238E27FC236}">
                  <a16:creationId xmlns:a16="http://schemas.microsoft.com/office/drawing/2014/main" id="{8E1122E5-A6F0-D5DF-6B81-3C7BDE758767}"/>
                </a:ext>
              </a:extLst>
            </p:cNvPr>
            <p:cNvSpPr>
              <a:spLocks noChangeArrowheads="1"/>
            </p:cNvSpPr>
            <p:nvPr/>
          </p:nvSpPr>
          <p:spPr bwMode="auto">
            <a:xfrm>
              <a:off x="855" y="2555"/>
              <a:ext cx="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2600" b="1">
                  <a:solidFill>
                    <a:srgbClr val="40458C"/>
                  </a:solidFill>
                  <a:latin typeface="Tahoma" panose="020B0604030504040204" pitchFamily="34" charset="0"/>
                </a:rPr>
                <a:t>-</a:t>
              </a:r>
              <a:endParaRPr lang="zh-CN" altLang="zh-CN" sz="1800"/>
            </a:p>
          </p:txBody>
        </p:sp>
        <p:sp>
          <p:nvSpPr>
            <p:cNvPr id="8" name="Rectangle 6">
              <a:extLst>
                <a:ext uri="{FF2B5EF4-FFF2-40B4-BE49-F238E27FC236}">
                  <a16:creationId xmlns:a16="http://schemas.microsoft.com/office/drawing/2014/main" id="{C5C536ED-5C03-7278-6321-9D1D75AFFBF0}"/>
                </a:ext>
              </a:extLst>
            </p:cNvPr>
            <p:cNvSpPr>
              <a:spLocks noChangeArrowheads="1"/>
            </p:cNvSpPr>
            <p:nvPr/>
          </p:nvSpPr>
          <p:spPr bwMode="auto">
            <a:xfrm>
              <a:off x="943" y="2579"/>
              <a:ext cx="55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OOC</a:t>
              </a:r>
              <a:endParaRPr lang="zh-CN" altLang="zh-CN" sz="1800"/>
            </a:p>
          </p:txBody>
        </p:sp>
        <p:sp>
          <p:nvSpPr>
            <p:cNvPr id="9" name="Rectangle 7">
              <a:extLst>
                <a:ext uri="{FF2B5EF4-FFF2-40B4-BE49-F238E27FC236}">
                  <a16:creationId xmlns:a16="http://schemas.microsoft.com/office/drawing/2014/main" id="{81FF9E53-8596-F45C-6356-9A45729AE983}"/>
                </a:ext>
              </a:extLst>
            </p:cNvPr>
            <p:cNvSpPr>
              <a:spLocks noChangeArrowheads="1"/>
            </p:cNvSpPr>
            <p:nvPr/>
          </p:nvSpPr>
          <p:spPr bwMode="auto">
            <a:xfrm>
              <a:off x="1498" y="2579"/>
              <a:ext cx="10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a:t>
              </a:r>
              <a:endParaRPr lang="zh-CN" altLang="zh-CN" sz="1800"/>
            </a:p>
          </p:txBody>
        </p:sp>
        <p:sp>
          <p:nvSpPr>
            <p:cNvPr id="10" name="Rectangle 8">
              <a:extLst>
                <a:ext uri="{FF2B5EF4-FFF2-40B4-BE49-F238E27FC236}">
                  <a16:creationId xmlns:a16="http://schemas.microsoft.com/office/drawing/2014/main" id="{E1B10648-6454-FF36-328C-CAD49F7C4E1D}"/>
                </a:ext>
              </a:extLst>
            </p:cNvPr>
            <p:cNvSpPr>
              <a:spLocks noChangeArrowheads="1"/>
            </p:cNvSpPr>
            <p:nvPr/>
          </p:nvSpPr>
          <p:spPr bwMode="auto">
            <a:xfrm>
              <a:off x="1599" y="2579"/>
              <a:ext cx="35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CH</a:t>
              </a:r>
              <a:endParaRPr lang="zh-CN" altLang="zh-CN" sz="1800"/>
            </a:p>
          </p:txBody>
        </p:sp>
        <p:sp>
          <p:nvSpPr>
            <p:cNvPr id="11" name="Rectangle 9">
              <a:extLst>
                <a:ext uri="{FF2B5EF4-FFF2-40B4-BE49-F238E27FC236}">
                  <a16:creationId xmlns:a16="http://schemas.microsoft.com/office/drawing/2014/main" id="{55D19867-71C8-7E13-3E73-4C9734DAF32E}"/>
                </a:ext>
              </a:extLst>
            </p:cNvPr>
            <p:cNvSpPr>
              <a:spLocks noChangeArrowheads="1"/>
            </p:cNvSpPr>
            <p:nvPr/>
          </p:nvSpPr>
          <p:spPr bwMode="auto">
            <a:xfrm>
              <a:off x="1950" y="2579"/>
              <a:ext cx="10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a:t>
              </a:r>
              <a:endParaRPr lang="zh-CN" altLang="zh-CN" sz="1800"/>
            </a:p>
          </p:txBody>
        </p:sp>
        <p:sp>
          <p:nvSpPr>
            <p:cNvPr id="12" name="Rectangle 10">
              <a:extLst>
                <a:ext uri="{FF2B5EF4-FFF2-40B4-BE49-F238E27FC236}">
                  <a16:creationId xmlns:a16="http://schemas.microsoft.com/office/drawing/2014/main" id="{D71EAFF9-6EF0-3719-3440-2EC466610277}"/>
                </a:ext>
              </a:extLst>
            </p:cNvPr>
            <p:cNvSpPr>
              <a:spLocks noChangeArrowheads="1"/>
            </p:cNvSpPr>
            <p:nvPr/>
          </p:nvSpPr>
          <p:spPr bwMode="auto">
            <a:xfrm>
              <a:off x="2050" y="2579"/>
              <a:ext cx="35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CH</a:t>
              </a:r>
              <a:endParaRPr lang="zh-CN" altLang="zh-CN" sz="1800"/>
            </a:p>
          </p:txBody>
        </p:sp>
        <p:sp>
          <p:nvSpPr>
            <p:cNvPr id="13" name="Rectangle 11">
              <a:extLst>
                <a:ext uri="{FF2B5EF4-FFF2-40B4-BE49-F238E27FC236}">
                  <a16:creationId xmlns:a16="http://schemas.microsoft.com/office/drawing/2014/main" id="{BD7F7845-E203-EEFF-FA17-EB19925B8C2F}"/>
                </a:ext>
              </a:extLst>
            </p:cNvPr>
            <p:cNvSpPr>
              <a:spLocks noChangeArrowheads="1"/>
            </p:cNvSpPr>
            <p:nvPr/>
          </p:nvSpPr>
          <p:spPr bwMode="auto">
            <a:xfrm>
              <a:off x="2398" y="2738"/>
              <a:ext cx="101"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2300">
                  <a:solidFill>
                    <a:srgbClr val="40458C"/>
                  </a:solidFill>
                  <a:latin typeface="Tahoma" panose="020B0604030504040204" pitchFamily="34" charset="0"/>
                </a:rPr>
                <a:t>2</a:t>
              </a:r>
              <a:endParaRPr lang="zh-CN" altLang="zh-CN" sz="1800"/>
            </a:p>
          </p:txBody>
        </p:sp>
        <p:sp>
          <p:nvSpPr>
            <p:cNvPr id="14" name="Rectangle 12">
              <a:extLst>
                <a:ext uri="{FF2B5EF4-FFF2-40B4-BE49-F238E27FC236}">
                  <a16:creationId xmlns:a16="http://schemas.microsoft.com/office/drawing/2014/main" id="{215B593D-4294-6D47-C546-3BC9363D021A}"/>
                </a:ext>
              </a:extLst>
            </p:cNvPr>
            <p:cNvSpPr>
              <a:spLocks noChangeArrowheads="1"/>
            </p:cNvSpPr>
            <p:nvPr/>
          </p:nvSpPr>
          <p:spPr bwMode="auto">
            <a:xfrm>
              <a:off x="2499" y="2579"/>
              <a:ext cx="10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a:t>
              </a:r>
              <a:endParaRPr lang="zh-CN" altLang="zh-CN" sz="1800"/>
            </a:p>
          </p:txBody>
        </p:sp>
        <p:sp>
          <p:nvSpPr>
            <p:cNvPr id="15" name="Rectangle 13">
              <a:extLst>
                <a:ext uri="{FF2B5EF4-FFF2-40B4-BE49-F238E27FC236}">
                  <a16:creationId xmlns:a16="http://schemas.microsoft.com/office/drawing/2014/main" id="{A6CCF95B-4B6F-CEDE-9D78-D2D262AAC592}"/>
                </a:ext>
              </a:extLst>
            </p:cNvPr>
            <p:cNvSpPr>
              <a:spLocks noChangeArrowheads="1"/>
            </p:cNvSpPr>
            <p:nvPr/>
          </p:nvSpPr>
          <p:spPr bwMode="auto">
            <a:xfrm>
              <a:off x="2599" y="2579"/>
              <a:ext cx="15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FF0000"/>
                  </a:solidFill>
                  <a:latin typeface="Tahoma" panose="020B0604030504040204" pitchFamily="34" charset="0"/>
                </a:rPr>
                <a:t>S</a:t>
              </a:r>
              <a:endParaRPr lang="zh-CN" altLang="zh-CN" sz="1800"/>
            </a:p>
          </p:txBody>
        </p:sp>
        <p:sp>
          <p:nvSpPr>
            <p:cNvPr id="16" name="Line 14">
              <a:extLst>
                <a:ext uri="{FF2B5EF4-FFF2-40B4-BE49-F238E27FC236}">
                  <a16:creationId xmlns:a16="http://schemas.microsoft.com/office/drawing/2014/main" id="{C2E41695-341B-276D-CCDC-1610F911299A}"/>
                </a:ext>
              </a:extLst>
            </p:cNvPr>
            <p:cNvSpPr>
              <a:spLocks noChangeShapeType="1"/>
            </p:cNvSpPr>
            <p:nvPr/>
          </p:nvSpPr>
          <p:spPr bwMode="auto">
            <a:xfrm>
              <a:off x="1663" y="2891"/>
              <a:ext cx="0" cy="180"/>
            </a:xfrm>
            <a:prstGeom prst="line">
              <a:avLst/>
            </a:prstGeom>
            <a:noFill/>
            <a:ln w="38100">
              <a:solidFill>
                <a:srgbClr val="40458C"/>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Rectangle 15">
              <a:extLst>
                <a:ext uri="{FF2B5EF4-FFF2-40B4-BE49-F238E27FC236}">
                  <a16:creationId xmlns:a16="http://schemas.microsoft.com/office/drawing/2014/main" id="{BD0C3ACC-E333-6C65-7AB9-83D9AB7EDA92}"/>
                </a:ext>
              </a:extLst>
            </p:cNvPr>
            <p:cNvSpPr>
              <a:spLocks noChangeArrowheads="1"/>
            </p:cNvSpPr>
            <p:nvPr/>
          </p:nvSpPr>
          <p:spPr bwMode="auto">
            <a:xfrm>
              <a:off x="1416" y="3053"/>
              <a:ext cx="135"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2300">
                  <a:solidFill>
                    <a:srgbClr val="40458C"/>
                  </a:solidFill>
                  <a:latin typeface="Tahoma" panose="020B0604030504040204" pitchFamily="34" charset="0"/>
                </a:rPr>
                <a:t>+</a:t>
              </a:r>
              <a:endParaRPr lang="zh-CN" altLang="zh-CN" sz="1800"/>
            </a:p>
          </p:txBody>
        </p:sp>
        <p:sp>
          <p:nvSpPr>
            <p:cNvPr id="18" name="Rectangle 16">
              <a:extLst>
                <a:ext uri="{FF2B5EF4-FFF2-40B4-BE49-F238E27FC236}">
                  <a16:creationId xmlns:a16="http://schemas.microsoft.com/office/drawing/2014/main" id="{E551618E-F97F-60A4-EA0D-63C62BFFAA64}"/>
                </a:ext>
              </a:extLst>
            </p:cNvPr>
            <p:cNvSpPr>
              <a:spLocks noChangeArrowheads="1"/>
            </p:cNvSpPr>
            <p:nvPr/>
          </p:nvSpPr>
          <p:spPr bwMode="auto">
            <a:xfrm>
              <a:off x="1550" y="3047"/>
              <a:ext cx="37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NH</a:t>
              </a:r>
              <a:endParaRPr lang="zh-CN" altLang="zh-CN" sz="1800"/>
            </a:p>
          </p:txBody>
        </p:sp>
        <p:sp>
          <p:nvSpPr>
            <p:cNvPr id="19" name="Rectangle 17">
              <a:extLst>
                <a:ext uri="{FF2B5EF4-FFF2-40B4-BE49-F238E27FC236}">
                  <a16:creationId xmlns:a16="http://schemas.microsoft.com/office/drawing/2014/main" id="{C56381A0-8C9D-1B8C-F33E-622DC145C3DE}"/>
                </a:ext>
              </a:extLst>
            </p:cNvPr>
            <p:cNvSpPr>
              <a:spLocks noChangeArrowheads="1"/>
            </p:cNvSpPr>
            <p:nvPr/>
          </p:nvSpPr>
          <p:spPr bwMode="auto">
            <a:xfrm>
              <a:off x="1920" y="3206"/>
              <a:ext cx="101"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2300">
                  <a:solidFill>
                    <a:srgbClr val="40458C"/>
                  </a:solidFill>
                  <a:latin typeface="Tahoma" panose="020B0604030504040204" pitchFamily="34" charset="0"/>
                </a:rPr>
                <a:t>3</a:t>
              </a:r>
              <a:endParaRPr lang="zh-CN" altLang="zh-CN" sz="1800"/>
            </a:p>
          </p:txBody>
        </p:sp>
        <p:sp>
          <p:nvSpPr>
            <p:cNvPr id="20" name="Rectangle 18">
              <a:extLst>
                <a:ext uri="{FF2B5EF4-FFF2-40B4-BE49-F238E27FC236}">
                  <a16:creationId xmlns:a16="http://schemas.microsoft.com/office/drawing/2014/main" id="{1382E8B5-2D4E-0E46-592D-776648E29ED7}"/>
                </a:ext>
              </a:extLst>
            </p:cNvPr>
            <p:cNvSpPr>
              <a:spLocks noChangeArrowheads="1"/>
            </p:cNvSpPr>
            <p:nvPr/>
          </p:nvSpPr>
          <p:spPr bwMode="auto">
            <a:xfrm>
              <a:off x="2975" y="2579"/>
              <a:ext cx="15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0000FF"/>
                  </a:solidFill>
                  <a:latin typeface="Tahoma" panose="020B0604030504040204" pitchFamily="34" charset="0"/>
                </a:rPr>
                <a:t>S</a:t>
              </a:r>
              <a:endParaRPr lang="zh-CN" altLang="zh-CN" sz="1800"/>
            </a:p>
          </p:txBody>
        </p:sp>
        <p:sp>
          <p:nvSpPr>
            <p:cNvPr id="21" name="Rectangle 19">
              <a:extLst>
                <a:ext uri="{FF2B5EF4-FFF2-40B4-BE49-F238E27FC236}">
                  <a16:creationId xmlns:a16="http://schemas.microsoft.com/office/drawing/2014/main" id="{199303D6-4887-419F-7F18-83FE4FB2305C}"/>
                </a:ext>
              </a:extLst>
            </p:cNvPr>
            <p:cNvSpPr>
              <a:spLocks noChangeArrowheads="1"/>
            </p:cNvSpPr>
            <p:nvPr/>
          </p:nvSpPr>
          <p:spPr bwMode="auto">
            <a:xfrm>
              <a:off x="3127" y="2579"/>
              <a:ext cx="10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a:t>
              </a:r>
              <a:endParaRPr lang="zh-CN" altLang="zh-CN" sz="1800"/>
            </a:p>
          </p:txBody>
        </p:sp>
        <p:sp>
          <p:nvSpPr>
            <p:cNvPr id="22" name="Rectangle 20">
              <a:extLst>
                <a:ext uri="{FF2B5EF4-FFF2-40B4-BE49-F238E27FC236}">
                  <a16:creationId xmlns:a16="http://schemas.microsoft.com/office/drawing/2014/main" id="{4A7D23D1-73EA-964C-D3BE-09F9CC82DDC9}"/>
                </a:ext>
              </a:extLst>
            </p:cNvPr>
            <p:cNvSpPr>
              <a:spLocks noChangeArrowheads="1"/>
            </p:cNvSpPr>
            <p:nvPr/>
          </p:nvSpPr>
          <p:spPr bwMode="auto">
            <a:xfrm>
              <a:off x="3228" y="2579"/>
              <a:ext cx="35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CH</a:t>
              </a:r>
              <a:endParaRPr lang="zh-CN" altLang="zh-CN" sz="1800"/>
            </a:p>
          </p:txBody>
        </p:sp>
        <p:sp>
          <p:nvSpPr>
            <p:cNvPr id="23" name="Rectangle 21">
              <a:extLst>
                <a:ext uri="{FF2B5EF4-FFF2-40B4-BE49-F238E27FC236}">
                  <a16:creationId xmlns:a16="http://schemas.microsoft.com/office/drawing/2014/main" id="{5B17C62A-9E7F-669B-EA46-7D6419A40D7D}"/>
                </a:ext>
              </a:extLst>
            </p:cNvPr>
            <p:cNvSpPr>
              <a:spLocks noChangeArrowheads="1"/>
            </p:cNvSpPr>
            <p:nvPr/>
          </p:nvSpPr>
          <p:spPr bwMode="auto">
            <a:xfrm>
              <a:off x="3579" y="2738"/>
              <a:ext cx="101"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2300">
                  <a:solidFill>
                    <a:srgbClr val="40458C"/>
                  </a:solidFill>
                  <a:latin typeface="Tahoma" panose="020B0604030504040204" pitchFamily="34" charset="0"/>
                </a:rPr>
                <a:t>2</a:t>
              </a:r>
              <a:endParaRPr lang="zh-CN" altLang="zh-CN" sz="1800"/>
            </a:p>
          </p:txBody>
        </p:sp>
        <p:sp>
          <p:nvSpPr>
            <p:cNvPr id="24" name="Rectangle 22">
              <a:extLst>
                <a:ext uri="{FF2B5EF4-FFF2-40B4-BE49-F238E27FC236}">
                  <a16:creationId xmlns:a16="http://schemas.microsoft.com/office/drawing/2014/main" id="{16130192-579D-0F68-238B-558584084C1C}"/>
                </a:ext>
              </a:extLst>
            </p:cNvPr>
            <p:cNvSpPr>
              <a:spLocks noChangeArrowheads="1"/>
            </p:cNvSpPr>
            <p:nvPr/>
          </p:nvSpPr>
          <p:spPr bwMode="auto">
            <a:xfrm>
              <a:off x="3679" y="2579"/>
              <a:ext cx="10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a:t>
              </a:r>
              <a:endParaRPr lang="zh-CN" altLang="zh-CN" sz="1800"/>
            </a:p>
          </p:txBody>
        </p:sp>
        <p:sp>
          <p:nvSpPr>
            <p:cNvPr id="25" name="Rectangle 23">
              <a:extLst>
                <a:ext uri="{FF2B5EF4-FFF2-40B4-BE49-F238E27FC236}">
                  <a16:creationId xmlns:a16="http://schemas.microsoft.com/office/drawing/2014/main" id="{1AAE2BBA-E7FF-F5F2-2350-7C815C78790A}"/>
                </a:ext>
              </a:extLst>
            </p:cNvPr>
            <p:cNvSpPr>
              <a:spLocks noChangeArrowheads="1"/>
            </p:cNvSpPr>
            <p:nvPr/>
          </p:nvSpPr>
          <p:spPr bwMode="auto">
            <a:xfrm>
              <a:off x="3780" y="2579"/>
              <a:ext cx="35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CH</a:t>
              </a:r>
              <a:endParaRPr lang="zh-CN" altLang="zh-CN" sz="1800"/>
            </a:p>
          </p:txBody>
        </p:sp>
        <p:sp>
          <p:nvSpPr>
            <p:cNvPr id="26" name="Rectangle 24">
              <a:extLst>
                <a:ext uri="{FF2B5EF4-FFF2-40B4-BE49-F238E27FC236}">
                  <a16:creationId xmlns:a16="http://schemas.microsoft.com/office/drawing/2014/main" id="{C0D1FC65-F4A4-D5A9-31DB-E8300A515A83}"/>
                </a:ext>
              </a:extLst>
            </p:cNvPr>
            <p:cNvSpPr>
              <a:spLocks noChangeArrowheads="1"/>
            </p:cNvSpPr>
            <p:nvPr/>
          </p:nvSpPr>
          <p:spPr bwMode="auto">
            <a:xfrm>
              <a:off x="4131" y="2579"/>
              <a:ext cx="10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a:t>
              </a:r>
              <a:endParaRPr lang="zh-CN" altLang="zh-CN" sz="1800"/>
            </a:p>
          </p:txBody>
        </p:sp>
        <p:sp>
          <p:nvSpPr>
            <p:cNvPr id="27" name="Rectangle 25">
              <a:extLst>
                <a:ext uri="{FF2B5EF4-FFF2-40B4-BE49-F238E27FC236}">
                  <a16:creationId xmlns:a16="http://schemas.microsoft.com/office/drawing/2014/main" id="{1DAF9CD3-E978-EFB0-1546-B5B409F9160A}"/>
                </a:ext>
              </a:extLst>
            </p:cNvPr>
            <p:cNvSpPr>
              <a:spLocks noChangeArrowheads="1"/>
            </p:cNvSpPr>
            <p:nvPr/>
          </p:nvSpPr>
          <p:spPr bwMode="auto">
            <a:xfrm>
              <a:off x="4232" y="2579"/>
              <a:ext cx="55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COO</a:t>
              </a:r>
              <a:endParaRPr lang="zh-CN" altLang="zh-CN" sz="1800"/>
            </a:p>
          </p:txBody>
        </p:sp>
        <p:sp>
          <p:nvSpPr>
            <p:cNvPr id="28" name="Rectangle 26">
              <a:extLst>
                <a:ext uri="{FF2B5EF4-FFF2-40B4-BE49-F238E27FC236}">
                  <a16:creationId xmlns:a16="http://schemas.microsoft.com/office/drawing/2014/main" id="{9CE905AC-CC0B-2067-A1D5-E01E4C727851}"/>
                </a:ext>
              </a:extLst>
            </p:cNvPr>
            <p:cNvSpPr>
              <a:spLocks noChangeArrowheads="1"/>
            </p:cNvSpPr>
            <p:nvPr/>
          </p:nvSpPr>
          <p:spPr bwMode="auto">
            <a:xfrm>
              <a:off x="4784" y="2555"/>
              <a:ext cx="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2600" b="1">
                  <a:solidFill>
                    <a:srgbClr val="40458C"/>
                  </a:solidFill>
                  <a:latin typeface="Tahoma" panose="020B0604030504040204" pitchFamily="34" charset="0"/>
                </a:rPr>
                <a:t>-</a:t>
              </a:r>
              <a:endParaRPr lang="zh-CN" altLang="zh-CN" sz="1800"/>
            </a:p>
          </p:txBody>
        </p:sp>
        <p:sp>
          <p:nvSpPr>
            <p:cNvPr id="32" name="Rectangle 30">
              <a:extLst>
                <a:ext uri="{FF2B5EF4-FFF2-40B4-BE49-F238E27FC236}">
                  <a16:creationId xmlns:a16="http://schemas.microsoft.com/office/drawing/2014/main" id="{8FDC2D63-66C6-F8C4-2709-45D7E634B0D4}"/>
                </a:ext>
              </a:extLst>
            </p:cNvPr>
            <p:cNvSpPr>
              <a:spLocks noChangeArrowheads="1"/>
            </p:cNvSpPr>
            <p:nvPr/>
          </p:nvSpPr>
          <p:spPr bwMode="auto">
            <a:xfrm>
              <a:off x="3606" y="3206"/>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zh-CN" sz="1800" dirty="0"/>
            </a:p>
          </p:txBody>
        </p:sp>
        <p:sp>
          <p:nvSpPr>
            <p:cNvPr id="33" name="Line 31">
              <a:extLst>
                <a:ext uri="{FF2B5EF4-FFF2-40B4-BE49-F238E27FC236}">
                  <a16:creationId xmlns:a16="http://schemas.microsoft.com/office/drawing/2014/main" id="{11B72021-5D67-2A53-3918-B0241D3F9589}"/>
                </a:ext>
              </a:extLst>
            </p:cNvPr>
            <p:cNvSpPr>
              <a:spLocks noChangeShapeType="1"/>
            </p:cNvSpPr>
            <p:nvPr/>
          </p:nvSpPr>
          <p:spPr bwMode="auto">
            <a:xfrm>
              <a:off x="2761" y="2744"/>
              <a:ext cx="183" cy="0"/>
            </a:xfrm>
            <a:prstGeom prst="line">
              <a:avLst/>
            </a:prstGeom>
            <a:noFill/>
            <a:ln w="38100">
              <a:solidFill>
                <a:srgbClr val="40458C"/>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Rectangle 32">
              <a:extLst>
                <a:ext uri="{FF2B5EF4-FFF2-40B4-BE49-F238E27FC236}">
                  <a16:creationId xmlns:a16="http://schemas.microsoft.com/office/drawing/2014/main" id="{E7BEC37F-4DDE-B70D-948B-DBFA3DD74F49}"/>
                </a:ext>
              </a:extLst>
            </p:cNvPr>
            <p:cNvSpPr>
              <a:spLocks noChangeArrowheads="1"/>
            </p:cNvSpPr>
            <p:nvPr/>
          </p:nvSpPr>
          <p:spPr bwMode="auto">
            <a:xfrm>
              <a:off x="855" y="2555"/>
              <a:ext cx="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2600" b="1">
                  <a:solidFill>
                    <a:srgbClr val="40458C"/>
                  </a:solidFill>
                  <a:latin typeface="Tahoma" panose="020B0604030504040204" pitchFamily="34" charset="0"/>
                </a:rPr>
                <a:t>-</a:t>
              </a:r>
              <a:endParaRPr lang="zh-CN" altLang="zh-CN" sz="1800"/>
            </a:p>
          </p:txBody>
        </p:sp>
        <p:sp>
          <p:nvSpPr>
            <p:cNvPr id="35" name="Rectangle 33">
              <a:extLst>
                <a:ext uri="{FF2B5EF4-FFF2-40B4-BE49-F238E27FC236}">
                  <a16:creationId xmlns:a16="http://schemas.microsoft.com/office/drawing/2014/main" id="{C49CCB79-D652-7961-B80F-D7694BB56923}"/>
                </a:ext>
              </a:extLst>
            </p:cNvPr>
            <p:cNvSpPr>
              <a:spLocks noChangeArrowheads="1"/>
            </p:cNvSpPr>
            <p:nvPr/>
          </p:nvSpPr>
          <p:spPr bwMode="auto">
            <a:xfrm>
              <a:off x="943" y="2579"/>
              <a:ext cx="55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OOC</a:t>
              </a:r>
              <a:endParaRPr lang="zh-CN" altLang="zh-CN" sz="1800"/>
            </a:p>
          </p:txBody>
        </p:sp>
        <p:sp>
          <p:nvSpPr>
            <p:cNvPr id="36" name="Rectangle 34">
              <a:extLst>
                <a:ext uri="{FF2B5EF4-FFF2-40B4-BE49-F238E27FC236}">
                  <a16:creationId xmlns:a16="http://schemas.microsoft.com/office/drawing/2014/main" id="{C69B8F6B-54D2-02E6-7075-DF315A188BB5}"/>
                </a:ext>
              </a:extLst>
            </p:cNvPr>
            <p:cNvSpPr>
              <a:spLocks noChangeArrowheads="1"/>
            </p:cNvSpPr>
            <p:nvPr/>
          </p:nvSpPr>
          <p:spPr bwMode="auto">
            <a:xfrm>
              <a:off x="1498" y="2579"/>
              <a:ext cx="10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a:t>
              </a:r>
              <a:endParaRPr lang="zh-CN" altLang="zh-CN" sz="1800"/>
            </a:p>
          </p:txBody>
        </p:sp>
        <p:sp>
          <p:nvSpPr>
            <p:cNvPr id="37" name="Rectangle 35">
              <a:extLst>
                <a:ext uri="{FF2B5EF4-FFF2-40B4-BE49-F238E27FC236}">
                  <a16:creationId xmlns:a16="http://schemas.microsoft.com/office/drawing/2014/main" id="{7F9C1B3D-1BA9-18EA-683B-CE4FD70D953E}"/>
                </a:ext>
              </a:extLst>
            </p:cNvPr>
            <p:cNvSpPr>
              <a:spLocks noChangeArrowheads="1"/>
            </p:cNvSpPr>
            <p:nvPr/>
          </p:nvSpPr>
          <p:spPr bwMode="auto">
            <a:xfrm>
              <a:off x="1599" y="2579"/>
              <a:ext cx="35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CH</a:t>
              </a:r>
              <a:endParaRPr lang="zh-CN" altLang="zh-CN" sz="1800"/>
            </a:p>
          </p:txBody>
        </p:sp>
        <p:sp>
          <p:nvSpPr>
            <p:cNvPr id="38" name="Rectangle 36">
              <a:extLst>
                <a:ext uri="{FF2B5EF4-FFF2-40B4-BE49-F238E27FC236}">
                  <a16:creationId xmlns:a16="http://schemas.microsoft.com/office/drawing/2014/main" id="{A3345D07-C2D3-CE09-6C45-8B25F1747868}"/>
                </a:ext>
              </a:extLst>
            </p:cNvPr>
            <p:cNvSpPr>
              <a:spLocks noChangeArrowheads="1"/>
            </p:cNvSpPr>
            <p:nvPr/>
          </p:nvSpPr>
          <p:spPr bwMode="auto">
            <a:xfrm>
              <a:off x="1950" y="2579"/>
              <a:ext cx="10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a:t>
              </a:r>
              <a:endParaRPr lang="zh-CN" altLang="zh-CN" sz="1800"/>
            </a:p>
          </p:txBody>
        </p:sp>
        <p:sp>
          <p:nvSpPr>
            <p:cNvPr id="39" name="Rectangle 37">
              <a:extLst>
                <a:ext uri="{FF2B5EF4-FFF2-40B4-BE49-F238E27FC236}">
                  <a16:creationId xmlns:a16="http://schemas.microsoft.com/office/drawing/2014/main" id="{47DC569A-2DCD-468D-8244-1670C4161471}"/>
                </a:ext>
              </a:extLst>
            </p:cNvPr>
            <p:cNvSpPr>
              <a:spLocks noChangeArrowheads="1"/>
            </p:cNvSpPr>
            <p:nvPr/>
          </p:nvSpPr>
          <p:spPr bwMode="auto">
            <a:xfrm>
              <a:off x="2050" y="2579"/>
              <a:ext cx="35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CH</a:t>
              </a:r>
              <a:endParaRPr lang="zh-CN" altLang="zh-CN" sz="1800"/>
            </a:p>
          </p:txBody>
        </p:sp>
        <p:sp>
          <p:nvSpPr>
            <p:cNvPr id="40" name="Rectangle 38">
              <a:extLst>
                <a:ext uri="{FF2B5EF4-FFF2-40B4-BE49-F238E27FC236}">
                  <a16:creationId xmlns:a16="http://schemas.microsoft.com/office/drawing/2014/main" id="{CB2119BD-A295-B5EC-3C11-B6B0FF91AC41}"/>
                </a:ext>
              </a:extLst>
            </p:cNvPr>
            <p:cNvSpPr>
              <a:spLocks noChangeArrowheads="1"/>
            </p:cNvSpPr>
            <p:nvPr/>
          </p:nvSpPr>
          <p:spPr bwMode="auto">
            <a:xfrm>
              <a:off x="2398" y="2738"/>
              <a:ext cx="101"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2300">
                  <a:solidFill>
                    <a:srgbClr val="40458C"/>
                  </a:solidFill>
                  <a:latin typeface="Tahoma" panose="020B0604030504040204" pitchFamily="34" charset="0"/>
                </a:rPr>
                <a:t>2</a:t>
              </a:r>
              <a:endParaRPr lang="zh-CN" altLang="zh-CN" sz="1800"/>
            </a:p>
          </p:txBody>
        </p:sp>
        <p:sp>
          <p:nvSpPr>
            <p:cNvPr id="41" name="Rectangle 39">
              <a:extLst>
                <a:ext uri="{FF2B5EF4-FFF2-40B4-BE49-F238E27FC236}">
                  <a16:creationId xmlns:a16="http://schemas.microsoft.com/office/drawing/2014/main" id="{055A63E5-67D1-146D-0461-9DB6658F0285}"/>
                </a:ext>
              </a:extLst>
            </p:cNvPr>
            <p:cNvSpPr>
              <a:spLocks noChangeArrowheads="1"/>
            </p:cNvSpPr>
            <p:nvPr/>
          </p:nvSpPr>
          <p:spPr bwMode="auto">
            <a:xfrm>
              <a:off x="2499" y="2579"/>
              <a:ext cx="10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a:t>
              </a:r>
              <a:endParaRPr lang="zh-CN" altLang="zh-CN" sz="1800"/>
            </a:p>
          </p:txBody>
        </p:sp>
        <p:sp>
          <p:nvSpPr>
            <p:cNvPr id="42" name="Rectangle 40">
              <a:extLst>
                <a:ext uri="{FF2B5EF4-FFF2-40B4-BE49-F238E27FC236}">
                  <a16:creationId xmlns:a16="http://schemas.microsoft.com/office/drawing/2014/main" id="{50A31DF9-9BBD-B5DD-061A-FA26BA3CCF93}"/>
                </a:ext>
              </a:extLst>
            </p:cNvPr>
            <p:cNvSpPr>
              <a:spLocks noChangeArrowheads="1"/>
            </p:cNvSpPr>
            <p:nvPr/>
          </p:nvSpPr>
          <p:spPr bwMode="auto">
            <a:xfrm>
              <a:off x="2599" y="2579"/>
              <a:ext cx="15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FF0000"/>
                  </a:solidFill>
                  <a:latin typeface="Tahoma" panose="020B0604030504040204" pitchFamily="34" charset="0"/>
                </a:rPr>
                <a:t>S</a:t>
              </a:r>
              <a:endParaRPr lang="zh-CN" altLang="zh-CN" sz="1800"/>
            </a:p>
          </p:txBody>
        </p:sp>
        <p:sp>
          <p:nvSpPr>
            <p:cNvPr id="43" name="Line 41">
              <a:extLst>
                <a:ext uri="{FF2B5EF4-FFF2-40B4-BE49-F238E27FC236}">
                  <a16:creationId xmlns:a16="http://schemas.microsoft.com/office/drawing/2014/main" id="{7C16592D-27C0-5651-4AF1-22C5C58B952C}"/>
                </a:ext>
              </a:extLst>
            </p:cNvPr>
            <p:cNvSpPr>
              <a:spLocks noChangeShapeType="1"/>
            </p:cNvSpPr>
            <p:nvPr/>
          </p:nvSpPr>
          <p:spPr bwMode="auto">
            <a:xfrm>
              <a:off x="1663" y="2891"/>
              <a:ext cx="0" cy="180"/>
            </a:xfrm>
            <a:prstGeom prst="line">
              <a:avLst/>
            </a:prstGeom>
            <a:noFill/>
            <a:ln w="38100">
              <a:solidFill>
                <a:srgbClr val="40458C"/>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Rectangle 42">
              <a:extLst>
                <a:ext uri="{FF2B5EF4-FFF2-40B4-BE49-F238E27FC236}">
                  <a16:creationId xmlns:a16="http://schemas.microsoft.com/office/drawing/2014/main" id="{99B57E06-AEE9-5C75-B54A-727F3056579F}"/>
                </a:ext>
              </a:extLst>
            </p:cNvPr>
            <p:cNvSpPr>
              <a:spLocks noChangeArrowheads="1"/>
            </p:cNvSpPr>
            <p:nvPr/>
          </p:nvSpPr>
          <p:spPr bwMode="auto">
            <a:xfrm>
              <a:off x="1416" y="3053"/>
              <a:ext cx="135"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2300">
                  <a:solidFill>
                    <a:srgbClr val="40458C"/>
                  </a:solidFill>
                  <a:latin typeface="Tahoma" panose="020B0604030504040204" pitchFamily="34" charset="0"/>
                </a:rPr>
                <a:t>+</a:t>
              </a:r>
              <a:endParaRPr lang="zh-CN" altLang="zh-CN" sz="1800"/>
            </a:p>
          </p:txBody>
        </p:sp>
        <p:sp>
          <p:nvSpPr>
            <p:cNvPr id="45" name="Rectangle 43">
              <a:extLst>
                <a:ext uri="{FF2B5EF4-FFF2-40B4-BE49-F238E27FC236}">
                  <a16:creationId xmlns:a16="http://schemas.microsoft.com/office/drawing/2014/main" id="{0E0ED765-311F-5CAF-FBA1-033BC15EFF4D}"/>
                </a:ext>
              </a:extLst>
            </p:cNvPr>
            <p:cNvSpPr>
              <a:spLocks noChangeArrowheads="1"/>
            </p:cNvSpPr>
            <p:nvPr/>
          </p:nvSpPr>
          <p:spPr bwMode="auto">
            <a:xfrm>
              <a:off x="1550" y="3047"/>
              <a:ext cx="37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NH</a:t>
              </a:r>
              <a:endParaRPr lang="zh-CN" altLang="zh-CN" sz="1800"/>
            </a:p>
          </p:txBody>
        </p:sp>
        <p:sp>
          <p:nvSpPr>
            <p:cNvPr id="46" name="Rectangle 44">
              <a:extLst>
                <a:ext uri="{FF2B5EF4-FFF2-40B4-BE49-F238E27FC236}">
                  <a16:creationId xmlns:a16="http://schemas.microsoft.com/office/drawing/2014/main" id="{2BB21B49-B790-6AE0-4CE7-9EA95D6B3210}"/>
                </a:ext>
              </a:extLst>
            </p:cNvPr>
            <p:cNvSpPr>
              <a:spLocks noChangeArrowheads="1"/>
            </p:cNvSpPr>
            <p:nvPr/>
          </p:nvSpPr>
          <p:spPr bwMode="auto">
            <a:xfrm>
              <a:off x="1920" y="3206"/>
              <a:ext cx="101"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2300">
                  <a:solidFill>
                    <a:srgbClr val="40458C"/>
                  </a:solidFill>
                  <a:latin typeface="Tahoma" panose="020B0604030504040204" pitchFamily="34" charset="0"/>
                </a:rPr>
                <a:t>3</a:t>
              </a:r>
              <a:endParaRPr lang="zh-CN" altLang="zh-CN" sz="1800"/>
            </a:p>
          </p:txBody>
        </p:sp>
        <p:sp>
          <p:nvSpPr>
            <p:cNvPr id="47" name="Rectangle 45">
              <a:extLst>
                <a:ext uri="{FF2B5EF4-FFF2-40B4-BE49-F238E27FC236}">
                  <a16:creationId xmlns:a16="http://schemas.microsoft.com/office/drawing/2014/main" id="{0F9FE20E-C5DB-0970-02AA-C45DE2A4FEFD}"/>
                </a:ext>
              </a:extLst>
            </p:cNvPr>
            <p:cNvSpPr>
              <a:spLocks noChangeArrowheads="1"/>
            </p:cNvSpPr>
            <p:nvPr/>
          </p:nvSpPr>
          <p:spPr bwMode="auto">
            <a:xfrm>
              <a:off x="2975" y="2579"/>
              <a:ext cx="15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0000FF"/>
                  </a:solidFill>
                  <a:latin typeface="Tahoma" panose="020B0604030504040204" pitchFamily="34" charset="0"/>
                </a:rPr>
                <a:t>S</a:t>
              </a:r>
              <a:endParaRPr lang="zh-CN" altLang="zh-CN" sz="1800"/>
            </a:p>
          </p:txBody>
        </p:sp>
        <p:sp>
          <p:nvSpPr>
            <p:cNvPr id="48" name="Rectangle 46">
              <a:extLst>
                <a:ext uri="{FF2B5EF4-FFF2-40B4-BE49-F238E27FC236}">
                  <a16:creationId xmlns:a16="http://schemas.microsoft.com/office/drawing/2014/main" id="{76D2F6DB-6C55-9CAA-2C57-54261CA3113B}"/>
                </a:ext>
              </a:extLst>
            </p:cNvPr>
            <p:cNvSpPr>
              <a:spLocks noChangeArrowheads="1"/>
            </p:cNvSpPr>
            <p:nvPr/>
          </p:nvSpPr>
          <p:spPr bwMode="auto">
            <a:xfrm>
              <a:off x="3127" y="2579"/>
              <a:ext cx="10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a:t>
              </a:r>
              <a:endParaRPr lang="zh-CN" altLang="zh-CN" sz="1800"/>
            </a:p>
          </p:txBody>
        </p:sp>
        <p:sp>
          <p:nvSpPr>
            <p:cNvPr id="49" name="Rectangle 47">
              <a:extLst>
                <a:ext uri="{FF2B5EF4-FFF2-40B4-BE49-F238E27FC236}">
                  <a16:creationId xmlns:a16="http://schemas.microsoft.com/office/drawing/2014/main" id="{9F368FEA-FE9C-9D69-10C2-5974BABFCB6E}"/>
                </a:ext>
              </a:extLst>
            </p:cNvPr>
            <p:cNvSpPr>
              <a:spLocks noChangeArrowheads="1"/>
            </p:cNvSpPr>
            <p:nvPr/>
          </p:nvSpPr>
          <p:spPr bwMode="auto">
            <a:xfrm>
              <a:off x="3228" y="2579"/>
              <a:ext cx="35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CH</a:t>
              </a:r>
              <a:endParaRPr lang="zh-CN" altLang="zh-CN" sz="1800"/>
            </a:p>
          </p:txBody>
        </p:sp>
        <p:sp>
          <p:nvSpPr>
            <p:cNvPr id="50" name="Rectangle 48">
              <a:extLst>
                <a:ext uri="{FF2B5EF4-FFF2-40B4-BE49-F238E27FC236}">
                  <a16:creationId xmlns:a16="http://schemas.microsoft.com/office/drawing/2014/main" id="{7D58D7F6-CC9B-8A2E-4FAB-F52EC57CB5EA}"/>
                </a:ext>
              </a:extLst>
            </p:cNvPr>
            <p:cNvSpPr>
              <a:spLocks noChangeArrowheads="1"/>
            </p:cNvSpPr>
            <p:nvPr/>
          </p:nvSpPr>
          <p:spPr bwMode="auto">
            <a:xfrm>
              <a:off x="3579" y="2738"/>
              <a:ext cx="101"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2300">
                  <a:solidFill>
                    <a:srgbClr val="40458C"/>
                  </a:solidFill>
                  <a:latin typeface="Tahoma" panose="020B0604030504040204" pitchFamily="34" charset="0"/>
                </a:rPr>
                <a:t>2</a:t>
              </a:r>
              <a:endParaRPr lang="zh-CN" altLang="zh-CN" sz="1800"/>
            </a:p>
          </p:txBody>
        </p:sp>
        <p:sp>
          <p:nvSpPr>
            <p:cNvPr id="51" name="Rectangle 49">
              <a:extLst>
                <a:ext uri="{FF2B5EF4-FFF2-40B4-BE49-F238E27FC236}">
                  <a16:creationId xmlns:a16="http://schemas.microsoft.com/office/drawing/2014/main" id="{6898DAA5-70CF-561F-FC64-6C2B1FBA5D94}"/>
                </a:ext>
              </a:extLst>
            </p:cNvPr>
            <p:cNvSpPr>
              <a:spLocks noChangeArrowheads="1"/>
            </p:cNvSpPr>
            <p:nvPr/>
          </p:nvSpPr>
          <p:spPr bwMode="auto">
            <a:xfrm>
              <a:off x="3679" y="2579"/>
              <a:ext cx="10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a:t>
              </a:r>
              <a:endParaRPr lang="zh-CN" altLang="zh-CN" sz="1800"/>
            </a:p>
          </p:txBody>
        </p:sp>
        <p:sp>
          <p:nvSpPr>
            <p:cNvPr id="52" name="Rectangle 50">
              <a:extLst>
                <a:ext uri="{FF2B5EF4-FFF2-40B4-BE49-F238E27FC236}">
                  <a16:creationId xmlns:a16="http://schemas.microsoft.com/office/drawing/2014/main" id="{31E984B8-4F2D-0263-C583-EB7FF008D970}"/>
                </a:ext>
              </a:extLst>
            </p:cNvPr>
            <p:cNvSpPr>
              <a:spLocks noChangeArrowheads="1"/>
            </p:cNvSpPr>
            <p:nvPr/>
          </p:nvSpPr>
          <p:spPr bwMode="auto">
            <a:xfrm>
              <a:off x="3780" y="2579"/>
              <a:ext cx="35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CH</a:t>
              </a:r>
              <a:endParaRPr lang="zh-CN" altLang="zh-CN" sz="1800"/>
            </a:p>
          </p:txBody>
        </p:sp>
        <p:sp>
          <p:nvSpPr>
            <p:cNvPr id="53" name="Rectangle 51">
              <a:extLst>
                <a:ext uri="{FF2B5EF4-FFF2-40B4-BE49-F238E27FC236}">
                  <a16:creationId xmlns:a16="http://schemas.microsoft.com/office/drawing/2014/main" id="{133C4533-3E99-0D99-B142-D094C6B65AA1}"/>
                </a:ext>
              </a:extLst>
            </p:cNvPr>
            <p:cNvSpPr>
              <a:spLocks noChangeArrowheads="1"/>
            </p:cNvSpPr>
            <p:nvPr/>
          </p:nvSpPr>
          <p:spPr bwMode="auto">
            <a:xfrm>
              <a:off x="4131" y="2579"/>
              <a:ext cx="10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a:t>
              </a:r>
              <a:endParaRPr lang="zh-CN" altLang="zh-CN" sz="1800"/>
            </a:p>
          </p:txBody>
        </p:sp>
        <p:sp>
          <p:nvSpPr>
            <p:cNvPr id="54" name="Rectangle 52">
              <a:extLst>
                <a:ext uri="{FF2B5EF4-FFF2-40B4-BE49-F238E27FC236}">
                  <a16:creationId xmlns:a16="http://schemas.microsoft.com/office/drawing/2014/main" id="{3B197C7E-FFC8-00CD-4022-AA5212BF6590}"/>
                </a:ext>
              </a:extLst>
            </p:cNvPr>
            <p:cNvSpPr>
              <a:spLocks noChangeArrowheads="1"/>
            </p:cNvSpPr>
            <p:nvPr/>
          </p:nvSpPr>
          <p:spPr bwMode="auto">
            <a:xfrm>
              <a:off x="4232" y="2579"/>
              <a:ext cx="55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COO</a:t>
              </a:r>
              <a:endParaRPr lang="zh-CN" altLang="zh-CN" sz="1800"/>
            </a:p>
          </p:txBody>
        </p:sp>
        <p:sp>
          <p:nvSpPr>
            <p:cNvPr id="55" name="Rectangle 53">
              <a:extLst>
                <a:ext uri="{FF2B5EF4-FFF2-40B4-BE49-F238E27FC236}">
                  <a16:creationId xmlns:a16="http://schemas.microsoft.com/office/drawing/2014/main" id="{46B374C7-F9C9-97BD-A40A-4BCDD293AF7E}"/>
                </a:ext>
              </a:extLst>
            </p:cNvPr>
            <p:cNvSpPr>
              <a:spLocks noChangeArrowheads="1"/>
            </p:cNvSpPr>
            <p:nvPr/>
          </p:nvSpPr>
          <p:spPr bwMode="auto">
            <a:xfrm>
              <a:off x="4784" y="2555"/>
              <a:ext cx="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2600" b="1">
                  <a:solidFill>
                    <a:srgbClr val="40458C"/>
                  </a:solidFill>
                  <a:latin typeface="Tahoma" panose="020B0604030504040204" pitchFamily="34" charset="0"/>
                </a:rPr>
                <a:t>-</a:t>
              </a:r>
              <a:endParaRPr lang="zh-CN" altLang="zh-CN" sz="1800"/>
            </a:p>
          </p:txBody>
        </p:sp>
        <p:sp>
          <p:nvSpPr>
            <p:cNvPr id="56" name="Line 54">
              <a:extLst>
                <a:ext uri="{FF2B5EF4-FFF2-40B4-BE49-F238E27FC236}">
                  <a16:creationId xmlns:a16="http://schemas.microsoft.com/office/drawing/2014/main" id="{3E3FBB76-48AB-B583-6E1C-588E035E20A0}"/>
                </a:ext>
              </a:extLst>
            </p:cNvPr>
            <p:cNvSpPr>
              <a:spLocks noChangeShapeType="1"/>
            </p:cNvSpPr>
            <p:nvPr/>
          </p:nvSpPr>
          <p:spPr bwMode="auto">
            <a:xfrm>
              <a:off x="3878" y="2891"/>
              <a:ext cx="0" cy="180"/>
            </a:xfrm>
            <a:prstGeom prst="line">
              <a:avLst/>
            </a:prstGeom>
            <a:noFill/>
            <a:ln w="38100">
              <a:solidFill>
                <a:srgbClr val="40458C"/>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Rectangle 55">
              <a:extLst>
                <a:ext uri="{FF2B5EF4-FFF2-40B4-BE49-F238E27FC236}">
                  <a16:creationId xmlns:a16="http://schemas.microsoft.com/office/drawing/2014/main" id="{89862F0B-B18D-F4C6-EC58-6D1D6543627D}"/>
                </a:ext>
              </a:extLst>
            </p:cNvPr>
            <p:cNvSpPr>
              <a:spLocks noChangeArrowheads="1"/>
            </p:cNvSpPr>
            <p:nvPr/>
          </p:nvSpPr>
          <p:spPr bwMode="auto">
            <a:xfrm>
              <a:off x="3696" y="3022"/>
              <a:ext cx="135"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2300" dirty="0">
                  <a:solidFill>
                    <a:srgbClr val="40458C"/>
                  </a:solidFill>
                  <a:latin typeface="Tahoma" panose="020B0604030504040204" pitchFamily="34" charset="0"/>
                </a:rPr>
                <a:t>+</a:t>
              </a:r>
              <a:endParaRPr lang="zh-CN" altLang="zh-CN" sz="1800" dirty="0"/>
            </a:p>
          </p:txBody>
        </p:sp>
        <p:sp>
          <p:nvSpPr>
            <p:cNvPr id="58" name="Rectangle 56">
              <a:extLst>
                <a:ext uri="{FF2B5EF4-FFF2-40B4-BE49-F238E27FC236}">
                  <a16:creationId xmlns:a16="http://schemas.microsoft.com/office/drawing/2014/main" id="{54606AB0-0011-51BB-52B2-CDC6B23AF83A}"/>
                </a:ext>
              </a:extLst>
            </p:cNvPr>
            <p:cNvSpPr>
              <a:spLocks noChangeArrowheads="1"/>
            </p:cNvSpPr>
            <p:nvPr/>
          </p:nvSpPr>
          <p:spPr bwMode="auto">
            <a:xfrm>
              <a:off x="3846" y="3014"/>
              <a:ext cx="47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dirty="0">
                  <a:solidFill>
                    <a:srgbClr val="40458C"/>
                  </a:solidFill>
                  <a:latin typeface="Tahoma" panose="020B0604030504040204" pitchFamily="34" charset="0"/>
                </a:rPr>
                <a:t>NH</a:t>
              </a:r>
              <a:r>
                <a:rPr lang="en-US" altLang="zh-CN" sz="3400" baseline="-25000" dirty="0">
                  <a:solidFill>
                    <a:srgbClr val="40458C"/>
                  </a:solidFill>
                  <a:latin typeface="Tahoma" panose="020B0604030504040204" pitchFamily="34" charset="0"/>
                </a:rPr>
                <a:t>3</a:t>
              </a:r>
              <a:endParaRPr lang="zh-CN" altLang="zh-CN" sz="1800" baseline="-25000" dirty="0"/>
            </a:p>
          </p:txBody>
        </p:sp>
        <p:sp>
          <p:nvSpPr>
            <p:cNvPr id="60" name="Line 58">
              <a:extLst>
                <a:ext uri="{FF2B5EF4-FFF2-40B4-BE49-F238E27FC236}">
                  <a16:creationId xmlns:a16="http://schemas.microsoft.com/office/drawing/2014/main" id="{55255668-8390-BF8E-E9E7-4FFFA37313F7}"/>
                </a:ext>
              </a:extLst>
            </p:cNvPr>
            <p:cNvSpPr>
              <a:spLocks noChangeShapeType="1"/>
            </p:cNvSpPr>
            <p:nvPr/>
          </p:nvSpPr>
          <p:spPr bwMode="auto">
            <a:xfrm>
              <a:off x="2761" y="2744"/>
              <a:ext cx="183" cy="0"/>
            </a:xfrm>
            <a:prstGeom prst="line">
              <a:avLst/>
            </a:prstGeom>
            <a:noFill/>
            <a:ln w="38100">
              <a:solidFill>
                <a:srgbClr val="40458C"/>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1" name="Group 61">
            <a:extLst>
              <a:ext uri="{FF2B5EF4-FFF2-40B4-BE49-F238E27FC236}">
                <a16:creationId xmlns:a16="http://schemas.microsoft.com/office/drawing/2014/main" id="{0B032512-CD10-2838-A8CF-7AAB73D5834A}"/>
              </a:ext>
            </a:extLst>
          </p:cNvPr>
          <p:cNvGrpSpPr>
            <a:grpSpLocks noChangeAspect="1"/>
          </p:cNvGrpSpPr>
          <p:nvPr/>
        </p:nvGrpSpPr>
        <p:grpSpPr bwMode="auto">
          <a:xfrm>
            <a:off x="6465888" y="1670051"/>
            <a:ext cx="3714750" cy="1438275"/>
            <a:chOff x="3113" y="1052"/>
            <a:chExt cx="2340" cy="906"/>
          </a:xfrm>
        </p:grpSpPr>
        <p:sp>
          <p:nvSpPr>
            <p:cNvPr id="62" name="AutoShape 60">
              <a:extLst>
                <a:ext uri="{FF2B5EF4-FFF2-40B4-BE49-F238E27FC236}">
                  <a16:creationId xmlns:a16="http://schemas.microsoft.com/office/drawing/2014/main" id="{55EFDF55-B5C0-1D79-9C36-EC78E86E8ABD}"/>
                </a:ext>
              </a:extLst>
            </p:cNvPr>
            <p:cNvSpPr>
              <a:spLocks noChangeAspect="1" noChangeArrowheads="1" noTextEdit="1"/>
            </p:cNvSpPr>
            <p:nvPr/>
          </p:nvSpPr>
          <p:spPr bwMode="auto">
            <a:xfrm>
              <a:off x="3113" y="1052"/>
              <a:ext cx="2340" cy="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Rectangle 62">
              <a:extLst>
                <a:ext uri="{FF2B5EF4-FFF2-40B4-BE49-F238E27FC236}">
                  <a16:creationId xmlns:a16="http://schemas.microsoft.com/office/drawing/2014/main" id="{15AE7BE8-2072-A93B-0703-18DF9EA02D62}"/>
                </a:ext>
              </a:extLst>
            </p:cNvPr>
            <p:cNvSpPr>
              <a:spLocks noChangeArrowheads="1"/>
            </p:cNvSpPr>
            <p:nvPr/>
          </p:nvSpPr>
          <p:spPr bwMode="auto">
            <a:xfrm>
              <a:off x="3168" y="1079"/>
              <a:ext cx="33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0000FF"/>
                  </a:solidFill>
                  <a:latin typeface="Tahoma" panose="020B0604030504040204" pitchFamily="34" charset="0"/>
                </a:rPr>
                <a:t>HS</a:t>
              </a:r>
              <a:endParaRPr lang="zh-CN" altLang="zh-CN" sz="1800"/>
            </a:p>
          </p:txBody>
        </p:sp>
        <p:sp>
          <p:nvSpPr>
            <p:cNvPr id="83968" name="Rectangle 63">
              <a:extLst>
                <a:ext uri="{FF2B5EF4-FFF2-40B4-BE49-F238E27FC236}">
                  <a16:creationId xmlns:a16="http://schemas.microsoft.com/office/drawing/2014/main" id="{ED6903CE-2A2A-0994-2AA4-6CB0FEF8C587}"/>
                </a:ext>
              </a:extLst>
            </p:cNvPr>
            <p:cNvSpPr>
              <a:spLocks noChangeArrowheads="1"/>
            </p:cNvSpPr>
            <p:nvPr/>
          </p:nvSpPr>
          <p:spPr bwMode="auto">
            <a:xfrm>
              <a:off x="3505" y="1079"/>
              <a:ext cx="10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a:t>
              </a:r>
              <a:endParaRPr lang="zh-CN" altLang="zh-CN" sz="1800"/>
            </a:p>
          </p:txBody>
        </p:sp>
        <p:sp>
          <p:nvSpPr>
            <p:cNvPr id="83969" name="Rectangle 64">
              <a:extLst>
                <a:ext uri="{FF2B5EF4-FFF2-40B4-BE49-F238E27FC236}">
                  <a16:creationId xmlns:a16="http://schemas.microsoft.com/office/drawing/2014/main" id="{D8673646-C49C-AE18-B319-F5DC97758230}"/>
                </a:ext>
              </a:extLst>
            </p:cNvPr>
            <p:cNvSpPr>
              <a:spLocks noChangeArrowheads="1"/>
            </p:cNvSpPr>
            <p:nvPr/>
          </p:nvSpPr>
          <p:spPr bwMode="auto">
            <a:xfrm>
              <a:off x="3605" y="1079"/>
              <a:ext cx="35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CH</a:t>
              </a:r>
              <a:endParaRPr lang="zh-CN" altLang="zh-CN" sz="1800"/>
            </a:p>
          </p:txBody>
        </p:sp>
        <p:sp>
          <p:nvSpPr>
            <p:cNvPr id="83970" name="Rectangle 65">
              <a:extLst>
                <a:ext uri="{FF2B5EF4-FFF2-40B4-BE49-F238E27FC236}">
                  <a16:creationId xmlns:a16="http://schemas.microsoft.com/office/drawing/2014/main" id="{819B7C89-4510-867B-08C5-1D23B7E3CA9F}"/>
                </a:ext>
              </a:extLst>
            </p:cNvPr>
            <p:cNvSpPr>
              <a:spLocks noChangeArrowheads="1"/>
            </p:cNvSpPr>
            <p:nvPr/>
          </p:nvSpPr>
          <p:spPr bwMode="auto">
            <a:xfrm>
              <a:off x="3954" y="1239"/>
              <a:ext cx="101"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2300">
                  <a:solidFill>
                    <a:srgbClr val="40458C"/>
                  </a:solidFill>
                  <a:latin typeface="Tahoma" panose="020B0604030504040204" pitchFamily="34" charset="0"/>
                </a:rPr>
                <a:t>2</a:t>
              </a:r>
              <a:endParaRPr lang="zh-CN" altLang="zh-CN" sz="1800"/>
            </a:p>
          </p:txBody>
        </p:sp>
        <p:sp>
          <p:nvSpPr>
            <p:cNvPr id="83971" name="Rectangle 66">
              <a:extLst>
                <a:ext uri="{FF2B5EF4-FFF2-40B4-BE49-F238E27FC236}">
                  <a16:creationId xmlns:a16="http://schemas.microsoft.com/office/drawing/2014/main" id="{4940FEB7-1C71-7F8D-6BC1-D8C4F93F0D8E}"/>
                </a:ext>
              </a:extLst>
            </p:cNvPr>
            <p:cNvSpPr>
              <a:spLocks noChangeArrowheads="1"/>
            </p:cNvSpPr>
            <p:nvPr/>
          </p:nvSpPr>
          <p:spPr bwMode="auto">
            <a:xfrm>
              <a:off x="4055" y="1079"/>
              <a:ext cx="10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a:t>
              </a:r>
              <a:endParaRPr lang="zh-CN" altLang="zh-CN" sz="1800"/>
            </a:p>
          </p:txBody>
        </p:sp>
        <p:sp>
          <p:nvSpPr>
            <p:cNvPr id="83972" name="Rectangle 67">
              <a:extLst>
                <a:ext uri="{FF2B5EF4-FFF2-40B4-BE49-F238E27FC236}">
                  <a16:creationId xmlns:a16="http://schemas.microsoft.com/office/drawing/2014/main" id="{7673BC87-F224-7AE3-3682-FA1911384F15}"/>
                </a:ext>
              </a:extLst>
            </p:cNvPr>
            <p:cNvSpPr>
              <a:spLocks noChangeArrowheads="1"/>
            </p:cNvSpPr>
            <p:nvPr/>
          </p:nvSpPr>
          <p:spPr bwMode="auto">
            <a:xfrm>
              <a:off x="4155" y="1079"/>
              <a:ext cx="35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CH</a:t>
              </a:r>
              <a:endParaRPr lang="zh-CN" altLang="zh-CN" sz="1800"/>
            </a:p>
          </p:txBody>
        </p:sp>
        <p:sp>
          <p:nvSpPr>
            <p:cNvPr id="83973" name="Rectangle 68">
              <a:extLst>
                <a:ext uri="{FF2B5EF4-FFF2-40B4-BE49-F238E27FC236}">
                  <a16:creationId xmlns:a16="http://schemas.microsoft.com/office/drawing/2014/main" id="{C9304753-F3C2-5DF5-B274-9E787BAD66E6}"/>
                </a:ext>
              </a:extLst>
            </p:cNvPr>
            <p:cNvSpPr>
              <a:spLocks noChangeArrowheads="1"/>
            </p:cNvSpPr>
            <p:nvPr/>
          </p:nvSpPr>
          <p:spPr bwMode="auto">
            <a:xfrm>
              <a:off x="4501" y="1079"/>
              <a:ext cx="10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a:t>
              </a:r>
              <a:endParaRPr lang="zh-CN" altLang="zh-CN" sz="1800"/>
            </a:p>
          </p:txBody>
        </p:sp>
        <p:sp>
          <p:nvSpPr>
            <p:cNvPr id="83974" name="Rectangle 69">
              <a:extLst>
                <a:ext uri="{FF2B5EF4-FFF2-40B4-BE49-F238E27FC236}">
                  <a16:creationId xmlns:a16="http://schemas.microsoft.com/office/drawing/2014/main" id="{99961113-D000-4023-69F5-26680046FF2D}"/>
                </a:ext>
              </a:extLst>
            </p:cNvPr>
            <p:cNvSpPr>
              <a:spLocks noChangeArrowheads="1"/>
            </p:cNvSpPr>
            <p:nvPr/>
          </p:nvSpPr>
          <p:spPr bwMode="auto">
            <a:xfrm>
              <a:off x="4602" y="1079"/>
              <a:ext cx="55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COO</a:t>
              </a:r>
              <a:endParaRPr lang="zh-CN" altLang="zh-CN" sz="1800"/>
            </a:p>
          </p:txBody>
        </p:sp>
        <p:sp>
          <p:nvSpPr>
            <p:cNvPr id="83984" name="Rectangle 70">
              <a:extLst>
                <a:ext uri="{FF2B5EF4-FFF2-40B4-BE49-F238E27FC236}">
                  <a16:creationId xmlns:a16="http://schemas.microsoft.com/office/drawing/2014/main" id="{2977856B-B283-DC2D-0970-89CFEB26FF89}"/>
                </a:ext>
              </a:extLst>
            </p:cNvPr>
            <p:cNvSpPr>
              <a:spLocks noChangeArrowheads="1"/>
            </p:cNvSpPr>
            <p:nvPr/>
          </p:nvSpPr>
          <p:spPr bwMode="auto">
            <a:xfrm>
              <a:off x="5155" y="1055"/>
              <a:ext cx="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2600" b="1">
                  <a:solidFill>
                    <a:srgbClr val="40458C"/>
                  </a:solidFill>
                  <a:latin typeface="Tahoma" panose="020B0604030504040204" pitchFamily="34" charset="0"/>
                </a:rPr>
                <a:t>-</a:t>
              </a:r>
              <a:endParaRPr lang="zh-CN" altLang="zh-CN" sz="1800"/>
            </a:p>
          </p:txBody>
        </p:sp>
        <p:sp>
          <p:nvSpPr>
            <p:cNvPr id="83988" name="Rectangle 74">
              <a:extLst>
                <a:ext uri="{FF2B5EF4-FFF2-40B4-BE49-F238E27FC236}">
                  <a16:creationId xmlns:a16="http://schemas.microsoft.com/office/drawing/2014/main" id="{E2B0537C-BA24-87A4-8872-8E7F2DF6A219}"/>
                </a:ext>
              </a:extLst>
            </p:cNvPr>
            <p:cNvSpPr>
              <a:spLocks noChangeArrowheads="1"/>
            </p:cNvSpPr>
            <p:nvPr/>
          </p:nvSpPr>
          <p:spPr bwMode="auto">
            <a:xfrm>
              <a:off x="4003" y="1755"/>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zh-CN" sz="1800" dirty="0"/>
            </a:p>
          </p:txBody>
        </p:sp>
        <p:sp>
          <p:nvSpPr>
            <p:cNvPr id="83989" name="Rectangle 75">
              <a:extLst>
                <a:ext uri="{FF2B5EF4-FFF2-40B4-BE49-F238E27FC236}">
                  <a16:creationId xmlns:a16="http://schemas.microsoft.com/office/drawing/2014/main" id="{6111DF06-2DDB-42A3-584A-502BD844F47D}"/>
                </a:ext>
              </a:extLst>
            </p:cNvPr>
            <p:cNvSpPr>
              <a:spLocks noChangeArrowheads="1"/>
            </p:cNvSpPr>
            <p:nvPr/>
          </p:nvSpPr>
          <p:spPr bwMode="auto">
            <a:xfrm>
              <a:off x="3168" y="1079"/>
              <a:ext cx="33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0000FF"/>
                  </a:solidFill>
                  <a:latin typeface="Tahoma" panose="020B0604030504040204" pitchFamily="34" charset="0"/>
                </a:rPr>
                <a:t>HS</a:t>
              </a:r>
              <a:endParaRPr lang="zh-CN" altLang="zh-CN" sz="1800"/>
            </a:p>
          </p:txBody>
        </p:sp>
        <p:sp>
          <p:nvSpPr>
            <p:cNvPr id="83990" name="Rectangle 76">
              <a:extLst>
                <a:ext uri="{FF2B5EF4-FFF2-40B4-BE49-F238E27FC236}">
                  <a16:creationId xmlns:a16="http://schemas.microsoft.com/office/drawing/2014/main" id="{54DA5494-B1EE-84B4-5D28-07A5BB30E40E}"/>
                </a:ext>
              </a:extLst>
            </p:cNvPr>
            <p:cNvSpPr>
              <a:spLocks noChangeArrowheads="1"/>
            </p:cNvSpPr>
            <p:nvPr/>
          </p:nvSpPr>
          <p:spPr bwMode="auto">
            <a:xfrm>
              <a:off x="3505" y="1079"/>
              <a:ext cx="10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a:t>
              </a:r>
              <a:endParaRPr lang="zh-CN" altLang="zh-CN" sz="1800"/>
            </a:p>
          </p:txBody>
        </p:sp>
        <p:sp>
          <p:nvSpPr>
            <p:cNvPr id="83991" name="Rectangle 77">
              <a:extLst>
                <a:ext uri="{FF2B5EF4-FFF2-40B4-BE49-F238E27FC236}">
                  <a16:creationId xmlns:a16="http://schemas.microsoft.com/office/drawing/2014/main" id="{ABEB9796-67B9-ABD0-6850-85108626445F}"/>
                </a:ext>
              </a:extLst>
            </p:cNvPr>
            <p:cNvSpPr>
              <a:spLocks noChangeArrowheads="1"/>
            </p:cNvSpPr>
            <p:nvPr/>
          </p:nvSpPr>
          <p:spPr bwMode="auto">
            <a:xfrm>
              <a:off x="3605" y="1079"/>
              <a:ext cx="35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CH</a:t>
              </a:r>
              <a:endParaRPr lang="zh-CN" altLang="zh-CN" sz="1800"/>
            </a:p>
          </p:txBody>
        </p:sp>
        <p:sp>
          <p:nvSpPr>
            <p:cNvPr id="83992" name="Rectangle 78">
              <a:extLst>
                <a:ext uri="{FF2B5EF4-FFF2-40B4-BE49-F238E27FC236}">
                  <a16:creationId xmlns:a16="http://schemas.microsoft.com/office/drawing/2014/main" id="{FD583785-F702-0F8D-5768-EA3466E8D5EC}"/>
                </a:ext>
              </a:extLst>
            </p:cNvPr>
            <p:cNvSpPr>
              <a:spLocks noChangeArrowheads="1"/>
            </p:cNvSpPr>
            <p:nvPr/>
          </p:nvSpPr>
          <p:spPr bwMode="auto">
            <a:xfrm>
              <a:off x="3954" y="1239"/>
              <a:ext cx="101"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2300">
                  <a:solidFill>
                    <a:srgbClr val="40458C"/>
                  </a:solidFill>
                  <a:latin typeface="Tahoma" panose="020B0604030504040204" pitchFamily="34" charset="0"/>
                </a:rPr>
                <a:t>2</a:t>
              </a:r>
              <a:endParaRPr lang="zh-CN" altLang="zh-CN" sz="1800"/>
            </a:p>
          </p:txBody>
        </p:sp>
        <p:sp>
          <p:nvSpPr>
            <p:cNvPr id="83993" name="Rectangle 79">
              <a:extLst>
                <a:ext uri="{FF2B5EF4-FFF2-40B4-BE49-F238E27FC236}">
                  <a16:creationId xmlns:a16="http://schemas.microsoft.com/office/drawing/2014/main" id="{FDCB8A28-EC03-9112-6D4F-5ABA6C167D2E}"/>
                </a:ext>
              </a:extLst>
            </p:cNvPr>
            <p:cNvSpPr>
              <a:spLocks noChangeArrowheads="1"/>
            </p:cNvSpPr>
            <p:nvPr/>
          </p:nvSpPr>
          <p:spPr bwMode="auto">
            <a:xfrm>
              <a:off x="4055" y="1079"/>
              <a:ext cx="10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a:t>
              </a:r>
              <a:endParaRPr lang="zh-CN" altLang="zh-CN" sz="1800"/>
            </a:p>
          </p:txBody>
        </p:sp>
        <p:sp>
          <p:nvSpPr>
            <p:cNvPr id="83994" name="Rectangle 80">
              <a:extLst>
                <a:ext uri="{FF2B5EF4-FFF2-40B4-BE49-F238E27FC236}">
                  <a16:creationId xmlns:a16="http://schemas.microsoft.com/office/drawing/2014/main" id="{820160A7-34F3-0C8B-BABB-7776537B3510}"/>
                </a:ext>
              </a:extLst>
            </p:cNvPr>
            <p:cNvSpPr>
              <a:spLocks noChangeArrowheads="1"/>
            </p:cNvSpPr>
            <p:nvPr/>
          </p:nvSpPr>
          <p:spPr bwMode="auto">
            <a:xfrm>
              <a:off x="4155" y="1079"/>
              <a:ext cx="35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CH</a:t>
              </a:r>
              <a:endParaRPr lang="zh-CN" altLang="zh-CN" sz="1800"/>
            </a:p>
          </p:txBody>
        </p:sp>
        <p:sp>
          <p:nvSpPr>
            <p:cNvPr id="83995" name="Rectangle 81">
              <a:extLst>
                <a:ext uri="{FF2B5EF4-FFF2-40B4-BE49-F238E27FC236}">
                  <a16:creationId xmlns:a16="http://schemas.microsoft.com/office/drawing/2014/main" id="{B4DB307C-0651-CF96-D0CB-FD6839AB34C9}"/>
                </a:ext>
              </a:extLst>
            </p:cNvPr>
            <p:cNvSpPr>
              <a:spLocks noChangeArrowheads="1"/>
            </p:cNvSpPr>
            <p:nvPr/>
          </p:nvSpPr>
          <p:spPr bwMode="auto">
            <a:xfrm>
              <a:off x="4501" y="1079"/>
              <a:ext cx="10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a:t>
              </a:r>
              <a:endParaRPr lang="zh-CN" altLang="zh-CN" sz="1800"/>
            </a:p>
          </p:txBody>
        </p:sp>
        <p:sp>
          <p:nvSpPr>
            <p:cNvPr id="83996" name="Rectangle 82">
              <a:extLst>
                <a:ext uri="{FF2B5EF4-FFF2-40B4-BE49-F238E27FC236}">
                  <a16:creationId xmlns:a16="http://schemas.microsoft.com/office/drawing/2014/main" id="{EBB155F0-412E-6EF6-CE1A-BFB732ADB93D}"/>
                </a:ext>
              </a:extLst>
            </p:cNvPr>
            <p:cNvSpPr>
              <a:spLocks noChangeArrowheads="1"/>
            </p:cNvSpPr>
            <p:nvPr/>
          </p:nvSpPr>
          <p:spPr bwMode="auto">
            <a:xfrm>
              <a:off x="4602" y="1079"/>
              <a:ext cx="55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a:solidFill>
                    <a:srgbClr val="40458C"/>
                  </a:solidFill>
                  <a:latin typeface="Tahoma" panose="020B0604030504040204" pitchFamily="34" charset="0"/>
                </a:rPr>
                <a:t>COO</a:t>
              </a:r>
              <a:endParaRPr lang="zh-CN" altLang="zh-CN" sz="1800"/>
            </a:p>
          </p:txBody>
        </p:sp>
        <p:sp>
          <p:nvSpPr>
            <p:cNvPr id="83997" name="Rectangle 83">
              <a:extLst>
                <a:ext uri="{FF2B5EF4-FFF2-40B4-BE49-F238E27FC236}">
                  <a16:creationId xmlns:a16="http://schemas.microsoft.com/office/drawing/2014/main" id="{2A055406-3AEF-3D51-1C65-9C032F91A4E1}"/>
                </a:ext>
              </a:extLst>
            </p:cNvPr>
            <p:cNvSpPr>
              <a:spLocks noChangeArrowheads="1"/>
            </p:cNvSpPr>
            <p:nvPr/>
          </p:nvSpPr>
          <p:spPr bwMode="auto">
            <a:xfrm>
              <a:off x="5155" y="1055"/>
              <a:ext cx="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2600" b="1">
                  <a:solidFill>
                    <a:srgbClr val="40458C"/>
                  </a:solidFill>
                  <a:latin typeface="Tahoma" panose="020B0604030504040204" pitchFamily="34" charset="0"/>
                </a:rPr>
                <a:t>-</a:t>
              </a:r>
              <a:endParaRPr lang="zh-CN" altLang="zh-CN" sz="1800"/>
            </a:p>
          </p:txBody>
        </p:sp>
        <p:sp>
          <p:nvSpPr>
            <p:cNvPr id="83998" name="Line 84">
              <a:extLst>
                <a:ext uri="{FF2B5EF4-FFF2-40B4-BE49-F238E27FC236}">
                  <a16:creationId xmlns:a16="http://schemas.microsoft.com/office/drawing/2014/main" id="{498F06B8-DC87-C046-369D-726C24B57E2C}"/>
                </a:ext>
              </a:extLst>
            </p:cNvPr>
            <p:cNvSpPr>
              <a:spLocks noChangeShapeType="1"/>
            </p:cNvSpPr>
            <p:nvPr/>
          </p:nvSpPr>
          <p:spPr bwMode="auto">
            <a:xfrm>
              <a:off x="4241" y="1390"/>
              <a:ext cx="0" cy="215"/>
            </a:xfrm>
            <a:prstGeom prst="line">
              <a:avLst/>
            </a:prstGeom>
            <a:noFill/>
            <a:ln w="38100">
              <a:solidFill>
                <a:srgbClr val="40458C"/>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3999" name="Rectangle 85">
              <a:extLst>
                <a:ext uri="{FF2B5EF4-FFF2-40B4-BE49-F238E27FC236}">
                  <a16:creationId xmlns:a16="http://schemas.microsoft.com/office/drawing/2014/main" id="{4AA6BADA-0616-836A-D53E-F42DF90C338F}"/>
                </a:ext>
              </a:extLst>
            </p:cNvPr>
            <p:cNvSpPr>
              <a:spLocks noChangeArrowheads="1"/>
            </p:cNvSpPr>
            <p:nvPr/>
          </p:nvSpPr>
          <p:spPr bwMode="auto">
            <a:xfrm>
              <a:off x="4014" y="1570"/>
              <a:ext cx="135"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2300" dirty="0">
                  <a:solidFill>
                    <a:srgbClr val="40458C"/>
                  </a:solidFill>
                  <a:latin typeface="Tahoma" panose="020B0604030504040204" pitchFamily="34" charset="0"/>
                </a:rPr>
                <a:t>+</a:t>
              </a:r>
              <a:endParaRPr lang="zh-CN" altLang="zh-CN" sz="1800" dirty="0"/>
            </a:p>
          </p:txBody>
        </p:sp>
        <p:sp>
          <p:nvSpPr>
            <p:cNvPr id="84000" name="Rectangle 86">
              <a:extLst>
                <a:ext uri="{FF2B5EF4-FFF2-40B4-BE49-F238E27FC236}">
                  <a16:creationId xmlns:a16="http://schemas.microsoft.com/office/drawing/2014/main" id="{7C1E0CA1-DC71-6F97-3E1E-2E4DED32EDC4}"/>
                </a:ext>
              </a:extLst>
            </p:cNvPr>
            <p:cNvSpPr>
              <a:spLocks noChangeArrowheads="1"/>
            </p:cNvSpPr>
            <p:nvPr/>
          </p:nvSpPr>
          <p:spPr bwMode="auto">
            <a:xfrm>
              <a:off x="4134" y="1588"/>
              <a:ext cx="47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400" dirty="0">
                  <a:solidFill>
                    <a:srgbClr val="40458C"/>
                  </a:solidFill>
                  <a:latin typeface="Tahoma" panose="020B0604030504040204" pitchFamily="34" charset="0"/>
                </a:rPr>
                <a:t>NH</a:t>
              </a:r>
              <a:r>
                <a:rPr lang="en-US" altLang="zh-CN" sz="3400" baseline="-25000" dirty="0">
                  <a:solidFill>
                    <a:srgbClr val="40458C"/>
                  </a:solidFill>
                  <a:latin typeface="Tahoma" panose="020B0604030504040204" pitchFamily="34" charset="0"/>
                </a:rPr>
                <a:t>3</a:t>
              </a:r>
              <a:endParaRPr lang="zh-CN" altLang="zh-CN" sz="1800" baseline="-25000" dirty="0"/>
            </a:p>
          </p:txBody>
        </p:sp>
        <p:sp>
          <p:nvSpPr>
            <p:cNvPr id="84001" name="Rectangle 87">
              <a:extLst>
                <a:ext uri="{FF2B5EF4-FFF2-40B4-BE49-F238E27FC236}">
                  <a16:creationId xmlns:a16="http://schemas.microsoft.com/office/drawing/2014/main" id="{2C55FDB4-27F7-A8FB-8405-7C74B4B57DE5}"/>
                </a:ext>
              </a:extLst>
            </p:cNvPr>
            <p:cNvSpPr>
              <a:spLocks noChangeArrowheads="1"/>
            </p:cNvSpPr>
            <p:nvPr/>
          </p:nvSpPr>
          <p:spPr bwMode="auto">
            <a:xfrm>
              <a:off x="4014" y="1752"/>
              <a:ext cx="17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zh-CN" sz="1800" dirty="0"/>
            </a:p>
          </p:txBody>
        </p:sp>
      </p:grpSp>
    </p:spTree>
    <p:custDataLst>
      <p:tags r:id="rId1"/>
    </p:custDataLst>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par>
                          <p:cTn id="12" fill="hold" nodeType="afterGroup">
                            <p:stCondLst>
                              <p:cond delay="1000"/>
                            </p:stCondLst>
                            <p:childTnLst>
                              <p:par>
                                <p:cTn id="13" presetID="2" presetClass="entr" presetSubtype="4" fill="hold" grpId="0" nodeType="afterEffect">
                                  <p:stCondLst>
                                    <p:cond delay="0"/>
                                  </p:stCondLst>
                                  <p:childTnLst>
                                    <p:set>
                                      <p:cBhvr>
                                        <p:cTn id="14" dur="1" fill="hold">
                                          <p:stCondLst>
                                            <p:cond delay="0"/>
                                          </p:stCondLst>
                                        </p:cTn>
                                        <p:tgtEl>
                                          <p:spTgt spid="17415"/>
                                        </p:tgtEl>
                                        <p:attrNameLst>
                                          <p:attrName>style.visibility</p:attrName>
                                        </p:attrNameLst>
                                      </p:cBhvr>
                                      <p:to>
                                        <p:strVal val="visible"/>
                                      </p:to>
                                    </p:set>
                                    <p:anim calcmode="lin" valueType="num">
                                      <p:cBhvr additive="base">
                                        <p:cTn id="15" dur="500" fill="hold"/>
                                        <p:tgtEl>
                                          <p:spTgt spid="17415"/>
                                        </p:tgtEl>
                                        <p:attrNameLst>
                                          <p:attrName>ppt_x</p:attrName>
                                        </p:attrNameLst>
                                      </p:cBhvr>
                                      <p:tavLst>
                                        <p:tav tm="0">
                                          <p:val>
                                            <p:strVal val="#ppt_x"/>
                                          </p:val>
                                        </p:tav>
                                        <p:tav tm="100000">
                                          <p:val>
                                            <p:strVal val="#ppt_x"/>
                                          </p:val>
                                        </p:tav>
                                      </p:tavLst>
                                    </p:anim>
                                    <p:anim calcmode="lin" valueType="num">
                                      <p:cBhvr additive="base">
                                        <p:cTn id="16" dur="500" fill="hold"/>
                                        <p:tgtEl>
                                          <p:spTgt spid="17415"/>
                                        </p:tgtEl>
                                        <p:attrNameLst>
                                          <p:attrName>ppt_y</p:attrName>
                                        </p:attrNameLst>
                                      </p:cBhvr>
                                      <p:tavLst>
                                        <p:tav tm="0">
                                          <p:val>
                                            <p:strVal val="1+#ppt_h/2"/>
                                          </p:val>
                                        </p:tav>
                                        <p:tav tm="100000">
                                          <p:val>
                                            <p:strVal val="#ppt_y"/>
                                          </p:val>
                                        </p:tav>
                                      </p:tavLst>
                                    </p:anim>
                                  </p:childTnLst>
                                </p:cTn>
                              </p:par>
                            </p:childTnLst>
                          </p:cTn>
                        </p:par>
                        <p:par>
                          <p:cTn id="17" fill="hold" nodeType="afterGroup">
                            <p:stCondLst>
                              <p:cond delay="1500"/>
                            </p:stCondLst>
                            <p:childTnLst>
                              <p:par>
                                <p:cTn id="18" presetID="22" presetClass="entr" presetSubtype="1"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up)">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5"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图片 3">
            <a:extLst>
              <a:ext uri="{FF2B5EF4-FFF2-40B4-BE49-F238E27FC236}">
                <a16:creationId xmlns:a16="http://schemas.microsoft.com/office/drawing/2014/main" id="{1CCD2DD5-191D-4D1D-9BDE-BFBFAA10D2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6988" y="4763"/>
            <a:ext cx="6985000" cy="311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19" name="图片 4">
            <a:extLst>
              <a:ext uri="{FF2B5EF4-FFF2-40B4-BE49-F238E27FC236}">
                <a16:creationId xmlns:a16="http://schemas.microsoft.com/office/drawing/2014/main" id="{87336B2B-0EFA-46D2-A5E7-5E5D83AFE7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8775" y="3116264"/>
            <a:ext cx="9004300" cy="3754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783AFE01-0D84-1AF7-7F8A-4133FF4E5667}"/>
              </a:ext>
            </a:extLst>
          </p:cNvPr>
          <p:cNvSpPr/>
          <p:nvPr/>
        </p:nvSpPr>
        <p:spPr bwMode="auto">
          <a:xfrm>
            <a:off x="6168008" y="3116264"/>
            <a:ext cx="1584176" cy="384745"/>
          </a:xfrm>
          <a:prstGeom prst="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eaLnBrk="1" hangingPunct="1"/>
            <a:endParaRPr lang="zh-CN" altLang="en-US"/>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0114" name="标题 1">
            <a:extLst>
              <a:ext uri="{FF2B5EF4-FFF2-40B4-BE49-F238E27FC236}">
                <a16:creationId xmlns:a16="http://schemas.microsoft.com/office/drawing/2014/main" id="{6EDEAEC8-3149-4ECC-8895-F5840314FABD}"/>
              </a:ext>
            </a:extLst>
          </p:cNvPr>
          <p:cNvSpPr>
            <a:spLocks noGrp="1" noChangeArrowheads="1"/>
          </p:cNvSpPr>
          <p:nvPr>
            <p:ph type="title"/>
          </p:nvPr>
        </p:nvSpPr>
        <p:spPr>
          <a:xfrm>
            <a:off x="1893888" y="130175"/>
            <a:ext cx="8450262" cy="622300"/>
          </a:xfrm>
        </p:spPr>
        <p:txBody>
          <a:bodyPr/>
          <a:lstStyle/>
          <a:p>
            <a:r>
              <a:rPr lang="en-US" altLang="zh-CN">
                <a:solidFill>
                  <a:srgbClr val="FFFF00"/>
                </a:solidFill>
              </a:rPr>
              <a:t>Amino Acid Song</a:t>
            </a:r>
            <a:endParaRPr lang="zh-CN" altLang="en-US">
              <a:solidFill>
                <a:srgbClr val="FFFF00"/>
              </a:solidFill>
            </a:endParaRPr>
          </a:p>
        </p:txBody>
      </p:sp>
      <p:sp>
        <p:nvSpPr>
          <p:cNvPr id="90115" name="内容占位符 2">
            <a:extLst>
              <a:ext uri="{FF2B5EF4-FFF2-40B4-BE49-F238E27FC236}">
                <a16:creationId xmlns:a16="http://schemas.microsoft.com/office/drawing/2014/main" id="{ABF0EDB5-C0AA-44B9-85A0-FF2720A4E76E}"/>
              </a:ext>
            </a:extLst>
          </p:cNvPr>
          <p:cNvSpPr>
            <a:spLocks noGrp="1" noChangeArrowheads="1"/>
          </p:cNvSpPr>
          <p:nvPr>
            <p:ph idx="1"/>
          </p:nvPr>
        </p:nvSpPr>
        <p:spPr>
          <a:xfrm>
            <a:off x="1631950" y="1125538"/>
            <a:ext cx="4319588" cy="5187950"/>
          </a:xfrm>
        </p:spPr>
        <p:txBody>
          <a:bodyPr/>
          <a:lstStyle/>
          <a:p>
            <a:pPr marL="0" indent="0">
              <a:spcBef>
                <a:spcPct val="0"/>
              </a:spcBef>
              <a:buNone/>
            </a:pPr>
            <a:r>
              <a:rPr lang="en-US" altLang="zh-CN" sz="2400"/>
              <a:t>Lysine, arginine and his</a:t>
            </a:r>
          </a:p>
          <a:p>
            <a:pPr marL="0" indent="0">
              <a:spcBef>
                <a:spcPct val="0"/>
              </a:spcBef>
              <a:buNone/>
            </a:pPr>
            <a:r>
              <a:rPr lang="en-US" altLang="zh-CN" sz="2400"/>
              <a:t>Basic ones you should not miss</a:t>
            </a:r>
          </a:p>
          <a:p>
            <a:pPr marL="0" indent="0">
              <a:spcBef>
                <a:spcPct val="0"/>
              </a:spcBef>
              <a:buNone/>
            </a:pPr>
            <a:r>
              <a:rPr lang="en-US" altLang="zh-CN" sz="2400"/>
              <a:t>Ala, leu, val, ile, and met</a:t>
            </a:r>
          </a:p>
          <a:p>
            <a:pPr marL="0" indent="0">
              <a:spcBef>
                <a:spcPct val="0"/>
              </a:spcBef>
              <a:buNone/>
            </a:pPr>
            <a:r>
              <a:rPr lang="en-US" altLang="zh-CN" sz="2400"/>
              <a:t>Fill the aliphatic set</a:t>
            </a:r>
          </a:p>
          <a:p>
            <a:pPr marL="0" indent="0">
              <a:spcBef>
                <a:spcPct val="0"/>
              </a:spcBef>
              <a:buNone/>
            </a:pPr>
            <a:r>
              <a:rPr lang="en-US" altLang="zh-CN" sz="2400"/>
              <a:t>Proline bends and cys has ‘S’</a:t>
            </a:r>
          </a:p>
          <a:p>
            <a:pPr marL="0" indent="0">
              <a:spcBef>
                <a:spcPct val="0"/>
              </a:spcBef>
              <a:buNone/>
            </a:pPr>
            <a:r>
              <a:rPr lang="en-US" altLang="zh-CN" sz="2400"/>
              <a:t>Glycine’s R is the smallest </a:t>
            </a:r>
          </a:p>
          <a:p>
            <a:pPr marL="0" indent="0">
              <a:spcBef>
                <a:spcPct val="0"/>
              </a:spcBef>
              <a:buNone/>
            </a:pPr>
            <a:r>
              <a:rPr lang="en-US" altLang="zh-CN" sz="2400"/>
              <a:t>Then there’s trp and tyr and phe</a:t>
            </a:r>
          </a:p>
          <a:p>
            <a:pPr marL="0" indent="0">
              <a:spcBef>
                <a:spcPct val="0"/>
              </a:spcBef>
              <a:buNone/>
            </a:pPr>
            <a:r>
              <a:rPr lang="en-US" altLang="zh-CN" sz="2400"/>
              <a:t>Structured aromatically</a:t>
            </a:r>
          </a:p>
          <a:p>
            <a:pPr marL="0" indent="0">
              <a:spcBef>
                <a:spcPct val="0"/>
              </a:spcBef>
              <a:buNone/>
            </a:pPr>
            <a:endParaRPr lang="en-US" altLang="zh-CN" sz="2400"/>
          </a:p>
          <a:p>
            <a:pPr marL="0" indent="0">
              <a:spcBef>
                <a:spcPct val="0"/>
              </a:spcBef>
              <a:buNone/>
            </a:pPr>
            <a:r>
              <a:rPr lang="en-US" altLang="zh-CN" sz="2400"/>
              <a:t>basic: </a:t>
            </a:r>
            <a:r>
              <a:rPr lang="zh-CN" altLang="en-US" sz="2400"/>
              <a:t>碱性的</a:t>
            </a:r>
            <a:endParaRPr lang="en-US" altLang="zh-CN" sz="2400"/>
          </a:p>
          <a:p>
            <a:pPr marL="0" indent="0">
              <a:spcBef>
                <a:spcPct val="0"/>
              </a:spcBef>
              <a:buNone/>
            </a:pPr>
            <a:r>
              <a:rPr lang="en-US" altLang="zh-CN" sz="2400"/>
              <a:t>aliphatic</a:t>
            </a:r>
            <a:r>
              <a:rPr lang="zh-CN" altLang="en-US" sz="2400"/>
              <a:t>： 脂肪族的</a:t>
            </a:r>
            <a:endParaRPr lang="en-US" altLang="zh-CN" sz="2400"/>
          </a:p>
          <a:p>
            <a:pPr marL="0" indent="0">
              <a:spcBef>
                <a:spcPct val="0"/>
              </a:spcBef>
              <a:buNone/>
            </a:pPr>
            <a:r>
              <a:rPr lang="en-US" altLang="zh-CN" sz="2400"/>
              <a:t>bend: </a:t>
            </a:r>
            <a:r>
              <a:rPr lang="zh-CN" altLang="en-US" sz="2400"/>
              <a:t>弯曲</a:t>
            </a:r>
            <a:endParaRPr lang="en-US" altLang="zh-CN" sz="2400"/>
          </a:p>
          <a:p>
            <a:pPr marL="0" indent="0">
              <a:spcBef>
                <a:spcPct val="0"/>
              </a:spcBef>
              <a:buNone/>
            </a:pPr>
            <a:r>
              <a:rPr lang="en-US" altLang="zh-CN" sz="2400"/>
              <a:t>aromatically: </a:t>
            </a:r>
            <a:r>
              <a:rPr lang="zh-CN" altLang="en-US" sz="2400"/>
              <a:t>芳香性地</a:t>
            </a:r>
            <a:endParaRPr lang="en-US" altLang="zh-CN" sz="2400"/>
          </a:p>
          <a:p>
            <a:pPr marL="0" indent="0">
              <a:spcBef>
                <a:spcPct val="0"/>
              </a:spcBef>
              <a:buNone/>
            </a:pPr>
            <a:endParaRPr lang="en-US" altLang="zh-CN" sz="2400"/>
          </a:p>
        </p:txBody>
      </p:sp>
      <p:sp>
        <p:nvSpPr>
          <p:cNvPr id="4" name="内容占位符 2">
            <a:extLst>
              <a:ext uri="{FF2B5EF4-FFF2-40B4-BE49-F238E27FC236}">
                <a16:creationId xmlns:a16="http://schemas.microsoft.com/office/drawing/2014/main" id="{5CEB5D8B-A36D-4E7A-ADB9-ED2689FB985F}"/>
              </a:ext>
            </a:extLst>
          </p:cNvPr>
          <p:cNvSpPr txBox="1">
            <a:spLocks/>
          </p:cNvSpPr>
          <p:nvPr/>
        </p:nvSpPr>
        <p:spPr bwMode="auto">
          <a:xfrm>
            <a:off x="6223001" y="620714"/>
            <a:ext cx="4841875" cy="569277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0">
                <a:solidFill>
                  <a:srgbClr val="00004D"/>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0">
                <a:solidFill>
                  <a:srgbClr val="00004D"/>
                </a:solidFill>
                <a:latin typeface="+mn-lt"/>
                <a:ea typeface="+mn-ea"/>
              </a:defRPr>
            </a:lvl2pPr>
            <a:lvl3pPr marL="1143000" indent="-228600" algn="l" rtl="0" eaLnBrk="0" fontAlgn="base" hangingPunct="0">
              <a:spcBef>
                <a:spcPct val="20000"/>
              </a:spcBef>
              <a:spcAft>
                <a:spcPct val="0"/>
              </a:spcAft>
              <a:buClr>
                <a:schemeClr val="tx1"/>
              </a:buClr>
              <a:buChar char="•"/>
              <a:defRPr sz="2400" b="0">
                <a:solidFill>
                  <a:srgbClr val="00004D"/>
                </a:solidFill>
                <a:latin typeface="+mn-lt"/>
                <a:ea typeface="+mn-ea"/>
              </a:defRPr>
            </a:lvl3pPr>
            <a:lvl4pPr marL="1600200" indent="-228600" algn="l" rtl="0" eaLnBrk="0" fontAlgn="base" hangingPunct="0">
              <a:spcBef>
                <a:spcPct val="20000"/>
              </a:spcBef>
              <a:spcAft>
                <a:spcPct val="0"/>
              </a:spcAft>
              <a:buChar char="–"/>
              <a:defRPr sz="2000" b="0">
                <a:solidFill>
                  <a:srgbClr val="00004D"/>
                </a:solidFill>
                <a:latin typeface="+mn-lt"/>
                <a:ea typeface="+mn-ea"/>
              </a:defRPr>
            </a:lvl4pPr>
            <a:lvl5pPr marL="2057400" indent="-228600" algn="l" rtl="0" eaLnBrk="0" fontAlgn="base" hangingPunct="0">
              <a:spcBef>
                <a:spcPct val="20000"/>
              </a:spcBef>
              <a:spcAft>
                <a:spcPct val="0"/>
              </a:spcAft>
              <a:buChar char="»"/>
              <a:defRPr sz="2000" b="0">
                <a:solidFill>
                  <a:srgbClr val="00004D"/>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a:spcBef>
                <a:spcPts val="0"/>
              </a:spcBef>
              <a:buNone/>
              <a:defRPr/>
            </a:pPr>
            <a:endParaRPr lang="en-US" altLang="zh-CN" sz="2400" kern="0" dirty="0"/>
          </a:p>
          <a:p>
            <a:pPr marL="0" indent="0">
              <a:spcBef>
                <a:spcPts val="0"/>
              </a:spcBef>
              <a:buNone/>
              <a:defRPr/>
            </a:pPr>
            <a:r>
              <a:rPr lang="en-US" altLang="zh-CN" sz="2400" kern="0" dirty="0"/>
              <a:t>Asp and glu’s side chains of R </a:t>
            </a:r>
          </a:p>
          <a:p>
            <a:pPr marL="0" indent="0">
              <a:spcBef>
                <a:spcPts val="0"/>
              </a:spcBef>
              <a:buNone/>
              <a:defRPr/>
            </a:pPr>
            <a:r>
              <a:rPr lang="en-US" altLang="zh-CN" sz="2400" kern="0" dirty="0"/>
              <a:t>Say to protons “au revoir”</a:t>
            </a:r>
          </a:p>
          <a:p>
            <a:pPr marL="0" indent="0">
              <a:spcBef>
                <a:spcPts val="0"/>
              </a:spcBef>
              <a:buNone/>
              <a:defRPr/>
            </a:pPr>
            <a:r>
              <a:rPr lang="en-US" altLang="zh-CN" sz="2400" kern="0" dirty="0"/>
              <a:t>Glutamine, asparagine</a:t>
            </a:r>
          </a:p>
          <a:p>
            <a:pPr marL="0" indent="0">
              <a:spcBef>
                <a:spcPts val="0"/>
              </a:spcBef>
              <a:buNone/>
              <a:defRPr/>
            </a:pPr>
            <a:r>
              <a:rPr lang="en-US" altLang="zh-CN" sz="2400" kern="0" dirty="0"/>
              <a:t>Bear carboxamide amines</a:t>
            </a:r>
          </a:p>
          <a:p>
            <a:pPr marL="0" indent="0">
              <a:spcBef>
                <a:spcPts val="0"/>
              </a:spcBef>
              <a:buNone/>
              <a:defRPr/>
            </a:pPr>
            <a:r>
              <a:rPr lang="en-US" altLang="zh-CN" sz="2400" kern="0" dirty="0"/>
              <a:t>Threonine and tiny ser</a:t>
            </a:r>
          </a:p>
          <a:p>
            <a:pPr marL="0" indent="0">
              <a:spcBef>
                <a:spcPts val="0"/>
              </a:spcBef>
              <a:buNone/>
              <a:defRPr/>
            </a:pPr>
            <a:r>
              <a:rPr lang="en-US" altLang="zh-CN" sz="2400" kern="0" dirty="0"/>
              <a:t>Have hydroxyl groups to share</a:t>
            </a:r>
          </a:p>
          <a:p>
            <a:pPr marL="0" indent="0">
              <a:spcBef>
                <a:spcPts val="0"/>
              </a:spcBef>
              <a:buNone/>
              <a:defRPr/>
            </a:pPr>
            <a:r>
              <a:rPr lang="en-US" altLang="zh-CN" sz="2400" kern="0" dirty="0"/>
              <a:t>These twen-TY amino A’s</a:t>
            </a:r>
          </a:p>
          <a:p>
            <a:pPr marL="0" indent="0">
              <a:spcBef>
                <a:spcPts val="0"/>
              </a:spcBef>
              <a:buNone/>
              <a:defRPr/>
            </a:pPr>
            <a:r>
              <a:rPr lang="en-US" altLang="zh-CN" sz="2400" kern="0" dirty="0"/>
              <a:t>Can combine a zillion ways</a:t>
            </a:r>
          </a:p>
          <a:p>
            <a:pPr marL="0" indent="0">
              <a:spcBef>
                <a:spcPts val="0"/>
              </a:spcBef>
              <a:buNone/>
              <a:defRPr/>
            </a:pPr>
            <a:endParaRPr lang="en-US" altLang="zh-CN" sz="2400" kern="0" dirty="0"/>
          </a:p>
          <a:p>
            <a:pPr marL="0" indent="0">
              <a:spcBef>
                <a:spcPts val="0"/>
              </a:spcBef>
              <a:buNone/>
              <a:defRPr/>
            </a:pPr>
            <a:r>
              <a:rPr lang="en-US" altLang="zh-CN" sz="2400" kern="0" dirty="0"/>
              <a:t>proton: </a:t>
            </a:r>
            <a:r>
              <a:rPr lang="zh-CN" altLang="en-US" sz="2400" kern="0" dirty="0"/>
              <a:t>质子</a:t>
            </a:r>
            <a:endParaRPr lang="en-US" altLang="zh-CN" sz="2400" kern="0" dirty="0"/>
          </a:p>
          <a:p>
            <a:pPr marL="0" indent="0">
              <a:spcBef>
                <a:spcPts val="0"/>
              </a:spcBef>
              <a:buNone/>
              <a:defRPr/>
            </a:pPr>
            <a:r>
              <a:rPr lang="en-US" altLang="zh-CN" sz="2400" kern="0" dirty="0"/>
              <a:t>au revoir:   </a:t>
            </a:r>
            <a:r>
              <a:rPr lang="zh-CN" altLang="en-US" sz="2400" kern="0" dirty="0"/>
              <a:t>再见（法语）</a:t>
            </a:r>
            <a:endParaRPr lang="en-US" altLang="zh-CN" sz="2400" kern="0" dirty="0"/>
          </a:p>
          <a:p>
            <a:pPr marL="0" indent="0">
              <a:spcBef>
                <a:spcPts val="0"/>
              </a:spcBef>
              <a:buNone/>
              <a:defRPr/>
            </a:pPr>
            <a:r>
              <a:rPr lang="en-US" altLang="zh-CN" sz="2400" kern="0" dirty="0"/>
              <a:t>carboxamide amine:  </a:t>
            </a:r>
            <a:r>
              <a:rPr lang="zh-CN" altLang="en-US" sz="2400" kern="0" dirty="0"/>
              <a:t>酰胺</a:t>
            </a:r>
            <a:endParaRPr lang="en-US" altLang="zh-CN" sz="2400" kern="0" dirty="0"/>
          </a:p>
          <a:p>
            <a:pPr marL="0" indent="0">
              <a:spcBef>
                <a:spcPts val="0"/>
              </a:spcBef>
              <a:buNone/>
              <a:defRPr/>
            </a:pPr>
            <a:r>
              <a:rPr lang="en-US" altLang="zh-CN" sz="2400" kern="0" dirty="0"/>
              <a:t>hydroxyl group:  </a:t>
            </a:r>
            <a:r>
              <a:rPr lang="zh-CN" altLang="en-US" sz="2400" kern="0" dirty="0"/>
              <a:t>羟基</a:t>
            </a:r>
            <a:endParaRPr lang="en-US" altLang="zh-CN" sz="2400" kern="0" dirty="0"/>
          </a:p>
          <a:p>
            <a:pPr marL="0" indent="0">
              <a:spcBef>
                <a:spcPts val="0"/>
              </a:spcBef>
              <a:buNone/>
              <a:defRPr/>
            </a:pPr>
            <a:r>
              <a:rPr lang="en-US" altLang="zh-CN" sz="2400" kern="0" dirty="0"/>
              <a:t>zillion: </a:t>
            </a:r>
            <a:r>
              <a:rPr lang="zh-CN" altLang="en-US" sz="2400" kern="0" dirty="0"/>
              <a:t>特别大的数字，无限数的</a:t>
            </a:r>
          </a:p>
        </p:txBody>
      </p:sp>
    </p:spTree>
    <p:custDataLst>
      <p:tags r:id="rId1"/>
    </p:custDataLst>
  </p:cSld>
  <p:clrMapOvr>
    <a:masterClrMapping/>
  </p:clrMapOvr>
  <p:transition spd="slow">
    <p:circl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矩形 3">
            <a:extLst>
              <a:ext uri="{FF2B5EF4-FFF2-40B4-BE49-F238E27FC236}">
                <a16:creationId xmlns:a16="http://schemas.microsoft.com/office/drawing/2014/main" id="{BC55811A-F98D-4218-B711-A6E756FFB025}"/>
              </a:ext>
            </a:extLst>
          </p:cNvPr>
          <p:cNvSpPr>
            <a:spLocks noChangeArrowheads="1"/>
          </p:cNvSpPr>
          <p:nvPr/>
        </p:nvSpPr>
        <p:spPr bwMode="auto">
          <a:xfrm>
            <a:off x="2149475" y="6237312"/>
            <a:ext cx="7893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sz="2000" b="0" dirty="0">
                <a:solidFill>
                  <a:schemeClr val="tx1"/>
                </a:solidFill>
                <a:latin typeface="微软雅黑" panose="020B0503020204020204" pitchFamily="34" charset="-122"/>
                <a:ea typeface="微软雅黑" panose="020B0503020204020204" pitchFamily="34" charset="-122"/>
              </a:rPr>
              <a:t>原视频见：</a:t>
            </a:r>
            <a:r>
              <a:rPr lang="en-US" altLang="zh-CN" sz="2000" b="0" dirty="0">
                <a:solidFill>
                  <a:schemeClr val="tx1"/>
                </a:solidFill>
                <a:latin typeface="微软雅黑" panose="020B0503020204020204" pitchFamily="34" charset="-122"/>
                <a:ea typeface="微软雅黑" panose="020B0503020204020204" pitchFamily="34" charset="-122"/>
              </a:rPr>
              <a:t>https://www.bilibili.com/video/BV1LJ411675R?p=3</a:t>
            </a:r>
          </a:p>
        </p:txBody>
      </p:sp>
      <p:sp>
        <p:nvSpPr>
          <p:cNvPr id="92163" name="矩形 4">
            <a:extLst>
              <a:ext uri="{FF2B5EF4-FFF2-40B4-BE49-F238E27FC236}">
                <a16:creationId xmlns:a16="http://schemas.microsoft.com/office/drawing/2014/main" id="{F5E21304-D381-4941-9BC3-2BA89E3D3CFC}"/>
              </a:ext>
            </a:extLst>
          </p:cNvPr>
          <p:cNvSpPr>
            <a:spLocks noChangeArrowheads="1"/>
          </p:cNvSpPr>
          <p:nvPr/>
        </p:nvSpPr>
        <p:spPr bwMode="auto">
          <a:xfrm>
            <a:off x="2306638" y="5157788"/>
            <a:ext cx="78930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n-US" altLang="zh-CN" sz="2400" dirty="0">
                <a:solidFill>
                  <a:schemeClr val="tx1"/>
                </a:solidFill>
                <a:latin typeface="Arial" panose="020B0604020202020204" pitchFamily="34" charset="0"/>
                <a:ea typeface="宋体" panose="02010600030101010101" pitchFamily="2" charset="-122"/>
              </a:rPr>
              <a:t>Kevin Ahern</a:t>
            </a:r>
            <a:r>
              <a:rPr lang="en-US" altLang="zh-CN" sz="2400" b="0" dirty="0">
                <a:solidFill>
                  <a:schemeClr val="tx1"/>
                </a:solidFill>
                <a:latin typeface="Arial" panose="020B0604020202020204" pitchFamily="34" charset="0"/>
                <a:ea typeface="宋体" panose="02010600030101010101" pitchFamily="2" charset="-122"/>
              </a:rPr>
              <a:t>, PhD,    professor of Biochemistry and Biophysics in Oregon State University</a:t>
            </a:r>
          </a:p>
        </p:txBody>
      </p:sp>
      <p:pic>
        <p:nvPicPr>
          <p:cNvPr id="2" name="TTC amino acids song（字幕版）.mp4">
            <a:hlinkClick r:id="" action="ppaction://media"/>
            <a:extLst>
              <a:ext uri="{FF2B5EF4-FFF2-40B4-BE49-F238E27FC236}">
                <a16:creationId xmlns:a16="http://schemas.microsoft.com/office/drawing/2014/main" id="{E00E828F-9E5F-405B-AB4C-23347D68AF9C}"/>
              </a:ext>
            </a:extLst>
          </p:cNvPr>
          <p:cNvPicPr>
            <a:picLocks noChangeAspect="1"/>
          </p:cNvPicPr>
          <p:nvPr>
            <a:videoFile r:link="rId2"/>
            <p:extLst>
              <p:ext uri="{DAA4B4D4-6D71-4841-9C94-3DE7FCFB9230}">
                <p14:media xmlns:p14="http://schemas.microsoft.com/office/powerpoint/2010/main" r:link="rId1"/>
              </p:ext>
            </p:extLst>
          </p:nvPr>
        </p:nvPicPr>
        <p:blipFill>
          <a:blip r:embed="rId5">
            <a:extLst>
              <a:ext uri="{28A0092B-C50C-407E-A947-70E740481C1C}">
                <a14:useLocalDpi xmlns:a14="http://schemas.microsoft.com/office/drawing/2010/main" val="0"/>
              </a:ext>
            </a:extLst>
          </a:blip>
          <a:srcRect/>
          <a:stretch>
            <a:fillRect/>
          </a:stretch>
        </p:blipFill>
        <p:spPr bwMode="auto">
          <a:xfrm>
            <a:off x="1703389" y="44451"/>
            <a:ext cx="8785225" cy="505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内容占位符 2">
            <a:extLst>
              <a:ext uri="{FF2B5EF4-FFF2-40B4-BE49-F238E27FC236}">
                <a16:creationId xmlns:a16="http://schemas.microsoft.com/office/drawing/2014/main" id="{F869A2FD-6BC7-4A10-ACBA-9595E9E5FF6E}"/>
              </a:ext>
            </a:extLst>
          </p:cNvPr>
          <p:cNvSpPr>
            <a:spLocks noGrp="1" noChangeArrowheads="1"/>
          </p:cNvSpPr>
          <p:nvPr>
            <p:ph idx="4294967295"/>
          </p:nvPr>
        </p:nvSpPr>
        <p:spPr>
          <a:xfrm>
            <a:off x="1526382" y="2996952"/>
            <a:ext cx="9217023" cy="3367087"/>
          </a:xfrm>
        </p:spPr>
        <p:txBody>
          <a:bodyPr/>
          <a:lstStyle/>
          <a:p>
            <a:r>
              <a:rPr lang="zh-CN" altLang="en-US" dirty="0"/>
              <a:t>极少数蛋白中含有硒半胱氨酸，可由相应的</a:t>
            </a:r>
            <a:r>
              <a:rPr lang="en-US" altLang="zh-CN" dirty="0"/>
              <a:t>tRNA</a:t>
            </a:r>
            <a:r>
              <a:rPr lang="zh-CN" altLang="en-US" dirty="0"/>
              <a:t>携带直接掺入正在延伸中的多肽链。</a:t>
            </a:r>
          </a:p>
          <a:p>
            <a:endParaRPr lang="en-US" altLang="zh-CN" dirty="0"/>
          </a:p>
          <a:p>
            <a:r>
              <a:rPr lang="zh-CN" altLang="en-US" dirty="0"/>
              <a:t>人体至少</a:t>
            </a:r>
            <a:r>
              <a:rPr lang="en-US" altLang="zh-CN" dirty="0"/>
              <a:t>20</a:t>
            </a:r>
            <a:r>
              <a:rPr lang="zh-CN" altLang="en-US" dirty="0"/>
              <a:t>多种蛋白含硒元素，主要是些催化</a:t>
            </a:r>
            <a:r>
              <a:rPr lang="zh-CN" altLang="en-US" dirty="0">
                <a:solidFill>
                  <a:srgbClr val="C00000"/>
                </a:solidFill>
              </a:rPr>
              <a:t>氧化还原反应的酶</a:t>
            </a:r>
            <a:r>
              <a:rPr lang="zh-CN" altLang="en-US" dirty="0"/>
              <a:t>，比如</a:t>
            </a:r>
            <a:r>
              <a:rPr lang="zh-CN" altLang="en-US" dirty="0">
                <a:solidFill>
                  <a:srgbClr val="0000CC"/>
                </a:solidFill>
              </a:rPr>
              <a:t>：  谷胱甘肽过氧化物酶</a:t>
            </a:r>
            <a:r>
              <a:rPr lang="zh-CN" altLang="en-US" dirty="0"/>
              <a:t>、甲状腺素</a:t>
            </a:r>
            <a:r>
              <a:rPr lang="en-US" altLang="zh-CN" dirty="0"/>
              <a:t>5'-</a:t>
            </a:r>
            <a:r>
              <a:rPr lang="zh-CN" altLang="en-US" dirty="0"/>
              <a:t>脱碘酶、硫氧还蛋白还原酶等</a:t>
            </a:r>
          </a:p>
        </p:txBody>
      </p:sp>
      <p:sp>
        <p:nvSpPr>
          <p:cNvPr id="94211" name="标题 1">
            <a:extLst>
              <a:ext uri="{FF2B5EF4-FFF2-40B4-BE49-F238E27FC236}">
                <a16:creationId xmlns:a16="http://schemas.microsoft.com/office/drawing/2014/main" id="{3D730E94-3F1E-4612-8903-E36AEDF7BE12}"/>
              </a:ext>
            </a:extLst>
          </p:cNvPr>
          <p:cNvSpPr>
            <a:spLocks noGrp="1" noChangeArrowheads="1"/>
          </p:cNvSpPr>
          <p:nvPr>
            <p:ph type="title" idx="4294967295"/>
          </p:nvPr>
        </p:nvSpPr>
        <p:spPr>
          <a:xfrm>
            <a:off x="1919288" y="168276"/>
            <a:ext cx="8229600" cy="492125"/>
          </a:xfrm>
        </p:spPr>
        <p:txBody>
          <a:bodyPr/>
          <a:lstStyle/>
          <a:p>
            <a:r>
              <a:rPr lang="zh-CN" altLang="en-US"/>
              <a:t>第</a:t>
            </a:r>
            <a:r>
              <a:rPr lang="en-US" altLang="zh-CN"/>
              <a:t>21</a:t>
            </a:r>
            <a:r>
              <a:rPr lang="zh-CN" altLang="en-US"/>
              <a:t>种氨基酸： </a:t>
            </a:r>
            <a:r>
              <a:rPr lang="zh-CN" altLang="en-US">
                <a:solidFill>
                  <a:srgbClr val="FFFF00"/>
                </a:solidFill>
              </a:rPr>
              <a:t>硒半胱氨酸（</a:t>
            </a:r>
            <a:r>
              <a:rPr lang="en-US" altLang="zh-CN">
                <a:solidFill>
                  <a:srgbClr val="FFFF00"/>
                </a:solidFill>
              </a:rPr>
              <a:t>Sec,U)</a:t>
            </a:r>
            <a:endParaRPr lang="zh-CN" altLang="en-US">
              <a:solidFill>
                <a:srgbClr val="FFFF00"/>
              </a:solidFill>
            </a:endParaRPr>
          </a:p>
        </p:txBody>
      </p:sp>
      <p:pic>
        <p:nvPicPr>
          <p:cNvPr id="94212" name="图片 3">
            <a:extLst>
              <a:ext uri="{FF2B5EF4-FFF2-40B4-BE49-F238E27FC236}">
                <a16:creationId xmlns:a16="http://schemas.microsoft.com/office/drawing/2014/main" id="{3E23EDA3-17F8-4CF4-A46D-96C2FEB467B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185444" y="1196752"/>
            <a:ext cx="3821112" cy="159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55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6258" name="标题 1">
            <a:extLst>
              <a:ext uri="{FF2B5EF4-FFF2-40B4-BE49-F238E27FC236}">
                <a16:creationId xmlns:a16="http://schemas.microsoft.com/office/drawing/2014/main" id="{BF80B883-0512-4D4C-8399-9B7674E84CD5}"/>
              </a:ext>
            </a:extLst>
          </p:cNvPr>
          <p:cNvSpPr>
            <a:spLocks noGrp="1" noChangeArrowheads="1"/>
          </p:cNvSpPr>
          <p:nvPr>
            <p:ph type="title"/>
          </p:nvPr>
        </p:nvSpPr>
        <p:spPr>
          <a:xfrm>
            <a:off x="2209801" y="1"/>
            <a:ext cx="6697663" cy="823913"/>
          </a:xfrm>
        </p:spPr>
        <p:txBody>
          <a:bodyPr/>
          <a:lstStyle/>
          <a:p>
            <a:r>
              <a:rPr lang="zh-CN" altLang="en-US"/>
              <a:t>特例：吡咯赖氨酸（</a:t>
            </a:r>
            <a:r>
              <a:rPr lang="en-US" altLang="zh-CN"/>
              <a:t>Pyl,O)</a:t>
            </a:r>
            <a:endParaRPr lang="zh-CN" altLang="en-US"/>
          </a:p>
        </p:txBody>
      </p:sp>
      <p:sp>
        <p:nvSpPr>
          <p:cNvPr id="96259" name="内容占位符 2">
            <a:extLst>
              <a:ext uri="{FF2B5EF4-FFF2-40B4-BE49-F238E27FC236}">
                <a16:creationId xmlns:a16="http://schemas.microsoft.com/office/drawing/2014/main" id="{DB6ADDFB-9849-4793-BA4C-E0AA2520B958}"/>
              </a:ext>
            </a:extLst>
          </p:cNvPr>
          <p:cNvSpPr>
            <a:spLocks noGrp="1" noChangeArrowheads="1"/>
          </p:cNvSpPr>
          <p:nvPr>
            <p:ph idx="1"/>
          </p:nvPr>
        </p:nvSpPr>
        <p:spPr>
          <a:xfrm>
            <a:off x="4656139" y="2205039"/>
            <a:ext cx="5761037" cy="2592387"/>
          </a:xfrm>
        </p:spPr>
        <p:txBody>
          <a:bodyPr/>
          <a:lstStyle/>
          <a:p>
            <a:pPr>
              <a:lnSpc>
                <a:spcPct val="150000"/>
              </a:lnSpc>
            </a:pPr>
            <a:r>
              <a:rPr lang="zh-CN" altLang="en-US"/>
              <a:t>见于产甲烷的</a:t>
            </a:r>
            <a:r>
              <a:rPr lang="zh-CN" altLang="en-US">
                <a:solidFill>
                  <a:srgbClr val="0000CC"/>
                </a:solidFill>
              </a:rPr>
              <a:t>古细菌</a:t>
            </a:r>
            <a:r>
              <a:rPr lang="zh-CN" altLang="en-US"/>
              <a:t>的甲胺甲基转移酶中，以及极少数细菌中。是目前已知的第</a:t>
            </a:r>
            <a:r>
              <a:rPr lang="en-US" altLang="zh-CN"/>
              <a:t>22</a:t>
            </a:r>
            <a:r>
              <a:rPr lang="zh-CN" altLang="en-US"/>
              <a:t>种参与蛋白质生物合成的氨基酸。</a:t>
            </a:r>
            <a:endParaRPr lang="en-US" altLang="zh-CN"/>
          </a:p>
        </p:txBody>
      </p:sp>
      <p:pic>
        <p:nvPicPr>
          <p:cNvPr id="96260" name="图片 2">
            <a:extLst>
              <a:ext uri="{FF2B5EF4-FFF2-40B4-BE49-F238E27FC236}">
                <a16:creationId xmlns:a16="http://schemas.microsoft.com/office/drawing/2014/main" id="{A52C453F-284D-4224-873C-DAD2683331B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341439"/>
            <a:ext cx="2230438" cy="4967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8306" name="标题 1">
            <a:extLst>
              <a:ext uri="{FF2B5EF4-FFF2-40B4-BE49-F238E27FC236}">
                <a16:creationId xmlns:a16="http://schemas.microsoft.com/office/drawing/2014/main" id="{6FD9432C-31ED-43F3-8192-43C1C7B8B180}"/>
              </a:ext>
            </a:extLst>
          </p:cNvPr>
          <p:cNvSpPr>
            <a:spLocks noGrp="1" noChangeArrowheads="1"/>
          </p:cNvSpPr>
          <p:nvPr>
            <p:ph type="title"/>
          </p:nvPr>
        </p:nvSpPr>
        <p:spPr>
          <a:xfrm>
            <a:off x="1893888" y="188913"/>
            <a:ext cx="8450262" cy="563562"/>
          </a:xfrm>
        </p:spPr>
        <p:txBody>
          <a:bodyPr/>
          <a:lstStyle/>
          <a:p>
            <a:r>
              <a:rPr lang="zh-CN" altLang="en-US"/>
              <a:t>课堂练习 </a:t>
            </a:r>
          </a:p>
        </p:txBody>
      </p:sp>
      <p:sp>
        <p:nvSpPr>
          <p:cNvPr id="3" name="内容占位符 2">
            <a:extLst>
              <a:ext uri="{FF2B5EF4-FFF2-40B4-BE49-F238E27FC236}">
                <a16:creationId xmlns:a16="http://schemas.microsoft.com/office/drawing/2014/main" id="{1F1D063C-0BA5-4707-B521-5BAD530E9A14}"/>
              </a:ext>
            </a:extLst>
          </p:cNvPr>
          <p:cNvSpPr>
            <a:spLocks noGrp="1"/>
          </p:cNvSpPr>
          <p:nvPr>
            <p:ph idx="1"/>
          </p:nvPr>
        </p:nvSpPr>
        <p:spPr>
          <a:xfrm>
            <a:off x="911424" y="1379954"/>
            <a:ext cx="10972800" cy="5189537"/>
          </a:xfrm>
        </p:spPr>
        <p:txBody>
          <a:bodyPr/>
          <a:lstStyle/>
          <a:p>
            <a:pPr>
              <a:defRPr/>
            </a:pPr>
            <a:r>
              <a:rPr lang="zh-CN" altLang="en-US" dirty="0"/>
              <a:t>不出现于蛋白质中的氨基酸是     （多选）</a:t>
            </a:r>
          </a:p>
          <a:p>
            <a:pPr marL="0" indent="0">
              <a:buNone/>
              <a:defRPr/>
            </a:pPr>
            <a:r>
              <a:rPr lang="en-US" altLang="zh-CN" dirty="0"/>
              <a:t>A.</a:t>
            </a:r>
            <a:r>
              <a:rPr lang="zh-CN" altLang="en-US" dirty="0"/>
              <a:t>同型半胱氨酸       </a:t>
            </a:r>
            <a:r>
              <a:rPr lang="en-US" altLang="zh-CN" dirty="0"/>
              <a:t>B.</a:t>
            </a:r>
            <a:r>
              <a:rPr lang="zh-CN" altLang="en-US" dirty="0"/>
              <a:t>赖氨酸    </a:t>
            </a:r>
            <a:r>
              <a:rPr lang="en-US" altLang="zh-CN" dirty="0"/>
              <a:t>     C.</a:t>
            </a:r>
            <a:r>
              <a:rPr lang="zh-CN" altLang="en-US" dirty="0"/>
              <a:t>瓜氨酸                   </a:t>
            </a:r>
            <a:r>
              <a:rPr lang="en-US" altLang="zh-CN" dirty="0"/>
              <a:t>D.</a:t>
            </a:r>
            <a:r>
              <a:rPr lang="zh-CN" altLang="en-US" dirty="0"/>
              <a:t>精氨酸                   </a:t>
            </a:r>
            <a:r>
              <a:rPr lang="en-US" altLang="zh-CN" dirty="0"/>
              <a:t>E.</a:t>
            </a:r>
            <a:r>
              <a:rPr lang="zh-CN" altLang="en-US" dirty="0"/>
              <a:t>胱氨酸</a:t>
            </a:r>
            <a:endParaRPr lang="en-US" altLang="zh-CN" dirty="0"/>
          </a:p>
          <a:p>
            <a:pPr>
              <a:defRPr/>
            </a:pPr>
            <a:endParaRPr lang="en-US" altLang="zh-CN" dirty="0"/>
          </a:p>
          <a:p>
            <a:pPr>
              <a:defRPr/>
            </a:pPr>
            <a:r>
              <a:rPr lang="zh-CN" altLang="zh-CN" dirty="0"/>
              <a:t>蛋白质分子中的氨基酸属于下列哪一</a:t>
            </a:r>
            <a:r>
              <a:rPr lang="zh-CN" altLang="en-US" dirty="0"/>
              <a:t>类</a:t>
            </a:r>
            <a:endParaRPr lang="zh-CN" altLang="zh-CN" dirty="0"/>
          </a:p>
          <a:p>
            <a:pPr marL="0" indent="0">
              <a:buNone/>
              <a:defRPr/>
            </a:pPr>
            <a:r>
              <a:rPr lang="en-US" altLang="zh-CN" dirty="0"/>
              <a:t>A.  D-β-</a:t>
            </a:r>
            <a:r>
              <a:rPr lang="zh-CN" altLang="zh-CN" dirty="0"/>
              <a:t>氨基酸</a:t>
            </a:r>
            <a:r>
              <a:rPr lang="en-US" altLang="zh-CN" dirty="0"/>
              <a:t>                   B.  L-β-</a:t>
            </a:r>
            <a:r>
              <a:rPr lang="zh-CN" altLang="zh-CN" dirty="0"/>
              <a:t>氨基酸</a:t>
            </a:r>
            <a:endParaRPr lang="en-US" altLang="zh-CN" dirty="0"/>
          </a:p>
          <a:p>
            <a:pPr marL="0" indent="0">
              <a:buNone/>
              <a:defRPr/>
            </a:pPr>
            <a:r>
              <a:rPr lang="en-US" altLang="zh-CN" dirty="0"/>
              <a:t>C.  L-α-</a:t>
            </a:r>
            <a:r>
              <a:rPr lang="zh-CN" altLang="zh-CN" dirty="0"/>
              <a:t>氨基酸</a:t>
            </a:r>
            <a:r>
              <a:rPr lang="en-US" altLang="zh-CN" dirty="0"/>
              <a:t>                   D.  D-α-</a:t>
            </a:r>
            <a:r>
              <a:rPr lang="zh-CN" altLang="zh-CN" dirty="0"/>
              <a:t>氨基酸 </a:t>
            </a:r>
          </a:p>
          <a:p>
            <a:pPr marL="0" indent="0">
              <a:buNone/>
              <a:defRPr/>
            </a:pPr>
            <a:r>
              <a:rPr lang="en-US" altLang="zh-CN" dirty="0"/>
              <a:t>E.  </a:t>
            </a:r>
            <a:r>
              <a:rPr lang="zh-CN" altLang="zh-CN" dirty="0"/>
              <a:t>以上都不是</a:t>
            </a:r>
          </a:p>
          <a:p>
            <a:pPr>
              <a:defRPr/>
            </a:pPr>
            <a:endParaRPr lang="zh-CN" altLang="en-US" dirty="0"/>
          </a:p>
          <a:p>
            <a:pPr>
              <a:defRPr/>
            </a:pPr>
            <a:endParaRPr lang="zh-CN" altLang="en-US" dirty="0"/>
          </a:p>
        </p:txBody>
      </p:sp>
      <p:sp>
        <p:nvSpPr>
          <p:cNvPr id="2" name="矩形 1">
            <a:extLst>
              <a:ext uri="{FF2B5EF4-FFF2-40B4-BE49-F238E27FC236}">
                <a16:creationId xmlns:a16="http://schemas.microsoft.com/office/drawing/2014/main" id="{0AD249FF-C1A0-427E-B4E6-A25C3CE1B5A1}"/>
              </a:ext>
            </a:extLst>
          </p:cNvPr>
          <p:cNvSpPr>
            <a:spLocks noChangeArrowheads="1"/>
          </p:cNvSpPr>
          <p:nvPr/>
        </p:nvSpPr>
        <p:spPr bwMode="auto">
          <a:xfrm>
            <a:off x="8472264" y="1391515"/>
            <a:ext cx="1141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n-US" altLang="zh-CN" b="0" dirty="0">
                <a:solidFill>
                  <a:srgbClr val="C00000"/>
                </a:solidFill>
                <a:latin typeface="Arial" panose="020B0604020202020204" pitchFamily="34" charset="0"/>
                <a:ea typeface="宋体" panose="02010600030101010101" pitchFamily="2" charset="-122"/>
              </a:rPr>
              <a:t>A</a:t>
            </a:r>
            <a:r>
              <a:rPr lang="zh-CN" altLang="en-US" b="0" dirty="0">
                <a:solidFill>
                  <a:srgbClr val="C00000"/>
                </a:solidFill>
                <a:latin typeface="Arial" panose="020B0604020202020204" pitchFamily="34" charset="0"/>
                <a:ea typeface="宋体" panose="02010600030101010101" pitchFamily="2" charset="-122"/>
              </a:rPr>
              <a:t>，</a:t>
            </a:r>
            <a:r>
              <a:rPr lang="en-US" altLang="zh-CN" b="0" dirty="0">
                <a:solidFill>
                  <a:srgbClr val="C00000"/>
                </a:solidFill>
                <a:latin typeface="Arial" panose="020B0604020202020204" pitchFamily="34" charset="0"/>
                <a:ea typeface="宋体" panose="02010600030101010101" pitchFamily="2" charset="-122"/>
              </a:rPr>
              <a:t>C </a:t>
            </a:r>
            <a:endParaRPr lang="zh-CN" altLang="en-US" b="0" dirty="0">
              <a:solidFill>
                <a:srgbClr val="C00000"/>
              </a:solidFill>
              <a:latin typeface="Arial" panose="020B0604020202020204" pitchFamily="34" charset="0"/>
              <a:ea typeface="宋体" panose="02010600030101010101" pitchFamily="2" charset="-122"/>
            </a:endParaRPr>
          </a:p>
        </p:txBody>
      </p:sp>
      <p:sp>
        <p:nvSpPr>
          <p:cNvPr id="5" name="矩形 4">
            <a:extLst>
              <a:ext uri="{FF2B5EF4-FFF2-40B4-BE49-F238E27FC236}">
                <a16:creationId xmlns:a16="http://schemas.microsoft.com/office/drawing/2014/main" id="{43ECFD2D-0330-4990-987B-D4BDAB0DD552}"/>
              </a:ext>
            </a:extLst>
          </p:cNvPr>
          <p:cNvSpPr>
            <a:spLocks noChangeArrowheads="1"/>
          </p:cNvSpPr>
          <p:nvPr/>
        </p:nvSpPr>
        <p:spPr bwMode="auto">
          <a:xfrm>
            <a:off x="8598470" y="3413584"/>
            <a:ext cx="444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n-US" altLang="zh-CN" b="0" dirty="0">
                <a:solidFill>
                  <a:srgbClr val="C00000"/>
                </a:solidFill>
                <a:latin typeface="Arial" panose="020B0604020202020204" pitchFamily="34" charset="0"/>
                <a:ea typeface="宋体" panose="02010600030101010101" pitchFamily="2" charset="-122"/>
              </a:rPr>
              <a:t>C</a:t>
            </a:r>
            <a:endParaRPr lang="zh-CN" altLang="en-US" b="0" dirty="0">
              <a:solidFill>
                <a:srgbClr val="C00000"/>
              </a:solidFill>
              <a:latin typeface="Arial" panose="020B0604020202020204" pitchFamily="34" charset="0"/>
              <a:ea typeface="宋体" panose="02010600030101010101" pitchFamily="2" charset="-122"/>
            </a:endParaRPr>
          </a:p>
        </p:txBody>
      </p:sp>
    </p:spTree>
    <p:custDataLst>
      <p:tags r:id="rId1"/>
    </p:custDataLst>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3">
            <a:extLst>
              <a:ext uri="{FF2B5EF4-FFF2-40B4-BE49-F238E27FC236}">
                <a16:creationId xmlns:a16="http://schemas.microsoft.com/office/drawing/2014/main" id="{B73F997E-535F-4460-B2C1-340AACDD6A28}"/>
              </a:ext>
            </a:extLst>
          </p:cNvPr>
          <p:cNvSpPr txBox="1">
            <a:spLocks noChangeArrowheads="1"/>
          </p:cNvSpPr>
          <p:nvPr/>
        </p:nvSpPr>
        <p:spPr bwMode="auto">
          <a:xfrm>
            <a:off x="2133601" y="1341439"/>
            <a:ext cx="52673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kumimoji="1" lang="en-US" altLang="zh-CN" sz="3200" b="0">
                <a:solidFill>
                  <a:srgbClr val="0000CC"/>
                </a:solidFill>
              </a:rPr>
              <a:t>1. </a:t>
            </a:r>
            <a:r>
              <a:rPr kumimoji="1" lang="zh-CN" altLang="en-US" sz="3200" b="0">
                <a:solidFill>
                  <a:srgbClr val="0000CC"/>
                </a:solidFill>
              </a:rPr>
              <a:t>两性解离</a:t>
            </a:r>
          </a:p>
        </p:txBody>
      </p:sp>
      <p:sp>
        <p:nvSpPr>
          <p:cNvPr id="100355" name="Text Box 4">
            <a:extLst>
              <a:ext uri="{FF2B5EF4-FFF2-40B4-BE49-F238E27FC236}">
                <a16:creationId xmlns:a16="http://schemas.microsoft.com/office/drawing/2014/main" id="{DCBDC547-E31F-40A6-9246-0E3F96C38A3C}"/>
              </a:ext>
            </a:extLst>
          </p:cNvPr>
          <p:cNvSpPr txBox="1">
            <a:spLocks noChangeArrowheads="1"/>
          </p:cNvSpPr>
          <p:nvPr/>
        </p:nvSpPr>
        <p:spPr bwMode="auto">
          <a:xfrm>
            <a:off x="2424113" y="1938339"/>
            <a:ext cx="7416800"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indent="714375">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10000"/>
              </a:lnSpc>
              <a:buClr>
                <a:schemeClr val="accent2"/>
              </a:buClr>
              <a:buSzPct val="80000"/>
              <a:buFont typeface="Wingdings" panose="05000000000000000000" pitchFamily="2" charset="2"/>
              <a:buNone/>
            </a:pPr>
            <a:r>
              <a:rPr kumimoji="1" lang="zh-CN" altLang="en-US" b="0" dirty="0">
                <a:solidFill>
                  <a:schemeClr val="tx1"/>
                </a:solidFill>
              </a:rPr>
              <a:t>氨基酸是两性电解质，其解离方式取决于所处溶液的酸碱度。</a:t>
            </a:r>
          </a:p>
        </p:txBody>
      </p:sp>
      <p:sp>
        <p:nvSpPr>
          <p:cNvPr id="18437" name="Rectangle 5">
            <a:extLst>
              <a:ext uri="{FF2B5EF4-FFF2-40B4-BE49-F238E27FC236}">
                <a16:creationId xmlns:a16="http://schemas.microsoft.com/office/drawing/2014/main" id="{47E6EDD8-5533-4C0E-A22C-1D4ABCE6CD85}"/>
              </a:ext>
            </a:extLst>
          </p:cNvPr>
          <p:cNvSpPr>
            <a:spLocks noChangeArrowheads="1"/>
          </p:cNvSpPr>
          <p:nvPr/>
        </p:nvSpPr>
        <p:spPr bwMode="auto">
          <a:xfrm>
            <a:off x="1919536" y="3429000"/>
            <a:ext cx="8604696" cy="221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179388" indent="720725">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0000"/>
              </a:lnSpc>
              <a:buClr>
                <a:schemeClr val="accent2"/>
              </a:buClr>
              <a:buSzPct val="80000"/>
              <a:buFont typeface="Wingdings" panose="05000000000000000000" pitchFamily="2" charset="2"/>
              <a:buNone/>
            </a:pPr>
            <a:r>
              <a:rPr lang="zh-CN" altLang="en-US" b="0" dirty="0"/>
              <a:t>      在某一</a:t>
            </a:r>
            <a:r>
              <a:rPr lang="en-US" altLang="zh-CN" b="0" dirty="0"/>
              <a:t>pH</a:t>
            </a:r>
            <a:r>
              <a:rPr lang="zh-CN" altLang="en-US" b="0" dirty="0"/>
              <a:t>的溶液中，氨基酸解离成阳离子和阴离子的趋势及程度相等，成为</a:t>
            </a:r>
            <a:r>
              <a:rPr lang="zh-CN" altLang="en-US" b="0" dirty="0">
                <a:solidFill>
                  <a:srgbClr val="0000CC"/>
                </a:solidFill>
              </a:rPr>
              <a:t>兼性离子（</a:t>
            </a:r>
            <a:r>
              <a:rPr lang="en-US" altLang="zh-CN" b="0" dirty="0">
                <a:solidFill>
                  <a:srgbClr val="0000CC"/>
                </a:solidFill>
              </a:rPr>
              <a:t>zwitterion</a:t>
            </a:r>
            <a:r>
              <a:rPr lang="zh-CN" altLang="en-US" b="0" dirty="0">
                <a:solidFill>
                  <a:srgbClr val="0000CC"/>
                </a:solidFill>
              </a:rPr>
              <a:t>）</a:t>
            </a:r>
            <a:r>
              <a:rPr lang="zh-CN" altLang="en-US" b="0" dirty="0"/>
              <a:t>，呈电中性。此时溶液的</a:t>
            </a:r>
            <a:r>
              <a:rPr lang="en-US" altLang="zh-CN" b="0" dirty="0">
                <a:solidFill>
                  <a:srgbClr val="0000CC"/>
                </a:solidFill>
              </a:rPr>
              <a:t>pH</a:t>
            </a:r>
            <a:r>
              <a:rPr lang="zh-CN" altLang="en-US" b="0" dirty="0">
                <a:solidFill>
                  <a:srgbClr val="0000CC"/>
                </a:solidFill>
              </a:rPr>
              <a:t>值</a:t>
            </a:r>
            <a:r>
              <a:rPr lang="zh-CN" altLang="en-US" b="0" dirty="0"/>
              <a:t>称为该氨基酸的</a:t>
            </a:r>
            <a:r>
              <a:rPr lang="zh-CN" altLang="en-US" b="0" dirty="0">
                <a:solidFill>
                  <a:srgbClr val="FF0000"/>
                </a:solidFill>
              </a:rPr>
              <a:t>等电点</a:t>
            </a:r>
            <a:r>
              <a:rPr kumimoji="1" lang="en-US" altLang="zh-CN" b="0" dirty="0">
                <a:solidFill>
                  <a:srgbClr val="FF0000"/>
                </a:solidFill>
              </a:rPr>
              <a:t>(isoelectric point, </a:t>
            </a:r>
            <a:r>
              <a:rPr kumimoji="1" lang="en-US" altLang="zh-CN" b="0" dirty="0" err="1">
                <a:solidFill>
                  <a:srgbClr val="FF0000"/>
                </a:solidFill>
              </a:rPr>
              <a:t>pI</a:t>
            </a:r>
            <a:r>
              <a:rPr kumimoji="1" lang="en-US" altLang="zh-CN" b="0" dirty="0">
                <a:solidFill>
                  <a:srgbClr val="FF0000"/>
                </a:solidFill>
              </a:rPr>
              <a:t>)    </a:t>
            </a:r>
          </a:p>
          <a:p>
            <a:pPr eaLnBrk="1" hangingPunct="1">
              <a:lnSpc>
                <a:spcPct val="120000"/>
              </a:lnSpc>
              <a:buClr>
                <a:schemeClr val="accent2"/>
              </a:buClr>
              <a:buSzPct val="80000"/>
              <a:buFont typeface="Wingdings" panose="05000000000000000000" pitchFamily="2" charset="2"/>
              <a:buNone/>
            </a:pPr>
            <a:endParaRPr lang="en-US" altLang="zh-CN" b="0" dirty="0"/>
          </a:p>
        </p:txBody>
      </p:sp>
      <p:sp>
        <p:nvSpPr>
          <p:cNvPr id="6" name="标题 1">
            <a:extLst>
              <a:ext uri="{FF2B5EF4-FFF2-40B4-BE49-F238E27FC236}">
                <a16:creationId xmlns:a16="http://schemas.microsoft.com/office/drawing/2014/main" id="{774DEE3F-1066-4F36-90D0-750B4CCF43EB}"/>
              </a:ext>
            </a:extLst>
          </p:cNvPr>
          <p:cNvSpPr txBox="1">
            <a:spLocks/>
          </p:cNvSpPr>
          <p:nvPr/>
        </p:nvSpPr>
        <p:spPr>
          <a:xfrm>
            <a:off x="1847851" y="115889"/>
            <a:ext cx="8208963" cy="720725"/>
          </a:xfrm>
          <a:prstGeom prst="rect">
            <a:avLst/>
          </a:prstGeom>
          <a:solidFill>
            <a:srgbClr val="1D7ACF"/>
          </a:solidFill>
        </p:spPr>
        <p:txBody>
          <a:bodyPr/>
          <a:lstStyle>
            <a:lvl1pPr algn="l" rtl="0" eaLnBrk="0" fontAlgn="base" hangingPunct="0">
              <a:spcBef>
                <a:spcPct val="0"/>
              </a:spcBef>
              <a:spcAft>
                <a:spcPct val="0"/>
              </a:spcAft>
              <a:defRPr sz="3600" b="1">
                <a:solidFill>
                  <a:schemeClr val="bg1"/>
                </a:solidFill>
                <a:latin typeface="+mj-lt"/>
                <a:ea typeface="+mj-ea"/>
                <a:cs typeface="+mj-cs"/>
              </a:defRPr>
            </a:lvl1pPr>
            <a:lvl2pPr algn="l" rtl="0" eaLnBrk="0" fontAlgn="base" hangingPunct="0">
              <a:spcBef>
                <a:spcPct val="0"/>
              </a:spcBef>
              <a:spcAft>
                <a:spcPct val="0"/>
              </a:spcAft>
              <a:defRPr sz="3600" b="1">
                <a:solidFill>
                  <a:schemeClr val="bg1"/>
                </a:solidFill>
                <a:latin typeface="黑体" pitchFamily="49" charset="-122"/>
                <a:ea typeface="黑体" pitchFamily="49" charset="-122"/>
              </a:defRPr>
            </a:lvl2pPr>
            <a:lvl3pPr algn="l" rtl="0" eaLnBrk="0" fontAlgn="base" hangingPunct="0">
              <a:spcBef>
                <a:spcPct val="0"/>
              </a:spcBef>
              <a:spcAft>
                <a:spcPct val="0"/>
              </a:spcAft>
              <a:defRPr sz="3600" b="1">
                <a:solidFill>
                  <a:schemeClr val="bg1"/>
                </a:solidFill>
                <a:latin typeface="黑体" pitchFamily="49" charset="-122"/>
                <a:ea typeface="黑体" pitchFamily="49" charset="-122"/>
              </a:defRPr>
            </a:lvl3pPr>
            <a:lvl4pPr algn="l" rtl="0" eaLnBrk="0" fontAlgn="base" hangingPunct="0">
              <a:spcBef>
                <a:spcPct val="0"/>
              </a:spcBef>
              <a:spcAft>
                <a:spcPct val="0"/>
              </a:spcAft>
              <a:defRPr sz="3600" b="1">
                <a:solidFill>
                  <a:schemeClr val="bg1"/>
                </a:solidFill>
                <a:latin typeface="黑体" pitchFamily="49" charset="-122"/>
                <a:ea typeface="黑体" pitchFamily="49" charset="-122"/>
              </a:defRPr>
            </a:lvl4pPr>
            <a:lvl5pPr algn="l" rtl="0" eaLnBrk="0" fontAlgn="base" hangingPunct="0">
              <a:spcBef>
                <a:spcPct val="0"/>
              </a:spcBef>
              <a:spcAft>
                <a:spcPct val="0"/>
              </a:spcAft>
              <a:defRPr sz="3600" b="1">
                <a:solidFill>
                  <a:schemeClr val="bg1"/>
                </a:solidFill>
                <a:latin typeface="黑体" pitchFamily="49" charset="-122"/>
                <a:ea typeface="黑体" pitchFamily="49" charset="-122"/>
              </a:defRPr>
            </a:lvl5pPr>
            <a:lvl6pPr marL="457200" algn="l" rtl="0" fontAlgn="base">
              <a:spcBef>
                <a:spcPct val="0"/>
              </a:spcBef>
              <a:spcAft>
                <a:spcPct val="0"/>
              </a:spcAft>
              <a:defRPr sz="3600" b="1">
                <a:solidFill>
                  <a:schemeClr val="bg1"/>
                </a:solidFill>
                <a:latin typeface="黑体" pitchFamily="49" charset="-122"/>
                <a:ea typeface="黑体" pitchFamily="49" charset="-122"/>
              </a:defRPr>
            </a:lvl6pPr>
            <a:lvl7pPr marL="914400" algn="l" rtl="0" fontAlgn="base">
              <a:spcBef>
                <a:spcPct val="0"/>
              </a:spcBef>
              <a:spcAft>
                <a:spcPct val="0"/>
              </a:spcAft>
              <a:defRPr sz="3600" b="1">
                <a:solidFill>
                  <a:schemeClr val="bg1"/>
                </a:solidFill>
                <a:latin typeface="黑体" pitchFamily="49" charset="-122"/>
                <a:ea typeface="黑体" pitchFamily="49" charset="-122"/>
              </a:defRPr>
            </a:lvl7pPr>
            <a:lvl8pPr marL="1371600" algn="l" rtl="0" fontAlgn="base">
              <a:spcBef>
                <a:spcPct val="0"/>
              </a:spcBef>
              <a:spcAft>
                <a:spcPct val="0"/>
              </a:spcAft>
              <a:defRPr sz="3600" b="1">
                <a:solidFill>
                  <a:schemeClr val="bg1"/>
                </a:solidFill>
                <a:latin typeface="黑体" pitchFamily="49" charset="-122"/>
                <a:ea typeface="黑体" pitchFamily="49" charset="-122"/>
              </a:defRPr>
            </a:lvl8pPr>
            <a:lvl9pPr marL="1828800" algn="l" rtl="0" fontAlgn="base">
              <a:spcBef>
                <a:spcPct val="0"/>
              </a:spcBef>
              <a:spcAft>
                <a:spcPct val="0"/>
              </a:spcAft>
              <a:defRPr sz="3600" b="1">
                <a:solidFill>
                  <a:schemeClr val="bg1"/>
                </a:solidFill>
                <a:latin typeface="黑体" pitchFamily="49" charset="-122"/>
                <a:ea typeface="黑体" pitchFamily="49" charset="-122"/>
              </a:defRPr>
            </a:lvl9pPr>
          </a:lstStyle>
          <a:p>
            <a:pPr algn="ctr">
              <a:defRPr/>
            </a:pPr>
            <a:r>
              <a:rPr lang="zh-CN" altLang="en-US" kern="0" dirty="0"/>
              <a:t>四、氨基酸具有共同或特异的理化性质</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8437"/>
                                        </p:tgtEl>
                                        <p:attrNameLst>
                                          <p:attrName>style.visibility</p:attrName>
                                        </p:attrNameLst>
                                      </p:cBhvr>
                                      <p:to>
                                        <p:strVal val="visible"/>
                                      </p:to>
                                    </p:set>
                                    <p:animEffect transition="in" filter="randombar(horizontal)">
                                      <p:cBhvr>
                                        <p:cTn id="7" dur="500"/>
                                        <p:tgtEl>
                                          <p:spTgt spid="18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730" name="Group 2">
            <a:extLst>
              <a:ext uri="{FF2B5EF4-FFF2-40B4-BE49-F238E27FC236}">
                <a16:creationId xmlns:a16="http://schemas.microsoft.com/office/drawing/2014/main" id="{BE2F0CE3-1B24-41C8-863E-B573D5D3146B}"/>
              </a:ext>
            </a:extLst>
          </p:cNvPr>
          <p:cNvGrpSpPr>
            <a:grpSpLocks/>
          </p:cNvGrpSpPr>
          <p:nvPr/>
        </p:nvGrpSpPr>
        <p:grpSpPr bwMode="auto">
          <a:xfrm>
            <a:off x="5911850" y="2274888"/>
            <a:ext cx="152400" cy="838200"/>
            <a:chOff x="2640" y="1392"/>
            <a:chExt cx="96" cy="624"/>
          </a:xfrm>
        </p:grpSpPr>
        <p:sp>
          <p:nvSpPr>
            <p:cNvPr id="102430" name="Line 3">
              <a:extLst>
                <a:ext uri="{FF2B5EF4-FFF2-40B4-BE49-F238E27FC236}">
                  <a16:creationId xmlns:a16="http://schemas.microsoft.com/office/drawing/2014/main" id="{D70703A0-359D-4EF3-8144-0D8D8283A853}"/>
                </a:ext>
              </a:extLst>
            </p:cNvPr>
            <p:cNvSpPr>
              <a:spLocks noChangeShapeType="1"/>
            </p:cNvSpPr>
            <p:nvPr/>
          </p:nvSpPr>
          <p:spPr bwMode="auto">
            <a:xfrm>
              <a:off x="2736" y="1392"/>
              <a:ext cx="0" cy="624"/>
            </a:xfrm>
            <a:prstGeom prst="line">
              <a:avLst/>
            </a:prstGeom>
            <a:noFill/>
            <a:ln w="38100" cap="sq">
              <a:solidFill>
                <a:schemeClr val="tx1"/>
              </a:solidFill>
              <a:round/>
              <a:headEnd type="arrow" w="med" len="med"/>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02431" name="Line 4">
              <a:extLst>
                <a:ext uri="{FF2B5EF4-FFF2-40B4-BE49-F238E27FC236}">
                  <a16:creationId xmlns:a16="http://schemas.microsoft.com/office/drawing/2014/main" id="{ACA5E42B-4566-46A2-ABF6-239C0B3C3B2E}"/>
                </a:ext>
              </a:extLst>
            </p:cNvPr>
            <p:cNvSpPr>
              <a:spLocks noChangeShapeType="1"/>
            </p:cNvSpPr>
            <p:nvPr/>
          </p:nvSpPr>
          <p:spPr bwMode="auto">
            <a:xfrm flipV="1">
              <a:off x="2640" y="1392"/>
              <a:ext cx="0" cy="624"/>
            </a:xfrm>
            <a:prstGeom prst="line">
              <a:avLst/>
            </a:prstGeom>
            <a:noFill/>
            <a:ln w="38100" cap="sq">
              <a:solidFill>
                <a:schemeClr val="tx1"/>
              </a:solidFill>
              <a:round/>
              <a:headEnd type="arrow" w="med" len="me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431109" name="Text Box 5">
            <a:extLst>
              <a:ext uri="{FF2B5EF4-FFF2-40B4-BE49-F238E27FC236}">
                <a16:creationId xmlns:a16="http://schemas.microsoft.com/office/drawing/2014/main" id="{E54F2ABB-87E4-4772-B543-DBB6DFCF666F}"/>
              </a:ext>
            </a:extLst>
          </p:cNvPr>
          <p:cNvSpPr txBox="1">
            <a:spLocks noChangeArrowheads="1"/>
          </p:cNvSpPr>
          <p:nvPr/>
        </p:nvSpPr>
        <p:spPr bwMode="auto">
          <a:xfrm>
            <a:off x="5546725" y="5103814"/>
            <a:ext cx="13414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3200">
                <a:solidFill>
                  <a:schemeClr val="tx1"/>
                </a:solidFill>
              </a:rPr>
              <a:t>pH=</a:t>
            </a:r>
            <a:r>
              <a:rPr kumimoji="1" lang="en-US" altLang="zh-CN" sz="3200">
                <a:solidFill>
                  <a:srgbClr val="0000CC"/>
                </a:solidFill>
              </a:rPr>
              <a:t>pI</a:t>
            </a:r>
          </a:p>
        </p:txBody>
      </p:sp>
      <p:grpSp>
        <p:nvGrpSpPr>
          <p:cNvPr id="73732" name="Group 6">
            <a:extLst>
              <a:ext uri="{FF2B5EF4-FFF2-40B4-BE49-F238E27FC236}">
                <a16:creationId xmlns:a16="http://schemas.microsoft.com/office/drawing/2014/main" id="{BC2DBDAC-57E2-4710-98AC-EE5C4B09E7D0}"/>
              </a:ext>
            </a:extLst>
          </p:cNvPr>
          <p:cNvGrpSpPr>
            <a:grpSpLocks/>
          </p:cNvGrpSpPr>
          <p:nvPr/>
        </p:nvGrpSpPr>
        <p:grpSpPr bwMode="auto">
          <a:xfrm>
            <a:off x="7346951" y="2954339"/>
            <a:ext cx="982663" cy="473075"/>
            <a:chOff x="3648" y="1862"/>
            <a:chExt cx="619" cy="298"/>
          </a:xfrm>
        </p:grpSpPr>
        <p:sp>
          <p:nvSpPr>
            <p:cNvPr id="102428" name="Line 7">
              <a:extLst>
                <a:ext uri="{FF2B5EF4-FFF2-40B4-BE49-F238E27FC236}">
                  <a16:creationId xmlns:a16="http://schemas.microsoft.com/office/drawing/2014/main" id="{7D44F9D3-34D4-448F-B47E-51F8392AF5DC}"/>
                </a:ext>
              </a:extLst>
            </p:cNvPr>
            <p:cNvSpPr>
              <a:spLocks noChangeShapeType="1"/>
            </p:cNvSpPr>
            <p:nvPr/>
          </p:nvSpPr>
          <p:spPr bwMode="auto">
            <a:xfrm>
              <a:off x="3739" y="2160"/>
              <a:ext cx="528" cy="0"/>
            </a:xfrm>
            <a:prstGeom prst="line">
              <a:avLst/>
            </a:prstGeom>
            <a:noFill/>
            <a:ln w="381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429" name="Text Box 8">
              <a:extLst>
                <a:ext uri="{FF2B5EF4-FFF2-40B4-BE49-F238E27FC236}">
                  <a16:creationId xmlns:a16="http://schemas.microsoft.com/office/drawing/2014/main" id="{EBA5683B-6274-431A-8C17-021AC44366C4}"/>
                </a:ext>
              </a:extLst>
            </p:cNvPr>
            <p:cNvSpPr txBox="1">
              <a:spLocks noChangeArrowheads="1"/>
            </p:cNvSpPr>
            <p:nvPr/>
          </p:nvSpPr>
          <p:spPr bwMode="auto">
            <a:xfrm>
              <a:off x="3648" y="1862"/>
              <a:ext cx="5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rgbClr val="FF3300"/>
                  </a:solidFill>
                </a:rPr>
                <a:t>+OH</a:t>
              </a:r>
              <a:r>
                <a:rPr kumimoji="1" lang="en-US" altLang="zh-CN" sz="3600" baseline="30000">
                  <a:solidFill>
                    <a:srgbClr val="FF3300"/>
                  </a:solidFill>
                </a:rPr>
                <a:t>-</a:t>
              </a:r>
            </a:p>
          </p:txBody>
        </p:sp>
      </p:grpSp>
      <p:sp>
        <p:nvSpPr>
          <p:cNvPr id="431113" name="Text Box 9">
            <a:extLst>
              <a:ext uri="{FF2B5EF4-FFF2-40B4-BE49-F238E27FC236}">
                <a16:creationId xmlns:a16="http://schemas.microsoft.com/office/drawing/2014/main" id="{EC832EA5-3A12-454F-81DD-209801EE9E44}"/>
              </a:ext>
            </a:extLst>
          </p:cNvPr>
          <p:cNvSpPr txBox="1">
            <a:spLocks noChangeArrowheads="1"/>
          </p:cNvSpPr>
          <p:nvPr/>
        </p:nvSpPr>
        <p:spPr bwMode="auto">
          <a:xfrm>
            <a:off x="8666164" y="5103814"/>
            <a:ext cx="13414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3200">
                <a:solidFill>
                  <a:schemeClr val="tx1"/>
                </a:solidFill>
              </a:rPr>
              <a:t>pH&gt;</a:t>
            </a:r>
            <a:r>
              <a:rPr kumimoji="1" lang="en-US" altLang="zh-CN" sz="3200">
                <a:solidFill>
                  <a:srgbClr val="0000CC"/>
                </a:solidFill>
              </a:rPr>
              <a:t>pI</a:t>
            </a:r>
          </a:p>
        </p:txBody>
      </p:sp>
      <p:grpSp>
        <p:nvGrpSpPr>
          <p:cNvPr id="73734" name="Group 10">
            <a:extLst>
              <a:ext uri="{FF2B5EF4-FFF2-40B4-BE49-F238E27FC236}">
                <a16:creationId xmlns:a16="http://schemas.microsoft.com/office/drawing/2014/main" id="{31BCEC73-7668-4AB2-B55B-90405CF18884}"/>
              </a:ext>
            </a:extLst>
          </p:cNvPr>
          <p:cNvGrpSpPr>
            <a:grpSpLocks/>
          </p:cNvGrpSpPr>
          <p:nvPr/>
        </p:nvGrpSpPr>
        <p:grpSpPr bwMode="auto">
          <a:xfrm>
            <a:off x="7415213" y="3579814"/>
            <a:ext cx="838200" cy="593725"/>
            <a:chOff x="3691" y="2256"/>
            <a:chExt cx="528" cy="374"/>
          </a:xfrm>
        </p:grpSpPr>
        <p:sp>
          <p:nvSpPr>
            <p:cNvPr id="102426" name="Line 11">
              <a:extLst>
                <a:ext uri="{FF2B5EF4-FFF2-40B4-BE49-F238E27FC236}">
                  <a16:creationId xmlns:a16="http://schemas.microsoft.com/office/drawing/2014/main" id="{594FD0AE-41E6-4C50-8A9E-3EC2BBF27B5B}"/>
                </a:ext>
              </a:extLst>
            </p:cNvPr>
            <p:cNvSpPr>
              <a:spLocks noChangeShapeType="1"/>
            </p:cNvSpPr>
            <p:nvPr/>
          </p:nvSpPr>
          <p:spPr bwMode="auto">
            <a:xfrm>
              <a:off x="3739" y="2256"/>
              <a:ext cx="480" cy="0"/>
            </a:xfrm>
            <a:prstGeom prst="line">
              <a:avLst/>
            </a:prstGeom>
            <a:noFill/>
            <a:ln w="38100" cap="sq">
              <a:solidFill>
                <a:schemeClr val="tx1"/>
              </a:solidFill>
              <a:round/>
              <a:headEnd type="arrow"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2427" name="Text Box 12">
              <a:extLst>
                <a:ext uri="{FF2B5EF4-FFF2-40B4-BE49-F238E27FC236}">
                  <a16:creationId xmlns:a16="http://schemas.microsoft.com/office/drawing/2014/main" id="{9C927FB3-0AF6-4CAC-A31A-52D6AD2C0104}"/>
                </a:ext>
              </a:extLst>
            </p:cNvPr>
            <p:cNvSpPr txBox="1">
              <a:spLocks noChangeArrowheads="1"/>
            </p:cNvSpPr>
            <p:nvPr/>
          </p:nvSpPr>
          <p:spPr bwMode="auto">
            <a:xfrm>
              <a:off x="3691" y="2342"/>
              <a:ext cx="4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rgbClr val="6600FF"/>
                  </a:solidFill>
                </a:rPr>
                <a:t>+H</a:t>
              </a:r>
              <a:r>
                <a:rPr kumimoji="1" lang="en-US" altLang="zh-CN" baseline="30000">
                  <a:solidFill>
                    <a:srgbClr val="6600FF"/>
                  </a:solidFill>
                </a:rPr>
                <a:t>+</a:t>
              </a:r>
            </a:p>
          </p:txBody>
        </p:sp>
      </p:grpSp>
      <p:grpSp>
        <p:nvGrpSpPr>
          <p:cNvPr id="73735" name="Group 13">
            <a:extLst>
              <a:ext uri="{FF2B5EF4-FFF2-40B4-BE49-F238E27FC236}">
                <a16:creationId xmlns:a16="http://schemas.microsoft.com/office/drawing/2014/main" id="{CDBEA713-CB83-4FD5-AF85-76A8C70D5A29}"/>
              </a:ext>
            </a:extLst>
          </p:cNvPr>
          <p:cNvGrpSpPr>
            <a:grpSpLocks/>
          </p:cNvGrpSpPr>
          <p:nvPr/>
        </p:nvGrpSpPr>
        <p:grpSpPr bwMode="auto">
          <a:xfrm>
            <a:off x="3994150" y="2954339"/>
            <a:ext cx="990600" cy="473075"/>
            <a:chOff x="1440" y="2390"/>
            <a:chExt cx="624" cy="298"/>
          </a:xfrm>
        </p:grpSpPr>
        <p:sp>
          <p:nvSpPr>
            <p:cNvPr id="102424" name="Line 14">
              <a:extLst>
                <a:ext uri="{FF2B5EF4-FFF2-40B4-BE49-F238E27FC236}">
                  <a16:creationId xmlns:a16="http://schemas.microsoft.com/office/drawing/2014/main" id="{64E1FC94-FF32-44D0-9A77-EB28CBAE1C5F}"/>
                </a:ext>
              </a:extLst>
            </p:cNvPr>
            <p:cNvSpPr>
              <a:spLocks noChangeShapeType="1"/>
            </p:cNvSpPr>
            <p:nvPr/>
          </p:nvSpPr>
          <p:spPr bwMode="auto">
            <a:xfrm>
              <a:off x="1536" y="2688"/>
              <a:ext cx="528" cy="0"/>
            </a:xfrm>
            <a:prstGeom prst="line">
              <a:avLst/>
            </a:prstGeom>
            <a:noFill/>
            <a:ln w="381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2425" name="Text Box 15">
              <a:extLst>
                <a:ext uri="{FF2B5EF4-FFF2-40B4-BE49-F238E27FC236}">
                  <a16:creationId xmlns:a16="http://schemas.microsoft.com/office/drawing/2014/main" id="{2F84DFF6-3701-4DE3-B879-010AAC612071}"/>
                </a:ext>
              </a:extLst>
            </p:cNvPr>
            <p:cNvSpPr txBox="1">
              <a:spLocks noChangeArrowheads="1"/>
            </p:cNvSpPr>
            <p:nvPr/>
          </p:nvSpPr>
          <p:spPr bwMode="auto">
            <a:xfrm>
              <a:off x="1440" y="2390"/>
              <a:ext cx="5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rgbClr val="FF3300"/>
                  </a:solidFill>
                </a:rPr>
                <a:t>+OH</a:t>
              </a:r>
              <a:r>
                <a:rPr kumimoji="1" lang="en-US" altLang="zh-CN" sz="3600" baseline="30000">
                  <a:solidFill>
                    <a:srgbClr val="FF3300"/>
                  </a:solidFill>
                </a:rPr>
                <a:t>-</a:t>
              </a:r>
            </a:p>
          </p:txBody>
        </p:sp>
      </p:grpSp>
      <p:grpSp>
        <p:nvGrpSpPr>
          <p:cNvPr id="73736" name="Group 16">
            <a:extLst>
              <a:ext uri="{FF2B5EF4-FFF2-40B4-BE49-F238E27FC236}">
                <a16:creationId xmlns:a16="http://schemas.microsoft.com/office/drawing/2014/main" id="{1E43E290-EE83-49BC-B4B4-D2704EA24E4D}"/>
              </a:ext>
            </a:extLst>
          </p:cNvPr>
          <p:cNvGrpSpPr>
            <a:grpSpLocks/>
          </p:cNvGrpSpPr>
          <p:nvPr/>
        </p:nvGrpSpPr>
        <p:grpSpPr bwMode="auto">
          <a:xfrm>
            <a:off x="4070350" y="3579814"/>
            <a:ext cx="914400" cy="517525"/>
            <a:chOff x="1152" y="1152"/>
            <a:chExt cx="576" cy="326"/>
          </a:xfrm>
        </p:grpSpPr>
        <p:sp>
          <p:nvSpPr>
            <p:cNvPr id="102422" name="Line 17">
              <a:extLst>
                <a:ext uri="{FF2B5EF4-FFF2-40B4-BE49-F238E27FC236}">
                  <a16:creationId xmlns:a16="http://schemas.microsoft.com/office/drawing/2014/main" id="{2F7297D7-5011-4BDB-8D25-D540A1459F68}"/>
                </a:ext>
              </a:extLst>
            </p:cNvPr>
            <p:cNvSpPr>
              <a:spLocks noChangeShapeType="1"/>
            </p:cNvSpPr>
            <p:nvPr/>
          </p:nvSpPr>
          <p:spPr bwMode="auto">
            <a:xfrm>
              <a:off x="1152" y="1152"/>
              <a:ext cx="576" cy="0"/>
            </a:xfrm>
            <a:prstGeom prst="line">
              <a:avLst/>
            </a:prstGeom>
            <a:noFill/>
            <a:ln w="38100" cap="sq">
              <a:solidFill>
                <a:schemeClr val="tx1"/>
              </a:solidFill>
              <a:round/>
              <a:headEnd type="arrow"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2423" name="Text Box 18">
              <a:extLst>
                <a:ext uri="{FF2B5EF4-FFF2-40B4-BE49-F238E27FC236}">
                  <a16:creationId xmlns:a16="http://schemas.microsoft.com/office/drawing/2014/main" id="{36BBEEAB-ADE8-4F22-8A54-12956D478828}"/>
                </a:ext>
              </a:extLst>
            </p:cNvPr>
            <p:cNvSpPr txBox="1">
              <a:spLocks noChangeArrowheads="1"/>
            </p:cNvSpPr>
            <p:nvPr/>
          </p:nvSpPr>
          <p:spPr bwMode="auto">
            <a:xfrm>
              <a:off x="1152" y="1190"/>
              <a:ext cx="4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rgbClr val="6600FF"/>
                  </a:solidFill>
                </a:rPr>
                <a:t>+H</a:t>
              </a:r>
              <a:r>
                <a:rPr kumimoji="1" lang="en-US" altLang="zh-CN" baseline="30000">
                  <a:solidFill>
                    <a:srgbClr val="6600FF"/>
                  </a:solidFill>
                </a:rPr>
                <a:t>+</a:t>
              </a:r>
            </a:p>
          </p:txBody>
        </p:sp>
      </p:grpSp>
      <p:sp>
        <p:nvSpPr>
          <p:cNvPr id="431123" name="Text Box 19">
            <a:extLst>
              <a:ext uri="{FF2B5EF4-FFF2-40B4-BE49-F238E27FC236}">
                <a16:creationId xmlns:a16="http://schemas.microsoft.com/office/drawing/2014/main" id="{C901763A-B62B-42E4-ACB9-BCE6C8408A4C}"/>
              </a:ext>
            </a:extLst>
          </p:cNvPr>
          <p:cNvSpPr txBox="1">
            <a:spLocks noChangeArrowheads="1"/>
          </p:cNvSpPr>
          <p:nvPr/>
        </p:nvSpPr>
        <p:spPr bwMode="auto">
          <a:xfrm>
            <a:off x="2224089" y="5103814"/>
            <a:ext cx="13414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3200">
                <a:solidFill>
                  <a:schemeClr val="tx1"/>
                </a:solidFill>
              </a:rPr>
              <a:t>pH&lt;</a:t>
            </a:r>
            <a:r>
              <a:rPr kumimoji="1" lang="en-US" altLang="zh-CN" sz="3200">
                <a:solidFill>
                  <a:srgbClr val="0000CC"/>
                </a:solidFill>
              </a:rPr>
              <a:t>pI</a:t>
            </a:r>
          </a:p>
        </p:txBody>
      </p:sp>
      <p:pic>
        <p:nvPicPr>
          <p:cNvPr id="102410" name="Picture 23">
            <a:extLst>
              <a:ext uri="{FF2B5EF4-FFF2-40B4-BE49-F238E27FC236}">
                <a16:creationId xmlns:a16="http://schemas.microsoft.com/office/drawing/2014/main" id="{38CD2DE5-F35D-4753-8A2E-8563F25263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1126" y="1114425"/>
            <a:ext cx="2246313" cy="105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9" name="Picture 24">
            <a:extLst>
              <a:ext uri="{FF2B5EF4-FFF2-40B4-BE49-F238E27FC236}">
                <a16:creationId xmlns:a16="http://schemas.microsoft.com/office/drawing/2014/main" id="{0C449127-422E-44BC-9A28-B9F7E0668A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1125" y="3140076"/>
            <a:ext cx="2159000"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40" name="Picture 25">
            <a:extLst>
              <a:ext uri="{FF2B5EF4-FFF2-40B4-BE49-F238E27FC236}">
                <a16:creationId xmlns:a16="http://schemas.microsoft.com/office/drawing/2014/main" id="{2879E357-B996-4001-B2E9-045CEC1E6C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42325" y="3140076"/>
            <a:ext cx="20066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3741" name="Object 26">
            <a:extLst>
              <a:ext uri="{FF2B5EF4-FFF2-40B4-BE49-F238E27FC236}">
                <a16:creationId xmlns:a16="http://schemas.microsoft.com/office/drawing/2014/main" id="{E963EE0C-6998-4E0B-AC7F-148A05B7B650}"/>
              </a:ext>
            </a:extLst>
          </p:cNvPr>
          <p:cNvGraphicFramePr>
            <a:graphicFrameLocks noChangeAspect="1"/>
          </p:cNvGraphicFramePr>
          <p:nvPr/>
        </p:nvGraphicFramePr>
        <p:xfrm>
          <a:off x="1806576" y="3140076"/>
          <a:ext cx="2233613" cy="1057275"/>
        </p:xfrm>
        <a:graphic>
          <a:graphicData uri="http://schemas.openxmlformats.org/presentationml/2006/ole">
            <mc:AlternateContent xmlns:mc="http://schemas.openxmlformats.org/markup-compatibility/2006">
              <mc:Choice xmlns:v="urn:schemas-microsoft-com:vml" Requires="v">
                <p:oleObj name="Document" r:id="rId6" imgW="2533650" imgH="1200150" progId="ChemWindow.Document">
                  <p:embed/>
                </p:oleObj>
              </mc:Choice>
              <mc:Fallback>
                <p:oleObj name="Document" r:id="rId6" imgW="2533650" imgH="1200150" progId="ChemWindow.Document">
                  <p:embed/>
                  <p:pic>
                    <p:nvPicPr>
                      <p:cNvPr id="73741" name="Object 26">
                        <a:extLst>
                          <a:ext uri="{FF2B5EF4-FFF2-40B4-BE49-F238E27FC236}">
                            <a16:creationId xmlns:a16="http://schemas.microsoft.com/office/drawing/2014/main" id="{E963EE0C-6998-4E0B-AC7F-148A05B7B6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06576" y="3140076"/>
                        <a:ext cx="2233613" cy="105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1131" name="Text Box 27">
            <a:extLst>
              <a:ext uri="{FF2B5EF4-FFF2-40B4-BE49-F238E27FC236}">
                <a16:creationId xmlns:a16="http://schemas.microsoft.com/office/drawing/2014/main" id="{F2EB3AFB-F7B9-4F16-93F0-886B7961B6DD}"/>
              </a:ext>
            </a:extLst>
          </p:cNvPr>
          <p:cNvSpPr txBox="1">
            <a:spLocks noChangeArrowheads="1"/>
          </p:cNvSpPr>
          <p:nvPr/>
        </p:nvSpPr>
        <p:spPr bwMode="auto">
          <a:xfrm>
            <a:off x="4656138" y="4437063"/>
            <a:ext cx="3168650"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ct val="50000"/>
              </a:spcBef>
              <a:buClrTx/>
              <a:buFontTx/>
              <a:buNone/>
            </a:pPr>
            <a:r>
              <a:rPr kumimoji="1" lang="zh-CN" altLang="en-US">
                <a:solidFill>
                  <a:srgbClr val="C00000"/>
                </a:solidFill>
              </a:rPr>
              <a:t>兼性离子</a:t>
            </a:r>
            <a:r>
              <a:rPr kumimoji="1" lang="zh-CN" altLang="en-US">
                <a:solidFill>
                  <a:schemeClr val="tx1"/>
                </a:solidFill>
              </a:rPr>
              <a:t>   </a:t>
            </a:r>
          </a:p>
        </p:txBody>
      </p:sp>
      <p:sp>
        <p:nvSpPr>
          <p:cNvPr id="431132" name="Rectangle 28">
            <a:extLst>
              <a:ext uri="{FF2B5EF4-FFF2-40B4-BE49-F238E27FC236}">
                <a16:creationId xmlns:a16="http://schemas.microsoft.com/office/drawing/2014/main" id="{443178CB-D5CA-49F4-A244-78A0C4EAFACC}"/>
              </a:ext>
            </a:extLst>
          </p:cNvPr>
          <p:cNvSpPr>
            <a:spLocks noChangeArrowheads="1"/>
          </p:cNvSpPr>
          <p:nvPr/>
        </p:nvSpPr>
        <p:spPr bwMode="auto">
          <a:xfrm>
            <a:off x="2009776" y="4489451"/>
            <a:ext cx="1770063"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ct val="0"/>
              </a:spcBef>
              <a:buClrTx/>
              <a:buFontTx/>
              <a:buNone/>
            </a:pPr>
            <a:r>
              <a:rPr kumimoji="1" lang="zh-CN" altLang="en-US">
                <a:solidFill>
                  <a:schemeClr val="tx1"/>
                </a:solidFill>
              </a:rPr>
              <a:t>阳离子</a:t>
            </a:r>
          </a:p>
        </p:txBody>
      </p:sp>
      <p:sp>
        <p:nvSpPr>
          <p:cNvPr id="431133" name="Rectangle 29">
            <a:extLst>
              <a:ext uri="{FF2B5EF4-FFF2-40B4-BE49-F238E27FC236}">
                <a16:creationId xmlns:a16="http://schemas.microsoft.com/office/drawing/2014/main" id="{4B959386-75A7-444B-BC9C-7F8A656C0F35}"/>
              </a:ext>
            </a:extLst>
          </p:cNvPr>
          <p:cNvSpPr>
            <a:spLocks noChangeArrowheads="1"/>
          </p:cNvSpPr>
          <p:nvPr/>
        </p:nvSpPr>
        <p:spPr bwMode="auto">
          <a:xfrm>
            <a:off x="8543926" y="4443414"/>
            <a:ext cx="1471613"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ct val="0"/>
              </a:spcBef>
              <a:buClrTx/>
              <a:buFontTx/>
              <a:buNone/>
            </a:pPr>
            <a:r>
              <a:rPr kumimoji="1" lang="zh-CN" altLang="en-US">
                <a:solidFill>
                  <a:schemeClr val="tx1"/>
                </a:solidFill>
              </a:rPr>
              <a:t>阴离子</a:t>
            </a:r>
          </a:p>
        </p:txBody>
      </p:sp>
      <p:sp>
        <p:nvSpPr>
          <p:cNvPr id="102417" name="标题 1">
            <a:extLst>
              <a:ext uri="{FF2B5EF4-FFF2-40B4-BE49-F238E27FC236}">
                <a16:creationId xmlns:a16="http://schemas.microsoft.com/office/drawing/2014/main" id="{62CE3664-35F9-4905-9B8B-1CEF5371BE4B}"/>
              </a:ext>
            </a:extLst>
          </p:cNvPr>
          <p:cNvSpPr>
            <a:spLocks noGrp="1" noChangeArrowheads="1"/>
          </p:cNvSpPr>
          <p:nvPr>
            <p:ph type="title"/>
          </p:nvPr>
        </p:nvSpPr>
        <p:spPr>
          <a:xfrm>
            <a:off x="2203450" y="144463"/>
            <a:ext cx="6178550" cy="608012"/>
          </a:xfrm>
        </p:spPr>
        <p:txBody>
          <a:bodyPr/>
          <a:lstStyle/>
          <a:p>
            <a:r>
              <a:rPr lang="zh-CN" altLang="en-US" sz="4000"/>
              <a:t>氨基酸的解离</a:t>
            </a:r>
          </a:p>
        </p:txBody>
      </p:sp>
      <p:sp>
        <p:nvSpPr>
          <p:cNvPr id="35" name="文本框 34">
            <a:extLst>
              <a:ext uri="{FF2B5EF4-FFF2-40B4-BE49-F238E27FC236}">
                <a16:creationId xmlns:a16="http://schemas.microsoft.com/office/drawing/2014/main" id="{CAA938D1-9270-466E-83D2-A0645A9E9A6B}"/>
              </a:ext>
            </a:extLst>
          </p:cNvPr>
          <p:cNvSpPr txBox="1">
            <a:spLocks noChangeArrowheads="1"/>
          </p:cNvSpPr>
          <p:nvPr/>
        </p:nvSpPr>
        <p:spPr bwMode="auto">
          <a:xfrm>
            <a:off x="4186238" y="2565400"/>
            <a:ext cx="830262"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n-US" altLang="zh-CN" b="0">
                <a:solidFill>
                  <a:srgbClr val="006600"/>
                </a:solidFill>
                <a:latin typeface="Arial" panose="020B0604020202020204" pitchFamily="34" charset="0"/>
                <a:ea typeface="宋体" panose="02010600030101010101" pitchFamily="2" charset="-122"/>
              </a:rPr>
              <a:t>K</a:t>
            </a:r>
            <a:r>
              <a:rPr lang="en-US" altLang="zh-CN" b="0" baseline="-25000">
                <a:solidFill>
                  <a:srgbClr val="006600"/>
                </a:solidFill>
                <a:latin typeface="Arial" panose="020B0604020202020204" pitchFamily="34" charset="0"/>
                <a:ea typeface="宋体" panose="02010600030101010101" pitchFamily="2" charset="-122"/>
              </a:rPr>
              <a:t>1</a:t>
            </a:r>
            <a:endParaRPr lang="zh-CN" altLang="en-US" b="0" baseline="-25000">
              <a:solidFill>
                <a:srgbClr val="006600"/>
              </a:solidFill>
              <a:latin typeface="Arial" panose="020B0604020202020204" pitchFamily="34" charset="0"/>
              <a:ea typeface="宋体" panose="02010600030101010101" pitchFamily="2" charset="-122"/>
            </a:endParaRPr>
          </a:p>
        </p:txBody>
      </p:sp>
      <p:sp>
        <p:nvSpPr>
          <p:cNvPr id="36" name="文本框 35">
            <a:extLst>
              <a:ext uri="{FF2B5EF4-FFF2-40B4-BE49-F238E27FC236}">
                <a16:creationId xmlns:a16="http://schemas.microsoft.com/office/drawing/2014/main" id="{5F112FCB-0170-4FF3-8549-AA1E501AC39C}"/>
              </a:ext>
            </a:extLst>
          </p:cNvPr>
          <p:cNvSpPr txBox="1">
            <a:spLocks noChangeArrowheads="1"/>
          </p:cNvSpPr>
          <p:nvPr/>
        </p:nvSpPr>
        <p:spPr bwMode="auto">
          <a:xfrm>
            <a:off x="7551738" y="2565401"/>
            <a:ext cx="8302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n-US" altLang="zh-CN" b="0">
                <a:solidFill>
                  <a:srgbClr val="006600"/>
                </a:solidFill>
                <a:latin typeface="Arial" panose="020B0604020202020204" pitchFamily="34" charset="0"/>
                <a:ea typeface="宋体" panose="02010600030101010101" pitchFamily="2" charset="-122"/>
              </a:rPr>
              <a:t>K</a:t>
            </a:r>
            <a:r>
              <a:rPr lang="en-US" altLang="zh-CN" b="0" baseline="-25000">
                <a:solidFill>
                  <a:srgbClr val="006600"/>
                </a:solidFill>
                <a:latin typeface="Arial" panose="020B0604020202020204" pitchFamily="34" charset="0"/>
                <a:ea typeface="宋体" panose="02010600030101010101" pitchFamily="2" charset="-122"/>
              </a:rPr>
              <a:t>2</a:t>
            </a:r>
            <a:endParaRPr lang="zh-CN" altLang="en-US" b="0" baseline="-25000">
              <a:solidFill>
                <a:srgbClr val="006600"/>
              </a:solidFill>
              <a:latin typeface="Arial" panose="020B0604020202020204" pitchFamily="34" charset="0"/>
              <a:ea typeface="宋体" panose="02010600030101010101" pitchFamily="2" charset="-122"/>
            </a:endParaRPr>
          </a:p>
        </p:txBody>
      </p:sp>
      <p:sp>
        <p:nvSpPr>
          <p:cNvPr id="2" name="文本框 1">
            <a:extLst>
              <a:ext uri="{FF2B5EF4-FFF2-40B4-BE49-F238E27FC236}">
                <a16:creationId xmlns:a16="http://schemas.microsoft.com/office/drawing/2014/main" id="{B85D45FE-9334-46DB-8364-4E0F8F85CEAE}"/>
              </a:ext>
            </a:extLst>
          </p:cNvPr>
          <p:cNvSpPr txBox="1">
            <a:spLocks noChangeArrowheads="1"/>
          </p:cNvSpPr>
          <p:nvPr/>
        </p:nvSpPr>
        <p:spPr bwMode="auto">
          <a:xfrm>
            <a:off x="1524000" y="1382713"/>
            <a:ext cx="3352800" cy="830262"/>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n-US" altLang="zh-CN" sz="2400" b="0">
                <a:solidFill>
                  <a:srgbClr val="006600"/>
                </a:solidFill>
                <a:latin typeface="微软雅黑" panose="020B0503020204020204" pitchFamily="34" charset="-122"/>
                <a:ea typeface="微软雅黑" panose="020B0503020204020204" pitchFamily="34" charset="-122"/>
              </a:rPr>
              <a:t>K</a:t>
            </a:r>
            <a:r>
              <a:rPr lang="en-US" altLang="zh-CN" sz="2400" b="0" baseline="-25000">
                <a:solidFill>
                  <a:srgbClr val="006600"/>
                </a:solidFill>
                <a:latin typeface="微软雅黑" panose="020B0503020204020204" pitchFamily="34" charset="-122"/>
                <a:ea typeface="微软雅黑" panose="020B0503020204020204" pitchFamily="34" charset="-122"/>
              </a:rPr>
              <a:t>1</a:t>
            </a:r>
            <a:r>
              <a:rPr lang="en-US" altLang="zh-CN" sz="2400" b="0">
                <a:solidFill>
                  <a:srgbClr val="006600"/>
                </a:solidFill>
                <a:latin typeface="微软雅黑" panose="020B0503020204020204" pitchFamily="34" charset="-122"/>
                <a:ea typeface="微软雅黑" panose="020B0503020204020204" pitchFamily="34" charset="-122"/>
              </a:rPr>
              <a:t>:  -COOH </a:t>
            </a:r>
            <a:r>
              <a:rPr lang="zh-CN" altLang="en-US" sz="2400" b="0">
                <a:solidFill>
                  <a:srgbClr val="006600"/>
                </a:solidFill>
                <a:latin typeface="微软雅黑" panose="020B0503020204020204" pitchFamily="34" charset="-122"/>
                <a:ea typeface="微软雅黑" panose="020B0503020204020204" pitchFamily="34" charset="-122"/>
              </a:rPr>
              <a:t>解离常数</a:t>
            </a:r>
            <a:endParaRPr lang="en-US" altLang="zh-CN" sz="2400" b="0">
              <a:solidFill>
                <a:srgbClr val="006600"/>
              </a:solidFill>
              <a:latin typeface="微软雅黑" panose="020B0503020204020204" pitchFamily="34" charset="-122"/>
              <a:ea typeface="微软雅黑" panose="020B0503020204020204" pitchFamily="34" charset="-122"/>
            </a:endParaRPr>
          </a:p>
          <a:p>
            <a:pPr>
              <a:spcBef>
                <a:spcPct val="0"/>
              </a:spcBef>
              <a:buClrTx/>
              <a:buFontTx/>
              <a:buNone/>
            </a:pPr>
            <a:r>
              <a:rPr lang="en-US" altLang="zh-CN" sz="2400" b="0">
                <a:solidFill>
                  <a:srgbClr val="006600"/>
                </a:solidFill>
                <a:latin typeface="微软雅黑" panose="020B0503020204020204" pitchFamily="34" charset="-122"/>
                <a:ea typeface="微软雅黑" panose="020B0503020204020204" pitchFamily="34" charset="-122"/>
              </a:rPr>
              <a:t>K</a:t>
            </a:r>
            <a:r>
              <a:rPr lang="en-US" altLang="zh-CN" sz="2400" b="0" baseline="-25000">
                <a:solidFill>
                  <a:srgbClr val="006600"/>
                </a:solidFill>
                <a:latin typeface="微软雅黑" panose="020B0503020204020204" pitchFamily="34" charset="-122"/>
                <a:ea typeface="微软雅黑" panose="020B0503020204020204" pitchFamily="34" charset="-122"/>
              </a:rPr>
              <a:t>2</a:t>
            </a:r>
            <a:r>
              <a:rPr lang="en-US" altLang="zh-CN" sz="2400" b="0">
                <a:solidFill>
                  <a:srgbClr val="006600"/>
                </a:solidFill>
                <a:latin typeface="微软雅黑" panose="020B0503020204020204" pitchFamily="34" charset="-122"/>
                <a:ea typeface="微软雅黑" panose="020B0503020204020204" pitchFamily="34" charset="-122"/>
              </a:rPr>
              <a:t>:  -NH</a:t>
            </a:r>
            <a:r>
              <a:rPr lang="en-US" altLang="zh-CN" sz="2400" b="0" baseline="-25000">
                <a:solidFill>
                  <a:srgbClr val="006600"/>
                </a:solidFill>
                <a:latin typeface="微软雅黑" panose="020B0503020204020204" pitchFamily="34" charset="-122"/>
                <a:ea typeface="微软雅黑" panose="020B0503020204020204" pitchFamily="34" charset="-122"/>
              </a:rPr>
              <a:t>3</a:t>
            </a:r>
            <a:r>
              <a:rPr lang="en-US" altLang="zh-CN" sz="2400" b="0" baseline="30000">
                <a:solidFill>
                  <a:srgbClr val="006600"/>
                </a:solidFill>
                <a:latin typeface="微软雅黑" panose="020B0503020204020204" pitchFamily="34" charset="-122"/>
                <a:ea typeface="微软雅黑" panose="020B0503020204020204" pitchFamily="34" charset="-122"/>
              </a:rPr>
              <a:t>+ </a:t>
            </a:r>
            <a:r>
              <a:rPr lang="zh-CN" altLang="en-US" sz="2400" b="0">
                <a:solidFill>
                  <a:srgbClr val="006600"/>
                </a:solidFill>
                <a:latin typeface="微软雅黑" panose="020B0503020204020204" pitchFamily="34" charset="-122"/>
                <a:ea typeface="微软雅黑" panose="020B0503020204020204" pitchFamily="34" charset="-122"/>
              </a:rPr>
              <a:t>解离常数</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3739"/>
                                        </p:tgtEl>
                                        <p:attrNameLst>
                                          <p:attrName>style.visibility</p:attrName>
                                        </p:attrNameLst>
                                      </p:cBhvr>
                                      <p:to>
                                        <p:strVal val="visible"/>
                                      </p:to>
                                    </p:set>
                                    <p:animEffect transition="in" filter="fade">
                                      <p:cBhvr>
                                        <p:cTn id="7" dur="500"/>
                                        <p:tgtEl>
                                          <p:spTgt spid="73739"/>
                                        </p:tgtEl>
                                      </p:cBhvr>
                                    </p:animEffect>
                                  </p:childTnLst>
                                </p:cTn>
                              </p:par>
                              <p:par>
                                <p:cTn id="8" presetID="10" presetClass="entr" presetSubtype="0" fill="hold" nodeType="withEffect">
                                  <p:stCondLst>
                                    <p:cond delay="0"/>
                                  </p:stCondLst>
                                  <p:childTnLst>
                                    <p:set>
                                      <p:cBhvr>
                                        <p:cTn id="9" dur="1" fill="hold">
                                          <p:stCondLst>
                                            <p:cond delay="0"/>
                                          </p:stCondLst>
                                        </p:cTn>
                                        <p:tgtEl>
                                          <p:spTgt spid="73730"/>
                                        </p:tgtEl>
                                        <p:attrNameLst>
                                          <p:attrName>style.visibility</p:attrName>
                                        </p:attrNameLst>
                                      </p:cBhvr>
                                      <p:to>
                                        <p:strVal val="visible"/>
                                      </p:to>
                                    </p:set>
                                    <p:animEffect transition="in" filter="fade">
                                      <p:cBhvr>
                                        <p:cTn id="10" dur="500"/>
                                        <p:tgtEl>
                                          <p:spTgt spid="7373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31109"/>
                                        </p:tgtEl>
                                        <p:attrNameLst>
                                          <p:attrName>style.visibility</p:attrName>
                                        </p:attrNameLst>
                                      </p:cBhvr>
                                      <p:to>
                                        <p:strVal val="visible"/>
                                      </p:to>
                                    </p:set>
                                    <p:animEffect transition="in" filter="fade">
                                      <p:cBhvr>
                                        <p:cTn id="13" dur="500"/>
                                        <p:tgtEl>
                                          <p:spTgt spid="43110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31131"/>
                                        </p:tgtEl>
                                        <p:attrNameLst>
                                          <p:attrName>style.visibility</p:attrName>
                                        </p:attrNameLst>
                                      </p:cBhvr>
                                      <p:to>
                                        <p:strVal val="visible"/>
                                      </p:to>
                                    </p:set>
                                    <p:animEffect transition="in" filter="fade">
                                      <p:cBhvr>
                                        <p:cTn id="16" dur="500"/>
                                        <p:tgtEl>
                                          <p:spTgt spid="43113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73732"/>
                                        </p:tgtEl>
                                        <p:attrNameLst>
                                          <p:attrName>style.visibility</p:attrName>
                                        </p:attrNameLst>
                                      </p:cBhvr>
                                      <p:to>
                                        <p:strVal val="visible"/>
                                      </p:to>
                                    </p:set>
                                  </p:childTnLst>
                                </p:cTn>
                              </p:par>
                              <p:par>
                                <p:cTn id="21" presetID="10" presetClass="entr" presetSubtype="0" fill="hold" nodeType="withEffect">
                                  <p:stCondLst>
                                    <p:cond delay="0"/>
                                  </p:stCondLst>
                                  <p:childTnLst>
                                    <p:set>
                                      <p:cBhvr>
                                        <p:cTn id="22" dur="1" fill="hold">
                                          <p:stCondLst>
                                            <p:cond delay="0"/>
                                          </p:stCondLst>
                                        </p:cTn>
                                        <p:tgtEl>
                                          <p:spTgt spid="73740"/>
                                        </p:tgtEl>
                                        <p:attrNameLst>
                                          <p:attrName>style.visibility</p:attrName>
                                        </p:attrNameLst>
                                      </p:cBhvr>
                                      <p:to>
                                        <p:strVal val="visible"/>
                                      </p:to>
                                    </p:set>
                                    <p:animEffect transition="in" filter="fade">
                                      <p:cBhvr>
                                        <p:cTn id="23" dur="500"/>
                                        <p:tgtEl>
                                          <p:spTgt spid="7374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31113"/>
                                        </p:tgtEl>
                                        <p:attrNameLst>
                                          <p:attrName>style.visibility</p:attrName>
                                        </p:attrNameLst>
                                      </p:cBhvr>
                                      <p:to>
                                        <p:strVal val="visible"/>
                                      </p:to>
                                    </p:set>
                                    <p:animEffect transition="in" filter="fade">
                                      <p:cBhvr>
                                        <p:cTn id="26" dur="500"/>
                                        <p:tgtEl>
                                          <p:spTgt spid="4311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31133"/>
                                        </p:tgtEl>
                                        <p:attrNameLst>
                                          <p:attrName>style.visibility</p:attrName>
                                        </p:attrNameLst>
                                      </p:cBhvr>
                                      <p:to>
                                        <p:strVal val="visible"/>
                                      </p:to>
                                    </p:set>
                                    <p:animEffect transition="in" filter="fade">
                                      <p:cBhvr>
                                        <p:cTn id="29" dur="500"/>
                                        <p:tgtEl>
                                          <p:spTgt spid="43113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0"/>
                                          </p:stCondLst>
                                        </p:cTn>
                                        <p:tgtEl>
                                          <p:spTgt spid="73734"/>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nodeType="clickEffect">
                                  <p:stCondLst>
                                    <p:cond delay="0"/>
                                  </p:stCondLst>
                                  <p:childTnLst>
                                    <p:set>
                                      <p:cBhvr>
                                        <p:cTn id="37" dur="1" fill="hold">
                                          <p:stCondLst>
                                            <p:cond delay="0"/>
                                          </p:stCondLst>
                                        </p:cTn>
                                        <p:tgtEl>
                                          <p:spTgt spid="73736"/>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73741"/>
                                        </p:tgtEl>
                                        <p:attrNameLst>
                                          <p:attrName>style.visibility</p:attrName>
                                        </p:attrNameLst>
                                      </p:cBhvr>
                                      <p:to>
                                        <p:strVal val="visible"/>
                                      </p:to>
                                    </p:set>
                                  </p:childTnLst>
                                </p:cTn>
                              </p:par>
                              <p:par>
                                <p:cTn id="40" presetID="10" presetClass="entr" presetSubtype="0" fill="hold" grpId="0" nodeType="withEffect">
                                  <p:stCondLst>
                                    <p:cond delay="0"/>
                                  </p:stCondLst>
                                  <p:childTnLst>
                                    <p:set>
                                      <p:cBhvr>
                                        <p:cTn id="41" dur="1" fill="hold">
                                          <p:stCondLst>
                                            <p:cond delay="0"/>
                                          </p:stCondLst>
                                        </p:cTn>
                                        <p:tgtEl>
                                          <p:spTgt spid="431123"/>
                                        </p:tgtEl>
                                        <p:attrNameLst>
                                          <p:attrName>style.visibility</p:attrName>
                                        </p:attrNameLst>
                                      </p:cBhvr>
                                      <p:to>
                                        <p:strVal val="visible"/>
                                      </p:to>
                                    </p:set>
                                    <p:animEffect transition="in" filter="fade">
                                      <p:cBhvr>
                                        <p:cTn id="42" dur="500"/>
                                        <p:tgtEl>
                                          <p:spTgt spid="43112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31132"/>
                                        </p:tgtEl>
                                        <p:attrNameLst>
                                          <p:attrName>style.visibility</p:attrName>
                                        </p:attrNameLst>
                                      </p:cBhvr>
                                      <p:to>
                                        <p:strVal val="visible"/>
                                      </p:to>
                                    </p:set>
                                    <p:animEffect transition="in" filter="fade">
                                      <p:cBhvr>
                                        <p:cTn id="45" dur="500"/>
                                        <p:tgtEl>
                                          <p:spTgt spid="43113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nodeType="clickEffect">
                                  <p:stCondLst>
                                    <p:cond delay="0"/>
                                  </p:stCondLst>
                                  <p:childTnLst>
                                    <p:set>
                                      <p:cBhvr>
                                        <p:cTn id="49" dur="1" fill="hold">
                                          <p:stCondLst>
                                            <p:cond delay="0"/>
                                          </p:stCondLst>
                                        </p:cTn>
                                        <p:tgtEl>
                                          <p:spTgt spid="73735"/>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35"/>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36"/>
                                        </p:tgtEl>
                                        <p:attrNameLst>
                                          <p:attrName>style.visibility</p:attrName>
                                        </p:attrNameLst>
                                      </p:cBhvr>
                                      <p:to>
                                        <p:strVal val="visible"/>
                                      </p:to>
                                    </p:set>
                                  </p:childTnLst>
                                </p:cTn>
                              </p:par>
                              <p:par>
                                <p:cTn id="56" presetID="10" presetClass="entr" presetSubtype="0" fill="hold" grpId="0" nodeType="withEffect">
                                  <p:stCondLst>
                                    <p:cond delay="0"/>
                                  </p:stCondLst>
                                  <p:childTnLst>
                                    <p:set>
                                      <p:cBhvr>
                                        <p:cTn id="57" dur="1" fill="hold">
                                          <p:stCondLst>
                                            <p:cond delay="0"/>
                                          </p:stCondLst>
                                        </p:cTn>
                                        <p:tgtEl>
                                          <p:spTgt spid="2"/>
                                        </p:tgtEl>
                                        <p:attrNameLst>
                                          <p:attrName>style.visibility</p:attrName>
                                        </p:attrNameLst>
                                      </p:cBhvr>
                                      <p:to>
                                        <p:strVal val="visible"/>
                                      </p:to>
                                    </p:set>
                                    <p:animEffect transition="in" filter="fade">
                                      <p:cBhvr>
                                        <p:cTn id="5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109" grpId="0"/>
      <p:bldP spid="431113" grpId="0"/>
      <p:bldP spid="431123" grpId="0"/>
      <p:bldP spid="431131" grpId="0"/>
      <p:bldP spid="431132" grpId="0"/>
      <p:bldP spid="431133" grpId="0"/>
      <p:bldP spid="35" grpId="0"/>
      <p:bldP spid="36" grpId="0"/>
      <p:bldP spid="2" grpId="0" animBg="1"/>
    </p:bld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4450" name="标题 1">
            <a:extLst>
              <a:ext uri="{FF2B5EF4-FFF2-40B4-BE49-F238E27FC236}">
                <a16:creationId xmlns:a16="http://schemas.microsoft.com/office/drawing/2014/main" id="{29984B34-CEBF-47A8-AFA1-DBE1A060DF89}"/>
              </a:ext>
            </a:extLst>
          </p:cNvPr>
          <p:cNvSpPr>
            <a:spLocks noGrp="1" noChangeArrowheads="1"/>
          </p:cNvSpPr>
          <p:nvPr>
            <p:ph type="title"/>
          </p:nvPr>
        </p:nvSpPr>
        <p:spPr>
          <a:xfrm>
            <a:off x="2279651" y="260351"/>
            <a:ext cx="8196263" cy="525463"/>
          </a:xfrm>
        </p:spPr>
        <p:txBody>
          <a:bodyPr/>
          <a:lstStyle/>
          <a:p>
            <a:r>
              <a:rPr lang="zh-CN" altLang="en-US"/>
              <a:t>不同</a:t>
            </a:r>
            <a:r>
              <a:rPr lang="en-US" altLang="zh-CN"/>
              <a:t>pH</a:t>
            </a:r>
            <a:r>
              <a:rPr lang="zh-CN" altLang="en-US"/>
              <a:t>时氨基酸的解离状态</a:t>
            </a:r>
          </a:p>
        </p:txBody>
      </p:sp>
      <p:pic>
        <p:nvPicPr>
          <p:cNvPr id="104451" name="图片 2">
            <a:extLst>
              <a:ext uri="{FF2B5EF4-FFF2-40B4-BE49-F238E27FC236}">
                <a16:creationId xmlns:a16="http://schemas.microsoft.com/office/drawing/2014/main" id="{E019DF0E-4460-46FF-BBD1-729748A50975}"/>
              </a:ext>
            </a:extLst>
          </p:cNvPr>
          <p:cNvPicPr>
            <a:picLocks noChangeAspect="1"/>
          </p:cNvPicPr>
          <p:nvPr/>
        </p:nvPicPr>
        <p:blipFill>
          <a:blip r:embed="rId3">
            <a:extLst>
              <a:ext uri="{28A0092B-C50C-407E-A947-70E740481C1C}">
                <a14:useLocalDpi xmlns:a14="http://schemas.microsoft.com/office/drawing/2010/main" val="0"/>
              </a:ext>
            </a:extLst>
          </a:blip>
          <a:srcRect b="9052"/>
          <a:stretch>
            <a:fillRect/>
          </a:stretch>
        </p:blipFill>
        <p:spPr bwMode="auto">
          <a:xfrm>
            <a:off x="1919536" y="958868"/>
            <a:ext cx="8253412" cy="562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E23CCFE0-E818-2058-7C32-353651E569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52184" y="4653137"/>
            <a:ext cx="2836778" cy="648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06498" name="组合 3">
            <a:extLst>
              <a:ext uri="{FF2B5EF4-FFF2-40B4-BE49-F238E27FC236}">
                <a16:creationId xmlns:a16="http://schemas.microsoft.com/office/drawing/2014/main" id="{8AAC6CCD-8DE6-4BFC-AF1D-EAE5623ECC49}"/>
              </a:ext>
            </a:extLst>
          </p:cNvPr>
          <p:cNvGrpSpPr>
            <a:grpSpLocks/>
          </p:cNvGrpSpPr>
          <p:nvPr/>
        </p:nvGrpSpPr>
        <p:grpSpPr bwMode="auto">
          <a:xfrm>
            <a:off x="1524000" y="115889"/>
            <a:ext cx="4356100" cy="5970587"/>
            <a:chOff x="0" y="116630"/>
            <a:chExt cx="5148063" cy="6614252"/>
          </a:xfrm>
        </p:grpSpPr>
        <p:pic>
          <p:nvPicPr>
            <p:cNvPr id="106503" name="图片 1">
              <a:extLst>
                <a:ext uri="{FF2B5EF4-FFF2-40B4-BE49-F238E27FC236}">
                  <a16:creationId xmlns:a16="http://schemas.microsoft.com/office/drawing/2014/main" id="{446C13FC-2F06-468A-910E-8054D6C89AA8}"/>
                </a:ext>
              </a:extLst>
            </p:cNvPr>
            <p:cNvPicPr>
              <a:picLocks noChangeAspect="1"/>
            </p:cNvPicPr>
            <p:nvPr/>
          </p:nvPicPr>
          <p:blipFill>
            <a:blip r:embed="rId3">
              <a:extLst>
                <a:ext uri="{28A0092B-C50C-407E-A947-70E740481C1C}">
                  <a14:useLocalDpi xmlns:a14="http://schemas.microsoft.com/office/drawing/2010/main" val="0"/>
                </a:ext>
              </a:extLst>
            </a:blip>
            <a:srcRect r="10695"/>
            <a:stretch>
              <a:fillRect/>
            </a:stretch>
          </p:blipFill>
          <p:spPr bwMode="auto">
            <a:xfrm>
              <a:off x="0" y="116631"/>
              <a:ext cx="5148063" cy="6614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504" name="图片 1">
              <a:extLst>
                <a:ext uri="{FF2B5EF4-FFF2-40B4-BE49-F238E27FC236}">
                  <a16:creationId xmlns:a16="http://schemas.microsoft.com/office/drawing/2014/main" id="{A466D4B3-8739-4236-9223-B9FA365F5599}"/>
                </a:ext>
              </a:extLst>
            </p:cNvPr>
            <p:cNvPicPr>
              <a:picLocks noChangeAspect="1"/>
            </p:cNvPicPr>
            <p:nvPr/>
          </p:nvPicPr>
          <p:blipFill>
            <a:blip r:embed="rId3">
              <a:extLst>
                <a:ext uri="{28A0092B-C50C-407E-A947-70E740481C1C}">
                  <a14:useLocalDpi xmlns:a14="http://schemas.microsoft.com/office/drawing/2010/main" val="0"/>
                </a:ext>
              </a:extLst>
            </a:blip>
            <a:srcRect l="63889" b="73903"/>
            <a:stretch>
              <a:fillRect/>
            </a:stretch>
          </p:blipFill>
          <p:spPr bwMode="auto">
            <a:xfrm>
              <a:off x="2987824" y="116630"/>
              <a:ext cx="2160239" cy="179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6499" name="内容占位符 2">
            <a:extLst>
              <a:ext uri="{FF2B5EF4-FFF2-40B4-BE49-F238E27FC236}">
                <a16:creationId xmlns:a16="http://schemas.microsoft.com/office/drawing/2014/main" id="{C23B46CC-B8E8-4420-8850-42BE56AD0346}"/>
              </a:ext>
            </a:extLst>
          </p:cNvPr>
          <p:cNvSpPr>
            <a:spLocks noGrp="1"/>
          </p:cNvSpPr>
          <p:nvPr>
            <p:ph idx="1"/>
          </p:nvPr>
        </p:nvSpPr>
        <p:spPr>
          <a:xfrm>
            <a:off x="6384032" y="1732882"/>
            <a:ext cx="4759325" cy="2676525"/>
          </a:xfrm>
          <a:ln>
            <a:solidFill>
              <a:srgbClr val="1D7ACF"/>
            </a:solidFill>
            <a:miter lim="800000"/>
            <a:headEnd/>
            <a:tailEnd/>
          </a:ln>
        </p:spPr>
        <p:txBody>
          <a:bodyPr/>
          <a:lstStyle/>
          <a:p>
            <a:pPr>
              <a:buFont typeface="Wingdings" panose="05000000000000000000" pitchFamily="2" charset="2"/>
              <a:buChar char="l"/>
            </a:pPr>
            <a:r>
              <a:rPr lang="zh-CN" altLang="en-US" dirty="0">
                <a:solidFill>
                  <a:srgbClr val="0000CC"/>
                </a:solidFill>
                <a:latin typeface="微软雅黑 Light" panose="020B0502040204020203" pitchFamily="34" charset="-122"/>
                <a:ea typeface="微软雅黑 Light" panose="020B0502040204020203" pitchFamily="34" charset="-122"/>
              </a:rPr>
              <a:t>溶液中的氨基酸通常呈解离状态，非解离态的极少</a:t>
            </a:r>
            <a:endParaRPr lang="en-US" altLang="zh-CN" dirty="0">
              <a:latin typeface="微软雅黑 Light" panose="020B0502040204020203" pitchFamily="34" charset="-122"/>
              <a:ea typeface="微软雅黑 Light" panose="020B0502040204020203" pitchFamily="34" charset="-122"/>
            </a:endParaRPr>
          </a:p>
          <a:p>
            <a:pPr lvl="1">
              <a:buFont typeface="Wingdings" panose="05000000000000000000" pitchFamily="2" charset="2"/>
              <a:buChar char="l"/>
            </a:pPr>
            <a:r>
              <a:rPr lang="en-US" altLang="zh-CN" sz="2400" dirty="0">
                <a:latin typeface="微软雅黑 Light" panose="020B0502040204020203" pitchFamily="34" charset="-122"/>
                <a:ea typeface="微软雅黑 Light" panose="020B0502040204020203" pitchFamily="34" charset="-122"/>
              </a:rPr>
              <a:t>pH=</a:t>
            </a:r>
            <a:r>
              <a:rPr lang="en-US" altLang="zh-CN" sz="2400" dirty="0" err="1">
                <a:latin typeface="微软雅黑 Light" panose="020B0502040204020203" pitchFamily="34" charset="-122"/>
                <a:ea typeface="微软雅黑 Light" panose="020B0502040204020203" pitchFamily="34" charset="-122"/>
              </a:rPr>
              <a:t>pI</a:t>
            </a:r>
            <a:r>
              <a:rPr lang="zh-CN" altLang="en-US" sz="2400" dirty="0">
                <a:latin typeface="微软雅黑 Light" panose="020B0502040204020203" pitchFamily="34" charset="-122"/>
                <a:ea typeface="微软雅黑 Light" panose="020B0502040204020203" pitchFamily="34" charset="-122"/>
              </a:rPr>
              <a:t>　为兼性离子</a:t>
            </a:r>
            <a:endParaRPr lang="en-US" altLang="zh-CN" sz="2400" dirty="0">
              <a:latin typeface="微软雅黑 Light" panose="020B0502040204020203" pitchFamily="34" charset="-122"/>
              <a:ea typeface="微软雅黑 Light" panose="020B0502040204020203" pitchFamily="34" charset="-122"/>
            </a:endParaRPr>
          </a:p>
          <a:p>
            <a:pPr lvl="1">
              <a:buFont typeface="Wingdings" panose="05000000000000000000" pitchFamily="2" charset="2"/>
              <a:buChar char="l"/>
            </a:pPr>
            <a:r>
              <a:rPr lang="en-US" altLang="zh-CN" sz="2400" dirty="0">
                <a:latin typeface="微软雅黑 Light" panose="020B0502040204020203" pitchFamily="34" charset="-122"/>
                <a:ea typeface="微软雅黑 Light" panose="020B0502040204020203" pitchFamily="34" charset="-122"/>
              </a:rPr>
              <a:t>pH&gt;</a:t>
            </a:r>
            <a:r>
              <a:rPr lang="en-US" altLang="zh-CN" sz="2400" dirty="0" err="1">
                <a:latin typeface="微软雅黑 Light" panose="020B0502040204020203" pitchFamily="34" charset="-122"/>
                <a:ea typeface="微软雅黑 Light" panose="020B0502040204020203" pitchFamily="34" charset="-122"/>
              </a:rPr>
              <a:t>pI</a:t>
            </a:r>
            <a:r>
              <a:rPr lang="zh-CN" altLang="en-US" sz="2400" dirty="0">
                <a:latin typeface="微软雅黑 Light" panose="020B0502040204020203" pitchFamily="34" charset="-122"/>
                <a:ea typeface="微软雅黑 Light" panose="020B0502040204020203" pitchFamily="34" charset="-122"/>
              </a:rPr>
              <a:t>　净负电荷 </a:t>
            </a:r>
            <a:endParaRPr lang="en-US" altLang="zh-CN" sz="2400" dirty="0">
              <a:latin typeface="微软雅黑 Light" panose="020B0502040204020203" pitchFamily="34" charset="-122"/>
              <a:ea typeface="微软雅黑 Light" panose="020B0502040204020203" pitchFamily="34" charset="-122"/>
            </a:endParaRPr>
          </a:p>
          <a:p>
            <a:pPr lvl="1">
              <a:buFont typeface="Wingdings" panose="05000000000000000000" pitchFamily="2" charset="2"/>
              <a:buChar char="l"/>
            </a:pPr>
            <a:r>
              <a:rPr lang="en-US" altLang="zh-CN" sz="2400" dirty="0">
                <a:latin typeface="微软雅黑 Light" panose="020B0502040204020203" pitchFamily="34" charset="-122"/>
                <a:ea typeface="微软雅黑 Light" panose="020B0502040204020203" pitchFamily="34" charset="-122"/>
              </a:rPr>
              <a:t>pH&lt;</a:t>
            </a:r>
            <a:r>
              <a:rPr lang="en-US" altLang="zh-CN" sz="2400" dirty="0" err="1">
                <a:latin typeface="微软雅黑 Light" panose="020B0502040204020203" pitchFamily="34" charset="-122"/>
                <a:ea typeface="微软雅黑 Light" panose="020B0502040204020203" pitchFamily="34" charset="-122"/>
              </a:rPr>
              <a:t>pI</a:t>
            </a:r>
            <a:r>
              <a:rPr lang="zh-CN" altLang="en-US" sz="2400" dirty="0">
                <a:latin typeface="微软雅黑 Light" panose="020B0502040204020203" pitchFamily="34" charset="-122"/>
                <a:ea typeface="微软雅黑 Light" panose="020B0502040204020203" pitchFamily="34" charset="-122"/>
              </a:rPr>
              <a:t>　净正电荷</a:t>
            </a:r>
            <a:endParaRPr lang="en-US" altLang="zh-CN" sz="2400" dirty="0">
              <a:latin typeface="微软雅黑 Light" panose="020B0502040204020203" pitchFamily="34" charset="-122"/>
              <a:ea typeface="微软雅黑 Light" panose="020B0502040204020203" pitchFamily="34" charset="-122"/>
            </a:endParaRPr>
          </a:p>
          <a:p>
            <a:pPr>
              <a:buFont typeface="Wingdings" panose="05000000000000000000" pitchFamily="2" charset="2"/>
              <a:buChar char="l"/>
            </a:pPr>
            <a:endParaRPr lang="en-US" altLang="zh-CN" sz="2400" dirty="0">
              <a:latin typeface="微软雅黑 Light" panose="020B0502040204020203" pitchFamily="34" charset="-122"/>
              <a:ea typeface="微软雅黑 Light" panose="020B0502040204020203" pitchFamily="34" charset="-122"/>
            </a:endParaRPr>
          </a:p>
        </p:txBody>
      </p:sp>
      <p:sp>
        <p:nvSpPr>
          <p:cNvPr id="106500" name="矩形 5">
            <a:extLst>
              <a:ext uri="{FF2B5EF4-FFF2-40B4-BE49-F238E27FC236}">
                <a16:creationId xmlns:a16="http://schemas.microsoft.com/office/drawing/2014/main" id="{CBB05B98-5C96-4D0F-BC6C-6954DB35BA5A}"/>
              </a:ext>
            </a:extLst>
          </p:cNvPr>
          <p:cNvSpPr>
            <a:spLocks noChangeArrowheads="1"/>
          </p:cNvSpPr>
          <p:nvPr/>
        </p:nvSpPr>
        <p:spPr bwMode="auto">
          <a:xfrm>
            <a:off x="2982914" y="871539"/>
            <a:ext cx="1533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n-US" altLang="zh-CN">
                <a:solidFill>
                  <a:schemeClr val="tx1"/>
                </a:solidFill>
                <a:latin typeface="宋体" panose="02010600030101010101" pitchFamily="2" charset="-122"/>
                <a:ea typeface="宋体" panose="02010600030101010101" pitchFamily="2" charset="-122"/>
              </a:rPr>
              <a:t>pH=pI</a:t>
            </a:r>
            <a:endParaRPr lang="zh-CN" altLang="en-US" b="0">
              <a:solidFill>
                <a:schemeClr val="tx1"/>
              </a:solidFill>
              <a:latin typeface="Arial" panose="020B0604020202020204" pitchFamily="34" charset="0"/>
              <a:ea typeface="宋体" panose="02010600030101010101" pitchFamily="2" charset="-122"/>
            </a:endParaRPr>
          </a:p>
        </p:txBody>
      </p:sp>
      <p:sp>
        <p:nvSpPr>
          <p:cNvPr id="106501" name="矩形 6">
            <a:extLst>
              <a:ext uri="{FF2B5EF4-FFF2-40B4-BE49-F238E27FC236}">
                <a16:creationId xmlns:a16="http://schemas.microsoft.com/office/drawing/2014/main" id="{33157606-CF4B-4CD2-A206-F1F10F4452E3}"/>
              </a:ext>
            </a:extLst>
          </p:cNvPr>
          <p:cNvSpPr>
            <a:spLocks noChangeArrowheads="1"/>
          </p:cNvSpPr>
          <p:nvPr/>
        </p:nvSpPr>
        <p:spPr bwMode="auto">
          <a:xfrm>
            <a:off x="3409951" y="5683251"/>
            <a:ext cx="14525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n-US" altLang="zh-CN">
                <a:solidFill>
                  <a:schemeClr val="tx1"/>
                </a:solidFill>
                <a:latin typeface="宋体" panose="02010600030101010101" pitchFamily="2" charset="-122"/>
                <a:ea typeface="宋体" panose="02010600030101010101" pitchFamily="2" charset="-122"/>
              </a:rPr>
              <a:t>pH &lt; pI</a:t>
            </a:r>
            <a:endParaRPr lang="zh-CN" altLang="en-US" b="0">
              <a:solidFill>
                <a:schemeClr val="tx1"/>
              </a:solidFill>
              <a:latin typeface="Arial" panose="020B0604020202020204" pitchFamily="34" charset="0"/>
              <a:ea typeface="宋体" panose="02010600030101010101" pitchFamily="2" charset="-122"/>
            </a:endParaRPr>
          </a:p>
        </p:txBody>
      </p:sp>
      <p:sp>
        <p:nvSpPr>
          <p:cNvPr id="106502" name="矩形 7">
            <a:extLst>
              <a:ext uri="{FF2B5EF4-FFF2-40B4-BE49-F238E27FC236}">
                <a16:creationId xmlns:a16="http://schemas.microsoft.com/office/drawing/2014/main" id="{93E4EBE7-C946-40E1-AAA6-8F9756111F48}"/>
              </a:ext>
            </a:extLst>
          </p:cNvPr>
          <p:cNvSpPr>
            <a:spLocks noChangeArrowheads="1"/>
          </p:cNvSpPr>
          <p:nvPr/>
        </p:nvSpPr>
        <p:spPr bwMode="auto">
          <a:xfrm>
            <a:off x="3386138" y="3370264"/>
            <a:ext cx="14525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n-US" altLang="zh-CN">
                <a:solidFill>
                  <a:schemeClr val="tx1"/>
                </a:solidFill>
                <a:latin typeface="宋体" panose="02010600030101010101" pitchFamily="2" charset="-122"/>
                <a:ea typeface="宋体" panose="02010600030101010101" pitchFamily="2" charset="-122"/>
              </a:rPr>
              <a:t>pH &gt; pI</a:t>
            </a:r>
            <a:endParaRPr lang="zh-CN" altLang="en-US" b="0">
              <a:solidFill>
                <a:schemeClr val="tx1"/>
              </a:solidFill>
              <a:latin typeface="Arial" panose="020B0604020202020204" pitchFamily="34" charset="0"/>
              <a:ea typeface="宋体" panose="02010600030101010101" pitchFamily="2" charset="-122"/>
            </a:endParaRPr>
          </a:p>
        </p:txBody>
      </p:sp>
    </p:spTree>
  </p:cSld>
  <p:clrMapOvr>
    <a:masterClrMapping/>
  </p:clrMapOvr>
  <p:transition spd="slow">
    <p:circl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D15F4DB5-3E3E-498C-8D9F-C658CF227C1A}"/>
              </a:ext>
            </a:extLst>
          </p:cNvPr>
          <p:cNvSpPr>
            <a:spLocks noGrp="1" noChangeArrowheads="1"/>
          </p:cNvSpPr>
          <p:nvPr>
            <p:ph type="title" idx="4294967295"/>
          </p:nvPr>
        </p:nvSpPr>
        <p:spPr>
          <a:xfrm>
            <a:off x="1847850" y="1052514"/>
            <a:ext cx="8229600" cy="968375"/>
          </a:xfrm>
        </p:spPr>
        <p:txBody>
          <a:bodyPr/>
          <a:lstStyle/>
          <a:p>
            <a:pPr eaLnBrk="1" hangingPunct="1"/>
            <a:r>
              <a:rPr lang="zh-CN" altLang="en-US" b="0">
                <a:solidFill>
                  <a:srgbClr val="FF0000"/>
                </a:solidFill>
                <a:latin typeface="Times New Roman" panose="02020603050405020304" pitchFamily="18" charset="0"/>
              </a:rPr>
              <a:t>氨基酸等电点（</a:t>
            </a:r>
            <a:r>
              <a:rPr lang="en-US" altLang="zh-CN" b="0">
                <a:solidFill>
                  <a:srgbClr val="FF0000"/>
                </a:solidFill>
                <a:latin typeface="Times New Roman" panose="02020603050405020304" pitchFamily="18" charset="0"/>
              </a:rPr>
              <a:t>pI</a:t>
            </a:r>
            <a:r>
              <a:rPr lang="zh-CN" altLang="en-US" b="0">
                <a:solidFill>
                  <a:srgbClr val="FF0000"/>
                </a:solidFill>
                <a:latin typeface="Times New Roman" panose="02020603050405020304" pitchFamily="18" charset="0"/>
              </a:rPr>
              <a:t>）的计算</a:t>
            </a:r>
          </a:p>
        </p:txBody>
      </p:sp>
      <p:sp>
        <p:nvSpPr>
          <p:cNvPr id="556035" name="Text Box 3">
            <a:extLst>
              <a:ext uri="{FF2B5EF4-FFF2-40B4-BE49-F238E27FC236}">
                <a16:creationId xmlns:a16="http://schemas.microsoft.com/office/drawing/2014/main" id="{D7AD5F43-EF3F-4343-B0CA-D2FCD164E21D}"/>
              </a:ext>
            </a:extLst>
          </p:cNvPr>
          <p:cNvSpPr txBox="1">
            <a:spLocks noChangeArrowheads="1"/>
          </p:cNvSpPr>
          <p:nvPr/>
        </p:nvSpPr>
        <p:spPr bwMode="auto">
          <a:xfrm>
            <a:off x="2279650" y="3213101"/>
            <a:ext cx="7550150" cy="2682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lnSpc>
                <a:spcPct val="170000"/>
              </a:lnSpc>
              <a:buSzPct val="110000"/>
              <a:buFont typeface="Wingdings" panose="05000000000000000000" pitchFamily="2" charset="2"/>
              <a:buNone/>
            </a:pPr>
            <a:r>
              <a:rPr kumimoji="1" lang="zh-CN" altLang="en-US" sz="3200" b="0">
                <a:solidFill>
                  <a:schemeClr val="tx1"/>
                </a:solidFill>
              </a:rPr>
              <a:t>中性氨基酸：</a:t>
            </a:r>
            <a:r>
              <a:rPr kumimoji="1" lang="en-US" altLang="zh-CN" sz="3200" b="0">
                <a:solidFill>
                  <a:schemeClr val="tx1"/>
                </a:solidFill>
              </a:rPr>
              <a:t>pI=1/2</a:t>
            </a:r>
            <a:r>
              <a:rPr kumimoji="1" lang="zh-CN" altLang="en-US" sz="3200" b="0">
                <a:solidFill>
                  <a:schemeClr val="tx1"/>
                </a:solidFill>
              </a:rPr>
              <a:t>（</a:t>
            </a:r>
            <a:r>
              <a:rPr kumimoji="1" lang="en-US" altLang="zh-CN" sz="3200" b="0">
                <a:solidFill>
                  <a:schemeClr val="tx1"/>
                </a:solidFill>
              </a:rPr>
              <a:t>pK</a:t>
            </a:r>
            <a:r>
              <a:rPr kumimoji="1" lang="en-US" altLang="zh-CN" sz="3200" b="0" baseline="-25000">
                <a:solidFill>
                  <a:schemeClr val="tx1"/>
                </a:solidFill>
              </a:rPr>
              <a:t>1</a:t>
            </a:r>
            <a:r>
              <a:rPr kumimoji="1" lang="en-US" altLang="zh-CN" sz="3200" b="0">
                <a:solidFill>
                  <a:schemeClr val="tx1"/>
                </a:solidFill>
              </a:rPr>
              <a:t>+pK</a:t>
            </a:r>
            <a:r>
              <a:rPr kumimoji="1" lang="en-US" altLang="zh-CN" sz="3200" b="0" baseline="-25000">
                <a:solidFill>
                  <a:schemeClr val="tx1"/>
                </a:solidFill>
              </a:rPr>
              <a:t>2</a:t>
            </a:r>
            <a:r>
              <a:rPr kumimoji="1" lang="en-US" altLang="zh-CN" sz="3200" b="0">
                <a:solidFill>
                  <a:schemeClr val="tx1"/>
                </a:solidFill>
              </a:rPr>
              <a:t>)</a:t>
            </a:r>
          </a:p>
          <a:p>
            <a:pPr algn="ctr" eaLnBrk="1" hangingPunct="1">
              <a:lnSpc>
                <a:spcPct val="170000"/>
              </a:lnSpc>
              <a:buSzPct val="110000"/>
              <a:buFont typeface="Wingdings" panose="05000000000000000000" pitchFamily="2" charset="2"/>
              <a:buNone/>
            </a:pPr>
            <a:r>
              <a:rPr kumimoji="1" lang="en-US" altLang="zh-CN" sz="3200" b="0">
                <a:solidFill>
                  <a:schemeClr val="tx1"/>
                </a:solidFill>
              </a:rPr>
              <a:t> </a:t>
            </a:r>
            <a:r>
              <a:rPr kumimoji="1" lang="zh-CN" altLang="en-US" sz="3200" b="0">
                <a:solidFill>
                  <a:schemeClr val="tx1"/>
                </a:solidFill>
              </a:rPr>
              <a:t>酸性氨基酸： </a:t>
            </a:r>
            <a:r>
              <a:rPr kumimoji="1" lang="en-US" altLang="zh-CN" sz="3200" b="0">
                <a:solidFill>
                  <a:schemeClr val="tx1"/>
                </a:solidFill>
              </a:rPr>
              <a:t>pI=1/2</a:t>
            </a:r>
            <a:r>
              <a:rPr kumimoji="1" lang="zh-CN" altLang="en-US" sz="3200" b="0">
                <a:solidFill>
                  <a:schemeClr val="tx1"/>
                </a:solidFill>
              </a:rPr>
              <a:t>（</a:t>
            </a:r>
            <a:r>
              <a:rPr kumimoji="1" lang="en-US" altLang="zh-CN" sz="3200" b="0">
                <a:solidFill>
                  <a:schemeClr val="tx1"/>
                </a:solidFill>
              </a:rPr>
              <a:t>pK</a:t>
            </a:r>
            <a:r>
              <a:rPr kumimoji="1" lang="en-US" altLang="zh-CN" sz="3200" b="0" baseline="-25000">
                <a:solidFill>
                  <a:schemeClr val="tx1"/>
                </a:solidFill>
              </a:rPr>
              <a:t>1</a:t>
            </a:r>
            <a:r>
              <a:rPr kumimoji="1" lang="en-US" altLang="zh-CN" sz="3200" b="0">
                <a:solidFill>
                  <a:schemeClr val="tx1"/>
                </a:solidFill>
              </a:rPr>
              <a:t>+pK</a:t>
            </a:r>
            <a:r>
              <a:rPr kumimoji="1" lang="en-US" altLang="zh-CN" sz="3200" b="0" baseline="-25000">
                <a:solidFill>
                  <a:schemeClr val="tx1"/>
                </a:solidFill>
              </a:rPr>
              <a:t>2</a:t>
            </a:r>
            <a:r>
              <a:rPr kumimoji="1" lang="en-US" altLang="zh-CN" sz="3200" b="0">
                <a:solidFill>
                  <a:schemeClr val="tx1"/>
                </a:solidFill>
              </a:rPr>
              <a:t>)</a:t>
            </a:r>
          </a:p>
          <a:p>
            <a:pPr algn="ctr" eaLnBrk="1" hangingPunct="1">
              <a:lnSpc>
                <a:spcPct val="170000"/>
              </a:lnSpc>
              <a:buSzPct val="110000"/>
              <a:buFont typeface="Wingdings" panose="05000000000000000000" pitchFamily="2" charset="2"/>
              <a:buNone/>
            </a:pPr>
            <a:r>
              <a:rPr kumimoji="1" lang="en-US" altLang="zh-CN" sz="3200" b="0">
                <a:solidFill>
                  <a:schemeClr val="tx1"/>
                </a:solidFill>
              </a:rPr>
              <a:t> </a:t>
            </a:r>
            <a:r>
              <a:rPr kumimoji="1" lang="zh-CN" altLang="en-US" sz="3200" b="0">
                <a:solidFill>
                  <a:schemeClr val="tx1"/>
                </a:solidFill>
              </a:rPr>
              <a:t>碱性氨基酸： </a:t>
            </a:r>
            <a:r>
              <a:rPr kumimoji="1" lang="en-US" altLang="zh-CN" sz="3200" b="0">
                <a:solidFill>
                  <a:schemeClr val="tx1"/>
                </a:solidFill>
              </a:rPr>
              <a:t>pI=1/2</a:t>
            </a:r>
            <a:r>
              <a:rPr kumimoji="1" lang="zh-CN" altLang="en-US" sz="3200" b="0">
                <a:solidFill>
                  <a:schemeClr val="tx1"/>
                </a:solidFill>
              </a:rPr>
              <a:t>（</a:t>
            </a:r>
            <a:r>
              <a:rPr kumimoji="1" lang="en-US" altLang="zh-CN" sz="3200" b="0">
                <a:solidFill>
                  <a:schemeClr val="tx1"/>
                </a:solidFill>
              </a:rPr>
              <a:t>pK</a:t>
            </a:r>
            <a:r>
              <a:rPr kumimoji="1" lang="en-US" altLang="zh-CN" sz="3200" b="0" baseline="-25000">
                <a:solidFill>
                  <a:schemeClr val="tx1"/>
                </a:solidFill>
              </a:rPr>
              <a:t>2</a:t>
            </a:r>
            <a:r>
              <a:rPr kumimoji="1" lang="en-US" altLang="zh-CN" sz="3200" b="0">
                <a:solidFill>
                  <a:schemeClr val="tx1"/>
                </a:solidFill>
              </a:rPr>
              <a:t>+pK</a:t>
            </a:r>
            <a:r>
              <a:rPr kumimoji="1" lang="en-US" altLang="zh-CN" sz="3200" b="0" baseline="-25000">
                <a:solidFill>
                  <a:schemeClr val="tx1"/>
                </a:solidFill>
              </a:rPr>
              <a:t>3</a:t>
            </a:r>
            <a:r>
              <a:rPr kumimoji="1" lang="en-US" altLang="zh-CN" sz="3200" b="0">
                <a:solidFill>
                  <a:schemeClr val="tx1"/>
                </a:solidFill>
              </a:rPr>
              <a:t>)</a:t>
            </a:r>
          </a:p>
        </p:txBody>
      </p:sp>
      <p:sp>
        <p:nvSpPr>
          <p:cNvPr id="108548" name="Rectangle 4">
            <a:extLst>
              <a:ext uri="{FF2B5EF4-FFF2-40B4-BE49-F238E27FC236}">
                <a16:creationId xmlns:a16="http://schemas.microsoft.com/office/drawing/2014/main" id="{3D959B58-B703-42CF-8A18-5964C542CD7E}"/>
              </a:ext>
            </a:extLst>
          </p:cNvPr>
          <p:cNvSpPr>
            <a:spLocks noChangeArrowheads="1"/>
          </p:cNvSpPr>
          <p:nvPr/>
        </p:nvSpPr>
        <p:spPr bwMode="auto">
          <a:xfrm>
            <a:off x="3216275" y="2349500"/>
            <a:ext cx="60213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lang="zh-CN" altLang="en-US" sz="3200" b="0">
                <a:solidFill>
                  <a:srgbClr val="0000CC"/>
                </a:solidFill>
              </a:rPr>
              <a:t>等于</a:t>
            </a:r>
            <a:r>
              <a:rPr lang="zh-CN" altLang="en-US" sz="3200" b="0">
                <a:solidFill>
                  <a:srgbClr val="C00000"/>
                </a:solidFill>
              </a:rPr>
              <a:t>兼性离子</a:t>
            </a:r>
            <a:r>
              <a:rPr lang="zh-CN" altLang="en-US" sz="3200" b="0">
                <a:solidFill>
                  <a:srgbClr val="0000CC"/>
                </a:solidFill>
              </a:rPr>
              <a:t>两侧</a:t>
            </a:r>
            <a:r>
              <a:rPr lang="en-US" altLang="zh-CN" sz="3200" b="0">
                <a:solidFill>
                  <a:srgbClr val="0000CC"/>
                </a:solidFill>
              </a:rPr>
              <a:t>pK</a:t>
            </a:r>
            <a:r>
              <a:rPr lang="zh-CN" altLang="en-US" sz="3200" b="0">
                <a:solidFill>
                  <a:srgbClr val="0000CC"/>
                </a:solidFill>
              </a:rPr>
              <a:t>值的平均值</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56035">
                                            <p:txEl>
                                              <p:pRg st="0" end="0"/>
                                            </p:txEl>
                                          </p:spTgt>
                                        </p:tgtEl>
                                        <p:attrNameLst>
                                          <p:attrName>style.visibility</p:attrName>
                                        </p:attrNameLst>
                                      </p:cBhvr>
                                      <p:to>
                                        <p:strVal val="visible"/>
                                      </p:to>
                                    </p:set>
                                    <p:animEffect transition="in" filter="box(in)">
                                      <p:cBhvr>
                                        <p:cTn id="7" dur="500"/>
                                        <p:tgtEl>
                                          <p:spTgt spid="556035">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556035">
                                            <p:txEl>
                                              <p:pRg st="1" end="1"/>
                                            </p:txEl>
                                          </p:spTgt>
                                        </p:tgtEl>
                                        <p:attrNameLst>
                                          <p:attrName>style.visibility</p:attrName>
                                        </p:attrNameLst>
                                      </p:cBhvr>
                                      <p:to>
                                        <p:strVal val="visible"/>
                                      </p:to>
                                    </p:set>
                                    <p:animEffect transition="in" filter="box(in)">
                                      <p:cBhvr>
                                        <p:cTn id="10" dur="500"/>
                                        <p:tgtEl>
                                          <p:spTgt spid="556035">
                                            <p:txEl>
                                              <p:pRg st="1" end="1"/>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556035">
                                            <p:txEl>
                                              <p:pRg st="2" end="2"/>
                                            </p:txEl>
                                          </p:spTgt>
                                        </p:tgtEl>
                                        <p:attrNameLst>
                                          <p:attrName>style.visibility</p:attrName>
                                        </p:attrNameLst>
                                      </p:cBhvr>
                                      <p:to>
                                        <p:strVal val="visible"/>
                                      </p:to>
                                    </p:set>
                                    <p:animEffect transition="in" filter="box(in)">
                                      <p:cBhvr>
                                        <p:cTn id="13" dur="500"/>
                                        <p:tgtEl>
                                          <p:spTgt spid="5560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10594" name="Group 2">
            <a:extLst>
              <a:ext uri="{FF2B5EF4-FFF2-40B4-BE49-F238E27FC236}">
                <a16:creationId xmlns:a16="http://schemas.microsoft.com/office/drawing/2014/main" id="{72CC2225-FE52-41A4-953B-DD01C644325D}"/>
              </a:ext>
            </a:extLst>
          </p:cNvPr>
          <p:cNvGrpSpPr>
            <a:grpSpLocks/>
          </p:cNvGrpSpPr>
          <p:nvPr/>
        </p:nvGrpSpPr>
        <p:grpSpPr bwMode="auto">
          <a:xfrm>
            <a:off x="5911850" y="2058988"/>
            <a:ext cx="152400" cy="838200"/>
            <a:chOff x="2640" y="1392"/>
            <a:chExt cx="96" cy="624"/>
          </a:xfrm>
        </p:grpSpPr>
        <p:sp>
          <p:nvSpPr>
            <p:cNvPr id="110618" name="Line 3">
              <a:extLst>
                <a:ext uri="{FF2B5EF4-FFF2-40B4-BE49-F238E27FC236}">
                  <a16:creationId xmlns:a16="http://schemas.microsoft.com/office/drawing/2014/main" id="{AAEF0D73-3D7F-4A40-9C74-FB9402BFBE9C}"/>
                </a:ext>
              </a:extLst>
            </p:cNvPr>
            <p:cNvSpPr>
              <a:spLocks noChangeShapeType="1"/>
            </p:cNvSpPr>
            <p:nvPr/>
          </p:nvSpPr>
          <p:spPr bwMode="auto">
            <a:xfrm>
              <a:off x="2736" y="1392"/>
              <a:ext cx="0" cy="624"/>
            </a:xfrm>
            <a:prstGeom prst="line">
              <a:avLst/>
            </a:prstGeom>
            <a:noFill/>
            <a:ln w="38100" cap="sq">
              <a:solidFill>
                <a:schemeClr val="tx1"/>
              </a:solidFill>
              <a:round/>
              <a:headEnd type="arrow" w="med" len="med"/>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10619" name="Line 4">
              <a:extLst>
                <a:ext uri="{FF2B5EF4-FFF2-40B4-BE49-F238E27FC236}">
                  <a16:creationId xmlns:a16="http://schemas.microsoft.com/office/drawing/2014/main" id="{D4A707E1-C289-4BB5-90D0-4EACDFCF6745}"/>
                </a:ext>
              </a:extLst>
            </p:cNvPr>
            <p:cNvSpPr>
              <a:spLocks noChangeShapeType="1"/>
            </p:cNvSpPr>
            <p:nvPr/>
          </p:nvSpPr>
          <p:spPr bwMode="auto">
            <a:xfrm flipV="1">
              <a:off x="2640" y="1392"/>
              <a:ext cx="0" cy="624"/>
            </a:xfrm>
            <a:prstGeom prst="line">
              <a:avLst/>
            </a:prstGeom>
            <a:noFill/>
            <a:ln w="38100" cap="sq">
              <a:solidFill>
                <a:schemeClr val="tx1"/>
              </a:solidFill>
              <a:round/>
              <a:headEnd type="arrow" w="med" len="me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10595" name="Group 6">
            <a:extLst>
              <a:ext uri="{FF2B5EF4-FFF2-40B4-BE49-F238E27FC236}">
                <a16:creationId xmlns:a16="http://schemas.microsoft.com/office/drawing/2014/main" id="{4BB32DE3-C9C0-4DDE-958B-0353D8D795EF}"/>
              </a:ext>
            </a:extLst>
          </p:cNvPr>
          <p:cNvGrpSpPr>
            <a:grpSpLocks/>
          </p:cNvGrpSpPr>
          <p:nvPr/>
        </p:nvGrpSpPr>
        <p:grpSpPr bwMode="auto">
          <a:xfrm>
            <a:off x="7346951" y="2717801"/>
            <a:ext cx="982663" cy="493713"/>
            <a:chOff x="3648" y="1849"/>
            <a:chExt cx="619" cy="311"/>
          </a:xfrm>
        </p:grpSpPr>
        <p:sp>
          <p:nvSpPr>
            <p:cNvPr id="110616" name="Line 7">
              <a:extLst>
                <a:ext uri="{FF2B5EF4-FFF2-40B4-BE49-F238E27FC236}">
                  <a16:creationId xmlns:a16="http://schemas.microsoft.com/office/drawing/2014/main" id="{FF481EC5-2AA8-4270-9DCC-49E376038A08}"/>
                </a:ext>
              </a:extLst>
            </p:cNvPr>
            <p:cNvSpPr>
              <a:spLocks noChangeShapeType="1"/>
            </p:cNvSpPr>
            <p:nvPr/>
          </p:nvSpPr>
          <p:spPr bwMode="auto">
            <a:xfrm>
              <a:off x="3739" y="2160"/>
              <a:ext cx="528" cy="0"/>
            </a:xfrm>
            <a:prstGeom prst="line">
              <a:avLst/>
            </a:prstGeom>
            <a:noFill/>
            <a:ln w="381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0617" name="Text Box 8">
              <a:extLst>
                <a:ext uri="{FF2B5EF4-FFF2-40B4-BE49-F238E27FC236}">
                  <a16:creationId xmlns:a16="http://schemas.microsoft.com/office/drawing/2014/main" id="{B9B11295-DFB8-4B26-9C39-AEB835AAD875}"/>
                </a:ext>
              </a:extLst>
            </p:cNvPr>
            <p:cNvSpPr txBox="1">
              <a:spLocks noChangeArrowheads="1"/>
            </p:cNvSpPr>
            <p:nvPr/>
          </p:nvSpPr>
          <p:spPr bwMode="auto">
            <a:xfrm>
              <a:off x="3648" y="1849"/>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kumimoji="1" lang="zh-CN" altLang="zh-CN" sz="3600" baseline="30000">
                <a:solidFill>
                  <a:srgbClr val="FF3300"/>
                </a:solidFill>
              </a:endParaRPr>
            </a:p>
          </p:txBody>
        </p:sp>
      </p:grpSp>
      <p:grpSp>
        <p:nvGrpSpPr>
          <p:cNvPr id="110596" name="Group 13">
            <a:extLst>
              <a:ext uri="{FF2B5EF4-FFF2-40B4-BE49-F238E27FC236}">
                <a16:creationId xmlns:a16="http://schemas.microsoft.com/office/drawing/2014/main" id="{6D2AC213-6AAD-4CF0-9507-DCB17FE55A10}"/>
              </a:ext>
            </a:extLst>
          </p:cNvPr>
          <p:cNvGrpSpPr>
            <a:grpSpLocks/>
          </p:cNvGrpSpPr>
          <p:nvPr/>
        </p:nvGrpSpPr>
        <p:grpSpPr bwMode="auto">
          <a:xfrm>
            <a:off x="3863975" y="2760663"/>
            <a:ext cx="990600" cy="493712"/>
            <a:chOff x="1440" y="2377"/>
            <a:chExt cx="624" cy="311"/>
          </a:xfrm>
        </p:grpSpPr>
        <p:sp>
          <p:nvSpPr>
            <p:cNvPr id="110614" name="Line 14">
              <a:extLst>
                <a:ext uri="{FF2B5EF4-FFF2-40B4-BE49-F238E27FC236}">
                  <a16:creationId xmlns:a16="http://schemas.microsoft.com/office/drawing/2014/main" id="{C5650683-2281-4D88-B802-27DD726CC7EB}"/>
                </a:ext>
              </a:extLst>
            </p:cNvPr>
            <p:cNvSpPr>
              <a:spLocks noChangeShapeType="1"/>
            </p:cNvSpPr>
            <p:nvPr/>
          </p:nvSpPr>
          <p:spPr bwMode="auto">
            <a:xfrm>
              <a:off x="1536" y="2688"/>
              <a:ext cx="528" cy="0"/>
            </a:xfrm>
            <a:prstGeom prst="line">
              <a:avLst/>
            </a:prstGeom>
            <a:noFill/>
            <a:ln w="381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0615" name="Text Box 15">
              <a:extLst>
                <a:ext uri="{FF2B5EF4-FFF2-40B4-BE49-F238E27FC236}">
                  <a16:creationId xmlns:a16="http://schemas.microsoft.com/office/drawing/2014/main" id="{30564237-B916-4034-9863-74E2B0AB89A3}"/>
                </a:ext>
              </a:extLst>
            </p:cNvPr>
            <p:cNvSpPr txBox="1">
              <a:spLocks noChangeArrowheads="1"/>
            </p:cNvSpPr>
            <p:nvPr/>
          </p:nvSpPr>
          <p:spPr bwMode="auto">
            <a:xfrm>
              <a:off x="1440" y="2377"/>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kumimoji="1" lang="zh-CN" altLang="zh-CN" sz="3600" baseline="30000">
                <a:solidFill>
                  <a:srgbClr val="FF3300"/>
                </a:solidFill>
              </a:endParaRPr>
            </a:p>
          </p:txBody>
        </p:sp>
      </p:grpSp>
      <p:pic>
        <p:nvPicPr>
          <p:cNvPr id="110597" name="Picture 20">
            <a:extLst>
              <a:ext uri="{FF2B5EF4-FFF2-40B4-BE49-F238E27FC236}">
                <a16:creationId xmlns:a16="http://schemas.microsoft.com/office/drawing/2014/main" id="{33F18DFD-1132-46E7-BE5E-9724D59558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1126" y="898525"/>
            <a:ext cx="2246313" cy="105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598" name="Picture 21">
            <a:extLst>
              <a:ext uri="{FF2B5EF4-FFF2-40B4-BE49-F238E27FC236}">
                <a16:creationId xmlns:a16="http://schemas.microsoft.com/office/drawing/2014/main" id="{9B449B61-D2C6-4DF0-BE79-F5F2ED8260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1125" y="2924176"/>
            <a:ext cx="2159000"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599" name="Picture 22">
            <a:extLst>
              <a:ext uri="{FF2B5EF4-FFF2-40B4-BE49-F238E27FC236}">
                <a16:creationId xmlns:a16="http://schemas.microsoft.com/office/drawing/2014/main" id="{7BF7FFB9-20C2-45B2-A5FC-E7D0B584AE0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42325" y="2924176"/>
            <a:ext cx="20066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10600" name="Object 23">
            <a:extLst>
              <a:ext uri="{FF2B5EF4-FFF2-40B4-BE49-F238E27FC236}">
                <a16:creationId xmlns:a16="http://schemas.microsoft.com/office/drawing/2014/main" id="{A06D7055-8CA8-43D6-B455-91C663A20D0E}"/>
              </a:ext>
            </a:extLst>
          </p:cNvPr>
          <p:cNvGraphicFramePr>
            <a:graphicFrameLocks noChangeAspect="1"/>
          </p:cNvGraphicFramePr>
          <p:nvPr/>
        </p:nvGraphicFramePr>
        <p:xfrm>
          <a:off x="1806576" y="2924176"/>
          <a:ext cx="2233613" cy="1057275"/>
        </p:xfrm>
        <a:graphic>
          <a:graphicData uri="http://schemas.openxmlformats.org/presentationml/2006/ole">
            <mc:AlternateContent xmlns:mc="http://schemas.openxmlformats.org/markup-compatibility/2006">
              <mc:Choice xmlns:v="urn:schemas-microsoft-com:vml" Requires="v">
                <p:oleObj name="Document" r:id="rId6" imgW="2533650" imgH="1200150" progId="ChemWindow.Document">
                  <p:embed/>
                </p:oleObj>
              </mc:Choice>
              <mc:Fallback>
                <p:oleObj name="Document" r:id="rId6" imgW="2533650" imgH="1200150" progId="ChemWindow.Document">
                  <p:embed/>
                  <p:pic>
                    <p:nvPicPr>
                      <p:cNvPr id="110600" name="Object 23">
                        <a:extLst>
                          <a:ext uri="{FF2B5EF4-FFF2-40B4-BE49-F238E27FC236}">
                            <a16:creationId xmlns:a16="http://schemas.microsoft.com/office/drawing/2014/main" id="{A06D7055-8CA8-43D6-B455-91C663A20D0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06576" y="2924176"/>
                        <a:ext cx="2233613" cy="105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10601" name="Group 34">
            <a:extLst>
              <a:ext uri="{FF2B5EF4-FFF2-40B4-BE49-F238E27FC236}">
                <a16:creationId xmlns:a16="http://schemas.microsoft.com/office/drawing/2014/main" id="{F2DB2CD1-34E8-4A15-8F86-6532C28C66B7}"/>
              </a:ext>
            </a:extLst>
          </p:cNvPr>
          <p:cNvGrpSpPr>
            <a:grpSpLocks/>
          </p:cNvGrpSpPr>
          <p:nvPr/>
        </p:nvGrpSpPr>
        <p:grpSpPr bwMode="auto">
          <a:xfrm>
            <a:off x="4224338" y="3284537"/>
            <a:ext cx="1111249" cy="761999"/>
            <a:chOff x="1701" y="2069"/>
            <a:chExt cx="700" cy="480"/>
          </a:xfrm>
        </p:grpSpPr>
        <p:sp>
          <p:nvSpPr>
            <p:cNvPr id="110612" name="Rectangle 32">
              <a:extLst>
                <a:ext uri="{FF2B5EF4-FFF2-40B4-BE49-F238E27FC236}">
                  <a16:creationId xmlns:a16="http://schemas.microsoft.com/office/drawing/2014/main" id="{F09C4799-9A22-4425-89E4-37675CC24253}"/>
                </a:ext>
              </a:extLst>
            </p:cNvPr>
            <p:cNvSpPr>
              <a:spLocks noChangeArrowheads="1"/>
            </p:cNvSpPr>
            <p:nvPr/>
          </p:nvSpPr>
          <p:spPr bwMode="auto">
            <a:xfrm>
              <a:off x="1882" y="2219"/>
              <a:ext cx="51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a:solidFill>
                    <a:srgbClr val="006600"/>
                  </a:solidFill>
                </a:rPr>
                <a:t>+H</a:t>
              </a:r>
              <a:r>
                <a:rPr kumimoji="1" lang="en-US" altLang="zh-CN" sz="3200" baseline="30000">
                  <a:solidFill>
                    <a:srgbClr val="006600"/>
                  </a:solidFill>
                </a:rPr>
                <a:t>+</a:t>
              </a:r>
            </a:p>
          </p:txBody>
        </p:sp>
        <p:sp>
          <p:nvSpPr>
            <p:cNvPr id="110613" name="Line 33">
              <a:extLst>
                <a:ext uri="{FF2B5EF4-FFF2-40B4-BE49-F238E27FC236}">
                  <a16:creationId xmlns:a16="http://schemas.microsoft.com/office/drawing/2014/main" id="{F75F3318-831D-49E5-88F2-FB8F43925045}"/>
                </a:ext>
              </a:extLst>
            </p:cNvPr>
            <p:cNvSpPr>
              <a:spLocks noChangeShapeType="1"/>
            </p:cNvSpPr>
            <p:nvPr/>
          </p:nvSpPr>
          <p:spPr bwMode="auto">
            <a:xfrm>
              <a:off x="1701" y="2069"/>
              <a:ext cx="181" cy="18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10602" name="Group 35">
            <a:extLst>
              <a:ext uri="{FF2B5EF4-FFF2-40B4-BE49-F238E27FC236}">
                <a16:creationId xmlns:a16="http://schemas.microsoft.com/office/drawing/2014/main" id="{95A946D7-2D32-4B08-9C52-EAF605601923}"/>
              </a:ext>
            </a:extLst>
          </p:cNvPr>
          <p:cNvGrpSpPr>
            <a:grpSpLocks/>
          </p:cNvGrpSpPr>
          <p:nvPr/>
        </p:nvGrpSpPr>
        <p:grpSpPr bwMode="auto">
          <a:xfrm>
            <a:off x="7751763" y="3284537"/>
            <a:ext cx="1111249" cy="761999"/>
            <a:chOff x="1701" y="2069"/>
            <a:chExt cx="700" cy="480"/>
          </a:xfrm>
        </p:grpSpPr>
        <p:sp>
          <p:nvSpPr>
            <p:cNvPr id="110610" name="Rectangle 36">
              <a:extLst>
                <a:ext uri="{FF2B5EF4-FFF2-40B4-BE49-F238E27FC236}">
                  <a16:creationId xmlns:a16="http://schemas.microsoft.com/office/drawing/2014/main" id="{9D4BF4E7-4D50-4CB8-A445-92A4DBAD93DD}"/>
                </a:ext>
              </a:extLst>
            </p:cNvPr>
            <p:cNvSpPr>
              <a:spLocks noChangeArrowheads="1"/>
            </p:cNvSpPr>
            <p:nvPr/>
          </p:nvSpPr>
          <p:spPr bwMode="auto">
            <a:xfrm>
              <a:off x="1882" y="2219"/>
              <a:ext cx="51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a:solidFill>
                    <a:srgbClr val="006600"/>
                  </a:solidFill>
                </a:rPr>
                <a:t>+H</a:t>
              </a:r>
              <a:r>
                <a:rPr kumimoji="1" lang="en-US" altLang="zh-CN" sz="3200" baseline="30000">
                  <a:solidFill>
                    <a:srgbClr val="006600"/>
                  </a:solidFill>
                </a:rPr>
                <a:t>+</a:t>
              </a:r>
            </a:p>
          </p:txBody>
        </p:sp>
        <p:sp>
          <p:nvSpPr>
            <p:cNvPr id="110611" name="Line 37">
              <a:extLst>
                <a:ext uri="{FF2B5EF4-FFF2-40B4-BE49-F238E27FC236}">
                  <a16:creationId xmlns:a16="http://schemas.microsoft.com/office/drawing/2014/main" id="{BCDA3A44-923C-4194-993E-1D2EC61F5C1D}"/>
                </a:ext>
              </a:extLst>
            </p:cNvPr>
            <p:cNvSpPr>
              <a:spLocks noChangeShapeType="1"/>
            </p:cNvSpPr>
            <p:nvPr/>
          </p:nvSpPr>
          <p:spPr bwMode="auto">
            <a:xfrm>
              <a:off x="1701" y="2069"/>
              <a:ext cx="181" cy="18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110603" name="Text Box 38">
            <a:extLst>
              <a:ext uri="{FF2B5EF4-FFF2-40B4-BE49-F238E27FC236}">
                <a16:creationId xmlns:a16="http://schemas.microsoft.com/office/drawing/2014/main" id="{1EBC77D5-40AE-4C4F-A44B-1F3E2A07C27C}"/>
              </a:ext>
            </a:extLst>
          </p:cNvPr>
          <p:cNvSpPr txBox="1">
            <a:spLocks noChangeArrowheads="1"/>
          </p:cNvSpPr>
          <p:nvPr/>
        </p:nvSpPr>
        <p:spPr bwMode="auto">
          <a:xfrm>
            <a:off x="4008438" y="2565401"/>
            <a:ext cx="7921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en-US" altLang="zh-CN">
                <a:solidFill>
                  <a:schemeClr val="tx1"/>
                </a:solidFill>
                <a:latin typeface="Arial" panose="020B0604020202020204" pitchFamily="34" charset="0"/>
                <a:ea typeface="宋体" panose="02010600030101010101" pitchFamily="2" charset="-122"/>
              </a:rPr>
              <a:t>K</a:t>
            </a:r>
            <a:r>
              <a:rPr lang="en-US" altLang="zh-CN" baseline="-25000">
                <a:solidFill>
                  <a:schemeClr val="tx1"/>
                </a:solidFill>
                <a:latin typeface="Arial" panose="020B0604020202020204" pitchFamily="34" charset="0"/>
                <a:ea typeface="宋体" panose="02010600030101010101" pitchFamily="2" charset="-122"/>
              </a:rPr>
              <a:t>1</a:t>
            </a:r>
          </a:p>
        </p:txBody>
      </p:sp>
      <p:sp>
        <p:nvSpPr>
          <p:cNvPr id="110604" name="Text Box 39">
            <a:extLst>
              <a:ext uri="{FF2B5EF4-FFF2-40B4-BE49-F238E27FC236}">
                <a16:creationId xmlns:a16="http://schemas.microsoft.com/office/drawing/2014/main" id="{2B6FF757-DD5C-4472-A4F9-4B941FAC7829}"/>
              </a:ext>
            </a:extLst>
          </p:cNvPr>
          <p:cNvSpPr txBox="1">
            <a:spLocks noChangeArrowheads="1"/>
          </p:cNvSpPr>
          <p:nvPr/>
        </p:nvSpPr>
        <p:spPr bwMode="auto">
          <a:xfrm>
            <a:off x="7464426" y="2565401"/>
            <a:ext cx="7921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en-US" altLang="zh-CN">
                <a:solidFill>
                  <a:schemeClr val="tx1"/>
                </a:solidFill>
                <a:latin typeface="Arial" panose="020B0604020202020204" pitchFamily="34" charset="0"/>
                <a:ea typeface="宋体" panose="02010600030101010101" pitchFamily="2" charset="-122"/>
              </a:rPr>
              <a:t>K</a:t>
            </a:r>
            <a:r>
              <a:rPr lang="en-US" altLang="zh-CN" baseline="-25000">
                <a:solidFill>
                  <a:schemeClr val="tx1"/>
                </a:solidFill>
                <a:latin typeface="Arial" panose="020B0604020202020204" pitchFamily="34" charset="0"/>
                <a:ea typeface="宋体" panose="02010600030101010101" pitchFamily="2" charset="-122"/>
              </a:rPr>
              <a:t>2</a:t>
            </a:r>
          </a:p>
        </p:txBody>
      </p:sp>
      <p:sp>
        <p:nvSpPr>
          <p:cNvPr id="110605" name="Text Box 40">
            <a:extLst>
              <a:ext uri="{FF2B5EF4-FFF2-40B4-BE49-F238E27FC236}">
                <a16:creationId xmlns:a16="http://schemas.microsoft.com/office/drawing/2014/main" id="{8C5562D9-9B2D-4898-8F5A-E4F97F8B98C6}"/>
              </a:ext>
            </a:extLst>
          </p:cNvPr>
          <p:cNvSpPr txBox="1">
            <a:spLocks noChangeArrowheads="1"/>
          </p:cNvSpPr>
          <p:nvPr/>
        </p:nvSpPr>
        <p:spPr bwMode="auto">
          <a:xfrm>
            <a:off x="5808663" y="4221163"/>
            <a:ext cx="546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rgbClr val="FF0000"/>
                </a:solidFill>
                <a:latin typeface="Tahoma" panose="020B0604030504040204" pitchFamily="34" charset="0"/>
                <a:ea typeface="隶书" panose="02010509060101010101" pitchFamily="49" charset="-122"/>
              </a:rPr>
              <a:t>A</a:t>
            </a:r>
            <a:r>
              <a:rPr kumimoji="1" lang="en-US" altLang="zh-CN" baseline="30000">
                <a:solidFill>
                  <a:srgbClr val="FF0000"/>
                </a:solidFill>
                <a:latin typeface="Tahoma" panose="020B0604030504040204" pitchFamily="34" charset="0"/>
                <a:ea typeface="隶书" panose="02010509060101010101" pitchFamily="49" charset="-122"/>
              </a:rPr>
              <a:t>0</a:t>
            </a:r>
          </a:p>
        </p:txBody>
      </p:sp>
      <p:sp>
        <p:nvSpPr>
          <p:cNvPr id="110606" name="Text Box 41">
            <a:extLst>
              <a:ext uri="{FF2B5EF4-FFF2-40B4-BE49-F238E27FC236}">
                <a16:creationId xmlns:a16="http://schemas.microsoft.com/office/drawing/2014/main" id="{F2D99362-9564-4AB8-AD61-0F47BFA4E532}"/>
              </a:ext>
            </a:extLst>
          </p:cNvPr>
          <p:cNvSpPr txBox="1">
            <a:spLocks noChangeArrowheads="1"/>
          </p:cNvSpPr>
          <p:nvPr/>
        </p:nvSpPr>
        <p:spPr bwMode="auto">
          <a:xfrm>
            <a:off x="2424113" y="4221163"/>
            <a:ext cx="588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chemeClr val="tx1"/>
                </a:solidFill>
                <a:latin typeface="Tahoma" panose="020B0604030504040204" pitchFamily="34" charset="0"/>
                <a:ea typeface="隶书" panose="02010509060101010101" pitchFamily="49" charset="-122"/>
              </a:rPr>
              <a:t>A</a:t>
            </a:r>
            <a:r>
              <a:rPr kumimoji="1" lang="en-US" altLang="zh-CN" baseline="30000">
                <a:solidFill>
                  <a:schemeClr val="tx1"/>
                </a:solidFill>
                <a:latin typeface="Tahoma" panose="020B0604030504040204" pitchFamily="34" charset="0"/>
                <a:ea typeface="隶书" panose="02010509060101010101" pitchFamily="49" charset="-122"/>
              </a:rPr>
              <a:t>+</a:t>
            </a:r>
          </a:p>
        </p:txBody>
      </p:sp>
      <p:sp>
        <p:nvSpPr>
          <p:cNvPr id="110607" name="Text Box 42">
            <a:extLst>
              <a:ext uri="{FF2B5EF4-FFF2-40B4-BE49-F238E27FC236}">
                <a16:creationId xmlns:a16="http://schemas.microsoft.com/office/drawing/2014/main" id="{7ACED213-B95B-4713-950C-F05DDFEC6995}"/>
              </a:ext>
            </a:extLst>
          </p:cNvPr>
          <p:cNvSpPr txBox="1">
            <a:spLocks noChangeArrowheads="1"/>
          </p:cNvSpPr>
          <p:nvPr/>
        </p:nvSpPr>
        <p:spPr bwMode="auto">
          <a:xfrm>
            <a:off x="9048750" y="4149725"/>
            <a:ext cx="496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chemeClr val="tx1"/>
                </a:solidFill>
                <a:latin typeface="Tahoma" panose="020B0604030504040204" pitchFamily="34" charset="0"/>
                <a:ea typeface="隶书" panose="02010509060101010101" pitchFamily="49" charset="-122"/>
              </a:rPr>
              <a:t>A</a:t>
            </a:r>
            <a:r>
              <a:rPr kumimoji="1" lang="en-US" altLang="zh-CN" baseline="30000">
                <a:solidFill>
                  <a:schemeClr val="tx1"/>
                </a:solidFill>
                <a:latin typeface="Tahoma" panose="020B0604030504040204" pitchFamily="34" charset="0"/>
                <a:ea typeface="隶书" panose="02010509060101010101" pitchFamily="49" charset="-122"/>
              </a:rPr>
              <a:t>-</a:t>
            </a:r>
          </a:p>
        </p:txBody>
      </p:sp>
      <p:sp>
        <p:nvSpPr>
          <p:cNvPr id="659500" name="Rectangle 44">
            <a:extLst>
              <a:ext uri="{FF2B5EF4-FFF2-40B4-BE49-F238E27FC236}">
                <a16:creationId xmlns:a16="http://schemas.microsoft.com/office/drawing/2014/main" id="{F1946DBA-E768-4F20-8F98-D270C08203E5}"/>
              </a:ext>
            </a:extLst>
          </p:cNvPr>
          <p:cNvSpPr>
            <a:spLocks noChangeArrowheads="1"/>
          </p:cNvSpPr>
          <p:nvPr/>
        </p:nvSpPr>
        <p:spPr bwMode="auto">
          <a:xfrm>
            <a:off x="4327525" y="5226050"/>
            <a:ext cx="38560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3200">
                <a:solidFill>
                  <a:srgbClr val="0000CC"/>
                </a:solidFill>
                <a:ea typeface="宋体" panose="02010600030101010101" pitchFamily="2" charset="-122"/>
              </a:rPr>
              <a:t>pI=1/2</a:t>
            </a:r>
            <a:r>
              <a:rPr kumimoji="1" lang="zh-CN" altLang="en-US" sz="3200">
                <a:solidFill>
                  <a:srgbClr val="0000CC"/>
                </a:solidFill>
                <a:ea typeface="宋体" panose="02010600030101010101" pitchFamily="2" charset="-122"/>
              </a:rPr>
              <a:t>（</a:t>
            </a:r>
            <a:r>
              <a:rPr kumimoji="1" lang="en-US" altLang="zh-CN" sz="3200">
                <a:solidFill>
                  <a:srgbClr val="0000CC"/>
                </a:solidFill>
                <a:ea typeface="宋体" panose="02010600030101010101" pitchFamily="2" charset="-122"/>
              </a:rPr>
              <a:t>pK1+pK2</a:t>
            </a:r>
            <a:r>
              <a:rPr kumimoji="1" lang="zh-CN" altLang="en-US" sz="3200">
                <a:solidFill>
                  <a:srgbClr val="0000CC"/>
                </a:solidFill>
                <a:ea typeface="宋体" panose="02010600030101010101" pitchFamily="2" charset="-122"/>
              </a:rPr>
              <a:t>）</a:t>
            </a:r>
            <a:endParaRPr kumimoji="1" lang="zh-CN" altLang="en-US" sz="1600">
              <a:solidFill>
                <a:srgbClr val="0000CC"/>
              </a:solidFill>
              <a:ea typeface="宋体" panose="02010600030101010101" pitchFamily="2" charset="-122"/>
            </a:endParaRPr>
          </a:p>
        </p:txBody>
      </p:sp>
      <p:sp>
        <p:nvSpPr>
          <p:cNvPr id="110609" name="Text Box 23">
            <a:extLst>
              <a:ext uri="{FF2B5EF4-FFF2-40B4-BE49-F238E27FC236}">
                <a16:creationId xmlns:a16="http://schemas.microsoft.com/office/drawing/2014/main" id="{F784A5DC-6181-42E9-B6DE-8E6FAF644EAD}"/>
              </a:ext>
            </a:extLst>
          </p:cNvPr>
          <p:cNvSpPr txBox="1">
            <a:spLocks noChangeArrowheads="1"/>
          </p:cNvSpPr>
          <p:nvPr/>
        </p:nvSpPr>
        <p:spPr bwMode="auto">
          <a:xfrm>
            <a:off x="1919289" y="112713"/>
            <a:ext cx="41052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50000"/>
              </a:spcBef>
              <a:buClrTx/>
              <a:buFontTx/>
              <a:buNone/>
            </a:pPr>
            <a:r>
              <a:rPr lang="zh-CN" altLang="en-US" sz="3600">
                <a:solidFill>
                  <a:schemeClr val="bg1"/>
                </a:solidFill>
                <a:latin typeface="黑体" panose="02010609060101010101" pitchFamily="49" charset="-122"/>
              </a:rPr>
              <a:t>中性氨基酸</a:t>
            </a:r>
            <a:r>
              <a:rPr lang="en-US" altLang="zh-CN" sz="3600">
                <a:solidFill>
                  <a:schemeClr val="bg1"/>
                </a:solidFill>
              </a:rPr>
              <a:t>pI</a:t>
            </a:r>
            <a:r>
              <a:rPr lang="zh-CN" altLang="en-US" sz="3600">
                <a:solidFill>
                  <a:schemeClr val="bg1"/>
                </a:solidFill>
                <a:latin typeface="黑体" panose="02010609060101010101" pitchFamily="49" charset="-122"/>
              </a:rPr>
              <a:t>计算</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59500"/>
                                        </p:tgtEl>
                                        <p:attrNameLst>
                                          <p:attrName>style.visibility</p:attrName>
                                        </p:attrNameLst>
                                      </p:cBhvr>
                                      <p:to>
                                        <p:strVal val="visible"/>
                                      </p:to>
                                    </p:set>
                                    <p:animEffect transition="in" filter="dissolve">
                                      <p:cBhvr>
                                        <p:cTn id="7" dur="500"/>
                                        <p:tgtEl>
                                          <p:spTgt spid="6595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9500" grpId="0"/>
    </p:bld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42" name="Line 2">
            <a:extLst>
              <a:ext uri="{FF2B5EF4-FFF2-40B4-BE49-F238E27FC236}">
                <a16:creationId xmlns:a16="http://schemas.microsoft.com/office/drawing/2014/main" id="{9AC5E8E7-5DC4-42EA-8194-79B06A63598E}"/>
              </a:ext>
            </a:extLst>
          </p:cNvPr>
          <p:cNvSpPr>
            <a:spLocks noChangeShapeType="1"/>
          </p:cNvSpPr>
          <p:nvPr/>
        </p:nvSpPr>
        <p:spPr bwMode="auto">
          <a:xfrm>
            <a:off x="3432175" y="2478089"/>
            <a:ext cx="215900" cy="2889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2643" name="Text Box 3">
            <a:extLst>
              <a:ext uri="{FF2B5EF4-FFF2-40B4-BE49-F238E27FC236}">
                <a16:creationId xmlns:a16="http://schemas.microsoft.com/office/drawing/2014/main" id="{FB774FCD-37EF-406F-B804-7083AF97B134}"/>
              </a:ext>
            </a:extLst>
          </p:cNvPr>
          <p:cNvSpPr txBox="1">
            <a:spLocks noChangeArrowheads="1"/>
          </p:cNvSpPr>
          <p:nvPr/>
        </p:nvSpPr>
        <p:spPr bwMode="auto">
          <a:xfrm>
            <a:off x="3503613" y="2549525"/>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rgbClr val="6600FF"/>
                </a:solidFill>
                <a:latin typeface="Tahoma" panose="020B0604030504040204" pitchFamily="34" charset="0"/>
                <a:ea typeface="隶书" panose="02010509060101010101" pitchFamily="49" charset="-122"/>
              </a:rPr>
              <a:t>+H</a:t>
            </a:r>
            <a:r>
              <a:rPr kumimoji="1" lang="en-US" altLang="zh-CN" baseline="30000">
                <a:solidFill>
                  <a:srgbClr val="6600FF"/>
                </a:solidFill>
                <a:latin typeface="Tahoma" panose="020B0604030504040204" pitchFamily="34" charset="0"/>
                <a:ea typeface="隶书" panose="02010509060101010101" pitchFamily="49" charset="-122"/>
              </a:rPr>
              <a:t>+</a:t>
            </a:r>
          </a:p>
        </p:txBody>
      </p:sp>
      <p:sp>
        <p:nvSpPr>
          <p:cNvPr id="112644" name="Line 4">
            <a:extLst>
              <a:ext uri="{FF2B5EF4-FFF2-40B4-BE49-F238E27FC236}">
                <a16:creationId xmlns:a16="http://schemas.microsoft.com/office/drawing/2014/main" id="{CC4E4A7A-D332-4ADD-A263-14223F47F272}"/>
              </a:ext>
            </a:extLst>
          </p:cNvPr>
          <p:cNvSpPr>
            <a:spLocks noChangeShapeType="1"/>
          </p:cNvSpPr>
          <p:nvPr/>
        </p:nvSpPr>
        <p:spPr bwMode="auto">
          <a:xfrm>
            <a:off x="6167438" y="2478089"/>
            <a:ext cx="215900" cy="2889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2645" name="Text Box 5">
            <a:extLst>
              <a:ext uri="{FF2B5EF4-FFF2-40B4-BE49-F238E27FC236}">
                <a16:creationId xmlns:a16="http://schemas.microsoft.com/office/drawing/2014/main" id="{6B839104-40A2-44B8-928E-9BD1704289FC}"/>
              </a:ext>
            </a:extLst>
          </p:cNvPr>
          <p:cNvSpPr txBox="1">
            <a:spLocks noChangeArrowheads="1"/>
          </p:cNvSpPr>
          <p:nvPr/>
        </p:nvSpPr>
        <p:spPr bwMode="auto">
          <a:xfrm>
            <a:off x="6238875" y="2549525"/>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rgbClr val="6600FF"/>
                </a:solidFill>
                <a:latin typeface="Tahoma" panose="020B0604030504040204" pitchFamily="34" charset="0"/>
                <a:ea typeface="隶书" panose="02010509060101010101" pitchFamily="49" charset="-122"/>
              </a:rPr>
              <a:t>+H</a:t>
            </a:r>
            <a:r>
              <a:rPr kumimoji="1" lang="en-US" altLang="zh-CN" baseline="30000">
                <a:solidFill>
                  <a:srgbClr val="6600FF"/>
                </a:solidFill>
                <a:latin typeface="Tahoma" panose="020B0604030504040204" pitchFamily="34" charset="0"/>
                <a:ea typeface="隶书" panose="02010509060101010101" pitchFamily="49" charset="-122"/>
              </a:rPr>
              <a:t>+</a:t>
            </a:r>
          </a:p>
        </p:txBody>
      </p:sp>
      <p:sp>
        <p:nvSpPr>
          <p:cNvPr id="112646" name="Line 6">
            <a:extLst>
              <a:ext uri="{FF2B5EF4-FFF2-40B4-BE49-F238E27FC236}">
                <a16:creationId xmlns:a16="http://schemas.microsoft.com/office/drawing/2014/main" id="{B80F875B-539A-4446-856B-D20B407188B4}"/>
              </a:ext>
            </a:extLst>
          </p:cNvPr>
          <p:cNvSpPr>
            <a:spLocks noChangeShapeType="1"/>
          </p:cNvSpPr>
          <p:nvPr/>
        </p:nvSpPr>
        <p:spPr bwMode="auto">
          <a:xfrm>
            <a:off x="8616950" y="2406651"/>
            <a:ext cx="215900" cy="2889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2647" name="Text Box 7">
            <a:extLst>
              <a:ext uri="{FF2B5EF4-FFF2-40B4-BE49-F238E27FC236}">
                <a16:creationId xmlns:a16="http://schemas.microsoft.com/office/drawing/2014/main" id="{B6482DC5-DB13-4DAA-B12A-D3E256E1EFDE}"/>
              </a:ext>
            </a:extLst>
          </p:cNvPr>
          <p:cNvSpPr txBox="1">
            <a:spLocks noChangeArrowheads="1"/>
          </p:cNvSpPr>
          <p:nvPr/>
        </p:nvSpPr>
        <p:spPr bwMode="auto">
          <a:xfrm>
            <a:off x="8688388" y="2478088"/>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rgbClr val="6600FF"/>
                </a:solidFill>
                <a:latin typeface="Tahoma" panose="020B0604030504040204" pitchFamily="34" charset="0"/>
                <a:ea typeface="隶书" panose="02010509060101010101" pitchFamily="49" charset="-122"/>
              </a:rPr>
              <a:t>+H</a:t>
            </a:r>
            <a:r>
              <a:rPr kumimoji="1" lang="en-US" altLang="zh-CN" baseline="30000">
                <a:solidFill>
                  <a:srgbClr val="6600FF"/>
                </a:solidFill>
                <a:latin typeface="Tahoma" panose="020B0604030504040204" pitchFamily="34" charset="0"/>
                <a:ea typeface="隶书" panose="02010509060101010101" pitchFamily="49" charset="-122"/>
              </a:rPr>
              <a:t>+</a:t>
            </a:r>
          </a:p>
        </p:txBody>
      </p:sp>
      <p:sp>
        <p:nvSpPr>
          <p:cNvPr id="112648" name="Text Box 8">
            <a:extLst>
              <a:ext uri="{FF2B5EF4-FFF2-40B4-BE49-F238E27FC236}">
                <a16:creationId xmlns:a16="http://schemas.microsoft.com/office/drawing/2014/main" id="{10B34EA3-D397-4A46-B1FF-EF8E937BB8B2}"/>
              </a:ext>
            </a:extLst>
          </p:cNvPr>
          <p:cNvSpPr txBox="1">
            <a:spLocks noChangeArrowheads="1"/>
          </p:cNvSpPr>
          <p:nvPr/>
        </p:nvSpPr>
        <p:spPr bwMode="auto">
          <a:xfrm>
            <a:off x="3071813" y="1685925"/>
            <a:ext cx="7921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50000"/>
              </a:spcBef>
              <a:buClrTx/>
              <a:buFontTx/>
              <a:buNone/>
            </a:pPr>
            <a:r>
              <a:rPr lang="en-US" altLang="zh-CN" sz="2400">
                <a:solidFill>
                  <a:srgbClr val="06070E"/>
                </a:solidFill>
                <a:latin typeface="Tahoma" panose="020B0604030504040204" pitchFamily="34" charset="0"/>
                <a:ea typeface="宋体" panose="02010600030101010101" pitchFamily="2" charset="-122"/>
              </a:rPr>
              <a:t>K</a:t>
            </a:r>
            <a:r>
              <a:rPr lang="en-US" altLang="zh-CN" sz="2400" b="0" baseline="-25000">
                <a:solidFill>
                  <a:srgbClr val="06070E"/>
                </a:solidFill>
                <a:ea typeface="宋体" panose="02010600030101010101" pitchFamily="2" charset="-122"/>
              </a:rPr>
              <a:t>1</a:t>
            </a:r>
          </a:p>
        </p:txBody>
      </p:sp>
      <p:sp>
        <p:nvSpPr>
          <p:cNvPr id="112649" name="Text Box 9">
            <a:extLst>
              <a:ext uri="{FF2B5EF4-FFF2-40B4-BE49-F238E27FC236}">
                <a16:creationId xmlns:a16="http://schemas.microsoft.com/office/drawing/2014/main" id="{ADF781DD-53FD-4DB3-A027-0CB288B39A0D}"/>
              </a:ext>
            </a:extLst>
          </p:cNvPr>
          <p:cNvSpPr txBox="1">
            <a:spLocks noChangeArrowheads="1"/>
          </p:cNvSpPr>
          <p:nvPr/>
        </p:nvSpPr>
        <p:spPr bwMode="auto">
          <a:xfrm>
            <a:off x="5880101" y="1614488"/>
            <a:ext cx="792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50000"/>
              </a:spcBef>
              <a:buClrTx/>
              <a:buFontTx/>
              <a:buNone/>
            </a:pPr>
            <a:r>
              <a:rPr lang="en-US" altLang="zh-CN" sz="2400">
                <a:solidFill>
                  <a:srgbClr val="06070E"/>
                </a:solidFill>
                <a:latin typeface="Tahoma" panose="020B0604030504040204" pitchFamily="34" charset="0"/>
                <a:ea typeface="宋体" panose="02010600030101010101" pitchFamily="2" charset="-122"/>
              </a:rPr>
              <a:t>K</a:t>
            </a:r>
            <a:r>
              <a:rPr lang="en-US" altLang="zh-CN" sz="2400" b="0" baseline="-25000">
                <a:solidFill>
                  <a:srgbClr val="06070E"/>
                </a:solidFill>
                <a:ea typeface="宋体" panose="02010600030101010101" pitchFamily="2" charset="-122"/>
              </a:rPr>
              <a:t>2</a:t>
            </a:r>
          </a:p>
        </p:txBody>
      </p:sp>
      <p:sp>
        <p:nvSpPr>
          <p:cNvPr id="112650" name="Text Box 10">
            <a:extLst>
              <a:ext uri="{FF2B5EF4-FFF2-40B4-BE49-F238E27FC236}">
                <a16:creationId xmlns:a16="http://schemas.microsoft.com/office/drawing/2014/main" id="{B19125B8-16C1-48DA-90CA-843593847994}"/>
              </a:ext>
            </a:extLst>
          </p:cNvPr>
          <p:cNvSpPr txBox="1">
            <a:spLocks noChangeArrowheads="1"/>
          </p:cNvSpPr>
          <p:nvPr/>
        </p:nvSpPr>
        <p:spPr bwMode="auto">
          <a:xfrm>
            <a:off x="8401051" y="1614488"/>
            <a:ext cx="792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50000"/>
              </a:spcBef>
              <a:buClrTx/>
              <a:buFontTx/>
              <a:buNone/>
            </a:pPr>
            <a:r>
              <a:rPr lang="en-US" altLang="zh-CN" sz="2400">
                <a:solidFill>
                  <a:srgbClr val="06070E"/>
                </a:solidFill>
                <a:latin typeface="Tahoma" panose="020B0604030504040204" pitchFamily="34" charset="0"/>
                <a:ea typeface="宋体" panose="02010600030101010101" pitchFamily="2" charset="-122"/>
              </a:rPr>
              <a:t>K</a:t>
            </a:r>
            <a:r>
              <a:rPr lang="en-US" altLang="zh-CN" sz="2400" b="0" baseline="-25000">
                <a:solidFill>
                  <a:srgbClr val="06070E"/>
                </a:solidFill>
                <a:ea typeface="宋体" panose="02010600030101010101" pitchFamily="2" charset="-122"/>
              </a:rPr>
              <a:t>3</a:t>
            </a:r>
          </a:p>
        </p:txBody>
      </p:sp>
      <p:sp>
        <p:nvSpPr>
          <p:cNvPr id="112651" name="Text Box 11">
            <a:extLst>
              <a:ext uri="{FF2B5EF4-FFF2-40B4-BE49-F238E27FC236}">
                <a16:creationId xmlns:a16="http://schemas.microsoft.com/office/drawing/2014/main" id="{F2548211-221C-4424-8B3C-393969E43641}"/>
              </a:ext>
            </a:extLst>
          </p:cNvPr>
          <p:cNvSpPr txBox="1">
            <a:spLocks noChangeArrowheads="1"/>
          </p:cNvSpPr>
          <p:nvPr/>
        </p:nvSpPr>
        <p:spPr bwMode="auto">
          <a:xfrm>
            <a:off x="1703388" y="3965575"/>
            <a:ext cx="588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rgbClr val="06070E"/>
                </a:solidFill>
                <a:latin typeface="Tahoma" panose="020B0604030504040204" pitchFamily="34" charset="0"/>
                <a:ea typeface="隶书" panose="02010509060101010101" pitchFamily="49" charset="-122"/>
              </a:rPr>
              <a:t>A</a:t>
            </a:r>
            <a:r>
              <a:rPr kumimoji="1" lang="en-US" altLang="zh-CN" baseline="30000">
                <a:solidFill>
                  <a:srgbClr val="06070E"/>
                </a:solidFill>
                <a:latin typeface="Tahoma" panose="020B0604030504040204" pitchFamily="34" charset="0"/>
                <a:ea typeface="隶书" panose="02010509060101010101" pitchFamily="49" charset="-122"/>
              </a:rPr>
              <a:t>+</a:t>
            </a:r>
          </a:p>
        </p:txBody>
      </p:sp>
      <p:sp>
        <p:nvSpPr>
          <p:cNvPr id="112652" name="Text Box 12">
            <a:extLst>
              <a:ext uri="{FF2B5EF4-FFF2-40B4-BE49-F238E27FC236}">
                <a16:creationId xmlns:a16="http://schemas.microsoft.com/office/drawing/2014/main" id="{99196796-ABB7-47D7-A31F-AA00724F7979}"/>
              </a:ext>
            </a:extLst>
          </p:cNvPr>
          <p:cNvSpPr txBox="1">
            <a:spLocks noChangeArrowheads="1"/>
          </p:cNvSpPr>
          <p:nvPr/>
        </p:nvSpPr>
        <p:spPr bwMode="auto">
          <a:xfrm>
            <a:off x="4151313" y="4037013"/>
            <a:ext cx="546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rgbClr val="FF0000"/>
                </a:solidFill>
                <a:latin typeface="Tahoma" panose="020B0604030504040204" pitchFamily="34" charset="0"/>
                <a:ea typeface="隶书" panose="02010509060101010101" pitchFamily="49" charset="-122"/>
              </a:rPr>
              <a:t>A</a:t>
            </a:r>
            <a:r>
              <a:rPr kumimoji="1" lang="en-US" altLang="zh-CN" baseline="30000">
                <a:solidFill>
                  <a:srgbClr val="FF0000"/>
                </a:solidFill>
                <a:latin typeface="Tahoma" panose="020B0604030504040204" pitchFamily="34" charset="0"/>
                <a:ea typeface="隶书" panose="02010509060101010101" pitchFamily="49" charset="-122"/>
              </a:rPr>
              <a:t>0</a:t>
            </a:r>
          </a:p>
        </p:txBody>
      </p:sp>
      <p:sp>
        <p:nvSpPr>
          <p:cNvPr id="112653" name="Text Box 13">
            <a:extLst>
              <a:ext uri="{FF2B5EF4-FFF2-40B4-BE49-F238E27FC236}">
                <a16:creationId xmlns:a16="http://schemas.microsoft.com/office/drawing/2014/main" id="{75A29CA7-F9FF-446C-9850-1560B5570B93}"/>
              </a:ext>
            </a:extLst>
          </p:cNvPr>
          <p:cNvSpPr txBox="1">
            <a:spLocks noChangeArrowheads="1"/>
          </p:cNvSpPr>
          <p:nvPr/>
        </p:nvSpPr>
        <p:spPr bwMode="auto">
          <a:xfrm>
            <a:off x="6888164" y="3990975"/>
            <a:ext cx="496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rgbClr val="06070E"/>
                </a:solidFill>
                <a:latin typeface="Tahoma" panose="020B0604030504040204" pitchFamily="34" charset="0"/>
                <a:ea typeface="隶书" panose="02010509060101010101" pitchFamily="49" charset="-122"/>
              </a:rPr>
              <a:t>A</a:t>
            </a:r>
            <a:r>
              <a:rPr kumimoji="1" lang="en-US" altLang="zh-CN" baseline="30000">
                <a:solidFill>
                  <a:srgbClr val="06070E"/>
                </a:solidFill>
                <a:latin typeface="Tahoma" panose="020B0604030504040204" pitchFamily="34" charset="0"/>
                <a:ea typeface="隶书" panose="02010509060101010101" pitchFamily="49" charset="-122"/>
              </a:rPr>
              <a:t>-</a:t>
            </a:r>
          </a:p>
        </p:txBody>
      </p:sp>
      <p:sp>
        <p:nvSpPr>
          <p:cNvPr id="112654" name="Text Box 14">
            <a:extLst>
              <a:ext uri="{FF2B5EF4-FFF2-40B4-BE49-F238E27FC236}">
                <a16:creationId xmlns:a16="http://schemas.microsoft.com/office/drawing/2014/main" id="{011FE25F-D089-44D8-8C29-ADB7118C120C}"/>
              </a:ext>
            </a:extLst>
          </p:cNvPr>
          <p:cNvSpPr txBox="1">
            <a:spLocks noChangeArrowheads="1"/>
          </p:cNvSpPr>
          <p:nvPr/>
        </p:nvSpPr>
        <p:spPr bwMode="auto">
          <a:xfrm>
            <a:off x="9409113" y="3990975"/>
            <a:ext cx="627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rgbClr val="06070E"/>
                </a:solidFill>
                <a:latin typeface="Tahoma" panose="020B0604030504040204" pitchFamily="34" charset="0"/>
                <a:ea typeface="隶书" panose="02010509060101010101" pitchFamily="49" charset="-122"/>
              </a:rPr>
              <a:t>A</a:t>
            </a:r>
            <a:r>
              <a:rPr kumimoji="1" lang="en-US" altLang="zh-CN" sz="2400" baseline="30000">
                <a:solidFill>
                  <a:srgbClr val="06070E"/>
                </a:solidFill>
                <a:latin typeface="Tahoma" panose="020B0604030504040204" pitchFamily="34" charset="0"/>
                <a:ea typeface="隶书" panose="02010509060101010101" pitchFamily="49" charset="-122"/>
              </a:rPr>
              <a:t>2</a:t>
            </a:r>
            <a:r>
              <a:rPr kumimoji="1" lang="en-US" altLang="zh-CN" baseline="30000">
                <a:solidFill>
                  <a:srgbClr val="06070E"/>
                </a:solidFill>
                <a:latin typeface="Tahoma" panose="020B0604030504040204" pitchFamily="34" charset="0"/>
                <a:ea typeface="隶书" panose="02010509060101010101" pitchFamily="49" charset="-122"/>
              </a:rPr>
              <a:t>-</a:t>
            </a:r>
          </a:p>
        </p:txBody>
      </p:sp>
      <p:graphicFrame>
        <p:nvGraphicFramePr>
          <p:cNvPr id="112655" name="Object 15">
            <a:extLst>
              <a:ext uri="{FF2B5EF4-FFF2-40B4-BE49-F238E27FC236}">
                <a16:creationId xmlns:a16="http://schemas.microsoft.com/office/drawing/2014/main" id="{CFA7B50E-1A3C-49D7-B24D-5D5E3B52EEB9}"/>
              </a:ext>
            </a:extLst>
          </p:cNvPr>
          <p:cNvGraphicFramePr>
            <a:graphicFrameLocks noChangeAspect="1"/>
          </p:cNvGraphicFramePr>
          <p:nvPr/>
        </p:nvGraphicFramePr>
        <p:xfrm>
          <a:off x="1524000" y="981076"/>
          <a:ext cx="9144000" cy="3027363"/>
        </p:xfrm>
        <a:graphic>
          <a:graphicData uri="http://schemas.openxmlformats.org/presentationml/2006/ole">
            <mc:AlternateContent xmlns:mc="http://schemas.openxmlformats.org/markup-compatibility/2006">
              <mc:Choice xmlns:v="urn:schemas-microsoft-com:vml" Requires="v">
                <p:oleObj name="ChemSketch" r:id="rId3" imgW="4812792" imgH="1594104" progId="ACD.ChemSketch.20">
                  <p:embed/>
                </p:oleObj>
              </mc:Choice>
              <mc:Fallback>
                <p:oleObj name="ChemSketch" r:id="rId3" imgW="4812792" imgH="1594104" progId="ACD.ChemSketch.20">
                  <p:embed/>
                  <p:pic>
                    <p:nvPicPr>
                      <p:cNvPr id="112655" name="Object 15">
                        <a:extLst>
                          <a:ext uri="{FF2B5EF4-FFF2-40B4-BE49-F238E27FC236}">
                            <a16:creationId xmlns:a16="http://schemas.microsoft.com/office/drawing/2014/main" id="{CFA7B50E-1A3C-49D7-B24D-5D5E3B52EE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981076"/>
                        <a:ext cx="9144000" cy="302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656" name="Text Box 19">
            <a:extLst>
              <a:ext uri="{FF2B5EF4-FFF2-40B4-BE49-F238E27FC236}">
                <a16:creationId xmlns:a16="http://schemas.microsoft.com/office/drawing/2014/main" id="{268B51C3-93D1-49B4-93DC-49728C3205B0}"/>
              </a:ext>
            </a:extLst>
          </p:cNvPr>
          <p:cNvSpPr txBox="1">
            <a:spLocks noChangeArrowheads="1"/>
          </p:cNvSpPr>
          <p:nvPr/>
        </p:nvSpPr>
        <p:spPr bwMode="auto">
          <a:xfrm>
            <a:off x="2855914" y="2838450"/>
            <a:ext cx="936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50000"/>
              </a:spcBef>
              <a:buClrTx/>
              <a:buFontTx/>
              <a:buNone/>
            </a:pPr>
            <a:r>
              <a:rPr lang="en-US" altLang="zh-CN" sz="2400" b="0">
                <a:solidFill>
                  <a:schemeClr val="tx1"/>
                </a:solidFill>
                <a:latin typeface="Tahoma" panose="020B0604030504040204" pitchFamily="34" charset="0"/>
                <a:ea typeface="宋体" panose="02010600030101010101" pitchFamily="2" charset="-122"/>
              </a:rPr>
              <a:t>2.09</a:t>
            </a:r>
          </a:p>
        </p:txBody>
      </p:sp>
      <p:sp>
        <p:nvSpPr>
          <p:cNvPr id="112657" name="Text Box 20">
            <a:extLst>
              <a:ext uri="{FF2B5EF4-FFF2-40B4-BE49-F238E27FC236}">
                <a16:creationId xmlns:a16="http://schemas.microsoft.com/office/drawing/2014/main" id="{44F99117-FA28-4B3A-897C-94EFA0AE0EA5}"/>
              </a:ext>
            </a:extLst>
          </p:cNvPr>
          <p:cNvSpPr txBox="1">
            <a:spLocks noChangeArrowheads="1"/>
          </p:cNvSpPr>
          <p:nvPr/>
        </p:nvSpPr>
        <p:spPr bwMode="auto">
          <a:xfrm>
            <a:off x="5591176" y="2838450"/>
            <a:ext cx="936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50000"/>
              </a:spcBef>
              <a:buClrTx/>
              <a:buFontTx/>
              <a:buNone/>
            </a:pPr>
            <a:r>
              <a:rPr lang="en-US" altLang="zh-CN" sz="2400" b="0">
                <a:solidFill>
                  <a:schemeClr val="tx1"/>
                </a:solidFill>
                <a:latin typeface="Tahoma" panose="020B0604030504040204" pitchFamily="34" charset="0"/>
                <a:ea typeface="宋体" panose="02010600030101010101" pitchFamily="2" charset="-122"/>
              </a:rPr>
              <a:t>3.86</a:t>
            </a:r>
          </a:p>
        </p:txBody>
      </p:sp>
      <p:sp>
        <p:nvSpPr>
          <p:cNvPr id="112658" name="Text Box 21">
            <a:extLst>
              <a:ext uri="{FF2B5EF4-FFF2-40B4-BE49-F238E27FC236}">
                <a16:creationId xmlns:a16="http://schemas.microsoft.com/office/drawing/2014/main" id="{EA72270B-FFCB-443C-B2A9-C045441A6DA3}"/>
              </a:ext>
            </a:extLst>
          </p:cNvPr>
          <p:cNvSpPr txBox="1">
            <a:spLocks noChangeArrowheads="1"/>
          </p:cNvSpPr>
          <p:nvPr/>
        </p:nvSpPr>
        <p:spPr bwMode="auto">
          <a:xfrm>
            <a:off x="8401051" y="2909888"/>
            <a:ext cx="936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50000"/>
              </a:spcBef>
              <a:buClrTx/>
              <a:buFontTx/>
              <a:buNone/>
            </a:pPr>
            <a:r>
              <a:rPr lang="en-US" altLang="zh-CN" sz="2400" b="0">
                <a:solidFill>
                  <a:schemeClr val="tx1"/>
                </a:solidFill>
                <a:latin typeface="Tahoma" panose="020B0604030504040204" pitchFamily="34" charset="0"/>
                <a:ea typeface="宋体" panose="02010600030101010101" pitchFamily="2" charset="-122"/>
              </a:rPr>
              <a:t>9.82</a:t>
            </a:r>
          </a:p>
        </p:txBody>
      </p:sp>
      <p:sp>
        <p:nvSpPr>
          <p:cNvPr id="568343" name="Text Box 23">
            <a:extLst>
              <a:ext uri="{FF2B5EF4-FFF2-40B4-BE49-F238E27FC236}">
                <a16:creationId xmlns:a16="http://schemas.microsoft.com/office/drawing/2014/main" id="{90F2359F-C623-4E75-8E75-4E968E9A4198}"/>
              </a:ext>
            </a:extLst>
          </p:cNvPr>
          <p:cNvSpPr txBox="1">
            <a:spLocks noChangeArrowheads="1"/>
          </p:cNvSpPr>
          <p:nvPr/>
        </p:nvSpPr>
        <p:spPr bwMode="auto">
          <a:xfrm>
            <a:off x="2351089" y="5502276"/>
            <a:ext cx="49672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50000"/>
              </a:spcBef>
              <a:buClrTx/>
              <a:buFontTx/>
              <a:buNone/>
            </a:pPr>
            <a:r>
              <a:rPr lang="en-US" altLang="zh-CN">
                <a:solidFill>
                  <a:schemeClr val="tx1"/>
                </a:solidFill>
                <a:ea typeface="宋体" panose="02010600030101010101" pitchFamily="2" charset="-122"/>
              </a:rPr>
              <a:t>pI=(2.09+3.86)/2=2.97</a:t>
            </a:r>
          </a:p>
        </p:txBody>
      </p:sp>
      <p:sp>
        <p:nvSpPr>
          <p:cNvPr id="568345" name="Rectangle 25">
            <a:extLst>
              <a:ext uri="{FF2B5EF4-FFF2-40B4-BE49-F238E27FC236}">
                <a16:creationId xmlns:a16="http://schemas.microsoft.com/office/drawing/2014/main" id="{87E4FE90-8CBC-42E8-8A5B-D1C489E76E4A}"/>
              </a:ext>
            </a:extLst>
          </p:cNvPr>
          <p:cNvSpPr>
            <a:spLocks noChangeArrowheads="1"/>
          </p:cNvSpPr>
          <p:nvPr/>
        </p:nvSpPr>
        <p:spPr bwMode="auto">
          <a:xfrm>
            <a:off x="2351089" y="4640263"/>
            <a:ext cx="3191899" cy="721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70000"/>
              </a:lnSpc>
              <a:buSzPct val="110000"/>
              <a:buFont typeface="Wingdings" panose="05000000000000000000" pitchFamily="2" charset="2"/>
              <a:buNone/>
            </a:pPr>
            <a:r>
              <a:rPr kumimoji="1" lang="en-US" altLang="zh-CN">
                <a:solidFill>
                  <a:srgbClr val="0000CC"/>
                </a:solidFill>
                <a:ea typeface="宋体" panose="02010600030101010101" pitchFamily="2" charset="-122"/>
              </a:rPr>
              <a:t>pI=1/2</a:t>
            </a:r>
            <a:r>
              <a:rPr kumimoji="1" lang="zh-CN" altLang="en-US">
                <a:solidFill>
                  <a:srgbClr val="0000CC"/>
                </a:solidFill>
                <a:ea typeface="宋体" panose="02010600030101010101" pitchFamily="2" charset="-122"/>
              </a:rPr>
              <a:t>（</a:t>
            </a:r>
            <a:r>
              <a:rPr kumimoji="1" lang="en-US" altLang="zh-CN">
                <a:solidFill>
                  <a:srgbClr val="0000CC"/>
                </a:solidFill>
                <a:ea typeface="宋体" panose="02010600030101010101" pitchFamily="2" charset="-122"/>
              </a:rPr>
              <a:t>pK1+pK2)</a:t>
            </a:r>
          </a:p>
        </p:txBody>
      </p:sp>
      <p:sp>
        <p:nvSpPr>
          <p:cNvPr id="112661" name="Text Box 23">
            <a:extLst>
              <a:ext uri="{FF2B5EF4-FFF2-40B4-BE49-F238E27FC236}">
                <a16:creationId xmlns:a16="http://schemas.microsoft.com/office/drawing/2014/main" id="{E083CDC8-3437-42CF-82D5-94A0F17B9FC9}"/>
              </a:ext>
            </a:extLst>
          </p:cNvPr>
          <p:cNvSpPr txBox="1">
            <a:spLocks noChangeArrowheads="1"/>
          </p:cNvSpPr>
          <p:nvPr/>
        </p:nvSpPr>
        <p:spPr bwMode="auto">
          <a:xfrm>
            <a:off x="1919289" y="112713"/>
            <a:ext cx="41052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50000"/>
              </a:spcBef>
              <a:buClrTx/>
              <a:buFontTx/>
              <a:buNone/>
            </a:pPr>
            <a:r>
              <a:rPr lang="zh-CN" altLang="en-US" sz="3600">
                <a:solidFill>
                  <a:schemeClr val="bg1"/>
                </a:solidFill>
                <a:latin typeface="黑体" panose="02010609060101010101" pitchFamily="49" charset="-122"/>
              </a:rPr>
              <a:t>酸性氨基酸</a:t>
            </a:r>
            <a:r>
              <a:rPr lang="en-US" altLang="zh-CN" sz="3600">
                <a:solidFill>
                  <a:schemeClr val="bg1"/>
                </a:solidFill>
              </a:rPr>
              <a:t>pI</a:t>
            </a:r>
            <a:r>
              <a:rPr lang="zh-CN" altLang="en-US" sz="3600">
                <a:solidFill>
                  <a:schemeClr val="bg1"/>
                </a:solidFill>
                <a:latin typeface="黑体" panose="02010609060101010101" pitchFamily="49" charset="-122"/>
              </a:rPr>
              <a:t>计算</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68345"/>
                                        </p:tgtEl>
                                        <p:attrNameLst>
                                          <p:attrName>style.visibility</p:attrName>
                                        </p:attrNameLst>
                                      </p:cBhvr>
                                      <p:to>
                                        <p:strVal val="visible"/>
                                      </p:to>
                                    </p:set>
                                    <p:animEffect transition="in" filter="box(in)">
                                      <p:cBhvr>
                                        <p:cTn id="7" dur="500"/>
                                        <p:tgtEl>
                                          <p:spTgt spid="5683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568343"/>
                                        </p:tgtEl>
                                        <p:attrNameLst>
                                          <p:attrName>style.visibility</p:attrName>
                                        </p:attrNameLst>
                                      </p:cBhvr>
                                      <p:to>
                                        <p:strVal val="visible"/>
                                      </p:to>
                                    </p:set>
                                    <p:animEffect transition="in" filter="diamond(in)">
                                      <p:cBhvr>
                                        <p:cTn id="12" dur="2000"/>
                                        <p:tgtEl>
                                          <p:spTgt spid="568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8343" grpId="0"/>
      <p:bldP spid="568345" grpId="0"/>
    </p:bld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14690" name="Object 2">
            <a:extLst>
              <a:ext uri="{FF2B5EF4-FFF2-40B4-BE49-F238E27FC236}">
                <a16:creationId xmlns:a16="http://schemas.microsoft.com/office/drawing/2014/main" id="{39C8A66E-BEB0-4F27-8856-35D07B8BB3D7}"/>
              </a:ext>
            </a:extLst>
          </p:cNvPr>
          <p:cNvGraphicFramePr>
            <a:graphicFrameLocks noChangeAspect="1"/>
          </p:cNvGraphicFramePr>
          <p:nvPr/>
        </p:nvGraphicFramePr>
        <p:xfrm>
          <a:off x="1524000" y="908050"/>
          <a:ext cx="9144000" cy="4400550"/>
        </p:xfrm>
        <a:graphic>
          <a:graphicData uri="http://schemas.openxmlformats.org/presentationml/2006/ole">
            <mc:AlternateContent xmlns:mc="http://schemas.openxmlformats.org/markup-compatibility/2006">
              <mc:Choice xmlns:v="urn:schemas-microsoft-com:vml" Requires="v">
                <p:oleObj name="ChemSketch" r:id="rId3" imgW="4489704" imgH="2161032" progId="ACD.ChemSketch.20">
                  <p:embed/>
                </p:oleObj>
              </mc:Choice>
              <mc:Fallback>
                <p:oleObj name="ChemSketch" r:id="rId3" imgW="4489704" imgH="2161032" progId="ACD.ChemSketch.20">
                  <p:embed/>
                  <p:pic>
                    <p:nvPicPr>
                      <p:cNvPr id="114690" name="Object 2">
                        <a:extLst>
                          <a:ext uri="{FF2B5EF4-FFF2-40B4-BE49-F238E27FC236}">
                            <a16:creationId xmlns:a16="http://schemas.microsoft.com/office/drawing/2014/main" id="{39C8A66E-BEB0-4F27-8856-35D07B8BB3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908050"/>
                        <a:ext cx="9144000" cy="440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4691" name="Text Box 3">
            <a:extLst>
              <a:ext uri="{FF2B5EF4-FFF2-40B4-BE49-F238E27FC236}">
                <a16:creationId xmlns:a16="http://schemas.microsoft.com/office/drawing/2014/main" id="{991A067A-12A0-462B-82EF-B5371F27BF89}"/>
              </a:ext>
            </a:extLst>
          </p:cNvPr>
          <p:cNvSpPr txBox="1">
            <a:spLocks noChangeArrowheads="1"/>
          </p:cNvSpPr>
          <p:nvPr/>
        </p:nvSpPr>
        <p:spPr bwMode="auto">
          <a:xfrm>
            <a:off x="2855913" y="2046288"/>
            <a:ext cx="7921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50000"/>
              </a:spcBef>
              <a:buClrTx/>
              <a:buFontTx/>
              <a:buNone/>
            </a:pPr>
            <a:r>
              <a:rPr lang="en-US" altLang="zh-CN" sz="2400">
                <a:solidFill>
                  <a:srgbClr val="06070E"/>
                </a:solidFill>
                <a:latin typeface="Tahoma" panose="020B0604030504040204" pitchFamily="34" charset="0"/>
                <a:ea typeface="宋体" panose="02010600030101010101" pitchFamily="2" charset="-122"/>
              </a:rPr>
              <a:t>K</a:t>
            </a:r>
            <a:r>
              <a:rPr lang="en-US" altLang="zh-CN" sz="2400" b="0" baseline="-25000">
                <a:solidFill>
                  <a:srgbClr val="06070E"/>
                </a:solidFill>
                <a:ea typeface="宋体" panose="02010600030101010101" pitchFamily="2" charset="-122"/>
              </a:rPr>
              <a:t>1</a:t>
            </a:r>
          </a:p>
        </p:txBody>
      </p:sp>
      <p:sp>
        <p:nvSpPr>
          <p:cNvPr id="114692" name="Text Box 4">
            <a:extLst>
              <a:ext uri="{FF2B5EF4-FFF2-40B4-BE49-F238E27FC236}">
                <a16:creationId xmlns:a16="http://schemas.microsoft.com/office/drawing/2014/main" id="{ED08FA36-A422-40EC-86E3-4F2BD0ADF4DD}"/>
              </a:ext>
            </a:extLst>
          </p:cNvPr>
          <p:cNvSpPr txBox="1">
            <a:spLocks noChangeArrowheads="1"/>
          </p:cNvSpPr>
          <p:nvPr/>
        </p:nvSpPr>
        <p:spPr bwMode="auto">
          <a:xfrm>
            <a:off x="5664201" y="2046288"/>
            <a:ext cx="792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50000"/>
              </a:spcBef>
              <a:buClrTx/>
              <a:buFontTx/>
              <a:buNone/>
            </a:pPr>
            <a:r>
              <a:rPr lang="en-US" altLang="zh-CN" sz="2400">
                <a:solidFill>
                  <a:srgbClr val="06070E"/>
                </a:solidFill>
                <a:latin typeface="Tahoma" panose="020B0604030504040204" pitchFamily="34" charset="0"/>
                <a:ea typeface="宋体" panose="02010600030101010101" pitchFamily="2" charset="-122"/>
              </a:rPr>
              <a:t>K</a:t>
            </a:r>
            <a:r>
              <a:rPr lang="en-US" altLang="zh-CN" sz="2400" b="0" baseline="-25000">
                <a:solidFill>
                  <a:srgbClr val="06070E"/>
                </a:solidFill>
                <a:ea typeface="宋体" panose="02010600030101010101" pitchFamily="2" charset="-122"/>
              </a:rPr>
              <a:t>2</a:t>
            </a:r>
          </a:p>
        </p:txBody>
      </p:sp>
      <p:sp>
        <p:nvSpPr>
          <p:cNvPr id="114693" name="Text Box 5">
            <a:extLst>
              <a:ext uri="{FF2B5EF4-FFF2-40B4-BE49-F238E27FC236}">
                <a16:creationId xmlns:a16="http://schemas.microsoft.com/office/drawing/2014/main" id="{493DA147-456E-442B-80FD-17085EB70CA2}"/>
              </a:ext>
            </a:extLst>
          </p:cNvPr>
          <p:cNvSpPr txBox="1">
            <a:spLocks noChangeArrowheads="1"/>
          </p:cNvSpPr>
          <p:nvPr/>
        </p:nvSpPr>
        <p:spPr bwMode="auto">
          <a:xfrm>
            <a:off x="8401051" y="2046288"/>
            <a:ext cx="792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50000"/>
              </a:spcBef>
              <a:buClrTx/>
              <a:buFontTx/>
              <a:buNone/>
            </a:pPr>
            <a:r>
              <a:rPr lang="en-US" altLang="zh-CN" sz="2400">
                <a:solidFill>
                  <a:srgbClr val="06070E"/>
                </a:solidFill>
                <a:latin typeface="Tahoma" panose="020B0604030504040204" pitchFamily="34" charset="0"/>
                <a:ea typeface="宋体" panose="02010600030101010101" pitchFamily="2" charset="-122"/>
              </a:rPr>
              <a:t>K</a:t>
            </a:r>
            <a:r>
              <a:rPr lang="en-US" altLang="zh-CN" sz="2400" b="0" baseline="-25000">
                <a:solidFill>
                  <a:srgbClr val="06070E"/>
                </a:solidFill>
                <a:ea typeface="宋体" panose="02010600030101010101" pitchFamily="2" charset="-122"/>
              </a:rPr>
              <a:t>3</a:t>
            </a:r>
          </a:p>
        </p:txBody>
      </p:sp>
      <p:sp>
        <p:nvSpPr>
          <p:cNvPr id="114694" name="Text Box 6">
            <a:extLst>
              <a:ext uri="{FF2B5EF4-FFF2-40B4-BE49-F238E27FC236}">
                <a16:creationId xmlns:a16="http://schemas.microsoft.com/office/drawing/2014/main" id="{90A3D6A6-654D-4BFF-BC6E-C615401BF2D7}"/>
              </a:ext>
            </a:extLst>
          </p:cNvPr>
          <p:cNvSpPr txBox="1">
            <a:spLocks noChangeArrowheads="1"/>
          </p:cNvSpPr>
          <p:nvPr/>
        </p:nvSpPr>
        <p:spPr bwMode="auto">
          <a:xfrm>
            <a:off x="1703389" y="5260975"/>
            <a:ext cx="719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rgbClr val="06070E"/>
                </a:solidFill>
                <a:latin typeface="Tahoma" panose="020B0604030504040204" pitchFamily="34" charset="0"/>
                <a:ea typeface="隶书" panose="02010509060101010101" pitchFamily="49" charset="-122"/>
              </a:rPr>
              <a:t>A</a:t>
            </a:r>
            <a:r>
              <a:rPr kumimoji="1" lang="en-US" altLang="zh-CN" sz="2400" baseline="30000">
                <a:solidFill>
                  <a:srgbClr val="06070E"/>
                </a:solidFill>
                <a:latin typeface="Tahoma" panose="020B0604030504040204" pitchFamily="34" charset="0"/>
                <a:ea typeface="隶书" panose="02010509060101010101" pitchFamily="49" charset="-122"/>
              </a:rPr>
              <a:t>2</a:t>
            </a:r>
            <a:r>
              <a:rPr kumimoji="1" lang="en-US" altLang="zh-CN" baseline="30000">
                <a:solidFill>
                  <a:srgbClr val="06070E"/>
                </a:solidFill>
                <a:latin typeface="Tahoma" panose="020B0604030504040204" pitchFamily="34" charset="0"/>
                <a:ea typeface="隶书" panose="02010509060101010101" pitchFamily="49" charset="-122"/>
              </a:rPr>
              <a:t>+</a:t>
            </a:r>
          </a:p>
        </p:txBody>
      </p:sp>
      <p:sp>
        <p:nvSpPr>
          <p:cNvPr id="114695" name="Text Box 7">
            <a:extLst>
              <a:ext uri="{FF2B5EF4-FFF2-40B4-BE49-F238E27FC236}">
                <a16:creationId xmlns:a16="http://schemas.microsoft.com/office/drawing/2014/main" id="{C814617B-0B95-4A17-A739-991F62C27067}"/>
              </a:ext>
            </a:extLst>
          </p:cNvPr>
          <p:cNvSpPr txBox="1">
            <a:spLocks noChangeArrowheads="1"/>
          </p:cNvSpPr>
          <p:nvPr/>
        </p:nvSpPr>
        <p:spPr bwMode="auto">
          <a:xfrm>
            <a:off x="4151313" y="5332413"/>
            <a:ext cx="588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rgbClr val="06070E"/>
                </a:solidFill>
                <a:latin typeface="Tahoma" panose="020B0604030504040204" pitchFamily="34" charset="0"/>
                <a:ea typeface="隶书" panose="02010509060101010101" pitchFamily="49" charset="-122"/>
              </a:rPr>
              <a:t>A</a:t>
            </a:r>
            <a:r>
              <a:rPr kumimoji="1" lang="en-US" altLang="zh-CN" baseline="30000">
                <a:solidFill>
                  <a:srgbClr val="06070E"/>
                </a:solidFill>
                <a:latin typeface="Tahoma" panose="020B0604030504040204" pitchFamily="34" charset="0"/>
                <a:ea typeface="隶书" panose="02010509060101010101" pitchFamily="49" charset="-122"/>
              </a:rPr>
              <a:t>+</a:t>
            </a:r>
          </a:p>
        </p:txBody>
      </p:sp>
      <p:sp>
        <p:nvSpPr>
          <p:cNvPr id="114696" name="Text Box 8">
            <a:extLst>
              <a:ext uri="{FF2B5EF4-FFF2-40B4-BE49-F238E27FC236}">
                <a16:creationId xmlns:a16="http://schemas.microsoft.com/office/drawing/2014/main" id="{85A72D5B-5524-4D8A-9102-7960B76427DF}"/>
              </a:ext>
            </a:extLst>
          </p:cNvPr>
          <p:cNvSpPr txBox="1">
            <a:spLocks noChangeArrowheads="1"/>
          </p:cNvSpPr>
          <p:nvPr/>
        </p:nvSpPr>
        <p:spPr bwMode="auto">
          <a:xfrm>
            <a:off x="6888163" y="5286375"/>
            <a:ext cx="546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rgbClr val="FF0000"/>
                </a:solidFill>
                <a:latin typeface="Tahoma" panose="020B0604030504040204" pitchFamily="34" charset="0"/>
                <a:ea typeface="隶书" panose="02010509060101010101" pitchFamily="49" charset="-122"/>
              </a:rPr>
              <a:t>A</a:t>
            </a:r>
            <a:r>
              <a:rPr kumimoji="1" lang="en-US" altLang="zh-CN" baseline="30000">
                <a:solidFill>
                  <a:srgbClr val="FF0000"/>
                </a:solidFill>
                <a:latin typeface="Tahoma" panose="020B0604030504040204" pitchFamily="34" charset="0"/>
                <a:ea typeface="隶书" panose="02010509060101010101" pitchFamily="49" charset="-122"/>
              </a:rPr>
              <a:t>0</a:t>
            </a:r>
          </a:p>
        </p:txBody>
      </p:sp>
      <p:sp>
        <p:nvSpPr>
          <p:cNvPr id="114697" name="Text Box 9">
            <a:extLst>
              <a:ext uri="{FF2B5EF4-FFF2-40B4-BE49-F238E27FC236}">
                <a16:creationId xmlns:a16="http://schemas.microsoft.com/office/drawing/2014/main" id="{F5406CA2-8AD1-462B-B4AE-76E0A555F0AD}"/>
              </a:ext>
            </a:extLst>
          </p:cNvPr>
          <p:cNvSpPr txBox="1">
            <a:spLocks noChangeArrowheads="1"/>
          </p:cNvSpPr>
          <p:nvPr/>
        </p:nvSpPr>
        <p:spPr bwMode="auto">
          <a:xfrm>
            <a:off x="9625014" y="5286375"/>
            <a:ext cx="496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rgbClr val="06070E"/>
                </a:solidFill>
                <a:latin typeface="Tahoma" panose="020B0604030504040204" pitchFamily="34" charset="0"/>
                <a:ea typeface="隶书" panose="02010509060101010101" pitchFamily="49" charset="-122"/>
              </a:rPr>
              <a:t>A</a:t>
            </a:r>
            <a:r>
              <a:rPr kumimoji="1" lang="en-US" altLang="zh-CN" baseline="30000">
                <a:solidFill>
                  <a:srgbClr val="06070E"/>
                </a:solidFill>
                <a:latin typeface="Tahoma" panose="020B0604030504040204" pitchFamily="34" charset="0"/>
                <a:ea typeface="隶书" panose="02010509060101010101" pitchFamily="49" charset="-122"/>
              </a:rPr>
              <a:t>-</a:t>
            </a:r>
          </a:p>
        </p:txBody>
      </p:sp>
      <p:sp>
        <p:nvSpPr>
          <p:cNvPr id="114698" name="Text Box 10">
            <a:extLst>
              <a:ext uri="{FF2B5EF4-FFF2-40B4-BE49-F238E27FC236}">
                <a16:creationId xmlns:a16="http://schemas.microsoft.com/office/drawing/2014/main" id="{A61BE800-9640-4A58-BBFD-2E71CD5E7177}"/>
              </a:ext>
            </a:extLst>
          </p:cNvPr>
          <p:cNvSpPr txBox="1">
            <a:spLocks noChangeArrowheads="1"/>
          </p:cNvSpPr>
          <p:nvPr/>
        </p:nvSpPr>
        <p:spPr bwMode="auto">
          <a:xfrm>
            <a:off x="3359150" y="2836863"/>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rgbClr val="6600FF"/>
                </a:solidFill>
                <a:latin typeface="Tahoma" panose="020B0604030504040204" pitchFamily="34" charset="0"/>
                <a:ea typeface="隶书" panose="02010509060101010101" pitchFamily="49" charset="-122"/>
              </a:rPr>
              <a:t>+H</a:t>
            </a:r>
            <a:r>
              <a:rPr kumimoji="1" lang="en-US" altLang="zh-CN" baseline="30000">
                <a:solidFill>
                  <a:srgbClr val="6600FF"/>
                </a:solidFill>
                <a:latin typeface="Tahoma" panose="020B0604030504040204" pitchFamily="34" charset="0"/>
                <a:ea typeface="隶书" panose="02010509060101010101" pitchFamily="49" charset="-122"/>
              </a:rPr>
              <a:t>+</a:t>
            </a:r>
          </a:p>
        </p:txBody>
      </p:sp>
      <p:sp>
        <p:nvSpPr>
          <p:cNvPr id="114699" name="Text Box 11">
            <a:extLst>
              <a:ext uri="{FF2B5EF4-FFF2-40B4-BE49-F238E27FC236}">
                <a16:creationId xmlns:a16="http://schemas.microsoft.com/office/drawing/2014/main" id="{FB45E5D3-8C8F-43C4-A442-D32C38EDBCC1}"/>
              </a:ext>
            </a:extLst>
          </p:cNvPr>
          <p:cNvSpPr txBox="1">
            <a:spLocks noChangeArrowheads="1"/>
          </p:cNvSpPr>
          <p:nvPr/>
        </p:nvSpPr>
        <p:spPr bwMode="auto">
          <a:xfrm>
            <a:off x="6096000" y="2693988"/>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rgbClr val="6600FF"/>
                </a:solidFill>
                <a:latin typeface="Tahoma" panose="020B0604030504040204" pitchFamily="34" charset="0"/>
                <a:ea typeface="隶书" panose="02010509060101010101" pitchFamily="49" charset="-122"/>
              </a:rPr>
              <a:t>+H</a:t>
            </a:r>
            <a:r>
              <a:rPr kumimoji="1" lang="en-US" altLang="zh-CN" baseline="30000">
                <a:solidFill>
                  <a:srgbClr val="6600FF"/>
                </a:solidFill>
                <a:latin typeface="Tahoma" panose="020B0604030504040204" pitchFamily="34" charset="0"/>
                <a:ea typeface="隶书" panose="02010509060101010101" pitchFamily="49" charset="-122"/>
              </a:rPr>
              <a:t>+</a:t>
            </a:r>
          </a:p>
        </p:txBody>
      </p:sp>
      <p:sp>
        <p:nvSpPr>
          <p:cNvPr id="114700" name="Line 12">
            <a:extLst>
              <a:ext uri="{FF2B5EF4-FFF2-40B4-BE49-F238E27FC236}">
                <a16:creationId xmlns:a16="http://schemas.microsoft.com/office/drawing/2014/main" id="{6F347380-31E3-4744-8339-0CA0D4CB5305}"/>
              </a:ext>
            </a:extLst>
          </p:cNvPr>
          <p:cNvSpPr>
            <a:spLocks noChangeShapeType="1"/>
          </p:cNvSpPr>
          <p:nvPr/>
        </p:nvSpPr>
        <p:spPr bwMode="auto">
          <a:xfrm>
            <a:off x="3143250" y="2693989"/>
            <a:ext cx="287338" cy="2873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4701" name="Text Box 13">
            <a:extLst>
              <a:ext uri="{FF2B5EF4-FFF2-40B4-BE49-F238E27FC236}">
                <a16:creationId xmlns:a16="http://schemas.microsoft.com/office/drawing/2014/main" id="{6F1EF58F-A82E-4C6F-9EAA-3DF3B51E39AC}"/>
              </a:ext>
            </a:extLst>
          </p:cNvPr>
          <p:cNvSpPr txBox="1">
            <a:spLocks noChangeArrowheads="1"/>
          </p:cNvSpPr>
          <p:nvPr/>
        </p:nvSpPr>
        <p:spPr bwMode="auto">
          <a:xfrm>
            <a:off x="8832850" y="2765425"/>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rgbClr val="6600FF"/>
                </a:solidFill>
                <a:latin typeface="Tahoma" panose="020B0604030504040204" pitchFamily="34" charset="0"/>
                <a:ea typeface="隶书" panose="02010509060101010101" pitchFamily="49" charset="-122"/>
              </a:rPr>
              <a:t>+H</a:t>
            </a:r>
            <a:r>
              <a:rPr kumimoji="1" lang="en-US" altLang="zh-CN" baseline="30000">
                <a:solidFill>
                  <a:srgbClr val="6600FF"/>
                </a:solidFill>
                <a:latin typeface="Tahoma" panose="020B0604030504040204" pitchFamily="34" charset="0"/>
                <a:ea typeface="隶书" panose="02010509060101010101" pitchFamily="49" charset="-122"/>
              </a:rPr>
              <a:t>+</a:t>
            </a:r>
          </a:p>
        </p:txBody>
      </p:sp>
      <p:sp>
        <p:nvSpPr>
          <p:cNvPr id="114702" name="Line 14">
            <a:extLst>
              <a:ext uri="{FF2B5EF4-FFF2-40B4-BE49-F238E27FC236}">
                <a16:creationId xmlns:a16="http://schemas.microsoft.com/office/drawing/2014/main" id="{BA89B425-3AFA-43FC-B33D-8B94CB7038F4}"/>
              </a:ext>
            </a:extLst>
          </p:cNvPr>
          <p:cNvSpPr>
            <a:spLocks noChangeShapeType="1"/>
          </p:cNvSpPr>
          <p:nvPr/>
        </p:nvSpPr>
        <p:spPr bwMode="auto">
          <a:xfrm>
            <a:off x="8616950" y="2622550"/>
            <a:ext cx="287338" cy="2873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4703" name="Line 15">
            <a:extLst>
              <a:ext uri="{FF2B5EF4-FFF2-40B4-BE49-F238E27FC236}">
                <a16:creationId xmlns:a16="http://schemas.microsoft.com/office/drawing/2014/main" id="{1035FF95-42A8-4D9D-B7A8-12CC62C2A504}"/>
              </a:ext>
            </a:extLst>
          </p:cNvPr>
          <p:cNvSpPr>
            <a:spLocks noChangeShapeType="1"/>
          </p:cNvSpPr>
          <p:nvPr/>
        </p:nvSpPr>
        <p:spPr bwMode="auto">
          <a:xfrm>
            <a:off x="5880100" y="2620964"/>
            <a:ext cx="287338" cy="2873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4704" name="Text Box 19">
            <a:extLst>
              <a:ext uri="{FF2B5EF4-FFF2-40B4-BE49-F238E27FC236}">
                <a16:creationId xmlns:a16="http://schemas.microsoft.com/office/drawing/2014/main" id="{E5C9C8D9-EAAF-4D44-8A7A-64647D4E8ECB}"/>
              </a:ext>
            </a:extLst>
          </p:cNvPr>
          <p:cNvSpPr txBox="1">
            <a:spLocks noChangeArrowheads="1"/>
          </p:cNvSpPr>
          <p:nvPr/>
        </p:nvSpPr>
        <p:spPr bwMode="auto">
          <a:xfrm>
            <a:off x="2855914" y="3316288"/>
            <a:ext cx="936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50000"/>
              </a:spcBef>
              <a:buClrTx/>
              <a:buFontTx/>
              <a:buNone/>
            </a:pPr>
            <a:r>
              <a:rPr lang="en-US" altLang="zh-CN" sz="2400">
                <a:solidFill>
                  <a:schemeClr val="tx1"/>
                </a:solidFill>
                <a:latin typeface="Tahoma" panose="020B0604030504040204" pitchFamily="34" charset="0"/>
                <a:ea typeface="宋体" panose="02010600030101010101" pitchFamily="2" charset="-122"/>
              </a:rPr>
              <a:t>2.18</a:t>
            </a:r>
          </a:p>
        </p:txBody>
      </p:sp>
      <p:sp>
        <p:nvSpPr>
          <p:cNvPr id="114705" name="Text Box 20">
            <a:extLst>
              <a:ext uri="{FF2B5EF4-FFF2-40B4-BE49-F238E27FC236}">
                <a16:creationId xmlns:a16="http://schemas.microsoft.com/office/drawing/2014/main" id="{FBAD5233-8FED-4861-9220-5F085F925CAB}"/>
              </a:ext>
            </a:extLst>
          </p:cNvPr>
          <p:cNvSpPr txBox="1">
            <a:spLocks noChangeArrowheads="1"/>
          </p:cNvSpPr>
          <p:nvPr/>
        </p:nvSpPr>
        <p:spPr bwMode="auto">
          <a:xfrm>
            <a:off x="5591176" y="3316288"/>
            <a:ext cx="936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50000"/>
              </a:spcBef>
              <a:buClrTx/>
              <a:buFontTx/>
              <a:buNone/>
            </a:pPr>
            <a:r>
              <a:rPr lang="en-US" altLang="zh-CN" sz="2400">
                <a:solidFill>
                  <a:schemeClr val="tx1"/>
                </a:solidFill>
                <a:latin typeface="Tahoma" panose="020B0604030504040204" pitchFamily="34" charset="0"/>
                <a:ea typeface="宋体" panose="02010600030101010101" pitchFamily="2" charset="-122"/>
              </a:rPr>
              <a:t>8.95</a:t>
            </a:r>
          </a:p>
        </p:txBody>
      </p:sp>
      <p:sp>
        <p:nvSpPr>
          <p:cNvPr id="114706" name="Text Box 21">
            <a:extLst>
              <a:ext uri="{FF2B5EF4-FFF2-40B4-BE49-F238E27FC236}">
                <a16:creationId xmlns:a16="http://schemas.microsoft.com/office/drawing/2014/main" id="{4548A174-18A9-4FBD-9DA5-04622FC77F3E}"/>
              </a:ext>
            </a:extLst>
          </p:cNvPr>
          <p:cNvSpPr txBox="1">
            <a:spLocks noChangeArrowheads="1"/>
          </p:cNvSpPr>
          <p:nvPr/>
        </p:nvSpPr>
        <p:spPr bwMode="auto">
          <a:xfrm>
            <a:off x="8040688" y="3387725"/>
            <a:ext cx="1079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50000"/>
              </a:spcBef>
              <a:buClrTx/>
              <a:buFontTx/>
              <a:buNone/>
            </a:pPr>
            <a:r>
              <a:rPr lang="en-US" altLang="zh-CN" sz="2400">
                <a:solidFill>
                  <a:schemeClr val="tx1"/>
                </a:solidFill>
                <a:latin typeface="Tahoma" panose="020B0604030504040204" pitchFamily="34" charset="0"/>
                <a:ea typeface="宋体" panose="02010600030101010101" pitchFamily="2" charset="-122"/>
              </a:rPr>
              <a:t>10.53</a:t>
            </a:r>
          </a:p>
        </p:txBody>
      </p:sp>
      <p:sp>
        <p:nvSpPr>
          <p:cNvPr id="569366" name="Text Box 22">
            <a:extLst>
              <a:ext uri="{FF2B5EF4-FFF2-40B4-BE49-F238E27FC236}">
                <a16:creationId xmlns:a16="http://schemas.microsoft.com/office/drawing/2014/main" id="{CAD560FE-DD55-4651-BC1D-558A9E5816D8}"/>
              </a:ext>
            </a:extLst>
          </p:cNvPr>
          <p:cNvSpPr txBox="1">
            <a:spLocks noChangeArrowheads="1"/>
          </p:cNvSpPr>
          <p:nvPr/>
        </p:nvSpPr>
        <p:spPr bwMode="auto">
          <a:xfrm>
            <a:off x="6096000" y="5853113"/>
            <a:ext cx="4032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50000"/>
              </a:spcBef>
              <a:buClrTx/>
              <a:buFontTx/>
              <a:buNone/>
            </a:pPr>
            <a:r>
              <a:rPr lang="en-US" altLang="zh-CN">
                <a:solidFill>
                  <a:schemeClr val="tx1"/>
                </a:solidFill>
                <a:ea typeface="宋体" panose="02010600030101010101" pitchFamily="2" charset="-122"/>
              </a:rPr>
              <a:t>pI=(8.95+10.53)/2=9.74</a:t>
            </a:r>
          </a:p>
        </p:txBody>
      </p:sp>
      <p:sp>
        <p:nvSpPr>
          <p:cNvPr id="114708" name="Text Box 23">
            <a:extLst>
              <a:ext uri="{FF2B5EF4-FFF2-40B4-BE49-F238E27FC236}">
                <a16:creationId xmlns:a16="http://schemas.microsoft.com/office/drawing/2014/main" id="{8C4ED261-0B02-42BF-9F36-7F33587D7EFD}"/>
              </a:ext>
            </a:extLst>
          </p:cNvPr>
          <p:cNvSpPr txBox="1">
            <a:spLocks noChangeArrowheads="1"/>
          </p:cNvSpPr>
          <p:nvPr/>
        </p:nvSpPr>
        <p:spPr bwMode="auto">
          <a:xfrm>
            <a:off x="1919289" y="112713"/>
            <a:ext cx="41052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50000"/>
              </a:spcBef>
              <a:buClrTx/>
              <a:buFontTx/>
              <a:buNone/>
            </a:pPr>
            <a:r>
              <a:rPr lang="zh-CN" altLang="en-US" sz="3600">
                <a:solidFill>
                  <a:schemeClr val="bg1"/>
                </a:solidFill>
                <a:latin typeface="黑体" panose="02010609060101010101" pitchFamily="49" charset="-122"/>
              </a:rPr>
              <a:t>碱性氨基酸</a:t>
            </a:r>
            <a:r>
              <a:rPr lang="en-US" altLang="zh-CN" sz="3600">
                <a:solidFill>
                  <a:schemeClr val="bg1"/>
                </a:solidFill>
              </a:rPr>
              <a:t>pI</a:t>
            </a:r>
            <a:r>
              <a:rPr lang="zh-CN" altLang="en-US" sz="3600">
                <a:solidFill>
                  <a:schemeClr val="bg1"/>
                </a:solidFill>
                <a:latin typeface="黑体" panose="02010609060101010101" pitchFamily="49" charset="-122"/>
              </a:rPr>
              <a:t>计算</a:t>
            </a:r>
          </a:p>
        </p:txBody>
      </p:sp>
      <p:sp>
        <p:nvSpPr>
          <p:cNvPr id="569368" name="Rectangle 24">
            <a:extLst>
              <a:ext uri="{FF2B5EF4-FFF2-40B4-BE49-F238E27FC236}">
                <a16:creationId xmlns:a16="http://schemas.microsoft.com/office/drawing/2014/main" id="{D5B06590-1EA9-4C4F-A14A-BF1B3045A884}"/>
              </a:ext>
            </a:extLst>
          </p:cNvPr>
          <p:cNvSpPr>
            <a:spLocks noChangeArrowheads="1"/>
          </p:cNvSpPr>
          <p:nvPr/>
        </p:nvSpPr>
        <p:spPr bwMode="auto">
          <a:xfrm>
            <a:off x="2063751" y="5661025"/>
            <a:ext cx="3191899" cy="721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70000"/>
              </a:lnSpc>
              <a:buSzPct val="110000"/>
              <a:buFont typeface="Wingdings" panose="05000000000000000000" pitchFamily="2" charset="2"/>
              <a:buNone/>
            </a:pPr>
            <a:r>
              <a:rPr kumimoji="1" lang="en-US" altLang="zh-CN">
                <a:solidFill>
                  <a:srgbClr val="0000CC"/>
                </a:solidFill>
                <a:ea typeface="宋体" panose="02010600030101010101" pitchFamily="2" charset="-122"/>
              </a:rPr>
              <a:t>pI=1/2</a:t>
            </a:r>
            <a:r>
              <a:rPr kumimoji="1" lang="zh-CN" altLang="en-US">
                <a:solidFill>
                  <a:srgbClr val="0000CC"/>
                </a:solidFill>
                <a:ea typeface="宋体" panose="02010600030101010101" pitchFamily="2" charset="-122"/>
              </a:rPr>
              <a:t>（</a:t>
            </a:r>
            <a:r>
              <a:rPr kumimoji="1" lang="en-US" altLang="zh-CN">
                <a:solidFill>
                  <a:srgbClr val="0000CC"/>
                </a:solidFill>
                <a:ea typeface="宋体" panose="02010600030101010101" pitchFamily="2" charset="-122"/>
              </a:rPr>
              <a:t>pK2+pK3)</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69368"/>
                                        </p:tgtEl>
                                        <p:attrNameLst>
                                          <p:attrName>style.visibility</p:attrName>
                                        </p:attrNameLst>
                                      </p:cBhvr>
                                      <p:to>
                                        <p:strVal val="visible"/>
                                      </p:to>
                                    </p:set>
                                    <p:animEffect transition="in" filter="box(in)">
                                      <p:cBhvr>
                                        <p:cTn id="7" dur="500"/>
                                        <p:tgtEl>
                                          <p:spTgt spid="5693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569366">
                                            <p:txEl>
                                              <p:pRg st="0" end="0"/>
                                            </p:txEl>
                                          </p:spTgt>
                                        </p:tgtEl>
                                        <p:attrNameLst>
                                          <p:attrName>style.visibility</p:attrName>
                                        </p:attrNameLst>
                                      </p:cBhvr>
                                      <p:to>
                                        <p:strVal val="visible"/>
                                      </p:to>
                                    </p:set>
                                    <p:animEffect transition="in" filter="wipe(down)">
                                      <p:cBhvr>
                                        <p:cTn id="12" dur="500"/>
                                        <p:tgtEl>
                                          <p:spTgt spid="56936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936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4">
            <a:extLst>
              <a:ext uri="{FF2B5EF4-FFF2-40B4-BE49-F238E27FC236}">
                <a16:creationId xmlns:a16="http://schemas.microsoft.com/office/drawing/2014/main" id="{9A0F9005-F21F-4663-834C-4A5A41B894D7}"/>
              </a:ext>
            </a:extLst>
          </p:cNvPr>
          <p:cNvSpPr>
            <a:spLocks noChangeArrowheads="1"/>
          </p:cNvSpPr>
          <p:nvPr/>
        </p:nvSpPr>
        <p:spPr bwMode="auto">
          <a:xfrm>
            <a:off x="2495550" y="1058864"/>
            <a:ext cx="5126038" cy="130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30000"/>
              </a:lnSpc>
              <a:spcBef>
                <a:spcPct val="0"/>
              </a:spcBef>
              <a:buClrTx/>
              <a:buFontTx/>
              <a:buNone/>
            </a:pPr>
            <a:r>
              <a:rPr kumimoji="1" lang="en-US" altLang="zh-CN" sz="3200">
                <a:solidFill>
                  <a:srgbClr val="0000CC"/>
                </a:solidFill>
              </a:rPr>
              <a:t>1. </a:t>
            </a:r>
            <a:r>
              <a:rPr kumimoji="1" lang="zh-CN" altLang="en-US" sz="3200">
                <a:solidFill>
                  <a:srgbClr val="0000CC"/>
                </a:solidFill>
              </a:rPr>
              <a:t>电泳分离氨基酸</a:t>
            </a:r>
          </a:p>
          <a:p>
            <a:pPr eaLnBrk="1" hangingPunct="1">
              <a:lnSpc>
                <a:spcPct val="130000"/>
              </a:lnSpc>
              <a:spcBef>
                <a:spcPct val="0"/>
              </a:spcBef>
              <a:buClrTx/>
              <a:buFontTx/>
              <a:buNone/>
            </a:pPr>
            <a:r>
              <a:rPr kumimoji="1" lang="en-US" altLang="zh-CN" sz="3200">
                <a:solidFill>
                  <a:srgbClr val="0000CC"/>
                </a:solidFill>
              </a:rPr>
              <a:t>2. </a:t>
            </a:r>
            <a:r>
              <a:rPr kumimoji="1" lang="zh-CN" altLang="en-US" sz="3200">
                <a:solidFill>
                  <a:srgbClr val="0000CC"/>
                </a:solidFill>
              </a:rPr>
              <a:t>离子交换树脂分离氨基酸</a:t>
            </a:r>
          </a:p>
        </p:txBody>
      </p:sp>
      <p:sp>
        <p:nvSpPr>
          <p:cNvPr id="449541" name="Rectangle 5">
            <a:extLst>
              <a:ext uri="{FF2B5EF4-FFF2-40B4-BE49-F238E27FC236}">
                <a16:creationId xmlns:a16="http://schemas.microsoft.com/office/drawing/2014/main" id="{B77AFB66-1333-4852-9AD3-33A64D8A3F70}"/>
              </a:ext>
            </a:extLst>
          </p:cNvPr>
          <p:cNvSpPr>
            <a:spLocks noChangeArrowheads="1"/>
          </p:cNvSpPr>
          <p:nvPr/>
        </p:nvSpPr>
        <p:spPr bwMode="auto">
          <a:xfrm>
            <a:off x="1415480" y="2571751"/>
            <a:ext cx="9361039" cy="150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10000"/>
              </a:lnSpc>
              <a:spcBef>
                <a:spcPct val="0"/>
              </a:spcBef>
              <a:buClrTx/>
              <a:buFontTx/>
              <a:buNone/>
            </a:pPr>
            <a:r>
              <a:rPr lang="zh-CN" altLang="en-GB" dirty="0">
                <a:solidFill>
                  <a:schemeClr val="tx1"/>
                </a:solidFill>
              </a:rPr>
              <a:t>例：有一混合氨基酸溶液，各种氨基酸的</a:t>
            </a:r>
            <a:r>
              <a:rPr lang="en-GB" altLang="zh-CN" dirty="0" err="1">
                <a:solidFill>
                  <a:schemeClr val="tx1"/>
                </a:solidFill>
              </a:rPr>
              <a:t>pI</a:t>
            </a:r>
            <a:r>
              <a:rPr lang="zh-CN" altLang="en-US" dirty="0">
                <a:solidFill>
                  <a:schemeClr val="tx1"/>
                </a:solidFill>
              </a:rPr>
              <a:t>分别</a:t>
            </a:r>
            <a:r>
              <a:rPr lang="zh-CN" altLang="en-GB" dirty="0">
                <a:solidFill>
                  <a:schemeClr val="tx1"/>
                </a:solidFill>
              </a:rPr>
              <a:t>为</a:t>
            </a:r>
            <a:r>
              <a:rPr lang="en-GB" altLang="zh-CN" dirty="0">
                <a:solidFill>
                  <a:schemeClr val="tx1"/>
                </a:solidFill>
              </a:rPr>
              <a:t>4.6</a:t>
            </a:r>
            <a:r>
              <a:rPr lang="zh-CN" altLang="en-US" dirty="0">
                <a:solidFill>
                  <a:schemeClr val="tx1"/>
                </a:solidFill>
              </a:rPr>
              <a:t>，</a:t>
            </a:r>
            <a:r>
              <a:rPr lang="en-GB" altLang="zh-CN" dirty="0">
                <a:solidFill>
                  <a:schemeClr val="tx1"/>
                </a:solidFill>
              </a:rPr>
              <a:t>5.0</a:t>
            </a:r>
            <a:r>
              <a:rPr lang="zh-CN" altLang="en-US" dirty="0">
                <a:solidFill>
                  <a:schemeClr val="tx1"/>
                </a:solidFill>
              </a:rPr>
              <a:t>，</a:t>
            </a:r>
            <a:r>
              <a:rPr lang="en-GB" altLang="zh-CN" dirty="0">
                <a:solidFill>
                  <a:schemeClr val="tx1"/>
                </a:solidFill>
              </a:rPr>
              <a:t>5.3</a:t>
            </a:r>
            <a:r>
              <a:rPr lang="zh-CN" altLang="en-US" dirty="0">
                <a:solidFill>
                  <a:schemeClr val="tx1"/>
                </a:solidFill>
              </a:rPr>
              <a:t>，</a:t>
            </a:r>
            <a:r>
              <a:rPr lang="en-GB" altLang="zh-CN" dirty="0">
                <a:solidFill>
                  <a:schemeClr val="tx1"/>
                </a:solidFill>
              </a:rPr>
              <a:t>6.7</a:t>
            </a:r>
            <a:r>
              <a:rPr lang="zh-CN" altLang="en-US" dirty="0">
                <a:solidFill>
                  <a:schemeClr val="tx1"/>
                </a:solidFill>
              </a:rPr>
              <a:t>，</a:t>
            </a:r>
            <a:r>
              <a:rPr lang="en-GB" altLang="zh-CN" dirty="0">
                <a:solidFill>
                  <a:schemeClr val="tx1"/>
                </a:solidFill>
              </a:rPr>
              <a:t>7.3</a:t>
            </a:r>
            <a:r>
              <a:rPr lang="zh-CN" altLang="en-GB" dirty="0">
                <a:solidFill>
                  <a:schemeClr val="tx1"/>
                </a:solidFill>
              </a:rPr>
              <a:t>。电泳时欲使其中</a:t>
            </a:r>
            <a:r>
              <a:rPr lang="en-GB" altLang="zh-CN" dirty="0">
                <a:solidFill>
                  <a:schemeClr val="tx1"/>
                </a:solidFill>
              </a:rPr>
              <a:t>4</a:t>
            </a:r>
            <a:r>
              <a:rPr lang="zh-CN" altLang="en-GB" dirty="0">
                <a:solidFill>
                  <a:schemeClr val="tx1"/>
                </a:solidFill>
              </a:rPr>
              <a:t>种泳向正极，缓冲液的</a:t>
            </a:r>
            <a:r>
              <a:rPr lang="en-GB" altLang="zh-CN" dirty="0">
                <a:solidFill>
                  <a:schemeClr val="tx1"/>
                </a:solidFill>
              </a:rPr>
              <a:t>pH</a:t>
            </a:r>
            <a:r>
              <a:rPr lang="zh-CN" altLang="en-GB" dirty="0">
                <a:solidFill>
                  <a:schemeClr val="tx1"/>
                </a:solidFill>
              </a:rPr>
              <a:t>应该是：</a:t>
            </a:r>
            <a:endParaRPr lang="zh-CN" altLang="en-US" dirty="0">
              <a:solidFill>
                <a:schemeClr val="tx1"/>
              </a:solidFill>
            </a:endParaRPr>
          </a:p>
        </p:txBody>
      </p:sp>
      <p:sp>
        <p:nvSpPr>
          <p:cNvPr id="449542" name="Rectangle 6">
            <a:extLst>
              <a:ext uri="{FF2B5EF4-FFF2-40B4-BE49-F238E27FC236}">
                <a16:creationId xmlns:a16="http://schemas.microsoft.com/office/drawing/2014/main" id="{04794A96-B230-4D6A-9578-D964A329A94A}"/>
              </a:ext>
            </a:extLst>
          </p:cNvPr>
          <p:cNvSpPr>
            <a:spLocks noRot="1" noChangeArrowheads="1"/>
          </p:cNvSpPr>
          <p:nvPr/>
        </p:nvSpPr>
        <p:spPr bwMode="auto">
          <a:xfrm>
            <a:off x="2783632" y="4283076"/>
            <a:ext cx="2590800" cy="2087563"/>
          </a:xfrm>
          <a:prstGeom prst="rect">
            <a:avLst/>
          </a:prstGeom>
          <a:noFill/>
          <a:ln w="9525">
            <a:solidFill>
              <a:schemeClr val="folHlink"/>
            </a:solidFill>
            <a:miter lim="800000"/>
            <a:headEnd/>
            <a:tailEnd/>
          </a:ln>
        </p:spPr>
        <p:txBody>
          <a:bodyPr/>
          <a:lstStyle>
            <a:lvl1pPr marL="609600" indent="-609600">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marL="82550" indent="-82550" eaLnBrk="1" hangingPunct="1">
              <a:lnSpc>
                <a:spcPct val="80000"/>
              </a:lnSpc>
              <a:buClr>
                <a:srgbClr val="006600"/>
              </a:buClr>
              <a:buNone/>
              <a:defRPr/>
            </a:pPr>
            <a:r>
              <a:rPr lang="en-GB" altLang="zh-CN" dirty="0">
                <a:solidFill>
                  <a:schemeClr val="tx1"/>
                </a:solidFill>
              </a:rPr>
              <a:t>A</a:t>
            </a:r>
            <a:r>
              <a:rPr lang="zh-CN" altLang="en-GB" dirty="0">
                <a:solidFill>
                  <a:schemeClr val="tx1"/>
                </a:solidFill>
              </a:rPr>
              <a:t>．  </a:t>
            </a:r>
            <a:r>
              <a:rPr lang="en-GB" altLang="zh-CN" dirty="0">
                <a:solidFill>
                  <a:schemeClr val="tx1"/>
                </a:solidFill>
              </a:rPr>
              <a:t>4.2   </a:t>
            </a:r>
          </a:p>
          <a:p>
            <a:pPr marL="0" indent="0" eaLnBrk="1" hangingPunct="1">
              <a:lnSpc>
                <a:spcPct val="80000"/>
              </a:lnSpc>
              <a:buClr>
                <a:srgbClr val="006600"/>
              </a:buClr>
              <a:buNone/>
              <a:defRPr/>
            </a:pPr>
            <a:r>
              <a:rPr lang="en-GB" altLang="zh-CN" dirty="0">
                <a:solidFill>
                  <a:schemeClr val="tx1"/>
                </a:solidFill>
              </a:rPr>
              <a:t>B. </a:t>
            </a:r>
            <a:r>
              <a:rPr lang="zh-CN" altLang="en-GB" dirty="0">
                <a:solidFill>
                  <a:schemeClr val="tx1"/>
                </a:solidFill>
              </a:rPr>
              <a:t>　</a:t>
            </a:r>
            <a:r>
              <a:rPr lang="en-GB" altLang="zh-CN" dirty="0">
                <a:solidFill>
                  <a:schemeClr val="tx1"/>
                </a:solidFill>
              </a:rPr>
              <a:t>4.8  </a:t>
            </a:r>
          </a:p>
          <a:p>
            <a:pPr marL="0" indent="0" eaLnBrk="1" hangingPunct="1">
              <a:lnSpc>
                <a:spcPct val="80000"/>
              </a:lnSpc>
              <a:buClr>
                <a:srgbClr val="006600"/>
              </a:buClr>
              <a:buNone/>
              <a:defRPr/>
            </a:pPr>
            <a:r>
              <a:rPr lang="en-GB" altLang="zh-CN" dirty="0">
                <a:solidFill>
                  <a:schemeClr val="tx1"/>
                </a:solidFill>
              </a:rPr>
              <a:t>C. </a:t>
            </a:r>
            <a:r>
              <a:rPr lang="zh-CN" altLang="en-GB" dirty="0">
                <a:solidFill>
                  <a:schemeClr val="tx1"/>
                </a:solidFill>
              </a:rPr>
              <a:t>　</a:t>
            </a:r>
            <a:r>
              <a:rPr lang="en-GB" altLang="zh-CN" dirty="0">
                <a:solidFill>
                  <a:schemeClr val="tx1"/>
                </a:solidFill>
              </a:rPr>
              <a:t>6.2  </a:t>
            </a:r>
          </a:p>
          <a:p>
            <a:pPr marL="0" indent="0" eaLnBrk="1" hangingPunct="1">
              <a:lnSpc>
                <a:spcPct val="80000"/>
              </a:lnSpc>
              <a:buClr>
                <a:srgbClr val="006600"/>
              </a:buClr>
              <a:buNone/>
              <a:defRPr/>
            </a:pPr>
            <a:r>
              <a:rPr lang="en-GB" altLang="zh-CN" dirty="0">
                <a:solidFill>
                  <a:schemeClr val="tx1"/>
                </a:solidFill>
              </a:rPr>
              <a:t>D. </a:t>
            </a:r>
            <a:r>
              <a:rPr lang="zh-CN" altLang="en-GB" dirty="0">
                <a:solidFill>
                  <a:schemeClr val="tx1"/>
                </a:solidFill>
              </a:rPr>
              <a:t>　</a:t>
            </a:r>
            <a:r>
              <a:rPr lang="en-GB" altLang="zh-CN" dirty="0">
                <a:solidFill>
                  <a:schemeClr val="tx1"/>
                </a:solidFill>
              </a:rPr>
              <a:t>7.2  </a:t>
            </a:r>
          </a:p>
          <a:p>
            <a:pPr marL="0" indent="0" eaLnBrk="1" hangingPunct="1">
              <a:lnSpc>
                <a:spcPct val="80000"/>
              </a:lnSpc>
              <a:buClr>
                <a:srgbClr val="006600"/>
              </a:buClr>
              <a:buNone/>
              <a:defRPr/>
            </a:pPr>
            <a:r>
              <a:rPr lang="en-GB" altLang="zh-CN" dirty="0">
                <a:solidFill>
                  <a:schemeClr val="tx1"/>
                </a:solidFill>
              </a:rPr>
              <a:t>E.</a:t>
            </a:r>
            <a:r>
              <a:rPr lang="zh-CN" altLang="en-GB" dirty="0">
                <a:solidFill>
                  <a:schemeClr val="tx1"/>
                </a:solidFill>
              </a:rPr>
              <a:t>　 </a:t>
            </a:r>
            <a:r>
              <a:rPr lang="en-GB" altLang="zh-CN" dirty="0">
                <a:solidFill>
                  <a:schemeClr val="tx1"/>
                </a:solidFill>
              </a:rPr>
              <a:t>8.2</a:t>
            </a:r>
            <a:endParaRPr lang="en-US" altLang="zh-CN" dirty="0">
              <a:solidFill>
                <a:schemeClr val="tx1"/>
              </a:solidFill>
            </a:endParaRPr>
          </a:p>
        </p:txBody>
      </p:sp>
      <p:sp>
        <p:nvSpPr>
          <p:cNvPr id="2" name="文本框 1">
            <a:extLst>
              <a:ext uri="{FF2B5EF4-FFF2-40B4-BE49-F238E27FC236}">
                <a16:creationId xmlns:a16="http://schemas.microsoft.com/office/drawing/2014/main" id="{36BF4775-6B54-46E9-9F71-0B5B9E4C1BAD}"/>
              </a:ext>
            </a:extLst>
          </p:cNvPr>
          <p:cNvSpPr txBox="1">
            <a:spLocks noChangeArrowheads="1"/>
          </p:cNvSpPr>
          <p:nvPr/>
        </p:nvSpPr>
        <p:spPr bwMode="auto">
          <a:xfrm>
            <a:off x="6527801" y="3895725"/>
            <a:ext cx="13684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n-US" altLang="zh-CN" sz="3200" b="0">
                <a:solidFill>
                  <a:srgbClr val="C00000"/>
                </a:solidFill>
                <a:latin typeface="Arial" panose="020B0604020202020204" pitchFamily="34" charset="0"/>
                <a:ea typeface="宋体" panose="02010600030101010101" pitchFamily="2" charset="-122"/>
              </a:rPr>
              <a:t>D</a:t>
            </a:r>
            <a:endParaRPr lang="zh-CN" altLang="en-US" sz="3200" b="0">
              <a:solidFill>
                <a:srgbClr val="C00000"/>
              </a:solidFill>
              <a:latin typeface="Arial" panose="020B0604020202020204" pitchFamily="34" charset="0"/>
              <a:ea typeface="宋体" panose="02010600030101010101" pitchFamily="2" charset="-122"/>
            </a:endParaRPr>
          </a:p>
        </p:txBody>
      </p:sp>
      <p:sp>
        <p:nvSpPr>
          <p:cNvPr id="3" name="标题 2">
            <a:extLst>
              <a:ext uri="{FF2B5EF4-FFF2-40B4-BE49-F238E27FC236}">
                <a16:creationId xmlns:a16="http://schemas.microsoft.com/office/drawing/2014/main" id="{C241C0C2-E545-470C-89F6-0AC91F282E5E}"/>
              </a:ext>
            </a:extLst>
          </p:cNvPr>
          <p:cNvSpPr>
            <a:spLocks noGrp="1"/>
          </p:cNvSpPr>
          <p:nvPr>
            <p:ph type="title"/>
          </p:nvPr>
        </p:nvSpPr>
        <p:spPr>
          <a:xfrm>
            <a:off x="2135189" y="219076"/>
            <a:ext cx="5761037" cy="563563"/>
          </a:xfrm>
        </p:spPr>
        <p:txBody>
          <a:bodyPr/>
          <a:lstStyle/>
          <a:p>
            <a:pPr>
              <a:defRPr/>
            </a:pPr>
            <a:r>
              <a:rPr kumimoji="1" lang="zh-CN" altLang="en-US" dirty="0">
                <a:solidFill>
                  <a:schemeClr val="accent3"/>
                </a:solidFill>
              </a:rPr>
              <a:t>等电点的应用</a:t>
            </a:r>
            <a:endParaRPr lang="zh-CN" altLang="en-US" dirty="0">
              <a:solidFill>
                <a:schemeClr val="accent3"/>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49541"/>
                                        </p:tgtEl>
                                        <p:attrNameLst>
                                          <p:attrName>style.visibility</p:attrName>
                                        </p:attrNameLst>
                                      </p:cBhvr>
                                      <p:to>
                                        <p:strVal val="visible"/>
                                      </p:to>
                                    </p:set>
                                    <p:animEffect transition="in" filter="dissolve">
                                      <p:cBhvr>
                                        <p:cTn id="7" dur="500"/>
                                        <p:tgtEl>
                                          <p:spTgt spid="449541"/>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49542"/>
                                        </p:tgtEl>
                                        <p:attrNameLst>
                                          <p:attrName>style.visibility</p:attrName>
                                        </p:attrNameLst>
                                      </p:cBhvr>
                                      <p:to>
                                        <p:strVal val="visible"/>
                                      </p:to>
                                    </p:set>
                                    <p:animEffect transition="in" filter="dissolve">
                                      <p:cBhvr>
                                        <p:cTn id="10" dur="500"/>
                                        <p:tgtEl>
                                          <p:spTgt spid="44954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9541" grpId="0"/>
      <p:bldP spid="449542" grpId="0" animBg="1"/>
      <p:bldP spid="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ext Box 2">
            <a:extLst>
              <a:ext uri="{FF2B5EF4-FFF2-40B4-BE49-F238E27FC236}">
                <a16:creationId xmlns:a16="http://schemas.microsoft.com/office/drawing/2014/main" id="{A47235C9-EB1E-4AE7-BF56-9F18AF5972CE}"/>
              </a:ext>
            </a:extLst>
          </p:cNvPr>
          <p:cNvSpPr txBox="1">
            <a:spLocks noChangeArrowheads="1"/>
          </p:cNvSpPr>
          <p:nvPr/>
        </p:nvSpPr>
        <p:spPr bwMode="auto">
          <a:xfrm>
            <a:off x="1919288" y="188913"/>
            <a:ext cx="32004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kumimoji="1" lang="en-US" altLang="zh-CN" sz="3600">
                <a:solidFill>
                  <a:schemeClr val="bg1"/>
                </a:solidFill>
              </a:rPr>
              <a:t>2. </a:t>
            </a:r>
            <a:r>
              <a:rPr kumimoji="1" lang="zh-CN" altLang="en-US" sz="3600">
                <a:solidFill>
                  <a:schemeClr val="bg1"/>
                </a:solidFill>
              </a:rPr>
              <a:t>紫外吸收</a:t>
            </a:r>
          </a:p>
        </p:txBody>
      </p:sp>
      <p:sp>
        <p:nvSpPr>
          <p:cNvPr id="118787" name="Text Box 3">
            <a:extLst>
              <a:ext uri="{FF2B5EF4-FFF2-40B4-BE49-F238E27FC236}">
                <a16:creationId xmlns:a16="http://schemas.microsoft.com/office/drawing/2014/main" id="{A4F21C78-9554-4976-81DA-CA51A58CABD3}"/>
              </a:ext>
            </a:extLst>
          </p:cNvPr>
          <p:cNvSpPr txBox="1">
            <a:spLocks noChangeArrowheads="1"/>
          </p:cNvSpPr>
          <p:nvPr/>
        </p:nvSpPr>
        <p:spPr bwMode="auto">
          <a:xfrm>
            <a:off x="1052059" y="1484784"/>
            <a:ext cx="6048672" cy="2434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indent="714375">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indent="0" eaLnBrk="1" hangingPunct="1">
              <a:lnSpc>
                <a:spcPct val="140000"/>
              </a:lnSpc>
              <a:spcBef>
                <a:spcPct val="50000"/>
              </a:spcBef>
              <a:buClrTx/>
              <a:buFontTx/>
              <a:buNone/>
            </a:pPr>
            <a:r>
              <a:rPr kumimoji="1" lang="zh-CN" altLang="en-US" b="0" dirty="0">
                <a:solidFill>
                  <a:srgbClr val="FF0000"/>
                </a:solidFill>
              </a:rPr>
              <a:t>色氨酸</a:t>
            </a:r>
            <a:r>
              <a:rPr kumimoji="1" lang="zh-CN" altLang="en-US" b="0" dirty="0">
                <a:solidFill>
                  <a:schemeClr val="tx1"/>
                </a:solidFill>
              </a:rPr>
              <a:t>与</a:t>
            </a:r>
            <a:r>
              <a:rPr kumimoji="1" lang="zh-CN" altLang="en-US" b="0" dirty="0">
                <a:solidFill>
                  <a:srgbClr val="FF0000"/>
                </a:solidFill>
              </a:rPr>
              <a:t>酪氨酸</a:t>
            </a:r>
            <a:r>
              <a:rPr kumimoji="1" lang="zh-CN" altLang="en-US" b="0" dirty="0">
                <a:solidFill>
                  <a:schemeClr val="tx1"/>
                </a:solidFill>
              </a:rPr>
              <a:t>分子中有</a:t>
            </a:r>
            <a:r>
              <a:rPr kumimoji="1" lang="zh-CN" altLang="en-US" b="0" u="sng" dirty="0">
                <a:solidFill>
                  <a:srgbClr val="006600"/>
                </a:solidFill>
              </a:rPr>
              <a:t>共轭双键</a:t>
            </a:r>
            <a:r>
              <a:rPr kumimoji="1" lang="zh-CN" altLang="en-US" b="0" dirty="0">
                <a:solidFill>
                  <a:schemeClr val="tx1"/>
                </a:solidFill>
              </a:rPr>
              <a:t>而对紫外光有吸收作用，最大吸收峰在 </a:t>
            </a:r>
            <a:r>
              <a:rPr kumimoji="1" lang="en-US" altLang="zh-CN" b="0" dirty="0">
                <a:solidFill>
                  <a:srgbClr val="FF0000"/>
                </a:solidFill>
              </a:rPr>
              <a:t>280 nm</a:t>
            </a:r>
            <a:r>
              <a:rPr kumimoji="1" lang="en-US" altLang="zh-CN" b="0" dirty="0">
                <a:solidFill>
                  <a:srgbClr val="CC0099"/>
                </a:solidFill>
              </a:rPr>
              <a:t> </a:t>
            </a:r>
            <a:r>
              <a:rPr kumimoji="1" lang="zh-CN" altLang="en-US" b="0" dirty="0">
                <a:solidFill>
                  <a:schemeClr val="tx1"/>
                </a:solidFill>
              </a:rPr>
              <a:t>附近</a:t>
            </a:r>
            <a:r>
              <a:rPr kumimoji="1" lang="zh-CN" altLang="en-US" sz="2400" b="0" dirty="0">
                <a:solidFill>
                  <a:schemeClr val="tx1"/>
                </a:solidFill>
              </a:rPr>
              <a:t>，</a:t>
            </a:r>
            <a:r>
              <a:rPr kumimoji="1" lang="zh-CN" altLang="en-US" b="0" dirty="0">
                <a:solidFill>
                  <a:schemeClr val="tx1"/>
                </a:solidFill>
              </a:rPr>
              <a:t>且光吸收强度（</a:t>
            </a:r>
            <a:r>
              <a:rPr kumimoji="1" lang="en-US" altLang="zh-CN" b="0" dirty="0">
                <a:solidFill>
                  <a:srgbClr val="FF0000"/>
                </a:solidFill>
              </a:rPr>
              <a:t>A</a:t>
            </a:r>
            <a:r>
              <a:rPr kumimoji="1" lang="en-US" altLang="zh-CN" b="0" baseline="-25000" dirty="0">
                <a:solidFill>
                  <a:srgbClr val="FF0000"/>
                </a:solidFill>
              </a:rPr>
              <a:t>280</a:t>
            </a:r>
            <a:r>
              <a:rPr kumimoji="1" lang="en-US" altLang="zh-CN" b="0" dirty="0">
                <a:solidFill>
                  <a:schemeClr val="tx1"/>
                </a:solidFill>
              </a:rPr>
              <a:t>)</a:t>
            </a:r>
            <a:r>
              <a:rPr kumimoji="1" lang="zh-CN" altLang="en-US" b="0" dirty="0">
                <a:solidFill>
                  <a:schemeClr val="tx1"/>
                </a:solidFill>
              </a:rPr>
              <a:t>与氨基酸浓度成正比。</a:t>
            </a:r>
          </a:p>
        </p:txBody>
      </p:sp>
      <p:grpSp>
        <p:nvGrpSpPr>
          <p:cNvPr id="118788" name="Group 1032">
            <a:extLst>
              <a:ext uri="{FF2B5EF4-FFF2-40B4-BE49-F238E27FC236}">
                <a16:creationId xmlns:a16="http://schemas.microsoft.com/office/drawing/2014/main" id="{62555230-FD71-4145-B58A-EF706541E1B9}"/>
              </a:ext>
            </a:extLst>
          </p:cNvPr>
          <p:cNvGrpSpPr>
            <a:grpSpLocks/>
          </p:cNvGrpSpPr>
          <p:nvPr/>
        </p:nvGrpSpPr>
        <p:grpSpPr bwMode="auto">
          <a:xfrm>
            <a:off x="7824712" y="1268760"/>
            <a:ext cx="3671888" cy="4940300"/>
            <a:chOff x="3198" y="709"/>
            <a:chExt cx="2449" cy="3301"/>
          </a:xfrm>
        </p:grpSpPr>
        <p:sp>
          <p:nvSpPr>
            <p:cNvPr id="118790" name="Text Box 1028">
              <a:extLst>
                <a:ext uri="{FF2B5EF4-FFF2-40B4-BE49-F238E27FC236}">
                  <a16:creationId xmlns:a16="http://schemas.microsoft.com/office/drawing/2014/main" id="{C1CBEB8D-8909-4AA1-A960-66544486ED54}"/>
                </a:ext>
              </a:extLst>
            </p:cNvPr>
            <p:cNvSpPr txBox="1">
              <a:spLocks noChangeArrowheads="1"/>
            </p:cNvSpPr>
            <p:nvPr/>
          </p:nvSpPr>
          <p:spPr bwMode="auto">
            <a:xfrm>
              <a:off x="3243" y="3702"/>
              <a:ext cx="2404"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lang="zh-CN" altLang="en-US" sz="2400" b="0">
                  <a:solidFill>
                    <a:srgbClr val="006600"/>
                  </a:solidFill>
                  <a:latin typeface="Tahoma" panose="020B0604030504040204" pitchFamily="34" charset="0"/>
                </a:rPr>
                <a:t>芳香族氨基酸的紫外吸收</a:t>
              </a:r>
            </a:p>
          </p:txBody>
        </p:sp>
        <p:grpSp>
          <p:nvGrpSpPr>
            <p:cNvPr id="118791" name="Group 1031">
              <a:extLst>
                <a:ext uri="{FF2B5EF4-FFF2-40B4-BE49-F238E27FC236}">
                  <a16:creationId xmlns:a16="http://schemas.microsoft.com/office/drawing/2014/main" id="{24FE185C-5B87-42AF-A3F4-88E992BFB87F}"/>
                </a:ext>
              </a:extLst>
            </p:cNvPr>
            <p:cNvGrpSpPr>
              <a:grpSpLocks/>
            </p:cNvGrpSpPr>
            <p:nvPr/>
          </p:nvGrpSpPr>
          <p:grpSpPr bwMode="auto">
            <a:xfrm>
              <a:off x="3198" y="709"/>
              <a:ext cx="2223" cy="2948"/>
              <a:chOff x="3061" y="572"/>
              <a:chExt cx="2295" cy="3221"/>
            </a:xfrm>
          </p:grpSpPr>
          <p:pic>
            <p:nvPicPr>
              <p:cNvPr id="118792" name="Picture 1027" descr="aa的紫外吸收">
                <a:extLst>
                  <a:ext uri="{FF2B5EF4-FFF2-40B4-BE49-F238E27FC236}">
                    <a16:creationId xmlns:a16="http://schemas.microsoft.com/office/drawing/2014/main" id="{8A317D65-1C76-44CD-ADDF-7BE249113CDF}"/>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061" y="572"/>
                <a:ext cx="2295" cy="3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8793" name="Freeform 1029">
                <a:extLst>
                  <a:ext uri="{FF2B5EF4-FFF2-40B4-BE49-F238E27FC236}">
                    <a16:creationId xmlns:a16="http://schemas.microsoft.com/office/drawing/2014/main" id="{BEA04C6D-E044-45D1-A04C-89B5CA2140BE}"/>
                  </a:ext>
                </a:extLst>
              </p:cNvPr>
              <p:cNvSpPr>
                <a:spLocks/>
              </p:cNvSpPr>
              <p:nvPr/>
            </p:nvSpPr>
            <p:spPr bwMode="auto">
              <a:xfrm>
                <a:off x="3379" y="3332"/>
                <a:ext cx="1376" cy="189"/>
              </a:xfrm>
              <a:custGeom>
                <a:avLst/>
                <a:gdLst>
                  <a:gd name="T0" fmla="*/ 0 w 1376"/>
                  <a:gd name="T1" fmla="*/ 189 h 189"/>
                  <a:gd name="T2" fmla="*/ 227 w 1376"/>
                  <a:gd name="T3" fmla="*/ 53 h 189"/>
                  <a:gd name="T4" fmla="*/ 408 w 1376"/>
                  <a:gd name="T5" fmla="*/ 98 h 189"/>
                  <a:gd name="T6" fmla="*/ 680 w 1376"/>
                  <a:gd name="T7" fmla="*/ 7 h 189"/>
                  <a:gd name="T8" fmla="*/ 1270 w 1376"/>
                  <a:gd name="T9" fmla="*/ 143 h 189"/>
                  <a:gd name="T10" fmla="*/ 1315 w 1376"/>
                  <a:gd name="T11" fmla="*/ 189 h 189"/>
                  <a:gd name="T12" fmla="*/ 0 60000 65536"/>
                  <a:gd name="T13" fmla="*/ 0 60000 65536"/>
                  <a:gd name="T14" fmla="*/ 0 60000 65536"/>
                  <a:gd name="T15" fmla="*/ 0 60000 65536"/>
                  <a:gd name="T16" fmla="*/ 0 60000 65536"/>
                  <a:gd name="T17" fmla="*/ 0 60000 65536"/>
                  <a:gd name="T18" fmla="*/ 0 w 1376"/>
                  <a:gd name="T19" fmla="*/ 0 h 189"/>
                  <a:gd name="T20" fmla="*/ 1376 w 1376"/>
                  <a:gd name="T21" fmla="*/ 189 h 189"/>
                </a:gdLst>
                <a:ahLst/>
                <a:cxnLst>
                  <a:cxn ang="T12">
                    <a:pos x="T0" y="T1"/>
                  </a:cxn>
                  <a:cxn ang="T13">
                    <a:pos x="T2" y="T3"/>
                  </a:cxn>
                  <a:cxn ang="T14">
                    <a:pos x="T4" y="T5"/>
                  </a:cxn>
                  <a:cxn ang="T15">
                    <a:pos x="T6" y="T7"/>
                  </a:cxn>
                  <a:cxn ang="T16">
                    <a:pos x="T8" y="T9"/>
                  </a:cxn>
                  <a:cxn ang="T17">
                    <a:pos x="T10" y="T11"/>
                  </a:cxn>
                </a:cxnLst>
                <a:rect l="T18" t="T19" r="T20" b="T21"/>
                <a:pathLst>
                  <a:path w="1376" h="189">
                    <a:moveTo>
                      <a:pt x="0" y="189"/>
                    </a:moveTo>
                    <a:cubicBezTo>
                      <a:pt x="79" y="128"/>
                      <a:pt x="159" y="68"/>
                      <a:pt x="227" y="53"/>
                    </a:cubicBezTo>
                    <a:cubicBezTo>
                      <a:pt x="295" y="38"/>
                      <a:pt x="333" y="106"/>
                      <a:pt x="408" y="98"/>
                    </a:cubicBezTo>
                    <a:cubicBezTo>
                      <a:pt x="483" y="90"/>
                      <a:pt x="536" y="0"/>
                      <a:pt x="680" y="7"/>
                    </a:cubicBezTo>
                    <a:cubicBezTo>
                      <a:pt x="824" y="14"/>
                      <a:pt x="1164" y="113"/>
                      <a:pt x="1270" y="143"/>
                    </a:cubicBezTo>
                    <a:cubicBezTo>
                      <a:pt x="1376" y="173"/>
                      <a:pt x="1308" y="181"/>
                      <a:pt x="1315" y="189"/>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18794" name="Text Box 1030">
                <a:extLst>
                  <a:ext uri="{FF2B5EF4-FFF2-40B4-BE49-F238E27FC236}">
                    <a16:creationId xmlns:a16="http://schemas.microsoft.com/office/drawing/2014/main" id="{C09CFA13-4571-4010-B6D4-4F68587BF42C}"/>
                  </a:ext>
                </a:extLst>
              </p:cNvPr>
              <p:cNvSpPr txBox="1">
                <a:spLocks noChangeArrowheads="1"/>
              </p:cNvSpPr>
              <p:nvPr/>
            </p:nvSpPr>
            <p:spPr bwMode="auto">
              <a:xfrm>
                <a:off x="3970" y="3203"/>
                <a:ext cx="634"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sz="1400" b="0">
                    <a:solidFill>
                      <a:srgbClr val="000000"/>
                    </a:solidFill>
                    <a:latin typeface="Arial" panose="020B0604020202020204" pitchFamily="34" charset="0"/>
                    <a:ea typeface="华文楷体" panose="02010600040101010101" pitchFamily="2" charset="-122"/>
                  </a:rPr>
                  <a:t>苯丙氨酸</a:t>
                </a:r>
              </a:p>
            </p:txBody>
          </p:sp>
        </p:grpSp>
      </p:grpSp>
      <p:sp>
        <p:nvSpPr>
          <p:cNvPr id="273417" name="Text Box 1033">
            <a:extLst>
              <a:ext uri="{FF2B5EF4-FFF2-40B4-BE49-F238E27FC236}">
                <a16:creationId xmlns:a16="http://schemas.microsoft.com/office/drawing/2014/main" id="{D1773066-E32F-4B00-9CF0-82C47601246D}"/>
              </a:ext>
            </a:extLst>
          </p:cNvPr>
          <p:cNvSpPr txBox="1">
            <a:spLocks noChangeArrowheads="1"/>
          </p:cNvSpPr>
          <p:nvPr/>
        </p:nvSpPr>
        <p:spPr bwMode="auto">
          <a:xfrm>
            <a:off x="1052059" y="4149080"/>
            <a:ext cx="511256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b="0" dirty="0">
                <a:solidFill>
                  <a:schemeClr val="tx1"/>
                </a:solidFill>
              </a:rPr>
              <a:t>可用于</a:t>
            </a:r>
            <a:r>
              <a:rPr kumimoji="1" lang="zh-CN" altLang="en-US" b="0" dirty="0">
                <a:solidFill>
                  <a:srgbClr val="FF0000"/>
                </a:solidFill>
              </a:rPr>
              <a:t>快速测定蛋白质含量。</a:t>
            </a:r>
          </a:p>
        </p:txBody>
      </p:sp>
      <p:sp>
        <p:nvSpPr>
          <p:cNvPr id="3" name="文本框 2">
            <a:extLst>
              <a:ext uri="{FF2B5EF4-FFF2-40B4-BE49-F238E27FC236}">
                <a16:creationId xmlns:a16="http://schemas.microsoft.com/office/drawing/2014/main" id="{A63FDD2E-5C7C-DB7A-DE1C-BAA239034D6B}"/>
              </a:ext>
            </a:extLst>
          </p:cNvPr>
          <p:cNvSpPr txBox="1"/>
          <p:nvPr/>
        </p:nvSpPr>
        <p:spPr>
          <a:xfrm>
            <a:off x="1019431" y="5138906"/>
            <a:ext cx="6113928" cy="830997"/>
          </a:xfrm>
          <a:prstGeom prst="rect">
            <a:avLst/>
          </a:prstGeom>
          <a:noFill/>
        </p:spPr>
        <p:txBody>
          <a:bodyPr wrap="square">
            <a:spAutoFit/>
          </a:bodyPr>
          <a:lstStyle/>
          <a:p>
            <a:r>
              <a:rPr kumimoji="1" lang="zh-CN" altLang="en-US" sz="2400" dirty="0">
                <a:latin typeface="Times New Roman" panose="02020603050405020304" pitchFamily="18" charset="0"/>
                <a:ea typeface="黑体" panose="02010609060101010101" pitchFamily="49" charset="-122"/>
              </a:rPr>
              <a:t>苯丙氨酸对</a:t>
            </a:r>
            <a:r>
              <a:rPr kumimoji="1" lang="en-US" altLang="zh-CN" sz="2400" dirty="0">
                <a:latin typeface="Times New Roman" panose="02020603050405020304" pitchFamily="18" charset="0"/>
                <a:ea typeface="黑体" panose="02010609060101010101" pitchFamily="49" charset="-122"/>
              </a:rPr>
              <a:t>280nm</a:t>
            </a:r>
            <a:r>
              <a:rPr kumimoji="1" lang="zh-CN" altLang="en-US" sz="2400" dirty="0">
                <a:latin typeface="Times New Roman" panose="02020603050405020304" pitchFamily="18" charset="0"/>
                <a:ea typeface="黑体" panose="02010609060101010101" pitchFamily="49" charset="-122"/>
              </a:rPr>
              <a:t>光线的吸收很弱，几乎可以忽略。 </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34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1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705267E5-E9CB-4FEE-8706-E37373E014F3}"/>
              </a:ext>
            </a:extLst>
          </p:cNvPr>
          <p:cNvSpPr>
            <a:spLocks noChangeArrowheads="1"/>
          </p:cNvSpPr>
          <p:nvPr/>
        </p:nvSpPr>
        <p:spPr bwMode="auto">
          <a:xfrm>
            <a:off x="1919288" y="115888"/>
            <a:ext cx="48768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kumimoji="1" lang="en-US" altLang="zh-CN" sz="3600">
                <a:solidFill>
                  <a:schemeClr val="bg1"/>
                </a:solidFill>
              </a:rPr>
              <a:t>3. </a:t>
            </a:r>
            <a:r>
              <a:rPr kumimoji="1" lang="zh-CN" altLang="en-US" sz="3600">
                <a:solidFill>
                  <a:schemeClr val="bg1"/>
                </a:solidFill>
              </a:rPr>
              <a:t>茚三酮反应</a:t>
            </a:r>
            <a:r>
              <a:rPr kumimoji="1" lang="zh-CN" altLang="en-US" sz="3600">
                <a:solidFill>
                  <a:schemeClr val="tx2"/>
                </a:solidFill>
              </a:rPr>
              <a:t> </a:t>
            </a:r>
          </a:p>
        </p:txBody>
      </p:sp>
      <p:sp>
        <p:nvSpPr>
          <p:cNvPr id="21507" name="Text Box 3">
            <a:extLst>
              <a:ext uri="{FF2B5EF4-FFF2-40B4-BE49-F238E27FC236}">
                <a16:creationId xmlns:a16="http://schemas.microsoft.com/office/drawing/2014/main" id="{0A8A49E1-6DD5-4C9F-8509-201C01784F36}"/>
              </a:ext>
            </a:extLst>
          </p:cNvPr>
          <p:cNvSpPr txBox="1">
            <a:spLocks noChangeArrowheads="1"/>
          </p:cNvSpPr>
          <p:nvPr/>
        </p:nvSpPr>
        <p:spPr bwMode="auto">
          <a:xfrm>
            <a:off x="2208214" y="1003300"/>
            <a:ext cx="7991475"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just" eaLnBrk="1" hangingPunct="1">
              <a:spcBef>
                <a:spcPct val="50000"/>
              </a:spcBef>
              <a:buClrTx/>
              <a:buFontTx/>
              <a:buNone/>
            </a:pPr>
            <a:r>
              <a:rPr kumimoji="1" lang="zh-CN" altLang="en-US" b="0" dirty="0">
                <a:solidFill>
                  <a:schemeClr val="tx1"/>
                </a:solidFill>
                <a:latin typeface="微软雅黑" panose="020B0503020204020204" pitchFamily="34" charset="-122"/>
                <a:ea typeface="微软雅黑" panose="020B0503020204020204" pitchFamily="34" charset="-122"/>
              </a:rPr>
              <a:t>氨基酸与茚三酮水合物共热，生成</a:t>
            </a:r>
            <a:r>
              <a:rPr kumimoji="1" lang="zh-CN" altLang="en-US" b="0" dirty="0">
                <a:solidFill>
                  <a:srgbClr val="660066"/>
                </a:solidFill>
                <a:latin typeface="微软雅黑" panose="020B0503020204020204" pitchFamily="34" charset="-122"/>
                <a:ea typeface="微软雅黑" panose="020B0503020204020204" pitchFamily="34" charset="-122"/>
              </a:rPr>
              <a:t>蓝紫色化合物</a:t>
            </a:r>
            <a:r>
              <a:rPr kumimoji="1" lang="zh-CN" altLang="en-US" b="0" dirty="0">
                <a:solidFill>
                  <a:schemeClr val="tx1"/>
                </a:solidFill>
                <a:latin typeface="微软雅黑" panose="020B0503020204020204" pitchFamily="34" charset="-122"/>
                <a:ea typeface="微软雅黑" panose="020B0503020204020204" pitchFamily="34" charset="-122"/>
              </a:rPr>
              <a:t>。</a:t>
            </a:r>
            <a:endParaRPr kumimoji="1" lang="en-US" altLang="zh-CN" b="0" dirty="0">
              <a:solidFill>
                <a:schemeClr val="tx1"/>
              </a:solidFill>
              <a:latin typeface="微软雅黑" panose="020B0503020204020204" pitchFamily="34" charset="-122"/>
              <a:ea typeface="微软雅黑" panose="020B0503020204020204" pitchFamily="34" charset="-122"/>
            </a:endParaRPr>
          </a:p>
          <a:p>
            <a:pPr algn="just" eaLnBrk="1" hangingPunct="1">
              <a:spcBef>
                <a:spcPct val="50000"/>
              </a:spcBef>
              <a:buClrTx/>
              <a:buFontTx/>
              <a:buNone/>
            </a:pPr>
            <a:r>
              <a:rPr kumimoji="1" lang="zh-CN" altLang="en-US" sz="2400" b="0" dirty="0">
                <a:solidFill>
                  <a:schemeClr val="tx1"/>
                </a:solidFill>
                <a:latin typeface="微软雅黑" panose="020B0503020204020204" pitchFamily="34" charset="-122"/>
                <a:ea typeface="微软雅黑" panose="020B0503020204020204" pitchFamily="34" charset="-122"/>
              </a:rPr>
              <a:t>例外：与</a:t>
            </a:r>
            <a:r>
              <a:rPr kumimoji="1" lang="en-US" altLang="zh-CN" sz="2400" b="0" dirty="0">
                <a:solidFill>
                  <a:schemeClr val="tx1"/>
                </a:solidFill>
                <a:latin typeface="微软雅黑" panose="020B0503020204020204" pitchFamily="34" charset="-122"/>
                <a:ea typeface="微软雅黑" panose="020B0503020204020204" pitchFamily="34" charset="-122"/>
              </a:rPr>
              <a:t>Pro</a:t>
            </a:r>
            <a:r>
              <a:rPr kumimoji="1" lang="zh-CN" altLang="en-US" sz="2400" b="0" dirty="0">
                <a:solidFill>
                  <a:schemeClr val="tx1"/>
                </a:solidFill>
                <a:latin typeface="微软雅黑" panose="020B0503020204020204" pitchFamily="34" charset="-122"/>
                <a:ea typeface="微软雅黑" panose="020B0503020204020204" pitchFamily="34" charset="-122"/>
              </a:rPr>
              <a:t>生成黄色物质，与 </a:t>
            </a:r>
            <a:r>
              <a:rPr kumimoji="1" lang="en-US" altLang="zh-CN" sz="2400" b="0" dirty="0">
                <a:solidFill>
                  <a:schemeClr val="tx1"/>
                </a:solidFill>
                <a:latin typeface="微软雅黑" panose="020B0503020204020204" pitchFamily="34" charset="-122"/>
                <a:ea typeface="微软雅黑" panose="020B0503020204020204" pitchFamily="34" charset="-122"/>
              </a:rPr>
              <a:t>Gln</a:t>
            </a:r>
            <a:r>
              <a:rPr kumimoji="1" lang="zh-CN" altLang="en-US" sz="2400" b="0" dirty="0">
                <a:solidFill>
                  <a:schemeClr val="tx1"/>
                </a:solidFill>
                <a:latin typeface="微软雅黑" panose="020B0503020204020204" pitchFamily="34" charset="-122"/>
                <a:ea typeface="微软雅黑" panose="020B0503020204020204" pitchFamily="34" charset="-122"/>
              </a:rPr>
              <a:t>、</a:t>
            </a:r>
            <a:r>
              <a:rPr kumimoji="1" lang="en-US" altLang="zh-CN" sz="2400" b="0" dirty="0" err="1">
                <a:solidFill>
                  <a:schemeClr val="tx1"/>
                </a:solidFill>
                <a:latin typeface="微软雅黑" panose="020B0503020204020204" pitchFamily="34" charset="-122"/>
                <a:ea typeface="微软雅黑" panose="020B0503020204020204" pitchFamily="34" charset="-122"/>
              </a:rPr>
              <a:t>Asn</a:t>
            </a:r>
            <a:r>
              <a:rPr kumimoji="1" lang="zh-CN" altLang="en-US" sz="2400" b="0" dirty="0">
                <a:solidFill>
                  <a:schemeClr val="tx1"/>
                </a:solidFill>
                <a:latin typeface="微软雅黑" panose="020B0503020204020204" pitchFamily="34" charset="-122"/>
                <a:ea typeface="微软雅黑" panose="020B0503020204020204" pitchFamily="34" charset="-122"/>
              </a:rPr>
              <a:t>生成棕色物质。</a:t>
            </a:r>
          </a:p>
        </p:txBody>
      </p:sp>
      <p:pic>
        <p:nvPicPr>
          <p:cNvPr id="201731" name="Picture 3" descr="Pict0007">
            <a:extLst>
              <a:ext uri="{FF2B5EF4-FFF2-40B4-BE49-F238E27FC236}">
                <a16:creationId xmlns:a16="http://schemas.microsoft.com/office/drawing/2014/main" id="{507EB219-A011-4BFA-9620-E1C683C789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0086"/>
          <a:stretch>
            <a:fillRect/>
          </a:stretch>
        </p:blipFill>
        <p:spPr bwMode="auto">
          <a:xfrm>
            <a:off x="2711450" y="2276476"/>
            <a:ext cx="6840538" cy="324167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01732" name="Rectangle 4">
            <a:extLst>
              <a:ext uri="{FF2B5EF4-FFF2-40B4-BE49-F238E27FC236}">
                <a16:creationId xmlns:a16="http://schemas.microsoft.com/office/drawing/2014/main" id="{051038BA-5BDD-4AD2-805A-4B7C986E98BB}"/>
              </a:ext>
            </a:extLst>
          </p:cNvPr>
          <p:cNvSpPr>
            <a:spLocks noChangeArrowheads="1"/>
          </p:cNvSpPr>
          <p:nvPr/>
        </p:nvSpPr>
        <p:spPr bwMode="auto">
          <a:xfrm>
            <a:off x="2855913" y="5661026"/>
            <a:ext cx="6076950" cy="954107"/>
          </a:xfrm>
          <a:prstGeom prst="rect">
            <a:avLst/>
          </a:prstGeom>
          <a:noFill/>
          <a:ln>
            <a:noFill/>
          </a:ln>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defRPr/>
            </a:pPr>
            <a:r>
              <a:rPr kumimoji="1" lang="zh-CN" altLang="en-US" b="0" dirty="0">
                <a:solidFill>
                  <a:srgbClr val="C00000"/>
                </a:solidFill>
              </a:rPr>
              <a:t>应用：</a:t>
            </a:r>
            <a:r>
              <a:rPr kumimoji="1" lang="zh-CN" altLang="en-US" b="0" dirty="0">
                <a:solidFill>
                  <a:srgbClr val="FF0000"/>
                </a:solidFill>
              </a:rPr>
              <a:t>氨基酸定量分析</a:t>
            </a:r>
            <a:r>
              <a:rPr kumimoji="1" lang="zh-CN" altLang="en-US" b="0" dirty="0">
                <a:solidFill>
                  <a:schemeClr val="tx1"/>
                </a:solidFill>
              </a:rPr>
              <a:t>； </a:t>
            </a:r>
            <a:endParaRPr kumimoji="1" lang="en-US" altLang="zh-CN" b="0" dirty="0">
              <a:solidFill>
                <a:schemeClr val="tx1"/>
              </a:solidFill>
            </a:endParaRPr>
          </a:p>
          <a:p>
            <a:pPr marL="1081088" indent="-1081088" eaLnBrk="1" hangingPunct="1">
              <a:spcBef>
                <a:spcPct val="0"/>
              </a:spcBef>
              <a:buClrTx/>
              <a:buNone/>
              <a:defRPr/>
            </a:pPr>
            <a:r>
              <a:rPr kumimoji="1" lang="zh-CN" altLang="en-US" b="0" dirty="0">
                <a:solidFill>
                  <a:schemeClr val="tx1"/>
                </a:solidFill>
              </a:rPr>
              <a:t>            采集犯罪现场留下来的指纹等</a:t>
            </a:r>
          </a:p>
        </p:txBody>
      </p:sp>
      <p:pic>
        <p:nvPicPr>
          <p:cNvPr id="110598" name="图片 1">
            <a:extLst>
              <a:ext uri="{FF2B5EF4-FFF2-40B4-BE49-F238E27FC236}">
                <a16:creationId xmlns:a16="http://schemas.microsoft.com/office/drawing/2014/main" id="{DF5E8EC3-06C0-4B66-9744-715D91593EE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932864" y="5661026"/>
            <a:ext cx="1743075"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grpId="0" nodeType="withEffect">
                                  <p:stCondLst>
                                    <p:cond delay="0"/>
                                  </p:stCondLst>
                                  <p:childTnLst>
                                    <p:set>
                                      <p:cBhvr>
                                        <p:cTn id="6" dur="1" fill="hold">
                                          <p:stCondLst>
                                            <p:cond delay="0"/>
                                          </p:stCondLst>
                                        </p:cTn>
                                        <p:tgtEl>
                                          <p:spTgt spid="21507"/>
                                        </p:tgtEl>
                                        <p:attrNameLst>
                                          <p:attrName>style.visibility</p:attrName>
                                        </p:attrNameLst>
                                      </p:cBhvr>
                                      <p:to>
                                        <p:strVal val="visible"/>
                                      </p:to>
                                    </p:set>
                                    <p:animEffect transition="in" filter="blinds(vertical)">
                                      <p:cBhvr>
                                        <p:cTn id="7" dur="500"/>
                                        <p:tgtEl>
                                          <p:spTgt spid="21507"/>
                                        </p:tgtEl>
                                      </p:cBhvr>
                                    </p:animEffect>
                                  </p:childTnLst>
                                </p:cTn>
                              </p:par>
                            </p:childTnLst>
                          </p:cTn>
                        </p:par>
                        <p:par>
                          <p:cTn id="8" fill="hold" nodeType="afterGroup">
                            <p:stCondLst>
                              <p:cond delay="500"/>
                            </p:stCondLst>
                            <p:childTnLst>
                              <p:par>
                                <p:cTn id="9" presetID="10" presetClass="entr" presetSubtype="0" fill="hold" nodeType="afterEffect">
                                  <p:stCondLst>
                                    <p:cond delay="0"/>
                                  </p:stCondLst>
                                  <p:childTnLst>
                                    <p:set>
                                      <p:cBhvr>
                                        <p:cTn id="10" dur="1" fill="hold">
                                          <p:stCondLst>
                                            <p:cond delay="0"/>
                                          </p:stCondLst>
                                        </p:cTn>
                                        <p:tgtEl>
                                          <p:spTgt spid="201731"/>
                                        </p:tgtEl>
                                        <p:attrNameLst>
                                          <p:attrName>style.visibility</p:attrName>
                                        </p:attrNameLst>
                                      </p:cBhvr>
                                      <p:to>
                                        <p:strVal val="visible"/>
                                      </p:to>
                                    </p:set>
                                    <p:animEffect transition="in" filter="fade">
                                      <p:cBhvr>
                                        <p:cTn id="11" dur="500"/>
                                        <p:tgtEl>
                                          <p:spTgt spid="20173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01732"/>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1105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autoUpdateAnimBg="0"/>
      <p:bldP spid="20173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圆角矩形 7">
            <a:extLst>
              <a:ext uri="{FF2B5EF4-FFF2-40B4-BE49-F238E27FC236}">
                <a16:creationId xmlns:a16="http://schemas.microsoft.com/office/drawing/2014/main" id="{0DD0AD20-38D1-4C96-9CF3-1AA3871C4B63}"/>
              </a:ext>
            </a:extLst>
          </p:cNvPr>
          <p:cNvSpPr>
            <a:spLocks noChangeArrowheads="1"/>
          </p:cNvSpPr>
          <p:nvPr/>
        </p:nvSpPr>
        <p:spPr bwMode="auto">
          <a:xfrm>
            <a:off x="1811338" y="44451"/>
            <a:ext cx="8532812" cy="779463"/>
          </a:xfrm>
          <a:prstGeom prst="roundRect">
            <a:avLst>
              <a:gd name="adj" fmla="val 16667"/>
            </a:avLst>
          </a:prstGeom>
          <a:solidFill>
            <a:srgbClr val="1D7ACF"/>
          </a:solidFill>
          <a:ln w="9525" algn="ctr">
            <a:solidFill>
              <a:srgbClr val="1D7ACF"/>
            </a:solidFill>
            <a:round/>
            <a:headEnd/>
            <a:tailEnd/>
          </a:ln>
        </p:spPr>
        <p:txBody>
          <a:bodyPr wrap="none"/>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sp>
        <p:nvSpPr>
          <p:cNvPr id="125955" name="标题 1">
            <a:extLst>
              <a:ext uri="{FF2B5EF4-FFF2-40B4-BE49-F238E27FC236}">
                <a16:creationId xmlns:a16="http://schemas.microsoft.com/office/drawing/2014/main" id="{77153302-740F-44CB-8BF0-017E17C3CE4E}"/>
              </a:ext>
            </a:extLst>
          </p:cNvPr>
          <p:cNvSpPr>
            <a:spLocks noGrp="1" noChangeArrowheads="1"/>
          </p:cNvSpPr>
          <p:nvPr>
            <p:ph type="title"/>
          </p:nvPr>
        </p:nvSpPr>
        <p:spPr>
          <a:xfrm>
            <a:off x="1774826" y="1"/>
            <a:ext cx="8424863" cy="823913"/>
          </a:xfrm>
        </p:spPr>
        <p:txBody>
          <a:bodyPr/>
          <a:lstStyle/>
          <a:p>
            <a:r>
              <a:rPr lang="zh-CN" altLang="en-US"/>
              <a:t>五、生物活性肽具有生理活性及多样性</a:t>
            </a:r>
          </a:p>
        </p:txBody>
      </p:sp>
      <p:sp>
        <p:nvSpPr>
          <p:cNvPr id="5" name="Rectangle 3">
            <a:extLst>
              <a:ext uri="{FF2B5EF4-FFF2-40B4-BE49-F238E27FC236}">
                <a16:creationId xmlns:a16="http://schemas.microsoft.com/office/drawing/2014/main" id="{B89408FC-E2A5-4213-A844-BF7A1CEFDF2A}"/>
              </a:ext>
            </a:extLst>
          </p:cNvPr>
          <p:cNvSpPr>
            <a:spLocks noChangeArrowheads="1"/>
          </p:cNvSpPr>
          <p:nvPr/>
        </p:nvSpPr>
        <p:spPr bwMode="auto">
          <a:xfrm>
            <a:off x="1559496" y="1989139"/>
            <a:ext cx="9073008" cy="410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57188" indent="-357188">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just" eaLnBrk="1" hangingPunct="1">
              <a:lnSpc>
                <a:spcPct val="120000"/>
              </a:lnSpc>
              <a:spcBef>
                <a:spcPct val="0"/>
              </a:spcBef>
              <a:buClrTx/>
              <a:buFont typeface="Arial" panose="020B0604020202020204" pitchFamily="34" charset="0"/>
              <a:buChar char="•"/>
            </a:pPr>
            <a:r>
              <a:rPr kumimoji="1" lang="zh-CN" altLang="en-US" b="0" dirty="0">
                <a:solidFill>
                  <a:schemeClr val="tx1"/>
                </a:solidFill>
              </a:rPr>
              <a:t>通常是由一个氨基酸的</a:t>
            </a:r>
            <a:r>
              <a:rPr kumimoji="1" lang="el-GR" altLang="zh-CN" b="0" dirty="0">
                <a:solidFill>
                  <a:srgbClr val="C00000"/>
                </a:solidFill>
                <a:sym typeface="Symbol" panose="05050102010706020507" pitchFamily="18" charset="2"/>
              </a:rPr>
              <a:t></a:t>
            </a:r>
            <a:r>
              <a:rPr kumimoji="1" lang="en-US" altLang="zh-CN" b="0" dirty="0">
                <a:solidFill>
                  <a:srgbClr val="C00000"/>
                </a:solidFill>
              </a:rPr>
              <a:t>-</a:t>
            </a:r>
            <a:r>
              <a:rPr kumimoji="1" lang="zh-CN" altLang="en-US" b="0" dirty="0">
                <a:solidFill>
                  <a:srgbClr val="C00000"/>
                </a:solidFill>
              </a:rPr>
              <a:t>羧基</a:t>
            </a:r>
            <a:r>
              <a:rPr kumimoji="1" lang="zh-CN" altLang="en-US" b="0" dirty="0">
                <a:solidFill>
                  <a:schemeClr val="tx1"/>
                </a:solidFill>
              </a:rPr>
              <a:t>与另一个氨基酸的</a:t>
            </a:r>
            <a:r>
              <a:rPr kumimoji="1" lang="el-GR" altLang="zh-CN" b="0" dirty="0">
                <a:solidFill>
                  <a:srgbClr val="C00000"/>
                </a:solidFill>
                <a:sym typeface="Symbol" panose="05050102010706020507" pitchFamily="18" charset="2"/>
              </a:rPr>
              <a:t></a:t>
            </a:r>
            <a:r>
              <a:rPr kumimoji="1" lang="en-US" altLang="zh-CN" b="0" dirty="0">
                <a:solidFill>
                  <a:srgbClr val="C00000"/>
                </a:solidFill>
              </a:rPr>
              <a:t>-</a:t>
            </a:r>
            <a:r>
              <a:rPr kumimoji="1" lang="zh-CN" altLang="en-US" b="0" dirty="0">
                <a:solidFill>
                  <a:srgbClr val="C00000"/>
                </a:solidFill>
              </a:rPr>
              <a:t>氨基</a:t>
            </a:r>
            <a:r>
              <a:rPr kumimoji="1" lang="zh-CN" altLang="en-US" b="0" dirty="0">
                <a:solidFill>
                  <a:srgbClr val="006600"/>
                </a:solidFill>
              </a:rPr>
              <a:t>脱水缩合</a:t>
            </a:r>
            <a:r>
              <a:rPr kumimoji="1" lang="zh-CN" altLang="en-US" b="0" dirty="0">
                <a:solidFill>
                  <a:schemeClr val="tx1"/>
                </a:solidFill>
              </a:rPr>
              <a:t>而成的</a:t>
            </a:r>
            <a:r>
              <a:rPr kumimoji="1" lang="zh-CN" altLang="en-US" b="0" dirty="0">
                <a:solidFill>
                  <a:srgbClr val="006600"/>
                </a:solidFill>
              </a:rPr>
              <a:t>酰胺键</a:t>
            </a:r>
            <a:r>
              <a:rPr kumimoji="1" lang="zh-CN" altLang="en-US" b="0" dirty="0">
                <a:solidFill>
                  <a:schemeClr val="tx1"/>
                </a:solidFill>
              </a:rPr>
              <a:t>，这类肽键又称为</a:t>
            </a:r>
            <a:r>
              <a:rPr kumimoji="1" lang="zh-CN" altLang="en-US" b="0" dirty="0">
                <a:solidFill>
                  <a:srgbClr val="0000CC"/>
                </a:solidFill>
              </a:rPr>
              <a:t>真肽键（</a:t>
            </a:r>
            <a:r>
              <a:rPr kumimoji="1" lang="en-US" altLang="zh-CN" b="0" dirty="0">
                <a:solidFill>
                  <a:srgbClr val="0000CC"/>
                </a:solidFill>
              </a:rPr>
              <a:t>eupeptide bond</a:t>
            </a:r>
            <a:r>
              <a:rPr kumimoji="1" lang="zh-CN" altLang="en-US" b="0" dirty="0">
                <a:solidFill>
                  <a:srgbClr val="0000CC"/>
                </a:solidFill>
              </a:rPr>
              <a:t>）</a:t>
            </a:r>
            <a:r>
              <a:rPr kumimoji="1" lang="zh-CN" altLang="en-US" b="0" dirty="0">
                <a:solidFill>
                  <a:schemeClr val="tx1"/>
                </a:solidFill>
              </a:rPr>
              <a:t>。</a:t>
            </a:r>
            <a:endParaRPr kumimoji="1" lang="en-US" altLang="zh-CN" b="0" dirty="0">
              <a:solidFill>
                <a:schemeClr val="tx1"/>
              </a:solidFill>
            </a:endParaRPr>
          </a:p>
          <a:p>
            <a:pPr algn="just" eaLnBrk="1" hangingPunct="1">
              <a:lnSpc>
                <a:spcPct val="120000"/>
              </a:lnSpc>
              <a:spcBef>
                <a:spcPct val="0"/>
              </a:spcBef>
              <a:buClrTx/>
              <a:buFont typeface="Arial" panose="020B0604020202020204" pitchFamily="34" charset="0"/>
              <a:buChar char="•"/>
            </a:pPr>
            <a:endParaRPr kumimoji="1" lang="en-US" altLang="zh-CN" b="0" dirty="0">
              <a:solidFill>
                <a:schemeClr val="tx1"/>
              </a:solidFill>
            </a:endParaRPr>
          </a:p>
          <a:p>
            <a:pPr algn="just" eaLnBrk="1" hangingPunct="1">
              <a:lnSpc>
                <a:spcPct val="140000"/>
              </a:lnSpc>
              <a:spcBef>
                <a:spcPct val="0"/>
              </a:spcBef>
              <a:buClrTx/>
              <a:buFont typeface="Arial" panose="020B0604020202020204" pitchFamily="34" charset="0"/>
              <a:buChar char="•"/>
            </a:pPr>
            <a:r>
              <a:rPr kumimoji="1" lang="zh-CN" altLang="en-US" b="0" dirty="0">
                <a:solidFill>
                  <a:schemeClr val="tx1"/>
                </a:solidFill>
              </a:rPr>
              <a:t>异肽键（</a:t>
            </a:r>
            <a:r>
              <a:rPr kumimoji="1" lang="en-US" altLang="zh-CN" b="0" dirty="0" err="1">
                <a:solidFill>
                  <a:schemeClr val="tx1"/>
                </a:solidFill>
              </a:rPr>
              <a:t>isopeptide</a:t>
            </a:r>
            <a:r>
              <a:rPr kumimoji="1" lang="en-US" altLang="zh-CN" b="0" dirty="0">
                <a:solidFill>
                  <a:schemeClr val="tx1"/>
                </a:solidFill>
              </a:rPr>
              <a:t> bond</a:t>
            </a:r>
            <a:r>
              <a:rPr kumimoji="1" lang="zh-CN" altLang="en-US" b="0" dirty="0">
                <a:solidFill>
                  <a:schemeClr val="tx1"/>
                </a:solidFill>
              </a:rPr>
              <a:t>）</a:t>
            </a:r>
            <a:r>
              <a:rPr kumimoji="1" lang="en-US" altLang="zh-CN" b="0" dirty="0">
                <a:solidFill>
                  <a:schemeClr val="tx1"/>
                </a:solidFill>
              </a:rPr>
              <a:t>: </a:t>
            </a:r>
            <a:r>
              <a:rPr kumimoji="1" lang="zh-CN" altLang="en-US" b="0" dirty="0">
                <a:solidFill>
                  <a:schemeClr val="tx1"/>
                </a:solidFill>
              </a:rPr>
              <a:t>两个氨基酸通过侧链羧基或侧链氨基形成的肽键。</a:t>
            </a:r>
          </a:p>
        </p:txBody>
      </p:sp>
      <p:sp>
        <p:nvSpPr>
          <p:cNvPr id="125957" name="Rectangle 4">
            <a:extLst>
              <a:ext uri="{FF2B5EF4-FFF2-40B4-BE49-F238E27FC236}">
                <a16:creationId xmlns:a16="http://schemas.microsoft.com/office/drawing/2014/main" id="{9D760D9E-8BB6-4485-9A37-42A80FDF0C61}"/>
              </a:ext>
            </a:extLst>
          </p:cNvPr>
          <p:cNvSpPr>
            <a:spLocks noChangeArrowheads="1"/>
          </p:cNvSpPr>
          <p:nvPr/>
        </p:nvSpPr>
        <p:spPr bwMode="auto">
          <a:xfrm>
            <a:off x="2063552" y="1196752"/>
            <a:ext cx="56165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3200" dirty="0">
                <a:solidFill>
                  <a:srgbClr val="006600"/>
                </a:solidFill>
              </a:rPr>
              <a:t>（一）肽键（</a:t>
            </a:r>
            <a:r>
              <a:rPr kumimoji="1" lang="en-US" altLang="zh-CN" sz="3200" dirty="0">
                <a:solidFill>
                  <a:srgbClr val="006600"/>
                </a:solidFill>
              </a:rPr>
              <a:t>peptide bond)</a:t>
            </a:r>
            <a:endParaRPr kumimoji="1" lang="zh-CN" altLang="en-US" sz="3200" dirty="0">
              <a:solidFill>
                <a:srgbClr val="006600"/>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2" name="Picture 2">
            <a:extLst>
              <a:ext uri="{FF2B5EF4-FFF2-40B4-BE49-F238E27FC236}">
                <a16:creationId xmlns:a16="http://schemas.microsoft.com/office/drawing/2014/main" id="{70CA5FE0-F03F-483F-80DA-9AEF9207E7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7350" y="836614"/>
            <a:ext cx="3240088" cy="225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8003" name="Object 3">
            <a:extLst>
              <a:ext uri="{FF2B5EF4-FFF2-40B4-BE49-F238E27FC236}">
                <a16:creationId xmlns:a16="http://schemas.microsoft.com/office/drawing/2014/main" id="{C994532F-7E7A-40D0-BF1C-6308C56D7E56}"/>
              </a:ext>
            </a:extLst>
          </p:cNvPr>
          <p:cNvGraphicFramePr>
            <a:graphicFrameLocks noChangeAspect="1"/>
          </p:cNvGraphicFramePr>
          <p:nvPr/>
        </p:nvGraphicFramePr>
        <p:xfrm>
          <a:off x="5951539" y="836614"/>
          <a:ext cx="3455987" cy="2174875"/>
        </p:xfrm>
        <a:graphic>
          <a:graphicData uri="http://schemas.openxmlformats.org/presentationml/2006/ole">
            <mc:AlternateContent xmlns:mc="http://schemas.openxmlformats.org/markup-compatibility/2006">
              <mc:Choice xmlns:v="urn:schemas-microsoft-com:vml" Requires="v">
                <p:oleObj name="Document" r:id="rId4" imgW="4286250" imgH="2695575" progId="ChemWindow.Document">
                  <p:embed/>
                </p:oleObj>
              </mc:Choice>
              <mc:Fallback>
                <p:oleObj name="Document" r:id="rId4" imgW="4286250" imgH="2695575" progId="ChemWindow.Document">
                  <p:embed/>
                  <p:pic>
                    <p:nvPicPr>
                      <p:cNvPr id="128003" name="Object 3">
                        <a:extLst>
                          <a:ext uri="{FF2B5EF4-FFF2-40B4-BE49-F238E27FC236}">
                            <a16:creationId xmlns:a16="http://schemas.microsoft.com/office/drawing/2014/main" id="{C994532F-7E7A-40D0-BF1C-6308C56D7E5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51539" y="836614"/>
                        <a:ext cx="3455987" cy="217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8004" name="Text Box 4">
            <a:extLst>
              <a:ext uri="{FF2B5EF4-FFF2-40B4-BE49-F238E27FC236}">
                <a16:creationId xmlns:a16="http://schemas.microsoft.com/office/drawing/2014/main" id="{8C0F5C5E-FED0-4B10-BFBD-4CB395CA2E94}"/>
              </a:ext>
            </a:extLst>
          </p:cNvPr>
          <p:cNvSpPr txBox="1">
            <a:spLocks noChangeArrowheads="1"/>
          </p:cNvSpPr>
          <p:nvPr/>
        </p:nvSpPr>
        <p:spPr bwMode="auto">
          <a:xfrm>
            <a:off x="5373689" y="1254125"/>
            <a:ext cx="4413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3600" b="0">
                <a:solidFill>
                  <a:schemeClr val="tx1"/>
                </a:solidFill>
              </a:rPr>
              <a:t>+</a:t>
            </a:r>
          </a:p>
        </p:txBody>
      </p:sp>
      <p:sp>
        <p:nvSpPr>
          <p:cNvPr id="23557" name="Rectangle 5">
            <a:extLst>
              <a:ext uri="{FF2B5EF4-FFF2-40B4-BE49-F238E27FC236}">
                <a16:creationId xmlns:a16="http://schemas.microsoft.com/office/drawing/2014/main" id="{20390316-A8E7-4116-ACBB-D21E3BE6D52A}"/>
              </a:ext>
            </a:extLst>
          </p:cNvPr>
          <p:cNvSpPr>
            <a:spLocks noChangeArrowheads="1"/>
          </p:cNvSpPr>
          <p:nvPr/>
        </p:nvSpPr>
        <p:spPr bwMode="auto">
          <a:xfrm>
            <a:off x="4943475" y="2020888"/>
            <a:ext cx="1798638" cy="609600"/>
          </a:xfrm>
          <a:prstGeom prst="rect">
            <a:avLst/>
          </a:prstGeom>
          <a:noFill/>
          <a:ln w="57150">
            <a:solidFill>
              <a:srgbClr val="0000CC"/>
            </a:solidFill>
            <a:prstDash val="dash"/>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grpSp>
        <p:nvGrpSpPr>
          <p:cNvPr id="2" name="Group 6">
            <a:extLst>
              <a:ext uri="{FF2B5EF4-FFF2-40B4-BE49-F238E27FC236}">
                <a16:creationId xmlns:a16="http://schemas.microsoft.com/office/drawing/2014/main" id="{497AA037-584F-465F-A895-D71F54189078}"/>
              </a:ext>
            </a:extLst>
          </p:cNvPr>
          <p:cNvGrpSpPr>
            <a:grpSpLocks/>
          </p:cNvGrpSpPr>
          <p:nvPr/>
        </p:nvGrpSpPr>
        <p:grpSpPr bwMode="auto">
          <a:xfrm>
            <a:off x="2638426" y="3933826"/>
            <a:ext cx="1508125" cy="677863"/>
            <a:chOff x="394" y="2544"/>
            <a:chExt cx="720" cy="427"/>
          </a:xfrm>
        </p:grpSpPr>
        <p:sp>
          <p:nvSpPr>
            <p:cNvPr id="128011" name="Line 7">
              <a:extLst>
                <a:ext uri="{FF2B5EF4-FFF2-40B4-BE49-F238E27FC236}">
                  <a16:creationId xmlns:a16="http://schemas.microsoft.com/office/drawing/2014/main" id="{0E7BCA01-CAE5-4E2C-99F8-1DB3AFD0F7D0}"/>
                </a:ext>
              </a:extLst>
            </p:cNvPr>
            <p:cNvSpPr>
              <a:spLocks noChangeShapeType="1"/>
            </p:cNvSpPr>
            <p:nvPr/>
          </p:nvSpPr>
          <p:spPr bwMode="auto">
            <a:xfrm>
              <a:off x="394" y="2971"/>
              <a:ext cx="720" cy="0"/>
            </a:xfrm>
            <a:prstGeom prst="line">
              <a:avLst/>
            </a:prstGeom>
            <a:noFill/>
            <a:ln w="38100" cap="sq">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8012" name="Text Box 8">
              <a:extLst>
                <a:ext uri="{FF2B5EF4-FFF2-40B4-BE49-F238E27FC236}">
                  <a16:creationId xmlns:a16="http://schemas.microsoft.com/office/drawing/2014/main" id="{9B05F67C-06FF-4731-B2B7-C2059DEF670D}"/>
                </a:ext>
              </a:extLst>
            </p:cNvPr>
            <p:cNvSpPr txBox="1">
              <a:spLocks noChangeArrowheads="1"/>
            </p:cNvSpPr>
            <p:nvPr/>
          </p:nvSpPr>
          <p:spPr bwMode="auto">
            <a:xfrm>
              <a:off x="432" y="2544"/>
              <a:ext cx="65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3200" b="0">
                  <a:solidFill>
                    <a:schemeClr val="tx1"/>
                  </a:solidFill>
                </a:rPr>
                <a:t>-</a:t>
              </a:r>
              <a:r>
                <a:rPr kumimoji="1" lang="en-US" altLang="zh-CN" sz="3200" b="0">
                  <a:solidFill>
                    <a:srgbClr val="00CC00"/>
                  </a:solidFill>
                </a:rPr>
                <a:t>H</a:t>
              </a:r>
              <a:r>
                <a:rPr kumimoji="1" lang="en-US" altLang="zh-CN" sz="3200" b="0">
                  <a:solidFill>
                    <a:srgbClr val="FF00FF"/>
                  </a:solidFill>
                </a:rPr>
                <a:t>OH</a:t>
              </a:r>
            </a:p>
          </p:txBody>
        </p:sp>
      </p:grpSp>
      <p:sp>
        <p:nvSpPr>
          <p:cNvPr id="23561" name="Rectangle 9">
            <a:extLst>
              <a:ext uri="{FF2B5EF4-FFF2-40B4-BE49-F238E27FC236}">
                <a16:creationId xmlns:a16="http://schemas.microsoft.com/office/drawing/2014/main" id="{18B87EB5-016C-4644-910E-24CF01ED9129}"/>
              </a:ext>
            </a:extLst>
          </p:cNvPr>
          <p:cNvSpPr>
            <a:spLocks noChangeArrowheads="1"/>
          </p:cNvSpPr>
          <p:nvPr/>
        </p:nvSpPr>
        <p:spPr bwMode="auto">
          <a:xfrm>
            <a:off x="6167439" y="3644900"/>
            <a:ext cx="935037" cy="1873250"/>
          </a:xfrm>
          <a:prstGeom prst="rect">
            <a:avLst/>
          </a:prstGeom>
          <a:noFill/>
          <a:ln w="57150">
            <a:solidFill>
              <a:srgbClr val="FF6600"/>
            </a:solidFill>
            <a:prstDash val="lgDash"/>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sp>
        <p:nvSpPr>
          <p:cNvPr id="23562" name="Text Box 10">
            <a:extLst>
              <a:ext uri="{FF2B5EF4-FFF2-40B4-BE49-F238E27FC236}">
                <a16:creationId xmlns:a16="http://schemas.microsoft.com/office/drawing/2014/main" id="{99429AD7-2561-4E67-878B-05299EB0AD3B}"/>
              </a:ext>
            </a:extLst>
          </p:cNvPr>
          <p:cNvSpPr txBox="1">
            <a:spLocks noChangeArrowheads="1"/>
          </p:cNvSpPr>
          <p:nvPr/>
        </p:nvSpPr>
        <p:spPr bwMode="auto">
          <a:xfrm>
            <a:off x="7462839" y="5518151"/>
            <a:ext cx="23272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a:solidFill>
                  <a:srgbClr val="FF0000"/>
                </a:solidFill>
              </a:rPr>
              <a:t>甘氨酰甘氨酸</a:t>
            </a:r>
          </a:p>
        </p:txBody>
      </p:sp>
      <p:sp>
        <p:nvSpPr>
          <p:cNvPr id="23563" name="AutoShape 11">
            <a:extLst>
              <a:ext uri="{FF2B5EF4-FFF2-40B4-BE49-F238E27FC236}">
                <a16:creationId xmlns:a16="http://schemas.microsoft.com/office/drawing/2014/main" id="{FFB838E0-3AB6-4425-B6B1-DC09C73BE050}"/>
              </a:ext>
            </a:extLst>
          </p:cNvPr>
          <p:cNvSpPr>
            <a:spLocks noChangeArrowheads="1"/>
          </p:cNvSpPr>
          <p:nvPr/>
        </p:nvSpPr>
        <p:spPr bwMode="auto">
          <a:xfrm>
            <a:off x="4583113" y="5734051"/>
            <a:ext cx="1295400" cy="720725"/>
          </a:xfrm>
          <a:prstGeom prst="wedgeRoundRectCallout">
            <a:avLst>
              <a:gd name="adj1" fmla="val 74345"/>
              <a:gd name="adj2" fmla="val -126866"/>
              <a:gd name="adj3" fmla="val 16667"/>
            </a:avLst>
          </a:prstGeom>
          <a:solidFill>
            <a:schemeClr val="accent1"/>
          </a:solidFill>
          <a:ln w="12700" cap="sq">
            <a:solidFill>
              <a:schemeClr val="tx1"/>
            </a:solidFill>
            <a:miter lim="800000"/>
            <a:headEnd type="none" w="sm" len="sm"/>
            <a:tailEnd type="none" w="sm" len="sm"/>
          </a:ln>
        </p:spPr>
        <p:txBody>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lvl="0" algn="ctr" eaLnBrk="1" hangingPunct="1">
              <a:spcBef>
                <a:spcPct val="0"/>
              </a:spcBef>
              <a:buClrTx/>
              <a:buNone/>
            </a:pPr>
            <a:r>
              <a:rPr kumimoji="1" lang="zh-CN" altLang="en-US" sz="3200" b="0" dirty="0">
                <a:solidFill>
                  <a:srgbClr val="FFFFFF"/>
                </a:solidFill>
                <a:latin typeface="Arial" panose="020B0604020202020204" pitchFamily="34" charset="0"/>
                <a:ea typeface="宋体" panose="02010600030101010101" pitchFamily="2" charset="-122"/>
              </a:rPr>
              <a:t>肽键</a:t>
            </a:r>
          </a:p>
        </p:txBody>
      </p:sp>
      <p:pic>
        <p:nvPicPr>
          <p:cNvPr id="23564" name="Picture 12">
            <a:extLst>
              <a:ext uri="{FF2B5EF4-FFF2-40B4-BE49-F238E27FC236}">
                <a16:creationId xmlns:a16="http://schemas.microsoft.com/office/drawing/2014/main" id="{9D708C2B-097F-4FA4-9C7F-1EE5BE4FED8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83113" y="3573464"/>
            <a:ext cx="4679950" cy="183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3557"/>
                                        </p:tgtEl>
                                        <p:attrNameLst>
                                          <p:attrName>style.visibility</p:attrName>
                                        </p:attrNameLst>
                                      </p:cBhvr>
                                      <p:to>
                                        <p:strVal val="visible"/>
                                      </p:to>
                                    </p:set>
                                    <p:animEffect transition="in" filter="box(out)">
                                      <p:cBhvr>
                                        <p:cTn id="7" dur="500"/>
                                        <p:tgtEl>
                                          <p:spTgt spid="23557"/>
                                        </p:tgtEl>
                                      </p:cBhvr>
                                    </p:animEffect>
                                  </p:childTnLst>
                                </p:cTn>
                              </p:par>
                              <p:par>
                                <p:cTn id="8" presetID="2" presetClass="entr" presetSubtype="8"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 calcmode="lin" valueType="num">
                                      <p:cBhvr additive="base">
                                        <p:cTn id="10" dur="500" fill="hold"/>
                                        <p:tgtEl>
                                          <p:spTgt spid="2"/>
                                        </p:tgtEl>
                                        <p:attrNameLst>
                                          <p:attrName>ppt_x</p:attrName>
                                        </p:attrNameLst>
                                      </p:cBhvr>
                                      <p:tavLst>
                                        <p:tav tm="0">
                                          <p:val>
                                            <p:strVal val="0-#ppt_w/2"/>
                                          </p:val>
                                        </p:tav>
                                        <p:tav tm="100000">
                                          <p:val>
                                            <p:strVal val="#ppt_x"/>
                                          </p:val>
                                        </p:tav>
                                      </p:tavLst>
                                    </p:anim>
                                    <p:anim calcmode="lin" valueType="num">
                                      <p:cBhvr additive="base">
                                        <p:cTn id="11" dur="500" fill="hold"/>
                                        <p:tgtEl>
                                          <p:spTgt spid="2"/>
                                        </p:tgtEl>
                                        <p:attrNameLst>
                                          <p:attrName>ppt_y</p:attrName>
                                        </p:attrNameLst>
                                      </p:cBhvr>
                                      <p:tavLst>
                                        <p:tav tm="0">
                                          <p:val>
                                            <p:strVal val="#ppt_y"/>
                                          </p:val>
                                        </p:tav>
                                        <p:tav tm="100000">
                                          <p:val>
                                            <p:strVal val="#ppt_y"/>
                                          </p:val>
                                        </p:tav>
                                      </p:tavLst>
                                    </p:anim>
                                  </p:childTnLst>
                                </p:cTn>
                              </p:par>
                              <p:par>
                                <p:cTn id="12" presetID="3" presetClass="entr" presetSubtype="5" fill="hold" nodeType="withEffect">
                                  <p:stCondLst>
                                    <p:cond delay="2000"/>
                                  </p:stCondLst>
                                  <p:childTnLst>
                                    <p:set>
                                      <p:cBhvr>
                                        <p:cTn id="13" dur="1" fill="hold">
                                          <p:stCondLst>
                                            <p:cond delay="0"/>
                                          </p:stCondLst>
                                        </p:cTn>
                                        <p:tgtEl>
                                          <p:spTgt spid="23564"/>
                                        </p:tgtEl>
                                        <p:attrNameLst>
                                          <p:attrName>style.visibility</p:attrName>
                                        </p:attrNameLst>
                                      </p:cBhvr>
                                      <p:to>
                                        <p:strVal val="visible"/>
                                      </p:to>
                                    </p:set>
                                    <p:animEffect transition="in" filter="blinds(vertical)">
                                      <p:cBhvr>
                                        <p:cTn id="14" dur="500"/>
                                        <p:tgtEl>
                                          <p:spTgt spid="23564"/>
                                        </p:tgtEl>
                                      </p:cBhvr>
                                    </p:animEffect>
                                  </p:childTnLst>
                                </p:cTn>
                              </p:par>
                              <p:par>
                                <p:cTn id="15" presetID="3" presetClass="entr" presetSubtype="10" fill="hold" grpId="0" nodeType="withEffect">
                                  <p:stCondLst>
                                    <p:cond delay="2000"/>
                                  </p:stCondLst>
                                  <p:childTnLst>
                                    <p:set>
                                      <p:cBhvr>
                                        <p:cTn id="16" dur="1" fill="hold">
                                          <p:stCondLst>
                                            <p:cond delay="0"/>
                                          </p:stCondLst>
                                        </p:cTn>
                                        <p:tgtEl>
                                          <p:spTgt spid="23562"/>
                                        </p:tgtEl>
                                        <p:attrNameLst>
                                          <p:attrName>style.visibility</p:attrName>
                                        </p:attrNameLst>
                                      </p:cBhvr>
                                      <p:to>
                                        <p:strVal val="visible"/>
                                      </p:to>
                                    </p:set>
                                    <p:animEffect transition="in" filter="blinds(horizontal)">
                                      <p:cBhvr>
                                        <p:cTn id="17" dur="500"/>
                                        <p:tgtEl>
                                          <p:spTgt spid="2356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3561"/>
                                        </p:tgtEl>
                                        <p:attrNameLst>
                                          <p:attrName>style.visibility</p:attrName>
                                        </p:attrNameLst>
                                      </p:cBhvr>
                                      <p:to>
                                        <p:strVal val="visible"/>
                                      </p:to>
                                    </p:set>
                                    <p:animEffect transition="in" filter="dissolve">
                                      <p:cBhvr>
                                        <p:cTn id="22" dur="500"/>
                                        <p:tgtEl>
                                          <p:spTgt spid="23561"/>
                                        </p:tgtEl>
                                      </p:cBhvr>
                                    </p:animEffect>
                                  </p:childTnLst>
                                </p:cTn>
                              </p:par>
                            </p:childTnLst>
                          </p:cTn>
                        </p:par>
                        <p:par>
                          <p:cTn id="23" fill="hold">
                            <p:stCondLst>
                              <p:cond delay="500"/>
                            </p:stCondLst>
                            <p:childTnLst>
                              <p:par>
                                <p:cTn id="24" presetID="22" presetClass="entr" presetSubtype="1" fill="hold" grpId="0" nodeType="afterEffect">
                                  <p:stCondLst>
                                    <p:cond delay="0"/>
                                  </p:stCondLst>
                                  <p:childTnLst>
                                    <p:set>
                                      <p:cBhvr>
                                        <p:cTn id="25" dur="1" fill="hold">
                                          <p:stCondLst>
                                            <p:cond delay="0"/>
                                          </p:stCondLst>
                                        </p:cTn>
                                        <p:tgtEl>
                                          <p:spTgt spid="23563"/>
                                        </p:tgtEl>
                                        <p:attrNameLst>
                                          <p:attrName>style.visibility</p:attrName>
                                        </p:attrNameLst>
                                      </p:cBhvr>
                                      <p:to>
                                        <p:strVal val="visible"/>
                                      </p:to>
                                    </p:set>
                                    <p:animEffect transition="in" filter="wipe(up)">
                                      <p:cBhvr>
                                        <p:cTn id="26" dur="500"/>
                                        <p:tgtEl>
                                          <p:spTgt spid="235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7" grpId="0" animBg="1"/>
      <p:bldP spid="23561" grpId="0" animBg="1"/>
      <p:bldP spid="23562" grpId="0" autoUpdateAnimBg="0"/>
      <p:bldP spid="23563" grpId="0" animBg="1"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ext Box 2">
            <a:extLst>
              <a:ext uri="{FF2B5EF4-FFF2-40B4-BE49-F238E27FC236}">
                <a16:creationId xmlns:a16="http://schemas.microsoft.com/office/drawing/2014/main" id="{BE0124AD-BD8D-444A-B9F9-5154FFD2ACCA}"/>
              </a:ext>
            </a:extLst>
          </p:cNvPr>
          <p:cNvSpPr txBox="1">
            <a:spLocks noChangeArrowheads="1"/>
          </p:cNvSpPr>
          <p:nvPr/>
        </p:nvSpPr>
        <p:spPr bwMode="auto">
          <a:xfrm>
            <a:off x="2135188" y="1268414"/>
            <a:ext cx="7613650"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271463" indent="-271463">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30000"/>
              </a:lnSpc>
              <a:spcBef>
                <a:spcPct val="0"/>
              </a:spcBef>
              <a:buClrTx/>
              <a:buFontTx/>
              <a:buNone/>
            </a:pPr>
            <a:r>
              <a:rPr kumimoji="1" lang="zh-CN" altLang="en-US" b="0">
                <a:solidFill>
                  <a:srgbClr val="FF0000"/>
                </a:solidFill>
              </a:rPr>
              <a:t>肽</a:t>
            </a:r>
            <a:r>
              <a:rPr kumimoji="1" lang="zh-CN" altLang="en-US" b="0">
                <a:solidFill>
                  <a:schemeClr val="tx1"/>
                </a:solidFill>
              </a:rPr>
              <a:t>是由氨基酸通过肽键缩合而形成的化合物。</a:t>
            </a:r>
            <a:endParaRPr kumimoji="1" lang="zh-CN" altLang="en-US" sz="3600" b="0">
              <a:solidFill>
                <a:schemeClr val="tx1"/>
              </a:solidFill>
            </a:endParaRPr>
          </a:p>
        </p:txBody>
      </p:sp>
      <p:sp>
        <p:nvSpPr>
          <p:cNvPr id="24579" name="Text Box 3">
            <a:extLst>
              <a:ext uri="{FF2B5EF4-FFF2-40B4-BE49-F238E27FC236}">
                <a16:creationId xmlns:a16="http://schemas.microsoft.com/office/drawing/2014/main" id="{061198AE-7867-4FD6-BC9B-6EB176F6FFDD}"/>
              </a:ext>
            </a:extLst>
          </p:cNvPr>
          <p:cNvSpPr txBox="1">
            <a:spLocks noChangeArrowheads="1"/>
          </p:cNvSpPr>
          <p:nvPr/>
        </p:nvSpPr>
        <p:spPr bwMode="auto">
          <a:xfrm>
            <a:off x="2747964" y="1887539"/>
            <a:ext cx="6372225" cy="1152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271463" indent="-271463">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30000"/>
              </a:lnSpc>
              <a:spcBef>
                <a:spcPct val="0"/>
              </a:spcBef>
              <a:buClrTx/>
              <a:buFontTx/>
              <a:buChar char="•"/>
            </a:pPr>
            <a:r>
              <a:rPr kumimoji="1" lang="zh-CN" altLang="en-US" b="0">
                <a:solidFill>
                  <a:schemeClr val="tx1"/>
                </a:solidFill>
              </a:rPr>
              <a:t>两分子氨基酸缩合形成</a:t>
            </a:r>
            <a:r>
              <a:rPr kumimoji="1" lang="zh-CN" altLang="en-US" b="0">
                <a:solidFill>
                  <a:srgbClr val="FF0000"/>
                </a:solidFill>
              </a:rPr>
              <a:t>二肽</a:t>
            </a:r>
          </a:p>
          <a:p>
            <a:pPr eaLnBrk="1" hangingPunct="1">
              <a:lnSpc>
                <a:spcPct val="130000"/>
              </a:lnSpc>
              <a:spcBef>
                <a:spcPct val="0"/>
              </a:spcBef>
              <a:buClrTx/>
              <a:buFontTx/>
              <a:buChar char="•"/>
            </a:pPr>
            <a:r>
              <a:rPr kumimoji="1" lang="zh-CN" altLang="en-US" b="0">
                <a:solidFill>
                  <a:schemeClr val="tx1"/>
                </a:solidFill>
              </a:rPr>
              <a:t>三分子氨基酸缩合则形成</a:t>
            </a:r>
            <a:r>
              <a:rPr kumimoji="1" lang="zh-CN" altLang="en-US" b="0">
                <a:solidFill>
                  <a:srgbClr val="FF0000"/>
                </a:solidFill>
              </a:rPr>
              <a:t>三肽</a:t>
            </a:r>
            <a:r>
              <a:rPr kumimoji="1" lang="en-US" altLang="zh-CN" b="0">
                <a:solidFill>
                  <a:schemeClr val="tx1"/>
                </a:solidFill>
              </a:rPr>
              <a:t>……</a:t>
            </a:r>
            <a:endParaRPr kumimoji="1" lang="en-US" altLang="zh-CN" sz="3600" b="0">
              <a:solidFill>
                <a:schemeClr val="tx1"/>
              </a:solidFill>
            </a:endParaRPr>
          </a:p>
        </p:txBody>
      </p:sp>
      <p:sp>
        <p:nvSpPr>
          <p:cNvPr id="24581" name="Text Box 5">
            <a:extLst>
              <a:ext uri="{FF2B5EF4-FFF2-40B4-BE49-F238E27FC236}">
                <a16:creationId xmlns:a16="http://schemas.microsoft.com/office/drawing/2014/main" id="{15F3D16D-FFE8-4E77-96A3-7473EEDEE8BB}"/>
              </a:ext>
            </a:extLst>
          </p:cNvPr>
          <p:cNvSpPr txBox="1">
            <a:spLocks noChangeArrowheads="1"/>
          </p:cNvSpPr>
          <p:nvPr/>
        </p:nvSpPr>
        <p:spPr bwMode="auto">
          <a:xfrm>
            <a:off x="2135188" y="3429001"/>
            <a:ext cx="7993062" cy="1152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271463" indent="-271463">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30000"/>
              </a:lnSpc>
              <a:spcBef>
                <a:spcPct val="0"/>
              </a:spcBef>
              <a:buClrTx/>
              <a:buFontTx/>
              <a:buChar char="•"/>
            </a:pPr>
            <a:r>
              <a:rPr kumimoji="1" lang="zh-CN" altLang="en-US" b="0" dirty="0">
                <a:solidFill>
                  <a:srgbClr val="FF0000"/>
                </a:solidFill>
              </a:rPr>
              <a:t>寡肽</a:t>
            </a:r>
            <a:r>
              <a:rPr kumimoji="1" lang="en-US" altLang="zh-CN" b="0" dirty="0">
                <a:solidFill>
                  <a:srgbClr val="FF0000"/>
                </a:solidFill>
              </a:rPr>
              <a:t>(oligopeptide): </a:t>
            </a:r>
            <a:r>
              <a:rPr kumimoji="1" lang="zh-CN" altLang="en-US" b="0" dirty="0">
                <a:solidFill>
                  <a:schemeClr val="tx1"/>
                </a:solidFill>
              </a:rPr>
              <a:t>由</a:t>
            </a:r>
            <a:r>
              <a:rPr kumimoji="1" lang="en-US" altLang="zh-CN" b="0" dirty="0">
                <a:solidFill>
                  <a:schemeClr val="tx1"/>
                </a:solidFill>
              </a:rPr>
              <a:t>20</a:t>
            </a:r>
            <a:r>
              <a:rPr kumimoji="1" lang="zh-CN" altLang="en-US" b="0" dirty="0">
                <a:solidFill>
                  <a:schemeClr val="tx1"/>
                </a:solidFill>
              </a:rPr>
              <a:t>个以内</a:t>
            </a:r>
            <a:r>
              <a:rPr kumimoji="1" lang="en-US" altLang="zh-CN" b="0" dirty="0">
                <a:solidFill>
                  <a:schemeClr val="tx1"/>
                </a:solidFill>
              </a:rPr>
              <a:t>aa</a:t>
            </a:r>
            <a:r>
              <a:rPr kumimoji="1" lang="zh-CN" altLang="en-US" b="0" dirty="0">
                <a:solidFill>
                  <a:schemeClr val="tx1"/>
                </a:solidFill>
              </a:rPr>
              <a:t>相连而成的肽。</a:t>
            </a:r>
            <a:endParaRPr kumimoji="1" lang="zh-CN" altLang="en-US" b="0" dirty="0">
              <a:solidFill>
                <a:srgbClr val="993366"/>
              </a:solidFill>
            </a:endParaRPr>
          </a:p>
          <a:p>
            <a:pPr eaLnBrk="1" hangingPunct="1">
              <a:lnSpc>
                <a:spcPct val="130000"/>
              </a:lnSpc>
              <a:spcBef>
                <a:spcPct val="0"/>
              </a:spcBef>
              <a:buClrTx/>
              <a:buFontTx/>
              <a:buChar char="•"/>
            </a:pPr>
            <a:r>
              <a:rPr kumimoji="1" lang="zh-CN" altLang="en-US" b="0" dirty="0">
                <a:solidFill>
                  <a:srgbClr val="FF0000"/>
                </a:solidFill>
              </a:rPr>
              <a:t>多肽</a:t>
            </a:r>
            <a:r>
              <a:rPr kumimoji="1" lang="en-US" altLang="zh-CN" b="0" dirty="0">
                <a:solidFill>
                  <a:srgbClr val="FF0000"/>
                </a:solidFill>
              </a:rPr>
              <a:t>(polypeptide): </a:t>
            </a:r>
            <a:r>
              <a:rPr kumimoji="1" lang="zh-CN" altLang="en-US" b="0" dirty="0">
                <a:solidFill>
                  <a:schemeClr val="tx1"/>
                </a:solidFill>
              </a:rPr>
              <a:t>由</a:t>
            </a:r>
            <a:r>
              <a:rPr kumimoji="1" lang="en-US" altLang="zh-CN" b="0" dirty="0">
                <a:solidFill>
                  <a:schemeClr val="tx1"/>
                </a:solidFill>
              </a:rPr>
              <a:t>20</a:t>
            </a:r>
            <a:r>
              <a:rPr kumimoji="1" lang="zh-CN" altLang="en-US" b="0" dirty="0">
                <a:solidFill>
                  <a:schemeClr val="tx1"/>
                </a:solidFill>
              </a:rPr>
              <a:t>个以上</a:t>
            </a:r>
            <a:r>
              <a:rPr kumimoji="1" lang="en-US" altLang="zh-CN" b="0" dirty="0">
                <a:solidFill>
                  <a:schemeClr val="tx1"/>
                </a:solidFill>
              </a:rPr>
              <a:t>aa</a:t>
            </a:r>
            <a:r>
              <a:rPr kumimoji="1" lang="zh-CN" altLang="en-US" b="0" dirty="0">
                <a:solidFill>
                  <a:schemeClr val="tx1"/>
                </a:solidFill>
              </a:rPr>
              <a:t>相连形成的肽。</a:t>
            </a:r>
          </a:p>
        </p:txBody>
      </p:sp>
      <p:sp>
        <p:nvSpPr>
          <p:cNvPr id="4" name="矩形 3">
            <a:extLst>
              <a:ext uri="{FF2B5EF4-FFF2-40B4-BE49-F238E27FC236}">
                <a16:creationId xmlns:a16="http://schemas.microsoft.com/office/drawing/2014/main" id="{EE34057B-6695-417E-AF56-CED89ADC543C}"/>
              </a:ext>
            </a:extLst>
          </p:cNvPr>
          <p:cNvSpPr/>
          <p:nvPr/>
        </p:nvSpPr>
        <p:spPr>
          <a:xfrm>
            <a:off x="1774826" y="4932364"/>
            <a:ext cx="9217025" cy="540725"/>
          </a:xfrm>
          <a:prstGeom prst="rect">
            <a:avLst/>
          </a:prstGeom>
        </p:spPr>
        <p:txBody>
          <a:bodyPr>
            <a:spAutoFit/>
          </a:bodyPr>
          <a:lstStyle/>
          <a:p>
            <a:pPr marL="457200" indent="-457200" eaLnBrk="1" hangingPunct="1">
              <a:lnSpc>
                <a:spcPct val="120000"/>
              </a:lnSpc>
              <a:buFont typeface="Wingdings" panose="05000000000000000000" pitchFamily="2" charset="2"/>
              <a:buChar char="u"/>
              <a:defRPr/>
            </a:pPr>
            <a:r>
              <a:rPr lang="zh-CN" altLang="en-US" sz="2800" dirty="0">
                <a:solidFill>
                  <a:srgbClr val="006600"/>
                </a:solidFill>
                <a:latin typeface="+mn-ea"/>
                <a:ea typeface="+mn-ea"/>
                <a:cs typeface="楷体_GB2312"/>
              </a:rPr>
              <a:t>实际上，多少个氨基酸残基以内算寡肽没有绝对规定。</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579"/>
                                        </p:tgtEl>
                                        <p:attrNameLst>
                                          <p:attrName>style.visibility</p:attrName>
                                        </p:attrNameLst>
                                      </p:cBhvr>
                                      <p:to>
                                        <p:strVal val="visible"/>
                                      </p:to>
                                    </p:set>
                                    <p:animEffect transition="in" filter="fade">
                                      <p:cBhvr>
                                        <p:cTn id="7" dur="500"/>
                                        <p:tgtEl>
                                          <p:spTgt spid="245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581"/>
                                        </p:tgtEl>
                                        <p:attrNameLst>
                                          <p:attrName>style.visibility</p:attrName>
                                        </p:attrNameLst>
                                      </p:cBhvr>
                                      <p:to>
                                        <p:strVal val="visible"/>
                                      </p:to>
                                    </p:set>
                                    <p:animEffect transition="in" filter="fade">
                                      <p:cBhvr>
                                        <p:cTn id="12" dur="500"/>
                                        <p:tgtEl>
                                          <p:spTgt spid="245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autoUpdateAnimBg="0"/>
      <p:bldP spid="24581" grpId="0"/>
      <p:bldP spid="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8" name="Picture 1026">
            <a:extLst>
              <a:ext uri="{FF2B5EF4-FFF2-40B4-BE49-F238E27FC236}">
                <a16:creationId xmlns:a16="http://schemas.microsoft.com/office/drawing/2014/main" id="{0143E786-B47C-4400-93F6-5CF36F8AC2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908050"/>
            <a:ext cx="8026400" cy="391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内容占位符 4">
            <a:extLst>
              <a:ext uri="{FF2B5EF4-FFF2-40B4-BE49-F238E27FC236}">
                <a16:creationId xmlns:a16="http://schemas.microsoft.com/office/drawing/2014/main" id="{73DD5C3A-AC01-4406-8FC0-88EAA2DD0D30}"/>
              </a:ext>
            </a:extLst>
          </p:cNvPr>
          <p:cNvSpPr>
            <a:spLocks noGrp="1"/>
          </p:cNvSpPr>
          <p:nvPr>
            <p:ph idx="1"/>
          </p:nvPr>
        </p:nvSpPr>
        <p:spPr>
          <a:xfrm>
            <a:off x="2279650" y="5157788"/>
            <a:ext cx="7905750" cy="1079500"/>
          </a:xfrm>
          <a:ln>
            <a:solidFill>
              <a:srgbClr val="1D7ACF"/>
            </a:solidFill>
            <a:miter lim="800000"/>
            <a:headEnd/>
            <a:tailEnd/>
          </a:ln>
        </p:spPr>
        <p:txBody>
          <a:bodyPr/>
          <a:lstStyle/>
          <a:p>
            <a:r>
              <a:rPr lang="zh-CN" altLang="en-US" dirty="0"/>
              <a:t>书写：  </a:t>
            </a:r>
            <a:r>
              <a:rPr lang="en-US" altLang="zh-CN" dirty="0"/>
              <a:t>Ser-</a:t>
            </a:r>
            <a:r>
              <a:rPr lang="en-US" altLang="zh-CN" dirty="0" err="1"/>
              <a:t>Gly</a:t>
            </a:r>
            <a:r>
              <a:rPr lang="en-US" altLang="zh-CN" dirty="0"/>
              <a:t>-Tyr-Ala-Leu  </a:t>
            </a:r>
            <a:r>
              <a:rPr lang="zh-CN" altLang="en-US" dirty="0">
                <a:solidFill>
                  <a:srgbClr val="FF0000"/>
                </a:solidFill>
              </a:rPr>
              <a:t>氨基端在左侧</a:t>
            </a:r>
            <a:endParaRPr lang="en-US" altLang="zh-CN" dirty="0">
              <a:solidFill>
                <a:srgbClr val="FF0000"/>
              </a:solidFill>
            </a:endParaRPr>
          </a:p>
          <a:p>
            <a:pPr marL="0" indent="0">
              <a:buNone/>
            </a:pPr>
            <a:r>
              <a:rPr lang="en-US" altLang="zh-CN" dirty="0">
                <a:solidFill>
                  <a:srgbClr val="FF0000"/>
                </a:solidFill>
              </a:rPr>
              <a:t>                   </a:t>
            </a:r>
            <a:r>
              <a:rPr lang="en-US" altLang="zh-CN" dirty="0"/>
              <a:t>SGYAL</a:t>
            </a:r>
            <a:endParaRPr lang="zh-CN" altLang="en-US" dirty="0"/>
          </a:p>
        </p:txBody>
      </p:sp>
      <p:sp>
        <p:nvSpPr>
          <p:cNvPr id="2" name="任意多边形: 形状 1">
            <a:extLst>
              <a:ext uri="{FF2B5EF4-FFF2-40B4-BE49-F238E27FC236}">
                <a16:creationId xmlns:a16="http://schemas.microsoft.com/office/drawing/2014/main" id="{C9EF3F38-5167-4D01-97BC-7802B39DBBB5}"/>
              </a:ext>
            </a:extLst>
          </p:cNvPr>
          <p:cNvSpPr/>
          <p:nvPr/>
        </p:nvSpPr>
        <p:spPr bwMode="auto">
          <a:xfrm>
            <a:off x="1828648" y="2064775"/>
            <a:ext cx="2271404" cy="2172929"/>
          </a:xfrm>
          <a:custGeom>
            <a:avLst/>
            <a:gdLst>
              <a:gd name="connsiteX0" fmla="*/ 29649 w 2271404"/>
              <a:gd name="connsiteY0" fmla="*/ 717755 h 2172929"/>
              <a:gd name="connsiteX1" fmla="*/ 29649 w 2271404"/>
              <a:gd name="connsiteY1" fmla="*/ 717755 h 2172929"/>
              <a:gd name="connsiteX2" fmla="*/ 68978 w 2271404"/>
              <a:gd name="connsiteY2" fmla="*/ 560439 h 2172929"/>
              <a:gd name="connsiteX3" fmla="*/ 98475 w 2271404"/>
              <a:gd name="connsiteY3" fmla="*/ 521110 h 2172929"/>
              <a:gd name="connsiteX4" fmla="*/ 216462 w 2271404"/>
              <a:gd name="connsiteY4" fmla="*/ 403123 h 2172929"/>
              <a:gd name="connsiteX5" fmla="*/ 619584 w 2271404"/>
              <a:gd name="connsiteY5" fmla="*/ 196645 h 2172929"/>
              <a:gd name="connsiteX6" fmla="*/ 963713 w 2271404"/>
              <a:gd name="connsiteY6" fmla="*/ 78658 h 2172929"/>
              <a:gd name="connsiteX7" fmla="*/ 1229184 w 2271404"/>
              <a:gd name="connsiteY7" fmla="*/ 9832 h 2172929"/>
              <a:gd name="connsiteX8" fmla="*/ 1504487 w 2271404"/>
              <a:gd name="connsiteY8" fmla="*/ 0 h 2172929"/>
              <a:gd name="connsiteX9" fmla="*/ 1917442 w 2271404"/>
              <a:gd name="connsiteY9" fmla="*/ 127820 h 2172929"/>
              <a:gd name="connsiteX10" fmla="*/ 1986268 w 2271404"/>
              <a:gd name="connsiteY10" fmla="*/ 196645 h 2172929"/>
              <a:gd name="connsiteX11" fmla="*/ 2035429 w 2271404"/>
              <a:gd name="connsiteY11" fmla="*/ 245807 h 2172929"/>
              <a:gd name="connsiteX12" fmla="*/ 2084591 w 2271404"/>
              <a:gd name="connsiteY12" fmla="*/ 344129 h 2172929"/>
              <a:gd name="connsiteX13" fmla="*/ 2114087 w 2271404"/>
              <a:gd name="connsiteY13" fmla="*/ 383458 h 2172929"/>
              <a:gd name="connsiteX14" fmla="*/ 2153417 w 2271404"/>
              <a:gd name="connsiteY14" fmla="*/ 471949 h 2172929"/>
              <a:gd name="connsiteX15" fmla="*/ 2182913 w 2271404"/>
              <a:gd name="connsiteY15" fmla="*/ 865239 h 2172929"/>
              <a:gd name="connsiteX16" fmla="*/ 2212410 w 2271404"/>
              <a:gd name="connsiteY16" fmla="*/ 1120878 h 2172929"/>
              <a:gd name="connsiteX17" fmla="*/ 2251739 w 2271404"/>
              <a:gd name="connsiteY17" fmla="*/ 1337187 h 2172929"/>
              <a:gd name="connsiteX18" fmla="*/ 2261571 w 2271404"/>
              <a:gd name="connsiteY18" fmla="*/ 1415845 h 2172929"/>
              <a:gd name="connsiteX19" fmla="*/ 2271404 w 2271404"/>
              <a:gd name="connsiteY19" fmla="*/ 1474839 h 2172929"/>
              <a:gd name="connsiteX20" fmla="*/ 2251739 w 2271404"/>
              <a:gd name="connsiteY20" fmla="*/ 1799303 h 2172929"/>
              <a:gd name="connsiteX21" fmla="*/ 2241907 w 2271404"/>
              <a:gd name="connsiteY21" fmla="*/ 2015613 h 2172929"/>
              <a:gd name="connsiteX22" fmla="*/ 2222242 w 2271404"/>
              <a:gd name="connsiteY22" fmla="*/ 2064774 h 2172929"/>
              <a:gd name="connsiteX23" fmla="*/ 2055094 w 2271404"/>
              <a:gd name="connsiteY23" fmla="*/ 2094271 h 2172929"/>
              <a:gd name="connsiteX24" fmla="*/ 1878113 w 2271404"/>
              <a:gd name="connsiteY24" fmla="*/ 2163097 h 2172929"/>
              <a:gd name="connsiteX25" fmla="*/ 1848617 w 2271404"/>
              <a:gd name="connsiteY25" fmla="*/ 2172929 h 2172929"/>
              <a:gd name="connsiteX26" fmla="*/ 1799455 w 2271404"/>
              <a:gd name="connsiteY26" fmla="*/ 2163097 h 2172929"/>
              <a:gd name="connsiteX27" fmla="*/ 1445494 w 2271404"/>
              <a:gd name="connsiteY27" fmla="*/ 2104103 h 2172929"/>
              <a:gd name="connsiteX28" fmla="*/ 1357004 w 2271404"/>
              <a:gd name="connsiteY28" fmla="*/ 2074607 h 2172929"/>
              <a:gd name="connsiteX29" fmla="*/ 1180023 w 2271404"/>
              <a:gd name="connsiteY29" fmla="*/ 2104103 h 2172929"/>
              <a:gd name="connsiteX30" fmla="*/ 885055 w 2271404"/>
              <a:gd name="connsiteY30" fmla="*/ 2054942 h 2172929"/>
              <a:gd name="connsiteX31" fmla="*/ 806397 w 2271404"/>
              <a:gd name="connsiteY31" fmla="*/ 1986116 h 2172929"/>
              <a:gd name="connsiteX32" fmla="*/ 727739 w 2271404"/>
              <a:gd name="connsiteY32" fmla="*/ 1936955 h 2172929"/>
              <a:gd name="connsiteX33" fmla="*/ 639249 w 2271404"/>
              <a:gd name="connsiteY33" fmla="*/ 1868129 h 2172929"/>
              <a:gd name="connsiteX34" fmla="*/ 540926 w 2271404"/>
              <a:gd name="connsiteY34" fmla="*/ 1828800 h 2172929"/>
              <a:gd name="connsiteX35" fmla="*/ 432771 w 2271404"/>
              <a:gd name="connsiteY35" fmla="*/ 1779639 h 2172929"/>
              <a:gd name="connsiteX36" fmla="*/ 363946 w 2271404"/>
              <a:gd name="connsiteY36" fmla="*/ 1730478 h 2172929"/>
              <a:gd name="connsiteX37" fmla="*/ 236126 w 2271404"/>
              <a:gd name="connsiteY37" fmla="*/ 1612491 h 2172929"/>
              <a:gd name="connsiteX38" fmla="*/ 206629 w 2271404"/>
              <a:gd name="connsiteY38" fmla="*/ 1573161 h 2172929"/>
              <a:gd name="connsiteX39" fmla="*/ 137804 w 2271404"/>
              <a:gd name="connsiteY39" fmla="*/ 1455174 h 2172929"/>
              <a:gd name="connsiteX40" fmla="*/ 68978 w 2271404"/>
              <a:gd name="connsiteY40" fmla="*/ 1248697 h 2172929"/>
              <a:gd name="connsiteX41" fmla="*/ 49313 w 2271404"/>
              <a:gd name="connsiteY41" fmla="*/ 993058 h 2172929"/>
              <a:gd name="connsiteX42" fmla="*/ 39481 w 2271404"/>
              <a:gd name="connsiteY42" fmla="*/ 884903 h 2172929"/>
              <a:gd name="connsiteX43" fmla="*/ 19817 w 2271404"/>
              <a:gd name="connsiteY43" fmla="*/ 855407 h 2172929"/>
              <a:gd name="connsiteX44" fmla="*/ 9984 w 2271404"/>
              <a:gd name="connsiteY44" fmla="*/ 825910 h 2172929"/>
              <a:gd name="connsiteX45" fmla="*/ 152 w 2271404"/>
              <a:gd name="connsiteY45" fmla="*/ 757084 h 2172929"/>
              <a:gd name="connsiteX46" fmla="*/ 29649 w 2271404"/>
              <a:gd name="connsiteY46" fmla="*/ 717755 h 217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2271404" h="2172929">
                <a:moveTo>
                  <a:pt x="29649" y="717755"/>
                </a:moveTo>
                <a:lnTo>
                  <a:pt x="29649" y="717755"/>
                </a:lnTo>
                <a:cubicBezTo>
                  <a:pt x="42759" y="665316"/>
                  <a:pt x="51122" y="611457"/>
                  <a:pt x="68978" y="560439"/>
                </a:cubicBezTo>
                <a:cubicBezTo>
                  <a:pt x="74392" y="544972"/>
                  <a:pt x="88950" y="534445"/>
                  <a:pt x="98475" y="521110"/>
                </a:cubicBezTo>
                <a:cubicBezTo>
                  <a:pt x="139830" y="463213"/>
                  <a:pt x="119681" y="468593"/>
                  <a:pt x="216462" y="403123"/>
                </a:cubicBezTo>
                <a:cubicBezTo>
                  <a:pt x="405293" y="275385"/>
                  <a:pt x="433864" y="273495"/>
                  <a:pt x="619584" y="196645"/>
                </a:cubicBezTo>
                <a:cubicBezTo>
                  <a:pt x="788133" y="126900"/>
                  <a:pt x="737813" y="141910"/>
                  <a:pt x="963713" y="78658"/>
                </a:cubicBezTo>
                <a:cubicBezTo>
                  <a:pt x="1051743" y="54009"/>
                  <a:pt x="1137826" y="13095"/>
                  <a:pt x="1229184" y="9832"/>
                </a:cubicBezTo>
                <a:lnTo>
                  <a:pt x="1504487" y="0"/>
                </a:lnTo>
                <a:cubicBezTo>
                  <a:pt x="1678421" y="45374"/>
                  <a:pt x="1756704" y="57934"/>
                  <a:pt x="1917442" y="127820"/>
                </a:cubicBezTo>
                <a:cubicBezTo>
                  <a:pt x="1957804" y="145368"/>
                  <a:pt x="1959016" y="165986"/>
                  <a:pt x="1986268" y="196645"/>
                </a:cubicBezTo>
                <a:cubicBezTo>
                  <a:pt x="2001665" y="213966"/>
                  <a:pt x="2022574" y="226524"/>
                  <a:pt x="2035429" y="245807"/>
                </a:cubicBezTo>
                <a:cubicBezTo>
                  <a:pt x="2055755" y="276295"/>
                  <a:pt x="2062606" y="314815"/>
                  <a:pt x="2084591" y="344129"/>
                </a:cubicBezTo>
                <a:cubicBezTo>
                  <a:pt x="2094423" y="357239"/>
                  <a:pt x="2105402" y="369562"/>
                  <a:pt x="2114087" y="383458"/>
                </a:cubicBezTo>
                <a:cubicBezTo>
                  <a:pt x="2129399" y="407957"/>
                  <a:pt x="2143056" y="446046"/>
                  <a:pt x="2153417" y="471949"/>
                </a:cubicBezTo>
                <a:cubicBezTo>
                  <a:pt x="2163249" y="603046"/>
                  <a:pt x="2172173" y="734214"/>
                  <a:pt x="2182913" y="865239"/>
                </a:cubicBezTo>
                <a:cubicBezTo>
                  <a:pt x="2199144" y="1063260"/>
                  <a:pt x="2190233" y="1009987"/>
                  <a:pt x="2212410" y="1120878"/>
                </a:cubicBezTo>
                <a:cubicBezTo>
                  <a:pt x="2232410" y="1360887"/>
                  <a:pt x="2204549" y="1124833"/>
                  <a:pt x="2251739" y="1337187"/>
                </a:cubicBezTo>
                <a:cubicBezTo>
                  <a:pt x="2257471" y="1362981"/>
                  <a:pt x="2257834" y="1389687"/>
                  <a:pt x="2261571" y="1415845"/>
                </a:cubicBezTo>
                <a:cubicBezTo>
                  <a:pt x="2264390" y="1435581"/>
                  <a:pt x="2268126" y="1455174"/>
                  <a:pt x="2271404" y="1474839"/>
                </a:cubicBezTo>
                <a:cubicBezTo>
                  <a:pt x="2264849" y="1582994"/>
                  <a:pt x="2257640" y="1691111"/>
                  <a:pt x="2251739" y="1799303"/>
                </a:cubicBezTo>
                <a:cubicBezTo>
                  <a:pt x="2247808" y="1871374"/>
                  <a:pt x="2249878" y="1943877"/>
                  <a:pt x="2241907" y="2015613"/>
                </a:cubicBezTo>
                <a:cubicBezTo>
                  <a:pt x="2239958" y="2033154"/>
                  <a:pt x="2238508" y="2057925"/>
                  <a:pt x="2222242" y="2064774"/>
                </a:cubicBezTo>
                <a:cubicBezTo>
                  <a:pt x="2170099" y="2086729"/>
                  <a:pt x="2110810" y="2084439"/>
                  <a:pt x="2055094" y="2094271"/>
                </a:cubicBezTo>
                <a:lnTo>
                  <a:pt x="1878113" y="2163097"/>
                </a:lnTo>
                <a:cubicBezTo>
                  <a:pt x="1868428" y="2166786"/>
                  <a:pt x="1858981" y="2172929"/>
                  <a:pt x="1848617" y="2172929"/>
                </a:cubicBezTo>
                <a:cubicBezTo>
                  <a:pt x="1831905" y="2172929"/>
                  <a:pt x="1815842" y="2166374"/>
                  <a:pt x="1799455" y="2163097"/>
                </a:cubicBezTo>
                <a:cubicBezTo>
                  <a:pt x="1638508" y="2082624"/>
                  <a:pt x="1750037" y="2125857"/>
                  <a:pt x="1445494" y="2104103"/>
                </a:cubicBezTo>
                <a:cubicBezTo>
                  <a:pt x="1415997" y="2094271"/>
                  <a:pt x="1388069" y="2075901"/>
                  <a:pt x="1357004" y="2074607"/>
                </a:cubicBezTo>
                <a:cubicBezTo>
                  <a:pt x="1272867" y="2071101"/>
                  <a:pt x="1241187" y="2083716"/>
                  <a:pt x="1180023" y="2104103"/>
                </a:cubicBezTo>
                <a:cubicBezTo>
                  <a:pt x="1133946" y="2097960"/>
                  <a:pt x="928430" y="2073801"/>
                  <a:pt x="885055" y="2054942"/>
                </a:cubicBezTo>
                <a:cubicBezTo>
                  <a:pt x="853105" y="2041051"/>
                  <a:pt x="834269" y="2007020"/>
                  <a:pt x="806397" y="1986116"/>
                </a:cubicBezTo>
                <a:cubicBezTo>
                  <a:pt x="781662" y="1967565"/>
                  <a:pt x="752999" y="1954786"/>
                  <a:pt x="727739" y="1936955"/>
                </a:cubicBezTo>
                <a:cubicBezTo>
                  <a:pt x="697210" y="1915405"/>
                  <a:pt x="671588" y="1886852"/>
                  <a:pt x="639249" y="1868129"/>
                </a:cubicBezTo>
                <a:cubicBezTo>
                  <a:pt x="608700" y="1850443"/>
                  <a:pt x="573371" y="1842705"/>
                  <a:pt x="540926" y="1828800"/>
                </a:cubicBezTo>
                <a:cubicBezTo>
                  <a:pt x="504527" y="1813200"/>
                  <a:pt x="467389" y="1798871"/>
                  <a:pt x="432771" y="1779639"/>
                </a:cubicBezTo>
                <a:cubicBezTo>
                  <a:pt x="408126" y="1765947"/>
                  <a:pt x="385427" y="1748737"/>
                  <a:pt x="363946" y="1730478"/>
                </a:cubicBezTo>
                <a:cubicBezTo>
                  <a:pt x="319766" y="1692925"/>
                  <a:pt x="277127" y="1653492"/>
                  <a:pt x="236126" y="1612491"/>
                </a:cubicBezTo>
                <a:cubicBezTo>
                  <a:pt x="224538" y="1600903"/>
                  <a:pt x="215719" y="1586796"/>
                  <a:pt x="206629" y="1573161"/>
                </a:cubicBezTo>
                <a:cubicBezTo>
                  <a:pt x="190715" y="1549289"/>
                  <a:pt x="151852" y="1490295"/>
                  <a:pt x="137804" y="1455174"/>
                </a:cubicBezTo>
                <a:cubicBezTo>
                  <a:pt x="102087" y="1365881"/>
                  <a:pt x="95846" y="1338256"/>
                  <a:pt x="68978" y="1248697"/>
                </a:cubicBezTo>
                <a:cubicBezTo>
                  <a:pt x="62423" y="1163484"/>
                  <a:pt x="56220" y="1078243"/>
                  <a:pt x="49313" y="993058"/>
                </a:cubicBezTo>
                <a:cubicBezTo>
                  <a:pt x="46387" y="956976"/>
                  <a:pt x="47066" y="920300"/>
                  <a:pt x="39481" y="884903"/>
                </a:cubicBezTo>
                <a:cubicBezTo>
                  <a:pt x="37005" y="873349"/>
                  <a:pt x="25102" y="865976"/>
                  <a:pt x="19817" y="855407"/>
                </a:cubicBezTo>
                <a:cubicBezTo>
                  <a:pt x="15182" y="846137"/>
                  <a:pt x="13262" y="835742"/>
                  <a:pt x="9984" y="825910"/>
                </a:cubicBezTo>
                <a:cubicBezTo>
                  <a:pt x="6707" y="802968"/>
                  <a:pt x="4298" y="779885"/>
                  <a:pt x="152" y="757084"/>
                </a:cubicBezTo>
                <a:cubicBezTo>
                  <a:pt x="-2265" y="743789"/>
                  <a:pt x="24733" y="724310"/>
                  <a:pt x="29649" y="717755"/>
                </a:cubicBezTo>
                <a:close/>
              </a:path>
            </a:pathLst>
          </a:custGeom>
          <a:no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eaLnBrk="1" hangingPunct="1"/>
            <a:endParaRPr lang="zh-CN" altLang="en-US"/>
          </a:p>
        </p:txBody>
      </p:sp>
      <p:sp>
        <p:nvSpPr>
          <p:cNvPr id="3" name="任意多边形: 形状 2">
            <a:extLst>
              <a:ext uri="{FF2B5EF4-FFF2-40B4-BE49-F238E27FC236}">
                <a16:creationId xmlns:a16="http://schemas.microsoft.com/office/drawing/2014/main" id="{BA5EF714-F837-4C92-91B3-44518C8E28D9}"/>
              </a:ext>
            </a:extLst>
          </p:cNvPr>
          <p:cNvSpPr/>
          <p:nvPr/>
        </p:nvSpPr>
        <p:spPr bwMode="auto">
          <a:xfrm>
            <a:off x="3921366" y="2045110"/>
            <a:ext cx="1524831" cy="2212258"/>
          </a:xfrm>
          <a:custGeom>
            <a:avLst/>
            <a:gdLst>
              <a:gd name="connsiteX0" fmla="*/ 680132 w 1524831"/>
              <a:gd name="connsiteY0" fmla="*/ 2212258 h 2212258"/>
              <a:gd name="connsiteX1" fmla="*/ 680132 w 1524831"/>
              <a:gd name="connsiteY1" fmla="*/ 2212258 h 2212258"/>
              <a:gd name="connsiteX2" fmla="*/ 394996 w 1524831"/>
              <a:gd name="connsiteY2" fmla="*/ 2084438 h 2212258"/>
              <a:gd name="connsiteX3" fmla="*/ 247512 w 1524831"/>
              <a:gd name="connsiteY3" fmla="*/ 2025445 h 2212258"/>
              <a:gd name="connsiteX4" fmla="*/ 227848 w 1524831"/>
              <a:gd name="connsiteY4" fmla="*/ 1976284 h 2212258"/>
              <a:gd name="connsiteX5" fmla="*/ 178687 w 1524831"/>
              <a:gd name="connsiteY5" fmla="*/ 1897625 h 2212258"/>
              <a:gd name="connsiteX6" fmla="*/ 129525 w 1524831"/>
              <a:gd name="connsiteY6" fmla="*/ 1799303 h 2212258"/>
              <a:gd name="connsiteX7" fmla="*/ 119693 w 1524831"/>
              <a:gd name="connsiteY7" fmla="*/ 1740309 h 2212258"/>
              <a:gd name="connsiteX8" fmla="*/ 100029 w 1524831"/>
              <a:gd name="connsiteY8" fmla="*/ 1710813 h 2212258"/>
              <a:gd name="connsiteX9" fmla="*/ 90196 w 1524831"/>
              <a:gd name="connsiteY9" fmla="*/ 1612490 h 2212258"/>
              <a:gd name="connsiteX10" fmla="*/ 60700 w 1524831"/>
              <a:gd name="connsiteY10" fmla="*/ 1484671 h 2212258"/>
              <a:gd name="connsiteX11" fmla="*/ 41035 w 1524831"/>
              <a:gd name="connsiteY11" fmla="*/ 1278193 h 2212258"/>
              <a:gd name="connsiteX12" fmla="*/ 21370 w 1524831"/>
              <a:gd name="connsiteY12" fmla="*/ 1160206 h 2212258"/>
              <a:gd name="connsiteX13" fmla="*/ 11538 w 1524831"/>
              <a:gd name="connsiteY13" fmla="*/ 993058 h 2212258"/>
              <a:gd name="connsiteX14" fmla="*/ 41035 w 1524831"/>
              <a:gd name="connsiteY14" fmla="*/ 412955 h 2212258"/>
              <a:gd name="connsiteX15" fmla="*/ 70532 w 1524831"/>
              <a:gd name="connsiteY15" fmla="*/ 344129 h 2212258"/>
              <a:gd name="connsiteX16" fmla="*/ 109861 w 1524831"/>
              <a:gd name="connsiteY16" fmla="*/ 275303 h 2212258"/>
              <a:gd name="connsiteX17" fmla="*/ 168854 w 1524831"/>
              <a:gd name="connsiteY17" fmla="*/ 216309 h 2212258"/>
              <a:gd name="connsiteX18" fmla="*/ 198351 w 1524831"/>
              <a:gd name="connsiteY18" fmla="*/ 176980 h 2212258"/>
              <a:gd name="connsiteX19" fmla="*/ 375332 w 1524831"/>
              <a:gd name="connsiteY19" fmla="*/ 29496 h 2212258"/>
              <a:gd name="connsiteX20" fmla="*/ 493319 w 1524831"/>
              <a:gd name="connsiteY20" fmla="*/ 0 h 2212258"/>
              <a:gd name="connsiteX21" fmla="*/ 650635 w 1524831"/>
              <a:gd name="connsiteY21" fmla="*/ 9832 h 2212258"/>
              <a:gd name="connsiteX22" fmla="*/ 719461 w 1524831"/>
              <a:gd name="connsiteY22" fmla="*/ 29496 h 2212258"/>
              <a:gd name="connsiteX23" fmla="*/ 748958 w 1524831"/>
              <a:gd name="connsiteY23" fmla="*/ 49161 h 2212258"/>
              <a:gd name="connsiteX24" fmla="*/ 827616 w 1524831"/>
              <a:gd name="connsiteY24" fmla="*/ 108155 h 2212258"/>
              <a:gd name="connsiteX25" fmla="*/ 965267 w 1524831"/>
              <a:gd name="connsiteY25" fmla="*/ 186813 h 2212258"/>
              <a:gd name="connsiteX26" fmla="*/ 1014429 w 1524831"/>
              <a:gd name="connsiteY26" fmla="*/ 245806 h 2212258"/>
              <a:gd name="connsiteX27" fmla="*/ 1102919 w 1524831"/>
              <a:gd name="connsiteY27" fmla="*/ 304800 h 2212258"/>
              <a:gd name="connsiteX28" fmla="*/ 1142248 w 1524831"/>
              <a:gd name="connsiteY28" fmla="*/ 334296 h 2212258"/>
              <a:gd name="connsiteX29" fmla="*/ 1171745 w 1524831"/>
              <a:gd name="connsiteY29" fmla="*/ 373625 h 2212258"/>
              <a:gd name="connsiteX30" fmla="*/ 1240570 w 1524831"/>
              <a:gd name="connsiteY30" fmla="*/ 422787 h 2212258"/>
              <a:gd name="connsiteX31" fmla="*/ 1270067 w 1524831"/>
              <a:gd name="connsiteY31" fmla="*/ 452284 h 2212258"/>
              <a:gd name="connsiteX32" fmla="*/ 1289732 w 1524831"/>
              <a:gd name="connsiteY32" fmla="*/ 501445 h 2212258"/>
              <a:gd name="connsiteX33" fmla="*/ 1309396 w 1524831"/>
              <a:gd name="connsiteY33" fmla="*/ 530942 h 2212258"/>
              <a:gd name="connsiteX34" fmla="*/ 1338893 w 1524831"/>
              <a:gd name="connsiteY34" fmla="*/ 589935 h 2212258"/>
              <a:gd name="connsiteX35" fmla="*/ 1388054 w 1524831"/>
              <a:gd name="connsiteY35" fmla="*/ 943896 h 2212258"/>
              <a:gd name="connsiteX36" fmla="*/ 1417551 w 1524831"/>
              <a:gd name="connsiteY36" fmla="*/ 1140542 h 2212258"/>
              <a:gd name="connsiteX37" fmla="*/ 1456880 w 1524831"/>
              <a:gd name="connsiteY37" fmla="*/ 1199535 h 2212258"/>
              <a:gd name="connsiteX38" fmla="*/ 1476545 w 1524831"/>
              <a:gd name="connsiteY38" fmla="*/ 1258529 h 2212258"/>
              <a:gd name="connsiteX39" fmla="*/ 1486377 w 1524831"/>
              <a:gd name="connsiteY39" fmla="*/ 1337187 h 2212258"/>
              <a:gd name="connsiteX40" fmla="*/ 1515874 w 1524831"/>
              <a:gd name="connsiteY40" fmla="*/ 1415845 h 2212258"/>
              <a:gd name="connsiteX41" fmla="*/ 1427383 w 1524831"/>
              <a:gd name="connsiteY41" fmla="*/ 2025445 h 2212258"/>
              <a:gd name="connsiteX42" fmla="*/ 1378222 w 1524831"/>
              <a:gd name="connsiteY42" fmla="*/ 2064774 h 2212258"/>
              <a:gd name="connsiteX43" fmla="*/ 1348725 w 1524831"/>
              <a:gd name="connsiteY43" fmla="*/ 2074606 h 2212258"/>
              <a:gd name="connsiteX44" fmla="*/ 1270067 w 1524831"/>
              <a:gd name="connsiteY44" fmla="*/ 2094271 h 2212258"/>
              <a:gd name="connsiteX45" fmla="*/ 1161912 w 1524831"/>
              <a:gd name="connsiteY45" fmla="*/ 2153264 h 2212258"/>
              <a:gd name="connsiteX46" fmla="*/ 680132 w 1524831"/>
              <a:gd name="connsiteY46" fmla="*/ 2212258 h 2212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524831" h="2212258">
                <a:moveTo>
                  <a:pt x="680132" y="2212258"/>
                </a:moveTo>
                <a:lnTo>
                  <a:pt x="680132" y="2212258"/>
                </a:lnTo>
                <a:cubicBezTo>
                  <a:pt x="585087" y="2169651"/>
                  <a:pt x="490856" y="2125179"/>
                  <a:pt x="394996" y="2084438"/>
                </a:cubicBezTo>
                <a:cubicBezTo>
                  <a:pt x="173285" y="1990211"/>
                  <a:pt x="359277" y="2081326"/>
                  <a:pt x="247512" y="2025445"/>
                </a:cubicBezTo>
                <a:cubicBezTo>
                  <a:pt x="240957" y="2009058"/>
                  <a:pt x="236215" y="1991824"/>
                  <a:pt x="227848" y="1976284"/>
                </a:cubicBezTo>
                <a:cubicBezTo>
                  <a:pt x="213189" y="1949060"/>
                  <a:pt x="191644" y="1925698"/>
                  <a:pt x="178687" y="1897625"/>
                </a:cubicBezTo>
                <a:cubicBezTo>
                  <a:pt x="121629" y="1774000"/>
                  <a:pt x="233428" y="1929181"/>
                  <a:pt x="129525" y="1799303"/>
                </a:cubicBezTo>
                <a:cubicBezTo>
                  <a:pt x="126248" y="1779638"/>
                  <a:pt x="125997" y="1759222"/>
                  <a:pt x="119693" y="1740309"/>
                </a:cubicBezTo>
                <a:cubicBezTo>
                  <a:pt x="115956" y="1729099"/>
                  <a:pt x="102686" y="1722327"/>
                  <a:pt x="100029" y="1710813"/>
                </a:cubicBezTo>
                <a:cubicBezTo>
                  <a:pt x="92623" y="1678719"/>
                  <a:pt x="95333" y="1645025"/>
                  <a:pt x="90196" y="1612490"/>
                </a:cubicBezTo>
                <a:cubicBezTo>
                  <a:pt x="85354" y="1581823"/>
                  <a:pt x="69921" y="1521555"/>
                  <a:pt x="60700" y="1484671"/>
                </a:cubicBezTo>
                <a:cubicBezTo>
                  <a:pt x="54145" y="1415845"/>
                  <a:pt x="49355" y="1346828"/>
                  <a:pt x="41035" y="1278193"/>
                </a:cubicBezTo>
                <a:cubicBezTo>
                  <a:pt x="36237" y="1238611"/>
                  <a:pt x="25473" y="1199866"/>
                  <a:pt x="21370" y="1160206"/>
                </a:cubicBezTo>
                <a:cubicBezTo>
                  <a:pt x="15627" y="1104690"/>
                  <a:pt x="14815" y="1048774"/>
                  <a:pt x="11538" y="993058"/>
                </a:cubicBezTo>
                <a:cubicBezTo>
                  <a:pt x="16799" y="714216"/>
                  <a:pt x="-32979" y="605389"/>
                  <a:pt x="41035" y="412955"/>
                </a:cubicBezTo>
                <a:cubicBezTo>
                  <a:pt x="49995" y="389659"/>
                  <a:pt x="59369" y="366454"/>
                  <a:pt x="70532" y="344129"/>
                </a:cubicBezTo>
                <a:cubicBezTo>
                  <a:pt x="82349" y="320495"/>
                  <a:pt x="93750" y="296247"/>
                  <a:pt x="109861" y="275303"/>
                </a:cubicBezTo>
                <a:cubicBezTo>
                  <a:pt x="126817" y="253260"/>
                  <a:pt x="150250" y="236980"/>
                  <a:pt x="168854" y="216309"/>
                </a:cubicBezTo>
                <a:cubicBezTo>
                  <a:pt x="179816" y="204128"/>
                  <a:pt x="187200" y="188988"/>
                  <a:pt x="198351" y="176980"/>
                </a:cubicBezTo>
                <a:cubicBezTo>
                  <a:pt x="246100" y="125559"/>
                  <a:pt x="305692" y="57352"/>
                  <a:pt x="375332" y="29496"/>
                </a:cubicBezTo>
                <a:cubicBezTo>
                  <a:pt x="412972" y="14440"/>
                  <a:pt x="493319" y="0"/>
                  <a:pt x="493319" y="0"/>
                </a:cubicBezTo>
                <a:cubicBezTo>
                  <a:pt x="545758" y="3277"/>
                  <a:pt x="598535" y="3037"/>
                  <a:pt x="650635" y="9832"/>
                </a:cubicBezTo>
                <a:cubicBezTo>
                  <a:pt x="674295" y="12918"/>
                  <a:pt x="697308" y="20635"/>
                  <a:pt x="719461" y="29496"/>
                </a:cubicBezTo>
                <a:cubicBezTo>
                  <a:pt x="730433" y="33885"/>
                  <a:pt x="739401" y="42210"/>
                  <a:pt x="748958" y="49161"/>
                </a:cubicBezTo>
                <a:cubicBezTo>
                  <a:pt x="775464" y="68438"/>
                  <a:pt x="799966" y="90559"/>
                  <a:pt x="827616" y="108155"/>
                </a:cubicBezTo>
                <a:cubicBezTo>
                  <a:pt x="872201" y="136527"/>
                  <a:pt x="965267" y="186813"/>
                  <a:pt x="965267" y="186813"/>
                </a:cubicBezTo>
                <a:cubicBezTo>
                  <a:pt x="981654" y="206477"/>
                  <a:pt x="994994" y="229147"/>
                  <a:pt x="1014429" y="245806"/>
                </a:cubicBezTo>
                <a:cubicBezTo>
                  <a:pt x="1041345" y="268877"/>
                  <a:pt x="1073772" y="284621"/>
                  <a:pt x="1102919" y="304800"/>
                </a:cubicBezTo>
                <a:cubicBezTo>
                  <a:pt x="1116392" y="314128"/>
                  <a:pt x="1130661" y="322709"/>
                  <a:pt x="1142248" y="334296"/>
                </a:cubicBezTo>
                <a:cubicBezTo>
                  <a:pt x="1153836" y="345883"/>
                  <a:pt x="1159565" y="362663"/>
                  <a:pt x="1171745" y="373625"/>
                </a:cubicBezTo>
                <a:cubicBezTo>
                  <a:pt x="1192701" y="392485"/>
                  <a:pt x="1218555" y="405175"/>
                  <a:pt x="1240570" y="422787"/>
                </a:cubicBezTo>
                <a:cubicBezTo>
                  <a:pt x="1251428" y="431473"/>
                  <a:pt x="1260235" y="442452"/>
                  <a:pt x="1270067" y="452284"/>
                </a:cubicBezTo>
                <a:cubicBezTo>
                  <a:pt x="1276622" y="468671"/>
                  <a:pt x="1281839" y="485659"/>
                  <a:pt x="1289732" y="501445"/>
                </a:cubicBezTo>
                <a:cubicBezTo>
                  <a:pt x="1295017" y="512014"/>
                  <a:pt x="1303657" y="520612"/>
                  <a:pt x="1309396" y="530942"/>
                </a:cubicBezTo>
                <a:cubicBezTo>
                  <a:pt x="1320073" y="550161"/>
                  <a:pt x="1329061" y="570271"/>
                  <a:pt x="1338893" y="589935"/>
                </a:cubicBezTo>
                <a:cubicBezTo>
                  <a:pt x="1375504" y="809597"/>
                  <a:pt x="1364410" y="723222"/>
                  <a:pt x="1388054" y="943896"/>
                </a:cubicBezTo>
                <a:cubicBezTo>
                  <a:pt x="1393517" y="994880"/>
                  <a:pt x="1399237" y="1091705"/>
                  <a:pt x="1417551" y="1140542"/>
                </a:cubicBezTo>
                <a:cubicBezTo>
                  <a:pt x="1425849" y="1162671"/>
                  <a:pt x="1443770" y="1179871"/>
                  <a:pt x="1456880" y="1199535"/>
                </a:cubicBezTo>
                <a:cubicBezTo>
                  <a:pt x="1463435" y="1219200"/>
                  <a:pt x="1473974" y="1237961"/>
                  <a:pt x="1476545" y="1258529"/>
                </a:cubicBezTo>
                <a:cubicBezTo>
                  <a:pt x="1479822" y="1284748"/>
                  <a:pt x="1479968" y="1311553"/>
                  <a:pt x="1486377" y="1337187"/>
                </a:cubicBezTo>
                <a:cubicBezTo>
                  <a:pt x="1493169" y="1364353"/>
                  <a:pt x="1506042" y="1389626"/>
                  <a:pt x="1515874" y="1415845"/>
                </a:cubicBezTo>
                <a:cubicBezTo>
                  <a:pt x="1493184" y="1733503"/>
                  <a:pt x="1591773" y="1861055"/>
                  <a:pt x="1427383" y="2025445"/>
                </a:cubicBezTo>
                <a:cubicBezTo>
                  <a:pt x="1412544" y="2040284"/>
                  <a:pt x="1396018" y="2053652"/>
                  <a:pt x="1378222" y="2064774"/>
                </a:cubicBezTo>
                <a:cubicBezTo>
                  <a:pt x="1369433" y="2070267"/>
                  <a:pt x="1358724" y="2071879"/>
                  <a:pt x="1348725" y="2074606"/>
                </a:cubicBezTo>
                <a:cubicBezTo>
                  <a:pt x="1322651" y="2081717"/>
                  <a:pt x="1296286" y="2087716"/>
                  <a:pt x="1270067" y="2094271"/>
                </a:cubicBezTo>
                <a:cubicBezTo>
                  <a:pt x="1234015" y="2113935"/>
                  <a:pt x="1199438" y="2136586"/>
                  <a:pt x="1161912" y="2153264"/>
                </a:cubicBezTo>
                <a:cubicBezTo>
                  <a:pt x="1028526" y="2212547"/>
                  <a:pt x="760429" y="2202426"/>
                  <a:pt x="680132" y="2212258"/>
                </a:cubicBezTo>
                <a:close/>
              </a:path>
            </a:pathLst>
          </a:custGeom>
          <a:no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eaLnBrk="1" hangingPunct="1"/>
            <a:endParaRPr lang="zh-CN" altLang="en-US"/>
          </a:p>
        </p:txBody>
      </p:sp>
      <p:sp>
        <p:nvSpPr>
          <p:cNvPr id="4" name="任意多边形: 形状 3">
            <a:extLst>
              <a:ext uri="{FF2B5EF4-FFF2-40B4-BE49-F238E27FC236}">
                <a16:creationId xmlns:a16="http://schemas.microsoft.com/office/drawing/2014/main" id="{A3B21FB1-A573-46A1-BE06-E8CABE4A2D35}"/>
              </a:ext>
            </a:extLst>
          </p:cNvPr>
          <p:cNvSpPr/>
          <p:nvPr/>
        </p:nvSpPr>
        <p:spPr bwMode="auto">
          <a:xfrm>
            <a:off x="5211097" y="675720"/>
            <a:ext cx="1700980" cy="3611610"/>
          </a:xfrm>
          <a:custGeom>
            <a:avLst/>
            <a:gdLst>
              <a:gd name="connsiteX0" fmla="*/ 1002890 w 1700980"/>
              <a:gd name="connsiteY0" fmla="*/ 3581648 h 3611610"/>
              <a:gd name="connsiteX1" fmla="*/ 1002890 w 1700980"/>
              <a:gd name="connsiteY1" fmla="*/ 3581648 h 3611610"/>
              <a:gd name="connsiteX2" fmla="*/ 914400 w 1700980"/>
              <a:gd name="connsiteY2" fmla="*/ 3522654 h 3611610"/>
              <a:gd name="connsiteX3" fmla="*/ 884903 w 1700980"/>
              <a:gd name="connsiteY3" fmla="*/ 3512822 h 3611610"/>
              <a:gd name="connsiteX4" fmla="*/ 816077 w 1700980"/>
              <a:gd name="connsiteY4" fmla="*/ 3483325 h 3611610"/>
              <a:gd name="connsiteX5" fmla="*/ 629264 w 1700980"/>
              <a:gd name="connsiteY5" fmla="*/ 3443996 h 3611610"/>
              <a:gd name="connsiteX6" fmla="*/ 471948 w 1700980"/>
              <a:gd name="connsiteY6" fmla="*/ 3375170 h 3611610"/>
              <a:gd name="connsiteX7" fmla="*/ 412955 w 1700980"/>
              <a:gd name="connsiteY7" fmla="*/ 3316177 h 3611610"/>
              <a:gd name="connsiteX8" fmla="*/ 285135 w 1700980"/>
              <a:gd name="connsiteY8" fmla="*/ 3109699 h 3611610"/>
              <a:gd name="connsiteX9" fmla="*/ 265471 w 1700980"/>
              <a:gd name="connsiteY9" fmla="*/ 2962215 h 3611610"/>
              <a:gd name="connsiteX10" fmla="*/ 255638 w 1700980"/>
              <a:gd name="connsiteY10" fmla="*/ 2873725 h 3611610"/>
              <a:gd name="connsiteX11" fmla="*/ 226142 w 1700980"/>
              <a:gd name="connsiteY11" fmla="*/ 2834396 h 3611610"/>
              <a:gd name="connsiteX12" fmla="*/ 206477 w 1700980"/>
              <a:gd name="connsiteY12" fmla="*/ 2637751 h 3611610"/>
              <a:gd name="connsiteX13" fmla="*/ 186813 w 1700980"/>
              <a:gd name="connsiteY13" fmla="*/ 2598422 h 3611610"/>
              <a:gd name="connsiteX14" fmla="*/ 176980 w 1700980"/>
              <a:gd name="connsiteY14" fmla="*/ 2529596 h 3611610"/>
              <a:gd name="connsiteX15" fmla="*/ 167148 w 1700980"/>
              <a:gd name="connsiteY15" fmla="*/ 2480435 h 3611610"/>
              <a:gd name="connsiteX16" fmla="*/ 157316 w 1700980"/>
              <a:gd name="connsiteY16" fmla="*/ 2391945 h 3611610"/>
              <a:gd name="connsiteX17" fmla="*/ 147484 w 1700980"/>
              <a:gd name="connsiteY17" fmla="*/ 2293622 h 3611610"/>
              <a:gd name="connsiteX18" fmla="*/ 108155 w 1700980"/>
              <a:gd name="connsiteY18" fmla="*/ 2047815 h 3611610"/>
              <a:gd name="connsiteX19" fmla="*/ 98322 w 1700980"/>
              <a:gd name="connsiteY19" fmla="*/ 1978990 h 3611610"/>
              <a:gd name="connsiteX20" fmla="*/ 78658 w 1700980"/>
              <a:gd name="connsiteY20" fmla="*/ 1752848 h 3611610"/>
              <a:gd name="connsiteX21" fmla="*/ 49161 w 1700980"/>
              <a:gd name="connsiteY21" fmla="*/ 1428383 h 3611610"/>
              <a:gd name="connsiteX22" fmla="*/ 0 w 1700980"/>
              <a:gd name="connsiteY22" fmla="*/ 1094086 h 3611610"/>
              <a:gd name="connsiteX23" fmla="*/ 9832 w 1700980"/>
              <a:gd name="connsiteY23" fmla="*/ 789286 h 3611610"/>
              <a:gd name="connsiteX24" fmla="*/ 19664 w 1700980"/>
              <a:gd name="connsiteY24" fmla="*/ 661467 h 3611610"/>
              <a:gd name="connsiteX25" fmla="*/ 39329 w 1700980"/>
              <a:gd name="connsiteY25" fmla="*/ 612306 h 3611610"/>
              <a:gd name="connsiteX26" fmla="*/ 68826 w 1700980"/>
              <a:gd name="connsiteY26" fmla="*/ 513983 h 3611610"/>
              <a:gd name="connsiteX27" fmla="*/ 206477 w 1700980"/>
              <a:gd name="connsiteY27" fmla="*/ 268177 h 3611610"/>
              <a:gd name="connsiteX28" fmla="*/ 324464 w 1700980"/>
              <a:gd name="connsiteY28" fmla="*/ 140357 h 3611610"/>
              <a:gd name="connsiteX29" fmla="*/ 373626 w 1700980"/>
              <a:gd name="connsiteY29" fmla="*/ 81364 h 3611610"/>
              <a:gd name="connsiteX30" fmla="*/ 393290 w 1700980"/>
              <a:gd name="connsiteY30" fmla="*/ 51867 h 3611610"/>
              <a:gd name="connsiteX31" fmla="*/ 471948 w 1700980"/>
              <a:gd name="connsiteY31" fmla="*/ 42035 h 3611610"/>
              <a:gd name="connsiteX32" fmla="*/ 983226 w 1700980"/>
              <a:gd name="connsiteY32" fmla="*/ 2706 h 3611610"/>
              <a:gd name="connsiteX33" fmla="*/ 1238864 w 1700980"/>
              <a:gd name="connsiteY33" fmla="*/ 12538 h 3611610"/>
              <a:gd name="connsiteX34" fmla="*/ 1366684 w 1700980"/>
              <a:gd name="connsiteY34" fmla="*/ 120693 h 3611610"/>
              <a:gd name="connsiteX35" fmla="*/ 1514168 w 1700980"/>
              <a:gd name="connsiteY35" fmla="*/ 307506 h 3611610"/>
              <a:gd name="connsiteX36" fmla="*/ 1573161 w 1700980"/>
              <a:gd name="connsiteY36" fmla="*/ 484486 h 3611610"/>
              <a:gd name="connsiteX37" fmla="*/ 1641987 w 1700980"/>
              <a:gd name="connsiteY37" fmla="*/ 828615 h 3611610"/>
              <a:gd name="connsiteX38" fmla="*/ 1671484 w 1700980"/>
              <a:gd name="connsiteY38" fmla="*/ 1094086 h 3611610"/>
              <a:gd name="connsiteX39" fmla="*/ 1700980 w 1700980"/>
              <a:gd name="connsiteY39" fmla="*/ 1241570 h 3611610"/>
              <a:gd name="connsiteX40" fmla="*/ 1661651 w 1700980"/>
              <a:gd name="connsiteY40" fmla="*/ 1428383 h 3611610"/>
              <a:gd name="connsiteX41" fmla="*/ 1651819 w 1700980"/>
              <a:gd name="connsiteY41" fmla="*/ 1477545 h 3611610"/>
              <a:gd name="connsiteX42" fmla="*/ 1641987 w 1700980"/>
              <a:gd name="connsiteY42" fmla="*/ 1516874 h 3611610"/>
              <a:gd name="connsiteX43" fmla="*/ 1622322 w 1700980"/>
              <a:gd name="connsiteY43" fmla="*/ 1556203 h 3611610"/>
              <a:gd name="connsiteX44" fmla="*/ 1573161 w 1700980"/>
              <a:gd name="connsiteY44" fmla="*/ 1674190 h 3611610"/>
              <a:gd name="connsiteX45" fmla="*/ 1524000 w 1700980"/>
              <a:gd name="connsiteY45" fmla="*/ 1772512 h 3611610"/>
              <a:gd name="connsiteX46" fmla="*/ 1504335 w 1700980"/>
              <a:gd name="connsiteY46" fmla="*/ 1841338 h 3611610"/>
              <a:gd name="connsiteX47" fmla="*/ 1474838 w 1700980"/>
              <a:gd name="connsiteY47" fmla="*/ 1910164 h 3611610"/>
              <a:gd name="connsiteX48" fmla="*/ 1445342 w 1700980"/>
              <a:gd name="connsiteY48" fmla="*/ 1998654 h 3611610"/>
              <a:gd name="connsiteX49" fmla="*/ 1455174 w 1700980"/>
              <a:gd name="connsiteY49" fmla="*/ 2214964 h 3611610"/>
              <a:gd name="connsiteX50" fmla="*/ 1474838 w 1700980"/>
              <a:gd name="connsiteY50" fmla="*/ 2254293 h 3611610"/>
              <a:gd name="connsiteX51" fmla="*/ 1484671 w 1700980"/>
              <a:gd name="connsiteY51" fmla="*/ 2293622 h 3611610"/>
              <a:gd name="connsiteX52" fmla="*/ 1494503 w 1700980"/>
              <a:gd name="connsiteY52" fmla="*/ 2323119 h 3611610"/>
              <a:gd name="connsiteX53" fmla="*/ 1524000 w 1700980"/>
              <a:gd name="connsiteY53" fmla="*/ 2627919 h 3611610"/>
              <a:gd name="connsiteX54" fmla="*/ 1553497 w 1700980"/>
              <a:gd name="connsiteY54" fmla="*/ 2726241 h 3611610"/>
              <a:gd name="connsiteX55" fmla="*/ 1563329 w 1700980"/>
              <a:gd name="connsiteY55" fmla="*/ 2854061 h 3611610"/>
              <a:gd name="connsiteX56" fmla="*/ 1582993 w 1700980"/>
              <a:gd name="connsiteY56" fmla="*/ 2942551 h 3611610"/>
              <a:gd name="connsiteX57" fmla="*/ 1602658 w 1700980"/>
              <a:gd name="connsiteY57" fmla="*/ 3040874 h 3611610"/>
              <a:gd name="connsiteX58" fmla="*/ 1563329 w 1700980"/>
              <a:gd name="connsiteY58" fmla="*/ 3365338 h 3611610"/>
              <a:gd name="connsiteX59" fmla="*/ 1494503 w 1700980"/>
              <a:gd name="connsiteY59" fmla="*/ 3434164 h 3611610"/>
              <a:gd name="connsiteX60" fmla="*/ 1415845 w 1700980"/>
              <a:gd name="connsiteY60" fmla="*/ 3473493 h 3611610"/>
              <a:gd name="connsiteX61" fmla="*/ 1288026 w 1700980"/>
              <a:gd name="connsiteY61" fmla="*/ 3542319 h 3611610"/>
              <a:gd name="connsiteX62" fmla="*/ 1229032 w 1700980"/>
              <a:gd name="connsiteY62" fmla="*/ 3552151 h 3611610"/>
              <a:gd name="connsiteX63" fmla="*/ 1199535 w 1700980"/>
              <a:gd name="connsiteY63" fmla="*/ 3561983 h 3611610"/>
              <a:gd name="connsiteX64" fmla="*/ 1160206 w 1700980"/>
              <a:gd name="connsiteY64" fmla="*/ 3591480 h 3611610"/>
              <a:gd name="connsiteX65" fmla="*/ 1130709 w 1700980"/>
              <a:gd name="connsiteY65" fmla="*/ 3611145 h 3611610"/>
              <a:gd name="connsiteX66" fmla="*/ 1012722 w 1700980"/>
              <a:gd name="connsiteY66" fmla="*/ 3601312 h 3611610"/>
              <a:gd name="connsiteX67" fmla="*/ 983226 w 1700980"/>
              <a:gd name="connsiteY67" fmla="*/ 3591480 h 3611610"/>
              <a:gd name="connsiteX68" fmla="*/ 1002890 w 1700980"/>
              <a:gd name="connsiteY68" fmla="*/ 3581648 h 361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700980" h="3611610">
                <a:moveTo>
                  <a:pt x="1002890" y="3581648"/>
                </a:moveTo>
                <a:lnTo>
                  <a:pt x="1002890" y="3581648"/>
                </a:lnTo>
                <a:cubicBezTo>
                  <a:pt x="973393" y="3561983"/>
                  <a:pt x="945022" y="3540517"/>
                  <a:pt x="914400" y="3522654"/>
                </a:cubicBezTo>
                <a:cubicBezTo>
                  <a:pt x="905448" y="3517432"/>
                  <a:pt x="894526" y="3516671"/>
                  <a:pt x="884903" y="3512822"/>
                </a:cubicBezTo>
                <a:cubicBezTo>
                  <a:pt x="861728" y="3503552"/>
                  <a:pt x="839984" y="3490497"/>
                  <a:pt x="816077" y="3483325"/>
                </a:cubicBezTo>
                <a:cubicBezTo>
                  <a:pt x="745282" y="3462086"/>
                  <a:pt x="696534" y="3455207"/>
                  <a:pt x="629264" y="3443996"/>
                </a:cubicBezTo>
                <a:cubicBezTo>
                  <a:pt x="572530" y="3425085"/>
                  <a:pt x="530939" y="3412427"/>
                  <a:pt x="471948" y="3375170"/>
                </a:cubicBezTo>
                <a:cubicBezTo>
                  <a:pt x="448435" y="3360320"/>
                  <a:pt x="429809" y="3338298"/>
                  <a:pt x="412955" y="3316177"/>
                </a:cubicBezTo>
                <a:cubicBezTo>
                  <a:pt x="332577" y="3210681"/>
                  <a:pt x="329840" y="3199109"/>
                  <a:pt x="285135" y="3109699"/>
                </a:cubicBezTo>
                <a:cubicBezTo>
                  <a:pt x="278580" y="3060538"/>
                  <a:pt x="271623" y="3011428"/>
                  <a:pt x="265471" y="2962215"/>
                </a:cubicBezTo>
                <a:cubicBezTo>
                  <a:pt x="261790" y="2932766"/>
                  <a:pt x="264366" y="2902091"/>
                  <a:pt x="255638" y="2873725"/>
                </a:cubicBezTo>
                <a:cubicBezTo>
                  <a:pt x="250819" y="2858063"/>
                  <a:pt x="235974" y="2847506"/>
                  <a:pt x="226142" y="2834396"/>
                </a:cubicBezTo>
                <a:cubicBezTo>
                  <a:pt x="224987" y="2819386"/>
                  <a:pt x="216682" y="2675169"/>
                  <a:pt x="206477" y="2637751"/>
                </a:cubicBezTo>
                <a:cubicBezTo>
                  <a:pt x="202621" y="2623610"/>
                  <a:pt x="193368" y="2611532"/>
                  <a:pt x="186813" y="2598422"/>
                </a:cubicBezTo>
                <a:cubicBezTo>
                  <a:pt x="183535" y="2575480"/>
                  <a:pt x="180790" y="2552456"/>
                  <a:pt x="176980" y="2529596"/>
                </a:cubicBezTo>
                <a:cubicBezTo>
                  <a:pt x="174233" y="2513112"/>
                  <a:pt x="169511" y="2496979"/>
                  <a:pt x="167148" y="2480435"/>
                </a:cubicBezTo>
                <a:cubicBezTo>
                  <a:pt x="162951" y="2451055"/>
                  <a:pt x="160423" y="2421460"/>
                  <a:pt x="157316" y="2391945"/>
                </a:cubicBezTo>
                <a:cubicBezTo>
                  <a:pt x="153868" y="2359188"/>
                  <a:pt x="152142" y="2326229"/>
                  <a:pt x="147484" y="2293622"/>
                </a:cubicBezTo>
                <a:cubicBezTo>
                  <a:pt x="135749" y="2211478"/>
                  <a:pt x="120965" y="2129798"/>
                  <a:pt x="108155" y="2047815"/>
                </a:cubicBezTo>
                <a:cubicBezTo>
                  <a:pt x="104577" y="2024918"/>
                  <a:pt x="98322" y="1978990"/>
                  <a:pt x="98322" y="1978990"/>
                </a:cubicBezTo>
                <a:cubicBezTo>
                  <a:pt x="76472" y="1673085"/>
                  <a:pt x="99959" y="1976510"/>
                  <a:pt x="78658" y="1752848"/>
                </a:cubicBezTo>
                <a:cubicBezTo>
                  <a:pt x="68362" y="1644736"/>
                  <a:pt x="60939" y="1536343"/>
                  <a:pt x="49161" y="1428383"/>
                </a:cubicBezTo>
                <a:cubicBezTo>
                  <a:pt x="34475" y="1293760"/>
                  <a:pt x="20560" y="1217452"/>
                  <a:pt x="0" y="1094086"/>
                </a:cubicBezTo>
                <a:cubicBezTo>
                  <a:pt x="3277" y="992486"/>
                  <a:pt x="5216" y="890834"/>
                  <a:pt x="9832" y="789286"/>
                </a:cubicBezTo>
                <a:cubicBezTo>
                  <a:pt x="11772" y="746598"/>
                  <a:pt x="12639" y="703618"/>
                  <a:pt x="19664" y="661467"/>
                </a:cubicBezTo>
                <a:cubicBezTo>
                  <a:pt x="22566" y="644058"/>
                  <a:pt x="33748" y="629050"/>
                  <a:pt x="39329" y="612306"/>
                </a:cubicBezTo>
                <a:cubicBezTo>
                  <a:pt x="50150" y="579845"/>
                  <a:pt x="57438" y="546250"/>
                  <a:pt x="68826" y="513983"/>
                </a:cubicBezTo>
                <a:cubicBezTo>
                  <a:pt x="95525" y="438335"/>
                  <a:pt x="168489" y="309331"/>
                  <a:pt x="206477" y="268177"/>
                </a:cubicBezTo>
                <a:cubicBezTo>
                  <a:pt x="245806" y="225570"/>
                  <a:pt x="285801" y="183569"/>
                  <a:pt x="324464" y="140357"/>
                </a:cubicBezTo>
                <a:cubicBezTo>
                  <a:pt x="341532" y="121281"/>
                  <a:pt x="357911" y="101569"/>
                  <a:pt x="373626" y="81364"/>
                </a:cubicBezTo>
                <a:cubicBezTo>
                  <a:pt x="380881" y="72036"/>
                  <a:pt x="382318" y="56256"/>
                  <a:pt x="393290" y="51867"/>
                </a:cubicBezTo>
                <a:cubicBezTo>
                  <a:pt x="417823" y="42054"/>
                  <a:pt x="445729" y="45312"/>
                  <a:pt x="471948" y="42035"/>
                </a:cubicBezTo>
                <a:cubicBezTo>
                  <a:pt x="668084" y="-23345"/>
                  <a:pt x="554043" y="8667"/>
                  <a:pt x="983226" y="2706"/>
                </a:cubicBezTo>
                <a:cubicBezTo>
                  <a:pt x="1068493" y="1522"/>
                  <a:pt x="1153651" y="9261"/>
                  <a:pt x="1238864" y="12538"/>
                </a:cubicBezTo>
                <a:cubicBezTo>
                  <a:pt x="1302863" y="55204"/>
                  <a:pt x="1311336" y="55281"/>
                  <a:pt x="1366684" y="120693"/>
                </a:cubicBezTo>
                <a:cubicBezTo>
                  <a:pt x="1417932" y="181259"/>
                  <a:pt x="1514168" y="307506"/>
                  <a:pt x="1514168" y="307506"/>
                </a:cubicBezTo>
                <a:cubicBezTo>
                  <a:pt x="1533832" y="366499"/>
                  <a:pt x="1559380" y="423848"/>
                  <a:pt x="1573161" y="484486"/>
                </a:cubicBezTo>
                <a:cubicBezTo>
                  <a:pt x="1609783" y="645625"/>
                  <a:pt x="1623958" y="684385"/>
                  <a:pt x="1641987" y="828615"/>
                </a:cubicBezTo>
                <a:cubicBezTo>
                  <a:pt x="1653031" y="916962"/>
                  <a:pt x="1661652" y="1005596"/>
                  <a:pt x="1671484" y="1094086"/>
                </a:cubicBezTo>
                <a:cubicBezTo>
                  <a:pt x="1683606" y="1203180"/>
                  <a:pt x="1671931" y="1154420"/>
                  <a:pt x="1700980" y="1241570"/>
                </a:cubicBezTo>
                <a:cubicBezTo>
                  <a:pt x="1682549" y="1481184"/>
                  <a:pt x="1713816" y="1284930"/>
                  <a:pt x="1661651" y="1428383"/>
                </a:cubicBezTo>
                <a:cubicBezTo>
                  <a:pt x="1655940" y="1444089"/>
                  <a:pt x="1655444" y="1461231"/>
                  <a:pt x="1651819" y="1477545"/>
                </a:cubicBezTo>
                <a:cubicBezTo>
                  <a:pt x="1648888" y="1490736"/>
                  <a:pt x="1646732" y="1504221"/>
                  <a:pt x="1641987" y="1516874"/>
                </a:cubicBezTo>
                <a:cubicBezTo>
                  <a:pt x="1636841" y="1530598"/>
                  <a:pt x="1628877" y="1543093"/>
                  <a:pt x="1622322" y="1556203"/>
                </a:cubicBezTo>
                <a:cubicBezTo>
                  <a:pt x="1602879" y="1653420"/>
                  <a:pt x="1627784" y="1555839"/>
                  <a:pt x="1573161" y="1674190"/>
                </a:cubicBezTo>
                <a:cubicBezTo>
                  <a:pt x="1523469" y="1781857"/>
                  <a:pt x="1585577" y="1690410"/>
                  <a:pt x="1524000" y="1772512"/>
                </a:cubicBezTo>
                <a:cubicBezTo>
                  <a:pt x="1517445" y="1795454"/>
                  <a:pt x="1512360" y="1818868"/>
                  <a:pt x="1504335" y="1841338"/>
                </a:cubicBezTo>
                <a:cubicBezTo>
                  <a:pt x="1495940" y="1864844"/>
                  <a:pt x="1482178" y="1886308"/>
                  <a:pt x="1474838" y="1910164"/>
                </a:cubicBezTo>
                <a:cubicBezTo>
                  <a:pt x="1444559" y="2008571"/>
                  <a:pt x="1487033" y="1936116"/>
                  <a:pt x="1445342" y="1998654"/>
                </a:cubicBezTo>
                <a:cubicBezTo>
                  <a:pt x="1448619" y="2070757"/>
                  <a:pt x="1446901" y="2143262"/>
                  <a:pt x="1455174" y="2214964"/>
                </a:cubicBezTo>
                <a:cubicBezTo>
                  <a:pt x="1456854" y="2229524"/>
                  <a:pt x="1469692" y="2240569"/>
                  <a:pt x="1474838" y="2254293"/>
                </a:cubicBezTo>
                <a:cubicBezTo>
                  <a:pt x="1479583" y="2266946"/>
                  <a:pt x="1480959" y="2280629"/>
                  <a:pt x="1484671" y="2293622"/>
                </a:cubicBezTo>
                <a:cubicBezTo>
                  <a:pt x="1487518" y="2303587"/>
                  <a:pt x="1491226" y="2313287"/>
                  <a:pt x="1494503" y="2323119"/>
                </a:cubicBezTo>
                <a:cubicBezTo>
                  <a:pt x="1503190" y="2427370"/>
                  <a:pt x="1510269" y="2522652"/>
                  <a:pt x="1524000" y="2627919"/>
                </a:cubicBezTo>
                <a:cubicBezTo>
                  <a:pt x="1527185" y="2652335"/>
                  <a:pt x="1547466" y="2708150"/>
                  <a:pt x="1553497" y="2726241"/>
                </a:cubicBezTo>
                <a:cubicBezTo>
                  <a:pt x="1556774" y="2768848"/>
                  <a:pt x="1557555" y="2811720"/>
                  <a:pt x="1563329" y="2854061"/>
                </a:cubicBezTo>
                <a:cubicBezTo>
                  <a:pt x="1567411" y="2884000"/>
                  <a:pt x="1576768" y="2912983"/>
                  <a:pt x="1582993" y="2942551"/>
                </a:cubicBezTo>
                <a:cubicBezTo>
                  <a:pt x="1589879" y="2975257"/>
                  <a:pt x="1596103" y="3008100"/>
                  <a:pt x="1602658" y="3040874"/>
                </a:cubicBezTo>
                <a:cubicBezTo>
                  <a:pt x="1589548" y="3149029"/>
                  <a:pt x="1583581" y="3258291"/>
                  <a:pt x="1563329" y="3365338"/>
                </a:cubicBezTo>
                <a:cubicBezTo>
                  <a:pt x="1558915" y="3388669"/>
                  <a:pt x="1512026" y="3423942"/>
                  <a:pt x="1494503" y="3434164"/>
                </a:cubicBezTo>
                <a:cubicBezTo>
                  <a:pt x="1469182" y="3448935"/>
                  <a:pt x="1441580" y="3459456"/>
                  <a:pt x="1415845" y="3473493"/>
                </a:cubicBezTo>
                <a:cubicBezTo>
                  <a:pt x="1338961" y="3515429"/>
                  <a:pt x="1449316" y="3481835"/>
                  <a:pt x="1288026" y="3542319"/>
                </a:cubicBezTo>
                <a:cubicBezTo>
                  <a:pt x="1269359" y="3549319"/>
                  <a:pt x="1248493" y="3547826"/>
                  <a:pt x="1229032" y="3552151"/>
                </a:cubicBezTo>
                <a:cubicBezTo>
                  <a:pt x="1218915" y="3554399"/>
                  <a:pt x="1209367" y="3558706"/>
                  <a:pt x="1199535" y="3561983"/>
                </a:cubicBezTo>
                <a:cubicBezTo>
                  <a:pt x="1186425" y="3571815"/>
                  <a:pt x="1173541" y="3581955"/>
                  <a:pt x="1160206" y="3591480"/>
                </a:cubicBezTo>
                <a:cubicBezTo>
                  <a:pt x="1150590" y="3598349"/>
                  <a:pt x="1142500" y="3610359"/>
                  <a:pt x="1130709" y="3611145"/>
                </a:cubicBezTo>
                <a:cubicBezTo>
                  <a:pt x="1091331" y="3613770"/>
                  <a:pt x="1052051" y="3604590"/>
                  <a:pt x="1012722" y="3601312"/>
                </a:cubicBezTo>
                <a:cubicBezTo>
                  <a:pt x="1002890" y="3598035"/>
                  <a:pt x="991319" y="3597954"/>
                  <a:pt x="983226" y="3591480"/>
                </a:cubicBezTo>
                <a:cubicBezTo>
                  <a:pt x="973998" y="3584098"/>
                  <a:pt x="999613" y="3583287"/>
                  <a:pt x="1002890" y="3581648"/>
                </a:cubicBezTo>
                <a:close/>
              </a:path>
            </a:pathLst>
          </a:custGeom>
          <a:no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eaLnBrk="1" hangingPunct="1"/>
            <a:endParaRPr lang="zh-CN" altLang="en-US"/>
          </a:p>
        </p:txBody>
      </p:sp>
      <p:sp>
        <p:nvSpPr>
          <p:cNvPr id="6" name="任意多边形: 形状 5">
            <a:extLst>
              <a:ext uri="{FF2B5EF4-FFF2-40B4-BE49-F238E27FC236}">
                <a16:creationId xmlns:a16="http://schemas.microsoft.com/office/drawing/2014/main" id="{5E3D441A-D2CE-4835-9CA2-CDB50B0456FE}"/>
              </a:ext>
            </a:extLst>
          </p:cNvPr>
          <p:cNvSpPr/>
          <p:nvPr/>
        </p:nvSpPr>
        <p:spPr bwMode="auto">
          <a:xfrm>
            <a:off x="6695231" y="2064571"/>
            <a:ext cx="1554035" cy="2184939"/>
          </a:xfrm>
          <a:custGeom>
            <a:avLst/>
            <a:gdLst>
              <a:gd name="connsiteX0" fmla="*/ 1524538 w 1554035"/>
              <a:gd name="connsiteY0" fmla="*/ 2074811 h 2184939"/>
              <a:gd name="connsiteX1" fmla="*/ 1524538 w 1554035"/>
              <a:gd name="connsiteY1" fmla="*/ 2074811 h 2184939"/>
              <a:gd name="connsiteX2" fmla="*/ 1268899 w 1554035"/>
              <a:gd name="connsiteY2" fmla="*/ 2163301 h 2184939"/>
              <a:gd name="connsiteX3" fmla="*/ 836280 w 1554035"/>
              <a:gd name="connsiteY3" fmla="*/ 2173133 h 2184939"/>
              <a:gd name="connsiteX4" fmla="*/ 669131 w 1554035"/>
              <a:gd name="connsiteY4" fmla="*/ 2055146 h 2184939"/>
              <a:gd name="connsiteX5" fmla="*/ 531480 w 1554035"/>
              <a:gd name="connsiteY5" fmla="*/ 1897830 h 2184939"/>
              <a:gd name="connsiteX6" fmla="*/ 403660 w 1554035"/>
              <a:gd name="connsiteY6" fmla="*/ 1770011 h 2184939"/>
              <a:gd name="connsiteX7" fmla="*/ 344667 w 1554035"/>
              <a:gd name="connsiteY7" fmla="*/ 1711017 h 2184939"/>
              <a:gd name="connsiteX8" fmla="*/ 295505 w 1554035"/>
              <a:gd name="connsiteY8" fmla="*/ 1632359 h 2184939"/>
              <a:gd name="connsiteX9" fmla="*/ 256176 w 1554035"/>
              <a:gd name="connsiteY9" fmla="*/ 1593030 h 2184939"/>
              <a:gd name="connsiteX10" fmla="*/ 177518 w 1554035"/>
              <a:gd name="connsiteY10" fmla="*/ 1514372 h 2184939"/>
              <a:gd name="connsiteX11" fmla="*/ 157854 w 1554035"/>
              <a:gd name="connsiteY11" fmla="*/ 1465211 h 2184939"/>
              <a:gd name="connsiteX12" fmla="*/ 79196 w 1554035"/>
              <a:gd name="connsiteY12" fmla="*/ 1376720 h 2184939"/>
              <a:gd name="connsiteX13" fmla="*/ 49699 w 1554035"/>
              <a:gd name="connsiteY13" fmla="*/ 1288230 h 2184939"/>
              <a:gd name="connsiteX14" fmla="*/ 20202 w 1554035"/>
              <a:gd name="connsiteY14" fmla="*/ 1199740 h 2184939"/>
              <a:gd name="connsiteX15" fmla="*/ 538 w 1554035"/>
              <a:gd name="connsiteY15" fmla="*/ 1052256 h 2184939"/>
              <a:gd name="connsiteX16" fmla="*/ 10370 w 1554035"/>
              <a:gd name="connsiteY16" fmla="*/ 403327 h 2184939"/>
              <a:gd name="connsiteX17" fmla="*/ 49699 w 1554035"/>
              <a:gd name="connsiteY17" fmla="*/ 285340 h 2184939"/>
              <a:gd name="connsiteX18" fmla="*/ 89028 w 1554035"/>
              <a:gd name="connsiteY18" fmla="*/ 236178 h 2184939"/>
              <a:gd name="connsiteX19" fmla="*/ 118525 w 1554035"/>
              <a:gd name="connsiteY19" fmla="*/ 177185 h 2184939"/>
              <a:gd name="connsiteX20" fmla="*/ 256176 w 1554035"/>
              <a:gd name="connsiteY20" fmla="*/ 59198 h 2184939"/>
              <a:gd name="connsiteX21" fmla="*/ 354499 w 1554035"/>
              <a:gd name="connsiteY21" fmla="*/ 29701 h 2184939"/>
              <a:gd name="connsiteX22" fmla="*/ 383996 w 1554035"/>
              <a:gd name="connsiteY22" fmla="*/ 10036 h 2184939"/>
              <a:gd name="connsiteX23" fmla="*/ 885441 w 1554035"/>
              <a:gd name="connsiteY23" fmla="*/ 19869 h 2184939"/>
              <a:gd name="connsiteX24" fmla="*/ 1042757 w 1554035"/>
              <a:gd name="connsiteY24" fmla="*/ 88695 h 2184939"/>
              <a:gd name="connsiteX25" fmla="*/ 1082086 w 1554035"/>
              <a:gd name="connsiteY25" fmla="*/ 118191 h 2184939"/>
              <a:gd name="connsiteX26" fmla="*/ 1111583 w 1554035"/>
              <a:gd name="connsiteY26" fmla="*/ 157520 h 2184939"/>
              <a:gd name="connsiteX27" fmla="*/ 1209905 w 1554035"/>
              <a:gd name="connsiteY27" fmla="*/ 275507 h 2184939"/>
              <a:gd name="connsiteX28" fmla="*/ 1249235 w 1554035"/>
              <a:gd name="connsiteY28" fmla="*/ 393495 h 2184939"/>
              <a:gd name="connsiteX29" fmla="*/ 1288564 w 1554035"/>
              <a:gd name="connsiteY29" fmla="*/ 481985 h 2184939"/>
              <a:gd name="connsiteX30" fmla="*/ 1327893 w 1554035"/>
              <a:gd name="connsiteY30" fmla="*/ 629469 h 2184939"/>
              <a:gd name="connsiteX31" fmla="*/ 1347557 w 1554035"/>
              <a:gd name="connsiteY31" fmla="*/ 658965 h 2184939"/>
              <a:gd name="connsiteX32" fmla="*/ 1367222 w 1554035"/>
              <a:gd name="connsiteY32" fmla="*/ 786785 h 2184939"/>
              <a:gd name="connsiteX33" fmla="*/ 1396718 w 1554035"/>
              <a:gd name="connsiteY33" fmla="*/ 826114 h 2184939"/>
              <a:gd name="connsiteX34" fmla="*/ 1416383 w 1554035"/>
              <a:gd name="connsiteY34" fmla="*/ 983430 h 2184939"/>
              <a:gd name="connsiteX35" fmla="*/ 1426215 w 1554035"/>
              <a:gd name="connsiteY35" fmla="*/ 1081753 h 2184939"/>
              <a:gd name="connsiteX36" fmla="*/ 1445880 w 1554035"/>
              <a:gd name="connsiteY36" fmla="*/ 1258733 h 2184939"/>
              <a:gd name="connsiteX37" fmla="*/ 1465544 w 1554035"/>
              <a:gd name="connsiteY37" fmla="*/ 1425882 h 2184939"/>
              <a:gd name="connsiteX38" fmla="*/ 1475376 w 1554035"/>
              <a:gd name="connsiteY38" fmla="*/ 1465211 h 2184939"/>
              <a:gd name="connsiteX39" fmla="*/ 1495041 w 1554035"/>
              <a:gd name="connsiteY39" fmla="*/ 1553701 h 2184939"/>
              <a:gd name="connsiteX40" fmla="*/ 1504873 w 1554035"/>
              <a:gd name="connsiteY40" fmla="*/ 1593030 h 2184939"/>
              <a:gd name="connsiteX41" fmla="*/ 1554035 w 1554035"/>
              <a:gd name="connsiteY41" fmla="*/ 1848669 h 2184939"/>
              <a:gd name="connsiteX42" fmla="*/ 1524538 w 1554035"/>
              <a:gd name="connsiteY42" fmla="*/ 2074811 h 2184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554035" h="2184939">
                <a:moveTo>
                  <a:pt x="1524538" y="2074811"/>
                </a:moveTo>
                <a:lnTo>
                  <a:pt x="1524538" y="2074811"/>
                </a:lnTo>
                <a:cubicBezTo>
                  <a:pt x="1439325" y="2104308"/>
                  <a:pt x="1357322" y="2145617"/>
                  <a:pt x="1268899" y="2163301"/>
                </a:cubicBezTo>
                <a:cubicBezTo>
                  <a:pt x="1098875" y="2197306"/>
                  <a:pt x="993872" y="2183639"/>
                  <a:pt x="836280" y="2173133"/>
                </a:cubicBezTo>
                <a:cubicBezTo>
                  <a:pt x="827730" y="2167433"/>
                  <a:pt x="698862" y="2086442"/>
                  <a:pt x="669131" y="2055146"/>
                </a:cubicBezTo>
                <a:cubicBezTo>
                  <a:pt x="621140" y="2004629"/>
                  <a:pt x="583272" y="1944442"/>
                  <a:pt x="531480" y="1897830"/>
                </a:cubicBezTo>
                <a:cubicBezTo>
                  <a:pt x="262525" y="1655772"/>
                  <a:pt x="518501" y="1897613"/>
                  <a:pt x="403660" y="1770011"/>
                </a:cubicBezTo>
                <a:cubicBezTo>
                  <a:pt x="385056" y="1749340"/>
                  <a:pt x="361848" y="1732884"/>
                  <a:pt x="344667" y="1711017"/>
                </a:cubicBezTo>
                <a:cubicBezTo>
                  <a:pt x="325564" y="1686705"/>
                  <a:pt x="314057" y="1657094"/>
                  <a:pt x="295505" y="1632359"/>
                </a:cubicBezTo>
                <a:cubicBezTo>
                  <a:pt x="284381" y="1617527"/>
                  <a:pt x="268385" y="1606983"/>
                  <a:pt x="256176" y="1593030"/>
                </a:cubicBezTo>
                <a:cubicBezTo>
                  <a:pt x="190706" y="1518206"/>
                  <a:pt x="269421" y="1587893"/>
                  <a:pt x="177518" y="1514372"/>
                </a:cubicBezTo>
                <a:cubicBezTo>
                  <a:pt x="170963" y="1497985"/>
                  <a:pt x="168235" y="1479485"/>
                  <a:pt x="157854" y="1465211"/>
                </a:cubicBezTo>
                <a:cubicBezTo>
                  <a:pt x="138371" y="1438421"/>
                  <a:pt x="93947" y="1412122"/>
                  <a:pt x="79196" y="1376720"/>
                </a:cubicBezTo>
                <a:cubicBezTo>
                  <a:pt x="67237" y="1348019"/>
                  <a:pt x="59531" y="1317727"/>
                  <a:pt x="49699" y="1288230"/>
                </a:cubicBezTo>
                <a:lnTo>
                  <a:pt x="20202" y="1199740"/>
                </a:lnTo>
                <a:cubicBezTo>
                  <a:pt x="13574" y="1159973"/>
                  <a:pt x="538" y="1088357"/>
                  <a:pt x="538" y="1052256"/>
                </a:cubicBezTo>
                <a:cubicBezTo>
                  <a:pt x="538" y="835922"/>
                  <a:pt x="-3469" y="619218"/>
                  <a:pt x="10370" y="403327"/>
                </a:cubicBezTo>
                <a:cubicBezTo>
                  <a:pt x="13022" y="361956"/>
                  <a:pt x="23802" y="317712"/>
                  <a:pt x="49699" y="285340"/>
                </a:cubicBezTo>
                <a:cubicBezTo>
                  <a:pt x="62809" y="268953"/>
                  <a:pt x="77761" y="253883"/>
                  <a:pt x="89028" y="236178"/>
                </a:cubicBezTo>
                <a:cubicBezTo>
                  <a:pt x="100831" y="217630"/>
                  <a:pt x="105334" y="194773"/>
                  <a:pt x="118525" y="177185"/>
                </a:cubicBezTo>
                <a:cubicBezTo>
                  <a:pt x="142141" y="145697"/>
                  <a:pt x="224273" y="75149"/>
                  <a:pt x="256176" y="59198"/>
                </a:cubicBezTo>
                <a:cubicBezTo>
                  <a:pt x="286781" y="43896"/>
                  <a:pt x="321725" y="39533"/>
                  <a:pt x="354499" y="29701"/>
                </a:cubicBezTo>
                <a:cubicBezTo>
                  <a:pt x="364331" y="23146"/>
                  <a:pt x="372408" y="12354"/>
                  <a:pt x="383996" y="10036"/>
                </a:cubicBezTo>
                <a:cubicBezTo>
                  <a:pt x="515529" y="-16271"/>
                  <a:pt x="832273" y="17142"/>
                  <a:pt x="885441" y="19869"/>
                </a:cubicBezTo>
                <a:cubicBezTo>
                  <a:pt x="951929" y="44801"/>
                  <a:pt x="980527" y="52394"/>
                  <a:pt x="1042757" y="88695"/>
                </a:cubicBezTo>
                <a:cubicBezTo>
                  <a:pt x="1056912" y="96952"/>
                  <a:pt x="1070499" y="106604"/>
                  <a:pt x="1082086" y="118191"/>
                </a:cubicBezTo>
                <a:cubicBezTo>
                  <a:pt x="1093674" y="129778"/>
                  <a:pt x="1100621" y="145339"/>
                  <a:pt x="1111583" y="157520"/>
                </a:cubicBezTo>
                <a:cubicBezTo>
                  <a:pt x="1152242" y="202697"/>
                  <a:pt x="1184932" y="219319"/>
                  <a:pt x="1209905" y="275507"/>
                </a:cubicBezTo>
                <a:cubicBezTo>
                  <a:pt x="1226742" y="313391"/>
                  <a:pt x="1230695" y="356415"/>
                  <a:pt x="1249235" y="393495"/>
                </a:cubicBezTo>
                <a:cubicBezTo>
                  <a:pt x="1269119" y="433263"/>
                  <a:pt x="1278495" y="445064"/>
                  <a:pt x="1288564" y="481985"/>
                </a:cubicBezTo>
                <a:cubicBezTo>
                  <a:pt x="1294990" y="505545"/>
                  <a:pt x="1317600" y="603735"/>
                  <a:pt x="1327893" y="629469"/>
                </a:cubicBezTo>
                <a:cubicBezTo>
                  <a:pt x="1332282" y="640440"/>
                  <a:pt x="1341002" y="649133"/>
                  <a:pt x="1347557" y="658965"/>
                </a:cubicBezTo>
                <a:cubicBezTo>
                  <a:pt x="1354112" y="701572"/>
                  <a:pt x="1355058" y="745429"/>
                  <a:pt x="1367222" y="786785"/>
                </a:cubicBezTo>
                <a:cubicBezTo>
                  <a:pt x="1371846" y="802506"/>
                  <a:pt x="1392744" y="810216"/>
                  <a:pt x="1396718" y="826114"/>
                </a:cubicBezTo>
                <a:cubicBezTo>
                  <a:pt x="1409535" y="877383"/>
                  <a:pt x="1410325" y="930932"/>
                  <a:pt x="1416383" y="983430"/>
                </a:cubicBezTo>
                <a:cubicBezTo>
                  <a:pt x="1420158" y="1016151"/>
                  <a:pt x="1422706" y="1049003"/>
                  <a:pt x="1426215" y="1081753"/>
                </a:cubicBezTo>
                <a:cubicBezTo>
                  <a:pt x="1432538" y="1140772"/>
                  <a:pt x="1439557" y="1199714"/>
                  <a:pt x="1445880" y="1258733"/>
                </a:cubicBezTo>
                <a:cubicBezTo>
                  <a:pt x="1452071" y="1316514"/>
                  <a:pt x="1455238" y="1369199"/>
                  <a:pt x="1465544" y="1425882"/>
                </a:cubicBezTo>
                <a:cubicBezTo>
                  <a:pt x="1467961" y="1439177"/>
                  <a:pt x="1472337" y="1452044"/>
                  <a:pt x="1475376" y="1465211"/>
                </a:cubicBezTo>
                <a:cubicBezTo>
                  <a:pt x="1482170" y="1494653"/>
                  <a:pt x="1488247" y="1524259"/>
                  <a:pt x="1495041" y="1553701"/>
                </a:cubicBezTo>
                <a:cubicBezTo>
                  <a:pt x="1498080" y="1566868"/>
                  <a:pt x="1502223" y="1579779"/>
                  <a:pt x="1504873" y="1593030"/>
                </a:cubicBezTo>
                <a:cubicBezTo>
                  <a:pt x="1521891" y="1678119"/>
                  <a:pt x="1554035" y="1761895"/>
                  <a:pt x="1554035" y="1848669"/>
                </a:cubicBezTo>
                <a:lnTo>
                  <a:pt x="1524538" y="2074811"/>
                </a:lnTo>
                <a:close/>
              </a:path>
            </a:pathLst>
          </a:custGeom>
          <a:no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eaLnBrk="1" hangingPunct="1"/>
            <a:endParaRPr lang="zh-CN" altLang="en-US"/>
          </a:p>
        </p:txBody>
      </p:sp>
      <p:sp>
        <p:nvSpPr>
          <p:cNvPr id="8" name="任意多边形: 形状 7">
            <a:extLst>
              <a:ext uri="{FF2B5EF4-FFF2-40B4-BE49-F238E27FC236}">
                <a16:creationId xmlns:a16="http://schemas.microsoft.com/office/drawing/2014/main" id="{282DA2B7-82E3-4C15-A4B5-686C35B38149}"/>
              </a:ext>
            </a:extLst>
          </p:cNvPr>
          <p:cNvSpPr/>
          <p:nvPr/>
        </p:nvSpPr>
        <p:spPr bwMode="auto">
          <a:xfrm>
            <a:off x="8071163" y="1415845"/>
            <a:ext cx="1967573" cy="2654710"/>
          </a:xfrm>
          <a:custGeom>
            <a:avLst/>
            <a:gdLst>
              <a:gd name="connsiteX0" fmla="*/ 1967573 w 1967573"/>
              <a:gd name="connsiteY0" fmla="*/ 2379407 h 2654710"/>
              <a:gd name="connsiteX1" fmla="*/ 1967573 w 1967573"/>
              <a:gd name="connsiteY1" fmla="*/ 2379407 h 2654710"/>
              <a:gd name="connsiteX2" fmla="*/ 1682438 w 1967573"/>
              <a:gd name="connsiteY2" fmla="*/ 2399071 h 2654710"/>
              <a:gd name="connsiteX3" fmla="*/ 1633277 w 1967573"/>
              <a:gd name="connsiteY3" fmla="*/ 2418736 h 2654710"/>
              <a:gd name="connsiteX4" fmla="*/ 1505457 w 1967573"/>
              <a:gd name="connsiteY4" fmla="*/ 2497394 h 2654710"/>
              <a:gd name="connsiteX5" fmla="*/ 1446464 w 1967573"/>
              <a:gd name="connsiteY5" fmla="*/ 2536723 h 2654710"/>
              <a:gd name="connsiteX6" fmla="*/ 1239986 w 1967573"/>
              <a:gd name="connsiteY6" fmla="*/ 2585884 h 2654710"/>
              <a:gd name="connsiteX7" fmla="*/ 1053173 w 1967573"/>
              <a:gd name="connsiteY7" fmla="*/ 2615381 h 2654710"/>
              <a:gd name="connsiteX8" fmla="*/ 994180 w 1967573"/>
              <a:gd name="connsiteY8" fmla="*/ 2625213 h 2654710"/>
              <a:gd name="connsiteX9" fmla="*/ 915522 w 1967573"/>
              <a:gd name="connsiteY9" fmla="*/ 2635045 h 2654710"/>
              <a:gd name="connsiteX10" fmla="*/ 827032 w 1967573"/>
              <a:gd name="connsiteY10" fmla="*/ 2654710 h 2654710"/>
              <a:gd name="connsiteX11" fmla="*/ 551728 w 1967573"/>
              <a:gd name="connsiteY11" fmla="*/ 2644878 h 2654710"/>
              <a:gd name="connsiteX12" fmla="*/ 463238 w 1967573"/>
              <a:gd name="connsiteY12" fmla="*/ 2585884 h 2654710"/>
              <a:gd name="connsiteX13" fmla="*/ 325586 w 1967573"/>
              <a:gd name="connsiteY13" fmla="*/ 2467897 h 2654710"/>
              <a:gd name="connsiteX14" fmla="*/ 286257 w 1967573"/>
              <a:gd name="connsiteY14" fmla="*/ 2418736 h 2654710"/>
              <a:gd name="connsiteX15" fmla="*/ 266593 w 1967573"/>
              <a:gd name="connsiteY15" fmla="*/ 2379407 h 2654710"/>
              <a:gd name="connsiteX16" fmla="*/ 197767 w 1967573"/>
              <a:gd name="connsiteY16" fmla="*/ 2281084 h 2654710"/>
              <a:gd name="connsiteX17" fmla="*/ 187935 w 1967573"/>
              <a:gd name="connsiteY17" fmla="*/ 2251587 h 2654710"/>
              <a:gd name="connsiteX18" fmla="*/ 128941 w 1967573"/>
              <a:gd name="connsiteY18" fmla="*/ 2172929 h 2654710"/>
              <a:gd name="connsiteX19" fmla="*/ 89612 w 1967573"/>
              <a:gd name="connsiteY19" fmla="*/ 2064774 h 2654710"/>
              <a:gd name="connsiteX20" fmla="*/ 50283 w 1967573"/>
              <a:gd name="connsiteY20" fmla="*/ 1868129 h 2654710"/>
              <a:gd name="connsiteX21" fmla="*/ 20786 w 1967573"/>
              <a:gd name="connsiteY21" fmla="*/ 1582994 h 2654710"/>
              <a:gd name="connsiteX22" fmla="*/ 1122 w 1967573"/>
              <a:gd name="connsiteY22" fmla="*/ 1111045 h 2654710"/>
              <a:gd name="connsiteX23" fmla="*/ 10954 w 1967573"/>
              <a:gd name="connsiteY23" fmla="*/ 304800 h 2654710"/>
              <a:gd name="connsiteX24" fmla="*/ 69948 w 1967573"/>
              <a:gd name="connsiteY24" fmla="*/ 235974 h 2654710"/>
              <a:gd name="connsiteX25" fmla="*/ 187935 w 1967573"/>
              <a:gd name="connsiteY25" fmla="*/ 157316 h 2654710"/>
              <a:gd name="connsiteX26" fmla="*/ 315754 w 1967573"/>
              <a:gd name="connsiteY26" fmla="*/ 98323 h 2654710"/>
              <a:gd name="connsiteX27" fmla="*/ 433741 w 1967573"/>
              <a:gd name="connsiteY27" fmla="*/ 78658 h 2654710"/>
              <a:gd name="connsiteX28" fmla="*/ 630386 w 1967573"/>
              <a:gd name="connsiteY28" fmla="*/ 29497 h 2654710"/>
              <a:gd name="connsiteX29" fmla="*/ 718877 w 1967573"/>
              <a:gd name="connsiteY29" fmla="*/ 19665 h 2654710"/>
              <a:gd name="connsiteX30" fmla="*/ 836864 w 1967573"/>
              <a:gd name="connsiteY30" fmla="*/ 0 h 2654710"/>
              <a:gd name="connsiteX31" fmla="*/ 1239986 w 1967573"/>
              <a:gd name="connsiteY31" fmla="*/ 29497 h 2654710"/>
              <a:gd name="connsiteX32" fmla="*/ 1318644 w 1967573"/>
              <a:gd name="connsiteY32" fmla="*/ 88490 h 2654710"/>
              <a:gd name="connsiteX33" fmla="*/ 1475961 w 1967573"/>
              <a:gd name="connsiteY33" fmla="*/ 245807 h 2654710"/>
              <a:gd name="connsiteX34" fmla="*/ 1505457 w 1967573"/>
              <a:gd name="connsiteY34" fmla="*/ 275303 h 2654710"/>
              <a:gd name="connsiteX35" fmla="*/ 1584115 w 1967573"/>
              <a:gd name="connsiteY35" fmla="*/ 403123 h 2654710"/>
              <a:gd name="connsiteX36" fmla="*/ 1613612 w 1967573"/>
              <a:gd name="connsiteY36" fmla="*/ 432620 h 2654710"/>
              <a:gd name="connsiteX37" fmla="*/ 1672606 w 1967573"/>
              <a:gd name="connsiteY37" fmla="*/ 550607 h 2654710"/>
              <a:gd name="connsiteX38" fmla="*/ 1692270 w 1967573"/>
              <a:gd name="connsiteY38" fmla="*/ 629265 h 2654710"/>
              <a:gd name="connsiteX39" fmla="*/ 1741432 w 1967573"/>
              <a:gd name="connsiteY39" fmla="*/ 786581 h 2654710"/>
              <a:gd name="connsiteX40" fmla="*/ 1761096 w 1967573"/>
              <a:gd name="connsiteY40" fmla="*/ 904568 h 2654710"/>
              <a:gd name="connsiteX41" fmla="*/ 1820090 w 1967573"/>
              <a:gd name="connsiteY41" fmla="*/ 1081549 h 2654710"/>
              <a:gd name="connsiteX42" fmla="*/ 1849586 w 1967573"/>
              <a:gd name="connsiteY42" fmla="*/ 1258529 h 2654710"/>
              <a:gd name="connsiteX43" fmla="*/ 1869251 w 1967573"/>
              <a:gd name="connsiteY43" fmla="*/ 1337187 h 2654710"/>
              <a:gd name="connsiteX44" fmla="*/ 1918412 w 1967573"/>
              <a:gd name="connsiteY44" fmla="*/ 1612490 h 2654710"/>
              <a:gd name="connsiteX45" fmla="*/ 1938077 w 1967573"/>
              <a:gd name="connsiteY45" fmla="*/ 1779639 h 2654710"/>
              <a:gd name="connsiteX46" fmla="*/ 1957741 w 1967573"/>
              <a:gd name="connsiteY46" fmla="*/ 1897626 h 2654710"/>
              <a:gd name="connsiteX47" fmla="*/ 1967573 w 1967573"/>
              <a:gd name="connsiteY47" fmla="*/ 2379407 h 2654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7573" h="2654710">
                <a:moveTo>
                  <a:pt x="1967573" y="2379407"/>
                </a:moveTo>
                <a:lnTo>
                  <a:pt x="1967573" y="2379407"/>
                </a:lnTo>
                <a:cubicBezTo>
                  <a:pt x="1872528" y="2385962"/>
                  <a:pt x="1777056" y="2387939"/>
                  <a:pt x="1682438" y="2399071"/>
                </a:cubicBezTo>
                <a:cubicBezTo>
                  <a:pt x="1664909" y="2401133"/>
                  <a:pt x="1649063" y="2410843"/>
                  <a:pt x="1633277" y="2418736"/>
                </a:cubicBezTo>
                <a:cubicBezTo>
                  <a:pt x="1582223" y="2444263"/>
                  <a:pt x="1552187" y="2466240"/>
                  <a:pt x="1505457" y="2497394"/>
                </a:cubicBezTo>
                <a:cubicBezTo>
                  <a:pt x="1485793" y="2510504"/>
                  <a:pt x="1468407" y="2527946"/>
                  <a:pt x="1446464" y="2536723"/>
                </a:cubicBezTo>
                <a:cubicBezTo>
                  <a:pt x="1314530" y="2589496"/>
                  <a:pt x="1383295" y="2572856"/>
                  <a:pt x="1239986" y="2585884"/>
                </a:cubicBezTo>
                <a:cubicBezTo>
                  <a:pt x="1119580" y="2620287"/>
                  <a:pt x="1217490" y="2597124"/>
                  <a:pt x="1053173" y="2615381"/>
                </a:cubicBezTo>
                <a:cubicBezTo>
                  <a:pt x="1033359" y="2617582"/>
                  <a:pt x="1013915" y="2622394"/>
                  <a:pt x="994180" y="2625213"/>
                </a:cubicBezTo>
                <a:cubicBezTo>
                  <a:pt x="968022" y="2628950"/>
                  <a:pt x="941638" y="2631027"/>
                  <a:pt x="915522" y="2635045"/>
                </a:cubicBezTo>
                <a:cubicBezTo>
                  <a:pt x="883079" y="2640036"/>
                  <a:pt x="858341" y="2646883"/>
                  <a:pt x="827032" y="2654710"/>
                </a:cubicBezTo>
                <a:cubicBezTo>
                  <a:pt x="735264" y="2651433"/>
                  <a:pt x="642926" y="2655607"/>
                  <a:pt x="551728" y="2644878"/>
                </a:cubicBezTo>
                <a:cubicBezTo>
                  <a:pt x="499450" y="2638728"/>
                  <a:pt x="496168" y="2612228"/>
                  <a:pt x="463238" y="2585884"/>
                </a:cubicBezTo>
                <a:cubicBezTo>
                  <a:pt x="392721" y="2529471"/>
                  <a:pt x="385911" y="2543303"/>
                  <a:pt x="325586" y="2467897"/>
                </a:cubicBezTo>
                <a:cubicBezTo>
                  <a:pt x="312476" y="2451510"/>
                  <a:pt x="297898" y="2436197"/>
                  <a:pt x="286257" y="2418736"/>
                </a:cubicBezTo>
                <a:cubicBezTo>
                  <a:pt x="278127" y="2406541"/>
                  <a:pt x="274134" y="2391975"/>
                  <a:pt x="266593" y="2379407"/>
                </a:cubicBezTo>
                <a:cubicBezTo>
                  <a:pt x="242383" y="2339056"/>
                  <a:pt x="224659" y="2316940"/>
                  <a:pt x="197767" y="2281084"/>
                </a:cubicBezTo>
                <a:cubicBezTo>
                  <a:pt x="194490" y="2271252"/>
                  <a:pt x="193684" y="2260211"/>
                  <a:pt x="187935" y="2251587"/>
                </a:cubicBezTo>
                <a:cubicBezTo>
                  <a:pt x="119693" y="2149223"/>
                  <a:pt x="200270" y="2315587"/>
                  <a:pt x="128941" y="2172929"/>
                </a:cubicBezTo>
                <a:cubicBezTo>
                  <a:pt x="117215" y="2149478"/>
                  <a:pt x="96494" y="2087713"/>
                  <a:pt x="89612" y="2064774"/>
                </a:cubicBezTo>
                <a:cubicBezTo>
                  <a:pt x="74520" y="2014468"/>
                  <a:pt x="51949" y="1877707"/>
                  <a:pt x="50283" y="1868129"/>
                </a:cubicBezTo>
                <a:cubicBezTo>
                  <a:pt x="34992" y="1780206"/>
                  <a:pt x="27617" y="1658131"/>
                  <a:pt x="20786" y="1582994"/>
                </a:cubicBezTo>
                <a:cubicBezTo>
                  <a:pt x="14231" y="1425678"/>
                  <a:pt x="2333" y="1268493"/>
                  <a:pt x="1122" y="1111045"/>
                </a:cubicBezTo>
                <a:cubicBezTo>
                  <a:pt x="-945" y="842285"/>
                  <a:pt x="-1390" y="573285"/>
                  <a:pt x="10954" y="304800"/>
                </a:cubicBezTo>
                <a:cubicBezTo>
                  <a:pt x="12893" y="262628"/>
                  <a:pt x="45350" y="255652"/>
                  <a:pt x="69948" y="235974"/>
                </a:cubicBezTo>
                <a:cubicBezTo>
                  <a:pt x="181910" y="146404"/>
                  <a:pt x="93349" y="199354"/>
                  <a:pt x="187935" y="157316"/>
                </a:cubicBezTo>
                <a:cubicBezTo>
                  <a:pt x="230816" y="138258"/>
                  <a:pt x="271061" y="112625"/>
                  <a:pt x="315754" y="98323"/>
                </a:cubicBezTo>
                <a:cubicBezTo>
                  <a:pt x="353729" y="86171"/>
                  <a:pt x="394791" y="87178"/>
                  <a:pt x="433741" y="78658"/>
                </a:cubicBezTo>
                <a:cubicBezTo>
                  <a:pt x="499746" y="64219"/>
                  <a:pt x="564222" y="43186"/>
                  <a:pt x="630386" y="29497"/>
                </a:cubicBezTo>
                <a:cubicBezTo>
                  <a:pt x="659449" y="23484"/>
                  <a:pt x="689497" y="23862"/>
                  <a:pt x="718877" y="19665"/>
                </a:cubicBezTo>
                <a:cubicBezTo>
                  <a:pt x="758348" y="14026"/>
                  <a:pt x="797535" y="6555"/>
                  <a:pt x="836864" y="0"/>
                </a:cubicBezTo>
                <a:cubicBezTo>
                  <a:pt x="971238" y="9832"/>
                  <a:pt x="1107469" y="5157"/>
                  <a:pt x="1239986" y="29497"/>
                </a:cubicBezTo>
                <a:cubicBezTo>
                  <a:pt x="1272221" y="35418"/>
                  <a:pt x="1293052" y="68016"/>
                  <a:pt x="1318644" y="88490"/>
                </a:cubicBezTo>
                <a:cubicBezTo>
                  <a:pt x="1510168" y="241708"/>
                  <a:pt x="1382668" y="125859"/>
                  <a:pt x="1475961" y="245807"/>
                </a:cubicBezTo>
                <a:cubicBezTo>
                  <a:pt x="1484498" y="256783"/>
                  <a:pt x="1497580" y="263845"/>
                  <a:pt x="1505457" y="275303"/>
                </a:cubicBezTo>
                <a:cubicBezTo>
                  <a:pt x="1533799" y="316528"/>
                  <a:pt x="1548740" y="367748"/>
                  <a:pt x="1584115" y="403123"/>
                </a:cubicBezTo>
                <a:cubicBezTo>
                  <a:pt x="1593947" y="412955"/>
                  <a:pt x="1605269" y="421496"/>
                  <a:pt x="1613612" y="432620"/>
                </a:cubicBezTo>
                <a:cubicBezTo>
                  <a:pt x="1636144" y="462663"/>
                  <a:pt x="1661451" y="517141"/>
                  <a:pt x="1672606" y="550607"/>
                </a:cubicBezTo>
                <a:cubicBezTo>
                  <a:pt x="1681152" y="576246"/>
                  <a:pt x="1684209" y="603469"/>
                  <a:pt x="1692270" y="629265"/>
                </a:cubicBezTo>
                <a:cubicBezTo>
                  <a:pt x="1727579" y="742253"/>
                  <a:pt x="1718525" y="672047"/>
                  <a:pt x="1741432" y="786581"/>
                </a:cubicBezTo>
                <a:cubicBezTo>
                  <a:pt x="1749251" y="825678"/>
                  <a:pt x="1752260" y="865688"/>
                  <a:pt x="1761096" y="904568"/>
                </a:cubicBezTo>
                <a:cubicBezTo>
                  <a:pt x="1775535" y="968098"/>
                  <a:pt x="1797487" y="1021275"/>
                  <a:pt x="1820090" y="1081549"/>
                </a:cubicBezTo>
                <a:cubicBezTo>
                  <a:pt x="1830084" y="1151507"/>
                  <a:pt x="1833714" y="1183138"/>
                  <a:pt x="1849586" y="1258529"/>
                </a:cubicBezTo>
                <a:cubicBezTo>
                  <a:pt x="1855154" y="1284976"/>
                  <a:pt x="1864330" y="1310613"/>
                  <a:pt x="1869251" y="1337187"/>
                </a:cubicBezTo>
                <a:cubicBezTo>
                  <a:pt x="1938946" y="1713532"/>
                  <a:pt x="1868065" y="1385922"/>
                  <a:pt x="1918412" y="1612490"/>
                </a:cubicBezTo>
                <a:cubicBezTo>
                  <a:pt x="1922493" y="1649220"/>
                  <a:pt x="1932281" y="1740997"/>
                  <a:pt x="1938077" y="1779639"/>
                </a:cubicBezTo>
                <a:cubicBezTo>
                  <a:pt x="1943992" y="1819069"/>
                  <a:pt x="1957741" y="1897626"/>
                  <a:pt x="1957741" y="1897626"/>
                </a:cubicBezTo>
                <a:lnTo>
                  <a:pt x="1967573" y="2379407"/>
                </a:lnTo>
                <a:close/>
              </a:path>
            </a:pathLst>
          </a:custGeom>
          <a:no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eaLnBrk="1" hangingPunct="1"/>
            <a:endParaRPr lang="zh-CN" altLang="en-US"/>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bg/>
                                          </p:spTgt>
                                        </p:tgtEl>
                                        <p:attrNameLst>
                                          <p:attrName>style.visibility</p:attrName>
                                        </p:attrNameLst>
                                      </p:cBhvr>
                                      <p:to>
                                        <p:strVal val="visible"/>
                                      </p:to>
                                    </p:set>
                                    <p:animEffect transition="in" filter="fade">
                                      <p:cBhvr>
                                        <p:cTn id="27" dur="500"/>
                                        <p:tgtEl>
                                          <p:spTgt spid="5">
                                            <p:bg/>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xEl>
                                              <p:pRg st="0" end="0"/>
                                            </p:txEl>
                                          </p:spTgt>
                                        </p:tgtEl>
                                        <p:attrNameLst>
                                          <p:attrName>style.visibility</p:attrName>
                                        </p:attrNameLst>
                                      </p:cBhvr>
                                      <p:to>
                                        <p:strVal val="visible"/>
                                      </p:to>
                                    </p:set>
                                    <p:animEffect transition="in" filter="fade">
                                      <p:cBhvr>
                                        <p:cTn id="30" dur="500"/>
                                        <p:tgtEl>
                                          <p:spTgt spid="5">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animBg="1"/>
      <p:bldP spid="2" grpId="0" animBg="1"/>
      <p:bldP spid="3" grpId="0" animBg="1"/>
      <p:bldP spid="4" grpId="0" animBg="1"/>
      <p:bldP spid="6" grpId="0" animBg="1"/>
      <p:bldP spid="8"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46" name="Picture 5" descr="peptide-1b">
            <a:extLst>
              <a:ext uri="{FF2B5EF4-FFF2-40B4-BE49-F238E27FC236}">
                <a16:creationId xmlns:a16="http://schemas.microsoft.com/office/drawing/2014/main" id="{B7F1A8D3-34A5-4F8A-87F5-85BD28F818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1" y="692151"/>
            <a:ext cx="9109075" cy="232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47" name="Rectangle 9">
            <a:extLst>
              <a:ext uri="{FF2B5EF4-FFF2-40B4-BE49-F238E27FC236}">
                <a16:creationId xmlns:a16="http://schemas.microsoft.com/office/drawing/2014/main" id="{A2AB4DBC-92D4-44D6-A010-43C2E488433E}"/>
              </a:ext>
            </a:extLst>
          </p:cNvPr>
          <p:cNvSpPr>
            <a:spLocks noChangeArrowheads="1"/>
          </p:cNvSpPr>
          <p:nvPr/>
        </p:nvSpPr>
        <p:spPr bwMode="auto">
          <a:xfrm>
            <a:off x="2135188" y="3140075"/>
            <a:ext cx="7504112" cy="66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90000" tIns="46800" rIns="90000" bIns="46800">
            <a:spAutoFit/>
          </a:bodyPr>
          <a:lstStyle>
            <a:lvl1pPr marL="271463" indent="-271463">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50000"/>
              </a:lnSpc>
              <a:spcBef>
                <a:spcPct val="0"/>
              </a:spcBef>
              <a:buClrTx/>
              <a:buFontTx/>
              <a:buNone/>
            </a:pPr>
            <a:r>
              <a:rPr kumimoji="1" lang="en-US" altLang="zh-CN">
                <a:solidFill>
                  <a:srgbClr val="CC00CC"/>
                </a:solidFill>
              </a:rPr>
              <a:t>   </a:t>
            </a:r>
            <a:endParaRPr kumimoji="1" lang="en-US" altLang="zh-CN">
              <a:solidFill>
                <a:schemeClr val="tx1"/>
              </a:solidFill>
            </a:endParaRPr>
          </a:p>
        </p:txBody>
      </p:sp>
      <p:sp>
        <p:nvSpPr>
          <p:cNvPr id="134148" name="Rectangle 10" descr="Rectangle: Click to edit Master text styles&#10;Second level&#10;Third level&#10;Fourth level&#10;Fifth level">
            <a:extLst>
              <a:ext uri="{FF2B5EF4-FFF2-40B4-BE49-F238E27FC236}">
                <a16:creationId xmlns:a16="http://schemas.microsoft.com/office/drawing/2014/main" id="{58AB3DC5-C7F1-45CD-8734-772843F08F59}"/>
              </a:ext>
            </a:extLst>
          </p:cNvPr>
          <p:cNvSpPr>
            <a:spLocks noChangeArrowheads="1"/>
          </p:cNvSpPr>
          <p:nvPr/>
        </p:nvSpPr>
        <p:spPr bwMode="auto">
          <a:xfrm>
            <a:off x="2009775" y="2870201"/>
            <a:ext cx="8135938"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57188" indent="-357188">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just" eaLnBrk="1" hangingPunct="1">
              <a:lnSpc>
                <a:spcPct val="130000"/>
              </a:lnSpc>
              <a:spcBef>
                <a:spcPct val="0"/>
              </a:spcBef>
              <a:buClrTx/>
              <a:buFontTx/>
              <a:buNone/>
            </a:pPr>
            <a:r>
              <a:rPr kumimoji="1" lang="en-US" altLang="zh-CN" sz="2400" dirty="0">
                <a:solidFill>
                  <a:srgbClr val="006600"/>
                </a:solidFill>
                <a:latin typeface="宋体" panose="02010600030101010101" pitchFamily="2" charset="-122"/>
                <a:ea typeface="宋体" panose="02010600030101010101" pitchFamily="2" charset="-122"/>
              </a:rPr>
              <a:t>* </a:t>
            </a:r>
            <a:r>
              <a:rPr kumimoji="1" lang="zh-CN" altLang="en-US" sz="2400" dirty="0">
                <a:solidFill>
                  <a:schemeClr val="tx1"/>
                </a:solidFill>
                <a:latin typeface="宋体" panose="02010600030101010101" pitchFamily="2" charset="-122"/>
                <a:ea typeface="宋体" panose="02010600030101010101" pitchFamily="2" charset="-122"/>
              </a:rPr>
              <a:t>多肽链中的氨基酸分子因为脱水缩合而基团不全，被称为</a:t>
            </a:r>
            <a:r>
              <a:rPr kumimoji="1" lang="zh-CN" altLang="en-US" sz="2400" dirty="0">
                <a:solidFill>
                  <a:srgbClr val="FF0000"/>
                </a:solidFill>
                <a:latin typeface="宋体" panose="02010600030101010101" pitchFamily="2" charset="-122"/>
                <a:ea typeface="宋体" panose="02010600030101010101" pitchFamily="2" charset="-122"/>
              </a:rPr>
              <a:t>氨基酸残基</a:t>
            </a:r>
            <a:r>
              <a:rPr kumimoji="1" lang="en-US" altLang="zh-CN" sz="2400" dirty="0">
                <a:solidFill>
                  <a:srgbClr val="FF0000"/>
                </a:solidFill>
                <a:latin typeface="宋体" panose="02010600030101010101" pitchFamily="2" charset="-122"/>
                <a:ea typeface="宋体" panose="02010600030101010101" pitchFamily="2" charset="-122"/>
              </a:rPr>
              <a:t>(residue)</a:t>
            </a:r>
            <a:r>
              <a:rPr kumimoji="1" lang="zh-CN" altLang="en-US" sz="2400" dirty="0">
                <a:solidFill>
                  <a:schemeClr val="tx1"/>
                </a:solidFill>
                <a:latin typeface="宋体" panose="02010600030101010101" pitchFamily="2" charset="-122"/>
                <a:ea typeface="宋体" panose="02010600030101010101" pitchFamily="2" charset="-122"/>
              </a:rPr>
              <a:t>。</a:t>
            </a:r>
          </a:p>
        </p:txBody>
      </p:sp>
      <p:sp>
        <p:nvSpPr>
          <p:cNvPr id="134149" name="标题 2">
            <a:extLst>
              <a:ext uri="{FF2B5EF4-FFF2-40B4-BE49-F238E27FC236}">
                <a16:creationId xmlns:a16="http://schemas.microsoft.com/office/drawing/2014/main" id="{4C4FD2A7-1FA6-40D6-BC31-14AB92D1831E}"/>
              </a:ext>
            </a:extLst>
          </p:cNvPr>
          <p:cNvSpPr>
            <a:spLocks noGrp="1"/>
          </p:cNvSpPr>
          <p:nvPr>
            <p:ph type="title"/>
          </p:nvPr>
        </p:nvSpPr>
        <p:spPr>
          <a:xfrm>
            <a:off x="1703389" y="44451"/>
            <a:ext cx="8785225" cy="650875"/>
          </a:xfrm>
          <a:ln>
            <a:solidFill>
              <a:srgbClr val="FFFFFF"/>
            </a:solidFill>
            <a:miter lim="800000"/>
            <a:headEnd/>
            <a:tailEnd/>
          </a:ln>
        </p:spPr>
        <p:txBody>
          <a:bodyPr/>
          <a:lstStyle/>
          <a:p>
            <a:r>
              <a:rPr kumimoji="1" lang="zh-CN" altLang="en-US" sz="3200"/>
              <a:t>多肽又称多肽链</a:t>
            </a:r>
            <a:r>
              <a:rPr kumimoji="1" lang="en-US" altLang="zh-CN" sz="3200"/>
              <a:t>(polypeptide chain)</a:t>
            </a:r>
            <a:endParaRPr lang="zh-CN" altLang="en-US" sz="3200"/>
          </a:p>
        </p:txBody>
      </p:sp>
      <p:sp>
        <p:nvSpPr>
          <p:cNvPr id="11" name="Text Box 2">
            <a:extLst>
              <a:ext uri="{FF2B5EF4-FFF2-40B4-BE49-F238E27FC236}">
                <a16:creationId xmlns:a16="http://schemas.microsoft.com/office/drawing/2014/main" id="{E79349F1-7A1A-4D33-B0B0-A046BF5EE602}"/>
              </a:ext>
            </a:extLst>
          </p:cNvPr>
          <p:cNvSpPr txBox="1">
            <a:spLocks noChangeArrowheads="1"/>
          </p:cNvSpPr>
          <p:nvPr/>
        </p:nvSpPr>
        <p:spPr bwMode="auto">
          <a:xfrm>
            <a:off x="2424114" y="4649788"/>
            <a:ext cx="8027987" cy="86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80000"/>
              </a:lnSpc>
              <a:spcBef>
                <a:spcPct val="50000"/>
              </a:spcBef>
              <a:buClrTx/>
              <a:buFontTx/>
              <a:buNone/>
            </a:pPr>
            <a:r>
              <a:rPr kumimoji="1" lang="en-US" altLang="zh-CN" sz="2400" dirty="0">
                <a:solidFill>
                  <a:srgbClr val="FF0000"/>
                </a:solidFill>
              </a:rPr>
              <a:t>N </a:t>
            </a:r>
            <a:r>
              <a:rPr kumimoji="1" lang="zh-CN" altLang="en-US" sz="2400" dirty="0">
                <a:solidFill>
                  <a:srgbClr val="FF0000"/>
                </a:solidFill>
              </a:rPr>
              <a:t>端（氨基末端）：</a:t>
            </a:r>
            <a:r>
              <a:rPr kumimoji="1" lang="zh-CN" altLang="en-US" sz="2400" dirty="0">
                <a:solidFill>
                  <a:schemeClr val="tx1"/>
                </a:solidFill>
              </a:rPr>
              <a:t>多肽链中有</a:t>
            </a:r>
            <a:r>
              <a:rPr kumimoji="1" lang="zh-CN" altLang="en-US" sz="2400" u="sng" dirty="0">
                <a:solidFill>
                  <a:schemeClr val="tx1"/>
                </a:solidFill>
              </a:rPr>
              <a:t>自由氨基</a:t>
            </a:r>
            <a:r>
              <a:rPr kumimoji="1" lang="zh-CN" altLang="en-US" sz="2400" dirty="0">
                <a:solidFill>
                  <a:schemeClr val="tx1"/>
                </a:solidFill>
              </a:rPr>
              <a:t>的一端</a:t>
            </a:r>
          </a:p>
          <a:p>
            <a:pPr eaLnBrk="1" hangingPunct="1">
              <a:lnSpc>
                <a:spcPct val="80000"/>
              </a:lnSpc>
              <a:spcBef>
                <a:spcPct val="50000"/>
              </a:spcBef>
              <a:buClrTx/>
              <a:buFontTx/>
              <a:buNone/>
            </a:pPr>
            <a:r>
              <a:rPr kumimoji="1" lang="en-US" altLang="zh-CN" sz="2400" dirty="0">
                <a:solidFill>
                  <a:srgbClr val="FF0000"/>
                </a:solidFill>
              </a:rPr>
              <a:t>C </a:t>
            </a:r>
            <a:r>
              <a:rPr kumimoji="1" lang="zh-CN" altLang="en-US" sz="2400" dirty="0">
                <a:solidFill>
                  <a:srgbClr val="FF0000"/>
                </a:solidFill>
              </a:rPr>
              <a:t>端（羧基末端）：</a:t>
            </a:r>
            <a:r>
              <a:rPr kumimoji="1" lang="zh-CN" altLang="en-US" sz="2400" dirty="0">
                <a:solidFill>
                  <a:schemeClr val="tx1"/>
                </a:solidFill>
              </a:rPr>
              <a:t>多肽链中有</a:t>
            </a:r>
            <a:r>
              <a:rPr kumimoji="1" lang="zh-CN" altLang="en-US" sz="2400" u="sng" dirty="0">
                <a:solidFill>
                  <a:schemeClr val="tx1"/>
                </a:solidFill>
              </a:rPr>
              <a:t>自由羧基</a:t>
            </a:r>
            <a:r>
              <a:rPr kumimoji="1" lang="zh-CN" altLang="en-US" sz="2400" dirty="0">
                <a:solidFill>
                  <a:schemeClr val="tx1"/>
                </a:solidFill>
              </a:rPr>
              <a:t>的一端</a:t>
            </a:r>
            <a:endParaRPr kumimoji="1" lang="zh-CN" altLang="en-US" sz="2400" u="sng" dirty="0">
              <a:solidFill>
                <a:schemeClr val="tx1"/>
              </a:solidFill>
            </a:endParaRPr>
          </a:p>
        </p:txBody>
      </p:sp>
      <p:sp>
        <p:nvSpPr>
          <p:cNvPr id="12" name="Rectangle 3">
            <a:extLst>
              <a:ext uri="{FF2B5EF4-FFF2-40B4-BE49-F238E27FC236}">
                <a16:creationId xmlns:a16="http://schemas.microsoft.com/office/drawing/2014/main" id="{8D517AE5-DD53-4EBD-A6CD-2BED56029A54}"/>
              </a:ext>
            </a:extLst>
          </p:cNvPr>
          <p:cNvSpPr>
            <a:spLocks noChangeArrowheads="1"/>
          </p:cNvSpPr>
          <p:nvPr/>
        </p:nvSpPr>
        <p:spPr bwMode="auto">
          <a:xfrm>
            <a:off x="2351088" y="3962401"/>
            <a:ext cx="3205162" cy="626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40000"/>
              </a:lnSpc>
              <a:spcBef>
                <a:spcPct val="0"/>
              </a:spcBef>
              <a:buClrTx/>
              <a:buFontTx/>
              <a:buNone/>
            </a:pPr>
            <a:r>
              <a:rPr kumimoji="1" lang="zh-CN" altLang="en-US">
                <a:solidFill>
                  <a:srgbClr val="006600"/>
                </a:solidFill>
              </a:rPr>
              <a:t>多肽链有两端</a:t>
            </a:r>
          </a:p>
        </p:txBody>
      </p:sp>
      <p:grpSp>
        <p:nvGrpSpPr>
          <p:cNvPr id="13" name="Group 7">
            <a:extLst>
              <a:ext uri="{FF2B5EF4-FFF2-40B4-BE49-F238E27FC236}">
                <a16:creationId xmlns:a16="http://schemas.microsoft.com/office/drawing/2014/main" id="{6A07E988-4ED4-47B0-8941-55BC17F9FE0B}"/>
              </a:ext>
            </a:extLst>
          </p:cNvPr>
          <p:cNvGrpSpPr>
            <a:grpSpLocks/>
          </p:cNvGrpSpPr>
          <p:nvPr/>
        </p:nvGrpSpPr>
        <p:grpSpPr bwMode="auto">
          <a:xfrm>
            <a:off x="2351089" y="5949951"/>
            <a:ext cx="6048375" cy="519113"/>
            <a:chOff x="431" y="3680"/>
            <a:chExt cx="3810" cy="327"/>
          </a:xfrm>
        </p:grpSpPr>
        <p:sp>
          <p:nvSpPr>
            <p:cNvPr id="134153" name="Rectangle 5">
              <a:extLst>
                <a:ext uri="{FF2B5EF4-FFF2-40B4-BE49-F238E27FC236}">
                  <a16:creationId xmlns:a16="http://schemas.microsoft.com/office/drawing/2014/main" id="{620BC3DF-3C11-4E21-9B87-545FACD31E46}"/>
                </a:ext>
              </a:extLst>
            </p:cNvPr>
            <p:cNvSpPr>
              <a:spLocks noChangeArrowheads="1"/>
            </p:cNvSpPr>
            <p:nvPr/>
          </p:nvSpPr>
          <p:spPr bwMode="auto">
            <a:xfrm>
              <a:off x="431" y="3680"/>
              <a:ext cx="381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a:solidFill>
                    <a:srgbClr val="006600"/>
                  </a:solidFill>
                </a:rPr>
                <a:t>多肽链有方向性：</a:t>
              </a:r>
              <a:r>
                <a:rPr kumimoji="1" lang="en-US" altLang="zh-CN">
                  <a:solidFill>
                    <a:srgbClr val="FF0000"/>
                  </a:solidFill>
                </a:rPr>
                <a:t>N </a:t>
              </a:r>
              <a:r>
                <a:rPr kumimoji="1" lang="zh-CN" altLang="en-US">
                  <a:solidFill>
                    <a:srgbClr val="FF0000"/>
                  </a:solidFill>
                </a:rPr>
                <a:t>端                  </a:t>
              </a:r>
              <a:r>
                <a:rPr kumimoji="1" lang="en-US" altLang="zh-CN">
                  <a:solidFill>
                    <a:srgbClr val="FF0000"/>
                  </a:solidFill>
                </a:rPr>
                <a:t>C </a:t>
              </a:r>
              <a:r>
                <a:rPr kumimoji="1" lang="zh-CN" altLang="en-US">
                  <a:solidFill>
                    <a:srgbClr val="FF0000"/>
                  </a:solidFill>
                </a:rPr>
                <a:t>端</a:t>
              </a:r>
            </a:p>
          </p:txBody>
        </p:sp>
        <p:sp>
          <p:nvSpPr>
            <p:cNvPr id="134154" name="Line 6">
              <a:extLst>
                <a:ext uri="{FF2B5EF4-FFF2-40B4-BE49-F238E27FC236}">
                  <a16:creationId xmlns:a16="http://schemas.microsoft.com/office/drawing/2014/main" id="{316BC1D9-49B7-4D4C-9F29-9396E80A33D2}"/>
                </a:ext>
              </a:extLst>
            </p:cNvPr>
            <p:cNvSpPr>
              <a:spLocks noChangeShapeType="1"/>
            </p:cNvSpPr>
            <p:nvPr/>
          </p:nvSpPr>
          <p:spPr bwMode="auto">
            <a:xfrm>
              <a:off x="2789" y="3838"/>
              <a:ext cx="862"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194" name="Picture 1031" descr="5-6">
            <a:extLst>
              <a:ext uri="{FF2B5EF4-FFF2-40B4-BE49-F238E27FC236}">
                <a16:creationId xmlns:a16="http://schemas.microsoft.com/office/drawing/2014/main" id="{F42ABB67-FC26-4B99-9A34-8EBD1C530D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5551" y="981075"/>
            <a:ext cx="6913563" cy="517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AutoShape 3">
            <a:extLst>
              <a:ext uri="{FF2B5EF4-FFF2-40B4-BE49-F238E27FC236}">
                <a16:creationId xmlns:a16="http://schemas.microsoft.com/office/drawing/2014/main" id="{3FF5D026-7103-4CA6-9D4E-7926A627A031}"/>
              </a:ext>
            </a:extLst>
          </p:cNvPr>
          <p:cNvSpPr>
            <a:spLocks noChangeArrowheads="1"/>
          </p:cNvSpPr>
          <p:nvPr/>
        </p:nvSpPr>
        <p:spPr bwMode="auto">
          <a:xfrm>
            <a:off x="1992313" y="5805488"/>
            <a:ext cx="1225550" cy="539750"/>
          </a:xfrm>
          <a:prstGeom prst="wedgeRoundRectCallout">
            <a:avLst>
              <a:gd name="adj1" fmla="val 154662"/>
              <a:gd name="adj2" fmla="val -16176"/>
              <a:gd name="adj3" fmla="val 16667"/>
            </a:avLst>
          </a:prstGeom>
          <a:solidFill>
            <a:srgbClr val="0000CC"/>
          </a:solidFill>
          <a:ln w="12700" cap="sq">
            <a:solidFill>
              <a:schemeClr val="tx1"/>
            </a:solidFill>
            <a:miter lim="800000"/>
            <a:headEnd type="none" w="sm" len="sm"/>
            <a:tailEnd type="none" w="sm" len="sm"/>
          </a:ln>
        </p:spPr>
        <p:txBody>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lvl="0" algn="ctr" eaLnBrk="1" hangingPunct="1">
              <a:spcBef>
                <a:spcPct val="0"/>
              </a:spcBef>
              <a:buClrTx/>
              <a:buNone/>
            </a:pPr>
            <a:r>
              <a:rPr kumimoji="1" lang="en-US" altLang="zh-CN" sz="2400" b="0">
                <a:solidFill>
                  <a:srgbClr val="FFFFFF"/>
                </a:solidFill>
                <a:latin typeface="Arial" panose="020B0604020202020204" pitchFamily="34" charset="0"/>
                <a:ea typeface="宋体" panose="02010600030101010101" pitchFamily="2" charset="-122"/>
              </a:rPr>
              <a:t>N</a:t>
            </a:r>
            <a:r>
              <a:rPr kumimoji="1" lang="zh-CN" altLang="en-US" sz="2400" b="0">
                <a:solidFill>
                  <a:srgbClr val="FFFFFF"/>
                </a:solidFill>
                <a:latin typeface="Arial" panose="020B0604020202020204" pitchFamily="34" charset="0"/>
                <a:ea typeface="宋体" panose="02010600030101010101" pitchFamily="2" charset="-122"/>
              </a:rPr>
              <a:t>端</a:t>
            </a:r>
          </a:p>
        </p:txBody>
      </p:sp>
      <p:sp>
        <p:nvSpPr>
          <p:cNvPr id="26628" name="AutoShape 4">
            <a:extLst>
              <a:ext uri="{FF2B5EF4-FFF2-40B4-BE49-F238E27FC236}">
                <a16:creationId xmlns:a16="http://schemas.microsoft.com/office/drawing/2014/main" id="{732FFE07-10C5-48E4-8F5A-C5F56201AB42}"/>
              </a:ext>
            </a:extLst>
          </p:cNvPr>
          <p:cNvSpPr>
            <a:spLocks noChangeArrowheads="1"/>
          </p:cNvSpPr>
          <p:nvPr/>
        </p:nvSpPr>
        <p:spPr bwMode="auto">
          <a:xfrm>
            <a:off x="2351584" y="1052736"/>
            <a:ext cx="1211262" cy="590550"/>
          </a:xfrm>
          <a:prstGeom prst="wedgeRoundRectCallout">
            <a:avLst>
              <a:gd name="adj1" fmla="val 179227"/>
              <a:gd name="adj2" fmla="val 144356"/>
              <a:gd name="adj3" fmla="val 16667"/>
            </a:avLst>
          </a:prstGeom>
          <a:solidFill>
            <a:srgbClr val="800080"/>
          </a:solidFill>
          <a:ln w="12700" cap="sq">
            <a:solidFill>
              <a:srgbClr val="CC00CC"/>
            </a:solidFill>
            <a:miter lim="800000"/>
            <a:headEnd type="none" w="sm" len="sm"/>
            <a:tailEnd type="none" w="sm" len="sm"/>
          </a:ln>
        </p:spPr>
        <p:txBody>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lvl="0" algn="ctr" eaLnBrk="1" hangingPunct="1">
              <a:lnSpc>
                <a:spcPct val="150000"/>
              </a:lnSpc>
              <a:spcBef>
                <a:spcPct val="0"/>
              </a:spcBef>
              <a:buClrTx/>
              <a:buNone/>
            </a:pPr>
            <a:r>
              <a:rPr kumimoji="1" lang="en-US" altLang="zh-CN" sz="4400" b="0" baseline="30000" dirty="0">
                <a:solidFill>
                  <a:srgbClr val="FFFFFF"/>
                </a:solidFill>
                <a:latin typeface="Arial" panose="020B0604020202020204" pitchFamily="34" charset="0"/>
                <a:ea typeface="宋体" panose="02010600030101010101" pitchFamily="2" charset="-122"/>
              </a:rPr>
              <a:t>C</a:t>
            </a:r>
            <a:r>
              <a:rPr kumimoji="1" lang="zh-CN" altLang="en-US" sz="4400" b="0" baseline="30000" dirty="0">
                <a:solidFill>
                  <a:srgbClr val="FFFFFF"/>
                </a:solidFill>
                <a:latin typeface="Arial" panose="020B0604020202020204" pitchFamily="34" charset="0"/>
                <a:ea typeface="宋体" panose="02010600030101010101" pitchFamily="2" charset="-122"/>
              </a:rPr>
              <a:t>端</a:t>
            </a:r>
          </a:p>
        </p:txBody>
      </p:sp>
      <p:sp>
        <p:nvSpPr>
          <p:cNvPr id="135173" name="Rectangle 5">
            <a:extLst>
              <a:ext uri="{FF2B5EF4-FFF2-40B4-BE49-F238E27FC236}">
                <a16:creationId xmlns:a16="http://schemas.microsoft.com/office/drawing/2014/main" id="{3E1EC424-2BB3-4E22-A195-C11E331E96D7}"/>
              </a:ext>
            </a:extLst>
          </p:cNvPr>
          <p:cNvSpPr>
            <a:spLocks noChangeArrowheads="1"/>
          </p:cNvSpPr>
          <p:nvPr/>
        </p:nvSpPr>
        <p:spPr bwMode="auto">
          <a:xfrm>
            <a:off x="8112125" y="5597526"/>
            <a:ext cx="2427288" cy="955675"/>
          </a:xfrm>
          <a:prstGeom prst="rect">
            <a:avLst/>
          </a:prstGeom>
          <a:noFill/>
          <a:ln>
            <a:noFill/>
          </a:ln>
        </p:spPr>
        <p:txBody>
          <a:bodyPr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defRPr/>
            </a:pPr>
            <a:r>
              <a:rPr kumimoji="1" lang="zh-CN" altLang="en-US" dirty="0">
                <a:solidFill>
                  <a:schemeClr val="tx1">
                    <a:lumMod val="60000"/>
                    <a:lumOff val="40000"/>
                  </a:schemeClr>
                </a:solidFill>
              </a:rPr>
              <a:t>牛核糖核酸酶</a:t>
            </a:r>
            <a:endParaRPr kumimoji="1" lang="en-US" altLang="zh-CN" dirty="0">
              <a:solidFill>
                <a:schemeClr val="tx1">
                  <a:lumMod val="60000"/>
                  <a:lumOff val="40000"/>
                </a:schemeClr>
              </a:solidFill>
            </a:endParaRPr>
          </a:p>
          <a:p>
            <a:pPr eaLnBrk="1" hangingPunct="1">
              <a:spcBef>
                <a:spcPct val="0"/>
              </a:spcBef>
              <a:buClrTx/>
              <a:buFontTx/>
              <a:buNone/>
              <a:defRPr/>
            </a:pPr>
            <a:r>
              <a:rPr kumimoji="1" lang="zh-CN" altLang="en-US" dirty="0">
                <a:solidFill>
                  <a:schemeClr val="tx1">
                    <a:lumMod val="60000"/>
                    <a:lumOff val="40000"/>
                  </a:schemeClr>
                </a:solidFill>
              </a:rPr>
              <a:t>（</a:t>
            </a:r>
            <a:r>
              <a:rPr kumimoji="1" lang="en-US" altLang="zh-CN" dirty="0">
                <a:solidFill>
                  <a:schemeClr val="tx1">
                    <a:lumMod val="60000"/>
                    <a:lumOff val="40000"/>
                  </a:schemeClr>
                </a:solidFill>
              </a:rPr>
              <a:t>RNase A</a:t>
            </a:r>
            <a:r>
              <a:rPr kumimoji="1" lang="zh-CN" altLang="en-US" dirty="0">
                <a:solidFill>
                  <a:schemeClr val="tx1">
                    <a:lumMod val="60000"/>
                    <a:lumOff val="40000"/>
                  </a:schemeClr>
                </a:solidFill>
              </a:rPr>
              <a:t>）</a:t>
            </a:r>
          </a:p>
        </p:txBody>
      </p:sp>
    </p:spTree>
  </p:cSld>
  <p:clrMapOvr>
    <a:masterClrMapping/>
  </p:clrMapOvr>
  <p:transition spd="slow">
    <p:circl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a:extLst>
              <a:ext uri="{FF2B5EF4-FFF2-40B4-BE49-F238E27FC236}">
                <a16:creationId xmlns:a16="http://schemas.microsoft.com/office/drawing/2014/main" id="{025F9042-3D5C-4EE5-94C4-84561B8E3D06}"/>
              </a:ext>
            </a:extLst>
          </p:cNvPr>
          <p:cNvSpPr>
            <a:spLocks noChangeArrowheads="1"/>
          </p:cNvSpPr>
          <p:nvPr/>
        </p:nvSpPr>
        <p:spPr bwMode="auto">
          <a:xfrm>
            <a:off x="1199456" y="1517650"/>
            <a:ext cx="9144694" cy="3856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40000"/>
              </a:lnSpc>
              <a:spcBef>
                <a:spcPct val="50000"/>
              </a:spcBef>
              <a:buClr>
                <a:srgbClr val="A50021"/>
              </a:buClr>
              <a:buSzPct val="75000"/>
            </a:pPr>
            <a:r>
              <a:rPr kumimoji="1" lang="zh-CN" altLang="en-US" b="0" dirty="0">
                <a:solidFill>
                  <a:srgbClr val="FF0000"/>
                </a:solidFill>
              </a:rPr>
              <a:t>蛋白质和多肽两词没有严格的界限，</a:t>
            </a:r>
            <a:r>
              <a:rPr kumimoji="1" lang="zh-CN" altLang="en-US" b="0" dirty="0">
                <a:solidFill>
                  <a:schemeClr val="tx1"/>
                </a:solidFill>
              </a:rPr>
              <a:t>它们都是氨基酸的多聚物，许多场合常常混为一谈。</a:t>
            </a:r>
          </a:p>
          <a:p>
            <a:pPr eaLnBrk="1" hangingPunct="1">
              <a:lnSpc>
                <a:spcPct val="140000"/>
              </a:lnSpc>
              <a:spcBef>
                <a:spcPct val="50000"/>
              </a:spcBef>
              <a:buClr>
                <a:srgbClr val="A50021"/>
              </a:buClr>
              <a:buSzPct val="75000"/>
            </a:pPr>
            <a:r>
              <a:rPr kumimoji="1" lang="zh-CN" altLang="en-US" b="0" dirty="0">
                <a:solidFill>
                  <a:schemeClr val="tx1"/>
                </a:solidFill>
              </a:rPr>
              <a:t>通常把由</a:t>
            </a:r>
            <a:r>
              <a:rPr kumimoji="1" lang="en-US" altLang="zh-CN" b="0" u="sng" dirty="0">
                <a:solidFill>
                  <a:schemeClr val="tx1"/>
                </a:solidFill>
              </a:rPr>
              <a:t>39</a:t>
            </a:r>
            <a:r>
              <a:rPr kumimoji="1" lang="zh-CN" altLang="en-US" b="0" u="sng" dirty="0">
                <a:solidFill>
                  <a:schemeClr val="tx1"/>
                </a:solidFill>
              </a:rPr>
              <a:t>个</a:t>
            </a:r>
            <a:r>
              <a:rPr kumimoji="1" lang="en-US" altLang="zh-CN" b="0" u="sng" dirty="0">
                <a:solidFill>
                  <a:schemeClr val="tx1"/>
                </a:solidFill>
              </a:rPr>
              <a:t>aa</a:t>
            </a:r>
            <a:r>
              <a:rPr kumimoji="1" lang="zh-CN" altLang="en-US" b="0" u="sng" dirty="0">
                <a:solidFill>
                  <a:schemeClr val="tx1"/>
                </a:solidFill>
              </a:rPr>
              <a:t>残基</a:t>
            </a:r>
            <a:r>
              <a:rPr kumimoji="1" lang="zh-CN" altLang="en-US" b="0" dirty="0">
                <a:solidFill>
                  <a:schemeClr val="tx1"/>
                </a:solidFill>
              </a:rPr>
              <a:t>组成的促肾上腺皮质激素（</a:t>
            </a:r>
            <a:r>
              <a:rPr kumimoji="1" lang="en-US" altLang="zh-CN" b="0" dirty="0">
                <a:solidFill>
                  <a:schemeClr val="tx1"/>
                </a:solidFill>
              </a:rPr>
              <a:t>ACTH</a:t>
            </a:r>
            <a:r>
              <a:rPr kumimoji="1" lang="zh-CN" altLang="en-US" b="0" dirty="0">
                <a:solidFill>
                  <a:schemeClr val="tx1"/>
                </a:solidFill>
              </a:rPr>
              <a:t>）作为多肽，而把</a:t>
            </a:r>
            <a:r>
              <a:rPr kumimoji="1" lang="en-US" altLang="zh-CN" b="0" u="sng" dirty="0">
                <a:solidFill>
                  <a:schemeClr val="tx1"/>
                </a:solidFill>
              </a:rPr>
              <a:t>51</a:t>
            </a:r>
            <a:r>
              <a:rPr kumimoji="1" lang="zh-CN" altLang="en-US" b="0" u="sng" dirty="0">
                <a:solidFill>
                  <a:schemeClr val="tx1"/>
                </a:solidFill>
              </a:rPr>
              <a:t>个</a:t>
            </a:r>
            <a:r>
              <a:rPr kumimoji="1" lang="en-US" altLang="zh-CN" b="0" u="sng" dirty="0">
                <a:solidFill>
                  <a:schemeClr val="tx1"/>
                </a:solidFill>
              </a:rPr>
              <a:t>aa</a:t>
            </a:r>
            <a:r>
              <a:rPr kumimoji="1" lang="zh-CN" altLang="en-US" b="0" u="sng" dirty="0">
                <a:solidFill>
                  <a:schemeClr val="tx1"/>
                </a:solidFill>
              </a:rPr>
              <a:t>残基</a:t>
            </a:r>
            <a:r>
              <a:rPr kumimoji="1" lang="zh-CN" altLang="en-US" b="0" dirty="0">
                <a:solidFill>
                  <a:schemeClr val="tx1"/>
                </a:solidFill>
              </a:rPr>
              <a:t>的胰岛素归属蛋白质，以</a:t>
            </a:r>
            <a:r>
              <a:rPr kumimoji="1" lang="en-US" altLang="zh-CN" b="0" dirty="0">
                <a:solidFill>
                  <a:srgbClr val="C00000"/>
                </a:solidFill>
              </a:rPr>
              <a:t>50</a:t>
            </a:r>
            <a:r>
              <a:rPr kumimoji="1" lang="zh-CN" altLang="en-US" b="0" dirty="0">
                <a:solidFill>
                  <a:srgbClr val="C00000"/>
                </a:solidFill>
              </a:rPr>
              <a:t>个</a:t>
            </a:r>
            <a:r>
              <a:rPr kumimoji="1" lang="en-US" altLang="zh-CN" b="0" dirty="0">
                <a:solidFill>
                  <a:srgbClr val="C00000"/>
                </a:solidFill>
              </a:rPr>
              <a:t>aa</a:t>
            </a:r>
            <a:r>
              <a:rPr kumimoji="1" lang="zh-CN" altLang="en-US" b="0" dirty="0">
                <a:solidFill>
                  <a:srgbClr val="C00000"/>
                </a:solidFill>
              </a:rPr>
              <a:t>残基为界</a:t>
            </a:r>
            <a:r>
              <a:rPr kumimoji="1" lang="zh-CN" altLang="en-US" b="0" dirty="0">
                <a:solidFill>
                  <a:schemeClr val="tx1"/>
                </a:solidFill>
              </a:rPr>
              <a:t>就是习惯上的多肽与蛋白质的分界线；亦有说法以分子量</a:t>
            </a:r>
            <a:r>
              <a:rPr kumimoji="1" lang="en-US" altLang="zh-CN" b="0" dirty="0">
                <a:solidFill>
                  <a:schemeClr val="tx1"/>
                </a:solidFill>
              </a:rPr>
              <a:t>10000</a:t>
            </a:r>
            <a:r>
              <a:rPr kumimoji="1" lang="zh-CN" altLang="en-US" b="0" dirty="0">
                <a:solidFill>
                  <a:schemeClr val="tx1"/>
                </a:solidFill>
              </a:rPr>
              <a:t>为界。</a:t>
            </a:r>
          </a:p>
        </p:txBody>
      </p:sp>
      <p:sp>
        <p:nvSpPr>
          <p:cNvPr id="2" name="标题 1">
            <a:extLst>
              <a:ext uri="{FF2B5EF4-FFF2-40B4-BE49-F238E27FC236}">
                <a16:creationId xmlns:a16="http://schemas.microsoft.com/office/drawing/2014/main" id="{C2A744D1-354A-4FD5-8C49-00CE936A3A74}"/>
              </a:ext>
            </a:extLst>
          </p:cNvPr>
          <p:cNvSpPr>
            <a:spLocks noGrp="1"/>
          </p:cNvSpPr>
          <p:nvPr>
            <p:ph type="title"/>
          </p:nvPr>
        </p:nvSpPr>
        <p:spPr>
          <a:xfrm>
            <a:off x="1991544" y="188640"/>
            <a:ext cx="11074400" cy="563563"/>
          </a:xfrm>
        </p:spPr>
        <p:txBody>
          <a:bodyPr/>
          <a:lstStyle/>
          <a:p>
            <a:pPr>
              <a:defRPr/>
            </a:pPr>
            <a:r>
              <a:rPr kumimoji="1" lang="zh-CN" altLang="en-US" dirty="0">
                <a:solidFill>
                  <a:schemeClr val="accent3"/>
                </a:solidFill>
              </a:rPr>
              <a:t>“多肽”和“蛋白质”的关系</a:t>
            </a:r>
            <a:endParaRPr lang="zh-CN" altLang="en-US" dirty="0">
              <a:solidFill>
                <a:schemeClr val="accent3"/>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46786">
                                            <p:txEl>
                                              <p:pRg st="0" end="0"/>
                                            </p:txEl>
                                          </p:spTgt>
                                        </p:tgtEl>
                                        <p:attrNameLst>
                                          <p:attrName>style.visibility</p:attrName>
                                        </p:attrNameLst>
                                      </p:cBhvr>
                                      <p:to>
                                        <p:strVal val="visible"/>
                                      </p:to>
                                    </p:set>
                                    <p:animEffect transition="in" filter="checkerboard(across)">
                                      <p:cBhvr>
                                        <p:cTn id="7" dur="500"/>
                                        <p:tgtEl>
                                          <p:spTgt spid="24678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246786">
                                            <p:txEl>
                                              <p:pRg st="1" end="1"/>
                                            </p:txEl>
                                          </p:spTgt>
                                        </p:tgtEl>
                                        <p:attrNameLst>
                                          <p:attrName>style.visibility</p:attrName>
                                        </p:attrNameLst>
                                      </p:cBhvr>
                                      <p:to>
                                        <p:strVal val="visible"/>
                                      </p:to>
                                    </p:set>
                                    <p:animEffect transition="in" filter="diamond(in)">
                                      <p:cBhvr>
                                        <p:cTn id="12" dur="2000"/>
                                        <p:tgtEl>
                                          <p:spTgt spid="24678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标题 1">
            <a:extLst>
              <a:ext uri="{FF2B5EF4-FFF2-40B4-BE49-F238E27FC236}">
                <a16:creationId xmlns:a16="http://schemas.microsoft.com/office/drawing/2014/main" id="{0603539F-872A-4B91-B495-74A28BF54D5B}"/>
              </a:ext>
            </a:extLst>
          </p:cNvPr>
          <p:cNvSpPr>
            <a:spLocks noGrp="1" noChangeArrowheads="1"/>
          </p:cNvSpPr>
          <p:nvPr>
            <p:ph type="title"/>
          </p:nvPr>
        </p:nvSpPr>
        <p:spPr>
          <a:xfrm>
            <a:off x="1893888" y="212726"/>
            <a:ext cx="7010400" cy="563563"/>
          </a:xfrm>
        </p:spPr>
        <p:txBody>
          <a:bodyPr/>
          <a:lstStyle/>
          <a:p>
            <a:r>
              <a:rPr lang="zh-CN" altLang="en-US"/>
              <a:t>氨基酸残基的平均分子量</a:t>
            </a:r>
            <a:r>
              <a:rPr lang="en-US" altLang="zh-CN"/>
              <a:t>=110</a:t>
            </a:r>
            <a:endParaRPr lang="zh-CN" altLang="en-US"/>
          </a:p>
        </p:txBody>
      </p:sp>
      <p:sp>
        <p:nvSpPr>
          <p:cNvPr id="114691" name="内容占位符 2">
            <a:extLst>
              <a:ext uri="{FF2B5EF4-FFF2-40B4-BE49-F238E27FC236}">
                <a16:creationId xmlns:a16="http://schemas.microsoft.com/office/drawing/2014/main" id="{F9481204-170A-42B4-A5B1-93EFFF8B2DFF}"/>
              </a:ext>
            </a:extLst>
          </p:cNvPr>
          <p:cNvSpPr>
            <a:spLocks noGrp="1"/>
          </p:cNvSpPr>
          <p:nvPr>
            <p:ph idx="1"/>
          </p:nvPr>
        </p:nvSpPr>
        <p:spPr>
          <a:xfrm>
            <a:off x="1775520" y="1312070"/>
            <a:ext cx="8424863" cy="3236912"/>
          </a:xfrm>
        </p:spPr>
        <p:txBody>
          <a:bodyPr/>
          <a:lstStyle/>
          <a:p>
            <a:pPr>
              <a:defRPr/>
            </a:pPr>
            <a:r>
              <a:rPr lang="en-US" altLang="zh-CN" dirty="0"/>
              <a:t>20</a:t>
            </a:r>
            <a:r>
              <a:rPr lang="zh-CN" altLang="en-US" dirty="0"/>
              <a:t>种标准氨基酸平均分子量为</a:t>
            </a:r>
            <a:r>
              <a:rPr lang="en-US" altLang="zh-CN" dirty="0"/>
              <a:t>138</a:t>
            </a:r>
          </a:p>
          <a:p>
            <a:pPr lvl="1">
              <a:defRPr/>
            </a:pPr>
            <a:r>
              <a:rPr lang="en-US" altLang="zh-CN" dirty="0"/>
              <a:t>Gly</a:t>
            </a:r>
            <a:r>
              <a:rPr lang="zh-CN" altLang="en-US" dirty="0"/>
              <a:t>分子量最小</a:t>
            </a:r>
            <a:r>
              <a:rPr lang="en-US" altLang="zh-CN" dirty="0"/>
              <a:t>: 75,      Trp</a:t>
            </a:r>
            <a:r>
              <a:rPr lang="zh-CN" altLang="en-US" dirty="0"/>
              <a:t>分子量最大</a:t>
            </a:r>
            <a:r>
              <a:rPr lang="en-US" altLang="zh-CN" dirty="0"/>
              <a:t>:  204 </a:t>
            </a:r>
          </a:p>
          <a:p>
            <a:pPr>
              <a:defRPr/>
            </a:pPr>
            <a:endParaRPr lang="en-US" altLang="zh-CN" dirty="0"/>
          </a:p>
          <a:p>
            <a:pPr marL="365125" indent="-365125">
              <a:lnSpc>
                <a:spcPct val="130000"/>
              </a:lnSpc>
              <a:spcBef>
                <a:spcPts val="0"/>
              </a:spcBef>
              <a:defRPr/>
            </a:pPr>
            <a:r>
              <a:rPr lang="zh-CN" altLang="en-US" dirty="0">
                <a:solidFill>
                  <a:srgbClr val="C00000"/>
                </a:solidFill>
              </a:rPr>
              <a:t>科学界规定一般以每个氨基酸残基的平均分子量为</a:t>
            </a:r>
            <a:r>
              <a:rPr lang="en-US" altLang="zh-CN" dirty="0">
                <a:solidFill>
                  <a:srgbClr val="C00000"/>
                </a:solidFill>
              </a:rPr>
              <a:t>110</a:t>
            </a:r>
            <a:r>
              <a:rPr lang="zh-CN" altLang="en-US" dirty="0">
                <a:solidFill>
                  <a:srgbClr val="C00000"/>
                </a:solidFill>
              </a:rPr>
              <a:t>计算多肽或蛋白质的分子量</a:t>
            </a:r>
            <a:r>
              <a:rPr lang="zh-CN" altLang="en-US" dirty="0"/>
              <a:t>（氨基酸组成特殊的蛋白质例外）</a:t>
            </a:r>
          </a:p>
        </p:txBody>
      </p:sp>
      <p:sp>
        <p:nvSpPr>
          <p:cNvPr id="4" name="文本框 3">
            <a:extLst>
              <a:ext uri="{FF2B5EF4-FFF2-40B4-BE49-F238E27FC236}">
                <a16:creationId xmlns:a16="http://schemas.microsoft.com/office/drawing/2014/main" id="{F7D64B3E-5F39-4DDB-A214-AF1C50045D8E}"/>
              </a:ext>
            </a:extLst>
          </p:cNvPr>
          <p:cNvSpPr txBox="1">
            <a:spLocks noChangeArrowheads="1"/>
          </p:cNvSpPr>
          <p:nvPr/>
        </p:nvSpPr>
        <p:spPr bwMode="auto">
          <a:xfrm>
            <a:off x="2063751" y="5084764"/>
            <a:ext cx="842486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dirty="0">
                <a:solidFill>
                  <a:schemeClr val="tx1"/>
                </a:solidFill>
                <a:latin typeface="Arial" panose="020B0604020202020204" pitchFamily="34" charset="0"/>
                <a:ea typeface="宋体" panose="02010600030101010101" pitchFamily="2" charset="-122"/>
              </a:rPr>
              <a:t>一个氨基酸残基数为</a:t>
            </a:r>
            <a:r>
              <a:rPr lang="en-US" altLang="zh-CN" dirty="0">
                <a:solidFill>
                  <a:schemeClr val="tx1"/>
                </a:solidFill>
                <a:latin typeface="Arial" panose="020B0604020202020204" pitchFamily="34" charset="0"/>
                <a:ea typeface="宋体" panose="02010600030101010101" pitchFamily="2" charset="-122"/>
              </a:rPr>
              <a:t>682</a:t>
            </a:r>
            <a:r>
              <a:rPr lang="zh-CN" altLang="en-US" dirty="0">
                <a:solidFill>
                  <a:schemeClr val="tx1"/>
                </a:solidFill>
                <a:latin typeface="Arial" panose="020B0604020202020204" pitchFamily="34" charset="0"/>
                <a:ea typeface="宋体" panose="02010600030101010101" pitchFamily="2" charset="-122"/>
              </a:rPr>
              <a:t>的蛋白质的分子量是多少？　　　</a:t>
            </a:r>
          </a:p>
        </p:txBody>
      </p:sp>
      <p:sp>
        <p:nvSpPr>
          <p:cNvPr id="5" name="文本框 4">
            <a:extLst>
              <a:ext uri="{FF2B5EF4-FFF2-40B4-BE49-F238E27FC236}">
                <a16:creationId xmlns:a16="http://schemas.microsoft.com/office/drawing/2014/main" id="{A00501EC-0D40-4EB1-A1AF-2184566E466B}"/>
              </a:ext>
            </a:extLst>
          </p:cNvPr>
          <p:cNvSpPr txBox="1">
            <a:spLocks noChangeArrowheads="1"/>
          </p:cNvSpPr>
          <p:nvPr/>
        </p:nvSpPr>
        <p:spPr bwMode="auto">
          <a:xfrm>
            <a:off x="7391400" y="5638801"/>
            <a:ext cx="2470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dirty="0">
                <a:solidFill>
                  <a:schemeClr val="tx1"/>
                </a:solidFill>
                <a:latin typeface="Arial" panose="020B0604020202020204" pitchFamily="34" charset="0"/>
                <a:ea typeface="宋体" panose="02010600030101010101" pitchFamily="2" charset="-122"/>
              </a:rPr>
              <a:t>答案：</a:t>
            </a:r>
            <a:r>
              <a:rPr lang="en-US" altLang="zh-CN" dirty="0">
                <a:solidFill>
                  <a:schemeClr val="tx1"/>
                </a:solidFill>
                <a:latin typeface="Arial" panose="020B0604020202020204" pitchFamily="34" charset="0"/>
                <a:ea typeface="宋体" panose="02010600030101010101" pitchFamily="2" charset="-122"/>
              </a:rPr>
              <a:t>75000</a:t>
            </a:r>
            <a:endParaRPr lang="zh-CN" altLang="en-US" dirty="0">
              <a:solidFill>
                <a:schemeClr val="tx1"/>
              </a:solidFill>
              <a:latin typeface="Arial" panose="020B0604020202020204" pitchFamily="34" charset="0"/>
              <a:ea typeface="宋体" panose="02010600030101010101" pitchFamily="2" charset="-122"/>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F9B7AB69-814A-4362-8911-1D4BDE20C5E3}"/>
              </a:ext>
            </a:extLst>
          </p:cNvPr>
          <p:cNvSpPr>
            <a:spLocks noGrp="1" noChangeArrowheads="1"/>
          </p:cNvSpPr>
          <p:nvPr>
            <p:ph type="title"/>
          </p:nvPr>
        </p:nvSpPr>
        <p:spPr>
          <a:xfrm>
            <a:off x="1919288" y="333375"/>
            <a:ext cx="5853112" cy="300038"/>
          </a:xfrm>
        </p:spPr>
        <p:txBody>
          <a:bodyPr/>
          <a:lstStyle/>
          <a:p>
            <a:pPr eaLnBrk="1" hangingPunct="1"/>
            <a:r>
              <a:rPr lang="zh-CN" altLang="en-US" sz="3200" dirty="0">
                <a:latin typeface="Times New Roman" panose="02020603050405020304" pitchFamily="18" charset="0"/>
                <a:sym typeface="Monotype Sorts" charset="2"/>
              </a:rPr>
              <a:t>（二） 部分重要的</a:t>
            </a:r>
            <a:r>
              <a:rPr lang="zh-CN" altLang="en-US" sz="3200" dirty="0">
                <a:latin typeface="Times New Roman" panose="02020603050405020304" pitchFamily="18" charset="0"/>
              </a:rPr>
              <a:t>生物活性肽</a:t>
            </a:r>
          </a:p>
        </p:txBody>
      </p:sp>
      <p:sp>
        <p:nvSpPr>
          <p:cNvPr id="142339" name="Rectangle 3">
            <a:extLst>
              <a:ext uri="{FF2B5EF4-FFF2-40B4-BE49-F238E27FC236}">
                <a16:creationId xmlns:a16="http://schemas.microsoft.com/office/drawing/2014/main" id="{322B4D59-129B-4717-A14B-B4AB4915FDB8}"/>
              </a:ext>
            </a:extLst>
          </p:cNvPr>
          <p:cNvSpPr>
            <a:spLocks noGrp="1" noChangeArrowheads="1"/>
          </p:cNvSpPr>
          <p:nvPr>
            <p:ph type="body" idx="1"/>
          </p:nvPr>
        </p:nvSpPr>
        <p:spPr>
          <a:xfrm>
            <a:off x="2135188" y="1125538"/>
            <a:ext cx="7632700" cy="576262"/>
          </a:xfrm>
        </p:spPr>
        <p:txBody>
          <a:bodyPr/>
          <a:lstStyle/>
          <a:p>
            <a:pPr eaLnBrk="1" hangingPunct="1">
              <a:lnSpc>
                <a:spcPct val="90000"/>
              </a:lnSpc>
              <a:buFontTx/>
              <a:buNone/>
            </a:pPr>
            <a:r>
              <a:rPr lang="en-US" altLang="zh-CN" sz="3200">
                <a:solidFill>
                  <a:srgbClr val="006600"/>
                </a:solidFill>
              </a:rPr>
              <a:t> 1. </a:t>
            </a:r>
            <a:r>
              <a:rPr lang="zh-CN" altLang="en-US" sz="3200">
                <a:solidFill>
                  <a:srgbClr val="006600"/>
                </a:solidFill>
              </a:rPr>
              <a:t>谷胱甘肽</a:t>
            </a:r>
            <a:r>
              <a:rPr lang="en-US" altLang="zh-CN" sz="3200">
                <a:solidFill>
                  <a:srgbClr val="006600"/>
                </a:solidFill>
              </a:rPr>
              <a:t>(glutathione, </a:t>
            </a:r>
            <a:r>
              <a:rPr lang="en-US" altLang="zh-CN" sz="3200">
                <a:solidFill>
                  <a:srgbClr val="FF0000"/>
                </a:solidFill>
              </a:rPr>
              <a:t>GSH</a:t>
            </a:r>
            <a:r>
              <a:rPr lang="en-US" altLang="zh-CN" sz="3200">
                <a:solidFill>
                  <a:srgbClr val="006600"/>
                </a:solidFill>
              </a:rPr>
              <a:t>)</a:t>
            </a:r>
          </a:p>
        </p:txBody>
      </p:sp>
      <p:pic>
        <p:nvPicPr>
          <p:cNvPr id="142340" name="Picture 4" descr="GSH">
            <a:extLst>
              <a:ext uri="{FF2B5EF4-FFF2-40B4-BE49-F238E27FC236}">
                <a16:creationId xmlns:a16="http://schemas.microsoft.com/office/drawing/2014/main" id="{0D960AE1-572C-420D-9098-58E8F3F70D78}"/>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b="10631"/>
          <a:stretch>
            <a:fillRect/>
          </a:stretch>
        </p:blipFill>
        <p:spPr bwMode="auto">
          <a:xfrm>
            <a:off x="3143250" y="1846263"/>
            <a:ext cx="5761038" cy="367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2341" name="Rectangle 0">
            <a:extLst>
              <a:ext uri="{FF2B5EF4-FFF2-40B4-BE49-F238E27FC236}">
                <a16:creationId xmlns:a16="http://schemas.microsoft.com/office/drawing/2014/main" id="{E23E43EA-A7AC-41E0-89EB-9F6ACA052F1F}"/>
              </a:ext>
            </a:extLst>
          </p:cNvPr>
          <p:cNvSpPr>
            <a:spLocks noChangeArrowheads="1"/>
          </p:cNvSpPr>
          <p:nvPr/>
        </p:nvSpPr>
        <p:spPr bwMode="auto">
          <a:xfrm>
            <a:off x="3935413" y="3357563"/>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rgbClr val="FF3300"/>
                </a:solidFill>
              </a:rPr>
              <a:t>γ</a:t>
            </a:r>
          </a:p>
        </p:txBody>
      </p:sp>
      <p:sp>
        <p:nvSpPr>
          <p:cNvPr id="142342" name="Rectangle 2">
            <a:extLst>
              <a:ext uri="{FF2B5EF4-FFF2-40B4-BE49-F238E27FC236}">
                <a16:creationId xmlns:a16="http://schemas.microsoft.com/office/drawing/2014/main" id="{AE028029-9781-4314-9676-071D44ECBA85}"/>
              </a:ext>
            </a:extLst>
          </p:cNvPr>
          <p:cNvSpPr>
            <a:spLocks noChangeArrowheads="1"/>
          </p:cNvSpPr>
          <p:nvPr/>
        </p:nvSpPr>
        <p:spPr bwMode="auto">
          <a:xfrm>
            <a:off x="3935413" y="4581525"/>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a:solidFill>
                  <a:srgbClr val="FF3300"/>
                </a:solidFill>
              </a:rPr>
              <a:t>α</a:t>
            </a:r>
          </a:p>
        </p:txBody>
      </p:sp>
      <p:sp>
        <p:nvSpPr>
          <p:cNvPr id="142343" name="Rectangle 4">
            <a:extLst>
              <a:ext uri="{FF2B5EF4-FFF2-40B4-BE49-F238E27FC236}">
                <a16:creationId xmlns:a16="http://schemas.microsoft.com/office/drawing/2014/main" id="{45EC7DA3-5F3C-4AF7-B1C1-684B297F494E}"/>
              </a:ext>
            </a:extLst>
          </p:cNvPr>
          <p:cNvSpPr>
            <a:spLocks noChangeArrowheads="1"/>
          </p:cNvSpPr>
          <p:nvPr/>
        </p:nvSpPr>
        <p:spPr bwMode="auto">
          <a:xfrm>
            <a:off x="3935413" y="4005264"/>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000">
                <a:solidFill>
                  <a:srgbClr val="FF3300"/>
                </a:solidFill>
              </a:rPr>
              <a:t>β</a:t>
            </a:r>
            <a:r>
              <a:rPr kumimoji="1" lang="en-US" altLang="zh-CN" sz="900" b="0">
                <a:solidFill>
                  <a:schemeClr val="tx1"/>
                </a:solidFill>
              </a:rPr>
              <a:t> </a:t>
            </a:r>
            <a:endParaRPr kumimoji="1" lang="en-US" altLang="zh-CN" sz="2400" b="0">
              <a:solidFill>
                <a:schemeClr val="tx1"/>
              </a:solidFill>
            </a:endParaRPr>
          </a:p>
        </p:txBody>
      </p:sp>
      <p:sp>
        <p:nvSpPr>
          <p:cNvPr id="120837" name="AutoShape 5">
            <a:extLst>
              <a:ext uri="{FF2B5EF4-FFF2-40B4-BE49-F238E27FC236}">
                <a16:creationId xmlns:a16="http://schemas.microsoft.com/office/drawing/2014/main" id="{8CF8BCC2-3BBD-49FF-B928-6CF46BBED9BB}"/>
              </a:ext>
            </a:extLst>
          </p:cNvPr>
          <p:cNvSpPr>
            <a:spLocks noChangeArrowheads="1"/>
          </p:cNvSpPr>
          <p:nvPr/>
        </p:nvSpPr>
        <p:spPr bwMode="auto">
          <a:xfrm flipH="1">
            <a:off x="2495551" y="1989138"/>
            <a:ext cx="1800225" cy="647700"/>
          </a:xfrm>
          <a:prstGeom prst="wedgeRectCallout">
            <a:avLst>
              <a:gd name="adj1" fmla="val -56787"/>
              <a:gd name="adj2" fmla="val 104745"/>
            </a:avLst>
          </a:prstGeom>
          <a:solidFill>
            <a:schemeClr val="accent1"/>
          </a:solidFill>
          <a:ln w="9525">
            <a:solidFill>
              <a:schemeClr val="tx1"/>
            </a:solidFill>
            <a:miter lim="800000"/>
            <a:headEnd/>
            <a:tailEnd/>
          </a:ln>
        </p:spPr>
        <p:txBody>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lvl="0" algn="ctr" eaLnBrk="1" hangingPunct="1">
              <a:spcBef>
                <a:spcPct val="0"/>
              </a:spcBef>
              <a:buClrTx/>
              <a:buNone/>
            </a:pPr>
            <a:r>
              <a:rPr kumimoji="1" lang="en-US" altLang="zh-CN" sz="1600" b="0">
                <a:solidFill>
                  <a:srgbClr val="FFFFFF"/>
                </a:solidFill>
                <a:latin typeface="黑体" panose="02010609060101010101" pitchFamily="49" charset="-122"/>
                <a:ea typeface="宋体" panose="02010600030101010101" pitchFamily="2" charset="-122"/>
              </a:rPr>
              <a:t>γ- </a:t>
            </a:r>
            <a:r>
              <a:rPr kumimoji="1" lang="zh-CN" altLang="en-US" sz="1600" b="0">
                <a:solidFill>
                  <a:srgbClr val="FFFFFF"/>
                </a:solidFill>
                <a:latin typeface="黑体" panose="02010609060101010101" pitchFamily="49" charset="-122"/>
                <a:ea typeface="宋体" panose="02010600030101010101" pitchFamily="2" charset="-122"/>
              </a:rPr>
              <a:t>羧基</a:t>
            </a:r>
          </a:p>
        </p:txBody>
      </p:sp>
      <p:sp>
        <p:nvSpPr>
          <p:cNvPr id="142345" name="矩形 1">
            <a:extLst>
              <a:ext uri="{FF2B5EF4-FFF2-40B4-BE49-F238E27FC236}">
                <a16:creationId xmlns:a16="http://schemas.microsoft.com/office/drawing/2014/main" id="{6084F877-AB27-49B9-8A68-DEDBDFAF3B97}"/>
              </a:ext>
            </a:extLst>
          </p:cNvPr>
          <p:cNvSpPr>
            <a:spLocks noChangeArrowheads="1"/>
          </p:cNvSpPr>
          <p:nvPr/>
        </p:nvSpPr>
        <p:spPr bwMode="auto">
          <a:xfrm>
            <a:off x="4583114" y="5583239"/>
            <a:ext cx="55721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a:solidFill>
                  <a:schemeClr val="tx1"/>
                </a:solidFill>
                <a:latin typeface="宋体" panose="02010600030101010101" pitchFamily="2" charset="-122"/>
                <a:ea typeface="宋体" panose="02010600030101010101" pitchFamily="2" charset="-122"/>
              </a:rPr>
              <a:t> 全名：</a:t>
            </a:r>
            <a:r>
              <a:rPr lang="en-US" altLang="zh-CN">
                <a:solidFill>
                  <a:schemeClr val="tx1"/>
                </a:solidFill>
                <a:latin typeface="宋体" panose="02010600030101010101" pitchFamily="2" charset="-122"/>
                <a:ea typeface="宋体" panose="02010600030101010101" pitchFamily="2" charset="-122"/>
              </a:rPr>
              <a:t>γ-</a:t>
            </a:r>
            <a:r>
              <a:rPr lang="zh-CN" altLang="en-US">
                <a:solidFill>
                  <a:schemeClr val="tx1"/>
                </a:solidFill>
                <a:latin typeface="宋体" panose="02010600030101010101" pitchFamily="2" charset="-122"/>
                <a:ea typeface="宋体" panose="02010600030101010101" pitchFamily="2" charset="-122"/>
              </a:rPr>
              <a:t>谷氨酰半胱氨酰甘氨酸</a:t>
            </a:r>
          </a:p>
        </p:txBody>
      </p:sp>
      <p:sp>
        <p:nvSpPr>
          <p:cNvPr id="4" name="圆角矩形标注 3">
            <a:extLst>
              <a:ext uri="{FF2B5EF4-FFF2-40B4-BE49-F238E27FC236}">
                <a16:creationId xmlns:a16="http://schemas.microsoft.com/office/drawing/2014/main" id="{AB7AC907-BE62-4EC7-8F40-8ED7F51D88AB}"/>
              </a:ext>
            </a:extLst>
          </p:cNvPr>
          <p:cNvSpPr/>
          <p:nvPr/>
        </p:nvSpPr>
        <p:spPr bwMode="auto">
          <a:xfrm>
            <a:off x="7680326" y="1768476"/>
            <a:ext cx="2474913" cy="581025"/>
          </a:xfrm>
          <a:prstGeom prst="wedgeRoundRectCallout">
            <a:avLst>
              <a:gd name="adj1" fmla="val -100762"/>
              <a:gd name="adj2" fmla="val 4406"/>
              <a:gd name="adj3" fmla="val 16667"/>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none"/>
          <a:lstStyle/>
          <a:p>
            <a:pPr lvl="0" eaLnBrk="1" hangingPunct="1">
              <a:defRPr/>
            </a:pPr>
            <a:r>
              <a:rPr lang="zh-CN" altLang="en-US" sz="2800" b="1">
                <a:solidFill>
                  <a:srgbClr val="C00000"/>
                </a:solidFill>
                <a:latin typeface="Arial" pitchFamily="34" charset="0"/>
                <a:ea typeface="宋体" pitchFamily="2" charset="-122"/>
              </a:rPr>
              <a:t>主要功能基团</a:t>
            </a:r>
            <a:endParaRPr lang="zh-CN" altLang="en-US" sz="2800" b="1" dirty="0">
              <a:solidFill>
                <a:srgbClr val="C00000"/>
              </a:solidFill>
              <a:latin typeface="Arial" pitchFamily="34" charset="0"/>
              <a:ea typeface="宋体" pitchFamily="2" charset="-122"/>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0837"/>
                                        </p:tgtEl>
                                        <p:attrNameLst>
                                          <p:attrName>style.visibility</p:attrName>
                                        </p:attrNameLst>
                                      </p:cBhvr>
                                      <p:to>
                                        <p:strVal val="visible"/>
                                      </p:to>
                                    </p:set>
                                    <p:animEffect transition="in" filter="blinds(horizontal)">
                                      <p:cBhvr>
                                        <p:cTn id="7" dur="500"/>
                                        <p:tgtEl>
                                          <p:spTgt spid="1208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7" grpId="0" animBg="1"/>
      <p:bldP spid="4"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a:extLst>
              <a:ext uri="{FF2B5EF4-FFF2-40B4-BE49-F238E27FC236}">
                <a16:creationId xmlns:a16="http://schemas.microsoft.com/office/drawing/2014/main" id="{2F2FE42B-7303-4211-8437-FA207CE16CD5}"/>
              </a:ext>
            </a:extLst>
          </p:cNvPr>
          <p:cNvSpPr txBox="1">
            <a:spLocks noChangeArrowheads="1"/>
          </p:cNvSpPr>
          <p:nvPr/>
        </p:nvSpPr>
        <p:spPr bwMode="auto">
          <a:xfrm>
            <a:off x="2197298" y="3465039"/>
            <a:ext cx="2378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ct val="0"/>
              </a:spcBef>
              <a:buClrTx/>
              <a:buFontTx/>
              <a:buNone/>
            </a:pPr>
            <a:r>
              <a:rPr kumimoji="1" lang="en-US" altLang="zh-CN" sz="2400" dirty="0">
                <a:solidFill>
                  <a:srgbClr val="006600"/>
                </a:solidFill>
              </a:rPr>
              <a:t>GSH</a:t>
            </a:r>
            <a:r>
              <a:rPr kumimoji="1" lang="zh-CN" altLang="en-US" sz="2400" dirty="0">
                <a:solidFill>
                  <a:srgbClr val="006600"/>
                </a:solidFill>
              </a:rPr>
              <a:t>过氧化物酶</a:t>
            </a:r>
          </a:p>
        </p:txBody>
      </p:sp>
      <p:grpSp>
        <p:nvGrpSpPr>
          <p:cNvPr id="2" name="Group 3">
            <a:extLst>
              <a:ext uri="{FF2B5EF4-FFF2-40B4-BE49-F238E27FC236}">
                <a16:creationId xmlns:a16="http://schemas.microsoft.com/office/drawing/2014/main" id="{8C27A01B-3F36-4B56-A851-1DB36665D737}"/>
              </a:ext>
            </a:extLst>
          </p:cNvPr>
          <p:cNvGrpSpPr>
            <a:grpSpLocks/>
          </p:cNvGrpSpPr>
          <p:nvPr/>
        </p:nvGrpSpPr>
        <p:grpSpPr bwMode="auto">
          <a:xfrm>
            <a:off x="2789436" y="2389508"/>
            <a:ext cx="3981450" cy="608012"/>
            <a:chOff x="340" y="1298"/>
            <a:chExt cx="2508" cy="383"/>
          </a:xfrm>
        </p:grpSpPr>
        <p:sp>
          <p:nvSpPr>
            <p:cNvPr id="144402" name="Text Box 4">
              <a:extLst>
                <a:ext uri="{FF2B5EF4-FFF2-40B4-BE49-F238E27FC236}">
                  <a16:creationId xmlns:a16="http://schemas.microsoft.com/office/drawing/2014/main" id="{A6806BC9-9541-4950-A96F-1F0B1D800A9A}"/>
                </a:ext>
              </a:extLst>
            </p:cNvPr>
            <p:cNvSpPr txBox="1">
              <a:spLocks noChangeArrowheads="1"/>
            </p:cNvSpPr>
            <p:nvPr/>
          </p:nvSpPr>
          <p:spPr bwMode="auto">
            <a:xfrm>
              <a:off x="340" y="1298"/>
              <a:ext cx="721"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a:solidFill>
                    <a:schemeClr val="tx1"/>
                  </a:solidFill>
                </a:rPr>
                <a:t>H</a:t>
              </a:r>
              <a:r>
                <a:rPr kumimoji="1" lang="en-US" altLang="zh-CN" baseline="-25000">
                  <a:solidFill>
                    <a:schemeClr val="tx1"/>
                  </a:solidFill>
                </a:rPr>
                <a:t>2</a:t>
              </a:r>
              <a:r>
                <a:rPr kumimoji="1" lang="en-US" altLang="zh-CN">
                  <a:solidFill>
                    <a:schemeClr val="tx1"/>
                  </a:solidFill>
                </a:rPr>
                <a:t>O</a:t>
              </a:r>
              <a:r>
                <a:rPr kumimoji="1" lang="en-US" altLang="zh-CN" baseline="-25000">
                  <a:solidFill>
                    <a:schemeClr val="tx1"/>
                  </a:solidFill>
                </a:rPr>
                <a:t>2  </a:t>
              </a:r>
            </a:p>
          </p:txBody>
        </p:sp>
        <p:sp>
          <p:nvSpPr>
            <p:cNvPr id="144403" name="Text Box 5">
              <a:extLst>
                <a:ext uri="{FF2B5EF4-FFF2-40B4-BE49-F238E27FC236}">
                  <a16:creationId xmlns:a16="http://schemas.microsoft.com/office/drawing/2014/main" id="{47551B9C-BAA4-4028-9A31-304194A3C175}"/>
                </a:ext>
              </a:extLst>
            </p:cNvPr>
            <p:cNvSpPr txBox="1">
              <a:spLocks noChangeArrowheads="1"/>
            </p:cNvSpPr>
            <p:nvPr/>
          </p:nvSpPr>
          <p:spPr bwMode="auto">
            <a:xfrm>
              <a:off x="1973" y="1350"/>
              <a:ext cx="875"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a:solidFill>
                    <a:srgbClr val="0000CC"/>
                  </a:solidFill>
                </a:rPr>
                <a:t>2GSH  </a:t>
              </a:r>
              <a:r>
                <a:rPr kumimoji="1" lang="en-US" altLang="zh-CN">
                  <a:solidFill>
                    <a:srgbClr val="D87F42"/>
                  </a:solidFill>
                </a:rPr>
                <a:t> </a:t>
              </a:r>
            </a:p>
          </p:txBody>
        </p:sp>
      </p:grpSp>
      <p:grpSp>
        <p:nvGrpSpPr>
          <p:cNvPr id="3" name="Group 6">
            <a:extLst>
              <a:ext uri="{FF2B5EF4-FFF2-40B4-BE49-F238E27FC236}">
                <a16:creationId xmlns:a16="http://schemas.microsoft.com/office/drawing/2014/main" id="{4BC337E5-C75E-404C-BB97-79D8C71E8333}"/>
              </a:ext>
            </a:extLst>
          </p:cNvPr>
          <p:cNvGrpSpPr>
            <a:grpSpLocks/>
          </p:cNvGrpSpPr>
          <p:nvPr/>
        </p:nvGrpSpPr>
        <p:grpSpPr bwMode="auto">
          <a:xfrm>
            <a:off x="2716412" y="4478659"/>
            <a:ext cx="4002087" cy="534987"/>
            <a:chOff x="521" y="2659"/>
            <a:chExt cx="2521" cy="337"/>
          </a:xfrm>
        </p:grpSpPr>
        <p:sp>
          <p:nvSpPr>
            <p:cNvPr id="144400" name="Text Box 7">
              <a:extLst>
                <a:ext uri="{FF2B5EF4-FFF2-40B4-BE49-F238E27FC236}">
                  <a16:creationId xmlns:a16="http://schemas.microsoft.com/office/drawing/2014/main" id="{AE89DFDC-78CD-4A38-AC76-9E94F619357C}"/>
                </a:ext>
              </a:extLst>
            </p:cNvPr>
            <p:cNvSpPr txBox="1">
              <a:spLocks noChangeArrowheads="1"/>
            </p:cNvSpPr>
            <p:nvPr/>
          </p:nvSpPr>
          <p:spPr bwMode="auto">
            <a:xfrm>
              <a:off x="521" y="2659"/>
              <a:ext cx="777"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a:solidFill>
                    <a:schemeClr val="tx1"/>
                  </a:solidFill>
                </a:rPr>
                <a:t>2H</a:t>
              </a:r>
              <a:r>
                <a:rPr kumimoji="1" lang="en-US" altLang="zh-CN" baseline="-25000">
                  <a:solidFill>
                    <a:schemeClr val="tx1"/>
                  </a:solidFill>
                </a:rPr>
                <a:t>2</a:t>
              </a:r>
              <a:r>
                <a:rPr kumimoji="1" lang="en-US" altLang="zh-CN">
                  <a:solidFill>
                    <a:schemeClr val="tx1"/>
                  </a:solidFill>
                </a:rPr>
                <a:t>O  </a:t>
              </a:r>
            </a:p>
          </p:txBody>
        </p:sp>
        <p:sp>
          <p:nvSpPr>
            <p:cNvPr id="144401" name="Text Box 8">
              <a:extLst>
                <a:ext uri="{FF2B5EF4-FFF2-40B4-BE49-F238E27FC236}">
                  <a16:creationId xmlns:a16="http://schemas.microsoft.com/office/drawing/2014/main" id="{286F0F6B-1B76-4941-96FB-3BC1DECB6A37}"/>
                </a:ext>
              </a:extLst>
            </p:cNvPr>
            <p:cNvSpPr txBox="1">
              <a:spLocks noChangeArrowheads="1"/>
            </p:cNvSpPr>
            <p:nvPr/>
          </p:nvSpPr>
          <p:spPr bwMode="auto">
            <a:xfrm>
              <a:off x="2154" y="2665"/>
              <a:ext cx="888"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a:solidFill>
                    <a:srgbClr val="0000CC"/>
                  </a:solidFill>
                </a:rPr>
                <a:t>GSSG</a:t>
              </a:r>
              <a:r>
                <a:rPr kumimoji="1" lang="en-US" altLang="zh-CN">
                  <a:solidFill>
                    <a:srgbClr val="D87F42"/>
                  </a:solidFill>
                </a:rPr>
                <a:t>   </a:t>
              </a:r>
            </a:p>
          </p:txBody>
        </p:sp>
      </p:grpSp>
      <p:sp>
        <p:nvSpPr>
          <p:cNvPr id="28681" name="Text Box 9">
            <a:extLst>
              <a:ext uri="{FF2B5EF4-FFF2-40B4-BE49-F238E27FC236}">
                <a16:creationId xmlns:a16="http://schemas.microsoft.com/office/drawing/2014/main" id="{6A6EF1F0-EC3E-4EB5-BFD4-C3D7656D3D68}"/>
              </a:ext>
            </a:extLst>
          </p:cNvPr>
          <p:cNvSpPr txBox="1">
            <a:spLocks noChangeArrowheads="1"/>
          </p:cNvSpPr>
          <p:nvPr/>
        </p:nvSpPr>
        <p:spPr bwMode="auto">
          <a:xfrm>
            <a:off x="7397949" y="3399158"/>
            <a:ext cx="1916113"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dirty="0">
                <a:solidFill>
                  <a:srgbClr val="006600"/>
                </a:solidFill>
              </a:rPr>
              <a:t> GSH</a:t>
            </a:r>
            <a:r>
              <a:rPr kumimoji="1" lang="zh-CN" altLang="en-US" sz="2400" dirty="0">
                <a:solidFill>
                  <a:srgbClr val="006600"/>
                </a:solidFill>
              </a:rPr>
              <a:t>还原酶</a:t>
            </a:r>
          </a:p>
        </p:txBody>
      </p:sp>
      <p:grpSp>
        <p:nvGrpSpPr>
          <p:cNvPr id="4" name="Group 10">
            <a:extLst>
              <a:ext uri="{FF2B5EF4-FFF2-40B4-BE49-F238E27FC236}">
                <a16:creationId xmlns:a16="http://schemas.microsoft.com/office/drawing/2014/main" id="{D856E760-3E9E-4990-B210-C0D760559C7D}"/>
              </a:ext>
            </a:extLst>
          </p:cNvPr>
          <p:cNvGrpSpPr>
            <a:grpSpLocks/>
          </p:cNvGrpSpPr>
          <p:nvPr/>
        </p:nvGrpSpPr>
        <p:grpSpPr bwMode="auto">
          <a:xfrm rot="21188291">
            <a:off x="3996659" y="2691729"/>
            <a:ext cx="1157820" cy="2211274"/>
            <a:chOff x="1126" y="1952"/>
            <a:chExt cx="1205" cy="249"/>
          </a:xfrm>
        </p:grpSpPr>
        <p:sp>
          <p:nvSpPr>
            <p:cNvPr id="144398" name="AutoShape 11">
              <a:extLst>
                <a:ext uri="{FF2B5EF4-FFF2-40B4-BE49-F238E27FC236}">
                  <a16:creationId xmlns:a16="http://schemas.microsoft.com/office/drawing/2014/main" id="{771D3821-B7C4-4B4F-AB8B-DA989D9C144B}"/>
                </a:ext>
              </a:extLst>
            </p:cNvPr>
            <p:cNvSpPr>
              <a:spLocks noChangeArrowheads="1"/>
            </p:cNvSpPr>
            <p:nvPr/>
          </p:nvSpPr>
          <p:spPr bwMode="auto">
            <a:xfrm rot="411709" flipH="1">
              <a:off x="1728" y="1952"/>
              <a:ext cx="603" cy="249"/>
            </a:xfrm>
            <a:prstGeom prst="curvedLeftArrow">
              <a:avLst>
                <a:gd name="adj1" fmla="val 31238"/>
                <a:gd name="adj2" fmla="val 55418"/>
                <a:gd name="adj3" fmla="val 31528"/>
              </a:avLst>
            </a:prstGeom>
            <a:solidFill>
              <a:schemeClr val="accent1"/>
            </a:solidFill>
            <a:ln w="28575">
              <a:solidFill>
                <a:schemeClr val="tx1"/>
              </a:solidFill>
              <a:miter lim="800000"/>
              <a:headEnd type="none" w="sm" len="sm"/>
              <a:tailEnd type="none" w="sm" len="sm"/>
            </a:ln>
          </p:spPr>
          <p:txBody>
            <a:bodyPr wrap="square" lIns="90000" tIns="46800" rIns="90000" bIns="46800" anchor="ct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sp>
          <p:nvSpPr>
            <p:cNvPr id="144399" name="AutoShape 12">
              <a:extLst>
                <a:ext uri="{FF2B5EF4-FFF2-40B4-BE49-F238E27FC236}">
                  <a16:creationId xmlns:a16="http://schemas.microsoft.com/office/drawing/2014/main" id="{640193CE-2A1E-4D4A-A4EB-B79AD5ECEA3A}"/>
                </a:ext>
              </a:extLst>
            </p:cNvPr>
            <p:cNvSpPr>
              <a:spLocks noChangeArrowheads="1"/>
            </p:cNvSpPr>
            <p:nvPr/>
          </p:nvSpPr>
          <p:spPr bwMode="auto">
            <a:xfrm rot="411709">
              <a:off x="1126" y="1952"/>
              <a:ext cx="602" cy="241"/>
            </a:xfrm>
            <a:prstGeom prst="curvedLeftArrow">
              <a:avLst>
                <a:gd name="adj1" fmla="val 30291"/>
                <a:gd name="adj2" fmla="val 53738"/>
                <a:gd name="adj3" fmla="val 31528"/>
              </a:avLst>
            </a:prstGeom>
            <a:solidFill>
              <a:schemeClr val="accent1"/>
            </a:solidFill>
            <a:ln w="28575">
              <a:solidFill>
                <a:schemeClr val="tx1"/>
              </a:solidFill>
              <a:miter lim="800000"/>
              <a:headEnd type="none" w="sm" len="sm"/>
              <a:tailEnd type="none" w="sm" len="sm"/>
            </a:ln>
          </p:spPr>
          <p:txBody>
            <a:bodyPr wrap="square" lIns="90000" tIns="46800" rIns="90000" bIns="46800" anchor="ct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grpSp>
      <p:grpSp>
        <p:nvGrpSpPr>
          <p:cNvPr id="5" name="Group 13">
            <a:extLst>
              <a:ext uri="{FF2B5EF4-FFF2-40B4-BE49-F238E27FC236}">
                <a16:creationId xmlns:a16="http://schemas.microsoft.com/office/drawing/2014/main" id="{0FC1EF26-4151-4107-968B-B15AD93C5FC1}"/>
              </a:ext>
            </a:extLst>
          </p:cNvPr>
          <p:cNvGrpSpPr>
            <a:grpSpLocks/>
          </p:cNvGrpSpPr>
          <p:nvPr/>
        </p:nvGrpSpPr>
        <p:grpSpPr bwMode="auto">
          <a:xfrm>
            <a:off x="6594674" y="2558876"/>
            <a:ext cx="1143000" cy="2108598"/>
            <a:chOff x="3264" y="1933"/>
            <a:chExt cx="1440" cy="215"/>
          </a:xfrm>
        </p:grpSpPr>
        <p:sp>
          <p:nvSpPr>
            <p:cNvPr id="144396" name="AutoShape 14">
              <a:extLst>
                <a:ext uri="{FF2B5EF4-FFF2-40B4-BE49-F238E27FC236}">
                  <a16:creationId xmlns:a16="http://schemas.microsoft.com/office/drawing/2014/main" id="{66847991-68DC-4B8F-AE81-821DC8D300C6}"/>
                </a:ext>
              </a:extLst>
            </p:cNvPr>
            <p:cNvSpPr>
              <a:spLocks noChangeArrowheads="1"/>
            </p:cNvSpPr>
            <p:nvPr/>
          </p:nvSpPr>
          <p:spPr bwMode="auto">
            <a:xfrm flipV="1">
              <a:off x="3264" y="1933"/>
              <a:ext cx="720" cy="215"/>
            </a:xfrm>
            <a:prstGeom prst="curvedLeftArrow">
              <a:avLst>
                <a:gd name="adj1" fmla="val 31238"/>
                <a:gd name="adj2" fmla="val 55418"/>
                <a:gd name="adj3" fmla="val 31528"/>
              </a:avLst>
            </a:prstGeom>
            <a:solidFill>
              <a:schemeClr val="accent1"/>
            </a:solidFill>
            <a:ln w="28575">
              <a:solidFill>
                <a:schemeClr val="tx1"/>
              </a:solidFill>
              <a:miter lim="800000"/>
              <a:headEnd type="none" w="sm" len="sm"/>
              <a:tailEnd type="none" w="sm" len="sm"/>
            </a:ln>
          </p:spPr>
          <p:txBody>
            <a:bodyPr lIns="90000" tIns="46800" rIns="90000" bIns="46800" anchor="ct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sp>
          <p:nvSpPr>
            <p:cNvPr id="144397" name="AutoShape 15">
              <a:extLst>
                <a:ext uri="{FF2B5EF4-FFF2-40B4-BE49-F238E27FC236}">
                  <a16:creationId xmlns:a16="http://schemas.microsoft.com/office/drawing/2014/main" id="{3B11F30E-9443-48F3-B3C7-0E96A21727AA}"/>
                </a:ext>
              </a:extLst>
            </p:cNvPr>
            <p:cNvSpPr>
              <a:spLocks noChangeArrowheads="1"/>
            </p:cNvSpPr>
            <p:nvPr/>
          </p:nvSpPr>
          <p:spPr bwMode="auto">
            <a:xfrm flipH="1" flipV="1">
              <a:off x="3984" y="1933"/>
              <a:ext cx="720" cy="215"/>
            </a:xfrm>
            <a:prstGeom prst="curvedLeftArrow">
              <a:avLst>
                <a:gd name="adj1" fmla="val 31238"/>
                <a:gd name="adj2" fmla="val 55418"/>
                <a:gd name="adj3" fmla="val 31528"/>
              </a:avLst>
            </a:prstGeom>
            <a:solidFill>
              <a:schemeClr val="accent1"/>
            </a:solidFill>
            <a:ln w="28575">
              <a:solidFill>
                <a:schemeClr val="tx1"/>
              </a:solidFill>
              <a:miter lim="800000"/>
              <a:headEnd type="none" w="sm" len="sm"/>
              <a:tailEnd type="none" w="sm" len="sm"/>
            </a:ln>
          </p:spPr>
          <p:txBody>
            <a:bodyPr lIns="90000" tIns="46800" rIns="90000" bIns="46800" anchor="ct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grpSp>
      <p:sp>
        <p:nvSpPr>
          <p:cNvPr id="28688" name="Text Box 16">
            <a:extLst>
              <a:ext uri="{FF2B5EF4-FFF2-40B4-BE49-F238E27FC236}">
                <a16:creationId xmlns:a16="http://schemas.microsoft.com/office/drawing/2014/main" id="{A2D38028-AB57-4C26-B77D-0C1DB3D1C323}"/>
              </a:ext>
            </a:extLst>
          </p:cNvPr>
          <p:cNvSpPr txBox="1">
            <a:spLocks noChangeArrowheads="1"/>
          </p:cNvSpPr>
          <p:nvPr/>
        </p:nvSpPr>
        <p:spPr bwMode="auto">
          <a:xfrm>
            <a:off x="7630567" y="4433746"/>
            <a:ext cx="2514600"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ct val="0"/>
              </a:spcBef>
              <a:buClrTx/>
              <a:buFontTx/>
              <a:buNone/>
            </a:pPr>
            <a:r>
              <a:rPr kumimoji="1" lang="en-US" altLang="zh-CN" dirty="0">
                <a:solidFill>
                  <a:schemeClr val="tx1"/>
                </a:solidFill>
              </a:rPr>
              <a:t>NADPH</a:t>
            </a:r>
            <a:r>
              <a:rPr kumimoji="1" lang="en-US" altLang="zh-CN" b="0" dirty="0">
                <a:solidFill>
                  <a:schemeClr val="tx1"/>
                </a:solidFill>
              </a:rPr>
              <a:t>+</a:t>
            </a:r>
            <a:r>
              <a:rPr kumimoji="1" lang="en-US" altLang="zh-CN" dirty="0">
                <a:solidFill>
                  <a:schemeClr val="tx1"/>
                </a:solidFill>
              </a:rPr>
              <a:t>H</a:t>
            </a:r>
            <a:r>
              <a:rPr kumimoji="1" lang="en-US" altLang="zh-CN" baseline="30000" dirty="0">
                <a:solidFill>
                  <a:schemeClr val="tx1"/>
                </a:solidFill>
              </a:rPr>
              <a:t>+</a:t>
            </a:r>
          </a:p>
        </p:txBody>
      </p:sp>
      <p:sp>
        <p:nvSpPr>
          <p:cNvPr id="28689" name="Text Box 17">
            <a:extLst>
              <a:ext uri="{FF2B5EF4-FFF2-40B4-BE49-F238E27FC236}">
                <a16:creationId xmlns:a16="http://schemas.microsoft.com/office/drawing/2014/main" id="{ECBA4D2B-EEA0-4FF5-B0DD-76BFB4C43957}"/>
              </a:ext>
            </a:extLst>
          </p:cNvPr>
          <p:cNvSpPr txBox="1">
            <a:spLocks noChangeArrowheads="1"/>
          </p:cNvSpPr>
          <p:nvPr/>
        </p:nvSpPr>
        <p:spPr bwMode="auto">
          <a:xfrm>
            <a:off x="7974212" y="2391096"/>
            <a:ext cx="2874316"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square"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dirty="0">
                <a:solidFill>
                  <a:schemeClr val="tx1"/>
                </a:solidFill>
              </a:rPr>
              <a:t>NADP</a:t>
            </a:r>
            <a:r>
              <a:rPr kumimoji="1" lang="en-US" altLang="zh-CN" baseline="30000" dirty="0">
                <a:solidFill>
                  <a:schemeClr val="tx1"/>
                </a:solidFill>
              </a:rPr>
              <a:t>+</a:t>
            </a:r>
            <a:r>
              <a:rPr kumimoji="1" lang="zh-CN" altLang="en-US" b="0" dirty="0">
                <a:solidFill>
                  <a:schemeClr val="tx1"/>
                </a:solidFill>
              </a:rPr>
              <a:t> （辅酶</a:t>
            </a:r>
            <a:r>
              <a:rPr kumimoji="1" lang="en-US" altLang="zh-CN" b="0" dirty="0">
                <a:solidFill>
                  <a:schemeClr val="tx1"/>
                </a:solidFill>
              </a:rPr>
              <a:t>II</a:t>
            </a:r>
            <a:r>
              <a:rPr kumimoji="1" lang="zh-CN" altLang="en-US" b="0" dirty="0">
                <a:solidFill>
                  <a:schemeClr val="tx1"/>
                </a:solidFill>
              </a:rPr>
              <a:t>）</a:t>
            </a:r>
            <a:r>
              <a:rPr kumimoji="1" lang="en-US" altLang="zh-CN" baseline="30000" dirty="0">
                <a:solidFill>
                  <a:schemeClr val="tx1"/>
                </a:solidFill>
              </a:rPr>
              <a:t>  </a:t>
            </a:r>
            <a:endParaRPr kumimoji="1" lang="en-US" altLang="zh-CN" dirty="0">
              <a:solidFill>
                <a:schemeClr val="tx1"/>
              </a:solidFill>
            </a:endParaRPr>
          </a:p>
        </p:txBody>
      </p:sp>
      <p:sp>
        <p:nvSpPr>
          <p:cNvPr id="144394" name="Text Box 2">
            <a:extLst>
              <a:ext uri="{FF2B5EF4-FFF2-40B4-BE49-F238E27FC236}">
                <a16:creationId xmlns:a16="http://schemas.microsoft.com/office/drawing/2014/main" id="{686BE5E8-9F59-469A-8FF4-961EFDA2B322}"/>
              </a:ext>
            </a:extLst>
          </p:cNvPr>
          <p:cNvSpPr txBox="1">
            <a:spLocks noChangeArrowheads="1"/>
          </p:cNvSpPr>
          <p:nvPr/>
        </p:nvSpPr>
        <p:spPr bwMode="auto">
          <a:xfrm>
            <a:off x="2357439" y="1268760"/>
            <a:ext cx="74882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3538" indent="-363538">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50000"/>
              </a:spcBef>
              <a:buClrTx/>
              <a:buSzPct val="80000"/>
              <a:buFont typeface="Wingdings" panose="05000000000000000000" pitchFamily="2" charset="2"/>
              <a:buNone/>
            </a:pPr>
            <a:r>
              <a:rPr lang="en-US" altLang="zh-CN" sz="3200">
                <a:solidFill>
                  <a:srgbClr val="FF0000"/>
                </a:solidFill>
              </a:rPr>
              <a:t>GSH</a:t>
            </a:r>
            <a:r>
              <a:rPr lang="zh-CN" altLang="en-US" sz="3200">
                <a:solidFill>
                  <a:srgbClr val="FF0000"/>
                </a:solidFill>
              </a:rPr>
              <a:t>与</a:t>
            </a:r>
            <a:r>
              <a:rPr lang="en-US" altLang="zh-CN" sz="3200">
                <a:solidFill>
                  <a:srgbClr val="FF0000"/>
                </a:solidFill>
              </a:rPr>
              <a:t>GSSG</a:t>
            </a:r>
            <a:r>
              <a:rPr lang="zh-CN" altLang="en-US">
                <a:solidFill>
                  <a:srgbClr val="FF0000"/>
                </a:solidFill>
              </a:rPr>
              <a:t>（氧化型谷胱甘肽）</a:t>
            </a:r>
            <a:r>
              <a:rPr lang="zh-CN" altLang="en-US" sz="3200">
                <a:solidFill>
                  <a:srgbClr val="FF0000"/>
                </a:solidFill>
              </a:rPr>
              <a:t>间的转换</a:t>
            </a:r>
            <a:r>
              <a:rPr lang="zh-CN" altLang="en-US">
                <a:solidFill>
                  <a:srgbClr val="9E009E"/>
                </a:solidFill>
                <a:latin typeface="宋体" panose="02010600030101010101" pitchFamily="2" charset="-122"/>
                <a:ea typeface="宋体" panose="02010600030101010101" pitchFamily="2" charset="-122"/>
              </a:rPr>
              <a:t> </a:t>
            </a:r>
          </a:p>
        </p:txBody>
      </p:sp>
      <p:sp>
        <p:nvSpPr>
          <p:cNvPr id="144395" name="标题 5">
            <a:extLst>
              <a:ext uri="{FF2B5EF4-FFF2-40B4-BE49-F238E27FC236}">
                <a16:creationId xmlns:a16="http://schemas.microsoft.com/office/drawing/2014/main" id="{0777D49C-9AE2-4856-9D33-529DCA91A716}"/>
              </a:ext>
            </a:extLst>
          </p:cNvPr>
          <p:cNvSpPr>
            <a:spLocks noGrp="1" noChangeArrowheads="1"/>
          </p:cNvSpPr>
          <p:nvPr>
            <p:ph type="title"/>
          </p:nvPr>
        </p:nvSpPr>
        <p:spPr>
          <a:xfrm>
            <a:off x="1981200" y="188913"/>
            <a:ext cx="6985000" cy="563562"/>
          </a:xfrm>
        </p:spPr>
        <p:txBody>
          <a:bodyPr/>
          <a:lstStyle/>
          <a:p>
            <a:r>
              <a:rPr lang="en-US" altLang="zh-CN" dirty="0"/>
              <a:t>GSH</a:t>
            </a:r>
            <a:r>
              <a:rPr lang="zh-CN" altLang="en-US" dirty="0"/>
              <a:t>是细胞内重要的还原剂</a:t>
            </a:r>
          </a:p>
        </p:txBody>
      </p:sp>
      <p:sp>
        <p:nvSpPr>
          <p:cNvPr id="7" name="文本框 6">
            <a:extLst>
              <a:ext uri="{FF2B5EF4-FFF2-40B4-BE49-F238E27FC236}">
                <a16:creationId xmlns:a16="http://schemas.microsoft.com/office/drawing/2014/main" id="{D5C7EE92-C814-553B-B3E7-71F1D59BE138}"/>
              </a:ext>
            </a:extLst>
          </p:cNvPr>
          <p:cNvSpPr txBox="1"/>
          <p:nvPr/>
        </p:nvSpPr>
        <p:spPr>
          <a:xfrm>
            <a:off x="2638637" y="5867595"/>
            <a:ext cx="7912074" cy="461665"/>
          </a:xfrm>
          <a:prstGeom prst="rect">
            <a:avLst/>
          </a:prstGeom>
          <a:noFill/>
        </p:spPr>
        <p:txBody>
          <a:bodyPr wrap="square">
            <a:spAutoFit/>
          </a:bodyPr>
          <a:lstStyle/>
          <a:p>
            <a:r>
              <a:rPr lang="zh-CN" altLang="en-US" sz="2400" dirty="0">
                <a:latin typeface="+mn-ea"/>
                <a:ea typeface="+mn-ea"/>
              </a:rPr>
              <a:t>细胞可以葡萄糖为原料源源不断生成</a:t>
            </a:r>
            <a:r>
              <a:rPr lang="en-US" altLang="zh-CN" sz="2400" dirty="0">
                <a:latin typeface="+mn-ea"/>
                <a:ea typeface="+mn-ea"/>
              </a:rPr>
              <a:t>NADPH </a:t>
            </a:r>
            <a:r>
              <a:rPr lang="zh-CN" altLang="en-US" sz="2400" dirty="0">
                <a:latin typeface="+mn-ea"/>
                <a:ea typeface="+mn-ea"/>
              </a:rPr>
              <a:t>，通常不缺。</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par>
                          <p:cTn id="8" fill="hold" nodeType="afterGroup">
                            <p:stCondLst>
                              <p:cond delay="500"/>
                            </p:stCondLst>
                            <p:childTnLst>
                              <p:par>
                                <p:cTn id="9" presetID="23" presetClass="entr" presetSubtype="16" fill="hold" grpId="0" nodeType="afterEffect">
                                  <p:stCondLst>
                                    <p:cond delay="0"/>
                                  </p:stCondLst>
                                  <p:childTnLst>
                                    <p:set>
                                      <p:cBhvr>
                                        <p:cTn id="10" dur="1" fill="hold">
                                          <p:stCondLst>
                                            <p:cond delay="0"/>
                                          </p:stCondLst>
                                        </p:cTn>
                                        <p:tgtEl>
                                          <p:spTgt spid="28674"/>
                                        </p:tgtEl>
                                        <p:attrNameLst>
                                          <p:attrName>style.visibility</p:attrName>
                                        </p:attrNameLst>
                                      </p:cBhvr>
                                      <p:to>
                                        <p:strVal val="visible"/>
                                      </p:to>
                                    </p:set>
                                    <p:anim calcmode="lin" valueType="num">
                                      <p:cBhvr>
                                        <p:cTn id="11" dur="500" fill="hold"/>
                                        <p:tgtEl>
                                          <p:spTgt spid="28674"/>
                                        </p:tgtEl>
                                        <p:attrNameLst>
                                          <p:attrName>ppt_w</p:attrName>
                                        </p:attrNameLst>
                                      </p:cBhvr>
                                      <p:tavLst>
                                        <p:tav tm="0">
                                          <p:val>
                                            <p:fltVal val="0"/>
                                          </p:val>
                                        </p:tav>
                                        <p:tav tm="100000">
                                          <p:val>
                                            <p:strVal val="#ppt_w"/>
                                          </p:val>
                                        </p:tav>
                                      </p:tavLst>
                                    </p:anim>
                                    <p:anim calcmode="lin" valueType="num">
                                      <p:cBhvr>
                                        <p:cTn id="12" dur="500" fill="hold"/>
                                        <p:tgtEl>
                                          <p:spTgt spid="28674"/>
                                        </p:tgtEl>
                                        <p:attrNameLst>
                                          <p:attrName>ppt_h</p:attrName>
                                        </p:attrNameLst>
                                      </p:cBhvr>
                                      <p:tavLst>
                                        <p:tav tm="0">
                                          <p:val>
                                            <p:fltVal val="0"/>
                                          </p:val>
                                        </p:tav>
                                        <p:tav tm="100000">
                                          <p:val>
                                            <p:strVal val="#ppt_h"/>
                                          </p:val>
                                        </p:tav>
                                      </p:tavLst>
                                    </p:anim>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up)">
                                      <p:cBhvr>
                                        <p:cTn id="16" dur="500"/>
                                        <p:tgtEl>
                                          <p:spTgt spid="4"/>
                                        </p:tgtEl>
                                      </p:cBhvr>
                                    </p:animEffect>
                                  </p:childTnLst>
                                </p:cTn>
                              </p:par>
                            </p:childTnLst>
                          </p:cTn>
                        </p:par>
                        <p:par>
                          <p:cTn id="17" fill="hold" nodeType="afterGroup">
                            <p:stCondLst>
                              <p:cond delay="1500"/>
                            </p:stCondLst>
                            <p:childTnLst>
                              <p:par>
                                <p:cTn id="18" presetID="5" presetClass="entr" presetSubtype="5"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checkerboard(down)">
                                      <p:cBhvr>
                                        <p:cTn id="20" dur="500"/>
                                        <p:tgtEl>
                                          <p:spTgt spid="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28688"/>
                                        </p:tgtEl>
                                        <p:attrNameLst>
                                          <p:attrName>style.visibility</p:attrName>
                                        </p:attrNameLst>
                                      </p:cBhvr>
                                      <p:to>
                                        <p:strVal val="visible"/>
                                      </p:to>
                                    </p:set>
                                  </p:childTnLst>
                                </p:cTn>
                              </p:par>
                            </p:childTnLst>
                          </p:cTn>
                        </p:par>
                        <p:par>
                          <p:cTn id="25" fill="hold" nodeType="afterGroup">
                            <p:stCondLst>
                              <p:cond delay="500"/>
                            </p:stCondLst>
                            <p:childTnLst>
                              <p:par>
                                <p:cTn id="26" presetID="22" presetClass="entr" presetSubtype="4" fill="hold" nodeType="after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down)">
                                      <p:cBhvr>
                                        <p:cTn id="28" dur="500"/>
                                        <p:tgtEl>
                                          <p:spTgt spid="5"/>
                                        </p:tgtEl>
                                      </p:cBhvr>
                                    </p:animEffect>
                                  </p:childTnLst>
                                </p:cTn>
                              </p:par>
                            </p:childTnLst>
                          </p:cTn>
                        </p:par>
                        <p:par>
                          <p:cTn id="29" fill="hold" nodeType="afterGroup">
                            <p:stCondLst>
                              <p:cond delay="1000"/>
                            </p:stCondLst>
                            <p:childTnLst>
                              <p:par>
                                <p:cTn id="30" presetID="9" presetClass="entr" presetSubtype="0" fill="hold" grpId="0" nodeType="afterEffect">
                                  <p:stCondLst>
                                    <p:cond delay="0"/>
                                  </p:stCondLst>
                                  <p:childTnLst>
                                    <p:set>
                                      <p:cBhvr>
                                        <p:cTn id="31" dur="1" fill="hold">
                                          <p:stCondLst>
                                            <p:cond delay="0"/>
                                          </p:stCondLst>
                                        </p:cTn>
                                        <p:tgtEl>
                                          <p:spTgt spid="28689"/>
                                        </p:tgtEl>
                                        <p:attrNameLst>
                                          <p:attrName>style.visibility</p:attrName>
                                        </p:attrNameLst>
                                      </p:cBhvr>
                                      <p:to>
                                        <p:strVal val="visible"/>
                                      </p:to>
                                    </p:set>
                                    <p:animEffect transition="in" filter="dissolve">
                                      <p:cBhvr>
                                        <p:cTn id="32" dur="500"/>
                                        <p:tgtEl>
                                          <p:spTgt spid="28689"/>
                                        </p:tgtEl>
                                      </p:cBhvr>
                                    </p:animEffect>
                                  </p:childTnLst>
                                </p:cTn>
                              </p:par>
                            </p:childTnLst>
                          </p:cTn>
                        </p:par>
                        <p:par>
                          <p:cTn id="33" fill="hold" nodeType="afterGroup">
                            <p:stCondLst>
                              <p:cond delay="1500"/>
                            </p:stCondLst>
                            <p:childTnLst>
                              <p:par>
                                <p:cTn id="34" presetID="23" presetClass="entr" presetSubtype="16" fill="hold" grpId="0" nodeType="afterEffect">
                                  <p:stCondLst>
                                    <p:cond delay="0"/>
                                  </p:stCondLst>
                                  <p:childTnLst>
                                    <p:set>
                                      <p:cBhvr>
                                        <p:cTn id="35" dur="1" fill="hold">
                                          <p:stCondLst>
                                            <p:cond delay="0"/>
                                          </p:stCondLst>
                                        </p:cTn>
                                        <p:tgtEl>
                                          <p:spTgt spid="28681"/>
                                        </p:tgtEl>
                                        <p:attrNameLst>
                                          <p:attrName>style.visibility</p:attrName>
                                        </p:attrNameLst>
                                      </p:cBhvr>
                                      <p:to>
                                        <p:strVal val="visible"/>
                                      </p:to>
                                    </p:set>
                                    <p:anim calcmode="lin" valueType="num">
                                      <p:cBhvr>
                                        <p:cTn id="36" dur="500" fill="hold"/>
                                        <p:tgtEl>
                                          <p:spTgt spid="28681"/>
                                        </p:tgtEl>
                                        <p:attrNameLst>
                                          <p:attrName>ppt_w</p:attrName>
                                        </p:attrNameLst>
                                      </p:cBhvr>
                                      <p:tavLst>
                                        <p:tav tm="0">
                                          <p:val>
                                            <p:fltVal val="0"/>
                                          </p:val>
                                        </p:tav>
                                        <p:tav tm="100000">
                                          <p:val>
                                            <p:strVal val="#ppt_w"/>
                                          </p:val>
                                        </p:tav>
                                      </p:tavLst>
                                    </p:anim>
                                    <p:anim calcmode="lin" valueType="num">
                                      <p:cBhvr>
                                        <p:cTn id="37" dur="500" fill="hold"/>
                                        <p:tgtEl>
                                          <p:spTgt spid="28681"/>
                                        </p:tgtEl>
                                        <p:attrNameLst>
                                          <p:attrName>ppt_h</p:attrName>
                                        </p:attrNameLst>
                                      </p:cBhvr>
                                      <p:tavLst>
                                        <p:tav tm="0">
                                          <p:val>
                                            <p:fltVal val="0"/>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autoUpdateAnimBg="0"/>
      <p:bldP spid="28681" grpId="0" autoUpdateAnimBg="0"/>
      <p:bldP spid="28688" grpId="0" autoUpdateAnimBg="0"/>
      <p:bldP spid="28689" grpId="0" autoUpdateAnimBg="0"/>
      <p:bldP spid="7"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标题 1">
            <a:extLst>
              <a:ext uri="{FF2B5EF4-FFF2-40B4-BE49-F238E27FC236}">
                <a16:creationId xmlns:a16="http://schemas.microsoft.com/office/drawing/2014/main" id="{7F33E0C1-FA5D-4C6F-AFF8-60139F337F94}"/>
              </a:ext>
            </a:extLst>
          </p:cNvPr>
          <p:cNvSpPr>
            <a:spLocks noGrp="1" noChangeArrowheads="1"/>
          </p:cNvSpPr>
          <p:nvPr>
            <p:ph type="title"/>
          </p:nvPr>
        </p:nvSpPr>
        <p:spPr>
          <a:xfrm>
            <a:off x="1703388" y="188913"/>
            <a:ext cx="6337300" cy="563562"/>
          </a:xfrm>
        </p:spPr>
        <p:txBody>
          <a:bodyPr/>
          <a:lstStyle/>
          <a:p>
            <a:pPr algn="ctr"/>
            <a:r>
              <a:rPr lang="zh-CN" altLang="en-US" sz="4000"/>
              <a:t>谷胱甘肽（</a:t>
            </a:r>
            <a:r>
              <a:rPr lang="en-US" altLang="zh-CN" sz="4000"/>
              <a:t>GSH</a:t>
            </a:r>
            <a:r>
              <a:rPr lang="zh-CN" altLang="en-US" sz="4000"/>
              <a:t>）的功能</a:t>
            </a:r>
          </a:p>
        </p:txBody>
      </p:sp>
      <p:sp>
        <p:nvSpPr>
          <p:cNvPr id="3" name="内容占位符 2">
            <a:extLst>
              <a:ext uri="{FF2B5EF4-FFF2-40B4-BE49-F238E27FC236}">
                <a16:creationId xmlns:a16="http://schemas.microsoft.com/office/drawing/2014/main" id="{1BDDD246-E37F-41EA-8984-1F8E92BC331E}"/>
              </a:ext>
            </a:extLst>
          </p:cNvPr>
          <p:cNvSpPr>
            <a:spLocks noGrp="1"/>
          </p:cNvSpPr>
          <p:nvPr>
            <p:ph idx="1"/>
          </p:nvPr>
        </p:nvSpPr>
        <p:spPr>
          <a:xfrm>
            <a:off x="1703388" y="1916113"/>
            <a:ext cx="8964612" cy="3789362"/>
          </a:xfrm>
        </p:spPr>
        <p:txBody>
          <a:bodyPr/>
          <a:lstStyle/>
          <a:p>
            <a:pPr marL="0" indent="0">
              <a:spcBef>
                <a:spcPts val="0"/>
              </a:spcBef>
              <a:defRPr/>
            </a:pPr>
            <a:r>
              <a:rPr kumimoji="1" lang="zh-CN" altLang="en-US" dirty="0">
                <a:solidFill>
                  <a:srgbClr val="0000CC"/>
                </a:solidFill>
              </a:rPr>
              <a:t>抗氧化作用：</a:t>
            </a:r>
            <a:r>
              <a:rPr kumimoji="1" lang="zh-CN" altLang="en-US" dirty="0">
                <a:solidFill>
                  <a:schemeClr val="tx1"/>
                </a:solidFill>
              </a:rPr>
              <a:t>还原细胞内产生的</a:t>
            </a:r>
            <a:r>
              <a:rPr kumimoji="1" lang="en-US" altLang="zh-CN" dirty="0">
                <a:solidFill>
                  <a:schemeClr val="tx1"/>
                </a:solidFill>
              </a:rPr>
              <a:t>H</a:t>
            </a:r>
            <a:r>
              <a:rPr kumimoji="1" lang="en-US" altLang="zh-CN" baseline="-25000" dirty="0">
                <a:solidFill>
                  <a:schemeClr val="tx1"/>
                </a:solidFill>
              </a:rPr>
              <a:t>2</a:t>
            </a:r>
            <a:r>
              <a:rPr kumimoji="1" lang="en-US" altLang="zh-CN" dirty="0">
                <a:solidFill>
                  <a:schemeClr val="tx1"/>
                </a:solidFill>
              </a:rPr>
              <a:t>O</a:t>
            </a:r>
            <a:r>
              <a:rPr kumimoji="1" lang="en-US" altLang="zh-CN" baseline="-25000" dirty="0">
                <a:solidFill>
                  <a:schemeClr val="tx1"/>
                </a:solidFill>
              </a:rPr>
              <a:t>2</a:t>
            </a:r>
            <a:r>
              <a:rPr kumimoji="1" lang="en-US" altLang="zh-CN" dirty="0">
                <a:solidFill>
                  <a:schemeClr val="tx1"/>
                </a:solidFill>
              </a:rPr>
              <a:t> </a:t>
            </a:r>
            <a:r>
              <a:rPr kumimoji="1" lang="zh-CN" altLang="en-US" dirty="0">
                <a:solidFill>
                  <a:schemeClr val="tx1"/>
                </a:solidFill>
              </a:rPr>
              <a:t>，避免细胞受损</a:t>
            </a:r>
            <a:endParaRPr kumimoji="1" lang="en-US" altLang="zh-CN" dirty="0">
              <a:solidFill>
                <a:schemeClr val="tx1"/>
              </a:solidFill>
            </a:endParaRPr>
          </a:p>
          <a:p>
            <a:pPr marL="0" indent="2424113">
              <a:spcBef>
                <a:spcPts val="0"/>
              </a:spcBef>
              <a:buNone/>
              <a:defRPr/>
            </a:pPr>
            <a:endParaRPr kumimoji="1" lang="zh-CN" altLang="en-US" dirty="0">
              <a:solidFill>
                <a:schemeClr val="tx1"/>
              </a:solidFill>
            </a:endParaRPr>
          </a:p>
          <a:p>
            <a:pPr marL="0" indent="0">
              <a:spcBef>
                <a:spcPts val="0"/>
              </a:spcBef>
              <a:defRPr/>
            </a:pPr>
            <a:r>
              <a:rPr lang="zh-CN" altLang="en-US" dirty="0">
                <a:solidFill>
                  <a:srgbClr val="0000CC"/>
                </a:solidFill>
              </a:rPr>
              <a:t>保护功能</a:t>
            </a:r>
            <a:r>
              <a:rPr lang="zh-CN" altLang="en-US" dirty="0"/>
              <a:t>：  保护结构蛋白或功能蛋白中的</a:t>
            </a:r>
            <a:r>
              <a:rPr lang="en-US" altLang="zh-CN" dirty="0"/>
              <a:t>-SH</a:t>
            </a:r>
            <a:r>
              <a:rPr lang="zh-CN" altLang="en-US" dirty="0"/>
              <a:t>不被 </a:t>
            </a:r>
            <a:endParaRPr lang="en-US" altLang="zh-CN" dirty="0"/>
          </a:p>
          <a:p>
            <a:pPr marL="0" indent="0">
              <a:spcBef>
                <a:spcPts val="0"/>
              </a:spcBef>
              <a:buNone/>
              <a:defRPr/>
            </a:pPr>
            <a:r>
              <a:rPr lang="en-US" altLang="zh-CN" dirty="0"/>
              <a:t>                          </a:t>
            </a:r>
            <a:r>
              <a:rPr lang="zh-CN" altLang="en-US" dirty="0"/>
              <a:t>氧化，从而保护蛋白质的生物学活性。</a:t>
            </a:r>
            <a:endParaRPr lang="en-US" altLang="zh-CN" dirty="0"/>
          </a:p>
          <a:p>
            <a:pPr marL="0" indent="0">
              <a:spcBef>
                <a:spcPts val="0"/>
              </a:spcBef>
              <a:buNone/>
              <a:defRPr/>
            </a:pPr>
            <a:endParaRPr lang="zh-CN" altLang="en-US" dirty="0"/>
          </a:p>
          <a:p>
            <a:pPr>
              <a:defRPr/>
            </a:pPr>
            <a:r>
              <a:rPr lang="zh-CN" altLang="en-US" dirty="0">
                <a:solidFill>
                  <a:srgbClr val="0000CC"/>
                </a:solidFill>
              </a:rPr>
              <a:t>解毒功能</a:t>
            </a:r>
            <a:r>
              <a:rPr lang="zh-CN" altLang="en-US" dirty="0"/>
              <a:t>： 可与亲电子的毒物如致癌剂和药物结合，</a:t>
            </a:r>
            <a:endParaRPr lang="en-US" altLang="zh-CN" dirty="0"/>
          </a:p>
          <a:p>
            <a:pPr marL="0" indent="0">
              <a:buNone/>
              <a:defRPr/>
            </a:pPr>
            <a:r>
              <a:rPr lang="en-US" altLang="zh-CN" dirty="0"/>
              <a:t>                          </a:t>
            </a:r>
            <a:r>
              <a:rPr lang="zh-CN" altLang="en-US" dirty="0"/>
              <a:t>避免这些毒物损伤</a:t>
            </a:r>
            <a:r>
              <a:rPr lang="en-US" altLang="zh-CN" dirty="0"/>
              <a:t>DNA</a:t>
            </a:r>
            <a:r>
              <a:rPr lang="zh-CN" altLang="en-US" dirty="0"/>
              <a:t>、</a:t>
            </a:r>
            <a:r>
              <a:rPr lang="en-US" altLang="zh-CN" dirty="0"/>
              <a:t>RNA</a:t>
            </a:r>
            <a:r>
              <a:rPr lang="zh-CN" altLang="en-US" dirty="0"/>
              <a:t>、蛋白质</a:t>
            </a:r>
          </a:p>
          <a:p>
            <a:pPr>
              <a:defRPr/>
            </a:pPr>
            <a:endParaRPr lang="zh-CN" altLang="en-US" dirty="0"/>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标题 1">
            <a:extLst>
              <a:ext uri="{FF2B5EF4-FFF2-40B4-BE49-F238E27FC236}">
                <a16:creationId xmlns:a16="http://schemas.microsoft.com/office/drawing/2014/main" id="{DC7FE465-D81D-4BB4-8331-3A2D5AAF2964}"/>
              </a:ext>
            </a:extLst>
          </p:cNvPr>
          <p:cNvSpPr>
            <a:spLocks noGrp="1" noChangeArrowheads="1"/>
          </p:cNvSpPr>
          <p:nvPr>
            <p:ph type="title"/>
          </p:nvPr>
        </p:nvSpPr>
        <p:spPr>
          <a:xfrm>
            <a:off x="1893888" y="188913"/>
            <a:ext cx="8450262" cy="563562"/>
          </a:xfrm>
        </p:spPr>
        <p:txBody>
          <a:bodyPr/>
          <a:lstStyle/>
          <a:p>
            <a:r>
              <a:rPr lang="zh-CN" altLang="en-US"/>
              <a:t>课堂练习</a:t>
            </a:r>
          </a:p>
        </p:txBody>
      </p:sp>
      <p:sp>
        <p:nvSpPr>
          <p:cNvPr id="3" name="内容占位符 2">
            <a:extLst>
              <a:ext uri="{FF2B5EF4-FFF2-40B4-BE49-F238E27FC236}">
                <a16:creationId xmlns:a16="http://schemas.microsoft.com/office/drawing/2014/main" id="{2CDFD992-6C51-436D-93F2-1C32705D2F11}"/>
              </a:ext>
            </a:extLst>
          </p:cNvPr>
          <p:cNvSpPr>
            <a:spLocks noGrp="1"/>
          </p:cNvSpPr>
          <p:nvPr>
            <p:ph idx="1"/>
          </p:nvPr>
        </p:nvSpPr>
        <p:spPr>
          <a:xfrm>
            <a:off x="2424114" y="1341438"/>
            <a:ext cx="7775575" cy="4751858"/>
          </a:xfrm>
        </p:spPr>
        <p:txBody>
          <a:bodyPr/>
          <a:lstStyle/>
          <a:p>
            <a:pPr>
              <a:defRPr/>
            </a:pPr>
            <a:r>
              <a:rPr lang="zh-CN" altLang="en-US" dirty="0"/>
              <a:t>关于还原型谷胱甘肽的叙述，错误的是 </a:t>
            </a:r>
            <a:endParaRPr lang="en-US" altLang="zh-CN" dirty="0"/>
          </a:p>
          <a:p>
            <a:pPr marL="400050" lvl="1" indent="0">
              <a:lnSpc>
                <a:spcPct val="150000"/>
              </a:lnSpc>
              <a:buNone/>
              <a:defRPr/>
            </a:pPr>
            <a:r>
              <a:rPr lang="en-US" altLang="zh-CN" dirty="0"/>
              <a:t>A. </a:t>
            </a:r>
            <a:r>
              <a:rPr lang="zh-CN" altLang="en-US" dirty="0"/>
              <a:t>含有两个肽键                    </a:t>
            </a:r>
            <a:endParaRPr lang="en-US" altLang="zh-CN" dirty="0"/>
          </a:p>
          <a:p>
            <a:pPr marL="400050" lvl="1" indent="0">
              <a:lnSpc>
                <a:spcPct val="150000"/>
              </a:lnSpc>
              <a:buNone/>
              <a:defRPr/>
            </a:pPr>
            <a:r>
              <a:rPr lang="en-US" altLang="zh-CN" dirty="0"/>
              <a:t>B. </a:t>
            </a:r>
            <a:r>
              <a:rPr lang="zh-CN" altLang="en-US" dirty="0"/>
              <a:t>含有一个巯基</a:t>
            </a:r>
          </a:p>
          <a:p>
            <a:pPr marL="400050" lvl="1" indent="0">
              <a:lnSpc>
                <a:spcPct val="150000"/>
              </a:lnSpc>
              <a:buNone/>
              <a:defRPr/>
            </a:pPr>
            <a:r>
              <a:rPr lang="en-US" altLang="zh-CN" dirty="0"/>
              <a:t>C. Glu</a:t>
            </a:r>
            <a:r>
              <a:rPr lang="zh-CN" altLang="en-US" dirty="0"/>
              <a:t>的</a:t>
            </a:r>
            <a:r>
              <a:rPr lang="en-US" altLang="zh-CN" dirty="0"/>
              <a:t>α-</a:t>
            </a:r>
            <a:r>
              <a:rPr lang="zh-CN" altLang="en-US" dirty="0"/>
              <a:t>羧基参与肽键形成</a:t>
            </a:r>
            <a:endParaRPr lang="en-US" altLang="zh-CN" dirty="0"/>
          </a:p>
          <a:p>
            <a:pPr marL="400050" lvl="1" indent="0">
              <a:lnSpc>
                <a:spcPct val="150000"/>
              </a:lnSpc>
              <a:buNone/>
              <a:defRPr/>
            </a:pPr>
            <a:r>
              <a:rPr lang="en-US" altLang="zh-CN" dirty="0"/>
              <a:t>D. </a:t>
            </a:r>
            <a:r>
              <a:rPr lang="zh-CN" altLang="en-US" dirty="0"/>
              <a:t>是体内重要的还原剂</a:t>
            </a:r>
          </a:p>
          <a:p>
            <a:pPr marL="400050" lvl="1" indent="0">
              <a:lnSpc>
                <a:spcPct val="150000"/>
              </a:lnSpc>
              <a:buNone/>
              <a:defRPr/>
            </a:pPr>
            <a:r>
              <a:rPr lang="en-US" altLang="zh-CN" dirty="0"/>
              <a:t>E.</a:t>
            </a:r>
            <a:r>
              <a:rPr lang="zh-CN" altLang="en-US" dirty="0"/>
              <a:t>  是一种酸性肽</a:t>
            </a:r>
            <a:endParaRPr lang="en-US" altLang="zh-CN" dirty="0"/>
          </a:p>
          <a:p>
            <a:pPr>
              <a:defRPr/>
            </a:pPr>
            <a:endParaRPr lang="zh-CN" altLang="en-US" dirty="0"/>
          </a:p>
        </p:txBody>
      </p:sp>
      <p:sp>
        <p:nvSpPr>
          <p:cNvPr id="5" name="文本框 4">
            <a:extLst>
              <a:ext uri="{FF2B5EF4-FFF2-40B4-BE49-F238E27FC236}">
                <a16:creationId xmlns:a16="http://schemas.microsoft.com/office/drawing/2014/main" id="{99FFA3A1-C3D0-4277-B0E6-4ABBCA1E3A65}"/>
              </a:ext>
            </a:extLst>
          </p:cNvPr>
          <p:cNvSpPr txBox="1">
            <a:spLocks noChangeArrowheads="1"/>
          </p:cNvSpPr>
          <p:nvPr/>
        </p:nvSpPr>
        <p:spPr bwMode="auto">
          <a:xfrm>
            <a:off x="9336089" y="1773238"/>
            <a:ext cx="12969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n-US" altLang="zh-CN" sz="3200" b="0">
                <a:solidFill>
                  <a:srgbClr val="C00000"/>
                </a:solidFill>
                <a:latin typeface="Arial" panose="020B0604020202020204" pitchFamily="34" charset="0"/>
                <a:ea typeface="宋体" panose="02010600030101010101" pitchFamily="2" charset="-122"/>
              </a:rPr>
              <a:t>C</a:t>
            </a:r>
            <a:endParaRPr lang="zh-CN" altLang="en-US" sz="3200" b="0">
              <a:solidFill>
                <a:srgbClr val="C00000"/>
              </a:solidFill>
              <a:latin typeface="Arial" panose="020B0604020202020204" pitchFamily="34" charset="0"/>
              <a:ea typeface="宋体" panose="02010600030101010101" pitchFamily="2" charset="-122"/>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9506" name="Text Box 2">
            <a:extLst>
              <a:ext uri="{FF2B5EF4-FFF2-40B4-BE49-F238E27FC236}">
                <a16:creationId xmlns:a16="http://schemas.microsoft.com/office/drawing/2014/main" id="{8554D5CF-F71B-40D7-8810-D983FAA0F219}"/>
              </a:ext>
            </a:extLst>
          </p:cNvPr>
          <p:cNvSpPr txBox="1">
            <a:spLocks noChangeArrowheads="1"/>
          </p:cNvSpPr>
          <p:nvPr/>
        </p:nvSpPr>
        <p:spPr bwMode="auto">
          <a:xfrm>
            <a:off x="2566988" y="1052513"/>
            <a:ext cx="5040312" cy="656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50000"/>
              </a:lnSpc>
              <a:spcBef>
                <a:spcPct val="0"/>
              </a:spcBef>
              <a:buClrTx/>
              <a:buFontTx/>
              <a:buChar char="•"/>
            </a:pPr>
            <a:r>
              <a:rPr kumimoji="1" lang="en-US" altLang="zh-CN" b="0">
                <a:solidFill>
                  <a:srgbClr val="0000CC"/>
                </a:solidFill>
              </a:rPr>
              <a:t> </a:t>
            </a:r>
            <a:r>
              <a:rPr kumimoji="1" lang="zh-CN" altLang="en-US">
                <a:solidFill>
                  <a:srgbClr val="0000CC"/>
                </a:solidFill>
              </a:rPr>
              <a:t>体内许多激素属寡肽或多肽</a:t>
            </a:r>
            <a:endParaRPr kumimoji="1" lang="zh-CN" altLang="en-US" sz="2400">
              <a:solidFill>
                <a:srgbClr val="0000CC"/>
              </a:solidFill>
            </a:endParaRPr>
          </a:p>
        </p:txBody>
      </p:sp>
      <p:sp>
        <p:nvSpPr>
          <p:cNvPr id="149507" name="Text Box 3">
            <a:extLst>
              <a:ext uri="{FF2B5EF4-FFF2-40B4-BE49-F238E27FC236}">
                <a16:creationId xmlns:a16="http://schemas.microsoft.com/office/drawing/2014/main" id="{5BE8EFCD-55B4-4EEC-8E63-03E7C1E477EA}"/>
              </a:ext>
            </a:extLst>
          </p:cNvPr>
          <p:cNvSpPr txBox="1">
            <a:spLocks noChangeArrowheads="1"/>
          </p:cNvSpPr>
          <p:nvPr/>
        </p:nvSpPr>
        <p:spPr bwMode="auto">
          <a:xfrm>
            <a:off x="2711450" y="5661026"/>
            <a:ext cx="4800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Char char="•"/>
            </a:pPr>
            <a:r>
              <a:rPr kumimoji="1" lang="en-US" altLang="zh-CN">
                <a:solidFill>
                  <a:srgbClr val="0000CC"/>
                </a:solidFill>
              </a:rPr>
              <a:t> </a:t>
            </a:r>
            <a:r>
              <a:rPr kumimoji="1" lang="zh-CN" altLang="en-US">
                <a:solidFill>
                  <a:srgbClr val="0000CC"/>
                </a:solidFill>
              </a:rPr>
              <a:t>神经肽：</a:t>
            </a:r>
            <a:r>
              <a:rPr kumimoji="1" lang="zh-CN" altLang="en-US" sz="2400">
                <a:solidFill>
                  <a:schemeClr val="tx1"/>
                </a:solidFill>
              </a:rPr>
              <a:t>脑啡肽、内啡肽</a:t>
            </a:r>
          </a:p>
        </p:txBody>
      </p:sp>
      <p:sp>
        <p:nvSpPr>
          <p:cNvPr id="149508" name="Text Box 4">
            <a:extLst>
              <a:ext uri="{FF2B5EF4-FFF2-40B4-BE49-F238E27FC236}">
                <a16:creationId xmlns:a16="http://schemas.microsoft.com/office/drawing/2014/main" id="{05991481-2C34-44E8-8330-E64312BAD297}"/>
              </a:ext>
            </a:extLst>
          </p:cNvPr>
          <p:cNvSpPr txBox="1">
            <a:spLocks noChangeArrowheads="1"/>
          </p:cNvSpPr>
          <p:nvPr/>
        </p:nvSpPr>
        <p:spPr bwMode="auto">
          <a:xfrm>
            <a:off x="1992313" y="188914"/>
            <a:ext cx="5040312"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3200">
                <a:solidFill>
                  <a:schemeClr val="bg1"/>
                </a:solidFill>
              </a:rPr>
              <a:t>2. </a:t>
            </a:r>
            <a:r>
              <a:rPr kumimoji="1" lang="zh-CN" altLang="en-US" sz="3200">
                <a:solidFill>
                  <a:schemeClr val="bg1"/>
                </a:solidFill>
              </a:rPr>
              <a:t>多肽类激素及神经肽</a:t>
            </a:r>
          </a:p>
        </p:txBody>
      </p:sp>
      <p:pic>
        <p:nvPicPr>
          <p:cNvPr id="149509" name="Picture 5" descr="TRH">
            <a:extLst>
              <a:ext uri="{FF2B5EF4-FFF2-40B4-BE49-F238E27FC236}">
                <a16:creationId xmlns:a16="http://schemas.microsoft.com/office/drawing/2014/main" id="{91B1BD7E-CEDC-4804-BBDB-1AF45FE9FE66}"/>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40014" y="1989138"/>
            <a:ext cx="6480175"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1554" name="标题 1">
            <a:extLst>
              <a:ext uri="{FF2B5EF4-FFF2-40B4-BE49-F238E27FC236}">
                <a16:creationId xmlns:a16="http://schemas.microsoft.com/office/drawing/2014/main" id="{452A3F66-1249-4E4C-B3D0-A8194386B8E2}"/>
              </a:ext>
            </a:extLst>
          </p:cNvPr>
          <p:cNvSpPr>
            <a:spLocks noGrp="1" noChangeArrowheads="1"/>
          </p:cNvSpPr>
          <p:nvPr>
            <p:ph type="title"/>
          </p:nvPr>
        </p:nvSpPr>
        <p:spPr>
          <a:xfrm>
            <a:off x="983432" y="188640"/>
            <a:ext cx="11074400" cy="563563"/>
          </a:xfrm>
        </p:spPr>
        <p:txBody>
          <a:bodyPr/>
          <a:lstStyle/>
          <a:p>
            <a:r>
              <a:rPr lang="zh-CN" altLang="en-US" dirty="0"/>
              <a:t>阿斯巴甜（天冬氨酰苯丙氨酸甲酯）</a:t>
            </a:r>
          </a:p>
        </p:txBody>
      </p:sp>
      <p:pic>
        <p:nvPicPr>
          <p:cNvPr id="151555" name="图片 2">
            <a:extLst>
              <a:ext uri="{FF2B5EF4-FFF2-40B4-BE49-F238E27FC236}">
                <a16:creationId xmlns:a16="http://schemas.microsoft.com/office/drawing/2014/main" id="{79BDED67-5721-4E44-A07A-E0790BD0624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86934" y="1584335"/>
            <a:ext cx="4670425" cy="302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556" name="矩形 4">
            <a:extLst>
              <a:ext uri="{FF2B5EF4-FFF2-40B4-BE49-F238E27FC236}">
                <a16:creationId xmlns:a16="http://schemas.microsoft.com/office/drawing/2014/main" id="{EE5960CF-EC77-4102-A562-09E01AFB8DC1}"/>
              </a:ext>
            </a:extLst>
          </p:cNvPr>
          <p:cNvSpPr>
            <a:spLocks noChangeArrowheads="1"/>
          </p:cNvSpPr>
          <p:nvPr/>
        </p:nvSpPr>
        <p:spPr bwMode="auto">
          <a:xfrm>
            <a:off x="6099000" y="1553503"/>
            <a:ext cx="5613624"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b="0" dirty="0">
                <a:solidFill>
                  <a:schemeClr val="tx1"/>
                </a:solidFill>
                <a:latin typeface="微软雅黑" panose="020B0503020204020204" pitchFamily="34" charset="-122"/>
                <a:ea typeface="微软雅黑" panose="020B0503020204020204" pitchFamily="34" charset="-122"/>
              </a:rPr>
              <a:t>一种</a:t>
            </a:r>
            <a:r>
              <a:rPr lang="zh-CN" altLang="en-US" dirty="0">
                <a:solidFill>
                  <a:schemeClr val="tx1"/>
                </a:solidFill>
                <a:latin typeface="微软雅黑" panose="020B0503020204020204" pitchFamily="34" charset="-122"/>
                <a:ea typeface="微软雅黑" panose="020B0503020204020204" pitchFamily="34" charset="-122"/>
              </a:rPr>
              <a:t>人造甜味剂</a:t>
            </a:r>
            <a:r>
              <a:rPr lang="zh-CN" altLang="en-US" b="0" dirty="0">
                <a:solidFill>
                  <a:schemeClr val="tx1"/>
                </a:solidFill>
                <a:latin typeface="微软雅黑" panose="020B0503020204020204" pitchFamily="34" charset="-122"/>
                <a:ea typeface="微软雅黑" panose="020B0503020204020204" pitchFamily="34" charset="-122"/>
              </a:rPr>
              <a:t>。</a:t>
            </a:r>
            <a:endParaRPr lang="en-US" altLang="zh-CN" b="0" dirty="0">
              <a:solidFill>
                <a:schemeClr val="tx1"/>
              </a:solidFill>
              <a:latin typeface="微软雅黑" panose="020B0503020204020204" pitchFamily="34" charset="-122"/>
              <a:ea typeface="微软雅黑" panose="020B0503020204020204" pitchFamily="34" charset="-122"/>
            </a:endParaRPr>
          </a:p>
          <a:p>
            <a:pPr>
              <a:spcBef>
                <a:spcPct val="0"/>
              </a:spcBef>
              <a:buClrTx/>
              <a:buFontTx/>
              <a:buNone/>
            </a:pPr>
            <a:r>
              <a:rPr lang="ja-JP" altLang="en-US" b="0" dirty="0">
                <a:solidFill>
                  <a:schemeClr val="tx1"/>
                </a:solidFill>
                <a:latin typeface="微软雅黑" panose="020B0503020204020204" pitchFamily="34" charset="-122"/>
                <a:ea typeface="微软雅黑" panose="020B0503020204020204" pitchFamily="34" charset="-122"/>
              </a:rPr>
              <a:t>又</a:t>
            </a:r>
            <a:r>
              <a:rPr lang="zh-CN" altLang="en-US" b="0" dirty="0">
                <a:solidFill>
                  <a:schemeClr val="tx1"/>
                </a:solidFill>
                <a:latin typeface="微软雅黑" panose="020B0503020204020204" pitchFamily="34" charset="-122"/>
                <a:ea typeface="微软雅黑" panose="020B0503020204020204" pitchFamily="34" charset="-122"/>
              </a:rPr>
              <a:t>名</a:t>
            </a:r>
            <a:r>
              <a:rPr lang="ja-JP" altLang="en-US" b="0" dirty="0">
                <a:solidFill>
                  <a:schemeClr val="tx1"/>
                </a:solidFill>
                <a:latin typeface="微软雅黑" panose="020B0503020204020204" pitchFamily="34" charset="-122"/>
                <a:ea typeface="微软雅黑" panose="020B0503020204020204" pitchFamily="34" charset="-122"/>
              </a:rPr>
              <a:t>甜味素、蛋白糖、天冬甜母、天苯糖等。</a:t>
            </a:r>
            <a:endParaRPr lang="en-US" altLang="zh-CN" b="0" dirty="0">
              <a:solidFill>
                <a:schemeClr val="tx1"/>
              </a:solidFill>
              <a:latin typeface="微软雅黑" panose="020B0503020204020204" pitchFamily="34" charset="-122"/>
              <a:ea typeface="微软雅黑" panose="020B0503020204020204" pitchFamily="34" charset="-122"/>
            </a:endParaRPr>
          </a:p>
          <a:p>
            <a:pPr>
              <a:spcBef>
                <a:spcPct val="0"/>
              </a:spcBef>
              <a:buClrTx/>
              <a:buFontTx/>
              <a:buNone/>
            </a:pPr>
            <a:endParaRPr lang="en-US" altLang="ja-JP" b="0" dirty="0">
              <a:solidFill>
                <a:schemeClr val="tx1"/>
              </a:solidFill>
              <a:latin typeface="微软雅黑" panose="020B0503020204020204" pitchFamily="34" charset="-122"/>
              <a:ea typeface="微软雅黑" panose="020B0503020204020204" pitchFamily="34" charset="-122"/>
            </a:endParaRPr>
          </a:p>
          <a:p>
            <a:pPr>
              <a:spcBef>
                <a:spcPct val="0"/>
              </a:spcBef>
              <a:buClrTx/>
              <a:buFontTx/>
              <a:buNone/>
            </a:pPr>
            <a:r>
              <a:rPr lang="ja-JP" altLang="en-US" b="0" dirty="0">
                <a:solidFill>
                  <a:srgbClr val="C00000"/>
                </a:solidFill>
                <a:latin typeface="微软雅黑" panose="020B0503020204020204" pitchFamily="34" charset="-122"/>
                <a:ea typeface="微软雅黑" panose="020B0503020204020204" pitchFamily="34" charset="-122"/>
              </a:rPr>
              <a:t>甜味是蔗糖</a:t>
            </a:r>
            <a:r>
              <a:rPr lang="zh-CN" altLang="en-US" b="0" dirty="0">
                <a:solidFill>
                  <a:srgbClr val="C00000"/>
                </a:solidFill>
                <a:latin typeface="微软雅黑" panose="020B0503020204020204" pitchFamily="34" charset="-122"/>
                <a:ea typeface="微软雅黑" panose="020B0503020204020204" pitchFamily="34" charset="-122"/>
              </a:rPr>
              <a:t>甜</a:t>
            </a:r>
            <a:r>
              <a:rPr lang="ja-JP" altLang="en-US" b="0" dirty="0">
                <a:solidFill>
                  <a:srgbClr val="C00000"/>
                </a:solidFill>
                <a:latin typeface="微软雅黑" panose="020B0503020204020204" pitchFamily="34" charset="-122"/>
                <a:ea typeface="微软雅黑" panose="020B0503020204020204" pitchFamily="34" charset="-122"/>
              </a:rPr>
              <a:t>度的</a:t>
            </a:r>
            <a:r>
              <a:rPr lang="en-US" altLang="ja-JP" b="0" dirty="0">
                <a:solidFill>
                  <a:srgbClr val="C00000"/>
                </a:solidFill>
                <a:latin typeface="微软雅黑" panose="020B0503020204020204" pitchFamily="34" charset="-122"/>
                <a:ea typeface="微软雅黑" panose="020B0503020204020204" pitchFamily="34" charset="-122"/>
              </a:rPr>
              <a:t>200</a:t>
            </a:r>
            <a:r>
              <a:rPr lang="ja-JP" altLang="en-US" b="0" dirty="0">
                <a:solidFill>
                  <a:srgbClr val="C00000"/>
                </a:solidFill>
                <a:latin typeface="微软雅黑" panose="020B0503020204020204" pitchFamily="34" charset="-122"/>
                <a:ea typeface="微软雅黑" panose="020B0503020204020204" pitchFamily="34" charset="-122"/>
              </a:rPr>
              <a:t>倍</a:t>
            </a:r>
            <a:r>
              <a:rPr lang="zh-CN" altLang="en-US" b="0" dirty="0">
                <a:solidFill>
                  <a:srgbClr val="C00000"/>
                </a:solidFill>
                <a:latin typeface="微软雅黑" panose="020B0503020204020204" pitchFamily="34" charset="-122"/>
                <a:ea typeface="微软雅黑" panose="020B0503020204020204" pitchFamily="34" charset="-122"/>
              </a:rPr>
              <a:t>，</a:t>
            </a:r>
            <a:r>
              <a:rPr lang="ja-JP" altLang="en-US" b="0" dirty="0">
                <a:solidFill>
                  <a:srgbClr val="C00000"/>
                </a:solidFill>
                <a:latin typeface="微软雅黑" panose="020B0503020204020204" pitchFamily="34" charset="-122"/>
                <a:ea typeface="微软雅黑" panose="020B0503020204020204" pitchFamily="34" charset="-122"/>
              </a:rPr>
              <a:t>热量低，</a:t>
            </a:r>
            <a:r>
              <a:rPr lang="ja-JP" altLang="en-US" b="0" dirty="0">
                <a:solidFill>
                  <a:schemeClr val="tx1"/>
                </a:solidFill>
                <a:latin typeface="微软雅黑" panose="020B0503020204020204" pitchFamily="34" charset="-122"/>
                <a:ea typeface="微软雅黑" panose="020B0503020204020204" pitchFamily="34" charset="-122"/>
              </a:rPr>
              <a:t>主要添加于饮料、维他命含片或口香糖。</a:t>
            </a:r>
            <a:r>
              <a:rPr lang="ja-JP" altLang="en-US" b="0" dirty="0">
                <a:solidFill>
                  <a:srgbClr val="C00000"/>
                </a:solidFill>
                <a:latin typeface="微软雅黑" panose="020B0503020204020204" pitchFamily="34" charset="-122"/>
                <a:ea typeface="微软雅黑" panose="020B0503020204020204" pitchFamily="34" charset="-122"/>
              </a:rPr>
              <a:t>许多糖尿病患者、减肥人士以阿斯巴甜做为糖的代用品。</a:t>
            </a:r>
            <a:endParaRPr lang="en-US" altLang="ja-JP" b="0" dirty="0">
              <a:solidFill>
                <a:srgbClr val="C00000"/>
              </a:solidFill>
              <a:latin typeface="微软雅黑" panose="020B0503020204020204" pitchFamily="34" charset="-122"/>
              <a:ea typeface="微软雅黑" panose="020B0503020204020204" pitchFamily="34" charset="-122"/>
            </a:endParaRPr>
          </a:p>
          <a:p>
            <a:pPr>
              <a:spcBef>
                <a:spcPct val="0"/>
              </a:spcBef>
              <a:buClrTx/>
              <a:buFontTx/>
              <a:buNone/>
            </a:pPr>
            <a:endParaRPr lang="en-US" altLang="ja-JP" b="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spd="slow">
    <p:circl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F018B91F-867A-4524-A73C-B5488D32B428}"/>
              </a:ext>
            </a:extLst>
          </p:cNvPr>
          <p:cNvSpPr>
            <a:spLocks noGrp="1" noChangeArrowheads="1"/>
          </p:cNvSpPr>
          <p:nvPr>
            <p:ph type="title"/>
          </p:nvPr>
        </p:nvSpPr>
        <p:spPr>
          <a:xfrm>
            <a:off x="2351089" y="188913"/>
            <a:ext cx="6840537" cy="563562"/>
          </a:xfrm>
        </p:spPr>
        <p:txBody>
          <a:bodyPr/>
          <a:lstStyle/>
          <a:p>
            <a:pPr eaLnBrk="1" hangingPunct="1"/>
            <a:r>
              <a:rPr lang="en-US" altLang="zh-CN" sz="3200"/>
              <a:t>  </a:t>
            </a:r>
            <a:r>
              <a:rPr lang="zh-CN" altLang="en-US" sz="4000"/>
              <a:t>小   结</a:t>
            </a:r>
          </a:p>
        </p:txBody>
      </p:sp>
      <p:sp>
        <p:nvSpPr>
          <p:cNvPr id="153603" name="Rectangle 3">
            <a:extLst>
              <a:ext uri="{FF2B5EF4-FFF2-40B4-BE49-F238E27FC236}">
                <a16:creationId xmlns:a16="http://schemas.microsoft.com/office/drawing/2014/main" id="{566598AA-F370-4F87-A151-565C17C8DB46}"/>
              </a:ext>
            </a:extLst>
          </p:cNvPr>
          <p:cNvSpPr>
            <a:spLocks noGrp="1" noChangeArrowheads="1"/>
          </p:cNvSpPr>
          <p:nvPr>
            <p:ph type="body" idx="1"/>
          </p:nvPr>
        </p:nvSpPr>
        <p:spPr>
          <a:xfrm>
            <a:off x="1919289" y="1341439"/>
            <a:ext cx="8353425" cy="4967287"/>
          </a:xfrm>
        </p:spPr>
        <p:txBody>
          <a:bodyPr/>
          <a:lstStyle/>
          <a:p>
            <a:pPr eaLnBrk="1" hangingPunct="1">
              <a:lnSpc>
                <a:spcPct val="130000"/>
              </a:lnSpc>
              <a:buClr>
                <a:srgbClr val="006600"/>
              </a:buClr>
            </a:pPr>
            <a:r>
              <a:rPr lang="zh-CN" altLang="en-US" sz="2400" dirty="0">
                <a:solidFill>
                  <a:schemeClr val="tx1"/>
                </a:solidFill>
              </a:rPr>
              <a:t>蛋白质的元素组成</a:t>
            </a:r>
            <a:r>
              <a:rPr lang="en-US" altLang="zh-CN" sz="2400" dirty="0">
                <a:solidFill>
                  <a:schemeClr val="tx1"/>
                </a:solidFill>
              </a:rPr>
              <a:t>: C</a:t>
            </a:r>
            <a:r>
              <a:rPr lang="zh-CN" altLang="en-US" sz="2400" dirty="0">
                <a:solidFill>
                  <a:schemeClr val="tx1"/>
                </a:solidFill>
              </a:rPr>
              <a:t>、</a:t>
            </a:r>
            <a:r>
              <a:rPr lang="en-US" altLang="zh-CN" sz="2400" dirty="0">
                <a:solidFill>
                  <a:schemeClr val="tx1"/>
                </a:solidFill>
              </a:rPr>
              <a:t>H</a:t>
            </a:r>
            <a:r>
              <a:rPr lang="zh-CN" altLang="en-US" sz="2400" dirty="0">
                <a:solidFill>
                  <a:schemeClr val="tx1"/>
                </a:solidFill>
              </a:rPr>
              <a:t>、</a:t>
            </a:r>
            <a:r>
              <a:rPr lang="en-US" altLang="zh-CN" sz="2400" dirty="0">
                <a:solidFill>
                  <a:schemeClr val="tx1"/>
                </a:solidFill>
              </a:rPr>
              <a:t>O</a:t>
            </a:r>
            <a:r>
              <a:rPr lang="zh-CN" altLang="en-US" sz="2400" dirty="0">
                <a:solidFill>
                  <a:schemeClr val="tx1"/>
                </a:solidFill>
              </a:rPr>
              <a:t>、</a:t>
            </a:r>
            <a:r>
              <a:rPr lang="en-US" altLang="zh-CN" sz="2400" dirty="0">
                <a:solidFill>
                  <a:srgbClr val="FF0000"/>
                </a:solidFill>
              </a:rPr>
              <a:t>N</a:t>
            </a:r>
            <a:r>
              <a:rPr lang="zh-CN" altLang="en-US" sz="2400" dirty="0">
                <a:solidFill>
                  <a:srgbClr val="FF0000"/>
                </a:solidFill>
              </a:rPr>
              <a:t>（</a:t>
            </a:r>
            <a:r>
              <a:rPr lang="en-US" altLang="zh-CN" sz="2400" dirty="0">
                <a:solidFill>
                  <a:srgbClr val="FF0000"/>
                </a:solidFill>
              </a:rPr>
              <a:t>16%</a:t>
            </a:r>
            <a:r>
              <a:rPr lang="zh-CN" altLang="en-US" sz="2400" dirty="0">
                <a:solidFill>
                  <a:srgbClr val="FF0000"/>
                </a:solidFill>
              </a:rPr>
              <a:t>）</a:t>
            </a:r>
            <a:r>
              <a:rPr lang="zh-CN" altLang="en-US" sz="2400" dirty="0">
                <a:solidFill>
                  <a:schemeClr val="tx1"/>
                </a:solidFill>
              </a:rPr>
              <a:t>、</a:t>
            </a:r>
            <a:r>
              <a:rPr lang="en-US" altLang="zh-CN" sz="2400" dirty="0">
                <a:solidFill>
                  <a:schemeClr val="tx1"/>
                </a:solidFill>
              </a:rPr>
              <a:t>S              </a:t>
            </a:r>
          </a:p>
          <a:p>
            <a:pPr eaLnBrk="1" hangingPunct="1">
              <a:lnSpc>
                <a:spcPct val="130000"/>
              </a:lnSpc>
              <a:buClr>
                <a:srgbClr val="006600"/>
              </a:buClr>
              <a:buFont typeface="Wingdings" panose="05000000000000000000" pitchFamily="2" charset="2"/>
              <a:buNone/>
            </a:pPr>
            <a:r>
              <a:rPr lang="en-US" altLang="zh-CN" sz="2400" dirty="0">
                <a:solidFill>
                  <a:schemeClr val="tx1"/>
                </a:solidFill>
              </a:rPr>
              <a:t>                                      </a:t>
            </a:r>
            <a:r>
              <a:rPr lang="zh-CN" altLang="en-US" sz="2400" dirty="0">
                <a:solidFill>
                  <a:schemeClr val="tx1"/>
                </a:solidFill>
              </a:rPr>
              <a:t>凯氏定氮法测蛋白质含量</a:t>
            </a:r>
          </a:p>
          <a:p>
            <a:pPr eaLnBrk="1" hangingPunct="1">
              <a:lnSpc>
                <a:spcPct val="130000"/>
              </a:lnSpc>
              <a:buClr>
                <a:srgbClr val="006600"/>
              </a:buClr>
            </a:pPr>
            <a:r>
              <a:rPr lang="zh-CN" altLang="en-US" sz="2400" dirty="0">
                <a:solidFill>
                  <a:schemeClr val="tx1"/>
                </a:solidFill>
              </a:rPr>
              <a:t>组成蛋白质的基本单位是</a:t>
            </a:r>
            <a:r>
              <a:rPr lang="en-US" altLang="zh-CN" sz="2400" dirty="0">
                <a:solidFill>
                  <a:srgbClr val="FF0000"/>
                </a:solidFill>
              </a:rPr>
              <a:t>20</a:t>
            </a:r>
            <a:r>
              <a:rPr lang="zh-CN" altLang="en-US" sz="2400" dirty="0">
                <a:solidFill>
                  <a:srgbClr val="FF0000"/>
                </a:solidFill>
              </a:rPr>
              <a:t>种</a:t>
            </a:r>
            <a:r>
              <a:rPr lang="en-US" altLang="zh-CN" sz="2400" dirty="0">
                <a:solidFill>
                  <a:srgbClr val="FF0000"/>
                </a:solidFill>
              </a:rPr>
              <a:t>L-</a:t>
            </a:r>
            <a:r>
              <a:rPr lang="en-US" altLang="zh-CN" sz="2400" dirty="0">
                <a:solidFill>
                  <a:srgbClr val="FF0000"/>
                </a:solidFill>
                <a:latin typeface="Symbol" panose="05050102010706020507" pitchFamily="18" charset="2"/>
              </a:rPr>
              <a:t>a</a:t>
            </a:r>
            <a:r>
              <a:rPr lang="zh-CN" altLang="en-US" sz="2400" dirty="0">
                <a:solidFill>
                  <a:srgbClr val="FF0000"/>
                </a:solidFill>
              </a:rPr>
              <a:t>氨基酸</a:t>
            </a:r>
            <a:r>
              <a:rPr lang="zh-CN" altLang="en-US" sz="2400" dirty="0">
                <a:solidFill>
                  <a:schemeClr val="tx1"/>
                </a:solidFill>
              </a:rPr>
              <a:t>（甘氨酸除外）</a:t>
            </a:r>
          </a:p>
          <a:p>
            <a:pPr eaLnBrk="1" hangingPunct="1">
              <a:lnSpc>
                <a:spcPct val="130000"/>
              </a:lnSpc>
              <a:buClr>
                <a:srgbClr val="006600"/>
              </a:buClr>
            </a:pPr>
            <a:r>
              <a:rPr lang="zh-CN" altLang="en-US" sz="2400" b="1" dirty="0">
                <a:solidFill>
                  <a:srgbClr val="FF0000"/>
                </a:solidFill>
              </a:rPr>
              <a:t>氨基酸的分类（</a:t>
            </a:r>
            <a:r>
              <a:rPr lang="en-US" altLang="zh-CN" sz="2400" b="1" dirty="0">
                <a:solidFill>
                  <a:srgbClr val="FF0000"/>
                </a:solidFill>
              </a:rPr>
              <a:t>5</a:t>
            </a:r>
            <a:r>
              <a:rPr lang="zh-CN" altLang="en-US" sz="2400" b="1" dirty="0">
                <a:solidFill>
                  <a:srgbClr val="FF0000"/>
                </a:solidFill>
              </a:rPr>
              <a:t>类）</a:t>
            </a:r>
            <a:r>
              <a:rPr lang="en-US" altLang="zh-CN" sz="2400" dirty="0">
                <a:solidFill>
                  <a:schemeClr val="tx1"/>
                </a:solidFill>
              </a:rPr>
              <a:t>: </a:t>
            </a:r>
            <a:r>
              <a:rPr lang="zh-CN" altLang="en-US" sz="2400" dirty="0">
                <a:solidFill>
                  <a:schemeClr val="tx1"/>
                </a:solidFill>
              </a:rPr>
              <a:t>结构、</a:t>
            </a:r>
            <a:r>
              <a:rPr lang="zh-CN" altLang="en-US" sz="2400" dirty="0">
                <a:solidFill>
                  <a:schemeClr val="tx1">
                    <a:lumMod val="75000"/>
                  </a:schemeClr>
                </a:solidFill>
              </a:rPr>
              <a:t>三字符号</a:t>
            </a:r>
            <a:endParaRPr lang="en-US" altLang="zh-CN" sz="2400" dirty="0">
              <a:solidFill>
                <a:schemeClr val="tx1">
                  <a:lumMod val="75000"/>
                </a:schemeClr>
              </a:solidFill>
            </a:endParaRPr>
          </a:p>
          <a:p>
            <a:pPr eaLnBrk="1" hangingPunct="1">
              <a:lnSpc>
                <a:spcPct val="130000"/>
              </a:lnSpc>
              <a:buClr>
                <a:srgbClr val="006600"/>
              </a:buClr>
            </a:pPr>
            <a:r>
              <a:rPr lang="zh-CN" altLang="en-US" sz="2400" dirty="0">
                <a:solidFill>
                  <a:schemeClr val="tx1"/>
                </a:solidFill>
              </a:rPr>
              <a:t>氨基酸的性质：</a:t>
            </a:r>
          </a:p>
          <a:p>
            <a:pPr eaLnBrk="1" hangingPunct="1">
              <a:lnSpc>
                <a:spcPct val="130000"/>
              </a:lnSpc>
              <a:buFont typeface="Wingdings" panose="05000000000000000000" pitchFamily="2" charset="2"/>
              <a:buNone/>
            </a:pPr>
            <a:r>
              <a:rPr lang="zh-CN" altLang="en-US" sz="2400" dirty="0">
                <a:solidFill>
                  <a:schemeClr val="tx1"/>
                </a:solidFill>
              </a:rPr>
              <a:t>         </a:t>
            </a:r>
            <a:r>
              <a:rPr lang="zh-CN" altLang="en-US" sz="2400" dirty="0">
                <a:solidFill>
                  <a:srgbClr val="FF0000"/>
                </a:solidFill>
              </a:rPr>
              <a:t>两性解离</a:t>
            </a:r>
            <a:r>
              <a:rPr lang="zh-CN" altLang="en-US" sz="2400" dirty="0">
                <a:solidFill>
                  <a:schemeClr val="tx1"/>
                </a:solidFill>
              </a:rPr>
              <a:t>与</a:t>
            </a:r>
            <a:r>
              <a:rPr lang="zh-CN" altLang="en-US" sz="2400" dirty="0">
                <a:solidFill>
                  <a:srgbClr val="FF0000"/>
                </a:solidFill>
              </a:rPr>
              <a:t>等电点</a:t>
            </a:r>
            <a:r>
              <a:rPr lang="zh-CN" altLang="en-US" sz="2400" dirty="0">
                <a:solidFill>
                  <a:srgbClr val="0000CC"/>
                </a:solidFill>
              </a:rPr>
              <a:t>、</a:t>
            </a:r>
            <a:r>
              <a:rPr lang="zh-CN" altLang="en-US" sz="2400" dirty="0">
                <a:solidFill>
                  <a:srgbClr val="FF0000"/>
                </a:solidFill>
              </a:rPr>
              <a:t>紫外吸收（</a:t>
            </a:r>
            <a:r>
              <a:rPr lang="en-US" altLang="zh-CN" sz="2400" dirty="0">
                <a:solidFill>
                  <a:srgbClr val="FF0000"/>
                </a:solidFill>
              </a:rPr>
              <a:t>280nm</a:t>
            </a:r>
            <a:r>
              <a:rPr lang="zh-CN" altLang="en-US" sz="2400" dirty="0">
                <a:solidFill>
                  <a:srgbClr val="FF0000"/>
                </a:solidFill>
              </a:rPr>
              <a:t>）</a:t>
            </a:r>
            <a:r>
              <a:rPr lang="zh-CN" altLang="en-US" sz="2400" dirty="0">
                <a:solidFill>
                  <a:schemeClr val="tx1"/>
                </a:solidFill>
              </a:rPr>
              <a:t>、</a:t>
            </a:r>
            <a:r>
              <a:rPr lang="zh-CN" altLang="en-US" sz="2400" dirty="0">
                <a:solidFill>
                  <a:srgbClr val="FF0000"/>
                </a:solidFill>
              </a:rPr>
              <a:t>茚三酮反应</a:t>
            </a:r>
          </a:p>
          <a:p>
            <a:pPr eaLnBrk="1" hangingPunct="1">
              <a:lnSpc>
                <a:spcPct val="130000"/>
              </a:lnSpc>
              <a:buClr>
                <a:srgbClr val="006600"/>
              </a:buClr>
            </a:pPr>
            <a:r>
              <a:rPr lang="zh-CN" altLang="en-US" sz="2400" dirty="0">
                <a:solidFill>
                  <a:schemeClr val="tx1"/>
                </a:solidFill>
              </a:rPr>
              <a:t>理解：肽及相关的概念 （</a:t>
            </a:r>
            <a:r>
              <a:rPr lang="zh-CN" altLang="en-US" sz="2400" dirty="0">
                <a:solidFill>
                  <a:srgbClr val="002060"/>
                </a:solidFill>
              </a:rPr>
              <a:t>氨基酸残基、肽键等）</a:t>
            </a:r>
          </a:p>
          <a:p>
            <a:pPr eaLnBrk="1" hangingPunct="1">
              <a:lnSpc>
                <a:spcPct val="130000"/>
              </a:lnSpc>
              <a:buClr>
                <a:srgbClr val="006600"/>
              </a:buClr>
            </a:pPr>
            <a:r>
              <a:rPr lang="zh-CN" altLang="en-US" sz="2400" dirty="0">
                <a:solidFill>
                  <a:schemeClr val="tx1"/>
                </a:solidFill>
              </a:rPr>
              <a:t>生物活性肽： </a:t>
            </a:r>
            <a:r>
              <a:rPr lang="en-US" altLang="zh-CN" sz="2400" dirty="0">
                <a:solidFill>
                  <a:srgbClr val="FF0000"/>
                </a:solidFill>
              </a:rPr>
              <a:t>GSH</a:t>
            </a:r>
          </a:p>
        </p:txBody>
      </p:sp>
    </p:spTree>
  </p:cSld>
  <p:clrMapOvr>
    <a:masterClrMapping/>
  </p:clrMapOvr>
  <p:transition spd="slow">
    <p:circl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5650" name="图片 1">
            <a:extLst>
              <a:ext uri="{FF2B5EF4-FFF2-40B4-BE49-F238E27FC236}">
                <a16:creationId xmlns:a16="http://schemas.microsoft.com/office/drawing/2014/main" id="{EF254D87-5160-4B1F-83BC-37FC9E6F0B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4113" y="247650"/>
            <a:ext cx="7416800" cy="630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CFA925A-5BE0-4C0F-8357-26CAE70CBE8C}"/>
              </a:ext>
            </a:extLst>
          </p:cNvPr>
          <p:cNvSpPr>
            <a:spLocks noGrp="1"/>
          </p:cNvSpPr>
          <p:nvPr>
            <p:ph idx="4294967295"/>
          </p:nvPr>
        </p:nvSpPr>
        <p:spPr>
          <a:xfrm>
            <a:off x="1919288" y="1052514"/>
            <a:ext cx="8229600" cy="5189537"/>
          </a:xfrm>
        </p:spPr>
        <p:txBody>
          <a:bodyPr/>
          <a:lstStyle/>
          <a:p>
            <a:pPr marL="0" indent="0" algn="ctr">
              <a:buNone/>
              <a:defRPr/>
            </a:pPr>
            <a:r>
              <a:rPr kumimoji="1" lang="zh-CN" altLang="en-US" sz="4000" dirty="0">
                <a:solidFill>
                  <a:srgbClr val="C00000"/>
                </a:solidFill>
                <a:latin typeface="黑体" panose="02010609060101010101" pitchFamily="49" charset="-122"/>
              </a:rPr>
              <a:t>第二节 蛋白质的分子结构</a:t>
            </a:r>
            <a:endParaRPr kumimoji="1" lang="en-US" altLang="en-US" sz="4000" dirty="0">
              <a:solidFill>
                <a:srgbClr val="C00000"/>
              </a:solidFill>
              <a:latin typeface="黑体" panose="02010609060101010101" pitchFamily="49" charset="-122"/>
            </a:endParaRPr>
          </a:p>
          <a:p>
            <a:pPr marL="0" indent="0" algn="ctr">
              <a:buNone/>
              <a:defRPr/>
            </a:pPr>
            <a:r>
              <a:rPr lang="en-US" altLang="zh-CN" sz="3600" dirty="0">
                <a:solidFill>
                  <a:srgbClr val="C00000"/>
                </a:solidFill>
                <a:latin typeface="Arial" panose="020B0604020202020204" pitchFamily="34" charset="0"/>
                <a:ea typeface="华文行楷" panose="02010800040101010101" pitchFamily="2" charset="-122"/>
              </a:rPr>
              <a:t>Molecular Structure of Protein</a:t>
            </a:r>
          </a:p>
          <a:p>
            <a:pPr marL="1071563" indent="188913">
              <a:defRPr/>
            </a:pPr>
            <a:endParaRPr lang="en-US" altLang="zh-CN" dirty="0"/>
          </a:p>
          <a:p>
            <a:pPr marL="2160588" indent="-4763">
              <a:defRPr/>
            </a:pPr>
            <a:r>
              <a:rPr lang="zh-CN" altLang="en-US" sz="3200" dirty="0"/>
              <a:t>蛋白质的一级结构</a:t>
            </a:r>
            <a:endParaRPr lang="en-US" altLang="zh-CN" sz="3200" dirty="0"/>
          </a:p>
          <a:p>
            <a:pPr marL="2160588" indent="-4763">
              <a:defRPr/>
            </a:pPr>
            <a:r>
              <a:rPr lang="zh-CN" altLang="en-US" sz="3200" dirty="0"/>
              <a:t>蛋白质的二级结构</a:t>
            </a:r>
            <a:endParaRPr lang="en-US" altLang="zh-CN" sz="3200" dirty="0"/>
          </a:p>
          <a:p>
            <a:pPr marL="2160588" indent="-4763">
              <a:defRPr/>
            </a:pPr>
            <a:r>
              <a:rPr lang="zh-CN" altLang="en-US" sz="3200" dirty="0"/>
              <a:t>蛋白质的三级结构</a:t>
            </a:r>
            <a:endParaRPr lang="en-US" altLang="zh-CN" sz="3200" dirty="0"/>
          </a:p>
          <a:p>
            <a:pPr marL="2160588" indent="-4763">
              <a:defRPr/>
            </a:pPr>
            <a:r>
              <a:rPr lang="zh-CN" altLang="en-US" sz="3200" dirty="0"/>
              <a:t>蛋白质的四级结构</a:t>
            </a:r>
            <a:endParaRPr lang="en-US" altLang="zh-CN" sz="3200" dirty="0"/>
          </a:p>
          <a:p>
            <a:pPr marL="2160588" indent="-4763">
              <a:defRPr/>
            </a:pPr>
            <a:r>
              <a:rPr lang="zh-CN" altLang="en-US" sz="3200" dirty="0"/>
              <a:t>蛋白质的分类</a:t>
            </a:r>
            <a:endParaRPr lang="en-US" altLang="zh-CN" sz="3200" dirty="0"/>
          </a:p>
        </p:txBody>
      </p:sp>
      <p:sp>
        <p:nvSpPr>
          <p:cNvPr id="157699" name="Rectangle 3">
            <a:extLst>
              <a:ext uri="{FF2B5EF4-FFF2-40B4-BE49-F238E27FC236}">
                <a16:creationId xmlns:a16="http://schemas.microsoft.com/office/drawing/2014/main" id="{3D9F4357-721F-4C87-87FE-89CF493FBF3B}"/>
              </a:ext>
            </a:extLst>
          </p:cNvPr>
          <p:cNvSpPr>
            <a:spLocks noChangeArrowheads="1"/>
          </p:cNvSpPr>
          <p:nvPr/>
        </p:nvSpPr>
        <p:spPr bwMode="auto">
          <a:xfrm>
            <a:off x="2351088" y="2060575"/>
            <a:ext cx="5903912"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0000"/>
              </a:lnSpc>
              <a:spcBef>
                <a:spcPct val="0"/>
              </a:spcBef>
              <a:buClrTx/>
              <a:buFontTx/>
              <a:buNone/>
            </a:pPr>
            <a:r>
              <a:rPr kumimoji="1" lang="en-US" altLang="zh-CN" sz="4800">
                <a:solidFill>
                  <a:srgbClr val="FFFF00"/>
                </a:solidFill>
                <a:latin typeface="Tahoma" panose="020B0604030504040204" pitchFamily="34" charset="0"/>
              </a:rPr>
              <a:t> </a:t>
            </a:r>
            <a:endParaRPr kumimoji="1" lang="en-US" altLang="en-US" sz="2000">
              <a:solidFill>
                <a:srgbClr val="FFFF00"/>
              </a:solidFill>
              <a:latin typeface="黑体" panose="02010609060101010101" pitchFamily="49" charset="-122"/>
            </a:endParaRPr>
          </a:p>
        </p:txBody>
      </p:sp>
    </p:spTree>
  </p:cSld>
  <p:clrMapOvr>
    <a:masterClrMapping/>
  </p:clrMapOvr>
  <p:transition spd="slow">
    <p:circl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Text Box 2">
            <a:extLst>
              <a:ext uri="{FF2B5EF4-FFF2-40B4-BE49-F238E27FC236}">
                <a16:creationId xmlns:a16="http://schemas.microsoft.com/office/drawing/2014/main" id="{92F81ABB-8A69-4F7A-BEB4-9F14E40665A9}"/>
              </a:ext>
            </a:extLst>
          </p:cNvPr>
          <p:cNvSpPr txBox="1">
            <a:spLocks noChangeArrowheads="1"/>
          </p:cNvSpPr>
          <p:nvPr/>
        </p:nvSpPr>
        <p:spPr bwMode="auto">
          <a:xfrm>
            <a:off x="2351089" y="4259264"/>
            <a:ext cx="8137525" cy="216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0000"/>
              </a:lnSpc>
              <a:spcBef>
                <a:spcPct val="0"/>
              </a:spcBef>
              <a:buClrTx/>
              <a:buFontTx/>
              <a:buNone/>
            </a:pPr>
            <a:r>
              <a:rPr kumimoji="1" lang="zh-CN" altLang="en-US" b="0">
                <a:solidFill>
                  <a:srgbClr val="0000CC"/>
                </a:solidFill>
              </a:rPr>
              <a:t>一级结构</a:t>
            </a:r>
            <a:r>
              <a:rPr kumimoji="1" lang="en-US" altLang="zh-CN" b="0">
                <a:solidFill>
                  <a:srgbClr val="0000CC"/>
                </a:solidFill>
              </a:rPr>
              <a:t>(primary structure)</a:t>
            </a:r>
          </a:p>
          <a:p>
            <a:pPr eaLnBrk="1" hangingPunct="1">
              <a:lnSpc>
                <a:spcPct val="120000"/>
              </a:lnSpc>
              <a:spcBef>
                <a:spcPct val="0"/>
              </a:spcBef>
              <a:buClrTx/>
              <a:buFontTx/>
              <a:buNone/>
            </a:pPr>
            <a:r>
              <a:rPr kumimoji="1" lang="zh-CN" altLang="en-US" b="0">
                <a:solidFill>
                  <a:schemeClr val="tx1"/>
                </a:solidFill>
              </a:rPr>
              <a:t>二级结构</a:t>
            </a:r>
            <a:r>
              <a:rPr kumimoji="1" lang="en-US" altLang="zh-CN" b="0">
                <a:solidFill>
                  <a:schemeClr val="tx1"/>
                </a:solidFill>
              </a:rPr>
              <a:t>(secondary structure)</a:t>
            </a:r>
          </a:p>
          <a:p>
            <a:pPr eaLnBrk="1" hangingPunct="1">
              <a:lnSpc>
                <a:spcPct val="120000"/>
              </a:lnSpc>
              <a:spcBef>
                <a:spcPct val="0"/>
              </a:spcBef>
              <a:buClrTx/>
              <a:buFontTx/>
              <a:buNone/>
            </a:pPr>
            <a:r>
              <a:rPr kumimoji="1" lang="zh-CN" altLang="en-US" b="0">
                <a:solidFill>
                  <a:schemeClr val="tx1"/>
                </a:solidFill>
              </a:rPr>
              <a:t>三级结构</a:t>
            </a:r>
            <a:r>
              <a:rPr kumimoji="1" lang="en-US" altLang="zh-CN" b="0">
                <a:solidFill>
                  <a:schemeClr val="tx1"/>
                </a:solidFill>
              </a:rPr>
              <a:t>(tertiary structure)</a:t>
            </a:r>
          </a:p>
          <a:p>
            <a:pPr eaLnBrk="1" hangingPunct="1">
              <a:lnSpc>
                <a:spcPct val="120000"/>
              </a:lnSpc>
              <a:spcBef>
                <a:spcPct val="0"/>
              </a:spcBef>
              <a:buClrTx/>
              <a:buFontTx/>
              <a:buNone/>
            </a:pPr>
            <a:r>
              <a:rPr kumimoji="1" lang="zh-CN" altLang="en-US" b="0">
                <a:solidFill>
                  <a:schemeClr val="tx1"/>
                </a:solidFill>
              </a:rPr>
              <a:t>四级结构</a:t>
            </a:r>
            <a:r>
              <a:rPr kumimoji="1" lang="en-US" altLang="zh-CN" b="0">
                <a:solidFill>
                  <a:schemeClr val="tx1"/>
                </a:solidFill>
              </a:rPr>
              <a:t>(quaternary  structure)</a:t>
            </a:r>
          </a:p>
        </p:txBody>
      </p:sp>
      <p:grpSp>
        <p:nvGrpSpPr>
          <p:cNvPr id="2" name="Group 3">
            <a:extLst>
              <a:ext uri="{FF2B5EF4-FFF2-40B4-BE49-F238E27FC236}">
                <a16:creationId xmlns:a16="http://schemas.microsoft.com/office/drawing/2014/main" id="{7F347942-0354-450D-A596-E6D32AE99D01}"/>
              </a:ext>
            </a:extLst>
          </p:cNvPr>
          <p:cNvGrpSpPr>
            <a:grpSpLocks/>
          </p:cNvGrpSpPr>
          <p:nvPr/>
        </p:nvGrpSpPr>
        <p:grpSpPr bwMode="auto">
          <a:xfrm>
            <a:off x="7319964" y="4983164"/>
            <a:ext cx="2859087" cy="1800225"/>
            <a:chOff x="3923" y="1933"/>
            <a:chExt cx="1801" cy="1075"/>
          </a:xfrm>
        </p:grpSpPr>
        <p:sp>
          <p:nvSpPr>
            <p:cNvPr id="159750" name="AutoShape 4">
              <a:extLst>
                <a:ext uri="{FF2B5EF4-FFF2-40B4-BE49-F238E27FC236}">
                  <a16:creationId xmlns:a16="http://schemas.microsoft.com/office/drawing/2014/main" id="{100A5D29-042B-4FB2-84BD-44F4AA5CA6D4}"/>
                </a:ext>
              </a:extLst>
            </p:cNvPr>
            <p:cNvSpPr>
              <a:spLocks/>
            </p:cNvSpPr>
            <p:nvPr/>
          </p:nvSpPr>
          <p:spPr bwMode="auto">
            <a:xfrm>
              <a:off x="3923" y="1933"/>
              <a:ext cx="318" cy="819"/>
            </a:xfrm>
            <a:prstGeom prst="rightBrace">
              <a:avLst>
                <a:gd name="adj1" fmla="val 53238"/>
                <a:gd name="adj2" fmla="val 50000"/>
              </a:avLst>
            </a:prstGeom>
            <a:noFill/>
            <a:ln w="5715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ct val="0"/>
                </a:spcBef>
                <a:buClrTx/>
                <a:buFontTx/>
                <a:buNone/>
              </a:pPr>
              <a:endParaRPr lang="zh-CN" altLang="zh-CN" sz="2400" b="0">
                <a:solidFill>
                  <a:schemeClr val="tx1"/>
                </a:solidFill>
              </a:endParaRPr>
            </a:p>
          </p:txBody>
        </p:sp>
        <p:sp>
          <p:nvSpPr>
            <p:cNvPr id="159751" name="Rectangle 5">
              <a:extLst>
                <a:ext uri="{FF2B5EF4-FFF2-40B4-BE49-F238E27FC236}">
                  <a16:creationId xmlns:a16="http://schemas.microsoft.com/office/drawing/2014/main" id="{EF942711-3514-4749-B789-A9ED71F1A22E}"/>
                </a:ext>
              </a:extLst>
            </p:cNvPr>
            <p:cNvSpPr>
              <a:spLocks noChangeArrowheads="1"/>
            </p:cNvSpPr>
            <p:nvPr/>
          </p:nvSpPr>
          <p:spPr bwMode="auto">
            <a:xfrm>
              <a:off x="4300" y="1981"/>
              <a:ext cx="1424" cy="1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0000"/>
                </a:lnSpc>
                <a:spcBef>
                  <a:spcPct val="0"/>
                </a:spcBef>
                <a:buClrTx/>
                <a:buFontTx/>
                <a:buNone/>
              </a:pPr>
              <a:r>
                <a:rPr kumimoji="1" lang="zh-CN" altLang="en-US" sz="3200" b="0">
                  <a:solidFill>
                    <a:srgbClr val="FF0000"/>
                  </a:solidFill>
                </a:rPr>
                <a:t>高级结构</a:t>
              </a:r>
            </a:p>
            <a:p>
              <a:pPr eaLnBrk="1" hangingPunct="1">
                <a:lnSpc>
                  <a:spcPct val="120000"/>
                </a:lnSpc>
                <a:spcBef>
                  <a:spcPct val="0"/>
                </a:spcBef>
                <a:buClrTx/>
                <a:buFontTx/>
                <a:buNone/>
              </a:pPr>
              <a:r>
                <a:rPr kumimoji="1" lang="zh-CN" altLang="en-US" sz="3200" b="0">
                  <a:solidFill>
                    <a:srgbClr val="FF0000"/>
                  </a:solidFill>
                </a:rPr>
                <a:t>空间构象</a:t>
              </a:r>
              <a:endParaRPr kumimoji="1" lang="en-US" altLang="zh-CN" sz="3200" b="0">
                <a:solidFill>
                  <a:srgbClr val="FF0000"/>
                </a:solidFill>
              </a:endParaRPr>
            </a:p>
            <a:p>
              <a:pPr eaLnBrk="1" hangingPunct="1">
                <a:lnSpc>
                  <a:spcPct val="120000"/>
                </a:lnSpc>
                <a:spcBef>
                  <a:spcPct val="0"/>
                </a:spcBef>
                <a:buClrTx/>
                <a:buFontTx/>
                <a:buNone/>
              </a:pPr>
              <a:r>
                <a:rPr kumimoji="1" lang="zh-CN" altLang="en-US" sz="2400" b="0">
                  <a:solidFill>
                    <a:srgbClr val="FF0000"/>
                  </a:solidFill>
                </a:rPr>
                <a:t>（</a:t>
              </a:r>
              <a:r>
                <a:rPr kumimoji="1" lang="en-US" altLang="zh-CN" sz="2400" b="0">
                  <a:solidFill>
                    <a:srgbClr val="FF0000"/>
                  </a:solidFill>
                </a:rPr>
                <a:t>conformation)</a:t>
              </a:r>
              <a:endParaRPr kumimoji="1" lang="zh-CN" altLang="en-US" sz="2400" b="0">
                <a:solidFill>
                  <a:srgbClr val="FF0000"/>
                </a:solidFill>
              </a:endParaRPr>
            </a:p>
          </p:txBody>
        </p:sp>
      </p:grpSp>
      <p:sp>
        <p:nvSpPr>
          <p:cNvPr id="3" name="标题 2">
            <a:extLst>
              <a:ext uri="{FF2B5EF4-FFF2-40B4-BE49-F238E27FC236}">
                <a16:creationId xmlns:a16="http://schemas.microsoft.com/office/drawing/2014/main" id="{3D8257A8-F208-44A4-9565-7D17F83ACDB6}"/>
              </a:ext>
            </a:extLst>
          </p:cNvPr>
          <p:cNvSpPr>
            <a:spLocks noGrp="1"/>
          </p:cNvSpPr>
          <p:nvPr>
            <p:ph type="title" idx="4294967295"/>
          </p:nvPr>
        </p:nvSpPr>
        <p:spPr>
          <a:xfrm>
            <a:off x="1524000" y="211138"/>
            <a:ext cx="6840538" cy="563562"/>
          </a:xfrm>
        </p:spPr>
        <p:txBody>
          <a:bodyPr/>
          <a:lstStyle/>
          <a:p>
            <a:pPr algn="ctr">
              <a:defRPr/>
            </a:pPr>
            <a:r>
              <a:rPr kumimoji="1" lang="zh-CN" altLang="en-US" sz="4000" dirty="0">
                <a:solidFill>
                  <a:schemeClr val="accent3"/>
                </a:solidFill>
              </a:rPr>
              <a:t>蛋白质的分子结构</a:t>
            </a:r>
            <a:endParaRPr lang="zh-CN" altLang="en-US" sz="4000" dirty="0">
              <a:solidFill>
                <a:schemeClr val="accent3"/>
              </a:solidFill>
            </a:endParaRPr>
          </a:p>
        </p:txBody>
      </p:sp>
      <p:pic>
        <p:nvPicPr>
          <p:cNvPr id="159749" name="图片 4">
            <a:extLst>
              <a:ext uri="{FF2B5EF4-FFF2-40B4-BE49-F238E27FC236}">
                <a16:creationId xmlns:a16="http://schemas.microsoft.com/office/drawing/2014/main" id="{0D072A03-845A-4E1F-8862-6050FBF2D8C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92325" y="115889"/>
            <a:ext cx="7848600" cy="404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1794" name="Rectangle 2">
            <a:extLst>
              <a:ext uri="{FF2B5EF4-FFF2-40B4-BE49-F238E27FC236}">
                <a16:creationId xmlns:a16="http://schemas.microsoft.com/office/drawing/2014/main" id="{AC5BEC74-C47B-4C1E-AE44-485BC0D8C993}"/>
              </a:ext>
            </a:extLst>
          </p:cNvPr>
          <p:cNvSpPr>
            <a:spLocks noGrp="1" noChangeArrowheads="1"/>
          </p:cNvSpPr>
          <p:nvPr>
            <p:ph idx="1"/>
          </p:nvPr>
        </p:nvSpPr>
        <p:spPr>
          <a:xfrm>
            <a:off x="1981200" y="1270001"/>
            <a:ext cx="8229600" cy="4462463"/>
          </a:xfrm>
        </p:spPr>
        <p:txBody>
          <a:bodyPr/>
          <a:lstStyle/>
          <a:p>
            <a:pPr marL="0" eaLnBrk="1" hangingPunct="1">
              <a:lnSpc>
                <a:spcPct val="130000"/>
              </a:lnSpc>
              <a:spcBef>
                <a:spcPct val="0"/>
              </a:spcBef>
            </a:pPr>
            <a:r>
              <a:rPr lang="zh-CN" altLang="en-US">
                <a:solidFill>
                  <a:srgbClr val="FF0000"/>
                </a:solidFill>
              </a:rPr>
              <a:t>构象（</a:t>
            </a:r>
            <a:r>
              <a:rPr lang="en-US" altLang="zh-CN">
                <a:solidFill>
                  <a:srgbClr val="FF0000"/>
                </a:solidFill>
              </a:rPr>
              <a:t>conformation):</a:t>
            </a:r>
            <a:r>
              <a:rPr lang="en-US" altLang="zh-CN"/>
              <a:t>  </a:t>
            </a:r>
            <a:r>
              <a:rPr lang="zh-CN" altLang="en-US">
                <a:solidFill>
                  <a:schemeClr val="tx1"/>
                </a:solidFill>
              </a:rPr>
              <a:t>即空间构象、立体结构、三维结构。</a:t>
            </a:r>
            <a:r>
              <a:rPr lang="zh-CN" altLang="en-US">
                <a:solidFill>
                  <a:srgbClr val="FF0000"/>
                </a:solidFill>
              </a:rPr>
              <a:t>构象的改变不涉及共价键的改变</a:t>
            </a:r>
            <a:r>
              <a:rPr lang="zh-CN" altLang="en-US">
                <a:solidFill>
                  <a:schemeClr val="tx1"/>
                </a:solidFill>
              </a:rPr>
              <a:t>（只有非共价键的变化），也没有光学活性的改变。</a:t>
            </a:r>
          </a:p>
          <a:p>
            <a:pPr marL="0" eaLnBrk="1" hangingPunct="1">
              <a:lnSpc>
                <a:spcPct val="130000"/>
              </a:lnSpc>
              <a:spcBef>
                <a:spcPct val="0"/>
              </a:spcBef>
            </a:pPr>
            <a:endParaRPr lang="zh-CN" altLang="en-US">
              <a:solidFill>
                <a:schemeClr val="tx1"/>
              </a:solidFill>
            </a:endParaRPr>
          </a:p>
          <a:p>
            <a:pPr marL="0" eaLnBrk="1" hangingPunct="1">
              <a:lnSpc>
                <a:spcPct val="130000"/>
              </a:lnSpc>
              <a:spcBef>
                <a:spcPct val="0"/>
              </a:spcBef>
            </a:pPr>
            <a:r>
              <a:rPr lang="zh-CN" altLang="en-US">
                <a:solidFill>
                  <a:srgbClr val="FF0000"/>
                </a:solidFill>
              </a:rPr>
              <a:t>构型（</a:t>
            </a:r>
            <a:r>
              <a:rPr lang="en-US" altLang="zh-CN">
                <a:solidFill>
                  <a:srgbClr val="FF0000"/>
                </a:solidFill>
              </a:rPr>
              <a:t>configuration)</a:t>
            </a:r>
            <a:r>
              <a:rPr lang="zh-CN" altLang="en-US">
                <a:solidFill>
                  <a:srgbClr val="FF0000"/>
                </a:solidFill>
              </a:rPr>
              <a:t>：</a:t>
            </a:r>
            <a:r>
              <a:rPr lang="zh-CN" altLang="en-US"/>
              <a:t> </a:t>
            </a:r>
            <a:r>
              <a:rPr lang="zh-CN" altLang="en-US">
                <a:solidFill>
                  <a:schemeClr val="tx1"/>
                </a:solidFill>
              </a:rPr>
              <a:t>有手性碳或双键的物质有不同构型。</a:t>
            </a:r>
            <a:r>
              <a:rPr lang="zh-CN" altLang="en-US">
                <a:solidFill>
                  <a:srgbClr val="FF0000"/>
                </a:solidFill>
              </a:rPr>
              <a:t> 构型改变必然会有共价键的断裂</a:t>
            </a:r>
            <a:r>
              <a:rPr lang="zh-CN" altLang="en-US"/>
              <a:t>和重新组成，从而导致光学活性的变化。</a:t>
            </a:r>
          </a:p>
          <a:p>
            <a:pPr marL="0" eaLnBrk="1" hangingPunct="1">
              <a:lnSpc>
                <a:spcPct val="130000"/>
              </a:lnSpc>
              <a:spcBef>
                <a:spcPct val="0"/>
              </a:spcBef>
            </a:pPr>
            <a:endParaRPr lang="zh-CN" altLang="en-US">
              <a:solidFill>
                <a:schemeClr val="tx1"/>
              </a:solidFill>
            </a:endParaRPr>
          </a:p>
        </p:txBody>
      </p:sp>
      <p:sp>
        <p:nvSpPr>
          <p:cNvPr id="5" name="Rectangle 4">
            <a:extLst>
              <a:ext uri="{FF2B5EF4-FFF2-40B4-BE49-F238E27FC236}">
                <a16:creationId xmlns:a16="http://schemas.microsoft.com/office/drawing/2014/main" id="{D1CF358E-3589-4E84-99CF-1659191CC51B}"/>
              </a:ext>
            </a:extLst>
          </p:cNvPr>
          <p:cNvSpPr>
            <a:spLocks noGrp="1" noChangeArrowheads="1"/>
          </p:cNvSpPr>
          <p:nvPr>
            <p:ph type="title"/>
          </p:nvPr>
        </p:nvSpPr>
        <p:spPr bwMode="auto">
          <a:xfrm>
            <a:off x="2135188" y="184150"/>
            <a:ext cx="5257800" cy="692150"/>
          </a:xfrm>
          <a:noFill/>
          <a:extLst>
            <a:ext uri="{91240B29-F687-4F45-9708-019B960494DF}">
              <a14:hiddenLine xmlns:a14="http://schemas.microsoft.com/office/drawing/2010/main" w="38100">
                <a:solidFill>
                  <a:srgbClr val="000000"/>
                </a:solidFill>
                <a:miter lim="800000"/>
                <a:headEnd/>
                <a:tailEnd/>
              </a14:hiddenLine>
            </a:ext>
          </a:extLst>
        </p:spPr>
        <p:txBody>
          <a:bodyPr>
            <a:spAutoFit/>
          </a:bodyPr>
          <a:lstStyle/>
          <a:p>
            <a:pPr eaLnBrk="1" hangingPunct="1">
              <a:lnSpc>
                <a:spcPct val="120000"/>
              </a:lnSpc>
            </a:pPr>
            <a:r>
              <a:rPr lang="zh-CN" altLang="en-US" b="0">
                <a:latin typeface="Times New Roman" panose="02020603050405020304" pitchFamily="18" charset="0"/>
              </a:rPr>
              <a:t>构象与构型有何差别？</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5">
            <a:extLst>
              <a:ext uri="{FF2B5EF4-FFF2-40B4-BE49-F238E27FC236}">
                <a16:creationId xmlns:a16="http://schemas.microsoft.com/office/drawing/2014/main" id="{F8130B58-8D4C-4F6D-945D-ED977E76A166}"/>
              </a:ext>
            </a:extLst>
          </p:cNvPr>
          <p:cNvGrpSpPr>
            <a:grpSpLocks/>
          </p:cNvGrpSpPr>
          <p:nvPr/>
        </p:nvGrpSpPr>
        <p:grpSpPr bwMode="auto">
          <a:xfrm>
            <a:off x="3863853" y="1412877"/>
            <a:ext cx="1800225" cy="1519237"/>
            <a:chOff x="2245" y="682"/>
            <a:chExt cx="1134" cy="957"/>
          </a:xfrm>
        </p:grpSpPr>
        <p:sp>
          <p:nvSpPr>
            <p:cNvPr id="163854" name="AutoShape 7">
              <a:extLst>
                <a:ext uri="{FF2B5EF4-FFF2-40B4-BE49-F238E27FC236}">
                  <a16:creationId xmlns:a16="http://schemas.microsoft.com/office/drawing/2014/main" id="{59CF3EDD-3B6C-463C-A30E-1BC173C2E853}"/>
                </a:ext>
              </a:extLst>
            </p:cNvPr>
            <p:cNvSpPr>
              <a:spLocks/>
            </p:cNvSpPr>
            <p:nvPr/>
          </p:nvSpPr>
          <p:spPr bwMode="auto">
            <a:xfrm>
              <a:off x="2245" y="845"/>
              <a:ext cx="136" cy="680"/>
            </a:xfrm>
            <a:prstGeom prst="leftBrace">
              <a:avLst>
                <a:gd name="adj1" fmla="val 41667"/>
                <a:gd name="adj2" fmla="val 51745"/>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sp>
          <p:nvSpPr>
            <p:cNvPr id="163855" name="Text Box 8">
              <a:extLst>
                <a:ext uri="{FF2B5EF4-FFF2-40B4-BE49-F238E27FC236}">
                  <a16:creationId xmlns:a16="http://schemas.microsoft.com/office/drawing/2014/main" id="{9102415D-3D42-46F1-8873-E92CEC3C06C0}"/>
                </a:ext>
              </a:extLst>
            </p:cNvPr>
            <p:cNvSpPr txBox="1">
              <a:spLocks noChangeArrowheads="1"/>
            </p:cNvSpPr>
            <p:nvPr/>
          </p:nvSpPr>
          <p:spPr bwMode="auto">
            <a:xfrm>
              <a:off x="2444" y="682"/>
              <a:ext cx="935" cy="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50000"/>
                </a:lnSpc>
                <a:spcBef>
                  <a:spcPct val="50000"/>
                </a:spcBef>
                <a:buClrTx/>
                <a:buFontTx/>
                <a:buNone/>
              </a:pPr>
              <a:r>
                <a:rPr lang="zh-CN" altLang="en-US" dirty="0">
                  <a:solidFill>
                    <a:schemeClr val="tx1"/>
                  </a:solidFill>
                </a:rPr>
                <a:t>肽键</a:t>
              </a:r>
            </a:p>
            <a:p>
              <a:pPr eaLnBrk="1" hangingPunct="1">
                <a:lnSpc>
                  <a:spcPct val="150000"/>
                </a:lnSpc>
                <a:spcBef>
                  <a:spcPct val="50000"/>
                </a:spcBef>
                <a:buClrTx/>
                <a:buFontTx/>
                <a:buNone/>
              </a:pPr>
              <a:r>
                <a:rPr lang="zh-CN" altLang="en-US" dirty="0">
                  <a:solidFill>
                    <a:schemeClr val="tx1"/>
                  </a:solidFill>
                </a:rPr>
                <a:t>二硫键</a:t>
              </a:r>
            </a:p>
          </p:txBody>
        </p:sp>
      </p:grpSp>
      <p:grpSp>
        <p:nvGrpSpPr>
          <p:cNvPr id="3" name="Group 26">
            <a:extLst>
              <a:ext uri="{FF2B5EF4-FFF2-40B4-BE49-F238E27FC236}">
                <a16:creationId xmlns:a16="http://schemas.microsoft.com/office/drawing/2014/main" id="{E98BDBA3-5DF5-4B44-9C29-C306EE7467DB}"/>
              </a:ext>
            </a:extLst>
          </p:cNvPr>
          <p:cNvGrpSpPr>
            <a:grpSpLocks/>
          </p:cNvGrpSpPr>
          <p:nvPr/>
        </p:nvGrpSpPr>
        <p:grpSpPr bwMode="auto">
          <a:xfrm>
            <a:off x="4064736" y="3248025"/>
            <a:ext cx="2594221" cy="2462212"/>
            <a:chOff x="2393" y="2002"/>
            <a:chExt cx="1298" cy="1551"/>
          </a:xfrm>
        </p:grpSpPr>
        <p:sp>
          <p:nvSpPr>
            <p:cNvPr id="163852" name="AutoShape 10">
              <a:extLst>
                <a:ext uri="{FF2B5EF4-FFF2-40B4-BE49-F238E27FC236}">
                  <a16:creationId xmlns:a16="http://schemas.microsoft.com/office/drawing/2014/main" id="{4C3E9640-7156-4E39-842D-A75A8DA6B6E2}"/>
                </a:ext>
              </a:extLst>
            </p:cNvPr>
            <p:cNvSpPr>
              <a:spLocks/>
            </p:cNvSpPr>
            <p:nvPr/>
          </p:nvSpPr>
          <p:spPr bwMode="auto">
            <a:xfrm>
              <a:off x="2393" y="2096"/>
              <a:ext cx="181" cy="1361"/>
            </a:xfrm>
            <a:prstGeom prst="leftBrace">
              <a:avLst>
                <a:gd name="adj1" fmla="val 62661"/>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sp>
          <p:nvSpPr>
            <p:cNvPr id="163853" name="Text Box 11">
              <a:extLst>
                <a:ext uri="{FF2B5EF4-FFF2-40B4-BE49-F238E27FC236}">
                  <a16:creationId xmlns:a16="http://schemas.microsoft.com/office/drawing/2014/main" id="{4B53794E-FCE6-41BF-B22B-1E5DA1F6B6BD}"/>
                </a:ext>
              </a:extLst>
            </p:cNvPr>
            <p:cNvSpPr txBox="1">
              <a:spLocks noChangeArrowheads="1"/>
            </p:cNvSpPr>
            <p:nvPr/>
          </p:nvSpPr>
          <p:spPr bwMode="auto">
            <a:xfrm>
              <a:off x="2557" y="2002"/>
              <a:ext cx="1134" cy="1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dirty="0">
                  <a:solidFill>
                    <a:schemeClr val="tx1"/>
                  </a:solidFill>
                </a:rPr>
                <a:t>氢键</a:t>
              </a:r>
            </a:p>
            <a:p>
              <a:pPr eaLnBrk="1" hangingPunct="1">
                <a:spcBef>
                  <a:spcPct val="50000"/>
                </a:spcBef>
                <a:buClrTx/>
                <a:buFontTx/>
                <a:buNone/>
              </a:pPr>
              <a:r>
                <a:rPr lang="zh-CN" altLang="en-US" dirty="0">
                  <a:solidFill>
                    <a:schemeClr val="tx1"/>
                  </a:solidFill>
                </a:rPr>
                <a:t>盐键</a:t>
              </a:r>
              <a:r>
                <a:rPr lang="en-US" altLang="zh-CN" dirty="0">
                  <a:solidFill>
                    <a:schemeClr val="tx1"/>
                  </a:solidFill>
                </a:rPr>
                <a:t>/</a:t>
              </a:r>
              <a:r>
                <a:rPr lang="zh-CN" altLang="en-US" dirty="0">
                  <a:solidFill>
                    <a:schemeClr val="tx1"/>
                  </a:solidFill>
                </a:rPr>
                <a:t>离子键</a:t>
              </a:r>
            </a:p>
            <a:p>
              <a:pPr eaLnBrk="1" hangingPunct="1">
                <a:spcBef>
                  <a:spcPct val="50000"/>
                </a:spcBef>
                <a:buClrTx/>
                <a:buFontTx/>
                <a:buNone/>
              </a:pPr>
              <a:r>
                <a:rPr lang="zh-CN" altLang="en-US" dirty="0">
                  <a:solidFill>
                    <a:srgbClr val="C00000"/>
                  </a:solidFill>
                </a:rPr>
                <a:t>疏水键</a:t>
              </a:r>
            </a:p>
            <a:p>
              <a:pPr eaLnBrk="1" hangingPunct="1">
                <a:spcBef>
                  <a:spcPct val="50000"/>
                </a:spcBef>
                <a:buClrTx/>
                <a:buFontTx/>
                <a:buNone/>
              </a:pPr>
              <a:r>
                <a:rPr lang="zh-CN" altLang="en-US" dirty="0">
                  <a:solidFill>
                    <a:schemeClr val="tx1"/>
                  </a:solidFill>
                </a:rPr>
                <a:t>范德华力</a:t>
              </a:r>
            </a:p>
          </p:txBody>
        </p:sp>
      </p:grpSp>
      <p:grpSp>
        <p:nvGrpSpPr>
          <p:cNvPr id="163844" name="Group 41">
            <a:extLst>
              <a:ext uri="{FF2B5EF4-FFF2-40B4-BE49-F238E27FC236}">
                <a16:creationId xmlns:a16="http://schemas.microsoft.com/office/drawing/2014/main" id="{43F9A2DB-8D05-4ADE-93D2-A57FF0EC063F}"/>
              </a:ext>
            </a:extLst>
          </p:cNvPr>
          <p:cNvGrpSpPr>
            <a:grpSpLocks/>
          </p:cNvGrpSpPr>
          <p:nvPr/>
        </p:nvGrpSpPr>
        <p:grpSpPr bwMode="auto">
          <a:xfrm>
            <a:off x="1271464" y="1909764"/>
            <a:ext cx="2952750" cy="3182937"/>
            <a:chOff x="340" y="1253"/>
            <a:chExt cx="1860" cy="2005"/>
          </a:xfrm>
        </p:grpSpPr>
        <p:grpSp>
          <p:nvGrpSpPr>
            <p:cNvPr id="163846" name="Group 27">
              <a:extLst>
                <a:ext uri="{FF2B5EF4-FFF2-40B4-BE49-F238E27FC236}">
                  <a16:creationId xmlns:a16="http://schemas.microsoft.com/office/drawing/2014/main" id="{FE9B9E0E-76DD-414A-895F-5B525177B1A9}"/>
                </a:ext>
              </a:extLst>
            </p:cNvPr>
            <p:cNvGrpSpPr>
              <a:grpSpLocks/>
            </p:cNvGrpSpPr>
            <p:nvPr/>
          </p:nvGrpSpPr>
          <p:grpSpPr bwMode="auto">
            <a:xfrm>
              <a:off x="340" y="1253"/>
              <a:ext cx="1814" cy="1733"/>
              <a:chOff x="476" y="1253"/>
              <a:chExt cx="1814" cy="1733"/>
            </a:xfrm>
          </p:grpSpPr>
          <p:sp>
            <p:nvSpPr>
              <p:cNvPr id="163848" name="Text Box 4">
                <a:extLst>
                  <a:ext uri="{FF2B5EF4-FFF2-40B4-BE49-F238E27FC236}">
                    <a16:creationId xmlns:a16="http://schemas.microsoft.com/office/drawing/2014/main" id="{0952ED4C-C163-4F28-B6E5-58982F173717}"/>
                  </a:ext>
                </a:extLst>
              </p:cNvPr>
              <p:cNvSpPr txBox="1">
                <a:spLocks noChangeArrowheads="1"/>
              </p:cNvSpPr>
              <p:nvPr/>
            </p:nvSpPr>
            <p:spPr bwMode="auto">
              <a:xfrm>
                <a:off x="476" y="1933"/>
                <a:ext cx="63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a:solidFill>
                      <a:schemeClr val="tx1"/>
                    </a:solidFill>
                  </a:rPr>
                  <a:t>包括</a:t>
                </a:r>
              </a:p>
            </p:txBody>
          </p:sp>
          <p:sp>
            <p:nvSpPr>
              <p:cNvPr id="163849" name="AutoShape 5">
                <a:extLst>
                  <a:ext uri="{FF2B5EF4-FFF2-40B4-BE49-F238E27FC236}">
                    <a16:creationId xmlns:a16="http://schemas.microsoft.com/office/drawing/2014/main" id="{4D6E5EB9-0669-4F62-AF48-F7ECC02099B7}"/>
                  </a:ext>
                </a:extLst>
              </p:cNvPr>
              <p:cNvSpPr>
                <a:spLocks/>
              </p:cNvSpPr>
              <p:nvPr/>
            </p:nvSpPr>
            <p:spPr bwMode="auto">
              <a:xfrm>
                <a:off x="1066" y="1344"/>
                <a:ext cx="181" cy="1450"/>
              </a:xfrm>
              <a:prstGeom prst="leftBrace">
                <a:avLst>
                  <a:gd name="adj1" fmla="val 66759"/>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sp>
            <p:nvSpPr>
              <p:cNvPr id="163850" name="Text Box 6">
                <a:extLst>
                  <a:ext uri="{FF2B5EF4-FFF2-40B4-BE49-F238E27FC236}">
                    <a16:creationId xmlns:a16="http://schemas.microsoft.com/office/drawing/2014/main" id="{DF94A909-CA5A-443B-85D4-FEE778F8C2E3}"/>
                  </a:ext>
                </a:extLst>
              </p:cNvPr>
              <p:cNvSpPr txBox="1">
                <a:spLocks noChangeArrowheads="1"/>
              </p:cNvSpPr>
              <p:nvPr/>
            </p:nvSpPr>
            <p:spPr bwMode="auto">
              <a:xfrm>
                <a:off x="1247" y="1253"/>
                <a:ext cx="86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a:solidFill>
                      <a:schemeClr val="tx1"/>
                    </a:solidFill>
                  </a:rPr>
                  <a:t>共价键</a:t>
                </a:r>
              </a:p>
            </p:txBody>
          </p:sp>
          <p:sp>
            <p:nvSpPr>
              <p:cNvPr id="163851" name="Text Box 9">
                <a:extLst>
                  <a:ext uri="{FF2B5EF4-FFF2-40B4-BE49-F238E27FC236}">
                    <a16:creationId xmlns:a16="http://schemas.microsoft.com/office/drawing/2014/main" id="{441CF797-5E70-4DF0-A210-39A202CC2DC8}"/>
                  </a:ext>
                </a:extLst>
              </p:cNvPr>
              <p:cNvSpPr txBox="1">
                <a:spLocks noChangeArrowheads="1"/>
              </p:cNvSpPr>
              <p:nvPr/>
            </p:nvSpPr>
            <p:spPr bwMode="auto">
              <a:xfrm>
                <a:off x="1247" y="2659"/>
                <a:ext cx="10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a:solidFill>
                      <a:schemeClr val="tx1"/>
                    </a:solidFill>
                  </a:rPr>
                  <a:t>非共价键</a:t>
                </a:r>
              </a:p>
            </p:txBody>
          </p:sp>
        </p:grpSp>
        <p:sp>
          <p:nvSpPr>
            <p:cNvPr id="163847" name="Rectangle 33">
              <a:extLst>
                <a:ext uri="{FF2B5EF4-FFF2-40B4-BE49-F238E27FC236}">
                  <a16:creationId xmlns:a16="http://schemas.microsoft.com/office/drawing/2014/main" id="{0A38DF55-C024-4C38-8CB0-505CAC18761E}"/>
                </a:ext>
              </a:extLst>
            </p:cNvPr>
            <p:cNvSpPr>
              <a:spLocks noChangeArrowheads="1"/>
            </p:cNvSpPr>
            <p:nvPr/>
          </p:nvSpPr>
          <p:spPr bwMode="auto">
            <a:xfrm>
              <a:off x="959" y="2931"/>
              <a:ext cx="1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lang="zh-CN" altLang="en-US">
                  <a:solidFill>
                    <a:schemeClr val="tx1"/>
                  </a:solidFill>
                </a:rPr>
                <a:t>（</a:t>
              </a:r>
              <a:r>
                <a:rPr lang="zh-CN" altLang="en-US">
                  <a:solidFill>
                    <a:srgbClr val="0000CC"/>
                  </a:solidFill>
                </a:rPr>
                <a:t>次级键</a:t>
              </a:r>
              <a:r>
                <a:rPr lang="zh-CN" altLang="en-US">
                  <a:solidFill>
                    <a:schemeClr val="tx1"/>
                  </a:solidFill>
                </a:rPr>
                <a:t>）</a:t>
              </a:r>
            </a:p>
          </p:txBody>
        </p:sp>
      </p:grpSp>
      <p:sp>
        <p:nvSpPr>
          <p:cNvPr id="163845" name="Rectangle 36">
            <a:extLst>
              <a:ext uri="{FF2B5EF4-FFF2-40B4-BE49-F238E27FC236}">
                <a16:creationId xmlns:a16="http://schemas.microsoft.com/office/drawing/2014/main" id="{06F160CB-77D8-4B92-9BC3-4F1F90784AAB}"/>
              </a:ext>
            </a:extLst>
          </p:cNvPr>
          <p:cNvSpPr>
            <a:spLocks noChangeArrowheads="1"/>
          </p:cNvSpPr>
          <p:nvPr/>
        </p:nvSpPr>
        <p:spPr bwMode="auto">
          <a:xfrm>
            <a:off x="2495600" y="142658"/>
            <a:ext cx="62071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lang="zh-CN" altLang="en-US" sz="3600" dirty="0">
                <a:solidFill>
                  <a:schemeClr val="bg1"/>
                </a:solidFill>
              </a:rPr>
              <a:t>维持蛋白质空间结构的化学键</a:t>
            </a:r>
          </a:p>
        </p:txBody>
      </p:sp>
      <p:sp>
        <p:nvSpPr>
          <p:cNvPr id="19" name="文本框 18">
            <a:extLst>
              <a:ext uri="{FF2B5EF4-FFF2-40B4-BE49-F238E27FC236}">
                <a16:creationId xmlns:a16="http://schemas.microsoft.com/office/drawing/2014/main" id="{6F6241C1-C083-43E4-813D-3FE8A9918496}"/>
              </a:ext>
            </a:extLst>
          </p:cNvPr>
          <p:cNvSpPr txBox="1"/>
          <p:nvPr/>
        </p:nvSpPr>
        <p:spPr>
          <a:xfrm>
            <a:off x="6631136" y="3011372"/>
            <a:ext cx="5554809" cy="2655342"/>
          </a:xfrm>
          <a:prstGeom prst="rect">
            <a:avLst/>
          </a:prstGeom>
          <a:noFill/>
        </p:spPr>
        <p:txBody>
          <a:bodyPr wrap="square">
            <a:spAutoFit/>
          </a:bodyPr>
          <a:lstStyle/>
          <a:p>
            <a:pPr>
              <a:lnSpc>
                <a:spcPct val="180000"/>
              </a:lnSpc>
            </a:pPr>
            <a:r>
              <a:rPr lang="en-US" altLang="zh-CN" sz="2400" dirty="0">
                <a:solidFill>
                  <a:srgbClr val="000000"/>
                </a:solidFill>
              </a:rPr>
              <a:t>hydrogen bond: 12-30 kJ/mol </a:t>
            </a:r>
          </a:p>
          <a:p>
            <a:pPr>
              <a:lnSpc>
                <a:spcPct val="180000"/>
              </a:lnSpc>
            </a:pPr>
            <a:r>
              <a:rPr lang="en-US" altLang="zh-CN" sz="2400" dirty="0">
                <a:solidFill>
                  <a:srgbClr val="000000"/>
                </a:solidFill>
              </a:rPr>
              <a:t>ionic bond: 20 kJ/mol </a:t>
            </a:r>
          </a:p>
          <a:p>
            <a:pPr>
              <a:lnSpc>
                <a:spcPct val="180000"/>
              </a:lnSpc>
            </a:pPr>
            <a:r>
              <a:rPr lang="en-US" altLang="zh-CN" sz="2400" dirty="0">
                <a:solidFill>
                  <a:srgbClr val="000000"/>
                </a:solidFill>
              </a:rPr>
              <a:t>hydrophobic interactions: &lt;40 kJ/mol van der Waals: 0.4 - 4 kJ/mol </a:t>
            </a:r>
          </a:p>
        </p:txBody>
      </p:sp>
      <p:sp>
        <p:nvSpPr>
          <p:cNvPr id="6" name="文本框 5">
            <a:extLst>
              <a:ext uri="{FF2B5EF4-FFF2-40B4-BE49-F238E27FC236}">
                <a16:creationId xmlns:a16="http://schemas.microsoft.com/office/drawing/2014/main" id="{70B5C8D4-0E08-4B02-B313-49AF54A9915F}"/>
              </a:ext>
            </a:extLst>
          </p:cNvPr>
          <p:cNvSpPr txBox="1"/>
          <p:nvPr/>
        </p:nvSpPr>
        <p:spPr>
          <a:xfrm>
            <a:off x="6658957" y="1592561"/>
            <a:ext cx="5231904" cy="461665"/>
          </a:xfrm>
          <a:prstGeom prst="rect">
            <a:avLst/>
          </a:prstGeom>
          <a:noFill/>
        </p:spPr>
        <p:txBody>
          <a:bodyPr wrap="square" rtlCol="0">
            <a:spAutoFit/>
          </a:bodyPr>
          <a:lstStyle/>
          <a:p>
            <a:r>
              <a:rPr lang="en-US" altLang="zh-CN" sz="2400" dirty="0">
                <a:solidFill>
                  <a:srgbClr val="000000"/>
                </a:solidFill>
              </a:rPr>
              <a:t>covalent bond:  200~460kJ/mol </a:t>
            </a:r>
            <a:endParaRPr lang="zh-CN" altLang="en-US" sz="2400" dirty="0">
              <a:solidFill>
                <a:srgbClr val="000000"/>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6"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60" name="Oval 8">
            <a:extLst>
              <a:ext uri="{FF2B5EF4-FFF2-40B4-BE49-F238E27FC236}">
                <a16:creationId xmlns:a16="http://schemas.microsoft.com/office/drawing/2014/main" id="{4BBC261E-46CC-49DA-9E2B-A8787AF1E58D}"/>
              </a:ext>
            </a:extLst>
          </p:cNvPr>
          <p:cNvSpPr>
            <a:spLocks noChangeArrowheads="1"/>
          </p:cNvSpPr>
          <p:nvPr/>
        </p:nvSpPr>
        <p:spPr bwMode="auto">
          <a:xfrm>
            <a:off x="6024564" y="4581526"/>
            <a:ext cx="1152525" cy="792163"/>
          </a:xfrm>
          <a:prstGeom prst="ellipse">
            <a:avLst/>
          </a:prstGeom>
          <a:solidFill>
            <a:srgbClr val="FFFF99"/>
          </a:solidFill>
          <a:ln w="57150">
            <a:solidFill>
              <a:srgbClr val="00FF00"/>
            </a:solidFill>
            <a:round/>
            <a:headEnd/>
            <a:tailEnd/>
          </a:ln>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grpSp>
        <p:nvGrpSpPr>
          <p:cNvPr id="165891" name="Group 18">
            <a:extLst>
              <a:ext uri="{FF2B5EF4-FFF2-40B4-BE49-F238E27FC236}">
                <a16:creationId xmlns:a16="http://schemas.microsoft.com/office/drawing/2014/main" id="{17597217-DF8C-4060-91AA-02273C7031F9}"/>
              </a:ext>
            </a:extLst>
          </p:cNvPr>
          <p:cNvGrpSpPr>
            <a:grpSpLocks/>
          </p:cNvGrpSpPr>
          <p:nvPr/>
        </p:nvGrpSpPr>
        <p:grpSpPr bwMode="auto">
          <a:xfrm>
            <a:off x="3287713" y="908051"/>
            <a:ext cx="5975350" cy="5438775"/>
            <a:chOff x="1111" y="572"/>
            <a:chExt cx="3764" cy="3426"/>
          </a:xfrm>
        </p:grpSpPr>
        <p:pic>
          <p:nvPicPr>
            <p:cNvPr id="165918" name="Picture 2" descr="2-11 稳定蛋白质分子构象的各种化学键">
              <a:extLst>
                <a:ext uri="{FF2B5EF4-FFF2-40B4-BE49-F238E27FC236}">
                  <a16:creationId xmlns:a16="http://schemas.microsoft.com/office/drawing/2014/main" id="{8FB9C5C9-0CE0-4DAB-BAC1-70B796F6878D}"/>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1" y="572"/>
              <a:ext cx="3764" cy="3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5919" name="Oval 15">
              <a:extLst>
                <a:ext uri="{FF2B5EF4-FFF2-40B4-BE49-F238E27FC236}">
                  <a16:creationId xmlns:a16="http://schemas.microsoft.com/office/drawing/2014/main" id="{BBC957B6-2998-4FED-923D-379553085058}"/>
                </a:ext>
              </a:extLst>
            </p:cNvPr>
            <p:cNvSpPr>
              <a:spLocks noChangeArrowheads="1"/>
            </p:cNvSpPr>
            <p:nvPr/>
          </p:nvSpPr>
          <p:spPr bwMode="auto">
            <a:xfrm>
              <a:off x="3606" y="3067"/>
              <a:ext cx="136" cy="136"/>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lvl="0" algn="ctr" eaLnBrk="1" hangingPunct="1">
                <a:spcBef>
                  <a:spcPct val="0"/>
                </a:spcBef>
                <a:buClrTx/>
                <a:buNone/>
              </a:pPr>
              <a:r>
                <a:rPr lang="en-US" altLang="zh-CN" sz="1800" b="0">
                  <a:solidFill>
                    <a:srgbClr val="000066"/>
                  </a:solidFill>
                  <a:latin typeface="Arial" panose="020B0604020202020204" pitchFamily="34" charset="0"/>
                  <a:ea typeface="宋体" panose="02010600030101010101" pitchFamily="2" charset="-122"/>
                </a:rPr>
                <a:t>d</a:t>
              </a:r>
            </a:p>
          </p:txBody>
        </p:sp>
      </p:grpSp>
      <p:sp>
        <p:nvSpPr>
          <p:cNvPr id="535555" name="Rectangle 3">
            <a:extLst>
              <a:ext uri="{FF2B5EF4-FFF2-40B4-BE49-F238E27FC236}">
                <a16:creationId xmlns:a16="http://schemas.microsoft.com/office/drawing/2014/main" id="{9183EDB4-2FE4-4D5A-BA3F-839A6D6CEE9B}"/>
              </a:ext>
            </a:extLst>
          </p:cNvPr>
          <p:cNvSpPr>
            <a:spLocks noChangeArrowheads="1"/>
          </p:cNvSpPr>
          <p:nvPr/>
        </p:nvSpPr>
        <p:spPr bwMode="auto">
          <a:xfrm>
            <a:off x="4872038" y="1268413"/>
            <a:ext cx="647700" cy="863600"/>
          </a:xfrm>
          <a:prstGeom prst="rect">
            <a:avLst/>
          </a:prstGeom>
          <a:solidFill>
            <a:schemeClr val="bg1">
              <a:alpha val="0"/>
            </a:schemeClr>
          </a:solidFill>
          <a:ln w="57150">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sp>
        <p:nvSpPr>
          <p:cNvPr id="535556" name="Rectangle 4">
            <a:extLst>
              <a:ext uri="{FF2B5EF4-FFF2-40B4-BE49-F238E27FC236}">
                <a16:creationId xmlns:a16="http://schemas.microsoft.com/office/drawing/2014/main" id="{F8BD9577-36E7-42B3-8776-6AD5D91D879D}"/>
              </a:ext>
            </a:extLst>
          </p:cNvPr>
          <p:cNvSpPr>
            <a:spLocks noChangeArrowheads="1"/>
          </p:cNvSpPr>
          <p:nvPr/>
        </p:nvSpPr>
        <p:spPr bwMode="auto">
          <a:xfrm>
            <a:off x="7608889" y="3429001"/>
            <a:ext cx="574675" cy="720725"/>
          </a:xfrm>
          <a:prstGeom prst="rect">
            <a:avLst/>
          </a:prstGeom>
          <a:solidFill>
            <a:schemeClr val="bg1">
              <a:alpha val="0"/>
            </a:schemeClr>
          </a:solidFill>
          <a:ln w="57150">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sp>
        <p:nvSpPr>
          <p:cNvPr id="535557" name="Rectangle 5">
            <a:extLst>
              <a:ext uri="{FF2B5EF4-FFF2-40B4-BE49-F238E27FC236}">
                <a16:creationId xmlns:a16="http://schemas.microsoft.com/office/drawing/2014/main" id="{488E849F-059F-4074-B6EF-A1B5FEA2ABE0}"/>
              </a:ext>
            </a:extLst>
          </p:cNvPr>
          <p:cNvSpPr>
            <a:spLocks noChangeArrowheads="1"/>
          </p:cNvSpPr>
          <p:nvPr/>
        </p:nvSpPr>
        <p:spPr bwMode="auto">
          <a:xfrm>
            <a:off x="5375276" y="3716338"/>
            <a:ext cx="936625" cy="647700"/>
          </a:xfrm>
          <a:prstGeom prst="rect">
            <a:avLst/>
          </a:prstGeom>
          <a:solidFill>
            <a:schemeClr val="bg1">
              <a:alpha val="0"/>
            </a:schemeClr>
          </a:solidFill>
          <a:ln w="57150">
            <a:solidFill>
              <a:srgbClr val="0000FF"/>
            </a:solidFill>
            <a:miter lim="800000"/>
            <a:headEnd/>
            <a:tailEnd/>
          </a:ln>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sp>
        <p:nvSpPr>
          <p:cNvPr id="535558" name="Oval 6">
            <a:extLst>
              <a:ext uri="{FF2B5EF4-FFF2-40B4-BE49-F238E27FC236}">
                <a16:creationId xmlns:a16="http://schemas.microsoft.com/office/drawing/2014/main" id="{E76091EB-558D-4437-B066-752D36C3BBA7}"/>
              </a:ext>
            </a:extLst>
          </p:cNvPr>
          <p:cNvSpPr>
            <a:spLocks noChangeArrowheads="1"/>
          </p:cNvSpPr>
          <p:nvPr/>
        </p:nvSpPr>
        <p:spPr bwMode="auto">
          <a:xfrm>
            <a:off x="3863975" y="1196976"/>
            <a:ext cx="1081088" cy="1008063"/>
          </a:xfrm>
          <a:prstGeom prst="ellipse">
            <a:avLst/>
          </a:prstGeom>
          <a:noFill/>
          <a:ln w="571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sp>
        <p:nvSpPr>
          <p:cNvPr id="535559" name="Oval 7">
            <a:extLst>
              <a:ext uri="{FF2B5EF4-FFF2-40B4-BE49-F238E27FC236}">
                <a16:creationId xmlns:a16="http://schemas.microsoft.com/office/drawing/2014/main" id="{3B689E66-910C-45C7-AAC0-13A813969E38}"/>
              </a:ext>
            </a:extLst>
          </p:cNvPr>
          <p:cNvSpPr>
            <a:spLocks noChangeArrowheads="1"/>
          </p:cNvSpPr>
          <p:nvPr/>
        </p:nvSpPr>
        <p:spPr bwMode="auto">
          <a:xfrm>
            <a:off x="4511676" y="4508501"/>
            <a:ext cx="1082675" cy="1008063"/>
          </a:xfrm>
          <a:prstGeom prst="ellipse">
            <a:avLst/>
          </a:prstGeom>
          <a:noFill/>
          <a:ln w="571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sp>
        <p:nvSpPr>
          <p:cNvPr id="535561" name="Oval 9">
            <a:extLst>
              <a:ext uri="{FF2B5EF4-FFF2-40B4-BE49-F238E27FC236}">
                <a16:creationId xmlns:a16="http://schemas.microsoft.com/office/drawing/2014/main" id="{38652BB7-3C29-4521-B545-EDD593E34DF2}"/>
              </a:ext>
            </a:extLst>
          </p:cNvPr>
          <p:cNvSpPr>
            <a:spLocks noChangeArrowheads="1"/>
          </p:cNvSpPr>
          <p:nvPr/>
        </p:nvSpPr>
        <p:spPr bwMode="auto">
          <a:xfrm>
            <a:off x="4151313" y="2276476"/>
            <a:ext cx="1154112" cy="1008063"/>
          </a:xfrm>
          <a:prstGeom prst="ellipse">
            <a:avLst/>
          </a:prstGeom>
          <a:noFill/>
          <a:ln w="57150">
            <a:solidFill>
              <a:srgbClr val="FF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sp>
        <p:nvSpPr>
          <p:cNvPr id="535562" name="Oval 10">
            <a:extLst>
              <a:ext uri="{FF2B5EF4-FFF2-40B4-BE49-F238E27FC236}">
                <a16:creationId xmlns:a16="http://schemas.microsoft.com/office/drawing/2014/main" id="{6E5DEABF-E770-4F52-895C-A436EECE8F6B}"/>
              </a:ext>
            </a:extLst>
          </p:cNvPr>
          <p:cNvSpPr>
            <a:spLocks noChangeArrowheads="1"/>
          </p:cNvSpPr>
          <p:nvPr/>
        </p:nvSpPr>
        <p:spPr bwMode="auto">
          <a:xfrm>
            <a:off x="5519738" y="2276475"/>
            <a:ext cx="1225550" cy="1079500"/>
          </a:xfrm>
          <a:prstGeom prst="ellipse">
            <a:avLst/>
          </a:prstGeom>
          <a:noFill/>
          <a:ln w="57150">
            <a:solidFill>
              <a:srgbClr val="FF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sp>
        <p:nvSpPr>
          <p:cNvPr id="535563" name="Oval 11">
            <a:extLst>
              <a:ext uri="{FF2B5EF4-FFF2-40B4-BE49-F238E27FC236}">
                <a16:creationId xmlns:a16="http://schemas.microsoft.com/office/drawing/2014/main" id="{9CE75AF0-F00B-4A68-9481-EA36200BD067}"/>
              </a:ext>
            </a:extLst>
          </p:cNvPr>
          <p:cNvSpPr>
            <a:spLocks noChangeArrowheads="1"/>
          </p:cNvSpPr>
          <p:nvPr/>
        </p:nvSpPr>
        <p:spPr bwMode="auto">
          <a:xfrm>
            <a:off x="6599239" y="1557338"/>
            <a:ext cx="1727200" cy="1225545"/>
          </a:xfrm>
          <a:prstGeom prst="ellipse">
            <a:avLst/>
          </a:prstGeom>
          <a:noFill/>
          <a:ln w="57150">
            <a:solidFill>
              <a:srgbClr val="FF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sp>
        <p:nvSpPr>
          <p:cNvPr id="165900" name="Rectangle 12">
            <a:extLst>
              <a:ext uri="{FF2B5EF4-FFF2-40B4-BE49-F238E27FC236}">
                <a16:creationId xmlns:a16="http://schemas.microsoft.com/office/drawing/2014/main" id="{E9D23657-22B0-477A-9C85-CC7C9F4DC5D7}"/>
              </a:ext>
            </a:extLst>
          </p:cNvPr>
          <p:cNvSpPr>
            <a:spLocks noChangeArrowheads="1"/>
          </p:cNvSpPr>
          <p:nvPr/>
        </p:nvSpPr>
        <p:spPr bwMode="white">
          <a:xfrm>
            <a:off x="2135188" y="1"/>
            <a:ext cx="6337300"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ct val="0"/>
              </a:spcBef>
              <a:buClrTx/>
              <a:buFontTx/>
              <a:buNone/>
            </a:pPr>
            <a:r>
              <a:rPr lang="zh-CN" altLang="en-US" sz="3600">
                <a:solidFill>
                  <a:schemeClr val="bg1"/>
                </a:solidFill>
                <a:latin typeface="黑体" panose="02010609060101010101" pitchFamily="49" charset="-122"/>
              </a:rPr>
              <a:t>稳定蛋白质构象的化学键</a:t>
            </a:r>
          </a:p>
        </p:txBody>
      </p:sp>
      <p:sp>
        <p:nvSpPr>
          <p:cNvPr id="535565" name="Rectangle 13">
            <a:extLst>
              <a:ext uri="{FF2B5EF4-FFF2-40B4-BE49-F238E27FC236}">
                <a16:creationId xmlns:a16="http://schemas.microsoft.com/office/drawing/2014/main" id="{D62D5F92-C037-472C-8BEA-B3C9F333208B}"/>
              </a:ext>
            </a:extLst>
          </p:cNvPr>
          <p:cNvSpPr>
            <a:spLocks noChangeArrowheads="1"/>
          </p:cNvSpPr>
          <p:nvPr/>
        </p:nvSpPr>
        <p:spPr bwMode="auto">
          <a:xfrm>
            <a:off x="6672264" y="1196976"/>
            <a:ext cx="1368425" cy="360363"/>
          </a:xfrm>
          <a:prstGeom prst="rect">
            <a:avLst/>
          </a:prstGeom>
          <a:noFill/>
          <a:ln w="57150">
            <a:solidFill>
              <a:srgbClr val="80008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sp>
        <p:nvSpPr>
          <p:cNvPr id="165902" name="Text Box 14">
            <a:extLst>
              <a:ext uri="{FF2B5EF4-FFF2-40B4-BE49-F238E27FC236}">
                <a16:creationId xmlns:a16="http://schemas.microsoft.com/office/drawing/2014/main" id="{F9BFF947-2A82-488F-9882-871A9D58ACD7}"/>
              </a:ext>
            </a:extLst>
          </p:cNvPr>
          <p:cNvSpPr txBox="1">
            <a:spLocks noChangeArrowheads="1"/>
          </p:cNvSpPr>
          <p:nvPr/>
        </p:nvSpPr>
        <p:spPr bwMode="auto">
          <a:xfrm>
            <a:off x="7535864" y="6108701"/>
            <a:ext cx="1081087" cy="231987"/>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60000"/>
              </a:lnSpc>
              <a:spcBef>
                <a:spcPct val="50000"/>
              </a:spcBef>
              <a:buClrTx/>
              <a:buFontTx/>
              <a:buNone/>
            </a:pPr>
            <a:r>
              <a:rPr lang="en-US" altLang="zh-CN" sz="1400">
                <a:solidFill>
                  <a:srgbClr val="000000"/>
                </a:solidFill>
                <a:latin typeface="楷体_GB2312" pitchFamily="49" charset="-122"/>
                <a:ea typeface="楷体_GB2312" pitchFamily="49" charset="-122"/>
              </a:rPr>
              <a:t>d </a:t>
            </a:r>
            <a:r>
              <a:rPr lang="zh-CN" altLang="en-US" sz="1400">
                <a:solidFill>
                  <a:srgbClr val="000000"/>
                </a:solidFill>
                <a:latin typeface="楷体_GB2312" pitchFamily="49" charset="-122"/>
                <a:ea typeface="楷体_GB2312" pitchFamily="49" charset="-122"/>
              </a:rPr>
              <a:t>范德华力</a:t>
            </a:r>
          </a:p>
        </p:txBody>
      </p:sp>
      <p:grpSp>
        <p:nvGrpSpPr>
          <p:cNvPr id="3" name="Group 31">
            <a:extLst>
              <a:ext uri="{FF2B5EF4-FFF2-40B4-BE49-F238E27FC236}">
                <a16:creationId xmlns:a16="http://schemas.microsoft.com/office/drawing/2014/main" id="{E951A1DA-747D-4445-AC6D-9405D725A6A3}"/>
              </a:ext>
            </a:extLst>
          </p:cNvPr>
          <p:cNvGrpSpPr>
            <a:grpSpLocks/>
          </p:cNvGrpSpPr>
          <p:nvPr/>
        </p:nvGrpSpPr>
        <p:grpSpPr bwMode="auto">
          <a:xfrm>
            <a:off x="8328025" y="3644900"/>
            <a:ext cx="1944688" cy="457200"/>
            <a:chOff x="4286" y="2296"/>
            <a:chExt cx="1225" cy="288"/>
          </a:xfrm>
        </p:grpSpPr>
        <p:sp>
          <p:nvSpPr>
            <p:cNvPr id="165916" name="Line 19">
              <a:extLst>
                <a:ext uri="{FF2B5EF4-FFF2-40B4-BE49-F238E27FC236}">
                  <a16:creationId xmlns:a16="http://schemas.microsoft.com/office/drawing/2014/main" id="{0856712B-75F2-490F-BC15-71371328BD3D}"/>
                </a:ext>
              </a:extLst>
            </p:cNvPr>
            <p:cNvSpPr>
              <a:spLocks noChangeShapeType="1"/>
            </p:cNvSpPr>
            <p:nvPr/>
          </p:nvSpPr>
          <p:spPr bwMode="auto">
            <a:xfrm>
              <a:off x="4286" y="2432"/>
              <a:ext cx="590" cy="0"/>
            </a:xfrm>
            <a:prstGeom prst="line">
              <a:avLst/>
            </a:prstGeom>
            <a:noFill/>
            <a:ln w="38100">
              <a:solidFill>
                <a:srgbClr val="0000CC"/>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5917" name="Text Box 20">
              <a:extLst>
                <a:ext uri="{FF2B5EF4-FFF2-40B4-BE49-F238E27FC236}">
                  <a16:creationId xmlns:a16="http://schemas.microsoft.com/office/drawing/2014/main" id="{0B61EC2C-30E8-42BE-B332-3ED927549A6E}"/>
                </a:ext>
              </a:extLst>
            </p:cNvPr>
            <p:cNvSpPr txBox="1">
              <a:spLocks noChangeArrowheads="1"/>
            </p:cNvSpPr>
            <p:nvPr/>
          </p:nvSpPr>
          <p:spPr bwMode="auto">
            <a:xfrm>
              <a:off x="4876" y="2296"/>
              <a:ext cx="63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sz="2400">
                  <a:solidFill>
                    <a:srgbClr val="0000CC"/>
                  </a:solidFill>
                  <a:latin typeface="Arial" panose="020B0604020202020204" pitchFamily="34" charset="0"/>
                </a:rPr>
                <a:t>氢  键</a:t>
              </a:r>
            </a:p>
          </p:txBody>
        </p:sp>
      </p:grpSp>
      <p:grpSp>
        <p:nvGrpSpPr>
          <p:cNvPr id="4" name="Group 30">
            <a:extLst>
              <a:ext uri="{FF2B5EF4-FFF2-40B4-BE49-F238E27FC236}">
                <a16:creationId xmlns:a16="http://schemas.microsoft.com/office/drawing/2014/main" id="{8CA0C3E2-2054-4824-9AE7-6007E484C98E}"/>
              </a:ext>
            </a:extLst>
          </p:cNvPr>
          <p:cNvGrpSpPr>
            <a:grpSpLocks/>
          </p:cNvGrpSpPr>
          <p:nvPr/>
        </p:nvGrpSpPr>
        <p:grpSpPr bwMode="auto">
          <a:xfrm>
            <a:off x="8328026" y="1916113"/>
            <a:ext cx="2017713" cy="457200"/>
            <a:chOff x="4286" y="1207"/>
            <a:chExt cx="1271" cy="288"/>
          </a:xfrm>
        </p:grpSpPr>
        <p:sp>
          <p:nvSpPr>
            <p:cNvPr id="165914" name="Line 21">
              <a:extLst>
                <a:ext uri="{FF2B5EF4-FFF2-40B4-BE49-F238E27FC236}">
                  <a16:creationId xmlns:a16="http://schemas.microsoft.com/office/drawing/2014/main" id="{29D126AD-DB26-42CC-8D0B-ADC15A956B45}"/>
                </a:ext>
              </a:extLst>
            </p:cNvPr>
            <p:cNvSpPr>
              <a:spLocks noChangeShapeType="1"/>
            </p:cNvSpPr>
            <p:nvPr/>
          </p:nvSpPr>
          <p:spPr bwMode="auto">
            <a:xfrm>
              <a:off x="4286" y="1344"/>
              <a:ext cx="454" cy="0"/>
            </a:xfrm>
            <a:prstGeom prst="line">
              <a:avLst/>
            </a:prstGeom>
            <a:noFill/>
            <a:ln w="38100">
              <a:solidFill>
                <a:srgbClr val="FF00F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5915" name="Text Box 22">
              <a:extLst>
                <a:ext uri="{FF2B5EF4-FFF2-40B4-BE49-F238E27FC236}">
                  <a16:creationId xmlns:a16="http://schemas.microsoft.com/office/drawing/2014/main" id="{6CDEFB72-85D7-4A63-A382-256E1E29C1C9}"/>
                </a:ext>
              </a:extLst>
            </p:cNvPr>
            <p:cNvSpPr txBox="1">
              <a:spLocks noChangeArrowheads="1"/>
            </p:cNvSpPr>
            <p:nvPr/>
          </p:nvSpPr>
          <p:spPr bwMode="auto">
            <a:xfrm>
              <a:off x="4740" y="1207"/>
              <a:ext cx="8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sz="2400">
                  <a:solidFill>
                    <a:srgbClr val="FF00FF"/>
                  </a:solidFill>
                  <a:latin typeface="Arial" panose="020B0604020202020204" pitchFamily="34" charset="0"/>
                </a:rPr>
                <a:t>疏水键</a:t>
              </a:r>
            </a:p>
          </p:txBody>
        </p:sp>
      </p:grpSp>
      <p:grpSp>
        <p:nvGrpSpPr>
          <p:cNvPr id="5" name="Group 32">
            <a:extLst>
              <a:ext uri="{FF2B5EF4-FFF2-40B4-BE49-F238E27FC236}">
                <a16:creationId xmlns:a16="http://schemas.microsoft.com/office/drawing/2014/main" id="{5AA6E79C-E8FA-4F57-AF00-8C22E8EF0743}"/>
              </a:ext>
            </a:extLst>
          </p:cNvPr>
          <p:cNvGrpSpPr>
            <a:grpSpLocks/>
          </p:cNvGrpSpPr>
          <p:nvPr/>
        </p:nvGrpSpPr>
        <p:grpSpPr bwMode="auto">
          <a:xfrm>
            <a:off x="7608888" y="4724400"/>
            <a:ext cx="2881312" cy="457200"/>
            <a:chOff x="3833" y="2976"/>
            <a:chExt cx="1815" cy="288"/>
          </a:xfrm>
        </p:grpSpPr>
        <p:sp>
          <p:nvSpPr>
            <p:cNvPr id="165912" name="Line 23">
              <a:extLst>
                <a:ext uri="{FF2B5EF4-FFF2-40B4-BE49-F238E27FC236}">
                  <a16:creationId xmlns:a16="http://schemas.microsoft.com/office/drawing/2014/main" id="{4D04C6D8-755A-43C3-93B2-32D3F03FB1AD}"/>
                </a:ext>
              </a:extLst>
            </p:cNvPr>
            <p:cNvSpPr>
              <a:spLocks noChangeShapeType="1"/>
            </p:cNvSpPr>
            <p:nvPr/>
          </p:nvSpPr>
          <p:spPr bwMode="auto">
            <a:xfrm>
              <a:off x="3833" y="3113"/>
              <a:ext cx="862" cy="0"/>
            </a:xfrm>
            <a:prstGeom prst="line">
              <a:avLst/>
            </a:prstGeom>
            <a:noFill/>
            <a:ln w="38100">
              <a:solidFill>
                <a:srgbClr val="0066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5913" name="Text Box 24">
              <a:extLst>
                <a:ext uri="{FF2B5EF4-FFF2-40B4-BE49-F238E27FC236}">
                  <a16:creationId xmlns:a16="http://schemas.microsoft.com/office/drawing/2014/main" id="{DD386E1D-AACC-4C8E-8F5B-0F0085869BE2}"/>
                </a:ext>
              </a:extLst>
            </p:cNvPr>
            <p:cNvSpPr txBox="1">
              <a:spLocks noChangeArrowheads="1"/>
            </p:cNvSpPr>
            <p:nvPr/>
          </p:nvSpPr>
          <p:spPr bwMode="auto">
            <a:xfrm>
              <a:off x="4740" y="2976"/>
              <a:ext cx="9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sz="2400">
                  <a:solidFill>
                    <a:srgbClr val="006600"/>
                  </a:solidFill>
                  <a:latin typeface="Arial" panose="020B0604020202020204" pitchFamily="34" charset="0"/>
                </a:rPr>
                <a:t>范德华力</a:t>
              </a:r>
            </a:p>
          </p:txBody>
        </p:sp>
      </p:grpSp>
      <p:grpSp>
        <p:nvGrpSpPr>
          <p:cNvPr id="6" name="Group 33">
            <a:extLst>
              <a:ext uri="{FF2B5EF4-FFF2-40B4-BE49-F238E27FC236}">
                <a16:creationId xmlns:a16="http://schemas.microsoft.com/office/drawing/2014/main" id="{AD208B41-5EFE-40FC-B37C-277F53F92A22}"/>
              </a:ext>
            </a:extLst>
          </p:cNvPr>
          <p:cNvGrpSpPr>
            <a:grpSpLocks/>
          </p:cNvGrpSpPr>
          <p:nvPr/>
        </p:nvGrpSpPr>
        <p:grpSpPr bwMode="auto">
          <a:xfrm>
            <a:off x="1774826" y="1484313"/>
            <a:ext cx="2016125" cy="457200"/>
            <a:chOff x="158" y="935"/>
            <a:chExt cx="1270" cy="288"/>
          </a:xfrm>
        </p:grpSpPr>
        <p:sp>
          <p:nvSpPr>
            <p:cNvPr id="165910" name="Line 25">
              <a:extLst>
                <a:ext uri="{FF2B5EF4-FFF2-40B4-BE49-F238E27FC236}">
                  <a16:creationId xmlns:a16="http://schemas.microsoft.com/office/drawing/2014/main" id="{9A6304C2-B5BA-401D-92D0-04D2B777B61C}"/>
                </a:ext>
              </a:extLst>
            </p:cNvPr>
            <p:cNvSpPr>
              <a:spLocks noChangeShapeType="1"/>
            </p:cNvSpPr>
            <p:nvPr/>
          </p:nvSpPr>
          <p:spPr bwMode="auto">
            <a:xfrm>
              <a:off x="839" y="1117"/>
              <a:ext cx="589"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5911" name="Text Box 26">
              <a:extLst>
                <a:ext uri="{FF2B5EF4-FFF2-40B4-BE49-F238E27FC236}">
                  <a16:creationId xmlns:a16="http://schemas.microsoft.com/office/drawing/2014/main" id="{F3A9EFD7-E5CF-42D4-B9E3-134172D593A4}"/>
                </a:ext>
              </a:extLst>
            </p:cNvPr>
            <p:cNvSpPr txBox="1">
              <a:spLocks noChangeArrowheads="1"/>
            </p:cNvSpPr>
            <p:nvPr/>
          </p:nvSpPr>
          <p:spPr bwMode="auto">
            <a:xfrm>
              <a:off x="158" y="935"/>
              <a:ext cx="8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sz="2400">
                  <a:solidFill>
                    <a:srgbClr val="FF0000"/>
                  </a:solidFill>
                  <a:latin typeface="Arial" panose="020B0604020202020204" pitchFamily="34" charset="0"/>
                </a:rPr>
                <a:t>离子键</a:t>
              </a:r>
            </a:p>
          </p:txBody>
        </p:sp>
      </p:grpSp>
      <p:grpSp>
        <p:nvGrpSpPr>
          <p:cNvPr id="7" name="Group 29">
            <a:extLst>
              <a:ext uri="{FF2B5EF4-FFF2-40B4-BE49-F238E27FC236}">
                <a16:creationId xmlns:a16="http://schemas.microsoft.com/office/drawing/2014/main" id="{523C3242-76DF-4B73-AB62-A693DB16DEDC}"/>
              </a:ext>
            </a:extLst>
          </p:cNvPr>
          <p:cNvGrpSpPr>
            <a:grpSpLocks/>
          </p:cNvGrpSpPr>
          <p:nvPr/>
        </p:nvGrpSpPr>
        <p:grpSpPr bwMode="auto">
          <a:xfrm>
            <a:off x="8112126" y="1125538"/>
            <a:ext cx="2233613" cy="457200"/>
            <a:chOff x="4150" y="709"/>
            <a:chExt cx="1407" cy="288"/>
          </a:xfrm>
        </p:grpSpPr>
        <p:sp>
          <p:nvSpPr>
            <p:cNvPr id="165908" name="Line 27">
              <a:extLst>
                <a:ext uri="{FF2B5EF4-FFF2-40B4-BE49-F238E27FC236}">
                  <a16:creationId xmlns:a16="http://schemas.microsoft.com/office/drawing/2014/main" id="{C50C41DD-914A-40AE-88A1-E888B947BCD7}"/>
                </a:ext>
              </a:extLst>
            </p:cNvPr>
            <p:cNvSpPr>
              <a:spLocks noChangeShapeType="1"/>
            </p:cNvSpPr>
            <p:nvPr/>
          </p:nvSpPr>
          <p:spPr bwMode="auto">
            <a:xfrm>
              <a:off x="4150" y="890"/>
              <a:ext cx="544"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5909" name="Text Box 28">
              <a:extLst>
                <a:ext uri="{FF2B5EF4-FFF2-40B4-BE49-F238E27FC236}">
                  <a16:creationId xmlns:a16="http://schemas.microsoft.com/office/drawing/2014/main" id="{D2EC4952-6CF8-42B7-A42D-4CC0391D8011}"/>
                </a:ext>
              </a:extLst>
            </p:cNvPr>
            <p:cNvSpPr txBox="1">
              <a:spLocks noChangeArrowheads="1"/>
            </p:cNvSpPr>
            <p:nvPr/>
          </p:nvSpPr>
          <p:spPr bwMode="auto">
            <a:xfrm>
              <a:off x="4740" y="709"/>
              <a:ext cx="8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sz="2400">
                  <a:solidFill>
                    <a:srgbClr val="800080"/>
                  </a:solidFill>
                  <a:latin typeface="Arial" panose="020B0604020202020204" pitchFamily="34" charset="0"/>
                </a:rPr>
                <a:t>二硫键</a:t>
              </a:r>
            </a:p>
          </p:txBody>
        </p:sp>
      </p:gr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35557"/>
                                        </p:tgtEl>
                                        <p:attrNameLst>
                                          <p:attrName>style.visibility</p:attrName>
                                        </p:attrNameLst>
                                      </p:cBhvr>
                                      <p:to>
                                        <p:strVal val="visible"/>
                                      </p:to>
                                    </p:set>
                                    <p:animEffect transition="in" filter="box(in)">
                                      <p:cBhvr>
                                        <p:cTn id="7" dur="2000"/>
                                        <p:tgtEl>
                                          <p:spTgt spid="535557"/>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535555"/>
                                        </p:tgtEl>
                                        <p:attrNameLst>
                                          <p:attrName>style.visibility</p:attrName>
                                        </p:attrNameLst>
                                      </p:cBhvr>
                                      <p:to>
                                        <p:strVal val="visible"/>
                                      </p:to>
                                    </p:set>
                                    <p:animEffect transition="in" filter="box(in)">
                                      <p:cBhvr>
                                        <p:cTn id="10" dur="2000"/>
                                        <p:tgtEl>
                                          <p:spTgt spid="535555"/>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535556"/>
                                        </p:tgtEl>
                                        <p:attrNameLst>
                                          <p:attrName>style.visibility</p:attrName>
                                        </p:attrNameLst>
                                      </p:cBhvr>
                                      <p:to>
                                        <p:strVal val="visible"/>
                                      </p:to>
                                    </p:set>
                                    <p:animEffect transition="in" filter="box(in)">
                                      <p:cBhvr>
                                        <p:cTn id="13" dur="2000"/>
                                        <p:tgtEl>
                                          <p:spTgt spid="535556"/>
                                        </p:tgtEl>
                                      </p:cBhvr>
                                    </p:animEffect>
                                  </p:childTnLst>
                                </p:cTn>
                              </p:par>
                              <p:par>
                                <p:cTn id="14" presetID="4" presetClass="entr" presetSubtype="16"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box(in)">
                                      <p:cBhvr>
                                        <p:cTn id="16" dur="500"/>
                                        <p:tgtEl>
                                          <p:spTgt spid="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535558"/>
                                        </p:tgtEl>
                                        <p:attrNameLst>
                                          <p:attrName>style.visibility</p:attrName>
                                        </p:attrNameLst>
                                      </p:cBhvr>
                                      <p:to>
                                        <p:strVal val="visible"/>
                                      </p:to>
                                    </p:set>
                                    <p:animEffect transition="in" filter="blinds(horizontal)">
                                      <p:cBhvr>
                                        <p:cTn id="21" dur="2000"/>
                                        <p:tgtEl>
                                          <p:spTgt spid="535558"/>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535559"/>
                                        </p:tgtEl>
                                        <p:attrNameLst>
                                          <p:attrName>style.visibility</p:attrName>
                                        </p:attrNameLst>
                                      </p:cBhvr>
                                      <p:to>
                                        <p:strVal val="visible"/>
                                      </p:to>
                                    </p:set>
                                    <p:animEffect transition="in" filter="blinds(horizontal)">
                                      <p:cBhvr>
                                        <p:cTn id="24" dur="2000"/>
                                        <p:tgtEl>
                                          <p:spTgt spid="535559"/>
                                        </p:tgtEl>
                                      </p:cBhvr>
                                    </p:animEffect>
                                  </p:childTnLst>
                                </p:cTn>
                              </p:par>
                              <p:par>
                                <p:cTn id="25" presetID="3" presetClass="entr" presetSubtype="1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535562"/>
                                        </p:tgtEl>
                                        <p:attrNameLst>
                                          <p:attrName>style.visibility</p:attrName>
                                        </p:attrNameLst>
                                      </p:cBhvr>
                                      <p:to>
                                        <p:strVal val="visible"/>
                                      </p:to>
                                    </p:set>
                                    <p:animEffect transition="in" filter="box(in)">
                                      <p:cBhvr>
                                        <p:cTn id="32" dur="2000"/>
                                        <p:tgtEl>
                                          <p:spTgt spid="535562"/>
                                        </p:tgtEl>
                                      </p:cBhvr>
                                    </p:animEffect>
                                  </p:childTnLst>
                                </p:cTn>
                              </p:par>
                              <p:par>
                                <p:cTn id="33" presetID="4" presetClass="entr" presetSubtype="16" fill="hold" grpId="0" nodeType="withEffect">
                                  <p:stCondLst>
                                    <p:cond delay="0"/>
                                  </p:stCondLst>
                                  <p:childTnLst>
                                    <p:set>
                                      <p:cBhvr>
                                        <p:cTn id="34" dur="1" fill="hold">
                                          <p:stCondLst>
                                            <p:cond delay="0"/>
                                          </p:stCondLst>
                                        </p:cTn>
                                        <p:tgtEl>
                                          <p:spTgt spid="535563"/>
                                        </p:tgtEl>
                                        <p:attrNameLst>
                                          <p:attrName>style.visibility</p:attrName>
                                        </p:attrNameLst>
                                      </p:cBhvr>
                                      <p:to>
                                        <p:strVal val="visible"/>
                                      </p:to>
                                    </p:set>
                                    <p:animEffect transition="in" filter="box(in)">
                                      <p:cBhvr>
                                        <p:cTn id="35" dur="2000"/>
                                        <p:tgtEl>
                                          <p:spTgt spid="535563"/>
                                        </p:tgtEl>
                                      </p:cBhvr>
                                    </p:animEffect>
                                  </p:childTnLst>
                                </p:cTn>
                              </p:par>
                              <p:par>
                                <p:cTn id="36" presetID="4" presetClass="entr" presetSubtype="16" fill="hold" grpId="0" nodeType="withEffect">
                                  <p:stCondLst>
                                    <p:cond delay="0"/>
                                  </p:stCondLst>
                                  <p:childTnLst>
                                    <p:set>
                                      <p:cBhvr>
                                        <p:cTn id="37" dur="1" fill="hold">
                                          <p:stCondLst>
                                            <p:cond delay="0"/>
                                          </p:stCondLst>
                                        </p:cTn>
                                        <p:tgtEl>
                                          <p:spTgt spid="535561"/>
                                        </p:tgtEl>
                                        <p:attrNameLst>
                                          <p:attrName>style.visibility</p:attrName>
                                        </p:attrNameLst>
                                      </p:cBhvr>
                                      <p:to>
                                        <p:strVal val="visible"/>
                                      </p:to>
                                    </p:set>
                                    <p:animEffect transition="in" filter="box(in)">
                                      <p:cBhvr>
                                        <p:cTn id="38" dur="2000"/>
                                        <p:tgtEl>
                                          <p:spTgt spid="535561"/>
                                        </p:tgtEl>
                                      </p:cBhvr>
                                    </p:animEffect>
                                  </p:childTnLst>
                                </p:cTn>
                              </p:par>
                              <p:par>
                                <p:cTn id="39" presetID="4" presetClass="entr" presetSubtype="16" fill="hold" nodeType="with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box(in)">
                                      <p:cBhvr>
                                        <p:cTn id="41" dur="500"/>
                                        <p:tgtEl>
                                          <p:spTgt spid="4"/>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4" presetClass="entr" presetSubtype="16" fill="hold" grpId="0" nodeType="clickEffect">
                                  <p:stCondLst>
                                    <p:cond delay="0"/>
                                  </p:stCondLst>
                                  <p:childTnLst>
                                    <p:set>
                                      <p:cBhvr>
                                        <p:cTn id="45" dur="1" fill="hold">
                                          <p:stCondLst>
                                            <p:cond delay="0"/>
                                          </p:stCondLst>
                                        </p:cTn>
                                        <p:tgtEl>
                                          <p:spTgt spid="535560"/>
                                        </p:tgtEl>
                                        <p:attrNameLst>
                                          <p:attrName>style.visibility</p:attrName>
                                        </p:attrNameLst>
                                      </p:cBhvr>
                                      <p:to>
                                        <p:strVal val="visible"/>
                                      </p:to>
                                    </p:set>
                                    <p:animEffect transition="in" filter="box(in)">
                                      <p:cBhvr>
                                        <p:cTn id="46" dur="2000"/>
                                        <p:tgtEl>
                                          <p:spTgt spid="535560"/>
                                        </p:tgtEl>
                                      </p:cBhvr>
                                    </p:animEffect>
                                  </p:childTnLst>
                                </p:cTn>
                              </p:par>
                              <p:par>
                                <p:cTn id="47" presetID="4" presetClass="entr" presetSubtype="16" fill="hold" nodeType="with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box(in)">
                                      <p:cBhvr>
                                        <p:cTn id="49" dur="500"/>
                                        <p:tgtEl>
                                          <p:spTgt spid="5"/>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4" presetClass="entr" presetSubtype="16" fill="hold" grpId="0" nodeType="clickEffect">
                                  <p:stCondLst>
                                    <p:cond delay="0"/>
                                  </p:stCondLst>
                                  <p:childTnLst>
                                    <p:set>
                                      <p:cBhvr>
                                        <p:cTn id="53" dur="1" fill="hold">
                                          <p:stCondLst>
                                            <p:cond delay="0"/>
                                          </p:stCondLst>
                                        </p:cTn>
                                        <p:tgtEl>
                                          <p:spTgt spid="535565"/>
                                        </p:tgtEl>
                                        <p:attrNameLst>
                                          <p:attrName>style.visibility</p:attrName>
                                        </p:attrNameLst>
                                      </p:cBhvr>
                                      <p:to>
                                        <p:strVal val="visible"/>
                                      </p:to>
                                    </p:set>
                                    <p:animEffect transition="in" filter="box(in)">
                                      <p:cBhvr>
                                        <p:cTn id="54" dur="2000"/>
                                        <p:tgtEl>
                                          <p:spTgt spid="535565"/>
                                        </p:tgtEl>
                                      </p:cBhvr>
                                    </p:animEffect>
                                  </p:childTnLst>
                                </p:cTn>
                              </p:par>
                              <p:par>
                                <p:cTn id="55" presetID="4" presetClass="entr" presetSubtype="16" fill="hold" nodeType="with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box(in)">
                                      <p:cBhvr>
                                        <p:cTn id="5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5560" grpId="0" animBg="1"/>
      <p:bldP spid="535555" grpId="0" animBg="1"/>
      <p:bldP spid="535556" grpId="0" animBg="1"/>
      <p:bldP spid="535557" grpId="0" animBg="1"/>
      <p:bldP spid="535558" grpId="0" animBg="1"/>
      <p:bldP spid="535559" grpId="0" animBg="1"/>
      <p:bldP spid="535561" grpId="0" animBg="1"/>
      <p:bldP spid="535562" grpId="0" animBg="1"/>
      <p:bldP spid="535563" grpId="0" animBg="1"/>
      <p:bldP spid="535565" grpId="0" animBg="1"/>
    </p:bld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9986" name="标题 1">
            <a:extLst>
              <a:ext uri="{FF2B5EF4-FFF2-40B4-BE49-F238E27FC236}">
                <a16:creationId xmlns:a16="http://schemas.microsoft.com/office/drawing/2014/main" id="{A8D67BC4-4519-4406-A22E-A8162BCF3A01}"/>
              </a:ext>
            </a:extLst>
          </p:cNvPr>
          <p:cNvSpPr>
            <a:spLocks noGrp="1" noChangeArrowheads="1"/>
          </p:cNvSpPr>
          <p:nvPr>
            <p:ph type="title"/>
          </p:nvPr>
        </p:nvSpPr>
        <p:spPr>
          <a:xfrm>
            <a:off x="1703389" y="188913"/>
            <a:ext cx="6264275" cy="563562"/>
          </a:xfrm>
        </p:spPr>
        <p:txBody>
          <a:bodyPr/>
          <a:lstStyle/>
          <a:p>
            <a:pPr algn="ctr"/>
            <a:r>
              <a:rPr lang="zh-CN" altLang="en-US" sz="4000"/>
              <a:t>常 见 氢 键</a:t>
            </a:r>
          </a:p>
        </p:txBody>
      </p:sp>
      <p:grpSp>
        <p:nvGrpSpPr>
          <p:cNvPr id="169987" name="组合 5">
            <a:extLst>
              <a:ext uri="{FF2B5EF4-FFF2-40B4-BE49-F238E27FC236}">
                <a16:creationId xmlns:a16="http://schemas.microsoft.com/office/drawing/2014/main" id="{7D9F7248-1524-4CCC-B048-18094355B204}"/>
              </a:ext>
            </a:extLst>
          </p:cNvPr>
          <p:cNvGrpSpPr>
            <a:grpSpLocks/>
          </p:cNvGrpSpPr>
          <p:nvPr/>
        </p:nvGrpSpPr>
        <p:grpSpPr bwMode="auto">
          <a:xfrm>
            <a:off x="1919289" y="1484314"/>
            <a:ext cx="8353425" cy="4033837"/>
            <a:chOff x="467544" y="1565965"/>
            <a:chExt cx="8017643" cy="3817132"/>
          </a:xfrm>
        </p:grpSpPr>
        <p:pic>
          <p:nvPicPr>
            <p:cNvPr id="169988" name="图片 3">
              <a:extLst>
                <a:ext uri="{FF2B5EF4-FFF2-40B4-BE49-F238E27FC236}">
                  <a16:creationId xmlns:a16="http://schemas.microsoft.com/office/drawing/2014/main" id="{EB6FB73E-BA7B-463E-AD0D-1D25A067E5E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7544" y="1565965"/>
              <a:ext cx="8017643" cy="3817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9989" name="矩形 4">
              <a:extLst>
                <a:ext uri="{FF2B5EF4-FFF2-40B4-BE49-F238E27FC236}">
                  <a16:creationId xmlns:a16="http://schemas.microsoft.com/office/drawing/2014/main" id="{B7C03381-D50E-49EB-85DF-9C9BFB5243AC}"/>
                </a:ext>
              </a:extLst>
            </p:cNvPr>
            <p:cNvSpPr>
              <a:spLocks noChangeArrowheads="1"/>
            </p:cNvSpPr>
            <p:nvPr/>
          </p:nvSpPr>
          <p:spPr bwMode="auto">
            <a:xfrm>
              <a:off x="539552" y="4149080"/>
              <a:ext cx="1512168" cy="504056"/>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grpSp>
    </p:spTree>
  </p:cSld>
  <p:clrMapOvr>
    <a:masterClrMapping/>
  </p:clrMapOvr>
  <p:transition spd="slow">
    <p:circle/>
  </p:transition>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2F22D9-4A4B-4298-A86B-36CA502E2082}"/>
              </a:ext>
            </a:extLst>
          </p:cNvPr>
          <p:cNvSpPr>
            <a:spLocks noGrp="1"/>
          </p:cNvSpPr>
          <p:nvPr>
            <p:ph type="title"/>
          </p:nvPr>
        </p:nvSpPr>
        <p:spPr/>
        <p:txBody>
          <a:bodyPr/>
          <a:lstStyle/>
          <a:p>
            <a:r>
              <a:rPr lang="zh-CN" altLang="en-US" sz="3200" dirty="0"/>
              <a:t>疏水键</a:t>
            </a:r>
            <a:r>
              <a:rPr lang="en-US" altLang="zh-CN" sz="3200" dirty="0"/>
              <a:t>(Hydrophobic interaction)</a:t>
            </a:r>
            <a:endParaRPr lang="zh-CN" altLang="en-US" sz="3200" dirty="0"/>
          </a:p>
        </p:txBody>
      </p:sp>
      <p:sp>
        <p:nvSpPr>
          <p:cNvPr id="3" name="内容占位符 2">
            <a:extLst>
              <a:ext uri="{FF2B5EF4-FFF2-40B4-BE49-F238E27FC236}">
                <a16:creationId xmlns:a16="http://schemas.microsoft.com/office/drawing/2014/main" id="{2077B1B7-FC3C-4785-A310-8E779B0A66BC}"/>
              </a:ext>
            </a:extLst>
          </p:cNvPr>
          <p:cNvSpPr>
            <a:spLocks noGrp="1"/>
          </p:cNvSpPr>
          <p:nvPr>
            <p:ph idx="1"/>
          </p:nvPr>
        </p:nvSpPr>
        <p:spPr>
          <a:xfrm>
            <a:off x="1794522" y="1268760"/>
            <a:ext cx="8477942" cy="5400600"/>
          </a:xfrm>
        </p:spPr>
        <p:txBody>
          <a:bodyPr/>
          <a:lstStyle/>
          <a:p>
            <a:pPr algn="just"/>
            <a:r>
              <a:rPr lang="zh-CN" altLang="en-US" dirty="0">
                <a:solidFill>
                  <a:srgbClr val="FF0000"/>
                </a:solidFill>
              </a:rPr>
              <a:t>疏水键是蛋白质折叠、</a:t>
            </a:r>
            <a:r>
              <a:rPr lang="en-US" altLang="zh-CN" dirty="0">
                <a:solidFill>
                  <a:srgbClr val="FF0000"/>
                </a:solidFill>
              </a:rPr>
              <a:t>DNA</a:t>
            </a:r>
            <a:r>
              <a:rPr lang="zh-CN" altLang="en-US" dirty="0">
                <a:solidFill>
                  <a:srgbClr val="FF0000"/>
                </a:solidFill>
              </a:rPr>
              <a:t>双螺旋形成以及脂双层形成的主要驱动力</a:t>
            </a:r>
            <a:r>
              <a:rPr lang="zh-CN" altLang="en-US" dirty="0"/>
              <a:t>，也是稳定蛋白质三维结构、</a:t>
            </a:r>
            <a:r>
              <a:rPr lang="en-US" altLang="zh-CN" dirty="0"/>
              <a:t>DNA</a:t>
            </a:r>
            <a:r>
              <a:rPr lang="zh-CN" altLang="en-US" dirty="0"/>
              <a:t>双螺旋和脂双层结构的关键因素。</a:t>
            </a:r>
            <a:endParaRPr lang="en-US" altLang="zh-CN" dirty="0"/>
          </a:p>
          <a:p>
            <a:pPr algn="just"/>
            <a:endParaRPr lang="en-US" altLang="zh-CN" sz="2400" dirty="0"/>
          </a:p>
          <a:p>
            <a:pPr algn="just"/>
            <a:r>
              <a:rPr lang="zh-CN" altLang="en-US" sz="2400" dirty="0"/>
              <a:t>疏水作用力是系统熵增的结果</a:t>
            </a:r>
            <a:endParaRPr lang="en-US" altLang="zh-CN" sz="2400" dirty="0"/>
          </a:p>
          <a:p>
            <a:pPr algn="just"/>
            <a:endParaRPr lang="zh-CN" altLang="en-US" sz="2400" dirty="0"/>
          </a:p>
        </p:txBody>
      </p:sp>
      <p:pic>
        <p:nvPicPr>
          <p:cNvPr id="8" name="图片 7">
            <a:extLst>
              <a:ext uri="{FF2B5EF4-FFF2-40B4-BE49-F238E27FC236}">
                <a16:creationId xmlns:a16="http://schemas.microsoft.com/office/drawing/2014/main" id="{9F574B6D-9D62-4F9B-8666-F91A83BF5ECE}"/>
              </a:ext>
            </a:extLst>
          </p:cNvPr>
          <p:cNvPicPr>
            <a:picLocks noChangeAspect="1"/>
          </p:cNvPicPr>
          <p:nvPr/>
        </p:nvPicPr>
        <p:blipFill>
          <a:blip r:embed="rId3"/>
          <a:stretch>
            <a:fillRect/>
          </a:stretch>
        </p:blipFill>
        <p:spPr>
          <a:xfrm>
            <a:off x="2783632" y="3717033"/>
            <a:ext cx="6624736" cy="2824761"/>
          </a:xfrm>
          <a:prstGeom prst="rect">
            <a:avLst/>
          </a:prstGeom>
        </p:spPr>
      </p:pic>
    </p:spTree>
    <p:extLst>
      <p:ext uri="{BB962C8B-B14F-4D97-AF65-F5344CB8AC3E}">
        <p14:creationId xmlns:p14="http://schemas.microsoft.com/office/powerpoint/2010/main" val="222462091"/>
      </p:ext>
    </p:extLst>
  </p:cSld>
  <p:clrMapOvr>
    <a:masterClrMapping/>
  </p:clrMapOvr>
  <p:transition spd="slow">
    <p:circle/>
  </p:transition>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2034" name="标题 1">
            <a:extLst>
              <a:ext uri="{FF2B5EF4-FFF2-40B4-BE49-F238E27FC236}">
                <a16:creationId xmlns:a16="http://schemas.microsoft.com/office/drawing/2014/main" id="{068BD378-A16E-4BE2-814E-12F577FAEE34}"/>
              </a:ext>
            </a:extLst>
          </p:cNvPr>
          <p:cNvSpPr>
            <a:spLocks noGrp="1" noChangeArrowheads="1"/>
          </p:cNvSpPr>
          <p:nvPr>
            <p:ph type="title"/>
          </p:nvPr>
        </p:nvSpPr>
        <p:spPr>
          <a:xfrm>
            <a:off x="1271588" y="188913"/>
            <a:ext cx="8450263" cy="622300"/>
          </a:xfrm>
        </p:spPr>
        <p:txBody>
          <a:bodyPr/>
          <a:lstStyle/>
          <a:p>
            <a:r>
              <a:rPr lang="zh-CN" altLang="en-US"/>
              <a:t>关于蛋白质结构的共识</a:t>
            </a:r>
          </a:p>
        </p:txBody>
      </p:sp>
      <p:sp>
        <p:nvSpPr>
          <p:cNvPr id="155651" name="内容占位符 2">
            <a:extLst>
              <a:ext uri="{FF2B5EF4-FFF2-40B4-BE49-F238E27FC236}">
                <a16:creationId xmlns:a16="http://schemas.microsoft.com/office/drawing/2014/main" id="{24118A84-7032-4A27-835E-4929D0C89FA8}"/>
              </a:ext>
            </a:extLst>
          </p:cNvPr>
          <p:cNvSpPr>
            <a:spLocks noGrp="1" noChangeArrowheads="1"/>
          </p:cNvSpPr>
          <p:nvPr>
            <p:ph idx="1"/>
          </p:nvPr>
        </p:nvSpPr>
        <p:spPr>
          <a:xfrm>
            <a:off x="911424" y="1340768"/>
            <a:ext cx="10585176" cy="4967758"/>
          </a:xfrm>
        </p:spPr>
        <p:txBody>
          <a:bodyPr/>
          <a:lstStyle/>
          <a:p>
            <a:pPr>
              <a:lnSpc>
                <a:spcPct val="150000"/>
              </a:lnSpc>
              <a:spcBef>
                <a:spcPts val="1200"/>
              </a:spcBef>
              <a:defRPr/>
            </a:pPr>
            <a:r>
              <a:rPr lang="zh-CN" altLang="en-US" sz="2400" dirty="0">
                <a:solidFill>
                  <a:schemeClr val="tx1">
                    <a:lumMod val="50000"/>
                  </a:schemeClr>
                </a:solidFill>
                <a:latin typeface="微软雅黑" panose="020B0503020204020204" pitchFamily="34" charset="-122"/>
                <a:ea typeface="微软雅黑" panose="020B0503020204020204" pitchFamily="34" charset="-122"/>
              </a:rPr>
              <a:t>大多数蛋白质常以</a:t>
            </a:r>
            <a:r>
              <a:rPr lang="zh-CN" altLang="en-US" sz="2400" b="1" dirty="0">
                <a:solidFill>
                  <a:schemeClr val="tx1">
                    <a:lumMod val="50000"/>
                  </a:schemeClr>
                </a:solidFill>
                <a:latin typeface="微软雅黑" panose="020B0503020204020204" pitchFamily="34" charset="-122"/>
                <a:ea typeface="微软雅黑" panose="020B0503020204020204" pitchFamily="34" charset="-122"/>
              </a:rPr>
              <a:t>一种或少数几种稳定的结构</a:t>
            </a:r>
            <a:r>
              <a:rPr lang="zh-CN" altLang="en-US" sz="2400" dirty="0">
                <a:solidFill>
                  <a:schemeClr val="tx1">
                    <a:lumMod val="50000"/>
                  </a:schemeClr>
                </a:solidFill>
                <a:latin typeface="微软雅黑" panose="020B0503020204020204" pitchFamily="34" charset="-122"/>
                <a:ea typeface="微软雅黑" panose="020B0503020204020204" pitchFamily="34" charset="-122"/>
              </a:rPr>
              <a:t>形式存在；</a:t>
            </a:r>
          </a:p>
          <a:p>
            <a:pPr fontAlgn="ctr">
              <a:lnSpc>
                <a:spcPct val="120000"/>
              </a:lnSpc>
              <a:spcBef>
                <a:spcPts val="1200"/>
              </a:spcBef>
              <a:defRPr/>
            </a:pPr>
            <a:r>
              <a:rPr lang="zh-CN" altLang="en-US" sz="2400" dirty="0">
                <a:solidFill>
                  <a:srgbClr val="C00000"/>
                </a:solidFill>
                <a:latin typeface="微软雅黑" panose="020B0503020204020204" pitchFamily="34" charset="-122"/>
                <a:ea typeface="微软雅黑" panose="020B0503020204020204" pitchFamily="34" charset="-122"/>
              </a:rPr>
              <a:t>蛋白质特定构象的稳定</a:t>
            </a:r>
            <a:r>
              <a:rPr lang="zh-CN" altLang="en-US" sz="2400" dirty="0">
                <a:solidFill>
                  <a:srgbClr val="000000"/>
                </a:solidFill>
                <a:latin typeface="微软雅黑" panose="020B0503020204020204" pitchFamily="34" charset="-122"/>
                <a:ea typeface="微软雅黑" panose="020B0503020204020204" pitchFamily="34" charset="-122"/>
              </a:rPr>
              <a:t>依赖于</a:t>
            </a:r>
            <a:r>
              <a:rPr lang="zh-CN" altLang="en-US" sz="2400" b="1" dirty="0">
                <a:solidFill>
                  <a:srgbClr val="C00000"/>
                </a:solidFill>
                <a:latin typeface="微软雅黑" panose="020B0503020204020204" pitchFamily="34" charset="-122"/>
                <a:ea typeface="微软雅黑" panose="020B0503020204020204" pitchFamily="34" charset="-122"/>
              </a:rPr>
              <a:t>非共价键</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即弱相互作用</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a:t>
            </a:r>
            <a:r>
              <a:rPr lang="en-US" altLang="zh-CN" sz="2400" b="1" dirty="0">
                <a:solidFill>
                  <a:srgbClr val="C00000"/>
                </a:solidFill>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非极性基团相互聚集为</a:t>
            </a:r>
            <a:r>
              <a:rPr lang="zh-CN" altLang="en-US" sz="2400" dirty="0">
                <a:solidFill>
                  <a:srgbClr val="C00000"/>
                </a:solidFill>
                <a:latin typeface="微软雅黑" panose="020B0503020204020204" pitchFamily="34" charset="-122"/>
                <a:ea typeface="微软雅黑" panose="020B0503020204020204" pitchFamily="34" charset="-122"/>
              </a:rPr>
              <a:t>疏水内核</a:t>
            </a:r>
            <a:r>
              <a:rPr lang="zh-CN" altLang="en-US" sz="2400" dirty="0">
                <a:latin typeface="微软雅黑" panose="020B0503020204020204" pitchFamily="34" charset="-122"/>
                <a:ea typeface="微软雅黑" panose="020B0503020204020204" pitchFamily="34" charset="-122"/>
              </a:rPr>
              <a:t>（这种体系中水分子熵增，整个体系处于自由能最低状态）是</a:t>
            </a:r>
            <a:r>
              <a:rPr lang="zh-CN" altLang="en-US" sz="2400" dirty="0">
                <a:solidFill>
                  <a:srgbClr val="0000CC"/>
                </a:solidFill>
                <a:latin typeface="微软雅黑" panose="020B0503020204020204" pitchFamily="34" charset="-122"/>
                <a:ea typeface="微软雅黑" panose="020B0503020204020204" pitchFamily="34" charset="-122"/>
              </a:rPr>
              <a:t>可溶性球状蛋白构象稳定的主要因素</a:t>
            </a:r>
            <a:r>
              <a:rPr lang="zh-CN" altLang="en-US" sz="2400" dirty="0">
                <a:latin typeface="微软雅黑" panose="020B0503020204020204" pitchFamily="34" charset="-122"/>
                <a:ea typeface="微软雅黑" panose="020B0503020204020204" pitchFamily="34" charset="-122"/>
              </a:rPr>
              <a:t>。在稳定构象中氢键、离子键均呈最优化状态。</a:t>
            </a:r>
            <a:endParaRPr lang="en-US" altLang="zh-CN" sz="2400" dirty="0">
              <a:latin typeface="微软雅黑" panose="020B0503020204020204" pitchFamily="34" charset="-122"/>
              <a:ea typeface="微软雅黑" panose="020B0503020204020204" pitchFamily="34" charset="-122"/>
            </a:endParaRPr>
          </a:p>
          <a:p>
            <a:pPr>
              <a:lnSpc>
                <a:spcPct val="150000"/>
              </a:lnSpc>
              <a:spcBef>
                <a:spcPts val="1200"/>
              </a:spcBef>
              <a:defRPr/>
            </a:pPr>
            <a:r>
              <a:rPr lang="zh-CN" altLang="en-US" sz="2400" dirty="0">
                <a:solidFill>
                  <a:srgbClr val="C00000"/>
                </a:solidFill>
                <a:latin typeface="微软雅黑" panose="020B0503020204020204" pitchFamily="34" charset="-122"/>
                <a:ea typeface="微软雅黑" panose="020B0503020204020204" pitchFamily="34" charset="-122"/>
              </a:rPr>
              <a:t>蛋白质结构</a:t>
            </a:r>
            <a:r>
              <a:rPr lang="zh-CN" altLang="en-US" sz="2400" b="1" dirty="0">
                <a:solidFill>
                  <a:srgbClr val="C00000"/>
                </a:solidFill>
                <a:latin typeface="微软雅黑" panose="020B0503020204020204" pitchFamily="34" charset="-122"/>
                <a:ea typeface="微软雅黑" panose="020B0503020204020204" pitchFamily="34" charset="-122"/>
              </a:rPr>
              <a:t>不是静态的</a:t>
            </a:r>
            <a:r>
              <a:rPr lang="zh-CN" altLang="en-US" sz="2400" dirty="0">
                <a:solidFill>
                  <a:schemeClr val="tx1">
                    <a:lumMod val="50000"/>
                  </a:schemeClr>
                </a:solidFill>
                <a:latin typeface="微软雅黑" panose="020B0503020204020204" pitchFamily="34" charset="-122"/>
                <a:ea typeface="微软雅黑" panose="020B0503020204020204" pitchFamily="34" charset="-122"/>
              </a:rPr>
              <a:t>；所有的蛋白质都经受着从微小到剧烈的构象变化。 </a:t>
            </a:r>
          </a:p>
          <a:p>
            <a:pPr>
              <a:lnSpc>
                <a:spcPct val="150000"/>
              </a:lnSpc>
              <a:spcBef>
                <a:spcPts val="1200"/>
              </a:spcBef>
              <a:defRPr/>
            </a:pPr>
            <a:r>
              <a:rPr lang="zh-CN" altLang="en-US" sz="2400" dirty="0">
                <a:solidFill>
                  <a:schemeClr val="tx1">
                    <a:lumMod val="50000"/>
                  </a:schemeClr>
                </a:solidFill>
                <a:latin typeface="微软雅黑" panose="020B0503020204020204" pitchFamily="34" charset="-122"/>
                <a:ea typeface="微软雅黑" panose="020B0503020204020204" pitchFamily="34" charset="-122"/>
              </a:rPr>
              <a:t>许多蛋白质</a:t>
            </a:r>
            <a:r>
              <a:rPr lang="en-US" altLang="zh-CN" sz="2400" dirty="0">
                <a:solidFill>
                  <a:schemeClr val="tx1">
                    <a:lumMod val="50000"/>
                  </a:schemeClr>
                </a:solidFill>
                <a:latin typeface="微软雅黑" panose="020B0503020204020204" pitchFamily="34" charset="-122"/>
                <a:ea typeface="微软雅黑" panose="020B0503020204020204" pitchFamily="34" charset="-122"/>
              </a:rPr>
              <a:t>(</a:t>
            </a:r>
            <a:r>
              <a:rPr lang="zh-CN" altLang="en-US" sz="2400" b="1" dirty="0">
                <a:solidFill>
                  <a:schemeClr val="tx1">
                    <a:lumMod val="50000"/>
                  </a:schemeClr>
                </a:solidFill>
                <a:latin typeface="微软雅黑" panose="020B0503020204020204" pitchFamily="34" charset="-122"/>
                <a:ea typeface="微软雅黑" panose="020B0503020204020204" pitchFamily="34" charset="-122"/>
              </a:rPr>
              <a:t>内在无序蛋白</a:t>
            </a:r>
            <a:r>
              <a:rPr lang="zh-CN" altLang="en-US" sz="2400" dirty="0">
                <a:solidFill>
                  <a:schemeClr val="tx1">
                    <a:lumMod val="50000"/>
                  </a:schemeClr>
                </a:solidFill>
                <a:latin typeface="微软雅黑" panose="020B0503020204020204" pitchFamily="34" charset="-122"/>
                <a:ea typeface="微软雅黑" panose="020B0503020204020204" pitchFamily="34" charset="-122"/>
              </a:rPr>
              <a:t>）的</a:t>
            </a:r>
            <a:r>
              <a:rPr lang="zh-CN" altLang="en-US" sz="2400" b="1" dirty="0">
                <a:solidFill>
                  <a:schemeClr val="tx1">
                    <a:lumMod val="50000"/>
                  </a:schemeClr>
                </a:solidFill>
                <a:latin typeface="微软雅黑" panose="020B0503020204020204" pitchFamily="34" charset="-122"/>
                <a:ea typeface="微软雅黑" panose="020B0503020204020204" pitchFamily="34" charset="-122"/>
              </a:rPr>
              <a:t>局部缺乏确定的结构</a:t>
            </a:r>
            <a:r>
              <a:rPr lang="zh-CN" altLang="en-US" sz="2400" dirty="0">
                <a:solidFill>
                  <a:schemeClr val="tx1">
                    <a:lumMod val="50000"/>
                  </a:schemeClr>
                </a:solidFill>
                <a:latin typeface="微软雅黑" panose="020B0503020204020204" pitchFamily="34" charset="-122"/>
                <a:ea typeface="微软雅黑" panose="020B0503020204020204" pitchFamily="34" charset="-122"/>
              </a:rPr>
              <a:t>。 对这些蛋白质来说，缺乏可识别的结构正是其功能之所在。</a:t>
            </a:r>
          </a:p>
          <a:p>
            <a:pPr>
              <a:lnSpc>
                <a:spcPct val="150000"/>
              </a:lnSpc>
              <a:spcBef>
                <a:spcPts val="1200"/>
              </a:spcBef>
              <a:defRPr/>
            </a:pPr>
            <a:endParaRPr lang="zh-CN" altLang="en-US" sz="2400" dirty="0">
              <a:solidFill>
                <a:schemeClr val="tx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565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565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565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56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a:extLst>
              <a:ext uri="{FF2B5EF4-FFF2-40B4-BE49-F238E27FC236}">
                <a16:creationId xmlns:a16="http://schemas.microsoft.com/office/drawing/2014/main" id="{55531533-1FA7-4875-BA81-873426656709}"/>
              </a:ext>
            </a:extLst>
          </p:cNvPr>
          <p:cNvSpPr>
            <a:spLocks noChangeArrowheads="1"/>
          </p:cNvSpPr>
          <p:nvPr/>
        </p:nvSpPr>
        <p:spPr bwMode="auto">
          <a:xfrm>
            <a:off x="1559496" y="1340768"/>
            <a:ext cx="8893175"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60000"/>
              </a:lnSpc>
              <a:buSzPct val="110000"/>
              <a:buFont typeface="Wingdings" panose="05000000000000000000" pitchFamily="2" charset="2"/>
              <a:buNone/>
            </a:pPr>
            <a:r>
              <a:rPr kumimoji="1" lang="zh-CN" altLang="en-US" sz="3200" b="0" dirty="0">
                <a:solidFill>
                  <a:srgbClr val="FF0000"/>
                </a:solidFill>
              </a:rPr>
              <a:t>定义</a:t>
            </a:r>
            <a:r>
              <a:rPr kumimoji="1" lang="en-US" altLang="zh-CN" sz="3200" b="0" dirty="0">
                <a:solidFill>
                  <a:srgbClr val="FF0000"/>
                </a:solidFill>
              </a:rPr>
              <a:t>:</a:t>
            </a:r>
            <a:r>
              <a:rPr kumimoji="1" lang="en-US" altLang="zh-CN" sz="3200" b="0" dirty="0">
                <a:solidFill>
                  <a:srgbClr val="006600"/>
                </a:solidFill>
              </a:rPr>
              <a:t>  </a:t>
            </a:r>
            <a:r>
              <a:rPr kumimoji="1" lang="zh-CN" altLang="en-US" sz="3200" b="0" dirty="0">
                <a:solidFill>
                  <a:schemeClr val="tx1"/>
                </a:solidFill>
              </a:rPr>
              <a:t>指多肽链中氨基酸从</a:t>
            </a:r>
            <a:r>
              <a:rPr kumimoji="1" lang="en-US" altLang="zh-CN" sz="3200" b="0" dirty="0">
                <a:solidFill>
                  <a:schemeClr val="tx1"/>
                </a:solidFill>
              </a:rPr>
              <a:t>N</a:t>
            </a:r>
            <a:r>
              <a:rPr kumimoji="1" lang="zh-CN" altLang="en-US" sz="3200" b="0" dirty="0">
                <a:solidFill>
                  <a:schemeClr val="tx1"/>
                </a:solidFill>
              </a:rPr>
              <a:t>端至</a:t>
            </a:r>
            <a:r>
              <a:rPr kumimoji="1" lang="en-US" altLang="zh-CN" sz="3200" b="0" dirty="0">
                <a:solidFill>
                  <a:schemeClr val="tx1"/>
                </a:solidFill>
              </a:rPr>
              <a:t>C</a:t>
            </a:r>
            <a:r>
              <a:rPr kumimoji="1" lang="zh-CN" altLang="en-US" sz="3200" b="0" dirty="0">
                <a:solidFill>
                  <a:schemeClr val="tx1"/>
                </a:solidFill>
              </a:rPr>
              <a:t>端的排列顺序。</a:t>
            </a:r>
          </a:p>
        </p:txBody>
      </p:sp>
      <p:sp>
        <p:nvSpPr>
          <p:cNvPr id="174083" name="Rectangle 3">
            <a:extLst>
              <a:ext uri="{FF2B5EF4-FFF2-40B4-BE49-F238E27FC236}">
                <a16:creationId xmlns:a16="http://schemas.microsoft.com/office/drawing/2014/main" id="{6DB38F09-1F84-4FEB-BF96-4F8329B30FB6}"/>
              </a:ext>
            </a:extLst>
          </p:cNvPr>
          <p:cNvSpPr>
            <a:spLocks noChangeArrowheads="1"/>
          </p:cNvSpPr>
          <p:nvPr/>
        </p:nvSpPr>
        <p:spPr bwMode="auto">
          <a:xfrm>
            <a:off x="2051050" y="188913"/>
            <a:ext cx="5689600" cy="64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90000" tIns="46800" rIns="90000" bIns="46800">
            <a:spAutoFit/>
          </a:bodyPr>
          <a:lstStyle>
            <a:lvl1pPr marL="2601913" indent="-2601913">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3600">
                <a:solidFill>
                  <a:schemeClr val="bg1"/>
                </a:solidFill>
              </a:rPr>
              <a:t>一、蛋白质的一级结构</a:t>
            </a:r>
          </a:p>
        </p:txBody>
      </p:sp>
      <p:sp>
        <p:nvSpPr>
          <p:cNvPr id="104455" name="Rectangle 7">
            <a:extLst>
              <a:ext uri="{FF2B5EF4-FFF2-40B4-BE49-F238E27FC236}">
                <a16:creationId xmlns:a16="http://schemas.microsoft.com/office/drawing/2014/main" id="{AB3C8400-486F-4414-A94C-5902DE03BDBC}"/>
              </a:ext>
            </a:extLst>
          </p:cNvPr>
          <p:cNvSpPr>
            <a:spLocks noChangeArrowheads="1"/>
          </p:cNvSpPr>
          <p:nvPr/>
        </p:nvSpPr>
        <p:spPr bwMode="auto">
          <a:xfrm>
            <a:off x="1415480" y="2492896"/>
            <a:ext cx="9793088" cy="3672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50000"/>
              </a:lnSpc>
              <a:spcBef>
                <a:spcPts val="600"/>
              </a:spcBef>
              <a:buClr>
                <a:srgbClr val="006600"/>
              </a:buClr>
            </a:pPr>
            <a:r>
              <a:rPr kumimoji="1" lang="zh-CN" altLang="en-US" b="0" dirty="0">
                <a:solidFill>
                  <a:schemeClr val="tx1"/>
                </a:solidFill>
              </a:rPr>
              <a:t>维持蛋白质一级结构的化学键： 肽键</a:t>
            </a:r>
            <a:endParaRPr kumimoji="1" lang="en-US" altLang="zh-CN" b="0" dirty="0">
              <a:solidFill>
                <a:schemeClr val="tx1"/>
              </a:solidFill>
            </a:endParaRPr>
          </a:p>
          <a:p>
            <a:pPr eaLnBrk="1" hangingPunct="1">
              <a:lnSpc>
                <a:spcPct val="150000"/>
              </a:lnSpc>
              <a:spcBef>
                <a:spcPts val="600"/>
              </a:spcBef>
              <a:buClr>
                <a:srgbClr val="006600"/>
              </a:buClr>
            </a:pPr>
            <a:r>
              <a:rPr kumimoji="1" lang="zh-CN" altLang="en-US" b="0" dirty="0">
                <a:solidFill>
                  <a:schemeClr val="tx1"/>
                </a:solidFill>
              </a:rPr>
              <a:t>蛋白质所含多</a:t>
            </a:r>
            <a:r>
              <a:rPr kumimoji="1" lang="zh-CN" altLang="en-US" b="0" dirty="0">
                <a:solidFill>
                  <a:srgbClr val="0000CC"/>
                </a:solidFill>
              </a:rPr>
              <a:t>肽链的数目、二硫键的数目</a:t>
            </a:r>
            <a:r>
              <a:rPr kumimoji="1" lang="zh-CN" altLang="en-US" b="0" dirty="0">
                <a:solidFill>
                  <a:schemeClr val="tx1"/>
                </a:solidFill>
              </a:rPr>
              <a:t>和</a:t>
            </a:r>
            <a:r>
              <a:rPr kumimoji="1" lang="zh-CN" altLang="en-US" b="0" dirty="0">
                <a:solidFill>
                  <a:srgbClr val="0000CC"/>
                </a:solidFill>
              </a:rPr>
              <a:t>位置</a:t>
            </a:r>
            <a:r>
              <a:rPr kumimoji="1" lang="zh-CN" altLang="en-US" b="0" dirty="0">
                <a:solidFill>
                  <a:schemeClr val="tx1"/>
                </a:solidFill>
              </a:rPr>
              <a:t>通常也归入一级结构范畴。</a:t>
            </a:r>
            <a:endParaRPr kumimoji="1" lang="en-US" altLang="zh-CN" b="0" dirty="0">
              <a:solidFill>
                <a:schemeClr val="tx1"/>
              </a:solidFill>
            </a:endParaRPr>
          </a:p>
          <a:p>
            <a:pPr eaLnBrk="1" hangingPunct="1">
              <a:spcBef>
                <a:spcPts val="600"/>
              </a:spcBef>
              <a:buClr>
                <a:srgbClr val="006600"/>
              </a:buClr>
            </a:pPr>
            <a:r>
              <a:rPr kumimoji="1" lang="zh-CN" altLang="en-US" b="0" dirty="0">
                <a:solidFill>
                  <a:srgbClr val="000000"/>
                </a:solidFill>
              </a:rPr>
              <a:t>如果在变性剂的作用下，某蛋白质变性，二硫键被破坏，但没有肽键断裂，请问，该蛋白质的一级结构被破坏了吗？ </a:t>
            </a:r>
            <a:endParaRPr kumimoji="1" lang="en-US" altLang="zh-CN" b="0" dirty="0">
              <a:solidFill>
                <a:srgbClr val="000000"/>
              </a:solidFill>
            </a:endParaRPr>
          </a:p>
          <a:p>
            <a:pPr eaLnBrk="1" hangingPunct="1">
              <a:lnSpc>
                <a:spcPct val="150000"/>
              </a:lnSpc>
              <a:spcBef>
                <a:spcPts val="600"/>
              </a:spcBef>
              <a:buClr>
                <a:srgbClr val="006600"/>
              </a:buClr>
            </a:pPr>
            <a:r>
              <a:rPr kumimoji="1" lang="zh-CN" altLang="en-US" sz="3200" b="0" dirty="0">
                <a:solidFill>
                  <a:schemeClr val="tx1"/>
                </a:solidFill>
              </a:rPr>
              <a:t>蛋白质的</a:t>
            </a:r>
            <a:r>
              <a:rPr lang="zh-CN" altLang="en-US" sz="3200" b="0" dirty="0">
                <a:solidFill>
                  <a:schemeClr val="tx1"/>
                </a:solidFill>
              </a:rPr>
              <a:t>一级结构是由遗传信息来决定的</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4455">
                                            <p:txEl>
                                              <p:pRg st="0" end="0"/>
                                            </p:txEl>
                                          </p:spTgt>
                                        </p:tgtEl>
                                        <p:attrNameLst>
                                          <p:attrName>style.visibility</p:attrName>
                                        </p:attrNameLst>
                                      </p:cBhvr>
                                      <p:to>
                                        <p:strVal val="visible"/>
                                      </p:to>
                                    </p:set>
                                    <p:animEffect transition="in" filter="fade">
                                      <p:cBhvr>
                                        <p:cTn id="7" dur="500"/>
                                        <p:tgtEl>
                                          <p:spTgt spid="1044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4455">
                                            <p:txEl>
                                              <p:pRg st="1" end="1"/>
                                            </p:txEl>
                                          </p:spTgt>
                                        </p:tgtEl>
                                        <p:attrNameLst>
                                          <p:attrName>style.visibility</p:attrName>
                                        </p:attrNameLst>
                                      </p:cBhvr>
                                      <p:to>
                                        <p:strVal val="visible"/>
                                      </p:to>
                                    </p:set>
                                    <p:animEffect transition="in" filter="fade">
                                      <p:cBhvr>
                                        <p:cTn id="12" dur="500"/>
                                        <p:tgtEl>
                                          <p:spTgt spid="1044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04455">
                                            <p:txEl>
                                              <p:pRg st="2" end="2"/>
                                            </p:txEl>
                                          </p:spTgt>
                                        </p:tgtEl>
                                        <p:attrNameLst>
                                          <p:attrName>style.visibility</p:attrName>
                                        </p:attrNameLst>
                                      </p:cBhvr>
                                      <p:to>
                                        <p:strVal val="visible"/>
                                      </p:to>
                                    </p:set>
                                    <p:animEffect transition="in" filter="fade">
                                      <p:cBhvr>
                                        <p:cTn id="17" dur="500"/>
                                        <p:tgtEl>
                                          <p:spTgt spid="10445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104455">
                                            <p:txEl>
                                              <p:pRg st="3" end="3"/>
                                            </p:txEl>
                                          </p:spTgt>
                                        </p:tgtEl>
                                        <p:attrNameLst>
                                          <p:attrName>style.visibility</p:attrName>
                                        </p:attrNameLst>
                                      </p:cBhvr>
                                      <p:to>
                                        <p:strVal val="visible"/>
                                      </p:to>
                                    </p:set>
                                    <p:animEffect transition="in" filter="fade">
                                      <p:cBhvr>
                                        <p:cTn id="22" dur="500"/>
                                        <p:tgtEl>
                                          <p:spTgt spid="10445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6130" name="图片 1">
            <a:extLst>
              <a:ext uri="{FF2B5EF4-FFF2-40B4-BE49-F238E27FC236}">
                <a16:creationId xmlns:a16="http://schemas.microsoft.com/office/drawing/2014/main" id="{FE66DA7E-908C-4C22-8B4D-B8D60CA07A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91649" y="260350"/>
            <a:ext cx="1738312" cy="633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6131" name="Text Box 8">
            <a:extLst>
              <a:ext uri="{FF2B5EF4-FFF2-40B4-BE49-F238E27FC236}">
                <a16:creationId xmlns:a16="http://schemas.microsoft.com/office/drawing/2014/main" id="{B642EC27-6545-4582-9A62-53366D065D4B}"/>
              </a:ext>
            </a:extLst>
          </p:cNvPr>
          <p:cNvSpPr txBox="1">
            <a:spLocks noChangeArrowheads="1"/>
          </p:cNvSpPr>
          <p:nvPr/>
        </p:nvSpPr>
        <p:spPr bwMode="auto">
          <a:xfrm>
            <a:off x="1487487" y="1074738"/>
            <a:ext cx="5616576"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indent="442913">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just" eaLnBrk="1" hangingPunct="1">
              <a:spcBef>
                <a:spcPct val="0"/>
              </a:spcBef>
              <a:buClr>
                <a:srgbClr val="006600"/>
              </a:buClr>
              <a:buFont typeface="Wingdings" panose="05000000000000000000" pitchFamily="2" charset="2"/>
              <a:buChar char="u"/>
            </a:pPr>
            <a:r>
              <a:rPr kumimoji="1" lang="en-US" altLang="zh-CN" sz="2400" dirty="0">
                <a:solidFill>
                  <a:schemeClr val="tx1"/>
                </a:solidFill>
              </a:rPr>
              <a:t>1953</a:t>
            </a:r>
            <a:r>
              <a:rPr kumimoji="1" lang="zh-CN" altLang="en-US" sz="2400" dirty="0">
                <a:solidFill>
                  <a:schemeClr val="tx1"/>
                </a:solidFill>
              </a:rPr>
              <a:t>年</a:t>
            </a:r>
            <a:r>
              <a:rPr kumimoji="1" lang="en-US" altLang="zh-CN" sz="2400" dirty="0">
                <a:solidFill>
                  <a:schemeClr val="tx1"/>
                </a:solidFill>
              </a:rPr>
              <a:t>Sanger</a:t>
            </a:r>
            <a:r>
              <a:rPr kumimoji="1" lang="zh-CN" altLang="en-US" sz="2400" dirty="0">
                <a:solidFill>
                  <a:schemeClr val="tx1"/>
                </a:solidFill>
              </a:rPr>
              <a:t>阐明</a:t>
            </a:r>
            <a:r>
              <a:rPr kumimoji="1" lang="zh-CN" altLang="en-US" sz="2400" dirty="0">
                <a:solidFill>
                  <a:srgbClr val="C00000"/>
                </a:solidFill>
              </a:rPr>
              <a:t>牛胰岛素</a:t>
            </a:r>
            <a:r>
              <a:rPr kumimoji="1" lang="zh-CN" altLang="en-US" sz="2400" dirty="0">
                <a:solidFill>
                  <a:schemeClr val="tx1"/>
                </a:solidFill>
              </a:rPr>
              <a:t>一级结构</a:t>
            </a:r>
          </a:p>
        </p:txBody>
      </p:sp>
      <p:sp>
        <p:nvSpPr>
          <p:cNvPr id="176132" name="Rectangle 12">
            <a:extLst>
              <a:ext uri="{FF2B5EF4-FFF2-40B4-BE49-F238E27FC236}">
                <a16:creationId xmlns:a16="http://schemas.microsoft.com/office/drawing/2014/main" id="{C571C6F0-906F-45D9-B141-598D399FE738}"/>
              </a:ext>
            </a:extLst>
          </p:cNvPr>
          <p:cNvSpPr>
            <a:spLocks noChangeArrowheads="1"/>
          </p:cNvSpPr>
          <p:nvPr/>
        </p:nvSpPr>
        <p:spPr bwMode="auto">
          <a:xfrm>
            <a:off x="1630363" y="174625"/>
            <a:ext cx="5905500" cy="584200"/>
          </a:xfrm>
          <a:prstGeom prst="rect">
            <a:avLst/>
          </a:prstGeom>
          <a:solidFill>
            <a:srgbClr val="1C77CA"/>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lang="zh-CN" altLang="en-US" sz="3200">
                <a:solidFill>
                  <a:schemeClr val="bg1"/>
                </a:solidFill>
                <a:latin typeface="Arial" panose="020B0604020202020204" pitchFamily="34" charset="0"/>
              </a:rPr>
              <a:t>一级结构最早被破解的蛋白质</a:t>
            </a:r>
          </a:p>
        </p:txBody>
      </p:sp>
      <p:pic>
        <p:nvPicPr>
          <p:cNvPr id="458767" name="Picture 15" descr="zhangf2103200781714211622203">
            <a:extLst>
              <a:ext uri="{FF2B5EF4-FFF2-40B4-BE49-F238E27FC236}">
                <a16:creationId xmlns:a16="http://schemas.microsoft.com/office/drawing/2014/main" id="{5279D33D-290B-4BF5-887E-A9F0B0BBE3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12857" y="841999"/>
            <a:ext cx="3708400" cy="540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8768" name="Rectangle 16">
            <a:extLst>
              <a:ext uri="{FF2B5EF4-FFF2-40B4-BE49-F238E27FC236}">
                <a16:creationId xmlns:a16="http://schemas.microsoft.com/office/drawing/2014/main" id="{5F254169-D8C9-42A5-8292-53A936912881}"/>
              </a:ext>
            </a:extLst>
          </p:cNvPr>
          <p:cNvSpPr>
            <a:spLocks noChangeArrowheads="1"/>
          </p:cNvSpPr>
          <p:nvPr/>
        </p:nvSpPr>
        <p:spPr bwMode="auto">
          <a:xfrm>
            <a:off x="1847528" y="5808213"/>
            <a:ext cx="6352596" cy="439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square"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80000"/>
              </a:lnSpc>
              <a:spcBef>
                <a:spcPct val="50000"/>
              </a:spcBef>
              <a:buSzPct val="110000"/>
              <a:buFontTx/>
              <a:buNone/>
            </a:pPr>
            <a:r>
              <a:rPr kumimoji="1" lang="zh-CN" altLang="en-US" dirty="0">
                <a:solidFill>
                  <a:srgbClr val="0000CC"/>
                </a:solidFill>
              </a:rPr>
              <a:t>维持蛋白质一级结构的化学键</a:t>
            </a:r>
            <a:r>
              <a:rPr kumimoji="1" lang="en-US" altLang="zh-CN" dirty="0">
                <a:solidFill>
                  <a:srgbClr val="0000CC"/>
                </a:solidFill>
              </a:rPr>
              <a:t>:  </a:t>
            </a:r>
            <a:r>
              <a:rPr kumimoji="1" lang="zh-CN" altLang="en-US" dirty="0">
                <a:solidFill>
                  <a:srgbClr val="FF0000"/>
                </a:solidFill>
              </a:rPr>
              <a:t>肽键</a:t>
            </a:r>
          </a:p>
        </p:txBody>
      </p:sp>
      <p:pic>
        <p:nvPicPr>
          <p:cNvPr id="176135" name="图片 1">
            <a:extLst>
              <a:ext uri="{FF2B5EF4-FFF2-40B4-BE49-F238E27FC236}">
                <a16:creationId xmlns:a16="http://schemas.microsoft.com/office/drawing/2014/main" id="{92E6B381-50EC-418A-AB0C-11FC3FEEC05B}"/>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919288" y="1703388"/>
            <a:ext cx="2095500" cy="278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6136" name="矩形 2">
            <a:extLst>
              <a:ext uri="{FF2B5EF4-FFF2-40B4-BE49-F238E27FC236}">
                <a16:creationId xmlns:a16="http://schemas.microsoft.com/office/drawing/2014/main" id="{89C84CB6-8702-417B-BB9A-1ED090803B0A}"/>
              </a:ext>
            </a:extLst>
          </p:cNvPr>
          <p:cNvSpPr>
            <a:spLocks noChangeArrowheads="1"/>
          </p:cNvSpPr>
          <p:nvPr/>
        </p:nvSpPr>
        <p:spPr bwMode="auto">
          <a:xfrm>
            <a:off x="1954213" y="4467225"/>
            <a:ext cx="17573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n-US" altLang="zh-CN" sz="1600" b="0">
                <a:solidFill>
                  <a:schemeClr val="tx1"/>
                </a:solidFill>
                <a:latin typeface="Arial" panose="020B0604020202020204" pitchFamily="34" charset="0"/>
                <a:ea typeface="宋体" panose="02010600030101010101" pitchFamily="2" charset="-122"/>
              </a:rPr>
              <a:t>Frederick Sanger</a:t>
            </a:r>
          </a:p>
          <a:p>
            <a:pPr>
              <a:spcBef>
                <a:spcPct val="0"/>
              </a:spcBef>
              <a:buClrTx/>
              <a:buFontTx/>
              <a:buNone/>
            </a:pPr>
            <a:r>
              <a:rPr lang="zh-CN" altLang="en-US" sz="1600" b="0">
                <a:solidFill>
                  <a:schemeClr val="tx1"/>
                </a:solidFill>
                <a:latin typeface="Arial" panose="020B0604020202020204" pitchFamily="34" charset="0"/>
                <a:ea typeface="宋体" panose="02010600030101010101" pitchFamily="2" charset="-122"/>
              </a:rPr>
              <a:t>（</a:t>
            </a:r>
            <a:r>
              <a:rPr lang="en-US" altLang="zh-CN" sz="1600" b="0">
                <a:solidFill>
                  <a:schemeClr val="tx1"/>
                </a:solidFill>
                <a:latin typeface="Arial" panose="020B0604020202020204" pitchFamily="34" charset="0"/>
                <a:ea typeface="宋体" panose="02010600030101010101" pitchFamily="2" charset="-122"/>
              </a:rPr>
              <a:t>1918-2013</a:t>
            </a:r>
            <a:r>
              <a:rPr lang="zh-CN" altLang="en-US" sz="1600" b="0">
                <a:solidFill>
                  <a:schemeClr val="tx1"/>
                </a:solidFill>
                <a:latin typeface="Arial" panose="020B0604020202020204" pitchFamily="34" charset="0"/>
                <a:ea typeface="宋体" panose="02010600030101010101" pitchFamily="2" charset="-122"/>
              </a:rPr>
              <a:t>）</a:t>
            </a:r>
          </a:p>
        </p:txBody>
      </p:sp>
      <p:sp>
        <p:nvSpPr>
          <p:cNvPr id="176137" name="矩形 3">
            <a:extLst>
              <a:ext uri="{FF2B5EF4-FFF2-40B4-BE49-F238E27FC236}">
                <a16:creationId xmlns:a16="http://schemas.microsoft.com/office/drawing/2014/main" id="{8860CED9-F5B6-4302-9B6B-B0EC284D6ACB}"/>
              </a:ext>
            </a:extLst>
          </p:cNvPr>
          <p:cNvSpPr>
            <a:spLocks noChangeArrowheads="1"/>
          </p:cNvSpPr>
          <p:nvPr/>
        </p:nvSpPr>
        <p:spPr bwMode="auto">
          <a:xfrm>
            <a:off x="4200525" y="2016126"/>
            <a:ext cx="3335338"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n-US" altLang="zh-CN" sz="2000" b="0" dirty="0">
                <a:solidFill>
                  <a:schemeClr val="tx1"/>
                </a:solidFill>
                <a:latin typeface="Arial" panose="020B0604020202020204" pitchFamily="34" charset="0"/>
                <a:ea typeface="宋体" panose="02010600030101010101" pitchFamily="2" charset="-122"/>
              </a:rPr>
              <a:t>1958</a:t>
            </a:r>
            <a:r>
              <a:rPr lang="zh-CN" altLang="en-US" sz="2000" b="0" dirty="0">
                <a:solidFill>
                  <a:schemeClr val="tx1"/>
                </a:solidFill>
                <a:latin typeface="Arial" panose="020B0604020202020204" pitchFamily="34" charset="0"/>
                <a:ea typeface="宋体" panose="02010600030101010101" pitchFamily="2" charset="-122"/>
              </a:rPr>
              <a:t>年因</a:t>
            </a:r>
            <a:r>
              <a:rPr lang="zh-CN" altLang="en-US" sz="2000" dirty="0">
                <a:solidFill>
                  <a:schemeClr val="tx1"/>
                </a:solidFill>
                <a:latin typeface="Arial" panose="020B0604020202020204" pitchFamily="34" charset="0"/>
                <a:ea typeface="宋体" panose="02010600030101010101" pitchFamily="2" charset="-122"/>
              </a:rPr>
              <a:t>蛋白测序</a:t>
            </a:r>
            <a:r>
              <a:rPr lang="zh-CN" altLang="en-US" sz="2000" b="0" dirty="0">
                <a:solidFill>
                  <a:schemeClr val="tx1"/>
                </a:solidFill>
                <a:latin typeface="Arial" panose="020B0604020202020204" pitchFamily="34" charset="0"/>
                <a:ea typeface="宋体" panose="02010600030101010101" pitchFamily="2" charset="-122"/>
              </a:rPr>
              <a:t>获诺贝尔化学奖</a:t>
            </a:r>
            <a:endParaRPr lang="en-US" altLang="zh-CN" sz="2000" b="0" dirty="0">
              <a:solidFill>
                <a:schemeClr val="tx1"/>
              </a:solidFill>
              <a:latin typeface="Arial" panose="020B0604020202020204" pitchFamily="34" charset="0"/>
              <a:ea typeface="宋体" panose="02010600030101010101" pitchFamily="2" charset="-122"/>
            </a:endParaRPr>
          </a:p>
          <a:p>
            <a:pPr>
              <a:spcBef>
                <a:spcPct val="0"/>
              </a:spcBef>
              <a:buClrTx/>
              <a:buFontTx/>
              <a:buNone/>
            </a:pPr>
            <a:r>
              <a:rPr lang="en-US" altLang="zh-CN" sz="2000" b="0" dirty="0">
                <a:solidFill>
                  <a:schemeClr val="tx1"/>
                </a:solidFill>
                <a:latin typeface="Arial" panose="020B0604020202020204" pitchFamily="34" charset="0"/>
                <a:ea typeface="宋体" panose="02010600030101010101" pitchFamily="2" charset="-122"/>
              </a:rPr>
              <a:t>1980</a:t>
            </a:r>
            <a:r>
              <a:rPr lang="zh-CN" altLang="en-US" sz="2000" b="0" dirty="0">
                <a:solidFill>
                  <a:schemeClr val="tx1"/>
                </a:solidFill>
                <a:latin typeface="Arial" panose="020B0604020202020204" pitchFamily="34" charset="0"/>
                <a:ea typeface="宋体" panose="02010600030101010101" pitchFamily="2" charset="-122"/>
              </a:rPr>
              <a:t>年因发明</a:t>
            </a:r>
            <a:r>
              <a:rPr lang="zh-CN" altLang="en-US" sz="2000" dirty="0">
                <a:solidFill>
                  <a:schemeClr val="tx1"/>
                </a:solidFill>
                <a:latin typeface="Arial" panose="020B0604020202020204" pitchFamily="34" charset="0"/>
                <a:ea typeface="宋体" panose="02010600030101010101" pitchFamily="2" charset="-122"/>
              </a:rPr>
              <a:t>核酸测序</a:t>
            </a:r>
            <a:r>
              <a:rPr lang="zh-CN" altLang="en-US" sz="2000" b="0" dirty="0">
                <a:solidFill>
                  <a:schemeClr val="tx1"/>
                </a:solidFill>
                <a:latin typeface="Arial" panose="020B0604020202020204" pitchFamily="34" charset="0"/>
                <a:ea typeface="宋体" panose="02010600030101010101" pitchFamily="2" charset="-122"/>
              </a:rPr>
              <a:t>技术再获诺贝尔化学奖</a:t>
            </a:r>
            <a:endParaRPr lang="en-US" altLang="zh-CN" sz="2000" b="0" dirty="0">
              <a:solidFill>
                <a:schemeClr val="tx1"/>
              </a:solidFill>
              <a:latin typeface="Arial" panose="020B0604020202020204" pitchFamily="34" charset="0"/>
              <a:ea typeface="宋体" panose="02010600030101010101" pitchFamily="2" charset="-122"/>
            </a:endParaRPr>
          </a:p>
          <a:p>
            <a:pPr>
              <a:spcBef>
                <a:spcPct val="0"/>
              </a:spcBef>
              <a:buClrTx/>
              <a:buFontTx/>
              <a:buNone/>
            </a:pPr>
            <a:endParaRPr lang="en-US" altLang="zh-CN" sz="2000" b="0" dirty="0">
              <a:solidFill>
                <a:schemeClr val="tx1"/>
              </a:solidFill>
              <a:latin typeface="Arial" panose="020B0604020202020204" pitchFamily="34" charset="0"/>
              <a:ea typeface="宋体" panose="02010600030101010101" pitchFamily="2" charset="-122"/>
            </a:endParaRPr>
          </a:p>
          <a:p>
            <a:pPr>
              <a:spcBef>
                <a:spcPct val="0"/>
              </a:spcBef>
              <a:buClrTx/>
              <a:buFontTx/>
              <a:buNone/>
            </a:pPr>
            <a:r>
              <a:rPr lang="zh-CN" altLang="en-US" sz="2000" b="0" dirty="0">
                <a:solidFill>
                  <a:schemeClr val="tx1"/>
                </a:solidFill>
                <a:latin typeface="Arial" panose="020B0604020202020204" pitchFamily="34" charset="0"/>
                <a:ea typeface="宋体" panose="02010600030101010101" pitchFamily="2" charset="-122"/>
              </a:rPr>
              <a:t>目前为止</a:t>
            </a:r>
            <a:r>
              <a:rPr lang="en-US" altLang="zh-CN" sz="2000" b="0" dirty="0">
                <a:solidFill>
                  <a:schemeClr val="tx1"/>
                </a:solidFill>
                <a:latin typeface="Arial" panose="020B0604020202020204" pitchFamily="34" charset="0"/>
                <a:ea typeface="宋体" panose="02010600030101010101" pitchFamily="2" charset="-122"/>
              </a:rPr>
              <a:t>5</a:t>
            </a:r>
            <a:r>
              <a:rPr lang="zh-CN" altLang="en-US" sz="2000" b="0" dirty="0">
                <a:solidFill>
                  <a:schemeClr val="tx1"/>
                </a:solidFill>
                <a:latin typeface="Arial" panose="020B0604020202020204" pitchFamily="34" charset="0"/>
                <a:ea typeface="宋体" panose="02010600030101010101" pitchFamily="2" charset="-122"/>
              </a:rPr>
              <a:t>位两获诺奖的科学家之一</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58767"/>
                                        </p:tgtEl>
                                        <p:attrNameLst>
                                          <p:attrName>style.visibility</p:attrName>
                                        </p:attrNameLst>
                                      </p:cBhvr>
                                      <p:to>
                                        <p:strVal val="visible"/>
                                      </p:to>
                                    </p:set>
                                    <p:animEffect transition="in" filter="checkerboard(across)">
                                      <p:cBhvr>
                                        <p:cTn id="7" dur="500"/>
                                        <p:tgtEl>
                                          <p:spTgt spid="4587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8178" name="图片 1">
            <a:extLst>
              <a:ext uri="{FF2B5EF4-FFF2-40B4-BE49-F238E27FC236}">
                <a16:creationId xmlns:a16="http://schemas.microsoft.com/office/drawing/2014/main" id="{BFD0198D-6FFC-4A97-ACC8-634D8B6DCD7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19288" y="1196975"/>
            <a:ext cx="8280400"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8179" name="标题 3">
            <a:extLst>
              <a:ext uri="{FF2B5EF4-FFF2-40B4-BE49-F238E27FC236}">
                <a16:creationId xmlns:a16="http://schemas.microsoft.com/office/drawing/2014/main" id="{6F0E3E61-B8C3-4AB0-8FC8-AAACF7D6A0DC}"/>
              </a:ext>
            </a:extLst>
          </p:cNvPr>
          <p:cNvSpPr>
            <a:spLocks noGrp="1" noChangeArrowheads="1"/>
          </p:cNvSpPr>
          <p:nvPr>
            <p:ph type="title"/>
          </p:nvPr>
        </p:nvSpPr>
        <p:spPr>
          <a:xfrm>
            <a:off x="1524001" y="260351"/>
            <a:ext cx="7800975" cy="411163"/>
          </a:xfrm>
        </p:spPr>
        <p:txBody>
          <a:bodyPr/>
          <a:lstStyle/>
          <a:p>
            <a:r>
              <a:rPr lang="zh-CN" altLang="en-US"/>
              <a:t>人胰岛素与牛胰岛素结构类似</a:t>
            </a:r>
          </a:p>
        </p:txBody>
      </p:sp>
      <p:sp>
        <p:nvSpPr>
          <p:cNvPr id="5" name="内容占位符 4">
            <a:extLst>
              <a:ext uri="{FF2B5EF4-FFF2-40B4-BE49-F238E27FC236}">
                <a16:creationId xmlns:a16="http://schemas.microsoft.com/office/drawing/2014/main" id="{90FBF7B8-ABEC-4A1D-AC2D-2CF38EF07503}"/>
              </a:ext>
            </a:extLst>
          </p:cNvPr>
          <p:cNvSpPr>
            <a:spLocks noGrp="1"/>
          </p:cNvSpPr>
          <p:nvPr>
            <p:ph idx="1"/>
          </p:nvPr>
        </p:nvSpPr>
        <p:spPr>
          <a:xfrm>
            <a:off x="2608264" y="5230814"/>
            <a:ext cx="7494587" cy="1023937"/>
          </a:xfrm>
        </p:spPr>
        <p:txBody>
          <a:bodyPr/>
          <a:lstStyle/>
          <a:p>
            <a:pPr marL="0" indent="0">
              <a:buNone/>
              <a:defRPr/>
            </a:pPr>
            <a:r>
              <a:rPr lang="zh-CN" altLang="en-US" sz="2400" dirty="0">
                <a:solidFill>
                  <a:schemeClr val="tx1">
                    <a:lumMod val="75000"/>
                  </a:schemeClr>
                </a:solidFill>
              </a:rPr>
              <a:t>牛胰岛素与人胰岛素有三个氨基酸的差别（</a:t>
            </a:r>
            <a:r>
              <a:rPr lang="zh-CN" altLang="en-US" sz="2400" dirty="0">
                <a:solidFill>
                  <a:srgbClr val="006600"/>
                </a:solidFill>
              </a:rPr>
              <a:t>绿色</a:t>
            </a:r>
            <a:r>
              <a:rPr lang="zh-CN" altLang="en-US" sz="2400" dirty="0">
                <a:solidFill>
                  <a:schemeClr val="tx1">
                    <a:lumMod val="75000"/>
                  </a:schemeClr>
                </a:solidFill>
              </a:rPr>
              <a:t>），</a:t>
            </a:r>
            <a:endParaRPr lang="en-US" altLang="zh-CN" sz="2400" dirty="0">
              <a:solidFill>
                <a:schemeClr val="tx1">
                  <a:lumMod val="75000"/>
                </a:schemeClr>
              </a:solidFill>
            </a:endParaRPr>
          </a:p>
          <a:p>
            <a:pPr marL="0" indent="0">
              <a:buNone/>
              <a:defRPr/>
            </a:pPr>
            <a:r>
              <a:rPr lang="zh-CN" altLang="en-US" sz="2400" dirty="0">
                <a:solidFill>
                  <a:schemeClr val="tx1">
                    <a:lumMod val="75000"/>
                  </a:schemeClr>
                </a:solidFill>
              </a:rPr>
              <a:t>猪胰岛素与人胰岛素仅有一个氨基酸的差别（</a:t>
            </a:r>
            <a:r>
              <a:rPr lang="zh-CN" altLang="en-US" sz="2400" dirty="0">
                <a:solidFill>
                  <a:srgbClr val="C00000"/>
                </a:solidFill>
              </a:rPr>
              <a:t>红色</a:t>
            </a:r>
            <a:r>
              <a:rPr lang="zh-CN" altLang="en-US" sz="2400" dirty="0">
                <a:solidFill>
                  <a:schemeClr val="tx1">
                    <a:lumMod val="75000"/>
                  </a:schemeClr>
                </a:solidFill>
              </a:rPr>
              <a:t>）</a:t>
            </a:r>
          </a:p>
          <a:p>
            <a:pPr>
              <a:defRPr/>
            </a:pPr>
            <a:endParaRPr lang="zh-CN" altLang="en-US" sz="2400" dirty="0">
              <a:solidFill>
                <a:schemeClr val="tx1">
                  <a:lumMod val="75000"/>
                </a:schemeClr>
              </a:solidFill>
            </a:endParaRPr>
          </a:p>
        </p:txBody>
      </p:sp>
      <p:sp>
        <p:nvSpPr>
          <p:cNvPr id="178181" name="文本框 2">
            <a:extLst>
              <a:ext uri="{FF2B5EF4-FFF2-40B4-BE49-F238E27FC236}">
                <a16:creationId xmlns:a16="http://schemas.microsoft.com/office/drawing/2014/main" id="{003F4EF1-B7F3-465C-BCF9-EB90321B4F9D}"/>
              </a:ext>
            </a:extLst>
          </p:cNvPr>
          <p:cNvSpPr txBox="1">
            <a:spLocks noChangeArrowheads="1"/>
          </p:cNvSpPr>
          <p:nvPr/>
        </p:nvSpPr>
        <p:spPr bwMode="auto">
          <a:xfrm>
            <a:off x="4656139" y="1927226"/>
            <a:ext cx="50323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n-US" altLang="zh-CN" sz="1200" b="0">
                <a:solidFill>
                  <a:schemeClr val="tx1"/>
                </a:solidFill>
                <a:latin typeface="Arial" panose="020B0604020202020204" pitchFamily="34" charset="0"/>
                <a:ea typeface="宋体" panose="02010600030101010101" pitchFamily="2" charset="-122"/>
              </a:rPr>
              <a:t>Ala</a:t>
            </a:r>
            <a:endParaRPr lang="zh-CN" altLang="en-US" sz="1200" b="0">
              <a:solidFill>
                <a:schemeClr val="tx1"/>
              </a:solidFill>
              <a:latin typeface="Arial" panose="020B0604020202020204" pitchFamily="34" charset="0"/>
              <a:ea typeface="宋体" panose="02010600030101010101" pitchFamily="2" charset="-122"/>
            </a:endParaRPr>
          </a:p>
        </p:txBody>
      </p:sp>
    </p:spTree>
  </p:cSld>
  <p:clrMapOvr>
    <a:masterClrMapping/>
  </p:clrMapOvr>
  <p:transition spd="slow">
    <p:circle/>
  </p:transition>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0226" name="标题 1">
            <a:extLst>
              <a:ext uri="{FF2B5EF4-FFF2-40B4-BE49-F238E27FC236}">
                <a16:creationId xmlns:a16="http://schemas.microsoft.com/office/drawing/2014/main" id="{6164A919-AE38-4D1A-A1FF-84328CD643C7}"/>
              </a:ext>
            </a:extLst>
          </p:cNvPr>
          <p:cNvSpPr>
            <a:spLocks noGrp="1" noChangeArrowheads="1"/>
          </p:cNvSpPr>
          <p:nvPr>
            <p:ph type="title"/>
          </p:nvPr>
        </p:nvSpPr>
        <p:spPr>
          <a:xfrm>
            <a:off x="1703389" y="188913"/>
            <a:ext cx="7056437" cy="563562"/>
          </a:xfrm>
        </p:spPr>
        <p:txBody>
          <a:bodyPr/>
          <a:lstStyle/>
          <a:p>
            <a:pPr algn="ctr"/>
            <a:r>
              <a:rPr lang="zh-CN" altLang="en-US"/>
              <a:t>部分蛋白质的大小</a:t>
            </a:r>
          </a:p>
        </p:txBody>
      </p:sp>
      <p:pic>
        <p:nvPicPr>
          <p:cNvPr id="180227" name="图片 2">
            <a:extLst>
              <a:ext uri="{FF2B5EF4-FFF2-40B4-BE49-F238E27FC236}">
                <a16:creationId xmlns:a16="http://schemas.microsoft.com/office/drawing/2014/main" id="{A9D04693-07C6-4D25-B81C-1C16AF21CEB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31949" y="1196974"/>
            <a:ext cx="8873571" cy="5112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0228" name="矩形 1">
            <a:extLst>
              <a:ext uri="{FF2B5EF4-FFF2-40B4-BE49-F238E27FC236}">
                <a16:creationId xmlns:a16="http://schemas.microsoft.com/office/drawing/2014/main" id="{6E0D1B01-EE77-4634-8039-A004E29AEB99}"/>
              </a:ext>
            </a:extLst>
          </p:cNvPr>
          <p:cNvSpPr>
            <a:spLocks noChangeArrowheads="1"/>
          </p:cNvSpPr>
          <p:nvPr/>
        </p:nvSpPr>
        <p:spPr bwMode="auto">
          <a:xfrm>
            <a:off x="3432177" y="5899149"/>
            <a:ext cx="1207494" cy="400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sz="2000" b="0">
                <a:solidFill>
                  <a:srgbClr val="C00000"/>
                </a:solidFill>
                <a:latin typeface="Arial" panose="020B0604020202020204" pitchFamily="34" charset="0"/>
                <a:ea typeface="宋体" panose="02010600030101010101" pitchFamily="2" charset="-122"/>
              </a:rPr>
              <a:t>肌联蛋白</a:t>
            </a:r>
          </a:p>
        </p:txBody>
      </p:sp>
      <p:sp>
        <p:nvSpPr>
          <p:cNvPr id="180229" name="矩形 4">
            <a:extLst>
              <a:ext uri="{FF2B5EF4-FFF2-40B4-BE49-F238E27FC236}">
                <a16:creationId xmlns:a16="http://schemas.microsoft.com/office/drawing/2014/main" id="{CA3CBDC9-9C08-4EE5-A213-44803BE13D5A}"/>
              </a:ext>
            </a:extLst>
          </p:cNvPr>
          <p:cNvSpPr>
            <a:spLocks noChangeArrowheads="1"/>
          </p:cNvSpPr>
          <p:nvPr/>
        </p:nvSpPr>
        <p:spPr bwMode="auto">
          <a:xfrm>
            <a:off x="4224338" y="4221162"/>
            <a:ext cx="1464205" cy="400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sz="2000" b="0">
                <a:solidFill>
                  <a:schemeClr val="tx1"/>
                </a:solidFill>
                <a:latin typeface="Arial" panose="020B0604020202020204" pitchFamily="34" charset="0"/>
                <a:ea typeface="宋体" panose="02010600030101010101" pitchFamily="2" charset="-122"/>
              </a:rPr>
              <a:t>血清白蛋白</a:t>
            </a:r>
          </a:p>
        </p:txBody>
      </p:sp>
      <p:sp>
        <p:nvSpPr>
          <p:cNvPr id="180230" name="矩形 5">
            <a:extLst>
              <a:ext uri="{FF2B5EF4-FFF2-40B4-BE49-F238E27FC236}">
                <a16:creationId xmlns:a16="http://schemas.microsoft.com/office/drawing/2014/main" id="{4ECBAE9A-5CE0-4AB7-8CD6-45CF8C96F3C5}"/>
              </a:ext>
            </a:extLst>
          </p:cNvPr>
          <p:cNvSpPr>
            <a:spLocks noChangeArrowheads="1"/>
          </p:cNvSpPr>
          <p:nvPr/>
        </p:nvSpPr>
        <p:spPr bwMode="auto">
          <a:xfrm>
            <a:off x="4014788" y="3933824"/>
            <a:ext cx="1209078" cy="400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sz="2000" b="0">
                <a:solidFill>
                  <a:schemeClr val="tx1"/>
                </a:solidFill>
                <a:latin typeface="Arial" panose="020B0604020202020204" pitchFamily="34" charset="0"/>
                <a:ea typeface="宋体" panose="02010600030101010101" pitchFamily="2" charset="-122"/>
              </a:rPr>
              <a:t>血红蛋白</a:t>
            </a:r>
          </a:p>
        </p:txBody>
      </p:sp>
      <p:sp>
        <p:nvSpPr>
          <p:cNvPr id="180231" name="矩形 6">
            <a:extLst>
              <a:ext uri="{FF2B5EF4-FFF2-40B4-BE49-F238E27FC236}">
                <a16:creationId xmlns:a16="http://schemas.microsoft.com/office/drawing/2014/main" id="{75F44683-07EC-4270-A635-B9662EEB477A}"/>
              </a:ext>
            </a:extLst>
          </p:cNvPr>
          <p:cNvSpPr>
            <a:spLocks noChangeArrowheads="1"/>
          </p:cNvSpPr>
          <p:nvPr/>
        </p:nvSpPr>
        <p:spPr bwMode="auto">
          <a:xfrm>
            <a:off x="4224338" y="1901824"/>
            <a:ext cx="1392896" cy="400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sz="2000" b="0">
                <a:solidFill>
                  <a:schemeClr val="tx1"/>
                </a:solidFill>
                <a:latin typeface="Arial" panose="020B0604020202020204" pitchFamily="34" charset="0"/>
                <a:ea typeface="宋体" panose="02010600030101010101" pitchFamily="2" charset="-122"/>
              </a:rPr>
              <a:t>细胞色素</a:t>
            </a:r>
            <a:r>
              <a:rPr lang="en-US" altLang="zh-CN" sz="2000" b="0">
                <a:solidFill>
                  <a:schemeClr val="tx1"/>
                </a:solidFill>
                <a:latin typeface="Arial" panose="020B0604020202020204" pitchFamily="34" charset="0"/>
                <a:ea typeface="宋体" panose="02010600030101010101" pitchFamily="2" charset="-122"/>
              </a:rPr>
              <a:t>C</a:t>
            </a:r>
            <a:endParaRPr lang="zh-CN" altLang="en-US" sz="2000" b="0">
              <a:solidFill>
                <a:schemeClr val="tx1"/>
              </a:solidFill>
              <a:latin typeface="Arial" panose="020B0604020202020204" pitchFamily="34" charset="0"/>
              <a:ea typeface="宋体" panose="02010600030101010101" pitchFamily="2" charset="-122"/>
            </a:endParaRPr>
          </a:p>
        </p:txBody>
      </p:sp>
      <p:sp>
        <p:nvSpPr>
          <p:cNvPr id="180232" name="矩形 7">
            <a:extLst>
              <a:ext uri="{FF2B5EF4-FFF2-40B4-BE49-F238E27FC236}">
                <a16:creationId xmlns:a16="http://schemas.microsoft.com/office/drawing/2014/main" id="{137A32E6-2123-4487-97B0-E424C63FD41C}"/>
              </a:ext>
            </a:extLst>
          </p:cNvPr>
          <p:cNvSpPr>
            <a:spLocks noChangeArrowheads="1"/>
          </p:cNvSpPr>
          <p:nvPr/>
        </p:nvSpPr>
        <p:spPr bwMode="auto">
          <a:xfrm>
            <a:off x="4210052" y="5264149"/>
            <a:ext cx="1380220" cy="401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sz="2000" b="0">
                <a:solidFill>
                  <a:schemeClr val="tx1"/>
                </a:solidFill>
                <a:latin typeface="Arial" panose="020B0604020202020204" pitchFamily="34" charset="0"/>
                <a:ea typeface="宋体" panose="02010600030101010101" pitchFamily="2" charset="-122"/>
              </a:rPr>
              <a:t>载脂蛋白</a:t>
            </a:r>
            <a:r>
              <a:rPr lang="en-US" altLang="zh-CN" sz="2000" b="0">
                <a:solidFill>
                  <a:schemeClr val="tx1"/>
                </a:solidFill>
                <a:latin typeface="Arial" panose="020B0604020202020204" pitchFamily="34" charset="0"/>
                <a:ea typeface="宋体" panose="02010600030101010101" pitchFamily="2" charset="-122"/>
              </a:rPr>
              <a:t>B</a:t>
            </a:r>
            <a:endParaRPr lang="zh-CN" altLang="en-US" sz="2000" b="0">
              <a:solidFill>
                <a:schemeClr val="tx1"/>
              </a:solidFill>
              <a:latin typeface="Arial" panose="020B0604020202020204" pitchFamily="34" charset="0"/>
              <a:ea typeface="宋体" panose="02010600030101010101" pitchFamily="2" charset="-122"/>
            </a:endParaRPr>
          </a:p>
        </p:txBody>
      </p:sp>
      <p:sp>
        <p:nvSpPr>
          <p:cNvPr id="180233" name="矩形 4">
            <a:extLst>
              <a:ext uri="{FF2B5EF4-FFF2-40B4-BE49-F238E27FC236}">
                <a16:creationId xmlns:a16="http://schemas.microsoft.com/office/drawing/2014/main" id="{A6F27411-C696-4751-85A5-FBC8CE54F3C6}"/>
              </a:ext>
            </a:extLst>
          </p:cNvPr>
          <p:cNvSpPr>
            <a:spLocks noChangeArrowheads="1"/>
          </p:cNvSpPr>
          <p:nvPr/>
        </p:nvSpPr>
        <p:spPr bwMode="auto">
          <a:xfrm>
            <a:off x="4156077" y="4567237"/>
            <a:ext cx="1207494" cy="400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sz="2000" b="0">
                <a:solidFill>
                  <a:schemeClr val="tx1"/>
                </a:solidFill>
                <a:latin typeface="Arial" panose="020B0604020202020204" pitchFamily="34" charset="0"/>
                <a:ea typeface="宋体" panose="02010600030101010101" pitchFamily="2" charset="-122"/>
              </a:rPr>
              <a:t>己糖激酶</a:t>
            </a:r>
          </a:p>
        </p:txBody>
      </p:sp>
      <p:sp>
        <p:nvSpPr>
          <p:cNvPr id="180234" name="矩形 4">
            <a:extLst>
              <a:ext uri="{FF2B5EF4-FFF2-40B4-BE49-F238E27FC236}">
                <a16:creationId xmlns:a16="http://schemas.microsoft.com/office/drawing/2014/main" id="{59C29555-F8E6-4182-9C75-A26029544DC7}"/>
              </a:ext>
            </a:extLst>
          </p:cNvPr>
          <p:cNvSpPr>
            <a:spLocks noChangeArrowheads="1"/>
          </p:cNvSpPr>
          <p:nvPr/>
        </p:nvSpPr>
        <p:spPr bwMode="auto">
          <a:xfrm>
            <a:off x="4206876" y="4892674"/>
            <a:ext cx="1494313" cy="400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n-US" altLang="zh-CN" sz="2000" b="0">
                <a:solidFill>
                  <a:schemeClr val="tx1"/>
                </a:solidFill>
                <a:latin typeface="Arial" panose="020B0604020202020204" pitchFamily="34" charset="0"/>
                <a:ea typeface="宋体" panose="02010600030101010101" pitchFamily="2" charset="-122"/>
              </a:rPr>
              <a:t>RNA</a:t>
            </a:r>
            <a:r>
              <a:rPr lang="zh-CN" altLang="en-US" sz="2000" b="0">
                <a:solidFill>
                  <a:schemeClr val="tx1"/>
                </a:solidFill>
                <a:latin typeface="Arial" panose="020B0604020202020204" pitchFamily="34" charset="0"/>
                <a:ea typeface="宋体" panose="02010600030101010101" pitchFamily="2" charset="-122"/>
              </a:rPr>
              <a:t>聚合酶</a:t>
            </a:r>
          </a:p>
        </p:txBody>
      </p:sp>
      <p:sp>
        <p:nvSpPr>
          <p:cNvPr id="180235" name="矩形 6">
            <a:extLst>
              <a:ext uri="{FF2B5EF4-FFF2-40B4-BE49-F238E27FC236}">
                <a16:creationId xmlns:a16="http://schemas.microsoft.com/office/drawing/2014/main" id="{7B3107C7-69C0-4714-81EF-829051E0508B}"/>
              </a:ext>
            </a:extLst>
          </p:cNvPr>
          <p:cNvSpPr>
            <a:spLocks noChangeArrowheads="1"/>
          </p:cNvSpPr>
          <p:nvPr/>
        </p:nvSpPr>
        <p:spPr bwMode="auto">
          <a:xfrm>
            <a:off x="4575175" y="2555874"/>
            <a:ext cx="952367" cy="401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sz="2000" b="0">
                <a:solidFill>
                  <a:schemeClr val="tx1"/>
                </a:solidFill>
                <a:latin typeface="Arial" panose="020B0604020202020204" pitchFamily="34" charset="0"/>
                <a:ea typeface="宋体" panose="02010600030101010101" pitchFamily="2" charset="-122"/>
              </a:rPr>
              <a:t>溶菌酶</a:t>
            </a:r>
          </a:p>
        </p:txBody>
      </p:sp>
      <p:sp>
        <p:nvSpPr>
          <p:cNvPr id="180236" name="矩形 6">
            <a:extLst>
              <a:ext uri="{FF2B5EF4-FFF2-40B4-BE49-F238E27FC236}">
                <a16:creationId xmlns:a16="http://schemas.microsoft.com/office/drawing/2014/main" id="{31F1353C-6EC3-4481-897F-F307C3EFC1A7}"/>
              </a:ext>
            </a:extLst>
          </p:cNvPr>
          <p:cNvSpPr>
            <a:spLocks noChangeArrowheads="1"/>
          </p:cNvSpPr>
          <p:nvPr/>
        </p:nvSpPr>
        <p:spPr bwMode="auto">
          <a:xfrm>
            <a:off x="4562477" y="2884487"/>
            <a:ext cx="1207494" cy="400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sz="2000" b="0">
                <a:solidFill>
                  <a:schemeClr val="tx1"/>
                </a:solidFill>
                <a:latin typeface="Arial" panose="020B0604020202020204" pitchFamily="34" charset="0"/>
                <a:ea typeface="宋体" panose="02010600030101010101" pitchFamily="2" charset="-122"/>
              </a:rPr>
              <a:t>肌红蛋白</a:t>
            </a:r>
          </a:p>
        </p:txBody>
      </p:sp>
      <p:sp>
        <p:nvSpPr>
          <p:cNvPr id="180237" name="矩形 6">
            <a:extLst>
              <a:ext uri="{FF2B5EF4-FFF2-40B4-BE49-F238E27FC236}">
                <a16:creationId xmlns:a16="http://schemas.microsoft.com/office/drawing/2014/main" id="{395DD331-1CBE-4C0E-9FC9-5618227BA1CD}"/>
              </a:ext>
            </a:extLst>
          </p:cNvPr>
          <p:cNvSpPr>
            <a:spLocks noChangeArrowheads="1"/>
          </p:cNvSpPr>
          <p:nvPr/>
        </p:nvSpPr>
        <p:spPr bwMode="auto">
          <a:xfrm>
            <a:off x="4446589" y="3563937"/>
            <a:ext cx="1472127" cy="400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 typeface="Wingdings" panose="05000000000000000000" pitchFamily="2" charset="2"/>
              <a:buNone/>
            </a:pPr>
            <a:r>
              <a:rPr lang="zh-CN" altLang="en-US" sz="2000" b="0">
                <a:solidFill>
                  <a:schemeClr val="tx1"/>
                </a:solidFill>
                <a:latin typeface="Arial" panose="020B0604020202020204" pitchFamily="34" charset="0"/>
                <a:ea typeface="宋体" panose="02010600030101010101" pitchFamily="2" charset="-122"/>
              </a:rPr>
              <a:t>糜蛋白酶原</a:t>
            </a:r>
          </a:p>
        </p:txBody>
      </p:sp>
    </p:spTree>
  </p:cSld>
  <p:clrMapOvr>
    <a:masterClrMapping/>
  </p:clrMapOvr>
  <p:transition spd="slow">
    <p:circl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AA73384-2C31-DF72-F8E5-3114E6C61FEE}"/>
              </a:ext>
            </a:extLst>
          </p:cNvPr>
          <p:cNvPicPr>
            <a:picLocks noChangeAspect="1"/>
          </p:cNvPicPr>
          <p:nvPr/>
        </p:nvPicPr>
        <p:blipFill>
          <a:blip r:embed="rId3"/>
          <a:stretch>
            <a:fillRect/>
          </a:stretch>
        </p:blipFill>
        <p:spPr>
          <a:xfrm>
            <a:off x="35496" y="2492896"/>
            <a:ext cx="12192000" cy="4562548"/>
          </a:xfrm>
          <a:prstGeom prst="rect">
            <a:avLst/>
          </a:prstGeom>
        </p:spPr>
      </p:pic>
      <p:pic>
        <p:nvPicPr>
          <p:cNvPr id="6" name="图片 5">
            <a:extLst>
              <a:ext uri="{FF2B5EF4-FFF2-40B4-BE49-F238E27FC236}">
                <a16:creationId xmlns:a16="http://schemas.microsoft.com/office/drawing/2014/main" id="{C0716A72-A752-60DE-A9A1-DC4B7E4C38EB}"/>
              </a:ext>
            </a:extLst>
          </p:cNvPr>
          <p:cNvPicPr>
            <a:picLocks noChangeAspect="1"/>
          </p:cNvPicPr>
          <p:nvPr/>
        </p:nvPicPr>
        <p:blipFill>
          <a:blip r:embed="rId4"/>
          <a:stretch>
            <a:fillRect/>
          </a:stretch>
        </p:blipFill>
        <p:spPr>
          <a:xfrm>
            <a:off x="1559496" y="50801"/>
            <a:ext cx="9144000" cy="771525"/>
          </a:xfrm>
          <a:prstGeom prst="rect">
            <a:avLst/>
          </a:prstGeom>
        </p:spPr>
      </p:pic>
      <p:sp>
        <p:nvSpPr>
          <p:cNvPr id="182275" name="内容占位符 4">
            <a:extLst>
              <a:ext uri="{FF2B5EF4-FFF2-40B4-BE49-F238E27FC236}">
                <a16:creationId xmlns:a16="http://schemas.microsoft.com/office/drawing/2014/main" id="{A68C6C87-BA52-4ACD-9F3E-6861FC64CDF6}"/>
              </a:ext>
            </a:extLst>
          </p:cNvPr>
          <p:cNvSpPr>
            <a:spLocks noGrp="1" noChangeArrowheads="1"/>
          </p:cNvSpPr>
          <p:nvPr>
            <p:ph idx="4294967295"/>
          </p:nvPr>
        </p:nvSpPr>
        <p:spPr>
          <a:xfrm>
            <a:off x="347700" y="972576"/>
            <a:ext cx="11496600" cy="1587500"/>
          </a:xfrm>
          <a:solidFill>
            <a:schemeClr val="bg1"/>
          </a:solidFill>
        </p:spPr>
        <p:txBody>
          <a:bodyPr/>
          <a:lstStyle/>
          <a:p>
            <a:r>
              <a:rPr lang="en-US" altLang="zh-CN" dirty="0" err="1"/>
              <a:t>UniProt</a:t>
            </a:r>
            <a:r>
              <a:rPr lang="en-US" altLang="zh-CN" dirty="0"/>
              <a:t>: </a:t>
            </a:r>
            <a:r>
              <a:rPr lang="zh-CN" altLang="en-US" dirty="0"/>
              <a:t> </a:t>
            </a:r>
            <a:r>
              <a:rPr lang="en-US" altLang="zh-CN" dirty="0"/>
              <a:t>Universal Protein Resource</a:t>
            </a:r>
            <a:r>
              <a:rPr lang="zh-CN" altLang="en-US" dirty="0"/>
              <a:t>   全球</a:t>
            </a:r>
            <a:r>
              <a:rPr lang="zh-CN" altLang="en-US" dirty="0">
                <a:solidFill>
                  <a:srgbClr val="FF0000"/>
                </a:solidFill>
              </a:rPr>
              <a:t>最大的蛋白质序列数据库</a:t>
            </a:r>
            <a:r>
              <a:rPr lang="zh-CN" altLang="en-US" dirty="0"/>
              <a:t>，提供详细的蛋白质序列信息和注释。</a:t>
            </a:r>
            <a:endParaRPr lang="en-US" altLang="zh-CN" dirty="0"/>
          </a:p>
          <a:p>
            <a:r>
              <a:rPr lang="zh-CN" altLang="en-US" dirty="0"/>
              <a:t>数据不断增长、更新中。</a:t>
            </a:r>
          </a:p>
        </p:txBody>
      </p:sp>
      <p:sp>
        <p:nvSpPr>
          <p:cNvPr id="182276" name="矩形 5">
            <a:extLst>
              <a:ext uri="{FF2B5EF4-FFF2-40B4-BE49-F238E27FC236}">
                <a16:creationId xmlns:a16="http://schemas.microsoft.com/office/drawing/2014/main" id="{E767C547-1399-4126-9EFC-305E06D42A6E}"/>
              </a:ext>
            </a:extLst>
          </p:cNvPr>
          <p:cNvSpPr>
            <a:spLocks noChangeArrowheads="1"/>
          </p:cNvSpPr>
          <p:nvPr/>
        </p:nvSpPr>
        <p:spPr bwMode="auto">
          <a:xfrm>
            <a:off x="6640235" y="249751"/>
            <a:ext cx="3960813" cy="523875"/>
          </a:xfrm>
          <a:prstGeom prst="rect">
            <a:avLst/>
          </a:prstGeom>
          <a:solidFill>
            <a:srgbClr val="FFFF00"/>
          </a:solidFill>
          <a:ln>
            <a:noFill/>
          </a:ln>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n-US" altLang="zh-CN" b="0" dirty="0">
                <a:solidFill>
                  <a:schemeClr val="tx1"/>
                </a:solidFill>
                <a:highlight>
                  <a:srgbClr val="FFFF00"/>
                </a:highlight>
                <a:latin typeface="Arial" panose="020B0604020202020204" pitchFamily="34" charset="0"/>
                <a:ea typeface="宋体" panose="02010600030101010101" pitchFamily="2" charset="-122"/>
              </a:rPr>
              <a:t>http://www.uniprot.org/  </a:t>
            </a:r>
          </a:p>
        </p:txBody>
      </p:sp>
      <p:sp>
        <p:nvSpPr>
          <p:cNvPr id="7" name="矩形 6">
            <a:extLst>
              <a:ext uri="{FF2B5EF4-FFF2-40B4-BE49-F238E27FC236}">
                <a16:creationId xmlns:a16="http://schemas.microsoft.com/office/drawing/2014/main" id="{E22AB78C-6EEA-4699-8701-8F0327757234}"/>
              </a:ext>
            </a:extLst>
          </p:cNvPr>
          <p:cNvSpPr>
            <a:spLocks noChangeArrowheads="1"/>
          </p:cNvSpPr>
          <p:nvPr/>
        </p:nvSpPr>
        <p:spPr bwMode="auto">
          <a:xfrm>
            <a:off x="245350" y="4437112"/>
            <a:ext cx="2628292" cy="1039684"/>
          </a:xfrm>
          <a:prstGeom prst="rect">
            <a:avLst/>
          </a:prstGeom>
          <a:noFill/>
          <a:ln w="57150" algn="ctr">
            <a:solidFill>
              <a:srgbClr val="FF3399"/>
            </a:solidFill>
            <a:round/>
            <a:headEnd/>
            <a:tailEnd/>
          </a:ln>
          <a:extLst>
            <a:ext uri="{909E8E84-426E-40DD-AFC4-6F175D3DCCD1}">
              <a14:hiddenFill xmlns:a14="http://schemas.microsoft.com/office/drawing/2010/main">
                <a:solidFill>
                  <a:srgbClr val="FFFFFF"/>
                </a:solidFill>
              </a14:hiddenFill>
            </a:ext>
          </a:extLst>
        </p:spPr>
        <p:txBody>
          <a:bodyPr wrap="none"/>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sp>
        <p:nvSpPr>
          <p:cNvPr id="9" name="矩形 8">
            <a:extLst>
              <a:ext uri="{FF2B5EF4-FFF2-40B4-BE49-F238E27FC236}">
                <a16:creationId xmlns:a16="http://schemas.microsoft.com/office/drawing/2014/main" id="{2C3ECCD4-6CE7-4900-96FA-64508CCDF8FC}"/>
              </a:ext>
            </a:extLst>
          </p:cNvPr>
          <p:cNvSpPr>
            <a:spLocks noChangeArrowheads="1"/>
          </p:cNvSpPr>
          <p:nvPr/>
        </p:nvSpPr>
        <p:spPr bwMode="auto">
          <a:xfrm>
            <a:off x="1501775" y="50801"/>
            <a:ext cx="1713905" cy="771525"/>
          </a:xfrm>
          <a:prstGeom prst="rect">
            <a:avLst/>
          </a:prstGeom>
          <a:noFill/>
          <a:ln w="57150" algn="ctr">
            <a:solidFill>
              <a:srgbClr val="FF3399"/>
            </a:solidFill>
            <a:round/>
            <a:headEnd/>
            <a:tailEnd/>
          </a:ln>
          <a:extLst>
            <a:ext uri="{909E8E84-426E-40DD-AFC4-6F175D3DCCD1}">
              <a14:hiddenFill xmlns:a14="http://schemas.microsoft.com/office/drawing/2010/main">
                <a:solidFill>
                  <a:srgbClr val="FFFFFF"/>
                </a:solidFill>
              </a14:hiddenFill>
            </a:ext>
          </a:extLst>
        </p:spPr>
        <p:txBody>
          <a:bodyPr wrap="none"/>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Text Box 2">
            <a:extLst>
              <a:ext uri="{FF2B5EF4-FFF2-40B4-BE49-F238E27FC236}">
                <a16:creationId xmlns:a16="http://schemas.microsoft.com/office/drawing/2014/main" id="{3666CB36-70CD-4171-95B5-C23AF5B3A723}"/>
              </a:ext>
            </a:extLst>
          </p:cNvPr>
          <p:cNvSpPr txBox="1">
            <a:spLocks noChangeArrowheads="1"/>
          </p:cNvSpPr>
          <p:nvPr/>
        </p:nvSpPr>
        <p:spPr bwMode="auto">
          <a:xfrm>
            <a:off x="1992313" y="85726"/>
            <a:ext cx="5689600" cy="762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lIns="90000" tIns="46800" rIns="90000" bIns="46800">
            <a:spAutoFit/>
          </a:bodyPr>
          <a:lstStyle>
            <a:lvl1pPr marL="2692400" indent="-2692400">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0000"/>
              </a:lnSpc>
              <a:spcBef>
                <a:spcPct val="0"/>
              </a:spcBef>
              <a:buClrTx/>
              <a:buFontTx/>
              <a:buNone/>
            </a:pPr>
            <a:r>
              <a:rPr kumimoji="1" lang="zh-CN" altLang="en-US" sz="4000">
                <a:solidFill>
                  <a:schemeClr val="bg1"/>
                </a:solidFill>
              </a:rPr>
              <a:t>二、蛋白质的二级结构</a:t>
            </a:r>
          </a:p>
        </p:txBody>
      </p:sp>
      <p:sp>
        <p:nvSpPr>
          <p:cNvPr id="184324" name="Rectangle 4">
            <a:extLst>
              <a:ext uri="{FF2B5EF4-FFF2-40B4-BE49-F238E27FC236}">
                <a16:creationId xmlns:a16="http://schemas.microsoft.com/office/drawing/2014/main" id="{BE052912-1B6E-4A2B-8C3E-9BC2E35B3EDC}"/>
              </a:ext>
            </a:extLst>
          </p:cNvPr>
          <p:cNvSpPr>
            <a:spLocks noChangeArrowheads="1"/>
          </p:cNvSpPr>
          <p:nvPr/>
        </p:nvSpPr>
        <p:spPr bwMode="auto">
          <a:xfrm>
            <a:off x="409105" y="1376208"/>
            <a:ext cx="7272808"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square"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None/>
            </a:pPr>
            <a:r>
              <a:rPr kumimoji="1" lang="zh-CN" altLang="en-US" sz="3200" b="0" dirty="0">
                <a:solidFill>
                  <a:srgbClr val="FF0000"/>
                </a:solidFill>
              </a:rPr>
              <a:t>定义：</a:t>
            </a:r>
            <a:r>
              <a:rPr kumimoji="1" lang="zh-CN" altLang="en-US" sz="3200" b="0" dirty="0">
                <a:solidFill>
                  <a:srgbClr val="000000"/>
                </a:solidFill>
              </a:rPr>
              <a:t>多肽</a:t>
            </a:r>
            <a:r>
              <a:rPr kumimoji="1" lang="zh-CN" altLang="en-US" sz="3200" b="0" dirty="0">
                <a:solidFill>
                  <a:srgbClr val="C00000"/>
                </a:solidFill>
              </a:rPr>
              <a:t>主链</a:t>
            </a:r>
            <a:r>
              <a:rPr kumimoji="1" lang="zh-CN" altLang="en-US" sz="3200" b="0" dirty="0">
                <a:solidFill>
                  <a:srgbClr val="000000"/>
                </a:solidFill>
              </a:rPr>
              <a:t>的</a:t>
            </a:r>
            <a:r>
              <a:rPr kumimoji="1" lang="zh-CN" altLang="en-US" sz="3200" b="0" dirty="0">
                <a:solidFill>
                  <a:srgbClr val="C00000"/>
                </a:solidFill>
              </a:rPr>
              <a:t>局部</a:t>
            </a:r>
            <a:r>
              <a:rPr kumimoji="1" lang="zh-CN" altLang="en-US" sz="3200" b="0" dirty="0">
                <a:solidFill>
                  <a:schemeClr val="tx1">
                    <a:lumMod val="60000"/>
                    <a:lumOff val="40000"/>
                  </a:schemeClr>
                </a:solidFill>
              </a:rPr>
              <a:t>规则</a:t>
            </a:r>
            <a:r>
              <a:rPr kumimoji="1" lang="zh-CN" altLang="en-US" sz="3200" b="0" dirty="0">
                <a:solidFill>
                  <a:srgbClr val="C00000"/>
                </a:solidFill>
              </a:rPr>
              <a:t>构象</a:t>
            </a:r>
            <a:endParaRPr kumimoji="1" lang="en-US" altLang="zh-CN" sz="3200" b="0" dirty="0">
              <a:solidFill>
                <a:srgbClr val="C00000"/>
              </a:solidFill>
            </a:endParaRPr>
          </a:p>
        </p:txBody>
      </p:sp>
      <p:sp>
        <p:nvSpPr>
          <p:cNvPr id="4" name="内容占位符 3">
            <a:extLst>
              <a:ext uri="{FF2B5EF4-FFF2-40B4-BE49-F238E27FC236}">
                <a16:creationId xmlns:a16="http://schemas.microsoft.com/office/drawing/2014/main" id="{D8C92B57-BF87-4877-927C-D8F55672BB41}"/>
              </a:ext>
            </a:extLst>
          </p:cNvPr>
          <p:cNvSpPr>
            <a:spLocks noGrp="1"/>
          </p:cNvSpPr>
          <p:nvPr>
            <p:ph idx="1"/>
          </p:nvPr>
        </p:nvSpPr>
        <p:spPr>
          <a:xfrm>
            <a:off x="6913683" y="1855717"/>
            <a:ext cx="5276968" cy="3175000"/>
          </a:xfrm>
        </p:spPr>
        <p:txBody>
          <a:bodyPr/>
          <a:lstStyle/>
          <a:p>
            <a:pPr>
              <a:lnSpc>
                <a:spcPct val="150000"/>
              </a:lnSpc>
              <a:defRPr/>
            </a:pPr>
            <a:r>
              <a:rPr lang="zh-CN" altLang="en-US" sz="2400" dirty="0">
                <a:latin typeface="微软雅黑" panose="020B0503020204020204" pitchFamily="34" charset="-122"/>
                <a:ea typeface="微软雅黑" panose="020B0503020204020204" pitchFamily="34" charset="-122"/>
              </a:rPr>
              <a:t>类似描述</a:t>
            </a:r>
            <a:r>
              <a:rPr lang="en-US" altLang="zh-CN" sz="2400" dirty="0">
                <a:latin typeface="微软雅黑" panose="020B0503020204020204" pitchFamily="34" charset="-122"/>
                <a:ea typeface="微软雅黑" panose="020B0503020204020204" pitchFamily="34" charset="-122"/>
              </a:rPr>
              <a:t>:   </a:t>
            </a:r>
          </a:p>
          <a:p>
            <a:pPr lvl="1">
              <a:lnSpc>
                <a:spcPct val="150000"/>
              </a:lnSpc>
              <a:defRPr/>
            </a:pPr>
            <a:r>
              <a:rPr lang="zh-CN" altLang="en-US" sz="2400" dirty="0">
                <a:latin typeface="微软雅黑" panose="020B0503020204020204" pitchFamily="34" charset="-122"/>
                <a:ea typeface="微软雅黑" panose="020B0503020204020204" pitchFamily="34" charset="-122"/>
              </a:rPr>
              <a:t>多肽链</a:t>
            </a:r>
            <a:r>
              <a:rPr lang="zh-CN" altLang="en-US" sz="2400" dirty="0">
                <a:solidFill>
                  <a:schemeClr val="tx1">
                    <a:lumMod val="60000"/>
                    <a:lumOff val="40000"/>
                  </a:schemeClr>
                </a:solidFill>
                <a:latin typeface="微软雅黑" panose="020B0503020204020204" pitchFamily="34" charset="-122"/>
                <a:ea typeface="微软雅黑" panose="020B0503020204020204" pitchFamily="34" charset="-122"/>
              </a:rPr>
              <a:t>局部主链</a:t>
            </a:r>
            <a:r>
              <a:rPr lang="zh-CN" altLang="en-US" sz="2400" dirty="0">
                <a:latin typeface="微软雅黑" panose="020B0503020204020204" pitchFamily="34" charset="-122"/>
                <a:ea typeface="微软雅黑" panose="020B0503020204020204" pitchFamily="34" charset="-122"/>
              </a:rPr>
              <a:t>原子的空间排布</a:t>
            </a:r>
            <a:endParaRPr lang="en-US" altLang="zh-CN" sz="2400" dirty="0">
              <a:latin typeface="微软雅黑" panose="020B0503020204020204" pitchFamily="34" charset="-122"/>
              <a:ea typeface="微软雅黑" panose="020B0503020204020204" pitchFamily="34" charset="-122"/>
            </a:endParaRPr>
          </a:p>
          <a:p>
            <a:pPr lvl="1">
              <a:lnSpc>
                <a:spcPct val="150000"/>
              </a:lnSpc>
              <a:defRPr/>
            </a:pPr>
            <a:r>
              <a:rPr lang="zh-CN" altLang="en-US" sz="2400" dirty="0">
                <a:latin typeface="微软雅黑" panose="020B0503020204020204" pitchFamily="34" charset="-122"/>
                <a:ea typeface="微软雅黑" panose="020B0503020204020204" pitchFamily="34" charset="-122"/>
              </a:rPr>
              <a:t>指多肽链中借助</a:t>
            </a:r>
            <a:r>
              <a:rPr lang="zh-CN" altLang="en-US" sz="2400" dirty="0">
                <a:solidFill>
                  <a:schemeClr val="tx1">
                    <a:lumMod val="60000"/>
                    <a:lumOff val="40000"/>
                  </a:schemeClr>
                </a:solidFill>
                <a:latin typeface="微软雅黑" panose="020B0503020204020204" pitchFamily="34" charset="-122"/>
                <a:ea typeface="微软雅黑" panose="020B0503020204020204" pitchFamily="34" charset="-122"/>
              </a:rPr>
              <a:t>氢键</a:t>
            </a:r>
            <a:r>
              <a:rPr lang="zh-CN" altLang="en-US" sz="2400" dirty="0">
                <a:latin typeface="微软雅黑" panose="020B0503020204020204" pitchFamily="34" charset="-122"/>
                <a:ea typeface="微软雅黑" panose="020B0503020204020204" pitchFamily="34" charset="-122"/>
              </a:rPr>
              <a:t>排列成有规律的</a:t>
            </a:r>
            <a:r>
              <a:rPr lang="el-GR" altLang="zh-CN" sz="2400" dirty="0">
                <a:solidFill>
                  <a:schemeClr val="tx1">
                    <a:lumMod val="60000"/>
                    <a:lumOff val="40000"/>
                  </a:schemeClr>
                </a:solidFill>
                <a:latin typeface="微软雅黑" panose="020B0503020204020204" pitchFamily="34" charset="-122"/>
                <a:ea typeface="微软雅黑" panose="020B0503020204020204" pitchFamily="34" charset="-122"/>
              </a:rPr>
              <a:t>α</a:t>
            </a:r>
            <a:r>
              <a:rPr lang="zh-CN" altLang="en-US" sz="2400" dirty="0">
                <a:solidFill>
                  <a:schemeClr val="tx1">
                    <a:lumMod val="60000"/>
                    <a:lumOff val="40000"/>
                  </a:schemeClr>
                </a:solidFill>
                <a:latin typeface="微软雅黑" panose="020B0503020204020204" pitchFamily="34" charset="-122"/>
                <a:ea typeface="微软雅黑" panose="020B0503020204020204" pitchFamily="34" charset="-122"/>
              </a:rPr>
              <a:t>螺旋</a:t>
            </a:r>
            <a:r>
              <a:rPr lang="zh-CN" altLang="en-US" sz="2400" dirty="0">
                <a:latin typeface="微软雅黑" panose="020B0503020204020204" pitchFamily="34" charset="-122"/>
                <a:ea typeface="微软雅黑" panose="020B0503020204020204" pitchFamily="34" charset="-122"/>
              </a:rPr>
              <a:t>和</a:t>
            </a:r>
            <a:r>
              <a:rPr lang="el-GR" altLang="zh-CN" sz="2400" dirty="0">
                <a:solidFill>
                  <a:schemeClr val="tx1">
                    <a:lumMod val="60000"/>
                    <a:lumOff val="40000"/>
                  </a:schemeClr>
                </a:solidFill>
                <a:latin typeface="微软雅黑" panose="020B0503020204020204" pitchFamily="34" charset="-122"/>
                <a:ea typeface="微软雅黑" panose="020B0503020204020204" pitchFamily="34" charset="-122"/>
              </a:rPr>
              <a:t>β</a:t>
            </a:r>
            <a:r>
              <a:rPr lang="zh-CN" altLang="en-US" sz="2400" dirty="0">
                <a:solidFill>
                  <a:schemeClr val="tx1">
                    <a:lumMod val="60000"/>
                    <a:lumOff val="40000"/>
                  </a:schemeClr>
                </a:solidFill>
                <a:latin typeface="微软雅黑" panose="020B0503020204020204" pitchFamily="34" charset="-122"/>
                <a:ea typeface="微软雅黑" panose="020B0503020204020204" pitchFamily="34" charset="-122"/>
              </a:rPr>
              <a:t>折叠</a:t>
            </a:r>
            <a:r>
              <a:rPr lang="zh-CN" altLang="en-US" sz="2400" dirty="0">
                <a:latin typeface="微软雅黑" panose="020B0503020204020204" pitchFamily="34" charset="-122"/>
                <a:ea typeface="微软雅黑" panose="020B0503020204020204" pitchFamily="34" charset="-122"/>
              </a:rPr>
              <a:t>等元件（</a:t>
            </a:r>
            <a:r>
              <a:rPr lang="en-US" altLang="zh-CN" sz="2400" dirty="0">
                <a:latin typeface="微软雅黑" panose="020B0503020204020204" pitchFamily="34" charset="-122"/>
                <a:ea typeface="微软雅黑" panose="020B0503020204020204" pitchFamily="34" charset="-122"/>
              </a:rPr>
              <a:t>element)</a:t>
            </a:r>
          </a:p>
          <a:p>
            <a:pPr>
              <a:lnSpc>
                <a:spcPct val="150000"/>
              </a:lnSpc>
              <a:defRPr/>
            </a:pPr>
            <a:endParaRPr lang="zh-CN" altLang="en-US" sz="2400" dirty="0">
              <a:latin typeface="微软雅黑" panose="020B0503020204020204" pitchFamily="34" charset="-122"/>
              <a:ea typeface="微软雅黑" panose="020B0503020204020204" pitchFamily="34" charset="-122"/>
            </a:endParaRPr>
          </a:p>
        </p:txBody>
      </p:sp>
      <p:grpSp>
        <p:nvGrpSpPr>
          <p:cNvPr id="2" name="组合 1">
            <a:extLst>
              <a:ext uri="{FF2B5EF4-FFF2-40B4-BE49-F238E27FC236}">
                <a16:creationId xmlns:a16="http://schemas.microsoft.com/office/drawing/2014/main" id="{21140E1A-B274-2386-E274-4B4A709CE27C}"/>
              </a:ext>
            </a:extLst>
          </p:cNvPr>
          <p:cNvGrpSpPr/>
          <p:nvPr/>
        </p:nvGrpSpPr>
        <p:grpSpPr>
          <a:xfrm>
            <a:off x="474368" y="2530912"/>
            <a:ext cx="6336704" cy="2685835"/>
            <a:chOff x="5591944" y="1976367"/>
            <a:chExt cx="6336704" cy="2685835"/>
          </a:xfrm>
        </p:grpSpPr>
        <p:pic>
          <p:nvPicPr>
            <p:cNvPr id="186370" name="Picture 2" descr="多肽链骨架">
              <a:extLst>
                <a:ext uri="{FF2B5EF4-FFF2-40B4-BE49-F238E27FC236}">
                  <a16:creationId xmlns:a16="http://schemas.microsoft.com/office/drawing/2014/main" id="{63DB77A6-BAB7-4234-BBBD-1E3BF62D9A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2485" y="1976367"/>
              <a:ext cx="5975622" cy="2685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4659" name="Rectangle 3">
              <a:extLst>
                <a:ext uri="{FF2B5EF4-FFF2-40B4-BE49-F238E27FC236}">
                  <a16:creationId xmlns:a16="http://schemas.microsoft.com/office/drawing/2014/main" id="{F636DF67-EB58-4B35-B570-0CEFCDD50B82}"/>
                </a:ext>
              </a:extLst>
            </p:cNvPr>
            <p:cNvSpPr>
              <a:spLocks noChangeArrowheads="1"/>
            </p:cNvSpPr>
            <p:nvPr/>
          </p:nvSpPr>
          <p:spPr bwMode="auto">
            <a:xfrm>
              <a:off x="5591944" y="2643906"/>
              <a:ext cx="6336704" cy="431800"/>
            </a:xfrm>
            <a:prstGeom prst="rect">
              <a:avLst/>
            </a:prstGeom>
            <a:solidFill>
              <a:srgbClr val="0000FF">
                <a:alpha val="20000"/>
              </a:srgbClr>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grpSp>
      <p:sp>
        <p:nvSpPr>
          <p:cNvPr id="454663" name="Text Box 7">
            <a:extLst>
              <a:ext uri="{FF2B5EF4-FFF2-40B4-BE49-F238E27FC236}">
                <a16:creationId xmlns:a16="http://schemas.microsoft.com/office/drawing/2014/main" id="{BBDB1F9A-4B55-4A48-A5F3-EF4D086EDDBB}"/>
              </a:ext>
            </a:extLst>
          </p:cNvPr>
          <p:cNvSpPr txBox="1">
            <a:spLocks noChangeArrowheads="1"/>
          </p:cNvSpPr>
          <p:nvPr/>
        </p:nvSpPr>
        <p:spPr bwMode="auto">
          <a:xfrm>
            <a:off x="325062" y="5402778"/>
            <a:ext cx="778716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kumimoji="1" lang="en-US" altLang="zh-CN" sz="3200" b="0" dirty="0">
                <a:solidFill>
                  <a:schemeClr val="tx1"/>
                </a:solidFill>
              </a:rPr>
              <a:t>*</a:t>
            </a:r>
            <a:r>
              <a:rPr kumimoji="1" lang="zh-CN" altLang="en-US" sz="3200" b="0" dirty="0">
                <a:solidFill>
                  <a:srgbClr val="FF0000"/>
                </a:solidFill>
              </a:rPr>
              <a:t>主链骨架原子：</a:t>
            </a:r>
            <a:r>
              <a:rPr kumimoji="1" lang="en-US" altLang="zh-CN" sz="3200" b="0" dirty="0">
                <a:solidFill>
                  <a:schemeClr val="tx1"/>
                </a:solidFill>
              </a:rPr>
              <a:t>NC</a:t>
            </a:r>
            <a:r>
              <a:rPr kumimoji="1" lang="el-GR" altLang="zh-CN" sz="3200" b="0" baseline="-25000" dirty="0">
                <a:solidFill>
                  <a:schemeClr val="tx1"/>
                </a:solidFill>
              </a:rPr>
              <a:t>α</a:t>
            </a:r>
            <a:r>
              <a:rPr kumimoji="1" lang="en-US" altLang="zh-CN" sz="3200" b="0" dirty="0">
                <a:solidFill>
                  <a:schemeClr val="tx1"/>
                </a:solidFill>
              </a:rPr>
              <a:t>C</a:t>
            </a:r>
            <a:r>
              <a:rPr kumimoji="1" lang="en-US" altLang="zh-CN" sz="3200" b="0" baseline="-25000" dirty="0">
                <a:solidFill>
                  <a:schemeClr val="tx1"/>
                </a:solidFill>
              </a:rPr>
              <a:t>o</a:t>
            </a:r>
            <a:r>
              <a:rPr kumimoji="1" lang="en-US" altLang="zh-CN" sz="3200" b="0" dirty="0">
                <a:solidFill>
                  <a:schemeClr val="tx1"/>
                </a:solidFill>
              </a:rPr>
              <a:t> NC</a:t>
            </a:r>
            <a:r>
              <a:rPr kumimoji="1" lang="el-GR" altLang="zh-CN" sz="3200" b="0" baseline="-25000" dirty="0">
                <a:solidFill>
                  <a:schemeClr val="tx1"/>
                </a:solidFill>
              </a:rPr>
              <a:t>α</a:t>
            </a:r>
            <a:r>
              <a:rPr kumimoji="1" lang="en-US" altLang="zh-CN" sz="3200" b="0" dirty="0">
                <a:solidFill>
                  <a:schemeClr val="tx1"/>
                </a:solidFill>
              </a:rPr>
              <a:t>C</a:t>
            </a:r>
            <a:r>
              <a:rPr kumimoji="1" lang="en-US" altLang="zh-CN" sz="3200" b="0" baseline="-25000" dirty="0">
                <a:solidFill>
                  <a:schemeClr val="tx1"/>
                </a:solidFill>
              </a:rPr>
              <a:t>o</a:t>
            </a:r>
            <a:r>
              <a:rPr kumimoji="1" lang="en-US" altLang="zh-CN" sz="3200" b="0" dirty="0">
                <a:solidFill>
                  <a:schemeClr val="tx1"/>
                </a:solidFill>
              </a:rPr>
              <a:t>  NC</a:t>
            </a:r>
            <a:r>
              <a:rPr kumimoji="1" lang="el-GR" altLang="zh-CN" sz="3200" b="0" baseline="-25000" dirty="0">
                <a:solidFill>
                  <a:schemeClr val="tx1"/>
                </a:solidFill>
              </a:rPr>
              <a:t>α</a:t>
            </a:r>
            <a:r>
              <a:rPr kumimoji="1" lang="en-US" altLang="zh-CN" sz="3200" b="0" dirty="0">
                <a:solidFill>
                  <a:schemeClr val="tx1"/>
                </a:solidFill>
              </a:rPr>
              <a:t>C</a:t>
            </a:r>
            <a:r>
              <a:rPr kumimoji="1" lang="en-US" altLang="zh-CN" sz="3200" b="0" baseline="-25000" dirty="0">
                <a:solidFill>
                  <a:schemeClr val="tx1"/>
                </a:solidFill>
              </a:rPr>
              <a:t>o</a:t>
            </a:r>
            <a:r>
              <a:rPr kumimoji="1" lang="en-US" altLang="zh-CN" sz="3200" b="0" dirty="0">
                <a:solidFill>
                  <a:schemeClr val="tx1"/>
                </a:solidFill>
              </a:rPr>
              <a:t> …</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Text Box 2">
            <a:extLst>
              <a:ext uri="{FF2B5EF4-FFF2-40B4-BE49-F238E27FC236}">
                <a16:creationId xmlns:a16="http://schemas.microsoft.com/office/drawing/2014/main" id="{2B131D8E-B749-4C54-B9C5-4F2625447889}"/>
              </a:ext>
            </a:extLst>
          </p:cNvPr>
          <p:cNvSpPr txBox="1">
            <a:spLocks noChangeArrowheads="1"/>
          </p:cNvSpPr>
          <p:nvPr/>
        </p:nvSpPr>
        <p:spPr bwMode="auto">
          <a:xfrm>
            <a:off x="2927351" y="1268413"/>
            <a:ext cx="59039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
                <a:srgbClr val="006600"/>
              </a:buClr>
            </a:pPr>
            <a:r>
              <a:rPr kumimoji="1" lang="en-US" altLang="zh-CN" sz="3600" b="0">
                <a:solidFill>
                  <a:srgbClr val="006600"/>
                </a:solidFill>
              </a:rPr>
              <a:t> </a:t>
            </a:r>
            <a:r>
              <a:rPr kumimoji="1" lang="zh-CN" altLang="en-US" sz="3600" b="0">
                <a:solidFill>
                  <a:srgbClr val="006600"/>
                </a:solidFill>
              </a:rPr>
              <a:t>蛋白质二级结构主要类型</a:t>
            </a:r>
          </a:p>
        </p:txBody>
      </p:sp>
      <p:sp>
        <p:nvSpPr>
          <p:cNvPr id="37891" name="Text Box 3">
            <a:extLst>
              <a:ext uri="{FF2B5EF4-FFF2-40B4-BE49-F238E27FC236}">
                <a16:creationId xmlns:a16="http://schemas.microsoft.com/office/drawing/2014/main" id="{57CB2CBB-6445-45A3-9D9A-ED1CF6220F94}"/>
              </a:ext>
            </a:extLst>
          </p:cNvPr>
          <p:cNvSpPr txBox="1">
            <a:spLocks noChangeArrowheads="1"/>
          </p:cNvSpPr>
          <p:nvPr/>
        </p:nvSpPr>
        <p:spPr bwMode="auto">
          <a:xfrm>
            <a:off x="3431704" y="2132582"/>
            <a:ext cx="5977135" cy="2850011"/>
          </a:xfrm>
          <a:prstGeom prst="rect">
            <a:avLst/>
          </a:prstGeom>
          <a:noFill/>
          <a:ln>
            <a:noFill/>
          </a:ln>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80000"/>
              </a:lnSpc>
              <a:spcBef>
                <a:spcPct val="0"/>
              </a:spcBef>
              <a:buClr>
                <a:schemeClr val="accent4">
                  <a:lumMod val="75000"/>
                  <a:lumOff val="25000"/>
                </a:schemeClr>
              </a:buClr>
              <a:buFontTx/>
              <a:buChar char="•"/>
              <a:defRPr/>
            </a:pPr>
            <a:r>
              <a:rPr lang="en-US" altLang="zh-CN" sz="3200" b="0" dirty="0">
                <a:solidFill>
                  <a:srgbClr val="FF0000"/>
                </a:solidFill>
                <a:sym typeface="Symbol" panose="05050102010706020507" pitchFamily="18" charset="2"/>
              </a:rPr>
              <a:t> </a:t>
            </a:r>
            <a:r>
              <a:rPr lang="el-GR" altLang="zh-CN" sz="3200" b="0" dirty="0">
                <a:solidFill>
                  <a:srgbClr val="FF0000"/>
                </a:solidFill>
                <a:sym typeface="Symbol" panose="05050102010706020507" pitchFamily="18" charset="2"/>
              </a:rPr>
              <a:t></a:t>
            </a:r>
            <a:r>
              <a:rPr lang="en-US" altLang="zh-CN" sz="3200" b="0" dirty="0">
                <a:solidFill>
                  <a:srgbClr val="FF0000"/>
                </a:solidFill>
              </a:rPr>
              <a:t>-</a:t>
            </a:r>
            <a:r>
              <a:rPr lang="zh-CN" altLang="en-US" sz="3200" b="0" dirty="0">
                <a:solidFill>
                  <a:srgbClr val="FF0000"/>
                </a:solidFill>
              </a:rPr>
              <a:t>螺旋</a:t>
            </a:r>
            <a:r>
              <a:rPr lang="zh-CN" altLang="en-US" sz="3200" b="0" dirty="0">
                <a:solidFill>
                  <a:srgbClr val="0000CC"/>
                </a:solidFill>
              </a:rPr>
              <a:t> </a:t>
            </a:r>
            <a:r>
              <a:rPr lang="en-US" altLang="zh-CN" sz="3200" b="0" dirty="0">
                <a:solidFill>
                  <a:srgbClr val="0000CC"/>
                </a:solidFill>
              </a:rPr>
              <a:t>( </a:t>
            </a:r>
            <a:r>
              <a:rPr lang="el-GR" altLang="zh-CN" sz="3200" b="0" dirty="0">
                <a:solidFill>
                  <a:srgbClr val="0000CC"/>
                </a:solidFill>
                <a:sym typeface="Symbol" panose="05050102010706020507" pitchFamily="18" charset="2"/>
              </a:rPr>
              <a:t></a:t>
            </a:r>
            <a:r>
              <a:rPr lang="en-US" altLang="zh-CN" sz="3200" b="0" dirty="0">
                <a:solidFill>
                  <a:srgbClr val="0000CC"/>
                </a:solidFill>
              </a:rPr>
              <a:t>-helix ) </a:t>
            </a:r>
          </a:p>
          <a:p>
            <a:pPr eaLnBrk="1" hangingPunct="1">
              <a:lnSpc>
                <a:spcPct val="80000"/>
              </a:lnSpc>
              <a:spcBef>
                <a:spcPct val="0"/>
              </a:spcBef>
              <a:buClrTx/>
              <a:buFontTx/>
              <a:buNone/>
              <a:defRPr/>
            </a:pPr>
            <a:endParaRPr lang="en-US" altLang="zh-CN" sz="3200" b="0" u="sng" dirty="0">
              <a:solidFill>
                <a:srgbClr val="0000CC"/>
              </a:solidFill>
            </a:endParaRPr>
          </a:p>
          <a:p>
            <a:pPr eaLnBrk="1" hangingPunct="1">
              <a:lnSpc>
                <a:spcPct val="80000"/>
              </a:lnSpc>
              <a:spcBef>
                <a:spcPct val="0"/>
              </a:spcBef>
              <a:buClrTx/>
              <a:buFontTx/>
              <a:buChar char="•"/>
              <a:defRPr/>
            </a:pPr>
            <a:r>
              <a:rPr lang="en-US" altLang="zh-CN" sz="3200" b="0" dirty="0">
                <a:solidFill>
                  <a:srgbClr val="0000CC"/>
                </a:solidFill>
              </a:rPr>
              <a:t> </a:t>
            </a:r>
            <a:r>
              <a:rPr lang="el-GR" altLang="zh-CN" sz="3200" b="0" dirty="0">
                <a:solidFill>
                  <a:srgbClr val="FF0000"/>
                </a:solidFill>
                <a:sym typeface="Symbol" panose="05050102010706020507" pitchFamily="18" charset="2"/>
              </a:rPr>
              <a:t></a:t>
            </a:r>
            <a:r>
              <a:rPr lang="en-US" altLang="zh-CN" sz="3200" b="0" dirty="0">
                <a:solidFill>
                  <a:srgbClr val="FF0000"/>
                </a:solidFill>
              </a:rPr>
              <a:t>-</a:t>
            </a:r>
            <a:r>
              <a:rPr kumimoji="1" lang="zh-CN" altLang="en-US" sz="3200" b="0" dirty="0">
                <a:solidFill>
                  <a:srgbClr val="FF0000"/>
                </a:solidFill>
              </a:rPr>
              <a:t>折叠</a:t>
            </a:r>
            <a:r>
              <a:rPr kumimoji="1" lang="en-US" altLang="zh-CN" sz="3200" b="0" dirty="0">
                <a:solidFill>
                  <a:srgbClr val="FF0000"/>
                </a:solidFill>
              </a:rPr>
              <a:t>/</a:t>
            </a:r>
            <a:r>
              <a:rPr lang="el-GR" altLang="zh-CN" sz="3200" b="0" dirty="0">
                <a:solidFill>
                  <a:srgbClr val="FF0000"/>
                </a:solidFill>
                <a:sym typeface="Symbol" panose="05050102010706020507" pitchFamily="18" charset="2"/>
              </a:rPr>
              <a:t> </a:t>
            </a:r>
            <a:r>
              <a:rPr lang="en-US" altLang="zh-CN" sz="3200" b="0" dirty="0">
                <a:solidFill>
                  <a:srgbClr val="FF0000"/>
                </a:solidFill>
              </a:rPr>
              <a:t>-</a:t>
            </a:r>
            <a:r>
              <a:rPr lang="zh-CN" altLang="en-US" sz="3200" b="0" dirty="0">
                <a:solidFill>
                  <a:srgbClr val="FF0000"/>
                </a:solidFill>
              </a:rPr>
              <a:t>片层</a:t>
            </a:r>
            <a:r>
              <a:rPr kumimoji="1" lang="zh-CN" altLang="en-US" sz="3200" b="0" dirty="0">
                <a:solidFill>
                  <a:srgbClr val="0000CC"/>
                </a:solidFill>
              </a:rPr>
              <a:t> </a:t>
            </a:r>
            <a:r>
              <a:rPr lang="en-US" altLang="zh-CN" sz="3200" b="0" dirty="0">
                <a:solidFill>
                  <a:srgbClr val="0000CC"/>
                </a:solidFill>
              </a:rPr>
              <a:t>( </a:t>
            </a:r>
            <a:r>
              <a:rPr lang="en-US" altLang="zh-CN" sz="3200" b="0" dirty="0">
                <a:solidFill>
                  <a:srgbClr val="0000CC"/>
                </a:solidFill>
                <a:sym typeface="Symbol" panose="05050102010706020507" pitchFamily="18" charset="2"/>
              </a:rPr>
              <a:t></a:t>
            </a:r>
            <a:r>
              <a:rPr kumimoji="1" lang="en-US" altLang="zh-CN" sz="3200" b="0" dirty="0">
                <a:solidFill>
                  <a:srgbClr val="0000CC"/>
                </a:solidFill>
              </a:rPr>
              <a:t>-pleated sheet )</a:t>
            </a:r>
          </a:p>
          <a:p>
            <a:pPr eaLnBrk="1" hangingPunct="1">
              <a:lnSpc>
                <a:spcPct val="80000"/>
              </a:lnSpc>
              <a:spcBef>
                <a:spcPct val="0"/>
              </a:spcBef>
              <a:buClrTx/>
              <a:buFontTx/>
              <a:buNone/>
              <a:defRPr/>
            </a:pPr>
            <a:endParaRPr kumimoji="1" lang="en-US" altLang="zh-CN" sz="3200" b="0" dirty="0">
              <a:solidFill>
                <a:srgbClr val="0000CC"/>
              </a:solidFill>
            </a:endParaRPr>
          </a:p>
          <a:p>
            <a:pPr>
              <a:lnSpc>
                <a:spcPct val="80000"/>
              </a:lnSpc>
              <a:spcBef>
                <a:spcPct val="0"/>
              </a:spcBef>
              <a:buClrTx/>
              <a:buFontTx/>
              <a:buChar char="•"/>
              <a:defRPr/>
            </a:pPr>
            <a:r>
              <a:rPr lang="en-US" altLang="zh-CN" sz="3200" b="0" dirty="0">
                <a:solidFill>
                  <a:srgbClr val="0000CC"/>
                </a:solidFill>
              </a:rPr>
              <a:t> </a:t>
            </a:r>
            <a:r>
              <a:rPr lang="en-US" altLang="zh-CN" sz="3200" b="0" dirty="0">
                <a:solidFill>
                  <a:srgbClr val="FF0000"/>
                </a:solidFill>
                <a:sym typeface="Symbol" panose="05050102010706020507" pitchFamily="18" charset="2"/>
              </a:rPr>
              <a:t></a:t>
            </a:r>
            <a:r>
              <a:rPr lang="en-US" altLang="zh-CN" sz="3200" b="0" dirty="0">
                <a:solidFill>
                  <a:srgbClr val="FF0000"/>
                </a:solidFill>
              </a:rPr>
              <a:t>-</a:t>
            </a:r>
            <a:r>
              <a:rPr kumimoji="1" lang="zh-CN" altLang="en-US" sz="3200" b="0" dirty="0">
                <a:solidFill>
                  <a:srgbClr val="FF0000"/>
                </a:solidFill>
              </a:rPr>
              <a:t>转角</a:t>
            </a:r>
            <a:r>
              <a:rPr kumimoji="1" lang="zh-CN" altLang="en-US" sz="3200" b="0" dirty="0">
                <a:solidFill>
                  <a:srgbClr val="0000CC"/>
                </a:solidFill>
              </a:rPr>
              <a:t> </a:t>
            </a:r>
            <a:r>
              <a:rPr kumimoji="1" lang="en-US" altLang="zh-CN" sz="3200" b="0" dirty="0">
                <a:solidFill>
                  <a:srgbClr val="0000CC"/>
                </a:solidFill>
              </a:rPr>
              <a:t>( </a:t>
            </a:r>
            <a:r>
              <a:rPr lang="en-US" altLang="zh-CN" sz="3200" b="0" dirty="0">
                <a:solidFill>
                  <a:srgbClr val="0000CC"/>
                </a:solidFill>
                <a:sym typeface="Symbol" panose="05050102010706020507" pitchFamily="18" charset="2"/>
              </a:rPr>
              <a:t></a:t>
            </a:r>
            <a:r>
              <a:rPr kumimoji="1" lang="en-US" altLang="zh-CN" sz="3200" b="0" dirty="0">
                <a:solidFill>
                  <a:srgbClr val="0000CC"/>
                </a:solidFill>
              </a:rPr>
              <a:t>-turn )</a:t>
            </a:r>
          </a:p>
          <a:p>
            <a:pPr>
              <a:lnSpc>
                <a:spcPct val="80000"/>
              </a:lnSpc>
              <a:spcBef>
                <a:spcPct val="0"/>
              </a:spcBef>
              <a:buClrTx/>
              <a:buFontTx/>
              <a:buChar char="•"/>
              <a:defRPr/>
            </a:pPr>
            <a:endParaRPr kumimoji="1" lang="en-US" altLang="zh-CN" sz="3200" b="0" dirty="0">
              <a:solidFill>
                <a:srgbClr val="0000CC"/>
              </a:solidFill>
            </a:endParaRPr>
          </a:p>
          <a:p>
            <a:pPr>
              <a:lnSpc>
                <a:spcPct val="80000"/>
              </a:lnSpc>
              <a:spcBef>
                <a:spcPct val="0"/>
              </a:spcBef>
              <a:buClrTx/>
              <a:buFontTx/>
              <a:buChar char="•"/>
              <a:defRPr/>
            </a:pPr>
            <a:r>
              <a:rPr kumimoji="1" lang="en-US" altLang="zh-CN" sz="3200" b="0" dirty="0">
                <a:solidFill>
                  <a:srgbClr val="0000CC"/>
                </a:solidFill>
              </a:rPr>
              <a:t> </a:t>
            </a:r>
            <a:r>
              <a:rPr lang="en-US" altLang="zh-CN" sz="3200" b="0" dirty="0">
                <a:solidFill>
                  <a:srgbClr val="FF0000"/>
                </a:solidFill>
              </a:rPr>
              <a:t>Ω</a:t>
            </a:r>
            <a:r>
              <a:rPr lang="zh-CN" altLang="en-US" sz="3200" b="0" dirty="0">
                <a:solidFill>
                  <a:srgbClr val="FF0000"/>
                </a:solidFill>
              </a:rPr>
              <a:t>环 </a:t>
            </a:r>
            <a:r>
              <a:rPr kumimoji="1" lang="en-US" altLang="zh-CN" sz="3200" b="0" dirty="0">
                <a:solidFill>
                  <a:srgbClr val="0000CC"/>
                </a:solidFill>
              </a:rPr>
              <a:t>(Ω loop)</a:t>
            </a:r>
            <a:r>
              <a:rPr kumimoji="1" lang="en-US" altLang="zh-CN" sz="3200" b="0" dirty="0">
                <a:solidFill>
                  <a:schemeClr val="tx1"/>
                </a:solidFill>
              </a:rPr>
              <a:t> </a:t>
            </a:r>
          </a:p>
        </p:txBody>
      </p:sp>
      <p:sp>
        <p:nvSpPr>
          <p:cNvPr id="103435" name="Text Box 11">
            <a:extLst>
              <a:ext uri="{FF2B5EF4-FFF2-40B4-BE49-F238E27FC236}">
                <a16:creationId xmlns:a16="http://schemas.microsoft.com/office/drawing/2014/main" id="{5C85CBF2-075A-462C-92D4-200A609C42FA}"/>
              </a:ext>
            </a:extLst>
          </p:cNvPr>
          <p:cNvSpPr txBox="1">
            <a:spLocks noChangeArrowheads="1"/>
          </p:cNvSpPr>
          <p:nvPr/>
        </p:nvSpPr>
        <p:spPr bwMode="auto">
          <a:xfrm>
            <a:off x="2568576" y="5200651"/>
            <a:ext cx="79914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
                <a:srgbClr val="006600"/>
              </a:buClr>
            </a:pPr>
            <a:r>
              <a:rPr kumimoji="1" lang="en-US" altLang="zh-CN" sz="3600" b="0">
                <a:solidFill>
                  <a:srgbClr val="006600"/>
                </a:solidFill>
              </a:rPr>
              <a:t> </a:t>
            </a:r>
            <a:r>
              <a:rPr kumimoji="1" lang="zh-CN" altLang="en-US" sz="3600" b="0">
                <a:solidFill>
                  <a:srgbClr val="006600"/>
                </a:solidFill>
              </a:rPr>
              <a:t>维持二级结构的主要化学键：</a:t>
            </a:r>
            <a:r>
              <a:rPr kumimoji="1" lang="zh-CN" altLang="en-US" sz="3600" b="0">
                <a:solidFill>
                  <a:srgbClr val="FF0000"/>
                </a:solidFill>
              </a:rPr>
              <a:t>氢键 </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37891"/>
                                        </p:tgtEl>
                                        <p:attrNameLst>
                                          <p:attrName>style.visibility</p:attrName>
                                        </p:attrNameLst>
                                      </p:cBhvr>
                                      <p:to>
                                        <p:strVal val="visible"/>
                                      </p:to>
                                    </p:set>
                                    <p:animEffect transition="in" filter="box(in)">
                                      <p:cBhvr>
                                        <p:cTn id="7" dur="500"/>
                                        <p:tgtEl>
                                          <p:spTgt spid="378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3435"/>
                                        </p:tgtEl>
                                        <p:attrNameLst>
                                          <p:attrName>style.visibility</p:attrName>
                                        </p:attrNameLst>
                                      </p:cBhvr>
                                      <p:to>
                                        <p:strVal val="visible"/>
                                      </p:to>
                                    </p:set>
                                    <p:animEffect transition="in" filter="wipe(left)">
                                      <p:cBhvr>
                                        <p:cTn id="12" dur="500"/>
                                        <p:tgtEl>
                                          <p:spTgt spid="103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autoUpdateAnimBg="0"/>
      <p:bldP spid="103435"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Text Box 2">
            <a:extLst>
              <a:ext uri="{FF2B5EF4-FFF2-40B4-BE49-F238E27FC236}">
                <a16:creationId xmlns:a16="http://schemas.microsoft.com/office/drawing/2014/main" id="{7AC6663F-EB50-446C-BB4A-E8EE69A2F844}"/>
              </a:ext>
            </a:extLst>
          </p:cNvPr>
          <p:cNvSpPr txBox="1">
            <a:spLocks noChangeArrowheads="1"/>
          </p:cNvSpPr>
          <p:nvPr/>
        </p:nvSpPr>
        <p:spPr bwMode="auto">
          <a:xfrm>
            <a:off x="1919289" y="188913"/>
            <a:ext cx="70564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3200">
                <a:solidFill>
                  <a:schemeClr val="bg1"/>
                </a:solidFill>
              </a:rPr>
              <a:t>（一）肽单元是形成二级结构的基础</a:t>
            </a:r>
          </a:p>
        </p:txBody>
      </p:sp>
      <p:sp>
        <p:nvSpPr>
          <p:cNvPr id="190467" name="Rectangle 0">
            <a:extLst>
              <a:ext uri="{FF2B5EF4-FFF2-40B4-BE49-F238E27FC236}">
                <a16:creationId xmlns:a16="http://schemas.microsoft.com/office/drawing/2014/main" id="{CB79933D-60BB-4667-BBAC-087547462CF6}"/>
              </a:ext>
            </a:extLst>
          </p:cNvPr>
          <p:cNvSpPr>
            <a:spLocks noChangeArrowheads="1"/>
          </p:cNvSpPr>
          <p:nvPr/>
        </p:nvSpPr>
        <p:spPr bwMode="auto">
          <a:xfrm>
            <a:off x="1934852" y="3594101"/>
            <a:ext cx="8640960" cy="190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40000"/>
              </a:lnSpc>
              <a:spcBef>
                <a:spcPct val="0"/>
              </a:spcBef>
              <a:buClrTx/>
              <a:buFontTx/>
              <a:buNone/>
            </a:pPr>
            <a:r>
              <a:rPr kumimoji="1" lang="zh-CN" altLang="en-US" dirty="0">
                <a:solidFill>
                  <a:schemeClr val="tx1"/>
                </a:solidFill>
              </a:rPr>
              <a:t>肽键</a:t>
            </a:r>
            <a:r>
              <a:rPr kumimoji="1" lang="en-US" altLang="zh-CN" dirty="0">
                <a:solidFill>
                  <a:schemeClr val="tx1"/>
                </a:solidFill>
              </a:rPr>
              <a:t>-CO-NH-</a:t>
            </a:r>
            <a:r>
              <a:rPr kumimoji="1" lang="zh-CN" altLang="en-US" dirty="0">
                <a:solidFill>
                  <a:schemeClr val="tx1"/>
                </a:solidFill>
              </a:rPr>
              <a:t>的四个原子和相邻的两个</a:t>
            </a:r>
            <a:r>
              <a:rPr kumimoji="1" lang="en-US" altLang="zh-CN" dirty="0">
                <a:solidFill>
                  <a:schemeClr val="tx1"/>
                </a:solidFill>
              </a:rPr>
              <a:t>α-</a:t>
            </a:r>
            <a:r>
              <a:rPr kumimoji="1" lang="zh-CN" altLang="en-US" dirty="0">
                <a:solidFill>
                  <a:schemeClr val="tx1"/>
                </a:solidFill>
              </a:rPr>
              <a:t>碳原子总是位于同一平面，此结构即</a:t>
            </a:r>
            <a:r>
              <a:rPr kumimoji="1" lang="zh-CN" altLang="en-US" dirty="0">
                <a:solidFill>
                  <a:srgbClr val="FF0000"/>
                </a:solidFill>
              </a:rPr>
              <a:t>肽单元 </a:t>
            </a:r>
            <a:r>
              <a:rPr kumimoji="1" lang="zh-CN" altLang="zh-CN" dirty="0">
                <a:solidFill>
                  <a:srgbClr val="FF0000"/>
                </a:solidFill>
              </a:rPr>
              <a:t>(</a:t>
            </a:r>
            <a:r>
              <a:rPr kumimoji="1" lang="en-US" altLang="zh-CN" dirty="0">
                <a:solidFill>
                  <a:srgbClr val="FF0000"/>
                </a:solidFill>
              </a:rPr>
              <a:t>peptide unit)</a:t>
            </a:r>
            <a:r>
              <a:rPr kumimoji="1" lang="en-US" altLang="zh-CN" b="0" dirty="0">
                <a:solidFill>
                  <a:schemeClr val="tx1"/>
                </a:solidFill>
              </a:rPr>
              <a:t> </a:t>
            </a:r>
            <a:r>
              <a:rPr kumimoji="1" lang="zh-CN" altLang="en-US" b="0" dirty="0">
                <a:solidFill>
                  <a:schemeClr val="tx1"/>
                </a:solidFill>
              </a:rPr>
              <a:t>，也称为</a:t>
            </a:r>
            <a:r>
              <a:rPr kumimoji="1" lang="zh-CN" altLang="en-US" dirty="0">
                <a:solidFill>
                  <a:srgbClr val="C00000"/>
                </a:solidFill>
              </a:rPr>
              <a:t>酰胺平面</a:t>
            </a:r>
            <a:r>
              <a:rPr kumimoji="1" lang="zh-CN" altLang="en-US" dirty="0">
                <a:solidFill>
                  <a:schemeClr val="tx1"/>
                </a:solidFill>
              </a:rPr>
              <a:t>或</a:t>
            </a:r>
            <a:r>
              <a:rPr kumimoji="1" lang="zh-CN" altLang="en-US" dirty="0">
                <a:solidFill>
                  <a:srgbClr val="C00000"/>
                </a:solidFill>
              </a:rPr>
              <a:t>肽键平面</a:t>
            </a:r>
            <a:r>
              <a:rPr kumimoji="1" lang="zh-CN" altLang="en-US" dirty="0">
                <a:solidFill>
                  <a:schemeClr val="tx1"/>
                </a:solidFill>
              </a:rPr>
              <a:t>。</a:t>
            </a:r>
          </a:p>
        </p:txBody>
      </p:sp>
      <p:pic>
        <p:nvPicPr>
          <p:cNvPr id="190468" name="图片 2">
            <a:extLst>
              <a:ext uri="{FF2B5EF4-FFF2-40B4-BE49-F238E27FC236}">
                <a16:creationId xmlns:a16="http://schemas.microsoft.com/office/drawing/2014/main" id="{67AD004B-A0DE-4800-9986-D89842803DD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08213" y="1128714"/>
            <a:ext cx="7658100" cy="237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0469" name="Rectangle 0">
            <a:extLst>
              <a:ext uri="{FF2B5EF4-FFF2-40B4-BE49-F238E27FC236}">
                <a16:creationId xmlns:a16="http://schemas.microsoft.com/office/drawing/2014/main" id="{FF02E25E-4520-46C3-A9A5-56D67F481D62}"/>
              </a:ext>
            </a:extLst>
          </p:cNvPr>
          <p:cNvSpPr>
            <a:spLocks noChangeArrowheads="1"/>
          </p:cNvSpPr>
          <p:nvPr/>
        </p:nvSpPr>
        <p:spPr bwMode="auto">
          <a:xfrm>
            <a:off x="2351089" y="5589589"/>
            <a:ext cx="6886575" cy="62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40000"/>
              </a:lnSpc>
              <a:spcBef>
                <a:spcPct val="0"/>
              </a:spcBef>
              <a:buClrTx/>
              <a:buFont typeface="Wingdings" panose="05000000000000000000" pitchFamily="2" charset="2"/>
              <a:buNone/>
            </a:pPr>
            <a:r>
              <a:rPr kumimoji="1" lang="zh-CN" altLang="en-US">
                <a:solidFill>
                  <a:schemeClr val="tx1"/>
                </a:solidFill>
              </a:rPr>
              <a:t>注：</a:t>
            </a:r>
            <a:r>
              <a:rPr lang="el-GR" altLang="zh-CN" b="0"/>
              <a:t>Φ φ </a:t>
            </a:r>
            <a:r>
              <a:rPr lang="en-US" altLang="zh-CN" b="0"/>
              <a:t>  </a:t>
            </a:r>
            <a:r>
              <a:rPr lang="zh-CN" altLang="en-US" b="0"/>
              <a:t>音</a:t>
            </a:r>
            <a:r>
              <a:rPr lang="en-US" altLang="zh-CN" b="0"/>
              <a:t>Phi /fai/</a:t>
            </a:r>
            <a:r>
              <a:rPr lang="zh-CN" altLang="en-US" b="0"/>
              <a:t>；    </a:t>
            </a:r>
            <a:r>
              <a:rPr lang="el-GR" altLang="zh-CN" b="0"/>
              <a:t>Ψ ψ </a:t>
            </a:r>
            <a:r>
              <a:rPr lang="en-US" altLang="zh-CN" b="0"/>
              <a:t> </a:t>
            </a:r>
            <a:r>
              <a:rPr lang="zh-CN" altLang="en-US" b="0"/>
              <a:t>音</a:t>
            </a:r>
            <a:r>
              <a:rPr lang="en-US" altLang="zh-CN" b="0"/>
              <a:t>Psi /psai/ </a:t>
            </a:r>
            <a:endParaRPr kumimoji="1" lang="zh-CN" altLang="en-US">
              <a:solidFill>
                <a:schemeClr val="tx1"/>
              </a:solidFill>
            </a:endParaRPr>
          </a:p>
        </p:txBody>
      </p:sp>
    </p:spTree>
  </p:cSld>
  <p:clrMapOvr>
    <a:masterClrMapping/>
  </p:clrMapOvr>
  <p:transition spd="slow">
    <p:circl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a:extLst>
              <a:ext uri="{FF2B5EF4-FFF2-40B4-BE49-F238E27FC236}">
                <a16:creationId xmlns:a16="http://schemas.microsoft.com/office/drawing/2014/main" id="{74D09770-E2BB-454E-97A9-78DF4ECAC15E}"/>
              </a:ext>
            </a:extLst>
          </p:cNvPr>
          <p:cNvSpPr>
            <a:spLocks noChangeArrowheads="1"/>
          </p:cNvSpPr>
          <p:nvPr/>
        </p:nvSpPr>
        <p:spPr bwMode="auto">
          <a:xfrm>
            <a:off x="1343472" y="1412777"/>
            <a:ext cx="9433047" cy="4664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6575" indent="-536575">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0000"/>
              </a:lnSpc>
              <a:spcBef>
                <a:spcPct val="50000"/>
              </a:spcBef>
              <a:buClr>
                <a:srgbClr val="A50021"/>
              </a:buClr>
              <a:buSzPct val="75000"/>
              <a:buFont typeface="Wingdings" panose="05000000000000000000" pitchFamily="2" charset="2"/>
              <a:buNone/>
            </a:pPr>
            <a:r>
              <a:rPr kumimoji="1" lang="en-US" altLang="zh-CN" b="0" dirty="0">
                <a:solidFill>
                  <a:schemeClr val="tx1"/>
                </a:solidFill>
                <a:latin typeface="黑体" panose="02010609060101010101" pitchFamily="49" charset="-122"/>
              </a:rPr>
              <a:t>1</a:t>
            </a:r>
            <a:r>
              <a:rPr kumimoji="1" lang="zh-CN" altLang="en-US" b="0" dirty="0">
                <a:solidFill>
                  <a:schemeClr val="tx1"/>
                </a:solidFill>
                <a:latin typeface="黑体" panose="02010609060101010101" pitchFamily="49" charset="-122"/>
              </a:rPr>
              <a:t>、肽键中的</a:t>
            </a:r>
            <a:r>
              <a:rPr kumimoji="1" lang="en-US" altLang="zh-CN" b="0" dirty="0">
                <a:solidFill>
                  <a:schemeClr val="tx1"/>
                </a:solidFill>
                <a:latin typeface="黑体" panose="02010609060101010101" pitchFamily="49" charset="-122"/>
              </a:rPr>
              <a:t>N-C</a:t>
            </a:r>
            <a:r>
              <a:rPr kumimoji="1" lang="zh-CN" altLang="en-US" b="0" dirty="0">
                <a:solidFill>
                  <a:schemeClr val="tx1"/>
                </a:solidFill>
                <a:latin typeface="黑体" panose="02010609060101010101" pitchFamily="49" charset="-122"/>
              </a:rPr>
              <a:t>键具有</a:t>
            </a:r>
            <a:r>
              <a:rPr kumimoji="1" lang="zh-CN" altLang="en-US" b="0" dirty="0">
                <a:solidFill>
                  <a:srgbClr val="C00000"/>
                </a:solidFill>
                <a:latin typeface="黑体" panose="02010609060101010101" pitchFamily="49" charset="-122"/>
              </a:rPr>
              <a:t>部分双键</a:t>
            </a:r>
            <a:r>
              <a:rPr kumimoji="1" lang="zh-CN" altLang="en-US" b="0" dirty="0">
                <a:solidFill>
                  <a:schemeClr val="tx1"/>
                </a:solidFill>
                <a:latin typeface="黑体" panose="02010609060101010101" pitchFamily="49" charset="-122"/>
              </a:rPr>
              <a:t>性质，不能自由旋转。</a:t>
            </a:r>
            <a:endParaRPr kumimoji="1" lang="en-US" altLang="zh-CN" b="0" dirty="0">
              <a:solidFill>
                <a:schemeClr val="tx1"/>
              </a:solidFill>
              <a:latin typeface="黑体" panose="02010609060101010101" pitchFamily="49" charset="-122"/>
            </a:endParaRPr>
          </a:p>
          <a:p>
            <a:pPr eaLnBrk="1" hangingPunct="1">
              <a:lnSpc>
                <a:spcPct val="120000"/>
              </a:lnSpc>
              <a:spcBef>
                <a:spcPct val="50000"/>
              </a:spcBef>
              <a:buClr>
                <a:srgbClr val="A50021"/>
              </a:buClr>
              <a:buSzPct val="75000"/>
              <a:buFont typeface="Wingdings" panose="05000000000000000000" pitchFamily="2" charset="2"/>
              <a:buNone/>
            </a:pPr>
            <a:r>
              <a:rPr kumimoji="1" lang="zh-CN" altLang="en-US" b="0" dirty="0">
                <a:solidFill>
                  <a:schemeClr val="tx1"/>
                </a:solidFill>
                <a:latin typeface="黑体" panose="02010609060101010101" pitchFamily="49" charset="-122"/>
              </a:rPr>
              <a:t>    </a:t>
            </a:r>
          </a:p>
          <a:p>
            <a:pPr eaLnBrk="1" hangingPunct="1">
              <a:lnSpc>
                <a:spcPct val="120000"/>
              </a:lnSpc>
              <a:spcBef>
                <a:spcPct val="0"/>
              </a:spcBef>
              <a:buClr>
                <a:srgbClr val="A50021"/>
              </a:buClr>
              <a:buSzPct val="75000"/>
              <a:buFont typeface="Wingdings" panose="05000000000000000000" pitchFamily="2" charset="2"/>
              <a:buNone/>
            </a:pPr>
            <a:r>
              <a:rPr kumimoji="1" lang="en-US" altLang="zh-CN" b="0" dirty="0">
                <a:solidFill>
                  <a:schemeClr val="tx1"/>
                </a:solidFill>
                <a:latin typeface="黑体" panose="02010609060101010101" pitchFamily="49" charset="-122"/>
              </a:rPr>
              <a:t>2</a:t>
            </a:r>
            <a:r>
              <a:rPr kumimoji="1" lang="zh-CN" altLang="en-US" b="0" dirty="0">
                <a:solidFill>
                  <a:schemeClr val="tx1"/>
                </a:solidFill>
                <a:latin typeface="黑体" panose="02010609060101010101" pitchFamily="49" charset="-122"/>
              </a:rPr>
              <a:t>、</a:t>
            </a:r>
            <a:r>
              <a:rPr lang="en-US" altLang="zh-CN" b="0" dirty="0">
                <a:latin typeface="黑体" panose="02010609060101010101" pitchFamily="49" charset="-122"/>
              </a:rPr>
              <a:t>C</a:t>
            </a:r>
            <a:r>
              <a:rPr lang="en-US" altLang="zh-CN" b="0" baseline="-30000" dirty="0">
                <a:latin typeface="黑体" panose="02010609060101010101" pitchFamily="49" charset="-122"/>
                <a:sym typeface="Symbol" panose="05050102010706020507" pitchFamily="18" charset="2"/>
              </a:rPr>
              <a:t></a:t>
            </a:r>
            <a:r>
              <a:rPr lang="en-US" altLang="zh-CN" b="0" baseline="-30000" dirty="0">
                <a:latin typeface="黑体" panose="02010609060101010101" pitchFamily="49" charset="-122"/>
              </a:rPr>
              <a:t>1</a:t>
            </a:r>
            <a:r>
              <a:rPr lang="zh-CN" altLang="en-US" b="0" dirty="0">
                <a:latin typeface="黑体" panose="02010609060101010101" pitchFamily="49" charset="-122"/>
              </a:rPr>
              <a:t>和</a:t>
            </a:r>
            <a:r>
              <a:rPr lang="en-US" altLang="zh-CN" b="0" dirty="0">
                <a:latin typeface="黑体" panose="02010609060101010101" pitchFamily="49" charset="-122"/>
              </a:rPr>
              <a:t>C</a:t>
            </a:r>
            <a:r>
              <a:rPr lang="en-US" altLang="zh-CN" b="0" baseline="-30000" dirty="0">
                <a:latin typeface="黑体" panose="02010609060101010101" pitchFamily="49" charset="-122"/>
                <a:sym typeface="Symbol" panose="05050102010706020507" pitchFamily="18" charset="2"/>
              </a:rPr>
              <a:t></a:t>
            </a:r>
            <a:r>
              <a:rPr lang="en-US" altLang="zh-CN" b="0" baseline="-30000" dirty="0">
                <a:latin typeface="黑体" panose="02010609060101010101" pitchFamily="49" charset="-122"/>
              </a:rPr>
              <a:t>2</a:t>
            </a:r>
            <a:r>
              <a:rPr lang="zh-CN" altLang="en-US" b="0" dirty="0">
                <a:latin typeface="黑体" panose="02010609060101010101" pitchFamily="49" charset="-122"/>
              </a:rPr>
              <a:t>在平面上所处的位置为</a:t>
            </a:r>
            <a:r>
              <a:rPr lang="zh-CN" altLang="en-US" b="0" dirty="0">
                <a:solidFill>
                  <a:srgbClr val="C00000"/>
                </a:solidFill>
                <a:latin typeface="黑体" panose="02010609060101010101" pitchFamily="49" charset="-122"/>
              </a:rPr>
              <a:t>反式</a:t>
            </a:r>
            <a:r>
              <a:rPr lang="en-US" altLang="zh-CN" b="0" dirty="0">
                <a:solidFill>
                  <a:srgbClr val="C00000"/>
                </a:solidFill>
                <a:latin typeface="黑体" panose="02010609060101010101" pitchFamily="49" charset="-122"/>
              </a:rPr>
              <a:t>(trans)</a:t>
            </a:r>
            <a:r>
              <a:rPr lang="zh-CN" altLang="en-US" b="0" dirty="0">
                <a:solidFill>
                  <a:srgbClr val="C00000"/>
                </a:solidFill>
                <a:latin typeface="黑体" panose="02010609060101010101" pitchFamily="49" charset="-122"/>
              </a:rPr>
              <a:t>构型</a:t>
            </a:r>
            <a:r>
              <a:rPr kumimoji="1" lang="zh-CN" altLang="en-US" b="0" dirty="0">
                <a:solidFill>
                  <a:srgbClr val="000033"/>
                </a:solidFill>
                <a:latin typeface="黑体" panose="02010609060101010101" pitchFamily="49" charset="-122"/>
              </a:rPr>
              <a:t>。</a:t>
            </a:r>
            <a:r>
              <a:rPr kumimoji="1" lang="zh-CN" altLang="en-US" b="0" dirty="0">
                <a:solidFill>
                  <a:srgbClr val="006600"/>
                </a:solidFill>
                <a:latin typeface="+mn-ea"/>
                <a:ea typeface="+mn-ea"/>
              </a:rPr>
              <a:t> </a:t>
            </a:r>
            <a:r>
              <a:rPr lang="zh-CN" altLang="en-US" b="0" dirty="0">
                <a:latin typeface="+mn-ea"/>
                <a:ea typeface="+mn-ea"/>
              </a:rPr>
              <a:t>肽键中</a:t>
            </a:r>
            <a:r>
              <a:rPr lang="en-US" altLang="zh-CN" b="0" dirty="0">
                <a:latin typeface="+mn-ea"/>
                <a:ea typeface="+mn-ea"/>
              </a:rPr>
              <a:t>-NH-</a:t>
            </a:r>
            <a:r>
              <a:rPr lang="zh-CN" altLang="en-US" b="0" dirty="0">
                <a:latin typeface="+mn-ea"/>
                <a:ea typeface="+mn-ea"/>
              </a:rPr>
              <a:t>的</a:t>
            </a:r>
            <a:r>
              <a:rPr lang="en-US" altLang="zh-CN" b="0" dirty="0">
                <a:latin typeface="+mn-ea"/>
                <a:ea typeface="+mn-ea"/>
              </a:rPr>
              <a:t>H</a:t>
            </a:r>
            <a:r>
              <a:rPr lang="zh-CN" altLang="en-US" b="0" dirty="0">
                <a:latin typeface="+mn-ea"/>
                <a:ea typeface="+mn-ea"/>
              </a:rPr>
              <a:t>与羰基上的</a:t>
            </a:r>
            <a:r>
              <a:rPr lang="en-US" altLang="zh-CN" sz="3200" b="0" dirty="0">
                <a:latin typeface="+mn-ea"/>
                <a:ea typeface="+mn-ea"/>
                <a:cs typeface="Arial" panose="020B0604020202020204" pitchFamily="34" charset="0"/>
              </a:rPr>
              <a:t>o</a:t>
            </a:r>
            <a:r>
              <a:rPr lang="zh-CN" altLang="en-US" b="0" dirty="0">
                <a:latin typeface="+mn-ea"/>
                <a:ea typeface="+mn-ea"/>
              </a:rPr>
              <a:t>，亦是</a:t>
            </a:r>
            <a:r>
              <a:rPr lang="zh-CN" altLang="en-US" b="0" dirty="0">
                <a:solidFill>
                  <a:srgbClr val="C00000"/>
                </a:solidFill>
                <a:latin typeface="+mn-ea"/>
                <a:ea typeface="+mn-ea"/>
              </a:rPr>
              <a:t>反式构型</a:t>
            </a:r>
            <a:r>
              <a:rPr lang="zh-CN" altLang="en-US" b="0" dirty="0">
                <a:latin typeface="+mn-ea"/>
                <a:ea typeface="+mn-ea"/>
              </a:rPr>
              <a:t>。</a:t>
            </a:r>
            <a:endParaRPr lang="en-US" altLang="zh-CN" b="0" dirty="0">
              <a:latin typeface="+mn-ea"/>
              <a:ea typeface="+mn-ea"/>
            </a:endParaRPr>
          </a:p>
          <a:p>
            <a:pPr eaLnBrk="1" hangingPunct="1">
              <a:lnSpc>
                <a:spcPct val="120000"/>
              </a:lnSpc>
              <a:spcBef>
                <a:spcPct val="0"/>
              </a:spcBef>
              <a:buClr>
                <a:srgbClr val="A50021"/>
              </a:buClr>
              <a:buSzPct val="75000"/>
              <a:buFont typeface="Wingdings" panose="05000000000000000000" pitchFamily="2" charset="2"/>
              <a:buNone/>
            </a:pPr>
            <a:endParaRPr lang="en-US" altLang="zh-CN" b="0" dirty="0">
              <a:latin typeface="+mn-ea"/>
              <a:ea typeface="+mn-ea"/>
            </a:endParaRPr>
          </a:p>
          <a:p>
            <a:pPr eaLnBrk="1" hangingPunct="1">
              <a:lnSpc>
                <a:spcPct val="120000"/>
              </a:lnSpc>
              <a:spcBef>
                <a:spcPct val="50000"/>
              </a:spcBef>
              <a:buClr>
                <a:srgbClr val="A50021"/>
              </a:buClr>
              <a:buSzPct val="75000"/>
              <a:buFont typeface="Wingdings" panose="05000000000000000000" pitchFamily="2" charset="2"/>
              <a:buNone/>
            </a:pPr>
            <a:r>
              <a:rPr kumimoji="1" lang="en-US" altLang="zh-CN" b="0" dirty="0">
                <a:solidFill>
                  <a:schemeClr val="tx1"/>
                </a:solidFill>
                <a:latin typeface="黑体" panose="02010609060101010101" pitchFamily="49" charset="-122"/>
              </a:rPr>
              <a:t>3</a:t>
            </a:r>
            <a:r>
              <a:rPr kumimoji="1" lang="zh-CN" altLang="en-US" b="0" dirty="0">
                <a:solidFill>
                  <a:schemeClr val="tx1"/>
                </a:solidFill>
                <a:latin typeface="黑体" panose="02010609060101010101" pitchFamily="49" charset="-122"/>
              </a:rPr>
              <a:t>、</a:t>
            </a:r>
            <a:r>
              <a:rPr kumimoji="1" lang="en-US" altLang="zh-CN" b="0" dirty="0">
                <a:solidFill>
                  <a:srgbClr val="C00000"/>
                </a:solidFill>
                <a:latin typeface="黑体" panose="02010609060101010101" pitchFamily="49" charset="-122"/>
              </a:rPr>
              <a:t>C-C</a:t>
            </a:r>
            <a:r>
              <a:rPr kumimoji="1" lang="en-US" altLang="zh-CN" b="0" baseline="-30000" dirty="0">
                <a:solidFill>
                  <a:srgbClr val="C00000"/>
                </a:solidFill>
                <a:latin typeface="黑体" panose="02010609060101010101" pitchFamily="49" charset="-122"/>
                <a:sym typeface="Symbol" panose="05050102010706020507" pitchFamily="18" charset="2"/>
              </a:rPr>
              <a:t></a:t>
            </a:r>
            <a:r>
              <a:rPr kumimoji="1" lang="zh-CN" altLang="en-US" b="0" dirty="0">
                <a:solidFill>
                  <a:srgbClr val="C00000"/>
                </a:solidFill>
                <a:latin typeface="黑体" panose="02010609060101010101" pitchFamily="49" charset="-122"/>
              </a:rPr>
              <a:t>和</a:t>
            </a:r>
            <a:r>
              <a:rPr kumimoji="1" lang="en-US" altLang="zh-CN" b="0" dirty="0">
                <a:solidFill>
                  <a:srgbClr val="C00000"/>
                </a:solidFill>
                <a:latin typeface="黑体" panose="02010609060101010101" pitchFamily="49" charset="-122"/>
              </a:rPr>
              <a:t>N-C</a:t>
            </a:r>
            <a:r>
              <a:rPr kumimoji="1" lang="en-US" altLang="zh-CN" b="0" baseline="-25000" dirty="0">
                <a:solidFill>
                  <a:srgbClr val="C00000"/>
                </a:solidFill>
                <a:latin typeface="黑体" panose="02010609060101010101" pitchFamily="49" charset="-122"/>
                <a:sym typeface="Symbol" panose="05050102010706020507" pitchFamily="18" charset="2"/>
              </a:rPr>
              <a:t></a:t>
            </a:r>
            <a:r>
              <a:rPr kumimoji="1" lang="zh-CN" altLang="en-US" b="0" dirty="0">
                <a:solidFill>
                  <a:srgbClr val="C00000"/>
                </a:solidFill>
                <a:latin typeface="黑体" panose="02010609060101010101" pitchFamily="49" charset="-122"/>
              </a:rPr>
              <a:t>是单键，可自由旋转</a:t>
            </a:r>
            <a:r>
              <a:rPr kumimoji="1" lang="zh-CN" altLang="en-US" b="0" dirty="0">
                <a:solidFill>
                  <a:schemeClr val="tx1"/>
                </a:solidFill>
                <a:latin typeface="黑体" panose="02010609060101010101" pitchFamily="49" charset="-122"/>
              </a:rPr>
              <a:t>，这两个单键的自由旋转角度（即二面角</a:t>
            </a:r>
            <a:r>
              <a:rPr kumimoji="1" lang="en-US" altLang="zh-CN" b="0" dirty="0">
                <a:solidFill>
                  <a:schemeClr val="tx1"/>
                </a:solidFill>
                <a:latin typeface="黑体" panose="02010609060101010101" pitchFamily="49" charset="-122"/>
              </a:rPr>
              <a:t>ψ</a:t>
            </a:r>
            <a:r>
              <a:rPr kumimoji="1" lang="zh-CN" altLang="en-US" b="0" dirty="0">
                <a:solidFill>
                  <a:schemeClr val="tx1"/>
                </a:solidFill>
                <a:latin typeface="黑体" panose="02010609060101010101" pitchFamily="49" charset="-122"/>
              </a:rPr>
              <a:t>和</a:t>
            </a:r>
            <a:r>
              <a:rPr kumimoji="1" lang="en-US" altLang="zh-CN" b="0" dirty="0">
                <a:solidFill>
                  <a:schemeClr val="tx1"/>
                </a:solidFill>
                <a:latin typeface="黑体" panose="02010609060101010101" pitchFamily="49" charset="-122"/>
              </a:rPr>
              <a:t>φ</a:t>
            </a:r>
            <a:r>
              <a:rPr kumimoji="1" lang="zh-CN" altLang="en-US" b="0" dirty="0">
                <a:solidFill>
                  <a:schemeClr val="tx1"/>
                </a:solidFill>
                <a:latin typeface="黑体" panose="02010609060101010101" pitchFamily="49" charset="-122"/>
              </a:rPr>
              <a:t>），决定了相邻肽单元之间的相对空间位置。</a:t>
            </a:r>
          </a:p>
        </p:txBody>
      </p:sp>
      <p:sp>
        <p:nvSpPr>
          <p:cNvPr id="192515" name="Rectangle 3">
            <a:extLst>
              <a:ext uri="{FF2B5EF4-FFF2-40B4-BE49-F238E27FC236}">
                <a16:creationId xmlns:a16="http://schemas.microsoft.com/office/drawing/2014/main" id="{DFFD26C0-3215-4E0D-A947-9077F099C110}"/>
              </a:ext>
            </a:extLst>
          </p:cNvPr>
          <p:cNvSpPr>
            <a:spLocks noChangeArrowheads="1"/>
          </p:cNvSpPr>
          <p:nvPr/>
        </p:nvSpPr>
        <p:spPr bwMode="auto">
          <a:xfrm>
            <a:off x="2279576" y="260649"/>
            <a:ext cx="354295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3600" dirty="0">
                <a:solidFill>
                  <a:srgbClr val="FFFF00"/>
                </a:solidFill>
              </a:rPr>
              <a:t> 肽单元主要特点</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251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251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25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4562" name="标题 2">
            <a:extLst>
              <a:ext uri="{FF2B5EF4-FFF2-40B4-BE49-F238E27FC236}">
                <a16:creationId xmlns:a16="http://schemas.microsoft.com/office/drawing/2014/main" id="{62E94FC9-B3B4-441D-BD0B-51E7289B992E}"/>
              </a:ext>
            </a:extLst>
          </p:cNvPr>
          <p:cNvSpPr>
            <a:spLocks noGrp="1" noChangeArrowheads="1"/>
          </p:cNvSpPr>
          <p:nvPr>
            <p:ph type="title"/>
          </p:nvPr>
        </p:nvSpPr>
        <p:spPr/>
        <p:txBody>
          <a:bodyPr/>
          <a:lstStyle/>
          <a:p>
            <a:endParaRPr lang="zh-CN" altLang="en-US"/>
          </a:p>
        </p:txBody>
      </p:sp>
      <p:pic>
        <p:nvPicPr>
          <p:cNvPr id="194563" name="Picture 3" descr="13">
            <a:extLst>
              <a:ext uri="{FF2B5EF4-FFF2-40B4-BE49-F238E27FC236}">
                <a16:creationId xmlns:a16="http://schemas.microsoft.com/office/drawing/2014/main" id="{B862D5A9-DD88-411D-A408-2CDFFC0C29F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870201" y="1874838"/>
            <a:ext cx="6373813" cy="4335462"/>
          </a:xfrm>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94564" name="矩形 1">
            <a:extLst>
              <a:ext uri="{FF2B5EF4-FFF2-40B4-BE49-F238E27FC236}">
                <a16:creationId xmlns:a16="http://schemas.microsoft.com/office/drawing/2014/main" id="{A3CE44CD-3975-437D-8389-128B0418F3C7}"/>
              </a:ext>
            </a:extLst>
          </p:cNvPr>
          <p:cNvSpPr>
            <a:spLocks noChangeArrowheads="1"/>
          </p:cNvSpPr>
          <p:nvPr/>
        </p:nvSpPr>
        <p:spPr bwMode="auto">
          <a:xfrm>
            <a:off x="2759076" y="1052513"/>
            <a:ext cx="73945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sz="3200">
                <a:solidFill>
                  <a:srgbClr val="C00000"/>
                </a:solidFill>
                <a:latin typeface="宋体" panose="02010600030101010101" pitchFamily="2" charset="-122"/>
                <a:ea typeface="宋体" panose="02010600030101010101" pitchFamily="2" charset="-122"/>
              </a:rPr>
              <a:t>肽键平面是肽链盘曲折叠的基本单位。 </a:t>
            </a:r>
          </a:p>
        </p:txBody>
      </p:sp>
    </p:spTree>
  </p:cSld>
  <p:clrMapOvr>
    <a:masterClrMapping/>
  </p:clrMapOvr>
  <p:transition spd="slow">
    <p:circl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11">
            <a:extLst>
              <a:ext uri="{FF2B5EF4-FFF2-40B4-BE49-F238E27FC236}">
                <a16:creationId xmlns:a16="http://schemas.microsoft.com/office/drawing/2014/main" id="{D1CC3E11-240D-4F1C-B2D5-ADF4E2AFBC0B}"/>
              </a:ext>
            </a:extLst>
          </p:cNvPr>
          <p:cNvSpPr>
            <a:spLocks noChangeArrowheads="1"/>
          </p:cNvSpPr>
          <p:nvPr/>
        </p:nvSpPr>
        <p:spPr bwMode="auto">
          <a:xfrm>
            <a:off x="5951539" y="1836738"/>
            <a:ext cx="4896989" cy="1947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50000"/>
              </a:lnSpc>
              <a:spcBef>
                <a:spcPct val="0"/>
              </a:spcBef>
              <a:buClrTx/>
              <a:buFontTx/>
              <a:buNone/>
            </a:pPr>
            <a:r>
              <a:rPr lang="el-GR" altLang="zh-CN" dirty="0">
                <a:solidFill>
                  <a:srgbClr val="FF0000"/>
                </a:solidFill>
                <a:latin typeface="黑体" panose="02010609060101010101" pitchFamily="49" charset="-122"/>
                <a:sym typeface="Symbol" panose="05050102010706020507" pitchFamily="18" charset="2"/>
              </a:rPr>
              <a:t></a:t>
            </a:r>
            <a:r>
              <a:rPr lang="en-US" altLang="zh-CN" dirty="0">
                <a:solidFill>
                  <a:srgbClr val="FF0000"/>
                </a:solidFill>
                <a:latin typeface="黑体" panose="02010609060101010101" pitchFamily="49" charset="-122"/>
              </a:rPr>
              <a:t>-</a:t>
            </a:r>
            <a:r>
              <a:rPr lang="zh-CN" altLang="en-US" dirty="0">
                <a:solidFill>
                  <a:srgbClr val="FF0000"/>
                </a:solidFill>
                <a:latin typeface="黑体" panose="02010609060101010101" pitchFamily="49" charset="-122"/>
              </a:rPr>
              <a:t>螺旋：</a:t>
            </a:r>
            <a:r>
              <a:rPr lang="zh-CN" altLang="en-US" dirty="0">
                <a:solidFill>
                  <a:schemeClr val="tx1"/>
                </a:solidFill>
                <a:latin typeface="Arial" panose="020B0604020202020204" pitchFamily="34" charset="0"/>
              </a:rPr>
              <a:t>多肽链的</a:t>
            </a:r>
            <a:r>
              <a:rPr lang="zh-CN" altLang="en-US" dirty="0">
                <a:solidFill>
                  <a:schemeClr val="tx1">
                    <a:lumMod val="60000"/>
                    <a:lumOff val="40000"/>
                  </a:schemeClr>
                </a:solidFill>
                <a:latin typeface="Arial" panose="020B0604020202020204" pitchFamily="34" charset="0"/>
              </a:rPr>
              <a:t>主链原子</a:t>
            </a:r>
            <a:r>
              <a:rPr lang="zh-CN" altLang="en-US" dirty="0">
                <a:solidFill>
                  <a:schemeClr val="tx1"/>
                </a:solidFill>
                <a:latin typeface="Arial" panose="020B0604020202020204" pitchFamily="34" charset="0"/>
              </a:rPr>
              <a:t>围绕中心轴，做有规律的螺旋上升所形成的</a:t>
            </a:r>
            <a:r>
              <a:rPr lang="zh-CN" altLang="en-US" dirty="0">
                <a:solidFill>
                  <a:srgbClr val="C00000"/>
                </a:solidFill>
                <a:latin typeface="Arial" panose="020B0604020202020204" pitchFamily="34" charset="0"/>
              </a:rPr>
              <a:t>右手螺旋结构</a:t>
            </a:r>
            <a:r>
              <a:rPr lang="zh-CN" altLang="en-US" dirty="0">
                <a:solidFill>
                  <a:schemeClr val="tx1"/>
                </a:solidFill>
                <a:latin typeface="Arial" panose="020B0604020202020204" pitchFamily="34" charset="0"/>
              </a:rPr>
              <a:t>。</a:t>
            </a:r>
          </a:p>
        </p:txBody>
      </p:sp>
      <p:sp>
        <p:nvSpPr>
          <p:cNvPr id="662530" name="Rectangle 2">
            <a:extLst>
              <a:ext uri="{FF2B5EF4-FFF2-40B4-BE49-F238E27FC236}">
                <a16:creationId xmlns:a16="http://schemas.microsoft.com/office/drawing/2014/main" id="{578379C1-AD83-4950-8BA6-DBC1D9400D39}"/>
              </a:ext>
            </a:extLst>
          </p:cNvPr>
          <p:cNvSpPr>
            <a:spLocks noGrp="1" noChangeArrowheads="1"/>
          </p:cNvSpPr>
          <p:nvPr>
            <p:ph idx="1"/>
          </p:nvPr>
        </p:nvSpPr>
        <p:spPr>
          <a:xfrm>
            <a:off x="6096000" y="5589589"/>
            <a:ext cx="4114800" cy="725487"/>
          </a:xfrm>
        </p:spPr>
        <p:txBody>
          <a:bodyPr/>
          <a:lstStyle/>
          <a:p>
            <a:pPr eaLnBrk="1" hangingPunct="1">
              <a:buFont typeface="Wingdings" panose="05000000000000000000" pitchFamily="2" charset="2"/>
              <a:buNone/>
            </a:pPr>
            <a:r>
              <a:rPr lang="zh-CN" altLang="en-US" sz="2400">
                <a:solidFill>
                  <a:srgbClr val="0000CC"/>
                </a:solidFill>
                <a:latin typeface="黑体" panose="02010609060101010101" pitchFamily="49" charset="-122"/>
              </a:rPr>
              <a:t>左手螺旋     右手螺旋</a:t>
            </a:r>
            <a:r>
              <a:rPr lang="zh-CN" altLang="en-US">
                <a:solidFill>
                  <a:srgbClr val="0000CC"/>
                </a:solidFill>
                <a:latin typeface="黑体" panose="02010609060101010101" pitchFamily="49" charset="-122"/>
              </a:rPr>
              <a:t> </a:t>
            </a:r>
          </a:p>
        </p:txBody>
      </p:sp>
      <p:sp>
        <p:nvSpPr>
          <p:cNvPr id="196612" name="Rectangle 9">
            <a:extLst>
              <a:ext uri="{FF2B5EF4-FFF2-40B4-BE49-F238E27FC236}">
                <a16:creationId xmlns:a16="http://schemas.microsoft.com/office/drawing/2014/main" id="{8CB779D6-6083-49B3-972B-A8FF7E0EF1DB}"/>
              </a:ext>
            </a:extLst>
          </p:cNvPr>
          <p:cNvSpPr>
            <a:spLocks noChangeArrowheads="1"/>
          </p:cNvSpPr>
          <p:nvPr/>
        </p:nvSpPr>
        <p:spPr bwMode="auto">
          <a:xfrm>
            <a:off x="1847850" y="185738"/>
            <a:ext cx="54991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lang="zh-CN" altLang="en-US" sz="3600">
                <a:solidFill>
                  <a:schemeClr val="bg1"/>
                </a:solidFill>
              </a:rPr>
              <a:t>（二）</a:t>
            </a:r>
            <a:r>
              <a:rPr lang="el-GR" altLang="zh-CN" sz="3600">
                <a:solidFill>
                  <a:schemeClr val="bg1"/>
                </a:solidFill>
                <a:sym typeface="Symbol" panose="05050102010706020507" pitchFamily="18" charset="2"/>
              </a:rPr>
              <a:t></a:t>
            </a:r>
            <a:r>
              <a:rPr lang="en-US" altLang="zh-CN" sz="3600">
                <a:solidFill>
                  <a:schemeClr val="bg1"/>
                </a:solidFill>
              </a:rPr>
              <a:t>-</a:t>
            </a:r>
            <a:r>
              <a:rPr lang="zh-CN" altLang="en-US" sz="3600">
                <a:solidFill>
                  <a:schemeClr val="bg1"/>
                </a:solidFill>
              </a:rPr>
              <a:t>螺旋（ </a:t>
            </a:r>
            <a:r>
              <a:rPr lang="el-GR" altLang="zh-CN" sz="3600">
                <a:solidFill>
                  <a:schemeClr val="bg1"/>
                </a:solidFill>
                <a:sym typeface="Symbol" panose="05050102010706020507" pitchFamily="18" charset="2"/>
              </a:rPr>
              <a:t></a:t>
            </a:r>
            <a:r>
              <a:rPr lang="en-US" altLang="zh-CN" sz="3600">
                <a:solidFill>
                  <a:schemeClr val="bg1"/>
                </a:solidFill>
              </a:rPr>
              <a:t>- helix</a:t>
            </a:r>
            <a:r>
              <a:rPr lang="zh-CN" altLang="en-US" sz="3600">
                <a:solidFill>
                  <a:schemeClr val="bg1"/>
                </a:solidFill>
              </a:rPr>
              <a:t>）</a:t>
            </a:r>
          </a:p>
        </p:txBody>
      </p:sp>
      <p:pic>
        <p:nvPicPr>
          <p:cNvPr id="196613" name="Picture 10" descr="a spiral">
            <a:extLst>
              <a:ext uri="{FF2B5EF4-FFF2-40B4-BE49-F238E27FC236}">
                <a16:creationId xmlns:a16="http://schemas.microsoft.com/office/drawing/2014/main" id="{BBE21E08-AE3A-4B7A-A440-E38F61EB4580}"/>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r="50868" b="10312"/>
          <a:stretch>
            <a:fillRect/>
          </a:stretch>
        </p:blipFill>
        <p:spPr bwMode="auto">
          <a:xfrm>
            <a:off x="1560513" y="1125538"/>
            <a:ext cx="3643312" cy="547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9B4C5E07-4E62-4AC4-AE2B-ED9572E491E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040437" y="1584996"/>
            <a:ext cx="4225925" cy="403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62530">
                                            <p:txEl>
                                              <p:pRg st="0" end="0"/>
                                            </p:txEl>
                                          </p:spTgt>
                                        </p:tgtEl>
                                        <p:attrNameLst>
                                          <p:attrName>style.visibility</p:attrName>
                                        </p:attrNameLst>
                                      </p:cBhvr>
                                      <p:to>
                                        <p:strVal val="visible"/>
                                      </p:to>
                                    </p:set>
                                    <p:animEffect transition="in" filter="box(in)">
                                      <p:cBhvr>
                                        <p:cTn id="7" dur="500"/>
                                        <p:tgtEl>
                                          <p:spTgt spid="662530">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2530" grpId="0" build="p"/>
    </p:bldLst>
  </p:timing>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8658" name="Rectangle 9">
            <a:extLst>
              <a:ext uri="{FF2B5EF4-FFF2-40B4-BE49-F238E27FC236}">
                <a16:creationId xmlns:a16="http://schemas.microsoft.com/office/drawing/2014/main" id="{B611BA8C-34AF-4AD2-8A8D-A841AF1310D1}"/>
              </a:ext>
            </a:extLst>
          </p:cNvPr>
          <p:cNvSpPr>
            <a:spLocks noChangeArrowheads="1"/>
          </p:cNvSpPr>
          <p:nvPr/>
        </p:nvSpPr>
        <p:spPr bwMode="auto">
          <a:xfrm>
            <a:off x="2159000" y="4708526"/>
            <a:ext cx="2330450"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lnSpc>
                <a:spcPct val="120000"/>
              </a:lnSpc>
              <a:spcBef>
                <a:spcPct val="0"/>
              </a:spcBef>
              <a:buClrTx/>
              <a:buFontTx/>
              <a:buNone/>
            </a:pPr>
            <a:r>
              <a:rPr kumimoji="1" lang="en-US" altLang="zh-CN">
                <a:solidFill>
                  <a:srgbClr val="FF0000"/>
                </a:solidFill>
                <a:ea typeface="宋体" panose="02010600030101010101" pitchFamily="2" charset="-122"/>
              </a:rPr>
              <a:t>Linus Pauling</a:t>
            </a:r>
          </a:p>
          <a:p>
            <a:pPr algn="ctr" eaLnBrk="1" hangingPunct="1">
              <a:lnSpc>
                <a:spcPct val="120000"/>
              </a:lnSpc>
              <a:spcBef>
                <a:spcPct val="0"/>
              </a:spcBef>
              <a:buClrTx/>
              <a:buFontTx/>
              <a:buNone/>
            </a:pPr>
            <a:r>
              <a:rPr kumimoji="1" lang="zh-CN" altLang="en-US" sz="2000">
                <a:solidFill>
                  <a:srgbClr val="0000CC"/>
                </a:solidFill>
                <a:ea typeface="宋体" panose="02010600030101010101" pitchFamily="2" charset="-122"/>
              </a:rPr>
              <a:t>（</a:t>
            </a:r>
            <a:r>
              <a:rPr kumimoji="1" lang="en-US" altLang="zh-CN" sz="2000">
                <a:solidFill>
                  <a:srgbClr val="0000CC"/>
                </a:solidFill>
                <a:ea typeface="宋体" panose="02010600030101010101" pitchFamily="2" charset="-122"/>
              </a:rPr>
              <a:t>1901</a:t>
            </a:r>
            <a:r>
              <a:rPr kumimoji="1" lang="zh-CN" altLang="en-US" sz="2000">
                <a:solidFill>
                  <a:srgbClr val="0000CC"/>
                </a:solidFill>
                <a:ea typeface="宋体" panose="02010600030101010101" pitchFamily="2" charset="-122"/>
              </a:rPr>
              <a:t>－－</a:t>
            </a:r>
            <a:r>
              <a:rPr kumimoji="1" lang="en-US" altLang="zh-CN" sz="2000">
                <a:solidFill>
                  <a:srgbClr val="0000CC"/>
                </a:solidFill>
                <a:ea typeface="宋体" panose="02010600030101010101" pitchFamily="2" charset="-122"/>
              </a:rPr>
              <a:t>1994</a:t>
            </a:r>
            <a:r>
              <a:rPr kumimoji="1" lang="zh-CN" altLang="en-US" sz="2000">
                <a:solidFill>
                  <a:srgbClr val="0000CC"/>
                </a:solidFill>
                <a:ea typeface="宋体" panose="02010600030101010101" pitchFamily="2" charset="-122"/>
              </a:rPr>
              <a:t>）</a:t>
            </a:r>
          </a:p>
        </p:txBody>
      </p:sp>
      <p:sp>
        <p:nvSpPr>
          <p:cNvPr id="198659" name="Rectangle 10">
            <a:extLst>
              <a:ext uri="{FF2B5EF4-FFF2-40B4-BE49-F238E27FC236}">
                <a16:creationId xmlns:a16="http://schemas.microsoft.com/office/drawing/2014/main" id="{C3D34C90-040F-40F0-AAD6-EDE2657D65AD}"/>
              </a:ext>
            </a:extLst>
          </p:cNvPr>
          <p:cNvSpPr>
            <a:spLocks noChangeArrowheads="1"/>
          </p:cNvSpPr>
          <p:nvPr/>
        </p:nvSpPr>
        <p:spPr bwMode="auto">
          <a:xfrm>
            <a:off x="5879976" y="1508126"/>
            <a:ext cx="5688706"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2400" dirty="0">
                <a:solidFill>
                  <a:srgbClr val="FF0000"/>
                </a:solidFill>
                <a:ea typeface="宋体" panose="02010600030101010101" pitchFamily="2" charset="-122"/>
              </a:rPr>
              <a:t>The Nobel Prize in Chemistry (1954) </a:t>
            </a:r>
            <a:r>
              <a:rPr kumimoji="1" lang="en-US" altLang="zh-CN" sz="2400" dirty="0">
                <a:solidFill>
                  <a:schemeClr val="tx1"/>
                </a:solidFill>
                <a:ea typeface="宋体" panose="02010600030101010101" pitchFamily="2" charset="-122"/>
              </a:rPr>
              <a:t> </a:t>
            </a:r>
          </a:p>
          <a:p>
            <a:pPr eaLnBrk="1" hangingPunct="1">
              <a:spcBef>
                <a:spcPct val="0"/>
              </a:spcBef>
              <a:buClrTx/>
              <a:buFontTx/>
              <a:buNone/>
            </a:pPr>
            <a:r>
              <a:rPr kumimoji="1" lang="en-US" altLang="zh-CN" sz="2400" dirty="0">
                <a:solidFill>
                  <a:schemeClr val="tx1"/>
                </a:solidFill>
                <a:ea typeface="宋体" panose="02010600030101010101" pitchFamily="2" charset="-122"/>
              </a:rPr>
              <a:t>“for his research into the nature of the chemical bond and its application to the elucidation of the structure of complex substances”</a:t>
            </a:r>
          </a:p>
          <a:p>
            <a:pPr eaLnBrk="1" hangingPunct="1">
              <a:spcBef>
                <a:spcPct val="0"/>
              </a:spcBef>
              <a:buClrTx/>
              <a:buFontTx/>
              <a:buNone/>
            </a:pPr>
            <a:endParaRPr kumimoji="1" lang="en-US" altLang="zh-CN" sz="2400" dirty="0">
              <a:solidFill>
                <a:schemeClr val="tx1"/>
              </a:solidFill>
              <a:ea typeface="宋体" panose="02010600030101010101" pitchFamily="2" charset="-122"/>
            </a:endParaRPr>
          </a:p>
          <a:p>
            <a:pPr eaLnBrk="1" hangingPunct="1">
              <a:spcBef>
                <a:spcPct val="0"/>
              </a:spcBef>
              <a:buClrTx/>
              <a:buFontTx/>
              <a:buNone/>
            </a:pPr>
            <a:r>
              <a:rPr kumimoji="1" lang="en-US" altLang="zh-CN" sz="2400" dirty="0">
                <a:solidFill>
                  <a:srgbClr val="FF0000"/>
                </a:solidFill>
                <a:ea typeface="宋体" panose="02010600030101010101" pitchFamily="2" charset="-122"/>
              </a:rPr>
              <a:t>The Nobel Peace Prize (1962)</a:t>
            </a:r>
          </a:p>
        </p:txBody>
      </p:sp>
      <p:sp>
        <p:nvSpPr>
          <p:cNvPr id="570379" name="Rectangle 11">
            <a:extLst>
              <a:ext uri="{FF2B5EF4-FFF2-40B4-BE49-F238E27FC236}">
                <a16:creationId xmlns:a16="http://schemas.microsoft.com/office/drawing/2014/main" id="{3E600C31-8C69-43EA-8A71-ACA7064FA972}"/>
              </a:ext>
            </a:extLst>
          </p:cNvPr>
          <p:cNvSpPr>
            <a:spLocks noChangeArrowheads="1"/>
          </p:cNvSpPr>
          <p:nvPr/>
        </p:nvSpPr>
        <p:spPr bwMode="auto">
          <a:xfrm>
            <a:off x="5879976" y="4553743"/>
            <a:ext cx="5688706" cy="159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0000"/>
              </a:lnSpc>
              <a:spcBef>
                <a:spcPct val="0"/>
              </a:spcBef>
              <a:buClrTx/>
              <a:buFontTx/>
              <a:buNone/>
            </a:pPr>
            <a:r>
              <a:rPr kumimoji="1" lang="zh-CN" altLang="en-US" dirty="0">
                <a:solidFill>
                  <a:schemeClr val="tx1"/>
                </a:solidFill>
                <a:latin typeface="Arial" panose="020B0604020202020204" pitchFamily="34" charset="0"/>
                <a:ea typeface="宋体" panose="02010600030101010101" pitchFamily="2" charset="-122"/>
              </a:rPr>
              <a:t>路透社在报道鲍林逝世的消息时却说</a:t>
            </a:r>
            <a:r>
              <a:rPr kumimoji="1" lang="en-US" altLang="zh-CN" dirty="0">
                <a:solidFill>
                  <a:schemeClr val="tx1"/>
                </a:solidFill>
                <a:latin typeface="Arial" panose="020B0604020202020204" pitchFamily="34" charset="0"/>
                <a:ea typeface="宋体" panose="02010600030101010101" pitchFamily="2" charset="-122"/>
              </a:rPr>
              <a:t>,</a:t>
            </a:r>
            <a:r>
              <a:rPr kumimoji="1" lang="zh-CN" altLang="en-US" dirty="0">
                <a:solidFill>
                  <a:schemeClr val="tx1"/>
                </a:solidFill>
                <a:latin typeface="Arial" panose="020B0604020202020204" pitchFamily="34" charset="0"/>
                <a:ea typeface="宋体" panose="02010600030101010101" pitchFamily="2" charset="-122"/>
              </a:rPr>
              <a:t>他是“</a:t>
            </a:r>
            <a:r>
              <a:rPr kumimoji="1" lang="en-US" altLang="zh-CN" dirty="0">
                <a:solidFill>
                  <a:schemeClr val="tx1"/>
                </a:solidFill>
                <a:latin typeface="Arial" panose="020B0604020202020204" pitchFamily="34" charset="0"/>
                <a:ea typeface="宋体" panose="02010600030101010101" pitchFamily="2" charset="-122"/>
              </a:rPr>
              <a:t>20</a:t>
            </a:r>
            <a:r>
              <a:rPr kumimoji="1" lang="zh-CN" altLang="en-US" dirty="0">
                <a:solidFill>
                  <a:schemeClr val="tx1"/>
                </a:solidFill>
                <a:latin typeface="Arial" panose="020B0604020202020204" pitchFamily="34" charset="0"/>
                <a:ea typeface="宋体" panose="02010600030101010101" pitchFamily="2" charset="-122"/>
              </a:rPr>
              <a:t>世纪最受尊敬和最受嘲弄的科学家之一”</a:t>
            </a:r>
          </a:p>
        </p:txBody>
      </p:sp>
      <p:sp>
        <p:nvSpPr>
          <p:cNvPr id="198661" name="标题 1">
            <a:extLst>
              <a:ext uri="{FF2B5EF4-FFF2-40B4-BE49-F238E27FC236}">
                <a16:creationId xmlns:a16="http://schemas.microsoft.com/office/drawing/2014/main" id="{FED32109-BCC2-4967-9C71-C3A0DF17B187}"/>
              </a:ext>
            </a:extLst>
          </p:cNvPr>
          <p:cNvSpPr>
            <a:spLocks noGrp="1" noChangeArrowheads="1"/>
          </p:cNvSpPr>
          <p:nvPr>
            <p:ph type="title"/>
          </p:nvPr>
        </p:nvSpPr>
        <p:spPr>
          <a:xfrm>
            <a:off x="1006584" y="223279"/>
            <a:ext cx="8329776" cy="541426"/>
          </a:xfrm>
        </p:spPr>
        <p:txBody>
          <a:bodyPr/>
          <a:lstStyle/>
          <a:p>
            <a:r>
              <a:rPr lang="zh-CN" altLang="en-US" dirty="0"/>
              <a:t>最早提出</a:t>
            </a:r>
            <a:r>
              <a:rPr lang="el-GR" altLang="zh-CN" dirty="0"/>
              <a:t>α</a:t>
            </a:r>
            <a:r>
              <a:rPr lang="en-US" altLang="zh-CN" dirty="0"/>
              <a:t>-</a:t>
            </a:r>
            <a:r>
              <a:rPr lang="zh-CN" altLang="en-US" dirty="0"/>
              <a:t>螺旋结构的大科学家</a:t>
            </a:r>
          </a:p>
        </p:txBody>
      </p:sp>
      <p:pic>
        <p:nvPicPr>
          <p:cNvPr id="198662" name="图片 1">
            <a:extLst>
              <a:ext uri="{FF2B5EF4-FFF2-40B4-BE49-F238E27FC236}">
                <a16:creationId xmlns:a16="http://schemas.microsoft.com/office/drawing/2014/main" id="{B770BBF1-78E1-4CAC-872B-8CCCA98B1399}"/>
              </a:ext>
            </a:extLst>
          </p:cNvPr>
          <p:cNvPicPr>
            <a:picLocks noChangeAspect="1"/>
          </p:cNvPicPr>
          <p:nvPr/>
        </p:nvPicPr>
        <p:blipFill>
          <a:blip r:embed="rId3">
            <a:extLst>
              <a:ext uri="{28A0092B-C50C-407E-A947-70E740481C1C}">
                <a14:useLocalDpi xmlns:a14="http://schemas.microsoft.com/office/drawing/2010/main" val="0"/>
              </a:ext>
            </a:extLst>
          </a:blip>
          <a:srcRect l="6052" r="10791"/>
          <a:stretch>
            <a:fillRect/>
          </a:stretch>
        </p:blipFill>
        <p:spPr bwMode="auto">
          <a:xfrm>
            <a:off x="1524001" y="1508126"/>
            <a:ext cx="3960813" cy="288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70379"/>
                                        </p:tgtEl>
                                        <p:attrNameLst>
                                          <p:attrName>style.visibility</p:attrName>
                                        </p:attrNameLst>
                                      </p:cBhvr>
                                      <p:to>
                                        <p:strVal val="visible"/>
                                      </p:to>
                                    </p:set>
                                    <p:animEffect transition="in" filter="blinds(horizontal)">
                                      <p:cBhvr>
                                        <p:cTn id="7" dur="500"/>
                                        <p:tgtEl>
                                          <p:spTgt spid="5703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0379"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0706" name="内容占位符 3">
            <a:extLst>
              <a:ext uri="{FF2B5EF4-FFF2-40B4-BE49-F238E27FC236}">
                <a16:creationId xmlns:a16="http://schemas.microsoft.com/office/drawing/2014/main" id="{B9E1FBCD-1C7E-42EB-B29F-13E610531B7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186186" y="1447653"/>
            <a:ext cx="3771900" cy="5038725"/>
          </a:xfrm>
        </p:spPr>
      </p:pic>
      <p:sp>
        <p:nvSpPr>
          <p:cNvPr id="200707" name="标题 1">
            <a:extLst>
              <a:ext uri="{FF2B5EF4-FFF2-40B4-BE49-F238E27FC236}">
                <a16:creationId xmlns:a16="http://schemas.microsoft.com/office/drawing/2014/main" id="{027FF739-4A36-4DC5-B861-8672EBAAA89F}"/>
              </a:ext>
            </a:extLst>
          </p:cNvPr>
          <p:cNvSpPr>
            <a:spLocks noGrp="1" noChangeArrowheads="1"/>
          </p:cNvSpPr>
          <p:nvPr>
            <p:ph type="title"/>
          </p:nvPr>
        </p:nvSpPr>
        <p:spPr>
          <a:xfrm>
            <a:off x="1535114" y="134938"/>
            <a:ext cx="7832725" cy="622300"/>
          </a:xfrm>
        </p:spPr>
        <p:txBody>
          <a:bodyPr/>
          <a:lstStyle/>
          <a:p>
            <a:r>
              <a:rPr lang="el-GR" altLang="zh-CN" sz="4000"/>
              <a:t>α</a:t>
            </a:r>
            <a:r>
              <a:rPr lang="en-US" altLang="zh-CN" sz="4000"/>
              <a:t>-</a:t>
            </a:r>
            <a:r>
              <a:rPr lang="zh-CN" altLang="en-US" sz="4000"/>
              <a:t>螺旋的特点</a:t>
            </a:r>
          </a:p>
        </p:txBody>
      </p:sp>
      <p:sp>
        <p:nvSpPr>
          <p:cNvPr id="8" name="文本框 7">
            <a:extLst>
              <a:ext uri="{FF2B5EF4-FFF2-40B4-BE49-F238E27FC236}">
                <a16:creationId xmlns:a16="http://schemas.microsoft.com/office/drawing/2014/main" id="{EE7DB575-0AB1-4F66-873C-711C2A37A04B}"/>
              </a:ext>
            </a:extLst>
          </p:cNvPr>
          <p:cNvSpPr txBox="1"/>
          <p:nvPr/>
        </p:nvSpPr>
        <p:spPr>
          <a:xfrm>
            <a:off x="676528" y="1627913"/>
            <a:ext cx="5329287" cy="4678204"/>
          </a:xfrm>
          <a:prstGeom prst="rect">
            <a:avLst/>
          </a:prstGeom>
          <a:noFill/>
        </p:spPr>
        <p:txBody>
          <a:bodyPr wrap="square">
            <a:spAutoFit/>
          </a:bodyPr>
          <a:lstStyle/>
          <a:p>
            <a:pPr marL="457200" indent="-457200">
              <a:spcBef>
                <a:spcPts val="600"/>
              </a:spcBef>
              <a:buFont typeface="Wingdings" panose="05000000000000000000" pitchFamily="2" charset="2"/>
              <a:buChar char="l"/>
              <a:defRPr/>
            </a:pPr>
            <a:r>
              <a:rPr lang="zh-CN" altLang="en-US" sz="2800" dirty="0">
                <a:solidFill>
                  <a:srgbClr val="C00000"/>
                </a:solidFill>
                <a:latin typeface="+mn-ea"/>
                <a:ea typeface="+mn-ea"/>
              </a:rPr>
              <a:t>右手螺旋</a:t>
            </a:r>
            <a:endParaRPr lang="en-US" altLang="zh-CN" sz="2800" dirty="0">
              <a:solidFill>
                <a:srgbClr val="C00000"/>
              </a:solidFill>
              <a:latin typeface="+mn-ea"/>
              <a:ea typeface="+mn-ea"/>
            </a:endParaRPr>
          </a:p>
          <a:p>
            <a:pPr marL="457200" indent="-457200">
              <a:spcBef>
                <a:spcPts val="600"/>
              </a:spcBef>
              <a:buFont typeface="Wingdings" panose="05000000000000000000" pitchFamily="2" charset="2"/>
              <a:buChar char="l"/>
              <a:defRPr/>
            </a:pPr>
            <a:r>
              <a:rPr lang="zh-CN" altLang="en-US" sz="2800" dirty="0">
                <a:solidFill>
                  <a:srgbClr val="C00000"/>
                </a:solidFill>
                <a:latin typeface="+mn-ea"/>
                <a:ea typeface="+mn-ea"/>
              </a:rPr>
              <a:t>氢键</a:t>
            </a:r>
            <a:r>
              <a:rPr lang="zh-CN" altLang="en-US" sz="2800" dirty="0">
                <a:latin typeface="+mn-ea"/>
                <a:ea typeface="+mn-ea"/>
              </a:rPr>
              <a:t>维持稳定性，与纵轴平行</a:t>
            </a:r>
            <a:endParaRPr lang="en-US" altLang="zh-CN" sz="2800" dirty="0">
              <a:latin typeface="+mn-ea"/>
              <a:ea typeface="+mn-ea"/>
            </a:endParaRPr>
          </a:p>
          <a:p>
            <a:pPr marL="914400" lvl="1" indent="-457200">
              <a:spcBef>
                <a:spcPts val="600"/>
              </a:spcBef>
              <a:buFont typeface="Arial" panose="020B0604020202020204" pitchFamily="34" charset="0"/>
              <a:buChar char="•"/>
              <a:defRPr/>
            </a:pPr>
            <a:r>
              <a:rPr lang="zh-CN" altLang="en-US" sz="2800" dirty="0">
                <a:latin typeface="+mn-ea"/>
                <a:ea typeface="+mn-ea"/>
              </a:rPr>
              <a:t>所有</a:t>
            </a:r>
            <a:r>
              <a:rPr lang="en-US" altLang="zh-CN" sz="2800" dirty="0">
                <a:latin typeface="+mn-ea"/>
                <a:ea typeface="+mn-ea"/>
              </a:rPr>
              <a:t>NH</a:t>
            </a:r>
            <a:r>
              <a:rPr lang="zh-CN" altLang="en-US" sz="2800" dirty="0">
                <a:latin typeface="+mn-ea"/>
                <a:ea typeface="+mn-ea"/>
              </a:rPr>
              <a:t>、</a:t>
            </a:r>
            <a:r>
              <a:rPr lang="en-US" altLang="zh-CN" sz="2800" dirty="0">
                <a:latin typeface="+mn-ea"/>
                <a:ea typeface="+mn-ea"/>
              </a:rPr>
              <a:t>CO</a:t>
            </a:r>
            <a:r>
              <a:rPr lang="zh-CN" altLang="en-US" sz="2800" dirty="0">
                <a:latin typeface="+mn-ea"/>
                <a:ea typeface="+mn-ea"/>
              </a:rPr>
              <a:t>基团参与形成</a:t>
            </a:r>
            <a:r>
              <a:rPr lang="zh-CN" altLang="en-US" sz="2800" dirty="0">
                <a:solidFill>
                  <a:srgbClr val="C00000"/>
                </a:solidFill>
                <a:latin typeface="+mn-ea"/>
                <a:ea typeface="+mn-ea"/>
              </a:rPr>
              <a:t>链内氢键</a:t>
            </a:r>
            <a:r>
              <a:rPr lang="zh-CN" altLang="en-US" sz="2800" dirty="0">
                <a:latin typeface="+mn-ea"/>
                <a:ea typeface="+mn-ea"/>
              </a:rPr>
              <a:t>，除了螺旋末端的几个基团</a:t>
            </a:r>
            <a:endParaRPr lang="en-US" altLang="zh-CN" sz="2800" dirty="0">
              <a:latin typeface="+mn-ea"/>
              <a:ea typeface="+mn-ea"/>
            </a:endParaRPr>
          </a:p>
          <a:p>
            <a:pPr marL="457200" indent="-457200">
              <a:spcBef>
                <a:spcPts val="600"/>
              </a:spcBef>
              <a:buFont typeface="Wingdings" panose="05000000000000000000" pitchFamily="2" charset="2"/>
              <a:buChar char="l"/>
              <a:defRPr/>
            </a:pPr>
            <a:r>
              <a:rPr lang="zh-CN" altLang="en-US" sz="2400" dirty="0">
                <a:latin typeface="+mn-ea"/>
                <a:ea typeface="+mn-ea"/>
              </a:rPr>
              <a:t>螺旋非常紧密，螺旋内部没有额外空间</a:t>
            </a:r>
            <a:endParaRPr lang="en-US" altLang="zh-CN" sz="2400" dirty="0">
              <a:latin typeface="+mn-ea"/>
              <a:ea typeface="+mn-ea"/>
            </a:endParaRPr>
          </a:p>
          <a:p>
            <a:pPr marL="457200" indent="-457200">
              <a:spcBef>
                <a:spcPts val="600"/>
              </a:spcBef>
              <a:buFont typeface="Wingdings" panose="05000000000000000000" pitchFamily="2" charset="2"/>
              <a:buChar char="l"/>
              <a:defRPr/>
            </a:pPr>
            <a:r>
              <a:rPr lang="en-US" altLang="zh-CN" sz="2800" dirty="0">
                <a:solidFill>
                  <a:srgbClr val="C00000"/>
                </a:solidFill>
                <a:latin typeface="+mn-ea"/>
                <a:ea typeface="+mn-ea"/>
              </a:rPr>
              <a:t>R</a:t>
            </a:r>
            <a:r>
              <a:rPr lang="zh-CN" altLang="en-US" sz="2800" dirty="0">
                <a:solidFill>
                  <a:srgbClr val="C00000"/>
                </a:solidFill>
                <a:latin typeface="+mn-ea"/>
                <a:ea typeface="+mn-ea"/>
              </a:rPr>
              <a:t>基团在螺旋外侧</a:t>
            </a:r>
            <a:endParaRPr lang="en-US" altLang="zh-CN" sz="2800" dirty="0">
              <a:solidFill>
                <a:srgbClr val="C00000"/>
              </a:solidFill>
              <a:latin typeface="+mn-ea"/>
              <a:ea typeface="+mn-ea"/>
            </a:endParaRPr>
          </a:p>
          <a:p>
            <a:pPr marL="457200" indent="-457200">
              <a:spcBef>
                <a:spcPts val="600"/>
              </a:spcBef>
              <a:buFont typeface="Wingdings" panose="05000000000000000000" pitchFamily="2" charset="2"/>
              <a:buChar char="l"/>
              <a:defRPr/>
            </a:pPr>
            <a:r>
              <a:rPr lang="en-US" altLang="zh-CN" sz="2800" dirty="0">
                <a:latin typeface="+mn-ea"/>
                <a:ea typeface="+mn-ea"/>
              </a:rPr>
              <a:t>3.6</a:t>
            </a:r>
            <a:r>
              <a:rPr lang="zh-CN" altLang="en-US" sz="2800" dirty="0">
                <a:latin typeface="+mn-ea"/>
                <a:ea typeface="+mn-ea"/>
              </a:rPr>
              <a:t>残基</a:t>
            </a:r>
            <a:r>
              <a:rPr lang="en-US" altLang="zh-CN" sz="2800" dirty="0">
                <a:latin typeface="+mn-ea"/>
                <a:ea typeface="+mn-ea"/>
              </a:rPr>
              <a:t>/</a:t>
            </a:r>
            <a:r>
              <a:rPr lang="zh-CN" altLang="en-US" sz="2800" dirty="0">
                <a:latin typeface="+mn-ea"/>
                <a:ea typeface="+mn-ea"/>
              </a:rPr>
              <a:t>螺旋、螺距</a:t>
            </a:r>
            <a:r>
              <a:rPr lang="en-US" altLang="zh-CN" sz="2800" dirty="0">
                <a:latin typeface="+mn-ea"/>
                <a:ea typeface="+mn-ea"/>
              </a:rPr>
              <a:t>0.54nm </a:t>
            </a:r>
          </a:p>
          <a:p>
            <a:pPr marL="457200" indent="-457200">
              <a:spcBef>
                <a:spcPts val="600"/>
              </a:spcBef>
              <a:buFont typeface="Wingdings" panose="05000000000000000000" pitchFamily="2" charset="2"/>
              <a:buChar char="l"/>
              <a:defRPr/>
            </a:pPr>
            <a:r>
              <a:rPr lang="el-GR" altLang="zh-CN" sz="2400" dirty="0">
                <a:latin typeface="+mn-ea"/>
                <a:ea typeface="+mn-ea"/>
              </a:rPr>
              <a:t>Φ</a:t>
            </a:r>
            <a:r>
              <a:rPr lang="en-US" altLang="zh-CN" sz="2400" dirty="0">
                <a:latin typeface="+mn-ea"/>
                <a:ea typeface="+mn-ea"/>
              </a:rPr>
              <a:t>=-57°</a:t>
            </a:r>
            <a:r>
              <a:rPr lang="zh-CN" altLang="en-US" sz="2400" dirty="0">
                <a:latin typeface="+mn-ea"/>
                <a:ea typeface="+mn-ea"/>
              </a:rPr>
              <a:t>，</a:t>
            </a:r>
            <a:r>
              <a:rPr lang="el-GR" altLang="zh-CN" sz="2400" dirty="0">
                <a:latin typeface="+mn-ea"/>
                <a:ea typeface="+mn-ea"/>
              </a:rPr>
              <a:t>ψ</a:t>
            </a:r>
            <a:r>
              <a:rPr lang="en-US" altLang="zh-CN" sz="2400" dirty="0">
                <a:latin typeface="+mn-ea"/>
                <a:ea typeface="+mn-ea"/>
              </a:rPr>
              <a:t>=-47°</a:t>
            </a:r>
          </a:p>
        </p:txBody>
      </p:sp>
      <p:pic>
        <p:nvPicPr>
          <p:cNvPr id="9" name="图片 8">
            <a:extLst>
              <a:ext uri="{FF2B5EF4-FFF2-40B4-BE49-F238E27FC236}">
                <a16:creationId xmlns:a16="http://schemas.microsoft.com/office/drawing/2014/main" id="{25845C1F-B413-43ED-82D4-1ED3334BF03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632504" y="1483464"/>
            <a:ext cx="1285875" cy="450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9">
            <a:extLst>
              <a:ext uri="{FF2B5EF4-FFF2-40B4-BE49-F238E27FC236}">
                <a16:creationId xmlns:a16="http://schemas.microsoft.com/office/drawing/2014/main" id="{7CCCB7D9-E22C-4A80-AC6D-25277D38B0F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655248" y="3849687"/>
            <a:ext cx="1949333" cy="1932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500"/>
                                        <p:tgtEl>
                                          <p:spTgt spid="8">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xEl>
                                              <p:pRg st="2" end="2"/>
                                            </p:txEl>
                                          </p:spTgt>
                                        </p:tgtEl>
                                        <p:attrNameLst>
                                          <p:attrName>style.visibility</p:attrName>
                                        </p:attrNameLst>
                                      </p:cBhvr>
                                      <p:to>
                                        <p:strVal val="visible"/>
                                      </p:to>
                                    </p:set>
                                    <p:animEffect transition="in" filter="fade">
                                      <p:cBhvr>
                                        <p:cTn id="10" dur="500"/>
                                        <p:tgtEl>
                                          <p:spTgt spid="8">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animEffect transition="in" filter="fade">
                                      <p:cBhvr>
                                        <p:cTn id="15" dur="500"/>
                                        <p:tgtEl>
                                          <p:spTgt spid="8">
                                            <p:txEl>
                                              <p:pRg st="3" end="3"/>
                                            </p:txEl>
                                          </p:spTgt>
                                        </p:tgtEl>
                                      </p:cBhvr>
                                    </p:animEffect>
                                  </p:childTnLst>
                                </p:cTn>
                              </p:par>
                            </p:childTnLst>
                          </p:cTn>
                        </p:par>
                        <p:par>
                          <p:cTn id="16" fill="hold" nodeType="afterGroup">
                            <p:stCondLst>
                              <p:cond delay="500"/>
                            </p:stCondLst>
                            <p:childTnLst>
                              <p:par>
                                <p:cTn id="17" presetID="10" presetClass="entr" presetSubtype="0"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nodeType="clickEffect">
                                  <p:stCondLst>
                                    <p:cond delay="0"/>
                                  </p:stCondLst>
                                  <p:childTnLst>
                                    <p:set>
                                      <p:cBhvr>
                                        <p:cTn id="23" dur="1" fill="hold">
                                          <p:stCondLst>
                                            <p:cond delay="0"/>
                                          </p:stCondLst>
                                        </p:cTn>
                                        <p:tgtEl>
                                          <p:spTgt spid="8">
                                            <p:txEl>
                                              <p:pRg st="4" end="4"/>
                                            </p:txEl>
                                          </p:spTgt>
                                        </p:tgtEl>
                                        <p:attrNameLst>
                                          <p:attrName>style.visibility</p:attrName>
                                        </p:attrNameLst>
                                      </p:cBhvr>
                                      <p:to>
                                        <p:strVal val="visible"/>
                                      </p:to>
                                    </p:set>
                                    <p:animEffect transition="in" filter="fade">
                                      <p:cBhvr>
                                        <p:cTn id="24" dur="500"/>
                                        <p:tgtEl>
                                          <p:spTgt spid="8">
                                            <p:txEl>
                                              <p:pRg st="4" end="4"/>
                                            </p:txEl>
                                          </p:spTgt>
                                        </p:tgtEl>
                                      </p:cBhvr>
                                    </p:animEffect>
                                  </p:childTnLst>
                                </p:cTn>
                              </p:par>
                            </p:childTnLst>
                          </p:cTn>
                        </p:par>
                        <p:par>
                          <p:cTn id="25" fill="hold" nodeType="afterGroup">
                            <p:stCondLst>
                              <p:cond delay="500"/>
                            </p:stCondLst>
                            <p:childTnLst>
                              <p:par>
                                <p:cTn id="26" presetID="10" presetClass="entr" presetSubtype="0" fill="hold"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nodeType="click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animEffect transition="in" filter="fade">
                                      <p:cBhvr>
                                        <p:cTn id="33" dur="500"/>
                                        <p:tgtEl>
                                          <p:spTgt spid="8">
                                            <p:txEl>
                                              <p:pRg st="5" end="5"/>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8">
                                            <p:txEl>
                                              <p:pRg st="6" end="6"/>
                                            </p:txEl>
                                          </p:spTgt>
                                        </p:tgtEl>
                                        <p:attrNameLst>
                                          <p:attrName>style.visibility</p:attrName>
                                        </p:attrNameLst>
                                      </p:cBhvr>
                                      <p:to>
                                        <p:strVal val="visible"/>
                                      </p:to>
                                    </p:set>
                                    <p:animEffect transition="in" filter="fade">
                                      <p:cBhvr>
                                        <p:cTn id="36"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02754" name="图片 1">
            <a:extLst>
              <a:ext uri="{FF2B5EF4-FFF2-40B4-BE49-F238E27FC236}">
                <a16:creationId xmlns:a16="http://schemas.microsoft.com/office/drawing/2014/main" id="{8750CA51-B2BC-4C20-A131-2350348F16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6076" y="404813"/>
            <a:ext cx="8577263" cy="276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23622CDA-2369-42CB-84EA-0BD5C536A20F}"/>
              </a:ext>
            </a:extLst>
          </p:cNvPr>
          <p:cNvSpPr/>
          <p:nvPr/>
        </p:nvSpPr>
        <p:spPr>
          <a:xfrm>
            <a:off x="695400" y="3616752"/>
            <a:ext cx="10801200" cy="2111091"/>
          </a:xfrm>
          <a:prstGeom prst="rect">
            <a:avLst/>
          </a:prstGeom>
        </p:spPr>
        <p:txBody>
          <a:bodyPr wrap="square">
            <a:spAutoFit/>
          </a:bodyPr>
          <a:lstStyle/>
          <a:p>
            <a:pPr marL="342900" indent="-342900">
              <a:lnSpc>
                <a:spcPct val="120000"/>
              </a:lnSpc>
              <a:spcBef>
                <a:spcPct val="20000"/>
              </a:spcBef>
              <a:buClr>
                <a:srgbClr val="5AA5DE"/>
              </a:buClr>
              <a:buFont typeface="Wingdings" panose="05000000000000000000" pitchFamily="2" charset="2"/>
              <a:buChar char="v"/>
              <a:defRPr/>
            </a:pPr>
            <a:r>
              <a:rPr lang="zh-CN" altLang="en-US" sz="2800" kern="0" dirty="0">
                <a:solidFill>
                  <a:srgbClr val="00004D"/>
                </a:solidFill>
                <a:latin typeface="Times New Roman"/>
                <a:ea typeface="黑体"/>
              </a:rPr>
              <a:t>教材第</a:t>
            </a:r>
            <a:r>
              <a:rPr lang="en-US" altLang="zh-CN" sz="2800" kern="0" dirty="0">
                <a:solidFill>
                  <a:srgbClr val="00004D"/>
                </a:solidFill>
                <a:latin typeface="Times New Roman"/>
                <a:ea typeface="黑体"/>
              </a:rPr>
              <a:t>14</a:t>
            </a:r>
            <a:r>
              <a:rPr lang="zh-CN" altLang="en-US" sz="2800" kern="0" dirty="0">
                <a:solidFill>
                  <a:srgbClr val="00004D"/>
                </a:solidFill>
                <a:latin typeface="Times New Roman"/>
                <a:ea typeface="黑体"/>
              </a:rPr>
              <a:t>页倒数第</a:t>
            </a:r>
            <a:r>
              <a:rPr lang="en-US" altLang="zh-CN" sz="2800" kern="0" dirty="0">
                <a:solidFill>
                  <a:srgbClr val="00004D"/>
                </a:solidFill>
                <a:latin typeface="Times New Roman"/>
                <a:ea typeface="黑体"/>
              </a:rPr>
              <a:t>12</a:t>
            </a:r>
            <a:r>
              <a:rPr lang="zh-CN" altLang="en-US" sz="2800" kern="0" dirty="0">
                <a:solidFill>
                  <a:srgbClr val="00004D"/>
                </a:solidFill>
                <a:latin typeface="Times New Roman"/>
                <a:ea typeface="黑体"/>
              </a:rPr>
              <a:t>行，</a:t>
            </a:r>
            <a:r>
              <a:rPr lang="zh-CN" altLang="en-US" sz="2800" kern="0" dirty="0">
                <a:solidFill>
                  <a:srgbClr val="0000CC"/>
                </a:solidFill>
                <a:latin typeface="Times New Roman"/>
                <a:ea typeface="黑体"/>
              </a:rPr>
              <a:t>应改为</a:t>
            </a:r>
            <a:r>
              <a:rPr lang="zh-CN" altLang="en-US" sz="2800" kern="0" dirty="0">
                <a:solidFill>
                  <a:srgbClr val="00004D"/>
                </a:solidFill>
                <a:latin typeface="Times New Roman"/>
                <a:ea typeface="黑体"/>
              </a:rPr>
              <a:t>：“</a:t>
            </a:r>
            <a:r>
              <a:rPr lang="el-GR" altLang="zh-CN" sz="2800" kern="0" dirty="0">
                <a:solidFill>
                  <a:srgbClr val="00004D"/>
                </a:solidFill>
                <a:latin typeface="Times New Roman"/>
                <a:ea typeface="黑体"/>
              </a:rPr>
              <a:t>α</a:t>
            </a:r>
            <a:r>
              <a:rPr lang="en-US" altLang="zh-CN" sz="2800" kern="0" dirty="0">
                <a:solidFill>
                  <a:srgbClr val="00004D"/>
                </a:solidFill>
                <a:latin typeface="Times New Roman"/>
                <a:ea typeface="黑体"/>
              </a:rPr>
              <a:t>-</a:t>
            </a:r>
            <a:r>
              <a:rPr lang="zh-CN" altLang="en-US" sz="2800" kern="0" dirty="0">
                <a:solidFill>
                  <a:srgbClr val="00004D"/>
                </a:solidFill>
                <a:latin typeface="Times New Roman"/>
                <a:ea typeface="黑体"/>
              </a:rPr>
              <a:t>螺旋的每个肽键的</a:t>
            </a:r>
            <a:r>
              <a:rPr lang="zh-CN" altLang="en-US" sz="2800" kern="0" dirty="0">
                <a:solidFill>
                  <a:srgbClr val="C00000"/>
                </a:solidFill>
                <a:latin typeface="Times New Roman"/>
                <a:ea typeface="黑体"/>
              </a:rPr>
              <a:t>羰基氧</a:t>
            </a:r>
            <a:r>
              <a:rPr lang="zh-CN" altLang="en-US" sz="2800" kern="0" dirty="0">
                <a:solidFill>
                  <a:srgbClr val="00004D"/>
                </a:solidFill>
                <a:latin typeface="Times New Roman"/>
                <a:ea typeface="黑体"/>
              </a:rPr>
              <a:t>与第四个肽键的</a:t>
            </a:r>
            <a:r>
              <a:rPr lang="en-US" altLang="zh-CN" sz="2800" kern="0" dirty="0">
                <a:solidFill>
                  <a:srgbClr val="C00000"/>
                </a:solidFill>
                <a:latin typeface="Times New Roman"/>
                <a:ea typeface="黑体"/>
              </a:rPr>
              <a:t>N-H</a:t>
            </a:r>
            <a:r>
              <a:rPr lang="zh-CN" altLang="en-US" sz="2800" kern="0" dirty="0">
                <a:solidFill>
                  <a:srgbClr val="00004D"/>
                </a:solidFill>
                <a:latin typeface="Times New Roman"/>
                <a:ea typeface="黑体"/>
              </a:rPr>
              <a:t>形成氢键</a:t>
            </a:r>
            <a:r>
              <a:rPr lang="en-US" altLang="zh-CN" sz="2800" kern="0" dirty="0">
                <a:solidFill>
                  <a:srgbClr val="00004D"/>
                </a:solidFill>
                <a:latin typeface="Times New Roman"/>
                <a:ea typeface="黑体"/>
              </a:rPr>
              <a:t>..” </a:t>
            </a:r>
            <a:r>
              <a:rPr lang="zh-CN" altLang="en-US" sz="2800" kern="0" dirty="0">
                <a:solidFill>
                  <a:srgbClr val="00004D"/>
                </a:solidFill>
                <a:latin typeface="Times New Roman"/>
                <a:ea typeface="黑体"/>
              </a:rPr>
              <a:t>   因为肽链中</a:t>
            </a:r>
            <a:r>
              <a:rPr lang="zh-CN" altLang="en-US" sz="2800" kern="0" dirty="0">
                <a:solidFill>
                  <a:srgbClr val="CC00CC"/>
                </a:solidFill>
                <a:latin typeface="Times New Roman"/>
                <a:ea typeface="黑体"/>
              </a:rPr>
              <a:t>氨基酸的排列顺序是默认从</a:t>
            </a:r>
            <a:r>
              <a:rPr lang="en-US" altLang="zh-CN" sz="2800" kern="0" dirty="0">
                <a:solidFill>
                  <a:srgbClr val="CC00CC"/>
                </a:solidFill>
                <a:latin typeface="Times New Roman"/>
                <a:ea typeface="黑体"/>
              </a:rPr>
              <a:t>N</a:t>
            </a:r>
            <a:r>
              <a:rPr lang="zh-CN" altLang="en-US" sz="2800" kern="0" dirty="0">
                <a:solidFill>
                  <a:srgbClr val="CC00CC"/>
                </a:solidFill>
                <a:latin typeface="Times New Roman"/>
                <a:ea typeface="黑体"/>
              </a:rPr>
              <a:t>端到</a:t>
            </a:r>
            <a:r>
              <a:rPr lang="en-US" altLang="zh-CN" sz="2800" kern="0" dirty="0">
                <a:solidFill>
                  <a:srgbClr val="CC00CC"/>
                </a:solidFill>
                <a:latin typeface="Times New Roman"/>
                <a:ea typeface="黑体"/>
              </a:rPr>
              <a:t>C</a:t>
            </a:r>
            <a:r>
              <a:rPr lang="zh-CN" altLang="en-US" sz="2800" kern="0" dirty="0">
                <a:solidFill>
                  <a:srgbClr val="CC00CC"/>
                </a:solidFill>
                <a:latin typeface="Times New Roman"/>
                <a:ea typeface="黑体"/>
              </a:rPr>
              <a:t>端</a:t>
            </a:r>
            <a:r>
              <a:rPr lang="zh-CN" altLang="en-US" sz="2800" kern="0" dirty="0">
                <a:solidFill>
                  <a:srgbClr val="00004D"/>
                </a:solidFill>
                <a:latin typeface="Times New Roman"/>
                <a:ea typeface="黑体"/>
              </a:rPr>
              <a:t>， 我们说肽键的顺序时也是从</a:t>
            </a:r>
            <a:r>
              <a:rPr lang="en-US" altLang="zh-CN" sz="2800" kern="0" dirty="0">
                <a:solidFill>
                  <a:srgbClr val="00004D"/>
                </a:solidFill>
                <a:latin typeface="Times New Roman"/>
                <a:ea typeface="黑体"/>
              </a:rPr>
              <a:t>N</a:t>
            </a:r>
            <a:r>
              <a:rPr lang="zh-CN" altLang="en-US" sz="2800" kern="0" dirty="0">
                <a:solidFill>
                  <a:srgbClr val="00004D"/>
                </a:solidFill>
                <a:latin typeface="Times New Roman"/>
                <a:ea typeface="黑体"/>
              </a:rPr>
              <a:t>端起始。   原话前如果加一个前提也可以成立：从螺旋的</a:t>
            </a:r>
            <a:r>
              <a:rPr lang="en-US" altLang="zh-CN" sz="2800" kern="0" dirty="0">
                <a:solidFill>
                  <a:srgbClr val="00004D"/>
                </a:solidFill>
                <a:latin typeface="Times New Roman"/>
                <a:ea typeface="黑体"/>
              </a:rPr>
              <a:t>C</a:t>
            </a:r>
            <a:r>
              <a:rPr lang="zh-CN" altLang="en-US" sz="2800" kern="0" dirty="0">
                <a:solidFill>
                  <a:srgbClr val="00004D"/>
                </a:solidFill>
                <a:latin typeface="Times New Roman"/>
                <a:ea typeface="黑体"/>
              </a:rPr>
              <a:t>端（向</a:t>
            </a:r>
            <a:r>
              <a:rPr lang="en-US" altLang="zh-CN" sz="2800" kern="0" dirty="0">
                <a:solidFill>
                  <a:srgbClr val="00004D"/>
                </a:solidFill>
                <a:latin typeface="Times New Roman"/>
                <a:ea typeface="黑体"/>
              </a:rPr>
              <a:t>N</a:t>
            </a:r>
            <a:r>
              <a:rPr lang="zh-CN" altLang="en-US" sz="2800" kern="0" dirty="0">
                <a:solidFill>
                  <a:srgbClr val="00004D"/>
                </a:solidFill>
                <a:latin typeface="Times New Roman"/>
                <a:ea typeface="黑体"/>
              </a:rPr>
              <a:t>端）数起。 </a:t>
            </a:r>
            <a:endParaRPr lang="en-US" altLang="zh-CN" sz="2800" kern="0" dirty="0">
              <a:solidFill>
                <a:srgbClr val="00004D"/>
              </a:solidFill>
              <a:latin typeface="Times New Roman"/>
              <a:ea typeface="黑体"/>
            </a:endParaRPr>
          </a:p>
        </p:txBody>
      </p:sp>
      <p:sp>
        <p:nvSpPr>
          <p:cNvPr id="4" name="任意多边形: 形状 3">
            <a:extLst>
              <a:ext uri="{FF2B5EF4-FFF2-40B4-BE49-F238E27FC236}">
                <a16:creationId xmlns:a16="http://schemas.microsoft.com/office/drawing/2014/main" id="{BF16B333-FCF6-4E34-AF85-C730D717BD96}"/>
              </a:ext>
            </a:extLst>
          </p:cNvPr>
          <p:cNvSpPr/>
          <p:nvPr/>
        </p:nvSpPr>
        <p:spPr bwMode="auto">
          <a:xfrm>
            <a:off x="2777447" y="1130157"/>
            <a:ext cx="1160980" cy="1397286"/>
          </a:xfrm>
          <a:custGeom>
            <a:avLst/>
            <a:gdLst>
              <a:gd name="connsiteX0" fmla="*/ 0 w 1160980"/>
              <a:gd name="connsiteY0" fmla="*/ 955497 h 1397286"/>
              <a:gd name="connsiteX1" fmla="*/ 0 w 1160980"/>
              <a:gd name="connsiteY1" fmla="*/ 955497 h 1397286"/>
              <a:gd name="connsiteX2" fmla="*/ 41097 w 1160980"/>
              <a:gd name="connsiteY2" fmla="*/ 842481 h 1397286"/>
              <a:gd name="connsiteX3" fmla="*/ 123290 w 1160980"/>
              <a:gd name="connsiteY3" fmla="*/ 688369 h 1397286"/>
              <a:gd name="connsiteX4" fmla="*/ 154113 w 1160980"/>
              <a:gd name="connsiteY4" fmla="*/ 616450 h 1397286"/>
              <a:gd name="connsiteX5" fmla="*/ 205483 w 1160980"/>
              <a:gd name="connsiteY5" fmla="*/ 534256 h 1397286"/>
              <a:gd name="connsiteX6" fmla="*/ 226032 w 1160980"/>
              <a:gd name="connsiteY6" fmla="*/ 452063 h 1397286"/>
              <a:gd name="connsiteX7" fmla="*/ 277402 w 1160980"/>
              <a:gd name="connsiteY7" fmla="*/ 369870 h 1397286"/>
              <a:gd name="connsiteX8" fmla="*/ 308225 w 1160980"/>
              <a:gd name="connsiteY8" fmla="*/ 308225 h 1397286"/>
              <a:gd name="connsiteX9" fmla="*/ 339047 w 1160980"/>
              <a:gd name="connsiteY9" fmla="*/ 236306 h 1397286"/>
              <a:gd name="connsiteX10" fmla="*/ 421241 w 1160980"/>
              <a:gd name="connsiteY10" fmla="*/ 143839 h 1397286"/>
              <a:gd name="connsiteX11" fmla="*/ 462337 w 1160980"/>
              <a:gd name="connsiteY11" fmla="*/ 123290 h 1397286"/>
              <a:gd name="connsiteX12" fmla="*/ 503434 w 1160980"/>
              <a:gd name="connsiteY12" fmla="*/ 92468 h 1397286"/>
              <a:gd name="connsiteX13" fmla="*/ 606175 w 1160980"/>
              <a:gd name="connsiteY13" fmla="*/ 30823 h 1397286"/>
              <a:gd name="connsiteX14" fmla="*/ 750014 w 1160980"/>
              <a:gd name="connsiteY14" fmla="*/ 0 h 1397286"/>
              <a:gd name="connsiteX15" fmla="*/ 1068513 w 1160980"/>
              <a:gd name="connsiteY15" fmla="*/ 10274 h 1397286"/>
              <a:gd name="connsiteX16" fmla="*/ 1109609 w 1160980"/>
              <a:gd name="connsiteY16" fmla="*/ 51371 h 1397286"/>
              <a:gd name="connsiteX17" fmla="*/ 1130157 w 1160980"/>
              <a:gd name="connsiteY17" fmla="*/ 174661 h 1397286"/>
              <a:gd name="connsiteX18" fmla="*/ 1160980 w 1160980"/>
              <a:gd name="connsiteY18" fmla="*/ 318499 h 1397286"/>
              <a:gd name="connsiteX19" fmla="*/ 1089061 w 1160980"/>
              <a:gd name="connsiteY19" fmla="*/ 678095 h 1397286"/>
              <a:gd name="connsiteX20" fmla="*/ 1068513 w 1160980"/>
              <a:gd name="connsiteY20" fmla="*/ 719191 h 1397286"/>
              <a:gd name="connsiteX21" fmla="*/ 1047964 w 1160980"/>
              <a:gd name="connsiteY21" fmla="*/ 739740 h 1397286"/>
              <a:gd name="connsiteX22" fmla="*/ 1017142 w 1160980"/>
              <a:gd name="connsiteY22" fmla="*/ 780836 h 1397286"/>
              <a:gd name="connsiteX23" fmla="*/ 986319 w 1160980"/>
              <a:gd name="connsiteY23" fmla="*/ 801385 h 1397286"/>
              <a:gd name="connsiteX24" fmla="*/ 955497 w 1160980"/>
              <a:gd name="connsiteY24" fmla="*/ 832207 h 1397286"/>
              <a:gd name="connsiteX25" fmla="*/ 893852 w 1160980"/>
              <a:gd name="connsiteY25" fmla="*/ 852755 h 1397286"/>
              <a:gd name="connsiteX26" fmla="*/ 863029 w 1160980"/>
              <a:gd name="connsiteY26" fmla="*/ 883578 h 1397286"/>
              <a:gd name="connsiteX27" fmla="*/ 801384 w 1160980"/>
              <a:gd name="connsiteY27" fmla="*/ 904126 h 1397286"/>
              <a:gd name="connsiteX28" fmla="*/ 719191 w 1160980"/>
              <a:gd name="connsiteY28" fmla="*/ 996594 h 1397286"/>
              <a:gd name="connsiteX29" fmla="*/ 688369 w 1160980"/>
              <a:gd name="connsiteY29" fmla="*/ 1017142 h 1397286"/>
              <a:gd name="connsiteX30" fmla="*/ 647272 w 1160980"/>
              <a:gd name="connsiteY30" fmla="*/ 1068513 h 1397286"/>
              <a:gd name="connsiteX31" fmla="*/ 585627 w 1160980"/>
              <a:gd name="connsiteY31" fmla="*/ 1212351 h 1397286"/>
              <a:gd name="connsiteX32" fmla="*/ 544531 w 1160980"/>
              <a:gd name="connsiteY32" fmla="*/ 1315092 h 1397286"/>
              <a:gd name="connsiteX33" fmla="*/ 523982 w 1160980"/>
              <a:gd name="connsiteY33" fmla="*/ 1335641 h 1397286"/>
              <a:gd name="connsiteX34" fmla="*/ 503434 w 1160980"/>
              <a:gd name="connsiteY34" fmla="*/ 1376737 h 1397286"/>
              <a:gd name="connsiteX35" fmla="*/ 410966 w 1160980"/>
              <a:gd name="connsiteY35" fmla="*/ 1397286 h 1397286"/>
              <a:gd name="connsiteX36" fmla="*/ 51371 w 1160980"/>
              <a:gd name="connsiteY36" fmla="*/ 1376737 h 1397286"/>
              <a:gd name="connsiteX37" fmla="*/ 30823 w 1160980"/>
              <a:gd name="connsiteY37" fmla="*/ 1345915 h 1397286"/>
              <a:gd name="connsiteX38" fmla="*/ 20549 w 1160980"/>
              <a:gd name="connsiteY38" fmla="*/ 1294544 h 1397286"/>
              <a:gd name="connsiteX39" fmla="*/ 10274 w 1160980"/>
              <a:gd name="connsiteY39" fmla="*/ 1263722 h 1397286"/>
              <a:gd name="connsiteX40" fmla="*/ 0 w 1160980"/>
              <a:gd name="connsiteY40" fmla="*/ 955497 h 1397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60980" h="1397286">
                <a:moveTo>
                  <a:pt x="0" y="955497"/>
                </a:moveTo>
                <a:lnTo>
                  <a:pt x="0" y="955497"/>
                </a:lnTo>
                <a:cubicBezTo>
                  <a:pt x="13699" y="917825"/>
                  <a:pt x="25306" y="879325"/>
                  <a:pt x="41097" y="842481"/>
                </a:cubicBezTo>
                <a:cubicBezTo>
                  <a:pt x="71245" y="772135"/>
                  <a:pt x="88495" y="746362"/>
                  <a:pt x="123290" y="688369"/>
                </a:cubicBezTo>
                <a:cubicBezTo>
                  <a:pt x="144673" y="602834"/>
                  <a:pt x="118635" y="687405"/>
                  <a:pt x="154113" y="616450"/>
                </a:cubicBezTo>
                <a:cubicBezTo>
                  <a:pt x="193032" y="538613"/>
                  <a:pt x="151398" y="588342"/>
                  <a:pt x="205483" y="534256"/>
                </a:cubicBezTo>
                <a:cubicBezTo>
                  <a:pt x="212333" y="506858"/>
                  <a:pt x="215894" y="478422"/>
                  <a:pt x="226032" y="452063"/>
                </a:cubicBezTo>
                <a:cubicBezTo>
                  <a:pt x="239017" y="418303"/>
                  <a:pt x="260735" y="399871"/>
                  <a:pt x="277402" y="369870"/>
                </a:cubicBezTo>
                <a:cubicBezTo>
                  <a:pt x="288559" y="349787"/>
                  <a:pt x="298598" y="329084"/>
                  <a:pt x="308225" y="308225"/>
                </a:cubicBezTo>
                <a:cubicBezTo>
                  <a:pt x="319155" y="284544"/>
                  <a:pt x="326558" y="259203"/>
                  <a:pt x="339047" y="236306"/>
                </a:cubicBezTo>
                <a:cubicBezTo>
                  <a:pt x="353467" y="209869"/>
                  <a:pt x="401506" y="159188"/>
                  <a:pt x="421241" y="143839"/>
                </a:cubicBezTo>
                <a:cubicBezTo>
                  <a:pt x="433330" y="134436"/>
                  <a:pt x="449349" y="131407"/>
                  <a:pt x="462337" y="123290"/>
                </a:cubicBezTo>
                <a:cubicBezTo>
                  <a:pt x="476858" y="114214"/>
                  <a:pt x="489406" y="102288"/>
                  <a:pt x="503434" y="92468"/>
                </a:cubicBezTo>
                <a:cubicBezTo>
                  <a:pt x="524750" y="77547"/>
                  <a:pt x="575903" y="40914"/>
                  <a:pt x="606175" y="30823"/>
                </a:cubicBezTo>
                <a:cubicBezTo>
                  <a:pt x="657381" y="13754"/>
                  <a:pt x="698278" y="8623"/>
                  <a:pt x="750014" y="0"/>
                </a:cubicBezTo>
                <a:cubicBezTo>
                  <a:pt x="856180" y="3425"/>
                  <a:pt x="963359" y="-4748"/>
                  <a:pt x="1068513" y="10274"/>
                </a:cubicBezTo>
                <a:cubicBezTo>
                  <a:pt x="1087691" y="13014"/>
                  <a:pt x="1102807" y="33231"/>
                  <a:pt x="1109609" y="51371"/>
                </a:cubicBezTo>
                <a:cubicBezTo>
                  <a:pt x="1124238" y="90382"/>
                  <a:pt x="1120052" y="134242"/>
                  <a:pt x="1130157" y="174661"/>
                </a:cubicBezTo>
                <a:cubicBezTo>
                  <a:pt x="1155759" y="277064"/>
                  <a:pt x="1146063" y="228997"/>
                  <a:pt x="1160980" y="318499"/>
                </a:cubicBezTo>
                <a:cubicBezTo>
                  <a:pt x="1148710" y="600709"/>
                  <a:pt x="1185966" y="484286"/>
                  <a:pt x="1089061" y="678095"/>
                </a:cubicBezTo>
                <a:cubicBezTo>
                  <a:pt x="1082212" y="691794"/>
                  <a:pt x="1079343" y="708361"/>
                  <a:pt x="1068513" y="719191"/>
                </a:cubicBezTo>
                <a:cubicBezTo>
                  <a:pt x="1061663" y="726041"/>
                  <a:pt x="1054165" y="732298"/>
                  <a:pt x="1047964" y="739740"/>
                </a:cubicBezTo>
                <a:cubicBezTo>
                  <a:pt x="1037002" y="752894"/>
                  <a:pt x="1029250" y="768728"/>
                  <a:pt x="1017142" y="780836"/>
                </a:cubicBezTo>
                <a:cubicBezTo>
                  <a:pt x="1008410" y="789568"/>
                  <a:pt x="995805" y="793480"/>
                  <a:pt x="986319" y="801385"/>
                </a:cubicBezTo>
                <a:cubicBezTo>
                  <a:pt x="975157" y="810687"/>
                  <a:pt x="968198" y="825151"/>
                  <a:pt x="955497" y="832207"/>
                </a:cubicBezTo>
                <a:cubicBezTo>
                  <a:pt x="936563" y="842726"/>
                  <a:pt x="893852" y="852755"/>
                  <a:pt x="893852" y="852755"/>
                </a:cubicBezTo>
                <a:cubicBezTo>
                  <a:pt x="883578" y="863029"/>
                  <a:pt x="875731" y="876522"/>
                  <a:pt x="863029" y="883578"/>
                </a:cubicBezTo>
                <a:cubicBezTo>
                  <a:pt x="844095" y="894097"/>
                  <a:pt x="801384" y="904126"/>
                  <a:pt x="801384" y="904126"/>
                </a:cubicBezTo>
                <a:cubicBezTo>
                  <a:pt x="771482" y="941504"/>
                  <a:pt x="755213" y="965718"/>
                  <a:pt x="719191" y="996594"/>
                </a:cubicBezTo>
                <a:cubicBezTo>
                  <a:pt x="709816" y="1004630"/>
                  <a:pt x="698011" y="1009428"/>
                  <a:pt x="688369" y="1017142"/>
                </a:cubicBezTo>
                <a:cubicBezTo>
                  <a:pt x="673098" y="1029358"/>
                  <a:pt x="655334" y="1051381"/>
                  <a:pt x="647272" y="1068513"/>
                </a:cubicBezTo>
                <a:cubicBezTo>
                  <a:pt x="625061" y="1115712"/>
                  <a:pt x="602122" y="1162864"/>
                  <a:pt x="585627" y="1212351"/>
                </a:cubicBezTo>
                <a:cubicBezTo>
                  <a:pt x="574489" y="1245767"/>
                  <a:pt x="564688" y="1284857"/>
                  <a:pt x="544531" y="1315092"/>
                </a:cubicBezTo>
                <a:cubicBezTo>
                  <a:pt x="539158" y="1323152"/>
                  <a:pt x="529355" y="1327581"/>
                  <a:pt x="523982" y="1335641"/>
                </a:cubicBezTo>
                <a:cubicBezTo>
                  <a:pt x="515486" y="1348384"/>
                  <a:pt x="516879" y="1369403"/>
                  <a:pt x="503434" y="1376737"/>
                </a:cubicBezTo>
                <a:cubicBezTo>
                  <a:pt x="475715" y="1391857"/>
                  <a:pt x="441789" y="1390436"/>
                  <a:pt x="410966" y="1397286"/>
                </a:cubicBezTo>
                <a:cubicBezTo>
                  <a:pt x="291101" y="1390436"/>
                  <a:pt x="170350" y="1392815"/>
                  <a:pt x="51371" y="1376737"/>
                </a:cubicBezTo>
                <a:cubicBezTo>
                  <a:pt x="39134" y="1375083"/>
                  <a:pt x="35159" y="1357477"/>
                  <a:pt x="30823" y="1345915"/>
                </a:cubicBezTo>
                <a:cubicBezTo>
                  <a:pt x="24691" y="1329564"/>
                  <a:pt x="24784" y="1311485"/>
                  <a:pt x="20549" y="1294544"/>
                </a:cubicBezTo>
                <a:cubicBezTo>
                  <a:pt x="17922" y="1284038"/>
                  <a:pt x="10623" y="1274546"/>
                  <a:pt x="10274" y="1263722"/>
                </a:cubicBezTo>
                <a:cubicBezTo>
                  <a:pt x="7182" y="1167880"/>
                  <a:pt x="1712" y="1006868"/>
                  <a:pt x="0" y="955497"/>
                </a:cubicBezTo>
                <a:close/>
              </a:path>
            </a:pathLst>
          </a:custGeom>
          <a:no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eaLnBrk="1" hangingPunct="1"/>
            <a:endParaRPr lang="zh-CN" altLang="en-US"/>
          </a:p>
        </p:txBody>
      </p:sp>
      <p:sp>
        <p:nvSpPr>
          <p:cNvPr id="9" name="任意多边形: 形状 8">
            <a:extLst>
              <a:ext uri="{FF2B5EF4-FFF2-40B4-BE49-F238E27FC236}">
                <a16:creationId xmlns:a16="http://schemas.microsoft.com/office/drawing/2014/main" id="{1F2D4C95-5B55-4222-A556-5933ADF00C0A}"/>
              </a:ext>
            </a:extLst>
          </p:cNvPr>
          <p:cNvSpPr/>
          <p:nvPr/>
        </p:nvSpPr>
        <p:spPr bwMode="auto">
          <a:xfrm>
            <a:off x="4113088" y="1058239"/>
            <a:ext cx="1099334" cy="1376737"/>
          </a:xfrm>
          <a:custGeom>
            <a:avLst/>
            <a:gdLst>
              <a:gd name="connsiteX0" fmla="*/ 1017141 w 1099334"/>
              <a:gd name="connsiteY0" fmla="*/ 1222625 h 1376737"/>
              <a:gd name="connsiteX1" fmla="*/ 1017141 w 1099334"/>
              <a:gd name="connsiteY1" fmla="*/ 1222625 h 1376737"/>
              <a:gd name="connsiteX2" fmla="*/ 1006867 w 1099334"/>
              <a:gd name="connsiteY2" fmla="*/ 1315092 h 1376737"/>
              <a:gd name="connsiteX3" fmla="*/ 965770 w 1099334"/>
              <a:gd name="connsiteY3" fmla="*/ 1345915 h 1376737"/>
              <a:gd name="connsiteX4" fmla="*/ 873303 w 1099334"/>
              <a:gd name="connsiteY4" fmla="*/ 1376737 h 1376737"/>
              <a:gd name="connsiteX5" fmla="*/ 616449 w 1099334"/>
              <a:gd name="connsiteY5" fmla="*/ 1345915 h 1376737"/>
              <a:gd name="connsiteX6" fmla="*/ 575352 w 1099334"/>
              <a:gd name="connsiteY6" fmla="*/ 1325366 h 1376737"/>
              <a:gd name="connsiteX7" fmla="*/ 544530 w 1099334"/>
              <a:gd name="connsiteY7" fmla="*/ 1273996 h 1376737"/>
              <a:gd name="connsiteX8" fmla="*/ 534256 w 1099334"/>
              <a:gd name="connsiteY8" fmla="*/ 1232899 h 1376737"/>
              <a:gd name="connsiteX9" fmla="*/ 493159 w 1099334"/>
              <a:gd name="connsiteY9" fmla="*/ 1202077 h 1376737"/>
              <a:gd name="connsiteX10" fmla="*/ 472611 w 1099334"/>
              <a:gd name="connsiteY10" fmla="*/ 1171254 h 1376737"/>
              <a:gd name="connsiteX11" fmla="*/ 380143 w 1099334"/>
              <a:gd name="connsiteY11" fmla="*/ 1109609 h 1376737"/>
              <a:gd name="connsiteX12" fmla="*/ 256854 w 1099334"/>
              <a:gd name="connsiteY12" fmla="*/ 996593 h 1376737"/>
              <a:gd name="connsiteX13" fmla="*/ 195209 w 1099334"/>
              <a:gd name="connsiteY13" fmla="*/ 883578 h 1376737"/>
              <a:gd name="connsiteX14" fmla="*/ 184934 w 1099334"/>
              <a:gd name="connsiteY14" fmla="*/ 832207 h 1376737"/>
              <a:gd name="connsiteX15" fmla="*/ 143838 w 1099334"/>
              <a:gd name="connsiteY15" fmla="*/ 760288 h 1376737"/>
              <a:gd name="connsiteX16" fmla="*/ 123290 w 1099334"/>
              <a:gd name="connsiteY16" fmla="*/ 698643 h 1376737"/>
              <a:gd name="connsiteX17" fmla="*/ 92467 w 1099334"/>
              <a:gd name="connsiteY17" fmla="*/ 636998 h 1376737"/>
              <a:gd name="connsiteX18" fmla="*/ 82193 w 1099334"/>
              <a:gd name="connsiteY18" fmla="*/ 585627 h 1376737"/>
              <a:gd name="connsiteX19" fmla="*/ 41096 w 1099334"/>
              <a:gd name="connsiteY19" fmla="*/ 503434 h 1376737"/>
              <a:gd name="connsiteX20" fmla="*/ 20548 w 1099334"/>
              <a:gd name="connsiteY20" fmla="*/ 462337 h 1376737"/>
              <a:gd name="connsiteX21" fmla="*/ 0 w 1099334"/>
              <a:gd name="connsiteY21" fmla="*/ 380144 h 1376737"/>
              <a:gd name="connsiteX22" fmla="*/ 10274 w 1099334"/>
              <a:gd name="connsiteY22" fmla="*/ 92468 h 1376737"/>
              <a:gd name="connsiteX23" fmla="*/ 41096 w 1099334"/>
              <a:gd name="connsiteY23" fmla="*/ 41097 h 1376737"/>
              <a:gd name="connsiteX24" fmla="*/ 51370 w 1099334"/>
              <a:gd name="connsiteY24" fmla="*/ 0 h 1376737"/>
              <a:gd name="connsiteX25" fmla="*/ 369869 w 1099334"/>
              <a:gd name="connsiteY25" fmla="*/ 20549 h 1376737"/>
              <a:gd name="connsiteX26" fmla="*/ 410966 w 1099334"/>
              <a:gd name="connsiteY26" fmla="*/ 92468 h 1376737"/>
              <a:gd name="connsiteX27" fmla="*/ 421240 w 1099334"/>
              <a:gd name="connsiteY27" fmla="*/ 143838 h 1376737"/>
              <a:gd name="connsiteX28" fmla="*/ 441788 w 1099334"/>
              <a:gd name="connsiteY28" fmla="*/ 195209 h 1376737"/>
              <a:gd name="connsiteX29" fmla="*/ 472611 w 1099334"/>
              <a:gd name="connsiteY29" fmla="*/ 277402 h 1376737"/>
              <a:gd name="connsiteX30" fmla="*/ 493159 w 1099334"/>
              <a:gd name="connsiteY30" fmla="*/ 390418 h 1376737"/>
              <a:gd name="connsiteX31" fmla="*/ 503433 w 1099334"/>
              <a:gd name="connsiteY31" fmla="*/ 421241 h 1376737"/>
              <a:gd name="connsiteX32" fmla="*/ 523982 w 1099334"/>
              <a:gd name="connsiteY32" fmla="*/ 452063 h 1376737"/>
              <a:gd name="connsiteX33" fmla="*/ 575352 w 1099334"/>
              <a:gd name="connsiteY33" fmla="*/ 534256 h 1376737"/>
              <a:gd name="connsiteX34" fmla="*/ 585627 w 1099334"/>
              <a:gd name="connsiteY34" fmla="*/ 575353 h 1376737"/>
              <a:gd name="connsiteX35" fmla="*/ 647272 w 1099334"/>
              <a:gd name="connsiteY35" fmla="*/ 678095 h 1376737"/>
              <a:gd name="connsiteX36" fmla="*/ 780836 w 1099334"/>
              <a:gd name="connsiteY36" fmla="*/ 708917 h 1376737"/>
              <a:gd name="connsiteX37" fmla="*/ 893851 w 1099334"/>
              <a:gd name="connsiteY37" fmla="*/ 750014 h 1376737"/>
              <a:gd name="connsiteX38" fmla="*/ 965770 w 1099334"/>
              <a:gd name="connsiteY38" fmla="*/ 842481 h 1376737"/>
              <a:gd name="connsiteX39" fmla="*/ 1027415 w 1099334"/>
              <a:gd name="connsiteY39" fmla="*/ 904126 h 1376737"/>
              <a:gd name="connsiteX40" fmla="*/ 1058238 w 1099334"/>
              <a:gd name="connsiteY40" fmla="*/ 955497 h 1376737"/>
              <a:gd name="connsiteX41" fmla="*/ 1099334 w 1099334"/>
              <a:gd name="connsiteY41" fmla="*/ 1109609 h 1376737"/>
              <a:gd name="connsiteX42" fmla="*/ 1089060 w 1099334"/>
              <a:gd name="connsiteY42" fmla="*/ 1181528 h 1376737"/>
              <a:gd name="connsiteX43" fmla="*/ 945222 w 1099334"/>
              <a:gd name="connsiteY43" fmla="*/ 1212351 h 1376737"/>
              <a:gd name="connsiteX44" fmla="*/ 1017141 w 1099334"/>
              <a:gd name="connsiteY44" fmla="*/ 1222625 h 1376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099334" h="1376737">
                <a:moveTo>
                  <a:pt x="1017141" y="1222625"/>
                </a:moveTo>
                <a:lnTo>
                  <a:pt x="1017141" y="1222625"/>
                </a:lnTo>
                <a:cubicBezTo>
                  <a:pt x="1013716" y="1253447"/>
                  <a:pt x="1018795" y="1286466"/>
                  <a:pt x="1006867" y="1315092"/>
                </a:cubicBezTo>
                <a:cubicBezTo>
                  <a:pt x="1000281" y="1330899"/>
                  <a:pt x="979704" y="1335962"/>
                  <a:pt x="965770" y="1345915"/>
                </a:cubicBezTo>
                <a:cubicBezTo>
                  <a:pt x="921803" y="1377320"/>
                  <a:pt x="940063" y="1365611"/>
                  <a:pt x="873303" y="1376737"/>
                </a:cubicBezTo>
                <a:cubicBezTo>
                  <a:pt x="838654" y="1373587"/>
                  <a:pt x="690104" y="1377481"/>
                  <a:pt x="616449" y="1345915"/>
                </a:cubicBezTo>
                <a:cubicBezTo>
                  <a:pt x="602371" y="1339882"/>
                  <a:pt x="589051" y="1332216"/>
                  <a:pt x="575352" y="1325366"/>
                </a:cubicBezTo>
                <a:cubicBezTo>
                  <a:pt x="565078" y="1308243"/>
                  <a:pt x="552640" y="1292244"/>
                  <a:pt x="544530" y="1273996"/>
                </a:cubicBezTo>
                <a:cubicBezTo>
                  <a:pt x="538795" y="1261092"/>
                  <a:pt x="542463" y="1244389"/>
                  <a:pt x="534256" y="1232899"/>
                </a:cubicBezTo>
                <a:cubicBezTo>
                  <a:pt x="524303" y="1218965"/>
                  <a:pt x="506858" y="1212351"/>
                  <a:pt x="493159" y="1202077"/>
                </a:cubicBezTo>
                <a:cubicBezTo>
                  <a:pt x="486310" y="1191803"/>
                  <a:pt x="481342" y="1179985"/>
                  <a:pt x="472611" y="1171254"/>
                </a:cubicBezTo>
                <a:cubicBezTo>
                  <a:pt x="413472" y="1112115"/>
                  <a:pt x="448607" y="1168293"/>
                  <a:pt x="380143" y="1109609"/>
                </a:cubicBezTo>
                <a:cubicBezTo>
                  <a:pt x="203035" y="957802"/>
                  <a:pt x="345448" y="1055658"/>
                  <a:pt x="256854" y="996593"/>
                </a:cubicBezTo>
                <a:cubicBezTo>
                  <a:pt x="188899" y="792737"/>
                  <a:pt x="290810" y="1074780"/>
                  <a:pt x="195209" y="883578"/>
                </a:cubicBezTo>
                <a:cubicBezTo>
                  <a:pt x="187399" y="867959"/>
                  <a:pt x="191650" y="848327"/>
                  <a:pt x="184934" y="832207"/>
                </a:cubicBezTo>
                <a:cubicBezTo>
                  <a:pt x="174314" y="806720"/>
                  <a:pt x="155408" y="785358"/>
                  <a:pt x="143838" y="760288"/>
                </a:cubicBezTo>
                <a:cubicBezTo>
                  <a:pt x="134761" y="740622"/>
                  <a:pt x="131621" y="718637"/>
                  <a:pt x="123290" y="698643"/>
                </a:cubicBezTo>
                <a:cubicBezTo>
                  <a:pt x="114454" y="677436"/>
                  <a:pt x="102741" y="657546"/>
                  <a:pt x="92467" y="636998"/>
                </a:cubicBezTo>
                <a:cubicBezTo>
                  <a:pt x="89042" y="619874"/>
                  <a:pt x="88462" y="601926"/>
                  <a:pt x="82193" y="585627"/>
                </a:cubicBezTo>
                <a:cubicBezTo>
                  <a:pt x="71197" y="557037"/>
                  <a:pt x="54795" y="530832"/>
                  <a:pt x="41096" y="503434"/>
                </a:cubicBezTo>
                <a:cubicBezTo>
                  <a:pt x="34247" y="489735"/>
                  <a:pt x="24263" y="477196"/>
                  <a:pt x="20548" y="462337"/>
                </a:cubicBezTo>
                <a:lnTo>
                  <a:pt x="0" y="380144"/>
                </a:lnTo>
                <a:cubicBezTo>
                  <a:pt x="3425" y="284252"/>
                  <a:pt x="-1272" y="187724"/>
                  <a:pt x="10274" y="92468"/>
                </a:cubicBezTo>
                <a:cubicBezTo>
                  <a:pt x="12677" y="72644"/>
                  <a:pt x="32986" y="59345"/>
                  <a:pt x="41096" y="41097"/>
                </a:cubicBezTo>
                <a:cubicBezTo>
                  <a:pt x="46831" y="28193"/>
                  <a:pt x="47945" y="13699"/>
                  <a:pt x="51370" y="0"/>
                </a:cubicBezTo>
                <a:cubicBezTo>
                  <a:pt x="157536" y="6850"/>
                  <a:pt x="265101" y="2061"/>
                  <a:pt x="369869" y="20549"/>
                </a:cubicBezTo>
                <a:cubicBezTo>
                  <a:pt x="389411" y="23998"/>
                  <a:pt x="406522" y="74690"/>
                  <a:pt x="410966" y="92468"/>
                </a:cubicBezTo>
                <a:cubicBezTo>
                  <a:pt x="415201" y="109409"/>
                  <a:pt x="416222" y="127112"/>
                  <a:pt x="421240" y="143838"/>
                </a:cubicBezTo>
                <a:cubicBezTo>
                  <a:pt x="426539" y="161503"/>
                  <a:pt x="435956" y="177713"/>
                  <a:pt x="441788" y="195209"/>
                </a:cubicBezTo>
                <a:cubicBezTo>
                  <a:pt x="469764" y="279138"/>
                  <a:pt x="430578" y="193336"/>
                  <a:pt x="472611" y="277402"/>
                </a:cubicBezTo>
                <a:cubicBezTo>
                  <a:pt x="479460" y="315074"/>
                  <a:pt x="485136" y="352978"/>
                  <a:pt x="493159" y="390418"/>
                </a:cubicBezTo>
                <a:cubicBezTo>
                  <a:pt x="495428" y="401008"/>
                  <a:pt x="498590" y="411554"/>
                  <a:pt x="503433" y="421241"/>
                </a:cubicBezTo>
                <a:cubicBezTo>
                  <a:pt x="508955" y="432285"/>
                  <a:pt x="517132" y="441789"/>
                  <a:pt x="523982" y="452063"/>
                </a:cubicBezTo>
                <a:cubicBezTo>
                  <a:pt x="547753" y="570922"/>
                  <a:pt x="510344" y="443245"/>
                  <a:pt x="575352" y="534256"/>
                </a:cubicBezTo>
                <a:cubicBezTo>
                  <a:pt x="583560" y="545746"/>
                  <a:pt x="580383" y="562242"/>
                  <a:pt x="585627" y="575353"/>
                </a:cubicBezTo>
                <a:cubicBezTo>
                  <a:pt x="590140" y="586636"/>
                  <a:pt x="627982" y="667573"/>
                  <a:pt x="647272" y="678095"/>
                </a:cubicBezTo>
                <a:cubicBezTo>
                  <a:pt x="673107" y="692187"/>
                  <a:pt x="747097" y="699716"/>
                  <a:pt x="780836" y="708917"/>
                </a:cubicBezTo>
                <a:cubicBezTo>
                  <a:pt x="822298" y="720225"/>
                  <a:pt x="854453" y="734254"/>
                  <a:pt x="893851" y="750014"/>
                </a:cubicBezTo>
                <a:cubicBezTo>
                  <a:pt x="921938" y="792143"/>
                  <a:pt x="922307" y="795066"/>
                  <a:pt x="965770" y="842481"/>
                </a:cubicBezTo>
                <a:cubicBezTo>
                  <a:pt x="985406" y="863903"/>
                  <a:pt x="1009013" y="881635"/>
                  <a:pt x="1027415" y="904126"/>
                </a:cubicBezTo>
                <a:cubicBezTo>
                  <a:pt x="1040060" y="919582"/>
                  <a:pt x="1047964" y="938373"/>
                  <a:pt x="1058238" y="955497"/>
                </a:cubicBezTo>
                <a:cubicBezTo>
                  <a:pt x="1084833" y="1061878"/>
                  <a:pt x="1071028" y="1010536"/>
                  <a:pt x="1099334" y="1109609"/>
                </a:cubicBezTo>
                <a:cubicBezTo>
                  <a:pt x="1095909" y="1133582"/>
                  <a:pt x="1099890" y="1159868"/>
                  <a:pt x="1089060" y="1181528"/>
                </a:cubicBezTo>
                <a:cubicBezTo>
                  <a:pt x="1063375" y="1232900"/>
                  <a:pt x="979471" y="1212351"/>
                  <a:pt x="945222" y="1212351"/>
                </a:cubicBezTo>
                <a:lnTo>
                  <a:pt x="1017141" y="1222625"/>
                </a:lnTo>
                <a:close/>
              </a:path>
            </a:pathLst>
          </a:custGeom>
          <a:no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eaLnBrk="1" hangingPunct="1"/>
            <a:endParaRPr lang="zh-CN" altLang="en-US"/>
          </a:p>
        </p:txBody>
      </p:sp>
      <p:sp>
        <p:nvSpPr>
          <p:cNvPr id="10" name="任意多边形: 形状 9">
            <a:extLst>
              <a:ext uri="{FF2B5EF4-FFF2-40B4-BE49-F238E27FC236}">
                <a16:creationId xmlns:a16="http://schemas.microsoft.com/office/drawing/2014/main" id="{1AC36237-2550-4579-A1E4-25B44A5B9910}"/>
              </a:ext>
            </a:extLst>
          </p:cNvPr>
          <p:cNvSpPr/>
          <p:nvPr/>
        </p:nvSpPr>
        <p:spPr bwMode="auto">
          <a:xfrm>
            <a:off x="5396594" y="1171255"/>
            <a:ext cx="1079551" cy="1282283"/>
          </a:xfrm>
          <a:custGeom>
            <a:avLst/>
            <a:gdLst>
              <a:gd name="connsiteX0" fmla="*/ 134328 w 1079551"/>
              <a:gd name="connsiteY0" fmla="*/ 1232899 h 1282283"/>
              <a:gd name="connsiteX1" fmla="*/ 134328 w 1079551"/>
              <a:gd name="connsiteY1" fmla="*/ 1232899 h 1282283"/>
              <a:gd name="connsiteX2" fmla="*/ 113780 w 1079551"/>
              <a:gd name="connsiteY2" fmla="*/ 1089061 h 1282283"/>
              <a:gd name="connsiteX3" fmla="*/ 52135 w 1079551"/>
              <a:gd name="connsiteY3" fmla="*/ 934948 h 1282283"/>
              <a:gd name="connsiteX4" fmla="*/ 21313 w 1079551"/>
              <a:gd name="connsiteY4" fmla="*/ 842481 h 1282283"/>
              <a:gd name="connsiteX5" fmla="*/ 764 w 1079551"/>
              <a:gd name="connsiteY5" fmla="*/ 698643 h 1282283"/>
              <a:gd name="connsiteX6" fmla="*/ 31587 w 1079551"/>
              <a:gd name="connsiteY6" fmla="*/ 595901 h 1282283"/>
              <a:gd name="connsiteX7" fmla="*/ 113780 w 1079551"/>
              <a:gd name="connsiteY7" fmla="*/ 513708 h 1282283"/>
              <a:gd name="connsiteX8" fmla="*/ 206247 w 1079551"/>
              <a:gd name="connsiteY8" fmla="*/ 472611 h 1282283"/>
              <a:gd name="connsiteX9" fmla="*/ 237070 w 1079551"/>
              <a:gd name="connsiteY9" fmla="*/ 441789 h 1282283"/>
              <a:gd name="connsiteX10" fmla="*/ 288441 w 1079551"/>
              <a:gd name="connsiteY10" fmla="*/ 410966 h 1282283"/>
              <a:gd name="connsiteX11" fmla="*/ 339811 w 1079551"/>
              <a:gd name="connsiteY11" fmla="*/ 328773 h 1282283"/>
              <a:gd name="connsiteX12" fmla="*/ 370634 w 1079551"/>
              <a:gd name="connsiteY12" fmla="*/ 287676 h 1282283"/>
              <a:gd name="connsiteX13" fmla="*/ 391182 w 1079551"/>
              <a:gd name="connsiteY13" fmla="*/ 246580 h 1282283"/>
              <a:gd name="connsiteX14" fmla="*/ 483650 w 1079551"/>
              <a:gd name="connsiteY14" fmla="*/ 164386 h 1282283"/>
              <a:gd name="connsiteX15" fmla="*/ 555569 w 1079551"/>
              <a:gd name="connsiteY15" fmla="*/ 123290 h 1282283"/>
              <a:gd name="connsiteX16" fmla="*/ 658310 w 1079551"/>
              <a:gd name="connsiteY16" fmla="*/ 51371 h 1282283"/>
              <a:gd name="connsiteX17" fmla="*/ 740504 w 1079551"/>
              <a:gd name="connsiteY17" fmla="*/ 10274 h 1282283"/>
              <a:gd name="connsiteX18" fmla="*/ 843245 w 1079551"/>
              <a:gd name="connsiteY18" fmla="*/ 0 h 1282283"/>
              <a:gd name="connsiteX19" fmla="*/ 956261 w 1079551"/>
              <a:gd name="connsiteY19" fmla="*/ 20548 h 1282283"/>
              <a:gd name="connsiteX20" fmla="*/ 1007632 w 1079551"/>
              <a:gd name="connsiteY20" fmla="*/ 71919 h 1282283"/>
              <a:gd name="connsiteX21" fmla="*/ 1038454 w 1079551"/>
              <a:gd name="connsiteY21" fmla="*/ 143838 h 1282283"/>
              <a:gd name="connsiteX22" fmla="*/ 1069277 w 1079551"/>
              <a:gd name="connsiteY22" fmla="*/ 195209 h 1282283"/>
              <a:gd name="connsiteX23" fmla="*/ 1079551 w 1079551"/>
              <a:gd name="connsiteY23" fmla="*/ 246580 h 1282283"/>
              <a:gd name="connsiteX24" fmla="*/ 1069277 w 1079551"/>
              <a:gd name="connsiteY24" fmla="*/ 462337 h 1282283"/>
              <a:gd name="connsiteX25" fmla="*/ 1048728 w 1079551"/>
              <a:gd name="connsiteY25" fmla="*/ 503434 h 1282283"/>
              <a:gd name="connsiteX26" fmla="*/ 987083 w 1079551"/>
              <a:gd name="connsiteY26" fmla="*/ 606175 h 1282283"/>
              <a:gd name="connsiteX27" fmla="*/ 925438 w 1079551"/>
              <a:gd name="connsiteY27" fmla="*/ 678094 h 1282283"/>
              <a:gd name="connsiteX28" fmla="*/ 832971 w 1079551"/>
              <a:gd name="connsiteY28" fmla="*/ 791110 h 1282283"/>
              <a:gd name="connsiteX29" fmla="*/ 750778 w 1079551"/>
              <a:gd name="connsiteY29" fmla="*/ 832207 h 1282283"/>
              <a:gd name="connsiteX30" fmla="*/ 658310 w 1079551"/>
              <a:gd name="connsiteY30" fmla="*/ 883577 h 1282283"/>
              <a:gd name="connsiteX31" fmla="*/ 648036 w 1079551"/>
              <a:gd name="connsiteY31" fmla="*/ 924674 h 1282283"/>
              <a:gd name="connsiteX32" fmla="*/ 637762 w 1079551"/>
              <a:gd name="connsiteY32" fmla="*/ 1006867 h 1282283"/>
              <a:gd name="connsiteX33" fmla="*/ 617214 w 1079551"/>
              <a:gd name="connsiteY33" fmla="*/ 1037690 h 1282283"/>
              <a:gd name="connsiteX34" fmla="*/ 586391 w 1079551"/>
              <a:gd name="connsiteY34" fmla="*/ 1078786 h 1282283"/>
              <a:gd name="connsiteX35" fmla="*/ 565843 w 1079551"/>
              <a:gd name="connsiteY35" fmla="*/ 1099335 h 1282283"/>
              <a:gd name="connsiteX36" fmla="*/ 545295 w 1079551"/>
              <a:gd name="connsiteY36" fmla="*/ 1140431 h 1282283"/>
              <a:gd name="connsiteX37" fmla="*/ 524746 w 1079551"/>
              <a:gd name="connsiteY37" fmla="*/ 1171254 h 1282283"/>
              <a:gd name="connsiteX38" fmla="*/ 493924 w 1079551"/>
              <a:gd name="connsiteY38" fmla="*/ 1212350 h 1282283"/>
              <a:gd name="connsiteX39" fmla="*/ 442553 w 1079551"/>
              <a:gd name="connsiteY39" fmla="*/ 1222625 h 1282283"/>
              <a:gd name="connsiteX40" fmla="*/ 216522 w 1079551"/>
              <a:gd name="connsiteY40" fmla="*/ 1253447 h 1282283"/>
              <a:gd name="connsiteX41" fmla="*/ 195973 w 1079551"/>
              <a:gd name="connsiteY41" fmla="*/ 1222625 h 1282283"/>
              <a:gd name="connsiteX42" fmla="*/ 134328 w 1079551"/>
              <a:gd name="connsiteY42" fmla="*/ 1232899 h 1282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9551" h="1282283">
                <a:moveTo>
                  <a:pt x="134328" y="1232899"/>
                </a:moveTo>
                <a:lnTo>
                  <a:pt x="134328" y="1232899"/>
                </a:lnTo>
                <a:cubicBezTo>
                  <a:pt x="127479" y="1184953"/>
                  <a:pt x="126660" y="1135750"/>
                  <a:pt x="113780" y="1089061"/>
                </a:cubicBezTo>
                <a:cubicBezTo>
                  <a:pt x="99067" y="1035725"/>
                  <a:pt x="69631" y="987437"/>
                  <a:pt x="52135" y="934948"/>
                </a:cubicBezTo>
                <a:lnTo>
                  <a:pt x="21313" y="842481"/>
                </a:lnTo>
                <a:cubicBezTo>
                  <a:pt x="14463" y="794535"/>
                  <a:pt x="3068" y="747021"/>
                  <a:pt x="764" y="698643"/>
                </a:cubicBezTo>
                <a:cubicBezTo>
                  <a:pt x="-2743" y="625009"/>
                  <a:pt x="5522" y="641514"/>
                  <a:pt x="31587" y="595901"/>
                </a:cubicBezTo>
                <a:cubicBezTo>
                  <a:pt x="57900" y="549853"/>
                  <a:pt x="47903" y="535666"/>
                  <a:pt x="113780" y="513708"/>
                </a:cubicBezTo>
                <a:cubicBezTo>
                  <a:pt x="149586" y="501773"/>
                  <a:pt x="170577" y="496391"/>
                  <a:pt x="206247" y="472611"/>
                </a:cubicBezTo>
                <a:cubicBezTo>
                  <a:pt x="218337" y="464551"/>
                  <a:pt x="225446" y="450507"/>
                  <a:pt x="237070" y="441789"/>
                </a:cubicBezTo>
                <a:cubicBezTo>
                  <a:pt x="253046" y="429807"/>
                  <a:pt x="271317" y="421240"/>
                  <a:pt x="288441" y="410966"/>
                </a:cubicBezTo>
                <a:cubicBezTo>
                  <a:pt x="375757" y="294544"/>
                  <a:pt x="269294" y="441601"/>
                  <a:pt x="339811" y="328773"/>
                </a:cubicBezTo>
                <a:cubicBezTo>
                  <a:pt x="348887" y="314252"/>
                  <a:pt x="361558" y="302197"/>
                  <a:pt x="370634" y="287676"/>
                </a:cubicBezTo>
                <a:cubicBezTo>
                  <a:pt x="378751" y="274688"/>
                  <a:pt x="381779" y="258669"/>
                  <a:pt x="391182" y="246580"/>
                </a:cubicBezTo>
                <a:cubicBezTo>
                  <a:pt x="411764" y="220117"/>
                  <a:pt x="453513" y="183564"/>
                  <a:pt x="483650" y="164386"/>
                </a:cubicBezTo>
                <a:cubicBezTo>
                  <a:pt x="506944" y="149562"/>
                  <a:pt x="531596" y="136989"/>
                  <a:pt x="555569" y="123290"/>
                </a:cubicBezTo>
                <a:cubicBezTo>
                  <a:pt x="606973" y="54750"/>
                  <a:pt x="563138" y="98957"/>
                  <a:pt x="658310" y="51371"/>
                </a:cubicBezTo>
                <a:cubicBezTo>
                  <a:pt x="702082" y="29485"/>
                  <a:pt x="681247" y="22125"/>
                  <a:pt x="740504" y="10274"/>
                </a:cubicBezTo>
                <a:cubicBezTo>
                  <a:pt x="774253" y="3524"/>
                  <a:pt x="808998" y="3425"/>
                  <a:pt x="843245" y="0"/>
                </a:cubicBezTo>
                <a:cubicBezTo>
                  <a:pt x="880917" y="6849"/>
                  <a:pt x="921182" y="5201"/>
                  <a:pt x="956261" y="20548"/>
                </a:cubicBezTo>
                <a:cubicBezTo>
                  <a:pt x="978447" y="30254"/>
                  <a:pt x="1007632" y="71919"/>
                  <a:pt x="1007632" y="71919"/>
                </a:cubicBezTo>
                <a:cubicBezTo>
                  <a:pt x="1017906" y="95892"/>
                  <a:pt x="1026790" y="120510"/>
                  <a:pt x="1038454" y="143838"/>
                </a:cubicBezTo>
                <a:cubicBezTo>
                  <a:pt x="1047385" y="161699"/>
                  <a:pt x="1061860" y="176668"/>
                  <a:pt x="1069277" y="195209"/>
                </a:cubicBezTo>
                <a:cubicBezTo>
                  <a:pt x="1075763" y="211423"/>
                  <a:pt x="1076126" y="229456"/>
                  <a:pt x="1079551" y="246580"/>
                </a:cubicBezTo>
                <a:cubicBezTo>
                  <a:pt x="1076126" y="318499"/>
                  <a:pt x="1077856" y="390849"/>
                  <a:pt x="1069277" y="462337"/>
                </a:cubicBezTo>
                <a:cubicBezTo>
                  <a:pt x="1067452" y="477544"/>
                  <a:pt x="1056327" y="490136"/>
                  <a:pt x="1048728" y="503434"/>
                </a:cubicBezTo>
                <a:cubicBezTo>
                  <a:pt x="1028913" y="538110"/>
                  <a:pt x="1004944" y="570453"/>
                  <a:pt x="987083" y="606175"/>
                </a:cubicBezTo>
                <a:cubicBezTo>
                  <a:pt x="951418" y="677507"/>
                  <a:pt x="978056" y="660555"/>
                  <a:pt x="925438" y="678094"/>
                </a:cubicBezTo>
                <a:cubicBezTo>
                  <a:pt x="922752" y="681675"/>
                  <a:pt x="859298" y="774356"/>
                  <a:pt x="832971" y="791110"/>
                </a:cubicBezTo>
                <a:cubicBezTo>
                  <a:pt x="807128" y="807555"/>
                  <a:pt x="778176" y="818508"/>
                  <a:pt x="750778" y="832207"/>
                </a:cubicBezTo>
                <a:cubicBezTo>
                  <a:pt x="691813" y="861690"/>
                  <a:pt x="722824" y="844870"/>
                  <a:pt x="658310" y="883577"/>
                </a:cubicBezTo>
                <a:cubicBezTo>
                  <a:pt x="654885" y="897276"/>
                  <a:pt x="650357" y="910746"/>
                  <a:pt x="648036" y="924674"/>
                </a:cubicBezTo>
                <a:cubicBezTo>
                  <a:pt x="643497" y="951909"/>
                  <a:pt x="645027" y="980229"/>
                  <a:pt x="637762" y="1006867"/>
                </a:cubicBezTo>
                <a:cubicBezTo>
                  <a:pt x="634513" y="1018780"/>
                  <a:pt x="624391" y="1027642"/>
                  <a:pt x="617214" y="1037690"/>
                </a:cubicBezTo>
                <a:cubicBezTo>
                  <a:pt x="607261" y="1051624"/>
                  <a:pt x="597353" y="1065631"/>
                  <a:pt x="586391" y="1078786"/>
                </a:cubicBezTo>
                <a:cubicBezTo>
                  <a:pt x="580190" y="1086227"/>
                  <a:pt x="571216" y="1091275"/>
                  <a:pt x="565843" y="1099335"/>
                </a:cubicBezTo>
                <a:cubicBezTo>
                  <a:pt x="557348" y="1112078"/>
                  <a:pt x="552894" y="1127133"/>
                  <a:pt x="545295" y="1140431"/>
                </a:cubicBezTo>
                <a:cubicBezTo>
                  <a:pt x="539168" y="1151152"/>
                  <a:pt x="531923" y="1161206"/>
                  <a:pt x="524746" y="1171254"/>
                </a:cubicBezTo>
                <a:cubicBezTo>
                  <a:pt x="514793" y="1185188"/>
                  <a:pt x="508445" y="1203275"/>
                  <a:pt x="493924" y="1212350"/>
                </a:cubicBezTo>
                <a:cubicBezTo>
                  <a:pt x="479116" y="1221605"/>
                  <a:pt x="459677" y="1219200"/>
                  <a:pt x="442553" y="1222625"/>
                </a:cubicBezTo>
                <a:cubicBezTo>
                  <a:pt x="345077" y="1292250"/>
                  <a:pt x="370608" y="1298766"/>
                  <a:pt x="216522" y="1253447"/>
                </a:cubicBezTo>
                <a:cubicBezTo>
                  <a:pt x="204676" y="1249963"/>
                  <a:pt x="205615" y="1230339"/>
                  <a:pt x="195973" y="1222625"/>
                </a:cubicBezTo>
                <a:cubicBezTo>
                  <a:pt x="180422" y="1210184"/>
                  <a:pt x="144602" y="1231187"/>
                  <a:pt x="134328" y="1232899"/>
                </a:cubicBezTo>
                <a:close/>
              </a:path>
            </a:pathLst>
          </a:custGeom>
          <a:no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eaLnBrk="1" hangingPunct="1"/>
            <a:endParaRPr lang="zh-CN" altLang="en-US"/>
          </a:p>
        </p:txBody>
      </p:sp>
      <p:sp>
        <p:nvSpPr>
          <p:cNvPr id="11" name="任意多边形: 形状 10">
            <a:extLst>
              <a:ext uri="{FF2B5EF4-FFF2-40B4-BE49-F238E27FC236}">
                <a16:creationId xmlns:a16="http://schemas.microsoft.com/office/drawing/2014/main" id="{9C788E33-FC4C-4E49-8E8D-5288D223190F}"/>
              </a:ext>
            </a:extLst>
          </p:cNvPr>
          <p:cNvSpPr/>
          <p:nvPr/>
        </p:nvSpPr>
        <p:spPr bwMode="auto">
          <a:xfrm>
            <a:off x="6753511" y="976045"/>
            <a:ext cx="1119919" cy="1522564"/>
          </a:xfrm>
          <a:custGeom>
            <a:avLst/>
            <a:gdLst>
              <a:gd name="connsiteX0" fmla="*/ 1119919 w 1119919"/>
              <a:gd name="connsiteY0" fmla="*/ 1510301 h 1522564"/>
              <a:gd name="connsiteX1" fmla="*/ 1119919 w 1119919"/>
              <a:gd name="connsiteY1" fmla="*/ 1510301 h 1522564"/>
              <a:gd name="connsiteX2" fmla="*/ 801420 w 1119919"/>
              <a:gd name="connsiteY2" fmla="*/ 1500027 h 1522564"/>
              <a:gd name="connsiteX3" fmla="*/ 688405 w 1119919"/>
              <a:gd name="connsiteY3" fmla="*/ 1387011 h 1522564"/>
              <a:gd name="connsiteX4" fmla="*/ 575389 w 1119919"/>
              <a:gd name="connsiteY4" fmla="*/ 1304818 h 1522564"/>
              <a:gd name="connsiteX5" fmla="*/ 482921 w 1119919"/>
              <a:gd name="connsiteY5" fmla="*/ 1243173 h 1522564"/>
              <a:gd name="connsiteX6" fmla="*/ 390454 w 1119919"/>
              <a:gd name="connsiteY6" fmla="*/ 1181528 h 1522564"/>
              <a:gd name="connsiteX7" fmla="*/ 349357 w 1119919"/>
              <a:gd name="connsiteY7" fmla="*/ 1130157 h 1522564"/>
              <a:gd name="connsiteX8" fmla="*/ 246616 w 1119919"/>
              <a:gd name="connsiteY8" fmla="*/ 1017142 h 1522564"/>
              <a:gd name="connsiteX9" fmla="*/ 195245 w 1119919"/>
              <a:gd name="connsiteY9" fmla="*/ 934948 h 1522564"/>
              <a:gd name="connsiteX10" fmla="*/ 164423 w 1119919"/>
              <a:gd name="connsiteY10" fmla="*/ 852755 h 1522564"/>
              <a:gd name="connsiteX11" fmla="*/ 133600 w 1119919"/>
              <a:gd name="connsiteY11" fmla="*/ 750013 h 1522564"/>
              <a:gd name="connsiteX12" fmla="*/ 113052 w 1119919"/>
              <a:gd name="connsiteY12" fmla="*/ 698643 h 1522564"/>
              <a:gd name="connsiteX13" fmla="*/ 82229 w 1119919"/>
              <a:gd name="connsiteY13" fmla="*/ 503434 h 1522564"/>
              <a:gd name="connsiteX14" fmla="*/ 71955 w 1119919"/>
              <a:gd name="connsiteY14" fmla="*/ 441789 h 1522564"/>
              <a:gd name="connsiteX15" fmla="*/ 51407 w 1119919"/>
              <a:gd name="connsiteY15" fmla="*/ 297951 h 1522564"/>
              <a:gd name="connsiteX16" fmla="*/ 10310 w 1119919"/>
              <a:gd name="connsiteY16" fmla="*/ 226031 h 1522564"/>
              <a:gd name="connsiteX17" fmla="*/ 41133 w 1119919"/>
              <a:gd name="connsiteY17" fmla="*/ 20548 h 1522564"/>
              <a:gd name="connsiteX18" fmla="*/ 102778 w 1119919"/>
              <a:gd name="connsiteY18" fmla="*/ 0 h 1522564"/>
              <a:gd name="connsiteX19" fmla="*/ 421277 w 1119919"/>
              <a:gd name="connsiteY19" fmla="*/ 20548 h 1522564"/>
              <a:gd name="connsiteX20" fmla="*/ 441825 w 1119919"/>
              <a:gd name="connsiteY20" fmla="*/ 61645 h 1522564"/>
              <a:gd name="connsiteX21" fmla="*/ 452099 w 1119919"/>
              <a:gd name="connsiteY21" fmla="*/ 102742 h 1522564"/>
              <a:gd name="connsiteX22" fmla="*/ 462373 w 1119919"/>
              <a:gd name="connsiteY22" fmla="*/ 133564 h 1522564"/>
              <a:gd name="connsiteX23" fmla="*/ 493196 w 1119919"/>
              <a:gd name="connsiteY23" fmla="*/ 513708 h 1522564"/>
              <a:gd name="connsiteX24" fmla="*/ 565115 w 1119919"/>
              <a:gd name="connsiteY24" fmla="*/ 606175 h 1522564"/>
              <a:gd name="connsiteX25" fmla="*/ 606211 w 1119919"/>
              <a:gd name="connsiteY25" fmla="*/ 636998 h 1522564"/>
              <a:gd name="connsiteX26" fmla="*/ 719227 w 1119919"/>
              <a:gd name="connsiteY26" fmla="*/ 708917 h 1522564"/>
              <a:gd name="connsiteX27" fmla="*/ 770598 w 1119919"/>
              <a:gd name="connsiteY27" fmla="*/ 719191 h 1522564"/>
              <a:gd name="connsiteX28" fmla="*/ 801420 w 1119919"/>
              <a:gd name="connsiteY28" fmla="*/ 750013 h 1522564"/>
              <a:gd name="connsiteX29" fmla="*/ 832243 w 1119919"/>
              <a:gd name="connsiteY29" fmla="*/ 770562 h 1522564"/>
              <a:gd name="connsiteX30" fmla="*/ 863065 w 1119919"/>
              <a:gd name="connsiteY30" fmla="*/ 832207 h 1522564"/>
              <a:gd name="connsiteX31" fmla="*/ 924710 w 1119919"/>
              <a:gd name="connsiteY31" fmla="*/ 904126 h 1522564"/>
              <a:gd name="connsiteX32" fmla="*/ 986355 w 1119919"/>
              <a:gd name="connsiteY32" fmla="*/ 1068512 h 1522564"/>
              <a:gd name="connsiteX33" fmla="*/ 996629 w 1119919"/>
              <a:gd name="connsiteY33" fmla="*/ 1202076 h 1522564"/>
              <a:gd name="connsiteX34" fmla="*/ 1006903 w 1119919"/>
              <a:gd name="connsiteY34" fmla="*/ 1253447 h 1522564"/>
              <a:gd name="connsiteX35" fmla="*/ 1027452 w 1119919"/>
              <a:gd name="connsiteY35" fmla="*/ 1376737 h 1522564"/>
              <a:gd name="connsiteX36" fmla="*/ 1037726 w 1119919"/>
              <a:gd name="connsiteY36" fmla="*/ 1407559 h 1522564"/>
              <a:gd name="connsiteX37" fmla="*/ 1048000 w 1119919"/>
              <a:gd name="connsiteY37" fmla="*/ 1458930 h 1522564"/>
              <a:gd name="connsiteX38" fmla="*/ 1109645 w 1119919"/>
              <a:gd name="connsiteY38" fmla="*/ 1500027 h 1522564"/>
              <a:gd name="connsiteX39" fmla="*/ 1119919 w 1119919"/>
              <a:gd name="connsiteY39" fmla="*/ 1510301 h 152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19919" h="1522564">
                <a:moveTo>
                  <a:pt x="1119919" y="1510301"/>
                </a:moveTo>
                <a:lnTo>
                  <a:pt x="1119919" y="1510301"/>
                </a:lnTo>
                <a:cubicBezTo>
                  <a:pt x="1119744" y="1510309"/>
                  <a:pt x="865416" y="1543814"/>
                  <a:pt x="801420" y="1500027"/>
                </a:cubicBezTo>
                <a:cubicBezTo>
                  <a:pt x="757451" y="1469943"/>
                  <a:pt x="732734" y="1416563"/>
                  <a:pt x="688405" y="1387011"/>
                </a:cubicBezTo>
                <a:cubicBezTo>
                  <a:pt x="591756" y="1322581"/>
                  <a:pt x="770994" y="1442892"/>
                  <a:pt x="575389" y="1304818"/>
                </a:cubicBezTo>
                <a:cubicBezTo>
                  <a:pt x="545125" y="1283455"/>
                  <a:pt x="512556" y="1265400"/>
                  <a:pt x="482921" y="1243173"/>
                </a:cubicBezTo>
                <a:cubicBezTo>
                  <a:pt x="425849" y="1200369"/>
                  <a:pt x="456508" y="1221161"/>
                  <a:pt x="390454" y="1181528"/>
                </a:cubicBezTo>
                <a:cubicBezTo>
                  <a:pt x="376755" y="1164404"/>
                  <a:pt x="363926" y="1146547"/>
                  <a:pt x="349357" y="1130157"/>
                </a:cubicBezTo>
                <a:cubicBezTo>
                  <a:pt x="290319" y="1063739"/>
                  <a:pt x="313723" y="1108652"/>
                  <a:pt x="246616" y="1017142"/>
                </a:cubicBezTo>
                <a:cubicBezTo>
                  <a:pt x="227510" y="991088"/>
                  <a:pt x="212369" y="962346"/>
                  <a:pt x="195245" y="934948"/>
                </a:cubicBezTo>
                <a:cubicBezTo>
                  <a:pt x="173002" y="845977"/>
                  <a:pt x="200239" y="942294"/>
                  <a:pt x="164423" y="852755"/>
                </a:cubicBezTo>
                <a:cubicBezTo>
                  <a:pt x="116783" y="733655"/>
                  <a:pt x="163878" y="840847"/>
                  <a:pt x="133600" y="750013"/>
                </a:cubicBezTo>
                <a:cubicBezTo>
                  <a:pt x="127768" y="732517"/>
                  <a:pt x="119901" y="715766"/>
                  <a:pt x="113052" y="698643"/>
                </a:cubicBezTo>
                <a:cubicBezTo>
                  <a:pt x="102778" y="633573"/>
                  <a:pt x="92637" y="568482"/>
                  <a:pt x="82229" y="503434"/>
                </a:cubicBezTo>
                <a:cubicBezTo>
                  <a:pt x="78938" y="482864"/>
                  <a:pt x="74255" y="462493"/>
                  <a:pt x="71955" y="441789"/>
                </a:cubicBezTo>
                <a:cubicBezTo>
                  <a:pt x="71195" y="434951"/>
                  <a:pt x="61320" y="321742"/>
                  <a:pt x="51407" y="297951"/>
                </a:cubicBezTo>
                <a:cubicBezTo>
                  <a:pt x="40787" y="272464"/>
                  <a:pt x="24009" y="250004"/>
                  <a:pt x="10310" y="226031"/>
                </a:cubicBezTo>
                <a:cubicBezTo>
                  <a:pt x="2201" y="144942"/>
                  <a:pt x="-19000" y="92708"/>
                  <a:pt x="41133" y="20548"/>
                </a:cubicBezTo>
                <a:cubicBezTo>
                  <a:pt x="54999" y="3908"/>
                  <a:pt x="102778" y="0"/>
                  <a:pt x="102778" y="0"/>
                </a:cubicBezTo>
                <a:cubicBezTo>
                  <a:pt x="208944" y="6849"/>
                  <a:pt x="316606" y="1517"/>
                  <a:pt x="421277" y="20548"/>
                </a:cubicBezTo>
                <a:cubicBezTo>
                  <a:pt x="436346" y="23288"/>
                  <a:pt x="436447" y="47304"/>
                  <a:pt x="441825" y="61645"/>
                </a:cubicBezTo>
                <a:cubicBezTo>
                  <a:pt x="446783" y="74867"/>
                  <a:pt x="448220" y="89165"/>
                  <a:pt x="452099" y="102742"/>
                </a:cubicBezTo>
                <a:cubicBezTo>
                  <a:pt x="455074" y="113155"/>
                  <a:pt x="458948" y="123290"/>
                  <a:pt x="462373" y="133564"/>
                </a:cubicBezTo>
                <a:cubicBezTo>
                  <a:pt x="472647" y="260279"/>
                  <a:pt x="477806" y="387512"/>
                  <a:pt x="493196" y="513708"/>
                </a:cubicBezTo>
                <a:cubicBezTo>
                  <a:pt x="497367" y="547909"/>
                  <a:pt x="545933" y="589124"/>
                  <a:pt x="565115" y="606175"/>
                </a:cubicBezTo>
                <a:cubicBezTo>
                  <a:pt x="577913" y="617551"/>
                  <a:pt x="593210" y="625854"/>
                  <a:pt x="606211" y="636998"/>
                </a:cubicBezTo>
                <a:cubicBezTo>
                  <a:pt x="663531" y="686130"/>
                  <a:pt x="613840" y="668383"/>
                  <a:pt x="719227" y="708917"/>
                </a:cubicBezTo>
                <a:cubicBezTo>
                  <a:pt x="735526" y="715186"/>
                  <a:pt x="753474" y="715766"/>
                  <a:pt x="770598" y="719191"/>
                </a:cubicBezTo>
                <a:cubicBezTo>
                  <a:pt x="780872" y="729465"/>
                  <a:pt x="790258" y="740711"/>
                  <a:pt x="801420" y="750013"/>
                </a:cubicBezTo>
                <a:cubicBezTo>
                  <a:pt x="810906" y="757918"/>
                  <a:pt x="824834" y="760683"/>
                  <a:pt x="832243" y="770562"/>
                </a:cubicBezTo>
                <a:cubicBezTo>
                  <a:pt x="846027" y="788941"/>
                  <a:pt x="850889" y="812725"/>
                  <a:pt x="863065" y="832207"/>
                </a:cubicBezTo>
                <a:cubicBezTo>
                  <a:pt x="914157" y="913954"/>
                  <a:pt x="843522" y="741750"/>
                  <a:pt x="924710" y="904126"/>
                </a:cubicBezTo>
                <a:cubicBezTo>
                  <a:pt x="946814" y="948335"/>
                  <a:pt x="968524" y="1015019"/>
                  <a:pt x="986355" y="1068512"/>
                </a:cubicBezTo>
                <a:cubicBezTo>
                  <a:pt x="989780" y="1113033"/>
                  <a:pt x="991698" y="1157696"/>
                  <a:pt x="996629" y="1202076"/>
                </a:cubicBezTo>
                <a:cubicBezTo>
                  <a:pt x="998557" y="1219432"/>
                  <a:pt x="1004248" y="1236187"/>
                  <a:pt x="1006903" y="1253447"/>
                </a:cubicBezTo>
                <a:cubicBezTo>
                  <a:pt x="1019410" y="1334739"/>
                  <a:pt x="1010236" y="1316480"/>
                  <a:pt x="1027452" y="1376737"/>
                </a:cubicBezTo>
                <a:cubicBezTo>
                  <a:pt x="1030427" y="1387150"/>
                  <a:pt x="1035099" y="1397053"/>
                  <a:pt x="1037726" y="1407559"/>
                </a:cubicBezTo>
                <a:cubicBezTo>
                  <a:pt x="1041961" y="1424500"/>
                  <a:pt x="1037279" y="1445146"/>
                  <a:pt x="1048000" y="1458930"/>
                </a:cubicBezTo>
                <a:cubicBezTo>
                  <a:pt x="1063162" y="1478424"/>
                  <a:pt x="1092182" y="1482564"/>
                  <a:pt x="1109645" y="1500027"/>
                </a:cubicBezTo>
                <a:lnTo>
                  <a:pt x="1119919" y="1510301"/>
                </a:lnTo>
                <a:close/>
              </a:path>
            </a:pathLst>
          </a:custGeom>
          <a:no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eaLnBrk="1" hangingPunct="1"/>
            <a:endParaRPr lang="zh-CN" altLang="en-US"/>
          </a:p>
        </p:txBody>
      </p:sp>
      <p:sp>
        <p:nvSpPr>
          <p:cNvPr id="12" name="任意多边形: 形状 11">
            <a:extLst>
              <a:ext uri="{FF2B5EF4-FFF2-40B4-BE49-F238E27FC236}">
                <a16:creationId xmlns:a16="http://schemas.microsoft.com/office/drawing/2014/main" id="{FFFD0DA9-D55D-4417-A6E0-9A8D41057EF5}"/>
              </a:ext>
            </a:extLst>
          </p:cNvPr>
          <p:cNvSpPr/>
          <p:nvPr/>
        </p:nvSpPr>
        <p:spPr bwMode="auto">
          <a:xfrm>
            <a:off x="8099462" y="1243173"/>
            <a:ext cx="1037885" cy="1335640"/>
          </a:xfrm>
          <a:custGeom>
            <a:avLst/>
            <a:gdLst>
              <a:gd name="connsiteX0" fmla="*/ 102741 w 1037885"/>
              <a:gd name="connsiteY0" fmla="*/ 1335640 h 1335640"/>
              <a:gd name="connsiteX1" fmla="*/ 102741 w 1037885"/>
              <a:gd name="connsiteY1" fmla="*/ 1335640 h 1335640"/>
              <a:gd name="connsiteX2" fmla="*/ 267128 w 1037885"/>
              <a:gd name="connsiteY2" fmla="*/ 1273996 h 1335640"/>
              <a:gd name="connsiteX3" fmla="*/ 287676 w 1037885"/>
              <a:gd name="connsiteY3" fmla="*/ 1253447 h 1335640"/>
              <a:gd name="connsiteX4" fmla="*/ 328773 w 1037885"/>
              <a:gd name="connsiteY4" fmla="*/ 1243173 h 1335640"/>
              <a:gd name="connsiteX5" fmla="*/ 349321 w 1037885"/>
              <a:gd name="connsiteY5" fmla="*/ 1202076 h 1335640"/>
              <a:gd name="connsiteX6" fmla="*/ 380143 w 1037885"/>
              <a:gd name="connsiteY6" fmla="*/ 1130157 h 1335640"/>
              <a:gd name="connsiteX7" fmla="*/ 410966 w 1037885"/>
              <a:gd name="connsiteY7" fmla="*/ 1027416 h 1335640"/>
              <a:gd name="connsiteX8" fmla="*/ 431514 w 1037885"/>
              <a:gd name="connsiteY8" fmla="*/ 955497 h 1335640"/>
              <a:gd name="connsiteX9" fmla="*/ 472611 w 1037885"/>
              <a:gd name="connsiteY9" fmla="*/ 893852 h 1335640"/>
              <a:gd name="connsiteX10" fmla="*/ 513708 w 1037885"/>
              <a:gd name="connsiteY10" fmla="*/ 842481 h 1335640"/>
              <a:gd name="connsiteX11" fmla="*/ 585627 w 1037885"/>
              <a:gd name="connsiteY11" fmla="*/ 832207 h 1335640"/>
              <a:gd name="connsiteX12" fmla="*/ 636997 w 1037885"/>
              <a:gd name="connsiteY12" fmla="*/ 811658 h 1335640"/>
              <a:gd name="connsiteX13" fmla="*/ 688368 w 1037885"/>
              <a:gd name="connsiteY13" fmla="*/ 801384 h 1335640"/>
              <a:gd name="connsiteX14" fmla="*/ 708917 w 1037885"/>
              <a:gd name="connsiteY14" fmla="*/ 780836 h 1335640"/>
              <a:gd name="connsiteX15" fmla="*/ 750013 w 1037885"/>
              <a:gd name="connsiteY15" fmla="*/ 770562 h 1335640"/>
              <a:gd name="connsiteX16" fmla="*/ 821932 w 1037885"/>
              <a:gd name="connsiteY16" fmla="*/ 750014 h 1335640"/>
              <a:gd name="connsiteX17" fmla="*/ 873303 w 1037885"/>
              <a:gd name="connsiteY17" fmla="*/ 719191 h 1335640"/>
              <a:gd name="connsiteX18" fmla="*/ 904126 w 1037885"/>
              <a:gd name="connsiteY18" fmla="*/ 657546 h 1335640"/>
              <a:gd name="connsiteX19" fmla="*/ 934948 w 1037885"/>
              <a:gd name="connsiteY19" fmla="*/ 606175 h 1335640"/>
              <a:gd name="connsiteX20" fmla="*/ 1006867 w 1037885"/>
              <a:gd name="connsiteY20" fmla="*/ 452063 h 1335640"/>
              <a:gd name="connsiteX21" fmla="*/ 1027415 w 1037885"/>
              <a:gd name="connsiteY21" fmla="*/ 410966 h 1335640"/>
              <a:gd name="connsiteX22" fmla="*/ 1037690 w 1037885"/>
              <a:gd name="connsiteY22" fmla="*/ 359596 h 1335640"/>
              <a:gd name="connsiteX23" fmla="*/ 996593 w 1037885"/>
              <a:gd name="connsiteY23" fmla="*/ 277402 h 1335640"/>
              <a:gd name="connsiteX24" fmla="*/ 976045 w 1037885"/>
              <a:gd name="connsiteY24" fmla="*/ 246580 h 1335640"/>
              <a:gd name="connsiteX25" fmla="*/ 945222 w 1037885"/>
              <a:gd name="connsiteY25" fmla="*/ 226031 h 1335640"/>
              <a:gd name="connsiteX26" fmla="*/ 893851 w 1037885"/>
              <a:gd name="connsiteY26" fmla="*/ 174661 h 1335640"/>
              <a:gd name="connsiteX27" fmla="*/ 842481 w 1037885"/>
              <a:gd name="connsiteY27" fmla="*/ 61645 h 1335640"/>
              <a:gd name="connsiteX28" fmla="*/ 780836 w 1037885"/>
              <a:gd name="connsiteY28" fmla="*/ 0 h 1335640"/>
              <a:gd name="connsiteX29" fmla="*/ 493159 w 1037885"/>
              <a:gd name="connsiteY29" fmla="*/ 10274 h 1335640"/>
              <a:gd name="connsiteX30" fmla="*/ 421240 w 1037885"/>
              <a:gd name="connsiteY30" fmla="*/ 82193 h 1335640"/>
              <a:gd name="connsiteX31" fmla="*/ 369869 w 1037885"/>
              <a:gd name="connsiteY31" fmla="*/ 154112 h 1335640"/>
              <a:gd name="connsiteX32" fmla="*/ 318499 w 1037885"/>
              <a:gd name="connsiteY32" fmla="*/ 226031 h 1335640"/>
              <a:gd name="connsiteX33" fmla="*/ 287676 w 1037885"/>
              <a:gd name="connsiteY33" fmla="*/ 339047 h 1335640"/>
              <a:gd name="connsiteX34" fmla="*/ 226031 w 1037885"/>
              <a:gd name="connsiteY34" fmla="*/ 369870 h 1335640"/>
              <a:gd name="connsiteX35" fmla="*/ 143838 w 1037885"/>
              <a:gd name="connsiteY35" fmla="*/ 400692 h 1335640"/>
              <a:gd name="connsiteX36" fmla="*/ 41096 w 1037885"/>
              <a:gd name="connsiteY36" fmla="*/ 482885 h 1335640"/>
              <a:gd name="connsiteX37" fmla="*/ 20548 w 1037885"/>
              <a:gd name="connsiteY37" fmla="*/ 544530 h 1335640"/>
              <a:gd name="connsiteX38" fmla="*/ 0 w 1037885"/>
              <a:gd name="connsiteY38" fmla="*/ 575353 h 1335640"/>
              <a:gd name="connsiteX39" fmla="*/ 10274 w 1037885"/>
              <a:gd name="connsiteY39" fmla="*/ 1181528 h 1335640"/>
              <a:gd name="connsiteX40" fmla="*/ 30822 w 1037885"/>
              <a:gd name="connsiteY40" fmla="*/ 1212351 h 1335640"/>
              <a:gd name="connsiteX41" fmla="*/ 61645 w 1037885"/>
              <a:gd name="connsiteY41" fmla="*/ 1232899 h 1335640"/>
              <a:gd name="connsiteX42" fmla="*/ 92467 w 1037885"/>
              <a:gd name="connsiteY42" fmla="*/ 1273996 h 1335640"/>
              <a:gd name="connsiteX43" fmla="*/ 113015 w 1037885"/>
              <a:gd name="connsiteY43" fmla="*/ 1304818 h 1335640"/>
              <a:gd name="connsiteX44" fmla="*/ 102741 w 1037885"/>
              <a:gd name="connsiteY44" fmla="*/ 1335640 h 1335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037885" h="1335640">
                <a:moveTo>
                  <a:pt x="102741" y="1335640"/>
                </a:moveTo>
                <a:lnTo>
                  <a:pt x="102741" y="1335640"/>
                </a:lnTo>
                <a:cubicBezTo>
                  <a:pt x="246413" y="1280382"/>
                  <a:pt x="191052" y="1299354"/>
                  <a:pt x="267128" y="1273996"/>
                </a:cubicBezTo>
                <a:cubicBezTo>
                  <a:pt x="273977" y="1267146"/>
                  <a:pt x="279012" y="1257779"/>
                  <a:pt x="287676" y="1253447"/>
                </a:cubicBezTo>
                <a:cubicBezTo>
                  <a:pt x="300306" y="1247132"/>
                  <a:pt x="317925" y="1252213"/>
                  <a:pt x="328773" y="1243173"/>
                </a:cubicBezTo>
                <a:cubicBezTo>
                  <a:pt x="340539" y="1233368"/>
                  <a:pt x="342983" y="1216019"/>
                  <a:pt x="349321" y="1202076"/>
                </a:cubicBezTo>
                <a:cubicBezTo>
                  <a:pt x="360114" y="1178332"/>
                  <a:pt x="370780" y="1154500"/>
                  <a:pt x="380143" y="1130157"/>
                </a:cubicBezTo>
                <a:cubicBezTo>
                  <a:pt x="403222" y="1070153"/>
                  <a:pt x="396701" y="1079723"/>
                  <a:pt x="410966" y="1027416"/>
                </a:cubicBezTo>
                <a:cubicBezTo>
                  <a:pt x="417526" y="1003362"/>
                  <a:pt x="421066" y="978134"/>
                  <a:pt x="431514" y="955497"/>
                </a:cubicBezTo>
                <a:cubicBezTo>
                  <a:pt x="441863" y="933074"/>
                  <a:pt x="458085" y="913825"/>
                  <a:pt x="472611" y="893852"/>
                </a:cubicBezTo>
                <a:cubicBezTo>
                  <a:pt x="485509" y="876117"/>
                  <a:pt x="494457" y="852982"/>
                  <a:pt x="513708" y="842481"/>
                </a:cubicBezTo>
                <a:cubicBezTo>
                  <a:pt x="534967" y="830885"/>
                  <a:pt x="561654" y="835632"/>
                  <a:pt x="585627" y="832207"/>
                </a:cubicBezTo>
                <a:cubicBezTo>
                  <a:pt x="602750" y="825357"/>
                  <a:pt x="619332" y="816958"/>
                  <a:pt x="636997" y="811658"/>
                </a:cubicBezTo>
                <a:cubicBezTo>
                  <a:pt x="653723" y="806640"/>
                  <a:pt x="672317" y="808263"/>
                  <a:pt x="688368" y="801384"/>
                </a:cubicBezTo>
                <a:cubicBezTo>
                  <a:pt x="697271" y="797568"/>
                  <a:pt x="700253" y="785168"/>
                  <a:pt x="708917" y="780836"/>
                </a:cubicBezTo>
                <a:cubicBezTo>
                  <a:pt x="721547" y="774521"/>
                  <a:pt x="736436" y="774441"/>
                  <a:pt x="750013" y="770562"/>
                </a:cubicBezTo>
                <a:cubicBezTo>
                  <a:pt x="853188" y="741084"/>
                  <a:pt x="693462" y="782132"/>
                  <a:pt x="821932" y="750014"/>
                </a:cubicBezTo>
                <a:cubicBezTo>
                  <a:pt x="839056" y="739740"/>
                  <a:pt x="860036" y="734116"/>
                  <a:pt x="873303" y="719191"/>
                </a:cubicBezTo>
                <a:cubicBezTo>
                  <a:pt x="888566" y="702020"/>
                  <a:pt x="893125" y="677715"/>
                  <a:pt x="904126" y="657546"/>
                </a:cubicBezTo>
                <a:cubicBezTo>
                  <a:pt x="913688" y="640015"/>
                  <a:pt x="926017" y="624036"/>
                  <a:pt x="934948" y="606175"/>
                </a:cubicBezTo>
                <a:cubicBezTo>
                  <a:pt x="960300" y="555471"/>
                  <a:pt x="982599" y="503295"/>
                  <a:pt x="1006867" y="452063"/>
                </a:cubicBezTo>
                <a:cubicBezTo>
                  <a:pt x="1013423" y="438221"/>
                  <a:pt x="1027415" y="410966"/>
                  <a:pt x="1027415" y="410966"/>
                </a:cubicBezTo>
                <a:cubicBezTo>
                  <a:pt x="1030840" y="393843"/>
                  <a:pt x="1039271" y="376987"/>
                  <a:pt x="1037690" y="359596"/>
                </a:cubicBezTo>
                <a:cubicBezTo>
                  <a:pt x="1031396" y="290364"/>
                  <a:pt x="1024711" y="312551"/>
                  <a:pt x="996593" y="277402"/>
                </a:cubicBezTo>
                <a:cubicBezTo>
                  <a:pt x="988879" y="267760"/>
                  <a:pt x="984776" y="255311"/>
                  <a:pt x="976045" y="246580"/>
                </a:cubicBezTo>
                <a:cubicBezTo>
                  <a:pt x="967313" y="237848"/>
                  <a:pt x="954515" y="234162"/>
                  <a:pt x="945222" y="226031"/>
                </a:cubicBezTo>
                <a:cubicBezTo>
                  <a:pt x="926997" y="210085"/>
                  <a:pt x="893851" y="174661"/>
                  <a:pt x="893851" y="174661"/>
                </a:cubicBezTo>
                <a:cubicBezTo>
                  <a:pt x="882693" y="146766"/>
                  <a:pt x="859225" y="83971"/>
                  <a:pt x="842481" y="61645"/>
                </a:cubicBezTo>
                <a:cubicBezTo>
                  <a:pt x="825045" y="38397"/>
                  <a:pt x="780836" y="0"/>
                  <a:pt x="780836" y="0"/>
                </a:cubicBezTo>
                <a:cubicBezTo>
                  <a:pt x="684944" y="3425"/>
                  <a:pt x="588666" y="1031"/>
                  <a:pt x="493159" y="10274"/>
                </a:cubicBezTo>
                <a:cubicBezTo>
                  <a:pt x="468559" y="12655"/>
                  <a:pt x="426598" y="75049"/>
                  <a:pt x="421240" y="82193"/>
                </a:cubicBezTo>
                <a:cubicBezTo>
                  <a:pt x="388701" y="125578"/>
                  <a:pt x="411558" y="105475"/>
                  <a:pt x="369869" y="154112"/>
                </a:cubicBezTo>
                <a:cubicBezTo>
                  <a:pt x="319889" y="212422"/>
                  <a:pt x="354324" y="154381"/>
                  <a:pt x="318499" y="226031"/>
                </a:cubicBezTo>
                <a:cubicBezTo>
                  <a:pt x="315171" y="249322"/>
                  <a:pt x="313290" y="316634"/>
                  <a:pt x="287676" y="339047"/>
                </a:cubicBezTo>
                <a:cubicBezTo>
                  <a:pt x="270386" y="354175"/>
                  <a:pt x="246114" y="358713"/>
                  <a:pt x="226031" y="369870"/>
                </a:cubicBezTo>
                <a:cubicBezTo>
                  <a:pt x="166508" y="402939"/>
                  <a:pt x="227359" y="383988"/>
                  <a:pt x="143838" y="400692"/>
                </a:cubicBezTo>
                <a:cubicBezTo>
                  <a:pt x="122846" y="416436"/>
                  <a:pt x="51067" y="469175"/>
                  <a:pt x="41096" y="482885"/>
                </a:cubicBezTo>
                <a:cubicBezTo>
                  <a:pt x="28356" y="500402"/>
                  <a:pt x="32562" y="526508"/>
                  <a:pt x="20548" y="544530"/>
                </a:cubicBezTo>
                <a:lnTo>
                  <a:pt x="0" y="575353"/>
                </a:lnTo>
                <a:cubicBezTo>
                  <a:pt x="3425" y="777411"/>
                  <a:pt x="507" y="979677"/>
                  <a:pt x="10274" y="1181528"/>
                </a:cubicBezTo>
                <a:cubicBezTo>
                  <a:pt x="10871" y="1193862"/>
                  <a:pt x="22091" y="1203620"/>
                  <a:pt x="30822" y="1212351"/>
                </a:cubicBezTo>
                <a:cubicBezTo>
                  <a:pt x="39553" y="1221082"/>
                  <a:pt x="51371" y="1226050"/>
                  <a:pt x="61645" y="1232899"/>
                </a:cubicBezTo>
                <a:cubicBezTo>
                  <a:pt x="71919" y="1246598"/>
                  <a:pt x="82514" y="1260062"/>
                  <a:pt x="92467" y="1273996"/>
                </a:cubicBezTo>
                <a:cubicBezTo>
                  <a:pt x="99644" y="1284044"/>
                  <a:pt x="104284" y="1296087"/>
                  <a:pt x="113015" y="1304818"/>
                </a:cubicBezTo>
                <a:cubicBezTo>
                  <a:pt x="118430" y="1310233"/>
                  <a:pt x="104453" y="1330503"/>
                  <a:pt x="102741" y="1335640"/>
                </a:cubicBezTo>
                <a:close/>
              </a:path>
            </a:pathLst>
          </a:custGeom>
          <a:no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eaLnBrk="1" hangingPunct="1"/>
            <a:endParaRPr lang="zh-CN" altLang="en-US"/>
          </a:p>
        </p:txBody>
      </p:sp>
      <p:cxnSp>
        <p:nvCxnSpPr>
          <p:cNvPr id="13" name="连接符: 肘形 12">
            <a:extLst>
              <a:ext uri="{FF2B5EF4-FFF2-40B4-BE49-F238E27FC236}">
                <a16:creationId xmlns:a16="http://schemas.microsoft.com/office/drawing/2014/main" id="{3F88A3E7-3316-9C4C-EE25-22AEA089F519}"/>
              </a:ext>
            </a:extLst>
          </p:cNvPr>
          <p:cNvCxnSpPr/>
          <p:nvPr/>
        </p:nvCxnSpPr>
        <p:spPr bwMode="auto">
          <a:xfrm>
            <a:off x="5700303" y="2603646"/>
            <a:ext cx="4346253" cy="288032"/>
          </a:xfrm>
          <a:prstGeom prst="bentConnector3">
            <a:avLst>
              <a:gd name="adj1" fmla="val -727"/>
            </a:avLst>
          </a:prstGeom>
          <a:solidFill>
            <a:schemeClr val="accent1"/>
          </a:solidFill>
          <a:ln w="28575" cap="flat" cmpd="sng" algn="ctr">
            <a:solidFill>
              <a:srgbClr val="FF0000"/>
            </a:solidFill>
            <a:prstDash val="dash"/>
            <a:round/>
            <a:headEnd type="triangle"/>
            <a:tailEnd type="triangle"/>
          </a:ln>
          <a:effectLst/>
        </p:spPr>
      </p:cxn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1000"/>
                                        <p:tgtEl>
                                          <p:spTgt spid="13"/>
                                        </p:tgtEl>
                                      </p:cBhvr>
                                    </p:animEffect>
                                    <p:anim calcmode="lin" valueType="num">
                                      <p:cBhvr>
                                        <p:cTn id="28" dur="1000" fill="hold"/>
                                        <p:tgtEl>
                                          <p:spTgt spid="13"/>
                                        </p:tgtEl>
                                        <p:attrNameLst>
                                          <p:attrName>ppt_x</p:attrName>
                                        </p:attrNameLst>
                                      </p:cBhvr>
                                      <p:tavLst>
                                        <p:tav tm="0">
                                          <p:val>
                                            <p:strVal val="#ppt_x"/>
                                          </p:val>
                                        </p:tav>
                                        <p:tav tm="100000">
                                          <p:val>
                                            <p:strVal val="#ppt_x"/>
                                          </p:val>
                                        </p:tav>
                                      </p:tavLst>
                                    </p:anim>
                                    <p:anim calcmode="lin" valueType="num">
                                      <p:cBhvr>
                                        <p:cTn id="2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9" grpId="0" animBg="1"/>
      <p:bldP spid="10" grpId="0" animBg="1"/>
      <p:bldP spid="11" grpId="0" animBg="1"/>
      <p:bldP spid="12"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标题 1">
            <a:extLst>
              <a:ext uri="{FF2B5EF4-FFF2-40B4-BE49-F238E27FC236}">
                <a16:creationId xmlns:a16="http://schemas.microsoft.com/office/drawing/2014/main" id="{C2805FB1-30E1-44C0-B068-9DB5130E921D}"/>
              </a:ext>
            </a:extLst>
          </p:cNvPr>
          <p:cNvSpPr>
            <a:spLocks noGrp="1" noChangeArrowheads="1"/>
          </p:cNvSpPr>
          <p:nvPr>
            <p:ph type="title" idx="4294967295"/>
          </p:nvPr>
        </p:nvSpPr>
        <p:spPr>
          <a:xfrm>
            <a:off x="2217738" y="388938"/>
            <a:ext cx="8450262" cy="622300"/>
          </a:xfrm>
        </p:spPr>
        <p:txBody>
          <a:bodyPr/>
          <a:lstStyle/>
          <a:p>
            <a:r>
              <a:rPr lang="zh-CN" altLang="en-US"/>
              <a:t>勘误</a:t>
            </a:r>
          </a:p>
        </p:txBody>
      </p:sp>
      <p:sp>
        <p:nvSpPr>
          <p:cNvPr id="191491" name="内容占位符 2">
            <a:extLst>
              <a:ext uri="{FF2B5EF4-FFF2-40B4-BE49-F238E27FC236}">
                <a16:creationId xmlns:a16="http://schemas.microsoft.com/office/drawing/2014/main" id="{47192518-3DEC-40C6-B808-22EB866FD2A8}"/>
              </a:ext>
            </a:extLst>
          </p:cNvPr>
          <p:cNvSpPr>
            <a:spLocks noGrp="1" noChangeArrowheads="1"/>
          </p:cNvSpPr>
          <p:nvPr>
            <p:ph idx="4294967295"/>
          </p:nvPr>
        </p:nvSpPr>
        <p:spPr>
          <a:xfrm>
            <a:off x="695400" y="1318968"/>
            <a:ext cx="7776865" cy="4205510"/>
          </a:xfrm>
        </p:spPr>
        <p:txBody>
          <a:bodyPr/>
          <a:lstStyle/>
          <a:p>
            <a:pPr>
              <a:lnSpc>
                <a:spcPct val="120000"/>
              </a:lnSpc>
              <a:spcBef>
                <a:spcPts val="1200"/>
              </a:spcBef>
              <a:defRPr/>
            </a:pPr>
            <a:r>
              <a:rPr lang="zh-CN" altLang="en-US" sz="2600" b="0" dirty="0">
                <a:solidFill>
                  <a:srgbClr val="000000"/>
                </a:solidFill>
              </a:rPr>
              <a:t>每段</a:t>
            </a:r>
            <a:r>
              <a:rPr lang="el-GR" altLang="zh-CN" sz="2600" b="0" dirty="0">
                <a:solidFill>
                  <a:srgbClr val="000000"/>
                </a:solidFill>
              </a:rPr>
              <a:t>α</a:t>
            </a:r>
            <a:r>
              <a:rPr lang="en-US" altLang="zh-CN" sz="2600" b="0" dirty="0">
                <a:solidFill>
                  <a:srgbClr val="000000"/>
                </a:solidFill>
              </a:rPr>
              <a:t>-</a:t>
            </a:r>
            <a:r>
              <a:rPr lang="zh-CN" altLang="en-US" sz="2600" b="0" dirty="0">
                <a:solidFill>
                  <a:srgbClr val="000000"/>
                </a:solidFill>
              </a:rPr>
              <a:t>螺旋</a:t>
            </a:r>
            <a:r>
              <a:rPr lang="en-US" altLang="zh-CN" sz="2600" b="0" dirty="0">
                <a:solidFill>
                  <a:srgbClr val="000000"/>
                </a:solidFill>
              </a:rPr>
              <a:t>N</a:t>
            </a:r>
            <a:r>
              <a:rPr lang="zh-CN" altLang="en-US" sz="2600" b="0" dirty="0">
                <a:solidFill>
                  <a:srgbClr val="000000"/>
                </a:solidFill>
              </a:rPr>
              <a:t>端会有</a:t>
            </a:r>
            <a:r>
              <a:rPr lang="en-US" altLang="zh-CN" sz="2600" b="0" dirty="0">
                <a:solidFill>
                  <a:srgbClr val="000000"/>
                </a:solidFill>
              </a:rPr>
              <a:t>3</a:t>
            </a:r>
            <a:r>
              <a:rPr lang="zh-CN" altLang="en-US" sz="2600" b="0" dirty="0">
                <a:solidFill>
                  <a:srgbClr val="000000"/>
                </a:solidFill>
              </a:rPr>
              <a:t>或</a:t>
            </a:r>
            <a:r>
              <a:rPr lang="en-US" altLang="zh-CN" sz="2600" b="0" dirty="0">
                <a:solidFill>
                  <a:srgbClr val="000000"/>
                </a:solidFill>
              </a:rPr>
              <a:t>4</a:t>
            </a:r>
            <a:r>
              <a:rPr lang="zh-CN" altLang="en-US" sz="2600" b="0" dirty="0">
                <a:solidFill>
                  <a:srgbClr val="000000"/>
                </a:solidFill>
              </a:rPr>
              <a:t>个</a:t>
            </a:r>
            <a:r>
              <a:rPr lang="en-US" altLang="zh-CN" sz="2600" b="0" dirty="0">
                <a:solidFill>
                  <a:srgbClr val="000000"/>
                </a:solidFill>
              </a:rPr>
              <a:t>N-H</a:t>
            </a:r>
            <a:r>
              <a:rPr lang="zh-CN" altLang="en-US" sz="2600" b="0" dirty="0">
                <a:solidFill>
                  <a:srgbClr val="000000"/>
                </a:solidFill>
              </a:rPr>
              <a:t>以及</a:t>
            </a:r>
            <a:r>
              <a:rPr lang="en-US" altLang="zh-CN" sz="2600" b="0" dirty="0">
                <a:solidFill>
                  <a:srgbClr val="000000"/>
                </a:solidFill>
              </a:rPr>
              <a:t>C</a:t>
            </a:r>
            <a:r>
              <a:rPr lang="zh-CN" altLang="en-US" sz="2600" b="0" dirty="0">
                <a:solidFill>
                  <a:srgbClr val="000000"/>
                </a:solidFill>
              </a:rPr>
              <a:t>端会有</a:t>
            </a:r>
            <a:r>
              <a:rPr lang="en-US" altLang="zh-CN" sz="2600" b="0" dirty="0">
                <a:solidFill>
                  <a:srgbClr val="000000"/>
                </a:solidFill>
              </a:rPr>
              <a:t>3</a:t>
            </a:r>
            <a:r>
              <a:rPr lang="zh-CN" altLang="en-US" sz="2600" b="0" dirty="0">
                <a:solidFill>
                  <a:srgbClr val="000000"/>
                </a:solidFill>
              </a:rPr>
              <a:t>或</a:t>
            </a:r>
            <a:r>
              <a:rPr lang="en-US" altLang="zh-CN" sz="2600" b="0" dirty="0">
                <a:solidFill>
                  <a:srgbClr val="000000"/>
                </a:solidFill>
              </a:rPr>
              <a:t>4</a:t>
            </a:r>
            <a:r>
              <a:rPr lang="zh-CN" altLang="en-US" sz="2600" b="0" dirty="0">
                <a:solidFill>
                  <a:srgbClr val="000000"/>
                </a:solidFill>
              </a:rPr>
              <a:t>个</a:t>
            </a:r>
            <a:r>
              <a:rPr lang="en-US" altLang="zh-CN" sz="2600" b="0" dirty="0">
                <a:solidFill>
                  <a:srgbClr val="000000"/>
                </a:solidFill>
              </a:rPr>
              <a:t>C=O </a:t>
            </a:r>
            <a:r>
              <a:rPr lang="zh-CN" altLang="en-US" sz="2600" b="0" dirty="0">
                <a:solidFill>
                  <a:srgbClr val="000000"/>
                </a:solidFill>
              </a:rPr>
              <a:t>并不参与生成螺旋内氢键，而是与水分子或邻近的基团生成氢键。</a:t>
            </a:r>
            <a:endParaRPr lang="en-US" altLang="zh-CN" sz="2600" b="0" dirty="0">
              <a:solidFill>
                <a:srgbClr val="000000"/>
              </a:solidFill>
            </a:endParaRPr>
          </a:p>
          <a:p>
            <a:pPr>
              <a:lnSpc>
                <a:spcPct val="120000"/>
              </a:lnSpc>
              <a:spcBef>
                <a:spcPts val="1200"/>
              </a:spcBef>
              <a:defRPr/>
            </a:pPr>
            <a:endParaRPr lang="en-US" altLang="zh-CN" sz="2600" b="0" dirty="0">
              <a:solidFill>
                <a:srgbClr val="000000"/>
              </a:solidFill>
            </a:endParaRPr>
          </a:p>
          <a:p>
            <a:pPr>
              <a:lnSpc>
                <a:spcPct val="120000"/>
              </a:lnSpc>
              <a:spcBef>
                <a:spcPts val="1200"/>
              </a:spcBef>
              <a:defRPr/>
            </a:pPr>
            <a:r>
              <a:rPr lang="zh-CN" altLang="en-US" sz="2600" b="0" dirty="0">
                <a:solidFill>
                  <a:srgbClr val="000000"/>
                </a:solidFill>
              </a:rPr>
              <a:t>所以，</a:t>
            </a:r>
            <a:r>
              <a:rPr lang="el-GR" altLang="zh-CN" sz="2600" b="0" dirty="0">
                <a:solidFill>
                  <a:schemeClr val="tx1">
                    <a:lumMod val="60000"/>
                    <a:lumOff val="40000"/>
                  </a:schemeClr>
                </a:solidFill>
              </a:rPr>
              <a:t>α</a:t>
            </a:r>
            <a:r>
              <a:rPr lang="en-US" altLang="zh-CN" sz="2600" b="0" dirty="0">
                <a:solidFill>
                  <a:schemeClr val="tx1">
                    <a:lumMod val="60000"/>
                    <a:lumOff val="40000"/>
                  </a:schemeClr>
                </a:solidFill>
              </a:rPr>
              <a:t>-</a:t>
            </a:r>
            <a:r>
              <a:rPr lang="zh-CN" altLang="en-US" sz="2600" b="0" dirty="0">
                <a:solidFill>
                  <a:schemeClr val="tx1">
                    <a:lumMod val="60000"/>
                    <a:lumOff val="40000"/>
                  </a:schemeClr>
                </a:solidFill>
              </a:rPr>
              <a:t>螺旋本身是个偶极矩（</a:t>
            </a:r>
            <a:r>
              <a:rPr lang="en-US" altLang="zh-CN" sz="2600" b="0" dirty="0">
                <a:solidFill>
                  <a:schemeClr val="tx1">
                    <a:lumMod val="60000"/>
                    <a:lumOff val="40000"/>
                  </a:schemeClr>
                </a:solidFill>
              </a:rPr>
              <a:t>electric dipole</a:t>
            </a:r>
            <a:r>
              <a:rPr lang="zh-CN" altLang="en-US" sz="2600" b="0" dirty="0">
                <a:solidFill>
                  <a:schemeClr val="tx1">
                    <a:lumMod val="60000"/>
                    <a:lumOff val="40000"/>
                  </a:schemeClr>
                </a:solidFill>
              </a:rPr>
              <a:t>）</a:t>
            </a:r>
            <a:r>
              <a:rPr lang="zh-CN" altLang="en-US" sz="2600" b="0" dirty="0">
                <a:solidFill>
                  <a:srgbClr val="000000"/>
                </a:solidFill>
              </a:rPr>
              <a:t>，其</a:t>
            </a:r>
            <a:r>
              <a:rPr lang="en-US" altLang="zh-CN" sz="2600" b="0" dirty="0">
                <a:solidFill>
                  <a:schemeClr val="tx1">
                    <a:lumMod val="60000"/>
                    <a:lumOff val="40000"/>
                  </a:schemeClr>
                </a:solidFill>
              </a:rPr>
              <a:t>N</a:t>
            </a:r>
            <a:r>
              <a:rPr lang="zh-CN" altLang="en-US" sz="2600" b="0" dirty="0">
                <a:solidFill>
                  <a:schemeClr val="tx1">
                    <a:lumMod val="60000"/>
                    <a:lumOff val="40000"/>
                  </a:schemeClr>
                </a:solidFill>
              </a:rPr>
              <a:t>端有部分正电荷</a:t>
            </a:r>
            <a:r>
              <a:rPr lang="zh-CN" altLang="en-US" sz="2600" b="0" dirty="0">
                <a:solidFill>
                  <a:srgbClr val="000000"/>
                </a:solidFill>
              </a:rPr>
              <a:t>，</a:t>
            </a:r>
            <a:r>
              <a:rPr lang="en-US" altLang="zh-CN" sz="2600" b="0" dirty="0">
                <a:solidFill>
                  <a:schemeClr val="tx1">
                    <a:lumMod val="60000"/>
                    <a:lumOff val="40000"/>
                  </a:schemeClr>
                </a:solidFill>
              </a:rPr>
              <a:t>C</a:t>
            </a:r>
            <a:r>
              <a:rPr lang="zh-CN" altLang="en-US" sz="2600" b="0" dirty="0">
                <a:solidFill>
                  <a:schemeClr val="tx1">
                    <a:lumMod val="60000"/>
                    <a:lumOff val="40000"/>
                  </a:schemeClr>
                </a:solidFill>
              </a:rPr>
              <a:t>端有部分负电荷</a:t>
            </a:r>
            <a:r>
              <a:rPr lang="zh-CN" altLang="en-US" sz="2600" b="0" dirty="0">
                <a:solidFill>
                  <a:srgbClr val="000000"/>
                </a:solidFill>
              </a:rPr>
              <a:t>。如果螺旋的</a:t>
            </a:r>
            <a:r>
              <a:rPr lang="en-US" altLang="zh-CN" sz="2600" b="0" dirty="0">
                <a:solidFill>
                  <a:srgbClr val="000000"/>
                </a:solidFill>
              </a:rPr>
              <a:t>N</a:t>
            </a:r>
            <a:r>
              <a:rPr lang="zh-CN" altLang="en-US" sz="2600" b="0" dirty="0">
                <a:solidFill>
                  <a:srgbClr val="000000"/>
                </a:solidFill>
              </a:rPr>
              <a:t>端有酸性氨基酸残基，或者</a:t>
            </a:r>
            <a:r>
              <a:rPr lang="en-US" altLang="zh-CN" sz="2600" b="0" dirty="0">
                <a:solidFill>
                  <a:srgbClr val="000000"/>
                </a:solidFill>
              </a:rPr>
              <a:t>C</a:t>
            </a:r>
            <a:r>
              <a:rPr lang="zh-CN" altLang="en-US" sz="2600" b="0" dirty="0">
                <a:solidFill>
                  <a:srgbClr val="000000"/>
                </a:solidFill>
              </a:rPr>
              <a:t>端有碱性氨基酸残基，均有助于</a:t>
            </a:r>
            <a:r>
              <a:rPr lang="el-GR" altLang="zh-CN" sz="2600" b="0" dirty="0">
                <a:solidFill>
                  <a:srgbClr val="000000"/>
                </a:solidFill>
              </a:rPr>
              <a:t>α-</a:t>
            </a:r>
            <a:r>
              <a:rPr lang="zh-CN" altLang="en-US" sz="2600" b="0" dirty="0">
                <a:solidFill>
                  <a:srgbClr val="000000"/>
                </a:solidFill>
              </a:rPr>
              <a:t>螺旋的稳定。 </a:t>
            </a:r>
            <a:endParaRPr lang="en-US" altLang="zh-CN" sz="2600" b="0" dirty="0">
              <a:solidFill>
                <a:srgbClr val="000000"/>
              </a:solidFill>
            </a:endParaRPr>
          </a:p>
          <a:p>
            <a:pPr>
              <a:lnSpc>
                <a:spcPct val="120000"/>
              </a:lnSpc>
              <a:spcBef>
                <a:spcPts val="1200"/>
              </a:spcBef>
              <a:defRPr/>
            </a:pPr>
            <a:endParaRPr lang="en-US" altLang="zh-CN" sz="2600" b="0" dirty="0">
              <a:solidFill>
                <a:srgbClr val="000000"/>
              </a:solidFill>
            </a:endParaRPr>
          </a:p>
        </p:txBody>
      </p:sp>
      <p:pic>
        <p:nvPicPr>
          <p:cNvPr id="204804" name="图片 4">
            <a:extLst>
              <a:ext uri="{FF2B5EF4-FFF2-40B4-BE49-F238E27FC236}">
                <a16:creationId xmlns:a16="http://schemas.microsoft.com/office/drawing/2014/main" id="{90A13810-0953-4238-A52A-0CDA7657CF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69597" y="374384"/>
            <a:ext cx="2009329" cy="6094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2">
            <a:extLst>
              <a:ext uri="{FF2B5EF4-FFF2-40B4-BE49-F238E27FC236}">
                <a16:creationId xmlns:a16="http://schemas.microsoft.com/office/drawing/2014/main" id="{418EDB0C-5248-3701-6221-D39E479EAA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9456" y="1196752"/>
            <a:ext cx="6025404"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D647FB46-5D20-27B3-69DC-2F175CD22DDE}"/>
              </a:ext>
            </a:extLst>
          </p:cNvPr>
          <p:cNvSpPr>
            <a:spLocks noGrp="1"/>
          </p:cNvSpPr>
          <p:nvPr>
            <p:ph type="title"/>
          </p:nvPr>
        </p:nvSpPr>
        <p:spPr>
          <a:xfrm>
            <a:off x="1631504" y="188039"/>
            <a:ext cx="8305800" cy="563563"/>
          </a:xfrm>
        </p:spPr>
        <p:txBody>
          <a:bodyPr/>
          <a:lstStyle/>
          <a:p>
            <a:r>
              <a:rPr lang="el-GR" altLang="zh-CN" dirty="0"/>
              <a:t>α- </a:t>
            </a:r>
            <a:r>
              <a:rPr lang="zh-CN" altLang="en-US" dirty="0"/>
              <a:t>螺旋常具有亲水面和</a:t>
            </a:r>
            <a:r>
              <a:rPr lang="en-US" altLang="zh-CN" dirty="0"/>
              <a:t>/</a:t>
            </a:r>
            <a:r>
              <a:rPr lang="zh-CN" altLang="en-US" dirty="0"/>
              <a:t>或疏水面</a:t>
            </a:r>
          </a:p>
        </p:txBody>
      </p:sp>
      <p:sp>
        <p:nvSpPr>
          <p:cNvPr id="3" name="内容占位符 2">
            <a:extLst>
              <a:ext uri="{FF2B5EF4-FFF2-40B4-BE49-F238E27FC236}">
                <a16:creationId xmlns:a16="http://schemas.microsoft.com/office/drawing/2014/main" id="{5BC583E4-3616-7C67-925B-2C336FDDA21C}"/>
              </a:ext>
            </a:extLst>
          </p:cNvPr>
          <p:cNvSpPr>
            <a:spLocks noGrp="1"/>
          </p:cNvSpPr>
          <p:nvPr>
            <p:ph idx="1"/>
          </p:nvPr>
        </p:nvSpPr>
        <p:spPr>
          <a:xfrm>
            <a:off x="7680176" y="1916832"/>
            <a:ext cx="4176464" cy="3240360"/>
          </a:xfrm>
        </p:spPr>
        <p:txBody>
          <a:bodyPr/>
          <a:lstStyle/>
          <a:p>
            <a:r>
              <a:rPr lang="zh-CN" altLang="en-US" dirty="0">
                <a:solidFill>
                  <a:schemeClr val="tx1">
                    <a:lumMod val="60000"/>
                    <a:lumOff val="40000"/>
                  </a:schemeClr>
                </a:solidFill>
              </a:rPr>
              <a:t>两亲</a:t>
            </a:r>
            <a:r>
              <a:rPr lang="en-US" altLang="zh-CN" dirty="0">
                <a:solidFill>
                  <a:schemeClr val="tx1">
                    <a:lumMod val="60000"/>
                    <a:lumOff val="40000"/>
                  </a:schemeClr>
                </a:solidFill>
              </a:rPr>
              <a:t>α- </a:t>
            </a:r>
            <a:r>
              <a:rPr lang="zh-CN" altLang="en-US" dirty="0">
                <a:solidFill>
                  <a:schemeClr val="tx1">
                    <a:lumMod val="60000"/>
                    <a:lumOff val="40000"/>
                  </a:schemeClr>
                </a:solidFill>
              </a:rPr>
              <a:t>螺旋</a:t>
            </a:r>
            <a:r>
              <a:rPr lang="zh-CN" altLang="en-US" dirty="0"/>
              <a:t>的形成：</a:t>
            </a:r>
            <a:endParaRPr lang="en-US" altLang="zh-CN" dirty="0"/>
          </a:p>
          <a:p>
            <a:pPr marL="400050" lvl="1" indent="0">
              <a:lnSpc>
                <a:spcPct val="130000"/>
              </a:lnSpc>
              <a:buNone/>
            </a:pPr>
            <a:r>
              <a:rPr lang="zh-CN" altLang="en-US" sz="2600" dirty="0"/>
              <a:t>亲水性和疏水性氨基酸残基有规律地集中排列在与对称轴平行的两个侧面，使之能在极性或非极性环境中存在。</a:t>
            </a:r>
          </a:p>
        </p:txBody>
      </p:sp>
    </p:spTree>
    <p:extLst>
      <p:ext uri="{BB962C8B-B14F-4D97-AF65-F5344CB8AC3E}">
        <p14:creationId xmlns:p14="http://schemas.microsoft.com/office/powerpoint/2010/main" val="671388397"/>
      </p:ext>
    </p:extLst>
  </p:cSld>
  <p:clrMapOvr>
    <a:masterClrMapping/>
  </p:clrMapOvr>
  <p:transition spd="slow">
    <p:circle/>
  </p:transition>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69986" name="Picture 2">
            <a:extLst>
              <a:ext uri="{FF2B5EF4-FFF2-40B4-BE49-F238E27FC236}">
                <a16:creationId xmlns:a16="http://schemas.microsoft.com/office/drawing/2014/main" id="{86FEDBE9-D852-492C-8DB0-21AA930BD0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6477"/>
          <a:stretch>
            <a:fillRect/>
          </a:stretch>
        </p:blipFill>
        <p:spPr bwMode="auto">
          <a:xfrm>
            <a:off x="7548587" y="1412776"/>
            <a:ext cx="3951287" cy="4954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851" name="Rectangle 2">
            <a:extLst>
              <a:ext uri="{FF2B5EF4-FFF2-40B4-BE49-F238E27FC236}">
                <a16:creationId xmlns:a16="http://schemas.microsoft.com/office/drawing/2014/main" id="{255F9103-A490-4BB6-96E8-DB49B0014A8B}"/>
              </a:ext>
            </a:extLst>
          </p:cNvPr>
          <p:cNvSpPr>
            <a:spLocks noGrp="1" noChangeArrowheads="1"/>
          </p:cNvSpPr>
          <p:nvPr>
            <p:ph type="title"/>
          </p:nvPr>
        </p:nvSpPr>
        <p:spPr>
          <a:xfrm>
            <a:off x="1127125" y="201613"/>
            <a:ext cx="8305800" cy="563562"/>
          </a:xfrm>
        </p:spPr>
        <p:txBody>
          <a:bodyPr/>
          <a:lstStyle/>
          <a:p>
            <a:pPr algn="ctr" eaLnBrk="1" hangingPunct="1"/>
            <a:r>
              <a:rPr lang="en-US" altLang="zh-CN">
                <a:latin typeface="Times New Roman" panose="02020603050405020304" pitchFamily="18" charset="0"/>
              </a:rPr>
              <a:t>α -</a:t>
            </a:r>
            <a:r>
              <a:rPr lang="zh-CN" altLang="en-US">
                <a:latin typeface="Times New Roman" panose="02020603050405020304" pitchFamily="18" charset="0"/>
              </a:rPr>
              <a:t>角蛋白含大量</a:t>
            </a:r>
            <a:r>
              <a:rPr lang="zh-CN" altLang="en-US">
                <a:solidFill>
                  <a:srgbClr val="FFFFFF"/>
                </a:solidFill>
                <a:sym typeface="Symbol" panose="05050102010706020507" pitchFamily="18" charset="2"/>
              </a:rPr>
              <a:t> </a:t>
            </a:r>
            <a:r>
              <a:rPr lang="en-US" altLang="zh-CN">
                <a:latin typeface="Times New Roman" panose="02020603050405020304" pitchFamily="18" charset="0"/>
              </a:rPr>
              <a:t>-</a:t>
            </a:r>
            <a:r>
              <a:rPr lang="zh-CN" altLang="en-US">
                <a:latin typeface="Times New Roman" panose="02020603050405020304" pitchFamily="18" charset="0"/>
              </a:rPr>
              <a:t>螺旋</a:t>
            </a:r>
            <a:endParaRPr lang="en-US" altLang="zh-CN">
              <a:latin typeface="Times New Roman" panose="02020603050405020304" pitchFamily="18" charset="0"/>
            </a:endParaRPr>
          </a:p>
        </p:txBody>
      </p:sp>
      <p:sp>
        <p:nvSpPr>
          <p:cNvPr id="206852" name="Rectangle 3">
            <a:extLst>
              <a:ext uri="{FF2B5EF4-FFF2-40B4-BE49-F238E27FC236}">
                <a16:creationId xmlns:a16="http://schemas.microsoft.com/office/drawing/2014/main" id="{148E48CC-08E8-4BD8-8B7A-3D2B6765B171}"/>
              </a:ext>
            </a:extLst>
          </p:cNvPr>
          <p:cNvSpPr>
            <a:spLocks noGrp="1" noChangeArrowheads="1"/>
          </p:cNvSpPr>
          <p:nvPr>
            <p:ph type="body" sz="half" idx="1"/>
          </p:nvPr>
        </p:nvSpPr>
        <p:spPr>
          <a:xfrm>
            <a:off x="1289050" y="1075481"/>
            <a:ext cx="5959078" cy="2089150"/>
          </a:xfrm>
          <a:ln>
            <a:solidFill>
              <a:srgbClr val="1D7ACF"/>
            </a:solidFill>
            <a:miter lim="800000"/>
            <a:headEnd/>
            <a:tailEnd/>
          </a:ln>
        </p:spPr>
        <p:txBody>
          <a:bodyPr/>
          <a:lstStyle/>
          <a:p>
            <a:pPr algn="just" eaLnBrk="1" hangingPunct="1">
              <a:spcBef>
                <a:spcPct val="50000"/>
              </a:spcBef>
              <a:buSzPct val="80000"/>
            </a:pPr>
            <a:r>
              <a:rPr lang="zh-CN" altLang="en-US" b="0" dirty="0">
                <a:solidFill>
                  <a:schemeClr val="tx1"/>
                </a:solidFill>
              </a:rPr>
              <a:t>动物的毛发、趾甲、角、鳞、羽、皮肤角质层含大量</a:t>
            </a:r>
            <a:r>
              <a:rPr lang="zh-CN" altLang="en-US" b="0" dirty="0">
                <a:solidFill>
                  <a:srgbClr val="0000CC"/>
                </a:solidFill>
                <a:sym typeface="Symbol" panose="05050102010706020507" pitchFamily="18" charset="2"/>
              </a:rPr>
              <a:t></a:t>
            </a:r>
            <a:r>
              <a:rPr lang="en-US" altLang="zh-CN" b="0" dirty="0">
                <a:solidFill>
                  <a:srgbClr val="0000CC"/>
                </a:solidFill>
              </a:rPr>
              <a:t>-</a:t>
            </a:r>
            <a:r>
              <a:rPr lang="zh-CN" altLang="en-US" b="0" dirty="0">
                <a:solidFill>
                  <a:srgbClr val="0000CC"/>
                </a:solidFill>
              </a:rPr>
              <a:t>角蛋白</a:t>
            </a:r>
            <a:r>
              <a:rPr lang="en-US" altLang="zh-CN" b="0" dirty="0">
                <a:solidFill>
                  <a:srgbClr val="0000CC"/>
                </a:solidFill>
              </a:rPr>
              <a:t>(keratin)</a:t>
            </a:r>
            <a:r>
              <a:rPr lang="zh-CN" altLang="en-US" b="0" dirty="0">
                <a:solidFill>
                  <a:schemeClr val="tx1"/>
                </a:solidFill>
              </a:rPr>
              <a:t>。</a:t>
            </a:r>
            <a:endParaRPr lang="en-US" altLang="zh-CN" b="0" dirty="0">
              <a:solidFill>
                <a:schemeClr val="tx1"/>
              </a:solidFill>
            </a:endParaRPr>
          </a:p>
          <a:p>
            <a:pPr algn="just" eaLnBrk="1" hangingPunct="1">
              <a:spcBef>
                <a:spcPct val="50000"/>
              </a:spcBef>
              <a:buSzPct val="80000"/>
            </a:pPr>
            <a:r>
              <a:rPr lang="zh-CN" altLang="en-US" b="0" dirty="0">
                <a:solidFill>
                  <a:schemeClr val="tx1"/>
                </a:solidFill>
                <a:sym typeface="Symbol" panose="05050102010706020507" pitchFamily="18" charset="2"/>
              </a:rPr>
              <a:t></a:t>
            </a:r>
            <a:r>
              <a:rPr lang="en-US" altLang="zh-CN" b="0" dirty="0">
                <a:solidFill>
                  <a:schemeClr val="tx1"/>
                </a:solidFill>
              </a:rPr>
              <a:t>-</a:t>
            </a:r>
            <a:r>
              <a:rPr lang="zh-CN" altLang="en-US" b="0" dirty="0">
                <a:solidFill>
                  <a:schemeClr val="tx1"/>
                </a:solidFill>
              </a:rPr>
              <a:t>角蛋白中肽链主要呈</a:t>
            </a:r>
            <a:r>
              <a:rPr lang="zh-CN" altLang="en-US" b="0" dirty="0">
                <a:solidFill>
                  <a:schemeClr val="tx1"/>
                </a:solidFill>
                <a:sym typeface="Symbol" panose="05050102010706020507" pitchFamily="18" charset="2"/>
              </a:rPr>
              <a:t></a:t>
            </a:r>
            <a:r>
              <a:rPr lang="en-US" altLang="zh-CN" b="0" dirty="0">
                <a:solidFill>
                  <a:schemeClr val="tx1"/>
                </a:solidFill>
              </a:rPr>
              <a:t>-</a:t>
            </a:r>
            <a:r>
              <a:rPr lang="zh-CN" altLang="en-US" b="0" dirty="0">
                <a:solidFill>
                  <a:schemeClr val="tx1"/>
                </a:solidFill>
              </a:rPr>
              <a:t>螺旋。</a:t>
            </a:r>
            <a:endParaRPr lang="en-US" altLang="zh-CN" b="0" dirty="0">
              <a:solidFill>
                <a:schemeClr val="tx1"/>
              </a:solidFill>
            </a:endParaRPr>
          </a:p>
        </p:txBody>
      </p:sp>
      <p:pic>
        <p:nvPicPr>
          <p:cNvPr id="206853" name="图片 9">
            <a:extLst>
              <a:ext uri="{FF2B5EF4-FFF2-40B4-BE49-F238E27FC236}">
                <a16:creationId xmlns:a16="http://schemas.microsoft.com/office/drawing/2014/main" id="{3DF82DFB-54C8-42A1-870C-6CD8859811C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640557" y="3501660"/>
            <a:ext cx="5184775" cy="279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14D52350-63EC-42D7-A113-54609A758BA4}"/>
              </a:ext>
            </a:extLst>
          </p:cNvPr>
          <p:cNvSpPr>
            <a:spLocks noChangeArrowheads="1"/>
          </p:cNvSpPr>
          <p:nvPr/>
        </p:nvSpPr>
        <p:spPr bwMode="auto">
          <a:xfrm>
            <a:off x="5519936" y="3474937"/>
            <a:ext cx="2664296" cy="830263"/>
          </a:xfrm>
          <a:prstGeom prst="rect">
            <a:avLst/>
          </a:prstGeom>
          <a:noFill/>
          <a:ln w="9525">
            <a:solidFill>
              <a:srgbClr val="1D7ACF"/>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sz="2400" dirty="0">
                <a:solidFill>
                  <a:srgbClr val="FF0000"/>
                </a:solidFill>
                <a:latin typeface="Arial" panose="020B0604020202020204" pitchFamily="34" charset="0"/>
                <a:ea typeface="宋体" panose="02010600030101010101" pitchFamily="2" charset="-122"/>
              </a:rPr>
              <a:t>两条肽链之间生成多个二硫键</a:t>
            </a:r>
          </a:p>
        </p:txBody>
      </p:sp>
      <p:sp>
        <p:nvSpPr>
          <p:cNvPr id="206855" name="矩形 6">
            <a:extLst>
              <a:ext uri="{FF2B5EF4-FFF2-40B4-BE49-F238E27FC236}">
                <a16:creationId xmlns:a16="http://schemas.microsoft.com/office/drawing/2014/main" id="{F8DC7003-794B-47AE-8E5C-2A46D41CEA47}"/>
              </a:ext>
            </a:extLst>
          </p:cNvPr>
          <p:cNvSpPr>
            <a:spLocks noChangeArrowheads="1"/>
          </p:cNvSpPr>
          <p:nvPr/>
        </p:nvSpPr>
        <p:spPr bwMode="auto">
          <a:xfrm>
            <a:off x="2216819" y="5012961"/>
            <a:ext cx="16557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n-US" altLang="zh-CN" sz="1600" b="0">
                <a:solidFill>
                  <a:schemeClr val="tx1"/>
                </a:solidFill>
                <a:latin typeface="Arial" panose="020B0604020202020204" pitchFamily="34" charset="0"/>
                <a:ea typeface="宋体" panose="02010600030101010101" pitchFamily="2" charset="-122"/>
              </a:rPr>
              <a:t>protofilament</a:t>
            </a:r>
            <a:endParaRPr lang="zh-CN" altLang="en-US" sz="1600" b="0">
              <a:solidFill>
                <a:schemeClr val="tx1"/>
              </a:solidFill>
              <a:latin typeface="Arial" panose="020B0604020202020204" pitchFamily="34" charset="0"/>
              <a:ea typeface="宋体" panose="02010600030101010101" pitchFamily="2" charset="-122"/>
            </a:endParaRPr>
          </a:p>
        </p:txBody>
      </p:sp>
      <p:sp>
        <p:nvSpPr>
          <p:cNvPr id="206856" name="矩形 7">
            <a:extLst>
              <a:ext uri="{FF2B5EF4-FFF2-40B4-BE49-F238E27FC236}">
                <a16:creationId xmlns:a16="http://schemas.microsoft.com/office/drawing/2014/main" id="{F37E034C-84CC-4CF6-83EA-EF06279F0211}"/>
              </a:ext>
            </a:extLst>
          </p:cNvPr>
          <p:cNvSpPr>
            <a:spLocks noChangeArrowheads="1"/>
          </p:cNvSpPr>
          <p:nvPr/>
        </p:nvSpPr>
        <p:spPr bwMode="auto">
          <a:xfrm>
            <a:off x="1497682" y="6001972"/>
            <a:ext cx="13049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n-US" altLang="zh-CN" sz="1600" b="0">
                <a:solidFill>
                  <a:schemeClr val="tx1"/>
                </a:solidFill>
                <a:latin typeface="Arial" panose="020B0604020202020204" pitchFamily="34" charset="0"/>
                <a:ea typeface="宋体" panose="02010600030101010101" pitchFamily="2" charset="-122"/>
              </a:rPr>
              <a:t>protofibril</a:t>
            </a:r>
            <a:endParaRPr lang="zh-CN" altLang="en-US" sz="1600" b="0">
              <a:solidFill>
                <a:schemeClr val="tx1"/>
              </a:solidFill>
              <a:latin typeface="Arial" panose="020B0604020202020204" pitchFamily="34" charset="0"/>
              <a:ea typeface="宋体" panose="02010600030101010101" pitchFamily="2" charset="-122"/>
            </a:endParaRPr>
          </a:p>
        </p:txBody>
      </p:sp>
      <p:sp>
        <p:nvSpPr>
          <p:cNvPr id="206857" name="矩形 2">
            <a:extLst>
              <a:ext uri="{FF2B5EF4-FFF2-40B4-BE49-F238E27FC236}">
                <a16:creationId xmlns:a16="http://schemas.microsoft.com/office/drawing/2014/main" id="{007CC111-9642-43E3-95A3-C9624D84098D}"/>
              </a:ext>
            </a:extLst>
          </p:cNvPr>
          <p:cNvSpPr>
            <a:spLocks noChangeArrowheads="1"/>
          </p:cNvSpPr>
          <p:nvPr/>
        </p:nvSpPr>
        <p:spPr bwMode="auto">
          <a:xfrm>
            <a:off x="8116117" y="4827060"/>
            <a:ext cx="10048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sz="1600" b="0" dirty="0">
                <a:solidFill>
                  <a:schemeClr val="tx1">
                    <a:lumMod val="60000"/>
                    <a:lumOff val="40000"/>
                  </a:schemeClr>
                </a:solidFill>
                <a:latin typeface="Arial" panose="020B0604020202020204" pitchFamily="34" charset="0"/>
                <a:ea typeface="宋体" panose="02010600030101010101" pitchFamily="2" charset="-122"/>
              </a:rPr>
              <a:t>卷曲螺旋</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169986"/>
                                        </p:tgtEl>
                                        <p:attrNameLst>
                                          <p:attrName>style.visibility</p:attrName>
                                        </p:attrNameLst>
                                      </p:cBhvr>
                                      <p:to>
                                        <p:strVal val="visible"/>
                                      </p:to>
                                    </p:set>
                                    <p:animEffect transition="in" filter="fade">
                                      <p:cBhvr>
                                        <p:cTn id="7" dur="500"/>
                                        <p:tgtEl>
                                          <p:spTgt spid="1699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a:extLst>
              <a:ext uri="{FF2B5EF4-FFF2-40B4-BE49-F238E27FC236}">
                <a16:creationId xmlns:a16="http://schemas.microsoft.com/office/drawing/2014/main" id="{33D02993-9E01-4761-B2CE-97EBE41BA773}"/>
              </a:ext>
            </a:extLst>
          </p:cNvPr>
          <p:cNvSpPr>
            <a:spLocks noGrp="1" noChangeArrowheads="1"/>
          </p:cNvSpPr>
          <p:nvPr>
            <p:ph type="title"/>
          </p:nvPr>
        </p:nvSpPr>
        <p:spPr>
          <a:xfrm>
            <a:off x="1703388" y="188913"/>
            <a:ext cx="6769100" cy="563562"/>
          </a:xfrm>
        </p:spPr>
        <p:txBody>
          <a:bodyPr/>
          <a:lstStyle/>
          <a:p>
            <a:pPr algn="ctr" eaLnBrk="1" hangingPunct="1"/>
            <a:r>
              <a:rPr lang="zh-CN" altLang="en-US" sz="4000"/>
              <a:t>卷发的生化原理</a:t>
            </a:r>
          </a:p>
        </p:txBody>
      </p:sp>
      <p:pic>
        <p:nvPicPr>
          <p:cNvPr id="208899" name="Picture 3">
            <a:extLst>
              <a:ext uri="{FF2B5EF4-FFF2-40B4-BE49-F238E27FC236}">
                <a16:creationId xmlns:a16="http://schemas.microsoft.com/office/drawing/2014/main" id="{817E300C-15FB-4F74-B8BB-7EFE5CA810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3815" y="1580137"/>
            <a:ext cx="6702335" cy="4320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8900" name="Picture 4" descr="ANd9GcQxUsHKHqwdDPEPohhorn9S5XIllzOtOyfdsdmGBXcTN5v_Lk4&amp;t=1&amp;usg=__iKQcptTXfNk5qRlPsFbdWc_rrpA=">
            <a:extLst>
              <a:ext uri="{FF2B5EF4-FFF2-40B4-BE49-F238E27FC236}">
                <a16:creationId xmlns:a16="http://schemas.microsoft.com/office/drawing/2014/main" id="{F8764E79-B2B4-40F2-B167-09DC36ADF5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9496" y="3740377"/>
            <a:ext cx="2503487"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8901" name="Picture 5" descr="7d9893103c201012203f2e79">
            <a:extLst>
              <a:ext uri="{FF2B5EF4-FFF2-40B4-BE49-F238E27FC236}">
                <a16:creationId xmlns:a16="http://schemas.microsoft.com/office/drawing/2014/main" id="{2B144FB8-9D8B-4EAA-9F1C-314DEB11A75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9496" y="964365"/>
            <a:ext cx="2592387"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6E6031E-5E99-0E21-4E8A-159E6FAAE657}"/>
              </a:ext>
            </a:extLst>
          </p:cNvPr>
          <p:cNvSpPr>
            <a:spLocks noGrp="1"/>
          </p:cNvSpPr>
          <p:nvPr>
            <p:ph idx="1"/>
          </p:nvPr>
        </p:nvSpPr>
        <p:spPr>
          <a:xfrm>
            <a:off x="1487488" y="1340769"/>
            <a:ext cx="9577064" cy="5189537"/>
          </a:xfrm>
        </p:spPr>
        <p:txBody>
          <a:bodyPr/>
          <a:lstStyle/>
          <a:p>
            <a:r>
              <a:rPr lang="zh-CN" altLang="en-US" dirty="0"/>
              <a:t>人体每年头发生长长度约为</a:t>
            </a:r>
            <a:r>
              <a:rPr lang="en-US" altLang="zh-CN" dirty="0"/>
              <a:t>15~20cm, </a:t>
            </a:r>
            <a:r>
              <a:rPr lang="zh-CN" altLang="en-US" dirty="0"/>
              <a:t>假如</a:t>
            </a:r>
            <a:r>
              <a:rPr lang="en-US" altLang="zh-CN" dirty="0"/>
              <a:t>α-keratin </a:t>
            </a:r>
            <a:r>
              <a:rPr lang="zh-CN" altLang="en-US" dirty="0"/>
              <a:t>合成的速度决定了头发生长的速度，试计算每秒需合成多长的肽链（即每秒形成的肽键的数量，或每秒掺入的氨基酸残基的数量）？ </a:t>
            </a:r>
            <a:endParaRPr lang="en-US" altLang="zh-CN" dirty="0"/>
          </a:p>
          <a:p>
            <a:endParaRPr lang="en-US" altLang="zh-CN" dirty="0"/>
          </a:p>
          <a:p>
            <a:r>
              <a:rPr lang="en-US" altLang="zh-CN" dirty="0"/>
              <a:t>α</a:t>
            </a:r>
            <a:r>
              <a:rPr lang="zh-CN" altLang="en-US" dirty="0"/>
              <a:t>螺旋 ：</a:t>
            </a:r>
            <a:r>
              <a:rPr lang="en-US" altLang="zh-CN" dirty="0"/>
              <a:t>3.6</a:t>
            </a:r>
            <a:r>
              <a:rPr lang="zh-CN" altLang="en-US" dirty="0"/>
              <a:t>残基</a:t>
            </a:r>
            <a:r>
              <a:rPr lang="en-US" altLang="zh-CN" dirty="0"/>
              <a:t>/</a:t>
            </a:r>
            <a:r>
              <a:rPr lang="zh-CN" altLang="en-US" dirty="0"/>
              <a:t>螺旋、螺距</a:t>
            </a:r>
            <a:r>
              <a:rPr lang="en-US" altLang="zh-CN" dirty="0"/>
              <a:t>0.54nm</a:t>
            </a:r>
          </a:p>
          <a:p>
            <a:endParaRPr lang="zh-CN" altLang="en-US" dirty="0"/>
          </a:p>
          <a:p>
            <a:r>
              <a:rPr lang="zh-CN" altLang="en-US" dirty="0"/>
              <a:t>答案： 如果长</a:t>
            </a:r>
            <a:r>
              <a:rPr lang="en-US" altLang="zh-CN" dirty="0"/>
              <a:t>20cm, </a:t>
            </a:r>
            <a:r>
              <a:rPr lang="zh-CN" altLang="en-US" dirty="0"/>
              <a:t>需要每秒合成约</a:t>
            </a:r>
            <a:r>
              <a:rPr lang="en-US" altLang="zh-CN" dirty="0"/>
              <a:t>42</a:t>
            </a:r>
            <a:r>
              <a:rPr lang="zh-CN" altLang="en-US" dirty="0"/>
              <a:t>个肽键。</a:t>
            </a:r>
          </a:p>
        </p:txBody>
      </p:sp>
    </p:spTree>
    <p:extLst>
      <p:ext uri="{BB962C8B-B14F-4D97-AF65-F5344CB8AC3E}">
        <p14:creationId xmlns:p14="http://schemas.microsoft.com/office/powerpoint/2010/main" val="4086891401"/>
      </p:ext>
    </p:extLst>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210946" name="Rectangle 2">
            <a:extLst>
              <a:ext uri="{FF2B5EF4-FFF2-40B4-BE49-F238E27FC236}">
                <a16:creationId xmlns:a16="http://schemas.microsoft.com/office/drawing/2014/main" id="{D916891F-75EB-424C-9EC2-17CFFF4894D8}"/>
              </a:ext>
            </a:extLst>
          </p:cNvPr>
          <p:cNvSpPr>
            <a:spLocks noGrp="1" noChangeArrowheads="1"/>
          </p:cNvSpPr>
          <p:nvPr>
            <p:ph type="title"/>
          </p:nvPr>
        </p:nvSpPr>
        <p:spPr>
          <a:xfrm>
            <a:off x="1893888" y="188913"/>
            <a:ext cx="6723062" cy="563562"/>
          </a:xfrm>
        </p:spPr>
        <p:txBody>
          <a:bodyPr/>
          <a:lstStyle/>
          <a:p>
            <a:pPr algn="ctr" eaLnBrk="1" hangingPunct="1"/>
            <a:r>
              <a:rPr lang="zh-CN" altLang="en-US" sz="4000">
                <a:latin typeface="Times New Roman" panose="02020603050405020304" pitchFamily="18" charset="0"/>
              </a:rPr>
              <a:t>胶原蛋白</a:t>
            </a:r>
            <a:r>
              <a:rPr lang="en-US" altLang="zh-CN" sz="4000">
                <a:latin typeface="Times New Roman" panose="02020603050405020304" pitchFamily="18" charset="0"/>
              </a:rPr>
              <a:t>(collagen)</a:t>
            </a:r>
          </a:p>
        </p:txBody>
      </p:sp>
      <p:sp>
        <p:nvSpPr>
          <p:cNvPr id="164867" name="Rectangle 3">
            <a:extLst>
              <a:ext uri="{FF2B5EF4-FFF2-40B4-BE49-F238E27FC236}">
                <a16:creationId xmlns:a16="http://schemas.microsoft.com/office/drawing/2014/main" id="{D7FDE0B1-A91B-4882-9C91-FC4BF87F26A1}"/>
              </a:ext>
            </a:extLst>
          </p:cNvPr>
          <p:cNvSpPr>
            <a:spLocks noGrp="1" noChangeArrowheads="1"/>
          </p:cNvSpPr>
          <p:nvPr>
            <p:ph type="body" sz="half" idx="1"/>
          </p:nvPr>
        </p:nvSpPr>
        <p:spPr>
          <a:xfrm>
            <a:off x="741363" y="1268414"/>
            <a:ext cx="6723062" cy="4968899"/>
          </a:xfrm>
        </p:spPr>
        <p:txBody>
          <a:bodyPr/>
          <a:lstStyle/>
          <a:p>
            <a:pPr algn="just" eaLnBrk="1" hangingPunct="1">
              <a:spcBef>
                <a:spcPct val="50000"/>
              </a:spcBef>
              <a:buSzPct val="80000"/>
            </a:pPr>
            <a:r>
              <a:rPr lang="zh-CN" altLang="en-US" b="0" dirty="0">
                <a:solidFill>
                  <a:schemeClr val="tx1"/>
                </a:solidFill>
              </a:rPr>
              <a:t>基本组成单位：</a:t>
            </a:r>
            <a:r>
              <a:rPr lang="zh-CN" altLang="en-US" b="0" dirty="0">
                <a:solidFill>
                  <a:srgbClr val="C00000"/>
                </a:solidFill>
              </a:rPr>
              <a:t>原胶原（</a:t>
            </a:r>
            <a:r>
              <a:rPr lang="en-US" altLang="zh-CN" b="0" dirty="0">
                <a:solidFill>
                  <a:srgbClr val="C00000"/>
                </a:solidFill>
              </a:rPr>
              <a:t>tropocollagen)</a:t>
            </a:r>
            <a:r>
              <a:rPr lang="zh-CN" altLang="en-US" b="0" dirty="0">
                <a:solidFill>
                  <a:schemeClr val="tx1"/>
                </a:solidFill>
              </a:rPr>
              <a:t>，由三条</a:t>
            </a:r>
            <a:r>
              <a:rPr lang="zh-CN" altLang="en-US" b="0" dirty="0">
                <a:solidFill>
                  <a:srgbClr val="C00000"/>
                </a:solidFill>
              </a:rPr>
              <a:t>左手螺旋状的</a:t>
            </a:r>
            <a:r>
              <a:rPr lang="en-US" altLang="zh-CN" b="0" dirty="0">
                <a:solidFill>
                  <a:srgbClr val="0000CC"/>
                </a:solidFill>
              </a:rPr>
              <a:t>α</a:t>
            </a:r>
            <a:r>
              <a:rPr lang="zh-CN" altLang="en-US" b="0" dirty="0">
                <a:solidFill>
                  <a:srgbClr val="0000CC"/>
                </a:solidFill>
              </a:rPr>
              <a:t>链（不是</a:t>
            </a:r>
            <a:r>
              <a:rPr lang="en-US" altLang="zh-CN" b="0" dirty="0">
                <a:solidFill>
                  <a:srgbClr val="0000CC"/>
                </a:solidFill>
              </a:rPr>
              <a:t>α</a:t>
            </a:r>
            <a:r>
              <a:rPr lang="zh-CN" altLang="en-US" b="0" dirty="0">
                <a:solidFill>
                  <a:srgbClr val="0000CC"/>
                </a:solidFill>
              </a:rPr>
              <a:t>螺旋！）</a:t>
            </a:r>
            <a:r>
              <a:rPr lang="zh-CN" altLang="en-US" b="0" dirty="0">
                <a:solidFill>
                  <a:schemeClr val="tx1"/>
                </a:solidFill>
              </a:rPr>
              <a:t>互相缠绕（彼此以氢键维持稳定），形成</a:t>
            </a:r>
            <a:r>
              <a:rPr lang="zh-CN" altLang="en-US" b="0" dirty="0">
                <a:solidFill>
                  <a:srgbClr val="C00000"/>
                </a:solidFill>
              </a:rPr>
              <a:t>右手螺旋</a:t>
            </a:r>
            <a:r>
              <a:rPr lang="en-US" altLang="zh-CN" sz="2400" b="0" dirty="0"/>
              <a:t>(collagen triple helix)</a:t>
            </a:r>
            <a:r>
              <a:rPr lang="zh-CN" altLang="en-US" sz="2400" b="0" dirty="0"/>
              <a:t>。</a:t>
            </a:r>
            <a:endParaRPr lang="en-US" altLang="zh-CN" sz="2400" b="0" dirty="0"/>
          </a:p>
          <a:p>
            <a:pPr algn="just" eaLnBrk="1" hangingPunct="1">
              <a:spcBef>
                <a:spcPct val="50000"/>
              </a:spcBef>
              <a:buSzPct val="80000"/>
            </a:pPr>
            <a:r>
              <a:rPr lang="zh-CN" altLang="en-US" b="0" dirty="0">
                <a:solidFill>
                  <a:schemeClr val="tx1"/>
                </a:solidFill>
              </a:rPr>
              <a:t>原胶原的一级结构： 每条肽链是三肽</a:t>
            </a:r>
            <a:r>
              <a:rPr lang="en-US" altLang="zh-CN" b="0" dirty="0" err="1">
                <a:solidFill>
                  <a:srgbClr val="FF0000"/>
                </a:solidFill>
              </a:rPr>
              <a:t>Gly</a:t>
            </a:r>
            <a:r>
              <a:rPr lang="en-US" altLang="zh-CN" b="0" dirty="0">
                <a:solidFill>
                  <a:srgbClr val="006600"/>
                </a:solidFill>
              </a:rPr>
              <a:t>-Pro-X</a:t>
            </a:r>
            <a:r>
              <a:rPr lang="zh-CN" altLang="en-US" b="0" dirty="0">
                <a:solidFill>
                  <a:schemeClr val="tx1"/>
                </a:solidFill>
              </a:rPr>
              <a:t>或</a:t>
            </a:r>
            <a:r>
              <a:rPr lang="en-US" altLang="zh-CN" b="0" dirty="0" err="1">
                <a:solidFill>
                  <a:srgbClr val="FF0000"/>
                </a:solidFill>
              </a:rPr>
              <a:t>Gly</a:t>
            </a:r>
            <a:r>
              <a:rPr lang="en-US" altLang="zh-CN" b="0" dirty="0">
                <a:solidFill>
                  <a:srgbClr val="006600"/>
                </a:solidFill>
              </a:rPr>
              <a:t>-X-</a:t>
            </a:r>
            <a:r>
              <a:rPr lang="en-US" altLang="zh-CN" b="0" dirty="0" err="1">
                <a:solidFill>
                  <a:srgbClr val="006600"/>
                </a:solidFill>
              </a:rPr>
              <a:t>Hyp</a:t>
            </a:r>
            <a:r>
              <a:rPr lang="zh-CN" altLang="en-US" b="0" dirty="0">
                <a:solidFill>
                  <a:schemeClr val="tx1"/>
                </a:solidFill>
              </a:rPr>
              <a:t>的不断重复（</a:t>
            </a:r>
            <a:r>
              <a:rPr lang="en-US" altLang="zh-CN" sz="2400" b="0" dirty="0">
                <a:solidFill>
                  <a:schemeClr val="tx1"/>
                </a:solidFill>
              </a:rPr>
              <a:t>X</a:t>
            </a:r>
            <a:r>
              <a:rPr lang="zh-CN" altLang="en-US" sz="2400" b="0" dirty="0">
                <a:solidFill>
                  <a:schemeClr val="tx1"/>
                </a:solidFill>
              </a:rPr>
              <a:t>为非</a:t>
            </a:r>
            <a:r>
              <a:rPr lang="en-US" altLang="zh-CN" sz="2400" b="0" dirty="0" err="1">
                <a:solidFill>
                  <a:schemeClr val="tx1"/>
                </a:solidFill>
              </a:rPr>
              <a:t>Gly</a:t>
            </a:r>
            <a:r>
              <a:rPr lang="zh-CN" altLang="en-US" sz="2400" b="0" dirty="0">
                <a:solidFill>
                  <a:schemeClr val="tx1"/>
                </a:solidFill>
              </a:rPr>
              <a:t>的任何氨基酸，以</a:t>
            </a:r>
            <a:r>
              <a:rPr lang="en-US" altLang="zh-CN" sz="2400" b="0" dirty="0">
                <a:solidFill>
                  <a:schemeClr val="tx1"/>
                </a:solidFill>
              </a:rPr>
              <a:t>Ala</a:t>
            </a:r>
            <a:r>
              <a:rPr lang="zh-CN" altLang="en-US" sz="2400" b="0" dirty="0">
                <a:solidFill>
                  <a:schemeClr val="tx1"/>
                </a:solidFill>
              </a:rPr>
              <a:t>多见</a:t>
            </a:r>
            <a:r>
              <a:rPr lang="en-US" altLang="zh-CN" sz="2400" b="0" dirty="0">
                <a:solidFill>
                  <a:schemeClr val="tx1"/>
                </a:solidFill>
              </a:rPr>
              <a:t>, </a:t>
            </a:r>
            <a:r>
              <a:rPr lang="en-US" altLang="zh-CN" sz="2400" b="0" dirty="0" err="1">
                <a:solidFill>
                  <a:schemeClr val="tx1"/>
                </a:solidFill>
              </a:rPr>
              <a:t>Hyp</a:t>
            </a:r>
            <a:r>
              <a:rPr lang="en-US" altLang="zh-CN" sz="2400" b="0" dirty="0">
                <a:solidFill>
                  <a:schemeClr val="tx1"/>
                </a:solidFill>
              </a:rPr>
              <a:t>: </a:t>
            </a:r>
            <a:r>
              <a:rPr lang="zh-CN" altLang="en-US" sz="2400" b="0" dirty="0">
                <a:solidFill>
                  <a:schemeClr val="tx1"/>
                </a:solidFill>
              </a:rPr>
              <a:t>羟脯氨酸</a:t>
            </a:r>
            <a:r>
              <a:rPr lang="zh-CN" altLang="en-US" b="0" dirty="0">
                <a:solidFill>
                  <a:schemeClr val="tx1"/>
                </a:solidFill>
              </a:rPr>
              <a:t>）。</a:t>
            </a:r>
            <a:endParaRPr lang="en-US" altLang="zh-CN" b="0" dirty="0">
              <a:solidFill>
                <a:schemeClr val="tx1"/>
              </a:solidFill>
            </a:endParaRPr>
          </a:p>
          <a:p>
            <a:pPr algn="just" eaLnBrk="1" hangingPunct="1">
              <a:spcBef>
                <a:spcPct val="50000"/>
              </a:spcBef>
              <a:buSzPct val="80000"/>
            </a:pPr>
            <a:r>
              <a:rPr lang="zh-CN" altLang="en-US" b="0" dirty="0">
                <a:solidFill>
                  <a:schemeClr val="tx1"/>
                </a:solidFill>
              </a:rPr>
              <a:t>比较缺必需氨基酸，</a:t>
            </a:r>
            <a:r>
              <a:rPr lang="zh-CN" altLang="en-US" b="0" dirty="0">
                <a:solidFill>
                  <a:srgbClr val="FF0000"/>
                </a:solidFill>
              </a:rPr>
              <a:t>营养价值低</a:t>
            </a:r>
            <a:r>
              <a:rPr lang="zh-CN" altLang="en-US" b="0" dirty="0">
                <a:solidFill>
                  <a:schemeClr val="tx1"/>
                </a:solidFill>
              </a:rPr>
              <a:t>。</a:t>
            </a:r>
          </a:p>
        </p:txBody>
      </p:sp>
      <p:pic>
        <p:nvPicPr>
          <p:cNvPr id="210948" name="图片 2">
            <a:extLst>
              <a:ext uri="{FF2B5EF4-FFF2-40B4-BE49-F238E27FC236}">
                <a16:creationId xmlns:a16="http://schemas.microsoft.com/office/drawing/2014/main" id="{8AD124D8-34D9-4DA8-9A11-6FEE262A1A9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00256" y="1627981"/>
            <a:ext cx="2592387" cy="360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64867">
                                            <p:txEl>
                                              <p:pRg st="1" end="1"/>
                                            </p:txEl>
                                          </p:spTgt>
                                        </p:tgtEl>
                                        <p:attrNameLst>
                                          <p:attrName>style.visibility</p:attrName>
                                        </p:attrNameLst>
                                      </p:cBhvr>
                                      <p:to>
                                        <p:strVal val="visible"/>
                                      </p:to>
                                    </p:set>
                                    <p:animEffect transition="in" filter="fade">
                                      <p:cBhvr>
                                        <p:cTn id="7" dur="500"/>
                                        <p:tgtEl>
                                          <p:spTgt spid="16486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64867">
                                            <p:txEl>
                                              <p:pRg st="2" end="2"/>
                                            </p:txEl>
                                          </p:spTgt>
                                        </p:tgtEl>
                                        <p:attrNameLst>
                                          <p:attrName>style.visibility</p:attrName>
                                        </p:attrNameLst>
                                      </p:cBhvr>
                                      <p:to>
                                        <p:strVal val="visible"/>
                                      </p:to>
                                    </p:set>
                                    <p:animEffect transition="in" filter="fade">
                                      <p:cBhvr>
                                        <p:cTn id="12" dur="500"/>
                                        <p:tgtEl>
                                          <p:spTgt spid="1648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2994" name="Group 10">
            <a:extLst>
              <a:ext uri="{FF2B5EF4-FFF2-40B4-BE49-F238E27FC236}">
                <a16:creationId xmlns:a16="http://schemas.microsoft.com/office/drawing/2014/main" id="{CCD3FB0B-E9D1-4FC1-9FF6-18380D86250D}"/>
              </a:ext>
            </a:extLst>
          </p:cNvPr>
          <p:cNvGrpSpPr>
            <a:grpSpLocks/>
          </p:cNvGrpSpPr>
          <p:nvPr/>
        </p:nvGrpSpPr>
        <p:grpSpPr bwMode="auto">
          <a:xfrm>
            <a:off x="1524000" y="1484314"/>
            <a:ext cx="8496300" cy="3025775"/>
            <a:chOff x="476" y="1026"/>
            <a:chExt cx="4150" cy="1513"/>
          </a:xfrm>
        </p:grpSpPr>
        <p:pic>
          <p:nvPicPr>
            <p:cNvPr id="212997" name="Picture 11">
              <a:extLst>
                <a:ext uri="{FF2B5EF4-FFF2-40B4-BE49-F238E27FC236}">
                  <a16:creationId xmlns:a16="http://schemas.microsoft.com/office/drawing/2014/main" id="{958D5FDD-4D80-4CBF-8975-06483581D1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 y="1026"/>
              <a:ext cx="3787" cy="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2998" name="Rectangle 12">
              <a:extLst>
                <a:ext uri="{FF2B5EF4-FFF2-40B4-BE49-F238E27FC236}">
                  <a16:creationId xmlns:a16="http://schemas.microsoft.com/office/drawing/2014/main" id="{6D6E6CAE-A5B2-4F79-8F65-469DBB9A62D0}"/>
                </a:ext>
              </a:extLst>
            </p:cNvPr>
            <p:cNvSpPr>
              <a:spLocks noChangeArrowheads="1"/>
            </p:cNvSpPr>
            <p:nvPr/>
          </p:nvSpPr>
          <p:spPr bwMode="auto">
            <a:xfrm>
              <a:off x="476" y="1026"/>
              <a:ext cx="499" cy="18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grpSp>
      <p:sp>
        <p:nvSpPr>
          <p:cNvPr id="212995" name="Text Box 13">
            <a:extLst>
              <a:ext uri="{FF2B5EF4-FFF2-40B4-BE49-F238E27FC236}">
                <a16:creationId xmlns:a16="http://schemas.microsoft.com/office/drawing/2014/main" id="{87B3090D-C6FE-496F-807B-184C9ED6F77A}"/>
              </a:ext>
            </a:extLst>
          </p:cNvPr>
          <p:cNvSpPr txBox="1">
            <a:spLocks noChangeArrowheads="1"/>
          </p:cNvSpPr>
          <p:nvPr/>
        </p:nvSpPr>
        <p:spPr bwMode="auto">
          <a:xfrm>
            <a:off x="1774825" y="185739"/>
            <a:ext cx="68405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sz="3200" dirty="0">
                <a:solidFill>
                  <a:schemeClr val="bg1"/>
                </a:solidFill>
              </a:rPr>
              <a:t>（三）</a:t>
            </a:r>
            <a:r>
              <a:rPr lang="zh-CN" altLang="en-US" sz="3200" dirty="0">
                <a:solidFill>
                  <a:schemeClr val="bg1"/>
                </a:solidFill>
                <a:sym typeface="Symbol" panose="05050102010706020507" pitchFamily="18" charset="2"/>
              </a:rPr>
              <a:t></a:t>
            </a:r>
            <a:r>
              <a:rPr lang="en-US" altLang="zh-CN" sz="3200" dirty="0">
                <a:solidFill>
                  <a:schemeClr val="bg1"/>
                </a:solidFill>
              </a:rPr>
              <a:t>-</a:t>
            </a:r>
            <a:r>
              <a:rPr kumimoji="1" lang="zh-CN" altLang="en-US" sz="3200" dirty="0">
                <a:solidFill>
                  <a:schemeClr val="bg1"/>
                </a:solidFill>
              </a:rPr>
              <a:t>折叠</a:t>
            </a:r>
            <a:r>
              <a:rPr lang="zh-CN" altLang="en-US" sz="3200" dirty="0">
                <a:solidFill>
                  <a:schemeClr val="bg1"/>
                </a:solidFill>
                <a:latin typeface="Arial" panose="020B0604020202020204" pitchFamily="34" charset="0"/>
                <a:ea typeface="宋体" panose="02010600030101010101" pitchFamily="2" charset="-122"/>
              </a:rPr>
              <a:t>（</a:t>
            </a:r>
            <a:r>
              <a:rPr lang="zh-CN" altLang="en-US" sz="3200" dirty="0">
                <a:solidFill>
                  <a:schemeClr val="bg1"/>
                </a:solidFill>
                <a:latin typeface="Arial" panose="020B0604020202020204" pitchFamily="34" charset="0"/>
                <a:ea typeface="宋体" panose="02010600030101010101" pitchFamily="2" charset="-122"/>
                <a:sym typeface="Symbol" panose="05050102010706020507" pitchFamily="18" charset="2"/>
              </a:rPr>
              <a:t></a:t>
            </a:r>
            <a:r>
              <a:rPr lang="en-US" altLang="zh-CN" sz="3200" dirty="0">
                <a:solidFill>
                  <a:schemeClr val="bg1"/>
                </a:solidFill>
                <a:latin typeface="Arial" panose="020B0604020202020204" pitchFamily="34" charset="0"/>
                <a:ea typeface="宋体" panose="02010600030101010101" pitchFamily="2" charset="-122"/>
              </a:rPr>
              <a:t>-pleated sheet</a:t>
            </a:r>
            <a:r>
              <a:rPr kumimoji="1" lang="en-US" altLang="zh-CN" sz="3200" dirty="0">
                <a:solidFill>
                  <a:schemeClr val="bg1"/>
                </a:solidFill>
                <a:latin typeface="Arial" panose="020B0604020202020204" pitchFamily="34" charset="0"/>
                <a:ea typeface="宋体" panose="02010600030101010101" pitchFamily="2" charset="-122"/>
              </a:rPr>
              <a:t> </a:t>
            </a:r>
            <a:r>
              <a:rPr lang="zh-CN" altLang="en-US" sz="3200" dirty="0">
                <a:solidFill>
                  <a:schemeClr val="bg1"/>
                </a:solidFill>
                <a:latin typeface="Arial" panose="020B0604020202020204" pitchFamily="34" charset="0"/>
                <a:ea typeface="宋体" panose="02010600030101010101" pitchFamily="2" charset="-122"/>
              </a:rPr>
              <a:t>）</a:t>
            </a:r>
          </a:p>
        </p:txBody>
      </p:sp>
      <p:sp>
        <p:nvSpPr>
          <p:cNvPr id="212996" name="Rectangle 17">
            <a:extLst>
              <a:ext uri="{FF2B5EF4-FFF2-40B4-BE49-F238E27FC236}">
                <a16:creationId xmlns:a16="http://schemas.microsoft.com/office/drawing/2014/main" id="{AE700498-8857-4AE8-B933-63138A557051}"/>
              </a:ext>
            </a:extLst>
          </p:cNvPr>
          <p:cNvSpPr>
            <a:spLocks noChangeArrowheads="1"/>
          </p:cNvSpPr>
          <p:nvPr/>
        </p:nvSpPr>
        <p:spPr bwMode="auto">
          <a:xfrm>
            <a:off x="1919288" y="4941888"/>
            <a:ext cx="8101012" cy="105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0000"/>
              </a:lnSpc>
              <a:spcBef>
                <a:spcPct val="0"/>
              </a:spcBef>
              <a:buClrTx/>
              <a:buFontTx/>
              <a:buNone/>
            </a:pPr>
            <a:r>
              <a:rPr lang="en-US" altLang="zh-CN">
                <a:solidFill>
                  <a:schemeClr val="tx1"/>
                </a:solidFill>
                <a:latin typeface="宋体" panose="02010600030101010101" pitchFamily="2" charset="-122"/>
                <a:ea typeface="宋体" panose="02010600030101010101" pitchFamily="2" charset="-122"/>
              </a:rPr>
              <a:t>    </a:t>
            </a:r>
            <a:r>
              <a:rPr lang="zh-CN" altLang="en-US">
                <a:solidFill>
                  <a:schemeClr val="tx1"/>
                </a:solidFill>
                <a:latin typeface="宋体" panose="02010600030101010101" pitchFamily="2" charset="-122"/>
                <a:ea typeface="宋体" panose="02010600030101010101" pitchFamily="2" charset="-122"/>
              </a:rPr>
              <a:t>两段或两段以上折叠成锯齿状的多肽链通过氢键相连，进而形成较伸展的片层结构，也称</a:t>
            </a:r>
            <a:r>
              <a:rPr lang="en-US" altLang="zh-CN">
                <a:solidFill>
                  <a:srgbClr val="C00000"/>
                </a:solidFill>
                <a:latin typeface="宋体" panose="02010600030101010101" pitchFamily="2" charset="-122"/>
                <a:ea typeface="宋体" panose="02010600030101010101" pitchFamily="2" charset="-122"/>
              </a:rPr>
              <a:t>β</a:t>
            </a:r>
            <a:r>
              <a:rPr lang="zh-CN" altLang="en-US">
                <a:solidFill>
                  <a:srgbClr val="C00000"/>
                </a:solidFill>
                <a:latin typeface="宋体" panose="02010600030101010101" pitchFamily="2" charset="-122"/>
                <a:ea typeface="宋体" panose="02010600030101010101" pitchFamily="2" charset="-122"/>
              </a:rPr>
              <a:t>片层</a:t>
            </a:r>
            <a:r>
              <a:rPr lang="zh-CN" altLang="en-US">
                <a:solidFill>
                  <a:schemeClr val="tx1"/>
                </a:solidFill>
                <a:latin typeface="宋体" panose="02010600030101010101" pitchFamily="2" charset="-122"/>
                <a:ea typeface="宋体" panose="02010600030101010101" pitchFamily="2" charset="-122"/>
              </a:rPr>
              <a:t>。</a:t>
            </a:r>
          </a:p>
        </p:txBody>
      </p:sp>
    </p:spTree>
  </p:cSld>
  <p:clrMapOvr>
    <a:masterClrMapping/>
  </p:clrMapOvr>
  <p:transition spd="slow">
    <p:circl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47" name="Group 11">
            <a:extLst>
              <a:ext uri="{FF2B5EF4-FFF2-40B4-BE49-F238E27FC236}">
                <a16:creationId xmlns:a16="http://schemas.microsoft.com/office/drawing/2014/main" id="{306F9790-21AF-4885-991E-ABDF41D07F76}"/>
              </a:ext>
            </a:extLst>
          </p:cNvPr>
          <p:cNvGrpSpPr>
            <a:grpSpLocks/>
          </p:cNvGrpSpPr>
          <p:nvPr/>
        </p:nvGrpSpPr>
        <p:grpSpPr bwMode="auto">
          <a:xfrm>
            <a:off x="4079776" y="939693"/>
            <a:ext cx="6842125" cy="2449513"/>
            <a:chOff x="2857" y="572"/>
            <a:chExt cx="2903" cy="1357"/>
          </a:xfrm>
        </p:grpSpPr>
        <p:pic>
          <p:nvPicPr>
            <p:cNvPr id="215048" name="Picture 12">
              <a:extLst>
                <a:ext uri="{FF2B5EF4-FFF2-40B4-BE49-F238E27FC236}">
                  <a16:creationId xmlns:a16="http://schemas.microsoft.com/office/drawing/2014/main" id="{32F87CE0-5460-4342-9F90-B1CC0BAF83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 y="663"/>
              <a:ext cx="2903" cy="1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49" name="Rectangle 13">
              <a:extLst>
                <a:ext uri="{FF2B5EF4-FFF2-40B4-BE49-F238E27FC236}">
                  <a16:creationId xmlns:a16="http://schemas.microsoft.com/office/drawing/2014/main" id="{EFD8E2CE-C633-4A6B-B11B-C939D908D406}"/>
                </a:ext>
              </a:extLst>
            </p:cNvPr>
            <p:cNvSpPr>
              <a:spLocks noChangeArrowheads="1"/>
            </p:cNvSpPr>
            <p:nvPr/>
          </p:nvSpPr>
          <p:spPr bwMode="auto">
            <a:xfrm>
              <a:off x="2925" y="572"/>
              <a:ext cx="182" cy="27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grpSp>
      <p:sp>
        <p:nvSpPr>
          <p:cNvPr id="215042" name="Rectangle 2">
            <a:extLst>
              <a:ext uri="{FF2B5EF4-FFF2-40B4-BE49-F238E27FC236}">
                <a16:creationId xmlns:a16="http://schemas.microsoft.com/office/drawing/2014/main" id="{074A9D27-A1F5-47A3-9236-7B1627A5E107}"/>
              </a:ext>
            </a:extLst>
          </p:cNvPr>
          <p:cNvSpPr>
            <a:spLocks noGrp="1" noChangeArrowheads="1"/>
          </p:cNvSpPr>
          <p:nvPr>
            <p:ph type="body" idx="1"/>
          </p:nvPr>
        </p:nvSpPr>
        <p:spPr>
          <a:xfrm>
            <a:off x="2063751" y="3717926"/>
            <a:ext cx="8858150" cy="2591393"/>
          </a:xfrm>
        </p:spPr>
        <p:txBody>
          <a:bodyPr/>
          <a:lstStyle/>
          <a:p>
            <a:pPr algn="just" eaLnBrk="1" hangingPunct="1">
              <a:lnSpc>
                <a:spcPct val="130000"/>
              </a:lnSpc>
              <a:buFont typeface="Wingdings" panose="05000000000000000000" pitchFamily="2" charset="2"/>
              <a:buNone/>
            </a:pPr>
            <a:r>
              <a:rPr lang="en-US" altLang="zh-CN" sz="2400" dirty="0">
                <a:solidFill>
                  <a:srgbClr val="000099"/>
                </a:solidFill>
              </a:rPr>
              <a:t>⑴</a:t>
            </a:r>
            <a:r>
              <a:rPr lang="zh-CN" altLang="en-US" sz="2400" dirty="0">
                <a:solidFill>
                  <a:srgbClr val="000099"/>
                </a:solidFill>
              </a:rPr>
              <a:t>多肽链</a:t>
            </a:r>
            <a:r>
              <a:rPr lang="zh-CN" altLang="en-US" sz="2400" dirty="0">
                <a:solidFill>
                  <a:srgbClr val="FF0000"/>
                </a:solidFill>
              </a:rPr>
              <a:t>充分伸展</a:t>
            </a:r>
            <a:r>
              <a:rPr lang="zh-CN" altLang="en-US" sz="2400" dirty="0">
                <a:solidFill>
                  <a:srgbClr val="000099"/>
                </a:solidFill>
              </a:rPr>
              <a:t>，肽键平面折叠成</a:t>
            </a:r>
            <a:r>
              <a:rPr lang="zh-CN" altLang="en-US" sz="2400" dirty="0">
                <a:solidFill>
                  <a:srgbClr val="FF0000"/>
                </a:solidFill>
              </a:rPr>
              <a:t>锯齿状（折纸状），</a:t>
            </a:r>
            <a:r>
              <a:rPr lang="en-US" altLang="zh-CN" sz="2400" dirty="0">
                <a:solidFill>
                  <a:srgbClr val="000099"/>
                </a:solidFill>
              </a:rPr>
              <a:t>R</a:t>
            </a:r>
            <a:r>
              <a:rPr lang="zh-CN" altLang="en-US" sz="2400" dirty="0">
                <a:solidFill>
                  <a:srgbClr val="000099"/>
                </a:solidFill>
              </a:rPr>
              <a:t>基交错位于齿状结构上下方</a:t>
            </a:r>
          </a:p>
          <a:p>
            <a:pPr algn="just" eaLnBrk="1" hangingPunct="1">
              <a:lnSpc>
                <a:spcPct val="140000"/>
              </a:lnSpc>
              <a:spcBef>
                <a:spcPct val="50000"/>
              </a:spcBef>
              <a:buFont typeface="Wingdings" panose="05000000000000000000" pitchFamily="2" charset="2"/>
              <a:buNone/>
            </a:pPr>
            <a:r>
              <a:rPr lang="zh-CN" altLang="en-US" sz="2400" dirty="0">
                <a:solidFill>
                  <a:srgbClr val="000099"/>
                </a:solidFill>
              </a:rPr>
              <a:t>⑵ 平行肽段间靠</a:t>
            </a:r>
            <a:r>
              <a:rPr lang="zh-CN" altLang="en-US" sz="2400" dirty="0">
                <a:solidFill>
                  <a:srgbClr val="FF0000"/>
                </a:solidFill>
              </a:rPr>
              <a:t>氢键</a:t>
            </a:r>
            <a:r>
              <a:rPr lang="zh-CN" altLang="en-US" sz="2400" dirty="0">
                <a:solidFill>
                  <a:srgbClr val="000099"/>
                </a:solidFill>
              </a:rPr>
              <a:t>维持稳定，氢键方向与主链长轴垂直</a:t>
            </a:r>
          </a:p>
          <a:p>
            <a:pPr algn="just" eaLnBrk="1" hangingPunct="1">
              <a:lnSpc>
                <a:spcPct val="140000"/>
              </a:lnSpc>
              <a:spcBef>
                <a:spcPct val="0"/>
              </a:spcBef>
              <a:buFont typeface="Wingdings" panose="05000000000000000000" pitchFamily="2" charset="2"/>
              <a:buNone/>
            </a:pPr>
            <a:r>
              <a:rPr lang="zh-CN" altLang="en-US" sz="2400" dirty="0">
                <a:solidFill>
                  <a:srgbClr val="000099"/>
                </a:solidFill>
              </a:rPr>
              <a:t>⑶ 两条以上肽链并列时， </a:t>
            </a:r>
            <a:r>
              <a:rPr lang="zh-CN" altLang="en-US" sz="2400" dirty="0">
                <a:solidFill>
                  <a:srgbClr val="000099"/>
                </a:solidFill>
                <a:sym typeface="Symbol" panose="05050102010706020507" pitchFamily="18" charset="2"/>
              </a:rPr>
              <a:t></a:t>
            </a:r>
            <a:r>
              <a:rPr lang="en-US" altLang="zh-CN" sz="2400" dirty="0">
                <a:solidFill>
                  <a:srgbClr val="000099"/>
                </a:solidFill>
              </a:rPr>
              <a:t>-</a:t>
            </a:r>
            <a:r>
              <a:rPr lang="zh-CN" altLang="en-US" sz="2400" dirty="0">
                <a:solidFill>
                  <a:srgbClr val="000099"/>
                </a:solidFill>
              </a:rPr>
              <a:t>折叠呈</a:t>
            </a:r>
            <a:r>
              <a:rPr lang="zh-CN" altLang="en-US" sz="2400" dirty="0">
                <a:solidFill>
                  <a:schemeClr val="tx1">
                    <a:lumMod val="60000"/>
                    <a:lumOff val="40000"/>
                  </a:schemeClr>
                </a:solidFill>
              </a:rPr>
              <a:t>顺向平行</a:t>
            </a:r>
            <a:r>
              <a:rPr lang="zh-CN" altLang="en-US" sz="2400" dirty="0">
                <a:solidFill>
                  <a:srgbClr val="000099"/>
                </a:solidFill>
              </a:rPr>
              <a:t>或</a:t>
            </a:r>
            <a:r>
              <a:rPr lang="zh-CN" altLang="en-US" sz="2400" dirty="0">
                <a:solidFill>
                  <a:schemeClr val="tx1">
                    <a:lumMod val="60000"/>
                    <a:lumOff val="40000"/>
                  </a:schemeClr>
                </a:solidFill>
              </a:rPr>
              <a:t>反向平行</a:t>
            </a:r>
            <a:r>
              <a:rPr lang="zh-CN" altLang="en-US" sz="2400" dirty="0">
                <a:solidFill>
                  <a:srgbClr val="000099"/>
                </a:solidFill>
              </a:rPr>
              <a:t>。</a:t>
            </a:r>
          </a:p>
        </p:txBody>
      </p:sp>
      <p:sp>
        <p:nvSpPr>
          <p:cNvPr id="215043" name="Text Box 3">
            <a:extLst>
              <a:ext uri="{FF2B5EF4-FFF2-40B4-BE49-F238E27FC236}">
                <a16:creationId xmlns:a16="http://schemas.microsoft.com/office/drawing/2014/main" id="{D7010FE0-3C6F-46B9-AF98-6056A3D27F54}"/>
              </a:ext>
            </a:extLst>
          </p:cNvPr>
          <p:cNvSpPr txBox="1">
            <a:spLocks noChangeArrowheads="1"/>
          </p:cNvSpPr>
          <p:nvPr/>
        </p:nvSpPr>
        <p:spPr bwMode="auto">
          <a:xfrm>
            <a:off x="1932509" y="2878464"/>
            <a:ext cx="23411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kumimoji="1" lang="zh-CN" altLang="en-US" dirty="0">
                <a:solidFill>
                  <a:srgbClr val="006600"/>
                </a:solidFill>
                <a:sym typeface="Symbol" panose="05050102010706020507" pitchFamily="18" charset="2"/>
              </a:rPr>
              <a:t></a:t>
            </a:r>
            <a:r>
              <a:rPr kumimoji="1" lang="en-US" altLang="zh-CN" dirty="0">
                <a:solidFill>
                  <a:srgbClr val="006600"/>
                </a:solidFill>
              </a:rPr>
              <a:t>-</a:t>
            </a:r>
            <a:r>
              <a:rPr kumimoji="1" lang="zh-CN" altLang="en-US" dirty="0">
                <a:solidFill>
                  <a:srgbClr val="006600"/>
                </a:solidFill>
              </a:rPr>
              <a:t>折叠特点：</a:t>
            </a:r>
          </a:p>
        </p:txBody>
      </p:sp>
    </p:spTree>
  </p:cSld>
  <p:clrMapOvr>
    <a:masterClrMapping/>
  </p:clrMapOvr>
  <p:transition spd="slow">
    <p:circl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Text Box 2">
            <a:extLst>
              <a:ext uri="{FF2B5EF4-FFF2-40B4-BE49-F238E27FC236}">
                <a16:creationId xmlns:a16="http://schemas.microsoft.com/office/drawing/2014/main" id="{0C261893-555C-4096-95A2-2B23EAF4CA78}"/>
              </a:ext>
            </a:extLst>
          </p:cNvPr>
          <p:cNvSpPr txBox="1">
            <a:spLocks noChangeArrowheads="1"/>
          </p:cNvSpPr>
          <p:nvPr/>
        </p:nvSpPr>
        <p:spPr bwMode="auto">
          <a:xfrm>
            <a:off x="1770064" y="5842001"/>
            <a:ext cx="3311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a:spcBef>
                <a:spcPct val="50000"/>
              </a:spcBef>
              <a:buClrTx/>
              <a:buFontTx/>
              <a:buNone/>
            </a:pPr>
            <a:r>
              <a:rPr lang="zh-CN" altLang="en-US">
                <a:solidFill>
                  <a:schemeClr val="tx1"/>
                </a:solidFill>
                <a:latin typeface="Arial" panose="020B0604020202020204" pitchFamily="34" charset="0"/>
                <a:ea typeface="华文中宋" panose="02010600040101010101" pitchFamily="2" charset="-122"/>
              </a:rPr>
              <a:t>同向排列的</a:t>
            </a:r>
            <a:r>
              <a:rPr lang="en-US" altLang="zh-CN">
                <a:solidFill>
                  <a:schemeClr val="tx1"/>
                </a:solidFill>
                <a:latin typeface="Symbol" panose="05050102010706020507" pitchFamily="18" charset="2"/>
                <a:ea typeface="宋体" panose="02010600030101010101" pitchFamily="2" charset="-122"/>
              </a:rPr>
              <a:t>b</a:t>
            </a:r>
            <a:r>
              <a:rPr lang="en-US" altLang="zh-CN">
                <a:solidFill>
                  <a:schemeClr val="tx1"/>
                </a:solidFill>
                <a:latin typeface="华文中宋" panose="02010600040101010101" pitchFamily="2" charset="-122"/>
                <a:ea typeface="华文中宋" panose="02010600040101010101" pitchFamily="2" charset="-122"/>
              </a:rPr>
              <a:t>-</a:t>
            </a:r>
            <a:r>
              <a:rPr lang="zh-CN" altLang="en-US">
                <a:solidFill>
                  <a:schemeClr val="tx1"/>
                </a:solidFill>
                <a:latin typeface="Arial" panose="020B0604020202020204" pitchFamily="34" charset="0"/>
                <a:ea typeface="华文中宋" panose="02010600040101010101" pitchFamily="2" charset="-122"/>
              </a:rPr>
              <a:t>折叠</a:t>
            </a:r>
          </a:p>
        </p:txBody>
      </p:sp>
      <p:sp>
        <p:nvSpPr>
          <p:cNvPr id="217091" name="Text Box 3">
            <a:extLst>
              <a:ext uri="{FF2B5EF4-FFF2-40B4-BE49-F238E27FC236}">
                <a16:creationId xmlns:a16="http://schemas.microsoft.com/office/drawing/2014/main" id="{71AF4974-327D-4F41-8B82-8E60C52A7FBD}"/>
              </a:ext>
            </a:extLst>
          </p:cNvPr>
          <p:cNvSpPr txBox="1">
            <a:spLocks noChangeArrowheads="1"/>
          </p:cNvSpPr>
          <p:nvPr/>
        </p:nvSpPr>
        <p:spPr bwMode="auto">
          <a:xfrm>
            <a:off x="6743701" y="5810251"/>
            <a:ext cx="3311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a:spcBef>
                <a:spcPct val="50000"/>
              </a:spcBef>
              <a:buClrTx/>
              <a:buFontTx/>
              <a:buNone/>
            </a:pPr>
            <a:r>
              <a:rPr lang="zh-CN" altLang="en-US">
                <a:solidFill>
                  <a:schemeClr val="tx1"/>
                </a:solidFill>
                <a:latin typeface="Arial" panose="020B0604020202020204" pitchFamily="34" charset="0"/>
                <a:ea typeface="华文中宋" panose="02010600040101010101" pitchFamily="2" charset="-122"/>
              </a:rPr>
              <a:t>反向排列的</a:t>
            </a:r>
            <a:r>
              <a:rPr lang="en-US" altLang="zh-CN">
                <a:solidFill>
                  <a:schemeClr val="tx1"/>
                </a:solidFill>
                <a:latin typeface="Symbol" panose="05050102010706020507" pitchFamily="18" charset="2"/>
                <a:ea typeface="宋体" panose="02010600030101010101" pitchFamily="2" charset="-122"/>
              </a:rPr>
              <a:t>b</a:t>
            </a:r>
            <a:r>
              <a:rPr lang="en-US" altLang="zh-CN">
                <a:solidFill>
                  <a:schemeClr val="tx1"/>
                </a:solidFill>
                <a:latin typeface="华文中宋" panose="02010600040101010101" pitchFamily="2" charset="-122"/>
                <a:ea typeface="华文中宋" panose="02010600040101010101" pitchFamily="2" charset="-122"/>
              </a:rPr>
              <a:t>-</a:t>
            </a:r>
            <a:r>
              <a:rPr lang="zh-CN" altLang="en-US">
                <a:solidFill>
                  <a:schemeClr val="tx1"/>
                </a:solidFill>
                <a:latin typeface="Arial" panose="020B0604020202020204" pitchFamily="34" charset="0"/>
                <a:ea typeface="华文中宋" panose="02010600040101010101" pitchFamily="2" charset="-122"/>
              </a:rPr>
              <a:t>折叠</a:t>
            </a:r>
          </a:p>
        </p:txBody>
      </p:sp>
      <p:grpSp>
        <p:nvGrpSpPr>
          <p:cNvPr id="217092" name="Group 4">
            <a:extLst>
              <a:ext uri="{FF2B5EF4-FFF2-40B4-BE49-F238E27FC236}">
                <a16:creationId xmlns:a16="http://schemas.microsoft.com/office/drawing/2014/main" id="{730C35E6-5BEA-4C77-A27A-2505A283297A}"/>
              </a:ext>
            </a:extLst>
          </p:cNvPr>
          <p:cNvGrpSpPr>
            <a:grpSpLocks/>
          </p:cNvGrpSpPr>
          <p:nvPr/>
        </p:nvGrpSpPr>
        <p:grpSpPr bwMode="auto">
          <a:xfrm>
            <a:off x="1524001" y="1433514"/>
            <a:ext cx="4246563" cy="4205287"/>
            <a:chOff x="0" y="903"/>
            <a:chExt cx="2675" cy="2649"/>
          </a:xfrm>
        </p:grpSpPr>
        <p:pic>
          <p:nvPicPr>
            <p:cNvPr id="217100" name="Picture 5">
              <a:extLst>
                <a:ext uri="{FF2B5EF4-FFF2-40B4-BE49-F238E27FC236}">
                  <a16:creationId xmlns:a16="http://schemas.microsoft.com/office/drawing/2014/main" id="{DE9A9F56-1CA7-47FE-A1F0-B63CC7513B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610"/>
            <a:stretch>
              <a:fillRect/>
            </a:stretch>
          </p:blipFill>
          <p:spPr bwMode="auto">
            <a:xfrm>
              <a:off x="0" y="994"/>
              <a:ext cx="2675" cy="2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7101" name="Rectangle 6">
              <a:extLst>
                <a:ext uri="{FF2B5EF4-FFF2-40B4-BE49-F238E27FC236}">
                  <a16:creationId xmlns:a16="http://schemas.microsoft.com/office/drawing/2014/main" id="{E3DE98EA-CFFC-4532-B106-EFD2F9343953}"/>
                </a:ext>
              </a:extLst>
            </p:cNvPr>
            <p:cNvSpPr>
              <a:spLocks noChangeArrowheads="1"/>
            </p:cNvSpPr>
            <p:nvPr/>
          </p:nvSpPr>
          <p:spPr bwMode="auto">
            <a:xfrm>
              <a:off x="0" y="903"/>
              <a:ext cx="204" cy="272"/>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sp>
          <p:nvSpPr>
            <p:cNvPr id="217102" name="Rectangle 7">
              <a:extLst>
                <a:ext uri="{FF2B5EF4-FFF2-40B4-BE49-F238E27FC236}">
                  <a16:creationId xmlns:a16="http://schemas.microsoft.com/office/drawing/2014/main" id="{8E704755-BAF2-4E9E-B9A5-6478D408248D}"/>
                </a:ext>
              </a:extLst>
            </p:cNvPr>
            <p:cNvSpPr>
              <a:spLocks noChangeArrowheads="1"/>
            </p:cNvSpPr>
            <p:nvPr/>
          </p:nvSpPr>
          <p:spPr bwMode="auto">
            <a:xfrm>
              <a:off x="0" y="1719"/>
              <a:ext cx="68" cy="272"/>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sp>
          <p:nvSpPr>
            <p:cNvPr id="217103" name="Line 8">
              <a:extLst>
                <a:ext uri="{FF2B5EF4-FFF2-40B4-BE49-F238E27FC236}">
                  <a16:creationId xmlns:a16="http://schemas.microsoft.com/office/drawing/2014/main" id="{D4476F8F-5F6B-4BB7-9DBB-72DA29B9916D}"/>
                </a:ext>
              </a:extLst>
            </p:cNvPr>
            <p:cNvSpPr>
              <a:spLocks noChangeShapeType="1"/>
            </p:cNvSpPr>
            <p:nvPr/>
          </p:nvSpPr>
          <p:spPr bwMode="auto">
            <a:xfrm>
              <a:off x="703" y="903"/>
              <a:ext cx="0" cy="227"/>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7104" name="Line 9">
              <a:extLst>
                <a:ext uri="{FF2B5EF4-FFF2-40B4-BE49-F238E27FC236}">
                  <a16:creationId xmlns:a16="http://schemas.microsoft.com/office/drawing/2014/main" id="{544BBA22-401E-4992-9D6A-0994F65D04FE}"/>
                </a:ext>
              </a:extLst>
            </p:cNvPr>
            <p:cNvSpPr>
              <a:spLocks noChangeShapeType="1"/>
            </p:cNvSpPr>
            <p:nvPr/>
          </p:nvSpPr>
          <p:spPr bwMode="auto">
            <a:xfrm>
              <a:off x="1474" y="903"/>
              <a:ext cx="0" cy="227"/>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7105" name="Text Box 10">
              <a:extLst>
                <a:ext uri="{FF2B5EF4-FFF2-40B4-BE49-F238E27FC236}">
                  <a16:creationId xmlns:a16="http://schemas.microsoft.com/office/drawing/2014/main" id="{924772D2-0945-43CE-A29F-AB6BE6F51E56}"/>
                </a:ext>
              </a:extLst>
            </p:cNvPr>
            <p:cNvSpPr txBox="1">
              <a:spLocks noChangeArrowheads="1"/>
            </p:cNvSpPr>
            <p:nvPr/>
          </p:nvSpPr>
          <p:spPr bwMode="auto">
            <a:xfrm>
              <a:off x="839" y="903"/>
              <a:ext cx="59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50000"/>
                </a:spcBef>
                <a:buClrTx/>
                <a:buFontTx/>
                <a:buNone/>
              </a:pPr>
              <a:r>
                <a:rPr lang="en-US" altLang="zh-CN" sz="1600">
                  <a:solidFill>
                    <a:schemeClr val="tx1"/>
                  </a:solidFill>
                  <a:latin typeface="Arial" panose="020B0604020202020204" pitchFamily="34" charset="0"/>
                  <a:ea typeface="宋体" panose="02010600030101010101" pitchFamily="2" charset="-122"/>
                </a:rPr>
                <a:t>0.65nm</a:t>
              </a:r>
            </a:p>
          </p:txBody>
        </p:sp>
      </p:grpSp>
      <p:grpSp>
        <p:nvGrpSpPr>
          <p:cNvPr id="217093" name="Group 11">
            <a:extLst>
              <a:ext uri="{FF2B5EF4-FFF2-40B4-BE49-F238E27FC236}">
                <a16:creationId xmlns:a16="http://schemas.microsoft.com/office/drawing/2014/main" id="{88A782B2-6507-4DE1-8F25-8A3899DE4387}"/>
              </a:ext>
            </a:extLst>
          </p:cNvPr>
          <p:cNvGrpSpPr>
            <a:grpSpLocks/>
          </p:cNvGrpSpPr>
          <p:nvPr/>
        </p:nvGrpSpPr>
        <p:grpSpPr bwMode="auto">
          <a:xfrm>
            <a:off x="5664200" y="1412875"/>
            <a:ext cx="5003800" cy="4129088"/>
            <a:chOff x="2608" y="890"/>
            <a:chExt cx="3152" cy="2601"/>
          </a:xfrm>
        </p:grpSpPr>
        <p:pic>
          <p:nvPicPr>
            <p:cNvPr id="217095" name="Picture 12">
              <a:extLst>
                <a:ext uri="{FF2B5EF4-FFF2-40B4-BE49-F238E27FC236}">
                  <a16:creationId xmlns:a16="http://schemas.microsoft.com/office/drawing/2014/main" id="{C3C50CDB-6C00-487C-B9EF-7E06B0E036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08" y="994"/>
              <a:ext cx="3152" cy="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7096" name="Line 13">
              <a:extLst>
                <a:ext uri="{FF2B5EF4-FFF2-40B4-BE49-F238E27FC236}">
                  <a16:creationId xmlns:a16="http://schemas.microsoft.com/office/drawing/2014/main" id="{AA5F6298-1A17-4E8B-80F2-A0ED50269384}"/>
                </a:ext>
              </a:extLst>
            </p:cNvPr>
            <p:cNvSpPr>
              <a:spLocks noChangeShapeType="1"/>
            </p:cNvSpPr>
            <p:nvPr/>
          </p:nvSpPr>
          <p:spPr bwMode="auto">
            <a:xfrm>
              <a:off x="3794" y="890"/>
              <a:ext cx="0" cy="227"/>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7097" name="Line 14">
              <a:extLst>
                <a:ext uri="{FF2B5EF4-FFF2-40B4-BE49-F238E27FC236}">
                  <a16:creationId xmlns:a16="http://schemas.microsoft.com/office/drawing/2014/main" id="{E1686BB9-C138-45D7-A4A3-B798670F7B48}"/>
                </a:ext>
              </a:extLst>
            </p:cNvPr>
            <p:cNvSpPr>
              <a:spLocks noChangeShapeType="1"/>
            </p:cNvSpPr>
            <p:nvPr/>
          </p:nvSpPr>
          <p:spPr bwMode="auto">
            <a:xfrm>
              <a:off x="4590" y="890"/>
              <a:ext cx="0" cy="23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7098" name="Rectangle 15">
              <a:extLst>
                <a:ext uri="{FF2B5EF4-FFF2-40B4-BE49-F238E27FC236}">
                  <a16:creationId xmlns:a16="http://schemas.microsoft.com/office/drawing/2014/main" id="{53517B7B-B671-41A3-96C2-D4FC0220B887}"/>
                </a:ext>
              </a:extLst>
            </p:cNvPr>
            <p:cNvSpPr>
              <a:spLocks noChangeArrowheads="1"/>
            </p:cNvSpPr>
            <p:nvPr/>
          </p:nvSpPr>
          <p:spPr bwMode="auto">
            <a:xfrm>
              <a:off x="2608" y="948"/>
              <a:ext cx="771" cy="272"/>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sp>
          <p:nvSpPr>
            <p:cNvPr id="217099" name="Text Box 16">
              <a:extLst>
                <a:ext uri="{FF2B5EF4-FFF2-40B4-BE49-F238E27FC236}">
                  <a16:creationId xmlns:a16="http://schemas.microsoft.com/office/drawing/2014/main" id="{32CA80F1-FF8B-4F6D-A8D9-00A5BA4D1648}"/>
                </a:ext>
              </a:extLst>
            </p:cNvPr>
            <p:cNvSpPr txBox="1">
              <a:spLocks noChangeArrowheads="1"/>
            </p:cNvSpPr>
            <p:nvPr/>
          </p:nvSpPr>
          <p:spPr bwMode="auto">
            <a:xfrm>
              <a:off x="3878" y="903"/>
              <a:ext cx="59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a:spcBef>
                  <a:spcPct val="50000"/>
                </a:spcBef>
                <a:buClrTx/>
                <a:buFontTx/>
                <a:buNone/>
              </a:pPr>
              <a:r>
                <a:rPr lang="en-US" altLang="zh-CN" sz="1600">
                  <a:solidFill>
                    <a:schemeClr val="tx1"/>
                  </a:solidFill>
                  <a:latin typeface="Arial" panose="020B0604020202020204" pitchFamily="34" charset="0"/>
                  <a:ea typeface="宋体" panose="02010600030101010101" pitchFamily="2" charset="-122"/>
                </a:rPr>
                <a:t>0.7nm</a:t>
              </a:r>
            </a:p>
          </p:txBody>
        </p:sp>
      </p:grpSp>
      <p:sp>
        <p:nvSpPr>
          <p:cNvPr id="217094" name="Text Box 3">
            <a:extLst>
              <a:ext uri="{FF2B5EF4-FFF2-40B4-BE49-F238E27FC236}">
                <a16:creationId xmlns:a16="http://schemas.microsoft.com/office/drawing/2014/main" id="{6A3C3B4F-4930-4320-A89C-6C72D4052C9C}"/>
              </a:ext>
            </a:extLst>
          </p:cNvPr>
          <p:cNvSpPr txBox="1">
            <a:spLocks noChangeArrowheads="1"/>
          </p:cNvSpPr>
          <p:nvPr/>
        </p:nvSpPr>
        <p:spPr bwMode="auto">
          <a:xfrm>
            <a:off x="1981200" y="115889"/>
            <a:ext cx="64912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ct val="50000"/>
              </a:spcBef>
              <a:buClrTx/>
              <a:buFont typeface="Wingdings" panose="05000000000000000000" pitchFamily="2" charset="2"/>
              <a:buNone/>
            </a:pPr>
            <a:r>
              <a:rPr kumimoji="1" lang="en-US" altLang="zh-CN" sz="4000">
                <a:solidFill>
                  <a:schemeClr val="bg1"/>
                </a:solidFill>
              </a:rPr>
              <a:t>β-</a:t>
            </a:r>
            <a:r>
              <a:rPr kumimoji="1" lang="zh-CN" altLang="en-US" sz="4000">
                <a:solidFill>
                  <a:schemeClr val="bg1"/>
                </a:solidFill>
              </a:rPr>
              <a:t>折</a:t>
            </a:r>
            <a:r>
              <a:rPr kumimoji="1" lang="zh-CN" altLang="en-US" sz="4000">
                <a:solidFill>
                  <a:schemeClr val="bg1"/>
                </a:solidFill>
                <a:latin typeface="Arial" panose="020B0604020202020204" pitchFamily="34" charset="0"/>
              </a:rPr>
              <a:t>叠</a:t>
            </a:r>
            <a:r>
              <a:rPr kumimoji="1" lang="zh-CN" altLang="en-US" sz="4000">
                <a:solidFill>
                  <a:schemeClr val="bg1"/>
                </a:solidFill>
              </a:rPr>
              <a:t>：平行式和反平行式</a:t>
            </a:r>
          </a:p>
        </p:txBody>
      </p:sp>
    </p:spTree>
  </p:cSld>
  <p:clrMapOvr>
    <a:masterClrMapping/>
  </p:clrMapOvr>
  <p:transition spd="slow">
    <p:circle/>
  </p:transition>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7154" name="Rectangle 3">
            <a:extLst>
              <a:ext uri="{FF2B5EF4-FFF2-40B4-BE49-F238E27FC236}">
                <a16:creationId xmlns:a16="http://schemas.microsoft.com/office/drawing/2014/main" id="{97352805-BAF3-401C-BC89-0F9C3793B603}"/>
              </a:ext>
            </a:extLst>
          </p:cNvPr>
          <p:cNvSpPr>
            <a:spLocks noGrp="1" noChangeArrowheads="1"/>
          </p:cNvSpPr>
          <p:nvPr>
            <p:ph type="body" idx="1"/>
          </p:nvPr>
        </p:nvSpPr>
        <p:spPr>
          <a:xfrm>
            <a:off x="4722866" y="1113633"/>
            <a:ext cx="6269678" cy="2963440"/>
          </a:xfrm>
        </p:spPr>
        <p:txBody>
          <a:bodyPr/>
          <a:lstStyle/>
          <a:p>
            <a:pPr algn="just" eaLnBrk="1" hangingPunct="1">
              <a:lnSpc>
                <a:spcPct val="110000"/>
              </a:lnSpc>
              <a:defRPr/>
            </a:pPr>
            <a:r>
              <a:rPr lang="zh-CN" altLang="en-US" sz="2400" b="1" dirty="0">
                <a:solidFill>
                  <a:schemeClr val="tx1">
                    <a:lumMod val="60000"/>
                    <a:lumOff val="40000"/>
                  </a:schemeClr>
                </a:solidFill>
              </a:rPr>
              <a:t>丝心蛋白</a:t>
            </a:r>
            <a:r>
              <a:rPr lang="en-US" altLang="zh-CN" sz="2400" b="1" dirty="0">
                <a:solidFill>
                  <a:schemeClr val="tx1">
                    <a:lumMod val="60000"/>
                    <a:lumOff val="40000"/>
                  </a:schemeClr>
                </a:solidFill>
              </a:rPr>
              <a:t>/</a:t>
            </a:r>
            <a:r>
              <a:rPr lang="zh-CN" altLang="en-US" sz="2400" b="1" dirty="0">
                <a:solidFill>
                  <a:schemeClr val="tx1">
                    <a:lumMod val="60000"/>
                    <a:lumOff val="40000"/>
                  </a:schemeClr>
                </a:solidFill>
              </a:rPr>
              <a:t>丝素蛋白</a:t>
            </a:r>
            <a:r>
              <a:rPr lang="en-US" altLang="zh-CN" sz="2400" b="1" dirty="0">
                <a:solidFill>
                  <a:schemeClr val="tx1">
                    <a:lumMod val="60000"/>
                    <a:lumOff val="40000"/>
                  </a:schemeClr>
                </a:solidFill>
              </a:rPr>
              <a:t>(fibroin)</a:t>
            </a:r>
            <a:r>
              <a:rPr lang="zh-CN" altLang="en-US" sz="2400" dirty="0"/>
              <a:t>是</a:t>
            </a:r>
            <a:r>
              <a:rPr lang="zh-CN" altLang="en-US" sz="2400" dirty="0">
                <a:solidFill>
                  <a:schemeClr val="tx1"/>
                </a:solidFill>
              </a:rPr>
              <a:t>蚕丝和蜘蛛丝中的主要蛋白质，一种 </a:t>
            </a:r>
            <a:r>
              <a:rPr lang="en-US" altLang="zh-CN" sz="2400" dirty="0">
                <a:solidFill>
                  <a:schemeClr val="tx1"/>
                </a:solidFill>
              </a:rPr>
              <a:t>β</a:t>
            </a:r>
            <a:r>
              <a:rPr lang="zh-CN" altLang="en-US" sz="2400" dirty="0">
                <a:solidFill>
                  <a:schemeClr val="tx1"/>
                </a:solidFill>
              </a:rPr>
              <a:t>角蛋白。</a:t>
            </a:r>
            <a:endParaRPr lang="en-US" altLang="zh-CN" sz="2400" dirty="0">
              <a:solidFill>
                <a:schemeClr val="tx1"/>
              </a:solidFill>
            </a:endParaRPr>
          </a:p>
          <a:p>
            <a:pPr algn="just" eaLnBrk="1" hangingPunct="1">
              <a:lnSpc>
                <a:spcPct val="110000"/>
              </a:lnSpc>
              <a:defRPr/>
            </a:pPr>
            <a:r>
              <a:rPr lang="zh-CN" altLang="en-US" sz="2400" dirty="0">
                <a:solidFill>
                  <a:schemeClr val="tx1"/>
                </a:solidFill>
              </a:rPr>
              <a:t>大量</a:t>
            </a:r>
            <a:r>
              <a:rPr lang="zh-CN" altLang="en-US" sz="2400" dirty="0">
                <a:solidFill>
                  <a:srgbClr val="C00000"/>
                </a:solidFill>
              </a:rPr>
              <a:t>反平行</a:t>
            </a:r>
            <a:r>
              <a:rPr lang="en-US" altLang="zh-CN" sz="2400" dirty="0">
                <a:solidFill>
                  <a:srgbClr val="C00000"/>
                </a:solidFill>
              </a:rPr>
              <a:t>β</a:t>
            </a:r>
            <a:r>
              <a:rPr lang="zh-CN" altLang="en-US" sz="2400" dirty="0">
                <a:solidFill>
                  <a:srgbClr val="C00000"/>
                </a:solidFill>
              </a:rPr>
              <a:t>折叠</a:t>
            </a:r>
            <a:r>
              <a:rPr lang="zh-CN" altLang="en-US" sz="2400" dirty="0">
                <a:solidFill>
                  <a:schemeClr val="tx1"/>
                </a:solidFill>
              </a:rPr>
              <a:t>堆积成</a:t>
            </a:r>
            <a:r>
              <a:rPr lang="zh-CN" altLang="en-US" sz="2400" dirty="0">
                <a:solidFill>
                  <a:srgbClr val="0000CC"/>
                </a:solidFill>
              </a:rPr>
              <a:t>多层结构</a:t>
            </a:r>
            <a:r>
              <a:rPr lang="zh-CN" altLang="en-US" sz="2400" dirty="0">
                <a:solidFill>
                  <a:schemeClr val="tx1"/>
                </a:solidFill>
              </a:rPr>
              <a:t>，链间以氢键相连，层间主要靠范德华力维系。</a:t>
            </a:r>
            <a:endParaRPr lang="en-US" altLang="zh-CN" sz="2400" dirty="0">
              <a:solidFill>
                <a:schemeClr val="tx1"/>
              </a:solidFill>
            </a:endParaRPr>
          </a:p>
          <a:p>
            <a:pPr algn="just" eaLnBrk="1" hangingPunct="1">
              <a:lnSpc>
                <a:spcPct val="110000"/>
              </a:lnSpc>
              <a:defRPr/>
            </a:pPr>
            <a:r>
              <a:rPr lang="zh-CN" altLang="en-US" sz="2400" dirty="0">
                <a:solidFill>
                  <a:srgbClr val="C00000"/>
                </a:solidFill>
              </a:rPr>
              <a:t>特定氨基酸序列的不断重复</a:t>
            </a:r>
            <a:r>
              <a:rPr lang="zh-CN" altLang="en-US" sz="2400" dirty="0">
                <a:solidFill>
                  <a:schemeClr val="tx1"/>
                </a:solidFill>
              </a:rPr>
              <a:t>：</a:t>
            </a:r>
            <a:endParaRPr lang="en-US" altLang="zh-CN" sz="2400" dirty="0">
              <a:solidFill>
                <a:schemeClr val="tx1"/>
              </a:solidFill>
            </a:endParaRPr>
          </a:p>
          <a:p>
            <a:pPr marL="269875" indent="-269875" algn="just" eaLnBrk="1" hangingPunct="1">
              <a:lnSpc>
                <a:spcPct val="110000"/>
              </a:lnSpc>
              <a:buNone/>
              <a:defRPr/>
            </a:pPr>
            <a:r>
              <a:rPr lang="en-US" altLang="zh-CN" sz="2400" dirty="0">
                <a:ea typeface="楷体_GB2312"/>
                <a:cs typeface="楷体_GB2312"/>
              </a:rPr>
              <a:t>    (Gly-Ser-Gly-Ala-Gly-Ala)n</a:t>
            </a:r>
          </a:p>
        </p:txBody>
      </p:sp>
      <p:sp>
        <p:nvSpPr>
          <p:cNvPr id="221187" name="Rectangle 6">
            <a:extLst>
              <a:ext uri="{FF2B5EF4-FFF2-40B4-BE49-F238E27FC236}">
                <a16:creationId xmlns:a16="http://schemas.microsoft.com/office/drawing/2014/main" id="{E3048403-A39E-4BAF-A89F-5F2FD555033D}"/>
              </a:ext>
            </a:extLst>
          </p:cNvPr>
          <p:cNvSpPr>
            <a:spLocks noGrp="1" noChangeArrowheads="1"/>
          </p:cNvSpPr>
          <p:nvPr>
            <p:ph type="title"/>
          </p:nvPr>
        </p:nvSpPr>
        <p:spPr>
          <a:xfrm>
            <a:off x="1511301" y="176213"/>
            <a:ext cx="7032625" cy="563562"/>
          </a:xfrm>
        </p:spPr>
        <p:txBody>
          <a:bodyPr/>
          <a:lstStyle/>
          <a:p>
            <a:pPr eaLnBrk="1" hangingPunct="1"/>
            <a:r>
              <a:rPr lang="zh-CN" altLang="en-US"/>
              <a:t>丝蛋白含大量反平行</a:t>
            </a:r>
            <a:r>
              <a:rPr lang="en-US" altLang="zh-CN"/>
              <a:t>β</a:t>
            </a:r>
            <a:r>
              <a:rPr lang="zh-CN" altLang="en-US"/>
              <a:t>折叠</a:t>
            </a:r>
            <a:endParaRPr lang="zh-CN" altLang="zh-CN"/>
          </a:p>
        </p:txBody>
      </p:sp>
      <p:pic>
        <p:nvPicPr>
          <p:cNvPr id="174086" name="图片 2">
            <a:extLst>
              <a:ext uri="{FF2B5EF4-FFF2-40B4-BE49-F238E27FC236}">
                <a16:creationId xmlns:a16="http://schemas.microsoft.com/office/drawing/2014/main" id="{752C44A9-7205-4228-B203-483B31FC61C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35601" y="4458054"/>
            <a:ext cx="5703888" cy="178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1189" name="图片 1">
            <a:extLst>
              <a:ext uri="{FF2B5EF4-FFF2-40B4-BE49-F238E27FC236}">
                <a16:creationId xmlns:a16="http://schemas.microsoft.com/office/drawing/2014/main" id="{F7DEEFAD-9420-4DAF-8C68-7177F8E1E67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968208" y="4408841"/>
            <a:ext cx="2473325" cy="183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1190" name="图片 2">
            <a:extLst>
              <a:ext uri="{FF2B5EF4-FFF2-40B4-BE49-F238E27FC236}">
                <a16:creationId xmlns:a16="http://schemas.microsoft.com/office/drawing/2014/main" id="{FA4AEEF1-3722-441C-9037-29A73677D2D7}"/>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271464" y="1268760"/>
            <a:ext cx="2886075"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77154">
                                            <p:txEl>
                                              <p:pRg st="2" end="2"/>
                                            </p:txEl>
                                          </p:spTgt>
                                        </p:tgtEl>
                                        <p:attrNameLst>
                                          <p:attrName>style.visibility</p:attrName>
                                        </p:attrNameLst>
                                      </p:cBhvr>
                                      <p:to>
                                        <p:strVal val="visible"/>
                                      </p:to>
                                    </p:set>
                                    <p:animEffect transition="in" filter="fade">
                                      <p:cBhvr>
                                        <p:cTn id="7" dur="500"/>
                                        <p:tgtEl>
                                          <p:spTgt spid="177154">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77154">
                                            <p:txEl>
                                              <p:pRg st="3" end="3"/>
                                            </p:txEl>
                                          </p:spTgt>
                                        </p:tgtEl>
                                        <p:attrNameLst>
                                          <p:attrName>style.visibility</p:attrName>
                                        </p:attrNameLst>
                                      </p:cBhvr>
                                      <p:to>
                                        <p:strVal val="visible"/>
                                      </p:to>
                                    </p:set>
                                    <p:animEffect transition="in" filter="fade">
                                      <p:cBhvr>
                                        <p:cTn id="10" dur="500"/>
                                        <p:tgtEl>
                                          <p:spTgt spid="177154">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74086"/>
                                        </p:tgtEl>
                                        <p:attrNameLst>
                                          <p:attrName>style.visibility</p:attrName>
                                        </p:attrNameLst>
                                      </p:cBhvr>
                                      <p:to>
                                        <p:strVal val="visible"/>
                                      </p:to>
                                    </p:set>
                                    <p:animEffect transition="in" filter="fade">
                                      <p:cBhvr>
                                        <p:cTn id="13" dur="500"/>
                                        <p:tgtEl>
                                          <p:spTgt spid="1740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Text Box 2">
            <a:extLst>
              <a:ext uri="{FF2B5EF4-FFF2-40B4-BE49-F238E27FC236}">
                <a16:creationId xmlns:a16="http://schemas.microsoft.com/office/drawing/2014/main" id="{26D9B9DA-232A-4F3F-A579-105DA4DFE872}"/>
              </a:ext>
            </a:extLst>
          </p:cNvPr>
          <p:cNvSpPr txBox="1">
            <a:spLocks noChangeArrowheads="1"/>
          </p:cNvSpPr>
          <p:nvPr/>
        </p:nvSpPr>
        <p:spPr bwMode="auto">
          <a:xfrm>
            <a:off x="2135189" y="188913"/>
            <a:ext cx="640873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ct val="50000"/>
              </a:spcBef>
              <a:buClrTx/>
              <a:buFontTx/>
              <a:buNone/>
            </a:pPr>
            <a:r>
              <a:rPr lang="en-US" altLang="zh-CN" sz="3600">
                <a:solidFill>
                  <a:schemeClr val="bg1"/>
                </a:solidFill>
              </a:rPr>
              <a:t>α-</a:t>
            </a:r>
            <a:r>
              <a:rPr lang="zh-CN" altLang="en-US" sz="3600">
                <a:solidFill>
                  <a:schemeClr val="bg1"/>
                </a:solidFill>
              </a:rPr>
              <a:t>螺旋和</a:t>
            </a:r>
            <a:r>
              <a:rPr lang="zh-CN" altLang="en-US" sz="3600">
                <a:solidFill>
                  <a:schemeClr val="bg1"/>
                </a:solidFill>
                <a:sym typeface="Symbol" panose="05050102010706020507" pitchFamily="18" charset="2"/>
              </a:rPr>
              <a:t></a:t>
            </a:r>
            <a:r>
              <a:rPr lang="en-US" altLang="zh-CN" sz="3600">
                <a:solidFill>
                  <a:schemeClr val="bg1"/>
                </a:solidFill>
              </a:rPr>
              <a:t>-</a:t>
            </a:r>
            <a:r>
              <a:rPr lang="zh-CN" altLang="en-US" sz="3600">
                <a:solidFill>
                  <a:schemeClr val="bg1"/>
                </a:solidFill>
              </a:rPr>
              <a:t>折叠结构比较</a:t>
            </a:r>
            <a:endParaRPr lang="zh-CN" altLang="en-US" sz="3600" b="0">
              <a:solidFill>
                <a:schemeClr val="bg1"/>
              </a:solidFill>
            </a:endParaRPr>
          </a:p>
        </p:txBody>
      </p:sp>
      <p:sp>
        <p:nvSpPr>
          <p:cNvPr id="223235" name="Line 3">
            <a:extLst>
              <a:ext uri="{FF2B5EF4-FFF2-40B4-BE49-F238E27FC236}">
                <a16:creationId xmlns:a16="http://schemas.microsoft.com/office/drawing/2014/main" id="{303E7641-8601-41CA-BC58-84BB5DE3F2CB}"/>
              </a:ext>
            </a:extLst>
          </p:cNvPr>
          <p:cNvSpPr>
            <a:spLocks noChangeShapeType="1"/>
          </p:cNvSpPr>
          <p:nvPr/>
        </p:nvSpPr>
        <p:spPr bwMode="auto">
          <a:xfrm>
            <a:off x="2063751" y="1341438"/>
            <a:ext cx="7993063"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3236" name="Line 4">
            <a:extLst>
              <a:ext uri="{FF2B5EF4-FFF2-40B4-BE49-F238E27FC236}">
                <a16:creationId xmlns:a16="http://schemas.microsoft.com/office/drawing/2014/main" id="{59A031D9-8CDA-4844-9BB1-6B3B52C2D571}"/>
              </a:ext>
            </a:extLst>
          </p:cNvPr>
          <p:cNvSpPr>
            <a:spLocks noChangeShapeType="1"/>
          </p:cNvSpPr>
          <p:nvPr/>
        </p:nvSpPr>
        <p:spPr bwMode="auto">
          <a:xfrm>
            <a:off x="2063751" y="2060575"/>
            <a:ext cx="79930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3237" name="Line 5">
            <a:extLst>
              <a:ext uri="{FF2B5EF4-FFF2-40B4-BE49-F238E27FC236}">
                <a16:creationId xmlns:a16="http://schemas.microsoft.com/office/drawing/2014/main" id="{C7D2AC63-2BDB-49D6-B77F-883EBDE1F5C1}"/>
              </a:ext>
            </a:extLst>
          </p:cNvPr>
          <p:cNvSpPr>
            <a:spLocks noChangeShapeType="1"/>
          </p:cNvSpPr>
          <p:nvPr/>
        </p:nvSpPr>
        <p:spPr bwMode="auto">
          <a:xfrm>
            <a:off x="2063751" y="5734050"/>
            <a:ext cx="7993063"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3238" name="Line 6">
            <a:extLst>
              <a:ext uri="{FF2B5EF4-FFF2-40B4-BE49-F238E27FC236}">
                <a16:creationId xmlns:a16="http://schemas.microsoft.com/office/drawing/2014/main" id="{8DD444D1-AA61-4759-B3D6-375961098FE9}"/>
              </a:ext>
            </a:extLst>
          </p:cNvPr>
          <p:cNvSpPr>
            <a:spLocks noChangeShapeType="1"/>
          </p:cNvSpPr>
          <p:nvPr/>
        </p:nvSpPr>
        <p:spPr bwMode="auto">
          <a:xfrm>
            <a:off x="4151313" y="1341439"/>
            <a:ext cx="0" cy="4319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3239" name="Line 7">
            <a:extLst>
              <a:ext uri="{FF2B5EF4-FFF2-40B4-BE49-F238E27FC236}">
                <a16:creationId xmlns:a16="http://schemas.microsoft.com/office/drawing/2014/main" id="{FECC0373-B1B9-4DA8-86A2-F6923C0869A9}"/>
              </a:ext>
            </a:extLst>
          </p:cNvPr>
          <p:cNvSpPr>
            <a:spLocks noChangeShapeType="1"/>
          </p:cNvSpPr>
          <p:nvPr/>
        </p:nvSpPr>
        <p:spPr bwMode="auto">
          <a:xfrm>
            <a:off x="7175500" y="1341439"/>
            <a:ext cx="0" cy="43910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3240" name="Text Box 8">
            <a:extLst>
              <a:ext uri="{FF2B5EF4-FFF2-40B4-BE49-F238E27FC236}">
                <a16:creationId xmlns:a16="http://schemas.microsoft.com/office/drawing/2014/main" id="{ED143582-3C8E-4115-9D27-ADF9ACFEF695}"/>
              </a:ext>
            </a:extLst>
          </p:cNvPr>
          <p:cNvSpPr txBox="1">
            <a:spLocks noChangeArrowheads="1"/>
          </p:cNvSpPr>
          <p:nvPr/>
        </p:nvSpPr>
        <p:spPr bwMode="auto">
          <a:xfrm>
            <a:off x="2351088" y="1557339"/>
            <a:ext cx="7416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b="0">
                <a:solidFill>
                  <a:srgbClr val="FF0000"/>
                </a:solidFill>
              </a:rPr>
              <a:t>区别点</a:t>
            </a:r>
            <a:r>
              <a:rPr lang="zh-CN" altLang="en-US" b="0">
                <a:solidFill>
                  <a:schemeClr val="tx1"/>
                </a:solidFill>
              </a:rPr>
              <a:t>                </a:t>
            </a:r>
            <a:r>
              <a:rPr lang="en-US" altLang="zh-CN" b="0">
                <a:solidFill>
                  <a:srgbClr val="FF0000"/>
                </a:solidFill>
              </a:rPr>
              <a:t>α-</a:t>
            </a:r>
            <a:r>
              <a:rPr lang="zh-CN" altLang="en-US" b="0">
                <a:solidFill>
                  <a:srgbClr val="FF0000"/>
                </a:solidFill>
              </a:rPr>
              <a:t>螺旋                        </a:t>
            </a:r>
            <a:r>
              <a:rPr lang="zh-CN" altLang="en-US" b="0">
                <a:solidFill>
                  <a:srgbClr val="FF0000"/>
                </a:solidFill>
                <a:sym typeface="Symbol" panose="05050102010706020507" pitchFamily="18" charset="2"/>
              </a:rPr>
              <a:t></a:t>
            </a:r>
            <a:r>
              <a:rPr lang="en-US" altLang="zh-CN" b="0">
                <a:solidFill>
                  <a:srgbClr val="FF0000"/>
                </a:solidFill>
              </a:rPr>
              <a:t>-</a:t>
            </a:r>
            <a:r>
              <a:rPr lang="zh-CN" altLang="en-US" b="0">
                <a:solidFill>
                  <a:srgbClr val="FF0000"/>
                </a:solidFill>
              </a:rPr>
              <a:t>折叠</a:t>
            </a:r>
          </a:p>
        </p:txBody>
      </p:sp>
      <p:sp>
        <p:nvSpPr>
          <p:cNvPr id="223241" name="Text Box 9">
            <a:extLst>
              <a:ext uri="{FF2B5EF4-FFF2-40B4-BE49-F238E27FC236}">
                <a16:creationId xmlns:a16="http://schemas.microsoft.com/office/drawing/2014/main" id="{DB0F4661-A5EE-4D8C-AC81-692C24C071E4}"/>
              </a:ext>
            </a:extLst>
          </p:cNvPr>
          <p:cNvSpPr txBox="1">
            <a:spLocks noChangeArrowheads="1"/>
          </p:cNvSpPr>
          <p:nvPr/>
        </p:nvSpPr>
        <p:spPr bwMode="auto">
          <a:xfrm>
            <a:off x="2208213" y="2276476"/>
            <a:ext cx="76327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b="0">
                <a:solidFill>
                  <a:srgbClr val="0000CC"/>
                </a:solidFill>
              </a:rPr>
              <a:t>形      状</a:t>
            </a:r>
            <a:endParaRPr lang="zh-CN" altLang="en-US" b="0">
              <a:solidFill>
                <a:schemeClr val="tx1"/>
              </a:solidFill>
            </a:endParaRPr>
          </a:p>
        </p:txBody>
      </p:sp>
      <p:sp>
        <p:nvSpPr>
          <p:cNvPr id="223242" name="Text Box 10">
            <a:extLst>
              <a:ext uri="{FF2B5EF4-FFF2-40B4-BE49-F238E27FC236}">
                <a16:creationId xmlns:a16="http://schemas.microsoft.com/office/drawing/2014/main" id="{1942959F-1120-465F-AFDE-A2B4F0C942B0}"/>
              </a:ext>
            </a:extLst>
          </p:cNvPr>
          <p:cNvSpPr txBox="1">
            <a:spLocks noChangeArrowheads="1"/>
          </p:cNvSpPr>
          <p:nvPr/>
        </p:nvSpPr>
        <p:spPr bwMode="auto">
          <a:xfrm>
            <a:off x="2208213" y="2924176"/>
            <a:ext cx="77771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b="0">
                <a:solidFill>
                  <a:srgbClr val="0000CC"/>
                </a:solidFill>
              </a:rPr>
              <a:t>氢      键</a:t>
            </a:r>
            <a:endParaRPr lang="zh-CN" altLang="en-US" b="0">
              <a:solidFill>
                <a:schemeClr val="tx1"/>
              </a:solidFill>
            </a:endParaRPr>
          </a:p>
        </p:txBody>
      </p:sp>
      <p:sp>
        <p:nvSpPr>
          <p:cNvPr id="223243" name="Text Box 11">
            <a:extLst>
              <a:ext uri="{FF2B5EF4-FFF2-40B4-BE49-F238E27FC236}">
                <a16:creationId xmlns:a16="http://schemas.microsoft.com/office/drawing/2014/main" id="{C78164B6-1FB7-4830-9380-6BD9A0680ABB}"/>
              </a:ext>
            </a:extLst>
          </p:cNvPr>
          <p:cNvSpPr txBox="1">
            <a:spLocks noChangeArrowheads="1"/>
          </p:cNvSpPr>
          <p:nvPr/>
        </p:nvSpPr>
        <p:spPr bwMode="auto">
          <a:xfrm>
            <a:off x="2208213" y="3644901"/>
            <a:ext cx="72009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en-US" altLang="zh-CN" b="0">
                <a:solidFill>
                  <a:srgbClr val="0000CC"/>
                </a:solidFill>
              </a:rPr>
              <a:t>R</a:t>
            </a:r>
            <a:r>
              <a:rPr lang="zh-CN" altLang="en-US" b="0">
                <a:solidFill>
                  <a:srgbClr val="0000CC"/>
                </a:solidFill>
              </a:rPr>
              <a:t>－基团</a:t>
            </a:r>
            <a:endParaRPr lang="zh-CN" altLang="en-US" b="0">
              <a:solidFill>
                <a:schemeClr val="tx1"/>
              </a:solidFill>
            </a:endParaRPr>
          </a:p>
        </p:txBody>
      </p:sp>
      <p:sp>
        <p:nvSpPr>
          <p:cNvPr id="223244" name="Text Box 12">
            <a:extLst>
              <a:ext uri="{FF2B5EF4-FFF2-40B4-BE49-F238E27FC236}">
                <a16:creationId xmlns:a16="http://schemas.microsoft.com/office/drawing/2014/main" id="{A79CBB39-F87A-45E4-A785-AD121BA34864}"/>
              </a:ext>
            </a:extLst>
          </p:cNvPr>
          <p:cNvSpPr txBox="1">
            <a:spLocks noChangeArrowheads="1"/>
          </p:cNvSpPr>
          <p:nvPr/>
        </p:nvSpPr>
        <p:spPr bwMode="auto">
          <a:xfrm>
            <a:off x="2208213" y="4292601"/>
            <a:ext cx="72009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b="0">
                <a:solidFill>
                  <a:srgbClr val="0000CC"/>
                </a:solidFill>
              </a:rPr>
              <a:t>延伸性</a:t>
            </a:r>
            <a:endParaRPr lang="zh-CN" altLang="en-US" b="0">
              <a:solidFill>
                <a:schemeClr val="tx1"/>
              </a:solidFill>
            </a:endParaRPr>
          </a:p>
        </p:txBody>
      </p:sp>
      <p:sp>
        <p:nvSpPr>
          <p:cNvPr id="223245" name="Text Box 14">
            <a:extLst>
              <a:ext uri="{FF2B5EF4-FFF2-40B4-BE49-F238E27FC236}">
                <a16:creationId xmlns:a16="http://schemas.microsoft.com/office/drawing/2014/main" id="{F0301B67-B32E-4156-A00F-095D36CD7EF9}"/>
              </a:ext>
            </a:extLst>
          </p:cNvPr>
          <p:cNvSpPr txBox="1">
            <a:spLocks noChangeArrowheads="1"/>
          </p:cNvSpPr>
          <p:nvPr/>
        </p:nvSpPr>
        <p:spPr bwMode="auto">
          <a:xfrm>
            <a:off x="2208213" y="5013326"/>
            <a:ext cx="76327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b="0">
                <a:solidFill>
                  <a:srgbClr val="0000CC"/>
                </a:solidFill>
              </a:rPr>
              <a:t>举   例</a:t>
            </a:r>
            <a:endParaRPr lang="zh-CN" altLang="en-US" b="0">
              <a:solidFill>
                <a:schemeClr val="tx1"/>
              </a:solidFill>
            </a:endParaRPr>
          </a:p>
        </p:txBody>
      </p:sp>
    </p:spTree>
  </p:cSld>
  <p:clrMapOvr>
    <a:masterClrMapping/>
  </p:clrMapOvr>
  <p:transition spd="slow">
    <p:circl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Text Box 2">
            <a:extLst>
              <a:ext uri="{FF2B5EF4-FFF2-40B4-BE49-F238E27FC236}">
                <a16:creationId xmlns:a16="http://schemas.microsoft.com/office/drawing/2014/main" id="{CD05120C-108F-4AD4-B8F0-951958080AE9}"/>
              </a:ext>
            </a:extLst>
          </p:cNvPr>
          <p:cNvSpPr txBox="1">
            <a:spLocks noChangeArrowheads="1"/>
          </p:cNvSpPr>
          <p:nvPr/>
        </p:nvSpPr>
        <p:spPr bwMode="auto">
          <a:xfrm>
            <a:off x="2135189" y="188913"/>
            <a:ext cx="640873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ct val="50000"/>
              </a:spcBef>
              <a:buClrTx/>
              <a:buFontTx/>
              <a:buNone/>
            </a:pPr>
            <a:r>
              <a:rPr lang="en-US" altLang="zh-CN" sz="3600">
                <a:solidFill>
                  <a:schemeClr val="bg1"/>
                </a:solidFill>
              </a:rPr>
              <a:t>α-</a:t>
            </a:r>
            <a:r>
              <a:rPr lang="zh-CN" altLang="en-US" sz="3600">
                <a:solidFill>
                  <a:schemeClr val="bg1"/>
                </a:solidFill>
              </a:rPr>
              <a:t>螺旋和</a:t>
            </a:r>
            <a:r>
              <a:rPr lang="zh-CN" altLang="en-US" sz="3600">
                <a:solidFill>
                  <a:schemeClr val="bg1"/>
                </a:solidFill>
                <a:sym typeface="Symbol" panose="05050102010706020507" pitchFamily="18" charset="2"/>
              </a:rPr>
              <a:t></a:t>
            </a:r>
            <a:r>
              <a:rPr lang="en-US" altLang="zh-CN" sz="3600">
                <a:solidFill>
                  <a:schemeClr val="bg1"/>
                </a:solidFill>
              </a:rPr>
              <a:t>-</a:t>
            </a:r>
            <a:r>
              <a:rPr lang="zh-CN" altLang="en-US" sz="3600">
                <a:solidFill>
                  <a:schemeClr val="bg1"/>
                </a:solidFill>
              </a:rPr>
              <a:t>折叠结构比较</a:t>
            </a:r>
            <a:endParaRPr lang="zh-CN" altLang="en-US" sz="3600" b="0">
              <a:solidFill>
                <a:schemeClr val="bg1"/>
              </a:solidFill>
            </a:endParaRPr>
          </a:p>
        </p:txBody>
      </p:sp>
      <p:sp>
        <p:nvSpPr>
          <p:cNvPr id="225283" name="Line 3">
            <a:extLst>
              <a:ext uri="{FF2B5EF4-FFF2-40B4-BE49-F238E27FC236}">
                <a16:creationId xmlns:a16="http://schemas.microsoft.com/office/drawing/2014/main" id="{52AB917B-98B3-4601-AF64-0BB5B4B17EC6}"/>
              </a:ext>
            </a:extLst>
          </p:cNvPr>
          <p:cNvSpPr>
            <a:spLocks noChangeShapeType="1"/>
          </p:cNvSpPr>
          <p:nvPr/>
        </p:nvSpPr>
        <p:spPr bwMode="auto">
          <a:xfrm>
            <a:off x="2063751" y="1341438"/>
            <a:ext cx="7993063"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284" name="Line 4">
            <a:extLst>
              <a:ext uri="{FF2B5EF4-FFF2-40B4-BE49-F238E27FC236}">
                <a16:creationId xmlns:a16="http://schemas.microsoft.com/office/drawing/2014/main" id="{416514AE-CC06-41EB-9EDF-F720A02AB1C6}"/>
              </a:ext>
            </a:extLst>
          </p:cNvPr>
          <p:cNvSpPr>
            <a:spLocks noChangeShapeType="1"/>
          </p:cNvSpPr>
          <p:nvPr/>
        </p:nvSpPr>
        <p:spPr bwMode="auto">
          <a:xfrm>
            <a:off x="2063751" y="2060575"/>
            <a:ext cx="79930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285" name="Line 5">
            <a:extLst>
              <a:ext uri="{FF2B5EF4-FFF2-40B4-BE49-F238E27FC236}">
                <a16:creationId xmlns:a16="http://schemas.microsoft.com/office/drawing/2014/main" id="{FBA66BFD-11AC-49F7-A976-45CB03EEDB55}"/>
              </a:ext>
            </a:extLst>
          </p:cNvPr>
          <p:cNvSpPr>
            <a:spLocks noChangeShapeType="1"/>
          </p:cNvSpPr>
          <p:nvPr/>
        </p:nvSpPr>
        <p:spPr bwMode="auto">
          <a:xfrm>
            <a:off x="2063751" y="5734050"/>
            <a:ext cx="7993063"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286" name="Line 6">
            <a:extLst>
              <a:ext uri="{FF2B5EF4-FFF2-40B4-BE49-F238E27FC236}">
                <a16:creationId xmlns:a16="http://schemas.microsoft.com/office/drawing/2014/main" id="{449960BE-090D-4E19-AFEE-2613711CA606}"/>
              </a:ext>
            </a:extLst>
          </p:cNvPr>
          <p:cNvSpPr>
            <a:spLocks noChangeShapeType="1"/>
          </p:cNvSpPr>
          <p:nvPr/>
        </p:nvSpPr>
        <p:spPr bwMode="auto">
          <a:xfrm>
            <a:off x="4151313" y="1341439"/>
            <a:ext cx="0" cy="4319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287" name="Line 7">
            <a:extLst>
              <a:ext uri="{FF2B5EF4-FFF2-40B4-BE49-F238E27FC236}">
                <a16:creationId xmlns:a16="http://schemas.microsoft.com/office/drawing/2014/main" id="{728E0E3D-85D5-4B8F-BC0B-4E3B174BA27F}"/>
              </a:ext>
            </a:extLst>
          </p:cNvPr>
          <p:cNvSpPr>
            <a:spLocks noChangeShapeType="1"/>
          </p:cNvSpPr>
          <p:nvPr/>
        </p:nvSpPr>
        <p:spPr bwMode="auto">
          <a:xfrm>
            <a:off x="7175500" y="1341439"/>
            <a:ext cx="0" cy="43910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288" name="Text Box 8">
            <a:extLst>
              <a:ext uri="{FF2B5EF4-FFF2-40B4-BE49-F238E27FC236}">
                <a16:creationId xmlns:a16="http://schemas.microsoft.com/office/drawing/2014/main" id="{733F0A9B-F5F6-453B-9C8E-44EAC24AABE0}"/>
              </a:ext>
            </a:extLst>
          </p:cNvPr>
          <p:cNvSpPr txBox="1">
            <a:spLocks noChangeArrowheads="1"/>
          </p:cNvSpPr>
          <p:nvPr/>
        </p:nvSpPr>
        <p:spPr bwMode="auto">
          <a:xfrm>
            <a:off x="2351088" y="1557339"/>
            <a:ext cx="7416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b="0">
                <a:solidFill>
                  <a:srgbClr val="FF0000"/>
                </a:solidFill>
              </a:rPr>
              <a:t>区别点</a:t>
            </a:r>
            <a:r>
              <a:rPr lang="zh-CN" altLang="en-US" b="0">
                <a:solidFill>
                  <a:schemeClr val="tx1"/>
                </a:solidFill>
              </a:rPr>
              <a:t>                 </a:t>
            </a:r>
            <a:r>
              <a:rPr lang="en-US" altLang="zh-CN" b="0">
                <a:solidFill>
                  <a:srgbClr val="FF0000"/>
                </a:solidFill>
              </a:rPr>
              <a:t>α-</a:t>
            </a:r>
            <a:r>
              <a:rPr lang="zh-CN" altLang="en-US" b="0">
                <a:solidFill>
                  <a:srgbClr val="FF0000"/>
                </a:solidFill>
              </a:rPr>
              <a:t>螺旋                      </a:t>
            </a:r>
            <a:r>
              <a:rPr lang="zh-CN" altLang="en-US" b="0">
                <a:solidFill>
                  <a:srgbClr val="FF0000"/>
                </a:solidFill>
                <a:sym typeface="Symbol" panose="05050102010706020507" pitchFamily="18" charset="2"/>
              </a:rPr>
              <a:t></a:t>
            </a:r>
            <a:r>
              <a:rPr lang="en-US" altLang="zh-CN" b="0">
                <a:solidFill>
                  <a:srgbClr val="FF0000"/>
                </a:solidFill>
              </a:rPr>
              <a:t>-</a:t>
            </a:r>
            <a:r>
              <a:rPr lang="zh-CN" altLang="en-US" b="0">
                <a:solidFill>
                  <a:srgbClr val="FF0000"/>
                </a:solidFill>
              </a:rPr>
              <a:t>折叠</a:t>
            </a:r>
          </a:p>
        </p:txBody>
      </p:sp>
      <p:sp>
        <p:nvSpPr>
          <p:cNvPr id="225289" name="Text Box 9">
            <a:extLst>
              <a:ext uri="{FF2B5EF4-FFF2-40B4-BE49-F238E27FC236}">
                <a16:creationId xmlns:a16="http://schemas.microsoft.com/office/drawing/2014/main" id="{CA9D5647-7084-4AEB-A2EC-B05C5905B8E3}"/>
              </a:ext>
            </a:extLst>
          </p:cNvPr>
          <p:cNvSpPr txBox="1">
            <a:spLocks noChangeArrowheads="1"/>
          </p:cNvSpPr>
          <p:nvPr/>
        </p:nvSpPr>
        <p:spPr bwMode="auto">
          <a:xfrm>
            <a:off x="2208213" y="2276476"/>
            <a:ext cx="76327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b="0" dirty="0">
                <a:solidFill>
                  <a:srgbClr val="0000CC"/>
                </a:solidFill>
              </a:rPr>
              <a:t>形      状</a:t>
            </a:r>
            <a:r>
              <a:rPr lang="zh-CN" altLang="en-US" b="0" dirty="0">
                <a:solidFill>
                  <a:schemeClr val="tx1"/>
                </a:solidFill>
              </a:rPr>
              <a:t>                 螺旋状                     锯齿状</a:t>
            </a:r>
          </a:p>
        </p:txBody>
      </p:sp>
      <p:sp>
        <p:nvSpPr>
          <p:cNvPr id="223242" name="Text Box 10">
            <a:extLst>
              <a:ext uri="{FF2B5EF4-FFF2-40B4-BE49-F238E27FC236}">
                <a16:creationId xmlns:a16="http://schemas.microsoft.com/office/drawing/2014/main" id="{8C59BEC6-43C3-495E-A368-D298907F5926}"/>
              </a:ext>
            </a:extLst>
          </p:cNvPr>
          <p:cNvSpPr txBox="1">
            <a:spLocks noChangeArrowheads="1"/>
          </p:cNvSpPr>
          <p:nvPr/>
        </p:nvSpPr>
        <p:spPr bwMode="auto">
          <a:xfrm>
            <a:off x="2208214" y="2924176"/>
            <a:ext cx="8459787" cy="523875"/>
          </a:xfrm>
          <a:prstGeom prst="rect">
            <a:avLst/>
          </a:prstGeom>
          <a:noFill/>
          <a:ln>
            <a:noFill/>
          </a:ln>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defRPr/>
            </a:pPr>
            <a:r>
              <a:rPr lang="zh-CN" altLang="en-US" b="0" dirty="0">
                <a:solidFill>
                  <a:srgbClr val="0000CC"/>
                </a:solidFill>
              </a:rPr>
              <a:t>氢      键</a:t>
            </a:r>
            <a:r>
              <a:rPr lang="zh-CN" altLang="en-US" b="0" dirty="0">
                <a:solidFill>
                  <a:schemeClr val="tx1"/>
                </a:solidFill>
              </a:rPr>
              <a:t>        </a:t>
            </a:r>
            <a:r>
              <a:rPr lang="zh-CN" altLang="en-US" b="0" dirty="0">
                <a:solidFill>
                  <a:schemeClr val="accent4">
                    <a:lumMod val="50000"/>
                    <a:lumOff val="50000"/>
                  </a:schemeClr>
                </a:solidFill>
              </a:rPr>
              <a:t>链内</a:t>
            </a:r>
            <a:r>
              <a:rPr lang="zh-CN" altLang="en-US" b="0" dirty="0">
                <a:solidFill>
                  <a:schemeClr val="tx1"/>
                </a:solidFill>
              </a:rPr>
              <a:t>，与长轴平行   </a:t>
            </a:r>
            <a:r>
              <a:rPr lang="zh-CN" altLang="en-US" b="0" dirty="0">
                <a:solidFill>
                  <a:schemeClr val="accent4">
                    <a:lumMod val="50000"/>
                    <a:lumOff val="50000"/>
                  </a:schemeClr>
                </a:solidFill>
              </a:rPr>
              <a:t> 链间</a:t>
            </a:r>
            <a:r>
              <a:rPr lang="zh-CN" altLang="en-US" b="0" dirty="0">
                <a:solidFill>
                  <a:schemeClr val="tx1"/>
                </a:solidFill>
              </a:rPr>
              <a:t>，与长轴垂直</a:t>
            </a:r>
          </a:p>
        </p:txBody>
      </p:sp>
      <p:sp>
        <p:nvSpPr>
          <p:cNvPr id="225291" name="Text Box 11">
            <a:extLst>
              <a:ext uri="{FF2B5EF4-FFF2-40B4-BE49-F238E27FC236}">
                <a16:creationId xmlns:a16="http://schemas.microsoft.com/office/drawing/2014/main" id="{7AC0DEDB-3083-4FBA-94C0-48737F83BE0E}"/>
              </a:ext>
            </a:extLst>
          </p:cNvPr>
          <p:cNvSpPr txBox="1">
            <a:spLocks noChangeArrowheads="1"/>
          </p:cNvSpPr>
          <p:nvPr/>
        </p:nvSpPr>
        <p:spPr bwMode="auto">
          <a:xfrm>
            <a:off x="2208213" y="3644901"/>
            <a:ext cx="72009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en-US" altLang="zh-CN" b="0" dirty="0">
                <a:solidFill>
                  <a:srgbClr val="0000CC"/>
                </a:solidFill>
              </a:rPr>
              <a:t>R</a:t>
            </a:r>
            <a:r>
              <a:rPr lang="zh-CN" altLang="en-US" b="0" dirty="0">
                <a:solidFill>
                  <a:srgbClr val="0000CC"/>
                </a:solidFill>
              </a:rPr>
              <a:t>－基团</a:t>
            </a:r>
            <a:r>
              <a:rPr lang="zh-CN" altLang="en-US" b="0" dirty="0">
                <a:solidFill>
                  <a:schemeClr val="tx1"/>
                </a:solidFill>
              </a:rPr>
              <a:t>                较大                            较小</a:t>
            </a:r>
          </a:p>
        </p:txBody>
      </p:sp>
      <p:sp>
        <p:nvSpPr>
          <p:cNvPr id="225292" name="Text Box 12">
            <a:extLst>
              <a:ext uri="{FF2B5EF4-FFF2-40B4-BE49-F238E27FC236}">
                <a16:creationId xmlns:a16="http://schemas.microsoft.com/office/drawing/2014/main" id="{B0113E75-C341-43DA-BDB9-D05ED4A70876}"/>
              </a:ext>
            </a:extLst>
          </p:cNvPr>
          <p:cNvSpPr txBox="1">
            <a:spLocks noChangeArrowheads="1"/>
          </p:cNvSpPr>
          <p:nvPr/>
        </p:nvSpPr>
        <p:spPr bwMode="auto">
          <a:xfrm>
            <a:off x="2208214" y="4292601"/>
            <a:ext cx="75596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b="0" dirty="0">
                <a:solidFill>
                  <a:srgbClr val="0000CC"/>
                </a:solidFill>
              </a:rPr>
              <a:t>延伸性</a:t>
            </a:r>
            <a:r>
              <a:rPr lang="zh-CN" altLang="en-US" b="0" dirty="0">
                <a:solidFill>
                  <a:schemeClr val="tx1"/>
                </a:solidFill>
              </a:rPr>
              <a:t>                   较大                            较小</a:t>
            </a:r>
          </a:p>
        </p:txBody>
      </p:sp>
      <p:sp>
        <p:nvSpPr>
          <p:cNvPr id="225293" name="Text Box 13">
            <a:extLst>
              <a:ext uri="{FF2B5EF4-FFF2-40B4-BE49-F238E27FC236}">
                <a16:creationId xmlns:a16="http://schemas.microsoft.com/office/drawing/2014/main" id="{FEB16D97-C3C6-4AEF-B757-F7B60F4878C6}"/>
              </a:ext>
            </a:extLst>
          </p:cNvPr>
          <p:cNvSpPr txBox="1">
            <a:spLocks noChangeArrowheads="1"/>
          </p:cNvSpPr>
          <p:nvPr/>
        </p:nvSpPr>
        <p:spPr bwMode="auto">
          <a:xfrm>
            <a:off x="2208213" y="5013326"/>
            <a:ext cx="76327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b="0">
                <a:solidFill>
                  <a:srgbClr val="0000CC"/>
                </a:solidFill>
              </a:rPr>
              <a:t>举   例</a:t>
            </a:r>
            <a:r>
              <a:rPr lang="zh-CN" altLang="en-US" b="0">
                <a:solidFill>
                  <a:schemeClr val="tx1"/>
                </a:solidFill>
              </a:rPr>
              <a:t>                  毛发角蛋白               蚕丝蛋白</a:t>
            </a:r>
          </a:p>
        </p:txBody>
      </p:sp>
    </p:spTree>
  </p:cSld>
  <p:clrMapOvr>
    <a:masterClrMapping/>
  </p:clrMapOvr>
  <p:transition spd="slow">
    <p:circl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6">
            <a:extLst>
              <a:ext uri="{FF2B5EF4-FFF2-40B4-BE49-F238E27FC236}">
                <a16:creationId xmlns:a16="http://schemas.microsoft.com/office/drawing/2014/main" id="{7DF532F0-706A-4093-AE5E-6069048B94ED}"/>
              </a:ext>
            </a:extLst>
          </p:cNvPr>
          <p:cNvSpPr>
            <a:spLocks noChangeArrowheads="1"/>
          </p:cNvSpPr>
          <p:nvPr/>
        </p:nvSpPr>
        <p:spPr bwMode="auto">
          <a:xfrm>
            <a:off x="767408" y="946845"/>
            <a:ext cx="10657184" cy="1456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marL="468000" indent="-396000" eaLnBrk="1" hangingPunct="1">
              <a:lnSpc>
                <a:spcPct val="110000"/>
              </a:lnSpc>
              <a:buSzPct val="110000"/>
            </a:pPr>
            <a:r>
              <a:rPr lang="zh-CN" altLang="en-US" sz="2600" b="0" dirty="0">
                <a:solidFill>
                  <a:srgbClr val="204182"/>
                </a:solidFill>
              </a:rPr>
              <a:t> </a:t>
            </a:r>
            <a:r>
              <a:rPr kumimoji="1" lang="zh-CN" altLang="en-US" sz="2600" b="0" dirty="0">
                <a:solidFill>
                  <a:schemeClr val="tx1"/>
                </a:solidFill>
              </a:rPr>
              <a:t>多肽链</a:t>
            </a:r>
            <a:r>
              <a:rPr kumimoji="1" lang="en-US" altLang="zh-CN" sz="2600" b="0" dirty="0">
                <a:solidFill>
                  <a:srgbClr val="C00000"/>
                </a:solidFill>
              </a:rPr>
              <a:t>180°</a:t>
            </a:r>
            <a:r>
              <a:rPr kumimoji="1" lang="zh-CN" altLang="en-US" sz="2600" b="0" dirty="0">
                <a:solidFill>
                  <a:srgbClr val="C00000"/>
                </a:solidFill>
              </a:rPr>
              <a:t>回折</a:t>
            </a:r>
            <a:r>
              <a:rPr kumimoji="1" lang="zh-CN" altLang="en-US" sz="2600" b="0" dirty="0">
                <a:solidFill>
                  <a:schemeClr val="tx1"/>
                </a:solidFill>
              </a:rPr>
              <a:t>部分所形成的一种二级结构。 </a:t>
            </a:r>
            <a:r>
              <a:rPr kumimoji="1" lang="en-US" altLang="zh-CN" sz="2600" b="0" dirty="0">
                <a:solidFill>
                  <a:schemeClr val="tx1"/>
                </a:solidFill>
              </a:rPr>
              <a:t> </a:t>
            </a:r>
            <a:r>
              <a:rPr kumimoji="1" lang="zh-CN" altLang="en-US" sz="2600" b="0" dirty="0">
                <a:solidFill>
                  <a:schemeClr val="tx1"/>
                </a:solidFill>
              </a:rPr>
              <a:t>通常涉及</a:t>
            </a:r>
            <a:r>
              <a:rPr kumimoji="1" lang="zh-CN" altLang="en-US" sz="2600" b="0" dirty="0">
                <a:solidFill>
                  <a:srgbClr val="C00000"/>
                </a:solidFill>
              </a:rPr>
              <a:t>四个氨基酸残基</a:t>
            </a:r>
            <a:r>
              <a:rPr kumimoji="1" lang="zh-CN" altLang="en-US" sz="2600" b="0" dirty="0">
                <a:solidFill>
                  <a:schemeClr val="tx1"/>
                </a:solidFill>
              </a:rPr>
              <a:t>，第一个氨基酸残基和第四个之间生成氢键。 </a:t>
            </a:r>
            <a:endParaRPr kumimoji="1" lang="en-US" altLang="zh-CN" sz="2600" b="0" dirty="0">
              <a:solidFill>
                <a:schemeClr val="tx1"/>
              </a:solidFill>
            </a:endParaRPr>
          </a:p>
          <a:p>
            <a:pPr marL="468000" indent="-396000" eaLnBrk="1" hangingPunct="1">
              <a:lnSpc>
                <a:spcPct val="110000"/>
              </a:lnSpc>
              <a:buSzPct val="110000"/>
            </a:pPr>
            <a:r>
              <a:rPr kumimoji="1" lang="zh-CN" altLang="en-US" sz="2600" b="0" dirty="0">
                <a:solidFill>
                  <a:schemeClr val="tx1"/>
                </a:solidFill>
              </a:rPr>
              <a:t>多见于球状蛋白的表面，</a:t>
            </a:r>
            <a:r>
              <a:rPr kumimoji="1" lang="en-US" altLang="zh-CN" sz="2600" b="0" dirty="0">
                <a:solidFill>
                  <a:schemeClr val="tx1"/>
                </a:solidFill>
              </a:rPr>
              <a:t>I</a:t>
            </a:r>
            <a:r>
              <a:rPr kumimoji="1" lang="zh-CN" altLang="en-US" sz="2600" b="0" dirty="0">
                <a:solidFill>
                  <a:schemeClr val="tx1"/>
                </a:solidFill>
              </a:rPr>
              <a:t>型更多见。</a:t>
            </a:r>
            <a:endParaRPr kumimoji="1" lang="en-US" altLang="zh-CN" sz="2600" b="0" dirty="0">
              <a:solidFill>
                <a:schemeClr val="tx1"/>
              </a:solidFill>
            </a:endParaRPr>
          </a:p>
        </p:txBody>
      </p:sp>
      <p:sp>
        <p:nvSpPr>
          <p:cNvPr id="5" name="标题 1">
            <a:extLst>
              <a:ext uri="{FF2B5EF4-FFF2-40B4-BE49-F238E27FC236}">
                <a16:creationId xmlns:a16="http://schemas.microsoft.com/office/drawing/2014/main" id="{7BA37642-E0E4-42E7-AB36-BFDE7C5C190E}"/>
              </a:ext>
            </a:extLst>
          </p:cNvPr>
          <p:cNvSpPr txBox="1">
            <a:spLocks/>
          </p:cNvSpPr>
          <p:nvPr/>
        </p:nvSpPr>
        <p:spPr>
          <a:xfrm>
            <a:off x="1974850" y="153988"/>
            <a:ext cx="5545138" cy="563562"/>
          </a:xfrm>
          <a:prstGeom prst="rect">
            <a:avLst/>
          </a:prstGeom>
        </p:spPr>
        <p:txBody>
          <a:bodyPr/>
          <a:lstStyle>
            <a:lvl1pPr algn="l" rtl="0" eaLnBrk="0" fontAlgn="base" hangingPunct="0">
              <a:spcBef>
                <a:spcPct val="0"/>
              </a:spcBef>
              <a:spcAft>
                <a:spcPct val="0"/>
              </a:spcAft>
              <a:defRPr sz="3600" b="1">
                <a:solidFill>
                  <a:schemeClr val="bg1"/>
                </a:solidFill>
                <a:latin typeface="+mj-lt"/>
                <a:ea typeface="+mj-ea"/>
                <a:cs typeface="+mj-cs"/>
              </a:defRPr>
            </a:lvl1pPr>
            <a:lvl2pPr algn="l" rtl="0" eaLnBrk="0" fontAlgn="base" hangingPunct="0">
              <a:spcBef>
                <a:spcPct val="0"/>
              </a:spcBef>
              <a:spcAft>
                <a:spcPct val="0"/>
              </a:spcAft>
              <a:defRPr sz="3600" b="1">
                <a:solidFill>
                  <a:schemeClr val="bg1"/>
                </a:solidFill>
                <a:latin typeface="黑体" pitchFamily="49" charset="-122"/>
                <a:ea typeface="黑体" pitchFamily="49" charset="-122"/>
              </a:defRPr>
            </a:lvl2pPr>
            <a:lvl3pPr algn="l" rtl="0" eaLnBrk="0" fontAlgn="base" hangingPunct="0">
              <a:spcBef>
                <a:spcPct val="0"/>
              </a:spcBef>
              <a:spcAft>
                <a:spcPct val="0"/>
              </a:spcAft>
              <a:defRPr sz="3600" b="1">
                <a:solidFill>
                  <a:schemeClr val="bg1"/>
                </a:solidFill>
                <a:latin typeface="黑体" pitchFamily="49" charset="-122"/>
                <a:ea typeface="黑体" pitchFamily="49" charset="-122"/>
              </a:defRPr>
            </a:lvl3pPr>
            <a:lvl4pPr algn="l" rtl="0" eaLnBrk="0" fontAlgn="base" hangingPunct="0">
              <a:spcBef>
                <a:spcPct val="0"/>
              </a:spcBef>
              <a:spcAft>
                <a:spcPct val="0"/>
              </a:spcAft>
              <a:defRPr sz="3600" b="1">
                <a:solidFill>
                  <a:schemeClr val="bg1"/>
                </a:solidFill>
                <a:latin typeface="黑体" pitchFamily="49" charset="-122"/>
                <a:ea typeface="黑体" pitchFamily="49" charset="-122"/>
              </a:defRPr>
            </a:lvl4pPr>
            <a:lvl5pPr algn="l" rtl="0" eaLnBrk="0" fontAlgn="base" hangingPunct="0">
              <a:spcBef>
                <a:spcPct val="0"/>
              </a:spcBef>
              <a:spcAft>
                <a:spcPct val="0"/>
              </a:spcAft>
              <a:defRPr sz="3600" b="1">
                <a:solidFill>
                  <a:schemeClr val="bg1"/>
                </a:solidFill>
                <a:latin typeface="黑体" pitchFamily="49" charset="-122"/>
                <a:ea typeface="黑体" pitchFamily="49" charset="-122"/>
              </a:defRPr>
            </a:lvl5pPr>
            <a:lvl6pPr marL="457200" algn="l" rtl="0" fontAlgn="base">
              <a:spcBef>
                <a:spcPct val="0"/>
              </a:spcBef>
              <a:spcAft>
                <a:spcPct val="0"/>
              </a:spcAft>
              <a:defRPr sz="3600" b="1">
                <a:solidFill>
                  <a:schemeClr val="bg1"/>
                </a:solidFill>
                <a:latin typeface="黑体" pitchFamily="49" charset="-122"/>
                <a:ea typeface="黑体" pitchFamily="49" charset="-122"/>
              </a:defRPr>
            </a:lvl6pPr>
            <a:lvl7pPr marL="914400" algn="l" rtl="0" fontAlgn="base">
              <a:spcBef>
                <a:spcPct val="0"/>
              </a:spcBef>
              <a:spcAft>
                <a:spcPct val="0"/>
              </a:spcAft>
              <a:defRPr sz="3600" b="1">
                <a:solidFill>
                  <a:schemeClr val="bg1"/>
                </a:solidFill>
                <a:latin typeface="黑体" pitchFamily="49" charset="-122"/>
                <a:ea typeface="黑体" pitchFamily="49" charset="-122"/>
              </a:defRPr>
            </a:lvl7pPr>
            <a:lvl8pPr marL="1371600" algn="l" rtl="0" fontAlgn="base">
              <a:spcBef>
                <a:spcPct val="0"/>
              </a:spcBef>
              <a:spcAft>
                <a:spcPct val="0"/>
              </a:spcAft>
              <a:defRPr sz="3600" b="1">
                <a:solidFill>
                  <a:schemeClr val="bg1"/>
                </a:solidFill>
                <a:latin typeface="黑体" pitchFamily="49" charset="-122"/>
                <a:ea typeface="黑体" pitchFamily="49" charset="-122"/>
              </a:defRPr>
            </a:lvl8pPr>
            <a:lvl9pPr marL="1828800" algn="l" rtl="0" fontAlgn="base">
              <a:spcBef>
                <a:spcPct val="0"/>
              </a:spcBef>
              <a:spcAft>
                <a:spcPct val="0"/>
              </a:spcAft>
              <a:defRPr sz="3600" b="1">
                <a:solidFill>
                  <a:schemeClr val="bg1"/>
                </a:solidFill>
                <a:latin typeface="黑体" pitchFamily="49" charset="-122"/>
                <a:ea typeface="黑体" pitchFamily="49" charset="-122"/>
              </a:defRPr>
            </a:lvl9pPr>
          </a:lstStyle>
          <a:p>
            <a:pPr>
              <a:defRPr/>
            </a:pPr>
            <a:r>
              <a:rPr lang="zh-CN" altLang="en-US" kern="0" dirty="0"/>
              <a:t>（四）</a:t>
            </a:r>
            <a:r>
              <a:rPr lang="en-US" altLang="zh-CN" kern="0" dirty="0"/>
              <a:t>β</a:t>
            </a:r>
            <a:r>
              <a:rPr lang="zh-CN" altLang="en-US" kern="0" dirty="0"/>
              <a:t>转角（</a:t>
            </a:r>
            <a:r>
              <a:rPr lang="en-US" altLang="zh-CN" kern="0" dirty="0"/>
              <a:t>β-turn)</a:t>
            </a:r>
            <a:endParaRPr lang="zh-CN" altLang="en-US" kern="0" dirty="0"/>
          </a:p>
        </p:txBody>
      </p:sp>
      <p:pic>
        <p:nvPicPr>
          <p:cNvPr id="231427" name="图片 2">
            <a:extLst>
              <a:ext uri="{FF2B5EF4-FFF2-40B4-BE49-F238E27FC236}">
                <a16:creationId xmlns:a16="http://schemas.microsoft.com/office/drawing/2014/main" id="{2D5EED1A-29D3-454E-AFBD-47716AB2FF2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31504" y="2622542"/>
            <a:ext cx="3881397" cy="408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1428" name="图片 3">
            <a:extLst>
              <a:ext uri="{FF2B5EF4-FFF2-40B4-BE49-F238E27FC236}">
                <a16:creationId xmlns:a16="http://schemas.microsoft.com/office/drawing/2014/main" id="{370A700F-233A-4B07-B764-71575E78126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528048" y="2632950"/>
            <a:ext cx="3815681" cy="4071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标题 1">
            <a:extLst>
              <a:ext uri="{FF2B5EF4-FFF2-40B4-BE49-F238E27FC236}">
                <a16:creationId xmlns:a16="http://schemas.microsoft.com/office/drawing/2014/main" id="{77DBA002-0DC6-42C0-908B-CD5D230B0500}"/>
              </a:ext>
            </a:extLst>
          </p:cNvPr>
          <p:cNvSpPr>
            <a:spLocks noGrp="1" noChangeArrowheads="1"/>
          </p:cNvSpPr>
          <p:nvPr>
            <p:ph type="title"/>
          </p:nvPr>
        </p:nvSpPr>
        <p:spPr>
          <a:xfrm>
            <a:off x="2063750" y="188913"/>
            <a:ext cx="6192838" cy="563562"/>
          </a:xfrm>
        </p:spPr>
        <p:txBody>
          <a:bodyPr/>
          <a:lstStyle/>
          <a:p>
            <a:pPr algn="ctr"/>
            <a:r>
              <a:rPr lang="zh-CN" altLang="en-US" sz="4000"/>
              <a:t>（五） </a:t>
            </a:r>
            <a:r>
              <a:rPr lang="en-US" altLang="zh-CN" sz="4000"/>
              <a:t>Ω</a:t>
            </a:r>
            <a:r>
              <a:rPr lang="zh-CN" altLang="en-US" sz="4000"/>
              <a:t>环　</a:t>
            </a:r>
          </a:p>
        </p:txBody>
      </p:sp>
      <p:sp>
        <p:nvSpPr>
          <p:cNvPr id="3" name="内容占位符 2">
            <a:extLst>
              <a:ext uri="{FF2B5EF4-FFF2-40B4-BE49-F238E27FC236}">
                <a16:creationId xmlns:a16="http://schemas.microsoft.com/office/drawing/2014/main" id="{6996AC91-6725-45A9-B563-1FD254E4980B}"/>
              </a:ext>
            </a:extLst>
          </p:cNvPr>
          <p:cNvSpPr>
            <a:spLocks noGrp="1"/>
          </p:cNvSpPr>
          <p:nvPr>
            <p:ph idx="1"/>
          </p:nvPr>
        </p:nvSpPr>
        <p:spPr>
          <a:xfrm>
            <a:off x="1559496" y="1484784"/>
            <a:ext cx="6624638" cy="4608513"/>
          </a:xfrm>
        </p:spPr>
        <p:txBody>
          <a:bodyPr/>
          <a:lstStyle/>
          <a:p>
            <a:pPr>
              <a:lnSpc>
                <a:spcPct val="130000"/>
              </a:lnSpc>
              <a:defRPr/>
            </a:pPr>
            <a:r>
              <a:rPr lang="zh-CN" altLang="en-US" sz="3200" dirty="0">
                <a:solidFill>
                  <a:srgbClr val="006600"/>
                </a:solidFill>
                <a:latin typeface="+mn-ea"/>
              </a:rPr>
              <a:t>特征：</a:t>
            </a:r>
            <a:endParaRPr lang="en-US" altLang="zh-CN" sz="3200" dirty="0">
              <a:solidFill>
                <a:srgbClr val="006600"/>
              </a:solidFill>
              <a:latin typeface="+mn-ea"/>
            </a:endParaRPr>
          </a:p>
          <a:p>
            <a:pPr lvl="1">
              <a:lnSpc>
                <a:spcPct val="130000"/>
              </a:lnSpc>
              <a:defRPr/>
            </a:pPr>
            <a:r>
              <a:rPr lang="zh-CN" altLang="en-US" dirty="0">
                <a:latin typeface="+mn-ea"/>
              </a:rPr>
              <a:t>形状似希腊字母</a:t>
            </a:r>
            <a:r>
              <a:rPr lang="en-US" altLang="zh-CN" dirty="0">
                <a:latin typeface="+mn-ea"/>
              </a:rPr>
              <a:t>Ω</a:t>
            </a:r>
            <a:r>
              <a:rPr lang="zh-CN" altLang="en-US" dirty="0">
                <a:latin typeface="+mn-ea"/>
              </a:rPr>
              <a:t>，故名；</a:t>
            </a:r>
            <a:endParaRPr lang="en-US" altLang="zh-CN" dirty="0">
              <a:latin typeface="+mn-ea"/>
            </a:endParaRPr>
          </a:p>
          <a:p>
            <a:pPr lvl="1">
              <a:lnSpc>
                <a:spcPct val="130000"/>
              </a:lnSpc>
              <a:defRPr/>
            </a:pPr>
            <a:r>
              <a:rPr lang="zh-CN" altLang="en-US" dirty="0">
                <a:latin typeface="+mn-ea"/>
              </a:rPr>
              <a:t>通常位于球状蛋白质分子的表面； </a:t>
            </a:r>
            <a:endParaRPr lang="en-US" altLang="zh-CN" dirty="0">
              <a:latin typeface="+mn-ea"/>
            </a:endParaRPr>
          </a:p>
          <a:p>
            <a:pPr lvl="1">
              <a:lnSpc>
                <a:spcPct val="130000"/>
              </a:lnSpc>
              <a:defRPr/>
            </a:pPr>
            <a:r>
              <a:rPr lang="zh-CN" altLang="en-US" dirty="0">
                <a:latin typeface="+mn-ea"/>
              </a:rPr>
              <a:t>以亲水残基为主；　</a:t>
            </a:r>
            <a:endParaRPr lang="en-US" altLang="zh-CN" dirty="0">
              <a:latin typeface="+mn-ea"/>
            </a:endParaRPr>
          </a:p>
          <a:p>
            <a:pPr lvl="1">
              <a:lnSpc>
                <a:spcPct val="130000"/>
              </a:lnSpc>
              <a:defRPr/>
            </a:pPr>
            <a:r>
              <a:rPr lang="en-US" altLang="zh-CN" dirty="0">
                <a:latin typeface="+mn-ea"/>
              </a:rPr>
              <a:t>Ω</a:t>
            </a:r>
            <a:r>
              <a:rPr lang="zh-CN" altLang="en-US" dirty="0">
                <a:latin typeface="+mn-ea"/>
              </a:rPr>
              <a:t>环改变了肽链的走向；　</a:t>
            </a:r>
            <a:endParaRPr lang="en-US" altLang="zh-CN" dirty="0">
              <a:latin typeface="+mn-ea"/>
            </a:endParaRPr>
          </a:p>
          <a:p>
            <a:pPr lvl="1">
              <a:lnSpc>
                <a:spcPct val="130000"/>
              </a:lnSpc>
              <a:defRPr/>
            </a:pPr>
            <a:r>
              <a:rPr lang="zh-CN" altLang="en-US" dirty="0">
                <a:latin typeface="+mn-ea"/>
              </a:rPr>
              <a:t>可变性比转角更大。　</a:t>
            </a:r>
          </a:p>
        </p:txBody>
      </p:sp>
      <p:pic>
        <p:nvPicPr>
          <p:cNvPr id="233476" name="图片 1">
            <a:extLst>
              <a:ext uri="{FF2B5EF4-FFF2-40B4-BE49-F238E27FC236}">
                <a16:creationId xmlns:a16="http://schemas.microsoft.com/office/drawing/2014/main" id="{21F78C74-62C7-45E5-B9D9-D5CA9030B1DD}"/>
              </a:ext>
            </a:extLst>
          </p:cNvPr>
          <p:cNvPicPr>
            <a:picLocks noChangeAspect="1"/>
          </p:cNvPicPr>
          <p:nvPr/>
        </p:nvPicPr>
        <p:blipFill>
          <a:blip r:embed="rId3">
            <a:extLst>
              <a:ext uri="{28A0092B-C50C-407E-A947-70E740481C1C}">
                <a14:useLocalDpi xmlns:a14="http://schemas.microsoft.com/office/drawing/2010/main" val="0"/>
              </a:ext>
            </a:extLst>
          </a:blip>
          <a:srcRect l="9450" r="7863"/>
          <a:stretch>
            <a:fillRect/>
          </a:stretch>
        </p:blipFill>
        <p:spPr bwMode="auto">
          <a:xfrm>
            <a:off x="7967662" y="1628775"/>
            <a:ext cx="2909307" cy="3517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3477" name="文本框 3">
            <a:extLst>
              <a:ext uri="{FF2B5EF4-FFF2-40B4-BE49-F238E27FC236}">
                <a16:creationId xmlns:a16="http://schemas.microsoft.com/office/drawing/2014/main" id="{20EE8227-B83D-4CCE-9C77-8EF3E1121E33}"/>
              </a:ext>
            </a:extLst>
          </p:cNvPr>
          <p:cNvSpPr txBox="1">
            <a:spLocks noChangeArrowheads="1"/>
          </p:cNvSpPr>
          <p:nvPr/>
        </p:nvSpPr>
        <p:spPr bwMode="auto">
          <a:xfrm>
            <a:off x="8313167" y="5634003"/>
            <a:ext cx="23193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sz="1800" b="0" dirty="0">
                <a:solidFill>
                  <a:schemeClr val="tx1"/>
                </a:solidFill>
                <a:latin typeface="微软雅黑" panose="020B0503020204020204" pitchFamily="34" charset="-122"/>
                <a:ea typeface="微软雅黑" panose="020B0503020204020204" pitchFamily="34" charset="-122"/>
              </a:rPr>
              <a:t>猪胰蛋白酶中的</a:t>
            </a:r>
            <a:r>
              <a:rPr lang="el-GR" altLang="zh-CN" sz="1800" b="0" dirty="0">
                <a:solidFill>
                  <a:schemeClr val="tx1"/>
                </a:solidFill>
                <a:latin typeface="微软雅黑" panose="020B0503020204020204" pitchFamily="34" charset="-122"/>
                <a:ea typeface="微软雅黑" panose="020B0503020204020204" pitchFamily="34" charset="-122"/>
              </a:rPr>
              <a:t>Ω</a:t>
            </a:r>
            <a:r>
              <a:rPr lang="zh-CN" altLang="en-US" sz="1800" b="0" dirty="0">
                <a:solidFill>
                  <a:schemeClr val="tx1"/>
                </a:solidFill>
                <a:latin typeface="微软雅黑" panose="020B0503020204020204" pitchFamily="34" charset="-122"/>
                <a:ea typeface="微软雅黑" panose="020B0503020204020204" pitchFamily="34" charset="-122"/>
              </a:rPr>
              <a:t>环</a:t>
            </a:r>
          </a:p>
        </p:txBody>
      </p:sp>
    </p:spTree>
  </p:cSld>
  <p:clrMapOvr>
    <a:masterClrMapping/>
  </p:clrMapOvr>
  <p:transition spd="slow">
    <p:circl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标题 2">
            <a:extLst>
              <a:ext uri="{FF2B5EF4-FFF2-40B4-BE49-F238E27FC236}">
                <a16:creationId xmlns:a16="http://schemas.microsoft.com/office/drawing/2014/main" id="{87EC3E5B-C801-4C61-8B45-1A750D11C440}"/>
              </a:ext>
            </a:extLst>
          </p:cNvPr>
          <p:cNvSpPr>
            <a:spLocks noGrp="1" noChangeArrowheads="1"/>
          </p:cNvSpPr>
          <p:nvPr>
            <p:ph type="title"/>
          </p:nvPr>
        </p:nvSpPr>
        <p:spPr>
          <a:xfrm>
            <a:off x="1271588" y="117476"/>
            <a:ext cx="8496301" cy="752475"/>
          </a:xfrm>
        </p:spPr>
        <p:txBody>
          <a:bodyPr/>
          <a:lstStyle/>
          <a:p>
            <a:r>
              <a:rPr lang="zh-CN" altLang="en-US" sz="3200"/>
              <a:t>（六）氨基酸残基侧链影响二级结构的形成</a:t>
            </a:r>
          </a:p>
        </p:txBody>
      </p:sp>
      <p:sp>
        <p:nvSpPr>
          <p:cNvPr id="184323" name="Rectangle 2">
            <a:extLst>
              <a:ext uri="{FF2B5EF4-FFF2-40B4-BE49-F238E27FC236}">
                <a16:creationId xmlns:a16="http://schemas.microsoft.com/office/drawing/2014/main" id="{FBB53CD6-8A4B-4394-B347-808875F7C43E}"/>
              </a:ext>
            </a:extLst>
          </p:cNvPr>
          <p:cNvSpPr>
            <a:spLocks noChangeArrowheads="1"/>
          </p:cNvSpPr>
          <p:nvPr/>
        </p:nvSpPr>
        <p:spPr bwMode="auto">
          <a:xfrm>
            <a:off x="767408" y="1927226"/>
            <a:ext cx="10081120" cy="431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lvl="1" algn="just" eaLnBrk="1" hangingPunct="1">
              <a:lnSpc>
                <a:spcPct val="110000"/>
              </a:lnSpc>
              <a:buSzPct val="110000"/>
            </a:pPr>
            <a:r>
              <a:rPr kumimoji="1" lang="zh-CN" altLang="en-US" dirty="0">
                <a:solidFill>
                  <a:schemeClr val="tx1"/>
                </a:solidFill>
              </a:rPr>
              <a:t>多肽链中</a:t>
            </a:r>
            <a:r>
              <a:rPr kumimoji="1" lang="zh-CN" altLang="en-US" b="1" dirty="0">
                <a:solidFill>
                  <a:schemeClr val="tx1"/>
                </a:solidFill>
              </a:rPr>
              <a:t>连续</a:t>
            </a:r>
            <a:r>
              <a:rPr kumimoji="1" lang="zh-CN" altLang="en-US" dirty="0">
                <a:solidFill>
                  <a:schemeClr val="tx1"/>
                </a:solidFill>
              </a:rPr>
              <a:t>出现带</a:t>
            </a:r>
            <a:r>
              <a:rPr kumimoji="1" lang="zh-CN" altLang="en-US" b="1" dirty="0">
                <a:solidFill>
                  <a:schemeClr val="tx1"/>
                </a:solidFill>
              </a:rPr>
              <a:t>同种电荷</a:t>
            </a:r>
            <a:r>
              <a:rPr kumimoji="1" lang="zh-CN" altLang="en-US" dirty="0">
                <a:solidFill>
                  <a:schemeClr val="tx1"/>
                </a:solidFill>
              </a:rPr>
              <a:t>的极性氨基酸，不利于形成</a:t>
            </a:r>
            <a:r>
              <a:rPr kumimoji="1" lang="en-US" altLang="zh-CN" dirty="0">
                <a:solidFill>
                  <a:schemeClr val="tx1"/>
                </a:solidFill>
              </a:rPr>
              <a:t>α-</a:t>
            </a:r>
            <a:r>
              <a:rPr kumimoji="1" lang="zh-CN" altLang="en-US" dirty="0">
                <a:solidFill>
                  <a:schemeClr val="tx1"/>
                </a:solidFill>
              </a:rPr>
              <a:t>螺旋；</a:t>
            </a:r>
          </a:p>
          <a:p>
            <a:pPr lvl="1" algn="just" eaLnBrk="1" hangingPunct="1">
              <a:lnSpc>
                <a:spcPct val="110000"/>
              </a:lnSpc>
              <a:buSzPct val="110000"/>
            </a:pPr>
            <a:r>
              <a:rPr kumimoji="1" lang="zh-CN" altLang="en-US" dirty="0">
                <a:solidFill>
                  <a:schemeClr val="tx1"/>
                </a:solidFill>
              </a:rPr>
              <a:t>肽链中连续出现较大侧链的氨基酸如</a:t>
            </a:r>
            <a:r>
              <a:rPr kumimoji="1" lang="en-US" altLang="zh-CN" dirty="0">
                <a:solidFill>
                  <a:schemeClr val="tx1"/>
                </a:solidFill>
              </a:rPr>
              <a:t>Ile</a:t>
            </a:r>
            <a:r>
              <a:rPr kumimoji="1" lang="zh-CN" altLang="en-US" dirty="0">
                <a:solidFill>
                  <a:schemeClr val="tx1"/>
                </a:solidFill>
              </a:rPr>
              <a:t>、</a:t>
            </a:r>
            <a:r>
              <a:rPr kumimoji="1" lang="en-US" altLang="zh-CN" dirty="0" err="1">
                <a:solidFill>
                  <a:schemeClr val="tx1"/>
                </a:solidFill>
              </a:rPr>
              <a:t>Trp</a:t>
            </a:r>
            <a:r>
              <a:rPr kumimoji="1" lang="zh-CN" altLang="en-US" dirty="0">
                <a:solidFill>
                  <a:schemeClr val="tx1"/>
                </a:solidFill>
              </a:rPr>
              <a:t>，由于</a:t>
            </a:r>
            <a:r>
              <a:rPr kumimoji="1" lang="zh-CN" altLang="en-US" b="1" dirty="0">
                <a:solidFill>
                  <a:schemeClr val="tx1"/>
                </a:solidFill>
              </a:rPr>
              <a:t>空间位阻</a:t>
            </a:r>
            <a:r>
              <a:rPr kumimoji="1" lang="zh-CN" altLang="en-US" dirty="0">
                <a:solidFill>
                  <a:schemeClr val="tx1"/>
                </a:solidFill>
              </a:rPr>
              <a:t>，也难以形成</a:t>
            </a:r>
            <a:r>
              <a:rPr kumimoji="1" lang="en-US" altLang="zh-CN" dirty="0">
                <a:solidFill>
                  <a:schemeClr val="tx1"/>
                </a:solidFill>
              </a:rPr>
              <a:t>α-</a:t>
            </a:r>
            <a:r>
              <a:rPr kumimoji="1" lang="zh-CN" altLang="en-US" dirty="0">
                <a:solidFill>
                  <a:schemeClr val="tx1"/>
                </a:solidFill>
              </a:rPr>
              <a:t>螺旋； </a:t>
            </a:r>
            <a:endParaRPr kumimoji="1" lang="en-US" altLang="zh-CN" dirty="0">
              <a:solidFill>
                <a:schemeClr val="tx1"/>
              </a:solidFill>
            </a:endParaRPr>
          </a:p>
          <a:p>
            <a:pPr lvl="1" algn="just" eaLnBrk="1" hangingPunct="1">
              <a:lnSpc>
                <a:spcPct val="110000"/>
              </a:lnSpc>
              <a:buSzPct val="110000"/>
            </a:pPr>
            <a:r>
              <a:rPr kumimoji="1" lang="zh-CN" altLang="en-US" dirty="0">
                <a:solidFill>
                  <a:schemeClr val="tx1"/>
                </a:solidFill>
              </a:rPr>
              <a:t>只要出现</a:t>
            </a:r>
            <a:r>
              <a:rPr kumimoji="1" lang="en-US" altLang="zh-CN" dirty="0">
                <a:solidFill>
                  <a:srgbClr val="C00000"/>
                </a:solidFill>
              </a:rPr>
              <a:t>Pro</a:t>
            </a:r>
            <a:r>
              <a:rPr kumimoji="1" lang="en-US" altLang="zh-CN" dirty="0">
                <a:solidFill>
                  <a:schemeClr val="tx1"/>
                </a:solidFill>
              </a:rPr>
              <a:t>, α-</a:t>
            </a:r>
            <a:r>
              <a:rPr kumimoji="1" lang="zh-CN" altLang="en-US" dirty="0">
                <a:solidFill>
                  <a:schemeClr val="tx1"/>
                </a:solidFill>
              </a:rPr>
              <a:t>螺旋就被中断，产生一个弯曲（</a:t>
            </a:r>
            <a:r>
              <a:rPr kumimoji="1" lang="en-US" altLang="zh-CN" dirty="0">
                <a:solidFill>
                  <a:schemeClr val="tx1"/>
                </a:solidFill>
              </a:rPr>
              <a:t>bend)</a:t>
            </a:r>
            <a:r>
              <a:rPr kumimoji="1" lang="zh-CN" altLang="en-US" dirty="0">
                <a:solidFill>
                  <a:schemeClr val="tx1"/>
                </a:solidFill>
              </a:rPr>
              <a:t>或结节（</a:t>
            </a:r>
            <a:r>
              <a:rPr kumimoji="1" lang="en-US" altLang="zh-CN" dirty="0">
                <a:solidFill>
                  <a:schemeClr val="tx1"/>
                </a:solidFill>
              </a:rPr>
              <a:t>kink)</a:t>
            </a:r>
            <a:r>
              <a:rPr kumimoji="1" lang="zh-CN" altLang="en-US" dirty="0">
                <a:solidFill>
                  <a:schemeClr val="tx1"/>
                </a:solidFill>
              </a:rPr>
              <a:t>；</a:t>
            </a:r>
          </a:p>
          <a:p>
            <a:pPr lvl="1" algn="just" eaLnBrk="1" hangingPunct="1">
              <a:lnSpc>
                <a:spcPct val="110000"/>
              </a:lnSpc>
              <a:buSzPct val="110000"/>
            </a:pPr>
            <a:r>
              <a:rPr kumimoji="1" lang="en-US" altLang="zh-CN" dirty="0" err="1">
                <a:solidFill>
                  <a:srgbClr val="C00000"/>
                </a:solidFill>
              </a:rPr>
              <a:t>Gly</a:t>
            </a:r>
            <a:r>
              <a:rPr kumimoji="1" lang="zh-CN" altLang="en-US" dirty="0">
                <a:solidFill>
                  <a:schemeClr val="tx1"/>
                </a:solidFill>
              </a:rPr>
              <a:t>的</a:t>
            </a:r>
            <a:r>
              <a:rPr kumimoji="1" lang="en-US" altLang="zh-CN" dirty="0">
                <a:solidFill>
                  <a:schemeClr val="tx1"/>
                </a:solidFill>
              </a:rPr>
              <a:t>R</a:t>
            </a:r>
            <a:r>
              <a:rPr kumimoji="1" lang="zh-CN" altLang="en-US" dirty="0">
                <a:solidFill>
                  <a:schemeClr val="tx1"/>
                </a:solidFill>
              </a:rPr>
              <a:t>基太小，难以形成</a:t>
            </a:r>
            <a:r>
              <a:rPr kumimoji="1" lang="en-US" altLang="zh-CN" dirty="0">
                <a:solidFill>
                  <a:schemeClr val="tx1"/>
                </a:solidFill>
              </a:rPr>
              <a:t>α-</a:t>
            </a:r>
            <a:r>
              <a:rPr kumimoji="1" lang="zh-CN" altLang="en-US" dirty="0">
                <a:solidFill>
                  <a:schemeClr val="tx1"/>
                </a:solidFill>
              </a:rPr>
              <a:t>螺旋所需的二面角，它和</a:t>
            </a:r>
            <a:r>
              <a:rPr kumimoji="1" lang="en-US" altLang="zh-CN" dirty="0">
                <a:solidFill>
                  <a:schemeClr val="tx1"/>
                </a:solidFill>
              </a:rPr>
              <a:t>Pro</a:t>
            </a:r>
            <a:r>
              <a:rPr kumimoji="1" lang="zh-CN" altLang="en-US" dirty="0">
                <a:solidFill>
                  <a:schemeClr val="tx1"/>
                </a:solidFill>
              </a:rPr>
              <a:t>一样是</a:t>
            </a:r>
            <a:r>
              <a:rPr kumimoji="1" lang="en-US" altLang="zh-CN" dirty="0">
                <a:solidFill>
                  <a:schemeClr val="tx1"/>
                </a:solidFill>
              </a:rPr>
              <a:t>α-</a:t>
            </a:r>
            <a:r>
              <a:rPr kumimoji="1" lang="zh-CN" altLang="en-US" dirty="0">
                <a:solidFill>
                  <a:schemeClr val="tx1"/>
                </a:solidFill>
              </a:rPr>
              <a:t>螺旋的最大破坏者。</a:t>
            </a:r>
          </a:p>
        </p:txBody>
      </p:sp>
      <p:sp>
        <p:nvSpPr>
          <p:cNvPr id="235524" name="Rectangle 3">
            <a:extLst>
              <a:ext uri="{FF2B5EF4-FFF2-40B4-BE49-F238E27FC236}">
                <a16:creationId xmlns:a16="http://schemas.microsoft.com/office/drawing/2014/main" id="{0DD8845D-B970-4323-8E82-1855A405792D}"/>
              </a:ext>
            </a:extLst>
          </p:cNvPr>
          <p:cNvSpPr>
            <a:spLocks noChangeArrowheads="1"/>
          </p:cNvSpPr>
          <p:nvPr/>
        </p:nvSpPr>
        <p:spPr bwMode="auto">
          <a:xfrm>
            <a:off x="1919536" y="1105694"/>
            <a:ext cx="487521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3200" b="0" dirty="0">
                <a:solidFill>
                  <a:srgbClr val="FF0000"/>
                </a:solidFill>
              </a:rPr>
              <a:t>1</a:t>
            </a:r>
            <a:r>
              <a:rPr kumimoji="1" lang="zh-CN" altLang="en-US" sz="3200" b="0" dirty="0">
                <a:solidFill>
                  <a:srgbClr val="FF0000"/>
                </a:solidFill>
              </a:rPr>
              <a:t>、影响</a:t>
            </a:r>
            <a:r>
              <a:rPr kumimoji="1" lang="en-US" altLang="zh-CN" sz="3200" b="0" dirty="0">
                <a:solidFill>
                  <a:srgbClr val="FF0000"/>
                </a:solidFill>
              </a:rPr>
              <a:t>α-</a:t>
            </a:r>
            <a:r>
              <a:rPr kumimoji="1" lang="zh-CN" altLang="en-US" sz="3200" b="0" dirty="0">
                <a:solidFill>
                  <a:srgbClr val="FF0000"/>
                </a:solidFill>
              </a:rPr>
              <a:t>螺旋形成的因素</a:t>
            </a:r>
            <a:endParaRPr kumimoji="1" lang="zh-CN" altLang="en-US" sz="3200" b="0" dirty="0">
              <a:solidFill>
                <a:srgbClr val="006600"/>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84323">
                                            <p:txEl>
                                              <p:pRg st="0" end="0"/>
                                            </p:txEl>
                                          </p:spTgt>
                                        </p:tgtEl>
                                        <p:attrNameLst>
                                          <p:attrName>style.visibility</p:attrName>
                                        </p:attrNameLst>
                                      </p:cBhvr>
                                      <p:to>
                                        <p:strVal val="visible"/>
                                      </p:to>
                                    </p:set>
                                    <p:animEffect transition="in" filter="fade">
                                      <p:cBhvr>
                                        <p:cTn id="7" dur="500"/>
                                        <p:tgtEl>
                                          <p:spTgt spid="1843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84323">
                                            <p:txEl>
                                              <p:pRg st="1" end="1"/>
                                            </p:txEl>
                                          </p:spTgt>
                                        </p:tgtEl>
                                        <p:attrNameLst>
                                          <p:attrName>style.visibility</p:attrName>
                                        </p:attrNameLst>
                                      </p:cBhvr>
                                      <p:to>
                                        <p:strVal val="visible"/>
                                      </p:to>
                                    </p:set>
                                    <p:animEffect transition="in" filter="fade">
                                      <p:cBhvr>
                                        <p:cTn id="12" dur="500"/>
                                        <p:tgtEl>
                                          <p:spTgt spid="18432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84323">
                                            <p:txEl>
                                              <p:pRg st="2" end="2"/>
                                            </p:txEl>
                                          </p:spTgt>
                                        </p:tgtEl>
                                        <p:attrNameLst>
                                          <p:attrName>style.visibility</p:attrName>
                                        </p:attrNameLst>
                                      </p:cBhvr>
                                      <p:to>
                                        <p:strVal val="visible"/>
                                      </p:to>
                                    </p:set>
                                    <p:animEffect transition="in" filter="fade">
                                      <p:cBhvr>
                                        <p:cTn id="17" dur="500"/>
                                        <p:tgtEl>
                                          <p:spTgt spid="18432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184323">
                                            <p:txEl>
                                              <p:pRg st="3" end="3"/>
                                            </p:txEl>
                                          </p:spTgt>
                                        </p:tgtEl>
                                        <p:attrNameLst>
                                          <p:attrName>style.visibility</p:attrName>
                                        </p:attrNameLst>
                                      </p:cBhvr>
                                      <p:to>
                                        <p:strVal val="visible"/>
                                      </p:to>
                                    </p:set>
                                    <p:animEffect transition="in" filter="fade">
                                      <p:cBhvr>
                                        <p:cTn id="22" dur="500"/>
                                        <p:tgtEl>
                                          <p:spTgt spid="1843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4">
            <a:extLst>
              <a:ext uri="{FF2B5EF4-FFF2-40B4-BE49-F238E27FC236}">
                <a16:creationId xmlns:a16="http://schemas.microsoft.com/office/drawing/2014/main" id="{D2E7610F-57D5-4450-9399-90FBE8E90729}"/>
              </a:ext>
            </a:extLst>
          </p:cNvPr>
          <p:cNvSpPr>
            <a:spLocks noChangeArrowheads="1"/>
          </p:cNvSpPr>
          <p:nvPr/>
        </p:nvSpPr>
        <p:spPr bwMode="auto">
          <a:xfrm>
            <a:off x="2351088" y="1268413"/>
            <a:ext cx="7416800" cy="400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en-US" altLang="zh-CN" sz="3200" b="0" dirty="0">
                <a:solidFill>
                  <a:srgbClr val="FF0000"/>
                </a:solidFill>
              </a:rPr>
              <a:t>2</a:t>
            </a:r>
            <a:r>
              <a:rPr kumimoji="1" lang="zh-CN" altLang="en-US" sz="3200" b="0" dirty="0">
                <a:solidFill>
                  <a:srgbClr val="FF0000"/>
                </a:solidFill>
              </a:rPr>
              <a:t>、影响</a:t>
            </a:r>
            <a:r>
              <a:rPr kumimoji="1" lang="en-US" altLang="zh-CN" sz="3200" b="0" dirty="0">
                <a:solidFill>
                  <a:srgbClr val="FF0000"/>
                </a:solidFill>
              </a:rPr>
              <a:t>β-</a:t>
            </a:r>
            <a:r>
              <a:rPr kumimoji="1" lang="zh-CN" altLang="en-US" sz="3200" b="0" dirty="0">
                <a:solidFill>
                  <a:srgbClr val="FF0000"/>
                </a:solidFill>
              </a:rPr>
              <a:t>折叠形成的因素</a:t>
            </a:r>
            <a:endParaRPr kumimoji="1" lang="en-US" altLang="zh-CN" sz="3200" b="0" dirty="0">
              <a:solidFill>
                <a:srgbClr val="FF0000"/>
              </a:solidFill>
            </a:endParaRPr>
          </a:p>
          <a:p>
            <a:pPr eaLnBrk="1" hangingPunct="1">
              <a:spcBef>
                <a:spcPct val="0"/>
              </a:spcBef>
              <a:buClrTx/>
              <a:buFontTx/>
              <a:buNone/>
            </a:pPr>
            <a:endParaRPr kumimoji="1" lang="zh-CN" altLang="en-US" sz="3200" b="0" dirty="0">
              <a:solidFill>
                <a:srgbClr val="FF0000"/>
              </a:solidFill>
            </a:endParaRPr>
          </a:p>
          <a:p>
            <a:pPr eaLnBrk="1" hangingPunct="1">
              <a:lnSpc>
                <a:spcPct val="170000"/>
              </a:lnSpc>
              <a:spcBef>
                <a:spcPct val="0"/>
              </a:spcBef>
              <a:buClrTx/>
              <a:buFontTx/>
              <a:buNone/>
            </a:pPr>
            <a:r>
              <a:rPr kumimoji="1" lang="zh-CN" altLang="en-US" b="0" dirty="0">
                <a:solidFill>
                  <a:schemeClr val="tx1"/>
                </a:solidFill>
                <a:latin typeface="黑体" panose="02010609060101010101" pitchFamily="49" charset="-122"/>
              </a:rPr>
              <a:t>  要求</a:t>
            </a:r>
            <a:r>
              <a:rPr kumimoji="1" lang="zh-CN" altLang="en-US" b="0" dirty="0">
                <a:solidFill>
                  <a:srgbClr val="0000CC"/>
                </a:solidFill>
                <a:latin typeface="黑体" panose="02010609060101010101" pitchFamily="49" charset="-122"/>
              </a:rPr>
              <a:t>侧链较小</a:t>
            </a:r>
            <a:r>
              <a:rPr kumimoji="1" lang="zh-CN" altLang="en-US" b="0" dirty="0">
                <a:solidFill>
                  <a:schemeClr val="tx1"/>
                </a:solidFill>
                <a:latin typeface="黑体" panose="02010609060101010101" pitchFamily="49" charset="-122"/>
              </a:rPr>
              <a:t>，才能容许两条肽段彼此靠近，侧链之间可以紧密结合。如蚕丝蛋白中有大量的甘氨酸和丙氨酸残基。</a:t>
            </a:r>
          </a:p>
          <a:p>
            <a:pPr eaLnBrk="1" hangingPunct="1">
              <a:lnSpc>
                <a:spcPct val="170000"/>
              </a:lnSpc>
              <a:spcBef>
                <a:spcPct val="0"/>
              </a:spcBef>
              <a:buClrTx/>
              <a:buFontTx/>
              <a:buNone/>
            </a:pPr>
            <a:endParaRPr kumimoji="1" lang="zh-CN" altLang="en-US" b="0" dirty="0">
              <a:solidFill>
                <a:srgbClr val="0000CC"/>
              </a:solidFill>
              <a:latin typeface="黑体" panose="02010609060101010101" pitchFamily="49" charset="-122"/>
            </a:endParaRPr>
          </a:p>
        </p:txBody>
      </p:sp>
    </p:spTree>
  </p:cSld>
  <p:clrMapOvr>
    <a:masterClrMapping/>
  </p:clrMapOvr>
  <p:transition spd="slow">
    <p:circl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Text Box 3">
            <a:extLst>
              <a:ext uri="{FF2B5EF4-FFF2-40B4-BE49-F238E27FC236}">
                <a16:creationId xmlns:a16="http://schemas.microsoft.com/office/drawing/2014/main" id="{0A38794B-ECD4-4ACE-9D9B-1FD937030B42}"/>
              </a:ext>
            </a:extLst>
          </p:cNvPr>
          <p:cNvSpPr txBox="1">
            <a:spLocks noChangeArrowheads="1"/>
          </p:cNvSpPr>
          <p:nvPr/>
        </p:nvSpPr>
        <p:spPr bwMode="auto">
          <a:xfrm>
            <a:off x="1703389" y="188913"/>
            <a:ext cx="64801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3600">
                <a:solidFill>
                  <a:schemeClr val="bg1"/>
                </a:solidFill>
              </a:rPr>
              <a:t>（七）超二级结构（模体）</a:t>
            </a:r>
          </a:p>
        </p:txBody>
      </p:sp>
      <p:sp>
        <p:nvSpPr>
          <p:cNvPr id="239619" name="Text Box 4">
            <a:extLst>
              <a:ext uri="{FF2B5EF4-FFF2-40B4-BE49-F238E27FC236}">
                <a16:creationId xmlns:a16="http://schemas.microsoft.com/office/drawing/2014/main" id="{1D53B906-11CA-4B18-8DD2-DCCCD849F9D5}"/>
              </a:ext>
            </a:extLst>
          </p:cNvPr>
          <p:cNvSpPr txBox="1">
            <a:spLocks noChangeArrowheads="1"/>
          </p:cNvSpPr>
          <p:nvPr/>
        </p:nvSpPr>
        <p:spPr bwMode="auto">
          <a:xfrm>
            <a:off x="1415480" y="1124744"/>
            <a:ext cx="9648812"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indent="711200">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0000"/>
              </a:lnSpc>
              <a:spcBef>
                <a:spcPct val="0"/>
              </a:spcBef>
              <a:buClrTx/>
              <a:buFontTx/>
              <a:buNone/>
            </a:pPr>
            <a:r>
              <a:rPr kumimoji="1" lang="zh-CN" altLang="en-US" b="0" dirty="0">
                <a:solidFill>
                  <a:schemeClr val="tx1"/>
                </a:solidFill>
              </a:rPr>
              <a:t>许多蛋白质分子中，由</a:t>
            </a:r>
            <a:r>
              <a:rPr kumimoji="1" lang="en-US" altLang="zh-CN" b="0" dirty="0">
                <a:solidFill>
                  <a:srgbClr val="0000CC"/>
                </a:solidFill>
              </a:rPr>
              <a:t>2</a:t>
            </a:r>
            <a:r>
              <a:rPr kumimoji="1" lang="zh-CN" altLang="en-US" b="0" dirty="0">
                <a:solidFill>
                  <a:srgbClr val="0000CC"/>
                </a:solidFill>
              </a:rPr>
              <a:t>个或</a:t>
            </a:r>
            <a:r>
              <a:rPr kumimoji="1" lang="en-US" altLang="zh-CN" b="0" dirty="0">
                <a:solidFill>
                  <a:srgbClr val="0000CC"/>
                </a:solidFill>
              </a:rPr>
              <a:t>2</a:t>
            </a:r>
            <a:r>
              <a:rPr kumimoji="1" lang="zh-CN" altLang="en-US" b="0" dirty="0">
                <a:solidFill>
                  <a:srgbClr val="0000CC"/>
                </a:solidFill>
              </a:rPr>
              <a:t>个以上</a:t>
            </a:r>
            <a:r>
              <a:rPr kumimoji="1" lang="zh-CN" altLang="en-US" b="0" dirty="0">
                <a:solidFill>
                  <a:schemeClr val="tx1"/>
                </a:solidFill>
              </a:rPr>
              <a:t>具有特定二级结构（常为</a:t>
            </a:r>
            <a:r>
              <a:rPr kumimoji="1" lang="el-GR" altLang="zh-CN" b="0" dirty="0">
                <a:solidFill>
                  <a:schemeClr val="tx1"/>
                </a:solidFill>
              </a:rPr>
              <a:t>α</a:t>
            </a:r>
            <a:r>
              <a:rPr kumimoji="1" lang="zh-CN" altLang="en-US" b="0" dirty="0">
                <a:solidFill>
                  <a:schemeClr val="tx1"/>
                </a:solidFill>
              </a:rPr>
              <a:t>螺旋或</a:t>
            </a:r>
            <a:r>
              <a:rPr kumimoji="1" lang="el-GR" altLang="zh-CN" b="0" dirty="0">
                <a:solidFill>
                  <a:schemeClr val="tx1"/>
                </a:solidFill>
              </a:rPr>
              <a:t>β</a:t>
            </a:r>
            <a:r>
              <a:rPr kumimoji="1" lang="zh-CN" altLang="en-US" b="0" dirty="0">
                <a:solidFill>
                  <a:schemeClr val="tx1"/>
                </a:solidFill>
              </a:rPr>
              <a:t>折叠）的肽段在空间上相互接近，形成一个</a:t>
            </a:r>
            <a:r>
              <a:rPr kumimoji="1" lang="zh-CN" altLang="en-US" dirty="0">
                <a:solidFill>
                  <a:srgbClr val="0000CC"/>
                </a:solidFill>
              </a:rPr>
              <a:t>规律的稳定的二级结构组合</a:t>
            </a:r>
            <a:r>
              <a:rPr kumimoji="1" lang="zh-CN" altLang="en-US" b="0" dirty="0">
                <a:solidFill>
                  <a:schemeClr val="tx1"/>
                </a:solidFill>
              </a:rPr>
              <a:t>，称为</a:t>
            </a:r>
            <a:r>
              <a:rPr kumimoji="1" lang="zh-CN" altLang="en-US" b="0" dirty="0">
                <a:solidFill>
                  <a:srgbClr val="C00000"/>
                </a:solidFill>
              </a:rPr>
              <a:t>超二级结构</a:t>
            </a:r>
            <a:r>
              <a:rPr kumimoji="1" lang="zh-CN" altLang="en-US" b="0" dirty="0">
                <a:solidFill>
                  <a:schemeClr val="tx1"/>
                </a:solidFill>
              </a:rPr>
              <a:t>，也称</a:t>
            </a:r>
            <a:r>
              <a:rPr kumimoji="1" lang="zh-CN" altLang="en-US" b="0" dirty="0">
                <a:solidFill>
                  <a:srgbClr val="C00000"/>
                </a:solidFill>
              </a:rPr>
              <a:t>模体</a:t>
            </a:r>
            <a:r>
              <a:rPr kumimoji="1" lang="zh-CN" altLang="en-US" b="0" dirty="0">
                <a:solidFill>
                  <a:srgbClr val="204182"/>
                </a:solidFill>
              </a:rPr>
              <a:t>（</a:t>
            </a:r>
            <a:r>
              <a:rPr kumimoji="1" lang="en-US" altLang="zh-CN" b="0" dirty="0">
                <a:solidFill>
                  <a:srgbClr val="C00000"/>
                </a:solidFill>
              </a:rPr>
              <a:t>motif</a:t>
            </a:r>
            <a:r>
              <a:rPr kumimoji="1" lang="en-US" altLang="zh-CN" b="0" dirty="0">
                <a:solidFill>
                  <a:schemeClr val="tx1"/>
                </a:solidFill>
              </a:rPr>
              <a:t>, </a:t>
            </a:r>
            <a:r>
              <a:rPr kumimoji="1" lang="zh-CN" altLang="en-US" b="0" dirty="0">
                <a:solidFill>
                  <a:schemeClr val="tx1"/>
                </a:solidFill>
              </a:rPr>
              <a:t>或译为</a:t>
            </a:r>
            <a:r>
              <a:rPr kumimoji="1" lang="zh-CN" altLang="en-US" b="0" dirty="0">
                <a:solidFill>
                  <a:srgbClr val="0000CC"/>
                </a:solidFill>
              </a:rPr>
              <a:t>模序、基序</a:t>
            </a:r>
            <a:r>
              <a:rPr kumimoji="1" lang="en-US" altLang="zh-CN" b="0" dirty="0">
                <a:solidFill>
                  <a:schemeClr val="tx1"/>
                </a:solidFill>
              </a:rPr>
              <a:t>)</a:t>
            </a:r>
            <a:r>
              <a:rPr kumimoji="1" lang="zh-CN" altLang="en-US" b="0" dirty="0">
                <a:solidFill>
                  <a:schemeClr val="tx1"/>
                </a:solidFill>
              </a:rPr>
              <a:t>或</a:t>
            </a:r>
            <a:r>
              <a:rPr kumimoji="1" lang="zh-CN" altLang="en-US" b="0" dirty="0">
                <a:solidFill>
                  <a:srgbClr val="0000CC"/>
                </a:solidFill>
              </a:rPr>
              <a:t>结构模体（</a:t>
            </a:r>
            <a:r>
              <a:rPr kumimoji="1" lang="en-US" altLang="zh-CN" b="0" dirty="0">
                <a:solidFill>
                  <a:srgbClr val="0000CC"/>
                </a:solidFill>
              </a:rPr>
              <a:t>structural motif) </a:t>
            </a:r>
            <a:r>
              <a:rPr kumimoji="1" lang="zh-CN" altLang="en-US" b="0" dirty="0">
                <a:solidFill>
                  <a:schemeClr val="tx1"/>
                </a:solidFill>
              </a:rPr>
              <a:t>，通常具有特定功能。</a:t>
            </a:r>
          </a:p>
        </p:txBody>
      </p:sp>
      <p:pic>
        <p:nvPicPr>
          <p:cNvPr id="239620" name="Picture 9" descr="01020250">
            <a:extLst>
              <a:ext uri="{FF2B5EF4-FFF2-40B4-BE49-F238E27FC236}">
                <a16:creationId xmlns:a16="http://schemas.microsoft.com/office/drawing/2014/main" id="{15B0337F-8F99-42BA-88AD-1B264B9AC4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3476" y="3645024"/>
            <a:ext cx="4032250" cy="274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41666" name="图片 1">
            <a:extLst>
              <a:ext uri="{FF2B5EF4-FFF2-40B4-BE49-F238E27FC236}">
                <a16:creationId xmlns:a16="http://schemas.microsoft.com/office/drawing/2014/main" id="{ECEBEFD3-B47D-4A29-8D94-B50F1576172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87880" y="1829912"/>
            <a:ext cx="6119813" cy="3938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1667" name="标题 2">
            <a:extLst>
              <a:ext uri="{FF2B5EF4-FFF2-40B4-BE49-F238E27FC236}">
                <a16:creationId xmlns:a16="http://schemas.microsoft.com/office/drawing/2014/main" id="{47B3E1F9-4A22-46D8-A3EB-475F1EA342D4}"/>
              </a:ext>
            </a:extLst>
          </p:cNvPr>
          <p:cNvSpPr>
            <a:spLocks noGrp="1" noChangeArrowheads="1"/>
          </p:cNvSpPr>
          <p:nvPr>
            <p:ph type="title"/>
          </p:nvPr>
        </p:nvSpPr>
        <p:spPr>
          <a:xfrm>
            <a:off x="1703388" y="260351"/>
            <a:ext cx="6913562" cy="563563"/>
          </a:xfrm>
        </p:spPr>
        <p:txBody>
          <a:bodyPr/>
          <a:lstStyle/>
          <a:p>
            <a:r>
              <a:rPr lang="zh-CN" altLang="en-US"/>
              <a:t>模体的种类远不及蛋白质的种类</a:t>
            </a:r>
          </a:p>
        </p:txBody>
      </p:sp>
      <p:sp>
        <p:nvSpPr>
          <p:cNvPr id="241668" name="文本框 3">
            <a:extLst>
              <a:ext uri="{FF2B5EF4-FFF2-40B4-BE49-F238E27FC236}">
                <a16:creationId xmlns:a16="http://schemas.microsoft.com/office/drawing/2014/main" id="{366426DF-2504-47BD-8B11-8BBED24F706C}"/>
              </a:ext>
            </a:extLst>
          </p:cNvPr>
          <p:cNvSpPr txBox="1">
            <a:spLocks noChangeArrowheads="1"/>
          </p:cNvSpPr>
          <p:nvPr/>
        </p:nvSpPr>
        <p:spPr bwMode="auto">
          <a:xfrm>
            <a:off x="9480376" y="5635592"/>
            <a:ext cx="13684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l-GR" altLang="zh-CN" dirty="0">
                <a:solidFill>
                  <a:schemeClr val="tx1"/>
                </a:solidFill>
                <a:latin typeface="Arial" panose="020B0604020202020204" pitchFamily="34" charset="0"/>
                <a:ea typeface="宋体" panose="02010600030101010101" pitchFamily="2" charset="-122"/>
              </a:rPr>
              <a:t>β</a:t>
            </a:r>
            <a:r>
              <a:rPr lang="zh-CN" altLang="en-US" dirty="0">
                <a:solidFill>
                  <a:schemeClr val="tx1"/>
                </a:solidFill>
                <a:latin typeface="Arial" panose="020B0604020202020204" pitchFamily="34" charset="0"/>
                <a:ea typeface="宋体" panose="02010600030101010101" pitchFamily="2" charset="-122"/>
              </a:rPr>
              <a:t>桶</a:t>
            </a:r>
          </a:p>
        </p:txBody>
      </p:sp>
      <p:sp>
        <p:nvSpPr>
          <p:cNvPr id="241669" name="矩形 2">
            <a:extLst>
              <a:ext uri="{FF2B5EF4-FFF2-40B4-BE49-F238E27FC236}">
                <a16:creationId xmlns:a16="http://schemas.microsoft.com/office/drawing/2014/main" id="{A45DDFC5-2F0A-4E52-8AE2-EF9A14B0BCD4}"/>
              </a:ext>
            </a:extLst>
          </p:cNvPr>
          <p:cNvSpPr>
            <a:spLocks noChangeArrowheads="1"/>
          </p:cNvSpPr>
          <p:nvPr/>
        </p:nvSpPr>
        <p:spPr bwMode="auto">
          <a:xfrm>
            <a:off x="1487488" y="1466532"/>
            <a:ext cx="5615434" cy="159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nSpc>
                <a:spcPct val="120000"/>
              </a:lnSpc>
              <a:spcBef>
                <a:spcPct val="0"/>
              </a:spcBef>
              <a:buClrTx/>
              <a:buFontTx/>
              <a:buNone/>
            </a:pPr>
            <a:r>
              <a:rPr lang="zh-CN" altLang="en-US" dirty="0">
                <a:solidFill>
                  <a:schemeClr val="tx1"/>
                </a:solidFill>
                <a:latin typeface="Arial" panose="020B0604020202020204" pitchFamily="34" charset="0"/>
                <a:ea typeface="宋体" panose="02010600030101010101" pitchFamily="2" charset="-122"/>
              </a:rPr>
              <a:t>模体本质上是特定的肽链</a:t>
            </a:r>
            <a:r>
              <a:rPr lang="zh-CN" altLang="en-US" dirty="0">
                <a:solidFill>
                  <a:srgbClr val="C00000"/>
                </a:solidFill>
                <a:latin typeface="Arial" panose="020B0604020202020204" pitchFamily="34" charset="0"/>
                <a:ea typeface="宋体" panose="02010600030101010101" pitchFamily="2" charset="-122"/>
              </a:rPr>
              <a:t>折叠模式（</a:t>
            </a:r>
            <a:r>
              <a:rPr lang="en-US" altLang="zh-CN" dirty="0">
                <a:solidFill>
                  <a:srgbClr val="C00000"/>
                </a:solidFill>
                <a:latin typeface="Arial" panose="020B0604020202020204" pitchFamily="34" charset="0"/>
                <a:ea typeface="宋体" panose="02010600030101010101" pitchFamily="2" charset="-122"/>
              </a:rPr>
              <a:t>folding pattern)</a:t>
            </a:r>
            <a:r>
              <a:rPr lang="zh-CN" altLang="en-US" dirty="0">
                <a:solidFill>
                  <a:schemeClr val="tx1"/>
                </a:solidFill>
                <a:latin typeface="Arial" panose="020B0604020202020204" pitchFamily="34" charset="0"/>
                <a:ea typeface="宋体" panose="02010600030101010101" pitchFamily="2" charset="-122"/>
              </a:rPr>
              <a:t>，有的很小，有的很大。</a:t>
            </a:r>
          </a:p>
        </p:txBody>
      </p:sp>
    </p:spTree>
  </p:cSld>
  <p:clrMapOvr>
    <a:masterClrMapping/>
  </p:clrMapOvr>
  <p:transition spd="slow">
    <p:circle/>
  </p:transition>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43714" name="图片 1">
            <a:extLst>
              <a:ext uri="{FF2B5EF4-FFF2-40B4-BE49-F238E27FC236}">
                <a16:creationId xmlns:a16="http://schemas.microsoft.com/office/drawing/2014/main" id="{FAE4704B-5F46-42C0-A699-B5DA546B2BC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79650" y="1196975"/>
            <a:ext cx="6110288"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3715" name="标题 2">
            <a:extLst>
              <a:ext uri="{FF2B5EF4-FFF2-40B4-BE49-F238E27FC236}">
                <a16:creationId xmlns:a16="http://schemas.microsoft.com/office/drawing/2014/main" id="{7A10C37C-5515-41BD-A2B0-116EB0C68ABE}"/>
              </a:ext>
            </a:extLst>
          </p:cNvPr>
          <p:cNvSpPr>
            <a:spLocks noGrp="1" noChangeArrowheads="1"/>
          </p:cNvSpPr>
          <p:nvPr>
            <p:ph type="title"/>
          </p:nvPr>
        </p:nvSpPr>
        <p:spPr>
          <a:xfrm>
            <a:off x="1271464" y="188640"/>
            <a:ext cx="9505056" cy="563563"/>
          </a:xfrm>
        </p:spPr>
        <p:txBody>
          <a:bodyPr/>
          <a:lstStyle/>
          <a:p>
            <a:r>
              <a:rPr lang="zh-CN" altLang="en-US" dirty="0"/>
              <a:t>小模体可以组装成更大的模体</a:t>
            </a:r>
          </a:p>
        </p:txBody>
      </p:sp>
      <p:sp>
        <p:nvSpPr>
          <p:cNvPr id="3" name="对话气泡: 圆角矩形 2">
            <a:extLst>
              <a:ext uri="{FF2B5EF4-FFF2-40B4-BE49-F238E27FC236}">
                <a16:creationId xmlns:a16="http://schemas.microsoft.com/office/drawing/2014/main" id="{857AD789-511B-46E5-A3C5-E1CF36B27A56}"/>
              </a:ext>
            </a:extLst>
          </p:cNvPr>
          <p:cNvSpPr/>
          <p:nvPr/>
        </p:nvSpPr>
        <p:spPr bwMode="auto">
          <a:xfrm>
            <a:off x="7967663" y="5122864"/>
            <a:ext cx="2449512" cy="1114425"/>
          </a:xfrm>
          <a:prstGeom prst="wedgeRoundRectCallout">
            <a:avLst>
              <a:gd name="adj1" fmla="val -48636"/>
              <a:gd name="adj2" fmla="val -116783"/>
              <a:gd name="adj3" fmla="val 16667"/>
            </a:avLst>
          </a:prstGeom>
          <a:solidFill>
            <a:schemeClr val="accent5">
              <a:lumMod val="20000"/>
              <a:lumOff val="80000"/>
            </a:schemeClr>
          </a:solidFill>
          <a:ln w="9525" cap="flat" cmpd="sng" algn="ctr">
            <a:solidFill>
              <a:schemeClr val="tx1"/>
            </a:solidFill>
            <a:prstDash val="solid"/>
            <a:round/>
            <a:headEnd type="none" w="med" len="med"/>
            <a:tailEnd type="none" w="med" len="med"/>
          </a:ln>
          <a:effectLst/>
        </p:spPr>
        <p:txBody>
          <a:bodyPr wrap="none"/>
          <a:lstStyle/>
          <a:p>
            <a:pPr eaLnBrk="1" hangingPunct="1">
              <a:defRPr/>
            </a:pPr>
            <a:r>
              <a:rPr lang="zh-CN" altLang="en-US" sz="2800" b="1">
                <a:solidFill>
                  <a:srgbClr val="000066"/>
                </a:solidFill>
              </a:rPr>
              <a:t>丙酮酸激酶的</a:t>
            </a:r>
            <a:endParaRPr lang="en-US" altLang="zh-CN" sz="2800" b="1">
              <a:solidFill>
                <a:srgbClr val="000066"/>
              </a:solidFill>
            </a:endParaRPr>
          </a:p>
          <a:p>
            <a:pPr eaLnBrk="1" hangingPunct="1">
              <a:defRPr/>
            </a:pPr>
            <a:r>
              <a:rPr lang="zh-CN" altLang="en-US" sz="2800" b="1">
                <a:solidFill>
                  <a:srgbClr val="000066"/>
                </a:solidFill>
              </a:rPr>
              <a:t>一个结构域</a:t>
            </a:r>
            <a:endParaRPr lang="zh-CN" altLang="en-US" sz="2800" b="1" dirty="0">
              <a:solidFill>
                <a:srgbClr val="000066"/>
              </a:solidFill>
            </a:endParaRPr>
          </a:p>
        </p:txBody>
      </p:sp>
    </p:spTree>
  </p:cSld>
  <p:clrMapOvr>
    <a:masterClrMapping/>
  </p:clrMapOvr>
  <p:transition spd="slow">
    <p:circl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Text Box 4">
            <a:extLst>
              <a:ext uri="{FF2B5EF4-FFF2-40B4-BE49-F238E27FC236}">
                <a16:creationId xmlns:a16="http://schemas.microsoft.com/office/drawing/2014/main" id="{036FEE49-6323-46DC-981C-ACC2011B741C}"/>
              </a:ext>
            </a:extLst>
          </p:cNvPr>
          <p:cNvSpPr txBox="1">
            <a:spLocks noChangeArrowheads="1"/>
          </p:cNvSpPr>
          <p:nvPr/>
        </p:nvSpPr>
        <p:spPr bwMode="auto">
          <a:xfrm>
            <a:off x="3143251" y="5445125"/>
            <a:ext cx="3097213"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ct val="0"/>
              </a:spcBef>
              <a:buClrTx/>
              <a:buFontTx/>
              <a:buNone/>
            </a:pPr>
            <a:r>
              <a:rPr kumimoji="1" lang="zh-CN" altLang="en-US" b="0">
                <a:solidFill>
                  <a:srgbClr val="006600"/>
                </a:solidFill>
              </a:rPr>
              <a:t>钙结合蛋白中结合钙离子的模体</a:t>
            </a:r>
          </a:p>
        </p:txBody>
      </p:sp>
      <p:sp>
        <p:nvSpPr>
          <p:cNvPr id="245763" name="Text Box 5">
            <a:extLst>
              <a:ext uri="{FF2B5EF4-FFF2-40B4-BE49-F238E27FC236}">
                <a16:creationId xmlns:a16="http://schemas.microsoft.com/office/drawing/2014/main" id="{4965182B-ECBE-4427-9FA1-509FDCC8149A}"/>
              </a:ext>
            </a:extLst>
          </p:cNvPr>
          <p:cNvSpPr txBox="1">
            <a:spLocks noChangeArrowheads="1"/>
          </p:cNvSpPr>
          <p:nvPr/>
        </p:nvSpPr>
        <p:spPr bwMode="auto">
          <a:xfrm>
            <a:off x="7412038" y="5589589"/>
            <a:ext cx="1746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ct val="0"/>
              </a:spcBef>
              <a:buClrTx/>
              <a:buFontTx/>
              <a:buNone/>
            </a:pPr>
            <a:r>
              <a:rPr kumimoji="1" lang="zh-CN" altLang="en-US" b="0">
                <a:solidFill>
                  <a:srgbClr val="006600"/>
                </a:solidFill>
              </a:rPr>
              <a:t>锌指结构</a:t>
            </a:r>
          </a:p>
        </p:txBody>
      </p:sp>
      <p:sp>
        <p:nvSpPr>
          <p:cNvPr id="245764" name="Rectangle 7">
            <a:extLst>
              <a:ext uri="{FF2B5EF4-FFF2-40B4-BE49-F238E27FC236}">
                <a16:creationId xmlns:a16="http://schemas.microsoft.com/office/drawing/2014/main" id="{F9894341-0453-4EDF-906D-DEDCBCF6F8C7}"/>
              </a:ext>
            </a:extLst>
          </p:cNvPr>
          <p:cNvSpPr>
            <a:spLocks noChangeArrowheads="1"/>
          </p:cNvSpPr>
          <p:nvPr/>
        </p:nvSpPr>
        <p:spPr bwMode="auto">
          <a:xfrm>
            <a:off x="1774826" y="188914"/>
            <a:ext cx="68421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a:spcBef>
                <a:spcPct val="0"/>
              </a:spcBef>
              <a:buClrTx/>
              <a:buSzPct val="80000"/>
              <a:buFont typeface="Wingdings" panose="05000000000000000000" pitchFamily="2" charset="2"/>
              <a:buNone/>
            </a:pPr>
            <a:r>
              <a:rPr lang="zh-CN" altLang="en-US" sz="4000">
                <a:solidFill>
                  <a:schemeClr val="bg1"/>
                </a:solidFill>
              </a:rPr>
              <a:t>常见模体示例</a:t>
            </a:r>
          </a:p>
        </p:txBody>
      </p:sp>
      <p:pic>
        <p:nvPicPr>
          <p:cNvPr id="245765" name="Picture 9" descr="01020255">
            <a:extLst>
              <a:ext uri="{FF2B5EF4-FFF2-40B4-BE49-F238E27FC236}">
                <a16:creationId xmlns:a16="http://schemas.microsoft.com/office/drawing/2014/main" id="{DD4C5B72-37EF-491A-86D2-598E5EA4D1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6116"/>
          <a:stretch>
            <a:fillRect/>
          </a:stretch>
        </p:blipFill>
        <p:spPr bwMode="auto">
          <a:xfrm>
            <a:off x="3359151" y="1052514"/>
            <a:ext cx="5832475" cy="448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7810" name="Text Box 5">
            <a:extLst>
              <a:ext uri="{FF2B5EF4-FFF2-40B4-BE49-F238E27FC236}">
                <a16:creationId xmlns:a16="http://schemas.microsoft.com/office/drawing/2014/main" id="{22874AD7-1AE2-4EC3-951D-0FC07FEA47EB}"/>
              </a:ext>
            </a:extLst>
          </p:cNvPr>
          <p:cNvSpPr txBox="1">
            <a:spLocks noChangeArrowheads="1"/>
          </p:cNvSpPr>
          <p:nvPr/>
        </p:nvSpPr>
        <p:spPr bwMode="auto">
          <a:xfrm>
            <a:off x="6230939" y="733426"/>
            <a:ext cx="3527425"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ct val="0"/>
              </a:spcBef>
              <a:buClrTx/>
              <a:buFontTx/>
              <a:buNone/>
            </a:pPr>
            <a:r>
              <a:rPr lang="zh-CN" altLang="en-US" sz="3600" dirty="0">
                <a:solidFill>
                  <a:srgbClr val="FF0000"/>
                </a:solidFill>
                <a:latin typeface="Arial" panose="020B0604020202020204" pitchFamily="34" charset="0"/>
                <a:ea typeface="宋体" panose="02010600030101010101" pitchFamily="2" charset="-122"/>
              </a:rPr>
              <a:t>锌指结构</a:t>
            </a:r>
            <a:endParaRPr lang="en-US" altLang="zh-CN" sz="3600" dirty="0">
              <a:solidFill>
                <a:srgbClr val="FF0000"/>
              </a:solidFill>
              <a:latin typeface="Arial" panose="020B0604020202020204" pitchFamily="34" charset="0"/>
              <a:ea typeface="宋体" panose="02010600030101010101" pitchFamily="2" charset="-122"/>
            </a:endParaRPr>
          </a:p>
          <a:p>
            <a:pPr algn="ctr" eaLnBrk="1" hangingPunct="1">
              <a:spcBef>
                <a:spcPct val="0"/>
              </a:spcBef>
              <a:buClrTx/>
              <a:buFontTx/>
              <a:buNone/>
            </a:pPr>
            <a:r>
              <a:rPr lang="en-US" altLang="zh-CN" dirty="0">
                <a:solidFill>
                  <a:srgbClr val="FF0000"/>
                </a:solidFill>
                <a:latin typeface="Arial" panose="020B0604020202020204" pitchFamily="34" charset="0"/>
                <a:ea typeface="宋体" panose="02010600030101010101" pitchFamily="2" charset="-122"/>
              </a:rPr>
              <a:t>Zinc Finger</a:t>
            </a:r>
          </a:p>
        </p:txBody>
      </p:sp>
      <p:sp>
        <p:nvSpPr>
          <p:cNvPr id="247811" name="Rectangle 6">
            <a:extLst>
              <a:ext uri="{FF2B5EF4-FFF2-40B4-BE49-F238E27FC236}">
                <a16:creationId xmlns:a16="http://schemas.microsoft.com/office/drawing/2014/main" id="{0291AF77-DD5C-478B-B837-B67787627125}"/>
              </a:ext>
            </a:extLst>
          </p:cNvPr>
          <p:cNvSpPr>
            <a:spLocks noChangeArrowheads="1"/>
          </p:cNvSpPr>
          <p:nvPr/>
        </p:nvSpPr>
        <p:spPr bwMode="auto">
          <a:xfrm>
            <a:off x="6230940" y="2204864"/>
            <a:ext cx="5193652" cy="324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marL="457200" indent="-457200">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50000"/>
              </a:lnSpc>
              <a:spcBef>
                <a:spcPct val="0"/>
              </a:spcBef>
              <a:buClrTx/>
            </a:pPr>
            <a:r>
              <a:rPr kumimoji="1" lang="zh-CN" altLang="en-US" b="0" dirty="0">
                <a:solidFill>
                  <a:schemeClr val="tx1"/>
                </a:solidFill>
              </a:rPr>
              <a:t>在很多蛋白中存在的一类具有指状结构的模体；</a:t>
            </a:r>
            <a:endParaRPr kumimoji="1" lang="en-US" altLang="zh-CN" b="0" dirty="0">
              <a:solidFill>
                <a:schemeClr val="tx1"/>
              </a:solidFill>
            </a:endParaRPr>
          </a:p>
          <a:p>
            <a:pPr eaLnBrk="1" hangingPunct="1">
              <a:lnSpc>
                <a:spcPct val="150000"/>
              </a:lnSpc>
              <a:spcBef>
                <a:spcPct val="0"/>
              </a:spcBef>
              <a:buClrTx/>
            </a:pPr>
            <a:r>
              <a:rPr kumimoji="1" lang="zh-CN" altLang="en-US" b="0" dirty="0">
                <a:solidFill>
                  <a:schemeClr val="tx1"/>
                </a:solidFill>
              </a:rPr>
              <a:t>这类蛋白大多是与</a:t>
            </a:r>
            <a:r>
              <a:rPr kumimoji="1" lang="zh-CN" altLang="en-US" b="0" dirty="0">
                <a:solidFill>
                  <a:srgbClr val="C00000"/>
                </a:solidFill>
              </a:rPr>
              <a:t>基因表达调控有关的功能蛋白</a:t>
            </a:r>
            <a:r>
              <a:rPr kumimoji="1" lang="zh-CN" altLang="en-US" b="0" dirty="0">
                <a:solidFill>
                  <a:schemeClr val="tx1"/>
                </a:solidFill>
              </a:rPr>
              <a:t>；</a:t>
            </a:r>
            <a:endParaRPr kumimoji="1" lang="en-US" altLang="zh-CN" b="0" dirty="0">
              <a:solidFill>
                <a:schemeClr val="tx1"/>
              </a:solidFill>
            </a:endParaRPr>
          </a:p>
          <a:p>
            <a:pPr eaLnBrk="1" hangingPunct="1">
              <a:lnSpc>
                <a:spcPct val="150000"/>
              </a:lnSpc>
              <a:spcBef>
                <a:spcPct val="0"/>
              </a:spcBef>
              <a:buClrTx/>
            </a:pPr>
            <a:r>
              <a:rPr kumimoji="1" lang="zh-CN" altLang="en-US" b="0" dirty="0">
                <a:solidFill>
                  <a:schemeClr val="tx1"/>
                </a:solidFill>
              </a:rPr>
              <a:t>有多种类型。</a:t>
            </a:r>
            <a:endParaRPr kumimoji="1" lang="en-US" altLang="zh-CN" b="0" dirty="0">
              <a:solidFill>
                <a:schemeClr val="tx1"/>
              </a:solidFill>
            </a:endParaRPr>
          </a:p>
        </p:txBody>
      </p:sp>
      <p:pic>
        <p:nvPicPr>
          <p:cNvPr id="247812" name="图片 1">
            <a:extLst>
              <a:ext uri="{FF2B5EF4-FFF2-40B4-BE49-F238E27FC236}">
                <a16:creationId xmlns:a16="http://schemas.microsoft.com/office/drawing/2014/main" id="{37EDB710-D0D3-47ED-B55D-557E47A9694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03377" y="338459"/>
            <a:ext cx="3570287" cy="266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7813" name="图片 2">
            <a:extLst>
              <a:ext uri="{FF2B5EF4-FFF2-40B4-BE49-F238E27FC236}">
                <a16:creationId xmlns:a16="http://schemas.microsoft.com/office/drawing/2014/main" id="{BE1BCAFE-3984-4600-B14B-183D413BC12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487488" y="3068960"/>
            <a:ext cx="3803650"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51906" name="Picture 2" descr="Ch4F5b">
            <a:extLst>
              <a:ext uri="{FF2B5EF4-FFF2-40B4-BE49-F238E27FC236}">
                <a16:creationId xmlns:a16="http://schemas.microsoft.com/office/drawing/2014/main" id="{4CFBCEA9-3E1E-4150-9BBE-A63AFCA0A396}"/>
              </a:ext>
            </a:extLst>
          </p:cNvPr>
          <p:cNvPicPr>
            <a:picLocks noChangeAspect="1" noChangeArrowheads="1"/>
          </p:cNvPicPr>
          <p:nvPr/>
        </p:nvPicPr>
        <p:blipFill>
          <a:blip r:embed="rId3">
            <a:lum bright="-6000" contrast="6000"/>
            <a:extLst>
              <a:ext uri="{28A0092B-C50C-407E-A947-70E740481C1C}">
                <a14:useLocalDpi xmlns:a14="http://schemas.microsoft.com/office/drawing/2010/main" val="0"/>
              </a:ext>
            </a:extLst>
          </a:blip>
          <a:srcRect/>
          <a:stretch>
            <a:fillRect/>
          </a:stretch>
        </p:blipFill>
        <p:spPr bwMode="auto">
          <a:xfrm>
            <a:off x="839416" y="209911"/>
            <a:ext cx="4567238" cy="526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1907" name="Text Box 3">
            <a:extLst>
              <a:ext uri="{FF2B5EF4-FFF2-40B4-BE49-F238E27FC236}">
                <a16:creationId xmlns:a16="http://schemas.microsoft.com/office/drawing/2014/main" id="{D13EED26-3D03-4C30-81AB-A7E94F37CEFF}"/>
              </a:ext>
            </a:extLst>
          </p:cNvPr>
          <p:cNvSpPr txBox="1">
            <a:spLocks noChangeArrowheads="1"/>
          </p:cNvSpPr>
          <p:nvPr/>
        </p:nvSpPr>
        <p:spPr bwMode="auto">
          <a:xfrm>
            <a:off x="1271464" y="5589240"/>
            <a:ext cx="44418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eaLnBrk="1" hangingPunct="1">
              <a:spcBef>
                <a:spcPct val="50000"/>
              </a:spcBef>
              <a:buClrTx/>
              <a:buFontTx/>
              <a:buNone/>
            </a:pPr>
            <a:r>
              <a:rPr lang="zh-CN" altLang="en-US" sz="2400" dirty="0">
                <a:solidFill>
                  <a:srgbClr val="006600"/>
                </a:solidFill>
                <a:ea typeface="宋体" panose="02010600030101010101" pitchFamily="2" charset="-122"/>
              </a:rPr>
              <a:t>转录因子 </a:t>
            </a:r>
            <a:r>
              <a:rPr lang="en-US" altLang="zh-CN" sz="2400" dirty="0">
                <a:solidFill>
                  <a:srgbClr val="006600"/>
                </a:solidFill>
                <a:ea typeface="宋体" panose="02010600030101010101" pitchFamily="2" charset="-122"/>
              </a:rPr>
              <a:t>AP-1</a:t>
            </a:r>
            <a:r>
              <a:rPr lang="zh-CN" altLang="en-US" sz="2400" dirty="0">
                <a:solidFill>
                  <a:srgbClr val="006600"/>
                </a:solidFill>
                <a:ea typeface="宋体" panose="02010600030101010101" pitchFamily="2" charset="-122"/>
              </a:rPr>
              <a:t>与</a:t>
            </a:r>
            <a:r>
              <a:rPr lang="en-US" altLang="zh-CN" sz="2400" dirty="0">
                <a:solidFill>
                  <a:srgbClr val="006600"/>
                </a:solidFill>
                <a:ea typeface="宋体" panose="02010600030101010101" pitchFamily="2" charset="-122"/>
              </a:rPr>
              <a:t>DNA</a:t>
            </a:r>
            <a:r>
              <a:rPr lang="zh-CN" altLang="en-US" sz="2400" dirty="0">
                <a:solidFill>
                  <a:srgbClr val="006600"/>
                </a:solidFill>
                <a:ea typeface="宋体" panose="02010600030101010101" pitchFamily="2" charset="-122"/>
              </a:rPr>
              <a:t>结合 </a:t>
            </a:r>
            <a:r>
              <a:rPr lang="zh-CN" altLang="en-US" sz="2400" dirty="0">
                <a:solidFill>
                  <a:srgbClr val="006600"/>
                </a:solidFill>
                <a:latin typeface="Arial" panose="020B0604020202020204" pitchFamily="34" charset="0"/>
                <a:ea typeface="宋体" panose="02010600030101010101" pitchFamily="2" charset="-122"/>
              </a:rPr>
              <a:t> </a:t>
            </a:r>
            <a:endParaRPr lang="zh-CN" altLang="en-US" sz="2400" dirty="0">
              <a:solidFill>
                <a:srgbClr val="006600"/>
              </a:solidFill>
              <a:ea typeface="宋体" panose="02010600030101010101" pitchFamily="2" charset="-122"/>
            </a:endParaRPr>
          </a:p>
        </p:txBody>
      </p:sp>
      <p:sp>
        <p:nvSpPr>
          <p:cNvPr id="251908" name="矩形 2">
            <a:extLst>
              <a:ext uri="{FF2B5EF4-FFF2-40B4-BE49-F238E27FC236}">
                <a16:creationId xmlns:a16="http://schemas.microsoft.com/office/drawing/2014/main" id="{8DA02F7A-327D-4471-81DB-38EB7E0EF43C}"/>
              </a:ext>
            </a:extLst>
          </p:cNvPr>
          <p:cNvSpPr>
            <a:spLocks noChangeArrowheads="1"/>
          </p:cNvSpPr>
          <p:nvPr/>
        </p:nvSpPr>
        <p:spPr bwMode="auto">
          <a:xfrm>
            <a:off x="6096000" y="1916833"/>
            <a:ext cx="4500562" cy="34528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nSpc>
                <a:spcPct val="130000"/>
              </a:lnSpc>
              <a:spcBef>
                <a:spcPct val="0"/>
              </a:spcBef>
              <a:buClrTx/>
              <a:buFont typeface="Arial" panose="020B0604020202020204" pitchFamily="34" charset="0"/>
              <a:buChar char="•"/>
            </a:pPr>
            <a:r>
              <a:rPr lang="zh-CN" altLang="en-US" dirty="0">
                <a:solidFill>
                  <a:schemeClr val="tx1"/>
                </a:solidFill>
                <a:latin typeface="Arial" panose="020B0604020202020204" pitchFamily="34" charset="0"/>
                <a:ea typeface="宋体" panose="02010600030101010101" pitchFamily="2" charset="-122"/>
              </a:rPr>
              <a:t>肽链上每隔</a:t>
            </a:r>
            <a:r>
              <a:rPr lang="en-US" altLang="zh-CN" dirty="0">
                <a:solidFill>
                  <a:schemeClr val="tx1"/>
                </a:solidFill>
                <a:latin typeface="Arial" panose="020B0604020202020204" pitchFamily="34" charset="0"/>
                <a:ea typeface="宋体" panose="02010600030101010101" pitchFamily="2" charset="-122"/>
              </a:rPr>
              <a:t>6</a:t>
            </a:r>
            <a:r>
              <a:rPr lang="zh-CN" altLang="en-US" dirty="0">
                <a:solidFill>
                  <a:schemeClr val="tx1"/>
                </a:solidFill>
                <a:latin typeface="Arial" panose="020B0604020202020204" pitchFamily="34" charset="0"/>
                <a:ea typeface="宋体" panose="02010600030101010101" pitchFamily="2" charset="-122"/>
              </a:rPr>
              <a:t>个氨基酸就有一个</a:t>
            </a:r>
            <a:r>
              <a:rPr lang="en-US" altLang="zh-CN" dirty="0">
                <a:solidFill>
                  <a:schemeClr val="tx1"/>
                </a:solidFill>
                <a:latin typeface="Arial" panose="020B0604020202020204" pitchFamily="34" charset="0"/>
                <a:ea typeface="宋体" panose="02010600030101010101" pitchFamily="2" charset="-122"/>
              </a:rPr>
              <a:t>Leu</a:t>
            </a:r>
            <a:r>
              <a:rPr lang="zh-CN" altLang="en-US" dirty="0">
                <a:solidFill>
                  <a:schemeClr val="tx1"/>
                </a:solidFill>
                <a:latin typeface="Arial" panose="020B0604020202020204" pitchFamily="34" charset="0"/>
                <a:ea typeface="宋体" panose="02010600030101010101" pitchFamily="2" charset="-122"/>
              </a:rPr>
              <a:t>，且位于“拉链”内侧，彼此对应。</a:t>
            </a:r>
            <a:endParaRPr lang="en-US" altLang="zh-CN" dirty="0">
              <a:solidFill>
                <a:schemeClr val="tx1"/>
              </a:solidFill>
              <a:latin typeface="Arial" panose="020B0604020202020204" pitchFamily="34" charset="0"/>
              <a:ea typeface="宋体" panose="02010600030101010101" pitchFamily="2" charset="-122"/>
            </a:endParaRPr>
          </a:p>
          <a:p>
            <a:pPr>
              <a:lnSpc>
                <a:spcPct val="130000"/>
              </a:lnSpc>
              <a:spcBef>
                <a:spcPct val="0"/>
              </a:spcBef>
              <a:buClrTx/>
              <a:buFont typeface="Arial" panose="020B0604020202020204" pitchFamily="34" charset="0"/>
              <a:buChar char="•"/>
            </a:pPr>
            <a:endParaRPr lang="zh-CN" altLang="en-US" dirty="0">
              <a:solidFill>
                <a:schemeClr val="tx1"/>
              </a:solidFill>
              <a:latin typeface="Arial" panose="020B0604020202020204" pitchFamily="34" charset="0"/>
              <a:ea typeface="宋体" panose="02010600030101010101" pitchFamily="2" charset="-122"/>
            </a:endParaRPr>
          </a:p>
          <a:p>
            <a:pPr>
              <a:lnSpc>
                <a:spcPct val="130000"/>
              </a:lnSpc>
              <a:spcBef>
                <a:spcPct val="0"/>
              </a:spcBef>
              <a:buClrTx/>
              <a:buFont typeface="Arial" panose="020B0604020202020204" pitchFamily="34" charset="0"/>
              <a:buChar char="•"/>
            </a:pPr>
            <a:r>
              <a:rPr lang="zh-CN" altLang="en-US" dirty="0">
                <a:solidFill>
                  <a:schemeClr val="tx1"/>
                </a:solidFill>
                <a:latin typeface="Arial" panose="020B0604020202020204" pitchFamily="34" charset="0"/>
                <a:ea typeface="宋体" panose="02010600030101010101" pitchFamily="2" charset="-122"/>
              </a:rPr>
              <a:t>两排</a:t>
            </a:r>
            <a:r>
              <a:rPr lang="en-US" altLang="zh-CN" dirty="0">
                <a:solidFill>
                  <a:schemeClr val="tx1"/>
                </a:solidFill>
                <a:latin typeface="Arial" panose="020B0604020202020204" pitchFamily="34" charset="0"/>
                <a:ea typeface="宋体" panose="02010600030101010101" pitchFamily="2" charset="-122"/>
              </a:rPr>
              <a:t>Leu</a:t>
            </a:r>
            <a:r>
              <a:rPr lang="zh-CN" altLang="en-US" dirty="0">
                <a:solidFill>
                  <a:schemeClr val="tx1"/>
                </a:solidFill>
                <a:latin typeface="Arial" panose="020B0604020202020204" pitchFamily="34" charset="0"/>
                <a:ea typeface="宋体" panose="02010600030101010101" pitchFamily="2" charset="-122"/>
              </a:rPr>
              <a:t>形成疏水键，促进二聚体的生成</a:t>
            </a:r>
          </a:p>
        </p:txBody>
      </p:sp>
      <p:sp>
        <p:nvSpPr>
          <p:cNvPr id="251909" name="矩形 3">
            <a:extLst>
              <a:ext uri="{FF2B5EF4-FFF2-40B4-BE49-F238E27FC236}">
                <a16:creationId xmlns:a16="http://schemas.microsoft.com/office/drawing/2014/main" id="{19815C9C-9228-4F17-9E3C-5DF9CC0E6B37}"/>
              </a:ext>
            </a:extLst>
          </p:cNvPr>
          <p:cNvSpPr>
            <a:spLocks noChangeArrowheads="1"/>
          </p:cNvSpPr>
          <p:nvPr/>
        </p:nvSpPr>
        <p:spPr bwMode="auto">
          <a:xfrm>
            <a:off x="6619840" y="590187"/>
            <a:ext cx="2492991"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ctr">
              <a:spcBef>
                <a:spcPct val="0"/>
              </a:spcBef>
              <a:buClrTx/>
              <a:buFontTx/>
              <a:buNone/>
            </a:pPr>
            <a:r>
              <a:rPr lang="zh-CN" altLang="en-US" sz="3200" dirty="0">
                <a:solidFill>
                  <a:srgbClr val="C00000"/>
                </a:solidFill>
                <a:latin typeface="+mn-ea"/>
                <a:ea typeface="+mn-ea"/>
              </a:rPr>
              <a:t>亮氨酸拉链</a:t>
            </a:r>
            <a:endParaRPr lang="en-US" altLang="zh-CN" sz="3200" dirty="0">
              <a:solidFill>
                <a:srgbClr val="C00000"/>
              </a:solidFill>
              <a:latin typeface="+mn-ea"/>
              <a:ea typeface="+mn-ea"/>
            </a:endParaRPr>
          </a:p>
          <a:p>
            <a:pPr algn="ctr">
              <a:spcBef>
                <a:spcPct val="0"/>
              </a:spcBef>
              <a:buClrTx/>
              <a:buFontTx/>
              <a:buNone/>
            </a:pPr>
            <a:r>
              <a:rPr lang="en-US" altLang="zh-CN" sz="2400" b="0" dirty="0">
                <a:solidFill>
                  <a:srgbClr val="C00000"/>
                </a:solidFill>
                <a:latin typeface="+mn-ea"/>
                <a:ea typeface="+mn-ea"/>
              </a:rPr>
              <a:t>leucine zipper </a:t>
            </a:r>
            <a:endParaRPr lang="zh-CN" altLang="en-US" sz="2400" b="0" dirty="0">
              <a:solidFill>
                <a:srgbClr val="C00000"/>
              </a:solidFill>
              <a:latin typeface="+mn-ea"/>
              <a:ea typeface="+mn-ea"/>
            </a:endParaRPr>
          </a:p>
        </p:txBody>
      </p:sp>
    </p:spTree>
  </p:cSld>
  <p:clrMapOvr>
    <a:masterClrMapping/>
  </p:clrMapOvr>
  <p:transition spd="slow">
    <p:circl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标题 1">
            <a:extLst>
              <a:ext uri="{FF2B5EF4-FFF2-40B4-BE49-F238E27FC236}">
                <a16:creationId xmlns:a16="http://schemas.microsoft.com/office/drawing/2014/main" id="{B243CD6A-0AE2-4C11-BA83-FC4911D2CF58}"/>
              </a:ext>
            </a:extLst>
          </p:cNvPr>
          <p:cNvSpPr>
            <a:spLocks noGrp="1" noChangeArrowheads="1"/>
          </p:cNvSpPr>
          <p:nvPr>
            <p:ph type="title" idx="4294967295"/>
          </p:nvPr>
        </p:nvSpPr>
        <p:spPr>
          <a:xfrm>
            <a:off x="5447928" y="404664"/>
            <a:ext cx="5184576" cy="1440160"/>
          </a:xfrm>
        </p:spPr>
        <p:txBody>
          <a:bodyPr/>
          <a:lstStyle/>
          <a:p>
            <a:pPr algn="ctr"/>
            <a:r>
              <a:rPr lang="zh-CN" altLang="en-US" dirty="0">
                <a:solidFill>
                  <a:srgbClr val="C00000"/>
                </a:solidFill>
              </a:rPr>
              <a:t>结合</a:t>
            </a:r>
            <a:r>
              <a:rPr lang="en-US" altLang="zh-CN" dirty="0">
                <a:solidFill>
                  <a:srgbClr val="C00000"/>
                </a:solidFill>
              </a:rPr>
              <a:t>Ca</a:t>
            </a:r>
            <a:r>
              <a:rPr lang="en-US" altLang="zh-CN" baseline="30000" dirty="0">
                <a:solidFill>
                  <a:srgbClr val="C00000"/>
                </a:solidFill>
              </a:rPr>
              <a:t>2+</a:t>
            </a:r>
            <a:r>
              <a:rPr lang="zh-CN" altLang="en-US" dirty="0">
                <a:solidFill>
                  <a:srgbClr val="C00000"/>
                </a:solidFill>
              </a:rPr>
              <a:t>的</a:t>
            </a:r>
            <a:r>
              <a:rPr lang="en-US" altLang="zh-CN" dirty="0">
                <a:solidFill>
                  <a:srgbClr val="C00000"/>
                </a:solidFill>
              </a:rPr>
              <a:t>EF</a:t>
            </a:r>
            <a:r>
              <a:rPr lang="zh-CN" altLang="en-US" dirty="0">
                <a:solidFill>
                  <a:srgbClr val="C00000"/>
                </a:solidFill>
              </a:rPr>
              <a:t>手单元</a:t>
            </a:r>
            <a:br>
              <a:rPr lang="en-US" altLang="zh-CN" dirty="0">
                <a:solidFill>
                  <a:srgbClr val="C00000"/>
                </a:solidFill>
              </a:rPr>
            </a:br>
            <a:r>
              <a:rPr lang="en-US" altLang="zh-CN" dirty="0">
                <a:solidFill>
                  <a:srgbClr val="C00000"/>
                </a:solidFill>
              </a:rPr>
              <a:t>EF-hand motif</a:t>
            </a:r>
            <a:endParaRPr lang="zh-CN" altLang="en-US" dirty="0">
              <a:solidFill>
                <a:srgbClr val="C00000"/>
              </a:solidFill>
            </a:endParaRPr>
          </a:p>
        </p:txBody>
      </p:sp>
      <p:pic>
        <p:nvPicPr>
          <p:cNvPr id="249859" name="内容占位符 9">
            <a:extLst>
              <a:ext uri="{FF2B5EF4-FFF2-40B4-BE49-F238E27FC236}">
                <a16:creationId xmlns:a16="http://schemas.microsoft.com/office/drawing/2014/main" id="{B2882BDF-227C-4985-A35C-4DB33396FA29}"/>
              </a:ext>
            </a:extLst>
          </p:cNvPr>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l="1695" t="1765" r="2058" b="-183"/>
          <a:stretch>
            <a:fillRect/>
          </a:stretch>
        </p:blipFill>
        <p:spPr>
          <a:xfrm>
            <a:off x="1127448" y="1647031"/>
            <a:ext cx="3707475" cy="3563937"/>
          </a:xfrm>
        </p:spPr>
      </p:pic>
      <p:sp>
        <p:nvSpPr>
          <p:cNvPr id="249860" name="内容占位符 3">
            <a:extLst>
              <a:ext uri="{FF2B5EF4-FFF2-40B4-BE49-F238E27FC236}">
                <a16:creationId xmlns:a16="http://schemas.microsoft.com/office/drawing/2014/main" id="{CD74C136-77E4-45CA-9CB0-74E7A01EF65D}"/>
              </a:ext>
            </a:extLst>
          </p:cNvPr>
          <p:cNvSpPr>
            <a:spLocks noGrp="1" noChangeArrowheads="1"/>
          </p:cNvSpPr>
          <p:nvPr>
            <p:ph sz="half" idx="4294967295"/>
          </p:nvPr>
        </p:nvSpPr>
        <p:spPr>
          <a:xfrm>
            <a:off x="5447928" y="2420888"/>
            <a:ext cx="6048672" cy="3419460"/>
          </a:xfrm>
        </p:spPr>
        <p:txBody>
          <a:bodyPr/>
          <a:lstStyle/>
          <a:p>
            <a:pPr marL="323850" indent="-323850">
              <a:lnSpc>
                <a:spcPct val="130000"/>
              </a:lnSpc>
              <a:spcBef>
                <a:spcPct val="0"/>
              </a:spcBef>
            </a:pPr>
            <a:r>
              <a:rPr lang="en-US" altLang="zh-CN" b="0" dirty="0">
                <a:solidFill>
                  <a:srgbClr val="FF0000"/>
                </a:solidFill>
              </a:rPr>
              <a:t>EF </a:t>
            </a:r>
            <a:r>
              <a:rPr lang="zh-CN" altLang="en-US" b="0" dirty="0">
                <a:solidFill>
                  <a:srgbClr val="FF0000"/>
                </a:solidFill>
              </a:rPr>
              <a:t>手单元</a:t>
            </a:r>
            <a:r>
              <a:rPr lang="zh-CN" altLang="en-US" b="0" dirty="0"/>
              <a:t>见于许多</a:t>
            </a:r>
            <a:r>
              <a:rPr lang="en-US" altLang="zh-CN" b="0" dirty="0"/>
              <a:t>Ca</a:t>
            </a:r>
            <a:r>
              <a:rPr lang="en-US" altLang="zh-CN" b="0" baseline="30000" dirty="0"/>
              <a:t>2+</a:t>
            </a:r>
            <a:r>
              <a:rPr lang="zh-CN" altLang="en-US" b="0" dirty="0"/>
              <a:t>结合蛋白，是最常见的结合</a:t>
            </a:r>
            <a:r>
              <a:rPr lang="en-US" altLang="zh-CN" b="0" dirty="0"/>
              <a:t>Ca</a:t>
            </a:r>
            <a:r>
              <a:rPr lang="en-US" altLang="zh-CN" b="0" baseline="30000" dirty="0"/>
              <a:t>2+</a:t>
            </a:r>
            <a:r>
              <a:rPr lang="zh-CN" altLang="en-US" b="0" dirty="0"/>
              <a:t>的结构，由</a:t>
            </a:r>
            <a:r>
              <a:rPr lang="en-US" altLang="zh-CN" b="0" dirty="0"/>
              <a:t>29</a:t>
            </a:r>
            <a:r>
              <a:rPr lang="zh-CN" altLang="en-US" b="0" dirty="0"/>
              <a:t>个氨基酸组成</a:t>
            </a:r>
            <a:r>
              <a:rPr lang="zh-CN" altLang="en-US" b="0" dirty="0">
                <a:solidFill>
                  <a:srgbClr val="FF0000"/>
                </a:solidFill>
              </a:rPr>
              <a:t>螺旋</a:t>
            </a:r>
            <a:r>
              <a:rPr lang="en-US" altLang="zh-CN" b="0" dirty="0">
                <a:solidFill>
                  <a:srgbClr val="FF0000"/>
                </a:solidFill>
              </a:rPr>
              <a:t>- </a:t>
            </a:r>
            <a:r>
              <a:rPr lang="zh-CN" altLang="en-US" b="0" dirty="0">
                <a:solidFill>
                  <a:srgbClr val="FF0000"/>
                </a:solidFill>
              </a:rPr>
              <a:t>环</a:t>
            </a:r>
            <a:r>
              <a:rPr lang="en-US" altLang="zh-CN" b="0" dirty="0">
                <a:solidFill>
                  <a:srgbClr val="FF0000"/>
                </a:solidFill>
              </a:rPr>
              <a:t>-</a:t>
            </a:r>
            <a:r>
              <a:rPr lang="zh-CN" altLang="en-US" b="0" dirty="0">
                <a:solidFill>
                  <a:srgbClr val="FF0000"/>
                </a:solidFill>
              </a:rPr>
              <a:t>螺旋</a:t>
            </a:r>
            <a:r>
              <a:rPr lang="en-US" altLang="zh-CN" b="0" dirty="0">
                <a:solidFill>
                  <a:srgbClr val="FF0000"/>
                </a:solidFill>
              </a:rPr>
              <a:t>(helix-loop-helix)</a:t>
            </a:r>
            <a:r>
              <a:rPr lang="zh-CN" altLang="en-US" b="0" dirty="0"/>
              <a:t>模体</a:t>
            </a:r>
            <a:r>
              <a:rPr lang="en-US" altLang="zh-CN" b="0" dirty="0"/>
              <a:t>, </a:t>
            </a:r>
            <a:r>
              <a:rPr lang="zh-CN" altLang="en-US" b="0" dirty="0"/>
              <a:t>中心的环（</a:t>
            </a:r>
            <a:r>
              <a:rPr lang="en-US" altLang="zh-CN" b="0" dirty="0"/>
              <a:t>loop)</a:t>
            </a:r>
            <a:r>
              <a:rPr lang="zh-CN" altLang="en-US" b="0" dirty="0"/>
              <a:t>通常含</a:t>
            </a:r>
            <a:r>
              <a:rPr lang="en-US" altLang="zh-CN" b="0" dirty="0"/>
              <a:t>12</a:t>
            </a:r>
            <a:r>
              <a:rPr lang="zh-CN" altLang="en-US" b="0" dirty="0"/>
              <a:t>个氨基酸残基。</a:t>
            </a:r>
            <a:endParaRPr lang="en-US" altLang="zh-CN" b="0" dirty="0"/>
          </a:p>
          <a:p>
            <a:pPr marL="323850" indent="-323850">
              <a:lnSpc>
                <a:spcPct val="130000"/>
              </a:lnSpc>
              <a:spcBef>
                <a:spcPct val="0"/>
              </a:spcBef>
            </a:pPr>
            <a:endParaRPr lang="zh-CN" altLang="en-US" b="0" dirty="0"/>
          </a:p>
        </p:txBody>
      </p:sp>
    </p:spTree>
  </p:cSld>
  <p:clrMapOvr>
    <a:masterClrMapping/>
  </p:clrMapOvr>
  <p:transition spd="slow">
    <p:circl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Text Box 2">
            <a:extLst>
              <a:ext uri="{FF2B5EF4-FFF2-40B4-BE49-F238E27FC236}">
                <a16:creationId xmlns:a16="http://schemas.microsoft.com/office/drawing/2014/main" id="{F744662C-5E8B-4E4C-9838-C9BEFE7B8244}"/>
              </a:ext>
            </a:extLst>
          </p:cNvPr>
          <p:cNvSpPr>
            <a:spLocks noGrp="1" noChangeArrowheads="1"/>
          </p:cNvSpPr>
          <p:nvPr>
            <p:ph type="title" idx="4294967295"/>
          </p:nvPr>
        </p:nvSpPr>
        <p:spPr>
          <a:xfrm>
            <a:off x="1774826" y="188913"/>
            <a:ext cx="8450263" cy="620712"/>
          </a:xfrm>
        </p:spPr>
        <p:txBody>
          <a:bodyPr anchor="b"/>
          <a:lstStyle/>
          <a:p>
            <a:pPr marL="2781300" indent="-2781300" eaLnBrk="1" hangingPunct="1">
              <a:lnSpc>
                <a:spcPct val="120000"/>
              </a:lnSpc>
            </a:pPr>
            <a:r>
              <a:rPr lang="zh-CN" altLang="en-US">
                <a:latin typeface="Times New Roman" panose="02020603050405020304" pitchFamily="18" charset="0"/>
              </a:rPr>
              <a:t>三、蛋白质的三级结构</a:t>
            </a:r>
            <a:r>
              <a:rPr lang="en-US" altLang="zh-CN">
                <a:latin typeface="Times New Roman" panose="02020603050405020304" pitchFamily="18" charset="0"/>
              </a:rPr>
              <a:t>(tertiary structure)</a:t>
            </a:r>
            <a:endParaRPr lang="zh-CN" altLang="en-US">
              <a:latin typeface="Times New Roman" panose="02020603050405020304" pitchFamily="18" charset="0"/>
            </a:endParaRPr>
          </a:p>
        </p:txBody>
      </p:sp>
      <p:sp>
        <p:nvSpPr>
          <p:cNvPr id="256003" name="Text Box 6">
            <a:extLst>
              <a:ext uri="{FF2B5EF4-FFF2-40B4-BE49-F238E27FC236}">
                <a16:creationId xmlns:a16="http://schemas.microsoft.com/office/drawing/2014/main" id="{6A5BABD4-2A9A-4688-BD88-B5C231EB20EF}"/>
              </a:ext>
            </a:extLst>
          </p:cNvPr>
          <p:cNvSpPr txBox="1">
            <a:spLocks noChangeArrowheads="1"/>
          </p:cNvSpPr>
          <p:nvPr/>
        </p:nvSpPr>
        <p:spPr bwMode="auto">
          <a:xfrm>
            <a:off x="2171762" y="2420888"/>
            <a:ext cx="8676765" cy="1872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indent="714375">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70000"/>
              </a:lnSpc>
              <a:spcBef>
                <a:spcPct val="0"/>
              </a:spcBef>
              <a:buClrTx/>
              <a:buFontTx/>
              <a:buNone/>
            </a:pPr>
            <a:r>
              <a:rPr kumimoji="1" lang="zh-CN" altLang="en-US" sz="3200" b="0" dirty="0">
                <a:solidFill>
                  <a:srgbClr val="C00000"/>
                </a:solidFill>
              </a:rPr>
              <a:t>整条肽链</a:t>
            </a:r>
            <a:r>
              <a:rPr kumimoji="1" lang="zh-CN" altLang="en-US" sz="3200" b="0" dirty="0">
                <a:solidFill>
                  <a:schemeClr val="tx1"/>
                </a:solidFill>
              </a:rPr>
              <a:t>中全部氨基酸残基的相对空间位置</a:t>
            </a:r>
            <a:r>
              <a:rPr kumimoji="1" lang="en-US" altLang="zh-CN" sz="3200" b="0" dirty="0">
                <a:solidFill>
                  <a:schemeClr val="tx1"/>
                </a:solidFill>
              </a:rPr>
              <a:t>,  </a:t>
            </a:r>
            <a:r>
              <a:rPr kumimoji="1" lang="zh-CN" altLang="en-US" sz="3200" b="0" dirty="0">
                <a:solidFill>
                  <a:schemeClr val="tx1"/>
                </a:solidFill>
              </a:rPr>
              <a:t>即整条肽链中</a:t>
            </a:r>
            <a:r>
              <a:rPr kumimoji="1" lang="zh-CN" altLang="en-US" sz="3200" b="0" dirty="0">
                <a:solidFill>
                  <a:srgbClr val="FF0000"/>
                </a:solidFill>
              </a:rPr>
              <a:t>所有原子</a:t>
            </a:r>
            <a:r>
              <a:rPr kumimoji="1" lang="zh-CN" altLang="en-US" sz="3200" b="0" dirty="0">
                <a:solidFill>
                  <a:schemeClr val="tx1"/>
                </a:solidFill>
              </a:rPr>
              <a:t>在三维空间的排布位置。</a:t>
            </a:r>
          </a:p>
        </p:txBody>
      </p:sp>
      <p:sp>
        <p:nvSpPr>
          <p:cNvPr id="256004" name="Rectangle 7">
            <a:extLst>
              <a:ext uri="{FF2B5EF4-FFF2-40B4-BE49-F238E27FC236}">
                <a16:creationId xmlns:a16="http://schemas.microsoft.com/office/drawing/2014/main" id="{FBA34C81-4A9C-43C5-82B6-FA518CC6B806}"/>
              </a:ext>
            </a:extLst>
          </p:cNvPr>
          <p:cNvSpPr>
            <a:spLocks noChangeArrowheads="1"/>
          </p:cNvSpPr>
          <p:nvPr/>
        </p:nvSpPr>
        <p:spPr bwMode="auto">
          <a:xfrm>
            <a:off x="2711624" y="1556792"/>
            <a:ext cx="24765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3200" dirty="0">
                <a:solidFill>
                  <a:srgbClr val="FF0000"/>
                </a:solidFill>
              </a:rPr>
              <a:t> 定义</a:t>
            </a:r>
            <a:r>
              <a:rPr kumimoji="1" lang="zh-CN" altLang="en-US" sz="3200" dirty="0">
                <a:solidFill>
                  <a:srgbClr val="993366"/>
                </a:solidFill>
              </a:rPr>
              <a:t>    </a:t>
            </a:r>
          </a:p>
        </p:txBody>
      </p:sp>
    </p:spTree>
  </p:cSld>
  <p:clrMapOvr>
    <a:masterClrMapping/>
  </p:clrMapOvr>
  <p:transition spd="slow">
    <p:circl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8050" name="Picture 7">
            <a:extLst>
              <a:ext uri="{FF2B5EF4-FFF2-40B4-BE49-F238E27FC236}">
                <a16:creationId xmlns:a16="http://schemas.microsoft.com/office/drawing/2014/main" id="{797D238D-F82F-40D9-B066-BF1318DB4C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676" r="3339"/>
          <a:stretch>
            <a:fillRect/>
          </a:stretch>
        </p:blipFill>
        <p:spPr bwMode="auto">
          <a:xfrm>
            <a:off x="1415480" y="1364457"/>
            <a:ext cx="3730626" cy="340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8051" name="AutoShape 3" descr="Z">
            <a:extLst>
              <a:ext uri="{FF2B5EF4-FFF2-40B4-BE49-F238E27FC236}">
                <a16:creationId xmlns:a16="http://schemas.microsoft.com/office/drawing/2014/main" id="{CA473749-654A-4207-85CB-49825E8A7068}"/>
              </a:ext>
            </a:extLst>
          </p:cNvPr>
          <p:cNvSpPr>
            <a:spLocks noChangeAspect="1" noChangeArrowheads="1"/>
          </p:cNvSpPr>
          <p:nvPr/>
        </p:nvSpPr>
        <p:spPr bwMode="auto">
          <a:xfrm>
            <a:off x="5438775" y="2487613"/>
            <a:ext cx="131445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sp>
        <p:nvSpPr>
          <p:cNvPr id="2" name="Text Box 6">
            <a:extLst>
              <a:ext uri="{FF2B5EF4-FFF2-40B4-BE49-F238E27FC236}">
                <a16:creationId xmlns:a16="http://schemas.microsoft.com/office/drawing/2014/main" id="{7C3F14B0-4FBC-4D16-A417-064A7D4586AC}"/>
              </a:ext>
            </a:extLst>
          </p:cNvPr>
          <p:cNvSpPr txBox="1">
            <a:spLocks noChangeArrowheads="1"/>
          </p:cNvSpPr>
          <p:nvPr/>
        </p:nvSpPr>
        <p:spPr bwMode="auto">
          <a:xfrm>
            <a:off x="5663952" y="1450817"/>
            <a:ext cx="5330825" cy="4302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30000"/>
              </a:lnSpc>
              <a:spcBef>
                <a:spcPct val="50000"/>
              </a:spcBef>
              <a:buClrTx/>
              <a:buFont typeface="Wingdings" panose="05000000000000000000" pitchFamily="2" charset="2"/>
              <a:buNone/>
            </a:pPr>
            <a:r>
              <a:rPr kumimoji="1" lang="en-US" altLang="zh-CN" sz="3200" b="0" dirty="0">
                <a:solidFill>
                  <a:srgbClr val="0000CC"/>
                </a:solidFill>
              </a:rPr>
              <a:t>Myoglobin, Mb</a:t>
            </a:r>
          </a:p>
          <a:p>
            <a:pPr eaLnBrk="1" hangingPunct="1">
              <a:lnSpc>
                <a:spcPct val="130000"/>
              </a:lnSpc>
              <a:spcBef>
                <a:spcPct val="50000"/>
              </a:spcBef>
              <a:buClrTx/>
              <a:buFont typeface="Wingdings" panose="05000000000000000000" pitchFamily="2" charset="2"/>
              <a:buNone/>
            </a:pPr>
            <a:r>
              <a:rPr kumimoji="1" lang="zh-CN" altLang="en-US" b="0" dirty="0">
                <a:solidFill>
                  <a:srgbClr val="0000CC"/>
                </a:solidFill>
              </a:rPr>
              <a:t>组成</a:t>
            </a:r>
            <a:r>
              <a:rPr kumimoji="1" lang="zh-CN" altLang="en-US" b="0" dirty="0">
                <a:solidFill>
                  <a:srgbClr val="0000CC"/>
                </a:solidFill>
                <a:latin typeface="Arial" panose="020B0604020202020204" pitchFamily="34" charset="0"/>
                <a:ea typeface="宋体" panose="02010600030101010101" pitchFamily="2" charset="-122"/>
              </a:rPr>
              <a:t>：</a:t>
            </a:r>
            <a:r>
              <a:rPr kumimoji="1" lang="zh-CN" altLang="en-US" b="0" dirty="0">
                <a:solidFill>
                  <a:schemeClr val="tx1"/>
                </a:solidFill>
                <a:latin typeface="Arial" panose="020B0604020202020204" pitchFamily="34" charset="0"/>
                <a:ea typeface="宋体" panose="02010600030101010101" pitchFamily="2" charset="-122"/>
              </a:rPr>
              <a:t> </a:t>
            </a:r>
            <a:r>
              <a:rPr kumimoji="1" lang="en-US" altLang="zh-CN" b="0" dirty="0">
                <a:solidFill>
                  <a:schemeClr val="tx1"/>
                </a:solidFill>
              </a:rPr>
              <a:t>153aa</a:t>
            </a:r>
            <a:r>
              <a:rPr kumimoji="1" lang="zh-CN" altLang="en-US" b="0" dirty="0">
                <a:solidFill>
                  <a:schemeClr val="tx1"/>
                </a:solidFill>
              </a:rPr>
              <a:t>的单肽链＋血红素</a:t>
            </a:r>
            <a:endParaRPr kumimoji="1" lang="en-US" altLang="zh-CN" b="0" dirty="0">
              <a:solidFill>
                <a:schemeClr val="tx1"/>
              </a:solidFill>
            </a:endParaRPr>
          </a:p>
          <a:p>
            <a:pPr eaLnBrk="1" hangingPunct="1">
              <a:spcBef>
                <a:spcPct val="50000"/>
              </a:spcBef>
              <a:buClrTx/>
              <a:buFont typeface="Wingdings" panose="05000000000000000000" pitchFamily="2" charset="2"/>
              <a:buNone/>
            </a:pPr>
            <a:r>
              <a:rPr kumimoji="1" lang="zh-CN" altLang="en-US" b="0" dirty="0">
                <a:solidFill>
                  <a:srgbClr val="0000CC"/>
                </a:solidFill>
              </a:rPr>
              <a:t>结构：</a:t>
            </a:r>
            <a:r>
              <a:rPr kumimoji="1" lang="en-US" altLang="zh-CN" b="0" dirty="0">
                <a:solidFill>
                  <a:srgbClr val="C00000"/>
                </a:solidFill>
              </a:rPr>
              <a:t>8</a:t>
            </a:r>
            <a:r>
              <a:rPr kumimoji="1" lang="zh-CN" altLang="en-US" b="0" dirty="0">
                <a:solidFill>
                  <a:srgbClr val="C00000"/>
                </a:solidFill>
              </a:rPr>
              <a:t>个</a:t>
            </a:r>
            <a:r>
              <a:rPr kumimoji="1" lang="en-US" altLang="zh-CN" b="0" dirty="0">
                <a:solidFill>
                  <a:srgbClr val="C00000"/>
                </a:solidFill>
              </a:rPr>
              <a:t>α-</a:t>
            </a:r>
            <a:r>
              <a:rPr kumimoji="1" lang="zh-CN" altLang="en-US" b="0" dirty="0">
                <a:solidFill>
                  <a:srgbClr val="C00000"/>
                </a:solidFill>
              </a:rPr>
              <a:t>螺旋区</a:t>
            </a:r>
            <a:r>
              <a:rPr kumimoji="1" lang="zh-CN" altLang="en-US" b="0" dirty="0">
                <a:solidFill>
                  <a:schemeClr val="tx1"/>
                </a:solidFill>
              </a:rPr>
              <a:t>，编号为</a:t>
            </a:r>
            <a:r>
              <a:rPr kumimoji="1" lang="en-US" altLang="zh-CN" b="0" dirty="0">
                <a:solidFill>
                  <a:schemeClr val="tx1"/>
                </a:solidFill>
              </a:rPr>
              <a:t>A</a:t>
            </a:r>
            <a:r>
              <a:rPr kumimoji="1" lang="zh-CN" altLang="en-US" b="0" dirty="0">
                <a:solidFill>
                  <a:schemeClr val="tx1"/>
                </a:solidFill>
              </a:rPr>
              <a:t>、</a:t>
            </a:r>
            <a:r>
              <a:rPr kumimoji="1" lang="en-US" altLang="zh-CN" b="0" dirty="0">
                <a:solidFill>
                  <a:schemeClr val="tx1"/>
                </a:solidFill>
              </a:rPr>
              <a:t>B</a:t>
            </a:r>
            <a:r>
              <a:rPr kumimoji="1" lang="zh-CN" altLang="en-US" b="0" dirty="0">
                <a:solidFill>
                  <a:schemeClr val="tx1"/>
                </a:solidFill>
              </a:rPr>
              <a:t>、</a:t>
            </a:r>
            <a:r>
              <a:rPr kumimoji="1" lang="en-US" altLang="zh-CN" b="0" dirty="0">
                <a:solidFill>
                  <a:schemeClr val="tx1"/>
                </a:solidFill>
              </a:rPr>
              <a:t>C</a:t>
            </a:r>
            <a:r>
              <a:rPr kumimoji="1" lang="zh-CN" altLang="en-US" b="0" dirty="0">
                <a:solidFill>
                  <a:schemeClr val="tx1"/>
                </a:solidFill>
              </a:rPr>
              <a:t>、</a:t>
            </a:r>
            <a:r>
              <a:rPr kumimoji="1" lang="en-US" altLang="zh-CN" b="0" dirty="0">
                <a:solidFill>
                  <a:schemeClr val="tx1"/>
                </a:solidFill>
              </a:rPr>
              <a:t>D</a:t>
            </a:r>
            <a:r>
              <a:rPr kumimoji="1" lang="zh-CN" altLang="en-US" b="0" dirty="0">
                <a:solidFill>
                  <a:schemeClr val="tx1"/>
                </a:solidFill>
              </a:rPr>
              <a:t>、</a:t>
            </a:r>
            <a:r>
              <a:rPr kumimoji="1" lang="en-US" altLang="zh-CN" b="0" dirty="0">
                <a:solidFill>
                  <a:schemeClr val="tx1"/>
                </a:solidFill>
              </a:rPr>
              <a:t>E</a:t>
            </a:r>
            <a:r>
              <a:rPr kumimoji="1" lang="zh-CN" altLang="en-US" b="0" dirty="0">
                <a:solidFill>
                  <a:schemeClr val="tx1"/>
                </a:solidFill>
              </a:rPr>
              <a:t>、</a:t>
            </a:r>
            <a:r>
              <a:rPr kumimoji="1" lang="en-US" altLang="zh-CN" b="0" dirty="0">
                <a:solidFill>
                  <a:schemeClr val="tx1"/>
                </a:solidFill>
              </a:rPr>
              <a:t>F</a:t>
            </a:r>
            <a:r>
              <a:rPr kumimoji="1" lang="zh-CN" altLang="en-US" b="0" dirty="0">
                <a:solidFill>
                  <a:schemeClr val="tx1"/>
                </a:solidFill>
              </a:rPr>
              <a:t>、</a:t>
            </a:r>
            <a:r>
              <a:rPr kumimoji="1" lang="en-US" altLang="zh-CN" b="0" dirty="0">
                <a:solidFill>
                  <a:schemeClr val="tx1"/>
                </a:solidFill>
              </a:rPr>
              <a:t>G</a:t>
            </a:r>
            <a:r>
              <a:rPr kumimoji="1" lang="zh-CN" altLang="en-US" b="0" dirty="0">
                <a:solidFill>
                  <a:schemeClr val="tx1"/>
                </a:solidFill>
              </a:rPr>
              <a:t>、</a:t>
            </a:r>
            <a:r>
              <a:rPr kumimoji="1" lang="en-US" altLang="zh-CN" b="0" dirty="0">
                <a:solidFill>
                  <a:schemeClr val="tx1"/>
                </a:solidFill>
              </a:rPr>
              <a:t>H</a:t>
            </a:r>
            <a:r>
              <a:rPr kumimoji="1" lang="zh-CN" altLang="en-US" b="0" dirty="0">
                <a:solidFill>
                  <a:schemeClr val="tx1"/>
                </a:solidFill>
              </a:rPr>
              <a:t>。</a:t>
            </a:r>
            <a:endParaRPr kumimoji="1" lang="en-US" altLang="zh-CN" b="0" dirty="0">
              <a:solidFill>
                <a:schemeClr val="tx1"/>
              </a:solidFill>
            </a:endParaRPr>
          </a:p>
          <a:p>
            <a:pPr eaLnBrk="1" hangingPunct="1">
              <a:lnSpc>
                <a:spcPct val="120000"/>
              </a:lnSpc>
              <a:spcBef>
                <a:spcPct val="50000"/>
              </a:spcBef>
              <a:buClrTx/>
              <a:buFont typeface="Wingdings" panose="05000000000000000000" pitchFamily="2" charset="2"/>
              <a:buNone/>
            </a:pPr>
            <a:r>
              <a:rPr lang="zh-CN" altLang="en-US" b="0" dirty="0">
                <a:solidFill>
                  <a:schemeClr val="tx1"/>
                </a:solidFill>
              </a:rPr>
              <a:t>整条肽链缠绕成</a:t>
            </a:r>
            <a:r>
              <a:rPr lang="zh-CN" altLang="en-US" b="0" dirty="0">
                <a:solidFill>
                  <a:srgbClr val="C00000"/>
                </a:solidFill>
              </a:rPr>
              <a:t>紧密球形，水溶性好</a:t>
            </a:r>
            <a:r>
              <a:rPr lang="zh-CN" altLang="en-US" b="0" dirty="0">
                <a:solidFill>
                  <a:schemeClr val="tx1"/>
                </a:solidFill>
              </a:rPr>
              <a:t>。 分子表面形成一个深的疏水口袋，容纳一分子血红素。</a:t>
            </a:r>
            <a:endParaRPr lang="en-US" altLang="zh-CN" b="0" dirty="0">
              <a:solidFill>
                <a:schemeClr val="tx1"/>
              </a:solidFill>
            </a:endParaRPr>
          </a:p>
        </p:txBody>
      </p:sp>
      <p:sp>
        <p:nvSpPr>
          <p:cNvPr id="258053" name="Text Box 3">
            <a:extLst>
              <a:ext uri="{FF2B5EF4-FFF2-40B4-BE49-F238E27FC236}">
                <a16:creationId xmlns:a16="http://schemas.microsoft.com/office/drawing/2014/main" id="{25D9815F-EEE0-4935-AB45-4745176FB4BC}"/>
              </a:ext>
            </a:extLst>
          </p:cNvPr>
          <p:cNvSpPr txBox="1">
            <a:spLocks noChangeArrowheads="1"/>
          </p:cNvSpPr>
          <p:nvPr/>
        </p:nvSpPr>
        <p:spPr bwMode="auto">
          <a:xfrm>
            <a:off x="1981200" y="119063"/>
            <a:ext cx="83629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sz="3600">
                <a:solidFill>
                  <a:schemeClr val="bg1"/>
                </a:solidFill>
                <a:latin typeface="Arial" panose="020B0604020202020204" pitchFamily="34" charset="0"/>
              </a:rPr>
              <a:t>三维结构最早被解析的蛋白： 肌红蛋白</a:t>
            </a:r>
          </a:p>
        </p:txBody>
      </p:sp>
      <p:pic>
        <p:nvPicPr>
          <p:cNvPr id="258054" name="图片 2">
            <a:extLst>
              <a:ext uri="{FF2B5EF4-FFF2-40B4-BE49-F238E27FC236}">
                <a16:creationId xmlns:a16="http://schemas.microsoft.com/office/drawing/2014/main" id="{B0B5C216-FE1B-4BB4-B077-77739438F6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9243" y="5013176"/>
            <a:ext cx="19431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fade">
                                      <p:cBhvr>
                                        <p:cTn id="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0098" name="Text Box 3">
            <a:extLst>
              <a:ext uri="{FF2B5EF4-FFF2-40B4-BE49-F238E27FC236}">
                <a16:creationId xmlns:a16="http://schemas.microsoft.com/office/drawing/2014/main" id="{A6B67297-BC67-47D4-8C85-2FCB934240CA}"/>
              </a:ext>
            </a:extLst>
          </p:cNvPr>
          <p:cNvSpPr txBox="1">
            <a:spLocks noChangeArrowheads="1"/>
          </p:cNvSpPr>
          <p:nvPr/>
        </p:nvSpPr>
        <p:spPr bwMode="auto">
          <a:xfrm>
            <a:off x="2279650" y="115888"/>
            <a:ext cx="21605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50000"/>
              </a:spcBef>
              <a:buClrTx/>
              <a:buFontTx/>
              <a:buNone/>
            </a:pPr>
            <a:r>
              <a:rPr lang="zh-CN" altLang="en-US" sz="3600">
                <a:solidFill>
                  <a:schemeClr val="bg1"/>
                </a:solidFill>
                <a:latin typeface="Arial" panose="020B0604020202020204" pitchFamily="34" charset="0"/>
              </a:rPr>
              <a:t>肌红蛋白</a:t>
            </a:r>
          </a:p>
        </p:txBody>
      </p:sp>
      <p:sp>
        <p:nvSpPr>
          <p:cNvPr id="260099" name="Rectangle 6">
            <a:extLst>
              <a:ext uri="{FF2B5EF4-FFF2-40B4-BE49-F238E27FC236}">
                <a16:creationId xmlns:a16="http://schemas.microsoft.com/office/drawing/2014/main" id="{4C5D74BF-2D00-4C41-8A08-5986984E002A}"/>
              </a:ext>
            </a:extLst>
          </p:cNvPr>
          <p:cNvSpPr>
            <a:spLocks noChangeArrowheads="1"/>
          </p:cNvSpPr>
          <p:nvPr/>
        </p:nvSpPr>
        <p:spPr bwMode="auto">
          <a:xfrm>
            <a:off x="4224339" y="188914"/>
            <a:ext cx="37496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3200">
                <a:solidFill>
                  <a:srgbClr val="FFFF00"/>
                </a:solidFill>
                <a:latin typeface="Arial" panose="020B0604020202020204" pitchFamily="34" charset="0"/>
                <a:ea typeface="宋体" panose="02010600030101010101" pitchFamily="2" charset="-122"/>
              </a:rPr>
              <a:t>（</a:t>
            </a:r>
            <a:r>
              <a:rPr kumimoji="1" lang="en-US" altLang="zh-CN" sz="3200">
                <a:solidFill>
                  <a:srgbClr val="FFFF00"/>
                </a:solidFill>
                <a:latin typeface="Arial" panose="020B0604020202020204" pitchFamily="34" charset="0"/>
                <a:ea typeface="宋体" panose="02010600030101010101" pitchFamily="2" charset="-122"/>
              </a:rPr>
              <a:t>myoglobin,Mb</a:t>
            </a:r>
            <a:r>
              <a:rPr kumimoji="1" lang="zh-CN" altLang="en-US" sz="3200">
                <a:solidFill>
                  <a:srgbClr val="FFFF00"/>
                </a:solidFill>
                <a:latin typeface="Arial" panose="020B0604020202020204" pitchFamily="34" charset="0"/>
                <a:ea typeface="宋体" panose="02010600030101010101" pitchFamily="2" charset="-122"/>
              </a:rPr>
              <a:t>）</a:t>
            </a:r>
          </a:p>
        </p:txBody>
      </p:sp>
      <p:pic>
        <p:nvPicPr>
          <p:cNvPr id="260100" name="Picture 3" descr="dbzjiegou01">
            <a:extLst>
              <a:ext uri="{FF2B5EF4-FFF2-40B4-BE49-F238E27FC236}">
                <a16:creationId xmlns:a16="http://schemas.microsoft.com/office/drawing/2014/main" id="{6F9ADE26-1EFE-4058-9B7A-1AE78045B0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6571" t="19803" r="3638" b="23375"/>
          <a:stretch>
            <a:fillRect/>
          </a:stretch>
        </p:blipFill>
        <p:spPr bwMode="auto">
          <a:xfrm>
            <a:off x="1527175" y="908051"/>
            <a:ext cx="9144000" cy="488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内容占位符 2">
            <a:extLst>
              <a:ext uri="{FF2B5EF4-FFF2-40B4-BE49-F238E27FC236}">
                <a16:creationId xmlns:a16="http://schemas.microsoft.com/office/drawing/2014/main" id="{B30B5263-6CC9-4BBF-AC3B-E67B52EEBBA7}"/>
              </a:ext>
            </a:extLst>
          </p:cNvPr>
          <p:cNvSpPr>
            <a:spLocks noGrp="1"/>
          </p:cNvSpPr>
          <p:nvPr>
            <p:ph idx="1"/>
          </p:nvPr>
        </p:nvSpPr>
        <p:spPr>
          <a:xfrm>
            <a:off x="1981200" y="5732463"/>
            <a:ext cx="8229600" cy="1009650"/>
          </a:xfrm>
          <a:ln>
            <a:solidFill>
              <a:srgbClr val="1D7ACF"/>
            </a:solidFill>
            <a:miter lim="800000"/>
            <a:headEnd/>
            <a:tailEnd/>
          </a:ln>
        </p:spPr>
        <p:txBody>
          <a:bodyPr/>
          <a:lstStyle/>
          <a:p>
            <a:r>
              <a:rPr lang="zh-CN" altLang="en-US"/>
              <a:t>所有有功能的球状蛋白均具有三级结构，三级结构一旦破坏，生物学功能即丧失。</a:t>
            </a:r>
          </a:p>
          <a:p>
            <a:endParaRPr lang="zh-CN" altLang="en-US"/>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1026">
            <a:extLst>
              <a:ext uri="{FF2B5EF4-FFF2-40B4-BE49-F238E27FC236}">
                <a16:creationId xmlns:a16="http://schemas.microsoft.com/office/drawing/2014/main" id="{43760D93-EA5B-4BB4-84B0-702405302D1C}"/>
              </a:ext>
            </a:extLst>
          </p:cNvPr>
          <p:cNvSpPr>
            <a:spLocks noChangeArrowheads="1"/>
          </p:cNvSpPr>
          <p:nvPr/>
        </p:nvSpPr>
        <p:spPr bwMode="auto">
          <a:xfrm>
            <a:off x="2207568" y="980728"/>
            <a:ext cx="8064500" cy="3744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just" eaLnBrk="1" hangingPunct="1">
              <a:buSzPct val="110000"/>
              <a:buFont typeface="Wingdings" panose="05000000000000000000" pitchFamily="2" charset="2"/>
              <a:buNone/>
            </a:pPr>
            <a:endParaRPr kumimoji="1" lang="en-US" altLang="zh-CN" sz="2400" b="0" dirty="0">
              <a:solidFill>
                <a:schemeClr val="tx1"/>
              </a:solidFill>
            </a:endParaRPr>
          </a:p>
          <a:p>
            <a:pPr algn="just" eaLnBrk="1" hangingPunct="1">
              <a:buSzPct val="110000"/>
              <a:buFont typeface="Wingdings" panose="05000000000000000000" pitchFamily="2" charset="2"/>
              <a:buNone/>
            </a:pPr>
            <a:r>
              <a:rPr kumimoji="1" lang="en-US" altLang="zh-CN" sz="2400" b="0" dirty="0">
                <a:solidFill>
                  <a:schemeClr val="tx1"/>
                </a:solidFill>
              </a:rPr>
              <a:t>	</a:t>
            </a:r>
            <a:r>
              <a:rPr kumimoji="1" lang="en-US" altLang="zh-CN" b="0" dirty="0">
                <a:solidFill>
                  <a:schemeClr val="tx1"/>
                </a:solidFill>
              </a:rPr>
              <a:t>	</a:t>
            </a:r>
            <a:r>
              <a:rPr kumimoji="1" lang="en-US" altLang="zh-CN" sz="3200" b="0" dirty="0">
                <a:solidFill>
                  <a:schemeClr val="tx1"/>
                </a:solidFill>
              </a:rPr>
              <a:t>                      </a:t>
            </a:r>
            <a:r>
              <a:rPr kumimoji="1" lang="zh-CN" altLang="en-US" sz="3200" b="0" dirty="0">
                <a:solidFill>
                  <a:srgbClr val="C00000"/>
                </a:solidFill>
              </a:rPr>
              <a:t>疏 水 键</a:t>
            </a:r>
            <a:r>
              <a:rPr kumimoji="1" lang="zh-CN" altLang="en-US" sz="3200" b="0" dirty="0">
                <a:solidFill>
                  <a:schemeClr val="tx1"/>
                </a:solidFill>
              </a:rPr>
              <a:t>：数量最多</a:t>
            </a:r>
          </a:p>
          <a:p>
            <a:pPr algn="just" eaLnBrk="1" hangingPunct="1">
              <a:buSzPct val="110000"/>
              <a:buFont typeface="Wingdings" panose="05000000000000000000" pitchFamily="2" charset="2"/>
              <a:buNone/>
            </a:pPr>
            <a:r>
              <a:rPr kumimoji="1" lang="zh-CN" altLang="en-US" sz="3200" b="0" dirty="0">
                <a:solidFill>
                  <a:schemeClr val="tx1"/>
                </a:solidFill>
              </a:rPr>
              <a:t>		                      盐    键</a:t>
            </a:r>
          </a:p>
          <a:p>
            <a:pPr algn="just" eaLnBrk="1" hangingPunct="1">
              <a:buSzPct val="110000"/>
              <a:buFont typeface="Wingdings" panose="05000000000000000000" pitchFamily="2" charset="2"/>
              <a:buNone/>
            </a:pPr>
            <a:r>
              <a:rPr kumimoji="1" lang="zh-CN" altLang="en-US" sz="3200" b="0" dirty="0">
                <a:solidFill>
                  <a:schemeClr val="tx1"/>
                </a:solidFill>
              </a:rPr>
              <a:t>                               氢    键</a:t>
            </a:r>
          </a:p>
          <a:p>
            <a:pPr algn="just" eaLnBrk="1" hangingPunct="1">
              <a:buSzPct val="110000"/>
              <a:buFont typeface="Wingdings" panose="05000000000000000000" pitchFamily="2" charset="2"/>
              <a:buNone/>
            </a:pPr>
            <a:r>
              <a:rPr kumimoji="1" lang="zh-CN" altLang="en-US" sz="3200" b="0" dirty="0">
                <a:solidFill>
                  <a:schemeClr val="tx1"/>
                </a:solidFill>
              </a:rPr>
              <a:t>		                      范德华力</a:t>
            </a:r>
            <a:endParaRPr kumimoji="1" lang="en-US" altLang="zh-CN" sz="3200" b="0" dirty="0">
              <a:solidFill>
                <a:schemeClr val="tx1"/>
              </a:solidFill>
            </a:endParaRPr>
          </a:p>
          <a:p>
            <a:pPr algn="just" eaLnBrk="1" hangingPunct="1">
              <a:buSzPct val="110000"/>
              <a:buFont typeface="Wingdings" panose="05000000000000000000" pitchFamily="2" charset="2"/>
              <a:buNone/>
            </a:pPr>
            <a:endParaRPr kumimoji="1" lang="zh-CN" altLang="en-US" sz="3200" b="0" dirty="0">
              <a:solidFill>
                <a:schemeClr val="tx1"/>
              </a:solidFill>
            </a:endParaRPr>
          </a:p>
          <a:p>
            <a:pPr algn="just" eaLnBrk="1" hangingPunct="1">
              <a:buSzPct val="110000"/>
              <a:buFont typeface="Wingdings" panose="05000000000000000000" pitchFamily="2" charset="2"/>
              <a:buNone/>
            </a:pPr>
            <a:r>
              <a:rPr kumimoji="1" lang="zh-CN" altLang="en-US" sz="3200" b="0" dirty="0">
                <a:solidFill>
                  <a:schemeClr val="tx1"/>
                </a:solidFill>
              </a:rPr>
              <a:t> 某些蛋白质还需</a:t>
            </a:r>
            <a:r>
              <a:rPr kumimoji="1" lang="zh-CN" altLang="en-US" sz="3200" b="0" dirty="0">
                <a:solidFill>
                  <a:srgbClr val="0000CC"/>
                </a:solidFill>
              </a:rPr>
              <a:t>二硫键</a:t>
            </a:r>
            <a:r>
              <a:rPr kumimoji="1" lang="zh-CN" altLang="en-US" sz="3200" b="0" dirty="0">
                <a:solidFill>
                  <a:schemeClr val="tx1"/>
                </a:solidFill>
              </a:rPr>
              <a:t>参与稳定三级结构</a:t>
            </a:r>
          </a:p>
        </p:txBody>
      </p:sp>
      <p:sp>
        <p:nvSpPr>
          <p:cNvPr id="262147" name="Rectangle 1027">
            <a:extLst>
              <a:ext uri="{FF2B5EF4-FFF2-40B4-BE49-F238E27FC236}">
                <a16:creationId xmlns:a16="http://schemas.microsoft.com/office/drawing/2014/main" id="{2BEC1070-ADB8-471B-99B0-7936A53E4ED2}"/>
              </a:ext>
            </a:extLst>
          </p:cNvPr>
          <p:cNvSpPr>
            <a:spLocks noChangeArrowheads="1"/>
          </p:cNvSpPr>
          <p:nvPr/>
        </p:nvSpPr>
        <p:spPr bwMode="auto">
          <a:xfrm>
            <a:off x="2424276" y="468482"/>
            <a:ext cx="757130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3600" b="0" dirty="0">
                <a:solidFill>
                  <a:srgbClr val="FF0000"/>
                </a:solidFill>
              </a:rPr>
              <a:t>维持三级结构的化学键主要是次级键</a:t>
            </a:r>
          </a:p>
        </p:txBody>
      </p:sp>
      <p:sp>
        <p:nvSpPr>
          <p:cNvPr id="262148" name="Text Box 1028">
            <a:extLst>
              <a:ext uri="{FF2B5EF4-FFF2-40B4-BE49-F238E27FC236}">
                <a16:creationId xmlns:a16="http://schemas.microsoft.com/office/drawing/2014/main" id="{6DE0A045-127B-468F-BAD2-2097ACEB58F3}"/>
              </a:ext>
            </a:extLst>
          </p:cNvPr>
          <p:cNvSpPr txBox="1">
            <a:spLocks noChangeArrowheads="1"/>
          </p:cNvSpPr>
          <p:nvPr/>
        </p:nvSpPr>
        <p:spPr bwMode="auto">
          <a:xfrm>
            <a:off x="3249751" y="2295470"/>
            <a:ext cx="14160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3200" b="0" dirty="0">
                <a:solidFill>
                  <a:srgbClr val="FF0000"/>
                </a:solidFill>
              </a:rPr>
              <a:t>次级键</a:t>
            </a:r>
          </a:p>
        </p:txBody>
      </p:sp>
      <p:sp>
        <p:nvSpPr>
          <p:cNvPr id="262149" name="AutoShape 1029">
            <a:extLst>
              <a:ext uri="{FF2B5EF4-FFF2-40B4-BE49-F238E27FC236}">
                <a16:creationId xmlns:a16="http://schemas.microsoft.com/office/drawing/2014/main" id="{B57A49F5-BD6B-4849-9F87-47A9511B7F3C}"/>
              </a:ext>
            </a:extLst>
          </p:cNvPr>
          <p:cNvSpPr>
            <a:spLocks/>
          </p:cNvSpPr>
          <p:nvPr/>
        </p:nvSpPr>
        <p:spPr bwMode="auto">
          <a:xfrm>
            <a:off x="4824576" y="1799550"/>
            <a:ext cx="228600" cy="1676400"/>
          </a:xfrm>
          <a:prstGeom prst="leftBrace">
            <a:avLst>
              <a:gd name="adj1" fmla="val 61111"/>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3200" b="0">
              <a:solidFill>
                <a:schemeClr val="tx1"/>
              </a:solidFill>
              <a:latin typeface="Arial" panose="020B0604020202020204" pitchFamily="34" charset="0"/>
              <a:ea typeface="宋体" panose="02010600030101010101" pitchFamily="2" charset="-122"/>
            </a:endParaRPr>
          </a:p>
        </p:txBody>
      </p:sp>
      <p:sp>
        <p:nvSpPr>
          <p:cNvPr id="3" name="文本框 2">
            <a:extLst>
              <a:ext uri="{FF2B5EF4-FFF2-40B4-BE49-F238E27FC236}">
                <a16:creationId xmlns:a16="http://schemas.microsoft.com/office/drawing/2014/main" id="{13ED8580-EDBF-9ADB-BD7D-408E9C43FD48}"/>
              </a:ext>
            </a:extLst>
          </p:cNvPr>
          <p:cNvSpPr txBox="1"/>
          <p:nvPr/>
        </p:nvSpPr>
        <p:spPr>
          <a:xfrm>
            <a:off x="1991544" y="5234190"/>
            <a:ext cx="9491552" cy="1214948"/>
          </a:xfrm>
          <a:prstGeom prst="rect">
            <a:avLst/>
          </a:prstGeom>
          <a:noFill/>
        </p:spPr>
        <p:txBody>
          <a:bodyPr wrap="square">
            <a:spAutoFit/>
          </a:bodyPr>
          <a:lstStyle/>
          <a:p>
            <a:pPr>
              <a:lnSpc>
                <a:spcPct val="150000"/>
              </a:lnSpc>
            </a:pPr>
            <a:r>
              <a:rPr lang="zh-CN" altLang="en-US" sz="2600" b="1" dirty="0"/>
              <a:t>胰岛素的两条链太短，且以共价键相连，各自没有独立的三级结构，作为一个整体才有三级结构。 </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15042">
                                            <p:txEl>
                                              <p:pRg st="6" end="6"/>
                                            </p:txEl>
                                          </p:spTgt>
                                        </p:tgtEl>
                                        <p:attrNameLst>
                                          <p:attrName>style.visibility</p:attrName>
                                        </p:attrNameLst>
                                      </p:cBhvr>
                                      <p:to>
                                        <p:strVal val="visible"/>
                                      </p:to>
                                    </p:set>
                                    <p:animEffect transition="in" filter="fade">
                                      <p:cBhvr>
                                        <p:cTn id="7" dur="500"/>
                                        <p:tgtEl>
                                          <p:spTgt spid="215042">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4194" name="Picture 7" descr="01040110sma">
            <a:extLst>
              <a:ext uri="{FF2B5EF4-FFF2-40B4-BE49-F238E27FC236}">
                <a16:creationId xmlns:a16="http://schemas.microsoft.com/office/drawing/2014/main" id="{10E7ACF5-D1CF-4660-87BA-3D4F2A663D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7351" y="981076"/>
            <a:ext cx="7489825" cy="534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7091" name="AutoShape 4">
            <a:extLst>
              <a:ext uri="{FF2B5EF4-FFF2-40B4-BE49-F238E27FC236}">
                <a16:creationId xmlns:a16="http://schemas.microsoft.com/office/drawing/2014/main" id="{DCAF49B0-B0B0-4490-BAAB-5BE04CB2E07C}"/>
              </a:ext>
            </a:extLst>
          </p:cNvPr>
          <p:cNvSpPr>
            <a:spLocks noChangeArrowheads="1"/>
          </p:cNvSpPr>
          <p:nvPr/>
        </p:nvSpPr>
        <p:spPr bwMode="auto">
          <a:xfrm>
            <a:off x="1927225" y="5084763"/>
            <a:ext cx="1511300" cy="647700"/>
          </a:xfrm>
          <a:prstGeom prst="wedgeRoundRectCallout">
            <a:avLst>
              <a:gd name="adj1" fmla="val 72060"/>
              <a:gd name="adj2" fmla="val -109134"/>
              <a:gd name="adj3" fmla="val 16667"/>
            </a:avLst>
          </a:prstGeom>
          <a:solidFill>
            <a:srgbClr val="800080"/>
          </a:solidFill>
          <a:ln w="12700" cap="sq">
            <a:solidFill>
              <a:srgbClr val="CC00CC"/>
            </a:solidFill>
            <a:miter lim="800000"/>
            <a:headEnd type="none" w="sm" len="sm"/>
            <a:tailEnd type="none" w="sm" len="sm"/>
          </a:ln>
        </p:spPr>
        <p:txBody>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lvl="0" algn="ctr" eaLnBrk="1" hangingPunct="1">
              <a:lnSpc>
                <a:spcPct val="110000"/>
              </a:lnSpc>
              <a:spcBef>
                <a:spcPct val="0"/>
              </a:spcBef>
              <a:buClrTx/>
              <a:buNone/>
            </a:pPr>
            <a:r>
              <a:rPr kumimoji="1" lang="zh-CN" altLang="en-US" sz="3200" b="0">
                <a:solidFill>
                  <a:srgbClr val="FFFFFF"/>
                </a:solidFill>
                <a:latin typeface="Arial" panose="020B0604020202020204" pitchFamily="34" charset="0"/>
                <a:ea typeface="宋体" panose="02010600030101010101" pitchFamily="2" charset="-122"/>
              </a:rPr>
              <a:t>二硫键</a:t>
            </a:r>
          </a:p>
        </p:txBody>
      </p:sp>
      <p:sp>
        <p:nvSpPr>
          <p:cNvPr id="264196" name="标题 1">
            <a:extLst>
              <a:ext uri="{FF2B5EF4-FFF2-40B4-BE49-F238E27FC236}">
                <a16:creationId xmlns:a16="http://schemas.microsoft.com/office/drawing/2014/main" id="{A2692E5F-A605-4BFA-BDA7-5C0A8B1D5F3E}"/>
              </a:ext>
            </a:extLst>
          </p:cNvPr>
          <p:cNvSpPr>
            <a:spLocks noGrp="1" noChangeArrowheads="1"/>
          </p:cNvSpPr>
          <p:nvPr>
            <p:ph type="title" idx="4294967295"/>
          </p:nvPr>
        </p:nvSpPr>
        <p:spPr>
          <a:xfrm>
            <a:off x="1851026" y="211138"/>
            <a:ext cx="8450263" cy="563562"/>
          </a:xfrm>
        </p:spPr>
        <p:txBody>
          <a:bodyPr/>
          <a:lstStyle/>
          <a:p>
            <a:r>
              <a:rPr lang="zh-CN" altLang="en-US" b="0"/>
              <a:t>牛核糖核酸酶需要二硫键稳定其三级结构</a:t>
            </a:r>
          </a:p>
        </p:txBody>
      </p:sp>
      <p:sp>
        <p:nvSpPr>
          <p:cNvPr id="8" name="AutoShape 4">
            <a:extLst>
              <a:ext uri="{FF2B5EF4-FFF2-40B4-BE49-F238E27FC236}">
                <a16:creationId xmlns:a16="http://schemas.microsoft.com/office/drawing/2014/main" id="{E4D87481-537A-4D04-B782-918EAACA1013}"/>
              </a:ext>
            </a:extLst>
          </p:cNvPr>
          <p:cNvSpPr>
            <a:spLocks noChangeArrowheads="1"/>
          </p:cNvSpPr>
          <p:nvPr/>
        </p:nvSpPr>
        <p:spPr bwMode="auto">
          <a:xfrm>
            <a:off x="1876425" y="1916113"/>
            <a:ext cx="1511300" cy="647700"/>
          </a:xfrm>
          <a:prstGeom prst="wedgeRoundRectCallout">
            <a:avLst>
              <a:gd name="adj1" fmla="val 181486"/>
              <a:gd name="adj2" fmla="val 65083"/>
              <a:gd name="adj3" fmla="val 16667"/>
            </a:avLst>
          </a:prstGeom>
          <a:solidFill>
            <a:srgbClr val="800080"/>
          </a:solidFill>
          <a:ln w="12700" cap="sq">
            <a:solidFill>
              <a:srgbClr val="CC00CC"/>
            </a:solidFill>
            <a:miter lim="800000"/>
            <a:headEnd type="none" w="sm" len="sm"/>
            <a:tailEnd type="none" w="sm" len="sm"/>
          </a:ln>
        </p:spPr>
        <p:txBody>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lvl="0" algn="ctr" eaLnBrk="1" hangingPunct="1">
              <a:lnSpc>
                <a:spcPct val="110000"/>
              </a:lnSpc>
              <a:spcBef>
                <a:spcPct val="0"/>
              </a:spcBef>
              <a:buClrTx/>
              <a:buNone/>
            </a:pPr>
            <a:r>
              <a:rPr kumimoji="1" lang="zh-CN" altLang="en-US" sz="3200" b="0">
                <a:solidFill>
                  <a:srgbClr val="FFFFFF"/>
                </a:solidFill>
                <a:latin typeface="Arial" panose="020B0604020202020204" pitchFamily="34" charset="0"/>
                <a:ea typeface="宋体" panose="02010600030101010101" pitchFamily="2" charset="-122"/>
              </a:rPr>
              <a:t>二硫键</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7091"/>
                                        </p:tgtEl>
                                        <p:attrNameLst>
                                          <p:attrName>style.visibility</p:attrName>
                                        </p:attrNameLst>
                                      </p:cBhvr>
                                      <p:to>
                                        <p:strVal val="visible"/>
                                      </p:to>
                                    </p:set>
                                    <p:animEffect transition="in" filter="fade">
                                      <p:cBhvr>
                                        <p:cTn id="10" dur="500"/>
                                        <p:tgtEl>
                                          <p:spTgt spid="2170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1" grpId="0" animBg="1"/>
      <p:bldP spid="8"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Text Box 4">
            <a:extLst>
              <a:ext uri="{FF2B5EF4-FFF2-40B4-BE49-F238E27FC236}">
                <a16:creationId xmlns:a16="http://schemas.microsoft.com/office/drawing/2014/main" id="{1FD5CE4C-D8BF-4873-B958-F1C2792F5B46}"/>
              </a:ext>
            </a:extLst>
          </p:cNvPr>
          <p:cNvSpPr txBox="1">
            <a:spLocks noChangeArrowheads="1"/>
          </p:cNvSpPr>
          <p:nvPr/>
        </p:nvSpPr>
        <p:spPr bwMode="auto">
          <a:xfrm>
            <a:off x="3000375" y="6164264"/>
            <a:ext cx="1841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kumimoji="1" lang="zh-CN" altLang="en-US">
              <a:solidFill>
                <a:srgbClr val="993366"/>
              </a:solidFill>
            </a:endParaRPr>
          </a:p>
        </p:txBody>
      </p:sp>
      <p:sp>
        <p:nvSpPr>
          <p:cNvPr id="266243" name="Text Box 6">
            <a:extLst>
              <a:ext uri="{FF2B5EF4-FFF2-40B4-BE49-F238E27FC236}">
                <a16:creationId xmlns:a16="http://schemas.microsoft.com/office/drawing/2014/main" id="{DCE47670-71AC-4A1D-88E5-B3A3028F87E5}"/>
              </a:ext>
            </a:extLst>
          </p:cNvPr>
          <p:cNvSpPr txBox="1">
            <a:spLocks noChangeArrowheads="1"/>
          </p:cNvSpPr>
          <p:nvPr/>
        </p:nvSpPr>
        <p:spPr bwMode="auto">
          <a:xfrm>
            <a:off x="1271464" y="1084264"/>
            <a:ext cx="9649072" cy="216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indent="714375">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indent="0" eaLnBrk="1" hangingPunct="1">
              <a:lnSpc>
                <a:spcPct val="120000"/>
              </a:lnSpc>
              <a:spcBef>
                <a:spcPct val="30000"/>
              </a:spcBef>
              <a:buClrTx/>
              <a:buNone/>
            </a:pPr>
            <a:r>
              <a:rPr lang="zh-CN" altLang="en-US" b="0" dirty="0">
                <a:solidFill>
                  <a:schemeClr val="tx1"/>
                </a:solidFill>
              </a:rPr>
              <a:t>      分子量较大的蛋白质常可折叠成多个结构较为紧密且稳定的区域，并各行其功能，称为</a:t>
            </a:r>
            <a:r>
              <a:rPr lang="zh-CN" altLang="en-US" b="0" dirty="0">
                <a:solidFill>
                  <a:srgbClr val="C00000"/>
                </a:solidFill>
              </a:rPr>
              <a:t>结构域</a:t>
            </a:r>
            <a:r>
              <a:rPr lang="zh-CN" altLang="en-US" b="0" dirty="0">
                <a:solidFill>
                  <a:schemeClr val="tx1"/>
                </a:solidFill>
              </a:rPr>
              <a:t>， </a:t>
            </a:r>
            <a:r>
              <a:rPr kumimoji="1" lang="zh-CN" altLang="en-US" b="0" dirty="0">
                <a:solidFill>
                  <a:schemeClr val="tx1"/>
                </a:solidFill>
              </a:rPr>
              <a:t>通常是一条肽链中形成的若干</a:t>
            </a:r>
            <a:r>
              <a:rPr kumimoji="1" lang="zh-CN" altLang="en-US" b="0" dirty="0">
                <a:solidFill>
                  <a:srgbClr val="C00000"/>
                </a:solidFill>
              </a:rPr>
              <a:t>相对独立的球状折叠区域。</a:t>
            </a:r>
            <a:r>
              <a:rPr lang="zh-CN" altLang="en-US" b="0" dirty="0">
                <a:solidFill>
                  <a:schemeClr val="tx1"/>
                </a:solidFill>
              </a:rPr>
              <a:t>短的肽链可能只形成一个结构域，比如肌红蛋白。　</a:t>
            </a:r>
          </a:p>
        </p:txBody>
      </p:sp>
      <p:sp>
        <p:nvSpPr>
          <p:cNvPr id="266244" name="Rectangle 7">
            <a:extLst>
              <a:ext uri="{FF2B5EF4-FFF2-40B4-BE49-F238E27FC236}">
                <a16:creationId xmlns:a16="http://schemas.microsoft.com/office/drawing/2014/main" id="{D8C37A41-748F-44B6-84A5-772A9AEE8376}"/>
              </a:ext>
            </a:extLst>
          </p:cNvPr>
          <p:cNvSpPr>
            <a:spLocks noChangeArrowheads="1"/>
          </p:cNvSpPr>
          <p:nvPr/>
        </p:nvSpPr>
        <p:spPr bwMode="auto">
          <a:xfrm>
            <a:off x="2138363" y="188914"/>
            <a:ext cx="38544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4000">
                <a:solidFill>
                  <a:schemeClr val="bg1"/>
                </a:solidFill>
              </a:rPr>
              <a:t>结构域</a:t>
            </a:r>
            <a:r>
              <a:rPr kumimoji="1" lang="en-US" altLang="zh-CN" sz="4000">
                <a:solidFill>
                  <a:schemeClr val="bg1"/>
                </a:solidFill>
              </a:rPr>
              <a:t>(domain) </a:t>
            </a:r>
          </a:p>
        </p:txBody>
      </p:sp>
      <p:pic>
        <p:nvPicPr>
          <p:cNvPr id="266245" name="图片 2">
            <a:extLst>
              <a:ext uri="{FF2B5EF4-FFF2-40B4-BE49-F238E27FC236}">
                <a16:creationId xmlns:a16="http://schemas.microsoft.com/office/drawing/2014/main" id="{F9FB9F00-EDA9-4A90-97E7-62345D05F1F4}"/>
              </a:ext>
            </a:extLst>
          </p:cNvPr>
          <p:cNvPicPr>
            <a:picLocks noChangeAspect="1"/>
          </p:cNvPicPr>
          <p:nvPr/>
        </p:nvPicPr>
        <p:blipFill>
          <a:blip r:embed="rId3">
            <a:extLst>
              <a:ext uri="{28A0092B-C50C-407E-A947-70E740481C1C}">
                <a14:useLocalDpi xmlns:a14="http://schemas.microsoft.com/office/drawing/2010/main" val="0"/>
              </a:ext>
            </a:extLst>
          </a:blip>
          <a:srcRect b="24074"/>
          <a:stretch>
            <a:fillRect/>
          </a:stretch>
        </p:blipFill>
        <p:spPr bwMode="auto">
          <a:xfrm>
            <a:off x="4440238" y="3244851"/>
            <a:ext cx="4799012" cy="242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内容占位符 3">
            <a:extLst>
              <a:ext uri="{FF2B5EF4-FFF2-40B4-BE49-F238E27FC236}">
                <a16:creationId xmlns:a16="http://schemas.microsoft.com/office/drawing/2014/main" id="{6F128849-0ABF-455A-A170-645AFB0BCB03}"/>
              </a:ext>
            </a:extLst>
          </p:cNvPr>
          <p:cNvSpPr txBox="1">
            <a:spLocks noChangeArrowheads="1"/>
          </p:cNvSpPr>
          <p:nvPr/>
        </p:nvSpPr>
        <p:spPr>
          <a:xfrm>
            <a:off x="2114550" y="5783264"/>
            <a:ext cx="8229600" cy="669925"/>
          </a:xfrm>
          <a:prstGeom prst="rect">
            <a:avLst/>
          </a:prstGeom>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rgbClr val="00004D"/>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rgbClr val="00004D"/>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rgbClr val="00004D"/>
                </a:solidFill>
                <a:latin typeface="+mn-lt"/>
                <a:ea typeface="+mn-ea"/>
              </a:defRPr>
            </a:lvl3pPr>
            <a:lvl4pPr marL="1600200" indent="-228600" algn="l" rtl="0" eaLnBrk="0" fontAlgn="base" hangingPunct="0">
              <a:spcBef>
                <a:spcPct val="20000"/>
              </a:spcBef>
              <a:spcAft>
                <a:spcPct val="0"/>
              </a:spcAft>
              <a:buChar char="–"/>
              <a:defRPr sz="2000">
                <a:solidFill>
                  <a:srgbClr val="00004D"/>
                </a:solidFill>
                <a:latin typeface="+mn-lt"/>
                <a:ea typeface="+mn-ea"/>
              </a:defRPr>
            </a:lvl4pPr>
            <a:lvl5pPr marL="2057400" indent="-228600" algn="l" rtl="0" eaLnBrk="0" fontAlgn="base" hangingPunct="0">
              <a:spcBef>
                <a:spcPct val="20000"/>
              </a:spcBef>
              <a:spcAft>
                <a:spcPct val="0"/>
              </a:spcAft>
              <a:buChar char="»"/>
              <a:defRPr sz="2000">
                <a:solidFill>
                  <a:srgbClr val="00004D"/>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defRPr/>
            </a:pPr>
            <a:r>
              <a:rPr lang="zh-CN" altLang="en-US" b="0" kern="0" dirty="0"/>
              <a:t>棕色和蓝色各代表一个结构域，均可结合钙离子</a:t>
            </a:r>
          </a:p>
        </p:txBody>
      </p:sp>
      <p:sp>
        <p:nvSpPr>
          <p:cNvPr id="266247" name="矩形 2">
            <a:extLst>
              <a:ext uri="{FF2B5EF4-FFF2-40B4-BE49-F238E27FC236}">
                <a16:creationId xmlns:a16="http://schemas.microsoft.com/office/drawing/2014/main" id="{DD6B19C9-406B-42A8-9293-D24522202D17}"/>
              </a:ext>
            </a:extLst>
          </p:cNvPr>
          <p:cNvSpPr>
            <a:spLocks noChangeArrowheads="1"/>
          </p:cNvSpPr>
          <p:nvPr/>
        </p:nvSpPr>
        <p:spPr bwMode="auto">
          <a:xfrm>
            <a:off x="3071814" y="4652964"/>
            <a:ext cx="18811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a:solidFill>
                  <a:schemeClr val="tx1"/>
                </a:solidFill>
                <a:latin typeface="Arial" panose="020B0604020202020204" pitchFamily="34" charset="0"/>
                <a:ea typeface="宋体" panose="02010600030101010101" pitchFamily="2" charset="-122"/>
              </a:rPr>
              <a:t>肌钙蛋白</a:t>
            </a:r>
            <a:r>
              <a:rPr lang="en-US" altLang="zh-CN">
                <a:solidFill>
                  <a:schemeClr val="tx1"/>
                </a:solidFill>
                <a:latin typeface="Arial" panose="020B0604020202020204" pitchFamily="34" charset="0"/>
                <a:ea typeface="宋体" panose="02010600030101010101" pitchFamily="2" charset="-122"/>
              </a:rPr>
              <a:t>C</a:t>
            </a:r>
            <a:endParaRPr lang="zh-CN" altLang="en-US">
              <a:solidFill>
                <a:schemeClr val="tx1"/>
              </a:solidFill>
              <a:latin typeface="Arial" panose="020B0604020202020204" pitchFamily="34" charset="0"/>
              <a:ea typeface="宋体" panose="02010600030101010101" pitchFamily="2" charset="-122"/>
            </a:endParaRPr>
          </a:p>
        </p:txBody>
      </p:sp>
    </p:spTree>
  </p:cSld>
  <p:clrMapOvr>
    <a:masterClrMapping/>
  </p:clrMapOvr>
  <p:transition spd="slow">
    <p:circl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66FA3BF7-AB84-415D-B3BA-6A624B3BFA3D}"/>
              </a:ext>
            </a:extLst>
          </p:cNvPr>
          <p:cNvGrpSpPr>
            <a:grpSpLocks/>
          </p:cNvGrpSpPr>
          <p:nvPr/>
        </p:nvGrpSpPr>
        <p:grpSpPr bwMode="auto">
          <a:xfrm>
            <a:off x="1774826" y="3213100"/>
            <a:ext cx="8640763" cy="3200400"/>
            <a:chOff x="158" y="2024"/>
            <a:chExt cx="5443" cy="2170"/>
          </a:xfrm>
        </p:grpSpPr>
        <p:pic>
          <p:nvPicPr>
            <p:cNvPr id="270341" name="Picture 3" descr="2-14">
              <a:extLst>
                <a:ext uri="{FF2B5EF4-FFF2-40B4-BE49-F238E27FC236}">
                  <a16:creationId xmlns:a16="http://schemas.microsoft.com/office/drawing/2014/main" id="{B46C3FC9-B9FA-44E5-BB8E-16DDD641AA46}"/>
                </a:ext>
              </a:extLst>
            </p:cNvPr>
            <p:cNvPicPr>
              <a:picLocks noChangeAspect="1" noChangeArrowheads="1"/>
            </p:cNvPicPr>
            <p:nvPr/>
          </p:nvPicPr>
          <p:blipFill>
            <a:blip r:embed="rId3">
              <a:clrChange>
                <a:clrFrom>
                  <a:srgbClr val="FEFEFE"/>
                </a:clrFrom>
                <a:clrTo>
                  <a:srgbClr val="FEFEFE">
                    <a:alpha val="0"/>
                  </a:srgbClr>
                </a:clrTo>
              </a:clrChange>
              <a:extLst>
                <a:ext uri="{28A0092B-C50C-407E-A947-70E740481C1C}">
                  <a14:useLocalDpi xmlns:a14="http://schemas.microsoft.com/office/drawing/2010/main" val="0"/>
                </a:ext>
              </a:extLst>
            </a:blip>
            <a:srcRect l="5504" t="22812"/>
            <a:stretch>
              <a:fillRect/>
            </a:stretch>
          </p:blipFill>
          <p:spPr bwMode="auto">
            <a:xfrm>
              <a:off x="158" y="2024"/>
              <a:ext cx="5443" cy="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0342" name="Text Box 4">
              <a:extLst>
                <a:ext uri="{FF2B5EF4-FFF2-40B4-BE49-F238E27FC236}">
                  <a16:creationId xmlns:a16="http://schemas.microsoft.com/office/drawing/2014/main" id="{93326A73-C60D-40F3-92BC-537730F2FBA3}"/>
                </a:ext>
              </a:extLst>
            </p:cNvPr>
            <p:cNvSpPr txBox="1">
              <a:spLocks noChangeArrowheads="1"/>
            </p:cNvSpPr>
            <p:nvPr/>
          </p:nvSpPr>
          <p:spPr bwMode="auto">
            <a:xfrm>
              <a:off x="863" y="3839"/>
              <a:ext cx="4148"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a:solidFill>
                    <a:srgbClr val="006600"/>
                  </a:solidFill>
                </a:rPr>
                <a:t>纤连蛋白分子每条肽链各形成</a:t>
              </a:r>
              <a:r>
                <a:rPr kumimoji="1" lang="en-US" altLang="zh-CN">
                  <a:solidFill>
                    <a:srgbClr val="006600"/>
                  </a:solidFill>
                </a:rPr>
                <a:t>6</a:t>
              </a:r>
              <a:r>
                <a:rPr kumimoji="1" lang="zh-CN" altLang="en-US">
                  <a:solidFill>
                    <a:srgbClr val="006600"/>
                  </a:solidFill>
                </a:rPr>
                <a:t>个结构域 </a:t>
              </a:r>
              <a:endParaRPr kumimoji="1" lang="zh-CN" altLang="en-US">
                <a:solidFill>
                  <a:srgbClr val="993366"/>
                </a:solidFill>
              </a:endParaRPr>
            </a:p>
          </p:txBody>
        </p:sp>
      </p:grpSp>
      <p:sp>
        <p:nvSpPr>
          <p:cNvPr id="270339" name="Text Box 6">
            <a:extLst>
              <a:ext uri="{FF2B5EF4-FFF2-40B4-BE49-F238E27FC236}">
                <a16:creationId xmlns:a16="http://schemas.microsoft.com/office/drawing/2014/main" id="{1F39E6CC-C5FF-4CA2-B10D-206BB53F56FD}"/>
              </a:ext>
            </a:extLst>
          </p:cNvPr>
          <p:cNvSpPr txBox="1">
            <a:spLocks noChangeArrowheads="1"/>
          </p:cNvSpPr>
          <p:nvPr/>
        </p:nvSpPr>
        <p:spPr bwMode="auto">
          <a:xfrm>
            <a:off x="1554164" y="1068388"/>
            <a:ext cx="9006332" cy="159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indent="714375">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0000"/>
              </a:lnSpc>
              <a:spcBef>
                <a:spcPct val="30000"/>
              </a:spcBef>
              <a:buClrTx/>
              <a:buFontTx/>
              <a:buNone/>
            </a:pPr>
            <a:r>
              <a:rPr lang="zh-CN" altLang="en-US" b="0" dirty="0">
                <a:solidFill>
                  <a:schemeClr val="tx1"/>
                </a:solidFill>
              </a:rPr>
              <a:t>纤连蛋白（</a:t>
            </a:r>
            <a:r>
              <a:rPr lang="en-US" altLang="zh-CN" b="0" dirty="0">
                <a:solidFill>
                  <a:schemeClr val="tx1"/>
                </a:solidFill>
              </a:rPr>
              <a:t>FN</a:t>
            </a:r>
            <a:r>
              <a:rPr lang="zh-CN" altLang="en-US" b="0" dirty="0">
                <a:solidFill>
                  <a:schemeClr val="tx1"/>
                </a:solidFill>
              </a:rPr>
              <a:t>）是一种高分子糖蛋白，含两条肽链，每条肽链各有若干个球形结构域，分别与不同的配体或细胞结构结合。</a:t>
            </a:r>
            <a:endParaRPr kumimoji="1" lang="zh-CN" altLang="en-US" b="0" dirty="0">
              <a:solidFill>
                <a:srgbClr val="C00000"/>
              </a:solidFill>
            </a:endParaRPr>
          </a:p>
        </p:txBody>
      </p:sp>
      <p:sp>
        <p:nvSpPr>
          <p:cNvPr id="270340" name="Rectangle 7">
            <a:extLst>
              <a:ext uri="{FF2B5EF4-FFF2-40B4-BE49-F238E27FC236}">
                <a16:creationId xmlns:a16="http://schemas.microsoft.com/office/drawing/2014/main" id="{C7027401-A968-4510-AAA0-09AD006EED75}"/>
              </a:ext>
            </a:extLst>
          </p:cNvPr>
          <p:cNvSpPr>
            <a:spLocks noChangeArrowheads="1"/>
          </p:cNvSpPr>
          <p:nvPr/>
        </p:nvSpPr>
        <p:spPr bwMode="auto">
          <a:xfrm>
            <a:off x="1554163" y="193675"/>
            <a:ext cx="713581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lang="zh-CN" altLang="en-US" sz="3600" b="0">
                <a:solidFill>
                  <a:schemeClr val="bg1"/>
                </a:solidFill>
              </a:rPr>
              <a:t>纤连蛋白</a:t>
            </a:r>
            <a:r>
              <a:rPr lang="en-US" altLang="zh-CN" sz="3600" b="0">
                <a:solidFill>
                  <a:schemeClr val="bg1"/>
                </a:solidFill>
              </a:rPr>
              <a:t>(fibronectin)</a:t>
            </a:r>
            <a:r>
              <a:rPr lang="zh-CN" altLang="en-US" sz="3600" b="0">
                <a:solidFill>
                  <a:schemeClr val="bg1"/>
                </a:solidFill>
              </a:rPr>
              <a:t>有多个结构域</a:t>
            </a:r>
            <a:endParaRPr kumimoji="1" lang="en-US" altLang="zh-CN" sz="3600">
              <a:solidFill>
                <a:schemeClr val="bg1"/>
              </a:solidFill>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4434" name="标题 1">
            <a:extLst>
              <a:ext uri="{FF2B5EF4-FFF2-40B4-BE49-F238E27FC236}">
                <a16:creationId xmlns:a16="http://schemas.microsoft.com/office/drawing/2014/main" id="{AC279FDD-6A87-40C9-8F0D-BD87433A8C01}"/>
              </a:ext>
            </a:extLst>
          </p:cNvPr>
          <p:cNvSpPr>
            <a:spLocks noGrp="1" noChangeArrowheads="1"/>
          </p:cNvSpPr>
          <p:nvPr>
            <p:ph type="title"/>
          </p:nvPr>
        </p:nvSpPr>
        <p:spPr>
          <a:xfrm>
            <a:off x="1893888" y="130175"/>
            <a:ext cx="7370762" cy="622300"/>
          </a:xfrm>
        </p:spPr>
        <p:txBody>
          <a:bodyPr/>
          <a:lstStyle/>
          <a:p>
            <a:r>
              <a:rPr lang="en-US" altLang="zh-CN"/>
              <a:t>SH2</a:t>
            </a:r>
            <a:r>
              <a:rPr lang="zh-CN" altLang="en-US"/>
              <a:t>结构域（</a:t>
            </a:r>
            <a:r>
              <a:rPr lang="en-US" altLang="zh-CN"/>
              <a:t>SH2 domain)</a:t>
            </a:r>
            <a:endParaRPr lang="zh-CN" altLang="en-US"/>
          </a:p>
        </p:txBody>
      </p:sp>
      <p:sp>
        <p:nvSpPr>
          <p:cNvPr id="274435" name="内容占位符 2">
            <a:extLst>
              <a:ext uri="{FF2B5EF4-FFF2-40B4-BE49-F238E27FC236}">
                <a16:creationId xmlns:a16="http://schemas.microsoft.com/office/drawing/2014/main" id="{24B0A30A-2DF9-44DA-8DE8-8B643EF289BB}"/>
              </a:ext>
            </a:extLst>
          </p:cNvPr>
          <p:cNvSpPr>
            <a:spLocks noGrp="1" noChangeArrowheads="1"/>
          </p:cNvSpPr>
          <p:nvPr>
            <p:ph idx="1"/>
          </p:nvPr>
        </p:nvSpPr>
        <p:spPr>
          <a:xfrm>
            <a:off x="4799856" y="1628800"/>
            <a:ext cx="6624736" cy="4536504"/>
          </a:xfrm>
        </p:spPr>
        <p:txBody>
          <a:bodyPr/>
          <a:lstStyle/>
          <a:p>
            <a:pPr>
              <a:spcBef>
                <a:spcPts val="1800"/>
              </a:spcBef>
            </a:pPr>
            <a:r>
              <a:rPr lang="zh-CN" altLang="en-US" dirty="0"/>
              <a:t>即</a:t>
            </a:r>
            <a:r>
              <a:rPr lang="en-US" altLang="zh-CN" dirty="0" err="1"/>
              <a:t>Src</a:t>
            </a:r>
            <a:r>
              <a:rPr lang="zh-CN" altLang="en-US" dirty="0"/>
              <a:t>同源结构域</a:t>
            </a:r>
            <a:r>
              <a:rPr lang="en-US" altLang="zh-CN" dirty="0"/>
              <a:t>2</a:t>
            </a:r>
            <a:r>
              <a:rPr lang="zh-CN" altLang="en-US" dirty="0"/>
              <a:t>（</a:t>
            </a:r>
            <a:r>
              <a:rPr lang="en-US" altLang="zh-CN" dirty="0" err="1">
                <a:solidFill>
                  <a:srgbClr val="FF0000"/>
                </a:solidFill>
              </a:rPr>
              <a:t>S</a:t>
            </a:r>
            <a:r>
              <a:rPr lang="en-US" altLang="zh-CN" dirty="0" err="1"/>
              <a:t>rc</a:t>
            </a:r>
            <a:r>
              <a:rPr lang="en-US" altLang="zh-CN" dirty="0"/>
              <a:t> </a:t>
            </a:r>
            <a:r>
              <a:rPr lang="en-US" altLang="zh-CN" dirty="0">
                <a:solidFill>
                  <a:srgbClr val="FF0000"/>
                </a:solidFill>
              </a:rPr>
              <a:t>h</a:t>
            </a:r>
            <a:r>
              <a:rPr lang="en-US" altLang="zh-CN" dirty="0"/>
              <a:t>omology </a:t>
            </a:r>
            <a:r>
              <a:rPr lang="en-US" altLang="zh-CN" dirty="0">
                <a:solidFill>
                  <a:srgbClr val="FF0000"/>
                </a:solidFill>
              </a:rPr>
              <a:t>2</a:t>
            </a:r>
            <a:r>
              <a:rPr lang="en-US" altLang="zh-CN" dirty="0"/>
              <a:t>)  </a:t>
            </a:r>
          </a:p>
          <a:p>
            <a:pPr>
              <a:spcBef>
                <a:spcPts val="1800"/>
              </a:spcBef>
            </a:pPr>
            <a:r>
              <a:rPr lang="zh-CN" altLang="en-US" dirty="0"/>
              <a:t>最早发现于癌基因</a:t>
            </a:r>
            <a:r>
              <a:rPr lang="en-US" altLang="zh-CN" i="1" dirty="0" err="1"/>
              <a:t>Src</a:t>
            </a:r>
            <a:r>
              <a:rPr lang="zh-CN" altLang="en-US" dirty="0"/>
              <a:t>编码的蛋白</a:t>
            </a:r>
            <a:r>
              <a:rPr lang="en-US" altLang="zh-CN" dirty="0" err="1"/>
              <a:t>Src</a:t>
            </a:r>
            <a:r>
              <a:rPr lang="zh-CN" altLang="en-US" dirty="0"/>
              <a:t>中，是一个结构保守的区域，现已在</a:t>
            </a:r>
            <a:r>
              <a:rPr lang="en-US" altLang="zh-CN" dirty="0"/>
              <a:t>100</a:t>
            </a:r>
            <a:r>
              <a:rPr lang="zh-CN" altLang="en-US" dirty="0"/>
              <a:t>多种人体蛋白中发现，</a:t>
            </a:r>
            <a:r>
              <a:rPr lang="zh-CN" altLang="en-US" dirty="0">
                <a:solidFill>
                  <a:srgbClr val="C00000"/>
                </a:solidFill>
              </a:rPr>
              <a:t>常见于酪氨酸信号传导途径中的衔接蛋白（</a:t>
            </a:r>
            <a:r>
              <a:rPr lang="en-US" altLang="zh-CN" dirty="0">
                <a:solidFill>
                  <a:srgbClr val="C00000"/>
                </a:solidFill>
              </a:rPr>
              <a:t>adaptor proteins) </a:t>
            </a:r>
          </a:p>
          <a:p>
            <a:pPr>
              <a:spcBef>
                <a:spcPts val="1800"/>
              </a:spcBef>
            </a:pPr>
            <a:r>
              <a:rPr lang="en-US" altLang="zh-CN" dirty="0"/>
              <a:t>SH2</a:t>
            </a:r>
            <a:r>
              <a:rPr lang="zh-CN" altLang="en-US" dirty="0"/>
              <a:t>结构域可以</a:t>
            </a:r>
            <a:r>
              <a:rPr lang="zh-CN" altLang="en-US" dirty="0">
                <a:solidFill>
                  <a:srgbClr val="C00000"/>
                </a:solidFill>
              </a:rPr>
              <a:t>结合</a:t>
            </a:r>
            <a:r>
              <a:rPr lang="zh-CN" altLang="en-US" dirty="0"/>
              <a:t>到一小段特定肽段中的</a:t>
            </a:r>
            <a:r>
              <a:rPr lang="en-US" altLang="zh-CN" dirty="0" err="1">
                <a:solidFill>
                  <a:srgbClr val="C00000"/>
                </a:solidFill>
              </a:rPr>
              <a:t>pTyr</a:t>
            </a:r>
            <a:r>
              <a:rPr lang="en-US" altLang="zh-CN" dirty="0">
                <a:solidFill>
                  <a:srgbClr val="C00000"/>
                </a:solidFill>
              </a:rPr>
              <a:t> (</a:t>
            </a:r>
            <a:r>
              <a:rPr lang="en-US" altLang="zh-CN" dirty="0" err="1">
                <a:solidFill>
                  <a:srgbClr val="C00000"/>
                </a:solidFill>
              </a:rPr>
              <a:t>phosphotyrosine</a:t>
            </a:r>
            <a:r>
              <a:rPr lang="en-US" altLang="zh-CN" dirty="0">
                <a:solidFill>
                  <a:srgbClr val="C00000"/>
                </a:solidFill>
              </a:rPr>
              <a:t>)</a:t>
            </a:r>
            <a:r>
              <a:rPr lang="zh-CN" altLang="en-US" dirty="0">
                <a:solidFill>
                  <a:srgbClr val="C00000"/>
                </a:solidFill>
              </a:rPr>
              <a:t>残基</a:t>
            </a:r>
            <a:r>
              <a:rPr lang="zh-CN" altLang="en-US" dirty="0"/>
              <a:t>部位</a:t>
            </a:r>
            <a:r>
              <a:rPr lang="en-US" altLang="zh-CN" dirty="0"/>
              <a:t>.</a:t>
            </a:r>
            <a:endParaRPr lang="zh-CN" altLang="en-US" dirty="0"/>
          </a:p>
        </p:txBody>
      </p:sp>
      <p:pic>
        <p:nvPicPr>
          <p:cNvPr id="274436" name="图片 3">
            <a:extLst>
              <a:ext uri="{FF2B5EF4-FFF2-40B4-BE49-F238E27FC236}">
                <a16:creationId xmlns:a16="http://schemas.microsoft.com/office/drawing/2014/main" id="{6F6DEE2E-2B24-4CE4-9F7A-FDB25B82989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5440" y="1844824"/>
            <a:ext cx="3151187" cy="337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标题 1">
            <a:extLst>
              <a:ext uri="{FF2B5EF4-FFF2-40B4-BE49-F238E27FC236}">
                <a16:creationId xmlns:a16="http://schemas.microsoft.com/office/drawing/2014/main" id="{1353E18E-BB1C-47BB-B11D-03A52BE889AF}"/>
              </a:ext>
            </a:extLst>
          </p:cNvPr>
          <p:cNvSpPr>
            <a:spLocks noGrp="1" noChangeArrowheads="1"/>
          </p:cNvSpPr>
          <p:nvPr>
            <p:ph type="title"/>
          </p:nvPr>
        </p:nvSpPr>
        <p:spPr>
          <a:xfrm>
            <a:off x="3000375" y="128588"/>
            <a:ext cx="5329238" cy="563562"/>
          </a:xfrm>
        </p:spPr>
        <p:txBody>
          <a:bodyPr/>
          <a:lstStyle/>
          <a:p>
            <a:r>
              <a:rPr lang="zh-CN" altLang="en-US" sz="4000" b="0"/>
              <a:t>模体与结构域的区别</a:t>
            </a:r>
          </a:p>
        </p:txBody>
      </p:sp>
      <p:sp>
        <p:nvSpPr>
          <p:cNvPr id="267267" name="内容占位符 2">
            <a:extLst>
              <a:ext uri="{FF2B5EF4-FFF2-40B4-BE49-F238E27FC236}">
                <a16:creationId xmlns:a16="http://schemas.microsoft.com/office/drawing/2014/main" id="{8FCC0297-CF0D-48E5-8A90-1408551F8510}"/>
              </a:ext>
            </a:extLst>
          </p:cNvPr>
          <p:cNvSpPr>
            <a:spLocks noGrp="1" noChangeArrowheads="1"/>
          </p:cNvSpPr>
          <p:nvPr>
            <p:ph idx="1"/>
          </p:nvPr>
        </p:nvSpPr>
        <p:spPr>
          <a:xfrm>
            <a:off x="1919536" y="1112837"/>
            <a:ext cx="9007473" cy="5616575"/>
          </a:xfrm>
        </p:spPr>
        <p:txBody>
          <a:bodyPr/>
          <a:lstStyle/>
          <a:p>
            <a:pPr>
              <a:defRPr/>
            </a:pPr>
            <a:r>
              <a:rPr lang="zh-CN" altLang="en-US" sz="2400" dirty="0">
                <a:solidFill>
                  <a:srgbClr val="0000CC"/>
                </a:solidFill>
                <a:latin typeface="微软雅黑" panose="020B0503020204020204" pitchFamily="34" charset="-122"/>
                <a:ea typeface="微软雅黑" panose="020B0503020204020204" pitchFamily="34" charset="-122"/>
              </a:rPr>
              <a:t>模体：  </a:t>
            </a:r>
            <a:r>
              <a:rPr lang="zh-CN" altLang="en-US" sz="2400" dirty="0">
                <a:solidFill>
                  <a:srgbClr val="C00000"/>
                </a:solidFill>
                <a:latin typeface="微软雅黑" panose="020B0503020204020204" pitchFamily="34" charset="-122"/>
                <a:ea typeface="微软雅黑" panose="020B0503020204020204" pitchFamily="34" charset="-122"/>
              </a:rPr>
              <a:t>特定的</a:t>
            </a:r>
            <a:r>
              <a:rPr lang="zh-CN" altLang="en-US" sz="2400" dirty="0">
                <a:latin typeface="微软雅黑" panose="020B0503020204020204" pitchFamily="34" charset="-122"/>
                <a:ea typeface="微软雅黑" panose="020B0503020204020204" pitchFamily="34" charset="-122"/>
              </a:rPr>
              <a:t>肽链</a:t>
            </a:r>
            <a:r>
              <a:rPr lang="zh-CN" altLang="en-US" sz="2400" dirty="0">
                <a:solidFill>
                  <a:srgbClr val="C00000"/>
                </a:solidFill>
                <a:latin typeface="微软雅黑" panose="020B0503020204020204" pitchFamily="34" charset="-122"/>
                <a:ea typeface="微软雅黑" panose="020B0503020204020204" pitchFamily="34" charset="-122"/>
              </a:rPr>
              <a:t>折叠模式（</a:t>
            </a:r>
            <a:r>
              <a:rPr lang="en-US" altLang="zh-CN" sz="2400" dirty="0">
                <a:solidFill>
                  <a:srgbClr val="C00000"/>
                </a:solidFill>
                <a:latin typeface="微软雅黑" panose="020B0503020204020204" pitchFamily="34" charset="-122"/>
                <a:ea typeface="微软雅黑" panose="020B0503020204020204" pitchFamily="34" charset="-122"/>
              </a:rPr>
              <a:t>folding pattern), </a:t>
            </a:r>
            <a:endParaRPr lang="en-US" altLang="zh-CN" sz="2400" dirty="0">
              <a:latin typeface="微软雅黑" panose="020B0503020204020204" pitchFamily="34" charset="-122"/>
              <a:ea typeface="微软雅黑" panose="020B0503020204020204" pitchFamily="34" charset="-122"/>
            </a:endParaRPr>
          </a:p>
          <a:p>
            <a:pPr marL="0" indent="0">
              <a:buNone/>
              <a:defRPr/>
            </a:pPr>
            <a:r>
              <a:rPr lang="en-US" altLang="zh-CN" sz="2400" dirty="0">
                <a:latin typeface="微软雅黑" panose="020B0503020204020204" pitchFamily="34" charset="-122"/>
                <a:ea typeface="微软雅黑" panose="020B0503020204020204" pitchFamily="34" charset="-122"/>
              </a:rPr>
              <a:t>                α</a:t>
            </a:r>
            <a:r>
              <a:rPr lang="zh-CN" altLang="en-US" sz="2400" dirty="0">
                <a:latin typeface="微软雅黑" panose="020B0503020204020204" pitchFamily="34" charset="-122"/>
                <a:ea typeface="微软雅黑" panose="020B0503020204020204" pitchFamily="34" charset="-122"/>
              </a:rPr>
              <a:t>螺旋和</a:t>
            </a:r>
            <a:r>
              <a:rPr lang="en-US" altLang="zh-CN" sz="2400" dirty="0">
                <a:latin typeface="微软雅黑" panose="020B0503020204020204" pitchFamily="34" charset="-122"/>
                <a:ea typeface="微软雅黑" panose="020B0503020204020204" pitchFamily="34" charset="-122"/>
              </a:rPr>
              <a:t>β</a:t>
            </a:r>
            <a:r>
              <a:rPr lang="zh-CN" altLang="en-US" sz="2400" dirty="0">
                <a:latin typeface="微软雅黑" panose="020B0503020204020204" pitchFamily="34" charset="-122"/>
                <a:ea typeface="微软雅黑" panose="020B0503020204020204" pitchFamily="34" charset="-122"/>
              </a:rPr>
              <a:t>折叠的规律性稳定组合</a:t>
            </a:r>
            <a:endParaRPr lang="en-US" altLang="zh-CN" sz="2400" dirty="0">
              <a:latin typeface="微软雅黑" panose="020B0503020204020204" pitchFamily="34" charset="-122"/>
              <a:ea typeface="微软雅黑" panose="020B0503020204020204" pitchFamily="34" charset="-122"/>
            </a:endParaRPr>
          </a:p>
          <a:p>
            <a:pPr marL="0" indent="0">
              <a:buNone/>
              <a:defRPr/>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蛋白质结构域和三级结构的组件（建筑块）</a:t>
            </a:r>
            <a:endParaRPr lang="en-US" altLang="zh-CN" sz="2400" dirty="0">
              <a:latin typeface="微软雅黑" panose="020B0503020204020204" pitchFamily="34" charset="-122"/>
              <a:ea typeface="微软雅黑" panose="020B0503020204020204" pitchFamily="34" charset="-122"/>
            </a:endParaRPr>
          </a:p>
          <a:p>
            <a:pPr marL="0" indent="0">
              <a:buNone/>
              <a:defRPr/>
            </a:pPr>
            <a:r>
              <a:rPr lang="zh-CN" altLang="en-US" sz="2400" dirty="0">
                <a:latin typeface="微软雅黑" panose="020B0503020204020204" pitchFamily="34" charset="-122"/>
                <a:ea typeface="微软雅黑" panose="020B0503020204020204" pitchFamily="34" charset="-122"/>
              </a:rPr>
              <a:t>                有小有大，大的模体可能构成整个蛋白质 </a:t>
            </a:r>
            <a:endParaRPr lang="en-US" altLang="zh-CN" sz="2400" dirty="0">
              <a:latin typeface="微软雅黑" panose="020B0503020204020204" pitchFamily="34" charset="-122"/>
              <a:ea typeface="微软雅黑" panose="020B0503020204020204" pitchFamily="34" charset="-122"/>
            </a:endParaRPr>
          </a:p>
          <a:p>
            <a:pPr marL="0" indent="0">
              <a:buNone/>
              <a:defRPr/>
            </a:pPr>
            <a:r>
              <a:rPr lang="zh-CN" altLang="en-US" sz="2400" dirty="0">
                <a:solidFill>
                  <a:srgbClr val="0000CC"/>
                </a:solidFill>
                <a:latin typeface="微软雅黑" panose="020B0503020204020204" pitchFamily="34" charset="-122"/>
                <a:ea typeface="微软雅黑" panose="020B0503020204020204" pitchFamily="34" charset="-122"/>
              </a:rPr>
              <a:t>                形态多样，不一定是球状</a:t>
            </a:r>
            <a:endParaRPr lang="en-US" altLang="zh-CN" sz="2400" dirty="0">
              <a:solidFill>
                <a:srgbClr val="0000CC"/>
              </a:solidFill>
              <a:latin typeface="微软雅黑" panose="020B0503020204020204" pitchFamily="34" charset="-122"/>
              <a:ea typeface="微软雅黑" panose="020B0503020204020204" pitchFamily="34" charset="-122"/>
            </a:endParaRPr>
          </a:p>
          <a:p>
            <a:pPr marL="0" indent="0">
              <a:buNone/>
              <a:defRPr/>
            </a:pPr>
            <a:endParaRPr lang="zh-CN" altLang="en-US" sz="2400" dirty="0">
              <a:latin typeface="微软雅黑" panose="020B0503020204020204" pitchFamily="34" charset="-122"/>
              <a:ea typeface="微软雅黑" panose="020B0503020204020204" pitchFamily="34" charset="-122"/>
            </a:endParaRPr>
          </a:p>
          <a:p>
            <a:pPr>
              <a:defRPr/>
            </a:pPr>
            <a:r>
              <a:rPr lang="zh-CN" altLang="en-US" sz="2400" dirty="0">
                <a:solidFill>
                  <a:srgbClr val="0000CC"/>
                </a:solidFill>
                <a:latin typeface="微软雅黑" panose="020B0503020204020204" pitchFamily="34" charset="-122"/>
                <a:ea typeface="微软雅黑" panose="020B0503020204020204" pitchFamily="34" charset="-122"/>
              </a:rPr>
              <a:t>结构域：   </a:t>
            </a:r>
            <a:r>
              <a:rPr lang="zh-CN" altLang="en-US" sz="2400" dirty="0">
                <a:solidFill>
                  <a:srgbClr val="C00000"/>
                </a:solidFill>
                <a:latin typeface="微软雅黑" panose="020B0503020204020204" pitchFamily="34" charset="-122"/>
                <a:ea typeface="微软雅黑" panose="020B0503020204020204" pitchFamily="34" charset="-122"/>
              </a:rPr>
              <a:t>一条多肽链</a:t>
            </a:r>
            <a:r>
              <a:rPr lang="zh-CN" altLang="en-US" sz="2400" dirty="0">
                <a:latin typeface="微软雅黑" panose="020B0503020204020204" pitchFamily="34" charset="-122"/>
                <a:ea typeface="微软雅黑" panose="020B0503020204020204" pitchFamily="34" charset="-122"/>
              </a:rPr>
              <a:t>上的</a:t>
            </a:r>
            <a:r>
              <a:rPr lang="zh-CN" altLang="en-US" sz="2400" dirty="0">
                <a:solidFill>
                  <a:srgbClr val="C00000"/>
                </a:solidFill>
                <a:latin typeface="微软雅黑" panose="020B0503020204020204" pitchFamily="34" charset="-122"/>
                <a:ea typeface="微软雅黑" panose="020B0503020204020204" pitchFamily="34" charset="-122"/>
              </a:rPr>
              <a:t>独立、稳定折叠区域</a:t>
            </a:r>
            <a:endParaRPr lang="en-US" altLang="zh-CN" sz="2400" dirty="0">
              <a:latin typeface="微软雅黑" panose="020B0503020204020204" pitchFamily="34" charset="-122"/>
              <a:ea typeface="微软雅黑" panose="020B0503020204020204" pitchFamily="34" charset="-122"/>
            </a:endParaRPr>
          </a:p>
          <a:p>
            <a:pPr marL="0" indent="0">
              <a:buNone/>
              <a:defRPr/>
            </a:pPr>
            <a:r>
              <a:rPr lang="zh-CN" altLang="en-US" sz="2400" dirty="0">
                <a:latin typeface="微软雅黑" panose="020B0503020204020204" pitchFamily="34" charset="-122"/>
                <a:ea typeface="微软雅黑" panose="020B0503020204020204" pitchFamily="34" charset="-122"/>
              </a:rPr>
              <a:t>                     整个蛋白质中相对独立的</a:t>
            </a:r>
            <a:r>
              <a:rPr lang="zh-CN" altLang="en-US" sz="2400" dirty="0">
                <a:solidFill>
                  <a:srgbClr val="C00000"/>
                </a:solidFill>
                <a:latin typeface="微软雅黑" panose="020B0503020204020204" pitchFamily="34" charset="-122"/>
                <a:ea typeface="微软雅黑" panose="020B0503020204020204" pitchFamily="34" charset="-122"/>
              </a:rPr>
              <a:t>球状实体</a:t>
            </a:r>
            <a:endParaRPr lang="en-US" altLang="zh-CN" sz="2400" dirty="0">
              <a:solidFill>
                <a:srgbClr val="C00000"/>
              </a:solidFill>
              <a:latin typeface="微软雅黑" panose="020B0503020204020204" pitchFamily="34" charset="-122"/>
              <a:ea typeface="微软雅黑" panose="020B0503020204020204" pitchFamily="34" charset="-122"/>
            </a:endParaRPr>
          </a:p>
          <a:p>
            <a:pPr marL="0" indent="0">
              <a:buNone/>
              <a:defRPr/>
            </a:pPr>
            <a:r>
              <a:rPr lang="zh-CN" altLang="en-US" sz="2400" dirty="0">
                <a:latin typeface="微软雅黑" panose="020B0503020204020204" pitchFamily="34" charset="-122"/>
                <a:ea typeface="微软雅黑" panose="020B0503020204020204" pitchFamily="34" charset="-122"/>
              </a:rPr>
              <a:t>                     蛋白质酶切后，结构域常保持特定三维结构                     </a:t>
            </a:r>
            <a:endParaRPr lang="en-US" altLang="zh-CN" sz="2400" dirty="0">
              <a:latin typeface="微软雅黑" panose="020B0503020204020204" pitchFamily="34" charset="-122"/>
              <a:ea typeface="微软雅黑" panose="020B0503020204020204" pitchFamily="34" charset="-122"/>
            </a:endParaRPr>
          </a:p>
          <a:p>
            <a:pPr marL="0" indent="0">
              <a:buNone/>
              <a:defRPr/>
            </a:pPr>
            <a:r>
              <a:rPr lang="zh-CN" altLang="en-US" sz="2400" dirty="0">
                <a:latin typeface="微软雅黑" panose="020B0503020204020204" pitchFamily="34" charset="-122"/>
                <a:ea typeface="微软雅黑" panose="020B0503020204020204" pitchFamily="34" charset="-122"/>
              </a:rPr>
              <a:t>                     大蛋白质有多个结构域，小蛋白质一个结构域</a:t>
            </a:r>
            <a:endParaRPr lang="en-US" altLang="zh-CN" sz="2400" dirty="0">
              <a:latin typeface="微软雅黑" panose="020B0503020204020204" pitchFamily="34" charset="-122"/>
              <a:ea typeface="微软雅黑" panose="020B0503020204020204" pitchFamily="34" charset="-122"/>
            </a:endParaRPr>
          </a:p>
          <a:p>
            <a:pPr marL="0" indent="0">
              <a:buNone/>
              <a:defRPr/>
            </a:pPr>
            <a:r>
              <a:rPr lang="zh-CN" altLang="en-US" sz="2400" dirty="0">
                <a:latin typeface="微软雅黑" panose="020B0503020204020204" pitchFamily="34" charset="-122"/>
                <a:ea typeface="微软雅黑" panose="020B0503020204020204" pitchFamily="34" charset="-122"/>
              </a:rPr>
              <a:t>                     </a:t>
            </a:r>
            <a:r>
              <a:rPr lang="zh-CN" altLang="en-US" sz="2400" dirty="0">
                <a:solidFill>
                  <a:srgbClr val="C00000"/>
                </a:solidFill>
                <a:latin typeface="微软雅黑" panose="020B0503020204020204" pitchFamily="34" charset="-122"/>
                <a:ea typeface="微软雅黑" panose="020B0503020204020204" pitchFamily="34" charset="-122"/>
              </a:rPr>
              <a:t>一个结构域中可能有一种或多种模体</a:t>
            </a:r>
            <a:endParaRPr lang="en-US" altLang="zh-CN" sz="2400" dirty="0">
              <a:solidFill>
                <a:srgbClr val="C00000"/>
              </a:solidFill>
              <a:latin typeface="微软雅黑" panose="020B0503020204020204" pitchFamily="34" charset="-122"/>
              <a:ea typeface="微软雅黑" panose="020B0503020204020204" pitchFamily="34" charset="-122"/>
            </a:endParaRPr>
          </a:p>
          <a:p>
            <a:pPr marL="0" indent="0">
              <a:buNone/>
              <a:defRPr/>
            </a:pPr>
            <a:r>
              <a:rPr lang="zh-CN" altLang="en-US" sz="2400" dirty="0">
                <a:latin typeface="微软雅黑" panose="020B0503020204020204" pitchFamily="34" charset="-122"/>
                <a:ea typeface="微软雅黑" panose="020B0503020204020204" pitchFamily="34" charset="-122"/>
              </a:rPr>
              <a:t>                     不同结构域有不同功能</a:t>
            </a:r>
            <a:endParaRPr lang="en-US" altLang="zh-CN" sz="2400" dirty="0">
              <a:latin typeface="微软雅黑" panose="020B0503020204020204" pitchFamily="34" charset="-122"/>
              <a:ea typeface="微软雅黑" panose="020B0503020204020204" pitchFamily="34" charset="-122"/>
            </a:endParaRPr>
          </a:p>
          <a:p>
            <a:pPr marL="0" indent="0">
              <a:buNone/>
              <a:defRPr/>
            </a:pP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transition spd="slow">
    <p:circle/>
  </p:transition>
</p:sld>
</file>

<file path=ppt/slides/slide1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78530" name="图片 1">
            <a:extLst>
              <a:ext uri="{FF2B5EF4-FFF2-40B4-BE49-F238E27FC236}">
                <a16:creationId xmlns:a16="http://schemas.microsoft.com/office/drawing/2014/main" id="{887D9C81-DD40-43DB-8E2F-44C6C0BB132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08214" y="765176"/>
            <a:ext cx="8162925" cy="536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Text Box 3">
            <a:extLst>
              <a:ext uri="{FF2B5EF4-FFF2-40B4-BE49-F238E27FC236}">
                <a16:creationId xmlns:a16="http://schemas.microsoft.com/office/drawing/2014/main" id="{C3692188-9358-469A-8BD7-9DB9C89A2BFD}"/>
              </a:ext>
            </a:extLst>
          </p:cNvPr>
          <p:cNvSpPr txBox="1">
            <a:spLocks noChangeArrowheads="1"/>
          </p:cNvSpPr>
          <p:nvPr/>
        </p:nvSpPr>
        <p:spPr bwMode="auto">
          <a:xfrm>
            <a:off x="2422525" y="115889"/>
            <a:ext cx="5907088"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nchor="b"/>
          <a:lstStyle>
            <a:lvl1pPr marL="2692400" indent="-2692400">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sz="4000">
                <a:solidFill>
                  <a:schemeClr val="bg1"/>
                </a:solidFill>
              </a:rPr>
              <a:t>四、蛋白质的四级结构</a:t>
            </a:r>
          </a:p>
        </p:txBody>
      </p:sp>
      <p:sp>
        <p:nvSpPr>
          <p:cNvPr id="49156" name="Text Box 4">
            <a:extLst>
              <a:ext uri="{FF2B5EF4-FFF2-40B4-BE49-F238E27FC236}">
                <a16:creationId xmlns:a16="http://schemas.microsoft.com/office/drawing/2014/main" id="{5CE11CBC-2B54-4895-8796-FB3352418E2A}"/>
              </a:ext>
            </a:extLst>
          </p:cNvPr>
          <p:cNvSpPr txBox="1">
            <a:spLocks noChangeArrowheads="1"/>
          </p:cNvSpPr>
          <p:nvPr/>
        </p:nvSpPr>
        <p:spPr bwMode="auto">
          <a:xfrm>
            <a:off x="2222501" y="3357564"/>
            <a:ext cx="7978775" cy="1152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indent="714375">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30000"/>
              </a:lnSpc>
              <a:spcBef>
                <a:spcPct val="0"/>
              </a:spcBef>
              <a:buClrTx/>
              <a:buFontTx/>
              <a:buNone/>
            </a:pPr>
            <a:r>
              <a:rPr kumimoji="1" lang="zh-CN" altLang="en-US" b="0">
                <a:solidFill>
                  <a:schemeClr val="tx1"/>
                </a:solidFill>
              </a:rPr>
              <a:t>蛋白质分子中各亚基的空间排布及亚基接触部位的布局和相互作用，称为</a:t>
            </a:r>
            <a:r>
              <a:rPr kumimoji="1" lang="zh-CN" altLang="en-US" b="0">
                <a:solidFill>
                  <a:srgbClr val="FF0000"/>
                </a:solidFill>
              </a:rPr>
              <a:t>蛋白质的四级结构。</a:t>
            </a:r>
          </a:p>
        </p:txBody>
      </p:sp>
      <p:sp>
        <p:nvSpPr>
          <p:cNvPr id="284676" name="Text Box 5">
            <a:extLst>
              <a:ext uri="{FF2B5EF4-FFF2-40B4-BE49-F238E27FC236}">
                <a16:creationId xmlns:a16="http://schemas.microsoft.com/office/drawing/2014/main" id="{403C82E5-898A-44F5-8792-7E2D54075AB2}"/>
              </a:ext>
            </a:extLst>
          </p:cNvPr>
          <p:cNvSpPr txBox="1">
            <a:spLocks noChangeArrowheads="1"/>
          </p:cNvSpPr>
          <p:nvPr/>
        </p:nvSpPr>
        <p:spPr bwMode="auto">
          <a:xfrm>
            <a:off x="2293939" y="1412876"/>
            <a:ext cx="7705725"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indent="714375">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0000"/>
              </a:lnSpc>
              <a:spcBef>
                <a:spcPct val="0"/>
              </a:spcBef>
              <a:buClrTx/>
              <a:buFontTx/>
              <a:buNone/>
            </a:pPr>
            <a:r>
              <a:rPr kumimoji="1" lang="zh-CN" altLang="en-US" b="0" dirty="0">
                <a:solidFill>
                  <a:schemeClr val="tx1"/>
                </a:solidFill>
              </a:rPr>
              <a:t>有些蛋白质分子含有二条或多条多肽链，且每一条多肽链都有完整的三级结构，称为蛋白质的</a:t>
            </a:r>
            <a:r>
              <a:rPr kumimoji="1" lang="zh-CN" altLang="en-US" b="0" dirty="0">
                <a:solidFill>
                  <a:srgbClr val="FF0000"/>
                </a:solidFill>
              </a:rPr>
              <a:t>亚基 </a:t>
            </a:r>
            <a:r>
              <a:rPr kumimoji="1" lang="en-US" altLang="zh-CN" b="0" dirty="0">
                <a:solidFill>
                  <a:srgbClr val="FF0000"/>
                </a:solidFill>
              </a:rPr>
              <a:t>(subunit)</a:t>
            </a:r>
            <a:r>
              <a:rPr kumimoji="1" lang="zh-CN" altLang="en-US" b="0" dirty="0">
                <a:solidFill>
                  <a:schemeClr val="tx1"/>
                </a:solidFill>
              </a:rPr>
              <a:t>。</a:t>
            </a:r>
          </a:p>
        </p:txBody>
      </p:sp>
      <p:sp>
        <p:nvSpPr>
          <p:cNvPr id="391170" name="Text Box 2">
            <a:extLst>
              <a:ext uri="{FF2B5EF4-FFF2-40B4-BE49-F238E27FC236}">
                <a16:creationId xmlns:a16="http://schemas.microsoft.com/office/drawing/2014/main" id="{5BB6F8A5-CF4D-4C67-937C-92EA302200BD}"/>
              </a:ext>
            </a:extLst>
          </p:cNvPr>
          <p:cNvSpPr txBox="1">
            <a:spLocks noChangeArrowheads="1"/>
          </p:cNvSpPr>
          <p:nvPr/>
        </p:nvSpPr>
        <p:spPr bwMode="auto">
          <a:xfrm>
            <a:off x="2208213" y="5013325"/>
            <a:ext cx="7993062"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0000"/>
              </a:lnSpc>
              <a:spcBef>
                <a:spcPct val="0"/>
              </a:spcBef>
              <a:buClrTx/>
              <a:buFontTx/>
              <a:buNone/>
            </a:pPr>
            <a:r>
              <a:rPr kumimoji="1" lang="zh-CN" altLang="en-US" b="0">
                <a:solidFill>
                  <a:schemeClr val="tx1"/>
                </a:solidFill>
              </a:rPr>
              <a:t>亚基之间无共价键，主要靠</a:t>
            </a:r>
            <a:r>
              <a:rPr kumimoji="1" lang="zh-CN" altLang="en-US" b="0">
                <a:solidFill>
                  <a:srgbClr val="FF0000"/>
                </a:solidFill>
              </a:rPr>
              <a:t>次级键</a:t>
            </a:r>
            <a:r>
              <a:rPr kumimoji="1" lang="zh-CN" altLang="en-US" b="0">
                <a:solidFill>
                  <a:schemeClr val="tx1"/>
                </a:solidFill>
              </a:rPr>
              <a:t>结合。</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9156"/>
                                        </p:tgtEl>
                                        <p:attrNameLst>
                                          <p:attrName>style.visibility</p:attrName>
                                        </p:attrNameLst>
                                      </p:cBhvr>
                                      <p:to>
                                        <p:strVal val="visible"/>
                                      </p:to>
                                    </p:set>
                                    <p:animEffect transition="in" filter="blinds(horizontal)">
                                      <p:cBhvr>
                                        <p:cTn id="7" dur="500"/>
                                        <p:tgtEl>
                                          <p:spTgt spid="491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391170"/>
                                        </p:tgtEl>
                                        <p:attrNameLst>
                                          <p:attrName>style.visibility</p:attrName>
                                        </p:attrNameLst>
                                      </p:cBhvr>
                                      <p:to>
                                        <p:strVal val="visible"/>
                                      </p:to>
                                    </p:set>
                                    <p:animEffect transition="in" filter="slide(fromBottom)">
                                      <p:cBhvr>
                                        <p:cTn id="12" dur="500"/>
                                        <p:tgtEl>
                                          <p:spTgt spid="391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autoUpdateAnimBg="0"/>
      <p:bldP spid="391170" grpId="0" autoUpdateAnimBg="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a:extLst>
              <a:ext uri="{FF2B5EF4-FFF2-40B4-BE49-F238E27FC236}">
                <a16:creationId xmlns:a16="http://schemas.microsoft.com/office/drawing/2014/main" id="{532DE2EA-B938-4D86-971D-A33E4A908C8B}"/>
              </a:ext>
            </a:extLst>
          </p:cNvPr>
          <p:cNvSpPr>
            <a:spLocks noChangeArrowheads="1"/>
          </p:cNvSpPr>
          <p:nvPr/>
        </p:nvSpPr>
        <p:spPr bwMode="auto">
          <a:xfrm>
            <a:off x="1415480" y="952499"/>
            <a:ext cx="9361040"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indent="633413">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lgn="just" eaLnBrk="1" hangingPunct="1">
              <a:lnSpc>
                <a:spcPct val="120000"/>
              </a:lnSpc>
              <a:spcBef>
                <a:spcPct val="0"/>
              </a:spcBef>
              <a:buClrTx/>
              <a:buFontTx/>
              <a:buNone/>
            </a:pPr>
            <a:r>
              <a:rPr kumimoji="1" lang="zh-CN" altLang="en-US" b="0" dirty="0">
                <a:solidFill>
                  <a:schemeClr val="tx1"/>
                </a:solidFill>
              </a:rPr>
              <a:t>由多个亚基组成的蛋白质四级结构中，若亚基分子结构相同，称之为</a:t>
            </a:r>
            <a:r>
              <a:rPr kumimoji="1" lang="zh-CN" altLang="en-US" b="0" dirty="0">
                <a:solidFill>
                  <a:srgbClr val="0000CC"/>
                </a:solidFill>
              </a:rPr>
              <a:t>同聚体</a:t>
            </a:r>
            <a:r>
              <a:rPr kumimoji="1" lang="zh-CN" altLang="en-US" b="0" dirty="0">
                <a:solidFill>
                  <a:schemeClr val="tx1"/>
                </a:solidFill>
              </a:rPr>
              <a:t>，若亚基分子结构不同，则称之为</a:t>
            </a:r>
            <a:r>
              <a:rPr kumimoji="1" lang="zh-CN" altLang="en-US" b="0" dirty="0">
                <a:solidFill>
                  <a:srgbClr val="0000CC"/>
                </a:solidFill>
              </a:rPr>
              <a:t>异聚体</a:t>
            </a:r>
            <a:r>
              <a:rPr kumimoji="1" lang="zh-CN" altLang="en-US" b="0" dirty="0">
                <a:solidFill>
                  <a:schemeClr val="tx1"/>
                </a:solidFill>
              </a:rPr>
              <a:t>。  如果只含几个亚基，又称为</a:t>
            </a:r>
            <a:r>
              <a:rPr kumimoji="1" lang="zh-CN" altLang="en-US" b="0" dirty="0">
                <a:solidFill>
                  <a:srgbClr val="0000CC"/>
                </a:solidFill>
              </a:rPr>
              <a:t>寡聚体（</a:t>
            </a:r>
            <a:r>
              <a:rPr kumimoji="1" lang="en-US" altLang="zh-CN" b="0" dirty="0">
                <a:solidFill>
                  <a:srgbClr val="0000CC"/>
                </a:solidFill>
              </a:rPr>
              <a:t>oligomer) </a:t>
            </a:r>
            <a:r>
              <a:rPr kumimoji="1" lang="en-US" altLang="zh-CN" b="0" dirty="0">
                <a:solidFill>
                  <a:schemeClr val="tx1"/>
                </a:solidFill>
              </a:rPr>
              <a:t>, </a:t>
            </a:r>
            <a:r>
              <a:rPr kumimoji="1" lang="zh-CN" altLang="en-US" b="0" dirty="0">
                <a:solidFill>
                  <a:schemeClr val="tx1"/>
                </a:solidFill>
              </a:rPr>
              <a:t>若含较多亚基则称之为</a:t>
            </a:r>
            <a:r>
              <a:rPr kumimoji="1" lang="zh-CN" altLang="en-US" b="0" dirty="0">
                <a:solidFill>
                  <a:schemeClr val="accent4">
                    <a:lumMod val="75000"/>
                    <a:lumOff val="25000"/>
                  </a:schemeClr>
                </a:solidFill>
              </a:rPr>
              <a:t>多聚体</a:t>
            </a:r>
            <a:r>
              <a:rPr kumimoji="1" lang="zh-CN" altLang="en-US" b="0" dirty="0">
                <a:solidFill>
                  <a:srgbClr val="0000CC"/>
                </a:solidFill>
              </a:rPr>
              <a:t>（</a:t>
            </a:r>
            <a:r>
              <a:rPr kumimoji="1" lang="en-US" altLang="zh-CN" b="0" dirty="0">
                <a:solidFill>
                  <a:srgbClr val="0000CC"/>
                </a:solidFill>
              </a:rPr>
              <a:t>multimer)</a:t>
            </a:r>
            <a:endParaRPr kumimoji="1" lang="zh-CN" altLang="en-US" b="0" dirty="0">
              <a:solidFill>
                <a:srgbClr val="0000CC"/>
              </a:solidFill>
            </a:endParaRPr>
          </a:p>
        </p:txBody>
      </p:sp>
      <p:pic>
        <p:nvPicPr>
          <p:cNvPr id="477192" name="Picture 8" descr="01020310sma">
            <a:extLst>
              <a:ext uri="{FF2B5EF4-FFF2-40B4-BE49-F238E27FC236}">
                <a16:creationId xmlns:a16="http://schemas.microsoft.com/office/drawing/2014/main" id="{B1A764FF-FA04-4FD9-AEFF-A547D843EE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4826" y="3328989"/>
            <a:ext cx="3673475" cy="288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88D891E4-A920-48A5-BCC7-73802EAAA5D8}"/>
              </a:ext>
            </a:extLst>
          </p:cNvPr>
          <p:cNvSpPr/>
          <p:nvPr/>
        </p:nvSpPr>
        <p:spPr>
          <a:xfrm>
            <a:off x="5880101" y="3744913"/>
            <a:ext cx="4498975" cy="1693862"/>
          </a:xfrm>
          <a:prstGeom prst="rect">
            <a:avLst/>
          </a:prstGeom>
        </p:spPr>
        <p:txBody>
          <a:bodyPr>
            <a:spAutoFit/>
          </a:bodyPr>
          <a:lstStyle/>
          <a:p>
            <a:pPr>
              <a:lnSpc>
                <a:spcPct val="130000"/>
              </a:lnSpc>
              <a:defRPr/>
            </a:pPr>
            <a:r>
              <a:rPr lang="en-US" altLang="zh-CN" sz="2800" dirty="0">
                <a:latin typeface="+mn-ea"/>
                <a:ea typeface="+mn-ea"/>
              </a:rPr>
              <a:t>Hb</a:t>
            </a:r>
            <a:r>
              <a:rPr lang="zh-CN" altLang="en-US" sz="2800" dirty="0">
                <a:latin typeface="+mn-ea"/>
                <a:ea typeface="+mn-ea"/>
              </a:rPr>
              <a:t>是</a:t>
            </a:r>
            <a:r>
              <a:rPr lang="zh-CN" altLang="en-US" sz="2800" b="1" dirty="0">
                <a:solidFill>
                  <a:srgbClr val="0000CC"/>
                </a:solidFill>
                <a:latin typeface="+mn-ea"/>
                <a:ea typeface="+mn-ea"/>
              </a:rPr>
              <a:t>寡聚体、异四聚体</a:t>
            </a:r>
            <a:r>
              <a:rPr lang="zh-CN" altLang="en-US" sz="2800" dirty="0">
                <a:latin typeface="+mn-ea"/>
                <a:ea typeface="+mn-ea"/>
              </a:rPr>
              <a:t>，也可看成是</a:t>
            </a:r>
            <a:r>
              <a:rPr lang="zh-CN" altLang="en-US" sz="2800" b="1" dirty="0">
                <a:solidFill>
                  <a:srgbClr val="0000CC"/>
                </a:solidFill>
                <a:latin typeface="+mn-ea"/>
                <a:ea typeface="+mn-ea"/>
              </a:rPr>
              <a:t>同二聚体</a:t>
            </a:r>
            <a:r>
              <a:rPr lang="zh-CN" altLang="en-US" sz="2800" dirty="0">
                <a:latin typeface="+mn-ea"/>
                <a:ea typeface="+mn-ea"/>
              </a:rPr>
              <a:t>（两个相同</a:t>
            </a:r>
            <a:r>
              <a:rPr lang="en-US" altLang="zh-CN" sz="2800" dirty="0">
                <a:latin typeface="+mn-ea"/>
                <a:ea typeface="+mn-ea"/>
              </a:rPr>
              <a:t>αβ</a:t>
            </a:r>
            <a:r>
              <a:rPr lang="zh-CN" altLang="en-US" sz="2800" dirty="0">
                <a:latin typeface="+mn-ea"/>
                <a:ea typeface="+mn-ea"/>
              </a:rPr>
              <a:t>的组合）</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77192"/>
                                        </p:tgtEl>
                                        <p:attrNameLst>
                                          <p:attrName>style.visibility</p:attrName>
                                        </p:attrNameLst>
                                      </p:cBhvr>
                                      <p:to>
                                        <p:strVal val="visible"/>
                                      </p:to>
                                    </p:set>
                                    <p:animEffect transition="in" filter="box(in)">
                                      <p:cBhvr>
                                        <p:cTn id="7" dur="500"/>
                                        <p:tgtEl>
                                          <p:spTgt spid="47719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Text Box 3">
            <a:extLst>
              <a:ext uri="{FF2B5EF4-FFF2-40B4-BE49-F238E27FC236}">
                <a16:creationId xmlns:a16="http://schemas.microsoft.com/office/drawing/2014/main" id="{8A97859F-6372-4641-AFDB-E994D3735213}"/>
              </a:ext>
            </a:extLst>
          </p:cNvPr>
          <p:cNvSpPr txBox="1">
            <a:spLocks noChangeArrowheads="1"/>
          </p:cNvSpPr>
          <p:nvPr/>
        </p:nvSpPr>
        <p:spPr bwMode="auto">
          <a:xfrm>
            <a:off x="1847528" y="1196752"/>
            <a:ext cx="8723311" cy="128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50000"/>
              </a:lnSpc>
              <a:spcBef>
                <a:spcPct val="0"/>
              </a:spcBef>
              <a:buClrTx/>
              <a:buFontTx/>
              <a:buNone/>
            </a:pPr>
            <a:r>
              <a:rPr kumimoji="1" lang="en-US" altLang="zh-CN" b="0" dirty="0">
                <a:solidFill>
                  <a:schemeClr val="tx1"/>
                </a:solidFill>
              </a:rPr>
              <a:t>        </a:t>
            </a:r>
            <a:r>
              <a:rPr kumimoji="1" lang="zh-CN" altLang="en-US" b="0" dirty="0">
                <a:solidFill>
                  <a:schemeClr val="tx1"/>
                </a:solidFill>
              </a:rPr>
              <a:t>有四级结构的蛋白质，</a:t>
            </a:r>
            <a:r>
              <a:rPr kumimoji="1" lang="zh-CN" altLang="en-US" b="0" dirty="0">
                <a:solidFill>
                  <a:srgbClr val="FF0000"/>
                </a:solidFill>
              </a:rPr>
              <a:t>单独的亚基一般没有生物学功能，</a:t>
            </a:r>
            <a:r>
              <a:rPr kumimoji="1" lang="zh-CN" altLang="en-US" b="0" dirty="0">
                <a:solidFill>
                  <a:schemeClr val="tx1"/>
                </a:solidFill>
              </a:rPr>
              <a:t>只有完整的四级结构才有生物学功能。</a:t>
            </a:r>
            <a:r>
              <a:rPr kumimoji="1" lang="zh-CN" altLang="en-US" sz="1200" b="0" dirty="0">
                <a:solidFill>
                  <a:schemeClr val="tx1"/>
                </a:solidFill>
              </a:rPr>
              <a:t> </a:t>
            </a:r>
          </a:p>
        </p:txBody>
      </p:sp>
      <p:sp>
        <p:nvSpPr>
          <p:cNvPr id="2" name="矩形 1">
            <a:extLst>
              <a:ext uri="{FF2B5EF4-FFF2-40B4-BE49-F238E27FC236}">
                <a16:creationId xmlns:a16="http://schemas.microsoft.com/office/drawing/2014/main" id="{22E5CEA3-1BC0-4D5A-8E4D-E3846A8A4E60}"/>
              </a:ext>
            </a:extLst>
          </p:cNvPr>
          <p:cNvSpPr/>
          <p:nvPr/>
        </p:nvSpPr>
        <p:spPr>
          <a:xfrm>
            <a:off x="1323792" y="3068960"/>
            <a:ext cx="9544416" cy="3222998"/>
          </a:xfrm>
          <a:prstGeom prst="rect">
            <a:avLst/>
          </a:prstGeom>
        </p:spPr>
        <p:txBody>
          <a:bodyPr wrap="square">
            <a:spAutoFit/>
          </a:bodyPr>
          <a:lstStyle/>
          <a:p>
            <a:pPr marL="457200" indent="-457200" algn="just" eaLnBrk="1" hangingPunct="1">
              <a:lnSpc>
                <a:spcPct val="150000"/>
              </a:lnSpc>
              <a:buFont typeface="Wingdings" panose="05000000000000000000" pitchFamily="2" charset="2"/>
              <a:buChar char="u"/>
              <a:defRPr/>
            </a:pPr>
            <a:r>
              <a:rPr lang="zh-CN" altLang="en-US" sz="2800" dirty="0">
                <a:latin typeface="+mn-ea"/>
                <a:ea typeface="+mn-ea"/>
                <a:cs typeface="楷体_GB2312"/>
              </a:rPr>
              <a:t>某些蛋白质可以进一步聚合成多聚体，多聚体中的重复单位称为单体（</a:t>
            </a:r>
            <a:r>
              <a:rPr lang="zh-CN" altLang="en-US" sz="2800" dirty="0">
                <a:solidFill>
                  <a:srgbClr val="006600"/>
                </a:solidFill>
                <a:latin typeface="+mn-ea"/>
                <a:ea typeface="+mn-ea"/>
                <a:cs typeface="楷体_GB2312"/>
              </a:rPr>
              <a:t>单体有生物学功能</a:t>
            </a:r>
            <a:r>
              <a:rPr lang="zh-CN" altLang="en-US" sz="2800" dirty="0">
                <a:latin typeface="+mn-ea"/>
                <a:ea typeface="+mn-ea"/>
                <a:cs typeface="楷体_GB2312"/>
              </a:rPr>
              <a:t>）。</a:t>
            </a:r>
            <a:endParaRPr lang="en-US" altLang="zh-CN" sz="2800" dirty="0">
              <a:latin typeface="+mn-ea"/>
              <a:ea typeface="+mn-ea"/>
              <a:cs typeface="楷体_GB2312"/>
            </a:endParaRPr>
          </a:p>
          <a:p>
            <a:pPr algn="just" eaLnBrk="1" hangingPunct="1">
              <a:lnSpc>
                <a:spcPct val="150000"/>
              </a:lnSpc>
              <a:defRPr/>
            </a:pPr>
            <a:r>
              <a:rPr lang="zh-CN" altLang="en-US" sz="2800" dirty="0">
                <a:latin typeface="+mn-ea"/>
                <a:ea typeface="+mn-ea"/>
                <a:cs typeface="楷体_GB2312"/>
              </a:rPr>
              <a:t>  例：</a:t>
            </a:r>
            <a:r>
              <a:rPr lang="zh-CN" altLang="en-US" sz="2000" dirty="0">
                <a:latin typeface="+mn-ea"/>
                <a:ea typeface="+mn-ea"/>
                <a:cs typeface="楷体_GB2312"/>
              </a:rPr>
              <a:t>胰岛素以单体行使功能，但在胰岛</a:t>
            </a:r>
            <a:r>
              <a:rPr lang="zh-CN" altLang="en-US" sz="2000" dirty="0">
                <a:latin typeface="+mn-ea"/>
                <a:ea typeface="+mn-ea"/>
                <a:cs typeface="楷体_GB2312"/>
                <a:sym typeface="Symbol" panose="05050102010706020507" pitchFamily="18" charset="2"/>
              </a:rPr>
              <a:t></a:t>
            </a:r>
            <a:r>
              <a:rPr lang="zh-CN" altLang="en-US" sz="2000" dirty="0">
                <a:latin typeface="+mn-ea"/>
                <a:ea typeface="+mn-ea"/>
                <a:cs typeface="楷体_GB2312"/>
              </a:rPr>
              <a:t>细胞内可为</a:t>
            </a:r>
            <a:r>
              <a:rPr lang="en-US" altLang="zh-CN" sz="2000" dirty="0">
                <a:latin typeface="+mn-ea"/>
                <a:ea typeface="+mn-ea"/>
                <a:cs typeface="楷体_GB2312"/>
              </a:rPr>
              <a:t>2</a:t>
            </a:r>
            <a:r>
              <a:rPr lang="zh-CN" altLang="en-US" sz="2000" dirty="0">
                <a:latin typeface="+mn-ea"/>
                <a:ea typeface="+mn-ea"/>
                <a:cs typeface="楷体_GB2312"/>
              </a:rPr>
              <a:t>、</a:t>
            </a:r>
            <a:r>
              <a:rPr lang="en-US" altLang="zh-CN" sz="2000" dirty="0">
                <a:latin typeface="+mn-ea"/>
                <a:ea typeface="+mn-ea"/>
                <a:cs typeface="楷体_GB2312"/>
              </a:rPr>
              <a:t>4</a:t>
            </a:r>
            <a:r>
              <a:rPr lang="zh-CN" altLang="en-US" sz="2000" dirty="0">
                <a:latin typeface="+mn-ea"/>
                <a:ea typeface="+mn-ea"/>
                <a:cs typeface="楷体_GB2312"/>
              </a:rPr>
              <a:t>、</a:t>
            </a:r>
            <a:r>
              <a:rPr lang="en-US" altLang="zh-CN" sz="2000" dirty="0">
                <a:latin typeface="+mn-ea"/>
                <a:ea typeface="+mn-ea"/>
                <a:cs typeface="楷体_GB2312"/>
              </a:rPr>
              <a:t>6</a:t>
            </a:r>
            <a:r>
              <a:rPr lang="zh-CN" altLang="en-US" sz="2000" dirty="0">
                <a:latin typeface="+mn-ea"/>
                <a:ea typeface="+mn-ea"/>
                <a:cs typeface="楷体_GB2312"/>
              </a:rPr>
              <a:t>甚至高聚体</a:t>
            </a:r>
            <a:endParaRPr lang="en-US" altLang="zh-CN" sz="2000" dirty="0">
              <a:latin typeface="+mn-ea"/>
              <a:ea typeface="+mn-ea"/>
              <a:cs typeface="楷体_GB2312"/>
            </a:endParaRPr>
          </a:p>
          <a:p>
            <a:pPr marL="457200" indent="-457200" algn="just" eaLnBrk="1" hangingPunct="1">
              <a:lnSpc>
                <a:spcPct val="150000"/>
              </a:lnSpc>
              <a:buFont typeface="Wingdings" panose="05000000000000000000" pitchFamily="2" charset="2"/>
              <a:buChar char="u"/>
              <a:defRPr/>
            </a:pPr>
            <a:r>
              <a:rPr lang="zh-CN" altLang="en-US" sz="2800" dirty="0">
                <a:latin typeface="+mn-ea"/>
                <a:ea typeface="+mn-ea"/>
                <a:cs typeface="楷体_GB2312"/>
              </a:rPr>
              <a:t>多聚体、多酶复合体、超分子复合体通常认为不属于四级结构范畴。                           </a:t>
            </a:r>
            <a:endParaRPr lang="en-US" altLang="zh-CN" sz="2800" dirty="0">
              <a:latin typeface="+mn-ea"/>
              <a:ea typeface="+mn-ea"/>
              <a:cs typeface="楷体_GB2312"/>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92866" name="图片 1">
            <a:extLst>
              <a:ext uri="{FF2B5EF4-FFF2-40B4-BE49-F238E27FC236}">
                <a16:creationId xmlns:a16="http://schemas.microsoft.com/office/drawing/2014/main" id="{C79CD788-7FA7-46DC-9871-0F256B696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7714" y="1628775"/>
            <a:ext cx="5170487" cy="465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2867" name="矩形 2">
            <a:extLst>
              <a:ext uri="{FF2B5EF4-FFF2-40B4-BE49-F238E27FC236}">
                <a16:creationId xmlns:a16="http://schemas.microsoft.com/office/drawing/2014/main" id="{BD454868-A9C1-4AD0-B100-5FB43FDECA6D}"/>
              </a:ext>
            </a:extLst>
          </p:cNvPr>
          <p:cNvSpPr>
            <a:spLocks noChangeArrowheads="1"/>
          </p:cNvSpPr>
          <p:nvPr/>
        </p:nvSpPr>
        <p:spPr bwMode="auto">
          <a:xfrm>
            <a:off x="1704975" y="809626"/>
            <a:ext cx="87836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n-US" altLang="zh-CN" sz="2400" i="1">
                <a:solidFill>
                  <a:srgbClr val="777777"/>
                </a:solidFill>
                <a:latin typeface="Open Sans" panose="020B0606030504020204" pitchFamily="34" charset="0"/>
                <a:ea typeface="宋体" panose="02010600030101010101" pitchFamily="2" charset="-122"/>
              </a:rPr>
              <a:t>“for their studies of the structures of globular proteins”</a:t>
            </a:r>
            <a:endParaRPr lang="zh-CN" altLang="en-US" sz="2400">
              <a:solidFill>
                <a:schemeClr val="tx1"/>
              </a:solidFill>
              <a:latin typeface="Arial" panose="020B0604020202020204" pitchFamily="34" charset="0"/>
              <a:ea typeface="宋体" panose="02010600030101010101" pitchFamily="2" charset="-122"/>
            </a:endParaRPr>
          </a:p>
        </p:txBody>
      </p:sp>
      <p:sp>
        <p:nvSpPr>
          <p:cNvPr id="292868" name="矩形 3">
            <a:extLst>
              <a:ext uri="{FF2B5EF4-FFF2-40B4-BE49-F238E27FC236}">
                <a16:creationId xmlns:a16="http://schemas.microsoft.com/office/drawing/2014/main" id="{C0BCF39E-F3DD-43BB-A984-B1082D736953}"/>
              </a:ext>
            </a:extLst>
          </p:cNvPr>
          <p:cNvSpPr>
            <a:spLocks noChangeArrowheads="1"/>
          </p:cNvSpPr>
          <p:nvPr/>
        </p:nvSpPr>
        <p:spPr bwMode="auto">
          <a:xfrm>
            <a:off x="1524001" y="306389"/>
            <a:ext cx="93964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n-US" altLang="zh-CN">
                <a:solidFill>
                  <a:srgbClr val="0000CC"/>
                </a:solidFill>
                <a:latin typeface="Open Sans" panose="020B0606030504020204" pitchFamily="34" charset="0"/>
                <a:ea typeface="宋体" panose="02010600030101010101" pitchFamily="2" charset="-122"/>
              </a:rPr>
              <a:t>1962 Chemistry Prize – John Kendrew &amp; Max Perutz</a:t>
            </a:r>
          </a:p>
        </p:txBody>
      </p:sp>
      <p:sp>
        <p:nvSpPr>
          <p:cNvPr id="292869" name="文本框 4">
            <a:extLst>
              <a:ext uri="{FF2B5EF4-FFF2-40B4-BE49-F238E27FC236}">
                <a16:creationId xmlns:a16="http://schemas.microsoft.com/office/drawing/2014/main" id="{66FE2BCE-CD57-476F-867D-A9C8568DC838}"/>
              </a:ext>
            </a:extLst>
          </p:cNvPr>
          <p:cNvSpPr txBox="1">
            <a:spLocks noChangeArrowheads="1"/>
          </p:cNvSpPr>
          <p:nvPr/>
        </p:nvSpPr>
        <p:spPr bwMode="auto">
          <a:xfrm>
            <a:off x="5951539" y="6308726"/>
            <a:ext cx="2232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n-US" altLang="zh-CN" sz="2400" b="0">
                <a:solidFill>
                  <a:schemeClr val="tx1"/>
                </a:solidFill>
                <a:latin typeface="Arial" panose="020B0604020202020204" pitchFamily="34" charset="0"/>
                <a:ea typeface="宋体" panose="02010600030101010101" pitchFamily="2" charset="-122"/>
              </a:rPr>
              <a:t>1917-1997</a:t>
            </a:r>
            <a:endParaRPr lang="zh-CN" altLang="en-US" sz="2400" b="0">
              <a:solidFill>
                <a:schemeClr val="tx1"/>
              </a:solidFill>
              <a:latin typeface="Arial" panose="020B0604020202020204" pitchFamily="34" charset="0"/>
              <a:ea typeface="宋体" panose="02010600030101010101" pitchFamily="2" charset="-122"/>
            </a:endParaRPr>
          </a:p>
        </p:txBody>
      </p:sp>
      <p:sp>
        <p:nvSpPr>
          <p:cNvPr id="292870" name="文本框 5">
            <a:extLst>
              <a:ext uri="{FF2B5EF4-FFF2-40B4-BE49-F238E27FC236}">
                <a16:creationId xmlns:a16="http://schemas.microsoft.com/office/drawing/2014/main" id="{14EB7B23-4D39-498A-8B84-43FC25BBFC4C}"/>
              </a:ext>
            </a:extLst>
          </p:cNvPr>
          <p:cNvSpPr txBox="1">
            <a:spLocks noChangeArrowheads="1"/>
          </p:cNvSpPr>
          <p:nvPr/>
        </p:nvSpPr>
        <p:spPr bwMode="auto">
          <a:xfrm>
            <a:off x="3265489" y="6284914"/>
            <a:ext cx="22320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n-US" altLang="zh-CN" sz="2400" b="0">
                <a:solidFill>
                  <a:schemeClr val="tx1"/>
                </a:solidFill>
                <a:latin typeface="Arial" panose="020B0604020202020204" pitchFamily="34" charset="0"/>
                <a:ea typeface="宋体" panose="02010600030101010101" pitchFamily="2" charset="-122"/>
              </a:rPr>
              <a:t>1914-2002</a:t>
            </a:r>
            <a:endParaRPr lang="zh-CN" altLang="en-US" sz="2400" b="0">
              <a:solidFill>
                <a:schemeClr val="tx1"/>
              </a:solidFill>
              <a:latin typeface="Arial" panose="020B0604020202020204" pitchFamily="34" charset="0"/>
              <a:ea typeface="宋体" panose="02010600030101010101" pitchFamily="2" charset="-122"/>
            </a:endParaRPr>
          </a:p>
        </p:txBody>
      </p:sp>
    </p:spTree>
  </p:cSld>
  <p:clrMapOvr>
    <a:masterClrMapping/>
  </p:clrMapOvr>
  <p:transition spd="slow">
    <p:circl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916D1B10-298F-C1A4-C2F0-4D57502EE301}"/>
              </a:ext>
            </a:extLst>
          </p:cNvPr>
          <p:cNvPicPr>
            <a:picLocks noChangeAspect="1"/>
          </p:cNvPicPr>
          <p:nvPr/>
        </p:nvPicPr>
        <p:blipFill>
          <a:blip r:embed="rId3"/>
          <a:stretch>
            <a:fillRect/>
          </a:stretch>
        </p:blipFill>
        <p:spPr>
          <a:xfrm>
            <a:off x="0" y="2496457"/>
            <a:ext cx="12192000" cy="4187902"/>
          </a:xfrm>
          <a:prstGeom prst="rect">
            <a:avLst/>
          </a:prstGeom>
        </p:spPr>
      </p:pic>
      <p:sp>
        <p:nvSpPr>
          <p:cNvPr id="3" name="标题 2">
            <a:extLst>
              <a:ext uri="{FF2B5EF4-FFF2-40B4-BE49-F238E27FC236}">
                <a16:creationId xmlns:a16="http://schemas.microsoft.com/office/drawing/2014/main" id="{2165568D-6FBF-42E6-A498-5DF453BC1529}"/>
              </a:ext>
            </a:extLst>
          </p:cNvPr>
          <p:cNvSpPr>
            <a:spLocks noGrp="1"/>
          </p:cNvSpPr>
          <p:nvPr>
            <p:ph type="title" idx="4294967295"/>
          </p:nvPr>
        </p:nvSpPr>
        <p:spPr>
          <a:xfrm>
            <a:off x="1415480" y="48258"/>
            <a:ext cx="9080500" cy="823913"/>
          </a:xfrm>
          <a:solidFill>
            <a:schemeClr val="tx1">
              <a:lumMod val="75000"/>
            </a:schemeClr>
          </a:solidFill>
        </p:spPr>
        <p:txBody>
          <a:bodyPr/>
          <a:lstStyle/>
          <a:p>
            <a:pPr>
              <a:defRPr/>
            </a:pPr>
            <a:r>
              <a:rPr lang="en-US" altLang="zh-CN" sz="3200" dirty="0">
                <a:solidFill>
                  <a:srgbClr val="FFFF00"/>
                </a:solidFill>
              </a:rPr>
              <a:t>Protein Data Bank(PDB)</a:t>
            </a:r>
            <a:r>
              <a:rPr lang="zh-CN" altLang="en-US" sz="3200" dirty="0">
                <a:solidFill>
                  <a:srgbClr val="FFFF00"/>
                </a:solidFill>
              </a:rPr>
              <a:t>：蛋白质结构数据库</a:t>
            </a:r>
          </a:p>
        </p:txBody>
      </p:sp>
      <p:sp>
        <p:nvSpPr>
          <p:cNvPr id="273412" name="内容占位符 3">
            <a:extLst>
              <a:ext uri="{FF2B5EF4-FFF2-40B4-BE49-F238E27FC236}">
                <a16:creationId xmlns:a16="http://schemas.microsoft.com/office/drawing/2014/main" id="{8DD9F4C2-9318-48B6-BE66-288B53235DEC}"/>
              </a:ext>
            </a:extLst>
          </p:cNvPr>
          <p:cNvSpPr>
            <a:spLocks noGrp="1" noChangeArrowheads="1"/>
          </p:cNvSpPr>
          <p:nvPr>
            <p:ph idx="4294967295"/>
          </p:nvPr>
        </p:nvSpPr>
        <p:spPr>
          <a:xfrm>
            <a:off x="-96688" y="966462"/>
            <a:ext cx="12192000" cy="1301131"/>
          </a:xfrm>
        </p:spPr>
        <p:txBody>
          <a:bodyPr/>
          <a:lstStyle/>
          <a:p>
            <a:pPr>
              <a:defRPr/>
            </a:pPr>
            <a:r>
              <a:rPr lang="zh-CN" altLang="en-US" sz="2400" b="0" dirty="0"/>
              <a:t>目前</a:t>
            </a:r>
            <a:r>
              <a:rPr lang="zh-CN" altLang="en-US" sz="2400" b="0" dirty="0">
                <a:solidFill>
                  <a:schemeClr val="tx1">
                    <a:lumMod val="60000"/>
                    <a:lumOff val="40000"/>
                  </a:schemeClr>
                </a:solidFill>
              </a:rPr>
              <a:t>最主要</a:t>
            </a:r>
            <a:r>
              <a:rPr lang="zh-CN" altLang="en-US" sz="2400" b="0" dirty="0"/>
              <a:t>的收集生物大分子</a:t>
            </a:r>
            <a:r>
              <a:rPr lang="en-US" altLang="zh-CN" sz="2400" b="0" dirty="0"/>
              <a:t>(</a:t>
            </a:r>
            <a:r>
              <a:rPr lang="zh-CN" altLang="en-US" sz="2400" b="0" dirty="0"/>
              <a:t>蛋白质、核酸、核酸蛋白复合物、糖</a:t>
            </a:r>
            <a:r>
              <a:rPr lang="en-US" altLang="zh-CN" sz="2400" b="0" dirty="0"/>
              <a:t>) </a:t>
            </a:r>
            <a:r>
              <a:rPr lang="zh-CN" altLang="en-US" sz="2400" b="0" dirty="0">
                <a:solidFill>
                  <a:schemeClr val="tx1">
                    <a:lumMod val="60000"/>
                    <a:lumOff val="40000"/>
                  </a:schemeClr>
                </a:solidFill>
              </a:rPr>
              <a:t>三维结构</a:t>
            </a:r>
            <a:r>
              <a:rPr lang="zh-CN" altLang="en-US" sz="2400" b="0" dirty="0"/>
              <a:t>的数据库</a:t>
            </a:r>
          </a:p>
          <a:p>
            <a:pPr>
              <a:defRPr/>
            </a:pPr>
            <a:r>
              <a:rPr lang="en-US" altLang="zh-CN" sz="2400" b="0" dirty="0"/>
              <a:t>PDB</a:t>
            </a:r>
            <a:r>
              <a:rPr lang="zh-CN" altLang="en-US" sz="2400" b="0" dirty="0"/>
              <a:t>中的记录有唯一的</a:t>
            </a:r>
            <a:r>
              <a:rPr lang="en-US" altLang="zh-CN" sz="2400" b="0" dirty="0">
                <a:solidFill>
                  <a:srgbClr val="FF0000"/>
                </a:solidFill>
              </a:rPr>
              <a:t>PDB ID</a:t>
            </a:r>
            <a:r>
              <a:rPr lang="zh-CN" altLang="en-US" sz="2400" b="0" dirty="0"/>
              <a:t>，包括</a:t>
            </a:r>
            <a:r>
              <a:rPr lang="en-US" altLang="zh-CN" sz="2400" b="0" dirty="0"/>
              <a:t>4</a:t>
            </a:r>
            <a:r>
              <a:rPr lang="zh-CN" altLang="en-US" sz="2400" b="0" dirty="0"/>
              <a:t>个字符串</a:t>
            </a:r>
            <a:r>
              <a:rPr lang="en-US" altLang="zh-CN" sz="2400" b="0" dirty="0"/>
              <a:t>, </a:t>
            </a:r>
            <a:r>
              <a:rPr lang="zh-CN" altLang="en-US" sz="2400" b="0" dirty="0"/>
              <a:t>是</a:t>
            </a:r>
            <a:r>
              <a:rPr lang="en-US" altLang="zh-CN" sz="2400" b="0" dirty="0"/>
              <a:t>26</a:t>
            </a:r>
            <a:r>
              <a:rPr lang="zh-CN" altLang="en-US" sz="2400" b="0" dirty="0"/>
              <a:t>个大写字母和</a:t>
            </a:r>
            <a:r>
              <a:rPr lang="en-US" altLang="zh-CN" sz="2400" b="0" dirty="0"/>
              <a:t>0~9</a:t>
            </a:r>
            <a:r>
              <a:rPr lang="zh-CN" altLang="en-US" sz="2400" b="0" dirty="0"/>
              <a:t>共</a:t>
            </a:r>
            <a:r>
              <a:rPr lang="en-US" altLang="zh-CN" sz="2400" b="0" dirty="0"/>
              <a:t>10</a:t>
            </a:r>
            <a:r>
              <a:rPr lang="zh-CN" altLang="en-US" sz="2400" b="0" dirty="0"/>
              <a:t>个阿拉伯数字的组合，</a:t>
            </a:r>
            <a:r>
              <a:rPr lang="zh-CN" altLang="en-US" sz="2400" b="0" dirty="0">
                <a:solidFill>
                  <a:srgbClr val="FF0000"/>
                </a:solidFill>
              </a:rPr>
              <a:t>比如  </a:t>
            </a:r>
            <a:r>
              <a:rPr lang="en-US" altLang="zh-CN" sz="2400" b="0" dirty="0">
                <a:solidFill>
                  <a:srgbClr val="FF0000"/>
                </a:solidFill>
              </a:rPr>
              <a:t>1IGT </a:t>
            </a:r>
          </a:p>
        </p:txBody>
      </p:sp>
      <p:sp>
        <p:nvSpPr>
          <p:cNvPr id="280581" name="矩形 4">
            <a:extLst>
              <a:ext uri="{FF2B5EF4-FFF2-40B4-BE49-F238E27FC236}">
                <a16:creationId xmlns:a16="http://schemas.microsoft.com/office/drawing/2014/main" id="{39E44183-2A88-42DA-98A6-AEE62B7CD866}"/>
              </a:ext>
            </a:extLst>
          </p:cNvPr>
          <p:cNvSpPr>
            <a:spLocks noChangeArrowheads="1"/>
          </p:cNvSpPr>
          <p:nvPr/>
        </p:nvSpPr>
        <p:spPr bwMode="auto">
          <a:xfrm>
            <a:off x="6960096" y="1891646"/>
            <a:ext cx="29552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n-US" altLang="zh-CN" sz="2400" b="0" dirty="0">
                <a:solidFill>
                  <a:srgbClr val="FF0000"/>
                </a:solidFill>
                <a:latin typeface="Arial" panose="020B0604020202020204" pitchFamily="34" charset="0"/>
                <a:ea typeface="宋体" panose="02010600030101010101" pitchFamily="2" charset="-122"/>
              </a:rPr>
              <a:t>https://www.rcsb.org</a:t>
            </a:r>
            <a:endParaRPr lang="zh-CN" altLang="en-US" sz="2400" b="0" dirty="0">
              <a:solidFill>
                <a:srgbClr val="FF0000"/>
              </a:solidFill>
              <a:latin typeface="Arial" panose="020B0604020202020204" pitchFamily="34" charset="0"/>
              <a:ea typeface="宋体" panose="02010600030101010101" pitchFamily="2" charset="-122"/>
            </a:endParaRPr>
          </a:p>
        </p:txBody>
      </p:sp>
      <p:cxnSp>
        <p:nvCxnSpPr>
          <p:cNvPr id="8" name="直接箭头连接符 7">
            <a:extLst>
              <a:ext uri="{FF2B5EF4-FFF2-40B4-BE49-F238E27FC236}">
                <a16:creationId xmlns:a16="http://schemas.microsoft.com/office/drawing/2014/main" id="{8E1A5632-1E6E-46A4-A5C0-2FBF4A08DF21}"/>
              </a:ext>
            </a:extLst>
          </p:cNvPr>
          <p:cNvCxnSpPr>
            <a:cxnSpLocks/>
          </p:cNvCxnSpPr>
          <p:nvPr/>
        </p:nvCxnSpPr>
        <p:spPr bwMode="auto">
          <a:xfrm flipH="1" flipV="1">
            <a:off x="4909741" y="3113594"/>
            <a:ext cx="716334" cy="288032"/>
          </a:xfrm>
          <a:prstGeom prst="straightConnector1">
            <a:avLst/>
          </a:prstGeom>
          <a:solidFill>
            <a:schemeClr val="accent1"/>
          </a:solidFill>
          <a:ln w="57150" cap="flat" cmpd="sng" algn="ctr">
            <a:solidFill>
              <a:srgbClr val="C00000"/>
            </a:solidFill>
            <a:prstDash val="solid"/>
            <a:round/>
            <a:headEnd type="none" w="med" len="med"/>
            <a:tailEnd type="triangle"/>
          </a:ln>
          <a:effectLst/>
        </p:spPr>
      </p:cxnSp>
      <p:sp>
        <p:nvSpPr>
          <p:cNvPr id="11" name="矩形 10">
            <a:extLst>
              <a:ext uri="{FF2B5EF4-FFF2-40B4-BE49-F238E27FC236}">
                <a16:creationId xmlns:a16="http://schemas.microsoft.com/office/drawing/2014/main" id="{13278B00-42DA-DC33-D483-CADF71209057}"/>
              </a:ext>
            </a:extLst>
          </p:cNvPr>
          <p:cNvSpPr/>
          <p:nvPr/>
        </p:nvSpPr>
        <p:spPr bwMode="auto">
          <a:xfrm>
            <a:off x="2423592" y="6309319"/>
            <a:ext cx="5544616" cy="375039"/>
          </a:xfrm>
          <a:prstGeom prst="rect">
            <a:avLst/>
          </a:prstGeom>
          <a:noFill/>
          <a:ln w="38100" cap="flat" cmpd="sng" algn="ctr">
            <a:solidFill>
              <a:srgbClr val="C0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eaLnBrk="1" hangingPunct="1"/>
            <a:endParaRPr lang="zh-CN" altLang="en-US"/>
          </a:p>
        </p:txBody>
      </p:sp>
    </p:spTree>
    <p:extLst>
      <p:ext uri="{BB962C8B-B14F-4D97-AF65-F5344CB8AC3E}">
        <p14:creationId xmlns:p14="http://schemas.microsoft.com/office/powerpoint/2010/main" val="3633613385"/>
      </p:ext>
    </p:extLst>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BC22C69-7761-3400-B6B9-231FC9ECA455}"/>
              </a:ext>
            </a:extLst>
          </p:cNvPr>
          <p:cNvSpPr txBox="1"/>
          <p:nvPr/>
        </p:nvSpPr>
        <p:spPr>
          <a:xfrm>
            <a:off x="3359696" y="346224"/>
            <a:ext cx="6336704" cy="584775"/>
          </a:xfrm>
          <a:prstGeom prst="rect">
            <a:avLst/>
          </a:prstGeom>
          <a:noFill/>
        </p:spPr>
        <p:txBody>
          <a:bodyPr wrap="square">
            <a:spAutoFit/>
          </a:bodyPr>
          <a:lstStyle/>
          <a:p>
            <a:r>
              <a:rPr lang="en-US" altLang="zh-CN" sz="3200" dirty="0"/>
              <a:t>https://alphafold.ebi.ac.uk/</a:t>
            </a:r>
            <a:endParaRPr lang="zh-CN" altLang="en-US" sz="3200" dirty="0"/>
          </a:p>
        </p:txBody>
      </p:sp>
      <p:pic>
        <p:nvPicPr>
          <p:cNvPr id="4" name="图片 3">
            <a:extLst>
              <a:ext uri="{FF2B5EF4-FFF2-40B4-BE49-F238E27FC236}">
                <a16:creationId xmlns:a16="http://schemas.microsoft.com/office/drawing/2014/main" id="{EA65743B-449D-F1FA-E042-9583A6C31F32}"/>
              </a:ext>
            </a:extLst>
          </p:cNvPr>
          <p:cNvPicPr>
            <a:picLocks noChangeAspect="1"/>
          </p:cNvPicPr>
          <p:nvPr/>
        </p:nvPicPr>
        <p:blipFill>
          <a:blip r:embed="rId3"/>
          <a:stretch>
            <a:fillRect/>
          </a:stretch>
        </p:blipFill>
        <p:spPr>
          <a:xfrm>
            <a:off x="1516859" y="980728"/>
            <a:ext cx="9180512" cy="5212080"/>
          </a:xfrm>
          <a:prstGeom prst="rect">
            <a:avLst/>
          </a:prstGeom>
        </p:spPr>
      </p:pic>
      <p:sp>
        <p:nvSpPr>
          <p:cNvPr id="3" name="文本框 2">
            <a:extLst>
              <a:ext uri="{FF2B5EF4-FFF2-40B4-BE49-F238E27FC236}">
                <a16:creationId xmlns:a16="http://schemas.microsoft.com/office/drawing/2014/main" id="{1B16CF25-0502-6B6A-B84A-A9E0922AE131}"/>
              </a:ext>
            </a:extLst>
          </p:cNvPr>
          <p:cNvSpPr txBox="1"/>
          <p:nvPr/>
        </p:nvSpPr>
        <p:spPr>
          <a:xfrm>
            <a:off x="2135560" y="6292268"/>
            <a:ext cx="8784976" cy="461665"/>
          </a:xfrm>
          <a:prstGeom prst="rect">
            <a:avLst/>
          </a:prstGeom>
          <a:noFill/>
        </p:spPr>
        <p:txBody>
          <a:bodyPr wrap="square">
            <a:spAutoFit/>
          </a:bodyPr>
          <a:lstStyle/>
          <a:p>
            <a:r>
              <a:rPr lang="zh-CN" altLang="en-US" sz="2400" dirty="0">
                <a:latin typeface="+mn-ea"/>
                <a:ea typeface="+mn-ea"/>
              </a:rPr>
              <a:t>超过 </a:t>
            </a:r>
            <a:r>
              <a:rPr lang="en-US" altLang="zh-CN" sz="2400" dirty="0">
                <a:latin typeface="+mn-ea"/>
                <a:ea typeface="+mn-ea"/>
              </a:rPr>
              <a:t>2 </a:t>
            </a:r>
            <a:r>
              <a:rPr lang="zh-CN" altLang="en-US" sz="2400" dirty="0">
                <a:latin typeface="+mn-ea"/>
                <a:ea typeface="+mn-ea"/>
              </a:rPr>
              <a:t>亿个预测的蛋白质结构，代表几乎所有已知的蛋白质</a:t>
            </a:r>
          </a:p>
        </p:txBody>
      </p:sp>
    </p:spTree>
    <p:extLst>
      <p:ext uri="{BB962C8B-B14F-4D97-AF65-F5344CB8AC3E}">
        <p14:creationId xmlns:p14="http://schemas.microsoft.com/office/powerpoint/2010/main" val="3597436058"/>
      </p:ext>
    </p:extLst>
  </p:cSld>
  <p:clrMapOvr>
    <a:masterClrMapping/>
  </p:clrMapOvr>
  <p:transition spd="slow">
    <p:circle/>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96E773F-D132-663E-E4D2-16A4B3E9016A}"/>
              </a:ext>
            </a:extLst>
          </p:cNvPr>
          <p:cNvSpPr txBox="1"/>
          <p:nvPr/>
        </p:nvSpPr>
        <p:spPr>
          <a:xfrm>
            <a:off x="3359696" y="642823"/>
            <a:ext cx="5472608" cy="584775"/>
          </a:xfrm>
          <a:prstGeom prst="rect">
            <a:avLst/>
          </a:prstGeom>
          <a:noFill/>
        </p:spPr>
        <p:txBody>
          <a:bodyPr wrap="square" rtlCol="0">
            <a:spAutoFit/>
          </a:bodyPr>
          <a:lstStyle/>
          <a:p>
            <a:pPr algn="ctr"/>
            <a:r>
              <a:rPr lang="en-US" altLang="zh-CN" sz="3200" dirty="0">
                <a:solidFill>
                  <a:schemeClr val="tx1">
                    <a:lumMod val="60000"/>
                    <a:lumOff val="40000"/>
                  </a:schemeClr>
                </a:solidFill>
                <a:latin typeface="+mn-ea"/>
                <a:ea typeface="+mn-ea"/>
              </a:rPr>
              <a:t>2024</a:t>
            </a:r>
            <a:r>
              <a:rPr lang="zh-CN" altLang="en-US" sz="3200" dirty="0">
                <a:solidFill>
                  <a:schemeClr val="tx1">
                    <a:lumMod val="60000"/>
                    <a:lumOff val="40000"/>
                  </a:schemeClr>
                </a:solidFill>
                <a:latin typeface="+mn-ea"/>
                <a:ea typeface="+mn-ea"/>
              </a:rPr>
              <a:t>年诺贝尔化学奖获得者</a:t>
            </a:r>
          </a:p>
        </p:txBody>
      </p:sp>
      <p:sp>
        <p:nvSpPr>
          <p:cNvPr id="4" name="文本框 3">
            <a:extLst>
              <a:ext uri="{FF2B5EF4-FFF2-40B4-BE49-F238E27FC236}">
                <a16:creationId xmlns:a16="http://schemas.microsoft.com/office/drawing/2014/main" id="{C088BC07-304F-B713-1F06-A86AD21FA509}"/>
              </a:ext>
            </a:extLst>
          </p:cNvPr>
          <p:cNvSpPr txBox="1"/>
          <p:nvPr/>
        </p:nvSpPr>
        <p:spPr>
          <a:xfrm>
            <a:off x="7896200" y="4949824"/>
            <a:ext cx="2380358" cy="646331"/>
          </a:xfrm>
          <a:prstGeom prst="rect">
            <a:avLst/>
          </a:prstGeom>
          <a:noFill/>
        </p:spPr>
        <p:txBody>
          <a:bodyPr wrap="square">
            <a:spAutoFit/>
          </a:bodyPr>
          <a:lstStyle/>
          <a:p>
            <a:r>
              <a:rPr lang="en-US" altLang="zh-CN" sz="2000" dirty="0"/>
              <a:t>½   prize</a:t>
            </a:r>
          </a:p>
          <a:p>
            <a:r>
              <a:rPr lang="en-US" altLang="zh-CN" dirty="0"/>
              <a:t>David Baker</a:t>
            </a:r>
            <a:r>
              <a:rPr lang="zh-CN" altLang="en-US" dirty="0"/>
              <a:t>， </a:t>
            </a:r>
            <a:r>
              <a:rPr lang="en-US" altLang="zh-CN" dirty="0"/>
              <a:t>USA</a:t>
            </a:r>
          </a:p>
        </p:txBody>
      </p:sp>
      <p:sp>
        <p:nvSpPr>
          <p:cNvPr id="6" name="文本框 5">
            <a:extLst>
              <a:ext uri="{FF2B5EF4-FFF2-40B4-BE49-F238E27FC236}">
                <a16:creationId xmlns:a16="http://schemas.microsoft.com/office/drawing/2014/main" id="{74A801C8-DBAE-6293-9C84-3A2C43A5DBD0}"/>
              </a:ext>
            </a:extLst>
          </p:cNvPr>
          <p:cNvSpPr txBox="1"/>
          <p:nvPr/>
        </p:nvSpPr>
        <p:spPr>
          <a:xfrm>
            <a:off x="1317969" y="4921439"/>
            <a:ext cx="2770480" cy="892552"/>
          </a:xfrm>
          <a:prstGeom prst="rect">
            <a:avLst/>
          </a:prstGeom>
          <a:noFill/>
        </p:spPr>
        <p:txBody>
          <a:bodyPr wrap="square">
            <a:spAutoFit/>
          </a:bodyPr>
          <a:lstStyle/>
          <a:p>
            <a:r>
              <a:rPr lang="en-US" altLang="zh-CN" sz="2000" dirty="0"/>
              <a:t>¼ prize </a:t>
            </a:r>
          </a:p>
          <a:p>
            <a:r>
              <a:rPr lang="en-US" altLang="zh-CN" dirty="0"/>
              <a:t>Demis Hassabis</a:t>
            </a:r>
          </a:p>
          <a:p>
            <a:r>
              <a:rPr lang="en-US" altLang="zh-CN" dirty="0"/>
              <a:t>Google DeepMind, UK</a:t>
            </a:r>
          </a:p>
        </p:txBody>
      </p:sp>
      <p:pic>
        <p:nvPicPr>
          <p:cNvPr id="8" name="图片 7">
            <a:extLst>
              <a:ext uri="{FF2B5EF4-FFF2-40B4-BE49-F238E27FC236}">
                <a16:creationId xmlns:a16="http://schemas.microsoft.com/office/drawing/2014/main" id="{4920048B-845A-169A-F186-F99B2F2401E6}"/>
              </a:ext>
            </a:extLst>
          </p:cNvPr>
          <p:cNvPicPr>
            <a:picLocks noChangeAspect="1"/>
          </p:cNvPicPr>
          <p:nvPr/>
        </p:nvPicPr>
        <p:blipFill>
          <a:blip r:embed="rId3"/>
          <a:stretch>
            <a:fillRect/>
          </a:stretch>
        </p:blipFill>
        <p:spPr>
          <a:xfrm>
            <a:off x="7737888" y="1484784"/>
            <a:ext cx="3119081" cy="3331745"/>
          </a:xfrm>
          <a:prstGeom prst="rect">
            <a:avLst/>
          </a:prstGeom>
        </p:spPr>
      </p:pic>
      <p:pic>
        <p:nvPicPr>
          <p:cNvPr id="10" name="图片 9">
            <a:extLst>
              <a:ext uri="{FF2B5EF4-FFF2-40B4-BE49-F238E27FC236}">
                <a16:creationId xmlns:a16="http://schemas.microsoft.com/office/drawing/2014/main" id="{64ACDBBC-2062-10A0-A231-7E0C58FDA259}"/>
              </a:ext>
            </a:extLst>
          </p:cNvPr>
          <p:cNvPicPr>
            <a:picLocks noChangeAspect="1"/>
          </p:cNvPicPr>
          <p:nvPr/>
        </p:nvPicPr>
        <p:blipFill>
          <a:blip r:embed="rId4"/>
          <a:srcRect l="7008" r="13636"/>
          <a:stretch>
            <a:fillRect/>
          </a:stretch>
        </p:blipFill>
        <p:spPr>
          <a:xfrm>
            <a:off x="1115452" y="1561336"/>
            <a:ext cx="3060116" cy="3303535"/>
          </a:xfrm>
          <a:prstGeom prst="rect">
            <a:avLst/>
          </a:prstGeom>
        </p:spPr>
      </p:pic>
      <p:pic>
        <p:nvPicPr>
          <p:cNvPr id="12" name="图片 11">
            <a:extLst>
              <a:ext uri="{FF2B5EF4-FFF2-40B4-BE49-F238E27FC236}">
                <a16:creationId xmlns:a16="http://schemas.microsoft.com/office/drawing/2014/main" id="{3C229AA0-F4B2-8100-D0F8-C2EC9C52DF17}"/>
              </a:ext>
            </a:extLst>
          </p:cNvPr>
          <p:cNvPicPr>
            <a:picLocks noChangeAspect="1"/>
          </p:cNvPicPr>
          <p:nvPr/>
        </p:nvPicPr>
        <p:blipFill>
          <a:blip r:embed="rId5"/>
          <a:stretch>
            <a:fillRect/>
          </a:stretch>
        </p:blipFill>
        <p:spPr>
          <a:xfrm>
            <a:off x="4453471" y="1545399"/>
            <a:ext cx="3060115" cy="3297333"/>
          </a:xfrm>
          <a:prstGeom prst="rect">
            <a:avLst/>
          </a:prstGeom>
        </p:spPr>
      </p:pic>
      <p:sp>
        <p:nvSpPr>
          <p:cNvPr id="13" name="文本框 12">
            <a:extLst>
              <a:ext uri="{FF2B5EF4-FFF2-40B4-BE49-F238E27FC236}">
                <a16:creationId xmlns:a16="http://schemas.microsoft.com/office/drawing/2014/main" id="{30F61738-BED5-1B93-1C70-3DFEE4474B64}"/>
              </a:ext>
            </a:extLst>
          </p:cNvPr>
          <p:cNvSpPr txBox="1"/>
          <p:nvPr/>
        </p:nvSpPr>
        <p:spPr>
          <a:xfrm>
            <a:off x="4562010" y="4862908"/>
            <a:ext cx="2707514" cy="892552"/>
          </a:xfrm>
          <a:prstGeom prst="rect">
            <a:avLst/>
          </a:prstGeom>
          <a:noFill/>
        </p:spPr>
        <p:txBody>
          <a:bodyPr wrap="square">
            <a:spAutoFit/>
          </a:bodyPr>
          <a:lstStyle/>
          <a:p>
            <a:r>
              <a:rPr lang="en-US" altLang="zh-CN" sz="2000" dirty="0"/>
              <a:t>¼  prize </a:t>
            </a:r>
          </a:p>
          <a:p>
            <a:r>
              <a:rPr lang="en-US" altLang="zh-CN" dirty="0"/>
              <a:t>John Jumper</a:t>
            </a:r>
          </a:p>
          <a:p>
            <a:r>
              <a:rPr lang="en-US" altLang="zh-CN" dirty="0"/>
              <a:t>Google DeepMind, UK</a:t>
            </a:r>
          </a:p>
        </p:txBody>
      </p:sp>
      <p:sp>
        <p:nvSpPr>
          <p:cNvPr id="15" name="文本框 14">
            <a:extLst>
              <a:ext uri="{FF2B5EF4-FFF2-40B4-BE49-F238E27FC236}">
                <a16:creationId xmlns:a16="http://schemas.microsoft.com/office/drawing/2014/main" id="{59390B5E-38E2-FC2B-571E-702FF3D301B2}"/>
              </a:ext>
            </a:extLst>
          </p:cNvPr>
          <p:cNvSpPr txBox="1"/>
          <p:nvPr/>
        </p:nvSpPr>
        <p:spPr>
          <a:xfrm>
            <a:off x="1559496" y="5984344"/>
            <a:ext cx="4790603" cy="461665"/>
          </a:xfrm>
          <a:prstGeom prst="rect">
            <a:avLst/>
          </a:prstGeom>
          <a:noFill/>
        </p:spPr>
        <p:txBody>
          <a:bodyPr wrap="square">
            <a:spAutoFit/>
          </a:bodyPr>
          <a:lstStyle/>
          <a:p>
            <a:r>
              <a:rPr lang="en-US" altLang="zh-CN" sz="2400" dirty="0"/>
              <a:t>“</a:t>
            </a:r>
            <a:r>
              <a:rPr lang="en-US" altLang="zh-CN" sz="2400" dirty="0">
                <a:solidFill>
                  <a:srgbClr val="FF0000"/>
                </a:solidFill>
              </a:rPr>
              <a:t>for protein structure prediction”</a:t>
            </a:r>
            <a:endParaRPr lang="zh-CN" altLang="en-US" sz="2400" dirty="0">
              <a:solidFill>
                <a:srgbClr val="FF0000"/>
              </a:solidFill>
            </a:endParaRPr>
          </a:p>
        </p:txBody>
      </p:sp>
      <p:sp>
        <p:nvSpPr>
          <p:cNvPr id="17" name="文本框 16">
            <a:extLst>
              <a:ext uri="{FF2B5EF4-FFF2-40B4-BE49-F238E27FC236}">
                <a16:creationId xmlns:a16="http://schemas.microsoft.com/office/drawing/2014/main" id="{D36548A0-C6EE-C439-C6A1-FDE52299842C}"/>
              </a:ext>
            </a:extLst>
          </p:cNvPr>
          <p:cNvSpPr txBox="1"/>
          <p:nvPr/>
        </p:nvSpPr>
        <p:spPr>
          <a:xfrm>
            <a:off x="7244545" y="5827200"/>
            <a:ext cx="4919118" cy="461665"/>
          </a:xfrm>
          <a:prstGeom prst="rect">
            <a:avLst/>
          </a:prstGeom>
          <a:noFill/>
        </p:spPr>
        <p:txBody>
          <a:bodyPr wrap="square">
            <a:spAutoFit/>
          </a:bodyPr>
          <a:lstStyle/>
          <a:p>
            <a:r>
              <a:rPr lang="en-US" altLang="zh-CN" sz="2400" dirty="0">
                <a:solidFill>
                  <a:srgbClr val="FF0000"/>
                </a:solidFill>
              </a:rPr>
              <a:t>“for computational protein design</a:t>
            </a:r>
            <a:r>
              <a:rPr lang="en-US" altLang="zh-CN" sz="2400" dirty="0"/>
              <a:t>”</a:t>
            </a:r>
            <a:endParaRPr lang="zh-CN" altLang="en-US" sz="2400" dirty="0"/>
          </a:p>
        </p:txBody>
      </p:sp>
    </p:spTree>
    <p:extLst>
      <p:ext uri="{BB962C8B-B14F-4D97-AF65-F5344CB8AC3E}">
        <p14:creationId xmlns:p14="http://schemas.microsoft.com/office/powerpoint/2010/main" val="4001047290"/>
      </p:ext>
    </p:extLst>
  </p:cSld>
  <p:clrMapOvr>
    <a:masterClrMapping/>
  </p:clrMapOvr>
  <p:transition spd="slow">
    <p:circle/>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a:extLst>
              <a:ext uri="{FF2B5EF4-FFF2-40B4-BE49-F238E27FC236}">
                <a16:creationId xmlns:a16="http://schemas.microsoft.com/office/drawing/2014/main" id="{04E32750-F3C3-4304-9F5E-4F9A216E5FD9}"/>
              </a:ext>
            </a:extLst>
          </p:cNvPr>
          <p:cNvSpPr>
            <a:spLocks noGrp="1" noChangeArrowheads="1"/>
          </p:cNvSpPr>
          <p:nvPr>
            <p:ph type="title"/>
          </p:nvPr>
        </p:nvSpPr>
        <p:spPr>
          <a:xfrm>
            <a:off x="1893888" y="188913"/>
            <a:ext cx="6723062" cy="563562"/>
          </a:xfrm>
        </p:spPr>
        <p:txBody>
          <a:bodyPr/>
          <a:lstStyle/>
          <a:p>
            <a:pPr eaLnBrk="1" hangingPunct="1"/>
            <a:r>
              <a:rPr lang="zh-CN" altLang="en-US" sz="4000">
                <a:solidFill>
                  <a:srgbClr val="FFFF00"/>
                </a:solidFill>
              </a:rPr>
              <a:t>蛋白质结构要点小结</a:t>
            </a:r>
          </a:p>
        </p:txBody>
      </p:sp>
      <p:graphicFrame>
        <p:nvGraphicFramePr>
          <p:cNvPr id="789547" name="Group 43">
            <a:extLst>
              <a:ext uri="{FF2B5EF4-FFF2-40B4-BE49-F238E27FC236}">
                <a16:creationId xmlns:a16="http://schemas.microsoft.com/office/drawing/2014/main" id="{0DFF7792-B8C4-4649-85E8-F5461AAABFA2}"/>
              </a:ext>
            </a:extLst>
          </p:cNvPr>
          <p:cNvGraphicFramePr>
            <a:graphicFrameLocks noGrp="1"/>
          </p:cNvGraphicFramePr>
          <p:nvPr>
            <p:ph idx="1"/>
            <p:extLst>
              <p:ext uri="{D42A27DB-BD31-4B8C-83A1-F6EECF244321}">
                <p14:modId xmlns:p14="http://schemas.microsoft.com/office/powerpoint/2010/main" val="3094998835"/>
              </p:ext>
            </p:extLst>
          </p:nvPr>
        </p:nvGraphicFramePr>
        <p:xfrm>
          <a:off x="767408" y="1268760"/>
          <a:ext cx="10657184" cy="4841377"/>
        </p:xfrm>
        <a:graphic>
          <a:graphicData uri="http://schemas.openxmlformats.org/drawingml/2006/table">
            <a:tbl>
              <a:tblPr/>
              <a:tblGrid>
                <a:gridCol w="1140655">
                  <a:extLst>
                    <a:ext uri="{9D8B030D-6E8A-4147-A177-3AD203B41FA5}">
                      <a16:colId xmlns:a16="http://schemas.microsoft.com/office/drawing/2014/main" val="20000"/>
                    </a:ext>
                  </a:extLst>
                </a:gridCol>
                <a:gridCol w="3901628">
                  <a:extLst>
                    <a:ext uri="{9D8B030D-6E8A-4147-A177-3AD203B41FA5}">
                      <a16:colId xmlns:a16="http://schemas.microsoft.com/office/drawing/2014/main" val="20001"/>
                    </a:ext>
                  </a:extLst>
                </a:gridCol>
                <a:gridCol w="2806589">
                  <a:extLst>
                    <a:ext uri="{9D8B030D-6E8A-4147-A177-3AD203B41FA5}">
                      <a16:colId xmlns:a16="http://schemas.microsoft.com/office/drawing/2014/main" val="20002"/>
                    </a:ext>
                  </a:extLst>
                </a:gridCol>
                <a:gridCol w="2808312">
                  <a:extLst>
                    <a:ext uri="{9D8B030D-6E8A-4147-A177-3AD203B41FA5}">
                      <a16:colId xmlns:a16="http://schemas.microsoft.com/office/drawing/2014/main" val="20003"/>
                    </a:ext>
                  </a:extLst>
                </a:gridCol>
              </a:tblGrid>
              <a:tr h="525475">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0" i="0" u="none" strike="noStrike" cap="none" normalizeH="0" baseline="0" dirty="0">
                          <a:ln>
                            <a:noFill/>
                          </a:ln>
                          <a:solidFill>
                            <a:srgbClr val="0000CC"/>
                          </a:solidFill>
                          <a:effectLst/>
                          <a:latin typeface="微软雅黑" panose="020B0503020204020204" pitchFamily="34" charset="-122"/>
                          <a:ea typeface="微软雅黑" panose="020B0503020204020204" pitchFamily="34" charset="-122"/>
                        </a:rPr>
                        <a:t>结构</a:t>
                      </a:r>
                      <a:endParaRPr kumimoji="0" lang="zh-CN" altLang="zh-CN" sz="2400" b="0" i="0" u="none" strike="noStrike" cap="none" normalizeH="0" baseline="0" dirty="0">
                        <a:ln>
                          <a:noFill/>
                        </a:ln>
                        <a:solidFill>
                          <a:srgbClr val="0000CC"/>
                        </a:solidFill>
                        <a:effectLst/>
                        <a:latin typeface="微软雅黑" panose="020B0503020204020204" pitchFamily="34" charset="-122"/>
                        <a:ea typeface="微软雅黑" panose="020B0503020204020204" pitchFamily="34" charset="-122"/>
                      </a:endParaRPr>
                    </a:p>
                  </a:txBody>
                  <a:tcPr marL="91448" marR="91448"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8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定义</a:t>
                      </a:r>
                    </a:p>
                  </a:txBody>
                  <a:tcPr marL="91448" marR="91448"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8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化学键</a:t>
                      </a:r>
                    </a:p>
                  </a:txBody>
                  <a:tcPr marL="91448" marR="91448"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8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类型</a:t>
                      </a:r>
                    </a:p>
                  </a:txBody>
                  <a:tcPr marL="91448" marR="91448"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0"/>
                  </a:ext>
                </a:extLst>
              </a:tr>
              <a:tr h="908787">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0" i="0" u="none" strike="noStrike" cap="none" normalizeH="0" baseline="0">
                          <a:ln>
                            <a:noFill/>
                          </a:ln>
                          <a:solidFill>
                            <a:srgbClr val="0000CC"/>
                          </a:solidFill>
                          <a:effectLst/>
                          <a:latin typeface="微软雅黑" panose="020B0503020204020204" pitchFamily="34" charset="-122"/>
                          <a:ea typeface="微软雅黑" panose="020B0503020204020204" pitchFamily="34" charset="-122"/>
                        </a:rPr>
                        <a:t>一级</a:t>
                      </a:r>
                    </a:p>
                  </a:txBody>
                  <a:tcPr marL="91448" marR="91448"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
                          <a:schemeClr val="hlink"/>
                        </a:buClr>
                        <a:buSzTx/>
                        <a:buFont typeface="Wingdings" pitchFamily="2" charset="2"/>
                        <a:buNone/>
                        <a:tabLst/>
                      </a:pPr>
                      <a:r>
                        <a:rPr kumimoji="0" lang="zh-CN" altLang="en-US"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多肽链中氨基酸排列顺序</a:t>
                      </a:r>
                    </a:p>
                  </a:txBody>
                  <a:tcPr marL="91448" marR="91448"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200000"/>
                        </a:lnSpc>
                        <a:spcBef>
                          <a:spcPct val="20000"/>
                        </a:spcBef>
                        <a:spcAft>
                          <a:spcPct val="0"/>
                        </a:spcAft>
                        <a:buClr>
                          <a:schemeClr val="hlink"/>
                        </a:buClr>
                        <a:buSzTx/>
                        <a:buFont typeface="Wingdings" pitchFamily="2" charset="2"/>
                        <a:buNone/>
                        <a:tabLst/>
                      </a:pPr>
                      <a:r>
                        <a:rPr kumimoji="0" lang="zh-CN" altLang="en-US"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肽键</a:t>
                      </a:r>
                    </a:p>
                  </a:txBody>
                  <a:tcPr marL="91448" marR="91448"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endParaRPr>
                    </a:p>
                  </a:txBody>
                  <a:tcPr marL="91448" marR="91448"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205545">
                <a:tc>
                  <a:txBody>
                    <a:bodyPr/>
                    <a:lstStyle/>
                    <a:p>
                      <a:pPr marL="0" marR="0" lvl="0" indent="0" algn="ctr" defTabSz="914400" rtl="0" eaLnBrk="1" fontAlgn="base" latinLnBrk="0" hangingPunct="1">
                        <a:lnSpc>
                          <a:spcPct val="150000"/>
                        </a:lnSpc>
                        <a:spcBef>
                          <a:spcPct val="20000"/>
                        </a:spcBef>
                        <a:spcAft>
                          <a:spcPct val="0"/>
                        </a:spcAft>
                        <a:buClr>
                          <a:schemeClr val="hlink"/>
                        </a:buClr>
                        <a:buSzTx/>
                        <a:buFont typeface="Wingdings" pitchFamily="2" charset="2"/>
                        <a:buNone/>
                        <a:tabLst/>
                      </a:pPr>
                      <a:r>
                        <a:rPr kumimoji="0" lang="zh-CN" altLang="en-US" sz="2400" b="0" i="0" u="none" strike="noStrike" cap="none" normalizeH="0" baseline="0" dirty="0">
                          <a:ln>
                            <a:noFill/>
                          </a:ln>
                          <a:solidFill>
                            <a:srgbClr val="0000CC"/>
                          </a:solidFill>
                          <a:effectLst/>
                          <a:latin typeface="微软雅黑" panose="020B0503020204020204" pitchFamily="34" charset="-122"/>
                          <a:ea typeface="微软雅黑" panose="020B0503020204020204" pitchFamily="34" charset="-122"/>
                        </a:rPr>
                        <a:t>二级</a:t>
                      </a:r>
                    </a:p>
                  </a:txBody>
                  <a:tcPr marL="91448" marR="91448"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30000"/>
                        </a:lnSpc>
                        <a:spcBef>
                          <a:spcPct val="20000"/>
                        </a:spcBef>
                        <a:spcAft>
                          <a:spcPct val="0"/>
                        </a:spcAft>
                        <a:buClr>
                          <a:schemeClr val="hlink"/>
                        </a:buClr>
                        <a:buSzTx/>
                        <a:buFont typeface="Wingdings" pitchFamily="2" charset="2"/>
                        <a:buNone/>
                        <a:tabLst/>
                      </a:pPr>
                      <a:r>
                        <a:rPr kumimoji="0" lang="zh-CN" altLang="en-US"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多肽链局部的主链骨架构象（主链原子空间排布）</a:t>
                      </a:r>
                    </a:p>
                  </a:txBody>
                  <a:tcPr marL="91448" marR="91448"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0" i="0" u="none" strike="noStrike" cap="none" normalizeH="0" baseline="0" dirty="0">
                          <a:ln>
                            <a:noFill/>
                          </a:ln>
                          <a:solidFill>
                            <a:srgbClr val="0000CC"/>
                          </a:solidFill>
                          <a:effectLst/>
                          <a:latin typeface="微软雅黑" panose="020B0503020204020204" pitchFamily="34" charset="-122"/>
                          <a:ea typeface="微软雅黑" panose="020B0503020204020204" pitchFamily="34" charset="-122"/>
                        </a:rPr>
                        <a:t>氢键</a:t>
                      </a:r>
                    </a:p>
                  </a:txBody>
                  <a:tcPr marL="91448" marR="91448"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1" fontAlgn="base" latinLnBrk="0" hangingPunct="1">
                        <a:lnSpc>
                          <a:spcPct val="150000"/>
                        </a:lnSpc>
                        <a:spcBef>
                          <a:spcPct val="20000"/>
                        </a:spcBef>
                        <a:spcAft>
                          <a:spcPct val="0"/>
                        </a:spcAft>
                        <a:buClr>
                          <a:schemeClr val="hlink"/>
                        </a:buClr>
                        <a:buSzTx/>
                        <a:buFont typeface="Wingdings" pitchFamily="2" charset="2"/>
                        <a:buNone/>
                        <a:tabLst/>
                      </a:pPr>
                      <a:r>
                        <a:rPr kumimoji="0" lang="en-US" alt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 </a:t>
                      </a:r>
                      <a:r>
                        <a:rPr kumimoji="0" lang="el-GR" alt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Symbol" pitchFamily="18" charset="2"/>
                        </a:rPr>
                        <a:t></a:t>
                      </a:r>
                      <a:r>
                        <a:rPr kumimoji="0" lang="en-US" alt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a:t>
                      </a:r>
                      <a:r>
                        <a:rPr kumimoji="0" lang="zh-CN" altLang="en-US"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螺旋 ，</a:t>
                      </a:r>
                      <a:r>
                        <a:rPr kumimoji="0" lang="el-GR" alt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Symbol" pitchFamily="18" charset="2"/>
                        </a:rPr>
                        <a:t></a:t>
                      </a:r>
                      <a:r>
                        <a:rPr kumimoji="0" lang="en-US" alt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a:t>
                      </a:r>
                      <a:r>
                        <a:rPr kumimoji="1" lang="zh-CN" altLang="en-US"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折叠，</a:t>
                      </a:r>
                      <a:r>
                        <a:rPr kumimoji="0" lang="zh-CN" altLang="en-US"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Symbol" pitchFamily="18" charset="2"/>
                        </a:rPr>
                        <a:t></a:t>
                      </a:r>
                      <a:r>
                        <a:rPr kumimoji="0" lang="en-US" alt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a:t>
                      </a:r>
                      <a:r>
                        <a:rPr kumimoji="1" lang="zh-CN" altLang="en-US"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转角  </a:t>
                      </a:r>
                      <a:r>
                        <a:rPr lang="en-US" altLang="zh-CN" sz="2400" b="0" dirty="0">
                          <a:solidFill>
                            <a:srgbClr val="000000"/>
                          </a:solidFill>
                          <a:latin typeface="微软雅黑" panose="020B0503020204020204" pitchFamily="34" charset="-122"/>
                          <a:ea typeface="微软雅黑" panose="020B0503020204020204" pitchFamily="34" charset="-122"/>
                        </a:rPr>
                        <a:t>Ω</a:t>
                      </a:r>
                      <a:r>
                        <a:rPr lang="zh-CN" altLang="en-US" sz="2400" b="0" dirty="0">
                          <a:solidFill>
                            <a:srgbClr val="000000"/>
                          </a:solidFill>
                          <a:latin typeface="微软雅黑" panose="020B0503020204020204" pitchFamily="34" charset="-122"/>
                          <a:ea typeface="微软雅黑" panose="020B0503020204020204" pitchFamily="34" charset="-122"/>
                        </a:rPr>
                        <a:t>环</a:t>
                      </a:r>
                      <a:endParaRPr kumimoji="1" lang="zh-CN" altLang="en-US"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endParaRPr>
                    </a:p>
                  </a:txBody>
                  <a:tcPr marL="91448" marR="91448"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2"/>
                  </a:ext>
                </a:extLst>
              </a:tr>
              <a:tr h="834597">
                <a:tc>
                  <a:txBody>
                    <a:bodyPr/>
                    <a:lstStyle/>
                    <a:p>
                      <a:pPr marL="0" marR="0" lvl="0" indent="0" algn="ctr" defTabSz="914400" rtl="0" eaLnBrk="1" fontAlgn="base" latinLnBrk="0" hangingPunct="1">
                        <a:lnSpc>
                          <a:spcPct val="150000"/>
                        </a:lnSpc>
                        <a:spcBef>
                          <a:spcPct val="20000"/>
                        </a:spcBef>
                        <a:spcAft>
                          <a:spcPct val="0"/>
                        </a:spcAft>
                        <a:buClr>
                          <a:schemeClr val="hlink"/>
                        </a:buClr>
                        <a:buSzTx/>
                        <a:buFont typeface="Wingdings" pitchFamily="2" charset="2"/>
                        <a:buNone/>
                        <a:tabLst/>
                      </a:pPr>
                      <a:r>
                        <a:rPr kumimoji="0" lang="zh-CN" altLang="en-US" sz="2400" b="0" i="0" u="none" strike="noStrike" cap="none" normalizeH="0" baseline="0" dirty="0">
                          <a:ln>
                            <a:noFill/>
                          </a:ln>
                          <a:solidFill>
                            <a:srgbClr val="0000CC"/>
                          </a:solidFill>
                          <a:effectLst/>
                          <a:latin typeface="微软雅黑" panose="020B0503020204020204" pitchFamily="34" charset="-122"/>
                          <a:ea typeface="微软雅黑" panose="020B0503020204020204" pitchFamily="34" charset="-122"/>
                        </a:rPr>
                        <a:t>三级</a:t>
                      </a:r>
                    </a:p>
                  </a:txBody>
                  <a:tcPr marL="91448" marR="91448"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
                          <a:schemeClr val="hlink"/>
                        </a:buClr>
                        <a:buSzTx/>
                        <a:buFont typeface="Wingdings" pitchFamily="2" charset="2"/>
                        <a:buNone/>
                        <a:tabLst/>
                      </a:pPr>
                      <a:r>
                        <a:rPr kumimoji="0" lang="zh-CN" altLang="en-US"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整条肽链中全部原子的空间排布</a:t>
                      </a:r>
                    </a:p>
                  </a:txBody>
                  <a:tcPr marL="91448" marR="91448"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
                          <a:schemeClr val="hlink"/>
                        </a:buClr>
                        <a:buSzTx/>
                        <a:buFont typeface="Wingdings" pitchFamily="2" charset="2"/>
                        <a:buNone/>
                        <a:tabLst/>
                      </a:pPr>
                      <a:r>
                        <a:rPr kumimoji="0" lang="zh-CN" altLang="en-US"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次级键（</a:t>
                      </a:r>
                      <a:r>
                        <a:rPr kumimoji="0" lang="zh-CN" altLang="en-US" sz="2400" b="0" i="0" u="none" strike="noStrike" cap="none" normalizeH="0" baseline="0" dirty="0">
                          <a:ln>
                            <a:noFill/>
                          </a:ln>
                          <a:solidFill>
                            <a:srgbClr val="0000CC"/>
                          </a:solidFill>
                          <a:effectLst/>
                          <a:latin typeface="微软雅黑" panose="020B0503020204020204" pitchFamily="34" charset="-122"/>
                          <a:ea typeface="微软雅黑" panose="020B0503020204020204" pitchFamily="34" charset="-122"/>
                        </a:rPr>
                        <a:t>疏水键为主</a:t>
                      </a:r>
                      <a:r>
                        <a:rPr kumimoji="0" lang="zh-CN" altLang="en-US"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）、二硫键</a:t>
                      </a:r>
                    </a:p>
                  </a:txBody>
                  <a:tcPr marL="91448" marR="91448"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endParaRPr>
                    </a:p>
                  </a:txBody>
                  <a:tcPr marL="91448" marR="91448"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205545">
                <a:tc>
                  <a:txBody>
                    <a:bodyPr/>
                    <a:lstStyle/>
                    <a:p>
                      <a:pPr marL="0" marR="0" lvl="0" indent="0" algn="ctr" defTabSz="914400" rtl="0" eaLnBrk="1" fontAlgn="base" latinLnBrk="0" hangingPunct="1">
                        <a:lnSpc>
                          <a:spcPct val="150000"/>
                        </a:lnSpc>
                        <a:spcBef>
                          <a:spcPct val="20000"/>
                        </a:spcBef>
                        <a:spcAft>
                          <a:spcPct val="0"/>
                        </a:spcAft>
                        <a:buClr>
                          <a:schemeClr val="hlink"/>
                        </a:buClr>
                        <a:buSzTx/>
                        <a:buFont typeface="Wingdings" pitchFamily="2" charset="2"/>
                        <a:buNone/>
                        <a:tabLst/>
                      </a:pPr>
                      <a:r>
                        <a:rPr kumimoji="0" lang="zh-CN" altLang="en-US" sz="2400" b="0" i="0" u="none" strike="noStrike" cap="none" normalizeH="0" baseline="0" dirty="0">
                          <a:ln>
                            <a:noFill/>
                          </a:ln>
                          <a:solidFill>
                            <a:srgbClr val="0000CC"/>
                          </a:solidFill>
                          <a:effectLst/>
                          <a:latin typeface="微软雅黑" panose="020B0503020204020204" pitchFamily="34" charset="-122"/>
                          <a:ea typeface="微软雅黑" panose="020B0503020204020204" pitchFamily="34" charset="-122"/>
                        </a:rPr>
                        <a:t>四级</a:t>
                      </a:r>
                    </a:p>
                  </a:txBody>
                  <a:tcPr marL="91448" marR="91448" marT="45702" marB="4570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30000"/>
                        </a:lnSpc>
                        <a:spcBef>
                          <a:spcPct val="20000"/>
                        </a:spcBef>
                        <a:spcAft>
                          <a:spcPct val="0"/>
                        </a:spcAft>
                        <a:buClr>
                          <a:schemeClr val="hlink"/>
                        </a:buClr>
                        <a:buSzTx/>
                        <a:buFont typeface="Wingdings" pitchFamily="2" charset="2"/>
                        <a:buNone/>
                        <a:tabLst/>
                      </a:pPr>
                      <a:r>
                        <a:rPr kumimoji="1" lang="zh-CN" altLang="en-US"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各亚基的空间排布及亚基接触部位的布局和相互作用</a:t>
                      </a:r>
                    </a:p>
                  </a:txBody>
                  <a:tcPr marL="91448" marR="91448"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30000"/>
                        </a:lnSpc>
                        <a:spcBef>
                          <a:spcPct val="20000"/>
                        </a:spcBef>
                        <a:spcAft>
                          <a:spcPct val="0"/>
                        </a:spcAft>
                        <a:buClr>
                          <a:schemeClr val="hlink"/>
                        </a:buClr>
                        <a:buSzTx/>
                        <a:buFont typeface="Wingdings" pitchFamily="2" charset="2"/>
                        <a:buNone/>
                        <a:tabLst/>
                      </a:pPr>
                      <a:r>
                        <a:rPr kumimoji="0" lang="zh-CN" altLang="en-US"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次级键（疏水键、氢键、离子键）</a:t>
                      </a:r>
                    </a:p>
                  </a:txBody>
                  <a:tcPr marL="91448" marR="91448" marT="45702" marB="4570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endParaRPr>
                    </a:p>
                  </a:txBody>
                  <a:tcPr marL="91448" marR="91448" marT="45702" marB="4570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4"/>
                  </a:ext>
                </a:extLst>
              </a:tr>
            </a:tbl>
          </a:graphicData>
        </a:graphic>
      </p:graphicFrame>
      <p:sp>
        <p:nvSpPr>
          <p:cNvPr id="296995" name="Line 35">
            <a:extLst>
              <a:ext uri="{FF2B5EF4-FFF2-40B4-BE49-F238E27FC236}">
                <a16:creationId xmlns:a16="http://schemas.microsoft.com/office/drawing/2014/main" id="{DBB84F94-3C3A-48EA-957D-3409271270A6}"/>
              </a:ext>
            </a:extLst>
          </p:cNvPr>
          <p:cNvSpPr>
            <a:spLocks noChangeShapeType="1"/>
          </p:cNvSpPr>
          <p:nvPr/>
        </p:nvSpPr>
        <p:spPr bwMode="auto">
          <a:xfrm>
            <a:off x="9336360" y="2348780"/>
            <a:ext cx="93503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96996" name="Line 36">
            <a:extLst>
              <a:ext uri="{FF2B5EF4-FFF2-40B4-BE49-F238E27FC236}">
                <a16:creationId xmlns:a16="http://schemas.microsoft.com/office/drawing/2014/main" id="{F7C0061D-0CAF-4CB4-8E08-F57CC26BB34A}"/>
              </a:ext>
            </a:extLst>
          </p:cNvPr>
          <p:cNvSpPr>
            <a:spLocks noChangeShapeType="1"/>
          </p:cNvSpPr>
          <p:nvPr/>
        </p:nvSpPr>
        <p:spPr bwMode="auto">
          <a:xfrm>
            <a:off x="9264352" y="5301108"/>
            <a:ext cx="93503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96997" name="Line 37">
            <a:extLst>
              <a:ext uri="{FF2B5EF4-FFF2-40B4-BE49-F238E27FC236}">
                <a16:creationId xmlns:a16="http://schemas.microsoft.com/office/drawing/2014/main" id="{DBABF0CB-0995-433C-9CD8-60BE975D7475}"/>
              </a:ext>
            </a:extLst>
          </p:cNvPr>
          <p:cNvSpPr>
            <a:spLocks noChangeShapeType="1"/>
          </p:cNvSpPr>
          <p:nvPr/>
        </p:nvSpPr>
        <p:spPr bwMode="auto">
          <a:xfrm>
            <a:off x="9264352" y="4365004"/>
            <a:ext cx="93503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slow">
    <p:circle/>
  </p:transition>
</p:sld>
</file>

<file path=ppt/slides/slide1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9010" name="Rectangle 2">
            <a:extLst>
              <a:ext uri="{FF2B5EF4-FFF2-40B4-BE49-F238E27FC236}">
                <a16:creationId xmlns:a16="http://schemas.microsoft.com/office/drawing/2014/main" id="{A3694F8B-7EA0-469B-81A4-F58C41511339}"/>
              </a:ext>
            </a:extLst>
          </p:cNvPr>
          <p:cNvSpPr>
            <a:spLocks noGrp="1" noChangeArrowheads="1"/>
          </p:cNvSpPr>
          <p:nvPr>
            <p:ph type="title"/>
          </p:nvPr>
        </p:nvSpPr>
        <p:spPr>
          <a:xfrm>
            <a:off x="2052638" y="161926"/>
            <a:ext cx="6680200" cy="563563"/>
          </a:xfrm>
        </p:spPr>
        <p:txBody>
          <a:bodyPr/>
          <a:lstStyle/>
          <a:p>
            <a:pPr eaLnBrk="1" hangingPunct="1"/>
            <a:r>
              <a:rPr lang="zh-CN" altLang="en-US" sz="4000">
                <a:latin typeface="Times New Roman" panose="02020603050405020304" pitchFamily="18" charset="0"/>
              </a:rPr>
              <a:t>五、蛋白质的分类  </a:t>
            </a:r>
          </a:p>
        </p:txBody>
      </p:sp>
      <p:sp>
        <p:nvSpPr>
          <p:cNvPr id="798723" name="Rectangle 3">
            <a:extLst>
              <a:ext uri="{FF2B5EF4-FFF2-40B4-BE49-F238E27FC236}">
                <a16:creationId xmlns:a16="http://schemas.microsoft.com/office/drawing/2014/main" id="{15415493-3114-452E-BAB7-763E2BD149BA}"/>
              </a:ext>
            </a:extLst>
          </p:cNvPr>
          <p:cNvSpPr>
            <a:spLocks noChangeArrowheads="1"/>
          </p:cNvSpPr>
          <p:nvPr/>
        </p:nvSpPr>
        <p:spPr bwMode="auto">
          <a:xfrm>
            <a:off x="1919288" y="1268414"/>
            <a:ext cx="438785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lang="en-US" altLang="zh-CN" sz="3200" b="0">
                <a:solidFill>
                  <a:srgbClr val="006600"/>
                </a:solidFill>
              </a:rPr>
              <a:t>* </a:t>
            </a:r>
            <a:r>
              <a:rPr lang="zh-CN" altLang="en-US" sz="3200" b="0">
                <a:solidFill>
                  <a:srgbClr val="006600"/>
                </a:solidFill>
              </a:rPr>
              <a:t>根据蛋白质组成成分</a:t>
            </a:r>
            <a:r>
              <a:rPr lang="zh-CN" altLang="en-US" sz="3200" b="0">
                <a:solidFill>
                  <a:srgbClr val="993366"/>
                </a:solidFill>
              </a:rPr>
              <a:t>  </a:t>
            </a:r>
          </a:p>
        </p:txBody>
      </p:sp>
      <p:grpSp>
        <p:nvGrpSpPr>
          <p:cNvPr id="2" name="Group 4">
            <a:extLst>
              <a:ext uri="{FF2B5EF4-FFF2-40B4-BE49-F238E27FC236}">
                <a16:creationId xmlns:a16="http://schemas.microsoft.com/office/drawing/2014/main" id="{031E3118-68F5-4D9F-ADD6-7FC46DE20C3B}"/>
              </a:ext>
            </a:extLst>
          </p:cNvPr>
          <p:cNvGrpSpPr>
            <a:grpSpLocks/>
          </p:cNvGrpSpPr>
          <p:nvPr/>
        </p:nvGrpSpPr>
        <p:grpSpPr bwMode="auto">
          <a:xfrm>
            <a:off x="2493964" y="1917701"/>
            <a:ext cx="7210425" cy="1154113"/>
            <a:chOff x="882" y="1515"/>
            <a:chExt cx="4542" cy="727"/>
          </a:xfrm>
        </p:grpSpPr>
        <p:sp>
          <p:nvSpPr>
            <p:cNvPr id="299022" name="Rectangle 5">
              <a:extLst>
                <a:ext uri="{FF2B5EF4-FFF2-40B4-BE49-F238E27FC236}">
                  <a16:creationId xmlns:a16="http://schemas.microsoft.com/office/drawing/2014/main" id="{88F4A62A-3A3F-403A-8E96-FD2BB52FCDEB}"/>
                </a:ext>
              </a:extLst>
            </p:cNvPr>
            <p:cNvSpPr>
              <a:spLocks noChangeArrowheads="1"/>
            </p:cNvSpPr>
            <p:nvPr/>
          </p:nvSpPr>
          <p:spPr bwMode="auto">
            <a:xfrm>
              <a:off x="930" y="1515"/>
              <a:ext cx="1245" cy="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0000"/>
                </a:lnSpc>
                <a:spcBef>
                  <a:spcPct val="0"/>
                </a:spcBef>
                <a:buClrTx/>
                <a:buFontTx/>
                <a:buNone/>
              </a:pPr>
              <a:r>
                <a:rPr lang="zh-CN" altLang="en-US" b="0">
                  <a:solidFill>
                    <a:srgbClr val="FF0000"/>
                  </a:solidFill>
                </a:rPr>
                <a:t>单纯蛋白质</a:t>
              </a:r>
            </a:p>
          </p:txBody>
        </p:sp>
        <p:sp>
          <p:nvSpPr>
            <p:cNvPr id="299023" name="Rectangle 6">
              <a:extLst>
                <a:ext uri="{FF2B5EF4-FFF2-40B4-BE49-F238E27FC236}">
                  <a16:creationId xmlns:a16="http://schemas.microsoft.com/office/drawing/2014/main" id="{3403AA4C-D564-4363-ADE2-8592CA249B57}"/>
                </a:ext>
              </a:extLst>
            </p:cNvPr>
            <p:cNvSpPr>
              <a:spLocks noChangeArrowheads="1"/>
            </p:cNvSpPr>
            <p:nvPr/>
          </p:nvSpPr>
          <p:spPr bwMode="auto">
            <a:xfrm>
              <a:off x="930" y="1888"/>
              <a:ext cx="4494" cy="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lnSpc>
                  <a:spcPct val="120000"/>
                </a:lnSpc>
                <a:spcBef>
                  <a:spcPct val="0"/>
                </a:spcBef>
                <a:buClrTx/>
                <a:buFontTx/>
                <a:buNone/>
              </a:pPr>
              <a:r>
                <a:rPr lang="zh-CN" altLang="en-US" b="0">
                  <a:solidFill>
                    <a:srgbClr val="FF0000"/>
                  </a:solidFill>
                </a:rPr>
                <a:t>结合蛋白质</a:t>
              </a:r>
              <a:r>
                <a:rPr lang="zh-CN" altLang="en-US" b="0">
                  <a:solidFill>
                    <a:schemeClr val="tx1"/>
                  </a:solidFill>
                </a:rPr>
                <a:t> </a:t>
              </a:r>
              <a:r>
                <a:rPr lang="en-US" altLang="zh-CN" b="0">
                  <a:solidFill>
                    <a:schemeClr val="tx1"/>
                  </a:solidFill>
                </a:rPr>
                <a:t>= </a:t>
              </a:r>
              <a:r>
                <a:rPr lang="zh-CN" altLang="en-US" b="0">
                  <a:solidFill>
                    <a:schemeClr val="tx1"/>
                  </a:solidFill>
                </a:rPr>
                <a:t>蛋白质部分 </a:t>
              </a:r>
              <a:r>
                <a:rPr lang="en-US" altLang="zh-CN" b="0">
                  <a:solidFill>
                    <a:schemeClr val="tx1"/>
                  </a:solidFill>
                </a:rPr>
                <a:t>+ </a:t>
              </a:r>
              <a:r>
                <a:rPr lang="zh-CN" altLang="en-US" b="0">
                  <a:solidFill>
                    <a:schemeClr val="tx1"/>
                  </a:solidFill>
                </a:rPr>
                <a:t>非蛋白质部分</a:t>
              </a:r>
            </a:p>
          </p:txBody>
        </p:sp>
        <p:sp>
          <p:nvSpPr>
            <p:cNvPr id="299024" name="AutoShape 7">
              <a:extLst>
                <a:ext uri="{FF2B5EF4-FFF2-40B4-BE49-F238E27FC236}">
                  <a16:creationId xmlns:a16="http://schemas.microsoft.com/office/drawing/2014/main" id="{EE1722C5-6A63-4482-8C2E-0088FCEC4DF3}"/>
                </a:ext>
              </a:extLst>
            </p:cNvPr>
            <p:cNvSpPr>
              <a:spLocks/>
            </p:cNvSpPr>
            <p:nvPr/>
          </p:nvSpPr>
          <p:spPr bwMode="auto">
            <a:xfrm>
              <a:off x="882" y="1706"/>
              <a:ext cx="48" cy="384"/>
            </a:xfrm>
            <a:prstGeom prst="leftBrace">
              <a:avLst>
                <a:gd name="adj1" fmla="val 66667"/>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grpSp>
      <p:sp>
        <p:nvSpPr>
          <p:cNvPr id="798728" name="Rectangle 8">
            <a:extLst>
              <a:ext uri="{FF2B5EF4-FFF2-40B4-BE49-F238E27FC236}">
                <a16:creationId xmlns:a16="http://schemas.microsoft.com/office/drawing/2014/main" id="{98B64A58-50AC-43F3-9422-83AC9AA7659C}"/>
              </a:ext>
            </a:extLst>
          </p:cNvPr>
          <p:cNvSpPr>
            <a:spLocks noChangeArrowheads="1"/>
          </p:cNvSpPr>
          <p:nvPr/>
        </p:nvSpPr>
        <p:spPr bwMode="auto">
          <a:xfrm>
            <a:off x="1992313" y="3702051"/>
            <a:ext cx="36703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lang="en-US" altLang="zh-CN" sz="3200" b="0">
                <a:solidFill>
                  <a:srgbClr val="006600"/>
                </a:solidFill>
              </a:rPr>
              <a:t>* </a:t>
            </a:r>
            <a:r>
              <a:rPr lang="zh-CN" altLang="en-US" sz="3200" b="0">
                <a:solidFill>
                  <a:srgbClr val="006600"/>
                </a:solidFill>
              </a:rPr>
              <a:t>根据蛋白质形状</a:t>
            </a:r>
            <a:r>
              <a:rPr lang="zh-CN" altLang="en-US" sz="3200" b="0">
                <a:solidFill>
                  <a:srgbClr val="993366"/>
                </a:solidFill>
              </a:rPr>
              <a:t>   </a:t>
            </a:r>
          </a:p>
        </p:txBody>
      </p:sp>
      <p:grpSp>
        <p:nvGrpSpPr>
          <p:cNvPr id="3" name="Group 9">
            <a:extLst>
              <a:ext uri="{FF2B5EF4-FFF2-40B4-BE49-F238E27FC236}">
                <a16:creationId xmlns:a16="http://schemas.microsoft.com/office/drawing/2014/main" id="{330A54AE-C533-43C4-828F-6C6C37D408AF}"/>
              </a:ext>
            </a:extLst>
          </p:cNvPr>
          <p:cNvGrpSpPr>
            <a:grpSpLocks/>
          </p:cNvGrpSpPr>
          <p:nvPr/>
        </p:nvGrpSpPr>
        <p:grpSpPr bwMode="auto">
          <a:xfrm>
            <a:off x="2422526" y="4365625"/>
            <a:ext cx="8353425" cy="1098550"/>
            <a:chOff x="1092" y="2974"/>
            <a:chExt cx="5262" cy="692"/>
          </a:xfrm>
        </p:grpSpPr>
        <p:sp>
          <p:nvSpPr>
            <p:cNvPr id="299020" name="Rectangle 10">
              <a:extLst>
                <a:ext uri="{FF2B5EF4-FFF2-40B4-BE49-F238E27FC236}">
                  <a16:creationId xmlns:a16="http://schemas.microsoft.com/office/drawing/2014/main" id="{DACDC01F-8262-44AC-BC48-45D7A516237B}"/>
                </a:ext>
              </a:extLst>
            </p:cNvPr>
            <p:cNvSpPr>
              <a:spLocks noChangeArrowheads="1"/>
            </p:cNvSpPr>
            <p:nvPr/>
          </p:nvSpPr>
          <p:spPr bwMode="auto">
            <a:xfrm>
              <a:off x="1092" y="2974"/>
              <a:ext cx="5262"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lang="zh-CN" altLang="en-US" b="0">
                  <a:solidFill>
                    <a:srgbClr val="FF0000"/>
                  </a:solidFill>
                </a:rPr>
                <a:t>纤维状蛋白质</a:t>
              </a:r>
              <a:r>
                <a:rPr lang="zh-CN" altLang="en-US" b="0">
                  <a:solidFill>
                    <a:schemeClr val="tx1"/>
                  </a:solidFill>
                </a:rPr>
                <a:t>：多难溶于水，如胶原蛋白、角蛋白</a:t>
              </a:r>
            </a:p>
          </p:txBody>
        </p:sp>
        <p:sp>
          <p:nvSpPr>
            <p:cNvPr id="299021" name="Rectangle 12">
              <a:extLst>
                <a:ext uri="{FF2B5EF4-FFF2-40B4-BE49-F238E27FC236}">
                  <a16:creationId xmlns:a16="http://schemas.microsoft.com/office/drawing/2014/main" id="{0BFCD01F-20D8-48E5-8A88-90F79BB63A2D}"/>
                </a:ext>
              </a:extLst>
            </p:cNvPr>
            <p:cNvSpPr>
              <a:spLocks noChangeArrowheads="1"/>
            </p:cNvSpPr>
            <p:nvPr/>
          </p:nvSpPr>
          <p:spPr bwMode="auto">
            <a:xfrm>
              <a:off x="1092" y="3335"/>
              <a:ext cx="4886"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90000" tIns="46800" rIns="90000" bIns="46800">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lang="zh-CN" altLang="en-US" b="0">
                  <a:solidFill>
                    <a:srgbClr val="FF0000"/>
                  </a:solidFill>
                </a:rPr>
                <a:t>球状蛋白质</a:t>
              </a:r>
              <a:r>
                <a:rPr lang="zh-CN" altLang="en-US" b="0">
                  <a:solidFill>
                    <a:schemeClr val="tx1"/>
                  </a:solidFill>
                </a:rPr>
                <a:t>：多溶于水，如大多数酶、调节蛋白</a:t>
              </a:r>
            </a:p>
          </p:txBody>
        </p:sp>
      </p:grpSp>
      <p:sp>
        <p:nvSpPr>
          <p:cNvPr id="225288" name="AutoShape 14">
            <a:hlinkClick r:id="rId3" action="ppaction://hlinksldjump" highlightClick="1"/>
            <a:extLst>
              <a:ext uri="{FF2B5EF4-FFF2-40B4-BE49-F238E27FC236}">
                <a16:creationId xmlns:a16="http://schemas.microsoft.com/office/drawing/2014/main" id="{9C4CA077-1A91-489F-9842-CF331613D469}"/>
              </a:ext>
            </a:extLst>
          </p:cNvPr>
          <p:cNvSpPr>
            <a:spLocks noChangeArrowheads="1"/>
          </p:cNvSpPr>
          <p:nvPr/>
        </p:nvSpPr>
        <p:spPr bwMode="auto">
          <a:xfrm>
            <a:off x="9478963" y="2709864"/>
            <a:ext cx="576262" cy="503237"/>
          </a:xfrm>
          <a:prstGeom prst="actionButtonForwardNex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sp>
        <p:nvSpPr>
          <p:cNvPr id="4" name="文本框 3">
            <a:extLst>
              <a:ext uri="{FF2B5EF4-FFF2-40B4-BE49-F238E27FC236}">
                <a16:creationId xmlns:a16="http://schemas.microsoft.com/office/drawing/2014/main" id="{08CB11D6-88AC-4798-B01A-1926D51136A0}"/>
              </a:ext>
            </a:extLst>
          </p:cNvPr>
          <p:cNvSpPr txBox="1"/>
          <p:nvPr/>
        </p:nvSpPr>
        <p:spPr>
          <a:xfrm>
            <a:off x="2432050" y="5516564"/>
            <a:ext cx="3265488" cy="523875"/>
          </a:xfrm>
          <a:prstGeom prst="rect">
            <a:avLst/>
          </a:prstGeom>
          <a:noFill/>
        </p:spPr>
        <p:txBody>
          <a:bodyPr>
            <a:spAutoFit/>
          </a:bodyPr>
          <a:lstStyle/>
          <a:p>
            <a:pPr>
              <a:defRPr/>
            </a:pPr>
            <a:r>
              <a:rPr lang="zh-CN" altLang="en-US" sz="2800" dirty="0">
                <a:solidFill>
                  <a:srgbClr val="FF0000"/>
                </a:solidFill>
                <a:latin typeface="+mn-ea"/>
                <a:ea typeface="+mn-ea"/>
              </a:rPr>
              <a:t>跨膜蛋白</a:t>
            </a:r>
          </a:p>
        </p:txBody>
      </p:sp>
      <p:sp>
        <p:nvSpPr>
          <p:cNvPr id="16" name="文本框 15">
            <a:extLst>
              <a:ext uri="{FF2B5EF4-FFF2-40B4-BE49-F238E27FC236}">
                <a16:creationId xmlns:a16="http://schemas.microsoft.com/office/drawing/2014/main" id="{29A391A1-5D71-4BAF-AAAA-70B7A81A6F57}"/>
              </a:ext>
            </a:extLst>
          </p:cNvPr>
          <p:cNvSpPr txBox="1"/>
          <p:nvPr/>
        </p:nvSpPr>
        <p:spPr>
          <a:xfrm>
            <a:off x="2422526" y="6092826"/>
            <a:ext cx="7573963" cy="523875"/>
          </a:xfrm>
          <a:prstGeom prst="rect">
            <a:avLst/>
          </a:prstGeom>
          <a:noFill/>
        </p:spPr>
        <p:txBody>
          <a:bodyPr>
            <a:spAutoFit/>
          </a:bodyPr>
          <a:lstStyle/>
          <a:p>
            <a:pPr>
              <a:defRPr/>
            </a:pPr>
            <a:r>
              <a:rPr lang="zh-CN" altLang="en-US" sz="2800" dirty="0">
                <a:solidFill>
                  <a:srgbClr val="FF0000"/>
                </a:solidFill>
                <a:latin typeface="+mn-ea"/>
                <a:ea typeface="+mn-ea"/>
              </a:rPr>
              <a:t>内在无序蛋白</a:t>
            </a:r>
            <a:r>
              <a:rPr lang="zh-CN" altLang="en-US" sz="2000" dirty="0">
                <a:solidFill>
                  <a:srgbClr val="FF0000"/>
                </a:solidFill>
                <a:latin typeface="+mn-ea"/>
                <a:ea typeface="+mn-ea"/>
              </a:rPr>
              <a:t>（</a:t>
            </a:r>
            <a:r>
              <a:rPr lang="en-US" altLang="zh-CN" sz="2000" dirty="0">
                <a:solidFill>
                  <a:srgbClr val="FF0000"/>
                </a:solidFill>
                <a:latin typeface="+mn-ea"/>
                <a:ea typeface="+mn-ea"/>
              </a:rPr>
              <a:t>intrinsically disordered protein</a:t>
            </a:r>
            <a:r>
              <a:rPr lang="zh-CN" altLang="en-US" sz="2000" dirty="0">
                <a:solidFill>
                  <a:srgbClr val="FF0000"/>
                </a:solidFill>
                <a:latin typeface="+mn-ea"/>
                <a:ea typeface="+mn-ea"/>
              </a:rPr>
              <a:t>，</a:t>
            </a:r>
            <a:r>
              <a:rPr lang="en-US" altLang="zh-CN" sz="2000" dirty="0">
                <a:solidFill>
                  <a:srgbClr val="FF0000"/>
                </a:solidFill>
                <a:latin typeface="+mn-ea"/>
                <a:ea typeface="+mn-ea"/>
              </a:rPr>
              <a:t>IDP)</a:t>
            </a:r>
            <a:endParaRPr lang="zh-CN" altLang="en-US" sz="2000" dirty="0">
              <a:solidFill>
                <a:srgbClr val="FF0000"/>
              </a:solidFill>
              <a:latin typeface="+mn-ea"/>
              <a:ea typeface="+mn-ea"/>
            </a:endParaRPr>
          </a:p>
        </p:txBody>
      </p:sp>
      <p:sp>
        <p:nvSpPr>
          <p:cNvPr id="17" name="Text Box 32">
            <a:extLst>
              <a:ext uri="{FF2B5EF4-FFF2-40B4-BE49-F238E27FC236}">
                <a16:creationId xmlns:a16="http://schemas.microsoft.com/office/drawing/2014/main" id="{DE503EE5-DBC6-4011-86D6-D61C85DCBF6C}"/>
              </a:ext>
            </a:extLst>
          </p:cNvPr>
          <p:cNvSpPr txBox="1">
            <a:spLocks noChangeArrowheads="1"/>
          </p:cNvSpPr>
          <p:nvPr/>
        </p:nvSpPr>
        <p:spPr bwMode="auto">
          <a:xfrm>
            <a:off x="7548564" y="5368925"/>
            <a:ext cx="3419475" cy="457200"/>
          </a:xfrm>
          <a:prstGeom prst="rect">
            <a:avLst/>
          </a:prstGeom>
          <a:noFill/>
          <a:ln>
            <a:noFill/>
          </a:ln>
          <a:effectLst/>
        </p:spPr>
        <p:txBody>
          <a:bodyPr>
            <a:spAutoFit/>
          </a:bodyPr>
          <a:lstStyle/>
          <a:p>
            <a:pPr eaLnBrk="1" fontAlgn="auto" hangingPunct="1">
              <a:spcBef>
                <a:spcPct val="50000"/>
              </a:spcBef>
              <a:spcAft>
                <a:spcPts val="0"/>
              </a:spcAft>
              <a:defRPr/>
            </a:pPr>
            <a:r>
              <a:rPr lang="zh-CN" altLang="en-US" sz="2400" b="1" kern="0" dirty="0">
                <a:solidFill>
                  <a:srgbClr val="CC3300"/>
                </a:solidFill>
              </a:rPr>
              <a:t>球状蛋白</a:t>
            </a:r>
            <a:r>
              <a:rPr lang="zh-CN" altLang="en-US" sz="2400" b="1" kern="0" dirty="0">
                <a:solidFill>
                  <a:srgbClr val="CC3300"/>
                </a:solidFill>
                <a:cs typeface="Arial" panose="020B0604020202020204" pitchFamily="34" charset="0"/>
              </a:rPr>
              <a:t>≠</a:t>
            </a:r>
            <a:r>
              <a:rPr lang="zh-CN" altLang="en-US" sz="2400" b="1" kern="0" dirty="0">
                <a:solidFill>
                  <a:srgbClr val="CC3300"/>
                </a:solidFill>
              </a:rPr>
              <a:t>球蛋白</a:t>
            </a:r>
          </a:p>
        </p:txBody>
      </p:sp>
      <p:sp>
        <p:nvSpPr>
          <p:cNvPr id="5" name="文本框 4">
            <a:extLst>
              <a:ext uri="{FF2B5EF4-FFF2-40B4-BE49-F238E27FC236}">
                <a16:creationId xmlns:a16="http://schemas.microsoft.com/office/drawing/2014/main" id="{ED0D92A9-847F-4A32-997C-8281C6687481}"/>
              </a:ext>
            </a:extLst>
          </p:cNvPr>
          <p:cNvSpPr txBox="1">
            <a:spLocks noChangeArrowheads="1"/>
          </p:cNvSpPr>
          <p:nvPr/>
        </p:nvSpPr>
        <p:spPr bwMode="auto">
          <a:xfrm>
            <a:off x="4791076" y="1989138"/>
            <a:ext cx="5349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zh-CN" altLang="en-US" sz="2400" b="0" dirty="0">
                <a:solidFill>
                  <a:schemeClr val="tx1"/>
                </a:solidFill>
                <a:latin typeface="Arial" panose="020B0604020202020204" pitchFamily="34" charset="0"/>
                <a:ea typeface="宋体" panose="02010600030101010101" pitchFamily="2" charset="-122"/>
              </a:rPr>
              <a:t>清蛋白、精蛋白、谷蛋白、组蛋白等</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2528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7"/>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8" grpId="0" animBg="1"/>
      <p:bldP spid="4" grpId="0"/>
      <p:bldP spid="16" grpId="0"/>
      <p:bldP spid="17"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CE31594-CE37-DD83-926F-3DA356FAAA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4504" y="1196752"/>
            <a:ext cx="5715000" cy="2733675"/>
          </a:xfrm>
          <a:prstGeom prst="rect">
            <a:avLst/>
          </a:prstGeom>
        </p:spPr>
      </p:pic>
      <p:sp>
        <p:nvSpPr>
          <p:cNvPr id="4" name="文本框 3">
            <a:extLst>
              <a:ext uri="{FF2B5EF4-FFF2-40B4-BE49-F238E27FC236}">
                <a16:creationId xmlns:a16="http://schemas.microsoft.com/office/drawing/2014/main" id="{B6E65B25-7BB3-76DB-9B01-97BBB4C817AA}"/>
              </a:ext>
            </a:extLst>
          </p:cNvPr>
          <p:cNvSpPr txBox="1"/>
          <p:nvPr/>
        </p:nvSpPr>
        <p:spPr>
          <a:xfrm>
            <a:off x="1266049" y="332656"/>
            <a:ext cx="9649072" cy="523220"/>
          </a:xfrm>
          <a:prstGeom prst="rect">
            <a:avLst/>
          </a:prstGeom>
          <a:noFill/>
        </p:spPr>
        <p:txBody>
          <a:bodyPr wrap="square">
            <a:spAutoFit/>
          </a:bodyPr>
          <a:lstStyle/>
          <a:p>
            <a:pPr>
              <a:defRPr/>
            </a:pPr>
            <a:r>
              <a:rPr lang="zh-CN" altLang="en-US" sz="2800" dirty="0">
                <a:solidFill>
                  <a:srgbClr val="0000CC"/>
                </a:solidFill>
                <a:latin typeface="+mn-ea"/>
                <a:ea typeface="+mn-ea"/>
              </a:rPr>
              <a:t>内在无序蛋白（</a:t>
            </a:r>
            <a:r>
              <a:rPr lang="en-US" altLang="zh-CN" sz="2800" dirty="0">
                <a:solidFill>
                  <a:srgbClr val="0000CC"/>
                </a:solidFill>
                <a:latin typeface="+mn-ea"/>
                <a:ea typeface="+mn-ea"/>
              </a:rPr>
              <a:t>intrinsically disordered protein</a:t>
            </a:r>
            <a:r>
              <a:rPr lang="zh-CN" altLang="en-US" sz="2800" dirty="0">
                <a:solidFill>
                  <a:srgbClr val="0000CC"/>
                </a:solidFill>
                <a:latin typeface="+mn-ea"/>
                <a:ea typeface="+mn-ea"/>
              </a:rPr>
              <a:t>，</a:t>
            </a:r>
            <a:r>
              <a:rPr lang="en-US" altLang="zh-CN" sz="2800" dirty="0">
                <a:solidFill>
                  <a:srgbClr val="0000CC"/>
                </a:solidFill>
                <a:latin typeface="+mn-ea"/>
                <a:ea typeface="+mn-ea"/>
              </a:rPr>
              <a:t>IDP)</a:t>
            </a:r>
            <a:endParaRPr lang="zh-CN" altLang="en-US" sz="2800" dirty="0">
              <a:solidFill>
                <a:srgbClr val="0000CC"/>
              </a:solidFill>
              <a:latin typeface="+mn-ea"/>
              <a:ea typeface="+mn-ea"/>
            </a:endParaRPr>
          </a:p>
        </p:txBody>
      </p:sp>
      <p:sp>
        <p:nvSpPr>
          <p:cNvPr id="5" name="文本框 4">
            <a:extLst>
              <a:ext uri="{FF2B5EF4-FFF2-40B4-BE49-F238E27FC236}">
                <a16:creationId xmlns:a16="http://schemas.microsoft.com/office/drawing/2014/main" id="{5C5C6D4D-1CF7-BE24-39AF-033EB426E213}"/>
              </a:ext>
            </a:extLst>
          </p:cNvPr>
          <p:cNvSpPr txBox="1"/>
          <p:nvPr/>
        </p:nvSpPr>
        <p:spPr>
          <a:xfrm>
            <a:off x="1343719" y="4261180"/>
            <a:ext cx="9577064" cy="1806264"/>
          </a:xfrm>
          <a:prstGeom prst="rect">
            <a:avLst/>
          </a:prstGeom>
          <a:noFill/>
        </p:spPr>
        <p:txBody>
          <a:bodyPr wrap="square">
            <a:spAutoFit/>
          </a:bodyPr>
          <a:lstStyle/>
          <a:p>
            <a:pPr>
              <a:lnSpc>
                <a:spcPct val="120000"/>
              </a:lnSpc>
            </a:pPr>
            <a:r>
              <a:rPr lang="en-US" altLang="zh-CN" sz="2400" b="1" dirty="0">
                <a:solidFill>
                  <a:schemeClr val="tx1">
                    <a:lumMod val="50000"/>
                  </a:schemeClr>
                </a:solidFill>
                <a:latin typeface="楷体_GB2312" pitchFamily="49" charset="-122"/>
                <a:ea typeface="楷体_GB2312" pitchFamily="49" charset="-122"/>
              </a:rPr>
              <a:t>intrinsically disordered protein (IDP)  </a:t>
            </a:r>
            <a:r>
              <a:rPr lang="zh-CN" altLang="en-US" sz="2400" b="1" dirty="0">
                <a:solidFill>
                  <a:schemeClr val="tx1">
                    <a:lumMod val="50000"/>
                  </a:schemeClr>
                </a:solidFill>
                <a:latin typeface="楷体_GB2312" pitchFamily="49" charset="-122"/>
                <a:ea typeface="楷体_GB2312" pitchFamily="49" charset="-122"/>
              </a:rPr>
              <a:t>中文尚无统一译名，译为天然</a:t>
            </a:r>
            <a:r>
              <a:rPr lang="en-US" altLang="zh-CN" sz="2400" b="1" dirty="0">
                <a:solidFill>
                  <a:schemeClr val="tx1">
                    <a:lumMod val="50000"/>
                  </a:schemeClr>
                </a:solidFill>
                <a:latin typeface="楷体_GB2312" pitchFamily="49" charset="-122"/>
                <a:ea typeface="楷体_GB2312" pitchFamily="49" charset="-122"/>
              </a:rPr>
              <a:t>/</a:t>
            </a:r>
            <a:r>
              <a:rPr lang="zh-CN" altLang="en-US" sz="2400" b="1" dirty="0">
                <a:solidFill>
                  <a:schemeClr val="tx1">
                    <a:lumMod val="50000"/>
                  </a:schemeClr>
                </a:solidFill>
                <a:latin typeface="楷体_GB2312" pitchFamily="49" charset="-122"/>
                <a:ea typeface="楷体_GB2312" pitchFamily="49" charset="-122"/>
              </a:rPr>
              <a:t>固有</a:t>
            </a:r>
            <a:r>
              <a:rPr lang="en-US" altLang="zh-CN" sz="2400" b="1" dirty="0">
                <a:solidFill>
                  <a:schemeClr val="tx1">
                    <a:lumMod val="50000"/>
                  </a:schemeClr>
                </a:solidFill>
                <a:latin typeface="楷体_GB2312" pitchFamily="49" charset="-122"/>
                <a:ea typeface="楷体_GB2312" pitchFamily="49" charset="-122"/>
              </a:rPr>
              <a:t>/</a:t>
            </a:r>
            <a:r>
              <a:rPr lang="zh-CN" altLang="en-US" sz="2400" b="1" dirty="0">
                <a:solidFill>
                  <a:schemeClr val="tx1">
                    <a:lumMod val="50000"/>
                  </a:schemeClr>
                </a:solidFill>
                <a:latin typeface="楷体_GB2312" pitchFamily="49" charset="-122"/>
                <a:ea typeface="楷体_GB2312" pitchFamily="49" charset="-122"/>
              </a:rPr>
              <a:t>内在无序蛋白等 　</a:t>
            </a:r>
            <a:endParaRPr kumimoji="0" lang="en-US" altLang="zh-CN" sz="2400" b="1" dirty="0">
              <a:solidFill>
                <a:schemeClr val="tx1">
                  <a:lumMod val="50000"/>
                </a:schemeClr>
              </a:solidFill>
              <a:ea typeface="华文楷体" panose="02010600040101010101" pitchFamily="2" charset="-122"/>
            </a:endParaRPr>
          </a:p>
          <a:p>
            <a:pPr>
              <a:lnSpc>
                <a:spcPct val="120000"/>
              </a:lnSpc>
            </a:pPr>
            <a:r>
              <a:rPr lang="zh-CN" altLang="en-US" sz="2400" dirty="0">
                <a:solidFill>
                  <a:schemeClr val="tx1">
                    <a:lumMod val="50000"/>
                  </a:schemeClr>
                </a:solidFill>
                <a:latin typeface="黑体" panose="02010609060101010101" pitchFamily="49" charset="-122"/>
                <a:ea typeface="黑体" panose="02010609060101010101" pitchFamily="49" charset="-122"/>
              </a:rPr>
              <a:t>简单来说，就是一个蛋白质的三维结构呈现不固定的状态，比如肽链中间段三维结构是固定的，而</a:t>
            </a:r>
            <a:r>
              <a:rPr lang="en-US" altLang="zh-CN" sz="2400" dirty="0">
                <a:solidFill>
                  <a:schemeClr val="tx1">
                    <a:lumMod val="50000"/>
                  </a:schemeClr>
                </a:solidFill>
                <a:latin typeface="黑体" panose="02010609060101010101" pitchFamily="49" charset="-122"/>
                <a:ea typeface="黑体" panose="02010609060101010101" pitchFamily="49" charset="-122"/>
              </a:rPr>
              <a:t>C</a:t>
            </a:r>
            <a:r>
              <a:rPr lang="zh-CN" altLang="en-US" sz="2400" dirty="0">
                <a:solidFill>
                  <a:schemeClr val="tx1">
                    <a:lumMod val="50000"/>
                  </a:schemeClr>
                </a:solidFill>
                <a:latin typeface="黑体" panose="02010609060101010101" pitchFamily="49" charset="-122"/>
                <a:ea typeface="黑体" panose="02010609060101010101" pitchFamily="49" charset="-122"/>
              </a:rPr>
              <a:t>端和</a:t>
            </a:r>
            <a:r>
              <a:rPr lang="en-US" altLang="zh-CN" sz="2400" dirty="0">
                <a:solidFill>
                  <a:schemeClr val="tx1">
                    <a:lumMod val="50000"/>
                  </a:schemeClr>
                </a:solidFill>
                <a:latin typeface="黑体" panose="02010609060101010101" pitchFamily="49" charset="-122"/>
                <a:ea typeface="黑体" panose="02010609060101010101" pitchFamily="49" charset="-122"/>
              </a:rPr>
              <a:t>/</a:t>
            </a:r>
            <a:r>
              <a:rPr lang="zh-CN" altLang="en-US" sz="2400" dirty="0">
                <a:solidFill>
                  <a:schemeClr val="tx1">
                    <a:lumMod val="50000"/>
                  </a:schemeClr>
                </a:solidFill>
                <a:latin typeface="黑体" panose="02010609060101010101" pitchFamily="49" charset="-122"/>
                <a:ea typeface="黑体" panose="02010609060101010101" pitchFamily="49" charset="-122"/>
              </a:rPr>
              <a:t>或</a:t>
            </a:r>
            <a:r>
              <a:rPr lang="en-US" altLang="zh-CN" sz="2400" dirty="0">
                <a:solidFill>
                  <a:schemeClr val="tx1">
                    <a:lumMod val="50000"/>
                  </a:schemeClr>
                </a:solidFill>
                <a:latin typeface="黑体" panose="02010609060101010101" pitchFamily="49" charset="-122"/>
                <a:ea typeface="黑体" panose="02010609060101010101" pitchFamily="49" charset="-122"/>
              </a:rPr>
              <a:t>N</a:t>
            </a:r>
            <a:r>
              <a:rPr lang="zh-CN" altLang="en-US" sz="2400" dirty="0">
                <a:solidFill>
                  <a:schemeClr val="tx1">
                    <a:lumMod val="50000"/>
                  </a:schemeClr>
                </a:solidFill>
                <a:latin typeface="黑体" panose="02010609060101010101" pitchFamily="49" charset="-122"/>
                <a:ea typeface="黑体" panose="02010609060101010101" pitchFamily="49" charset="-122"/>
              </a:rPr>
              <a:t>端是游离状态的（不固定）。</a:t>
            </a:r>
          </a:p>
        </p:txBody>
      </p:sp>
    </p:spTree>
    <p:extLst>
      <p:ext uri="{BB962C8B-B14F-4D97-AF65-F5344CB8AC3E}">
        <p14:creationId xmlns:p14="http://schemas.microsoft.com/office/powerpoint/2010/main" val="1050184183"/>
      </p:ext>
    </p:extLst>
  </p:cSld>
  <p:clrMapOvr>
    <a:masterClrMapping/>
  </p:clrMapOvr>
  <p:transition spd="slow">
    <p:circle/>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标题 1">
            <a:extLst>
              <a:ext uri="{FF2B5EF4-FFF2-40B4-BE49-F238E27FC236}">
                <a16:creationId xmlns:a16="http://schemas.microsoft.com/office/drawing/2014/main" id="{F7CD680E-2086-4272-A181-DD5E1B74201F}"/>
              </a:ext>
            </a:extLst>
          </p:cNvPr>
          <p:cNvSpPr>
            <a:spLocks noGrp="1" noChangeArrowheads="1"/>
          </p:cNvSpPr>
          <p:nvPr>
            <p:ph type="title"/>
          </p:nvPr>
        </p:nvSpPr>
        <p:spPr>
          <a:xfrm>
            <a:off x="1893889" y="188913"/>
            <a:ext cx="7297737" cy="563562"/>
          </a:xfrm>
        </p:spPr>
        <p:txBody>
          <a:bodyPr/>
          <a:lstStyle/>
          <a:p>
            <a:r>
              <a:rPr lang="zh-CN" altLang="en-US"/>
              <a:t>球状蛋白质三维结构特征</a:t>
            </a:r>
          </a:p>
        </p:txBody>
      </p:sp>
      <p:sp>
        <p:nvSpPr>
          <p:cNvPr id="301059" name="内容占位符 2">
            <a:extLst>
              <a:ext uri="{FF2B5EF4-FFF2-40B4-BE49-F238E27FC236}">
                <a16:creationId xmlns:a16="http://schemas.microsoft.com/office/drawing/2014/main" id="{7BA44BA1-363F-4CBB-89B3-CE1D8814B05D}"/>
              </a:ext>
            </a:extLst>
          </p:cNvPr>
          <p:cNvSpPr>
            <a:spLocks noGrp="1" noChangeArrowheads="1"/>
          </p:cNvSpPr>
          <p:nvPr>
            <p:ph idx="1"/>
          </p:nvPr>
        </p:nvSpPr>
        <p:spPr>
          <a:xfrm>
            <a:off x="1599344" y="1412776"/>
            <a:ext cx="8993311" cy="4679950"/>
          </a:xfrm>
        </p:spPr>
        <p:txBody>
          <a:bodyPr/>
          <a:lstStyle/>
          <a:p>
            <a:pPr marL="261938" indent="-261938">
              <a:lnSpc>
                <a:spcPct val="110000"/>
              </a:lnSpc>
              <a:spcBef>
                <a:spcPct val="0"/>
              </a:spcBef>
            </a:pPr>
            <a:r>
              <a:rPr lang="zh-CN" altLang="en-US" sz="2400" dirty="0">
                <a:latin typeface="微软雅黑" panose="020B0503020204020204" pitchFamily="34" charset="-122"/>
                <a:ea typeface="微软雅黑" panose="020B0503020204020204" pitchFamily="34" charset="-122"/>
              </a:rPr>
              <a:t>同时含几种类型的二级结构（区别于纤维状蛋白）</a:t>
            </a:r>
            <a:endParaRPr lang="en-US" altLang="zh-CN" sz="2400" dirty="0">
              <a:latin typeface="微软雅黑" panose="020B0503020204020204" pitchFamily="34" charset="-122"/>
              <a:ea typeface="微软雅黑" panose="020B0503020204020204" pitchFamily="34" charset="-122"/>
            </a:endParaRPr>
          </a:p>
          <a:p>
            <a:pPr marL="261938" indent="-261938">
              <a:lnSpc>
                <a:spcPct val="110000"/>
              </a:lnSpc>
              <a:spcBef>
                <a:spcPct val="0"/>
              </a:spcBef>
            </a:pPr>
            <a:endParaRPr lang="en-US" altLang="zh-CN" sz="2400" dirty="0">
              <a:latin typeface="微软雅黑" panose="020B0503020204020204" pitchFamily="34" charset="-122"/>
              <a:ea typeface="微软雅黑" panose="020B0503020204020204" pitchFamily="34" charset="-122"/>
            </a:endParaRPr>
          </a:p>
          <a:p>
            <a:pPr marL="261938" indent="-261938">
              <a:lnSpc>
                <a:spcPct val="110000"/>
              </a:lnSpc>
              <a:spcBef>
                <a:spcPct val="0"/>
              </a:spcBef>
            </a:pPr>
            <a:r>
              <a:rPr lang="zh-CN" altLang="en-US" sz="2400" dirty="0">
                <a:latin typeface="微软雅黑" panose="020B0503020204020204" pitchFamily="34" charset="-122"/>
                <a:ea typeface="微软雅黑" panose="020B0503020204020204" pitchFamily="34" charset="-122"/>
              </a:rPr>
              <a:t>三维结构具有</a:t>
            </a:r>
            <a:r>
              <a:rPr lang="zh-CN" altLang="en-US" sz="2400" dirty="0">
                <a:solidFill>
                  <a:srgbClr val="0000CC"/>
                </a:solidFill>
                <a:latin typeface="微软雅黑" panose="020B0503020204020204" pitchFamily="34" charset="-122"/>
                <a:ea typeface="微软雅黑" panose="020B0503020204020204" pitchFamily="34" charset="-122"/>
              </a:rPr>
              <a:t>明显的折叠层次</a:t>
            </a:r>
            <a:r>
              <a:rPr lang="zh-CN" altLang="en-US" sz="2400" dirty="0">
                <a:latin typeface="微软雅黑" panose="020B0503020204020204" pitchFamily="34" charset="-122"/>
                <a:ea typeface="微软雅黑" panose="020B0503020204020204" pitchFamily="34" charset="-122"/>
              </a:rPr>
              <a:t>，包括二级结构、超二级结构、结构域、三级结构和四级结构。</a:t>
            </a:r>
            <a:endParaRPr lang="en-US" altLang="zh-CN" sz="2400" dirty="0">
              <a:latin typeface="微软雅黑" panose="020B0503020204020204" pitchFamily="34" charset="-122"/>
              <a:ea typeface="微软雅黑" panose="020B0503020204020204" pitchFamily="34" charset="-122"/>
            </a:endParaRPr>
          </a:p>
          <a:p>
            <a:pPr marL="261938" indent="-261938">
              <a:lnSpc>
                <a:spcPct val="110000"/>
              </a:lnSpc>
              <a:spcBef>
                <a:spcPct val="0"/>
              </a:spcBef>
            </a:pPr>
            <a:endParaRPr lang="en-US" altLang="zh-CN" sz="2400" dirty="0">
              <a:latin typeface="微软雅黑" panose="020B0503020204020204" pitchFamily="34" charset="-122"/>
              <a:ea typeface="微软雅黑" panose="020B0503020204020204" pitchFamily="34" charset="-122"/>
            </a:endParaRPr>
          </a:p>
          <a:p>
            <a:pPr marL="261938" indent="-261938">
              <a:lnSpc>
                <a:spcPct val="110000"/>
              </a:lnSpc>
              <a:spcBef>
                <a:spcPct val="0"/>
              </a:spcBef>
            </a:pPr>
            <a:r>
              <a:rPr lang="zh-CN" altLang="en-US" sz="2400" dirty="0">
                <a:solidFill>
                  <a:srgbClr val="0000CC"/>
                </a:solidFill>
                <a:latin typeface="微软雅黑" panose="020B0503020204020204" pitchFamily="34" charset="-122"/>
                <a:ea typeface="微软雅黑" panose="020B0503020204020204" pitchFamily="34" charset="-122"/>
              </a:rPr>
              <a:t>致密的</a:t>
            </a:r>
            <a:r>
              <a:rPr lang="zh-CN" altLang="en-US" sz="2400" dirty="0">
                <a:latin typeface="微软雅黑" panose="020B0503020204020204" pitchFamily="34" charset="-122"/>
                <a:ea typeface="微软雅黑" panose="020B0503020204020204" pitchFamily="34" charset="-122"/>
              </a:rPr>
              <a:t>球状或椭球形实体，多肽链折叠中各种二级结构彼此紧密装配。</a:t>
            </a:r>
            <a:endParaRPr lang="en-US" altLang="zh-CN" sz="2400" dirty="0">
              <a:latin typeface="微软雅黑" panose="020B0503020204020204" pitchFamily="34" charset="-122"/>
              <a:ea typeface="微软雅黑" panose="020B0503020204020204" pitchFamily="34" charset="-122"/>
            </a:endParaRPr>
          </a:p>
          <a:p>
            <a:pPr marL="261938" indent="-261938">
              <a:lnSpc>
                <a:spcPct val="110000"/>
              </a:lnSpc>
              <a:spcBef>
                <a:spcPct val="0"/>
              </a:spcBef>
            </a:pPr>
            <a:endParaRPr lang="en-US" altLang="zh-CN" sz="2400" dirty="0">
              <a:latin typeface="微软雅黑" panose="020B0503020204020204" pitchFamily="34" charset="-122"/>
              <a:ea typeface="微软雅黑" panose="020B0503020204020204" pitchFamily="34" charset="-122"/>
            </a:endParaRPr>
          </a:p>
          <a:p>
            <a:pPr marL="261938" indent="-261938">
              <a:lnSpc>
                <a:spcPct val="110000"/>
              </a:lnSpc>
              <a:spcBef>
                <a:spcPct val="0"/>
              </a:spcBef>
            </a:pPr>
            <a:r>
              <a:rPr lang="zh-CN" altLang="en-US" sz="2400" dirty="0">
                <a:solidFill>
                  <a:srgbClr val="C00000"/>
                </a:solidFill>
                <a:latin typeface="微软雅黑" panose="020B0503020204020204" pitchFamily="34" charset="-122"/>
                <a:ea typeface="微软雅黑" panose="020B0503020204020204" pitchFamily="34" charset="-122"/>
              </a:rPr>
              <a:t>疏水残基深埋在分子内部，亲水残基暴露在分子表面</a:t>
            </a:r>
            <a:r>
              <a:rPr lang="zh-CN" altLang="en-US" sz="2400" dirty="0">
                <a:latin typeface="微软雅黑" panose="020B0503020204020204" pitchFamily="34" charset="-122"/>
                <a:ea typeface="微软雅黑" panose="020B0503020204020204" pitchFamily="34" charset="-122"/>
              </a:rPr>
              <a:t>。 因此是水溶性的。分子表面</a:t>
            </a:r>
            <a:r>
              <a:rPr lang="zh-CN" altLang="en-US" sz="2400" dirty="0">
                <a:solidFill>
                  <a:srgbClr val="0000CC"/>
                </a:solidFill>
                <a:latin typeface="微软雅黑" panose="020B0503020204020204" pitchFamily="34" charset="-122"/>
                <a:ea typeface="微软雅黑" panose="020B0503020204020204" pitchFamily="34" charset="-122"/>
              </a:rPr>
              <a:t>至少有一个空穴或裂隙</a:t>
            </a:r>
            <a:r>
              <a:rPr lang="zh-CN" altLang="en-US" sz="2400" dirty="0">
                <a:latin typeface="微软雅黑" panose="020B0503020204020204" pitchFamily="34" charset="-122"/>
                <a:ea typeface="微软雅黑" panose="020B0503020204020204" pitchFamily="34" charset="-122"/>
              </a:rPr>
              <a:t>，是结合配体行使功能的部位。 </a:t>
            </a:r>
          </a:p>
        </p:txBody>
      </p:sp>
    </p:spTree>
  </p:cSld>
  <p:clrMapOvr>
    <a:masterClrMapping/>
  </p:clrMapOvr>
  <p:transition spd="slow">
    <p:circle/>
  </p:transition>
</p:sld>
</file>

<file path=ppt/slides/slide1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03106" name="图片 1">
            <a:extLst>
              <a:ext uri="{FF2B5EF4-FFF2-40B4-BE49-F238E27FC236}">
                <a16:creationId xmlns:a16="http://schemas.microsoft.com/office/drawing/2014/main" id="{93865EDE-C009-491C-B6B6-8A4F98895E1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3392" y="16841"/>
            <a:ext cx="533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C1E158F9-D42F-F7D3-71D0-34642FB8C05E}"/>
              </a:ext>
            </a:extLst>
          </p:cNvPr>
          <p:cNvSpPr txBox="1"/>
          <p:nvPr/>
        </p:nvSpPr>
        <p:spPr>
          <a:xfrm>
            <a:off x="6456040" y="1556792"/>
            <a:ext cx="5334000" cy="3247877"/>
          </a:xfrm>
          <a:prstGeom prst="rect">
            <a:avLst/>
          </a:prstGeom>
          <a:noFill/>
        </p:spPr>
        <p:txBody>
          <a:bodyPr wrap="square">
            <a:spAutoFit/>
          </a:bodyPr>
          <a:lstStyle/>
          <a:p>
            <a:pPr>
              <a:lnSpc>
                <a:spcPct val="150000"/>
              </a:lnSpc>
            </a:pPr>
            <a:r>
              <a:rPr lang="zh-CN" altLang="en-US" sz="2800" dirty="0">
                <a:solidFill>
                  <a:srgbClr val="000000"/>
                </a:solidFill>
                <a:latin typeface="微软雅黑" panose="020B0503020204020204" pitchFamily="34" charset="-122"/>
                <a:ea typeface="微软雅黑" panose="020B0503020204020204" pitchFamily="34" charset="-122"/>
              </a:rPr>
              <a:t>图中除了胶原蛋白原胶原和作为大小对比的</a:t>
            </a:r>
            <a:r>
              <a:rPr lang="en-US" altLang="zh-CN" sz="2800" dirty="0">
                <a:solidFill>
                  <a:srgbClr val="000000"/>
                </a:solidFill>
                <a:latin typeface="微软雅黑" panose="020B0503020204020204" pitchFamily="34" charset="-122"/>
                <a:ea typeface="微软雅黑" panose="020B0503020204020204" pitchFamily="34" charset="-122"/>
              </a:rPr>
              <a:t>DNA</a:t>
            </a:r>
            <a:r>
              <a:rPr lang="zh-CN" altLang="en-US" sz="2800" dirty="0">
                <a:solidFill>
                  <a:srgbClr val="000000"/>
                </a:solidFill>
                <a:latin typeface="微软雅黑" panose="020B0503020204020204" pitchFamily="34" charset="-122"/>
                <a:ea typeface="微软雅黑" panose="020B0503020204020204" pitchFamily="34" charset="-122"/>
              </a:rPr>
              <a:t>（灰色显示），</a:t>
            </a:r>
            <a:r>
              <a:rPr lang="zh-CN" altLang="en-US" sz="2800" dirty="0">
                <a:solidFill>
                  <a:srgbClr val="0000CC"/>
                </a:solidFill>
                <a:latin typeface="微软雅黑" panose="020B0503020204020204" pitchFamily="34" charset="-122"/>
                <a:ea typeface="微软雅黑" panose="020B0503020204020204" pitchFamily="34" charset="-122"/>
              </a:rPr>
              <a:t>其它都是球状蛋白</a:t>
            </a:r>
            <a:r>
              <a:rPr lang="zh-CN" altLang="en-US" sz="2800" dirty="0">
                <a:solidFill>
                  <a:srgbClr val="000000"/>
                </a:solidFill>
                <a:latin typeface="微软雅黑" panose="020B0503020204020204" pitchFamily="34" charset="-122"/>
                <a:ea typeface="微软雅黑" panose="020B0503020204020204" pitchFamily="34" charset="-122"/>
              </a:rPr>
              <a:t>。</a:t>
            </a:r>
            <a:endParaRPr lang="en-US" altLang="zh-CN" sz="2800" dirty="0">
              <a:solidFill>
                <a:srgbClr val="000000"/>
              </a:solidFill>
              <a:latin typeface="微软雅黑" panose="020B0503020204020204" pitchFamily="34" charset="-122"/>
              <a:ea typeface="微软雅黑" panose="020B0503020204020204" pitchFamily="34" charset="-122"/>
            </a:endParaRPr>
          </a:p>
          <a:p>
            <a:pPr>
              <a:lnSpc>
                <a:spcPct val="150000"/>
              </a:lnSpc>
            </a:pPr>
            <a:r>
              <a:rPr lang="zh-CN" altLang="en-US" sz="2800" dirty="0">
                <a:solidFill>
                  <a:srgbClr val="000000"/>
                </a:solidFill>
                <a:latin typeface="微软雅黑" panose="020B0503020204020204" pitchFamily="34" charset="-122"/>
                <a:ea typeface="微软雅黑" panose="020B0503020204020204" pitchFamily="34" charset="-122"/>
              </a:rPr>
              <a:t>所有这些分子的大小与实际大小成比例。 </a:t>
            </a:r>
            <a:endParaRPr lang="en-US" altLang="zh-CN" sz="28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spd="slow">
    <p:circle/>
  </p:transition>
</p:sld>
</file>

<file path=ppt/slides/slide1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800770" name="Group 2">
            <a:extLst>
              <a:ext uri="{FF2B5EF4-FFF2-40B4-BE49-F238E27FC236}">
                <a16:creationId xmlns:a16="http://schemas.microsoft.com/office/drawing/2014/main" id="{5E8DD53A-A1F0-49C2-A7A5-4E9176AAD989}"/>
              </a:ext>
            </a:extLst>
          </p:cNvPr>
          <p:cNvGraphicFramePr>
            <a:graphicFrameLocks noGrp="1"/>
          </p:cNvGraphicFramePr>
          <p:nvPr/>
        </p:nvGraphicFramePr>
        <p:xfrm>
          <a:off x="2424114" y="981076"/>
          <a:ext cx="7488237" cy="4935539"/>
        </p:xfrm>
        <a:graphic>
          <a:graphicData uri="http://schemas.openxmlformats.org/drawingml/2006/table">
            <a:tbl>
              <a:tblPr/>
              <a:tblGrid>
                <a:gridCol w="1611312">
                  <a:extLst>
                    <a:ext uri="{9D8B030D-6E8A-4147-A177-3AD203B41FA5}">
                      <a16:colId xmlns:a16="http://schemas.microsoft.com/office/drawing/2014/main" val="20000"/>
                    </a:ext>
                  </a:extLst>
                </a:gridCol>
                <a:gridCol w="2243138">
                  <a:extLst>
                    <a:ext uri="{9D8B030D-6E8A-4147-A177-3AD203B41FA5}">
                      <a16:colId xmlns:a16="http://schemas.microsoft.com/office/drawing/2014/main" val="20001"/>
                    </a:ext>
                  </a:extLst>
                </a:gridCol>
                <a:gridCol w="3633787">
                  <a:extLst>
                    <a:ext uri="{9D8B030D-6E8A-4147-A177-3AD203B41FA5}">
                      <a16:colId xmlns:a16="http://schemas.microsoft.com/office/drawing/2014/main" val="20002"/>
                    </a:ext>
                  </a:extLst>
                </a:gridCol>
              </a:tblGrid>
              <a:tr h="3962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CC"/>
                          </a:solidFill>
                          <a:effectLst/>
                          <a:latin typeface="Times New Roman" pitchFamily="18" charset="0"/>
                          <a:ea typeface="黑体" pitchFamily="49" charset="-122"/>
                        </a:rPr>
                        <a:t>分类</a:t>
                      </a:r>
                    </a:p>
                  </a:txBody>
                  <a:tcPr marT="45719" marB="45719" horzOverflow="overflow">
                    <a:lnL cap="flat">
                      <a:noFill/>
                    </a:lnL>
                    <a:lnR>
                      <a:noFill/>
                    </a:lnR>
                    <a:lnT w="285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CC"/>
                          </a:solidFill>
                          <a:effectLst/>
                          <a:latin typeface="Times New Roman" pitchFamily="18" charset="0"/>
                          <a:ea typeface="黑体" pitchFamily="49" charset="-122"/>
                        </a:rPr>
                        <a:t>辅基</a:t>
                      </a:r>
                    </a:p>
                  </a:txBody>
                  <a:tcPr marT="45719" marB="45719" horzOverflow="overflow">
                    <a:lnL>
                      <a:noFill/>
                    </a:lnL>
                    <a:lnR>
                      <a:noFill/>
                    </a:lnR>
                    <a:lnT w="285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CC"/>
                          </a:solidFill>
                          <a:effectLst/>
                          <a:latin typeface="Times New Roman" pitchFamily="18" charset="0"/>
                          <a:ea typeface="黑体" pitchFamily="49" charset="-122"/>
                        </a:rPr>
                        <a:t>举例</a:t>
                      </a:r>
                    </a:p>
                  </a:txBody>
                  <a:tcPr marT="45719" marB="45719" horzOverflow="overflow">
                    <a:lnL>
                      <a:noFill/>
                    </a:lnL>
                    <a:lnR cap="flat">
                      <a:noFill/>
                    </a:lnR>
                    <a:lnT w="285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0"/>
                  </a:ext>
                </a:extLst>
              </a:tr>
              <a:tr h="46744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FF0000"/>
                          </a:solidFill>
                          <a:effectLst/>
                          <a:latin typeface="Times New Roman" pitchFamily="18" charset="0"/>
                          <a:ea typeface="黑体" pitchFamily="49" charset="-122"/>
                        </a:rPr>
                        <a:t>脂蛋白</a:t>
                      </a:r>
                    </a:p>
                  </a:txBody>
                  <a:tcPr marT="45719" marB="45719" horzOverflow="overflow">
                    <a:lnL cap="flat">
                      <a:noFill/>
                    </a:lnL>
                    <a:lnR>
                      <a:noFill/>
                    </a:lnR>
                    <a:lnT w="3175" cap="flat" cmpd="sng" algn="ctr">
                      <a:solidFill>
                        <a:srgbClr val="000000"/>
                      </a:solidFill>
                      <a:prstDash val="solid"/>
                      <a:round/>
                      <a:headEnd type="none" w="med" len="med"/>
                      <a:tailEnd type="none" w="med" len="med"/>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CC"/>
                          </a:solidFill>
                          <a:effectLst/>
                          <a:latin typeface="Times New Roman" pitchFamily="18" charset="0"/>
                          <a:ea typeface="黑体" pitchFamily="49" charset="-122"/>
                        </a:rPr>
                        <a:t>脂类</a:t>
                      </a:r>
                    </a:p>
                  </a:txBody>
                  <a:tcPr marT="45719" marB="45719" horzOverflow="overflow">
                    <a:lnL>
                      <a:noFill/>
                    </a:lnL>
                    <a:lnR>
                      <a:noFill/>
                    </a:lnR>
                    <a:lnT w="3175" cap="flat" cmpd="sng" algn="ctr">
                      <a:solidFill>
                        <a:srgbClr val="000000"/>
                      </a:solidFill>
                      <a:prstDash val="solid"/>
                      <a:round/>
                      <a:headEnd type="none" w="med" len="med"/>
                      <a:tailEnd type="none" w="med" len="med"/>
                    </a:lnT>
                    <a:lnB>
                      <a:noFill/>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CC"/>
                          </a:solidFill>
                          <a:effectLst/>
                          <a:latin typeface="Times New Roman" pitchFamily="18" charset="0"/>
                          <a:ea typeface="黑体" pitchFamily="49" charset="-122"/>
                        </a:rPr>
                        <a:t>β1-Lipoprotein of blood</a:t>
                      </a:r>
                      <a:endParaRPr kumimoji="0" lang="zh-CN" altLang="en-US" sz="2000" b="1" i="0" u="none" strike="noStrike" cap="none" normalizeH="0" baseline="0" dirty="0">
                        <a:ln>
                          <a:noFill/>
                        </a:ln>
                        <a:solidFill>
                          <a:srgbClr val="0000CC"/>
                        </a:solidFill>
                        <a:effectLst/>
                        <a:latin typeface="Times New Roman" pitchFamily="18" charset="0"/>
                        <a:ea typeface="黑体" pitchFamily="49" charset="-122"/>
                      </a:endParaRPr>
                    </a:p>
                  </a:txBody>
                  <a:tcPr marT="45719" marB="45719" horzOverflow="overflow">
                    <a:lnL>
                      <a:noFill/>
                    </a:lnL>
                    <a:lnR cap="flat">
                      <a:noFill/>
                    </a:lnR>
                    <a:lnT w="3175" cap="flat" cmpd="sng" algn="ctr">
                      <a:solidFill>
                        <a:srgbClr val="000000"/>
                      </a:solidFill>
                      <a:prstDash val="solid"/>
                      <a:round/>
                      <a:headEnd type="none" w="med" len="med"/>
                      <a:tailEnd type="none" w="med" len="med"/>
                    </a:lnT>
                    <a:lnB>
                      <a:noFill/>
                    </a:lnB>
                    <a:lnTlToBr>
                      <a:noFill/>
                    </a:lnTlToBr>
                    <a:lnBlToTr>
                      <a:noFill/>
                    </a:lnBlToTr>
                    <a:solidFill>
                      <a:schemeClr val="accent5">
                        <a:lumMod val="20000"/>
                        <a:lumOff val="80000"/>
                      </a:schemeClr>
                    </a:solidFill>
                  </a:tcPr>
                </a:tc>
                <a:extLst>
                  <a:ext uri="{0D108BD9-81ED-4DB2-BD59-A6C34878D82A}">
                    <a16:rowId xmlns:a16="http://schemas.microsoft.com/office/drawing/2014/main" val="10001"/>
                  </a:ext>
                </a:extLst>
              </a:tr>
              <a:tr h="3962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rgbClr val="FF0000"/>
                          </a:solidFill>
                          <a:effectLst/>
                          <a:latin typeface="Times New Roman" pitchFamily="18" charset="0"/>
                          <a:ea typeface="黑体" pitchFamily="49" charset="-122"/>
                        </a:rPr>
                        <a:t>糖蛋白</a:t>
                      </a:r>
                    </a:p>
                  </a:txBody>
                  <a:tcPr marT="45719" marB="45719" horzOverflow="overflow">
                    <a:lnL cap="flat">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CC"/>
                          </a:solidFill>
                          <a:effectLst/>
                          <a:latin typeface="Times New Roman" pitchFamily="18" charset="0"/>
                          <a:ea typeface="黑体" pitchFamily="49" charset="-122"/>
                        </a:rPr>
                        <a:t>糖基或糖链</a:t>
                      </a:r>
                    </a:p>
                  </a:txBody>
                  <a:tcPr marT="45719" marB="45719" horzOverflow="overflow">
                    <a:lnL>
                      <a:noFill/>
                    </a:lnL>
                    <a:lnR>
                      <a:noFill/>
                    </a:lnR>
                    <a:lnT>
                      <a:noFill/>
                    </a:lnT>
                    <a:lnB>
                      <a:noFill/>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CC"/>
                          </a:solidFill>
                          <a:effectLst/>
                          <a:latin typeface="Times New Roman" pitchFamily="18" charset="0"/>
                          <a:ea typeface="黑体" pitchFamily="49" charset="-122"/>
                        </a:rPr>
                        <a:t>免疫球蛋白</a:t>
                      </a:r>
                    </a:p>
                  </a:txBody>
                  <a:tcPr marT="45719" marB="45719" horzOverflow="overflow">
                    <a:lnL>
                      <a:noFill/>
                    </a:lnL>
                    <a:lnR cap="flat">
                      <a:noFill/>
                    </a:lnR>
                    <a:lnT>
                      <a:noFill/>
                    </a:lnT>
                    <a:lnB>
                      <a:noFill/>
                    </a:lnB>
                    <a:lnTlToBr>
                      <a:noFill/>
                    </a:lnTlToBr>
                    <a:lnBlToTr>
                      <a:noFill/>
                    </a:lnBlToTr>
                    <a:solidFill>
                      <a:schemeClr val="accent5">
                        <a:lumMod val="20000"/>
                        <a:lumOff val="80000"/>
                      </a:schemeClr>
                    </a:solidFill>
                  </a:tcPr>
                </a:tc>
                <a:extLst>
                  <a:ext uri="{0D108BD9-81ED-4DB2-BD59-A6C34878D82A}">
                    <a16:rowId xmlns:a16="http://schemas.microsoft.com/office/drawing/2014/main" val="10002"/>
                  </a:ext>
                </a:extLst>
              </a:tr>
              <a:tr h="3962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FF0000"/>
                          </a:solidFill>
                          <a:effectLst/>
                          <a:latin typeface="Times New Roman" pitchFamily="18" charset="0"/>
                          <a:ea typeface="黑体" pitchFamily="49" charset="-122"/>
                        </a:rPr>
                        <a:t>磷蛋白</a:t>
                      </a:r>
                    </a:p>
                  </a:txBody>
                  <a:tcPr marT="45719" marB="45719" horzOverflow="overflow">
                    <a:lnL cap="flat">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CC"/>
                          </a:solidFill>
                          <a:effectLst/>
                          <a:latin typeface="Times New Roman" pitchFamily="18" charset="0"/>
                          <a:ea typeface="黑体" pitchFamily="49" charset="-122"/>
                        </a:rPr>
                        <a:t>磷酸基团</a:t>
                      </a:r>
                    </a:p>
                  </a:txBody>
                  <a:tcPr marT="45719" marB="45719" horzOverflow="overflow">
                    <a:lnL>
                      <a:noFill/>
                    </a:lnL>
                    <a:lnR>
                      <a:noFill/>
                    </a:lnR>
                    <a:lnT>
                      <a:noFill/>
                    </a:lnT>
                    <a:lnB>
                      <a:noFill/>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CC"/>
                          </a:solidFill>
                          <a:effectLst/>
                          <a:latin typeface="Times New Roman" pitchFamily="18" charset="0"/>
                          <a:ea typeface="黑体" pitchFamily="49" charset="-122"/>
                        </a:rPr>
                        <a:t>酪蛋白（</a:t>
                      </a:r>
                      <a:r>
                        <a:rPr kumimoji="0" lang="en-US" altLang="zh-CN" sz="2000" b="1" i="0" u="none" strike="noStrike" cap="none" normalizeH="0" baseline="0" dirty="0">
                          <a:ln>
                            <a:noFill/>
                          </a:ln>
                          <a:solidFill>
                            <a:srgbClr val="0000CC"/>
                          </a:solidFill>
                          <a:effectLst/>
                          <a:latin typeface="Times New Roman" pitchFamily="18" charset="0"/>
                          <a:ea typeface="黑体" pitchFamily="49" charset="-122"/>
                        </a:rPr>
                        <a:t>casein</a:t>
                      </a:r>
                      <a:r>
                        <a:rPr kumimoji="0" lang="zh-CN" altLang="en-US" sz="2000" b="1" i="0" u="none" strike="noStrike" cap="none" normalizeH="0" baseline="0" dirty="0">
                          <a:ln>
                            <a:noFill/>
                          </a:ln>
                          <a:solidFill>
                            <a:srgbClr val="0000CC"/>
                          </a:solidFill>
                          <a:effectLst/>
                          <a:latin typeface="Times New Roman" pitchFamily="18" charset="0"/>
                          <a:ea typeface="黑体" pitchFamily="49" charset="-122"/>
                        </a:rPr>
                        <a:t>）</a:t>
                      </a:r>
                    </a:p>
                  </a:txBody>
                  <a:tcPr marT="45719" marB="45719" horzOverflow="overflow">
                    <a:lnL>
                      <a:noFill/>
                    </a:lnL>
                    <a:lnR cap="flat">
                      <a:noFill/>
                    </a:lnR>
                    <a:lnT>
                      <a:noFill/>
                    </a:lnT>
                    <a:lnB>
                      <a:noFill/>
                    </a:lnB>
                    <a:lnTlToBr>
                      <a:noFill/>
                    </a:lnTlToBr>
                    <a:lnBlToTr>
                      <a:noFill/>
                    </a:lnBlToTr>
                    <a:solidFill>
                      <a:schemeClr val="accent5">
                        <a:lumMod val="20000"/>
                        <a:lumOff val="80000"/>
                      </a:schemeClr>
                    </a:solidFill>
                  </a:tcPr>
                </a:tc>
                <a:extLst>
                  <a:ext uri="{0D108BD9-81ED-4DB2-BD59-A6C34878D82A}">
                    <a16:rowId xmlns:a16="http://schemas.microsoft.com/office/drawing/2014/main" val="10003"/>
                  </a:ext>
                </a:extLst>
              </a:tr>
              <a:tr h="3962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rgbClr val="FF0000"/>
                          </a:solidFill>
                          <a:effectLst/>
                          <a:latin typeface="Times New Roman" pitchFamily="18" charset="0"/>
                          <a:ea typeface="黑体" pitchFamily="49" charset="-122"/>
                        </a:rPr>
                        <a:t>血红素蛋白</a:t>
                      </a:r>
                    </a:p>
                  </a:txBody>
                  <a:tcPr marT="45719" marB="45719" horzOverflow="overflow">
                    <a:lnL cap="flat">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CC"/>
                          </a:solidFill>
                          <a:effectLst/>
                          <a:latin typeface="Times New Roman" pitchFamily="18" charset="0"/>
                          <a:ea typeface="黑体" pitchFamily="49" charset="-122"/>
                        </a:rPr>
                        <a:t>血红素（铁卟啉）</a:t>
                      </a:r>
                    </a:p>
                  </a:txBody>
                  <a:tcPr marT="45719" marB="45719" horzOverflow="overflow">
                    <a:lnL>
                      <a:noFill/>
                    </a:lnL>
                    <a:lnR>
                      <a:noFill/>
                    </a:lnR>
                    <a:lnT>
                      <a:noFill/>
                    </a:lnT>
                    <a:lnB>
                      <a:noFill/>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CC"/>
                          </a:solidFill>
                          <a:effectLst/>
                          <a:latin typeface="Times New Roman" pitchFamily="18" charset="0"/>
                          <a:ea typeface="黑体" pitchFamily="49" charset="-122"/>
                        </a:rPr>
                        <a:t>血红蛋白、细胞色素</a:t>
                      </a:r>
                      <a:r>
                        <a:rPr kumimoji="0" lang="en-US" altLang="zh-CN" sz="2000" b="1" i="0" u="none" strike="noStrike" cap="none" normalizeH="0" baseline="0" dirty="0">
                          <a:ln>
                            <a:noFill/>
                          </a:ln>
                          <a:solidFill>
                            <a:srgbClr val="0000CC"/>
                          </a:solidFill>
                          <a:effectLst/>
                          <a:latin typeface="Times New Roman" pitchFamily="18" charset="0"/>
                          <a:ea typeface="黑体" pitchFamily="49" charset="-122"/>
                        </a:rPr>
                        <a:t>c</a:t>
                      </a:r>
                    </a:p>
                  </a:txBody>
                  <a:tcPr marT="45719" marB="45719" horzOverflow="overflow">
                    <a:lnL>
                      <a:noFill/>
                    </a:lnL>
                    <a:lnR cap="flat">
                      <a:noFill/>
                    </a:lnR>
                    <a:lnT>
                      <a:noFill/>
                    </a:lnT>
                    <a:lnB>
                      <a:noFill/>
                    </a:lnB>
                    <a:lnTlToBr>
                      <a:noFill/>
                    </a:lnTlToBr>
                    <a:lnBlToTr>
                      <a:noFill/>
                    </a:lnBlToTr>
                    <a:solidFill>
                      <a:schemeClr val="accent5">
                        <a:lumMod val="20000"/>
                        <a:lumOff val="80000"/>
                      </a:schemeClr>
                    </a:solidFill>
                  </a:tcPr>
                </a:tc>
                <a:extLst>
                  <a:ext uri="{0D108BD9-81ED-4DB2-BD59-A6C34878D82A}">
                    <a16:rowId xmlns:a16="http://schemas.microsoft.com/office/drawing/2014/main" val="10004"/>
                  </a:ext>
                </a:extLst>
              </a:tr>
              <a:tr h="7010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rgbClr val="FF0000"/>
                          </a:solidFill>
                          <a:effectLst/>
                          <a:latin typeface="Times New Roman" pitchFamily="18" charset="0"/>
                          <a:ea typeface="黑体" pitchFamily="49" charset="-122"/>
                        </a:rPr>
                        <a:t>黄素蛋白</a:t>
                      </a:r>
                    </a:p>
                  </a:txBody>
                  <a:tcPr marT="45719" marB="45719" horzOverflow="overflow">
                    <a:lnL cap="flat">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CC"/>
                          </a:solidFill>
                          <a:effectLst/>
                          <a:latin typeface="Times New Roman" pitchFamily="18" charset="0"/>
                          <a:ea typeface="黑体" pitchFamily="49" charset="-122"/>
                        </a:rPr>
                        <a:t>黄素核苷酸（</a:t>
                      </a:r>
                      <a:r>
                        <a:rPr kumimoji="0" lang="en-US" altLang="zh-CN" sz="2000" b="1" i="0" u="none" strike="noStrike" cap="none" normalizeH="0" baseline="0" dirty="0">
                          <a:ln>
                            <a:noFill/>
                          </a:ln>
                          <a:solidFill>
                            <a:srgbClr val="0000CC"/>
                          </a:solidFill>
                          <a:effectLst/>
                          <a:latin typeface="Times New Roman" pitchFamily="18" charset="0"/>
                          <a:ea typeface="黑体" pitchFamily="49" charset="-122"/>
                        </a:rPr>
                        <a:t>FAD</a:t>
                      </a:r>
                      <a:r>
                        <a:rPr kumimoji="0" lang="zh-CN" altLang="en-US" sz="2000" b="1" i="0" u="none" strike="noStrike" cap="none" normalizeH="0" baseline="0" dirty="0">
                          <a:ln>
                            <a:noFill/>
                          </a:ln>
                          <a:solidFill>
                            <a:srgbClr val="0000CC"/>
                          </a:solidFill>
                          <a:effectLst/>
                          <a:latin typeface="Times New Roman" pitchFamily="18" charset="0"/>
                          <a:ea typeface="黑体" pitchFamily="49" charset="-122"/>
                        </a:rPr>
                        <a:t>、</a:t>
                      </a:r>
                      <a:r>
                        <a:rPr kumimoji="0" lang="en-US" altLang="zh-CN" sz="2000" b="1" i="0" u="none" strike="noStrike" cap="none" normalizeH="0" baseline="0" dirty="0">
                          <a:ln>
                            <a:noFill/>
                          </a:ln>
                          <a:solidFill>
                            <a:srgbClr val="0000CC"/>
                          </a:solidFill>
                          <a:effectLst/>
                          <a:latin typeface="Times New Roman" pitchFamily="18" charset="0"/>
                          <a:ea typeface="黑体" pitchFamily="49" charset="-122"/>
                        </a:rPr>
                        <a:t>FMN</a:t>
                      </a:r>
                      <a:r>
                        <a:rPr kumimoji="0" lang="zh-CN" altLang="en-US" sz="2000" b="1" i="0" u="none" strike="noStrike" cap="none" normalizeH="0" baseline="0" dirty="0">
                          <a:ln>
                            <a:noFill/>
                          </a:ln>
                          <a:solidFill>
                            <a:srgbClr val="0000CC"/>
                          </a:solidFill>
                          <a:effectLst/>
                          <a:latin typeface="Times New Roman" pitchFamily="18" charset="0"/>
                          <a:ea typeface="黑体" pitchFamily="49" charset="-122"/>
                        </a:rPr>
                        <a:t>）</a:t>
                      </a:r>
                    </a:p>
                  </a:txBody>
                  <a:tcPr marT="45719" marB="45719" horzOverflow="overflow">
                    <a:lnL>
                      <a:noFill/>
                    </a:lnL>
                    <a:lnR>
                      <a:noFill/>
                    </a:lnR>
                    <a:lnT>
                      <a:noFill/>
                    </a:lnT>
                    <a:lnB>
                      <a:noFill/>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CC"/>
                          </a:solidFill>
                          <a:effectLst/>
                          <a:latin typeface="Times New Roman" pitchFamily="18" charset="0"/>
                          <a:ea typeface="黑体" pitchFamily="49" charset="-122"/>
                        </a:rPr>
                        <a:t>琥珀酸脱氢酶</a:t>
                      </a:r>
                    </a:p>
                  </a:txBody>
                  <a:tcPr marT="45719" marB="45719" horzOverflow="overflow">
                    <a:lnL>
                      <a:noFill/>
                    </a:lnL>
                    <a:lnR cap="flat">
                      <a:noFill/>
                    </a:lnR>
                    <a:lnT>
                      <a:noFill/>
                    </a:lnT>
                    <a:lnB>
                      <a:noFill/>
                    </a:lnB>
                    <a:lnTlToBr>
                      <a:noFill/>
                    </a:lnTlToBr>
                    <a:lnBlToTr>
                      <a:noFill/>
                    </a:lnBlToTr>
                    <a:solidFill>
                      <a:schemeClr val="accent5">
                        <a:lumMod val="20000"/>
                        <a:lumOff val="80000"/>
                      </a:schemeClr>
                    </a:solidFill>
                  </a:tcPr>
                </a:tc>
                <a:extLst>
                  <a:ext uri="{0D108BD9-81ED-4DB2-BD59-A6C34878D82A}">
                    <a16:rowId xmlns:a16="http://schemas.microsoft.com/office/drawing/2014/main" val="10005"/>
                  </a:ext>
                </a:extLst>
              </a:tr>
              <a:tr h="3962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rgbClr val="FF0000"/>
                          </a:solidFill>
                          <a:effectLst/>
                          <a:latin typeface="Times New Roman" pitchFamily="18" charset="0"/>
                          <a:ea typeface="黑体" pitchFamily="49" charset="-122"/>
                        </a:rPr>
                        <a:t>金属蛋白</a:t>
                      </a:r>
                    </a:p>
                  </a:txBody>
                  <a:tcPr marT="45719" marB="45719" horzOverflow="overflow">
                    <a:lnL cap="flat">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CC"/>
                          </a:solidFill>
                          <a:effectLst/>
                          <a:latin typeface="Times New Roman" pitchFamily="18" charset="0"/>
                          <a:ea typeface="黑体" pitchFamily="49" charset="-122"/>
                        </a:rPr>
                        <a:t>铁</a:t>
                      </a:r>
                    </a:p>
                  </a:txBody>
                  <a:tcPr marT="45719" marB="45719" horzOverflow="overflow">
                    <a:lnL>
                      <a:noFill/>
                    </a:lnL>
                    <a:lnR>
                      <a:noFill/>
                    </a:lnR>
                    <a:lnT>
                      <a:noFill/>
                    </a:lnT>
                    <a:lnB>
                      <a:noFill/>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CC"/>
                          </a:solidFill>
                          <a:effectLst/>
                          <a:latin typeface="Times New Roman" pitchFamily="18" charset="0"/>
                          <a:ea typeface="黑体" pitchFamily="49" charset="-122"/>
                        </a:rPr>
                        <a:t>铁蛋白</a:t>
                      </a:r>
                    </a:p>
                  </a:txBody>
                  <a:tcPr marT="45719" marB="45719" horzOverflow="overflow">
                    <a:lnL>
                      <a:noFill/>
                    </a:lnL>
                    <a:lnR cap="flat">
                      <a:noFill/>
                    </a:lnR>
                    <a:lnT>
                      <a:noFill/>
                    </a:lnT>
                    <a:lnB>
                      <a:noFill/>
                    </a:lnB>
                    <a:lnTlToBr>
                      <a:noFill/>
                    </a:lnTlToBr>
                    <a:lnBlToTr>
                      <a:noFill/>
                    </a:lnBlToTr>
                    <a:solidFill>
                      <a:schemeClr val="accent5">
                        <a:lumMod val="20000"/>
                        <a:lumOff val="80000"/>
                      </a:schemeClr>
                    </a:solidFill>
                  </a:tcPr>
                </a:tc>
                <a:extLst>
                  <a:ext uri="{0D108BD9-81ED-4DB2-BD59-A6C34878D82A}">
                    <a16:rowId xmlns:a16="http://schemas.microsoft.com/office/drawing/2014/main" val="10006"/>
                  </a:ext>
                </a:extLst>
              </a:tr>
              <a:tr h="49052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1" i="0" u="none" strike="noStrike" cap="none" normalizeH="0" baseline="0">
                        <a:ln>
                          <a:noFill/>
                        </a:ln>
                        <a:solidFill>
                          <a:schemeClr val="tx2"/>
                        </a:solidFill>
                        <a:effectLst/>
                        <a:latin typeface="Times New Roman" pitchFamily="18" charset="0"/>
                        <a:ea typeface="黑体" pitchFamily="49" charset="-122"/>
                      </a:endParaRPr>
                    </a:p>
                  </a:txBody>
                  <a:tcPr marT="45719" marB="45719" horzOverflow="overflow">
                    <a:lnL cap="flat">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CC"/>
                          </a:solidFill>
                          <a:effectLst/>
                          <a:latin typeface="Times New Roman" pitchFamily="18" charset="0"/>
                          <a:ea typeface="黑体" pitchFamily="49" charset="-122"/>
                        </a:rPr>
                        <a:t>锌</a:t>
                      </a:r>
                    </a:p>
                  </a:txBody>
                  <a:tcPr marT="45719" marB="45719" horzOverflow="overflow">
                    <a:lnL>
                      <a:noFill/>
                    </a:lnL>
                    <a:lnR>
                      <a:noFill/>
                    </a:lnR>
                    <a:lnT>
                      <a:noFill/>
                    </a:lnT>
                    <a:lnB>
                      <a:noFill/>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CC"/>
                          </a:solidFill>
                          <a:effectLst/>
                          <a:latin typeface="Times New Roman" pitchFamily="18" charset="0"/>
                          <a:ea typeface="黑体" pitchFamily="49" charset="-122"/>
                        </a:rPr>
                        <a:t>乙醇脱氢酶</a:t>
                      </a:r>
                    </a:p>
                  </a:txBody>
                  <a:tcPr marT="45719" marB="45719" horzOverflow="overflow">
                    <a:lnL>
                      <a:noFill/>
                    </a:lnL>
                    <a:lnR cap="flat">
                      <a:noFill/>
                    </a:lnR>
                    <a:lnT>
                      <a:noFill/>
                    </a:lnT>
                    <a:lnB>
                      <a:noFill/>
                    </a:lnB>
                    <a:lnTlToBr>
                      <a:noFill/>
                    </a:lnTlToBr>
                    <a:lnBlToTr>
                      <a:noFill/>
                    </a:lnBlToTr>
                    <a:solidFill>
                      <a:schemeClr val="accent5">
                        <a:lumMod val="20000"/>
                        <a:lumOff val="80000"/>
                      </a:schemeClr>
                    </a:solidFill>
                  </a:tcPr>
                </a:tc>
                <a:extLst>
                  <a:ext uri="{0D108BD9-81ED-4DB2-BD59-A6C34878D82A}">
                    <a16:rowId xmlns:a16="http://schemas.microsoft.com/office/drawing/2014/main" val="10007"/>
                  </a:ext>
                </a:extLst>
              </a:tr>
              <a:tr h="431783">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1" i="0" u="none" strike="noStrike" cap="none" normalizeH="0" baseline="0">
                        <a:ln>
                          <a:noFill/>
                        </a:ln>
                        <a:solidFill>
                          <a:schemeClr val="tx2"/>
                        </a:solidFill>
                        <a:effectLst/>
                        <a:latin typeface="Times New Roman" pitchFamily="18" charset="0"/>
                        <a:ea typeface="黑体" pitchFamily="49" charset="-122"/>
                      </a:endParaRPr>
                    </a:p>
                  </a:txBody>
                  <a:tcPr marT="45719" marB="45719" horzOverflow="overflow">
                    <a:lnL cap="flat">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CC"/>
                          </a:solidFill>
                          <a:effectLst/>
                          <a:latin typeface="Times New Roman" pitchFamily="18" charset="0"/>
                          <a:ea typeface="黑体" pitchFamily="49" charset="-122"/>
                        </a:rPr>
                        <a:t>钙</a:t>
                      </a:r>
                    </a:p>
                  </a:txBody>
                  <a:tcPr marT="45719" marB="45719" horzOverflow="overflow">
                    <a:lnL>
                      <a:noFill/>
                    </a:lnL>
                    <a:lnR>
                      <a:noFill/>
                    </a:lnR>
                    <a:lnT>
                      <a:noFill/>
                    </a:lnT>
                    <a:lnB>
                      <a:noFill/>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CC"/>
                          </a:solidFill>
                          <a:effectLst/>
                          <a:latin typeface="Times New Roman" pitchFamily="18" charset="0"/>
                          <a:ea typeface="黑体" pitchFamily="49" charset="-122"/>
                        </a:rPr>
                        <a:t>钙调蛋白</a:t>
                      </a:r>
                    </a:p>
                  </a:txBody>
                  <a:tcPr marT="45719" marB="45719" horzOverflow="overflow">
                    <a:lnL>
                      <a:noFill/>
                    </a:lnL>
                    <a:lnR cap="flat">
                      <a:noFill/>
                    </a:lnR>
                    <a:lnT>
                      <a:noFill/>
                    </a:lnT>
                    <a:lnB>
                      <a:noFill/>
                    </a:lnB>
                    <a:lnTlToBr>
                      <a:noFill/>
                    </a:lnTlToBr>
                    <a:lnBlToTr>
                      <a:noFill/>
                    </a:lnBlToTr>
                    <a:solidFill>
                      <a:schemeClr val="accent5">
                        <a:lumMod val="20000"/>
                        <a:lumOff val="80000"/>
                      </a:schemeClr>
                    </a:solidFill>
                  </a:tcPr>
                </a:tc>
                <a:extLst>
                  <a:ext uri="{0D108BD9-81ED-4DB2-BD59-A6C34878D82A}">
                    <a16:rowId xmlns:a16="http://schemas.microsoft.com/office/drawing/2014/main" val="10008"/>
                  </a:ext>
                </a:extLst>
              </a:tr>
              <a:tr h="431783">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1" i="0" u="none" strike="noStrike" cap="none" normalizeH="0" baseline="0">
                        <a:ln>
                          <a:noFill/>
                        </a:ln>
                        <a:solidFill>
                          <a:schemeClr val="tx2"/>
                        </a:solidFill>
                        <a:effectLst/>
                        <a:latin typeface="Times New Roman" pitchFamily="18" charset="0"/>
                        <a:ea typeface="黑体" pitchFamily="49" charset="-122"/>
                      </a:endParaRPr>
                    </a:p>
                  </a:txBody>
                  <a:tcPr marT="45719" marB="45719" horzOverflow="overflow">
                    <a:lnL cap="flat">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CC"/>
                          </a:solidFill>
                          <a:effectLst/>
                          <a:latin typeface="Times New Roman" pitchFamily="18" charset="0"/>
                          <a:ea typeface="黑体" pitchFamily="49" charset="-122"/>
                        </a:rPr>
                        <a:t>锰</a:t>
                      </a:r>
                    </a:p>
                  </a:txBody>
                  <a:tcPr marT="45719" marB="45719" horzOverflow="overflow">
                    <a:lnL>
                      <a:noFill/>
                    </a:lnL>
                    <a:lnR>
                      <a:noFill/>
                    </a:lnR>
                    <a:lnT>
                      <a:noFill/>
                    </a:lnT>
                    <a:lnB>
                      <a:noFill/>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CC"/>
                          </a:solidFill>
                          <a:effectLst/>
                          <a:latin typeface="Times New Roman" pitchFamily="18" charset="0"/>
                          <a:ea typeface="黑体" pitchFamily="49" charset="-122"/>
                        </a:rPr>
                        <a:t>丙酮酸羧化酶</a:t>
                      </a:r>
                    </a:p>
                  </a:txBody>
                  <a:tcPr marT="45719" marB="45719" horzOverflow="overflow">
                    <a:lnL>
                      <a:noFill/>
                    </a:lnL>
                    <a:lnR cap="flat">
                      <a:noFill/>
                    </a:lnR>
                    <a:lnT>
                      <a:noFill/>
                    </a:lnT>
                    <a:lnB>
                      <a:noFill/>
                    </a:lnB>
                    <a:lnTlToBr>
                      <a:noFill/>
                    </a:lnTlToBr>
                    <a:lnBlToTr>
                      <a:noFill/>
                    </a:lnBlToTr>
                    <a:solidFill>
                      <a:schemeClr val="accent5">
                        <a:lumMod val="20000"/>
                        <a:lumOff val="80000"/>
                      </a:schemeClr>
                    </a:solidFill>
                  </a:tcPr>
                </a:tc>
                <a:extLst>
                  <a:ext uri="{0D108BD9-81ED-4DB2-BD59-A6C34878D82A}">
                    <a16:rowId xmlns:a16="http://schemas.microsoft.com/office/drawing/2014/main" val="10009"/>
                  </a:ext>
                </a:extLst>
              </a:tr>
              <a:tr h="431783">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2000" b="1" i="0" u="none" strike="noStrike" cap="none" normalizeH="0" baseline="0">
                        <a:ln>
                          <a:noFill/>
                        </a:ln>
                        <a:solidFill>
                          <a:schemeClr val="tx2"/>
                        </a:solidFill>
                        <a:effectLst/>
                        <a:latin typeface="Times New Roman" pitchFamily="18" charset="0"/>
                        <a:ea typeface="黑体" pitchFamily="49" charset="-122"/>
                      </a:endParaRPr>
                    </a:p>
                  </a:txBody>
                  <a:tcPr marT="45719" marB="45719" horzOverflow="overflow">
                    <a:lnL cap="flat">
                      <a:noFill/>
                    </a:lnL>
                    <a:lnR>
                      <a:noFill/>
                    </a:lnR>
                    <a:lnT>
                      <a:noFill/>
                    </a:lnT>
                    <a:lnB w="28575"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CC"/>
                          </a:solidFill>
                          <a:effectLst/>
                          <a:latin typeface="Times New Roman" pitchFamily="18" charset="0"/>
                          <a:ea typeface="黑体" pitchFamily="49" charset="-122"/>
                        </a:rPr>
                        <a:t>铜</a:t>
                      </a:r>
                    </a:p>
                  </a:txBody>
                  <a:tcPr marT="45719" marB="45719" horzOverflow="overflow">
                    <a:lnL>
                      <a:noFill/>
                    </a:lnL>
                    <a:lnR>
                      <a:noFill/>
                    </a:lnR>
                    <a:lnT>
                      <a:noFill/>
                    </a:lnT>
                    <a:lnB w="28575"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CC"/>
                          </a:solidFill>
                          <a:effectLst/>
                          <a:latin typeface="Times New Roman" pitchFamily="18" charset="0"/>
                          <a:ea typeface="黑体" pitchFamily="49" charset="-122"/>
                        </a:rPr>
                        <a:t>细胞色素氧化酶</a:t>
                      </a:r>
                    </a:p>
                  </a:txBody>
                  <a:tcPr marT="45719" marB="45719" horzOverflow="overflow">
                    <a:lnL>
                      <a:noFill/>
                    </a:lnL>
                    <a:lnR cap="flat">
                      <a:noFill/>
                    </a:lnR>
                    <a:lnT>
                      <a:noFill/>
                    </a:lnT>
                    <a:lnB w="28575" cap="flat" cmpd="sng" algn="ctr">
                      <a:solidFill>
                        <a:srgbClr val="000000"/>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10"/>
                  </a:ext>
                </a:extLst>
              </a:tr>
            </a:tbl>
          </a:graphicData>
        </a:graphic>
      </p:graphicFrame>
      <p:sp>
        <p:nvSpPr>
          <p:cNvPr id="305191" name="Rectangle 66">
            <a:extLst>
              <a:ext uri="{FF2B5EF4-FFF2-40B4-BE49-F238E27FC236}">
                <a16:creationId xmlns:a16="http://schemas.microsoft.com/office/drawing/2014/main" id="{2D1526AB-01BB-46BE-B6E3-500B3B1D1231}"/>
              </a:ext>
            </a:extLst>
          </p:cNvPr>
          <p:cNvSpPr>
            <a:spLocks noChangeArrowheads="1"/>
          </p:cNvSpPr>
          <p:nvPr/>
        </p:nvSpPr>
        <p:spPr bwMode="auto">
          <a:xfrm>
            <a:off x="3863975" y="173038"/>
            <a:ext cx="35512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r>
              <a:rPr kumimoji="1" lang="zh-CN" altLang="en-US">
                <a:solidFill>
                  <a:schemeClr val="bg1"/>
                </a:solidFill>
                <a:latin typeface="黑体" panose="02010609060101010101" pitchFamily="49" charset="-122"/>
              </a:rPr>
              <a:t>结合蛋白质及其辅基</a:t>
            </a:r>
            <a:r>
              <a:rPr kumimoji="1" lang="zh-CN" altLang="en-US" sz="2400">
                <a:solidFill>
                  <a:schemeClr val="tx1"/>
                </a:solidFill>
                <a:latin typeface="华文楷体" panose="02010600040101010101" pitchFamily="2" charset="-122"/>
                <a:ea typeface="华文楷体" panose="02010600040101010101" pitchFamily="2" charset="-122"/>
              </a:rPr>
              <a:t> </a:t>
            </a:r>
          </a:p>
        </p:txBody>
      </p:sp>
      <p:sp>
        <p:nvSpPr>
          <p:cNvPr id="305192" name="AutoShape 67">
            <a:hlinkClick r:id="rId3" action="ppaction://hlinksldjump" highlightClick="1"/>
            <a:extLst>
              <a:ext uri="{FF2B5EF4-FFF2-40B4-BE49-F238E27FC236}">
                <a16:creationId xmlns:a16="http://schemas.microsoft.com/office/drawing/2014/main" id="{93648B6E-DEFB-4B88-85D5-A3D80C3B8848}"/>
              </a:ext>
            </a:extLst>
          </p:cNvPr>
          <p:cNvSpPr>
            <a:spLocks noChangeArrowheads="1"/>
          </p:cNvSpPr>
          <p:nvPr/>
        </p:nvSpPr>
        <p:spPr bwMode="auto">
          <a:xfrm>
            <a:off x="9983788" y="5949950"/>
            <a:ext cx="684212" cy="503238"/>
          </a:xfrm>
          <a:prstGeom prst="actionButtonBackPrevious">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eaLnBrk="1" hangingPunct="1">
              <a:spcBef>
                <a:spcPct val="0"/>
              </a:spcBef>
              <a:buClrTx/>
              <a:buFontTx/>
              <a:buNone/>
            </a:pPr>
            <a:endParaRPr lang="zh-CN" altLang="en-US" sz="1600" b="0">
              <a:solidFill>
                <a:schemeClr val="tx1"/>
              </a:solidFill>
              <a:latin typeface="Arial" panose="020B0604020202020204" pitchFamily="34" charset="0"/>
              <a:ea typeface="宋体" panose="02010600030101010101" pitchFamily="2" charset="-122"/>
            </a:endParaRPr>
          </a:p>
        </p:txBody>
      </p:sp>
    </p:spTree>
  </p:cSld>
  <p:clrMapOvr>
    <a:masterClrMapping/>
  </p:clrMapOvr>
  <p:transition spd="slow">
    <p:circle/>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标题 1">
            <a:extLst>
              <a:ext uri="{FF2B5EF4-FFF2-40B4-BE49-F238E27FC236}">
                <a16:creationId xmlns:a16="http://schemas.microsoft.com/office/drawing/2014/main" id="{54FB5F0A-A20F-4286-B2A6-EC55CC262B9B}"/>
              </a:ext>
            </a:extLst>
          </p:cNvPr>
          <p:cNvSpPr>
            <a:spLocks noGrp="1" noChangeArrowheads="1"/>
          </p:cNvSpPr>
          <p:nvPr>
            <p:ph type="title"/>
          </p:nvPr>
        </p:nvSpPr>
        <p:spPr>
          <a:xfrm>
            <a:off x="1893888" y="188913"/>
            <a:ext cx="7154862" cy="563562"/>
          </a:xfrm>
        </p:spPr>
        <p:txBody>
          <a:bodyPr/>
          <a:lstStyle/>
          <a:p>
            <a:r>
              <a:rPr lang="zh-CN" altLang="en-US" sz="4000"/>
              <a:t>蛋白质家族与蛋白质超家族</a:t>
            </a:r>
          </a:p>
        </p:txBody>
      </p:sp>
      <p:sp>
        <p:nvSpPr>
          <p:cNvPr id="246787" name="内容占位符 2">
            <a:extLst>
              <a:ext uri="{FF2B5EF4-FFF2-40B4-BE49-F238E27FC236}">
                <a16:creationId xmlns:a16="http://schemas.microsoft.com/office/drawing/2014/main" id="{2C13C690-1034-4ED7-B2E2-AFB9CD916469}"/>
              </a:ext>
            </a:extLst>
          </p:cNvPr>
          <p:cNvSpPr>
            <a:spLocks noGrp="1"/>
          </p:cNvSpPr>
          <p:nvPr>
            <p:ph idx="1"/>
          </p:nvPr>
        </p:nvSpPr>
        <p:spPr>
          <a:xfrm>
            <a:off x="1487488" y="1125538"/>
            <a:ext cx="9577064" cy="5327650"/>
          </a:xfrm>
        </p:spPr>
        <p:txBody>
          <a:bodyPr/>
          <a:lstStyle/>
          <a:p>
            <a:pPr>
              <a:defRPr/>
            </a:pPr>
            <a:r>
              <a:rPr lang="zh-CN" altLang="en-US" dirty="0">
                <a:solidFill>
                  <a:srgbClr val="C00000"/>
                </a:solidFill>
              </a:rPr>
              <a:t>同源蛋白质（</a:t>
            </a:r>
            <a:r>
              <a:rPr lang="en-US" altLang="zh-CN" dirty="0">
                <a:solidFill>
                  <a:srgbClr val="C00000"/>
                </a:solidFill>
              </a:rPr>
              <a:t>homologous protein)</a:t>
            </a:r>
          </a:p>
          <a:p>
            <a:pPr lvl="1">
              <a:defRPr/>
            </a:pPr>
            <a:r>
              <a:rPr lang="zh-CN" altLang="en-US" dirty="0"/>
              <a:t>一级结构</a:t>
            </a:r>
            <a:r>
              <a:rPr lang="zh-CN" altLang="en-US" dirty="0">
                <a:solidFill>
                  <a:srgbClr val="0000CC"/>
                </a:solidFill>
              </a:rPr>
              <a:t>尤其三维结构与功能显著相似</a:t>
            </a:r>
            <a:r>
              <a:rPr lang="zh-CN" altLang="en-US" dirty="0"/>
              <a:t>的蛋白质</a:t>
            </a:r>
            <a:r>
              <a:rPr lang="en-US" altLang="zh-CN" dirty="0"/>
              <a:t>, </a:t>
            </a:r>
            <a:r>
              <a:rPr lang="zh-CN" altLang="en-US" dirty="0"/>
              <a:t>通常共同拥有部分高度保守的氨基酸序列。</a:t>
            </a:r>
            <a:endParaRPr lang="en-US" altLang="zh-CN" dirty="0"/>
          </a:p>
          <a:p>
            <a:pPr lvl="1">
              <a:defRPr/>
            </a:pPr>
            <a:endParaRPr lang="zh-CN" altLang="en-US" dirty="0"/>
          </a:p>
          <a:p>
            <a:pPr marL="269875" indent="-269875">
              <a:lnSpc>
                <a:spcPct val="120000"/>
              </a:lnSpc>
              <a:spcBef>
                <a:spcPts val="0"/>
              </a:spcBef>
              <a:defRPr/>
            </a:pPr>
            <a:r>
              <a:rPr lang="zh-CN" altLang="en-US" dirty="0">
                <a:solidFill>
                  <a:srgbClr val="C00000"/>
                </a:solidFill>
              </a:rPr>
              <a:t>蛋白质家族（</a:t>
            </a:r>
            <a:r>
              <a:rPr lang="en-US" altLang="zh-CN" dirty="0">
                <a:solidFill>
                  <a:srgbClr val="C00000"/>
                </a:solidFill>
              </a:rPr>
              <a:t>protein family)</a:t>
            </a:r>
            <a:r>
              <a:rPr lang="zh-CN" altLang="en-US" dirty="0"/>
              <a:t>： 同源蛋白质共同组成相应蛋白质家族，</a:t>
            </a:r>
            <a:r>
              <a:rPr lang="zh-CN" altLang="en-US" dirty="0">
                <a:solidFill>
                  <a:srgbClr val="006600"/>
                </a:solidFill>
              </a:rPr>
              <a:t>常是基因家族的同义词</a:t>
            </a:r>
            <a:r>
              <a:rPr lang="zh-CN" altLang="en-US" dirty="0"/>
              <a:t>， </a:t>
            </a:r>
            <a:r>
              <a:rPr lang="zh-CN" altLang="en-US" sz="2400" dirty="0"/>
              <a:t>比如血红蛋白家族（含各物种的所有血红蛋白）、</a:t>
            </a:r>
            <a:r>
              <a:rPr lang="en-US" altLang="zh-CN" sz="2400" dirty="0"/>
              <a:t>G</a:t>
            </a:r>
            <a:r>
              <a:rPr lang="zh-CN" altLang="en-US" sz="2400" dirty="0"/>
              <a:t>蛋白家族、人类蛋白激酶家族等。</a:t>
            </a:r>
            <a:endParaRPr lang="en-US" altLang="zh-CN" sz="2400" dirty="0"/>
          </a:p>
          <a:p>
            <a:pPr>
              <a:defRPr/>
            </a:pPr>
            <a:endParaRPr lang="en-US" altLang="zh-CN" dirty="0">
              <a:solidFill>
                <a:srgbClr val="C00000"/>
              </a:solidFill>
            </a:endParaRPr>
          </a:p>
          <a:p>
            <a:pPr>
              <a:defRPr/>
            </a:pPr>
            <a:r>
              <a:rPr lang="zh-CN" altLang="en-US" dirty="0">
                <a:solidFill>
                  <a:srgbClr val="C00000"/>
                </a:solidFill>
              </a:rPr>
              <a:t>蛋白质超家族</a:t>
            </a:r>
            <a:r>
              <a:rPr lang="en-US" altLang="zh-CN" dirty="0">
                <a:solidFill>
                  <a:srgbClr val="C00000"/>
                </a:solidFill>
              </a:rPr>
              <a:t>(protein superfamily)</a:t>
            </a:r>
            <a:r>
              <a:rPr lang="zh-CN" altLang="en-US" dirty="0"/>
              <a:t>：若干空间结构与功能相似的蛋白质家族又可归入某个蛋白质超家族 。</a:t>
            </a:r>
            <a:endParaRPr lang="en-US" altLang="zh-CN" dirty="0"/>
          </a:p>
          <a:p>
            <a:pPr lvl="1">
              <a:defRPr/>
            </a:pPr>
            <a:endParaRPr lang="en-US" altLang="zh-CN" dirty="0"/>
          </a:p>
          <a:p>
            <a:pPr>
              <a:defRPr/>
            </a:pPr>
            <a:endParaRPr lang="zh-CN" altLang="en-US" dirty="0"/>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46787">
                                            <p:txEl>
                                              <p:pRg st="3" end="3"/>
                                            </p:txEl>
                                          </p:spTgt>
                                        </p:tgtEl>
                                        <p:attrNameLst>
                                          <p:attrName>style.visibility</p:attrName>
                                        </p:attrNameLst>
                                      </p:cBhvr>
                                      <p:to>
                                        <p:strVal val="visible"/>
                                      </p:to>
                                    </p:set>
                                    <p:animEffect transition="in" filter="fade">
                                      <p:cBhvr>
                                        <p:cTn id="7" dur="500"/>
                                        <p:tgtEl>
                                          <p:spTgt spid="246787">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46787">
                                            <p:txEl>
                                              <p:pRg st="5" end="5"/>
                                            </p:txEl>
                                          </p:spTgt>
                                        </p:tgtEl>
                                        <p:attrNameLst>
                                          <p:attrName>style.visibility</p:attrName>
                                        </p:attrNameLst>
                                      </p:cBhvr>
                                      <p:to>
                                        <p:strVal val="visible"/>
                                      </p:to>
                                    </p:set>
                                    <p:animEffect transition="in" filter="fade">
                                      <p:cBhvr>
                                        <p:cTn id="12" dur="500"/>
                                        <p:tgtEl>
                                          <p:spTgt spid="24678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What is a Protein 中英文字幕.mp4">
            <a:hlinkClick r:id="" action="ppaction://media"/>
            <a:extLst>
              <a:ext uri="{FF2B5EF4-FFF2-40B4-BE49-F238E27FC236}">
                <a16:creationId xmlns:a16="http://schemas.microsoft.com/office/drawing/2014/main" id="{44D9297B-2A05-4DB9-A7AA-BB120F84D35A}"/>
              </a:ext>
            </a:extLst>
          </p:cNvPr>
          <p:cNvPicPr>
            <a:picLocks noChangeAspect="1"/>
          </p:cNvPicPr>
          <p:nvPr>
            <a:videoFile r:link="rId2"/>
            <p:extLst>
              <p:ext uri="{DAA4B4D4-6D71-4841-9C94-3DE7FCFB9230}">
                <p14:media xmlns:p14="http://schemas.microsoft.com/office/powerpoint/2010/main" r:link="rId1"/>
              </p:ext>
            </p:extLst>
          </p:nvPr>
        </p:nvPicPr>
        <p:blipFill>
          <a:blip r:embed="rId5">
            <a:extLst>
              <a:ext uri="{28A0092B-C50C-407E-A947-70E740481C1C}">
                <a14:useLocalDpi xmlns:a14="http://schemas.microsoft.com/office/drawing/2010/main" val="0"/>
              </a:ext>
            </a:extLst>
          </a:blip>
          <a:srcRect/>
          <a:stretch>
            <a:fillRect/>
          </a:stretch>
        </p:blipFill>
        <p:spPr bwMode="auto">
          <a:xfrm>
            <a:off x="14924" y="86716"/>
            <a:ext cx="12251794" cy="6942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3"/>
                                        </p:tgtEl>
                                      </p:cBhvr>
                                    </p:cmd>
                                  </p:childTnLst>
                                </p:cTn>
                              </p:par>
                            </p:childTnLst>
                          </p:cTn>
                        </p:par>
                      </p:childTnLst>
                    </p:cTn>
                  </p:par>
                </p:childTnLst>
              </p:cTn>
              <p:nextCondLst>
                <p:cond evt="onClick" delay="0">
                  <p:tgtEl>
                    <p:spTgt spid="3"/>
                  </p:tgtEl>
                </p:cond>
              </p:nextCondLst>
            </p:seq>
            <p:video>
              <p:cMediaNode vol="80000">
                <p:cTn id="7" fill="hold" display="0">
                  <p:stCondLst>
                    <p:cond delay="indefinite"/>
                  </p:stCondLst>
                </p:cTn>
                <p:tgtEl>
                  <p:spTgt spid="3"/>
                </p:tgtEl>
              </p:cMediaNode>
            </p:video>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标题 1">
            <a:extLst>
              <a:ext uri="{FF2B5EF4-FFF2-40B4-BE49-F238E27FC236}">
                <a16:creationId xmlns:a16="http://schemas.microsoft.com/office/drawing/2014/main" id="{370068BB-614D-40F3-ABEB-01F10D9877D0}"/>
              </a:ext>
            </a:extLst>
          </p:cNvPr>
          <p:cNvSpPr>
            <a:spLocks noGrp="1" noChangeArrowheads="1"/>
          </p:cNvSpPr>
          <p:nvPr>
            <p:ph type="title"/>
          </p:nvPr>
        </p:nvSpPr>
        <p:spPr>
          <a:xfrm>
            <a:off x="1893888" y="188913"/>
            <a:ext cx="8450262" cy="563562"/>
          </a:xfrm>
        </p:spPr>
        <p:txBody>
          <a:bodyPr/>
          <a:lstStyle/>
          <a:p>
            <a:r>
              <a:rPr lang="zh-CN" altLang="en-US"/>
              <a:t>课堂练习</a:t>
            </a:r>
          </a:p>
        </p:txBody>
      </p:sp>
      <p:sp>
        <p:nvSpPr>
          <p:cNvPr id="3" name="内容占位符 2">
            <a:extLst>
              <a:ext uri="{FF2B5EF4-FFF2-40B4-BE49-F238E27FC236}">
                <a16:creationId xmlns:a16="http://schemas.microsoft.com/office/drawing/2014/main" id="{D192BE2D-2BE9-43D1-B27A-5F231E64C30E}"/>
              </a:ext>
            </a:extLst>
          </p:cNvPr>
          <p:cNvSpPr>
            <a:spLocks noGrp="1"/>
          </p:cNvSpPr>
          <p:nvPr>
            <p:ph idx="1"/>
          </p:nvPr>
        </p:nvSpPr>
        <p:spPr>
          <a:xfrm>
            <a:off x="1199456" y="1052736"/>
            <a:ext cx="9937104" cy="5805264"/>
          </a:xfrm>
        </p:spPr>
        <p:txBody>
          <a:bodyPr/>
          <a:lstStyle/>
          <a:p>
            <a:pPr>
              <a:defRPr/>
            </a:pPr>
            <a:r>
              <a:rPr lang="zh-CN" altLang="en-US" sz="2400" dirty="0"/>
              <a:t>维系蛋白质三级结构稳定的最重要的键或作用力是</a:t>
            </a:r>
          </a:p>
          <a:p>
            <a:pPr marL="0" indent="0">
              <a:buNone/>
              <a:defRPr/>
            </a:pPr>
            <a:r>
              <a:rPr lang="en-US" altLang="zh-CN" sz="2400" dirty="0"/>
              <a:t>A.</a:t>
            </a:r>
            <a:r>
              <a:rPr lang="zh-CN" altLang="en-US" sz="2400" dirty="0"/>
              <a:t>疏水键           </a:t>
            </a:r>
            <a:r>
              <a:rPr lang="en-US" altLang="zh-CN" sz="2400" dirty="0"/>
              <a:t>B.</a:t>
            </a:r>
            <a:r>
              <a:rPr lang="zh-CN" altLang="en-US" sz="2400" dirty="0"/>
              <a:t>盐键         </a:t>
            </a:r>
            <a:r>
              <a:rPr lang="en-US" altLang="zh-CN" sz="2400" dirty="0"/>
              <a:t>C.</a:t>
            </a:r>
            <a:r>
              <a:rPr lang="zh-CN" altLang="en-US" sz="2400" dirty="0"/>
              <a:t>范德华力     </a:t>
            </a:r>
            <a:r>
              <a:rPr lang="en-US" altLang="zh-CN" sz="2400" dirty="0"/>
              <a:t>D.</a:t>
            </a:r>
            <a:r>
              <a:rPr lang="zh-CN" altLang="en-US" sz="2400" dirty="0"/>
              <a:t>氢键               </a:t>
            </a:r>
            <a:r>
              <a:rPr lang="en-US" altLang="zh-CN" sz="2400" dirty="0"/>
              <a:t>E.</a:t>
            </a:r>
            <a:r>
              <a:rPr lang="zh-CN" altLang="en-US" sz="2400" dirty="0"/>
              <a:t>二硫键</a:t>
            </a:r>
            <a:endParaRPr lang="en-US" altLang="zh-CN" sz="2400" dirty="0"/>
          </a:p>
          <a:p>
            <a:pPr marL="0" indent="0">
              <a:buNone/>
              <a:defRPr/>
            </a:pPr>
            <a:endParaRPr lang="zh-CN" altLang="en-US" sz="2400" dirty="0"/>
          </a:p>
          <a:p>
            <a:pPr>
              <a:defRPr/>
            </a:pPr>
            <a:r>
              <a:rPr lang="zh-CN" altLang="zh-CN" sz="2400" dirty="0"/>
              <a:t>具有四级结构的蛋白质有</a:t>
            </a:r>
          </a:p>
          <a:p>
            <a:pPr marL="0" indent="0">
              <a:buNone/>
              <a:defRPr/>
            </a:pPr>
            <a:r>
              <a:rPr lang="en-US" altLang="zh-CN" sz="2400" dirty="0"/>
              <a:t>A.</a:t>
            </a:r>
            <a:r>
              <a:rPr lang="zh-CN" altLang="zh-CN" sz="2400" dirty="0"/>
              <a:t>胰核糖核酸酶</a:t>
            </a:r>
            <a:r>
              <a:rPr lang="en-US" altLang="zh-CN" sz="2400" dirty="0"/>
              <a:t>              B.</a:t>
            </a:r>
            <a:r>
              <a:rPr lang="zh-CN" altLang="zh-CN" sz="2400" dirty="0"/>
              <a:t>血红蛋白</a:t>
            </a:r>
            <a:r>
              <a:rPr lang="en-US" altLang="zh-CN" sz="2400" dirty="0"/>
              <a:t>          C.</a:t>
            </a:r>
            <a:r>
              <a:rPr lang="zh-CN" altLang="zh-CN" sz="2400" dirty="0"/>
              <a:t>胃蛋白酶</a:t>
            </a:r>
            <a:r>
              <a:rPr lang="en-US" altLang="zh-CN" sz="2400" dirty="0"/>
              <a:t> </a:t>
            </a:r>
            <a:endParaRPr lang="zh-CN" altLang="zh-CN" sz="2400" dirty="0"/>
          </a:p>
          <a:p>
            <a:pPr marL="0" indent="0">
              <a:buNone/>
              <a:defRPr/>
            </a:pPr>
            <a:r>
              <a:rPr lang="en-US" altLang="zh-CN" sz="2400" dirty="0"/>
              <a:t>D.</a:t>
            </a:r>
            <a:r>
              <a:rPr lang="zh-CN" altLang="zh-CN" sz="2400" dirty="0"/>
              <a:t>肌红蛋白</a:t>
            </a:r>
            <a:r>
              <a:rPr lang="en-US" altLang="zh-CN" sz="2400" dirty="0"/>
              <a:t>                      E.</a:t>
            </a:r>
            <a:r>
              <a:rPr lang="zh-CN" altLang="en-US" sz="2400" dirty="0"/>
              <a:t>胰岛素</a:t>
            </a:r>
            <a:endParaRPr lang="en-US" altLang="zh-CN" sz="2400" dirty="0"/>
          </a:p>
          <a:p>
            <a:pPr marL="0" indent="0">
              <a:buNone/>
              <a:defRPr/>
            </a:pPr>
            <a:endParaRPr lang="en-US" altLang="zh-CN" sz="2400" dirty="0"/>
          </a:p>
          <a:p>
            <a:pPr>
              <a:defRPr/>
            </a:pPr>
            <a:r>
              <a:rPr lang="zh-CN" altLang="en-US" sz="2400" dirty="0"/>
              <a:t>比较蛋白质二级结构，哪项描述既符合</a:t>
            </a:r>
            <a:r>
              <a:rPr lang="en-US" altLang="zh-CN" sz="2400" dirty="0"/>
              <a:t>α-</a:t>
            </a:r>
            <a:r>
              <a:rPr lang="zh-CN" altLang="en-US" sz="2400" dirty="0"/>
              <a:t>螺旋也符合</a:t>
            </a:r>
            <a:r>
              <a:rPr lang="en-US" altLang="zh-CN" sz="2400" dirty="0"/>
              <a:t>β-</a:t>
            </a:r>
            <a:r>
              <a:rPr lang="zh-CN" altLang="en-US" sz="2400" dirty="0"/>
              <a:t>折叠？</a:t>
            </a:r>
          </a:p>
          <a:p>
            <a:pPr marL="0" indent="0">
              <a:buNone/>
              <a:defRPr/>
            </a:pPr>
            <a:r>
              <a:rPr lang="zh-CN" altLang="en-US" sz="2400" dirty="0"/>
              <a:t>    </a:t>
            </a:r>
            <a:r>
              <a:rPr lang="en-US" altLang="zh-CN" sz="2400" dirty="0"/>
              <a:t>A.</a:t>
            </a:r>
            <a:r>
              <a:rPr lang="zh-CN" altLang="en-US" sz="2400" dirty="0"/>
              <a:t>肽链的</a:t>
            </a:r>
            <a:r>
              <a:rPr lang="en-US" altLang="zh-CN" sz="2400" dirty="0"/>
              <a:t>N</a:t>
            </a:r>
            <a:r>
              <a:rPr lang="zh-CN" altLang="en-US" sz="2400" dirty="0"/>
              <a:t>末端平行集在一起</a:t>
            </a:r>
          </a:p>
          <a:p>
            <a:pPr marL="0" indent="0">
              <a:buNone/>
              <a:defRPr/>
            </a:pPr>
            <a:r>
              <a:rPr lang="zh-CN" altLang="en-US" sz="2400" dirty="0"/>
              <a:t>    </a:t>
            </a:r>
            <a:r>
              <a:rPr lang="en-US" altLang="zh-CN" sz="2400" dirty="0"/>
              <a:t>B.</a:t>
            </a:r>
            <a:r>
              <a:rPr lang="zh-CN" altLang="en-US" sz="2400" dirty="0"/>
              <a:t>所有的肽链都是伸展的</a:t>
            </a:r>
          </a:p>
          <a:p>
            <a:pPr marL="0" indent="0">
              <a:buNone/>
              <a:defRPr/>
            </a:pPr>
            <a:r>
              <a:rPr lang="zh-CN" altLang="en-US" sz="2400" dirty="0"/>
              <a:t>    </a:t>
            </a:r>
            <a:r>
              <a:rPr lang="en-US" altLang="zh-CN" sz="2400" dirty="0"/>
              <a:t>C.</a:t>
            </a:r>
            <a:r>
              <a:rPr lang="zh-CN" altLang="en-US" sz="2400" dirty="0"/>
              <a:t>所有的肽键成分都参与形成氢键</a:t>
            </a:r>
          </a:p>
          <a:p>
            <a:pPr marL="0" indent="0">
              <a:buNone/>
              <a:defRPr/>
            </a:pPr>
            <a:r>
              <a:rPr lang="zh-CN" altLang="en-US" sz="2400" dirty="0"/>
              <a:t>    </a:t>
            </a:r>
            <a:r>
              <a:rPr lang="en-US" altLang="zh-CN" sz="2400" dirty="0"/>
              <a:t>D.</a:t>
            </a:r>
            <a:r>
              <a:rPr lang="zh-CN" altLang="en-US" sz="2400" dirty="0"/>
              <a:t>该结构由肽链的两个或更多片段构成</a:t>
            </a:r>
          </a:p>
          <a:p>
            <a:pPr marL="0" indent="0">
              <a:buNone/>
              <a:defRPr/>
            </a:pPr>
            <a:r>
              <a:rPr lang="zh-CN" altLang="en-US" sz="2400" dirty="0"/>
              <a:t>    </a:t>
            </a:r>
            <a:r>
              <a:rPr lang="en-US" altLang="zh-CN" sz="2400" dirty="0"/>
              <a:t>E.</a:t>
            </a:r>
            <a:r>
              <a:rPr lang="zh-CN" altLang="en-US" sz="2400" dirty="0"/>
              <a:t>以上都是</a:t>
            </a:r>
          </a:p>
          <a:p>
            <a:pPr marL="0" indent="0">
              <a:buNone/>
              <a:defRPr/>
            </a:pPr>
            <a:endParaRPr lang="zh-CN" altLang="en-US" sz="2400" dirty="0"/>
          </a:p>
        </p:txBody>
      </p:sp>
      <p:sp>
        <p:nvSpPr>
          <p:cNvPr id="4" name="文本框 3">
            <a:extLst>
              <a:ext uri="{FF2B5EF4-FFF2-40B4-BE49-F238E27FC236}">
                <a16:creationId xmlns:a16="http://schemas.microsoft.com/office/drawing/2014/main" id="{99B997E9-6448-45C2-9F54-139DA2976DAC}"/>
              </a:ext>
            </a:extLst>
          </p:cNvPr>
          <p:cNvSpPr txBox="1">
            <a:spLocks noChangeArrowheads="1"/>
          </p:cNvSpPr>
          <p:nvPr/>
        </p:nvSpPr>
        <p:spPr bwMode="auto">
          <a:xfrm>
            <a:off x="9120188" y="1125539"/>
            <a:ext cx="12239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n-US" altLang="zh-CN">
                <a:solidFill>
                  <a:srgbClr val="C00000"/>
                </a:solidFill>
                <a:latin typeface="Arial" panose="020B0604020202020204" pitchFamily="34" charset="0"/>
                <a:ea typeface="宋体" panose="02010600030101010101" pitchFamily="2" charset="-122"/>
              </a:rPr>
              <a:t>A</a:t>
            </a:r>
            <a:endParaRPr lang="zh-CN" altLang="en-US">
              <a:solidFill>
                <a:srgbClr val="C00000"/>
              </a:solidFill>
              <a:latin typeface="Arial" panose="020B0604020202020204" pitchFamily="34" charset="0"/>
              <a:ea typeface="宋体" panose="02010600030101010101" pitchFamily="2" charset="-122"/>
            </a:endParaRPr>
          </a:p>
        </p:txBody>
      </p:sp>
      <p:sp>
        <p:nvSpPr>
          <p:cNvPr id="5" name="文本框 4">
            <a:extLst>
              <a:ext uri="{FF2B5EF4-FFF2-40B4-BE49-F238E27FC236}">
                <a16:creationId xmlns:a16="http://schemas.microsoft.com/office/drawing/2014/main" id="{61D747EB-27EA-4D3A-92BD-7530E7D05D8E}"/>
              </a:ext>
            </a:extLst>
          </p:cNvPr>
          <p:cNvSpPr txBox="1">
            <a:spLocks noChangeArrowheads="1"/>
          </p:cNvSpPr>
          <p:nvPr/>
        </p:nvSpPr>
        <p:spPr bwMode="auto">
          <a:xfrm>
            <a:off x="6311901" y="2420939"/>
            <a:ext cx="12239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n-US" altLang="zh-CN">
                <a:solidFill>
                  <a:srgbClr val="C00000"/>
                </a:solidFill>
                <a:latin typeface="Arial" panose="020B0604020202020204" pitchFamily="34" charset="0"/>
                <a:ea typeface="宋体" panose="02010600030101010101" pitchFamily="2" charset="-122"/>
              </a:rPr>
              <a:t>B</a:t>
            </a:r>
            <a:endParaRPr lang="zh-CN" altLang="en-US">
              <a:solidFill>
                <a:srgbClr val="C00000"/>
              </a:solidFill>
              <a:latin typeface="Arial" panose="020B0604020202020204" pitchFamily="34" charset="0"/>
              <a:ea typeface="宋体" panose="02010600030101010101" pitchFamily="2" charset="-122"/>
            </a:endParaRPr>
          </a:p>
        </p:txBody>
      </p:sp>
      <p:sp>
        <p:nvSpPr>
          <p:cNvPr id="6" name="文本框 5">
            <a:extLst>
              <a:ext uri="{FF2B5EF4-FFF2-40B4-BE49-F238E27FC236}">
                <a16:creationId xmlns:a16="http://schemas.microsoft.com/office/drawing/2014/main" id="{8533B603-3469-4C0D-BED4-29AD1D92A04D}"/>
              </a:ext>
            </a:extLst>
          </p:cNvPr>
          <p:cNvSpPr txBox="1">
            <a:spLocks noChangeArrowheads="1"/>
          </p:cNvSpPr>
          <p:nvPr/>
        </p:nvSpPr>
        <p:spPr bwMode="auto">
          <a:xfrm>
            <a:off x="8291513" y="4652964"/>
            <a:ext cx="1225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4D"/>
                </a:solidFill>
                <a:latin typeface="Times New Roman" panose="02020603050405020304" pitchFamily="18" charset="0"/>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800">
                <a:solidFill>
                  <a:srgbClr val="00004D"/>
                </a:solidFill>
                <a:latin typeface="Times New Roman" panose="02020603050405020304" pitchFamily="18" charset="0"/>
                <a:ea typeface="黑体" panose="02010609060101010101" pitchFamily="49" charset="-122"/>
              </a:defRPr>
            </a:lvl2pPr>
            <a:lvl3pPr marL="1143000" indent="-228600">
              <a:spcBef>
                <a:spcPct val="20000"/>
              </a:spcBef>
              <a:buClr>
                <a:schemeClr val="tx1"/>
              </a:buClr>
              <a:buChar char="•"/>
              <a:defRPr sz="2400">
                <a:solidFill>
                  <a:srgbClr val="00004D"/>
                </a:solidFill>
                <a:latin typeface="Times New Roman" panose="02020603050405020304" pitchFamily="18" charset="0"/>
                <a:ea typeface="黑体" panose="02010609060101010101" pitchFamily="49" charset="-122"/>
              </a:defRPr>
            </a:lvl3pPr>
            <a:lvl4pPr marL="16002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4pPr>
            <a:lvl5pPr marL="2057400" indent="-228600">
              <a:spcBef>
                <a:spcPct val="20000"/>
              </a:spcBef>
              <a:buChar char="»"/>
              <a:defRPr sz="2000">
                <a:solidFill>
                  <a:srgbClr val="00004D"/>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har char="»"/>
              <a:defRPr sz="2000">
                <a:solidFill>
                  <a:srgbClr val="00004D"/>
                </a:solidFill>
                <a:latin typeface="Times New Roman" panose="02020603050405020304" pitchFamily="18" charset="0"/>
                <a:ea typeface="黑体" panose="02010609060101010101" pitchFamily="49" charset="-122"/>
              </a:defRPr>
            </a:lvl9pPr>
          </a:lstStyle>
          <a:p>
            <a:pPr>
              <a:spcBef>
                <a:spcPct val="0"/>
              </a:spcBef>
              <a:buClrTx/>
              <a:buFontTx/>
              <a:buNone/>
            </a:pPr>
            <a:r>
              <a:rPr lang="en-US" altLang="zh-CN">
                <a:solidFill>
                  <a:srgbClr val="C00000"/>
                </a:solidFill>
                <a:latin typeface="Arial" panose="020B0604020202020204" pitchFamily="34" charset="0"/>
                <a:ea typeface="宋体" panose="02010600030101010101" pitchFamily="2" charset="-122"/>
              </a:rPr>
              <a:t>C</a:t>
            </a:r>
            <a:endParaRPr lang="zh-CN" altLang="en-US">
              <a:solidFill>
                <a:srgbClr val="C00000"/>
              </a:solidFill>
              <a:latin typeface="Arial" panose="020B0604020202020204" pitchFamily="34" charset="0"/>
              <a:ea typeface="宋体" panose="02010600030101010101" pitchFamily="2" charset="-122"/>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3.9|27.3"/>
</p:tagLst>
</file>

<file path=ppt/tags/tag2.xml><?xml version="1.0" encoding="utf-8"?>
<p:tagLst xmlns:a="http://schemas.openxmlformats.org/drawingml/2006/main" xmlns:r="http://schemas.openxmlformats.org/officeDocument/2006/relationships" xmlns:p="http://schemas.openxmlformats.org/presentationml/2006/main">
  <p:tag name="TIMING" val="|7.5|1.6"/>
</p:tagLst>
</file>

<file path=ppt/tags/tag3.xml><?xml version="1.0" encoding="utf-8"?>
<p:tagLst xmlns:a="http://schemas.openxmlformats.org/drawingml/2006/main" xmlns:r="http://schemas.openxmlformats.org/officeDocument/2006/relationships" xmlns:p="http://schemas.openxmlformats.org/presentationml/2006/main">
  <p:tag name="TIMING" val="|19.3|21.9"/>
</p:tagLst>
</file>

<file path=ppt/tags/tag4.xml><?xml version="1.0" encoding="utf-8"?>
<p:tagLst xmlns:a="http://schemas.openxmlformats.org/drawingml/2006/main" xmlns:r="http://schemas.openxmlformats.org/officeDocument/2006/relationships" xmlns:p="http://schemas.openxmlformats.org/presentationml/2006/main">
  <p:tag name="TIMING" val="|14.5|4.3"/>
</p:tagLst>
</file>

<file path=ppt/tags/tag5.xml><?xml version="1.0" encoding="utf-8"?>
<p:tagLst xmlns:a="http://schemas.openxmlformats.org/drawingml/2006/main" xmlns:r="http://schemas.openxmlformats.org/officeDocument/2006/relationships" xmlns:p="http://schemas.openxmlformats.org/presentationml/2006/main">
  <p:tag name="TIMING" val="|18.2|8.7|14.3"/>
</p:tagLst>
</file>

<file path=ppt/tags/tag6.xml><?xml version="1.0" encoding="utf-8"?>
<p:tagLst xmlns:a="http://schemas.openxmlformats.org/drawingml/2006/main" xmlns:r="http://schemas.openxmlformats.org/officeDocument/2006/relationships" xmlns:p="http://schemas.openxmlformats.org/presentationml/2006/main">
  <p:tag name="TIMING" val="|33.4|11.8"/>
</p:tagLst>
</file>

<file path=ppt/tags/tag7.xml><?xml version="1.0" encoding="utf-8"?>
<p:tagLst xmlns:a="http://schemas.openxmlformats.org/drawingml/2006/main" xmlns:r="http://schemas.openxmlformats.org/officeDocument/2006/relationships" xmlns:p="http://schemas.openxmlformats.org/presentationml/2006/main">
  <p:tag name="TIMING" val="|0.4"/>
</p:tagLst>
</file>

<file path=ppt/tags/tag8.xml><?xml version="1.0" encoding="utf-8"?>
<p:tagLst xmlns:a="http://schemas.openxmlformats.org/drawingml/2006/main" xmlns:r="http://schemas.openxmlformats.org/officeDocument/2006/relationships" xmlns:p="http://schemas.openxmlformats.org/presentationml/2006/main">
  <p:tag name="TIMING" val="|15.2"/>
</p:tagLst>
</file>

<file path=ppt/tags/tag9.xml><?xml version="1.0" encoding="utf-8"?>
<p:tagLst xmlns:a="http://schemas.openxmlformats.org/drawingml/2006/main" xmlns:r="http://schemas.openxmlformats.org/officeDocument/2006/relationships" xmlns:p="http://schemas.openxmlformats.org/presentationml/2006/main">
  <p:tag name="TIMING" val="|2.4"/>
</p:tagLst>
</file>

<file path=ppt/tags/tag10.xml><?xml version="1.0" encoding="utf-8"?>
<p:tagLst xmlns:a="http://schemas.openxmlformats.org/drawingml/2006/main" xmlns:r="http://schemas.openxmlformats.org/officeDocument/2006/relationships" xmlns:p="http://schemas.openxmlformats.org/presentationml/2006/main">
  <p:tag name="TIMING" val="|19.1|17|4.7|4.2|4.2|4.2|4.4|4.2|5.2|4.2|4.4|4|4.3|3.5|4.5|4.4|28.5"/>
</p:tagLst>
</file>

<file path=ppt/tags/tag11.xml><?xml version="1.0" encoding="utf-8"?>
<p:tagLst xmlns:a="http://schemas.openxmlformats.org/drawingml/2006/main" xmlns:r="http://schemas.openxmlformats.org/officeDocument/2006/relationships" xmlns:p="http://schemas.openxmlformats.org/presentationml/2006/main">
  <p:tag name="TIMING" val="|45.2"/>
</p:tagLst>
</file>

<file path=ppt/tags/tag12.xml><?xml version="1.0" encoding="utf-8"?>
<p:tagLst xmlns:a="http://schemas.openxmlformats.org/drawingml/2006/main" xmlns:r="http://schemas.openxmlformats.org/officeDocument/2006/relationships" xmlns:p="http://schemas.openxmlformats.org/presentationml/2006/main">
  <p:tag name="TIMING" val="|12.4|18.6"/>
</p:tagLst>
</file>

<file path=ppt/theme/_rels/theme1.xml.rels><?xml version="1.0" encoding="UTF-8" standalone="yes"?>
<Relationships xmlns="http://schemas.openxmlformats.org/package/2006/relationships"><Relationship Id="rId1" Type="http://schemas.openxmlformats.org/officeDocument/2006/relationships/image" Target="../media/image1.jpg"/></Relationships>
</file>

<file path=ppt/theme/theme1.xml><?xml version="1.0" encoding="utf-8"?>
<a:theme xmlns:a="http://schemas.openxmlformats.org/drawingml/2006/main" name="143TGp_happy_light_v2_e">
  <a:themeElements>
    <a:clrScheme name="143TGp_happy_light_v2_e 1">
      <a:dk1>
        <a:srgbClr val="000066"/>
      </a:dk1>
      <a:lt1>
        <a:srgbClr val="FFFFFF"/>
      </a:lt1>
      <a:dk2>
        <a:srgbClr val="1D7ACF"/>
      </a:dk2>
      <a:lt2>
        <a:srgbClr val="C0C0C0"/>
      </a:lt2>
      <a:accent1>
        <a:srgbClr val="189E8E"/>
      </a:accent1>
      <a:accent2>
        <a:srgbClr val="E0BB20"/>
      </a:accent2>
      <a:accent3>
        <a:srgbClr val="FFFFFF"/>
      </a:accent3>
      <a:accent4>
        <a:srgbClr val="000056"/>
      </a:accent4>
      <a:accent5>
        <a:srgbClr val="ABCCC6"/>
      </a:accent5>
      <a:accent6>
        <a:srgbClr val="CBA91C"/>
      </a:accent6>
      <a:hlink>
        <a:srgbClr val="5AA5DE"/>
      </a:hlink>
      <a:folHlink>
        <a:srgbClr val="9885A3"/>
      </a:folHlink>
    </a:clrScheme>
    <a:fontScheme name="143TGp_happy_light_v2_e">
      <a:majorFont>
        <a:latin typeface="黑体"/>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blipFill>
          <a:blip xmlns:r="http://schemas.openxmlformats.org/officeDocument/2006/relationships" r:embed="rId1"/>
          <a:stretch>
            <a:fillRect/>
          </a:stretch>
        </a:blipFill>
        <a:ln w="9525" cap="flat" cmpd="sng" algn="ctr">
          <a:solidFill>
            <a:schemeClr val="tx1"/>
          </a:solidFill>
          <a:prstDash val="solid"/>
          <a:round/>
          <a:headEnd type="none" w="med" len="med"/>
          <a:tailEnd type="none" w="med" len="med"/>
        </a:ln>
        <a:effectLst/>
      </a:spPr>
      <a:bodyPr vert="horz" wrap="non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sz="16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6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143TGp_happy_light_v2_e 1">
        <a:dk1>
          <a:srgbClr val="000066"/>
        </a:dk1>
        <a:lt1>
          <a:srgbClr val="FFFFFF"/>
        </a:lt1>
        <a:dk2>
          <a:srgbClr val="1D7ACF"/>
        </a:dk2>
        <a:lt2>
          <a:srgbClr val="C0C0C0"/>
        </a:lt2>
        <a:accent1>
          <a:srgbClr val="189E8E"/>
        </a:accent1>
        <a:accent2>
          <a:srgbClr val="E0BB20"/>
        </a:accent2>
        <a:accent3>
          <a:srgbClr val="FFFFFF"/>
        </a:accent3>
        <a:accent4>
          <a:srgbClr val="000056"/>
        </a:accent4>
        <a:accent5>
          <a:srgbClr val="ABCCC6"/>
        </a:accent5>
        <a:accent6>
          <a:srgbClr val="CBA91C"/>
        </a:accent6>
        <a:hlink>
          <a:srgbClr val="5AA5DE"/>
        </a:hlink>
        <a:folHlink>
          <a:srgbClr val="9885A3"/>
        </a:folHlink>
      </a:clrScheme>
      <a:clrMap bg1="lt1" tx1="dk1" bg2="lt2" tx2="dk2" accent1="accent1" accent2="accent2" accent3="accent3" accent4="accent4" accent5="accent5" accent6="accent6" hlink="hlink" folHlink="folHlink"/>
    </a:extraClrScheme>
    <a:extraClrScheme>
      <a:clrScheme name="143TGp_happy_light_v2_e 2">
        <a:dk1>
          <a:srgbClr val="000066"/>
        </a:dk1>
        <a:lt1>
          <a:srgbClr val="FFFFFF"/>
        </a:lt1>
        <a:dk2>
          <a:srgbClr val="238D3F"/>
        </a:dk2>
        <a:lt2>
          <a:srgbClr val="DDDDDD"/>
        </a:lt2>
        <a:accent1>
          <a:srgbClr val="808080"/>
        </a:accent1>
        <a:accent2>
          <a:srgbClr val="CC9900"/>
        </a:accent2>
        <a:accent3>
          <a:srgbClr val="FFFFFF"/>
        </a:accent3>
        <a:accent4>
          <a:srgbClr val="000056"/>
        </a:accent4>
        <a:accent5>
          <a:srgbClr val="C0C0C0"/>
        </a:accent5>
        <a:accent6>
          <a:srgbClr val="B98A00"/>
        </a:accent6>
        <a:hlink>
          <a:srgbClr val="D9C741"/>
        </a:hlink>
        <a:folHlink>
          <a:srgbClr val="336699"/>
        </a:folHlink>
      </a:clrScheme>
      <a:clrMap bg1="lt1" tx1="dk1" bg2="lt2" tx2="dk2" accent1="accent1" accent2="accent2" accent3="accent3" accent4="accent4" accent5="accent5" accent6="accent6" hlink="hlink" folHlink="folHlink"/>
    </a:extraClrScheme>
    <a:extraClrScheme>
      <a:clrScheme name="143TGp_happy_light_v2_e 3">
        <a:dk1>
          <a:srgbClr val="000066"/>
        </a:dk1>
        <a:lt1>
          <a:srgbClr val="FFFFFF"/>
        </a:lt1>
        <a:dk2>
          <a:srgbClr val="D75F1D"/>
        </a:dk2>
        <a:lt2>
          <a:srgbClr val="DDDDDD"/>
        </a:lt2>
        <a:accent1>
          <a:srgbClr val="3885A0"/>
        </a:accent1>
        <a:accent2>
          <a:srgbClr val="3399FF"/>
        </a:accent2>
        <a:accent3>
          <a:srgbClr val="FFFFFF"/>
        </a:accent3>
        <a:accent4>
          <a:srgbClr val="000056"/>
        </a:accent4>
        <a:accent5>
          <a:srgbClr val="AEC2CD"/>
        </a:accent5>
        <a:accent6>
          <a:srgbClr val="2D8AE7"/>
        </a:accent6>
        <a:hlink>
          <a:srgbClr val="4B67B7"/>
        </a:hlink>
        <a:folHlink>
          <a:srgbClr val="7B6A9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Themegallery1</Template>
  <TotalTime>0</TotalTime>
  <Words>14012</Words>
  <Application>Microsoft Office PowerPoint</Application>
  <PresentationFormat>宽屏</PresentationFormat>
  <Paragraphs>1471</Paragraphs>
  <Slides>133</Slides>
  <Notes>132</Notes>
  <HiddenSlides>34</HiddenSlides>
  <MMClips>2</MMClips>
  <ScaleCrop>false</ScaleCrop>
  <HeadingPairs>
    <vt:vector size="8" baseType="variant">
      <vt:variant>
        <vt:lpstr>已用的字体</vt:lpstr>
      </vt:variant>
      <vt:variant>
        <vt:i4>18</vt:i4>
      </vt:variant>
      <vt:variant>
        <vt:lpstr>主题</vt:lpstr>
      </vt:variant>
      <vt:variant>
        <vt:i4>2</vt:i4>
      </vt:variant>
      <vt:variant>
        <vt:lpstr>嵌入 OLE 服务器</vt:lpstr>
      </vt:variant>
      <vt:variant>
        <vt:i4>2</vt:i4>
      </vt:variant>
      <vt:variant>
        <vt:lpstr>幻灯片标题</vt:lpstr>
      </vt:variant>
      <vt:variant>
        <vt:i4>133</vt:i4>
      </vt:variant>
    </vt:vector>
  </HeadingPairs>
  <TitlesOfParts>
    <vt:vector size="155" baseType="lpstr">
      <vt:lpstr>-apple-system</vt:lpstr>
      <vt:lpstr>Helvetica Neue</vt:lpstr>
      <vt:lpstr>等线</vt:lpstr>
      <vt:lpstr>等线 Light</vt:lpstr>
      <vt:lpstr>黑体</vt:lpstr>
      <vt:lpstr>华文楷体</vt:lpstr>
      <vt:lpstr>华文中宋</vt:lpstr>
      <vt:lpstr>楷体</vt:lpstr>
      <vt:lpstr>楷体_GB2312</vt:lpstr>
      <vt:lpstr>宋体</vt:lpstr>
      <vt:lpstr>微软雅黑</vt:lpstr>
      <vt:lpstr>微软雅黑 Light</vt:lpstr>
      <vt:lpstr>Arial</vt:lpstr>
      <vt:lpstr>Open Sans</vt:lpstr>
      <vt:lpstr>Symbol</vt:lpstr>
      <vt:lpstr>Tahoma</vt:lpstr>
      <vt:lpstr>Times New Roman</vt:lpstr>
      <vt:lpstr>Wingdings</vt:lpstr>
      <vt:lpstr>143TGp_happy_light_v2_e</vt:lpstr>
      <vt:lpstr>自定义设计方案</vt:lpstr>
      <vt:lpstr>Document</vt:lpstr>
      <vt:lpstr>ChemSketch</vt:lpstr>
      <vt:lpstr>PowerPoint 演示文稿</vt:lpstr>
      <vt:lpstr>爱课平台课程</vt:lpstr>
      <vt:lpstr>第一篇  生物分子结构与功能</vt:lpstr>
      <vt:lpstr>PowerPoint 演示文稿</vt:lpstr>
      <vt:lpstr>什么是蛋白质?</vt:lpstr>
      <vt:lpstr>PowerPoint 演示文稿</vt:lpstr>
      <vt:lpstr>PowerPoint 演示文稿</vt:lpstr>
      <vt:lpstr>PowerPoint 演示文稿</vt:lpstr>
      <vt:lpstr>本章基本内容 </vt:lpstr>
      <vt:lpstr>PowerPoint 演示文稿</vt:lpstr>
      <vt:lpstr>一、 蛋白质的元素组成</vt:lpstr>
      <vt:lpstr> 各种蛋白质的含氮量接近</vt:lpstr>
      <vt:lpstr>凯氏定氮法的“悲剧”</vt:lpstr>
      <vt:lpstr>二、L-α-氨基酸是蛋白质的基本结构单位</vt:lpstr>
      <vt:lpstr>构成蛋白质的氨基酸都是L构型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氨基酸C原子编号有两种方式</vt:lpstr>
      <vt:lpstr>参与合成蛋白质的二十种氨基酸</vt:lpstr>
      <vt:lpstr> 氨基酸按侧链极性分类的意义</vt:lpstr>
      <vt:lpstr>PowerPoint 演示文稿</vt:lpstr>
      <vt:lpstr>PowerPoint 演示文稿</vt:lpstr>
      <vt:lpstr>PowerPoint 演示文稿</vt:lpstr>
      <vt:lpstr>胱氨酸(cystine)的生成</vt:lpstr>
      <vt:lpstr>PowerPoint 演示文稿</vt:lpstr>
      <vt:lpstr>Amino Acid Song</vt:lpstr>
      <vt:lpstr>PowerPoint 演示文稿</vt:lpstr>
      <vt:lpstr>第21种氨基酸： 硒半胱氨酸（Sec,U)</vt:lpstr>
      <vt:lpstr>特例：吡咯赖氨酸（Pyl,O)</vt:lpstr>
      <vt:lpstr>课堂练习 </vt:lpstr>
      <vt:lpstr>PowerPoint 演示文稿</vt:lpstr>
      <vt:lpstr>氨基酸的解离</vt:lpstr>
      <vt:lpstr>不同pH时氨基酸的解离状态</vt:lpstr>
      <vt:lpstr>PowerPoint 演示文稿</vt:lpstr>
      <vt:lpstr>氨基酸等电点（pI）的计算</vt:lpstr>
      <vt:lpstr>PowerPoint 演示文稿</vt:lpstr>
      <vt:lpstr>PowerPoint 演示文稿</vt:lpstr>
      <vt:lpstr>PowerPoint 演示文稿</vt:lpstr>
      <vt:lpstr>等电点的应用</vt:lpstr>
      <vt:lpstr>PowerPoint 演示文稿</vt:lpstr>
      <vt:lpstr>PowerPoint 演示文稿</vt:lpstr>
      <vt:lpstr>五、生物活性肽具有生理活性及多样性</vt:lpstr>
      <vt:lpstr>PowerPoint 演示文稿</vt:lpstr>
      <vt:lpstr>PowerPoint 演示文稿</vt:lpstr>
      <vt:lpstr>PowerPoint 演示文稿</vt:lpstr>
      <vt:lpstr>多肽又称多肽链(polypeptide chain)</vt:lpstr>
      <vt:lpstr>PowerPoint 演示文稿</vt:lpstr>
      <vt:lpstr>“多肽”和“蛋白质”的关系</vt:lpstr>
      <vt:lpstr>氨基酸残基的平均分子量=110</vt:lpstr>
      <vt:lpstr>（二） 部分重要的生物活性肽</vt:lpstr>
      <vt:lpstr>GSH是细胞内重要的还原剂</vt:lpstr>
      <vt:lpstr>谷胱甘肽（GSH）的功能</vt:lpstr>
      <vt:lpstr>课堂练习</vt:lpstr>
      <vt:lpstr>PowerPoint 演示文稿</vt:lpstr>
      <vt:lpstr>阿斯巴甜（天冬氨酰苯丙氨酸甲酯）</vt:lpstr>
      <vt:lpstr>  小   结</vt:lpstr>
      <vt:lpstr>PowerPoint 演示文稿</vt:lpstr>
      <vt:lpstr>PowerPoint 演示文稿</vt:lpstr>
      <vt:lpstr>蛋白质的分子结构</vt:lpstr>
      <vt:lpstr>构象与构型有何差别？</vt:lpstr>
      <vt:lpstr>PowerPoint 演示文稿</vt:lpstr>
      <vt:lpstr>PowerPoint 演示文稿</vt:lpstr>
      <vt:lpstr>常 见 氢 键</vt:lpstr>
      <vt:lpstr>疏水键(Hydrophobic interaction)</vt:lpstr>
      <vt:lpstr>关于蛋白质结构的共识</vt:lpstr>
      <vt:lpstr>PowerPoint 演示文稿</vt:lpstr>
      <vt:lpstr>PowerPoint 演示文稿</vt:lpstr>
      <vt:lpstr>人胰岛素与牛胰岛素结构类似</vt:lpstr>
      <vt:lpstr>部分蛋白质的大小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最早提出α-螺旋结构的大科学家</vt:lpstr>
      <vt:lpstr>α-螺旋的特点</vt:lpstr>
      <vt:lpstr>PowerPoint 演示文稿</vt:lpstr>
      <vt:lpstr>勘误</vt:lpstr>
      <vt:lpstr>α- 螺旋常具有亲水面和/或疏水面</vt:lpstr>
      <vt:lpstr>α -角蛋白含大量 -螺旋</vt:lpstr>
      <vt:lpstr>卷发的生化原理</vt:lpstr>
      <vt:lpstr>PowerPoint 演示文稿</vt:lpstr>
      <vt:lpstr>胶原蛋白(collagen)</vt:lpstr>
      <vt:lpstr>PowerPoint 演示文稿</vt:lpstr>
      <vt:lpstr>PowerPoint 演示文稿</vt:lpstr>
      <vt:lpstr>PowerPoint 演示文稿</vt:lpstr>
      <vt:lpstr>丝蛋白含大量反平行β折叠</vt:lpstr>
      <vt:lpstr>PowerPoint 演示文稿</vt:lpstr>
      <vt:lpstr>PowerPoint 演示文稿</vt:lpstr>
      <vt:lpstr>PowerPoint 演示文稿</vt:lpstr>
      <vt:lpstr>（五） Ω环　</vt:lpstr>
      <vt:lpstr>（六）氨基酸残基侧链影响二级结构的形成</vt:lpstr>
      <vt:lpstr>PowerPoint 演示文稿</vt:lpstr>
      <vt:lpstr>PowerPoint 演示文稿</vt:lpstr>
      <vt:lpstr>模体的种类远不及蛋白质的种类</vt:lpstr>
      <vt:lpstr>小模体可以组装成更大的模体</vt:lpstr>
      <vt:lpstr>PowerPoint 演示文稿</vt:lpstr>
      <vt:lpstr>PowerPoint 演示文稿</vt:lpstr>
      <vt:lpstr>PowerPoint 演示文稿</vt:lpstr>
      <vt:lpstr>结合Ca2+的EF手单元 EF-hand motif</vt:lpstr>
      <vt:lpstr>三、蛋白质的三级结构(tertiary structure)</vt:lpstr>
      <vt:lpstr>PowerPoint 演示文稿</vt:lpstr>
      <vt:lpstr>PowerPoint 演示文稿</vt:lpstr>
      <vt:lpstr>PowerPoint 演示文稿</vt:lpstr>
      <vt:lpstr>牛核糖核酸酶需要二硫键稳定其三级结构</vt:lpstr>
      <vt:lpstr>PowerPoint 演示文稿</vt:lpstr>
      <vt:lpstr>PowerPoint 演示文稿</vt:lpstr>
      <vt:lpstr>SH2结构域（SH2 domain)</vt:lpstr>
      <vt:lpstr>模体与结构域的区别</vt:lpstr>
      <vt:lpstr>PowerPoint 演示文稿</vt:lpstr>
      <vt:lpstr>PowerPoint 演示文稿</vt:lpstr>
      <vt:lpstr>PowerPoint 演示文稿</vt:lpstr>
      <vt:lpstr>PowerPoint 演示文稿</vt:lpstr>
      <vt:lpstr>PowerPoint 演示文稿</vt:lpstr>
      <vt:lpstr>Protein Data Bank(PDB)：蛋白质结构数据库</vt:lpstr>
      <vt:lpstr>PowerPoint 演示文稿</vt:lpstr>
      <vt:lpstr>PowerPoint 演示文稿</vt:lpstr>
      <vt:lpstr>蛋白质结构要点小结</vt:lpstr>
      <vt:lpstr>五、蛋白质的分类  </vt:lpstr>
      <vt:lpstr>PowerPoint 演示文稿</vt:lpstr>
      <vt:lpstr>球状蛋白质三维结构特征</vt:lpstr>
      <vt:lpstr>PowerPoint 演示文稿</vt:lpstr>
      <vt:lpstr>PowerPoint 演示文稿</vt:lpstr>
      <vt:lpstr>蛋白质家族与蛋白质超家族</vt:lpstr>
      <vt:lpstr>PowerPoint 演示文稿</vt:lpstr>
      <vt:lpstr>课堂练习</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蛋白质的结构与功能</dc:title>
  <dc:creator/>
  <cp:lastModifiedBy/>
  <cp:revision>159</cp:revision>
  <dcterms:created xsi:type="dcterms:W3CDTF">2003-10-24T04:29:03Z</dcterms:created>
  <dcterms:modified xsi:type="dcterms:W3CDTF">2026-09-01T09:24:17Z</dcterms:modified>
</cp:coreProperties>
</file>